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58" r:id="rId4"/>
    <p:sldId id="271" r:id="rId5"/>
    <p:sldId id="272" r:id="rId6"/>
    <p:sldId id="273" r:id="rId7"/>
    <p:sldId id="266" r:id="rId8"/>
    <p:sldId id="265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89034" autoAdjust="0"/>
  </p:normalViewPr>
  <p:slideViewPr>
    <p:cSldViewPr snapToGrid="0">
      <p:cViewPr varScale="1">
        <p:scale>
          <a:sx n="44" d="100"/>
          <a:sy n="44" d="100"/>
        </p:scale>
        <p:origin x="86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D7CBA-DD40-481C-A623-88CBC0C60D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2025/2/16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2025/2/16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2025/2/16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2025/2/16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2025/2/16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2025/2/16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2025/2/16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2025/2/16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2025/2/16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2025/2/16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2025/2/16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2025/2/16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timgsa.baidu.com/timg?image&amp;quality=80&amp;size=b9999_10000&amp;sec=1486706539526&amp;di=79ff7f14d79ab459b5a7e54209358ed7&amp;imgtype=0&amp;src=http%3A%2F%2Fb.hiphotos.baidu.com%2Fbaike%2Fs%3D220%2Fsign%3Db8f5950d0afa513d55aa6bdc0d6c554c%2F3b87e950352ac65c394266a2f9f2b21192138a9f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" y="5976624"/>
            <a:ext cx="756000" cy="75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2735032" y="1141864"/>
            <a:ext cx="7428875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b="1" spc="300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计算机体系结构实验</a:t>
            </a:r>
            <a:endParaRPr lang="en-US" altLang="zh-CN" sz="3600" b="1" spc="300" dirty="0">
              <a:solidFill>
                <a:prstClr val="blac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/>
            <a:endParaRPr lang="en-US" altLang="zh-CN" sz="2800" b="1" spc="3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/>
            <a:r>
              <a:rPr lang="en-US" altLang="zh-CN" sz="3200" b="1" spc="300" dirty="0">
                <a:solidFill>
                  <a:prstClr val="black"/>
                </a:solidFill>
                <a:latin typeface="+mj-ea"/>
                <a:ea typeface="+mj-ea"/>
              </a:rPr>
              <a:t>Lab1-4: </a:t>
            </a:r>
            <a:r>
              <a:rPr lang="en-US" altLang="zh-CN" sz="3200" b="1" spc="300" dirty="0" err="1">
                <a:solidFill>
                  <a:prstClr val="black"/>
                </a:solidFill>
                <a:latin typeface="+mj-ea"/>
                <a:ea typeface="+mj-ea"/>
              </a:rPr>
              <a:t>vivado</a:t>
            </a:r>
            <a:r>
              <a:rPr lang="zh-CN" altLang="en-US" sz="3200" b="1" spc="300" dirty="0">
                <a:solidFill>
                  <a:prstClr val="black"/>
                </a:solidFill>
                <a:latin typeface="+mj-ea"/>
                <a:ea typeface="+mj-ea"/>
              </a:rPr>
              <a:t>的</a:t>
            </a:r>
            <a:r>
              <a:rPr lang="en-US" altLang="zh-CN" sz="3200" b="1" spc="300" dirty="0">
                <a:solidFill>
                  <a:prstClr val="black"/>
                </a:solidFill>
                <a:latin typeface="+mj-ea"/>
                <a:ea typeface="+mj-ea"/>
              </a:rPr>
              <a:t>ALU</a:t>
            </a:r>
            <a:r>
              <a:rPr lang="zh-CN" altLang="en-US" sz="3200" b="1" spc="300" dirty="0">
                <a:solidFill>
                  <a:prstClr val="black"/>
                </a:solidFill>
                <a:latin typeface="+mj-ea"/>
                <a:ea typeface="+mj-ea"/>
              </a:rPr>
              <a:t>设计实验</a:t>
            </a:r>
            <a:endParaRPr lang="en-US" altLang="zh-CN" sz="2800" b="1" spc="300" dirty="0">
              <a:solidFill>
                <a:prstClr val="black"/>
              </a:solidFill>
              <a:latin typeface="+mj-ea"/>
              <a:ea typeface="+mj-ea"/>
            </a:endParaRPr>
          </a:p>
          <a:p>
            <a:pPr algn="ctr"/>
            <a:endParaRPr lang="en-US" altLang="zh-CN" sz="2800" b="1" spc="3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/>
            <a:endParaRPr lang="zh-CN" altLang="en-US" sz="2800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2025/3/10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253994" y="3587900"/>
            <a:ext cx="4043966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主讲老师：刘森</a:t>
            </a:r>
            <a:endParaRPr lang="en-US" altLang="zh-CN" sz="2400" dirty="0"/>
          </a:p>
          <a:p>
            <a:pPr algn="ctr"/>
            <a:endParaRPr lang="en-US" altLang="zh-CN" sz="2400" dirty="0"/>
          </a:p>
          <a:p>
            <a:pPr algn="ctr"/>
            <a:r>
              <a:rPr lang="zh-CN" altLang="en-US" sz="2400" dirty="0">
                <a:sym typeface="+mn-ea"/>
              </a:rPr>
              <a:t>助教：薛敏坤 </a:t>
            </a:r>
            <a:r>
              <a:rPr lang="en-US" altLang="zh-CN" sz="2400" dirty="0">
                <a:sym typeface="+mn-ea"/>
              </a:rPr>
              <a:t> </a:t>
            </a:r>
            <a:r>
              <a:rPr lang="zh-CN" altLang="en-US" sz="2400" dirty="0">
                <a:sym typeface="+mn-ea"/>
              </a:rPr>
              <a:t>赵珂玉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timgsa.baidu.com/timg?image&amp;quality=80&amp;size=b9999_10000&amp;sec=1486706539526&amp;di=79ff7f14d79ab459b5a7e54209358ed7&amp;imgtype=0&amp;src=http%3A%2F%2Fb.hiphotos.baidu.com%2Fbaike%2Fs%3D220%2Fsign%3Db8f5950d0afa513d55aa6bdc0d6c554c%2F3b87e950352ac65c394266a2f9f2b21192138a9f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" y="5976624"/>
            <a:ext cx="756000" cy="75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2025/3/10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60200" y="470263"/>
            <a:ext cx="33680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Section 1. </a:t>
            </a:r>
            <a:r>
              <a:rPr lang="zh-CN" altLang="en-US" sz="2800" dirty="0">
                <a:latin typeface="+mj-ea"/>
                <a:ea typeface="+mj-ea"/>
              </a:rPr>
              <a:t>实验目标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38200" y="1538605"/>
            <a:ext cx="9309735" cy="443801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spcAft>
                <a:spcPts val="1500"/>
              </a:spcAft>
            </a:pPr>
            <a:r>
              <a:rPr lang="zh-CN" altLang="en-US" sz="2000" b="0" i="0" dirty="0">
                <a:effectLst/>
                <a:latin typeface="仿宋" panose="02010609060101010101" pitchFamily="49" charset="-122"/>
                <a:ea typeface="仿宋" panose="02010609060101010101" pitchFamily="49" charset="-122"/>
                <a:cs typeface="+mn-ea"/>
              </a:rPr>
              <a:t>通过设计一个简单的算术逻辑单元（</a:t>
            </a:r>
            <a:r>
              <a:rPr lang="en-US" altLang="zh-CN" sz="2000" b="0" i="0" dirty="0">
                <a:effectLst/>
                <a:latin typeface="仿宋" panose="02010609060101010101" pitchFamily="49" charset="-122"/>
                <a:ea typeface="仿宋" panose="02010609060101010101" pitchFamily="49" charset="-122"/>
                <a:cs typeface="+mn-ea"/>
              </a:rPr>
              <a:t>ALU</a:t>
            </a:r>
            <a:r>
              <a:rPr lang="zh-CN" altLang="en-US" sz="2000" b="0" i="0" dirty="0">
                <a:effectLst/>
                <a:latin typeface="仿宋" panose="02010609060101010101" pitchFamily="49" charset="-122"/>
                <a:ea typeface="仿宋" panose="02010609060101010101" pitchFamily="49" charset="-122"/>
                <a:cs typeface="+mn-ea"/>
              </a:rPr>
              <a:t>），让学生熟悉数字逻辑电路的基本设计方法，</a:t>
            </a:r>
            <a:endParaRPr lang="zh-CN" altLang="en-US" sz="2000" b="0" i="0" dirty="0">
              <a:effectLst/>
              <a:latin typeface="仿宋" panose="02010609060101010101" pitchFamily="49" charset="-122"/>
              <a:ea typeface="仿宋" panose="02010609060101010101" pitchFamily="49" charset="-122"/>
              <a:cs typeface="+mn-ea"/>
            </a:endParaRPr>
          </a:p>
          <a:p>
            <a:pPr algn="l">
              <a:spcAft>
                <a:spcPts val="1500"/>
              </a:spcAft>
            </a:pPr>
            <a:r>
              <a:rPr lang="zh-CN" altLang="en-US" sz="2000" b="0" i="0" dirty="0">
                <a:effectLst/>
                <a:latin typeface="仿宋" panose="02010609060101010101" pitchFamily="49" charset="-122"/>
                <a:ea typeface="仿宋" panose="02010609060101010101" pitchFamily="49" charset="-122"/>
                <a:cs typeface="+mn-ea"/>
              </a:rPr>
              <a:t>掌握</a:t>
            </a:r>
            <a:r>
              <a:rPr lang="en-US" altLang="zh-CN" sz="2000" b="0" i="0" dirty="0">
                <a:effectLst/>
                <a:latin typeface="仿宋" panose="02010609060101010101" pitchFamily="49" charset="-122"/>
                <a:ea typeface="仿宋" panose="02010609060101010101" pitchFamily="49" charset="-122"/>
                <a:cs typeface="+mn-ea"/>
              </a:rPr>
              <a:t>Verilog</a:t>
            </a:r>
            <a:r>
              <a:rPr lang="zh-CN" altLang="en-US" sz="2000" b="0" i="0" dirty="0">
                <a:effectLst/>
                <a:latin typeface="仿宋" panose="02010609060101010101" pitchFamily="49" charset="-122"/>
                <a:ea typeface="仿宋" panose="02010609060101010101" pitchFamily="49" charset="-122"/>
                <a:cs typeface="+mn-ea"/>
              </a:rPr>
              <a:t>语言的描述方式，以及理解时序逻辑电路的工作原理。</a:t>
            </a:r>
            <a:endParaRPr lang="zh-CN" altLang="en-US" sz="2000" b="0" i="0" dirty="0">
              <a:effectLst/>
              <a:latin typeface="仿宋" panose="02010609060101010101" pitchFamily="49" charset="-122"/>
              <a:ea typeface="仿宋" panose="02010609060101010101" pitchFamily="49" charset="-122"/>
              <a:cs typeface="+mn-ea"/>
            </a:endParaRPr>
          </a:p>
          <a:p>
            <a:pPr algn="l">
              <a:spcAft>
                <a:spcPts val="1500"/>
              </a:spcAft>
            </a:pPr>
            <a:r>
              <a:rPr lang="zh-CN" altLang="en-US" sz="2000" b="0" i="0" dirty="0">
                <a:effectLst/>
                <a:latin typeface="仿宋" panose="02010609060101010101" pitchFamily="49" charset="-122"/>
                <a:ea typeface="仿宋" panose="02010609060101010101" pitchFamily="49" charset="-122"/>
                <a:cs typeface="+mn-ea"/>
              </a:rPr>
              <a:t>同时，加深对常见算术和逻辑运算的理解，</a:t>
            </a:r>
            <a:endParaRPr lang="zh-CN" altLang="en-US" sz="2000" b="0" i="0" dirty="0">
              <a:effectLst/>
              <a:latin typeface="仿宋" panose="02010609060101010101" pitchFamily="49" charset="-122"/>
              <a:ea typeface="仿宋" panose="02010609060101010101" pitchFamily="49" charset="-122"/>
              <a:cs typeface="+mn-ea"/>
            </a:endParaRPr>
          </a:p>
          <a:p>
            <a:pPr algn="l">
              <a:spcAft>
                <a:spcPts val="1500"/>
              </a:spcAft>
            </a:pPr>
            <a:r>
              <a:rPr lang="zh-CN" altLang="en-US" sz="2000" b="0" i="0" dirty="0">
                <a:effectLst/>
                <a:latin typeface="仿宋" panose="02010609060101010101" pitchFamily="49" charset="-122"/>
                <a:ea typeface="仿宋" panose="02010609060101010101" pitchFamily="49" charset="-122"/>
                <a:cs typeface="+mn-ea"/>
              </a:rPr>
              <a:t>培养学生的逻辑思维能力和硬件描述语言编程能力。</a:t>
            </a:r>
            <a:endParaRPr lang="zh-CN" altLang="en-US" sz="2000" b="0" i="0" dirty="0">
              <a:effectLst/>
              <a:latin typeface="D-DINExp"/>
              <a:ea typeface="仿宋" panose="02010609060101010101" pitchFamily="49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timgsa.baidu.com/timg?image&amp;quality=80&amp;size=b9999_10000&amp;sec=1486706539526&amp;di=79ff7f14d79ab459b5a7e54209358ed7&amp;imgtype=0&amp;src=http%3A%2F%2Fb.hiphotos.baidu.com%2Fbaike%2Fs%3D220%2Fsign%3Db8f5950d0afa513d55aa6bdc0d6c554c%2F3b87e950352ac65c394266a2f9f2b21192138a9f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" y="5976624"/>
            <a:ext cx="756000" cy="75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2025/3/10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60200" y="470263"/>
            <a:ext cx="33680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Section 2. </a:t>
            </a:r>
            <a:r>
              <a:rPr lang="zh-CN" altLang="en-US" sz="2800" dirty="0">
                <a:latin typeface="+mj-ea"/>
                <a:ea typeface="+mj-ea"/>
              </a:rPr>
              <a:t>实验内容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93725" y="1115060"/>
            <a:ext cx="110096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zh-CN" altLang="en-US" b="0" i="0" dirty="0">
                <a:solidFill>
                  <a:srgbClr val="060607"/>
                </a:solidFill>
                <a:latin typeface="-apple-system"/>
                <a:ea typeface="-apple-system"/>
              </a:rPr>
              <a:t>设计一个基于</a:t>
            </a:r>
            <a:r>
              <a:rPr lang="en-US" altLang="zh-CN" b="0" i="0" dirty="0">
                <a:solidFill>
                  <a:srgbClr val="060607"/>
                </a:solidFill>
                <a:latin typeface="-apple-system"/>
                <a:ea typeface="-apple-system"/>
              </a:rPr>
              <a:t>Verilog</a:t>
            </a:r>
            <a:r>
              <a:rPr lang="zh-CN" altLang="en-US" b="0" i="0" dirty="0">
                <a:solidFill>
                  <a:srgbClr val="060607"/>
                </a:solidFill>
                <a:latin typeface="-apple-system"/>
                <a:ea typeface="-apple-system"/>
              </a:rPr>
              <a:t>语言的</a:t>
            </a:r>
            <a:r>
              <a:rPr lang="en-US" altLang="zh-CN" b="0" i="0" dirty="0">
                <a:solidFill>
                  <a:srgbClr val="060607"/>
                </a:solidFill>
                <a:latin typeface="-apple-system"/>
                <a:ea typeface="-apple-system"/>
              </a:rPr>
              <a:t>ALU</a:t>
            </a:r>
            <a:r>
              <a:rPr lang="zh-CN" altLang="en-US" b="0" i="0" dirty="0">
                <a:solidFill>
                  <a:srgbClr val="060607"/>
                </a:solidFill>
                <a:latin typeface="-apple-system"/>
                <a:ea typeface="-apple-system"/>
              </a:rPr>
              <a:t>模块，能够实现以下</a:t>
            </a:r>
            <a:r>
              <a:rPr lang="en-US" altLang="zh-CN" b="0" i="0" dirty="0">
                <a:solidFill>
                  <a:srgbClr val="060607"/>
                </a:solidFill>
                <a:latin typeface="-apple-system"/>
                <a:ea typeface="-apple-system"/>
              </a:rPr>
              <a:t>8</a:t>
            </a:r>
            <a:r>
              <a:rPr lang="zh-CN" altLang="en-US" b="0" i="0" dirty="0">
                <a:solidFill>
                  <a:srgbClr val="060607"/>
                </a:solidFill>
                <a:latin typeface="-apple-system"/>
                <a:ea typeface="-apple-system"/>
              </a:rPr>
              <a:t>种基本运算，并在时钟信号的上升沿完成运算操作：</a:t>
            </a:r>
            <a:endParaRPr lang="zh-CN" altLang="en-US" b="0" i="0" dirty="0">
              <a:solidFill>
                <a:srgbClr val="060607"/>
              </a:solidFill>
              <a:latin typeface="-apple-system"/>
              <a:ea typeface="-apple-system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82201" y="1422095"/>
          <a:ext cx="12109800" cy="4742193"/>
        </p:xfrm>
        <a:graphic>
          <a:graphicData uri="http://schemas.openxmlformats.org/drawingml/2006/table">
            <a:tbl>
              <a:tblPr/>
              <a:tblGrid>
                <a:gridCol w="1611922"/>
                <a:gridCol w="1333608"/>
                <a:gridCol w="9164270"/>
              </a:tblGrid>
              <a:tr h="533242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900" b="1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运算类型</a:t>
                      </a:r>
                      <a:endParaRPr lang="zh-CN" altLang="en-US" sz="1900" b="1" i="0" baseline="0" dirty="0">
                        <a:solidFill>
                          <a:srgbClr val="060607"/>
                        </a:solidFill>
                        <a:uFillTx/>
                        <a:latin typeface="Times New Roman" panose="02020603050405020304" charset="0"/>
                        <a:ea typeface="仿宋" panose="02010609060101010101" pitchFamily="49" charset="-122"/>
                      </a:endParaRPr>
                    </a:p>
                  </a:txBody>
                  <a:tcPr marL="122237" marR="122237" marT="91757" marB="91757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900" b="1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操作码</a:t>
                      </a:r>
                      <a:endParaRPr lang="en-US" altLang="zh-CN" sz="1900" b="1" i="0" baseline="0" dirty="0">
                        <a:solidFill>
                          <a:srgbClr val="060607"/>
                        </a:solidFill>
                        <a:uFillTx/>
                        <a:latin typeface="Times New Roman" panose="02020603050405020304" charset="0"/>
                        <a:ea typeface="仿宋" panose="02010609060101010101" pitchFamily="49" charset="-122"/>
                      </a:endParaRPr>
                    </a:p>
                    <a:p>
                      <a:pPr marL="0" indent="0" algn="l" fontAlgn="base">
                        <a:lnSpc>
                          <a:spcPts val="14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900" b="1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（</a:t>
                      </a:r>
                      <a:r>
                        <a:rPr lang="en-US" altLang="zh-CN" sz="1900" b="1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3bit</a:t>
                      </a:r>
                      <a:r>
                        <a:rPr lang="zh-CN" altLang="en-US" sz="1900" b="1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）</a:t>
                      </a:r>
                      <a:endParaRPr lang="zh-CN" altLang="en-US" sz="1900" b="1" i="0" baseline="0" dirty="0">
                        <a:solidFill>
                          <a:srgbClr val="060607"/>
                        </a:solidFill>
                        <a:uFillTx/>
                        <a:latin typeface="Times New Roman" panose="02020603050405020304" charset="0"/>
                        <a:ea typeface="仿宋" panose="02010609060101010101" pitchFamily="49" charset="-122"/>
                      </a:endParaRPr>
                    </a:p>
                  </a:txBody>
                  <a:tcPr marL="122237" marR="122237" marT="91757" marB="91757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44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900" b="1" i="0" baseline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描述</a:t>
                      </a:r>
                      <a:endParaRPr lang="zh-CN" altLang="en-US" sz="1900" b="1" i="0" baseline="0">
                        <a:solidFill>
                          <a:srgbClr val="060607"/>
                        </a:solidFill>
                        <a:uFillTx/>
                        <a:latin typeface="Times New Roman" panose="02020603050405020304" charset="0"/>
                        <a:ea typeface="仿宋" panose="02010609060101010101" pitchFamily="49" charset="-122"/>
                      </a:endParaRPr>
                    </a:p>
                  </a:txBody>
                  <a:tcPr marL="122237" marR="122237" marT="91757" marB="91757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519787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加法</a:t>
                      </a:r>
                      <a:endParaRPr lang="zh-CN" altLang="en-US" sz="1900" b="0" i="0" baseline="0" dirty="0">
                        <a:solidFill>
                          <a:srgbClr val="060607"/>
                        </a:solidFill>
                        <a:uFillTx/>
                        <a:latin typeface="Times New Roman" panose="02020603050405020304" charset="0"/>
                        <a:ea typeface="仿宋" panose="02010609060101010101" pitchFamily="49" charset="-122"/>
                      </a:endParaRPr>
                    </a:p>
                  </a:txBody>
                  <a:tcPr marL="122237" marR="122237" marT="91757" marB="91757">
                    <a:lnL>
                      <a:noFill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000</a:t>
                      </a:r>
                      <a:endParaRPr lang="en-US" altLang="zh-CN" sz="1900" b="0" i="0" baseline="0" dirty="0">
                        <a:solidFill>
                          <a:srgbClr val="060607"/>
                        </a:solidFill>
                        <a:uFillTx/>
                        <a:latin typeface="Times New Roman" panose="02020603050405020304" charset="0"/>
                        <a:ea typeface="仿宋" panose="02010609060101010101" pitchFamily="49" charset="-122"/>
                      </a:endParaRPr>
                    </a:p>
                  </a:txBody>
                  <a:tcPr marL="122237" marR="122237" marT="91757" marB="91757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对输入操作数</a:t>
                      </a:r>
                      <a:r>
                        <a:rPr lang="en-US" altLang="zh-CN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A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和</a:t>
                      </a:r>
                      <a:r>
                        <a:rPr lang="en-US" altLang="zh-CN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B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进行加法运算，结果输出到</a:t>
                      </a:r>
                      <a:r>
                        <a:rPr lang="en-US" altLang="zh-CN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result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，进位输出到</a:t>
                      </a:r>
                      <a:r>
                        <a:rPr lang="en-US" altLang="zh-CN" sz="1900" b="0" i="0" baseline="0" dirty="0" err="1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cout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。</a:t>
                      </a:r>
                      <a:endParaRPr lang="zh-CN" altLang="en-US" sz="1900" b="0" i="0" baseline="0" dirty="0">
                        <a:solidFill>
                          <a:srgbClr val="060607"/>
                        </a:solidFill>
                        <a:uFillTx/>
                        <a:latin typeface="Times New Roman" panose="02020603050405020304" charset="0"/>
                        <a:ea typeface="仿宋" panose="02010609060101010101" pitchFamily="49" charset="-122"/>
                      </a:endParaRPr>
                    </a:p>
                  </a:txBody>
                  <a:tcPr marL="122237" marR="122237" marT="91757" marB="91757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0847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减法</a:t>
                      </a:r>
                      <a:endParaRPr lang="zh-CN" altLang="en-US" sz="1900" b="0" i="0" baseline="0" dirty="0">
                        <a:solidFill>
                          <a:srgbClr val="060607"/>
                        </a:solidFill>
                        <a:uFillTx/>
                        <a:latin typeface="Times New Roman" panose="02020603050405020304" charset="0"/>
                        <a:ea typeface="仿宋" panose="02010609060101010101" pitchFamily="49" charset="-122"/>
                      </a:endParaRPr>
                    </a:p>
                  </a:txBody>
                  <a:tcPr marL="122237" marR="122237" marT="91757" marB="91757">
                    <a:lnL>
                      <a:noFill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001</a:t>
                      </a:r>
                      <a:endParaRPr lang="en-US" altLang="zh-CN" sz="1900" b="0" i="0" baseline="0" dirty="0">
                        <a:solidFill>
                          <a:srgbClr val="060607"/>
                        </a:solidFill>
                        <a:uFillTx/>
                        <a:latin typeface="Times New Roman" panose="02020603050405020304" charset="0"/>
                        <a:ea typeface="仿宋" panose="02010609060101010101" pitchFamily="49" charset="-122"/>
                      </a:endParaRPr>
                    </a:p>
                  </a:txBody>
                  <a:tcPr marL="122237" marR="122237" marT="91757" marB="91757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对输入操作数</a:t>
                      </a:r>
                      <a:r>
                        <a:rPr lang="en-US" altLang="zh-CN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A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和</a:t>
                      </a:r>
                      <a:r>
                        <a:rPr lang="en-US" altLang="zh-CN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B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进行减法运算（</a:t>
                      </a:r>
                      <a:r>
                        <a:rPr lang="en-US" altLang="zh-CN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A - B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），结果输出到</a:t>
                      </a:r>
                      <a:r>
                        <a:rPr lang="en-US" altLang="zh-CN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result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，借位输出到</a:t>
                      </a:r>
                      <a:r>
                        <a:rPr lang="en-US" altLang="zh-CN" sz="1900" b="0" i="0" baseline="0" dirty="0" err="1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cout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。</a:t>
                      </a:r>
                      <a:endParaRPr lang="zh-CN" altLang="en-US" sz="1900" b="0" i="0" baseline="0" dirty="0">
                        <a:solidFill>
                          <a:srgbClr val="060607"/>
                        </a:solidFill>
                        <a:uFillTx/>
                        <a:latin typeface="Times New Roman" panose="02020603050405020304" charset="0"/>
                        <a:ea typeface="仿宋" panose="02010609060101010101" pitchFamily="49" charset="-122"/>
                      </a:endParaRPr>
                    </a:p>
                  </a:txBody>
                  <a:tcPr marL="122237" marR="122237" marT="91757" marB="91757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242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乘法</a:t>
                      </a:r>
                      <a:endParaRPr lang="zh-CN" altLang="en-US" sz="1900" b="0" i="0" baseline="0" dirty="0">
                        <a:solidFill>
                          <a:srgbClr val="060607"/>
                        </a:solidFill>
                        <a:uFillTx/>
                        <a:latin typeface="Times New Roman" panose="02020603050405020304" charset="0"/>
                        <a:ea typeface="仿宋" panose="02010609060101010101" pitchFamily="49" charset="-122"/>
                      </a:endParaRPr>
                    </a:p>
                  </a:txBody>
                  <a:tcPr marL="122237" marR="122237" marT="91757" marB="91757">
                    <a:lnL>
                      <a:noFill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010</a:t>
                      </a:r>
                      <a:endParaRPr lang="en-US" altLang="zh-CN" sz="1900" b="0" i="0" baseline="0" dirty="0">
                        <a:solidFill>
                          <a:srgbClr val="060607"/>
                        </a:solidFill>
                        <a:uFillTx/>
                        <a:latin typeface="Times New Roman" panose="02020603050405020304" charset="0"/>
                        <a:ea typeface="仿宋" panose="02010609060101010101" pitchFamily="49" charset="-122"/>
                      </a:endParaRPr>
                    </a:p>
                  </a:txBody>
                  <a:tcPr marL="122237" marR="122237" marT="91757" marB="91757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对输入操作数</a:t>
                      </a:r>
                      <a:r>
                        <a:rPr lang="en-US" altLang="zh-CN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A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和</a:t>
                      </a:r>
                      <a:r>
                        <a:rPr lang="en-US" altLang="zh-CN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B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进行乘法运算，结果输出到</a:t>
                      </a:r>
                      <a:r>
                        <a:rPr lang="en-US" altLang="zh-CN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result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（仅保留低</a:t>
                      </a:r>
                      <a:r>
                        <a:rPr lang="en-US" altLang="zh-CN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32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位），</a:t>
                      </a:r>
                      <a:r>
                        <a:rPr lang="en-US" altLang="zh-CN" sz="1900" b="0" i="0" baseline="0" dirty="0" err="1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cout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始终为</a:t>
                      </a:r>
                      <a:r>
                        <a:rPr lang="en-US" altLang="zh-CN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0</a:t>
                      </a:r>
                      <a:endParaRPr lang="zh-CN" altLang="en-US" sz="1900" b="0" i="0" baseline="0" dirty="0">
                        <a:solidFill>
                          <a:srgbClr val="060607"/>
                        </a:solidFill>
                        <a:uFillTx/>
                        <a:latin typeface="Times New Roman" panose="02020603050405020304" charset="0"/>
                        <a:ea typeface="仿宋" panose="02010609060101010101" pitchFamily="49" charset="-122"/>
                      </a:endParaRPr>
                    </a:p>
                  </a:txBody>
                  <a:tcPr marL="122237" marR="122237" marT="91757" marB="91757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9787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与运算</a:t>
                      </a:r>
                      <a:endParaRPr lang="zh-CN" altLang="en-US" sz="1900" b="0" i="0" baseline="0" dirty="0">
                        <a:solidFill>
                          <a:srgbClr val="060607"/>
                        </a:solidFill>
                        <a:uFillTx/>
                        <a:latin typeface="Times New Roman" panose="02020603050405020304" charset="0"/>
                        <a:ea typeface="仿宋" panose="02010609060101010101" pitchFamily="49" charset="-122"/>
                      </a:endParaRPr>
                    </a:p>
                  </a:txBody>
                  <a:tcPr marL="122237" marR="122237" marT="91757" marB="91757">
                    <a:lnL>
                      <a:noFill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011</a:t>
                      </a:r>
                      <a:endParaRPr lang="en-US" altLang="zh-CN" sz="1900" b="0" i="0" baseline="0" dirty="0">
                        <a:solidFill>
                          <a:srgbClr val="060607"/>
                        </a:solidFill>
                        <a:uFillTx/>
                        <a:latin typeface="Times New Roman" panose="02020603050405020304" charset="0"/>
                        <a:ea typeface="仿宋" panose="02010609060101010101" pitchFamily="49" charset="-122"/>
                      </a:endParaRPr>
                    </a:p>
                  </a:txBody>
                  <a:tcPr marL="122237" marR="122237" marT="91757" marB="91757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对输入操作数</a:t>
                      </a:r>
                      <a:r>
                        <a:rPr lang="en-US" altLang="zh-CN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A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和</a:t>
                      </a:r>
                      <a:r>
                        <a:rPr lang="en-US" altLang="zh-CN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B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进行按位与运算，结果输出到</a:t>
                      </a:r>
                      <a:r>
                        <a:rPr lang="en-US" altLang="zh-CN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result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，</a:t>
                      </a:r>
                      <a:r>
                        <a:rPr lang="en-US" altLang="zh-CN" sz="1900" b="0" i="0" baseline="0" dirty="0" err="1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cout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始终为</a:t>
                      </a:r>
                      <a:r>
                        <a:rPr lang="en-US" altLang="zh-CN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0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。</a:t>
                      </a:r>
                      <a:endParaRPr lang="zh-CN" altLang="en-US" sz="1900" b="0" i="0" baseline="0" dirty="0">
                        <a:solidFill>
                          <a:srgbClr val="060607"/>
                        </a:solidFill>
                        <a:uFillTx/>
                        <a:latin typeface="Times New Roman" panose="02020603050405020304" charset="0"/>
                        <a:ea typeface="仿宋" panose="02010609060101010101" pitchFamily="49" charset="-122"/>
                      </a:endParaRPr>
                    </a:p>
                  </a:txBody>
                  <a:tcPr marL="122237" marR="122237" marT="91757" marB="91757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9787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900" b="0" i="0" baseline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或运算</a:t>
                      </a:r>
                      <a:endParaRPr lang="zh-CN" altLang="en-US" sz="1900" b="0" i="0" baseline="0">
                        <a:solidFill>
                          <a:srgbClr val="060607"/>
                        </a:solidFill>
                        <a:uFillTx/>
                        <a:latin typeface="Times New Roman" panose="02020603050405020304" charset="0"/>
                        <a:ea typeface="仿宋" panose="02010609060101010101" pitchFamily="49" charset="-122"/>
                      </a:endParaRPr>
                    </a:p>
                  </a:txBody>
                  <a:tcPr marL="122237" marR="122237" marT="91757" marB="91757">
                    <a:lnL>
                      <a:noFill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900" b="0" i="0" baseline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100</a:t>
                      </a:r>
                      <a:endParaRPr lang="en-US" altLang="zh-CN" sz="1900" b="0" i="0" baseline="0">
                        <a:solidFill>
                          <a:srgbClr val="060607"/>
                        </a:solidFill>
                        <a:uFillTx/>
                        <a:latin typeface="Times New Roman" panose="02020603050405020304" charset="0"/>
                        <a:ea typeface="仿宋" panose="02010609060101010101" pitchFamily="49" charset="-122"/>
                      </a:endParaRPr>
                    </a:p>
                  </a:txBody>
                  <a:tcPr marL="122237" marR="122237" marT="91757" marB="91757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对输入操作数</a:t>
                      </a:r>
                      <a:r>
                        <a:rPr lang="en-US" altLang="zh-CN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A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和</a:t>
                      </a:r>
                      <a:r>
                        <a:rPr lang="en-US" altLang="zh-CN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B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进行按位或运算，结果输出到</a:t>
                      </a:r>
                      <a:r>
                        <a:rPr lang="en-US" altLang="zh-CN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result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，</a:t>
                      </a:r>
                      <a:r>
                        <a:rPr lang="en-US" altLang="zh-CN" sz="1900" b="0" i="0" baseline="0" dirty="0" err="1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cout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始终为</a:t>
                      </a:r>
                      <a:r>
                        <a:rPr lang="en-US" altLang="zh-CN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0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。</a:t>
                      </a:r>
                      <a:endParaRPr lang="zh-CN" altLang="en-US" sz="1900" b="0" i="0" baseline="0" dirty="0">
                        <a:solidFill>
                          <a:srgbClr val="060607"/>
                        </a:solidFill>
                        <a:uFillTx/>
                        <a:latin typeface="Times New Roman" panose="02020603050405020304" charset="0"/>
                        <a:ea typeface="仿宋" panose="02010609060101010101" pitchFamily="49" charset="-122"/>
                      </a:endParaRPr>
                    </a:p>
                  </a:txBody>
                  <a:tcPr marL="122237" marR="122237" marT="91757" marB="91757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9787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900" b="0" i="0" baseline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异或运算</a:t>
                      </a:r>
                      <a:endParaRPr lang="zh-CN" altLang="en-US" sz="1900" b="0" i="0" baseline="0">
                        <a:solidFill>
                          <a:srgbClr val="060607"/>
                        </a:solidFill>
                        <a:uFillTx/>
                        <a:latin typeface="Times New Roman" panose="02020603050405020304" charset="0"/>
                        <a:ea typeface="仿宋" panose="02010609060101010101" pitchFamily="49" charset="-122"/>
                      </a:endParaRPr>
                    </a:p>
                  </a:txBody>
                  <a:tcPr marL="122237" marR="122237" marT="91757" marB="91757">
                    <a:lnL>
                      <a:noFill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900" b="0" i="0" baseline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101</a:t>
                      </a:r>
                      <a:endParaRPr lang="en-US" altLang="zh-CN" sz="1900" b="0" i="0" baseline="0">
                        <a:solidFill>
                          <a:srgbClr val="060607"/>
                        </a:solidFill>
                        <a:uFillTx/>
                        <a:latin typeface="Times New Roman" panose="02020603050405020304" charset="0"/>
                        <a:ea typeface="仿宋" panose="02010609060101010101" pitchFamily="49" charset="-122"/>
                      </a:endParaRPr>
                    </a:p>
                  </a:txBody>
                  <a:tcPr marL="122237" marR="122237" marT="91757" marB="91757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对输入操作数</a:t>
                      </a:r>
                      <a:r>
                        <a:rPr lang="en-US" altLang="zh-CN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A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和</a:t>
                      </a:r>
                      <a:r>
                        <a:rPr lang="en-US" altLang="zh-CN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B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进行按位异或运算，结果输出到</a:t>
                      </a:r>
                      <a:r>
                        <a:rPr lang="en-US" altLang="zh-CN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result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，</a:t>
                      </a:r>
                      <a:r>
                        <a:rPr lang="en-US" altLang="zh-CN" sz="1900" b="0" i="0" baseline="0" dirty="0" err="1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cout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始终为</a:t>
                      </a:r>
                      <a:r>
                        <a:rPr lang="en-US" altLang="zh-CN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0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。</a:t>
                      </a:r>
                      <a:endParaRPr lang="zh-CN" altLang="en-US" sz="1900" b="0" i="0" baseline="0" dirty="0">
                        <a:solidFill>
                          <a:srgbClr val="060607"/>
                        </a:solidFill>
                        <a:uFillTx/>
                        <a:latin typeface="Times New Roman" panose="02020603050405020304" charset="0"/>
                        <a:ea typeface="仿宋" panose="02010609060101010101" pitchFamily="49" charset="-122"/>
                      </a:endParaRPr>
                    </a:p>
                  </a:txBody>
                  <a:tcPr marL="122237" marR="122237" marT="91757" marB="91757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9787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900" b="0" i="0" baseline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非运算</a:t>
                      </a:r>
                      <a:endParaRPr lang="zh-CN" altLang="en-US" sz="1900" b="0" i="0" baseline="0">
                        <a:solidFill>
                          <a:srgbClr val="060607"/>
                        </a:solidFill>
                        <a:uFillTx/>
                        <a:latin typeface="Times New Roman" panose="02020603050405020304" charset="0"/>
                        <a:ea typeface="仿宋" panose="02010609060101010101" pitchFamily="49" charset="-122"/>
                      </a:endParaRPr>
                    </a:p>
                  </a:txBody>
                  <a:tcPr marL="122237" marR="122237" marT="91757" marB="91757">
                    <a:lnL>
                      <a:noFill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900" b="0" i="0" baseline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110</a:t>
                      </a:r>
                      <a:endParaRPr lang="en-US" altLang="zh-CN" sz="1900" b="0" i="0" baseline="0">
                        <a:solidFill>
                          <a:srgbClr val="060607"/>
                        </a:solidFill>
                        <a:uFillTx/>
                        <a:latin typeface="Times New Roman" panose="02020603050405020304" charset="0"/>
                        <a:ea typeface="仿宋" panose="02010609060101010101" pitchFamily="49" charset="-122"/>
                      </a:endParaRPr>
                    </a:p>
                  </a:txBody>
                  <a:tcPr marL="122237" marR="122237" marT="91757" marB="91757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对输入操作数</a:t>
                      </a:r>
                      <a:r>
                        <a:rPr lang="en-US" altLang="zh-CN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A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进行按位取反运算，结果输出到</a:t>
                      </a:r>
                      <a:r>
                        <a:rPr lang="en-US" altLang="zh-CN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result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，</a:t>
                      </a:r>
                      <a:r>
                        <a:rPr lang="en-US" altLang="zh-CN" sz="1900" b="0" i="0" baseline="0" dirty="0" err="1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cout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始终为</a:t>
                      </a:r>
                      <a:r>
                        <a:rPr lang="en-US" altLang="zh-CN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0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。</a:t>
                      </a:r>
                      <a:endParaRPr lang="zh-CN" altLang="en-US" sz="1900" b="0" i="0" baseline="0" dirty="0">
                        <a:solidFill>
                          <a:srgbClr val="060607"/>
                        </a:solidFill>
                        <a:uFillTx/>
                        <a:latin typeface="Times New Roman" panose="02020603050405020304" charset="0"/>
                        <a:ea typeface="仿宋" panose="02010609060101010101" pitchFamily="49" charset="-122"/>
                      </a:endParaRPr>
                    </a:p>
                  </a:txBody>
                  <a:tcPr marL="122237" marR="122237" marT="91757" marB="91757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0847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900" b="0" i="0" baseline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右移运算</a:t>
                      </a:r>
                      <a:endParaRPr lang="zh-CN" altLang="en-US" sz="1900" b="0" i="0" baseline="0">
                        <a:solidFill>
                          <a:srgbClr val="060607"/>
                        </a:solidFill>
                        <a:uFillTx/>
                        <a:latin typeface="Times New Roman" panose="02020603050405020304" charset="0"/>
                        <a:ea typeface="仿宋" panose="02010609060101010101" pitchFamily="49" charset="-122"/>
                      </a:endParaRPr>
                    </a:p>
                  </a:txBody>
                  <a:tcPr marL="122237" marR="122237" marT="91757" marB="91757">
                    <a:lnL>
                      <a:noFill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900" b="0" i="0" baseline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111</a:t>
                      </a:r>
                      <a:endParaRPr lang="en-US" altLang="zh-CN" sz="1900" b="0" i="0" baseline="0">
                        <a:solidFill>
                          <a:srgbClr val="060607"/>
                        </a:solidFill>
                        <a:uFillTx/>
                        <a:latin typeface="Times New Roman" panose="02020603050405020304" charset="0"/>
                        <a:ea typeface="仿宋" panose="02010609060101010101" pitchFamily="49" charset="-122"/>
                      </a:endParaRPr>
                    </a:p>
                  </a:txBody>
                  <a:tcPr marL="122237" marR="122237" marT="91757" marB="91757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对输入操作数</a:t>
                      </a:r>
                      <a:r>
                        <a:rPr lang="en-US" altLang="zh-CN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A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进行逻辑右移</a:t>
                      </a:r>
                      <a:r>
                        <a:rPr lang="en-US" altLang="zh-CN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B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位的运算，结果输出到</a:t>
                      </a:r>
                      <a:r>
                        <a:rPr lang="en-US" altLang="zh-CN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result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，</a:t>
                      </a:r>
                      <a:r>
                        <a:rPr lang="en-US" altLang="zh-CN" sz="1900" b="0" i="0" baseline="0" dirty="0" err="1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cout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始终为</a:t>
                      </a:r>
                      <a:r>
                        <a:rPr lang="en-US" altLang="zh-CN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0</a:t>
                      </a:r>
                      <a:r>
                        <a:rPr lang="zh-CN" altLang="en-US" sz="1900" b="0" i="0" baseline="0" dirty="0">
                          <a:solidFill>
                            <a:srgbClr val="060607"/>
                          </a:solidFill>
                          <a:uFillTx/>
                          <a:latin typeface="Times New Roman" panose="02020603050405020304" charset="0"/>
                          <a:ea typeface="仿宋" panose="02010609060101010101" pitchFamily="49" charset="-122"/>
                        </a:rPr>
                        <a:t>。</a:t>
                      </a:r>
                      <a:endParaRPr lang="zh-CN" altLang="en-US" sz="1900" b="0" i="0" baseline="0" dirty="0">
                        <a:solidFill>
                          <a:srgbClr val="060607"/>
                        </a:solidFill>
                        <a:uFillTx/>
                        <a:latin typeface="Times New Roman" panose="02020603050405020304" charset="0"/>
                        <a:ea typeface="仿宋" panose="02010609060101010101" pitchFamily="49" charset="-122"/>
                      </a:endParaRPr>
                    </a:p>
                  </a:txBody>
                  <a:tcPr marL="122237" marR="122237" marT="91757" marB="91757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timgsa.baidu.com/timg?image&amp;quality=80&amp;size=b9999_10000&amp;sec=1486706539526&amp;di=79ff7f14d79ab459b5a7e54209358ed7&amp;imgtype=0&amp;src=http%3A%2F%2Fb.hiphotos.baidu.com%2Fbaike%2Fs%3D220%2Fsign%3Db8f5950d0afa513d55aa6bdc0d6c554c%2F3b87e950352ac65c394266a2f9f2b21192138a9f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" y="5976624"/>
            <a:ext cx="756000" cy="75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2025/3/10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60200" y="470263"/>
            <a:ext cx="33680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Section 3. </a:t>
            </a:r>
            <a:r>
              <a:rPr lang="zh-CN" altLang="en-US" sz="2800" dirty="0">
                <a:latin typeface="+mj-ea"/>
                <a:ea typeface="+mj-ea"/>
              </a:rPr>
              <a:t>实验要求</a:t>
            </a:r>
            <a:endParaRPr lang="en-US" altLang="zh-CN" sz="2800" dirty="0"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51280" y="1132840"/>
            <a:ext cx="8397240" cy="5015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使用</a:t>
            </a: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Verilog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语言编写</a:t>
            </a: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ALU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模块代码，模块名为</a:t>
            </a:r>
            <a:r>
              <a:rPr lang="en-US" altLang="zh-CN" sz="2000" b="0" i="0" dirty="0" err="1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ALU_Seq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。</a:t>
            </a:r>
            <a:endParaRPr lang="zh-CN" altLang="en-US" sz="2000" b="0" i="0" dirty="0">
              <a:solidFill>
                <a:srgbClr val="060607"/>
              </a:solidFill>
              <a:uFillTx/>
              <a:latin typeface="Times New Roman" panose="02020603050405020304" charset="0"/>
              <a:ea typeface="仿宋" panose="02010609060101010101" pitchFamily="49" charset="-122"/>
            </a:endParaRPr>
          </a:p>
          <a:p>
            <a:pPr mar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endParaRPr lang="zh-CN" altLang="en-US" sz="2000" b="0" i="0" dirty="0">
              <a:solidFill>
                <a:srgbClr val="060607"/>
              </a:solidFill>
              <a:uFillTx/>
              <a:latin typeface="Times New Roman" panose="02020603050405020304" charset="0"/>
              <a:ea typeface="仿宋" panose="02010609060101010101" pitchFamily="49" charset="-122"/>
            </a:endParaRPr>
          </a:p>
          <a:p>
            <a:pPr mar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模块的输入输出接口如下：</a:t>
            </a:r>
            <a:endParaRPr lang="zh-CN" altLang="en-US" sz="2000" b="0" i="0" dirty="0">
              <a:solidFill>
                <a:srgbClr val="060607"/>
              </a:solidFill>
              <a:uFillTx/>
              <a:latin typeface="Times New Roman" panose="02020603050405020304" charset="0"/>
              <a:ea typeface="仿宋" panose="02010609060101010101" pitchFamily="49" charset="-122"/>
            </a:endParaRPr>
          </a:p>
          <a:p>
            <a:pPr marL="0" lvl="1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输入：</a:t>
            </a:r>
            <a:r>
              <a:rPr lang="en-US" altLang="zh-CN" sz="2000" b="0" i="0" dirty="0" err="1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clk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：时钟信号，上升沿触发运算</a:t>
            </a: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;a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：</a:t>
            </a: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32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位输入操作数</a:t>
            </a:r>
            <a:r>
              <a:rPr lang="en-US" altLang="zh-CN" sz="2000" b="0" i="0" dirty="0" err="1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A;b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：</a:t>
            </a: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32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位输入操作数</a:t>
            </a:r>
            <a:r>
              <a:rPr lang="en-US" altLang="zh-CN" sz="2000" b="0" i="0" dirty="0" err="1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B;op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：</a:t>
            </a: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3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位操作码，用于选择运算类型。</a:t>
            </a:r>
            <a:endParaRPr lang="zh-CN" altLang="en-US" sz="2000" b="0" i="0" dirty="0">
              <a:solidFill>
                <a:srgbClr val="060607"/>
              </a:solidFill>
              <a:uFillTx/>
              <a:latin typeface="Times New Roman" panose="02020603050405020304" charset="0"/>
              <a:ea typeface="仿宋" panose="02010609060101010101" pitchFamily="49" charset="-122"/>
            </a:endParaRPr>
          </a:p>
          <a:p>
            <a:pPr marL="0" lvl="1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输出：</a:t>
            </a: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result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：</a:t>
            </a: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32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位运算结果</a:t>
            </a: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,</a:t>
            </a:r>
            <a:r>
              <a:rPr lang="en-US" altLang="zh-CN" sz="2000" b="0" i="0" dirty="0" err="1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cout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：进位</a:t>
            </a: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/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溢出标志。</a:t>
            </a:r>
            <a:endParaRPr lang="zh-CN" altLang="en-US" sz="2000" b="0" i="0" dirty="0">
              <a:solidFill>
                <a:srgbClr val="060607"/>
              </a:solidFill>
              <a:uFillTx/>
              <a:latin typeface="Times New Roman" panose="02020603050405020304" charset="0"/>
              <a:ea typeface="仿宋" panose="02010609060101010101" pitchFamily="49" charset="-122"/>
            </a:endParaRPr>
          </a:p>
          <a:p>
            <a:pPr marL="0" lvl="1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endParaRPr lang="zh-CN" altLang="en-US" sz="2000" b="0" i="0" dirty="0">
              <a:solidFill>
                <a:srgbClr val="060607"/>
              </a:solidFill>
              <a:uFillTx/>
              <a:latin typeface="Times New Roman" panose="02020603050405020304" charset="0"/>
              <a:ea typeface="仿宋" panose="02010609060101010101" pitchFamily="49" charset="-122"/>
            </a:endParaRPr>
          </a:p>
          <a:p>
            <a:pPr mar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在时钟信号的上升沿，根据操作码</a:t>
            </a: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op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的值，对输入的操作数</a:t>
            </a: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a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和</a:t>
            </a: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b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进行相应的运算，并将结果输出到</a:t>
            </a: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result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和</a:t>
            </a:r>
            <a:r>
              <a:rPr lang="en-US" altLang="zh-CN" sz="2000" b="0" i="0" dirty="0" err="1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cout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。</a:t>
            </a:r>
            <a:endParaRPr lang="zh-CN" altLang="en-US" sz="2000" b="0" i="0" dirty="0">
              <a:solidFill>
                <a:srgbClr val="060607"/>
              </a:solidFill>
              <a:uFillTx/>
              <a:latin typeface="Times New Roman" panose="02020603050405020304" charset="0"/>
              <a:ea typeface="仿宋" panose="02010609060101010101" pitchFamily="49" charset="-122"/>
            </a:endParaRPr>
          </a:p>
          <a:p>
            <a:pPr mar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endParaRPr lang="zh-CN" altLang="en-US" sz="2000" b="0" i="0" dirty="0">
              <a:solidFill>
                <a:srgbClr val="060607"/>
              </a:solidFill>
              <a:uFillTx/>
              <a:latin typeface="Times New Roman" panose="02020603050405020304" charset="0"/>
              <a:ea typeface="仿宋" panose="02010609060101010101" pitchFamily="49" charset="-122"/>
            </a:endParaRPr>
          </a:p>
          <a:p>
            <a:pPr mar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对于加法和减法运算，需要正确处理进位和借位，并将进位</a:t>
            </a: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/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借位输出到</a:t>
            </a:r>
            <a:r>
              <a:rPr lang="en-US" altLang="zh-CN" sz="2000" b="0" i="0" dirty="0" err="1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cout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。</a:t>
            </a:r>
            <a:endParaRPr lang="zh-CN" altLang="en-US" sz="2000" b="0" i="0" dirty="0">
              <a:solidFill>
                <a:srgbClr val="060607"/>
              </a:solidFill>
              <a:uFillTx/>
              <a:latin typeface="Times New Roman" panose="02020603050405020304" charset="0"/>
              <a:ea typeface="仿宋" panose="02010609060101010101" pitchFamily="49" charset="-122"/>
            </a:endParaRPr>
          </a:p>
          <a:p>
            <a:pPr mar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endParaRPr lang="zh-CN" altLang="en-US" sz="2000" b="0" i="0" dirty="0">
              <a:solidFill>
                <a:srgbClr val="060607"/>
              </a:solidFill>
              <a:uFillTx/>
              <a:latin typeface="Times New Roman" panose="02020603050405020304" charset="0"/>
              <a:ea typeface="仿宋" panose="02010609060101010101" pitchFamily="49" charset="-122"/>
            </a:endParaRPr>
          </a:p>
          <a:p>
            <a:pPr mar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对于乘法运算，仅保留低</a:t>
            </a: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32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位结果输出到</a:t>
            </a: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result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，</a:t>
            </a:r>
            <a:r>
              <a:rPr lang="en-US" altLang="zh-CN" sz="2000" b="0" i="0" dirty="0" err="1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cout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始终为</a:t>
            </a: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0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。</a:t>
            </a:r>
            <a:endParaRPr lang="zh-CN" altLang="en-US" sz="2000" b="0" i="0" dirty="0">
              <a:solidFill>
                <a:srgbClr val="060607"/>
              </a:solidFill>
              <a:uFillTx/>
              <a:latin typeface="Times New Roman" panose="02020603050405020304" charset="0"/>
              <a:ea typeface="仿宋" panose="02010609060101010101" pitchFamily="49" charset="-122"/>
            </a:endParaRPr>
          </a:p>
          <a:p>
            <a:pPr mar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endParaRPr lang="zh-CN" altLang="en-US" sz="2000" b="0" i="0" dirty="0">
              <a:solidFill>
                <a:srgbClr val="060607"/>
              </a:solidFill>
              <a:uFillTx/>
              <a:latin typeface="Times New Roman" panose="02020603050405020304" charset="0"/>
              <a:ea typeface="仿宋" panose="02010609060101010101" pitchFamily="49" charset="-122"/>
            </a:endParaRPr>
          </a:p>
          <a:p>
            <a:pPr mar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对于逻辑运算（与、或、异或、非）和移位运算，</a:t>
            </a:r>
            <a:r>
              <a:rPr lang="en-US" altLang="zh-CN" sz="2000" b="0" i="0" dirty="0" err="1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cout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始终为</a:t>
            </a: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0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。</a:t>
            </a:r>
            <a:endParaRPr lang="zh-CN" altLang="en-US" sz="2000" b="0" i="0" dirty="0">
              <a:solidFill>
                <a:srgbClr val="060607"/>
              </a:solidFill>
              <a:uFillTx/>
              <a:latin typeface="Times New Roman" panose="02020603050405020304" charset="0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timgsa.baidu.com/timg?image&amp;quality=80&amp;size=b9999_10000&amp;sec=1486706539526&amp;di=79ff7f14d79ab459b5a7e54209358ed7&amp;imgtype=0&amp;src=http%3A%2F%2Fb.hiphotos.baidu.com%2Fbaike%2Fs%3D220%2Fsign%3Db8f5950d0afa513d55aa6bdc0d6c554c%2F3b87e950352ac65c394266a2f9f2b21192138a9f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" y="5976624"/>
            <a:ext cx="756000" cy="75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2025/3/10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60200" y="470263"/>
            <a:ext cx="33680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Section 3. </a:t>
            </a:r>
            <a:r>
              <a:rPr lang="zh-CN" altLang="en-US" sz="2800" dirty="0">
                <a:latin typeface="+mj-ea"/>
                <a:ea typeface="+mj-ea"/>
              </a:rPr>
              <a:t>实验要求</a:t>
            </a:r>
            <a:endParaRPr lang="en-US" altLang="zh-CN" sz="2800" dirty="0"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51280" y="1132840"/>
            <a:ext cx="8397240" cy="51122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060607"/>
                </a:solidFill>
                <a:latin typeface="Times New Roman" panose="02020603050405020304" charset="0"/>
                <a:ea typeface="仿宋" panose="02010609060101010101" pitchFamily="49" charset="-122"/>
              </a:rPr>
              <a:t>7. </a:t>
            </a:r>
            <a:r>
              <a:rPr lang="zh-CN" altLang="en-US" sz="2000" dirty="0">
                <a:solidFill>
                  <a:srgbClr val="060607"/>
                </a:solidFill>
                <a:latin typeface="Times New Roman" panose="02020603050405020304" charset="0"/>
                <a:ea typeface="仿宋" panose="02010609060101010101" pitchFamily="49" charset="-122"/>
              </a:rPr>
              <a:t>在仿真文件中进行下述样例测试</a:t>
            </a:r>
            <a:endParaRPr lang="en-US" altLang="zh-CN" sz="2000" dirty="0">
              <a:solidFill>
                <a:srgbClr val="060607"/>
              </a:solidFill>
              <a:latin typeface="Times New Roman" panose="02020603050405020304" charset="0"/>
              <a:ea typeface="仿宋" panose="02010609060101010101" pitchFamily="49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5 + 3 = 8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，</a:t>
            </a:r>
            <a:r>
              <a:rPr lang="en-US" altLang="zh-CN" sz="2000" b="0" i="0" dirty="0" err="1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cout</a:t>
            </a: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=0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，</a:t>
            </a:r>
            <a:endParaRPr lang="en-US" altLang="zh-CN" sz="2000" b="0" i="0" dirty="0">
              <a:solidFill>
                <a:srgbClr val="060607"/>
              </a:solidFill>
              <a:uFillTx/>
              <a:latin typeface="Times New Roman" panose="02020603050405020304" charset="0"/>
              <a:ea typeface="仿宋" panose="02010609060101010101" pitchFamily="49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FFFFFFFF + 1 = 0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，</a:t>
            </a:r>
            <a:r>
              <a:rPr lang="en-US" altLang="zh-CN" sz="2000" b="0" i="0" dirty="0" err="1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cout</a:t>
            </a: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=1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，</a:t>
            </a:r>
            <a:endParaRPr lang="en-US" altLang="zh-CN" sz="2000" b="0" i="0" dirty="0">
              <a:solidFill>
                <a:srgbClr val="060607"/>
              </a:solidFill>
              <a:uFillTx/>
              <a:latin typeface="Times New Roman" panose="02020603050405020304" charset="0"/>
              <a:ea typeface="仿宋" panose="02010609060101010101" pitchFamily="49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5 - 3 = 2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，</a:t>
            </a:r>
            <a:r>
              <a:rPr lang="en-US" altLang="zh-CN" sz="2000" b="0" i="0" dirty="0" err="1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cout</a:t>
            </a: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=0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，</a:t>
            </a:r>
            <a:endParaRPr lang="en-US" altLang="zh-CN" sz="2000" b="0" i="0" dirty="0">
              <a:solidFill>
                <a:srgbClr val="060607"/>
              </a:solidFill>
              <a:uFillTx/>
              <a:latin typeface="Times New Roman" panose="02020603050405020304" charset="0"/>
              <a:ea typeface="仿宋" panose="02010609060101010101" pitchFamily="49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3 - 5 = FFFFFFFE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，</a:t>
            </a:r>
            <a:r>
              <a:rPr lang="en-US" altLang="zh-CN" sz="2000" b="0" i="0" dirty="0" err="1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cout</a:t>
            </a: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=1,</a:t>
            </a:r>
            <a:endParaRPr lang="en-US" altLang="zh-CN" sz="2000" b="0" i="0" dirty="0">
              <a:solidFill>
                <a:srgbClr val="060607"/>
              </a:solidFill>
              <a:uFillTx/>
              <a:latin typeface="Times New Roman" panose="02020603050405020304" charset="0"/>
              <a:ea typeface="仿宋" panose="02010609060101010101" pitchFamily="49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5 * 3 = 15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，</a:t>
            </a:r>
            <a:r>
              <a:rPr lang="en-US" altLang="zh-CN" sz="2000" b="0" i="0" dirty="0" err="1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cout</a:t>
            </a: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=0,</a:t>
            </a:r>
            <a:endParaRPr lang="en-US" altLang="zh-CN" sz="2000" b="0" i="0" dirty="0">
              <a:solidFill>
                <a:srgbClr val="060607"/>
              </a:solidFill>
              <a:uFillTx/>
              <a:latin typeface="Times New Roman" panose="02020603050405020304" charset="0"/>
              <a:ea typeface="仿宋" panose="02010609060101010101" pitchFamily="49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5 &amp; 3 = 1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，</a:t>
            </a:r>
            <a:r>
              <a:rPr lang="en-US" altLang="zh-CN" sz="2000" b="0" i="0" dirty="0" err="1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cout</a:t>
            </a: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=0,</a:t>
            </a:r>
            <a:endParaRPr lang="en-US" altLang="zh-CN" sz="2000" b="0" i="0" dirty="0">
              <a:solidFill>
                <a:srgbClr val="060607"/>
              </a:solidFill>
              <a:uFillTx/>
              <a:latin typeface="Times New Roman" panose="02020603050405020304" charset="0"/>
              <a:ea typeface="仿宋" panose="02010609060101010101" pitchFamily="49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5 | 3 = 7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，</a:t>
            </a:r>
            <a:r>
              <a:rPr lang="en-US" altLang="zh-CN" sz="2000" b="0" i="0" dirty="0" err="1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cout</a:t>
            </a: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=0,</a:t>
            </a:r>
            <a:endParaRPr lang="en-US" altLang="zh-CN" sz="2000" b="0" i="0" dirty="0">
              <a:solidFill>
                <a:srgbClr val="060607"/>
              </a:solidFill>
              <a:uFillTx/>
              <a:latin typeface="Times New Roman" panose="02020603050405020304" charset="0"/>
              <a:ea typeface="仿宋" panose="02010609060101010101" pitchFamily="49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5 ^ 3 = 6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，</a:t>
            </a:r>
            <a:r>
              <a:rPr lang="en-US" altLang="zh-CN" sz="2000" b="0" i="0" dirty="0" err="1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cout</a:t>
            </a: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=0,</a:t>
            </a:r>
            <a:endParaRPr lang="en-US" altLang="zh-CN" sz="2000" b="0" i="0" dirty="0">
              <a:solidFill>
                <a:srgbClr val="060607"/>
              </a:solidFill>
              <a:uFillTx/>
              <a:latin typeface="Times New Roman" panose="02020603050405020304" charset="0"/>
              <a:ea typeface="仿宋" panose="02010609060101010101" pitchFamily="49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~5 = FFFFFFFA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，</a:t>
            </a:r>
            <a:r>
              <a:rPr lang="en-US" altLang="zh-CN" sz="2000" b="0" i="0" dirty="0" err="1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cout</a:t>
            </a: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=0,</a:t>
            </a:r>
            <a:endParaRPr lang="en-US" altLang="zh-CN" sz="2000" b="0" i="0" dirty="0">
              <a:solidFill>
                <a:srgbClr val="060607"/>
              </a:solidFill>
              <a:uFillTx/>
              <a:latin typeface="Times New Roman" panose="02020603050405020304" charset="0"/>
              <a:ea typeface="仿宋" panose="02010609060101010101" pitchFamily="49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5 &gt;&gt; 1 = 2</a:t>
            </a:r>
            <a:r>
              <a:rPr lang="zh-CN" altLang="en-US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，</a:t>
            </a:r>
            <a:r>
              <a:rPr lang="en-US" altLang="zh-CN" sz="2000" b="0" i="0" dirty="0" err="1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cout</a:t>
            </a:r>
            <a:r>
              <a:rPr lang="en-US" altLang="zh-CN" sz="2000" b="0" i="0" dirty="0">
                <a:solidFill>
                  <a:srgbClr val="060607"/>
                </a:solidFill>
                <a:uFillTx/>
                <a:latin typeface="Times New Roman" panose="02020603050405020304" charset="0"/>
                <a:ea typeface="仿宋" panose="02010609060101010101" pitchFamily="49" charset="-122"/>
              </a:rPr>
              <a:t>=0.</a:t>
            </a:r>
            <a:endParaRPr lang="zh-CN" altLang="en-US" sz="2000" b="0" i="0" dirty="0">
              <a:solidFill>
                <a:srgbClr val="060607"/>
              </a:solidFill>
              <a:uFillTx/>
              <a:latin typeface="Times New Roman" panose="02020603050405020304" charset="0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timgsa.baidu.com/timg?image&amp;quality=80&amp;size=b9999_10000&amp;sec=1486706539526&amp;di=79ff7f14d79ab459b5a7e54209358ed7&amp;imgtype=0&amp;src=http%3A%2F%2Fb.hiphotos.baidu.com%2Fbaike%2Fs%3D220%2Fsign%3Db8f5950d0afa513d55aa6bdc0d6c554c%2F3b87e950352ac65c394266a2f9f2b21192138a9f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" y="5976624"/>
            <a:ext cx="756000" cy="75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2025/3/10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755015" y="54673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  <a:sym typeface="+mn-ea"/>
              </a:rPr>
              <a:t>Section 4. </a:t>
            </a:r>
            <a:r>
              <a:rPr lang="zh-CN" altLang="en-US" sz="2800" dirty="0">
                <a:latin typeface="+mj-ea"/>
                <a:ea typeface="+mj-ea"/>
                <a:sym typeface="+mn-ea"/>
              </a:rPr>
              <a:t>实验效果展示</a:t>
            </a:r>
            <a:endParaRPr lang="zh-CN" altLang="en-US" sz="2800" dirty="0">
              <a:latin typeface="+mj-ea"/>
              <a:ea typeface="+mj-ea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3450" y="1904365"/>
            <a:ext cx="10742295" cy="1022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>
              <a:spcAft>
                <a:spcPts val="1500"/>
              </a:spcAft>
              <a:buFont typeface="+mj-lt"/>
              <a:buNone/>
            </a:pPr>
            <a:r>
              <a:rPr lang="zh-CN" altLang="en-US" sz="2400" b="0" i="0" dirty="0">
                <a:effectLst/>
                <a:latin typeface="+mn-ea"/>
              </a:rPr>
              <a:t>使用给出的测试代码，得出下述实验波形图。</a:t>
            </a:r>
            <a:endParaRPr lang="zh-CN" altLang="en-US" sz="2400" b="0" i="0" dirty="0">
              <a:effectLst/>
              <a:latin typeface="+mn-ea"/>
            </a:endParaRPr>
          </a:p>
          <a:p>
            <a:endParaRPr lang="zh-CN" altLang="en-US" sz="2400" dirty="0">
              <a:latin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43200"/>
            <a:ext cx="10612120" cy="19380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timgsa.baidu.com/timg?image&amp;quality=80&amp;size=b9999_10000&amp;sec=1486706539526&amp;di=79ff7f14d79ab459b5a7e54209358ed7&amp;imgtype=0&amp;src=http%3A%2F%2Fb.hiphotos.baidu.com%2Fbaike%2Fs%3D220%2Fsign%3Db8f5950d0afa513d55aa6bdc0d6c554c%2F3b87e950352ac65c394266a2f9f2b21192138a9f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" y="5976624"/>
            <a:ext cx="756000" cy="75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2025/3/10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60200" y="470263"/>
            <a:ext cx="2316480" cy="953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i="0" dirty="0">
                <a:effectLst/>
                <a:latin typeface="+mj-ea"/>
                <a:ea typeface="+mj-ea"/>
              </a:rPr>
              <a:t>实验提交</a:t>
            </a:r>
            <a:r>
              <a:rPr lang="zh-CN" altLang="en-US" sz="2800" b="1" dirty="0">
                <a:latin typeface="+mj-ea"/>
                <a:ea typeface="+mj-ea"/>
              </a:rPr>
              <a:t>要求</a:t>
            </a:r>
            <a:endParaRPr lang="zh-CN" altLang="en-US" sz="2800" b="1" i="0" dirty="0">
              <a:effectLst/>
              <a:latin typeface="+mj-ea"/>
              <a:ea typeface="+mj-ea"/>
            </a:endParaRPr>
          </a:p>
          <a:p>
            <a:endParaRPr lang="zh-CN" altLang="en-US" sz="2800" b="1" i="0" dirty="0">
              <a:effectLst/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73726" y="1301260"/>
            <a:ext cx="9185564" cy="3522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en-US" altLang="zh-CN" sz="2400" b="1" i="0" dirty="0">
                <a:effectLst/>
                <a:latin typeface="+mj-ea"/>
                <a:ea typeface="+mj-ea"/>
                <a:cs typeface="+mj-ea"/>
              </a:rPr>
              <a:t>1</a:t>
            </a:r>
            <a:r>
              <a:rPr lang="en-US" altLang="zh-CN" sz="2400" b="1" dirty="0">
                <a:latin typeface="+mj-ea"/>
                <a:ea typeface="+mj-ea"/>
                <a:cs typeface="+mj-ea"/>
              </a:rPr>
              <a:t>.</a:t>
            </a:r>
            <a:r>
              <a:rPr lang="en-US" altLang="zh-CN" sz="2400" b="1" i="0" dirty="0">
                <a:effectLst/>
                <a:latin typeface="+mj-ea"/>
                <a:ea typeface="+mj-ea"/>
                <a:cs typeface="+mj-ea"/>
              </a:rPr>
              <a:t> </a:t>
            </a:r>
            <a:r>
              <a:rPr lang="zh-CN" altLang="en-US" sz="2400" b="1" i="0" dirty="0">
                <a:effectLst/>
                <a:latin typeface="+mj-ea"/>
                <a:ea typeface="+mj-ea"/>
                <a:cs typeface="+mj-ea"/>
              </a:rPr>
              <a:t>提交文件</a:t>
            </a:r>
            <a:endParaRPr lang="en-US" altLang="zh-CN" sz="2400" b="1" i="0" dirty="0">
              <a:effectLst/>
              <a:latin typeface="+mj-ea"/>
              <a:ea typeface="+mj-ea"/>
              <a:cs typeface="+mj-ea"/>
            </a:endParaRPr>
          </a:p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zh-CN" altLang="en-US" sz="2400" b="0" i="0" dirty="0">
                <a:effectLst/>
                <a:latin typeface="D-DINExp"/>
              </a:rPr>
              <a:t>需要提交压缩包包含实验项目全部文件和实验报告</a:t>
            </a:r>
            <a:endParaRPr lang="zh-CN" altLang="en-US" sz="2400" b="0" i="0" dirty="0">
              <a:effectLst/>
              <a:latin typeface="D-DINExp"/>
            </a:endParaRPr>
          </a:p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en-US" altLang="zh-CN" sz="2400" b="1" i="0" dirty="0">
                <a:effectLst/>
                <a:latin typeface="+mj-ea"/>
                <a:cs typeface="+mj-ea"/>
              </a:rPr>
              <a:t>2. </a:t>
            </a:r>
            <a:r>
              <a:rPr lang="zh-CN" altLang="en-US" sz="2400" b="1" dirty="0">
                <a:latin typeface="+mj-ea"/>
                <a:ea typeface="+mj-ea"/>
                <a:cs typeface="+mj-ea"/>
              </a:rPr>
              <a:t>命名</a:t>
            </a:r>
            <a:r>
              <a:rPr lang="zh-CN" altLang="en-US" sz="2400" b="1" i="0" dirty="0">
                <a:effectLst/>
                <a:latin typeface="+mj-ea"/>
                <a:ea typeface="+mj-ea"/>
                <a:cs typeface="+mj-ea"/>
              </a:rPr>
              <a:t>要求</a:t>
            </a:r>
            <a:endParaRPr lang="en-US" altLang="zh-CN" sz="2400" b="1" i="0" dirty="0">
              <a:effectLst/>
              <a:latin typeface="+mj-ea"/>
              <a:ea typeface="+mj-ea"/>
            </a:endParaRPr>
          </a:p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zh-CN" altLang="en-US" sz="2400" dirty="0">
                <a:latin typeface="+mn-ea"/>
              </a:rPr>
              <a:t>将</a:t>
            </a:r>
            <a:r>
              <a:rPr lang="en-US" altLang="zh-CN" sz="2400" dirty="0">
                <a:latin typeface="+mn-ea"/>
              </a:rPr>
              <a:t>zip</a:t>
            </a:r>
            <a:r>
              <a:rPr lang="zh-CN" altLang="en-US" sz="2400" dirty="0">
                <a:latin typeface="+mn-ea"/>
              </a:rPr>
              <a:t>压缩包重命名为</a:t>
            </a:r>
            <a:r>
              <a:rPr lang="en-US" altLang="zh-CN" sz="2400" b="1" dirty="0">
                <a:latin typeface="+mj-ea"/>
                <a:ea typeface="+mj-ea"/>
              </a:rPr>
              <a:t>{</a:t>
            </a:r>
            <a:r>
              <a:rPr lang="zh-CN" altLang="en-US" sz="2400" b="1" dirty="0">
                <a:latin typeface="+mj-ea"/>
                <a:ea typeface="+mj-ea"/>
              </a:rPr>
              <a:t>学号</a:t>
            </a:r>
            <a:r>
              <a:rPr lang="en-US" altLang="zh-CN" sz="2400" b="1" dirty="0">
                <a:latin typeface="+mj-ea"/>
                <a:ea typeface="+mj-ea"/>
              </a:rPr>
              <a:t>}_{</a:t>
            </a:r>
            <a:r>
              <a:rPr lang="zh-CN" altLang="en-US" sz="2400" b="1" dirty="0">
                <a:latin typeface="+mj-ea"/>
                <a:ea typeface="+mj-ea"/>
              </a:rPr>
              <a:t>姓名</a:t>
            </a:r>
            <a:r>
              <a:rPr lang="en-US" altLang="zh-CN" sz="2400" b="1" dirty="0">
                <a:latin typeface="+mj-ea"/>
                <a:ea typeface="+mj-ea"/>
              </a:rPr>
              <a:t>}_lab1-4.zip</a:t>
            </a:r>
            <a:r>
              <a:rPr lang="zh-CN" altLang="en-US" sz="2400" dirty="0">
                <a:latin typeface="+mn-ea"/>
              </a:rPr>
              <a:t>，比如</a:t>
            </a:r>
            <a:r>
              <a:rPr lang="en-US" altLang="zh-CN" sz="2400" b="1" dirty="0">
                <a:latin typeface="+mj-ea"/>
                <a:ea typeface="+mj-ea"/>
              </a:rPr>
              <a:t>12345678910_</a:t>
            </a:r>
            <a:r>
              <a:rPr lang="zh-CN" altLang="en-US" sz="2400" b="1" dirty="0">
                <a:latin typeface="+mj-ea"/>
                <a:ea typeface="+mj-ea"/>
              </a:rPr>
              <a:t>张三</a:t>
            </a:r>
            <a:r>
              <a:rPr lang="en-US" altLang="zh-CN" sz="2400" b="1" dirty="0">
                <a:latin typeface="+mj-ea"/>
                <a:ea typeface="+mj-ea"/>
              </a:rPr>
              <a:t>_lab1-4.zip</a:t>
            </a:r>
            <a:endParaRPr lang="zh-CN" altLang="en-US" b="1" i="0" dirty="0">
              <a:effectLst/>
              <a:latin typeface="+mj-ea"/>
              <a:ea typeface="+mj-ea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46*380"/>
  <p:tag name="TABLE_ENDDRAG_RECT" val="76*124*846*38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方正小标宋简体"/>
        <a:cs typeface=""/>
      </a:majorFont>
      <a:minorFont>
        <a:latin typeface="Times New Roman"/>
        <a:ea typeface="仿宋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1364</Words>
  <Application>WPS 演示</Application>
  <PresentationFormat>宽屏</PresentationFormat>
  <Paragraphs>135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3" baseType="lpstr">
      <vt:lpstr>Arial</vt:lpstr>
      <vt:lpstr>宋体</vt:lpstr>
      <vt:lpstr>Wingdings</vt:lpstr>
      <vt:lpstr>幼圆</vt:lpstr>
      <vt:lpstr>仿宋</vt:lpstr>
      <vt:lpstr>D-DINExp</vt:lpstr>
      <vt:lpstr>Segoe Print</vt:lpstr>
      <vt:lpstr>-apple-system</vt:lpstr>
      <vt:lpstr>Times New Roman</vt:lpstr>
      <vt:lpstr>Arial</vt:lpstr>
      <vt:lpstr>方正小标宋简体</vt:lpstr>
      <vt:lpstr>微软雅黑</vt:lpstr>
      <vt:lpstr>仿宋_GB2312</vt:lpstr>
      <vt:lpstr>Arial Unicode MS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DeLi Huang</dc:creator>
  <cp:lastModifiedBy>清平乐</cp:lastModifiedBy>
  <cp:revision>23</cp:revision>
  <dcterms:created xsi:type="dcterms:W3CDTF">2025-02-16T07:59:00Z</dcterms:created>
  <dcterms:modified xsi:type="dcterms:W3CDTF">2026-03-05T08:14:24Z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DE90202A14BD4049AC97D03940077D02_13</vt:lpwstr>
  </property>
  <property fmtid="{D5CDD505-2E9C-101B-9397-08002B2CF9AE}" pid="3" name="KSOProductBuildVer">
    <vt:lpwstr>2052-12.1.0.25225</vt:lpwstr>
  </property>
</Properties>
</file>
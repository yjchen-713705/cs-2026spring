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4" r:id="rId5"/>
    <p:sldId id="275" r:id="rId6"/>
    <p:sldId id="294" r:id="rId7"/>
    <p:sldId id="287" r:id="rId8"/>
    <p:sldId id="295" r:id="rId9"/>
    <p:sldId id="296" r:id="rId10"/>
    <p:sldId id="297" r:id="rId11"/>
    <p:sldId id="299" r:id="rId12"/>
    <p:sldId id="30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76240" autoAdjust="0"/>
  </p:normalViewPr>
  <p:slideViewPr>
    <p:cSldViewPr snapToGrid="0">
      <p:cViewPr varScale="1">
        <p:scale>
          <a:sx n="94" d="100"/>
          <a:sy n="94" d="100"/>
        </p:scale>
        <p:origin x="151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D7CBA-DD40-481C-A623-88CBC0C60D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365235" y="286297"/>
            <a:ext cx="10515600" cy="1325563"/>
          </a:xfrm>
        </p:spPr>
        <p:txBody>
          <a:bodyPr>
            <a:normAutofit/>
          </a:bodyPr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E5A2F-EE94-4CF7-BAB2-2CE1B7FC136A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379590" y="1235029"/>
            <a:ext cx="743281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spc="300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计算机体系结构实验</a:t>
            </a:r>
            <a:endParaRPr lang="en-US" altLang="zh-CN" sz="3600" b="1" spc="300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en-US" altLang="zh-CN" sz="2800" b="1" spc="300" dirty="0">
                <a:solidFill>
                  <a:prstClr val="black"/>
                </a:solidFill>
                <a:latin typeface="+mj-ea"/>
                <a:ea typeface="+mj-ea"/>
              </a:rPr>
              <a:t>Lab3-1-2: Register and Controller</a:t>
            </a:r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1163918" cy="365125"/>
          </a:xfrm>
        </p:spPr>
        <p:txBody>
          <a:bodyPr/>
          <a:lstStyle/>
          <a:p>
            <a:fld id="{E59E6666-3A90-4579-AD2E-17AEF910645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253994" y="3587900"/>
            <a:ext cx="404396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主讲老师：刘森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algn="ctr"/>
            <a:r>
              <a:rPr lang="zh-CN" altLang="en-US" sz="2400" dirty="0"/>
              <a:t>助教：薛敏坤 赵珂玉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8BE4EA5-F87A-4479-BEDA-A43057A0127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1. </a:t>
            </a:r>
            <a:r>
              <a:rPr lang="zh-CN" altLang="en-US" sz="3200" dirty="0">
                <a:latin typeface="+mj-ea"/>
                <a:ea typeface="+mj-ea"/>
              </a:rPr>
              <a:t>实验目标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407956" y="2301933"/>
            <a:ext cx="9621994" cy="327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dirty="0"/>
              <a:t>了解随机存取存储器</a:t>
            </a:r>
            <a:r>
              <a:rPr lang="en-US" altLang="zh-CN" sz="2400" dirty="0"/>
              <a:t>RAM</a:t>
            </a:r>
            <a:r>
              <a:rPr lang="zh-CN" altLang="en-US" sz="2400" dirty="0"/>
              <a:t>的原理。 </a:t>
            </a:r>
            <a:endParaRPr lang="en-US" altLang="zh-CN" sz="2400" dirty="0"/>
          </a:p>
          <a:p>
            <a:pPr indent="-457200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dirty="0"/>
              <a:t>掌握调用</a:t>
            </a:r>
            <a:r>
              <a:rPr lang="en-US" altLang="zh-CN" sz="2400" dirty="0"/>
              <a:t>Xilinx</a:t>
            </a:r>
            <a:r>
              <a:rPr lang="zh-CN" altLang="en-US" sz="2400" dirty="0"/>
              <a:t>库</a:t>
            </a:r>
            <a:r>
              <a:rPr lang="en-US" altLang="zh-CN" sz="2400" dirty="0"/>
              <a:t>IP(Block Memory Generator)</a:t>
            </a:r>
            <a:r>
              <a:rPr lang="zh-CN" altLang="en-US" sz="2400" dirty="0"/>
              <a:t>实例化 </a:t>
            </a:r>
            <a:r>
              <a:rPr lang="en-US" altLang="zh-CN" sz="2400" dirty="0"/>
              <a:t>RAM </a:t>
            </a:r>
            <a:r>
              <a:rPr lang="zh-CN" altLang="en-US" sz="2400" dirty="0"/>
              <a:t>的方法。</a:t>
            </a:r>
            <a:endParaRPr lang="en-US" altLang="zh-CN" sz="2400" dirty="0"/>
          </a:p>
          <a:p>
            <a:pPr indent="-457200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dirty="0"/>
              <a:t>掌握单周期</a:t>
            </a:r>
            <a:r>
              <a:rPr lang="en-US" altLang="zh-CN" sz="2400" dirty="0"/>
              <a:t>CPU</a:t>
            </a:r>
            <a:r>
              <a:rPr lang="zh-CN" altLang="en-US" sz="2400" dirty="0"/>
              <a:t>各个控制信号的作用和生成过程。</a:t>
            </a:r>
            <a:endParaRPr lang="en-US" altLang="zh-CN" sz="2400" dirty="0"/>
          </a:p>
          <a:p>
            <a:pPr indent="-457200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dirty="0"/>
              <a:t>掌握单周期</a:t>
            </a:r>
            <a:r>
              <a:rPr lang="en-US" altLang="zh-CN" sz="2400" dirty="0"/>
              <a:t>CPU</a:t>
            </a:r>
            <a:r>
              <a:rPr lang="zh-CN" altLang="en-US" sz="2400" dirty="0"/>
              <a:t>控制器的工作原理及其设计方法。</a:t>
            </a:r>
            <a:endParaRPr lang="en-US" altLang="zh-CN" sz="2400" dirty="0"/>
          </a:p>
          <a:p>
            <a:pPr indent="-457200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dirty="0"/>
              <a:t>理解单周期</a:t>
            </a:r>
            <a:r>
              <a:rPr lang="en-US" altLang="zh-CN" sz="2400" dirty="0"/>
              <a:t>CPU</a:t>
            </a:r>
            <a:r>
              <a:rPr lang="zh-CN" altLang="en-US" sz="2400" dirty="0"/>
              <a:t>执行指令的过程。</a:t>
            </a:r>
            <a:endParaRPr lang="en-US" altLang="zh-CN" sz="2400" dirty="0"/>
          </a:p>
          <a:p>
            <a:pPr indent="-457200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dirty="0"/>
              <a:t>掌握取指、译码阶段数据通路、控制器的执行过程。</a:t>
            </a:r>
            <a:endParaRPr lang="zh-CN" altLang="en-US" sz="24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519844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在提供的实验板下，完成以下目标：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9D015CB-A90F-405F-8CF0-FA0CB2A368D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2. </a:t>
            </a:r>
            <a:r>
              <a:rPr lang="zh-CN" altLang="en-US" sz="3200" dirty="0">
                <a:latin typeface="+mj-ea"/>
                <a:ea typeface="+mj-ea"/>
              </a:rPr>
              <a:t>实验任务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871" y="1233159"/>
            <a:ext cx="9617529" cy="53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9D015CB-A90F-405F-8CF0-FA0CB2A368D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2. </a:t>
            </a:r>
            <a:r>
              <a:rPr lang="zh-CN" altLang="en-US" sz="3200" dirty="0">
                <a:latin typeface="+mj-ea"/>
                <a:ea typeface="+mj-ea"/>
              </a:rPr>
              <a:t>实验任务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418428" y="1387375"/>
            <a:ext cx="954405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b="1" dirty="0"/>
              <a:t>PC</a:t>
            </a:r>
            <a:r>
              <a:rPr lang="zh-CN" altLang="en-US" dirty="0"/>
              <a:t>。 </a:t>
            </a:r>
            <a:r>
              <a:rPr lang="en-US" altLang="zh-CN" dirty="0"/>
              <a:t>D </a:t>
            </a:r>
            <a:r>
              <a:rPr lang="zh-CN" altLang="en-US" dirty="0"/>
              <a:t>触发器结构，用于储存 </a:t>
            </a:r>
            <a:r>
              <a:rPr lang="en-US" altLang="zh-CN" dirty="0"/>
              <a:t>PC(</a:t>
            </a:r>
            <a:r>
              <a:rPr lang="zh-CN" altLang="en-US" dirty="0"/>
              <a:t>一个周期</a:t>
            </a:r>
            <a:r>
              <a:rPr lang="en-US" altLang="zh-CN" dirty="0"/>
              <a:t>)</a:t>
            </a:r>
            <a:r>
              <a:rPr lang="zh-CN" altLang="en-US" dirty="0"/>
              <a:t>。需实现 </a:t>
            </a:r>
            <a:r>
              <a:rPr lang="en-US" altLang="zh-CN" dirty="0"/>
              <a:t>2 </a:t>
            </a:r>
            <a:r>
              <a:rPr lang="zh-CN" altLang="en-US" dirty="0"/>
              <a:t>个输入，分别为 </a:t>
            </a:r>
            <a:r>
              <a:rPr lang="en-US" altLang="zh-CN" dirty="0" err="1"/>
              <a:t>clk</a:t>
            </a:r>
            <a:r>
              <a:rPr lang="en-US" altLang="zh-CN" dirty="0"/>
              <a:t>, </a:t>
            </a:r>
            <a:r>
              <a:rPr lang="en-US" altLang="zh-CN" dirty="0" err="1"/>
              <a:t>rst</a:t>
            </a:r>
            <a:r>
              <a:rPr lang="en-US" altLang="zh-CN" dirty="0"/>
              <a:t>, </a:t>
            </a:r>
            <a:r>
              <a:rPr lang="zh-CN" altLang="en-US" dirty="0"/>
              <a:t>分别 连接时钟和复位信号；需实现 </a:t>
            </a:r>
            <a:r>
              <a:rPr lang="en-US" altLang="zh-CN" dirty="0"/>
              <a:t>2 </a:t>
            </a:r>
            <a:r>
              <a:rPr lang="zh-CN" altLang="en-US" dirty="0"/>
              <a:t>个输出，分别为 </a:t>
            </a:r>
            <a:r>
              <a:rPr lang="en-US" altLang="zh-CN" dirty="0"/>
              <a:t>pc, </a:t>
            </a:r>
            <a:r>
              <a:rPr lang="en-US" altLang="zh-CN" dirty="0" err="1"/>
              <a:t>inst_ce</a:t>
            </a:r>
            <a:r>
              <a:rPr lang="en-US" altLang="zh-CN" dirty="0"/>
              <a:t>, </a:t>
            </a:r>
            <a:r>
              <a:rPr lang="zh-CN" altLang="en-US" dirty="0"/>
              <a:t>分别连接指令存储器的 </a:t>
            </a:r>
            <a:r>
              <a:rPr lang="en-US" altLang="zh-CN" dirty="0"/>
              <a:t>addra, </a:t>
            </a:r>
            <a:r>
              <a:rPr lang="en-US" altLang="zh-CN" dirty="0" err="1"/>
              <a:t>ena</a:t>
            </a:r>
            <a:r>
              <a:rPr lang="en-US" altLang="zh-CN" dirty="0"/>
              <a:t> </a:t>
            </a:r>
            <a:r>
              <a:rPr lang="zh-CN" altLang="en-US" dirty="0"/>
              <a:t>端口。其中 </a:t>
            </a:r>
            <a:r>
              <a:rPr lang="en-US" altLang="zh-CN" dirty="0"/>
              <a:t>addra </a:t>
            </a:r>
            <a:r>
              <a:rPr lang="zh-CN" altLang="en-US" dirty="0"/>
              <a:t>位数依据 </a:t>
            </a:r>
            <a:r>
              <a:rPr lang="en-US" altLang="zh-CN" dirty="0" err="1"/>
              <a:t>coe</a:t>
            </a:r>
            <a:r>
              <a:rPr lang="en-US" altLang="zh-CN" dirty="0"/>
              <a:t> </a:t>
            </a:r>
            <a:r>
              <a:rPr lang="zh-CN" altLang="en-US" dirty="0"/>
              <a:t>文件中指令数定义； 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>
                <a:latin typeface="+mj-ea"/>
                <a:ea typeface="+mj-ea"/>
              </a:rPr>
              <a:t>加法器</a:t>
            </a:r>
            <a:r>
              <a:rPr lang="zh-CN" altLang="en-US" dirty="0"/>
              <a:t>。用于计算下一条指令地址，需实现 </a:t>
            </a:r>
            <a:r>
              <a:rPr lang="en-US" altLang="zh-CN" dirty="0"/>
              <a:t>2 </a:t>
            </a:r>
            <a:r>
              <a:rPr lang="zh-CN" altLang="en-US" dirty="0"/>
              <a:t>个输入，</a:t>
            </a:r>
            <a:r>
              <a:rPr lang="en-US" altLang="zh-CN" dirty="0"/>
              <a:t>1 </a:t>
            </a:r>
            <a:r>
              <a:rPr lang="zh-CN" altLang="en-US" dirty="0"/>
              <a:t>个输出，输入值分别为当前指令地址 </a:t>
            </a:r>
            <a:r>
              <a:rPr lang="en-US" altLang="zh-CN" dirty="0"/>
              <a:t>PC</a:t>
            </a:r>
            <a:r>
              <a:rPr lang="zh-CN" altLang="en-US" dirty="0"/>
              <a:t>、</a:t>
            </a:r>
            <a:r>
              <a:rPr lang="en-US" altLang="zh-CN" dirty="0"/>
              <a:t>32’h4</a:t>
            </a:r>
            <a:r>
              <a:rPr lang="zh-CN" altLang="en-US" dirty="0"/>
              <a:t>； 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/>
              <a:t>Controller</a:t>
            </a:r>
            <a:r>
              <a:rPr lang="zh-CN" altLang="en-US" dirty="0"/>
              <a:t>。其中包含两部分： </a:t>
            </a:r>
            <a:r>
              <a:rPr lang="en-US" altLang="zh-CN" dirty="0"/>
              <a:t>(a). </a:t>
            </a:r>
            <a:r>
              <a:rPr lang="en-US" altLang="zh-CN" b="1" dirty="0" err="1"/>
              <a:t>main_decoder</a:t>
            </a:r>
            <a:r>
              <a:rPr lang="zh-CN" altLang="en-US" dirty="0"/>
              <a:t>。负责判断指令类型，并生成相应的控制信号。需实现 </a:t>
            </a:r>
            <a:r>
              <a:rPr lang="en-US" altLang="zh-CN" dirty="0"/>
              <a:t>1 </a:t>
            </a:r>
            <a:r>
              <a:rPr lang="zh-CN" altLang="en-US" dirty="0"/>
              <a:t>个输入，为指令 </a:t>
            </a:r>
            <a:r>
              <a:rPr lang="en-US" altLang="zh-CN" dirty="0" err="1"/>
              <a:t>inst</a:t>
            </a:r>
            <a:r>
              <a:rPr lang="en-US" altLang="zh-CN" dirty="0"/>
              <a:t> </a:t>
            </a:r>
            <a:r>
              <a:rPr lang="zh-CN" altLang="en-US" dirty="0"/>
              <a:t>的高 </a:t>
            </a:r>
            <a:r>
              <a:rPr lang="en-US" altLang="zh-CN" dirty="0"/>
              <a:t>6 </a:t>
            </a:r>
            <a:r>
              <a:rPr lang="zh-CN" altLang="en-US" dirty="0"/>
              <a:t>位 </a:t>
            </a:r>
            <a:r>
              <a:rPr lang="en-US" altLang="zh-CN" dirty="0"/>
              <a:t>op</a:t>
            </a:r>
            <a:r>
              <a:rPr lang="zh-CN" altLang="en-US" dirty="0"/>
              <a:t>，输出分为</a:t>
            </a:r>
            <a:r>
              <a:rPr lang="en-US" altLang="zh-CN" dirty="0"/>
              <a:t>2</a:t>
            </a:r>
            <a:r>
              <a:rPr lang="zh-CN" altLang="en-US" dirty="0"/>
              <a:t>部分，控制信号有多个，可作为多个输出，也作为一个多位 输出；</a:t>
            </a:r>
            <a:r>
              <a:rPr lang="en-US" altLang="zh-CN" dirty="0" err="1"/>
              <a:t>aluop</a:t>
            </a:r>
            <a:r>
              <a:rPr lang="zh-CN" altLang="en-US" dirty="0"/>
              <a:t>传输至</a:t>
            </a:r>
            <a:r>
              <a:rPr lang="en-US" altLang="zh-CN" dirty="0" err="1"/>
              <a:t>alu_decoder</a:t>
            </a:r>
            <a:r>
              <a:rPr lang="zh-CN" altLang="en-US" dirty="0"/>
              <a:t>，使 </a:t>
            </a:r>
            <a:r>
              <a:rPr lang="en-US" altLang="zh-CN" dirty="0" err="1"/>
              <a:t>alu_decoder</a:t>
            </a:r>
            <a:r>
              <a:rPr lang="zh-CN" altLang="en-US" dirty="0"/>
              <a:t>配合</a:t>
            </a:r>
            <a:r>
              <a:rPr lang="en-US" altLang="zh-CN" dirty="0" err="1"/>
              <a:t>inst</a:t>
            </a:r>
            <a:r>
              <a:rPr lang="en-US" altLang="zh-CN" dirty="0"/>
              <a:t> </a:t>
            </a:r>
            <a:r>
              <a:rPr lang="zh-CN" altLang="en-US" dirty="0"/>
              <a:t>低 </a:t>
            </a:r>
            <a:r>
              <a:rPr lang="en-US" altLang="zh-CN" dirty="0"/>
              <a:t>6</a:t>
            </a:r>
            <a:r>
              <a:rPr lang="zh-CN" altLang="en-US" dirty="0"/>
              <a:t>位 </a:t>
            </a:r>
            <a:r>
              <a:rPr lang="en-US" altLang="zh-CN" dirty="0" err="1"/>
              <a:t>funct</a:t>
            </a:r>
            <a:r>
              <a:rPr lang="zh-CN" altLang="en-US" dirty="0"/>
              <a:t>，进行</a:t>
            </a:r>
            <a:r>
              <a:rPr lang="en-US" altLang="zh-CN" dirty="0"/>
              <a:t>ALU</a:t>
            </a:r>
            <a:r>
              <a:rPr lang="zh-CN" altLang="en-US" dirty="0"/>
              <a:t>模块控制信号的译码。 </a:t>
            </a:r>
            <a:r>
              <a:rPr lang="en-US" altLang="zh-CN" dirty="0"/>
              <a:t>(b). </a:t>
            </a:r>
            <a:r>
              <a:rPr lang="en-US" altLang="zh-CN" b="1" dirty="0" err="1"/>
              <a:t>alu_decoder</a:t>
            </a:r>
            <a:r>
              <a:rPr lang="zh-CN" altLang="en-US" dirty="0"/>
              <a:t>。负责 </a:t>
            </a:r>
            <a:r>
              <a:rPr lang="en-US" altLang="zh-CN" dirty="0"/>
              <a:t>ALU </a:t>
            </a:r>
            <a:r>
              <a:rPr lang="zh-CN" altLang="en-US" dirty="0"/>
              <a:t>模块控制信号的译码。需实现</a:t>
            </a:r>
            <a:r>
              <a:rPr lang="en-US" altLang="zh-CN" dirty="0"/>
              <a:t>2</a:t>
            </a:r>
            <a:r>
              <a:rPr lang="zh-CN" altLang="en-US" dirty="0"/>
              <a:t>个输入，</a:t>
            </a:r>
            <a:r>
              <a:rPr lang="en-US" altLang="zh-CN" dirty="0"/>
              <a:t>1</a:t>
            </a:r>
            <a:r>
              <a:rPr lang="zh-CN" altLang="en-US" dirty="0"/>
              <a:t>个输出，输入分别为 </a:t>
            </a:r>
            <a:r>
              <a:rPr lang="en-US" altLang="zh-CN" dirty="0" err="1"/>
              <a:t>funct</a:t>
            </a:r>
            <a:r>
              <a:rPr lang="en-US" altLang="zh-CN" dirty="0"/>
              <a:t>, </a:t>
            </a:r>
            <a:r>
              <a:rPr lang="en-US" altLang="zh-CN" dirty="0" err="1"/>
              <a:t>aluop</a:t>
            </a:r>
            <a:r>
              <a:rPr lang="zh-CN" altLang="en-US" dirty="0"/>
              <a:t>；输出位 </a:t>
            </a:r>
            <a:r>
              <a:rPr lang="en-US" altLang="zh-CN" dirty="0" err="1"/>
              <a:t>alucontrol</a:t>
            </a:r>
            <a:r>
              <a:rPr lang="en-US" altLang="zh-CN" dirty="0"/>
              <a:t> </a:t>
            </a:r>
            <a:r>
              <a:rPr lang="zh-CN" altLang="en-US" dirty="0"/>
              <a:t>信号。 </a:t>
            </a:r>
            <a:r>
              <a:rPr lang="en-US" altLang="zh-CN" dirty="0"/>
              <a:t>(c). </a:t>
            </a:r>
            <a:r>
              <a:rPr lang="zh-CN" altLang="en-US" dirty="0"/>
              <a:t>除上述两个组件，需设计</a:t>
            </a:r>
            <a:r>
              <a:rPr lang="en-US" altLang="zh-CN" dirty="0"/>
              <a:t>controller</a:t>
            </a:r>
            <a:r>
              <a:rPr lang="zh-CN" altLang="en-US" dirty="0"/>
              <a:t>模块顶层文件调用两个</a:t>
            </a:r>
            <a:r>
              <a:rPr lang="en-US" altLang="zh-CN" dirty="0"/>
              <a:t>decoder</a:t>
            </a:r>
            <a:r>
              <a:rPr lang="zh-CN" altLang="en-US" dirty="0"/>
              <a:t>，对应实现</a:t>
            </a:r>
            <a:r>
              <a:rPr lang="en-US" altLang="zh-CN" dirty="0" err="1"/>
              <a:t>op,funct</a:t>
            </a:r>
            <a:r>
              <a:rPr lang="en-US" altLang="zh-CN" dirty="0"/>
              <a:t> </a:t>
            </a:r>
            <a:r>
              <a:rPr lang="zh-CN" altLang="en-US" dirty="0"/>
              <a:t>输入信号，并传入调用模块；对应实现控制信号及 </a:t>
            </a:r>
            <a:r>
              <a:rPr lang="en-US" altLang="zh-CN" dirty="0" err="1"/>
              <a:t>alucontrol</a:t>
            </a:r>
            <a:r>
              <a:rPr lang="zh-CN" altLang="en-US" dirty="0"/>
              <a:t>，并连接至调用模块相应端口。 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>
                <a:latin typeface="+mj-ea"/>
                <a:ea typeface="+mj-ea"/>
              </a:rPr>
              <a:t>指令存储器</a:t>
            </a:r>
            <a:r>
              <a:rPr lang="zh-CN" altLang="en-US" dirty="0"/>
              <a:t>。使用</a:t>
            </a:r>
            <a:r>
              <a:rPr lang="en-US" altLang="zh-CN" dirty="0"/>
              <a:t>Block Memory Generator IP </a:t>
            </a:r>
            <a:r>
              <a:rPr lang="zh-CN" altLang="en-US" dirty="0"/>
              <a:t>构造。 </a:t>
            </a:r>
            <a:r>
              <a:rPr lang="en-US" altLang="zh-CN" dirty="0"/>
              <a:t>(</a:t>
            </a:r>
            <a:r>
              <a:rPr lang="zh-CN" altLang="en-US" dirty="0"/>
              <a:t>参考实验</a:t>
            </a:r>
            <a:r>
              <a:rPr lang="en-US" altLang="zh-CN" dirty="0"/>
              <a:t>Lab3-1-1) 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>
                <a:latin typeface="+mj-ea"/>
                <a:ea typeface="+mj-ea"/>
              </a:rPr>
              <a:t>时钟分频器</a:t>
            </a:r>
            <a:r>
              <a:rPr lang="zh-CN" altLang="en-US" dirty="0"/>
              <a:t>。将板载</a:t>
            </a:r>
            <a:r>
              <a:rPr lang="en-US" altLang="zh-CN" dirty="0"/>
              <a:t>100Mhz</a:t>
            </a:r>
            <a:r>
              <a:rPr lang="zh-CN" altLang="en-US" dirty="0"/>
              <a:t>频率降低为</a:t>
            </a:r>
            <a:r>
              <a:rPr lang="en-US" altLang="zh-CN" dirty="0"/>
              <a:t>1hz</a:t>
            </a:r>
            <a:r>
              <a:rPr lang="zh-CN" altLang="en-US" dirty="0"/>
              <a:t>，连接</a:t>
            </a:r>
            <a:r>
              <a:rPr lang="en-US" altLang="zh-CN" dirty="0"/>
              <a:t>PC</a:t>
            </a:r>
            <a:r>
              <a:rPr lang="zh-CN" altLang="en-US" dirty="0"/>
              <a:t>、指令存储器时钟信号</a:t>
            </a:r>
            <a:r>
              <a:rPr lang="en-US" altLang="zh-CN" dirty="0" err="1"/>
              <a:t>clk</a:t>
            </a:r>
            <a:r>
              <a:rPr lang="zh-CN" altLang="en-US" dirty="0"/>
              <a:t>。 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E472A9C-19F4-4670-90CF-5C282755E36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3. </a:t>
            </a:r>
            <a:r>
              <a:rPr lang="zh-CN" altLang="en-US" sz="3200" dirty="0">
                <a:latin typeface="+mj-ea"/>
                <a:ea typeface="+mj-ea"/>
              </a:rPr>
              <a:t>实验步骤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837" y="2222738"/>
            <a:ext cx="10197193" cy="241252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652863" y="5034140"/>
            <a:ext cx="4886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+mj-ea"/>
                <a:ea typeface="+mj-ea"/>
              </a:rPr>
              <a:t>将这些信号展示在实验板的</a:t>
            </a:r>
            <a:r>
              <a:rPr lang="en-US" altLang="zh-CN" sz="2400" dirty="0">
                <a:latin typeface="+mj-ea"/>
                <a:ea typeface="+mj-ea"/>
              </a:rPr>
              <a:t>led</a:t>
            </a:r>
            <a:r>
              <a:rPr lang="zh-CN" altLang="en-US" sz="2400" dirty="0">
                <a:latin typeface="+mj-ea"/>
                <a:ea typeface="+mj-ea"/>
              </a:rPr>
              <a:t>灯上</a:t>
            </a:r>
            <a:endParaRPr lang="zh-CN" altLang="en-US" sz="2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E472A9C-19F4-4670-90CF-5C282755E36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4. </a:t>
            </a:r>
            <a:r>
              <a:rPr lang="zh-CN" altLang="en-US" sz="3200" dirty="0">
                <a:latin typeface="+mj-ea"/>
                <a:ea typeface="+mj-ea"/>
              </a:rPr>
              <a:t>实验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3877" y="1016603"/>
            <a:ext cx="5738123" cy="35568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4969" y="1381027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取值阶段原理：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1147638" y="1954878"/>
            <a:ext cx="4590486" cy="3727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如图 </a:t>
            </a:r>
            <a:r>
              <a:rPr lang="en-US" altLang="zh-CN" sz="2000" dirty="0"/>
              <a:t>2</a:t>
            </a:r>
            <a:r>
              <a:rPr lang="zh-CN" altLang="en-US" sz="2000" dirty="0"/>
              <a:t>所示，</a:t>
            </a:r>
            <a:r>
              <a:rPr lang="en-US" altLang="zh-CN" sz="2000" dirty="0"/>
              <a:t>PC</a:t>
            </a:r>
            <a:r>
              <a:rPr lang="zh-CN" altLang="en-US" sz="2000" dirty="0"/>
              <a:t>为</a:t>
            </a:r>
            <a:r>
              <a:rPr lang="en-US" altLang="zh-CN" sz="2000" dirty="0"/>
              <a:t>32bit(1 word)</a:t>
            </a:r>
            <a:r>
              <a:rPr lang="zh-CN" altLang="en-US" sz="2000" dirty="0"/>
              <a:t>的寄存器，其存放指令地址，每条指令执行完毕后增加</a:t>
            </a:r>
            <a:r>
              <a:rPr lang="en-US" altLang="zh-CN" sz="2000" dirty="0"/>
              <a:t>4</a:t>
            </a:r>
            <a:r>
              <a:rPr lang="zh-CN" altLang="en-US" sz="2000" dirty="0"/>
              <a:t>， 即为下一条指令存放地址。指令地址传入指令存储器，即可取出相应地址存放的指令。需要注意的是，</a:t>
            </a:r>
            <a:r>
              <a:rPr lang="en-US" altLang="zh-CN" sz="2000" dirty="0"/>
              <a:t>MIPS</a:t>
            </a:r>
            <a:r>
              <a:rPr lang="zh-CN" altLang="en-US" sz="2000" dirty="0"/>
              <a:t>架构中，采用字节读写，</a:t>
            </a:r>
            <a:r>
              <a:rPr lang="en-US" altLang="zh-CN" sz="2000" dirty="0"/>
              <a:t>32bit word = 4 byte</a:t>
            </a:r>
            <a:r>
              <a:rPr lang="zh-CN" altLang="en-US" sz="2000" dirty="0"/>
              <a:t>，故需要地址 </a:t>
            </a:r>
            <a:r>
              <a:rPr lang="en-US" altLang="zh-CN" sz="2000" dirty="0"/>
              <a:t>+4 </a:t>
            </a:r>
            <a:r>
              <a:rPr lang="zh-CN" altLang="en-US" sz="2000" dirty="0"/>
              <a:t>来获取下一 条指令。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E472A9C-19F4-4670-90CF-5C282755E36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4. </a:t>
            </a:r>
            <a:r>
              <a:rPr lang="zh-CN" altLang="en-US" sz="3200" dirty="0">
                <a:latin typeface="+mj-ea"/>
                <a:ea typeface="+mj-ea"/>
              </a:rPr>
              <a:t>实验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44969" y="1381027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指令译码原理：</a:t>
            </a:r>
            <a:endParaRPr lang="zh-CN" alt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1224053" y="1954684"/>
            <a:ext cx="4029040" cy="2342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如图</a:t>
            </a:r>
            <a:r>
              <a:rPr lang="en-US" altLang="zh-CN" sz="2000" dirty="0"/>
              <a:t>3</a:t>
            </a:r>
            <a:r>
              <a:rPr lang="zh-CN" altLang="en-US" sz="2000" dirty="0"/>
              <a:t>所</a:t>
            </a:r>
            <a:r>
              <a:rPr lang="en-US" altLang="zh-CN" sz="2000" dirty="0"/>
              <a:t>32</a:t>
            </a:r>
            <a:r>
              <a:rPr lang="zh-CN" altLang="en-US" sz="2000" dirty="0"/>
              <a:t>位</a:t>
            </a:r>
            <a:r>
              <a:rPr lang="en-US" altLang="zh-CN" sz="2000" dirty="0"/>
              <a:t>MIPS</a:t>
            </a:r>
            <a:r>
              <a:rPr lang="zh-CN" altLang="en-US" sz="2000" dirty="0"/>
              <a:t>指令在不同类型指令中分别有不同结构。但</a:t>
            </a:r>
            <a:r>
              <a:rPr lang="en-US" altLang="zh-CN" sz="2000" dirty="0"/>
              <a:t>[31:16]</a:t>
            </a:r>
            <a:r>
              <a:rPr lang="zh-CN" altLang="en-US" sz="2000" dirty="0"/>
              <a:t>表示的</a:t>
            </a:r>
            <a:r>
              <a:rPr lang="en-US" altLang="zh-CN" sz="2000" dirty="0"/>
              <a:t>opcode</a:t>
            </a:r>
            <a:r>
              <a:rPr lang="zh-CN" altLang="en-US" sz="2000" dirty="0"/>
              <a:t>，以 及 </a:t>
            </a:r>
            <a:r>
              <a:rPr lang="en-US" altLang="zh-CN" sz="2000" dirty="0"/>
              <a:t>[5:0] </a:t>
            </a:r>
            <a:r>
              <a:rPr lang="zh-CN" altLang="en-US" sz="2000" dirty="0"/>
              <a:t>表示的 </a:t>
            </a:r>
            <a:r>
              <a:rPr lang="en-US" altLang="zh-CN" sz="2000" dirty="0" err="1"/>
              <a:t>funct</a:t>
            </a:r>
            <a:r>
              <a:rPr lang="zh-CN" altLang="en-US" sz="2000" dirty="0"/>
              <a:t>，为译码阶段明确指令控制信号的主要字段。</a:t>
            </a:r>
            <a:endParaRPr lang="zh-CN" altLang="en-US" sz="20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0408" y="153446"/>
            <a:ext cx="5904222" cy="36024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408" y="3866211"/>
            <a:ext cx="5958809" cy="28552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E472A9C-19F4-4670-90CF-5C282755E36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4. </a:t>
            </a:r>
            <a:r>
              <a:rPr lang="zh-CN" altLang="en-US" sz="3200" dirty="0">
                <a:latin typeface="+mj-ea"/>
                <a:ea typeface="+mj-ea"/>
              </a:rPr>
              <a:t>实验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44969" y="1381027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控制器实现原理：</a:t>
            </a:r>
            <a:endParaRPr lang="zh-CN" alt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1224053" y="1954684"/>
            <a:ext cx="3952104" cy="3265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由图</a:t>
            </a:r>
            <a:r>
              <a:rPr lang="en-US" altLang="zh-CN" sz="2000" dirty="0"/>
              <a:t>4</a:t>
            </a:r>
            <a:r>
              <a:rPr lang="zh-CN" altLang="en-US" sz="2000" dirty="0"/>
              <a:t>可知，控制器输出的控制信号，用于控制器件的使能和多路选择器的选择，因此，根 据不同指令的功能分析其所需要的路径，即可得到信号所对应的值。在此之前，参照下对各个控制信号的含义进行理解。</a:t>
            </a:r>
            <a:endParaRPr lang="zh-CN" altLang="en-US" sz="20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035" y="56760"/>
            <a:ext cx="6363957" cy="3795847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62" y="3818352"/>
            <a:ext cx="5144679" cy="29511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E472A9C-19F4-4670-90CF-5C282755E36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4. </a:t>
            </a:r>
            <a:r>
              <a:rPr lang="zh-CN" altLang="en-US" sz="3200" dirty="0">
                <a:latin typeface="+mj-ea"/>
                <a:ea typeface="+mj-ea"/>
              </a:rPr>
              <a:t>实验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44969" y="1381027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控制器实现原理：</a:t>
            </a:r>
            <a:endParaRPr lang="zh-CN" alt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1224053" y="1954684"/>
            <a:ext cx="3809642" cy="3265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分析数据通路图，判断指令是否需要写寄存器、访存等等操作，以产生相应的控制信号。表</a:t>
            </a:r>
            <a:r>
              <a:rPr lang="en-US" altLang="zh-CN" sz="2000" dirty="0"/>
              <a:t>4</a:t>
            </a:r>
            <a:r>
              <a:rPr lang="zh-CN" altLang="en-US" sz="2000" dirty="0"/>
              <a:t>是参考信号表，表四里面没有定义</a:t>
            </a:r>
            <a:r>
              <a:rPr lang="en-US" altLang="zh-CN" sz="2000" dirty="0" err="1"/>
              <a:t>pcsrc</a:t>
            </a:r>
            <a:r>
              <a:rPr lang="en-US" altLang="zh-CN" sz="2000" dirty="0"/>
              <a:t>, </a:t>
            </a:r>
            <a:r>
              <a:rPr lang="zh-CN" altLang="en-US" sz="2000" dirty="0"/>
              <a:t>这里</a:t>
            </a:r>
            <a:r>
              <a:rPr lang="en-US" altLang="zh-CN" sz="2000" dirty="0" err="1"/>
              <a:t>pcsrc</a:t>
            </a:r>
            <a:r>
              <a:rPr lang="zh-CN" altLang="en-US" sz="2000" dirty="0"/>
              <a:t>只用于决定</a:t>
            </a:r>
            <a:r>
              <a:rPr lang="en-US" altLang="zh-CN" sz="2000" dirty="0" err="1"/>
              <a:t>beq</a:t>
            </a:r>
            <a:r>
              <a:rPr lang="zh-CN" altLang="en-US" sz="2000" dirty="0"/>
              <a:t>的</a:t>
            </a:r>
            <a:r>
              <a:rPr lang="en-US" altLang="zh-CN" sz="2000" dirty="0"/>
              <a:t>PC</a:t>
            </a:r>
            <a:r>
              <a:rPr lang="zh-CN" altLang="en-US" sz="2000" dirty="0"/>
              <a:t>选择，因此可以定义为：</a:t>
            </a:r>
            <a:r>
              <a:rPr lang="en-US" altLang="zh-CN" sz="2000" dirty="0" err="1"/>
              <a:t>pcsrc</a:t>
            </a:r>
            <a:r>
              <a:rPr lang="en-US" altLang="zh-CN" sz="2000" dirty="0"/>
              <a:t> = branch &amp; zero</a:t>
            </a:r>
            <a:r>
              <a:rPr lang="zh-CN" altLang="en-US" sz="2000" dirty="0"/>
              <a:t>。 </a:t>
            </a:r>
            <a:endParaRPr lang="zh-CN" altLang="en-US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3695" y="1389645"/>
            <a:ext cx="7158305" cy="24163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E472A9C-19F4-4670-90CF-5C282755E36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5. </a:t>
            </a:r>
            <a:r>
              <a:rPr lang="zh-CN" altLang="en-US" sz="3200" dirty="0">
                <a:latin typeface="+mj-ea"/>
                <a:ea typeface="+mj-ea"/>
              </a:rPr>
              <a:t>实验要求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44969" y="1381027"/>
            <a:ext cx="11347031" cy="5020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按照实验要求搭建如图</a:t>
            </a:r>
            <a:r>
              <a:rPr lang="en-US" altLang="zh-CN" sz="2400" dirty="0"/>
              <a:t>1</a:t>
            </a:r>
            <a:r>
              <a:rPr lang="zh-CN" altLang="en-US" sz="2400" dirty="0"/>
              <a:t>所示实验系统，需要自己实现实 现分频</a:t>
            </a:r>
            <a:r>
              <a:rPr lang="en-US" altLang="zh-CN" sz="2400" dirty="0" err="1"/>
              <a:t>clk_div.v</a:t>
            </a:r>
            <a:r>
              <a:rPr lang="zh-CN" altLang="en-US" sz="2400" dirty="0"/>
              <a:t>，</a:t>
            </a:r>
            <a:r>
              <a:rPr lang="en-US" altLang="zh-CN" sz="2400" dirty="0"/>
              <a:t>D </a:t>
            </a:r>
            <a:r>
              <a:rPr lang="zh-CN" altLang="en-US" sz="2400" dirty="0"/>
              <a:t>触发器结构</a:t>
            </a:r>
            <a:r>
              <a:rPr lang="en-US" altLang="zh-CN" sz="2400" dirty="0" err="1"/>
              <a:t>pc.v</a:t>
            </a:r>
            <a:r>
              <a:rPr lang="en-US" altLang="zh-CN" sz="2400" dirty="0"/>
              <a:t>, </a:t>
            </a:r>
            <a:r>
              <a:rPr lang="zh-CN" altLang="en-US" sz="2400" dirty="0"/>
              <a:t>控制器</a:t>
            </a:r>
            <a:r>
              <a:rPr lang="en-US" altLang="zh-CN" sz="2400" dirty="0" err="1"/>
              <a:t>controller.v</a:t>
            </a:r>
            <a:r>
              <a:rPr lang="en-US" altLang="zh-CN" sz="2400" dirty="0"/>
              <a:t> </a:t>
            </a:r>
            <a:r>
              <a:rPr lang="zh-CN" altLang="en-US" sz="2400" dirty="0"/>
              <a:t>模块，其中 </a:t>
            </a:r>
            <a:r>
              <a:rPr lang="en-US" altLang="zh-CN" sz="2400" dirty="0" err="1"/>
              <a:t>controller.v</a:t>
            </a:r>
            <a:r>
              <a:rPr lang="en-US" altLang="zh-CN" sz="2400" dirty="0"/>
              <a:t> </a:t>
            </a:r>
            <a:r>
              <a:rPr lang="zh-CN" altLang="en-US" sz="2400" dirty="0"/>
              <a:t>包含 </a:t>
            </a:r>
            <a:r>
              <a:rPr lang="en-US" altLang="zh-CN" sz="2400" dirty="0"/>
              <a:t>main controller </a:t>
            </a:r>
            <a:r>
              <a:rPr lang="zh-CN" altLang="en-US" sz="2400" dirty="0"/>
              <a:t>和 </a:t>
            </a:r>
            <a:r>
              <a:rPr lang="en-US" altLang="zh-CN" sz="2400" dirty="0"/>
              <a:t>ALU controller</a:t>
            </a:r>
            <a:r>
              <a:rPr lang="zh-CN" altLang="en-US" sz="2400" dirty="0"/>
              <a:t>。 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在指令存储器里面依次放入相关指令机器码（已经放在了参考资料中的</a:t>
            </a:r>
            <a:r>
              <a:rPr lang="en-US" altLang="zh-CN" sz="2400" dirty="0" err="1"/>
              <a:t>mipstest.coe</a:t>
            </a:r>
            <a:r>
              <a:rPr lang="zh-CN" altLang="en-US" sz="2400" dirty="0"/>
              <a:t>文件中）（表</a:t>
            </a:r>
            <a:r>
              <a:rPr lang="en-US" altLang="zh-CN" sz="2400" dirty="0"/>
              <a:t>4</a:t>
            </a:r>
            <a:r>
              <a:rPr lang="zh-CN" altLang="en-US" sz="2400" dirty="0"/>
              <a:t>）。根据读出的指令类型，根据</a:t>
            </a:r>
            <a:r>
              <a:rPr lang="en-US" altLang="zh-CN" sz="2400" dirty="0"/>
              <a:t>LED</a:t>
            </a:r>
            <a:r>
              <a:rPr lang="zh-CN" altLang="en-US" sz="2400" dirty="0"/>
              <a:t>灯去观察控制器的</a:t>
            </a:r>
            <a:r>
              <a:rPr lang="zh-CN" altLang="en-US" sz="2400"/>
              <a:t>输出结果，同时在七段数码管上展示当前处理的指令。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在实验报告中，阐述实验设计过程，代码模块结构，以及观察到实验结果，并分析实验结构。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需要上板记录结果，但本次实验</a:t>
            </a:r>
            <a:r>
              <a:rPr lang="zh-CN" altLang="en-US" sz="2400" dirty="0">
                <a:latin typeface="+mj-ea"/>
                <a:ea typeface="+mj-ea"/>
              </a:rPr>
              <a:t>不需要验收。</a:t>
            </a:r>
            <a:endParaRPr lang="zh-CN" altLang="en-US" sz="2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方正小标宋简体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1819</Words>
  <Application>WPS 演示</Application>
  <PresentationFormat>宽屏</PresentationFormat>
  <Paragraphs>84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幼圆</vt:lpstr>
      <vt:lpstr>方正小标宋简体</vt:lpstr>
      <vt:lpstr>Times New Roman</vt:lpstr>
      <vt:lpstr>仿宋_GB2312</vt:lpstr>
      <vt:lpstr>仿宋</vt:lpstr>
      <vt:lpstr>微软雅黑</vt:lpstr>
      <vt:lpstr>Arial Unicode MS</vt:lpstr>
      <vt:lpstr>等线</vt:lpstr>
      <vt:lpstr>Calibri</vt:lpstr>
      <vt:lpstr>方正仿宋_GB2312</vt:lpstr>
      <vt:lpstr>Office 主题​​</vt:lpstr>
      <vt:lpstr>PowerPoint 演示文稿</vt:lpstr>
      <vt:lpstr>Section 1. 实验目标</vt:lpstr>
      <vt:lpstr>Section 2. 实验任务</vt:lpstr>
      <vt:lpstr>Section 2. 实验任务</vt:lpstr>
      <vt:lpstr>Section 3. 实验步骤</vt:lpstr>
      <vt:lpstr>Section 4. 实验原理</vt:lpstr>
      <vt:lpstr>Section 4. 实验原理</vt:lpstr>
      <vt:lpstr>Section 4. 实验原理</vt:lpstr>
      <vt:lpstr>Section 4. 实验原理</vt:lpstr>
      <vt:lpstr>Section 5. 实验要求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DeLi Huang</dc:creator>
  <cp:lastModifiedBy>清平乐</cp:lastModifiedBy>
  <cp:revision>22</cp:revision>
  <dcterms:created xsi:type="dcterms:W3CDTF">2025-02-16T07:59:00Z</dcterms:created>
  <dcterms:modified xsi:type="dcterms:W3CDTF">2026-05-29T07:40:32Z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A50CD68EF5A74C43AE47AEADF9AA8E68_12</vt:lpwstr>
  </property>
  <property fmtid="{D5CDD505-2E9C-101B-9397-08002B2CF9AE}" pid="3" name="KSOProductBuildVer">
    <vt:lpwstr>2052-12.1.0.25225</vt:lpwstr>
  </property>
</Properties>
</file>
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4" r:id="rId5"/>
    <p:sldId id="275" r:id="rId6"/>
    <p:sldId id="287" r:id="rId7"/>
    <p:sldId id="292" r:id="rId8"/>
    <p:sldId id="294" r:id="rId9"/>
    <p:sldId id="295" r:id="rId10"/>
    <p:sldId id="296" r:id="rId11"/>
    <p:sldId id="297" r:id="rId12"/>
    <p:sldId id="29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76240" autoAdjust="0"/>
  </p:normalViewPr>
  <p:slideViewPr>
    <p:cSldViewPr snapToGrid="0">
      <p:cViewPr varScale="1">
        <p:scale>
          <a:sx n="90" d="100"/>
          <a:sy n="90" d="100"/>
        </p:scale>
        <p:origin x="13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D7CBA-DD40-481C-A623-88CBC0C60D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365235" y="286297"/>
            <a:ext cx="10515600" cy="1325563"/>
          </a:xfrm>
        </p:spPr>
        <p:txBody>
          <a:bodyPr>
            <a:normAutofit/>
          </a:bodyPr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E5A2F-EE94-4CF7-BAB2-2CE1B7FC136A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379590" y="1235029"/>
            <a:ext cx="743281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300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计算机体系结构实验</a:t>
            </a:r>
            <a:endParaRPr lang="en-US" altLang="zh-CN" sz="3600" b="1" spc="300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en-US" altLang="zh-CN" sz="2800" b="1" spc="300" dirty="0">
                <a:solidFill>
                  <a:prstClr val="black"/>
                </a:solidFill>
                <a:latin typeface="+mj-ea"/>
                <a:ea typeface="+mj-ea"/>
              </a:rPr>
              <a:t>Lab3-1-1: Head First Register</a:t>
            </a:r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1163918" cy="365125"/>
          </a:xfrm>
        </p:spPr>
        <p:txBody>
          <a:bodyPr/>
          <a:lstStyle/>
          <a:p>
            <a:fld id="{E59E6666-3A90-4579-AD2E-17AEF910645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253994" y="3587900"/>
            <a:ext cx="404396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主讲老师：刘森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zh-CN" altLang="en-US" sz="2400" dirty="0"/>
              <a:t>助教：薛敏坤 赵珂玉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8BE4EA5-F87A-4479-BEDA-A43057A0127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1. </a:t>
            </a:r>
            <a:r>
              <a:rPr lang="zh-CN" altLang="en-US" sz="3200" dirty="0">
                <a:latin typeface="+mj-ea"/>
                <a:ea typeface="+mj-ea"/>
              </a:rPr>
              <a:t>实验目标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407956" y="2301933"/>
            <a:ext cx="9621994" cy="214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dirty="0"/>
              <a:t>了解随机存取存储器</a:t>
            </a:r>
            <a:r>
              <a:rPr lang="en-US" altLang="zh-CN" sz="2400" dirty="0"/>
              <a:t>RAM</a:t>
            </a:r>
            <a:r>
              <a:rPr lang="zh-CN" altLang="en-US" sz="2400" dirty="0"/>
              <a:t>的原理</a:t>
            </a:r>
            <a:endParaRPr lang="en-US" altLang="zh-CN" sz="2400" dirty="0"/>
          </a:p>
          <a:p>
            <a:pPr indent="-457200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dirty="0"/>
              <a:t>掌握调用 </a:t>
            </a:r>
            <a:r>
              <a:rPr lang="en-US" altLang="zh-CN" sz="2400" dirty="0"/>
              <a:t>Xilinx</a:t>
            </a:r>
            <a:r>
              <a:rPr lang="zh-CN" altLang="en-US" sz="2400" dirty="0"/>
              <a:t>库</a:t>
            </a:r>
            <a:r>
              <a:rPr lang="en-US" altLang="zh-CN" sz="2400" dirty="0"/>
              <a:t>IP(Block Memory Generator)</a:t>
            </a:r>
            <a:r>
              <a:rPr lang="zh-CN" altLang="en-US" sz="2400" dirty="0"/>
              <a:t>实例化 </a:t>
            </a:r>
            <a:r>
              <a:rPr lang="en-US" altLang="zh-CN" sz="2400" dirty="0"/>
              <a:t>RAM </a:t>
            </a:r>
            <a:r>
              <a:rPr lang="zh-CN" altLang="en-US" sz="2400" dirty="0"/>
              <a:t>的方法</a:t>
            </a:r>
            <a:endParaRPr lang="en-US" altLang="zh-CN" sz="2400" dirty="0"/>
          </a:p>
          <a:p>
            <a:pPr indent="-457200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dirty="0"/>
              <a:t>烧录到实验板中进行测试</a:t>
            </a:r>
            <a:endParaRPr lang="en-US" altLang="zh-CN" sz="2400" dirty="0"/>
          </a:p>
          <a:p>
            <a:endParaRPr lang="zh-CN" altLang="en-US" sz="24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519844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在提供的实验板下，完成以下目标：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9D015CB-A90F-405F-8CF0-FA0CB2A368D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2. </a:t>
            </a:r>
            <a:r>
              <a:rPr lang="zh-CN" altLang="en-US" sz="3200" dirty="0">
                <a:latin typeface="+mj-ea"/>
                <a:ea typeface="+mj-ea"/>
              </a:rPr>
              <a:t>实验任务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288018"/>
            <a:ext cx="10515600" cy="49386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E472A9C-19F4-4670-90CF-5C282755E36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3. </a:t>
            </a:r>
            <a:r>
              <a:rPr lang="zh-CN" altLang="en-US" sz="3200" dirty="0">
                <a:latin typeface="+mj-ea"/>
                <a:ea typeface="+mj-ea"/>
              </a:rPr>
              <a:t>实验</a:t>
            </a:r>
            <a:r>
              <a:rPr lang="zh-CN" altLang="en-US" dirty="0"/>
              <a:t>要求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186" y="1879202"/>
            <a:ext cx="10417628" cy="14332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8C324D6-A710-47AB-A096-66A66244B64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4. </a:t>
            </a:r>
            <a:r>
              <a:rPr lang="zh-CN" altLang="en-US" sz="3200" dirty="0">
                <a:latin typeface="+mj-ea"/>
                <a:ea typeface="+mj-ea"/>
              </a:rPr>
              <a:t>实验步骤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1431751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 </a:t>
            </a:r>
            <a:r>
              <a:rPr lang="zh-CN" altLang="en-US" sz="2400" dirty="0"/>
              <a:t>添加</a:t>
            </a:r>
            <a:r>
              <a:rPr lang="en-US" altLang="zh-CN" sz="2400" dirty="0"/>
              <a:t>ROM IP</a:t>
            </a:r>
            <a:r>
              <a:rPr lang="zh-CN" altLang="en-US" sz="2400" dirty="0"/>
              <a:t>核</a:t>
            </a: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93416"/>
            <a:ext cx="12192000" cy="371448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87036" y="3241964"/>
            <a:ext cx="1163782" cy="3463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583072" y="5257801"/>
            <a:ext cx="1989427" cy="35010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0" y="2577966"/>
            <a:ext cx="2683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1.</a:t>
            </a:r>
            <a:r>
              <a:rPr lang="zh-CN" altLang="en-US" sz="2800" dirty="0">
                <a:solidFill>
                  <a:srgbClr val="FF0000"/>
                </a:solidFill>
              </a:rPr>
              <a:t>选中</a:t>
            </a:r>
            <a:r>
              <a:rPr lang="en-US" altLang="zh-CN" sz="2800" dirty="0">
                <a:solidFill>
                  <a:srgbClr val="FF0000"/>
                </a:solidFill>
              </a:rPr>
              <a:t>IP Catalog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50744" y="2370427"/>
            <a:ext cx="6404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2. </a:t>
            </a:r>
            <a:r>
              <a:rPr lang="zh-CN" altLang="en-US" sz="2800" dirty="0">
                <a:solidFill>
                  <a:srgbClr val="FF0000"/>
                </a:solidFill>
              </a:rPr>
              <a:t>搜索框中搜索</a:t>
            </a:r>
            <a:r>
              <a:rPr lang="en-US" altLang="zh-CN" sz="2800" dirty="0">
                <a:solidFill>
                  <a:srgbClr val="FF0000"/>
                </a:solidFill>
              </a:rPr>
              <a:t>Block Memory Generator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8C324D6-A710-47AB-A096-66A66244B64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4. </a:t>
            </a:r>
            <a:r>
              <a:rPr lang="zh-CN" altLang="en-US" sz="3200" dirty="0">
                <a:latin typeface="+mj-ea"/>
                <a:ea typeface="+mj-ea"/>
              </a:rPr>
              <a:t>实验步骤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143175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设置基本参数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62" y="201463"/>
            <a:ext cx="7629513" cy="645507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670158" y="1431750"/>
            <a:ext cx="5245617" cy="2649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768130" y="1954264"/>
            <a:ext cx="4438714" cy="2649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724586" y="2219207"/>
            <a:ext cx="4482257" cy="2649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819900" y="4495800"/>
            <a:ext cx="3494314" cy="9304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84053" y="2253618"/>
            <a:ext cx="3692991" cy="1880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Basic</a:t>
            </a:r>
            <a:r>
              <a:rPr lang="zh-CN" altLang="en-US" sz="2000" dirty="0"/>
              <a:t>栏目下，设置</a:t>
            </a:r>
            <a:r>
              <a:rPr lang="en-US" altLang="zh-CN" sz="2000" dirty="0"/>
              <a:t>Component Name</a:t>
            </a:r>
            <a:r>
              <a:rPr lang="zh-CN" altLang="en-US" sz="2000" dirty="0"/>
              <a:t>为</a:t>
            </a:r>
            <a:r>
              <a:rPr lang="en-US" altLang="zh-CN" sz="2000" dirty="0" err="1"/>
              <a:t>Ins_Rom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Native</a:t>
            </a:r>
            <a:r>
              <a:rPr lang="zh-CN" altLang="en-US" sz="2000" dirty="0"/>
              <a:t>、单端口、</a:t>
            </a:r>
            <a:r>
              <a:rPr lang="en-US" altLang="zh-CN" sz="2000" dirty="0"/>
              <a:t>ROM</a:t>
            </a:r>
            <a:r>
              <a:rPr lang="zh-CN" altLang="en-US" sz="2000" dirty="0"/>
              <a:t>不需要</a:t>
            </a:r>
            <a:r>
              <a:rPr lang="en-US" altLang="zh-CN" sz="2000" dirty="0"/>
              <a:t>ECC</a:t>
            </a:r>
            <a:r>
              <a:rPr lang="zh-CN" altLang="en-US" sz="2000" dirty="0"/>
              <a:t>校验、最小面积算法。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8C324D6-A710-47AB-A096-66A66244B64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4. </a:t>
            </a:r>
            <a:r>
              <a:rPr lang="zh-CN" altLang="en-US" sz="3200" dirty="0">
                <a:latin typeface="+mj-ea"/>
                <a:ea typeface="+mj-ea"/>
              </a:rPr>
              <a:t>实验步骤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143175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设置基本参数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784053" y="2253618"/>
            <a:ext cx="3692991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数据宽度</a:t>
            </a:r>
            <a:r>
              <a:rPr lang="en-US" altLang="zh-CN" sz="2000" dirty="0"/>
              <a:t>32</a:t>
            </a:r>
            <a:r>
              <a:rPr lang="zh-CN" altLang="en-US" sz="2000" dirty="0"/>
              <a:t>位（读出的数据有</a:t>
            </a:r>
            <a:r>
              <a:rPr lang="en-US" altLang="zh-CN" sz="2000" dirty="0"/>
              <a:t>32</a:t>
            </a:r>
            <a:r>
              <a:rPr lang="zh-CN" altLang="en-US" sz="2000" dirty="0"/>
              <a:t>位）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数据深度</a:t>
            </a:r>
            <a:r>
              <a:rPr lang="en-US" altLang="zh-CN" sz="2000" dirty="0"/>
              <a:t>256</a:t>
            </a:r>
            <a:r>
              <a:rPr lang="zh-CN" altLang="en-US" sz="2000" dirty="0"/>
              <a:t>（共有</a:t>
            </a:r>
            <a:r>
              <a:rPr lang="en-US" altLang="zh-CN" sz="2000" dirty="0"/>
              <a:t>256</a:t>
            </a:r>
            <a:r>
              <a:rPr lang="zh-CN" altLang="en-US" sz="2000" dirty="0"/>
              <a:t>个数据）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地址线</a:t>
            </a:r>
            <a:r>
              <a:rPr lang="en-US" altLang="zh-CN" sz="2000" dirty="0"/>
              <a:t>8</a:t>
            </a:r>
            <a:r>
              <a:rPr lang="zh-CN" altLang="en-US" sz="2000" dirty="0"/>
              <a:t>根（在实验板上我们通过开关来代替地址线）</a:t>
            </a:r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0739" y="416425"/>
            <a:ext cx="7457847" cy="615527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064449" y="2934585"/>
            <a:ext cx="3775444" cy="30135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8C324D6-A710-47AB-A096-66A66244B64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4. </a:t>
            </a:r>
            <a:r>
              <a:rPr lang="zh-CN" altLang="en-US" sz="3200" dirty="0">
                <a:latin typeface="+mj-ea"/>
                <a:ea typeface="+mj-ea"/>
              </a:rPr>
              <a:t>实验步骤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143175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设置基本参数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1241253" y="2277150"/>
            <a:ext cx="369299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选择提供好的</a:t>
            </a:r>
            <a:r>
              <a:rPr lang="en-US" altLang="zh-CN" sz="2000" dirty="0"/>
              <a:t>COE</a:t>
            </a:r>
            <a:r>
              <a:rPr lang="zh-CN" altLang="en-US" sz="2000" dirty="0"/>
              <a:t>文件，该</a:t>
            </a:r>
            <a:r>
              <a:rPr lang="en-US" altLang="zh-CN" sz="2000" dirty="0"/>
              <a:t>COE</a:t>
            </a:r>
            <a:r>
              <a:rPr lang="zh-CN" altLang="en-US" sz="2000" dirty="0"/>
              <a:t>文件为</a:t>
            </a:r>
            <a:r>
              <a:rPr lang="en-US" altLang="zh-CN" sz="2000" dirty="0"/>
              <a:t>ROM</a:t>
            </a:r>
            <a:r>
              <a:rPr lang="zh-CN" altLang="en-US" sz="2000" dirty="0"/>
              <a:t>输入初值。</a:t>
            </a:r>
            <a:r>
              <a:rPr lang="en-US" altLang="zh-CN" sz="2000" dirty="0"/>
              <a:t>COE</a:t>
            </a:r>
            <a:r>
              <a:rPr lang="zh-CN" altLang="en-US" sz="2000" dirty="0"/>
              <a:t>文件也可以自行修改，比如添加自己学号或者其它数据。</a:t>
            </a:r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6684" y="598749"/>
            <a:ext cx="6378625" cy="56605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8C324D6-A710-47AB-A096-66A66244B64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4. </a:t>
            </a:r>
            <a:r>
              <a:rPr lang="zh-CN" altLang="en-US" sz="3200" dirty="0">
                <a:latin typeface="+mj-ea"/>
                <a:ea typeface="+mj-ea"/>
              </a:rPr>
              <a:t>实验步骤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1431751"/>
            <a:ext cx="3348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3. ROM</a:t>
            </a:r>
            <a:r>
              <a:rPr lang="zh-CN" altLang="en-US" sz="2400" dirty="0"/>
              <a:t>实例化文件方法</a:t>
            </a:r>
            <a:endParaRPr lang="zh-CN" altLang="en-US" sz="24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1234587" y="1909745"/>
            <a:ext cx="7139484" cy="4446605"/>
            <a:chOff x="2053293" y="1975459"/>
            <a:chExt cx="7139484" cy="4446605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53293" y="1975459"/>
              <a:ext cx="7139484" cy="4446605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2806995" y="6150935"/>
              <a:ext cx="774405" cy="20541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95599" y="3537502"/>
              <a:ext cx="995917" cy="25300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5284381" y="3689902"/>
              <a:ext cx="3806456" cy="122765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896866" y="1847335"/>
            <a:ext cx="2967680" cy="377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把实例化代码复制到 </a:t>
            </a:r>
            <a:r>
              <a:rPr lang="en-US" altLang="zh-CN" dirty="0"/>
              <a:t>top </a:t>
            </a:r>
            <a:r>
              <a:rPr lang="zh-CN" altLang="en-US" dirty="0"/>
              <a:t>文件中，在此基础上进行修改。编写好源代码后，进行综合，在 </a:t>
            </a:r>
            <a:r>
              <a:rPr lang="en-US" altLang="zh-CN" dirty="0"/>
              <a:t>Flow Navigator </a:t>
            </a:r>
            <a:r>
              <a:rPr lang="zh-CN" altLang="en-US" dirty="0"/>
              <a:t>选项卡选择</a:t>
            </a:r>
            <a:r>
              <a:rPr lang="en-US" altLang="zh-CN" dirty="0"/>
              <a:t>synthesis</a:t>
            </a:r>
            <a:r>
              <a:rPr lang="zh-CN" altLang="en-US" dirty="0"/>
              <a:t>，点击 “</a:t>
            </a:r>
            <a:r>
              <a:rPr lang="en-US" altLang="zh-CN" dirty="0"/>
              <a:t>run synthesis”</a:t>
            </a:r>
            <a:r>
              <a:rPr lang="zh-CN" altLang="en-US" dirty="0"/>
              <a:t>，综合后可以在下面的</a:t>
            </a:r>
            <a:r>
              <a:rPr lang="en-US" altLang="zh-CN" dirty="0"/>
              <a:t>message </a:t>
            </a:r>
            <a:r>
              <a:rPr lang="zh-CN" altLang="en-US" dirty="0"/>
              <a:t>一栏查看综合信息，是否有错误，不要有</a:t>
            </a:r>
            <a:r>
              <a:rPr lang="en-US" altLang="zh-CN" dirty="0"/>
              <a:t>critical warning</a:t>
            </a:r>
            <a:r>
              <a:rPr lang="zh-CN" altLang="en-US" dirty="0"/>
              <a:t>和</a:t>
            </a:r>
            <a:r>
              <a:rPr lang="en-US" altLang="zh-CN" dirty="0"/>
              <a:t>error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8C324D6-A710-47AB-A096-66A66244B64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5. </a:t>
            </a:r>
            <a:r>
              <a:rPr lang="zh-CN" altLang="en-US" sz="3200" dirty="0">
                <a:latin typeface="+mj-ea"/>
                <a:ea typeface="+mj-ea"/>
              </a:rPr>
              <a:t>实验要求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52293" y="1356313"/>
            <a:ext cx="11347031" cy="2812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本次实验为</a:t>
            </a:r>
            <a:r>
              <a:rPr lang="en-US" altLang="zh-CN" sz="2400" dirty="0"/>
              <a:t>Lab3-1-2</a:t>
            </a:r>
            <a:r>
              <a:rPr lang="zh-CN" altLang="en-US" sz="2400" dirty="0"/>
              <a:t>先导实验，仅要求掌握</a:t>
            </a:r>
            <a:r>
              <a:rPr lang="en-US" altLang="zh-CN" sz="2400" dirty="0"/>
              <a:t>ROM IP</a:t>
            </a:r>
            <a:r>
              <a:rPr lang="zh-CN" altLang="en-US" sz="2400" dirty="0"/>
              <a:t>核的使用</a:t>
            </a:r>
            <a:endParaRPr lang="en-US" altLang="zh-CN" sz="2400" dirty="0"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+mn-ea"/>
              </a:rPr>
              <a:t>将</a:t>
            </a:r>
            <a:r>
              <a:rPr lang="en-US" altLang="zh-CN" sz="2400" dirty="0">
                <a:latin typeface="+mn-ea"/>
              </a:rPr>
              <a:t>COE</a:t>
            </a:r>
            <a:r>
              <a:rPr lang="zh-CN" altLang="en-US" sz="2400" dirty="0">
                <a:latin typeface="+mn-ea"/>
              </a:rPr>
              <a:t>的数据展示在七段数码管上（一次展示</a:t>
            </a:r>
            <a:r>
              <a:rPr lang="en-US" altLang="zh-CN" sz="2400" dirty="0">
                <a:latin typeface="+mn-ea"/>
              </a:rPr>
              <a:t>8</a:t>
            </a:r>
            <a:r>
              <a:rPr lang="zh-CN" altLang="en-US" sz="2400" dirty="0">
                <a:latin typeface="+mn-ea"/>
              </a:rPr>
              <a:t>个</a:t>
            </a:r>
            <a:r>
              <a:rPr lang="en-US" altLang="zh-CN" sz="2400" dirty="0">
                <a:latin typeface="+mn-ea"/>
              </a:rPr>
              <a:t>16</a:t>
            </a:r>
            <a:r>
              <a:rPr lang="zh-CN" altLang="en-US" sz="2400" dirty="0">
                <a:latin typeface="+mn-ea"/>
              </a:rPr>
              <a:t>进制数），通过开关方式（</a:t>
            </a:r>
            <a:r>
              <a:rPr lang="en-US" altLang="zh-CN" sz="2400" dirty="0">
                <a:latin typeface="+mn-ea"/>
              </a:rPr>
              <a:t>8</a:t>
            </a:r>
            <a:r>
              <a:rPr lang="zh-CN" altLang="en-US" sz="2400" dirty="0">
                <a:latin typeface="+mn-ea"/>
              </a:rPr>
              <a:t>个开关）来在</a:t>
            </a:r>
            <a:r>
              <a:rPr lang="en-US" altLang="zh-CN" sz="2400" dirty="0">
                <a:latin typeface="+mn-ea"/>
              </a:rPr>
              <a:t>ROM</a:t>
            </a:r>
            <a:r>
              <a:rPr lang="zh-CN" altLang="en-US" sz="2400" dirty="0">
                <a:latin typeface="+mn-ea"/>
              </a:rPr>
              <a:t>中寻址并输出在七段数码管上。</a:t>
            </a:r>
            <a:endParaRPr lang="en-US" altLang="zh-CN" sz="24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+mn-ea"/>
              </a:rPr>
              <a:t>将显示结果拍照记录到实验报告中即可，</a:t>
            </a:r>
            <a:r>
              <a:rPr lang="zh-CN" altLang="en-US" sz="2400" dirty="0">
                <a:latin typeface="+mj-ea"/>
                <a:ea typeface="+mj-ea"/>
              </a:rPr>
              <a:t>本实验不需要验收和阐明实验原理</a:t>
            </a:r>
            <a:endParaRPr lang="en-US" altLang="zh-CN" sz="2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方正小标宋简体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</Words>
  <Application>WPS 演示</Application>
  <PresentationFormat>宽屏</PresentationFormat>
  <Paragraphs>83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幼圆</vt:lpstr>
      <vt:lpstr>方正小标宋简体</vt:lpstr>
      <vt:lpstr>Times New Roman</vt:lpstr>
      <vt:lpstr>仿宋_GB2312</vt:lpstr>
      <vt:lpstr>仿宋</vt:lpstr>
      <vt:lpstr>微软雅黑</vt:lpstr>
      <vt:lpstr>Arial Unicode MS</vt:lpstr>
      <vt:lpstr>等线</vt:lpstr>
      <vt:lpstr>Calibri</vt:lpstr>
      <vt:lpstr>方正仿宋_GB2312</vt:lpstr>
      <vt:lpstr>Office 主题​​</vt:lpstr>
      <vt:lpstr>PowerPoint 演示文稿</vt:lpstr>
      <vt:lpstr>Section 1. 实验目标</vt:lpstr>
      <vt:lpstr>Section 2. 实验任务</vt:lpstr>
      <vt:lpstr>Section 3. 实验要求</vt:lpstr>
      <vt:lpstr>Section 4. 实验步骤</vt:lpstr>
      <vt:lpstr>Section 4. 实验步骤</vt:lpstr>
      <vt:lpstr>Section 4. 实验步骤</vt:lpstr>
      <vt:lpstr>Section 4. 实验步骤</vt:lpstr>
      <vt:lpstr>Section 4. 实验步骤</vt:lpstr>
      <vt:lpstr>Section 5. 实验要求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DeLi Huang</dc:creator>
  <cp:lastModifiedBy>清平乐</cp:lastModifiedBy>
  <cp:revision>22</cp:revision>
  <dcterms:created xsi:type="dcterms:W3CDTF">2025-02-16T07:59:00Z</dcterms:created>
  <dcterms:modified xsi:type="dcterms:W3CDTF">2026-05-29T07:03:09Z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CEA054621E434863BB3EE27EE0DB495F_12</vt:lpwstr>
  </property>
  <property fmtid="{D5CDD505-2E9C-101B-9397-08002B2CF9AE}" pid="3" name="KSOProductBuildVer">
    <vt:lpwstr>2052-12.1.0.25225</vt:lpwstr>
  </property>
</Properties>
</file>
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7" r:id="rId7"/>
    <p:sldId id="268" r:id="rId8"/>
    <p:sldId id="270" r:id="rId9"/>
    <p:sldId id="266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9034" autoAdjust="0"/>
  </p:normalViewPr>
  <p:slideViewPr>
    <p:cSldViewPr snapToGrid="0">
      <p:cViewPr varScale="1">
        <p:scale>
          <a:sx n="110" d="100"/>
          <a:sy n="110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7CBA-DD40-481C-A623-88CBC0C60D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963545" y="1101725"/>
            <a:ext cx="7303135" cy="243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3200" b="1" spc="300" dirty="0">
                <a:solidFill>
                  <a:prstClr val="black"/>
                </a:solidFill>
                <a:latin typeface="+mj-ea"/>
                <a:ea typeface="+mj-ea"/>
              </a:rPr>
              <a:t>Lab1: </a:t>
            </a:r>
            <a:r>
              <a:rPr lang="zh-CN" altLang="en-US" sz="3200" b="1" spc="300" dirty="0">
                <a:solidFill>
                  <a:prstClr val="black"/>
                </a:solidFill>
                <a:latin typeface="+mj-ea"/>
                <a:ea typeface="+mj-ea"/>
              </a:rPr>
              <a:t>初步了解运行</a:t>
            </a:r>
            <a:r>
              <a:rPr lang="en-US" altLang="zh-CN" sz="3200" b="1" spc="300" dirty="0">
                <a:solidFill>
                  <a:prstClr val="black"/>
                </a:solidFill>
                <a:latin typeface="+mj-ea"/>
                <a:ea typeface="+mj-ea"/>
              </a:rPr>
              <a:t>verilog</a:t>
            </a:r>
            <a:r>
              <a:rPr lang="zh-CN" altLang="en-US" sz="3200" b="1" spc="300" dirty="0">
                <a:solidFill>
                  <a:prstClr val="black"/>
                </a:solidFill>
                <a:latin typeface="+mj-ea"/>
                <a:ea typeface="+mj-ea"/>
              </a:rPr>
              <a:t>代码</a:t>
            </a:r>
            <a:endParaRPr lang="en-US" altLang="zh-CN" sz="2800" b="1" spc="300" dirty="0">
              <a:solidFill>
                <a:prstClr val="black"/>
              </a:solidFill>
              <a:latin typeface="+mj-ea"/>
              <a:ea typeface="+mj-ea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zh-CN" altLang="en-US" sz="2800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53994" y="3587900"/>
            <a:ext cx="40439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/>
              <a:t>助教：薛敏坤 </a:t>
            </a:r>
            <a:r>
              <a:rPr lang="en-US" altLang="zh-CN" sz="2400" dirty="0"/>
              <a:t> </a:t>
            </a:r>
            <a:r>
              <a:rPr lang="zh-CN" altLang="en-US" sz="2400" dirty="0"/>
              <a:t>赵珂玉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3853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Section 1. Verilog</a:t>
            </a:r>
            <a:r>
              <a:rPr lang="zh-CN" altLang="en-US" sz="2800" dirty="0">
                <a:latin typeface="+mj-ea"/>
                <a:ea typeface="+mj-ea"/>
              </a:rPr>
              <a:t>简介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160" y="953135"/>
            <a:ext cx="9309735" cy="30175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en-US" altLang="zh-CN" sz="2800" i="0" dirty="0">
                <a:effectLst/>
                <a:latin typeface="+mj-ea"/>
                <a:cs typeface="+mj-ea"/>
              </a:rPr>
              <a:t>1.1 </a:t>
            </a:r>
            <a:r>
              <a:rPr lang="zh-CN" altLang="en-US" sz="2800" i="0" dirty="0">
                <a:effectLst/>
                <a:latin typeface="+mj-ea"/>
                <a:ea typeface="+mj-ea"/>
                <a:cs typeface="+mj-ea"/>
              </a:rPr>
              <a:t>什么是</a:t>
            </a:r>
            <a:r>
              <a:rPr lang="en-US" altLang="zh-CN" sz="2800" i="0" dirty="0">
                <a:effectLst/>
                <a:latin typeface="+mj-ea"/>
                <a:ea typeface="+mj-ea"/>
                <a:cs typeface="+mj-ea"/>
              </a:rPr>
              <a:t>Verilog</a:t>
            </a:r>
            <a:r>
              <a:rPr lang="zh-CN" altLang="en-US" sz="2800" i="0" dirty="0">
                <a:effectLst/>
                <a:latin typeface="+mj-ea"/>
                <a:ea typeface="+mj-ea"/>
                <a:cs typeface="+mj-ea"/>
              </a:rPr>
              <a:t>？</a:t>
            </a:r>
            <a:endParaRPr lang="zh-CN" altLang="en-US" sz="2800" i="0" dirty="0">
              <a:effectLst/>
              <a:latin typeface="+mj-ea"/>
              <a:ea typeface="+mj-ea"/>
              <a:cs typeface="+mj-ea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b="0" i="0" dirty="0">
                <a:effectLst/>
                <a:cs typeface="+mn-lt"/>
              </a:rPr>
              <a:t>Verilog</a:t>
            </a:r>
            <a:r>
              <a:rPr lang="zh-CN" altLang="en-US" sz="2400" b="0" i="0" dirty="0">
                <a:effectLst/>
                <a:latin typeface="D-DINExp"/>
              </a:rPr>
              <a:t>是一种硬件描述语言</a:t>
            </a:r>
            <a:r>
              <a:rPr lang="zh-CN" altLang="en-US" sz="2400" b="0" i="0" dirty="0">
                <a:effectLst/>
                <a:cs typeface="+mn-lt"/>
              </a:rPr>
              <a:t>（</a:t>
            </a:r>
            <a:r>
              <a:rPr lang="en-US" altLang="zh-CN" sz="2400" b="0" i="0" dirty="0">
                <a:effectLst/>
                <a:cs typeface="+mn-lt"/>
              </a:rPr>
              <a:t>HDL</a:t>
            </a:r>
            <a:r>
              <a:rPr lang="zh-CN" altLang="en-US" sz="2400" b="0" i="0" dirty="0">
                <a:effectLst/>
                <a:cs typeface="+mn-lt"/>
              </a:rPr>
              <a:t>）</a:t>
            </a:r>
            <a:r>
              <a:rPr lang="zh-CN" altLang="en-US" sz="2400" b="0" i="0" dirty="0">
                <a:effectLst/>
                <a:latin typeface="D-DINExp"/>
              </a:rPr>
              <a:t>，用于设计和模拟数字电路。</a:t>
            </a: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en-US" altLang="zh-CN" sz="2800" b="0" i="0" dirty="0">
                <a:effectLst/>
                <a:latin typeface="+mj-ea"/>
                <a:cs typeface="+mj-ea"/>
              </a:rPr>
              <a:t>1.2 </a:t>
            </a:r>
            <a:r>
              <a:rPr lang="zh-CN" altLang="en-US" sz="2800" i="0" dirty="0">
                <a:effectLst/>
                <a:latin typeface="+mj-ea"/>
                <a:ea typeface="+mj-ea"/>
                <a:cs typeface="+mj-ea"/>
              </a:rPr>
              <a:t>数据类型</a:t>
            </a:r>
            <a:endParaRPr lang="zh-CN" altLang="en-US" sz="2800" b="0" i="0" dirty="0">
              <a:effectLst/>
              <a:latin typeface="+mj-ea"/>
              <a:cs typeface="+mj-ea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  <a:cs typeface="+mn-lt"/>
              </a:rPr>
              <a:t>wire</a:t>
            </a:r>
            <a:r>
              <a:rPr lang="zh-CN" altLang="en-US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  <a:cs typeface="+mn-lt"/>
              </a:rPr>
              <a:t>：</a:t>
            </a:r>
            <a:r>
              <a:rPr lang="zh-CN" altLang="en-US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用于组合逻辑，表示信号线。</a:t>
            </a:r>
            <a:endParaRPr lang="zh-CN" altLang="en-US" sz="2400" b="0" i="0" dirty="0">
              <a:solidFill>
                <a:schemeClr val="tx1"/>
              </a:solidFill>
              <a:effectLst/>
              <a:uFillTx/>
              <a:latin typeface="Times New Roman" panose="02020603050405020304" charset="0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reg</a:t>
            </a:r>
            <a:r>
              <a:rPr lang="zh-CN" altLang="en-US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：用于寄存器，表示存储单元。</a:t>
            </a:r>
            <a:endParaRPr lang="zh-CN" altLang="en-US" sz="2400" b="0" i="0" dirty="0">
              <a:solidFill>
                <a:schemeClr val="tx1"/>
              </a:solidFill>
              <a:effectLst/>
              <a:uFillTx/>
              <a:latin typeface="Times New Roman" panose="02020603050405020304" charset="0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1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位宽</a:t>
            </a:r>
            <a:endParaRPr lang="zh-CN" altLang="en-US" sz="2400" b="0" i="0" dirty="0">
              <a:solidFill>
                <a:schemeClr val="tx1"/>
              </a:solidFill>
              <a:effectLst/>
              <a:uFillTx/>
              <a:latin typeface="Times New Roman" panose="02020603050405020304" charset="0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可以指定位宽：</a:t>
            </a:r>
            <a:r>
              <a:rPr lang="en-US" altLang="zh-CN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wire [3:0] a;</a:t>
            </a:r>
            <a:r>
              <a:rPr lang="zh-CN" altLang="en-US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（</a:t>
            </a:r>
            <a:r>
              <a:rPr lang="en-US" altLang="zh-CN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4</a:t>
            </a:r>
            <a:r>
              <a:rPr lang="zh-CN" altLang="en-US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位宽的信号）。</a:t>
            </a:r>
            <a:endParaRPr lang="zh-CN" altLang="en-US" sz="2400" b="0" i="0" dirty="0">
              <a:solidFill>
                <a:schemeClr val="tx1"/>
              </a:solidFill>
              <a:effectLst/>
              <a:uFillTx/>
              <a:latin typeface="Times New Roman" panose="02020603050405020304" charset="0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1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向量</a:t>
            </a:r>
            <a:endParaRPr lang="zh-CN" altLang="en-US" sz="2400" b="0" i="0" dirty="0">
              <a:solidFill>
                <a:schemeClr val="tx1"/>
              </a:solidFill>
              <a:effectLst/>
              <a:uFillTx/>
              <a:latin typeface="Times New Roman" panose="02020603050405020304" charset="0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向量可以表示多位信号：</a:t>
            </a:r>
            <a:r>
              <a:rPr lang="en-US" altLang="zh-CN" sz="2400" b="0" i="0" dirty="0">
                <a:solidFill>
                  <a:schemeClr val="tx1"/>
                </a:solidFill>
                <a:effectLst/>
                <a:uFillTx/>
                <a:latin typeface="Times New Roman" panose="02020603050405020304" charset="0"/>
              </a:rPr>
              <a:t>wire [7:0] data;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b="0" i="0" dirty="0">
              <a:effectLst/>
              <a:latin typeface="D-DINExp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9770" y="212725"/>
            <a:ext cx="8641080" cy="505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en-US" altLang="zh-CN" sz="2800" i="0" dirty="0">
                <a:effectLst/>
                <a:latin typeface="+mj-ea"/>
                <a:cs typeface="+mj-ea"/>
              </a:rPr>
              <a:t>1.3</a:t>
            </a:r>
            <a:r>
              <a:rPr lang="en-US" altLang="zh-CN" sz="2800" b="1" i="0" dirty="0">
                <a:effectLst/>
                <a:latin typeface="+mj-ea"/>
                <a:cs typeface="+mj-ea"/>
              </a:rPr>
              <a:t> </a:t>
            </a:r>
            <a:r>
              <a:rPr lang="zh-CN" altLang="en-US" sz="2800" b="1" i="0" dirty="0">
                <a:effectLst/>
                <a:latin typeface="+mj-ea"/>
                <a:ea typeface="+mj-ea"/>
                <a:cs typeface="+mj-ea"/>
              </a:rPr>
              <a:t>模块结构</a:t>
            </a:r>
            <a:endParaRPr lang="zh-CN" altLang="en-US" sz="2800" b="1" i="0" dirty="0">
              <a:effectLst/>
              <a:latin typeface="+mj-ea"/>
              <a:ea typeface="+mj-ea"/>
              <a:cs typeface="+mj-ea"/>
            </a:endParaRPr>
          </a:p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zh-CN" altLang="en-US" sz="2400" b="0" i="0" dirty="0">
                <a:effectLst/>
                <a:latin typeface="D-DINExp"/>
              </a:rPr>
              <a:t>模块定义：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dirty="0">
                <a:latin typeface="D-DINExp"/>
              </a:rPr>
              <a:t>端口类型</a:t>
            </a:r>
            <a:endParaRPr lang="zh-CN" altLang="en-US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input</a:t>
            </a:r>
            <a:r>
              <a:rPr lang="zh-CN" altLang="en-US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：输入端口；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output</a:t>
            </a:r>
            <a:r>
              <a:rPr lang="zh-CN" altLang="en-US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：输出端口；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inout</a:t>
            </a:r>
            <a:r>
              <a:rPr lang="zh-CN" altLang="en-US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：双</a:t>
            </a:r>
            <a:r>
              <a:rPr lang="zh-CN" altLang="en-US" sz="2400" dirty="0">
                <a:latin typeface="D-DINExp"/>
              </a:rPr>
              <a:t>向端口。</a:t>
            </a: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0" i="0" dirty="0">
                <a:effectLst/>
                <a:latin typeface="D-DINExp"/>
              </a:rPr>
              <a:t>模块实例化</a:t>
            </a:r>
            <a:endParaRPr lang="zh-CN" altLang="en-US" sz="2400" b="0" i="0" dirty="0">
              <a:effectLst/>
              <a:latin typeface="D-DINExp"/>
            </a:endParaRPr>
          </a:p>
          <a:p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715" y="837565"/>
            <a:ext cx="3453765" cy="20650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25" y="4201160"/>
            <a:ext cx="4686935" cy="1611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9770" y="212725"/>
            <a:ext cx="6663690" cy="336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en-US" altLang="zh-CN" sz="2800" i="0" dirty="0">
                <a:effectLst/>
                <a:latin typeface="+mj-ea"/>
                <a:cs typeface="+mj-ea"/>
              </a:rPr>
              <a:t>1.4</a:t>
            </a:r>
            <a:r>
              <a:rPr lang="en-US" altLang="zh-CN" sz="2800" b="1" i="0" dirty="0">
                <a:effectLst/>
                <a:latin typeface="+mj-ea"/>
                <a:cs typeface="+mj-ea"/>
              </a:rPr>
              <a:t> </a:t>
            </a:r>
            <a:r>
              <a:rPr lang="zh-CN" altLang="en-US" sz="2800" b="1" i="0" dirty="0">
                <a:effectLst/>
                <a:latin typeface="+mj-ea"/>
                <a:ea typeface="+mj-ea"/>
                <a:cs typeface="+mj-ea"/>
              </a:rPr>
              <a:t>逻辑运算</a:t>
            </a:r>
            <a:endParaRPr lang="zh-CN" altLang="en-US" sz="2800" b="1" i="0" dirty="0">
              <a:effectLst/>
              <a:latin typeface="+mj-ea"/>
              <a:ea typeface="+mj-ea"/>
              <a:cs typeface="+mj-ea"/>
            </a:endParaRPr>
          </a:p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zh-CN" altLang="en-US" sz="2400" b="1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逻辑运算符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与：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&amp; </a:t>
            </a:r>
            <a:r>
              <a:rPr lang="zh-CN" altLang="en-US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，或：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| </a:t>
            </a:r>
            <a:r>
              <a:rPr lang="zh-CN" altLang="en-US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，非：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~ </a:t>
            </a:r>
            <a:r>
              <a:rPr lang="zh-CN" altLang="en-US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，异或：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</a:rPr>
              <a:t>^</a:t>
            </a: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1" dirty="0">
                <a:latin typeface="D-DINExp"/>
              </a:rPr>
              <a:t>组合逻辑</a:t>
            </a:r>
            <a:r>
              <a:rPr lang="en-US" altLang="zh-CN" sz="2400" b="1" dirty="0">
                <a:latin typeface="D-DINExp"/>
              </a:rPr>
              <a:t> </a:t>
            </a:r>
            <a:endParaRPr lang="en-US" altLang="zh-CN" sz="2400" b="1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dirty="0">
                <a:latin typeface="D-DINExp"/>
              </a:rPr>
              <a:t>使用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assign</a:t>
            </a:r>
            <a:r>
              <a:rPr lang="zh-CN" altLang="en-US" sz="2400" dirty="0">
                <a:latin typeface="D-DINExp"/>
              </a:rPr>
              <a:t>语句实现：</a:t>
            </a:r>
            <a:endParaRPr lang="zh-CN" altLang="en-US" sz="2400" dirty="0">
              <a:latin typeface="D-DINExp"/>
            </a:endParaRPr>
          </a:p>
          <a:p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70" y="3178175"/>
            <a:ext cx="3679825" cy="876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9770" y="212725"/>
            <a:ext cx="6663690" cy="5723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en-US" altLang="zh-CN" sz="2800" i="0" dirty="0">
                <a:effectLst/>
                <a:latin typeface="+mj-ea"/>
                <a:cs typeface="+mj-ea"/>
              </a:rPr>
              <a:t>1.5</a:t>
            </a:r>
            <a:r>
              <a:rPr lang="en-US" altLang="zh-CN" sz="2800" b="1" i="0" dirty="0">
                <a:effectLst/>
                <a:latin typeface="+mj-ea"/>
                <a:cs typeface="+mj-ea"/>
              </a:rPr>
              <a:t> </a:t>
            </a:r>
            <a:r>
              <a:rPr lang="zh-CN" altLang="en-US" sz="2800" b="1" i="0" dirty="0">
                <a:effectLst/>
                <a:latin typeface="+mj-ea"/>
                <a:ea typeface="+mj-ea"/>
                <a:cs typeface="+mj-ea"/>
              </a:rPr>
              <a:t>控制语句</a:t>
            </a:r>
            <a:endParaRPr lang="zh-CN" altLang="en-US" sz="2800" b="1" i="0" dirty="0">
              <a:effectLst/>
              <a:latin typeface="+mj-ea"/>
              <a:ea typeface="+mj-ea"/>
              <a:cs typeface="+mj-ea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dirty="0">
                <a:latin typeface="D-DINExp"/>
              </a:rPr>
              <a:t>条件语句</a:t>
            </a:r>
            <a:r>
              <a:rPr lang="en-US" altLang="zh-CN" sz="2400" dirty="0">
                <a:latin typeface="D-DINExp"/>
              </a:rPr>
              <a:t> 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if-else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case</a:t>
            </a:r>
            <a:r>
              <a:rPr lang="en-US" altLang="zh-CN" sz="2400" dirty="0">
                <a:latin typeface="D-DINExp"/>
              </a:rPr>
              <a:t>:</a:t>
            </a: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sz="2400" dirty="0">
              <a:latin typeface="D-DINExp"/>
            </a:endParaRPr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循环语句</a:t>
            </a:r>
            <a:r>
              <a:rPr lang="en-US" altLang="zh-CN" sz="2400" dirty="0"/>
              <a:t> for</a:t>
            </a:r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7625"/>
            <a:ext cx="6781165" cy="1464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57500"/>
            <a:ext cx="6708140" cy="14217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20" y="5038725"/>
            <a:ext cx="6428740" cy="1213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9770" y="212725"/>
            <a:ext cx="6663690" cy="5723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en-US" altLang="zh-CN" sz="2800" i="0" dirty="0">
                <a:effectLst/>
                <a:latin typeface="+mj-ea"/>
                <a:cs typeface="+mj-ea"/>
              </a:rPr>
              <a:t>1.6</a:t>
            </a:r>
            <a:r>
              <a:rPr lang="en-US" altLang="zh-CN" sz="2800" b="1" i="0" dirty="0">
                <a:effectLst/>
                <a:latin typeface="+mj-ea"/>
                <a:cs typeface="+mj-ea"/>
              </a:rPr>
              <a:t> </a:t>
            </a:r>
            <a:r>
              <a:rPr lang="zh-CN" altLang="en-US" sz="2800" b="1" i="0" dirty="0">
                <a:effectLst/>
                <a:latin typeface="+mj-ea"/>
                <a:ea typeface="+mj-ea"/>
                <a:cs typeface="+mj-ea"/>
              </a:rPr>
              <a:t>时序控制</a:t>
            </a:r>
            <a:endParaRPr lang="zh-CN" altLang="en-US" sz="2800" b="1" i="0" dirty="0">
              <a:effectLst/>
              <a:latin typeface="+mj-ea"/>
              <a:ea typeface="+mj-ea"/>
              <a:cs typeface="+mj-ea"/>
            </a:endParaRPr>
          </a:p>
          <a:p>
            <a:r>
              <a:rPr lang="zh-CN" altLang="en-US" sz="2400" dirty="0"/>
              <a:t>时钟信号</a:t>
            </a:r>
            <a:r>
              <a:rPr lang="en-US" altLang="zh-CN" sz="2400" dirty="0"/>
              <a:t>:</a:t>
            </a:r>
            <a:r>
              <a:rPr lang="zh-CN" altLang="en-US" sz="2400" dirty="0"/>
              <a:t>时钟信号通常用于触发寄存器。</a:t>
            </a:r>
            <a:endParaRPr lang="zh-CN" altLang="en-US" sz="2400" dirty="0"/>
          </a:p>
          <a:p>
            <a:endParaRPr lang="zh-CN" altLang="en-US" sz="2400" dirty="0"/>
          </a:p>
          <a:p>
            <a:r>
              <a:rPr lang="en-US" altLang="zh-CN" sz="2400" dirty="0"/>
              <a:t>always</a:t>
            </a:r>
            <a:r>
              <a:rPr lang="zh-CN" altLang="en-US" sz="2400" dirty="0"/>
              <a:t>块</a:t>
            </a:r>
            <a:r>
              <a:rPr lang="en-US" altLang="zh-CN" sz="2400" dirty="0"/>
              <a:t>: </a:t>
            </a:r>
            <a:r>
              <a:rPr lang="zh-CN" altLang="en-US" sz="2400" dirty="0"/>
              <a:t>用于描述时序逻辑</a:t>
            </a:r>
            <a:r>
              <a:rPr lang="en-US" altLang="zh-CN" sz="2400" dirty="0"/>
              <a:t>,posedge</a:t>
            </a:r>
            <a:r>
              <a:rPr lang="zh-CN" altLang="en-US" sz="2400" dirty="0"/>
              <a:t>表示上升沿，</a:t>
            </a:r>
            <a:r>
              <a:rPr lang="en-US" altLang="zh-CN" sz="2400" dirty="0"/>
              <a:t>negedge</a:t>
            </a:r>
            <a:r>
              <a:rPr lang="zh-CN" altLang="en-US" sz="2400" dirty="0"/>
              <a:t>表示下降沿，</a:t>
            </a:r>
            <a:r>
              <a:rPr lang="en-US" altLang="zh-CN" sz="2400" dirty="0"/>
              <a:t>*</a:t>
            </a:r>
            <a:r>
              <a:rPr lang="zh-CN" altLang="en-US" sz="2400" dirty="0"/>
              <a:t>代表可以确保所有输入信号的变化都能触发逻辑更新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延迟</a:t>
            </a:r>
            <a:r>
              <a:rPr lang="en-US" altLang="zh-CN" sz="2400" dirty="0"/>
              <a:t> :</a:t>
            </a:r>
            <a:r>
              <a:rPr lang="zh-CN" altLang="en-US" sz="2400" dirty="0"/>
              <a:t>使用</a:t>
            </a:r>
            <a:r>
              <a:rPr lang="en-US" altLang="zh-CN" sz="2400" dirty="0"/>
              <a:t>#</a:t>
            </a:r>
            <a:r>
              <a:rPr lang="zh-CN" altLang="en-US" sz="2400" dirty="0"/>
              <a:t>表示延迟</a:t>
            </a:r>
            <a:r>
              <a:rPr lang="en-US" altLang="zh-CN" sz="2400" dirty="0"/>
              <a:t>,</a:t>
            </a:r>
            <a:r>
              <a:rPr lang="zh-CN" altLang="en-US" sz="2400" dirty="0"/>
              <a:t>表示</a:t>
            </a:r>
            <a:r>
              <a:rPr lang="en-US" altLang="zh-CN" sz="2400" dirty="0"/>
              <a:t>10</a:t>
            </a:r>
            <a:r>
              <a:rPr lang="zh-CN" altLang="en-US" sz="2400" dirty="0"/>
              <a:t>个单位时间后操作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70" y="2703830"/>
            <a:ext cx="9075420" cy="14503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70" y="4571365"/>
            <a:ext cx="3212465" cy="8483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460" y="1537970"/>
            <a:ext cx="1345565" cy="49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460" y="2170430"/>
            <a:ext cx="1344930" cy="4838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55015" y="54673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  <a:sym typeface="+mn-ea"/>
              </a:rPr>
              <a:t>Section 2. </a:t>
            </a:r>
            <a:r>
              <a:rPr lang="zh-CN" altLang="en-US" sz="2800" dirty="0">
                <a:latin typeface="+mj-ea"/>
                <a:ea typeface="+mj-ea"/>
                <a:sym typeface="+mn-ea"/>
              </a:rPr>
              <a:t>实验目标</a:t>
            </a:r>
            <a:endParaRPr lang="zh-CN" altLang="en-US" sz="2800" dirty="0">
              <a:latin typeface="+mj-ea"/>
              <a:ea typeface="+mj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200" y="1198880"/>
            <a:ext cx="79451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ym typeface="+mn-ea"/>
              </a:rPr>
              <a:t>使用</a:t>
            </a:r>
            <a:r>
              <a:rPr lang="en-US" altLang="zh-CN" sz="2400" dirty="0">
                <a:sym typeface="+mn-ea"/>
              </a:rPr>
              <a:t>vivado</a:t>
            </a:r>
            <a:r>
              <a:rPr lang="zh-CN" altLang="en-US" sz="2400" dirty="0">
                <a:sym typeface="+mn-ea"/>
              </a:rPr>
              <a:t>进行仿真，利用已给出的代码，完成以下目标：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3450" y="1904365"/>
            <a:ext cx="10742295" cy="1760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spcAft>
                <a:spcPts val="1500"/>
              </a:spcAft>
              <a:buFont typeface="+mj-lt"/>
              <a:buNone/>
            </a:pPr>
            <a:r>
              <a:rPr lang="en-US" altLang="zh-CN" sz="2400" b="0" i="0" dirty="0">
                <a:effectLst/>
                <a:latin typeface="+mn-ea"/>
              </a:rPr>
              <a:t>1.</a:t>
            </a:r>
            <a:r>
              <a:rPr lang="zh-CN" altLang="en-US" sz="2400" b="0" i="0" dirty="0">
                <a:effectLst/>
                <a:latin typeface="+mn-ea"/>
              </a:rPr>
              <a:t>运行</a:t>
            </a:r>
            <a:r>
              <a:rPr lang="en-US" altLang="zh-CN" sz="2400" b="0" i="0" dirty="0">
                <a:effectLst/>
                <a:latin typeface="+mn-ea"/>
              </a:rPr>
              <a:t>ALU</a:t>
            </a:r>
            <a:r>
              <a:rPr lang="zh-CN" altLang="en-US" sz="2400" b="0" i="0" dirty="0">
                <a:effectLst/>
                <a:latin typeface="+mn-ea"/>
              </a:rPr>
              <a:t>代码观察实验结果，并理解代码</a:t>
            </a:r>
            <a:endParaRPr lang="zh-CN" altLang="en-US" sz="2400" b="0" i="0" dirty="0">
              <a:effectLst/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2.</a:t>
            </a:r>
            <a:r>
              <a:rPr lang="zh-CN" altLang="en-US" sz="2400" dirty="0">
                <a:latin typeface="+mn-ea"/>
              </a:rPr>
              <a:t>修改其输入，完成</a:t>
            </a:r>
            <a:r>
              <a:rPr lang="en-US" altLang="zh-CN" sz="2400" dirty="0">
                <a:latin typeface="+mn-ea"/>
              </a:rPr>
              <a:t>4’b1001 + 4’b0111</a:t>
            </a:r>
            <a:r>
              <a:rPr lang="zh-CN" altLang="en-US" sz="2400" dirty="0">
                <a:latin typeface="+mn-ea"/>
              </a:rPr>
              <a:t>与</a:t>
            </a:r>
            <a:r>
              <a:rPr lang="en-US" altLang="zh-CN" sz="2400" dirty="0">
                <a:latin typeface="+mn-ea"/>
                <a:sym typeface="+mn-ea"/>
              </a:rPr>
              <a:t>4’b1110 - 4’b1111.</a:t>
            </a:r>
            <a:endParaRPr lang="zh-CN" altLang="en-US" sz="2400" dirty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3.</a:t>
            </a:r>
            <a:r>
              <a:rPr lang="zh-CN" altLang="en-US" sz="2400" dirty="0">
                <a:latin typeface="+mn-ea"/>
              </a:rPr>
              <a:t>完成溢出测试，对每个运算添加溢出标志位</a:t>
            </a:r>
            <a:r>
              <a:rPr lang="en-US" altLang="zh-CN" sz="2400" dirty="0">
                <a:latin typeface="+mn-ea"/>
              </a:rPr>
              <a:t>overflow</a:t>
            </a:r>
            <a:r>
              <a:rPr lang="zh-CN" altLang="en-US" sz="2400" dirty="0">
                <a:latin typeface="+mn-ea"/>
              </a:rPr>
              <a:t>，测试</a:t>
            </a:r>
            <a:r>
              <a:rPr lang="en-US" altLang="zh-CN" sz="2400" dirty="0">
                <a:latin typeface="+mn-ea"/>
              </a:rPr>
              <a:t>4 + 5</a:t>
            </a:r>
            <a:r>
              <a:rPr lang="zh-CN" altLang="en-US" sz="2400" dirty="0">
                <a:latin typeface="+mn-ea"/>
              </a:rPr>
              <a:t>和</a:t>
            </a:r>
            <a:r>
              <a:rPr lang="en-US" altLang="zh-CN" sz="2400" dirty="0">
                <a:latin typeface="+mn-ea"/>
              </a:rPr>
              <a:t>-5 - 4</a:t>
            </a:r>
            <a:r>
              <a:rPr lang="zh-CN" altLang="en-US" sz="2400" dirty="0">
                <a:latin typeface="+mn-ea"/>
              </a:rPr>
              <a:t>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3450" y="3910330"/>
            <a:ext cx="10742295" cy="251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spcAft>
                <a:spcPts val="1500"/>
              </a:spcAft>
              <a:buFont typeface="+mj-lt"/>
              <a:buNone/>
            </a:pPr>
            <a:r>
              <a:rPr lang="en-US" altLang="zh-CN" sz="2400" dirty="0">
                <a:latin typeface="+mn-ea"/>
              </a:rPr>
              <a:t>PS:</a:t>
            </a:r>
            <a:r>
              <a:rPr lang="zh-CN" altLang="en-US" sz="2400" dirty="0">
                <a:latin typeface="+mn-ea"/>
              </a:rPr>
              <a:t>由于有符号数的位数有限，当运算结果超出其表示范围时，就会发生溢出（</a:t>
            </a:r>
            <a:r>
              <a:rPr lang="en-US" altLang="zh-CN" sz="2400" dirty="0">
                <a:latin typeface="+mn-ea"/>
              </a:rPr>
              <a:t>Overflow</a:t>
            </a:r>
            <a:r>
              <a:rPr lang="zh-CN" altLang="en-US" sz="2400" dirty="0">
                <a:latin typeface="+mn-ea"/>
              </a:rPr>
              <a:t>）。</a:t>
            </a:r>
            <a:endParaRPr lang="zh-CN" altLang="en-US" sz="2400" dirty="0">
              <a:latin typeface="+mn-ea"/>
            </a:endParaRPr>
          </a:p>
          <a:p>
            <a:pPr indent="0" algn="l">
              <a:spcAft>
                <a:spcPts val="1500"/>
              </a:spcAft>
              <a:buFont typeface="+mj-lt"/>
              <a:buNone/>
            </a:pPr>
            <a:r>
              <a:rPr lang="zh-CN" altLang="en-US" sz="2400" dirty="0">
                <a:latin typeface="+mn-ea"/>
              </a:rPr>
              <a:t>正溢出：两个正数相加，结果超出了正数范围，变成了负数。</a:t>
            </a:r>
            <a:endParaRPr lang="en-US" altLang="zh-CN" sz="2400" dirty="0">
              <a:latin typeface="+mn-ea"/>
            </a:endParaRPr>
          </a:p>
          <a:p>
            <a:pPr indent="0" algn="l">
              <a:spcAft>
                <a:spcPts val="1500"/>
              </a:spcAft>
              <a:buFont typeface="+mj-lt"/>
              <a:buNone/>
            </a:pPr>
            <a:r>
              <a:rPr lang="zh-CN" altLang="en-US" sz="2400" dirty="0">
                <a:latin typeface="+mn-ea"/>
              </a:rPr>
              <a:t>负溢出：两个负数相加，结果超出了负数范围，变成了正数。</a:t>
            </a:r>
            <a:endParaRPr lang="zh-CN" altLang="en-US" sz="2400" dirty="0">
              <a:latin typeface="+mn-ea"/>
            </a:endParaRPr>
          </a:p>
          <a:p>
            <a:pPr indent="0" algn="l">
              <a:spcAft>
                <a:spcPts val="1500"/>
              </a:spcAft>
              <a:buFont typeface="+mj-lt"/>
              <a:buNone/>
            </a:pPr>
            <a:r>
              <a:rPr lang="en-US" altLang="zh-CN" sz="2400" dirty="0">
                <a:latin typeface="+mn-ea"/>
              </a:rPr>
              <a:t>     </a:t>
            </a:r>
            <a:r>
              <a:rPr lang="zh-CN" altLang="en-US" sz="2400" dirty="0">
                <a:latin typeface="+mn-ea"/>
              </a:rPr>
              <a:t>溢出的计算：结果的符号位和两个加数的符号位不一致则溢出位为</a:t>
            </a:r>
            <a:r>
              <a:rPr lang="en-US" altLang="zh-CN" sz="2400" dirty="0">
                <a:latin typeface="+mn-ea"/>
              </a:rPr>
              <a:t>1</a:t>
            </a: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2026/3/6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23164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i="0" dirty="0">
                <a:effectLst/>
                <a:latin typeface="+mj-ea"/>
                <a:ea typeface="+mj-ea"/>
              </a:rPr>
              <a:t>实验提交</a:t>
            </a:r>
            <a:r>
              <a:rPr lang="zh-CN" altLang="en-US" sz="2800" b="1" dirty="0">
                <a:latin typeface="+mj-ea"/>
                <a:ea typeface="+mj-ea"/>
              </a:rPr>
              <a:t>要求</a:t>
            </a:r>
            <a:endParaRPr lang="zh-CN" altLang="en-US" sz="2800" b="1" i="0" dirty="0">
              <a:effectLst/>
              <a:latin typeface="+mj-ea"/>
              <a:ea typeface="+mj-ea"/>
            </a:endParaRPr>
          </a:p>
          <a:p>
            <a:endParaRPr lang="zh-CN" altLang="en-US" sz="2800" b="1" i="0" dirty="0">
              <a:effectLst/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949" y="1361025"/>
            <a:ext cx="11357333" cy="3461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+mj-ea"/>
                <a:ea typeface="+mj-ea"/>
                <a:cs typeface="+mj-ea"/>
              </a:rPr>
              <a:t>1</a:t>
            </a:r>
            <a:r>
              <a:rPr lang="en-US" altLang="zh-CN" sz="2400" b="1" dirty="0">
                <a:latin typeface="+mj-ea"/>
                <a:ea typeface="+mj-ea"/>
                <a:cs typeface="+mj-ea"/>
              </a:rPr>
              <a:t>.</a:t>
            </a:r>
            <a:r>
              <a:rPr lang="en-US" altLang="zh-CN" sz="2400" b="1" i="0" dirty="0">
                <a:effectLst/>
                <a:latin typeface="+mj-ea"/>
                <a:ea typeface="+mj-ea"/>
                <a:cs typeface="+mj-ea"/>
              </a:rPr>
              <a:t> </a:t>
            </a:r>
            <a:r>
              <a:rPr lang="zh-CN" altLang="en-US" sz="2400" b="1" i="0" dirty="0">
                <a:effectLst/>
                <a:latin typeface="+mj-ea"/>
                <a:ea typeface="+mj-ea"/>
                <a:cs typeface="+mj-ea"/>
              </a:rPr>
              <a:t>提交文件</a:t>
            </a:r>
            <a:endParaRPr lang="en-US" altLang="zh-CN" sz="2400" b="1" i="0" dirty="0">
              <a:effectLst/>
              <a:latin typeface="+mj-ea"/>
              <a:ea typeface="+mj-ea"/>
              <a:cs typeface="+mj-ea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b="0" i="0" dirty="0">
                <a:effectLst/>
                <a:latin typeface="D-DINExp"/>
              </a:rPr>
              <a:t>需要提交压缩包，包含实验项目</a:t>
            </a:r>
            <a:r>
              <a:rPr lang="en-US" altLang="zh-CN" sz="2400" dirty="0">
                <a:latin typeface="+mn-ea"/>
              </a:rPr>
              <a:t>ALU-4bit</a:t>
            </a:r>
            <a:r>
              <a:rPr lang="zh-CN" altLang="en-US" sz="2400" dirty="0">
                <a:latin typeface="D-DINExp"/>
              </a:rPr>
              <a:t>的</a:t>
            </a:r>
            <a:r>
              <a:rPr lang="zh-CN" altLang="en-US" sz="2400" b="0" i="0" dirty="0">
                <a:effectLst/>
                <a:latin typeface="D-DINExp"/>
              </a:rPr>
              <a:t>全部文件以及你的实验报告，实验报告要求</a:t>
            </a:r>
            <a:r>
              <a:rPr lang="en-US" altLang="zh-CN" sz="2400" b="0" i="0" dirty="0">
                <a:latin typeface="+mn-ea"/>
              </a:rPr>
              <a:t>pdf</a:t>
            </a:r>
            <a:r>
              <a:rPr lang="zh-CN" altLang="en-US" sz="2400" b="0" i="0" dirty="0">
                <a:effectLst/>
                <a:latin typeface="D-DINExp"/>
              </a:rPr>
              <a:t>格式，提交至</a:t>
            </a:r>
            <a:r>
              <a:rPr lang="en-US" altLang="zh-CN" sz="2400" b="0" i="0" dirty="0">
                <a:latin typeface="+mn-ea"/>
              </a:rPr>
              <a:t>elearning</a:t>
            </a:r>
            <a:r>
              <a:rPr lang="zh-CN" altLang="en-US" sz="2400" b="0" i="0" dirty="0">
                <a:effectLst/>
                <a:latin typeface="D-DINExp"/>
              </a:rPr>
              <a:t>上。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+mj-ea"/>
                <a:cs typeface="+mj-ea"/>
              </a:rPr>
              <a:t>2. </a:t>
            </a:r>
            <a:r>
              <a:rPr lang="zh-CN" altLang="en-US" sz="2400" b="1" dirty="0">
                <a:latin typeface="+mj-ea"/>
                <a:ea typeface="+mj-ea"/>
                <a:cs typeface="+mj-ea"/>
              </a:rPr>
              <a:t>命名</a:t>
            </a:r>
            <a:r>
              <a:rPr lang="zh-CN" altLang="en-US" sz="2400" b="1" i="0" dirty="0">
                <a:effectLst/>
                <a:latin typeface="+mj-ea"/>
                <a:ea typeface="+mj-ea"/>
                <a:cs typeface="+mj-ea"/>
              </a:rPr>
              <a:t>要求</a:t>
            </a:r>
            <a:endParaRPr lang="en-US" altLang="zh-CN" sz="2400" b="1" i="0" dirty="0">
              <a:effectLst/>
              <a:latin typeface="+mj-ea"/>
              <a:ea typeface="+mj-ea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>
                <a:latin typeface="+mn-ea"/>
              </a:rPr>
              <a:t>zip</a:t>
            </a:r>
            <a:r>
              <a:rPr lang="zh-CN" altLang="en-US" sz="2400" dirty="0">
                <a:latin typeface="+mn-ea"/>
              </a:rPr>
              <a:t>压缩包重命名为</a:t>
            </a:r>
            <a:r>
              <a:rPr lang="en-US" altLang="zh-CN" sz="2400" b="1" dirty="0">
                <a:latin typeface="+mn-ea"/>
              </a:rPr>
              <a:t>{学号}_{姓名}_lab1-1.zip</a:t>
            </a:r>
            <a:r>
              <a:rPr lang="zh-CN" altLang="en-US" sz="2400" dirty="0">
                <a:latin typeface="+mn-ea"/>
              </a:rPr>
              <a:t>，比如</a:t>
            </a:r>
            <a:r>
              <a:rPr lang="en-US" altLang="zh-CN" sz="2400" b="1" dirty="0">
                <a:latin typeface="+mn-ea"/>
              </a:rPr>
              <a:t>12345678910_张三_lab1-1.zip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方正小标宋简体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WPS 演示</Application>
  <PresentationFormat>宽屏</PresentationFormat>
  <Paragraphs>101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幼圆</vt:lpstr>
      <vt:lpstr>D-DINExp</vt:lpstr>
      <vt:lpstr>Segoe Print</vt:lpstr>
      <vt:lpstr>Times New Roman</vt:lpstr>
      <vt:lpstr>方正小标宋简体</vt:lpstr>
      <vt:lpstr>微软雅黑</vt:lpstr>
      <vt:lpstr>仿宋_GB2312</vt:lpstr>
      <vt:lpstr>仿宋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DeLi Huang</dc:creator>
  <cp:lastModifiedBy>薛敏坤</cp:lastModifiedBy>
  <cp:revision>36</cp:revision>
  <dcterms:created xsi:type="dcterms:W3CDTF">2025-02-16T07:59:00Z</dcterms:created>
  <dcterms:modified xsi:type="dcterms:W3CDTF">2026-03-06T08:12:10Z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DE90202A14BD4049AC97D03940077D02_13</vt:lpwstr>
  </property>
  <property fmtid="{D5CDD505-2E9C-101B-9397-08002B2CF9AE}" pid="3" name="KSOProductBuildVer">
    <vt:lpwstr>2052-12.1.0.25225</vt:lpwstr>
  </property>
</Properties>
</file>
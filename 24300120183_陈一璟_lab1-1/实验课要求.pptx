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2419" autoAdjust="0"/>
  </p:normalViewPr>
  <p:slideViewPr>
    <p:cSldViewPr snapToGrid="0">
      <p:cViewPr varScale="1">
        <p:scale>
          <a:sx n="74" d="100"/>
          <a:sy n="74" d="100"/>
        </p:scale>
        <p:origin x="4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hyperlink" Target="https://www.bilibili.com/video/BV1oT411i7nm/?spm_id_from=333.337.search-card.all.click&amp;vd_source=3debea3c2d71162919d13bbc8efd507e" TargetMode="External"/><Relationship Id="rId6" Type="http://schemas.openxmlformats.org/officeDocument/2006/relationships/image" Target="../media/image4.jpeg"/><Relationship Id="rId5" Type="http://schemas.openxmlformats.org/officeDocument/2006/relationships/hyperlink" Target="http://product.dangdang.com/23948890.html" TargetMode="External"/><Relationship Id="rId4" Type="http://schemas.openxmlformats.org/officeDocument/2006/relationships/image" Target="../media/image3.jpeg"/><Relationship Id="rId3" Type="http://schemas.openxmlformats.org/officeDocument/2006/relationships/hyperlink" Target="https://www.xilinx.com/support/download.html" TargetMode="Externa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963633" y="1102025"/>
            <a:ext cx="6624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实验课介绍</a:t>
            </a:r>
            <a:endParaRPr lang="en-US" altLang="zh-CN" sz="2800" b="1" spc="3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r>
              <a:rPr lang="en-US" altLang="zh-CN" dirty="0"/>
              <a:t>2026/3/6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>
                <a:sym typeface="+mn-ea"/>
              </a:rPr>
              <a:t>助教：薛敏坤 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6811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Section 1. </a:t>
            </a:r>
            <a:r>
              <a:rPr lang="zh-CN" altLang="en-US" sz="3600" dirty="0">
                <a:latin typeface="+mj-ea"/>
                <a:ea typeface="+mj-ea"/>
              </a:rPr>
              <a:t>实验大纲（分数暂定）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1691" y="1797909"/>
            <a:ext cx="7561114" cy="433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altLang="zh-CN" sz="3200" dirty="0">
                <a:latin typeface="+mn-ea"/>
              </a:rPr>
              <a:t>Verilog</a:t>
            </a:r>
            <a:r>
              <a:rPr lang="zh-CN" altLang="en-US" sz="3200" dirty="0">
                <a:latin typeface="+mn-ea"/>
              </a:rPr>
              <a:t>与门电路</a:t>
            </a:r>
            <a:r>
              <a:rPr lang="en-US" altLang="zh-CN" sz="3200" dirty="0">
                <a:latin typeface="+mn-ea"/>
              </a:rPr>
              <a:t>				</a:t>
            </a:r>
            <a:r>
              <a:rPr lang="en-US" altLang="zh-CN" sz="3200" dirty="0">
                <a:solidFill>
                  <a:srgbClr val="FF0000"/>
                </a:solidFill>
                <a:latin typeface="+mn-ea"/>
              </a:rPr>
              <a:t>15</a:t>
            </a:r>
            <a:r>
              <a:rPr lang="zh-CN" altLang="en-US" sz="3200" dirty="0">
                <a:solidFill>
                  <a:srgbClr val="FF0000"/>
                </a:solidFill>
                <a:latin typeface="+mn-ea"/>
              </a:rPr>
              <a:t>分</a:t>
            </a: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altLang="zh-CN" sz="3200" dirty="0">
                <a:latin typeface="+mn-ea"/>
              </a:rPr>
              <a:t>MIPS</a:t>
            </a:r>
            <a:r>
              <a:rPr lang="zh-CN" altLang="en-US" sz="3200" dirty="0">
                <a:latin typeface="+mn-ea"/>
              </a:rPr>
              <a:t>程序设计           </a:t>
            </a:r>
            <a:r>
              <a:rPr lang="en-US" altLang="zh-CN" sz="3200" dirty="0">
                <a:latin typeface="+mn-ea"/>
              </a:rPr>
              <a:t>		</a:t>
            </a:r>
            <a:r>
              <a:rPr lang="en-US" altLang="zh-CN" sz="3200" dirty="0">
                <a:solidFill>
                  <a:srgbClr val="FF0000"/>
                </a:solidFill>
                <a:latin typeface="+mn-ea"/>
              </a:rPr>
              <a:t>25</a:t>
            </a:r>
            <a:r>
              <a:rPr lang="zh-CN" altLang="en-US" sz="3200" dirty="0">
                <a:solidFill>
                  <a:srgbClr val="FF0000"/>
                </a:solidFill>
                <a:latin typeface="+mn-ea"/>
              </a:rPr>
              <a:t>分</a:t>
            </a: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algn="just"/>
            <a:endParaRPr lang="en-US" altLang="zh-CN" sz="3200" dirty="0">
              <a:latin typeface="+mn-ea"/>
            </a:endParaRPr>
          </a:p>
          <a:p>
            <a:pPr indent="0" algn="just">
              <a:buFont typeface="+mj-lt"/>
              <a:buNone/>
            </a:pPr>
            <a:r>
              <a:rPr lang="en-US" altLang="zh-CN" sz="3200" dirty="0">
                <a:latin typeface="+mn-ea"/>
              </a:rPr>
              <a:t>3. 32</a:t>
            </a:r>
            <a:r>
              <a:rPr lang="zh-CN" altLang="en-US" sz="3200" dirty="0">
                <a:latin typeface="+mn-ea"/>
              </a:rPr>
              <a:t>位</a:t>
            </a:r>
            <a:r>
              <a:rPr lang="en-US" altLang="zh-CN" sz="3200" dirty="0">
                <a:latin typeface="+mn-ea"/>
              </a:rPr>
              <a:t>MIPS</a:t>
            </a:r>
            <a:r>
              <a:rPr lang="zh-CN" altLang="en-US" sz="3200" dirty="0">
                <a:latin typeface="+mn-ea"/>
              </a:rPr>
              <a:t>单周期处理器设计   </a:t>
            </a:r>
            <a:r>
              <a:rPr lang="en-US" altLang="zh-CN" sz="3200" dirty="0">
                <a:latin typeface="+mn-ea"/>
              </a:rPr>
              <a:t>	</a:t>
            </a:r>
            <a:r>
              <a:rPr lang="en-US" altLang="zh-CN" sz="3200" dirty="0">
                <a:solidFill>
                  <a:srgbClr val="FF0000"/>
                </a:solidFill>
                <a:latin typeface="+mn-ea"/>
              </a:rPr>
              <a:t>35</a:t>
            </a:r>
            <a:r>
              <a:rPr lang="zh-CN" altLang="en-US" sz="3200" dirty="0">
                <a:solidFill>
                  <a:srgbClr val="FF0000"/>
                </a:solidFill>
                <a:latin typeface="+mn-ea"/>
              </a:rPr>
              <a:t>分</a:t>
            </a: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indent="0" algn="just">
              <a:buFont typeface="+mj-lt"/>
              <a:buNone/>
            </a:pPr>
            <a:r>
              <a:rPr lang="en-US" altLang="zh-CN" sz="3200" dirty="0">
                <a:latin typeface="+mn-ea"/>
              </a:rPr>
              <a:t>4. 32</a:t>
            </a:r>
            <a:r>
              <a:rPr lang="zh-CN" altLang="en-US" sz="3200" dirty="0">
                <a:latin typeface="+mn-ea"/>
              </a:rPr>
              <a:t>位</a:t>
            </a:r>
            <a:r>
              <a:rPr lang="en-US" altLang="zh-CN" sz="3200" dirty="0">
                <a:latin typeface="+mn-ea"/>
              </a:rPr>
              <a:t>MIPS</a:t>
            </a:r>
            <a:r>
              <a:rPr lang="zh-CN" altLang="en-US" sz="3200" dirty="0">
                <a:latin typeface="+mn-ea"/>
              </a:rPr>
              <a:t>多周期处理器设计</a:t>
            </a:r>
            <a:r>
              <a:rPr lang="en-US" altLang="zh-CN" sz="3200" dirty="0">
                <a:latin typeface="+mn-ea"/>
              </a:rPr>
              <a:t>	</a:t>
            </a:r>
            <a:r>
              <a:rPr lang="en-US" altLang="zh-CN" sz="3200" dirty="0">
                <a:solidFill>
                  <a:srgbClr val="FF0000"/>
                </a:solidFill>
                <a:latin typeface="+mn-ea"/>
              </a:rPr>
              <a:t>25</a:t>
            </a:r>
            <a:r>
              <a:rPr lang="zh-CN" altLang="en-US" sz="3200" dirty="0">
                <a:solidFill>
                  <a:srgbClr val="FF0000"/>
                </a:solidFill>
                <a:latin typeface="+mn-ea"/>
              </a:rPr>
              <a:t>分</a:t>
            </a:r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algn="just"/>
            <a:endParaRPr lang="en-US" altLang="zh-CN" sz="3200" dirty="0">
              <a:solidFill>
                <a:srgbClr val="FF0000"/>
              </a:solidFill>
              <a:latin typeface="+mn-ea"/>
            </a:endParaRPr>
          </a:p>
          <a:p>
            <a:pPr algn="just"/>
            <a:endParaRPr lang="en-US" altLang="zh-CN" sz="2000" b="1" dirty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39265" y="1708127"/>
            <a:ext cx="1120314" cy="1885107"/>
            <a:chOff x="10289371" y="947896"/>
            <a:chExt cx="1567478" cy="255844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0357" y="1839633"/>
              <a:ext cx="1345506" cy="1666711"/>
            </a:xfrm>
            <a:prstGeom prst="rect">
              <a:avLst/>
            </a:pr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</p:pic>
        <p:pic>
          <p:nvPicPr>
            <p:cNvPr id="12" name="Picture 2" descr="https://img-a.udemycdn.com/course/750x422/2634040_ef44.jpg">
              <a:hlinkClick r:id="rId3"/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35" t="24856" r="15137" b="24159"/>
            <a:stretch>
              <a:fillRect/>
            </a:stretch>
          </p:blipFill>
          <p:spPr bwMode="auto">
            <a:xfrm>
              <a:off x="10289371" y="947896"/>
              <a:ext cx="1567478" cy="637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hlinkClick r:id="rId5"/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6580" y="4019054"/>
            <a:ext cx="1185681" cy="168420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Front"/>
            <a:lightRig rig="threePt" dir="t"/>
          </a:scene3d>
          <a:sp3d>
            <a:bevelT w="139700" prst="cross"/>
          </a:sp3d>
        </p:spPr>
      </p:pic>
      <p:grpSp>
        <p:nvGrpSpPr>
          <p:cNvPr id="6" name="组合 5"/>
          <p:cNvGrpSpPr/>
          <p:nvPr/>
        </p:nvGrpSpPr>
        <p:grpSpPr>
          <a:xfrm>
            <a:off x="4501515" y="5703570"/>
            <a:ext cx="8095615" cy="583565"/>
            <a:chOff x="4600" y="9689"/>
            <a:chExt cx="12749" cy="919"/>
          </a:xfrm>
        </p:grpSpPr>
        <p:sp>
          <p:nvSpPr>
            <p:cNvPr id="3" name="文本框 2"/>
            <p:cNvSpPr txBox="1"/>
            <p:nvPr/>
          </p:nvSpPr>
          <p:spPr>
            <a:xfrm>
              <a:off x="9349" y="9863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 sz="1600">
                  <a:hlinkClick r:id="rId7"/>
                </a:rPr>
                <a:t>1</a:t>
              </a:r>
              <a:r>
                <a:rPr lang="zh-CN" altLang="en-US" sz="1600">
                  <a:hlinkClick r:id="rId7"/>
                </a:rPr>
                <a:t>分钟了解</a:t>
              </a:r>
              <a:r>
                <a:rPr lang="en-US" altLang="zh-CN" sz="1600">
                  <a:hlinkClick r:id="rId7"/>
                </a:rPr>
                <a:t>FPGA</a:t>
              </a:r>
              <a:r>
                <a:rPr lang="zh-CN" altLang="en-US" sz="1600">
                  <a:hlinkClick r:id="rId7"/>
                </a:rPr>
                <a:t>【中文字幕】</a:t>
              </a:r>
              <a:r>
                <a:rPr lang="en-US" altLang="zh-CN" sz="1600">
                  <a:hlinkClick r:id="rId7"/>
                </a:rPr>
                <a:t>_</a:t>
              </a:r>
              <a:r>
                <a:rPr lang="zh-CN" altLang="en-US" sz="1600">
                  <a:hlinkClick r:id="rId7"/>
                </a:rPr>
                <a:t>哔哩哔哩</a:t>
              </a:r>
              <a:r>
                <a:rPr lang="en-US" altLang="zh-CN" sz="1600">
                  <a:hlinkClick r:id="rId7"/>
                </a:rPr>
                <a:t>_bilibili</a:t>
              </a:r>
              <a:endParaRPr lang="en-US" altLang="zh-CN" sz="1600">
                <a:hlinkClick r:id="rId7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600" y="9689"/>
              <a:ext cx="5191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3200" b="1" dirty="0">
                  <a:latin typeface="+mn-ea"/>
                  <a:sym typeface="+mn-ea"/>
                </a:rPr>
                <a:t>实验设备</a:t>
              </a:r>
              <a:r>
                <a:rPr lang="zh-CN" altLang="en-US" sz="3200" dirty="0">
                  <a:latin typeface="+mn-ea"/>
                  <a:sym typeface="+mn-ea"/>
                </a:rPr>
                <a:t>：</a:t>
              </a:r>
              <a:r>
                <a:rPr lang="en-US" altLang="zh-CN" sz="3200" dirty="0">
                  <a:latin typeface="+mn-ea"/>
                  <a:sym typeface="+mn-ea"/>
                </a:rPr>
                <a:t>FPGA</a:t>
              </a:r>
              <a:endParaRPr lang="en-US" altLang="zh-CN" sz="3200" dirty="0">
                <a:latin typeface="+mn-ea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4503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Section 2. </a:t>
            </a:r>
            <a:r>
              <a:rPr lang="zh-CN" altLang="en-US" sz="3600" dirty="0">
                <a:latin typeface="+mj-ea"/>
                <a:ea typeface="+mj-ea"/>
              </a:rPr>
              <a:t>实验课要求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199" y="1736236"/>
            <a:ext cx="11538397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严禁抄袭</a:t>
            </a:r>
            <a:r>
              <a:rPr lang="zh-CN" altLang="en-US" sz="3200" dirty="0"/>
              <a:t>！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dirty="0"/>
              <a:t>按时提交作业到</a:t>
            </a:r>
            <a:r>
              <a:rPr lang="en-US" altLang="zh-CN" sz="3200" dirty="0" err="1"/>
              <a:t>elearning</a:t>
            </a:r>
            <a:r>
              <a:rPr lang="zh-CN" altLang="en-US" sz="3200" dirty="0"/>
              <a:t>，迟交会酌情扣分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200" dirty="0"/>
              <a:t>实验课上随机签到，缺勤者酌情扣分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2026/3/6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4964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Section 3. </a:t>
            </a:r>
            <a:r>
              <a:rPr lang="zh-CN" altLang="en-US" sz="3600" dirty="0">
                <a:latin typeface="+mj-ea"/>
                <a:ea typeface="+mj-ea"/>
              </a:rPr>
              <a:t>实验报告要求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8199" y="1736236"/>
            <a:ext cx="11538397" cy="295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+mn-ea"/>
              </a:rPr>
              <a:t>在每个实验中都提供了</a:t>
            </a:r>
            <a:r>
              <a:rPr lang="en-US" altLang="zh-CN" sz="3200" dirty="0">
                <a:latin typeface="+mn-ea"/>
              </a:rPr>
              <a:t>Markdown</a:t>
            </a:r>
            <a:r>
              <a:rPr lang="zh-CN" altLang="en-US" sz="3200" dirty="0">
                <a:latin typeface="+mn-ea"/>
              </a:rPr>
              <a:t>格式的实验模板，建议大家使用</a:t>
            </a:r>
            <a:r>
              <a:rPr lang="en-US" altLang="zh-CN" sz="3200" dirty="0">
                <a:latin typeface="+mn-ea"/>
              </a:rPr>
              <a:t>Markdown</a:t>
            </a:r>
            <a:r>
              <a:rPr lang="zh-CN" altLang="en-US" sz="3200" dirty="0">
                <a:latin typeface="+mn-ea"/>
              </a:rPr>
              <a:t>来完成你的实验报告</a:t>
            </a:r>
            <a:endParaRPr lang="en-US" altLang="zh-CN" sz="3200" dirty="0">
              <a:latin typeface="+mn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提交的报告格式为</a:t>
            </a:r>
            <a:r>
              <a:rPr lang="en-US" altLang="zh-CN" sz="3200" dirty="0"/>
              <a:t>pdf</a:t>
            </a:r>
            <a:r>
              <a:rPr lang="zh-CN" altLang="en-US" sz="3200" dirty="0"/>
              <a:t>格式</a:t>
            </a:r>
            <a:endParaRPr lang="en-US" altLang="zh-CN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/>
              <a:t>在报告中重点体现自己对实验的理解</a:t>
            </a:r>
            <a:endParaRPr lang="zh-CN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WPS 演示</Application>
  <PresentationFormat>宽屏</PresentationFormat>
  <Paragraphs>44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幼圆</vt:lpstr>
      <vt:lpstr>黑体</vt:lpstr>
      <vt:lpstr>方正小标宋简体</vt:lpstr>
      <vt:lpstr>微软雅黑</vt:lpstr>
      <vt:lpstr>Times New Roman</vt:lpstr>
      <vt:lpstr>仿宋_GB2312</vt:lpstr>
      <vt:lpstr>仿宋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薛敏坤</cp:lastModifiedBy>
  <cp:revision>25</cp:revision>
  <dcterms:created xsi:type="dcterms:W3CDTF">2025-02-16T07:59:00Z</dcterms:created>
  <dcterms:modified xsi:type="dcterms:W3CDTF">2026-03-06T08:13:06Z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C302BF54306042CEB156B283892F0213_12</vt:lpwstr>
  </property>
  <property fmtid="{D5CDD505-2E9C-101B-9397-08002B2CF9AE}" pid="3" name="KSOProductBuildVer">
    <vt:lpwstr>2052-12.1.0.25225</vt:lpwstr>
  </property>
</Properties>
</file>
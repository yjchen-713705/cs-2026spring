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383" r:id="rId2"/>
    <p:sldId id="384" r:id="rId3"/>
    <p:sldId id="385" r:id="rId4"/>
    <p:sldId id="386" r:id="rId5"/>
    <p:sldId id="387" r:id="rId6"/>
    <p:sldId id="362" r:id="rId7"/>
    <p:sldId id="389" r:id="rId8"/>
    <p:sldId id="363" r:id="rId9"/>
    <p:sldId id="364" r:id="rId10"/>
    <p:sldId id="365" r:id="rId11"/>
    <p:sldId id="353" r:id="rId12"/>
    <p:sldId id="354" r:id="rId13"/>
    <p:sldId id="355" r:id="rId14"/>
    <p:sldId id="357" r:id="rId15"/>
    <p:sldId id="360" r:id="rId16"/>
    <p:sldId id="517" r:id="rId17"/>
    <p:sldId id="518" r:id="rId18"/>
    <p:sldId id="521" r:id="rId19"/>
    <p:sldId id="522" r:id="rId20"/>
    <p:sldId id="523" r:id="rId21"/>
    <p:sldId id="524" r:id="rId22"/>
    <p:sldId id="356" r:id="rId23"/>
    <p:sldId id="358" r:id="rId24"/>
    <p:sldId id="359" r:id="rId25"/>
    <p:sldId id="390" r:id="rId26"/>
    <p:sldId id="391" r:id="rId27"/>
    <p:sldId id="361" r:id="rId28"/>
    <p:sldId id="490" r:id="rId29"/>
    <p:sldId id="393" r:id="rId30"/>
    <p:sldId id="500" r:id="rId31"/>
    <p:sldId id="501" r:id="rId32"/>
    <p:sldId id="394" r:id="rId33"/>
    <p:sldId id="397" r:id="rId34"/>
    <p:sldId id="508" r:id="rId35"/>
    <p:sldId id="1089" r:id="rId36"/>
    <p:sldId id="395" r:id="rId37"/>
    <p:sldId id="494" r:id="rId38"/>
    <p:sldId id="497" r:id="rId39"/>
    <p:sldId id="369" r:id="rId40"/>
    <p:sldId id="491" r:id="rId41"/>
    <p:sldId id="493" r:id="rId42"/>
    <p:sldId id="492" r:id="rId43"/>
    <p:sldId id="519" r:id="rId44"/>
    <p:sldId id="520" r:id="rId45"/>
    <p:sldId id="414" r:id="rId46"/>
    <p:sldId id="418" r:id="rId47"/>
    <p:sldId id="415" r:id="rId48"/>
    <p:sldId id="416" r:id="rId49"/>
    <p:sldId id="417" r:id="rId50"/>
    <p:sldId id="402" r:id="rId51"/>
    <p:sldId id="525" r:id="rId52"/>
    <p:sldId id="526" r:id="rId53"/>
    <p:sldId id="527" r:id="rId54"/>
    <p:sldId id="528" r:id="rId55"/>
    <p:sldId id="529" r:id="rId56"/>
    <p:sldId id="530" r:id="rId57"/>
    <p:sldId id="531" r:id="rId58"/>
    <p:sldId id="532" r:id="rId59"/>
    <p:sldId id="533" r:id="rId60"/>
    <p:sldId id="534" r:id="rId61"/>
    <p:sldId id="535" r:id="rId62"/>
    <p:sldId id="536" r:id="rId63"/>
    <p:sldId id="537" r:id="rId64"/>
    <p:sldId id="538" r:id="rId65"/>
    <p:sldId id="539" r:id="rId66"/>
    <p:sldId id="540" r:id="rId67"/>
    <p:sldId id="541" r:id="rId68"/>
    <p:sldId id="542" r:id="rId69"/>
    <p:sldId id="543" r:id="rId70"/>
    <p:sldId id="544" r:id="rId71"/>
    <p:sldId id="548" r:id="rId72"/>
    <p:sldId id="1088" r:id="rId73"/>
  </p:sldIdLst>
  <p:sldSz cx="9144000" cy="6858000" type="letter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accent2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556"/>
    <a:srgbClr val="388A36"/>
    <a:srgbClr val="2E5C35"/>
    <a:srgbClr val="3C7845"/>
    <a:srgbClr val="A50021"/>
    <a:srgbClr val="0033CC"/>
    <a:srgbClr val="EAEAEA"/>
    <a:srgbClr val="C51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88"/>
    <p:restoredTop sz="84345"/>
  </p:normalViewPr>
  <p:slideViewPr>
    <p:cSldViewPr snapToGrid="0" showGuides="1">
      <p:cViewPr varScale="1">
        <p:scale>
          <a:sx n="85" d="100"/>
          <a:sy n="85" d="100"/>
        </p:scale>
        <p:origin x="6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0600" y="644525"/>
            <a:ext cx="5135563" cy="3851275"/>
          </a:xfrm>
          <a:prstGeom prst="rect">
            <a:avLst/>
          </a:prstGeom>
          <a:noFill/>
          <a:ln w="12700"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  <a:noFill/>
          <a:ln w="9525">
            <a:noFill/>
          </a:ln>
        </p:spPr>
        <p:txBody>
          <a:bodyPr lIns="96460" tIns="48230" rIns="96460" bIns="48230"/>
          <a:lstStyle/>
          <a:p>
            <a:pPr lvl="0" algn="just">
              <a:lnSpc>
                <a:spcPct val="100000"/>
              </a:lnSpc>
              <a:spcBef>
                <a:spcPct val="50000"/>
              </a:spcBef>
            </a:pPr>
            <a:endParaRPr lang="zh-CN" altLang="en-US" b="1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Font typeface="Wingdings" panose="05000000000000000000" pitchFamily="2" charset="2"/>
              <a:buChar char="§"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207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Font typeface="Wingdings" panose="05000000000000000000" pitchFamily="2" charset="2"/>
              <a:buChar char="§"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Font typeface="Wingdings" panose="05000000000000000000" pitchFamily="2" charset="2"/>
              <a:buChar char="§"/>
            </a:pPr>
            <a:endParaRPr lang="en-US" altLang="zh-CN" dirty="0">
              <a:solidFill>
                <a:schemeClr val="accent2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Font typeface="Wingdings" panose="05000000000000000000" pitchFamily="2" charset="2"/>
              <a:buChar char="§"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Char char="•"/>
            </a:pP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  <a:noFill/>
          <a:ln w="9525">
            <a:noFill/>
          </a:ln>
        </p:spPr>
        <p:txBody>
          <a:bodyPr lIns="96460" tIns="48230" rIns="96460" bIns="48230"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138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575" tIns="48288" rIns="96575" bIns="48288"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  <p:sp>
        <p:nvSpPr>
          <p:cNvPr id="104452" name="灯片编号占位符 3"/>
          <p:cNvSpPr txBox="1">
            <a:spLocks noGrp="1"/>
          </p:cNvSpPr>
          <p:nvPr/>
        </p:nvSpPr>
        <p:spPr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</a:ln>
        </p:spPr>
        <p:txBody>
          <a:bodyPr lIns="96575" tIns="48288" rIns="96575" bIns="48288" anchor="b" anchorCtr="0"/>
          <a:lstStyle/>
          <a:p>
            <a:pPr lvl="0" algn="r" defTabSz="965200" eaLnBrk="1" hangingPunct="1"/>
            <a:fld id="{9A0DB2DC-4C9A-4742-B13C-FB6460FD3503}" type="slidenum">
              <a:rPr lang="zh-CN" altLang="en-US" sz="13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31</a:t>
            </a:fld>
            <a:endParaRPr lang="zh-CN" altLang="en-US" sz="13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>
              <a:buFont typeface="Wingdings" panose="05000000000000000000" pitchFamily="2" charset="2"/>
              <a:buChar char="§"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6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6460" tIns="48230" rIns="96460" bIns="48230"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  <a:noFill/>
          <a:ln w="9525">
            <a:noFill/>
          </a:ln>
        </p:spPr>
        <p:txBody>
          <a:bodyPr lIns="96460" tIns="48230" rIns="96460" bIns="48230"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596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6797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  <a:noFill/>
          <a:ln w="9525">
            <a:noFill/>
          </a:ln>
        </p:spPr>
        <p:txBody>
          <a:bodyPr lIns="96460" tIns="48230" rIns="96460" bIns="48230"/>
          <a:lstStyle/>
          <a:p>
            <a:pPr lvl="0" algn="just">
              <a:lnSpc>
                <a:spcPct val="100000"/>
              </a:lnSpc>
              <a:spcBef>
                <a:spcPct val="50000"/>
              </a:spcBef>
            </a:pPr>
            <a:endParaRPr lang="zh-CN" altLang="en-US" b="1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>
              <a:ea typeface="宋体" pitchFamily="2" charset="-122"/>
            </a:endParaRPr>
          </a:p>
        </p:txBody>
      </p:sp>
      <p:sp>
        <p:nvSpPr>
          <p:cNvPr id="151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71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46138"/>
            <a:ext cx="4038600" cy="5280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46138"/>
            <a:ext cx="4038600" cy="5280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4300"/>
            <a:ext cx="2057400" cy="60118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"/>
            <a:ext cx="6019800" cy="6011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368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846138"/>
            <a:ext cx="4038600" cy="5280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46138"/>
            <a:ext cx="4038600" cy="5280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3683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 lvl="0"/>
            <a:r>
              <a:rPr lang="en-US" altLang="zh-CN" dirty="0"/>
              <a:t>Title</a:t>
            </a:r>
          </a:p>
        </p:txBody>
      </p:sp>
      <p:sp>
        <p:nvSpPr>
          <p:cNvPr id="1027" name="Rectangle 7"/>
          <p:cNvSpPr>
            <a:spLocks noGrp="1"/>
          </p:cNvSpPr>
          <p:nvPr>
            <p:ph type="body" idx="1"/>
          </p:nvPr>
        </p:nvSpPr>
        <p:spPr>
          <a:xfrm>
            <a:off x="457200" y="846138"/>
            <a:ext cx="8229600" cy="528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Line 8"/>
          <p:cNvSpPr/>
          <p:nvPr userDrawn="1"/>
        </p:nvSpPr>
        <p:spPr>
          <a:xfrm>
            <a:off x="257175" y="523875"/>
            <a:ext cx="84296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rgbClr val="C51915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rgbClr val="C51915"/>
          </a:solidFill>
          <a:latin typeface="Arial" panose="020B060402020209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rgbClr val="C51915"/>
          </a:solidFill>
          <a:latin typeface="Arial" panose="020B060402020209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rgbClr val="C51915"/>
          </a:solidFill>
          <a:latin typeface="Arial" panose="020B060402020209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rgbClr val="C51915"/>
          </a:solidFill>
          <a:latin typeface="Arial" panose="020B060402020209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9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9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9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90204" pitchFamily="3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Wingdings" panose="05000000000000000000" pitchFamily="2" charset="2"/>
        <a:buChar char="u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b="1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b="1">
          <a:solidFill>
            <a:srgbClr val="A50021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+mn-ea"/>
          <a:cs typeface="+mn-cs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+mn-ea"/>
          <a:cs typeface="+mn-cs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+mn-ea"/>
          <a:cs typeface="+mn-cs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+mn-ea"/>
          <a:cs typeface="+mn-cs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9.xml"/><Relationship Id="rId4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6.xml"/><Relationship Id="rId4" Type="http://schemas.openxmlformats.org/officeDocument/2006/relationships/slide" Target="slide4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5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slide" Target="slide45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711200" y="71438"/>
            <a:ext cx="7545388" cy="396875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algn="ctr"/>
            <a:r>
              <a:rPr lang="zh-CN" altLang="en-US" sz="2600" dirty="0">
                <a:latin typeface="黑体" pitchFamily="49" charset="-122"/>
                <a:ea typeface="黑体" pitchFamily="49" charset="-122"/>
              </a:rPr>
              <a:t> 第二讲 程序的机器级表示</a:t>
            </a: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704850" y="585788"/>
            <a:ext cx="7764463" cy="5919787"/>
          </a:xfrm>
          <a:ln/>
        </p:spPr>
        <p:txBody>
          <a:bodyPr vert="horz" wrap="square" lIns="91440" tIns="45720" rIns="91440" bIns="45720" anchor="t" anchorCtr="0"/>
          <a:lstStyle/>
          <a:p>
            <a:pPr algn="ctr">
              <a:lnSpc>
                <a:spcPct val="115000"/>
              </a:lnSpc>
              <a:spcBef>
                <a:spcPct val="15000"/>
              </a:spcBef>
              <a:buNone/>
            </a:pPr>
            <a:r>
              <a:rPr lang="zh-CN" altLang="en-US" sz="2400" dirty="0">
                <a:solidFill>
                  <a:srgbClr val="EE3900"/>
                </a:solidFill>
              </a:rPr>
              <a:t>主要内容</a:t>
            </a:r>
            <a:endParaRPr lang="en-US" altLang="zh-CN" sz="2400" dirty="0">
              <a:solidFill>
                <a:srgbClr val="EE3900"/>
              </a:solidFill>
              <a:latin typeface="Arial" panose="020B0604020202090204" pitchFamily="34" charset="0"/>
            </a:endParaRP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指令格式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R-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类型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I-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类型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J-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类型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寄存器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长度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个数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功能分配 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操作数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寄存器操作数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存储器操作数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立即数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文本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位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指令寻址方式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立即数寻址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寄存器寻址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相对寻址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伪直接寻址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偏移寻址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指令类型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算术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逻辑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数据传送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条件分支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无条件转移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汇编语言形式</a:t>
            </a:r>
          </a:p>
          <a:p>
            <a:pPr lvl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操作码的表示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/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寄存器的表示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 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存储器数据表示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机器语言的解码（反汇编）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高级语言、汇编语言、机器语言之间的转换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过程调用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xfrm>
            <a:off x="654050" y="71438"/>
            <a:ext cx="5518150" cy="4254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sz="2800" dirty="0">
                <a:ea typeface="宋体" pitchFamily="2" charset="-122"/>
              </a:rPr>
              <a:t>指令格式</a:t>
            </a:r>
          </a:p>
        </p:txBody>
      </p:sp>
      <p:sp>
        <p:nvSpPr>
          <p:cNvPr id="266245" name="Rectangle 5"/>
          <p:cNvSpPr/>
          <p:nvPr/>
        </p:nvSpPr>
        <p:spPr>
          <a:xfrm>
            <a:off x="261938" y="1068388"/>
            <a:ext cx="8162925" cy="47974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  <a:buChar char="u"/>
            </a:pPr>
            <a:endParaRPr lang="zh-CN" altLang="en-US" sz="2000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有三种指令格式</a:t>
            </a:r>
            <a:endParaRPr lang="en-US" altLang="zh-CN" sz="1800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R-Type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两个操作数和结果都在寄存器的运算指令。如：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sub rd, rs, rt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900" dirty="0">
              <a:latin typeface="Arial" panose="020B0604020202090204" pitchFamily="34" charset="0"/>
              <a:ea typeface="黑体" pitchFamily="49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I-Type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运算指令：一个寄存器、一个立即数。如：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ori  rt, rs, imm16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</a:pP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LOAD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STORE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指令。如：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lw rt, rs, imm16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条件分支指令。如：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beq rs, rt, imm16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</a:pP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J-Type</a:t>
            </a:r>
          </a:p>
          <a:p>
            <a:pPr marL="1143000" lvl="2" indent="-228600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无条件跳转指令。如：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j  target</a:t>
            </a:r>
          </a:p>
        </p:txBody>
      </p:sp>
      <p:grpSp>
        <p:nvGrpSpPr>
          <p:cNvPr id="2" name="Group 80"/>
          <p:cNvGrpSpPr/>
          <p:nvPr/>
        </p:nvGrpSpPr>
        <p:grpSpPr>
          <a:xfrm>
            <a:off x="2854325" y="727075"/>
            <a:ext cx="5962650" cy="1370013"/>
            <a:chOff x="1931" y="458"/>
            <a:chExt cx="3756" cy="863"/>
          </a:xfrm>
        </p:grpSpPr>
        <p:grpSp>
          <p:nvGrpSpPr>
            <p:cNvPr id="61484" name="Group 18"/>
            <p:cNvGrpSpPr/>
            <p:nvPr/>
          </p:nvGrpSpPr>
          <p:grpSpPr>
            <a:xfrm>
              <a:off x="1931" y="708"/>
              <a:ext cx="3756" cy="613"/>
              <a:chOff x="1918" y="672"/>
              <a:chExt cx="3756" cy="613"/>
            </a:xfrm>
          </p:grpSpPr>
          <p:grpSp>
            <p:nvGrpSpPr>
              <p:cNvPr id="61486" name="Group 19"/>
              <p:cNvGrpSpPr/>
              <p:nvPr/>
            </p:nvGrpSpPr>
            <p:grpSpPr>
              <a:xfrm>
                <a:off x="1918" y="672"/>
                <a:ext cx="3756" cy="402"/>
                <a:chOff x="1918" y="672"/>
                <a:chExt cx="3756" cy="402"/>
              </a:xfrm>
            </p:grpSpPr>
            <p:grpSp>
              <p:nvGrpSpPr>
                <p:cNvPr id="61493" name="Group 20"/>
                <p:cNvGrpSpPr/>
                <p:nvPr/>
              </p:nvGrpSpPr>
              <p:grpSpPr>
                <a:xfrm>
                  <a:off x="1979" y="836"/>
                  <a:ext cx="3607" cy="238"/>
                  <a:chOff x="1979" y="836"/>
                  <a:chExt cx="3607" cy="238"/>
                </a:xfrm>
              </p:grpSpPr>
              <p:sp>
                <p:nvSpPr>
                  <p:cNvPr id="61501" name="Rectangle 21"/>
                  <p:cNvSpPr/>
                  <p:nvPr/>
                </p:nvSpPr>
                <p:spPr>
                  <a:xfrm>
                    <a:off x="1983" y="872"/>
                    <a:ext cx="3599" cy="176"/>
                  </a:xfrm>
                  <a:prstGeom prst="rect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90204" pitchFamily="34" charset="0"/>
                    </a:endParaRPr>
                  </a:p>
                </p:txBody>
              </p:sp>
              <p:grpSp>
                <p:nvGrpSpPr>
                  <p:cNvPr id="61502" name="Group 22"/>
                  <p:cNvGrpSpPr/>
                  <p:nvPr/>
                </p:nvGrpSpPr>
                <p:grpSpPr>
                  <a:xfrm>
                    <a:off x="1979" y="836"/>
                    <a:ext cx="3607" cy="238"/>
                    <a:chOff x="1979" y="836"/>
                    <a:chExt cx="3607" cy="238"/>
                  </a:xfrm>
                </p:grpSpPr>
                <p:grpSp>
                  <p:nvGrpSpPr>
                    <p:cNvPr id="61503" name="Group 23"/>
                    <p:cNvGrpSpPr/>
                    <p:nvPr/>
                  </p:nvGrpSpPr>
                  <p:grpSpPr>
                    <a:xfrm>
                      <a:off x="1979" y="836"/>
                      <a:ext cx="624" cy="229"/>
                      <a:chOff x="1979" y="836"/>
                      <a:chExt cx="624" cy="229"/>
                    </a:xfrm>
                  </p:grpSpPr>
                  <p:sp>
                    <p:nvSpPr>
                      <p:cNvPr id="61519" name="Rectangle 24"/>
                      <p:cNvSpPr/>
                      <p:nvPr/>
                    </p:nvSpPr>
                    <p:spPr>
                      <a:xfrm>
                        <a:off x="1979" y="868"/>
                        <a:ext cx="624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20" name="Rectangle 25"/>
                      <p:cNvSpPr/>
                      <p:nvPr/>
                    </p:nvSpPr>
                    <p:spPr>
                      <a:xfrm>
                        <a:off x="2161" y="836"/>
                        <a:ext cx="26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op</a:t>
                        </a:r>
                      </a:p>
                    </p:txBody>
                  </p:sp>
                </p:grpSp>
                <p:grpSp>
                  <p:nvGrpSpPr>
                    <p:cNvPr id="61504" name="Group 26"/>
                    <p:cNvGrpSpPr/>
                    <p:nvPr/>
                  </p:nvGrpSpPr>
                  <p:grpSpPr>
                    <a:xfrm>
                      <a:off x="2611" y="836"/>
                      <a:ext cx="580" cy="229"/>
                      <a:chOff x="2611" y="836"/>
                      <a:chExt cx="580" cy="229"/>
                    </a:xfrm>
                  </p:grpSpPr>
                  <p:sp>
                    <p:nvSpPr>
                      <p:cNvPr id="61517" name="Rectangle 27"/>
                      <p:cNvSpPr/>
                      <p:nvPr/>
                    </p:nvSpPr>
                    <p:spPr>
                      <a:xfrm>
                        <a:off x="2611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18" name="Rectangle 28"/>
                      <p:cNvSpPr/>
                      <p:nvPr/>
                    </p:nvSpPr>
                    <p:spPr>
                      <a:xfrm>
                        <a:off x="2776" y="836"/>
                        <a:ext cx="234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rs</a:t>
                        </a:r>
                      </a:p>
                    </p:txBody>
                  </p:sp>
                </p:grpSp>
                <p:grpSp>
                  <p:nvGrpSpPr>
                    <p:cNvPr id="61505" name="Group 29"/>
                    <p:cNvGrpSpPr/>
                    <p:nvPr/>
                  </p:nvGrpSpPr>
                  <p:grpSpPr>
                    <a:xfrm>
                      <a:off x="3199" y="836"/>
                      <a:ext cx="579" cy="229"/>
                      <a:chOff x="3199" y="836"/>
                      <a:chExt cx="579" cy="229"/>
                    </a:xfrm>
                  </p:grpSpPr>
                  <p:sp>
                    <p:nvSpPr>
                      <p:cNvPr id="61515" name="Rectangle 30"/>
                      <p:cNvSpPr/>
                      <p:nvPr/>
                    </p:nvSpPr>
                    <p:spPr>
                      <a:xfrm>
                        <a:off x="3199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16" name="Rectangle 31"/>
                      <p:cNvSpPr/>
                      <p:nvPr/>
                    </p:nvSpPr>
                    <p:spPr>
                      <a:xfrm>
                        <a:off x="3363" y="836"/>
                        <a:ext cx="22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rt</a:t>
                        </a:r>
                      </a:p>
                    </p:txBody>
                  </p:sp>
                </p:grpSp>
                <p:grpSp>
                  <p:nvGrpSpPr>
                    <p:cNvPr id="61506" name="Group 32"/>
                    <p:cNvGrpSpPr/>
                    <p:nvPr/>
                  </p:nvGrpSpPr>
                  <p:grpSpPr>
                    <a:xfrm>
                      <a:off x="3786" y="836"/>
                      <a:ext cx="579" cy="229"/>
                      <a:chOff x="3786" y="836"/>
                      <a:chExt cx="579" cy="229"/>
                    </a:xfrm>
                  </p:grpSpPr>
                  <p:sp>
                    <p:nvSpPr>
                      <p:cNvPr id="61513" name="Rectangle 33"/>
                      <p:cNvSpPr/>
                      <p:nvPr/>
                    </p:nvSpPr>
                    <p:spPr>
                      <a:xfrm>
                        <a:off x="3786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14" name="Rectangle 34"/>
                      <p:cNvSpPr/>
                      <p:nvPr/>
                    </p:nvSpPr>
                    <p:spPr>
                      <a:xfrm>
                        <a:off x="3951" y="836"/>
                        <a:ext cx="258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rd</a:t>
                        </a:r>
                      </a:p>
                    </p:txBody>
                  </p:sp>
                </p:grpSp>
                <p:grpSp>
                  <p:nvGrpSpPr>
                    <p:cNvPr id="61507" name="Group 35"/>
                    <p:cNvGrpSpPr/>
                    <p:nvPr/>
                  </p:nvGrpSpPr>
                  <p:grpSpPr>
                    <a:xfrm>
                      <a:off x="4373" y="845"/>
                      <a:ext cx="580" cy="229"/>
                      <a:chOff x="4373" y="845"/>
                      <a:chExt cx="580" cy="229"/>
                    </a:xfrm>
                  </p:grpSpPr>
                  <p:sp>
                    <p:nvSpPr>
                      <p:cNvPr id="61511" name="Rectangle 36"/>
                      <p:cNvSpPr/>
                      <p:nvPr/>
                    </p:nvSpPr>
                    <p:spPr>
                      <a:xfrm>
                        <a:off x="4373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12" name="Rectangle 37"/>
                      <p:cNvSpPr/>
                      <p:nvPr/>
                    </p:nvSpPr>
                    <p:spPr>
                      <a:xfrm>
                        <a:off x="4448" y="845"/>
                        <a:ext cx="490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shamt</a:t>
                        </a:r>
                      </a:p>
                    </p:txBody>
                  </p:sp>
                </p:grpSp>
                <p:grpSp>
                  <p:nvGrpSpPr>
                    <p:cNvPr id="61508" name="Group 38"/>
                    <p:cNvGrpSpPr/>
                    <p:nvPr/>
                  </p:nvGrpSpPr>
                  <p:grpSpPr>
                    <a:xfrm>
                      <a:off x="4961" y="845"/>
                      <a:ext cx="625" cy="229"/>
                      <a:chOff x="4961" y="845"/>
                      <a:chExt cx="625" cy="229"/>
                    </a:xfrm>
                  </p:grpSpPr>
                  <p:sp>
                    <p:nvSpPr>
                      <p:cNvPr id="61509" name="Rectangle 39"/>
                      <p:cNvSpPr/>
                      <p:nvPr/>
                    </p:nvSpPr>
                    <p:spPr>
                      <a:xfrm>
                        <a:off x="4961" y="868"/>
                        <a:ext cx="625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1510" name="Rectangle 40"/>
                      <p:cNvSpPr/>
                      <p:nvPr/>
                    </p:nvSpPr>
                    <p:spPr>
                      <a:xfrm>
                        <a:off x="5143" y="845"/>
                        <a:ext cx="38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func</a:t>
                        </a:r>
                      </a:p>
                    </p:txBody>
                  </p:sp>
                </p:grpSp>
              </p:grpSp>
            </p:grpSp>
            <p:sp>
              <p:nvSpPr>
                <p:cNvPr id="61494" name="Rectangle 41"/>
                <p:cNvSpPr/>
                <p:nvPr/>
              </p:nvSpPr>
              <p:spPr>
                <a:xfrm>
                  <a:off x="5488" y="672"/>
                  <a:ext cx="18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61495" name="Rectangle 42"/>
                <p:cNvSpPr/>
                <p:nvPr/>
              </p:nvSpPr>
              <p:spPr>
                <a:xfrm>
                  <a:off x="4810" y="672"/>
                  <a:ext cx="18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1496" name="Rectangle 43"/>
                <p:cNvSpPr/>
                <p:nvPr/>
              </p:nvSpPr>
              <p:spPr>
                <a:xfrm>
                  <a:off x="4177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61497" name="Rectangle 44"/>
                <p:cNvSpPr/>
                <p:nvPr/>
              </p:nvSpPr>
              <p:spPr>
                <a:xfrm>
                  <a:off x="3590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16</a:t>
                  </a:r>
                </a:p>
              </p:txBody>
            </p:sp>
            <p:sp>
              <p:nvSpPr>
                <p:cNvPr id="61498" name="Rectangle 45"/>
                <p:cNvSpPr/>
                <p:nvPr/>
              </p:nvSpPr>
              <p:spPr>
                <a:xfrm>
                  <a:off x="3002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21</a:t>
                  </a:r>
                </a:p>
              </p:txBody>
            </p:sp>
            <p:sp>
              <p:nvSpPr>
                <p:cNvPr id="61499" name="Rectangle 46"/>
                <p:cNvSpPr/>
                <p:nvPr/>
              </p:nvSpPr>
              <p:spPr>
                <a:xfrm>
                  <a:off x="2414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26</a:t>
                  </a:r>
                </a:p>
              </p:txBody>
            </p:sp>
            <p:sp>
              <p:nvSpPr>
                <p:cNvPr id="61500" name="Rectangle 47"/>
                <p:cNvSpPr/>
                <p:nvPr/>
              </p:nvSpPr>
              <p:spPr>
                <a:xfrm>
                  <a:off x="1918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31</a:t>
                  </a:r>
                </a:p>
              </p:txBody>
            </p:sp>
          </p:grpSp>
          <p:sp>
            <p:nvSpPr>
              <p:cNvPr id="61487" name="Rectangle 48"/>
              <p:cNvSpPr/>
              <p:nvPr/>
            </p:nvSpPr>
            <p:spPr>
              <a:xfrm>
                <a:off x="2143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88" name="Rectangle 49"/>
              <p:cNvSpPr/>
              <p:nvPr/>
            </p:nvSpPr>
            <p:spPr>
              <a:xfrm>
                <a:off x="5126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89" name="Rectangle 50"/>
              <p:cNvSpPr/>
              <p:nvPr/>
            </p:nvSpPr>
            <p:spPr>
              <a:xfrm>
                <a:off x="4493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90" name="Rectangle 51"/>
              <p:cNvSpPr/>
              <p:nvPr/>
            </p:nvSpPr>
            <p:spPr>
              <a:xfrm>
                <a:off x="3906" y="1056"/>
                <a:ext cx="442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91" name="Rectangle 52"/>
              <p:cNvSpPr/>
              <p:nvPr/>
            </p:nvSpPr>
            <p:spPr>
              <a:xfrm>
                <a:off x="3318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92" name="Rectangle 53"/>
              <p:cNvSpPr/>
              <p:nvPr/>
            </p:nvSpPr>
            <p:spPr>
              <a:xfrm>
                <a:off x="2731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1485" name="Text Box 77"/>
            <p:cNvSpPr txBox="1"/>
            <p:nvPr/>
          </p:nvSpPr>
          <p:spPr>
            <a:xfrm>
              <a:off x="3876" y="458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R-Type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指令</a:t>
              </a:r>
            </a:p>
          </p:txBody>
        </p:sp>
      </p:grpSp>
      <p:grpSp>
        <p:nvGrpSpPr>
          <p:cNvPr id="13" name="Group 81"/>
          <p:cNvGrpSpPr/>
          <p:nvPr/>
        </p:nvGrpSpPr>
        <p:grpSpPr>
          <a:xfrm>
            <a:off x="3013075" y="3832225"/>
            <a:ext cx="5962650" cy="1295400"/>
            <a:chOff x="1889" y="2514"/>
            <a:chExt cx="3756" cy="816"/>
          </a:xfrm>
        </p:grpSpPr>
        <p:grpSp>
          <p:nvGrpSpPr>
            <p:cNvPr id="61461" name="Group 54"/>
            <p:cNvGrpSpPr/>
            <p:nvPr/>
          </p:nvGrpSpPr>
          <p:grpSpPr>
            <a:xfrm>
              <a:off x="1889" y="2717"/>
              <a:ext cx="3756" cy="613"/>
              <a:chOff x="1918" y="1392"/>
              <a:chExt cx="3756" cy="613"/>
            </a:xfrm>
          </p:grpSpPr>
          <p:sp>
            <p:nvSpPr>
              <p:cNvPr id="61463" name="Rectangle 55"/>
              <p:cNvSpPr/>
              <p:nvPr/>
            </p:nvSpPr>
            <p:spPr>
              <a:xfrm>
                <a:off x="1983" y="1592"/>
                <a:ext cx="3599" cy="17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grpSp>
            <p:nvGrpSpPr>
              <p:cNvPr id="61464" name="Group 56"/>
              <p:cNvGrpSpPr/>
              <p:nvPr/>
            </p:nvGrpSpPr>
            <p:grpSpPr>
              <a:xfrm>
                <a:off x="1979" y="1556"/>
                <a:ext cx="624" cy="229"/>
                <a:chOff x="1979" y="1556"/>
                <a:chExt cx="624" cy="229"/>
              </a:xfrm>
            </p:grpSpPr>
            <p:sp>
              <p:nvSpPr>
                <p:cNvPr id="61482" name="Rectangle 57"/>
                <p:cNvSpPr/>
                <p:nvPr/>
              </p:nvSpPr>
              <p:spPr>
                <a:xfrm>
                  <a:off x="1979" y="1588"/>
                  <a:ext cx="624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1483" name="Rectangle 58"/>
                <p:cNvSpPr/>
                <p:nvPr/>
              </p:nvSpPr>
              <p:spPr>
                <a:xfrm>
                  <a:off x="2161" y="1556"/>
                  <a:ext cx="26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op</a:t>
                  </a:r>
                </a:p>
              </p:txBody>
            </p:sp>
          </p:grpSp>
          <p:grpSp>
            <p:nvGrpSpPr>
              <p:cNvPr id="61465" name="Group 59"/>
              <p:cNvGrpSpPr/>
              <p:nvPr/>
            </p:nvGrpSpPr>
            <p:grpSpPr>
              <a:xfrm>
                <a:off x="2611" y="1565"/>
                <a:ext cx="580" cy="229"/>
                <a:chOff x="2611" y="1565"/>
                <a:chExt cx="580" cy="229"/>
              </a:xfrm>
            </p:grpSpPr>
            <p:sp>
              <p:nvSpPr>
                <p:cNvPr id="61480" name="Rectangle 60"/>
                <p:cNvSpPr/>
                <p:nvPr/>
              </p:nvSpPr>
              <p:spPr>
                <a:xfrm>
                  <a:off x="2611" y="1588"/>
                  <a:ext cx="580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1481" name="Rectangle 61"/>
                <p:cNvSpPr/>
                <p:nvPr/>
              </p:nvSpPr>
              <p:spPr>
                <a:xfrm>
                  <a:off x="2776" y="1565"/>
                  <a:ext cx="234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rs</a:t>
                  </a:r>
                </a:p>
              </p:txBody>
            </p:sp>
          </p:grpSp>
          <p:grpSp>
            <p:nvGrpSpPr>
              <p:cNvPr id="61466" name="Group 62"/>
              <p:cNvGrpSpPr/>
              <p:nvPr/>
            </p:nvGrpSpPr>
            <p:grpSpPr>
              <a:xfrm>
                <a:off x="3199" y="1565"/>
                <a:ext cx="579" cy="229"/>
                <a:chOff x="3199" y="1565"/>
                <a:chExt cx="579" cy="229"/>
              </a:xfrm>
            </p:grpSpPr>
            <p:sp>
              <p:nvSpPr>
                <p:cNvPr id="61478" name="Rectangle 63"/>
                <p:cNvSpPr/>
                <p:nvPr/>
              </p:nvSpPr>
              <p:spPr>
                <a:xfrm>
                  <a:off x="3199" y="1588"/>
                  <a:ext cx="579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1479" name="Rectangle 64"/>
                <p:cNvSpPr/>
                <p:nvPr/>
              </p:nvSpPr>
              <p:spPr>
                <a:xfrm>
                  <a:off x="3363" y="1565"/>
                  <a:ext cx="22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rt</a:t>
                  </a:r>
                </a:p>
              </p:txBody>
            </p:sp>
          </p:grpSp>
          <p:sp>
            <p:nvSpPr>
              <p:cNvPr id="61467" name="Rectangle 65"/>
              <p:cNvSpPr/>
              <p:nvPr/>
            </p:nvSpPr>
            <p:spPr>
              <a:xfrm>
                <a:off x="3786" y="1588"/>
                <a:ext cx="1800" cy="18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1468" name="Rectangle 66"/>
              <p:cNvSpPr/>
              <p:nvPr/>
            </p:nvSpPr>
            <p:spPr>
              <a:xfrm>
                <a:off x="4289" y="1556"/>
                <a:ext cx="762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immediate</a:t>
                </a:r>
              </a:p>
            </p:txBody>
          </p:sp>
          <p:sp>
            <p:nvSpPr>
              <p:cNvPr id="61469" name="Rectangle 67"/>
              <p:cNvSpPr/>
              <p:nvPr/>
            </p:nvSpPr>
            <p:spPr>
              <a:xfrm>
                <a:off x="5488" y="1392"/>
                <a:ext cx="18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1470" name="Rectangle 68"/>
              <p:cNvSpPr/>
              <p:nvPr/>
            </p:nvSpPr>
            <p:spPr>
              <a:xfrm>
                <a:off x="3590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61471" name="Rectangle 69"/>
              <p:cNvSpPr/>
              <p:nvPr/>
            </p:nvSpPr>
            <p:spPr>
              <a:xfrm>
                <a:off x="3002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21</a:t>
                </a:r>
              </a:p>
            </p:txBody>
          </p:sp>
          <p:sp>
            <p:nvSpPr>
              <p:cNvPr id="61472" name="Rectangle 70"/>
              <p:cNvSpPr/>
              <p:nvPr/>
            </p:nvSpPr>
            <p:spPr>
              <a:xfrm>
                <a:off x="2414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61473" name="Rectangle 71"/>
              <p:cNvSpPr/>
              <p:nvPr/>
            </p:nvSpPr>
            <p:spPr>
              <a:xfrm>
                <a:off x="1918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61474" name="Rectangle 72"/>
              <p:cNvSpPr/>
              <p:nvPr/>
            </p:nvSpPr>
            <p:spPr>
              <a:xfrm>
                <a:off x="2143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75" name="Rectangle 73"/>
              <p:cNvSpPr/>
              <p:nvPr/>
            </p:nvSpPr>
            <p:spPr>
              <a:xfrm>
                <a:off x="4448" y="1776"/>
                <a:ext cx="51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76" name="Rectangle 74"/>
              <p:cNvSpPr/>
              <p:nvPr/>
            </p:nvSpPr>
            <p:spPr>
              <a:xfrm>
                <a:off x="3318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77" name="Rectangle 75"/>
              <p:cNvSpPr/>
              <p:nvPr/>
            </p:nvSpPr>
            <p:spPr>
              <a:xfrm>
                <a:off x="2731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1462" name="Text Box 78"/>
            <p:cNvSpPr txBox="1"/>
            <p:nvPr/>
          </p:nvSpPr>
          <p:spPr>
            <a:xfrm>
              <a:off x="3912" y="2514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I-Type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指令</a:t>
              </a:r>
            </a:p>
          </p:txBody>
        </p:sp>
      </p:grpSp>
      <p:grpSp>
        <p:nvGrpSpPr>
          <p:cNvPr id="18" name="Group 82"/>
          <p:cNvGrpSpPr/>
          <p:nvPr/>
        </p:nvGrpSpPr>
        <p:grpSpPr>
          <a:xfrm>
            <a:off x="3008313" y="5629275"/>
            <a:ext cx="5962650" cy="1044575"/>
            <a:chOff x="1886" y="3544"/>
            <a:chExt cx="3756" cy="658"/>
          </a:xfrm>
        </p:grpSpPr>
        <p:grpSp>
          <p:nvGrpSpPr>
            <p:cNvPr id="61448" name="Group 6"/>
            <p:cNvGrpSpPr/>
            <p:nvPr/>
          </p:nvGrpSpPr>
          <p:grpSpPr>
            <a:xfrm>
              <a:off x="1886" y="3589"/>
              <a:ext cx="3756" cy="613"/>
              <a:chOff x="1918" y="3360"/>
              <a:chExt cx="3756" cy="613"/>
            </a:xfrm>
          </p:grpSpPr>
          <p:sp>
            <p:nvSpPr>
              <p:cNvPr id="61450" name="Rectangle 7"/>
              <p:cNvSpPr/>
              <p:nvPr/>
            </p:nvSpPr>
            <p:spPr>
              <a:xfrm>
                <a:off x="1983" y="3560"/>
                <a:ext cx="3599" cy="17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grpSp>
            <p:nvGrpSpPr>
              <p:cNvPr id="61451" name="Group 8"/>
              <p:cNvGrpSpPr/>
              <p:nvPr/>
            </p:nvGrpSpPr>
            <p:grpSpPr>
              <a:xfrm>
                <a:off x="1979" y="3524"/>
                <a:ext cx="624" cy="229"/>
                <a:chOff x="1979" y="3524"/>
                <a:chExt cx="624" cy="229"/>
              </a:xfrm>
            </p:grpSpPr>
            <p:sp>
              <p:nvSpPr>
                <p:cNvPr id="61459" name="Rectangle 9"/>
                <p:cNvSpPr/>
                <p:nvPr/>
              </p:nvSpPr>
              <p:spPr>
                <a:xfrm>
                  <a:off x="1979" y="3556"/>
                  <a:ext cx="624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1460" name="Rectangle 10"/>
                <p:cNvSpPr/>
                <p:nvPr/>
              </p:nvSpPr>
              <p:spPr>
                <a:xfrm>
                  <a:off x="2161" y="3524"/>
                  <a:ext cx="26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op</a:t>
                  </a:r>
                </a:p>
              </p:txBody>
            </p:sp>
          </p:grpSp>
          <p:sp>
            <p:nvSpPr>
              <p:cNvPr id="61452" name="Rectangle 11"/>
              <p:cNvSpPr/>
              <p:nvPr/>
            </p:nvSpPr>
            <p:spPr>
              <a:xfrm>
                <a:off x="2611" y="3556"/>
                <a:ext cx="2975" cy="18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1453" name="Rectangle 12"/>
              <p:cNvSpPr/>
              <p:nvPr/>
            </p:nvSpPr>
            <p:spPr>
              <a:xfrm>
                <a:off x="3554" y="3533"/>
                <a:ext cx="990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target address</a:t>
                </a:r>
              </a:p>
            </p:txBody>
          </p:sp>
          <p:sp>
            <p:nvSpPr>
              <p:cNvPr id="61454" name="Rectangle 13"/>
              <p:cNvSpPr/>
              <p:nvPr/>
            </p:nvSpPr>
            <p:spPr>
              <a:xfrm>
                <a:off x="5488" y="3360"/>
                <a:ext cx="18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1455" name="Rectangle 14"/>
              <p:cNvSpPr/>
              <p:nvPr/>
            </p:nvSpPr>
            <p:spPr>
              <a:xfrm>
                <a:off x="2414" y="3360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61456" name="Rectangle 15"/>
              <p:cNvSpPr/>
              <p:nvPr/>
            </p:nvSpPr>
            <p:spPr>
              <a:xfrm>
                <a:off x="1918" y="3360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61457" name="Rectangle 16"/>
              <p:cNvSpPr/>
              <p:nvPr/>
            </p:nvSpPr>
            <p:spPr>
              <a:xfrm>
                <a:off x="2143" y="3744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1458" name="Rectangle 17"/>
              <p:cNvSpPr/>
              <p:nvPr/>
            </p:nvSpPr>
            <p:spPr>
              <a:xfrm>
                <a:off x="3816" y="3744"/>
                <a:ext cx="514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1449" name="Text Box 79"/>
            <p:cNvSpPr txBox="1"/>
            <p:nvPr/>
          </p:nvSpPr>
          <p:spPr>
            <a:xfrm>
              <a:off x="3838" y="3544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J-Type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指令</a:t>
              </a:r>
            </a:p>
          </p:txBody>
        </p:sp>
      </p:grpSp>
      <p:sp>
        <p:nvSpPr>
          <p:cNvPr id="61447" name="Rectangle 83"/>
          <p:cNvSpPr/>
          <p:nvPr/>
        </p:nvSpPr>
        <p:spPr>
          <a:xfrm>
            <a:off x="300038" y="655638"/>
            <a:ext cx="6148387" cy="69215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所有指令都是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32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位宽，须按字地址对齐</a:t>
            </a:r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字地址为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的倍数！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6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6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6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295650" cy="801688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sz="2800" dirty="0">
                <a:ea typeface="宋体" pitchFamily="2" charset="-122"/>
              </a:rPr>
              <a:t>指令字段含义</a:t>
            </a:r>
          </a:p>
        </p:txBody>
      </p:sp>
      <p:sp>
        <p:nvSpPr>
          <p:cNvPr id="267267" name="Rectangle 3"/>
          <p:cNvSpPr>
            <a:spLocks noGrp="1"/>
          </p:cNvSpPr>
          <p:nvPr>
            <p:ph idx="1"/>
          </p:nvPr>
        </p:nvSpPr>
        <p:spPr>
          <a:xfrm>
            <a:off x="312738" y="1003300"/>
            <a:ext cx="8497887" cy="52800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OP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：操作码</a:t>
            </a:r>
          </a:p>
          <a:p>
            <a:pPr>
              <a:lnSpc>
                <a:spcPct val="100000"/>
              </a:lnSpc>
              <a:spcBef>
                <a:spcPct val="6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rs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：第一个源操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    作数寄存器</a:t>
            </a:r>
          </a:p>
          <a:p>
            <a:pPr>
              <a:lnSpc>
                <a:spcPct val="100000"/>
              </a:lnSpc>
              <a:spcBef>
                <a:spcPct val="6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rt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：第二个源操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    作数寄存器</a:t>
            </a:r>
          </a:p>
          <a:p>
            <a:pPr>
              <a:lnSpc>
                <a:spcPct val="100000"/>
              </a:lnSpc>
              <a:spcBef>
                <a:spcPct val="6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rd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：结果寄存器</a:t>
            </a:r>
          </a:p>
          <a:p>
            <a:pPr>
              <a:lnSpc>
                <a:spcPct val="100000"/>
              </a:lnSpc>
              <a:spcBef>
                <a:spcPct val="6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shamt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：移位指令</a:t>
            </a: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		的位移量</a:t>
            </a:r>
          </a:p>
          <a:p>
            <a:pPr>
              <a:lnSpc>
                <a:spcPct val="100000"/>
              </a:lnSpc>
              <a:spcBef>
                <a:spcPct val="4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func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R-Type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指令的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OP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字段是特定的“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000000”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，具体操作由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func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字段给定。例如：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func=“100000”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时，表示“加法”运算。</a:t>
            </a:r>
          </a:p>
          <a:p>
            <a:pPr>
              <a:lnSpc>
                <a:spcPct val="100000"/>
              </a:lnSpc>
              <a:spcBef>
                <a:spcPct val="40000"/>
              </a:spcBef>
              <a:buNone/>
            </a:pPr>
            <a:endParaRPr lang="zh-CN" altLang="en-US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00000"/>
              </a:lnSpc>
              <a:spcBef>
                <a:spcPct val="45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immediate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：立即数或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load/store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指令和分支指令的偏移地址</a:t>
            </a:r>
          </a:p>
          <a:p>
            <a:pPr>
              <a:lnSpc>
                <a:spcPct val="100000"/>
              </a:lnSpc>
              <a:spcBef>
                <a:spcPct val="45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target address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：无条件转移地址的低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26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位。将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PC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高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位拼上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26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位直接地址，最后添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个“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0”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就是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32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位目标地址。为何最后两位要添“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0”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？</a:t>
            </a: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endParaRPr lang="en-US" altLang="zh-CN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67344" name="Rectangle 80"/>
          <p:cNvSpPr/>
          <p:nvPr/>
        </p:nvSpPr>
        <p:spPr>
          <a:xfrm>
            <a:off x="282575" y="4676775"/>
            <a:ext cx="8578850" cy="3810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SzPct val="100000"/>
              <a:buFont typeface="Monotype Sorts" pitchFamily="2" charset="2"/>
            </a:pPr>
            <a:r>
              <a:rPr lang="zh-CN" altLang="en-US" sz="1800" dirty="0">
                <a:solidFill>
                  <a:srgbClr val="3C7845"/>
                </a:solidFill>
                <a:latin typeface="Arial" panose="020B0604020202090204" pitchFamily="34" charset="0"/>
                <a:ea typeface="黑体" pitchFamily="49" charset="-122"/>
              </a:rPr>
              <a:t>操作码的不同编码定义不同的含义，操作码相同时，再由功能码定义不同的含义</a:t>
            </a:r>
            <a:r>
              <a:rPr lang="en-US" altLang="zh-CN" sz="1800" dirty="0">
                <a:solidFill>
                  <a:srgbClr val="3C7845"/>
                </a:solidFill>
                <a:latin typeface="Arial" panose="020B0604020202090204" pitchFamily="34" charset="0"/>
                <a:ea typeface="黑体" pitchFamily="49" charset="-122"/>
              </a:rPr>
              <a:t>!</a:t>
            </a:r>
          </a:p>
        </p:txBody>
      </p:sp>
      <p:sp>
        <p:nvSpPr>
          <p:cNvPr id="267345" name="Text Box 81"/>
          <p:cNvSpPr txBox="1"/>
          <p:nvPr/>
        </p:nvSpPr>
        <p:spPr>
          <a:xfrm>
            <a:off x="433388" y="6221413"/>
            <a:ext cx="7627937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指令按字地址对齐，所以每条指令的地址都是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的倍数（最后两位为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）。</a:t>
            </a:r>
          </a:p>
        </p:txBody>
      </p:sp>
      <p:grpSp>
        <p:nvGrpSpPr>
          <p:cNvPr id="2" name="Group 82"/>
          <p:cNvGrpSpPr/>
          <p:nvPr/>
        </p:nvGrpSpPr>
        <p:grpSpPr>
          <a:xfrm>
            <a:off x="2809875" y="608013"/>
            <a:ext cx="5962650" cy="1266825"/>
            <a:chOff x="1931" y="523"/>
            <a:chExt cx="3756" cy="798"/>
          </a:xfrm>
        </p:grpSpPr>
        <p:grpSp>
          <p:nvGrpSpPr>
            <p:cNvPr id="62509" name="Group 83"/>
            <p:cNvGrpSpPr/>
            <p:nvPr/>
          </p:nvGrpSpPr>
          <p:grpSpPr>
            <a:xfrm>
              <a:off x="1931" y="708"/>
              <a:ext cx="3756" cy="613"/>
              <a:chOff x="1918" y="672"/>
              <a:chExt cx="3756" cy="613"/>
            </a:xfrm>
          </p:grpSpPr>
          <p:grpSp>
            <p:nvGrpSpPr>
              <p:cNvPr id="62511" name="Group 84"/>
              <p:cNvGrpSpPr/>
              <p:nvPr/>
            </p:nvGrpSpPr>
            <p:grpSpPr>
              <a:xfrm>
                <a:off x="1918" y="672"/>
                <a:ext cx="3756" cy="393"/>
                <a:chOff x="1918" y="672"/>
                <a:chExt cx="3756" cy="393"/>
              </a:xfrm>
            </p:grpSpPr>
            <p:grpSp>
              <p:nvGrpSpPr>
                <p:cNvPr id="62518" name="Group 85"/>
                <p:cNvGrpSpPr/>
                <p:nvPr/>
              </p:nvGrpSpPr>
              <p:grpSpPr>
                <a:xfrm>
                  <a:off x="1979" y="836"/>
                  <a:ext cx="3607" cy="229"/>
                  <a:chOff x="1979" y="836"/>
                  <a:chExt cx="3607" cy="229"/>
                </a:xfrm>
              </p:grpSpPr>
              <p:sp>
                <p:nvSpPr>
                  <p:cNvPr id="62526" name="Rectangle 86"/>
                  <p:cNvSpPr/>
                  <p:nvPr/>
                </p:nvSpPr>
                <p:spPr>
                  <a:xfrm>
                    <a:off x="1983" y="872"/>
                    <a:ext cx="3599" cy="176"/>
                  </a:xfrm>
                  <a:prstGeom prst="rect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90204" pitchFamily="34" charset="0"/>
                    </a:endParaRPr>
                  </a:p>
                </p:txBody>
              </p:sp>
              <p:grpSp>
                <p:nvGrpSpPr>
                  <p:cNvPr id="62527" name="Group 87"/>
                  <p:cNvGrpSpPr/>
                  <p:nvPr/>
                </p:nvGrpSpPr>
                <p:grpSpPr>
                  <a:xfrm>
                    <a:off x="1979" y="836"/>
                    <a:ext cx="3607" cy="229"/>
                    <a:chOff x="1979" y="836"/>
                    <a:chExt cx="3607" cy="229"/>
                  </a:xfrm>
                </p:grpSpPr>
                <p:grpSp>
                  <p:nvGrpSpPr>
                    <p:cNvPr id="62528" name="Group 88"/>
                    <p:cNvGrpSpPr/>
                    <p:nvPr/>
                  </p:nvGrpSpPr>
                  <p:grpSpPr>
                    <a:xfrm>
                      <a:off x="1979" y="836"/>
                      <a:ext cx="624" cy="229"/>
                      <a:chOff x="1979" y="836"/>
                      <a:chExt cx="624" cy="229"/>
                    </a:xfrm>
                  </p:grpSpPr>
                  <p:sp>
                    <p:nvSpPr>
                      <p:cNvPr id="62544" name="Rectangle 89"/>
                      <p:cNvSpPr/>
                      <p:nvPr/>
                    </p:nvSpPr>
                    <p:spPr>
                      <a:xfrm>
                        <a:off x="1979" y="868"/>
                        <a:ext cx="624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45" name="Rectangle 90"/>
                      <p:cNvSpPr/>
                      <p:nvPr/>
                    </p:nvSpPr>
                    <p:spPr>
                      <a:xfrm>
                        <a:off x="2189" y="836"/>
                        <a:ext cx="26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op</a:t>
                        </a:r>
                      </a:p>
                    </p:txBody>
                  </p:sp>
                </p:grpSp>
                <p:grpSp>
                  <p:nvGrpSpPr>
                    <p:cNvPr id="62529" name="Group 91"/>
                    <p:cNvGrpSpPr/>
                    <p:nvPr/>
                  </p:nvGrpSpPr>
                  <p:grpSpPr>
                    <a:xfrm>
                      <a:off x="2611" y="836"/>
                      <a:ext cx="580" cy="229"/>
                      <a:chOff x="2611" y="836"/>
                      <a:chExt cx="580" cy="229"/>
                    </a:xfrm>
                  </p:grpSpPr>
                  <p:sp>
                    <p:nvSpPr>
                      <p:cNvPr id="62542" name="Rectangle 92"/>
                      <p:cNvSpPr/>
                      <p:nvPr/>
                    </p:nvSpPr>
                    <p:spPr>
                      <a:xfrm>
                        <a:off x="2611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43" name="Rectangle 93"/>
                      <p:cNvSpPr/>
                      <p:nvPr/>
                    </p:nvSpPr>
                    <p:spPr>
                      <a:xfrm>
                        <a:off x="2804" y="836"/>
                        <a:ext cx="234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rs</a:t>
                        </a:r>
                      </a:p>
                    </p:txBody>
                  </p:sp>
                </p:grpSp>
                <p:grpSp>
                  <p:nvGrpSpPr>
                    <p:cNvPr id="62530" name="Group 94"/>
                    <p:cNvGrpSpPr/>
                    <p:nvPr/>
                  </p:nvGrpSpPr>
                  <p:grpSpPr>
                    <a:xfrm>
                      <a:off x="3199" y="836"/>
                      <a:ext cx="579" cy="229"/>
                      <a:chOff x="3199" y="836"/>
                      <a:chExt cx="579" cy="229"/>
                    </a:xfrm>
                  </p:grpSpPr>
                  <p:sp>
                    <p:nvSpPr>
                      <p:cNvPr id="62540" name="Rectangle 95"/>
                      <p:cNvSpPr/>
                      <p:nvPr/>
                    </p:nvSpPr>
                    <p:spPr>
                      <a:xfrm>
                        <a:off x="3199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41" name="Rectangle 96"/>
                      <p:cNvSpPr/>
                      <p:nvPr/>
                    </p:nvSpPr>
                    <p:spPr>
                      <a:xfrm>
                        <a:off x="3391" y="836"/>
                        <a:ext cx="22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rt</a:t>
                        </a:r>
                      </a:p>
                    </p:txBody>
                  </p:sp>
                </p:grpSp>
                <p:grpSp>
                  <p:nvGrpSpPr>
                    <p:cNvPr id="62531" name="Group 97"/>
                    <p:cNvGrpSpPr/>
                    <p:nvPr/>
                  </p:nvGrpSpPr>
                  <p:grpSpPr>
                    <a:xfrm>
                      <a:off x="3786" y="836"/>
                      <a:ext cx="579" cy="229"/>
                      <a:chOff x="3786" y="836"/>
                      <a:chExt cx="579" cy="229"/>
                    </a:xfrm>
                  </p:grpSpPr>
                  <p:sp>
                    <p:nvSpPr>
                      <p:cNvPr id="62538" name="Rectangle 98"/>
                      <p:cNvSpPr/>
                      <p:nvPr/>
                    </p:nvSpPr>
                    <p:spPr>
                      <a:xfrm>
                        <a:off x="3786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39" name="Rectangle 99"/>
                      <p:cNvSpPr/>
                      <p:nvPr/>
                    </p:nvSpPr>
                    <p:spPr>
                      <a:xfrm>
                        <a:off x="3979" y="836"/>
                        <a:ext cx="258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rd</a:t>
                        </a:r>
                      </a:p>
                    </p:txBody>
                  </p:sp>
                </p:grpSp>
                <p:grpSp>
                  <p:nvGrpSpPr>
                    <p:cNvPr id="62532" name="Group 100"/>
                    <p:cNvGrpSpPr/>
                    <p:nvPr/>
                  </p:nvGrpSpPr>
                  <p:grpSpPr>
                    <a:xfrm>
                      <a:off x="4373" y="836"/>
                      <a:ext cx="580" cy="229"/>
                      <a:chOff x="4373" y="836"/>
                      <a:chExt cx="580" cy="229"/>
                    </a:xfrm>
                  </p:grpSpPr>
                  <p:sp>
                    <p:nvSpPr>
                      <p:cNvPr id="62536" name="Rectangle 101"/>
                      <p:cNvSpPr/>
                      <p:nvPr/>
                    </p:nvSpPr>
                    <p:spPr>
                      <a:xfrm>
                        <a:off x="4373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37" name="Rectangle 102"/>
                      <p:cNvSpPr/>
                      <p:nvPr/>
                    </p:nvSpPr>
                    <p:spPr>
                      <a:xfrm>
                        <a:off x="4448" y="836"/>
                        <a:ext cx="490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shamt</a:t>
                        </a:r>
                      </a:p>
                    </p:txBody>
                  </p:sp>
                </p:grpSp>
                <p:grpSp>
                  <p:nvGrpSpPr>
                    <p:cNvPr id="62533" name="Group 103"/>
                    <p:cNvGrpSpPr/>
                    <p:nvPr/>
                  </p:nvGrpSpPr>
                  <p:grpSpPr>
                    <a:xfrm>
                      <a:off x="4961" y="836"/>
                      <a:ext cx="625" cy="229"/>
                      <a:chOff x="4961" y="836"/>
                      <a:chExt cx="625" cy="229"/>
                    </a:xfrm>
                  </p:grpSpPr>
                  <p:sp>
                    <p:nvSpPr>
                      <p:cNvPr id="62534" name="Rectangle 104"/>
                      <p:cNvSpPr/>
                      <p:nvPr/>
                    </p:nvSpPr>
                    <p:spPr>
                      <a:xfrm>
                        <a:off x="4961" y="868"/>
                        <a:ext cx="625" cy="184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endParaRPr lang="zh-CN" altLang="en-US" dirty="0">
                          <a:latin typeface="Arial" panose="020B0604020202090204" pitchFamily="34" charset="0"/>
                        </a:endParaRPr>
                      </a:p>
                    </p:txBody>
                  </p:sp>
                  <p:sp>
                    <p:nvSpPr>
                      <p:cNvPr id="62535" name="Rectangle 105"/>
                      <p:cNvSpPr/>
                      <p:nvPr/>
                    </p:nvSpPr>
                    <p:spPr>
                      <a:xfrm>
                        <a:off x="5143" y="836"/>
                        <a:ext cx="386" cy="22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90488" tIns="44450" rIns="90488" bIns="44450">
                        <a:spAutoFit/>
                      </a:bodyPr>
                      <a:lstStyle/>
                      <a:p>
                        <a:r>
                          <a:rPr lang="en-US" altLang="zh-CN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</a:rPr>
                          <a:t>func</a:t>
                        </a:r>
                      </a:p>
                    </p:txBody>
                  </p:sp>
                </p:grpSp>
              </p:grpSp>
            </p:grpSp>
            <p:sp>
              <p:nvSpPr>
                <p:cNvPr id="62519" name="Rectangle 106"/>
                <p:cNvSpPr/>
                <p:nvPr/>
              </p:nvSpPr>
              <p:spPr>
                <a:xfrm>
                  <a:off x="5488" y="672"/>
                  <a:ext cx="18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62520" name="Rectangle 107"/>
                <p:cNvSpPr/>
                <p:nvPr/>
              </p:nvSpPr>
              <p:spPr>
                <a:xfrm>
                  <a:off x="4810" y="672"/>
                  <a:ext cx="18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2521" name="Rectangle 108"/>
                <p:cNvSpPr/>
                <p:nvPr/>
              </p:nvSpPr>
              <p:spPr>
                <a:xfrm>
                  <a:off x="4177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62522" name="Rectangle 109"/>
                <p:cNvSpPr/>
                <p:nvPr/>
              </p:nvSpPr>
              <p:spPr>
                <a:xfrm>
                  <a:off x="3590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16</a:t>
                  </a:r>
                </a:p>
              </p:txBody>
            </p:sp>
            <p:sp>
              <p:nvSpPr>
                <p:cNvPr id="62523" name="Rectangle 110"/>
                <p:cNvSpPr/>
                <p:nvPr/>
              </p:nvSpPr>
              <p:spPr>
                <a:xfrm>
                  <a:off x="3002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21</a:t>
                  </a:r>
                </a:p>
              </p:txBody>
            </p:sp>
            <p:sp>
              <p:nvSpPr>
                <p:cNvPr id="62524" name="Rectangle 111"/>
                <p:cNvSpPr/>
                <p:nvPr/>
              </p:nvSpPr>
              <p:spPr>
                <a:xfrm>
                  <a:off x="2414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26</a:t>
                  </a:r>
                </a:p>
              </p:txBody>
            </p:sp>
            <p:sp>
              <p:nvSpPr>
                <p:cNvPr id="62525" name="Rectangle 112"/>
                <p:cNvSpPr/>
                <p:nvPr/>
              </p:nvSpPr>
              <p:spPr>
                <a:xfrm>
                  <a:off x="1918" y="672"/>
                  <a:ext cx="258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zh-CN" altLang="en-US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31</a:t>
                  </a:r>
                </a:p>
              </p:txBody>
            </p:sp>
          </p:grpSp>
          <p:sp>
            <p:nvSpPr>
              <p:cNvPr id="62512" name="Rectangle 113"/>
              <p:cNvSpPr/>
              <p:nvPr/>
            </p:nvSpPr>
            <p:spPr>
              <a:xfrm>
                <a:off x="2143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13" name="Rectangle 114"/>
              <p:cNvSpPr/>
              <p:nvPr/>
            </p:nvSpPr>
            <p:spPr>
              <a:xfrm>
                <a:off x="5126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14" name="Rectangle 115"/>
              <p:cNvSpPr/>
              <p:nvPr/>
            </p:nvSpPr>
            <p:spPr>
              <a:xfrm>
                <a:off x="4493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15" name="Rectangle 116"/>
              <p:cNvSpPr/>
              <p:nvPr/>
            </p:nvSpPr>
            <p:spPr>
              <a:xfrm>
                <a:off x="3906" y="1056"/>
                <a:ext cx="442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16" name="Rectangle 117"/>
              <p:cNvSpPr/>
              <p:nvPr/>
            </p:nvSpPr>
            <p:spPr>
              <a:xfrm>
                <a:off x="3318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17" name="Rectangle 118"/>
              <p:cNvSpPr/>
              <p:nvPr/>
            </p:nvSpPr>
            <p:spPr>
              <a:xfrm>
                <a:off x="2731" y="105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2510" name="Text Box 119"/>
            <p:cNvSpPr txBox="1"/>
            <p:nvPr/>
          </p:nvSpPr>
          <p:spPr>
            <a:xfrm>
              <a:off x="3876" y="523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</a:rPr>
                <a:t>R-Type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指令</a:t>
              </a:r>
            </a:p>
          </p:txBody>
        </p:sp>
      </p:grpSp>
      <p:grpSp>
        <p:nvGrpSpPr>
          <p:cNvPr id="13" name="Group 120"/>
          <p:cNvGrpSpPr/>
          <p:nvPr/>
        </p:nvGrpSpPr>
        <p:grpSpPr>
          <a:xfrm>
            <a:off x="2813050" y="1951038"/>
            <a:ext cx="5962650" cy="1147762"/>
            <a:chOff x="1889" y="2607"/>
            <a:chExt cx="3756" cy="723"/>
          </a:xfrm>
        </p:grpSpPr>
        <p:grpSp>
          <p:nvGrpSpPr>
            <p:cNvPr id="62486" name="Group 121"/>
            <p:cNvGrpSpPr/>
            <p:nvPr/>
          </p:nvGrpSpPr>
          <p:grpSpPr>
            <a:xfrm>
              <a:off x="1889" y="2717"/>
              <a:ext cx="3756" cy="613"/>
              <a:chOff x="1918" y="1392"/>
              <a:chExt cx="3756" cy="613"/>
            </a:xfrm>
          </p:grpSpPr>
          <p:sp>
            <p:nvSpPr>
              <p:cNvPr id="62488" name="Rectangle 122"/>
              <p:cNvSpPr/>
              <p:nvPr/>
            </p:nvSpPr>
            <p:spPr>
              <a:xfrm>
                <a:off x="1983" y="1592"/>
                <a:ext cx="3599" cy="17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grpSp>
            <p:nvGrpSpPr>
              <p:cNvPr id="62489" name="Group 123"/>
              <p:cNvGrpSpPr/>
              <p:nvPr/>
            </p:nvGrpSpPr>
            <p:grpSpPr>
              <a:xfrm>
                <a:off x="1979" y="1556"/>
                <a:ext cx="624" cy="229"/>
                <a:chOff x="1979" y="1556"/>
                <a:chExt cx="624" cy="229"/>
              </a:xfrm>
            </p:grpSpPr>
            <p:sp>
              <p:nvSpPr>
                <p:cNvPr id="62507" name="Rectangle 124"/>
                <p:cNvSpPr/>
                <p:nvPr/>
              </p:nvSpPr>
              <p:spPr>
                <a:xfrm>
                  <a:off x="1979" y="1588"/>
                  <a:ext cx="624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2508" name="Rectangle 125"/>
                <p:cNvSpPr/>
                <p:nvPr/>
              </p:nvSpPr>
              <p:spPr>
                <a:xfrm>
                  <a:off x="2180" y="1556"/>
                  <a:ext cx="26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op</a:t>
                  </a:r>
                </a:p>
              </p:txBody>
            </p:sp>
          </p:grpSp>
          <p:grpSp>
            <p:nvGrpSpPr>
              <p:cNvPr id="62490" name="Group 126"/>
              <p:cNvGrpSpPr/>
              <p:nvPr/>
            </p:nvGrpSpPr>
            <p:grpSpPr>
              <a:xfrm>
                <a:off x="2611" y="1556"/>
                <a:ext cx="580" cy="229"/>
                <a:chOff x="2611" y="1556"/>
                <a:chExt cx="580" cy="229"/>
              </a:xfrm>
            </p:grpSpPr>
            <p:sp>
              <p:nvSpPr>
                <p:cNvPr id="62505" name="Rectangle 127"/>
                <p:cNvSpPr/>
                <p:nvPr/>
              </p:nvSpPr>
              <p:spPr>
                <a:xfrm>
                  <a:off x="2611" y="1588"/>
                  <a:ext cx="580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2506" name="Rectangle 128"/>
                <p:cNvSpPr/>
                <p:nvPr/>
              </p:nvSpPr>
              <p:spPr>
                <a:xfrm>
                  <a:off x="2795" y="1556"/>
                  <a:ext cx="234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rs</a:t>
                  </a:r>
                </a:p>
              </p:txBody>
            </p:sp>
          </p:grpSp>
          <p:grpSp>
            <p:nvGrpSpPr>
              <p:cNvPr id="62491" name="Group 129"/>
              <p:cNvGrpSpPr/>
              <p:nvPr/>
            </p:nvGrpSpPr>
            <p:grpSpPr>
              <a:xfrm>
                <a:off x="3199" y="1556"/>
                <a:ext cx="579" cy="229"/>
                <a:chOff x="3199" y="1556"/>
                <a:chExt cx="579" cy="229"/>
              </a:xfrm>
            </p:grpSpPr>
            <p:sp>
              <p:nvSpPr>
                <p:cNvPr id="62503" name="Rectangle 130"/>
                <p:cNvSpPr/>
                <p:nvPr/>
              </p:nvSpPr>
              <p:spPr>
                <a:xfrm>
                  <a:off x="3199" y="1588"/>
                  <a:ext cx="579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2504" name="Rectangle 131"/>
                <p:cNvSpPr/>
                <p:nvPr/>
              </p:nvSpPr>
              <p:spPr>
                <a:xfrm>
                  <a:off x="3382" y="1556"/>
                  <a:ext cx="22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rt</a:t>
                  </a:r>
                </a:p>
              </p:txBody>
            </p:sp>
          </p:grpSp>
          <p:sp>
            <p:nvSpPr>
              <p:cNvPr id="62492" name="Rectangle 132"/>
              <p:cNvSpPr/>
              <p:nvPr/>
            </p:nvSpPr>
            <p:spPr>
              <a:xfrm>
                <a:off x="3786" y="1588"/>
                <a:ext cx="1800" cy="18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2493" name="Rectangle 133"/>
              <p:cNvSpPr/>
              <p:nvPr/>
            </p:nvSpPr>
            <p:spPr>
              <a:xfrm>
                <a:off x="4308" y="1556"/>
                <a:ext cx="762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immediate</a:t>
                </a:r>
              </a:p>
            </p:txBody>
          </p:sp>
          <p:sp>
            <p:nvSpPr>
              <p:cNvPr id="62494" name="Rectangle 134"/>
              <p:cNvSpPr/>
              <p:nvPr/>
            </p:nvSpPr>
            <p:spPr>
              <a:xfrm>
                <a:off x="5488" y="1392"/>
                <a:ext cx="18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2495" name="Rectangle 135"/>
              <p:cNvSpPr/>
              <p:nvPr/>
            </p:nvSpPr>
            <p:spPr>
              <a:xfrm>
                <a:off x="3590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62496" name="Rectangle 136"/>
              <p:cNvSpPr/>
              <p:nvPr/>
            </p:nvSpPr>
            <p:spPr>
              <a:xfrm>
                <a:off x="3002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21</a:t>
                </a:r>
              </a:p>
            </p:txBody>
          </p:sp>
          <p:sp>
            <p:nvSpPr>
              <p:cNvPr id="62497" name="Rectangle 137"/>
              <p:cNvSpPr/>
              <p:nvPr/>
            </p:nvSpPr>
            <p:spPr>
              <a:xfrm>
                <a:off x="2414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62498" name="Rectangle 138"/>
              <p:cNvSpPr/>
              <p:nvPr/>
            </p:nvSpPr>
            <p:spPr>
              <a:xfrm>
                <a:off x="1918" y="1392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62499" name="Rectangle 139"/>
              <p:cNvSpPr/>
              <p:nvPr/>
            </p:nvSpPr>
            <p:spPr>
              <a:xfrm>
                <a:off x="2143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00" name="Rectangle 140"/>
              <p:cNvSpPr/>
              <p:nvPr/>
            </p:nvSpPr>
            <p:spPr>
              <a:xfrm>
                <a:off x="4448" y="1776"/>
                <a:ext cx="51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01" name="Rectangle 141"/>
              <p:cNvSpPr/>
              <p:nvPr/>
            </p:nvSpPr>
            <p:spPr>
              <a:xfrm>
                <a:off x="3318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502" name="Rectangle 142"/>
              <p:cNvSpPr/>
              <p:nvPr/>
            </p:nvSpPr>
            <p:spPr>
              <a:xfrm>
                <a:off x="2731" y="1776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2487" name="Text Box 143"/>
            <p:cNvSpPr txBox="1"/>
            <p:nvPr/>
          </p:nvSpPr>
          <p:spPr>
            <a:xfrm>
              <a:off x="3912" y="2607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</a:rPr>
                <a:t>I-Type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指令</a:t>
              </a:r>
            </a:p>
          </p:txBody>
        </p:sp>
      </p:grpSp>
      <p:grpSp>
        <p:nvGrpSpPr>
          <p:cNvPr id="18" name="Group 144"/>
          <p:cNvGrpSpPr/>
          <p:nvPr/>
        </p:nvGrpSpPr>
        <p:grpSpPr>
          <a:xfrm>
            <a:off x="2774950" y="3036888"/>
            <a:ext cx="5962650" cy="1044575"/>
            <a:chOff x="1886" y="3544"/>
            <a:chExt cx="3756" cy="658"/>
          </a:xfrm>
        </p:grpSpPr>
        <p:grpSp>
          <p:nvGrpSpPr>
            <p:cNvPr id="62473" name="Group 145"/>
            <p:cNvGrpSpPr/>
            <p:nvPr/>
          </p:nvGrpSpPr>
          <p:grpSpPr>
            <a:xfrm>
              <a:off x="1886" y="3589"/>
              <a:ext cx="3756" cy="613"/>
              <a:chOff x="1918" y="3360"/>
              <a:chExt cx="3756" cy="613"/>
            </a:xfrm>
          </p:grpSpPr>
          <p:sp>
            <p:nvSpPr>
              <p:cNvPr id="62475" name="Rectangle 146"/>
              <p:cNvSpPr/>
              <p:nvPr/>
            </p:nvSpPr>
            <p:spPr>
              <a:xfrm>
                <a:off x="1983" y="3560"/>
                <a:ext cx="3599" cy="17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grpSp>
            <p:nvGrpSpPr>
              <p:cNvPr id="62476" name="Group 147"/>
              <p:cNvGrpSpPr/>
              <p:nvPr/>
            </p:nvGrpSpPr>
            <p:grpSpPr>
              <a:xfrm>
                <a:off x="1979" y="3524"/>
                <a:ext cx="624" cy="229"/>
                <a:chOff x="1979" y="3524"/>
                <a:chExt cx="624" cy="229"/>
              </a:xfrm>
            </p:grpSpPr>
            <p:sp>
              <p:nvSpPr>
                <p:cNvPr id="62484" name="Rectangle 148"/>
                <p:cNvSpPr/>
                <p:nvPr/>
              </p:nvSpPr>
              <p:spPr>
                <a:xfrm>
                  <a:off x="1979" y="3556"/>
                  <a:ext cx="624" cy="184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62485" name="Rectangle 149"/>
                <p:cNvSpPr/>
                <p:nvPr/>
              </p:nvSpPr>
              <p:spPr>
                <a:xfrm>
                  <a:off x="2161" y="3524"/>
                  <a:ext cx="266" cy="2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op</a:t>
                  </a:r>
                </a:p>
              </p:txBody>
            </p:sp>
          </p:grpSp>
          <p:sp>
            <p:nvSpPr>
              <p:cNvPr id="62477" name="Rectangle 150"/>
              <p:cNvSpPr/>
              <p:nvPr/>
            </p:nvSpPr>
            <p:spPr>
              <a:xfrm>
                <a:off x="2611" y="3556"/>
                <a:ext cx="2975" cy="18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2478" name="Rectangle 151"/>
              <p:cNvSpPr/>
              <p:nvPr/>
            </p:nvSpPr>
            <p:spPr>
              <a:xfrm>
                <a:off x="3554" y="3524"/>
                <a:ext cx="990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target address</a:t>
                </a:r>
              </a:p>
            </p:txBody>
          </p:sp>
          <p:sp>
            <p:nvSpPr>
              <p:cNvPr id="62479" name="Rectangle 152"/>
              <p:cNvSpPr/>
              <p:nvPr/>
            </p:nvSpPr>
            <p:spPr>
              <a:xfrm>
                <a:off x="5488" y="3360"/>
                <a:ext cx="18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2480" name="Rectangle 153"/>
              <p:cNvSpPr/>
              <p:nvPr/>
            </p:nvSpPr>
            <p:spPr>
              <a:xfrm>
                <a:off x="2414" y="3360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62481" name="Rectangle 154"/>
              <p:cNvSpPr/>
              <p:nvPr/>
            </p:nvSpPr>
            <p:spPr>
              <a:xfrm>
                <a:off x="1918" y="3360"/>
                <a:ext cx="25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62482" name="Rectangle 155"/>
              <p:cNvSpPr/>
              <p:nvPr/>
            </p:nvSpPr>
            <p:spPr>
              <a:xfrm>
                <a:off x="2143" y="3744"/>
                <a:ext cx="446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6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  <p:sp>
            <p:nvSpPr>
              <p:cNvPr id="62483" name="Rectangle 156"/>
              <p:cNvSpPr/>
              <p:nvPr/>
            </p:nvSpPr>
            <p:spPr>
              <a:xfrm>
                <a:off x="3816" y="3744"/>
                <a:ext cx="514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26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bits</a:t>
                </a:r>
              </a:p>
            </p:txBody>
          </p:sp>
        </p:grpSp>
        <p:sp>
          <p:nvSpPr>
            <p:cNvPr id="62474" name="Text Box 157"/>
            <p:cNvSpPr txBox="1"/>
            <p:nvPr/>
          </p:nvSpPr>
          <p:spPr>
            <a:xfrm>
              <a:off x="3838" y="3544"/>
              <a:ext cx="124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</a:rPr>
                <a:t>J-Type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指令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6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44" grpId="0"/>
      <p:bldP spid="2673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xfrm>
            <a:off x="711200" y="117475"/>
            <a:ext cx="7704138" cy="747713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OP</a:t>
            </a:r>
            <a:r>
              <a:rPr lang="zh-CN" altLang="en-US" sz="2600" dirty="0">
                <a:ea typeface="宋体" pitchFamily="2" charset="-122"/>
              </a:rPr>
              <a:t>字段的含义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指令的操作码编码</a:t>
            </a:r>
            <a:r>
              <a:rPr lang="en-US" altLang="zh-CN" sz="2600" dirty="0">
                <a:ea typeface="宋体" pitchFamily="2" charset="-122"/>
              </a:rPr>
              <a:t>/</a:t>
            </a:r>
            <a:r>
              <a:rPr lang="zh-CN" altLang="en-US" sz="2600" dirty="0">
                <a:ea typeface="宋体" pitchFamily="2" charset="-122"/>
              </a:rPr>
              <a:t>解码表）</a:t>
            </a:r>
          </a:p>
        </p:txBody>
      </p:sp>
      <p:graphicFrame>
        <p:nvGraphicFramePr>
          <p:cNvPr id="63491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96850" y="661988"/>
          <a:ext cx="8947150" cy="566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r:id="rId3" imgW="9515475" imgH="3343275" progId="Paint.Picture">
                  <p:embed/>
                </p:oleObj>
              </mc:Choice>
              <mc:Fallback>
                <p:oleObj r:id="rId3" imgW="9515475" imgH="334327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96850" y="661988"/>
                        <a:ext cx="8947150" cy="5661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10"/>
          <p:cNvSpPr txBox="1"/>
          <p:nvPr/>
        </p:nvSpPr>
        <p:spPr>
          <a:xfrm>
            <a:off x="6692900" y="6418263"/>
            <a:ext cx="227647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5" action="ppaction://hlinksldjump"/>
              </a:rPr>
              <a:t>BACK to Assemble </a:t>
            </a:r>
            <a:endParaRPr lang="zh-CN" altLang="en-US" sz="1800" dirty="0">
              <a:latin typeface="Arial" panose="020B0604020202090204" pitchFamily="34" charset="0"/>
            </a:endParaRPr>
          </a:p>
        </p:txBody>
      </p:sp>
      <p:sp>
        <p:nvSpPr>
          <p:cNvPr id="63493" name="Rectangle 11"/>
          <p:cNvSpPr/>
          <p:nvPr/>
        </p:nvSpPr>
        <p:spPr>
          <a:xfrm>
            <a:off x="203200" y="4368800"/>
            <a:ext cx="8955088" cy="1944688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3494" name="Text Box 12"/>
          <p:cNvSpPr txBox="1"/>
          <p:nvPr/>
        </p:nvSpPr>
        <p:spPr>
          <a:xfrm>
            <a:off x="3730625" y="6424613"/>
            <a:ext cx="2452688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6" action="ppaction://hlinksldjump"/>
              </a:rPr>
              <a:t>Back to Load/Store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  <p:sp>
        <p:nvSpPr>
          <p:cNvPr id="268302" name="Text Box 14"/>
          <p:cNvSpPr txBox="1"/>
          <p:nvPr/>
        </p:nvSpPr>
        <p:spPr>
          <a:xfrm>
            <a:off x="5232400" y="746125"/>
            <a:ext cx="3787775" cy="2889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op=0:R</a:t>
            </a:r>
            <a:r>
              <a:rPr lang="zh-CN" altLang="en-US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型；</a:t>
            </a:r>
            <a:r>
              <a:rPr lang="en-US" altLang="zh-CN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op=2/3:J</a:t>
            </a:r>
            <a:r>
              <a:rPr lang="zh-CN" altLang="en-US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型；其余</a:t>
            </a:r>
            <a:r>
              <a:rPr lang="en-US" altLang="zh-CN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:I</a:t>
            </a:r>
            <a:r>
              <a:rPr lang="zh-CN" altLang="en-US" sz="19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型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1090613" y="992188"/>
            <a:ext cx="4730750" cy="1665287"/>
            <a:chOff x="687" y="625"/>
            <a:chExt cx="2980" cy="1049"/>
          </a:xfrm>
        </p:grpSpPr>
        <p:sp>
          <p:nvSpPr>
            <p:cNvPr id="63500" name="Oval 9"/>
            <p:cNvSpPr/>
            <p:nvPr/>
          </p:nvSpPr>
          <p:spPr>
            <a:xfrm>
              <a:off x="687" y="1189"/>
              <a:ext cx="631" cy="485"/>
            </a:xfrm>
            <a:prstGeom prst="ellipse">
              <a:avLst/>
            </a:prstGeom>
            <a:noFill/>
            <a:ln w="38100" cap="flat" cmpd="sng">
              <a:solidFill>
                <a:srgbClr val="C51915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3501" name="Line 15"/>
            <p:cNvSpPr/>
            <p:nvPr/>
          </p:nvSpPr>
          <p:spPr>
            <a:xfrm flipH="1">
              <a:off x="1250" y="625"/>
              <a:ext cx="2417" cy="660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19"/>
          <p:cNvGrpSpPr/>
          <p:nvPr/>
        </p:nvGrpSpPr>
        <p:grpSpPr>
          <a:xfrm>
            <a:off x="3276600" y="1006475"/>
            <a:ext cx="4110038" cy="1717675"/>
            <a:chOff x="2064" y="634"/>
            <a:chExt cx="2589" cy="1082"/>
          </a:xfrm>
        </p:grpSpPr>
        <p:sp>
          <p:nvSpPr>
            <p:cNvPr id="63498" name="Rectangle 13"/>
            <p:cNvSpPr/>
            <p:nvPr/>
          </p:nvSpPr>
          <p:spPr>
            <a:xfrm>
              <a:off x="2064" y="1218"/>
              <a:ext cx="1296" cy="498"/>
            </a:xfrm>
            <a:prstGeom prst="rect">
              <a:avLst/>
            </a:prstGeom>
            <a:noFill/>
            <a:ln w="38100" cap="flat" cmpd="sng">
              <a:solidFill>
                <a:srgbClr val="C5191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3499" name="Line 16"/>
            <p:cNvSpPr/>
            <p:nvPr/>
          </p:nvSpPr>
          <p:spPr>
            <a:xfrm flipH="1">
              <a:off x="3353" y="634"/>
              <a:ext cx="1300" cy="597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8116888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R-</a:t>
            </a:r>
            <a:r>
              <a:rPr lang="zh-CN" altLang="en-US" sz="2600" dirty="0">
                <a:ea typeface="宋体" pitchFamily="2" charset="-122"/>
              </a:rPr>
              <a:t>型指令的解码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op=0</a:t>
            </a:r>
            <a:r>
              <a:rPr lang="zh-CN" altLang="en-US" dirty="0">
                <a:ea typeface="宋体" pitchFamily="2" charset="-122"/>
              </a:rPr>
              <a:t>时，</a:t>
            </a:r>
            <a:r>
              <a:rPr lang="en-US" altLang="zh-CN" dirty="0">
                <a:ea typeface="宋体" pitchFamily="2" charset="-122"/>
              </a:rPr>
              <a:t>func</a:t>
            </a:r>
            <a:r>
              <a:rPr lang="zh-CN" altLang="en-US" dirty="0">
                <a:ea typeface="宋体" pitchFamily="2" charset="-122"/>
              </a:rPr>
              <a:t>字段的编码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zh-CN" altLang="en-US" dirty="0">
                <a:ea typeface="宋体" pitchFamily="2" charset="-122"/>
              </a:rPr>
              <a:t>解码表）</a:t>
            </a:r>
          </a:p>
        </p:txBody>
      </p:sp>
      <p:pic>
        <p:nvPicPr>
          <p:cNvPr id="64515" name="Picture 4" descr="MIPS指令解码2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7788" y="720725"/>
            <a:ext cx="9010650" cy="5635625"/>
          </a:xfrm>
          <a:ln/>
        </p:spPr>
      </p:pic>
      <p:sp>
        <p:nvSpPr>
          <p:cNvPr id="64516" name="Text Box 6"/>
          <p:cNvSpPr txBox="1"/>
          <p:nvPr/>
        </p:nvSpPr>
        <p:spPr>
          <a:xfrm>
            <a:off x="6618288" y="6415088"/>
            <a:ext cx="2278062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3" action="ppaction://hlinksldjump"/>
              </a:rPr>
              <a:t>BACK to Assemble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  <p:grpSp>
        <p:nvGrpSpPr>
          <p:cNvPr id="2" name="组合 6"/>
          <p:cNvGrpSpPr/>
          <p:nvPr/>
        </p:nvGrpSpPr>
        <p:grpSpPr>
          <a:xfrm>
            <a:off x="1012825" y="4325938"/>
            <a:ext cx="4773613" cy="2028825"/>
            <a:chOff x="1012825" y="4325938"/>
            <a:chExt cx="4773613" cy="2028825"/>
          </a:xfrm>
        </p:grpSpPr>
        <p:sp>
          <p:nvSpPr>
            <p:cNvPr id="64519" name="Oval 7"/>
            <p:cNvSpPr/>
            <p:nvPr/>
          </p:nvSpPr>
          <p:spPr>
            <a:xfrm>
              <a:off x="1012825" y="4325938"/>
              <a:ext cx="812800" cy="522287"/>
            </a:xfrm>
            <a:prstGeom prst="ellipse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4520" name="Text Box 8"/>
            <p:cNvSpPr txBox="1"/>
            <p:nvPr/>
          </p:nvSpPr>
          <p:spPr>
            <a:xfrm>
              <a:off x="1192213" y="5084763"/>
              <a:ext cx="4594225" cy="12700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add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指令的</a:t>
              </a: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func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字段为</a:t>
              </a: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100000B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（</a:t>
              </a: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32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）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div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指令的</a:t>
              </a: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func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字段为多少？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011010B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（</a:t>
              </a:r>
              <a:r>
                <a:rPr lang="en-US" altLang="zh-CN" sz="2000" dirty="0">
                  <a:latin typeface="Arial" panose="020B0604020202090204" pitchFamily="34" charset="0"/>
                  <a:ea typeface="黑体" pitchFamily="49" charset="-122"/>
                </a:rPr>
                <a:t>26</a:t>
              </a:r>
              <a:r>
                <a:rPr lang="zh-CN" altLang="en-US" sz="2000" dirty="0">
                  <a:latin typeface="Arial" panose="020B0604020202090204" pitchFamily="34" charset="0"/>
                  <a:ea typeface="黑体" pitchFamily="49" charset="-122"/>
                </a:rPr>
                <a:t>）！</a:t>
              </a:r>
            </a:p>
          </p:txBody>
        </p:sp>
      </p:grpSp>
      <p:cxnSp>
        <p:nvCxnSpPr>
          <p:cNvPr id="9" name="直接箭头连接符 8"/>
          <p:cNvCxnSpPr/>
          <p:nvPr/>
        </p:nvCxnSpPr>
        <p:spPr>
          <a:xfrm flipV="1">
            <a:off x="2049463" y="4217988"/>
            <a:ext cx="1181100" cy="1858962"/>
          </a:xfrm>
          <a:prstGeom prst="straightConnector1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381000" y="114300"/>
            <a:ext cx="7377113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 Addressing Modes</a:t>
            </a:r>
            <a:r>
              <a:rPr lang="zh-CN" altLang="en-US" sz="2600" dirty="0">
                <a:ea typeface="宋体" pitchFamily="2" charset="-122"/>
              </a:rPr>
              <a:t>（寻址方式）</a:t>
            </a:r>
          </a:p>
        </p:txBody>
      </p:sp>
      <p:grpSp>
        <p:nvGrpSpPr>
          <p:cNvPr id="2" name="Group 83"/>
          <p:cNvGrpSpPr/>
          <p:nvPr/>
        </p:nvGrpSpPr>
        <p:grpSpPr>
          <a:xfrm>
            <a:off x="514350" y="2914650"/>
            <a:ext cx="7251700" cy="1111250"/>
            <a:chOff x="624" y="1836"/>
            <a:chExt cx="4568" cy="700"/>
          </a:xfrm>
        </p:grpSpPr>
        <p:sp>
          <p:nvSpPr>
            <p:cNvPr id="65612" name="Rectangle 8"/>
            <p:cNvSpPr/>
            <p:nvPr/>
          </p:nvSpPr>
          <p:spPr>
            <a:xfrm>
              <a:off x="3020" y="1872"/>
              <a:ext cx="115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13" name="Rectangle 13"/>
            <p:cNvSpPr/>
            <p:nvPr/>
          </p:nvSpPr>
          <p:spPr>
            <a:xfrm>
              <a:off x="3168" y="1932"/>
              <a:ext cx="54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immed</a:t>
              </a:r>
            </a:p>
          </p:txBody>
        </p:sp>
        <p:sp>
          <p:nvSpPr>
            <p:cNvPr id="65614" name="Rectangle 18"/>
            <p:cNvSpPr/>
            <p:nvPr/>
          </p:nvSpPr>
          <p:spPr>
            <a:xfrm>
              <a:off x="1964" y="1872"/>
              <a:ext cx="37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15" name="Rectangle 19"/>
            <p:cNvSpPr/>
            <p:nvPr/>
          </p:nvSpPr>
          <p:spPr>
            <a:xfrm>
              <a:off x="1968" y="1932"/>
              <a:ext cx="25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op</a:t>
              </a:r>
            </a:p>
          </p:txBody>
        </p:sp>
        <p:sp>
          <p:nvSpPr>
            <p:cNvPr id="65616" name="Rectangle 20"/>
            <p:cNvSpPr/>
            <p:nvPr/>
          </p:nvSpPr>
          <p:spPr>
            <a:xfrm>
              <a:off x="2348" y="1872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17" name="Rectangle 21"/>
            <p:cNvSpPr/>
            <p:nvPr/>
          </p:nvSpPr>
          <p:spPr>
            <a:xfrm>
              <a:off x="2684" y="1872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18" name="Rectangle 22"/>
            <p:cNvSpPr/>
            <p:nvPr/>
          </p:nvSpPr>
          <p:spPr>
            <a:xfrm>
              <a:off x="2448" y="1932"/>
              <a:ext cx="21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rs</a:t>
              </a:r>
            </a:p>
          </p:txBody>
        </p:sp>
        <p:sp>
          <p:nvSpPr>
            <p:cNvPr id="65619" name="Rectangle 23"/>
            <p:cNvSpPr/>
            <p:nvPr/>
          </p:nvSpPr>
          <p:spPr>
            <a:xfrm>
              <a:off x="2736" y="1932"/>
              <a:ext cx="18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rt</a:t>
              </a:r>
            </a:p>
          </p:txBody>
        </p:sp>
        <p:sp>
          <p:nvSpPr>
            <p:cNvPr id="65620" name="Rectangle 24"/>
            <p:cNvSpPr/>
            <p:nvPr/>
          </p:nvSpPr>
          <p:spPr>
            <a:xfrm>
              <a:off x="2300" y="2304"/>
              <a:ext cx="1144" cy="1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21" name="Rectangle 25"/>
            <p:cNvSpPr/>
            <p:nvPr/>
          </p:nvSpPr>
          <p:spPr>
            <a:xfrm>
              <a:off x="2448" y="2294"/>
              <a:ext cx="608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register</a:t>
              </a:r>
            </a:p>
          </p:txBody>
        </p:sp>
        <p:sp>
          <p:nvSpPr>
            <p:cNvPr id="65622" name="Line 26"/>
            <p:cNvSpPr/>
            <p:nvPr/>
          </p:nvSpPr>
          <p:spPr>
            <a:xfrm>
              <a:off x="2536" y="2112"/>
              <a:ext cx="0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23" name="Rectangle 27"/>
            <p:cNvSpPr/>
            <p:nvPr/>
          </p:nvSpPr>
          <p:spPr>
            <a:xfrm>
              <a:off x="624" y="1836"/>
              <a:ext cx="945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Base</a:t>
              </a:r>
              <a:r>
                <a:rPr lang="zh-CN" altLang="en-US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或</a:t>
              </a: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index</a:t>
              </a:r>
            </a:p>
            <a:p>
              <a:pPr>
                <a:lnSpc>
                  <a:spcPct val="85000"/>
                </a:lnSpc>
              </a:pPr>
              <a:r>
                <a:rPr lang="zh-CN" altLang="en-US" sz="1800" dirty="0">
                  <a:solidFill>
                    <a:srgbClr val="0033CC"/>
                  </a:solidFill>
                  <a:latin typeface="Arial" panose="020B0604020202090204" pitchFamily="34" charset="0"/>
                </a:rPr>
                <a:t>基址或变址</a:t>
              </a:r>
            </a:p>
          </p:txBody>
        </p:sp>
        <p:sp>
          <p:nvSpPr>
            <p:cNvPr id="65624" name="Oval 28"/>
            <p:cNvSpPr/>
            <p:nvPr/>
          </p:nvSpPr>
          <p:spPr>
            <a:xfrm>
              <a:off x="3656" y="2304"/>
              <a:ext cx="232" cy="18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25" name="Rectangle 29"/>
            <p:cNvSpPr/>
            <p:nvPr/>
          </p:nvSpPr>
          <p:spPr>
            <a:xfrm>
              <a:off x="3696" y="2316"/>
              <a:ext cx="16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+</a:t>
              </a:r>
            </a:p>
          </p:txBody>
        </p:sp>
        <p:sp>
          <p:nvSpPr>
            <p:cNvPr id="65626" name="Line 30"/>
            <p:cNvSpPr/>
            <p:nvPr/>
          </p:nvSpPr>
          <p:spPr>
            <a:xfrm flipV="1">
              <a:off x="3456" y="2376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27" name="Line 31"/>
            <p:cNvSpPr/>
            <p:nvPr/>
          </p:nvSpPr>
          <p:spPr>
            <a:xfrm>
              <a:off x="3768" y="2112"/>
              <a:ext cx="0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28" name="Line 32"/>
            <p:cNvSpPr/>
            <p:nvPr/>
          </p:nvSpPr>
          <p:spPr>
            <a:xfrm>
              <a:off x="3884" y="2396"/>
              <a:ext cx="6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29" name="Rectangle 33"/>
            <p:cNvSpPr/>
            <p:nvPr/>
          </p:nvSpPr>
          <p:spPr>
            <a:xfrm>
              <a:off x="4556" y="2016"/>
              <a:ext cx="616" cy="52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30" name="Rectangle 34"/>
            <p:cNvSpPr/>
            <p:nvPr/>
          </p:nvSpPr>
          <p:spPr>
            <a:xfrm>
              <a:off x="4560" y="2028"/>
              <a:ext cx="632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Memory</a:t>
              </a:r>
            </a:p>
          </p:txBody>
        </p:sp>
      </p:grpSp>
      <p:grpSp>
        <p:nvGrpSpPr>
          <p:cNvPr id="3" name="Group 82"/>
          <p:cNvGrpSpPr/>
          <p:nvPr/>
        </p:nvGrpSpPr>
        <p:grpSpPr>
          <a:xfrm>
            <a:off x="514350" y="2286000"/>
            <a:ext cx="5638800" cy="379413"/>
            <a:chOff x="624" y="1440"/>
            <a:chExt cx="3552" cy="239"/>
          </a:xfrm>
        </p:grpSpPr>
        <p:sp>
          <p:nvSpPr>
            <p:cNvPr id="65603" name="Rectangle 35" descr="50%"/>
            <p:cNvSpPr/>
            <p:nvPr/>
          </p:nvSpPr>
          <p:spPr>
            <a:xfrm>
              <a:off x="3020" y="1440"/>
              <a:ext cx="1156" cy="232"/>
            </a:xfrm>
            <a:prstGeom prst="rect">
              <a:avLst/>
            </a:prstGeom>
            <a:blipFill rotWithShape="0">
              <a:blip r:embed="rId3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04" name="Rectangle 36"/>
            <p:cNvSpPr/>
            <p:nvPr/>
          </p:nvSpPr>
          <p:spPr>
            <a:xfrm>
              <a:off x="3168" y="1500"/>
              <a:ext cx="54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immed</a:t>
              </a:r>
            </a:p>
          </p:txBody>
        </p:sp>
        <p:sp>
          <p:nvSpPr>
            <p:cNvPr id="65605" name="Rectangle 37"/>
            <p:cNvSpPr/>
            <p:nvPr/>
          </p:nvSpPr>
          <p:spPr>
            <a:xfrm>
              <a:off x="1964" y="1440"/>
              <a:ext cx="37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06" name="Rectangle 38"/>
            <p:cNvSpPr/>
            <p:nvPr/>
          </p:nvSpPr>
          <p:spPr>
            <a:xfrm>
              <a:off x="1968" y="1500"/>
              <a:ext cx="25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op</a:t>
              </a:r>
            </a:p>
          </p:txBody>
        </p:sp>
        <p:sp>
          <p:nvSpPr>
            <p:cNvPr id="65607" name="Rectangle 39"/>
            <p:cNvSpPr/>
            <p:nvPr/>
          </p:nvSpPr>
          <p:spPr>
            <a:xfrm>
              <a:off x="2348" y="1440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08" name="Rectangle 40"/>
            <p:cNvSpPr/>
            <p:nvPr/>
          </p:nvSpPr>
          <p:spPr>
            <a:xfrm>
              <a:off x="2684" y="1440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09" name="Rectangle 41"/>
            <p:cNvSpPr/>
            <p:nvPr/>
          </p:nvSpPr>
          <p:spPr>
            <a:xfrm>
              <a:off x="2448" y="1500"/>
              <a:ext cx="21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rs</a:t>
              </a:r>
            </a:p>
          </p:txBody>
        </p:sp>
        <p:sp>
          <p:nvSpPr>
            <p:cNvPr id="65610" name="Rectangle 42"/>
            <p:cNvSpPr/>
            <p:nvPr/>
          </p:nvSpPr>
          <p:spPr>
            <a:xfrm>
              <a:off x="2736" y="1500"/>
              <a:ext cx="18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rt</a:t>
              </a:r>
            </a:p>
          </p:txBody>
        </p:sp>
        <p:sp>
          <p:nvSpPr>
            <p:cNvPr id="65611" name="Rectangle 43"/>
            <p:cNvSpPr/>
            <p:nvPr/>
          </p:nvSpPr>
          <p:spPr>
            <a:xfrm>
              <a:off x="624" y="1452"/>
              <a:ext cx="792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Immediate</a:t>
              </a:r>
            </a:p>
          </p:txBody>
        </p:sp>
      </p:grpSp>
      <p:grpSp>
        <p:nvGrpSpPr>
          <p:cNvPr id="4" name="Group 84"/>
          <p:cNvGrpSpPr/>
          <p:nvPr/>
        </p:nvGrpSpPr>
        <p:grpSpPr>
          <a:xfrm>
            <a:off x="514350" y="4057650"/>
            <a:ext cx="7251700" cy="1111250"/>
            <a:chOff x="624" y="2556"/>
            <a:chExt cx="4568" cy="700"/>
          </a:xfrm>
        </p:grpSpPr>
        <p:sp>
          <p:nvSpPr>
            <p:cNvPr id="65585" name="Rectangle 44"/>
            <p:cNvSpPr/>
            <p:nvPr/>
          </p:nvSpPr>
          <p:spPr>
            <a:xfrm>
              <a:off x="3020" y="2592"/>
              <a:ext cx="115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86" name="Rectangle 45"/>
            <p:cNvSpPr/>
            <p:nvPr/>
          </p:nvSpPr>
          <p:spPr>
            <a:xfrm>
              <a:off x="3168" y="2652"/>
              <a:ext cx="54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immed</a:t>
              </a:r>
            </a:p>
          </p:txBody>
        </p:sp>
        <p:sp>
          <p:nvSpPr>
            <p:cNvPr id="65587" name="Rectangle 46"/>
            <p:cNvSpPr/>
            <p:nvPr/>
          </p:nvSpPr>
          <p:spPr>
            <a:xfrm>
              <a:off x="1964" y="2592"/>
              <a:ext cx="37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88" name="Rectangle 47"/>
            <p:cNvSpPr/>
            <p:nvPr/>
          </p:nvSpPr>
          <p:spPr>
            <a:xfrm>
              <a:off x="1968" y="2652"/>
              <a:ext cx="25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op</a:t>
              </a:r>
            </a:p>
          </p:txBody>
        </p:sp>
        <p:sp>
          <p:nvSpPr>
            <p:cNvPr id="65589" name="Rectangle 48"/>
            <p:cNvSpPr/>
            <p:nvPr/>
          </p:nvSpPr>
          <p:spPr>
            <a:xfrm>
              <a:off x="2348" y="2592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90" name="Rectangle 49"/>
            <p:cNvSpPr/>
            <p:nvPr/>
          </p:nvSpPr>
          <p:spPr>
            <a:xfrm>
              <a:off x="2684" y="2592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91" name="Rectangle 50"/>
            <p:cNvSpPr/>
            <p:nvPr/>
          </p:nvSpPr>
          <p:spPr>
            <a:xfrm>
              <a:off x="2448" y="2652"/>
              <a:ext cx="21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rs</a:t>
              </a:r>
            </a:p>
          </p:txBody>
        </p:sp>
        <p:sp>
          <p:nvSpPr>
            <p:cNvPr id="65592" name="Rectangle 51"/>
            <p:cNvSpPr/>
            <p:nvPr/>
          </p:nvSpPr>
          <p:spPr>
            <a:xfrm>
              <a:off x="2736" y="2652"/>
              <a:ext cx="18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rt</a:t>
              </a:r>
            </a:p>
          </p:txBody>
        </p:sp>
        <p:sp>
          <p:nvSpPr>
            <p:cNvPr id="65593" name="Rectangle 52"/>
            <p:cNvSpPr/>
            <p:nvPr/>
          </p:nvSpPr>
          <p:spPr>
            <a:xfrm>
              <a:off x="2300" y="3024"/>
              <a:ext cx="1144" cy="1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94" name="Rectangle 53"/>
            <p:cNvSpPr/>
            <p:nvPr/>
          </p:nvSpPr>
          <p:spPr>
            <a:xfrm>
              <a:off x="2448" y="3023"/>
              <a:ext cx="52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PC + 4</a:t>
              </a:r>
            </a:p>
          </p:txBody>
        </p:sp>
        <p:sp>
          <p:nvSpPr>
            <p:cNvPr id="65595" name="Rectangle 54"/>
            <p:cNvSpPr/>
            <p:nvPr/>
          </p:nvSpPr>
          <p:spPr>
            <a:xfrm>
              <a:off x="624" y="2556"/>
              <a:ext cx="832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PC-relative</a:t>
              </a:r>
            </a:p>
            <a:p>
              <a:pPr>
                <a:lnSpc>
                  <a:spcPct val="85000"/>
                </a:lnSpc>
              </a:pPr>
              <a:r>
                <a:rPr lang="zh-CN" altLang="en-US" sz="1800" dirty="0">
                  <a:solidFill>
                    <a:srgbClr val="0033CC"/>
                  </a:solidFill>
                  <a:latin typeface="Arial" panose="020B0604020202090204" pitchFamily="34" charset="0"/>
                </a:rPr>
                <a:t>相对寻址</a:t>
              </a:r>
            </a:p>
          </p:txBody>
        </p:sp>
        <p:sp>
          <p:nvSpPr>
            <p:cNvPr id="65596" name="Oval 55"/>
            <p:cNvSpPr/>
            <p:nvPr/>
          </p:nvSpPr>
          <p:spPr>
            <a:xfrm>
              <a:off x="3656" y="3024"/>
              <a:ext cx="232" cy="18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97" name="Rectangle 56"/>
            <p:cNvSpPr/>
            <p:nvPr/>
          </p:nvSpPr>
          <p:spPr>
            <a:xfrm>
              <a:off x="3696" y="3036"/>
              <a:ext cx="16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+</a:t>
              </a:r>
            </a:p>
          </p:txBody>
        </p:sp>
        <p:sp>
          <p:nvSpPr>
            <p:cNvPr id="65598" name="Line 57"/>
            <p:cNvSpPr/>
            <p:nvPr/>
          </p:nvSpPr>
          <p:spPr>
            <a:xfrm>
              <a:off x="3444" y="3099"/>
              <a:ext cx="20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99" name="Line 58"/>
            <p:cNvSpPr/>
            <p:nvPr/>
          </p:nvSpPr>
          <p:spPr>
            <a:xfrm>
              <a:off x="3768" y="2832"/>
              <a:ext cx="0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00" name="Line 59"/>
            <p:cNvSpPr/>
            <p:nvPr/>
          </p:nvSpPr>
          <p:spPr>
            <a:xfrm>
              <a:off x="3884" y="3116"/>
              <a:ext cx="6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601" name="Rectangle 60"/>
            <p:cNvSpPr/>
            <p:nvPr/>
          </p:nvSpPr>
          <p:spPr>
            <a:xfrm>
              <a:off x="4556" y="2736"/>
              <a:ext cx="616" cy="52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602" name="Rectangle 61"/>
            <p:cNvSpPr/>
            <p:nvPr/>
          </p:nvSpPr>
          <p:spPr>
            <a:xfrm>
              <a:off x="4560" y="2748"/>
              <a:ext cx="632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Memory</a:t>
              </a:r>
            </a:p>
          </p:txBody>
        </p:sp>
      </p:grpSp>
      <p:sp>
        <p:nvSpPr>
          <p:cNvPr id="234560" name="Text Box 64"/>
          <p:cNvSpPr txBox="1"/>
          <p:nvPr/>
        </p:nvSpPr>
        <p:spPr>
          <a:xfrm>
            <a:off x="498475" y="1992313"/>
            <a:ext cx="1211263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</a:rPr>
              <a:t>I-format:</a:t>
            </a:r>
            <a:endParaRPr lang="en-US" altLang="zh-CN" sz="2000" dirty="0">
              <a:solidFill>
                <a:schemeClr val="tx1"/>
              </a:solidFill>
              <a:latin typeface="Arial" panose="020B0604020202090204" pitchFamily="34" charset="0"/>
            </a:endParaRPr>
          </a:p>
        </p:txBody>
      </p:sp>
      <p:grpSp>
        <p:nvGrpSpPr>
          <p:cNvPr id="5" name="Group 81"/>
          <p:cNvGrpSpPr/>
          <p:nvPr/>
        </p:nvGrpSpPr>
        <p:grpSpPr>
          <a:xfrm>
            <a:off x="498475" y="773113"/>
            <a:ext cx="5584825" cy="1400175"/>
            <a:chOff x="614" y="487"/>
            <a:chExt cx="3518" cy="882"/>
          </a:xfrm>
        </p:grpSpPr>
        <p:sp>
          <p:nvSpPr>
            <p:cNvPr id="65562" name="Rectangle 3"/>
            <p:cNvSpPr/>
            <p:nvPr/>
          </p:nvSpPr>
          <p:spPr>
            <a:xfrm>
              <a:off x="1964" y="768"/>
              <a:ext cx="37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63" name="Rectangle 4"/>
            <p:cNvSpPr/>
            <p:nvPr/>
          </p:nvSpPr>
          <p:spPr>
            <a:xfrm>
              <a:off x="1968" y="828"/>
              <a:ext cx="25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op</a:t>
              </a:r>
            </a:p>
          </p:txBody>
        </p:sp>
        <p:sp>
          <p:nvSpPr>
            <p:cNvPr id="65564" name="Rectangle 5"/>
            <p:cNvSpPr/>
            <p:nvPr/>
          </p:nvSpPr>
          <p:spPr>
            <a:xfrm>
              <a:off x="2348" y="768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65" name="Rectangle 6"/>
            <p:cNvSpPr/>
            <p:nvPr/>
          </p:nvSpPr>
          <p:spPr>
            <a:xfrm>
              <a:off x="2684" y="768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66" name="Rectangle 7"/>
            <p:cNvSpPr/>
            <p:nvPr/>
          </p:nvSpPr>
          <p:spPr>
            <a:xfrm>
              <a:off x="3020" y="768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67" name="Rectangle 9"/>
            <p:cNvSpPr/>
            <p:nvPr/>
          </p:nvSpPr>
          <p:spPr>
            <a:xfrm>
              <a:off x="3696" y="768"/>
              <a:ext cx="432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68" name="Rectangle 10"/>
            <p:cNvSpPr/>
            <p:nvPr/>
          </p:nvSpPr>
          <p:spPr>
            <a:xfrm>
              <a:off x="2448" y="828"/>
              <a:ext cx="21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rs</a:t>
              </a:r>
            </a:p>
          </p:txBody>
        </p:sp>
        <p:sp>
          <p:nvSpPr>
            <p:cNvPr id="65569" name="Rectangle 11"/>
            <p:cNvSpPr/>
            <p:nvPr/>
          </p:nvSpPr>
          <p:spPr>
            <a:xfrm>
              <a:off x="2736" y="828"/>
              <a:ext cx="18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rt</a:t>
              </a:r>
            </a:p>
          </p:txBody>
        </p:sp>
        <p:sp>
          <p:nvSpPr>
            <p:cNvPr id="65570" name="Rectangle 12"/>
            <p:cNvSpPr/>
            <p:nvPr/>
          </p:nvSpPr>
          <p:spPr>
            <a:xfrm>
              <a:off x="3072" y="828"/>
              <a:ext cx="22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rd</a:t>
              </a:r>
            </a:p>
          </p:txBody>
        </p:sp>
        <p:sp>
          <p:nvSpPr>
            <p:cNvPr id="65571" name="Rectangle 14"/>
            <p:cNvSpPr/>
            <p:nvPr/>
          </p:nvSpPr>
          <p:spPr>
            <a:xfrm>
              <a:off x="2300" y="1200"/>
              <a:ext cx="1144" cy="1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72" name="Rectangle 15"/>
            <p:cNvSpPr/>
            <p:nvPr/>
          </p:nvSpPr>
          <p:spPr>
            <a:xfrm>
              <a:off x="2448" y="1190"/>
              <a:ext cx="608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register</a:t>
              </a:r>
            </a:p>
          </p:txBody>
        </p:sp>
        <p:sp>
          <p:nvSpPr>
            <p:cNvPr id="65573" name="Line 16"/>
            <p:cNvSpPr/>
            <p:nvPr/>
          </p:nvSpPr>
          <p:spPr>
            <a:xfrm>
              <a:off x="2536" y="1008"/>
              <a:ext cx="0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4" name="Rectangle 17"/>
            <p:cNvSpPr/>
            <p:nvPr/>
          </p:nvSpPr>
          <p:spPr>
            <a:xfrm>
              <a:off x="624" y="780"/>
              <a:ext cx="696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Register </a:t>
              </a:r>
            </a:p>
          </p:txBody>
        </p:sp>
        <p:sp>
          <p:nvSpPr>
            <p:cNvPr id="65575" name="Text Box 62"/>
            <p:cNvSpPr txBox="1"/>
            <p:nvPr/>
          </p:nvSpPr>
          <p:spPr>
            <a:xfrm>
              <a:off x="3744" y="768"/>
              <a:ext cx="388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func</a:t>
              </a:r>
              <a:endPara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76" name="Text Box 63"/>
            <p:cNvSpPr txBox="1"/>
            <p:nvPr/>
          </p:nvSpPr>
          <p:spPr>
            <a:xfrm>
              <a:off x="614" y="487"/>
              <a:ext cx="835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R-format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</a:rPr>
                <a:t>: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5577" name="Rectangle 73"/>
            <p:cNvSpPr/>
            <p:nvPr/>
          </p:nvSpPr>
          <p:spPr>
            <a:xfrm>
              <a:off x="3359" y="768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5578" name="Rectangle 74"/>
            <p:cNvSpPr/>
            <p:nvPr/>
          </p:nvSpPr>
          <p:spPr>
            <a:xfrm>
              <a:off x="3360" y="816"/>
              <a:ext cx="308" cy="16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smt</a:t>
              </a:r>
            </a:p>
          </p:txBody>
        </p:sp>
        <p:sp>
          <p:nvSpPr>
            <p:cNvPr id="65579" name="Text Box 75"/>
            <p:cNvSpPr txBox="1"/>
            <p:nvPr/>
          </p:nvSpPr>
          <p:spPr>
            <a:xfrm>
              <a:off x="2016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5580" name="Text Box 76"/>
            <p:cNvSpPr txBox="1"/>
            <p:nvPr/>
          </p:nvSpPr>
          <p:spPr>
            <a:xfrm>
              <a:off x="2736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5581" name="Text Box 77"/>
            <p:cNvSpPr txBox="1"/>
            <p:nvPr/>
          </p:nvSpPr>
          <p:spPr>
            <a:xfrm>
              <a:off x="3072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5582" name="Text Box 78"/>
            <p:cNvSpPr txBox="1"/>
            <p:nvPr/>
          </p:nvSpPr>
          <p:spPr>
            <a:xfrm>
              <a:off x="3408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5583" name="Text Box 79"/>
            <p:cNvSpPr txBox="1"/>
            <p:nvPr/>
          </p:nvSpPr>
          <p:spPr>
            <a:xfrm>
              <a:off x="3792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5584" name="Text Box 80"/>
            <p:cNvSpPr txBox="1"/>
            <p:nvPr/>
          </p:nvSpPr>
          <p:spPr>
            <a:xfrm>
              <a:off x="2400" y="576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6" name="Group 87"/>
          <p:cNvGrpSpPr/>
          <p:nvPr/>
        </p:nvGrpSpPr>
        <p:grpSpPr>
          <a:xfrm>
            <a:off x="498475" y="5116513"/>
            <a:ext cx="7308850" cy="1271587"/>
            <a:chOff x="614" y="3223"/>
            <a:chExt cx="4604" cy="801"/>
          </a:xfrm>
        </p:grpSpPr>
        <p:grpSp>
          <p:nvGrpSpPr>
            <p:cNvPr id="65552" name="Group 85"/>
            <p:cNvGrpSpPr/>
            <p:nvPr/>
          </p:nvGrpSpPr>
          <p:grpSpPr>
            <a:xfrm>
              <a:off x="614" y="3223"/>
              <a:ext cx="4604" cy="801"/>
              <a:chOff x="614" y="3223"/>
              <a:chExt cx="4604" cy="801"/>
            </a:xfrm>
          </p:grpSpPr>
          <p:sp>
            <p:nvSpPr>
              <p:cNvPr id="65554" name="Text Box 65"/>
              <p:cNvSpPr txBox="1"/>
              <p:nvPr/>
            </p:nvSpPr>
            <p:spPr>
              <a:xfrm>
                <a:off x="614" y="3223"/>
                <a:ext cx="808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accent1"/>
                    </a:solidFill>
                    <a:latin typeface="Arial" panose="020B0604020202090204" pitchFamily="34" charset="0"/>
                  </a:rPr>
                  <a:t>J-format:</a:t>
                </a:r>
                <a:endPara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65555" name="Rectangle 66"/>
              <p:cNvSpPr/>
              <p:nvPr/>
            </p:nvSpPr>
            <p:spPr>
              <a:xfrm>
                <a:off x="1968" y="3552"/>
                <a:ext cx="376" cy="232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5556" name="Rectangle 67"/>
              <p:cNvSpPr/>
              <p:nvPr/>
            </p:nvSpPr>
            <p:spPr>
              <a:xfrm>
                <a:off x="2016" y="3600"/>
                <a:ext cx="256" cy="17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op</a:t>
                </a:r>
              </a:p>
            </p:txBody>
          </p:sp>
          <p:sp>
            <p:nvSpPr>
              <p:cNvPr id="65557" name="Rectangle 68"/>
              <p:cNvSpPr/>
              <p:nvPr/>
            </p:nvSpPr>
            <p:spPr>
              <a:xfrm>
                <a:off x="2352" y="3552"/>
                <a:ext cx="1824" cy="24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5558" name="Text Box 69"/>
              <p:cNvSpPr txBox="1"/>
              <p:nvPr/>
            </p:nvSpPr>
            <p:spPr>
              <a:xfrm>
                <a:off x="2448" y="3552"/>
                <a:ext cx="485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addr.</a:t>
                </a:r>
              </a:p>
            </p:txBody>
          </p:sp>
          <p:sp>
            <p:nvSpPr>
              <p:cNvPr id="65559" name="Rectangle 70"/>
              <p:cNvSpPr/>
              <p:nvPr/>
            </p:nvSpPr>
            <p:spPr>
              <a:xfrm>
                <a:off x="4560" y="3504"/>
                <a:ext cx="616" cy="52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65560" name="Text Box 71"/>
              <p:cNvSpPr txBox="1"/>
              <p:nvPr/>
            </p:nvSpPr>
            <p:spPr>
              <a:xfrm>
                <a:off x="4550" y="3479"/>
                <a:ext cx="668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Memory</a:t>
                </a:r>
                <a:endPara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65561" name="Line 72"/>
              <p:cNvSpPr/>
              <p:nvPr/>
            </p:nvSpPr>
            <p:spPr>
              <a:xfrm>
                <a:off x="3216" y="3648"/>
                <a:ext cx="129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65553" name="Text Box 86"/>
            <p:cNvSpPr txBox="1"/>
            <p:nvPr/>
          </p:nvSpPr>
          <p:spPr>
            <a:xfrm>
              <a:off x="640" y="3557"/>
              <a:ext cx="1087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Pseudodirect</a:t>
              </a:r>
            </a:p>
            <a:p>
              <a:r>
                <a:rPr lang="zh-CN" altLang="en-US" sz="1800" dirty="0">
                  <a:solidFill>
                    <a:srgbClr val="0033CC"/>
                  </a:solidFill>
                  <a:latin typeface="Arial" panose="020B0604020202090204" pitchFamily="34" charset="0"/>
                </a:rPr>
                <a:t>伪直接寻址</a:t>
              </a:r>
            </a:p>
          </p:txBody>
        </p:sp>
      </p:grpSp>
      <p:sp>
        <p:nvSpPr>
          <p:cNvPr id="234584" name="Text Box 88"/>
          <p:cNvSpPr txBox="1"/>
          <p:nvPr/>
        </p:nvSpPr>
        <p:spPr>
          <a:xfrm>
            <a:off x="6765925" y="3629025"/>
            <a:ext cx="1016000" cy="2952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Arial" panose="020B0604020202090204" pitchFamily="34" charset="0"/>
              </a:rPr>
              <a:t>B/HW/W</a:t>
            </a:r>
          </a:p>
        </p:txBody>
      </p:sp>
      <p:sp>
        <p:nvSpPr>
          <p:cNvPr id="234586" name="Text Box 90"/>
          <p:cNvSpPr txBox="1"/>
          <p:nvPr/>
        </p:nvSpPr>
        <p:spPr>
          <a:xfrm>
            <a:off x="6297613" y="2743200"/>
            <a:ext cx="2722562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Byte / Half Word / Word</a:t>
            </a:r>
          </a:p>
        </p:txBody>
      </p:sp>
      <p:sp>
        <p:nvSpPr>
          <p:cNvPr id="234587" name="Text Box 91"/>
          <p:cNvSpPr txBox="1"/>
          <p:nvPr/>
        </p:nvSpPr>
        <p:spPr>
          <a:xfrm>
            <a:off x="6523038" y="234950"/>
            <a:ext cx="2297112" cy="6604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有专门的寻址方式字段（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Mod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）吗？</a:t>
            </a:r>
          </a:p>
        </p:txBody>
      </p:sp>
      <p:sp>
        <p:nvSpPr>
          <p:cNvPr id="234588" name="Text Box 92"/>
          <p:cNvSpPr txBox="1"/>
          <p:nvPr/>
        </p:nvSpPr>
        <p:spPr>
          <a:xfrm>
            <a:off x="6472238" y="965200"/>
            <a:ext cx="2538412" cy="137795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没有！由指令格式来确定，而指令格式由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op</a:t>
            </a: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来确定！</a:t>
            </a:r>
          </a:p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还记得如何确定的吗？</a:t>
            </a:r>
          </a:p>
        </p:txBody>
      </p:sp>
      <p:sp>
        <p:nvSpPr>
          <p:cNvPr id="234589" name="Text Box 93"/>
          <p:cNvSpPr txBox="1"/>
          <p:nvPr/>
        </p:nvSpPr>
        <p:spPr>
          <a:xfrm>
            <a:off x="1506538" y="6216650"/>
            <a:ext cx="5353050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Arial" panose="020B0604020202090204" pitchFamily="34" charset="0"/>
                <a:ea typeface="黑体" pitchFamily="49" charset="-122"/>
              </a:rPr>
              <a:t>为什么称伪直接？还记得如何得到最终地址的吗？</a:t>
            </a:r>
          </a:p>
          <a:p>
            <a:r>
              <a:rPr lang="zh-CN" altLang="en-US" sz="18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最终地址</a:t>
            </a:r>
            <a:r>
              <a:rPr lang="en-US" altLang="zh-CN" sz="18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=PC</a:t>
            </a:r>
            <a:r>
              <a:rPr lang="en-US" altLang="zh-CN" sz="1800" baseline="-25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31</a:t>
            </a:r>
            <a:r>
              <a:rPr lang="zh-CN" altLang="en-US" sz="1800" baseline="-25000" dirty="0">
                <a:solidFill>
                  <a:srgbClr val="4B9556"/>
                </a:solidFill>
                <a:latin typeface="Arial" panose="020B0604020202090204" pitchFamily="34" charset="0"/>
              </a:rPr>
              <a:t>～</a:t>
            </a:r>
            <a:r>
              <a:rPr lang="en-US" altLang="zh-CN" sz="1800" baseline="-25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28</a:t>
            </a:r>
            <a:r>
              <a:rPr lang="en-US" altLang="zh-CN" sz="18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||addr.||00   </a:t>
            </a:r>
            <a:r>
              <a:rPr lang="zh-CN" altLang="en-US" sz="18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位数：</a:t>
            </a:r>
            <a:r>
              <a:rPr lang="en-US" altLang="zh-CN" sz="18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4+26+2=32</a:t>
            </a:r>
          </a:p>
        </p:txBody>
      </p:sp>
      <p:sp>
        <p:nvSpPr>
          <p:cNvPr id="93" name="Rectangle 17"/>
          <p:cNvSpPr/>
          <p:nvPr/>
        </p:nvSpPr>
        <p:spPr>
          <a:xfrm>
            <a:off x="1890713" y="696913"/>
            <a:ext cx="1722437" cy="2873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90204" pitchFamily="34" charset="0"/>
              </a:rPr>
              <a:t>OP=000000H</a:t>
            </a:r>
          </a:p>
        </p:txBody>
      </p:sp>
      <p:sp>
        <p:nvSpPr>
          <p:cNvPr id="94" name="Rectangle 17"/>
          <p:cNvSpPr/>
          <p:nvPr/>
        </p:nvSpPr>
        <p:spPr>
          <a:xfrm>
            <a:off x="1851025" y="5205413"/>
            <a:ext cx="4387850" cy="2873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90204" pitchFamily="34" charset="0"/>
              </a:rPr>
              <a:t>OP=000010H or 000011H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4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4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60" grpId="0"/>
      <p:bldP spid="234584" grpId="0"/>
      <p:bldP spid="234586" grpId="0"/>
      <p:bldP spid="93" grpId="0"/>
      <p:bldP spid="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/>
          </p:cNvSpPr>
          <p:nvPr>
            <p:ph idx="1"/>
          </p:nvPr>
        </p:nvSpPr>
        <p:spPr>
          <a:xfrm>
            <a:off x="311150" y="731838"/>
            <a:ext cx="8461375" cy="554037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若从存储器取来一条指令为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00AF8020H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，则对应的汇编形式是什么？</a:t>
            </a:r>
          </a:p>
          <a:p>
            <a:pPr>
              <a:buNone/>
            </a:pP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指令的前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6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位为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000000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，根据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2" action="ppaction://hlinksldjump"/>
              </a:rPr>
              <a:t>指令解码表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知，是一条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R-Type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指令，按照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R-Type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指令的格式</a:t>
            </a:r>
          </a:p>
          <a:p>
            <a:pPr>
              <a:lnSpc>
                <a:spcPct val="105000"/>
              </a:lnSpc>
              <a:buNone/>
            </a:pP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05000"/>
              </a:lnSpc>
              <a:buNone/>
            </a:pP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 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 得到：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rs=00101, rt=01111, rd=10000, shamt=00000, funct=100000</a:t>
            </a:r>
          </a:p>
          <a:p>
            <a:pPr>
              <a:lnSpc>
                <a:spcPct val="105000"/>
              </a:lnSpc>
              <a:buNone/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    1.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根据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  <a:hlinkClick r:id="rId3" action="ppaction://hlinksldjump"/>
              </a:rPr>
              <a:t>R-Type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3" action="ppaction://hlinksldjump"/>
              </a:rPr>
              <a:t>指令解码表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，知是 “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add”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操作（非移位操作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>
              <a:lnSpc>
                <a:spcPct val="105000"/>
              </a:lnSpc>
              <a:buNone/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    2. rs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rt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rd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的十进制值分别为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5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15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，从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  <a:hlinkClick r:id="rId4" action="ppaction://hlinksldjump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4" action="ppaction://hlinksldjump"/>
              </a:rPr>
              <a:t>寄存器功能表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知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:    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    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rt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rd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分别为：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$a1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$t7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$s0</a:t>
            </a: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 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故对应的汇编形式为：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        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add   $s0 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$a1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$t7</a:t>
            </a:r>
            <a:endParaRPr lang="zh-CN" altLang="en-US" dirty="0">
              <a:solidFill>
                <a:srgbClr val="0033CC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buNone/>
            </a:pPr>
            <a:endParaRPr lang="en-US" altLang="zh-CN" dirty="0">
              <a:solidFill>
                <a:srgbClr val="0033CC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buNone/>
            </a:pP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7587" name="Rectangle 4"/>
          <p:cNvSpPr>
            <a:spLocks noGrp="1"/>
          </p:cNvSpPr>
          <p:nvPr>
            <p:ph type="title"/>
          </p:nvPr>
        </p:nvSpPr>
        <p:spPr>
          <a:xfrm>
            <a:off x="711200" y="114300"/>
            <a:ext cx="52514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>
              <a:buNone/>
            </a:pPr>
            <a:r>
              <a:rPr lang="en-US" altLang="zh-CN" dirty="0">
                <a:ea typeface="宋体" pitchFamily="2" charset="-122"/>
              </a:rPr>
              <a:t>Example</a:t>
            </a:r>
            <a:r>
              <a:rPr lang="zh-CN" altLang="en-US" dirty="0">
                <a:ea typeface="宋体" pitchFamily="2" charset="-122"/>
              </a:rPr>
              <a:t>：</a:t>
            </a:r>
            <a:r>
              <a:rPr lang="zh-CN" altLang="en-US" sz="2600" dirty="0">
                <a:ea typeface="宋体" pitchFamily="2" charset="-122"/>
              </a:rPr>
              <a:t>汇编形式与指令的对应</a:t>
            </a:r>
          </a:p>
        </p:txBody>
      </p:sp>
      <p:grpSp>
        <p:nvGrpSpPr>
          <p:cNvPr id="2" name="Group 45"/>
          <p:cNvGrpSpPr/>
          <p:nvPr/>
        </p:nvGrpSpPr>
        <p:grpSpPr>
          <a:xfrm>
            <a:off x="1577975" y="2284413"/>
            <a:ext cx="5964238" cy="757237"/>
            <a:chOff x="994" y="1577"/>
            <a:chExt cx="3757" cy="477"/>
          </a:xfrm>
        </p:grpSpPr>
        <p:grpSp>
          <p:nvGrpSpPr>
            <p:cNvPr id="67594" name="Group 8"/>
            <p:cNvGrpSpPr/>
            <p:nvPr/>
          </p:nvGrpSpPr>
          <p:grpSpPr>
            <a:xfrm>
              <a:off x="994" y="1652"/>
              <a:ext cx="3757" cy="402"/>
              <a:chOff x="1918" y="672"/>
              <a:chExt cx="3757" cy="402"/>
            </a:xfrm>
          </p:grpSpPr>
          <p:grpSp>
            <p:nvGrpSpPr>
              <p:cNvPr id="67601" name="Group 9"/>
              <p:cNvGrpSpPr/>
              <p:nvPr/>
            </p:nvGrpSpPr>
            <p:grpSpPr>
              <a:xfrm>
                <a:off x="1979" y="864"/>
                <a:ext cx="3607" cy="210"/>
                <a:chOff x="1979" y="864"/>
                <a:chExt cx="3607" cy="210"/>
              </a:xfrm>
            </p:grpSpPr>
            <p:sp>
              <p:nvSpPr>
                <p:cNvPr id="67609" name="Rectangle 10"/>
                <p:cNvSpPr/>
                <p:nvPr/>
              </p:nvSpPr>
              <p:spPr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Arial" panose="020B0604020202090204" pitchFamily="34" charset="0"/>
                  </a:endParaRPr>
                </a:p>
              </p:txBody>
            </p:sp>
            <p:grpSp>
              <p:nvGrpSpPr>
                <p:cNvPr id="67610" name="Group 11"/>
                <p:cNvGrpSpPr/>
                <p:nvPr/>
              </p:nvGrpSpPr>
              <p:grpSpPr>
                <a:xfrm>
                  <a:off x="1979" y="864"/>
                  <a:ext cx="3607" cy="210"/>
                  <a:chOff x="1979" y="864"/>
                  <a:chExt cx="3607" cy="210"/>
                </a:xfrm>
              </p:grpSpPr>
              <p:grpSp>
                <p:nvGrpSpPr>
                  <p:cNvPr id="67611" name="Group 12"/>
                  <p:cNvGrpSpPr/>
                  <p:nvPr/>
                </p:nvGrpSpPr>
                <p:grpSpPr>
                  <a:xfrm>
                    <a:off x="1979" y="864"/>
                    <a:ext cx="624" cy="210"/>
                    <a:chOff x="1979" y="864"/>
                    <a:chExt cx="624" cy="210"/>
                  </a:xfrm>
                </p:grpSpPr>
                <p:sp>
                  <p:nvSpPr>
                    <p:cNvPr id="67627" name="Rectangle 13"/>
                    <p:cNvSpPr/>
                    <p:nvPr/>
                  </p:nvSpPr>
                  <p:spPr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28" name="Rectangle 14"/>
                    <p:cNvSpPr/>
                    <p:nvPr/>
                  </p:nvSpPr>
                  <p:spPr>
                    <a:xfrm>
                      <a:off x="2161" y="864"/>
                      <a:ext cx="249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67612" name="Group 15"/>
                  <p:cNvGrpSpPr/>
                  <p:nvPr/>
                </p:nvGrpSpPr>
                <p:grpSpPr>
                  <a:xfrm>
                    <a:off x="2611" y="864"/>
                    <a:ext cx="580" cy="210"/>
                    <a:chOff x="2611" y="864"/>
                    <a:chExt cx="580" cy="210"/>
                  </a:xfrm>
                </p:grpSpPr>
                <p:sp>
                  <p:nvSpPr>
                    <p:cNvPr id="67625" name="Rectangle 16"/>
                    <p:cNvSpPr/>
                    <p:nvPr/>
                  </p:nvSpPr>
                  <p:spPr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26" name="Rectangle 17"/>
                    <p:cNvSpPr/>
                    <p:nvPr/>
                  </p:nvSpPr>
                  <p:spPr>
                    <a:xfrm>
                      <a:off x="2776" y="864"/>
                      <a:ext cx="221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67613" name="Group 18"/>
                  <p:cNvGrpSpPr/>
                  <p:nvPr/>
                </p:nvGrpSpPr>
                <p:grpSpPr>
                  <a:xfrm>
                    <a:off x="3199" y="864"/>
                    <a:ext cx="579" cy="210"/>
                    <a:chOff x="3199" y="864"/>
                    <a:chExt cx="579" cy="210"/>
                  </a:xfrm>
                </p:grpSpPr>
                <p:sp>
                  <p:nvSpPr>
                    <p:cNvPr id="67623" name="Rectangle 19"/>
                    <p:cNvSpPr/>
                    <p:nvPr/>
                  </p:nvSpPr>
                  <p:spPr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24" name="Rectangle 20"/>
                    <p:cNvSpPr/>
                    <p:nvPr/>
                  </p:nvSpPr>
                  <p:spPr>
                    <a:xfrm>
                      <a:off x="3363" y="864"/>
                      <a:ext cx="214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67614" name="Group 21"/>
                  <p:cNvGrpSpPr/>
                  <p:nvPr/>
                </p:nvGrpSpPr>
                <p:grpSpPr>
                  <a:xfrm>
                    <a:off x="3786" y="864"/>
                    <a:ext cx="579" cy="210"/>
                    <a:chOff x="3786" y="864"/>
                    <a:chExt cx="579" cy="210"/>
                  </a:xfrm>
                </p:grpSpPr>
                <p:sp>
                  <p:nvSpPr>
                    <p:cNvPr id="67621" name="Rectangle 22"/>
                    <p:cNvSpPr/>
                    <p:nvPr/>
                  </p:nvSpPr>
                  <p:spPr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22" name="Rectangle 23"/>
                    <p:cNvSpPr/>
                    <p:nvPr/>
                  </p:nvSpPr>
                  <p:spPr>
                    <a:xfrm>
                      <a:off x="3951" y="864"/>
                      <a:ext cx="242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67615" name="Group 24"/>
                  <p:cNvGrpSpPr/>
                  <p:nvPr/>
                </p:nvGrpSpPr>
                <p:grpSpPr>
                  <a:xfrm>
                    <a:off x="4373" y="864"/>
                    <a:ext cx="580" cy="210"/>
                    <a:chOff x="4373" y="864"/>
                    <a:chExt cx="580" cy="210"/>
                  </a:xfrm>
                </p:grpSpPr>
                <p:sp>
                  <p:nvSpPr>
                    <p:cNvPr id="67619" name="Rectangle 25"/>
                    <p:cNvSpPr/>
                    <p:nvPr/>
                  </p:nvSpPr>
                  <p:spPr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20" name="Rectangle 26"/>
                    <p:cNvSpPr/>
                    <p:nvPr/>
                  </p:nvSpPr>
                  <p:spPr>
                    <a:xfrm>
                      <a:off x="4448" y="864"/>
                      <a:ext cx="449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67616" name="Group 27"/>
                  <p:cNvGrpSpPr/>
                  <p:nvPr/>
                </p:nvGrpSpPr>
                <p:grpSpPr>
                  <a:xfrm>
                    <a:off x="4961" y="864"/>
                    <a:ext cx="625" cy="210"/>
                    <a:chOff x="4961" y="864"/>
                    <a:chExt cx="625" cy="210"/>
                  </a:xfrm>
                </p:grpSpPr>
                <p:sp>
                  <p:nvSpPr>
                    <p:cNvPr id="67617" name="Rectangle 28"/>
                    <p:cNvSpPr/>
                    <p:nvPr/>
                  </p:nvSpPr>
                  <p:spPr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67618" name="Rectangle 29"/>
                    <p:cNvSpPr/>
                    <p:nvPr/>
                  </p:nvSpPr>
                  <p:spPr>
                    <a:xfrm>
                      <a:off x="5143" y="864"/>
                      <a:ext cx="356" cy="210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67602" name="Rectangle 30"/>
              <p:cNvSpPr/>
              <p:nvPr/>
            </p:nvSpPr>
            <p:spPr>
              <a:xfrm>
                <a:off x="5488" y="672"/>
                <a:ext cx="187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67603" name="Rectangle 31"/>
              <p:cNvSpPr/>
              <p:nvPr/>
            </p:nvSpPr>
            <p:spPr>
              <a:xfrm>
                <a:off x="4810" y="672"/>
                <a:ext cx="187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6</a:t>
                </a:r>
              </a:p>
            </p:txBody>
          </p:sp>
          <p:sp>
            <p:nvSpPr>
              <p:cNvPr id="67604" name="Rectangle 32"/>
              <p:cNvSpPr/>
              <p:nvPr/>
            </p:nvSpPr>
            <p:spPr>
              <a:xfrm>
                <a:off x="4177" y="672"/>
                <a:ext cx="251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11</a:t>
                </a:r>
              </a:p>
            </p:txBody>
          </p:sp>
          <p:sp>
            <p:nvSpPr>
              <p:cNvPr id="67605" name="Rectangle 33"/>
              <p:cNvSpPr/>
              <p:nvPr/>
            </p:nvSpPr>
            <p:spPr>
              <a:xfrm>
                <a:off x="3590" y="672"/>
                <a:ext cx="259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16</a:t>
                </a:r>
              </a:p>
            </p:txBody>
          </p:sp>
          <p:sp>
            <p:nvSpPr>
              <p:cNvPr id="67606" name="Rectangle 34"/>
              <p:cNvSpPr/>
              <p:nvPr/>
            </p:nvSpPr>
            <p:spPr>
              <a:xfrm>
                <a:off x="3002" y="672"/>
                <a:ext cx="259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21</a:t>
                </a:r>
              </a:p>
            </p:txBody>
          </p:sp>
          <p:sp>
            <p:nvSpPr>
              <p:cNvPr id="67607" name="Rectangle 35"/>
              <p:cNvSpPr/>
              <p:nvPr/>
            </p:nvSpPr>
            <p:spPr>
              <a:xfrm>
                <a:off x="2414" y="672"/>
                <a:ext cx="259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26</a:t>
                </a:r>
              </a:p>
            </p:txBody>
          </p:sp>
          <p:sp>
            <p:nvSpPr>
              <p:cNvPr id="67608" name="Rectangle 36"/>
              <p:cNvSpPr/>
              <p:nvPr/>
            </p:nvSpPr>
            <p:spPr>
              <a:xfrm>
                <a:off x="1918" y="672"/>
                <a:ext cx="259" cy="2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90204" pitchFamily="34" charset="0"/>
                  </a:rPr>
                  <a:t>31</a:t>
                </a:r>
              </a:p>
            </p:txBody>
          </p:sp>
        </p:grpSp>
        <p:sp>
          <p:nvSpPr>
            <p:cNvPr id="67595" name="Rectangle 37"/>
            <p:cNvSpPr/>
            <p:nvPr/>
          </p:nvSpPr>
          <p:spPr>
            <a:xfrm>
              <a:off x="1147" y="1577"/>
              <a:ext cx="449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6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  <p:sp>
          <p:nvSpPr>
            <p:cNvPr id="67596" name="Rectangle 38"/>
            <p:cNvSpPr/>
            <p:nvPr/>
          </p:nvSpPr>
          <p:spPr>
            <a:xfrm>
              <a:off x="4130" y="1577"/>
              <a:ext cx="45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6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  <p:sp>
          <p:nvSpPr>
            <p:cNvPr id="67597" name="Rectangle 39"/>
            <p:cNvSpPr/>
            <p:nvPr/>
          </p:nvSpPr>
          <p:spPr>
            <a:xfrm>
              <a:off x="3497" y="1577"/>
              <a:ext cx="45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5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  <p:sp>
          <p:nvSpPr>
            <p:cNvPr id="67598" name="Rectangle 40"/>
            <p:cNvSpPr/>
            <p:nvPr/>
          </p:nvSpPr>
          <p:spPr>
            <a:xfrm>
              <a:off x="2910" y="1577"/>
              <a:ext cx="45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5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  <p:sp>
          <p:nvSpPr>
            <p:cNvPr id="67599" name="Rectangle 41"/>
            <p:cNvSpPr/>
            <p:nvPr/>
          </p:nvSpPr>
          <p:spPr>
            <a:xfrm>
              <a:off x="2322" y="1577"/>
              <a:ext cx="45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5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  <p:sp>
          <p:nvSpPr>
            <p:cNvPr id="67600" name="Rectangle 42"/>
            <p:cNvSpPr/>
            <p:nvPr/>
          </p:nvSpPr>
          <p:spPr>
            <a:xfrm>
              <a:off x="1735" y="1577"/>
              <a:ext cx="45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5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bits</a:t>
              </a:r>
            </a:p>
          </p:txBody>
        </p:sp>
      </p:grpSp>
      <p:sp>
        <p:nvSpPr>
          <p:cNvPr id="273452" name="Text Box 44"/>
          <p:cNvSpPr txBox="1"/>
          <p:nvPr/>
        </p:nvSpPr>
        <p:spPr>
          <a:xfrm>
            <a:off x="1674813" y="3005138"/>
            <a:ext cx="5761037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000000      00101     01111   10000      00000    100000</a:t>
            </a:r>
          </a:p>
        </p:txBody>
      </p:sp>
      <p:sp>
        <p:nvSpPr>
          <p:cNvPr id="67590" name="Text Box 46"/>
          <p:cNvSpPr txBox="1"/>
          <p:nvPr/>
        </p:nvSpPr>
        <p:spPr>
          <a:xfrm>
            <a:off x="5280025" y="5175250"/>
            <a:ext cx="127000" cy="173038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73455" name="Text Box 47"/>
          <p:cNvSpPr txBox="1"/>
          <p:nvPr/>
        </p:nvSpPr>
        <p:spPr>
          <a:xfrm>
            <a:off x="4652963" y="5629275"/>
            <a:ext cx="4314825" cy="660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这个过程称为“反汇编”，可用来破解他人的二进制代码（可执行程序）</a:t>
            </a:r>
            <a:r>
              <a:rPr lang="en-US" altLang="zh-CN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.</a:t>
            </a:r>
          </a:p>
        </p:txBody>
      </p:sp>
      <p:sp>
        <p:nvSpPr>
          <p:cNvPr id="67592" name="Text Box 49"/>
          <p:cNvSpPr txBox="1"/>
          <p:nvPr/>
        </p:nvSpPr>
        <p:spPr>
          <a:xfrm>
            <a:off x="990600" y="1106488"/>
            <a:ext cx="7466013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90204" pitchFamily="34" charset="0"/>
              </a:rPr>
              <a:t>32</a:t>
            </a:r>
            <a:r>
              <a:rPr lang="zh-CN" altLang="en-US" sz="2000" dirty="0">
                <a:latin typeface="Arial" panose="020B0604020202090204" pitchFamily="34" charset="0"/>
              </a:rPr>
              <a:t>位指令代码：</a:t>
            </a:r>
            <a:r>
              <a:rPr lang="en-US" altLang="zh-CN" sz="2000" dirty="0">
                <a:latin typeface="Arial" panose="020B0604020202090204" pitchFamily="34" charset="0"/>
              </a:rPr>
              <a:t>0000  00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00 101</a:t>
            </a:r>
            <a:r>
              <a:rPr lang="en-US" altLang="zh-CN" sz="2000" dirty="0">
                <a:latin typeface="Arial" panose="020B0604020202090204" pitchFamily="34" charset="0"/>
              </a:rPr>
              <a:t>0 1111 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1000 0</a:t>
            </a:r>
            <a:r>
              <a:rPr lang="en-US" altLang="zh-CN" sz="2000" dirty="0">
                <a:latin typeface="Arial" panose="020B0604020202090204" pitchFamily="34" charset="0"/>
              </a:rPr>
              <a:t>000 00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10 0000</a:t>
            </a:r>
            <a:r>
              <a:rPr lang="en-US" altLang="zh-CN" dirty="0">
                <a:latin typeface="Arial" panose="020B0604020202090204" pitchFamily="34" charset="0"/>
              </a:rPr>
              <a:t> </a:t>
            </a:r>
          </a:p>
        </p:txBody>
      </p:sp>
      <p:sp>
        <p:nvSpPr>
          <p:cNvPr id="273458" name="Text Box 50"/>
          <p:cNvSpPr txBox="1"/>
          <p:nvPr/>
        </p:nvSpPr>
        <p:spPr>
          <a:xfrm>
            <a:off x="944563" y="6070600"/>
            <a:ext cx="3081337" cy="3889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Arial" panose="020B0604020202090204" pitchFamily="34" charset="0"/>
              </a:rPr>
              <a:t>功能：</a:t>
            </a:r>
            <a:r>
              <a:rPr lang="en-US" altLang="zh-CN" sz="2200" dirty="0">
                <a:latin typeface="Arial" panose="020B0604020202090204" pitchFamily="34" charset="0"/>
              </a:rPr>
              <a:t>$a1 + $t7 → $s0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3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3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52" grpId="0"/>
      <p:bldP spid="273455" grpId="0"/>
      <p:bldP spid="2734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>
          <a:xfrm>
            <a:off x="771525" y="100013"/>
            <a:ext cx="51974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Example</a:t>
            </a:r>
            <a:r>
              <a:rPr lang="zh-CN" altLang="en-US" dirty="0">
                <a:ea typeface="宋体" pitchFamily="2" charset="-122"/>
              </a:rPr>
              <a:t>：</a:t>
            </a:r>
            <a:r>
              <a:rPr lang="zh-CN" altLang="en-US" sz="2600" dirty="0">
                <a:ea typeface="宋体" pitchFamily="2" charset="-122"/>
              </a:rPr>
              <a:t>汇编形式与指令的对应</a:t>
            </a: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436563" y="744538"/>
            <a:ext cx="8191500" cy="998537"/>
          </a:xfrm>
          <a:ln/>
        </p:spPr>
        <p:txBody>
          <a:bodyPr vert="horz" wrap="square" lIns="91440" tIns="45720" rIns="91440" bIns="45720" anchor="t" anchorCtr="0"/>
          <a:lstStyle/>
          <a:p>
            <a:pPr marL="203200" indent="-203200"/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若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 Assembly Instruction:      </a:t>
            </a:r>
            <a:r>
              <a:rPr lang="en-US" altLang="zh-CN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</a:rPr>
              <a:t>Add  $t0,$s1,$s2</a:t>
            </a:r>
          </a:p>
          <a:p>
            <a:pPr marL="203200" indent="-203200"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则对应的指令机器代码是什么？</a:t>
            </a:r>
          </a:p>
          <a:p>
            <a:pPr lvl="1" indent="-190500"/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marL="203200" indent="-203200"/>
            <a:endParaRPr lang="en-US" altLang="zh-CN" dirty="0">
              <a:latin typeface="Arial" panose="020B0604020202090204" pitchFamily="34" charset="0"/>
            </a:endParaRPr>
          </a:p>
        </p:txBody>
      </p:sp>
      <p:grpSp>
        <p:nvGrpSpPr>
          <p:cNvPr id="2" name="Group 71"/>
          <p:cNvGrpSpPr/>
          <p:nvPr/>
        </p:nvGrpSpPr>
        <p:grpSpPr>
          <a:xfrm>
            <a:off x="596900" y="1658938"/>
            <a:ext cx="6623050" cy="1414462"/>
            <a:chOff x="658" y="1045"/>
            <a:chExt cx="3560" cy="891"/>
          </a:xfrm>
        </p:grpSpPr>
        <p:sp>
          <p:nvSpPr>
            <p:cNvPr id="68677" name="Rectangle 4"/>
            <p:cNvSpPr/>
            <p:nvPr/>
          </p:nvSpPr>
          <p:spPr>
            <a:xfrm>
              <a:off x="2099" y="1335"/>
              <a:ext cx="376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78" name="Rectangle 5"/>
            <p:cNvSpPr/>
            <p:nvPr/>
          </p:nvSpPr>
          <p:spPr>
            <a:xfrm>
              <a:off x="2094" y="1395"/>
              <a:ext cx="219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op</a:t>
              </a:r>
            </a:p>
          </p:txBody>
        </p:sp>
        <p:sp>
          <p:nvSpPr>
            <p:cNvPr id="68679" name="Rectangle 6"/>
            <p:cNvSpPr/>
            <p:nvPr/>
          </p:nvSpPr>
          <p:spPr>
            <a:xfrm>
              <a:off x="2474" y="1335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80" name="Rectangle 7"/>
            <p:cNvSpPr/>
            <p:nvPr/>
          </p:nvSpPr>
          <p:spPr>
            <a:xfrm>
              <a:off x="2801" y="1335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81" name="Rectangle 8"/>
            <p:cNvSpPr/>
            <p:nvPr/>
          </p:nvSpPr>
          <p:spPr>
            <a:xfrm>
              <a:off x="3128" y="1335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82" name="Rectangle 9"/>
            <p:cNvSpPr/>
            <p:nvPr/>
          </p:nvSpPr>
          <p:spPr>
            <a:xfrm>
              <a:off x="3786" y="1335"/>
              <a:ext cx="432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83" name="Rectangle 10"/>
            <p:cNvSpPr/>
            <p:nvPr/>
          </p:nvSpPr>
          <p:spPr>
            <a:xfrm>
              <a:off x="2574" y="1395"/>
              <a:ext cx="184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rs</a:t>
              </a:r>
            </a:p>
          </p:txBody>
        </p:sp>
        <p:sp>
          <p:nvSpPr>
            <p:cNvPr id="68684" name="Rectangle 11"/>
            <p:cNvSpPr/>
            <p:nvPr/>
          </p:nvSpPr>
          <p:spPr>
            <a:xfrm>
              <a:off x="2862" y="1395"/>
              <a:ext cx="157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rt</a:t>
              </a:r>
            </a:p>
          </p:txBody>
        </p:sp>
        <p:sp>
          <p:nvSpPr>
            <p:cNvPr id="68685" name="Rectangle 12"/>
            <p:cNvSpPr/>
            <p:nvPr/>
          </p:nvSpPr>
          <p:spPr>
            <a:xfrm>
              <a:off x="3198" y="1395"/>
              <a:ext cx="191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rd</a:t>
              </a:r>
            </a:p>
          </p:txBody>
        </p:sp>
        <p:sp>
          <p:nvSpPr>
            <p:cNvPr id="68686" name="Rectangle 13"/>
            <p:cNvSpPr/>
            <p:nvPr/>
          </p:nvSpPr>
          <p:spPr>
            <a:xfrm>
              <a:off x="2426" y="1767"/>
              <a:ext cx="1144" cy="136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87" name="Rectangle 14"/>
            <p:cNvSpPr/>
            <p:nvPr/>
          </p:nvSpPr>
          <p:spPr>
            <a:xfrm>
              <a:off x="2574" y="1757"/>
              <a:ext cx="68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endParaRPr lang="en-US" altLang="zh-CN" sz="1800" dirty="0">
                <a:solidFill>
                  <a:schemeClr val="tx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88" name="Line 15"/>
            <p:cNvSpPr/>
            <p:nvPr/>
          </p:nvSpPr>
          <p:spPr>
            <a:xfrm>
              <a:off x="2662" y="1575"/>
              <a:ext cx="0" cy="184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89" name="Rectangle 16"/>
            <p:cNvSpPr/>
            <p:nvPr/>
          </p:nvSpPr>
          <p:spPr>
            <a:xfrm>
              <a:off x="750" y="1347"/>
              <a:ext cx="103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 </a:t>
              </a:r>
            </a:p>
          </p:txBody>
        </p:sp>
        <p:sp>
          <p:nvSpPr>
            <p:cNvPr id="68690" name="Text Box 17"/>
            <p:cNvSpPr txBox="1"/>
            <p:nvPr/>
          </p:nvSpPr>
          <p:spPr>
            <a:xfrm>
              <a:off x="3825" y="1335"/>
              <a:ext cx="388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func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91" name="Text Box 18"/>
            <p:cNvSpPr txBox="1"/>
            <p:nvPr/>
          </p:nvSpPr>
          <p:spPr>
            <a:xfrm>
              <a:off x="658" y="1045"/>
              <a:ext cx="99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endParaRPr lang="en-US" altLang="zh-CN" sz="2000" b="0" dirty="0">
                <a:solidFill>
                  <a:schemeClr val="accent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92" name="Rectangle 19"/>
            <p:cNvSpPr/>
            <p:nvPr/>
          </p:nvSpPr>
          <p:spPr>
            <a:xfrm>
              <a:off x="3458" y="1335"/>
              <a:ext cx="328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93" name="Rectangle 20"/>
            <p:cNvSpPr/>
            <p:nvPr/>
          </p:nvSpPr>
          <p:spPr>
            <a:xfrm>
              <a:off x="3486" y="1383"/>
              <a:ext cx="287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smt</a:t>
              </a:r>
            </a:p>
          </p:txBody>
        </p:sp>
        <p:sp>
          <p:nvSpPr>
            <p:cNvPr id="68694" name="Text Box 21"/>
            <p:cNvSpPr txBox="1"/>
            <p:nvPr/>
          </p:nvSpPr>
          <p:spPr>
            <a:xfrm>
              <a:off x="2142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95" name="Text Box 22"/>
            <p:cNvSpPr txBox="1"/>
            <p:nvPr/>
          </p:nvSpPr>
          <p:spPr>
            <a:xfrm>
              <a:off x="2862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96" name="Text Box 23"/>
            <p:cNvSpPr txBox="1"/>
            <p:nvPr/>
          </p:nvSpPr>
          <p:spPr>
            <a:xfrm>
              <a:off x="3198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97" name="Text Box 24"/>
            <p:cNvSpPr txBox="1"/>
            <p:nvPr/>
          </p:nvSpPr>
          <p:spPr>
            <a:xfrm>
              <a:off x="3534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98" name="Text Box 25"/>
            <p:cNvSpPr txBox="1"/>
            <p:nvPr/>
          </p:nvSpPr>
          <p:spPr>
            <a:xfrm>
              <a:off x="3918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99" name="Text Box 26"/>
            <p:cNvSpPr txBox="1"/>
            <p:nvPr/>
          </p:nvSpPr>
          <p:spPr>
            <a:xfrm>
              <a:off x="2526" y="1143"/>
              <a:ext cx="18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3" name="Group 72"/>
          <p:cNvGrpSpPr/>
          <p:nvPr/>
        </p:nvGrpSpPr>
        <p:grpSpPr>
          <a:xfrm>
            <a:off x="292100" y="3019425"/>
            <a:ext cx="6523038" cy="1436688"/>
            <a:chOff x="466" y="1902"/>
            <a:chExt cx="4109" cy="905"/>
          </a:xfrm>
        </p:grpSpPr>
        <p:sp>
          <p:nvSpPr>
            <p:cNvPr id="68652" name="Rectangle 27"/>
            <p:cNvSpPr/>
            <p:nvPr/>
          </p:nvSpPr>
          <p:spPr>
            <a:xfrm>
              <a:off x="1520" y="2306"/>
              <a:ext cx="531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53" name="Rectangle 28"/>
            <p:cNvSpPr/>
            <p:nvPr/>
          </p:nvSpPr>
          <p:spPr>
            <a:xfrm>
              <a:off x="1724" y="2366"/>
              <a:ext cx="159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</a:t>
              </a:r>
            </a:p>
          </p:txBody>
        </p:sp>
        <p:sp>
          <p:nvSpPr>
            <p:cNvPr id="68654" name="Rectangle 29"/>
            <p:cNvSpPr/>
            <p:nvPr/>
          </p:nvSpPr>
          <p:spPr>
            <a:xfrm>
              <a:off x="2054" y="2306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55" name="Rectangle 30"/>
            <p:cNvSpPr/>
            <p:nvPr/>
          </p:nvSpPr>
          <p:spPr>
            <a:xfrm>
              <a:off x="2520" y="2306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56" name="Rectangle 31"/>
            <p:cNvSpPr/>
            <p:nvPr/>
          </p:nvSpPr>
          <p:spPr>
            <a:xfrm>
              <a:off x="2985" y="2306"/>
              <a:ext cx="464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57" name="Rectangle 32"/>
            <p:cNvSpPr/>
            <p:nvPr/>
          </p:nvSpPr>
          <p:spPr>
            <a:xfrm>
              <a:off x="3905" y="2306"/>
              <a:ext cx="610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58" name="Rectangle 33"/>
            <p:cNvSpPr/>
            <p:nvPr/>
          </p:nvSpPr>
          <p:spPr>
            <a:xfrm>
              <a:off x="2195" y="2366"/>
              <a:ext cx="24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17</a:t>
              </a:r>
            </a:p>
          </p:txBody>
        </p:sp>
        <p:sp>
          <p:nvSpPr>
            <p:cNvPr id="68659" name="Rectangle 34"/>
            <p:cNvSpPr/>
            <p:nvPr/>
          </p:nvSpPr>
          <p:spPr>
            <a:xfrm>
              <a:off x="2602" y="2366"/>
              <a:ext cx="24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18</a:t>
              </a:r>
            </a:p>
          </p:txBody>
        </p:sp>
        <p:sp>
          <p:nvSpPr>
            <p:cNvPr id="68660" name="Rectangle 35"/>
            <p:cNvSpPr/>
            <p:nvPr/>
          </p:nvSpPr>
          <p:spPr>
            <a:xfrm>
              <a:off x="3077" y="2366"/>
              <a:ext cx="16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8</a:t>
              </a:r>
            </a:p>
          </p:txBody>
        </p:sp>
        <p:sp>
          <p:nvSpPr>
            <p:cNvPr id="68661" name="Text Box 36"/>
            <p:cNvSpPr txBox="1"/>
            <p:nvPr/>
          </p:nvSpPr>
          <p:spPr>
            <a:xfrm>
              <a:off x="4027" y="2333"/>
              <a:ext cx="548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2" name="Rectangle 37"/>
            <p:cNvSpPr/>
            <p:nvPr/>
          </p:nvSpPr>
          <p:spPr>
            <a:xfrm>
              <a:off x="3447" y="2306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63" name="Rectangle 38"/>
            <p:cNvSpPr/>
            <p:nvPr/>
          </p:nvSpPr>
          <p:spPr>
            <a:xfrm>
              <a:off x="3619" y="2381"/>
              <a:ext cx="151" cy="16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Arial" panose="020B0604020202090204" pitchFamily="34" charset="0"/>
                </a:rPr>
                <a:t>0</a:t>
              </a:r>
            </a:p>
          </p:txBody>
        </p:sp>
        <p:sp>
          <p:nvSpPr>
            <p:cNvPr id="68664" name="Text Box 39"/>
            <p:cNvSpPr txBox="1"/>
            <p:nvPr/>
          </p:nvSpPr>
          <p:spPr>
            <a:xfrm>
              <a:off x="1584" y="2114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65" name="Text Box 40"/>
            <p:cNvSpPr txBox="1"/>
            <p:nvPr/>
          </p:nvSpPr>
          <p:spPr>
            <a:xfrm>
              <a:off x="2602" y="2114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66" name="Text Box 41"/>
            <p:cNvSpPr txBox="1"/>
            <p:nvPr/>
          </p:nvSpPr>
          <p:spPr>
            <a:xfrm>
              <a:off x="3077" y="2114"/>
              <a:ext cx="261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67" name="Text Box 42"/>
            <p:cNvSpPr txBox="1"/>
            <p:nvPr/>
          </p:nvSpPr>
          <p:spPr>
            <a:xfrm>
              <a:off x="3552" y="2114"/>
              <a:ext cx="261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68" name="Text Box 43"/>
            <p:cNvSpPr txBox="1"/>
            <p:nvPr/>
          </p:nvSpPr>
          <p:spPr>
            <a:xfrm>
              <a:off x="4094" y="2114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69" name="Text Box 44"/>
            <p:cNvSpPr txBox="1"/>
            <p:nvPr/>
          </p:nvSpPr>
          <p:spPr>
            <a:xfrm>
              <a:off x="2127" y="2114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70" name="Text Box 45"/>
            <p:cNvSpPr txBox="1"/>
            <p:nvPr/>
          </p:nvSpPr>
          <p:spPr>
            <a:xfrm>
              <a:off x="466" y="1902"/>
              <a:ext cx="1994" cy="54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Decimal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representaton:</a:t>
              </a:r>
            </a:p>
            <a:p>
              <a:pPr>
                <a:spcBef>
                  <a:spcPct val="50000"/>
                </a:spcBef>
              </a:pP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71" name="Rectangle 46"/>
            <p:cNvSpPr/>
            <p:nvPr/>
          </p:nvSpPr>
          <p:spPr>
            <a:xfrm>
              <a:off x="2143" y="2547"/>
              <a:ext cx="339" cy="25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$</a:t>
              </a:r>
              <a:r>
                <a:rPr lang="en-US" altLang="zh-CN" sz="16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s1</a:t>
              </a:r>
              <a:endParaRPr lang="zh-CN" altLang="en-US" sz="1600" dirty="0">
                <a:solidFill>
                  <a:schemeClr val="accent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72" name="Rectangle 47"/>
            <p:cNvSpPr/>
            <p:nvPr/>
          </p:nvSpPr>
          <p:spPr>
            <a:xfrm>
              <a:off x="2546" y="2548"/>
              <a:ext cx="339" cy="25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$s2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73" name="Rectangle 48"/>
            <p:cNvSpPr/>
            <p:nvPr/>
          </p:nvSpPr>
          <p:spPr>
            <a:xfrm>
              <a:off x="2974" y="2557"/>
              <a:ext cx="327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$t0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74" name="Rectangle 49"/>
            <p:cNvSpPr/>
            <p:nvPr/>
          </p:nvSpPr>
          <p:spPr>
            <a:xfrm>
              <a:off x="1472" y="2568"/>
              <a:ext cx="547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R-Type</a:t>
              </a:r>
              <a:endParaRPr lang="zh-CN" altLang="en-US" sz="1600" dirty="0">
                <a:solidFill>
                  <a:schemeClr val="accent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75" name="Rectangle 50"/>
            <p:cNvSpPr/>
            <p:nvPr/>
          </p:nvSpPr>
          <p:spPr>
            <a:xfrm>
              <a:off x="4029" y="2585"/>
              <a:ext cx="362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Add</a:t>
              </a:r>
              <a:endParaRPr lang="zh-CN" altLang="en-US" sz="1600" dirty="0">
                <a:solidFill>
                  <a:schemeClr val="accent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76" name="Rectangle 51"/>
            <p:cNvSpPr/>
            <p:nvPr/>
          </p:nvSpPr>
          <p:spPr>
            <a:xfrm>
              <a:off x="3364" y="2617"/>
              <a:ext cx="557" cy="16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No shift</a:t>
              </a:r>
            </a:p>
          </p:txBody>
        </p:sp>
      </p:grpSp>
      <p:grpSp>
        <p:nvGrpSpPr>
          <p:cNvPr id="4" name="Group 73"/>
          <p:cNvGrpSpPr/>
          <p:nvPr/>
        </p:nvGrpSpPr>
        <p:grpSpPr>
          <a:xfrm>
            <a:off x="260350" y="4627563"/>
            <a:ext cx="6437313" cy="1096962"/>
            <a:chOff x="465" y="2915"/>
            <a:chExt cx="4055" cy="691"/>
          </a:xfrm>
        </p:grpSpPr>
        <p:sp>
          <p:nvSpPr>
            <p:cNvPr id="68633" name="Text Box 52"/>
            <p:cNvSpPr txBox="1"/>
            <p:nvPr/>
          </p:nvSpPr>
          <p:spPr>
            <a:xfrm>
              <a:off x="465" y="2915"/>
              <a:ext cx="1994" cy="54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Binary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representaton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50000"/>
                </a:spcBef>
              </a:pP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34" name="Rectangle 53"/>
            <p:cNvSpPr/>
            <p:nvPr/>
          </p:nvSpPr>
          <p:spPr>
            <a:xfrm>
              <a:off x="1437" y="3348"/>
              <a:ext cx="531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35" name="Rectangle 54"/>
            <p:cNvSpPr/>
            <p:nvPr/>
          </p:nvSpPr>
          <p:spPr>
            <a:xfrm>
              <a:off x="1434" y="3408"/>
              <a:ext cx="56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000000</a:t>
              </a:r>
            </a:p>
          </p:txBody>
        </p:sp>
        <p:sp>
          <p:nvSpPr>
            <p:cNvPr id="68636" name="Rectangle 55"/>
            <p:cNvSpPr/>
            <p:nvPr/>
          </p:nvSpPr>
          <p:spPr>
            <a:xfrm>
              <a:off x="1971" y="3348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37" name="Rectangle 56"/>
            <p:cNvSpPr/>
            <p:nvPr/>
          </p:nvSpPr>
          <p:spPr>
            <a:xfrm>
              <a:off x="2437" y="3348"/>
              <a:ext cx="509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38" name="Rectangle 57"/>
            <p:cNvSpPr/>
            <p:nvPr/>
          </p:nvSpPr>
          <p:spPr>
            <a:xfrm>
              <a:off x="2947" y="3348"/>
              <a:ext cx="464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39" name="Rectangle 58"/>
            <p:cNvSpPr/>
            <p:nvPr/>
          </p:nvSpPr>
          <p:spPr>
            <a:xfrm>
              <a:off x="3885" y="3348"/>
              <a:ext cx="610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40" name="Rectangle 59"/>
            <p:cNvSpPr/>
            <p:nvPr/>
          </p:nvSpPr>
          <p:spPr>
            <a:xfrm>
              <a:off x="1959" y="3408"/>
              <a:ext cx="48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10001</a:t>
              </a:r>
            </a:p>
          </p:txBody>
        </p:sp>
        <p:sp>
          <p:nvSpPr>
            <p:cNvPr id="68641" name="Rectangle 60"/>
            <p:cNvSpPr/>
            <p:nvPr/>
          </p:nvSpPr>
          <p:spPr>
            <a:xfrm>
              <a:off x="2402" y="3408"/>
              <a:ext cx="48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10010</a:t>
              </a:r>
            </a:p>
          </p:txBody>
        </p:sp>
        <p:sp>
          <p:nvSpPr>
            <p:cNvPr id="68642" name="Rectangle 61"/>
            <p:cNvSpPr/>
            <p:nvPr/>
          </p:nvSpPr>
          <p:spPr>
            <a:xfrm>
              <a:off x="2940" y="3408"/>
              <a:ext cx="48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01000</a:t>
              </a:r>
            </a:p>
          </p:txBody>
        </p:sp>
        <p:sp>
          <p:nvSpPr>
            <p:cNvPr id="68643" name="Text Box 62"/>
            <p:cNvSpPr txBox="1"/>
            <p:nvPr/>
          </p:nvSpPr>
          <p:spPr>
            <a:xfrm>
              <a:off x="3881" y="3375"/>
              <a:ext cx="639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100000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68644" name="Rectangle 63"/>
            <p:cNvSpPr/>
            <p:nvPr/>
          </p:nvSpPr>
          <p:spPr>
            <a:xfrm>
              <a:off x="3418" y="3348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45" name="Rectangle 64"/>
            <p:cNvSpPr/>
            <p:nvPr/>
          </p:nvSpPr>
          <p:spPr>
            <a:xfrm>
              <a:off x="3419" y="3414"/>
              <a:ext cx="480" cy="1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00000</a:t>
              </a:r>
            </a:p>
          </p:txBody>
        </p:sp>
        <p:sp>
          <p:nvSpPr>
            <p:cNvPr id="68646" name="Text Box 65"/>
            <p:cNvSpPr txBox="1"/>
            <p:nvPr/>
          </p:nvSpPr>
          <p:spPr>
            <a:xfrm>
              <a:off x="1501" y="3156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47" name="Text Box 66"/>
            <p:cNvSpPr txBox="1"/>
            <p:nvPr/>
          </p:nvSpPr>
          <p:spPr>
            <a:xfrm>
              <a:off x="2519" y="3156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48" name="Text Box 67"/>
            <p:cNvSpPr txBox="1"/>
            <p:nvPr/>
          </p:nvSpPr>
          <p:spPr>
            <a:xfrm>
              <a:off x="3039" y="3156"/>
              <a:ext cx="261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49" name="Text Box 68"/>
            <p:cNvSpPr txBox="1"/>
            <p:nvPr/>
          </p:nvSpPr>
          <p:spPr>
            <a:xfrm>
              <a:off x="3514" y="3156"/>
              <a:ext cx="261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8650" name="Text Box 69"/>
            <p:cNvSpPr txBox="1"/>
            <p:nvPr/>
          </p:nvSpPr>
          <p:spPr>
            <a:xfrm>
              <a:off x="4056" y="3156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8651" name="Text Box 70"/>
            <p:cNvSpPr txBox="1"/>
            <p:nvPr/>
          </p:nvSpPr>
          <p:spPr>
            <a:xfrm>
              <a:off x="2044" y="3156"/>
              <a:ext cx="2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236618" name="Text Box 74"/>
          <p:cNvSpPr txBox="1"/>
          <p:nvPr/>
        </p:nvSpPr>
        <p:spPr>
          <a:xfrm>
            <a:off x="1179513" y="5989638"/>
            <a:ext cx="6367462" cy="660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这个过程称为“汇编”，所有汇编源程序都必须汇编成二进制机器代码才能让机器直接执行！</a:t>
            </a:r>
          </a:p>
        </p:txBody>
      </p:sp>
      <p:sp>
        <p:nvSpPr>
          <p:cNvPr id="236619" name="Text Box 75"/>
          <p:cNvSpPr txBox="1"/>
          <p:nvPr/>
        </p:nvSpPr>
        <p:spPr>
          <a:xfrm>
            <a:off x="7021513" y="2638425"/>
            <a:ext cx="1760537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问题：如何知道是</a:t>
            </a:r>
            <a:r>
              <a:rPr lang="en-US" altLang="zh-CN" sz="1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型指令？</a:t>
            </a:r>
          </a:p>
        </p:txBody>
      </p:sp>
      <p:grpSp>
        <p:nvGrpSpPr>
          <p:cNvPr id="5" name="Group 82"/>
          <p:cNvGrpSpPr/>
          <p:nvPr/>
        </p:nvGrpSpPr>
        <p:grpSpPr>
          <a:xfrm>
            <a:off x="6800850" y="714375"/>
            <a:ext cx="2343150" cy="514350"/>
            <a:chOff x="4284" y="450"/>
            <a:chExt cx="1366" cy="324"/>
          </a:xfrm>
        </p:grpSpPr>
        <p:sp>
          <p:nvSpPr>
            <p:cNvPr id="68628" name="Rectangle 77"/>
            <p:cNvSpPr/>
            <p:nvPr/>
          </p:nvSpPr>
          <p:spPr>
            <a:xfrm>
              <a:off x="4456" y="504"/>
              <a:ext cx="506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zh-CN" altLang="en-US" sz="1800" dirty="0">
                  <a:solidFill>
                    <a:srgbClr val="EE3900"/>
                  </a:solidFill>
                  <a:latin typeface="Arial" panose="020B0604020202090204" pitchFamily="34" charset="0"/>
                  <a:ea typeface="黑体" pitchFamily="49" charset="-122"/>
                </a:rPr>
                <a:t>汇编器</a:t>
              </a:r>
            </a:p>
          </p:txBody>
        </p:sp>
        <p:sp>
          <p:nvSpPr>
            <p:cNvPr id="68629" name="Rectangle 78"/>
            <p:cNvSpPr/>
            <p:nvPr/>
          </p:nvSpPr>
          <p:spPr>
            <a:xfrm>
              <a:off x="4404" y="450"/>
              <a:ext cx="582" cy="324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68630" name="Line 79"/>
            <p:cNvSpPr/>
            <p:nvPr/>
          </p:nvSpPr>
          <p:spPr>
            <a:xfrm>
              <a:off x="4284" y="594"/>
              <a:ext cx="126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1" name="Line 80"/>
            <p:cNvSpPr/>
            <p:nvPr/>
          </p:nvSpPr>
          <p:spPr>
            <a:xfrm>
              <a:off x="4992" y="600"/>
              <a:ext cx="156" cy="0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2" name="Rectangle 81"/>
            <p:cNvSpPr/>
            <p:nvPr/>
          </p:nvSpPr>
          <p:spPr>
            <a:xfrm>
              <a:off x="5144" y="490"/>
              <a:ext cx="506" cy="186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zh-CN" altLang="en-US" sz="1600" dirty="0">
                  <a:solidFill>
                    <a:srgbClr val="EE3900"/>
                  </a:solidFill>
                  <a:latin typeface="Arial" panose="020B0604020202090204" pitchFamily="34" charset="0"/>
                </a:rPr>
                <a:t>？</a:t>
              </a:r>
            </a:p>
          </p:txBody>
        </p:sp>
      </p:grpSp>
      <p:sp>
        <p:nvSpPr>
          <p:cNvPr id="236628" name="Text Box 84"/>
          <p:cNvSpPr txBox="1"/>
          <p:nvPr/>
        </p:nvSpPr>
        <p:spPr>
          <a:xfrm>
            <a:off x="7035800" y="3322638"/>
            <a:ext cx="1828800" cy="15621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根据汇编指令中的操作码助记符查表能知道是什么格式！</a:t>
            </a:r>
          </a:p>
          <a:p>
            <a:pPr>
              <a:spcBef>
                <a:spcPct val="50000"/>
              </a:spcBef>
            </a:pPr>
            <a:endParaRPr lang="zh-CN" altLang="en-US" sz="1800" dirty="0"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36629" name="Text Box 85"/>
          <p:cNvSpPr txBox="1"/>
          <p:nvPr/>
        </p:nvSpPr>
        <p:spPr>
          <a:xfrm>
            <a:off x="323850" y="1508125"/>
            <a:ext cx="44386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从助记符表中查到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Add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是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R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型指令，即：</a:t>
            </a:r>
          </a:p>
        </p:txBody>
      </p:sp>
      <p:sp>
        <p:nvSpPr>
          <p:cNvPr id="236630" name="Line 86"/>
          <p:cNvSpPr/>
          <p:nvPr/>
        </p:nvSpPr>
        <p:spPr>
          <a:xfrm>
            <a:off x="5200650" y="1085850"/>
            <a:ext cx="1485900" cy="971550"/>
          </a:xfrm>
          <a:prstGeom prst="line">
            <a:avLst/>
          </a:prstGeom>
          <a:ln w="28575" cap="flat" cmpd="sng">
            <a:solidFill>
              <a:srgbClr val="00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6632" name="Line 88"/>
          <p:cNvSpPr/>
          <p:nvPr/>
        </p:nvSpPr>
        <p:spPr>
          <a:xfrm flipH="1">
            <a:off x="5559425" y="1073150"/>
            <a:ext cx="133350" cy="1009650"/>
          </a:xfrm>
          <a:prstGeom prst="line">
            <a:avLst/>
          </a:prstGeom>
          <a:ln w="28575" cap="flat" cmpd="sng">
            <a:solidFill>
              <a:srgbClr val="EE3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6633" name="Line 89"/>
          <p:cNvSpPr/>
          <p:nvPr/>
        </p:nvSpPr>
        <p:spPr>
          <a:xfrm flipH="1">
            <a:off x="4314825" y="1019175"/>
            <a:ext cx="1762125" cy="1047750"/>
          </a:xfrm>
          <a:prstGeom prst="line">
            <a:avLst/>
          </a:prstGeom>
          <a:ln w="28575" cap="flat" cmpd="sng">
            <a:solidFill>
              <a:srgbClr val="388A3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6634" name="Line 90"/>
          <p:cNvSpPr/>
          <p:nvPr/>
        </p:nvSpPr>
        <p:spPr>
          <a:xfrm flipH="1">
            <a:off x="4962525" y="1057275"/>
            <a:ext cx="1619250" cy="1057275"/>
          </a:xfrm>
          <a:prstGeom prst="line">
            <a:avLst/>
          </a:prstGeom>
          <a:ln w="28575" cap="flat" cmpd="sng">
            <a:solidFill>
              <a:srgbClr val="D0D77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" name="Text Box 74"/>
          <p:cNvSpPr txBox="1"/>
          <p:nvPr/>
        </p:nvSpPr>
        <p:spPr>
          <a:xfrm>
            <a:off x="107950" y="1931988"/>
            <a:ext cx="2133600" cy="3587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何为助记符？</a:t>
            </a:r>
          </a:p>
        </p:txBody>
      </p:sp>
      <p:sp>
        <p:nvSpPr>
          <p:cNvPr id="89" name="Text Box 74"/>
          <p:cNvSpPr txBox="1"/>
          <p:nvPr/>
        </p:nvSpPr>
        <p:spPr>
          <a:xfrm>
            <a:off x="201613" y="2290763"/>
            <a:ext cx="2511425" cy="660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汇编语言中的指令和寄存器等的名称。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72288" y="5205413"/>
            <a:ext cx="191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90204" pitchFamily="34" charset="0"/>
              </a:rPr>
              <a:t>0232 4020H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270750" y="1184275"/>
            <a:ext cx="16367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Arial" panose="020B0604020202090204" pitchFamily="34" charset="0"/>
              </a:rPr>
              <a:t>02 32 40 20</a:t>
            </a:r>
            <a:endParaRPr lang="zh-CN" altLang="en-US" sz="20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618" grpId="0"/>
      <p:bldP spid="236619" grpId="0"/>
      <p:bldP spid="236628" grpId="0" build="allAtOnce"/>
      <p:bldP spid="236629" grpId="0"/>
      <p:bldP spid="88" grpId="0"/>
      <p:bldP spid="89" grpId="0"/>
      <p:bldP spid="91" grpId="0"/>
      <p:bldP spid="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/>
          </p:cNvSpPr>
          <p:nvPr>
            <p:ph type="title"/>
          </p:nvPr>
        </p:nvSpPr>
        <p:spPr>
          <a:xfrm>
            <a:off x="800100" y="130175"/>
            <a:ext cx="5526088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 Circuits for R-Type Instructions</a:t>
            </a:r>
          </a:p>
        </p:txBody>
      </p:sp>
      <p:sp>
        <p:nvSpPr>
          <p:cNvPr id="69635" name="Rectangle 4"/>
          <p:cNvSpPr/>
          <p:nvPr/>
        </p:nvSpPr>
        <p:spPr>
          <a:xfrm>
            <a:off x="733425" y="866775"/>
            <a:ext cx="7896225" cy="889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pic>
        <p:nvPicPr>
          <p:cNvPr id="6963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8" y="688975"/>
            <a:ext cx="8056562" cy="561181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37574" name="Text Box 6"/>
          <p:cNvSpPr txBox="1"/>
          <p:nvPr/>
        </p:nvSpPr>
        <p:spPr>
          <a:xfrm>
            <a:off x="768350" y="6246813"/>
            <a:ext cx="6813550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问题：你能给出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R-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型指令在上述通路中的大致执行过程吗？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xfrm>
            <a:off x="485775" y="85725"/>
            <a:ext cx="75247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 R-type</a:t>
            </a:r>
            <a:r>
              <a:rPr lang="zh-CN" altLang="en-US" sz="2600" dirty="0">
                <a:ea typeface="宋体" pitchFamily="2" charset="-122"/>
              </a:rPr>
              <a:t>指令实现电路的执行过程</a:t>
            </a: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1204913" y="773113"/>
            <a:ext cx="5530850" cy="3040062"/>
          </a:xfrm>
          <a:ln/>
        </p:spPr>
        <p:txBody>
          <a:bodyPr vert="horz" wrap="square" lIns="91440" tIns="45720" rIns="91440" bIns="45720" anchor="t" anchorCtr="0"/>
          <a:lstStyle/>
          <a:p>
            <a:pPr marL="203200" indent="-2032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</a:rPr>
              <a:t>装入指令寄存器（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</a:rPr>
              <a:t>IR-Instruction Register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</a:rPr>
              <a:t>）</a:t>
            </a:r>
            <a:endParaRPr lang="en-US" altLang="zh-CN" sz="1800" dirty="0">
              <a:solidFill>
                <a:schemeClr val="accent2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marL="203200" indent="-2032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  <a:sym typeface="Wingdings" panose="05000000000000000000" pitchFamily="2" charset="2"/>
              </a:rPr>
              <a:t>以下相应字段送控制逻辑</a:t>
            </a:r>
            <a:endParaRPr lang="zh-CN" altLang="en-US" sz="1800" dirty="0">
              <a:solidFill>
                <a:schemeClr val="accent2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Arial" panose="020B0604020202090204" pitchFamily="34" charset="0"/>
                <a:ea typeface="黑体" pitchFamily="49" charset="-122"/>
              </a:rPr>
              <a:t>op field 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(OP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字段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func field (func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字段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shmt field (shmt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字段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 marL="203200" indent="-2032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solidFill>
                  <a:schemeClr val="accent2"/>
                </a:solidFill>
                <a:latin typeface="Arial" panose="020B0604020202090204" pitchFamily="34" charset="0"/>
                <a:ea typeface="黑体" pitchFamily="49" charset="-122"/>
                <a:sym typeface="Wingdings" panose="05000000000000000000" pitchFamily="2" charset="2"/>
              </a:rPr>
              <a:t>以下相应字段送寄存器堆</a:t>
            </a:r>
            <a:endParaRPr lang="en-US" altLang="zh-CN" sz="1800" dirty="0">
              <a:solidFill>
                <a:srgbClr val="000000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Tx/>
              <a:buChar char="•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第一操作数寄存器编号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Tx/>
              <a:buChar char="•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第二操作数寄存器编号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Tx/>
              <a:buChar char="•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存放结果的目标寄存器编号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00000"/>
              </a:lnSpc>
              <a:spcBef>
                <a:spcPct val="10000"/>
              </a:spcBef>
              <a:buClr>
                <a:schemeClr val="accent1"/>
              </a:buClr>
              <a:buFontTx/>
              <a:buChar char="•"/>
            </a:pP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71684" name="Rectangle 4"/>
          <p:cNvSpPr/>
          <p:nvPr/>
        </p:nvSpPr>
        <p:spPr>
          <a:xfrm>
            <a:off x="1192213" y="4200525"/>
            <a:ext cx="6411912" cy="2365375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Arial" panose="020B0604020202090204" pitchFamily="34" charset="0"/>
              </a:rPr>
              <a:t>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寄存器号被送选择器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 对应选择器输出被激活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90204" pitchFamily="34" charset="0"/>
                <a:ea typeface="黑体" pitchFamily="49" charset="-122"/>
              </a:rPr>
              <a:t> 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被选寄存器的输出送到数据线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 控制逻辑提供：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Char char="•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90204" pitchFamily="34" charset="0"/>
                <a:ea typeface="黑体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ALU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操作码</a:t>
            </a:r>
            <a:endParaRPr lang="en-US" altLang="zh-CN" sz="1800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写信号 等</a:t>
            </a:r>
            <a:endParaRPr lang="en-US" altLang="zh-CN" sz="1800" dirty="0">
              <a:solidFill>
                <a:schemeClr val="tx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 结果被写回目标寄存器</a:t>
            </a:r>
          </a:p>
        </p:txBody>
      </p:sp>
      <p:sp>
        <p:nvSpPr>
          <p:cNvPr id="71685" name="Text Box 5"/>
          <p:cNvSpPr txBox="1"/>
          <p:nvPr/>
        </p:nvSpPr>
        <p:spPr>
          <a:xfrm>
            <a:off x="379413" y="500063"/>
            <a:ext cx="3876675" cy="366712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Phase1: Preparation (1</a:t>
            </a:r>
            <a:r>
              <a:rPr lang="zh-CN" altLang="en-US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：准备阶段</a:t>
            </a:r>
            <a:r>
              <a:rPr lang="en-US" altLang="zh-CN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)</a:t>
            </a:r>
            <a:endParaRPr lang="zh-CN" altLang="en-US" sz="1800" u="sng" dirty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71686" name="Text Box 6"/>
          <p:cNvSpPr txBox="1"/>
          <p:nvPr/>
        </p:nvSpPr>
        <p:spPr>
          <a:xfrm>
            <a:off x="400050" y="3887788"/>
            <a:ext cx="3643313" cy="366712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Phase2: Execution(2</a:t>
            </a:r>
            <a:r>
              <a:rPr lang="zh-CN" altLang="en-US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：执行阶段</a:t>
            </a:r>
            <a:r>
              <a:rPr lang="en-US" altLang="zh-CN" sz="1800" u="sng" dirty="0">
                <a:solidFill>
                  <a:srgbClr val="A50021"/>
                </a:solidFill>
                <a:latin typeface="Arial" panose="020B0604020202090204" pitchFamily="34" charset="0"/>
              </a:rPr>
              <a:t>)</a:t>
            </a:r>
          </a:p>
        </p:txBody>
      </p:sp>
      <p:sp>
        <p:nvSpPr>
          <p:cNvPr id="71687" name="Text Box 7"/>
          <p:cNvSpPr txBox="1"/>
          <p:nvPr/>
        </p:nvSpPr>
        <p:spPr>
          <a:xfrm>
            <a:off x="5086350" y="1933575"/>
            <a:ext cx="3562350" cy="15113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这个过程描述仅是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示意性的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，实际上整个过程需要时钟信号的控制，并有其他部件参与。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将在下一章详细介绍。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800100" y="100013"/>
            <a:ext cx="7046913" cy="74771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指令中寄存器数据和存储器数据的指定</a:t>
            </a:r>
          </a:p>
        </p:txBody>
      </p:sp>
      <p:sp>
        <p:nvSpPr>
          <p:cNvPr id="218115" name="Rectangle 3"/>
          <p:cNvSpPr>
            <a:spLocks noGrp="1"/>
          </p:cNvSpPr>
          <p:nvPr>
            <p:ph idx="1"/>
          </p:nvPr>
        </p:nvSpPr>
        <p:spPr>
          <a:xfrm>
            <a:off x="371475" y="823913"/>
            <a:ext cx="8191500" cy="55308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marL="203200" indent="-203200">
              <a:lnSpc>
                <a:spcPct val="10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寄存器数据指定：	</a:t>
            </a:r>
          </a:p>
          <a:p>
            <a:pPr lvl="1" indent="-190500">
              <a:lnSpc>
                <a:spcPct val="10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31 x 32-bit GPRs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黑体" pitchFamily="49" charset="-122"/>
              </a:rPr>
              <a:t>r0 = 0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寄存器编号占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5 bit</a:t>
            </a:r>
          </a:p>
          <a:p>
            <a:pPr lvl="1" indent="-190500">
              <a:lnSpc>
                <a:spcPct val="10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32 x 32-bit FP regs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f0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～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f31, paired DP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）	</a:t>
            </a:r>
          </a:p>
          <a:p>
            <a:pPr lvl="1" indent="-190500">
              <a:lnSpc>
                <a:spcPct val="10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HI, LO, PC: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专用特殊寄存器（无需编号）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寄存器功能和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2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种汇编表示方式</a:t>
            </a:r>
            <a:endParaRPr lang="zh-CN" altLang="en-US" sz="2000" dirty="0">
              <a:latin typeface="Arial" panose="020B0604020202090204" pitchFamily="34" charset="0"/>
              <a:ea typeface="黑体" pitchFamily="49" charset="-122"/>
            </a:endParaRPr>
          </a:p>
          <a:p>
            <a:pPr marL="203200" indent="-203200">
              <a:lnSpc>
                <a:spcPct val="10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存储器数据指定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32-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bit machine --&gt;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可访问空间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: 2</a:t>
            </a:r>
            <a:r>
              <a:rPr lang="en-US" altLang="zh-CN" sz="2000" baseline="30000" dirty="0">
                <a:latin typeface="Arial" panose="020B0604020202090204" pitchFamily="34" charset="0"/>
                <a:ea typeface="黑体" pitchFamily="49" charset="-122"/>
              </a:rPr>
              <a:t>32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bytes</a:t>
            </a:r>
            <a:endParaRPr lang="zh-CN" altLang="en-US" sz="2000" dirty="0">
              <a:latin typeface="Arial" panose="020B0604020202090204" pitchFamily="34" charset="0"/>
              <a:ea typeface="黑体" pitchFamily="49" charset="-122"/>
            </a:endParaRPr>
          </a:p>
          <a:p>
            <a:pPr lvl="1" indent="-190500">
              <a:lnSpc>
                <a:spcPct val="10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Big Endian(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大端方式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只能通过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Load/Store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指令访问存储器数据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数据地址通过一个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32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位寄存器内容加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位偏移量得到</a:t>
            </a:r>
          </a:p>
          <a:p>
            <a:pPr lvl="1" indent="-190500">
              <a:lnSpc>
                <a:spcPct val="10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位偏移量是带符号整数，故应符号扩展</a:t>
            </a:r>
          </a:p>
          <a:p>
            <a:pPr lvl="1" indent="-190500">
              <a:lnSpc>
                <a:spcPct val="10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数据要求按边界对齐（地址是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的倍数）</a:t>
            </a:r>
          </a:p>
          <a:p>
            <a:pPr marL="203200" indent="-203200">
              <a:lnSpc>
                <a:spcPct val="105000"/>
              </a:lnSpc>
            </a:pP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</p:txBody>
      </p:sp>
      <p:pic>
        <p:nvPicPr>
          <p:cNvPr id="72708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37300" y="736600"/>
            <a:ext cx="2598738" cy="3590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2709" name="Text Box 5"/>
          <p:cNvSpPr txBox="1"/>
          <p:nvPr/>
        </p:nvSpPr>
        <p:spPr>
          <a:xfrm>
            <a:off x="822325" y="3622675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0" name="Text Box 6"/>
          <p:cNvSpPr txBox="1"/>
          <p:nvPr/>
        </p:nvSpPr>
        <p:spPr>
          <a:xfrm>
            <a:off x="2286000" y="47244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8121" name="Text Box 9"/>
          <p:cNvSpPr txBox="1"/>
          <p:nvPr/>
        </p:nvSpPr>
        <p:spPr>
          <a:xfrm>
            <a:off x="7126288" y="5907088"/>
            <a:ext cx="928687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4" action="ppaction://hlinksldjump"/>
              </a:rPr>
              <a:t>SKIP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8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8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xfrm>
            <a:off x="166688" y="84138"/>
            <a:ext cx="6499225" cy="74771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寄存器的功能定义和两种汇编表示</a:t>
            </a:r>
            <a:r>
              <a:rPr lang="en-US" altLang="zh-CN" sz="2600" dirty="0">
                <a:ea typeface="宋体" pitchFamily="2" charset="-122"/>
              </a:rPr>
              <a:t> </a:t>
            </a:r>
          </a:p>
        </p:txBody>
      </p:sp>
      <p:graphicFrame>
        <p:nvGraphicFramePr>
          <p:cNvPr id="220268" name="Group 108"/>
          <p:cNvGraphicFramePr>
            <a:graphicFrameLocks noGrp="1"/>
          </p:cNvGraphicFramePr>
          <p:nvPr/>
        </p:nvGraphicFramePr>
        <p:xfrm>
          <a:off x="228600" y="823913"/>
          <a:ext cx="8686800" cy="4124326"/>
        </p:xfrm>
        <a:graphic>
          <a:graphicData uri="http://schemas.openxmlformats.org/drawingml/2006/table">
            <a:tbl>
              <a:tblPr/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4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EE39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EE39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EE39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EE39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Reserved on call?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zero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constant value =0(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恒为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0)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n.a.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reserved for assembler(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为汇编程序保留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n.a.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v0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v1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values for results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过程调用返回值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a0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4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Arguments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过程调用参数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t0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t7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8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Temporaries(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临时变量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s0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16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Saved(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保存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t8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t9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24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more temporaries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其他临时变量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k0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k1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26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～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reserved for kernel(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为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OS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保留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n.a.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gp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global pointer(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全局指针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黑体" pitchFamily="49" charset="-122"/>
                        <a:cs typeface="Arial" panose="020B060402020209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sp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stack pointer 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栈指针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9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fp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frame pointer 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帧指针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return address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过程调用返回地址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90204" pitchFamily="34" charset="0"/>
                          <a:ea typeface="黑体" pitchFamily="49" charset="-122"/>
                          <a:cs typeface="Arial" panose="020B0604020202090204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7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600" b="1">
                          <a:solidFill>
                            <a:srgbClr val="A5002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Arial" panose="020B060402020209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4827" name="Text Box 76"/>
          <p:cNvSpPr txBox="1"/>
          <p:nvPr/>
        </p:nvSpPr>
        <p:spPr>
          <a:xfrm>
            <a:off x="1255713" y="5638800"/>
            <a:ext cx="184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4828" name="Group 106"/>
          <p:cNvGrpSpPr/>
          <p:nvPr/>
        </p:nvGrpSpPr>
        <p:grpSpPr>
          <a:xfrm>
            <a:off x="381000" y="5659438"/>
            <a:ext cx="8513763" cy="793750"/>
            <a:chOff x="240" y="3648"/>
            <a:chExt cx="5363" cy="500"/>
          </a:xfrm>
        </p:grpSpPr>
        <p:sp>
          <p:nvSpPr>
            <p:cNvPr id="74836" name="Text Box 75"/>
            <p:cNvSpPr txBox="1"/>
            <p:nvPr/>
          </p:nvSpPr>
          <p:spPr>
            <a:xfrm>
              <a:off x="240" y="3648"/>
              <a:ext cx="417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zero</a:t>
              </a:r>
            </a:p>
          </p:txBody>
        </p:sp>
        <p:sp>
          <p:nvSpPr>
            <p:cNvPr id="74837" name="Text Box 77"/>
            <p:cNvSpPr txBox="1"/>
            <p:nvPr/>
          </p:nvSpPr>
          <p:spPr>
            <a:xfrm>
              <a:off x="945" y="3648"/>
              <a:ext cx="480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-v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838" name="Text Box 78"/>
            <p:cNvSpPr txBox="1"/>
            <p:nvPr/>
          </p:nvSpPr>
          <p:spPr>
            <a:xfrm>
              <a:off x="1425" y="3648"/>
              <a:ext cx="575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a0 - a3</a:t>
              </a:r>
            </a:p>
          </p:txBody>
        </p:sp>
        <p:sp>
          <p:nvSpPr>
            <p:cNvPr id="74839" name="Text Box 79"/>
            <p:cNvSpPr txBox="1"/>
            <p:nvPr/>
          </p:nvSpPr>
          <p:spPr>
            <a:xfrm>
              <a:off x="2001" y="3648"/>
              <a:ext cx="601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t0  -  t7</a:t>
              </a:r>
            </a:p>
          </p:txBody>
        </p:sp>
        <p:sp>
          <p:nvSpPr>
            <p:cNvPr id="74840" name="Text Box 80"/>
            <p:cNvSpPr txBox="1"/>
            <p:nvPr/>
          </p:nvSpPr>
          <p:spPr>
            <a:xfrm>
              <a:off x="2673" y="3648"/>
              <a:ext cx="720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s0  -  s7</a:t>
              </a:r>
            </a:p>
          </p:txBody>
        </p:sp>
        <p:sp>
          <p:nvSpPr>
            <p:cNvPr id="74841" name="Text Box 81"/>
            <p:cNvSpPr txBox="1"/>
            <p:nvPr/>
          </p:nvSpPr>
          <p:spPr>
            <a:xfrm>
              <a:off x="3393" y="3648"/>
              <a:ext cx="528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t8 - t9</a:t>
              </a:r>
            </a:p>
          </p:txBody>
        </p:sp>
        <p:sp>
          <p:nvSpPr>
            <p:cNvPr id="74842" name="Text Box 82"/>
            <p:cNvSpPr txBox="1"/>
            <p:nvPr/>
          </p:nvSpPr>
          <p:spPr>
            <a:xfrm>
              <a:off x="4519" y="3648"/>
              <a:ext cx="291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gp</a:t>
              </a:r>
            </a:p>
          </p:txBody>
        </p:sp>
        <p:sp>
          <p:nvSpPr>
            <p:cNvPr id="74843" name="Text Box 83"/>
            <p:cNvSpPr txBox="1"/>
            <p:nvPr/>
          </p:nvSpPr>
          <p:spPr>
            <a:xfrm>
              <a:off x="4807" y="3648"/>
              <a:ext cx="273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74844" name="Text Box 84"/>
            <p:cNvSpPr txBox="1"/>
            <p:nvPr/>
          </p:nvSpPr>
          <p:spPr>
            <a:xfrm>
              <a:off x="5073" y="3648"/>
              <a:ext cx="264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fp</a:t>
              </a:r>
            </a:p>
          </p:txBody>
        </p:sp>
        <p:sp>
          <p:nvSpPr>
            <p:cNvPr id="74845" name="Text Box 85"/>
            <p:cNvSpPr txBox="1"/>
            <p:nvPr/>
          </p:nvSpPr>
          <p:spPr>
            <a:xfrm>
              <a:off x="5328" y="3648"/>
              <a:ext cx="273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ra</a:t>
              </a:r>
            </a:p>
          </p:txBody>
        </p:sp>
        <p:sp>
          <p:nvSpPr>
            <p:cNvPr id="74846" name="Text Box 86"/>
            <p:cNvSpPr txBox="1"/>
            <p:nvPr/>
          </p:nvSpPr>
          <p:spPr>
            <a:xfrm>
              <a:off x="657" y="3648"/>
              <a:ext cx="288" cy="258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at</a:t>
              </a:r>
            </a:p>
          </p:txBody>
        </p:sp>
        <p:sp>
          <p:nvSpPr>
            <p:cNvPr id="74847" name="Text Box 87"/>
            <p:cNvSpPr txBox="1"/>
            <p:nvPr/>
          </p:nvSpPr>
          <p:spPr>
            <a:xfrm>
              <a:off x="264" y="3927"/>
              <a:ext cx="178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4848" name="Text Box 88"/>
            <p:cNvSpPr txBox="1"/>
            <p:nvPr/>
          </p:nvSpPr>
          <p:spPr>
            <a:xfrm>
              <a:off x="993" y="3936"/>
              <a:ext cx="41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  -  3</a:t>
              </a:r>
            </a:p>
          </p:txBody>
        </p:sp>
        <p:sp>
          <p:nvSpPr>
            <p:cNvPr id="74849" name="Text Box 89"/>
            <p:cNvSpPr txBox="1"/>
            <p:nvPr/>
          </p:nvSpPr>
          <p:spPr>
            <a:xfrm>
              <a:off x="1569" y="3936"/>
              <a:ext cx="349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4 - 7</a:t>
              </a:r>
            </a:p>
          </p:txBody>
        </p:sp>
        <p:sp>
          <p:nvSpPr>
            <p:cNvPr id="74850" name="Text Box 90"/>
            <p:cNvSpPr txBox="1"/>
            <p:nvPr/>
          </p:nvSpPr>
          <p:spPr>
            <a:xfrm>
              <a:off x="2001" y="3936"/>
              <a:ext cx="659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    ---   15</a:t>
              </a:r>
            </a:p>
          </p:txBody>
        </p:sp>
        <p:sp>
          <p:nvSpPr>
            <p:cNvPr id="74851" name="Text Box 91"/>
            <p:cNvSpPr txBox="1"/>
            <p:nvPr/>
          </p:nvSpPr>
          <p:spPr>
            <a:xfrm>
              <a:off x="2673" y="3936"/>
              <a:ext cx="723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16   ---    23</a:t>
              </a:r>
            </a:p>
          </p:txBody>
        </p:sp>
        <p:sp>
          <p:nvSpPr>
            <p:cNvPr id="74852" name="Text Box 92"/>
            <p:cNvSpPr txBox="1"/>
            <p:nvPr/>
          </p:nvSpPr>
          <p:spPr>
            <a:xfrm>
              <a:off x="3393" y="3936"/>
              <a:ext cx="541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24  -  25</a:t>
              </a:r>
            </a:p>
          </p:txBody>
        </p:sp>
        <p:sp>
          <p:nvSpPr>
            <p:cNvPr id="74853" name="Text Box 93"/>
            <p:cNvSpPr txBox="1"/>
            <p:nvPr/>
          </p:nvSpPr>
          <p:spPr>
            <a:xfrm>
              <a:off x="4545" y="3936"/>
              <a:ext cx="242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28</a:t>
              </a:r>
            </a:p>
          </p:txBody>
        </p:sp>
        <p:sp>
          <p:nvSpPr>
            <p:cNvPr id="74854" name="Text Box 94"/>
            <p:cNvSpPr txBox="1"/>
            <p:nvPr/>
          </p:nvSpPr>
          <p:spPr>
            <a:xfrm>
              <a:off x="4833" y="3936"/>
              <a:ext cx="242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29</a:t>
              </a:r>
            </a:p>
          </p:txBody>
        </p:sp>
        <p:sp>
          <p:nvSpPr>
            <p:cNvPr id="74855" name="Text Box 95"/>
            <p:cNvSpPr txBox="1"/>
            <p:nvPr/>
          </p:nvSpPr>
          <p:spPr>
            <a:xfrm>
              <a:off x="5073" y="3936"/>
              <a:ext cx="242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74856" name="Text Box 96"/>
            <p:cNvSpPr txBox="1"/>
            <p:nvPr/>
          </p:nvSpPr>
          <p:spPr>
            <a:xfrm>
              <a:off x="5361" y="3936"/>
              <a:ext cx="242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74857" name="Text Box 97"/>
            <p:cNvSpPr txBox="1"/>
            <p:nvPr/>
          </p:nvSpPr>
          <p:spPr>
            <a:xfrm>
              <a:off x="3921" y="3648"/>
              <a:ext cx="600" cy="25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k0 - k1</a:t>
              </a:r>
            </a:p>
          </p:txBody>
        </p:sp>
        <p:sp>
          <p:nvSpPr>
            <p:cNvPr id="74858" name="Text Box 98"/>
            <p:cNvSpPr txBox="1"/>
            <p:nvPr/>
          </p:nvSpPr>
          <p:spPr>
            <a:xfrm>
              <a:off x="705" y="3936"/>
              <a:ext cx="178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859" name="Text Box 99"/>
            <p:cNvSpPr txBox="1"/>
            <p:nvPr/>
          </p:nvSpPr>
          <p:spPr>
            <a:xfrm>
              <a:off x="3967" y="3936"/>
              <a:ext cx="477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26 - 27</a:t>
              </a:r>
            </a:p>
          </p:txBody>
        </p:sp>
        <p:sp>
          <p:nvSpPr>
            <p:cNvPr id="74860" name="Rectangle 100"/>
            <p:cNvSpPr/>
            <p:nvPr/>
          </p:nvSpPr>
          <p:spPr>
            <a:xfrm>
              <a:off x="2001" y="3648"/>
              <a:ext cx="1392" cy="249"/>
            </a:xfrm>
            <a:prstGeom prst="rect">
              <a:avLst/>
            </a:prstGeom>
            <a:noFill/>
            <a:ln w="349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sp>
        <p:nvSpPr>
          <p:cNvPr id="74829" name="Text Box 101" descr="蓝色砂纸"/>
          <p:cNvSpPr txBox="1"/>
          <p:nvPr/>
        </p:nvSpPr>
        <p:spPr>
          <a:xfrm>
            <a:off x="431800" y="5254625"/>
            <a:ext cx="8239125" cy="336550"/>
          </a:xfrm>
          <a:prstGeom prst="rect">
            <a:avLst/>
          </a:prstGeom>
          <a:blipFill rotWithShape="0">
            <a:blip r:embed="rId3"/>
          </a:blipFill>
          <a:ln w="12700">
            <a:noFill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600" dirty="0">
                <a:solidFill>
                  <a:srgbClr val="EE3900"/>
                </a:solidFill>
                <a:latin typeface="Arial" panose="020B0604020202090204" pitchFamily="34" charset="0"/>
              </a:rPr>
              <a:t>Registers are referenced either by number—$0, … $31, or by name —$t0, $s1… $ra.</a:t>
            </a:r>
            <a:endParaRPr lang="zh-CN" altLang="en-US" sz="1600" dirty="0">
              <a:solidFill>
                <a:srgbClr val="EE3900"/>
              </a:solidFill>
              <a:latin typeface="Arial" panose="020B0604020202090204" pitchFamily="34" charset="0"/>
            </a:endParaRPr>
          </a:p>
        </p:txBody>
      </p:sp>
      <p:sp>
        <p:nvSpPr>
          <p:cNvPr id="74830" name="Text Box 109"/>
          <p:cNvSpPr txBox="1"/>
          <p:nvPr/>
        </p:nvSpPr>
        <p:spPr>
          <a:xfrm>
            <a:off x="6918325" y="6461125"/>
            <a:ext cx="203200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" action="ppaction://hlinkshowjump?jump=previousslide"/>
              </a:rPr>
              <a:t>BACK to last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  <p:sp>
        <p:nvSpPr>
          <p:cNvPr id="74831" name="Text Box 110"/>
          <p:cNvSpPr txBox="1"/>
          <p:nvPr/>
        </p:nvSpPr>
        <p:spPr>
          <a:xfrm>
            <a:off x="984250" y="6446838"/>
            <a:ext cx="236537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4" action="ppaction://hlinksldjump"/>
              </a:rPr>
              <a:t>BACK to Assemble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  <p:sp>
        <p:nvSpPr>
          <p:cNvPr id="220271" name="Rectangle 111"/>
          <p:cNvSpPr/>
          <p:nvPr/>
        </p:nvSpPr>
        <p:spPr>
          <a:xfrm>
            <a:off x="217488" y="1771650"/>
            <a:ext cx="8694737" cy="31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20272" name="Rectangle 112"/>
          <p:cNvSpPr/>
          <p:nvPr/>
        </p:nvSpPr>
        <p:spPr>
          <a:xfrm>
            <a:off x="219075" y="2116138"/>
            <a:ext cx="8694738" cy="31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20273" name="Rectangle 113"/>
          <p:cNvSpPr/>
          <p:nvPr/>
        </p:nvSpPr>
        <p:spPr>
          <a:xfrm>
            <a:off x="230188" y="4629150"/>
            <a:ext cx="8694737" cy="31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74835" name="Text Box 115"/>
          <p:cNvSpPr txBox="1"/>
          <p:nvPr/>
        </p:nvSpPr>
        <p:spPr>
          <a:xfrm>
            <a:off x="3743325" y="6446838"/>
            <a:ext cx="236537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5" action="ppaction://hlinksldjump"/>
              </a:rPr>
              <a:t>BACK to Procedure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71" grpId="0" animBg="1"/>
      <p:bldP spid="220272" grpId="0" animBg="1"/>
      <p:bldP spid="2202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>
          <a:xfrm>
            <a:off x="757238" y="57150"/>
            <a:ext cx="5659437" cy="368300"/>
          </a:xfrm>
          <a:ln/>
        </p:spPr>
        <p:txBody>
          <a:bodyPr vert="horz" wrap="non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 arithmetic and logic instructions</a:t>
            </a:r>
          </a:p>
        </p:txBody>
      </p:sp>
      <p:sp>
        <p:nvSpPr>
          <p:cNvPr id="222211" name="Rectangle 3"/>
          <p:cNvSpPr>
            <a:spLocks noGrp="1"/>
          </p:cNvSpPr>
          <p:nvPr>
            <p:ph idx="1"/>
          </p:nvPr>
        </p:nvSpPr>
        <p:spPr>
          <a:xfrm>
            <a:off x="414338" y="542925"/>
            <a:ext cx="8686800" cy="3581400"/>
          </a:xfrm>
          <a:ln/>
        </p:spPr>
        <p:txBody>
          <a:bodyPr vert="horz" wrap="square" lIns="90488" tIns="44450" rIns="90488" bIns="44450" anchor="t" anchorCtr="0"/>
          <a:lstStyle/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i="1" u="sng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	Example	Meaning	  Comments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	add $1,$2,$3	$1 = $2 + $3	  3 operands; </a:t>
            </a:r>
            <a:r>
              <a:rPr lang="en-US" altLang="zh-CN" sz="1800" dirty="0">
                <a:solidFill>
                  <a:srgbClr val="C5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possible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	sub $1,$2,$3	$1 = $2 – $3	  3 operands; </a:t>
            </a:r>
            <a:r>
              <a:rPr lang="en-US" altLang="zh-CN" sz="1800" dirty="0">
                <a:solidFill>
                  <a:srgbClr val="C5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possible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immediate	addi $1,$2,100	$1 = $2 + 100	  + constant; </a:t>
            </a:r>
            <a:r>
              <a:rPr lang="en-US" altLang="zh-CN" sz="1800" dirty="0">
                <a:solidFill>
                  <a:srgbClr val="C5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possible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	mult $2,$3	Hi, Lo = $2×$3	   64-bit signed product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	div $2,$3	Lo = $2 ÷ $3,	   Lo = quotient, Hi = remainder 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Hi = $2 mod $3 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from Hi	mfhi $1	$1=Hi	   get a copy of Hi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from Lo	mflo $1	$1=lo</a:t>
            </a:r>
          </a:p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buNone/>
              <a:tabLst>
                <a:tab pos="1828800" algn="l"/>
                <a:tab pos="3429000" algn="l"/>
                <a:tab pos="5143500" algn="l"/>
              </a:tabLst>
            </a:pPr>
            <a:endParaRPr lang="zh-CN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2212" name="Rectangle 4"/>
          <p:cNvSpPr/>
          <p:nvPr/>
        </p:nvSpPr>
        <p:spPr>
          <a:xfrm>
            <a:off x="381000" y="3751263"/>
            <a:ext cx="8413750" cy="16875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1800" i="1" u="sng" dirty="0">
                <a:solidFill>
                  <a:srgbClr val="A50021"/>
                </a:solidFill>
                <a:latin typeface="Times New Roman" panose="02020603050405020304" pitchFamily="18" charset="0"/>
              </a:rPr>
              <a:t>Instruction	Example		Meaning		Comment</a:t>
            </a:r>
            <a:r>
              <a:rPr lang="en-US" altLang="zh-CN" sz="1800" b="0" i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and 		and $1,$2,$3	$1 = $2 &amp; $3	Logical AND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or		or $1,$2,$3	$1 = $2 | $3	Logical OR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xor		xor $1,$2,$3	$1 = $2 </a:t>
            </a:r>
            <a:r>
              <a:rPr lang="en-US" altLang="zh-CN" sz="1800" dirty="0">
                <a:solidFill>
                  <a:schemeClr val="tx1"/>
                </a:solidFill>
                <a:latin typeface="Symbol" pitchFamily="18" charset="2"/>
              </a:rPr>
              <a:t>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$3	Logical XOR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nor		nor $1,$2,$3	$1 = ~($2 |$3)	Logical NOR</a:t>
            </a:r>
          </a:p>
        </p:txBody>
      </p:sp>
      <p:sp>
        <p:nvSpPr>
          <p:cNvPr id="222213" name="Text Box 5"/>
          <p:cNvSpPr txBox="1"/>
          <p:nvPr/>
        </p:nvSpPr>
        <p:spPr>
          <a:xfrm>
            <a:off x="280988" y="5580063"/>
            <a:ext cx="8863012" cy="328295"/>
          </a:xfrm>
          <a:prstGeom prst="rect">
            <a:avLst/>
          </a:prstGeom>
          <a:noFill/>
          <a:ln w="12700">
            <a:noFill/>
          </a:ln>
        </p:spPr>
        <p:txBody>
          <a:bodyPr wrap="square"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这里没有全部列出，还有其他指令，如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addu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（不带溢出处理，自然丢弃）， 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addui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等</a:t>
            </a:r>
          </a:p>
        </p:txBody>
      </p:sp>
      <p:sp>
        <p:nvSpPr>
          <p:cNvPr id="222214" name="Text Box 6"/>
          <p:cNvSpPr txBox="1"/>
          <p:nvPr/>
        </p:nvSpPr>
        <p:spPr>
          <a:xfrm>
            <a:off x="338138" y="6013450"/>
            <a:ext cx="3051175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问题：</a:t>
            </a:r>
            <a:r>
              <a:rPr lang="en-US" altLang="zh-CN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没有分</a:t>
            </a:r>
            <a:r>
              <a:rPr lang="en-US" altLang="zh-CN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add</a:t>
            </a:r>
            <a:r>
              <a:rPr lang="zh-CN" altLang="en-US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还是</a:t>
            </a:r>
            <a:r>
              <a:rPr lang="en-US" altLang="zh-CN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addu</a:t>
            </a:r>
            <a:r>
              <a:rPr lang="zh-CN" altLang="en-US" sz="18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，会不会有问题？</a:t>
            </a:r>
            <a:endParaRPr lang="en-US" altLang="zh-CN" sz="1800" dirty="0">
              <a:solidFill>
                <a:srgbClr val="EE3900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22215" name="Text Box 7"/>
          <p:cNvSpPr txBox="1"/>
          <p:nvPr/>
        </p:nvSpPr>
        <p:spPr>
          <a:xfrm>
            <a:off x="3368675" y="6027738"/>
            <a:ext cx="5507038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不会。</a:t>
            </a:r>
            <a:r>
              <a:rPr lang="en-US" altLang="zh-CN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只产生各种标志，由软件根据标志信息来判断是否溢出。而</a:t>
            </a:r>
            <a:r>
              <a:rPr lang="en-US" altLang="zh-CN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是由硬件直接判溢出否。</a:t>
            </a:r>
            <a:endParaRPr lang="en-US" altLang="zh-CN" sz="1800" dirty="0">
              <a:solidFill>
                <a:srgbClr val="2E5C35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6865938" y="122238"/>
            <a:ext cx="2100262" cy="1763712"/>
            <a:chOff x="4331" y="77"/>
            <a:chExt cx="1110" cy="858"/>
          </a:xfrm>
        </p:grpSpPr>
        <p:sp>
          <p:nvSpPr>
            <p:cNvPr id="76809" name="Rectangle 9"/>
            <p:cNvSpPr/>
            <p:nvPr/>
          </p:nvSpPr>
          <p:spPr>
            <a:xfrm>
              <a:off x="4331" y="469"/>
              <a:ext cx="1033" cy="46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76810" name="AutoShape 10"/>
            <p:cNvSpPr/>
            <p:nvPr/>
          </p:nvSpPr>
          <p:spPr>
            <a:xfrm>
              <a:off x="4374" y="77"/>
              <a:ext cx="1067" cy="299"/>
            </a:xfrm>
            <a:prstGeom prst="wedgeRectCallout">
              <a:avLst>
                <a:gd name="adj1" fmla="val -6106"/>
                <a:gd name="adj2" fmla="val 79625"/>
              </a:avLst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/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33CC"/>
                  </a:solidFill>
                  <a:latin typeface="Arial" panose="020B0604020202090204" pitchFamily="34" charset="0"/>
                  <a:ea typeface="黑体" pitchFamily="49" charset="-122"/>
                </a:rPr>
                <a:t>需要判溢出，溢出时发生“异常”</a:t>
              </a:r>
            </a:p>
            <a:p>
              <a:pPr algn="ctr"/>
              <a:endParaRPr lang="zh-CN" altLang="en-US" sz="1800" dirty="0">
                <a:latin typeface="Arial" panose="020B0604020202090204" pitchFamily="34" charset="0"/>
                <a:ea typeface="黑体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2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22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2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2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  <p:bldP spid="222212" grpId="0" build="allAtOnce"/>
      <p:bldP spid="222213" grpId="0"/>
      <p:bldP spid="222214" grpId="0"/>
      <p:bldP spid="2222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742950" y="136525"/>
            <a:ext cx="3876675" cy="315913"/>
          </a:xfrm>
          <a:ln/>
        </p:spPr>
        <p:txBody>
          <a:bodyPr vert="horz" wrap="none" lIns="63500" tIns="25400" rIns="63500" bIns="25400" anchor="t" anchorCtr="0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MIPS data transfer instructions</a:t>
            </a:r>
          </a:p>
        </p:txBody>
      </p:sp>
      <p:sp>
        <p:nvSpPr>
          <p:cNvPr id="225283" name="Rectangle 3"/>
          <p:cNvSpPr>
            <a:spLocks noGrp="1"/>
          </p:cNvSpPr>
          <p:nvPr>
            <p:ph idx="1"/>
          </p:nvPr>
        </p:nvSpPr>
        <p:spPr>
          <a:xfrm>
            <a:off x="433388" y="735013"/>
            <a:ext cx="8391525" cy="3259137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i="1" u="sng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	Comment</a:t>
            </a:r>
            <a:r>
              <a:rPr lang="en-US" altLang="zh-C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i="1" u="sng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</a:t>
            </a:r>
            <a:r>
              <a:rPr lang="zh-CN" alt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  $3, 500($4) 	Store word                        $3 →($4+ 500)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   $3, 502($2)	Store half                          Low Half of  $3 →($2+ 502)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   $2, 41($3)	Store byte 	 LQ of  $2 →($3+ 41)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LW $1, -30($2)	Load word	 ($2 -30) → $1</a:t>
            </a: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LH  $1, 40($3)	Load half 	 ($3+40) → LH of $1</a:t>
            </a: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  $1, 40($3)	Load byte                         ($3+40) → LQ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$1</a:t>
            </a:r>
          </a:p>
          <a:p>
            <a:pPr marL="342900" indent="-342900" defTabSz="914400">
              <a:buNone/>
              <a:tabLst>
                <a:tab pos="2343150" algn="l"/>
                <a:tab pos="3429000" algn="l"/>
                <a:tab pos="4972050" algn="l"/>
              </a:tabLst>
            </a:pPr>
            <a:endParaRPr lang="zh-CN" altLang="en-US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5284" name="Text Box 4"/>
          <p:cNvSpPr txBox="1"/>
          <p:nvPr/>
        </p:nvSpPr>
        <p:spPr>
          <a:xfrm>
            <a:off x="552450" y="3984625"/>
            <a:ext cx="7807325" cy="25241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问题：为什么指令必须支持不同长度的操作数？ </a:t>
            </a:r>
          </a:p>
          <a:p>
            <a:pPr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因为高级语言中的数据类型有</a:t>
            </a:r>
            <a:r>
              <a:rPr lang="en-US" altLang="zh-CN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char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short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int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long,……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等，故需要存取不同长度的操作数；</a:t>
            </a:r>
            <a:endParaRPr lang="en-US" altLang="zh-CN" sz="2000" dirty="0">
              <a:solidFill>
                <a:srgbClr val="4B9556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指令中操作数长度由什么决定？</a:t>
            </a:r>
            <a:endParaRPr lang="en-US" altLang="zh-CN" sz="2000" dirty="0">
              <a:solidFill>
                <a:srgbClr val="FF0000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操作数长度的不同由不同的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操作码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指定。</a:t>
            </a:r>
          </a:p>
          <a:p>
            <a:pPr>
              <a:lnSpc>
                <a:spcPct val="115000"/>
              </a:lnSpc>
              <a:spcBef>
                <a:spcPct val="30000"/>
              </a:spcBef>
            </a:pPr>
            <a:endParaRPr lang="zh-CN" altLang="en-US" sz="2000" dirty="0">
              <a:solidFill>
                <a:srgbClr val="2E5C35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78853" name="Text Box 6"/>
          <p:cNvSpPr txBox="1"/>
          <p:nvPr/>
        </p:nvSpPr>
        <p:spPr>
          <a:xfrm>
            <a:off x="7167563" y="5826125"/>
            <a:ext cx="1150937" cy="4159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90204" pitchFamily="34" charset="0"/>
                <a:hlinkClick r:id="rId3" action="ppaction://hlinksldjump"/>
              </a:rPr>
              <a:t>SKIP</a:t>
            </a:r>
            <a:endParaRPr lang="en-US" altLang="zh-CN" sz="24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5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5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5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5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xfrm>
            <a:off x="800100" y="57150"/>
            <a:ext cx="7451725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dirty="0">
                <a:ea typeface="宋体" pitchFamily="2" charset="-122"/>
              </a:rPr>
              <a:t>的</a:t>
            </a:r>
            <a:r>
              <a:rPr lang="en-US" altLang="zh-CN" dirty="0">
                <a:ea typeface="宋体" pitchFamily="2" charset="-122"/>
              </a:rPr>
              <a:t>call/return/ jump/branch</a:t>
            </a:r>
            <a:r>
              <a:rPr lang="zh-CN" altLang="en-US" dirty="0">
                <a:ea typeface="宋体" pitchFamily="2" charset="-122"/>
              </a:rPr>
              <a:t>和</a:t>
            </a:r>
            <a:r>
              <a:rPr lang="en-US" altLang="zh-CN" dirty="0">
                <a:ea typeface="宋体" pitchFamily="2" charset="-122"/>
              </a:rPr>
              <a:t>compare</a:t>
            </a:r>
            <a:r>
              <a:rPr lang="zh-CN" altLang="en-US" dirty="0">
                <a:ea typeface="宋体" pitchFamily="2" charset="-122"/>
              </a:rPr>
              <a:t>指令</a:t>
            </a:r>
          </a:p>
        </p:txBody>
      </p:sp>
      <p:sp>
        <p:nvSpPr>
          <p:cNvPr id="231427" name="Rectangle 3"/>
          <p:cNvSpPr>
            <a:spLocks noGrp="1"/>
          </p:cNvSpPr>
          <p:nvPr>
            <p:ph idx="1"/>
          </p:nvPr>
        </p:nvSpPr>
        <p:spPr>
          <a:xfrm>
            <a:off x="282575" y="660400"/>
            <a:ext cx="8501063" cy="5486400"/>
          </a:xfrm>
          <a:ln/>
        </p:spPr>
        <p:txBody>
          <a:bodyPr vert="horz" wrap="square" lIns="90488" tIns="44450" rIns="90488" bIns="44450" anchor="t" anchorCtr="0"/>
          <a:lstStyle/>
          <a:p>
            <a:pPr marL="342900" indent="-342900" defTabSz="914400">
              <a:lnSpc>
                <a:spcPct val="75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i="1" u="sng" dirty="0">
                <a:solidFill>
                  <a:srgbClr val="A50021"/>
                </a:solidFill>
                <a:latin typeface="Arial" panose="020B0604020202090204" pitchFamily="34" charset="0"/>
              </a:rPr>
              <a:t>Instruction	Example	  Meaning</a:t>
            </a:r>
            <a:r>
              <a:rPr lang="en-US" altLang="zh-CN" sz="1800" i="1" u="sng" dirty="0">
                <a:latin typeface="Arial" panose="020B0604020202090204" pitchFamily="34" charset="0"/>
              </a:rPr>
              <a:t>	</a:t>
            </a:r>
            <a:r>
              <a:rPr lang="en-US" altLang="zh-CN" sz="1800" dirty="0">
                <a:latin typeface="Arial" panose="020B0604020202090204" pitchFamily="34" charset="0"/>
              </a:rPr>
              <a:t>	</a:t>
            </a:r>
          </a:p>
          <a:p>
            <a:pPr marL="342900" indent="-342900" defTabSz="914400">
              <a:lnSpc>
                <a:spcPct val="100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jump register	jr $31	   go to $31	</a:t>
            </a:r>
            <a:br>
              <a:rPr lang="en-US" altLang="zh-CN" sz="1800" dirty="0">
                <a:latin typeface="Arial" panose="020B0604020202090204" pitchFamily="34" charset="0"/>
              </a:rPr>
            </a:br>
            <a:r>
              <a:rPr lang="en-US" altLang="zh-CN" sz="1800" dirty="0">
                <a:latin typeface="Arial" panose="020B0604020202090204" pitchFamily="34" charset="0"/>
              </a:rPr>
              <a:t>	</a:t>
            </a:r>
            <a:r>
              <a:rPr lang="en-US" altLang="zh-CN" sz="1800" i="1" dirty="0">
                <a:latin typeface="Arial" panose="020B0604020202090204" pitchFamily="34" charset="0"/>
              </a:rPr>
              <a:t>For switch, </a:t>
            </a:r>
            <a:r>
              <a:rPr lang="en-US" altLang="zh-CN" sz="1800" i="1" dirty="0">
                <a:solidFill>
                  <a:srgbClr val="A50021"/>
                </a:solidFill>
                <a:latin typeface="Arial" panose="020B0604020202090204" pitchFamily="34" charset="0"/>
              </a:rPr>
              <a:t>procedure return 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（对应过程返回）</a:t>
            </a:r>
            <a:endParaRPr lang="en-US" altLang="zh-CN" sz="1800" dirty="0">
              <a:solidFill>
                <a:srgbClr val="A50021"/>
              </a:solidFill>
              <a:latin typeface="Arial" panose="020B0604020202090204" pitchFamily="34" charset="0"/>
            </a:endParaRPr>
          </a:p>
          <a:p>
            <a:pPr marL="342900" indent="-342900" defTabSz="914400">
              <a:lnSpc>
                <a:spcPct val="100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jump and link	jal 10000	   $31 = PC + 4; go to 10000	</a:t>
            </a:r>
            <a:br>
              <a:rPr lang="en-US" altLang="zh-CN" sz="1800" dirty="0">
                <a:latin typeface="Arial" panose="020B0604020202090204" pitchFamily="34" charset="0"/>
              </a:rPr>
            </a:br>
            <a:r>
              <a:rPr lang="en-US" altLang="zh-CN" sz="1800" dirty="0">
                <a:latin typeface="Arial" panose="020B0604020202090204" pitchFamily="34" charset="0"/>
              </a:rPr>
              <a:t>	</a:t>
            </a:r>
            <a:r>
              <a:rPr lang="en-US" altLang="zh-CN" sz="1800" i="1" dirty="0">
                <a:latin typeface="Arial" panose="020B0604020202090204" pitchFamily="34" charset="0"/>
              </a:rPr>
              <a:t>For </a:t>
            </a:r>
            <a:r>
              <a:rPr lang="en-US" altLang="zh-CN" sz="1800" i="1" dirty="0">
                <a:solidFill>
                  <a:srgbClr val="A50021"/>
                </a:solidFill>
                <a:latin typeface="Arial" panose="020B0604020202090204" pitchFamily="34" charset="0"/>
              </a:rPr>
              <a:t>procedure call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（对应过程或函数调用）</a:t>
            </a:r>
          </a:p>
          <a:p>
            <a:pPr marL="342900" indent="-342900" defTabSz="914400">
              <a:lnSpc>
                <a:spcPct val="100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jump	j 10000	   go to 10000	</a:t>
            </a:r>
            <a:br>
              <a:rPr lang="en-US" altLang="zh-CN" sz="1800" dirty="0">
                <a:latin typeface="Arial" panose="020B0604020202090204" pitchFamily="34" charset="0"/>
              </a:rPr>
            </a:br>
            <a:r>
              <a:rPr lang="en-US" altLang="zh-CN" sz="1800" dirty="0">
                <a:latin typeface="Arial" panose="020B0604020202090204" pitchFamily="34" charset="0"/>
              </a:rPr>
              <a:t>	</a:t>
            </a:r>
            <a:r>
              <a:rPr lang="en-US" altLang="zh-CN" sz="1800" i="1" dirty="0">
                <a:latin typeface="Arial" panose="020B0604020202090204" pitchFamily="34" charset="0"/>
              </a:rPr>
              <a:t>Jump to target address</a:t>
            </a:r>
            <a:endParaRPr lang="en-US" altLang="zh-CN" sz="1800" i="1" dirty="0">
              <a:solidFill>
                <a:srgbClr val="A50021"/>
              </a:solidFill>
              <a:latin typeface="Arial" panose="020B0604020202090204" pitchFamily="34" charset="0"/>
            </a:endParaRPr>
          </a:p>
          <a:p>
            <a:pPr marL="342900" indent="-342900" defTabSz="914400">
              <a:lnSpc>
                <a:spcPct val="75000"/>
              </a:lnSpc>
              <a:buNone/>
              <a:tabLst>
                <a:tab pos="2000250" algn="l"/>
                <a:tab pos="3771900" algn="l"/>
              </a:tabLst>
            </a:pPr>
            <a:endParaRPr lang="en-US" altLang="zh-CN" sz="1800" i="1" dirty="0">
              <a:latin typeface="Arial" panose="020B0604020202090204" pitchFamily="34" charset="0"/>
            </a:endParaRPr>
          </a:p>
          <a:p>
            <a:pPr marL="342900" indent="-342900" defTabSz="914400">
              <a:lnSpc>
                <a:spcPct val="75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i="1" dirty="0">
                <a:solidFill>
                  <a:schemeClr val="accent2"/>
                </a:solidFill>
                <a:latin typeface="Arial" panose="020B0604020202090204" pitchFamily="34" charset="0"/>
              </a:rPr>
              <a:t>Pseudoinstruction   blt, ble, bgt, bge    </a:t>
            </a:r>
          </a:p>
          <a:p>
            <a:pPr marL="342900" indent="-342900" defTabSz="914400">
              <a:lnSpc>
                <a:spcPct val="75000"/>
              </a:lnSpc>
              <a:buNone/>
              <a:tabLst>
                <a:tab pos="2000250" algn="l"/>
                <a:tab pos="3771900" algn="l"/>
              </a:tabLst>
            </a:pPr>
            <a:r>
              <a:rPr lang="en-US" altLang="zh-CN" sz="1800" i="1" dirty="0">
                <a:solidFill>
                  <a:schemeClr val="accent2"/>
                </a:solidFill>
                <a:latin typeface="Arial" panose="020B0604020202090204" pitchFamily="34" charset="0"/>
              </a:rPr>
              <a:t>                    not implemented by hardware, but synthesized by assembler</a:t>
            </a: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endParaRPr lang="en-US" altLang="zh-CN" sz="800" dirty="0">
              <a:latin typeface="Arial" panose="020B0604020202090204" pitchFamily="34" charset="0"/>
            </a:endParaRP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set on less than	  slt $1,$2,$3	   if ($2 &lt; $3) $1=1; else $1=0</a:t>
            </a: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set less than imm.  slti $1,$2,100	   if ($2 &lt; 100) $1=1; else $1=0	</a:t>
            </a: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	</a:t>
            </a: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branch on equal	  beq $1,$2,100 	  if ($1 == $2) go to PC+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</a:rPr>
              <a:t>4</a:t>
            </a:r>
            <a:r>
              <a:rPr lang="en-US" altLang="zh-CN" sz="1800" dirty="0">
                <a:latin typeface="Arial" panose="020B0604020202090204" pitchFamily="34" charset="0"/>
              </a:rPr>
              <a:t>+25*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</a:rPr>
              <a:t>4</a:t>
            </a:r>
            <a:r>
              <a:rPr lang="en-US" altLang="zh-CN" sz="1800" dirty="0">
                <a:latin typeface="Arial" panose="020B0604020202090204" pitchFamily="34" charset="0"/>
              </a:rPr>
              <a:t>		</a:t>
            </a:r>
          </a:p>
          <a:p>
            <a:pPr marL="342900" indent="-342900" defTabSz="914400">
              <a:lnSpc>
                <a:spcPct val="120000"/>
              </a:lnSpc>
              <a:spcBef>
                <a:spcPct val="0"/>
              </a:spcBef>
              <a:buNone/>
              <a:tabLst>
                <a:tab pos="2000250" algn="l"/>
                <a:tab pos="3771900" algn="l"/>
              </a:tabLst>
            </a:pPr>
            <a:r>
              <a:rPr lang="en-US" altLang="zh-CN" sz="1800" dirty="0">
                <a:latin typeface="Arial" panose="020B0604020202090204" pitchFamily="34" charset="0"/>
              </a:rPr>
              <a:t>branch on not eq.	  bne $1,$2,100	  if ($1!= $2) go to PC+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</a:rPr>
              <a:t>4</a:t>
            </a:r>
            <a:r>
              <a:rPr lang="en-US" altLang="zh-CN" sz="1800" dirty="0">
                <a:latin typeface="Arial" panose="020B0604020202090204" pitchFamily="34" charset="0"/>
              </a:rPr>
              <a:t>+25</a:t>
            </a:r>
            <a:r>
              <a:rPr lang="zh-CN" altLang="en-US" sz="1800" dirty="0">
                <a:latin typeface="Arial" panose="020B0604020202090204" pitchFamily="34" charset="0"/>
              </a:rPr>
              <a:t>*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</a:rPr>
              <a:t>4</a:t>
            </a:r>
            <a:r>
              <a:rPr lang="en-US" altLang="zh-CN" sz="1800" dirty="0">
                <a:latin typeface="Arial" panose="020B0604020202090204" pitchFamily="34" charset="0"/>
              </a:rPr>
              <a:t>	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265113" y="750888"/>
            <a:ext cx="8718550" cy="1490662"/>
            <a:chOff x="210" y="473"/>
            <a:chExt cx="5421" cy="883"/>
          </a:xfrm>
        </p:grpSpPr>
        <p:sp>
          <p:nvSpPr>
            <p:cNvPr id="80923" name="Rectangle 4"/>
            <p:cNvSpPr/>
            <p:nvPr/>
          </p:nvSpPr>
          <p:spPr>
            <a:xfrm>
              <a:off x="210" y="587"/>
              <a:ext cx="4402" cy="769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24" name="Text Box 5"/>
            <p:cNvSpPr txBox="1"/>
            <p:nvPr/>
          </p:nvSpPr>
          <p:spPr>
            <a:xfrm>
              <a:off x="4716" y="555"/>
              <a:ext cx="878" cy="193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call / return </a:t>
              </a:r>
            </a:p>
          </p:txBody>
        </p:sp>
        <p:sp>
          <p:nvSpPr>
            <p:cNvPr id="80925" name="Line 6"/>
            <p:cNvSpPr/>
            <p:nvPr/>
          </p:nvSpPr>
          <p:spPr>
            <a:xfrm flipH="1">
              <a:off x="5110" y="774"/>
              <a:ext cx="55" cy="32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26" name="Line 7"/>
            <p:cNvSpPr/>
            <p:nvPr/>
          </p:nvSpPr>
          <p:spPr>
            <a:xfrm flipH="1">
              <a:off x="4649" y="1094"/>
              <a:ext cx="461" cy="131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0927" name="Oval 8"/>
            <p:cNvSpPr/>
            <p:nvPr/>
          </p:nvSpPr>
          <p:spPr>
            <a:xfrm>
              <a:off x="4671" y="473"/>
              <a:ext cx="960" cy="319"/>
            </a:xfrm>
            <a:prstGeom prst="ellipse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sp>
        <p:nvSpPr>
          <p:cNvPr id="80901" name="Text Box 10"/>
          <p:cNvSpPr txBox="1"/>
          <p:nvPr/>
        </p:nvSpPr>
        <p:spPr>
          <a:xfrm>
            <a:off x="6656388" y="6149975"/>
            <a:ext cx="2163762" cy="2952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Arial" panose="020B0604020202090204" pitchFamily="34" charset="0"/>
                <a:hlinkClick r:id="rId3" action="ppaction://hlinksldjump"/>
              </a:rPr>
              <a:t>BACK to Procedure</a:t>
            </a:r>
            <a:endParaRPr lang="zh-CN" altLang="en-US" sz="1600" dirty="0">
              <a:latin typeface="Arial" panose="020B0604020202090204" pitchFamily="34" charset="0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7534275" y="3843338"/>
            <a:ext cx="1381125" cy="600075"/>
            <a:chOff x="4746" y="2458"/>
            <a:chExt cx="870" cy="324"/>
          </a:xfrm>
        </p:grpSpPr>
        <p:sp>
          <p:nvSpPr>
            <p:cNvPr id="80921" name="Rectangle 12"/>
            <p:cNvSpPr/>
            <p:nvPr/>
          </p:nvSpPr>
          <p:spPr>
            <a:xfrm>
              <a:off x="4854" y="2458"/>
              <a:ext cx="762" cy="32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zh-CN" altLang="en-US" sz="1800" dirty="0">
                  <a:solidFill>
                    <a:srgbClr val="0033CC"/>
                  </a:solidFill>
                  <a:latin typeface="Arial" panose="020B0604020202090204" pitchFamily="34" charset="0"/>
                  <a:ea typeface="黑体" pitchFamily="49" charset="-122"/>
                </a:rPr>
                <a:t>按补码比较大小</a:t>
              </a:r>
            </a:p>
          </p:txBody>
        </p:sp>
        <p:sp>
          <p:nvSpPr>
            <p:cNvPr id="80922" name="AutoShape 13"/>
            <p:cNvSpPr/>
            <p:nvPr/>
          </p:nvSpPr>
          <p:spPr>
            <a:xfrm>
              <a:off x="4746" y="2520"/>
              <a:ext cx="78" cy="258"/>
            </a:xfrm>
            <a:prstGeom prst="rightBrace">
              <a:avLst>
                <a:gd name="adj1" fmla="val 27564"/>
                <a:gd name="adj2" fmla="val 50000"/>
              </a:avLst>
            </a:prstGeom>
            <a:noFill/>
            <a:ln w="28575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grpSp>
        <p:nvGrpSpPr>
          <p:cNvPr id="65569" name="Group 33"/>
          <p:cNvGrpSpPr/>
          <p:nvPr/>
        </p:nvGrpSpPr>
        <p:grpSpPr>
          <a:xfrm>
            <a:off x="7543800" y="4691063"/>
            <a:ext cx="1528763" cy="874712"/>
            <a:chOff x="4752" y="2955"/>
            <a:chExt cx="963" cy="551"/>
          </a:xfrm>
        </p:grpSpPr>
        <p:sp>
          <p:nvSpPr>
            <p:cNvPr id="80919" name="AutoShape 14"/>
            <p:cNvSpPr/>
            <p:nvPr/>
          </p:nvSpPr>
          <p:spPr>
            <a:xfrm>
              <a:off x="4752" y="3044"/>
              <a:ext cx="58" cy="355"/>
            </a:xfrm>
            <a:prstGeom prst="rightBrace">
              <a:avLst>
                <a:gd name="adj1" fmla="val 51005"/>
                <a:gd name="adj2" fmla="val 43699"/>
              </a:avLst>
            </a:prstGeom>
            <a:noFill/>
            <a:ln w="28575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20" name="Rectangle 15"/>
            <p:cNvSpPr/>
            <p:nvPr/>
          </p:nvSpPr>
          <p:spPr>
            <a:xfrm>
              <a:off x="4819" y="2955"/>
              <a:ext cx="896" cy="55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zh-CN" altLang="en-US" sz="1800" dirty="0">
                  <a:solidFill>
                    <a:srgbClr val="0033CC"/>
                  </a:solidFill>
                  <a:latin typeface="黑体" pitchFamily="49" charset="-122"/>
                  <a:ea typeface="黑体" pitchFamily="49" charset="-122"/>
                </a:rPr>
                <a:t>汇编指令中给出的是相对单元数！</a:t>
              </a:r>
            </a:p>
          </p:txBody>
        </p:sp>
      </p:grpSp>
      <p:sp>
        <p:nvSpPr>
          <p:cNvPr id="231440" name="Text Box 16"/>
          <p:cNvSpPr txBox="1"/>
          <p:nvPr/>
        </p:nvSpPr>
        <p:spPr>
          <a:xfrm>
            <a:off x="725488" y="4497388"/>
            <a:ext cx="3698875" cy="328612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问题：机器指令中立即数是多少？</a:t>
            </a:r>
          </a:p>
        </p:txBody>
      </p:sp>
      <p:sp>
        <p:nvSpPr>
          <p:cNvPr id="231441" name="Text Box 17"/>
          <p:cNvSpPr txBox="1"/>
          <p:nvPr/>
        </p:nvSpPr>
        <p:spPr>
          <a:xfrm>
            <a:off x="4238625" y="4506913"/>
            <a:ext cx="1760538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100=0064H</a:t>
            </a:r>
          </a:p>
        </p:txBody>
      </p:sp>
      <p:sp>
        <p:nvSpPr>
          <p:cNvPr id="231442" name="Text Box 18"/>
          <p:cNvSpPr txBox="1"/>
          <p:nvPr/>
        </p:nvSpPr>
        <p:spPr>
          <a:xfrm>
            <a:off x="560388" y="5476875"/>
            <a:ext cx="3627437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问题：机器指令中立即数是多少？</a:t>
            </a:r>
          </a:p>
        </p:txBody>
      </p:sp>
      <p:sp>
        <p:nvSpPr>
          <p:cNvPr id="231443" name="Text Box 19"/>
          <p:cNvSpPr txBox="1"/>
          <p:nvPr/>
        </p:nvSpPr>
        <p:spPr>
          <a:xfrm>
            <a:off x="4330700" y="5511800"/>
            <a:ext cx="1760538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25=0019H</a:t>
            </a:r>
          </a:p>
        </p:txBody>
      </p:sp>
      <p:sp>
        <p:nvSpPr>
          <p:cNvPr id="231446" name="Text Box 22"/>
          <p:cNvSpPr txBox="1"/>
          <p:nvPr/>
        </p:nvSpPr>
        <p:spPr>
          <a:xfrm>
            <a:off x="4538663" y="3044825"/>
            <a:ext cx="4549775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伪指令：由若干指令（即指令序列）实现。</a:t>
            </a:r>
          </a:p>
        </p:txBody>
      </p:sp>
      <p:sp>
        <p:nvSpPr>
          <p:cNvPr id="231449" name="Text Box 25"/>
          <p:cNvSpPr txBox="1"/>
          <p:nvPr/>
        </p:nvSpPr>
        <p:spPr>
          <a:xfrm>
            <a:off x="268288" y="5803900"/>
            <a:ext cx="7754937" cy="3587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分支指令的机器代码中给出的是相对于当前指令的指令条数！</a:t>
            </a:r>
          </a:p>
        </p:txBody>
      </p:sp>
      <p:grpSp>
        <p:nvGrpSpPr>
          <p:cNvPr id="5" name="Group 73"/>
          <p:cNvGrpSpPr/>
          <p:nvPr/>
        </p:nvGrpSpPr>
        <p:grpSpPr>
          <a:xfrm>
            <a:off x="1106488" y="6256338"/>
            <a:ext cx="4913312" cy="382587"/>
            <a:chOff x="1425" y="3348"/>
            <a:chExt cx="3095" cy="241"/>
          </a:xfrm>
        </p:grpSpPr>
        <p:sp>
          <p:nvSpPr>
            <p:cNvPr id="80911" name="Rectangle 53"/>
            <p:cNvSpPr/>
            <p:nvPr/>
          </p:nvSpPr>
          <p:spPr>
            <a:xfrm>
              <a:off x="1437" y="3348"/>
              <a:ext cx="531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12" name="Rectangle 54"/>
            <p:cNvSpPr/>
            <p:nvPr/>
          </p:nvSpPr>
          <p:spPr>
            <a:xfrm>
              <a:off x="1425" y="3408"/>
              <a:ext cx="565" cy="18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000100</a:t>
              </a:r>
            </a:p>
          </p:txBody>
        </p:sp>
        <p:sp>
          <p:nvSpPr>
            <p:cNvPr id="80913" name="Rectangle 55"/>
            <p:cNvSpPr/>
            <p:nvPr/>
          </p:nvSpPr>
          <p:spPr>
            <a:xfrm>
              <a:off x="1971" y="3348"/>
              <a:ext cx="463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14" name="Rectangle 56"/>
            <p:cNvSpPr/>
            <p:nvPr/>
          </p:nvSpPr>
          <p:spPr>
            <a:xfrm>
              <a:off x="2437" y="3348"/>
              <a:ext cx="509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15" name="Rectangle 58"/>
            <p:cNvSpPr/>
            <p:nvPr/>
          </p:nvSpPr>
          <p:spPr>
            <a:xfrm>
              <a:off x="2958" y="3348"/>
              <a:ext cx="1537" cy="23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0916" name="Rectangle 59"/>
            <p:cNvSpPr/>
            <p:nvPr/>
          </p:nvSpPr>
          <p:spPr>
            <a:xfrm>
              <a:off x="1959" y="3408"/>
              <a:ext cx="485" cy="18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00001</a:t>
              </a:r>
            </a:p>
          </p:txBody>
        </p:sp>
        <p:sp>
          <p:nvSpPr>
            <p:cNvPr id="80917" name="Rectangle 60"/>
            <p:cNvSpPr/>
            <p:nvPr/>
          </p:nvSpPr>
          <p:spPr>
            <a:xfrm>
              <a:off x="2439" y="3408"/>
              <a:ext cx="485" cy="18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00010</a:t>
              </a:r>
            </a:p>
          </p:txBody>
        </p:sp>
        <p:sp>
          <p:nvSpPr>
            <p:cNvPr id="80918" name="Text Box 62"/>
            <p:cNvSpPr txBox="1"/>
            <p:nvPr/>
          </p:nvSpPr>
          <p:spPr>
            <a:xfrm>
              <a:off x="2958" y="3356"/>
              <a:ext cx="15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90204" pitchFamily="34" charset="0"/>
                </a:rPr>
                <a:t>0000 0000 0001 1001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1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1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1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1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3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0" grpId="0"/>
      <p:bldP spid="231441" grpId="0"/>
      <p:bldP spid="231442" grpId="0"/>
      <p:bldP spid="231443" grpId="0"/>
      <p:bldP spid="2314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>
          <a:xfrm>
            <a:off x="717550" y="93663"/>
            <a:ext cx="3625850" cy="398462"/>
          </a:xfrm>
          <a:ln/>
        </p:spPr>
        <p:txBody>
          <a:bodyPr vert="horz" wrap="non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汇编语言示例列表</a:t>
            </a:r>
            <a:endParaRPr lang="en-US" altLang="zh-CN" sz="2600" dirty="0">
              <a:ea typeface="宋体" pitchFamily="2" charset="-122"/>
            </a:endParaRPr>
          </a:p>
        </p:txBody>
      </p:sp>
      <p:pic>
        <p:nvPicPr>
          <p:cNvPr id="8294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8" y="860425"/>
            <a:ext cx="8780462" cy="567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xfrm>
            <a:off x="717550" y="93663"/>
            <a:ext cx="3625850" cy="398462"/>
          </a:xfrm>
          <a:ln/>
        </p:spPr>
        <p:txBody>
          <a:bodyPr vert="horz" wrap="non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机器代码示例列表</a:t>
            </a:r>
            <a:endParaRPr lang="en-US" altLang="zh-CN" sz="2600" dirty="0">
              <a:ea typeface="宋体" pitchFamily="2" charset="-122"/>
            </a:endParaRPr>
          </a:p>
        </p:txBody>
      </p:sp>
      <p:pic>
        <p:nvPicPr>
          <p:cNvPr id="8499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38" y="831850"/>
            <a:ext cx="8659812" cy="5500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/>
          </p:cNvSpPr>
          <p:nvPr>
            <p:ph idx="1"/>
          </p:nvPr>
        </p:nvSpPr>
        <p:spPr>
          <a:xfrm>
            <a:off x="325438" y="495300"/>
            <a:ext cx="8540750" cy="4935538"/>
          </a:xfrm>
          <a:ln/>
        </p:spPr>
        <p:txBody>
          <a:bodyPr vert="horz" wrap="square" lIns="91440" tIns="45720" rIns="91440" bIns="45720" anchor="t" anchorCtr="0"/>
          <a:lstStyle/>
          <a:p>
            <a:pPr marL="342900" indent="-34290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逻辑数据表示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用一位表示 真：1 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-True /  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假：0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-False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 N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位二进制数可表示</a:t>
            </a:r>
            <a:r>
              <a:rPr lang="en-US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个逻辑数据</a:t>
            </a:r>
          </a:p>
          <a:p>
            <a:pPr marL="342900" indent="-34290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逻辑运算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按位进行， 如: 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And / Or / Shift Left / Shift Right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等</a:t>
            </a:r>
          </a:p>
          <a:p>
            <a:pPr marL="342900" indent="-34290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位的指定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设置某位的值：</a:t>
            </a:r>
          </a:p>
          <a:p>
            <a:pPr lvl="2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清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0:  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与掩码（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1…1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1…1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）相“与”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2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置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：与位串（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）相“或”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判断某位的值：</a:t>
            </a:r>
          </a:p>
          <a:p>
            <a:pPr lvl="2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是否为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0:  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与位串（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）相“与”后，是否为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</a:t>
            </a:r>
          </a:p>
          <a:p>
            <a:pPr lvl="2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FontTx/>
              <a:buChar char="•"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是否为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：与位串（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0…0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）相“与”后，是否不为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0</a:t>
            </a:r>
          </a:p>
          <a:p>
            <a:pPr marL="342900" indent="-342900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None/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中的移位指令（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sll / srl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87043" name="Rectangle 3"/>
          <p:cNvSpPr>
            <a:spLocks noGrp="1"/>
          </p:cNvSpPr>
          <p:nvPr>
            <p:ph type="title"/>
          </p:nvPr>
        </p:nvSpPr>
        <p:spPr>
          <a:xfrm>
            <a:off x="200025" y="79375"/>
            <a:ext cx="8628063" cy="409575"/>
          </a:xfrm>
          <a:ln/>
        </p:spPr>
        <p:txBody>
          <a:bodyPr vert="horz" wrap="square" lIns="91440" tIns="45720" rIns="91440" bIns="45720" anchor="ctr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dirty="0">
                <a:ea typeface="宋体" pitchFamily="2" charset="-122"/>
              </a:rPr>
              <a:t>指令中位的指定和逻辑运算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40997" name="Rectangle 5"/>
          <p:cNvSpPr/>
          <p:nvPr/>
        </p:nvSpPr>
        <p:spPr>
          <a:xfrm>
            <a:off x="725488" y="5861050"/>
            <a:ext cx="8012112" cy="722313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r>
              <a:rPr lang="zh-CN" altLang="en-US" sz="18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逻辑数据和数值数据在形式上并无差别，也是一串0/1序列，机器本身不能识别，需靠指令的类型来识别。包括后面所讲的字符数据等都一样。</a:t>
            </a:r>
          </a:p>
        </p:txBody>
      </p:sp>
      <p:grpSp>
        <p:nvGrpSpPr>
          <p:cNvPr id="2" name="Group 53"/>
          <p:cNvGrpSpPr/>
          <p:nvPr/>
        </p:nvGrpSpPr>
        <p:grpSpPr>
          <a:xfrm>
            <a:off x="2928938" y="5089525"/>
            <a:ext cx="6186487" cy="650875"/>
            <a:chOff x="1955" y="3206"/>
            <a:chExt cx="3639" cy="410"/>
          </a:xfrm>
        </p:grpSpPr>
        <p:sp>
          <p:nvSpPr>
            <p:cNvPr id="87047" name="Rectangle 10"/>
            <p:cNvSpPr/>
            <p:nvPr/>
          </p:nvSpPr>
          <p:spPr>
            <a:xfrm>
              <a:off x="1959" y="3412"/>
              <a:ext cx="3599" cy="17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48" name="Rectangle 13"/>
            <p:cNvSpPr/>
            <p:nvPr/>
          </p:nvSpPr>
          <p:spPr>
            <a:xfrm>
              <a:off x="1955" y="3408"/>
              <a:ext cx="624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49" name="Rectangle 16"/>
            <p:cNvSpPr/>
            <p:nvPr/>
          </p:nvSpPr>
          <p:spPr>
            <a:xfrm>
              <a:off x="2587" y="3408"/>
              <a:ext cx="580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50" name="Rectangle 19"/>
            <p:cNvSpPr/>
            <p:nvPr/>
          </p:nvSpPr>
          <p:spPr>
            <a:xfrm>
              <a:off x="3175" y="3408"/>
              <a:ext cx="579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51" name="Rectangle 22"/>
            <p:cNvSpPr/>
            <p:nvPr/>
          </p:nvSpPr>
          <p:spPr>
            <a:xfrm>
              <a:off x="3762" y="3408"/>
              <a:ext cx="579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52" name="Rectangle 25"/>
            <p:cNvSpPr/>
            <p:nvPr/>
          </p:nvSpPr>
          <p:spPr>
            <a:xfrm>
              <a:off x="4349" y="3408"/>
              <a:ext cx="580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87053" name="Rectangle 28"/>
            <p:cNvSpPr/>
            <p:nvPr/>
          </p:nvSpPr>
          <p:spPr>
            <a:xfrm>
              <a:off x="4937" y="3408"/>
              <a:ext cx="625" cy="18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grpSp>
          <p:nvGrpSpPr>
            <p:cNvPr id="87054" name="Group 44"/>
            <p:cNvGrpSpPr/>
            <p:nvPr/>
          </p:nvGrpSpPr>
          <p:grpSpPr>
            <a:xfrm>
              <a:off x="2137" y="3206"/>
              <a:ext cx="3342" cy="229"/>
              <a:chOff x="1570" y="3134"/>
              <a:chExt cx="3342" cy="229"/>
            </a:xfrm>
          </p:grpSpPr>
          <p:sp>
            <p:nvSpPr>
              <p:cNvPr id="87061" name="Rectangle 14"/>
              <p:cNvSpPr/>
              <p:nvPr/>
            </p:nvSpPr>
            <p:spPr>
              <a:xfrm>
                <a:off x="1570" y="3134"/>
                <a:ext cx="248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op</a:t>
                </a:r>
              </a:p>
            </p:txBody>
          </p:sp>
          <p:sp>
            <p:nvSpPr>
              <p:cNvPr id="87062" name="Rectangle 17"/>
              <p:cNvSpPr/>
              <p:nvPr/>
            </p:nvSpPr>
            <p:spPr>
              <a:xfrm>
                <a:off x="2185" y="3134"/>
                <a:ext cx="219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rs</a:t>
                </a:r>
              </a:p>
            </p:txBody>
          </p:sp>
          <p:sp>
            <p:nvSpPr>
              <p:cNvPr id="87063" name="Rectangle 20"/>
              <p:cNvSpPr/>
              <p:nvPr/>
            </p:nvSpPr>
            <p:spPr>
              <a:xfrm>
                <a:off x="2772" y="3134"/>
                <a:ext cx="211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rt</a:t>
                </a:r>
              </a:p>
            </p:txBody>
          </p:sp>
          <p:sp>
            <p:nvSpPr>
              <p:cNvPr id="87064" name="Rectangle 23"/>
              <p:cNvSpPr/>
              <p:nvPr/>
            </p:nvSpPr>
            <p:spPr>
              <a:xfrm>
                <a:off x="3360" y="3134"/>
                <a:ext cx="241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rd</a:t>
                </a:r>
              </a:p>
            </p:txBody>
          </p:sp>
          <p:sp>
            <p:nvSpPr>
              <p:cNvPr id="87065" name="Rectangle 26"/>
              <p:cNvSpPr/>
              <p:nvPr/>
            </p:nvSpPr>
            <p:spPr>
              <a:xfrm>
                <a:off x="3857" y="3134"/>
                <a:ext cx="457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shamt</a:t>
                </a:r>
              </a:p>
            </p:txBody>
          </p:sp>
          <p:sp>
            <p:nvSpPr>
              <p:cNvPr id="87066" name="Rectangle 29"/>
              <p:cNvSpPr/>
              <p:nvPr/>
            </p:nvSpPr>
            <p:spPr>
              <a:xfrm>
                <a:off x="4552" y="3134"/>
                <a:ext cx="360" cy="2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func</a:t>
                </a:r>
              </a:p>
            </p:txBody>
          </p:sp>
        </p:grpSp>
        <p:sp>
          <p:nvSpPr>
            <p:cNvPr id="87055" name="Rectangle 46"/>
            <p:cNvSpPr/>
            <p:nvPr/>
          </p:nvSpPr>
          <p:spPr>
            <a:xfrm>
              <a:off x="2011" y="3387"/>
              <a:ext cx="570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000000</a:t>
              </a:r>
            </a:p>
          </p:txBody>
        </p:sp>
        <p:sp>
          <p:nvSpPr>
            <p:cNvPr id="87056" name="Rectangle 47"/>
            <p:cNvSpPr/>
            <p:nvPr/>
          </p:nvSpPr>
          <p:spPr>
            <a:xfrm>
              <a:off x="2662" y="3387"/>
              <a:ext cx="487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00000</a:t>
              </a:r>
            </a:p>
          </p:txBody>
        </p:sp>
        <p:sp>
          <p:nvSpPr>
            <p:cNvPr id="87057" name="Rectangle 48"/>
            <p:cNvSpPr/>
            <p:nvPr/>
          </p:nvSpPr>
          <p:spPr>
            <a:xfrm>
              <a:off x="3259" y="3387"/>
              <a:ext cx="442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10000</a:t>
              </a:r>
            </a:p>
          </p:txBody>
        </p:sp>
        <p:sp>
          <p:nvSpPr>
            <p:cNvPr id="87058" name="Rectangle 49"/>
            <p:cNvSpPr/>
            <p:nvPr/>
          </p:nvSpPr>
          <p:spPr>
            <a:xfrm>
              <a:off x="3827" y="3387"/>
              <a:ext cx="517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01010</a:t>
              </a:r>
            </a:p>
          </p:txBody>
        </p:sp>
        <p:sp>
          <p:nvSpPr>
            <p:cNvPr id="87059" name="Rectangle 50"/>
            <p:cNvSpPr/>
            <p:nvPr/>
          </p:nvSpPr>
          <p:spPr>
            <a:xfrm>
              <a:off x="4389" y="3387"/>
              <a:ext cx="443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01000</a:t>
              </a:r>
            </a:p>
          </p:txBody>
        </p:sp>
        <p:sp>
          <p:nvSpPr>
            <p:cNvPr id="87060" name="Rectangle 51"/>
            <p:cNvSpPr/>
            <p:nvPr/>
          </p:nvSpPr>
          <p:spPr>
            <a:xfrm>
              <a:off x="5084" y="3387"/>
              <a:ext cx="510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000010</a:t>
              </a:r>
            </a:p>
          </p:txBody>
        </p:sp>
      </p:grpSp>
      <p:sp>
        <p:nvSpPr>
          <p:cNvPr id="341044" name="Text Box 52"/>
          <p:cNvSpPr txBox="1"/>
          <p:nvPr/>
        </p:nvSpPr>
        <p:spPr>
          <a:xfrm>
            <a:off x="441325" y="5167313"/>
            <a:ext cx="2682875" cy="706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例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: srl $t2,$s0,8</a:t>
            </a:r>
          </a:p>
          <a:p>
            <a:pPr>
              <a:spcBef>
                <a:spcPct val="15000"/>
              </a:spcBef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$s0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右移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8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位后送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$t2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0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0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0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0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0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09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409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09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7" grpId="0"/>
      <p:bldP spid="3410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110288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dirty="0">
                <a:ea typeface="宋体" pitchFamily="2" charset="-122"/>
              </a:rPr>
              <a:t>指令中常数的指定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72387" name="Rectangle 3"/>
          <p:cNvSpPr>
            <a:spLocks noGrp="1"/>
          </p:cNvSpPr>
          <p:nvPr>
            <p:ph idx="1"/>
          </p:nvPr>
        </p:nvSpPr>
        <p:spPr>
          <a:xfrm>
            <a:off x="457200" y="503238"/>
            <a:ext cx="8229600" cy="26384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程序中经常需要使用常数，例如：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C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编译器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gcc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52%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的算术指令用到常数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电路模拟程序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Spice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69%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的算术指令用到常数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指令中如何取得常数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若程序装入时，常数已在内存中，则需用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load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指令读入寄存器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在指令中用一个“立即数”来使用常数</a:t>
            </a:r>
          </a:p>
          <a:p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 lvl="1"/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72388" name="Text Box 4"/>
          <p:cNvSpPr txBox="1"/>
          <p:nvPr/>
        </p:nvSpPr>
        <p:spPr>
          <a:xfrm>
            <a:off x="855663" y="3032125"/>
            <a:ext cx="5262562" cy="7937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例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i=i+4;     Assuming variable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 ~ $1</a:t>
            </a:r>
          </a:p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则：   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addi  $1, $1, 4</a:t>
            </a:r>
          </a:p>
        </p:txBody>
      </p:sp>
      <p:sp>
        <p:nvSpPr>
          <p:cNvPr id="272389" name="Text Box 5"/>
          <p:cNvSpPr txBox="1"/>
          <p:nvPr/>
        </p:nvSpPr>
        <p:spPr>
          <a:xfrm>
            <a:off x="827088" y="3789363"/>
            <a:ext cx="7310437" cy="7937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例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if (i&lt;20) …. ;     Assuming variable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 ~ $1</a:t>
            </a:r>
          </a:p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则：   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slti  $3, $1, 20		; if  (i&lt;20) $3=1 else $3=0</a:t>
            </a:r>
          </a:p>
        </p:txBody>
      </p:sp>
      <p:sp>
        <p:nvSpPr>
          <p:cNvPr id="272390" name="Text Box 6"/>
          <p:cNvSpPr txBox="1"/>
          <p:nvPr/>
        </p:nvSpPr>
        <p:spPr>
          <a:xfrm>
            <a:off x="638175" y="4730750"/>
            <a:ext cx="6094413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如果常数的值用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位无法表示，怎么办？</a:t>
            </a:r>
          </a:p>
        </p:txBody>
      </p:sp>
      <p:sp>
        <p:nvSpPr>
          <p:cNvPr id="272391" name="Text Box 7"/>
          <p:cNvSpPr txBox="1"/>
          <p:nvPr/>
        </p:nvSpPr>
        <p:spPr>
          <a:xfrm>
            <a:off x="654050" y="5170488"/>
            <a:ext cx="827087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用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lui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指令把高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位送到寄存器的高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位，再把低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位加到该寄存器中。</a:t>
            </a:r>
          </a:p>
        </p:txBody>
      </p:sp>
      <p:sp>
        <p:nvSpPr>
          <p:cNvPr id="272392" name="Text Box 8"/>
          <p:cNvSpPr txBox="1"/>
          <p:nvPr/>
        </p:nvSpPr>
        <p:spPr>
          <a:xfrm>
            <a:off x="812800" y="5516563"/>
            <a:ext cx="7310438" cy="10525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例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：将“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0000 0000 0011 1101 0000 0000 0000 1000”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送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$3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中</a:t>
            </a:r>
          </a:p>
          <a:p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则：   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lui  $3, 61</a:t>
            </a:r>
          </a:p>
          <a:p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          addi $3, $3,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2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2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/>
      <p:bldP spid="272389" grpId="0"/>
      <p:bldP spid="272390" grpId="0"/>
      <p:bldP spid="272391" grpId="0"/>
      <p:bldP spid="272392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834188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dirty="0">
                <a:ea typeface="宋体" pitchFamily="2" charset="-122"/>
              </a:rPr>
              <a:t>指令中如何表示文本字符串</a:t>
            </a:r>
          </a:p>
        </p:txBody>
      </p:sp>
      <p:sp>
        <p:nvSpPr>
          <p:cNvPr id="276483" name="Rectangle 3"/>
          <p:cNvSpPr>
            <a:spLocks noGrp="1"/>
          </p:cNvSpPr>
          <p:nvPr>
            <p:ph idx="1"/>
          </p:nvPr>
        </p:nvSpPr>
        <p:spPr>
          <a:xfrm>
            <a:off x="271463" y="588963"/>
            <a:ext cx="8631237" cy="43973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有些情况下，程序需要处理文本。例如：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西文文本由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ASCII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  <a:hlinkClick r:id="" action="ppaction://hlinkshowjump?jump=nextslide"/>
              </a:rPr>
              <a:t>码字符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构成字符串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Java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等语言使用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  <a:hlinkClick r:id="" action="ppaction://noaction"/>
              </a:rPr>
              <a:t>Unicode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  <a:hlinkClick r:id="" action="ppaction://noaction"/>
              </a:rPr>
              <a:t>编码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构成字符串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汉字文本使用的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  <a:hlinkClick r:id="" action="ppaction://noaction"/>
              </a:rPr>
              <a:t>汉字编码字符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构成字符串</a:t>
            </a: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字符串的表示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由一个个字符组成，长度不定。有三种表示方式：</a:t>
            </a: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字符串的首字节记录长度</a:t>
            </a: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用其他变量来记录长度（即：用“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struc”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类型来描述）</a:t>
            </a: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字符串末尾用一个特殊字符表示。</a:t>
            </a:r>
          </a:p>
          <a:p>
            <a:pPr lvl="2">
              <a:lnSpc>
                <a:spcPct val="80000"/>
              </a:lnSpc>
              <a:buNone/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    如：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C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语言用字符（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NULL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）来标记字符串结束</a:t>
            </a: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如何在指令中表示字符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ASCII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字符串，每个字符由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8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位组成，用 “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lb/sb”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指令存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取一个字节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Unicode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及汉字字符都有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位，用 “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lh/sh”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指令存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取两个字节</a:t>
            </a:r>
          </a:p>
          <a:p>
            <a:pPr>
              <a:lnSpc>
                <a:spcPct val="80000"/>
              </a:lnSpc>
              <a:buNone/>
            </a:pP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80000"/>
              </a:lnSpc>
            </a:pP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76484" name="Text Box 4"/>
          <p:cNvSpPr txBox="1"/>
          <p:nvPr/>
        </p:nvSpPr>
        <p:spPr>
          <a:xfrm>
            <a:off x="315913" y="4941888"/>
            <a:ext cx="8572500" cy="16160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例：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x[i] = y[j]; variables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i,j ~ $1,$2, base address x,y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~ $3,$4</a:t>
            </a:r>
          </a:p>
          <a:p>
            <a:pPr>
              <a:buNone/>
            </a:pP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则：      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add  $5, $3, $1		; $5=the address of x[i]</a:t>
            </a:r>
          </a:p>
          <a:p>
            <a:pPr>
              <a:buNone/>
            </a:pP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	add  $6, $4, $2               ; $6=the address of y[j]</a:t>
            </a:r>
          </a:p>
          <a:p>
            <a:pPr>
              <a:buNone/>
            </a:pPr>
            <a:r>
              <a:rPr lang="zh-CN" altLang="en-US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	</a:t>
            </a: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lb     $7, 0($6)		; $7=y[j]</a:t>
            </a:r>
          </a:p>
          <a:p>
            <a:pPr>
              <a:buNone/>
            </a:pPr>
            <a:r>
              <a:rPr lang="en-US" altLang="zh-CN" sz="20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	sb    $7, 0($5)		; x[i]=$7</a:t>
            </a:r>
          </a:p>
        </p:txBody>
      </p:sp>
      <p:sp>
        <p:nvSpPr>
          <p:cNvPr id="276486" name="Text Box 6"/>
          <p:cNvSpPr txBox="1"/>
          <p:nvPr/>
        </p:nvSpPr>
        <p:spPr>
          <a:xfrm>
            <a:off x="7154863" y="6169025"/>
            <a:ext cx="987425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" action="ppaction://noaction"/>
              </a:rPr>
              <a:t>SKIP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5614988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数据类型和</a:t>
            </a:r>
            <a:r>
              <a:rPr lang="en-US" altLang="zh-CN" dirty="0">
                <a:ea typeface="宋体" pitchFamily="2" charset="-122"/>
              </a:rPr>
              <a:t>MIPS</a:t>
            </a:r>
            <a:r>
              <a:rPr lang="zh-CN" altLang="en-US" dirty="0">
                <a:ea typeface="宋体" pitchFamily="2" charset="-122"/>
              </a:rPr>
              <a:t>指令的对应</a:t>
            </a:r>
          </a:p>
        </p:txBody>
      </p:sp>
      <p:graphicFrame>
        <p:nvGraphicFramePr>
          <p:cNvPr id="911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11138" y="801688"/>
          <a:ext cx="8797925" cy="509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" r:id="rId3" imgW="9401175" imgH="4029075" progId="Paint.Picture">
                  <p:embed/>
                </p:oleObj>
              </mc:Choice>
              <mc:Fallback>
                <p:oleObj r:id="rId3" imgW="9401175" imgH="40290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11138" y="801688"/>
                        <a:ext cx="8797925" cy="50942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Text Box 4"/>
          <p:cNvSpPr txBox="1"/>
          <p:nvPr/>
        </p:nvSpPr>
        <p:spPr>
          <a:xfrm>
            <a:off x="423863" y="6070600"/>
            <a:ext cx="8232775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C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语言中的“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char”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为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8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位， 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Java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语言中的“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char”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为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位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(Unicode)</a:t>
            </a:r>
            <a:endParaRPr lang="zh-CN" altLang="en-US" sz="2000" dirty="0">
              <a:solidFill>
                <a:srgbClr val="CC0000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xfrm>
            <a:off x="800100" y="57150"/>
            <a:ext cx="3700463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Example</a:t>
            </a:r>
            <a:r>
              <a:rPr lang="zh-CN" altLang="en-US" dirty="0">
                <a:ea typeface="宋体" pitchFamily="2" charset="-122"/>
              </a:rPr>
              <a:t>：</a:t>
            </a:r>
            <a:r>
              <a:rPr lang="zh-CN" altLang="en-US" sz="2600" dirty="0">
                <a:ea typeface="宋体" pitchFamily="2" charset="-122"/>
              </a:rPr>
              <a:t>算术运算</a:t>
            </a:r>
            <a:r>
              <a:rPr lang="zh-CN" altLang="en-US" dirty="0">
                <a:ea typeface="宋体" pitchFamily="2" charset="-122"/>
              </a:rPr>
              <a:t> </a:t>
            </a:r>
            <a:endParaRPr lang="zh-CN" altLang="en-US" sz="1400" dirty="0">
              <a:ea typeface="宋体" pitchFamily="2" charset="-122"/>
            </a:endParaRPr>
          </a:p>
        </p:txBody>
      </p:sp>
      <p:sp>
        <p:nvSpPr>
          <p:cNvPr id="92163" name="Rectangle 3"/>
          <p:cNvSpPr/>
          <p:nvPr/>
        </p:nvSpPr>
        <p:spPr>
          <a:xfrm>
            <a:off x="733425" y="736600"/>
            <a:ext cx="6799263" cy="8223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E.g.   f= (g+h) - (i+j),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assuming f, g, h, i, j be assigned to $1, $2, $3, $4, $5</a:t>
            </a:r>
          </a:p>
        </p:txBody>
      </p:sp>
      <p:sp>
        <p:nvSpPr>
          <p:cNvPr id="224260" name="Rectangle 4"/>
          <p:cNvSpPr/>
          <p:nvPr/>
        </p:nvSpPr>
        <p:spPr>
          <a:xfrm>
            <a:off x="1311275" y="1836738"/>
            <a:ext cx="1685925" cy="11715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add $7, $2, $3</a:t>
            </a:r>
          </a:p>
          <a:p>
            <a:pPr>
              <a:spcBef>
                <a:spcPct val="25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add $8, $4, $5</a:t>
            </a:r>
          </a:p>
          <a:p>
            <a:pPr>
              <a:spcBef>
                <a:spcPct val="25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sub $1, $7, $8</a:t>
            </a:r>
          </a:p>
        </p:txBody>
      </p:sp>
      <p:sp>
        <p:nvSpPr>
          <p:cNvPr id="224261" name="Rectangle 5"/>
          <p:cNvSpPr/>
          <p:nvPr/>
        </p:nvSpPr>
        <p:spPr>
          <a:xfrm>
            <a:off x="3675063" y="1690688"/>
            <a:ext cx="5040312" cy="1158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寄存器资源由编译器分配！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简单变量尽量被分配在寄存器中，为什么？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程序中的常数如何处理呢？</a:t>
            </a:r>
          </a:p>
        </p:txBody>
      </p:sp>
      <p:sp>
        <p:nvSpPr>
          <p:cNvPr id="224262" name="Rectangle 6"/>
          <p:cNvSpPr/>
          <p:nvPr/>
        </p:nvSpPr>
        <p:spPr>
          <a:xfrm>
            <a:off x="738188" y="3465513"/>
            <a:ext cx="32766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E.g.   f= (g+100) - (i+50)</a:t>
            </a:r>
          </a:p>
        </p:txBody>
      </p:sp>
      <p:sp>
        <p:nvSpPr>
          <p:cNvPr id="224264" name="Rectangle 8"/>
          <p:cNvSpPr/>
          <p:nvPr/>
        </p:nvSpPr>
        <p:spPr>
          <a:xfrm>
            <a:off x="4191000" y="4724400"/>
            <a:ext cx="4545013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Times New Roman" panose="02020603050405020304" pitchFamily="18" charset="0"/>
                <a:ea typeface="黑体" pitchFamily="49" charset="-122"/>
              </a:rPr>
              <a:t>问题：以下程序如何处理呢？</a:t>
            </a:r>
          </a:p>
        </p:txBody>
      </p:sp>
      <p:sp>
        <p:nvSpPr>
          <p:cNvPr id="224265" name="Rectangle 9"/>
          <p:cNvSpPr/>
          <p:nvPr/>
        </p:nvSpPr>
        <p:spPr>
          <a:xfrm>
            <a:off x="4351338" y="5160963"/>
            <a:ext cx="35814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E.g.   f= (g+65000) - (i+50)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2886075" y="4835525"/>
            <a:ext cx="571500" cy="304800"/>
            <a:chOff x="1920" y="3468"/>
            <a:chExt cx="360" cy="192"/>
          </a:xfrm>
        </p:grpSpPr>
        <p:sp>
          <p:nvSpPr>
            <p:cNvPr id="92178" name="Line 11"/>
            <p:cNvSpPr/>
            <p:nvPr/>
          </p:nvSpPr>
          <p:spPr>
            <a:xfrm flipH="1">
              <a:off x="1920" y="3474"/>
              <a:ext cx="360" cy="17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9" name="Line 12"/>
            <p:cNvSpPr/>
            <p:nvPr/>
          </p:nvSpPr>
          <p:spPr>
            <a:xfrm>
              <a:off x="1932" y="3468"/>
              <a:ext cx="34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6"/>
          <p:cNvGrpSpPr/>
          <p:nvPr/>
        </p:nvGrpSpPr>
        <p:grpSpPr>
          <a:xfrm>
            <a:off x="4114800" y="3182938"/>
            <a:ext cx="2286000" cy="1171575"/>
            <a:chOff x="2718" y="2619"/>
            <a:chExt cx="1440" cy="738"/>
          </a:xfrm>
        </p:grpSpPr>
        <p:sp>
          <p:nvSpPr>
            <p:cNvPr id="92176" name="Rectangle 7"/>
            <p:cNvSpPr/>
            <p:nvPr/>
          </p:nvSpPr>
          <p:spPr>
            <a:xfrm>
              <a:off x="2972" y="2619"/>
              <a:ext cx="1186" cy="73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addi $7, $2, </a:t>
              </a:r>
              <a:r>
                <a:rPr lang="en-US" altLang="zh-CN" sz="2000" dirty="0">
                  <a:solidFill>
                    <a:srgbClr val="EE3900"/>
                  </a:solidFill>
                  <a:latin typeface="Times New Roman" panose="02020603050405020304" pitchFamily="18" charset="0"/>
                </a:rPr>
                <a:t>100</a:t>
              </a:r>
            </a:p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addi  $8, $4, </a:t>
              </a:r>
              <a:r>
                <a:rPr lang="en-US" altLang="zh-CN" sz="2000" dirty="0">
                  <a:solidFill>
                    <a:srgbClr val="EE3900"/>
                  </a:solidFill>
                  <a:latin typeface="Times New Roman" panose="02020603050405020304" pitchFamily="18" charset="0"/>
                </a:rPr>
                <a:t>50</a:t>
              </a:r>
            </a:p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sub $1, $7, $8</a:t>
              </a:r>
            </a:p>
          </p:txBody>
        </p:sp>
        <p:sp>
          <p:nvSpPr>
            <p:cNvPr id="92177" name="Line 14"/>
            <p:cNvSpPr/>
            <p:nvPr/>
          </p:nvSpPr>
          <p:spPr>
            <a:xfrm>
              <a:off x="2718" y="2964"/>
              <a:ext cx="2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7"/>
          <p:cNvGrpSpPr/>
          <p:nvPr/>
        </p:nvGrpSpPr>
        <p:grpSpPr>
          <a:xfrm>
            <a:off x="1489075" y="4738688"/>
            <a:ext cx="2800350" cy="1171575"/>
            <a:chOff x="1020" y="3236"/>
            <a:chExt cx="1764" cy="738"/>
          </a:xfrm>
        </p:grpSpPr>
        <p:sp>
          <p:nvSpPr>
            <p:cNvPr id="92174" name="Rectangle 10"/>
            <p:cNvSpPr/>
            <p:nvPr/>
          </p:nvSpPr>
          <p:spPr>
            <a:xfrm>
              <a:off x="1020" y="3236"/>
              <a:ext cx="1346" cy="73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addi $7, $2, </a:t>
              </a:r>
              <a:r>
                <a:rPr lang="en-US" altLang="zh-CN" sz="2000" dirty="0">
                  <a:solidFill>
                    <a:srgbClr val="EE3900"/>
                  </a:solidFill>
                  <a:latin typeface="Times New Roman" panose="02020603050405020304" pitchFamily="18" charset="0"/>
                </a:rPr>
                <a:t>65000</a:t>
              </a:r>
            </a:p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addi  $8, $4, </a:t>
              </a:r>
              <a:r>
                <a:rPr lang="en-US" altLang="zh-CN" sz="2000" dirty="0">
                  <a:solidFill>
                    <a:srgbClr val="EE3900"/>
                  </a:solidFill>
                  <a:latin typeface="Times New Roman" panose="02020603050405020304" pitchFamily="18" charset="0"/>
                </a:rPr>
                <a:t>50</a:t>
              </a:r>
            </a:p>
            <a:p>
              <a:pPr>
                <a:spcBef>
                  <a:spcPct val="25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sub $1, $7, $8</a:t>
              </a:r>
            </a:p>
          </p:txBody>
        </p:sp>
        <p:sp>
          <p:nvSpPr>
            <p:cNvPr id="92175" name="Line 15"/>
            <p:cNvSpPr/>
            <p:nvPr/>
          </p:nvSpPr>
          <p:spPr>
            <a:xfrm flipH="1" flipV="1">
              <a:off x="2364" y="3708"/>
              <a:ext cx="4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24274" name="Rectangle 18"/>
          <p:cNvSpPr/>
          <p:nvPr/>
        </p:nvSpPr>
        <p:spPr>
          <a:xfrm>
            <a:off x="515938" y="6115050"/>
            <a:ext cx="7977187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黑体" pitchFamily="49" charset="-122"/>
                <a:ea typeface="黑体" pitchFamily="49" charset="-122"/>
              </a:rPr>
              <a:t>指令设计时必须考虑这种情况！</a:t>
            </a:r>
            <a:r>
              <a:rPr lang="en-US" altLang="zh-CN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有一条专门的处理指令！</a:t>
            </a:r>
          </a:p>
        </p:txBody>
      </p:sp>
      <p:sp>
        <p:nvSpPr>
          <p:cNvPr id="61460" name="Text Box 20"/>
          <p:cNvSpPr txBox="1"/>
          <p:nvPr/>
        </p:nvSpPr>
        <p:spPr>
          <a:xfrm>
            <a:off x="4305300" y="5735638"/>
            <a:ext cx="3598863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位立即数：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-32768~32767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4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4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4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24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/>
      <p:bldP spid="224262" grpId="0"/>
      <p:bldP spid="224265" grpId="0"/>
      <p:bldP spid="614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>
          <a:xfrm>
            <a:off x="800100" y="71438"/>
            <a:ext cx="3686175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Example (Base register) 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93187" name="Text Box 3"/>
          <p:cNvSpPr txBox="1"/>
          <p:nvPr/>
        </p:nvSpPr>
        <p:spPr>
          <a:xfrm>
            <a:off x="601663" y="811213"/>
            <a:ext cx="7905750" cy="15525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Assume A is an array of 100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words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and compiler has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associated the variables </a:t>
            </a:r>
            <a:r>
              <a:rPr lang="en-US" altLang="zh-CN" sz="2400" dirty="0">
                <a:latin typeface="Times New Roman" panose="02020603050405020304" pitchFamily="18" charset="0"/>
              </a:rPr>
              <a:t>g and h with the register $1 and $2.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Assume the base address of the array is in $3. Translate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	                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g = h + A[8]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88" name="Text Box 4"/>
          <p:cNvSpPr txBox="1"/>
          <p:nvPr/>
        </p:nvSpPr>
        <p:spPr>
          <a:xfrm>
            <a:off x="2719388" y="2566988"/>
            <a:ext cx="184150" cy="3048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7333" name="Text Box 5"/>
          <p:cNvSpPr txBox="1"/>
          <p:nvPr/>
        </p:nvSpPr>
        <p:spPr>
          <a:xfrm>
            <a:off x="2871788" y="2444750"/>
            <a:ext cx="4438650" cy="8223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lw $4, 8($3) 		;$4 &lt;-- A[8]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 $1, $2, $4</a:t>
            </a:r>
          </a:p>
        </p:txBody>
      </p:sp>
      <p:sp>
        <p:nvSpPr>
          <p:cNvPr id="227334" name="Text Box 6"/>
          <p:cNvSpPr txBox="1"/>
          <p:nvPr/>
        </p:nvSpPr>
        <p:spPr>
          <a:xfrm>
            <a:off x="2887663" y="3870325"/>
            <a:ext cx="1971675" cy="8223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lw $4, 32($3)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 $1, $2, $4</a:t>
            </a:r>
          </a:p>
        </p:txBody>
      </p:sp>
      <p:sp>
        <p:nvSpPr>
          <p:cNvPr id="227335" name="Text Box 7"/>
          <p:cNvSpPr txBox="1"/>
          <p:nvPr/>
        </p:nvSpPr>
        <p:spPr>
          <a:xfrm>
            <a:off x="482600" y="4491038"/>
            <a:ext cx="215741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A[12] = h+A[8]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7336" name="Text Box 8"/>
          <p:cNvSpPr txBox="1"/>
          <p:nvPr/>
        </p:nvSpPr>
        <p:spPr>
          <a:xfrm>
            <a:off x="2894013" y="4622800"/>
            <a:ext cx="1870075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sw $1, 48($3)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2659063" y="2479675"/>
            <a:ext cx="2286000" cy="1295400"/>
            <a:chOff x="960" y="1824"/>
            <a:chExt cx="1440" cy="816"/>
          </a:xfrm>
        </p:grpSpPr>
        <p:sp>
          <p:nvSpPr>
            <p:cNvPr id="93199" name="Line 10"/>
            <p:cNvSpPr/>
            <p:nvPr/>
          </p:nvSpPr>
          <p:spPr>
            <a:xfrm>
              <a:off x="1680" y="2400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200" name="Line 11"/>
            <p:cNvSpPr/>
            <p:nvPr/>
          </p:nvSpPr>
          <p:spPr>
            <a:xfrm>
              <a:off x="960" y="1872"/>
              <a:ext cx="1440" cy="43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201" name="Line 12"/>
            <p:cNvSpPr/>
            <p:nvPr/>
          </p:nvSpPr>
          <p:spPr>
            <a:xfrm flipV="1">
              <a:off x="960" y="1824"/>
              <a:ext cx="1392" cy="5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7341" name="AutoShape 13"/>
          <p:cNvSpPr/>
          <p:nvPr/>
        </p:nvSpPr>
        <p:spPr>
          <a:xfrm>
            <a:off x="6107113" y="4673600"/>
            <a:ext cx="2225675" cy="693738"/>
          </a:xfrm>
          <a:prstGeom prst="borderCallout2">
            <a:avLst>
              <a:gd name="adj1" fmla="val 16477"/>
              <a:gd name="adj2" fmla="val -3426"/>
              <a:gd name="adj3" fmla="val 16477"/>
              <a:gd name="adj4" fmla="val -31884"/>
              <a:gd name="adj5" fmla="val -62472"/>
              <a:gd name="adj6" fmla="val -68190"/>
            </a:avLst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arrow" w="med" len="med"/>
          </a:ln>
        </p:spPr>
        <p:txBody>
          <a:bodyPr lIns="90000" tIns="46800" rIns="90000" bIns="46800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base register</a:t>
            </a:r>
          </a:p>
          <a:p>
            <a:pPr algn="ctr"/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基址寄存器）</a:t>
            </a:r>
          </a:p>
        </p:txBody>
      </p:sp>
      <p:sp>
        <p:nvSpPr>
          <p:cNvPr id="227342" name="AutoShape 14"/>
          <p:cNvSpPr/>
          <p:nvPr/>
        </p:nvSpPr>
        <p:spPr>
          <a:xfrm>
            <a:off x="5967413" y="3181350"/>
            <a:ext cx="2936875" cy="777875"/>
          </a:xfrm>
          <a:prstGeom prst="borderCallout2">
            <a:avLst>
              <a:gd name="adj1" fmla="val 14694"/>
              <a:gd name="adj2" fmla="val -2593"/>
              <a:gd name="adj3" fmla="val 14694"/>
              <a:gd name="adj4" fmla="val -20106"/>
              <a:gd name="adj5" fmla="val 101431"/>
              <a:gd name="adj6" fmla="val -64380"/>
            </a:avLst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arrow" w="med" len="med"/>
          </a:ln>
        </p:spPr>
        <p:txBody>
          <a:bodyPr lIns="90000" tIns="46800" rIns="90000" bIns="46800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offset or displacement</a:t>
            </a:r>
          </a:p>
          <a:p>
            <a:pPr algn="ctr"/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偏移量</a:t>
            </a:r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227344" name="Text Box 16"/>
          <p:cNvSpPr txBox="1"/>
          <p:nvPr/>
        </p:nvSpPr>
        <p:spPr>
          <a:xfrm>
            <a:off x="336550" y="5432425"/>
            <a:ext cx="8491538" cy="396875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问题：如果在一个循环体内执行：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g = h + A[i]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 ，则能否用基址寻址方式？</a:t>
            </a:r>
            <a:endParaRPr lang="en-US" altLang="zh-CN" sz="2000" dirty="0">
              <a:solidFill>
                <a:srgbClr val="EE3900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27347" name="Text Box 19"/>
          <p:cNvSpPr txBox="1"/>
          <p:nvPr/>
        </p:nvSpPr>
        <p:spPr>
          <a:xfrm>
            <a:off x="288925" y="5816600"/>
            <a:ext cx="8755063" cy="701675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不行，因为循环体内指令不能变，故首地址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不变，只能把下标 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i 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放在变址寄存器中，每循环一次下标加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，所以，不能用基址方式而应该用变址方式。</a:t>
            </a:r>
          </a:p>
        </p:txBody>
      </p:sp>
      <p:sp>
        <p:nvSpPr>
          <p:cNvPr id="227348" name="Text Box 20"/>
          <p:cNvSpPr txBox="1"/>
          <p:nvPr/>
        </p:nvSpPr>
        <p:spPr>
          <a:xfrm>
            <a:off x="312738" y="2209800"/>
            <a:ext cx="2039937" cy="17272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有没有问题？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有！因为各数组元素是字，并按字节编址，故各占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个单元。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/>
      <p:bldP spid="227334" grpId="0"/>
      <p:bldP spid="227335" grpId="0"/>
      <p:bldP spid="227336" grpId="0"/>
      <p:bldP spid="227341" grpId="0" animBg="1"/>
      <p:bldP spid="227342" grpId="0" animBg="1"/>
      <p:bldP spid="227344" grpId="0"/>
      <p:bldP spid="2273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/>
          </p:nvPr>
        </p:nvSpPr>
        <p:spPr>
          <a:xfrm>
            <a:off x="800100" y="85725"/>
            <a:ext cx="3852863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Example (Index Register) 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95235" name="Text Box 3"/>
          <p:cNvSpPr txBox="1"/>
          <p:nvPr/>
        </p:nvSpPr>
        <p:spPr>
          <a:xfrm>
            <a:off x="768350" y="635000"/>
            <a:ext cx="7500938" cy="15525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Assume A is an array of 100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words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and compiler has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associated the variables </a:t>
            </a:r>
            <a:r>
              <a:rPr lang="en-US" altLang="zh-CN" sz="2400" dirty="0">
                <a:latin typeface="Times New Roman" panose="02020603050405020304" pitchFamily="18" charset="0"/>
              </a:rPr>
              <a:t>g and i with the register $1, $5.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Assume the base address of the array is in $3. Translate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			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g = g + A[i]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6" name="Text Box 4"/>
          <p:cNvSpPr txBox="1"/>
          <p:nvPr/>
        </p:nvSpPr>
        <p:spPr>
          <a:xfrm>
            <a:off x="1584325" y="2838450"/>
            <a:ext cx="184150" cy="3048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381" name="Text Box 5"/>
          <p:cNvSpPr txBox="1"/>
          <p:nvPr/>
        </p:nvSpPr>
        <p:spPr>
          <a:xfrm>
            <a:off x="966788" y="2301875"/>
            <a:ext cx="7864475" cy="30130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addi  $6, $0, 4             ; $6 = 4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mult  $5, $6		 ; Hi,Lo = i*4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mflo  $7		 ; $7 = i*4, assuming i is small</a:t>
            </a:r>
          </a:p>
          <a:p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 $4, $3, $7		 ; $4 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</a:rPr>
              <a:t>&lt;--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</a:rPr>
              <a:t>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address of  A[i]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（即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A+i*4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）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lw  $4, 0($4) 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 $1, $1, $4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addi $5, $5, 1</a:t>
            </a:r>
          </a:p>
        </p:txBody>
      </p:sp>
      <p:sp>
        <p:nvSpPr>
          <p:cNvPr id="229382" name="Text Box 6"/>
          <p:cNvSpPr txBox="1"/>
          <p:nvPr/>
        </p:nvSpPr>
        <p:spPr>
          <a:xfrm>
            <a:off x="3975100" y="4149725"/>
            <a:ext cx="4926013" cy="118745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为什么</a:t>
            </a:r>
            <a:r>
              <a:rPr lang="en-US" altLang="zh-CN" sz="2400" dirty="0">
                <a:solidFill>
                  <a:srgbClr val="C51915"/>
                </a:solidFill>
                <a:latin typeface="Times New Roman" panose="02020603050405020304" pitchFamily="18" charset="0"/>
                <a:ea typeface="黑体" pitchFamily="49" charset="-122"/>
              </a:rPr>
              <a:t>i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必须乘</a:t>
            </a:r>
            <a:r>
              <a:rPr lang="en-US" altLang="zh-CN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4 ? 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怎样加快乘</a:t>
            </a:r>
            <a:r>
              <a:rPr lang="en-US" altLang="zh-CN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运算？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每个数组元素为字！用加法或移位！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变址寻址适合数组元素的循环访问！</a:t>
            </a:r>
          </a:p>
        </p:txBody>
      </p:sp>
      <p:sp>
        <p:nvSpPr>
          <p:cNvPr id="229383" name="AutoShape 7"/>
          <p:cNvSpPr/>
          <p:nvPr/>
        </p:nvSpPr>
        <p:spPr>
          <a:xfrm>
            <a:off x="5997575" y="2190750"/>
            <a:ext cx="2259013" cy="687388"/>
          </a:xfrm>
          <a:prstGeom prst="borderCallout2">
            <a:avLst>
              <a:gd name="adj1" fmla="val 16630"/>
              <a:gd name="adj2" fmla="val -3375"/>
              <a:gd name="adj3" fmla="val 16630"/>
              <a:gd name="adj4" fmla="val -77935"/>
              <a:gd name="adj5" fmla="val 100926"/>
              <a:gd name="adj6" fmla="val -171046"/>
            </a:avLst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arrow" w="med" len="med"/>
          </a:ln>
        </p:spPr>
        <p:txBody>
          <a:bodyPr lIns="90000" tIns="46800" rIns="90000" bIns="46800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Index Register</a:t>
            </a:r>
          </a:p>
          <a:p>
            <a:pPr algn="ctr"/>
            <a:r>
              <a:rPr lang="en-US" altLang="zh-CN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变址寄存器）</a:t>
            </a:r>
          </a:p>
        </p:txBody>
      </p:sp>
      <p:sp>
        <p:nvSpPr>
          <p:cNvPr id="229384" name="Text Box 8"/>
          <p:cNvSpPr txBox="1"/>
          <p:nvPr/>
        </p:nvSpPr>
        <p:spPr>
          <a:xfrm>
            <a:off x="379413" y="5484813"/>
            <a:ext cx="8505825" cy="762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问题：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若循环执行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g=g+A[i]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怎样使循环体内指令条数减少并缩短时间？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用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$5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做变址器，初值为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，每次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$5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加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4 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或 左移</a:t>
            </a:r>
            <a:r>
              <a:rPr lang="en-US" altLang="zh-CN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位，而不用乘法指令</a:t>
            </a:r>
            <a:endParaRPr lang="en-US" altLang="zh-CN" sz="2000" dirty="0">
              <a:solidFill>
                <a:srgbClr val="2E5C35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29385" name="Line 9"/>
          <p:cNvSpPr/>
          <p:nvPr/>
        </p:nvSpPr>
        <p:spPr>
          <a:xfrm flipH="1">
            <a:off x="542925" y="5303838"/>
            <a:ext cx="447675" cy="0"/>
          </a:xfrm>
          <a:prstGeom prst="line">
            <a:avLst/>
          </a:prstGeom>
          <a:ln w="317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386" name="Line 10"/>
          <p:cNvSpPr/>
          <p:nvPr/>
        </p:nvSpPr>
        <p:spPr>
          <a:xfrm>
            <a:off x="552450" y="2970213"/>
            <a:ext cx="0" cy="2343150"/>
          </a:xfrm>
          <a:prstGeom prst="line">
            <a:avLst/>
          </a:prstGeom>
          <a:ln w="317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387" name="Line 11"/>
          <p:cNvSpPr/>
          <p:nvPr/>
        </p:nvSpPr>
        <p:spPr>
          <a:xfrm>
            <a:off x="552450" y="2951163"/>
            <a:ext cx="428625" cy="0"/>
          </a:xfrm>
          <a:prstGeom prst="line">
            <a:avLst/>
          </a:prstGeom>
          <a:ln w="317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244" name="Text Box 12"/>
          <p:cNvSpPr txBox="1"/>
          <p:nvPr/>
        </p:nvSpPr>
        <p:spPr>
          <a:xfrm>
            <a:off x="733425" y="5351463"/>
            <a:ext cx="2847975" cy="2635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229389" name="Rectangle 13"/>
          <p:cNvSpPr/>
          <p:nvPr/>
        </p:nvSpPr>
        <p:spPr>
          <a:xfrm>
            <a:off x="423863" y="6288088"/>
            <a:ext cx="8151812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r>
              <a:rPr lang="zh-CN" altLang="en-US" sz="2000" dirty="0">
                <a:solidFill>
                  <a:srgbClr val="2E5C35"/>
                </a:solidFill>
                <a:latin typeface="Arial" panose="020B0604020202090204" pitchFamily="34" charset="0"/>
                <a:ea typeface="黑体" pitchFamily="49" charset="-122"/>
              </a:rPr>
              <a:t>若增设专门的“变址自增（即自动变址）”指令，则可使循环更短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9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9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9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2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1" grpId="0"/>
      <p:bldP spid="229383" grpId="0" animBg="1"/>
      <p:bldP spid="2293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929438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Example</a:t>
            </a:r>
            <a:r>
              <a:rPr lang="zh-CN" altLang="en-US" sz="2600" dirty="0">
                <a:ea typeface="宋体" pitchFamily="2" charset="-122"/>
              </a:rPr>
              <a:t>：</a:t>
            </a:r>
            <a:r>
              <a:rPr lang="en-US" altLang="zh-CN" sz="2600" dirty="0">
                <a:ea typeface="宋体" pitchFamily="2" charset="-122"/>
              </a:rPr>
              <a:t>if-then-else</a:t>
            </a:r>
            <a:r>
              <a:rPr lang="zh-CN" altLang="en-US" sz="2600" dirty="0">
                <a:ea typeface="宋体" pitchFamily="2" charset="-122"/>
              </a:rPr>
              <a:t>语句和“</a:t>
            </a:r>
            <a:r>
              <a:rPr lang="en-US" altLang="zh-CN" sz="2600" dirty="0">
                <a:ea typeface="宋体" pitchFamily="2" charset="-122"/>
              </a:rPr>
              <a:t>=”</a:t>
            </a:r>
            <a:r>
              <a:rPr lang="zh-CN" altLang="en-US" sz="2600" dirty="0">
                <a:ea typeface="宋体" pitchFamily="2" charset="-122"/>
              </a:rPr>
              <a:t>判断</a:t>
            </a:r>
          </a:p>
        </p:txBody>
      </p:sp>
      <p:sp>
        <p:nvSpPr>
          <p:cNvPr id="97283" name="Text Box 4"/>
          <p:cNvSpPr txBox="1"/>
          <p:nvPr/>
        </p:nvSpPr>
        <p:spPr>
          <a:xfrm>
            <a:off x="566738" y="904875"/>
            <a:ext cx="6550025" cy="19177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if (i = = j)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f = g+h ;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else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f = g-h ;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Assuming variables i, j, f, g, h, ~ $1, $2, $3, $4, $5</a:t>
            </a:r>
          </a:p>
        </p:txBody>
      </p:sp>
      <p:sp>
        <p:nvSpPr>
          <p:cNvPr id="274437" name="Text Box 5"/>
          <p:cNvSpPr txBox="1"/>
          <p:nvPr/>
        </p:nvSpPr>
        <p:spPr>
          <a:xfrm>
            <a:off x="869950" y="3184525"/>
            <a:ext cx="7231063" cy="19177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bne $1, $2, else                 ; i!=j, jump to else       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	add $3, $4, $5        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	j   exit			      ; jump to exit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else:	sub $3, $4, $5</a:t>
            </a:r>
            <a:endParaRPr lang="zh-CN" altLang="en-US" sz="240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exit: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0737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Example</a:t>
            </a:r>
            <a:r>
              <a:rPr lang="zh-CN" altLang="en-US" sz="2600" dirty="0">
                <a:ea typeface="宋体" pitchFamily="2" charset="-122"/>
              </a:rPr>
              <a:t>：“</a:t>
            </a:r>
            <a:r>
              <a:rPr lang="en-US" altLang="zh-CN" sz="2600" dirty="0">
                <a:ea typeface="宋体" pitchFamily="2" charset="-122"/>
              </a:rPr>
              <a:t>less than”</a:t>
            </a:r>
            <a:r>
              <a:rPr lang="zh-CN" altLang="en-US" sz="2600" dirty="0">
                <a:ea typeface="宋体" pitchFamily="2" charset="-122"/>
              </a:rPr>
              <a:t>判断</a:t>
            </a:r>
          </a:p>
        </p:txBody>
      </p:sp>
      <p:sp>
        <p:nvSpPr>
          <p:cNvPr id="98307" name="Text Box 5"/>
          <p:cNvSpPr txBox="1"/>
          <p:nvPr/>
        </p:nvSpPr>
        <p:spPr>
          <a:xfrm>
            <a:off x="566738" y="731838"/>
            <a:ext cx="6686550" cy="8223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if (a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&lt; b) f = g+h ; else f = g-h ;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Assuming variables a, b, f, g, h, ~ $1, $2, $3, $4, $5</a:t>
            </a:r>
          </a:p>
        </p:txBody>
      </p:sp>
      <p:sp>
        <p:nvSpPr>
          <p:cNvPr id="275462" name="Text Box 6"/>
          <p:cNvSpPr txBox="1"/>
          <p:nvPr/>
        </p:nvSpPr>
        <p:spPr>
          <a:xfrm>
            <a:off x="679450" y="1843088"/>
            <a:ext cx="7754938" cy="22828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slt   $6,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$1, $2		          ; if a&lt;b, $6=1, else $6=0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	bne $6, $zero, else               ; $6!=0, jump to else       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	add $3, $4, $5        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	j   exit			         ; jump to exit</a:t>
            </a: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else:	sub $3, $4, $5</a:t>
            </a:r>
            <a:endParaRPr lang="zh-CN" altLang="en-US" sz="240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exit: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958850" y="2235200"/>
            <a:ext cx="3222625" cy="392113"/>
            <a:chOff x="622" y="1554"/>
            <a:chExt cx="2030" cy="247"/>
          </a:xfrm>
        </p:grpSpPr>
        <p:sp>
          <p:nvSpPr>
            <p:cNvPr id="98315" name="Rectangle 7"/>
            <p:cNvSpPr/>
            <p:nvPr/>
          </p:nvSpPr>
          <p:spPr>
            <a:xfrm>
              <a:off x="987" y="1554"/>
              <a:ext cx="1665" cy="247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98316" name="Line 8"/>
            <p:cNvSpPr/>
            <p:nvPr/>
          </p:nvSpPr>
          <p:spPr>
            <a:xfrm flipH="1">
              <a:off x="622" y="1563"/>
              <a:ext cx="224" cy="211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17" name="Line 9"/>
            <p:cNvSpPr/>
            <p:nvPr/>
          </p:nvSpPr>
          <p:spPr>
            <a:xfrm>
              <a:off x="622" y="1554"/>
              <a:ext cx="248" cy="229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5467" name="Text Box 11"/>
          <p:cNvSpPr txBox="1"/>
          <p:nvPr/>
        </p:nvSpPr>
        <p:spPr>
          <a:xfrm>
            <a:off x="720725" y="4137025"/>
            <a:ext cx="7653338" cy="22828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</a:rPr>
              <a:t>slt   $6,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$1, $2		          ; if a&lt;b, $6=1, else $6=0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	beq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$6, $zero, else               ; $6=0, jump to else       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	add $3, $4, $5        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	j   exit			         ; jump to exit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else:	sub $3, $4, $5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exit:</a:t>
            </a:r>
          </a:p>
        </p:txBody>
      </p:sp>
      <p:grpSp>
        <p:nvGrpSpPr>
          <p:cNvPr id="3" name="Group 17"/>
          <p:cNvGrpSpPr/>
          <p:nvPr/>
        </p:nvGrpSpPr>
        <p:grpSpPr>
          <a:xfrm>
            <a:off x="795338" y="4570413"/>
            <a:ext cx="3297237" cy="392112"/>
            <a:chOff x="501" y="2879"/>
            <a:chExt cx="2077" cy="247"/>
          </a:xfrm>
        </p:grpSpPr>
        <p:sp>
          <p:nvSpPr>
            <p:cNvPr id="98312" name="Rectangle 13"/>
            <p:cNvSpPr/>
            <p:nvPr/>
          </p:nvSpPr>
          <p:spPr>
            <a:xfrm>
              <a:off x="913" y="2879"/>
              <a:ext cx="1665" cy="247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98313" name="Line 14"/>
            <p:cNvSpPr/>
            <p:nvPr/>
          </p:nvSpPr>
          <p:spPr>
            <a:xfrm flipH="1">
              <a:off x="593" y="2915"/>
              <a:ext cx="224" cy="211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14" name="Line 16"/>
            <p:cNvSpPr/>
            <p:nvPr/>
          </p:nvSpPr>
          <p:spPr>
            <a:xfrm>
              <a:off x="501" y="2990"/>
              <a:ext cx="101" cy="128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2" grpId="0"/>
      <p:bldP spid="27546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>
          <a:xfrm>
            <a:off x="800100" y="114300"/>
            <a:ext cx="4716463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Example</a:t>
            </a:r>
            <a:r>
              <a:rPr lang="zh-CN" altLang="en-US" sz="2600" dirty="0">
                <a:ea typeface="宋体" pitchFamily="2" charset="-122"/>
              </a:rPr>
              <a:t>：</a:t>
            </a:r>
            <a:r>
              <a:rPr lang="en-US" altLang="zh-CN" sz="2600" dirty="0">
                <a:ea typeface="宋体" pitchFamily="2" charset="-122"/>
              </a:rPr>
              <a:t>Loop</a:t>
            </a:r>
            <a:r>
              <a:rPr lang="zh-CN" altLang="en-US" sz="2600" dirty="0">
                <a:ea typeface="宋体" pitchFamily="2" charset="-122"/>
              </a:rPr>
              <a:t>循环 </a:t>
            </a:r>
          </a:p>
        </p:txBody>
      </p:sp>
      <p:sp>
        <p:nvSpPr>
          <p:cNvPr id="99331" name="Text Box 3"/>
          <p:cNvSpPr txBox="1"/>
          <p:nvPr/>
        </p:nvSpPr>
        <p:spPr>
          <a:xfrm>
            <a:off x="574675" y="658813"/>
            <a:ext cx="8135938" cy="19177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Loop:	g = g +A[i];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	i = i+ j;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	if (i != h) go to Loop: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Assuming variables g, h, i, j  ~ $1, $2, $3, $4 and base address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of array is in $5</a:t>
            </a:r>
          </a:p>
        </p:txBody>
      </p:sp>
      <p:sp>
        <p:nvSpPr>
          <p:cNvPr id="233476" name="Text Box 4"/>
          <p:cNvSpPr txBox="1"/>
          <p:nvPr/>
        </p:nvSpPr>
        <p:spPr>
          <a:xfrm>
            <a:off x="781050" y="2741613"/>
            <a:ext cx="5254625" cy="30130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Loop:	add $7, $3, $3          	; i*2          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add $7, $7, $7          	; i*4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add $7, $7, $5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lw $6, 0($7)	           	; $6=A[i]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add $1, $1, $6	           	; g= g+A[i]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add $3, $3, $4</a:t>
            </a:r>
          </a:p>
          <a:p>
            <a:r>
              <a:rPr lang="en-US" altLang="zh-CN" sz="2400" dirty="0">
                <a:solidFill>
                  <a:srgbClr val="388A36"/>
                </a:solidFill>
                <a:latin typeface="Times New Roman" panose="02020603050405020304" pitchFamily="18" charset="0"/>
              </a:rPr>
              <a:t>	bne $3, $2, Loop</a:t>
            </a:r>
          </a:p>
          <a:p>
            <a:endParaRPr lang="zh-CN" altLang="en-US" sz="2400" dirty="0">
              <a:solidFill>
                <a:srgbClr val="388A3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3477" name="Text Box 5"/>
          <p:cNvSpPr txBox="1"/>
          <p:nvPr/>
        </p:nvSpPr>
        <p:spPr>
          <a:xfrm>
            <a:off x="5715000" y="2771775"/>
            <a:ext cx="2117725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加法比乘法快！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966788" y="4906963"/>
            <a:ext cx="5907087" cy="1438275"/>
            <a:chOff x="609" y="3091"/>
            <a:chExt cx="3721" cy="906"/>
          </a:xfrm>
        </p:grpSpPr>
        <p:grpSp>
          <p:nvGrpSpPr>
            <p:cNvPr id="99338" name="Group 11"/>
            <p:cNvGrpSpPr/>
            <p:nvPr/>
          </p:nvGrpSpPr>
          <p:grpSpPr>
            <a:xfrm>
              <a:off x="609" y="3282"/>
              <a:ext cx="3721" cy="715"/>
              <a:chOff x="1106" y="3273"/>
              <a:chExt cx="2697" cy="715"/>
            </a:xfrm>
          </p:grpSpPr>
          <p:sp>
            <p:nvSpPr>
              <p:cNvPr id="99340" name="Text Box 7"/>
              <p:cNvSpPr txBox="1"/>
              <p:nvPr/>
            </p:nvSpPr>
            <p:spPr>
              <a:xfrm>
                <a:off x="1106" y="3564"/>
                <a:ext cx="2697" cy="42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63500" tIns="25400" rIns="63500" bIns="254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dirty="0">
                    <a:latin typeface="Arial" panose="020B0604020202090204" pitchFamily="34" charset="0"/>
                    <a:ea typeface="黑体" pitchFamily="49" charset="-122"/>
                  </a:rPr>
                  <a:t>编译器和汇编语言程序员不必计算分支指令的地址，而只要用标号即可！汇编器完成地址计算</a:t>
                </a:r>
              </a:p>
            </p:txBody>
          </p:sp>
          <p:sp>
            <p:nvSpPr>
              <p:cNvPr id="99341" name="Line 9"/>
              <p:cNvSpPr/>
              <p:nvPr/>
            </p:nvSpPr>
            <p:spPr>
              <a:xfrm flipH="1" flipV="1">
                <a:off x="2871" y="3282"/>
                <a:ext cx="165" cy="255"/>
              </a:xfrm>
              <a:prstGeom prst="line">
                <a:avLst/>
              </a:prstGeom>
              <a:ln w="38100" cap="flat" cmpd="sng">
                <a:solidFill>
                  <a:srgbClr val="A5002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342" name="Line 10"/>
              <p:cNvSpPr/>
              <p:nvPr/>
            </p:nvSpPr>
            <p:spPr>
              <a:xfrm flipH="1">
                <a:off x="2496" y="3273"/>
                <a:ext cx="385" cy="9"/>
              </a:xfrm>
              <a:prstGeom prst="line">
                <a:avLst/>
              </a:prstGeom>
              <a:ln w="38100" cap="flat" cmpd="sng">
                <a:solidFill>
                  <a:srgbClr val="A50021"/>
                </a:solidFill>
                <a:prstDash val="solid"/>
                <a:headEnd type="none" w="med" len="med"/>
                <a:tailEnd type="arrow" w="med" len="med"/>
              </a:ln>
            </p:spPr>
          </p:sp>
        </p:grpSp>
        <p:sp>
          <p:nvSpPr>
            <p:cNvPr id="99339" name="Oval 12"/>
            <p:cNvSpPr/>
            <p:nvPr/>
          </p:nvSpPr>
          <p:spPr>
            <a:xfrm>
              <a:off x="1975" y="3091"/>
              <a:ext cx="558" cy="338"/>
            </a:xfrm>
            <a:prstGeom prst="ellipse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sp>
        <p:nvSpPr>
          <p:cNvPr id="233486" name="Text Box 14"/>
          <p:cNvSpPr txBox="1"/>
          <p:nvPr/>
        </p:nvSpPr>
        <p:spPr>
          <a:xfrm>
            <a:off x="5629275" y="3178175"/>
            <a:ext cx="3052763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也可用移位来实现乘法！</a:t>
            </a:r>
          </a:p>
        </p:txBody>
      </p:sp>
      <p:sp>
        <p:nvSpPr>
          <p:cNvPr id="68616" name="Text Box 15"/>
          <p:cNvSpPr txBox="1"/>
          <p:nvPr/>
        </p:nvSpPr>
        <p:spPr>
          <a:xfrm>
            <a:off x="6053138" y="3868738"/>
            <a:ext cx="2481262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$3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中是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i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，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$7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中是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i*4</a:t>
            </a:r>
          </a:p>
        </p:txBody>
      </p:sp>
      <p:sp>
        <p:nvSpPr>
          <p:cNvPr id="99337" name="Text Box 15"/>
          <p:cNvSpPr txBox="1"/>
          <p:nvPr/>
        </p:nvSpPr>
        <p:spPr>
          <a:xfrm>
            <a:off x="4056063" y="752475"/>
            <a:ext cx="4748212" cy="4159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90204" pitchFamily="34" charset="0"/>
                <a:ea typeface="黑体" pitchFamily="49" charset="-122"/>
              </a:rPr>
              <a:t>数组元素为</a:t>
            </a:r>
            <a:r>
              <a:rPr lang="en-US" altLang="zh-CN" sz="2400" dirty="0">
                <a:latin typeface="Arial" panose="020B0604020202090204" pitchFamily="34" charset="0"/>
                <a:ea typeface="黑体" pitchFamily="49" charset="-122"/>
              </a:rPr>
              <a:t>int</a:t>
            </a:r>
            <a:r>
              <a:rPr lang="zh-CN" altLang="en-US" sz="2400" dirty="0">
                <a:latin typeface="Arial" panose="020B0604020202090204" pitchFamily="34" charset="0"/>
                <a:ea typeface="黑体" pitchFamily="49" charset="-122"/>
              </a:rPr>
              <a:t>类型，</a:t>
            </a:r>
            <a:r>
              <a:rPr lang="en-US" altLang="zh-CN" sz="2400" dirty="0">
                <a:latin typeface="Arial" panose="020B0604020202090204" pitchFamily="34" charset="0"/>
                <a:ea typeface="黑体" pitchFamily="49" charset="-122"/>
              </a:rPr>
              <a:t>sizeof(int)=4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/>
      <p:bldP spid="233477" grpId="0"/>
      <p:bldP spid="233486" grpId="0"/>
      <p:bldP spid="686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9941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Example</a:t>
            </a:r>
            <a:r>
              <a:rPr lang="zh-CN" altLang="en-US" sz="2600" dirty="0">
                <a:ea typeface="宋体" pitchFamily="2" charset="-122"/>
              </a:rPr>
              <a:t>：过程调用</a:t>
            </a:r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212725" y="779463"/>
            <a:ext cx="8229600" cy="52800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int i;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void set_array(int num)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           int array[10];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           for (i = 0; i  &lt; 10; i ++) 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	     arrar[i] = </a:t>
            </a:r>
            <a:r>
              <a:rPr lang="en-US" altLang="zh-CN" dirty="0">
                <a:solidFill>
                  <a:srgbClr val="EE3900"/>
                </a:solidFill>
                <a:latin typeface="Arial" panose="020B0604020202090204" pitchFamily="34" charset="0"/>
              </a:rPr>
              <a:t>compare (num, i)</a:t>
            </a:r>
            <a:r>
              <a:rPr lang="en-US" altLang="zh-CN" dirty="0">
                <a:latin typeface="Arial" panose="020B0604020202090204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	}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endParaRPr lang="en-US" altLang="zh-CN" dirty="0">
              <a:latin typeface="Arial" panose="020B060402020209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int compare (int a, int b)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	if ( </a:t>
            </a:r>
            <a:r>
              <a:rPr lang="en-US" altLang="zh-CN" dirty="0">
                <a:solidFill>
                  <a:srgbClr val="EE3900"/>
                </a:solidFill>
                <a:latin typeface="Arial" panose="020B0604020202090204" pitchFamily="34" charset="0"/>
              </a:rPr>
              <a:t>sub (a, b)</a:t>
            </a:r>
            <a:r>
              <a:rPr lang="en-US" altLang="zh-CN" dirty="0">
                <a:latin typeface="Arial" panose="020B0604020202090204" pitchFamily="34" charset="0"/>
              </a:rPr>
              <a:t> &gt;= 0)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	      return 1;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           else      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 	      return 0;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}     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endParaRPr lang="en-US" altLang="zh-CN" dirty="0">
              <a:latin typeface="Arial" panose="020B060402020209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int sub (int a, int b)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     return a-b;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Arial" panose="020B0604020202090204" pitchFamily="34" charset="0"/>
              </a:rPr>
              <a:t>}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0356" name="Line 4"/>
          <p:cNvSpPr/>
          <p:nvPr/>
        </p:nvSpPr>
        <p:spPr>
          <a:xfrm flipH="1">
            <a:off x="1541463" y="2443163"/>
            <a:ext cx="1352550" cy="8001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57" name="Line 5"/>
          <p:cNvSpPr/>
          <p:nvPr/>
        </p:nvSpPr>
        <p:spPr>
          <a:xfrm flipH="1">
            <a:off x="1092200" y="4135438"/>
            <a:ext cx="733425" cy="1373187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17"/>
          <p:cNvGrpSpPr/>
          <p:nvPr/>
        </p:nvGrpSpPr>
        <p:grpSpPr>
          <a:xfrm>
            <a:off x="4894263" y="1962150"/>
            <a:ext cx="3608387" cy="733425"/>
            <a:chOff x="2901" y="1236"/>
            <a:chExt cx="2273" cy="462"/>
          </a:xfrm>
        </p:grpSpPr>
        <p:sp>
          <p:nvSpPr>
            <p:cNvPr id="100369" name="Text Box 6"/>
            <p:cNvSpPr txBox="1"/>
            <p:nvPr/>
          </p:nvSpPr>
          <p:spPr>
            <a:xfrm>
              <a:off x="3418" y="1236"/>
              <a:ext cx="1756" cy="46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set_array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是调用过程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compare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是被调用过程</a:t>
              </a:r>
            </a:p>
          </p:txBody>
        </p:sp>
        <p:sp>
          <p:nvSpPr>
            <p:cNvPr id="100370" name="Line 8"/>
            <p:cNvSpPr/>
            <p:nvPr/>
          </p:nvSpPr>
          <p:spPr>
            <a:xfrm flipH="1">
              <a:off x="2901" y="1489"/>
              <a:ext cx="522" cy="0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18"/>
          <p:cNvGrpSpPr/>
          <p:nvPr/>
        </p:nvGrpSpPr>
        <p:grpSpPr>
          <a:xfrm>
            <a:off x="3454400" y="3248025"/>
            <a:ext cx="4703763" cy="733425"/>
            <a:chOff x="2077" y="2067"/>
            <a:chExt cx="2963" cy="462"/>
          </a:xfrm>
        </p:grpSpPr>
        <p:sp>
          <p:nvSpPr>
            <p:cNvPr id="100367" name="Text Box 7"/>
            <p:cNvSpPr txBox="1"/>
            <p:nvPr/>
          </p:nvSpPr>
          <p:spPr>
            <a:xfrm>
              <a:off x="3106" y="2067"/>
              <a:ext cx="1934" cy="46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compare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是调用过程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sub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是被调用过程</a:t>
              </a:r>
            </a:p>
          </p:txBody>
        </p:sp>
        <p:sp>
          <p:nvSpPr>
            <p:cNvPr id="100368" name="Line 9"/>
            <p:cNvSpPr/>
            <p:nvPr/>
          </p:nvSpPr>
          <p:spPr>
            <a:xfrm flipH="1">
              <a:off x="2077" y="2355"/>
              <a:ext cx="1010" cy="155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5"/>
          <p:cNvGrpSpPr/>
          <p:nvPr/>
        </p:nvGrpSpPr>
        <p:grpSpPr>
          <a:xfrm>
            <a:off x="1287463" y="773113"/>
            <a:ext cx="6518275" cy="355600"/>
            <a:chOff x="775" y="508"/>
            <a:chExt cx="4106" cy="224"/>
          </a:xfrm>
        </p:grpSpPr>
        <p:sp>
          <p:nvSpPr>
            <p:cNvPr id="100365" name="Text Box 10"/>
            <p:cNvSpPr txBox="1"/>
            <p:nvPr/>
          </p:nvSpPr>
          <p:spPr>
            <a:xfrm>
              <a:off x="2763" y="508"/>
              <a:ext cx="2118" cy="22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i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是全局静态区变量</a:t>
              </a:r>
            </a:p>
          </p:txBody>
        </p:sp>
        <p:sp>
          <p:nvSpPr>
            <p:cNvPr id="100366" name="Line 11"/>
            <p:cNvSpPr/>
            <p:nvPr/>
          </p:nvSpPr>
          <p:spPr>
            <a:xfrm flipH="1" flipV="1">
              <a:off x="775" y="631"/>
              <a:ext cx="1938" cy="0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6"/>
          <p:cNvGrpSpPr/>
          <p:nvPr/>
        </p:nvGrpSpPr>
        <p:grpSpPr>
          <a:xfrm>
            <a:off x="2922588" y="1258888"/>
            <a:ext cx="5300662" cy="473075"/>
            <a:chOff x="1742" y="836"/>
            <a:chExt cx="3339" cy="298"/>
          </a:xfrm>
        </p:grpSpPr>
        <p:sp>
          <p:nvSpPr>
            <p:cNvPr id="100363" name="Text Box 12"/>
            <p:cNvSpPr txBox="1"/>
            <p:nvPr/>
          </p:nvSpPr>
          <p:spPr>
            <a:xfrm>
              <a:off x="2963" y="836"/>
              <a:ext cx="2118" cy="22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array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数组是局部变量</a:t>
              </a:r>
            </a:p>
          </p:txBody>
        </p:sp>
        <p:sp>
          <p:nvSpPr>
            <p:cNvPr id="100364" name="Line 13"/>
            <p:cNvSpPr/>
            <p:nvPr/>
          </p:nvSpPr>
          <p:spPr>
            <a:xfrm flipH="1">
              <a:off x="1742" y="1022"/>
              <a:ext cx="1231" cy="112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29070" name="Text Box 14"/>
          <p:cNvSpPr txBox="1"/>
          <p:nvPr/>
        </p:nvSpPr>
        <p:spPr>
          <a:xfrm>
            <a:off x="3235325" y="4592638"/>
            <a:ext cx="5775325" cy="21209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 marL="457200" indent="-457200">
              <a:spcBef>
                <a:spcPct val="20000"/>
              </a:spcBef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问题：过程调用对应的机器代码如何表示？</a:t>
            </a:r>
          </a:p>
          <a:p>
            <a:pPr marL="457200" indent="-457200">
              <a:spcBef>
                <a:spcPct val="20000"/>
              </a:spcBef>
              <a:buAutoNum type="arabicPeriod"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如何从调用程序把参数传递到被调用程序？</a:t>
            </a:r>
          </a:p>
          <a:p>
            <a:pPr marL="457200" indent="-457200">
              <a:spcBef>
                <a:spcPct val="20000"/>
              </a:spcBef>
              <a:buAutoNum type="arabicPeriod"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如何从调用程序执行转移到被调用程序执行？</a:t>
            </a:r>
          </a:p>
          <a:p>
            <a:pPr marL="457200" indent="-457200">
              <a:spcBef>
                <a:spcPct val="20000"/>
              </a:spcBef>
              <a:buAutoNum type="arabicPeriod"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如何从被调用程序返回到调用程序执行？并把返回结果传递给调用程序？</a:t>
            </a:r>
            <a:endParaRPr lang="en-US" altLang="zh-CN" sz="2000" dirty="0">
              <a:solidFill>
                <a:schemeClr val="accent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marL="457200" indent="-457200">
              <a:spcBef>
                <a:spcPct val="20000"/>
              </a:spcBef>
              <a:buAutoNum type="arabicPeriod"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如何保证调用程序中寄存器内容不被破坏？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9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9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9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9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290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xfrm>
            <a:off x="668338" y="12858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过程调用和栈</a:t>
            </a:r>
          </a:p>
        </p:txBody>
      </p:sp>
      <p:sp>
        <p:nvSpPr>
          <p:cNvPr id="278531" name="Rectangle 3"/>
          <p:cNvSpPr>
            <a:spLocks noGrp="1"/>
          </p:cNvSpPr>
          <p:nvPr>
            <p:ph idx="1"/>
          </p:nvPr>
        </p:nvSpPr>
        <p:spPr>
          <a:xfrm>
            <a:off x="223838" y="642938"/>
            <a:ext cx="8920162" cy="587533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过程调用的执行步骤（假定过程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调用过程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）：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将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参数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放到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能访问到的地方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将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中的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返回地址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存到特定的地方，将控制转移到过程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endParaRPr lang="zh-CN" altLang="en-US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的局部变量分配空间</a:t>
            </a:r>
            <a:r>
              <a:rPr lang="zh-CN" altLang="en-US" dirty="0">
                <a:solidFill>
                  <a:srgbClr val="3C7845"/>
                </a:solidFill>
                <a:latin typeface="Arial" panose="020B0604020202090204" pitchFamily="34" charset="0"/>
                <a:ea typeface="黑体" pitchFamily="49" charset="-122"/>
              </a:rPr>
              <a:t>（局部变量临时保存在栈中）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执行过程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将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执行的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返回结果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放到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能访问到的地方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取出返回地址，将控制转移到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，即返回到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中执行</a:t>
            </a:r>
            <a:endParaRPr lang="zh-CN" altLang="en-US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中用于过程调用的指令（见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  <a:hlinkClick r:id="rId2" action="ppaction://hlinksldjump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2" action="ppaction://hlinksldjump"/>
              </a:rPr>
              <a:t>过程调用指令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, jal, jr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规定少量过程调用信息用寄存器传递（见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  <a:hlinkClick r:id="rId3" action="ppaction://hlinksldjump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3" action="ppaction://hlinksldjump"/>
              </a:rPr>
              <a:t>寄存器功能定义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如果过程中用到的参数超过</a:t>
            </a:r>
            <a:r>
              <a:rPr lang="en-US" altLang="zh-CN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个</a:t>
            </a:r>
            <a:r>
              <a:rPr lang="en-US" altLang="zh-CN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(a0-a3)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，返回值超过</a:t>
            </a:r>
            <a:r>
              <a:rPr lang="en-US" altLang="zh-CN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个</a:t>
            </a:r>
            <a:r>
              <a:rPr lang="en-US" altLang="zh-CN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(v0-v1)</a:t>
            </a:r>
            <a:r>
              <a:rPr lang="zh-CN" altLang="en-US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，怎么办？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更多的参数和返回值要保存到存储器的特殊区域中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这个特殊区域为：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  <a:hlinkClick r:id="rId4" action="ppaction://hlinksldjump"/>
              </a:rPr>
              <a:t>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  <a:hlinkClick r:id="rId4" action="ppaction://hlinksldjump"/>
              </a:rPr>
              <a:t>(Stack)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278532" name="Text Box 4"/>
          <p:cNvSpPr txBox="1"/>
          <p:nvPr/>
        </p:nvSpPr>
        <p:spPr>
          <a:xfrm>
            <a:off x="841375" y="5700713"/>
            <a:ext cx="7521575" cy="1041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rPr>
              <a:t>一般用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“</a:t>
            </a:r>
            <a:r>
              <a:rPr lang="zh-CN" altLang="en-US" sz="2000" dirty="0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rPr>
              <a:t>栈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”</a:t>
            </a:r>
            <a:r>
              <a:rPr lang="zh-CN" altLang="en-US" sz="2000" dirty="0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rPr>
              <a:t>来传递参数、保存返回地址，并用来临时存放过程中的局部变量等。为什么？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2E5C35"/>
                </a:solidFill>
                <a:latin typeface="黑体" pitchFamily="49" charset="-122"/>
                <a:ea typeface="黑体" pitchFamily="49" charset="-122"/>
              </a:rPr>
              <a:t>                       便于嵌套或递归调用！   </a:t>
            </a:r>
          </a:p>
        </p:txBody>
      </p:sp>
      <p:grpSp>
        <p:nvGrpSpPr>
          <p:cNvPr id="2" name="Group 12"/>
          <p:cNvGrpSpPr/>
          <p:nvPr/>
        </p:nvGrpSpPr>
        <p:grpSpPr>
          <a:xfrm>
            <a:off x="6677025" y="1192213"/>
            <a:ext cx="1822450" cy="600075"/>
            <a:chOff x="4206" y="751"/>
            <a:chExt cx="1148" cy="378"/>
          </a:xfrm>
        </p:grpSpPr>
        <p:sp>
          <p:nvSpPr>
            <p:cNvPr id="101387" name="AutoShape 5"/>
            <p:cNvSpPr/>
            <p:nvPr/>
          </p:nvSpPr>
          <p:spPr>
            <a:xfrm>
              <a:off x="4206" y="780"/>
              <a:ext cx="132" cy="324"/>
            </a:xfrm>
            <a:prstGeom prst="rightBrace">
              <a:avLst>
                <a:gd name="adj1" fmla="val 20454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1388" name="Text Box 6"/>
            <p:cNvSpPr txBox="1"/>
            <p:nvPr/>
          </p:nvSpPr>
          <p:spPr>
            <a:xfrm>
              <a:off x="4388" y="751"/>
              <a:ext cx="966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在调用过程</a:t>
              </a:r>
              <a:r>
                <a:rPr lang="en-US" altLang="zh-CN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P</a:t>
              </a: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中完成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6461125" y="2149475"/>
            <a:ext cx="1976438" cy="1200150"/>
            <a:chOff x="4070" y="1354"/>
            <a:chExt cx="1245" cy="756"/>
          </a:xfrm>
        </p:grpSpPr>
        <p:sp>
          <p:nvSpPr>
            <p:cNvPr id="101385" name="AutoShape 9"/>
            <p:cNvSpPr/>
            <p:nvPr/>
          </p:nvSpPr>
          <p:spPr>
            <a:xfrm>
              <a:off x="4070" y="1354"/>
              <a:ext cx="132" cy="756"/>
            </a:xfrm>
            <a:prstGeom prst="rightBrace">
              <a:avLst>
                <a:gd name="adj1" fmla="val 47727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1386" name="Text Box 10"/>
            <p:cNvSpPr txBox="1"/>
            <p:nvPr/>
          </p:nvSpPr>
          <p:spPr>
            <a:xfrm>
              <a:off x="4209" y="1546"/>
              <a:ext cx="1106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在被调用过程</a:t>
              </a:r>
              <a:r>
                <a:rPr lang="en-US" altLang="zh-CN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Q</a:t>
              </a: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中完成</a:t>
              </a:r>
            </a:p>
          </p:txBody>
        </p:sp>
      </p:grpSp>
      <p:sp>
        <p:nvSpPr>
          <p:cNvPr id="101383" name="Rectangle 14"/>
          <p:cNvSpPr/>
          <p:nvPr/>
        </p:nvSpPr>
        <p:spPr>
          <a:xfrm>
            <a:off x="6310313" y="114300"/>
            <a:ext cx="2582862" cy="10414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</a:rPr>
              <a:t>set_array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</a:rPr>
              <a:t>   compare (num, i);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</a:rPr>
              <a:t>}</a:t>
            </a:r>
          </a:p>
        </p:txBody>
      </p:sp>
      <p:sp>
        <p:nvSpPr>
          <p:cNvPr id="70669" name="Text Box 13"/>
          <p:cNvSpPr txBox="1"/>
          <p:nvPr/>
        </p:nvSpPr>
        <p:spPr>
          <a:xfrm>
            <a:off x="6519863" y="4986338"/>
            <a:ext cx="2197100" cy="660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还记得栈在虚拟空间中哪个区域吗？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8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8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8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 idx="4294967295"/>
          </p:nvPr>
        </p:nvSpPr>
        <p:spPr>
          <a:xfrm>
            <a:off x="941388" y="76200"/>
            <a:ext cx="5126037" cy="441325"/>
          </a:xfrm>
          <a:ln/>
        </p:spPr>
        <p:txBody>
          <a:bodyPr vert="horz" wrap="square" lIns="91440" tIns="45720" rIns="91440" bIns="45720" anchor="ctr" anchorCtr="0">
            <a:spAutoFit/>
          </a:bodyPr>
          <a:lstStyle/>
          <a:p>
            <a:pPr eaLnBrk="1" hangingPunct="1"/>
            <a:r>
              <a:rPr lang="zh-CN" altLang="en-US" sz="2600" dirty="0">
                <a:ea typeface="宋体" pitchFamily="2" charset="-122"/>
              </a:rPr>
              <a:t>虚拟地址空间</a:t>
            </a:r>
          </a:p>
        </p:txBody>
      </p:sp>
      <p:grpSp>
        <p:nvGrpSpPr>
          <p:cNvPr id="102403" name="Group 6"/>
          <p:cNvGrpSpPr/>
          <p:nvPr/>
        </p:nvGrpSpPr>
        <p:grpSpPr>
          <a:xfrm>
            <a:off x="3727450" y="268288"/>
            <a:ext cx="5403850" cy="6543675"/>
            <a:chOff x="2348" y="26"/>
            <a:chExt cx="3404" cy="4320"/>
          </a:xfrm>
        </p:grpSpPr>
        <p:pic>
          <p:nvPicPr>
            <p:cNvPr id="102421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8" y="26"/>
              <a:ext cx="3404" cy="432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22" name="Rectangle 4"/>
            <p:cNvSpPr/>
            <p:nvPr/>
          </p:nvSpPr>
          <p:spPr>
            <a:xfrm>
              <a:off x="2944" y="183"/>
              <a:ext cx="1536" cy="401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1800" i="1" dirty="0">
                <a:solidFill>
                  <a:srgbClr val="666699"/>
                </a:solidFill>
                <a:latin typeface="Arial" panose="020B0604020202090204" pitchFamily="34" charset="0"/>
                <a:ea typeface="华文新魏" pitchFamily="2" charset="-122"/>
              </a:endParaRPr>
            </a:p>
          </p:txBody>
        </p:sp>
      </p:grpSp>
      <p:sp>
        <p:nvSpPr>
          <p:cNvPr id="102404" name="Rectangle 5"/>
          <p:cNvSpPr>
            <a:spLocks noGrp="1"/>
          </p:cNvSpPr>
          <p:nvPr>
            <p:ph type="body" sz="half" idx="4294967295"/>
          </p:nvPr>
        </p:nvSpPr>
        <p:spPr>
          <a:xfrm>
            <a:off x="114300" y="901700"/>
            <a:ext cx="3962400" cy="4327525"/>
          </a:xfrm>
          <a:ln/>
        </p:spPr>
        <p:txBody>
          <a:bodyPr vert="horz" wrap="square" lIns="91440" tIns="45720" rIns="91440" bIns="45720" anchor="t" anchorCtr="0"/>
          <a:lstStyle>
            <a:lvl1pPr lvl="0">
              <a:buClrTx/>
              <a:buSzPct val="75000"/>
              <a:buFont typeface="Wingdings" panose="05000000000000000000" pitchFamily="2" charset="2"/>
              <a:defRPr sz="1800"/>
            </a:lvl1pPr>
            <a:lvl2pPr lvl="1">
              <a:buClrTx/>
              <a:buSzPct val="100000"/>
              <a:buFontTx/>
              <a:defRPr sz="1600"/>
            </a:lvl2pPr>
            <a:lvl3pPr lvl="2">
              <a:buClrTx/>
              <a:buSzPct val="100000"/>
              <a:buFontTx/>
              <a:defRPr sz="1600"/>
            </a:lvl3pPr>
            <a:lvl4pPr lvl="3">
              <a:buClrTx/>
              <a:buSzPct val="100000"/>
              <a:buFontTx/>
              <a:defRPr sz="1200"/>
            </a:lvl4pPr>
            <a:lvl5pPr lvl="4">
              <a:buClrTx/>
              <a:buSzPct val="100000"/>
              <a:buFontTx/>
              <a:defRPr sz="1200"/>
            </a:lvl5pPr>
          </a:lstStyle>
          <a:p>
            <a:pPr marL="203200" lvl="0" indent="-203200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Linux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上的虚拟地址空间</a:t>
            </a:r>
          </a:p>
          <a:p>
            <a:pPr marL="203200" lvl="0" indent="-203200" eaLnBrk="1" hangingPunct="1">
              <a:lnSpc>
                <a:spcPct val="115000"/>
              </a:lnSpc>
              <a:spcBef>
                <a:spcPct val="25000"/>
              </a:spcBef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（其他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Unix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系统的设计类此）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内核（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Kernel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用户栈（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User Stack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）</a:t>
            </a:r>
            <a:endParaRPr lang="en-US" altLang="zh-CN" sz="1800" dirty="0">
              <a:solidFill>
                <a:schemeClr val="accent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共享库（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Shared Libraries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堆（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heap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可读写数据（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Read/Write Data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只读数据（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Read-only Data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 indent="-190500" eaLnBrk="1" hangingPunct="1">
              <a:spcBef>
                <a:spcPct val="25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代码（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Code</a:t>
            </a:r>
            <a:r>
              <a:rPr lang="zh-CN" altLang="en-US" sz="1800" dirty="0">
                <a:ea typeface="黑体" pitchFamily="49" charset="-122"/>
              </a:rPr>
              <a:t>）</a:t>
            </a:r>
          </a:p>
        </p:txBody>
      </p:sp>
      <p:sp>
        <p:nvSpPr>
          <p:cNvPr id="102405" name="Line 7"/>
          <p:cNvSpPr/>
          <p:nvPr/>
        </p:nvSpPr>
        <p:spPr>
          <a:xfrm>
            <a:off x="2400300" y="3770313"/>
            <a:ext cx="2181225" cy="170180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06" name="Line 8"/>
          <p:cNvSpPr/>
          <p:nvPr/>
        </p:nvSpPr>
        <p:spPr>
          <a:xfrm>
            <a:off x="1965325" y="4065588"/>
            <a:ext cx="2632075" cy="1463675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07" name="Line 9"/>
          <p:cNvSpPr/>
          <p:nvPr/>
        </p:nvSpPr>
        <p:spPr>
          <a:xfrm>
            <a:off x="2411413" y="3213100"/>
            <a:ext cx="2190750" cy="1744663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08" name="Line 10"/>
          <p:cNvSpPr/>
          <p:nvPr/>
        </p:nvSpPr>
        <p:spPr>
          <a:xfrm>
            <a:off x="2051050" y="2817813"/>
            <a:ext cx="2592388" cy="1457325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09" name="Line 11"/>
          <p:cNvSpPr/>
          <p:nvPr/>
        </p:nvSpPr>
        <p:spPr>
          <a:xfrm>
            <a:off x="3771900" y="2538413"/>
            <a:ext cx="825500" cy="24130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10" name="Line 12"/>
          <p:cNvSpPr/>
          <p:nvPr/>
        </p:nvSpPr>
        <p:spPr>
          <a:xfrm flipV="1">
            <a:off x="3146425" y="1358900"/>
            <a:ext cx="1441450" cy="746125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11" name="Line 13"/>
          <p:cNvSpPr/>
          <p:nvPr/>
        </p:nvSpPr>
        <p:spPr>
          <a:xfrm flipV="1">
            <a:off x="2592388" y="684213"/>
            <a:ext cx="2066925" cy="116998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12" name="Text Box 14"/>
          <p:cNvSpPr txBox="1"/>
          <p:nvPr/>
        </p:nvSpPr>
        <p:spPr>
          <a:xfrm>
            <a:off x="7272338" y="3114675"/>
            <a:ext cx="1666875" cy="18462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可执行文件的相关内容“映射”到只读代码段和数据段，然后跳转到程序入口。</a:t>
            </a:r>
          </a:p>
        </p:txBody>
      </p:sp>
      <p:sp>
        <p:nvSpPr>
          <p:cNvPr id="102413" name="Text Box 15"/>
          <p:cNvSpPr txBox="1"/>
          <p:nvPr/>
        </p:nvSpPr>
        <p:spPr>
          <a:xfrm>
            <a:off x="4800600" y="190500"/>
            <a:ext cx="2181225" cy="274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en-US" sz="1800" i="1" dirty="0">
              <a:solidFill>
                <a:srgbClr val="666699"/>
              </a:solidFill>
              <a:latin typeface="Arial" panose="020B0604020202090204" pitchFamily="34" charset="0"/>
              <a:ea typeface="华文新魏" pitchFamily="2" charset="-122"/>
            </a:endParaRPr>
          </a:p>
        </p:txBody>
      </p:sp>
      <p:sp>
        <p:nvSpPr>
          <p:cNvPr id="102414" name="Text Box 16"/>
          <p:cNvSpPr txBox="1"/>
          <p:nvPr/>
        </p:nvSpPr>
        <p:spPr>
          <a:xfrm>
            <a:off x="346075" y="4930775"/>
            <a:ext cx="2655888" cy="549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CC0000"/>
                </a:solidFill>
                <a:latin typeface="Arial" panose="020B0604020202090204" pitchFamily="34" charset="0"/>
                <a:ea typeface="黑体" pitchFamily="49" charset="-122"/>
              </a:rPr>
              <a:t>问题：加载时是否真正从磁盘调入信息到主存？</a:t>
            </a:r>
          </a:p>
        </p:txBody>
      </p:sp>
      <p:sp>
        <p:nvSpPr>
          <p:cNvPr id="102415" name="Text Box 18"/>
          <p:cNvSpPr txBox="1"/>
          <p:nvPr/>
        </p:nvSpPr>
        <p:spPr>
          <a:xfrm>
            <a:off x="476250" y="5667375"/>
            <a:ext cx="3240088" cy="8667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900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实际上不会从磁盘调入，只是将代码和数据与虚拟空间建立对应关系，称为</a:t>
            </a:r>
            <a:r>
              <a:rPr lang="zh-CN" altLang="en-US" sz="1900" dirty="0">
                <a:solidFill>
                  <a:srgbClr val="FF0000"/>
                </a:solidFill>
                <a:latin typeface="宋体" pitchFamily="2" charset="-122"/>
                <a:ea typeface="黑体" pitchFamily="49" charset="-122"/>
              </a:rPr>
              <a:t>“</a:t>
            </a:r>
            <a:r>
              <a:rPr lang="zh-CN" altLang="en-US" sz="1900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映射</a:t>
            </a:r>
            <a:r>
              <a:rPr lang="zh-CN" altLang="en-US" sz="1900" dirty="0">
                <a:solidFill>
                  <a:srgbClr val="FF0000"/>
                </a:solidFill>
                <a:latin typeface="宋体" pitchFamily="2" charset="-122"/>
                <a:ea typeface="黑体" pitchFamily="49" charset="-122"/>
              </a:rPr>
              <a:t>”</a:t>
            </a:r>
            <a:r>
              <a:rPr lang="zh-CN" altLang="en-US" sz="1900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。</a:t>
            </a:r>
          </a:p>
        </p:txBody>
      </p:sp>
      <p:grpSp>
        <p:nvGrpSpPr>
          <p:cNvPr id="102416" name="组合 26"/>
          <p:cNvGrpSpPr/>
          <p:nvPr/>
        </p:nvGrpSpPr>
        <p:grpSpPr>
          <a:xfrm>
            <a:off x="6686550" y="1628775"/>
            <a:ext cx="2160588" cy="1844675"/>
            <a:chOff x="6687236" y="1628800"/>
            <a:chExt cx="2160239" cy="1845205"/>
          </a:xfrm>
        </p:grpSpPr>
        <p:cxnSp>
          <p:nvCxnSpPr>
            <p:cNvPr id="102418" name="直接箭头连接符 18"/>
            <p:cNvCxnSpPr/>
            <p:nvPr/>
          </p:nvCxnSpPr>
          <p:spPr>
            <a:xfrm flipH="1">
              <a:off x="6957265" y="1898830"/>
              <a:ext cx="720081" cy="90010"/>
            </a:xfrm>
            <a:prstGeom prst="straightConnector1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102419" name="TextBox 19"/>
            <p:cNvSpPr txBox="1"/>
            <p:nvPr/>
          </p:nvSpPr>
          <p:spPr>
            <a:xfrm>
              <a:off x="7632340" y="1628800"/>
              <a:ext cx="1215135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C00000"/>
                  </a:solidFill>
                  <a:latin typeface="黑体" pitchFamily="49" charset="-122"/>
                  <a:ea typeface="黑体" pitchFamily="49" charset="-122"/>
                </a:rPr>
                <a:t>“空洞”对应页面</a:t>
              </a:r>
            </a:p>
          </p:txBody>
        </p:sp>
        <p:cxnSp>
          <p:nvCxnSpPr>
            <p:cNvPr id="102420" name="直接箭头连接符 22"/>
            <p:cNvCxnSpPr/>
            <p:nvPr/>
          </p:nvCxnSpPr>
          <p:spPr>
            <a:xfrm flipH="1">
              <a:off x="6687236" y="2033845"/>
              <a:ext cx="945104" cy="1440160"/>
            </a:xfrm>
            <a:prstGeom prst="straightConnector1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cxnSp>
      </p:grpSp>
      <p:sp>
        <p:nvSpPr>
          <p:cNvPr id="133142" name="Rectangle 22"/>
          <p:cNvSpPr/>
          <p:nvPr/>
        </p:nvSpPr>
        <p:spPr>
          <a:xfrm>
            <a:off x="4659313" y="1062038"/>
            <a:ext cx="2463800" cy="989012"/>
          </a:xfrm>
          <a:prstGeom prst="rect">
            <a:avLst/>
          </a:prstGeom>
          <a:solidFill>
            <a:schemeClr val="accent1">
              <a:alpha val="21960"/>
            </a:schemeClr>
          </a:solidFill>
          <a:ln w="12700">
            <a:noFill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 idx="4294967295"/>
          </p:nvPr>
        </p:nvSpPr>
        <p:spPr>
          <a:xfrm>
            <a:off x="1081088" y="104775"/>
            <a:ext cx="6369050" cy="441325"/>
          </a:xfrm>
          <a:ln/>
        </p:spPr>
        <p:txBody>
          <a:bodyPr vert="horz" wrap="square" lIns="91440" tIns="45720" rIns="91440" bIns="45720" anchor="ctr" anchorCtr="0">
            <a:spAutoFit/>
          </a:bodyPr>
          <a:lstStyle/>
          <a:p>
            <a:pPr eaLnBrk="1" hangingPunct="1"/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程序和数据的存储器分配</a:t>
            </a:r>
          </a:p>
        </p:txBody>
      </p:sp>
      <p:graphicFrame>
        <p:nvGraphicFramePr>
          <p:cNvPr id="103427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555750" y="954088"/>
          <a:ext cx="6724650" cy="531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r:id="rId4" imgW="3638550" imgH="2819400" progId="Paint.Picture">
                  <p:embed/>
                </p:oleObj>
              </mc:Choice>
              <mc:Fallback>
                <p:oleObj r:id="rId4" imgW="3638550" imgH="2819400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1555750" y="954088"/>
                        <a:ext cx="6724650" cy="53181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Text Box 7"/>
          <p:cNvSpPr txBox="1"/>
          <p:nvPr/>
        </p:nvSpPr>
        <p:spPr>
          <a:xfrm>
            <a:off x="1376363" y="6264275"/>
            <a:ext cx="6030912" cy="41592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B3110D"/>
                </a:solidFill>
                <a:latin typeface="Arial" panose="020B0604020202090204" pitchFamily="34" charset="0"/>
                <a:ea typeface="黑体" pitchFamily="49" charset="-122"/>
              </a:rPr>
              <a:t>这就是每个进程的虚拟（逻辑）地址空间！</a:t>
            </a:r>
          </a:p>
        </p:txBody>
      </p:sp>
      <p:sp>
        <p:nvSpPr>
          <p:cNvPr id="103429" name="Text Box 10"/>
          <p:cNvSpPr txBox="1"/>
          <p:nvPr/>
        </p:nvSpPr>
        <p:spPr>
          <a:xfrm>
            <a:off x="8070850" y="1628775"/>
            <a:ext cx="866775" cy="3375025"/>
          </a:xfrm>
          <a:prstGeom prst="rect">
            <a:avLst/>
          </a:prstGeom>
          <a:noFill/>
          <a:ln w="12700">
            <a:noFill/>
          </a:ln>
        </p:spPr>
        <p:txBody>
          <a:bodyPr vert="eaVert"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B3110D"/>
                </a:solidFill>
                <a:latin typeface="Arial" panose="020B0604020202090204" pitchFamily="34" charset="0"/>
                <a:ea typeface="黑体" pitchFamily="49" charset="-122"/>
              </a:rPr>
              <a:t>每个用户程序都有相同的虚拟地址空间！</a:t>
            </a:r>
          </a:p>
        </p:txBody>
      </p:sp>
      <p:sp>
        <p:nvSpPr>
          <p:cNvPr id="103430" name="Text Box 11"/>
          <p:cNvSpPr txBox="1"/>
          <p:nvPr/>
        </p:nvSpPr>
        <p:spPr>
          <a:xfrm>
            <a:off x="250825" y="1719263"/>
            <a:ext cx="3825875" cy="1219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问题：你知道一个程序在</a:t>
            </a:r>
            <a:r>
              <a:rPr lang="zh-CN" altLang="en-US" sz="2000" dirty="0">
                <a:solidFill>
                  <a:srgbClr val="FF0066"/>
                </a:solidFill>
                <a:latin typeface="Times New Roman" panose="02020603050405020304" pitchFamily="18" charset="0"/>
                <a:ea typeface="黑体" pitchFamily="49" charset="-122"/>
              </a:rPr>
              <a:t>“</a:t>
            </a:r>
            <a:r>
              <a:rPr lang="zh-CN" altLang="en-US" sz="20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编辑、编译、汇编、链接、装入</a:t>
            </a:r>
            <a:r>
              <a:rPr lang="zh-CN" altLang="en-US" sz="2000" dirty="0">
                <a:solidFill>
                  <a:srgbClr val="FF0066"/>
                </a:solidFill>
                <a:latin typeface="Times New Roman" panose="02020603050405020304" pitchFamily="18" charset="0"/>
                <a:ea typeface="黑体" pitchFamily="49" charset="-122"/>
              </a:rPr>
              <a:t>”</a:t>
            </a:r>
            <a:r>
              <a:rPr lang="zh-CN" altLang="en-US" sz="2000" dirty="0">
                <a:solidFill>
                  <a:srgbClr val="FF0066"/>
                </a:solidFill>
                <a:latin typeface="Arial" panose="020B0604020202090204" pitchFamily="34" charset="0"/>
                <a:ea typeface="黑体" pitchFamily="49" charset="-122"/>
              </a:rPr>
              <a:t>过程中的哪个环节确定了每条指令及其操作数的虚拟地址吗？</a:t>
            </a:r>
          </a:p>
        </p:txBody>
      </p:sp>
      <p:sp>
        <p:nvSpPr>
          <p:cNvPr id="103431" name="Text Box 12"/>
          <p:cNvSpPr txBox="1"/>
          <p:nvPr/>
        </p:nvSpPr>
        <p:spPr>
          <a:xfrm>
            <a:off x="296863" y="3024188"/>
            <a:ext cx="3825875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Arial" panose="020B0604020202090204" pitchFamily="34" charset="0"/>
                <a:ea typeface="黑体" pitchFamily="49" charset="-122"/>
              </a:rPr>
              <a:t>链接时确定虚拟地址；装入时生成页表以建立虚拟地址与物理地址之间的映射！</a:t>
            </a:r>
          </a:p>
        </p:txBody>
      </p:sp>
      <p:sp>
        <p:nvSpPr>
          <p:cNvPr id="134153" name="Rectangle 9"/>
          <p:cNvSpPr/>
          <p:nvPr/>
        </p:nvSpPr>
        <p:spPr>
          <a:xfrm>
            <a:off x="4879975" y="1268413"/>
            <a:ext cx="3082925" cy="1019175"/>
          </a:xfrm>
          <a:prstGeom prst="rect">
            <a:avLst/>
          </a:prstGeom>
          <a:solidFill>
            <a:schemeClr val="accent1">
              <a:alpha val="21960"/>
            </a:schemeClr>
          </a:solidFill>
          <a:ln w="12700">
            <a:noFill/>
          </a:ln>
        </p:spPr>
        <p:txBody>
          <a:bodyPr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763963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栈</a:t>
            </a:r>
            <a:r>
              <a:rPr lang="en-US" altLang="zh-CN" dirty="0">
                <a:ea typeface="宋体" pitchFamily="2" charset="-122"/>
              </a:rPr>
              <a:t>(Stack)</a:t>
            </a:r>
            <a:r>
              <a:rPr lang="zh-CN" altLang="en-US" dirty="0">
                <a:ea typeface="宋体" pitchFamily="2" charset="-122"/>
              </a:rPr>
              <a:t>的概念</a:t>
            </a:r>
          </a:p>
        </p:txBody>
      </p:sp>
      <p:sp>
        <p:nvSpPr>
          <p:cNvPr id="279555" name="Rectangle 3"/>
          <p:cNvSpPr>
            <a:spLocks noGrp="1"/>
          </p:cNvSpPr>
          <p:nvPr>
            <p:ph idx="1"/>
          </p:nvPr>
        </p:nvSpPr>
        <p:spPr>
          <a:xfrm>
            <a:off x="298450" y="527050"/>
            <a:ext cx="8504238" cy="4760913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栈的基本概念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是一个“先进后出”队列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需一个栈指针指向栈顶元素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每个元素长度一致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用“入栈”（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push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）和“出栈”（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pop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）操作访问栈元素</a:t>
            </a:r>
          </a:p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中栈的实现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用栈指针寄存器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来指示栈顶元素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每个元素的长度为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32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位，即：一个字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(4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个字节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“入栈” 和“出栈” 操作用 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sw / lw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指令来实现，需用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add / sub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指令调整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的值，不能像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那样自动进行栈指针的调整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（有些处理器有专门的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push/pop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指令，能自动调整栈指针。如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栈生长方向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   从高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→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低地址“增长”，而取数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/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存数的方向是低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→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高地址（大端方式）</a:t>
            </a: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每入栈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字，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$sp- 4→$sp ; 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每出栈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字，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$sp+4 →$sp</a:t>
            </a:r>
          </a:p>
        </p:txBody>
      </p:sp>
      <p:sp>
        <p:nvSpPr>
          <p:cNvPr id="279556" name="Text Box 4"/>
          <p:cNvSpPr txBox="1"/>
          <p:nvPr/>
        </p:nvSpPr>
        <p:spPr>
          <a:xfrm>
            <a:off x="492125" y="4978400"/>
            <a:ext cx="3702050" cy="17653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例：若将返回地址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和参数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$a0</a:t>
            </a: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        保存到栈，则指令序列为：</a:t>
            </a:r>
          </a:p>
          <a:p>
            <a:pPr>
              <a:lnSpc>
                <a:spcPct val="12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         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sub  $sp, $sp,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8         </a:t>
            </a:r>
            <a:endParaRPr lang="zh-CN" altLang="en-US" sz="1800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         sw   $ra, 4($sp)  </a:t>
            </a:r>
          </a:p>
          <a:p>
            <a:pPr>
              <a:lnSpc>
                <a:spcPct val="125000"/>
              </a:lnSpc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         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sw   $a0, 0($sp) 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4524375" y="4935538"/>
            <a:ext cx="3460750" cy="1862137"/>
            <a:chOff x="2850" y="3052"/>
            <a:chExt cx="2180" cy="1173"/>
          </a:xfrm>
        </p:grpSpPr>
        <p:grpSp>
          <p:nvGrpSpPr>
            <p:cNvPr id="105482" name="Group 21"/>
            <p:cNvGrpSpPr/>
            <p:nvPr/>
          </p:nvGrpSpPr>
          <p:grpSpPr>
            <a:xfrm>
              <a:off x="3602" y="3052"/>
              <a:ext cx="813" cy="1007"/>
              <a:chOff x="3602" y="3162"/>
              <a:chExt cx="813" cy="870"/>
            </a:xfrm>
          </p:grpSpPr>
          <p:sp>
            <p:nvSpPr>
              <p:cNvPr id="105495" name="Line 6"/>
              <p:cNvSpPr/>
              <p:nvPr/>
            </p:nvSpPr>
            <p:spPr>
              <a:xfrm>
                <a:off x="3602" y="3163"/>
                <a:ext cx="0" cy="869"/>
              </a:xfrm>
              <a:prstGeom prst="line">
                <a:avLst/>
              </a:prstGeom>
              <a:ln w="28575" cap="flat" cmpd="sng">
                <a:solidFill>
                  <a:srgbClr val="A5002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96" name="Line 8"/>
              <p:cNvSpPr/>
              <p:nvPr/>
            </p:nvSpPr>
            <p:spPr>
              <a:xfrm>
                <a:off x="4415" y="3162"/>
                <a:ext cx="0" cy="869"/>
              </a:xfrm>
              <a:prstGeom prst="line">
                <a:avLst/>
              </a:prstGeom>
              <a:ln w="28575" cap="flat" cmpd="sng">
                <a:solidFill>
                  <a:srgbClr val="A5002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5483" name="Line 9"/>
            <p:cNvSpPr/>
            <p:nvPr/>
          </p:nvSpPr>
          <p:spPr>
            <a:xfrm>
              <a:off x="3593" y="3373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4" name="Line 10"/>
            <p:cNvSpPr/>
            <p:nvPr/>
          </p:nvSpPr>
          <p:spPr>
            <a:xfrm>
              <a:off x="3594" y="3590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5" name="Line 11"/>
            <p:cNvSpPr/>
            <p:nvPr/>
          </p:nvSpPr>
          <p:spPr>
            <a:xfrm>
              <a:off x="3595" y="3798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6" name="Text Box 12"/>
            <p:cNvSpPr txBox="1"/>
            <p:nvPr/>
          </p:nvSpPr>
          <p:spPr>
            <a:xfrm>
              <a:off x="3803" y="3593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$a0</a:t>
              </a:r>
            </a:p>
          </p:txBody>
        </p:sp>
        <p:sp>
          <p:nvSpPr>
            <p:cNvPr id="105487" name="Text Box 13"/>
            <p:cNvSpPr txBox="1"/>
            <p:nvPr/>
          </p:nvSpPr>
          <p:spPr>
            <a:xfrm>
              <a:off x="3802" y="3373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$ra</a:t>
              </a:r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5488" name="Text Box 14"/>
            <p:cNvSpPr txBox="1"/>
            <p:nvPr/>
          </p:nvSpPr>
          <p:spPr>
            <a:xfrm>
              <a:off x="2850" y="3278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A50021"/>
                  </a:solidFill>
                  <a:latin typeface="Arial" panose="020B0604020202090204" pitchFamily="34" charset="0"/>
                </a:rPr>
                <a:t>$sp</a:t>
              </a:r>
              <a:endParaRPr lang="zh-CN" altLang="en-US" sz="1800" dirty="0">
                <a:solidFill>
                  <a:srgbClr val="A5002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5489" name="Line 15"/>
            <p:cNvSpPr/>
            <p:nvPr/>
          </p:nvSpPr>
          <p:spPr>
            <a:xfrm>
              <a:off x="3209" y="3378"/>
              <a:ext cx="37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490" name="Text Box 16"/>
            <p:cNvSpPr txBox="1"/>
            <p:nvPr/>
          </p:nvSpPr>
          <p:spPr>
            <a:xfrm>
              <a:off x="4461" y="3053"/>
              <a:ext cx="522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高地址</a:t>
              </a:r>
            </a:p>
          </p:txBody>
        </p:sp>
        <p:sp>
          <p:nvSpPr>
            <p:cNvPr id="105491" name="Text Box 17"/>
            <p:cNvSpPr txBox="1"/>
            <p:nvPr/>
          </p:nvSpPr>
          <p:spPr>
            <a:xfrm>
              <a:off x="4506" y="4020"/>
              <a:ext cx="522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  <a:ea typeface="黑体" pitchFamily="49" charset="-122"/>
                </a:rPr>
                <a:t>低地址</a:t>
              </a:r>
            </a:p>
          </p:txBody>
        </p:sp>
        <p:sp>
          <p:nvSpPr>
            <p:cNvPr id="105492" name="Line 18"/>
            <p:cNvSpPr/>
            <p:nvPr/>
          </p:nvSpPr>
          <p:spPr>
            <a:xfrm>
              <a:off x="4520" y="3280"/>
              <a:ext cx="0" cy="768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493" name="Text Box 19"/>
            <p:cNvSpPr txBox="1"/>
            <p:nvPr/>
          </p:nvSpPr>
          <p:spPr>
            <a:xfrm>
              <a:off x="4537" y="3335"/>
              <a:ext cx="493" cy="55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栈增长的方向</a:t>
              </a:r>
            </a:p>
          </p:txBody>
        </p:sp>
        <p:sp>
          <p:nvSpPr>
            <p:cNvPr id="105494" name="Line 20"/>
            <p:cNvSpPr/>
            <p:nvPr/>
          </p:nvSpPr>
          <p:spPr>
            <a:xfrm>
              <a:off x="3941" y="3117"/>
              <a:ext cx="0" cy="201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279576" name="Line 24"/>
          <p:cNvSpPr/>
          <p:nvPr/>
        </p:nvSpPr>
        <p:spPr>
          <a:xfrm>
            <a:off x="2894013" y="5881688"/>
            <a:ext cx="2790825" cy="207962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1705" name="Group 25"/>
          <p:cNvGrpSpPr/>
          <p:nvPr/>
        </p:nvGrpSpPr>
        <p:grpSpPr>
          <a:xfrm>
            <a:off x="2905125" y="5767388"/>
            <a:ext cx="2759075" cy="795337"/>
            <a:chOff x="1830" y="3633"/>
            <a:chExt cx="1738" cy="501"/>
          </a:xfrm>
        </p:grpSpPr>
        <p:sp>
          <p:nvSpPr>
            <p:cNvPr id="105480" name="Line 23"/>
            <p:cNvSpPr/>
            <p:nvPr/>
          </p:nvSpPr>
          <p:spPr>
            <a:xfrm flipV="1">
              <a:off x="1830" y="3633"/>
              <a:ext cx="1738" cy="315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481" name="Line 24"/>
            <p:cNvSpPr/>
            <p:nvPr/>
          </p:nvSpPr>
          <p:spPr>
            <a:xfrm flipV="1">
              <a:off x="1849" y="3846"/>
              <a:ext cx="1718" cy="288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9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9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79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79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79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7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481388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栈帧的概念</a:t>
            </a:r>
          </a:p>
        </p:txBody>
      </p:sp>
      <p:sp>
        <p:nvSpPr>
          <p:cNvPr id="283651" name="Rectangle 3"/>
          <p:cNvSpPr>
            <a:spLocks noGrp="1"/>
          </p:cNvSpPr>
          <p:nvPr>
            <p:ph type="body" sz="half" idx="1"/>
          </p:nvPr>
        </p:nvSpPr>
        <p:spPr>
          <a:xfrm>
            <a:off x="165100" y="268288"/>
            <a:ext cx="2814638" cy="58261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  <a:buClrTx/>
              <a:buSzPct val="75000"/>
              <a:buFont typeface="Wingdings" panose="05000000000000000000" pitchFamily="2" charset="2"/>
              <a:buNone/>
            </a:pPr>
            <a:endParaRPr lang="zh-CN" altLang="en-US" sz="1400" dirty="0">
              <a:latin typeface="Arial" panose="020B0604020202090204" pitchFamily="34" charset="0"/>
            </a:endParaRP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各过程有自己的栈区，称为栈帧（</a:t>
            </a:r>
            <a:r>
              <a:rPr lang="en-US" altLang="zh-CN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Stack frame</a:t>
            </a: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），即过程的帧（</a:t>
            </a:r>
            <a:r>
              <a:rPr lang="en-US" altLang="zh-CN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procedure frame</a:t>
            </a: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栈由若干栈帧组成</a:t>
            </a: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用专门的帧指针寄存器指定起始位置</a:t>
            </a: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当前栈帧范围在帧指针和栈指针之间</a:t>
            </a: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程序执行时，栈指针可移动，帧指针不变。所以过程内对栈信息的访问可通过帧指针进行</a:t>
            </a:r>
          </a:p>
          <a:p>
            <a:pPr>
              <a:lnSpc>
                <a:spcPct val="115000"/>
              </a:lnSpc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复杂局部变量一定分配在栈帧中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2970213" y="157163"/>
            <a:ext cx="6173787" cy="6700837"/>
            <a:chOff x="2017" y="99"/>
            <a:chExt cx="3633" cy="4160"/>
          </a:xfrm>
        </p:grpSpPr>
        <p:graphicFrame>
          <p:nvGraphicFramePr>
            <p:cNvPr id="106531" name="Object 4"/>
            <p:cNvGraphicFramePr>
              <a:graphicFrameLocks noChangeAspect="1"/>
            </p:cNvGraphicFramePr>
            <p:nvPr/>
          </p:nvGraphicFramePr>
          <p:xfrm>
            <a:off x="2017" y="99"/>
            <a:ext cx="3633" cy="4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8" r:id="rId3" imgW="3133725" imgH="5772150" progId="Paint.Picture">
                    <p:embed/>
                  </p:oleObj>
                </mc:Choice>
                <mc:Fallback>
                  <p:oleObj r:id="rId3" imgW="3133725" imgH="5772150" progId="Paint.Picture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17" y="99"/>
                          <a:ext cx="3633" cy="41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32" name="Line 6"/>
            <p:cNvSpPr/>
            <p:nvPr/>
          </p:nvSpPr>
          <p:spPr>
            <a:xfrm>
              <a:off x="4901" y="1077"/>
              <a:ext cx="53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3" name="Line 7"/>
            <p:cNvSpPr/>
            <p:nvPr/>
          </p:nvSpPr>
          <p:spPr>
            <a:xfrm>
              <a:off x="4909" y="2329"/>
              <a:ext cx="53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4" name="Line 8"/>
            <p:cNvSpPr/>
            <p:nvPr/>
          </p:nvSpPr>
          <p:spPr>
            <a:xfrm>
              <a:off x="4908" y="4075"/>
              <a:ext cx="53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5" name="Line 9"/>
            <p:cNvSpPr/>
            <p:nvPr/>
          </p:nvSpPr>
          <p:spPr>
            <a:xfrm>
              <a:off x="5239" y="666"/>
              <a:ext cx="0" cy="2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283659" name="Text Box 11"/>
          <p:cNvSpPr txBox="1"/>
          <p:nvPr/>
        </p:nvSpPr>
        <p:spPr>
          <a:xfrm>
            <a:off x="3249613" y="595313"/>
            <a:ext cx="1670050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假定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调用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Q</a:t>
            </a:r>
          </a:p>
        </p:txBody>
      </p:sp>
      <p:sp>
        <p:nvSpPr>
          <p:cNvPr id="283660" name="Text Box 12"/>
          <p:cNvSpPr txBox="1"/>
          <p:nvPr/>
        </p:nvSpPr>
        <p:spPr>
          <a:xfrm>
            <a:off x="7840663" y="2835275"/>
            <a:ext cx="1030287" cy="3254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P frame</a:t>
            </a:r>
          </a:p>
        </p:txBody>
      </p:sp>
      <p:sp>
        <p:nvSpPr>
          <p:cNvPr id="283661" name="Text Box 13"/>
          <p:cNvSpPr txBox="1"/>
          <p:nvPr/>
        </p:nvSpPr>
        <p:spPr>
          <a:xfrm>
            <a:off x="7812088" y="4611688"/>
            <a:ext cx="1030287" cy="32543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Q 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frame</a:t>
            </a:r>
          </a:p>
        </p:txBody>
      </p:sp>
      <p:sp>
        <p:nvSpPr>
          <p:cNvPr id="106504" name="Text Box 15"/>
          <p:cNvSpPr txBox="1"/>
          <p:nvPr/>
        </p:nvSpPr>
        <p:spPr>
          <a:xfrm>
            <a:off x="3208338" y="1406525"/>
            <a:ext cx="1247775" cy="1730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  <p:grpSp>
        <p:nvGrpSpPr>
          <p:cNvPr id="3" name="Group 38"/>
          <p:cNvGrpSpPr/>
          <p:nvPr/>
        </p:nvGrpSpPr>
        <p:grpSpPr>
          <a:xfrm>
            <a:off x="3289300" y="1379538"/>
            <a:ext cx="4441825" cy="2133600"/>
            <a:chOff x="2002" y="869"/>
            <a:chExt cx="2798" cy="1344"/>
          </a:xfrm>
        </p:grpSpPr>
        <p:sp>
          <p:nvSpPr>
            <p:cNvPr id="106527" name="Rectangle 14"/>
            <p:cNvSpPr/>
            <p:nvPr/>
          </p:nvSpPr>
          <p:spPr>
            <a:xfrm>
              <a:off x="3218" y="1573"/>
              <a:ext cx="1582" cy="640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6528" name="Text Box 16"/>
            <p:cNvSpPr txBox="1"/>
            <p:nvPr/>
          </p:nvSpPr>
          <p:spPr>
            <a:xfrm>
              <a:off x="2002" y="869"/>
              <a:ext cx="822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P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帧中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Q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所用的参数</a:t>
              </a:r>
            </a:p>
          </p:txBody>
        </p:sp>
        <p:sp>
          <p:nvSpPr>
            <p:cNvPr id="106529" name="Line 17"/>
            <p:cNvSpPr/>
            <p:nvPr/>
          </p:nvSpPr>
          <p:spPr>
            <a:xfrm>
              <a:off x="2661" y="1096"/>
              <a:ext cx="293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0" name="Line 18"/>
            <p:cNvSpPr/>
            <p:nvPr/>
          </p:nvSpPr>
          <p:spPr>
            <a:xfrm>
              <a:off x="2944" y="1089"/>
              <a:ext cx="567" cy="438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39"/>
          <p:cNvGrpSpPr/>
          <p:nvPr/>
        </p:nvGrpSpPr>
        <p:grpSpPr>
          <a:xfrm>
            <a:off x="3171825" y="2205038"/>
            <a:ext cx="4543425" cy="1570037"/>
            <a:chOff x="1935" y="1389"/>
            <a:chExt cx="2862" cy="989"/>
          </a:xfrm>
        </p:grpSpPr>
        <p:sp>
          <p:nvSpPr>
            <p:cNvPr id="106523" name="Rectangle 21"/>
            <p:cNvSpPr/>
            <p:nvPr/>
          </p:nvSpPr>
          <p:spPr>
            <a:xfrm>
              <a:off x="3215" y="2202"/>
              <a:ext cx="1582" cy="176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6524" name="Text Box 22"/>
            <p:cNvSpPr txBox="1"/>
            <p:nvPr/>
          </p:nvSpPr>
          <p:spPr>
            <a:xfrm>
              <a:off x="1935" y="1389"/>
              <a:ext cx="822" cy="81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1800" dirty="0">
                <a:latin typeface="Arial" panose="020B0604020202090204" pitchFamily="34" charset="0"/>
                <a:ea typeface="黑体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在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P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帧中存放的从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Q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返回后的地址</a:t>
              </a:r>
              <a:endParaRPr lang="en-US" altLang="zh-CN" sz="1800" dirty="0">
                <a:latin typeface="Arial" panose="020B0604020202090204" pitchFamily="34" charset="0"/>
                <a:ea typeface="黑体" pitchFamily="49" charset="-122"/>
              </a:endParaRPr>
            </a:p>
          </p:txBody>
        </p:sp>
        <p:sp>
          <p:nvSpPr>
            <p:cNvPr id="106525" name="Line 23"/>
            <p:cNvSpPr/>
            <p:nvPr/>
          </p:nvSpPr>
          <p:spPr>
            <a:xfrm>
              <a:off x="2721" y="1937"/>
              <a:ext cx="293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6" name="Line 24"/>
            <p:cNvSpPr/>
            <p:nvPr/>
          </p:nvSpPr>
          <p:spPr>
            <a:xfrm>
              <a:off x="3005" y="1934"/>
              <a:ext cx="267" cy="308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34"/>
          <p:cNvGrpSpPr/>
          <p:nvPr/>
        </p:nvGrpSpPr>
        <p:grpSpPr>
          <a:xfrm>
            <a:off x="3344863" y="3967163"/>
            <a:ext cx="4386262" cy="728662"/>
            <a:chOff x="2037" y="2499"/>
            <a:chExt cx="2763" cy="459"/>
          </a:xfrm>
        </p:grpSpPr>
        <p:sp>
          <p:nvSpPr>
            <p:cNvPr id="106520" name="Rectangle 27"/>
            <p:cNvSpPr/>
            <p:nvPr/>
          </p:nvSpPr>
          <p:spPr>
            <a:xfrm>
              <a:off x="3218" y="2499"/>
              <a:ext cx="1582" cy="444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6521" name="Text Box 28"/>
            <p:cNvSpPr txBox="1"/>
            <p:nvPr/>
          </p:nvSpPr>
          <p:spPr>
            <a:xfrm>
              <a:off x="2037" y="2580"/>
              <a:ext cx="676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需保存的寄存器</a:t>
              </a:r>
              <a:endParaRPr lang="en-US" altLang="zh-CN" sz="1800" dirty="0">
                <a:latin typeface="Arial" panose="020B0604020202090204" pitchFamily="34" charset="0"/>
                <a:ea typeface="黑体" pitchFamily="49" charset="-122"/>
              </a:endParaRPr>
            </a:p>
          </p:txBody>
        </p:sp>
        <p:sp>
          <p:nvSpPr>
            <p:cNvPr id="106522" name="Line 30"/>
            <p:cNvSpPr/>
            <p:nvPr/>
          </p:nvSpPr>
          <p:spPr>
            <a:xfrm>
              <a:off x="2652" y="2809"/>
              <a:ext cx="530" cy="3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37"/>
          <p:cNvGrpSpPr/>
          <p:nvPr/>
        </p:nvGrpSpPr>
        <p:grpSpPr>
          <a:xfrm>
            <a:off x="3727450" y="4654550"/>
            <a:ext cx="4033838" cy="1023938"/>
            <a:chOff x="2269" y="2941"/>
            <a:chExt cx="2541" cy="645"/>
          </a:xfrm>
        </p:grpSpPr>
        <p:sp>
          <p:nvSpPr>
            <p:cNvPr id="106517" name="Text Box 31"/>
            <p:cNvSpPr txBox="1"/>
            <p:nvPr/>
          </p:nvSpPr>
          <p:spPr>
            <a:xfrm>
              <a:off x="2269" y="3035"/>
              <a:ext cx="676" cy="55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Q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所用的局部和临时变量</a:t>
              </a:r>
              <a:endParaRPr lang="en-US" altLang="zh-CN" sz="1800" dirty="0">
                <a:latin typeface="Arial" panose="020B0604020202090204" pitchFamily="34" charset="0"/>
                <a:ea typeface="黑体" pitchFamily="49" charset="-122"/>
              </a:endParaRPr>
            </a:p>
          </p:txBody>
        </p:sp>
        <p:sp>
          <p:nvSpPr>
            <p:cNvPr id="106518" name="Line 32"/>
            <p:cNvSpPr/>
            <p:nvPr/>
          </p:nvSpPr>
          <p:spPr>
            <a:xfrm flipV="1">
              <a:off x="2799" y="3407"/>
              <a:ext cx="384" cy="5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19" name="Rectangle 33"/>
            <p:cNvSpPr/>
            <p:nvPr/>
          </p:nvSpPr>
          <p:spPr>
            <a:xfrm>
              <a:off x="3210" y="2941"/>
              <a:ext cx="1600" cy="636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3706813" y="5637213"/>
            <a:ext cx="4048125" cy="962025"/>
            <a:chOff x="2258" y="3551"/>
            <a:chExt cx="2550" cy="606"/>
          </a:xfrm>
        </p:grpSpPr>
        <p:sp>
          <p:nvSpPr>
            <p:cNvPr id="106514" name="Rectangle 43"/>
            <p:cNvSpPr/>
            <p:nvPr/>
          </p:nvSpPr>
          <p:spPr>
            <a:xfrm>
              <a:off x="3206" y="3551"/>
              <a:ext cx="1602" cy="606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6515" name="Text Box 44"/>
            <p:cNvSpPr txBox="1"/>
            <p:nvPr/>
          </p:nvSpPr>
          <p:spPr>
            <a:xfrm>
              <a:off x="2258" y="3615"/>
              <a:ext cx="833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Q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传给其他过程的参数</a:t>
              </a:r>
            </a:p>
          </p:txBody>
        </p:sp>
        <p:sp>
          <p:nvSpPr>
            <p:cNvPr id="106516" name="Line 47"/>
            <p:cNvSpPr/>
            <p:nvPr/>
          </p:nvSpPr>
          <p:spPr>
            <a:xfrm flipV="1">
              <a:off x="3008" y="3776"/>
              <a:ext cx="165" cy="9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83699" name="Rectangle 51"/>
          <p:cNvSpPr/>
          <p:nvPr/>
        </p:nvSpPr>
        <p:spPr>
          <a:xfrm>
            <a:off x="5213350" y="3762375"/>
            <a:ext cx="2600325" cy="2847975"/>
          </a:xfrm>
          <a:prstGeom prst="rect">
            <a:avLst/>
          </a:prstGeom>
          <a:solidFill>
            <a:schemeClr val="accent1">
              <a:alpha val="9019"/>
            </a:schemeClr>
          </a:solidFill>
          <a:ln w="28575">
            <a:noFill/>
          </a:ln>
        </p:spPr>
        <p:txBody>
          <a:bodyPr wrap="none"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83700" name="Text Box 52"/>
          <p:cNvSpPr txBox="1"/>
          <p:nvPr/>
        </p:nvSpPr>
        <p:spPr>
          <a:xfrm>
            <a:off x="320675" y="6242050"/>
            <a:ext cx="2481263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栈帧如右图所示</a:t>
            </a:r>
          </a:p>
        </p:txBody>
      </p:sp>
      <p:sp>
        <p:nvSpPr>
          <p:cNvPr id="283701" name="Text Box 53"/>
          <p:cNvSpPr txBox="1"/>
          <p:nvPr/>
        </p:nvSpPr>
        <p:spPr>
          <a:xfrm>
            <a:off x="3124200" y="3648075"/>
            <a:ext cx="1393825" cy="355600"/>
          </a:xfrm>
          <a:prstGeom prst="rect">
            <a:avLst/>
          </a:prstGeom>
          <a:solidFill>
            <a:srgbClr val="99CCFF"/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</a:rPr>
              <a:t>      帧指针</a:t>
            </a:r>
            <a:endParaRPr lang="en-US" altLang="zh-CN" sz="2000" dirty="0">
              <a:solidFill>
                <a:schemeClr val="accent1"/>
              </a:solidFill>
              <a:latin typeface="Arial" panose="020B0604020202090204" pitchFamily="34" charset="0"/>
            </a:endParaRPr>
          </a:p>
        </p:txBody>
      </p:sp>
      <p:sp>
        <p:nvSpPr>
          <p:cNvPr id="283702" name="Text Box 54"/>
          <p:cNvSpPr txBox="1"/>
          <p:nvPr/>
        </p:nvSpPr>
        <p:spPr>
          <a:xfrm>
            <a:off x="3094038" y="6324600"/>
            <a:ext cx="1393825" cy="355600"/>
          </a:xfrm>
          <a:prstGeom prst="rect">
            <a:avLst/>
          </a:prstGeom>
          <a:solidFill>
            <a:srgbClr val="99CCFF"/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</a:rPr>
              <a:t>      栈指针</a:t>
            </a:r>
            <a:endParaRPr lang="en-US" altLang="zh-CN" sz="2000" dirty="0">
              <a:solidFill>
                <a:schemeClr val="accent1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9" grpId="0"/>
      <p:bldP spid="283660" grpId="0" animBg="1"/>
      <p:bldP spid="283661" grpId="0" animBg="1"/>
      <p:bldP spid="283699" grpId="0" animBg="1"/>
      <p:bldP spid="283700" grpId="0"/>
      <p:bldP spid="283701" grpId="0" animBg="1"/>
      <p:bldP spid="28370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239713" y="133350"/>
            <a:ext cx="7867650" cy="398463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IA-32</a:t>
            </a:r>
            <a:r>
              <a:rPr lang="zh-CN" altLang="en-US" sz="2600" dirty="0">
                <a:ea typeface="宋体" pitchFamily="2" charset="-122"/>
              </a:rPr>
              <a:t>中</a:t>
            </a:r>
            <a:r>
              <a:rPr lang="en-US" altLang="zh-CN" sz="2600" dirty="0">
                <a:ea typeface="宋体" pitchFamily="2" charset="-122"/>
              </a:rPr>
              <a:t>P</a:t>
            </a:r>
            <a:r>
              <a:rPr lang="zh-CN" altLang="en-US" sz="2600" dirty="0">
                <a:ea typeface="宋体" pitchFamily="2" charset="-122"/>
              </a:rPr>
              <a:t>调用</a:t>
            </a:r>
            <a:r>
              <a:rPr lang="en-US" altLang="zh-CN" sz="2600" dirty="0">
                <a:ea typeface="宋体" pitchFamily="2" charset="-122"/>
              </a:rPr>
              <a:t>caller</a:t>
            </a:r>
            <a:r>
              <a:rPr lang="zh-CN" altLang="en-US" sz="2600" dirty="0">
                <a:ea typeface="宋体" pitchFamily="2" charset="-122"/>
              </a:rPr>
              <a:t>，</a:t>
            </a:r>
            <a:r>
              <a:rPr lang="en-US" altLang="zh-CN" sz="2600" dirty="0">
                <a:ea typeface="宋体" pitchFamily="2" charset="-122"/>
              </a:rPr>
              <a:t>caller</a:t>
            </a:r>
            <a:r>
              <a:rPr lang="zh-CN" altLang="en-US" sz="2600" dirty="0">
                <a:ea typeface="宋体" pitchFamily="2" charset="-122"/>
              </a:rPr>
              <a:t>调用</a:t>
            </a:r>
            <a:r>
              <a:rPr lang="en-US" altLang="zh-CN" sz="2600" dirty="0">
                <a:ea typeface="宋体" pitchFamily="2" charset="-122"/>
              </a:rPr>
              <a:t>add</a:t>
            </a:r>
          </a:p>
        </p:txBody>
      </p:sp>
      <p:sp>
        <p:nvSpPr>
          <p:cNvPr id="107523" name="Rectangle 3"/>
          <p:cNvSpPr>
            <a:spLocks noGrp="1"/>
          </p:cNvSpPr>
          <p:nvPr>
            <p:ph idx="1"/>
          </p:nvPr>
        </p:nvSpPr>
        <p:spPr>
          <a:xfrm>
            <a:off x="192088" y="890588"/>
            <a:ext cx="3937000" cy="52800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add ( int x, int y )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return x+y;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spcBef>
                <a:spcPct val="15000"/>
              </a:spcBef>
              <a:buNone/>
            </a:pP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caller ( )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	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int	temp1 = 125;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	int 	temp2 = 80;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int	sum;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sum=add (temp1, temp2);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return sum</a:t>
            </a:r>
          </a:p>
          <a:p>
            <a:pPr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524" name="Text Box 6"/>
          <p:cNvSpPr txBox="1"/>
          <p:nvPr/>
        </p:nvSpPr>
        <p:spPr>
          <a:xfrm>
            <a:off x="239713" y="5214938"/>
            <a:ext cx="4010025" cy="1422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没有优化的代码将局部简单变量分配在栈中，而优化编译的代码将局部简单变量分配在寄存器中。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根据栈帧内容猜测，是否优化？</a:t>
            </a:r>
          </a:p>
        </p:txBody>
      </p:sp>
      <p:pic>
        <p:nvPicPr>
          <p:cNvPr id="10752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627063"/>
            <a:ext cx="4733925" cy="60102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7526" name="Group 45"/>
          <p:cNvGrpSpPr/>
          <p:nvPr/>
        </p:nvGrpSpPr>
        <p:grpSpPr>
          <a:xfrm>
            <a:off x="3314700" y="717550"/>
            <a:ext cx="1125538" cy="1738313"/>
            <a:chOff x="2171" y="119"/>
            <a:chExt cx="681" cy="1095"/>
          </a:xfrm>
        </p:grpSpPr>
        <p:sp>
          <p:nvSpPr>
            <p:cNvPr id="107527" name="Text Box 35"/>
            <p:cNvSpPr txBox="1"/>
            <p:nvPr/>
          </p:nvSpPr>
          <p:spPr>
            <a:xfrm>
              <a:off x="2171" y="119"/>
              <a:ext cx="681" cy="109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5000"/>
                </a:spcBef>
                <a:buSzTx/>
                <a:buFontTx/>
                <a:buNone/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add</a:t>
              </a:r>
            </a:p>
            <a:p>
              <a:pPr marL="342900" lvl="0" indent="-342900">
                <a:lnSpc>
                  <a:spcPct val="100000"/>
                </a:lnSpc>
                <a:spcBef>
                  <a:spcPct val="25000"/>
                </a:spcBef>
                <a:buSzTx/>
                <a:buFontTx/>
                <a:buNone/>
              </a:pP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lvl="0" indent="-342900">
                <a:lnSpc>
                  <a:spcPct val="100000"/>
                </a:lnSpc>
                <a:spcBef>
                  <a:spcPct val="25000"/>
                </a:spcBef>
                <a:buSzTx/>
                <a:buFontTx/>
                <a:buNone/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caller</a:t>
              </a:r>
            </a:p>
            <a:p>
              <a:pPr marL="342900" lvl="0" indent="-342900">
                <a:lnSpc>
                  <a:spcPct val="100000"/>
                </a:lnSpc>
                <a:spcBef>
                  <a:spcPct val="25000"/>
                </a:spcBef>
                <a:buSzTx/>
                <a:buFontTx/>
                <a:buNone/>
              </a:pP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lvl="0" indent="-342900">
                <a:lnSpc>
                  <a:spcPct val="100000"/>
                </a:lnSpc>
                <a:spcBef>
                  <a:spcPct val="25000"/>
                </a:spcBef>
                <a:buSzTx/>
                <a:buFontTx/>
                <a:buNone/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P</a:t>
              </a:r>
            </a:p>
          </p:txBody>
        </p:sp>
        <p:sp>
          <p:nvSpPr>
            <p:cNvPr id="107528" name="Line 36"/>
            <p:cNvSpPr/>
            <p:nvPr/>
          </p:nvSpPr>
          <p:spPr>
            <a:xfrm flipV="1">
              <a:off x="2398" y="289"/>
              <a:ext cx="0" cy="283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7529" name="Line 44"/>
            <p:cNvSpPr/>
            <p:nvPr/>
          </p:nvSpPr>
          <p:spPr>
            <a:xfrm flipV="1">
              <a:off x="2398" y="714"/>
              <a:ext cx="0" cy="283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109571" name="Rectangle 36"/>
          <p:cNvSpPr/>
          <p:nvPr/>
        </p:nvSpPr>
        <p:spPr>
          <a:xfrm>
            <a:off x="0" y="18669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ctr" anchorCtr="0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9572" name="Rectangle 52"/>
          <p:cNvSpPr/>
          <p:nvPr/>
        </p:nvSpPr>
        <p:spPr>
          <a:xfrm>
            <a:off x="0" y="704850"/>
            <a:ext cx="4130675" cy="4622800"/>
          </a:xfrm>
          <a:prstGeom prst="rect">
            <a:avLst/>
          </a:prstGeom>
          <a:noFill/>
          <a:ln w="12700">
            <a:noFill/>
          </a:ln>
        </p:spPr>
        <p:txBody>
          <a:bodyPr wrap="none" lIns="63500" tIns="25400" rIns="63500" bIns="25400" anchor="ctr" anchorCtr="0">
            <a:spAutoFit/>
          </a:bodyPr>
          <a:lstStyle/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caller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	pushl	%ebp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	movl 	%esp, %ebp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	subl	$24, %esp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	movl	$125, -12(%ebp)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	movl	$80, -8(%ebp)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	movl    -8(%ebp), %eax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     movl	%eax, 4(%esp)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	movl	-12(%ebp), %eax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	movl	%eax, (%esp)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	call	add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	movl	%eax, -4(%ebp)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	movl	-4(%ebp), %eax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	leave	</a:t>
            </a:r>
          </a:p>
          <a:p>
            <a:pPr indent="266700" defTabSz="914400">
              <a:buNone/>
              <a:tabLst>
                <a:tab pos="4064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	ret </a:t>
            </a:r>
          </a:p>
        </p:txBody>
      </p:sp>
      <p:pic>
        <p:nvPicPr>
          <p:cNvPr id="109573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75" y="390525"/>
            <a:ext cx="4733925" cy="6151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574" name="Rectangle 55"/>
          <p:cNvSpPr/>
          <p:nvPr/>
        </p:nvSpPr>
        <p:spPr>
          <a:xfrm>
            <a:off x="142875" y="5610225"/>
            <a:ext cx="4719638" cy="9652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int  temp1 = 125;  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sym typeface="Wingdings" panose="05000000000000000000" pitchFamily="2" charset="2"/>
              </a:rPr>
              <a:t>  5</a:t>
            </a:r>
            <a:endParaRPr lang="en-US" altLang="zh-CN" sz="2000" dirty="0">
              <a:solidFill>
                <a:srgbClr val="A50021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int  temp2 = 80; 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sym typeface="Wingdings" panose="05000000000000000000" pitchFamily="2" charset="2"/>
              </a:rPr>
              <a:t>  6</a:t>
            </a:r>
            <a:endParaRPr lang="en-US" altLang="zh-CN" sz="2000" dirty="0">
              <a:solidFill>
                <a:srgbClr val="A50021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</a:rPr>
              <a:t>sum=add(temp1,temp2); 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sym typeface="Wingdings" panose="05000000000000000000" pitchFamily="2" charset="2"/>
              </a:rPr>
              <a:t>  7~11</a:t>
            </a:r>
            <a:endParaRPr lang="zh-CN" altLang="en-US" sz="2000" dirty="0">
              <a:solidFill>
                <a:srgbClr val="A50021"/>
              </a:solidFill>
              <a:latin typeface="Arial" panose="020B060402020209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Line 46"/>
          <p:cNvSpPr/>
          <p:nvPr/>
        </p:nvSpPr>
        <p:spPr>
          <a:xfrm flipV="1">
            <a:off x="2809875" y="887413"/>
            <a:ext cx="1600200" cy="225425"/>
          </a:xfrm>
          <a:prstGeom prst="line">
            <a:avLst/>
          </a:prstGeom>
          <a:ln w="9525" cap="flat" cmpd="sng">
            <a:solidFill>
              <a:srgbClr val="3333CC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8" name="Group 4"/>
          <p:cNvGrpSpPr/>
          <p:nvPr/>
        </p:nvGrpSpPr>
        <p:grpSpPr>
          <a:xfrm>
            <a:off x="3536950" y="1174750"/>
            <a:ext cx="1035050" cy="676275"/>
            <a:chOff x="1746" y="1848"/>
            <a:chExt cx="652" cy="426"/>
          </a:xfrm>
        </p:grpSpPr>
        <p:sp>
          <p:nvSpPr>
            <p:cNvPr id="109607" name="AutoShape 5"/>
            <p:cNvSpPr/>
            <p:nvPr/>
          </p:nvSpPr>
          <p:spPr>
            <a:xfrm>
              <a:off x="1746" y="1848"/>
              <a:ext cx="170" cy="425"/>
            </a:xfrm>
            <a:prstGeom prst="rightBrace">
              <a:avLst>
                <a:gd name="adj1" fmla="val 20833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CN" altLang="en-US" sz="1800" b="0" dirty="0">
                <a:solidFill>
                  <a:srgbClr val="FF33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9608" name="Text Box 6"/>
            <p:cNvSpPr txBox="1"/>
            <p:nvPr/>
          </p:nvSpPr>
          <p:spPr>
            <a:xfrm>
              <a:off x="1916" y="1877"/>
              <a:ext cx="48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准备</a:t>
              </a:r>
              <a:endParaRPr lang="en-US" altLang="zh-CN" sz="1400" dirty="0">
                <a:solidFill>
                  <a:srgbClr val="FF3300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阶段</a:t>
              </a:r>
            </a:p>
          </p:txBody>
        </p:sp>
      </p:grpSp>
      <p:grpSp>
        <p:nvGrpSpPr>
          <p:cNvPr id="12" name="Group 14"/>
          <p:cNvGrpSpPr/>
          <p:nvPr/>
        </p:nvGrpSpPr>
        <p:grpSpPr>
          <a:xfrm>
            <a:off x="4014788" y="1992313"/>
            <a:ext cx="1125537" cy="574675"/>
            <a:chOff x="1746" y="2387"/>
            <a:chExt cx="709" cy="362"/>
          </a:xfrm>
        </p:grpSpPr>
        <p:sp>
          <p:nvSpPr>
            <p:cNvPr id="109605" name="AutoShape 15"/>
            <p:cNvSpPr/>
            <p:nvPr/>
          </p:nvSpPr>
          <p:spPr>
            <a:xfrm>
              <a:off x="1746" y="2443"/>
              <a:ext cx="170" cy="306"/>
            </a:xfrm>
            <a:prstGeom prst="rightBrace">
              <a:avLst>
                <a:gd name="adj1" fmla="val 15000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CN" altLang="en-US" sz="1800" b="0" dirty="0">
                <a:solidFill>
                  <a:srgbClr val="FF33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9606" name="Text Box 16"/>
            <p:cNvSpPr txBox="1"/>
            <p:nvPr/>
          </p:nvSpPr>
          <p:spPr>
            <a:xfrm>
              <a:off x="1888" y="2387"/>
              <a:ext cx="56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分配局部变量</a:t>
              </a:r>
            </a:p>
          </p:txBody>
        </p:sp>
      </p:grpSp>
      <p:sp>
        <p:nvSpPr>
          <p:cNvPr id="18" name="Line 39"/>
          <p:cNvSpPr/>
          <p:nvPr/>
        </p:nvSpPr>
        <p:spPr>
          <a:xfrm flipV="1">
            <a:off x="3806825" y="1730375"/>
            <a:ext cx="1055688" cy="728663"/>
          </a:xfrm>
          <a:prstGeom prst="line">
            <a:avLst/>
          </a:prstGeom>
          <a:ln w="9525" cap="flat" cmpd="sng">
            <a:solidFill>
              <a:srgbClr val="3333CC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9" name="Group 20"/>
          <p:cNvGrpSpPr/>
          <p:nvPr/>
        </p:nvGrpSpPr>
        <p:grpSpPr>
          <a:xfrm>
            <a:off x="4706938" y="1112838"/>
            <a:ext cx="815975" cy="2247900"/>
            <a:chOff x="2965" y="482"/>
            <a:chExt cx="514" cy="1621"/>
          </a:xfrm>
        </p:grpSpPr>
        <p:sp>
          <p:nvSpPr>
            <p:cNvPr id="109600" name="Text Box 21"/>
            <p:cNvSpPr txBox="1"/>
            <p:nvPr/>
          </p:nvSpPr>
          <p:spPr>
            <a:xfrm>
              <a:off x="3050" y="482"/>
              <a:ext cx="3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-4</a:t>
              </a:r>
            </a:p>
          </p:txBody>
        </p:sp>
        <p:sp>
          <p:nvSpPr>
            <p:cNvPr id="109601" name="Text Box 22"/>
            <p:cNvSpPr txBox="1"/>
            <p:nvPr/>
          </p:nvSpPr>
          <p:spPr>
            <a:xfrm>
              <a:off x="3050" y="767"/>
              <a:ext cx="3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-8</a:t>
              </a:r>
            </a:p>
          </p:txBody>
        </p:sp>
        <p:sp>
          <p:nvSpPr>
            <p:cNvPr id="109602" name="Text Box 23"/>
            <p:cNvSpPr txBox="1"/>
            <p:nvPr/>
          </p:nvSpPr>
          <p:spPr>
            <a:xfrm>
              <a:off x="2965" y="1085"/>
              <a:ext cx="4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-12</a:t>
              </a:r>
            </a:p>
          </p:txBody>
        </p:sp>
        <p:sp>
          <p:nvSpPr>
            <p:cNvPr id="109603" name="Text Box 24"/>
            <p:cNvSpPr txBox="1"/>
            <p:nvPr/>
          </p:nvSpPr>
          <p:spPr>
            <a:xfrm>
              <a:off x="2965" y="1489"/>
              <a:ext cx="4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-16</a:t>
              </a:r>
            </a:p>
          </p:txBody>
        </p:sp>
        <p:sp>
          <p:nvSpPr>
            <p:cNvPr id="109604" name="Text Box 25"/>
            <p:cNvSpPr txBox="1"/>
            <p:nvPr/>
          </p:nvSpPr>
          <p:spPr>
            <a:xfrm>
              <a:off x="2997" y="1853"/>
              <a:ext cx="4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-20</a:t>
              </a:r>
            </a:p>
          </p:txBody>
        </p:sp>
      </p:grpSp>
      <p:sp>
        <p:nvSpPr>
          <p:cNvPr id="25" name="Line 38"/>
          <p:cNvSpPr/>
          <p:nvPr/>
        </p:nvSpPr>
        <p:spPr>
          <a:xfrm>
            <a:off x="4189413" y="2036763"/>
            <a:ext cx="517525" cy="47625"/>
          </a:xfrm>
          <a:prstGeom prst="line">
            <a:avLst/>
          </a:prstGeom>
          <a:ln w="9525" cap="flat" cmpd="sng">
            <a:solidFill>
              <a:srgbClr val="3333CC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6" name="Group 17"/>
          <p:cNvGrpSpPr/>
          <p:nvPr/>
        </p:nvGrpSpPr>
        <p:grpSpPr>
          <a:xfrm>
            <a:off x="4062413" y="2727325"/>
            <a:ext cx="1125537" cy="927100"/>
            <a:chOff x="1746" y="2812"/>
            <a:chExt cx="709" cy="584"/>
          </a:xfrm>
        </p:grpSpPr>
        <p:sp>
          <p:nvSpPr>
            <p:cNvPr id="109598" name="AutoShape 18"/>
            <p:cNvSpPr/>
            <p:nvPr/>
          </p:nvSpPr>
          <p:spPr>
            <a:xfrm>
              <a:off x="1746" y="2812"/>
              <a:ext cx="170" cy="584"/>
            </a:xfrm>
            <a:prstGeom prst="rightBrace">
              <a:avLst>
                <a:gd name="adj1" fmla="val 28627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CN" altLang="en-US" sz="1800" b="0" dirty="0">
                <a:solidFill>
                  <a:srgbClr val="FF33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9599" name="Text Box 19"/>
            <p:cNvSpPr txBox="1"/>
            <p:nvPr/>
          </p:nvSpPr>
          <p:spPr>
            <a:xfrm>
              <a:off x="1888" y="2897"/>
              <a:ext cx="56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准备入口参数</a:t>
              </a:r>
            </a:p>
          </p:txBody>
        </p:sp>
      </p:grpSp>
      <p:grpSp>
        <p:nvGrpSpPr>
          <p:cNvPr id="29" name="Group 26"/>
          <p:cNvGrpSpPr/>
          <p:nvPr/>
        </p:nvGrpSpPr>
        <p:grpSpPr>
          <a:xfrm>
            <a:off x="2628900" y="3763963"/>
            <a:ext cx="3060700" cy="307975"/>
            <a:chOff x="1122" y="3436"/>
            <a:chExt cx="1928" cy="194"/>
          </a:xfrm>
        </p:grpSpPr>
        <p:sp>
          <p:nvSpPr>
            <p:cNvPr id="109596" name="Text Box 27"/>
            <p:cNvSpPr txBox="1"/>
            <p:nvPr/>
          </p:nvSpPr>
          <p:spPr>
            <a:xfrm>
              <a:off x="1377" y="3436"/>
              <a:ext cx="1673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返回参数总在</a:t>
              </a:r>
              <a:r>
                <a:rPr lang="en-US" altLang="zh-CN" sz="140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EAX</a:t>
              </a:r>
              <a:r>
                <a:rPr lang="zh-CN" altLang="en-US" sz="140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</a:p>
          </p:txBody>
        </p:sp>
        <p:sp>
          <p:nvSpPr>
            <p:cNvPr id="109597" name="Line 28"/>
            <p:cNvSpPr/>
            <p:nvPr/>
          </p:nvSpPr>
          <p:spPr>
            <a:xfrm flipH="1">
              <a:off x="1122" y="3549"/>
              <a:ext cx="284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2" name="Group 29"/>
          <p:cNvGrpSpPr/>
          <p:nvPr/>
        </p:nvGrpSpPr>
        <p:grpSpPr>
          <a:xfrm>
            <a:off x="3935413" y="4100513"/>
            <a:ext cx="1079500" cy="495300"/>
            <a:chOff x="1746" y="3634"/>
            <a:chExt cx="633" cy="312"/>
          </a:xfrm>
        </p:grpSpPr>
        <p:sp>
          <p:nvSpPr>
            <p:cNvPr id="109594" name="AutoShape 30"/>
            <p:cNvSpPr/>
            <p:nvPr/>
          </p:nvSpPr>
          <p:spPr>
            <a:xfrm>
              <a:off x="1746" y="3677"/>
              <a:ext cx="142" cy="269"/>
            </a:xfrm>
            <a:prstGeom prst="rightBrace">
              <a:avLst>
                <a:gd name="adj1" fmla="val 15786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CN" altLang="en-US" sz="1800" b="0" dirty="0">
                <a:solidFill>
                  <a:srgbClr val="FF33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9595" name="Text Box 31"/>
            <p:cNvSpPr txBox="1"/>
            <p:nvPr/>
          </p:nvSpPr>
          <p:spPr>
            <a:xfrm>
              <a:off x="1888" y="3634"/>
              <a:ext cx="491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12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准备返回参数</a:t>
              </a:r>
            </a:p>
          </p:txBody>
        </p:sp>
      </p:grpSp>
      <p:grpSp>
        <p:nvGrpSpPr>
          <p:cNvPr id="35" name="Group 7"/>
          <p:cNvGrpSpPr/>
          <p:nvPr/>
        </p:nvGrpSpPr>
        <p:grpSpPr>
          <a:xfrm>
            <a:off x="1865313" y="4665663"/>
            <a:ext cx="989012" cy="579437"/>
            <a:chOff x="584" y="3916"/>
            <a:chExt cx="623" cy="365"/>
          </a:xfrm>
        </p:grpSpPr>
        <p:sp>
          <p:nvSpPr>
            <p:cNvPr id="109592" name="AutoShape 8"/>
            <p:cNvSpPr/>
            <p:nvPr/>
          </p:nvSpPr>
          <p:spPr>
            <a:xfrm>
              <a:off x="584" y="3973"/>
              <a:ext cx="170" cy="308"/>
            </a:xfrm>
            <a:prstGeom prst="rightBrace">
              <a:avLst>
                <a:gd name="adj1" fmla="val 15098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CN" altLang="en-US" sz="1800" b="0" dirty="0">
                <a:solidFill>
                  <a:srgbClr val="FF33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9593" name="Text Box 9"/>
            <p:cNvSpPr txBox="1"/>
            <p:nvPr/>
          </p:nvSpPr>
          <p:spPr>
            <a:xfrm>
              <a:off x="725" y="3916"/>
              <a:ext cx="482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85750" indent="-2857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»"/>
                <a:defRPr b="1">
                  <a:solidFill>
                    <a:srgbClr val="A50021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•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l" rtl="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Char char="–"/>
                <a:defRPr sz="1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zh-CN" altLang="en-US" sz="1400" dirty="0">
                  <a:solidFill>
                    <a:srgbClr val="FF33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结束阶段</a:t>
              </a:r>
            </a:p>
          </p:txBody>
        </p:sp>
      </p:grpSp>
      <p:sp>
        <p:nvSpPr>
          <p:cNvPr id="38" name="Text Box 11"/>
          <p:cNvSpPr txBox="1"/>
          <p:nvPr/>
        </p:nvSpPr>
        <p:spPr>
          <a:xfrm>
            <a:off x="7732713" y="403225"/>
            <a:ext cx="9445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caller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帧底</a:t>
            </a:r>
          </a:p>
        </p:txBody>
      </p:sp>
      <p:sp>
        <p:nvSpPr>
          <p:cNvPr id="39" name="Text Box 13"/>
          <p:cNvSpPr txBox="1"/>
          <p:nvPr/>
        </p:nvSpPr>
        <p:spPr>
          <a:xfrm>
            <a:off x="7694613" y="2970213"/>
            <a:ext cx="1079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ESP+4</a:t>
            </a:r>
          </a:p>
        </p:txBody>
      </p:sp>
      <p:sp>
        <p:nvSpPr>
          <p:cNvPr id="40" name="Rectangle 42"/>
          <p:cNvSpPr/>
          <p:nvPr/>
        </p:nvSpPr>
        <p:spPr>
          <a:xfrm>
            <a:off x="2916238" y="4724400"/>
            <a:ext cx="2241550" cy="627063"/>
          </a:xfrm>
          <a:prstGeom prst="rect">
            <a:avLst/>
          </a:prstGeom>
          <a:noFill/>
          <a:ln w="9525">
            <a:noFill/>
          </a:ln>
        </p:spPr>
        <p:txBody>
          <a:bodyPr tIns="0" bIns="0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R[esp] &lt;- R[esp]-4</a:t>
            </a: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M[R[esp]] &lt;-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返回地址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R[eip] &lt;- add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函数首地址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42"/>
          <p:cNvSpPr/>
          <p:nvPr/>
        </p:nvSpPr>
        <p:spPr>
          <a:xfrm>
            <a:off x="2916238" y="5532438"/>
            <a:ext cx="2052637" cy="469900"/>
          </a:xfrm>
          <a:prstGeom prst="rect">
            <a:avLst/>
          </a:prstGeom>
          <a:noFill/>
          <a:ln w="9525">
            <a:noFill/>
          </a:ln>
        </p:spPr>
        <p:txBody>
          <a:bodyPr tIns="0" bIns="0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R[eip] &lt;- R[esp]</a:t>
            </a: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R[esp] &lt;- R[esp]+4</a:t>
            </a:r>
          </a:p>
        </p:txBody>
      </p:sp>
      <p:sp>
        <p:nvSpPr>
          <p:cNvPr id="42" name="Line 43"/>
          <p:cNvSpPr/>
          <p:nvPr/>
        </p:nvSpPr>
        <p:spPr>
          <a:xfrm>
            <a:off x="1865313" y="4852988"/>
            <a:ext cx="2390775" cy="1416050"/>
          </a:xfrm>
          <a:prstGeom prst="line">
            <a:avLst/>
          </a:prstGeom>
          <a:ln w="9525" cap="flat" cmpd="sng">
            <a:solidFill>
              <a:srgbClr val="33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" name="Rectangle 42"/>
          <p:cNvSpPr/>
          <p:nvPr/>
        </p:nvSpPr>
        <p:spPr>
          <a:xfrm>
            <a:off x="3871913" y="6315075"/>
            <a:ext cx="2708275" cy="314325"/>
          </a:xfrm>
          <a:prstGeom prst="rect">
            <a:avLst/>
          </a:prstGeom>
          <a:noFill/>
          <a:ln w="9525">
            <a:noFill/>
          </a:ln>
        </p:spPr>
        <p:txBody>
          <a:bodyPr wrap="none" tIns="0" bIns="0" anchor="ctr" anchorCtr="0"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movl 	%ebp, %esp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空间释放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popl	%ebp</a:t>
            </a:r>
          </a:p>
        </p:txBody>
      </p:sp>
      <p:sp>
        <p:nvSpPr>
          <p:cNvPr id="44" name="Text Box 32"/>
          <p:cNvSpPr txBox="1"/>
          <p:nvPr/>
        </p:nvSpPr>
        <p:spPr>
          <a:xfrm>
            <a:off x="7400925" y="6192838"/>
            <a:ext cx="2744788" cy="665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2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函数开始是什么？</a:t>
            </a:r>
          </a:p>
          <a:p>
            <a:pPr marL="342900" lvl="0" indent="-342900">
              <a:lnSpc>
                <a:spcPct val="10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pushl   %ebp</a:t>
            </a:r>
          </a:p>
          <a:p>
            <a:pPr marL="342900" lvl="0" indent="-342900">
              <a:lnSpc>
                <a:spcPct val="10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movl   %esp, %ebp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13410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中的过程调用（假定</a:t>
            </a:r>
            <a:r>
              <a:rPr lang="en-US" altLang="zh-CN" sz="2600" dirty="0">
                <a:ea typeface="宋体" pitchFamily="2" charset="-122"/>
              </a:rPr>
              <a:t>P</a:t>
            </a:r>
            <a:r>
              <a:rPr lang="zh-CN" altLang="en-US" sz="2600" dirty="0">
                <a:ea typeface="宋体" pitchFamily="2" charset="-122"/>
              </a:rPr>
              <a:t>调用</a:t>
            </a:r>
            <a:r>
              <a:rPr lang="en-US" altLang="zh-CN" sz="2600" dirty="0">
                <a:ea typeface="宋体" pitchFamily="2" charset="-122"/>
              </a:rPr>
              <a:t>Q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280585" name="Rectangle 9"/>
          <p:cNvSpPr/>
          <p:nvPr/>
        </p:nvSpPr>
        <p:spPr>
          <a:xfrm>
            <a:off x="0" y="171450"/>
            <a:ext cx="9144000" cy="6527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>
              <a:lnSpc>
                <a:spcPct val="110000"/>
              </a:lnSpc>
              <a:buNone/>
            </a:pPr>
            <a:endParaRPr lang="zh-CN" altLang="en-US" sz="1600" dirty="0">
              <a:latin typeface="Arial" panose="020B0604020202090204" pitchFamily="34" charset="0"/>
            </a:endParaRP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程序可访问的寄存器组是所有过程共享的资源，给定时刻只能被一个过程使用，因此过程中使用的寄存器的值不能被另一个过程覆盖！</a:t>
            </a: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的寄存器使用约定：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保存寄存器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$s0 ~$s7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的值在从被调用过程返回后还要被用，被调用者需要保留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临时寄存器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$t0 ~$t9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的值在从被调用过程返回后不需要被用（需要的话，由调用者保存） ，被调用者可以随意使用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参数寄存器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$a0~$a3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在从被调用过程返回后不需要被用（需要的话，由调用者保存在栈帧或其他寄存器中），被调用者可以随意使用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全局指针寄存器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$gp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的值不变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帧指针寄存器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用栈指针寄存器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$sp- 4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来初始化</a:t>
            </a: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需在被调用过程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中入栈保存的寄存器（称为被调用者保存）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返回地址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$ra  (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如果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又调用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，则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内容会被破坏，故需保存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)</a:t>
            </a: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保存寄存器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$s0 ~$s7 (Q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返后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可能还会用到，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Q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中用的话就被破坏，故需保存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)</a:t>
            </a:r>
            <a:endParaRPr lang="zh-CN" altLang="en-US" dirty="0">
              <a:latin typeface="Arial" panose="020B0604020202090204" pitchFamily="34" charset="0"/>
              <a:ea typeface="黑体" pitchFamily="49" charset="-122"/>
            </a:endParaRP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除了上述寄存器以外，所有局部数组和结构等复杂类型变量也要入栈保存</a:t>
            </a: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如果局部变量和临时变量发生寄存器溢出（寄存器不够分配），则也要入栈</a:t>
            </a:r>
          </a:p>
          <a:p>
            <a:pPr marL="285750" lvl="0" indent="-285750">
              <a:lnSpc>
                <a:spcPct val="110000"/>
              </a:lnSpc>
              <a:spcBef>
                <a:spcPct val="1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不同架构对（被）调用过程栈帧规定保存的信息可能不同。如：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中返回地址保存在调用过程栈帧中；而</a:t>
            </a:r>
            <a:r>
              <a:rPr lang="en-US" altLang="zh-CN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则在被调用过程栈帧中保存</a:t>
            </a:r>
          </a:p>
          <a:p>
            <a:pPr marL="685800" lvl="1" indent="-228600">
              <a:lnSpc>
                <a:spcPct val="11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中入口参数保存在调用过程栈帧中；</a:t>
            </a:r>
            <a:r>
              <a:rPr lang="en-US" altLang="zh-CN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也在调用过程栈帧中保存</a:t>
            </a:r>
          </a:p>
          <a:p>
            <a:pPr marL="685800" lvl="1" indent="-228600">
              <a:lnSpc>
                <a:spcPct val="115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X86</a:t>
            </a:r>
            <a:r>
              <a:rPr lang="zh-CN" altLang="en-US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中调用过程的帧指针保存在被调用过程栈帧中；</a:t>
            </a:r>
            <a:r>
              <a:rPr lang="en-US" altLang="zh-CN" dirty="0">
                <a:solidFill>
                  <a:srgbClr val="3C7845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solidFill>
                  <a:srgbClr val="3C7845"/>
                </a:solidFill>
                <a:latin typeface="Arial" panose="020B0604020202090204" pitchFamily="34" charset="0"/>
                <a:ea typeface="黑体" pitchFamily="49" charset="-122"/>
              </a:rPr>
              <a:t>也一样。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0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05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0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05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05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05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05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05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05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05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805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805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05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05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058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过程调用时</a:t>
            </a:r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中的栈和栈帧的变化 </a:t>
            </a:r>
            <a:endParaRPr lang="en-US" altLang="zh-CN" sz="2600" dirty="0">
              <a:ea typeface="宋体" pitchFamily="2" charset="-122"/>
            </a:endParaRPr>
          </a:p>
        </p:txBody>
      </p:sp>
      <p:pic>
        <p:nvPicPr>
          <p:cNvPr id="7373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7" y="671513"/>
            <a:ext cx="3525837" cy="6157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698500"/>
            <a:ext cx="3235325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6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575" y="558800"/>
            <a:ext cx="2892425" cy="6270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/>
          </p:cNvSpPr>
          <p:nvPr>
            <p:ph type="title" idx="4294967295"/>
          </p:nvPr>
        </p:nvSpPr>
        <p:spPr>
          <a:xfrm>
            <a:off x="800100" y="120650"/>
            <a:ext cx="5307013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Example in C: swap</a:t>
            </a:r>
            <a:endParaRPr lang="zh-CN" altLang="en-US" sz="1400" dirty="0">
              <a:solidFill>
                <a:schemeClr val="accent1"/>
              </a:solidFill>
              <a:ea typeface="宋体" pitchFamily="2" charset="-122"/>
            </a:endParaRPr>
          </a:p>
        </p:txBody>
      </p:sp>
      <p:sp>
        <p:nvSpPr>
          <p:cNvPr id="112643" name="Rectangle 3"/>
          <p:cNvSpPr>
            <a:spLocks noGrp="1"/>
          </p:cNvSpPr>
          <p:nvPr>
            <p:ph type="body" idx="4294967295"/>
          </p:nvPr>
        </p:nvSpPr>
        <p:spPr>
          <a:xfrm>
            <a:off x="273050" y="1239838"/>
            <a:ext cx="2371725" cy="22796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swap(int v[ ], int k)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{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   int temp;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   temp = v[k];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   v[k] = v[k+1];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   v[k+1] = temp;</a:t>
            </a:r>
          </a:p>
          <a:p>
            <a:pPr marL="203200" indent="-203200"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90204" pitchFamily="34" charset="0"/>
              </a:rPr>
              <a:t>}</a:t>
            </a:r>
          </a:p>
        </p:txBody>
      </p:sp>
      <p:sp>
        <p:nvSpPr>
          <p:cNvPr id="112644" name="Rectangle 4"/>
          <p:cNvSpPr/>
          <p:nvPr/>
        </p:nvSpPr>
        <p:spPr>
          <a:xfrm>
            <a:off x="211138" y="595313"/>
            <a:ext cx="8507412" cy="531812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 marL="203200" indent="-203200">
              <a:lnSpc>
                <a:spcPct val="85000"/>
              </a:lnSpc>
              <a:spcBef>
                <a:spcPct val="5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假定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作为一个过程被调用，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temp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对应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$t0,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变量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v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和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k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分别对应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$s0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$s1</a:t>
            </a:r>
          </a:p>
          <a:p>
            <a:pPr marL="203200" indent="-203200">
              <a:lnSpc>
                <a:spcPct val="85000"/>
              </a:lnSpc>
              <a:spcBef>
                <a:spcPct val="5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写出对应的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汇编代码。</a:t>
            </a:r>
          </a:p>
        </p:txBody>
      </p:sp>
      <p:sp>
        <p:nvSpPr>
          <p:cNvPr id="242693" name="Rectangle 5"/>
          <p:cNvSpPr/>
          <p:nvPr/>
        </p:nvSpPr>
        <p:spPr>
          <a:xfrm>
            <a:off x="2627313" y="1447800"/>
            <a:ext cx="6251575" cy="17399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sll	$s2, $a1, 2  	; mulitply k by 4	</a:t>
            </a:r>
          </a:p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addu	$s2 $s2, $a0	; address of v[k]	</a:t>
            </a:r>
          </a:p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lw	$t0, 0($s2)	; load v[k]	</a:t>
            </a:r>
          </a:p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lw	$s3, 4($s2)	; load v[k+1]	</a:t>
            </a:r>
          </a:p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sw	$s3, 0($s2)	; store v[k+1] into v[k]	</a:t>
            </a:r>
          </a:p>
          <a:p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sw	$t0, 4($s2)	; store old v[k] into v[k+1]</a:t>
            </a:r>
            <a:endParaRPr lang="en-US" altLang="zh-CN" sz="1800" b="0" dirty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242694" name="Text Box 6"/>
          <p:cNvSpPr txBox="1"/>
          <p:nvPr/>
        </p:nvSpPr>
        <p:spPr>
          <a:xfrm>
            <a:off x="0" y="4922838"/>
            <a:ext cx="6910388" cy="18002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问题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：若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中不保存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$s2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，则会发生什么情况？</a:t>
            </a:r>
          </a:p>
          <a:p>
            <a:pPr>
              <a:spcBef>
                <a:spcPct val="15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     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caller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中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$s2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的值被破坏！须在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中保存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$s2</a:t>
            </a:r>
            <a:endParaRPr lang="zh-CN" altLang="en-US" sz="2000" dirty="0">
              <a:solidFill>
                <a:schemeClr val="accent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spcBef>
                <a:spcPct val="15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问题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：若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中不保存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$t0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，则会发生什么情况？</a:t>
            </a:r>
          </a:p>
          <a:p>
            <a:pPr>
              <a:spcBef>
                <a:spcPct val="15000"/>
              </a:spcBef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      $t0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约定由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caller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保存，故无须在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栈帧中保存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$t0</a:t>
            </a:r>
          </a:p>
          <a:p>
            <a:pPr>
              <a:spcBef>
                <a:spcPct val="150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问题</a:t>
            </a:r>
            <a:r>
              <a:rPr lang="en-US" altLang="zh-CN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3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：程序的执行轨迹是什么？</a:t>
            </a:r>
          </a:p>
        </p:txBody>
      </p:sp>
      <p:sp>
        <p:nvSpPr>
          <p:cNvPr id="242695" name="Text Box 7"/>
          <p:cNvSpPr txBox="1"/>
          <p:nvPr/>
        </p:nvSpPr>
        <p:spPr>
          <a:xfrm>
            <a:off x="293688" y="3578225"/>
            <a:ext cx="5621337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在调用过程中用指令“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jal swap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”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进行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调用</a:t>
            </a:r>
          </a:p>
        </p:txBody>
      </p:sp>
      <p:sp>
        <p:nvSpPr>
          <p:cNvPr id="242696" name="Text Box 8"/>
          <p:cNvSpPr txBox="1"/>
          <p:nvPr/>
        </p:nvSpPr>
        <p:spPr>
          <a:xfrm>
            <a:off x="346075" y="3949700"/>
            <a:ext cx="4460875" cy="10064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jal  --- jump and link (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跳转并链接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)</a:t>
            </a:r>
          </a:p>
          <a:p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	$31 = PC+4     ; $31=$ra</a:t>
            </a:r>
          </a:p>
          <a:p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	goto swap</a:t>
            </a:r>
          </a:p>
        </p:txBody>
      </p:sp>
      <p:sp>
        <p:nvSpPr>
          <p:cNvPr id="242705" name="Text Box 17"/>
          <p:cNvSpPr txBox="1"/>
          <p:nvPr/>
        </p:nvSpPr>
        <p:spPr>
          <a:xfrm>
            <a:off x="3289300" y="977900"/>
            <a:ext cx="3033713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问题：上述假设有何问题？</a:t>
            </a:r>
          </a:p>
        </p:txBody>
      </p:sp>
      <p:sp>
        <p:nvSpPr>
          <p:cNvPr id="242706" name="Text Box 18"/>
          <p:cNvSpPr txBox="1"/>
          <p:nvPr/>
        </p:nvSpPr>
        <p:spPr>
          <a:xfrm>
            <a:off x="6116638" y="1008063"/>
            <a:ext cx="2800350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参数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v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k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应该在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$a0</a:t>
            </a:r>
            <a:r>
              <a:rPr lang="zh-CN" altLang="en-US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$a1</a:t>
            </a:r>
            <a:endParaRPr lang="zh-CN" altLang="en-US" sz="1800" dirty="0">
              <a:solidFill>
                <a:schemeClr val="accent1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grpSp>
        <p:nvGrpSpPr>
          <p:cNvPr id="112651" name="Group 26"/>
          <p:cNvGrpSpPr/>
          <p:nvPr/>
        </p:nvGrpSpPr>
        <p:grpSpPr>
          <a:xfrm>
            <a:off x="5016500" y="3806825"/>
            <a:ext cx="3427413" cy="2595563"/>
            <a:chOff x="3115" y="2113"/>
            <a:chExt cx="1956" cy="1635"/>
          </a:xfrm>
        </p:grpSpPr>
        <p:sp>
          <p:nvSpPr>
            <p:cNvPr id="112659" name="Line 11"/>
            <p:cNvSpPr/>
            <p:nvPr/>
          </p:nvSpPr>
          <p:spPr>
            <a:xfrm>
              <a:off x="4195" y="3408"/>
              <a:ext cx="1" cy="22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ysDot"/>
              <a:headEnd type="none" w="med" len="med"/>
              <a:tailEnd type="none" w="med" len="med"/>
            </a:ln>
          </p:spPr>
        </p:sp>
        <p:grpSp>
          <p:nvGrpSpPr>
            <p:cNvPr id="112660" name="Group 24"/>
            <p:cNvGrpSpPr/>
            <p:nvPr/>
          </p:nvGrpSpPr>
          <p:grpSpPr>
            <a:xfrm>
              <a:off x="3115" y="2113"/>
              <a:ext cx="1956" cy="1635"/>
              <a:chOff x="3115" y="2113"/>
              <a:chExt cx="1956" cy="1635"/>
            </a:xfrm>
          </p:grpSpPr>
          <p:sp>
            <p:nvSpPr>
              <p:cNvPr id="112661" name="Text Box 9"/>
              <p:cNvSpPr txBox="1"/>
              <p:nvPr/>
            </p:nvSpPr>
            <p:spPr>
              <a:xfrm>
                <a:off x="3115" y="2143"/>
                <a:ext cx="1956" cy="160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63500" tIns="25400" rIns="63500" bIns="254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zh-CN" sz="1800" dirty="0">
                  <a:latin typeface="Arial" panose="020B060402020209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altLang="zh-CN" sz="1800" dirty="0">
                    <a:latin typeface="Arial" panose="020B0604020202090204" pitchFamily="34" charset="0"/>
                  </a:rPr>
                  <a:t>                  </a:t>
                </a:r>
                <a:r>
                  <a:rPr lang="en-US" altLang="zh-CN" sz="2000" dirty="0">
                    <a:latin typeface="Arial" panose="020B0604020202090204" pitchFamily="34" charset="0"/>
                    <a:ea typeface="黑体" pitchFamily="49" charset="-122"/>
                  </a:rPr>
                  <a:t>sub $s2,$s3,$s1</a:t>
                </a:r>
              </a:p>
              <a:p>
                <a:pPr>
                  <a:spcBef>
                    <a:spcPct val="20000"/>
                  </a:spcBef>
                </a:pPr>
                <a:r>
                  <a:rPr lang="zh-CN" altLang="en-US" sz="2000" dirty="0">
                    <a:latin typeface="Arial" panose="020B0604020202090204" pitchFamily="34" charset="0"/>
                    <a:ea typeface="黑体" pitchFamily="49" charset="-122"/>
                  </a:rPr>
                  <a:t>		</a:t>
                </a:r>
              </a:p>
              <a:p>
                <a:r>
                  <a:rPr lang="en-US" altLang="zh-CN" sz="2000" dirty="0">
                    <a:latin typeface="Arial" panose="020B0604020202090204" pitchFamily="34" charset="0"/>
                    <a:ea typeface="黑体" pitchFamily="49" charset="-122"/>
                  </a:rPr>
                  <a:t>                  </a:t>
                </a:r>
                <a:r>
                  <a:rPr lang="en-US" altLang="zh-CN" sz="2000" dirty="0">
                    <a:solidFill>
                      <a:srgbClr val="C51915"/>
                    </a:solidFill>
                    <a:latin typeface="Arial" panose="020B0604020202090204" pitchFamily="34" charset="0"/>
                    <a:ea typeface="黑体" pitchFamily="49" charset="-122"/>
                  </a:rPr>
                  <a:t>jal   swap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latin typeface="Arial" panose="020B0604020202090204" pitchFamily="34" charset="0"/>
                    <a:ea typeface="黑体" pitchFamily="49" charset="-122"/>
                  </a:rPr>
                  <a:t>	   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latin typeface="Arial" panose="020B0604020202090204" pitchFamily="34" charset="0"/>
                    <a:ea typeface="黑体" pitchFamily="49" charset="-122"/>
                  </a:rPr>
                  <a:t>                 add $s3,$s2,$t0</a:t>
                </a:r>
                <a:r>
                  <a:rPr lang="zh-CN" altLang="en-US" sz="2000" dirty="0">
                    <a:latin typeface="Arial" panose="020B0604020202090204" pitchFamily="34" charset="0"/>
                    <a:ea typeface="黑体" pitchFamily="49" charset="-122"/>
                  </a:rPr>
                  <a:t> </a:t>
                </a:r>
              </a:p>
              <a:p>
                <a:pPr>
                  <a:spcBef>
                    <a:spcPct val="50000"/>
                  </a:spcBef>
                </a:pPr>
                <a:endParaRPr lang="en-US" altLang="zh-CN" sz="2000" dirty="0">
                  <a:latin typeface="Arial" panose="020B0604020202090204" pitchFamily="34" charset="0"/>
                  <a:ea typeface="黑体" pitchFamily="49" charset="-122"/>
                </a:endParaRPr>
              </a:p>
            </p:txBody>
          </p:sp>
          <p:sp>
            <p:nvSpPr>
              <p:cNvPr id="112662" name="Line 10"/>
              <p:cNvSpPr/>
              <p:nvPr/>
            </p:nvSpPr>
            <p:spPr>
              <a:xfrm>
                <a:off x="4175" y="2113"/>
                <a:ext cx="1" cy="220"/>
              </a:xfrm>
              <a:prstGeom prst="line">
                <a:avLst/>
              </a:prstGeom>
              <a:ln w="38100" cap="flat" cmpd="sng">
                <a:solidFill>
                  <a:srgbClr val="0033CC"/>
                </a:solidFill>
                <a:prstDash val="sysDot"/>
                <a:headEnd type="none" w="med" len="med"/>
                <a:tailEnd type="none" w="med" len="med"/>
              </a:ln>
            </p:spPr>
          </p:sp>
          <p:sp>
            <p:nvSpPr>
              <p:cNvPr id="112663" name="Line 14"/>
              <p:cNvSpPr/>
              <p:nvPr/>
            </p:nvSpPr>
            <p:spPr>
              <a:xfrm>
                <a:off x="4171" y="2556"/>
                <a:ext cx="1" cy="220"/>
              </a:xfrm>
              <a:prstGeom prst="line">
                <a:avLst/>
              </a:prstGeom>
              <a:ln w="38100" cap="flat" cmpd="sng">
                <a:solidFill>
                  <a:srgbClr val="0033CC"/>
                </a:solidFill>
                <a:prstDash val="sysDot"/>
                <a:headEnd type="none" w="med" len="med"/>
                <a:tailEnd type="none" w="med" len="med"/>
              </a:ln>
            </p:spPr>
          </p:sp>
          <p:sp>
            <p:nvSpPr>
              <p:cNvPr id="112664" name="Line 23"/>
              <p:cNvSpPr/>
              <p:nvPr/>
            </p:nvSpPr>
            <p:spPr>
              <a:xfrm>
                <a:off x="4181" y="2956"/>
                <a:ext cx="1" cy="220"/>
              </a:xfrm>
              <a:prstGeom prst="line">
                <a:avLst/>
              </a:prstGeom>
              <a:ln w="38100" cap="flat" cmpd="sng">
                <a:solidFill>
                  <a:srgbClr val="0033CC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</p:grpSp>
      <p:sp>
        <p:nvSpPr>
          <p:cNvPr id="112652" name="Rectangle 30"/>
          <p:cNvSpPr/>
          <p:nvPr/>
        </p:nvSpPr>
        <p:spPr>
          <a:xfrm>
            <a:off x="6283325" y="3298825"/>
            <a:ext cx="1179513" cy="355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调用程序</a:t>
            </a:r>
          </a:p>
        </p:txBody>
      </p:sp>
      <p:grpSp>
        <p:nvGrpSpPr>
          <p:cNvPr id="5" name="Group 34"/>
          <p:cNvGrpSpPr/>
          <p:nvPr/>
        </p:nvGrpSpPr>
        <p:grpSpPr>
          <a:xfrm>
            <a:off x="7192963" y="3805238"/>
            <a:ext cx="1951037" cy="1839912"/>
            <a:chOff x="4531" y="2388"/>
            <a:chExt cx="1229" cy="1159"/>
          </a:xfrm>
        </p:grpSpPr>
        <p:sp>
          <p:nvSpPr>
            <p:cNvPr id="112654" name="Line 20"/>
            <p:cNvSpPr/>
            <p:nvPr/>
          </p:nvSpPr>
          <p:spPr>
            <a:xfrm flipV="1">
              <a:off x="4634" y="2684"/>
              <a:ext cx="801" cy="4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655" name="Line 21"/>
            <p:cNvSpPr/>
            <p:nvPr/>
          </p:nvSpPr>
          <p:spPr>
            <a:xfrm>
              <a:off x="5460" y="2720"/>
              <a:ext cx="1" cy="6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656" name="Line 22"/>
            <p:cNvSpPr/>
            <p:nvPr/>
          </p:nvSpPr>
          <p:spPr>
            <a:xfrm flipH="1" flipV="1">
              <a:off x="4531" y="3307"/>
              <a:ext cx="738" cy="1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657" name="Text Box 27"/>
            <p:cNvSpPr txBox="1"/>
            <p:nvPr/>
          </p:nvSpPr>
          <p:spPr>
            <a:xfrm>
              <a:off x="4998" y="2388"/>
              <a:ext cx="762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swap</a:t>
              </a:r>
              <a:r>
                <a:rPr lang="zh-CN" altLang="en-US" sz="1800" dirty="0">
                  <a:solidFill>
                    <a:schemeClr val="accent1"/>
                  </a:solidFill>
                  <a:latin typeface="Arial" panose="020B0604020202090204" pitchFamily="34" charset="0"/>
                </a:rPr>
                <a:t>程序</a:t>
              </a:r>
            </a:p>
          </p:txBody>
        </p:sp>
        <p:sp>
          <p:nvSpPr>
            <p:cNvPr id="112658" name="Rectangle 31"/>
            <p:cNvSpPr/>
            <p:nvPr/>
          </p:nvSpPr>
          <p:spPr>
            <a:xfrm>
              <a:off x="5250" y="3342"/>
              <a:ext cx="463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dirty="0">
                  <a:solidFill>
                    <a:srgbClr val="C51915"/>
                  </a:solidFill>
                  <a:latin typeface="Arial" panose="020B0604020202090204" pitchFamily="34" charset="0"/>
                </a:rPr>
                <a:t> </a:t>
              </a:r>
              <a:r>
                <a:rPr lang="en-US" altLang="zh-CN" sz="1800" dirty="0">
                  <a:solidFill>
                    <a:srgbClr val="C51915"/>
                  </a:solidFill>
                  <a:latin typeface="Arial" panose="020B0604020202090204" pitchFamily="34" charset="0"/>
                </a:rPr>
                <a:t>jr $ra</a:t>
              </a:r>
              <a:endParaRPr lang="zh-CN" altLang="en-US" sz="1800" dirty="0">
                <a:solidFill>
                  <a:srgbClr val="C51915"/>
                </a:solidFill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2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2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2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2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2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3" grpId="0"/>
      <p:bldP spid="242695" grpId="0"/>
      <p:bldP spid="242696" grpId="0"/>
      <p:bldP spid="242705" grpId="0"/>
      <p:bldP spid="24270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/>
          </p:cNvSpPr>
          <p:nvPr>
            <p:ph type="title"/>
          </p:nvPr>
        </p:nvSpPr>
        <p:spPr>
          <a:xfrm>
            <a:off x="563563" y="52388"/>
            <a:ext cx="5867400" cy="74771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swap: MIPS</a:t>
            </a:r>
            <a:r>
              <a:rPr lang="zh-CN" altLang="en-US" sz="2600" dirty="0">
                <a:ea typeface="宋体" pitchFamily="2" charset="-122"/>
              </a:rPr>
              <a:t>中的一个过程示例</a:t>
            </a:r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495300" y="447675"/>
            <a:ext cx="8420100" cy="4957763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swap:	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   addi	$sp,$sp, –12	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栈增长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3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个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   sw	$31, 8($sp)	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返回地址入栈	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	sw	$s2, 4($sp)  	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保留寄存器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$s2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入栈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   sw	$s3, 0($sp) 	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保留寄存器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$s3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入栈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   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	....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    </a:t>
            </a:r>
          </a:p>
          <a:p>
            <a:pPr marL="203200" indent="-203200">
              <a:buNone/>
            </a:pPr>
            <a:endParaRPr lang="en-US" altLang="zh-CN" sz="1800" dirty="0">
              <a:latin typeface="Arial" panose="020B0604020202090204" pitchFamily="34" charset="0"/>
            </a:endParaRP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   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    lw	$s3, 0($sp)	 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恢复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$s3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    lw	$s2, 4($sp) 	 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恢复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$s2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  	 lw	$31, 8($sp)	 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恢复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$31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）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	addi	$sp,$sp, 12	 ; 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退栈 	</a:t>
            </a:r>
          </a:p>
          <a:p>
            <a:pPr marL="203200" indent="-203200">
              <a:buNone/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	 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jr	$31		 ; 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从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返回到调用过程</a:t>
            </a:r>
            <a:r>
              <a:rPr lang="zh-CN" altLang="en-US" b="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	</a:t>
            </a:r>
          </a:p>
        </p:txBody>
      </p:sp>
      <p:sp>
        <p:nvSpPr>
          <p:cNvPr id="245764" name="Rectangle 4"/>
          <p:cNvSpPr/>
          <p:nvPr/>
        </p:nvSpPr>
        <p:spPr>
          <a:xfrm>
            <a:off x="3046413" y="2124075"/>
            <a:ext cx="5683250" cy="157162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sll	$s2, $a1, 2  	; mulitply k by 4	</a:t>
            </a:r>
          </a:p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addu	$s2, $s2, $a0	; address of v[k]	</a:t>
            </a:r>
          </a:p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lw	$t0, 0($s2)	; load v[k]	</a:t>
            </a:r>
          </a:p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lw	$s3, 4($s2)	; load v[k+1]	</a:t>
            </a:r>
          </a:p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sw	$s3, 0($s2)	; store v[k+1] into v[k]	</a:t>
            </a:r>
          </a:p>
          <a:p>
            <a:r>
              <a:rPr lang="en-US" altLang="zh-CN" sz="1600" dirty="0">
                <a:solidFill>
                  <a:srgbClr val="A50021"/>
                </a:solidFill>
                <a:latin typeface="Arial" panose="020B0604020202090204" pitchFamily="34" charset="0"/>
              </a:rPr>
              <a:t>sw	$t0, 4($s2)	; store old v[k] into v[k+1]</a:t>
            </a:r>
          </a:p>
        </p:txBody>
      </p:sp>
      <p:sp>
        <p:nvSpPr>
          <p:cNvPr id="114693" name="Line 5"/>
          <p:cNvSpPr/>
          <p:nvPr/>
        </p:nvSpPr>
        <p:spPr>
          <a:xfrm flipH="1">
            <a:off x="1092200" y="2428875"/>
            <a:ext cx="1971675" cy="274638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766" name="Text Box 6"/>
          <p:cNvSpPr txBox="1"/>
          <p:nvPr/>
        </p:nvSpPr>
        <p:spPr>
          <a:xfrm>
            <a:off x="155575" y="5383213"/>
            <a:ext cx="7477125" cy="14224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问题：是否一定要将返回地址（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$31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）保存到栈中？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如果</a:t>
            </a:r>
            <a:r>
              <a:rPr lang="en-US" altLang="zh-CN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rgbClr val="4B9556"/>
                </a:solidFill>
                <a:latin typeface="Arial" panose="020B0604020202090204" pitchFamily="34" charset="0"/>
                <a:ea typeface="黑体" pitchFamily="49" charset="-122"/>
              </a:rPr>
              <a:t>是叶子过程，则无需保存返回地址到栈中，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为什么？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如果将所有内部寄存器都用临时寄存器 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(</a:t>
            </a: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如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$t1</a:t>
            </a: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等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)</a:t>
            </a: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，则叶子过程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swap</a:t>
            </a:r>
            <a:r>
              <a:rPr lang="zh-CN" altLang="en-US" sz="2000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的栈帧为空，且上述黑色指令都可去掉</a:t>
            </a:r>
          </a:p>
        </p:txBody>
      </p:sp>
      <p:grpSp>
        <p:nvGrpSpPr>
          <p:cNvPr id="2" name="Group 27"/>
          <p:cNvGrpSpPr/>
          <p:nvPr/>
        </p:nvGrpSpPr>
        <p:grpSpPr>
          <a:xfrm>
            <a:off x="5305425" y="530225"/>
            <a:ext cx="3460750" cy="1598613"/>
            <a:chOff x="3342" y="334"/>
            <a:chExt cx="2180" cy="1007"/>
          </a:xfrm>
        </p:grpSpPr>
        <p:grpSp>
          <p:nvGrpSpPr>
            <p:cNvPr id="114698" name="Group 9"/>
            <p:cNvGrpSpPr/>
            <p:nvPr/>
          </p:nvGrpSpPr>
          <p:grpSpPr>
            <a:xfrm>
              <a:off x="4094" y="334"/>
              <a:ext cx="813" cy="1007"/>
              <a:chOff x="3602" y="3162"/>
              <a:chExt cx="813" cy="870"/>
            </a:xfrm>
          </p:grpSpPr>
          <p:sp>
            <p:nvSpPr>
              <p:cNvPr id="114713" name="Line 10"/>
              <p:cNvSpPr/>
              <p:nvPr/>
            </p:nvSpPr>
            <p:spPr>
              <a:xfrm>
                <a:off x="3602" y="3163"/>
                <a:ext cx="0" cy="869"/>
              </a:xfrm>
              <a:prstGeom prst="line">
                <a:avLst/>
              </a:prstGeom>
              <a:ln w="28575" cap="flat" cmpd="sng">
                <a:solidFill>
                  <a:srgbClr val="A5002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4714" name="Line 11"/>
              <p:cNvSpPr/>
              <p:nvPr/>
            </p:nvSpPr>
            <p:spPr>
              <a:xfrm>
                <a:off x="4415" y="3162"/>
                <a:ext cx="0" cy="869"/>
              </a:xfrm>
              <a:prstGeom prst="line">
                <a:avLst/>
              </a:prstGeom>
              <a:ln w="28575" cap="flat" cmpd="sng">
                <a:solidFill>
                  <a:srgbClr val="A5002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4699" name="Line 12"/>
            <p:cNvSpPr/>
            <p:nvPr/>
          </p:nvSpPr>
          <p:spPr>
            <a:xfrm>
              <a:off x="4085" y="583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700" name="Line 13"/>
            <p:cNvSpPr/>
            <p:nvPr/>
          </p:nvSpPr>
          <p:spPr>
            <a:xfrm>
              <a:off x="4086" y="782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701" name="Line 14"/>
            <p:cNvSpPr/>
            <p:nvPr/>
          </p:nvSpPr>
          <p:spPr>
            <a:xfrm>
              <a:off x="4087" y="960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702" name="Text Box 15"/>
            <p:cNvSpPr txBox="1"/>
            <p:nvPr/>
          </p:nvSpPr>
          <p:spPr>
            <a:xfrm>
              <a:off x="4295" y="767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$s2</a:t>
              </a:r>
            </a:p>
          </p:txBody>
        </p:sp>
        <p:sp>
          <p:nvSpPr>
            <p:cNvPr id="114703" name="Text Box 16"/>
            <p:cNvSpPr txBox="1"/>
            <p:nvPr/>
          </p:nvSpPr>
          <p:spPr>
            <a:xfrm>
              <a:off x="4294" y="583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$ra</a:t>
              </a:r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14704" name="Text Box 17"/>
            <p:cNvSpPr txBox="1"/>
            <p:nvPr/>
          </p:nvSpPr>
          <p:spPr>
            <a:xfrm>
              <a:off x="3342" y="476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A50021"/>
                  </a:solidFill>
                  <a:latin typeface="Arial" panose="020B0604020202090204" pitchFamily="34" charset="0"/>
                </a:rPr>
                <a:t>$sp</a:t>
              </a:r>
              <a:endParaRPr lang="zh-CN" altLang="en-US" sz="1800" dirty="0">
                <a:solidFill>
                  <a:srgbClr val="A50021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14705" name="Line 18"/>
            <p:cNvSpPr/>
            <p:nvPr/>
          </p:nvSpPr>
          <p:spPr>
            <a:xfrm>
              <a:off x="3701" y="606"/>
              <a:ext cx="37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4706" name="Text Box 19"/>
            <p:cNvSpPr txBox="1"/>
            <p:nvPr/>
          </p:nvSpPr>
          <p:spPr>
            <a:xfrm>
              <a:off x="4953" y="335"/>
              <a:ext cx="522" cy="186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dirty="0">
                  <a:latin typeface="Arial" panose="020B0604020202090204" pitchFamily="34" charset="0"/>
                </a:rPr>
                <a:t>高地址</a:t>
              </a:r>
            </a:p>
          </p:txBody>
        </p:sp>
        <p:sp>
          <p:nvSpPr>
            <p:cNvPr id="114707" name="Line 21"/>
            <p:cNvSpPr/>
            <p:nvPr/>
          </p:nvSpPr>
          <p:spPr>
            <a:xfrm>
              <a:off x="5012" y="562"/>
              <a:ext cx="0" cy="768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4708" name="Text Box 22"/>
            <p:cNvSpPr txBox="1"/>
            <p:nvPr/>
          </p:nvSpPr>
          <p:spPr>
            <a:xfrm>
              <a:off x="5029" y="617"/>
              <a:ext cx="493" cy="55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</a:rPr>
                <a:t>栈增长的方向</a:t>
              </a:r>
            </a:p>
          </p:txBody>
        </p:sp>
        <p:sp>
          <p:nvSpPr>
            <p:cNvPr id="114709" name="Line 23"/>
            <p:cNvSpPr/>
            <p:nvPr/>
          </p:nvSpPr>
          <p:spPr>
            <a:xfrm flipH="1">
              <a:off x="4427" y="363"/>
              <a:ext cx="6" cy="183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4710" name="Line 24"/>
            <p:cNvSpPr/>
            <p:nvPr/>
          </p:nvSpPr>
          <p:spPr>
            <a:xfrm>
              <a:off x="4097" y="1150"/>
              <a:ext cx="805" cy="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711" name="Text Box 25"/>
            <p:cNvSpPr txBox="1"/>
            <p:nvPr/>
          </p:nvSpPr>
          <p:spPr>
            <a:xfrm>
              <a:off x="4305" y="963"/>
              <a:ext cx="484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$s3</a:t>
              </a:r>
            </a:p>
          </p:txBody>
        </p:sp>
        <p:sp>
          <p:nvSpPr>
            <p:cNvPr id="114712" name="Line 26"/>
            <p:cNvSpPr/>
            <p:nvPr/>
          </p:nvSpPr>
          <p:spPr>
            <a:xfrm>
              <a:off x="3666" y="672"/>
              <a:ext cx="408" cy="498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45788" name="Text Box 28"/>
          <p:cNvSpPr txBox="1"/>
          <p:nvPr/>
        </p:nvSpPr>
        <p:spPr>
          <a:xfrm>
            <a:off x="7469188" y="5521325"/>
            <a:ext cx="1436687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的内容不会被破坏！</a:t>
            </a:r>
          </a:p>
        </p:txBody>
      </p:sp>
      <p:sp>
        <p:nvSpPr>
          <p:cNvPr id="75803" name="Text Box 27"/>
          <p:cNvSpPr txBox="1"/>
          <p:nvPr/>
        </p:nvSpPr>
        <p:spPr>
          <a:xfrm>
            <a:off x="6313488" y="3968750"/>
            <a:ext cx="2359025" cy="9652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如果过程体中又调用了其他函数，则 </a:t>
            </a:r>
            <a:r>
              <a:rPr lang="en-US" altLang="zh-CN" sz="2000" dirty="0">
                <a:latin typeface="Arial" panose="020B0604020202090204" pitchFamily="34" charset="0"/>
              </a:rPr>
              <a:t>$</a:t>
            </a:r>
            <a:r>
              <a:rPr lang="zh-CN" altLang="en-US" sz="2000" dirty="0">
                <a:latin typeface="Arial" panose="020B0604020202090204" pitchFamily="34" charset="0"/>
              </a:rPr>
              <a:t>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ra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是否需保存？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7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4" grpId="0" animBg="1"/>
      <p:bldP spid="245788" grpId="0"/>
      <p:bldP spid="7580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9941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Example</a:t>
            </a:r>
            <a:r>
              <a:rPr lang="zh-CN" altLang="en-US" sz="2600" dirty="0">
                <a:ea typeface="宋体" pitchFamily="2" charset="-122"/>
              </a:rPr>
              <a:t>：过程调用</a:t>
            </a:r>
          </a:p>
        </p:txBody>
      </p:sp>
      <p:sp>
        <p:nvSpPr>
          <p:cNvPr id="116739" name="Rectangle 3"/>
          <p:cNvSpPr>
            <a:spLocks noGrp="1"/>
          </p:cNvSpPr>
          <p:nvPr>
            <p:ph idx="1"/>
          </p:nvPr>
        </p:nvSpPr>
        <p:spPr>
          <a:xfrm>
            <a:off x="212725" y="779463"/>
            <a:ext cx="8229600" cy="52800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void set_array(int num)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           int i, array[10];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           for (i = 0; i  &lt; 10; i ++) 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	     arrar[i] = </a:t>
            </a:r>
            <a:r>
              <a:rPr lang="en-US" altLang="zh-CN" dirty="0">
                <a:solidFill>
                  <a:srgbClr val="EE3900"/>
                </a:solidFill>
                <a:latin typeface="Times New Roman" panose="02020603050405020304" pitchFamily="18" charset="0"/>
              </a:rPr>
              <a:t>compare (num, i)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	}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int compare (int a, int b)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	if ( </a:t>
            </a:r>
            <a:r>
              <a:rPr lang="en-US" altLang="zh-CN" dirty="0">
                <a:solidFill>
                  <a:srgbClr val="EE3900"/>
                </a:solidFill>
                <a:latin typeface="Times New Roman" panose="02020603050405020304" pitchFamily="18" charset="0"/>
              </a:rPr>
              <a:t>sub (a, b)</a:t>
            </a:r>
            <a:r>
              <a:rPr lang="en-US" altLang="zh-CN" dirty="0">
                <a:latin typeface="Times New Roman" panose="02020603050405020304" pitchFamily="18" charset="0"/>
              </a:rPr>
              <a:t> &gt;= 0)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	      return 1;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           else      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 	      return 0;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}     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int sub (int a, int b)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     return a-b;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Times New Roman" panose="02020603050405020304" pitchFamily="18" charset="0"/>
              <a:buChar char="‫"/>
            </a:pP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6740" name="Line 4"/>
          <p:cNvSpPr/>
          <p:nvPr/>
        </p:nvSpPr>
        <p:spPr>
          <a:xfrm flipH="1">
            <a:off x="1577975" y="2251075"/>
            <a:ext cx="1352550" cy="8001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6741" name="Line 5"/>
          <p:cNvSpPr/>
          <p:nvPr/>
        </p:nvSpPr>
        <p:spPr>
          <a:xfrm flipH="1">
            <a:off x="1020763" y="3836988"/>
            <a:ext cx="733425" cy="1373187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6"/>
          <p:cNvGrpSpPr/>
          <p:nvPr/>
        </p:nvGrpSpPr>
        <p:grpSpPr>
          <a:xfrm>
            <a:off x="4605338" y="1962150"/>
            <a:ext cx="3608387" cy="733425"/>
            <a:chOff x="2901" y="1236"/>
            <a:chExt cx="2273" cy="462"/>
          </a:xfrm>
        </p:grpSpPr>
        <p:sp>
          <p:nvSpPr>
            <p:cNvPr id="116750" name="Text Box 7"/>
            <p:cNvSpPr txBox="1"/>
            <p:nvPr/>
          </p:nvSpPr>
          <p:spPr>
            <a:xfrm>
              <a:off x="3418" y="1236"/>
              <a:ext cx="1756" cy="46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set_array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是调用过程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compare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是被调用过程</a:t>
              </a:r>
            </a:p>
          </p:txBody>
        </p:sp>
        <p:sp>
          <p:nvSpPr>
            <p:cNvPr id="116751" name="Line 8"/>
            <p:cNvSpPr/>
            <p:nvPr/>
          </p:nvSpPr>
          <p:spPr>
            <a:xfrm flipH="1">
              <a:off x="2901" y="1489"/>
              <a:ext cx="522" cy="0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9"/>
          <p:cNvGrpSpPr/>
          <p:nvPr/>
        </p:nvGrpSpPr>
        <p:grpSpPr>
          <a:xfrm>
            <a:off x="3297238" y="3281363"/>
            <a:ext cx="4703762" cy="733425"/>
            <a:chOff x="2077" y="2067"/>
            <a:chExt cx="2963" cy="462"/>
          </a:xfrm>
        </p:grpSpPr>
        <p:sp>
          <p:nvSpPr>
            <p:cNvPr id="116748" name="Text Box 10"/>
            <p:cNvSpPr txBox="1"/>
            <p:nvPr/>
          </p:nvSpPr>
          <p:spPr>
            <a:xfrm>
              <a:off x="3106" y="2067"/>
              <a:ext cx="1934" cy="46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compare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是调用过程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sub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是被调用过程</a:t>
              </a:r>
            </a:p>
          </p:txBody>
        </p:sp>
        <p:sp>
          <p:nvSpPr>
            <p:cNvPr id="116749" name="Line 11"/>
            <p:cNvSpPr/>
            <p:nvPr/>
          </p:nvSpPr>
          <p:spPr>
            <a:xfrm flipH="1">
              <a:off x="2077" y="2355"/>
              <a:ext cx="1010" cy="155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5"/>
          <p:cNvGrpSpPr/>
          <p:nvPr/>
        </p:nvGrpSpPr>
        <p:grpSpPr>
          <a:xfrm>
            <a:off x="3049588" y="1030288"/>
            <a:ext cx="5300662" cy="473075"/>
            <a:chOff x="1742" y="836"/>
            <a:chExt cx="3339" cy="298"/>
          </a:xfrm>
        </p:grpSpPr>
        <p:sp>
          <p:nvSpPr>
            <p:cNvPr id="116746" name="Text Box 16"/>
            <p:cNvSpPr txBox="1"/>
            <p:nvPr/>
          </p:nvSpPr>
          <p:spPr>
            <a:xfrm>
              <a:off x="2963" y="836"/>
              <a:ext cx="2118" cy="22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array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90204" pitchFamily="34" charset="0"/>
                  <a:ea typeface="黑体" pitchFamily="49" charset="-122"/>
                </a:rPr>
                <a:t>数组是局部变量</a:t>
              </a:r>
            </a:p>
          </p:txBody>
        </p:sp>
        <p:sp>
          <p:nvSpPr>
            <p:cNvPr id="116747" name="Line 17"/>
            <p:cNvSpPr/>
            <p:nvPr/>
          </p:nvSpPr>
          <p:spPr>
            <a:xfrm flipH="1">
              <a:off x="1742" y="1022"/>
              <a:ext cx="1231" cy="112"/>
            </a:xfrm>
            <a:prstGeom prst="line">
              <a:avLst/>
            </a:prstGeom>
            <a:ln w="28575" cap="flat" cmpd="sng">
              <a:solidFill>
                <a:srgbClr val="388A36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6810" name="Text Box 19"/>
          <p:cNvSpPr txBox="1"/>
          <p:nvPr/>
        </p:nvSpPr>
        <p:spPr>
          <a:xfrm>
            <a:off x="3441700" y="4878388"/>
            <a:ext cx="5427663" cy="108585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</a:t>
            </a:r>
            <a:r>
              <a:rPr lang="en-US" altLang="zh-CN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1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：编译器如何为全局变量和局部变量 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              分配空间？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问题</a:t>
            </a:r>
            <a:r>
              <a:rPr lang="en-US" altLang="zh-CN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2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：</a:t>
            </a:r>
            <a:r>
              <a:rPr lang="en-US" altLang="zh-CN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set_array</a:t>
            </a:r>
            <a:r>
              <a:rPr lang="zh-CN" altLang="en-US" sz="2000" dirty="0">
                <a:solidFill>
                  <a:srgbClr val="EE3900"/>
                </a:solidFill>
                <a:latin typeface="Arial" panose="020B0604020202090204" pitchFamily="34" charset="0"/>
                <a:ea typeface="黑体" pitchFamily="49" charset="-122"/>
              </a:rPr>
              <a:t>执行结果是什么？为什么？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过程调用时的变量分配</a:t>
            </a: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212725" y="652463"/>
            <a:ext cx="8578850" cy="5827712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为减少指令条数，并减少访问内存次数，在每个过程的过程体中总是先使用临时寄存器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$t0~$t9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Why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？）；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临时寄存器不够或者某个值在调用过程返回后还需要用，就使用保存寄存器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$s0~$s7 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Why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？）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set_array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的入口参数为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num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，没有返回参数，有一个局部数组。</a:t>
            </a:r>
            <a:r>
              <a:rPr lang="zh-CN" altLang="zh-CN" dirty="0">
                <a:latin typeface="Arial" panose="020B0604020202090204" pitchFamily="34" charset="0"/>
                <a:ea typeface="黑体" pitchFamily="49" charset="-122"/>
              </a:rPr>
              <a:t>假定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局部变量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i </a:t>
            </a:r>
            <a:r>
              <a:rPr lang="zh-CN" altLang="zh-CN" dirty="0">
                <a:latin typeface="Arial" panose="020B0604020202090204" pitchFamily="34" charset="0"/>
                <a:ea typeface="黑体" pitchFamily="49" charset="-122"/>
              </a:rPr>
              <a:t>分配在临时寄存器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$t2</a:t>
            </a:r>
            <a:r>
              <a:rPr lang="zh-CN" altLang="zh-CN" dirty="0">
                <a:latin typeface="Arial" panose="020B0604020202090204" pitchFamily="34" charset="0"/>
                <a:ea typeface="黑体" pitchFamily="49" charset="-122"/>
              </a:rPr>
              <a:t>中，这样无需在栈帧中为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i </a:t>
            </a:r>
            <a:r>
              <a:rPr lang="zh-CN" altLang="zh-CN" dirty="0">
                <a:latin typeface="Arial" panose="020B0604020202090204" pitchFamily="34" charset="0"/>
                <a:ea typeface="黑体" pitchFamily="49" charset="-122"/>
              </a:rPr>
              <a:t>分配空间，也无需在栈帧中保存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$t2</a:t>
            </a:r>
            <a:r>
              <a:rPr lang="zh-CN" altLang="zh-CN" dirty="0">
                <a:latin typeface="Arial" panose="020B0604020202090204" pitchFamily="34" charset="0"/>
                <a:ea typeface="黑体" pitchFamily="49" charset="-122"/>
              </a:rPr>
              <a:t>。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被调用过程为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compare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，因此，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set_array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的栈帧中除了保留所用的保存寄存器外，必须保留返回地址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Why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？）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（是否保存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要看具体情况，如果确保后面都不用到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，则可以不保存，但为了保证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的值不被后面的过程覆盖，通常情况下，应该保存</a:t>
            </a: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solidFill>
                  <a:schemeClr val="accent1"/>
                </a:solidFill>
                <a:latin typeface="Arial" panose="020B0604020202090204" pitchFamily="34" charset="0"/>
                <a:ea typeface="黑体" pitchFamily="49" charset="-122"/>
              </a:rPr>
              <a:t>的值）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，并给局部数组预留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4×10=40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个字节的空间。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从过程体来看，从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compare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返回后还需要用到数组基地址，故将其分配在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中。需将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$s1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保存在栈帧中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Why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？），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另外加上返回地址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、帧指针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、局部数组，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 set_array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栈帧空间最少为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3×4+40=52B</a:t>
            </a: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。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过程调用举例：栈指针、帧指针和栈帧中信息的变化</a:t>
            </a:r>
          </a:p>
        </p:txBody>
      </p:sp>
      <p:sp>
        <p:nvSpPr>
          <p:cNvPr id="431109" name="Rectangle 5"/>
          <p:cNvSpPr/>
          <p:nvPr/>
        </p:nvSpPr>
        <p:spPr>
          <a:xfrm>
            <a:off x="217488" y="5400675"/>
            <a:ext cx="8926512" cy="13716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set-array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没有多于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4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个额外入口参数，无需保留临时寄存器，故栈帧占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52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字节。</a:t>
            </a: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compare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入口参数为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，仅一个返回参数，没有局部变量，被调用过程为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sub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。过程体中没用到保存寄存器，所以，其栈帧中只需保留返回地址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$ra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$fp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的值。</a:t>
            </a: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sub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rPr>
              <a:t>是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叶子过程，其栈帧为空。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</p:txBody>
      </p:sp>
      <p:pic>
        <p:nvPicPr>
          <p:cNvPr id="11878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8" y="889000"/>
            <a:ext cx="8672512" cy="4311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过程调用举例：</a:t>
            </a:r>
            <a:r>
              <a:rPr lang="en-US" altLang="zh-CN" sz="2600" dirty="0">
                <a:ea typeface="宋体" pitchFamily="2" charset="-122"/>
              </a:rPr>
              <a:t>set_array</a:t>
            </a:r>
            <a:r>
              <a:rPr lang="zh-CN" altLang="en-US" sz="2600" dirty="0">
                <a:ea typeface="宋体" pitchFamily="2" charset="-122"/>
              </a:rPr>
              <a:t>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117475" y="569913"/>
            <a:ext cx="9286875" cy="6143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74955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set-array: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addi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–52	 # generate stack frame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  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ra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48 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# save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ra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on stack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44($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# save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on stack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$s1, 40($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# save $s1 on stack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addi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48	 # set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move $s1,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# $s1=base address of array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539750" marR="0" lvl="0" indent="40132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move $t0, $a0	 # $t0=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num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move $t2, $zero	 #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=0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for-loop: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slti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$t1, $t2, 10      	 # if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&lt;10 $t1=1 else $t1= 0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beq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$t1, $zero, exit1 # if $t1= 0, jump to exit1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move $a0, $t0	  # $a0=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num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move $a1, $t2	  # $a1=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jal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	    compare 	  # call compare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sll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	    $t1, $t2, 2       	  #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zh-CN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×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4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add    $t1, $s1, $t1	  # $t1=array[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]		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	    $v0, 0($t1)	  # store result to array[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]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addi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$t2, $t2, 1	  #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=i+1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 j  	    for-loop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42164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exit1: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lw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ra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48($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 # restore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ra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lw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44($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 # restore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fp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lw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    $s1, 40($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)	  # restore $s1 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539750" marR="0" lvl="0" indent="40132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addi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sp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, 52	  # free stack frame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            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jr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 	    $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ra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		  # return to caller</a:t>
            </a:r>
            <a:endParaRPr kumimoji="0" lang="zh-CN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786765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过程调用举例：</a:t>
            </a:r>
            <a:r>
              <a:rPr lang="en-US" altLang="zh-CN" sz="2600" dirty="0">
                <a:ea typeface="宋体" pitchFamily="2" charset="-122"/>
              </a:rPr>
              <a:t>compare</a:t>
            </a:r>
            <a:r>
              <a:rPr lang="zh-CN" altLang="en-US" sz="2600" dirty="0">
                <a:ea typeface="宋体" pitchFamily="2" charset="-122"/>
              </a:rPr>
              <a:t>过程和</a:t>
            </a:r>
            <a:r>
              <a:rPr lang="en-US" altLang="zh-CN" sz="2600" dirty="0">
                <a:ea typeface="宋体" pitchFamily="2" charset="-122"/>
              </a:rPr>
              <a:t>sub</a:t>
            </a:r>
            <a:r>
              <a:rPr lang="zh-CN" altLang="en-US" sz="2600" dirty="0">
                <a:ea typeface="宋体" pitchFamily="2" charset="-122"/>
              </a:rPr>
              <a:t>过程</a:t>
            </a:r>
          </a:p>
        </p:txBody>
      </p:sp>
      <p:sp>
        <p:nvSpPr>
          <p:cNvPr id="120835" name="矩形 3"/>
          <p:cNvSpPr/>
          <p:nvPr/>
        </p:nvSpPr>
        <p:spPr>
          <a:xfrm>
            <a:off x="179388" y="903288"/>
            <a:ext cx="7815262" cy="535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compare:  addi     $sp, $sp, –8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	        sw 	     $ra, 4($sp)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	        sw	     $fp, 0($sp)		# save $fp on stack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	        addi     $fp, $sp, 4		# set $fp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sz="1900" dirty="0">
                <a:solidFill>
                  <a:schemeClr val="accent1"/>
                </a:solidFill>
                <a:latin typeface="Times New Roman" panose="02020603050405020304" pitchFamily="18" charset="0"/>
              </a:rPr>
              <a:t>jal        sub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	        slt         $t1, $v0, $zero 	# if $v0&lt;0 $t1=1 else $t1= 0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	        beq       $t1, $zero, else 	# if $t1= 0, jump to else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 move    $v0, $zero        	# return 0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 j            exit2   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else:   ori 	       $v0, $zer0, 1		# return 1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exit2:  lw 	       $fp, 0($sp)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 lw 	       $ra, 4($sp)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addi       $sp, $sp, 8</a:t>
            </a:r>
          </a:p>
          <a:p>
            <a:pPr indent="274955" algn="just">
              <a:lnSpc>
                <a:spcPct val="95000"/>
              </a:lnSpc>
            </a:pPr>
            <a:r>
              <a:rPr lang="en-US" altLang="zh-CN" sz="1900" dirty="0">
                <a:latin typeface="Times New Roman" panose="02020603050405020304" pitchFamily="18" charset="0"/>
              </a:rPr>
              <a:t>                  jr 	       $ra</a:t>
            </a:r>
          </a:p>
          <a:p>
            <a:pPr indent="274955" algn="just">
              <a:lnSpc>
                <a:spcPct val="95000"/>
              </a:lnSpc>
            </a:pPr>
            <a:endParaRPr lang="en-US" altLang="zh-CN" sz="1900" dirty="0">
              <a:latin typeface="Times New Roman" panose="02020603050405020304" pitchFamily="18" charset="0"/>
            </a:endParaRPr>
          </a:p>
          <a:p>
            <a:pPr indent="274955" algn="just">
              <a:lnSpc>
                <a:spcPct val="95000"/>
              </a:lnSpc>
            </a:pPr>
            <a:endParaRPr lang="en-US" altLang="zh-CN" sz="1900" dirty="0">
              <a:latin typeface="Times New Roman" panose="02020603050405020304" pitchFamily="18" charset="0"/>
            </a:endParaRPr>
          </a:p>
          <a:p>
            <a:pPr indent="274955" algn="just">
              <a:lnSpc>
                <a:spcPct val="95000"/>
              </a:lnSpc>
            </a:pPr>
            <a:r>
              <a:rPr lang="pt-BR" altLang="zh-CN" sz="1900" dirty="0">
                <a:latin typeface="Times New Roman" panose="02020603050405020304" pitchFamily="18" charset="0"/>
              </a:rPr>
              <a:t>         sub:  sub 	      $v0, $a0, $a1        </a:t>
            </a:r>
          </a:p>
          <a:p>
            <a:pPr indent="274955" algn="just">
              <a:lnSpc>
                <a:spcPct val="95000"/>
              </a:lnSpc>
            </a:pPr>
            <a:r>
              <a:rPr lang="pt-BR" altLang="zh-CN" sz="1900" dirty="0">
                <a:latin typeface="Times New Roman" panose="02020603050405020304" pitchFamily="18" charset="0"/>
              </a:rPr>
              <a:t>                   jr 	      $ra</a:t>
            </a:r>
          </a:p>
          <a:p>
            <a:pPr indent="274955" algn="just">
              <a:lnSpc>
                <a:spcPct val="90000"/>
              </a:lnSpc>
            </a:pPr>
            <a:endParaRPr lang="en-US" altLang="zh-CN" sz="1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5180013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程序的翻译、链接和加载</a:t>
            </a:r>
          </a:p>
        </p:txBody>
      </p:sp>
      <p:pic>
        <p:nvPicPr>
          <p:cNvPr id="121859" name="Picture 8" descr="C语言编译过程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1750" y="620713"/>
            <a:ext cx="8548688" cy="5948362"/>
          </a:xfrm>
          <a:ln/>
        </p:spPr>
      </p:pic>
      <p:sp>
        <p:nvSpPr>
          <p:cNvPr id="327690" name="Text Box 10"/>
          <p:cNvSpPr txBox="1"/>
          <p:nvPr/>
        </p:nvSpPr>
        <p:spPr>
          <a:xfrm>
            <a:off x="2046288" y="1096963"/>
            <a:ext cx="6661150" cy="6556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不同的高级语言有不同的编译器，但生成的汇编语言一样</a:t>
            </a:r>
          </a:p>
          <a:p>
            <a:pPr>
              <a:spcBef>
                <a:spcPct val="2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前面许多例子说明了编译器如何把高级语言语句翻译成汇编指令</a:t>
            </a:r>
          </a:p>
        </p:txBody>
      </p:sp>
      <p:sp>
        <p:nvSpPr>
          <p:cNvPr id="327691" name="Text Box 11"/>
          <p:cNvSpPr txBox="1"/>
          <p:nvPr/>
        </p:nvSpPr>
        <p:spPr>
          <a:xfrm>
            <a:off x="3351213" y="2506663"/>
            <a:ext cx="5661025" cy="6556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每台机器的汇编程序功能一样，与高级语言无关</a:t>
            </a:r>
          </a:p>
          <a:p>
            <a:pPr>
              <a:spcBef>
                <a:spcPct val="2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目标文件就是机器语言（指令、数据及链接说明信息）</a:t>
            </a:r>
          </a:p>
        </p:txBody>
      </p:sp>
      <p:sp>
        <p:nvSpPr>
          <p:cNvPr id="327692" name="Text Box 12"/>
          <p:cNvSpPr txBox="1"/>
          <p:nvPr/>
        </p:nvSpPr>
        <p:spPr>
          <a:xfrm>
            <a:off x="4916488" y="3940175"/>
            <a:ext cx="3614737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将多个过程（包括库例程）的目标文件链接成一个可执行文件。</a:t>
            </a:r>
          </a:p>
        </p:txBody>
      </p:sp>
      <p:sp>
        <p:nvSpPr>
          <p:cNvPr id="327694" name="Text Box 14"/>
          <p:cNvSpPr txBox="1"/>
          <p:nvPr/>
        </p:nvSpPr>
        <p:spPr>
          <a:xfrm>
            <a:off x="6207125" y="5278438"/>
            <a:ext cx="2528888" cy="600075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加载可执行文件到存储器，并启动开始执行。</a:t>
            </a:r>
          </a:p>
        </p:txBody>
      </p:sp>
      <p:sp>
        <p:nvSpPr>
          <p:cNvPr id="327695" name="AutoShape 15"/>
          <p:cNvSpPr/>
          <p:nvPr/>
        </p:nvSpPr>
        <p:spPr>
          <a:xfrm>
            <a:off x="566738" y="3976688"/>
            <a:ext cx="2206625" cy="522287"/>
          </a:xfrm>
          <a:prstGeom prst="cloudCallout">
            <a:avLst>
              <a:gd name="adj1" fmla="val 31653"/>
              <a:gd name="adj2" fmla="val 105014"/>
            </a:avLst>
          </a:prstGeom>
          <a:noFill/>
          <a:ln w="127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/>
          <a:lstStyle/>
          <a:p>
            <a:pPr algn="ctr"/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hlinkClick r:id="rId4" action="ppaction://hlinksldjump"/>
              </a:rPr>
              <a:t>如何链接？</a:t>
            </a:r>
            <a:endParaRPr lang="zh-CN" altLang="en-US" sz="1800" dirty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327697" name="AutoShape 17"/>
          <p:cNvSpPr/>
          <p:nvPr/>
        </p:nvSpPr>
        <p:spPr>
          <a:xfrm>
            <a:off x="2208213" y="5946775"/>
            <a:ext cx="3065462" cy="739775"/>
          </a:xfrm>
          <a:prstGeom prst="cloudCallout">
            <a:avLst>
              <a:gd name="adj1" fmla="val -34153"/>
              <a:gd name="adj2" fmla="val -91630"/>
            </a:avLst>
          </a:prstGeom>
          <a:noFill/>
          <a:ln w="127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/>
          <a:lstStyle/>
          <a:p>
            <a:pPr algn="ctr"/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hlinkClick r:id="rId5" action="ppaction://hlinksldjump"/>
              </a:rPr>
              <a:t>如何分配代码和数据的地址？</a:t>
            </a:r>
            <a:endParaRPr lang="zh-CN" altLang="en-US" sz="1800" dirty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327698" name="Text Box 18"/>
          <p:cNvSpPr txBox="1"/>
          <p:nvPr/>
        </p:nvSpPr>
        <p:spPr>
          <a:xfrm>
            <a:off x="290513" y="4781550"/>
            <a:ext cx="2600325" cy="1562100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可执行文件要说明代码和数据区多大，并给出每条指令的机器码及其地址、各数据及其地址</a:t>
            </a:r>
          </a:p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这里指虚拟地址！</a:t>
            </a:r>
          </a:p>
        </p:txBody>
      </p:sp>
      <p:sp>
        <p:nvSpPr>
          <p:cNvPr id="327699" name="Text Box 19"/>
          <p:cNvSpPr txBox="1"/>
          <p:nvPr/>
        </p:nvSpPr>
        <p:spPr>
          <a:xfrm>
            <a:off x="7227888" y="6240463"/>
            <a:ext cx="139382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" action="ppaction://noaction"/>
              </a:rPr>
              <a:t>SKIP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0" grpId="0"/>
      <p:bldP spid="327691" grpId="0"/>
      <p:bldP spid="327692" grpId="0"/>
      <p:bldP spid="327694" grpId="0"/>
      <p:bldP spid="327695" grpId="0" animBg="1"/>
      <p:bldP spid="327697" grpId="0" animBg="1"/>
      <p:bldP spid="327698" grpId="0"/>
      <p:bldP spid="32769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699452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复习：</a:t>
            </a:r>
            <a:r>
              <a:rPr lang="en-US" altLang="zh-CN" sz="2600" dirty="0">
                <a:ea typeface="宋体" pitchFamily="2" charset="-122"/>
              </a:rPr>
              <a:t>MIPS</a:t>
            </a:r>
            <a:r>
              <a:rPr lang="zh-CN" altLang="en-US" sz="2600" dirty="0">
                <a:ea typeface="宋体" pitchFamily="2" charset="-122"/>
              </a:rPr>
              <a:t>程序和数据的存储器分配</a:t>
            </a:r>
          </a:p>
        </p:txBody>
      </p:sp>
      <p:graphicFrame>
        <p:nvGraphicFramePr>
          <p:cNvPr id="12390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848225" y="1085850"/>
          <a:ext cx="4295775" cy="540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r:id="rId4" imgW="3638550" imgH="2819400" progId="Paint.Picture">
                  <p:embed/>
                </p:oleObj>
              </mc:Choice>
              <mc:Fallback>
                <p:oleObj r:id="rId4" imgW="3638550" imgH="28194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4848225" y="1085850"/>
                        <a:ext cx="4295775" cy="54086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79" name="Rectangle 7"/>
          <p:cNvSpPr/>
          <p:nvPr/>
        </p:nvSpPr>
        <p:spPr>
          <a:xfrm>
            <a:off x="258763" y="1566863"/>
            <a:ext cx="4618037" cy="48720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11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栈区位于堆栈高端，堆区位于堆栈低端</a:t>
            </a:r>
          </a:p>
          <a:p>
            <a:pPr>
              <a:lnSpc>
                <a:spcPct val="11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</a:pPr>
            <a:endParaRPr lang="zh-CN" altLang="en-US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静态数据区存放全局变量（也称静态变量），指所有过程之外声明的变量和用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Static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声明的变量；从固定的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0x1000 0000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处开始向高地址存放</a:t>
            </a: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endParaRPr lang="zh-CN" altLang="en-US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全局指针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$gp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总是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0x1000 8000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，其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16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位偏移量的访问范围为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0x1000 0000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～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0x1000 ffff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，可遍及整个静态数据区的访问</a:t>
            </a: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endParaRPr lang="en-US" altLang="zh-CN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程序代码从固定的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0x0040 0000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处开始存放</a:t>
            </a:r>
          </a:p>
          <a:p>
            <a:pPr>
              <a:lnSpc>
                <a:spcPct val="110000"/>
              </a:lnSpc>
              <a:spcBef>
                <a:spcPct val="10000"/>
              </a:spcBef>
              <a:buSzPct val="75000"/>
              <a:buFont typeface="Wingdings" panose="05000000000000000000" pitchFamily="2" charset="2"/>
            </a:pP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故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PC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的初始值为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0x0040 0000</a:t>
            </a:r>
            <a:endParaRPr lang="zh-CN" altLang="en-US" sz="1800" dirty="0">
              <a:solidFill>
                <a:srgbClr val="A50021"/>
              </a:solidFill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335880" name="Text Box 8"/>
          <p:cNvSpPr txBox="1"/>
          <p:nvPr/>
        </p:nvSpPr>
        <p:spPr>
          <a:xfrm>
            <a:off x="5337175" y="6310313"/>
            <a:ext cx="1639888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" action="ppaction://hlinkshowjump?jump=previousslide"/>
              </a:rPr>
              <a:t>BACK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  <p:sp>
        <p:nvSpPr>
          <p:cNvPr id="123910" name="Rectangle 3"/>
          <p:cNvSpPr>
            <a:spLocks noGrp="1"/>
          </p:cNvSpPr>
          <p:nvPr>
            <p:ph type="body" sz="half" idx="1"/>
          </p:nvPr>
        </p:nvSpPr>
        <p:spPr>
          <a:xfrm>
            <a:off x="157163" y="646113"/>
            <a:ext cx="8348662" cy="8382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每个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程序都按如下规定进行存储器分配</a:t>
            </a:r>
          </a:p>
          <a:p>
            <a:pPr>
              <a:buClrTx/>
              <a:buSzPct val="75000"/>
              <a:buFont typeface="Wingdings" panose="05000000000000000000" pitchFamily="2" charset="2"/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每个可执行文件都按如下规定给出代码和数据的地址</a:t>
            </a:r>
            <a:endParaRPr lang="en-US" altLang="zh-CN" sz="1800" dirty="0">
              <a:latin typeface="Arial" panose="020B0604020202090204" pitchFamily="34" charset="0"/>
              <a:ea typeface="黑体" pitchFamily="49" charset="-122"/>
            </a:endParaRPr>
          </a:p>
        </p:txBody>
      </p:sp>
      <p:sp>
        <p:nvSpPr>
          <p:cNvPr id="123911" name="Text Box 9"/>
          <p:cNvSpPr txBox="1"/>
          <p:nvPr/>
        </p:nvSpPr>
        <p:spPr>
          <a:xfrm>
            <a:off x="6300788" y="3424238"/>
            <a:ext cx="723900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</a:rPr>
              <a:t>Heap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5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5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58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5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58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8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/>
          </p:cNvSpPr>
          <p:nvPr>
            <p:ph type="title"/>
          </p:nvPr>
        </p:nvSpPr>
        <p:spPr>
          <a:xfrm>
            <a:off x="696913" y="28575"/>
            <a:ext cx="40036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目标文件的链接</a:t>
            </a:r>
          </a:p>
        </p:txBody>
      </p:sp>
      <p:sp>
        <p:nvSpPr>
          <p:cNvPr id="124931" name="Rectangle 3"/>
          <p:cNvSpPr>
            <a:spLocks noGrp="1"/>
          </p:cNvSpPr>
          <p:nvPr>
            <p:ph type="body" sz="half" idx="1"/>
          </p:nvPr>
        </p:nvSpPr>
        <p:spPr>
          <a:xfrm>
            <a:off x="390525" y="600075"/>
            <a:ext cx="8378825" cy="5048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和过程</a:t>
            </a:r>
            <a:r>
              <a:rPr lang="en-US" altLang="zh-CN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分别编译、汇编成目标文件，链接后生成一个可执行文件</a:t>
            </a:r>
          </a:p>
        </p:txBody>
      </p:sp>
      <p:pic>
        <p:nvPicPr>
          <p:cNvPr id="124932" name="Picture 4" descr="过程A目标文件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36550" y="1025525"/>
            <a:ext cx="8626475" cy="5589588"/>
          </a:xfrm>
          <a:ln/>
        </p:spPr>
      </p:pic>
      <p:sp>
        <p:nvSpPr>
          <p:cNvPr id="330758" name="Text Box 6"/>
          <p:cNvSpPr txBox="1"/>
          <p:nvPr/>
        </p:nvSpPr>
        <p:spPr>
          <a:xfrm>
            <a:off x="3324225" y="1096963"/>
            <a:ext cx="5472113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                    过程</a:t>
            </a:r>
            <a:r>
              <a:rPr lang="en-US" altLang="zh-CN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的目标文件</a:t>
            </a:r>
          </a:p>
        </p:txBody>
      </p:sp>
      <p:sp>
        <p:nvSpPr>
          <p:cNvPr id="330759" name="Text Box 7"/>
          <p:cNvSpPr txBox="1"/>
          <p:nvPr/>
        </p:nvSpPr>
        <p:spPr>
          <a:xfrm>
            <a:off x="6677025" y="1800225"/>
            <a:ext cx="21907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代码的长度为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0x100</a:t>
            </a:r>
          </a:p>
        </p:txBody>
      </p:sp>
      <p:sp>
        <p:nvSpPr>
          <p:cNvPr id="330760" name="Text Box 8"/>
          <p:cNvSpPr txBox="1"/>
          <p:nvPr/>
        </p:nvSpPr>
        <p:spPr>
          <a:xfrm>
            <a:off x="6678613" y="2159000"/>
            <a:ext cx="21907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数据的长度为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0x20</a:t>
            </a:r>
          </a:p>
        </p:txBody>
      </p:sp>
      <p:sp>
        <p:nvSpPr>
          <p:cNvPr id="330762" name="Text Box 10"/>
          <p:cNvSpPr txBox="1"/>
          <p:nvPr/>
        </p:nvSpPr>
        <p:spPr>
          <a:xfrm>
            <a:off x="368300" y="4168775"/>
            <a:ext cx="2625725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链接前地址总是从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开始</a:t>
            </a:r>
          </a:p>
        </p:txBody>
      </p:sp>
      <p:sp>
        <p:nvSpPr>
          <p:cNvPr id="330769" name="Text Box 17"/>
          <p:cNvSpPr txBox="1"/>
          <p:nvPr/>
        </p:nvSpPr>
        <p:spPr>
          <a:xfrm>
            <a:off x="6707188" y="5937250"/>
            <a:ext cx="1465262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X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的地址待定</a:t>
            </a:r>
          </a:p>
        </p:txBody>
      </p:sp>
      <p:grpSp>
        <p:nvGrpSpPr>
          <p:cNvPr id="2" name="Group 21"/>
          <p:cNvGrpSpPr/>
          <p:nvPr/>
        </p:nvGrpSpPr>
        <p:grpSpPr>
          <a:xfrm>
            <a:off x="412750" y="2946400"/>
            <a:ext cx="2857500" cy="354013"/>
            <a:chOff x="330" y="1856"/>
            <a:chExt cx="1800" cy="223"/>
          </a:xfrm>
        </p:grpSpPr>
        <p:sp>
          <p:nvSpPr>
            <p:cNvPr id="124949" name="Text Box 12"/>
            <p:cNvSpPr txBox="1"/>
            <p:nvPr/>
          </p:nvSpPr>
          <p:spPr>
            <a:xfrm>
              <a:off x="330" y="1874"/>
              <a:ext cx="1628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链接前地址总是从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0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开始</a:t>
              </a:r>
            </a:p>
          </p:txBody>
        </p:sp>
        <p:sp>
          <p:nvSpPr>
            <p:cNvPr id="124950" name="Line 19"/>
            <p:cNvSpPr/>
            <p:nvPr/>
          </p:nvSpPr>
          <p:spPr>
            <a:xfrm flipV="1">
              <a:off x="1792" y="1856"/>
              <a:ext cx="338" cy="11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23"/>
          <p:cNvGrpSpPr/>
          <p:nvPr/>
        </p:nvGrpSpPr>
        <p:grpSpPr>
          <a:xfrm>
            <a:off x="504825" y="3281363"/>
            <a:ext cx="4168775" cy="468312"/>
            <a:chOff x="318" y="2067"/>
            <a:chExt cx="2626" cy="295"/>
          </a:xfrm>
        </p:grpSpPr>
        <p:sp>
          <p:nvSpPr>
            <p:cNvPr id="124947" name="Text Box 20"/>
            <p:cNvSpPr txBox="1"/>
            <p:nvPr/>
          </p:nvSpPr>
          <p:spPr>
            <a:xfrm>
              <a:off x="318" y="2157"/>
              <a:ext cx="1372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实际是指令机器码</a:t>
              </a:r>
            </a:p>
          </p:txBody>
        </p:sp>
        <p:sp>
          <p:nvSpPr>
            <p:cNvPr id="124948" name="Line 22"/>
            <p:cNvSpPr/>
            <p:nvPr/>
          </p:nvSpPr>
          <p:spPr>
            <a:xfrm flipV="1">
              <a:off x="1481" y="2067"/>
              <a:ext cx="1463" cy="201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0776" name="Text Box 24"/>
          <p:cNvSpPr txBox="1"/>
          <p:nvPr/>
        </p:nvSpPr>
        <p:spPr>
          <a:xfrm>
            <a:off x="6705600" y="6299200"/>
            <a:ext cx="1465263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的地址待定</a:t>
            </a:r>
          </a:p>
        </p:txBody>
      </p:sp>
      <p:grpSp>
        <p:nvGrpSpPr>
          <p:cNvPr id="4" name="Group 27"/>
          <p:cNvGrpSpPr/>
          <p:nvPr/>
        </p:nvGrpSpPr>
        <p:grpSpPr>
          <a:xfrm>
            <a:off x="2930525" y="2832100"/>
            <a:ext cx="5951538" cy="2408238"/>
            <a:chOff x="1846" y="1784"/>
            <a:chExt cx="3749" cy="1517"/>
          </a:xfrm>
        </p:grpSpPr>
        <p:sp>
          <p:nvSpPr>
            <p:cNvPr id="124945" name="Text Box 9"/>
            <p:cNvSpPr txBox="1"/>
            <p:nvPr/>
          </p:nvSpPr>
          <p:spPr>
            <a:xfrm>
              <a:off x="4208" y="1784"/>
              <a:ext cx="1380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0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是由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x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待定的地址</a:t>
              </a:r>
            </a:p>
          </p:txBody>
        </p:sp>
        <p:sp>
          <p:nvSpPr>
            <p:cNvPr id="124946" name="Rectangle 26"/>
            <p:cNvSpPr/>
            <p:nvPr/>
          </p:nvSpPr>
          <p:spPr>
            <a:xfrm>
              <a:off x="1846" y="3081"/>
              <a:ext cx="3749" cy="220"/>
            </a:xfrm>
            <a:prstGeom prst="rect">
              <a:avLst/>
            </a:prstGeom>
            <a:noFill/>
            <a:ln w="28575" cap="flat" cmpd="sng">
              <a:solidFill>
                <a:srgbClr val="A500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2932113" y="3205163"/>
            <a:ext cx="5949950" cy="2368550"/>
            <a:chOff x="1847" y="2019"/>
            <a:chExt cx="3748" cy="1492"/>
          </a:xfrm>
        </p:grpSpPr>
        <p:sp>
          <p:nvSpPr>
            <p:cNvPr id="124943" name="Text Box 16"/>
            <p:cNvSpPr txBox="1"/>
            <p:nvPr/>
          </p:nvSpPr>
          <p:spPr>
            <a:xfrm>
              <a:off x="4209" y="2019"/>
              <a:ext cx="1380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0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是由</a:t>
              </a:r>
              <a:r>
                <a:rPr lang="en-US" altLang="zh-CN" sz="1800" dirty="0">
                  <a:latin typeface="Arial" panose="020B0604020202090204" pitchFamily="34" charset="0"/>
                  <a:ea typeface="黑体" pitchFamily="49" charset="-122"/>
                </a:rPr>
                <a:t>B</a:t>
              </a:r>
              <a:r>
                <a:rPr lang="zh-CN" altLang="en-US" sz="1800" dirty="0">
                  <a:latin typeface="Arial" panose="020B0604020202090204" pitchFamily="34" charset="0"/>
                  <a:ea typeface="黑体" pitchFamily="49" charset="-122"/>
                </a:rPr>
                <a:t>待定的地址</a:t>
              </a:r>
            </a:p>
          </p:txBody>
        </p:sp>
        <p:sp>
          <p:nvSpPr>
            <p:cNvPr id="124944" name="Rectangle 28"/>
            <p:cNvSpPr/>
            <p:nvPr/>
          </p:nvSpPr>
          <p:spPr>
            <a:xfrm>
              <a:off x="1847" y="3301"/>
              <a:ext cx="3748" cy="210"/>
            </a:xfrm>
            <a:prstGeom prst="rect">
              <a:avLst/>
            </a:prstGeom>
            <a:noFill/>
            <a:ln w="38100" cap="flat" cmpd="sng">
              <a:solidFill>
                <a:srgbClr val="0033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63500" tIns="25400" rIns="63500" bIns="25400" anchor="ctr" anchorCtr="0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8" grpId="0" animBg="1"/>
      <p:bldP spid="330759" grpId="0"/>
      <p:bldP spid="330760" grpId="0"/>
      <p:bldP spid="330762" grpId="0"/>
      <p:bldP spid="330769" grpId="0"/>
      <p:bldP spid="33077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2" descr="过程B目标文件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3838" y="1076325"/>
            <a:ext cx="8637587" cy="5484813"/>
          </a:xfrm>
          <a:ln/>
        </p:spPr>
      </p:pic>
      <p:sp>
        <p:nvSpPr>
          <p:cNvPr id="125955" name="Rectangle 2"/>
          <p:cNvSpPr>
            <a:spLocks noGrp="1"/>
          </p:cNvSpPr>
          <p:nvPr>
            <p:ph type="title"/>
          </p:nvPr>
        </p:nvSpPr>
        <p:spPr>
          <a:xfrm>
            <a:off x="711200" y="57150"/>
            <a:ext cx="3975100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2600" dirty="0">
                <a:ea typeface="宋体" pitchFamily="2" charset="-122"/>
              </a:rPr>
              <a:t>目标文件的链接</a:t>
            </a:r>
          </a:p>
        </p:txBody>
      </p:sp>
      <p:sp>
        <p:nvSpPr>
          <p:cNvPr id="125956" name="Rectangle 5"/>
          <p:cNvSpPr/>
          <p:nvPr/>
        </p:nvSpPr>
        <p:spPr>
          <a:xfrm>
            <a:off x="357188" y="627063"/>
            <a:ext cx="8686800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</a:pP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和过程</a:t>
            </a:r>
            <a:r>
              <a:rPr lang="en-US" altLang="zh-CN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分别编译、汇编成目标文件，链接后生成一个可执行文件</a:t>
            </a:r>
          </a:p>
        </p:txBody>
      </p:sp>
      <p:sp>
        <p:nvSpPr>
          <p:cNvPr id="332807" name="Text Box 7"/>
          <p:cNvSpPr txBox="1"/>
          <p:nvPr/>
        </p:nvSpPr>
        <p:spPr>
          <a:xfrm>
            <a:off x="3324225" y="1119188"/>
            <a:ext cx="5472113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                    过程</a:t>
            </a:r>
            <a:r>
              <a:rPr lang="en-US" altLang="zh-CN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20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的目标文件</a:t>
            </a:r>
          </a:p>
        </p:txBody>
      </p:sp>
      <p:sp>
        <p:nvSpPr>
          <p:cNvPr id="332808" name="Text Box 8"/>
          <p:cNvSpPr txBox="1"/>
          <p:nvPr/>
        </p:nvSpPr>
        <p:spPr>
          <a:xfrm>
            <a:off x="6677025" y="1800225"/>
            <a:ext cx="21907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代码的长度为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0x200</a:t>
            </a:r>
          </a:p>
        </p:txBody>
      </p:sp>
      <p:sp>
        <p:nvSpPr>
          <p:cNvPr id="332809" name="Text Box 9"/>
          <p:cNvSpPr txBox="1"/>
          <p:nvPr/>
        </p:nvSpPr>
        <p:spPr>
          <a:xfrm>
            <a:off x="6678613" y="2159000"/>
            <a:ext cx="21907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数据的长度为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0x30</a:t>
            </a:r>
          </a:p>
        </p:txBody>
      </p:sp>
      <p:sp>
        <p:nvSpPr>
          <p:cNvPr id="332828" name="Text Box 28"/>
          <p:cNvSpPr txBox="1"/>
          <p:nvPr/>
        </p:nvSpPr>
        <p:spPr>
          <a:xfrm>
            <a:off x="6624638" y="2832100"/>
            <a:ext cx="21907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是由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Y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待定的地址</a:t>
            </a:r>
          </a:p>
        </p:txBody>
      </p:sp>
      <p:sp>
        <p:nvSpPr>
          <p:cNvPr id="332830" name="Text Box 30"/>
          <p:cNvSpPr txBox="1"/>
          <p:nvPr/>
        </p:nvSpPr>
        <p:spPr>
          <a:xfrm>
            <a:off x="6637338" y="3176588"/>
            <a:ext cx="2190750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是由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待定的地址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7" grpId="0" animBg="1"/>
      <p:bldP spid="332808" grpId="0"/>
      <p:bldP spid="332809" grpId="0"/>
      <p:bldP spid="332828" grpId="0"/>
      <p:bldP spid="3328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/>
          </p:cNvSpPr>
          <p:nvPr>
            <p:ph type="title"/>
          </p:nvPr>
        </p:nvSpPr>
        <p:spPr>
          <a:xfrm>
            <a:off x="711200" y="71438"/>
            <a:ext cx="3627438" cy="36830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目标文件的链接</a:t>
            </a:r>
          </a:p>
        </p:txBody>
      </p:sp>
      <p:graphicFrame>
        <p:nvGraphicFramePr>
          <p:cNvPr id="12697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19075" y="1274763"/>
          <a:ext cx="8709025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r:id="rId3" imgW="6038850" imgH="3524250" progId="Paint.Picture">
                  <p:embed/>
                </p:oleObj>
              </mc:Choice>
              <mc:Fallback>
                <p:oleObj r:id="rId3" imgW="6038850" imgH="352425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19075" y="1274763"/>
                        <a:ext cx="8709025" cy="50482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0" name="Rectangle 6"/>
          <p:cNvSpPr/>
          <p:nvPr/>
        </p:nvSpPr>
        <p:spPr>
          <a:xfrm>
            <a:off x="269875" y="717550"/>
            <a:ext cx="862488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Wingdings" panose="05000000000000000000" pitchFamily="2" charset="2"/>
            </a:pP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2100" dirty="0">
                <a:solidFill>
                  <a:srgbClr val="388A36"/>
                </a:solidFill>
                <a:latin typeface="Arial" panose="020B0604020202090204" pitchFamily="34" charset="0"/>
                <a:ea typeface="黑体" pitchFamily="49" charset="-122"/>
              </a:rPr>
              <a:t>分别编译、汇编成目标文件，链接后生成一个可执行文件</a:t>
            </a:r>
          </a:p>
        </p:txBody>
      </p:sp>
      <p:sp>
        <p:nvSpPr>
          <p:cNvPr id="333831" name="Text Box 7"/>
          <p:cNvSpPr txBox="1"/>
          <p:nvPr/>
        </p:nvSpPr>
        <p:spPr>
          <a:xfrm>
            <a:off x="3773488" y="1362075"/>
            <a:ext cx="5037137" cy="2746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                    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生成的</a:t>
            </a:r>
            <a:r>
              <a:rPr lang="zh-CN" altLang="en-US" sz="1800" dirty="0">
                <a:solidFill>
                  <a:srgbClr val="C51915"/>
                </a:solidFill>
                <a:latin typeface="Arial" panose="020B0604020202090204" pitchFamily="34" charset="0"/>
                <a:ea typeface="黑体" pitchFamily="49" charset="-122"/>
              </a:rPr>
              <a:t>可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90204" pitchFamily="34" charset="0"/>
                <a:ea typeface="黑体" pitchFamily="49" charset="-122"/>
              </a:rPr>
              <a:t>执行文件</a:t>
            </a:r>
          </a:p>
        </p:txBody>
      </p:sp>
      <p:sp>
        <p:nvSpPr>
          <p:cNvPr id="333833" name="Text Box 9"/>
          <p:cNvSpPr txBox="1"/>
          <p:nvPr/>
        </p:nvSpPr>
        <p:spPr>
          <a:xfrm>
            <a:off x="381000" y="2674938"/>
            <a:ext cx="3360738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代码地址总是从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0040 0000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开始</a:t>
            </a:r>
          </a:p>
        </p:txBody>
      </p:sp>
      <p:sp>
        <p:nvSpPr>
          <p:cNvPr id="333835" name="Text Box 11"/>
          <p:cNvSpPr txBox="1"/>
          <p:nvPr/>
        </p:nvSpPr>
        <p:spPr>
          <a:xfrm>
            <a:off x="366713" y="3646488"/>
            <a:ext cx="341312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后的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0x100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开始</a:t>
            </a:r>
          </a:p>
        </p:txBody>
      </p:sp>
      <p:sp>
        <p:nvSpPr>
          <p:cNvPr id="333836" name="Text Box 12"/>
          <p:cNvSpPr txBox="1"/>
          <p:nvPr/>
        </p:nvSpPr>
        <p:spPr>
          <a:xfrm>
            <a:off x="322263" y="4995863"/>
            <a:ext cx="341312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静态区地址从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0x1000 0000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开始</a:t>
            </a:r>
          </a:p>
        </p:txBody>
      </p:sp>
      <p:sp>
        <p:nvSpPr>
          <p:cNvPr id="333837" name="Text Box 13"/>
          <p:cNvSpPr txBox="1"/>
          <p:nvPr/>
        </p:nvSpPr>
        <p:spPr>
          <a:xfrm>
            <a:off x="320675" y="5632450"/>
            <a:ext cx="3413125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过程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B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从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A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后的</a:t>
            </a:r>
            <a:r>
              <a:rPr lang="en-US" altLang="zh-CN" sz="1800" dirty="0">
                <a:latin typeface="Arial" panose="020B0604020202090204" pitchFamily="34" charset="0"/>
                <a:ea typeface="黑体" pitchFamily="49" charset="-122"/>
              </a:rPr>
              <a:t>0x20</a:t>
            </a:r>
            <a:r>
              <a:rPr lang="zh-CN" altLang="en-US" sz="1800" dirty="0">
                <a:latin typeface="Arial" panose="020B0604020202090204" pitchFamily="34" charset="0"/>
                <a:ea typeface="黑体" pitchFamily="49" charset="-122"/>
              </a:rPr>
              <a:t>开始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5311775" y="3149600"/>
            <a:ext cx="2874963" cy="638175"/>
            <a:chOff x="3346" y="1984"/>
            <a:chExt cx="1811" cy="402"/>
          </a:xfrm>
        </p:grpSpPr>
        <p:sp>
          <p:nvSpPr>
            <p:cNvPr id="127002" name="Line 14"/>
            <p:cNvSpPr/>
            <p:nvPr/>
          </p:nvSpPr>
          <p:spPr>
            <a:xfrm flipH="1">
              <a:off x="3346" y="1984"/>
              <a:ext cx="686" cy="402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27003" name="Line 16"/>
            <p:cNvSpPr/>
            <p:nvPr/>
          </p:nvSpPr>
          <p:spPr>
            <a:xfrm>
              <a:off x="4398" y="2066"/>
              <a:ext cx="759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9"/>
          <p:cNvGrpSpPr/>
          <p:nvPr/>
        </p:nvGrpSpPr>
        <p:grpSpPr>
          <a:xfrm>
            <a:off x="5514975" y="2844800"/>
            <a:ext cx="2743200" cy="1468438"/>
            <a:chOff x="3474" y="1792"/>
            <a:chExt cx="1728" cy="925"/>
          </a:xfrm>
        </p:grpSpPr>
        <p:sp>
          <p:nvSpPr>
            <p:cNvPr id="127000" name="Line 15"/>
            <p:cNvSpPr/>
            <p:nvPr/>
          </p:nvSpPr>
          <p:spPr>
            <a:xfrm flipH="1" flipV="1">
              <a:off x="3474" y="1792"/>
              <a:ext cx="558" cy="850"/>
            </a:xfrm>
            <a:prstGeom prst="line">
              <a:avLst/>
            </a:prstGeom>
            <a:ln w="2857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27001" name="Line 18"/>
            <p:cNvSpPr/>
            <p:nvPr/>
          </p:nvSpPr>
          <p:spPr>
            <a:xfrm>
              <a:off x="4398" y="2715"/>
              <a:ext cx="804" cy="2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3849" name="Line 25"/>
          <p:cNvSpPr/>
          <p:nvPr/>
        </p:nvSpPr>
        <p:spPr>
          <a:xfrm>
            <a:off x="4092575" y="5268913"/>
            <a:ext cx="3425825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3850" name="Text Box 26"/>
          <p:cNvSpPr txBox="1"/>
          <p:nvPr/>
        </p:nvSpPr>
        <p:spPr>
          <a:xfrm>
            <a:off x="5692775" y="4645025"/>
            <a:ext cx="201295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    1000 0000</a:t>
            </a:r>
            <a:r>
              <a:rPr lang="en-US" altLang="zh-CN" sz="1800" dirty="0">
                <a:latin typeface="Arial" panose="020B0604020202090204" pitchFamily="34" charset="0"/>
              </a:rPr>
              <a:t>=?+</a:t>
            </a:r>
          </a:p>
        </p:txBody>
      </p:sp>
      <p:grpSp>
        <p:nvGrpSpPr>
          <p:cNvPr id="4" name="Group 29"/>
          <p:cNvGrpSpPr/>
          <p:nvPr/>
        </p:nvGrpSpPr>
        <p:grpSpPr>
          <a:xfrm>
            <a:off x="7504113" y="2960688"/>
            <a:ext cx="1639887" cy="2011362"/>
            <a:chOff x="4727" y="1865"/>
            <a:chExt cx="834" cy="1267"/>
          </a:xfrm>
        </p:grpSpPr>
        <p:grpSp>
          <p:nvGrpSpPr>
            <p:cNvPr id="126996" name="Group 24"/>
            <p:cNvGrpSpPr/>
            <p:nvPr/>
          </p:nvGrpSpPr>
          <p:grpSpPr>
            <a:xfrm>
              <a:off x="4727" y="1865"/>
              <a:ext cx="834" cy="1267"/>
              <a:chOff x="4727" y="1865"/>
              <a:chExt cx="834" cy="1267"/>
            </a:xfrm>
          </p:grpSpPr>
          <p:sp>
            <p:nvSpPr>
              <p:cNvPr id="126998" name="Line 20"/>
              <p:cNvSpPr/>
              <p:nvPr/>
            </p:nvSpPr>
            <p:spPr>
              <a:xfrm>
                <a:off x="5285" y="1865"/>
                <a:ext cx="82" cy="1079"/>
              </a:xfrm>
              <a:prstGeom prst="line">
                <a:avLst/>
              </a:prstGeom>
              <a:ln w="28575" cap="flat" cmpd="sng">
                <a:solidFill>
                  <a:srgbClr val="A50021"/>
                </a:solidFill>
                <a:prstDash val="solid"/>
                <a:headEnd type="none" w="med" len="med"/>
                <a:tailEnd type="arrow" w="med" len="med"/>
              </a:ln>
            </p:spPr>
          </p:sp>
          <p:sp>
            <p:nvSpPr>
              <p:cNvPr id="126999" name="Text Box 23"/>
              <p:cNvSpPr txBox="1"/>
              <p:nvPr/>
            </p:nvSpPr>
            <p:spPr>
              <a:xfrm>
                <a:off x="4727" y="2927"/>
                <a:ext cx="834" cy="20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63500" tIns="25400" rIns="63500" bIns="254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A50021"/>
                    </a:solidFill>
                    <a:latin typeface="Arial" panose="020B0604020202090204" pitchFamily="34" charset="0"/>
                  </a:rPr>
                  <a:t>1000 8000</a:t>
                </a:r>
                <a:endParaRPr lang="zh-CN" altLang="en-US" sz="1800" dirty="0">
                  <a:solidFill>
                    <a:srgbClr val="A50021"/>
                  </a:solidFill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126997" name="Line 28"/>
            <p:cNvSpPr/>
            <p:nvPr/>
          </p:nvSpPr>
          <p:spPr>
            <a:xfrm>
              <a:off x="5047" y="1865"/>
              <a:ext cx="283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3855" name="Text Box 31"/>
          <p:cNvSpPr txBox="1"/>
          <p:nvPr/>
        </p:nvSpPr>
        <p:spPr>
          <a:xfrm>
            <a:off x="187325" y="6327775"/>
            <a:ext cx="4584700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1000 8000+</a:t>
            </a:r>
            <a:r>
              <a:rPr lang="en-US" altLang="zh-CN" sz="1800" dirty="0">
                <a:latin typeface="Arial" panose="020B0604020202090204" pitchFamily="34" charset="0"/>
              </a:rPr>
              <a:t> FFFF 8000</a:t>
            </a:r>
            <a:r>
              <a:rPr lang="en-US" altLang="zh-CN" sz="1800" dirty="0">
                <a:solidFill>
                  <a:srgbClr val="A50021"/>
                </a:solidFill>
                <a:latin typeface="Arial" panose="020B0604020202090204" pitchFamily="34" charset="0"/>
              </a:rPr>
              <a:t>=1000 0000H</a:t>
            </a:r>
          </a:p>
        </p:txBody>
      </p:sp>
      <p:grpSp>
        <p:nvGrpSpPr>
          <p:cNvPr id="6" name="Group 34"/>
          <p:cNvGrpSpPr/>
          <p:nvPr/>
        </p:nvGrpSpPr>
        <p:grpSpPr>
          <a:xfrm>
            <a:off x="4308475" y="6324600"/>
            <a:ext cx="4483100" cy="325438"/>
            <a:chOff x="2995" y="4005"/>
            <a:chExt cx="2747" cy="205"/>
          </a:xfrm>
        </p:grpSpPr>
        <p:sp>
          <p:nvSpPr>
            <p:cNvPr id="126994" name="Line 32"/>
            <p:cNvSpPr/>
            <p:nvPr/>
          </p:nvSpPr>
          <p:spPr>
            <a:xfrm flipV="1">
              <a:off x="2995" y="4096"/>
              <a:ext cx="365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995" name="Text Box 33"/>
            <p:cNvSpPr txBox="1"/>
            <p:nvPr/>
          </p:nvSpPr>
          <p:spPr>
            <a:xfrm>
              <a:off x="3430" y="4005"/>
              <a:ext cx="2312" cy="20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3500" tIns="25400" rIns="63500" bIns="254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90204" pitchFamily="34" charset="0"/>
                </a:rPr>
                <a:t>?= 8000</a:t>
              </a:r>
              <a:r>
                <a:rPr lang="en-US" altLang="zh-CN" sz="1600" dirty="0">
                  <a:solidFill>
                    <a:srgbClr val="A50021"/>
                  </a:solidFill>
                  <a:latin typeface="Arial" panose="020B0604020202090204" pitchFamily="34" charset="0"/>
                </a:rPr>
                <a:t> </a:t>
              </a:r>
              <a:r>
                <a:rPr lang="en-US" altLang="zh-CN" sz="1800" dirty="0">
                  <a:solidFill>
                    <a:srgbClr val="C51915"/>
                  </a:solidFill>
                  <a:latin typeface="Arial" panose="020B0604020202090204" pitchFamily="34" charset="0"/>
                </a:rPr>
                <a:t>(</a:t>
              </a:r>
              <a:r>
                <a:rPr lang="zh-CN" altLang="en-US" sz="1800" dirty="0">
                  <a:solidFill>
                    <a:srgbClr val="C51915"/>
                  </a:solidFill>
                  <a:latin typeface="Arial" panose="020B0604020202090204" pitchFamily="34" charset="0"/>
                </a:rPr>
                <a:t>符号扩展后为</a:t>
              </a:r>
              <a:r>
                <a:rPr lang="en-US" altLang="zh-CN" sz="1800" dirty="0">
                  <a:solidFill>
                    <a:srgbClr val="C51915"/>
                  </a:solidFill>
                  <a:latin typeface="Arial" panose="020B0604020202090204" pitchFamily="34" charset="0"/>
                </a:rPr>
                <a:t>FFFF 8000)</a:t>
              </a:r>
            </a:p>
          </p:txBody>
        </p:sp>
      </p:grpSp>
      <p:sp>
        <p:nvSpPr>
          <p:cNvPr id="333859" name="Text Box 35"/>
          <p:cNvSpPr txBox="1"/>
          <p:nvPr/>
        </p:nvSpPr>
        <p:spPr>
          <a:xfrm>
            <a:off x="4689475" y="6532563"/>
            <a:ext cx="841375" cy="325437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90204" pitchFamily="34" charset="0"/>
                <a:hlinkClick r:id="rId5" action="ppaction://hlinksldjump"/>
              </a:rPr>
              <a:t>BACK</a:t>
            </a:r>
            <a:endParaRPr lang="en-US" altLang="zh-CN" sz="1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31" grpId="0" animBg="1"/>
      <p:bldP spid="333833" grpId="0"/>
      <p:bldP spid="333835" grpId="0"/>
      <p:bldP spid="333836" grpId="0"/>
      <p:bldP spid="333837" grpId="0"/>
      <p:bldP spid="333850" grpId="0"/>
      <p:bldP spid="333855" grpId="0"/>
      <p:bldP spid="33385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/>
          </p:cNvSpPr>
          <p:nvPr>
            <p:ph type="title"/>
          </p:nvPr>
        </p:nvSpPr>
        <p:spPr>
          <a:xfrm>
            <a:off x="711200" y="114300"/>
            <a:ext cx="3384550" cy="373063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第二讲小结</a:t>
            </a:r>
          </a:p>
        </p:txBody>
      </p:sp>
      <p:sp>
        <p:nvSpPr>
          <p:cNvPr id="128003" name="Rectangle 4"/>
          <p:cNvSpPr>
            <a:spLocks noGrp="1"/>
          </p:cNvSpPr>
          <p:nvPr>
            <p:ph idx="1"/>
          </p:nvPr>
        </p:nvSpPr>
        <p:spPr>
          <a:xfrm>
            <a:off x="704850" y="671513"/>
            <a:ext cx="7967663" cy="5773737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指令格式</a:t>
            </a:r>
          </a:p>
          <a:p>
            <a:pPr lvl="1"/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R-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类型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I-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类型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J-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类型</a:t>
            </a:r>
          </a:p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寄存器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长度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个数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功能分配 </a:t>
            </a:r>
          </a:p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操作数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寄存器操作数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存储器操作数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立即数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文本</a:t>
            </a:r>
          </a:p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指令寻址方式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立即数寻址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寄存器寻址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相对寻址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伪直接寻址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偏移寻址</a:t>
            </a:r>
          </a:p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指令类型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算术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逻辑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数据传送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条件分支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无条件转移 </a:t>
            </a:r>
          </a:p>
          <a:p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MIPS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汇编语言形式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操作码的表示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 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寄存器的表示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存储器数据表示</a:t>
            </a:r>
          </a:p>
          <a:p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机器语言的解码（反汇编）</a:t>
            </a:r>
          </a:p>
          <a:p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高级语言、汇编语言、机器语言之间的转换</a:t>
            </a:r>
          </a:p>
          <a:p>
            <a:pPr lvl="1"/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运算表达式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 If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语句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循环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数组访问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过程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堆栈 </a:t>
            </a:r>
            <a:r>
              <a:rPr lang="en-US" altLang="zh-CN" sz="2000" dirty="0">
                <a:latin typeface="Arial" panose="020B0604020202090204" pitchFamily="34" charset="0"/>
                <a:ea typeface="黑体" pitchFamily="49" charset="-122"/>
              </a:rPr>
              <a:t>/ </a:t>
            </a:r>
            <a:r>
              <a:rPr lang="zh-CN" altLang="en-US" sz="2000" dirty="0">
                <a:latin typeface="Arial" panose="020B0604020202090204" pitchFamily="34" charset="0"/>
                <a:ea typeface="黑体" pitchFamily="49" charset="-122"/>
              </a:rPr>
              <a:t>栈帧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/>
          </p:cNvSpPr>
          <p:nvPr>
            <p:ph type="title"/>
          </p:nvPr>
        </p:nvSpPr>
        <p:spPr>
          <a:xfrm>
            <a:off x="711200" y="71438"/>
            <a:ext cx="7545388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pPr algn="ctr"/>
            <a:r>
              <a:rPr lang="zh-CN" altLang="en-US" sz="2600" dirty="0">
                <a:latin typeface="黑体" pitchFamily="49" charset="-122"/>
                <a:ea typeface="黑体" pitchFamily="49" charset="-122"/>
              </a:rPr>
              <a:t> 第三讲  指令系统实例：</a:t>
            </a:r>
            <a:r>
              <a:rPr lang="en-US" altLang="zh-CN" sz="2600" dirty="0">
                <a:latin typeface="黑体" pitchFamily="49" charset="-122"/>
                <a:ea typeface="黑体" pitchFamily="49" charset="-122"/>
              </a:rPr>
              <a:t>RISC-V</a:t>
            </a:r>
            <a:r>
              <a:rPr lang="zh-CN" altLang="en-US" sz="26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（可选）</a:t>
            </a:r>
          </a:p>
        </p:txBody>
      </p:sp>
      <p:sp>
        <p:nvSpPr>
          <p:cNvPr id="129027" name="Rectangle 3"/>
          <p:cNvSpPr>
            <a:spLocks noGrp="1"/>
          </p:cNvSpPr>
          <p:nvPr>
            <p:ph idx="1"/>
          </p:nvPr>
        </p:nvSpPr>
        <p:spPr>
          <a:xfrm>
            <a:off x="1117600" y="995363"/>
            <a:ext cx="6851650" cy="5053012"/>
          </a:xfrm>
          <a:ln/>
        </p:spPr>
        <p:txBody>
          <a:bodyPr vert="horz" wrap="square" lIns="91440" tIns="45720" rIns="91440" bIns="45720" anchor="t" anchorCtr="0"/>
          <a:lstStyle/>
          <a:p>
            <a:pPr algn="ctr">
              <a:lnSpc>
                <a:spcPct val="115000"/>
              </a:lnSpc>
              <a:spcBef>
                <a:spcPct val="15000"/>
              </a:spcBef>
              <a:buNone/>
            </a:pPr>
            <a:r>
              <a:rPr lang="zh-CN" altLang="en-US" sz="2400" dirty="0">
                <a:solidFill>
                  <a:srgbClr val="EE3900"/>
                </a:solidFill>
              </a:rPr>
              <a:t>主要内容</a:t>
            </a:r>
            <a:endParaRPr lang="en-US" altLang="zh-CN" sz="2400" dirty="0">
              <a:solidFill>
                <a:srgbClr val="EE3900"/>
              </a:solidFill>
              <a:latin typeface="Arial" panose="020B0604020202090204" pitchFamily="34" charset="0"/>
            </a:endParaRPr>
          </a:p>
          <a:p>
            <a:pPr>
              <a:lnSpc>
                <a:spcPct val="150000"/>
              </a:lnSpc>
              <a:spcBef>
                <a:spcPct val="15000"/>
              </a:spcBef>
            </a:pP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RISC-V</a:t>
            </a: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指令系统概述</a:t>
            </a:r>
          </a:p>
          <a:p>
            <a:pPr>
              <a:lnSpc>
                <a:spcPct val="150000"/>
              </a:lnSpc>
              <a:spcBef>
                <a:spcPct val="15000"/>
              </a:spcBef>
            </a:pP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RISC-V</a:t>
            </a: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指令参考卡和指令格式</a:t>
            </a:r>
          </a:p>
          <a:p>
            <a:pPr>
              <a:lnSpc>
                <a:spcPct val="150000"/>
              </a:lnSpc>
              <a:spcBef>
                <a:spcPct val="15000"/>
              </a:spcBef>
            </a:pP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RISC-V</a:t>
            </a: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基础整数指令集</a:t>
            </a:r>
          </a:p>
          <a:p>
            <a:pPr lvl="1">
              <a:lnSpc>
                <a:spcPct val="150000"/>
              </a:lnSpc>
              <a:spcBef>
                <a:spcPct val="15000"/>
              </a:spcBef>
            </a:pP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整数运算 </a:t>
            </a:r>
            <a:endParaRPr lang="en-US" altLang="zh-CN" sz="2200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50000"/>
              </a:lnSpc>
              <a:spcBef>
                <a:spcPct val="15000"/>
              </a:spcBef>
            </a:pP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控制转移 </a:t>
            </a:r>
            <a:endParaRPr lang="en-US" altLang="zh-CN" sz="2200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50000"/>
              </a:lnSpc>
              <a:spcBef>
                <a:spcPct val="15000"/>
              </a:spcBef>
            </a:pP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存储访问 </a:t>
            </a:r>
            <a:endParaRPr lang="en-US" altLang="zh-CN" sz="2200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50000"/>
              </a:lnSpc>
              <a:spcBef>
                <a:spcPct val="15000"/>
              </a:spcBef>
            </a:pPr>
            <a:r>
              <a:rPr lang="zh-CN" altLang="en-US" sz="2200" dirty="0">
                <a:latin typeface="Arial" panose="020B0604020202090204" pitchFamily="34" charset="0"/>
                <a:ea typeface="黑体" pitchFamily="49" charset="-122"/>
              </a:rPr>
              <a:t>系统控制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/>
          </p:cNvSpPr>
          <p:nvPr>
            <p:ph type="title"/>
          </p:nvPr>
        </p:nvSpPr>
        <p:spPr>
          <a:xfrm>
            <a:off x="668338" y="12858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指令系统概述</a:t>
            </a:r>
          </a:p>
        </p:txBody>
      </p:sp>
      <p:sp>
        <p:nvSpPr>
          <p:cNvPr id="131075" name="Rectangle 3"/>
          <p:cNvSpPr>
            <a:spLocks noGrp="1"/>
          </p:cNvSpPr>
          <p:nvPr>
            <p:ph idx="1"/>
          </p:nvPr>
        </p:nvSpPr>
        <p:spPr>
          <a:xfrm>
            <a:off x="92075" y="587375"/>
            <a:ext cx="8974138" cy="61118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设计目标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广泛的适应性：从最袖珍的嵌入式微控制器，到最快的高性能计算机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支持各种异构处理架构，成为定制加速器的基础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稳定的基础指令集架构，并能灵活扩展，且扩展时不影响基础部分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开源理念和设计原则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本着“指令集应自由（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Instruction Set Want to be Free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）”的理念，指令集完全公开，且无需为指令集付费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由一个非盈利性质的基金会管理，以保持指令集的稳定性，并加快生态建设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与以前的增量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ISA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不同，遵循“大道至简”的设计哲学，采用模块化设计，既保持基础指令集的稳定，也保证扩展指令集的灵活配置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特点：具有模块化结构、稳定性和可扩展性好，在简洁性、实现成本、功耗、性能和程序代码量等各方面具有显著优势</a:t>
            </a:r>
            <a:endParaRPr lang="en-US" altLang="zh-CN" dirty="0">
              <a:solidFill>
                <a:srgbClr val="FF0000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RISC-V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的模块化结构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核心：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RV32I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标准扩展集：</a:t>
            </a:r>
            <a:r>
              <a:rPr lang="en-US" altLang="zh-CN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RV32M</a:t>
            </a:r>
            <a:r>
              <a:rPr lang="zh-CN" altLang="en-US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RV32F</a:t>
            </a:r>
            <a:r>
              <a:rPr lang="zh-CN" altLang="en-US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RV32D</a:t>
            </a:r>
            <a:r>
              <a:rPr lang="zh-CN" altLang="en-US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RV32A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RV32G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位架构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RV32G = RV32IMAFD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，其压缩指令集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（指令长度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位架构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RV64G = RV64IMAFD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，其压缩指令集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RV64C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（指令长度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RV64V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；嵌入式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的子集，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个通用寄存器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xfrm>
            <a:off x="44450" y="109538"/>
            <a:ext cx="6556375" cy="37306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指令参考卡</a:t>
            </a:r>
            <a:r>
              <a:rPr lang="zh-CN" altLang="zh-CN" dirty="0">
                <a:ea typeface="宋体" pitchFamily="2" charset="-122"/>
              </a:rPr>
              <a:t>①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82550" y="604838"/>
            <a:ext cx="1966913" cy="6024562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核心指令集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：基础整数指令集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RV32I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RV64I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特权指令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：陷阱指令对应的返回指令、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wfi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等待中断指令、</a:t>
            </a:r>
            <a:r>
              <a:rPr lang="en-US" altLang="zh-CN" dirty="0">
                <a:latin typeface="Arial" panose="020B0604020202090204" pitchFamily="34" charset="0"/>
                <a:ea typeface="黑体" pitchFamily="49" charset="-122"/>
              </a:rPr>
              <a:t>sfence.vma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虚拟存储器的同步操作</a:t>
            </a:r>
            <a:endParaRPr lang="en-US" altLang="zh-CN" dirty="0"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伪指令举例</a:t>
            </a:r>
            <a:endParaRPr lang="en-US" altLang="zh-CN" dirty="0">
              <a:solidFill>
                <a:srgbClr val="0033CC"/>
              </a:solidFill>
              <a:latin typeface="Arial" panose="020B0604020202090204" pitchFamily="34" charset="0"/>
              <a:ea typeface="黑体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33CC"/>
                </a:solidFill>
                <a:latin typeface="Arial" panose="020B0604020202090204" pitchFamily="34" charset="0"/>
                <a:ea typeface="黑体" pitchFamily="49" charset="-122"/>
              </a:rPr>
              <a:t>压缩指令集</a:t>
            </a:r>
            <a:r>
              <a:rPr lang="zh-CN" altLang="en-US" dirty="0">
                <a:latin typeface="Arial" panose="020B0604020202090204" pitchFamily="34" charset="0"/>
                <a:ea typeface="黑体" pitchFamily="49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RV32C</a:t>
            </a: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黑体" pitchFamily="49" charset="-122"/>
              </a:rPr>
              <a:t>RV64C</a:t>
            </a:r>
          </a:p>
          <a:p>
            <a:pPr>
              <a:lnSpc>
                <a:spcPct val="110000"/>
              </a:lnSpc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885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0"/>
            <a:ext cx="7224712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3175" y="604838"/>
            <a:ext cx="1951038" cy="6143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扩展指令集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乘除运算指令集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RVM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原子操作指令集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浮点运算指令集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RVF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RVD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向量操作指令集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RVV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通用寄存器的调用约定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个定点通用寄存器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x0~x31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个浮点寄存器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f0~f31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；通用寄存器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中恒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中返回地址；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和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x4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分别为栈指针、全局指针和线程指针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</p:txBody>
      </p:sp>
      <p:pic>
        <p:nvPicPr>
          <p:cNvPr id="13312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3" y="0"/>
            <a:ext cx="7142162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24" name="Rectangle 2"/>
          <p:cNvSpPr>
            <a:spLocks noGrp="1"/>
          </p:cNvSpPr>
          <p:nvPr>
            <p:ph type="title"/>
          </p:nvPr>
        </p:nvSpPr>
        <p:spPr>
          <a:xfrm>
            <a:off x="44450" y="109538"/>
            <a:ext cx="6556375" cy="37306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指令参考卡</a:t>
            </a:r>
            <a:r>
              <a:rPr lang="zh-CN" altLang="zh-CN" dirty="0">
                <a:ea typeface="宋体" pitchFamily="2" charset="-122"/>
              </a:rPr>
              <a:t>②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/>
          <p:cNvSpPr>
            <a:spLocks noGrp="1"/>
          </p:cNvSpPr>
          <p:nvPr>
            <p:ph idx="1"/>
          </p:nvPr>
        </p:nvSpPr>
        <p:spPr>
          <a:xfrm>
            <a:off x="125413" y="847725"/>
            <a:ext cx="4510087" cy="2760663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种指令格式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型为寄存器操作数指令</a:t>
            </a: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型为短立即数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装入（</a:t>
            </a: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）指令</a:t>
            </a: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型为存储（</a:t>
            </a: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）指令</a:t>
            </a: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型为条件跳转指令</a:t>
            </a: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型为长立即数操作指令</a:t>
            </a:r>
            <a:endParaRPr lang="en-US" altLang="zh-CN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J-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型为无条件跳转指令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147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32</a:t>
            </a:r>
            <a:r>
              <a:rPr lang="zh-CN" altLang="en-US" sz="2600" dirty="0">
                <a:ea typeface="宋体" pitchFamily="2" charset="-122"/>
              </a:rPr>
              <a:t>位</a:t>
            </a:r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指令格式</a:t>
            </a:r>
          </a:p>
        </p:txBody>
      </p:sp>
      <p:pic>
        <p:nvPicPr>
          <p:cNvPr id="13414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3" y="4032250"/>
            <a:ext cx="8974137" cy="251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49" name="矩形 1"/>
          <p:cNvSpPr/>
          <p:nvPr/>
        </p:nvSpPr>
        <p:spPr>
          <a:xfrm>
            <a:off x="7581900" y="4394200"/>
            <a:ext cx="1409700" cy="1987550"/>
          </a:xfrm>
          <a:prstGeom prst="rect">
            <a:avLst/>
          </a:prstGeom>
          <a:solidFill>
            <a:schemeClr val="accent2">
              <a:alpha val="20000"/>
            </a:scheme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0" name="矩形 7"/>
          <p:cNvSpPr/>
          <p:nvPr/>
        </p:nvSpPr>
        <p:spPr>
          <a:xfrm>
            <a:off x="6172200" y="4394200"/>
            <a:ext cx="1409700" cy="6604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1" name="矩形 8"/>
          <p:cNvSpPr/>
          <p:nvPr/>
        </p:nvSpPr>
        <p:spPr>
          <a:xfrm>
            <a:off x="4025900" y="4394200"/>
            <a:ext cx="1212850" cy="1350963"/>
          </a:xfrm>
          <a:prstGeom prst="rect">
            <a:avLst/>
          </a:prstGeom>
          <a:solidFill>
            <a:srgbClr val="388A36">
              <a:alpha val="20000"/>
            </a:srgb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2" name="矩形 9"/>
          <p:cNvSpPr/>
          <p:nvPr/>
        </p:nvSpPr>
        <p:spPr>
          <a:xfrm>
            <a:off x="5245100" y="4413250"/>
            <a:ext cx="933450" cy="1308100"/>
          </a:xfrm>
          <a:prstGeom prst="rect">
            <a:avLst/>
          </a:prstGeom>
          <a:solidFill>
            <a:srgbClr val="7030A0">
              <a:alpha val="20000"/>
            </a:srgb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3" name="矩形 10"/>
          <p:cNvSpPr/>
          <p:nvPr/>
        </p:nvSpPr>
        <p:spPr>
          <a:xfrm>
            <a:off x="6172200" y="5745163"/>
            <a:ext cx="1409700" cy="6604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4" name="矩形 11"/>
          <p:cNvSpPr/>
          <p:nvPr/>
        </p:nvSpPr>
        <p:spPr>
          <a:xfrm>
            <a:off x="2635250" y="4389438"/>
            <a:ext cx="1390650" cy="334962"/>
          </a:xfrm>
          <a:prstGeom prst="rect">
            <a:avLst/>
          </a:prstGeom>
          <a:solidFill>
            <a:srgbClr val="00B0F0">
              <a:alpha val="20000"/>
            </a:srgb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5" name="矩形 12"/>
          <p:cNvSpPr/>
          <p:nvPr/>
        </p:nvSpPr>
        <p:spPr>
          <a:xfrm>
            <a:off x="2635250" y="5094288"/>
            <a:ext cx="1384300" cy="627062"/>
          </a:xfrm>
          <a:prstGeom prst="rect">
            <a:avLst/>
          </a:prstGeom>
          <a:solidFill>
            <a:srgbClr val="00B0F0">
              <a:alpha val="20000"/>
            </a:srgb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6" name="矩形 13"/>
          <p:cNvSpPr/>
          <p:nvPr/>
        </p:nvSpPr>
        <p:spPr>
          <a:xfrm>
            <a:off x="571500" y="4389438"/>
            <a:ext cx="2070100" cy="334962"/>
          </a:xfrm>
          <a:prstGeom prst="rect">
            <a:avLst/>
          </a:prstGeom>
          <a:solidFill>
            <a:srgbClr val="7030A0">
              <a:alpha val="20000"/>
            </a:srgbClr>
          </a:solidFill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4157" name="矩形 2"/>
          <p:cNvSpPr/>
          <p:nvPr/>
        </p:nvSpPr>
        <p:spPr>
          <a:xfrm>
            <a:off x="4864100" y="844550"/>
            <a:ext cx="4127500" cy="2714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opcode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操作码字段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通用寄存器编号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立即数，其位数在括号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]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中表示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funct3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funct7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分别表示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位功能码和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位功能码，和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opcode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字段一起定义指令的操作功能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3"/>
          <p:cNvSpPr>
            <a:spLocks noGrp="1"/>
          </p:cNvSpPr>
          <p:nvPr>
            <p:ph idx="1"/>
          </p:nvPr>
        </p:nvSpPr>
        <p:spPr>
          <a:xfrm>
            <a:off x="125413" y="723900"/>
            <a:ext cx="8556625" cy="26003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ts val="27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种指令格式。与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位指令相比，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位指令中的一部分寄存器编号还是占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位。指令变短了，但还是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位架构，处理的还是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位数据，还是有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个通用寄存器。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为了缩短指令长度，操作码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、功能码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、立即数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和另一部分寄存器编号的位数都减少了。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位指令都有功能完全相同的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位指令，在执行时由硬件先转换为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位指令再执行。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目的是：缩短程序代码量，用少量时间换空间！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171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16</a:t>
            </a:r>
            <a:r>
              <a:rPr lang="zh-CN" altLang="en-US" sz="2600" dirty="0">
                <a:ea typeface="宋体" pitchFamily="2" charset="-122"/>
              </a:rPr>
              <a:t>位</a:t>
            </a:r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压缩指令格式</a:t>
            </a:r>
          </a:p>
        </p:txBody>
      </p:sp>
      <p:pic>
        <p:nvPicPr>
          <p:cNvPr id="13517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8" y="3533775"/>
            <a:ext cx="8556625" cy="321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125413" y="723900"/>
            <a:ext cx="4572000" cy="6024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5750" marR="0" lvl="0" indent="-28575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包含：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移位（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Shifts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算术运算（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Arithmetic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逻辑运算（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Logical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比较（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Compare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分支（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Branch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跳转链接（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Jump &amp; Link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环境（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Environment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控制状态寄存器（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Control Status Register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取数（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Load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存数（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Store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ts val="27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195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136196" name="右大括号 1"/>
          <p:cNvSpPr/>
          <p:nvPr/>
        </p:nvSpPr>
        <p:spPr>
          <a:xfrm>
            <a:off x="3600450" y="1317625"/>
            <a:ext cx="282575" cy="1412875"/>
          </a:xfrm>
          <a:prstGeom prst="rightBrace">
            <a:avLst>
              <a:gd name="adj1" fmla="val 27199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>
            <a:spAutoFit/>
          </a:bodyPr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6197" name="矩形 2"/>
          <p:cNvSpPr/>
          <p:nvPr/>
        </p:nvSpPr>
        <p:spPr>
          <a:xfrm>
            <a:off x="3825875" y="1719263"/>
            <a:ext cx="1347788" cy="766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Bef>
                <a:spcPct val="30000"/>
              </a:spcBef>
              <a:buSzPct val="75000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整数运算类指令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198" name="矩形 7"/>
          <p:cNvSpPr/>
          <p:nvPr/>
        </p:nvSpPr>
        <p:spPr>
          <a:xfrm>
            <a:off x="4114800" y="2903538"/>
            <a:ext cx="1347788" cy="765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Bef>
                <a:spcPct val="30000"/>
              </a:spcBef>
              <a:buSzPct val="75000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199" name="右大括号 8"/>
          <p:cNvSpPr/>
          <p:nvPr/>
        </p:nvSpPr>
        <p:spPr>
          <a:xfrm>
            <a:off x="3876675" y="2928938"/>
            <a:ext cx="282575" cy="706437"/>
          </a:xfrm>
          <a:prstGeom prst="rightBrace">
            <a:avLst>
              <a:gd name="adj1" fmla="val 27233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6200" name="矩形 9"/>
          <p:cNvSpPr/>
          <p:nvPr/>
        </p:nvSpPr>
        <p:spPr>
          <a:xfrm>
            <a:off x="2903538" y="5645150"/>
            <a:ext cx="2508250" cy="419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Bef>
                <a:spcPct val="30000"/>
              </a:spcBef>
              <a:buSzPct val="75000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存储访问类指令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201" name="右大括号 10"/>
          <p:cNvSpPr/>
          <p:nvPr/>
        </p:nvSpPr>
        <p:spPr>
          <a:xfrm>
            <a:off x="2620963" y="5502275"/>
            <a:ext cx="282575" cy="704850"/>
          </a:xfrm>
          <a:prstGeom prst="rightBrace">
            <a:avLst>
              <a:gd name="adj1" fmla="val 27172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36202" name="矩形 11"/>
          <p:cNvSpPr/>
          <p:nvPr/>
        </p:nvSpPr>
        <p:spPr>
          <a:xfrm>
            <a:off x="4098925" y="4354513"/>
            <a:ext cx="1446213" cy="765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Bef>
                <a:spcPct val="30000"/>
              </a:spcBef>
              <a:buSzPct val="75000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系统控制类指令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203" name="右大括号 12"/>
          <p:cNvSpPr/>
          <p:nvPr/>
        </p:nvSpPr>
        <p:spPr>
          <a:xfrm>
            <a:off x="3843338" y="4003675"/>
            <a:ext cx="282575" cy="1355725"/>
          </a:xfrm>
          <a:prstGeom prst="rightBrace">
            <a:avLst>
              <a:gd name="adj1" fmla="val 27209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8000" y="766763"/>
            <a:ext cx="3430588" cy="58054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规定：</a:t>
            </a:r>
            <a:endParaRPr lang="en-US" altLang="zh-CN" sz="2000" dirty="0">
              <a:solidFill>
                <a:srgbClr val="FC01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R[r]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M[addr]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M[R[r]]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的内容所指存储单元的内容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M[PC]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所指存储单元的内容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SEXT[imm]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进行符号扩展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ZEXT[imm]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进行零扩展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传送方向用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表示，即传送源在右，传送目的在左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/>
          </p:cNvSpPr>
          <p:nvPr>
            <p:ph idx="1"/>
          </p:nvPr>
        </p:nvSpPr>
        <p:spPr>
          <a:xfrm>
            <a:off x="63500" y="1162050"/>
            <a:ext cx="461963" cy="41846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整数运算类指令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219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grpSp>
        <p:nvGrpSpPr>
          <p:cNvPr id="137220" name="组合 3"/>
          <p:cNvGrpSpPr/>
          <p:nvPr/>
        </p:nvGrpSpPr>
        <p:grpSpPr>
          <a:xfrm>
            <a:off x="400050" y="581025"/>
            <a:ext cx="8743950" cy="6276975"/>
            <a:chOff x="587141" y="581258"/>
            <a:chExt cx="8556859" cy="6276742"/>
          </a:xfrm>
        </p:grpSpPr>
        <p:pic>
          <p:nvPicPr>
            <p:cNvPr id="137221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141" y="581258"/>
              <a:ext cx="8556859" cy="62767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7222" name="矩形 1"/>
            <p:cNvSpPr/>
            <p:nvPr/>
          </p:nvSpPr>
          <p:spPr>
            <a:xfrm>
              <a:off x="711199" y="828842"/>
              <a:ext cx="7585777" cy="561808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 w="12700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37223" name="矩形 1"/>
            <p:cNvSpPr/>
            <p:nvPr/>
          </p:nvSpPr>
          <p:spPr>
            <a:xfrm>
              <a:off x="711198" y="1390650"/>
              <a:ext cx="7585777" cy="167005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w="9525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37224" name="矩形 1"/>
            <p:cNvSpPr/>
            <p:nvPr/>
          </p:nvSpPr>
          <p:spPr>
            <a:xfrm>
              <a:off x="711197" y="3924300"/>
              <a:ext cx="7585777" cy="2743200"/>
            </a:xfrm>
            <a:prstGeom prst="rect">
              <a:avLst/>
            </a:prstGeom>
            <a:solidFill>
              <a:srgbClr val="3C7845">
                <a:alpha val="20000"/>
              </a:srgbClr>
            </a:solidFill>
            <a:ln w="9525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37225" name="矩形 1"/>
            <p:cNvSpPr/>
            <p:nvPr/>
          </p:nvSpPr>
          <p:spPr>
            <a:xfrm>
              <a:off x="711197" y="3066950"/>
              <a:ext cx="7585777" cy="857349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9525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Grp="1"/>
          </p:cNvSpPr>
          <p:nvPr>
            <p:ph idx="1"/>
          </p:nvPr>
        </p:nvSpPr>
        <p:spPr>
          <a:xfrm>
            <a:off x="101600" y="665163"/>
            <a:ext cx="4835525" cy="4730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型指令共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243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pic>
        <p:nvPicPr>
          <p:cNvPr id="13824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028700"/>
            <a:ext cx="9093200" cy="104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01600" y="2262188"/>
            <a:ext cx="8985250" cy="296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 rd, 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。该指令和“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rd, rs1, imm12”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结合，可以实现对一个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位变量赋初值。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请给出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x=-8191;”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机器级代码。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x=-8191;”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机器指令和汇编指令为：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1111 1111 1111 1111 1110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0110111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 x5, 1048574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#R[x5]←FFFF E000H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0000 0000 0001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00101 000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0010011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x5, x5, 1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#R[x5]←R[x5]+SEXT[001H]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zh-CN" altLang="en-US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663" y="5429250"/>
            <a:ext cx="823436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-8191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的机器数为：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1111 1111 1111 1111 1110 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0000 0000 0001</a:t>
            </a:r>
            <a:endParaRPr lang="zh-CN" altLang="en-US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 flipV="1">
            <a:off x="2197100" y="4271963"/>
            <a:ext cx="1554163" cy="1216025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 flipH="1" flipV="1">
            <a:off x="1293813" y="4697413"/>
            <a:ext cx="4916488" cy="8064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38913" y="4932363"/>
            <a:ext cx="24288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SEXT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表示符号扩展</a:t>
            </a:r>
          </a:p>
        </p:txBody>
      </p:sp>
      <p:sp>
        <p:nvSpPr>
          <p:cNvPr id="10" name="矩形 9"/>
          <p:cNvSpPr/>
          <p:nvPr/>
        </p:nvSpPr>
        <p:spPr>
          <a:xfrm>
            <a:off x="79375" y="5907088"/>
            <a:ext cx="8985250" cy="781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auipc rd, 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位上，结果存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。可用指令“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auipc x10, 0”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获取当前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的内容，存入寄存器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/>
          </p:cNvSpPr>
          <p:nvPr>
            <p:ph idx="1"/>
          </p:nvPr>
        </p:nvSpPr>
        <p:spPr>
          <a:xfrm>
            <a:off x="101600" y="608013"/>
            <a:ext cx="8272463" cy="4730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型指令共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条，其中三条为用立即数指定所移位数的移位指令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267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230188" y="4676775"/>
            <a:ext cx="8682037" cy="781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opcode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：都是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0010011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，其功能由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指定，而当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funct3=101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时，再有高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位区分是算术右移（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）还是逻辑右移（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srli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9713" y="5481638"/>
            <a:ext cx="8705850" cy="781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imm[11:0]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位立即数，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，作为第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个源操作数，和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R[rs1]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中的内容）进行运算，结果存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927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1125538"/>
            <a:ext cx="8985250" cy="3527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50825" y="6249988"/>
            <a:ext cx="8683625" cy="423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shamt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：指出移位位数，因为最多移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位，故用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位即可。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373062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RISC-V</a:t>
            </a:r>
            <a:r>
              <a:rPr lang="zh-CN" altLang="en-US" dirty="0">
                <a:ea typeface="宋体" pitchFamily="2" charset="-122"/>
              </a:rPr>
              <a:t>基础整数指令集（</a:t>
            </a:r>
            <a:r>
              <a:rPr lang="en-US" altLang="zh-CN" dirty="0">
                <a:ea typeface="宋体" pitchFamily="2" charset="-122"/>
              </a:rPr>
              <a:t>RV32I</a:t>
            </a:r>
            <a:r>
              <a:rPr lang="zh-CN" altLang="en-US" dirty="0">
                <a:ea typeface="宋体" pitchFamily="2" charset="-122"/>
              </a:rPr>
              <a:t>）</a:t>
            </a:r>
          </a:p>
        </p:txBody>
      </p:sp>
      <p:sp>
        <p:nvSpPr>
          <p:cNvPr id="9" name="矩形 8"/>
          <p:cNvSpPr/>
          <p:nvPr/>
        </p:nvSpPr>
        <p:spPr>
          <a:xfrm>
            <a:off x="158750" y="733425"/>
            <a:ext cx="8826500" cy="3475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请给出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x=8191;”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机器级代码。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x=8191;”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机器指令和汇编指令如下，对不对？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0000 0000 0000 0000 0001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0110111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 x5, 1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 0000 1000H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1111 1111 1111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00101 000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0010011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x5, x5,-1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#R[x5]←R[x5]+SEXT[FFFH]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zh-CN" altLang="en-US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8750" y="1227138"/>
            <a:ext cx="86550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8191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的机器数为：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0000 0000 0000 0000 0001 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1111 1111 1111</a:t>
            </a:r>
            <a:endParaRPr lang="zh-CN" altLang="en-US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3838" y="1627188"/>
            <a:ext cx="8855075" cy="782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 rd, 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。该指令和“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rd, rs1, imm12”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结合，可以实现对一个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位变量赋初值。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550" y="3808413"/>
            <a:ext cx="8964613" cy="197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不对！因为低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位中第一位为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按符号扩展相加！结果为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4095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可利用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符号扩展特性进行调整！因为 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imm12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范围为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-2048~2048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，故可用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先装入一个距离目标常数小于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的数，再通过 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加 或 </a:t>
            </a:r>
            <a:r>
              <a:rPr lang="zh-CN" altLang="en-US" sz="1900" dirty="0">
                <a:solidFill>
                  <a:srgbClr val="08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减（</a:t>
            </a:r>
            <a:r>
              <a:rPr lang="en-US" altLang="zh-CN" sz="1900" dirty="0">
                <a:solidFill>
                  <a:srgbClr val="08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imm12</a:t>
            </a:r>
            <a:r>
              <a:rPr lang="zh-CN" altLang="en-US" sz="1900" dirty="0">
                <a:solidFill>
                  <a:srgbClr val="08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为负时）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来调整！</a:t>
            </a:r>
            <a:endParaRPr lang="en-US" altLang="zh-CN" sz="1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 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8191=8192-1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，故可先装入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8192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，再用 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（加全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）！</a:t>
            </a:r>
          </a:p>
        </p:txBody>
      </p:sp>
      <p:sp>
        <p:nvSpPr>
          <p:cNvPr id="6" name="矩形 5"/>
          <p:cNvSpPr/>
          <p:nvPr/>
        </p:nvSpPr>
        <p:spPr>
          <a:xfrm>
            <a:off x="60325" y="5853113"/>
            <a:ext cx="9023350" cy="847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0000 0000 0000 0000 0010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0110111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 x5, 2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 0000 2000H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1111 1111 1111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00101 000 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0010011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 x5, x5,-1</a:t>
            </a:r>
            <a:r>
              <a:rPr lang="en-US" altLang="zh-CN" sz="16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#R[x5]←R[x5]+SEXT[FFFH]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74613" y="4459288"/>
            <a:ext cx="8980487" cy="1139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opcode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：都是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0110011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，其功能由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指定，而当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funct3=000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时，再由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区分是加（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）还是减（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）、逻辑右移（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）还是算术右移（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200" y="5602288"/>
            <a:ext cx="8980488" cy="1217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位通用寄存编号，共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个；两个源操作数分别在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寄存器中，结果存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：逻辑左移指令，无算术左移指令。因逻辑左移和算术左移结果完全相同！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131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885825"/>
            <a:ext cx="8782050" cy="3541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18" name="Rectangle 3"/>
          <p:cNvSpPr>
            <a:spLocks noGrp="1"/>
          </p:cNvSpPr>
          <p:nvPr>
            <p:ph idx="1"/>
          </p:nvPr>
        </p:nvSpPr>
        <p:spPr>
          <a:xfrm>
            <a:off x="101600" y="569913"/>
            <a:ext cx="8272463" cy="4730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型指令共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9" name="矩形 8"/>
          <p:cNvSpPr/>
          <p:nvPr/>
        </p:nvSpPr>
        <p:spPr>
          <a:xfrm>
            <a:off x="109538" y="2154238"/>
            <a:ext cx="8826500" cy="4027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假定变量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long long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型，占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的高、低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位分别存放在寄存器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x13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中；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的高、低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位分别存放在寄存器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x15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x14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中；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的高、低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位分别存放在寄存器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x11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x10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中，请写出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z=x+y;”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位字长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机器级代码。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sltu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指令将低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位的进位加入到高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位中。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 </a:t>
            </a: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01110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 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 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 add 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x12,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x14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#R[x10]←R[x12]+R[x14]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 </a:t>
            </a: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01011 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0110011 sltu 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x12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R[x10]&lt;R[x12]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endParaRPr lang="en-US" altLang="zh-CN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      #  R[x11]←1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（若和比加数小，则一定有进位）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</a:t>
            </a: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01111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000 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 add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x16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x13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x15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#R[x16]←R[x13]+R[x15]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 </a:t>
            </a: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000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01011 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0110011 add </a:t>
            </a:r>
            <a:r>
              <a:rPr lang="en-US" altLang="zh-CN" sz="1600" dirty="0">
                <a:solidFill>
                  <a:srgbClr val="2E5C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x16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#R[x11]←R[x11]+R[x16]</a:t>
            </a:r>
            <a:endParaRPr lang="en-US" altLang="zh-CN" sz="16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325" y="684213"/>
            <a:ext cx="8853488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条比较指令：带符号小于（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）、无符号小于（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sltiu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341" name="矩形 1"/>
          <p:cNvSpPr/>
          <p:nvPr/>
        </p:nvSpPr>
        <p:spPr>
          <a:xfrm>
            <a:off x="60325" y="1182688"/>
            <a:ext cx="8924925" cy="82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sltiu rd, rs1, imm12”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功能为：将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内容与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imm12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按无符号整数比较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，若小于，则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中；否则，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63" y="539750"/>
            <a:ext cx="8455025" cy="3246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63" name="Rectangle 3"/>
          <p:cNvSpPr>
            <a:spLocks noGrp="1"/>
          </p:cNvSpPr>
          <p:nvPr>
            <p:ph idx="1"/>
          </p:nvPr>
        </p:nvSpPr>
        <p:spPr>
          <a:xfrm>
            <a:off x="63500" y="1162050"/>
            <a:ext cx="461963" cy="41846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64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grpSp>
        <p:nvGrpSpPr>
          <p:cNvPr id="143365" name="组合 3"/>
          <p:cNvGrpSpPr/>
          <p:nvPr/>
        </p:nvGrpSpPr>
        <p:grpSpPr>
          <a:xfrm>
            <a:off x="622300" y="904875"/>
            <a:ext cx="7656513" cy="2733675"/>
            <a:chOff x="805390" y="-5926310"/>
            <a:chExt cx="7491585" cy="4473263"/>
          </a:xfrm>
        </p:grpSpPr>
        <p:sp>
          <p:nvSpPr>
            <p:cNvPr id="143367" name="矩形 1"/>
            <p:cNvSpPr/>
            <p:nvPr/>
          </p:nvSpPr>
          <p:spPr>
            <a:xfrm>
              <a:off x="805390" y="-5281513"/>
              <a:ext cx="7491584" cy="61527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w="9525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43368" name="矩形 1"/>
            <p:cNvSpPr/>
            <p:nvPr/>
          </p:nvSpPr>
          <p:spPr>
            <a:xfrm>
              <a:off x="805390" y="-4744223"/>
              <a:ext cx="7491584" cy="3291176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9525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43369" name="矩形 1"/>
            <p:cNvSpPr/>
            <p:nvPr/>
          </p:nvSpPr>
          <p:spPr>
            <a:xfrm>
              <a:off x="805390" y="-5926310"/>
              <a:ext cx="7491585" cy="66154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 w="12700">
              <a:noFill/>
            </a:ln>
          </p:spPr>
          <p:txBody>
            <a:bodyPr lIns="63500" tIns="25400" rIns="63500" bIns="25400"/>
            <a:lstStyle/>
            <a:p>
              <a:endParaRPr lang="zh-CN" altLang="en-US" dirty="0">
                <a:solidFill>
                  <a:srgbClr val="063DE8"/>
                </a:solidFill>
                <a:latin typeface="Arial" panose="020B0604020202090204" pitchFamily="3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66688" y="3784600"/>
            <a:ext cx="8756650" cy="3038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功能为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PC←PC+SEXT[imm[20:1]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R[rd]←PC+4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时可实现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过程调用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；指定为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时，可实现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无条件跳转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jalr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PC←R[rs1]+SEXT[imm[12]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R[rd]←PC+4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“jalr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x0,x1,0”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可实现过程调用的返回。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：皆为分支指令，其中，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bltu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bgeu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分别为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无符号数比较小于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 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转移。转移目标地址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=PC+SEXT[imm[12:1]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指令地址总是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指令分别为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字节长）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12" name="矩形 11"/>
          <p:cNvSpPr/>
          <p:nvPr/>
        </p:nvSpPr>
        <p:spPr>
          <a:xfrm>
            <a:off x="85725" y="633413"/>
            <a:ext cx="8826500" cy="428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型变量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分别存放在寄存器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x6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中，写出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z=x+y;”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机器级代码，要求检测是否溢出。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类型时，若“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y&lt;0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x+y≥x”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y≥0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x+y&lt;x”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溢出。可通过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slti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指令对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进行比较。</a:t>
            </a:r>
            <a:endParaRPr lang="en-US" altLang="zh-CN" sz="20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000 </a:t>
            </a:r>
            <a:r>
              <a:rPr lang="en-US" altLang="zh-CN" sz="1600" dirty="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 add x7,x5,x6 #R[x7]←R[x5]+R[x6]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0000 0000 0000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010 </a:t>
            </a:r>
            <a:r>
              <a:rPr lang="en-US" altLang="zh-CN" sz="1600" dirty="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0010011 slti x28,x6,0 #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R[x6]&lt;0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R[x28]←1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00101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00111 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 </a:t>
            </a:r>
            <a:r>
              <a:rPr lang="en-US" altLang="zh-CN" sz="1600" dirty="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 slt x29,x7,x5 #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R[x7]&lt;R[x5]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则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R[x29]←1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0000010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11101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001 </a:t>
            </a:r>
            <a:r>
              <a:rPr lang="en-US" altLang="zh-CN" sz="1600" dirty="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 bne x28,x29,overflew #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R[x28]≠R[x29] 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……                                                                                                      #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则转溢出处理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overflew:</a:t>
            </a:r>
          </a:p>
        </p:txBody>
      </p:sp>
      <p:sp>
        <p:nvSpPr>
          <p:cNvPr id="144388" name="矩形 3"/>
          <p:cNvSpPr/>
          <p:nvPr/>
        </p:nvSpPr>
        <p:spPr>
          <a:xfrm>
            <a:off x="230188" y="5264150"/>
            <a:ext cx="8826500" cy="1593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假定标号为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overflew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的指令与“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bne x28, x29, overflew”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之间相距</a:t>
            </a:r>
            <a:r>
              <a:rPr lang="en-US" altLang="zh-CN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，每条指令</a:t>
            </a:r>
            <a:r>
              <a:rPr lang="en-US" altLang="zh-CN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，则“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bne x28, x29, overflew”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指令中的</a:t>
            </a:r>
            <a:r>
              <a:rPr lang="zh-CN" altLang="en-US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偏移量应为</a:t>
            </a:r>
            <a:r>
              <a:rPr lang="en-US" altLang="zh-CN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，因此，指令中的</a:t>
            </a:r>
            <a:r>
              <a:rPr lang="zh-CN" altLang="en-US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立即数为</a:t>
            </a:r>
            <a:r>
              <a:rPr lang="en-US" altLang="zh-CN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40=</a:t>
            </a:r>
            <a:r>
              <a:rPr lang="en-US" altLang="zh-CN" sz="1900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900" dirty="0">
                <a:solidFill>
                  <a:srgbClr val="7E00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9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00 0010</a:t>
            </a:r>
            <a:r>
              <a:rPr lang="en-US" altLang="zh-CN" sz="19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1000B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，按照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型格式，该指令的机器码为“</a:t>
            </a:r>
            <a:r>
              <a:rPr lang="en-US" altLang="zh-CN" sz="1900" dirty="0">
                <a:solidFill>
                  <a:srgbClr val="388A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9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000010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11101 11100 001 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en-US" altLang="zh-CN" sz="1900" dirty="0">
                <a:solidFill>
                  <a:srgbClr val="7E00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0110011”</a:t>
            </a:r>
            <a:r>
              <a:rPr lang="zh-CN" altLang="en-US" sz="1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4438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88" y="4791075"/>
            <a:ext cx="7896225" cy="55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/>
          </p:cNvSpPr>
          <p:nvPr>
            <p:ph idx="1"/>
          </p:nvPr>
        </p:nvSpPr>
        <p:spPr>
          <a:xfrm>
            <a:off x="63500" y="1162050"/>
            <a:ext cx="461963" cy="41846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存储访问指令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411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grpSp>
        <p:nvGrpSpPr>
          <p:cNvPr id="145412" name="组合 1"/>
          <p:cNvGrpSpPr/>
          <p:nvPr/>
        </p:nvGrpSpPr>
        <p:grpSpPr>
          <a:xfrm>
            <a:off x="468313" y="577850"/>
            <a:ext cx="8502650" cy="3619500"/>
            <a:chOff x="468313" y="577850"/>
            <a:chExt cx="8502650" cy="3038475"/>
          </a:xfrm>
        </p:grpSpPr>
        <p:pic>
          <p:nvPicPr>
            <p:cNvPr id="145414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313" y="577850"/>
              <a:ext cx="8502650" cy="30384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45415" name="组合 3"/>
            <p:cNvGrpSpPr/>
            <p:nvPr/>
          </p:nvGrpSpPr>
          <p:grpSpPr>
            <a:xfrm>
              <a:off x="525463" y="959911"/>
              <a:ext cx="7925517" cy="2656413"/>
              <a:chOff x="645449" y="-10613191"/>
              <a:chExt cx="7754795" cy="4346835"/>
            </a:xfrm>
          </p:grpSpPr>
          <p:sp>
            <p:nvSpPr>
              <p:cNvPr id="145416" name="矩形 1"/>
              <p:cNvSpPr/>
              <p:nvPr/>
            </p:nvSpPr>
            <p:spPr>
              <a:xfrm>
                <a:off x="645449" y="-7939721"/>
                <a:ext cx="7754795" cy="1673365"/>
              </a:xfrm>
              <a:prstGeom prst="rect">
                <a:avLst/>
              </a:prstGeom>
              <a:solidFill>
                <a:srgbClr val="C00000">
                  <a:alpha val="20000"/>
                </a:srgbClr>
              </a:solidFill>
              <a:ln w="9525">
                <a:noFill/>
              </a:ln>
            </p:spPr>
            <p:txBody>
              <a:bodyPr lIns="63500" tIns="25400" rIns="63500" bIns="25400"/>
              <a:lstStyle/>
              <a:p>
                <a:endParaRPr lang="zh-CN" altLang="en-US" dirty="0">
                  <a:solidFill>
                    <a:srgbClr val="063DE8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145417" name="矩形 1"/>
              <p:cNvSpPr/>
              <p:nvPr/>
            </p:nvSpPr>
            <p:spPr>
              <a:xfrm>
                <a:off x="645449" y="-10613191"/>
                <a:ext cx="7754795" cy="2650339"/>
              </a:xfrm>
              <a:prstGeom prst="rect">
                <a:avLst/>
              </a:prstGeom>
              <a:solidFill>
                <a:schemeClr val="accent2">
                  <a:alpha val="20000"/>
                </a:schemeClr>
              </a:solidFill>
              <a:ln w="12700">
                <a:noFill/>
              </a:ln>
            </p:spPr>
            <p:txBody>
              <a:bodyPr lIns="63500" tIns="25400" rIns="63500" bIns="25400"/>
              <a:lstStyle/>
              <a:p>
                <a:endParaRPr lang="zh-CN" altLang="en-US" dirty="0">
                  <a:solidFill>
                    <a:srgbClr val="063DE8"/>
                  </a:solidFill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293688" y="4392613"/>
            <a:ext cx="8756650" cy="2166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条取数（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）指令。功能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R[rd]←M[R[rs1]+SEXT[imm[12]]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lbu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lhu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：分别为无符号字节、半字取，取出数据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位，装入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条存数（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）指令。功能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M[R[rs1]+SEXT[imm[12]]←R[rs2].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</a:t>
            </a:r>
            <a:r>
              <a:rPr lang="zh-CN" altLang="en-US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寄存器中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写入存储单元中。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汇编形式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：存储地址可写成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imm12(rs1)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604838"/>
            <a:ext cx="8534400" cy="3714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435" name="Rectangle 3"/>
          <p:cNvSpPr>
            <a:spLocks noGrp="1"/>
          </p:cNvSpPr>
          <p:nvPr>
            <p:ph idx="1"/>
          </p:nvPr>
        </p:nvSpPr>
        <p:spPr>
          <a:xfrm>
            <a:off x="63500" y="1162050"/>
            <a:ext cx="461963" cy="41846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ts val="27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系统控制类指令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ts val="2700"/>
              </a:lnSpc>
              <a:buNone/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436" name="Rectangle 2"/>
          <p:cNvSpPr>
            <a:spLocks noGrp="1"/>
          </p:cNvSpPr>
          <p:nvPr>
            <p:ph type="title"/>
          </p:nvPr>
        </p:nvSpPr>
        <p:spPr>
          <a:xfrm>
            <a:off x="1293813" y="109538"/>
            <a:ext cx="65563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基础整数指令集（</a:t>
            </a:r>
            <a:r>
              <a:rPr lang="en-US" altLang="zh-CN" sz="2600" dirty="0">
                <a:ea typeface="宋体" pitchFamily="2" charset="-122"/>
              </a:rPr>
              <a:t>RV32I</a:t>
            </a:r>
            <a:r>
              <a:rPr lang="zh-CN" altLang="en-US" sz="2600" dirty="0">
                <a:ea typeface="宋体" pitchFamily="2" charset="-122"/>
              </a:rPr>
              <a:t>）</a:t>
            </a:r>
          </a:p>
        </p:txBody>
      </p:sp>
      <p:sp>
        <p:nvSpPr>
          <p:cNvPr id="11" name="矩形 10"/>
          <p:cNvSpPr/>
          <p:nvPr/>
        </p:nvSpPr>
        <p:spPr>
          <a:xfrm>
            <a:off x="293688" y="4392613"/>
            <a:ext cx="8756650" cy="2371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fence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架构在不同硬件线程之间使用宽松一致性模型，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fence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fence.i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两条屏障指令，用于保证一定的存储访问顺序。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ecall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ebreak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：陷阱（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）指令，也称自陷指令，主要用于从用户程序陷入到操作系统内核（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ecall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）或调试环境（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ebreak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）执行，因此也称为环境（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）类指令。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csrxxx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指令用于设置和读取相应的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控制状态寄存器（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6438" name="矩形 1"/>
          <p:cNvSpPr/>
          <p:nvPr/>
        </p:nvSpPr>
        <p:spPr>
          <a:xfrm>
            <a:off x="622300" y="1574800"/>
            <a:ext cx="7656513" cy="647700"/>
          </a:xfrm>
          <a:prstGeom prst="rect">
            <a:avLst/>
          </a:prstGeom>
          <a:solidFill>
            <a:srgbClr val="C00000">
              <a:alpha val="20000"/>
            </a:srgbClr>
          </a:solidFill>
          <a:ln w="9525">
            <a:noFill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46439" name="矩形 1"/>
          <p:cNvSpPr/>
          <p:nvPr/>
        </p:nvSpPr>
        <p:spPr>
          <a:xfrm>
            <a:off x="622300" y="2222500"/>
            <a:ext cx="7656513" cy="2022475"/>
          </a:xfrm>
          <a:prstGeom prst="rect">
            <a:avLst/>
          </a:prstGeom>
          <a:solidFill>
            <a:srgbClr val="FFFF00">
              <a:alpha val="20000"/>
            </a:srgbClr>
          </a:solidFill>
          <a:ln w="9525">
            <a:noFill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  <p:sp>
        <p:nvSpPr>
          <p:cNvPr id="146440" name="矩形 1"/>
          <p:cNvSpPr/>
          <p:nvPr/>
        </p:nvSpPr>
        <p:spPr>
          <a:xfrm>
            <a:off x="622300" y="904875"/>
            <a:ext cx="7656513" cy="669925"/>
          </a:xfrm>
          <a:prstGeom prst="rect">
            <a:avLst/>
          </a:prstGeom>
          <a:solidFill>
            <a:schemeClr val="accent2">
              <a:alpha val="20000"/>
            </a:schemeClr>
          </a:solidFill>
          <a:ln w="12700">
            <a:noFill/>
          </a:ln>
        </p:spPr>
        <p:txBody>
          <a:bodyPr lIns="63500" tIns="25400" rIns="63500" bIns="25400"/>
          <a:lstStyle/>
          <a:p>
            <a:endParaRPr lang="zh-CN" altLang="en-US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4"/>
          <p:cNvSpPr>
            <a:spLocks noChangeArrowheads="1"/>
          </p:cNvSpPr>
          <p:nvPr/>
        </p:nvSpPr>
        <p:spPr bwMode="auto">
          <a:xfrm>
            <a:off x="87313" y="539750"/>
            <a:ext cx="8950325" cy="6102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81000" indent="-381000"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800100" indent="-342900"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accent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381000" marR="0" lvl="0" indent="-3810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标准扩展指令集</a:t>
            </a: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基础指令集之上，可标准扩展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RV32F/D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，以形成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位架构合集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RV32IMAFD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，也称为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RV32G</a:t>
            </a: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基础上，对每个指令集进行调整和添加，可形成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，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原先在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中处理的数据将调整为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位。但为了支持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位数据操作，每个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位架构指令集中都会添加少量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位数据处理指令。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RISC-V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扩展集包括</a:t>
            </a: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针对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C012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需要，在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47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指令基础上，增加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12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条整数指令（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+RV64I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），包括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位移位指令、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位加减运算指令、两条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位装入（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Load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）指令和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64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位存储（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Store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）指令，故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59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条指令。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  <a:hlinkClick r:id="" action="ppaction://noaction"/>
              </a:rPr>
              <a:t>举例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针对乘除运算需要，提供了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位架构乘除运算指令集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中的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  <a:hlinkClick r:id="" action="ppaction://noaction"/>
              </a:rPr>
              <a:t>8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  <a:hlinkClick r:id="" action="ppaction://noaction"/>
              </a:rPr>
              <a:t>条指令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，并在此基础上增加了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专用指令（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+RV64M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针对浮点数运算的需要，提供了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位架构的单精度浮点处理指令集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和双精度浮点处理指令集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，并在此基础上分别增加了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专用指令集（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+RV64F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）和（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+RV64D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）。</a:t>
            </a:r>
          </a:p>
          <a:p>
            <a:pPr marL="800100" marR="0" lvl="1" indent="-3429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针对事务处理和操作原子性的需要，提供了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位架构原子操作指令集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RV32A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以及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RV64A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专用指令集（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+RV64A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）。关于事务处理和原子性操作问题的说明可参考第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8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章。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  <a:p>
            <a:pPr marL="381000" marR="0" lvl="1" indent="-381000" algn="l" defTabSz="914400" rtl="0" eaLnBrk="0" fontAlgn="base" latinLnBrk="0" hangingPunct="0">
              <a:lnSpc>
                <a:spcPct val="112000"/>
              </a:lnSpc>
              <a:spcBef>
                <a:spcPct val="15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向量处理指令集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、未来可选扩展指令集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RVH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……</a:t>
            </a:r>
          </a:p>
          <a:p>
            <a:pPr marL="800100" marR="0" lvl="1" indent="-342900" algn="l" defTabSz="914400" rtl="0" eaLnBrk="0" fontAlgn="base" latinLnBrk="0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Tx/>
              <a:buSzPct val="100000"/>
              <a:buFontTx/>
              <a:buChar char="–"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Arial" panose="020B0604020202090204" pitchFamily="34" charset="0"/>
              <a:ea typeface="黑体" pitchFamily="49" charset="-122"/>
              <a:cs typeface="+mn-cs"/>
            </a:endParaRPr>
          </a:p>
        </p:txBody>
      </p:sp>
      <p:sp>
        <p:nvSpPr>
          <p:cNvPr id="147459" name="Rectangle 5"/>
          <p:cNvSpPr>
            <a:spLocks noGrp="1"/>
          </p:cNvSpPr>
          <p:nvPr>
            <p:ph type="title"/>
          </p:nvPr>
        </p:nvSpPr>
        <p:spPr>
          <a:xfrm>
            <a:off x="711200" y="114300"/>
            <a:ext cx="48418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可选的扩展指令集</a:t>
            </a:r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4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4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4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4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4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4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5"/>
          <p:cNvSpPr>
            <a:spLocks noGrp="1"/>
          </p:cNvSpPr>
          <p:nvPr>
            <p:ph type="title"/>
          </p:nvPr>
        </p:nvSpPr>
        <p:spPr>
          <a:xfrm>
            <a:off x="711200" y="114300"/>
            <a:ext cx="48418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64</a:t>
            </a:r>
            <a:r>
              <a:rPr lang="zh-CN" altLang="en-US" sz="2600" dirty="0">
                <a:ea typeface="宋体" pitchFamily="2" charset="-122"/>
              </a:rPr>
              <a:t>位架构指令举例</a:t>
            </a:r>
            <a:endParaRPr lang="en-US" altLang="zh-CN" sz="2600" dirty="0">
              <a:ea typeface="宋体" pitchFamily="2" charset="-122"/>
            </a:endParaRPr>
          </a:p>
        </p:txBody>
      </p:sp>
      <p:sp>
        <p:nvSpPr>
          <p:cNvPr id="148483" name="矩形 1"/>
          <p:cNvSpPr/>
          <p:nvPr/>
        </p:nvSpPr>
        <p:spPr>
          <a:xfrm>
            <a:off x="442913" y="871538"/>
            <a:ext cx="8489950" cy="5114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架构中，如何实现将一个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位常数</a:t>
            </a:r>
            <a:r>
              <a:rPr lang="en-US" altLang="zh-CN" sz="2000" dirty="0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00000000 00111101 0000</a:t>
            </a:r>
            <a:r>
              <a:rPr lang="en-US" altLang="zh-CN" sz="2000" dirty="0">
                <a:solidFill>
                  <a:srgbClr val="4B9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0101 00000000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解：在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位架构中，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指令将一个常数的高位装入到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位寄存器中。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首先，可以用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指令将常数中的第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31~12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0000 0000 0011 1101 0000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（对应十进制数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976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）装入到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寄存器的第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31~12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位，同时，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寄存器的第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11~0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位为全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，高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位按符号（第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位为符号）扩展为全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63D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然后，再将常数的低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0101 0000 0000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（对应十进制数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）加到</a:t>
            </a: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因此，实现上述功能对应的汇编指令序列为：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lui	a0, 976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	a0, a0, 1280</a:t>
            </a:r>
          </a:p>
        </p:txBody>
      </p:sp>
      <p:sp>
        <p:nvSpPr>
          <p:cNvPr id="5" name="Text Box 8"/>
          <p:cNvSpPr txBox="1"/>
          <p:nvPr/>
        </p:nvSpPr>
        <p:spPr>
          <a:xfrm>
            <a:off x="6694488" y="5661025"/>
            <a:ext cx="947737" cy="325438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063DE8"/>
                </a:solidFill>
                <a:latin typeface="Arial" panose="020B0604020202090204" pitchFamily="34" charset="0"/>
                <a:hlinkClick r:id="" action="ppaction://noaction"/>
              </a:rPr>
              <a:t>BACK</a:t>
            </a:r>
            <a:endParaRPr lang="en-US" altLang="zh-CN" sz="1800" dirty="0">
              <a:solidFill>
                <a:srgbClr val="063DE8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/>
          </p:cNvSpPr>
          <p:nvPr>
            <p:ph type="title"/>
          </p:nvPr>
        </p:nvSpPr>
        <p:spPr>
          <a:xfrm>
            <a:off x="790575" y="111125"/>
            <a:ext cx="6073775" cy="400050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en-US" altLang="zh-CN" sz="2600" dirty="0">
                <a:ea typeface="宋体" pitchFamily="2" charset="-122"/>
              </a:rPr>
              <a:t>RISC-V</a:t>
            </a:r>
            <a:r>
              <a:rPr lang="zh-CN" altLang="en-US" sz="2600" dirty="0">
                <a:ea typeface="宋体" pitchFamily="2" charset="-122"/>
              </a:rPr>
              <a:t>中整数的乘、除运算处理</a:t>
            </a:r>
          </a:p>
        </p:txBody>
      </p:sp>
      <p:sp>
        <p:nvSpPr>
          <p:cNvPr id="459779" name="Rectangle 3"/>
          <p:cNvSpPr>
            <a:spLocks noGrp="1"/>
          </p:cNvSpPr>
          <p:nvPr>
            <p:ph idx="1"/>
          </p:nvPr>
        </p:nvSpPr>
        <p:spPr>
          <a:xfrm>
            <a:off x="311150" y="790575"/>
            <a:ext cx="8358188" cy="56388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  <a:spcBef>
                <a:spcPct val="35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乘法指令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mul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mulhsu</a:t>
            </a: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 rd, rs1, rs2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位乘积存入结果寄存器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：将两个乘数同时按带符号整数（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）、同时按无符号整数（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）相乘，高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位乘积存入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mulhsu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：将两个乘数分别作为带符号整数和无符号整数相乘后得到的高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位乘积存入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位乘积需要两条连续的指令，其中一定有一条是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指令，实际执行时只有一条指令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两种乘法指令都不检测溢出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而是直接把结果写入结果寄存器。由软件根据结果寄存器的值自行判断和处理溢出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除法指令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div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remu</a:t>
            </a: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/ rem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：按带符号整数做除法，得到商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divu / remu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：按无符号整数做除法，得到商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指令不检测和发出异常，而是由系统软件自行处理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9780" name="Text Box 4"/>
          <p:cNvSpPr txBox="1"/>
          <p:nvPr/>
        </p:nvSpPr>
        <p:spPr>
          <a:xfrm>
            <a:off x="7094538" y="4478338"/>
            <a:ext cx="1574800" cy="67786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问题：如何判断溢出？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9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9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59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8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/>
          </p:cNvSpPr>
          <p:nvPr>
            <p:ph type="title"/>
          </p:nvPr>
        </p:nvSpPr>
        <p:spPr>
          <a:xfrm>
            <a:off x="385763" y="98425"/>
            <a:ext cx="8229600" cy="479425"/>
          </a:xfrm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sz="3200" dirty="0">
                <a:ea typeface="宋体" pitchFamily="2" charset="-122"/>
              </a:rPr>
              <a:t>举例：整数除运算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0825" y="773113"/>
            <a:ext cx="8766175" cy="59864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RISC-V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指令不检测和发出异常，而是由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系统软件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自行处理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除法错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不触发异常，而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特殊的商和余数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来表示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这样做的好处是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简化流水线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的硬件实现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若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整数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除以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，则指令执行结果为：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商为全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，余数为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最小的负整数除以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-1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时，会发生结果溢出，此时，相应指令执行结果为：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商为被除数（即最小负整数），余数为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若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除法错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进行处理，可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查看商和余数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来判断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388A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若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不处理除法错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88A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则程序就得到错误结果，这种情况下需要程序员进行相应处理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053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8650"/>
            <a:ext cx="8229600" cy="148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950" y="403225"/>
            <a:ext cx="5500688" cy="379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3535363" y="3452813"/>
            <a:ext cx="1081088" cy="334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63500" tIns="25400" rIns="63500" bIns="25400" anchor="t" anchorCtr="0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本章作业</a:t>
            </a:r>
          </a:p>
        </p:txBody>
      </p:sp>
      <p:sp>
        <p:nvSpPr>
          <p:cNvPr id="152579" name="Rectangle 3"/>
          <p:cNvSpPr>
            <a:spLocks noGrp="1"/>
          </p:cNvSpPr>
          <p:nvPr>
            <p:ph idx="1"/>
          </p:nvPr>
        </p:nvSpPr>
        <p:spPr>
          <a:xfrm>
            <a:off x="730250" y="835025"/>
            <a:ext cx="7681913" cy="681038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45000"/>
              </a:lnSpc>
              <a:buNone/>
            </a:pPr>
            <a:r>
              <a:rPr lang="en-US" altLang="zh-CN" sz="3200" dirty="0"/>
              <a:t>  </a:t>
            </a:r>
            <a:endParaRPr lang="en-US" altLang="zh-CN" sz="36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2775" y="1516063"/>
            <a:ext cx="8116888" cy="1223963"/>
          </a:xfrm>
          <a:prstGeom prst="rect">
            <a:avLst/>
          </a:prstGeom>
          <a:noFill/>
          <a:ln>
            <a:noFill/>
          </a:ln>
          <a:effectLst/>
        </p:spPr>
        <p:txBody>
          <a:bodyPr lIns="63500" tIns="25400" rIns="63500" bIns="25400">
            <a:spAutoFit/>
          </a:bodyPr>
          <a:lstStyle>
            <a:lvl1pPr marL="203200" indent="-203200" algn="l" rtl="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u"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190500" algn="l" rtl="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SzPct val="100000"/>
              <a:buChar char="•"/>
              <a:defRPr sz="2000" b="1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2pPr>
            <a:lvl3pPr marL="1257300" indent="-342900" algn="l" rtl="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SzPct val="100000"/>
              <a:buChar char="-"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marR="0" lvl="0" indent="-203200" algn="l" defTabSz="9144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章习题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Web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Web">
      <a:majorFont>
        <a:latin typeface="Arial"/>
        <a:ea typeface=""/>
        <a:cs typeface=""/>
      </a:majorFont>
      <a:minorFont>
        <a:latin typeface="宋体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63500" tIns="25400" rIns="63500" bIns="2540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63500" tIns="25400" rIns="63500" bIns="2540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We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6593</TotalTime>
  <Pages>39</Pages>
  <Words>9797</Words>
  <Application>Microsoft Macintosh PowerPoint</Application>
  <PresentationFormat>信纸(8.5x11 英寸)</PresentationFormat>
  <Paragraphs>1273</Paragraphs>
  <Slides>72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2" baseType="lpstr">
      <vt:lpstr>黑体</vt:lpstr>
      <vt:lpstr>宋体</vt:lpstr>
      <vt:lpstr>微软雅黑</vt:lpstr>
      <vt:lpstr>Arial</vt:lpstr>
      <vt:lpstr>Monotype Sorts</vt:lpstr>
      <vt:lpstr>Symbol</vt:lpstr>
      <vt:lpstr>Times New Roman</vt:lpstr>
      <vt:lpstr>Wingdings</vt:lpstr>
      <vt:lpstr>Web</vt:lpstr>
      <vt:lpstr>Paint.Picture</vt:lpstr>
      <vt:lpstr> 第二讲 程序的机器级表示</vt:lpstr>
      <vt:lpstr>MIPS指令格式</vt:lpstr>
      <vt:lpstr>MIPS指令字段含义</vt:lpstr>
      <vt:lpstr>OP字段的含义（MIPS指令的操作码编码/解码表）</vt:lpstr>
      <vt:lpstr>R-型指令的解码（op=0时，func字段的编码/解码表）</vt:lpstr>
      <vt:lpstr>MIPS Addressing Modes（寻址方式）</vt:lpstr>
      <vt:lpstr>Example：汇编形式与指令的对应</vt:lpstr>
      <vt:lpstr>Example：汇编形式与指令的对应</vt:lpstr>
      <vt:lpstr>MIPS Circuits for R-Type Instructions</vt:lpstr>
      <vt:lpstr>MIPS R-type指令实现电路的执行过程</vt:lpstr>
      <vt:lpstr>MIPS指令中寄存器数据和存储器数据的指定</vt:lpstr>
      <vt:lpstr>MIPS寄存器的功能定义和两种汇编表示 </vt:lpstr>
      <vt:lpstr>MIPS arithmetic and logic instructions</vt:lpstr>
      <vt:lpstr>MIPS data transfer instructions</vt:lpstr>
      <vt:lpstr>MIPS的call/return/ jump/branch和compare指令</vt:lpstr>
      <vt:lpstr>MIPS汇编语言示例列表</vt:lpstr>
      <vt:lpstr>MIPS机器代码示例列表</vt:lpstr>
      <vt:lpstr>MIPS指令中位的指定和逻辑运算</vt:lpstr>
      <vt:lpstr>MIPS指令中常数的指定</vt:lpstr>
      <vt:lpstr>MIPS指令中如何表示文本字符串</vt:lpstr>
      <vt:lpstr>数据类型和MIPS指令的对应</vt:lpstr>
      <vt:lpstr>Example：算术运算 </vt:lpstr>
      <vt:lpstr>Example (Base register) </vt:lpstr>
      <vt:lpstr>Example (Index Register) </vt:lpstr>
      <vt:lpstr>Example：if-then-else语句和“=”判断</vt:lpstr>
      <vt:lpstr>Example：“less than”判断</vt:lpstr>
      <vt:lpstr>Example：Loop循环 </vt:lpstr>
      <vt:lpstr>Example：过程调用</vt:lpstr>
      <vt:lpstr>过程调用和栈</vt:lpstr>
      <vt:lpstr>虚拟地址空间</vt:lpstr>
      <vt:lpstr>MIPS程序和数据的存储器分配</vt:lpstr>
      <vt:lpstr>栈(Stack)的概念</vt:lpstr>
      <vt:lpstr>栈帧的概念</vt:lpstr>
      <vt:lpstr>IA-32中P调用caller，caller调用add</vt:lpstr>
      <vt:lpstr>PowerPoint 演示文稿</vt:lpstr>
      <vt:lpstr>MIPS中的过程调用（假定P调用Q）</vt:lpstr>
      <vt:lpstr>过程调用时MIPS中的栈和栈帧的变化 </vt:lpstr>
      <vt:lpstr>Example in C: swap</vt:lpstr>
      <vt:lpstr>swap: MIPS中的一个过程示例</vt:lpstr>
      <vt:lpstr>Example：过程调用</vt:lpstr>
      <vt:lpstr>过程调用时的变量分配</vt:lpstr>
      <vt:lpstr>过程调用举例：栈指针、帧指针和栈帧中信息的变化</vt:lpstr>
      <vt:lpstr>过程调用举例：set_array过程</vt:lpstr>
      <vt:lpstr>过程调用举例：compare过程和sub过程</vt:lpstr>
      <vt:lpstr>程序的翻译、链接和加载</vt:lpstr>
      <vt:lpstr>复习：MIPS程序和数据的存储器分配</vt:lpstr>
      <vt:lpstr>目标文件的链接</vt:lpstr>
      <vt:lpstr>目标文件的链接</vt:lpstr>
      <vt:lpstr>目标文件的链接</vt:lpstr>
      <vt:lpstr>第二讲小结</vt:lpstr>
      <vt:lpstr> 第三讲  指令系统实例：RISC-V（可选）</vt:lpstr>
      <vt:lpstr>RISC-V指令系统概述</vt:lpstr>
      <vt:lpstr>指令参考卡①</vt:lpstr>
      <vt:lpstr>指令参考卡②</vt:lpstr>
      <vt:lpstr>32位RISC-V指令格式</vt:lpstr>
      <vt:lpstr>16位RISC-V压缩指令格式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RISC-V基础整数指令集（RV32I）</vt:lpstr>
      <vt:lpstr>RISC-V可选的扩展指令集</vt:lpstr>
      <vt:lpstr>64位架构指令举例</vt:lpstr>
      <vt:lpstr>RISC-V中整数的乘、除运算处理</vt:lpstr>
      <vt:lpstr>举例：整数除运算</vt:lpstr>
      <vt:lpstr>本章作业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Set Design Principles</dc:title>
  <dc:creator>CFYUAN</dc:creator>
  <cp:lastModifiedBy>Sen Liu</cp:lastModifiedBy>
  <cp:revision>872</cp:revision>
  <cp:lastPrinted>2024-03-30T08:27:27Z</cp:lastPrinted>
  <dcterms:created xsi:type="dcterms:W3CDTF">2024-03-30T08:27:27Z</dcterms:created>
  <dcterms:modified xsi:type="dcterms:W3CDTF">2024-04-10T10:21:54Z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  <property fmtid="{D5CDD505-2E9C-101B-9397-08002B2CF9AE}" pid="22" name="ICV">
    <vt:lpwstr>032B59BA02548990EFCC07665E9F686D_43</vt:lpwstr>
  </property>
  <property fmtid="{D5CDD505-2E9C-101B-9397-08002B2CF9AE}" pid="23" name="KSOProductBuildVer">
    <vt:lpwstr>2052-6.5.2.8766</vt:lpwstr>
  </property>
</Properties>
</file>
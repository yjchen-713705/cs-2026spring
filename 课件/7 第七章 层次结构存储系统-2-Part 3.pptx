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855" r:id="rId2"/>
    <p:sldId id="709" r:id="rId3"/>
    <p:sldId id="710" r:id="rId4"/>
    <p:sldId id="711" r:id="rId5"/>
    <p:sldId id="713" r:id="rId6"/>
    <p:sldId id="598" r:id="rId7"/>
    <p:sldId id="599" r:id="rId8"/>
    <p:sldId id="600" r:id="rId9"/>
    <p:sldId id="792" r:id="rId10"/>
    <p:sldId id="856" r:id="rId11"/>
    <p:sldId id="602" r:id="rId12"/>
    <p:sldId id="765" r:id="rId13"/>
    <p:sldId id="603" r:id="rId14"/>
    <p:sldId id="605" r:id="rId15"/>
    <p:sldId id="606" r:id="rId16"/>
    <p:sldId id="857" r:id="rId17"/>
    <p:sldId id="607" r:id="rId18"/>
    <p:sldId id="608" r:id="rId19"/>
    <p:sldId id="716" r:id="rId20"/>
    <p:sldId id="721" r:id="rId21"/>
    <p:sldId id="609" r:id="rId22"/>
    <p:sldId id="610" r:id="rId23"/>
    <p:sldId id="611" r:id="rId24"/>
    <p:sldId id="612" r:id="rId25"/>
    <p:sldId id="613" r:id="rId26"/>
    <p:sldId id="722" r:id="rId27"/>
    <p:sldId id="638" r:id="rId28"/>
    <p:sldId id="639" r:id="rId29"/>
    <p:sldId id="1098" r:id="rId30"/>
    <p:sldId id="1099" r:id="rId31"/>
    <p:sldId id="643" r:id="rId32"/>
    <p:sldId id="760" r:id="rId33"/>
    <p:sldId id="761" r:id="rId34"/>
    <p:sldId id="614" r:id="rId35"/>
    <p:sldId id="615" r:id="rId36"/>
    <p:sldId id="616" r:id="rId37"/>
    <p:sldId id="724" r:id="rId38"/>
    <p:sldId id="723" r:id="rId39"/>
    <p:sldId id="725" r:id="rId40"/>
    <p:sldId id="858" r:id="rId41"/>
    <p:sldId id="859" r:id="rId42"/>
    <p:sldId id="860" r:id="rId43"/>
    <p:sldId id="861" r:id="rId44"/>
    <p:sldId id="862" r:id="rId45"/>
    <p:sldId id="1088" r:id="rId46"/>
  </p:sldIdLst>
  <p:sldSz cx="9144000" cy="6858000" type="screen4x3"/>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68" autoAdjust="0"/>
    <p:restoredTop sz="80990" autoAdjust="0"/>
  </p:normalViewPr>
  <p:slideViewPr>
    <p:cSldViewPr snapToGrid="0">
      <p:cViewPr varScale="1">
        <p:scale>
          <a:sx n="82" d="100"/>
          <a:sy n="82" d="100"/>
        </p:scale>
        <p:origin x="640"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49" d="100"/>
          <a:sy n="49" d="100"/>
        </p:scale>
        <p:origin x="-2358" y="-90"/>
      </p:cViewPr>
      <p:guideLst>
        <p:guide orient="horz" pos="3224"/>
        <p:guide pos="2236"/>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920EDEB-6225-3148-8A64-D6EB201A0E91}"/>
              </a:ext>
            </a:extLst>
          </p:cNvPr>
          <p:cNvSpPr>
            <a:spLocks noGrp="1" noRot="1" noChangeAspect="1" noChangeArrowheads="1" noTextEdit="1"/>
          </p:cNvSpPr>
          <p:nvPr>
            <p:ph type="sldImg" idx="2"/>
          </p:nvPr>
        </p:nvSpPr>
        <p:spPr bwMode="auto">
          <a:xfrm>
            <a:off x="990600" y="644525"/>
            <a:ext cx="5135563" cy="385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1" name="Rectangle 3">
            <a:extLst>
              <a:ext uri="{FF2B5EF4-FFF2-40B4-BE49-F238E27FC236}">
                <a16:creationId xmlns:a16="http://schemas.microsoft.com/office/drawing/2014/main" id="{E8B36A8C-C8F0-0C42-B002-73F79BB2C8A1}"/>
              </a:ext>
            </a:extLst>
          </p:cNvPr>
          <p:cNvSpPr>
            <a:spLocks noGrp="1" noChangeArrowheads="1"/>
          </p:cNvSpPr>
          <p:nvPr>
            <p:ph type="body" sz="quarter" idx="3"/>
          </p:nvPr>
        </p:nvSpPr>
        <p:spPr bwMode="auto">
          <a:xfrm>
            <a:off x="533400" y="4860925"/>
            <a:ext cx="6118225" cy="4606925"/>
          </a:xfrm>
          <a:prstGeom prst="rect">
            <a:avLst/>
          </a:prstGeom>
          <a:noFill/>
          <a:ln>
            <a:noFill/>
          </a:ln>
          <a:effectLst/>
        </p:spPr>
        <p:txBody>
          <a:bodyPr vert="horz" wrap="square" lIns="100269" tIns="49255" rIns="100269" bIns="49255" numCol="1" anchor="t" anchorCtr="0" compatLnSpc="1">
            <a:prstTxWarp prst="textNoShape">
              <a:avLst/>
            </a:prstTxWarp>
          </a:bodyPr>
          <a:lstStyle/>
          <a:p>
            <a:pPr lvl="0"/>
            <a:r>
              <a:rPr lang="en-US" altLang="zh-CN" noProof="0"/>
              <a:t>We want this to be in font 11 and justify.</a:t>
            </a:r>
          </a:p>
        </p:txBody>
      </p:sp>
    </p:spTree>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a:extLst>
              <a:ext uri="{FF2B5EF4-FFF2-40B4-BE49-F238E27FC236}">
                <a16:creationId xmlns:a16="http://schemas.microsoft.com/office/drawing/2014/main" id="{7F39FCCC-AD42-494A-A650-853D21448D76}"/>
              </a:ext>
            </a:extLst>
          </p:cNvPr>
          <p:cNvSpPr>
            <a:spLocks noGrp="1" noRot="1" noChangeAspect="1" noChangeArrowheads="1" noTextEdit="1"/>
          </p:cNvSpPr>
          <p:nvPr>
            <p:ph type="sldImg"/>
          </p:nvPr>
        </p:nvSpPr>
        <p:spPr/>
      </p:sp>
      <p:sp>
        <p:nvSpPr>
          <p:cNvPr id="202755" name="备注占位符 2">
            <a:extLst>
              <a:ext uri="{FF2B5EF4-FFF2-40B4-BE49-F238E27FC236}">
                <a16:creationId xmlns:a16="http://schemas.microsoft.com/office/drawing/2014/main" id="{DFEE673E-EC69-2445-A24C-0FE20A9776A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a:extLst>
              <a:ext uri="{FF2B5EF4-FFF2-40B4-BE49-F238E27FC236}">
                <a16:creationId xmlns:a16="http://schemas.microsoft.com/office/drawing/2014/main" id="{F0E0B79D-F983-7D48-9DB4-E5B5F3A3F77D}"/>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41F00FDF-B816-824E-8EBB-FE454C58711F}" type="slidenum">
              <a:rPr kumimoji="1" lang="zh-CN" altLang="en-US" sz="1300">
                <a:latin typeface="Times New Roman" panose="02020603050405020304" pitchFamily="18" charset="0"/>
              </a:rPr>
              <a:pPr algn="r" eaLnBrk="1" hangingPunct="1">
                <a:lnSpc>
                  <a:spcPct val="100000"/>
                </a:lnSpc>
                <a:spcBef>
                  <a:spcPct val="0"/>
                </a:spcBef>
              </a:pPr>
              <a:t>3</a:t>
            </a:fld>
            <a:endParaRPr kumimoji="1" lang="en-US" altLang="zh-CN" sz="1300">
              <a:latin typeface="Times New Roman" panose="02020603050405020304" pitchFamily="18" charset="0"/>
            </a:endParaRPr>
          </a:p>
        </p:txBody>
      </p:sp>
      <p:sp>
        <p:nvSpPr>
          <p:cNvPr id="205827" name="Rectangle 2">
            <a:extLst>
              <a:ext uri="{FF2B5EF4-FFF2-40B4-BE49-F238E27FC236}">
                <a16:creationId xmlns:a16="http://schemas.microsoft.com/office/drawing/2014/main" id="{D1CD74BF-34F8-9D4D-B458-3CBA3C78002A}"/>
              </a:ext>
            </a:extLst>
          </p:cNvPr>
          <p:cNvSpPr>
            <a:spLocks noGrp="1" noRot="1" noChangeAspect="1" noChangeArrowheads="1" noTextEdit="1"/>
          </p:cNvSpPr>
          <p:nvPr>
            <p:ph type="sldImg"/>
          </p:nvPr>
        </p:nvSpPr>
        <p:spPr>
          <a:xfrm>
            <a:off x="990600" y="766763"/>
            <a:ext cx="5118100" cy="3838575"/>
          </a:xfrm>
        </p:spPr>
      </p:sp>
      <p:sp>
        <p:nvSpPr>
          <p:cNvPr id="205828" name="Rectangle 3">
            <a:extLst>
              <a:ext uri="{FF2B5EF4-FFF2-40B4-BE49-F238E27FC236}">
                <a16:creationId xmlns:a16="http://schemas.microsoft.com/office/drawing/2014/main" id="{3285C843-FAE8-4840-AAA3-BB15848E8A0A}"/>
              </a:ext>
            </a:extLst>
          </p:cNvPr>
          <p:cNvSpPr>
            <a:spLocks noGrp="1" noChangeArrowheads="1"/>
          </p:cNvSpPr>
          <p:nvPr>
            <p:ph type="body" idx="1"/>
          </p:nvPr>
        </p:nvSpPr>
        <p:spPr>
          <a:xfrm>
            <a:off x="946150" y="4860925"/>
            <a:ext cx="5207000" cy="46069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75" tIns="48288" rIns="96575" bIns="48288"/>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3904063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a:extLst>
              <a:ext uri="{FF2B5EF4-FFF2-40B4-BE49-F238E27FC236}">
                <a16:creationId xmlns:a16="http://schemas.microsoft.com/office/drawing/2014/main" id="{A14D100B-0039-1142-A21C-19804AB43F54}"/>
              </a:ext>
            </a:extLst>
          </p:cNvPr>
          <p:cNvSpPr>
            <a:spLocks noGrp="1" noRot="1" noChangeAspect="1" noChangeArrowheads="1" noTextEdit="1"/>
          </p:cNvSpPr>
          <p:nvPr>
            <p:ph type="sldImg"/>
          </p:nvPr>
        </p:nvSpPr>
        <p:spPr/>
      </p:sp>
      <p:sp>
        <p:nvSpPr>
          <p:cNvPr id="208899" name="备注占位符 2">
            <a:extLst>
              <a:ext uri="{FF2B5EF4-FFF2-40B4-BE49-F238E27FC236}">
                <a16:creationId xmlns:a16="http://schemas.microsoft.com/office/drawing/2014/main" id="{F5EBC352-8D44-5A4E-B845-5EAA871137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幻灯片图像占位符 1">
            <a:extLst>
              <a:ext uri="{FF2B5EF4-FFF2-40B4-BE49-F238E27FC236}">
                <a16:creationId xmlns:a16="http://schemas.microsoft.com/office/drawing/2014/main" id="{E8DA18E7-C6C4-0949-9F57-354854AD1B37}"/>
              </a:ext>
            </a:extLst>
          </p:cNvPr>
          <p:cNvSpPr>
            <a:spLocks noGrp="1" noRot="1" noChangeAspect="1" noChangeArrowheads="1" noTextEdit="1"/>
          </p:cNvSpPr>
          <p:nvPr>
            <p:ph type="sldImg"/>
          </p:nvPr>
        </p:nvSpPr>
        <p:spPr/>
      </p:sp>
      <p:sp>
        <p:nvSpPr>
          <p:cNvPr id="214019" name="备注占位符 2">
            <a:extLst>
              <a:ext uri="{FF2B5EF4-FFF2-40B4-BE49-F238E27FC236}">
                <a16:creationId xmlns:a16="http://schemas.microsoft.com/office/drawing/2014/main" id="{EC953127-4F89-2F46-814D-5A5A26BD657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4020" name="灯片编号占位符 3">
            <a:extLst>
              <a:ext uri="{FF2B5EF4-FFF2-40B4-BE49-F238E27FC236}">
                <a16:creationId xmlns:a16="http://schemas.microsoft.com/office/drawing/2014/main" id="{1342AAF0-6ADF-F640-8EB1-50F0B5D6D945}"/>
              </a:ext>
            </a:extLst>
          </p:cNvPr>
          <p:cNvSpPr>
            <a:spLocks noGrp="1"/>
          </p:cNvSpPr>
          <p:nvPr>
            <p:ph type="sldNum" sz="quarter" idx="4294967295"/>
          </p:nvPr>
        </p:nvSpPr>
        <p:spPr bwMode="auto">
          <a:xfrm>
            <a:off x="4024313" y="9723438"/>
            <a:ext cx="3074987"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l">
              <a:lnSpc>
                <a:spcPct val="100000"/>
              </a:lnSpc>
              <a:spcBef>
                <a:spcPct val="0"/>
              </a:spcBef>
            </a:pPr>
            <a:fld id="{4A052AB5-006C-D34E-B250-3A01C8EA86E1}" type="slidenum">
              <a:rPr kumimoji="1" lang="zh-CN" altLang="en-US" sz="1300">
                <a:latin typeface="Times New Roman" panose="02020603050405020304" pitchFamily="18" charset="0"/>
              </a:rPr>
              <a:pPr algn="l">
                <a:lnSpc>
                  <a:spcPct val="100000"/>
                </a:lnSpc>
                <a:spcBef>
                  <a:spcPct val="0"/>
                </a:spcBef>
              </a:pPr>
              <a:t>9</a:t>
            </a:fld>
            <a:endParaRPr kumimoji="1" lang="en-US" altLang="zh-CN" sz="13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6066" name="Text Box 1">
            <a:extLst>
              <a:ext uri="{FF2B5EF4-FFF2-40B4-BE49-F238E27FC236}">
                <a16:creationId xmlns:a16="http://schemas.microsoft.com/office/drawing/2014/main" id="{AD3F3F2C-3F6A-E947-AA98-43177F543376}"/>
              </a:ext>
            </a:extLst>
          </p:cNvPr>
          <p:cNvSpPr txBox="1">
            <a:spLocks noChangeArrowheads="1"/>
          </p:cNvSpPr>
          <p:nvPr/>
        </p:nvSpPr>
        <p:spPr bwMode="auto">
          <a:xfrm>
            <a:off x="1265238" y="692150"/>
            <a:ext cx="4329112" cy="3416300"/>
          </a:xfrm>
          <a:prstGeom prst="rect">
            <a:avLst/>
          </a:prstGeom>
          <a:solidFill>
            <a:srgbClr val="FFFFFF"/>
          </a:solidFill>
          <a:ln w="9525">
            <a:solidFill>
              <a:srgbClr val="000000"/>
            </a:solidFill>
            <a:miter lim="800000"/>
            <a:headEnd/>
            <a:tailEnd/>
          </a:ln>
        </p:spPr>
        <p:txBody>
          <a:bodyPr wrap="none" lIns="91701" tIns="45850" rIns="91701" bIns="45850" anchor="ctr"/>
          <a:lstStyle>
            <a:lvl1pPr algn="just" defTabSz="844550">
              <a:lnSpc>
                <a:spcPct val="90000"/>
              </a:lnSpc>
              <a:spcBef>
                <a:spcPct val="40000"/>
              </a:spcBef>
              <a:defRPr sz="1100">
                <a:solidFill>
                  <a:schemeClr val="tx1"/>
                </a:solidFill>
                <a:latin typeface="Arial" panose="020B0604020202020204" pitchFamily="34" charset="0"/>
              </a:defRPr>
            </a:lvl1pPr>
            <a:lvl2pPr marL="685800" indent="-263525" defTabSz="844550">
              <a:spcBef>
                <a:spcPct val="30000"/>
              </a:spcBef>
              <a:defRPr sz="1200">
                <a:solidFill>
                  <a:schemeClr val="tx1"/>
                </a:solidFill>
                <a:latin typeface="Times New Roman" panose="02020603050405020304" pitchFamily="18" charset="0"/>
              </a:defRPr>
            </a:lvl2pPr>
            <a:lvl3pPr marL="1055688" indent="-211138" defTabSz="844550">
              <a:spcBef>
                <a:spcPct val="30000"/>
              </a:spcBef>
              <a:defRPr sz="1200">
                <a:solidFill>
                  <a:schemeClr val="tx1"/>
                </a:solidFill>
                <a:latin typeface="Times New Roman" panose="02020603050405020304" pitchFamily="18" charset="0"/>
              </a:defRPr>
            </a:lvl3pPr>
            <a:lvl4pPr marL="1476375" indent="-209550" defTabSz="844550">
              <a:spcBef>
                <a:spcPct val="30000"/>
              </a:spcBef>
              <a:defRPr sz="1200">
                <a:solidFill>
                  <a:schemeClr val="tx1"/>
                </a:solidFill>
                <a:latin typeface="Times New Roman" panose="02020603050405020304" pitchFamily="18" charset="0"/>
              </a:defRPr>
            </a:lvl4pPr>
            <a:lvl5pPr marL="1898650" indent="-211138" defTabSz="844550">
              <a:spcBef>
                <a:spcPct val="30000"/>
              </a:spcBef>
              <a:defRPr sz="1200">
                <a:solidFill>
                  <a:schemeClr val="tx1"/>
                </a:solidFill>
                <a:latin typeface="Times New Roman" panose="02020603050405020304" pitchFamily="18" charset="0"/>
              </a:defRPr>
            </a:lvl5pPr>
            <a:lvl6pPr marL="2355850" indent="-211138" defTabSz="844550" eaLnBrk="0" fontAlgn="base" hangingPunct="0">
              <a:spcBef>
                <a:spcPct val="30000"/>
              </a:spcBef>
              <a:spcAft>
                <a:spcPct val="0"/>
              </a:spcAft>
              <a:defRPr sz="1200">
                <a:solidFill>
                  <a:schemeClr val="tx1"/>
                </a:solidFill>
                <a:latin typeface="Times New Roman" panose="02020603050405020304" pitchFamily="18" charset="0"/>
              </a:defRPr>
            </a:lvl6pPr>
            <a:lvl7pPr marL="2813050" indent="-211138" defTabSz="844550" eaLnBrk="0" fontAlgn="base" hangingPunct="0">
              <a:spcBef>
                <a:spcPct val="30000"/>
              </a:spcBef>
              <a:spcAft>
                <a:spcPct val="0"/>
              </a:spcAft>
              <a:defRPr sz="1200">
                <a:solidFill>
                  <a:schemeClr val="tx1"/>
                </a:solidFill>
                <a:latin typeface="Times New Roman" panose="02020603050405020304" pitchFamily="18" charset="0"/>
              </a:defRPr>
            </a:lvl7pPr>
            <a:lvl8pPr marL="3270250" indent="-211138" defTabSz="844550" eaLnBrk="0" fontAlgn="base" hangingPunct="0">
              <a:spcBef>
                <a:spcPct val="30000"/>
              </a:spcBef>
              <a:spcAft>
                <a:spcPct val="0"/>
              </a:spcAft>
              <a:defRPr sz="1200">
                <a:solidFill>
                  <a:schemeClr val="tx1"/>
                </a:solidFill>
                <a:latin typeface="Times New Roman" panose="02020603050405020304" pitchFamily="18" charset="0"/>
              </a:defRPr>
            </a:lvl8pPr>
            <a:lvl9pPr marL="3727450" indent="-211138" defTabSz="844550" eaLnBrk="0" fontAlgn="base" hangingPunct="0">
              <a:spcBef>
                <a:spcPct val="30000"/>
              </a:spcBef>
              <a:spcAft>
                <a:spcPct val="0"/>
              </a:spcAft>
              <a:defRPr sz="1200">
                <a:solidFill>
                  <a:schemeClr val="tx1"/>
                </a:solidFill>
                <a:latin typeface="Times New Roman" panose="02020603050405020304" pitchFamily="18" charset="0"/>
              </a:defRPr>
            </a:lvl9pPr>
          </a:lstStyle>
          <a:p>
            <a:pPr algn="l">
              <a:lnSpc>
                <a:spcPct val="100000"/>
              </a:lnSpc>
              <a:spcBef>
                <a:spcPct val="0"/>
              </a:spcBef>
            </a:pPr>
            <a:endParaRPr lang="en-US" altLang="zh-CN" sz="2200" b="1">
              <a:latin typeface="Arial Narrow" panose="020B0604020202020204" pitchFamily="34" charset="0"/>
            </a:endParaRPr>
          </a:p>
        </p:txBody>
      </p:sp>
      <p:sp>
        <p:nvSpPr>
          <p:cNvPr id="216067" name="Rectangle 2">
            <a:extLst>
              <a:ext uri="{FF2B5EF4-FFF2-40B4-BE49-F238E27FC236}">
                <a16:creationId xmlns:a16="http://schemas.microsoft.com/office/drawing/2014/main" id="{FE57183C-4AFB-8945-B809-196880CE21B9}"/>
              </a:ext>
            </a:extLst>
          </p:cNvPr>
          <p:cNvSpPr>
            <a:spLocks noGrp="1" noChangeArrowheads="1"/>
          </p:cNvSpPr>
          <p:nvPr>
            <p:ph type="body"/>
          </p:nvPr>
        </p:nvSpPr>
        <p:spPr>
          <a:xfrm>
            <a:off x="914400" y="4343400"/>
            <a:ext cx="5029200" cy="4117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4408" tIns="42204" rIns="84408" bIns="42204" anchor="ctr"/>
          <a:lstStyle/>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幻灯片图像占位符 1">
            <a:extLst>
              <a:ext uri="{FF2B5EF4-FFF2-40B4-BE49-F238E27FC236}">
                <a16:creationId xmlns:a16="http://schemas.microsoft.com/office/drawing/2014/main" id="{0ADB193C-9D4E-3642-8E1A-73F6F99C3499}"/>
              </a:ext>
            </a:extLst>
          </p:cNvPr>
          <p:cNvSpPr>
            <a:spLocks noGrp="1" noRot="1" noChangeAspect="1" noChangeArrowheads="1" noTextEdit="1"/>
          </p:cNvSpPr>
          <p:nvPr>
            <p:ph type="sldImg"/>
          </p:nvPr>
        </p:nvSpPr>
        <p:spPr>
          <a:xfrm>
            <a:off x="990600" y="766763"/>
            <a:ext cx="5118100" cy="3838575"/>
          </a:xfrm>
        </p:spPr>
      </p:sp>
      <p:sp>
        <p:nvSpPr>
          <p:cNvPr id="218115" name="备注占位符 2">
            <a:extLst>
              <a:ext uri="{FF2B5EF4-FFF2-40B4-BE49-F238E27FC236}">
                <a16:creationId xmlns:a16="http://schemas.microsoft.com/office/drawing/2014/main" id="{0123BE9F-C31F-BE47-B6EC-9F5775BB50EC}"/>
              </a:ext>
            </a:extLst>
          </p:cNvPr>
          <p:cNvSpPr>
            <a:spLocks noGrp="1" noChangeArrowheads="1"/>
          </p:cNvSpPr>
          <p:nvPr>
            <p:ph type="body" idx="1"/>
          </p:nvPr>
        </p:nvSpPr>
        <p:spPr>
          <a:xfrm>
            <a:off x="947738" y="4860925"/>
            <a:ext cx="5203825" cy="46069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575" tIns="48288" rIns="96575" bIns="48288"/>
          <a:lstStyle/>
          <a:p>
            <a:endParaRPr lang="zh-CN" altLang="en-US"/>
          </a:p>
        </p:txBody>
      </p:sp>
      <p:sp>
        <p:nvSpPr>
          <p:cNvPr id="218116" name="灯片编号占位符 3">
            <a:extLst>
              <a:ext uri="{FF2B5EF4-FFF2-40B4-BE49-F238E27FC236}">
                <a16:creationId xmlns:a16="http://schemas.microsoft.com/office/drawing/2014/main" id="{FF32C34E-E6D5-AC41-AEF4-AE3B5EAA22EF}"/>
              </a:ext>
            </a:extLst>
          </p:cNvPr>
          <p:cNvSpPr txBox="1">
            <a:spLocks noGrp="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421FBF06-18B6-6E4D-A882-0780250C3F86}" type="slidenum">
              <a:rPr kumimoji="1" lang="zh-CN" altLang="en-US" sz="1300">
                <a:latin typeface="Times New Roman" panose="02020603050405020304" pitchFamily="18" charset="0"/>
              </a:rPr>
              <a:pPr algn="r" eaLnBrk="1" hangingPunct="1">
                <a:lnSpc>
                  <a:spcPct val="100000"/>
                </a:lnSpc>
                <a:spcBef>
                  <a:spcPct val="0"/>
                </a:spcBef>
              </a:pPr>
              <a:t>11</a:t>
            </a:fld>
            <a:endParaRPr kumimoji="1" lang="en-US" altLang="zh-CN" sz="130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a:extLst>
              <a:ext uri="{FF2B5EF4-FFF2-40B4-BE49-F238E27FC236}">
                <a16:creationId xmlns:a16="http://schemas.microsoft.com/office/drawing/2014/main" id="{48453EFE-2505-5245-BEA4-409E4C2A95A1}"/>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691BEA77-8691-C843-809E-9750DFBFF764}" type="slidenum">
              <a:rPr kumimoji="1" lang="zh-CN" altLang="en-US" sz="1300">
                <a:latin typeface="Times New Roman" panose="02020603050405020304" pitchFamily="18" charset="0"/>
              </a:rPr>
              <a:pPr algn="r" eaLnBrk="1" hangingPunct="1">
                <a:lnSpc>
                  <a:spcPct val="100000"/>
                </a:lnSpc>
                <a:spcBef>
                  <a:spcPct val="0"/>
                </a:spcBef>
              </a:pPr>
              <a:t>15</a:t>
            </a:fld>
            <a:endParaRPr kumimoji="1" lang="en-US" altLang="zh-CN" sz="1300">
              <a:latin typeface="Times New Roman" panose="02020603050405020304" pitchFamily="18" charset="0"/>
            </a:endParaRPr>
          </a:p>
        </p:txBody>
      </p:sp>
      <p:sp>
        <p:nvSpPr>
          <p:cNvPr id="223235" name="Rectangle 2">
            <a:extLst>
              <a:ext uri="{FF2B5EF4-FFF2-40B4-BE49-F238E27FC236}">
                <a16:creationId xmlns:a16="http://schemas.microsoft.com/office/drawing/2014/main" id="{554858CD-A407-3443-9BA9-CE8E31FDDF57}"/>
              </a:ext>
            </a:extLst>
          </p:cNvPr>
          <p:cNvSpPr>
            <a:spLocks noGrp="1" noRot="1" noChangeAspect="1" noChangeArrowheads="1" noTextEdit="1"/>
          </p:cNvSpPr>
          <p:nvPr>
            <p:ph type="sldImg"/>
          </p:nvPr>
        </p:nvSpPr>
        <p:spPr>
          <a:xfrm>
            <a:off x="987425" y="642938"/>
            <a:ext cx="5137150" cy="3852862"/>
          </a:xfrm>
        </p:spPr>
      </p:sp>
      <p:sp>
        <p:nvSpPr>
          <p:cNvPr id="223236" name="Rectangle 3">
            <a:extLst>
              <a:ext uri="{FF2B5EF4-FFF2-40B4-BE49-F238E27FC236}">
                <a16:creationId xmlns:a16="http://schemas.microsoft.com/office/drawing/2014/main" id="{7C681478-0F4B-2C4D-A1E5-17234862A8D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76" tIns="45689" rIns="91376" bIns="45689"/>
          <a:lstStyle/>
          <a:p>
            <a:pPr eaLnBrk="1" hangingPunct="1"/>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a:extLst>
              <a:ext uri="{FF2B5EF4-FFF2-40B4-BE49-F238E27FC236}">
                <a16:creationId xmlns:a16="http://schemas.microsoft.com/office/drawing/2014/main" id="{CB7F71C5-8D2D-9046-9424-0AC5090930E7}"/>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D4115C49-2085-6A46-B3A8-C7AF71DAB826}" type="slidenum">
              <a:rPr kumimoji="1" lang="zh-CN" altLang="en-US" sz="1300">
                <a:latin typeface="Times New Roman" panose="02020603050405020304" pitchFamily="18" charset="0"/>
              </a:rPr>
              <a:pPr algn="r" eaLnBrk="1" hangingPunct="1">
                <a:lnSpc>
                  <a:spcPct val="100000"/>
                </a:lnSpc>
                <a:spcBef>
                  <a:spcPct val="0"/>
                </a:spcBef>
              </a:pPr>
              <a:t>16</a:t>
            </a:fld>
            <a:endParaRPr kumimoji="1" lang="en-US" altLang="zh-CN" sz="1300">
              <a:latin typeface="Times New Roman" panose="02020603050405020304" pitchFamily="18" charset="0"/>
            </a:endParaRPr>
          </a:p>
        </p:txBody>
      </p:sp>
      <p:sp>
        <p:nvSpPr>
          <p:cNvPr id="225283" name="Rectangle 2">
            <a:extLst>
              <a:ext uri="{FF2B5EF4-FFF2-40B4-BE49-F238E27FC236}">
                <a16:creationId xmlns:a16="http://schemas.microsoft.com/office/drawing/2014/main" id="{57B7FBC8-C22E-C34F-8EFD-EBD7F2D88A96}"/>
              </a:ext>
            </a:extLst>
          </p:cNvPr>
          <p:cNvSpPr>
            <a:spLocks noGrp="1" noRot="1" noChangeAspect="1" noChangeArrowheads="1" noTextEdit="1"/>
          </p:cNvSpPr>
          <p:nvPr>
            <p:ph type="sldImg"/>
          </p:nvPr>
        </p:nvSpPr>
        <p:spPr>
          <a:xfrm>
            <a:off x="987425" y="642938"/>
            <a:ext cx="5137150" cy="3852862"/>
          </a:xfrm>
        </p:spPr>
      </p:sp>
      <p:sp>
        <p:nvSpPr>
          <p:cNvPr id="225284" name="Rectangle 3">
            <a:extLst>
              <a:ext uri="{FF2B5EF4-FFF2-40B4-BE49-F238E27FC236}">
                <a16:creationId xmlns:a16="http://schemas.microsoft.com/office/drawing/2014/main" id="{5BD9E8B4-B07E-D24C-9E7A-37B22EC0B01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76" tIns="45689" rIns="91376" bIns="45689"/>
          <a:lstStyle/>
          <a:p>
            <a:pPr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a:extLst>
              <a:ext uri="{FF2B5EF4-FFF2-40B4-BE49-F238E27FC236}">
                <a16:creationId xmlns:a16="http://schemas.microsoft.com/office/drawing/2014/main" id="{5B176300-FE8A-3044-91C1-F798C1A13735}"/>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EF4CF7FB-9736-B844-8E0B-8BCDCF9C7A7B}" type="slidenum">
              <a:rPr kumimoji="1" lang="zh-CN" altLang="en-US" sz="1300">
                <a:latin typeface="Times New Roman" panose="02020603050405020304" pitchFamily="18" charset="0"/>
              </a:rPr>
              <a:pPr algn="r" eaLnBrk="1" hangingPunct="1">
                <a:lnSpc>
                  <a:spcPct val="100000"/>
                </a:lnSpc>
                <a:spcBef>
                  <a:spcPct val="0"/>
                </a:spcBef>
              </a:pPr>
              <a:t>17</a:t>
            </a:fld>
            <a:endParaRPr kumimoji="1" lang="en-US" altLang="zh-CN" sz="1300">
              <a:latin typeface="Times New Roman" panose="02020603050405020304" pitchFamily="18" charset="0"/>
            </a:endParaRPr>
          </a:p>
        </p:txBody>
      </p:sp>
      <p:sp>
        <p:nvSpPr>
          <p:cNvPr id="227331" name="Rectangle 2">
            <a:extLst>
              <a:ext uri="{FF2B5EF4-FFF2-40B4-BE49-F238E27FC236}">
                <a16:creationId xmlns:a16="http://schemas.microsoft.com/office/drawing/2014/main" id="{37A2944E-D04E-5941-BE49-F36D4DA569FE}"/>
              </a:ext>
            </a:extLst>
          </p:cNvPr>
          <p:cNvSpPr>
            <a:spLocks noGrp="1" noRot="1" noChangeAspect="1" noChangeArrowheads="1" noTextEdit="1"/>
          </p:cNvSpPr>
          <p:nvPr>
            <p:ph type="sldImg"/>
          </p:nvPr>
        </p:nvSpPr>
        <p:spPr>
          <a:xfrm>
            <a:off x="987425" y="642938"/>
            <a:ext cx="5137150" cy="3852862"/>
          </a:xfrm>
        </p:spPr>
      </p:sp>
      <p:sp>
        <p:nvSpPr>
          <p:cNvPr id="227332" name="Rectangle 3">
            <a:extLst>
              <a:ext uri="{FF2B5EF4-FFF2-40B4-BE49-F238E27FC236}">
                <a16:creationId xmlns:a16="http://schemas.microsoft.com/office/drawing/2014/main" id="{3694D17A-881C-834E-9BDC-D4009D4D688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76" tIns="45689" rIns="91376" bIns="45689"/>
          <a:lstStyle/>
          <a:p>
            <a:pPr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a:extLst>
              <a:ext uri="{FF2B5EF4-FFF2-40B4-BE49-F238E27FC236}">
                <a16:creationId xmlns:a16="http://schemas.microsoft.com/office/drawing/2014/main" id="{5DB0A9A0-4DFF-6C4B-B01E-40C7775750C6}"/>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E532F90F-C36B-FF40-92CA-51864C5E3D4F}" type="slidenum">
              <a:rPr kumimoji="1" lang="zh-CN" altLang="en-US" sz="1300">
                <a:latin typeface="Times New Roman" panose="02020603050405020304" pitchFamily="18" charset="0"/>
              </a:rPr>
              <a:pPr algn="r" eaLnBrk="1" hangingPunct="1">
                <a:lnSpc>
                  <a:spcPct val="100000"/>
                </a:lnSpc>
                <a:spcBef>
                  <a:spcPct val="0"/>
                </a:spcBef>
              </a:pPr>
              <a:t>18</a:t>
            </a:fld>
            <a:endParaRPr kumimoji="1" lang="en-US" altLang="zh-CN" sz="1300">
              <a:latin typeface="Times New Roman" panose="02020603050405020304" pitchFamily="18" charset="0"/>
            </a:endParaRPr>
          </a:p>
        </p:txBody>
      </p:sp>
      <p:sp>
        <p:nvSpPr>
          <p:cNvPr id="229379" name="Rectangle 2">
            <a:extLst>
              <a:ext uri="{FF2B5EF4-FFF2-40B4-BE49-F238E27FC236}">
                <a16:creationId xmlns:a16="http://schemas.microsoft.com/office/drawing/2014/main" id="{F3AA5A76-83B1-E344-8125-E7A7C9C3AE78}"/>
              </a:ext>
            </a:extLst>
          </p:cNvPr>
          <p:cNvSpPr>
            <a:spLocks noGrp="1" noRot="1" noChangeAspect="1" noChangeArrowheads="1" noTextEdit="1"/>
          </p:cNvSpPr>
          <p:nvPr>
            <p:ph type="sldImg"/>
          </p:nvPr>
        </p:nvSpPr>
        <p:spPr>
          <a:xfrm>
            <a:off x="987425" y="642938"/>
            <a:ext cx="5137150" cy="3852862"/>
          </a:xfrm>
        </p:spPr>
      </p:sp>
      <p:sp>
        <p:nvSpPr>
          <p:cNvPr id="229380" name="Rectangle 3">
            <a:extLst>
              <a:ext uri="{FF2B5EF4-FFF2-40B4-BE49-F238E27FC236}">
                <a16:creationId xmlns:a16="http://schemas.microsoft.com/office/drawing/2014/main" id="{AA505979-9EA7-564D-B063-E55065776C6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76" tIns="45689" rIns="91376" bIns="45689"/>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664289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a:extLst>
              <a:ext uri="{FF2B5EF4-FFF2-40B4-BE49-F238E27FC236}">
                <a16:creationId xmlns:a16="http://schemas.microsoft.com/office/drawing/2014/main" id="{DCD21930-FC6E-FA4F-BC46-2797C256BCD1}"/>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B176887F-B5BF-E748-AE7B-4DC9E3EEA70C}" type="slidenum">
              <a:rPr kumimoji="1" lang="zh-CN" altLang="en-US" sz="1300">
                <a:latin typeface="Times New Roman" panose="02020603050405020304" pitchFamily="18" charset="0"/>
              </a:rPr>
              <a:pPr algn="r" eaLnBrk="1" hangingPunct="1">
                <a:lnSpc>
                  <a:spcPct val="100000"/>
                </a:lnSpc>
                <a:spcBef>
                  <a:spcPct val="0"/>
                </a:spcBef>
              </a:pPr>
              <a:t>21</a:t>
            </a:fld>
            <a:endParaRPr kumimoji="1" lang="en-US" altLang="zh-CN" sz="1300">
              <a:latin typeface="Times New Roman" panose="02020603050405020304" pitchFamily="18" charset="0"/>
            </a:endParaRPr>
          </a:p>
        </p:txBody>
      </p:sp>
      <p:sp>
        <p:nvSpPr>
          <p:cNvPr id="233475" name="Rectangle 2">
            <a:extLst>
              <a:ext uri="{FF2B5EF4-FFF2-40B4-BE49-F238E27FC236}">
                <a16:creationId xmlns:a16="http://schemas.microsoft.com/office/drawing/2014/main" id="{F6C1BE22-698E-AC4F-98EA-F5998F7D4CB0}"/>
              </a:ext>
            </a:extLst>
          </p:cNvPr>
          <p:cNvSpPr>
            <a:spLocks noGrp="1" noRot="1" noChangeAspect="1" noChangeArrowheads="1" noTextEdit="1"/>
          </p:cNvSpPr>
          <p:nvPr>
            <p:ph type="sldImg"/>
          </p:nvPr>
        </p:nvSpPr>
        <p:spPr>
          <a:xfrm>
            <a:off x="987425" y="642938"/>
            <a:ext cx="5137150" cy="3852862"/>
          </a:xfrm>
        </p:spPr>
      </p:sp>
      <p:sp>
        <p:nvSpPr>
          <p:cNvPr id="233476" name="Rectangle 3">
            <a:extLst>
              <a:ext uri="{FF2B5EF4-FFF2-40B4-BE49-F238E27FC236}">
                <a16:creationId xmlns:a16="http://schemas.microsoft.com/office/drawing/2014/main" id="{E4BB0CDD-766E-744A-AE04-C3B94702B7B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76" tIns="45689" rIns="91376" bIns="45689"/>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a:extLst>
              <a:ext uri="{FF2B5EF4-FFF2-40B4-BE49-F238E27FC236}">
                <a16:creationId xmlns:a16="http://schemas.microsoft.com/office/drawing/2014/main" id="{468F72CD-244D-6A40-8ECA-422A3818C68C}"/>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D6DE8A43-35E0-D74E-BB53-B9D9C303BA20}" type="slidenum">
              <a:rPr kumimoji="1" lang="zh-CN" altLang="en-US" sz="1300">
                <a:latin typeface="Times New Roman" panose="02020603050405020304" pitchFamily="18" charset="0"/>
              </a:rPr>
              <a:pPr algn="r" eaLnBrk="1" hangingPunct="1">
                <a:lnSpc>
                  <a:spcPct val="100000"/>
                </a:lnSpc>
                <a:spcBef>
                  <a:spcPct val="0"/>
                </a:spcBef>
              </a:pPr>
              <a:t>22</a:t>
            </a:fld>
            <a:endParaRPr kumimoji="1" lang="en-US" altLang="zh-CN" sz="1300">
              <a:latin typeface="Times New Roman" panose="02020603050405020304" pitchFamily="18" charset="0"/>
            </a:endParaRPr>
          </a:p>
        </p:txBody>
      </p:sp>
      <p:sp>
        <p:nvSpPr>
          <p:cNvPr id="235523" name="Rectangle 2">
            <a:extLst>
              <a:ext uri="{FF2B5EF4-FFF2-40B4-BE49-F238E27FC236}">
                <a16:creationId xmlns:a16="http://schemas.microsoft.com/office/drawing/2014/main" id="{8116000C-1B40-9A4A-A3C9-87BF1BA08C4C}"/>
              </a:ext>
            </a:extLst>
          </p:cNvPr>
          <p:cNvSpPr>
            <a:spLocks noGrp="1" noRot="1" noChangeAspect="1" noChangeArrowheads="1" noTextEdit="1"/>
          </p:cNvSpPr>
          <p:nvPr>
            <p:ph type="sldImg"/>
          </p:nvPr>
        </p:nvSpPr>
        <p:spPr>
          <a:xfrm>
            <a:off x="987425" y="642938"/>
            <a:ext cx="5137150" cy="3852862"/>
          </a:xfrm>
        </p:spPr>
      </p:sp>
      <p:sp>
        <p:nvSpPr>
          <p:cNvPr id="235524" name="Rectangle 3">
            <a:extLst>
              <a:ext uri="{FF2B5EF4-FFF2-40B4-BE49-F238E27FC236}">
                <a16:creationId xmlns:a16="http://schemas.microsoft.com/office/drawing/2014/main" id="{CBC3E8EC-4289-F24C-AD7C-9B6443A9B53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76" tIns="45689" rIns="91376" bIns="45689"/>
          <a:lstStyle/>
          <a:p>
            <a:pPr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301E4084-7539-A84E-9C32-5E6236036079}"/>
              </a:ext>
            </a:extLst>
          </p:cNvPr>
          <p:cNvSpPr txBox="1">
            <a:spLocks noGrp="1" noChangeArrowheads="1"/>
          </p:cNvSpPr>
          <p:nvPr/>
        </p:nvSpPr>
        <p:spPr bwMode="auto">
          <a:xfrm>
            <a:off x="4024313" y="9723438"/>
            <a:ext cx="3074987"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75" tIns="48288" rIns="96575" bIns="48288" anchor="b"/>
          <a:lstStyle>
            <a:lvl1pPr algn="just" defTabSz="965200">
              <a:lnSpc>
                <a:spcPct val="90000"/>
              </a:lnSpc>
              <a:spcBef>
                <a:spcPct val="40000"/>
              </a:spcBef>
              <a:defRPr sz="1100">
                <a:solidFill>
                  <a:schemeClr val="tx1"/>
                </a:solidFill>
                <a:latin typeface="Arial" panose="020B0604020202020204" pitchFamily="34" charset="0"/>
              </a:defRPr>
            </a:lvl1pPr>
            <a:lvl2pPr marL="742950" indent="-285750" defTabSz="965200">
              <a:spcBef>
                <a:spcPct val="30000"/>
              </a:spcBef>
              <a:defRPr sz="1200">
                <a:solidFill>
                  <a:schemeClr val="tx1"/>
                </a:solidFill>
                <a:latin typeface="Times New Roman" panose="02020603050405020304" pitchFamily="18" charset="0"/>
              </a:defRPr>
            </a:lvl2pPr>
            <a:lvl3pPr marL="1143000" indent="-228600" defTabSz="965200">
              <a:spcBef>
                <a:spcPct val="30000"/>
              </a:spcBef>
              <a:defRPr sz="1200">
                <a:solidFill>
                  <a:schemeClr val="tx1"/>
                </a:solidFill>
                <a:latin typeface="Times New Roman" panose="02020603050405020304" pitchFamily="18" charset="0"/>
              </a:defRPr>
            </a:lvl3pPr>
            <a:lvl4pPr marL="1600200" indent="-228600" defTabSz="965200">
              <a:spcBef>
                <a:spcPct val="30000"/>
              </a:spcBef>
              <a:defRPr sz="1200">
                <a:solidFill>
                  <a:schemeClr val="tx1"/>
                </a:solidFill>
                <a:latin typeface="Times New Roman" panose="02020603050405020304" pitchFamily="18" charset="0"/>
              </a:defRPr>
            </a:lvl4pPr>
            <a:lvl5pPr marL="2057400" indent="-228600" defTabSz="965200">
              <a:spcBef>
                <a:spcPct val="30000"/>
              </a:spcBef>
              <a:defRPr sz="1200">
                <a:solidFill>
                  <a:schemeClr val="tx1"/>
                </a:solidFill>
                <a:latin typeface="Times New Roman" panose="02020603050405020304" pitchFamily="18" charset="0"/>
              </a:defRPr>
            </a:lvl5pPr>
            <a:lvl6pPr marL="2514600" indent="-228600" defTabSz="9652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52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52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52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lnSpc>
                <a:spcPct val="100000"/>
              </a:lnSpc>
              <a:spcBef>
                <a:spcPct val="0"/>
              </a:spcBef>
            </a:pPr>
            <a:fld id="{76851AD1-13F1-994A-8B6E-EB8098FA0ABA}" type="slidenum">
              <a:rPr kumimoji="1" lang="zh-CN" altLang="en-US" sz="1300">
                <a:latin typeface="Times New Roman" panose="02020603050405020304" pitchFamily="18" charset="0"/>
              </a:rPr>
              <a:pPr algn="r" eaLnBrk="1" hangingPunct="1">
                <a:lnSpc>
                  <a:spcPct val="100000"/>
                </a:lnSpc>
                <a:spcBef>
                  <a:spcPct val="0"/>
                </a:spcBef>
              </a:pPr>
              <a:t>23</a:t>
            </a:fld>
            <a:endParaRPr kumimoji="1" lang="en-US" altLang="zh-CN" sz="1300">
              <a:latin typeface="Times New Roman" panose="02020603050405020304" pitchFamily="18" charset="0"/>
            </a:endParaRPr>
          </a:p>
        </p:txBody>
      </p:sp>
      <p:sp>
        <p:nvSpPr>
          <p:cNvPr id="237571" name="Rectangle 2">
            <a:extLst>
              <a:ext uri="{FF2B5EF4-FFF2-40B4-BE49-F238E27FC236}">
                <a16:creationId xmlns:a16="http://schemas.microsoft.com/office/drawing/2014/main" id="{A1A1E9B1-964A-E444-8F05-1B3E2D8EA13C}"/>
              </a:ext>
            </a:extLst>
          </p:cNvPr>
          <p:cNvSpPr>
            <a:spLocks noGrp="1" noRot="1" noChangeAspect="1" noChangeArrowheads="1" noTextEdit="1"/>
          </p:cNvSpPr>
          <p:nvPr>
            <p:ph type="sldImg"/>
          </p:nvPr>
        </p:nvSpPr>
        <p:spPr>
          <a:xfrm>
            <a:off x="987425" y="642938"/>
            <a:ext cx="5137150" cy="3852862"/>
          </a:xfrm>
        </p:spPr>
      </p:sp>
      <p:sp>
        <p:nvSpPr>
          <p:cNvPr id="237572" name="Rectangle 3">
            <a:extLst>
              <a:ext uri="{FF2B5EF4-FFF2-40B4-BE49-F238E27FC236}">
                <a16:creationId xmlns:a16="http://schemas.microsoft.com/office/drawing/2014/main" id="{EB641CDA-639E-F14F-952D-CDDEF2AE6F7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76" tIns="45689" rIns="91376" bIns="45689"/>
          <a:lstStyle/>
          <a:p>
            <a:pPr eaLnBrk="1" hangingPunct="1"/>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a:extLst>
              <a:ext uri="{FF2B5EF4-FFF2-40B4-BE49-F238E27FC236}">
                <a16:creationId xmlns:a16="http://schemas.microsoft.com/office/drawing/2014/main" id="{8735227A-85E7-6B4B-874D-E9B9BD40D57D}"/>
              </a:ext>
            </a:extLst>
          </p:cNvPr>
          <p:cNvSpPr>
            <a:spLocks noGrp="1" noRot="1" noChangeAspect="1" noChangeArrowheads="1" noTextEdit="1"/>
          </p:cNvSpPr>
          <p:nvPr>
            <p:ph type="sldImg"/>
          </p:nvPr>
        </p:nvSpPr>
        <p:spPr>
          <a:xfrm>
            <a:off x="952500" y="731838"/>
            <a:ext cx="5207000" cy="3905250"/>
          </a:xfrm>
        </p:spPr>
      </p:sp>
      <p:sp>
        <p:nvSpPr>
          <p:cNvPr id="242691" name="Rectangle 3">
            <a:extLst>
              <a:ext uri="{FF2B5EF4-FFF2-40B4-BE49-F238E27FC236}">
                <a16:creationId xmlns:a16="http://schemas.microsoft.com/office/drawing/2014/main" id="{35A564FE-1A30-2D40-9D7E-6E0B5E468204}"/>
              </a:ext>
            </a:extLst>
          </p:cNvPr>
          <p:cNvSpPr>
            <a:spLocks noGrp="1" noChangeArrowheads="1"/>
          </p:cNvSpPr>
          <p:nvPr>
            <p:ph type="body" idx="1"/>
          </p:nvPr>
        </p:nvSpPr>
        <p:spPr>
          <a:xfrm>
            <a:off x="963613" y="4881563"/>
            <a:ext cx="5184775" cy="45545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lstStyle/>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4738" name="Text Box 1">
            <a:extLst>
              <a:ext uri="{FF2B5EF4-FFF2-40B4-BE49-F238E27FC236}">
                <a16:creationId xmlns:a16="http://schemas.microsoft.com/office/drawing/2014/main" id="{1FE20117-F408-A349-ADFF-3E9DBF3FA841}"/>
              </a:ext>
            </a:extLst>
          </p:cNvPr>
          <p:cNvSpPr txBox="1">
            <a:spLocks noChangeArrowheads="1"/>
          </p:cNvSpPr>
          <p:nvPr/>
        </p:nvSpPr>
        <p:spPr bwMode="auto">
          <a:xfrm>
            <a:off x="1230313" y="774700"/>
            <a:ext cx="4640262" cy="3824288"/>
          </a:xfrm>
          <a:prstGeom prst="rect">
            <a:avLst/>
          </a:prstGeom>
          <a:solidFill>
            <a:srgbClr val="FFFFFF"/>
          </a:solidFill>
          <a:ln w="9525">
            <a:solidFill>
              <a:srgbClr val="000000"/>
            </a:solidFill>
            <a:miter lim="800000"/>
            <a:headEnd/>
            <a:tailEnd/>
          </a:ln>
        </p:spPr>
        <p:txBody>
          <a:bodyPr wrap="none" lIns="91294" tIns="45647" rIns="91294" bIns="45647" anchor="ctr"/>
          <a:lstStyle>
            <a:lvl1pPr algn="just">
              <a:lnSpc>
                <a:spcPct val="90000"/>
              </a:lnSpc>
              <a:spcBef>
                <a:spcPct val="40000"/>
              </a:spcBef>
              <a:defRPr sz="1100">
                <a:solidFill>
                  <a:schemeClr val="tx1"/>
                </a:solidFill>
                <a:latin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lgn="l">
              <a:lnSpc>
                <a:spcPct val="100000"/>
              </a:lnSpc>
              <a:spcBef>
                <a:spcPct val="0"/>
              </a:spcBef>
            </a:pPr>
            <a:endParaRPr lang="en-US" altLang="zh-CN" sz="2400" b="1">
              <a:latin typeface="Arial Narrow" panose="020B0604020202020204" pitchFamily="34" charset="0"/>
            </a:endParaRPr>
          </a:p>
        </p:txBody>
      </p:sp>
      <p:sp>
        <p:nvSpPr>
          <p:cNvPr id="244739" name="Rectangle 2">
            <a:extLst>
              <a:ext uri="{FF2B5EF4-FFF2-40B4-BE49-F238E27FC236}">
                <a16:creationId xmlns:a16="http://schemas.microsoft.com/office/drawing/2014/main" id="{6244F95A-1F9C-374F-86A8-B6363D25630E}"/>
              </a:ext>
            </a:extLst>
          </p:cNvPr>
          <p:cNvSpPr>
            <a:spLocks noGrp="1" noChangeArrowheads="1"/>
          </p:cNvSpPr>
          <p:nvPr>
            <p:ph type="body"/>
          </p:nvPr>
        </p:nvSpPr>
        <p:spPr>
          <a:xfrm>
            <a:off x="946150" y="4862513"/>
            <a:ext cx="5207000" cy="460851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anchor="ctr"/>
          <a:lstStyle/>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6786" name="Text Box 1">
            <a:extLst>
              <a:ext uri="{FF2B5EF4-FFF2-40B4-BE49-F238E27FC236}">
                <a16:creationId xmlns:a16="http://schemas.microsoft.com/office/drawing/2014/main" id="{B3152111-B37A-714D-BA45-660A93A1C587}"/>
              </a:ext>
            </a:extLst>
          </p:cNvPr>
          <p:cNvSpPr txBox="1">
            <a:spLocks noChangeArrowheads="1"/>
          </p:cNvSpPr>
          <p:nvPr/>
        </p:nvSpPr>
        <p:spPr bwMode="auto">
          <a:xfrm>
            <a:off x="1230313" y="774700"/>
            <a:ext cx="4640262" cy="3824288"/>
          </a:xfrm>
          <a:prstGeom prst="rect">
            <a:avLst/>
          </a:prstGeom>
          <a:solidFill>
            <a:srgbClr val="FFFFFF"/>
          </a:solidFill>
          <a:ln w="9525">
            <a:solidFill>
              <a:srgbClr val="000000"/>
            </a:solidFill>
            <a:miter lim="800000"/>
            <a:headEnd/>
            <a:tailEnd/>
          </a:ln>
        </p:spPr>
        <p:txBody>
          <a:bodyPr wrap="none" lIns="91294" tIns="45647" rIns="91294" bIns="45647" anchor="ctr"/>
          <a:lstStyle>
            <a:lvl1pPr algn="just">
              <a:lnSpc>
                <a:spcPct val="90000"/>
              </a:lnSpc>
              <a:spcBef>
                <a:spcPct val="40000"/>
              </a:spcBef>
              <a:defRPr sz="1100">
                <a:solidFill>
                  <a:schemeClr val="tx1"/>
                </a:solidFill>
                <a:latin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lgn="l">
              <a:lnSpc>
                <a:spcPct val="100000"/>
              </a:lnSpc>
              <a:spcBef>
                <a:spcPct val="0"/>
              </a:spcBef>
            </a:pPr>
            <a:endParaRPr lang="en-US" altLang="zh-CN" sz="2400" b="1">
              <a:latin typeface="Arial Narrow" panose="020B0604020202020204" pitchFamily="34" charset="0"/>
            </a:endParaRPr>
          </a:p>
        </p:txBody>
      </p:sp>
      <p:sp>
        <p:nvSpPr>
          <p:cNvPr id="246787" name="Rectangle 2">
            <a:extLst>
              <a:ext uri="{FF2B5EF4-FFF2-40B4-BE49-F238E27FC236}">
                <a16:creationId xmlns:a16="http://schemas.microsoft.com/office/drawing/2014/main" id="{0BE2ADA6-FC7C-D542-BBDB-BF2C1AF4A40B}"/>
              </a:ext>
            </a:extLst>
          </p:cNvPr>
          <p:cNvSpPr>
            <a:spLocks noGrp="1" noChangeArrowheads="1"/>
          </p:cNvSpPr>
          <p:nvPr>
            <p:ph type="body"/>
          </p:nvPr>
        </p:nvSpPr>
        <p:spPr>
          <a:xfrm>
            <a:off x="946150" y="4862513"/>
            <a:ext cx="5207000"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round/>
                <a:headEnd/>
                <a:tailEnd/>
              </a14:hiddenLine>
            </a:ext>
          </a:extLst>
        </p:spPr>
        <p:txBody>
          <a:bodyPr wrap="none" lIns="91440" tIns="45720" rIns="91440" bIns="45720" anchor="ctr"/>
          <a:lstStyle/>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8834" name="Text Box 1">
            <a:extLst>
              <a:ext uri="{FF2B5EF4-FFF2-40B4-BE49-F238E27FC236}">
                <a16:creationId xmlns:a16="http://schemas.microsoft.com/office/drawing/2014/main" id="{6E9C7177-B9DA-0540-A4BD-54ECEFF7B1B4}"/>
              </a:ext>
            </a:extLst>
          </p:cNvPr>
          <p:cNvSpPr txBox="1">
            <a:spLocks noChangeArrowheads="1"/>
          </p:cNvSpPr>
          <p:nvPr/>
        </p:nvSpPr>
        <p:spPr bwMode="auto">
          <a:xfrm>
            <a:off x="1230313" y="774700"/>
            <a:ext cx="4640262" cy="3824288"/>
          </a:xfrm>
          <a:prstGeom prst="rect">
            <a:avLst/>
          </a:prstGeom>
          <a:solidFill>
            <a:srgbClr val="FFFFFF"/>
          </a:solidFill>
          <a:ln w="9525">
            <a:solidFill>
              <a:srgbClr val="000000"/>
            </a:solidFill>
            <a:miter lim="800000"/>
            <a:headEnd/>
            <a:tailEnd/>
          </a:ln>
        </p:spPr>
        <p:txBody>
          <a:bodyPr wrap="none" lIns="91294" tIns="45647" rIns="91294" bIns="45647" anchor="ctr"/>
          <a:lstStyle>
            <a:lvl1pPr algn="just">
              <a:lnSpc>
                <a:spcPct val="90000"/>
              </a:lnSpc>
              <a:spcBef>
                <a:spcPct val="40000"/>
              </a:spcBef>
              <a:defRPr sz="1100">
                <a:solidFill>
                  <a:schemeClr val="tx1"/>
                </a:solidFill>
                <a:latin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lgn="l">
              <a:lnSpc>
                <a:spcPct val="100000"/>
              </a:lnSpc>
              <a:spcBef>
                <a:spcPct val="0"/>
              </a:spcBef>
            </a:pPr>
            <a:endParaRPr lang="en-US" altLang="zh-CN" sz="2400" b="1">
              <a:latin typeface="Arial Narrow" panose="020B0604020202020204" pitchFamily="34" charset="0"/>
            </a:endParaRPr>
          </a:p>
        </p:txBody>
      </p:sp>
      <p:sp>
        <p:nvSpPr>
          <p:cNvPr id="248835" name="Rectangle 2">
            <a:extLst>
              <a:ext uri="{FF2B5EF4-FFF2-40B4-BE49-F238E27FC236}">
                <a16:creationId xmlns:a16="http://schemas.microsoft.com/office/drawing/2014/main" id="{B1DF69EB-C0D9-5749-8954-7D68E55167BA}"/>
              </a:ext>
            </a:extLst>
          </p:cNvPr>
          <p:cNvSpPr>
            <a:spLocks noGrp="1" noChangeArrowheads="1"/>
          </p:cNvSpPr>
          <p:nvPr>
            <p:ph type="body"/>
          </p:nvPr>
        </p:nvSpPr>
        <p:spPr>
          <a:xfrm>
            <a:off x="946150" y="4862513"/>
            <a:ext cx="5207000" cy="460851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anchor="ctr"/>
          <a:lstStyle/>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0882" name="Text Box 1">
            <a:extLst>
              <a:ext uri="{FF2B5EF4-FFF2-40B4-BE49-F238E27FC236}">
                <a16:creationId xmlns:a16="http://schemas.microsoft.com/office/drawing/2014/main" id="{D3FF443C-F038-DE49-8375-C4D1E5CBC5DA}"/>
              </a:ext>
            </a:extLst>
          </p:cNvPr>
          <p:cNvSpPr txBox="1">
            <a:spLocks noChangeArrowheads="1"/>
          </p:cNvSpPr>
          <p:nvPr/>
        </p:nvSpPr>
        <p:spPr bwMode="auto">
          <a:xfrm>
            <a:off x="1230313" y="774700"/>
            <a:ext cx="4640262" cy="3824288"/>
          </a:xfrm>
          <a:prstGeom prst="rect">
            <a:avLst/>
          </a:prstGeom>
          <a:solidFill>
            <a:srgbClr val="FFFFFF"/>
          </a:solidFill>
          <a:ln w="9525">
            <a:solidFill>
              <a:srgbClr val="000000"/>
            </a:solidFill>
            <a:miter lim="800000"/>
            <a:headEnd/>
            <a:tailEnd/>
          </a:ln>
        </p:spPr>
        <p:txBody>
          <a:bodyPr wrap="none" lIns="91294" tIns="45647" rIns="91294" bIns="45647" anchor="ctr"/>
          <a:lstStyle>
            <a:lvl1pPr algn="just">
              <a:lnSpc>
                <a:spcPct val="90000"/>
              </a:lnSpc>
              <a:spcBef>
                <a:spcPct val="40000"/>
              </a:spcBef>
              <a:defRPr sz="1100">
                <a:solidFill>
                  <a:schemeClr val="tx1"/>
                </a:solidFill>
                <a:latin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lgn="l">
              <a:lnSpc>
                <a:spcPct val="100000"/>
              </a:lnSpc>
              <a:spcBef>
                <a:spcPct val="0"/>
              </a:spcBef>
            </a:pPr>
            <a:endParaRPr lang="en-US" altLang="zh-CN" sz="2400" b="1">
              <a:latin typeface="Arial Narrow" panose="020B0604020202020204" pitchFamily="34" charset="0"/>
            </a:endParaRPr>
          </a:p>
        </p:txBody>
      </p:sp>
      <p:sp>
        <p:nvSpPr>
          <p:cNvPr id="250883" name="Rectangle 2">
            <a:extLst>
              <a:ext uri="{FF2B5EF4-FFF2-40B4-BE49-F238E27FC236}">
                <a16:creationId xmlns:a16="http://schemas.microsoft.com/office/drawing/2014/main" id="{643F9E12-F4E0-BE47-A5C5-45E6958BB3C0}"/>
              </a:ext>
            </a:extLst>
          </p:cNvPr>
          <p:cNvSpPr>
            <a:spLocks noGrp="1" noChangeArrowheads="1"/>
          </p:cNvSpPr>
          <p:nvPr>
            <p:ph type="body"/>
          </p:nvPr>
        </p:nvSpPr>
        <p:spPr>
          <a:xfrm>
            <a:off x="946150" y="4862513"/>
            <a:ext cx="5207000" cy="460851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anchor="ctr"/>
          <a:lstStyle/>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幻灯片图像占位符 1">
            <a:extLst>
              <a:ext uri="{FF2B5EF4-FFF2-40B4-BE49-F238E27FC236}">
                <a16:creationId xmlns:a16="http://schemas.microsoft.com/office/drawing/2014/main" id="{A9AD588B-DD06-A642-88EA-3D9890D61CAA}"/>
              </a:ext>
            </a:extLst>
          </p:cNvPr>
          <p:cNvSpPr>
            <a:spLocks noGrp="1" noRot="1" noChangeAspect="1" noChangeArrowheads="1" noTextEdit="1"/>
          </p:cNvSpPr>
          <p:nvPr>
            <p:ph type="sldImg"/>
          </p:nvPr>
        </p:nvSpPr>
        <p:spPr/>
      </p:sp>
      <p:sp>
        <p:nvSpPr>
          <p:cNvPr id="263171" name="备注占位符 2">
            <a:extLst>
              <a:ext uri="{FF2B5EF4-FFF2-40B4-BE49-F238E27FC236}">
                <a16:creationId xmlns:a16="http://schemas.microsoft.com/office/drawing/2014/main" id="{C2E49ACD-8F22-544B-9AA0-EA0ECC58122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幻灯片图像占位符 1">
            <a:extLst>
              <a:ext uri="{FF2B5EF4-FFF2-40B4-BE49-F238E27FC236}">
                <a16:creationId xmlns:a16="http://schemas.microsoft.com/office/drawing/2014/main" id="{211C06DB-E50E-4A40-A0A9-43CD76053439}"/>
              </a:ext>
            </a:extLst>
          </p:cNvPr>
          <p:cNvSpPr>
            <a:spLocks noGrp="1" noRot="1" noChangeAspect="1" noChangeArrowheads="1" noTextEdit="1"/>
          </p:cNvSpPr>
          <p:nvPr>
            <p:ph type="sldImg"/>
          </p:nvPr>
        </p:nvSpPr>
        <p:spPr/>
      </p:sp>
      <p:sp>
        <p:nvSpPr>
          <p:cNvPr id="265219" name="备注占位符 2">
            <a:extLst>
              <a:ext uri="{FF2B5EF4-FFF2-40B4-BE49-F238E27FC236}">
                <a16:creationId xmlns:a16="http://schemas.microsoft.com/office/drawing/2014/main" id="{4814997A-4037-2A40-A148-DEE8B3EE37D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571165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84287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922486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95300" y="1295400"/>
            <a:ext cx="4019550" cy="2182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67250" y="1295400"/>
            <a:ext cx="4019550" cy="2182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27174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71174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0762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7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4016836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871445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79651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2125" y="128588"/>
            <a:ext cx="2201863" cy="33496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36538" y="128588"/>
            <a:ext cx="6453187" cy="33496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29655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228600"/>
            <a:ext cx="8640763"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304800" y="990600"/>
            <a:ext cx="4243388"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00588" y="990600"/>
            <a:ext cx="4244975"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65988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3930FD5-E805-C84A-86DE-514FF8DF0EDD}"/>
              </a:ext>
            </a:extLst>
          </p:cNvPr>
          <p:cNvSpPr>
            <a:spLocks noGrp="1" noChangeArrowheads="1"/>
          </p:cNvSpPr>
          <p:nvPr>
            <p:ph type="title"/>
          </p:nvPr>
        </p:nvSpPr>
        <p:spPr bwMode="auto">
          <a:xfrm>
            <a:off x="236538" y="128588"/>
            <a:ext cx="880745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500" tIns="25400" rIns="63500" bIns="25400" numCol="1" anchor="t" anchorCtr="0" compatLnSpc="1">
            <a:prstTxWarp prst="textNoShape">
              <a:avLst/>
            </a:prstTxWarp>
            <a:spAutoFit/>
          </a:bodyPr>
          <a:lstStyle/>
          <a:p>
            <a:pPr lvl="0"/>
            <a:r>
              <a:rPr lang="en-US" altLang="zh-CN"/>
              <a:t>Title</a:t>
            </a:r>
          </a:p>
        </p:txBody>
      </p:sp>
      <p:sp>
        <p:nvSpPr>
          <p:cNvPr id="1027" name="Rectangle 5">
            <a:extLst>
              <a:ext uri="{FF2B5EF4-FFF2-40B4-BE49-F238E27FC236}">
                <a16:creationId xmlns:a16="http://schemas.microsoft.com/office/drawing/2014/main" id="{E6B2775E-2090-A442-ABB8-66E403802E94}"/>
              </a:ext>
            </a:extLst>
          </p:cNvPr>
          <p:cNvSpPr>
            <a:spLocks noGrp="1" noChangeArrowheads="1"/>
          </p:cNvSpPr>
          <p:nvPr>
            <p:ph type="body" idx="1"/>
          </p:nvPr>
        </p:nvSpPr>
        <p:spPr bwMode="auto">
          <a:xfrm>
            <a:off x="495300" y="1295400"/>
            <a:ext cx="8191500" cy="218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28" name="Line 6">
            <a:extLst>
              <a:ext uri="{FF2B5EF4-FFF2-40B4-BE49-F238E27FC236}">
                <a16:creationId xmlns:a16="http://schemas.microsoft.com/office/drawing/2014/main" id="{B4CC1008-D94F-D946-B180-D0CE5D6BAB7A}"/>
              </a:ext>
            </a:extLst>
          </p:cNvPr>
          <p:cNvSpPr>
            <a:spLocks noChangeShapeType="1"/>
          </p:cNvSpPr>
          <p:nvPr userDrawn="1"/>
        </p:nvSpPr>
        <p:spPr bwMode="auto">
          <a:xfrm>
            <a:off x="246063" y="682625"/>
            <a:ext cx="86518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lnSpc>
          <a:spcPct val="87000"/>
        </a:lnSpc>
        <a:spcBef>
          <a:spcPct val="0"/>
        </a:spcBef>
        <a:spcAft>
          <a:spcPct val="0"/>
        </a:spcAft>
        <a:defRPr sz="3600" b="1" kern="1200">
          <a:solidFill>
            <a:srgbClr val="CC3300"/>
          </a:solidFill>
          <a:latin typeface="+mj-lt"/>
          <a:ea typeface="+mj-ea"/>
          <a:cs typeface="+mj-cs"/>
        </a:defRPr>
      </a:lvl1pPr>
      <a:lvl2pPr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2pPr>
      <a:lvl3pPr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3pPr>
      <a:lvl4pPr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4pPr>
      <a:lvl5pPr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5pPr>
      <a:lvl6pPr marL="457200"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6pPr>
      <a:lvl7pPr marL="914400"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7pPr>
      <a:lvl8pPr marL="1371600"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8pPr>
      <a:lvl9pPr marL="1828800" algn="ctr" rtl="0" eaLnBrk="0" fontAlgn="base" hangingPunct="0">
        <a:lnSpc>
          <a:spcPct val="87000"/>
        </a:lnSpc>
        <a:spcBef>
          <a:spcPct val="0"/>
        </a:spcBef>
        <a:spcAft>
          <a:spcPct val="0"/>
        </a:spcAft>
        <a:defRPr sz="3600" b="1">
          <a:solidFill>
            <a:srgbClr val="CC3300"/>
          </a:solidFill>
          <a:latin typeface="Arial" panose="020B0604020202020204" pitchFamily="34" charset="0"/>
          <a:ea typeface="黑体" panose="02010609060101010101" pitchFamily="49" charset="-122"/>
        </a:defRPr>
      </a:lvl9pPr>
    </p:titleStyle>
    <p:bodyStyle>
      <a:lvl1pPr marL="203200" indent="-203200" algn="l" rtl="0" eaLnBrk="0" fontAlgn="base" hangingPunct="0">
        <a:spcBef>
          <a:spcPct val="35000"/>
        </a:spcBef>
        <a:spcAft>
          <a:spcPct val="0"/>
        </a:spcAft>
        <a:buSzPct val="100000"/>
        <a:buChar char="°"/>
        <a:defRPr b="1" kern="1200">
          <a:solidFill>
            <a:schemeClr val="tx1"/>
          </a:solidFill>
          <a:latin typeface="+mn-lt"/>
          <a:ea typeface="+mn-ea"/>
          <a:cs typeface="+mn-cs"/>
        </a:defRPr>
      </a:lvl1pPr>
      <a:lvl2pPr marL="685800" indent="-190500" algn="l" rtl="0" eaLnBrk="0" fontAlgn="base" hangingPunct="0">
        <a:spcBef>
          <a:spcPct val="35000"/>
        </a:spcBef>
        <a:spcAft>
          <a:spcPct val="0"/>
        </a:spcAft>
        <a:buSzPct val="100000"/>
        <a:buChar char="•"/>
        <a:defRPr b="1" kern="1200">
          <a:solidFill>
            <a:schemeClr val="accent2"/>
          </a:solidFill>
          <a:latin typeface="+mn-lt"/>
          <a:ea typeface="+mn-ea"/>
          <a:cs typeface="+mn-cs"/>
        </a:defRPr>
      </a:lvl2pPr>
      <a:lvl3pPr marL="1257300" indent="-342900" algn="l" rtl="0" eaLnBrk="0" fontAlgn="base" hangingPunct="0">
        <a:spcBef>
          <a:spcPct val="35000"/>
        </a:spcBef>
        <a:spcAft>
          <a:spcPct val="0"/>
        </a:spcAft>
        <a:buSzPct val="100000"/>
        <a:buChar char="-"/>
        <a:defRPr b="1" kern="1200">
          <a:solidFill>
            <a:srgbClr val="B7011F"/>
          </a:solidFill>
          <a:latin typeface="+mn-lt"/>
          <a:ea typeface="+mn-ea"/>
          <a:cs typeface="+mn-cs"/>
        </a:defRPr>
      </a:lvl3pPr>
      <a:lvl4pPr marL="1714500" indent="-3429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171700" indent="-3429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A9A79039-7A5C-6346-B45A-9CD4D705902A}"/>
              </a:ext>
            </a:extLst>
          </p:cNvPr>
          <p:cNvSpPr>
            <a:spLocks noGrp="1" noChangeArrowheads="1"/>
          </p:cNvSpPr>
          <p:nvPr>
            <p:ph type="title"/>
          </p:nvPr>
        </p:nvSpPr>
        <p:spPr>
          <a:xfrm>
            <a:off x="515938" y="57150"/>
            <a:ext cx="7499350" cy="581025"/>
          </a:xfrm>
        </p:spPr>
        <p:txBody>
          <a:bodyPr/>
          <a:lstStyle/>
          <a:p>
            <a:r>
              <a:rPr lang="zh-CN" altLang="en-US" sz="4000"/>
              <a:t>层次结构存储系统</a:t>
            </a:r>
          </a:p>
        </p:txBody>
      </p:sp>
      <p:sp>
        <p:nvSpPr>
          <p:cNvPr id="201731" name="Rectangle 3">
            <a:extLst>
              <a:ext uri="{FF2B5EF4-FFF2-40B4-BE49-F238E27FC236}">
                <a16:creationId xmlns:a16="http://schemas.microsoft.com/office/drawing/2014/main" id="{A774A3E9-ED08-564A-B887-0BD5BE3A9ECF}"/>
              </a:ext>
            </a:extLst>
          </p:cNvPr>
          <p:cNvSpPr>
            <a:spLocks noGrp="1" noChangeArrowheads="1"/>
          </p:cNvSpPr>
          <p:nvPr>
            <p:ph type="body" idx="1"/>
          </p:nvPr>
        </p:nvSpPr>
        <p:spPr>
          <a:xfrm>
            <a:off x="417513" y="895350"/>
            <a:ext cx="8229600" cy="5159375"/>
          </a:xfrm>
          <a:noFill/>
        </p:spPr>
        <p:txBody>
          <a:bodyPr/>
          <a:lstStyle/>
          <a:p>
            <a:r>
              <a:rPr lang="zh-CN" altLang="en-US" sz="2000">
                <a:latin typeface="微软雅黑" panose="020B0503020204020204" pitchFamily="34" charset="-122"/>
                <a:ea typeface="微软雅黑" panose="020B0503020204020204" pitchFamily="34" charset="-122"/>
              </a:rPr>
              <a:t>分以下六个部分介绍</a:t>
            </a:r>
          </a:p>
          <a:p>
            <a:pPr lvl="1">
              <a:spcBef>
                <a:spcPct val="30000"/>
              </a:spcBef>
            </a:pPr>
            <a:r>
              <a:rPr lang="zh-CN" altLang="en-US" sz="2000">
                <a:latin typeface="微软雅黑" panose="020B0503020204020204" pitchFamily="34" charset="-122"/>
                <a:ea typeface="微软雅黑" panose="020B0503020204020204" pitchFamily="34" charset="-122"/>
              </a:rPr>
              <a:t>第一讲：存储器概述和</a:t>
            </a:r>
            <a:r>
              <a:rPr lang="en-US" altLang="zh-CN" sz="2000">
                <a:latin typeface="微软雅黑" panose="020B0503020204020204" pitchFamily="34" charset="-122"/>
                <a:ea typeface="微软雅黑" panose="020B0503020204020204" pitchFamily="34" charset="-122"/>
              </a:rPr>
              <a:t>RAM</a:t>
            </a:r>
            <a:r>
              <a:rPr lang="zh-CN" altLang="en-US" sz="2000">
                <a:latin typeface="微软雅黑" panose="020B0503020204020204" pitchFamily="34" charset="-122"/>
                <a:ea typeface="微软雅黑" panose="020B0503020204020204" pitchFamily="34" charset="-122"/>
              </a:rPr>
              <a:t>芯片</a:t>
            </a:r>
          </a:p>
          <a:p>
            <a:pPr lvl="1">
              <a:spcBef>
                <a:spcPct val="30000"/>
              </a:spcBef>
            </a:pPr>
            <a:r>
              <a:rPr lang="zh-CN" altLang="en-US" sz="2000">
                <a:latin typeface="微软雅黑" panose="020B0503020204020204" pitchFamily="34" charset="-122"/>
                <a:ea typeface="微软雅黑" panose="020B0503020204020204" pitchFamily="34" charset="-122"/>
              </a:rPr>
              <a:t>第二讲：主存与</a:t>
            </a:r>
            <a:r>
              <a:rPr lang="en-US" altLang="zh-CN" sz="2000">
                <a:latin typeface="微软雅黑" panose="020B0503020204020204" pitchFamily="34" charset="-122"/>
                <a:ea typeface="微软雅黑" panose="020B0503020204020204" pitchFamily="34" charset="-122"/>
              </a:rPr>
              <a:t>CPU</a:t>
            </a:r>
            <a:r>
              <a:rPr lang="zh-CN" altLang="en-US" sz="2000">
                <a:latin typeface="微软雅黑" panose="020B0503020204020204" pitchFamily="34" charset="-122"/>
                <a:ea typeface="微软雅黑" panose="020B0503020204020204" pitchFamily="34" charset="-122"/>
              </a:rPr>
              <a:t>的连接及其读写操作 </a:t>
            </a:r>
          </a:p>
          <a:p>
            <a:pPr lvl="2">
              <a:spcBef>
                <a:spcPct val="30000"/>
              </a:spcBef>
            </a:pPr>
            <a:r>
              <a:rPr lang="zh-CN" altLang="en-US" sz="2000">
                <a:solidFill>
                  <a:srgbClr val="006600"/>
                </a:solidFill>
                <a:latin typeface="微软雅黑" panose="020B0503020204020204" pitchFamily="34" charset="-122"/>
                <a:ea typeface="微软雅黑" panose="020B0503020204020204" pitchFamily="34" charset="-122"/>
              </a:rPr>
              <a:t>主存模块的连接和读写操作</a:t>
            </a:r>
          </a:p>
          <a:p>
            <a:pPr lvl="2">
              <a:spcBef>
                <a:spcPct val="30000"/>
              </a:spcBef>
            </a:pPr>
            <a:r>
              <a:rPr lang="zh-CN" altLang="en-US" sz="2000">
                <a:solidFill>
                  <a:srgbClr val="006600"/>
                </a:solidFill>
                <a:latin typeface="微软雅黑" panose="020B0503020204020204" pitchFamily="34" charset="-122"/>
                <a:ea typeface="微软雅黑" panose="020B0503020204020204" pitchFamily="34" charset="-122"/>
              </a:rPr>
              <a:t>“装入”指令和“存储”指令操作过程 </a:t>
            </a:r>
            <a:endParaRPr lang="en-US" altLang="zh-CN" sz="2000">
              <a:solidFill>
                <a:srgbClr val="006600"/>
              </a:solidFill>
              <a:latin typeface="微软雅黑" panose="020B0503020204020204" pitchFamily="34" charset="-122"/>
              <a:ea typeface="微软雅黑" panose="020B0503020204020204" pitchFamily="34" charset="-122"/>
            </a:endParaRPr>
          </a:p>
          <a:p>
            <a:pPr lvl="1">
              <a:spcBef>
                <a:spcPct val="30000"/>
              </a:spcBef>
            </a:pPr>
            <a:r>
              <a:rPr lang="zh-CN" altLang="en-US" sz="2000">
                <a:latin typeface="微软雅黑" panose="020B0503020204020204" pitchFamily="34" charset="-122"/>
                <a:ea typeface="微软雅黑" panose="020B0503020204020204" pitchFamily="34" charset="-122"/>
              </a:rPr>
              <a:t>第三讲：外部辅助存储器</a:t>
            </a:r>
            <a:endParaRPr lang="en-US" altLang="zh-CN" sz="2000">
              <a:latin typeface="微软雅黑" panose="020B0503020204020204" pitchFamily="34" charset="-122"/>
              <a:ea typeface="微软雅黑" panose="020B0503020204020204" pitchFamily="34" charset="-122"/>
            </a:endParaRPr>
          </a:p>
          <a:p>
            <a:pPr lvl="1">
              <a:spcBef>
                <a:spcPct val="30000"/>
              </a:spcBef>
            </a:pPr>
            <a:r>
              <a:rPr lang="zh-CN" altLang="en-US" sz="2000">
                <a:latin typeface="微软雅黑" panose="020B0503020204020204" pitchFamily="34" charset="-122"/>
                <a:ea typeface="微软雅黑" panose="020B0503020204020204" pitchFamily="34" charset="-122"/>
              </a:rPr>
              <a:t>第四讲：存储器的数据校验 </a:t>
            </a:r>
          </a:p>
          <a:p>
            <a:pPr lvl="1">
              <a:spcBef>
                <a:spcPct val="30000"/>
              </a:spcBef>
            </a:pPr>
            <a:r>
              <a:rPr lang="zh-CN" altLang="en-US" sz="2000">
                <a:latin typeface="微软雅黑" panose="020B0503020204020204" pitchFamily="34" charset="-122"/>
                <a:ea typeface="微软雅黑" panose="020B0503020204020204" pitchFamily="34" charset="-122"/>
              </a:rPr>
              <a:t>第五讲：高速缓冲存储器</a:t>
            </a:r>
            <a:r>
              <a:rPr lang="en-US" altLang="zh-CN" sz="2000">
                <a:latin typeface="微软雅黑" panose="020B0503020204020204" pitchFamily="34" charset="-122"/>
                <a:ea typeface="微软雅黑" panose="020B0503020204020204" pitchFamily="34" charset="-122"/>
              </a:rPr>
              <a:t>(cache) </a:t>
            </a:r>
          </a:p>
          <a:p>
            <a:pPr lvl="2">
              <a:spcBef>
                <a:spcPct val="30000"/>
              </a:spcBef>
            </a:pPr>
            <a:r>
              <a:rPr lang="zh-CN" altLang="en-US" sz="2000">
                <a:solidFill>
                  <a:srgbClr val="006600"/>
                </a:solidFill>
                <a:latin typeface="微软雅黑" panose="020B0503020204020204" pitchFamily="34" charset="-122"/>
                <a:ea typeface="微软雅黑" panose="020B0503020204020204" pitchFamily="34" charset="-122"/>
              </a:rPr>
              <a:t>程序访问的局部性、</a:t>
            </a:r>
            <a:r>
              <a:rPr lang="en-US" altLang="zh-CN" sz="2000">
                <a:solidFill>
                  <a:srgbClr val="006600"/>
                </a:solidFill>
                <a:latin typeface="微软雅黑" panose="020B0503020204020204" pitchFamily="34" charset="-122"/>
                <a:ea typeface="微软雅黑" panose="020B0503020204020204" pitchFamily="34" charset="-122"/>
              </a:rPr>
              <a:t>cache</a:t>
            </a:r>
            <a:r>
              <a:rPr lang="zh-CN" altLang="en-US" sz="2000">
                <a:solidFill>
                  <a:srgbClr val="006600"/>
                </a:solidFill>
                <a:latin typeface="微软雅黑" panose="020B0503020204020204" pitchFamily="34" charset="-122"/>
                <a:ea typeface="微软雅黑" panose="020B0503020204020204" pitchFamily="34" charset="-122"/>
              </a:rPr>
              <a:t>的基本工作原理 </a:t>
            </a:r>
          </a:p>
          <a:p>
            <a:pPr lvl="2">
              <a:spcBef>
                <a:spcPct val="30000"/>
              </a:spcBef>
            </a:pPr>
            <a:r>
              <a:rPr lang="en-US" altLang="zh-CN" sz="2000">
                <a:solidFill>
                  <a:srgbClr val="006600"/>
                </a:solidFill>
                <a:latin typeface="微软雅黑" panose="020B0503020204020204" pitchFamily="34" charset="-122"/>
                <a:ea typeface="微软雅黑" panose="020B0503020204020204" pitchFamily="34" charset="-122"/>
              </a:rPr>
              <a:t>cache</a:t>
            </a:r>
            <a:r>
              <a:rPr lang="zh-CN" altLang="en-US" sz="2000">
                <a:solidFill>
                  <a:srgbClr val="006600"/>
                </a:solidFill>
                <a:latin typeface="微软雅黑" panose="020B0503020204020204" pitchFamily="34" charset="-122"/>
                <a:ea typeface="微软雅黑" panose="020B0503020204020204" pitchFamily="34" charset="-122"/>
              </a:rPr>
              <a:t>行和主存块之间的映射方式 </a:t>
            </a:r>
          </a:p>
          <a:p>
            <a:pPr lvl="2">
              <a:spcBef>
                <a:spcPct val="30000"/>
              </a:spcBef>
            </a:pPr>
            <a:r>
              <a:rPr lang="en-US" altLang="zh-CN" sz="2000">
                <a:solidFill>
                  <a:srgbClr val="006600"/>
                </a:solidFill>
                <a:latin typeface="微软雅黑" panose="020B0503020204020204" pitchFamily="34" charset="-122"/>
                <a:ea typeface="微软雅黑" panose="020B0503020204020204" pitchFamily="34" charset="-122"/>
              </a:rPr>
              <a:t>cache</a:t>
            </a:r>
            <a:r>
              <a:rPr lang="zh-CN" altLang="en-US" sz="2000">
                <a:solidFill>
                  <a:srgbClr val="006600"/>
                </a:solidFill>
                <a:latin typeface="微软雅黑" panose="020B0503020204020204" pitchFamily="34" charset="-122"/>
                <a:ea typeface="微软雅黑" panose="020B0503020204020204" pitchFamily="34" charset="-122"/>
              </a:rPr>
              <a:t>和程序性能 </a:t>
            </a:r>
          </a:p>
          <a:p>
            <a:pPr lvl="1">
              <a:spcBef>
                <a:spcPct val="30000"/>
              </a:spcBef>
            </a:pPr>
            <a:r>
              <a:rPr lang="zh-CN" altLang="en-US" sz="2000">
                <a:solidFill>
                  <a:schemeClr val="accent1"/>
                </a:solidFill>
                <a:latin typeface="微软雅黑" panose="020B0503020204020204" pitchFamily="34" charset="-122"/>
                <a:ea typeface="微软雅黑" panose="020B0503020204020204" pitchFamily="34" charset="-122"/>
              </a:rPr>
              <a:t>第六讲：虚拟存储器 （</a:t>
            </a:r>
            <a:r>
              <a:rPr lang="en-US" altLang="zh-CN" sz="2000">
                <a:solidFill>
                  <a:schemeClr val="accent1"/>
                </a:solidFill>
                <a:latin typeface="微软雅黑" panose="020B0503020204020204" pitchFamily="34" charset="-122"/>
                <a:ea typeface="微软雅黑" panose="020B0503020204020204" pitchFamily="34" charset="-122"/>
              </a:rPr>
              <a:t>Virtual Memory</a:t>
            </a:r>
            <a:r>
              <a:rPr lang="zh-CN" altLang="en-US" sz="2000">
                <a:solidFill>
                  <a:schemeClr val="accent1"/>
                </a:solidFill>
                <a:latin typeface="微软雅黑" panose="020B0503020204020204" pitchFamily="34" charset="-122"/>
                <a:ea typeface="微软雅黑" panose="020B0503020204020204" pitchFamily="34" charset="-122"/>
              </a:rPr>
              <a:t>）</a:t>
            </a:r>
          </a:p>
          <a:p>
            <a:pPr lvl="2">
              <a:spcBef>
                <a:spcPct val="30000"/>
              </a:spcBef>
            </a:pPr>
            <a:r>
              <a:rPr lang="zh-CN" altLang="en-US" sz="2000">
                <a:solidFill>
                  <a:srgbClr val="006600"/>
                </a:solidFill>
                <a:latin typeface="微软雅黑" panose="020B0503020204020204" pitchFamily="34" charset="-122"/>
                <a:ea typeface="微软雅黑" panose="020B0503020204020204" pitchFamily="34" charset="-122"/>
              </a:rPr>
              <a:t>虚拟地址空间、虚拟存储器的实现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13AD65E3-0589-3E40-86E2-D736227A0D03}"/>
              </a:ext>
            </a:extLst>
          </p:cNvPr>
          <p:cNvSpPr>
            <a:spLocks noGrp="1" noChangeArrowheads="1"/>
          </p:cNvSpPr>
          <p:nvPr>
            <p:ph type="title" idx="4294967295"/>
          </p:nvPr>
        </p:nvSpPr>
        <p:spPr>
          <a:xfrm>
            <a:off x="341313" y="0"/>
            <a:ext cx="6254750" cy="641350"/>
          </a:xfrm>
          <a:noFill/>
        </p:spPr>
        <p:txBody>
          <a:bodyPr lIns="91440" tIns="45720" rIns="91440" bIns="45720" anchor="ctr"/>
          <a:lstStyle/>
          <a:p>
            <a:pPr eaLnBrk="1" hangingPunct="1"/>
            <a:r>
              <a:rPr lang="zh-CN" altLang="en-US"/>
              <a:t>             早期分页方式的概念</a:t>
            </a:r>
          </a:p>
        </p:txBody>
      </p:sp>
      <p:sp>
        <p:nvSpPr>
          <p:cNvPr id="827395" name="Rectangle 3">
            <a:extLst>
              <a:ext uri="{FF2B5EF4-FFF2-40B4-BE49-F238E27FC236}">
                <a16:creationId xmlns:a16="http://schemas.microsoft.com/office/drawing/2014/main" id="{520B090E-1BCE-8F44-9983-296FD397DF83}"/>
              </a:ext>
            </a:extLst>
          </p:cNvPr>
          <p:cNvSpPr>
            <a:spLocks noGrp="1" noChangeArrowheads="1"/>
          </p:cNvSpPr>
          <p:nvPr>
            <p:ph type="body" idx="4294967295"/>
          </p:nvPr>
        </p:nvSpPr>
        <p:spPr>
          <a:xfrm>
            <a:off x="120650" y="1247775"/>
            <a:ext cx="8937625" cy="5499100"/>
          </a:xfrm>
          <a:noFill/>
        </p:spPr>
        <p:txBody>
          <a:bodyPr lIns="91440" tIns="45720" rIns="91440" bIns="45720"/>
          <a:lstStyle/>
          <a:p>
            <a:pPr eaLnBrk="1" hangingPunct="1">
              <a:lnSpc>
                <a:spcPct val="120000"/>
              </a:lnSpc>
            </a:pPr>
            <a:r>
              <a:rPr lang="en-US" altLang="zh-CN" sz="2200">
                <a:latin typeface="微软雅黑" panose="020B0503020204020204" pitchFamily="34" charset="-122"/>
                <a:ea typeface="微软雅黑" panose="020B0503020204020204" pitchFamily="34" charset="-122"/>
              </a:rPr>
              <a:t>1961</a:t>
            </a:r>
            <a:r>
              <a:rPr lang="zh-CN" altLang="en-US" sz="2200">
                <a:latin typeface="微软雅黑" panose="020B0503020204020204" pitchFamily="34" charset="-122"/>
                <a:ea typeface="微软雅黑" panose="020B0503020204020204" pitchFamily="34" charset="-122"/>
              </a:rPr>
              <a:t>年，英国曼切斯特研究人员提出一种</a:t>
            </a:r>
            <a:r>
              <a:rPr lang="zh-CN" altLang="en-US" sz="2200">
                <a:solidFill>
                  <a:srgbClr val="FF3300"/>
                </a:solidFill>
                <a:latin typeface="微软雅黑" panose="020B0503020204020204" pitchFamily="34" charset="-122"/>
                <a:ea typeface="微软雅黑" panose="020B0503020204020204" pitchFamily="34" charset="-122"/>
              </a:rPr>
              <a:t>自动执行</a:t>
            </a:r>
            <a:r>
              <a:rPr lang="en-US" altLang="zh-CN" sz="2200">
                <a:solidFill>
                  <a:srgbClr val="FF3300"/>
                </a:solidFill>
                <a:latin typeface="微软雅黑" panose="020B0503020204020204" pitchFamily="34" charset="-122"/>
                <a:ea typeface="微软雅黑" panose="020B0503020204020204" pitchFamily="34" charset="-122"/>
              </a:rPr>
              <a:t>overlay</a:t>
            </a:r>
            <a:r>
              <a:rPr lang="zh-CN" altLang="en-US" sz="2200">
                <a:latin typeface="微软雅黑" panose="020B0503020204020204" pitchFamily="34" charset="-122"/>
                <a:ea typeface="微软雅黑" panose="020B0503020204020204" pitchFamily="34" charset="-122"/>
              </a:rPr>
              <a:t>的方式。</a:t>
            </a:r>
          </a:p>
          <a:p>
            <a:pPr eaLnBrk="1" hangingPunct="1">
              <a:lnSpc>
                <a:spcPct val="120000"/>
              </a:lnSpc>
            </a:pPr>
            <a:r>
              <a:rPr lang="zh-CN" altLang="en-US" sz="2200">
                <a:latin typeface="微软雅黑" panose="020B0503020204020204" pitchFamily="34" charset="-122"/>
                <a:ea typeface="微软雅黑" panose="020B0503020204020204" pitchFamily="34" charset="-122"/>
              </a:rPr>
              <a:t>动机：把程序员从大量繁琐的存储管理工作中解放出来，</a:t>
            </a:r>
            <a:r>
              <a:rPr lang="zh-CN" altLang="en-US" sz="2200">
                <a:solidFill>
                  <a:schemeClr val="accent1"/>
                </a:solidFill>
                <a:latin typeface="微软雅黑" panose="020B0503020204020204" pitchFamily="34" charset="-122"/>
                <a:ea typeface="微软雅黑" panose="020B0503020204020204" pitchFamily="34" charset="-122"/>
              </a:rPr>
              <a:t>使得程序员编程时不用管主存容量的大小</a:t>
            </a:r>
            <a:r>
              <a:rPr lang="zh-CN" altLang="en-US" sz="2200">
                <a:latin typeface="微软雅黑" panose="020B0503020204020204" pitchFamily="34" charset="-122"/>
                <a:ea typeface="微软雅黑" panose="020B0503020204020204" pitchFamily="34" charset="-122"/>
              </a:rPr>
              <a:t>。</a:t>
            </a:r>
          </a:p>
          <a:p>
            <a:pPr eaLnBrk="1" hangingPunct="1">
              <a:lnSpc>
                <a:spcPct val="120000"/>
              </a:lnSpc>
            </a:pPr>
            <a:r>
              <a:rPr lang="zh-CN" altLang="en-US" sz="2200">
                <a:latin typeface="微软雅黑" panose="020B0503020204020204" pitchFamily="34" charset="-122"/>
                <a:ea typeface="微软雅黑" panose="020B0503020204020204" pitchFamily="34" charset="-122"/>
              </a:rPr>
              <a:t>基本思想：把</a:t>
            </a:r>
            <a:r>
              <a:rPr lang="zh-CN" altLang="en-US" sz="2200">
                <a:solidFill>
                  <a:srgbClr val="FF3300"/>
                </a:solidFill>
                <a:latin typeface="微软雅黑" panose="020B0503020204020204" pitchFamily="34" charset="-122"/>
                <a:ea typeface="微软雅黑" panose="020B0503020204020204" pitchFamily="34" charset="-122"/>
              </a:rPr>
              <a:t>地址空间</a:t>
            </a:r>
            <a:r>
              <a:rPr lang="zh-CN" altLang="en-US" sz="2200">
                <a:latin typeface="微软雅黑" panose="020B0503020204020204" pitchFamily="34" charset="-122"/>
                <a:ea typeface="微软雅黑" panose="020B0503020204020204" pitchFamily="34" charset="-122"/>
              </a:rPr>
              <a:t>和</a:t>
            </a:r>
            <a:r>
              <a:rPr lang="zh-CN" altLang="en-US" sz="2200">
                <a:solidFill>
                  <a:srgbClr val="FF3300"/>
                </a:solidFill>
                <a:latin typeface="微软雅黑" panose="020B0503020204020204" pitchFamily="34" charset="-122"/>
                <a:ea typeface="微软雅黑" panose="020B0503020204020204" pitchFamily="34" charset="-122"/>
              </a:rPr>
              <a:t>主存容量</a:t>
            </a:r>
            <a:r>
              <a:rPr lang="zh-CN" altLang="en-US" sz="2200">
                <a:latin typeface="微软雅黑" panose="020B0503020204020204" pitchFamily="34" charset="-122"/>
                <a:ea typeface="微软雅黑" panose="020B0503020204020204" pitchFamily="34" charset="-122"/>
              </a:rPr>
              <a:t>的概念区分开来。程序员在地址空间里编写程序，而程序则在真正的内存中运行。由一个</a:t>
            </a:r>
            <a:r>
              <a:rPr lang="zh-CN" altLang="en-US" sz="2200">
                <a:solidFill>
                  <a:srgbClr val="FF3300"/>
                </a:solidFill>
                <a:latin typeface="微软雅黑" panose="020B0503020204020204" pitchFamily="34" charset="-122"/>
                <a:ea typeface="微软雅黑" panose="020B0503020204020204" pitchFamily="34" charset="-122"/>
              </a:rPr>
              <a:t>专门的机制</a:t>
            </a:r>
            <a:r>
              <a:rPr lang="zh-CN" altLang="en-US" sz="2200">
                <a:latin typeface="微软雅黑" panose="020B0503020204020204" pitchFamily="34" charset="-122"/>
                <a:ea typeface="微软雅黑" panose="020B0503020204020204" pitchFamily="34" charset="-122"/>
              </a:rPr>
              <a:t>实现地址空间和实际主存之间的</a:t>
            </a:r>
            <a:r>
              <a:rPr lang="zh-CN" altLang="en-US" sz="2200">
                <a:solidFill>
                  <a:srgbClr val="FF3300"/>
                </a:solidFill>
                <a:latin typeface="微软雅黑" panose="020B0503020204020204" pitchFamily="34" charset="-122"/>
                <a:ea typeface="微软雅黑" panose="020B0503020204020204" pitchFamily="34" charset="-122"/>
              </a:rPr>
              <a:t>映射</a:t>
            </a:r>
            <a:r>
              <a:rPr lang="zh-CN" altLang="en-US" sz="2200">
                <a:latin typeface="微软雅黑" panose="020B0503020204020204" pitchFamily="34" charset="-122"/>
                <a:ea typeface="微软雅黑" panose="020B0503020204020204" pitchFamily="34" charset="-122"/>
              </a:rPr>
              <a:t>。</a:t>
            </a:r>
          </a:p>
          <a:p>
            <a:pPr eaLnBrk="1" hangingPunct="1">
              <a:lnSpc>
                <a:spcPct val="120000"/>
              </a:lnSpc>
            </a:pPr>
            <a:r>
              <a:rPr lang="zh-CN" altLang="en-US" sz="2200">
                <a:latin typeface="微软雅黑" panose="020B0503020204020204" pitchFamily="34" charset="-122"/>
                <a:ea typeface="微软雅黑" panose="020B0503020204020204" pitchFamily="34" charset="-122"/>
              </a:rPr>
              <a:t>举例说明：</a:t>
            </a:r>
          </a:p>
          <a:p>
            <a:pPr lvl="1" eaLnBrk="1" hangingPunct="1">
              <a:lnSpc>
                <a:spcPct val="120000"/>
              </a:lnSpc>
              <a:buFontTx/>
              <a:buNone/>
            </a:pPr>
            <a:r>
              <a:rPr lang="zh-CN" altLang="en-US" sz="2200">
                <a:latin typeface="微软雅黑" panose="020B0503020204020204" pitchFamily="34" charset="-122"/>
                <a:ea typeface="微软雅黑" panose="020B0503020204020204" pitchFamily="34" charset="-122"/>
              </a:rPr>
              <a:t>  例如，当时的一种典型计算机，其指令中给出的主存地址为</a:t>
            </a:r>
            <a:r>
              <a:rPr lang="en-US" altLang="zh-CN" sz="2200">
                <a:latin typeface="微软雅黑" panose="020B0503020204020204" pitchFamily="34" charset="-122"/>
                <a:ea typeface="微软雅黑" panose="020B0503020204020204" pitchFamily="34" charset="-122"/>
              </a:rPr>
              <a:t>16</a:t>
            </a:r>
            <a:r>
              <a:rPr lang="zh-CN" altLang="en-US" sz="2200">
                <a:latin typeface="微软雅黑" panose="020B0503020204020204" pitchFamily="34" charset="-122"/>
                <a:ea typeface="微软雅黑" panose="020B0503020204020204" pitchFamily="34" charset="-122"/>
              </a:rPr>
              <a:t>位，而</a:t>
            </a:r>
            <a:r>
              <a:rPr lang="zh-CN" altLang="en-US" sz="2200">
                <a:solidFill>
                  <a:srgbClr val="FF0000"/>
                </a:solidFill>
                <a:latin typeface="微软雅黑" panose="020B0503020204020204" pitchFamily="34" charset="-122"/>
                <a:ea typeface="微软雅黑" panose="020B0503020204020204" pitchFamily="34" charset="-122"/>
              </a:rPr>
              <a:t>主存容量</a:t>
            </a:r>
            <a:r>
              <a:rPr lang="zh-CN" altLang="en-US" sz="2200">
                <a:latin typeface="微软雅黑" panose="020B0503020204020204" pitchFamily="34" charset="-122"/>
                <a:ea typeface="微软雅黑" panose="020B0503020204020204" pitchFamily="34" charset="-122"/>
              </a:rPr>
              <a:t>只有</a:t>
            </a:r>
            <a:r>
              <a:rPr lang="en-US" altLang="zh-CN" sz="2200">
                <a:latin typeface="微软雅黑" panose="020B0503020204020204" pitchFamily="34" charset="-122"/>
                <a:ea typeface="微软雅黑" panose="020B0503020204020204" pitchFamily="34" charset="-122"/>
              </a:rPr>
              <a:t>4K</a:t>
            </a:r>
            <a:r>
              <a:rPr lang="zh-CN" altLang="en-US" sz="2200">
                <a:latin typeface="微软雅黑" panose="020B0503020204020204" pitchFamily="34" charset="-122"/>
                <a:ea typeface="微软雅黑" panose="020B0503020204020204" pitchFamily="34" charset="-122"/>
              </a:rPr>
              <a:t>字，则指令</a:t>
            </a:r>
            <a:r>
              <a:rPr lang="zh-CN" altLang="en-US" sz="2200">
                <a:solidFill>
                  <a:srgbClr val="FF0000"/>
                </a:solidFill>
                <a:latin typeface="微软雅黑" panose="020B0503020204020204" pitchFamily="34" charset="-122"/>
                <a:ea typeface="微软雅黑" panose="020B0503020204020204" pitchFamily="34" charset="-122"/>
              </a:rPr>
              <a:t>可寻址范围</a:t>
            </a:r>
            <a:r>
              <a:rPr lang="zh-CN" altLang="en-US" sz="2200">
                <a:latin typeface="微软雅黑" panose="020B0503020204020204" pitchFamily="34" charset="-122"/>
                <a:ea typeface="微软雅黑" panose="020B0503020204020204" pitchFamily="34" charset="-122"/>
              </a:rPr>
              <a:t>是多少？</a:t>
            </a:r>
          </a:p>
          <a:p>
            <a:pPr lvl="1" eaLnBrk="1" hangingPunct="1">
              <a:lnSpc>
                <a:spcPct val="120000"/>
              </a:lnSpc>
              <a:buFontTx/>
              <a:buNone/>
            </a:pPr>
            <a:r>
              <a:rPr lang="zh-CN" altLang="en-US" sz="2200">
                <a:latin typeface="微软雅黑" panose="020B0503020204020204" pitchFamily="34" charset="-122"/>
                <a:ea typeface="微软雅黑" panose="020B0503020204020204" pitchFamily="34" charset="-122"/>
              </a:rPr>
              <a:t>  </a:t>
            </a:r>
            <a:r>
              <a:rPr lang="zh-CN" altLang="en-US" sz="2200">
                <a:solidFill>
                  <a:srgbClr val="FF0000"/>
                </a:solidFill>
                <a:latin typeface="微软雅黑" panose="020B0503020204020204" pitchFamily="34" charset="-122"/>
                <a:ea typeface="微软雅黑" panose="020B0503020204020204" pitchFamily="34" charset="-122"/>
              </a:rPr>
              <a:t>地址空间</a:t>
            </a:r>
            <a:r>
              <a:rPr lang="zh-CN" altLang="en-US" sz="2200">
                <a:latin typeface="微软雅黑" panose="020B0503020204020204" pitchFamily="34" charset="-122"/>
                <a:ea typeface="微软雅黑" panose="020B0503020204020204" pitchFamily="34" charset="-122"/>
              </a:rPr>
              <a:t>为</a:t>
            </a:r>
            <a:r>
              <a:rPr lang="en-US" altLang="zh-CN" sz="2200">
                <a:latin typeface="微软雅黑" panose="020B0503020204020204" pitchFamily="34" charset="-122"/>
                <a:ea typeface="微软雅黑" panose="020B0503020204020204" pitchFamily="34" charset="-122"/>
              </a:rPr>
              <a:t>0</a:t>
            </a:r>
            <a:r>
              <a:rPr lang="zh-CN" altLang="en-US" sz="2200">
                <a:latin typeface="微软雅黑" panose="020B0503020204020204" pitchFamily="34" charset="-122"/>
                <a:ea typeface="微软雅黑" panose="020B0503020204020204" pitchFamily="34" charset="-122"/>
              </a:rPr>
              <a:t>、</a:t>
            </a:r>
            <a:r>
              <a:rPr lang="en-US" altLang="zh-CN" sz="2200">
                <a:latin typeface="微软雅黑" panose="020B0503020204020204" pitchFamily="34" charset="-122"/>
                <a:ea typeface="微软雅黑" panose="020B0503020204020204" pitchFamily="34" charset="-122"/>
              </a:rPr>
              <a:t>1</a:t>
            </a:r>
            <a:r>
              <a:rPr lang="zh-CN" altLang="en-US" sz="2200">
                <a:latin typeface="微软雅黑" panose="020B0503020204020204" pitchFamily="34" charset="-122"/>
                <a:ea typeface="微软雅黑" panose="020B0503020204020204" pitchFamily="34" charset="-122"/>
              </a:rPr>
              <a:t>、</a:t>
            </a:r>
            <a:r>
              <a:rPr lang="en-US" altLang="zh-CN" sz="2200">
                <a:latin typeface="微软雅黑" panose="020B0503020204020204" pitchFamily="34" charset="-122"/>
                <a:ea typeface="微软雅黑" panose="020B0503020204020204" pitchFamily="34" charset="-122"/>
              </a:rPr>
              <a:t>2…</a:t>
            </a:r>
            <a:r>
              <a:rPr lang="zh-CN" altLang="en-US" sz="2200">
                <a:latin typeface="微软雅黑" panose="020B0503020204020204" pitchFamily="34" charset="-122"/>
                <a:ea typeface="微软雅黑" panose="020B0503020204020204" pitchFamily="34" charset="-122"/>
              </a:rPr>
              <a:t>、</a:t>
            </a:r>
            <a:r>
              <a:rPr lang="en-US" altLang="zh-CN" sz="2200">
                <a:latin typeface="微软雅黑" panose="020B0503020204020204" pitchFamily="34" charset="-122"/>
                <a:ea typeface="微软雅黑" panose="020B0503020204020204" pitchFamily="34" charset="-122"/>
              </a:rPr>
              <a:t>65535</a:t>
            </a:r>
            <a:r>
              <a:rPr lang="zh-CN" altLang="en-US" sz="2200">
                <a:latin typeface="微软雅黑" panose="020B0503020204020204" pitchFamily="34" charset="-122"/>
                <a:ea typeface="微软雅黑" panose="020B0503020204020204" pitchFamily="34" charset="-122"/>
              </a:rPr>
              <a:t>组成的地址集合，即</a:t>
            </a:r>
            <a:r>
              <a:rPr lang="zh-CN" altLang="en-US" sz="2200">
                <a:solidFill>
                  <a:srgbClr val="FF0000"/>
                </a:solidFill>
                <a:latin typeface="微软雅黑" panose="020B0503020204020204" pitchFamily="34" charset="-122"/>
                <a:ea typeface="微软雅黑" panose="020B0503020204020204" pitchFamily="34" charset="-122"/>
              </a:rPr>
              <a:t>地址空间大小</a:t>
            </a:r>
            <a:r>
              <a:rPr lang="zh-CN" altLang="en-US" sz="2200">
                <a:latin typeface="微软雅黑" panose="020B0503020204020204" pitchFamily="34" charset="-122"/>
                <a:ea typeface="微软雅黑" panose="020B0503020204020204" pitchFamily="34" charset="-122"/>
              </a:rPr>
              <a:t>为</a:t>
            </a:r>
            <a:r>
              <a:rPr lang="en-US" altLang="zh-CN" sz="2200">
                <a:latin typeface="微软雅黑" panose="020B0503020204020204" pitchFamily="34" charset="-122"/>
                <a:ea typeface="微软雅黑" panose="020B0503020204020204" pitchFamily="34" charset="-122"/>
              </a:rPr>
              <a:t>2</a:t>
            </a:r>
            <a:r>
              <a:rPr lang="en-US" altLang="zh-CN" sz="2200" baseline="30000">
                <a:latin typeface="微软雅黑" panose="020B0503020204020204" pitchFamily="34" charset="-122"/>
                <a:ea typeface="微软雅黑" panose="020B0503020204020204" pitchFamily="34" charset="-122"/>
              </a:rPr>
              <a:t>16</a:t>
            </a:r>
            <a:r>
              <a:rPr lang="zh-CN" altLang="en-US" sz="2200">
                <a:latin typeface="微软雅黑" panose="020B0503020204020204" pitchFamily="34" charset="-122"/>
                <a:ea typeface="微软雅黑" panose="020B0503020204020204" pitchFamily="34" charset="-122"/>
              </a:rPr>
              <a:t>。程序员编写程序的空间（地址空间，可寻址空间）比执行程序的空间（主存容量）大得多，怎么自动执行程序呢？</a:t>
            </a:r>
            <a:endParaRPr lang="zh-CN" altLang="en-US" sz="2200">
              <a:solidFill>
                <a:srgbClr val="0000FF"/>
              </a:solidFill>
              <a:latin typeface="微软雅黑" panose="020B0503020204020204" pitchFamily="34" charset="-122"/>
              <a:ea typeface="微软雅黑" panose="020B0503020204020204" pitchFamily="34" charset="-122"/>
            </a:endParaRPr>
          </a:p>
        </p:txBody>
      </p:sp>
      <p:sp>
        <p:nvSpPr>
          <p:cNvPr id="827396" name="Text Box 4">
            <a:extLst>
              <a:ext uri="{FF2B5EF4-FFF2-40B4-BE49-F238E27FC236}">
                <a16:creationId xmlns:a16="http://schemas.microsoft.com/office/drawing/2014/main" id="{FB396FC2-BAEC-2F4C-8E8D-12F169DFF970}"/>
              </a:ext>
            </a:extLst>
          </p:cNvPr>
          <p:cNvSpPr txBox="1">
            <a:spLocks noChangeArrowheads="1"/>
          </p:cNvSpPr>
          <p:nvPr/>
        </p:nvSpPr>
        <p:spPr bwMode="auto">
          <a:xfrm>
            <a:off x="334963" y="814388"/>
            <a:ext cx="8345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latin typeface="微软雅黑" panose="020B0503020204020204" pitchFamily="34" charset="-122"/>
                <a:ea typeface="微软雅黑" panose="020B0503020204020204" pitchFamily="34" charset="-122"/>
              </a:rPr>
              <a:t>早期：程序员自己管理主存，通过分解程序并覆盖主存的方式执行程序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7396"/>
                                        </p:tgtEl>
                                        <p:attrNameLst>
                                          <p:attrName>style.visibility</p:attrName>
                                        </p:attrNameLst>
                                      </p:cBhvr>
                                      <p:to>
                                        <p:strVal val="visible"/>
                                      </p:to>
                                    </p:set>
                                    <p:animEffect transition="in" filter="blinds(horizontal)">
                                      <p:cBhvr>
                                        <p:cTn id="7" dur="500"/>
                                        <p:tgtEl>
                                          <p:spTgt spid="8273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7395">
                                            <p:txEl>
                                              <p:pRg st="0" end="0"/>
                                            </p:txEl>
                                          </p:spTgt>
                                        </p:tgtEl>
                                        <p:attrNameLst>
                                          <p:attrName>style.visibility</p:attrName>
                                        </p:attrNameLst>
                                      </p:cBhvr>
                                      <p:to>
                                        <p:strVal val="visible"/>
                                      </p:to>
                                    </p:set>
                                    <p:animEffect transition="in" filter="blinds(horizontal)">
                                      <p:cBhvr>
                                        <p:cTn id="12" dur="500"/>
                                        <p:tgtEl>
                                          <p:spTgt spid="82739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27395">
                                            <p:txEl>
                                              <p:pRg st="1" end="1"/>
                                            </p:txEl>
                                          </p:spTgt>
                                        </p:tgtEl>
                                        <p:attrNameLst>
                                          <p:attrName>style.visibility</p:attrName>
                                        </p:attrNameLst>
                                      </p:cBhvr>
                                      <p:to>
                                        <p:strVal val="visible"/>
                                      </p:to>
                                    </p:set>
                                    <p:animEffect transition="in" filter="blinds(horizontal)">
                                      <p:cBhvr>
                                        <p:cTn id="17" dur="500"/>
                                        <p:tgtEl>
                                          <p:spTgt spid="82739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27395">
                                            <p:txEl>
                                              <p:pRg st="2" end="2"/>
                                            </p:txEl>
                                          </p:spTgt>
                                        </p:tgtEl>
                                        <p:attrNameLst>
                                          <p:attrName>style.visibility</p:attrName>
                                        </p:attrNameLst>
                                      </p:cBhvr>
                                      <p:to>
                                        <p:strVal val="visible"/>
                                      </p:to>
                                    </p:set>
                                    <p:animEffect transition="in" filter="blinds(horizontal)">
                                      <p:cBhvr>
                                        <p:cTn id="22" dur="500"/>
                                        <p:tgtEl>
                                          <p:spTgt spid="82739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27395">
                                            <p:txEl>
                                              <p:pRg st="3" end="3"/>
                                            </p:txEl>
                                          </p:spTgt>
                                        </p:tgtEl>
                                        <p:attrNameLst>
                                          <p:attrName>style.visibility</p:attrName>
                                        </p:attrNameLst>
                                      </p:cBhvr>
                                      <p:to>
                                        <p:strVal val="visible"/>
                                      </p:to>
                                    </p:set>
                                    <p:animEffect transition="in" filter="blinds(horizontal)">
                                      <p:cBhvr>
                                        <p:cTn id="27" dur="500"/>
                                        <p:tgtEl>
                                          <p:spTgt spid="827395">
                                            <p:txEl>
                                              <p:pRg st="3" end="3"/>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827395">
                                            <p:txEl>
                                              <p:pRg st="4" end="4"/>
                                            </p:txEl>
                                          </p:spTgt>
                                        </p:tgtEl>
                                        <p:attrNameLst>
                                          <p:attrName>style.visibility</p:attrName>
                                        </p:attrNameLst>
                                      </p:cBhvr>
                                      <p:to>
                                        <p:strVal val="visible"/>
                                      </p:to>
                                    </p:set>
                                    <p:animEffect transition="in" filter="blinds(horizontal)">
                                      <p:cBhvr>
                                        <p:cTn id="30" dur="500"/>
                                        <p:tgtEl>
                                          <p:spTgt spid="827395">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827395">
                                            <p:txEl>
                                              <p:pRg st="5" end="5"/>
                                            </p:txEl>
                                          </p:spTgt>
                                        </p:tgtEl>
                                        <p:attrNameLst>
                                          <p:attrName>style.visibility</p:attrName>
                                        </p:attrNameLst>
                                      </p:cBhvr>
                                      <p:to>
                                        <p:strVal val="visible"/>
                                      </p:to>
                                    </p:set>
                                    <p:animEffect transition="in" filter="blinds(horizontal)">
                                      <p:cBhvr>
                                        <p:cTn id="35" dur="500"/>
                                        <p:tgtEl>
                                          <p:spTgt spid="8273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F5DE3F77-898F-8F45-8FD4-54B23978F94C}"/>
              </a:ext>
            </a:extLst>
          </p:cNvPr>
          <p:cNvSpPr>
            <a:spLocks noGrp="1" noChangeArrowheads="1"/>
          </p:cNvSpPr>
          <p:nvPr>
            <p:ph type="title" idx="4294967295"/>
          </p:nvPr>
        </p:nvSpPr>
        <p:spPr/>
        <p:txBody>
          <a:bodyPr lIns="91440" tIns="45720" rIns="91440" bIns="45720" anchor="ctr"/>
          <a:lstStyle/>
          <a:p>
            <a:pPr eaLnBrk="1" hangingPunct="1"/>
            <a:r>
              <a:rPr lang="zh-CN" altLang="en-US"/>
              <a:t>早期分页方式的实现</a:t>
            </a:r>
          </a:p>
        </p:txBody>
      </p:sp>
      <p:sp>
        <p:nvSpPr>
          <p:cNvPr id="490500" name="Rectangle 4">
            <a:extLst>
              <a:ext uri="{FF2B5EF4-FFF2-40B4-BE49-F238E27FC236}">
                <a16:creationId xmlns:a16="http://schemas.microsoft.com/office/drawing/2014/main" id="{1021D218-5545-9443-82AE-D1EA3F69CF02}"/>
              </a:ext>
            </a:extLst>
          </p:cNvPr>
          <p:cNvSpPr>
            <a:spLocks noGrp="1" noChangeArrowheads="1"/>
          </p:cNvSpPr>
          <p:nvPr>
            <p:ph type="body" idx="4294967295"/>
          </p:nvPr>
        </p:nvSpPr>
        <p:spPr>
          <a:xfrm>
            <a:off x="290513" y="4103688"/>
            <a:ext cx="8556625" cy="2665412"/>
          </a:xfrm>
          <a:noFill/>
        </p:spPr>
        <p:txBody>
          <a:bodyPr lIns="91440" tIns="45720" rIns="91440" bIns="45720"/>
          <a:lstStyle/>
          <a:p>
            <a:pPr eaLnBrk="1" hangingPunct="1">
              <a:buFontTx/>
              <a:buNone/>
            </a:pPr>
            <a:endParaRPr lang="en-US" altLang="zh-CN" sz="1400">
              <a:ea typeface="宋体" panose="02010600030101010101" pitchFamily="2" charset="-122"/>
            </a:endParaRPr>
          </a:p>
          <a:p>
            <a:pPr lvl="1" eaLnBrk="1" hangingPunct="1"/>
            <a:r>
              <a:rPr lang="zh-CN" altLang="en-US" sz="2000">
                <a:latin typeface="微软雅黑" panose="020B0503020204020204" pitchFamily="34" charset="-122"/>
                <a:ea typeface="微软雅黑" panose="020B0503020204020204" pitchFamily="34" charset="-122"/>
              </a:rPr>
              <a:t>将地址空间划分成</a:t>
            </a:r>
            <a:r>
              <a:rPr lang="en-US" altLang="zh-CN" sz="2000">
                <a:latin typeface="微软雅黑" panose="020B0503020204020204" pitchFamily="34" charset="-122"/>
                <a:ea typeface="微软雅黑" panose="020B0503020204020204" pitchFamily="34" charset="-122"/>
              </a:rPr>
              <a:t>4K</a:t>
            </a:r>
            <a:r>
              <a:rPr lang="zh-CN" altLang="en-US" sz="2000">
                <a:latin typeface="微软雅黑" panose="020B0503020204020204" pitchFamily="34" charset="-122"/>
                <a:ea typeface="微软雅黑" panose="020B0503020204020204" pitchFamily="34" charset="-122"/>
              </a:rPr>
              <a:t>大小的区间，装入内存的总是其中的一个区间</a:t>
            </a:r>
            <a:endParaRPr lang="en-US" altLang="zh-CN" sz="2000">
              <a:latin typeface="微软雅黑" panose="020B0503020204020204" pitchFamily="34" charset="-122"/>
              <a:ea typeface="微软雅黑" panose="020B0503020204020204" pitchFamily="34" charset="-122"/>
            </a:endParaRPr>
          </a:p>
          <a:p>
            <a:pPr lvl="1" eaLnBrk="1" hangingPunct="1"/>
            <a:r>
              <a:rPr lang="zh-CN" altLang="en-US" sz="2000">
                <a:latin typeface="微软雅黑" panose="020B0503020204020204" pitchFamily="34" charset="-122"/>
                <a:ea typeface="微软雅黑" panose="020B0503020204020204" pitchFamily="34" charset="-122"/>
              </a:rPr>
              <a:t>执行到某个区间时，把该区间的地址</a:t>
            </a:r>
            <a:r>
              <a:rPr lang="zh-CN" altLang="en-US" sz="2000">
                <a:solidFill>
                  <a:srgbClr val="FF0000"/>
                </a:solidFill>
                <a:latin typeface="微软雅黑" panose="020B0503020204020204" pitchFamily="34" charset="-122"/>
                <a:ea typeface="微软雅黑" panose="020B0503020204020204" pitchFamily="34" charset="-122"/>
              </a:rPr>
              <a:t>自动映射</a:t>
            </a:r>
            <a:r>
              <a:rPr lang="zh-CN" altLang="en-US" sz="2000">
                <a:latin typeface="微软雅黑" panose="020B0503020204020204" pitchFamily="34" charset="-122"/>
                <a:ea typeface="微软雅黑" panose="020B0503020204020204" pitchFamily="34" charset="-122"/>
              </a:rPr>
              <a:t>到</a:t>
            </a:r>
            <a:r>
              <a:rPr lang="en-US" altLang="zh-CN" sz="2000">
                <a:latin typeface="微软雅黑" panose="020B0503020204020204" pitchFamily="34" charset="-122"/>
                <a:ea typeface="微软雅黑" panose="020B0503020204020204" pitchFamily="34" charset="-122"/>
              </a:rPr>
              <a:t>0</a:t>
            </a:r>
            <a:r>
              <a:rPr lang="en-US" altLang="zh-CN" sz="2000">
                <a:latin typeface="微软雅黑" panose="020B0503020204020204" pitchFamily="34" charset="-122"/>
                <a:ea typeface="微软雅黑" panose="020B0503020204020204" pitchFamily="34" charset="-122"/>
                <a:cs typeface="Arial" panose="020B0604020202020204" pitchFamily="34" charset="0"/>
              </a:rPr>
              <a:t>~</a:t>
            </a:r>
            <a:r>
              <a:rPr lang="en-US" altLang="zh-CN" sz="2000">
                <a:latin typeface="微软雅黑" panose="020B0503020204020204" pitchFamily="34" charset="-122"/>
                <a:ea typeface="微软雅黑" panose="020B0503020204020204" pitchFamily="34" charset="-122"/>
              </a:rPr>
              <a:t>4095</a:t>
            </a:r>
            <a:r>
              <a:rPr lang="zh-CN" altLang="en-US" sz="2000">
                <a:latin typeface="微软雅黑" panose="020B0503020204020204" pitchFamily="34" charset="-122"/>
                <a:ea typeface="微软雅黑" panose="020B0503020204020204" pitchFamily="34" charset="-122"/>
              </a:rPr>
              <a:t>之间，例如：</a:t>
            </a:r>
          </a:p>
          <a:p>
            <a:pPr lvl="2" eaLnBrk="1" hangingPunct="1"/>
            <a:r>
              <a:rPr lang="en-US" altLang="zh-CN" sz="2000">
                <a:latin typeface="微软雅黑" panose="020B0503020204020204" pitchFamily="34" charset="-122"/>
                <a:ea typeface="微软雅黑" panose="020B0503020204020204" pitchFamily="34" charset="-122"/>
              </a:rPr>
              <a:t>4096→0, 4097 →1, ……, 8191 →4095</a:t>
            </a:r>
            <a:endParaRPr lang="zh-CN" altLang="en-US" sz="2000">
              <a:latin typeface="微软雅黑" panose="020B0503020204020204" pitchFamily="34" charset="-122"/>
              <a:ea typeface="微软雅黑" panose="020B0503020204020204" pitchFamily="34" charset="-122"/>
            </a:endParaRPr>
          </a:p>
          <a:p>
            <a:pPr lvl="1" eaLnBrk="1" hangingPunct="1"/>
            <a:r>
              <a:rPr lang="zh-CN" altLang="en-US" sz="2000">
                <a:latin typeface="微软雅黑" panose="020B0503020204020204" pitchFamily="34" charset="-122"/>
                <a:ea typeface="微软雅黑" panose="020B0503020204020204" pitchFamily="34" charset="-122"/>
              </a:rPr>
              <a:t>程序员在</a:t>
            </a:r>
            <a:r>
              <a:rPr lang="en-US" altLang="zh-CN" sz="2000">
                <a:latin typeface="微软雅黑" panose="020B0503020204020204" pitchFamily="34" charset="-122"/>
                <a:ea typeface="微软雅黑" panose="020B0503020204020204" pitchFamily="34" charset="-122"/>
              </a:rPr>
              <a:t>0~65535</a:t>
            </a:r>
            <a:r>
              <a:rPr lang="zh-CN" altLang="en-US" sz="2000">
                <a:latin typeface="微软雅黑" panose="020B0503020204020204" pitchFamily="34" charset="-122"/>
                <a:ea typeface="微软雅黑" panose="020B0503020204020204" pitchFamily="34" charset="-122"/>
              </a:rPr>
              <a:t>范围内写程序，完全不用管在多大的主存空间上执行，所以，这种方式对程序员来说，是透明的！</a:t>
            </a:r>
          </a:p>
          <a:p>
            <a:pPr lvl="1" eaLnBrk="1" hangingPunct="1"/>
            <a:r>
              <a:rPr lang="zh-CN" altLang="en-US" sz="2000">
                <a:latin typeface="微软雅黑" panose="020B0503020204020204" pitchFamily="34" charset="-122"/>
                <a:ea typeface="微软雅黑" panose="020B0503020204020204" pitchFamily="34" charset="-122"/>
              </a:rPr>
              <a:t>可寻址的地址空间是一种虚拟内存！</a:t>
            </a:r>
          </a:p>
        </p:txBody>
      </p:sp>
      <p:sp>
        <p:nvSpPr>
          <p:cNvPr id="204804" name="Rectangle 4">
            <a:extLst>
              <a:ext uri="{FF2B5EF4-FFF2-40B4-BE49-F238E27FC236}">
                <a16:creationId xmlns:a16="http://schemas.microsoft.com/office/drawing/2014/main" id="{6BBCE46C-2389-8045-9E8F-074A6B226B81}"/>
              </a:ext>
            </a:extLst>
          </p:cNvPr>
          <p:cNvSpPr>
            <a:spLocks noChangeArrowheads="1"/>
          </p:cNvSpPr>
          <p:nvPr/>
        </p:nvSpPr>
        <p:spPr bwMode="auto">
          <a:xfrm>
            <a:off x="747713" y="1403350"/>
            <a:ext cx="1620837" cy="2790825"/>
          </a:xfrm>
          <a:prstGeom prst="rect">
            <a:avLst/>
          </a:prstGeom>
          <a:solidFill>
            <a:srgbClr val="FFFFFF"/>
          </a:solidFill>
          <a:ln w="28575">
            <a:solidFill>
              <a:srgbClr val="8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04805" name="Text Box 5">
            <a:extLst>
              <a:ext uri="{FF2B5EF4-FFF2-40B4-BE49-F238E27FC236}">
                <a16:creationId xmlns:a16="http://schemas.microsoft.com/office/drawing/2014/main" id="{19F17439-75F2-F245-8BCF-0950288A6E36}"/>
              </a:ext>
            </a:extLst>
          </p:cNvPr>
          <p:cNvSpPr txBox="1">
            <a:spLocks noChangeArrowheads="1"/>
          </p:cNvSpPr>
          <p:nvPr/>
        </p:nvSpPr>
        <p:spPr bwMode="auto">
          <a:xfrm>
            <a:off x="1019175" y="998538"/>
            <a:ext cx="1889125"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ea typeface="黑体" panose="02010609060101010101" pitchFamily="49" charset="-122"/>
              </a:rPr>
              <a:t>地址空间</a:t>
            </a:r>
          </a:p>
        </p:txBody>
      </p:sp>
      <p:sp>
        <p:nvSpPr>
          <p:cNvPr id="204806" name="Line 6">
            <a:extLst>
              <a:ext uri="{FF2B5EF4-FFF2-40B4-BE49-F238E27FC236}">
                <a16:creationId xmlns:a16="http://schemas.microsoft.com/office/drawing/2014/main" id="{6408B4B0-2B65-E249-99C0-0A99B05AC8DB}"/>
              </a:ext>
            </a:extLst>
          </p:cNvPr>
          <p:cNvSpPr>
            <a:spLocks noChangeShapeType="1"/>
          </p:cNvSpPr>
          <p:nvPr/>
        </p:nvSpPr>
        <p:spPr bwMode="auto">
          <a:xfrm>
            <a:off x="749300" y="3608388"/>
            <a:ext cx="1619250" cy="0"/>
          </a:xfrm>
          <a:prstGeom prst="line">
            <a:avLst/>
          </a:prstGeom>
          <a:noFill/>
          <a:ln w="2857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204807" name="Line 7">
            <a:extLst>
              <a:ext uri="{FF2B5EF4-FFF2-40B4-BE49-F238E27FC236}">
                <a16:creationId xmlns:a16="http://schemas.microsoft.com/office/drawing/2014/main" id="{8D7FB241-4107-9142-AFB8-DB1CC035528A}"/>
              </a:ext>
            </a:extLst>
          </p:cNvPr>
          <p:cNvSpPr>
            <a:spLocks noChangeShapeType="1"/>
          </p:cNvSpPr>
          <p:nvPr/>
        </p:nvSpPr>
        <p:spPr bwMode="auto">
          <a:xfrm>
            <a:off x="749300" y="3024188"/>
            <a:ext cx="1619250" cy="0"/>
          </a:xfrm>
          <a:prstGeom prst="line">
            <a:avLst/>
          </a:prstGeom>
          <a:noFill/>
          <a:ln w="28575">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204808" name="Line 8">
            <a:extLst>
              <a:ext uri="{FF2B5EF4-FFF2-40B4-BE49-F238E27FC236}">
                <a16:creationId xmlns:a16="http://schemas.microsoft.com/office/drawing/2014/main" id="{E8B914BE-817F-B340-8F67-0A96EE949847}"/>
              </a:ext>
            </a:extLst>
          </p:cNvPr>
          <p:cNvSpPr>
            <a:spLocks noChangeShapeType="1"/>
          </p:cNvSpPr>
          <p:nvPr/>
        </p:nvSpPr>
        <p:spPr bwMode="auto">
          <a:xfrm>
            <a:off x="1468438" y="1989138"/>
            <a:ext cx="0" cy="539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204809" name="Rectangle 9">
            <a:extLst>
              <a:ext uri="{FF2B5EF4-FFF2-40B4-BE49-F238E27FC236}">
                <a16:creationId xmlns:a16="http://schemas.microsoft.com/office/drawing/2014/main" id="{D678A7D8-7931-8D4A-8EC2-9083FCE99D6D}"/>
              </a:ext>
            </a:extLst>
          </p:cNvPr>
          <p:cNvSpPr>
            <a:spLocks noChangeArrowheads="1"/>
          </p:cNvSpPr>
          <p:nvPr/>
        </p:nvSpPr>
        <p:spPr bwMode="auto">
          <a:xfrm>
            <a:off x="3359150" y="3519488"/>
            <a:ext cx="1530350" cy="585787"/>
          </a:xfrm>
          <a:prstGeom prst="rect">
            <a:avLst/>
          </a:prstGeom>
          <a:solidFill>
            <a:srgbClr val="FF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04810" name="Line 10">
            <a:extLst>
              <a:ext uri="{FF2B5EF4-FFF2-40B4-BE49-F238E27FC236}">
                <a16:creationId xmlns:a16="http://schemas.microsoft.com/office/drawing/2014/main" id="{94CC4565-57C6-1548-89E4-CA03D1216C1D}"/>
              </a:ext>
            </a:extLst>
          </p:cNvPr>
          <p:cNvSpPr>
            <a:spLocks noChangeShapeType="1"/>
          </p:cNvSpPr>
          <p:nvPr/>
        </p:nvSpPr>
        <p:spPr bwMode="auto">
          <a:xfrm>
            <a:off x="2368550" y="3024188"/>
            <a:ext cx="944563" cy="4953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204811" name="Line 11">
            <a:extLst>
              <a:ext uri="{FF2B5EF4-FFF2-40B4-BE49-F238E27FC236}">
                <a16:creationId xmlns:a16="http://schemas.microsoft.com/office/drawing/2014/main" id="{E84BDD9E-023A-3F41-A2D7-23C3649D0652}"/>
              </a:ext>
            </a:extLst>
          </p:cNvPr>
          <p:cNvSpPr>
            <a:spLocks noChangeShapeType="1"/>
          </p:cNvSpPr>
          <p:nvPr/>
        </p:nvSpPr>
        <p:spPr bwMode="auto">
          <a:xfrm>
            <a:off x="2368550" y="3608388"/>
            <a:ext cx="944563" cy="495300"/>
          </a:xfrm>
          <a:prstGeom prst="line">
            <a:avLst/>
          </a:prstGeom>
          <a:noFill/>
          <a:ln w="28575">
            <a:solidFill>
              <a:srgbClr val="8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204812" name="Text Box 12">
            <a:extLst>
              <a:ext uri="{FF2B5EF4-FFF2-40B4-BE49-F238E27FC236}">
                <a16:creationId xmlns:a16="http://schemas.microsoft.com/office/drawing/2014/main" id="{12795AD7-7464-FD49-BCC9-BB4432786F40}"/>
              </a:ext>
            </a:extLst>
          </p:cNvPr>
          <p:cNvSpPr txBox="1">
            <a:spLocks noChangeArrowheads="1"/>
          </p:cNvSpPr>
          <p:nvPr/>
        </p:nvSpPr>
        <p:spPr bwMode="auto">
          <a:xfrm>
            <a:off x="3719513" y="3159125"/>
            <a:ext cx="10350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ea typeface="黑体" panose="02010609060101010101" pitchFamily="49" charset="-122"/>
              </a:rPr>
              <a:t>4K</a:t>
            </a:r>
            <a:r>
              <a:rPr kumimoji="1" lang="zh-CN" altLang="en-US" sz="1800" b="1">
                <a:ea typeface="黑体" panose="02010609060101010101" pitchFamily="49" charset="-122"/>
              </a:rPr>
              <a:t>主存</a:t>
            </a:r>
          </a:p>
        </p:txBody>
      </p:sp>
      <p:sp>
        <p:nvSpPr>
          <p:cNvPr id="204813" name="Text Box 13">
            <a:extLst>
              <a:ext uri="{FF2B5EF4-FFF2-40B4-BE49-F238E27FC236}">
                <a16:creationId xmlns:a16="http://schemas.microsoft.com/office/drawing/2014/main" id="{216649EA-DC27-3546-BE51-EACB101580CC}"/>
              </a:ext>
            </a:extLst>
          </p:cNvPr>
          <p:cNvSpPr txBox="1">
            <a:spLocks noChangeArrowheads="1"/>
          </p:cNvSpPr>
          <p:nvPr/>
        </p:nvSpPr>
        <p:spPr bwMode="auto">
          <a:xfrm>
            <a:off x="4978400" y="3924300"/>
            <a:ext cx="404813"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ea typeface="黑体" panose="02010609060101010101" pitchFamily="49" charset="-122"/>
              </a:rPr>
              <a:t>0</a:t>
            </a:r>
          </a:p>
        </p:txBody>
      </p:sp>
      <p:sp>
        <p:nvSpPr>
          <p:cNvPr id="204814" name="Text Box 14">
            <a:extLst>
              <a:ext uri="{FF2B5EF4-FFF2-40B4-BE49-F238E27FC236}">
                <a16:creationId xmlns:a16="http://schemas.microsoft.com/office/drawing/2014/main" id="{4A122E31-9DE2-9B4A-BAA7-54FB86C8D3BD}"/>
              </a:ext>
            </a:extLst>
          </p:cNvPr>
          <p:cNvSpPr txBox="1">
            <a:spLocks noChangeArrowheads="1"/>
          </p:cNvSpPr>
          <p:nvPr/>
        </p:nvSpPr>
        <p:spPr bwMode="auto">
          <a:xfrm>
            <a:off x="4979988" y="3468688"/>
            <a:ext cx="674687"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ea typeface="黑体" panose="02010609060101010101" pitchFamily="49" charset="-122"/>
              </a:rPr>
              <a:t>4095</a:t>
            </a:r>
          </a:p>
        </p:txBody>
      </p:sp>
      <p:sp>
        <p:nvSpPr>
          <p:cNvPr id="204815" name="Text Box 15">
            <a:extLst>
              <a:ext uri="{FF2B5EF4-FFF2-40B4-BE49-F238E27FC236}">
                <a16:creationId xmlns:a16="http://schemas.microsoft.com/office/drawing/2014/main" id="{A592C208-8DD8-4642-8638-3FFFD738D28C}"/>
              </a:ext>
            </a:extLst>
          </p:cNvPr>
          <p:cNvSpPr txBox="1">
            <a:spLocks noChangeArrowheads="1"/>
          </p:cNvSpPr>
          <p:nvPr/>
        </p:nvSpPr>
        <p:spPr bwMode="auto">
          <a:xfrm>
            <a:off x="523875" y="3968750"/>
            <a:ext cx="404813"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ea typeface="黑体" panose="02010609060101010101" pitchFamily="49" charset="-122"/>
              </a:rPr>
              <a:t>0</a:t>
            </a:r>
          </a:p>
        </p:txBody>
      </p:sp>
      <p:sp>
        <p:nvSpPr>
          <p:cNvPr id="204816" name="Text Box 16">
            <a:extLst>
              <a:ext uri="{FF2B5EF4-FFF2-40B4-BE49-F238E27FC236}">
                <a16:creationId xmlns:a16="http://schemas.microsoft.com/office/drawing/2014/main" id="{5491A974-FB33-3741-AB05-4001BD2708DC}"/>
              </a:ext>
            </a:extLst>
          </p:cNvPr>
          <p:cNvSpPr txBox="1">
            <a:spLocks noChangeArrowheads="1"/>
          </p:cNvSpPr>
          <p:nvPr/>
        </p:nvSpPr>
        <p:spPr bwMode="auto">
          <a:xfrm>
            <a:off x="161925" y="3389313"/>
            <a:ext cx="541338"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ea typeface="黑体" panose="02010609060101010101" pitchFamily="49" charset="-122"/>
              </a:rPr>
              <a:t>4096</a:t>
            </a:r>
          </a:p>
        </p:txBody>
      </p:sp>
      <p:sp>
        <p:nvSpPr>
          <p:cNvPr id="204817" name="Text Box 17">
            <a:extLst>
              <a:ext uri="{FF2B5EF4-FFF2-40B4-BE49-F238E27FC236}">
                <a16:creationId xmlns:a16="http://schemas.microsoft.com/office/drawing/2014/main" id="{CFADD11A-6FC5-1540-945C-DCBA5DCFCB6F}"/>
              </a:ext>
            </a:extLst>
          </p:cNvPr>
          <p:cNvSpPr txBox="1">
            <a:spLocks noChangeArrowheads="1"/>
          </p:cNvSpPr>
          <p:nvPr/>
        </p:nvSpPr>
        <p:spPr bwMode="auto">
          <a:xfrm>
            <a:off x="163513" y="2754313"/>
            <a:ext cx="674687"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ea typeface="黑体" panose="02010609060101010101" pitchFamily="49" charset="-122"/>
              </a:rPr>
              <a:t>8192</a:t>
            </a:r>
          </a:p>
        </p:txBody>
      </p:sp>
      <p:sp>
        <p:nvSpPr>
          <p:cNvPr id="2" name="Rectangle 4">
            <a:extLst>
              <a:ext uri="{FF2B5EF4-FFF2-40B4-BE49-F238E27FC236}">
                <a16:creationId xmlns:a16="http://schemas.microsoft.com/office/drawing/2014/main" id="{2DF9CC9D-BE52-C340-BAAE-5ED33F60292F}"/>
              </a:ext>
            </a:extLst>
          </p:cNvPr>
          <p:cNvSpPr>
            <a:spLocks noChangeArrowheads="1"/>
          </p:cNvSpPr>
          <p:nvPr/>
        </p:nvSpPr>
        <p:spPr bwMode="auto">
          <a:xfrm>
            <a:off x="2727325" y="855663"/>
            <a:ext cx="6075363"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03200" indent="-203200">
              <a:spcBef>
                <a:spcPct val="35000"/>
              </a:spcBef>
              <a:buSzPct val="100000"/>
              <a:buChar char="°"/>
              <a:defRPr b="1">
                <a:solidFill>
                  <a:schemeClr val="tx1"/>
                </a:solidFill>
                <a:latin typeface="Arial" panose="020B0604020202020204" pitchFamily="34" charset="0"/>
              </a:defRPr>
            </a:lvl1pPr>
            <a:lvl2pPr marL="685800" indent="-190500">
              <a:spcBef>
                <a:spcPct val="35000"/>
              </a:spcBef>
              <a:buSzPct val="100000"/>
              <a:buChar char="•"/>
              <a:defRPr b="1">
                <a:solidFill>
                  <a:schemeClr val="accent2"/>
                </a:solidFill>
                <a:latin typeface="Arial" panose="020B0604020202020204" pitchFamily="34" charset="0"/>
              </a:defRPr>
            </a:lvl2pPr>
            <a:lvl3pPr marL="1257300" indent="-342900">
              <a:spcBef>
                <a:spcPct val="35000"/>
              </a:spcBef>
              <a:buSzPct val="100000"/>
              <a:buChar char="-"/>
              <a:defRPr b="1">
                <a:solidFill>
                  <a:srgbClr val="B7011F"/>
                </a:solidFill>
                <a:latin typeface="Arial" panose="020B0604020202020204" pitchFamily="34" charset="0"/>
              </a:defRPr>
            </a:lvl3pPr>
            <a:lvl4pPr marL="1714500" indent="-342900">
              <a:spcBef>
                <a:spcPct val="20000"/>
              </a:spcBef>
              <a:buChar char="–"/>
              <a:defRPr sz="2000">
                <a:solidFill>
                  <a:schemeClr val="tx1"/>
                </a:solidFill>
                <a:latin typeface="Times New Roman" panose="02020603050405020304" pitchFamily="18" charset="0"/>
              </a:defRPr>
            </a:lvl4pPr>
            <a:lvl5pPr marL="2171700" indent="-342900">
              <a:spcBef>
                <a:spcPct val="20000"/>
              </a:spcBef>
              <a:buChar char="»"/>
              <a:defRPr sz="2000">
                <a:solidFill>
                  <a:schemeClr val="tx1"/>
                </a:solidFill>
                <a:latin typeface="Times New Roman" panose="02020603050405020304" pitchFamily="18" charset="0"/>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30000"/>
              </a:lnSpc>
              <a:spcBef>
                <a:spcPct val="0"/>
              </a:spcBef>
              <a:buFontTx/>
              <a:buNone/>
            </a:pPr>
            <a:r>
              <a:rPr lang="zh-CN" altLang="en-US" sz="2000">
                <a:latin typeface="微软雅黑" panose="020B0503020204020204" pitchFamily="34" charset="-122"/>
                <a:ea typeface="微软雅黑" panose="020B0503020204020204" pitchFamily="34" charset="-122"/>
              </a:rPr>
              <a:t>执行到</a:t>
            </a:r>
            <a:r>
              <a:rPr lang="en-US" altLang="zh-CN" sz="2000">
                <a:latin typeface="微软雅黑" panose="020B0503020204020204" pitchFamily="34" charset="-122"/>
                <a:ea typeface="微软雅黑" panose="020B0503020204020204" pitchFamily="34" charset="-122"/>
              </a:rPr>
              <a:t>4096</a:t>
            </a:r>
            <a:r>
              <a:rPr lang="en-US" altLang="zh-CN" sz="2000">
                <a:latin typeface="微软雅黑" panose="020B0503020204020204" pitchFamily="34" charset="-122"/>
                <a:ea typeface="微软雅黑" panose="020B0503020204020204" pitchFamily="34" charset="-122"/>
                <a:cs typeface="Arial" panose="020B0604020202020204" pitchFamily="34" charset="0"/>
              </a:rPr>
              <a:t>~</a:t>
            </a:r>
            <a:r>
              <a:rPr lang="en-US" altLang="zh-CN" sz="2000">
                <a:latin typeface="微软雅黑" panose="020B0503020204020204" pitchFamily="34" charset="-122"/>
                <a:ea typeface="微软雅黑" panose="020B0503020204020204" pitchFamily="34" charset="-122"/>
              </a:rPr>
              <a:t>8191</a:t>
            </a:r>
            <a:r>
              <a:rPr lang="zh-CN" altLang="en-US" sz="2000">
                <a:latin typeface="微软雅黑" panose="020B0503020204020204" pitchFamily="34" charset="-122"/>
                <a:ea typeface="微软雅黑" panose="020B0503020204020204" pitchFamily="34" charset="-122"/>
              </a:rPr>
              <a:t>之间的程序段时，自动做：</a:t>
            </a:r>
          </a:p>
          <a:p>
            <a:pPr eaLnBrk="1" hangingPunct="1">
              <a:lnSpc>
                <a:spcPct val="130000"/>
              </a:lnSpc>
              <a:spcBef>
                <a:spcPct val="0"/>
              </a:spcBef>
            </a:pPr>
            <a:r>
              <a:rPr lang="zh-CN" altLang="en-US" sz="2000">
                <a:solidFill>
                  <a:srgbClr val="A50021"/>
                </a:solidFill>
                <a:latin typeface="微软雅黑" panose="020B0503020204020204" pitchFamily="34" charset="-122"/>
                <a:ea typeface="微软雅黑" panose="020B0503020204020204" pitchFamily="34" charset="-122"/>
              </a:rPr>
              <a:t>把当前主存内容保存到磁盘上；</a:t>
            </a:r>
          </a:p>
          <a:p>
            <a:pPr eaLnBrk="1" hangingPunct="1">
              <a:lnSpc>
                <a:spcPct val="130000"/>
              </a:lnSpc>
              <a:spcBef>
                <a:spcPct val="0"/>
              </a:spcBef>
            </a:pPr>
            <a:r>
              <a:rPr lang="zh-CN" altLang="en-US" sz="2000">
                <a:solidFill>
                  <a:srgbClr val="A50021"/>
                </a:solidFill>
                <a:latin typeface="微软雅黑" panose="020B0503020204020204" pitchFamily="34" charset="-122"/>
                <a:ea typeface="微软雅黑" panose="020B0503020204020204" pitchFamily="34" charset="-122"/>
              </a:rPr>
              <a:t>在盘上找到</a:t>
            </a:r>
            <a:r>
              <a:rPr lang="en-US" altLang="zh-CN" sz="2000">
                <a:solidFill>
                  <a:srgbClr val="A50021"/>
                </a:solidFill>
                <a:latin typeface="微软雅黑" panose="020B0503020204020204" pitchFamily="34" charset="-122"/>
                <a:ea typeface="微软雅黑" panose="020B0503020204020204" pitchFamily="34" charset="-122"/>
              </a:rPr>
              <a:t>4096~8191</a:t>
            </a:r>
            <a:r>
              <a:rPr lang="zh-CN" altLang="en-US" sz="2000">
                <a:solidFill>
                  <a:srgbClr val="A50021"/>
                </a:solidFill>
                <a:latin typeface="微软雅黑" panose="020B0503020204020204" pitchFamily="34" charset="-122"/>
                <a:ea typeface="微软雅黑" panose="020B0503020204020204" pitchFamily="34" charset="-122"/>
              </a:rPr>
              <a:t>之间的程序段并读入主存</a:t>
            </a:r>
          </a:p>
          <a:p>
            <a:pPr eaLnBrk="1" hangingPunct="1">
              <a:lnSpc>
                <a:spcPct val="130000"/>
              </a:lnSpc>
              <a:spcBef>
                <a:spcPct val="0"/>
              </a:spcBef>
            </a:pPr>
            <a:r>
              <a:rPr lang="zh-CN" altLang="en-US" sz="2000">
                <a:solidFill>
                  <a:srgbClr val="A50021"/>
                </a:solidFill>
                <a:latin typeface="微软雅黑" panose="020B0503020204020204" pitchFamily="34" charset="-122"/>
                <a:ea typeface="微软雅黑" panose="020B0503020204020204" pitchFamily="34" charset="-122"/>
              </a:rPr>
              <a:t>改变地址映射（仅改映射区间号（页号））</a:t>
            </a:r>
          </a:p>
          <a:p>
            <a:pPr eaLnBrk="1" hangingPunct="1">
              <a:lnSpc>
                <a:spcPct val="130000"/>
              </a:lnSpc>
              <a:spcBef>
                <a:spcPct val="0"/>
              </a:spcBef>
            </a:pPr>
            <a:r>
              <a:rPr lang="zh-CN" altLang="en-US" sz="2000">
                <a:solidFill>
                  <a:srgbClr val="A50021"/>
                </a:solidFill>
                <a:latin typeface="微软雅黑" panose="020B0503020204020204" pitchFamily="34" charset="-122"/>
                <a:ea typeface="微软雅黑" panose="020B0503020204020204" pitchFamily="34" charset="-122"/>
              </a:rPr>
              <a:t>程序继续运行</a:t>
            </a:r>
          </a:p>
        </p:txBody>
      </p:sp>
      <p:sp>
        <p:nvSpPr>
          <p:cNvPr id="828436" name="Text Box 20">
            <a:extLst>
              <a:ext uri="{FF2B5EF4-FFF2-40B4-BE49-F238E27FC236}">
                <a16:creationId xmlns:a16="http://schemas.microsoft.com/office/drawing/2014/main" id="{31A2D996-A2D1-B04A-AAC4-9CBDCCB12726}"/>
              </a:ext>
            </a:extLst>
          </p:cNvPr>
          <p:cNvSpPr txBox="1">
            <a:spLocks noChangeArrowheads="1"/>
          </p:cNvSpPr>
          <p:nvPr/>
        </p:nvSpPr>
        <p:spPr bwMode="auto">
          <a:xfrm>
            <a:off x="5715000" y="2741613"/>
            <a:ext cx="3240088" cy="1265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15000"/>
              </a:spcBef>
            </a:pPr>
            <a:r>
              <a:rPr kumimoji="1" lang="zh-CN" altLang="en-US" sz="2000" b="1">
                <a:solidFill>
                  <a:srgbClr val="006600"/>
                </a:solidFill>
                <a:latin typeface="微软雅黑" panose="020B0503020204020204" pitchFamily="34" charset="-122"/>
                <a:ea typeface="微软雅黑" panose="020B0503020204020204" pitchFamily="34" charset="-122"/>
              </a:rPr>
              <a:t>后来把区间称为</a:t>
            </a:r>
            <a:r>
              <a:rPr kumimoji="1" lang="zh-CN" altLang="en-US" sz="2000" b="1">
                <a:solidFill>
                  <a:srgbClr val="FF0000"/>
                </a:solidFill>
                <a:latin typeface="微软雅黑" panose="020B0503020204020204" pitchFamily="34" charset="-122"/>
                <a:ea typeface="微软雅黑" panose="020B0503020204020204" pitchFamily="34" charset="-122"/>
              </a:rPr>
              <a:t>页</a:t>
            </a:r>
            <a:r>
              <a:rPr kumimoji="1" lang="en-US" altLang="zh-CN" sz="2000" b="1">
                <a:solidFill>
                  <a:srgbClr val="FF0000"/>
                </a:solidFill>
                <a:latin typeface="微软雅黑" panose="020B0503020204020204" pitchFamily="34" charset="-122"/>
                <a:ea typeface="微软雅黑" panose="020B0503020204020204" pitchFamily="34" charset="-122"/>
              </a:rPr>
              <a:t>(page)</a:t>
            </a:r>
            <a:r>
              <a:rPr kumimoji="1" lang="zh-CN" altLang="en-US" sz="2000" b="1">
                <a:solidFill>
                  <a:srgbClr val="006600"/>
                </a:solidFill>
                <a:latin typeface="微软雅黑" panose="020B0503020204020204" pitchFamily="34" charset="-122"/>
                <a:ea typeface="微软雅黑" panose="020B0503020204020204" pitchFamily="34" charset="-122"/>
              </a:rPr>
              <a:t>，主存中存放页的区域称为</a:t>
            </a:r>
            <a:r>
              <a:rPr kumimoji="1" lang="zh-CN" altLang="en-US" sz="2000" b="1">
                <a:solidFill>
                  <a:srgbClr val="FF0000"/>
                </a:solidFill>
                <a:latin typeface="微软雅黑" panose="020B0503020204020204" pitchFamily="34" charset="-122"/>
                <a:ea typeface="微软雅黑" panose="020B0503020204020204" pitchFamily="34" charset="-122"/>
              </a:rPr>
              <a:t>页框</a:t>
            </a:r>
            <a:r>
              <a:rPr kumimoji="1" lang="en-US" altLang="zh-CN" sz="2000" b="1">
                <a:solidFill>
                  <a:srgbClr val="FF0000"/>
                </a:solidFill>
                <a:latin typeface="微软雅黑" panose="020B0503020204020204" pitchFamily="34" charset="-122"/>
                <a:ea typeface="微软雅黑" panose="020B0503020204020204" pitchFamily="34" charset="-122"/>
              </a:rPr>
              <a:t>(page frame)</a:t>
            </a:r>
            <a:r>
              <a:rPr kumimoji="1" lang="zh-CN" altLang="en-US" sz="2000" b="1">
                <a:solidFill>
                  <a:srgbClr val="006600"/>
                </a:solidFill>
                <a:latin typeface="微软雅黑" panose="020B0503020204020204" pitchFamily="34" charset="-122"/>
                <a:ea typeface="微软雅黑" panose="020B0503020204020204" pitchFamily="34" charset="-122"/>
              </a:rPr>
              <a:t>。</a:t>
            </a:r>
          </a:p>
          <a:p>
            <a:pPr eaLnBrk="1" hangingPunct="1">
              <a:spcBef>
                <a:spcPct val="15000"/>
              </a:spcBef>
            </a:pPr>
            <a:r>
              <a:rPr kumimoji="1" lang="zh-CN" altLang="en-US" sz="2000" b="1">
                <a:solidFill>
                  <a:srgbClr val="006600"/>
                </a:solidFill>
                <a:latin typeface="微软雅黑" panose="020B0503020204020204" pitchFamily="34" charset="-122"/>
                <a:ea typeface="微软雅黑" panose="020B0503020204020204" pitchFamily="34" charset="-122"/>
              </a:rPr>
              <a:t>早期主存只有一个页框！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0500">
                                            <p:txEl>
                                              <p:pRg st="1" end="1"/>
                                            </p:txEl>
                                          </p:spTgt>
                                        </p:tgtEl>
                                        <p:attrNameLst>
                                          <p:attrName>style.visibility</p:attrName>
                                        </p:attrNameLst>
                                      </p:cBhvr>
                                      <p:to>
                                        <p:strVal val="visible"/>
                                      </p:to>
                                    </p:set>
                                    <p:animEffect transition="in" filter="blinds(horizontal)">
                                      <p:cBhvr>
                                        <p:cTn id="7" dur="500"/>
                                        <p:tgtEl>
                                          <p:spTgt spid="49050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90500">
                                            <p:txEl>
                                              <p:pRg st="2" end="2"/>
                                            </p:txEl>
                                          </p:spTgt>
                                        </p:tgtEl>
                                        <p:attrNameLst>
                                          <p:attrName>style.visibility</p:attrName>
                                        </p:attrNameLst>
                                      </p:cBhvr>
                                      <p:to>
                                        <p:strVal val="visible"/>
                                      </p:to>
                                    </p:set>
                                    <p:animEffect transition="in" filter="blinds(horizontal)">
                                      <p:cBhvr>
                                        <p:cTn id="12" dur="500"/>
                                        <p:tgtEl>
                                          <p:spTgt spid="49050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90500">
                                            <p:txEl>
                                              <p:pRg st="3" end="3"/>
                                            </p:txEl>
                                          </p:spTgt>
                                        </p:tgtEl>
                                        <p:attrNameLst>
                                          <p:attrName>style.visibility</p:attrName>
                                        </p:attrNameLst>
                                      </p:cBhvr>
                                      <p:to>
                                        <p:strVal val="visible"/>
                                      </p:to>
                                    </p:set>
                                    <p:animEffect transition="in" filter="blinds(horizontal)">
                                      <p:cBhvr>
                                        <p:cTn id="17" dur="500"/>
                                        <p:tgtEl>
                                          <p:spTgt spid="49050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90500">
                                            <p:txEl>
                                              <p:pRg st="4" end="4"/>
                                            </p:txEl>
                                          </p:spTgt>
                                        </p:tgtEl>
                                        <p:attrNameLst>
                                          <p:attrName>style.visibility</p:attrName>
                                        </p:attrNameLst>
                                      </p:cBhvr>
                                      <p:to>
                                        <p:strVal val="visible"/>
                                      </p:to>
                                    </p:set>
                                    <p:animEffect transition="in" filter="blinds(horizontal)">
                                      <p:cBhvr>
                                        <p:cTn id="22" dur="500"/>
                                        <p:tgtEl>
                                          <p:spTgt spid="490500">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90500">
                                            <p:txEl>
                                              <p:pRg st="5" end="5"/>
                                            </p:txEl>
                                          </p:spTgt>
                                        </p:tgtEl>
                                        <p:attrNameLst>
                                          <p:attrName>style.visibility</p:attrName>
                                        </p:attrNameLst>
                                      </p:cBhvr>
                                      <p:to>
                                        <p:strVal val="visible"/>
                                      </p:to>
                                    </p:set>
                                    <p:animEffect transition="in" filter="blinds(horizontal)">
                                      <p:cBhvr>
                                        <p:cTn id="27" dur="500"/>
                                        <p:tgtEl>
                                          <p:spTgt spid="490500">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blinds(horizontal)">
                                      <p:cBhvr>
                                        <p:cTn id="32" dur="500"/>
                                        <p:tgtEl>
                                          <p:spTgt spid="2">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blinds(horizontal)">
                                      <p:cBhvr>
                                        <p:cTn id="37" dur="500"/>
                                        <p:tgtEl>
                                          <p:spTgt spid="2">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blinds(horizontal)">
                                      <p:cBhvr>
                                        <p:cTn id="42" dur="500"/>
                                        <p:tgtEl>
                                          <p:spTgt spid="2">
                                            <p:txEl>
                                              <p:pRg st="2" end="2"/>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blinds(horizontal)">
                                      <p:cBhvr>
                                        <p:cTn id="47" dur="500"/>
                                        <p:tgtEl>
                                          <p:spTgt spid="2">
                                            <p:txEl>
                                              <p:pRg st="3" end="3"/>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2">
                                            <p:txEl>
                                              <p:pRg st="4" end="4"/>
                                            </p:txEl>
                                          </p:spTgt>
                                        </p:tgtEl>
                                        <p:attrNameLst>
                                          <p:attrName>style.visibility</p:attrName>
                                        </p:attrNameLst>
                                      </p:cBhvr>
                                      <p:to>
                                        <p:strVal val="visible"/>
                                      </p:to>
                                    </p:set>
                                    <p:animEffect transition="in" filter="blinds(horizontal)">
                                      <p:cBhvr>
                                        <p:cTn id="52" dur="500"/>
                                        <p:tgtEl>
                                          <p:spTgt spid="2">
                                            <p:txEl>
                                              <p:pRg st="4" end="4"/>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828436"/>
                                        </p:tgtEl>
                                        <p:attrNameLst>
                                          <p:attrName>style.visibility</p:attrName>
                                        </p:attrNameLst>
                                      </p:cBhvr>
                                      <p:to>
                                        <p:strVal val="visible"/>
                                      </p:to>
                                    </p:set>
                                    <p:animEffect transition="in" filter="blinds(horizontal)">
                                      <p:cBhvr>
                                        <p:cTn id="57" dur="500"/>
                                        <p:tgtEl>
                                          <p:spTgt spid="82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4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8C84AE8A-B0A1-214B-A293-4D0D3026F1BE}"/>
              </a:ext>
            </a:extLst>
          </p:cNvPr>
          <p:cNvSpPr>
            <a:spLocks noGrp="1" noChangeArrowheads="1"/>
          </p:cNvSpPr>
          <p:nvPr>
            <p:ph type="title" idx="4294967295"/>
          </p:nvPr>
        </p:nvSpPr>
        <p:spPr/>
        <p:txBody>
          <a:bodyPr lIns="91440" tIns="45720" rIns="91440" bIns="45720" anchor="ctr"/>
          <a:lstStyle/>
          <a:p>
            <a:pPr eaLnBrk="1" hangingPunct="1"/>
            <a:r>
              <a:rPr lang="zh-CN" altLang="en-US" sz="4000"/>
              <a:t>分页（</a:t>
            </a:r>
            <a:r>
              <a:rPr lang="en-US" altLang="zh-CN" sz="4000"/>
              <a:t>Paging</a:t>
            </a:r>
            <a:r>
              <a:rPr lang="zh-CN" altLang="en-US" sz="4000"/>
              <a:t>）</a:t>
            </a:r>
          </a:p>
        </p:txBody>
      </p:sp>
      <p:sp>
        <p:nvSpPr>
          <p:cNvPr id="492547" name="Rectangle 3">
            <a:extLst>
              <a:ext uri="{FF2B5EF4-FFF2-40B4-BE49-F238E27FC236}">
                <a16:creationId xmlns:a16="http://schemas.microsoft.com/office/drawing/2014/main" id="{420E8B34-7F6D-AB4C-BBB9-ACCD4BB7AF5B}"/>
              </a:ext>
            </a:extLst>
          </p:cNvPr>
          <p:cNvSpPr>
            <a:spLocks noGrp="1" noChangeArrowheads="1"/>
          </p:cNvSpPr>
          <p:nvPr>
            <p:ph type="body" sz="half" idx="4294967295"/>
          </p:nvPr>
        </p:nvSpPr>
        <p:spPr>
          <a:xfrm>
            <a:off x="252413" y="863600"/>
            <a:ext cx="8640762" cy="5510213"/>
          </a:xfrm>
        </p:spPr>
        <p:txBody>
          <a:bodyPr lIns="91440" tIns="45720" rIns="91440" bIns="45720"/>
          <a:lstStyle/>
          <a:p>
            <a:pPr eaLnBrk="1" hangingPunct="1">
              <a:lnSpc>
                <a:spcPct val="110000"/>
              </a:lnSpc>
            </a:pPr>
            <a:r>
              <a:rPr lang="zh-CN" altLang="en-US" sz="2000">
                <a:latin typeface="微软雅黑" panose="020B0503020204020204" pitchFamily="34" charset="-122"/>
                <a:ea typeface="微软雅黑" panose="020B0503020204020204" pitchFamily="34" charset="-122"/>
              </a:rPr>
              <a:t>基本思想：</a:t>
            </a:r>
          </a:p>
          <a:p>
            <a:pPr lvl="1" eaLnBrk="1" hangingPunct="1">
              <a:lnSpc>
                <a:spcPct val="110000"/>
              </a:lnSpc>
            </a:pPr>
            <a:r>
              <a:rPr lang="zh-CN" altLang="en-US" sz="2000">
                <a:latin typeface="微软雅黑" panose="020B0503020204020204" pitchFamily="34" charset="-122"/>
                <a:ea typeface="微软雅黑" panose="020B0503020204020204" pitchFamily="34" charset="-122"/>
              </a:rPr>
              <a:t>内存被分成固定长且比较小的存储块</a:t>
            </a:r>
            <a:r>
              <a:rPr lang="zh-CN" altLang="en-US" sz="2000">
                <a:solidFill>
                  <a:srgbClr val="FF0000"/>
                </a:solidFill>
                <a:latin typeface="微软雅黑" panose="020B0503020204020204" pitchFamily="34" charset="-122"/>
                <a:ea typeface="微软雅黑" panose="020B0503020204020204" pitchFamily="34" charset="-122"/>
              </a:rPr>
              <a:t>（页框、实页、物理页）</a:t>
            </a:r>
          </a:p>
          <a:p>
            <a:pPr lvl="1" eaLnBrk="1" hangingPunct="1">
              <a:lnSpc>
                <a:spcPct val="110000"/>
              </a:lnSpc>
            </a:pPr>
            <a:r>
              <a:rPr lang="zh-CN" altLang="en-US" sz="2000">
                <a:latin typeface="微软雅黑" panose="020B0503020204020204" pitchFamily="34" charset="-122"/>
                <a:ea typeface="微软雅黑" panose="020B0503020204020204" pitchFamily="34" charset="-122"/>
              </a:rPr>
              <a:t>每个进程也被划分成固定长的程序块</a:t>
            </a:r>
            <a:r>
              <a:rPr lang="zh-CN" altLang="en-US" sz="2000">
                <a:solidFill>
                  <a:srgbClr val="FF0000"/>
                </a:solidFill>
                <a:latin typeface="微软雅黑" panose="020B0503020204020204" pitchFamily="34" charset="-122"/>
                <a:ea typeface="微软雅黑" panose="020B0503020204020204" pitchFamily="34" charset="-122"/>
              </a:rPr>
              <a:t>（页、虚页、逻辑页）</a:t>
            </a:r>
            <a:endParaRPr lang="en-US" altLang="zh-CN" sz="2000">
              <a:solidFill>
                <a:srgbClr val="FF0000"/>
              </a:solidFill>
              <a:latin typeface="微软雅黑" panose="020B0503020204020204" pitchFamily="34" charset="-122"/>
              <a:ea typeface="微软雅黑" panose="020B0503020204020204" pitchFamily="34" charset="-122"/>
            </a:endParaRPr>
          </a:p>
          <a:p>
            <a:pPr lvl="1" eaLnBrk="1" hangingPunct="1">
              <a:lnSpc>
                <a:spcPct val="110000"/>
              </a:lnSpc>
            </a:pPr>
            <a:r>
              <a:rPr lang="zh-CN" altLang="en-US" sz="2000">
                <a:solidFill>
                  <a:srgbClr val="A50021"/>
                </a:solidFill>
                <a:latin typeface="微软雅黑" panose="020B0503020204020204" pitchFamily="34" charset="-122"/>
                <a:ea typeface="微软雅黑" panose="020B0503020204020204" pitchFamily="34" charset="-122"/>
              </a:rPr>
              <a:t>程序块</a:t>
            </a:r>
            <a:r>
              <a:rPr lang="zh-CN" altLang="en-US" sz="2000">
                <a:latin typeface="微软雅黑" panose="020B0503020204020204" pitchFamily="34" charset="-122"/>
                <a:ea typeface="微软雅黑" panose="020B0503020204020204" pitchFamily="34" charset="-122"/>
              </a:rPr>
              <a:t>可装到存储器中可用的</a:t>
            </a:r>
            <a:r>
              <a:rPr lang="zh-CN" altLang="en-US" sz="2000">
                <a:solidFill>
                  <a:srgbClr val="A50021"/>
                </a:solidFill>
                <a:latin typeface="微软雅黑" panose="020B0503020204020204" pitchFamily="34" charset="-122"/>
                <a:ea typeface="微软雅黑" panose="020B0503020204020204" pitchFamily="34" charset="-122"/>
              </a:rPr>
              <a:t>存储块</a:t>
            </a:r>
            <a:r>
              <a:rPr lang="zh-CN" altLang="en-US" sz="2000">
                <a:latin typeface="微软雅黑" panose="020B0503020204020204" pitchFamily="34" charset="-122"/>
                <a:ea typeface="微软雅黑" panose="020B0503020204020204" pitchFamily="34" charset="-122"/>
              </a:rPr>
              <a:t>中</a:t>
            </a:r>
          </a:p>
          <a:p>
            <a:pPr lvl="1" eaLnBrk="1" hangingPunct="1">
              <a:lnSpc>
                <a:spcPct val="110000"/>
              </a:lnSpc>
            </a:pPr>
            <a:r>
              <a:rPr lang="zh-CN" altLang="en-US" sz="2000">
                <a:latin typeface="微软雅黑" panose="020B0503020204020204" pitchFamily="34" charset="-122"/>
                <a:ea typeface="微软雅黑" panose="020B0503020204020204" pitchFamily="34" charset="-122"/>
              </a:rPr>
              <a:t>无需用连续页框来存放一个进程</a:t>
            </a:r>
          </a:p>
          <a:p>
            <a:pPr lvl="1" eaLnBrk="1" hangingPunct="1">
              <a:lnSpc>
                <a:spcPct val="110000"/>
              </a:lnSpc>
            </a:pPr>
            <a:r>
              <a:rPr lang="zh-CN" altLang="en-US" sz="2000">
                <a:latin typeface="微软雅黑" panose="020B0503020204020204" pitchFamily="34" charset="-122"/>
                <a:ea typeface="微软雅黑" panose="020B0503020204020204" pitchFamily="34" charset="-122"/>
              </a:rPr>
              <a:t>操作系统为每个进程生成一个页表</a:t>
            </a:r>
          </a:p>
          <a:p>
            <a:pPr lvl="1" eaLnBrk="1" hangingPunct="1">
              <a:lnSpc>
                <a:spcPct val="110000"/>
              </a:lnSpc>
            </a:pPr>
            <a:r>
              <a:rPr lang="zh-CN" altLang="en-US" sz="2000">
                <a:latin typeface="微软雅黑" panose="020B0503020204020204" pitchFamily="34" charset="-122"/>
                <a:ea typeface="微软雅黑" panose="020B0503020204020204" pitchFamily="34" charset="-122"/>
              </a:rPr>
              <a:t>通过</a:t>
            </a:r>
            <a:r>
              <a:rPr lang="zh-CN" altLang="en-US" sz="2000">
                <a:solidFill>
                  <a:srgbClr val="A50021"/>
                </a:solidFill>
                <a:latin typeface="微软雅黑" panose="020B0503020204020204" pitchFamily="34" charset="-122"/>
                <a:ea typeface="微软雅黑" panose="020B0503020204020204" pitchFamily="34" charset="-122"/>
              </a:rPr>
              <a:t>页表</a:t>
            </a:r>
            <a:r>
              <a:rPr lang="en-US" altLang="zh-CN" sz="2000">
                <a:solidFill>
                  <a:srgbClr val="A50021"/>
                </a:solidFill>
                <a:latin typeface="微软雅黑" panose="020B0503020204020204" pitchFamily="34" charset="-122"/>
                <a:ea typeface="微软雅黑" panose="020B0503020204020204" pitchFamily="34" charset="-122"/>
              </a:rPr>
              <a:t>(page table)</a:t>
            </a:r>
            <a:r>
              <a:rPr lang="zh-CN" altLang="en-US" sz="2000">
                <a:latin typeface="微软雅黑" panose="020B0503020204020204" pitchFamily="34" charset="-122"/>
                <a:ea typeface="微软雅黑" panose="020B0503020204020204" pitchFamily="34" charset="-122"/>
              </a:rPr>
              <a:t>实现</a:t>
            </a:r>
            <a:r>
              <a:rPr lang="zh-CN" altLang="en-US" sz="2000">
                <a:solidFill>
                  <a:srgbClr val="FF0000"/>
                </a:solidFill>
                <a:latin typeface="微软雅黑" panose="020B0503020204020204" pitchFamily="34" charset="-122"/>
                <a:ea typeface="微软雅黑" panose="020B0503020204020204" pitchFamily="34" charset="-122"/>
                <a:hlinkClick r:id="" action="ppaction://hlinkshowjump?jump=nextslide"/>
              </a:rPr>
              <a:t>逻辑地址</a:t>
            </a:r>
            <a:r>
              <a:rPr lang="zh-CN" altLang="en-US" sz="2000">
                <a:latin typeface="微软雅黑" panose="020B0503020204020204" pitchFamily="34" charset="-122"/>
                <a:ea typeface="微软雅黑" panose="020B0503020204020204" pitchFamily="34" charset="-122"/>
                <a:hlinkClick r:id="" action="ppaction://hlinkshowjump?jump=nextslide"/>
              </a:rPr>
              <a:t>向</a:t>
            </a:r>
            <a:r>
              <a:rPr lang="zh-CN" altLang="en-US" sz="2000">
                <a:solidFill>
                  <a:srgbClr val="FF0000"/>
                </a:solidFill>
                <a:latin typeface="微软雅黑" panose="020B0503020204020204" pitchFamily="34" charset="-122"/>
                <a:ea typeface="微软雅黑" panose="020B0503020204020204" pitchFamily="34" charset="-122"/>
                <a:hlinkClick r:id="" action="ppaction://hlinkshowjump?jump=nextslide"/>
              </a:rPr>
              <a:t>物理地址</a:t>
            </a:r>
            <a:r>
              <a:rPr lang="zh-CN" altLang="en-US" sz="2000">
                <a:latin typeface="微软雅黑" panose="020B0503020204020204" pitchFamily="34" charset="-122"/>
                <a:ea typeface="微软雅黑" panose="020B0503020204020204" pitchFamily="34" charset="-122"/>
                <a:hlinkClick r:id="" action="ppaction://hlinkshowjump?jump=nextslide"/>
              </a:rPr>
              <a:t>转换</a:t>
            </a:r>
            <a:r>
              <a:rPr lang="zh-CN" altLang="en-US" sz="2000">
                <a:latin typeface="微软雅黑" panose="020B0503020204020204" pitchFamily="34" charset="-122"/>
                <a:ea typeface="微软雅黑" panose="020B0503020204020204" pitchFamily="34" charset="-122"/>
              </a:rPr>
              <a:t>（</a:t>
            </a:r>
            <a:r>
              <a:rPr lang="en-US" altLang="zh-CN" sz="2000">
                <a:solidFill>
                  <a:schemeClr val="accent1"/>
                </a:solidFill>
                <a:latin typeface="微软雅黑" panose="020B0503020204020204" pitchFamily="34" charset="-122"/>
                <a:ea typeface="微软雅黑" panose="020B0503020204020204" pitchFamily="34" charset="-122"/>
              </a:rPr>
              <a:t>Address Mapping</a:t>
            </a:r>
            <a:r>
              <a:rPr lang="zh-CN" altLang="en-US" sz="2000">
                <a:latin typeface="微软雅黑" panose="020B0503020204020204" pitchFamily="34" charset="-122"/>
                <a:ea typeface="微软雅黑" panose="020B0503020204020204" pitchFamily="34" charset="-122"/>
              </a:rPr>
              <a:t> ）</a:t>
            </a:r>
          </a:p>
          <a:p>
            <a:pPr eaLnBrk="1" hangingPunct="1">
              <a:lnSpc>
                <a:spcPct val="110000"/>
              </a:lnSpc>
            </a:pPr>
            <a:r>
              <a:rPr lang="zh-CN" altLang="en-US" sz="2000">
                <a:latin typeface="微软雅黑" panose="020B0503020204020204" pitchFamily="34" charset="-122"/>
                <a:ea typeface="微软雅黑" panose="020B0503020204020204" pitchFamily="34" charset="-122"/>
              </a:rPr>
              <a:t>逻辑地址（</a:t>
            </a:r>
            <a:r>
              <a:rPr lang="en-US" altLang="zh-CN" sz="2000">
                <a:latin typeface="微软雅黑" panose="020B0503020204020204" pitchFamily="34" charset="-122"/>
                <a:ea typeface="微软雅黑" panose="020B0503020204020204" pitchFamily="34" charset="-122"/>
              </a:rPr>
              <a:t>Logical Address</a:t>
            </a:r>
            <a:r>
              <a:rPr lang="zh-CN" altLang="en-US" sz="2000">
                <a:latin typeface="微软雅黑" panose="020B0503020204020204" pitchFamily="34" charset="-122"/>
                <a:ea typeface="微软雅黑" panose="020B0503020204020204" pitchFamily="34" charset="-122"/>
              </a:rPr>
              <a:t>）：</a:t>
            </a:r>
          </a:p>
          <a:p>
            <a:pPr lvl="1" eaLnBrk="1" hangingPunct="1">
              <a:lnSpc>
                <a:spcPct val="110000"/>
              </a:lnSpc>
            </a:pPr>
            <a:r>
              <a:rPr lang="zh-CN" altLang="en-US" sz="2000">
                <a:latin typeface="微软雅黑" panose="020B0503020204020204" pitchFamily="34" charset="-122"/>
                <a:ea typeface="微软雅黑" panose="020B0503020204020204" pitchFamily="34" charset="-122"/>
              </a:rPr>
              <a:t>程序中指令所用地址</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进程所在地址空间</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，也称为</a:t>
            </a:r>
            <a:r>
              <a:rPr lang="zh-CN" altLang="en-US" sz="2000">
                <a:solidFill>
                  <a:srgbClr val="FF0000"/>
                </a:solidFill>
                <a:latin typeface="微软雅黑" panose="020B0503020204020204" pitchFamily="34" charset="-122"/>
                <a:ea typeface="微软雅黑" panose="020B0503020204020204" pitchFamily="34" charset="-122"/>
              </a:rPr>
              <a:t>虚拟地址（</a:t>
            </a:r>
            <a:r>
              <a:rPr lang="en-US" altLang="zh-CN" sz="2000">
                <a:solidFill>
                  <a:srgbClr val="FF0000"/>
                </a:solidFill>
                <a:latin typeface="微软雅黑" panose="020B0503020204020204" pitchFamily="34" charset="-122"/>
                <a:ea typeface="微软雅黑" panose="020B0503020204020204" pitchFamily="34" charset="-122"/>
              </a:rPr>
              <a:t>Virtual Address</a:t>
            </a:r>
            <a:r>
              <a:rPr lang="zh-CN" altLang="en-US" sz="2000">
                <a:solidFill>
                  <a:srgbClr val="FF0000"/>
                </a:solidFill>
                <a:latin typeface="微软雅黑" panose="020B0503020204020204" pitchFamily="34" charset="-122"/>
                <a:ea typeface="微软雅黑" panose="020B0503020204020204" pitchFamily="34" charset="-122"/>
              </a:rPr>
              <a:t>，简称</a:t>
            </a:r>
            <a:r>
              <a:rPr lang="en-US" altLang="zh-CN" sz="2000">
                <a:solidFill>
                  <a:srgbClr val="FF0000"/>
                </a:solidFill>
                <a:latin typeface="微软雅黑" panose="020B0503020204020204" pitchFamily="34" charset="-122"/>
                <a:ea typeface="微软雅黑" panose="020B0503020204020204" pitchFamily="34" charset="-122"/>
              </a:rPr>
              <a:t>VA</a:t>
            </a:r>
            <a:r>
              <a:rPr lang="zh-CN" altLang="en-US" sz="2000">
                <a:solidFill>
                  <a:srgbClr val="FF0000"/>
                </a:solidFill>
                <a:latin typeface="微软雅黑" panose="020B0503020204020204" pitchFamily="34" charset="-122"/>
                <a:ea typeface="微软雅黑" panose="020B0503020204020204" pitchFamily="34" charset="-122"/>
              </a:rPr>
              <a:t>）</a:t>
            </a:r>
          </a:p>
          <a:p>
            <a:pPr eaLnBrk="1" hangingPunct="1">
              <a:lnSpc>
                <a:spcPct val="110000"/>
              </a:lnSpc>
            </a:pPr>
            <a:r>
              <a:rPr lang="zh-CN" altLang="en-US" sz="2000">
                <a:latin typeface="微软雅黑" panose="020B0503020204020204" pitchFamily="34" charset="-122"/>
                <a:ea typeface="微软雅黑" panose="020B0503020204020204" pitchFamily="34" charset="-122"/>
              </a:rPr>
              <a:t>物理地址（</a:t>
            </a:r>
            <a:r>
              <a:rPr lang="en-US" altLang="zh-CN" sz="2000">
                <a:latin typeface="微软雅黑" panose="020B0503020204020204" pitchFamily="34" charset="-122"/>
                <a:ea typeface="微软雅黑" panose="020B0503020204020204" pitchFamily="34" charset="-122"/>
              </a:rPr>
              <a:t>Physical Address</a:t>
            </a:r>
            <a:r>
              <a:rPr lang="zh-CN" altLang="en-US" sz="2000">
                <a:latin typeface="微软雅黑" panose="020B0503020204020204" pitchFamily="34" charset="-122"/>
                <a:ea typeface="微软雅黑" panose="020B0503020204020204" pitchFamily="34" charset="-122"/>
              </a:rPr>
              <a:t>，简称</a:t>
            </a:r>
            <a:r>
              <a:rPr lang="en-US" altLang="zh-CN" sz="2000">
                <a:latin typeface="微软雅黑" panose="020B0503020204020204" pitchFamily="34" charset="-122"/>
                <a:ea typeface="微软雅黑" panose="020B0503020204020204" pitchFamily="34" charset="-122"/>
              </a:rPr>
              <a:t>PA</a:t>
            </a:r>
            <a:r>
              <a:rPr lang="zh-CN" altLang="en-US" sz="2000">
                <a:latin typeface="微软雅黑" panose="020B0503020204020204" pitchFamily="34" charset="-122"/>
                <a:ea typeface="微软雅黑" panose="020B0503020204020204" pitchFamily="34" charset="-122"/>
              </a:rPr>
              <a:t>）：</a:t>
            </a:r>
          </a:p>
          <a:p>
            <a:pPr lvl="1" eaLnBrk="1" hangingPunct="1">
              <a:lnSpc>
                <a:spcPct val="110000"/>
              </a:lnSpc>
            </a:pPr>
            <a:r>
              <a:rPr lang="zh-CN" altLang="en-US" sz="2000">
                <a:latin typeface="微软雅黑" panose="020B0503020204020204" pitchFamily="34" charset="-122"/>
                <a:ea typeface="微软雅黑" panose="020B0503020204020204" pitchFamily="34" charset="-122"/>
              </a:rPr>
              <a:t>存放指令或数据的实际内存地址，也称为</a:t>
            </a:r>
            <a:r>
              <a:rPr lang="zh-CN" altLang="en-US" sz="2000">
                <a:solidFill>
                  <a:srgbClr val="FF0000"/>
                </a:solidFill>
                <a:latin typeface="微软雅黑" panose="020B0503020204020204" pitchFamily="34" charset="-122"/>
                <a:ea typeface="微软雅黑" panose="020B0503020204020204" pitchFamily="34" charset="-122"/>
              </a:rPr>
              <a:t>实地址、主存地址。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2547">
                                            <p:txEl>
                                              <p:pRg st="1" end="1"/>
                                            </p:txEl>
                                          </p:spTgt>
                                        </p:tgtEl>
                                        <p:attrNameLst>
                                          <p:attrName>style.visibility</p:attrName>
                                        </p:attrNameLst>
                                      </p:cBhvr>
                                      <p:to>
                                        <p:strVal val="visible"/>
                                      </p:to>
                                    </p:set>
                                    <p:animEffect transition="in" filter="blinds(horizontal)">
                                      <p:cBhvr>
                                        <p:cTn id="7" dur="500"/>
                                        <p:tgtEl>
                                          <p:spTgt spid="4925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92547">
                                            <p:txEl>
                                              <p:pRg st="2" end="2"/>
                                            </p:txEl>
                                          </p:spTgt>
                                        </p:tgtEl>
                                        <p:attrNameLst>
                                          <p:attrName>style.visibility</p:attrName>
                                        </p:attrNameLst>
                                      </p:cBhvr>
                                      <p:to>
                                        <p:strVal val="visible"/>
                                      </p:to>
                                    </p:set>
                                    <p:animEffect transition="in" filter="blinds(horizontal)">
                                      <p:cBhvr>
                                        <p:cTn id="12" dur="500"/>
                                        <p:tgtEl>
                                          <p:spTgt spid="4925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92547">
                                            <p:txEl>
                                              <p:pRg st="3" end="3"/>
                                            </p:txEl>
                                          </p:spTgt>
                                        </p:tgtEl>
                                        <p:attrNameLst>
                                          <p:attrName>style.visibility</p:attrName>
                                        </p:attrNameLst>
                                      </p:cBhvr>
                                      <p:to>
                                        <p:strVal val="visible"/>
                                      </p:to>
                                    </p:set>
                                    <p:animEffect transition="in" filter="blinds(horizontal)">
                                      <p:cBhvr>
                                        <p:cTn id="17" dur="500"/>
                                        <p:tgtEl>
                                          <p:spTgt spid="49254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92547">
                                            <p:txEl>
                                              <p:pRg st="4" end="4"/>
                                            </p:txEl>
                                          </p:spTgt>
                                        </p:tgtEl>
                                        <p:attrNameLst>
                                          <p:attrName>style.visibility</p:attrName>
                                        </p:attrNameLst>
                                      </p:cBhvr>
                                      <p:to>
                                        <p:strVal val="visible"/>
                                      </p:to>
                                    </p:set>
                                    <p:animEffect transition="in" filter="blinds(horizontal)">
                                      <p:cBhvr>
                                        <p:cTn id="22" dur="500"/>
                                        <p:tgtEl>
                                          <p:spTgt spid="49254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92547">
                                            <p:txEl>
                                              <p:pRg st="5" end="5"/>
                                            </p:txEl>
                                          </p:spTgt>
                                        </p:tgtEl>
                                        <p:attrNameLst>
                                          <p:attrName>style.visibility</p:attrName>
                                        </p:attrNameLst>
                                      </p:cBhvr>
                                      <p:to>
                                        <p:strVal val="visible"/>
                                      </p:to>
                                    </p:set>
                                    <p:animEffect transition="in" filter="blinds(horizontal)">
                                      <p:cBhvr>
                                        <p:cTn id="27" dur="500"/>
                                        <p:tgtEl>
                                          <p:spTgt spid="49254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92547">
                                            <p:txEl>
                                              <p:pRg st="6" end="6"/>
                                            </p:txEl>
                                          </p:spTgt>
                                        </p:tgtEl>
                                        <p:attrNameLst>
                                          <p:attrName>style.visibility</p:attrName>
                                        </p:attrNameLst>
                                      </p:cBhvr>
                                      <p:to>
                                        <p:strVal val="visible"/>
                                      </p:to>
                                    </p:set>
                                    <p:animEffect transition="in" filter="blinds(horizontal)">
                                      <p:cBhvr>
                                        <p:cTn id="32" dur="500"/>
                                        <p:tgtEl>
                                          <p:spTgt spid="49254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92547">
                                            <p:txEl>
                                              <p:pRg st="7" end="7"/>
                                            </p:txEl>
                                          </p:spTgt>
                                        </p:tgtEl>
                                        <p:attrNameLst>
                                          <p:attrName>style.visibility</p:attrName>
                                        </p:attrNameLst>
                                      </p:cBhvr>
                                      <p:to>
                                        <p:strVal val="visible"/>
                                      </p:to>
                                    </p:set>
                                    <p:animEffect transition="in" filter="blinds(horizontal)">
                                      <p:cBhvr>
                                        <p:cTn id="37" dur="500"/>
                                        <p:tgtEl>
                                          <p:spTgt spid="492547">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92547">
                                            <p:txEl>
                                              <p:pRg st="8" end="8"/>
                                            </p:txEl>
                                          </p:spTgt>
                                        </p:tgtEl>
                                        <p:attrNameLst>
                                          <p:attrName>style.visibility</p:attrName>
                                        </p:attrNameLst>
                                      </p:cBhvr>
                                      <p:to>
                                        <p:strVal val="visible"/>
                                      </p:to>
                                    </p:set>
                                    <p:animEffect transition="in" filter="blinds(horizontal)">
                                      <p:cBhvr>
                                        <p:cTn id="42" dur="500"/>
                                        <p:tgtEl>
                                          <p:spTgt spid="492547">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92547">
                                            <p:txEl>
                                              <p:pRg st="9" end="9"/>
                                            </p:txEl>
                                          </p:spTgt>
                                        </p:tgtEl>
                                        <p:attrNameLst>
                                          <p:attrName>style.visibility</p:attrName>
                                        </p:attrNameLst>
                                      </p:cBhvr>
                                      <p:to>
                                        <p:strVal val="visible"/>
                                      </p:to>
                                    </p:set>
                                    <p:animEffect transition="in" filter="blinds(horizontal)">
                                      <p:cBhvr>
                                        <p:cTn id="47" dur="500"/>
                                        <p:tgtEl>
                                          <p:spTgt spid="492547">
                                            <p:txEl>
                                              <p:pRg st="9" end="9"/>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92547">
                                            <p:txEl>
                                              <p:pRg st="10" end="10"/>
                                            </p:txEl>
                                          </p:spTgt>
                                        </p:tgtEl>
                                        <p:attrNameLst>
                                          <p:attrName>style.visibility</p:attrName>
                                        </p:attrNameLst>
                                      </p:cBhvr>
                                      <p:to>
                                        <p:strVal val="visible"/>
                                      </p:to>
                                    </p:set>
                                    <p:animEffect transition="in" filter="blinds(horizontal)">
                                      <p:cBhvr>
                                        <p:cTn id="52" dur="500"/>
                                        <p:tgtEl>
                                          <p:spTgt spid="4925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a:extLst>
              <a:ext uri="{FF2B5EF4-FFF2-40B4-BE49-F238E27FC236}">
                <a16:creationId xmlns:a16="http://schemas.microsoft.com/office/drawing/2014/main" id="{31A94041-1211-3F49-9DDF-67C97FF2D44F}"/>
              </a:ext>
            </a:extLst>
          </p:cNvPr>
          <p:cNvSpPr>
            <a:spLocks noGrp="1" noChangeArrowheads="1"/>
          </p:cNvSpPr>
          <p:nvPr>
            <p:ph type="title" idx="4294967295"/>
          </p:nvPr>
        </p:nvSpPr>
        <p:spPr/>
        <p:txBody>
          <a:bodyPr lIns="91440" tIns="45720" rIns="91440" bIns="45720" anchor="ctr"/>
          <a:lstStyle/>
          <a:p>
            <a:pPr eaLnBrk="1" hangingPunct="1"/>
            <a:r>
              <a:rPr lang="zh-CN" altLang="en-US" sz="4000"/>
              <a:t>分页（</a:t>
            </a:r>
            <a:r>
              <a:rPr lang="en-US" altLang="zh-CN" sz="4000"/>
              <a:t>Paging</a:t>
            </a:r>
            <a:r>
              <a:rPr lang="zh-CN" altLang="en-US" sz="4000"/>
              <a:t>）</a:t>
            </a:r>
          </a:p>
        </p:txBody>
      </p:sp>
      <p:sp>
        <p:nvSpPr>
          <p:cNvPr id="779271" name="Rectangle 7">
            <a:extLst>
              <a:ext uri="{FF2B5EF4-FFF2-40B4-BE49-F238E27FC236}">
                <a16:creationId xmlns:a16="http://schemas.microsoft.com/office/drawing/2014/main" id="{9E681F05-A4BC-FB47-8464-B28C77E203DF}"/>
              </a:ext>
            </a:extLst>
          </p:cNvPr>
          <p:cNvSpPr>
            <a:spLocks noChangeArrowheads="1"/>
          </p:cNvSpPr>
          <p:nvPr/>
        </p:nvSpPr>
        <p:spPr bwMode="auto">
          <a:xfrm>
            <a:off x="185738" y="3943350"/>
            <a:ext cx="2655887"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200" b="1">
                <a:solidFill>
                  <a:srgbClr val="0000FF"/>
                </a:solidFill>
                <a:latin typeface="微软雅黑" panose="020B0503020204020204" pitchFamily="34" charset="-122"/>
                <a:ea typeface="微软雅黑" panose="020B0503020204020204" pitchFamily="34" charset="-122"/>
              </a:rPr>
              <a:t>采用 “</a:t>
            </a:r>
            <a:r>
              <a:rPr kumimoji="1" lang="zh-CN" altLang="en-US" sz="2200" b="1">
                <a:solidFill>
                  <a:srgbClr val="006600"/>
                </a:solidFill>
                <a:latin typeface="微软雅黑" panose="020B0503020204020204" pitchFamily="34" charset="-122"/>
                <a:ea typeface="微软雅黑" panose="020B0503020204020204" pitchFamily="34" charset="-122"/>
              </a:rPr>
              <a:t>按需调页</a:t>
            </a:r>
            <a:r>
              <a:rPr kumimoji="1" lang="zh-CN" altLang="en-US" sz="2200" b="1">
                <a:solidFill>
                  <a:srgbClr val="0000FF"/>
                </a:solidFill>
                <a:latin typeface="微软雅黑" panose="020B0503020204020204" pitchFamily="34" charset="-122"/>
                <a:ea typeface="微软雅黑" panose="020B0503020204020204" pitchFamily="34" charset="-122"/>
              </a:rPr>
              <a:t> </a:t>
            </a:r>
            <a:r>
              <a:rPr kumimoji="1" lang="en-US" altLang="zh-CN" sz="2200" b="1">
                <a:solidFill>
                  <a:srgbClr val="006600"/>
                </a:solidFill>
                <a:latin typeface="微软雅黑" panose="020B0503020204020204" pitchFamily="34" charset="-122"/>
                <a:ea typeface="微软雅黑" panose="020B0503020204020204" pitchFamily="34" charset="-122"/>
              </a:rPr>
              <a:t>Demand Paging</a:t>
            </a:r>
            <a:r>
              <a:rPr kumimoji="1" lang="en-US" altLang="zh-CN" sz="2200" b="1">
                <a:solidFill>
                  <a:srgbClr val="0000FF"/>
                </a:solidFill>
                <a:latin typeface="微软雅黑" panose="020B0503020204020204" pitchFamily="34" charset="-122"/>
                <a:ea typeface="微软雅黑" panose="020B0503020204020204" pitchFamily="34" charset="-122"/>
              </a:rPr>
              <a:t>”</a:t>
            </a:r>
            <a:r>
              <a:rPr kumimoji="1" lang="zh-CN" altLang="en-US" sz="2200" b="1">
                <a:solidFill>
                  <a:srgbClr val="0000FF"/>
                </a:solidFill>
                <a:latin typeface="微软雅黑" panose="020B0503020204020204" pitchFamily="34" charset="-122"/>
                <a:ea typeface="微软雅黑" panose="020B0503020204020204" pitchFamily="34" charset="-122"/>
              </a:rPr>
              <a:t>方式分配主存！这就是虚拟存储管理概念</a:t>
            </a:r>
          </a:p>
        </p:txBody>
      </p:sp>
      <p:sp>
        <p:nvSpPr>
          <p:cNvPr id="779272" name="Text Box 8">
            <a:extLst>
              <a:ext uri="{FF2B5EF4-FFF2-40B4-BE49-F238E27FC236}">
                <a16:creationId xmlns:a16="http://schemas.microsoft.com/office/drawing/2014/main" id="{7CF4D4AD-1A5B-924F-BE3B-A106F873D877}"/>
              </a:ext>
            </a:extLst>
          </p:cNvPr>
          <p:cNvSpPr txBox="1">
            <a:spLocks noChangeArrowheads="1"/>
          </p:cNvSpPr>
          <p:nvPr/>
        </p:nvSpPr>
        <p:spPr bwMode="auto">
          <a:xfrm>
            <a:off x="276225" y="882650"/>
            <a:ext cx="2366963"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200" b="1">
                <a:solidFill>
                  <a:srgbClr val="CC0000"/>
                </a:solidFill>
                <a:ea typeface="微软雅黑" panose="020B0503020204020204" pitchFamily="34" charset="-122"/>
              </a:rPr>
              <a:t>问题：是否需要将一个进程的全部都装入内存？</a:t>
            </a:r>
          </a:p>
        </p:txBody>
      </p:sp>
      <p:sp>
        <p:nvSpPr>
          <p:cNvPr id="779273" name="Rectangle 9">
            <a:extLst>
              <a:ext uri="{FF2B5EF4-FFF2-40B4-BE49-F238E27FC236}">
                <a16:creationId xmlns:a16="http://schemas.microsoft.com/office/drawing/2014/main" id="{82D14911-7763-7349-A3A3-B84931630E3A}"/>
              </a:ext>
            </a:extLst>
          </p:cNvPr>
          <p:cNvSpPr>
            <a:spLocks noChangeArrowheads="1"/>
          </p:cNvSpPr>
          <p:nvPr/>
        </p:nvSpPr>
        <p:spPr bwMode="auto">
          <a:xfrm>
            <a:off x="230188" y="2098675"/>
            <a:ext cx="2611437"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25000"/>
              </a:lnSpc>
              <a:spcBef>
                <a:spcPct val="50000"/>
              </a:spcBef>
            </a:pPr>
            <a:r>
              <a:rPr kumimoji="1" lang="zh-CN" altLang="en-US" sz="2200" b="1">
                <a:solidFill>
                  <a:srgbClr val="FF0000"/>
                </a:solidFill>
                <a:ea typeface="微软雅黑" panose="020B0503020204020204" pitchFamily="34" charset="-122"/>
              </a:rPr>
              <a:t>根据程序访问局部性可知：可把当前活跃的页面调入主存，其余留在磁盘上！</a:t>
            </a:r>
          </a:p>
        </p:txBody>
      </p:sp>
      <p:sp>
        <p:nvSpPr>
          <p:cNvPr id="833547" name="Rectangle 11">
            <a:extLst>
              <a:ext uri="{FF2B5EF4-FFF2-40B4-BE49-F238E27FC236}">
                <a16:creationId xmlns:a16="http://schemas.microsoft.com/office/drawing/2014/main" id="{BC292E31-DA82-1348-B15A-91C8CDA859F3}"/>
              </a:ext>
            </a:extLst>
          </p:cNvPr>
          <p:cNvSpPr>
            <a:spLocks noChangeArrowheads="1"/>
          </p:cNvSpPr>
          <p:nvPr/>
        </p:nvSpPr>
        <p:spPr bwMode="auto">
          <a:xfrm>
            <a:off x="561975" y="5589588"/>
            <a:ext cx="22082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kumimoji="1" lang="zh-CN" altLang="en-US" sz="2000" b="1">
                <a:solidFill>
                  <a:srgbClr val="CC0000"/>
                </a:solidFill>
                <a:ea typeface="微软雅黑" panose="020B0503020204020204" pitchFamily="34" charset="-122"/>
              </a:rPr>
              <a:t>优点：浪费的空间最多是最后一页的部分！</a:t>
            </a:r>
          </a:p>
        </p:txBody>
      </p:sp>
      <p:grpSp>
        <p:nvGrpSpPr>
          <p:cNvPr id="207879" name="Group 16">
            <a:extLst>
              <a:ext uri="{FF2B5EF4-FFF2-40B4-BE49-F238E27FC236}">
                <a16:creationId xmlns:a16="http://schemas.microsoft.com/office/drawing/2014/main" id="{C20F3A55-420D-9F45-B082-137D837C7535}"/>
              </a:ext>
            </a:extLst>
          </p:cNvPr>
          <p:cNvGrpSpPr>
            <a:grpSpLocks/>
          </p:cNvGrpSpPr>
          <p:nvPr/>
        </p:nvGrpSpPr>
        <p:grpSpPr bwMode="auto">
          <a:xfrm>
            <a:off x="2997200" y="908050"/>
            <a:ext cx="5967413" cy="5491163"/>
            <a:chOff x="1888" y="572"/>
            <a:chExt cx="3759" cy="3459"/>
          </a:xfrm>
        </p:grpSpPr>
        <p:pic>
          <p:nvPicPr>
            <p:cNvPr id="207880" name="Picture 4" descr="smx05_逻辑和物理地址">
              <a:extLst>
                <a:ext uri="{FF2B5EF4-FFF2-40B4-BE49-F238E27FC236}">
                  <a16:creationId xmlns:a16="http://schemas.microsoft.com/office/drawing/2014/main" id="{B1F0A591-41BB-BE40-82CD-86A76703C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8" y="572"/>
              <a:ext cx="3759" cy="3459"/>
            </a:xfrm>
            <a:prstGeom prst="rect">
              <a:avLst/>
            </a:prstGeom>
            <a:noFill/>
            <a:ln w="28575">
              <a:solidFill>
                <a:srgbClr val="CC99FF"/>
              </a:solidFill>
              <a:miter lim="800000"/>
              <a:headEnd/>
              <a:tailEnd/>
            </a:ln>
            <a:extLst>
              <a:ext uri="{909E8E84-426E-40DD-AFC4-6F175D3DCCD1}">
                <a14:hiddenFill xmlns:a14="http://schemas.microsoft.com/office/drawing/2010/main">
                  <a:solidFill>
                    <a:schemeClr val="accent1"/>
                  </a:solidFill>
                </a14:hiddenFill>
              </a:ext>
            </a:extLst>
          </p:spPr>
        </p:pic>
        <p:sp>
          <p:nvSpPr>
            <p:cNvPr id="207881" name="Text Box 8">
              <a:extLst>
                <a:ext uri="{FF2B5EF4-FFF2-40B4-BE49-F238E27FC236}">
                  <a16:creationId xmlns:a16="http://schemas.microsoft.com/office/drawing/2014/main" id="{9E488214-8DE5-0C41-9BAF-0913F40B1286}"/>
                </a:ext>
              </a:extLst>
            </p:cNvPr>
            <p:cNvSpPr txBox="1">
              <a:spLocks noChangeArrowheads="1"/>
            </p:cNvSpPr>
            <p:nvPr/>
          </p:nvSpPr>
          <p:spPr bwMode="auto">
            <a:xfrm>
              <a:off x="3305" y="2727"/>
              <a:ext cx="127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FF0000"/>
                  </a:solidFill>
                  <a:ea typeface="黑体" panose="02010609060101010101" pitchFamily="49" charset="-122"/>
                </a:rPr>
                <a:t>页表</a:t>
              </a:r>
              <a:r>
                <a:rPr kumimoji="1" lang="zh-CN" altLang="en-US" sz="2000" b="1">
                  <a:solidFill>
                    <a:srgbClr val="000099"/>
                  </a:solidFill>
                  <a:ea typeface="黑体" panose="02010609060101010101" pitchFamily="49" charset="-122"/>
                </a:rPr>
                <a:t>描述了虚拟页和物理页框之间的映射关系！</a:t>
              </a:r>
            </a:p>
          </p:txBody>
        </p:sp>
        <p:sp>
          <p:nvSpPr>
            <p:cNvPr id="207882" name="Text Box 9">
              <a:extLst>
                <a:ext uri="{FF2B5EF4-FFF2-40B4-BE49-F238E27FC236}">
                  <a16:creationId xmlns:a16="http://schemas.microsoft.com/office/drawing/2014/main" id="{7FF053F5-41E1-4542-9A5B-F8B18187A789}"/>
                </a:ext>
              </a:extLst>
            </p:cNvPr>
            <p:cNvSpPr txBox="1">
              <a:spLocks noChangeArrowheads="1"/>
            </p:cNvSpPr>
            <p:nvPr/>
          </p:nvSpPr>
          <p:spPr bwMode="auto">
            <a:xfrm>
              <a:off x="4581" y="3010"/>
              <a:ext cx="822"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009900"/>
                  </a:solidFill>
                  <a:ea typeface="黑体" panose="02010609060101010101" pitchFamily="49" charset="-122"/>
                </a:rPr>
                <a:t>   主存</a:t>
              </a:r>
            </a:p>
          </p:txBody>
        </p:sp>
        <p:sp>
          <p:nvSpPr>
            <p:cNvPr id="207883" name="Text Box 12">
              <a:extLst>
                <a:ext uri="{FF2B5EF4-FFF2-40B4-BE49-F238E27FC236}">
                  <a16:creationId xmlns:a16="http://schemas.microsoft.com/office/drawing/2014/main" id="{E1B53E87-B10E-3A48-801F-41906AF937CF}"/>
                </a:ext>
              </a:extLst>
            </p:cNvPr>
            <p:cNvSpPr txBox="1">
              <a:spLocks noChangeArrowheads="1"/>
            </p:cNvSpPr>
            <p:nvPr/>
          </p:nvSpPr>
          <p:spPr bwMode="auto">
            <a:xfrm>
              <a:off x="2678" y="2222"/>
              <a:ext cx="3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en-US" altLang="zh-CN" sz="2000">
                  <a:ea typeface="宋体" panose="02010600030101010101" pitchFamily="2" charset="-122"/>
                </a:rPr>
                <a:t>0</a:t>
              </a:r>
            </a:p>
          </p:txBody>
        </p:sp>
        <p:sp>
          <p:nvSpPr>
            <p:cNvPr id="207884" name="Text Box 13">
              <a:extLst>
                <a:ext uri="{FF2B5EF4-FFF2-40B4-BE49-F238E27FC236}">
                  <a16:creationId xmlns:a16="http://schemas.microsoft.com/office/drawing/2014/main" id="{B57FE74E-E528-E940-8E63-C7404DA1A156}"/>
                </a:ext>
              </a:extLst>
            </p:cNvPr>
            <p:cNvSpPr txBox="1">
              <a:spLocks noChangeArrowheads="1"/>
            </p:cNvSpPr>
            <p:nvPr/>
          </p:nvSpPr>
          <p:spPr bwMode="auto">
            <a:xfrm>
              <a:off x="2661" y="2500"/>
              <a:ext cx="3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en-US" altLang="zh-CN" sz="2000">
                  <a:ea typeface="宋体" panose="02010600030101010101" pitchFamily="2" charset="-122"/>
                </a:rPr>
                <a:t>1</a:t>
              </a:r>
            </a:p>
          </p:txBody>
        </p:sp>
        <p:sp>
          <p:nvSpPr>
            <p:cNvPr id="207885" name="Text Box 14">
              <a:extLst>
                <a:ext uri="{FF2B5EF4-FFF2-40B4-BE49-F238E27FC236}">
                  <a16:creationId xmlns:a16="http://schemas.microsoft.com/office/drawing/2014/main" id="{0662E545-F2C5-F740-A263-F243D4722AA1}"/>
                </a:ext>
              </a:extLst>
            </p:cNvPr>
            <p:cNvSpPr txBox="1">
              <a:spLocks noChangeArrowheads="1"/>
            </p:cNvSpPr>
            <p:nvPr/>
          </p:nvSpPr>
          <p:spPr bwMode="auto">
            <a:xfrm>
              <a:off x="2672" y="2774"/>
              <a:ext cx="3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en-US" altLang="zh-CN" sz="2000">
                  <a:ea typeface="宋体" panose="02010600030101010101" pitchFamily="2" charset="-122"/>
                </a:rPr>
                <a:t>2</a:t>
              </a:r>
            </a:p>
          </p:txBody>
        </p:sp>
        <p:sp>
          <p:nvSpPr>
            <p:cNvPr id="207886" name="Text Box 15">
              <a:extLst>
                <a:ext uri="{FF2B5EF4-FFF2-40B4-BE49-F238E27FC236}">
                  <a16:creationId xmlns:a16="http://schemas.microsoft.com/office/drawing/2014/main" id="{E0397CA4-B64F-054C-8A90-615300AC165E}"/>
                </a:ext>
              </a:extLst>
            </p:cNvPr>
            <p:cNvSpPr txBox="1">
              <a:spLocks noChangeArrowheads="1"/>
            </p:cNvSpPr>
            <p:nvPr/>
          </p:nvSpPr>
          <p:spPr bwMode="auto">
            <a:xfrm>
              <a:off x="2682" y="3075"/>
              <a:ext cx="3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en-US" altLang="zh-CN" sz="2000">
                  <a:ea typeface="宋体" panose="02010600030101010101" pitchFamily="2" charset="-122"/>
                </a:rPr>
                <a:t>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9272"/>
                                        </p:tgtEl>
                                        <p:attrNameLst>
                                          <p:attrName>style.visibility</p:attrName>
                                        </p:attrNameLst>
                                      </p:cBhvr>
                                      <p:to>
                                        <p:strVal val="visible"/>
                                      </p:to>
                                    </p:set>
                                    <p:animEffect transition="in" filter="blinds(horizontal)">
                                      <p:cBhvr>
                                        <p:cTn id="7" dur="500"/>
                                        <p:tgtEl>
                                          <p:spTgt spid="7792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9273"/>
                                        </p:tgtEl>
                                        <p:attrNameLst>
                                          <p:attrName>style.visibility</p:attrName>
                                        </p:attrNameLst>
                                      </p:cBhvr>
                                      <p:to>
                                        <p:strVal val="visible"/>
                                      </p:to>
                                    </p:set>
                                    <p:animEffect transition="in" filter="blinds(horizontal)">
                                      <p:cBhvr>
                                        <p:cTn id="12" dur="500"/>
                                        <p:tgtEl>
                                          <p:spTgt spid="7792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9271"/>
                                        </p:tgtEl>
                                        <p:attrNameLst>
                                          <p:attrName>style.visibility</p:attrName>
                                        </p:attrNameLst>
                                      </p:cBhvr>
                                      <p:to>
                                        <p:strVal val="visible"/>
                                      </p:to>
                                    </p:set>
                                    <p:animEffect transition="in" filter="blinds(horizontal)">
                                      <p:cBhvr>
                                        <p:cTn id="17" dur="500"/>
                                        <p:tgtEl>
                                          <p:spTgt spid="7792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33547"/>
                                        </p:tgtEl>
                                        <p:attrNameLst>
                                          <p:attrName>style.visibility</p:attrName>
                                        </p:attrNameLst>
                                      </p:cBhvr>
                                      <p:to>
                                        <p:strVal val="visible"/>
                                      </p:to>
                                    </p:set>
                                    <p:animEffect transition="in" filter="blinds(horizontal)">
                                      <p:cBhvr>
                                        <p:cTn id="22" dur="500"/>
                                        <p:tgtEl>
                                          <p:spTgt spid="833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271" grpId="0"/>
      <p:bldP spid="779272" grpId="0"/>
      <p:bldP spid="779273" grpId="0"/>
      <p:bldP spid="8335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4BC7744D-7724-484A-9039-3BFD2E23854F}"/>
              </a:ext>
            </a:extLst>
          </p:cNvPr>
          <p:cNvSpPr>
            <a:spLocks noGrp="1" noChangeArrowheads="1"/>
          </p:cNvSpPr>
          <p:nvPr>
            <p:ph type="title" idx="4294967295"/>
          </p:nvPr>
        </p:nvSpPr>
        <p:spPr/>
        <p:txBody>
          <a:bodyPr lIns="91440" tIns="45720" rIns="91440" bIns="45720" anchor="ctr"/>
          <a:lstStyle/>
          <a:p>
            <a:pPr eaLnBrk="1" hangingPunct="1"/>
            <a:r>
              <a:rPr lang="zh-CN" altLang="en-US" sz="3200"/>
              <a:t>虚拟存储系统的基本概念</a:t>
            </a:r>
          </a:p>
        </p:txBody>
      </p:sp>
      <p:sp>
        <p:nvSpPr>
          <p:cNvPr id="722947" name="Rectangle 3">
            <a:extLst>
              <a:ext uri="{FF2B5EF4-FFF2-40B4-BE49-F238E27FC236}">
                <a16:creationId xmlns:a16="http://schemas.microsoft.com/office/drawing/2014/main" id="{3644BB2B-A58E-0044-9B49-6E777C597CC0}"/>
              </a:ext>
            </a:extLst>
          </p:cNvPr>
          <p:cNvSpPr>
            <a:spLocks noGrp="1" noChangeArrowheads="1"/>
          </p:cNvSpPr>
          <p:nvPr>
            <p:ph type="body" idx="4294967295"/>
          </p:nvPr>
        </p:nvSpPr>
        <p:spPr>
          <a:xfrm>
            <a:off x="296863" y="863600"/>
            <a:ext cx="8640762" cy="5391150"/>
          </a:xfrm>
        </p:spPr>
        <p:txBody>
          <a:bodyPr lIns="91440" tIns="45720" rIns="91440" bIns="45720"/>
          <a:lstStyle/>
          <a:p>
            <a:pPr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虚拟存储技术的引入用来解决一对矛盾</a:t>
            </a:r>
          </a:p>
          <a:p>
            <a:pPr lvl="1"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一方面，由于技术和成本等原因，主存容量受到限制</a:t>
            </a:r>
          </a:p>
          <a:p>
            <a:pPr lvl="1"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另一方面，系统程序和应用程序要求主存容量越来越大</a:t>
            </a:r>
          </a:p>
          <a:p>
            <a:pPr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hlinkClick r:id="" action="ppaction://hlinkshowjump?jump=nextslide"/>
              </a:rPr>
              <a:t>虚拟存储技术的实质</a:t>
            </a:r>
            <a:endParaRPr lang="zh-CN" altLang="en-US" sz="2000">
              <a:latin typeface="微软雅黑" panose="020B0503020204020204" pitchFamily="34" charset="-122"/>
              <a:ea typeface="微软雅黑" panose="020B0503020204020204" pitchFamily="34" charset="-122"/>
            </a:endParaRPr>
          </a:p>
          <a:p>
            <a:pPr lvl="1"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程序员在比实际主存空间大得多的逻辑地址空间中编写程序</a:t>
            </a:r>
          </a:p>
          <a:p>
            <a:pPr lvl="1"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程序执行时，把当前需要的程序段和相应的数据块调入主存，其他暂不用的部分存放在磁盘上</a:t>
            </a:r>
          </a:p>
          <a:p>
            <a:pPr lvl="1"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指令执行时，通过</a:t>
            </a:r>
            <a:r>
              <a:rPr lang="zh-CN" altLang="en-US" sz="2000">
                <a:solidFill>
                  <a:schemeClr val="accent1"/>
                </a:solidFill>
                <a:latin typeface="微软雅黑" panose="020B0503020204020204" pitchFamily="34" charset="-122"/>
                <a:ea typeface="微软雅黑" panose="020B0503020204020204" pitchFamily="34" charset="-122"/>
              </a:rPr>
              <a:t>硬件</a:t>
            </a:r>
            <a:r>
              <a:rPr lang="zh-CN" altLang="en-US" sz="2000">
                <a:latin typeface="微软雅黑" panose="020B0503020204020204" pitchFamily="34" charset="-122"/>
                <a:ea typeface="微软雅黑" panose="020B0503020204020204" pitchFamily="34" charset="-122"/>
              </a:rPr>
              <a:t>将逻辑地址（也称虚拟地址或虚地址）转化为物理地址（也称主存地址或实地址）</a:t>
            </a:r>
          </a:p>
          <a:p>
            <a:pPr lvl="1"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在发生程序或数据访问失效</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缺页</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时，</a:t>
            </a:r>
            <a:r>
              <a:rPr lang="zh-CN" altLang="en-US" sz="2000">
                <a:solidFill>
                  <a:srgbClr val="FF0000"/>
                </a:solidFill>
                <a:latin typeface="微软雅黑" panose="020B0503020204020204" pitchFamily="34" charset="-122"/>
                <a:ea typeface="微软雅黑" panose="020B0503020204020204" pitchFamily="34" charset="-122"/>
              </a:rPr>
              <a:t>由操作系统</a:t>
            </a:r>
            <a:r>
              <a:rPr lang="zh-CN" altLang="en-US" sz="2000">
                <a:latin typeface="微软雅黑" panose="020B0503020204020204" pitchFamily="34" charset="-122"/>
                <a:ea typeface="微软雅黑" panose="020B0503020204020204" pitchFamily="34" charset="-122"/>
              </a:rPr>
              <a:t>进行主存和磁盘之间的信息交换</a:t>
            </a:r>
          </a:p>
          <a:p>
            <a:pPr eaLnBrk="1" hangingPunct="1">
              <a:lnSpc>
                <a:spcPct val="110000"/>
              </a:lnSpc>
              <a:spcBef>
                <a:spcPct val="25000"/>
              </a:spcBef>
            </a:pPr>
            <a:r>
              <a:rPr lang="zh-CN" altLang="en-US" sz="2000">
                <a:latin typeface="微软雅黑" panose="020B0503020204020204" pitchFamily="34" charset="-122"/>
                <a:ea typeface="微软雅黑" panose="020B0503020204020204" pitchFamily="34" charset="-122"/>
              </a:rPr>
              <a:t>虚拟存储器机制由硬件与操作系统共同协作实现，涉及到操作系统中的许多概念，如进程、进程的上下文切换、存储器分配、虚拟地址空间、缺页处理等。 </a:t>
            </a:r>
          </a:p>
        </p:txBody>
      </p:sp>
      <p:sp>
        <p:nvSpPr>
          <p:cNvPr id="4" name="Text Box 51">
            <a:extLst>
              <a:ext uri="{FF2B5EF4-FFF2-40B4-BE49-F238E27FC236}">
                <a16:creationId xmlns:a16="http://schemas.microsoft.com/office/drawing/2014/main" id="{812A2E63-252F-944A-B2A3-12C229B05B4E}"/>
              </a:ext>
            </a:extLst>
          </p:cNvPr>
          <p:cNvSpPr txBox="1">
            <a:spLocks noChangeArrowheads="1"/>
          </p:cNvSpPr>
          <p:nvPr/>
        </p:nvSpPr>
        <p:spPr bwMode="auto">
          <a:xfrm>
            <a:off x="3371850" y="6332538"/>
            <a:ext cx="18859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i="1">
                <a:solidFill>
                  <a:srgbClr val="666699"/>
                </a:solidFill>
                <a:ea typeface="华文新魏" panose="02010800040101010101" pitchFamily="2" charset="-122"/>
                <a:hlinkClick r:id="rId2" action="ppaction://hlinksldjump"/>
              </a:rPr>
              <a:t>SKIP</a:t>
            </a:r>
            <a:endParaRPr kumimoji="1" lang="en-US" altLang="zh-CN" sz="1800" b="1" i="1">
              <a:solidFill>
                <a:srgbClr val="666699"/>
              </a:solidFill>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22947">
                                            <p:txEl>
                                              <p:pRg st="1" end="1"/>
                                            </p:txEl>
                                          </p:spTgt>
                                        </p:tgtEl>
                                        <p:attrNameLst>
                                          <p:attrName>style.visibility</p:attrName>
                                        </p:attrNameLst>
                                      </p:cBhvr>
                                      <p:to>
                                        <p:strVal val="visible"/>
                                      </p:to>
                                    </p:set>
                                    <p:animEffect transition="in" filter="blinds(horizontal)">
                                      <p:cBhvr>
                                        <p:cTn id="7" dur="500"/>
                                        <p:tgtEl>
                                          <p:spTgt spid="7229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22947">
                                            <p:txEl>
                                              <p:pRg st="2" end="2"/>
                                            </p:txEl>
                                          </p:spTgt>
                                        </p:tgtEl>
                                        <p:attrNameLst>
                                          <p:attrName>style.visibility</p:attrName>
                                        </p:attrNameLst>
                                      </p:cBhvr>
                                      <p:to>
                                        <p:strVal val="visible"/>
                                      </p:to>
                                    </p:set>
                                    <p:animEffect transition="in" filter="blinds(horizontal)">
                                      <p:cBhvr>
                                        <p:cTn id="12" dur="500"/>
                                        <p:tgtEl>
                                          <p:spTgt spid="7229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22947">
                                            <p:txEl>
                                              <p:pRg st="4" end="4"/>
                                            </p:txEl>
                                          </p:spTgt>
                                        </p:tgtEl>
                                        <p:attrNameLst>
                                          <p:attrName>style.visibility</p:attrName>
                                        </p:attrNameLst>
                                      </p:cBhvr>
                                      <p:to>
                                        <p:strVal val="visible"/>
                                      </p:to>
                                    </p:set>
                                    <p:animEffect transition="in" filter="blinds(horizontal)">
                                      <p:cBhvr>
                                        <p:cTn id="17" dur="500"/>
                                        <p:tgtEl>
                                          <p:spTgt spid="72294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22947">
                                            <p:txEl>
                                              <p:pRg st="5" end="5"/>
                                            </p:txEl>
                                          </p:spTgt>
                                        </p:tgtEl>
                                        <p:attrNameLst>
                                          <p:attrName>style.visibility</p:attrName>
                                        </p:attrNameLst>
                                      </p:cBhvr>
                                      <p:to>
                                        <p:strVal val="visible"/>
                                      </p:to>
                                    </p:set>
                                    <p:animEffect transition="in" filter="blinds(horizontal)">
                                      <p:cBhvr>
                                        <p:cTn id="22" dur="500"/>
                                        <p:tgtEl>
                                          <p:spTgt spid="72294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22947">
                                            <p:txEl>
                                              <p:pRg st="6" end="6"/>
                                            </p:txEl>
                                          </p:spTgt>
                                        </p:tgtEl>
                                        <p:attrNameLst>
                                          <p:attrName>style.visibility</p:attrName>
                                        </p:attrNameLst>
                                      </p:cBhvr>
                                      <p:to>
                                        <p:strVal val="visible"/>
                                      </p:to>
                                    </p:set>
                                    <p:animEffect transition="in" filter="blinds(horizontal)">
                                      <p:cBhvr>
                                        <p:cTn id="27" dur="500"/>
                                        <p:tgtEl>
                                          <p:spTgt spid="722947">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22947">
                                            <p:txEl>
                                              <p:pRg st="7" end="7"/>
                                            </p:txEl>
                                          </p:spTgt>
                                        </p:tgtEl>
                                        <p:attrNameLst>
                                          <p:attrName>style.visibility</p:attrName>
                                        </p:attrNameLst>
                                      </p:cBhvr>
                                      <p:to>
                                        <p:strVal val="visible"/>
                                      </p:to>
                                    </p:set>
                                    <p:animEffect transition="in" filter="blinds(horizontal)">
                                      <p:cBhvr>
                                        <p:cTn id="32" dur="500"/>
                                        <p:tgtEl>
                                          <p:spTgt spid="722947">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22947">
                                            <p:txEl>
                                              <p:pRg st="8" end="8"/>
                                            </p:txEl>
                                          </p:spTgt>
                                        </p:tgtEl>
                                        <p:attrNameLst>
                                          <p:attrName>style.visibility</p:attrName>
                                        </p:attrNameLst>
                                      </p:cBhvr>
                                      <p:to>
                                        <p:strVal val="visible"/>
                                      </p:to>
                                    </p:set>
                                    <p:animEffect transition="in" filter="blinds(horizontal)">
                                      <p:cBhvr>
                                        <p:cTn id="37" dur="500"/>
                                        <p:tgtEl>
                                          <p:spTgt spid="722947">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AE510883-09E3-AC45-B613-DB9F7D5C52B2}"/>
              </a:ext>
            </a:extLst>
          </p:cNvPr>
          <p:cNvSpPr>
            <a:spLocks noGrp="1" noChangeArrowheads="1"/>
          </p:cNvSpPr>
          <p:nvPr>
            <p:ph type="title" idx="4294967295"/>
          </p:nvPr>
        </p:nvSpPr>
        <p:spPr/>
        <p:txBody>
          <a:bodyPr lIns="91440" tIns="45720" rIns="91440" bIns="45720" anchor="ctr"/>
          <a:lstStyle/>
          <a:p>
            <a:pPr eaLnBrk="1" hangingPunct="1"/>
            <a:r>
              <a:rPr lang="zh-CN" altLang="en-US" sz="3200"/>
              <a:t>虚拟存储技术的实质</a:t>
            </a:r>
          </a:p>
        </p:txBody>
      </p:sp>
      <p:sp>
        <p:nvSpPr>
          <p:cNvPr id="210947" name="Rectangle 4">
            <a:extLst>
              <a:ext uri="{FF2B5EF4-FFF2-40B4-BE49-F238E27FC236}">
                <a16:creationId xmlns:a16="http://schemas.microsoft.com/office/drawing/2014/main" id="{5F10182D-0ADB-5843-B338-BF7237330B0C}"/>
              </a:ext>
            </a:extLst>
          </p:cNvPr>
          <p:cNvSpPr>
            <a:spLocks noChangeArrowheads="1"/>
          </p:cNvSpPr>
          <p:nvPr/>
        </p:nvSpPr>
        <p:spPr bwMode="auto">
          <a:xfrm>
            <a:off x="2543175" y="1476375"/>
            <a:ext cx="1352550" cy="4229100"/>
          </a:xfrm>
          <a:prstGeom prst="rect">
            <a:avLst/>
          </a:prstGeom>
          <a:solidFill>
            <a:srgbClr val="FFFFFF"/>
          </a:solidFill>
          <a:ln w="19050">
            <a:solidFill>
              <a:schemeClr val="tx1"/>
            </a:solidFill>
            <a:miter lim="800000"/>
            <a:headEnd/>
            <a:tailEnd/>
          </a:ln>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10948" name="Text Box 5">
            <a:extLst>
              <a:ext uri="{FF2B5EF4-FFF2-40B4-BE49-F238E27FC236}">
                <a16:creationId xmlns:a16="http://schemas.microsoft.com/office/drawing/2014/main" id="{3BE2F0A2-6A4E-AA45-A856-A682DF18B7C5}"/>
              </a:ext>
            </a:extLst>
          </p:cNvPr>
          <p:cNvSpPr txBox="1">
            <a:spLocks noChangeArrowheads="1"/>
          </p:cNvSpPr>
          <p:nvPr/>
        </p:nvSpPr>
        <p:spPr bwMode="auto">
          <a:xfrm>
            <a:off x="2695575" y="5810250"/>
            <a:ext cx="1066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ea typeface="微软雅黑" panose="020B0503020204020204" pitchFamily="34" charset="-122"/>
              </a:rPr>
              <a:t>编程空间</a:t>
            </a:r>
          </a:p>
        </p:txBody>
      </p:sp>
      <p:sp>
        <p:nvSpPr>
          <p:cNvPr id="210949" name="Rectangle 10">
            <a:extLst>
              <a:ext uri="{FF2B5EF4-FFF2-40B4-BE49-F238E27FC236}">
                <a16:creationId xmlns:a16="http://schemas.microsoft.com/office/drawing/2014/main" id="{C5C225E1-E21E-1948-8DD6-B1D1E6909AF3}"/>
              </a:ext>
            </a:extLst>
          </p:cNvPr>
          <p:cNvSpPr>
            <a:spLocks noChangeArrowheads="1"/>
          </p:cNvSpPr>
          <p:nvPr/>
        </p:nvSpPr>
        <p:spPr bwMode="auto">
          <a:xfrm>
            <a:off x="160338" y="1484313"/>
            <a:ext cx="1295400" cy="4219575"/>
          </a:xfrm>
          <a:prstGeom prst="rect">
            <a:avLst/>
          </a:prstGeom>
          <a:solidFill>
            <a:srgbClr val="FFFFFF"/>
          </a:solidFill>
          <a:ln w="19050">
            <a:solidFill>
              <a:schemeClr val="tx1"/>
            </a:solidFill>
            <a:miter lim="800000"/>
            <a:headEnd/>
            <a:tailEnd/>
          </a:ln>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10950" name="Text Box 11">
            <a:extLst>
              <a:ext uri="{FF2B5EF4-FFF2-40B4-BE49-F238E27FC236}">
                <a16:creationId xmlns:a16="http://schemas.microsoft.com/office/drawing/2014/main" id="{A102DBF2-EC0B-0D4B-AF56-9E5739D137A1}"/>
              </a:ext>
            </a:extLst>
          </p:cNvPr>
          <p:cNvSpPr txBox="1">
            <a:spLocks noChangeArrowheads="1"/>
          </p:cNvSpPr>
          <p:nvPr/>
        </p:nvSpPr>
        <p:spPr bwMode="auto">
          <a:xfrm>
            <a:off x="341313" y="5770563"/>
            <a:ext cx="11255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ea typeface="微软雅黑" panose="020B0503020204020204" pitchFamily="34" charset="-122"/>
              </a:rPr>
              <a:t>编程空间</a:t>
            </a:r>
          </a:p>
        </p:txBody>
      </p:sp>
      <p:sp>
        <p:nvSpPr>
          <p:cNvPr id="210951" name="Line 12">
            <a:extLst>
              <a:ext uri="{FF2B5EF4-FFF2-40B4-BE49-F238E27FC236}">
                <a16:creationId xmlns:a16="http://schemas.microsoft.com/office/drawing/2014/main" id="{D07D24CE-E969-C34D-9F28-603C14C858CB}"/>
              </a:ext>
            </a:extLst>
          </p:cNvPr>
          <p:cNvSpPr>
            <a:spLocks noChangeShapeType="1"/>
          </p:cNvSpPr>
          <p:nvPr/>
        </p:nvSpPr>
        <p:spPr bwMode="auto">
          <a:xfrm flipV="1">
            <a:off x="152400" y="3857625"/>
            <a:ext cx="1285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52" name="Text Box 13">
            <a:extLst>
              <a:ext uri="{FF2B5EF4-FFF2-40B4-BE49-F238E27FC236}">
                <a16:creationId xmlns:a16="http://schemas.microsoft.com/office/drawing/2014/main" id="{4376AA03-B3B2-384B-A13F-5AD223DFC549}"/>
              </a:ext>
            </a:extLst>
          </p:cNvPr>
          <p:cNvSpPr txBox="1">
            <a:spLocks noChangeArrowheads="1"/>
          </p:cNvSpPr>
          <p:nvPr/>
        </p:nvSpPr>
        <p:spPr bwMode="auto">
          <a:xfrm>
            <a:off x="238125" y="4495800"/>
            <a:ext cx="1066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1</a:t>
            </a:r>
          </a:p>
        </p:txBody>
      </p:sp>
      <p:sp>
        <p:nvSpPr>
          <p:cNvPr id="210953" name="Text Box 14">
            <a:extLst>
              <a:ext uri="{FF2B5EF4-FFF2-40B4-BE49-F238E27FC236}">
                <a16:creationId xmlns:a16="http://schemas.microsoft.com/office/drawing/2014/main" id="{BB07E503-597F-E84F-8802-49024122073C}"/>
              </a:ext>
            </a:extLst>
          </p:cNvPr>
          <p:cNvSpPr txBox="1">
            <a:spLocks noChangeArrowheads="1"/>
          </p:cNvSpPr>
          <p:nvPr/>
        </p:nvSpPr>
        <p:spPr bwMode="auto">
          <a:xfrm>
            <a:off x="2665413" y="3779838"/>
            <a:ext cx="1066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k</a:t>
            </a:r>
          </a:p>
        </p:txBody>
      </p:sp>
      <p:sp>
        <p:nvSpPr>
          <p:cNvPr id="210954" name="Line 15">
            <a:extLst>
              <a:ext uri="{FF2B5EF4-FFF2-40B4-BE49-F238E27FC236}">
                <a16:creationId xmlns:a16="http://schemas.microsoft.com/office/drawing/2014/main" id="{B9C86C71-3052-7F4A-82E6-B524B561B8A8}"/>
              </a:ext>
            </a:extLst>
          </p:cNvPr>
          <p:cNvSpPr>
            <a:spLocks noChangeShapeType="1"/>
          </p:cNvSpPr>
          <p:nvPr/>
        </p:nvSpPr>
        <p:spPr bwMode="auto">
          <a:xfrm>
            <a:off x="2543175" y="2876550"/>
            <a:ext cx="13430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55" name="Line 16">
            <a:extLst>
              <a:ext uri="{FF2B5EF4-FFF2-40B4-BE49-F238E27FC236}">
                <a16:creationId xmlns:a16="http://schemas.microsoft.com/office/drawing/2014/main" id="{C042055C-9A25-8849-A75D-436D079755A7}"/>
              </a:ext>
            </a:extLst>
          </p:cNvPr>
          <p:cNvSpPr>
            <a:spLocks noChangeShapeType="1"/>
          </p:cNvSpPr>
          <p:nvPr/>
        </p:nvSpPr>
        <p:spPr bwMode="auto">
          <a:xfrm flipV="1">
            <a:off x="1743075" y="3390900"/>
            <a:ext cx="485775"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nvGrpSpPr>
          <p:cNvPr id="2" name="Group 50">
            <a:extLst>
              <a:ext uri="{FF2B5EF4-FFF2-40B4-BE49-F238E27FC236}">
                <a16:creationId xmlns:a16="http://schemas.microsoft.com/office/drawing/2014/main" id="{782DB022-45DA-8246-A9A7-E5590A09BA14}"/>
              </a:ext>
            </a:extLst>
          </p:cNvPr>
          <p:cNvGrpSpPr>
            <a:grpSpLocks/>
          </p:cNvGrpSpPr>
          <p:nvPr/>
        </p:nvGrpSpPr>
        <p:grpSpPr bwMode="auto">
          <a:xfrm>
            <a:off x="4686300" y="4333875"/>
            <a:ext cx="4191000" cy="2085975"/>
            <a:chOff x="2952" y="2730"/>
            <a:chExt cx="2640" cy="1314"/>
          </a:xfrm>
        </p:grpSpPr>
        <p:sp>
          <p:nvSpPr>
            <p:cNvPr id="210996" name="AutoShape 6">
              <a:extLst>
                <a:ext uri="{FF2B5EF4-FFF2-40B4-BE49-F238E27FC236}">
                  <a16:creationId xmlns:a16="http://schemas.microsoft.com/office/drawing/2014/main" id="{CC247A0F-B115-8E42-89D1-405DBB5DA418}"/>
                </a:ext>
              </a:extLst>
            </p:cNvPr>
            <p:cNvSpPr>
              <a:spLocks noChangeArrowheads="1"/>
            </p:cNvSpPr>
            <p:nvPr/>
          </p:nvSpPr>
          <p:spPr bwMode="auto">
            <a:xfrm>
              <a:off x="2952" y="2730"/>
              <a:ext cx="2640" cy="1314"/>
            </a:xfrm>
            <a:prstGeom prst="flowChartMagneticDisk">
              <a:avLst/>
            </a:prstGeom>
            <a:solidFill>
              <a:srgbClr val="FFFFFF"/>
            </a:solidFill>
            <a:ln w="9525">
              <a:solidFill>
                <a:schemeClr val="tx1"/>
              </a:solidFill>
              <a:round/>
              <a:headEnd/>
              <a:tailEnd/>
            </a:ln>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10997" name="Text Box 7">
              <a:extLst>
                <a:ext uri="{FF2B5EF4-FFF2-40B4-BE49-F238E27FC236}">
                  <a16:creationId xmlns:a16="http://schemas.microsoft.com/office/drawing/2014/main" id="{F4629AE7-7AD9-2F47-960D-B3705EFBAD87}"/>
                </a:ext>
              </a:extLst>
            </p:cNvPr>
            <p:cNvSpPr txBox="1">
              <a:spLocks noChangeArrowheads="1"/>
            </p:cNvSpPr>
            <p:nvPr/>
          </p:nvSpPr>
          <p:spPr bwMode="auto">
            <a:xfrm>
              <a:off x="3834" y="2874"/>
              <a:ext cx="8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0000FF"/>
                  </a:solidFill>
                  <a:ea typeface="微软雅黑" panose="020B0503020204020204" pitchFamily="34" charset="-122"/>
                </a:rPr>
                <a:t>磁盘物理空间</a:t>
              </a:r>
            </a:p>
          </p:txBody>
        </p:sp>
        <p:sp>
          <p:nvSpPr>
            <p:cNvPr id="210998" name="Text Box 18">
              <a:extLst>
                <a:ext uri="{FF2B5EF4-FFF2-40B4-BE49-F238E27FC236}">
                  <a16:creationId xmlns:a16="http://schemas.microsoft.com/office/drawing/2014/main" id="{EDB44BFA-56E0-C14A-9481-9EA450248561}"/>
                </a:ext>
              </a:extLst>
            </p:cNvPr>
            <p:cNvSpPr txBox="1">
              <a:spLocks noChangeArrowheads="1"/>
            </p:cNvSpPr>
            <p:nvPr/>
          </p:nvSpPr>
          <p:spPr bwMode="auto">
            <a:xfrm>
              <a:off x="3059" y="3251"/>
              <a:ext cx="6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1</a:t>
              </a:r>
            </a:p>
          </p:txBody>
        </p:sp>
        <p:sp>
          <p:nvSpPr>
            <p:cNvPr id="210999" name="Text Box 19">
              <a:extLst>
                <a:ext uri="{FF2B5EF4-FFF2-40B4-BE49-F238E27FC236}">
                  <a16:creationId xmlns:a16="http://schemas.microsoft.com/office/drawing/2014/main" id="{F6E3E101-6E1F-1B47-82E0-1007D470B75B}"/>
                </a:ext>
              </a:extLst>
            </p:cNvPr>
            <p:cNvSpPr txBox="1">
              <a:spLocks noChangeArrowheads="1"/>
            </p:cNvSpPr>
            <p:nvPr/>
          </p:nvSpPr>
          <p:spPr bwMode="auto">
            <a:xfrm>
              <a:off x="4318" y="3538"/>
              <a:ext cx="6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k</a:t>
              </a:r>
            </a:p>
          </p:txBody>
        </p:sp>
        <p:sp>
          <p:nvSpPr>
            <p:cNvPr id="211000" name="Text Box 20">
              <a:extLst>
                <a:ext uri="{FF2B5EF4-FFF2-40B4-BE49-F238E27FC236}">
                  <a16:creationId xmlns:a16="http://schemas.microsoft.com/office/drawing/2014/main" id="{22DA3088-F8C4-4B4E-B3CE-BD27B3E44FD0}"/>
                </a:ext>
              </a:extLst>
            </p:cNvPr>
            <p:cNvSpPr txBox="1">
              <a:spLocks noChangeArrowheads="1"/>
            </p:cNvSpPr>
            <p:nvPr/>
          </p:nvSpPr>
          <p:spPr bwMode="auto">
            <a:xfrm>
              <a:off x="3514" y="3718"/>
              <a:ext cx="6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2</a:t>
              </a:r>
            </a:p>
          </p:txBody>
        </p:sp>
      </p:grpSp>
      <p:grpSp>
        <p:nvGrpSpPr>
          <p:cNvPr id="3" name="Group 48">
            <a:extLst>
              <a:ext uri="{FF2B5EF4-FFF2-40B4-BE49-F238E27FC236}">
                <a16:creationId xmlns:a16="http://schemas.microsoft.com/office/drawing/2014/main" id="{606CD81C-6962-F34C-8A86-C82A67DA4249}"/>
              </a:ext>
            </a:extLst>
          </p:cNvPr>
          <p:cNvGrpSpPr>
            <a:grpSpLocks/>
          </p:cNvGrpSpPr>
          <p:nvPr/>
        </p:nvGrpSpPr>
        <p:grpSpPr bwMode="auto">
          <a:xfrm>
            <a:off x="6777038" y="1543050"/>
            <a:ext cx="2366962" cy="1990725"/>
            <a:chOff x="4518" y="972"/>
            <a:chExt cx="1098" cy="1254"/>
          </a:xfrm>
        </p:grpSpPr>
        <p:sp>
          <p:nvSpPr>
            <p:cNvPr id="210985" name="Text Box 8">
              <a:extLst>
                <a:ext uri="{FF2B5EF4-FFF2-40B4-BE49-F238E27FC236}">
                  <a16:creationId xmlns:a16="http://schemas.microsoft.com/office/drawing/2014/main" id="{A494AA20-7FC8-2A4D-9220-8E274868D619}"/>
                </a:ext>
              </a:extLst>
            </p:cNvPr>
            <p:cNvSpPr txBox="1">
              <a:spLocks noChangeArrowheads="1"/>
            </p:cNvSpPr>
            <p:nvPr/>
          </p:nvSpPr>
          <p:spPr bwMode="auto">
            <a:xfrm>
              <a:off x="4518" y="972"/>
              <a:ext cx="109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ea typeface="黑体" panose="02010609060101010101" pitchFamily="49" charset="-122"/>
                </a:rPr>
                <a:t>       </a:t>
              </a:r>
              <a:r>
                <a:rPr kumimoji="1" lang="zh-CN" altLang="en-US" sz="1900" b="1">
                  <a:solidFill>
                    <a:srgbClr val="0000FF"/>
                  </a:solidFill>
                  <a:ea typeface="微软雅黑" panose="020B0503020204020204" pitchFamily="34" charset="-122"/>
                </a:rPr>
                <a:t>主存物理空间</a:t>
              </a:r>
            </a:p>
          </p:txBody>
        </p:sp>
        <p:sp>
          <p:nvSpPr>
            <p:cNvPr id="210986" name="Rectangle 9">
              <a:extLst>
                <a:ext uri="{FF2B5EF4-FFF2-40B4-BE49-F238E27FC236}">
                  <a16:creationId xmlns:a16="http://schemas.microsoft.com/office/drawing/2014/main" id="{9573F151-2A9D-E14D-8093-68F36E439674}"/>
                </a:ext>
              </a:extLst>
            </p:cNvPr>
            <p:cNvSpPr>
              <a:spLocks noChangeArrowheads="1"/>
            </p:cNvSpPr>
            <p:nvPr/>
          </p:nvSpPr>
          <p:spPr bwMode="auto">
            <a:xfrm>
              <a:off x="4656" y="1272"/>
              <a:ext cx="774" cy="954"/>
            </a:xfrm>
            <a:prstGeom prst="rect">
              <a:avLst/>
            </a:prstGeom>
            <a:solidFill>
              <a:srgbClr val="FFFFFF"/>
            </a:solidFill>
            <a:ln w="19050">
              <a:solidFill>
                <a:schemeClr val="tx1"/>
              </a:solidFill>
              <a:miter lim="800000"/>
              <a:headEnd/>
              <a:tailEnd/>
            </a:ln>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10987" name="Line 21">
              <a:extLst>
                <a:ext uri="{FF2B5EF4-FFF2-40B4-BE49-F238E27FC236}">
                  <a16:creationId xmlns:a16="http://schemas.microsoft.com/office/drawing/2014/main" id="{7149CBE0-3820-7A49-8DB3-2CDD3F452932}"/>
                </a:ext>
              </a:extLst>
            </p:cNvPr>
            <p:cNvSpPr>
              <a:spLocks noChangeShapeType="1"/>
            </p:cNvSpPr>
            <p:nvPr/>
          </p:nvSpPr>
          <p:spPr bwMode="auto">
            <a:xfrm>
              <a:off x="4662" y="1650"/>
              <a:ext cx="768"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88" name="Line 22">
              <a:extLst>
                <a:ext uri="{FF2B5EF4-FFF2-40B4-BE49-F238E27FC236}">
                  <a16:creationId xmlns:a16="http://schemas.microsoft.com/office/drawing/2014/main" id="{87CDCD4E-CCC4-874C-8D5C-3C1EF9BE9018}"/>
                </a:ext>
              </a:extLst>
            </p:cNvPr>
            <p:cNvSpPr>
              <a:spLocks noChangeShapeType="1"/>
            </p:cNvSpPr>
            <p:nvPr/>
          </p:nvSpPr>
          <p:spPr bwMode="auto">
            <a:xfrm>
              <a:off x="4655" y="1433"/>
              <a:ext cx="768"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89" name="Line 23">
              <a:extLst>
                <a:ext uri="{FF2B5EF4-FFF2-40B4-BE49-F238E27FC236}">
                  <a16:creationId xmlns:a16="http://schemas.microsoft.com/office/drawing/2014/main" id="{0BDA083F-1D57-FD45-9235-A25A9255CB3E}"/>
                </a:ext>
              </a:extLst>
            </p:cNvPr>
            <p:cNvSpPr>
              <a:spLocks noChangeShapeType="1"/>
            </p:cNvSpPr>
            <p:nvPr/>
          </p:nvSpPr>
          <p:spPr bwMode="auto">
            <a:xfrm>
              <a:off x="4654" y="1888"/>
              <a:ext cx="768"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90" name="Line 24">
              <a:extLst>
                <a:ext uri="{FF2B5EF4-FFF2-40B4-BE49-F238E27FC236}">
                  <a16:creationId xmlns:a16="http://schemas.microsoft.com/office/drawing/2014/main" id="{FBF893BD-738D-3F42-B522-4BD3792144F7}"/>
                </a:ext>
              </a:extLst>
            </p:cNvPr>
            <p:cNvSpPr>
              <a:spLocks noChangeShapeType="1"/>
            </p:cNvSpPr>
            <p:nvPr/>
          </p:nvSpPr>
          <p:spPr bwMode="auto">
            <a:xfrm>
              <a:off x="4653" y="2055"/>
              <a:ext cx="768"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91" name="Text Box 26">
              <a:extLst>
                <a:ext uri="{FF2B5EF4-FFF2-40B4-BE49-F238E27FC236}">
                  <a16:creationId xmlns:a16="http://schemas.microsoft.com/office/drawing/2014/main" id="{ECB26DA8-5FBB-494E-8221-CB003ED303BA}"/>
                </a:ext>
              </a:extLst>
            </p:cNvPr>
            <p:cNvSpPr txBox="1">
              <a:spLocks noChangeArrowheads="1"/>
            </p:cNvSpPr>
            <p:nvPr/>
          </p:nvSpPr>
          <p:spPr bwMode="auto">
            <a:xfrm>
              <a:off x="4673" y="1679"/>
              <a:ext cx="7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1</a:t>
              </a:r>
              <a:r>
                <a:rPr kumimoji="1" lang="zh-CN" altLang="en-US" sz="1800" b="1">
                  <a:solidFill>
                    <a:srgbClr val="CC0000"/>
                  </a:solidFill>
                  <a:ea typeface="黑体" panose="02010609060101010101" pitchFamily="49" charset="-122"/>
                </a:rPr>
                <a:t>片段</a:t>
              </a:r>
            </a:p>
          </p:txBody>
        </p:sp>
        <p:sp>
          <p:nvSpPr>
            <p:cNvPr id="210992" name="Text Box 27">
              <a:extLst>
                <a:ext uri="{FF2B5EF4-FFF2-40B4-BE49-F238E27FC236}">
                  <a16:creationId xmlns:a16="http://schemas.microsoft.com/office/drawing/2014/main" id="{B15D26E5-E777-3845-B15F-84452319C2FD}"/>
                </a:ext>
              </a:extLst>
            </p:cNvPr>
            <p:cNvSpPr txBox="1">
              <a:spLocks noChangeArrowheads="1"/>
            </p:cNvSpPr>
            <p:nvPr/>
          </p:nvSpPr>
          <p:spPr bwMode="auto">
            <a:xfrm>
              <a:off x="4666" y="2050"/>
              <a:ext cx="7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2</a:t>
              </a:r>
              <a:r>
                <a:rPr kumimoji="1" lang="zh-CN" altLang="en-US" sz="1800" b="1">
                  <a:solidFill>
                    <a:srgbClr val="CC0000"/>
                  </a:solidFill>
                  <a:ea typeface="黑体" panose="02010609060101010101" pitchFamily="49" charset="-122"/>
                </a:rPr>
                <a:t>片段</a:t>
              </a:r>
            </a:p>
          </p:txBody>
        </p:sp>
        <p:sp>
          <p:nvSpPr>
            <p:cNvPr id="210993" name="Text Box 28">
              <a:extLst>
                <a:ext uri="{FF2B5EF4-FFF2-40B4-BE49-F238E27FC236}">
                  <a16:creationId xmlns:a16="http://schemas.microsoft.com/office/drawing/2014/main" id="{583BD04C-887B-5842-AB00-A0007B83D450}"/>
                </a:ext>
              </a:extLst>
            </p:cNvPr>
            <p:cNvSpPr txBox="1">
              <a:spLocks noChangeArrowheads="1"/>
            </p:cNvSpPr>
            <p:nvPr/>
          </p:nvSpPr>
          <p:spPr bwMode="auto">
            <a:xfrm>
              <a:off x="4678" y="1474"/>
              <a:ext cx="7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用户程序</a:t>
              </a:r>
              <a:r>
                <a:rPr kumimoji="1" lang="en-US" altLang="zh-CN" sz="1800" b="1">
                  <a:solidFill>
                    <a:srgbClr val="CC0000"/>
                  </a:solidFill>
                  <a:ea typeface="黑体" panose="02010609060101010101" pitchFamily="49" charset="-122"/>
                </a:rPr>
                <a:t>k</a:t>
              </a:r>
              <a:r>
                <a:rPr kumimoji="1" lang="zh-CN" altLang="en-US" sz="1800" b="1">
                  <a:solidFill>
                    <a:srgbClr val="CC0000"/>
                  </a:solidFill>
                  <a:ea typeface="黑体" panose="02010609060101010101" pitchFamily="49" charset="-122"/>
                </a:rPr>
                <a:t>片段</a:t>
              </a:r>
            </a:p>
          </p:txBody>
        </p:sp>
        <p:sp>
          <p:nvSpPr>
            <p:cNvPr id="210994" name="Text Box 29">
              <a:extLst>
                <a:ext uri="{FF2B5EF4-FFF2-40B4-BE49-F238E27FC236}">
                  <a16:creationId xmlns:a16="http://schemas.microsoft.com/office/drawing/2014/main" id="{65EA5A3F-7554-AB43-AD36-F99C48831509}"/>
                </a:ext>
              </a:extLst>
            </p:cNvPr>
            <p:cNvSpPr txBox="1">
              <a:spLocks noChangeArrowheads="1"/>
            </p:cNvSpPr>
            <p:nvPr/>
          </p:nvSpPr>
          <p:spPr bwMode="auto">
            <a:xfrm>
              <a:off x="4684" y="1282"/>
              <a:ext cx="76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CC0000"/>
                  </a:solidFill>
                  <a:ea typeface="黑体" panose="02010609060101010101" pitchFamily="49" charset="-122"/>
                </a:rPr>
                <a:t>操作系统程序</a:t>
              </a:r>
            </a:p>
          </p:txBody>
        </p:sp>
        <p:sp>
          <p:nvSpPr>
            <p:cNvPr id="210995" name="Line 30">
              <a:extLst>
                <a:ext uri="{FF2B5EF4-FFF2-40B4-BE49-F238E27FC236}">
                  <a16:creationId xmlns:a16="http://schemas.microsoft.com/office/drawing/2014/main" id="{CECAA33F-8607-5244-8303-1776F363663F}"/>
                </a:ext>
              </a:extLst>
            </p:cNvPr>
            <p:cNvSpPr>
              <a:spLocks noChangeShapeType="1"/>
            </p:cNvSpPr>
            <p:nvPr/>
          </p:nvSpPr>
          <p:spPr bwMode="auto">
            <a:xfrm flipV="1">
              <a:off x="4871" y="1961"/>
              <a:ext cx="306" cy="0"/>
            </a:xfrm>
            <a:prstGeom prst="line">
              <a:avLst/>
            </a:prstGeom>
            <a:noFill/>
            <a:ln w="28575">
              <a:solidFill>
                <a:srgbClr val="CC0000"/>
              </a:solidFill>
              <a:prstDash val="sysDot"/>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sp>
        <p:nvSpPr>
          <p:cNvPr id="167967" name="Text Box 33">
            <a:extLst>
              <a:ext uri="{FF2B5EF4-FFF2-40B4-BE49-F238E27FC236}">
                <a16:creationId xmlns:a16="http://schemas.microsoft.com/office/drawing/2014/main" id="{CB303A10-C2E1-5349-9EEE-CBA2DD261687}"/>
              </a:ext>
            </a:extLst>
          </p:cNvPr>
          <p:cNvSpPr txBox="1">
            <a:spLocks noChangeArrowheads="1"/>
          </p:cNvSpPr>
          <p:nvPr/>
        </p:nvSpPr>
        <p:spPr bwMode="auto">
          <a:xfrm>
            <a:off x="6867525" y="279400"/>
            <a:ext cx="1979613"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latin typeface="微软雅黑" panose="020B0503020204020204" pitchFamily="34" charset="-122"/>
                <a:ea typeface="微软雅黑" panose="020B0503020204020204" pitchFamily="34" charset="-122"/>
              </a:rPr>
              <a:t>通过页表建立虚拟空间和物理空间之间的映射</a:t>
            </a:r>
            <a:r>
              <a:rPr kumimoji="1" lang="en-US" altLang="zh-CN" sz="2000" b="1">
                <a:latin typeface="微软雅黑" panose="020B0503020204020204" pitchFamily="34" charset="-122"/>
                <a:ea typeface="微软雅黑" panose="020B0503020204020204" pitchFamily="34" charset="-122"/>
              </a:rPr>
              <a:t>!</a:t>
            </a:r>
          </a:p>
        </p:txBody>
      </p:sp>
      <p:sp>
        <p:nvSpPr>
          <p:cNvPr id="210959" name="Text Box 34">
            <a:extLst>
              <a:ext uri="{FF2B5EF4-FFF2-40B4-BE49-F238E27FC236}">
                <a16:creationId xmlns:a16="http://schemas.microsoft.com/office/drawing/2014/main" id="{4077DBC9-F171-2A4F-8C2E-778B3612B284}"/>
              </a:ext>
            </a:extLst>
          </p:cNvPr>
          <p:cNvSpPr txBox="1">
            <a:spLocks noChangeArrowheads="1"/>
          </p:cNvSpPr>
          <p:nvPr/>
        </p:nvSpPr>
        <p:spPr bwMode="auto">
          <a:xfrm>
            <a:off x="57150" y="1112838"/>
            <a:ext cx="17430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0000FF"/>
                </a:solidFill>
                <a:ea typeface="黑体" panose="02010609060101010101" pitchFamily="49" charset="-122"/>
              </a:rPr>
              <a:t>虚拟</a:t>
            </a:r>
            <a:r>
              <a:rPr kumimoji="1" lang="en-US" altLang="zh-CN" sz="1800" b="1">
                <a:solidFill>
                  <a:srgbClr val="0000FF"/>
                </a:solidFill>
                <a:ea typeface="黑体" panose="02010609060101010101" pitchFamily="49" charset="-122"/>
              </a:rPr>
              <a:t>(</a:t>
            </a:r>
            <a:r>
              <a:rPr kumimoji="1" lang="zh-CN" altLang="en-US" sz="1800" b="1">
                <a:solidFill>
                  <a:srgbClr val="0000FF"/>
                </a:solidFill>
                <a:ea typeface="黑体" panose="02010609060101010101" pitchFamily="49" charset="-122"/>
              </a:rPr>
              <a:t>逻辑</a:t>
            </a:r>
            <a:r>
              <a:rPr kumimoji="1" lang="en-US" altLang="zh-CN" sz="1800" b="1">
                <a:solidFill>
                  <a:srgbClr val="0000FF"/>
                </a:solidFill>
                <a:ea typeface="黑体" panose="02010609060101010101" pitchFamily="49" charset="-122"/>
              </a:rPr>
              <a:t>)</a:t>
            </a:r>
            <a:r>
              <a:rPr kumimoji="1" lang="zh-CN" altLang="en-US" sz="1800" b="1">
                <a:solidFill>
                  <a:srgbClr val="0000FF"/>
                </a:solidFill>
                <a:ea typeface="黑体" panose="02010609060101010101" pitchFamily="49" charset="-122"/>
              </a:rPr>
              <a:t>空间</a:t>
            </a:r>
          </a:p>
        </p:txBody>
      </p:sp>
      <p:grpSp>
        <p:nvGrpSpPr>
          <p:cNvPr id="4" name="Group 45">
            <a:extLst>
              <a:ext uri="{FF2B5EF4-FFF2-40B4-BE49-F238E27FC236}">
                <a16:creationId xmlns:a16="http://schemas.microsoft.com/office/drawing/2014/main" id="{F824B1F3-E1E6-0C48-A072-6540288523B5}"/>
              </a:ext>
            </a:extLst>
          </p:cNvPr>
          <p:cNvGrpSpPr>
            <a:grpSpLocks/>
          </p:cNvGrpSpPr>
          <p:nvPr/>
        </p:nvGrpSpPr>
        <p:grpSpPr bwMode="auto">
          <a:xfrm>
            <a:off x="3914775" y="2971800"/>
            <a:ext cx="3429000" cy="1200150"/>
            <a:chOff x="2466" y="1872"/>
            <a:chExt cx="2160" cy="756"/>
          </a:xfrm>
        </p:grpSpPr>
        <p:sp>
          <p:nvSpPr>
            <p:cNvPr id="210983" name="Line 37">
              <a:extLst>
                <a:ext uri="{FF2B5EF4-FFF2-40B4-BE49-F238E27FC236}">
                  <a16:creationId xmlns:a16="http://schemas.microsoft.com/office/drawing/2014/main" id="{FD79693A-4EDD-9D4C-AA77-C26B4D4C87C5}"/>
                </a:ext>
              </a:extLst>
            </p:cNvPr>
            <p:cNvSpPr>
              <a:spLocks noChangeShapeType="1"/>
            </p:cNvSpPr>
            <p:nvPr/>
          </p:nvSpPr>
          <p:spPr bwMode="auto">
            <a:xfrm flipV="1">
              <a:off x="2466" y="1872"/>
              <a:ext cx="2160" cy="756"/>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84" name="Text Box 38">
              <a:extLst>
                <a:ext uri="{FF2B5EF4-FFF2-40B4-BE49-F238E27FC236}">
                  <a16:creationId xmlns:a16="http://schemas.microsoft.com/office/drawing/2014/main" id="{CCB9C2B9-4D4F-864C-9DF3-7DC548E3F77F}"/>
                </a:ext>
              </a:extLst>
            </p:cNvPr>
            <p:cNvSpPr txBox="1">
              <a:spLocks noChangeArrowheads="1"/>
            </p:cNvSpPr>
            <p:nvPr/>
          </p:nvSpPr>
          <p:spPr bwMode="auto">
            <a:xfrm rot="-1136569">
              <a:off x="2752" y="2049"/>
              <a:ext cx="168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b="1">
                  <a:ea typeface="宋体" panose="02010600030101010101" pitchFamily="2" charset="-122"/>
                </a:rPr>
                <a:t>仅装入当前所需的代码和数据</a:t>
              </a:r>
            </a:p>
          </p:txBody>
        </p:sp>
      </p:grpSp>
      <p:grpSp>
        <p:nvGrpSpPr>
          <p:cNvPr id="5" name="Group 46">
            <a:extLst>
              <a:ext uri="{FF2B5EF4-FFF2-40B4-BE49-F238E27FC236}">
                <a16:creationId xmlns:a16="http://schemas.microsoft.com/office/drawing/2014/main" id="{C1E9828B-5F6A-714D-9157-769200E72E9A}"/>
              </a:ext>
            </a:extLst>
          </p:cNvPr>
          <p:cNvGrpSpPr>
            <a:grpSpLocks/>
          </p:cNvGrpSpPr>
          <p:nvPr/>
        </p:nvGrpSpPr>
        <p:grpSpPr bwMode="auto">
          <a:xfrm>
            <a:off x="3910013" y="4338638"/>
            <a:ext cx="900112" cy="538162"/>
            <a:chOff x="2463" y="2733"/>
            <a:chExt cx="567" cy="339"/>
          </a:xfrm>
        </p:grpSpPr>
        <p:sp>
          <p:nvSpPr>
            <p:cNvPr id="210981" name="Line 35">
              <a:extLst>
                <a:ext uri="{FF2B5EF4-FFF2-40B4-BE49-F238E27FC236}">
                  <a16:creationId xmlns:a16="http://schemas.microsoft.com/office/drawing/2014/main" id="{81566DA7-A4E0-2B49-9595-C182169829CB}"/>
                </a:ext>
              </a:extLst>
            </p:cNvPr>
            <p:cNvSpPr>
              <a:spLocks noChangeShapeType="1"/>
            </p:cNvSpPr>
            <p:nvPr/>
          </p:nvSpPr>
          <p:spPr bwMode="auto">
            <a:xfrm>
              <a:off x="2472" y="2772"/>
              <a:ext cx="462" cy="300"/>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82" name="Text Box 39">
              <a:extLst>
                <a:ext uri="{FF2B5EF4-FFF2-40B4-BE49-F238E27FC236}">
                  <a16:creationId xmlns:a16="http://schemas.microsoft.com/office/drawing/2014/main" id="{64F094DF-DE17-F944-B8DA-DC1D2BB85C55}"/>
                </a:ext>
              </a:extLst>
            </p:cNvPr>
            <p:cNvSpPr txBox="1">
              <a:spLocks noChangeArrowheads="1"/>
            </p:cNvSpPr>
            <p:nvPr/>
          </p:nvSpPr>
          <p:spPr bwMode="auto">
            <a:xfrm rot="1844339">
              <a:off x="2463" y="2733"/>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b="1">
                  <a:ea typeface="宋体" panose="02010600030101010101" pitchFamily="2" charset="-122"/>
                </a:rPr>
                <a:t>存储全部</a:t>
              </a:r>
            </a:p>
          </p:txBody>
        </p:sp>
      </p:grpSp>
      <p:sp>
        <p:nvSpPr>
          <p:cNvPr id="210962" name="Rectangle 40">
            <a:extLst>
              <a:ext uri="{FF2B5EF4-FFF2-40B4-BE49-F238E27FC236}">
                <a16:creationId xmlns:a16="http://schemas.microsoft.com/office/drawing/2014/main" id="{08C78AEA-E8BC-8D46-B287-AD624D7842F9}"/>
              </a:ext>
            </a:extLst>
          </p:cNvPr>
          <p:cNvSpPr>
            <a:spLocks noChangeArrowheads="1"/>
          </p:cNvSpPr>
          <p:nvPr/>
        </p:nvSpPr>
        <p:spPr bwMode="auto">
          <a:xfrm>
            <a:off x="161925" y="3833813"/>
            <a:ext cx="1295400" cy="1857375"/>
          </a:xfrm>
          <a:prstGeom prst="rect">
            <a:avLst/>
          </a:prstGeom>
          <a:solidFill>
            <a:srgbClr val="99CC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10963" name="Rectangle 41">
            <a:extLst>
              <a:ext uri="{FF2B5EF4-FFF2-40B4-BE49-F238E27FC236}">
                <a16:creationId xmlns:a16="http://schemas.microsoft.com/office/drawing/2014/main" id="{49A98E11-1E5D-CF49-91B7-18FEEC219C24}"/>
              </a:ext>
            </a:extLst>
          </p:cNvPr>
          <p:cNvSpPr>
            <a:spLocks noChangeArrowheads="1"/>
          </p:cNvSpPr>
          <p:nvPr/>
        </p:nvSpPr>
        <p:spPr bwMode="auto">
          <a:xfrm>
            <a:off x="2546350" y="2889250"/>
            <a:ext cx="1314450" cy="2819400"/>
          </a:xfrm>
          <a:prstGeom prst="rect">
            <a:avLst/>
          </a:prstGeom>
          <a:solidFill>
            <a:srgbClr val="99CC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grpSp>
        <p:nvGrpSpPr>
          <p:cNvPr id="6" name="Group 47">
            <a:extLst>
              <a:ext uri="{FF2B5EF4-FFF2-40B4-BE49-F238E27FC236}">
                <a16:creationId xmlns:a16="http://schemas.microsoft.com/office/drawing/2014/main" id="{D142EA54-F69B-684F-AEFC-77BC2FF0519E}"/>
              </a:ext>
            </a:extLst>
          </p:cNvPr>
          <p:cNvGrpSpPr>
            <a:grpSpLocks/>
          </p:cNvGrpSpPr>
          <p:nvPr/>
        </p:nvGrpSpPr>
        <p:grpSpPr bwMode="auto">
          <a:xfrm>
            <a:off x="7305675" y="3014663"/>
            <a:ext cx="1104900" cy="2678112"/>
            <a:chOff x="4602" y="1899"/>
            <a:chExt cx="696" cy="1687"/>
          </a:xfrm>
        </p:grpSpPr>
        <p:sp>
          <p:nvSpPr>
            <p:cNvPr id="210979" name="Line 42">
              <a:extLst>
                <a:ext uri="{FF2B5EF4-FFF2-40B4-BE49-F238E27FC236}">
                  <a16:creationId xmlns:a16="http://schemas.microsoft.com/office/drawing/2014/main" id="{AC3E5B0C-5BA8-5942-A7C3-8D6B213D72C9}"/>
                </a:ext>
              </a:extLst>
            </p:cNvPr>
            <p:cNvSpPr>
              <a:spLocks noChangeShapeType="1"/>
            </p:cNvSpPr>
            <p:nvPr/>
          </p:nvSpPr>
          <p:spPr bwMode="auto">
            <a:xfrm flipV="1">
              <a:off x="4602" y="2232"/>
              <a:ext cx="696" cy="129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10980" name="Text Box 43">
              <a:extLst>
                <a:ext uri="{FF2B5EF4-FFF2-40B4-BE49-F238E27FC236}">
                  <a16:creationId xmlns:a16="http://schemas.microsoft.com/office/drawing/2014/main" id="{F529BAF9-4223-E440-8A48-5DB457C9C5A5}"/>
                </a:ext>
              </a:extLst>
            </p:cNvPr>
            <p:cNvSpPr txBox="1">
              <a:spLocks noChangeArrowheads="1"/>
            </p:cNvSpPr>
            <p:nvPr/>
          </p:nvSpPr>
          <p:spPr bwMode="auto">
            <a:xfrm rot="-3707124">
              <a:off x="4317" y="2666"/>
              <a:ext cx="168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b="1">
                  <a:solidFill>
                    <a:srgbClr val="0000FF"/>
                  </a:solidFill>
                  <a:ea typeface="宋体" panose="02010600030101010101" pitchFamily="2" charset="-122"/>
                </a:rPr>
                <a:t>发生缺页时，调入新页</a:t>
              </a:r>
            </a:p>
          </p:txBody>
        </p:sp>
      </p:grpSp>
      <p:sp>
        <p:nvSpPr>
          <p:cNvPr id="210965" name="Text Box 44">
            <a:extLst>
              <a:ext uri="{FF2B5EF4-FFF2-40B4-BE49-F238E27FC236}">
                <a16:creationId xmlns:a16="http://schemas.microsoft.com/office/drawing/2014/main" id="{417353F2-D8C2-2549-A8EF-25C8073A72C4}"/>
              </a:ext>
            </a:extLst>
          </p:cNvPr>
          <p:cNvSpPr txBox="1">
            <a:spLocks noChangeArrowheads="1"/>
          </p:cNvSpPr>
          <p:nvPr/>
        </p:nvSpPr>
        <p:spPr bwMode="auto">
          <a:xfrm>
            <a:off x="2389188" y="1158875"/>
            <a:ext cx="17430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0000FF"/>
                </a:solidFill>
                <a:ea typeface="黑体" panose="02010609060101010101" pitchFamily="49" charset="-122"/>
              </a:rPr>
              <a:t>虚拟</a:t>
            </a:r>
            <a:r>
              <a:rPr kumimoji="1" lang="en-US" altLang="zh-CN" sz="1800" b="1">
                <a:solidFill>
                  <a:srgbClr val="0000FF"/>
                </a:solidFill>
                <a:ea typeface="黑体" panose="02010609060101010101" pitchFamily="49" charset="-122"/>
              </a:rPr>
              <a:t>(</a:t>
            </a:r>
            <a:r>
              <a:rPr kumimoji="1" lang="zh-CN" altLang="en-US" sz="1800" b="1">
                <a:solidFill>
                  <a:srgbClr val="0000FF"/>
                </a:solidFill>
                <a:ea typeface="黑体" panose="02010609060101010101" pitchFamily="49" charset="-122"/>
              </a:rPr>
              <a:t>逻辑</a:t>
            </a:r>
            <a:r>
              <a:rPr kumimoji="1" lang="en-US" altLang="zh-CN" sz="1800" b="1">
                <a:solidFill>
                  <a:srgbClr val="0000FF"/>
                </a:solidFill>
                <a:ea typeface="黑体" panose="02010609060101010101" pitchFamily="49" charset="-122"/>
              </a:rPr>
              <a:t>)</a:t>
            </a:r>
            <a:r>
              <a:rPr kumimoji="1" lang="zh-CN" altLang="en-US" sz="1800" b="1">
                <a:solidFill>
                  <a:srgbClr val="0000FF"/>
                </a:solidFill>
                <a:ea typeface="黑体" panose="02010609060101010101" pitchFamily="49" charset="-122"/>
              </a:rPr>
              <a:t>空间</a:t>
            </a:r>
          </a:p>
        </p:txBody>
      </p:sp>
      <p:sp>
        <p:nvSpPr>
          <p:cNvPr id="167958" name="Text Box 51">
            <a:extLst>
              <a:ext uri="{FF2B5EF4-FFF2-40B4-BE49-F238E27FC236}">
                <a16:creationId xmlns:a16="http://schemas.microsoft.com/office/drawing/2014/main" id="{5683F314-A394-D442-A350-4BA6C4FE78B7}"/>
              </a:ext>
            </a:extLst>
          </p:cNvPr>
          <p:cNvSpPr txBox="1">
            <a:spLocks noChangeArrowheads="1"/>
          </p:cNvSpPr>
          <p:nvPr/>
        </p:nvSpPr>
        <p:spPr bwMode="auto">
          <a:xfrm>
            <a:off x="2495550" y="6381750"/>
            <a:ext cx="18859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i="1">
                <a:solidFill>
                  <a:srgbClr val="666699"/>
                </a:solidFill>
                <a:ea typeface="华文新魏" panose="02010800040101010101" pitchFamily="2" charset="-122"/>
                <a:hlinkClick r:id="" action="ppaction://hlinkshowjump?jump=previousslide"/>
              </a:rPr>
              <a:t>BACK</a:t>
            </a:r>
            <a:endParaRPr kumimoji="1" lang="en-US" altLang="zh-CN" sz="1800" b="1" i="1">
              <a:solidFill>
                <a:srgbClr val="666699"/>
              </a:solidFill>
              <a:ea typeface="华文新魏" panose="02010800040101010101" pitchFamily="2" charset="-122"/>
            </a:endParaRPr>
          </a:p>
        </p:txBody>
      </p:sp>
      <p:grpSp>
        <p:nvGrpSpPr>
          <p:cNvPr id="7" name="组合 61">
            <a:extLst>
              <a:ext uri="{FF2B5EF4-FFF2-40B4-BE49-F238E27FC236}">
                <a16:creationId xmlns:a16="http://schemas.microsoft.com/office/drawing/2014/main" id="{DF67CBA9-ED67-6E47-813D-88FEE9788164}"/>
              </a:ext>
            </a:extLst>
          </p:cNvPr>
          <p:cNvGrpSpPr>
            <a:grpSpLocks/>
          </p:cNvGrpSpPr>
          <p:nvPr/>
        </p:nvGrpSpPr>
        <p:grpSpPr bwMode="auto">
          <a:xfrm>
            <a:off x="1466850" y="1228725"/>
            <a:ext cx="5607050" cy="3143250"/>
            <a:chOff x="1466655" y="1228725"/>
            <a:chExt cx="5607870" cy="3143896"/>
          </a:xfrm>
        </p:grpSpPr>
        <p:sp>
          <p:nvSpPr>
            <p:cNvPr id="210974" name="Text Box 32">
              <a:extLst>
                <a:ext uri="{FF2B5EF4-FFF2-40B4-BE49-F238E27FC236}">
                  <a16:creationId xmlns:a16="http://schemas.microsoft.com/office/drawing/2014/main" id="{EA7539A7-C3BF-3445-960F-C03F1047CC89}"/>
                </a:ext>
              </a:extLst>
            </p:cNvPr>
            <p:cNvSpPr txBox="1">
              <a:spLocks noChangeArrowheads="1"/>
            </p:cNvSpPr>
            <p:nvPr/>
          </p:nvSpPr>
          <p:spPr bwMode="auto">
            <a:xfrm>
              <a:off x="4838700" y="1228725"/>
              <a:ext cx="1114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spcBef>
                  <a:spcPct val="50000"/>
                </a:spcBef>
              </a:pPr>
              <a:r>
                <a:rPr kumimoji="1" lang="zh-CN" altLang="en-US" sz="1800" b="1">
                  <a:solidFill>
                    <a:srgbClr val="0000FF"/>
                  </a:solidFill>
                  <a:ea typeface="黑体" panose="02010609060101010101" pitchFamily="49" charset="-122"/>
                </a:rPr>
                <a:t>页表</a:t>
              </a:r>
              <a:r>
                <a:rPr kumimoji="1" lang="en-US" altLang="zh-CN" sz="1800" b="1">
                  <a:solidFill>
                    <a:srgbClr val="0000FF"/>
                  </a:solidFill>
                  <a:ea typeface="黑体" panose="02010609060101010101" pitchFamily="49" charset="-122"/>
                </a:rPr>
                <a:t>1</a:t>
              </a:r>
            </a:p>
          </p:txBody>
        </p:sp>
        <p:grpSp>
          <p:nvGrpSpPr>
            <p:cNvPr id="210975" name="组合 59">
              <a:extLst>
                <a:ext uri="{FF2B5EF4-FFF2-40B4-BE49-F238E27FC236}">
                  <a16:creationId xmlns:a16="http://schemas.microsoft.com/office/drawing/2014/main" id="{2204B558-D9EE-D34E-A678-0DE28A5F8F19}"/>
                </a:ext>
              </a:extLst>
            </p:cNvPr>
            <p:cNvGrpSpPr>
              <a:grpSpLocks/>
            </p:cNvGrpSpPr>
            <p:nvPr/>
          </p:nvGrpSpPr>
          <p:grpSpPr bwMode="auto">
            <a:xfrm>
              <a:off x="1466655" y="1628800"/>
              <a:ext cx="5607870" cy="2743821"/>
              <a:chOff x="1466655" y="1628800"/>
              <a:chExt cx="5607870" cy="2743821"/>
            </a:xfrm>
          </p:grpSpPr>
          <p:sp>
            <p:nvSpPr>
              <p:cNvPr id="210976" name="Rectangle 31">
                <a:extLst>
                  <a:ext uri="{FF2B5EF4-FFF2-40B4-BE49-F238E27FC236}">
                    <a16:creationId xmlns:a16="http://schemas.microsoft.com/office/drawing/2014/main" id="{012C88B5-68F5-1E42-BD7F-4B1467DDBD9E}"/>
                  </a:ext>
                </a:extLst>
              </p:cNvPr>
              <p:cNvSpPr>
                <a:spLocks noChangeArrowheads="1"/>
              </p:cNvSpPr>
              <p:nvPr/>
            </p:nvSpPr>
            <p:spPr bwMode="auto">
              <a:xfrm>
                <a:off x="4707015" y="1628800"/>
                <a:ext cx="1504950" cy="276999"/>
              </a:xfrm>
              <a:prstGeom prst="rect">
                <a:avLst/>
              </a:prstGeom>
              <a:solidFill>
                <a:srgbClr val="FFFFFF"/>
              </a:solidFill>
              <a:ln w="19050">
                <a:solidFill>
                  <a:srgbClr val="CC0000"/>
                </a:solidFill>
                <a:miter lim="800000"/>
                <a:headEnd/>
                <a:tailEnd/>
              </a:ln>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cxnSp>
            <p:nvCxnSpPr>
              <p:cNvPr id="210977" name="直接箭头连接符 50">
                <a:extLst>
                  <a:ext uri="{FF2B5EF4-FFF2-40B4-BE49-F238E27FC236}">
                    <a16:creationId xmlns:a16="http://schemas.microsoft.com/office/drawing/2014/main" id="{85DD6B0A-F3E2-EE4B-9FBC-D41864DF062F}"/>
                  </a:ext>
                </a:extLst>
              </p:cNvPr>
              <p:cNvCxnSpPr>
                <a:cxnSpLocks noChangeShapeType="1"/>
                <a:stCxn id="210976" idx="3"/>
                <a:endCxn id="210986" idx="1"/>
              </p:cNvCxnSpPr>
              <p:nvPr/>
            </p:nvCxnSpPr>
            <p:spPr bwMode="auto">
              <a:xfrm>
                <a:off x="6211965" y="1767300"/>
                <a:ext cx="862560" cy="1009238"/>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10978" name="直接箭头连接符 55">
                <a:extLst>
                  <a:ext uri="{FF2B5EF4-FFF2-40B4-BE49-F238E27FC236}">
                    <a16:creationId xmlns:a16="http://schemas.microsoft.com/office/drawing/2014/main" id="{5D7B460A-71A1-294C-9C33-96D668443AAC}"/>
                  </a:ext>
                </a:extLst>
              </p:cNvPr>
              <p:cNvCxnSpPr>
                <a:cxnSpLocks noChangeShapeType="1"/>
                <a:endCxn id="210976" idx="1"/>
              </p:cNvCxnSpPr>
              <p:nvPr/>
            </p:nvCxnSpPr>
            <p:spPr bwMode="auto">
              <a:xfrm flipV="1">
                <a:off x="1466655" y="1767300"/>
                <a:ext cx="3240360" cy="2605321"/>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grpSp>
      </p:grpSp>
      <p:grpSp>
        <p:nvGrpSpPr>
          <p:cNvPr id="9" name="组合 62">
            <a:extLst>
              <a:ext uri="{FF2B5EF4-FFF2-40B4-BE49-F238E27FC236}">
                <a16:creationId xmlns:a16="http://schemas.microsoft.com/office/drawing/2014/main" id="{1FDA6E1E-364D-6C4F-A601-996AF2351ECB}"/>
              </a:ext>
            </a:extLst>
          </p:cNvPr>
          <p:cNvGrpSpPr>
            <a:grpSpLocks/>
          </p:cNvGrpSpPr>
          <p:nvPr/>
        </p:nvGrpSpPr>
        <p:grpSpPr bwMode="auto">
          <a:xfrm>
            <a:off x="3897313" y="2214563"/>
            <a:ext cx="3149600" cy="1257300"/>
            <a:chOff x="3896925" y="2213865"/>
            <a:chExt cx="3150350" cy="1258656"/>
          </a:xfrm>
        </p:grpSpPr>
        <p:sp>
          <p:nvSpPr>
            <p:cNvPr id="210969" name="Text Box 32">
              <a:extLst>
                <a:ext uri="{FF2B5EF4-FFF2-40B4-BE49-F238E27FC236}">
                  <a16:creationId xmlns:a16="http://schemas.microsoft.com/office/drawing/2014/main" id="{DE78A9A3-CE5E-8F4F-AC4A-7206EE065097}"/>
                </a:ext>
              </a:extLst>
            </p:cNvPr>
            <p:cNvSpPr txBox="1">
              <a:spLocks noChangeArrowheads="1"/>
            </p:cNvSpPr>
            <p:nvPr/>
          </p:nvSpPr>
          <p:spPr bwMode="auto">
            <a:xfrm>
              <a:off x="4613675" y="2213865"/>
              <a:ext cx="1114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spcBef>
                  <a:spcPct val="50000"/>
                </a:spcBef>
              </a:pPr>
              <a:r>
                <a:rPr kumimoji="1" lang="zh-CN" altLang="en-US" sz="1800" b="1">
                  <a:solidFill>
                    <a:srgbClr val="0000FF"/>
                  </a:solidFill>
                  <a:ea typeface="黑体" panose="02010609060101010101" pitchFamily="49" charset="-122"/>
                </a:rPr>
                <a:t>页表</a:t>
              </a:r>
              <a:r>
                <a:rPr kumimoji="1" lang="en-US" altLang="zh-CN" sz="1800" b="1">
                  <a:solidFill>
                    <a:srgbClr val="0000FF"/>
                  </a:solidFill>
                  <a:ea typeface="黑体" panose="02010609060101010101" pitchFamily="49" charset="-122"/>
                </a:rPr>
                <a:t>k</a:t>
              </a:r>
            </a:p>
          </p:txBody>
        </p:sp>
        <p:grpSp>
          <p:nvGrpSpPr>
            <p:cNvPr id="210970" name="组合 60">
              <a:extLst>
                <a:ext uri="{FF2B5EF4-FFF2-40B4-BE49-F238E27FC236}">
                  <a16:creationId xmlns:a16="http://schemas.microsoft.com/office/drawing/2014/main" id="{8297EB85-0CA2-364D-A77E-2487C04D5EB5}"/>
                </a:ext>
              </a:extLst>
            </p:cNvPr>
            <p:cNvGrpSpPr>
              <a:grpSpLocks/>
            </p:cNvGrpSpPr>
            <p:nvPr/>
          </p:nvGrpSpPr>
          <p:grpSpPr bwMode="auto">
            <a:xfrm>
              <a:off x="3896925" y="2483895"/>
              <a:ext cx="3150350" cy="988626"/>
              <a:chOff x="3896925" y="2483895"/>
              <a:chExt cx="3150350" cy="988626"/>
            </a:xfrm>
          </p:grpSpPr>
          <p:sp>
            <p:nvSpPr>
              <p:cNvPr id="210971" name="Rectangle 31">
                <a:extLst>
                  <a:ext uri="{FF2B5EF4-FFF2-40B4-BE49-F238E27FC236}">
                    <a16:creationId xmlns:a16="http://schemas.microsoft.com/office/drawing/2014/main" id="{D0C3770D-A96D-964B-B15F-B252E1D5D415}"/>
                  </a:ext>
                </a:extLst>
              </p:cNvPr>
              <p:cNvSpPr>
                <a:spLocks noChangeArrowheads="1"/>
              </p:cNvSpPr>
              <p:nvPr/>
            </p:nvSpPr>
            <p:spPr bwMode="auto">
              <a:xfrm>
                <a:off x="4481990" y="2613940"/>
                <a:ext cx="1504950" cy="276999"/>
              </a:xfrm>
              <a:prstGeom prst="rect">
                <a:avLst/>
              </a:prstGeom>
              <a:solidFill>
                <a:srgbClr val="FFFFFF"/>
              </a:solidFill>
              <a:ln w="19050">
                <a:solidFill>
                  <a:srgbClr val="CC0000"/>
                </a:solidFill>
                <a:miter lim="800000"/>
                <a:headEnd/>
                <a:tailEnd/>
              </a:ln>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cxnSp>
            <p:nvCxnSpPr>
              <p:cNvPr id="210972" name="直接箭头连接符 51">
                <a:extLst>
                  <a:ext uri="{FF2B5EF4-FFF2-40B4-BE49-F238E27FC236}">
                    <a16:creationId xmlns:a16="http://schemas.microsoft.com/office/drawing/2014/main" id="{CD23C35A-499A-D54C-95A0-6B9676F6792D}"/>
                  </a:ext>
                </a:extLst>
              </p:cNvPr>
              <p:cNvCxnSpPr>
                <a:cxnSpLocks noChangeShapeType="1"/>
                <a:stCxn id="210971" idx="3"/>
              </p:cNvCxnSpPr>
              <p:nvPr/>
            </p:nvCxnSpPr>
            <p:spPr bwMode="auto">
              <a:xfrm flipV="1">
                <a:off x="5986940" y="2483895"/>
                <a:ext cx="1060335" cy="268545"/>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10973" name="直接箭头连接符 57">
                <a:extLst>
                  <a:ext uri="{FF2B5EF4-FFF2-40B4-BE49-F238E27FC236}">
                    <a16:creationId xmlns:a16="http://schemas.microsoft.com/office/drawing/2014/main" id="{5DAF50C3-96AC-C349-B8B2-26D877CEE387}"/>
                  </a:ext>
                </a:extLst>
              </p:cNvPr>
              <p:cNvCxnSpPr>
                <a:cxnSpLocks noChangeShapeType="1"/>
                <a:endCxn id="210971" idx="1"/>
              </p:cNvCxnSpPr>
              <p:nvPr/>
            </p:nvCxnSpPr>
            <p:spPr bwMode="auto">
              <a:xfrm flipV="1">
                <a:off x="3896925" y="2752440"/>
                <a:ext cx="585065" cy="720081"/>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7967"/>
                                        </p:tgtEl>
                                        <p:attrNameLst>
                                          <p:attrName>style.visibility</p:attrName>
                                        </p:attrNameLst>
                                      </p:cBhvr>
                                      <p:to>
                                        <p:strVal val="visible"/>
                                      </p:to>
                                    </p:set>
                                    <p:animEffect transition="in" filter="blinds(horizontal)">
                                      <p:cBhvr>
                                        <p:cTn id="32" dur="500"/>
                                        <p:tgtEl>
                                          <p:spTgt spid="1679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7958"/>
                                        </p:tgtEl>
                                        <p:attrNameLst>
                                          <p:attrName>style.visibility</p:attrName>
                                        </p:attrNameLst>
                                      </p:cBhvr>
                                      <p:to>
                                        <p:strVal val="visible"/>
                                      </p:to>
                                    </p:set>
                                    <p:animEffect transition="in" filter="blinds(horizontal)">
                                      <p:cBhvr>
                                        <p:cTn id="47" dur="500"/>
                                        <p:tgtEl>
                                          <p:spTgt spid="167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7" grpId="0" animBg="1"/>
      <p:bldP spid="16795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1970" name="Group 22">
            <a:extLst>
              <a:ext uri="{FF2B5EF4-FFF2-40B4-BE49-F238E27FC236}">
                <a16:creationId xmlns:a16="http://schemas.microsoft.com/office/drawing/2014/main" id="{3D76C186-F4A5-6B44-8070-39803C0294FA}"/>
              </a:ext>
            </a:extLst>
          </p:cNvPr>
          <p:cNvGrpSpPr>
            <a:grpSpLocks/>
          </p:cNvGrpSpPr>
          <p:nvPr/>
        </p:nvGrpSpPr>
        <p:grpSpPr bwMode="auto">
          <a:xfrm>
            <a:off x="3527425" y="49213"/>
            <a:ext cx="5616575" cy="6808787"/>
            <a:chOff x="2044" y="576"/>
            <a:chExt cx="3538" cy="3717"/>
          </a:xfrm>
        </p:grpSpPr>
        <p:sp>
          <p:nvSpPr>
            <p:cNvPr id="211984" name="Text Box 25">
              <a:extLst>
                <a:ext uri="{FF2B5EF4-FFF2-40B4-BE49-F238E27FC236}">
                  <a16:creationId xmlns:a16="http://schemas.microsoft.com/office/drawing/2014/main" id="{29DEFEB2-7B1E-FC41-9C3C-E4750503D7A2}"/>
                </a:ext>
              </a:extLst>
            </p:cNvPr>
            <p:cNvSpPr txBox="1">
              <a:spLocks noChangeArrowheads="1"/>
            </p:cNvSpPr>
            <p:nvPr/>
          </p:nvSpPr>
          <p:spPr bwMode="auto">
            <a:xfrm>
              <a:off x="4990" y="1165"/>
              <a:ext cx="59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800" b="1">
                  <a:latin typeface="微软雅黑" panose="020B0503020204020204" pitchFamily="34" charset="-122"/>
                  <a:ea typeface="微软雅黑" panose="020B0503020204020204" pitchFamily="34" charset="-122"/>
                  <a:cs typeface="msgothic"/>
                </a:rPr>
                <a:t>%esp </a:t>
              </a:r>
            </a:p>
            <a:p>
              <a:pPr>
                <a:lnSpc>
                  <a:spcPct val="98000"/>
                </a:lnSpc>
              </a:pPr>
              <a:r>
                <a:rPr lang="en-GB" altLang="zh-CN" sz="1800" b="1">
                  <a:latin typeface="微软雅黑" panose="020B0503020204020204" pitchFamily="34" charset="-122"/>
                  <a:ea typeface="微软雅黑" panose="020B0503020204020204" pitchFamily="34" charset="-122"/>
                  <a:cs typeface="msgothic"/>
                </a:rPr>
                <a:t>(</a:t>
              </a:r>
              <a:r>
                <a:rPr lang="zh-CN" altLang="en-GB" sz="1800" b="1">
                  <a:latin typeface="微软雅黑" panose="020B0503020204020204" pitchFamily="34" charset="-122"/>
                  <a:ea typeface="微软雅黑" panose="020B0503020204020204" pitchFamily="34" charset="-122"/>
                  <a:cs typeface="msgothic"/>
                </a:rPr>
                <a:t>栈顶</a:t>
              </a:r>
              <a:r>
                <a:rPr lang="en-GB" altLang="zh-CN" sz="1800" b="1">
                  <a:latin typeface="微软雅黑" panose="020B0503020204020204" pitchFamily="34" charset="-122"/>
                  <a:ea typeface="微软雅黑" panose="020B0503020204020204" pitchFamily="34" charset="-122"/>
                  <a:cs typeface="msgothic"/>
                </a:rPr>
                <a:t>)</a:t>
              </a:r>
            </a:p>
          </p:txBody>
        </p:sp>
        <p:sp>
          <p:nvSpPr>
            <p:cNvPr id="211985" name="Line 26">
              <a:extLst>
                <a:ext uri="{FF2B5EF4-FFF2-40B4-BE49-F238E27FC236}">
                  <a16:creationId xmlns:a16="http://schemas.microsoft.com/office/drawing/2014/main" id="{F8E77D27-DC4C-E449-93B9-21E8F5978CE5}"/>
                </a:ext>
              </a:extLst>
            </p:cNvPr>
            <p:cNvSpPr>
              <a:spLocks noChangeShapeType="1"/>
            </p:cNvSpPr>
            <p:nvPr/>
          </p:nvSpPr>
          <p:spPr bwMode="auto">
            <a:xfrm flipH="1">
              <a:off x="4751" y="1271"/>
              <a:ext cx="242" cy="1"/>
            </a:xfrm>
            <a:prstGeom prst="line">
              <a:avLst/>
            </a:prstGeom>
            <a:noFill/>
            <a:ln w="3240">
              <a:solidFill>
                <a:srgbClr val="000066"/>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1986" name="Line 28">
              <a:extLst>
                <a:ext uri="{FF2B5EF4-FFF2-40B4-BE49-F238E27FC236}">
                  <a16:creationId xmlns:a16="http://schemas.microsoft.com/office/drawing/2014/main" id="{73C09BF5-BC96-4640-B865-4D04F3F41F2D}"/>
                </a:ext>
              </a:extLst>
            </p:cNvPr>
            <p:cNvSpPr>
              <a:spLocks noChangeShapeType="1"/>
            </p:cNvSpPr>
            <p:nvPr/>
          </p:nvSpPr>
          <p:spPr bwMode="auto">
            <a:xfrm flipV="1">
              <a:off x="4797" y="576"/>
              <a:ext cx="1" cy="290"/>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1987" name="Text Box 29">
              <a:extLst>
                <a:ext uri="{FF2B5EF4-FFF2-40B4-BE49-F238E27FC236}">
                  <a16:creationId xmlns:a16="http://schemas.microsoft.com/office/drawing/2014/main" id="{1E41C532-1FC2-7C48-8C1C-8A6E8F9AE9CF}"/>
                </a:ext>
              </a:extLst>
            </p:cNvPr>
            <p:cNvSpPr txBox="1">
              <a:spLocks noChangeArrowheads="1"/>
            </p:cNvSpPr>
            <p:nvPr/>
          </p:nvSpPr>
          <p:spPr bwMode="auto">
            <a:xfrm>
              <a:off x="5005" y="2566"/>
              <a:ext cx="37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900" b="1">
                  <a:latin typeface="微软雅黑" panose="020B0503020204020204" pitchFamily="34" charset="-122"/>
                  <a:ea typeface="微软雅黑" panose="020B0503020204020204" pitchFamily="34" charset="-122"/>
                  <a:cs typeface="msgothic"/>
                </a:rPr>
                <a:t>brk</a:t>
              </a:r>
            </a:p>
          </p:txBody>
        </p:sp>
        <p:sp>
          <p:nvSpPr>
            <p:cNvPr id="211988" name="Line 30">
              <a:extLst>
                <a:ext uri="{FF2B5EF4-FFF2-40B4-BE49-F238E27FC236}">
                  <a16:creationId xmlns:a16="http://schemas.microsoft.com/office/drawing/2014/main" id="{F1998E26-CC3E-1547-A61C-BBCC5A696C70}"/>
                </a:ext>
              </a:extLst>
            </p:cNvPr>
            <p:cNvSpPr>
              <a:spLocks noChangeShapeType="1"/>
            </p:cNvSpPr>
            <p:nvPr/>
          </p:nvSpPr>
          <p:spPr bwMode="auto">
            <a:xfrm flipH="1">
              <a:off x="4763" y="2671"/>
              <a:ext cx="242" cy="1"/>
            </a:xfrm>
            <a:prstGeom prst="line">
              <a:avLst/>
            </a:prstGeom>
            <a:noFill/>
            <a:ln w="3240">
              <a:solidFill>
                <a:srgbClr val="000066"/>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1989" name="Text Box 31">
              <a:extLst>
                <a:ext uri="{FF2B5EF4-FFF2-40B4-BE49-F238E27FC236}">
                  <a16:creationId xmlns:a16="http://schemas.microsoft.com/office/drawing/2014/main" id="{CD2D3931-663B-7543-AA23-53C9922E1E7D}"/>
                </a:ext>
              </a:extLst>
            </p:cNvPr>
            <p:cNvSpPr txBox="1">
              <a:spLocks noChangeArrowheads="1"/>
            </p:cNvSpPr>
            <p:nvPr/>
          </p:nvSpPr>
          <p:spPr bwMode="auto">
            <a:xfrm>
              <a:off x="2044" y="750"/>
              <a:ext cx="865"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500" b="1">
                  <a:latin typeface="微软雅黑" panose="020B0503020204020204" pitchFamily="34" charset="-122"/>
                  <a:ea typeface="微软雅黑" panose="020B0503020204020204" pitchFamily="34" charset="-122"/>
                  <a:cs typeface="msgothic"/>
                </a:rPr>
                <a:t>0xC0000000</a:t>
              </a:r>
            </a:p>
          </p:txBody>
        </p:sp>
        <p:sp>
          <p:nvSpPr>
            <p:cNvPr id="211990" name="Text Box 32">
              <a:extLst>
                <a:ext uri="{FF2B5EF4-FFF2-40B4-BE49-F238E27FC236}">
                  <a16:creationId xmlns:a16="http://schemas.microsoft.com/office/drawing/2014/main" id="{2245CBA1-E6F6-8D41-9B31-C49F4856D285}"/>
                </a:ext>
              </a:extLst>
            </p:cNvPr>
            <p:cNvSpPr txBox="1">
              <a:spLocks noChangeArrowheads="1"/>
            </p:cNvSpPr>
            <p:nvPr/>
          </p:nvSpPr>
          <p:spPr bwMode="auto">
            <a:xfrm>
              <a:off x="2083" y="3799"/>
              <a:ext cx="85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500" b="1">
                  <a:latin typeface="微软雅黑" panose="020B0503020204020204" pitchFamily="34" charset="-122"/>
                  <a:ea typeface="微软雅黑" panose="020B0503020204020204" pitchFamily="34" charset="-122"/>
                  <a:cs typeface="msgothic"/>
                </a:rPr>
                <a:t>0x08048000</a:t>
              </a:r>
            </a:p>
          </p:txBody>
        </p:sp>
        <p:grpSp>
          <p:nvGrpSpPr>
            <p:cNvPr id="211991" name="Group 30">
              <a:extLst>
                <a:ext uri="{FF2B5EF4-FFF2-40B4-BE49-F238E27FC236}">
                  <a16:creationId xmlns:a16="http://schemas.microsoft.com/office/drawing/2014/main" id="{95E3A133-0980-8D45-803D-F46EE52BE1FF}"/>
                </a:ext>
              </a:extLst>
            </p:cNvPr>
            <p:cNvGrpSpPr>
              <a:grpSpLocks/>
            </p:cNvGrpSpPr>
            <p:nvPr/>
          </p:nvGrpSpPr>
          <p:grpSpPr bwMode="auto">
            <a:xfrm>
              <a:off x="2767" y="585"/>
              <a:ext cx="1952" cy="3708"/>
              <a:chOff x="2785" y="795"/>
              <a:chExt cx="1924" cy="3490"/>
            </a:xfrm>
          </p:grpSpPr>
          <p:sp>
            <p:nvSpPr>
              <p:cNvPr id="211992" name="Rectangle 14">
                <a:extLst>
                  <a:ext uri="{FF2B5EF4-FFF2-40B4-BE49-F238E27FC236}">
                    <a16:creationId xmlns:a16="http://schemas.microsoft.com/office/drawing/2014/main" id="{676E2D11-6623-3242-8FB9-60BF7FB2C5C2}"/>
                  </a:ext>
                </a:extLst>
              </p:cNvPr>
              <p:cNvSpPr>
                <a:spLocks noChangeArrowheads="1"/>
              </p:cNvSpPr>
              <p:nvPr/>
            </p:nvSpPr>
            <p:spPr bwMode="auto">
              <a:xfrm>
                <a:off x="2952" y="795"/>
                <a:ext cx="1757" cy="307"/>
              </a:xfrm>
              <a:prstGeom prst="rect">
                <a:avLst/>
              </a:prstGeom>
              <a:solidFill>
                <a:srgbClr val="F1C7C7"/>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Kernel virtual memory</a:t>
                </a:r>
              </a:p>
            </p:txBody>
          </p:sp>
          <p:sp>
            <p:nvSpPr>
              <p:cNvPr id="211993" name="Rectangle 15">
                <a:extLst>
                  <a:ext uri="{FF2B5EF4-FFF2-40B4-BE49-F238E27FC236}">
                    <a16:creationId xmlns:a16="http://schemas.microsoft.com/office/drawing/2014/main" id="{EAE93505-F7D4-704A-911B-DACF97F87F91}"/>
                  </a:ext>
                </a:extLst>
              </p:cNvPr>
              <p:cNvSpPr>
                <a:spLocks noChangeArrowheads="1"/>
              </p:cNvSpPr>
              <p:nvPr/>
            </p:nvSpPr>
            <p:spPr bwMode="auto">
              <a:xfrm>
                <a:off x="2952" y="1867"/>
                <a:ext cx="1757" cy="422"/>
              </a:xfrm>
              <a:prstGeom prst="rect">
                <a:avLst/>
              </a:prstGeom>
              <a:solidFill>
                <a:srgbClr val="D5F1CF"/>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Memory-mapped region</a:t>
                </a:r>
              </a:p>
              <a:p>
                <a:pPr algn="ctr">
                  <a:lnSpc>
                    <a:spcPct val="98000"/>
                  </a:lnSpc>
                </a:pPr>
                <a:r>
                  <a:rPr lang="en-GB" altLang="zh-CN" sz="1800" b="1">
                    <a:latin typeface="微软雅黑" panose="020B0503020204020204" pitchFamily="34" charset="-122"/>
                    <a:ea typeface="微软雅黑" panose="020B0503020204020204" pitchFamily="34" charset="-122"/>
                    <a:cs typeface="msgothic"/>
                  </a:rPr>
                  <a:t> for shared</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libraries</a:t>
                </a:r>
              </a:p>
            </p:txBody>
          </p:sp>
          <p:sp>
            <p:nvSpPr>
              <p:cNvPr id="33808" name="Rectangle 16">
                <a:extLst>
                  <a:ext uri="{FF2B5EF4-FFF2-40B4-BE49-F238E27FC236}">
                    <a16:creationId xmlns:a16="http://schemas.microsoft.com/office/drawing/2014/main" id="{FEC18870-4C6F-694B-AE93-01249A8E68B3}"/>
                  </a:ext>
                </a:extLst>
              </p:cNvPr>
              <p:cNvSpPr>
                <a:spLocks noChangeArrowheads="1"/>
              </p:cNvSpPr>
              <p:nvPr/>
            </p:nvSpPr>
            <p:spPr bwMode="auto">
              <a:xfrm>
                <a:off x="2952" y="2286"/>
                <a:ext cx="1757" cy="456"/>
              </a:xfrm>
              <a:prstGeom prst="rect">
                <a:avLst/>
              </a:prstGeom>
              <a:solidFill>
                <a:schemeClr val="bg1">
                  <a:lumMod val="75000"/>
                </a:schemeClr>
              </a:solidFill>
              <a:ln w="3240">
                <a:solidFill>
                  <a:schemeClr val="tx1"/>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11995" name="Rectangle 17">
                <a:extLst>
                  <a:ext uri="{FF2B5EF4-FFF2-40B4-BE49-F238E27FC236}">
                    <a16:creationId xmlns:a16="http://schemas.microsoft.com/office/drawing/2014/main" id="{1364653A-B624-8344-B9DA-7814F667B34C}"/>
                  </a:ext>
                </a:extLst>
              </p:cNvPr>
              <p:cNvSpPr>
                <a:spLocks noChangeArrowheads="1"/>
              </p:cNvSpPr>
              <p:nvPr/>
            </p:nvSpPr>
            <p:spPr bwMode="auto">
              <a:xfrm>
                <a:off x="2952" y="2741"/>
                <a:ext cx="1757" cy="422"/>
              </a:xfrm>
              <a:prstGeom prst="rect">
                <a:avLst/>
              </a:prstGeom>
              <a:solidFill>
                <a:srgbClr val="D5F1CF"/>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Run-time heap</a:t>
                </a:r>
              </a:p>
              <a:p>
                <a:pPr algn="ctr">
                  <a:lnSpc>
                    <a:spcPct val="98000"/>
                  </a:lnSpc>
                </a:pPr>
                <a:r>
                  <a:rPr lang="en-GB" altLang="zh-CN" sz="1800" b="1">
                    <a:latin typeface="微软雅黑" panose="020B0503020204020204" pitchFamily="34" charset="-122"/>
                    <a:ea typeface="微软雅黑" panose="020B0503020204020204" pitchFamily="34" charset="-122"/>
                    <a:cs typeface="msgothic"/>
                  </a:rPr>
                  <a:t>(created by</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malloc</a:t>
                </a:r>
                <a:r>
                  <a:rPr lang="en-GB" altLang="zh-CN" b="1">
                    <a:latin typeface="Calibri" panose="020F0502020204030204" pitchFamily="34" charset="0"/>
                    <a:ea typeface="微软雅黑" panose="020B0503020204020204" pitchFamily="34" charset="-122"/>
                    <a:cs typeface="msgothic"/>
                  </a:rPr>
                  <a:t>)</a:t>
                </a:r>
              </a:p>
            </p:txBody>
          </p:sp>
          <p:sp>
            <p:nvSpPr>
              <p:cNvPr id="33810" name="Rectangle 18">
                <a:extLst>
                  <a:ext uri="{FF2B5EF4-FFF2-40B4-BE49-F238E27FC236}">
                    <a16:creationId xmlns:a16="http://schemas.microsoft.com/office/drawing/2014/main" id="{5BF8E8A5-730F-B449-93AC-0B48FBA24281}"/>
                  </a:ext>
                </a:extLst>
              </p:cNvPr>
              <p:cNvSpPr>
                <a:spLocks noChangeArrowheads="1"/>
              </p:cNvSpPr>
              <p:nvPr/>
            </p:nvSpPr>
            <p:spPr bwMode="auto">
              <a:xfrm>
                <a:off x="2952" y="1294"/>
                <a:ext cx="1757" cy="571"/>
              </a:xfrm>
              <a:prstGeom prst="rect">
                <a:avLst/>
              </a:prstGeom>
              <a:solidFill>
                <a:schemeClr val="bg1">
                  <a:lumMod val="75000"/>
                </a:schemeClr>
              </a:solidFill>
              <a:ln w="3240">
                <a:solidFill>
                  <a:schemeClr val="tx1"/>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11997" name="Line 19">
                <a:extLst>
                  <a:ext uri="{FF2B5EF4-FFF2-40B4-BE49-F238E27FC236}">
                    <a16:creationId xmlns:a16="http://schemas.microsoft.com/office/drawing/2014/main" id="{0D23FD2A-846E-6541-A4F6-D290543B983C}"/>
                  </a:ext>
                </a:extLst>
              </p:cNvPr>
              <p:cNvSpPr>
                <a:spLocks noChangeShapeType="1"/>
              </p:cNvSpPr>
              <p:nvPr/>
            </p:nvSpPr>
            <p:spPr bwMode="auto">
              <a:xfrm flipV="1">
                <a:off x="3828" y="2493"/>
                <a:ext cx="1" cy="242"/>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1998" name="Rectangle 20">
                <a:extLst>
                  <a:ext uri="{FF2B5EF4-FFF2-40B4-BE49-F238E27FC236}">
                    <a16:creationId xmlns:a16="http://schemas.microsoft.com/office/drawing/2014/main" id="{590DA0D8-2314-9C41-97FD-EB90E8FBE227}"/>
                  </a:ext>
                </a:extLst>
              </p:cNvPr>
              <p:cNvSpPr>
                <a:spLocks noChangeArrowheads="1"/>
              </p:cNvSpPr>
              <p:nvPr/>
            </p:nvSpPr>
            <p:spPr bwMode="auto">
              <a:xfrm>
                <a:off x="2952" y="1083"/>
                <a:ext cx="1757" cy="355"/>
              </a:xfrm>
              <a:prstGeom prst="rect">
                <a:avLst/>
              </a:prstGeom>
              <a:solidFill>
                <a:srgbClr val="D5F1CF"/>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Use</a:t>
                </a:r>
                <a:r>
                  <a:rPr lang="en-GB" altLang="zh-CN" b="1">
                    <a:latin typeface="Calibri" panose="020F0502020204030204" pitchFamily="34" charset="0"/>
                    <a:ea typeface="微软雅黑" panose="020B0503020204020204" pitchFamily="34" charset="-122"/>
                    <a:cs typeface="msgothic"/>
                  </a:rPr>
                  <a:t>r </a:t>
                </a:r>
                <a:r>
                  <a:rPr lang="en-GB" altLang="zh-CN" sz="1800" b="1">
                    <a:latin typeface="微软雅黑" panose="020B0503020204020204" pitchFamily="34" charset="-122"/>
                    <a:ea typeface="微软雅黑" panose="020B0503020204020204" pitchFamily="34" charset="-122"/>
                    <a:cs typeface="msgothic"/>
                  </a:rPr>
                  <a:t>stack</a:t>
                </a:r>
              </a:p>
              <a:p>
                <a:pPr algn="ctr">
                  <a:lnSpc>
                    <a:spcPct val="98000"/>
                  </a:lnSpc>
                </a:pPr>
                <a:r>
                  <a:rPr lang="en-GB" altLang="zh-CN" b="1">
                    <a:latin typeface="Calibri" panose="020F0502020204030204" pitchFamily="34" charset="0"/>
                    <a:ea typeface="微软雅黑" panose="020B0503020204020204" pitchFamily="34" charset="-122"/>
                    <a:cs typeface="msgothic"/>
                  </a:rPr>
                  <a:t>(</a:t>
                </a:r>
                <a:r>
                  <a:rPr lang="en-GB" altLang="zh-CN" sz="1800" b="1">
                    <a:latin typeface="微软雅黑" panose="020B0503020204020204" pitchFamily="34" charset="-122"/>
                    <a:ea typeface="微软雅黑" panose="020B0503020204020204" pitchFamily="34" charset="-122"/>
                    <a:cs typeface="msgothic"/>
                  </a:rPr>
                  <a:t>created</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at</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runtime</a:t>
                </a:r>
                <a:r>
                  <a:rPr lang="en-GB" altLang="zh-CN" b="1">
                    <a:latin typeface="Calibri" panose="020F0502020204030204" pitchFamily="34" charset="0"/>
                    <a:ea typeface="微软雅黑" panose="020B0503020204020204" pitchFamily="34" charset="-122"/>
                    <a:cs typeface="msgothic"/>
                  </a:rPr>
                  <a:t>)</a:t>
                </a:r>
              </a:p>
            </p:txBody>
          </p:sp>
          <p:sp>
            <p:nvSpPr>
              <p:cNvPr id="211999" name="Line 21">
                <a:extLst>
                  <a:ext uri="{FF2B5EF4-FFF2-40B4-BE49-F238E27FC236}">
                    <a16:creationId xmlns:a16="http://schemas.microsoft.com/office/drawing/2014/main" id="{3921627F-4CA8-C348-970F-48E136EAA6E0}"/>
                  </a:ext>
                </a:extLst>
              </p:cNvPr>
              <p:cNvSpPr>
                <a:spLocks noChangeShapeType="1"/>
              </p:cNvSpPr>
              <p:nvPr/>
            </p:nvSpPr>
            <p:spPr bwMode="auto">
              <a:xfrm flipV="1">
                <a:off x="3828" y="1725"/>
                <a:ext cx="1" cy="146"/>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2000" name="Line 22">
                <a:extLst>
                  <a:ext uri="{FF2B5EF4-FFF2-40B4-BE49-F238E27FC236}">
                    <a16:creationId xmlns:a16="http://schemas.microsoft.com/office/drawing/2014/main" id="{9A8CF387-CEC4-0D49-A6D8-0AAFF0251894}"/>
                  </a:ext>
                </a:extLst>
              </p:cNvPr>
              <p:cNvSpPr>
                <a:spLocks noChangeShapeType="1"/>
              </p:cNvSpPr>
              <p:nvPr/>
            </p:nvSpPr>
            <p:spPr bwMode="auto">
              <a:xfrm>
                <a:off x="3828" y="1438"/>
                <a:ext cx="1" cy="144"/>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5" name="Rectangle 23">
                <a:extLst>
                  <a:ext uri="{FF2B5EF4-FFF2-40B4-BE49-F238E27FC236}">
                    <a16:creationId xmlns:a16="http://schemas.microsoft.com/office/drawing/2014/main" id="{FB35279E-5C02-C143-8913-05A322D77121}"/>
                  </a:ext>
                </a:extLst>
              </p:cNvPr>
              <p:cNvSpPr>
                <a:spLocks noChangeArrowheads="1"/>
              </p:cNvSpPr>
              <p:nvPr/>
            </p:nvSpPr>
            <p:spPr bwMode="auto">
              <a:xfrm>
                <a:off x="2952" y="3977"/>
                <a:ext cx="1757" cy="250"/>
              </a:xfrm>
              <a:prstGeom prst="rect">
                <a:avLst/>
              </a:prstGeom>
              <a:solidFill>
                <a:schemeClr val="bg1">
                  <a:lumMod val="75000"/>
                </a:schemeClr>
              </a:solidFill>
              <a:ln w="324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a:lnSpc>
                    <a:spcPct val="98000"/>
                  </a:lnSpc>
                  <a:defRPr/>
                </a:pPr>
                <a:r>
                  <a:rPr lang="en-GB" altLang="zh-CN" sz="1800" b="1">
                    <a:latin typeface="微软雅黑" panose="020B0503020204020204" pitchFamily="34" charset="-122"/>
                    <a:ea typeface="微软雅黑" panose="020B0503020204020204" pitchFamily="34" charset="-122"/>
                    <a:cs typeface="msgothic"/>
                  </a:rPr>
                  <a:t>Unused</a:t>
                </a:r>
              </a:p>
            </p:txBody>
          </p:sp>
          <p:sp>
            <p:nvSpPr>
              <p:cNvPr id="212002" name="Text Box 24">
                <a:extLst>
                  <a:ext uri="{FF2B5EF4-FFF2-40B4-BE49-F238E27FC236}">
                    <a16:creationId xmlns:a16="http://schemas.microsoft.com/office/drawing/2014/main" id="{6E42A973-97D6-EC4F-9DEC-2BE827C3F9E9}"/>
                  </a:ext>
                </a:extLst>
              </p:cNvPr>
              <p:cNvSpPr txBox="1">
                <a:spLocks noChangeArrowheads="1"/>
              </p:cNvSpPr>
              <p:nvPr/>
            </p:nvSpPr>
            <p:spPr bwMode="auto">
              <a:xfrm>
                <a:off x="2785" y="4114"/>
                <a:ext cx="190"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8000"/>
                  </a:lnSpc>
                </a:pPr>
                <a:r>
                  <a:rPr lang="en-GB" altLang="zh-CN" b="1">
                    <a:latin typeface="微软雅黑" panose="020B0503020204020204" pitchFamily="34" charset="-122"/>
                    <a:ea typeface="微软雅黑" panose="020B0503020204020204" pitchFamily="34" charset="-122"/>
                    <a:cs typeface="msgothic"/>
                  </a:rPr>
                  <a:t>0</a:t>
                </a:r>
              </a:p>
            </p:txBody>
          </p:sp>
          <p:sp>
            <p:nvSpPr>
              <p:cNvPr id="33826" name="Rectangle 34">
                <a:extLst>
                  <a:ext uri="{FF2B5EF4-FFF2-40B4-BE49-F238E27FC236}">
                    <a16:creationId xmlns:a16="http://schemas.microsoft.com/office/drawing/2014/main" id="{186F4B55-3558-6F49-9F3B-9003253DCB5A}"/>
                  </a:ext>
                </a:extLst>
              </p:cNvPr>
              <p:cNvSpPr>
                <a:spLocks noChangeArrowheads="1"/>
              </p:cNvSpPr>
              <p:nvPr/>
            </p:nvSpPr>
            <p:spPr bwMode="auto">
              <a:xfrm>
                <a:off x="2952" y="3161"/>
                <a:ext cx="1757" cy="422"/>
              </a:xfrm>
              <a:prstGeom prst="rect">
                <a:avLst/>
              </a:prstGeom>
              <a:solidFill>
                <a:schemeClr val="accent2">
                  <a:lumMod val="20000"/>
                  <a:lumOff val="80000"/>
                </a:schemeClr>
              </a:solidFill>
              <a:ln w="324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a:lnSpc>
                    <a:spcPct val="98000"/>
                  </a:lnSpc>
                  <a:defRPr/>
                </a:pPr>
                <a:r>
                  <a:rPr lang="en-GB" altLang="zh-CN" sz="1800" b="1">
                    <a:latin typeface="微软雅黑" panose="020B0503020204020204" pitchFamily="34" charset="-122"/>
                    <a:ea typeface="微软雅黑" panose="020B0503020204020204" pitchFamily="34" charset="-122"/>
                    <a:cs typeface="msgothic"/>
                  </a:rPr>
                  <a:t>Read/write</a:t>
                </a:r>
                <a:r>
                  <a:rPr lang="en-GB" altLang="zh-CN" sz="1600"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segment</a:t>
                </a:r>
              </a:p>
              <a:p>
                <a:pPr algn="ctr">
                  <a:lnSpc>
                    <a:spcPct val="98000"/>
                  </a:lnSpc>
                  <a:defRPr/>
                </a:pPr>
                <a:r>
                  <a:rPr lang="en-GB" altLang="zh-CN" sz="1800" b="1">
                    <a:latin typeface="微软雅黑" panose="020B0503020204020204" pitchFamily="34" charset="-122"/>
                    <a:ea typeface="微软雅黑" panose="020B0503020204020204" pitchFamily="34" charset="-122"/>
                    <a:cs typeface="msgothic"/>
                  </a:rPr>
                  <a:t>(.data, .bss)</a:t>
                </a:r>
              </a:p>
            </p:txBody>
          </p:sp>
          <p:sp>
            <p:nvSpPr>
              <p:cNvPr id="212004" name="Rectangle 35">
                <a:extLst>
                  <a:ext uri="{FF2B5EF4-FFF2-40B4-BE49-F238E27FC236}">
                    <a16:creationId xmlns:a16="http://schemas.microsoft.com/office/drawing/2014/main" id="{DD172CED-C6D5-9F44-9772-6358BC100E26}"/>
                  </a:ext>
                </a:extLst>
              </p:cNvPr>
              <p:cNvSpPr>
                <a:spLocks noChangeArrowheads="1"/>
              </p:cNvSpPr>
              <p:nvPr/>
            </p:nvSpPr>
            <p:spPr bwMode="auto">
              <a:xfrm>
                <a:off x="2952" y="3555"/>
                <a:ext cx="1757" cy="422"/>
              </a:xfrm>
              <a:prstGeom prst="rect">
                <a:avLst/>
              </a:prstGeom>
              <a:solidFill>
                <a:srgbClr val="F6F5BD"/>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Read-only segment</a:t>
                </a:r>
              </a:p>
              <a:p>
                <a:pPr algn="ctr">
                  <a:lnSpc>
                    <a:spcPct val="98000"/>
                  </a:lnSpc>
                </a:pPr>
                <a:r>
                  <a:rPr lang="en-GB" altLang="zh-CN" sz="1800" b="1">
                    <a:latin typeface="微软雅黑" panose="020B0503020204020204" pitchFamily="34" charset="-122"/>
                    <a:ea typeface="微软雅黑" panose="020B0503020204020204" pitchFamily="34" charset="-122"/>
                    <a:cs typeface="msgothic"/>
                  </a:rPr>
                  <a:t>(.init, .text</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.rodata</a:t>
                </a:r>
                <a:r>
                  <a:rPr lang="en-GB" altLang="zh-CN" b="1">
                    <a:latin typeface="Calibri" panose="020F0502020204030204" pitchFamily="34" charset="0"/>
                    <a:ea typeface="微软雅黑" panose="020B0503020204020204" pitchFamily="34" charset="-122"/>
                    <a:cs typeface="msgothic"/>
                  </a:rPr>
                  <a:t>)</a:t>
                </a:r>
              </a:p>
            </p:txBody>
          </p:sp>
        </p:grpSp>
      </p:grpSp>
      <p:sp>
        <p:nvSpPr>
          <p:cNvPr id="211971" name="Rectangle 2">
            <a:extLst>
              <a:ext uri="{FF2B5EF4-FFF2-40B4-BE49-F238E27FC236}">
                <a16:creationId xmlns:a16="http://schemas.microsoft.com/office/drawing/2014/main" id="{3C245229-2AD5-6545-8135-183093BC2F4C}"/>
              </a:ext>
            </a:extLst>
          </p:cNvPr>
          <p:cNvSpPr>
            <a:spLocks noGrp="1" noChangeArrowheads="1"/>
          </p:cNvSpPr>
          <p:nvPr>
            <p:ph type="title" idx="4294967295"/>
          </p:nvPr>
        </p:nvSpPr>
        <p:spPr>
          <a:xfrm>
            <a:off x="493713" y="0"/>
            <a:ext cx="3268662" cy="569913"/>
          </a:xfrm>
        </p:spPr>
        <p:txBody>
          <a:bodyPr lIns="91440" tIns="45720" rIns="91440" bIns="45720" anchor="ctr"/>
          <a:lstStyle/>
          <a:p>
            <a:pPr algn="l" eaLnBrk="1" hangingPunct="1"/>
            <a:r>
              <a:rPr lang="zh-CN" altLang="en-US"/>
              <a:t>虚拟地址空间</a:t>
            </a:r>
          </a:p>
        </p:txBody>
      </p:sp>
      <p:sp>
        <p:nvSpPr>
          <p:cNvPr id="660485" name="Rectangle 5">
            <a:extLst>
              <a:ext uri="{FF2B5EF4-FFF2-40B4-BE49-F238E27FC236}">
                <a16:creationId xmlns:a16="http://schemas.microsoft.com/office/drawing/2014/main" id="{AA9E3A92-E249-B944-90D1-2EFCEDE8BCD5}"/>
              </a:ext>
            </a:extLst>
          </p:cNvPr>
          <p:cNvSpPr>
            <a:spLocks noGrp="1" noChangeArrowheads="1"/>
          </p:cNvSpPr>
          <p:nvPr>
            <p:ph type="body" sz="half" idx="4294967295"/>
          </p:nvPr>
        </p:nvSpPr>
        <p:spPr>
          <a:xfrm>
            <a:off x="114300" y="901700"/>
            <a:ext cx="3962400" cy="3692525"/>
          </a:xfrm>
        </p:spPr>
        <p:txBody>
          <a:bodyPr lIns="91440" tIns="45720" rIns="91440" bIns="45720"/>
          <a:lstStyle/>
          <a:p>
            <a:pPr eaLnBrk="1" hangingPunct="1">
              <a:lnSpc>
                <a:spcPct val="115000"/>
              </a:lnSpc>
              <a:spcBef>
                <a:spcPct val="25000"/>
              </a:spcBef>
            </a:pPr>
            <a:r>
              <a:rPr lang="en-US" altLang="zh-CN" sz="2000">
                <a:latin typeface="微软雅黑" panose="020B0503020204020204" pitchFamily="34" charset="-122"/>
                <a:ea typeface="微软雅黑" panose="020B0503020204020204" pitchFamily="34" charset="-122"/>
              </a:rPr>
              <a:t>Linux</a:t>
            </a:r>
            <a:r>
              <a:rPr lang="zh-CN" altLang="en-US" sz="2000">
                <a:latin typeface="微软雅黑" panose="020B0503020204020204" pitchFamily="34" charset="-122"/>
                <a:ea typeface="微软雅黑" panose="020B0503020204020204" pitchFamily="34" charset="-122"/>
              </a:rPr>
              <a:t>在</a:t>
            </a:r>
            <a:r>
              <a:rPr lang="en-US" altLang="zh-CN" sz="2000">
                <a:latin typeface="微软雅黑" panose="020B0503020204020204" pitchFamily="34" charset="-122"/>
                <a:ea typeface="微软雅黑" panose="020B0503020204020204" pitchFamily="34" charset="-122"/>
              </a:rPr>
              <a:t>X86</a:t>
            </a:r>
            <a:r>
              <a:rPr lang="zh-CN" altLang="en-US" sz="2000">
                <a:latin typeface="微软雅黑" panose="020B0503020204020204" pitchFamily="34" charset="-122"/>
                <a:ea typeface="微软雅黑" panose="020B0503020204020204" pitchFamily="34" charset="-122"/>
              </a:rPr>
              <a:t>上的虚拟地址空间</a:t>
            </a:r>
          </a:p>
          <a:p>
            <a:pPr eaLnBrk="1" hangingPunct="1">
              <a:lnSpc>
                <a:spcPct val="115000"/>
              </a:lnSpc>
              <a:spcBef>
                <a:spcPct val="25000"/>
              </a:spcBef>
              <a:buFontTx/>
              <a:buNone/>
            </a:pPr>
            <a:r>
              <a:rPr lang="zh-CN" altLang="en-US" sz="2000">
                <a:latin typeface="微软雅黑" panose="020B0503020204020204" pitchFamily="34" charset="-122"/>
                <a:ea typeface="微软雅黑" panose="020B0503020204020204" pitchFamily="34" charset="-122"/>
              </a:rPr>
              <a:t>   （其他</a:t>
            </a:r>
            <a:r>
              <a:rPr lang="en-US" altLang="zh-CN" sz="2000">
                <a:latin typeface="微软雅黑" panose="020B0503020204020204" pitchFamily="34" charset="-122"/>
                <a:ea typeface="微软雅黑" panose="020B0503020204020204" pitchFamily="34" charset="-122"/>
              </a:rPr>
              <a:t>Unix</a:t>
            </a:r>
            <a:r>
              <a:rPr lang="zh-CN" altLang="en-US" sz="2000">
                <a:latin typeface="微软雅黑" panose="020B0503020204020204" pitchFamily="34" charset="-122"/>
                <a:ea typeface="微软雅黑" panose="020B0503020204020204" pitchFamily="34" charset="-122"/>
              </a:rPr>
              <a:t>系统的设计类此）</a:t>
            </a:r>
          </a:p>
          <a:p>
            <a:pPr lvl="1" eaLnBrk="1" hangingPunct="1">
              <a:spcBef>
                <a:spcPct val="25000"/>
              </a:spcBef>
            </a:pPr>
            <a:r>
              <a:rPr lang="zh-CN" altLang="en-US" sz="1900">
                <a:latin typeface="微软雅黑" panose="020B0503020204020204" pitchFamily="34" charset="-122"/>
                <a:ea typeface="微软雅黑" panose="020B0503020204020204" pitchFamily="34" charset="-122"/>
              </a:rPr>
              <a:t>内核空间（</a:t>
            </a:r>
            <a:r>
              <a:rPr lang="en-US" altLang="zh-CN" sz="1900">
                <a:latin typeface="微软雅黑" panose="020B0503020204020204" pitchFamily="34" charset="-122"/>
                <a:ea typeface="微软雅黑" panose="020B0503020204020204" pitchFamily="34" charset="-122"/>
              </a:rPr>
              <a:t>Kernel</a:t>
            </a:r>
            <a:r>
              <a:rPr lang="zh-CN" altLang="en-US" sz="1900">
                <a:latin typeface="微软雅黑" panose="020B0503020204020204" pitchFamily="34" charset="-122"/>
                <a:ea typeface="微软雅黑" panose="020B0503020204020204" pitchFamily="34" charset="-122"/>
              </a:rPr>
              <a:t>）</a:t>
            </a:r>
          </a:p>
          <a:p>
            <a:pPr lvl="1" eaLnBrk="1" hangingPunct="1">
              <a:spcBef>
                <a:spcPct val="25000"/>
              </a:spcBef>
            </a:pPr>
            <a:r>
              <a:rPr lang="zh-CN" altLang="en-US" sz="1900">
                <a:latin typeface="微软雅黑" panose="020B0503020204020204" pitchFamily="34" charset="-122"/>
                <a:ea typeface="微软雅黑" panose="020B0503020204020204" pitchFamily="34" charset="-122"/>
              </a:rPr>
              <a:t>用户栈（</a:t>
            </a:r>
            <a:r>
              <a:rPr lang="en-US" altLang="zh-CN" sz="1900">
                <a:latin typeface="微软雅黑" panose="020B0503020204020204" pitchFamily="34" charset="-122"/>
                <a:ea typeface="微软雅黑" panose="020B0503020204020204" pitchFamily="34" charset="-122"/>
              </a:rPr>
              <a:t>User Stack</a:t>
            </a:r>
            <a:r>
              <a:rPr lang="zh-CN" altLang="en-US" sz="1900">
                <a:latin typeface="微软雅黑" panose="020B0503020204020204" pitchFamily="34" charset="-122"/>
                <a:ea typeface="微软雅黑" panose="020B0503020204020204" pitchFamily="34" charset="-122"/>
              </a:rPr>
              <a:t>）</a:t>
            </a:r>
            <a:endParaRPr lang="en-US" altLang="zh-CN" sz="1900">
              <a:latin typeface="微软雅黑" panose="020B0503020204020204" pitchFamily="34" charset="-122"/>
              <a:ea typeface="微软雅黑" panose="020B0503020204020204" pitchFamily="34" charset="-122"/>
            </a:endParaRPr>
          </a:p>
          <a:p>
            <a:pPr lvl="1" eaLnBrk="1" hangingPunct="1">
              <a:spcBef>
                <a:spcPct val="25000"/>
              </a:spcBef>
            </a:pPr>
            <a:r>
              <a:rPr lang="zh-CN" altLang="en-US" sz="1900">
                <a:latin typeface="微软雅黑" panose="020B0503020204020204" pitchFamily="34" charset="-122"/>
                <a:ea typeface="微软雅黑" panose="020B0503020204020204" pitchFamily="34" charset="-122"/>
              </a:rPr>
              <a:t>共享库（</a:t>
            </a:r>
            <a:r>
              <a:rPr lang="en-US" altLang="zh-CN" sz="1900">
                <a:latin typeface="微软雅黑" panose="020B0503020204020204" pitchFamily="34" charset="-122"/>
                <a:ea typeface="微软雅黑" panose="020B0503020204020204" pitchFamily="34" charset="-122"/>
              </a:rPr>
              <a:t>Shared Libraries</a:t>
            </a:r>
            <a:r>
              <a:rPr lang="zh-CN" altLang="en-US" sz="1900">
                <a:latin typeface="微软雅黑" panose="020B0503020204020204" pitchFamily="34" charset="-122"/>
                <a:ea typeface="微软雅黑" panose="020B0503020204020204" pitchFamily="34" charset="-122"/>
              </a:rPr>
              <a:t>）</a:t>
            </a:r>
          </a:p>
          <a:p>
            <a:pPr lvl="1" eaLnBrk="1" hangingPunct="1">
              <a:spcBef>
                <a:spcPct val="25000"/>
              </a:spcBef>
            </a:pPr>
            <a:r>
              <a:rPr lang="zh-CN" altLang="en-US" sz="1900">
                <a:latin typeface="微软雅黑" panose="020B0503020204020204" pitchFamily="34" charset="-122"/>
                <a:ea typeface="微软雅黑" panose="020B0503020204020204" pitchFamily="34" charset="-122"/>
              </a:rPr>
              <a:t>堆（</a:t>
            </a:r>
            <a:r>
              <a:rPr lang="en-US" altLang="zh-CN" sz="1900">
                <a:latin typeface="微软雅黑" panose="020B0503020204020204" pitchFamily="34" charset="-122"/>
                <a:ea typeface="微软雅黑" panose="020B0503020204020204" pitchFamily="34" charset="-122"/>
              </a:rPr>
              <a:t>heap</a:t>
            </a:r>
            <a:r>
              <a:rPr lang="zh-CN" altLang="en-US" sz="1900">
                <a:latin typeface="微软雅黑" panose="020B0503020204020204" pitchFamily="34" charset="-122"/>
                <a:ea typeface="微软雅黑" panose="020B0503020204020204" pitchFamily="34" charset="-122"/>
              </a:rPr>
              <a:t>）</a:t>
            </a:r>
          </a:p>
          <a:p>
            <a:pPr lvl="1" eaLnBrk="1" hangingPunct="1">
              <a:spcBef>
                <a:spcPct val="25000"/>
              </a:spcBef>
            </a:pPr>
            <a:r>
              <a:rPr lang="zh-CN" altLang="en-US" sz="1900">
                <a:latin typeface="微软雅黑" panose="020B0503020204020204" pitchFamily="34" charset="-122"/>
                <a:ea typeface="微软雅黑" panose="020B0503020204020204" pitchFamily="34" charset="-122"/>
              </a:rPr>
              <a:t>可读写数据（</a:t>
            </a:r>
            <a:r>
              <a:rPr lang="en-US" altLang="zh-CN" sz="1900">
                <a:latin typeface="微软雅黑" panose="020B0503020204020204" pitchFamily="34" charset="-122"/>
                <a:ea typeface="微软雅黑" panose="020B0503020204020204" pitchFamily="34" charset="-122"/>
              </a:rPr>
              <a:t>Read/Write Data</a:t>
            </a:r>
            <a:r>
              <a:rPr lang="zh-CN" altLang="en-US" sz="1900">
                <a:latin typeface="微软雅黑" panose="020B0503020204020204" pitchFamily="34" charset="-122"/>
                <a:ea typeface="微软雅黑" panose="020B0503020204020204" pitchFamily="34" charset="-122"/>
              </a:rPr>
              <a:t>）</a:t>
            </a:r>
          </a:p>
          <a:p>
            <a:pPr lvl="1" eaLnBrk="1" hangingPunct="1">
              <a:spcBef>
                <a:spcPct val="25000"/>
              </a:spcBef>
            </a:pPr>
            <a:r>
              <a:rPr lang="zh-CN" altLang="en-US" sz="1900">
                <a:latin typeface="微软雅黑" panose="020B0503020204020204" pitchFamily="34" charset="-122"/>
                <a:ea typeface="微软雅黑" panose="020B0503020204020204" pitchFamily="34" charset="-122"/>
              </a:rPr>
              <a:t>只读数据（</a:t>
            </a:r>
            <a:r>
              <a:rPr lang="en-US" altLang="zh-CN" sz="1900">
                <a:latin typeface="微软雅黑" panose="020B0503020204020204" pitchFamily="34" charset="-122"/>
                <a:ea typeface="微软雅黑" panose="020B0503020204020204" pitchFamily="34" charset="-122"/>
              </a:rPr>
              <a:t>Read-only Data</a:t>
            </a:r>
            <a:r>
              <a:rPr lang="zh-CN" altLang="en-US" sz="1900">
                <a:latin typeface="微软雅黑" panose="020B0503020204020204" pitchFamily="34" charset="-122"/>
                <a:ea typeface="微软雅黑" panose="020B0503020204020204" pitchFamily="34" charset="-122"/>
              </a:rPr>
              <a:t>）</a:t>
            </a:r>
          </a:p>
          <a:p>
            <a:pPr lvl="1" eaLnBrk="1" hangingPunct="1">
              <a:spcBef>
                <a:spcPct val="25000"/>
              </a:spcBef>
            </a:pPr>
            <a:r>
              <a:rPr lang="zh-CN" altLang="en-US" sz="1900">
                <a:latin typeface="微软雅黑" panose="020B0503020204020204" pitchFamily="34" charset="-122"/>
                <a:ea typeface="微软雅黑" panose="020B0503020204020204" pitchFamily="34" charset="-122"/>
              </a:rPr>
              <a:t>代码（</a:t>
            </a:r>
            <a:r>
              <a:rPr lang="en-US" altLang="zh-CN" sz="1900">
                <a:latin typeface="微软雅黑" panose="020B0503020204020204" pitchFamily="34" charset="-122"/>
                <a:ea typeface="微软雅黑" panose="020B0503020204020204" pitchFamily="34" charset="-122"/>
              </a:rPr>
              <a:t>Code</a:t>
            </a:r>
            <a:r>
              <a:rPr lang="zh-CN" altLang="en-US" sz="1900">
                <a:latin typeface="微软雅黑" panose="020B0503020204020204" pitchFamily="34" charset="-122"/>
                <a:ea typeface="微软雅黑" panose="020B0503020204020204" pitchFamily="34" charset="-122"/>
              </a:rPr>
              <a:t>）</a:t>
            </a:r>
          </a:p>
        </p:txBody>
      </p:sp>
      <p:sp>
        <p:nvSpPr>
          <p:cNvPr id="660487" name="Line 7">
            <a:extLst>
              <a:ext uri="{FF2B5EF4-FFF2-40B4-BE49-F238E27FC236}">
                <a16:creationId xmlns:a16="http://schemas.microsoft.com/office/drawing/2014/main" id="{41B762A5-C4EA-7F49-AB0A-8C3266DB6B1C}"/>
              </a:ext>
            </a:extLst>
          </p:cNvPr>
          <p:cNvSpPr>
            <a:spLocks noChangeShapeType="1"/>
          </p:cNvSpPr>
          <p:nvPr/>
        </p:nvSpPr>
        <p:spPr bwMode="auto">
          <a:xfrm>
            <a:off x="2540000" y="4183063"/>
            <a:ext cx="2346325" cy="1508125"/>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488" name="Line 8">
            <a:extLst>
              <a:ext uri="{FF2B5EF4-FFF2-40B4-BE49-F238E27FC236}">
                <a16:creationId xmlns:a16="http://schemas.microsoft.com/office/drawing/2014/main" id="{380842F2-EEBD-4A47-B931-98F1D6CDEACF}"/>
              </a:ext>
            </a:extLst>
          </p:cNvPr>
          <p:cNvSpPr>
            <a:spLocks noChangeShapeType="1"/>
          </p:cNvSpPr>
          <p:nvPr/>
        </p:nvSpPr>
        <p:spPr bwMode="auto">
          <a:xfrm>
            <a:off x="2352675" y="4522788"/>
            <a:ext cx="2565400" cy="1179512"/>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489" name="Line 9">
            <a:extLst>
              <a:ext uri="{FF2B5EF4-FFF2-40B4-BE49-F238E27FC236}">
                <a16:creationId xmlns:a16="http://schemas.microsoft.com/office/drawing/2014/main" id="{DD2F4AEF-6C8F-8E42-BACD-7EC8BAA7AABF}"/>
              </a:ext>
            </a:extLst>
          </p:cNvPr>
          <p:cNvSpPr>
            <a:spLocks noChangeShapeType="1"/>
          </p:cNvSpPr>
          <p:nvPr/>
        </p:nvSpPr>
        <p:spPr bwMode="auto">
          <a:xfrm>
            <a:off x="2008188" y="3582988"/>
            <a:ext cx="2925762" cy="1490662"/>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490" name="Line 10">
            <a:extLst>
              <a:ext uri="{FF2B5EF4-FFF2-40B4-BE49-F238E27FC236}">
                <a16:creationId xmlns:a16="http://schemas.microsoft.com/office/drawing/2014/main" id="{2A621619-EBA8-9A43-AAE2-591C6366F227}"/>
              </a:ext>
            </a:extLst>
          </p:cNvPr>
          <p:cNvSpPr>
            <a:spLocks noChangeShapeType="1"/>
          </p:cNvSpPr>
          <p:nvPr/>
        </p:nvSpPr>
        <p:spPr bwMode="auto">
          <a:xfrm>
            <a:off x="2276475" y="3054350"/>
            <a:ext cx="2643188" cy="1119188"/>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491" name="Line 11">
            <a:extLst>
              <a:ext uri="{FF2B5EF4-FFF2-40B4-BE49-F238E27FC236}">
                <a16:creationId xmlns:a16="http://schemas.microsoft.com/office/drawing/2014/main" id="{DB2FB1B4-EAFA-B547-91DE-5D80DA93F920}"/>
              </a:ext>
            </a:extLst>
          </p:cNvPr>
          <p:cNvSpPr>
            <a:spLocks noChangeShapeType="1"/>
          </p:cNvSpPr>
          <p:nvPr/>
        </p:nvSpPr>
        <p:spPr bwMode="auto">
          <a:xfrm>
            <a:off x="4076700" y="2663825"/>
            <a:ext cx="844550" cy="7938"/>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492" name="Line 12">
            <a:extLst>
              <a:ext uri="{FF2B5EF4-FFF2-40B4-BE49-F238E27FC236}">
                <a16:creationId xmlns:a16="http://schemas.microsoft.com/office/drawing/2014/main" id="{D4B785ED-508F-1746-B2FD-98A90CB4512C}"/>
              </a:ext>
            </a:extLst>
          </p:cNvPr>
          <p:cNvSpPr>
            <a:spLocks noChangeShapeType="1"/>
          </p:cNvSpPr>
          <p:nvPr/>
        </p:nvSpPr>
        <p:spPr bwMode="auto">
          <a:xfrm flipV="1">
            <a:off x="3267075" y="1169988"/>
            <a:ext cx="1611313" cy="1089025"/>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493" name="Line 13">
            <a:extLst>
              <a:ext uri="{FF2B5EF4-FFF2-40B4-BE49-F238E27FC236}">
                <a16:creationId xmlns:a16="http://schemas.microsoft.com/office/drawing/2014/main" id="{1A6FAC06-ABA4-4648-AE18-3122500F0AE4}"/>
              </a:ext>
            </a:extLst>
          </p:cNvPr>
          <p:cNvSpPr>
            <a:spLocks noChangeShapeType="1"/>
          </p:cNvSpPr>
          <p:nvPr/>
        </p:nvSpPr>
        <p:spPr bwMode="auto">
          <a:xfrm flipV="1">
            <a:off x="2592388" y="641350"/>
            <a:ext cx="2211387" cy="1212850"/>
          </a:xfrm>
          <a:prstGeom prst="line">
            <a:avLst/>
          </a:prstGeom>
          <a:noFill/>
          <a:ln w="9525">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494" name="Text Box 14">
            <a:extLst>
              <a:ext uri="{FF2B5EF4-FFF2-40B4-BE49-F238E27FC236}">
                <a16:creationId xmlns:a16="http://schemas.microsoft.com/office/drawing/2014/main" id="{7C54C4C8-744F-784C-931C-2F3552223A93}"/>
              </a:ext>
            </a:extLst>
          </p:cNvPr>
          <p:cNvSpPr txBox="1">
            <a:spLocks noChangeArrowheads="1"/>
          </p:cNvSpPr>
          <p:nvPr/>
        </p:nvSpPr>
        <p:spPr bwMode="auto">
          <a:xfrm>
            <a:off x="8069263" y="4371975"/>
            <a:ext cx="969962"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CC0000"/>
                </a:solidFill>
                <a:ea typeface="微软雅黑" panose="020B0503020204020204" pitchFamily="34" charset="-122"/>
              </a:rPr>
              <a:t>可执行文件相关内容</a:t>
            </a:r>
            <a:r>
              <a:rPr kumimoji="1" lang="zh-CN" altLang="en-US" sz="2000" b="1">
                <a:solidFill>
                  <a:srgbClr val="CC0000"/>
                </a:solidFill>
                <a:latin typeface="微软雅黑" panose="020B0503020204020204" pitchFamily="34" charset="-122"/>
                <a:ea typeface="微软雅黑" panose="020B0503020204020204" pitchFamily="34" charset="-122"/>
              </a:rPr>
              <a:t>“</a:t>
            </a:r>
            <a:r>
              <a:rPr kumimoji="1" lang="zh-CN" altLang="en-US" sz="2000" b="1">
                <a:solidFill>
                  <a:srgbClr val="CC0000"/>
                </a:solidFill>
                <a:ea typeface="微软雅黑" panose="020B0503020204020204" pitchFamily="34" charset="-122"/>
              </a:rPr>
              <a:t>复制</a:t>
            </a:r>
            <a:r>
              <a:rPr kumimoji="1" lang="zh-CN" altLang="en-US" sz="2000" b="1">
                <a:solidFill>
                  <a:srgbClr val="CC0000"/>
                </a:solidFill>
                <a:latin typeface="微软雅黑" panose="020B0503020204020204" pitchFamily="34" charset="-122"/>
                <a:ea typeface="微软雅黑" panose="020B0503020204020204" pitchFamily="34" charset="-122"/>
              </a:rPr>
              <a:t>”</a:t>
            </a:r>
            <a:r>
              <a:rPr kumimoji="1" lang="zh-CN" altLang="en-US" sz="2000" b="1">
                <a:solidFill>
                  <a:srgbClr val="CC0000"/>
                </a:solidFill>
                <a:ea typeface="微软雅黑" panose="020B0503020204020204" pitchFamily="34" charset="-122"/>
              </a:rPr>
              <a:t>到代码段和数据段</a:t>
            </a:r>
            <a:endParaRPr kumimoji="1" lang="zh-CN" altLang="en-US" sz="2000" b="1">
              <a:solidFill>
                <a:srgbClr val="CC0000"/>
              </a:solidFill>
              <a:ea typeface="黑体" panose="02010609060101010101" pitchFamily="49" charset="-122"/>
            </a:endParaRPr>
          </a:p>
        </p:txBody>
      </p:sp>
      <p:sp>
        <p:nvSpPr>
          <p:cNvPr id="211981" name="Text Box 15">
            <a:extLst>
              <a:ext uri="{FF2B5EF4-FFF2-40B4-BE49-F238E27FC236}">
                <a16:creationId xmlns:a16="http://schemas.microsoft.com/office/drawing/2014/main" id="{0646F5E1-9094-4F47-8085-3E5867733417}"/>
              </a:ext>
            </a:extLst>
          </p:cNvPr>
          <p:cNvSpPr txBox="1">
            <a:spLocks noChangeArrowheads="1"/>
          </p:cNvSpPr>
          <p:nvPr/>
        </p:nvSpPr>
        <p:spPr bwMode="auto">
          <a:xfrm>
            <a:off x="4800600" y="190500"/>
            <a:ext cx="21812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660496" name="Text Box 16">
            <a:extLst>
              <a:ext uri="{FF2B5EF4-FFF2-40B4-BE49-F238E27FC236}">
                <a16:creationId xmlns:a16="http://schemas.microsoft.com/office/drawing/2014/main" id="{FA4A3713-44E1-FE49-9AA7-60D140E557E7}"/>
              </a:ext>
            </a:extLst>
          </p:cNvPr>
          <p:cNvSpPr txBox="1">
            <a:spLocks noChangeArrowheads="1"/>
          </p:cNvSpPr>
          <p:nvPr/>
        </p:nvSpPr>
        <p:spPr bwMode="auto">
          <a:xfrm>
            <a:off x="398463" y="4905375"/>
            <a:ext cx="28876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CC0000"/>
                </a:solidFill>
                <a:ea typeface="微软雅黑" panose="020B0503020204020204" pitchFamily="34" charset="-122"/>
              </a:rPr>
              <a:t>问题：加载时是否真正从磁盘调入信息到主存？</a:t>
            </a:r>
          </a:p>
        </p:txBody>
      </p:sp>
      <p:sp>
        <p:nvSpPr>
          <p:cNvPr id="660498" name="Text Box 18">
            <a:extLst>
              <a:ext uri="{FF2B5EF4-FFF2-40B4-BE49-F238E27FC236}">
                <a16:creationId xmlns:a16="http://schemas.microsoft.com/office/drawing/2014/main" id="{54D73B77-44BA-0742-85BD-8F68D4A79158}"/>
              </a:ext>
            </a:extLst>
          </p:cNvPr>
          <p:cNvSpPr txBox="1">
            <a:spLocks noChangeArrowheads="1"/>
          </p:cNvSpPr>
          <p:nvPr/>
        </p:nvSpPr>
        <p:spPr bwMode="auto">
          <a:xfrm>
            <a:off x="374650" y="5695950"/>
            <a:ext cx="324008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FF0000"/>
                </a:solidFill>
                <a:ea typeface="微软雅黑" panose="020B0503020204020204" pitchFamily="34" charset="-122"/>
              </a:rPr>
              <a:t>实际上不会从磁盘调入，只是将虚拟页和磁盘上的数据</a:t>
            </a:r>
            <a:r>
              <a:rPr kumimoji="1" lang="en-US" altLang="zh-CN" sz="1900" b="1">
                <a:solidFill>
                  <a:srgbClr val="FF0000"/>
                </a:solidFill>
                <a:ea typeface="微软雅黑" panose="020B0503020204020204" pitchFamily="34" charset="-122"/>
              </a:rPr>
              <a:t>/</a:t>
            </a:r>
            <a:r>
              <a:rPr kumimoji="1" lang="zh-CN" altLang="en-US" sz="1900" b="1">
                <a:solidFill>
                  <a:srgbClr val="FF0000"/>
                </a:solidFill>
                <a:ea typeface="微软雅黑" panose="020B0503020204020204" pitchFamily="34" charset="-122"/>
              </a:rPr>
              <a:t>代码建立对应关系，称为</a:t>
            </a:r>
            <a:r>
              <a:rPr kumimoji="1" lang="zh-CN" altLang="en-US" sz="1900" b="1">
                <a:solidFill>
                  <a:srgbClr val="FF0000"/>
                </a:solidFill>
                <a:latin typeface="微软雅黑" panose="020B0503020204020204" pitchFamily="34" charset="-122"/>
                <a:ea typeface="微软雅黑" panose="020B0503020204020204" pitchFamily="34" charset="-122"/>
              </a:rPr>
              <a:t>“</a:t>
            </a:r>
            <a:r>
              <a:rPr kumimoji="1" lang="zh-CN" altLang="en-US" sz="1900" b="1">
                <a:solidFill>
                  <a:srgbClr val="FF0000"/>
                </a:solidFill>
                <a:ea typeface="微软雅黑" panose="020B0503020204020204" pitchFamily="34" charset="-122"/>
              </a:rPr>
              <a:t>映射</a:t>
            </a:r>
            <a:r>
              <a:rPr kumimoji="1" lang="zh-CN" altLang="en-US" sz="1900" b="1">
                <a:solidFill>
                  <a:srgbClr val="FF0000"/>
                </a:solidFill>
                <a:latin typeface="微软雅黑" panose="020B0503020204020204" pitchFamily="34" charset="-122"/>
                <a:ea typeface="微软雅黑" panose="020B0503020204020204" pitchFamily="34" charset="-122"/>
              </a:rPr>
              <a:t>”</a:t>
            </a:r>
            <a:r>
              <a:rPr kumimoji="1" lang="zh-CN" altLang="en-US" sz="1900" b="1">
                <a:solidFill>
                  <a:srgbClr val="FF0000"/>
                </a:solidFill>
                <a:ea typeface="微软雅黑" panose="020B0503020204020204" pitchFamily="34"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0485">
                                            <p:txEl>
                                              <p:pRg st="0" end="0"/>
                                            </p:txEl>
                                          </p:spTgt>
                                        </p:tgtEl>
                                        <p:attrNameLst>
                                          <p:attrName>style.visibility</p:attrName>
                                        </p:attrNameLst>
                                      </p:cBhvr>
                                      <p:to>
                                        <p:strVal val="visible"/>
                                      </p:to>
                                    </p:set>
                                    <p:animEffect transition="in" filter="blinds(horizontal)">
                                      <p:cBhvr>
                                        <p:cTn id="7" dur="500"/>
                                        <p:tgtEl>
                                          <p:spTgt spid="66048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60485">
                                            <p:txEl>
                                              <p:pRg st="1" end="1"/>
                                            </p:txEl>
                                          </p:spTgt>
                                        </p:tgtEl>
                                        <p:attrNameLst>
                                          <p:attrName>style.visibility</p:attrName>
                                        </p:attrNameLst>
                                      </p:cBhvr>
                                      <p:to>
                                        <p:strVal val="visible"/>
                                      </p:to>
                                    </p:set>
                                    <p:animEffect transition="in" filter="blinds(horizontal)">
                                      <p:cBhvr>
                                        <p:cTn id="10" dur="500"/>
                                        <p:tgtEl>
                                          <p:spTgt spid="66048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660485">
                                            <p:txEl>
                                              <p:pRg st="2" end="2"/>
                                            </p:txEl>
                                          </p:spTgt>
                                        </p:tgtEl>
                                        <p:attrNameLst>
                                          <p:attrName>style.visibility</p:attrName>
                                        </p:attrNameLst>
                                      </p:cBhvr>
                                      <p:to>
                                        <p:strVal val="visible"/>
                                      </p:to>
                                    </p:set>
                                    <p:animEffect transition="in" filter="blinds(horizontal)">
                                      <p:cBhvr>
                                        <p:cTn id="15" dur="500"/>
                                        <p:tgtEl>
                                          <p:spTgt spid="66048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660493"/>
                                        </p:tgtEl>
                                        <p:attrNameLst>
                                          <p:attrName>style.visibility</p:attrName>
                                        </p:attrNameLst>
                                      </p:cBhvr>
                                      <p:to>
                                        <p:strVal val="visible"/>
                                      </p:to>
                                    </p:set>
                                    <p:animEffect transition="in" filter="blinds(horizontal)">
                                      <p:cBhvr>
                                        <p:cTn id="20" dur="500"/>
                                        <p:tgtEl>
                                          <p:spTgt spid="66049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660485">
                                            <p:txEl>
                                              <p:pRg st="3" end="3"/>
                                            </p:txEl>
                                          </p:spTgt>
                                        </p:tgtEl>
                                        <p:attrNameLst>
                                          <p:attrName>style.visibility</p:attrName>
                                        </p:attrNameLst>
                                      </p:cBhvr>
                                      <p:to>
                                        <p:strVal val="visible"/>
                                      </p:to>
                                    </p:set>
                                    <p:animEffect transition="in" filter="blinds(horizontal)">
                                      <p:cBhvr>
                                        <p:cTn id="25" dur="500"/>
                                        <p:tgtEl>
                                          <p:spTgt spid="660485">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660492"/>
                                        </p:tgtEl>
                                        <p:attrNameLst>
                                          <p:attrName>style.visibility</p:attrName>
                                        </p:attrNameLst>
                                      </p:cBhvr>
                                      <p:to>
                                        <p:strVal val="visible"/>
                                      </p:to>
                                    </p:set>
                                    <p:animEffect transition="in" filter="blinds(horizontal)">
                                      <p:cBhvr>
                                        <p:cTn id="30" dur="500"/>
                                        <p:tgtEl>
                                          <p:spTgt spid="66049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660485">
                                            <p:txEl>
                                              <p:pRg st="4" end="4"/>
                                            </p:txEl>
                                          </p:spTgt>
                                        </p:tgtEl>
                                        <p:attrNameLst>
                                          <p:attrName>style.visibility</p:attrName>
                                        </p:attrNameLst>
                                      </p:cBhvr>
                                      <p:to>
                                        <p:strVal val="visible"/>
                                      </p:to>
                                    </p:set>
                                    <p:animEffect transition="in" filter="blinds(horizontal)">
                                      <p:cBhvr>
                                        <p:cTn id="35" dur="500"/>
                                        <p:tgtEl>
                                          <p:spTgt spid="660485">
                                            <p:txEl>
                                              <p:pRg st="4" end="4"/>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660491"/>
                                        </p:tgtEl>
                                        <p:attrNameLst>
                                          <p:attrName>style.visibility</p:attrName>
                                        </p:attrNameLst>
                                      </p:cBhvr>
                                      <p:to>
                                        <p:strVal val="visible"/>
                                      </p:to>
                                    </p:set>
                                    <p:animEffect transition="in" filter="blinds(horizontal)">
                                      <p:cBhvr>
                                        <p:cTn id="40" dur="500"/>
                                        <p:tgtEl>
                                          <p:spTgt spid="66049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660485">
                                            <p:txEl>
                                              <p:pRg st="5" end="5"/>
                                            </p:txEl>
                                          </p:spTgt>
                                        </p:tgtEl>
                                        <p:attrNameLst>
                                          <p:attrName>style.visibility</p:attrName>
                                        </p:attrNameLst>
                                      </p:cBhvr>
                                      <p:to>
                                        <p:strVal val="visible"/>
                                      </p:to>
                                    </p:set>
                                    <p:animEffect transition="in" filter="blinds(horizontal)">
                                      <p:cBhvr>
                                        <p:cTn id="45" dur="500"/>
                                        <p:tgtEl>
                                          <p:spTgt spid="660485">
                                            <p:txEl>
                                              <p:pRg st="5" end="5"/>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660490"/>
                                        </p:tgtEl>
                                        <p:attrNameLst>
                                          <p:attrName>style.visibility</p:attrName>
                                        </p:attrNameLst>
                                      </p:cBhvr>
                                      <p:to>
                                        <p:strVal val="visible"/>
                                      </p:to>
                                    </p:set>
                                    <p:animEffect transition="in" filter="blinds(horizontal)">
                                      <p:cBhvr>
                                        <p:cTn id="50" dur="500"/>
                                        <p:tgtEl>
                                          <p:spTgt spid="66049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660485">
                                            <p:txEl>
                                              <p:pRg st="6" end="6"/>
                                            </p:txEl>
                                          </p:spTgt>
                                        </p:tgtEl>
                                        <p:attrNameLst>
                                          <p:attrName>style.visibility</p:attrName>
                                        </p:attrNameLst>
                                      </p:cBhvr>
                                      <p:to>
                                        <p:strVal val="visible"/>
                                      </p:to>
                                    </p:set>
                                    <p:animEffect transition="in" filter="blinds(horizontal)">
                                      <p:cBhvr>
                                        <p:cTn id="55" dur="500"/>
                                        <p:tgtEl>
                                          <p:spTgt spid="660485">
                                            <p:txEl>
                                              <p:pRg st="6" end="6"/>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660489"/>
                                        </p:tgtEl>
                                        <p:attrNameLst>
                                          <p:attrName>style.visibility</p:attrName>
                                        </p:attrNameLst>
                                      </p:cBhvr>
                                      <p:to>
                                        <p:strVal val="visible"/>
                                      </p:to>
                                    </p:set>
                                    <p:animEffect transition="in" filter="blinds(horizontal)">
                                      <p:cBhvr>
                                        <p:cTn id="60" dur="500"/>
                                        <p:tgtEl>
                                          <p:spTgt spid="66048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nodeType="clickEffect">
                                  <p:stCondLst>
                                    <p:cond delay="0"/>
                                  </p:stCondLst>
                                  <p:childTnLst>
                                    <p:set>
                                      <p:cBhvr>
                                        <p:cTn id="64" dur="1" fill="hold">
                                          <p:stCondLst>
                                            <p:cond delay="0"/>
                                          </p:stCondLst>
                                        </p:cTn>
                                        <p:tgtEl>
                                          <p:spTgt spid="660485">
                                            <p:txEl>
                                              <p:pRg st="7" end="7"/>
                                            </p:txEl>
                                          </p:spTgt>
                                        </p:tgtEl>
                                        <p:attrNameLst>
                                          <p:attrName>style.visibility</p:attrName>
                                        </p:attrNameLst>
                                      </p:cBhvr>
                                      <p:to>
                                        <p:strVal val="visible"/>
                                      </p:to>
                                    </p:set>
                                    <p:animEffect transition="in" filter="blinds(horizontal)">
                                      <p:cBhvr>
                                        <p:cTn id="65" dur="500"/>
                                        <p:tgtEl>
                                          <p:spTgt spid="660485">
                                            <p:txEl>
                                              <p:pRg st="7" end="7"/>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nodeType="clickEffect">
                                  <p:stCondLst>
                                    <p:cond delay="0"/>
                                  </p:stCondLst>
                                  <p:childTnLst>
                                    <p:set>
                                      <p:cBhvr>
                                        <p:cTn id="69" dur="1" fill="hold">
                                          <p:stCondLst>
                                            <p:cond delay="0"/>
                                          </p:stCondLst>
                                        </p:cTn>
                                        <p:tgtEl>
                                          <p:spTgt spid="660485">
                                            <p:txEl>
                                              <p:pRg st="8" end="8"/>
                                            </p:txEl>
                                          </p:spTgt>
                                        </p:tgtEl>
                                        <p:attrNameLst>
                                          <p:attrName>style.visibility</p:attrName>
                                        </p:attrNameLst>
                                      </p:cBhvr>
                                      <p:to>
                                        <p:strVal val="visible"/>
                                      </p:to>
                                    </p:set>
                                    <p:animEffect transition="in" filter="blinds(horizontal)">
                                      <p:cBhvr>
                                        <p:cTn id="70" dur="500"/>
                                        <p:tgtEl>
                                          <p:spTgt spid="660485">
                                            <p:txEl>
                                              <p:pRg st="8" end="8"/>
                                            </p:txEl>
                                          </p:spTgt>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10" fill="hold" nodeType="clickEffect">
                                  <p:stCondLst>
                                    <p:cond delay="0"/>
                                  </p:stCondLst>
                                  <p:childTnLst>
                                    <p:set>
                                      <p:cBhvr>
                                        <p:cTn id="74" dur="1" fill="hold">
                                          <p:stCondLst>
                                            <p:cond delay="0"/>
                                          </p:stCondLst>
                                        </p:cTn>
                                        <p:tgtEl>
                                          <p:spTgt spid="660487"/>
                                        </p:tgtEl>
                                        <p:attrNameLst>
                                          <p:attrName>style.visibility</p:attrName>
                                        </p:attrNameLst>
                                      </p:cBhvr>
                                      <p:to>
                                        <p:strVal val="visible"/>
                                      </p:to>
                                    </p:set>
                                    <p:animEffect transition="in" filter="blinds(horizontal)">
                                      <p:cBhvr>
                                        <p:cTn id="75" dur="500"/>
                                        <p:tgtEl>
                                          <p:spTgt spid="660487"/>
                                        </p:tgtEl>
                                      </p:cBhvr>
                                    </p:animEffect>
                                  </p:childTnLst>
                                </p:cTn>
                              </p:par>
                              <p:par>
                                <p:cTn id="76" presetID="3" presetClass="entr" presetSubtype="10" fill="hold" nodeType="withEffect">
                                  <p:stCondLst>
                                    <p:cond delay="0"/>
                                  </p:stCondLst>
                                  <p:childTnLst>
                                    <p:set>
                                      <p:cBhvr>
                                        <p:cTn id="77" dur="1" fill="hold">
                                          <p:stCondLst>
                                            <p:cond delay="0"/>
                                          </p:stCondLst>
                                        </p:cTn>
                                        <p:tgtEl>
                                          <p:spTgt spid="660488"/>
                                        </p:tgtEl>
                                        <p:attrNameLst>
                                          <p:attrName>style.visibility</p:attrName>
                                        </p:attrNameLst>
                                      </p:cBhvr>
                                      <p:to>
                                        <p:strVal val="visible"/>
                                      </p:to>
                                    </p:set>
                                    <p:animEffect transition="in" filter="blinds(horizontal)">
                                      <p:cBhvr>
                                        <p:cTn id="78" dur="500"/>
                                        <p:tgtEl>
                                          <p:spTgt spid="66048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660494"/>
                                        </p:tgtEl>
                                        <p:attrNameLst>
                                          <p:attrName>style.visibility</p:attrName>
                                        </p:attrNameLst>
                                      </p:cBhvr>
                                      <p:to>
                                        <p:strVal val="visible"/>
                                      </p:to>
                                    </p:set>
                                    <p:animEffect transition="in" filter="blinds(horizontal)">
                                      <p:cBhvr>
                                        <p:cTn id="83" dur="500"/>
                                        <p:tgtEl>
                                          <p:spTgt spid="66049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660496"/>
                                        </p:tgtEl>
                                        <p:attrNameLst>
                                          <p:attrName>style.visibility</p:attrName>
                                        </p:attrNameLst>
                                      </p:cBhvr>
                                      <p:to>
                                        <p:strVal val="visible"/>
                                      </p:to>
                                    </p:set>
                                    <p:animEffect transition="in" filter="blinds(horizontal)">
                                      <p:cBhvr>
                                        <p:cTn id="88" dur="500"/>
                                        <p:tgtEl>
                                          <p:spTgt spid="66049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660498"/>
                                        </p:tgtEl>
                                        <p:attrNameLst>
                                          <p:attrName>style.visibility</p:attrName>
                                        </p:attrNameLst>
                                      </p:cBhvr>
                                      <p:to>
                                        <p:strVal val="visible"/>
                                      </p:to>
                                    </p:set>
                                    <p:animEffect transition="in" filter="blinds(horizontal)">
                                      <p:cBhvr>
                                        <p:cTn id="93" dur="500"/>
                                        <p:tgtEl>
                                          <p:spTgt spid="660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94" grpId="0"/>
      <p:bldP spid="660496" grpId="0"/>
      <p:bldP spid="66049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C0245C24-68D1-E849-B225-C84172166CCD}"/>
              </a:ext>
            </a:extLst>
          </p:cNvPr>
          <p:cNvSpPr>
            <a:spLocks noGrp="1" noChangeArrowheads="1"/>
          </p:cNvSpPr>
          <p:nvPr>
            <p:ph type="title"/>
          </p:nvPr>
        </p:nvSpPr>
        <p:spPr>
          <a:xfrm>
            <a:off x="703263" y="180975"/>
            <a:ext cx="6994525" cy="368300"/>
          </a:xfrm>
        </p:spPr>
        <p:txBody>
          <a:bodyPr/>
          <a:lstStyle/>
          <a:p>
            <a:pPr eaLnBrk="1" hangingPunct="1"/>
            <a:r>
              <a:rPr lang="en-US" altLang="zh-CN"/>
              <a:t>MIPS</a:t>
            </a:r>
            <a:r>
              <a:rPr lang="zh-CN" altLang="en-US"/>
              <a:t>程序和数据的存储器分配</a:t>
            </a:r>
          </a:p>
        </p:txBody>
      </p:sp>
      <p:graphicFrame>
        <p:nvGraphicFramePr>
          <p:cNvPr id="212995" name="Object 4">
            <a:extLst>
              <a:ext uri="{FF2B5EF4-FFF2-40B4-BE49-F238E27FC236}">
                <a16:creationId xmlns:a16="http://schemas.microsoft.com/office/drawing/2014/main" id="{504430FB-328F-AA41-94F3-1CDE713A9455}"/>
              </a:ext>
            </a:extLst>
          </p:cNvPr>
          <p:cNvGraphicFramePr>
            <a:graphicFrameLocks noGrp="1" noChangeAspect="1"/>
          </p:cNvGraphicFramePr>
          <p:nvPr>
            <p:ph sz="half" idx="2"/>
          </p:nvPr>
        </p:nvGraphicFramePr>
        <p:xfrm>
          <a:off x="1555750" y="954088"/>
          <a:ext cx="6724650" cy="5318125"/>
        </p:xfrm>
        <a:graphic>
          <a:graphicData uri="http://schemas.openxmlformats.org/presentationml/2006/ole">
            <mc:AlternateContent xmlns:mc="http://schemas.openxmlformats.org/markup-compatibility/2006">
              <mc:Choice xmlns:v="urn:schemas-microsoft-com:vml" Requires="v">
                <p:oleObj spid="_x0000_s213083" name="位图图像" r:id="rId4" imgW="2425700" imgH="1879600" progId="Paint.Picture">
                  <p:embed/>
                </p:oleObj>
              </mc:Choice>
              <mc:Fallback>
                <p:oleObj name="位图图像" r:id="rId4" imgW="2425700" imgH="1879600" progId="Paint.Picture">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750" y="954088"/>
                        <a:ext cx="6724650" cy="531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9287" name="Text Box 7">
            <a:extLst>
              <a:ext uri="{FF2B5EF4-FFF2-40B4-BE49-F238E27FC236}">
                <a16:creationId xmlns:a16="http://schemas.microsoft.com/office/drawing/2014/main" id="{75BAB3D2-02BC-684F-BA45-14EEDD8295D9}"/>
              </a:ext>
            </a:extLst>
          </p:cNvPr>
          <p:cNvSpPr txBox="1">
            <a:spLocks noChangeArrowheads="1"/>
          </p:cNvSpPr>
          <p:nvPr/>
        </p:nvSpPr>
        <p:spPr bwMode="auto">
          <a:xfrm>
            <a:off x="1376363" y="6264275"/>
            <a:ext cx="603091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400" b="1">
                <a:solidFill>
                  <a:srgbClr val="B3110D"/>
                </a:solidFill>
                <a:ea typeface="黑体" panose="02010609060101010101" pitchFamily="49" charset="-122"/>
              </a:rPr>
              <a:t>这就是每个进程的虚拟（逻辑）地址空间！</a:t>
            </a:r>
          </a:p>
        </p:txBody>
      </p:sp>
      <p:sp>
        <p:nvSpPr>
          <p:cNvPr id="609290" name="Text Box 10">
            <a:extLst>
              <a:ext uri="{FF2B5EF4-FFF2-40B4-BE49-F238E27FC236}">
                <a16:creationId xmlns:a16="http://schemas.microsoft.com/office/drawing/2014/main" id="{74D680EC-E835-8148-A968-A60353CA3CFA}"/>
              </a:ext>
            </a:extLst>
          </p:cNvPr>
          <p:cNvSpPr txBox="1">
            <a:spLocks noChangeArrowheads="1"/>
          </p:cNvSpPr>
          <p:nvPr/>
        </p:nvSpPr>
        <p:spPr bwMode="auto">
          <a:xfrm>
            <a:off x="8070850" y="1628775"/>
            <a:ext cx="866775"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400" b="1">
                <a:solidFill>
                  <a:srgbClr val="B3110D"/>
                </a:solidFill>
                <a:ea typeface="黑体" panose="02010609060101010101" pitchFamily="49" charset="-122"/>
              </a:rPr>
              <a:t>每个用户程序都有相同的虚拟地址空间！</a:t>
            </a:r>
          </a:p>
        </p:txBody>
      </p:sp>
      <p:sp>
        <p:nvSpPr>
          <p:cNvPr id="609291" name="Text Box 11">
            <a:extLst>
              <a:ext uri="{FF2B5EF4-FFF2-40B4-BE49-F238E27FC236}">
                <a16:creationId xmlns:a16="http://schemas.microsoft.com/office/drawing/2014/main" id="{94EDC603-A4A1-324F-83AC-C105D1CD558A}"/>
              </a:ext>
            </a:extLst>
          </p:cNvPr>
          <p:cNvSpPr txBox="1">
            <a:spLocks noChangeArrowheads="1"/>
          </p:cNvSpPr>
          <p:nvPr/>
        </p:nvSpPr>
        <p:spPr bwMode="auto">
          <a:xfrm>
            <a:off x="250825" y="1719263"/>
            <a:ext cx="38258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FF0066"/>
                </a:solidFill>
                <a:ea typeface="黑体" panose="02010609060101010101" pitchFamily="49" charset="-122"/>
              </a:rPr>
              <a:t>问题：你知道一个程序在</a:t>
            </a:r>
            <a:r>
              <a:rPr kumimoji="1" lang="zh-CN" altLang="en-US" sz="2000" b="1">
                <a:solidFill>
                  <a:srgbClr val="FF0066"/>
                </a:solidFill>
                <a:latin typeface="Times New Roman" panose="02020603050405020304" pitchFamily="18" charset="0"/>
                <a:ea typeface="黑体" panose="02010609060101010101" pitchFamily="49" charset="-122"/>
              </a:rPr>
              <a:t>“</a:t>
            </a:r>
            <a:r>
              <a:rPr kumimoji="1" lang="zh-CN" altLang="en-US" sz="2000" b="1">
                <a:solidFill>
                  <a:srgbClr val="FF0066"/>
                </a:solidFill>
                <a:ea typeface="黑体" panose="02010609060101010101" pitchFamily="49" charset="-122"/>
              </a:rPr>
              <a:t>编辑、编译、汇编、链接、装入</a:t>
            </a:r>
            <a:r>
              <a:rPr kumimoji="1" lang="zh-CN" altLang="en-US" sz="2000" b="1">
                <a:solidFill>
                  <a:srgbClr val="FF0066"/>
                </a:solidFill>
                <a:latin typeface="Times New Roman" panose="02020603050405020304" pitchFamily="18" charset="0"/>
                <a:ea typeface="黑体" panose="02010609060101010101" pitchFamily="49" charset="-122"/>
              </a:rPr>
              <a:t>”</a:t>
            </a:r>
            <a:r>
              <a:rPr kumimoji="1" lang="zh-CN" altLang="en-US" sz="2000" b="1">
                <a:solidFill>
                  <a:srgbClr val="FF0066"/>
                </a:solidFill>
                <a:ea typeface="黑体" panose="02010609060101010101" pitchFamily="49" charset="-122"/>
              </a:rPr>
              <a:t>过程中的哪个环节确定了每条指令及其操作数的虚拟地址吗？</a:t>
            </a:r>
          </a:p>
        </p:txBody>
      </p:sp>
      <p:sp>
        <p:nvSpPr>
          <p:cNvPr id="609292" name="Text Box 12">
            <a:extLst>
              <a:ext uri="{FF2B5EF4-FFF2-40B4-BE49-F238E27FC236}">
                <a16:creationId xmlns:a16="http://schemas.microsoft.com/office/drawing/2014/main" id="{2D578CC3-99D4-0941-9110-E2195A1214D6}"/>
              </a:ext>
            </a:extLst>
          </p:cNvPr>
          <p:cNvSpPr txBox="1">
            <a:spLocks noChangeArrowheads="1"/>
          </p:cNvSpPr>
          <p:nvPr/>
        </p:nvSpPr>
        <p:spPr bwMode="auto">
          <a:xfrm>
            <a:off x="296863" y="3024188"/>
            <a:ext cx="3825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0000FF"/>
                </a:solidFill>
                <a:ea typeface="黑体" panose="02010609060101010101" pitchFamily="49" charset="-122"/>
              </a:rPr>
              <a:t>链接时确定虚拟地址；装入时生成页表以建立虚拟地址与物理地址之间的映射！</a:t>
            </a:r>
          </a:p>
        </p:txBody>
      </p:sp>
      <p:sp>
        <p:nvSpPr>
          <p:cNvPr id="609293" name="Text Box 13">
            <a:extLst>
              <a:ext uri="{FF2B5EF4-FFF2-40B4-BE49-F238E27FC236}">
                <a16:creationId xmlns:a16="http://schemas.microsoft.com/office/drawing/2014/main" id="{24B6423B-AA62-1646-A143-A9EF1B7E7A9F}"/>
              </a:ext>
            </a:extLst>
          </p:cNvPr>
          <p:cNvSpPr txBox="1">
            <a:spLocks noChangeArrowheads="1"/>
          </p:cNvSpPr>
          <p:nvPr/>
        </p:nvSpPr>
        <p:spPr bwMode="auto">
          <a:xfrm>
            <a:off x="250825" y="4114800"/>
            <a:ext cx="14859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006600"/>
                </a:solidFill>
                <a:ea typeface="黑体" panose="02010609060101010101" pitchFamily="49" charset="-122"/>
              </a:rPr>
              <a:t>请参考</a:t>
            </a:r>
            <a:r>
              <a:rPr kumimoji="1" lang="en-US" altLang="zh-CN" sz="2000" b="1">
                <a:solidFill>
                  <a:srgbClr val="006600"/>
                </a:solidFill>
                <a:ea typeface="黑体" panose="02010609060101010101" pitchFamily="49" charset="-122"/>
              </a:rPr>
              <a:t>《</a:t>
            </a:r>
            <a:r>
              <a:rPr kumimoji="1" lang="zh-CN" altLang="en-US" sz="2000" b="1">
                <a:solidFill>
                  <a:srgbClr val="006600"/>
                </a:solidFill>
                <a:ea typeface="黑体" panose="02010609060101010101" pitchFamily="49" charset="-122"/>
              </a:rPr>
              <a:t>深入理解计算机系统</a:t>
            </a:r>
            <a:r>
              <a:rPr kumimoji="1" lang="en-US" altLang="zh-CN" sz="2000" b="1">
                <a:solidFill>
                  <a:srgbClr val="006600"/>
                </a:solidFill>
                <a:ea typeface="黑体" panose="02010609060101010101" pitchFamily="49" charset="-122"/>
              </a:rPr>
              <a:t>》</a:t>
            </a:r>
            <a:r>
              <a:rPr kumimoji="1" lang="zh-CN" altLang="en-US" sz="2000" b="1">
                <a:solidFill>
                  <a:srgbClr val="006600"/>
                </a:solidFill>
                <a:ea typeface="黑体" panose="02010609060101010101" pitchFamily="49" charset="-122"/>
              </a:rPr>
              <a:t>和有关</a:t>
            </a:r>
            <a:r>
              <a:rPr kumimoji="1" lang="en-US" altLang="zh-CN" sz="2000" b="1">
                <a:solidFill>
                  <a:srgbClr val="006600"/>
                </a:solidFill>
                <a:ea typeface="黑体" panose="02010609060101010101" pitchFamily="49" charset="-122"/>
              </a:rPr>
              <a:t>Linux</a:t>
            </a:r>
            <a:r>
              <a:rPr kumimoji="1" lang="zh-CN" altLang="en-US" sz="2000" b="1">
                <a:solidFill>
                  <a:srgbClr val="006600"/>
                </a:solidFill>
                <a:ea typeface="黑体" panose="02010609060101010101" pitchFamily="49" charset="-122"/>
              </a:rPr>
              <a:t>内核分析方面的资料。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9287"/>
                                        </p:tgtEl>
                                        <p:attrNameLst>
                                          <p:attrName>style.visibility</p:attrName>
                                        </p:attrNameLst>
                                      </p:cBhvr>
                                      <p:to>
                                        <p:strVal val="visible"/>
                                      </p:to>
                                    </p:set>
                                    <p:animEffect transition="in" filter="blinds(horizontal)">
                                      <p:cBhvr>
                                        <p:cTn id="7" dur="500"/>
                                        <p:tgtEl>
                                          <p:spTgt spid="6092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9290"/>
                                        </p:tgtEl>
                                        <p:attrNameLst>
                                          <p:attrName>style.visibility</p:attrName>
                                        </p:attrNameLst>
                                      </p:cBhvr>
                                      <p:to>
                                        <p:strVal val="visible"/>
                                      </p:to>
                                    </p:set>
                                    <p:animEffect transition="in" filter="blinds(horizontal)">
                                      <p:cBhvr>
                                        <p:cTn id="12" dur="500"/>
                                        <p:tgtEl>
                                          <p:spTgt spid="6092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9291"/>
                                        </p:tgtEl>
                                        <p:attrNameLst>
                                          <p:attrName>style.visibility</p:attrName>
                                        </p:attrNameLst>
                                      </p:cBhvr>
                                      <p:to>
                                        <p:strVal val="visible"/>
                                      </p:to>
                                    </p:set>
                                    <p:animEffect transition="in" filter="blinds(horizontal)">
                                      <p:cBhvr>
                                        <p:cTn id="17" dur="500"/>
                                        <p:tgtEl>
                                          <p:spTgt spid="6092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09292"/>
                                        </p:tgtEl>
                                        <p:attrNameLst>
                                          <p:attrName>style.visibility</p:attrName>
                                        </p:attrNameLst>
                                      </p:cBhvr>
                                      <p:to>
                                        <p:strVal val="visible"/>
                                      </p:to>
                                    </p:set>
                                    <p:animEffect transition="in" filter="blinds(horizontal)">
                                      <p:cBhvr>
                                        <p:cTn id="22" dur="500"/>
                                        <p:tgtEl>
                                          <p:spTgt spid="6092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09293"/>
                                        </p:tgtEl>
                                        <p:attrNameLst>
                                          <p:attrName>style.visibility</p:attrName>
                                        </p:attrNameLst>
                                      </p:cBhvr>
                                      <p:to>
                                        <p:strVal val="visible"/>
                                      </p:to>
                                    </p:set>
                                    <p:animEffect transition="in" filter="blinds(horizontal)">
                                      <p:cBhvr>
                                        <p:cTn id="27" dur="500"/>
                                        <p:tgtEl>
                                          <p:spTgt spid="609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7" grpId="0"/>
      <p:bldP spid="609290" grpId="0"/>
      <p:bldP spid="609291" grpId="0"/>
      <p:bldP spid="609292" grpId="0"/>
      <p:bldP spid="60929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3">
            <a:extLst>
              <a:ext uri="{FF2B5EF4-FFF2-40B4-BE49-F238E27FC236}">
                <a16:creationId xmlns:a16="http://schemas.microsoft.com/office/drawing/2014/main" id="{0ABEDBF9-D2EC-D647-91E9-F2B1375746D4}"/>
              </a:ext>
            </a:extLst>
          </p:cNvPr>
          <p:cNvSpPr>
            <a:spLocks noGrp="1" noChangeArrowheads="1"/>
          </p:cNvSpPr>
          <p:nvPr>
            <p:ph type="title" idx="4294967295"/>
          </p:nvPr>
        </p:nvSpPr>
        <p:spPr>
          <a:xfrm>
            <a:off x="187325" y="168275"/>
            <a:ext cx="8782050" cy="479425"/>
          </a:xfrm>
        </p:spPr>
        <p:txBody>
          <a:bodyPr/>
          <a:lstStyle/>
          <a:p>
            <a: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3200"/>
              <a:t>Linux</a:t>
            </a:r>
            <a:r>
              <a:rPr lang="zh-CN" altLang="en-GB" sz="3200"/>
              <a:t>将</a:t>
            </a:r>
            <a:r>
              <a:rPr lang="zh-CN" altLang="en-GB" sz="3200">
                <a:solidFill>
                  <a:srgbClr val="FF0000"/>
                </a:solidFill>
              </a:rPr>
              <a:t>虚存空间</a:t>
            </a:r>
            <a:r>
              <a:rPr lang="zh-CN" altLang="en-GB" sz="3200"/>
              <a:t>组织成“区域</a:t>
            </a:r>
            <a:r>
              <a:rPr lang="en-GB" altLang="zh-CN" sz="3200"/>
              <a:t>”</a:t>
            </a:r>
            <a:r>
              <a:rPr lang="zh-CN" altLang="en-GB" sz="3200"/>
              <a:t>的集合</a:t>
            </a:r>
          </a:p>
        </p:txBody>
      </p:sp>
      <p:sp>
        <p:nvSpPr>
          <p:cNvPr id="215043" name="Rectangle 50">
            <a:extLst>
              <a:ext uri="{FF2B5EF4-FFF2-40B4-BE49-F238E27FC236}">
                <a16:creationId xmlns:a16="http://schemas.microsoft.com/office/drawing/2014/main" id="{F86898EA-F730-274B-A70A-E0DB2055B735}"/>
              </a:ext>
            </a:extLst>
          </p:cNvPr>
          <p:cNvSpPr>
            <a:spLocks noGrp="1" noChangeArrowheads="1"/>
          </p:cNvSpPr>
          <p:nvPr>
            <p:ph type="body" idx="4294967295"/>
          </p:nvPr>
        </p:nvSpPr>
        <p:spPr>
          <a:xfrm>
            <a:off x="185738" y="3382963"/>
            <a:ext cx="3963987" cy="1177925"/>
          </a:xfrm>
        </p:spPr>
        <p:txBody>
          <a:bodyPr/>
          <a:lstStyle/>
          <a:p>
            <a:pPr>
              <a:lnSpc>
                <a:spcPct val="90000"/>
              </a:lnSpc>
              <a:spcBef>
                <a:spcPts val="563"/>
              </a:spcBef>
              <a:buFontTx/>
              <a:buNone/>
              <a:tabLst>
                <a:tab pos="669925" algn="l"/>
                <a:tab pos="1584325" algn="l"/>
                <a:tab pos="2498725" algn="l"/>
                <a:tab pos="3413125" algn="l"/>
                <a:tab pos="4327525" algn="l"/>
                <a:tab pos="5241925" algn="l"/>
                <a:tab pos="6156325" algn="l"/>
                <a:tab pos="7070725" algn="l"/>
                <a:tab pos="7985125" algn="l"/>
                <a:tab pos="8899525" algn="l"/>
                <a:tab pos="9813925" algn="l"/>
              </a:tabLst>
            </a:pPr>
            <a:r>
              <a:rPr lang="en-GB" altLang="zh-CN" sz="2200">
                <a:latin typeface="微软雅黑" panose="020B0503020204020204" pitchFamily="34" charset="-122"/>
                <a:ea typeface="微软雅黑" panose="020B0503020204020204" pitchFamily="34" charset="-122"/>
              </a:rPr>
              <a:t>pgd: </a:t>
            </a:r>
            <a:r>
              <a:rPr lang="zh-CN" altLang="en-US" sz="2200">
                <a:solidFill>
                  <a:srgbClr val="FF0000"/>
                </a:solidFill>
                <a:latin typeface="微软雅黑" panose="020B0503020204020204" pitchFamily="34" charset="-122"/>
                <a:ea typeface="微软雅黑" panose="020B0503020204020204" pitchFamily="34" charset="-122"/>
              </a:rPr>
              <a:t>全局页目录地址</a:t>
            </a:r>
            <a:endParaRPr lang="en-GB" altLang="zh-CN" sz="2200">
              <a:latin typeface="微软雅黑" panose="020B0503020204020204" pitchFamily="34" charset="-122"/>
              <a:ea typeface="微软雅黑" panose="020B0503020204020204" pitchFamily="34" charset="-122"/>
            </a:endParaRPr>
          </a:p>
          <a:p>
            <a:pPr>
              <a:lnSpc>
                <a:spcPct val="90000"/>
              </a:lnSpc>
              <a:spcBef>
                <a:spcPts val="563"/>
              </a:spcBef>
              <a:buFontTx/>
              <a:buNone/>
              <a:tabLst>
                <a:tab pos="669925" algn="l"/>
                <a:tab pos="1584325" algn="l"/>
                <a:tab pos="2498725" algn="l"/>
                <a:tab pos="3413125" algn="l"/>
                <a:tab pos="4327525" algn="l"/>
                <a:tab pos="5241925" algn="l"/>
                <a:tab pos="6156325" algn="l"/>
                <a:tab pos="7070725" algn="l"/>
                <a:tab pos="7985125" algn="l"/>
                <a:tab pos="8899525" algn="l"/>
                <a:tab pos="9813925" algn="l"/>
              </a:tabLst>
            </a:pPr>
            <a:r>
              <a:rPr lang="en-GB" altLang="zh-CN" sz="2200">
                <a:latin typeface="微软雅黑" panose="020B0503020204020204" pitchFamily="34" charset="-122"/>
                <a:ea typeface="微软雅黑" panose="020B0503020204020204" pitchFamily="34" charset="-122"/>
              </a:rPr>
              <a:t>vm_prot: </a:t>
            </a:r>
            <a:r>
              <a:rPr lang="zh-CN" altLang="en-US" sz="2200">
                <a:solidFill>
                  <a:srgbClr val="FF0000"/>
                </a:solidFill>
                <a:latin typeface="微软雅黑" panose="020B0503020204020204" pitchFamily="34" charset="-122"/>
                <a:ea typeface="微软雅黑" panose="020B0503020204020204" pitchFamily="34" charset="-122"/>
              </a:rPr>
              <a:t>访问权限</a:t>
            </a:r>
            <a:endParaRPr lang="en-GB" altLang="zh-CN" sz="2200">
              <a:latin typeface="微软雅黑" panose="020B0503020204020204" pitchFamily="34" charset="-122"/>
              <a:ea typeface="微软雅黑" panose="020B0503020204020204" pitchFamily="34" charset="-122"/>
            </a:endParaRPr>
          </a:p>
          <a:p>
            <a:pPr>
              <a:lnSpc>
                <a:spcPct val="90000"/>
              </a:lnSpc>
              <a:spcBef>
                <a:spcPts val="563"/>
              </a:spcBef>
              <a:buFontTx/>
              <a:buNone/>
              <a:tabLst>
                <a:tab pos="669925" algn="l"/>
                <a:tab pos="1584325" algn="l"/>
                <a:tab pos="2498725" algn="l"/>
                <a:tab pos="3413125" algn="l"/>
                <a:tab pos="4327525" algn="l"/>
                <a:tab pos="5241925" algn="l"/>
                <a:tab pos="6156325" algn="l"/>
                <a:tab pos="7070725" algn="l"/>
                <a:tab pos="7985125" algn="l"/>
                <a:tab pos="8899525" algn="l"/>
                <a:tab pos="9813925" algn="l"/>
              </a:tabLst>
            </a:pPr>
            <a:r>
              <a:rPr lang="en-GB" altLang="zh-CN" sz="2200">
                <a:latin typeface="微软雅黑" panose="020B0503020204020204" pitchFamily="34" charset="-122"/>
                <a:ea typeface="微软雅黑" panose="020B0503020204020204" pitchFamily="34" charset="-122"/>
              </a:rPr>
              <a:t>vm_flags</a:t>
            </a:r>
            <a:r>
              <a:rPr lang="zh-CN" altLang="en-GB" sz="2200">
                <a:latin typeface="微软雅黑" panose="020B0503020204020204" pitchFamily="34" charset="-122"/>
                <a:ea typeface="微软雅黑" panose="020B0503020204020204" pitchFamily="34" charset="-122"/>
              </a:rPr>
              <a:t>：</a:t>
            </a:r>
            <a:r>
              <a:rPr lang="zh-CN" altLang="en-US" sz="2200">
                <a:solidFill>
                  <a:srgbClr val="FF0000"/>
                </a:solidFill>
                <a:latin typeface="微软雅黑" panose="020B0503020204020204" pitchFamily="34" charset="-122"/>
                <a:ea typeface="微软雅黑" panose="020B0503020204020204" pitchFamily="34" charset="-122"/>
              </a:rPr>
              <a:t>映射对象的类型</a:t>
            </a:r>
          </a:p>
          <a:p>
            <a:pPr>
              <a:lnSpc>
                <a:spcPct val="90000"/>
              </a:lnSpc>
              <a:spcBef>
                <a:spcPts val="563"/>
              </a:spcBef>
              <a:buFontTx/>
              <a:buNone/>
              <a:tabLst>
                <a:tab pos="669925" algn="l"/>
                <a:tab pos="1584325" algn="l"/>
                <a:tab pos="2498725" algn="l"/>
                <a:tab pos="3413125" algn="l"/>
                <a:tab pos="4327525" algn="l"/>
                <a:tab pos="5241925" algn="l"/>
                <a:tab pos="6156325" algn="l"/>
                <a:tab pos="7070725" algn="l"/>
                <a:tab pos="7985125" algn="l"/>
                <a:tab pos="8899525" algn="l"/>
                <a:tab pos="9813925" algn="l"/>
              </a:tabLst>
            </a:pPr>
            <a:endParaRPr lang="en-GB" altLang="zh-CN" sz="2200">
              <a:latin typeface="微软雅黑" panose="020B0503020204020204" pitchFamily="34" charset="-122"/>
              <a:ea typeface="微软雅黑" panose="020B0503020204020204" pitchFamily="34" charset="-122"/>
            </a:endParaRPr>
          </a:p>
        </p:txBody>
      </p:sp>
      <p:grpSp>
        <p:nvGrpSpPr>
          <p:cNvPr id="215044" name="Group 4">
            <a:extLst>
              <a:ext uri="{FF2B5EF4-FFF2-40B4-BE49-F238E27FC236}">
                <a16:creationId xmlns:a16="http://schemas.microsoft.com/office/drawing/2014/main" id="{C05D4C5A-9F81-FF40-AB82-4B72427873F2}"/>
              </a:ext>
            </a:extLst>
          </p:cNvPr>
          <p:cNvGrpSpPr>
            <a:grpSpLocks/>
          </p:cNvGrpSpPr>
          <p:nvPr/>
        </p:nvGrpSpPr>
        <p:grpSpPr bwMode="auto">
          <a:xfrm>
            <a:off x="223838" y="771525"/>
            <a:ext cx="8934450" cy="5334000"/>
            <a:chOff x="222" y="531"/>
            <a:chExt cx="5000" cy="3360"/>
          </a:xfrm>
        </p:grpSpPr>
        <p:sp>
          <p:nvSpPr>
            <p:cNvPr id="29697" name="Rectangle 1">
              <a:extLst>
                <a:ext uri="{FF2B5EF4-FFF2-40B4-BE49-F238E27FC236}">
                  <a16:creationId xmlns:a16="http://schemas.microsoft.com/office/drawing/2014/main" id="{12A32952-21C3-104A-BB38-E4CD1ACBD3D0}"/>
                </a:ext>
              </a:extLst>
            </p:cNvPr>
            <p:cNvSpPr>
              <a:spLocks noChangeArrowheads="1"/>
            </p:cNvSpPr>
            <p:nvPr/>
          </p:nvSpPr>
          <p:spPr bwMode="auto">
            <a:xfrm>
              <a:off x="2557" y="2739"/>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b="1" dirty="0" err="1">
                  <a:latin typeface="Calibri" pitchFamily="34" charset="0"/>
                </a:rPr>
                <a:t>vm_next</a:t>
              </a:r>
              <a:endParaRPr lang="en-GB" b="1" dirty="0">
                <a:latin typeface="Calibri" pitchFamily="34" charset="0"/>
              </a:endParaRPr>
            </a:p>
          </p:txBody>
        </p:sp>
        <p:sp>
          <p:nvSpPr>
            <p:cNvPr id="29698" name="Rectangle 2">
              <a:extLst>
                <a:ext uri="{FF2B5EF4-FFF2-40B4-BE49-F238E27FC236}">
                  <a16:creationId xmlns:a16="http://schemas.microsoft.com/office/drawing/2014/main" id="{D7D6EFF9-54FC-424B-A3E9-C7AE857CA43E}"/>
                </a:ext>
              </a:extLst>
            </p:cNvPr>
            <p:cNvSpPr>
              <a:spLocks noChangeArrowheads="1"/>
            </p:cNvSpPr>
            <p:nvPr/>
          </p:nvSpPr>
          <p:spPr bwMode="auto">
            <a:xfrm>
              <a:off x="2557" y="1587"/>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p>
              <a:pPr algn="ctr">
                <a:lnSpc>
                  <a:spcPct val="88000"/>
                </a:lnSpc>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b="1" dirty="0" err="1">
                  <a:latin typeface="Calibri" pitchFamily="34" charset="0"/>
                </a:rPr>
                <a:t>vm_next</a:t>
              </a:r>
              <a:endParaRPr lang="en-GB" b="1" dirty="0">
                <a:latin typeface="Calibri" pitchFamily="34" charset="0"/>
              </a:endParaRPr>
            </a:p>
          </p:txBody>
        </p:sp>
        <p:sp>
          <p:nvSpPr>
            <p:cNvPr id="215048" name="Text Box 5">
              <a:extLst>
                <a:ext uri="{FF2B5EF4-FFF2-40B4-BE49-F238E27FC236}">
                  <a16:creationId xmlns:a16="http://schemas.microsoft.com/office/drawing/2014/main" id="{9CC2EFEA-CB75-F441-848C-6A6649C196E0}"/>
                </a:ext>
              </a:extLst>
            </p:cNvPr>
            <p:cNvSpPr txBox="1">
              <a:spLocks noChangeArrowheads="1"/>
            </p:cNvSpPr>
            <p:nvPr/>
          </p:nvSpPr>
          <p:spPr bwMode="auto">
            <a:xfrm>
              <a:off x="222" y="720"/>
              <a:ext cx="80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b="1">
                  <a:latin typeface="Arial Black" panose="020B0604020202020204" pitchFamily="34" charset="0"/>
                  <a:ea typeface="宋体" panose="02010600030101010101" pitchFamily="2" charset="-122"/>
                  <a:cs typeface="Courier New" panose="02070309020205020404" pitchFamily="49" charset="0"/>
                </a:rPr>
                <a:t>task_struct</a:t>
              </a:r>
            </a:p>
          </p:txBody>
        </p:sp>
        <p:sp>
          <p:nvSpPr>
            <p:cNvPr id="215049" name="Text Box 6">
              <a:extLst>
                <a:ext uri="{FF2B5EF4-FFF2-40B4-BE49-F238E27FC236}">
                  <a16:creationId xmlns:a16="http://schemas.microsoft.com/office/drawing/2014/main" id="{C81488FC-0108-9444-BF26-7BE3EF6CCA66}"/>
                </a:ext>
              </a:extLst>
            </p:cNvPr>
            <p:cNvSpPr txBox="1">
              <a:spLocks noChangeArrowheads="1"/>
            </p:cNvSpPr>
            <p:nvPr/>
          </p:nvSpPr>
          <p:spPr bwMode="auto">
            <a:xfrm>
              <a:off x="1381" y="819"/>
              <a:ext cx="75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b="1">
                  <a:latin typeface="Arial Black" panose="020B0604020202020204" pitchFamily="34" charset="0"/>
                  <a:ea typeface="宋体" panose="02010600030101010101" pitchFamily="2" charset="-122"/>
                  <a:cs typeface="Courier New" panose="02070309020205020404" pitchFamily="49" charset="0"/>
                </a:rPr>
                <a:t>mm_struct</a:t>
              </a:r>
            </a:p>
          </p:txBody>
        </p:sp>
        <p:sp>
          <p:nvSpPr>
            <p:cNvPr id="215050" name="Rectangle 7">
              <a:extLst>
                <a:ext uri="{FF2B5EF4-FFF2-40B4-BE49-F238E27FC236}">
                  <a16:creationId xmlns:a16="http://schemas.microsoft.com/office/drawing/2014/main" id="{017278F4-2843-D248-8911-CF27D9840376}"/>
                </a:ext>
              </a:extLst>
            </p:cNvPr>
            <p:cNvSpPr>
              <a:spLocks noChangeArrowheads="1"/>
            </p:cNvSpPr>
            <p:nvPr/>
          </p:nvSpPr>
          <p:spPr bwMode="auto">
            <a:xfrm>
              <a:off x="1405" y="1075"/>
              <a:ext cx="672" cy="992"/>
            </a:xfrm>
            <a:prstGeom prst="rect">
              <a:avLst/>
            </a:prstGeom>
            <a:solidFill>
              <a:srgbClr val="FFFFFF"/>
            </a:solidFill>
            <a:ln w="9360">
              <a:solidFill>
                <a:srgbClr val="000000"/>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9704" name="Rectangle 8">
              <a:extLst>
                <a:ext uri="{FF2B5EF4-FFF2-40B4-BE49-F238E27FC236}">
                  <a16:creationId xmlns:a16="http://schemas.microsoft.com/office/drawing/2014/main" id="{414143CB-A05F-8A42-9A16-E9E2CAF39422}"/>
                </a:ext>
              </a:extLst>
            </p:cNvPr>
            <p:cNvSpPr>
              <a:spLocks noChangeArrowheads="1"/>
            </p:cNvSpPr>
            <p:nvPr/>
          </p:nvSpPr>
          <p:spPr bwMode="auto">
            <a:xfrm>
              <a:off x="1405" y="1059"/>
              <a:ext cx="672"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cs typeface="Courier New" panose="02070309020205020404" pitchFamily="49" charset="0"/>
                </a:rPr>
                <a:t>pgd</a:t>
              </a:r>
            </a:p>
          </p:txBody>
        </p:sp>
        <p:sp>
          <p:nvSpPr>
            <p:cNvPr id="215052" name="Rectangle 9">
              <a:extLst>
                <a:ext uri="{FF2B5EF4-FFF2-40B4-BE49-F238E27FC236}">
                  <a16:creationId xmlns:a16="http://schemas.microsoft.com/office/drawing/2014/main" id="{E1E48552-8278-A142-9E7E-417AE4D4BDB7}"/>
                </a:ext>
              </a:extLst>
            </p:cNvPr>
            <p:cNvSpPr>
              <a:spLocks noChangeArrowheads="1"/>
            </p:cNvSpPr>
            <p:nvPr/>
          </p:nvSpPr>
          <p:spPr bwMode="auto">
            <a:xfrm>
              <a:off x="445" y="931"/>
              <a:ext cx="480" cy="1136"/>
            </a:xfrm>
            <a:prstGeom prst="rect">
              <a:avLst/>
            </a:prstGeom>
            <a:solidFill>
              <a:srgbClr val="FFFFFF"/>
            </a:solidFill>
            <a:ln w="9360">
              <a:solidFill>
                <a:srgbClr val="000000"/>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9706" name="Rectangle 10">
              <a:extLst>
                <a:ext uri="{FF2B5EF4-FFF2-40B4-BE49-F238E27FC236}">
                  <a16:creationId xmlns:a16="http://schemas.microsoft.com/office/drawing/2014/main" id="{4609D833-90C3-3E4F-BB75-EF724DD68C26}"/>
                </a:ext>
              </a:extLst>
            </p:cNvPr>
            <p:cNvSpPr>
              <a:spLocks noChangeArrowheads="1"/>
            </p:cNvSpPr>
            <p:nvPr/>
          </p:nvSpPr>
          <p:spPr bwMode="auto">
            <a:xfrm>
              <a:off x="445" y="1059"/>
              <a:ext cx="480"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cs typeface="Courier New" panose="02070309020205020404" pitchFamily="49" charset="0"/>
                </a:rPr>
                <a:t>mm</a:t>
              </a:r>
            </a:p>
          </p:txBody>
        </p:sp>
        <p:sp>
          <p:nvSpPr>
            <p:cNvPr id="29707" name="Rectangle 11">
              <a:extLst>
                <a:ext uri="{FF2B5EF4-FFF2-40B4-BE49-F238E27FC236}">
                  <a16:creationId xmlns:a16="http://schemas.microsoft.com/office/drawing/2014/main" id="{43EEE1B9-47DA-F84A-9C75-A6F641F98B6B}"/>
                </a:ext>
              </a:extLst>
            </p:cNvPr>
            <p:cNvSpPr>
              <a:spLocks noChangeArrowheads="1"/>
            </p:cNvSpPr>
            <p:nvPr/>
          </p:nvSpPr>
          <p:spPr bwMode="auto">
            <a:xfrm>
              <a:off x="1405" y="1347"/>
              <a:ext cx="672"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cs typeface="Courier New" panose="02070309020205020404" pitchFamily="49" charset="0"/>
                </a:rPr>
                <a:t>mmap</a:t>
              </a:r>
            </a:p>
          </p:txBody>
        </p:sp>
        <p:sp>
          <p:nvSpPr>
            <p:cNvPr id="215055" name="Text Box 12">
              <a:extLst>
                <a:ext uri="{FF2B5EF4-FFF2-40B4-BE49-F238E27FC236}">
                  <a16:creationId xmlns:a16="http://schemas.microsoft.com/office/drawing/2014/main" id="{C22CF625-D087-3643-8C9E-7CA3CE2BAEAF}"/>
                </a:ext>
              </a:extLst>
            </p:cNvPr>
            <p:cNvSpPr txBox="1">
              <a:spLocks noChangeArrowheads="1"/>
            </p:cNvSpPr>
            <p:nvPr/>
          </p:nvSpPr>
          <p:spPr bwMode="auto">
            <a:xfrm>
              <a:off x="2363" y="627"/>
              <a:ext cx="10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1000"/>
                </a:spcBef>
              </a:pPr>
              <a:r>
                <a:rPr lang="en-GB" altLang="zh-CN" b="1">
                  <a:latin typeface="Arial Black" panose="020B0604020202020204" pitchFamily="34" charset="0"/>
                  <a:ea typeface="宋体" panose="02010600030101010101" pitchFamily="2" charset="-122"/>
                  <a:cs typeface="Courier New" panose="02070309020205020404" pitchFamily="49" charset="0"/>
                </a:rPr>
                <a:t>vm_area_struct</a:t>
              </a:r>
            </a:p>
          </p:txBody>
        </p:sp>
        <p:sp>
          <p:nvSpPr>
            <p:cNvPr id="29709" name="Rectangle 13">
              <a:extLst>
                <a:ext uri="{FF2B5EF4-FFF2-40B4-BE49-F238E27FC236}">
                  <a16:creationId xmlns:a16="http://schemas.microsoft.com/office/drawing/2014/main" id="{22844327-CD5A-7846-AA12-CB53F23A01B0}"/>
                </a:ext>
              </a:extLst>
            </p:cNvPr>
            <p:cNvSpPr>
              <a:spLocks noChangeArrowheads="1"/>
            </p:cNvSpPr>
            <p:nvPr/>
          </p:nvSpPr>
          <p:spPr bwMode="auto">
            <a:xfrm>
              <a:off x="2557" y="883"/>
              <a:ext cx="673" cy="848"/>
            </a:xfrm>
            <a:prstGeom prst="rect">
              <a:avLst/>
            </a:prstGeom>
            <a:solidFill>
              <a:schemeClr val="bg2">
                <a:lumMod val="20000"/>
                <a:lumOff val="80000"/>
              </a:schemeClr>
            </a:solidFill>
            <a:ln w="9360">
              <a:solidFill>
                <a:srgbClr val="000000"/>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9710" name="Rectangle 14">
              <a:extLst>
                <a:ext uri="{FF2B5EF4-FFF2-40B4-BE49-F238E27FC236}">
                  <a16:creationId xmlns:a16="http://schemas.microsoft.com/office/drawing/2014/main" id="{A9FD139C-88D5-1C41-A777-EB2A715476CB}"/>
                </a:ext>
              </a:extLst>
            </p:cNvPr>
            <p:cNvSpPr>
              <a:spLocks noChangeArrowheads="1"/>
            </p:cNvSpPr>
            <p:nvPr/>
          </p:nvSpPr>
          <p:spPr bwMode="auto">
            <a:xfrm>
              <a:off x="2557" y="867"/>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cs typeface="Courier New" panose="02070309020205020404" pitchFamily="49" charset="0"/>
                </a:rPr>
                <a:t>vm_end</a:t>
              </a:r>
            </a:p>
          </p:txBody>
        </p:sp>
        <p:sp>
          <p:nvSpPr>
            <p:cNvPr id="29711" name="Rectangle 15">
              <a:extLst>
                <a:ext uri="{FF2B5EF4-FFF2-40B4-BE49-F238E27FC236}">
                  <a16:creationId xmlns:a16="http://schemas.microsoft.com/office/drawing/2014/main" id="{21D9447F-60EB-DB46-A2A9-F70B5EE77D6F}"/>
                </a:ext>
              </a:extLst>
            </p:cNvPr>
            <p:cNvSpPr>
              <a:spLocks noChangeArrowheads="1"/>
            </p:cNvSpPr>
            <p:nvPr/>
          </p:nvSpPr>
          <p:spPr bwMode="auto">
            <a:xfrm>
              <a:off x="2557" y="1155"/>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vm_prot</a:t>
              </a:r>
            </a:p>
          </p:txBody>
        </p:sp>
        <p:sp>
          <p:nvSpPr>
            <p:cNvPr id="29712" name="Rectangle 16">
              <a:extLst>
                <a:ext uri="{FF2B5EF4-FFF2-40B4-BE49-F238E27FC236}">
                  <a16:creationId xmlns:a16="http://schemas.microsoft.com/office/drawing/2014/main" id="{78425666-0ACA-624A-83A7-2403818DEF3D}"/>
                </a:ext>
              </a:extLst>
            </p:cNvPr>
            <p:cNvSpPr>
              <a:spLocks noChangeArrowheads="1"/>
            </p:cNvSpPr>
            <p:nvPr/>
          </p:nvSpPr>
          <p:spPr bwMode="auto">
            <a:xfrm>
              <a:off x="2557" y="1011"/>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cs typeface="Courier New" panose="02070309020205020404" pitchFamily="49" charset="0"/>
                </a:rPr>
                <a:t>vm_start</a:t>
              </a:r>
            </a:p>
          </p:txBody>
        </p:sp>
        <p:sp>
          <p:nvSpPr>
            <p:cNvPr id="29716" name="Rectangle 20">
              <a:extLst>
                <a:ext uri="{FF2B5EF4-FFF2-40B4-BE49-F238E27FC236}">
                  <a16:creationId xmlns:a16="http://schemas.microsoft.com/office/drawing/2014/main" id="{D08E710E-31E4-A046-A239-E5EF6D56D0C8}"/>
                </a:ext>
              </a:extLst>
            </p:cNvPr>
            <p:cNvSpPr>
              <a:spLocks noChangeArrowheads="1"/>
            </p:cNvSpPr>
            <p:nvPr/>
          </p:nvSpPr>
          <p:spPr bwMode="auto">
            <a:xfrm>
              <a:off x="2557" y="2035"/>
              <a:ext cx="673" cy="848"/>
            </a:xfrm>
            <a:prstGeom prst="rect">
              <a:avLst/>
            </a:prstGeom>
            <a:solidFill>
              <a:schemeClr val="bg2">
                <a:lumMod val="20000"/>
                <a:lumOff val="80000"/>
              </a:schemeClr>
            </a:solidFill>
            <a:ln w="9360">
              <a:solidFill>
                <a:srgbClr val="000000"/>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9717" name="Rectangle 21">
              <a:extLst>
                <a:ext uri="{FF2B5EF4-FFF2-40B4-BE49-F238E27FC236}">
                  <a16:creationId xmlns:a16="http://schemas.microsoft.com/office/drawing/2014/main" id="{BD8BA305-C80D-184A-9F5B-B5C0485C9E53}"/>
                </a:ext>
              </a:extLst>
            </p:cNvPr>
            <p:cNvSpPr>
              <a:spLocks noChangeArrowheads="1"/>
            </p:cNvSpPr>
            <p:nvPr/>
          </p:nvSpPr>
          <p:spPr bwMode="auto">
            <a:xfrm>
              <a:off x="2557" y="2019"/>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vm_end</a:t>
              </a:r>
            </a:p>
          </p:txBody>
        </p:sp>
        <p:sp>
          <p:nvSpPr>
            <p:cNvPr id="29718" name="Rectangle 22">
              <a:extLst>
                <a:ext uri="{FF2B5EF4-FFF2-40B4-BE49-F238E27FC236}">
                  <a16:creationId xmlns:a16="http://schemas.microsoft.com/office/drawing/2014/main" id="{FF69EA93-7112-FD40-8A82-E07F1F34A53C}"/>
                </a:ext>
              </a:extLst>
            </p:cNvPr>
            <p:cNvSpPr>
              <a:spLocks noChangeArrowheads="1"/>
            </p:cNvSpPr>
            <p:nvPr/>
          </p:nvSpPr>
          <p:spPr bwMode="auto">
            <a:xfrm>
              <a:off x="2557" y="2307"/>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vm_prot</a:t>
              </a:r>
            </a:p>
          </p:txBody>
        </p:sp>
        <p:sp>
          <p:nvSpPr>
            <p:cNvPr id="29719" name="Rectangle 23">
              <a:extLst>
                <a:ext uri="{FF2B5EF4-FFF2-40B4-BE49-F238E27FC236}">
                  <a16:creationId xmlns:a16="http://schemas.microsoft.com/office/drawing/2014/main" id="{81A95A12-3233-8C47-BD80-F54ECD36637C}"/>
                </a:ext>
              </a:extLst>
            </p:cNvPr>
            <p:cNvSpPr>
              <a:spLocks noChangeArrowheads="1"/>
            </p:cNvSpPr>
            <p:nvPr/>
          </p:nvSpPr>
          <p:spPr bwMode="auto">
            <a:xfrm>
              <a:off x="2557" y="2163"/>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vm_start</a:t>
              </a:r>
            </a:p>
          </p:txBody>
        </p:sp>
        <p:sp>
          <p:nvSpPr>
            <p:cNvPr id="29720" name="Rectangle 24">
              <a:extLst>
                <a:ext uri="{FF2B5EF4-FFF2-40B4-BE49-F238E27FC236}">
                  <a16:creationId xmlns:a16="http://schemas.microsoft.com/office/drawing/2014/main" id="{962EB5E6-BB85-3C45-9BDA-3D1D3D36E435}"/>
                </a:ext>
              </a:extLst>
            </p:cNvPr>
            <p:cNvSpPr>
              <a:spLocks noChangeArrowheads="1"/>
            </p:cNvSpPr>
            <p:nvPr/>
          </p:nvSpPr>
          <p:spPr bwMode="auto">
            <a:xfrm>
              <a:off x="2557" y="3187"/>
              <a:ext cx="673" cy="704"/>
            </a:xfrm>
            <a:prstGeom prst="rect">
              <a:avLst/>
            </a:prstGeom>
            <a:solidFill>
              <a:schemeClr val="bg2">
                <a:lumMod val="20000"/>
                <a:lumOff val="80000"/>
              </a:schemeClr>
            </a:solidFill>
            <a:ln w="9360">
              <a:solidFill>
                <a:srgbClr val="000000"/>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9721" name="Rectangle 25">
              <a:extLst>
                <a:ext uri="{FF2B5EF4-FFF2-40B4-BE49-F238E27FC236}">
                  <a16:creationId xmlns:a16="http://schemas.microsoft.com/office/drawing/2014/main" id="{7A6EAAF7-2FFA-434A-AABE-7CF1E19EB867}"/>
                </a:ext>
              </a:extLst>
            </p:cNvPr>
            <p:cNvSpPr>
              <a:spLocks noChangeArrowheads="1"/>
            </p:cNvSpPr>
            <p:nvPr/>
          </p:nvSpPr>
          <p:spPr bwMode="auto">
            <a:xfrm>
              <a:off x="2557" y="3171"/>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vm_end</a:t>
              </a:r>
            </a:p>
          </p:txBody>
        </p:sp>
        <p:sp>
          <p:nvSpPr>
            <p:cNvPr id="29722" name="Rectangle 26">
              <a:extLst>
                <a:ext uri="{FF2B5EF4-FFF2-40B4-BE49-F238E27FC236}">
                  <a16:creationId xmlns:a16="http://schemas.microsoft.com/office/drawing/2014/main" id="{9B6A7C8D-DB34-E54B-B9F2-DCB497FF7360}"/>
                </a:ext>
              </a:extLst>
            </p:cNvPr>
            <p:cNvSpPr>
              <a:spLocks noChangeArrowheads="1"/>
            </p:cNvSpPr>
            <p:nvPr/>
          </p:nvSpPr>
          <p:spPr bwMode="auto">
            <a:xfrm>
              <a:off x="2557" y="3459"/>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vm_prot</a:t>
              </a:r>
            </a:p>
          </p:txBody>
        </p:sp>
        <p:sp>
          <p:nvSpPr>
            <p:cNvPr id="29723" name="Rectangle 27">
              <a:extLst>
                <a:ext uri="{FF2B5EF4-FFF2-40B4-BE49-F238E27FC236}">
                  <a16:creationId xmlns:a16="http://schemas.microsoft.com/office/drawing/2014/main" id="{DD50D44C-683E-6D45-850E-7D841A948DF5}"/>
                </a:ext>
              </a:extLst>
            </p:cNvPr>
            <p:cNvSpPr>
              <a:spLocks noChangeArrowheads="1"/>
            </p:cNvSpPr>
            <p:nvPr/>
          </p:nvSpPr>
          <p:spPr bwMode="auto">
            <a:xfrm>
              <a:off x="2557" y="3747"/>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vm_next</a:t>
              </a:r>
            </a:p>
          </p:txBody>
        </p:sp>
        <p:sp>
          <p:nvSpPr>
            <p:cNvPr id="29724" name="Rectangle 28">
              <a:extLst>
                <a:ext uri="{FF2B5EF4-FFF2-40B4-BE49-F238E27FC236}">
                  <a16:creationId xmlns:a16="http://schemas.microsoft.com/office/drawing/2014/main" id="{8B989B64-E5B0-CB49-97F7-D71835E4F415}"/>
                </a:ext>
              </a:extLst>
            </p:cNvPr>
            <p:cNvSpPr>
              <a:spLocks noChangeArrowheads="1"/>
            </p:cNvSpPr>
            <p:nvPr/>
          </p:nvSpPr>
          <p:spPr bwMode="auto">
            <a:xfrm>
              <a:off x="2557" y="3315"/>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vm_start</a:t>
              </a:r>
            </a:p>
          </p:txBody>
        </p:sp>
        <p:sp>
          <p:nvSpPr>
            <p:cNvPr id="215069" name="Rectangle 29">
              <a:extLst>
                <a:ext uri="{FF2B5EF4-FFF2-40B4-BE49-F238E27FC236}">
                  <a16:creationId xmlns:a16="http://schemas.microsoft.com/office/drawing/2014/main" id="{F345E4C1-6E47-8742-97B8-189734669184}"/>
                </a:ext>
              </a:extLst>
            </p:cNvPr>
            <p:cNvSpPr>
              <a:spLocks noChangeArrowheads="1"/>
            </p:cNvSpPr>
            <p:nvPr/>
          </p:nvSpPr>
          <p:spPr bwMode="auto">
            <a:xfrm>
              <a:off x="3757" y="771"/>
              <a:ext cx="1248" cy="3024"/>
            </a:xfrm>
            <a:prstGeom prst="rect">
              <a:avLst/>
            </a:prstGeom>
            <a:solidFill>
              <a:srgbClr val="FFFFFF"/>
            </a:solidFill>
            <a:ln w="9360">
              <a:solidFill>
                <a:srgbClr val="000000"/>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15070" name="Text Box 30">
              <a:extLst>
                <a:ext uri="{FF2B5EF4-FFF2-40B4-BE49-F238E27FC236}">
                  <a16:creationId xmlns:a16="http://schemas.microsoft.com/office/drawing/2014/main" id="{0F42166D-B974-9144-8409-9BF703D0E133}"/>
                </a:ext>
              </a:extLst>
            </p:cNvPr>
            <p:cNvSpPr txBox="1">
              <a:spLocks noChangeArrowheads="1"/>
            </p:cNvSpPr>
            <p:nvPr/>
          </p:nvSpPr>
          <p:spPr bwMode="auto">
            <a:xfrm>
              <a:off x="3675" y="531"/>
              <a:ext cx="15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1000"/>
                </a:spcBef>
              </a:pPr>
              <a:r>
                <a:rPr lang="en-GB" altLang="zh-CN" b="1">
                  <a:latin typeface="Arial Black" panose="020B0604020202020204" pitchFamily="34" charset="0"/>
                  <a:ea typeface="宋体" panose="02010600030101010101" pitchFamily="2" charset="-122"/>
                </a:rPr>
                <a:t>Process</a:t>
              </a:r>
              <a:r>
                <a:rPr lang="en-GB" altLang="zh-CN" b="1">
                  <a:latin typeface="Calibri" panose="020F0502020204030204" pitchFamily="34" charset="0"/>
                  <a:ea typeface="宋体" panose="02010600030101010101" pitchFamily="2" charset="-122"/>
                </a:rPr>
                <a:t> </a:t>
              </a:r>
              <a:r>
                <a:rPr lang="en-GB" altLang="zh-CN" b="1">
                  <a:latin typeface="Arial Black" panose="020B0604020202020204" pitchFamily="34" charset="0"/>
                  <a:ea typeface="宋体" panose="02010600030101010101" pitchFamily="2" charset="-122"/>
                </a:rPr>
                <a:t>virtual</a:t>
              </a:r>
              <a:r>
                <a:rPr lang="en-GB" altLang="zh-CN" b="1">
                  <a:latin typeface="Calibri" panose="020F0502020204030204" pitchFamily="34" charset="0"/>
                  <a:ea typeface="宋体" panose="02010600030101010101" pitchFamily="2" charset="-122"/>
                </a:rPr>
                <a:t> </a:t>
              </a:r>
              <a:r>
                <a:rPr lang="en-GB" altLang="zh-CN" b="1">
                  <a:latin typeface="Arial Black" panose="020B0604020202020204" pitchFamily="34" charset="0"/>
                  <a:ea typeface="宋体" panose="02010600030101010101" pitchFamily="2" charset="-122"/>
                </a:rPr>
                <a:t>memory</a:t>
              </a:r>
            </a:p>
          </p:txBody>
        </p:sp>
        <p:sp>
          <p:nvSpPr>
            <p:cNvPr id="29727" name="Rectangle 31">
              <a:extLst>
                <a:ext uri="{FF2B5EF4-FFF2-40B4-BE49-F238E27FC236}">
                  <a16:creationId xmlns:a16="http://schemas.microsoft.com/office/drawing/2014/main" id="{06DCAF0E-9FE0-6548-9F9F-5CEB1820C734}"/>
                </a:ext>
              </a:extLst>
            </p:cNvPr>
            <p:cNvSpPr>
              <a:spLocks noChangeArrowheads="1"/>
            </p:cNvSpPr>
            <p:nvPr/>
          </p:nvSpPr>
          <p:spPr bwMode="auto">
            <a:xfrm>
              <a:off x="3757" y="2691"/>
              <a:ext cx="1248" cy="720"/>
            </a:xfrm>
            <a:prstGeom prst="rect">
              <a:avLst/>
            </a:prstGeom>
            <a:solidFill>
              <a:schemeClr val="accent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Text</a:t>
              </a:r>
            </a:p>
          </p:txBody>
        </p:sp>
        <p:sp>
          <p:nvSpPr>
            <p:cNvPr id="29728" name="Rectangle 32">
              <a:extLst>
                <a:ext uri="{FF2B5EF4-FFF2-40B4-BE49-F238E27FC236}">
                  <a16:creationId xmlns:a16="http://schemas.microsoft.com/office/drawing/2014/main" id="{591C1321-D64F-E442-A493-972E34976822}"/>
                </a:ext>
              </a:extLst>
            </p:cNvPr>
            <p:cNvSpPr>
              <a:spLocks noChangeArrowheads="1"/>
            </p:cNvSpPr>
            <p:nvPr/>
          </p:nvSpPr>
          <p:spPr bwMode="auto">
            <a:xfrm>
              <a:off x="3757" y="2211"/>
              <a:ext cx="1248" cy="480"/>
            </a:xfrm>
            <a:prstGeom prst="rect">
              <a:avLst/>
            </a:prstGeom>
            <a:solidFill>
              <a:schemeClr val="accent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US" altLang="zh-CN" b="1" dirty="0">
                  <a:latin typeface="Arial Black" panose="020B0A04020102020204" pitchFamily="34" charset="0"/>
                </a:rPr>
                <a:t>Static </a:t>
              </a:r>
              <a:r>
                <a:rPr lang="en-GB" altLang="zh-CN" b="1" dirty="0">
                  <a:latin typeface="Arial Black" panose="020B0A04020102020204" pitchFamily="34" charset="0"/>
                </a:rPr>
                <a:t>Data</a:t>
              </a:r>
            </a:p>
          </p:txBody>
        </p:sp>
        <p:sp>
          <p:nvSpPr>
            <p:cNvPr id="29729" name="Rectangle 33">
              <a:extLst>
                <a:ext uri="{FF2B5EF4-FFF2-40B4-BE49-F238E27FC236}">
                  <a16:creationId xmlns:a16="http://schemas.microsoft.com/office/drawing/2014/main" id="{B986353F-B529-1E46-AC95-C408E4635FEC}"/>
                </a:ext>
              </a:extLst>
            </p:cNvPr>
            <p:cNvSpPr>
              <a:spLocks noChangeArrowheads="1"/>
            </p:cNvSpPr>
            <p:nvPr/>
          </p:nvSpPr>
          <p:spPr bwMode="auto">
            <a:xfrm>
              <a:off x="3757" y="1395"/>
              <a:ext cx="1248" cy="336"/>
            </a:xfrm>
            <a:prstGeom prst="rect">
              <a:avLst/>
            </a:prstGeom>
            <a:solidFill>
              <a:schemeClr val="accent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Shared</a:t>
              </a:r>
              <a:r>
                <a:rPr lang="en-GB" altLang="zh-CN" b="1">
                  <a:latin typeface="Calibri" panose="020F0502020204030204" pitchFamily="34" charset="0"/>
                </a:rPr>
                <a:t> </a:t>
              </a:r>
              <a:r>
                <a:rPr lang="en-GB" altLang="zh-CN" b="1">
                  <a:latin typeface="Arial Black" panose="020B0A04020102020204" pitchFamily="34" charset="0"/>
                </a:rPr>
                <a:t>libraries</a:t>
              </a:r>
            </a:p>
          </p:txBody>
        </p:sp>
        <p:sp>
          <p:nvSpPr>
            <p:cNvPr id="215074" name="Line 34">
              <a:extLst>
                <a:ext uri="{FF2B5EF4-FFF2-40B4-BE49-F238E27FC236}">
                  <a16:creationId xmlns:a16="http://schemas.microsoft.com/office/drawing/2014/main" id="{DCAC2BB6-86E0-AA46-9D74-A93F0983346B}"/>
                </a:ext>
              </a:extLst>
            </p:cNvPr>
            <p:cNvSpPr>
              <a:spLocks noChangeShapeType="1"/>
            </p:cNvSpPr>
            <p:nvPr/>
          </p:nvSpPr>
          <p:spPr bwMode="auto">
            <a:xfrm>
              <a:off x="3229" y="963"/>
              <a:ext cx="528" cy="432"/>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75" name="Line 35">
              <a:extLst>
                <a:ext uri="{FF2B5EF4-FFF2-40B4-BE49-F238E27FC236}">
                  <a16:creationId xmlns:a16="http://schemas.microsoft.com/office/drawing/2014/main" id="{285B8448-2DCF-7645-A08E-4445810A0AC1}"/>
                </a:ext>
              </a:extLst>
            </p:cNvPr>
            <p:cNvSpPr>
              <a:spLocks noChangeShapeType="1"/>
            </p:cNvSpPr>
            <p:nvPr/>
          </p:nvSpPr>
          <p:spPr bwMode="auto">
            <a:xfrm>
              <a:off x="3229" y="1107"/>
              <a:ext cx="528" cy="624"/>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76" name="Line 36">
              <a:extLst>
                <a:ext uri="{FF2B5EF4-FFF2-40B4-BE49-F238E27FC236}">
                  <a16:creationId xmlns:a16="http://schemas.microsoft.com/office/drawing/2014/main" id="{AAD005C0-7BA2-CD4A-8DEB-D97CAB91D8C1}"/>
                </a:ext>
              </a:extLst>
            </p:cNvPr>
            <p:cNvSpPr>
              <a:spLocks noChangeShapeType="1"/>
            </p:cNvSpPr>
            <p:nvPr/>
          </p:nvSpPr>
          <p:spPr bwMode="auto">
            <a:xfrm>
              <a:off x="3229" y="2115"/>
              <a:ext cx="528" cy="96"/>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77" name="Line 37">
              <a:extLst>
                <a:ext uri="{FF2B5EF4-FFF2-40B4-BE49-F238E27FC236}">
                  <a16:creationId xmlns:a16="http://schemas.microsoft.com/office/drawing/2014/main" id="{F7DA7F49-67B6-9548-9748-D4C08E08996E}"/>
                </a:ext>
              </a:extLst>
            </p:cNvPr>
            <p:cNvSpPr>
              <a:spLocks noChangeShapeType="1"/>
            </p:cNvSpPr>
            <p:nvPr/>
          </p:nvSpPr>
          <p:spPr bwMode="auto">
            <a:xfrm>
              <a:off x="3229" y="2211"/>
              <a:ext cx="528" cy="480"/>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78" name="Line 38">
              <a:extLst>
                <a:ext uri="{FF2B5EF4-FFF2-40B4-BE49-F238E27FC236}">
                  <a16:creationId xmlns:a16="http://schemas.microsoft.com/office/drawing/2014/main" id="{2B62F5C4-DD05-FC4D-9974-7CDFCDDB9C6E}"/>
                </a:ext>
              </a:extLst>
            </p:cNvPr>
            <p:cNvSpPr>
              <a:spLocks noChangeShapeType="1"/>
            </p:cNvSpPr>
            <p:nvPr/>
          </p:nvSpPr>
          <p:spPr bwMode="auto">
            <a:xfrm flipV="1">
              <a:off x="3229" y="2691"/>
              <a:ext cx="528" cy="576"/>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79" name="Line 39">
              <a:extLst>
                <a:ext uri="{FF2B5EF4-FFF2-40B4-BE49-F238E27FC236}">
                  <a16:creationId xmlns:a16="http://schemas.microsoft.com/office/drawing/2014/main" id="{F408A0FA-CF12-8644-A723-E3C6C1056A3E}"/>
                </a:ext>
              </a:extLst>
            </p:cNvPr>
            <p:cNvSpPr>
              <a:spLocks noChangeShapeType="1"/>
            </p:cNvSpPr>
            <p:nvPr/>
          </p:nvSpPr>
          <p:spPr bwMode="auto">
            <a:xfrm>
              <a:off x="3229" y="3411"/>
              <a:ext cx="528" cy="0"/>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80" name="Line 40">
              <a:extLst>
                <a:ext uri="{FF2B5EF4-FFF2-40B4-BE49-F238E27FC236}">
                  <a16:creationId xmlns:a16="http://schemas.microsoft.com/office/drawing/2014/main" id="{C71793F0-C5C7-2541-8ABE-F511E5458684}"/>
                </a:ext>
              </a:extLst>
            </p:cNvPr>
            <p:cNvSpPr>
              <a:spLocks noChangeShapeType="1"/>
            </p:cNvSpPr>
            <p:nvPr/>
          </p:nvSpPr>
          <p:spPr bwMode="auto">
            <a:xfrm flipH="1">
              <a:off x="2412" y="1683"/>
              <a:ext cx="146" cy="1"/>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81" name="Line 41">
              <a:extLst>
                <a:ext uri="{FF2B5EF4-FFF2-40B4-BE49-F238E27FC236}">
                  <a16:creationId xmlns:a16="http://schemas.microsoft.com/office/drawing/2014/main" id="{EB145DDE-7865-C849-BFB7-299F07B3769C}"/>
                </a:ext>
              </a:extLst>
            </p:cNvPr>
            <p:cNvSpPr>
              <a:spLocks noChangeShapeType="1"/>
            </p:cNvSpPr>
            <p:nvPr/>
          </p:nvSpPr>
          <p:spPr bwMode="auto">
            <a:xfrm>
              <a:off x="2413" y="1683"/>
              <a:ext cx="1" cy="336"/>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82" name="Line 42">
              <a:extLst>
                <a:ext uri="{FF2B5EF4-FFF2-40B4-BE49-F238E27FC236}">
                  <a16:creationId xmlns:a16="http://schemas.microsoft.com/office/drawing/2014/main" id="{B2E3DDA1-ABDE-944A-8F3A-04A87AF29D19}"/>
                </a:ext>
              </a:extLst>
            </p:cNvPr>
            <p:cNvSpPr>
              <a:spLocks noChangeShapeType="1"/>
            </p:cNvSpPr>
            <p:nvPr/>
          </p:nvSpPr>
          <p:spPr bwMode="auto">
            <a:xfrm>
              <a:off x="2413" y="2019"/>
              <a:ext cx="144" cy="1"/>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83" name="Line 43">
              <a:extLst>
                <a:ext uri="{FF2B5EF4-FFF2-40B4-BE49-F238E27FC236}">
                  <a16:creationId xmlns:a16="http://schemas.microsoft.com/office/drawing/2014/main" id="{726CBB42-33B2-2B4F-A35F-7928F91AA76E}"/>
                </a:ext>
              </a:extLst>
            </p:cNvPr>
            <p:cNvSpPr>
              <a:spLocks noChangeShapeType="1"/>
            </p:cNvSpPr>
            <p:nvPr/>
          </p:nvSpPr>
          <p:spPr bwMode="auto">
            <a:xfrm flipH="1">
              <a:off x="2412" y="2787"/>
              <a:ext cx="146" cy="1"/>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84" name="Line 44">
              <a:extLst>
                <a:ext uri="{FF2B5EF4-FFF2-40B4-BE49-F238E27FC236}">
                  <a16:creationId xmlns:a16="http://schemas.microsoft.com/office/drawing/2014/main" id="{7758E0FD-99C9-BC4E-9DD9-9DFC64851170}"/>
                </a:ext>
              </a:extLst>
            </p:cNvPr>
            <p:cNvSpPr>
              <a:spLocks noChangeShapeType="1"/>
            </p:cNvSpPr>
            <p:nvPr/>
          </p:nvSpPr>
          <p:spPr bwMode="auto">
            <a:xfrm>
              <a:off x="2413" y="2787"/>
              <a:ext cx="1" cy="384"/>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085" name="Line 45">
              <a:extLst>
                <a:ext uri="{FF2B5EF4-FFF2-40B4-BE49-F238E27FC236}">
                  <a16:creationId xmlns:a16="http://schemas.microsoft.com/office/drawing/2014/main" id="{A365B913-E011-7E4B-94FD-89EE9F5601E3}"/>
                </a:ext>
              </a:extLst>
            </p:cNvPr>
            <p:cNvSpPr>
              <a:spLocks noChangeShapeType="1"/>
            </p:cNvSpPr>
            <p:nvPr/>
          </p:nvSpPr>
          <p:spPr bwMode="auto">
            <a:xfrm>
              <a:off x="2413" y="3171"/>
              <a:ext cx="144" cy="1"/>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086" name="Text Box 46">
              <a:extLst>
                <a:ext uri="{FF2B5EF4-FFF2-40B4-BE49-F238E27FC236}">
                  <a16:creationId xmlns:a16="http://schemas.microsoft.com/office/drawing/2014/main" id="{25812831-05E1-3A4B-9154-6DA86465910E}"/>
                </a:ext>
              </a:extLst>
            </p:cNvPr>
            <p:cNvSpPr txBox="1">
              <a:spLocks noChangeArrowheads="1"/>
            </p:cNvSpPr>
            <p:nvPr/>
          </p:nvSpPr>
          <p:spPr bwMode="auto">
            <a:xfrm>
              <a:off x="5024" y="3698"/>
              <a:ext cx="15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525"/>
                </a:spcBef>
              </a:pPr>
              <a:r>
                <a:rPr lang="en-GB" altLang="zh-CN" sz="1400" b="1">
                  <a:latin typeface="Calibri" panose="020F0502020204030204" pitchFamily="34" charset="0"/>
                  <a:ea typeface="宋体" panose="02010600030101010101" pitchFamily="2" charset="-122"/>
                </a:rPr>
                <a:t>0</a:t>
              </a:r>
            </a:p>
          </p:txBody>
        </p:sp>
        <p:sp>
          <p:nvSpPr>
            <p:cNvPr id="29747" name="Rectangle 51">
              <a:extLst>
                <a:ext uri="{FF2B5EF4-FFF2-40B4-BE49-F238E27FC236}">
                  <a16:creationId xmlns:a16="http://schemas.microsoft.com/office/drawing/2014/main" id="{8F5F8D32-FB8C-DA48-A0F4-F91FFE7A7092}"/>
                </a:ext>
              </a:extLst>
            </p:cNvPr>
            <p:cNvSpPr>
              <a:spLocks noChangeArrowheads="1"/>
            </p:cNvSpPr>
            <p:nvPr/>
          </p:nvSpPr>
          <p:spPr bwMode="auto">
            <a:xfrm>
              <a:off x="2557" y="1299"/>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vm_flags</a:t>
              </a:r>
            </a:p>
          </p:txBody>
        </p:sp>
        <p:sp>
          <p:nvSpPr>
            <p:cNvPr id="29748" name="Rectangle 52">
              <a:extLst>
                <a:ext uri="{FF2B5EF4-FFF2-40B4-BE49-F238E27FC236}">
                  <a16:creationId xmlns:a16="http://schemas.microsoft.com/office/drawing/2014/main" id="{0C07775A-7315-8A47-A148-84139477BF31}"/>
                </a:ext>
              </a:extLst>
            </p:cNvPr>
            <p:cNvSpPr>
              <a:spLocks noChangeArrowheads="1"/>
            </p:cNvSpPr>
            <p:nvPr/>
          </p:nvSpPr>
          <p:spPr bwMode="auto">
            <a:xfrm>
              <a:off x="2557" y="2451"/>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vm_flags</a:t>
              </a:r>
            </a:p>
          </p:txBody>
        </p:sp>
        <p:sp>
          <p:nvSpPr>
            <p:cNvPr id="29749" name="Rectangle 53">
              <a:extLst>
                <a:ext uri="{FF2B5EF4-FFF2-40B4-BE49-F238E27FC236}">
                  <a16:creationId xmlns:a16="http://schemas.microsoft.com/office/drawing/2014/main" id="{68ACCBC3-9A5F-054B-B102-C451A8E436D2}"/>
                </a:ext>
              </a:extLst>
            </p:cNvPr>
            <p:cNvSpPr>
              <a:spLocks noChangeArrowheads="1"/>
            </p:cNvSpPr>
            <p:nvPr/>
          </p:nvSpPr>
          <p:spPr bwMode="auto">
            <a:xfrm>
              <a:off x="2557" y="3603"/>
              <a:ext cx="673" cy="144"/>
            </a:xfrm>
            <a:prstGeom prst="rect">
              <a:avLst/>
            </a:prstGeom>
            <a:solidFill>
              <a:schemeClr val="bg2">
                <a:lumMod val="20000"/>
                <a:lumOff val="80000"/>
              </a:schemeClr>
            </a:solidFill>
            <a:ln w="9360">
              <a:solidFill>
                <a:srgbClr val="000000"/>
              </a:solidFill>
              <a:miter lim="800000"/>
              <a:headEnd/>
              <a:tailEnd/>
            </a:ln>
            <a:effectLst/>
          </p:spPr>
          <p:txBody>
            <a:bodyPr wrap="none" lIns="90360" tIns="44280" rIns="90360" bIns="44280"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ea typeface="宋体" panose="02010600030101010101" pitchFamily="2" charset="-122"/>
                </a:defRPr>
              </a:lvl9pPr>
            </a:lstStyle>
            <a:p>
              <a:pPr algn="ctr">
                <a:lnSpc>
                  <a:spcPct val="88000"/>
                </a:lnSpc>
                <a:spcBef>
                  <a:spcPts val="600"/>
                </a:spcBef>
                <a:defRPr/>
              </a:pPr>
              <a:r>
                <a:rPr lang="en-GB" altLang="zh-CN" b="1">
                  <a:latin typeface="Arial Black" panose="020B0A04020102020204" pitchFamily="34" charset="0"/>
                </a:rPr>
                <a:t>vm_flags</a:t>
              </a:r>
            </a:p>
          </p:txBody>
        </p:sp>
        <p:cxnSp>
          <p:nvCxnSpPr>
            <p:cNvPr id="215090" name="Elbow Connector 62">
              <a:extLst>
                <a:ext uri="{FF2B5EF4-FFF2-40B4-BE49-F238E27FC236}">
                  <a16:creationId xmlns:a16="http://schemas.microsoft.com/office/drawing/2014/main" id="{AF8227C5-C1A6-5B48-A830-9CF145BBB099}"/>
                </a:ext>
              </a:extLst>
            </p:cNvPr>
            <p:cNvCxnSpPr>
              <a:cxnSpLocks noChangeShapeType="1"/>
              <a:stCxn id="29707" idx="3"/>
            </p:cNvCxnSpPr>
            <p:nvPr/>
          </p:nvCxnSpPr>
          <p:spPr bwMode="auto">
            <a:xfrm flipV="1">
              <a:off x="2077" y="867"/>
              <a:ext cx="478" cy="552"/>
            </a:xfrm>
            <a:prstGeom prst="bentConnector3">
              <a:avLst>
                <a:gd name="adj1" fmla="val 50000"/>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15091" name="Straight Arrow Connector 65">
              <a:extLst>
                <a:ext uri="{FF2B5EF4-FFF2-40B4-BE49-F238E27FC236}">
                  <a16:creationId xmlns:a16="http://schemas.microsoft.com/office/drawing/2014/main" id="{A1EB47E5-CB64-9B4A-9B2A-4DB706013802}"/>
                </a:ext>
              </a:extLst>
            </p:cNvPr>
            <p:cNvCxnSpPr>
              <a:cxnSpLocks noChangeShapeType="1"/>
              <a:stCxn id="29706" idx="3"/>
            </p:cNvCxnSpPr>
            <p:nvPr/>
          </p:nvCxnSpPr>
          <p:spPr bwMode="auto">
            <a:xfrm flipV="1">
              <a:off x="925" y="1059"/>
              <a:ext cx="480" cy="72"/>
            </a:xfrm>
            <a:prstGeom prst="straightConnector1">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
        <p:nvSpPr>
          <p:cNvPr id="746552" name="Text Box 56">
            <a:extLst>
              <a:ext uri="{FF2B5EF4-FFF2-40B4-BE49-F238E27FC236}">
                <a16:creationId xmlns:a16="http://schemas.microsoft.com/office/drawing/2014/main" id="{98D8480E-7A63-0347-A04D-2A8970F50264}"/>
              </a:ext>
            </a:extLst>
          </p:cNvPr>
          <p:cNvSpPr txBox="1">
            <a:spLocks noChangeArrowheads="1"/>
          </p:cNvSpPr>
          <p:nvPr/>
        </p:nvSpPr>
        <p:spPr bwMode="auto">
          <a:xfrm>
            <a:off x="304800" y="4641850"/>
            <a:ext cx="3890963"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25000"/>
              </a:lnSpc>
              <a:spcBef>
                <a:spcPct val="50000"/>
              </a:spcBef>
            </a:pPr>
            <a:r>
              <a:rPr lang="en-US" altLang="zh-CN" sz="2200" b="1">
                <a:solidFill>
                  <a:srgbClr val="FF0000"/>
                </a:solidFill>
                <a:latin typeface="微软雅黑" panose="020B0503020204020204" pitchFamily="34" charset="-122"/>
                <a:ea typeface="微软雅黑" panose="020B0503020204020204" pitchFamily="34" charset="-122"/>
              </a:rPr>
              <a:t>task_struct</a:t>
            </a:r>
            <a:r>
              <a:rPr lang="zh-CN" altLang="en-US" sz="2200" b="1">
                <a:solidFill>
                  <a:srgbClr val="0000FF"/>
                </a:solidFill>
                <a:latin typeface="微软雅黑" panose="020B0503020204020204" pitchFamily="34" charset="-122"/>
                <a:ea typeface="微软雅黑" panose="020B0503020204020204" pitchFamily="34" charset="-122"/>
              </a:rPr>
              <a:t>是某个进程（即任务）所有相关信息的描述结构（称</a:t>
            </a:r>
            <a:r>
              <a:rPr lang="zh-CN" altLang="en-US" sz="2200" b="1">
                <a:solidFill>
                  <a:srgbClr val="FF0000"/>
                </a:solidFill>
                <a:latin typeface="微软雅黑" panose="020B0503020204020204" pitchFamily="34" charset="-122"/>
                <a:ea typeface="微软雅黑" panose="020B0503020204020204" pitchFamily="34" charset="-122"/>
              </a:rPr>
              <a:t>进程描述符</a:t>
            </a:r>
            <a:r>
              <a:rPr lang="zh-CN" altLang="en-US" sz="2200" b="1">
                <a:solidFill>
                  <a:srgbClr val="0000FF"/>
                </a:solidFill>
                <a:latin typeface="微软雅黑" panose="020B0503020204020204" pitchFamily="34" charset="-122"/>
                <a:ea typeface="微软雅黑" panose="020B0503020204020204" pitchFamily="34" charset="-122"/>
              </a:rPr>
              <a:t>），其中</a:t>
            </a:r>
            <a:r>
              <a:rPr lang="en-US" altLang="zh-CN" sz="2200" b="1">
                <a:solidFill>
                  <a:srgbClr val="0000FF"/>
                </a:solidFill>
                <a:latin typeface="微软雅黑" panose="020B0503020204020204" pitchFamily="34" charset="-122"/>
                <a:ea typeface="微软雅黑" panose="020B0503020204020204" pitchFamily="34" charset="-122"/>
              </a:rPr>
              <a:t>mm</a:t>
            </a:r>
            <a:r>
              <a:rPr lang="zh-CN" altLang="en-US" sz="2200" b="1">
                <a:solidFill>
                  <a:srgbClr val="0000FF"/>
                </a:solidFill>
                <a:latin typeface="微软雅黑" panose="020B0503020204020204" pitchFamily="34" charset="-122"/>
                <a:ea typeface="微软雅黑" panose="020B0503020204020204" pitchFamily="34" charset="-122"/>
              </a:rPr>
              <a:t>是其虚拟空间的描述结构</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6552"/>
                                        </p:tgtEl>
                                        <p:attrNameLst>
                                          <p:attrName>style.visibility</p:attrName>
                                        </p:attrNameLst>
                                      </p:cBhvr>
                                      <p:to>
                                        <p:strVal val="visible"/>
                                      </p:to>
                                    </p:set>
                                    <p:animEffect transition="in" filter="blinds(horizontal)">
                                      <p:cBhvr>
                                        <p:cTn id="7" dur="500"/>
                                        <p:tgtEl>
                                          <p:spTgt spid="7465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655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793BDF22-C8A8-744B-9997-8A92D86BD539}"/>
              </a:ext>
            </a:extLst>
          </p:cNvPr>
          <p:cNvSpPr>
            <a:spLocks noGrp="1" noChangeArrowheads="1"/>
          </p:cNvSpPr>
          <p:nvPr>
            <p:ph type="title" idx="4294967295"/>
          </p:nvPr>
        </p:nvSpPr>
        <p:spPr>
          <a:xfrm>
            <a:off x="688975" y="53975"/>
            <a:ext cx="7772400" cy="609600"/>
          </a:xfrm>
        </p:spPr>
        <p:txBody>
          <a:bodyPr lIns="91440" tIns="45720" rIns="91440" bIns="45720" anchor="ctr"/>
          <a:lstStyle/>
          <a:p>
            <a:pPr algn="l" eaLnBrk="1" hangingPunct="1"/>
            <a:r>
              <a:rPr lang="zh-CN" altLang="en-US"/>
              <a:t>                   虚拟存储器管理</a:t>
            </a:r>
          </a:p>
        </p:txBody>
      </p:sp>
      <p:sp>
        <p:nvSpPr>
          <p:cNvPr id="217091" name="Rectangle 3">
            <a:extLst>
              <a:ext uri="{FF2B5EF4-FFF2-40B4-BE49-F238E27FC236}">
                <a16:creationId xmlns:a16="http://schemas.microsoft.com/office/drawing/2014/main" id="{21A3D132-E4C3-3348-9A5A-C751E28841C5}"/>
              </a:ext>
            </a:extLst>
          </p:cNvPr>
          <p:cNvSpPr>
            <a:spLocks noChangeArrowheads="1"/>
          </p:cNvSpPr>
          <p:nvPr/>
        </p:nvSpPr>
        <p:spPr bwMode="auto">
          <a:xfrm>
            <a:off x="228600" y="76200"/>
            <a:ext cx="8534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kumimoji="1" lang="zh-CN" altLang="en-US" sz="3200" b="1">
              <a:solidFill>
                <a:srgbClr val="CC33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217092" name="Rectangle 4">
            <a:extLst>
              <a:ext uri="{FF2B5EF4-FFF2-40B4-BE49-F238E27FC236}">
                <a16:creationId xmlns:a16="http://schemas.microsoft.com/office/drawing/2014/main" id="{E3AB6848-C47F-1E4F-9F18-1C3E3F1646CC}"/>
              </a:ext>
            </a:extLst>
          </p:cNvPr>
          <p:cNvSpPr>
            <a:spLocks noChangeArrowheads="1"/>
          </p:cNvSpPr>
          <p:nvPr/>
        </p:nvSpPr>
        <p:spPr bwMode="auto">
          <a:xfrm>
            <a:off x="457200" y="990600"/>
            <a:ext cx="8458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15000"/>
              </a:lnSpc>
              <a:spcBef>
                <a:spcPct val="20000"/>
              </a:spcBef>
              <a:buClr>
                <a:schemeClr val="accent1"/>
              </a:buClr>
              <a:buSzPct val="80000"/>
              <a:buFont typeface="Wingdings" pitchFamily="2" charset="2"/>
              <a:buChar char="u"/>
            </a:pPr>
            <a:endParaRPr kumimoji="1" lang="zh-CN" altLang="en-US" sz="2000" b="1">
              <a:solidFill>
                <a:schemeClr val="hlink"/>
              </a:solidFill>
              <a:ea typeface="宋体" panose="02010600030101010101" pitchFamily="2" charset="-122"/>
              <a:cs typeface="Arial" panose="020B0604020202020204" pitchFamily="34" charset="0"/>
            </a:endParaRPr>
          </a:p>
        </p:txBody>
      </p:sp>
      <p:sp>
        <p:nvSpPr>
          <p:cNvPr id="499717" name="Rectangle 5">
            <a:extLst>
              <a:ext uri="{FF2B5EF4-FFF2-40B4-BE49-F238E27FC236}">
                <a16:creationId xmlns:a16="http://schemas.microsoft.com/office/drawing/2014/main" id="{8B31DCFB-7C43-3A4E-803B-6A0141081369}"/>
              </a:ext>
            </a:extLst>
          </p:cNvPr>
          <p:cNvSpPr>
            <a:spLocks noChangeArrowheads="1"/>
          </p:cNvSpPr>
          <p:nvPr/>
        </p:nvSpPr>
        <p:spPr bwMode="auto">
          <a:xfrm>
            <a:off x="209550" y="954088"/>
            <a:ext cx="8734425"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buClr>
                <a:schemeClr val="accent1"/>
              </a:buClr>
              <a:buSzPct val="70000"/>
            </a:pPr>
            <a:r>
              <a:rPr kumimoji="1" lang="zh-CN" altLang="en-US" sz="2400" b="1">
                <a:latin typeface="黑体" panose="02010609060101010101" pitchFamily="49" charset="-122"/>
                <a:ea typeface="黑体" panose="02010609060101010101" pitchFamily="49" charset="-122"/>
                <a:cs typeface="Arial" panose="020B0604020202020204" pitchFamily="34" charset="0"/>
              </a:rPr>
              <a:t> </a:t>
            </a:r>
            <a:r>
              <a:rPr kumimoji="1" lang="zh-CN" altLang="en-US" sz="2400" b="1">
                <a:latin typeface="微软雅黑" panose="020B0503020204020204" pitchFamily="34" charset="-122"/>
                <a:ea typeface="微软雅黑" panose="020B0503020204020204" pitchFamily="34" charset="-122"/>
                <a:cs typeface="Arial" panose="020B0604020202020204" pitchFamily="34" charset="0"/>
              </a:rPr>
              <a:t>实现虚拟存储器管理，需考虑：</a:t>
            </a:r>
          </a:p>
          <a:p>
            <a:pPr lvl="1" eaLnBrk="1" hangingPunct="1">
              <a:spcBef>
                <a:spcPct val="20000"/>
              </a:spcBef>
              <a:buClr>
                <a:schemeClr val="accent1"/>
              </a:buClr>
              <a:buSzPct val="70000"/>
              <a:buFont typeface="Arial" panose="020B0604020202020204" pitchFamily="34" charset="0"/>
              <a:buNone/>
            </a:pPr>
            <a:r>
              <a:rPr kumimoji="1" lang="zh-CN" altLang="en-US" sz="2000" b="1">
                <a:solidFill>
                  <a:schemeClr val="hlink"/>
                </a:solidFill>
                <a:latin typeface="微软雅黑" panose="020B0503020204020204" pitchFamily="34" charset="-122"/>
                <a:ea typeface="微软雅黑" panose="020B0503020204020204" pitchFamily="34" charset="-122"/>
                <a:cs typeface="Arial" panose="020B0604020202020204" pitchFamily="34" charset="0"/>
              </a:rPr>
              <a:t> </a:t>
            </a: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块大小（在虚拟存储器中“块</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被称为“页 </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Page”</a:t>
            </a: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）应多大？</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主存与辅存的空间如何分区管理</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程序块 </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a:t>
            </a: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存储块之间如何映像</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逻辑地址和物理地址如何转换，转换速度如何提高</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主存与辅存之间如何进行替换（与</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Cache</a:t>
            </a: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所用策略相似）</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页表如何实现，页表项中要记录哪些信息</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如何加快访问页表的速度</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如果要找的内容不在主存，怎么办</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lvl="1" eaLnBrk="1" hangingPunct="1">
              <a:spcBef>
                <a:spcPct val="20000"/>
              </a:spcBef>
              <a:buClr>
                <a:schemeClr val="accent1"/>
              </a:buClr>
              <a:buSzPct val="70000"/>
              <a:buFont typeface="Arial" panose="020B0604020202020204" pitchFamily="34" charset="0"/>
              <a:buNone/>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 如何保护进程各自的存储区不被其他进程访问</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p:txBody>
      </p:sp>
      <p:sp>
        <p:nvSpPr>
          <p:cNvPr id="499720" name="Rectangle 8">
            <a:extLst>
              <a:ext uri="{FF2B5EF4-FFF2-40B4-BE49-F238E27FC236}">
                <a16:creationId xmlns:a16="http://schemas.microsoft.com/office/drawing/2014/main" id="{3DF9112E-C7C9-0C4B-A367-3FCB262B9A39}"/>
              </a:ext>
            </a:extLst>
          </p:cNvPr>
          <p:cNvSpPr>
            <a:spLocks noChangeArrowheads="1"/>
          </p:cNvSpPr>
          <p:nvPr/>
        </p:nvSpPr>
        <p:spPr bwMode="auto">
          <a:xfrm>
            <a:off x="269875" y="5262563"/>
            <a:ext cx="457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sz="1600">
                <a:solidFill>
                  <a:schemeClr val="tx1"/>
                </a:solidFill>
                <a:latin typeface="Arial" panose="020B0604020202020204" pitchFamily="34" charset="0"/>
              </a:defRPr>
            </a:lvl1pPr>
            <a:lvl2pPr>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lvl="1" eaLnBrk="1" hangingPunct="1">
              <a:spcBef>
                <a:spcPct val="50000"/>
              </a:spcBef>
              <a:buClr>
                <a:schemeClr val="accent1"/>
              </a:buClr>
              <a:buSzPct val="80000"/>
            </a:pPr>
            <a:r>
              <a:rPr kumimoji="1" lang="zh-CN" altLang="en-US" sz="1800" b="1">
                <a:solidFill>
                  <a:srgbClr val="000099"/>
                </a:solidFill>
                <a:ea typeface="宋体" panose="02010600030101010101" pitchFamily="2" charset="-122"/>
              </a:rPr>
              <a:t> </a:t>
            </a:r>
            <a:r>
              <a:rPr kumimoji="1" lang="zh-CN" altLang="en-US" sz="2200" b="1">
                <a:latin typeface="微软雅黑" panose="020B0503020204020204" pitchFamily="34" charset="-122"/>
                <a:ea typeface="微软雅黑" panose="020B0503020204020204" pitchFamily="34" charset="-122"/>
              </a:rPr>
              <a:t>有三种虚拟存储器实现方式：</a:t>
            </a:r>
          </a:p>
          <a:p>
            <a:pPr lvl="1" eaLnBrk="1" hangingPunct="1">
              <a:spcBef>
                <a:spcPct val="50000"/>
              </a:spcBef>
              <a:buClr>
                <a:schemeClr val="accent1"/>
              </a:buClr>
              <a:buFont typeface="Wingdings" pitchFamily="2" charset="2"/>
              <a:buNone/>
            </a:pPr>
            <a:r>
              <a:rPr kumimoji="1" lang="zh-CN" altLang="en-US" sz="2200" b="1">
                <a:solidFill>
                  <a:srgbClr val="CC3300"/>
                </a:solidFill>
                <a:latin typeface="微软雅黑" panose="020B0503020204020204" pitchFamily="34" charset="-122"/>
                <a:ea typeface="微软雅黑" panose="020B0503020204020204" pitchFamily="34" charset="-122"/>
              </a:rPr>
              <a:t>     分页式、分段式、段页式</a:t>
            </a:r>
          </a:p>
        </p:txBody>
      </p:sp>
      <p:sp>
        <p:nvSpPr>
          <p:cNvPr id="499721" name="Text Box 9">
            <a:extLst>
              <a:ext uri="{FF2B5EF4-FFF2-40B4-BE49-F238E27FC236}">
                <a16:creationId xmlns:a16="http://schemas.microsoft.com/office/drawing/2014/main" id="{AD6B8198-4540-E346-9E82-B2D13FF1BE17}"/>
              </a:ext>
            </a:extLst>
          </p:cNvPr>
          <p:cNvSpPr txBox="1">
            <a:spLocks noChangeArrowheads="1"/>
          </p:cNvSpPr>
          <p:nvPr/>
        </p:nvSpPr>
        <p:spPr bwMode="auto">
          <a:xfrm>
            <a:off x="5157788" y="5229225"/>
            <a:ext cx="33305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FF0000"/>
                </a:solidFill>
                <a:latin typeface="微软雅黑" panose="020B0503020204020204" pitchFamily="34" charset="-122"/>
                <a:ea typeface="微软雅黑" panose="020B0503020204020204" pitchFamily="34" charset="-122"/>
              </a:rPr>
              <a:t>这些问题是由硬件和</a:t>
            </a:r>
            <a:r>
              <a:rPr kumimoji="1" lang="en-US" altLang="zh-CN" sz="2400" b="1">
                <a:solidFill>
                  <a:srgbClr val="FF0000"/>
                </a:solidFill>
                <a:latin typeface="微软雅黑" panose="020B0503020204020204" pitchFamily="34" charset="-122"/>
                <a:ea typeface="微软雅黑" panose="020B0503020204020204" pitchFamily="34" charset="-122"/>
              </a:rPr>
              <a:t>OS</a:t>
            </a:r>
            <a:r>
              <a:rPr kumimoji="1" lang="zh-CN" altLang="en-US" sz="2400" b="1">
                <a:solidFill>
                  <a:srgbClr val="FF0000"/>
                </a:solidFill>
                <a:latin typeface="微软雅黑" panose="020B0503020204020204" pitchFamily="34" charset="-122"/>
                <a:ea typeface="微软雅黑" panose="020B0503020204020204" pitchFamily="34" charset="-122"/>
              </a:rPr>
              <a:t>共同协调解决的！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9717">
                                            <p:txEl>
                                              <p:pRg st="1" end="1"/>
                                            </p:txEl>
                                          </p:spTgt>
                                        </p:tgtEl>
                                        <p:attrNameLst>
                                          <p:attrName>style.visibility</p:attrName>
                                        </p:attrNameLst>
                                      </p:cBhvr>
                                      <p:to>
                                        <p:strVal val="visible"/>
                                      </p:to>
                                    </p:set>
                                    <p:animEffect transition="in" filter="blinds(horizontal)">
                                      <p:cBhvr>
                                        <p:cTn id="7" dur="500"/>
                                        <p:tgtEl>
                                          <p:spTgt spid="499717">
                                            <p:txEl>
                                              <p:pRg st="1" end="1"/>
                                            </p:txEl>
                                          </p:spTgt>
                                        </p:tgtEl>
                                      </p:cBhvr>
                                    </p:animEffect>
                                  </p:childTnLst>
                                  <p:subTnLst>
                                    <p:animClr clrSpc="rgb" dir="cw">
                                      <p:cBhvr override="childStyle">
                                        <p:cTn dur="1" fill="hold" display="0" masterRel="nextClick" afterEffect="1"/>
                                        <p:tgtEl>
                                          <p:spTgt spid="499717">
                                            <p:txEl>
                                              <p:pRg st="1" end="1"/>
                                            </p:txEl>
                                          </p:spTgt>
                                        </p:tgtEl>
                                        <p:attrNameLst>
                                          <p:attrName>ppt_c</p:attrName>
                                        </p:attrNameLst>
                                      </p:cBhvr>
                                      <p:to>
                                        <a:schemeClr val="accent1"/>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99717">
                                            <p:txEl>
                                              <p:pRg st="2" end="2"/>
                                            </p:txEl>
                                          </p:spTgt>
                                        </p:tgtEl>
                                        <p:attrNameLst>
                                          <p:attrName>style.visibility</p:attrName>
                                        </p:attrNameLst>
                                      </p:cBhvr>
                                      <p:to>
                                        <p:strVal val="visible"/>
                                      </p:to>
                                    </p:set>
                                    <p:animEffect transition="in" filter="blinds(horizontal)">
                                      <p:cBhvr>
                                        <p:cTn id="12" dur="500"/>
                                        <p:tgtEl>
                                          <p:spTgt spid="499717">
                                            <p:txEl>
                                              <p:pRg st="2" end="2"/>
                                            </p:txEl>
                                          </p:spTgt>
                                        </p:tgtEl>
                                      </p:cBhvr>
                                    </p:animEffect>
                                  </p:childTnLst>
                                  <p:subTnLst>
                                    <p:animClr clrSpc="rgb" dir="cw">
                                      <p:cBhvr override="childStyle">
                                        <p:cTn dur="1" fill="hold" display="0" masterRel="nextClick" afterEffect="1"/>
                                        <p:tgtEl>
                                          <p:spTgt spid="499717">
                                            <p:txEl>
                                              <p:pRg st="2" end="2"/>
                                            </p:txEl>
                                          </p:spTgt>
                                        </p:tgtEl>
                                        <p:attrNameLst>
                                          <p:attrName>ppt_c</p:attrName>
                                        </p:attrNameLst>
                                      </p:cBhvr>
                                      <p:to>
                                        <a:schemeClr val="accent1"/>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99717">
                                            <p:txEl>
                                              <p:pRg st="3" end="3"/>
                                            </p:txEl>
                                          </p:spTgt>
                                        </p:tgtEl>
                                        <p:attrNameLst>
                                          <p:attrName>style.visibility</p:attrName>
                                        </p:attrNameLst>
                                      </p:cBhvr>
                                      <p:to>
                                        <p:strVal val="visible"/>
                                      </p:to>
                                    </p:set>
                                    <p:animEffect transition="in" filter="blinds(horizontal)">
                                      <p:cBhvr>
                                        <p:cTn id="17" dur="500"/>
                                        <p:tgtEl>
                                          <p:spTgt spid="499717">
                                            <p:txEl>
                                              <p:pRg st="3" end="3"/>
                                            </p:txEl>
                                          </p:spTgt>
                                        </p:tgtEl>
                                      </p:cBhvr>
                                    </p:animEffect>
                                  </p:childTnLst>
                                  <p:subTnLst>
                                    <p:animClr clrSpc="rgb" dir="cw">
                                      <p:cBhvr override="childStyle">
                                        <p:cTn dur="1" fill="hold" display="0" masterRel="nextClick" afterEffect="1"/>
                                        <p:tgtEl>
                                          <p:spTgt spid="499717">
                                            <p:txEl>
                                              <p:pRg st="3" end="3"/>
                                            </p:txEl>
                                          </p:spTgt>
                                        </p:tgtEl>
                                        <p:attrNameLst>
                                          <p:attrName>ppt_c</p:attrName>
                                        </p:attrNameLst>
                                      </p:cBhvr>
                                      <p:to>
                                        <a:schemeClr val="accent1"/>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99717">
                                            <p:txEl>
                                              <p:pRg st="4" end="4"/>
                                            </p:txEl>
                                          </p:spTgt>
                                        </p:tgtEl>
                                        <p:attrNameLst>
                                          <p:attrName>style.visibility</p:attrName>
                                        </p:attrNameLst>
                                      </p:cBhvr>
                                      <p:to>
                                        <p:strVal val="visible"/>
                                      </p:to>
                                    </p:set>
                                    <p:animEffect transition="in" filter="blinds(horizontal)">
                                      <p:cBhvr>
                                        <p:cTn id="22" dur="500"/>
                                        <p:tgtEl>
                                          <p:spTgt spid="499717">
                                            <p:txEl>
                                              <p:pRg st="4" end="4"/>
                                            </p:txEl>
                                          </p:spTgt>
                                        </p:tgtEl>
                                      </p:cBhvr>
                                    </p:animEffect>
                                  </p:childTnLst>
                                  <p:subTnLst>
                                    <p:animClr clrSpc="rgb" dir="cw">
                                      <p:cBhvr override="childStyle">
                                        <p:cTn dur="1" fill="hold" display="0" masterRel="nextClick" afterEffect="1"/>
                                        <p:tgtEl>
                                          <p:spTgt spid="499717">
                                            <p:txEl>
                                              <p:pRg st="4" end="4"/>
                                            </p:txEl>
                                          </p:spTgt>
                                        </p:tgtEl>
                                        <p:attrNameLst>
                                          <p:attrName>ppt_c</p:attrName>
                                        </p:attrNameLst>
                                      </p:cBhvr>
                                      <p:to>
                                        <a:schemeClr val="accent1"/>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99717">
                                            <p:txEl>
                                              <p:pRg st="5" end="5"/>
                                            </p:txEl>
                                          </p:spTgt>
                                        </p:tgtEl>
                                        <p:attrNameLst>
                                          <p:attrName>style.visibility</p:attrName>
                                        </p:attrNameLst>
                                      </p:cBhvr>
                                      <p:to>
                                        <p:strVal val="visible"/>
                                      </p:to>
                                    </p:set>
                                    <p:animEffect transition="in" filter="blinds(horizontal)">
                                      <p:cBhvr>
                                        <p:cTn id="27" dur="500"/>
                                        <p:tgtEl>
                                          <p:spTgt spid="499717">
                                            <p:txEl>
                                              <p:pRg st="5" end="5"/>
                                            </p:txEl>
                                          </p:spTgt>
                                        </p:tgtEl>
                                      </p:cBhvr>
                                    </p:animEffect>
                                  </p:childTnLst>
                                  <p:subTnLst>
                                    <p:animClr clrSpc="rgb" dir="cw">
                                      <p:cBhvr override="childStyle">
                                        <p:cTn dur="1" fill="hold" display="0" masterRel="nextClick" afterEffect="1"/>
                                        <p:tgtEl>
                                          <p:spTgt spid="499717">
                                            <p:txEl>
                                              <p:pRg st="5" end="5"/>
                                            </p:txEl>
                                          </p:spTgt>
                                        </p:tgtEl>
                                        <p:attrNameLst>
                                          <p:attrName>ppt_c</p:attrName>
                                        </p:attrNameLst>
                                      </p:cBhvr>
                                      <p:to>
                                        <a:schemeClr val="accent1"/>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99717">
                                            <p:txEl>
                                              <p:pRg st="6" end="6"/>
                                            </p:txEl>
                                          </p:spTgt>
                                        </p:tgtEl>
                                        <p:attrNameLst>
                                          <p:attrName>style.visibility</p:attrName>
                                        </p:attrNameLst>
                                      </p:cBhvr>
                                      <p:to>
                                        <p:strVal val="visible"/>
                                      </p:to>
                                    </p:set>
                                    <p:animEffect transition="in" filter="blinds(horizontal)">
                                      <p:cBhvr>
                                        <p:cTn id="32" dur="500"/>
                                        <p:tgtEl>
                                          <p:spTgt spid="499717">
                                            <p:txEl>
                                              <p:pRg st="6" end="6"/>
                                            </p:txEl>
                                          </p:spTgt>
                                        </p:tgtEl>
                                      </p:cBhvr>
                                    </p:animEffect>
                                  </p:childTnLst>
                                  <p:subTnLst>
                                    <p:animClr clrSpc="rgb" dir="cw">
                                      <p:cBhvr override="childStyle">
                                        <p:cTn dur="1" fill="hold" display="0" masterRel="nextClick" afterEffect="1"/>
                                        <p:tgtEl>
                                          <p:spTgt spid="499717">
                                            <p:txEl>
                                              <p:pRg st="6" end="6"/>
                                            </p:txEl>
                                          </p:spTgt>
                                        </p:tgtEl>
                                        <p:attrNameLst>
                                          <p:attrName>ppt_c</p:attrName>
                                        </p:attrNameLst>
                                      </p:cBhvr>
                                      <p:to>
                                        <a:schemeClr val="accent1"/>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99717">
                                            <p:txEl>
                                              <p:pRg st="7" end="7"/>
                                            </p:txEl>
                                          </p:spTgt>
                                        </p:tgtEl>
                                        <p:attrNameLst>
                                          <p:attrName>style.visibility</p:attrName>
                                        </p:attrNameLst>
                                      </p:cBhvr>
                                      <p:to>
                                        <p:strVal val="visible"/>
                                      </p:to>
                                    </p:set>
                                    <p:animEffect transition="in" filter="blinds(horizontal)">
                                      <p:cBhvr>
                                        <p:cTn id="37" dur="500"/>
                                        <p:tgtEl>
                                          <p:spTgt spid="499717">
                                            <p:txEl>
                                              <p:pRg st="7" end="7"/>
                                            </p:txEl>
                                          </p:spTgt>
                                        </p:tgtEl>
                                      </p:cBhvr>
                                    </p:animEffect>
                                  </p:childTnLst>
                                  <p:subTnLst>
                                    <p:animClr clrSpc="rgb" dir="cw">
                                      <p:cBhvr override="childStyle">
                                        <p:cTn dur="1" fill="hold" display="0" masterRel="nextClick" afterEffect="1"/>
                                        <p:tgtEl>
                                          <p:spTgt spid="499717">
                                            <p:txEl>
                                              <p:pRg st="7" end="7"/>
                                            </p:txEl>
                                          </p:spTgt>
                                        </p:tgtEl>
                                        <p:attrNameLst>
                                          <p:attrName>ppt_c</p:attrName>
                                        </p:attrNameLst>
                                      </p:cBhvr>
                                      <p:to>
                                        <a:schemeClr val="accent1"/>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99717">
                                            <p:txEl>
                                              <p:pRg st="8" end="8"/>
                                            </p:txEl>
                                          </p:spTgt>
                                        </p:tgtEl>
                                        <p:attrNameLst>
                                          <p:attrName>style.visibility</p:attrName>
                                        </p:attrNameLst>
                                      </p:cBhvr>
                                      <p:to>
                                        <p:strVal val="visible"/>
                                      </p:to>
                                    </p:set>
                                    <p:animEffect transition="in" filter="blinds(horizontal)">
                                      <p:cBhvr>
                                        <p:cTn id="42" dur="500"/>
                                        <p:tgtEl>
                                          <p:spTgt spid="499717">
                                            <p:txEl>
                                              <p:pRg st="8" end="8"/>
                                            </p:txEl>
                                          </p:spTgt>
                                        </p:tgtEl>
                                      </p:cBhvr>
                                    </p:animEffect>
                                  </p:childTnLst>
                                  <p:subTnLst>
                                    <p:animClr clrSpc="rgb" dir="cw">
                                      <p:cBhvr override="childStyle">
                                        <p:cTn dur="1" fill="hold" display="0" masterRel="nextClick" afterEffect="1"/>
                                        <p:tgtEl>
                                          <p:spTgt spid="499717">
                                            <p:txEl>
                                              <p:pRg st="8" end="8"/>
                                            </p:txEl>
                                          </p:spTgt>
                                        </p:tgtEl>
                                        <p:attrNameLst>
                                          <p:attrName>ppt_c</p:attrName>
                                        </p:attrNameLst>
                                      </p:cBhvr>
                                      <p:to>
                                        <a:schemeClr val="accent1"/>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99717">
                                            <p:txEl>
                                              <p:pRg st="9" end="9"/>
                                            </p:txEl>
                                          </p:spTgt>
                                        </p:tgtEl>
                                        <p:attrNameLst>
                                          <p:attrName>style.visibility</p:attrName>
                                        </p:attrNameLst>
                                      </p:cBhvr>
                                      <p:to>
                                        <p:strVal val="visible"/>
                                      </p:to>
                                    </p:set>
                                    <p:animEffect transition="in" filter="blinds(horizontal)">
                                      <p:cBhvr>
                                        <p:cTn id="47" dur="500"/>
                                        <p:tgtEl>
                                          <p:spTgt spid="499717">
                                            <p:txEl>
                                              <p:pRg st="9" end="9"/>
                                            </p:txEl>
                                          </p:spTgt>
                                        </p:tgtEl>
                                      </p:cBhvr>
                                    </p:animEffect>
                                  </p:childTnLst>
                                  <p:subTnLst>
                                    <p:animClr clrSpc="rgb" dir="cw">
                                      <p:cBhvr override="childStyle">
                                        <p:cTn dur="1" fill="hold" display="0" masterRel="nextClick" afterEffect="1"/>
                                        <p:tgtEl>
                                          <p:spTgt spid="499717">
                                            <p:txEl>
                                              <p:pRg st="9" end="9"/>
                                            </p:txEl>
                                          </p:spTgt>
                                        </p:tgtEl>
                                        <p:attrNameLst>
                                          <p:attrName>ppt_c</p:attrName>
                                        </p:attrNameLst>
                                      </p:cBhvr>
                                      <p:to>
                                        <a:schemeClr val="accent1"/>
                                      </p:to>
                                    </p:animClr>
                                  </p:sub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99720"/>
                                        </p:tgtEl>
                                        <p:attrNameLst>
                                          <p:attrName>style.visibility</p:attrName>
                                        </p:attrNameLst>
                                      </p:cBhvr>
                                      <p:to>
                                        <p:strVal val="visible"/>
                                      </p:to>
                                    </p:set>
                                    <p:animEffect transition="in" filter="blinds(horizontal)">
                                      <p:cBhvr>
                                        <p:cTn id="52" dur="500"/>
                                        <p:tgtEl>
                                          <p:spTgt spid="499720"/>
                                        </p:tgtEl>
                                      </p:cBhvr>
                                    </p:animEffect>
                                  </p:childTnLst>
                                  <p:subTnLst>
                                    <p:animClr clrSpc="rgb" dir="cw">
                                      <p:cBhvr override="childStyle">
                                        <p:cTn dur="1" fill="hold" display="0" masterRel="nextClick" afterEffect="1"/>
                                        <p:tgtEl>
                                          <p:spTgt spid="499720"/>
                                        </p:tgtEl>
                                        <p:attrNameLst>
                                          <p:attrName>ppt_c</p:attrName>
                                        </p:attrNameLst>
                                      </p:cBhvr>
                                      <p:to>
                                        <a:schemeClr val="accent1"/>
                                      </p:to>
                                    </p:animClr>
                                  </p:sub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99721"/>
                                        </p:tgtEl>
                                        <p:attrNameLst>
                                          <p:attrName>style.visibility</p:attrName>
                                        </p:attrNameLst>
                                      </p:cBhvr>
                                      <p:to>
                                        <p:strVal val="visible"/>
                                      </p:to>
                                    </p:set>
                                    <p:animEffect transition="in" filter="blinds(horizontal)">
                                      <p:cBhvr>
                                        <p:cTn id="57" dur="500"/>
                                        <p:tgtEl>
                                          <p:spTgt spid="499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20" grpId="0"/>
      <p:bldP spid="4997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a:extLst>
              <a:ext uri="{FF2B5EF4-FFF2-40B4-BE49-F238E27FC236}">
                <a16:creationId xmlns:a16="http://schemas.microsoft.com/office/drawing/2014/main" id="{AA4A67FA-FA1B-AC44-9C22-5BC142780840}"/>
              </a:ext>
            </a:extLst>
          </p:cNvPr>
          <p:cNvSpPr>
            <a:spLocks noGrp="1" noChangeArrowheads="1"/>
          </p:cNvSpPr>
          <p:nvPr>
            <p:ph type="title" idx="4294967295"/>
          </p:nvPr>
        </p:nvSpPr>
        <p:spPr>
          <a:xfrm>
            <a:off x="238125" y="107950"/>
            <a:ext cx="8805863" cy="569913"/>
          </a:xfrm>
        </p:spPr>
        <p:txBody>
          <a:bodyPr lIns="91440" tIns="45720" rIns="91440" bIns="45720" anchor="ctr"/>
          <a:lstStyle/>
          <a:p>
            <a:pPr defTabSz="717550" eaLnBrk="1" hangingPunct="1"/>
            <a:r>
              <a:rPr lang="zh-CN" altLang="en-US"/>
              <a:t>存储器的层次结构</a:t>
            </a:r>
          </a:p>
        </p:txBody>
      </p:sp>
      <p:sp>
        <p:nvSpPr>
          <p:cNvPr id="219139" name="Text Box 4">
            <a:extLst>
              <a:ext uri="{FF2B5EF4-FFF2-40B4-BE49-F238E27FC236}">
                <a16:creationId xmlns:a16="http://schemas.microsoft.com/office/drawing/2014/main" id="{5091965A-B9B1-DF46-A8C1-CD535838300E}"/>
              </a:ext>
            </a:extLst>
          </p:cNvPr>
          <p:cNvSpPr txBox="1">
            <a:spLocks noChangeArrowheads="1"/>
          </p:cNvSpPr>
          <p:nvPr/>
        </p:nvSpPr>
        <p:spPr bwMode="auto">
          <a:xfrm>
            <a:off x="3941763" y="2259013"/>
            <a:ext cx="1527175" cy="695325"/>
          </a:xfrm>
          <a:prstGeom prst="rect">
            <a:avLst/>
          </a:prstGeom>
          <a:solidFill>
            <a:srgbClr val="FFFFFF"/>
          </a:solidFill>
          <a:ln w="9525">
            <a:solidFill>
              <a:srgbClr val="000000"/>
            </a:solidFill>
            <a:miter lim="800000"/>
            <a:headEnd/>
            <a:tailEnd/>
          </a:ln>
        </p:spPr>
        <p:txBody>
          <a:bodyPr lIns="116623" tIns="58311" rIns="116623" bIns="58311"/>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en-US" altLang="zh-CN" sz="2200" b="1">
                <a:ea typeface="黑体" panose="02010609060101010101" pitchFamily="49" charset="-122"/>
              </a:rPr>
              <a:t>cache</a:t>
            </a:r>
            <a:endParaRPr kumimoji="1" lang="zh-CN" altLang="en-US" sz="2200" b="1">
              <a:ea typeface="黑体" panose="02010609060101010101" pitchFamily="49" charset="-122"/>
            </a:endParaRPr>
          </a:p>
        </p:txBody>
      </p:sp>
      <p:sp>
        <p:nvSpPr>
          <p:cNvPr id="219140" name="Text Box 5">
            <a:extLst>
              <a:ext uri="{FF2B5EF4-FFF2-40B4-BE49-F238E27FC236}">
                <a16:creationId xmlns:a16="http://schemas.microsoft.com/office/drawing/2014/main" id="{F6CAF2BF-54C2-AE4F-8313-DCDF776D29A1}"/>
              </a:ext>
            </a:extLst>
          </p:cNvPr>
          <p:cNvSpPr txBox="1">
            <a:spLocks noChangeArrowheads="1"/>
          </p:cNvSpPr>
          <p:nvPr/>
        </p:nvSpPr>
        <p:spPr bwMode="auto">
          <a:xfrm>
            <a:off x="3492500" y="2933700"/>
            <a:ext cx="2519363" cy="720725"/>
          </a:xfrm>
          <a:prstGeom prst="rect">
            <a:avLst/>
          </a:prstGeom>
          <a:solidFill>
            <a:srgbClr val="FFFFFF"/>
          </a:solidFill>
          <a:ln w="9525">
            <a:solidFill>
              <a:srgbClr val="000000"/>
            </a:solidFill>
            <a:miter lim="800000"/>
            <a:headEnd/>
            <a:tailEnd/>
          </a:ln>
        </p:spPr>
        <p:txBody>
          <a:bodyPr lIns="116623" tIns="58311" rIns="116623" bIns="58311"/>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200" b="1">
                <a:ea typeface="黑体" panose="02010609060101010101" pitchFamily="49" charset="-122"/>
              </a:rPr>
              <a:t>主存</a:t>
            </a:r>
            <a:r>
              <a:rPr kumimoji="1" lang="en-US" altLang="zh-CN" sz="2200" b="1">
                <a:ea typeface="黑体" panose="02010609060101010101" pitchFamily="49" charset="-122"/>
              </a:rPr>
              <a:t>(RAM</a:t>
            </a:r>
            <a:r>
              <a:rPr kumimoji="1" lang="zh-CN" altLang="en-US" sz="2200" b="1">
                <a:ea typeface="黑体" panose="02010609060101010101" pitchFamily="49" charset="-122"/>
              </a:rPr>
              <a:t>和</a:t>
            </a:r>
            <a:r>
              <a:rPr kumimoji="1" lang="en-US" altLang="zh-CN" sz="2200" b="1">
                <a:ea typeface="黑体" panose="02010609060101010101" pitchFamily="49" charset="-122"/>
              </a:rPr>
              <a:t>ROM)</a:t>
            </a:r>
          </a:p>
        </p:txBody>
      </p:sp>
      <p:sp>
        <p:nvSpPr>
          <p:cNvPr id="219141" name="Text Box 6">
            <a:extLst>
              <a:ext uri="{FF2B5EF4-FFF2-40B4-BE49-F238E27FC236}">
                <a16:creationId xmlns:a16="http://schemas.microsoft.com/office/drawing/2014/main" id="{30C2BB66-21CD-364B-8BD3-54BA3BD02673}"/>
              </a:ext>
            </a:extLst>
          </p:cNvPr>
          <p:cNvSpPr txBox="1">
            <a:spLocks noChangeArrowheads="1"/>
          </p:cNvSpPr>
          <p:nvPr/>
        </p:nvSpPr>
        <p:spPr bwMode="auto">
          <a:xfrm>
            <a:off x="2816225" y="3654425"/>
            <a:ext cx="3735388" cy="695325"/>
          </a:xfrm>
          <a:prstGeom prst="rect">
            <a:avLst/>
          </a:prstGeom>
          <a:solidFill>
            <a:srgbClr val="FFFFFF"/>
          </a:solidFill>
          <a:ln w="9525">
            <a:solidFill>
              <a:srgbClr val="000000"/>
            </a:solidFill>
            <a:miter lim="800000"/>
            <a:headEnd/>
            <a:tailEnd/>
          </a:ln>
        </p:spPr>
        <p:txBody>
          <a:bodyPr lIns="116623" tIns="58311" rIns="116623" bIns="58311"/>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200" b="1">
                <a:ea typeface="黑体" panose="02010609060101010101" pitchFamily="49" charset="-122"/>
              </a:rPr>
              <a:t> 外存储器（硬盘、光盘）</a:t>
            </a:r>
          </a:p>
        </p:txBody>
      </p:sp>
      <p:sp>
        <p:nvSpPr>
          <p:cNvPr id="219142" name="Text Box 7">
            <a:extLst>
              <a:ext uri="{FF2B5EF4-FFF2-40B4-BE49-F238E27FC236}">
                <a16:creationId xmlns:a16="http://schemas.microsoft.com/office/drawing/2014/main" id="{D82B1C06-5195-244F-9CB2-259180D74F8F}"/>
              </a:ext>
            </a:extLst>
          </p:cNvPr>
          <p:cNvSpPr txBox="1">
            <a:spLocks noChangeArrowheads="1"/>
          </p:cNvSpPr>
          <p:nvPr/>
        </p:nvSpPr>
        <p:spPr bwMode="auto">
          <a:xfrm>
            <a:off x="2276475" y="4329113"/>
            <a:ext cx="4995863" cy="693737"/>
          </a:xfrm>
          <a:prstGeom prst="rect">
            <a:avLst/>
          </a:prstGeom>
          <a:solidFill>
            <a:srgbClr val="FFFFFF"/>
          </a:solidFill>
          <a:ln w="9525">
            <a:solidFill>
              <a:srgbClr val="000000"/>
            </a:solidFill>
            <a:miter lim="800000"/>
            <a:headEnd/>
            <a:tailEnd/>
          </a:ln>
        </p:spPr>
        <p:txBody>
          <a:bodyPr lIns="116623" tIns="58311" rIns="116623" bIns="58311"/>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200" b="1">
                <a:ea typeface="黑体" panose="02010609060101010101" pitchFamily="49" charset="-122"/>
              </a:rPr>
              <a:t>后备存储器（磁带库、光盘库）</a:t>
            </a:r>
          </a:p>
        </p:txBody>
      </p:sp>
      <p:sp>
        <p:nvSpPr>
          <p:cNvPr id="219143" name="Line 8">
            <a:extLst>
              <a:ext uri="{FF2B5EF4-FFF2-40B4-BE49-F238E27FC236}">
                <a16:creationId xmlns:a16="http://schemas.microsoft.com/office/drawing/2014/main" id="{3B27D670-DBD8-ED4D-A0DA-E9BC6E3DDE13}"/>
              </a:ext>
            </a:extLst>
          </p:cNvPr>
          <p:cNvSpPr>
            <a:spLocks noChangeShapeType="1"/>
          </p:cNvSpPr>
          <p:nvPr/>
        </p:nvSpPr>
        <p:spPr bwMode="auto">
          <a:xfrm flipV="1">
            <a:off x="0" y="3649663"/>
            <a:ext cx="9086850" cy="1587"/>
          </a:xfrm>
          <a:prstGeom prst="line">
            <a:avLst/>
          </a:prstGeom>
          <a:noFill/>
          <a:ln w="28575">
            <a:solidFill>
              <a:schemeClr val="accent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144" name="Text Box 9">
            <a:extLst>
              <a:ext uri="{FF2B5EF4-FFF2-40B4-BE49-F238E27FC236}">
                <a16:creationId xmlns:a16="http://schemas.microsoft.com/office/drawing/2014/main" id="{9B398164-80BF-C840-AADF-9044882C156D}"/>
              </a:ext>
            </a:extLst>
          </p:cNvPr>
          <p:cNvSpPr txBox="1">
            <a:spLocks noChangeArrowheads="1"/>
          </p:cNvSpPr>
          <p:nvPr/>
        </p:nvSpPr>
        <p:spPr bwMode="auto">
          <a:xfrm>
            <a:off x="6192838" y="1314450"/>
            <a:ext cx="657225"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58311" rIns="116623" bIns="58311"/>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400" b="1">
                <a:solidFill>
                  <a:srgbClr val="0000CC"/>
                </a:solidFill>
                <a:latin typeface="Times New Roman" panose="02020603050405020304" pitchFamily="18" charset="0"/>
                <a:ea typeface="黑体" panose="02010609060101010101" pitchFamily="49" charset="-122"/>
              </a:rPr>
              <a:t>内部存储器</a:t>
            </a:r>
            <a:endParaRPr kumimoji="1" lang="zh-CN" altLang="en-US" sz="2400" b="1">
              <a:solidFill>
                <a:srgbClr val="0000CC"/>
              </a:solidFill>
              <a:ea typeface="黑体" panose="02010609060101010101" pitchFamily="49" charset="-122"/>
            </a:endParaRPr>
          </a:p>
        </p:txBody>
      </p:sp>
      <p:sp>
        <p:nvSpPr>
          <p:cNvPr id="219145" name="Text Box 10">
            <a:extLst>
              <a:ext uri="{FF2B5EF4-FFF2-40B4-BE49-F238E27FC236}">
                <a16:creationId xmlns:a16="http://schemas.microsoft.com/office/drawing/2014/main" id="{8AE823E9-25F9-CE4E-915B-25D845EB0F78}"/>
              </a:ext>
            </a:extLst>
          </p:cNvPr>
          <p:cNvSpPr txBox="1">
            <a:spLocks noChangeArrowheads="1"/>
          </p:cNvSpPr>
          <p:nvPr/>
        </p:nvSpPr>
        <p:spPr bwMode="auto">
          <a:xfrm>
            <a:off x="3716338" y="5094288"/>
            <a:ext cx="2116137"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58311" rIns="116623" bIns="58311"/>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400" b="1">
                <a:solidFill>
                  <a:srgbClr val="0000CC"/>
                </a:solidFill>
                <a:latin typeface="Times New Roman" panose="02020603050405020304" pitchFamily="18" charset="0"/>
                <a:ea typeface="黑体" panose="02010609060101010101" pitchFamily="49" charset="-122"/>
              </a:rPr>
              <a:t>外部存储器</a:t>
            </a:r>
            <a:endParaRPr kumimoji="1" lang="zh-CN" altLang="en-US" sz="2400" b="1">
              <a:solidFill>
                <a:srgbClr val="0000CC"/>
              </a:solidFill>
              <a:ea typeface="黑体" panose="02010609060101010101" pitchFamily="49" charset="-122"/>
            </a:endParaRPr>
          </a:p>
        </p:txBody>
      </p:sp>
      <p:sp>
        <p:nvSpPr>
          <p:cNvPr id="219146" name="Text Box 11">
            <a:extLst>
              <a:ext uri="{FF2B5EF4-FFF2-40B4-BE49-F238E27FC236}">
                <a16:creationId xmlns:a16="http://schemas.microsoft.com/office/drawing/2014/main" id="{CEBDB478-393A-A34E-A1E2-63E2EDF28544}"/>
              </a:ext>
            </a:extLst>
          </p:cNvPr>
          <p:cNvSpPr txBox="1">
            <a:spLocks noChangeArrowheads="1"/>
          </p:cNvSpPr>
          <p:nvPr/>
        </p:nvSpPr>
        <p:spPr bwMode="auto">
          <a:xfrm>
            <a:off x="4284663" y="1620838"/>
            <a:ext cx="901700" cy="636587"/>
          </a:xfrm>
          <a:prstGeom prst="rect">
            <a:avLst/>
          </a:prstGeom>
          <a:solidFill>
            <a:schemeClr val="bg1"/>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200" b="1">
                <a:ea typeface="黑体" panose="02010609060101010101" pitchFamily="49" charset="-122"/>
              </a:rPr>
              <a:t>寄存器</a:t>
            </a:r>
          </a:p>
        </p:txBody>
      </p:sp>
      <p:sp>
        <p:nvSpPr>
          <p:cNvPr id="219147" name="Text Box 13">
            <a:extLst>
              <a:ext uri="{FF2B5EF4-FFF2-40B4-BE49-F238E27FC236}">
                <a16:creationId xmlns:a16="http://schemas.microsoft.com/office/drawing/2014/main" id="{6CC90873-BA1A-4247-B440-8B510DD71BF7}"/>
              </a:ext>
            </a:extLst>
          </p:cNvPr>
          <p:cNvSpPr txBox="1">
            <a:spLocks noChangeArrowheads="1"/>
          </p:cNvSpPr>
          <p:nvPr/>
        </p:nvSpPr>
        <p:spPr bwMode="auto">
          <a:xfrm>
            <a:off x="7219950" y="1268413"/>
            <a:ext cx="1614488"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200" b="1">
                <a:ea typeface="黑体" panose="02010609060101010101" pitchFamily="49" charset="-122"/>
              </a:rPr>
              <a:t>典型容量</a:t>
            </a:r>
          </a:p>
        </p:txBody>
      </p:sp>
      <p:sp>
        <p:nvSpPr>
          <p:cNvPr id="219148" name="Text Box 14">
            <a:extLst>
              <a:ext uri="{FF2B5EF4-FFF2-40B4-BE49-F238E27FC236}">
                <a16:creationId xmlns:a16="http://schemas.microsoft.com/office/drawing/2014/main" id="{BFCD9CC6-C599-4D40-A432-CA769A393E5F}"/>
              </a:ext>
            </a:extLst>
          </p:cNvPr>
          <p:cNvSpPr txBox="1">
            <a:spLocks noChangeArrowheads="1"/>
          </p:cNvSpPr>
          <p:nvPr/>
        </p:nvSpPr>
        <p:spPr bwMode="auto">
          <a:xfrm>
            <a:off x="7227888" y="1808163"/>
            <a:ext cx="153035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&lt;1KB</a:t>
            </a:r>
          </a:p>
        </p:txBody>
      </p:sp>
      <p:sp>
        <p:nvSpPr>
          <p:cNvPr id="219149" name="Text Box 15">
            <a:extLst>
              <a:ext uri="{FF2B5EF4-FFF2-40B4-BE49-F238E27FC236}">
                <a16:creationId xmlns:a16="http://schemas.microsoft.com/office/drawing/2014/main" id="{8F99D795-375E-9947-8EF7-E8FCC4C6B892}"/>
              </a:ext>
            </a:extLst>
          </p:cNvPr>
          <p:cNvSpPr txBox="1">
            <a:spLocks noChangeArrowheads="1"/>
          </p:cNvSpPr>
          <p:nvPr/>
        </p:nvSpPr>
        <p:spPr bwMode="auto">
          <a:xfrm>
            <a:off x="7362825" y="2362200"/>
            <a:ext cx="1530350"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1MB</a:t>
            </a:r>
          </a:p>
        </p:txBody>
      </p:sp>
      <p:sp>
        <p:nvSpPr>
          <p:cNvPr id="219150" name="Text Box 16">
            <a:extLst>
              <a:ext uri="{FF2B5EF4-FFF2-40B4-BE49-F238E27FC236}">
                <a16:creationId xmlns:a16="http://schemas.microsoft.com/office/drawing/2014/main" id="{EF273DB3-835C-554A-8A83-75ED05565644}"/>
              </a:ext>
            </a:extLst>
          </p:cNvPr>
          <p:cNvSpPr txBox="1">
            <a:spLocks noChangeArrowheads="1"/>
          </p:cNvSpPr>
          <p:nvPr/>
        </p:nvSpPr>
        <p:spPr bwMode="auto">
          <a:xfrm>
            <a:off x="7046913" y="3014663"/>
            <a:ext cx="1871662"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256MB</a:t>
            </a:r>
            <a:r>
              <a:rPr kumimoji="1" lang="en-US" altLang="zh-CN" sz="1800" b="1">
                <a:ea typeface="华文新魏" panose="02010800040101010101" pitchFamily="2" charset="-122"/>
              </a:rPr>
              <a:t>~</a:t>
            </a:r>
            <a:r>
              <a:rPr kumimoji="1" lang="en-US" altLang="zh-CN" sz="2200" b="1">
                <a:ea typeface="黑体" panose="02010609060101010101" pitchFamily="49" charset="-122"/>
              </a:rPr>
              <a:t>1GB</a:t>
            </a:r>
          </a:p>
        </p:txBody>
      </p:sp>
      <p:sp>
        <p:nvSpPr>
          <p:cNvPr id="219151" name="Text Box 17">
            <a:extLst>
              <a:ext uri="{FF2B5EF4-FFF2-40B4-BE49-F238E27FC236}">
                <a16:creationId xmlns:a16="http://schemas.microsoft.com/office/drawing/2014/main" id="{C328A764-80B3-7F43-BC02-F40055B67622}"/>
              </a:ext>
            </a:extLst>
          </p:cNvPr>
          <p:cNvSpPr txBox="1">
            <a:spLocks noChangeArrowheads="1"/>
          </p:cNvSpPr>
          <p:nvPr/>
        </p:nvSpPr>
        <p:spPr bwMode="auto">
          <a:xfrm>
            <a:off x="7002463" y="3743325"/>
            <a:ext cx="2141537"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40GB</a:t>
            </a:r>
            <a:r>
              <a:rPr kumimoji="1" lang="en-US" altLang="zh-CN" sz="1800" b="1">
                <a:ea typeface="华文新魏" panose="02010800040101010101" pitchFamily="2" charset="-122"/>
              </a:rPr>
              <a:t>~</a:t>
            </a:r>
            <a:r>
              <a:rPr kumimoji="1" lang="en-US" altLang="zh-CN" sz="2200" b="1">
                <a:ea typeface="黑体" panose="02010609060101010101" pitchFamily="49" charset="-122"/>
              </a:rPr>
              <a:t>200GB</a:t>
            </a:r>
          </a:p>
        </p:txBody>
      </p:sp>
      <p:sp>
        <p:nvSpPr>
          <p:cNvPr id="219152" name="Text Box 18">
            <a:extLst>
              <a:ext uri="{FF2B5EF4-FFF2-40B4-BE49-F238E27FC236}">
                <a16:creationId xmlns:a16="http://schemas.microsoft.com/office/drawing/2014/main" id="{0B4E5C2C-ED35-9B40-B1F6-1C35C9A2C009}"/>
              </a:ext>
            </a:extLst>
          </p:cNvPr>
          <p:cNvSpPr txBox="1">
            <a:spLocks noChangeArrowheads="1"/>
          </p:cNvSpPr>
          <p:nvPr/>
        </p:nvSpPr>
        <p:spPr bwMode="auto">
          <a:xfrm>
            <a:off x="7361238" y="4464050"/>
            <a:ext cx="1755775"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10TB</a:t>
            </a:r>
            <a:r>
              <a:rPr kumimoji="1" lang="en-US" altLang="zh-CN" sz="1800" b="1">
                <a:ea typeface="华文新魏" panose="02010800040101010101" pitchFamily="2" charset="-122"/>
              </a:rPr>
              <a:t>~</a:t>
            </a:r>
            <a:r>
              <a:rPr kumimoji="1" lang="en-US" altLang="zh-CN" sz="2200" b="1">
                <a:ea typeface="黑体" panose="02010609060101010101" pitchFamily="49" charset="-122"/>
              </a:rPr>
              <a:t>100TB</a:t>
            </a:r>
          </a:p>
        </p:txBody>
      </p:sp>
      <p:sp>
        <p:nvSpPr>
          <p:cNvPr id="219153" name="Text Box 19">
            <a:extLst>
              <a:ext uri="{FF2B5EF4-FFF2-40B4-BE49-F238E27FC236}">
                <a16:creationId xmlns:a16="http://schemas.microsoft.com/office/drawing/2014/main" id="{625FEEC0-201D-6045-9A30-C889F97B6B84}"/>
              </a:ext>
            </a:extLst>
          </p:cNvPr>
          <p:cNvSpPr txBox="1">
            <a:spLocks noChangeArrowheads="1"/>
          </p:cNvSpPr>
          <p:nvPr/>
        </p:nvSpPr>
        <p:spPr bwMode="auto">
          <a:xfrm>
            <a:off x="282575" y="1290638"/>
            <a:ext cx="2263775"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lnSpc>
                <a:spcPct val="110000"/>
              </a:lnSpc>
            </a:pPr>
            <a:r>
              <a:rPr kumimoji="1" lang="zh-CN" altLang="en-US" sz="2200" b="1">
                <a:ea typeface="黑体" panose="02010609060101010101" pitchFamily="49" charset="-122"/>
              </a:rPr>
              <a:t>典型存取时间</a:t>
            </a:r>
          </a:p>
        </p:txBody>
      </p:sp>
      <p:sp>
        <p:nvSpPr>
          <p:cNvPr id="219154" name="Text Box 20">
            <a:extLst>
              <a:ext uri="{FF2B5EF4-FFF2-40B4-BE49-F238E27FC236}">
                <a16:creationId xmlns:a16="http://schemas.microsoft.com/office/drawing/2014/main" id="{A5EC714D-E6D1-3747-A76C-FAACB936761A}"/>
              </a:ext>
            </a:extLst>
          </p:cNvPr>
          <p:cNvSpPr txBox="1">
            <a:spLocks noChangeArrowheads="1"/>
          </p:cNvSpPr>
          <p:nvPr/>
        </p:nvSpPr>
        <p:spPr bwMode="auto">
          <a:xfrm>
            <a:off x="206375" y="1800225"/>
            <a:ext cx="26098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1ns(0.5</a:t>
            </a:r>
            <a:r>
              <a:rPr kumimoji="1" lang="en-US" altLang="zh-CN" sz="2200" b="1">
                <a:ea typeface="黑体" panose="02010609060101010101" pitchFamily="49" charset="-122"/>
                <a:cs typeface="Times New Roman" panose="02020603050405020304" pitchFamily="18" charset="0"/>
              </a:rPr>
              <a:t>~</a:t>
            </a:r>
            <a:r>
              <a:rPr kumimoji="1" lang="en-US" altLang="zh-CN" sz="2200" b="1">
                <a:ea typeface="黑体" panose="02010609060101010101" pitchFamily="49" charset="-122"/>
              </a:rPr>
              <a:t>1cycles</a:t>
            </a:r>
            <a:r>
              <a:rPr kumimoji="1" lang="en-US" altLang="zh-CN" sz="1500" b="1">
                <a:solidFill>
                  <a:schemeClr val="hlink"/>
                </a:solidFill>
                <a:latin typeface="Times New Roman" panose="02020603050405020304" pitchFamily="18" charset="0"/>
                <a:ea typeface="宋体" panose="02010600030101010101" pitchFamily="2" charset="-122"/>
              </a:rPr>
              <a:t>)</a:t>
            </a:r>
            <a:endParaRPr kumimoji="1" lang="zh-CN" altLang="en-US" sz="2300" b="1">
              <a:solidFill>
                <a:schemeClr val="hlink"/>
              </a:solidFill>
              <a:ea typeface="宋体" panose="02010600030101010101" pitchFamily="2" charset="-122"/>
            </a:endParaRPr>
          </a:p>
        </p:txBody>
      </p:sp>
      <p:sp>
        <p:nvSpPr>
          <p:cNvPr id="219155" name="Text Box 21">
            <a:extLst>
              <a:ext uri="{FF2B5EF4-FFF2-40B4-BE49-F238E27FC236}">
                <a16:creationId xmlns:a16="http://schemas.microsoft.com/office/drawing/2014/main" id="{51856833-64BF-1F45-A24F-A86B4D677FAE}"/>
              </a:ext>
            </a:extLst>
          </p:cNvPr>
          <p:cNvSpPr txBox="1">
            <a:spLocks noChangeArrowheads="1"/>
          </p:cNvSpPr>
          <p:nvPr/>
        </p:nvSpPr>
        <p:spPr bwMode="auto">
          <a:xfrm>
            <a:off x="206375" y="2347913"/>
            <a:ext cx="31051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2ns(1~3cycles)</a:t>
            </a:r>
          </a:p>
        </p:txBody>
      </p:sp>
      <p:sp>
        <p:nvSpPr>
          <p:cNvPr id="219156" name="Text Box 22">
            <a:extLst>
              <a:ext uri="{FF2B5EF4-FFF2-40B4-BE49-F238E27FC236}">
                <a16:creationId xmlns:a16="http://schemas.microsoft.com/office/drawing/2014/main" id="{CCA50752-F382-DD4B-AB8C-F8D4472306DD}"/>
              </a:ext>
            </a:extLst>
          </p:cNvPr>
          <p:cNvSpPr txBox="1">
            <a:spLocks noChangeArrowheads="1"/>
          </p:cNvSpPr>
          <p:nvPr/>
        </p:nvSpPr>
        <p:spPr bwMode="auto">
          <a:xfrm>
            <a:off x="115888" y="3024188"/>
            <a:ext cx="2925762"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10ns(10~100cycles)</a:t>
            </a:r>
            <a:endParaRPr kumimoji="1" lang="en-US" altLang="zh-CN" sz="1500" b="1">
              <a:solidFill>
                <a:schemeClr val="hlink"/>
              </a:solidFill>
              <a:latin typeface="Times New Roman" panose="02020603050405020304" pitchFamily="18" charset="0"/>
              <a:ea typeface="宋体" panose="02010600030101010101" pitchFamily="2" charset="-122"/>
            </a:endParaRPr>
          </a:p>
        </p:txBody>
      </p:sp>
      <p:sp>
        <p:nvSpPr>
          <p:cNvPr id="219157" name="Text Box 23">
            <a:extLst>
              <a:ext uri="{FF2B5EF4-FFF2-40B4-BE49-F238E27FC236}">
                <a16:creationId xmlns:a16="http://schemas.microsoft.com/office/drawing/2014/main" id="{D8E183F2-9411-A546-9ACF-087F76C7B4E5}"/>
              </a:ext>
            </a:extLst>
          </p:cNvPr>
          <p:cNvSpPr txBox="1">
            <a:spLocks noChangeArrowheads="1"/>
          </p:cNvSpPr>
          <p:nvPr/>
        </p:nvSpPr>
        <p:spPr bwMode="auto">
          <a:xfrm>
            <a:off x="115888" y="3789363"/>
            <a:ext cx="30607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000" b="1">
                <a:ea typeface="黑体" panose="02010609060101010101" pitchFamily="49" charset="-122"/>
              </a:rPr>
              <a:t>10ms(10</a:t>
            </a:r>
            <a:r>
              <a:rPr kumimoji="1" lang="en-US" altLang="zh-CN" sz="2000" b="1" baseline="30000">
                <a:ea typeface="黑体" panose="02010609060101010101" pitchFamily="49" charset="-122"/>
              </a:rPr>
              <a:t>7</a:t>
            </a:r>
            <a:r>
              <a:rPr kumimoji="1" lang="en-US" altLang="zh-CN" sz="2000" b="1">
                <a:ea typeface="华文新魏" panose="02010800040101010101" pitchFamily="2" charset="-122"/>
              </a:rPr>
              <a:t>~10</a:t>
            </a:r>
            <a:r>
              <a:rPr kumimoji="1" lang="en-US" altLang="zh-CN" sz="2000" b="1" baseline="30000">
                <a:ea typeface="华文新魏" panose="02010800040101010101" pitchFamily="2" charset="-122"/>
              </a:rPr>
              <a:t>8</a:t>
            </a:r>
            <a:r>
              <a:rPr kumimoji="1" lang="en-US" altLang="zh-CN" sz="2000" b="1">
                <a:ea typeface="华文新魏" panose="02010800040101010101" pitchFamily="2" charset="-122"/>
              </a:rPr>
              <a:t>cycles)</a:t>
            </a:r>
            <a:endParaRPr kumimoji="1" lang="zh-CN" altLang="en-US" sz="2000" b="1">
              <a:ea typeface="华文新魏" panose="02010800040101010101" pitchFamily="2" charset="-122"/>
            </a:endParaRPr>
          </a:p>
        </p:txBody>
      </p:sp>
      <p:sp>
        <p:nvSpPr>
          <p:cNvPr id="219158" name="Text Box 24">
            <a:extLst>
              <a:ext uri="{FF2B5EF4-FFF2-40B4-BE49-F238E27FC236}">
                <a16:creationId xmlns:a16="http://schemas.microsoft.com/office/drawing/2014/main" id="{DA87410E-7A73-6748-9D18-24DBD9A2155F}"/>
              </a:ext>
            </a:extLst>
          </p:cNvPr>
          <p:cNvSpPr txBox="1">
            <a:spLocks noChangeArrowheads="1"/>
          </p:cNvSpPr>
          <p:nvPr/>
        </p:nvSpPr>
        <p:spPr bwMode="auto">
          <a:xfrm>
            <a:off x="115888" y="4418013"/>
            <a:ext cx="1889125"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6623" tIns="0" rIns="116623"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lnSpc>
                <a:spcPct val="110000"/>
              </a:lnSpc>
            </a:pPr>
            <a:r>
              <a:rPr kumimoji="1" lang="en-US" altLang="zh-CN" sz="2200" b="1">
                <a:ea typeface="黑体" panose="02010609060101010101" pitchFamily="49" charset="-122"/>
              </a:rPr>
              <a:t>10s(</a:t>
            </a:r>
            <a:r>
              <a:rPr kumimoji="1" lang="zh-CN" altLang="en-US" sz="2200" b="1">
                <a:ea typeface="黑体" panose="02010609060101010101" pitchFamily="49" charset="-122"/>
              </a:rPr>
              <a:t>脱机</a:t>
            </a:r>
            <a:r>
              <a:rPr kumimoji="1" lang="en-US" altLang="zh-CN" sz="2200" b="1">
                <a:ea typeface="黑体" panose="02010609060101010101" pitchFamily="49" charset="-122"/>
              </a:rPr>
              <a:t>)</a:t>
            </a:r>
          </a:p>
        </p:txBody>
      </p:sp>
      <p:sp>
        <p:nvSpPr>
          <p:cNvPr id="219159" name="Text Box 27">
            <a:extLst>
              <a:ext uri="{FF2B5EF4-FFF2-40B4-BE49-F238E27FC236}">
                <a16:creationId xmlns:a16="http://schemas.microsoft.com/office/drawing/2014/main" id="{19127A8D-0832-F845-AC31-9E93586A7EC8}"/>
              </a:ext>
            </a:extLst>
          </p:cNvPr>
          <p:cNvSpPr txBox="1">
            <a:spLocks noChangeArrowheads="1"/>
          </p:cNvSpPr>
          <p:nvPr/>
        </p:nvSpPr>
        <p:spPr bwMode="auto">
          <a:xfrm>
            <a:off x="655638" y="5854700"/>
            <a:ext cx="8191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FF0066"/>
                </a:solidFill>
                <a:ea typeface="黑体" panose="02010609060101010101" pitchFamily="49" charset="-122"/>
              </a:rPr>
              <a:t>列出的时间和容量会随时间变化，但数量级相对关系不变。</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a:extLst>
              <a:ext uri="{FF2B5EF4-FFF2-40B4-BE49-F238E27FC236}">
                <a16:creationId xmlns:a16="http://schemas.microsoft.com/office/drawing/2014/main" id="{E1DE984F-E5AC-E841-9E1C-75286AC7C308}"/>
              </a:ext>
            </a:extLst>
          </p:cNvPr>
          <p:cNvSpPr>
            <a:spLocks noGrp="1" noChangeArrowheads="1"/>
          </p:cNvSpPr>
          <p:nvPr>
            <p:ph type="title" idx="4294967295"/>
          </p:nvPr>
        </p:nvSpPr>
        <p:spPr>
          <a:xfrm>
            <a:off x="701675" y="53975"/>
            <a:ext cx="7772400" cy="641350"/>
          </a:xfrm>
          <a:noFill/>
        </p:spPr>
        <p:txBody>
          <a:bodyPr lIns="91440" tIns="45720" rIns="91440" bIns="45720" anchor="ctr"/>
          <a:lstStyle/>
          <a:p>
            <a:pPr eaLnBrk="1" hangingPunct="1"/>
            <a:r>
              <a:rPr lang="zh-CN" altLang="en-US">
                <a:latin typeface="黑体" panose="02010609060101010101" pitchFamily="49" charset="-122"/>
              </a:rPr>
              <a:t>“</a:t>
            </a:r>
            <a:r>
              <a:rPr lang="zh-CN" altLang="en-US"/>
              <a:t>主存</a:t>
            </a:r>
            <a:r>
              <a:rPr lang="en-US" altLang="zh-CN"/>
              <a:t>--</a:t>
            </a:r>
            <a:r>
              <a:rPr lang="zh-CN" altLang="en-US"/>
              <a:t>磁盘</a:t>
            </a:r>
            <a:r>
              <a:rPr lang="zh-CN" altLang="en-US">
                <a:latin typeface="黑体" panose="02010609060101010101" pitchFamily="49" charset="-122"/>
              </a:rPr>
              <a:t>”</a:t>
            </a:r>
            <a:r>
              <a:rPr lang="zh-CN" altLang="en-US"/>
              <a:t>层次</a:t>
            </a:r>
          </a:p>
        </p:txBody>
      </p:sp>
      <p:sp>
        <p:nvSpPr>
          <p:cNvPr id="500866" name="Text Box 130">
            <a:extLst>
              <a:ext uri="{FF2B5EF4-FFF2-40B4-BE49-F238E27FC236}">
                <a16:creationId xmlns:a16="http://schemas.microsoft.com/office/drawing/2014/main" id="{BC6AB0BF-E811-CA4B-BE7F-978031E79F1F}"/>
              </a:ext>
            </a:extLst>
          </p:cNvPr>
          <p:cNvSpPr txBox="1">
            <a:spLocks noChangeArrowheads="1"/>
          </p:cNvSpPr>
          <p:nvPr/>
        </p:nvSpPr>
        <p:spPr bwMode="auto">
          <a:xfrm>
            <a:off x="385763" y="954088"/>
            <a:ext cx="8507412" cy="524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20000"/>
              </a:lnSpc>
              <a:spcBef>
                <a:spcPts val="600"/>
              </a:spcBef>
            </a:pP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与“</a:t>
            </a:r>
            <a:r>
              <a:rPr kumimoji="1" lang="en-US" altLang="zh-CN"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Cache--</a:t>
            </a:r>
            <a:r>
              <a:rPr kumimoji="1" lang="zh-CN" altLang="en-US" sz="2200" b="1">
                <a:solidFill>
                  <a:srgbClr val="0000FF"/>
                </a:solidFill>
                <a:latin typeface="微软雅黑" panose="020B0503020204020204" pitchFamily="34" charset="-122"/>
                <a:ea typeface="微软雅黑" panose="020B0503020204020204" pitchFamily="34" charset="-122"/>
                <a:cs typeface="Arial" panose="020B0604020202020204" pitchFamily="34" charset="0"/>
              </a:rPr>
              <a:t>主存”层次相比：</a:t>
            </a:r>
          </a:p>
          <a:p>
            <a:pPr eaLnBrk="1" hangingPunct="1">
              <a:spcBef>
                <a:spcPts val="600"/>
              </a:spcBef>
            </a:pP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页大小（</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2KB~64KB</a:t>
            </a: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）比</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Cache</a:t>
            </a: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中的</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Block</a:t>
            </a: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大得多！</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 Why</a:t>
            </a: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a:t>
            </a:r>
          </a:p>
          <a:p>
            <a:pPr eaLnBrk="1" hangingPunct="1">
              <a:spcBef>
                <a:spcPts val="600"/>
              </a:spcBef>
            </a:pP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采用全相联映射！</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Why?</a:t>
            </a:r>
          </a:p>
          <a:p>
            <a:pPr eaLnBrk="1" hangingPunct="1">
              <a:spcBef>
                <a:spcPts val="600"/>
              </a:spcBef>
            </a:pPr>
            <a:r>
              <a:rPr kumimoji="1" lang="zh-CN" altLang="en-US"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因为缺页的开销比</a:t>
            </a:r>
            <a:r>
              <a:rPr kumimoji="1" lang="en-US" altLang="zh-CN"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Cache</a:t>
            </a:r>
            <a:r>
              <a:rPr kumimoji="1" lang="zh-CN" altLang="en-US"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缺失开销大的多！缺页时需要访问磁盘（约几百万个时钟周期），而</a:t>
            </a:r>
            <a:r>
              <a:rPr kumimoji="1" lang="en-US" altLang="zh-CN"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cache</a:t>
            </a:r>
            <a:r>
              <a:rPr kumimoji="1" lang="zh-CN" altLang="en-US"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缺失时，访问主存仅需几十到几百个时钟周期！因此，页命中率比</a:t>
            </a:r>
            <a:r>
              <a:rPr kumimoji="1" lang="en-US" altLang="zh-CN"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cache</a:t>
            </a:r>
            <a:r>
              <a:rPr kumimoji="1" lang="zh-CN" altLang="en-US"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命中率更重要！“大页面”和“全相联”可提高页命中率。</a:t>
            </a:r>
            <a:endParaRPr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20000"/>
              </a:lnSpc>
              <a:spcBef>
                <a:spcPts val="600"/>
              </a:spcBef>
            </a:pPr>
            <a:r>
              <a:rPr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通过软件来处理“缺页”！</a:t>
            </a:r>
            <a:r>
              <a:rPr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Why?</a:t>
            </a:r>
          </a:p>
          <a:p>
            <a:pPr eaLnBrk="1" hangingPunct="1">
              <a:lnSpc>
                <a:spcPct val="120000"/>
              </a:lnSpc>
              <a:spcBef>
                <a:spcPts val="600"/>
              </a:spcBef>
            </a:pPr>
            <a:r>
              <a:rPr kumimoji="1" lang="zh-CN" altLang="en-US"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缺页时需要访问磁盘（约几百万个时钟周期），慢！不能用硬件实现。</a:t>
            </a:r>
            <a:endParaRPr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spcBef>
                <a:spcPts val="600"/>
              </a:spcBef>
            </a:pP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采用</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Write Back</a:t>
            </a: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写策略！ </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Why?</a:t>
            </a:r>
          </a:p>
          <a:p>
            <a:pPr eaLnBrk="1" hangingPunct="1">
              <a:spcBef>
                <a:spcPts val="600"/>
              </a:spcBef>
            </a:pPr>
            <a:r>
              <a:rPr kumimoji="1" lang="zh-CN" altLang="en-US"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避免频繁的慢速磁盘访问操作。</a:t>
            </a:r>
          </a:p>
          <a:p>
            <a:pPr eaLnBrk="1" hangingPunct="1">
              <a:spcBef>
                <a:spcPts val="600"/>
              </a:spcBef>
            </a:pPr>
            <a:r>
              <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地址转换用硬件实现！</a:t>
            </a:r>
            <a:r>
              <a:rPr kumimoji="1" lang="en-US" altLang="zh-CN" sz="2200" b="1">
                <a:solidFill>
                  <a:srgbClr val="CC0000"/>
                </a:solidFill>
                <a:latin typeface="微软雅黑" panose="020B0503020204020204" pitchFamily="34" charset="-122"/>
                <a:ea typeface="微软雅黑" panose="020B0503020204020204" pitchFamily="34" charset="-122"/>
                <a:cs typeface="Arial" panose="020B0604020202020204" pitchFamily="34" charset="0"/>
              </a:rPr>
              <a:t>Why?</a:t>
            </a:r>
          </a:p>
          <a:p>
            <a:pPr eaLnBrk="1" hangingPunct="1">
              <a:spcBef>
                <a:spcPts val="600"/>
              </a:spcBef>
            </a:pPr>
            <a:r>
              <a:rPr kumimoji="1" lang="zh-CN" altLang="en-US" sz="2200" b="1">
                <a:solidFill>
                  <a:srgbClr val="006600"/>
                </a:solidFill>
                <a:latin typeface="微软雅黑" panose="020B0503020204020204" pitchFamily="34" charset="-122"/>
                <a:ea typeface="微软雅黑" panose="020B0503020204020204" pitchFamily="34" charset="-122"/>
                <a:cs typeface="Arial" panose="020B0604020202020204" pitchFamily="34" charset="0"/>
              </a:rPr>
              <a:t>加快指令执行</a:t>
            </a:r>
            <a:endParaRPr kumimoji="1" lang="zh-CN" altLang="en-US" sz="2200" b="1">
              <a:solidFill>
                <a:srgbClr val="CC0000"/>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0866">
                                            <p:txEl>
                                              <p:pRg st="0" end="0"/>
                                            </p:txEl>
                                          </p:spTgt>
                                        </p:tgtEl>
                                        <p:attrNameLst>
                                          <p:attrName>style.visibility</p:attrName>
                                        </p:attrNameLst>
                                      </p:cBhvr>
                                      <p:to>
                                        <p:strVal val="visible"/>
                                      </p:to>
                                    </p:set>
                                    <p:animEffect transition="in" filter="blinds(horizontal)">
                                      <p:cBhvr>
                                        <p:cTn id="7" dur="500"/>
                                        <p:tgtEl>
                                          <p:spTgt spid="5008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00866">
                                            <p:txEl>
                                              <p:pRg st="1" end="1"/>
                                            </p:txEl>
                                          </p:spTgt>
                                        </p:tgtEl>
                                        <p:attrNameLst>
                                          <p:attrName>style.visibility</p:attrName>
                                        </p:attrNameLst>
                                      </p:cBhvr>
                                      <p:to>
                                        <p:strVal val="visible"/>
                                      </p:to>
                                    </p:set>
                                    <p:animEffect transition="in" filter="blinds(horizontal)">
                                      <p:cBhvr>
                                        <p:cTn id="12" dur="500"/>
                                        <p:tgtEl>
                                          <p:spTgt spid="50086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00866">
                                            <p:txEl>
                                              <p:pRg st="2" end="2"/>
                                            </p:txEl>
                                          </p:spTgt>
                                        </p:tgtEl>
                                        <p:attrNameLst>
                                          <p:attrName>style.visibility</p:attrName>
                                        </p:attrNameLst>
                                      </p:cBhvr>
                                      <p:to>
                                        <p:strVal val="visible"/>
                                      </p:to>
                                    </p:set>
                                    <p:animEffect transition="in" filter="blinds(horizontal)">
                                      <p:cBhvr>
                                        <p:cTn id="17" dur="500"/>
                                        <p:tgtEl>
                                          <p:spTgt spid="50086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00866">
                                            <p:txEl>
                                              <p:pRg st="3" end="3"/>
                                            </p:txEl>
                                          </p:spTgt>
                                        </p:tgtEl>
                                        <p:attrNameLst>
                                          <p:attrName>style.visibility</p:attrName>
                                        </p:attrNameLst>
                                      </p:cBhvr>
                                      <p:to>
                                        <p:strVal val="visible"/>
                                      </p:to>
                                    </p:set>
                                    <p:animEffect transition="in" filter="blinds(horizontal)">
                                      <p:cBhvr>
                                        <p:cTn id="22" dur="500"/>
                                        <p:tgtEl>
                                          <p:spTgt spid="50086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00866">
                                            <p:txEl>
                                              <p:pRg st="4" end="4"/>
                                            </p:txEl>
                                          </p:spTgt>
                                        </p:tgtEl>
                                        <p:attrNameLst>
                                          <p:attrName>style.visibility</p:attrName>
                                        </p:attrNameLst>
                                      </p:cBhvr>
                                      <p:to>
                                        <p:strVal val="visible"/>
                                      </p:to>
                                    </p:set>
                                    <p:animEffect transition="in" filter="blinds(horizontal)">
                                      <p:cBhvr>
                                        <p:cTn id="27" dur="500"/>
                                        <p:tgtEl>
                                          <p:spTgt spid="50086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00866">
                                            <p:txEl>
                                              <p:pRg st="5" end="5"/>
                                            </p:txEl>
                                          </p:spTgt>
                                        </p:tgtEl>
                                        <p:attrNameLst>
                                          <p:attrName>style.visibility</p:attrName>
                                        </p:attrNameLst>
                                      </p:cBhvr>
                                      <p:to>
                                        <p:strVal val="visible"/>
                                      </p:to>
                                    </p:set>
                                    <p:animEffect transition="in" filter="blinds(horizontal)">
                                      <p:cBhvr>
                                        <p:cTn id="32" dur="500"/>
                                        <p:tgtEl>
                                          <p:spTgt spid="500866">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00866">
                                            <p:txEl>
                                              <p:pRg st="6" end="6"/>
                                            </p:txEl>
                                          </p:spTgt>
                                        </p:tgtEl>
                                        <p:attrNameLst>
                                          <p:attrName>style.visibility</p:attrName>
                                        </p:attrNameLst>
                                      </p:cBhvr>
                                      <p:to>
                                        <p:strVal val="visible"/>
                                      </p:to>
                                    </p:set>
                                    <p:animEffect transition="in" filter="blinds(horizontal)">
                                      <p:cBhvr>
                                        <p:cTn id="37" dur="500"/>
                                        <p:tgtEl>
                                          <p:spTgt spid="500866">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00866">
                                            <p:txEl>
                                              <p:pRg st="7" end="7"/>
                                            </p:txEl>
                                          </p:spTgt>
                                        </p:tgtEl>
                                        <p:attrNameLst>
                                          <p:attrName>style.visibility</p:attrName>
                                        </p:attrNameLst>
                                      </p:cBhvr>
                                      <p:to>
                                        <p:strVal val="visible"/>
                                      </p:to>
                                    </p:set>
                                    <p:animEffect transition="in" filter="blinds(horizontal)">
                                      <p:cBhvr>
                                        <p:cTn id="42" dur="500"/>
                                        <p:tgtEl>
                                          <p:spTgt spid="500866">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00866">
                                            <p:txEl>
                                              <p:pRg st="8" end="8"/>
                                            </p:txEl>
                                          </p:spTgt>
                                        </p:tgtEl>
                                        <p:attrNameLst>
                                          <p:attrName>style.visibility</p:attrName>
                                        </p:attrNameLst>
                                      </p:cBhvr>
                                      <p:to>
                                        <p:strVal val="visible"/>
                                      </p:to>
                                    </p:set>
                                    <p:animEffect transition="in" filter="blinds(horizontal)">
                                      <p:cBhvr>
                                        <p:cTn id="47" dur="500"/>
                                        <p:tgtEl>
                                          <p:spTgt spid="500866">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500866">
                                            <p:txEl>
                                              <p:pRg st="9" end="9"/>
                                            </p:txEl>
                                          </p:spTgt>
                                        </p:tgtEl>
                                        <p:attrNameLst>
                                          <p:attrName>style.visibility</p:attrName>
                                        </p:attrNameLst>
                                      </p:cBhvr>
                                      <p:to>
                                        <p:strVal val="visible"/>
                                      </p:to>
                                    </p:set>
                                    <p:animEffect transition="in" filter="blinds(horizontal)">
                                      <p:cBhvr>
                                        <p:cTn id="52" dur="500"/>
                                        <p:tgtEl>
                                          <p:spTgt spid="50086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F9018C3A-67BF-2C47-9259-F0B029CC0D78}"/>
              </a:ext>
            </a:extLst>
          </p:cNvPr>
          <p:cNvSpPr>
            <a:spLocks noGrp="1" noChangeArrowheads="1"/>
          </p:cNvSpPr>
          <p:nvPr>
            <p:ph type="title" idx="4294967295"/>
          </p:nvPr>
        </p:nvSpPr>
        <p:spPr>
          <a:xfrm>
            <a:off x="3267075" y="7938"/>
            <a:ext cx="2387600" cy="641350"/>
          </a:xfrm>
        </p:spPr>
        <p:txBody>
          <a:bodyPr lIns="91440" tIns="45720" rIns="91440" bIns="45720" anchor="ctr"/>
          <a:lstStyle/>
          <a:p>
            <a:pPr algn="l" eaLnBrk="1" hangingPunct="1"/>
            <a:r>
              <a:rPr lang="zh-CN" altLang="en-US" sz="4000"/>
              <a:t>页表结构</a:t>
            </a:r>
          </a:p>
        </p:txBody>
      </p:sp>
      <p:pic>
        <p:nvPicPr>
          <p:cNvPr id="221187" name="Picture 4" descr="用户程序A的页表图">
            <a:extLst>
              <a:ext uri="{FF2B5EF4-FFF2-40B4-BE49-F238E27FC236}">
                <a16:creationId xmlns:a16="http://schemas.microsoft.com/office/drawing/2014/main" id="{EBCADE53-C4C1-434E-8BD7-CA5201247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613" y="811213"/>
            <a:ext cx="866457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3811" name="Rectangle 3">
            <a:extLst>
              <a:ext uri="{FF2B5EF4-FFF2-40B4-BE49-F238E27FC236}">
                <a16:creationId xmlns:a16="http://schemas.microsoft.com/office/drawing/2014/main" id="{F16F136C-6554-F64C-B9C2-B6F0DC71D0D5}"/>
              </a:ext>
            </a:extLst>
          </p:cNvPr>
          <p:cNvSpPr>
            <a:spLocks noGrp="1" noChangeArrowheads="1"/>
          </p:cNvSpPr>
          <p:nvPr>
            <p:ph type="body" idx="4294967295"/>
          </p:nvPr>
        </p:nvSpPr>
        <p:spPr>
          <a:xfrm>
            <a:off x="130175" y="4905375"/>
            <a:ext cx="8893175" cy="1492250"/>
          </a:xfrm>
          <a:solidFill>
            <a:schemeClr val="bg1"/>
          </a:solidFill>
        </p:spPr>
        <p:txBody>
          <a:bodyPr lIns="91440" tIns="45720" rIns="91440" bIns="45720"/>
          <a:lstStyle/>
          <a:p>
            <a:pPr eaLnBrk="1" hangingPunct="1">
              <a:lnSpc>
                <a:spcPct val="110000"/>
              </a:lnSpc>
              <a:spcBef>
                <a:spcPct val="10000"/>
              </a:spcBef>
            </a:pPr>
            <a:r>
              <a:rPr lang="zh-CN" altLang="en-US" sz="2000">
                <a:latin typeface="微软雅黑" panose="020B0503020204020204" pitchFamily="34" charset="-122"/>
                <a:ea typeface="微软雅黑" panose="020B0503020204020204" pitchFamily="34" charset="-122"/>
              </a:rPr>
              <a:t>每个进程有一个页表，其中有</a:t>
            </a:r>
            <a:r>
              <a:rPr lang="zh-CN" altLang="en-US" sz="2000">
                <a:solidFill>
                  <a:srgbClr val="CC0000"/>
                </a:solidFill>
                <a:latin typeface="微软雅黑" panose="020B0503020204020204" pitchFamily="34" charset="-122"/>
                <a:ea typeface="微软雅黑" panose="020B0503020204020204" pitchFamily="34" charset="-122"/>
              </a:rPr>
              <a:t>装入位、修改（</a:t>
            </a:r>
            <a:r>
              <a:rPr lang="en-US" altLang="zh-CN" sz="2000">
                <a:solidFill>
                  <a:srgbClr val="CC0000"/>
                </a:solidFill>
                <a:latin typeface="微软雅黑" panose="020B0503020204020204" pitchFamily="34" charset="-122"/>
                <a:ea typeface="微软雅黑" panose="020B0503020204020204" pitchFamily="34" charset="-122"/>
              </a:rPr>
              <a:t>Dirt</a:t>
            </a:r>
            <a:r>
              <a:rPr lang="zh-CN" altLang="en-US" sz="2000">
                <a:solidFill>
                  <a:srgbClr val="CC0000"/>
                </a:solidFill>
                <a:latin typeface="微软雅黑" panose="020B0503020204020204" pitchFamily="34" charset="-122"/>
                <a:ea typeface="微软雅黑" panose="020B0503020204020204" pitchFamily="34" charset="-122"/>
              </a:rPr>
              <a:t>）位、替换控制位、访问权限位、禁止缓存位、实页号。</a:t>
            </a:r>
            <a:endParaRPr lang="en-US" altLang="zh-CN" sz="2000">
              <a:solidFill>
                <a:srgbClr val="CC0000"/>
              </a:solidFill>
              <a:latin typeface="微软雅黑" panose="020B0503020204020204" pitchFamily="34" charset="-122"/>
              <a:ea typeface="微软雅黑" panose="020B0503020204020204" pitchFamily="34" charset="-122"/>
            </a:endParaRPr>
          </a:p>
          <a:p>
            <a:pPr eaLnBrk="1" hangingPunct="1">
              <a:lnSpc>
                <a:spcPct val="110000"/>
              </a:lnSpc>
              <a:spcBef>
                <a:spcPct val="10000"/>
              </a:spcBef>
            </a:pPr>
            <a:r>
              <a:rPr lang="zh-CN" altLang="en-US" sz="2000">
                <a:latin typeface="微软雅黑" panose="020B0503020204020204" pitchFamily="34" charset="-122"/>
                <a:ea typeface="微软雅黑" panose="020B0503020204020204" pitchFamily="34" charset="-122"/>
              </a:rPr>
              <a:t>一个页表的项数由什么决定？</a:t>
            </a:r>
            <a:endParaRPr lang="en-US" altLang="zh-CN" sz="2000">
              <a:latin typeface="微软雅黑" panose="020B0503020204020204" pitchFamily="34" charset="-122"/>
              <a:ea typeface="微软雅黑" panose="020B0503020204020204" pitchFamily="34" charset="-122"/>
            </a:endParaRPr>
          </a:p>
          <a:p>
            <a:pPr eaLnBrk="1" hangingPunct="1">
              <a:lnSpc>
                <a:spcPct val="110000"/>
              </a:lnSpc>
              <a:spcBef>
                <a:spcPct val="10000"/>
              </a:spcBef>
            </a:pPr>
            <a:r>
              <a:rPr lang="zh-CN" altLang="en-US" sz="2000">
                <a:latin typeface="微软雅黑" panose="020B0503020204020204" pitchFamily="34" charset="-122"/>
                <a:ea typeface="微软雅黑" panose="020B0503020204020204" pitchFamily="34" charset="-122"/>
              </a:rPr>
              <a:t>每个进程的页表大小一样吗？</a:t>
            </a:r>
          </a:p>
        </p:txBody>
      </p:sp>
      <p:sp>
        <p:nvSpPr>
          <p:cNvPr id="503814" name="Rectangle 6">
            <a:extLst>
              <a:ext uri="{FF2B5EF4-FFF2-40B4-BE49-F238E27FC236}">
                <a16:creationId xmlns:a16="http://schemas.microsoft.com/office/drawing/2014/main" id="{D6763048-114B-1E42-86D2-0069DA3A5691}"/>
              </a:ext>
            </a:extLst>
          </p:cNvPr>
          <p:cNvSpPr>
            <a:spLocks noChangeArrowheads="1"/>
          </p:cNvSpPr>
          <p:nvPr/>
        </p:nvSpPr>
        <p:spPr bwMode="auto">
          <a:xfrm>
            <a:off x="2497138" y="946150"/>
            <a:ext cx="6165850" cy="495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10000"/>
              </a:lnSpc>
              <a:spcBef>
                <a:spcPct val="20000"/>
              </a:spcBef>
              <a:buClr>
                <a:schemeClr val="accent2"/>
              </a:buClr>
              <a:buSzPct val="80000"/>
              <a:buFont typeface="Wingdings" pitchFamily="2" charset="2"/>
              <a:buChar char="u"/>
            </a:pPr>
            <a:r>
              <a:rPr kumimoji="1" lang="zh-CN" altLang="en-US" sz="2200" b="1">
                <a:solidFill>
                  <a:srgbClr val="0000FF"/>
                </a:solidFill>
                <a:ea typeface="微软雅黑" panose="020B0503020204020204" pitchFamily="34" charset="-122"/>
              </a:rPr>
              <a:t>页表首址记录在页表基址寄存器中</a:t>
            </a:r>
          </a:p>
        </p:txBody>
      </p:sp>
      <p:sp>
        <p:nvSpPr>
          <p:cNvPr id="6" name="矩形 5">
            <a:extLst>
              <a:ext uri="{FF2B5EF4-FFF2-40B4-BE49-F238E27FC236}">
                <a16:creationId xmlns:a16="http://schemas.microsoft.com/office/drawing/2014/main" id="{FF9C8007-4971-A54F-96F9-3E3BA5919DE0}"/>
              </a:ext>
            </a:extLst>
          </p:cNvPr>
          <p:cNvSpPr>
            <a:spLocks noChangeArrowheads="1"/>
          </p:cNvSpPr>
          <p:nvPr/>
        </p:nvSpPr>
        <p:spPr bwMode="auto">
          <a:xfrm>
            <a:off x="4071938" y="5510213"/>
            <a:ext cx="457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CC0000"/>
                </a:solidFill>
                <a:ea typeface="微软雅黑" panose="020B0503020204020204" pitchFamily="34" charset="-122"/>
              </a:rPr>
              <a:t>理论上由虚拟地址空间大小决定。</a:t>
            </a:r>
            <a:endParaRPr kumimoji="1" lang="zh-CN" altLang="en-US" sz="1900" b="1">
              <a:solidFill>
                <a:srgbClr val="666699"/>
              </a:solidFill>
              <a:ea typeface="微软雅黑" panose="020B0503020204020204" pitchFamily="34" charset="-122"/>
            </a:endParaRPr>
          </a:p>
        </p:txBody>
      </p:sp>
      <p:sp>
        <p:nvSpPr>
          <p:cNvPr id="8" name="矩形 7">
            <a:extLst>
              <a:ext uri="{FF2B5EF4-FFF2-40B4-BE49-F238E27FC236}">
                <a16:creationId xmlns:a16="http://schemas.microsoft.com/office/drawing/2014/main" id="{789BC50B-C9A3-EA43-A80B-A78E8E0DC79E}"/>
              </a:ext>
            </a:extLst>
          </p:cNvPr>
          <p:cNvSpPr>
            <a:spLocks noChangeArrowheads="1"/>
          </p:cNvSpPr>
          <p:nvPr/>
        </p:nvSpPr>
        <p:spPr bwMode="auto">
          <a:xfrm>
            <a:off x="3787775" y="5986463"/>
            <a:ext cx="5324475" cy="66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CC0000"/>
                </a:solidFill>
                <a:ea typeface="微软雅黑" panose="020B0503020204020204" pitchFamily="34" charset="-122"/>
              </a:rPr>
              <a:t>各进程有相同虚拟空间，故理论上一样。实际大小看具体实现方式，如</a:t>
            </a:r>
            <a:r>
              <a:rPr kumimoji="1" lang="zh-CN" altLang="en-US" sz="1900" b="1">
                <a:solidFill>
                  <a:srgbClr val="CC0000"/>
                </a:solidFill>
                <a:latin typeface="微软雅黑" panose="020B0503020204020204" pitchFamily="34" charset="-122"/>
                <a:ea typeface="微软雅黑" panose="020B0503020204020204" pitchFamily="34" charset="-122"/>
              </a:rPr>
              <a:t>“</a:t>
            </a:r>
            <a:r>
              <a:rPr kumimoji="1" lang="zh-CN" altLang="en-US" sz="1900" b="1">
                <a:solidFill>
                  <a:srgbClr val="CC0000"/>
                </a:solidFill>
                <a:ea typeface="微软雅黑" panose="020B0503020204020204" pitchFamily="34" charset="-122"/>
              </a:rPr>
              <a:t>空洞</a:t>
            </a:r>
            <a:r>
              <a:rPr kumimoji="1" lang="zh-CN" altLang="en-US" sz="1900" b="1">
                <a:solidFill>
                  <a:srgbClr val="CC0000"/>
                </a:solidFill>
                <a:latin typeface="微软雅黑" panose="020B0503020204020204" pitchFamily="34" charset="-122"/>
                <a:ea typeface="微软雅黑" panose="020B0503020204020204" pitchFamily="34" charset="-122"/>
              </a:rPr>
              <a:t>”</a:t>
            </a:r>
            <a:r>
              <a:rPr kumimoji="1" lang="zh-CN" altLang="en-US" sz="1900" b="1">
                <a:solidFill>
                  <a:srgbClr val="CC0000"/>
                </a:solidFill>
                <a:ea typeface="微软雅黑" panose="020B0503020204020204" pitchFamily="34" charset="-122"/>
              </a:rPr>
              <a:t>页面如何处理等</a:t>
            </a:r>
            <a:endParaRPr kumimoji="1" lang="zh-CN" altLang="en-US" sz="1900" b="1">
              <a:solidFill>
                <a:srgbClr val="666699"/>
              </a:solidFill>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3814">
                                            <p:txEl>
                                              <p:pRg st="0" end="0"/>
                                            </p:txEl>
                                          </p:spTgt>
                                        </p:tgtEl>
                                        <p:attrNameLst>
                                          <p:attrName>style.visibility</p:attrName>
                                        </p:attrNameLst>
                                      </p:cBhvr>
                                      <p:to>
                                        <p:strVal val="visible"/>
                                      </p:to>
                                    </p:set>
                                    <p:animEffect transition="in" filter="blinds(horizontal)">
                                      <p:cBhvr>
                                        <p:cTn id="7" dur="500"/>
                                        <p:tgtEl>
                                          <p:spTgt spid="5038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03811">
                                            <p:txEl>
                                              <p:pRg st="0" end="0"/>
                                            </p:txEl>
                                          </p:spTgt>
                                        </p:tgtEl>
                                        <p:attrNameLst>
                                          <p:attrName>style.visibility</p:attrName>
                                        </p:attrNameLst>
                                      </p:cBhvr>
                                      <p:to>
                                        <p:strVal val="visible"/>
                                      </p:to>
                                    </p:set>
                                    <p:animEffect transition="in" filter="blinds(horizontal)">
                                      <p:cBhvr>
                                        <p:cTn id="12" dur="500"/>
                                        <p:tgtEl>
                                          <p:spTgt spid="5038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03811">
                                            <p:txEl>
                                              <p:pRg st="1" end="1"/>
                                            </p:txEl>
                                          </p:spTgt>
                                        </p:tgtEl>
                                        <p:attrNameLst>
                                          <p:attrName>style.visibility</p:attrName>
                                        </p:attrNameLst>
                                      </p:cBhvr>
                                      <p:to>
                                        <p:strVal val="visible"/>
                                      </p:to>
                                    </p:set>
                                    <p:animEffect transition="in" filter="blinds(horizontal)">
                                      <p:cBhvr>
                                        <p:cTn id="17" dur="500"/>
                                        <p:tgtEl>
                                          <p:spTgt spid="50381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03811">
                                            <p:txEl>
                                              <p:pRg st="2" end="2"/>
                                            </p:txEl>
                                          </p:spTgt>
                                        </p:tgtEl>
                                        <p:attrNameLst>
                                          <p:attrName>style.visibility</p:attrName>
                                        </p:attrNameLst>
                                      </p:cBhvr>
                                      <p:to>
                                        <p:strVal val="visible"/>
                                      </p:to>
                                    </p:set>
                                    <p:animEffect transition="in" filter="blinds(horizontal)">
                                      <p:cBhvr>
                                        <p:cTn id="27" dur="500"/>
                                        <p:tgtEl>
                                          <p:spTgt spid="503811">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a:extLst>
              <a:ext uri="{FF2B5EF4-FFF2-40B4-BE49-F238E27FC236}">
                <a16:creationId xmlns:a16="http://schemas.microsoft.com/office/drawing/2014/main" id="{AF314A5C-BE92-EA46-B6B2-6B7C41635E43}"/>
              </a:ext>
            </a:extLst>
          </p:cNvPr>
          <p:cNvSpPr>
            <a:spLocks noGrp="1" noChangeArrowheads="1"/>
          </p:cNvSpPr>
          <p:nvPr>
            <p:ph type="title" idx="4294967295"/>
          </p:nvPr>
        </p:nvSpPr>
        <p:spPr>
          <a:xfrm>
            <a:off x="2478088" y="53975"/>
            <a:ext cx="3390900" cy="538163"/>
          </a:xfrm>
          <a:noFill/>
        </p:spPr>
        <p:txBody>
          <a:bodyPr wrap="none"/>
          <a:lstStyle/>
          <a:p>
            <a:pPr eaLnBrk="1" hangingPunct="1"/>
            <a:r>
              <a:rPr lang="zh-CN" altLang="en-US">
                <a:solidFill>
                  <a:srgbClr val="CC0000"/>
                </a:solidFill>
              </a:rPr>
              <a:t>主存中的页表示例</a:t>
            </a:r>
          </a:p>
        </p:txBody>
      </p:sp>
      <p:pic>
        <p:nvPicPr>
          <p:cNvPr id="222211" name="Picture 3">
            <a:extLst>
              <a:ext uri="{FF2B5EF4-FFF2-40B4-BE49-F238E27FC236}">
                <a16:creationId xmlns:a16="http://schemas.microsoft.com/office/drawing/2014/main" id="{EC543549-A1DE-2046-922B-D3CAFDA49B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13" y="700088"/>
            <a:ext cx="8326437" cy="499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12" name="Rectangle 3">
            <a:extLst>
              <a:ext uri="{FF2B5EF4-FFF2-40B4-BE49-F238E27FC236}">
                <a16:creationId xmlns:a16="http://schemas.microsoft.com/office/drawing/2014/main" id="{37013CFD-3150-3740-A51B-70FC54908398}"/>
              </a:ext>
            </a:extLst>
          </p:cNvPr>
          <p:cNvSpPr txBox="1">
            <a:spLocks noChangeArrowheads="1"/>
          </p:cNvSpPr>
          <p:nvPr/>
        </p:nvSpPr>
        <p:spPr bwMode="auto">
          <a:xfrm>
            <a:off x="206375" y="5662613"/>
            <a:ext cx="8731250" cy="1098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15000"/>
              </a:spcBef>
              <a:buClr>
                <a:schemeClr val="tx1"/>
              </a:buClr>
              <a:buSzPct val="80000"/>
              <a:buFont typeface="Wingdings" pitchFamily="2" charset="2"/>
              <a:buChar char="u"/>
            </a:pPr>
            <a:r>
              <a:rPr kumimoji="1" lang="zh-CN" altLang="en-US" sz="2000" b="1">
                <a:solidFill>
                  <a:srgbClr val="D10F0F"/>
                </a:solidFill>
                <a:latin typeface="微软雅黑" panose="020B0503020204020204" pitchFamily="34" charset="-122"/>
                <a:ea typeface="微软雅黑" panose="020B0503020204020204" pitchFamily="34" charset="-122"/>
              </a:rPr>
              <a:t>未分配页</a:t>
            </a:r>
            <a:r>
              <a:rPr kumimoji="1" lang="zh-CN" altLang="en-US" sz="2000" b="1">
                <a:latin typeface="微软雅黑" panose="020B0503020204020204" pitchFamily="34" charset="-122"/>
                <a:ea typeface="微软雅黑" panose="020B0503020204020204" pitchFamily="34" charset="-122"/>
              </a:rPr>
              <a:t>：进程的虚拟地址空间中</a:t>
            </a:r>
            <a:r>
              <a:rPr kumimoji="1" lang="zh-CN" altLang="en-US" sz="2000" b="1">
                <a:solidFill>
                  <a:srgbClr val="C00000"/>
                </a:solidFill>
                <a:latin typeface="微软雅黑" panose="020B0503020204020204" pitchFamily="34" charset="-122"/>
                <a:ea typeface="微软雅黑" panose="020B0503020204020204" pitchFamily="34" charset="-122"/>
                <a:hlinkClick r:id="" action="ppaction://hlinkshowjump?jump=nextslide"/>
              </a:rPr>
              <a:t>“空洞”对应的页</a:t>
            </a:r>
            <a:r>
              <a:rPr kumimoji="1" lang="zh-CN" altLang="en-US" sz="2000" b="1">
                <a:latin typeface="微软雅黑" panose="020B0503020204020204" pitchFamily="34" charset="-122"/>
                <a:ea typeface="微软雅黑" panose="020B0503020204020204" pitchFamily="34" charset="-122"/>
              </a:rPr>
              <a:t>（如</a:t>
            </a:r>
            <a:r>
              <a:rPr kumimoji="1" lang="en-US" altLang="zh-CN" sz="2000" b="1">
                <a:latin typeface="微软雅黑" panose="020B0503020204020204" pitchFamily="34" charset="-122"/>
                <a:ea typeface="微软雅黑" panose="020B0503020204020204" pitchFamily="34" charset="-122"/>
              </a:rPr>
              <a:t>VP0</a:t>
            </a:r>
            <a:r>
              <a:rPr kumimoji="1" lang="zh-CN" altLang="en-US" sz="2000" b="1">
                <a:latin typeface="微软雅黑" panose="020B0503020204020204" pitchFamily="34" charset="-122"/>
                <a:ea typeface="微软雅黑" panose="020B0503020204020204" pitchFamily="34" charset="-122"/>
              </a:rPr>
              <a:t>、</a:t>
            </a:r>
            <a:r>
              <a:rPr kumimoji="1" lang="en-US" altLang="zh-CN" sz="2000" b="1">
                <a:latin typeface="微软雅黑" panose="020B0503020204020204" pitchFamily="34" charset="-122"/>
                <a:ea typeface="微软雅黑" panose="020B0503020204020204" pitchFamily="34" charset="-122"/>
              </a:rPr>
              <a:t>VP4</a:t>
            </a:r>
            <a:r>
              <a:rPr kumimoji="1" lang="zh-CN" altLang="en-US" sz="2000" b="1">
                <a:latin typeface="微软雅黑" panose="020B0503020204020204" pitchFamily="34" charset="-122"/>
                <a:ea typeface="微软雅黑" panose="020B0503020204020204" pitchFamily="34" charset="-122"/>
              </a:rPr>
              <a:t>）</a:t>
            </a:r>
            <a:endParaRPr kumimoji="1" lang="en-US" altLang="zh-CN" sz="2000" b="1">
              <a:latin typeface="微软雅黑" panose="020B0503020204020204" pitchFamily="34" charset="-122"/>
              <a:ea typeface="微软雅黑" panose="020B0503020204020204" pitchFamily="34" charset="-122"/>
            </a:endParaRPr>
          </a:p>
          <a:p>
            <a:pPr eaLnBrk="1" hangingPunct="1">
              <a:spcBef>
                <a:spcPct val="15000"/>
              </a:spcBef>
              <a:buClr>
                <a:schemeClr val="tx1"/>
              </a:buClr>
              <a:buSzPct val="80000"/>
              <a:buFont typeface="Wingdings" pitchFamily="2" charset="2"/>
              <a:buChar char="u"/>
            </a:pPr>
            <a:r>
              <a:rPr kumimoji="1" lang="zh-CN" altLang="en-US" sz="2000" b="1">
                <a:solidFill>
                  <a:srgbClr val="D10F0F"/>
                </a:solidFill>
                <a:latin typeface="微软雅黑" panose="020B0503020204020204" pitchFamily="34" charset="-122"/>
                <a:ea typeface="微软雅黑" panose="020B0503020204020204" pitchFamily="34" charset="-122"/>
              </a:rPr>
              <a:t>已分配的缓存页</a:t>
            </a:r>
            <a:r>
              <a:rPr kumimoji="1" lang="zh-CN" altLang="en-US" sz="2000" b="1">
                <a:latin typeface="微软雅黑" panose="020B0503020204020204" pitchFamily="34" charset="-122"/>
                <a:ea typeface="微软雅黑" panose="020B0503020204020204" pitchFamily="34" charset="-122"/>
              </a:rPr>
              <a:t>：有内容对应的已装入主存的页（如</a:t>
            </a:r>
            <a:r>
              <a:rPr kumimoji="1" lang="en-US" altLang="zh-CN" sz="2000" b="1">
                <a:latin typeface="微软雅黑" panose="020B0503020204020204" pitchFamily="34" charset="-122"/>
                <a:ea typeface="微软雅黑" panose="020B0503020204020204" pitchFamily="34" charset="-122"/>
              </a:rPr>
              <a:t>VP1</a:t>
            </a:r>
            <a:r>
              <a:rPr kumimoji="1" lang="zh-CN" altLang="en-US" sz="2000" b="1">
                <a:latin typeface="微软雅黑" panose="020B0503020204020204" pitchFamily="34" charset="-122"/>
                <a:ea typeface="微软雅黑" panose="020B0503020204020204" pitchFamily="34" charset="-122"/>
              </a:rPr>
              <a:t>、</a:t>
            </a:r>
            <a:r>
              <a:rPr kumimoji="1" lang="en-US" altLang="zh-CN" sz="2000" b="1">
                <a:latin typeface="微软雅黑" panose="020B0503020204020204" pitchFamily="34" charset="-122"/>
                <a:ea typeface="微软雅黑" panose="020B0503020204020204" pitchFamily="34" charset="-122"/>
              </a:rPr>
              <a:t>VP2</a:t>
            </a:r>
            <a:r>
              <a:rPr kumimoji="1" lang="zh-CN" altLang="en-US" sz="2000" b="1">
                <a:latin typeface="微软雅黑" panose="020B0503020204020204" pitchFamily="34" charset="-122"/>
                <a:ea typeface="微软雅黑" panose="020B0503020204020204" pitchFamily="34" charset="-122"/>
              </a:rPr>
              <a:t>、</a:t>
            </a:r>
            <a:r>
              <a:rPr kumimoji="1" lang="en-US" altLang="zh-CN" sz="2000" b="1">
                <a:latin typeface="微软雅黑" panose="020B0503020204020204" pitchFamily="34" charset="-122"/>
                <a:ea typeface="微软雅黑" panose="020B0503020204020204" pitchFamily="34" charset="-122"/>
              </a:rPr>
              <a:t>VP5</a:t>
            </a:r>
            <a:r>
              <a:rPr kumimoji="1" lang="zh-CN" altLang="en-US" sz="2000" b="1">
                <a:latin typeface="微软雅黑" panose="020B0503020204020204" pitchFamily="34" charset="-122"/>
                <a:ea typeface="微软雅黑" panose="020B0503020204020204" pitchFamily="34" charset="-122"/>
              </a:rPr>
              <a:t>等）</a:t>
            </a:r>
            <a:endParaRPr kumimoji="1" lang="en-US" altLang="zh-CN" sz="2000" b="1">
              <a:latin typeface="微软雅黑" panose="020B0503020204020204" pitchFamily="34" charset="-122"/>
              <a:ea typeface="微软雅黑" panose="020B0503020204020204" pitchFamily="34" charset="-122"/>
            </a:endParaRPr>
          </a:p>
          <a:p>
            <a:pPr eaLnBrk="1" hangingPunct="1">
              <a:spcBef>
                <a:spcPct val="15000"/>
              </a:spcBef>
              <a:buClr>
                <a:schemeClr val="tx1"/>
              </a:buClr>
              <a:buSzPct val="80000"/>
              <a:buFont typeface="Wingdings" pitchFamily="2" charset="2"/>
              <a:buChar char="u"/>
            </a:pPr>
            <a:r>
              <a:rPr kumimoji="1" lang="zh-CN" altLang="en-US" sz="2000" b="1">
                <a:solidFill>
                  <a:srgbClr val="D10F0F"/>
                </a:solidFill>
                <a:latin typeface="微软雅黑" panose="020B0503020204020204" pitchFamily="34" charset="-122"/>
                <a:ea typeface="微软雅黑" panose="020B0503020204020204" pitchFamily="34" charset="-122"/>
              </a:rPr>
              <a:t>已分配的未缓存页</a:t>
            </a:r>
            <a:r>
              <a:rPr kumimoji="1" lang="zh-CN" altLang="en-US" sz="2000" b="1">
                <a:latin typeface="微软雅黑" panose="020B0503020204020204" pitchFamily="34" charset="-122"/>
                <a:ea typeface="微软雅黑" panose="020B0503020204020204" pitchFamily="34" charset="-122"/>
              </a:rPr>
              <a:t>：有内容对应但未装入主存的页（如</a:t>
            </a:r>
            <a:r>
              <a:rPr kumimoji="1" lang="en-US" altLang="zh-CN" sz="2000" b="1">
                <a:latin typeface="微软雅黑" panose="020B0503020204020204" pitchFamily="34" charset="-122"/>
                <a:ea typeface="微软雅黑" panose="020B0503020204020204" pitchFamily="34" charset="-122"/>
              </a:rPr>
              <a:t>VP3</a:t>
            </a:r>
            <a:r>
              <a:rPr kumimoji="1" lang="zh-CN" altLang="en-US" sz="2000" b="1">
                <a:latin typeface="微软雅黑" panose="020B0503020204020204" pitchFamily="34" charset="-122"/>
                <a:ea typeface="微软雅黑" panose="020B0503020204020204" pitchFamily="34" charset="-122"/>
              </a:rPr>
              <a:t>、</a:t>
            </a:r>
            <a:r>
              <a:rPr kumimoji="1" lang="en-US" altLang="zh-CN" sz="2000" b="1">
                <a:latin typeface="微软雅黑" panose="020B0503020204020204" pitchFamily="34" charset="-122"/>
                <a:ea typeface="微软雅黑" panose="020B0503020204020204" pitchFamily="34" charset="-122"/>
              </a:rPr>
              <a:t>VP6</a:t>
            </a:r>
            <a:r>
              <a:rPr kumimoji="1" lang="zh-CN" altLang="en-US" sz="2000" b="1">
                <a:latin typeface="微软雅黑" panose="020B0503020204020204" pitchFamily="34" charset="-122"/>
                <a:ea typeface="微软雅黑" panose="020B0503020204020204" pitchFamily="34" charset="-122"/>
              </a:rPr>
              <a:t>）</a:t>
            </a:r>
          </a:p>
        </p:txBody>
      </p:sp>
      <p:sp>
        <p:nvSpPr>
          <p:cNvPr id="222213" name="Text Box 5">
            <a:extLst>
              <a:ext uri="{FF2B5EF4-FFF2-40B4-BE49-F238E27FC236}">
                <a16:creationId xmlns:a16="http://schemas.microsoft.com/office/drawing/2014/main" id="{51C3F167-17A6-C14C-8150-49D9FA27E1C1}"/>
              </a:ext>
            </a:extLst>
          </p:cNvPr>
          <p:cNvSpPr txBox="1">
            <a:spLocks noChangeArrowheads="1"/>
          </p:cNvSpPr>
          <p:nvPr/>
        </p:nvSpPr>
        <p:spPr bwMode="auto">
          <a:xfrm>
            <a:off x="290513" y="5080000"/>
            <a:ext cx="107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en-US" altLang="zh-CN" sz="2000" b="1">
                <a:ea typeface="宋体" panose="02010600030101010101" pitchFamily="2" charset="-122"/>
                <a:hlinkClick r:id="rId4" action="ppaction://hlinksldjump"/>
              </a:rPr>
              <a:t>SKIP</a:t>
            </a:r>
            <a:endParaRPr lang="en-US" altLang="zh-CN" sz="2000" b="1">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E0122DA4-5E8E-2E4F-BEEA-E4BBB64262B9}"/>
              </a:ext>
            </a:extLst>
          </p:cNvPr>
          <p:cNvSpPr>
            <a:spLocks noGrp="1" noChangeArrowheads="1"/>
          </p:cNvSpPr>
          <p:nvPr>
            <p:ph type="title" idx="4294967295"/>
          </p:nvPr>
        </p:nvSpPr>
        <p:spPr>
          <a:xfrm>
            <a:off x="2795588" y="53975"/>
            <a:ext cx="4297362" cy="533400"/>
          </a:xfrm>
          <a:noFill/>
        </p:spPr>
        <p:txBody>
          <a:bodyPr wrap="none"/>
          <a:lstStyle/>
          <a:p>
            <a:pPr eaLnBrk="1" hangingPunct="1"/>
            <a:r>
              <a:rPr lang="zh-CN" altLang="en-US">
                <a:solidFill>
                  <a:srgbClr val="CC0000"/>
                </a:solidFill>
              </a:rPr>
              <a:t>存储管理的总体结构</a:t>
            </a:r>
          </a:p>
        </p:txBody>
      </p:sp>
      <p:pic>
        <p:nvPicPr>
          <p:cNvPr id="224259" name="Picture 2">
            <a:extLst>
              <a:ext uri="{FF2B5EF4-FFF2-40B4-BE49-F238E27FC236}">
                <a16:creationId xmlns:a16="http://schemas.microsoft.com/office/drawing/2014/main" id="{644B9AB8-DA8F-D046-9764-ED9316FB0B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 y="733425"/>
            <a:ext cx="8639175"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F9DD5565-7484-8F49-9E6F-DB97E45953F1}"/>
              </a:ext>
            </a:extLst>
          </p:cNvPr>
          <p:cNvSpPr>
            <a:spLocks noGrp="1" noChangeArrowheads="1"/>
          </p:cNvSpPr>
          <p:nvPr>
            <p:ph type="title" idx="4294967295"/>
          </p:nvPr>
        </p:nvSpPr>
        <p:spPr>
          <a:xfrm>
            <a:off x="1254125" y="82550"/>
            <a:ext cx="6884988" cy="528638"/>
          </a:xfrm>
          <a:noFill/>
        </p:spPr>
        <p:txBody>
          <a:bodyPr/>
          <a:lstStyle/>
          <a:p>
            <a:pPr eaLnBrk="1" hangingPunct="1"/>
            <a:r>
              <a:rPr lang="zh-CN" altLang="en-US">
                <a:solidFill>
                  <a:srgbClr val="CC0000"/>
                </a:solidFill>
              </a:rPr>
              <a:t>逻辑地址转换为物理地址的过程</a:t>
            </a:r>
          </a:p>
        </p:txBody>
      </p:sp>
      <p:grpSp>
        <p:nvGrpSpPr>
          <p:cNvPr id="226307" name="Group 43">
            <a:extLst>
              <a:ext uri="{FF2B5EF4-FFF2-40B4-BE49-F238E27FC236}">
                <a16:creationId xmlns:a16="http://schemas.microsoft.com/office/drawing/2014/main" id="{6522B796-307E-4640-8DED-69F6C07BAD41}"/>
              </a:ext>
            </a:extLst>
          </p:cNvPr>
          <p:cNvGrpSpPr>
            <a:grpSpLocks/>
          </p:cNvGrpSpPr>
          <p:nvPr/>
        </p:nvGrpSpPr>
        <p:grpSpPr bwMode="auto">
          <a:xfrm>
            <a:off x="546100" y="1023938"/>
            <a:ext cx="3479800" cy="925512"/>
            <a:chOff x="360" y="2194"/>
            <a:chExt cx="2192" cy="332"/>
          </a:xfrm>
        </p:grpSpPr>
        <p:sp>
          <p:nvSpPr>
            <p:cNvPr id="226348" name="Rectangle 44">
              <a:extLst>
                <a:ext uri="{FF2B5EF4-FFF2-40B4-BE49-F238E27FC236}">
                  <a16:creationId xmlns:a16="http://schemas.microsoft.com/office/drawing/2014/main" id="{F3317519-FB92-5445-A25D-6E6BA683B779}"/>
                </a:ext>
              </a:extLst>
            </p:cNvPr>
            <p:cNvSpPr>
              <a:spLocks noChangeArrowheads="1"/>
            </p:cNvSpPr>
            <p:nvPr/>
          </p:nvSpPr>
          <p:spPr bwMode="auto">
            <a:xfrm>
              <a:off x="737" y="2342"/>
              <a:ext cx="1815"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26349" name="Rectangle 45">
              <a:extLst>
                <a:ext uri="{FF2B5EF4-FFF2-40B4-BE49-F238E27FC236}">
                  <a16:creationId xmlns:a16="http://schemas.microsoft.com/office/drawing/2014/main" id="{751A0215-F1F6-A847-9497-C343A46E748F}"/>
                </a:ext>
              </a:extLst>
            </p:cNvPr>
            <p:cNvSpPr>
              <a:spLocks noChangeArrowheads="1"/>
            </p:cNvSpPr>
            <p:nvPr/>
          </p:nvSpPr>
          <p:spPr bwMode="auto">
            <a:xfrm>
              <a:off x="360" y="2362"/>
              <a:ext cx="30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900" b="1">
                  <a:solidFill>
                    <a:srgbClr val="0000FF"/>
                  </a:solidFill>
                  <a:latin typeface="微软雅黑" panose="020B0503020204020204" pitchFamily="34" charset="-122"/>
                  <a:ea typeface="微软雅黑" panose="020B0503020204020204" pitchFamily="34" charset="-122"/>
                </a:rPr>
                <a:t>VA</a:t>
              </a:r>
            </a:p>
          </p:txBody>
        </p:sp>
        <p:sp>
          <p:nvSpPr>
            <p:cNvPr id="226350" name="Rectangle 46">
              <a:extLst>
                <a:ext uri="{FF2B5EF4-FFF2-40B4-BE49-F238E27FC236}">
                  <a16:creationId xmlns:a16="http://schemas.microsoft.com/office/drawing/2014/main" id="{E6CF6C32-4AAC-4A45-BB23-3E571A62CC88}"/>
                </a:ext>
              </a:extLst>
            </p:cNvPr>
            <p:cNvSpPr>
              <a:spLocks noChangeArrowheads="1"/>
            </p:cNvSpPr>
            <p:nvPr/>
          </p:nvSpPr>
          <p:spPr bwMode="auto">
            <a:xfrm>
              <a:off x="750" y="2362"/>
              <a:ext cx="711"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latin typeface="微软雅黑" panose="020B0503020204020204" pitchFamily="34" charset="-122"/>
                  <a:ea typeface="微软雅黑" panose="020B0503020204020204" pitchFamily="34" charset="-122"/>
                </a:rPr>
                <a:t>page no.</a:t>
              </a:r>
            </a:p>
          </p:txBody>
        </p:sp>
        <p:sp>
          <p:nvSpPr>
            <p:cNvPr id="226351" name="Rectangle 47">
              <a:extLst>
                <a:ext uri="{FF2B5EF4-FFF2-40B4-BE49-F238E27FC236}">
                  <a16:creationId xmlns:a16="http://schemas.microsoft.com/office/drawing/2014/main" id="{B25C6B22-1E97-6B4C-BD82-0CB96EFEF99D}"/>
                </a:ext>
              </a:extLst>
            </p:cNvPr>
            <p:cNvSpPr>
              <a:spLocks noChangeArrowheads="1"/>
            </p:cNvSpPr>
            <p:nvPr/>
          </p:nvSpPr>
          <p:spPr bwMode="auto">
            <a:xfrm>
              <a:off x="1978" y="2362"/>
              <a:ext cx="386"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latin typeface="微软雅黑" panose="020B0503020204020204" pitchFamily="34" charset="-122"/>
                  <a:ea typeface="微软雅黑" panose="020B0503020204020204" pitchFamily="34" charset="-122"/>
                </a:rPr>
                <a:t>disp</a:t>
              </a:r>
            </a:p>
          </p:txBody>
        </p:sp>
        <p:sp>
          <p:nvSpPr>
            <p:cNvPr id="226352" name="Line 48">
              <a:extLst>
                <a:ext uri="{FF2B5EF4-FFF2-40B4-BE49-F238E27FC236}">
                  <a16:creationId xmlns:a16="http://schemas.microsoft.com/office/drawing/2014/main" id="{6F323D77-C33D-1B49-B52C-79609C176BF1}"/>
                </a:ext>
              </a:extLst>
            </p:cNvPr>
            <p:cNvSpPr>
              <a:spLocks noChangeShapeType="1"/>
            </p:cNvSpPr>
            <p:nvPr/>
          </p:nvSpPr>
          <p:spPr bwMode="auto">
            <a:xfrm>
              <a:off x="1798" y="2342"/>
              <a:ext cx="0" cy="1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53" name="Rectangle 49">
              <a:extLst>
                <a:ext uri="{FF2B5EF4-FFF2-40B4-BE49-F238E27FC236}">
                  <a16:creationId xmlns:a16="http://schemas.microsoft.com/office/drawing/2014/main" id="{7238F665-6C22-EA49-A864-890B07BEF79E}"/>
                </a:ext>
              </a:extLst>
            </p:cNvPr>
            <p:cNvSpPr>
              <a:spLocks noChangeArrowheads="1"/>
            </p:cNvSpPr>
            <p:nvPr/>
          </p:nvSpPr>
          <p:spPr bwMode="auto">
            <a:xfrm>
              <a:off x="2050" y="2194"/>
              <a:ext cx="240"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10</a:t>
              </a:r>
            </a:p>
          </p:txBody>
        </p:sp>
        <p:sp>
          <p:nvSpPr>
            <p:cNvPr id="226354" name="Line 50">
              <a:extLst>
                <a:ext uri="{FF2B5EF4-FFF2-40B4-BE49-F238E27FC236}">
                  <a16:creationId xmlns:a16="http://schemas.microsoft.com/office/drawing/2014/main" id="{0C59BF3D-C0AA-DC4C-B12D-AFD0C3AF2739}"/>
                </a:ext>
              </a:extLst>
            </p:cNvPr>
            <p:cNvSpPr>
              <a:spLocks noChangeShapeType="1"/>
            </p:cNvSpPr>
            <p:nvPr/>
          </p:nvSpPr>
          <p:spPr bwMode="auto">
            <a:xfrm>
              <a:off x="2290" y="2258"/>
              <a:ext cx="26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55" name="Line 51">
              <a:extLst>
                <a:ext uri="{FF2B5EF4-FFF2-40B4-BE49-F238E27FC236}">
                  <a16:creationId xmlns:a16="http://schemas.microsoft.com/office/drawing/2014/main" id="{DE4650EA-2AD3-F146-937F-A4F9321D3091}"/>
                </a:ext>
              </a:extLst>
            </p:cNvPr>
            <p:cNvSpPr>
              <a:spLocks noChangeShapeType="1"/>
            </p:cNvSpPr>
            <p:nvPr/>
          </p:nvSpPr>
          <p:spPr bwMode="auto">
            <a:xfrm flipH="1">
              <a:off x="1793" y="2266"/>
              <a:ext cx="307"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26308" name="Group 52">
            <a:extLst>
              <a:ext uri="{FF2B5EF4-FFF2-40B4-BE49-F238E27FC236}">
                <a16:creationId xmlns:a16="http://schemas.microsoft.com/office/drawing/2014/main" id="{3B375C13-E92D-3943-9487-63B53C13623F}"/>
              </a:ext>
            </a:extLst>
          </p:cNvPr>
          <p:cNvGrpSpPr>
            <a:grpSpLocks/>
          </p:cNvGrpSpPr>
          <p:nvPr/>
        </p:nvGrpSpPr>
        <p:grpSpPr bwMode="auto">
          <a:xfrm>
            <a:off x="1547813" y="1958975"/>
            <a:ext cx="720725" cy="1963738"/>
            <a:chOff x="1009" y="2550"/>
            <a:chExt cx="454" cy="704"/>
          </a:xfrm>
        </p:grpSpPr>
        <p:sp>
          <p:nvSpPr>
            <p:cNvPr id="226346" name="Line 53">
              <a:extLst>
                <a:ext uri="{FF2B5EF4-FFF2-40B4-BE49-F238E27FC236}">
                  <a16:creationId xmlns:a16="http://schemas.microsoft.com/office/drawing/2014/main" id="{385F033C-3EF9-8443-9080-12A18CA33653}"/>
                </a:ext>
              </a:extLst>
            </p:cNvPr>
            <p:cNvSpPr>
              <a:spLocks noChangeShapeType="1"/>
            </p:cNvSpPr>
            <p:nvPr/>
          </p:nvSpPr>
          <p:spPr bwMode="auto">
            <a:xfrm>
              <a:off x="1009" y="2550"/>
              <a:ext cx="0" cy="704"/>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47" name="Line 54">
              <a:extLst>
                <a:ext uri="{FF2B5EF4-FFF2-40B4-BE49-F238E27FC236}">
                  <a16:creationId xmlns:a16="http://schemas.microsoft.com/office/drawing/2014/main" id="{75763BEB-EC38-AA4E-B37F-1D71ABE62DDE}"/>
                </a:ext>
              </a:extLst>
            </p:cNvPr>
            <p:cNvSpPr>
              <a:spLocks noChangeShapeType="1"/>
            </p:cNvSpPr>
            <p:nvPr/>
          </p:nvSpPr>
          <p:spPr bwMode="auto">
            <a:xfrm flipV="1">
              <a:off x="1009" y="3254"/>
              <a:ext cx="454" cy="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6309" name="Rectangle 55">
            <a:extLst>
              <a:ext uri="{FF2B5EF4-FFF2-40B4-BE49-F238E27FC236}">
                <a16:creationId xmlns:a16="http://schemas.microsoft.com/office/drawing/2014/main" id="{D84D8EC2-8D92-994E-9DD3-F6D2471A9AAD}"/>
              </a:ext>
            </a:extLst>
          </p:cNvPr>
          <p:cNvSpPr>
            <a:spLocks noChangeArrowheads="1"/>
          </p:cNvSpPr>
          <p:nvPr/>
        </p:nvSpPr>
        <p:spPr bwMode="auto">
          <a:xfrm>
            <a:off x="1533525" y="2165350"/>
            <a:ext cx="11430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zh-CN" altLang="en-US" sz="2000" b="1">
                <a:solidFill>
                  <a:schemeClr val="accent1"/>
                </a:solidFill>
                <a:ea typeface="微软雅黑" panose="020B0503020204020204" pitchFamily="34" charset="-122"/>
              </a:rPr>
              <a:t>页表索引</a:t>
            </a:r>
          </a:p>
        </p:txBody>
      </p:sp>
      <p:sp>
        <p:nvSpPr>
          <p:cNvPr id="226310" name="Rectangle 57">
            <a:extLst>
              <a:ext uri="{FF2B5EF4-FFF2-40B4-BE49-F238E27FC236}">
                <a16:creationId xmlns:a16="http://schemas.microsoft.com/office/drawing/2014/main" id="{E34C8921-C10B-A743-A426-D8EC89DB6E24}"/>
              </a:ext>
            </a:extLst>
          </p:cNvPr>
          <p:cNvSpPr>
            <a:spLocks noChangeArrowheads="1"/>
          </p:cNvSpPr>
          <p:nvPr/>
        </p:nvSpPr>
        <p:spPr bwMode="auto">
          <a:xfrm>
            <a:off x="219075" y="2741613"/>
            <a:ext cx="1189038" cy="5810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zh-CN" altLang="en-US" sz="2000" b="1">
                <a:solidFill>
                  <a:schemeClr val="accent1"/>
                </a:solidFill>
                <a:ea typeface="微软雅黑" panose="020B0503020204020204" pitchFamily="34" charset="-122"/>
              </a:rPr>
              <a:t>页表基址寄存器</a:t>
            </a:r>
          </a:p>
        </p:txBody>
      </p:sp>
      <p:sp>
        <p:nvSpPr>
          <p:cNvPr id="226311" name="Line 58">
            <a:extLst>
              <a:ext uri="{FF2B5EF4-FFF2-40B4-BE49-F238E27FC236}">
                <a16:creationId xmlns:a16="http://schemas.microsoft.com/office/drawing/2014/main" id="{52FA7780-9A3C-D449-924A-09DD4171B906}"/>
              </a:ext>
            </a:extLst>
          </p:cNvPr>
          <p:cNvSpPr>
            <a:spLocks noChangeShapeType="1"/>
          </p:cNvSpPr>
          <p:nvPr/>
        </p:nvSpPr>
        <p:spPr bwMode="auto">
          <a:xfrm flipV="1">
            <a:off x="1149350" y="3079750"/>
            <a:ext cx="1147763"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12" name="Line 62">
            <a:extLst>
              <a:ext uri="{FF2B5EF4-FFF2-40B4-BE49-F238E27FC236}">
                <a16:creationId xmlns:a16="http://schemas.microsoft.com/office/drawing/2014/main" id="{59B9AB7E-899B-D840-9BFE-8C56AC2E7689}"/>
              </a:ext>
            </a:extLst>
          </p:cNvPr>
          <p:cNvSpPr>
            <a:spLocks noChangeShapeType="1"/>
          </p:cNvSpPr>
          <p:nvPr/>
        </p:nvSpPr>
        <p:spPr bwMode="auto">
          <a:xfrm>
            <a:off x="3402013" y="1968500"/>
            <a:ext cx="0" cy="334963"/>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13" name="Line 63">
            <a:extLst>
              <a:ext uri="{FF2B5EF4-FFF2-40B4-BE49-F238E27FC236}">
                <a16:creationId xmlns:a16="http://schemas.microsoft.com/office/drawing/2014/main" id="{6895E86C-1718-E341-8A80-ECD44547C6D9}"/>
              </a:ext>
            </a:extLst>
          </p:cNvPr>
          <p:cNvSpPr>
            <a:spLocks noChangeShapeType="1"/>
          </p:cNvSpPr>
          <p:nvPr/>
        </p:nvSpPr>
        <p:spPr bwMode="auto">
          <a:xfrm>
            <a:off x="3408363" y="2314575"/>
            <a:ext cx="1635125" cy="0"/>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14" name="Line 64">
            <a:extLst>
              <a:ext uri="{FF2B5EF4-FFF2-40B4-BE49-F238E27FC236}">
                <a16:creationId xmlns:a16="http://schemas.microsoft.com/office/drawing/2014/main" id="{E77C4B2D-00BF-2F4B-884D-7C5308A3FEF8}"/>
              </a:ext>
            </a:extLst>
          </p:cNvPr>
          <p:cNvSpPr>
            <a:spLocks noChangeShapeType="1"/>
          </p:cNvSpPr>
          <p:nvPr/>
        </p:nvSpPr>
        <p:spPr bwMode="auto">
          <a:xfrm>
            <a:off x="5067300" y="2284413"/>
            <a:ext cx="0" cy="1349375"/>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15" name="Line 65">
            <a:extLst>
              <a:ext uri="{FF2B5EF4-FFF2-40B4-BE49-F238E27FC236}">
                <a16:creationId xmlns:a16="http://schemas.microsoft.com/office/drawing/2014/main" id="{E2CC90C9-BD09-4B47-904A-BC4129E61FB7}"/>
              </a:ext>
            </a:extLst>
          </p:cNvPr>
          <p:cNvSpPr>
            <a:spLocks noChangeShapeType="1"/>
          </p:cNvSpPr>
          <p:nvPr/>
        </p:nvSpPr>
        <p:spPr bwMode="auto">
          <a:xfrm>
            <a:off x="4211638" y="4038600"/>
            <a:ext cx="809625" cy="0"/>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16" name="Line 66">
            <a:extLst>
              <a:ext uri="{FF2B5EF4-FFF2-40B4-BE49-F238E27FC236}">
                <a16:creationId xmlns:a16="http://schemas.microsoft.com/office/drawing/2014/main" id="{419A6B21-3295-DD43-AF6C-E850C0F0DF72}"/>
              </a:ext>
            </a:extLst>
          </p:cNvPr>
          <p:cNvSpPr>
            <a:spLocks noChangeShapeType="1"/>
          </p:cNvSpPr>
          <p:nvPr/>
        </p:nvSpPr>
        <p:spPr bwMode="auto">
          <a:xfrm>
            <a:off x="5021263" y="4044950"/>
            <a:ext cx="0" cy="93980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6317" name="Group 67">
            <a:extLst>
              <a:ext uri="{FF2B5EF4-FFF2-40B4-BE49-F238E27FC236}">
                <a16:creationId xmlns:a16="http://schemas.microsoft.com/office/drawing/2014/main" id="{83BA0E52-9646-A54D-8864-0D5EFB167C0D}"/>
              </a:ext>
            </a:extLst>
          </p:cNvPr>
          <p:cNvGrpSpPr>
            <a:grpSpLocks/>
          </p:cNvGrpSpPr>
          <p:nvPr/>
        </p:nvGrpSpPr>
        <p:grpSpPr bwMode="auto">
          <a:xfrm>
            <a:off x="2298700" y="2608263"/>
            <a:ext cx="1892300" cy="3411537"/>
            <a:chOff x="1482" y="2762"/>
            <a:chExt cx="1192" cy="1223"/>
          </a:xfrm>
        </p:grpSpPr>
        <p:sp>
          <p:nvSpPr>
            <p:cNvPr id="226333" name="Line 68">
              <a:extLst>
                <a:ext uri="{FF2B5EF4-FFF2-40B4-BE49-F238E27FC236}">
                  <a16:creationId xmlns:a16="http://schemas.microsoft.com/office/drawing/2014/main" id="{BF0D3A32-2669-A846-B4A3-2D457509158F}"/>
                </a:ext>
              </a:extLst>
            </p:cNvPr>
            <p:cNvSpPr>
              <a:spLocks noChangeShapeType="1"/>
            </p:cNvSpPr>
            <p:nvPr/>
          </p:nvSpPr>
          <p:spPr bwMode="auto">
            <a:xfrm>
              <a:off x="1482" y="2790"/>
              <a:ext cx="0" cy="11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34" name="Line 69">
              <a:extLst>
                <a:ext uri="{FF2B5EF4-FFF2-40B4-BE49-F238E27FC236}">
                  <a16:creationId xmlns:a16="http://schemas.microsoft.com/office/drawing/2014/main" id="{4606EE77-9D20-9743-A3F6-F21755D67800}"/>
                </a:ext>
              </a:extLst>
            </p:cNvPr>
            <p:cNvSpPr>
              <a:spLocks noChangeShapeType="1"/>
            </p:cNvSpPr>
            <p:nvPr/>
          </p:nvSpPr>
          <p:spPr bwMode="auto">
            <a:xfrm>
              <a:off x="2674" y="2790"/>
              <a:ext cx="0" cy="11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35" name="Line 70">
              <a:extLst>
                <a:ext uri="{FF2B5EF4-FFF2-40B4-BE49-F238E27FC236}">
                  <a16:creationId xmlns:a16="http://schemas.microsoft.com/office/drawing/2014/main" id="{43EF403E-25A3-BB40-B932-49C61EEB11D0}"/>
                </a:ext>
              </a:extLst>
            </p:cNvPr>
            <p:cNvSpPr>
              <a:spLocks noChangeShapeType="1"/>
            </p:cNvSpPr>
            <p:nvPr/>
          </p:nvSpPr>
          <p:spPr bwMode="auto">
            <a:xfrm>
              <a:off x="1486" y="2986"/>
              <a:ext cx="11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36" name="Line 71">
              <a:extLst>
                <a:ext uri="{FF2B5EF4-FFF2-40B4-BE49-F238E27FC236}">
                  <a16:creationId xmlns:a16="http://schemas.microsoft.com/office/drawing/2014/main" id="{97392015-729B-2741-BB7B-9E7A45594378}"/>
                </a:ext>
              </a:extLst>
            </p:cNvPr>
            <p:cNvSpPr>
              <a:spLocks noChangeShapeType="1"/>
            </p:cNvSpPr>
            <p:nvPr/>
          </p:nvSpPr>
          <p:spPr bwMode="auto">
            <a:xfrm>
              <a:off x="1486" y="3170"/>
              <a:ext cx="11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37" name="Line 72">
              <a:extLst>
                <a:ext uri="{FF2B5EF4-FFF2-40B4-BE49-F238E27FC236}">
                  <a16:creationId xmlns:a16="http://schemas.microsoft.com/office/drawing/2014/main" id="{02DDEC62-56AD-9B4B-8E67-B24BFCA578D5}"/>
                </a:ext>
              </a:extLst>
            </p:cNvPr>
            <p:cNvSpPr>
              <a:spLocks noChangeShapeType="1"/>
            </p:cNvSpPr>
            <p:nvPr/>
          </p:nvSpPr>
          <p:spPr bwMode="auto">
            <a:xfrm>
              <a:off x="1486" y="3386"/>
              <a:ext cx="11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38" name="Line 73">
              <a:extLst>
                <a:ext uri="{FF2B5EF4-FFF2-40B4-BE49-F238E27FC236}">
                  <a16:creationId xmlns:a16="http://schemas.microsoft.com/office/drawing/2014/main" id="{2682682D-1334-BF48-B31A-C2782DD18B21}"/>
                </a:ext>
              </a:extLst>
            </p:cNvPr>
            <p:cNvSpPr>
              <a:spLocks noChangeShapeType="1"/>
            </p:cNvSpPr>
            <p:nvPr/>
          </p:nvSpPr>
          <p:spPr bwMode="auto">
            <a:xfrm>
              <a:off x="1486" y="3530"/>
              <a:ext cx="118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39" name="Line 74">
              <a:extLst>
                <a:ext uri="{FF2B5EF4-FFF2-40B4-BE49-F238E27FC236}">
                  <a16:creationId xmlns:a16="http://schemas.microsoft.com/office/drawing/2014/main" id="{7CD36388-38F7-C547-B10D-7818EF70FA98}"/>
                </a:ext>
              </a:extLst>
            </p:cNvPr>
            <p:cNvSpPr>
              <a:spLocks noChangeShapeType="1"/>
            </p:cNvSpPr>
            <p:nvPr/>
          </p:nvSpPr>
          <p:spPr bwMode="auto">
            <a:xfrm>
              <a:off x="1716" y="2990"/>
              <a:ext cx="0" cy="512"/>
            </a:xfrm>
            <a:prstGeom prst="line">
              <a:avLst/>
            </a:prstGeom>
            <a:noFill/>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40" name="Line 75">
              <a:extLst>
                <a:ext uri="{FF2B5EF4-FFF2-40B4-BE49-F238E27FC236}">
                  <a16:creationId xmlns:a16="http://schemas.microsoft.com/office/drawing/2014/main" id="{933E9AB6-CE90-9D47-9EAC-89D0617876BA}"/>
                </a:ext>
              </a:extLst>
            </p:cNvPr>
            <p:cNvSpPr>
              <a:spLocks noChangeShapeType="1"/>
            </p:cNvSpPr>
            <p:nvPr/>
          </p:nvSpPr>
          <p:spPr bwMode="auto">
            <a:xfrm>
              <a:off x="2204" y="2990"/>
              <a:ext cx="0" cy="512"/>
            </a:xfrm>
            <a:prstGeom prst="line">
              <a:avLst/>
            </a:prstGeom>
            <a:noFill/>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41" name="Rectangle 76">
              <a:extLst>
                <a:ext uri="{FF2B5EF4-FFF2-40B4-BE49-F238E27FC236}">
                  <a16:creationId xmlns:a16="http://schemas.microsoft.com/office/drawing/2014/main" id="{0BDAA16C-886B-454F-8E27-99BB631DEBC2}"/>
                </a:ext>
              </a:extLst>
            </p:cNvPr>
            <p:cNvSpPr>
              <a:spLocks noChangeArrowheads="1"/>
            </p:cNvSpPr>
            <p:nvPr/>
          </p:nvSpPr>
          <p:spPr bwMode="auto">
            <a:xfrm>
              <a:off x="1581" y="2762"/>
              <a:ext cx="877"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i="1">
                  <a:solidFill>
                    <a:srgbClr val="CC0000"/>
                  </a:solidFill>
                  <a:latin typeface="微软雅黑" panose="020B0503020204020204" pitchFamily="34" charset="-122"/>
                  <a:ea typeface="微软雅黑" panose="020B0503020204020204" pitchFamily="34" charset="-122"/>
                </a:rPr>
                <a:t>Page Table</a:t>
              </a:r>
            </a:p>
          </p:txBody>
        </p:sp>
        <p:sp>
          <p:nvSpPr>
            <p:cNvPr id="226342" name="Rectangle 77">
              <a:extLst>
                <a:ext uri="{FF2B5EF4-FFF2-40B4-BE49-F238E27FC236}">
                  <a16:creationId xmlns:a16="http://schemas.microsoft.com/office/drawing/2014/main" id="{58EA23F6-97C3-F544-A0D0-02919F9BE442}"/>
                </a:ext>
              </a:extLst>
            </p:cNvPr>
            <p:cNvSpPr>
              <a:spLocks noChangeArrowheads="1"/>
            </p:cNvSpPr>
            <p:nvPr/>
          </p:nvSpPr>
          <p:spPr bwMode="auto">
            <a:xfrm>
              <a:off x="1500" y="3194"/>
              <a:ext cx="183"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solidFill>
                    <a:srgbClr val="0000FF"/>
                  </a:solidFill>
                  <a:latin typeface="微软雅黑" panose="020B0503020204020204" pitchFamily="34" charset="-122"/>
                  <a:ea typeface="微软雅黑" panose="020B0503020204020204" pitchFamily="34" charset="-122"/>
                </a:rPr>
                <a:t>V</a:t>
              </a:r>
            </a:p>
          </p:txBody>
        </p:sp>
        <p:sp>
          <p:nvSpPr>
            <p:cNvPr id="226343" name="Rectangle 78">
              <a:extLst>
                <a:ext uri="{FF2B5EF4-FFF2-40B4-BE49-F238E27FC236}">
                  <a16:creationId xmlns:a16="http://schemas.microsoft.com/office/drawing/2014/main" id="{3D1409F7-CA25-AD4D-BC2C-3ADF8A6A037E}"/>
                </a:ext>
              </a:extLst>
            </p:cNvPr>
            <p:cNvSpPr>
              <a:spLocks noChangeArrowheads="1"/>
            </p:cNvSpPr>
            <p:nvPr/>
          </p:nvSpPr>
          <p:spPr bwMode="auto">
            <a:xfrm>
              <a:off x="1725" y="3138"/>
              <a:ext cx="48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90000"/>
                </a:lnSpc>
              </a:pPr>
              <a:endParaRPr lang="en-US" altLang="zh-CN" sz="1400" b="1">
                <a:solidFill>
                  <a:srgbClr val="0000FF"/>
                </a:solidFill>
                <a:ea typeface="宋体" panose="02010600030101010101" pitchFamily="2" charset="-122"/>
              </a:endParaRPr>
            </a:p>
            <a:p>
              <a:pPr>
                <a:lnSpc>
                  <a:spcPct val="90000"/>
                </a:lnSpc>
              </a:pPr>
              <a:r>
                <a:rPr lang="en-US" altLang="zh-CN" sz="1500" b="1">
                  <a:solidFill>
                    <a:srgbClr val="0000FF"/>
                  </a:solidFill>
                  <a:latin typeface="微软雅黑" panose="020B0503020204020204" pitchFamily="34" charset="-122"/>
                  <a:ea typeface="微软雅黑" panose="020B0503020204020204" pitchFamily="34" charset="-122"/>
                </a:rPr>
                <a:t>Access</a:t>
              </a:r>
            </a:p>
            <a:p>
              <a:pPr>
                <a:lnSpc>
                  <a:spcPct val="90000"/>
                </a:lnSpc>
              </a:pPr>
              <a:r>
                <a:rPr lang="en-US" altLang="zh-CN" sz="1500" b="1">
                  <a:solidFill>
                    <a:srgbClr val="0000FF"/>
                  </a:solidFill>
                  <a:latin typeface="微软雅黑" panose="020B0503020204020204" pitchFamily="34" charset="-122"/>
                  <a:ea typeface="微软雅黑" panose="020B0503020204020204" pitchFamily="34" charset="-122"/>
                </a:rPr>
                <a:t>Rights</a:t>
              </a:r>
            </a:p>
          </p:txBody>
        </p:sp>
        <p:sp>
          <p:nvSpPr>
            <p:cNvPr id="226344" name="Rectangle 79">
              <a:extLst>
                <a:ext uri="{FF2B5EF4-FFF2-40B4-BE49-F238E27FC236}">
                  <a16:creationId xmlns:a16="http://schemas.microsoft.com/office/drawing/2014/main" id="{D034B6ED-5A15-9647-9640-5B0D2D73373E}"/>
                </a:ext>
              </a:extLst>
            </p:cNvPr>
            <p:cNvSpPr>
              <a:spLocks noChangeArrowheads="1"/>
            </p:cNvSpPr>
            <p:nvPr/>
          </p:nvSpPr>
          <p:spPr bwMode="auto">
            <a:xfrm>
              <a:off x="2294" y="3210"/>
              <a:ext cx="347"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solidFill>
                    <a:srgbClr val="0000FF"/>
                  </a:solidFill>
                  <a:latin typeface="微软雅黑" panose="020B0503020204020204" pitchFamily="34" charset="-122"/>
                  <a:ea typeface="微软雅黑" panose="020B0503020204020204" pitchFamily="34" charset="-122"/>
                </a:rPr>
                <a:t>PF#</a:t>
              </a:r>
            </a:p>
          </p:txBody>
        </p:sp>
        <p:sp>
          <p:nvSpPr>
            <p:cNvPr id="226345" name="Rectangle 80">
              <a:extLst>
                <a:ext uri="{FF2B5EF4-FFF2-40B4-BE49-F238E27FC236}">
                  <a16:creationId xmlns:a16="http://schemas.microsoft.com/office/drawing/2014/main" id="{E4BA37FA-B8BA-E949-A3C5-6D1C76FEEB51}"/>
                </a:ext>
              </a:extLst>
            </p:cNvPr>
            <p:cNvSpPr>
              <a:spLocks noChangeArrowheads="1"/>
            </p:cNvSpPr>
            <p:nvPr/>
          </p:nvSpPr>
          <p:spPr bwMode="auto">
            <a:xfrm>
              <a:off x="1563" y="3634"/>
              <a:ext cx="992"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85000"/>
                </a:lnSpc>
              </a:pPr>
              <a:r>
                <a:rPr lang="zh-CN" altLang="en-US" sz="1900" b="1">
                  <a:solidFill>
                    <a:schemeClr val="accent1"/>
                  </a:solidFill>
                  <a:ea typeface="微软雅黑" panose="020B0503020204020204" pitchFamily="34" charset="-122"/>
                </a:rPr>
                <a:t>页表位于主存</a:t>
              </a:r>
            </a:p>
          </p:txBody>
        </p:sp>
      </p:grpSp>
      <p:grpSp>
        <p:nvGrpSpPr>
          <p:cNvPr id="226318" name="Group 82">
            <a:extLst>
              <a:ext uri="{FF2B5EF4-FFF2-40B4-BE49-F238E27FC236}">
                <a16:creationId xmlns:a16="http://schemas.microsoft.com/office/drawing/2014/main" id="{7C5B1344-232E-0640-ADA2-BE54FE85E89B}"/>
              </a:ext>
            </a:extLst>
          </p:cNvPr>
          <p:cNvGrpSpPr>
            <a:grpSpLocks/>
          </p:cNvGrpSpPr>
          <p:nvPr/>
        </p:nvGrpSpPr>
        <p:grpSpPr bwMode="auto">
          <a:xfrm>
            <a:off x="4437063" y="4953000"/>
            <a:ext cx="3527425" cy="512763"/>
            <a:chOff x="2820" y="3618"/>
            <a:chExt cx="2222" cy="184"/>
          </a:xfrm>
        </p:grpSpPr>
        <p:sp>
          <p:nvSpPr>
            <p:cNvPr id="226328" name="Rectangle 83">
              <a:extLst>
                <a:ext uri="{FF2B5EF4-FFF2-40B4-BE49-F238E27FC236}">
                  <a16:creationId xmlns:a16="http://schemas.microsoft.com/office/drawing/2014/main" id="{AEF7EF02-B5F9-C140-854E-693D798F7DF3}"/>
                </a:ext>
              </a:extLst>
            </p:cNvPr>
            <p:cNvSpPr>
              <a:spLocks noChangeArrowheads="1"/>
            </p:cNvSpPr>
            <p:nvPr/>
          </p:nvSpPr>
          <p:spPr bwMode="auto">
            <a:xfrm>
              <a:off x="2820" y="3618"/>
              <a:ext cx="1815" cy="184"/>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26329" name="Rectangle 84">
              <a:extLst>
                <a:ext uri="{FF2B5EF4-FFF2-40B4-BE49-F238E27FC236}">
                  <a16:creationId xmlns:a16="http://schemas.microsoft.com/office/drawing/2014/main" id="{A9F53379-26A8-2C46-AE70-91882EAAABE9}"/>
                </a:ext>
              </a:extLst>
            </p:cNvPr>
            <p:cNvSpPr>
              <a:spLocks noChangeArrowheads="1"/>
            </p:cNvSpPr>
            <p:nvPr/>
          </p:nvSpPr>
          <p:spPr bwMode="auto">
            <a:xfrm>
              <a:off x="2834" y="3638"/>
              <a:ext cx="778"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latin typeface="微软雅黑" panose="020B0503020204020204" pitchFamily="34" charset="-122"/>
                  <a:ea typeface="微软雅黑" panose="020B0503020204020204" pitchFamily="34" charset="-122"/>
                </a:rPr>
                <a:t>frame no.</a:t>
              </a:r>
            </a:p>
          </p:txBody>
        </p:sp>
        <p:sp>
          <p:nvSpPr>
            <p:cNvPr id="226330" name="Rectangle 85">
              <a:extLst>
                <a:ext uri="{FF2B5EF4-FFF2-40B4-BE49-F238E27FC236}">
                  <a16:creationId xmlns:a16="http://schemas.microsoft.com/office/drawing/2014/main" id="{31127F8F-EBA9-7042-9516-5CD77BC06E89}"/>
                </a:ext>
              </a:extLst>
            </p:cNvPr>
            <p:cNvSpPr>
              <a:spLocks noChangeArrowheads="1"/>
            </p:cNvSpPr>
            <p:nvPr/>
          </p:nvSpPr>
          <p:spPr bwMode="auto">
            <a:xfrm>
              <a:off x="4062" y="3638"/>
              <a:ext cx="386" cy="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latin typeface="微软雅黑" panose="020B0503020204020204" pitchFamily="34" charset="-122"/>
                  <a:ea typeface="微软雅黑" panose="020B0503020204020204" pitchFamily="34" charset="-122"/>
                </a:rPr>
                <a:t>disp</a:t>
              </a:r>
            </a:p>
          </p:txBody>
        </p:sp>
        <p:sp>
          <p:nvSpPr>
            <p:cNvPr id="226331" name="Line 86">
              <a:extLst>
                <a:ext uri="{FF2B5EF4-FFF2-40B4-BE49-F238E27FC236}">
                  <a16:creationId xmlns:a16="http://schemas.microsoft.com/office/drawing/2014/main" id="{023D7F58-CD72-B149-B2EE-148E96687269}"/>
                </a:ext>
              </a:extLst>
            </p:cNvPr>
            <p:cNvSpPr>
              <a:spLocks noChangeShapeType="1"/>
            </p:cNvSpPr>
            <p:nvPr/>
          </p:nvSpPr>
          <p:spPr bwMode="auto">
            <a:xfrm>
              <a:off x="3881" y="3618"/>
              <a:ext cx="0" cy="1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32" name="Rectangle 87">
              <a:extLst>
                <a:ext uri="{FF2B5EF4-FFF2-40B4-BE49-F238E27FC236}">
                  <a16:creationId xmlns:a16="http://schemas.microsoft.com/office/drawing/2014/main" id="{FDC57E51-2B5F-AB48-BD6A-B309239EFFAD}"/>
                </a:ext>
              </a:extLst>
            </p:cNvPr>
            <p:cNvSpPr>
              <a:spLocks noChangeArrowheads="1"/>
            </p:cNvSpPr>
            <p:nvPr/>
          </p:nvSpPr>
          <p:spPr bwMode="auto">
            <a:xfrm>
              <a:off x="4748" y="3640"/>
              <a:ext cx="29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900" b="1">
                  <a:solidFill>
                    <a:srgbClr val="0000FF"/>
                  </a:solidFill>
                  <a:latin typeface="微软雅黑" panose="020B0503020204020204" pitchFamily="34" charset="-122"/>
                  <a:ea typeface="微软雅黑" panose="020B0503020204020204" pitchFamily="34" charset="-122"/>
                </a:rPr>
                <a:t>PA</a:t>
              </a:r>
            </a:p>
          </p:txBody>
        </p:sp>
      </p:grpSp>
      <p:sp>
        <p:nvSpPr>
          <p:cNvPr id="660524" name="Text Box 89">
            <a:extLst>
              <a:ext uri="{FF2B5EF4-FFF2-40B4-BE49-F238E27FC236}">
                <a16:creationId xmlns:a16="http://schemas.microsoft.com/office/drawing/2014/main" id="{1A823710-A33F-484F-B81C-74F0D31F506D}"/>
              </a:ext>
            </a:extLst>
          </p:cNvPr>
          <p:cNvSpPr txBox="1">
            <a:spLocks noChangeArrowheads="1"/>
          </p:cNvSpPr>
          <p:nvPr/>
        </p:nvSpPr>
        <p:spPr bwMode="auto">
          <a:xfrm>
            <a:off x="5584825" y="1533525"/>
            <a:ext cx="2938463"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20000"/>
              </a:spcBef>
            </a:pPr>
            <a:r>
              <a:rPr kumimoji="1" lang="zh-CN" altLang="en-US"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当</a:t>
            </a:r>
            <a:r>
              <a:rPr kumimoji="1" lang="en-US" altLang="zh-CN"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V=0</a:t>
            </a:r>
            <a:r>
              <a:rPr kumimoji="1" lang="zh-CN" altLang="en-US"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时，发生缺页</a:t>
            </a:r>
          </a:p>
          <a:p>
            <a:pPr eaLnBrk="1" hangingPunct="1">
              <a:spcBef>
                <a:spcPct val="20000"/>
              </a:spcBef>
            </a:pPr>
            <a:r>
              <a:rPr kumimoji="1" lang="zh-CN" altLang="en-US"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当读写操作不符合存取权限（</a:t>
            </a:r>
            <a:r>
              <a:rPr kumimoji="1" lang="en-US" altLang="zh-CN"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Access Right</a:t>
            </a:r>
            <a:r>
              <a:rPr kumimoji="1" lang="zh-CN" altLang="en-US"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）时，发生保护违例</a:t>
            </a:r>
            <a:endParaRPr kumimoji="1" lang="en-US" altLang="zh-CN" sz="2000" b="1">
              <a:solidFill>
                <a:srgbClr val="0066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spcBef>
                <a:spcPct val="20000"/>
              </a:spcBef>
            </a:pPr>
            <a:r>
              <a:rPr kumimoji="1" lang="en-US" altLang="zh-CN"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PF#</a:t>
            </a:r>
            <a:r>
              <a:rPr kumimoji="1" lang="zh-CN" altLang="en-US" sz="2000" b="1">
                <a:solidFill>
                  <a:srgbClr val="006600"/>
                </a:solidFill>
                <a:latin typeface="微软雅黑" panose="020B0503020204020204" pitchFamily="34" charset="-122"/>
                <a:ea typeface="微软雅黑" panose="020B0503020204020204" pitchFamily="34" charset="-122"/>
                <a:cs typeface="Arial" panose="020B0604020202020204" pitchFamily="34" charset="0"/>
              </a:rPr>
              <a:t>为对应的物理页号（页框号或实页号）</a:t>
            </a:r>
          </a:p>
        </p:txBody>
      </p:sp>
      <p:sp>
        <p:nvSpPr>
          <p:cNvPr id="660525" name="Line 90">
            <a:extLst>
              <a:ext uri="{FF2B5EF4-FFF2-40B4-BE49-F238E27FC236}">
                <a16:creationId xmlns:a16="http://schemas.microsoft.com/office/drawing/2014/main" id="{2BDD63B8-6CF7-CF40-BDAB-9B9C256F4443}"/>
              </a:ext>
            </a:extLst>
          </p:cNvPr>
          <p:cNvSpPr>
            <a:spLocks noChangeShapeType="1"/>
          </p:cNvSpPr>
          <p:nvPr/>
        </p:nvSpPr>
        <p:spPr bwMode="auto">
          <a:xfrm flipH="1">
            <a:off x="2516188" y="1712913"/>
            <a:ext cx="3060700" cy="2012950"/>
          </a:xfrm>
          <a:prstGeom prst="line">
            <a:avLst/>
          </a:prstGeom>
          <a:noFill/>
          <a:ln w="9525">
            <a:solidFill>
              <a:srgbClr val="0066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526" name="Line 91">
            <a:extLst>
              <a:ext uri="{FF2B5EF4-FFF2-40B4-BE49-F238E27FC236}">
                <a16:creationId xmlns:a16="http://schemas.microsoft.com/office/drawing/2014/main" id="{D94B10E3-7910-FC44-BBC2-91A6F5466923}"/>
              </a:ext>
            </a:extLst>
          </p:cNvPr>
          <p:cNvSpPr>
            <a:spLocks noChangeShapeType="1"/>
          </p:cNvSpPr>
          <p:nvPr/>
        </p:nvSpPr>
        <p:spPr bwMode="auto">
          <a:xfrm flipH="1">
            <a:off x="3257550" y="2168525"/>
            <a:ext cx="2295525" cy="1600200"/>
          </a:xfrm>
          <a:prstGeom prst="line">
            <a:avLst/>
          </a:prstGeom>
          <a:noFill/>
          <a:ln w="9525">
            <a:solidFill>
              <a:srgbClr val="0066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660527" name="Line 91">
            <a:extLst>
              <a:ext uri="{FF2B5EF4-FFF2-40B4-BE49-F238E27FC236}">
                <a16:creationId xmlns:a16="http://schemas.microsoft.com/office/drawing/2014/main" id="{8D7AF426-AFF0-324D-B9C4-1ACD31E78E75}"/>
              </a:ext>
            </a:extLst>
          </p:cNvPr>
          <p:cNvSpPr>
            <a:spLocks noChangeShapeType="1"/>
          </p:cNvSpPr>
          <p:nvPr/>
        </p:nvSpPr>
        <p:spPr bwMode="auto">
          <a:xfrm flipH="1">
            <a:off x="4032250" y="2798763"/>
            <a:ext cx="1492250" cy="1060450"/>
          </a:xfrm>
          <a:prstGeom prst="line">
            <a:avLst/>
          </a:prstGeom>
          <a:noFill/>
          <a:ln w="9525">
            <a:solidFill>
              <a:srgbClr val="0066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26323" name="Line 48">
            <a:extLst>
              <a:ext uri="{FF2B5EF4-FFF2-40B4-BE49-F238E27FC236}">
                <a16:creationId xmlns:a16="http://schemas.microsoft.com/office/drawing/2014/main" id="{6CFEEC59-8D2C-BE46-AEFF-EBD7A8EE63DE}"/>
              </a:ext>
            </a:extLst>
          </p:cNvPr>
          <p:cNvSpPr>
            <a:spLocks noChangeShapeType="1"/>
          </p:cNvSpPr>
          <p:nvPr/>
        </p:nvSpPr>
        <p:spPr bwMode="auto">
          <a:xfrm>
            <a:off x="5067300" y="3633788"/>
            <a:ext cx="1709738"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226324" name="Line 49">
            <a:extLst>
              <a:ext uri="{FF2B5EF4-FFF2-40B4-BE49-F238E27FC236}">
                <a16:creationId xmlns:a16="http://schemas.microsoft.com/office/drawing/2014/main" id="{EF57B8B8-6680-CC42-A8A4-ADDF2A817597}"/>
              </a:ext>
            </a:extLst>
          </p:cNvPr>
          <p:cNvSpPr>
            <a:spLocks noChangeShapeType="1"/>
          </p:cNvSpPr>
          <p:nvPr/>
        </p:nvSpPr>
        <p:spPr bwMode="auto">
          <a:xfrm>
            <a:off x="6777038" y="3633788"/>
            <a:ext cx="0" cy="1350962"/>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endParaRPr lang="zh-CN" altLang="en-US"/>
          </a:p>
        </p:txBody>
      </p:sp>
      <p:sp>
        <p:nvSpPr>
          <p:cNvPr id="226325" name="Rectangle 50">
            <a:extLst>
              <a:ext uri="{FF2B5EF4-FFF2-40B4-BE49-F238E27FC236}">
                <a16:creationId xmlns:a16="http://schemas.microsoft.com/office/drawing/2014/main" id="{5017950E-CB80-684D-A7CD-8A6DA40A8815}"/>
              </a:ext>
            </a:extLst>
          </p:cNvPr>
          <p:cNvSpPr>
            <a:spLocks noChangeArrowheads="1"/>
          </p:cNvSpPr>
          <p:nvPr/>
        </p:nvSpPr>
        <p:spPr bwMode="auto">
          <a:xfrm>
            <a:off x="4476750" y="836613"/>
            <a:ext cx="2246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2000" b="1">
                <a:latin typeface="微软雅黑" panose="020B0503020204020204" pitchFamily="34" charset="-122"/>
                <a:ea typeface="微软雅黑" panose="020B0503020204020204" pitchFamily="34" charset="-122"/>
              </a:rPr>
              <a:t>disp</a:t>
            </a:r>
            <a:r>
              <a:rPr lang="zh-CN" altLang="en-US" sz="2000" b="1">
                <a:latin typeface="微软雅黑" panose="020B0503020204020204" pitchFamily="34" charset="-122"/>
                <a:ea typeface="微软雅黑" panose="020B0503020204020204" pitchFamily="34" charset="-122"/>
              </a:rPr>
              <a:t>为页内偏移量</a:t>
            </a:r>
          </a:p>
        </p:txBody>
      </p:sp>
      <p:sp>
        <p:nvSpPr>
          <p:cNvPr id="660531" name="Text Box 51">
            <a:extLst>
              <a:ext uri="{FF2B5EF4-FFF2-40B4-BE49-F238E27FC236}">
                <a16:creationId xmlns:a16="http://schemas.microsoft.com/office/drawing/2014/main" id="{5E77C5CE-ECE4-9A4B-8CB3-C7D17D684579}"/>
              </a:ext>
            </a:extLst>
          </p:cNvPr>
          <p:cNvSpPr txBox="1">
            <a:spLocks noChangeArrowheads="1"/>
          </p:cNvSpPr>
          <p:nvPr/>
        </p:nvSpPr>
        <p:spPr bwMode="auto">
          <a:xfrm>
            <a:off x="7345363" y="2471738"/>
            <a:ext cx="14938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solidFill>
                  <a:srgbClr val="A50021"/>
                </a:solidFill>
                <a:latin typeface="微软雅黑" panose="020B0503020204020204" pitchFamily="34" charset="-122"/>
                <a:ea typeface="微软雅黑" panose="020B0503020204020204" pitchFamily="34" charset="-122"/>
              </a:rPr>
              <a:t>访问越权</a:t>
            </a:r>
          </a:p>
        </p:txBody>
      </p:sp>
      <p:sp>
        <p:nvSpPr>
          <p:cNvPr id="226327" name="Text Box 52">
            <a:extLst>
              <a:ext uri="{FF2B5EF4-FFF2-40B4-BE49-F238E27FC236}">
                <a16:creationId xmlns:a16="http://schemas.microsoft.com/office/drawing/2014/main" id="{0AAA3D0A-58B0-C64A-9E63-2D677A06EFC5}"/>
              </a:ext>
            </a:extLst>
          </p:cNvPr>
          <p:cNvSpPr txBox="1">
            <a:spLocks noChangeArrowheads="1"/>
          </p:cNvSpPr>
          <p:nvPr/>
        </p:nvSpPr>
        <p:spPr bwMode="auto">
          <a:xfrm>
            <a:off x="274638" y="5922963"/>
            <a:ext cx="8345487"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dirty="0">
                <a:latin typeface="微软雅黑" panose="020B0503020204020204" pitchFamily="34" charset="-122"/>
                <a:ea typeface="微软雅黑" panose="020B0503020204020204" pitchFamily="34" charset="-122"/>
              </a:rPr>
              <a:t>问题：虚拟页与主存页框之间采用全相联方式进行映射，为何不像全相联</a:t>
            </a:r>
            <a:r>
              <a:rPr lang="en-US" altLang="zh-CN" sz="2000" b="1" dirty="0">
                <a:latin typeface="微软雅黑" panose="020B0503020204020204" pitchFamily="34" charset="-122"/>
                <a:ea typeface="微软雅黑" panose="020B0503020204020204" pitchFamily="34" charset="-122"/>
              </a:rPr>
              <a:t>Cache</a:t>
            </a:r>
            <a:r>
              <a:rPr lang="zh-CN" altLang="en-US" sz="2000" b="1" dirty="0">
                <a:latin typeface="微软雅黑" panose="020B0503020204020204" pitchFamily="34" charset="-122"/>
                <a:ea typeface="微软雅黑" panose="020B0503020204020204" pitchFamily="34" charset="-122"/>
              </a:rPr>
              <a:t>那样（高位地址是</a:t>
            </a:r>
            <a:r>
              <a:rPr lang="en-US" altLang="zh-CN" sz="2000" b="1" dirty="0">
                <a:latin typeface="微软雅黑" panose="020B0503020204020204" pitchFamily="34" charset="-122"/>
                <a:ea typeface="微软雅黑" panose="020B0503020204020204" pitchFamily="34" charset="-122"/>
              </a:rPr>
              <a:t>Tag</a:t>
            </a:r>
            <a:r>
              <a:rPr lang="zh-CN" altLang="en-US" sz="2000" b="1" dirty="0">
                <a:latin typeface="微软雅黑" panose="020B0503020204020204" pitchFamily="34" charset="-122"/>
                <a:ea typeface="微软雅黑" panose="020B0503020204020204" pitchFamily="34" charset="-122"/>
              </a:rPr>
              <a:t>），而高位地址是索引呢？</a:t>
            </a:r>
            <a:r>
              <a:rPr lang="en-US" altLang="zh-CN" sz="2000" b="1" dirty="0">
                <a:solidFill>
                  <a:srgbClr val="FF0000"/>
                </a:solidFill>
                <a:latin typeface="微软雅黑" panose="020B0503020204020204" pitchFamily="34" charset="-122"/>
                <a:ea typeface="微软雅黑" panose="020B0503020204020204" pitchFamily="34" charset="-122"/>
              </a:rPr>
              <a:t> (</a:t>
            </a:r>
            <a:r>
              <a:rPr lang="zh-CN" altLang="en-US" sz="2000" b="1" dirty="0">
                <a:solidFill>
                  <a:srgbClr val="FF0000"/>
                </a:solidFill>
                <a:latin typeface="微软雅黑" panose="020B0503020204020204" pitchFamily="34" charset="-122"/>
                <a:ea typeface="微软雅黑" panose="020B0503020204020204" pitchFamily="34" charset="-122"/>
              </a:rPr>
              <a:t>页表基址</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虚拟页号</a:t>
            </a:r>
            <a:r>
              <a:rPr lang="en-US" altLang="zh-CN" sz="2000" b="1" dirty="0">
                <a:solidFill>
                  <a:srgbClr val="FF0000"/>
                </a:solidFill>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*页表项大小；按虚页号排；</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0524">
                                            <p:txEl>
                                              <p:pRg st="0" end="0"/>
                                            </p:txEl>
                                          </p:spTgt>
                                        </p:tgtEl>
                                        <p:attrNameLst>
                                          <p:attrName>style.visibility</p:attrName>
                                        </p:attrNameLst>
                                      </p:cBhvr>
                                      <p:to>
                                        <p:strVal val="visible"/>
                                      </p:to>
                                    </p:set>
                                    <p:animEffect transition="in" filter="blinds(horizontal)">
                                      <p:cBhvr>
                                        <p:cTn id="7" dur="500"/>
                                        <p:tgtEl>
                                          <p:spTgt spid="6605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60525"/>
                                        </p:tgtEl>
                                        <p:attrNameLst>
                                          <p:attrName>style.visibility</p:attrName>
                                        </p:attrNameLst>
                                      </p:cBhvr>
                                      <p:to>
                                        <p:strVal val="visible"/>
                                      </p:to>
                                    </p:set>
                                    <p:animEffect transition="in" filter="blinds(horizontal)">
                                      <p:cBhvr>
                                        <p:cTn id="12" dur="500"/>
                                        <p:tgtEl>
                                          <p:spTgt spid="6605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60524">
                                            <p:txEl>
                                              <p:pRg st="1" end="1"/>
                                            </p:txEl>
                                          </p:spTgt>
                                        </p:tgtEl>
                                        <p:attrNameLst>
                                          <p:attrName>style.visibility</p:attrName>
                                        </p:attrNameLst>
                                      </p:cBhvr>
                                      <p:to>
                                        <p:strVal val="visible"/>
                                      </p:to>
                                    </p:set>
                                    <p:animEffect transition="in" filter="blinds(horizontal)">
                                      <p:cBhvr>
                                        <p:cTn id="17" dur="500"/>
                                        <p:tgtEl>
                                          <p:spTgt spid="66052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60526"/>
                                        </p:tgtEl>
                                        <p:attrNameLst>
                                          <p:attrName>style.visibility</p:attrName>
                                        </p:attrNameLst>
                                      </p:cBhvr>
                                      <p:to>
                                        <p:strVal val="visible"/>
                                      </p:to>
                                    </p:set>
                                    <p:animEffect transition="in" filter="blinds(horizontal)">
                                      <p:cBhvr>
                                        <p:cTn id="22" dur="500"/>
                                        <p:tgtEl>
                                          <p:spTgt spid="6605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60531"/>
                                        </p:tgtEl>
                                        <p:attrNameLst>
                                          <p:attrName>style.visibility</p:attrName>
                                        </p:attrNameLst>
                                      </p:cBhvr>
                                      <p:to>
                                        <p:strVal val="visible"/>
                                      </p:to>
                                    </p:set>
                                    <p:animEffect transition="in" filter="blinds(horizontal)">
                                      <p:cBhvr>
                                        <p:cTn id="27" dur="500"/>
                                        <p:tgtEl>
                                          <p:spTgt spid="6605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60524">
                                            <p:txEl>
                                              <p:pRg st="2" end="2"/>
                                            </p:txEl>
                                          </p:spTgt>
                                        </p:tgtEl>
                                        <p:attrNameLst>
                                          <p:attrName>style.visibility</p:attrName>
                                        </p:attrNameLst>
                                      </p:cBhvr>
                                      <p:to>
                                        <p:strVal val="visible"/>
                                      </p:to>
                                    </p:set>
                                    <p:animEffect transition="in" filter="blinds(horizontal)">
                                      <p:cBhvr>
                                        <p:cTn id="32" dur="500"/>
                                        <p:tgtEl>
                                          <p:spTgt spid="660524">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60527"/>
                                        </p:tgtEl>
                                        <p:attrNameLst>
                                          <p:attrName>style.visibility</p:attrName>
                                        </p:attrNameLst>
                                      </p:cBhvr>
                                      <p:to>
                                        <p:strVal val="visible"/>
                                      </p:to>
                                    </p:set>
                                    <p:animEffect transition="in" filter="blinds(horizontal)">
                                      <p:cBhvr>
                                        <p:cTn id="37" dur="500"/>
                                        <p:tgtEl>
                                          <p:spTgt spid="660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5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02FBEDA8-5670-FB42-B3C7-003C75015811}"/>
              </a:ext>
            </a:extLst>
          </p:cNvPr>
          <p:cNvSpPr>
            <a:spLocks noGrp="1" noChangeArrowheads="1"/>
          </p:cNvSpPr>
          <p:nvPr>
            <p:ph type="title" idx="4294967295"/>
          </p:nvPr>
        </p:nvSpPr>
        <p:spPr>
          <a:xfrm>
            <a:off x="1300163" y="98425"/>
            <a:ext cx="5838825" cy="538163"/>
          </a:xfrm>
          <a:noFill/>
        </p:spPr>
        <p:txBody>
          <a:bodyPr wrap="none"/>
          <a:lstStyle/>
          <a:p>
            <a:pPr eaLnBrk="1" hangingPunct="1"/>
            <a:r>
              <a:rPr lang="zh-CN" altLang="en-US">
                <a:solidFill>
                  <a:srgbClr val="CC0000"/>
                </a:solidFill>
              </a:rPr>
              <a:t>信息访问中可能出现的异常情况</a:t>
            </a:r>
          </a:p>
        </p:txBody>
      </p:sp>
      <p:sp>
        <p:nvSpPr>
          <p:cNvPr id="514051" name="Rectangle 3">
            <a:extLst>
              <a:ext uri="{FF2B5EF4-FFF2-40B4-BE49-F238E27FC236}">
                <a16:creationId xmlns:a16="http://schemas.microsoft.com/office/drawing/2014/main" id="{3BAEFCFE-4506-AE40-B323-C7294BB75BC9}"/>
              </a:ext>
            </a:extLst>
          </p:cNvPr>
          <p:cNvSpPr>
            <a:spLocks noChangeArrowheads="1"/>
          </p:cNvSpPr>
          <p:nvPr/>
        </p:nvSpPr>
        <p:spPr bwMode="auto">
          <a:xfrm>
            <a:off x="239713" y="868363"/>
            <a:ext cx="8761412" cy="507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15000"/>
              </a:lnSpc>
              <a:spcBef>
                <a:spcPct val="15000"/>
              </a:spcBef>
            </a:pPr>
            <a:r>
              <a:rPr lang="zh-CN" altLang="en-US" sz="2000" b="1">
                <a:latin typeface="微软雅黑" panose="020B0503020204020204" pitchFamily="34" charset="-122"/>
                <a:ea typeface="微软雅黑" panose="020B0503020204020204" pitchFamily="34" charset="-122"/>
              </a:rPr>
              <a:t>可能有两种异常情况：</a:t>
            </a:r>
          </a:p>
          <a:p>
            <a:pPr>
              <a:lnSpc>
                <a:spcPct val="115000"/>
              </a:lnSpc>
              <a:spcBef>
                <a:spcPct val="15000"/>
              </a:spcBef>
            </a:pPr>
            <a:r>
              <a:rPr lang="en-US" altLang="zh-CN" sz="2000" b="1">
                <a:solidFill>
                  <a:srgbClr val="0000FF"/>
                </a:solidFill>
                <a:latin typeface="微软雅黑" panose="020B0503020204020204" pitchFamily="34" charset="-122"/>
                <a:ea typeface="微软雅黑" panose="020B0503020204020204" pitchFamily="34" charset="-122"/>
              </a:rPr>
              <a:t>1</a:t>
            </a:r>
            <a:r>
              <a:rPr lang="zh-CN" altLang="en-US" sz="2000" b="1">
                <a:solidFill>
                  <a:srgbClr val="0000FF"/>
                </a:solidFill>
                <a:latin typeface="微软雅黑" panose="020B0503020204020204" pitchFamily="34" charset="-122"/>
                <a:ea typeface="微软雅黑" panose="020B0503020204020204" pitchFamily="34" charset="-122"/>
              </a:rPr>
              <a:t>）缺页（ </a:t>
            </a:r>
            <a:r>
              <a:rPr lang="en-US" altLang="zh-CN" sz="2000" b="1">
                <a:solidFill>
                  <a:srgbClr val="0000FF"/>
                </a:solidFill>
                <a:latin typeface="微软雅黑" panose="020B0503020204020204" pitchFamily="34" charset="-122"/>
                <a:ea typeface="微软雅黑" panose="020B0503020204020204" pitchFamily="34" charset="-122"/>
              </a:rPr>
              <a:t>page fault</a:t>
            </a:r>
            <a:r>
              <a:rPr lang="zh-CN" altLang="en-US" sz="2000" b="1">
                <a:solidFill>
                  <a:srgbClr val="0000FF"/>
                </a:solidFill>
                <a:latin typeface="微软雅黑" panose="020B0503020204020204" pitchFamily="34" charset="-122"/>
                <a:ea typeface="微软雅黑" panose="020B0503020204020204" pitchFamily="34" charset="-122"/>
              </a:rPr>
              <a:t>）</a:t>
            </a:r>
            <a:r>
              <a:rPr lang="zh-CN" altLang="en-US" sz="2000" b="1">
                <a:solidFill>
                  <a:srgbClr val="CC0000"/>
                </a:solidFill>
                <a:latin typeface="微软雅黑" panose="020B0503020204020204" pitchFamily="34" charset="-122"/>
                <a:ea typeface="微软雅黑" panose="020B0503020204020204" pitchFamily="34" charset="-122"/>
              </a:rPr>
              <a:t> </a:t>
            </a:r>
          </a:p>
          <a:p>
            <a:pPr>
              <a:lnSpc>
                <a:spcPct val="115000"/>
              </a:lnSpc>
              <a:spcBef>
                <a:spcPct val="15000"/>
              </a:spcBef>
            </a:pPr>
            <a:r>
              <a:rPr lang="zh-CN" altLang="en-US" sz="2000" b="1">
                <a:solidFill>
                  <a:srgbClr val="CC0000"/>
                </a:solidFill>
                <a:latin typeface="微软雅黑" panose="020B0503020204020204" pitchFamily="34" charset="-122"/>
                <a:ea typeface="微软雅黑" panose="020B0503020204020204" pitchFamily="34" charset="-122"/>
              </a:rPr>
              <a:t>     产生条件：</a:t>
            </a:r>
            <a:r>
              <a:rPr lang="zh-CN" altLang="en-US" sz="2000" b="1">
                <a:solidFill>
                  <a:srgbClr val="006600"/>
                </a:solidFill>
                <a:latin typeface="微软雅黑" panose="020B0503020204020204" pitchFamily="34" charset="-122"/>
                <a:ea typeface="微软雅黑" panose="020B0503020204020204" pitchFamily="34" charset="-122"/>
              </a:rPr>
              <a:t>当</a:t>
            </a:r>
            <a:r>
              <a:rPr lang="en-US" altLang="zh-CN" sz="2000" b="1">
                <a:solidFill>
                  <a:srgbClr val="006600"/>
                </a:solidFill>
                <a:latin typeface="微软雅黑" panose="020B0503020204020204" pitchFamily="34" charset="-122"/>
                <a:ea typeface="微软雅黑" panose="020B0503020204020204" pitchFamily="34" charset="-122"/>
              </a:rPr>
              <a:t>Valid</a:t>
            </a:r>
            <a:r>
              <a:rPr lang="zh-CN" altLang="en-US" sz="2000" b="1">
                <a:solidFill>
                  <a:srgbClr val="006600"/>
                </a:solidFill>
                <a:latin typeface="微软雅黑" panose="020B0503020204020204" pitchFamily="34" charset="-122"/>
                <a:ea typeface="微软雅黑" panose="020B0503020204020204" pitchFamily="34" charset="-122"/>
              </a:rPr>
              <a:t>（有效位 </a:t>
            </a:r>
            <a:r>
              <a:rPr lang="en-US" altLang="zh-CN" sz="2000" b="1">
                <a:solidFill>
                  <a:srgbClr val="006600"/>
                </a:solidFill>
                <a:latin typeface="微软雅黑" panose="020B0503020204020204" pitchFamily="34" charset="-122"/>
                <a:ea typeface="微软雅黑" panose="020B0503020204020204" pitchFamily="34" charset="-122"/>
              </a:rPr>
              <a:t>/ </a:t>
            </a:r>
            <a:r>
              <a:rPr lang="zh-CN" altLang="en-US" sz="2000" b="1">
                <a:solidFill>
                  <a:srgbClr val="006600"/>
                </a:solidFill>
                <a:latin typeface="微软雅黑" panose="020B0503020204020204" pitchFamily="34" charset="-122"/>
                <a:ea typeface="微软雅黑" panose="020B0503020204020204" pitchFamily="34" charset="-122"/>
              </a:rPr>
              <a:t>装入位）为 </a:t>
            </a:r>
            <a:r>
              <a:rPr lang="en-US" altLang="zh-CN" sz="2000" b="1">
                <a:solidFill>
                  <a:srgbClr val="006600"/>
                </a:solidFill>
                <a:latin typeface="微软雅黑" panose="020B0503020204020204" pitchFamily="34" charset="-122"/>
                <a:ea typeface="微软雅黑" panose="020B0503020204020204" pitchFamily="34" charset="-122"/>
              </a:rPr>
              <a:t>0 </a:t>
            </a:r>
            <a:r>
              <a:rPr lang="zh-CN" altLang="en-US" sz="2000" b="1">
                <a:solidFill>
                  <a:srgbClr val="006600"/>
                </a:solidFill>
                <a:latin typeface="微软雅黑" panose="020B0503020204020204" pitchFamily="34" charset="-122"/>
                <a:ea typeface="微软雅黑" panose="020B0503020204020204" pitchFamily="34" charset="-122"/>
              </a:rPr>
              <a:t>时</a:t>
            </a:r>
          </a:p>
          <a:p>
            <a:pPr eaLnBrk="1" hangingPunct="1">
              <a:lnSpc>
                <a:spcPct val="115000"/>
              </a:lnSpc>
              <a:spcBef>
                <a:spcPct val="15000"/>
              </a:spcBef>
            </a:pPr>
            <a:r>
              <a:rPr lang="zh-CN" altLang="en-US" sz="2000" b="1">
                <a:solidFill>
                  <a:srgbClr val="0000FF"/>
                </a:solidFill>
                <a:latin typeface="微软雅黑" panose="020B0503020204020204" pitchFamily="34" charset="-122"/>
                <a:ea typeface="微软雅黑" panose="020B0503020204020204" pitchFamily="34" charset="-122"/>
              </a:rPr>
              <a:t>     </a:t>
            </a:r>
            <a:r>
              <a:rPr lang="zh-CN" altLang="en-US" sz="2000" b="1">
                <a:solidFill>
                  <a:srgbClr val="CC0000"/>
                </a:solidFill>
                <a:latin typeface="微软雅黑" panose="020B0503020204020204" pitchFamily="34" charset="-122"/>
                <a:ea typeface="微软雅黑" panose="020B0503020204020204" pitchFamily="34" charset="-122"/>
              </a:rPr>
              <a:t>相应处理：</a:t>
            </a:r>
            <a:r>
              <a:rPr lang="zh-CN" altLang="en-US" sz="2000" b="1">
                <a:solidFill>
                  <a:srgbClr val="006600"/>
                </a:solidFill>
                <a:latin typeface="微软雅黑" panose="020B0503020204020204" pitchFamily="34" charset="-122"/>
                <a:ea typeface="微软雅黑" panose="020B0503020204020204" pitchFamily="34" charset="-122"/>
              </a:rPr>
              <a:t>从磁盘读到内存，若内存没有空间，则还要从内存选择一页替换到磁盘上，替换算法类似于</a:t>
            </a:r>
            <a:r>
              <a:rPr lang="en-US" altLang="zh-CN" sz="2000" b="1">
                <a:solidFill>
                  <a:srgbClr val="006600"/>
                </a:solidFill>
                <a:latin typeface="微软雅黑" panose="020B0503020204020204" pitchFamily="34" charset="-122"/>
                <a:ea typeface="微软雅黑" panose="020B0503020204020204" pitchFamily="34" charset="-122"/>
              </a:rPr>
              <a:t>Cache</a:t>
            </a:r>
            <a:r>
              <a:rPr lang="zh-CN" altLang="en-US" sz="2000" b="1">
                <a:solidFill>
                  <a:srgbClr val="006600"/>
                </a:solidFill>
                <a:latin typeface="微软雅黑" panose="020B0503020204020204" pitchFamily="34" charset="-122"/>
                <a:ea typeface="微软雅黑" panose="020B0503020204020204" pitchFamily="34" charset="-122"/>
              </a:rPr>
              <a:t>，采用回写法，淘汰时，根据“</a:t>
            </a:r>
            <a:r>
              <a:rPr lang="en-US" altLang="zh-CN" sz="2000" b="1">
                <a:solidFill>
                  <a:srgbClr val="006600"/>
                </a:solidFill>
                <a:latin typeface="微软雅黑" panose="020B0503020204020204" pitchFamily="34" charset="-122"/>
                <a:ea typeface="微软雅黑" panose="020B0503020204020204" pitchFamily="34" charset="-122"/>
              </a:rPr>
              <a:t>dirty”</a:t>
            </a:r>
            <a:r>
              <a:rPr lang="zh-CN" altLang="en-US" sz="2000" b="1">
                <a:solidFill>
                  <a:srgbClr val="006600"/>
                </a:solidFill>
                <a:latin typeface="微软雅黑" panose="020B0503020204020204" pitchFamily="34" charset="-122"/>
                <a:ea typeface="微软雅黑" panose="020B0503020204020204" pitchFamily="34" charset="-122"/>
              </a:rPr>
              <a:t>位确定是否要写磁盘</a:t>
            </a:r>
          </a:p>
          <a:p>
            <a:pPr eaLnBrk="1" hangingPunct="1">
              <a:lnSpc>
                <a:spcPct val="115000"/>
              </a:lnSpc>
              <a:spcBef>
                <a:spcPct val="15000"/>
              </a:spcBef>
            </a:pPr>
            <a:r>
              <a:rPr lang="zh-CN" altLang="en-US" sz="2000" b="1">
                <a:solidFill>
                  <a:srgbClr val="0000FF"/>
                </a:solidFill>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当前指令执行被阻塞，当前进程被挂起，处理结束回到原指令继续执行</a:t>
            </a:r>
          </a:p>
          <a:p>
            <a:pPr>
              <a:lnSpc>
                <a:spcPct val="115000"/>
              </a:lnSpc>
              <a:spcBef>
                <a:spcPct val="15000"/>
              </a:spcBef>
            </a:pPr>
            <a:r>
              <a:rPr lang="en-US" altLang="zh-CN" sz="2000" b="1">
                <a:solidFill>
                  <a:srgbClr val="0000FF"/>
                </a:solidFill>
                <a:latin typeface="微软雅黑" panose="020B0503020204020204" pitchFamily="34" charset="-122"/>
                <a:ea typeface="微软雅黑" panose="020B0503020204020204" pitchFamily="34" charset="-122"/>
              </a:rPr>
              <a:t>2</a:t>
            </a:r>
            <a:r>
              <a:rPr lang="zh-CN" altLang="en-US" sz="2000" b="1">
                <a:solidFill>
                  <a:srgbClr val="0000FF"/>
                </a:solidFill>
                <a:latin typeface="微软雅黑" panose="020B0503020204020204" pitchFamily="34" charset="-122"/>
                <a:ea typeface="微软雅黑" panose="020B0503020204020204" pitchFamily="34" charset="-122"/>
              </a:rPr>
              <a:t>）保护违例（ </a:t>
            </a:r>
            <a:r>
              <a:rPr lang="en-US" altLang="zh-CN" sz="2000" b="1">
                <a:solidFill>
                  <a:srgbClr val="0000FF"/>
                </a:solidFill>
                <a:latin typeface="微软雅黑" panose="020B0503020204020204" pitchFamily="34" charset="-122"/>
                <a:ea typeface="微软雅黑" panose="020B0503020204020204" pitchFamily="34" charset="-122"/>
              </a:rPr>
              <a:t>protection_violation_fault </a:t>
            </a:r>
            <a:r>
              <a:rPr lang="zh-CN" altLang="en-US" sz="2000" b="1">
                <a:solidFill>
                  <a:srgbClr val="0000FF"/>
                </a:solidFill>
                <a:latin typeface="微软雅黑" panose="020B0503020204020204" pitchFamily="34" charset="-122"/>
                <a:ea typeface="微软雅黑" panose="020B0503020204020204" pitchFamily="34" charset="-122"/>
              </a:rPr>
              <a:t>）或访问违例</a:t>
            </a:r>
          </a:p>
          <a:p>
            <a:pPr>
              <a:lnSpc>
                <a:spcPct val="115000"/>
              </a:lnSpc>
              <a:spcBef>
                <a:spcPct val="15000"/>
              </a:spcBef>
            </a:pPr>
            <a:r>
              <a:rPr lang="en-US" altLang="zh-CN" sz="2000" b="1">
                <a:solidFill>
                  <a:srgbClr val="CC0000"/>
                </a:solidFill>
                <a:latin typeface="微软雅黑" panose="020B0503020204020204" pitchFamily="34" charset="-122"/>
                <a:ea typeface="微软雅黑" panose="020B0503020204020204" pitchFamily="34" charset="-122"/>
              </a:rPr>
              <a:t>      </a:t>
            </a:r>
            <a:r>
              <a:rPr lang="zh-CN" altLang="en-US" sz="2000" b="1">
                <a:solidFill>
                  <a:srgbClr val="CC0000"/>
                </a:solidFill>
                <a:latin typeface="微软雅黑" panose="020B0503020204020204" pitchFamily="34" charset="-122"/>
                <a:ea typeface="微软雅黑" panose="020B0503020204020204" pitchFamily="34" charset="-122"/>
              </a:rPr>
              <a:t>产生条件： </a:t>
            </a:r>
            <a:r>
              <a:rPr lang="zh-CN" altLang="en-US" sz="2000" b="1">
                <a:solidFill>
                  <a:srgbClr val="006600"/>
                </a:solidFill>
                <a:latin typeface="微软雅黑" panose="020B0503020204020204" pitchFamily="34" charset="-122"/>
                <a:ea typeface="微软雅黑" panose="020B0503020204020204" pitchFamily="34" charset="-122"/>
              </a:rPr>
              <a:t>当</a:t>
            </a:r>
            <a:r>
              <a:rPr lang="en-US" altLang="zh-CN" sz="2000" b="1">
                <a:solidFill>
                  <a:srgbClr val="006600"/>
                </a:solidFill>
                <a:latin typeface="微软雅黑" panose="020B0503020204020204" pitchFamily="34" charset="-122"/>
                <a:ea typeface="微软雅黑" panose="020B0503020204020204" pitchFamily="34" charset="-122"/>
              </a:rPr>
              <a:t>Access Rights (</a:t>
            </a:r>
            <a:r>
              <a:rPr lang="zh-CN" altLang="en-US" sz="2000" b="1">
                <a:solidFill>
                  <a:srgbClr val="006600"/>
                </a:solidFill>
                <a:latin typeface="微软雅黑" panose="020B0503020204020204" pitchFamily="34" charset="-122"/>
                <a:ea typeface="微软雅黑" panose="020B0503020204020204" pitchFamily="34" charset="-122"/>
              </a:rPr>
              <a:t>存取权限</a:t>
            </a:r>
            <a:r>
              <a:rPr lang="en-US" altLang="zh-CN" sz="2000" b="1">
                <a:solidFill>
                  <a:srgbClr val="006600"/>
                </a:solidFill>
                <a:latin typeface="微软雅黑" panose="020B0503020204020204" pitchFamily="34" charset="-122"/>
                <a:ea typeface="微软雅黑" panose="020B0503020204020204" pitchFamily="34" charset="-122"/>
              </a:rPr>
              <a:t>)</a:t>
            </a:r>
            <a:r>
              <a:rPr lang="zh-CN" altLang="en-US" sz="2000" b="1">
                <a:solidFill>
                  <a:srgbClr val="006600"/>
                </a:solidFill>
                <a:latin typeface="微软雅黑" panose="020B0503020204020204" pitchFamily="34" charset="-122"/>
                <a:ea typeface="微软雅黑" panose="020B0503020204020204" pitchFamily="34" charset="-122"/>
              </a:rPr>
              <a:t>与所指定的具体操作不相符时</a:t>
            </a:r>
          </a:p>
          <a:p>
            <a:pPr>
              <a:lnSpc>
                <a:spcPct val="115000"/>
              </a:lnSpc>
              <a:spcBef>
                <a:spcPct val="15000"/>
              </a:spcBef>
            </a:pPr>
            <a:r>
              <a:rPr lang="zh-CN" altLang="en-US" sz="2000" b="1">
                <a:solidFill>
                  <a:srgbClr val="0000FF"/>
                </a:solidFill>
                <a:latin typeface="微软雅黑" panose="020B0503020204020204" pitchFamily="34" charset="-122"/>
                <a:ea typeface="微软雅黑" panose="020B0503020204020204" pitchFamily="34" charset="-122"/>
              </a:rPr>
              <a:t>      </a:t>
            </a:r>
            <a:r>
              <a:rPr lang="zh-CN" altLang="en-US" sz="2000" b="1">
                <a:solidFill>
                  <a:srgbClr val="CC0000"/>
                </a:solidFill>
                <a:latin typeface="微软雅黑" panose="020B0503020204020204" pitchFamily="34" charset="-122"/>
                <a:ea typeface="微软雅黑" panose="020B0503020204020204" pitchFamily="34" charset="-122"/>
              </a:rPr>
              <a:t>相应处理：</a:t>
            </a:r>
            <a:r>
              <a:rPr lang="zh-CN" altLang="en-US" sz="2000" b="1">
                <a:solidFill>
                  <a:srgbClr val="006600"/>
                </a:solidFill>
                <a:latin typeface="微软雅黑" panose="020B0503020204020204" pitchFamily="34" charset="-122"/>
                <a:ea typeface="微软雅黑" panose="020B0503020204020204" pitchFamily="34" charset="-122"/>
              </a:rPr>
              <a:t>在屏幕上显示“内存保护错”或“访问违例”信息</a:t>
            </a:r>
            <a:endParaRPr lang="zh-CN" altLang="en-US" sz="2000" b="1">
              <a:solidFill>
                <a:srgbClr val="0000FF"/>
              </a:solidFill>
              <a:latin typeface="微软雅黑" panose="020B0503020204020204" pitchFamily="34" charset="-122"/>
              <a:ea typeface="微软雅黑" panose="020B0503020204020204" pitchFamily="34" charset="-122"/>
            </a:endParaRPr>
          </a:p>
          <a:p>
            <a:pPr>
              <a:lnSpc>
                <a:spcPct val="115000"/>
              </a:lnSpc>
              <a:spcBef>
                <a:spcPct val="15000"/>
              </a:spcBef>
            </a:pPr>
            <a:r>
              <a:rPr lang="zh-CN" altLang="en-US" sz="2000" b="1">
                <a:solidFill>
                  <a:srgbClr val="0000FF"/>
                </a:solidFill>
                <a:latin typeface="微软雅黑" panose="020B0503020204020204" pitchFamily="34" charset="-122"/>
                <a:ea typeface="微软雅黑" panose="020B0503020204020204" pitchFamily="34" charset="-122"/>
              </a:rPr>
              <a:t>      </a:t>
            </a:r>
            <a:r>
              <a:rPr lang="zh-CN" altLang="en-US" sz="2000" b="1">
                <a:latin typeface="微软雅黑" panose="020B0503020204020204" pitchFamily="34" charset="-122"/>
                <a:ea typeface="微软雅黑" panose="020B0503020204020204" pitchFamily="34" charset="-122"/>
              </a:rPr>
              <a:t>当前指令的执行被阻塞，当前进程被终止</a:t>
            </a:r>
          </a:p>
          <a:p>
            <a:pPr>
              <a:lnSpc>
                <a:spcPct val="115000"/>
              </a:lnSpc>
              <a:spcBef>
                <a:spcPct val="15000"/>
              </a:spcBef>
            </a:pPr>
            <a:r>
              <a:rPr lang="en-US" altLang="zh-CN" sz="2000" b="1">
                <a:solidFill>
                  <a:srgbClr val="006600"/>
                </a:solidFill>
                <a:latin typeface="微软雅黑" panose="020B0503020204020204" pitchFamily="34" charset="-122"/>
                <a:ea typeface="微软雅黑" panose="020B0503020204020204" pitchFamily="34" charset="-122"/>
              </a:rPr>
              <a:t>      </a:t>
            </a:r>
            <a:r>
              <a:rPr lang="en-US" altLang="zh-CN" sz="2000" b="1">
                <a:solidFill>
                  <a:srgbClr val="0000FF"/>
                </a:solidFill>
                <a:latin typeface="微软雅黑" panose="020B0503020204020204" pitchFamily="34" charset="-122"/>
                <a:ea typeface="微软雅黑" panose="020B0503020204020204" pitchFamily="34" charset="-122"/>
              </a:rPr>
              <a:t>     Access Rights (</a:t>
            </a:r>
            <a:r>
              <a:rPr lang="zh-CN" altLang="en-US" sz="2000" b="1">
                <a:solidFill>
                  <a:srgbClr val="0000FF"/>
                </a:solidFill>
                <a:latin typeface="微软雅黑" panose="020B0503020204020204" pitchFamily="34" charset="-122"/>
                <a:ea typeface="微软雅黑" panose="020B0503020204020204" pitchFamily="34" charset="-122"/>
              </a:rPr>
              <a:t>存取权限</a:t>
            </a:r>
            <a:r>
              <a:rPr lang="en-US" altLang="zh-CN" sz="2000" b="1">
                <a:solidFill>
                  <a:srgbClr val="0000FF"/>
                </a:solidFill>
                <a:latin typeface="微软雅黑" panose="020B0503020204020204" pitchFamily="34" charset="-122"/>
                <a:ea typeface="微软雅黑" panose="020B0503020204020204" pitchFamily="34" charset="-122"/>
              </a:rPr>
              <a:t>)</a:t>
            </a:r>
            <a:r>
              <a:rPr lang="zh-CN" altLang="en-US" sz="2000" b="1">
                <a:solidFill>
                  <a:srgbClr val="0000FF"/>
                </a:solidFill>
                <a:latin typeface="微软雅黑" panose="020B0503020204020204" pitchFamily="34" charset="-122"/>
                <a:ea typeface="微软雅黑" panose="020B0503020204020204" pitchFamily="34" charset="-122"/>
              </a:rPr>
              <a:t>可能的取值有哪些？</a:t>
            </a:r>
          </a:p>
          <a:p>
            <a:pPr>
              <a:lnSpc>
                <a:spcPct val="115000"/>
              </a:lnSpc>
              <a:spcBef>
                <a:spcPct val="15000"/>
              </a:spcBef>
            </a:pPr>
            <a:r>
              <a:rPr lang="en-US" altLang="zh-CN" sz="2000" b="1">
                <a:solidFill>
                  <a:srgbClr val="0000FF"/>
                </a:solidFill>
                <a:latin typeface="微软雅黑" panose="020B0503020204020204" pitchFamily="34" charset="-122"/>
                <a:ea typeface="微软雅黑" panose="020B0503020204020204" pitchFamily="34" charset="-122"/>
              </a:rPr>
              <a:t>           </a:t>
            </a:r>
            <a:r>
              <a:rPr lang="en-US" altLang="zh-CN" sz="2000" b="1">
                <a:solidFill>
                  <a:schemeClr val="accent1"/>
                </a:solidFill>
                <a:latin typeface="微软雅黑" panose="020B0503020204020204" pitchFamily="34" charset="-122"/>
                <a:ea typeface="微软雅黑" panose="020B0503020204020204" pitchFamily="34" charset="-122"/>
              </a:rPr>
              <a:t>R = Read-only,  R/W = read/write,  X = execute only</a:t>
            </a:r>
          </a:p>
        </p:txBody>
      </p:sp>
      <p:sp>
        <p:nvSpPr>
          <p:cNvPr id="228356" name="Rectangle 5">
            <a:extLst>
              <a:ext uri="{FF2B5EF4-FFF2-40B4-BE49-F238E27FC236}">
                <a16:creationId xmlns:a16="http://schemas.microsoft.com/office/drawing/2014/main" id="{1D76EB51-649A-4047-9636-70A8C9B0284E}"/>
              </a:ext>
            </a:extLst>
          </p:cNvPr>
          <p:cNvSpPr>
            <a:spLocks noChangeArrowheads="1"/>
          </p:cNvSpPr>
          <p:nvPr/>
        </p:nvSpPr>
        <p:spPr bwMode="auto">
          <a:xfrm>
            <a:off x="4953000" y="5910263"/>
            <a:ext cx="127000"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endParaRPr lang="zh-CN" altLang="en-US" sz="1800" b="1">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4051">
                                            <p:txEl>
                                              <p:pRg st="2" end="2"/>
                                            </p:txEl>
                                          </p:spTgt>
                                        </p:tgtEl>
                                        <p:attrNameLst>
                                          <p:attrName>style.visibility</p:attrName>
                                        </p:attrNameLst>
                                      </p:cBhvr>
                                      <p:to>
                                        <p:strVal val="visible"/>
                                      </p:to>
                                    </p:set>
                                    <p:animEffect transition="in" filter="blinds(horizontal)">
                                      <p:cBhvr>
                                        <p:cTn id="7" dur="500"/>
                                        <p:tgtEl>
                                          <p:spTgt spid="51405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4051">
                                            <p:txEl>
                                              <p:pRg st="3" end="3"/>
                                            </p:txEl>
                                          </p:spTgt>
                                        </p:tgtEl>
                                        <p:attrNameLst>
                                          <p:attrName>style.visibility</p:attrName>
                                        </p:attrNameLst>
                                      </p:cBhvr>
                                      <p:to>
                                        <p:strVal val="visible"/>
                                      </p:to>
                                    </p:set>
                                    <p:animEffect transition="in" filter="blinds(horizontal)">
                                      <p:cBhvr>
                                        <p:cTn id="12" dur="500"/>
                                        <p:tgtEl>
                                          <p:spTgt spid="51405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14051">
                                            <p:txEl>
                                              <p:pRg st="4" end="4"/>
                                            </p:txEl>
                                          </p:spTgt>
                                        </p:tgtEl>
                                        <p:attrNameLst>
                                          <p:attrName>style.visibility</p:attrName>
                                        </p:attrNameLst>
                                      </p:cBhvr>
                                      <p:to>
                                        <p:strVal val="visible"/>
                                      </p:to>
                                    </p:set>
                                    <p:animEffect transition="in" filter="blinds(horizontal)">
                                      <p:cBhvr>
                                        <p:cTn id="17" dur="500"/>
                                        <p:tgtEl>
                                          <p:spTgt spid="51405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14051">
                                            <p:txEl>
                                              <p:pRg st="6" end="6"/>
                                            </p:txEl>
                                          </p:spTgt>
                                        </p:tgtEl>
                                        <p:attrNameLst>
                                          <p:attrName>style.visibility</p:attrName>
                                        </p:attrNameLst>
                                      </p:cBhvr>
                                      <p:to>
                                        <p:strVal val="visible"/>
                                      </p:to>
                                    </p:set>
                                    <p:animEffect transition="in" filter="blinds(horizontal)">
                                      <p:cBhvr>
                                        <p:cTn id="22" dur="500"/>
                                        <p:tgtEl>
                                          <p:spTgt spid="514051">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14051">
                                            <p:txEl>
                                              <p:pRg st="7" end="7"/>
                                            </p:txEl>
                                          </p:spTgt>
                                        </p:tgtEl>
                                        <p:attrNameLst>
                                          <p:attrName>style.visibility</p:attrName>
                                        </p:attrNameLst>
                                      </p:cBhvr>
                                      <p:to>
                                        <p:strVal val="visible"/>
                                      </p:to>
                                    </p:set>
                                    <p:animEffect transition="in" filter="blinds(horizontal)">
                                      <p:cBhvr>
                                        <p:cTn id="27" dur="500"/>
                                        <p:tgtEl>
                                          <p:spTgt spid="514051">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14051">
                                            <p:txEl>
                                              <p:pRg st="8" end="8"/>
                                            </p:txEl>
                                          </p:spTgt>
                                        </p:tgtEl>
                                        <p:attrNameLst>
                                          <p:attrName>style.visibility</p:attrName>
                                        </p:attrNameLst>
                                      </p:cBhvr>
                                      <p:to>
                                        <p:strVal val="visible"/>
                                      </p:to>
                                    </p:set>
                                    <p:animEffect transition="in" filter="blinds(horizontal)">
                                      <p:cBhvr>
                                        <p:cTn id="32" dur="500"/>
                                        <p:tgtEl>
                                          <p:spTgt spid="514051">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14051">
                                            <p:txEl>
                                              <p:pRg st="9" end="9"/>
                                            </p:txEl>
                                          </p:spTgt>
                                        </p:tgtEl>
                                        <p:attrNameLst>
                                          <p:attrName>style.visibility</p:attrName>
                                        </p:attrNameLst>
                                      </p:cBhvr>
                                      <p:to>
                                        <p:strVal val="visible"/>
                                      </p:to>
                                    </p:set>
                                    <p:animEffect transition="in" filter="blinds(horizontal)">
                                      <p:cBhvr>
                                        <p:cTn id="37" dur="500"/>
                                        <p:tgtEl>
                                          <p:spTgt spid="514051">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14051">
                                            <p:txEl>
                                              <p:pRg st="10" end="10"/>
                                            </p:txEl>
                                          </p:spTgt>
                                        </p:tgtEl>
                                        <p:attrNameLst>
                                          <p:attrName>style.visibility</p:attrName>
                                        </p:attrNameLst>
                                      </p:cBhvr>
                                      <p:to>
                                        <p:strVal val="visible"/>
                                      </p:to>
                                    </p:set>
                                    <p:animEffect transition="in" filter="blinds(horizontal)">
                                      <p:cBhvr>
                                        <p:cTn id="42" dur="500"/>
                                        <p:tgtEl>
                                          <p:spTgt spid="5140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682" name="Picture 2">
            <a:extLst>
              <a:ext uri="{FF2B5EF4-FFF2-40B4-BE49-F238E27FC236}">
                <a16:creationId xmlns:a16="http://schemas.microsoft.com/office/drawing/2014/main" id="{0D35A885-AA00-984E-BB29-1AC76C9887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 y="3584575"/>
            <a:ext cx="866775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03" name="Rectangle 3">
            <a:extLst>
              <a:ext uri="{FF2B5EF4-FFF2-40B4-BE49-F238E27FC236}">
                <a16:creationId xmlns:a16="http://schemas.microsoft.com/office/drawing/2014/main" id="{535913BD-FAB4-4043-9D87-6419F04F3C78}"/>
              </a:ext>
            </a:extLst>
          </p:cNvPr>
          <p:cNvSpPr>
            <a:spLocks noGrp="1" noChangeArrowheads="1"/>
          </p:cNvSpPr>
          <p:nvPr>
            <p:ph type="title"/>
          </p:nvPr>
        </p:nvSpPr>
        <p:spPr>
          <a:xfrm>
            <a:off x="457200" y="98425"/>
            <a:ext cx="8229600" cy="474663"/>
          </a:xfrm>
        </p:spPr>
        <p:txBody>
          <a:bodyPr/>
          <a:lstStyle/>
          <a:p>
            <a:r>
              <a:rPr lang="zh-CN" altLang="en-US" sz="3200"/>
              <a:t>回顾：用</a:t>
            </a:r>
            <a:r>
              <a:rPr lang="zh-CN" altLang="en-US" sz="3200">
                <a:latin typeface="黑体" panose="02010609060101010101" pitchFamily="49" charset="-122"/>
              </a:rPr>
              <a:t>“</a:t>
            </a:r>
            <a:r>
              <a:rPr lang="zh-CN" altLang="en-US" sz="3200"/>
              <a:t>系统思维</a:t>
            </a:r>
            <a:r>
              <a:rPr lang="zh-CN" altLang="en-US" sz="3200">
                <a:latin typeface="黑体" panose="02010609060101010101" pitchFamily="49" charset="-122"/>
              </a:rPr>
              <a:t>”</a:t>
            </a:r>
            <a:r>
              <a:rPr lang="zh-CN" altLang="en-US" sz="3200"/>
              <a:t>分析问题</a:t>
            </a:r>
          </a:p>
        </p:txBody>
      </p:sp>
      <p:sp>
        <p:nvSpPr>
          <p:cNvPr id="230404" name="Rectangle 4">
            <a:extLst>
              <a:ext uri="{FF2B5EF4-FFF2-40B4-BE49-F238E27FC236}">
                <a16:creationId xmlns:a16="http://schemas.microsoft.com/office/drawing/2014/main" id="{42EF100B-890B-F849-9B96-17C42CFA7E79}"/>
              </a:ext>
            </a:extLst>
          </p:cNvPr>
          <p:cNvSpPr>
            <a:spLocks noGrp="1" noChangeArrowheads="1"/>
          </p:cNvSpPr>
          <p:nvPr>
            <p:ph type="body" idx="1"/>
          </p:nvPr>
        </p:nvSpPr>
        <p:spPr>
          <a:xfrm>
            <a:off x="542925" y="836613"/>
            <a:ext cx="4826000" cy="2395537"/>
          </a:xfrm>
        </p:spPr>
        <p:txBody>
          <a:bodyPr/>
          <a:lstStyle/>
          <a:p>
            <a:pPr>
              <a:buFontTx/>
              <a:buNone/>
            </a:pPr>
            <a:r>
              <a:rPr lang="en-US" altLang="zh-CN" sz="2200">
                <a:latin typeface="微软雅黑" panose="020B0503020204020204" pitchFamily="34" charset="-122"/>
                <a:ea typeface="微软雅黑" panose="020B0503020204020204" pitchFamily="34" charset="-122"/>
              </a:rPr>
              <a:t>int sum(int a[ ], unsigned len)</a:t>
            </a:r>
          </a:p>
          <a:p>
            <a:pPr>
              <a:spcBef>
                <a:spcPct val="0"/>
              </a:spcBef>
              <a:buFontTx/>
              <a:buNone/>
            </a:pPr>
            <a:r>
              <a:rPr lang="en-US" altLang="zh-CN" sz="2200">
                <a:latin typeface="微软雅黑" panose="020B0503020204020204" pitchFamily="34" charset="-122"/>
                <a:ea typeface="微软雅黑" panose="020B0503020204020204" pitchFamily="34" charset="-122"/>
              </a:rPr>
              <a:t>{</a:t>
            </a:r>
          </a:p>
          <a:p>
            <a:pPr>
              <a:spcBef>
                <a:spcPct val="0"/>
              </a:spcBef>
              <a:buFontTx/>
              <a:buNone/>
            </a:pPr>
            <a:r>
              <a:rPr lang="en-US" altLang="zh-CN" sz="2200">
                <a:latin typeface="微软雅黑" panose="020B0503020204020204" pitchFamily="34" charset="-122"/>
                <a:ea typeface="微软雅黑" panose="020B0503020204020204" pitchFamily="34" charset="-122"/>
              </a:rPr>
              <a:t>	int 	i</a:t>
            </a:r>
            <a:r>
              <a:rPr lang="zh-CN" altLang="en-US" sz="2200">
                <a:latin typeface="微软雅黑" panose="020B0503020204020204" pitchFamily="34" charset="-122"/>
                <a:ea typeface="微软雅黑" panose="020B0503020204020204" pitchFamily="34" charset="-122"/>
              </a:rPr>
              <a:t>，</a:t>
            </a:r>
            <a:r>
              <a:rPr lang="en-US" altLang="zh-CN" sz="2200">
                <a:latin typeface="微软雅黑" panose="020B0503020204020204" pitchFamily="34" charset="-122"/>
                <a:ea typeface="微软雅黑" panose="020B0503020204020204" pitchFamily="34" charset="-122"/>
              </a:rPr>
              <a:t>sum = 0;</a:t>
            </a:r>
          </a:p>
          <a:p>
            <a:pPr>
              <a:spcBef>
                <a:spcPct val="0"/>
              </a:spcBef>
              <a:buFontTx/>
              <a:buNone/>
            </a:pPr>
            <a:r>
              <a:rPr lang="en-US" altLang="zh-CN" sz="2200">
                <a:latin typeface="微软雅黑" panose="020B0503020204020204" pitchFamily="34" charset="-122"/>
                <a:ea typeface="微软雅黑" panose="020B0503020204020204" pitchFamily="34" charset="-122"/>
              </a:rPr>
              <a:t>	for	(i = 0; i &lt;= len–1; i++)</a:t>
            </a:r>
          </a:p>
          <a:p>
            <a:pPr>
              <a:spcBef>
                <a:spcPct val="0"/>
              </a:spcBef>
              <a:buFontTx/>
              <a:buNone/>
            </a:pPr>
            <a:r>
              <a:rPr lang="en-US" altLang="zh-CN" sz="2200">
                <a:latin typeface="微软雅黑" panose="020B0503020204020204" pitchFamily="34" charset="-122"/>
                <a:ea typeface="微软雅黑" panose="020B0503020204020204" pitchFamily="34" charset="-122"/>
              </a:rPr>
              <a:t>      	sum += a[i];</a:t>
            </a:r>
          </a:p>
          <a:p>
            <a:pPr>
              <a:spcBef>
                <a:spcPct val="0"/>
              </a:spcBef>
              <a:buFontTx/>
              <a:buNone/>
            </a:pPr>
            <a:r>
              <a:rPr lang="en-US" altLang="zh-CN" sz="2200">
                <a:latin typeface="微软雅黑" panose="020B0503020204020204" pitchFamily="34" charset="-122"/>
                <a:ea typeface="微软雅黑" panose="020B0503020204020204" pitchFamily="34" charset="-122"/>
              </a:rPr>
              <a:t>	return sum;</a:t>
            </a:r>
          </a:p>
          <a:p>
            <a:pPr>
              <a:spcBef>
                <a:spcPct val="0"/>
              </a:spcBef>
              <a:buFontTx/>
              <a:buNone/>
            </a:pPr>
            <a:r>
              <a:rPr lang="en-US" altLang="zh-CN" sz="2200">
                <a:latin typeface="微软雅黑" panose="020B0503020204020204" pitchFamily="34" charset="-122"/>
                <a:ea typeface="微软雅黑" panose="020B0503020204020204" pitchFamily="34" charset="-122"/>
              </a:rPr>
              <a:t>}</a:t>
            </a:r>
            <a:endParaRPr lang="zh-CN" altLang="en-US" sz="2200">
              <a:latin typeface="微软雅黑" panose="020B0503020204020204" pitchFamily="34" charset="-122"/>
              <a:ea typeface="微软雅黑" panose="020B0503020204020204" pitchFamily="34" charset="-122"/>
            </a:endParaRPr>
          </a:p>
        </p:txBody>
      </p:sp>
      <p:sp>
        <p:nvSpPr>
          <p:cNvPr id="230405" name="Rectangle 5">
            <a:extLst>
              <a:ext uri="{FF2B5EF4-FFF2-40B4-BE49-F238E27FC236}">
                <a16:creationId xmlns:a16="http://schemas.microsoft.com/office/drawing/2014/main" id="{5EE080DC-95B4-654C-8686-7C7F6ACF7F15}"/>
              </a:ext>
            </a:extLst>
          </p:cNvPr>
          <p:cNvSpPr>
            <a:spLocks noChangeArrowheads="1"/>
          </p:cNvSpPr>
          <p:nvPr/>
        </p:nvSpPr>
        <p:spPr bwMode="auto">
          <a:xfrm>
            <a:off x="5876925" y="728663"/>
            <a:ext cx="3195638" cy="2147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35000"/>
              </a:lnSpc>
              <a:spcBef>
                <a:spcPct val="35000"/>
              </a:spcBef>
            </a:pPr>
            <a:r>
              <a:rPr lang="zh-CN" altLang="en-US" sz="2000" b="1">
                <a:solidFill>
                  <a:schemeClr val="accent2"/>
                </a:solidFill>
                <a:latin typeface="微软雅黑" panose="020B0503020204020204" pitchFamily="34" charset="-122"/>
                <a:ea typeface="微软雅黑" panose="020B0503020204020204" pitchFamily="34" charset="-122"/>
              </a:rPr>
              <a:t>当参数</a:t>
            </a:r>
            <a:r>
              <a:rPr lang="en-US" altLang="zh-CN" sz="2000" b="1">
                <a:solidFill>
                  <a:schemeClr val="accent2"/>
                </a:solidFill>
                <a:latin typeface="微软雅黑" panose="020B0503020204020204" pitchFamily="34" charset="-122"/>
                <a:ea typeface="微软雅黑" panose="020B0503020204020204" pitchFamily="34" charset="-122"/>
              </a:rPr>
              <a:t>len</a:t>
            </a:r>
            <a:r>
              <a:rPr lang="zh-CN" altLang="en-US" sz="2000" b="1">
                <a:solidFill>
                  <a:schemeClr val="accent2"/>
                </a:solidFill>
                <a:latin typeface="微软雅黑" panose="020B0503020204020204" pitchFamily="34" charset="-122"/>
                <a:ea typeface="微软雅黑" panose="020B0503020204020204" pitchFamily="34" charset="-122"/>
              </a:rPr>
              <a:t>为</a:t>
            </a:r>
            <a:r>
              <a:rPr lang="en-US" altLang="zh-CN" sz="2000" b="1">
                <a:solidFill>
                  <a:schemeClr val="accent2"/>
                </a:solidFill>
                <a:latin typeface="微软雅黑" panose="020B0503020204020204" pitchFamily="34" charset="-122"/>
                <a:ea typeface="微软雅黑" panose="020B0503020204020204" pitchFamily="34" charset="-122"/>
              </a:rPr>
              <a:t>0</a:t>
            </a:r>
            <a:r>
              <a:rPr lang="zh-CN" altLang="en-US" sz="2000" b="1">
                <a:solidFill>
                  <a:schemeClr val="accent2"/>
                </a:solidFill>
                <a:latin typeface="微软雅黑" panose="020B0503020204020204" pitchFamily="34" charset="-122"/>
                <a:ea typeface="微软雅黑" panose="020B0503020204020204" pitchFamily="34" charset="-122"/>
              </a:rPr>
              <a:t>时，返回值应该是</a:t>
            </a:r>
            <a:r>
              <a:rPr lang="en-US" altLang="zh-CN" sz="2000" b="1">
                <a:solidFill>
                  <a:schemeClr val="accent2"/>
                </a:solidFill>
                <a:latin typeface="微软雅黑" panose="020B0503020204020204" pitchFamily="34" charset="-122"/>
                <a:ea typeface="微软雅黑" panose="020B0503020204020204" pitchFamily="34" charset="-122"/>
              </a:rPr>
              <a:t>0</a:t>
            </a:r>
            <a:r>
              <a:rPr lang="zh-CN" altLang="en-US" sz="2000" b="1">
                <a:solidFill>
                  <a:schemeClr val="accent2"/>
                </a:solidFill>
                <a:latin typeface="微软雅黑" panose="020B0503020204020204" pitchFamily="34" charset="-122"/>
                <a:ea typeface="微软雅黑" panose="020B0503020204020204" pitchFamily="34" charset="-122"/>
              </a:rPr>
              <a:t>，但是在机器上执行时，却发生访存异常。但当</a:t>
            </a:r>
            <a:r>
              <a:rPr lang="en-US" altLang="zh-CN" sz="2000" b="1">
                <a:solidFill>
                  <a:schemeClr val="accent2"/>
                </a:solidFill>
                <a:latin typeface="微软雅黑" panose="020B0503020204020204" pitchFamily="34" charset="-122"/>
                <a:ea typeface="微软雅黑" panose="020B0503020204020204" pitchFamily="34" charset="-122"/>
              </a:rPr>
              <a:t>len</a:t>
            </a:r>
            <a:r>
              <a:rPr lang="zh-CN" altLang="en-US" sz="2000" b="1">
                <a:solidFill>
                  <a:schemeClr val="accent2"/>
                </a:solidFill>
                <a:latin typeface="微软雅黑" panose="020B0503020204020204" pitchFamily="34" charset="-122"/>
                <a:ea typeface="微软雅黑" panose="020B0503020204020204" pitchFamily="34" charset="-122"/>
              </a:rPr>
              <a:t>为</a:t>
            </a:r>
            <a:r>
              <a:rPr lang="en-US" altLang="zh-CN" sz="2000" b="1">
                <a:solidFill>
                  <a:schemeClr val="accent2"/>
                </a:solidFill>
                <a:latin typeface="微软雅黑" panose="020B0503020204020204" pitchFamily="34" charset="-122"/>
                <a:ea typeface="微软雅黑" panose="020B0503020204020204" pitchFamily="34" charset="-122"/>
              </a:rPr>
              <a:t>int</a:t>
            </a:r>
            <a:r>
              <a:rPr lang="zh-CN" altLang="en-US" sz="2000" b="1">
                <a:solidFill>
                  <a:schemeClr val="accent2"/>
                </a:solidFill>
                <a:latin typeface="微软雅黑" panose="020B0503020204020204" pitchFamily="34" charset="-122"/>
                <a:ea typeface="微软雅黑" panose="020B0503020204020204" pitchFamily="34" charset="-122"/>
              </a:rPr>
              <a:t>型时则正常</a:t>
            </a:r>
            <a:r>
              <a:rPr lang="en-US" altLang="zh-CN" sz="2000" b="1">
                <a:solidFill>
                  <a:srgbClr val="FF0000"/>
                </a:solidFill>
                <a:latin typeface="微软雅黑" panose="020B0503020204020204" pitchFamily="34" charset="-122"/>
                <a:ea typeface="微软雅黑" panose="020B0503020204020204" pitchFamily="34" charset="-122"/>
              </a:rPr>
              <a:t>Why?</a:t>
            </a:r>
          </a:p>
        </p:txBody>
      </p:sp>
      <p:sp>
        <p:nvSpPr>
          <p:cNvPr id="839688" name="Text Box 8">
            <a:extLst>
              <a:ext uri="{FF2B5EF4-FFF2-40B4-BE49-F238E27FC236}">
                <a16:creationId xmlns:a16="http://schemas.microsoft.com/office/drawing/2014/main" id="{016233EA-3D8E-574B-993B-6F4044584CE8}"/>
              </a:ext>
            </a:extLst>
          </p:cNvPr>
          <p:cNvSpPr txBox="1">
            <a:spLocks noChangeArrowheads="1"/>
          </p:cNvSpPr>
          <p:nvPr/>
        </p:nvSpPr>
        <p:spPr bwMode="auto">
          <a:xfrm>
            <a:off x="3484563" y="5122863"/>
            <a:ext cx="4702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solidFill>
                  <a:srgbClr val="A50021"/>
                </a:solidFill>
                <a:latin typeface="微软雅黑" panose="020B0503020204020204" pitchFamily="34" charset="-122"/>
                <a:ea typeface="微软雅黑" panose="020B0503020204020204" pitchFamily="34" charset="-122"/>
              </a:rPr>
              <a:t>访问违例，</a:t>
            </a:r>
            <a:r>
              <a:rPr lang="en-US" altLang="zh-CN" sz="2000" b="1">
                <a:solidFill>
                  <a:srgbClr val="A50021"/>
                </a:solidFill>
                <a:latin typeface="微软雅黑" panose="020B0503020204020204" pitchFamily="34" charset="-122"/>
                <a:ea typeface="微软雅黑" panose="020B0503020204020204" pitchFamily="34" charset="-122"/>
              </a:rPr>
              <a:t>0xC0000005</a:t>
            </a:r>
            <a:r>
              <a:rPr lang="zh-CN" altLang="en-US" sz="2000" b="1">
                <a:solidFill>
                  <a:srgbClr val="A50021"/>
                </a:solidFill>
                <a:latin typeface="微软雅黑" panose="020B0503020204020204" pitchFamily="34" charset="-122"/>
                <a:ea typeface="微软雅黑" panose="020B0503020204020204" pitchFamily="34" charset="-122"/>
              </a:rPr>
              <a:t>是异常</a:t>
            </a:r>
            <a:r>
              <a:rPr lang="en-US" altLang="zh-CN" sz="2000" b="1">
                <a:solidFill>
                  <a:srgbClr val="A50021"/>
                </a:solidFill>
                <a:latin typeface="微软雅黑" panose="020B0503020204020204" pitchFamily="34" charset="-122"/>
                <a:ea typeface="微软雅黑" panose="020B0503020204020204" pitchFamily="34" charset="-122"/>
              </a:rPr>
              <a:t>ID</a:t>
            </a:r>
          </a:p>
        </p:txBody>
      </p:sp>
      <p:sp>
        <p:nvSpPr>
          <p:cNvPr id="839689" name="Text Box 9">
            <a:extLst>
              <a:ext uri="{FF2B5EF4-FFF2-40B4-BE49-F238E27FC236}">
                <a16:creationId xmlns:a16="http://schemas.microsoft.com/office/drawing/2014/main" id="{542C719B-96E3-0F4D-A23B-34C3271B5788}"/>
              </a:ext>
            </a:extLst>
          </p:cNvPr>
          <p:cNvSpPr txBox="1">
            <a:spLocks noChangeArrowheads="1"/>
          </p:cNvSpPr>
          <p:nvPr/>
        </p:nvSpPr>
        <p:spPr bwMode="auto">
          <a:xfrm>
            <a:off x="581025" y="5761038"/>
            <a:ext cx="49641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en-US" altLang="zh-CN" sz="2000" b="1">
                <a:solidFill>
                  <a:srgbClr val="D10F0F"/>
                </a:solidFill>
                <a:latin typeface="微软雅黑" panose="020B0503020204020204" pitchFamily="34" charset="-122"/>
                <a:ea typeface="微软雅黑" panose="020B0503020204020204" pitchFamily="34" charset="-122"/>
              </a:rPr>
              <a:t>Linux</a:t>
            </a:r>
            <a:r>
              <a:rPr lang="zh-CN" altLang="en-US" sz="2000" b="1">
                <a:solidFill>
                  <a:srgbClr val="D10F0F"/>
                </a:solidFill>
                <a:latin typeface="微软雅黑" panose="020B0503020204020204" pitchFamily="34" charset="-122"/>
                <a:ea typeface="微软雅黑" panose="020B0503020204020204" pitchFamily="34" charset="-122"/>
              </a:rPr>
              <a:t>下显示为“</a:t>
            </a:r>
            <a:r>
              <a:rPr lang="en-US" altLang="zh-CN" sz="2000" b="1">
                <a:solidFill>
                  <a:srgbClr val="D10F0F"/>
                </a:solidFill>
                <a:latin typeface="微软雅黑" panose="020B0503020204020204" pitchFamily="34" charset="-122"/>
                <a:ea typeface="微软雅黑" panose="020B0503020204020204" pitchFamily="34" charset="-122"/>
              </a:rPr>
              <a:t>Segment fault”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9682"/>
                                        </p:tgtEl>
                                        <p:attrNameLst>
                                          <p:attrName>style.visibility</p:attrName>
                                        </p:attrNameLst>
                                      </p:cBhvr>
                                      <p:to>
                                        <p:strVal val="visible"/>
                                      </p:to>
                                    </p:set>
                                    <p:animEffect transition="in" filter="blinds(horizontal)">
                                      <p:cBhvr>
                                        <p:cTn id="7" dur="500"/>
                                        <p:tgtEl>
                                          <p:spTgt spid="839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39688"/>
                                        </p:tgtEl>
                                        <p:attrNameLst>
                                          <p:attrName>style.visibility</p:attrName>
                                        </p:attrNameLst>
                                      </p:cBhvr>
                                      <p:to>
                                        <p:strVal val="visible"/>
                                      </p:to>
                                    </p:set>
                                    <p:animEffect transition="in" filter="blinds(horizontal)">
                                      <p:cBhvr>
                                        <p:cTn id="12" dur="500"/>
                                        <p:tgtEl>
                                          <p:spTgt spid="8396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39689"/>
                                        </p:tgtEl>
                                        <p:attrNameLst>
                                          <p:attrName>style.visibility</p:attrName>
                                        </p:attrNameLst>
                                      </p:cBhvr>
                                      <p:to>
                                        <p:strVal val="visible"/>
                                      </p:to>
                                    </p:set>
                                    <p:animEffect transition="in" filter="blinds(horizontal)">
                                      <p:cBhvr>
                                        <p:cTn id="17" dur="500"/>
                                        <p:tgtEl>
                                          <p:spTgt spid="839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88" grpId="0"/>
      <p:bldP spid="839689"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31426" name="Group 7">
            <a:extLst>
              <a:ext uri="{FF2B5EF4-FFF2-40B4-BE49-F238E27FC236}">
                <a16:creationId xmlns:a16="http://schemas.microsoft.com/office/drawing/2014/main" id="{D91E70BD-09E6-AA4D-8866-4439286FC6BA}"/>
              </a:ext>
            </a:extLst>
          </p:cNvPr>
          <p:cNvGrpSpPr>
            <a:grpSpLocks/>
          </p:cNvGrpSpPr>
          <p:nvPr/>
        </p:nvGrpSpPr>
        <p:grpSpPr bwMode="auto">
          <a:xfrm>
            <a:off x="42863" y="188913"/>
            <a:ext cx="5630862" cy="6669087"/>
            <a:chOff x="2035" y="576"/>
            <a:chExt cx="3547" cy="3720"/>
          </a:xfrm>
        </p:grpSpPr>
        <p:sp>
          <p:nvSpPr>
            <p:cNvPr id="231445" name="Text Box 25">
              <a:extLst>
                <a:ext uri="{FF2B5EF4-FFF2-40B4-BE49-F238E27FC236}">
                  <a16:creationId xmlns:a16="http://schemas.microsoft.com/office/drawing/2014/main" id="{2B23A825-8478-BC41-B8BD-C20766D4B4E6}"/>
                </a:ext>
              </a:extLst>
            </p:cNvPr>
            <p:cNvSpPr txBox="1">
              <a:spLocks noChangeArrowheads="1"/>
            </p:cNvSpPr>
            <p:nvPr/>
          </p:nvSpPr>
          <p:spPr bwMode="auto">
            <a:xfrm>
              <a:off x="4990" y="1165"/>
              <a:ext cx="59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800" b="1">
                  <a:latin typeface="微软雅黑" panose="020B0503020204020204" pitchFamily="34" charset="-122"/>
                  <a:ea typeface="微软雅黑" panose="020B0503020204020204" pitchFamily="34" charset="-122"/>
                  <a:cs typeface="msgothic"/>
                </a:rPr>
                <a:t>%esp </a:t>
              </a:r>
            </a:p>
            <a:p>
              <a:pPr>
                <a:lnSpc>
                  <a:spcPct val="98000"/>
                </a:lnSpc>
              </a:pPr>
              <a:r>
                <a:rPr lang="en-GB" altLang="zh-CN" sz="1800" b="1">
                  <a:latin typeface="微软雅黑" panose="020B0503020204020204" pitchFamily="34" charset="-122"/>
                  <a:ea typeface="微软雅黑" panose="020B0503020204020204" pitchFamily="34" charset="-122"/>
                  <a:cs typeface="msgothic"/>
                </a:rPr>
                <a:t>(</a:t>
              </a:r>
              <a:r>
                <a:rPr lang="zh-CN" altLang="en-GB" sz="1800" b="1">
                  <a:latin typeface="微软雅黑" panose="020B0503020204020204" pitchFamily="34" charset="-122"/>
                  <a:ea typeface="微软雅黑" panose="020B0503020204020204" pitchFamily="34" charset="-122"/>
                  <a:cs typeface="msgothic"/>
                </a:rPr>
                <a:t>栈顶</a:t>
              </a:r>
              <a:r>
                <a:rPr lang="en-GB" altLang="zh-CN" sz="1800" b="1">
                  <a:latin typeface="微软雅黑" panose="020B0503020204020204" pitchFamily="34" charset="-122"/>
                  <a:ea typeface="微软雅黑" panose="020B0503020204020204" pitchFamily="34" charset="-122"/>
                  <a:cs typeface="msgothic"/>
                </a:rPr>
                <a:t>)</a:t>
              </a:r>
            </a:p>
          </p:txBody>
        </p:sp>
        <p:sp>
          <p:nvSpPr>
            <p:cNvPr id="231446" name="Line 26">
              <a:extLst>
                <a:ext uri="{FF2B5EF4-FFF2-40B4-BE49-F238E27FC236}">
                  <a16:creationId xmlns:a16="http://schemas.microsoft.com/office/drawing/2014/main" id="{F360F0BA-3100-7447-A890-E673597F0BC0}"/>
                </a:ext>
              </a:extLst>
            </p:cNvPr>
            <p:cNvSpPr>
              <a:spLocks noChangeShapeType="1"/>
            </p:cNvSpPr>
            <p:nvPr/>
          </p:nvSpPr>
          <p:spPr bwMode="auto">
            <a:xfrm flipH="1">
              <a:off x="4751" y="1271"/>
              <a:ext cx="242" cy="1"/>
            </a:xfrm>
            <a:prstGeom prst="line">
              <a:avLst/>
            </a:prstGeom>
            <a:noFill/>
            <a:ln w="3240">
              <a:solidFill>
                <a:srgbClr val="000066"/>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1447" name="Line 28">
              <a:extLst>
                <a:ext uri="{FF2B5EF4-FFF2-40B4-BE49-F238E27FC236}">
                  <a16:creationId xmlns:a16="http://schemas.microsoft.com/office/drawing/2014/main" id="{6ACB8455-C6BA-E749-B3E3-B5EC2FD00C1D}"/>
                </a:ext>
              </a:extLst>
            </p:cNvPr>
            <p:cNvSpPr>
              <a:spLocks noChangeShapeType="1"/>
            </p:cNvSpPr>
            <p:nvPr/>
          </p:nvSpPr>
          <p:spPr bwMode="auto">
            <a:xfrm flipV="1">
              <a:off x="4797" y="576"/>
              <a:ext cx="1" cy="290"/>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1448" name="Text Box 29">
              <a:extLst>
                <a:ext uri="{FF2B5EF4-FFF2-40B4-BE49-F238E27FC236}">
                  <a16:creationId xmlns:a16="http://schemas.microsoft.com/office/drawing/2014/main" id="{96B3CD9F-A855-CA43-BBA9-C2FD36E90E84}"/>
                </a:ext>
              </a:extLst>
            </p:cNvPr>
            <p:cNvSpPr txBox="1">
              <a:spLocks noChangeArrowheads="1"/>
            </p:cNvSpPr>
            <p:nvPr/>
          </p:nvSpPr>
          <p:spPr bwMode="auto">
            <a:xfrm>
              <a:off x="5005" y="2566"/>
              <a:ext cx="370"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900" b="1">
                  <a:latin typeface="微软雅黑" panose="020B0503020204020204" pitchFamily="34" charset="-122"/>
                  <a:ea typeface="微软雅黑" panose="020B0503020204020204" pitchFamily="34" charset="-122"/>
                  <a:cs typeface="msgothic"/>
                </a:rPr>
                <a:t>brk</a:t>
              </a:r>
            </a:p>
          </p:txBody>
        </p:sp>
        <p:sp>
          <p:nvSpPr>
            <p:cNvPr id="231449" name="Line 30">
              <a:extLst>
                <a:ext uri="{FF2B5EF4-FFF2-40B4-BE49-F238E27FC236}">
                  <a16:creationId xmlns:a16="http://schemas.microsoft.com/office/drawing/2014/main" id="{A368C4C9-C221-614D-B29F-443DF4798E10}"/>
                </a:ext>
              </a:extLst>
            </p:cNvPr>
            <p:cNvSpPr>
              <a:spLocks noChangeShapeType="1"/>
            </p:cNvSpPr>
            <p:nvPr/>
          </p:nvSpPr>
          <p:spPr bwMode="auto">
            <a:xfrm flipH="1">
              <a:off x="4763" y="2671"/>
              <a:ext cx="242" cy="1"/>
            </a:xfrm>
            <a:prstGeom prst="line">
              <a:avLst/>
            </a:prstGeom>
            <a:noFill/>
            <a:ln w="3240">
              <a:solidFill>
                <a:srgbClr val="000066"/>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1450" name="Text Box 31">
              <a:extLst>
                <a:ext uri="{FF2B5EF4-FFF2-40B4-BE49-F238E27FC236}">
                  <a16:creationId xmlns:a16="http://schemas.microsoft.com/office/drawing/2014/main" id="{734E9EB2-7AF8-534D-BB9F-AEA1B931A98B}"/>
                </a:ext>
              </a:extLst>
            </p:cNvPr>
            <p:cNvSpPr txBox="1">
              <a:spLocks noChangeArrowheads="1"/>
            </p:cNvSpPr>
            <p:nvPr/>
          </p:nvSpPr>
          <p:spPr bwMode="auto">
            <a:xfrm>
              <a:off x="2035" y="750"/>
              <a:ext cx="86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500" b="1">
                  <a:latin typeface="微软雅黑" panose="020B0503020204020204" pitchFamily="34" charset="-122"/>
                  <a:ea typeface="微软雅黑" panose="020B0503020204020204" pitchFamily="34" charset="-122"/>
                  <a:cs typeface="msgothic"/>
                </a:rPr>
                <a:t>0xC0000000</a:t>
              </a:r>
            </a:p>
          </p:txBody>
        </p:sp>
        <p:sp>
          <p:nvSpPr>
            <p:cNvPr id="231451" name="Text Box 32">
              <a:extLst>
                <a:ext uri="{FF2B5EF4-FFF2-40B4-BE49-F238E27FC236}">
                  <a16:creationId xmlns:a16="http://schemas.microsoft.com/office/drawing/2014/main" id="{0FAE75D4-A884-1440-8CB8-0800A6BC059F}"/>
                </a:ext>
              </a:extLst>
            </p:cNvPr>
            <p:cNvSpPr txBox="1">
              <a:spLocks noChangeArrowheads="1"/>
            </p:cNvSpPr>
            <p:nvPr/>
          </p:nvSpPr>
          <p:spPr bwMode="auto">
            <a:xfrm>
              <a:off x="2083" y="3799"/>
              <a:ext cx="850"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4000"/>
                </a:lnSpc>
              </a:pPr>
              <a:r>
                <a:rPr lang="en-GB" altLang="zh-CN" sz="1500" b="1">
                  <a:latin typeface="微软雅黑" panose="020B0503020204020204" pitchFamily="34" charset="-122"/>
                  <a:ea typeface="微软雅黑" panose="020B0503020204020204" pitchFamily="34" charset="-122"/>
                  <a:cs typeface="msgothic"/>
                </a:rPr>
                <a:t>0x08048000</a:t>
              </a:r>
            </a:p>
          </p:txBody>
        </p:sp>
        <p:grpSp>
          <p:nvGrpSpPr>
            <p:cNvPr id="231452" name="Group 15">
              <a:extLst>
                <a:ext uri="{FF2B5EF4-FFF2-40B4-BE49-F238E27FC236}">
                  <a16:creationId xmlns:a16="http://schemas.microsoft.com/office/drawing/2014/main" id="{99E3FCFF-304E-D04D-948B-0D5C214F6541}"/>
                </a:ext>
              </a:extLst>
            </p:cNvPr>
            <p:cNvGrpSpPr>
              <a:grpSpLocks/>
            </p:cNvGrpSpPr>
            <p:nvPr/>
          </p:nvGrpSpPr>
          <p:grpSpPr bwMode="auto">
            <a:xfrm>
              <a:off x="2767" y="585"/>
              <a:ext cx="1952" cy="3711"/>
              <a:chOff x="2785" y="795"/>
              <a:chExt cx="1924" cy="3493"/>
            </a:xfrm>
          </p:grpSpPr>
          <p:sp>
            <p:nvSpPr>
              <p:cNvPr id="231453" name="Rectangle 14">
                <a:extLst>
                  <a:ext uri="{FF2B5EF4-FFF2-40B4-BE49-F238E27FC236}">
                    <a16:creationId xmlns:a16="http://schemas.microsoft.com/office/drawing/2014/main" id="{50A74C32-E364-D847-B97D-6A42EDC7696E}"/>
                  </a:ext>
                </a:extLst>
              </p:cNvPr>
              <p:cNvSpPr>
                <a:spLocks noChangeArrowheads="1"/>
              </p:cNvSpPr>
              <p:nvPr/>
            </p:nvSpPr>
            <p:spPr bwMode="auto">
              <a:xfrm>
                <a:off x="2952" y="795"/>
                <a:ext cx="1757" cy="307"/>
              </a:xfrm>
              <a:prstGeom prst="rect">
                <a:avLst/>
              </a:prstGeom>
              <a:solidFill>
                <a:srgbClr val="F1C7C7"/>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Kernel virtual memory</a:t>
                </a:r>
              </a:p>
            </p:txBody>
          </p:sp>
          <p:sp>
            <p:nvSpPr>
              <p:cNvPr id="231454" name="Rectangle 15">
                <a:extLst>
                  <a:ext uri="{FF2B5EF4-FFF2-40B4-BE49-F238E27FC236}">
                    <a16:creationId xmlns:a16="http://schemas.microsoft.com/office/drawing/2014/main" id="{D3C74CF5-0457-1E43-85CF-1F0F69010F2A}"/>
                  </a:ext>
                </a:extLst>
              </p:cNvPr>
              <p:cNvSpPr>
                <a:spLocks noChangeArrowheads="1"/>
              </p:cNvSpPr>
              <p:nvPr/>
            </p:nvSpPr>
            <p:spPr bwMode="auto">
              <a:xfrm>
                <a:off x="2952" y="1867"/>
                <a:ext cx="1757" cy="422"/>
              </a:xfrm>
              <a:prstGeom prst="rect">
                <a:avLst/>
              </a:prstGeom>
              <a:solidFill>
                <a:srgbClr val="D5F1CF"/>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Memory-mapped region</a:t>
                </a:r>
              </a:p>
              <a:p>
                <a:pPr algn="ctr">
                  <a:lnSpc>
                    <a:spcPct val="98000"/>
                  </a:lnSpc>
                </a:pPr>
                <a:r>
                  <a:rPr lang="en-GB" altLang="zh-CN" sz="1800" b="1">
                    <a:latin typeface="微软雅黑" panose="020B0503020204020204" pitchFamily="34" charset="-122"/>
                    <a:ea typeface="微软雅黑" panose="020B0503020204020204" pitchFamily="34" charset="-122"/>
                    <a:cs typeface="msgothic"/>
                  </a:rPr>
                  <a:t> for shared</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libraries</a:t>
                </a:r>
              </a:p>
            </p:txBody>
          </p:sp>
          <p:sp>
            <p:nvSpPr>
              <p:cNvPr id="33808" name="Rectangle 16">
                <a:extLst>
                  <a:ext uri="{FF2B5EF4-FFF2-40B4-BE49-F238E27FC236}">
                    <a16:creationId xmlns:a16="http://schemas.microsoft.com/office/drawing/2014/main" id="{EA108678-2FEC-074B-8FE8-BB997AA898D5}"/>
                  </a:ext>
                </a:extLst>
              </p:cNvPr>
              <p:cNvSpPr>
                <a:spLocks noChangeArrowheads="1"/>
              </p:cNvSpPr>
              <p:nvPr/>
            </p:nvSpPr>
            <p:spPr bwMode="auto">
              <a:xfrm>
                <a:off x="2952" y="2286"/>
                <a:ext cx="1757" cy="456"/>
              </a:xfrm>
              <a:prstGeom prst="rect">
                <a:avLst/>
              </a:prstGeom>
              <a:solidFill>
                <a:schemeClr val="bg1">
                  <a:lumMod val="75000"/>
                </a:schemeClr>
              </a:solidFill>
              <a:ln w="3240">
                <a:solidFill>
                  <a:schemeClr val="tx1"/>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31456" name="Rectangle 17">
                <a:extLst>
                  <a:ext uri="{FF2B5EF4-FFF2-40B4-BE49-F238E27FC236}">
                    <a16:creationId xmlns:a16="http://schemas.microsoft.com/office/drawing/2014/main" id="{4F7FFBC3-0F59-9E4A-9DC8-7CF5581627E2}"/>
                  </a:ext>
                </a:extLst>
              </p:cNvPr>
              <p:cNvSpPr>
                <a:spLocks noChangeArrowheads="1"/>
              </p:cNvSpPr>
              <p:nvPr/>
            </p:nvSpPr>
            <p:spPr bwMode="auto">
              <a:xfrm>
                <a:off x="2952" y="2741"/>
                <a:ext cx="1757" cy="422"/>
              </a:xfrm>
              <a:prstGeom prst="rect">
                <a:avLst/>
              </a:prstGeom>
              <a:solidFill>
                <a:srgbClr val="D5F1CF"/>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Run-time heap</a:t>
                </a:r>
              </a:p>
              <a:p>
                <a:pPr algn="ctr">
                  <a:lnSpc>
                    <a:spcPct val="98000"/>
                  </a:lnSpc>
                </a:pPr>
                <a:r>
                  <a:rPr lang="en-GB" altLang="zh-CN" sz="1800" b="1">
                    <a:latin typeface="微软雅黑" panose="020B0503020204020204" pitchFamily="34" charset="-122"/>
                    <a:ea typeface="微软雅黑" panose="020B0503020204020204" pitchFamily="34" charset="-122"/>
                    <a:cs typeface="msgothic"/>
                  </a:rPr>
                  <a:t>(created by</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malloc</a:t>
                </a:r>
                <a:r>
                  <a:rPr lang="en-GB" altLang="zh-CN" b="1">
                    <a:latin typeface="Calibri" panose="020F0502020204030204" pitchFamily="34" charset="0"/>
                    <a:ea typeface="微软雅黑" panose="020B0503020204020204" pitchFamily="34" charset="-122"/>
                    <a:cs typeface="msgothic"/>
                  </a:rPr>
                  <a:t>)</a:t>
                </a:r>
              </a:p>
            </p:txBody>
          </p:sp>
          <p:sp>
            <p:nvSpPr>
              <p:cNvPr id="33810" name="Rectangle 18">
                <a:extLst>
                  <a:ext uri="{FF2B5EF4-FFF2-40B4-BE49-F238E27FC236}">
                    <a16:creationId xmlns:a16="http://schemas.microsoft.com/office/drawing/2014/main" id="{9C9B75FC-19E2-5643-BDD3-B30878F28145}"/>
                  </a:ext>
                </a:extLst>
              </p:cNvPr>
              <p:cNvSpPr>
                <a:spLocks noChangeArrowheads="1"/>
              </p:cNvSpPr>
              <p:nvPr/>
            </p:nvSpPr>
            <p:spPr bwMode="auto">
              <a:xfrm>
                <a:off x="2952" y="1294"/>
                <a:ext cx="1757" cy="571"/>
              </a:xfrm>
              <a:prstGeom prst="rect">
                <a:avLst/>
              </a:prstGeom>
              <a:solidFill>
                <a:schemeClr val="bg1">
                  <a:lumMod val="75000"/>
                </a:schemeClr>
              </a:solidFill>
              <a:ln w="3240">
                <a:solidFill>
                  <a:schemeClr val="tx1"/>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31458" name="Line 19">
                <a:extLst>
                  <a:ext uri="{FF2B5EF4-FFF2-40B4-BE49-F238E27FC236}">
                    <a16:creationId xmlns:a16="http://schemas.microsoft.com/office/drawing/2014/main" id="{8905F5DE-0695-A14B-A352-9E124CF3F38B}"/>
                  </a:ext>
                </a:extLst>
              </p:cNvPr>
              <p:cNvSpPr>
                <a:spLocks noChangeShapeType="1"/>
              </p:cNvSpPr>
              <p:nvPr/>
            </p:nvSpPr>
            <p:spPr bwMode="auto">
              <a:xfrm flipV="1">
                <a:off x="3828" y="2493"/>
                <a:ext cx="1" cy="242"/>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1459" name="Rectangle 20">
                <a:extLst>
                  <a:ext uri="{FF2B5EF4-FFF2-40B4-BE49-F238E27FC236}">
                    <a16:creationId xmlns:a16="http://schemas.microsoft.com/office/drawing/2014/main" id="{B66454DF-D1D5-D145-A953-F07C60BDFAAC}"/>
                  </a:ext>
                </a:extLst>
              </p:cNvPr>
              <p:cNvSpPr>
                <a:spLocks noChangeArrowheads="1"/>
              </p:cNvSpPr>
              <p:nvPr/>
            </p:nvSpPr>
            <p:spPr bwMode="auto">
              <a:xfrm>
                <a:off x="2952" y="1083"/>
                <a:ext cx="1757" cy="355"/>
              </a:xfrm>
              <a:prstGeom prst="rect">
                <a:avLst/>
              </a:prstGeom>
              <a:solidFill>
                <a:srgbClr val="D5F1CF"/>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User</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stack</a:t>
                </a:r>
              </a:p>
              <a:p>
                <a:pPr algn="ctr">
                  <a:lnSpc>
                    <a:spcPct val="98000"/>
                  </a:lnSpc>
                </a:pPr>
                <a:r>
                  <a:rPr lang="en-GB" altLang="zh-CN" b="1">
                    <a:latin typeface="Calibri" panose="020F0502020204030204" pitchFamily="34" charset="0"/>
                    <a:ea typeface="微软雅黑" panose="020B0503020204020204" pitchFamily="34" charset="-122"/>
                    <a:cs typeface="msgothic"/>
                  </a:rPr>
                  <a:t>(</a:t>
                </a:r>
                <a:r>
                  <a:rPr lang="en-GB" altLang="zh-CN" sz="1800" b="1">
                    <a:latin typeface="微软雅黑" panose="020B0503020204020204" pitchFamily="34" charset="-122"/>
                    <a:ea typeface="微软雅黑" panose="020B0503020204020204" pitchFamily="34" charset="-122"/>
                    <a:cs typeface="msgothic"/>
                  </a:rPr>
                  <a:t>created</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at</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runtime</a:t>
                </a:r>
                <a:r>
                  <a:rPr lang="en-GB" altLang="zh-CN" b="1">
                    <a:latin typeface="Calibri" panose="020F0502020204030204" pitchFamily="34" charset="0"/>
                    <a:ea typeface="微软雅黑" panose="020B0503020204020204" pitchFamily="34" charset="-122"/>
                    <a:cs typeface="msgothic"/>
                  </a:rPr>
                  <a:t>)</a:t>
                </a:r>
              </a:p>
            </p:txBody>
          </p:sp>
          <p:sp>
            <p:nvSpPr>
              <p:cNvPr id="231460" name="Line 21">
                <a:extLst>
                  <a:ext uri="{FF2B5EF4-FFF2-40B4-BE49-F238E27FC236}">
                    <a16:creationId xmlns:a16="http://schemas.microsoft.com/office/drawing/2014/main" id="{3CA16468-0FE6-7644-B5DA-EFF949E77D81}"/>
                  </a:ext>
                </a:extLst>
              </p:cNvPr>
              <p:cNvSpPr>
                <a:spLocks noChangeShapeType="1"/>
              </p:cNvSpPr>
              <p:nvPr/>
            </p:nvSpPr>
            <p:spPr bwMode="auto">
              <a:xfrm flipV="1">
                <a:off x="3828" y="1725"/>
                <a:ext cx="1" cy="146"/>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1461" name="Line 22">
                <a:extLst>
                  <a:ext uri="{FF2B5EF4-FFF2-40B4-BE49-F238E27FC236}">
                    <a16:creationId xmlns:a16="http://schemas.microsoft.com/office/drawing/2014/main" id="{89B4FA4B-94CB-E044-A172-C8A23FB5EA66}"/>
                  </a:ext>
                </a:extLst>
              </p:cNvPr>
              <p:cNvSpPr>
                <a:spLocks noChangeShapeType="1"/>
              </p:cNvSpPr>
              <p:nvPr/>
            </p:nvSpPr>
            <p:spPr bwMode="auto">
              <a:xfrm>
                <a:off x="3828" y="1438"/>
                <a:ext cx="1" cy="144"/>
              </a:xfrm>
              <a:prstGeom prst="line">
                <a:avLst/>
              </a:prstGeom>
              <a:noFill/>
              <a:ln w="3240">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5" name="Rectangle 23">
                <a:extLst>
                  <a:ext uri="{FF2B5EF4-FFF2-40B4-BE49-F238E27FC236}">
                    <a16:creationId xmlns:a16="http://schemas.microsoft.com/office/drawing/2014/main" id="{93C4A6F1-C01C-C34A-A4CA-9EAD0236D091}"/>
                  </a:ext>
                </a:extLst>
              </p:cNvPr>
              <p:cNvSpPr>
                <a:spLocks noChangeArrowheads="1"/>
              </p:cNvSpPr>
              <p:nvPr/>
            </p:nvSpPr>
            <p:spPr bwMode="auto">
              <a:xfrm>
                <a:off x="2952" y="3977"/>
                <a:ext cx="1757" cy="250"/>
              </a:xfrm>
              <a:prstGeom prst="rect">
                <a:avLst/>
              </a:prstGeom>
              <a:solidFill>
                <a:schemeClr val="bg1">
                  <a:lumMod val="75000"/>
                </a:schemeClr>
              </a:solidFill>
              <a:ln w="324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a:lnSpc>
                    <a:spcPct val="98000"/>
                  </a:lnSpc>
                  <a:defRPr/>
                </a:pPr>
                <a:r>
                  <a:rPr lang="en-GB" altLang="zh-CN" sz="1800" b="1">
                    <a:latin typeface="微软雅黑" panose="020B0503020204020204" pitchFamily="34" charset="-122"/>
                    <a:ea typeface="微软雅黑" panose="020B0503020204020204" pitchFamily="34" charset="-122"/>
                    <a:cs typeface="msgothic"/>
                  </a:rPr>
                  <a:t>Unused</a:t>
                </a:r>
              </a:p>
            </p:txBody>
          </p:sp>
          <p:sp>
            <p:nvSpPr>
              <p:cNvPr id="231463" name="Text Box 24">
                <a:extLst>
                  <a:ext uri="{FF2B5EF4-FFF2-40B4-BE49-F238E27FC236}">
                    <a16:creationId xmlns:a16="http://schemas.microsoft.com/office/drawing/2014/main" id="{5C7966AF-6A41-C347-9243-5BCBEE544B9B}"/>
                  </a:ext>
                </a:extLst>
              </p:cNvPr>
              <p:cNvSpPr txBox="1">
                <a:spLocks noChangeArrowheads="1"/>
              </p:cNvSpPr>
              <p:nvPr/>
            </p:nvSpPr>
            <p:spPr bwMode="auto">
              <a:xfrm>
                <a:off x="2785" y="4114"/>
                <a:ext cx="19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98000"/>
                  </a:lnSpc>
                </a:pPr>
                <a:r>
                  <a:rPr lang="en-GB" altLang="zh-CN" b="1">
                    <a:latin typeface="微软雅黑" panose="020B0503020204020204" pitchFamily="34" charset="-122"/>
                    <a:ea typeface="微软雅黑" panose="020B0503020204020204" pitchFamily="34" charset="-122"/>
                    <a:cs typeface="msgothic"/>
                  </a:rPr>
                  <a:t>0</a:t>
                </a:r>
              </a:p>
            </p:txBody>
          </p:sp>
          <p:sp>
            <p:nvSpPr>
              <p:cNvPr id="33826" name="Rectangle 34">
                <a:extLst>
                  <a:ext uri="{FF2B5EF4-FFF2-40B4-BE49-F238E27FC236}">
                    <a16:creationId xmlns:a16="http://schemas.microsoft.com/office/drawing/2014/main" id="{B62011FF-395F-3C4A-A342-AF0631AAE3C5}"/>
                  </a:ext>
                </a:extLst>
              </p:cNvPr>
              <p:cNvSpPr>
                <a:spLocks noChangeArrowheads="1"/>
              </p:cNvSpPr>
              <p:nvPr/>
            </p:nvSpPr>
            <p:spPr bwMode="auto">
              <a:xfrm>
                <a:off x="2952" y="3161"/>
                <a:ext cx="1757" cy="422"/>
              </a:xfrm>
              <a:prstGeom prst="rect">
                <a:avLst/>
              </a:prstGeom>
              <a:solidFill>
                <a:schemeClr val="accent2">
                  <a:lumMod val="20000"/>
                  <a:lumOff val="80000"/>
                </a:schemeClr>
              </a:solidFill>
              <a:ln w="3240">
                <a:solidFill>
                  <a:schemeClr val="tx1"/>
                </a:solidFill>
                <a:miter lim="800000"/>
                <a:headEnd/>
                <a:tailEnd/>
              </a:ln>
              <a:effectLst/>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a:lnSpc>
                    <a:spcPct val="98000"/>
                  </a:lnSpc>
                  <a:defRPr/>
                </a:pPr>
                <a:r>
                  <a:rPr lang="en-GB" altLang="zh-CN" sz="1800" b="1">
                    <a:latin typeface="微软雅黑" panose="020B0503020204020204" pitchFamily="34" charset="-122"/>
                    <a:ea typeface="微软雅黑" panose="020B0503020204020204" pitchFamily="34" charset="-122"/>
                    <a:cs typeface="msgothic"/>
                  </a:rPr>
                  <a:t>Read/write</a:t>
                </a:r>
                <a:r>
                  <a:rPr lang="en-GB" altLang="zh-CN" sz="1600"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segment</a:t>
                </a:r>
              </a:p>
              <a:p>
                <a:pPr algn="ctr">
                  <a:lnSpc>
                    <a:spcPct val="98000"/>
                  </a:lnSpc>
                  <a:defRPr/>
                </a:pPr>
                <a:r>
                  <a:rPr lang="en-GB" altLang="zh-CN" sz="1800" b="1">
                    <a:latin typeface="微软雅黑" panose="020B0503020204020204" pitchFamily="34" charset="-122"/>
                    <a:ea typeface="微软雅黑" panose="020B0503020204020204" pitchFamily="34" charset="-122"/>
                    <a:cs typeface="msgothic"/>
                  </a:rPr>
                  <a:t>(.data, .bss)</a:t>
                </a:r>
              </a:p>
            </p:txBody>
          </p:sp>
          <p:sp>
            <p:nvSpPr>
              <p:cNvPr id="231465" name="Rectangle 35">
                <a:extLst>
                  <a:ext uri="{FF2B5EF4-FFF2-40B4-BE49-F238E27FC236}">
                    <a16:creationId xmlns:a16="http://schemas.microsoft.com/office/drawing/2014/main" id="{BF2D85AC-CB3C-B947-AE21-AE5C0A7F42BF}"/>
                  </a:ext>
                </a:extLst>
              </p:cNvPr>
              <p:cNvSpPr>
                <a:spLocks noChangeArrowheads="1"/>
              </p:cNvSpPr>
              <p:nvPr/>
            </p:nvSpPr>
            <p:spPr bwMode="auto">
              <a:xfrm>
                <a:off x="2952" y="3555"/>
                <a:ext cx="1757" cy="422"/>
              </a:xfrm>
              <a:prstGeom prst="rect">
                <a:avLst/>
              </a:prstGeom>
              <a:solidFill>
                <a:srgbClr val="F6F5BD"/>
              </a:solidFill>
              <a:ln w="3240">
                <a:solidFill>
                  <a:schemeClr val="tx1"/>
                </a:solidFill>
                <a:miter lim="800000"/>
                <a:headEnd/>
                <a:tailEnd/>
              </a:ln>
            </p:spPr>
            <p:txBody>
              <a:bodyPr wrap="none" lIns="90000" tIns="46800" rIns="90000" bIns="4680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98000"/>
                  </a:lnSpc>
                </a:pPr>
                <a:r>
                  <a:rPr lang="en-GB" altLang="zh-CN" sz="1800" b="1">
                    <a:latin typeface="微软雅黑" panose="020B0503020204020204" pitchFamily="34" charset="-122"/>
                    <a:ea typeface="微软雅黑" panose="020B0503020204020204" pitchFamily="34" charset="-122"/>
                    <a:cs typeface="msgothic"/>
                  </a:rPr>
                  <a:t>Read-only segment</a:t>
                </a:r>
              </a:p>
              <a:p>
                <a:pPr algn="ctr">
                  <a:lnSpc>
                    <a:spcPct val="98000"/>
                  </a:lnSpc>
                </a:pPr>
                <a:r>
                  <a:rPr lang="en-GB" altLang="zh-CN" sz="1800" b="1">
                    <a:latin typeface="微软雅黑" panose="020B0503020204020204" pitchFamily="34" charset="-122"/>
                    <a:ea typeface="微软雅黑" panose="020B0503020204020204" pitchFamily="34" charset="-122"/>
                    <a:cs typeface="msgothic"/>
                  </a:rPr>
                  <a:t>(.init, .text</a:t>
                </a:r>
                <a:r>
                  <a:rPr lang="en-GB" altLang="zh-CN" b="1">
                    <a:latin typeface="Calibri" panose="020F0502020204030204" pitchFamily="34" charset="0"/>
                    <a:ea typeface="微软雅黑" panose="020B0503020204020204" pitchFamily="34" charset="-122"/>
                    <a:cs typeface="msgothic"/>
                  </a:rPr>
                  <a:t>, </a:t>
                </a:r>
                <a:r>
                  <a:rPr lang="en-GB" altLang="zh-CN" sz="1800" b="1">
                    <a:latin typeface="微软雅黑" panose="020B0503020204020204" pitchFamily="34" charset="-122"/>
                    <a:ea typeface="微软雅黑" panose="020B0503020204020204" pitchFamily="34" charset="-122"/>
                    <a:cs typeface="msgothic"/>
                  </a:rPr>
                  <a:t>.rodata</a:t>
                </a:r>
                <a:r>
                  <a:rPr lang="en-GB" altLang="zh-CN" b="1">
                    <a:latin typeface="Calibri" panose="020F0502020204030204" pitchFamily="34" charset="0"/>
                    <a:ea typeface="微软雅黑" panose="020B0503020204020204" pitchFamily="34" charset="-122"/>
                    <a:cs typeface="msgothic"/>
                  </a:rPr>
                  <a:t>)</a:t>
                </a:r>
              </a:p>
            </p:txBody>
          </p:sp>
        </p:grpSp>
      </p:grpSp>
      <p:sp>
        <p:nvSpPr>
          <p:cNvPr id="231427" name="Text Box 4">
            <a:extLst>
              <a:ext uri="{FF2B5EF4-FFF2-40B4-BE49-F238E27FC236}">
                <a16:creationId xmlns:a16="http://schemas.microsoft.com/office/drawing/2014/main" id="{712B77DF-BFD4-7A49-AD06-3B4043331904}"/>
              </a:ext>
            </a:extLst>
          </p:cNvPr>
          <p:cNvSpPr txBox="1">
            <a:spLocks noChangeArrowheads="1"/>
          </p:cNvSpPr>
          <p:nvPr/>
        </p:nvSpPr>
        <p:spPr bwMode="auto">
          <a:xfrm>
            <a:off x="1525588" y="792163"/>
            <a:ext cx="1258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latin typeface="微软雅黑" panose="020B0503020204020204" pitchFamily="34" charset="-122"/>
                <a:ea typeface="微软雅黑" panose="020B0503020204020204" pitchFamily="34" charset="-122"/>
              </a:rPr>
              <a:t>a[0]</a:t>
            </a:r>
          </a:p>
        </p:txBody>
      </p:sp>
      <p:sp>
        <p:nvSpPr>
          <p:cNvPr id="231428" name="Line 5">
            <a:extLst>
              <a:ext uri="{FF2B5EF4-FFF2-40B4-BE49-F238E27FC236}">
                <a16:creationId xmlns:a16="http://schemas.microsoft.com/office/drawing/2014/main" id="{8DF670F3-5472-3A4A-9BD7-D6600135161A}"/>
              </a:ext>
            </a:extLst>
          </p:cNvPr>
          <p:cNvSpPr>
            <a:spLocks noChangeShapeType="1"/>
          </p:cNvSpPr>
          <p:nvPr/>
        </p:nvSpPr>
        <p:spPr bwMode="auto">
          <a:xfrm>
            <a:off x="293688" y="773113"/>
            <a:ext cx="4005262"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844806" name="Picture 6">
            <a:extLst>
              <a:ext uri="{FF2B5EF4-FFF2-40B4-BE49-F238E27FC236}">
                <a16:creationId xmlns:a16="http://schemas.microsoft.com/office/drawing/2014/main" id="{DDAAD1B9-3EA6-0B43-9138-1F18677A80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02075"/>
            <a:ext cx="8667750"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44829" name="Group 29">
            <a:extLst>
              <a:ext uri="{FF2B5EF4-FFF2-40B4-BE49-F238E27FC236}">
                <a16:creationId xmlns:a16="http://schemas.microsoft.com/office/drawing/2014/main" id="{61504498-BE12-354F-89DB-141FBD38994E}"/>
              </a:ext>
            </a:extLst>
          </p:cNvPr>
          <p:cNvGrpSpPr>
            <a:grpSpLocks/>
          </p:cNvGrpSpPr>
          <p:nvPr/>
        </p:nvGrpSpPr>
        <p:grpSpPr bwMode="auto">
          <a:xfrm>
            <a:off x="4616450" y="593725"/>
            <a:ext cx="4572000" cy="3194050"/>
            <a:chOff x="2795" y="261"/>
            <a:chExt cx="2880" cy="2012"/>
          </a:xfrm>
        </p:grpSpPr>
        <p:sp>
          <p:nvSpPr>
            <p:cNvPr id="231433" name="AutoShape 30">
              <a:extLst>
                <a:ext uri="{FF2B5EF4-FFF2-40B4-BE49-F238E27FC236}">
                  <a16:creationId xmlns:a16="http://schemas.microsoft.com/office/drawing/2014/main" id="{6771F3F3-B5EC-074A-BD48-9D9D6E2938FC}"/>
                </a:ext>
              </a:extLst>
            </p:cNvPr>
            <p:cNvSpPr>
              <a:spLocks noChangeAspect="1" noChangeArrowheads="1"/>
            </p:cNvSpPr>
            <p:nvPr/>
          </p:nvSpPr>
          <p:spPr bwMode="auto">
            <a:xfrm>
              <a:off x="2937" y="289"/>
              <a:ext cx="2601" cy="1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31434" name="Rectangle 4">
              <a:extLst>
                <a:ext uri="{FF2B5EF4-FFF2-40B4-BE49-F238E27FC236}">
                  <a16:creationId xmlns:a16="http://schemas.microsoft.com/office/drawing/2014/main" id="{B4997313-C036-E14C-BCBD-0EFB38DB746A}"/>
                </a:ext>
              </a:extLst>
            </p:cNvPr>
            <p:cNvSpPr>
              <a:spLocks noChangeArrowheads="1"/>
            </p:cNvSpPr>
            <p:nvPr/>
          </p:nvSpPr>
          <p:spPr bwMode="auto">
            <a:xfrm>
              <a:off x="3844" y="261"/>
              <a:ext cx="78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0" rIns="90479" bIns="0"/>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r>
                <a:rPr lang="zh-CN" altLang="en-US" sz="2000" b="1">
                  <a:solidFill>
                    <a:srgbClr val="0000FF"/>
                  </a:solidFill>
                  <a:latin typeface="微软雅黑" panose="020B0503020204020204" pitchFamily="34" charset="-122"/>
                  <a:ea typeface="微软雅黑" panose="020B0503020204020204" pitchFamily="34" charset="-122"/>
                </a:rPr>
                <a:t>用户进程</a:t>
              </a:r>
            </a:p>
          </p:txBody>
        </p:sp>
        <p:sp>
          <p:nvSpPr>
            <p:cNvPr id="231435" name="Rectangle 5">
              <a:extLst>
                <a:ext uri="{FF2B5EF4-FFF2-40B4-BE49-F238E27FC236}">
                  <a16:creationId xmlns:a16="http://schemas.microsoft.com/office/drawing/2014/main" id="{7A47AE0C-EC20-F34F-9915-59CDB1C71CFB}"/>
                </a:ext>
              </a:extLst>
            </p:cNvPr>
            <p:cNvSpPr>
              <a:spLocks noChangeArrowheads="1"/>
            </p:cNvSpPr>
            <p:nvPr/>
          </p:nvSpPr>
          <p:spPr bwMode="auto">
            <a:xfrm>
              <a:off x="4864" y="686"/>
              <a:ext cx="768" cy="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n-US" altLang="zh-CN" sz="1800" b="1">
                  <a:solidFill>
                    <a:srgbClr val="0000FF"/>
                  </a:solidFill>
                  <a:latin typeface="微软雅黑" panose="020B0503020204020204" pitchFamily="34" charset="-122"/>
                  <a:ea typeface="微软雅黑" panose="020B0503020204020204" pitchFamily="34" charset="-122"/>
                </a:rPr>
                <a:t>OS</a:t>
              </a:r>
              <a:r>
                <a:rPr lang="zh-CN" altLang="en-US" sz="1800" b="1">
                  <a:solidFill>
                    <a:srgbClr val="0000FF"/>
                  </a:solidFill>
                  <a:latin typeface="微软雅黑" panose="020B0503020204020204" pitchFamily="34" charset="-122"/>
                  <a:ea typeface="微软雅黑" panose="020B0503020204020204" pitchFamily="34" charset="-122"/>
                </a:rPr>
                <a:t>页故障处理程序</a:t>
              </a:r>
            </a:p>
          </p:txBody>
        </p:sp>
        <p:sp>
          <p:nvSpPr>
            <p:cNvPr id="231436" name="Line 7">
              <a:extLst>
                <a:ext uri="{FF2B5EF4-FFF2-40B4-BE49-F238E27FC236}">
                  <a16:creationId xmlns:a16="http://schemas.microsoft.com/office/drawing/2014/main" id="{2463B45B-CADD-CA4D-8BB1-70B55C753EAB}"/>
                </a:ext>
              </a:extLst>
            </p:cNvPr>
            <p:cNvSpPr>
              <a:spLocks noChangeShapeType="1"/>
            </p:cNvSpPr>
            <p:nvPr/>
          </p:nvSpPr>
          <p:spPr bwMode="auto">
            <a:xfrm>
              <a:off x="4524" y="1168"/>
              <a:ext cx="511"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1437" name="Line 8">
              <a:extLst>
                <a:ext uri="{FF2B5EF4-FFF2-40B4-BE49-F238E27FC236}">
                  <a16:creationId xmlns:a16="http://schemas.microsoft.com/office/drawing/2014/main" id="{75D0474D-CF84-EA4E-87B4-32D65B723D9D}"/>
                </a:ext>
              </a:extLst>
            </p:cNvPr>
            <p:cNvSpPr>
              <a:spLocks noChangeShapeType="1"/>
            </p:cNvSpPr>
            <p:nvPr/>
          </p:nvSpPr>
          <p:spPr bwMode="auto">
            <a:xfrm>
              <a:off x="5091" y="1168"/>
              <a:ext cx="0" cy="689"/>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1438" name="Rectangle 11">
              <a:extLst>
                <a:ext uri="{FF2B5EF4-FFF2-40B4-BE49-F238E27FC236}">
                  <a16:creationId xmlns:a16="http://schemas.microsoft.com/office/drawing/2014/main" id="{4662B474-C845-3348-B585-255E18290CC4}"/>
                </a:ext>
              </a:extLst>
            </p:cNvPr>
            <p:cNvSpPr>
              <a:spLocks noChangeArrowheads="1"/>
            </p:cNvSpPr>
            <p:nvPr/>
          </p:nvSpPr>
          <p:spPr bwMode="auto">
            <a:xfrm>
              <a:off x="4496" y="1168"/>
              <a:ext cx="5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r>
                <a:rPr lang="zh-CN" altLang="en-US" sz="1800" b="1">
                  <a:solidFill>
                    <a:srgbClr val="000000"/>
                  </a:solidFill>
                  <a:latin typeface="Calibri" panose="020F0502020204030204" pitchFamily="34" charset="0"/>
                  <a:ea typeface="微软雅黑" panose="020B0503020204020204" pitchFamily="34" charset="-122"/>
                </a:rPr>
                <a:t>页故障</a:t>
              </a:r>
              <a:endParaRPr lang="zh-CN" altLang="en-US" sz="1800" b="1">
                <a:ea typeface="微软雅黑" panose="020B0503020204020204" pitchFamily="34" charset="-122"/>
              </a:endParaRPr>
            </a:p>
          </p:txBody>
        </p:sp>
        <p:sp>
          <p:nvSpPr>
            <p:cNvPr id="231439" name="Rectangle 12">
              <a:extLst>
                <a:ext uri="{FF2B5EF4-FFF2-40B4-BE49-F238E27FC236}">
                  <a16:creationId xmlns:a16="http://schemas.microsoft.com/office/drawing/2014/main" id="{2EC05967-CA46-1D41-B0F0-DED8A7942BF4}"/>
                </a:ext>
              </a:extLst>
            </p:cNvPr>
            <p:cNvSpPr>
              <a:spLocks noChangeArrowheads="1"/>
            </p:cNvSpPr>
            <p:nvPr/>
          </p:nvSpPr>
          <p:spPr bwMode="auto">
            <a:xfrm>
              <a:off x="5120" y="1281"/>
              <a:ext cx="44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r>
                <a:rPr lang="zh-CN" altLang="en-US" sz="1800" b="1">
                  <a:ea typeface="微软雅黑" panose="020B0503020204020204" pitchFamily="34" charset="-122"/>
                </a:rPr>
                <a:t>访问</a:t>
              </a:r>
            </a:p>
            <a:p>
              <a:pPr algn="just" eaLnBrk="1" hangingPunct="1"/>
              <a:r>
                <a:rPr lang="zh-CN" altLang="en-US" sz="1800" b="1">
                  <a:ea typeface="微软雅黑" panose="020B0503020204020204" pitchFamily="34" charset="-122"/>
                </a:rPr>
                <a:t>越权</a:t>
              </a:r>
              <a:r>
                <a:rPr lang="zh-CN" altLang="en-US" sz="1800">
                  <a:ea typeface="宋体" panose="02010600030101010101" pitchFamily="2" charset="-122"/>
                </a:rPr>
                <a:t> </a:t>
              </a:r>
            </a:p>
          </p:txBody>
        </p:sp>
        <p:sp>
          <p:nvSpPr>
            <p:cNvPr id="231440" name="Rectangle 13">
              <a:extLst>
                <a:ext uri="{FF2B5EF4-FFF2-40B4-BE49-F238E27FC236}">
                  <a16:creationId xmlns:a16="http://schemas.microsoft.com/office/drawing/2014/main" id="{DE71D45C-C93E-9249-B3CF-0D940C0C4CF9}"/>
                </a:ext>
              </a:extLst>
            </p:cNvPr>
            <p:cNvSpPr>
              <a:spLocks noChangeArrowheads="1"/>
            </p:cNvSpPr>
            <p:nvPr/>
          </p:nvSpPr>
          <p:spPr bwMode="auto">
            <a:xfrm>
              <a:off x="4553" y="1871"/>
              <a:ext cx="112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r>
                <a:rPr lang="zh-CN" altLang="en-US" sz="1800" b="1">
                  <a:latin typeface="微软雅黑" panose="020B0503020204020204" pitchFamily="34" charset="-122"/>
                  <a:ea typeface="微软雅黑" panose="020B0503020204020204" pitchFamily="34" charset="-122"/>
                </a:rPr>
                <a:t>发</a:t>
              </a:r>
              <a:r>
                <a:rPr lang="en-US" altLang="zh-CN" sz="1800" b="1">
                  <a:latin typeface="微软雅黑" panose="020B0503020204020204" pitchFamily="34" charset="-122"/>
                  <a:ea typeface="微软雅黑" panose="020B0503020204020204" pitchFamily="34" charset="-122"/>
                </a:rPr>
                <a:t>SIGSEGV</a:t>
              </a:r>
              <a:r>
                <a:rPr lang="zh-CN" altLang="en-US" sz="1800" b="1">
                  <a:latin typeface="微软雅黑" panose="020B0503020204020204" pitchFamily="34" charset="-122"/>
                  <a:ea typeface="微软雅黑" panose="020B0503020204020204" pitchFamily="34" charset="-122"/>
                </a:rPr>
                <a:t>信号给用户进程</a:t>
              </a:r>
            </a:p>
          </p:txBody>
        </p:sp>
        <p:sp>
          <p:nvSpPr>
            <p:cNvPr id="231441" name="Text Box 15">
              <a:extLst>
                <a:ext uri="{FF2B5EF4-FFF2-40B4-BE49-F238E27FC236}">
                  <a16:creationId xmlns:a16="http://schemas.microsoft.com/office/drawing/2014/main" id="{89E8AA3E-B634-8942-BD27-4DCA68761A82}"/>
                </a:ext>
              </a:extLst>
            </p:cNvPr>
            <p:cNvSpPr txBox="1">
              <a:spLocks noChangeArrowheads="1"/>
            </p:cNvSpPr>
            <p:nvPr/>
          </p:nvSpPr>
          <p:spPr bwMode="auto">
            <a:xfrm>
              <a:off x="2795" y="798"/>
              <a:ext cx="175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just" eaLnBrk="1" hangingPunct="1">
                <a:spcAft>
                  <a:spcPct val="35000"/>
                </a:spcAft>
              </a:pPr>
              <a:r>
                <a:rPr lang="en-US" altLang="zh-CN" sz="2000" b="1">
                  <a:ea typeface="宋体" panose="02010600030101010101" pitchFamily="2" charset="-122"/>
                </a:rPr>
                <a:t>              </a:t>
              </a:r>
              <a:r>
                <a:rPr lang="en-US" altLang="zh-CN" sz="2000" b="1">
                  <a:solidFill>
                    <a:srgbClr val="CC3300"/>
                  </a:solidFill>
                  <a:ea typeface="宋体" panose="02010600030101010101" pitchFamily="2" charset="-122"/>
                </a:rPr>
                <a:t>… …</a:t>
              </a:r>
            </a:p>
            <a:p>
              <a:pPr algn="just" eaLnBrk="1" hangingPunct="1"/>
              <a:r>
                <a:rPr lang="en-US" altLang="zh-CN" sz="1800" b="1">
                  <a:solidFill>
                    <a:srgbClr val="CC3300"/>
                  </a:solidFill>
                  <a:latin typeface="微软雅黑" panose="020B0503020204020204" pitchFamily="34" charset="-122"/>
                  <a:ea typeface="微软雅黑" panose="020B0503020204020204" pitchFamily="34" charset="-122"/>
                </a:rPr>
                <a:t>movl (%ebx,%eax,4)…</a:t>
              </a:r>
            </a:p>
            <a:p>
              <a:pPr algn="just" eaLnBrk="1" hangingPunct="1"/>
              <a:r>
                <a:rPr lang="en-US" altLang="zh-CN" sz="2000" b="1">
                  <a:solidFill>
                    <a:srgbClr val="CC3300"/>
                  </a:solidFill>
                  <a:ea typeface="宋体" panose="02010600030101010101" pitchFamily="2" charset="-122"/>
                </a:rPr>
                <a:t>              … …</a:t>
              </a:r>
              <a:endParaRPr lang="zh-CN" altLang="en-US" sz="2000" b="1">
                <a:solidFill>
                  <a:srgbClr val="CC3300"/>
                </a:solidFill>
                <a:ea typeface="宋体" panose="02010600030101010101" pitchFamily="2" charset="-122"/>
              </a:endParaRPr>
            </a:p>
          </p:txBody>
        </p:sp>
        <p:sp>
          <p:nvSpPr>
            <p:cNvPr id="231442" name="Line 39">
              <a:extLst>
                <a:ext uri="{FF2B5EF4-FFF2-40B4-BE49-F238E27FC236}">
                  <a16:creationId xmlns:a16="http://schemas.microsoft.com/office/drawing/2014/main" id="{91D62E96-073A-1B43-A06F-1E34EEC5B081}"/>
                </a:ext>
              </a:extLst>
            </p:cNvPr>
            <p:cNvSpPr>
              <a:spLocks noChangeShapeType="1"/>
            </p:cNvSpPr>
            <p:nvPr/>
          </p:nvSpPr>
          <p:spPr bwMode="auto">
            <a:xfrm>
              <a:off x="4184" y="558"/>
              <a:ext cx="0" cy="464"/>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1443" name="Line 40">
              <a:extLst>
                <a:ext uri="{FF2B5EF4-FFF2-40B4-BE49-F238E27FC236}">
                  <a16:creationId xmlns:a16="http://schemas.microsoft.com/office/drawing/2014/main" id="{49696091-8638-A343-B198-1BCC60FB578F}"/>
                </a:ext>
              </a:extLst>
            </p:cNvPr>
            <p:cNvSpPr>
              <a:spLocks noChangeShapeType="1"/>
            </p:cNvSpPr>
            <p:nvPr/>
          </p:nvSpPr>
          <p:spPr bwMode="auto">
            <a:xfrm flipH="1" flipV="1">
              <a:off x="4184" y="1366"/>
              <a:ext cx="851" cy="454"/>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1444" name="Line 41">
              <a:extLst>
                <a:ext uri="{FF2B5EF4-FFF2-40B4-BE49-F238E27FC236}">
                  <a16:creationId xmlns:a16="http://schemas.microsoft.com/office/drawing/2014/main" id="{9E1ACDD1-D01C-9B46-9E32-8B07D73F8AEB}"/>
                </a:ext>
              </a:extLst>
            </p:cNvPr>
            <p:cNvSpPr>
              <a:spLocks noChangeShapeType="1"/>
            </p:cNvSpPr>
            <p:nvPr/>
          </p:nvSpPr>
          <p:spPr bwMode="auto">
            <a:xfrm>
              <a:off x="4184" y="1395"/>
              <a:ext cx="0" cy="283"/>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44842" name="Text Box 42">
            <a:extLst>
              <a:ext uri="{FF2B5EF4-FFF2-40B4-BE49-F238E27FC236}">
                <a16:creationId xmlns:a16="http://schemas.microsoft.com/office/drawing/2014/main" id="{1FDF1391-AB9A-EA4B-9BAD-FF3964F05B18}"/>
              </a:ext>
            </a:extLst>
          </p:cNvPr>
          <p:cNvSpPr txBox="1">
            <a:spLocks noChangeArrowheads="1"/>
          </p:cNvSpPr>
          <p:nvPr/>
        </p:nvSpPr>
        <p:spPr bwMode="auto">
          <a:xfrm>
            <a:off x="4371975" y="2855913"/>
            <a:ext cx="286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30000"/>
              </a:spcBef>
            </a:pPr>
            <a:r>
              <a:rPr lang="en-US" altLang="zh-CN" sz="2000" b="1">
                <a:solidFill>
                  <a:srgbClr val="FF0000"/>
                </a:solidFill>
                <a:latin typeface="微软雅黑" panose="020B0503020204020204" pitchFamily="34" charset="-122"/>
                <a:ea typeface="微软雅黑" panose="020B0503020204020204" pitchFamily="34" charset="-122"/>
              </a:rPr>
              <a:t>a[i]</a:t>
            </a:r>
            <a:r>
              <a:rPr lang="zh-CN" altLang="en-US" sz="2000" b="1">
                <a:solidFill>
                  <a:srgbClr val="FF0000"/>
                </a:solidFill>
                <a:latin typeface="微软雅黑" panose="020B0503020204020204" pitchFamily="34" charset="-122"/>
                <a:ea typeface="微软雅黑" panose="020B0503020204020204" pitchFamily="34" charset="-122"/>
              </a:rPr>
              <a:t>：</a:t>
            </a:r>
            <a:r>
              <a:rPr lang="en-US" altLang="zh-CN" sz="2000" b="1">
                <a:solidFill>
                  <a:srgbClr val="CC3300"/>
                </a:solidFill>
                <a:ea typeface="宋体" panose="02010600030101010101" pitchFamily="2" charset="-122"/>
              </a:rPr>
              <a:t>(%ebx,%eax,4)</a:t>
            </a:r>
          </a:p>
        </p:txBody>
      </p:sp>
      <p:sp>
        <p:nvSpPr>
          <p:cNvPr id="231432" name="Text Box 43">
            <a:extLst>
              <a:ext uri="{FF2B5EF4-FFF2-40B4-BE49-F238E27FC236}">
                <a16:creationId xmlns:a16="http://schemas.microsoft.com/office/drawing/2014/main" id="{917910CF-0FDC-D94C-87CB-B3E8827F1A41}"/>
              </a:ext>
            </a:extLst>
          </p:cNvPr>
          <p:cNvSpPr txBox="1">
            <a:spLocks noChangeArrowheads="1"/>
          </p:cNvSpPr>
          <p:nvPr/>
        </p:nvSpPr>
        <p:spPr bwMode="auto">
          <a:xfrm>
            <a:off x="4318000" y="585788"/>
            <a:ext cx="32861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n-US" altLang="zh-CN" sz="2000" b="1">
                <a:solidFill>
                  <a:srgbClr val="FF0000"/>
                </a:solidFill>
                <a:latin typeface="微软雅黑" panose="020B0503020204020204" pitchFamily="34" charset="-122"/>
                <a:ea typeface="微软雅黑" panose="020B0503020204020204" pitchFamily="34" charset="-122"/>
              </a:rPr>
              <a:t>&amp;a[0]</a:t>
            </a:r>
            <a:r>
              <a:rPr lang="zh-CN" altLang="en-US" sz="2000" b="1">
                <a:solidFill>
                  <a:srgbClr val="FF0000"/>
                </a:solidFill>
                <a:latin typeface="微软雅黑" panose="020B0503020204020204" pitchFamily="34" charset="-122"/>
                <a:ea typeface="微软雅黑" panose="020B0503020204020204" pitchFamily="34" charset="-122"/>
              </a:rPr>
              <a:t> </a:t>
            </a:r>
            <a:r>
              <a:rPr lang="zh-CN" altLang="en-US" sz="2000" b="1">
                <a:solidFill>
                  <a:srgbClr val="FF0000"/>
                </a:solidFill>
                <a:ea typeface="微软雅黑" panose="020B0503020204020204" pitchFamily="34" charset="-122"/>
                <a:cs typeface="Arial" panose="020B0604020202020204" pitchFamily="34" charset="0"/>
              </a:rPr>
              <a:t>→ </a:t>
            </a:r>
            <a:r>
              <a:rPr lang="en-US" altLang="zh-CN" sz="2000" b="1">
                <a:solidFill>
                  <a:srgbClr val="FF0000"/>
                </a:solidFill>
                <a:latin typeface="微软雅黑" panose="020B0503020204020204" pitchFamily="34" charset="-122"/>
                <a:ea typeface="微软雅黑" panose="020B0503020204020204" pitchFamily="34" charset="-122"/>
              </a:rPr>
              <a:t>%ebx</a:t>
            </a:r>
          </a:p>
          <a:p>
            <a:pPr eaLnBrk="1" hangingPunct="1"/>
            <a:r>
              <a:rPr lang="en-US" altLang="zh-CN" sz="2000" b="1">
                <a:solidFill>
                  <a:srgbClr val="FF0000"/>
                </a:solidFill>
                <a:latin typeface="微软雅黑" panose="020B0503020204020204" pitchFamily="34" charset="-122"/>
                <a:ea typeface="微软雅黑" panose="020B0503020204020204" pitchFamily="34" charset="-122"/>
              </a:rPr>
              <a:t>i </a:t>
            </a:r>
            <a:r>
              <a:rPr lang="zh-CN" altLang="en-US" sz="1800" b="1">
                <a:solidFill>
                  <a:srgbClr val="FF0000"/>
                </a:solidFill>
                <a:ea typeface="宋体" panose="02010600030101010101" pitchFamily="2" charset="-122"/>
              </a:rPr>
              <a:t>→</a:t>
            </a:r>
            <a:r>
              <a:rPr lang="zh-CN" altLang="en-US" sz="1800">
                <a:ea typeface="宋体" panose="02010600030101010101" pitchFamily="2" charset="-122"/>
              </a:rPr>
              <a:t> </a:t>
            </a:r>
            <a:r>
              <a:rPr lang="en-US" altLang="zh-CN" sz="2000" b="1">
                <a:solidFill>
                  <a:srgbClr val="FF0000"/>
                </a:solidFill>
                <a:latin typeface="微软雅黑" panose="020B0503020204020204" pitchFamily="34" charset="-122"/>
                <a:ea typeface="微软雅黑" panose="020B0503020204020204" pitchFamily="34" charset="-122"/>
              </a:rPr>
              <a:t>%eax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44806"/>
                                        </p:tgtEl>
                                        <p:attrNameLst>
                                          <p:attrName>style.visibility</p:attrName>
                                        </p:attrNameLst>
                                      </p:cBhvr>
                                      <p:to>
                                        <p:strVal val="visible"/>
                                      </p:to>
                                    </p:set>
                                    <p:animEffect transition="in" filter="blinds(horizontal)">
                                      <p:cBhvr>
                                        <p:cTn id="7" dur="500"/>
                                        <p:tgtEl>
                                          <p:spTgt spid="8448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44829"/>
                                        </p:tgtEl>
                                        <p:attrNameLst>
                                          <p:attrName>style.visibility</p:attrName>
                                        </p:attrNameLst>
                                      </p:cBhvr>
                                      <p:to>
                                        <p:strVal val="visible"/>
                                      </p:to>
                                    </p:set>
                                    <p:animEffect transition="in" filter="blinds(horizontal)">
                                      <p:cBhvr>
                                        <p:cTn id="12" dur="500"/>
                                        <p:tgtEl>
                                          <p:spTgt spid="844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44842"/>
                                        </p:tgtEl>
                                        <p:attrNameLst>
                                          <p:attrName>style.visibility</p:attrName>
                                        </p:attrNameLst>
                                      </p:cBhvr>
                                      <p:to>
                                        <p:strVal val="visible"/>
                                      </p:to>
                                    </p:set>
                                    <p:animEffect transition="in" filter="blinds(horizontal)">
                                      <p:cBhvr>
                                        <p:cTn id="17" dur="500"/>
                                        <p:tgtEl>
                                          <p:spTgt spid="844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4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73F0F4FD-6604-1248-A9D5-F8C277A282E4}"/>
              </a:ext>
            </a:extLst>
          </p:cNvPr>
          <p:cNvSpPr>
            <a:spLocks noGrp="1" noChangeArrowheads="1"/>
          </p:cNvSpPr>
          <p:nvPr>
            <p:ph type="title" idx="4294967295"/>
          </p:nvPr>
        </p:nvSpPr>
        <p:spPr>
          <a:xfrm>
            <a:off x="358775" y="98425"/>
            <a:ext cx="8150225" cy="474663"/>
          </a:xfrm>
          <a:noFill/>
        </p:spPr>
        <p:txBody>
          <a:bodyPr wrap="none"/>
          <a:lstStyle/>
          <a:p>
            <a:pPr eaLnBrk="1" hangingPunct="1"/>
            <a:r>
              <a:rPr lang="en-US" altLang="zh-CN" sz="3200">
                <a:solidFill>
                  <a:srgbClr val="CC0000"/>
                </a:solidFill>
              </a:rPr>
              <a:t>TLBs --- Making Address Translation Fast</a:t>
            </a:r>
          </a:p>
        </p:txBody>
      </p:sp>
      <p:sp>
        <p:nvSpPr>
          <p:cNvPr id="526339" name="Rectangle 3">
            <a:extLst>
              <a:ext uri="{FF2B5EF4-FFF2-40B4-BE49-F238E27FC236}">
                <a16:creationId xmlns:a16="http://schemas.microsoft.com/office/drawing/2014/main" id="{A3F3B1DA-8D31-294D-ADF1-5B22DAE03644}"/>
              </a:ext>
            </a:extLst>
          </p:cNvPr>
          <p:cNvSpPr>
            <a:spLocks noChangeArrowheads="1"/>
          </p:cNvSpPr>
          <p:nvPr/>
        </p:nvSpPr>
        <p:spPr bwMode="auto">
          <a:xfrm>
            <a:off x="341313" y="1673225"/>
            <a:ext cx="854392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25000"/>
              </a:lnSpc>
              <a:spcBef>
                <a:spcPct val="20000"/>
              </a:spcBef>
            </a:pPr>
            <a:r>
              <a:rPr lang="zh-CN" altLang="en-US" sz="2200" b="1">
                <a:latin typeface="微软雅黑" panose="020B0503020204020204" pitchFamily="34" charset="-122"/>
                <a:ea typeface="微软雅黑" panose="020B0503020204020204" pitchFamily="34" charset="-122"/>
              </a:rPr>
              <a:t>把经常要查的页表项放到</a:t>
            </a:r>
            <a:r>
              <a:rPr lang="en-US" altLang="zh-CN" sz="2200" b="1">
                <a:latin typeface="微软雅黑" panose="020B0503020204020204" pitchFamily="34" charset="-122"/>
                <a:ea typeface="微软雅黑" panose="020B0503020204020204" pitchFamily="34" charset="-122"/>
              </a:rPr>
              <a:t>Cache</a:t>
            </a:r>
            <a:r>
              <a:rPr lang="zh-CN" altLang="en-US" sz="2200" b="1">
                <a:latin typeface="微软雅黑" panose="020B0503020204020204" pitchFamily="34" charset="-122"/>
                <a:ea typeface="微软雅黑" panose="020B0503020204020204" pitchFamily="34" charset="-122"/>
              </a:rPr>
              <a:t>中，这种在</a:t>
            </a:r>
            <a:r>
              <a:rPr lang="en-US" altLang="zh-CN" sz="2200" b="1">
                <a:latin typeface="微软雅黑" panose="020B0503020204020204" pitchFamily="34" charset="-122"/>
                <a:ea typeface="微软雅黑" panose="020B0503020204020204" pitchFamily="34" charset="-122"/>
              </a:rPr>
              <a:t>Cache</a:t>
            </a:r>
            <a:r>
              <a:rPr lang="zh-CN" altLang="en-US" sz="2200" b="1">
                <a:latin typeface="微软雅黑" panose="020B0503020204020204" pitchFamily="34" charset="-122"/>
                <a:ea typeface="微软雅黑" panose="020B0503020204020204" pitchFamily="34" charset="-122"/>
              </a:rPr>
              <a:t>中的页表项组成的页表称为</a:t>
            </a:r>
            <a:r>
              <a:rPr lang="en-US" altLang="zh-CN" sz="2200" b="1" i="1">
                <a:solidFill>
                  <a:srgbClr val="FF6600"/>
                </a:solidFill>
                <a:latin typeface="微软雅黑" panose="020B0503020204020204" pitchFamily="34" charset="-122"/>
                <a:ea typeface="微软雅黑" panose="020B0503020204020204" pitchFamily="34" charset="-122"/>
              </a:rPr>
              <a:t>Translation Lookaside Buffer</a:t>
            </a:r>
            <a:r>
              <a:rPr lang="en-US" altLang="zh-CN" sz="2200" b="1">
                <a:latin typeface="微软雅黑" panose="020B0503020204020204" pitchFamily="34" charset="-122"/>
                <a:ea typeface="微软雅黑" panose="020B0503020204020204" pitchFamily="34" charset="-122"/>
              </a:rPr>
              <a:t> or </a:t>
            </a:r>
            <a:r>
              <a:rPr lang="en-US" altLang="zh-CN" sz="2200" b="1" i="1">
                <a:solidFill>
                  <a:srgbClr val="FF6600"/>
                </a:solidFill>
                <a:latin typeface="微软雅黑" panose="020B0503020204020204" pitchFamily="34" charset="-122"/>
                <a:ea typeface="微软雅黑" panose="020B0503020204020204" pitchFamily="34" charset="-122"/>
              </a:rPr>
              <a:t>TLB</a:t>
            </a:r>
            <a:r>
              <a:rPr lang="zh-CN" altLang="en-US" sz="2200" b="1" i="1">
                <a:solidFill>
                  <a:srgbClr val="CC0000"/>
                </a:solidFill>
                <a:latin typeface="微软雅黑" panose="020B0503020204020204" pitchFamily="34" charset="-122"/>
                <a:ea typeface="微软雅黑" panose="020B0503020204020204" pitchFamily="34" charset="-122"/>
              </a:rPr>
              <a:t>（快表）</a:t>
            </a:r>
          </a:p>
        </p:txBody>
      </p:sp>
      <p:sp>
        <p:nvSpPr>
          <p:cNvPr id="232452" name="Rectangle 12">
            <a:extLst>
              <a:ext uri="{FF2B5EF4-FFF2-40B4-BE49-F238E27FC236}">
                <a16:creationId xmlns:a16="http://schemas.microsoft.com/office/drawing/2014/main" id="{96907152-8068-3745-9C64-BF7BAE6B7D2D}"/>
              </a:ext>
            </a:extLst>
          </p:cNvPr>
          <p:cNvSpPr>
            <a:spLocks noChangeArrowheads="1"/>
          </p:cNvSpPr>
          <p:nvPr/>
        </p:nvSpPr>
        <p:spPr bwMode="auto">
          <a:xfrm>
            <a:off x="5432425" y="3770313"/>
            <a:ext cx="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b="1">
              <a:latin typeface="Times New Roman" panose="02020603050405020304" pitchFamily="18" charset="0"/>
              <a:ea typeface="宋体" panose="02010600030101010101" pitchFamily="2" charset="-122"/>
            </a:endParaRPr>
          </a:p>
        </p:txBody>
      </p:sp>
      <p:sp>
        <p:nvSpPr>
          <p:cNvPr id="232453" name="Rectangle 13">
            <a:extLst>
              <a:ext uri="{FF2B5EF4-FFF2-40B4-BE49-F238E27FC236}">
                <a16:creationId xmlns:a16="http://schemas.microsoft.com/office/drawing/2014/main" id="{617D2808-3044-C243-9DCF-FA91AD8ED95A}"/>
              </a:ext>
            </a:extLst>
          </p:cNvPr>
          <p:cNvSpPr>
            <a:spLocks noChangeArrowheads="1"/>
          </p:cNvSpPr>
          <p:nvPr/>
        </p:nvSpPr>
        <p:spPr bwMode="auto">
          <a:xfrm>
            <a:off x="3252788" y="3732213"/>
            <a:ext cx="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b="1">
              <a:latin typeface="Times New Roman" panose="02020603050405020304" pitchFamily="18" charset="0"/>
              <a:ea typeface="宋体" panose="02010600030101010101" pitchFamily="2" charset="-122"/>
            </a:endParaRPr>
          </a:p>
        </p:txBody>
      </p:sp>
      <p:grpSp>
        <p:nvGrpSpPr>
          <p:cNvPr id="2" name="Group 200">
            <a:extLst>
              <a:ext uri="{FF2B5EF4-FFF2-40B4-BE49-F238E27FC236}">
                <a16:creationId xmlns:a16="http://schemas.microsoft.com/office/drawing/2014/main" id="{2BBF25C6-9C0C-FF4D-9463-05FC46460241}"/>
              </a:ext>
            </a:extLst>
          </p:cNvPr>
          <p:cNvGrpSpPr>
            <a:grpSpLocks/>
          </p:cNvGrpSpPr>
          <p:nvPr/>
        </p:nvGrpSpPr>
        <p:grpSpPr bwMode="auto">
          <a:xfrm>
            <a:off x="566738" y="3505200"/>
            <a:ext cx="8101012" cy="1171575"/>
            <a:chOff x="720" y="1314"/>
            <a:chExt cx="4336" cy="681"/>
          </a:xfrm>
        </p:grpSpPr>
        <p:sp>
          <p:nvSpPr>
            <p:cNvPr id="232467" name="Rectangle 4">
              <a:extLst>
                <a:ext uri="{FF2B5EF4-FFF2-40B4-BE49-F238E27FC236}">
                  <a16:creationId xmlns:a16="http://schemas.microsoft.com/office/drawing/2014/main" id="{FCB7D479-7FA8-0246-9DD5-158E08F4F16F}"/>
                </a:ext>
              </a:extLst>
            </p:cNvPr>
            <p:cNvSpPr>
              <a:spLocks noChangeArrowheads="1"/>
            </p:cNvSpPr>
            <p:nvPr/>
          </p:nvSpPr>
          <p:spPr bwMode="auto">
            <a:xfrm>
              <a:off x="720" y="1316"/>
              <a:ext cx="4320" cy="65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32468" name="Rectangle 5">
              <a:extLst>
                <a:ext uri="{FF2B5EF4-FFF2-40B4-BE49-F238E27FC236}">
                  <a16:creationId xmlns:a16="http://schemas.microsoft.com/office/drawing/2014/main" id="{20364C8B-1D23-214D-9FED-9375DA63A50E}"/>
                </a:ext>
              </a:extLst>
            </p:cNvPr>
            <p:cNvSpPr>
              <a:spLocks noChangeArrowheads="1"/>
            </p:cNvSpPr>
            <p:nvPr/>
          </p:nvSpPr>
          <p:spPr bwMode="auto">
            <a:xfrm>
              <a:off x="720" y="1364"/>
              <a:ext cx="427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zh-CN" altLang="en-US" b="1">
                  <a:ea typeface="宋体" panose="02010600030101010101" pitchFamily="2" charset="-122"/>
                </a:rPr>
                <a:t> </a:t>
              </a:r>
              <a:r>
                <a:rPr lang="en-US" altLang="zh-CN" sz="1800" b="1">
                  <a:latin typeface="微软雅黑" panose="020B0503020204020204" pitchFamily="34" charset="-122"/>
                  <a:ea typeface="微软雅黑" panose="020B0503020204020204" pitchFamily="34" charset="-122"/>
                </a:rPr>
                <a:t>Virtual Address      Physical Address        Dirty   Ref     Valid    Access</a:t>
              </a:r>
            </a:p>
          </p:txBody>
        </p:sp>
        <p:sp>
          <p:nvSpPr>
            <p:cNvPr id="232469" name="Line 6">
              <a:extLst>
                <a:ext uri="{FF2B5EF4-FFF2-40B4-BE49-F238E27FC236}">
                  <a16:creationId xmlns:a16="http://schemas.microsoft.com/office/drawing/2014/main" id="{A307D317-7D2E-0A42-A4FB-5A27FF8E69E2}"/>
                </a:ext>
              </a:extLst>
            </p:cNvPr>
            <p:cNvSpPr>
              <a:spLocks noChangeShapeType="1"/>
            </p:cNvSpPr>
            <p:nvPr/>
          </p:nvSpPr>
          <p:spPr bwMode="auto">
            <a:xfrm flipH="1">
              <a:off x="1920" y="1316"/>
              <a:ext cx="0" cy="6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2470" name="Line 7">
              <a:extLst>
                <a:ext uri="{FF2B5EF4-FFF2-40B4-BE49-F238E27FC236}">
                  <a16:creationId xmlns:a16="http://schemas.microsoft.com/office/drawing/2014/main" id="{1844ECB2-D5D7-164F-BB59-BCED896B5BDD}"/>
                </a:ext>
              </a:extLst>
            </p:cNvPr>
            <p:cNvSpPr>
              <a:spLocks noChangeShapeType="1"/>
            </p:cNvSpPr>
            <p:nvPr/>
          </p:nvSpPr>
          <p:spPr bwMode="auto">
            <a:xfrm>
              <a:off x="3216" y="1314"/>
              <a:ext cx="0" cy="6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2471" name="Line 8">
              <a:extLst>
                <a:ext uri="{FF2B5EF4-FFF2-40B4-BE49-F238E27FC236}">
                  <a16:creationId xmlns:a16="http://schemas.microsoft.com/office/drawing/2014/main" id="{9C326ECE-14FE-FF4F-978C-57F98742A98E}"/>
                </a:ext>
              </a:extLst>
            </p:cNvPr>
            <p:cNvSpPr>
              <a:spLocks noChangeShapeType="1"/>
            </p:cNvSpPr>
            <p:nvPr/>
          </p:nvSpPr>
          <p:spPr bwMode="auto">
            <a:xfrm>
              <a:off x="3648" y="1316"/>
              <a:ext cx="0" cy="6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2472" name="Line 9">
              <a:extLst>
                <a:ext uri="{FF2B5EF4-FFF2-40B4-BE49-F238E27FC236}">
                  <a16:creationId xmlns:a16="http://schemas.microsoft.com/office/drawing/2014/main" id="{5308DEE4-90EE-F04B-AA3E-33378FDDD079}"/>
                </a:ext>
              </a:extLst>
            </p:cNvPr>
            <p:cNvSpPr>
              <a:spLocks noChangeShapeType="1"/>
            </p:cNvSpPr>
            <p:nvPr/>
          </p:nvSpPr>
          <p:spPr bwMode="auto">
            <a:xfrm flipH="1">
              <a:off x="3984" y="1316"/>
              <a:ext cx="0" cy="67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2473" name="Line 10">
              <a:extLst>
                <a:ext uri="{FF2B5EF4-FFF2-40B4-BE49-F238E27FC236}">
                  <a16:creationId xmlns:a16="http://schemas.microsoft.com/office/drawing/2014/main" id="{6B27E35A-DBBF-EF42-9219-138DABE0F3B5}"/>
                </a:ext>
              </a:extLst>
            </p:cNvPr>
            <p:cNvSpPr>
              <a:spLocks noChangeShapeType="1"/>
            </p:cNvSpPr>
            <p:nvPr/>
          </p:nvSpPr>
          <p:spPr bwMode="auto">
            <a:xfrm>
              <a:off x="4464" y="1316"/>
              <a:ext cx="0" cy="6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2474" name="Line 11">
              <a:extLst>
                <a:ext uri="{FF2B5EF4-FFF2-40B4-BE49-F238E27FC236}">
                  <a16:creationId xmlns:a16="http://schemas.microsoft.com/office/drawing/2014/main" id="{3B8F1969-0DB9-3E4E-8BD6-47F3E3E36BF0}"/>
                </a:ext>
              </a:extLst>
            </p:cNvPr>
            <p:cNvSpPr>
              <a:spLocks noChangeShapeType="1"/>
            </p:cNvSpPr>
            <p:nvPr/>
          </p:nvSpPr>
          <p:spPr bwMode="auto">
            <a:xfrm>
              <a:off x="728" y="1652"/>
              <a:ext cx="432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2475" name="Text Box 15">
              <a:extLst>
                <a:ext uri="{FF2B5EF4-FFF2-40B4-BE49-F238E27FC236}">
                  <a16:creationId xmlns:a16="http://schemas.microsoft.com/office/drawing/2014/main" id="{AAF7842F-5648-E147-A90A-51BB7ED1B98C}"/>
                </a:ext>
              </a:extLst>
            </p:cNvPr>
            <p:cNvSpPr txBox="1">
              <a:spLocks noChangeArrowheads="1"/>
            </p:cNvSpPr>
            <p:nvPr/>
          </p:nvSpPr>
          <p:spPr bwMode="auto">
            <a:xfrm>
              <a:off x="811" y="1442"/>
              <a:ext cx="56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800" b="1">
                  <a:ea typeface="黑体" panose="02010609060101010101" pitchFamily="49" charset="-122"/>
                </a:rPr>
                <a:t>      (tag)</a:t>
              </a:r>
            </a:p>
          </p:txBody>
        </p:sp>
      </p:grpSp>
      <p:sp>
        <p:nvSpPr>
          <p:cNvPr id="526535" name="Text Box 199">
            <a:extLst>
              <a:ext uri="{FF2B5EF4-FFF2-40B4-BE49-F238E27FC236}">
                <a16:creationId xmlns:a16="http://schemas.microsoft.com/office/drawing/2014/main" id="{B372F70A-93B1-AB4E-95A6-E96AF2F1C09E}"/>
              </a:ext>
            </a:extLst>
          </p:cNvPr>
          <p:cNvSpPr txBox="1">
            <a:spLocks noChangeArrowheads="1"/>
          </p:cNvSpPr>
          <p:nvPr/>
        </p:nvSpPr>
        <p:spPr bwMode="auto">
          <a:xfrm>
            <a:off x="385763" y="1089025"/>
            <a:ext cx="5851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400" b="1">
                <a:solidFill>
                  <a:schemeClr val="accent1"/>
                </a:solidFill>
                <a:latin typeface="Times New Roman" panose="02020603050405020304" pitchFamily="18" charset="0"/>
                <a:ea typeface="微软雅黑" panose="020B0503020204020204" pitchFamily="34" charset="-122"/>
              </a:rPr>
              <a:t>问题：一次存储器引用要访问几次主存？</a:t>
            </a:r>
          </a:p>
        </p:txBody>
      </p:sp>
      <p:sp>
        <p:nvSpPr>
          <p:cNvPr id="526545" name="Rectangle 209">
            <a:extLst>
              <a:ext uri="{FF2B5EF4-FFF2-40B4-BE49-F238E27FC236}">
                <a16:creationId xmlns:a16="http://schemas.microsoft.com/office/drawing/2014/main" id="{101B81CE-2C71-E643-BE14-21AF21034536}"/>
              </a:ext>
            </a:extLst>
          </p:cNvPr>
          <p:cNvSpPr>
            <a:spLocks noChangeArrowheads="1"/>
          </p:cNvSpPr>
          <p:nvPr/>
        </p:nvSpPr>
        <p:spPr bwMode="auto">
          <a:xfrm>
            <a:off x="6140450" y="1192213"/>
            <a:ext cx="23352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2400" b="1">
                <a:solidFill>
                  <a:srgbClr val="CC0000"/>
                </a:solidFill>
                <a:latin typeface="微软雅黑" panose="020B0503020204020204" pitchFamily="34" charset="-122"/>
                <a:ea typeface="微软雅黑" panose="020B0503020204020204" pitchFamily="34" charset="-122"/>
              </a:rPr>
              <a:t>0 / 1 / 2 / 3</a:t>
            </a:r>
            <a:r>
              <a:rPr kumimoji="1" lang="zh-CN" altLang="en-US" sz="2400" b="1">
                <a:solidFill>
                  <a:srgbClr val="CC0000"/>
                </a:solidFill>
                <a:latin typeface="微软雅黑" panose="020B0503020204020204" pitchFamily="34" charset="-122"/>
                <a:ea typeface="微软雅黑" panose="020B0503020204020204" pitchFamily="34" charset="-122"/>
              </a:rPr>
              <a:t>次？</a:t>
            </a:r>
          </a:p>
        </p:txBody>
      </p:sp>
      <p:sp>
        <p:nvSpPr>
          <p:cNvPr id="526546" name="Text Box 210">
            <a:extLst>
              <a:ext uri="{FF2B5EF4-FFF2-40B4-BE49-F238E27FC236}">
                <a16:creationId xmlns:a16="http://schemas.microsoft.com/office/drawing/2014/main" id="{95885EAE-7550-4B45-8A26-CD1EDCEADCD1}"/>
              </a:ext>
            </a:extLst>
          </p:cNvPr>
          <p:cNvSpPr txBox="1">
            <a:spLocks noChangeArrowheads="1"/>
          </p:cNvSpPr>
          <p:nvPr/>
        </p:nvSpPr>
        <p:spPr bwMode="auto">
          <a:xfrm>
            <a:off x="612775" y="4914900"/>
            <a:ext cx="8145463"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20000"/>
              </a:lnSpc>
              <a:spcBef>
                <a:spcPct val="50000"/>
              </a:spcBef>
            </a:pPr>
            <a:r>
              <a:rPr kumimoji="1" lang="en-US" altLang="zh-CN" sz="2400" b="1">
                <a:solidFill>
                  <a:srgbClr val="0000FF"/>
                </a:solidFill>
                <a:latin typeface="微软雅黑" panose="020B0503020204020204" pitchFamily="34" charset="-122"/>
                <a:ea typeface="微软雅黑" panose="020B0503020204020204" pitchFamily="34" charset="-122"/>
              </a:rPr>
              <a:t>CPU</a:t>
            </a:r>
            <a:r>
              <a:rPr kumimoji="1" lang="zh-CN" altLang="en-US" sz="2400" b="1">
                <a:solidFill>
                  <a:srgbClr val="0000FF"/>
                </a:solidFill>
                <a:latin typeface="微软雅黑" panose="020B0503020204020204" pitchFamily="34" charset="-122"/>
                <a:ea typeface="微软雅黑" panose="020B0503020204020204" pitchFamily="34" charset="-122"/>
              </a:rPr>
              <a:t>访存时，地址中虚页号被分成</a:t>
            </a:r>
            <a:r>
              <a:rPr kumimoji="1" lang="en-US" altLang="zh-CN" sz="2400" b="1">
                <a:solidFill>
                  <a:srgbClr val="0000FF"/>
                </a:solidFill>
                <a:latin typeface="微软雅黑" panose="020B0503020204020204" pitchFamily="34" charset="-122"/>
                <a:ea typeface="微软雅黑" panose="020B0503020204020204" pitchFamily="34" charset="-122"/>
              </a:rPr>
              <a:t>tag+index</a:t>
            </a:r>
            <a:r>
              <a:rPr kumimoji="1" lang="zh-CN" altLang="en-US" sz="2400" b="1">
                <a:solidFill>
                  <a:srgbClr val="0000FF"/>
                </a:solidFill>
                <a:latin typeface="微软雅黑" panose="020B0503020204020204" pitchFamily="34" charset="-122"/>
                <a:ea typeface="微软雅黑" panose="020B0503020204020204" pitchFamily="34" charset="-122"/>
              </a:rPr>
              <a:t>，</a:t>
            </a:r>
            <a:r>
              <a:rPr kumimoji="1" lang="en-US" altLang="zh-CN" sz="2400" b="1">
                <a:solidFill>
                  <a:srgbClr val="0000FF"/>
                </a:solidFill>
                <a:latin typeface="微软雅黑" panose="020B0503020204020204" pitchFamily="34" charset="-122"/>
                <a:ea typeface="微软雅黑" panose="020B0503020204020204" pitchFamily="34" charset="-122"/>
              </a:rPr>
              <a:t>tag</a:t>
            </a:r>
            <a:r>
              <a:rPr kumimoji="1" lang="zh-CN" altLang="en-US" sz="2400" b="1">
                <a:solidFill>
                  <a:srgbClr val="0000FF"/>
                </a:solidFill>
                <a:latin typeface="微软雅黑" panose="020B0503020204020204" pitchFamily="34" charset="-122"/>
                <a:ea typeface="微软雅黑" panose="020B0503020204020204" pitchFamily="34" charset="-122"/>
              </a:rPr>
              <a:t>用于和</a:t>
            </a:r>
            <a:r>
              <a:rPr kumimoji="1" lang="en-US" altLang="zh-CN" sz="2400" b="1">
                <a:solidFill>
                  <a:srgbClr val="0000FF"/>
                </a:solidFill>
                <a:latin typeface="微软雅黑" panose="020B0503020204020204" pitchFamily="34" charset="-122"/>
                <a:ea typeface="微软雅黑" panose="020B0503020204020204" pitchFamily="34" charset="-122"/>
              </a:rPr>
              <a:t>TLB</a:t>
            </a:r>
            <a:r>
              <a:rPr kumimoji="1" lang="zh-CN" altLang="en-US" sz="2400" b="1">
                <a:solidFill>
                  <a:srgbClr val="0000FF"/>
                </a:solidFill>
                <a:latin typeface="微软雅黑" panose="020B0503020204020204" pitchFamily="34" charset="-122"/>
                <a:ea typeface="微软雅黑" panose="020B0503020204020204" pitchFamily="34" charset="-122"/>
              </a:rPr>
              <a:t>页表项中的</a:t>
            </a:r>
            <a:r>
              <a:rPr kumimoji="1" lang="en-US" altLang="zh-CN" sz="2400" b="1">
                <a:solidFill>
                  <a:srgbClr val="0000FF"/>
                </a:solidFill>
                <a:latin typeface="微软雅黑" panose="020B0503020204020204" pitchFamily="34" charset="-122"/>
                <a:ea typeface="微软雅黑" panose="020B0503020204020204" pitchFamily="34" charset="-122"/>
              </a:rPr>
              <a:t>tag</a:t>
            </a:r>
            <a:r>
              <a:rPr kumimoji="1" lang="zh-CN" altLang="en-US" sz="2400" b="1">
                <a:solidFill>
                  <a:srgbClr val="0000FF"/>
                </a:solidFill>
                <a:latin typeface="微软雅黑" panose="020B0503020204020204" pitchFamily="34" charset="-122"/>
                <a:ea typeface="微软雅黑" panose="020B0503020204020204" pitchFamily="34" charset="-122"/>
              </a:rPr>
              <a:t>比较，</a:t>
            </a:r>
            <a:r>
              <a:rPr kumimoji="1" lang="en-US" altLang="zh-CN" sz="2400" b="1">
                <a:solidFill>
                  <a:srgbClr val="0000FF"/>
                </a:solidFill>
                <a:latin typeface="微软雅黑" panose="020B0503020204020204" pitchFamily="34" charset="-122"/>
                <a:ea typeface="微软雅黑" panose="020B0503020204020204" pitchFamily="34" charset="-122"/>
              </a:rPr>
              <a:t>index</a:t>
            </a:r>
            <a:r>
              <a:rPr kumimoji="1" lang="zh-CN" altLang="en-US" sz="2400" b="1">
                <a:solidFill>
                  <a:srgbClr val="0000FF"/>
                </a:solidFill>
                <a:latin typeface="微软雅黑" panose="020B0503020204020204" pitchFamily="34" charset="-122"/>
                <a:ea typeface="微软雅黑" panose="020B0503020204020204" pitchFamily="34" charset="-122"/>
              </a:rPr>
              <a:t>用于定位需要比较的表项</a:t>
            </a:r>
            <a:endParaRPr kumimoji="1" lang="en-US" altLang="zh-CN" sz="2400" b="1">
              <a:solidFill>
                <a:srgbClr val="0000FF"/>
              </a:solidFill>
              <a:latin typeface="微软雅黑" panose="020B0503020204020204" pitchFamily="34" charset="-122"/>
              <a:ea typeface="微软雅黑" panose="020B0503020204020204" pitchFamily="34" charset="-122"/>
            </a:endParaRPr>
          </a:p>
        </p:txBody>
      </p:sp>
      <p:sp>
        <p:nvSpPr>
          <p:cNvPr id="526547" name="Text Box 211">
            <a:extLst>
              <a:ext uri="{FF2B5EF4-FFF2-40B4-BE49-F238E27FC236}">
                <a16:creationId xmlns:a16="http://schemas.microsoft.com/office/drawing/2014/main" id="{CA2DF13E-9EBF-0C45-9ECE-63D3094A87FA}"/>
              </a:ext>
            </a:extLst>
          </p:cNvPr>
          <p:cNvSpPr txBox="1">
            <a:spLocks noChangeArrowheads="1"/>
          </p:cNvSpPr>
          <p:nvPr/>
        </p:nvSpPr>
        <p:spPr bwMode="auto">
          <a:xfrm>
            <a:off x="3132138" y="4195763"/>
            <a:ext cx="1935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0000FF"/>
                </a:solidFill>
                <a:ea typeface="微软雅黑" panose="020B0503020204020204" pitchFamily="34" charset="-122"/>
              </a:rPr>
              <a:t>对应物理页框号</a:t>
            </a:r>
          </a:p>
        </p:txBody>
      </p:sp>
      <p:sp>
        <p:nvSpPr>
          <p:cNvPr id="232459" name="Text Box 225">
            <a:extLst>
              <a:ext uri="{FF2B5EF4-FFF2-40B4-BE49-F238E27FC236}">
                <a16:creationId xmlns:a16="http://schemas.microsoft.com/office/drawing/2014/main" id="{9C3B9406-053D-5647-8B64-F067D5C2B740}"/>
              </a:ext>
            </a:extLst>
          </p:cNvPr>
          <p:cNvSpPr txBox="1">
            <a:spLocks noChangeArrowheads="1"/>
          </p:cNvSpPr>
          <p:nvPr/>
        </p:nvSpPr>
        <p:spPr bwMode="auto">
          <a:xfrm>
            <a:off x="66675" y="1946275"/>
            <a:ext cx="962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526562" name="Text Box 226">
            <a:extLst>
              <a:ext uri="{FF2B5EF4-FFF2-40B4-BE49-F238E27FC236}">
                <a16:creationId xmlns:a16="http://schemas.microsoft.com/office/drawing/2014/main" id="{CB636787-0B6C-6248-A570-F8DF1250D476}"/>
              </a:ext>
            </a:extLst>
          </p:cNvPr>
          <p:cNvSpPr txBox="1">
            <a:spLocks noChangeArrowheads="1"/>
          </p:cNvSpPr>
          <p:nvPr/>
        </p:nvSpPr>
        <p:spPr bwMode="auto">
          <a:xfrm>
            <a:off x="568325" y="5881688"/>
            <a:ext cx="8326438"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120000"/>
              </a:lnSpc>
              <a:spcBef>
                <a:spcPct val="50000"/>
              </a:spcBef>
            </a:pPr>
            <a:r>
              <a:rPr kumimoji="1" lang="en-US" altLang="zh-CN" sz="2200" b="1">
                <a:solidFill>
                  <a:srgbClr val="CC0000"/>
                </a:solidFill>
                <a:latin typeface="微软雅黑" panose="020B0503020204020204" pitchFamily="34" charset="-122"/>
                <a:ea typeface="微软雅黑" panose="020B0503020204020204" pitchFamily="34" charset="-122"/>
              </a:rPr>
              <a:t>TLB</a:t>
            </a:r>
            <a:r>
              <a:rPr kumimoji="1" lang="zh-CN" altLang="en-US" sz="2200" b="1">
                <a:solidFill>
                  <a:srgbClr val="CC0000"/>
                </a:solidFill>
                <a:latin typeface="微软雅黑" panose="020B0503020204020204" pitchFamily="34" charset="-122"/>
                <a:ea typeface="微软雅黑" panose="020B0503020204020204" pitchFamily="34" charset="-122"/>
              </a:rPr>
              <a:t>全相联时，没有</a:t>
            </a:r>
            <a:r>
              <a:rPr kumimoji="1" lang="en-US" altLang="zh-CN" sz="2200" b="1">
                <a:solidFill>
                  <a:srgbClr val="CC0000"/>
                </a:solidFill>
                <a:latin typeface="微软雅黑" panose="020B0503020204020204" pitchFamily="34" charset="-122"/>
                <a:ea typeface="微软雅黑" panose="020B0503020204020204" pitchFamily="34" charset="-122"/>
              </a:rPr>
              <a:t>index</a:t>
            </a:r>
            <a:r>
              <a:rPr kumimoji="1" lang="zh-CN" altLang="en-US" sz="2200" b="1">
                <a:solidFill>
                  <a:srgbClr val="CC0000"/>
                </a:solidFill>
                <a:latin typeface="微软雅黑" panose="020B0503020204020204" pitchFamily="34" charset="-122"/>
                <a:ea typeface="微软雅黑" panose="020B0503020204020204" pitchFamily="34" charset="-122"/>
              </a:rPr>
              <a:t>，只有</a:t>
            </a:r>
            <a:r>
              <a:rPr kumimoji="1" lang="en-US" altLang="zh-CN" sz="2200" b="1">
                <a:solidFill>
                  <a:srgbClr val="CC0000"/>
                </a:solidFill>
                <a:latin typeface="微软雅黑" panose="020B0503020204020204" pitchFamily="34" charset="-122"/>
                <a:ea typeface="微软雅黑" panose="020B0503020204020204" pitchFamily="34" charset="-122"/>
              </a:rPr>
              <a:t>Tag</a:t>
            </a:r>
            <a:r>
              <a:rPr kumimoji="1" lang="zh-CN" altLang="en-US" sz="2200" b="1">
                <a:solidFill>
                  <a:srgbClr val="CC0000"/>
                </a:solidFill>
                <a:latin typeface="微软雅黑" panose="020B0503020204020204" pitchFamily="34" charset="-122"/>
                <a:ea typeface="微软雅黑" panose="020B0503020204020204" pitchFamily="34" charset="-122"/>
              </a:rPr>
              <a:t>，虚页号需与每个</a:t>
            </a:r>
            <a:r>
              <a:rPr kumimoji="1" lang="en-US" altLang="zh-CN" sz="2200" b="1">
                <a:solidFill>
                  <a:srgbClr val="CC0000"/>
                </a:solidFill>
                <a:latin typeface="微软雅黑" panose="020B0503020204020204" pitchFamily="34" charset="-122"/>
                <a:ea typeface="微软雅黑" panose="020B0503020204020204" pitchFamily="34" charset="-122"/>
              </a:rPr>
              <a:t>Tag</a:t>
            </a:r>
            <a:r>
              <a:rPr kumimoji="1" lang="zh-CN" altLang="en-US" sz="2200" b="1">
                <a:solidFill>
                  <a:srgbClr val="CC0000"/>
                </a:solidFill>
                <a:latin typeface="微软雅黑" panose="020B0503020204020204" pitchFamily="34" charset="-122"/>
                <a:ea typeface="微软雅黑" panose="020B0503020204020204" pitchFamily="34" charset="-122"/>
              </a:rPr>
              <a:t>比较；</a:t>
            </a:r>
            <a:r>
              <a:rPr kumimoji="1" lang="en-US" altLang="zh-CN" sz="2200" b="1">
                <a:solidFill>
                  <a:srgbClr val="CC0000"/>
                </a:solidFill>
                <a:latin typeface="微软雅黑" panose="020B0503020204020204" pitchFamily="34" charset="-122"/>
                <a:ea typeface="微软雅黑" panose="020B0503020204020204" pitchFamily="34" charset="-122"/>
              </a:rPr>
              <a:t>TLB</a:t>
            </a:r>
            <a:r>
              <a:rPr kumimoji="1" lang="zh-CN" altLang="en-US" sz="2200" b="1">
                <a:solidFill>
                  <a:srgbClr val="CC0000"/>
                </a:solidFill>
                <a:latin typeface="微软雅黑" panose="020B0503020204020204" pitchFamily="34" charset="-122"/>
                <a:ea typeface="微软雅黑" panose="020B0503020204020204" pitchFamily="34" charset="-122"/>
              </a:rPr>
              <a:t>组相联时，则虚页号高位为</a:t>
            </a:r>
            <a:r>
              <a:rPr kumimoji="1" lang="en-US" altLang="zh-CN" sz="2200" b="1">
                <a:solidFill>
                  <a:srgbClr val="CC0000"/>
                </a:solidFill>
                <a:latin typeface="微软雅黑" panose="020B0503020204020204" pitchFamily="34" charset="-122"/>
                <a:ea typeface="微软雅黑" panose="020B0503020204020204" pitchFamily="34" charset="-122"/>
              </a:rPr>
              <a:t>Tag</a:t>
            </a:r>
            <a:r>
              <a:rPr kumimoji="1" lang="zh-CN" altLang="en-US" sz="2200" b="1">
                <a:solidFill>
                  <a:srgbClr val="CC0000"/>
                </a:solidFill>
                <a:latin typeface="微软雅黑" panose="020B0503020204020204" pitchFamily="34" charset="-122"/>
                <a:ea typeface="微软雅黑" panose="020B0503020204020204" pitchFamily="34" charset="-122"/>
              </a:rPr>
              <a:t>，低位为</a:t>
            </a:r>
            <a:r>
              <a:rPr kumimoji="1" lang="en-US" altLang="zh-CN" sz="2200" b="1">
                <a:solidFill>
                  <a:srgbClr val="CC0000"/>
                </a:solidFill>
                <a:latin typeface="微软雅黑" panose="020B0503020204020204" pitchFamily="34" charset="-122"/>
                <a:ea typeface="微软雅黑" panose="020B0503020204020204" pitchFamily="34" charset="-122"/>
              </a:rPr>
              <a:t>index</a:t>
            </a:r>
            <a:r>
              <a:rPr kumimoji="1" lang="zh-CN" altLang="en-US" sz="2200" b="1">
                <a:solidFill>
                  <a:srgbClr val="CC0000"/>
                </a:solidFill>
                <a:latin typeface="微软雅黑" panose="020B0503020204020204" pitchFamily="34" charset="-122"/>
                <a:ea typeface="微软雅黑" panose="020B0503020204020204" pitchFamily="34" charset="-122"/>
              </a:rPr>
              <a:t>，用作组索引。</a:t>
            </a:r>
          </a:p>
        </p:txBody>
      </p:sp>
      <p:cxnSp>
        <p:nvCxnSpPr>
          <p:cNvPr id="27" name="直接连接符 26">
            <a:extLst>
              <a:ext uri="{FF2B5EF4-FFF2-40B4-BE49-F238E27FC236}">
                <a16:creationId xmlns:a16="http://schemas.microsoft.com/office/drawing/2014/main" id="{9303074E-BEDF-5F4A-A40F-F4D40EBD08F8}"/>
              </a:ext>
            </a:extLst>
          </p:cNvPr>
          <p:cNvCxnSpPr>
            <a:cxnSpLocks noChangeShapeType="1"/>
          </p:cNvCxnSpPr>
          <p:nvPr/>
        </p:nvCxnSpPr>
        <p:spPr bwMode="auto">
          <a:xfrm flipH="1">
            <a:off x="2051050" y="3114675"/>
            <a:ext cx="946150" cy="404813"/>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3" name="组合 47">
            <a:extLst>
              <a:ext uri="{FF2B5EF4-FFF2-40B4-BE49-F238E27FC236}">
                <a16:creationId xmlns:a16="http://schemas.microsoft.com/office/drawing/2014/main" id="{FE51793B-7C4B-A84F-993F-B09FAD8CEA3F}"/>
              </a:ext>
            </a:extLst>
          </p:cNvPr>
          <p:cNvGrpSpPr>
            <a:grpSpLocks/>
          </p:cNvGrpSpPr>
          <p:nvPr/>
        </p:nvGrpSpPr>
        <p:grpSpPr bwMode="auto">
          <a:xfrm>
            <a:off x="2816225" y="3114675"/>
            <a:ext cx="5805488" cy="990600"/>
            <a:chOff x="2816804" y="3113965"/>
            <a:chExt cx="5805645" cy="991555"/>
          </a:xfrm>
        </p:grpSpPr>
        <p:sp>
          <p:nvSpPr>
            <p:cNvPr id="232465" name="TextBox 23">
              <a:extLst>
                <a:ext uri="{FF2B5EF4-FFF2-40B4-BE49-F238E27FC236}">
                  <a16:creationId xmlns:a16="http://schemas.microsoft.com/office/drawing/2014/main" id="{2E15523E-974E-9045-A060-1B2416FEB588}"/>
                </a:ext>
              </a:extLst>
            </p:cNvPr>
            <p:cNvSpPr txBox="1">
              <a:spLocks noChangeArrowheads="1"/>
            </p:cNvSpPr>
            <p:nvPr/>
          </p:nvSpPr>
          <p:spPr bwMode="auto">
            <a:xfrm>
              <a:off x="2816804" y="3520455"/>
              <a:ext cx="5805645" cy="585065"/>
            </a:xfrm>
            <a:prstGeom prst="rect">
              <a:avLst/>
            </a:prstGeom>
            <a:solidFill>
              <a:srgbClr val="FF0000">
                <a:alpha val="1882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en-US" altLang="zh-CN" sz="1800" b="1" i="1">
                <a:solidFill>
                  <a:srgbClr val="666699"/>
                </a:solidFill>
                <a:ea typeface="华文新魏" panose="02010800040101010101" pitchFamily="2" charset="-122"/>
              </a:endParaRPr>
            </a:p>
          </p:txBody>
        </p:sp>
        <p:cxnSp>
          <p:nvCxnSpPr>
            <p:cNvPr id="232466" name="直接连接符 31">
              <a:extLst>
                <a:ext uri="{FF2B5EF4-FFF2-40B4-BE49-F238E27FC236}">
                  <a16:creationId xmlns:a16="http://schemas.microsoft.com/office/drawing/2014/main" id="{1215C2B1-D6C5-8F43-B5E2-4AFA96094C27}"/>
                </a:ext>
              </a:extLst>
            </p:cNvPr>
            <p:cNvCxnSpPr>
              <a:cxnSpLocks noChangeShapeType="1"/>
            </p:cNvCxnSpPr>
            <p:nvPr/>
          </p:nvCxnSpPr>
          <p:spPr bwMode="auto">
            <a:xfrm>
              <a:off x="4436985" y="3113965"/>
              <a:ext cx="810090" cy="405045"/>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47" name="Text Box 210">
            <a:extLst>
              <a:ext uri="{FF2B5EF4-FFF2-40B4-BE49-F238E27FC236}">
                <a16:creationId xmlns:a16="http://schemas.microsoft.com/office/drawing/2014/main" id="{7D8F55FB-54C9-984A-97DC-FFC51B444DB6}"/>
              </a:ext>
            </a:extLst>
          </p:cNvPr>
          <p:cNvSpPr txBox="1">
            <a:spLocks noChangeArrowheads="1"/>
          </p:cNvSpPr>
          <p:nvPr/>
        </p:nvSpPr>
        <p:spPr bwMode="auto">
          <a:xfrm>
            <a:off x="385763" y="2700338"/>
            <a:ext cx="81454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2400" b="1">
                <a:solidFill>
                  <a:srgbClr val="0000FF"/>
                </a:solidFill>
                <a:latin typeface="微软雅黑" panose="020B0503020204020204" pitchFamily="34" charset="-122"/>
                <a:ea typeface="微软雅黑" panose="020B0503020204020204" pitchFamily="34" charset="-122"/>
              </a:rPr>
              <a:t>TLB</a:t>
            </a:r>
            <a:r>
              <a:rPr kumimoji="1" lang="zh-CN" altLang="en-US" sz="2400" b="1">
                <a:solidFill>
                  <a:srgbClr val="0000FF"/>
                </a:solidFill>
                <a:latin typeface="微软雅黑" panose="020B0503020204020204" pitchFamily="34" charset="-122"/>
                <a:ea typeface="微软雅黑" panose="020B0503020204020204" pitchFamily="34" charset="-122"/>
              </a:rPr>
              <a:t>中的页表项：</a:t>
            </a:r>
            <a:r>
              <a:rPr kumimoji="1" lang="en-US" altLang="zh-CN" sz="2400" b="1">
                <a:latin typeface="微软雅黑" panose="020B0503020204020204" pitchFamily="34" charset="-122"/>
                <a:ea typeface="微软雅黑" panose="020B0503020204020204" pitchFamily="34" charset="-122"/>
              </a:rPr>
              <a:t>tag</a:t>
            </a:r>
            <a:r>
              <a:rPr kumimoji="1" lang="en-US" altLang="zh-CN" sz="2400" b="1">
                <a:solidFill>
                  <a:srgbClr val="0000FF"/>
                </a:solidFill>
                <a:latin typeface="微软雅黑" panose="020B0503020204020204" pitchFamily="34" charset="-122"/>
                <a:ea typeface="微软雅黑" panose="020B0503020204020204" pitchFamily="34" charset="-122"/>
              </a:rPr>
              <a:t>+</a:t>
            </a:r>
            <a:r>
              <a:rPr kumimoji="1" lang="zh-CN" altLang="en-US" sz="2400" b="1">
                <a:latin typeface="微软雅黑" panose="020B0503020204020204" pitchFamily="34" charset="-122"/>
                <a:ea typeface="微软雅黑" panose="020B0503020204020204" pitchFamily="34" charset="-122"/>
              </a:rPr>
              <a:t>主存页表项</a:t>
            </a:r>
          </a:p>
        </p:txBody>
      </p:sp>
      <p:sp>
        <p:nvSpPr>
          <p:cNvPr id="664603" name="Rectangle 27">
            <a:extLst>
              <a:ext uri="{FF2B5EF4-FFF2-40B4-BE49-F238E27FC236}">
                <a16:creationId xmlns:a16="http://schemas.microsoft.com/office/drawing/2014/main" id="{714DFFBC-AC77-414A-A2C9-C0EC84B1DB3F}"/>
              </a:ext>
            </a:extLst>
          </p:cNvPr>
          <p:cNvSpPr>
            <a:spLocks noChangeArrowheads="1"/>
          </p:cNvSpPr>
          <p:nvPr/>
        </p:nvSpPr>
        <p:spPr bwMode="auto">
          <a:xfrm>
            <a:off x="3497263" y="2743200"/>
            <a:ext cx="1539875" cy="319088"/>
          </a:xfrm>
          <a:prstGeom prst="rect">
            <a:avLst/>
          </a:prstGeom>
          <a:solidFill>
            <a:srgbClr val="FF8398">
              <a:alpha val="34901"/>
            </a:srgbClr>
          </a:solidFill>
          <a:ln>
            <a:noFill/>
          </a:ln>
          <a:effectLst/>
          <a:extLs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6535">
                                            <p:txEl>
                                              <p:pRg st="0" end="0"/>
                                            </p:txEl>
                                          </p:spTgt>
                                        </p:tgtEl>
                                        <p:attrNameLst>
                                          <p:attrName>style.visibility</p:attrName>
                                        </p:attrNameLst>
                                      </p:cBhvr>
                                      <p:to>
                                        <p:strVal val="visible"/>
                                      </p:to>
                                    </p:set>
                                    <p:animEffect transition="in" filter="blinds(horizontal)">
                                      <p:cBhvr>
                                        <p:cTn id="7" dur="500"/>
                                        <p:tgtEl>
                                          <p:spTgt spid="5265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6545"/>
                                        </p:tgtEl>
                                        <p:attrNameLst>
                                          <p:attrName>style.visibility</p:attrName>
                                        </p:attrNameLst>
                                      </p:cBhvr>
                                      <p:to>
                                        <p:strVal val="visible"/>
                                      </p:to>
                                    </p:set>
                                    <p:animEffect transition="in" filter="blinds(horizontal)">
                                      <p:cBhvr>
                                        <p:cTn id="12" dur="500"/>
                                        <p:tgtEl>
                                          <p:spTgt spid="5265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26339">
                                            <p:txEl>
                                              <p:pRg st="0" end="0"/>
                                            </p:txEl>
                                          </p:spTgt>
                                        </p:tgtEl>
                                        <p:attrNameLst>
                                          <p:attrName>style.visibility</p:attrName>
                                        </p:attrNameLst>
                                      </p:cBhvr>
                                      <p:to>
                                        <p:strVal val="visible"/>
                                      </p:to>
                                    </p:set>
                                    <p:animEffect transition="in" filter="blinds(horizontal)">
                                      <p:cBhvr>
                                        <p:cTn id="17" dur="500"/>
                                        <p:tgtEl>
                                          <p:spTgt spid="52633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blinds(horizontal)">
                                      <p:cBhvr>
                                        <p:cTn id="22" dur="500"/>
                                        <p:tgtEl>
                                          <p:spTgt spid="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64603"/>
                                        </p:tgtEl>
                                        <p:attrNameLst>
                                          <p:attrName>style.visibility</p:attrName>
                                        </p:attrNameLst>
                                      </p:cBhvr>
                                      <p:to>
                                        <p:strVal val="visible"/>
                                      </p:to>
                                    </p:set>
                                    <p:animEffect transition="in" filter="blinds(horizontal)">
                                      <p:cBhvr>
                                        <p:cTn id="27" dur="500"/>
                                        <p:tgtEl>
                                          <p:spTgt spid="6646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26547"/>
                                        </p:tgtEl>
                                        <p:attrNameLst>
                                          <p:attrName>style.visibility</p:attrName>
                                        </p:attrNameLst>
                                      </p:cBhvr>
                                      <p:to>
                                        <p:strVal val="visible"/>
                                      </p:to>
                                    </p:set>
                                    <p:animEffect transition="in" filter="blinds(horizontal)">
                                      <p:cBhvr>
                                        <p:cTn id="37" dur="500"/>
                                        <p:tgtEl>
                                          <p:spTgt spid="5265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linds(horizontal)">
                                      <p:cBhvr>
                                        <p:cTn id="42" dur="500"/>
                                        <p:tgtEl>
                                          <p:spTgt spid="2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linds(horizontal)">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26546"/>
                                        </p:tgtEl>
                                        <p:attrNameLst>
                                          <p:attrName>style.visibility</p:attrName>
                                        </p:attrNameLst>
                                      </p:cBhvr>
                                      <p:to>
                                        <p:strVal val="visible"/>
                                      </p:to>
                                    </p:set>
                                    <p:animEffect transition="in" filter="blinds(horizontal)">
                                      <p:cBhvr>
                                        <p:cTn id="52" dur="500"/>
                                        <p:tgtEl>
                                          <p:spTgt spid="52654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26562"/>
                                        </p:tgtEl>
                                        <p:attrNameLst>
                                          <p:attrName>style.visibility</p:attrName>
                                        </p:attrNameLst>
                                      </p:cBhvr>
                                      <p:to>
                                        <p:strVal val="visible"/>
                                      </p:to>
                                    </p:set>
                                    <p:animEffect transition="in" filter="blinds(horizontal)">
                                      <p:cBhvr>
                                        <p:cTn id="57" dur="500"/>
                                        <p:tgtEl>
                                          <p:spTgt spid="52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545" grpId="0"/>
      <p:bldP spid="526546" grpId="0"/>
      <p:bldP spid="526547" grpId="0"/>
      <p:bldP spid="526562" grpId="0"/>
      <p:bldP spid="47" grpId="0"/>
      <p:bldP spid="66460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6FB608DB-8F70-1348-85B1-0A19A29B4C43}"/>
              </a:ext>
            </a:extLst>
          </p:cNvPr>
          <p:cNvSpPr>
            <a:spLocks noGrp="1" noChangeArrowheads="1"/>
          </p:cNvSpPr>
          <p:nvPr>
            <p:ph type="title" idx="4294967295"/>
          </p:nvPr>
        </p:nvSpPr>
        <p:spPr>
          <a:xfrm>
            <a:off x="358775" y="98425"/>
            <a:ext cx="8150225" cy="474663"/>
          </a:xfrm>
          <a:noFill/>
        </p:spPr>
        <p:txBody>
          <a:bodyPr wrap="none"/>
          <a:lstStyle/>
          <a:p>
            <a:pPr eaLnBrk="1" hangingPunct="1"/>
            <a:r>
              <a:rPr lang="en-US" altLang="zh-CN" sz="3200">
                <a:solidFill>
                  <a:srgbClr val="CC0000"/>
                </a:solidFill>
              </a:rPr>
              <a:t>TLBs --- Making Address Translation Fast</a:t>
            </a:r>
          </a:p>
        </p:txBody>
      </p:sp>
      <p:sp>
        <p:nvSpPr>
          <p:cNvPr id="785621" name="Text Box 213">
            <a:extLst>
              <a:ext uri="{FF2B5EF4-FFF2-40B4-BE49-F238E27FC236}">
                <a16:creationId xmlns:a16="http://schemas.microsoft.com/office/drawing/2014/main" id="{AF9B6FA0-C4FD-1C4F-A555-FFCC80EF2447}"/>
              </a:ext>
            </a:extLst>
          </p:cNvPr>
          <p:cNvSpPr txBox="1">
            <a:spLocks noChangeArrowheads="1"/>
          </p:cNvSpPr>
          <p:nvPr/>
        </p:nvSpPr>
        <p:spPr bwMode="auto">
          <a:xfrm>
            <a:off x="206375" y="1763713"/>
            <a:ext cx="13509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0000FF"/>
                </a:solidFill>
                <a:ea typeface="黑体" panose="02010609060101010101" pitchFamily="49" charset="-122"/>
              </a:rPr>
              <a:t>先由虚页号到</a:t>
            </a:r>
            <a:r>
              <a:rPr kumimoji="1" lang="en-US" altLang="zh-CN" sz="2000" b="1">
                <a:solidFill>
                  <a:srgbClr val="0000FF"/>
                </a:solidFill>
                <a:ea typeface="黑体" panose="02010609060101010101" pitchFamily="49" charset="-122"/>
              </a:rPr>
              <a:t>TLB</a:t>
            </a:r>
            <a:r>
              <a:rPr kumimoji="1" lang="zh-CN" altLang="en-US" sz="2000" b="1">
                <a:solidFill>
                  <a:srgbClr val="0000FF"/>
                </a:solidFill>
                <a:ea typeface="黑体" panose="02010609060101010101" pitchFamily="49" charset="-122"/>
              </a:rPr>
              <a:t>中找</a:t>
            </a:r>
            <a:endParaRPr kumimoji="1" lang="en-US" altLang="zh-CN" sz="2000" b="1">
              <a:solidFill>
                <a:srgbClr val="0000FF"/>
              </a:solidFill>
              <a:ea typeface="黑体" panose="02010609060101010101" pitchFamily="49" charset="-122"/>
            </a:endParaRPr>
          </a:p>
          <a:p>
            <a:pPr eaLnBrk="1" hangingPunct="1"/>
            <a:r>
              <a:rPr kumimoji="1" lang="zh-CN" altLang="en-US" sz="2000" b="1">
                <a:solidFill>
                  <a:srgbClr val="FF0000"/>
                </a:solidFill>
                <a:ea typeface="黑体" panose="02010609060101010101" pitchFamily="49" charset="-122"/>
              </a:rPr>
              <a:t>如何找？</a:t>
            </a:r>
          </a:p>
        </p:txBody>
      </p:sp>
      <p:grpSp>
        <p:nvGrpSpPr>
          <p:cNvPr id="234500" name="Group 224">
            <a:extLst>
              <a:ext uri="{FF2B5EF4-FFF2-40B4-BE49-F238E27FC236}">
                <a16:creationId xmlns:a16="http://schemas.microsoft.com/office/drawing/2014/main" id="{801443AF-24B5-EC4E-93E2-50807DCC21D2}"/>
              </a:ext>
            </a:extLst>
          </p:cNvPr>
          <p:cNvGrpSpPr>
            <a:grpSpLocks/>
          </p:cNvGrpSpPr>
          <p:nvPr/>
        </p:nvGrpSpPr>
        <p:grpSpPr bwMode="auto">
          <a:xfrm>
            <a:off x="566738" y="1044575"/>
            <a:ext cx="8201025" cy="5068888"/>
            <a:chOff x="237" y="1947"/>
            <a:chExt cx="5039" cy="2244"/>
          </a:xfrm>
        </p:grpSpPr>
        <p:sp>
          <p:nvSpPr>
            <p:cNvPr id="234507" name="Rectangle 6">
              <a:extLst>
                <a:ext uri="{FF2B5EF4-FFF2-40B4-BE49-F238E27FC236}">
                  <a16:creationId xmlns:a16="http://schemas.microsoft.com/office/drawing/2014/main" id="{E4EC7C0C-FE1A-4B4B-817C-FA997212A84B}"/>
                </a:ext>
              </a:extLst>
            </p:cNvPr>
            <p:cNvSpPr>
              <a:spLocks noChangeArrowheads="1"/>
            </p:cNvSpPr>
            <p:nvPr/>
          </p:nvSpPr>
          <p:spPr bwMode="auto">
            <a:xfrm>
              <a:off x="2330" y="2819"/>
              <a:ext cx="1"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b="1">
                <a:latin typeface="Times New Roman" panose="02020603050405020304" pitchFamily="18" charset="0"/>
                <a:ea typeface="宋体" panose="02010600030101010101" pitchFamily="2" charset="-122"/>
              </a:endParaRPr>
            </a:p>
          </p:txBody>
        </p:sp>
        <p:sp>
          <p:nvSpPr>
            <p:cNvPr id="234508" name="Freeform 17">
              <a:extLst>
                <a:ext uri="{FF2B5EF4-FFF2-40B4-BE49-F238E27FC236}">
                  <a16:creationId xmlns:a16="http://schemas.microsoft.com/office/drawing/2014/main" id="{F2E34C90-C8AA-4F46-A7B3-4EE40EF97E37}"/>
                </a:ext>
              </a:extLst>
            </p:cNvPr>
            <p:cNvSpPr>
              <a:spLocks/>
            </p:cNvSpPr>
            <p:nvPr/>
          </p:nvSpPr>
          <p:spPr bwMode="auto">
            <a:xfrm>
              <a:off x="881" y="2233"/>
              <a:ext cx="445" cy="1369"/>
            </a:xfrm>
            <a:custGeom>
              <a:avLst/>
              <a:gdLst>
                <a:gd name="T0" fmla="*/ 0 w 283"/>
                <a:gd name="T1" fmla="*/ 0 h 1605"/>
                <a:gd name="T2" fmla="*/ 0 w 283"/>
                <a:gd name="T3" fmla="*/ 16 h 1605"/>
                <a:gd name="T4" fmla="*/ 142120153 w 283"/>
                <a:gd name="T5" fmla="*/ 16 h 1605"/>
                <a:gd name="T6" fmla="*/ 0 60000 65536"/>
                <a:gd name="T7" fmla="*/ 0 60000 65536"/>
                <a:gd name="T8" fmla="*/ 0 60000 65536"/>
                <a:gd name="T9" fmla="*/ 0 w 283"/>
                <a:gd name="T10" fmla="*/ 0 h 1605"/>
                <a:gd name="T11" fmla="*/ 283 w 283"/>
                <a:gd name="T12" fmla="*/ 1605 h 1605"/>
              </a:gdLst>
              <a:ahLst/>
              <a:cxnLst>
                <a:cxn ang="T6">
                  <a:pos x="T0" y="T1"/>
                </a:cxn>
                <a:cxn ang="T7">
                  <a:pos x="T2" y="T3"/>
                </a:cxn>
                <a:cxn ang="T8">
                  <a:pos x="T4" y="T5"/>
                </a:cxn>
              </a:cxnLst>
              <a:rect l="T9" t="T10" r="T11" b="T12"/>
              <a:pathLst>
                <a:path w="283" h="1605">
                  <a:moveTo>
                    <a:pt x="0" y="0"/>
                  </a:moveTo>
                  <a:lnTo>
                    <a:pt x="0" y="1605"/>
                  </a:lnTo>
                  <a:lnTo>
                    <a:pt x="283" y="1605"/>
                  </a:ln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34509" name="Group 18">
              <a:extLst>
                <a:ext uri="{FF2B5EF4-FFF2-40B4-BE49-F238E27FC236}">
                  <a16:creationId xmlns:a16="http://schemas.microsoft.com/office/drawing/2014/main" id="{1FF94836-EE51-AF4C-80F2-9BFC6349285D}"/>
                </a:ext>
              </a:extLst>
            </p:cNvPr>
            <p:cNvGrpSpPr>
              <a:grpSpLocks/>
            </p:cNvGrpSpPr>
            <p:nvPr/>
          </p:nvGrpSpPr>
          <p:grpSpPr bwMode="auto">
            <a:xfrm>
              <a:off x="2698" y="2276"/>
              <a:ext cx="1292" cy="892"/>
              <a:chOff x="2698" y="2276"/>
              <a:chExt cx="1292" cy="892"/>
            </a:xfrm>
          </p:grpSpPr>
          <p:sp>
            <p:nvSpPr>
              <p:cNvPr id="234674" name="Freeform 19">
                <a:extLst>
                  <a:ext uri="{FF2B5EF4-FFF2-40B4-BE49-F238E27FC236}">
                    <a16:creationId xmlns:a16="http://schemas.microsoft.com/office/drawing/2014/main" id="{7825A03E-62FA-124A-843B-072D7CA6F28E}"/>
                  </a:ext>
                </a:extLst>
              </p:cNvPr>
              <p:cNvSpPr>
                <a:spLocks/>
              </p:cNvSpPr>
              <p:nvPr/>
            </p:nvSpPr>
            <p:spPr bwMode="auto">
              <a:xfrm>
                <a:off x="3932" y="3108"/>
                <a:ext cx="58" cy="27"/>
              </a:xfrm>
              <a:custGeom>
                <a:avLst/>
                <a:gdLst>
                  <a:gd name="T0" fmla="*/ 446012 w 41"/>
                  <a:gd name="T1" fmla="*/ 0 h 32"/>
                  <a:gd name="T2" fmla="*/ 0 w 41"/>
                  <a:gd name="T3" fmla="*/ 3 h 32"/>
                  <a:gd name="T4" fmla="*/ 955912 w 41"/>
                  <a:gd name="T5" fmla="*/ 3 h 32"/>
                  <a:gd name="T6" fmla="*/ 511709 w 41"/>
                  <a:gd name="T7" fmla="*/ 0 h 32"/>
                  <a:gd name="T8" fmla="*/ 511709 w 41"/>
                  <a:gd name="T9" fmla="*/ 0 h 32"/>
                  <a:gd name="T10" fmla="*/ 446012 w 41"/>
                  <a:gd name="T11" fmla="*/ 0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19" y="0"/>
                    </a:moveTo>
                    <a:lnTo>
                      <a:pt x="0" y="28"/>
                    </a:lnTo>
                    <a:lnTo>
                      <a:pt x="41" y="32"/>
                    </a:lnTo>
                    <a:lnTo>
                      <a:pt x="22" y="0"/>
                    </a:lnTo>
                    <a:lnTo>
                      <a:pt x="19" y="0"/>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75" name="Freeform 20">
                <a:extLst>
                  <a:ext uri="{FF2B5EF4-FFF2-40B4-BE49-F238E27FC236}">
                    <a16:creationId xmlns:a16="http://schemas.microsoft.com/office/drawing/2014/main" id="{6D6FAB2E-6889-1249-AD60-00386CB6B087}"/>
                  </a:ext>
                </a:extLst>
              </p:cNvPr>
              <p:cNvSpPr>
                <a:spLocks/>
              </p:cNvSpPr>
              <p:nvPr/>
            </p:nvSpPr>
            <p:spPr bwMode="auto">
              <a:xfrm>
                <a:off x="3932" y="3108"/>
                <a:ext cx="58" cy="27"/>
              </a:xfrm>
              <a:custGeom>
                <a:avLst/>
                <a:gdLst>
                  <a:gd name="T0" fmla="*/ 446012 w 41"/>
                  <a:gd name="T1" fmla="*/ 0 h 32"/>
                  <a:gd name="T2" fmla="*/ 0 w 41"/>
                  <a:gd name="T3" fmla="*/ 3 h 32"/>
                  <a:gd name="T4" fmla="*/ 955912 w 41"/>
                  <a:gd name="T5" fmla="*/ 3 h 32"/>
                  <a:gd name="T6" fmla="*/ 511709 w 41"/>
                  <a:gd name="T7" fmla="*/ 0 h 32"/>
                  <a:gd name="T8" fmla="*/ 511709 w 41"/>
                  <a:gd name="T9" fmla="*/ 0 h 32"/>
                  <a:gd name="T10" fmla="*/ 0 60000 65536"/>
                  <a:gd name="T11" fmla="*/ 0 60000 65536"/>
                  <a:gd name="T12" fmla="*/ 0 60000 65536"/>
                  <a:gd name="T13" fmla="*/ 0 60000 65536"/>
                  <a:gd name="T14" fmla="*/ 0 60000 65536"/>
                  <a:gd name="T15" fmla="*/ 0 w 41"/>
                  <a:gd name="T16" fmla="*/ 0 h 32"/>
                  <a:gd name="T17" fmla="*/ 41 w 41"/>
                  <a:gd name="T18" fmla="*/ 32 h 32"/>
                </a:gdLst>
                <a:ahLst/>
                <a:cxnLst>
                  <a:cxn ang="T10">
                    <a:pos x="T0" y="T1"/>
                  </a:cxn>
                  <a:cxn ang="T11">
                    <a:pos x="T2" y="T3"/>
                  </a:cxn>
                  <a:cxn ang="T12">
                    <a:pos x="T4" y="T5"/>
                  </a:cxn>
                  <a:cxn ang="T13">
                    <a:pos x="T6" y="T7"/>
                  </a:cxn>
                  <a:cxn ang="T14">
                    <a:pos x="T8" y="T9"/>
                  </a:cxn>
                </a:cxnLst>
                <a:rect l="T15" t="T16" r="T17" b="T18"/>
                <a:pathLst>
                  <a:path w="41" h="32">
                    <a:moveTo>
                      <a:pt x="19" y="0"/>
                    </a:moveTo>
                    <a:lnTo>
                      <a:pt x="0" y="28"/>
                    </a:lnTo>
                    <a:lnTo>
                      <a:pt x="41" y="32"/>
                    </a:lnTo>
                    <a:lnTo>
                      <a:pt x="22" y="0"/>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76" name="Freeform 21">
                <a:extLst>
                  <a:ext uri="{FF2B5EF4-FFF2-40B4-BE49-F238E27FC236}">
                    <a16:creationId xmlns:a16="http://schemas.microsoft.com/office/drawing/2014/main" id="{9B34AAE8-C89D-B64C-A15B-FDD99CBA12A7}"/>
                  </a:ext>
                </a:extLst>
              </p:cNvPr>
              <p:cNvSpPr>
                <a:spLocks/>
              </p:cNvSpPr>
              <p:nvPr/>
            </p:nvSpPr>
            <p:spPr bwMode="auto">
              <a:xfrm>
                <a:off x="3932" y="2852"/>
                <a:ext cx="58" cy="28"/>
              </a:xfrm>
              <a:custGeom>
                <a:avLst/>
                <a:gdLst>
                  <a:gd name="T0" fmla="*/ 342500 w 41"/>
                  <a:gd name="T1" fmla="*/ 0 h 32"/>
                  <a:gd name="T2" fmla="*/ 0 w 41"/>
                  <a:gd name="T3" fmla="*/ 4 h 32"/>
                  <a:gd name="T4" fmla="*/ 955912 w 41"/>
                  <a:gd name="T5" fmla="*/ 4 h 32"/>
                  <a:gd name="T6" fmla="*/ 342500 w 41"/>
                  <a:gd name="T7" fmla="*/ 2 h 32"/>
                  <a:gd name="T8" fmla="*/ 342500 w 41"/>
                  <a:gd name="T9" fmla="*/ 2 h 32"/>
                  <a:gd name="T10" fmla="*/ 342500 w 41"/>
                  <a:gd name="T11" fmla="*/ 0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15" y="0"/>
                    </a:moveTo>
                    <a:lnTo>
                      <a:pt x="0" y="32"/>
                    </a:lnTo>
                    <a:lnTo>
                      <a:pt x="41" y="30"/>
                    </a:lnTo>
                    <a:lnTo>
                      <a:pt x="15" y="2"/>
                    </a:lnTo>
                    <a:lnTo>
                      <a:pt x="15" y="0"/>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77" name="Freeform 22">
                <a:extLst>
                  <a:ext uri="{FF2B5EF4-FFF2-40B4-BE49-F238E27FC236}">
                    <a16:creationId xmlns:a16="http://schemas.microsoft.com/office/drawing/2014/main" id="{4F932B2F-DD0C-7E4D-AF99-0874400344C3}"/>
                  </a:ext>
                </a:extLst>
              </p:cNvPr>
              <p:cNvSpPr>
                <a:spLocks/>
              </p:cNvSpPr>
              <p:nvPr/>
            </p:nvSpPr>
            <p:spPr bwMode="auto">
              <a:xfrm>
                <a:off x="3932" y="2852"/>
                <a:ext cx="58" cy="28"/>
              </a:xfrm>
              <a:custGeom>
                <a:avLst/>
                <a:gdLst>
                  <a:gd name="T0" fmla="*/ 342500 w 41"/>
                  <a:gd name="T1" fmla="*/ 0 h 32"/>
                  <a:gd name="T2" fmla="*/ 0 w 41"/>
                  <a:gd name="T3" fmla="*/ 4 h 32"/>
                  <a:gd name="T4" fmla="*/ 955912 w 41"/>
                  <a:gd name="T5" fmla="*/ 4 h 32"/>
                  <a:gd name="T6" fmla="*/ 342500 w 41"/>
                  <a:gd name="T7" fmla="*/ 2 h 32"/>
                  <a:gd name="T8" fmla="*/ 342500 w 41"/>
                  <a:gd name="T9" fmla="*/ 2 h 32"/>
                  <a:gd name="T10" fmla="*/ 0 60000 65536"/>
                  <a:gd name="T11" fmla="*/ 0 60000 65536"/>
                  <a:gd name="T12" fmla="*/ 0 60000 65536"/>
                  <a:gd name="T13" fmla="*/ 0 60000 65536"/>
                  <a:gd name="T14" fmla="*/ 0 60000 65536"/>
                  <a:gd name="T15" fmla="*/ 0 w 41"/>
                  <a:gd name="T16" fmla="*/ 0 h 32"/>
                  <a:gd name="T17" fmla="*/ 41 w 41"/>
                  <a:gd name="T18" fmla="*/ 32 h 32"/>
                </a:gdLst>
                <a:ahLst/>
                <a:cxnLst>
                  <a:cxn ang="T10">
                    <a:pos x="T0" y="T1"/>
                  </a:cxn>
                  <a:cxn ang="T11">
                    <a:pos x="T2" y="T3"/>
                  </a:cxn>
                  <a:cxn ang="T12">
                    <a:pos x="T4" y="T5"/>
                  </a:cxn>
                  <a:cxn ang="T13">
                    <a:pos x="T6" y="T7"/>
                  </a:cxn>
                  <a:cxn ang="T14">
                    <a:pos x="T8" y="T9"/>
                  </a:cxn>
                </a:cxnLst>
                <a:rect l="T15" t="T16" r="T17" b="T18"/>
                <a:pathLst>
                  <a:path w="41" h="32">
                    <a:moveTo>
                      <a:pt x="15" y="0"/>
                    </a:moveTo>
                    <a:lnTo>
                      <a:pt x="0" y="32"/>
                    </a:lnTo>
                    <a:lnTo>
                      <a:pt x="41" y="30"/>
                    </a:lnTo>
                    <a:lnTo>
                      <a:pt x="15" y="2"/>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78" name="Freeform 23">
                <a:extLst>
                  <a:ext uri="{FF2B5EF4-FFF2-40B4-BE49-F238E27FC236}">
                    <a16:creationId xmlns:a16="http://schemas.microsoft.com/office/drawing/2014/main" id="{7AC1F7FE-A3F7-AB4F-8065-0F2F3FB70087}"/>
                  </a:ext>
                </a:extLst>
              </p:cNvPr>
              <p:cNvSpPr>
                <a:spLocks/>
              </p:cNvSpPr>
              <p:nvPr/>
            </p:nvSpPr>
            <p:spPr bwMode="auto">
              <a:xfrm>
                <a:off x="3932" y="2678"/>
                <a:ext cx="58" cy="28"/>
              </a:xfrm>
              <a:custGeom>
                <a:avLst/>
                <a:gdLst>
                  <a:gd name="T0" fmla="*/ 396860 w 41"/>
                  <a:gd name="T1" fmla="*/ 0 h 32"/>
                  <a:gd name="T2" fmla="*/ 0 w 41"/>
                  <a:gd name="T3" fmla="*/ 4 h 32"/>
                  <a:gd name="T4" fmla="*/ 955912 w 41"/>
                  <a:gd name="T5" fmla="*/ 4 h 32"/>
                  <a:gd name="T6" fmla="*/ 446012 w 41"/>
                  <a:gd name="T7" fmla="*/ 0 h 32"/>
                  <a:gd name="T8" fmla="*/ 446012 w 41"/>
                  <a:gd name="T9" fmla="*/ 0 h 32"/>
                  <a:gd name="T10" fmla="*/ 396860 w 41"/>
                  <a:gd name="T11" fmla="*/ 0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17" y="0"/>
                    </a:moveTo>
                    <a:lnTo>
                      <a:pt x="0" y="30"/>
                    </a:lnTo>
                    <a:lnTo>
                      <a:pt x="41" y="32"/>
                    </a:lnTo>
                    <a:lnTo>
                      <a:pt x="19" y="0"/>
                    </a:lnTo>
                    <a:lnTo>
                      <a:pt x="17" y="0"/>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79" name="Freeform 24">
                <a:extLst>
                  <a:ext uri="{FF2B5EF4-FFF2-40B4-BE49-F238E27FC236}">
                    <a16:creationId xmlns:a16="http://schemas.microsoft.com/office/drawing/2014/main" id="{07DC85F3-E18C-4249-AA5D-CBDAD14E9456}"/>
                  </a:ext>
                </a:extLst>
              </p:cNvPr>
              <p:cNvSpPr>
                <a:spLocks/>
              </p:cNvSpPr>
              <p:nvPr/>
            </p:nvSpPr>
            <p:spPr bwMode="auto">
              <a:xfrm>
                <a:off x="3932" y="2678"/>
                <a:ext cx="58" cy="28"/>
              </a:xfrm>
              <a:custGeom>
                <a:avLst/>
                <a:gdLst>
                  <a:gd name="T0" fmla="*/ 396860 w 41"/>
                  <a:gd name="T1" fmla="*/ 0 h 32"/>
                  <a:gd name="T2" fmla="*/ 0 w 41"/>
                  <a:gd name="T3" fmla="*/ 4 h 32"/>
                  <a:gd name="T4" fmla="*/ 955912 w 41"/>
                  <a:gd name="T5" fmla="*/ 4 h 32"/>
                  <a:gd name="T6" fmla="*/ 446012 w 41"/>
                  <a:gd name="T7" fmla="*/ 0 h 32"/>
                  <a:gd name="T8" fmla="*/ 446012 w 41"/>
                  <a:gd name="T9" fmla="*/ 0 h 32"/>
                  <a:gd name="T10" fmla="*/ 0 60000 65536"/>
                  <a:gd name="T11" fmla="*/ 0 60000 65536"/>
                  <a:gd name="T12" fmla="*/ 0 60000 65536"/>
                  <a:gd name="T13" fmla="*/ 0 60000 65536"/>
                  <a:gd name="T14" fmla="*/ 0 60000 65536"/>
                  <a:gd name="T15" fmla="*/ 0 w 41"/>
                  <a:gd name="T16" fmla="*/ 0 h 32"/>
                  <a:gd name="T17" fmla="*/ 41 w 41"/>
                  <a:gd name="T18" fmla="*/ 32 h 32"/>
                </a:gdLst>
                <a:ahLst/>
                <a:cxnLst>
                  <a:cxn ang="T10">
                    <a:pos x="T0" y="T1"/>
                  </a:cxn>
                  <a:cxn ang="T11">
                    <a:pos x="T2" y="T3"/>
                  </a:cxn>
                  <a:cxn ang="T12">
                    <a:pos x="T4" y="T5"/>
                  </a:cxn>
                  <a:cxn ang="T13">
                    <a:pos x="T6" y="T7"/>
                  </a:cxn>
                  <a:cxn ang="T14">
                    <a:pos x="T8" y="T9"/>
                  </a:cxn>
                </a:cxnLst>
                <a:rect l="T15" t="T16" r="T17" b="T18"/>
                <a:pathLst>
                  <a:path w="41" h="32">
                    <a:moveTo>
                      <a:pt x="17" y="0"/>
                    </a:moveTo>
                    <a:lnTo>
                      <a:pt x="0" y="30"/>
                    </a:lnTo>
                    <a:lnTo>
                      <a:pt x="41" y="32"/>
                    </a:lnTo>
                    <a:lnTo>
                      <a:pt x="19" y="0"/>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80" name="Freeform 25">
                <a:extLst>
                  <a:ext uri="{FF2B5EF4-FFF2-40B4-BE49-F238E27FC236}">
                    <a16:creationId xmlns:a16="http://schemas.microsoft.com/office/drawing/2014/main" id="{70A5E59F-120F-5343-8FA5-1A62CEAF6F22}"/>
                  </a:ext>
                </a:extLst>
              </p:cNvPr>
              <p:cNvSpPr>
                <a:spLocks/>
              </p:cNvSpPr>
              <p:nvPr/>
            </p:nvSpPr>
            <p:spPr bwMode="auto">
              <a:xfrm>
                <a:off x="3937" y="2434"/>
                <a:ext cx="53" cy="30"/>
              </a:xfrm>
              <a:custGeom>
                <a:avLst/>
                <a:gdLst>
                  <a:gd name="T0" fmla="*/ 0 w 37"/>
                  <a:gd name="T1" fmla="*/ 0 h 34"/>
                  <a:gd name="T2" fmla="*/ 0 w 37"/>
                  <a:gd name="T3" fmla="*/ 4 h 34"/>
                  <a:gd name="T4" fmla="*/ 1240757 w 37"/>
                  <a:gd name="T5" fmla="*/ 4 h 34"/>
                  <a:gd name="T6" fmla="*/ 0 w 37"/>
                  <a:gd name="T7" fmla="*/ 2 h 34"/>
                  <a:gd name="T8" fmla="*/ 0 w 37"/>
                  <a:gd name="T9" fmla="*/ 2 h 34"/>
                  <a:gd name="T10" fmla="*/ 0 w 37"/>
                  <a:gd name="T11" fmla="*/ 0 h 34"/>
                  <a:gd name="T12" fmla="*/ 0 60000 65536"/>
                  <a:gd name="T13" fmla="*/ 0 60000 65536"/>
                  <a:gd name="T14" fmla="*/ 0 60000 65536"/>
                  <a:gd name="T15" fmla="*/ 0 60000 65536"/>
                  <a:gd name="T16" fmla="*/ 0 60000 65536"/>
                  <a:gd name="T17" fmla="*/ 0 60000 65536"/>
                  <a:gd name="T18" fmla="*/ 0 w 37"/>
                  <a:gd name="T19" fmla="*/ 0 h 34"/>
                  <a:gd name="T20" fmla="*/ 37 w 37"/>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37" h="34">
                    <a:moveTo>
                      <a:pt x="0" y="0"/>
                    </a:moveTo>
                    <a:lnTo>
                      <a:pt x="0" y="34"/>
                    </a:lnTo>
                    <a:lnTo>
                      <a:pt x="37" y="18"/>
                    </a:lnTo>
                    <a:lnTo>
                      <a:pt x="0" y="2"/>
                    </a:lnTo>
                    <a:lnTo>
                      <a:pt x="0" y="0"/>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81" name="Freeform 26">
                <a:extLst>
                  <a:ext uri="{FF2B5EF4-FFF2-40B4-BE49-F238E27FC236}">
                    <a16:creationId xmlns:a16="http://schemas.microsoft.com/office/drawing/2014/main" id="{BB31DBE7-6492-CC4A-8420-F81B4CB76BEF}"/>
                  </a:ext>
                </a:extLst>
              </p:cNvPr>
              <p:cNvSpPr>
                <a:spLocks/>
              </p:cNvSpPr>
              <p:nvPr/>
            </p:nvSpPr>
            <p:spPr bwMode="auto">
              <a:xfrm>
                <a:off x="3937" y="2434"/>
                <a:ext cx="53" cy="30"/>
              </a:xfrm>
              <a:custGeom>
                <a:avLst/>
                <a:gdLst>
                  <a:gd name="T0" fmla="*/ 0 w 37"/>
                  <a:gd name="T1" fmla="*/ 0 h 34"/>
                  <a:gd name="T2" fmla="*/ 0 w 37"/>
                  <a:gd name="T3" fmla="*/ 4 h 34"/>
                  <a:gd name="T4" fmla="*/ 1240757 w 37"/>
                  <a:gd name="T5" fmla="*/ 4 h 34"/>
                  <a:gd name="T6" fmla="*/ 0 w 37"/>
                  <a:gd name="T7" fmla="*/ 2 h 34"/>
                  <a:gd name="T8" fmla="*/ 0 w 37"/>
                  <a:gd name="T9" fmla="*/ 2 h 34"/>
                  <a:gd name="T10" fmla="*/ 0 60000 65536"/>
                  <a:gd name="T11" fmla="*/ 0 60000 65536"/>
                  <a:gd name="T12" fmla="*/ 0 60000 65536"/>
                  <a:gd name="T13" fmla="*/ 0 60000 65536"/>
                  <a:gd name="T14" fmla="*/ 0 60000 65536"/>
                  <a:gd name="T15" fmla="*/ 0 w 37"/>
                  <a:gd name="T16" fmla="*/ 0 h 34"/>
                  <a:gd name="T17" fmla="*/ 37 w 37"/>
                  <a:gd name="T18" fmla="*/ 34 h 34"/>
                </a:gdLst>
                <a:ahLst/>
                <a:cxnLst>
                  <a:cxn ang="T10">
                    <a:pos x="T0" y="T1"/>
                  </a:cxn>
                  <a:cxn ang="T11">
                    <a:pos x="T2" y="T3"/>
                  </a:cxn>
                  <a:cxn ang="T12">
                    <a:pos x="T4" y="T5"/>
                  </a:cxn>
                  <a:cxn ang="T13">
                    <a:pos x="T6" y="T7"/>
                  </a:cxn>
                  <a:cxn ang="T14">
                    <a:pos x="T8" y="T9"/>
                  </a:cxn>
                </a:cxnLst>
                <a:rect l="T15" t="T16" r="T17" b="T18"/>
                <a:pathLst>
                  <a:path w="37" h="34">
                    <a:moveTo>
                      <a:pt x="0" y="0"/>
                    </a:moveTo>
                    <a:lnTo>
                      <a:pt x="0" y="34"/>
                    </a:lnTo>
                    <a:lnTo>
                      <a:pt x="37" y="18"/>
                    </a:lnTo>
                    <a:lnTo>
                      <a:pt x="0" y="2"/>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82" name="Freeform 27">
                <a:extLst>
                  <a:ext uri="{FF2B5EF4-FFF2-40B4-BE49-F238E27FC236}">
                    <a16:creationId xmlns:a16="http://schemas.microsoft.com/office/drawing/2014/main" id="{7E6E56F7-6D1D-5845-82E1-1D39EC93475D}"/>
                  </a:ext>
                </a:extLst>
              </p:cNvPr>
              <p:cNvSpPr>
                <a:spLocks/>
              </p:cNvSpPr>
              <p:nvPr/>
            </p:nvSpPr>
            <p:spPr bwMode="auto">
              <a:xfrm>
                <a:off x="2701" y="2446"/>
                <a:ext cx="1252" cy="7"/>
              </a:xfrm>
              <a:custGeom>
                <a:avLst/>
                <a:gdLst>
                  <a:gd name="T0" fmla="*/ 0 w 885"/>
                  <a:gd name="T1" fmla="*/ 4 h 8"/>
                  <a:gd name="T2" fmla="*/ 20702684 w 885"/>
                  <a:gd name="T3" fmla="*/ 4 h 8"/>
                  <a:gd name="T4" fmla="*/ 20702684 w 885"/>
                  <a:gd name="T5" fmla="*/ 0 h 8"/>
                  <a:gd name="T6" fmla="*/ 48234 w 885"/>
                  <a:gd name="T7" fmla="*/ 0 h 8"/>
                  <a:gd name="T8" fmla="*/ 48234 w 885"/>
                  <a:gd name="T9" fmla="*/ 4 h 8"/>
                  <a:gd name="T10" fmla="*/ 48234 w 885"/>
                  <a:gd name="T11" fmla="*/ 4 h 8"/>
                  <a:gd name="T12" fmla="*/ 0 w 885"/>
                  <a:gd name="T13" fmla="*/ 4 h 8"/>
                  <a:gd name="T14" fmla="*/ 0 60000 65536"/>
                  <a:gd name="T15" fmla="*/ 0 60000 65536"/>
                  <a:gd name="T16" fmla="*/ 0 60000 65536"/>
                  <a:gd name="T17" fmla="*/ 0 60000 65536"/>
                  <a:gd name="T18" fmla="*/ 0 60000 65536"/>
                  <a:gd name="T19" fmla="*/ 0 60000 65536"/>
                  <a:gd name="T20" fmla="*/ 0 60000 65536"/>
                  <a:gd name="T21" fmla="*/ 0 w 885"/>
                  <a:gd name="T22" fmla="*/ 0 h 8"/>
                  <a:gd name="T23" fmla="*/ 885 w 885"/>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85" h="8">
                    <a:moveTo>
                      <a:pt x="0" y="8"/>
                    </a:moveTo>
                    <a:lnTo>
                      <a:pt x="885" y="8"/>
                    </a:lnTo>
                    <a:lnTo>
                      <a:pt x="885" y="0"/>
                    </a:lnTo>
                    <a:lnTo>
                      <a:pt x="2" y="0"/>
                    </a:lnTo>
                    <a:lnTo>
                      <a:pt x="2" y="8"/>
                    </a:lnTo>
                    <a:lnTo>
                      <a:pt x="0" y="8"/>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83" name="Freeform 28">
                <a:extLst>
                  <a:ext uri="{FF2B5EF4-FFF2-40B4-BE49-F238E27FC236}">
                    <a16:creationId xmlns:a16="http://schemas.microsoft.com/office/drawing/2014/main" id="{C392D5A8-2CFA-CB4C-B086-8BDCF09F5658}"/>
                  </a:ext>
                </a:extLst>
              </p:cNvPr>
              <p:cNvSpPr>
                <a:spLocks/>
              </p:cNvSpPr>
              <p:nvPr/>
            </p:nvSpPr>
            <p:spPr bwMode="auto">
              <a:xfrm>
                <a:off x="2701" y="2446"/>
                <a:ext cx="1252" cy="7"/>
              </a:xfrm>
              <a:custGeom>
                <a:avLst/>
                <a:gdLst>
                  <a:gd name="T0" fmla="*/ 0 w 885"/>
                  <a:gd name="T1" fmla="*/ 4 h 8"/>
                  <a:gd name="T2" fmla="*/ 20702684 w 885"/>
                  <a:gd name="T3" fmla="*/ 4 h 8"/>
                  <a:gd name="T4" fmla="*/ 20702684 w 885"/>
                  <a:gd name="T5" fmla="*/ 0 h 8"/>
                  <a:gd name="T6" fmla="*/ 48234 w 885"/>
                  <a:gd name="T7" fmla="*/ 0 h 8"/>
                  <a:gd name="T8" fmla="*/ 48234 w 885"/>
                  <a:gd name="T9" fmla="*/ 4 h 8"/>
                  <a:gd name="T10" fmla="*/ 48234 w 885"/>
                  <a:gd name="T11" fmla="*/ 4 h 8"/>
                  <a:gd name="T12" fmla="*/ 0 60000 65536"/>
                  <a:gd name="T13" fmla="*/ 0 60000 65536"/>
                  <a:gd name="T14" fmla="*/ 0 60000 65536"/>
                  <a:gd name="T15" fmla="*/ 0 60000 65536"/>
                  <a:gd name="T16" fmla="*/ 0 60000 65536"/>
                  <a:gd name="T17" fmla="*/ 0 60000 65536"/>
                  <a:gd name="T18" fmla="*/ 0 w 885"/>
                  <a:gd name="T19" fmla="*/ 0 h 8"/>
                  <a:gd name="T20" fmla="*/ 885 w 885"/>
                  <a:gd name="T21" fmla="*/ 8 h 8"/>
                </a:gdLst>
                <a:ahLst/>
                <a:cxnLst>
                  <a:cxn ang="T12">
                    <a:pos x="T0" y="T1"/>
                  </a:cxn>
                  <a:cxn ang="T13">
                    <a:pos x="T2" y="T3"/>
                  </a:cxn>
                  <a:cxn ang="T14">
                    <a:pos x="T4" y="T5"/>
                  </a:cxn>
                  <a:cxn ang="T15">
                    <a:pos x="T6" y="T7"/>
                  </a:cxn>
                  <a:cxn ang="T16">
                    <a:pos x="T8" y="T9"/>
                  </a:cxn>
                  <a:cxn ang="T17">
                    <a:pos x="T10" y="T11"/>
                  </a:cxn>
                </a:cxnLst>
                <a:rect l="T18" t="T19" r="T20" b="T21"/>
                <a:pathLst>
                  <a:path w="885" h="8">
                    <a:moveTo>
                      <a:pt x="0" y="8"/>
                    </a:moveTo>
                    <a:lnTo>
                      <a:pt x="885" y="8"/>
                    </a:lnTo>
                    <a:lnTo>
                      <a:pt x="885" y="0"/>
                    </a:lnTo>
                    <a:lnTo>
                      <a:pt x="2" y="0"/>
                    </a:lnTo>
                    <a:lnTo>
                      <a:pt x="2" y="8"/>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84" name="Freeform 29">
                <a:extLst>
                  <a:ext uri="{FF2B5EF4-FFF2-40B4-BE49-F238E27FC236}">
                    <a16:creationId xmlns:a16="http://schemas.microsoft.com/office/drawing/2014/main" id="{440C9EB8-1E49-E943-95F1-2A3BAE30ACFA}"/>
                  </a:ext>
                </a:extLst>
              </p:cNvPr>
              <p:cNvSpPr>
                <a:spLocks/>
              </p:cNvSpPr>
              <p:nvPr/>
            </p:nvSpPr>
            <p:spPr bwMode="auto">
              <a:xfrm>
                <a:off x="2710" y="2276"/>
                <a:ext cx="1249" cy="423"/>
              </a:xfrm>
              <a:custGeom>
                <a:avLst/>
                <a:gdLst>
                  <a:gd name="T0" fmla="*/ 0 w 882"/>
                  <a:gd name="T1" fmla="*/ 3 h 491"/>
                  <a:gd name="T2" fmla="*/ 21131423 w 882"/>
                  <a:gd name="T3" fmla="*/ 7 h 491"/>
                  <a:gd name="T4" fmla="*/ 21242798 w 882"/>
                  <a:gd name="T5" fmla="*/ 7 h 491"/>
                  <a:gd name="T6" fmla="*/ 141457 w 882"/>
                  <a:gd name="T7" fmla="*/ 0 h 491"/>
                  <a:gd name="T8" fmla="*/ 49813 w 882"/>
                  <a:gd name="T9" fmla="*/ 3 h 491"/>
                  <a:gd name="T10" fmla="*/ 49813 w 882"/>
                  <a:gd name="T11" fmla="*/ 3 h 491"/>
                  <a:gd name="T12" fmla="*/ 0 w 882"/>
                  <a:gd name="T13" fmla="*/ 3 h 491"/>
                  <a:gd name="T14" fmla="*/ 0 60000 65536"/>
                  <a:gd name="T15" fmla="*/ 0 60000 65536"/>
                  <a:gd name="T16" fmla="*/ 0 60000 65536"/>
                  <a:gd name="T17" fmla="*/ 0 60000 65536"/>
                  <a:gd name="T18" fmla="*/ 0 60000 65536"/>
                  <a:gd name="T19" fmla="*/ 0 60000 65536"/>
                  <a:gd name="T20" fmla="*/ 0 60000 65536"/>
                  <a:gd name="T21" fmla="*/ 0 w 882"/>
                  <a:gd name="T22" fmla="*/ 0 h 491"/>
                  <a:gd name="T23" fmla="*/ 882 w 882"/>
                  <a:gd name="T24" fmla="*/ 491 h 4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82" h="491">
                    <a:moveTo>
                      <a:pt x="0" y="8"/>
                    </a:moveTo>
                    <a:lnTo>
                      <a:pt x="878" y="491"/>
                    </a:lnTo>
                    <a:lnTo>
                      <a:pt x="882" y="483"/>
                    </a:lnTo>
                    <a:lnTo>
                      <a:pt x="6" y="0"/>
                    </a:lnTo>
                    <a:lnTo>
                      <a:pt x="2" y="8"/>
                    </a:lnTo>
                    <a:lnTo>
                      <a:pt x="0" y="8"/>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85" name="Freeform 30">
                <a:extLst>
                  <a:ext uri="{FF2B5EF4-FFF2-40B4-BE49-F238E27FC236}">
                    <a16:creationId xmlns:a16="http://schemas.microsoft.com/office/drawing/2014/main" id="{40ED24C9-7655-DC40-98E5-765C96581921}"/>
                  </a:ext>
                </a:extLst>
              </p:cNvPr>
              <p:cNvSpPr>
                <a:spLocks/>
              </p:cNvSpPr>
              <p:nvPr/>
            </p:nvSpPr>
            <p:spPr bwMode="auto">
              <a:xfrm>
                <a:off x="2710" y="2276"/>
                <a:ext cx="1249" cy="423"/>
              </a:xfrm>
              <a:custGeom>
                <a:avLst/>
                <a:gdLst>
                  <a:gd name="T0" fmla="*/ 0 w 882"/>
                  <a:gd name="T1" fmla="*/ 3 h 491"/>
                  <a:gd name="T2" fmla="*/ 21131423 w 882"/>
                  <a:gd name="T3" fmla="*/ 7 h 491"/>
                  <a:gd name="T4" fmla="*/ 21242798 w 882"/>
                  <a:gd name="T5" fmla="*/ 7 h 491"/>
                  <a:gd name="T6" fmla="*/ 141457 w 882"/>
                  <a:gd name="T7" fmla="*/ 0 h 491"/>
                  <a:gd name="T8" fmla="*/ 49813 w 882"/>
                  <a:gd name="T9" fmla="*/ 3 h 491"/>
                  <a:gd name="T10" fmla="*/ 49813 w 882"/>
                  <a:gd name="T11" fmla="*/ 3 h 491"/>
                  <a:gd name="T12" fmla="*/ 0 60000 65536"/>
                  <a:gd name="T13" fmla="*/ 0 60000 65536"/>
                  <a:gd name="T14" fmla="*/ 0 60000 65536"/>
                  <a:gd name="T15" fmla="*/ 0 60000 65536"/>
                  <a:gd name="T16" fmla="*/ 0 60000 65536"/>
                  <a:gd name="T17" fmla="*/ 0 60000 65536"/>
                  <a:gd name="T18" fmla="*/ 0 w 882"/>
                  <a:gd name="T19" fmla="*/ 0 h 491"/>
                  <a:gd name="T20" fmla="*/ 882 w 882"/>
                  <a:gd name="T21" fmla="*/ 491 h 491"/>
                </a:gdLst>
                <a:ahLst/>
                <a:cxnLst>
                  <a:cxn ang="T12">
                    <a:pos x="T0" y="T1"/>
                  </a:cxn>
                  <a:cxn ang="T13">
                    <a:pos x="T2" y="T3"/>
                  </a:cxn>
                  <a:cxn ang="T14">
                    <a:pos x="T4" y="T5"/>
                  </a:cxn>
                  <a:cxn ang="T15">
                    <a:pos x="T6" y="T7"/>
                  </a:cxn>
                  <a:cxn ang="T16">
                    <a:pos x="T8" y="T9"/>
                  </a:cxn>
                  <a:cxn ang="T17">
                    <a:pos x="T10" y="T11"/>
                  </a:cxn>
                </a:cxnLst>
                <a:rect l="T18" t="T19" r="T20" b="T21"/>
                <a:pathLst>
                  <a:path w="882" h="491">
                    <a:moveTo>
                      <a:pt x="0" y="8"/>
                    </a:moveTo>
                    <a:lnTo>
                      <a:pt x="878" y="491"/>
                    </a:lnTo>
                    <a:lnTo>
                      <a:pt x="882" y="483"/>
                    </a:lnTo>
                    <a:lnTo>
                      <a:pt x="6" y="0"/>
                    </a:lnTo>
                    <a:lnTo>
                      <a:pt x="2" y="8"/>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86" name="Freeform 31">
                <a:extLst>
                  <a:ext uri="{FF2B5EF4-FFF2-40B4-BE49-F238E27FC236}">
                    <a16:creationId xmlns:a16="http://schemas.microsoft.com/office/drawing/2014/main" id="{BEBA6D8E-D4E5-384C-A93B-5BFF9D7B16EB}"/>
                  </a:ext>
                </a:extLst>
              </p:cNvPr>
              <p:cNvSpPr>
                <a:spLocks/>
              </p:cNvSpPr>
              <p:nvPr/>
            </p:nvSpPr>
            <p:spPr bwMode="auto">
              <a:xfrm>
                <a:off x="2701" y="2534"/>
                <a:ext cx="1258" cy="341"/>
              </a:xfrm>
              <a:custGeom>
                <a:avLst/>
                <a:gdLst>
                  <a:gd name="T0" fmla="*/ 0 w 889"/>
                  <a:gd name="T1" fmla="*/ 3 h 395"/>
                  <a:gd name="T2" fmla="*/ 20915722 w 889"/>
                  <a:gd name="T3" fmla="*/ 6 h 395"/>
                  <a:gd name="T4" fmla="*/ 20966729 w 889"/>
                  <a:gd name="T5" fmla="*/ 6 h 395"/>
                  <a:gd name="T6" fmla="*/ 119739 w 889"/>
                  <a:gd name="T7" fmla="*/ 0 h 395"/>
                  <a:gd name="T8" fmla="*/ 49188 w 889"/>
                  <a:gd name="T9" fmla="*/ 3 h 395"/>
                  <a:gd name="T10" fmla="*/ 49188 w 889"/>
                  <a:gd name="T11" fmla="*/ 3 h 395"/>
                  <a:gd name="T12" fmla="*/ 0 w 889"/>
                  <a:gd name="T13" fmla="*/ 3 h 395"/>
                  <a:gd name="T14" fmla="*/ 0 60000 65536"/>
                  <a:gd name="T15" fmla="*/ 0 60000 65536"/>
                  <a:gd name="T16" fmla="*/ 0 60000 65536"/>
                  <a:gd name="T17" fmla="*/ 0 60000 65536"/>
                  <a:gd name="T18" fmla="*/ 0 60000 65536"/>
                  <a:gd name="T19" fmla="*/ 0 60000 65536"/>
                  <a:gd name="T20" fmla="*/ 0 60000 65536"/>
                  <a:gd name="T21" fmla="*/ 0 w 889"/>
                  <a:gd name="T22" fmla="*/ 0 h 395"/>
                  <a:gd name="T23" fmla="*/ 889 w 889"/>
                  <a:gd name="T24" fmla="*/ 395 h 3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89" h="395">
                    <a:moveTo>
                      <a:pt x="0" y="6"/>
                    </a:moveTo>
                    <a:lnTo>
                      <a:pt x="887" y="395"/>
                    </a:lnTo>
                    <a:lnTo>
                      <a:pt x="889" y="387"/>
                    </a:lnTo>
                    <a:lnTo>
                      <a:pt x="5" y="0"/>
                    </a:lnTo>
                    <a:lnTo>
                      <a:pt x="2" y="6"/>
                    </a:lnTo>
                    <a:lnTo>
                      <a:pt x="0" y="6"/>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87" name="Freeform 32">
                <a:extLst>
                  <a:ext uri="{FF2B5EF4-FFF2-40B4-BE49-F238E27FC236}">
                    <a16:creationId xmlns:a16="http://schemas.microsoft.com/office/drawing/2014/main" id="{F45A0AF2-3CA9-7B49-A746-E3C7A1567982}"/>
                  </a:ext>
                </a:extLst>
              </p:cNvPr>
              <p:cNvSpPr>
                <a:spLocks/>
              </p:cNvSpPr>
              <p:nvPr/>
            </p:nvSpPr>
            <p:spPr bwMode="auto">
              <a:xfrm>
                <a:off x="2701" y="2534"/>
                <a:ext cx="1258" cy="341"/>
              </a:xfrm>
              <a:custGeom>
                <a:avLst/>
                <a:gdLst>
                  <a:gd name="T0" fmla="*/ 0 w 889"/>
                  <a:gd name="T1" fmla="*/ 3 h 395"/>
                  <a:gd name="T2" fmla="*/ 20915722 w 889"/>
                  <a:gd name="T3" fmla="*/ 6 h 395"/>
                  <a:gd name="T4" fmla="*/ 20966729 w 889"/>
                  <a:gd name="T5" fmla="*/ 6 h 395"/>
                  <a:gd name="T6" fmla="*/ 119739 w 889"/>
                  <a:gd name="T7" fmla="*/ 0 h 395"/>
                  <a:gd name="T8" fmla="*/ 49188 w 889"/>
                  <a:gd name="T9" fmla="*/ 3 h 395"/>
                  <a:gd name="T10" fmla="*/ 49188 w 889"/>
                  <a:gd name="T11" fmla="*/ 3 h 395"/>
                  <a:gd name="T12" fmla="*/ 0 60000 65536"/>
                  <a:gd name="T13" fmla="*/ 0 60000 65536"/>
                  <a:gd name="T14" fmla="*/ 0 60000 65536"/>
                  <a:gd name="T15" fmla="*/ 0 60000 65536"/>
                  <a:gd name="T16" fmla="*/ 0 60000 65536"/>
                  <a:gd name="T17" fmla="*/ 0 60000 65536"/>
                  <a:gd name="T18" fmla="*/ 0 w 889"/>
                  <a:gd name="T19" fmla="*/ 0 h 395"/>
                  <a:gd name="T20" fmla="*/ 889 w 889"/>
                  <a:gd name="T21" fmla="*/ 395 h 395"/>
                </a:gdLst>
                <a:ahLst/>
                <a:cxnLst>
                  <a:cxn ang="T12">
                    <a:pos x="T0" y="T1"/>
                  </a:cxn>
                  <a:cxn ang="T13">
                    <a:pos x="T2" y="T3"/>
                  </a:cxn>
                  <a:cxn ang="T14">
                    <a:pos x="T4" y="T5"/>
                  </a:cxn>
                  <a:cxn ang="T15">
                    <a:pos x="T6" y="T7"/>
                  </a:cxn>
                  <a:cxn ang="T16">
                    <a:pos x="T8" y="T9"/>
                  </a:cxn>
                  <a:cxn ang="T17">
                    <a:pos x="T10" y="T11"/>
                  </a:cxn>
                </a:cxnLst>
                <a:rect l="T18" t="T19" r="T20" b="T21"/>
                <a:pathLst>
                  <a:path w="889" h="395">
                    <a:moveTo>
                      <a:pt x="0" y="6"/>
                    </a:moveTo>
                    <a:lnTo>
                      <a:pt x="887" y="395"/>
                    </a:lnTo>
                    <a:lnTo>
                      <a:pt x="889" y="387"/>
                    </a:lnTo>
                    <a:lnTo>
                      <a:pt x="5" y="0"/>
                    </a:lnTo>
                    <a:lnTo>
                      <a:pt x="2" y="6"/>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88" name="Freeform 33">
                <a:extLst>
                  <a:ext uri="{FF2B5EF4-FFF2-40B4-BE49-F238E27FC236}">
                    <a16:creationId xmlns:a16="http://schemas.microsoft.com/office/drawing/2014/main" id="{D8FB661E-1752-BC43-A922-70E56E7625CC}"/>
                  </a:ext>
                </a:extLst>
              </p:cNvPr>
              <p:cNvSpPr>
                <a:spLocks/>
              </p:cNvSpPr>
              <p:nvPr/>
            </p:nvSpPr>
            <p:spPr bwMode="auto">
              <a:xfrm>
                <a:off x="2701" y="2706"/>
                <a:ext cx="1262" cy="421"/>
              </a:xfrm>
              <a:custGeom>
                <a:avLst/>
                <a:gdLst>
                  <a:gd name="T0" fmla="*/ 0 w 892"/>
                  <a:gd name="T1" fmla="*/ 3 h 488"/>
                  <a:gd name="T2" fmla="*/ 20746339 w 892"/>
                  <a:gd name="T3" fmla="*/ 7 h 488"/>
                  <a:gd name="T4" fmla="*/ 20906820 w 892"/>
                  <a:gd name="T5" fmla="*/ 7 h 488"/>
                  <a:gd name="T6" fmla="*/ 168882 w 892"/>
                  <a:gd name="T7" fmla="*/ 0 h 488"/>
                  <a:gd name="T8" fmla="*/ 48337 w 892"/>
                  <a:gd name="T9" fmla="*/ 3 h 488"/>
                  <a:gd name="T10" fmla="*/ 48337 w 892"/>
                  <a:gd name="T11" fmla="*/ 3 h 488"/>
                  <a:gd name="T12" fmla="*/ 0 w 892"/>
                  <a:gd name="T13" fmla="*/ 3 h 488"/>
                  <a:gd name="T14" fmla="*/ 0 60000 65536"/>
                  <a:gd name="T15" fmla="*/ 0 60000 65536"/>
                  <a:gd name="T16" fmla="*/ 0 60000 65536"/>
                  <a:gd name="T17" fmla="*/ 0 60000 65536"/>
                  <a:gd name="T18" fmla="*/ 0 60000 65536"/>
                  <a:gd name="T19" fmla="*/ 0 60000 65536"/>
                  <a:gd name="T20" fmla="*/ 0 60000 65536"/>
                  <a:gd name="T21" fmla="*/ 0 w 892"/>
                  <a:gd name="T22" fmla="*/ 0 h 488"/>
                  <a:gd name="T23" fmla="*/ 892 w 892"/>
                  <a:gd name="T24" fmla="*/ 488 h 4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92" h="488">
                    <a:moveTo>
                      <a:pt x="0" y="6"/>
                    </a:moveTo>
                    <a:lnTo>
                      <a:pt x="885" y="488"/>
                    </a:lnTo>
                    <a:lnTo>
                      <a:pt x="892" y="482"/>
                    </a:lnTo>
                    <a:lnTo>
                      <a:pt x="7" y="0"/>
                    </a:lnTo>
                    <a:lnTo>
                      <a:pt x="2" y="6"/>
                    </a:lnTo>
                    <a:lnTo>
                      <a:pt x="0" y="6"/>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89" name="Freeform 34">
                <a:extLst>
                  <a:ext uri="{FF2B5EF4-FFF2-40B4-BE49-F238E27FC236}">
                    <a16:creationId xmlns:a16="http://schemas.microsoft.com/office/drawing/2014/main" id="{3C974EC5-B31F-8A4D-AA8C-BCCB62DD0E5D}"/>
                  </a:ext>
                </a:extLst>
              </p:cNvPr>
              <p:cNvSpPr>
                <a:spLocks/>
              </p:cNvSpPr>
              <p:nvPr/>
            </p:nvSpPr>
            <p:spPr bwMode="auto">
              <a:xfrm>
                <a:off x="2701" y="2706"/>
                <a:ext cx="1262" cy="421"/>
              </a:xfrm>
              <a:custGeom>
                <a:avLst/>
                <a:gdLst>
                  <a:gd name="T0" fmla="*/ 0 w 892"/>
                  <a:gd name="T1" fmla="*/ 3 h 488"/>
                  <a:gd name="T2" fmla="*/ 20746339 w 892"/>
                  <a:gd name="T3" fmla="*/ 7 h 488"/>
                  <a:gd name="T4" fmla="*/ 20906820 w 892"/>
                  <a:gd name="T5" fmla="*/ 7 h 488"/>
                  <a:gd name="T6" fmla="*/ 168882 w 892"/>
                  <a:gd name="T7" fmla="*/ 0 h 488"/>
                  <a:gd name="T8" fmla="*/ 48337 w 892"/>
                  <a:gd name="T9" fmla="*/ 3 h 488"/>
                  <a:gd name="T10" fmla="*/ 48337 w 892"/>
                  <a:gd name="T11" fmla="*/ 3 h 488"/>
                  <a:gd name="T12" fmla="*/ 0 60000 65536"/>
                  <a:gd name="T13" fmla="*/ 0 60000 65536"/>
                  <a:gd name="T14" fmla="*/ 0 60000 65536"/>
                  <a:gd name="T15" fmla="*/ 0 60000 65536"/>
                  <a:gd name="T16" fmla="*/ 0 60000 65536"/>
                  <a:gd name="T17" fmla="*/ 0 60000 65536"/>
                  <a:gd name="T18" fmla="*/ 0 w 892"/>
                  <a:gd name="T19" fmla="*/ 0 h 488"/>
                  <a:gd name="T20" fmla="*/ 892 w 892"/>
                  <a:gd name="T21" fmla="*/ 488 h 488"/>
                </a:gdLst>
                <a:ahLst/>
                <a:cxnLst>
                  <a:cxn ang="T12">
                    <a:pos x="T0" y="T1"/>
                  </a:cxn>
                  <a:cxn ang="T13">
                    <a:pos x="T2" y="T3"/>
                  </a:cxn>
                  <a:cxn ang="T14">
                    <a:pos x="T4" y="T5"/>
                  </a:cxn>
                  <a:cxn ang="T15">
                    <a:pos x="T6" y="T7"/>
                  </a:cxn>
                  <a:cxn ang="T16">
                    <a:pos x="T8" y="T9"/>
                  </a:cxn>
                  <a:cxn ang="T17">
                    <a:pos x="T10" y="T11"/>
                  </a:cxn>
                </a:cxnLst>
                <a:rect l="T18" t="T19" r="T20" b="T21"/>
                <a:pathLst>
                  <a:path w="892" h="488">
                    <a:moveTo>
                      <a:pt x="0" y="6"/>
                    </a:moveTo>
                    <a:lnTo>
                      <a:pt x="885" y="488"/>
                    </a:lnTo>
                    <a:lnTo>
                      <a:pt x="892" y="482"/>
                    </a:lnTo>
                    <a:lnTo>
                      <a:pt x="7" y="0"/>
                    </a:lnTo>
                    <a:lnTo>
                      <a:pt x="2" y="6"/>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90" name="Freeform 35">
                <a:extLst>
                  <a:ext uri="{FF2B5EF4-FFF2-40B4-BE49-F238E27FC236}">
                    <a16:creationId xmlns:a16="http://schemas.microsoft.com/office/drawing/2014/main" id="{D0A49C72-9EA5-7742-90DE-1C8C5D4C11A7}"/>
                  </a:ext>
                </a:extLst>
              </p:cNvPr>
              <p:cNvSpPr>
                <a:spLocks/>
              </p:cNvSpPr>
              <p:nvPr/>
            </p:nvSpPr>
            <p:spPr bwMode="auto">
              <a:xfrm>
                <a:off x="3937" y="2457"/>
                <a:ext cx="53" cy="33"/>
              </a:xfrm>
              <a:custGeom>
                <a:avLst/>
                <a:gdLst>
                  <a:gd name="T0" fmla="*/ 0 w 37"/>
                  <a:gd name="T1" fmla="*/ 3 h 38"/>
                  <a:gd name="T2" fmla="*/ 1030522 w 37"/>
                  <a:gd name="T3" fmla="*/ 3 h 38"/>
                  <a:gd name="T4" fmla="*/ 1240757 w 37"/>
                  <a:gd name="T5" fmla="*/ 0 h 38"/>
                  <a:gd name="T6" fmla="*/ 0 w 37"/>
                  <a:gd name="T7" fmla="*/ 3 h 38"/>
                  <a:gd name="T8" fmla="*/ 0 w 37"/>
                  <a:gd name="T9" fmla="*/ 3 h 38"/>
                  <a:gd name="T10" fmla="*/ 0 60000 65536"/>
                  <a:gd name="T11" fmla="*/ 0 60000 65536"/>
                  <a:gd name="T12" fmla="*/ 0 60000 65536"/>
                  <a:gd name="T13" fmla="*/ 0 60000 65536"/>
                  <a:gd name="T14" fmla="*/ 0 60000 65536"/>
                  <a:gd name="T15" fmla="*/ 0 w 37"/>
                  <a:gd name="T16" fmla="*/ 0 h 38"/>
                  <a:gd name="T17" fmla="*/ 37 w 37"/>
                  <a:gd name="T18" fmla="*/ 38 h 38"/>
                </a:gdLst>
                <a:ahLst/>
                <a:cxnLst>
                  <a:cxn ang="T10">
                    <a:pos x="T0" y="T1"/>
                  </a:cxn>
                  <a:cxn ang="T11">
                    <a:pos x="T2" y="T3"/>
                  </a:cxn>
                  <a:cxn ang="T12">
                    <a:pos x="T4" y="T5"/>
                  </a:cxn>
                  <a:cxn ang="T13">
                    <a:pos x="T6" y="T7"/>
                  </a:cxn>
                  <a:cxn ang="T14">
                    <a:pos x="T8" y="T9"/>
                  </a:cxn>
                </a:cxnLst>
                <a:rect l="T15" t="T16" r="T17" b="T18"/>
                <a:pathLst>
                  <a:path w="37" h="38">
                    <a:moveTo>
                      <a:pt x="0" y="18"/>
                    </a:moveTo>
                    <a:lnTo>
                      <a:pt x="31" y="38"/>
                    </a:lnTo>
                    <a:lnTo>
                      <a:pt x="37"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1" name="Freeform 36">
                <a:extLst>
                  <a:ext uri="{FF2B5EF4-FFF2-40B4-BE49-F238E27FC236}">
                    <a16:creationId xmlns:a16="http://schemas.microsoft.com/office/drawing/2014/main" id="{DD71C3CD-E6A0-4946-95AD-DC943E45CE41}"/>
                  </a:ext>
                </a:extLst>
              </p:cNvPr>
              <p:cNvSpPr>
                <a:spLocks/>
              </p:cNvSpPr>
              <p:nvPr/>
            </p:nvSpPr>
            <p:spPr bwMode="auto">
              <a:xfrm>
                <a:off x="3940" y="2545"/>
                <a:ext cx="50" cy="32"/>
              </a:xfrm>
              <a:custGeom>
                <a:avLst/>
                <a:gdLst>
                  <a:gd name="T0" fmla="*/ 0 w 35"/>
                  <a:gd name="T1" fmla="*/ 3 h 37"/>
                  <a:gd name="T2" fmla="*/ 961856 w 35"/>
                  <a:gd name="T3" fmla="*/ 3 h 37"/>
                  <a:gd name="T4" fmla="*/ 1074333 w 35"/>
                  <a:gd name="T5" fmla="*/ 0 h 37"/>
                  <a:gd name="T6" fmla="*/ 0 w 35"/>
                  <a:gd name="T7" fmla="*/ 3 h 37"/>
                  <a:gd name="T8" fmla="*/ 0 w 35"/>
                  <a:gd name="T9" fmla="*/ 3 h 37"/>
                  <a:gd name="T10" fmla="*/ 0 w 35"/>
                  <a:gd name="T11" fmla="*/ 3 h 37"/>
                  <a:gd name="T12" fmla="*/ 0 60000 65536"/>
                  <a:gd name="T13" fmla="*/ 0 60000 65536"/>
                  <a:gd name="T14" fmla="*/ 0 60000 65536"/>
                  <a:gd name="T15" fmla="*/ 0 60000 65536"/>
                  <a:gd name="T16" fmla="*/ 0 60000 65536"/>
                  <a:gd name="T17" fmla="*/ 0 60000 65536"/>
                  <a:gd name="T18" fmla="*/ 0 w 35"/>
                  <a:gd name="T19" fmla="*/ 0 h 37"/>
                  <a:gd name="T20" fmla="*/ 35 w 35"/>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35" h="37">
                    <a:moveTo>
                      <a:pt x="0" y="19"/>
                    </a:moveTo>
                    <a:lnTo>
                      <a:pt x="31" y="37"/>
                    </a:lnTo>
                    <a:lnTo>
                      <a:pt x="35" y="0"/>
                    </a:lnTo>
                    <a:lnTo>
                      <a:pt x="0" y="21"/>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2" name="Freeform 37">
                <a:extLst>
                  <a:ext uri="{FF2B5EF4-FFF2-40B4-BE49-F238E27FC236}">
                    <a16:creationId xmlns:a16="http://schemas.microsoft.com/office/drawing/2014/main" id="{5DB33439-FEF9-4646-BC07-ABC429E4C0CA}"/>
                  </a:ext>
                </a:extLst>
              </p:cNvPr>
              <p:cNvSpPr>
                <a:spLocks/>
              </p:cNvSpPr>
              <p:nvPr/>
            </p:nvSpPr>
            <p:spPr bwMode="auto">
              <a:xfrm>
                <a:off x="3932" y="2625"/>
                <a:ext cx="58" cy="27"/>
              </a:xfrm>
              <a:custGeom>
                <a:avLst/>
                <a:gdLst>
                  <a:gd name="T0" fmla="*/ 0 w 41"/>
                  <a:gd name="T1" fmla="*/ 0 h 32"/>
                  <a:gd name="T2" fmla="*/ 396860 w 41"/>
                  <a:gd name="T3" fmla="*/ 3 h 32"/>
                  <a:gd name="T4" fmla="*/ 955912 w 41"/>
                  <a:gd name="T5" fmla="*/ 0 h 32"/>
                  <a:gd name="T6" fmla="*/ 0 w 41"/>
                  <a:gd name="T7" fmla="*/ 2 h 32"/>
                  <a:gd name="T8" fmla="*/ 0 w 41"/>
                  <a:gd name="T9" fmla="*/ 2 h 32"/>
                  <a:gd name="T10" fmla="*/ 0 w 41"/>
                  <a:gd name="T11" fmla="*/ 0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0" y="0"/>
                    </a:moveTo>
                    <a:lnTo>
                      <a:pt x="17" y="32"/>
                    </a:lnTo>
                    <a:lnTo>
                      <a:pt x="41"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3" name="Freeform 38">
                <a:extLst>
                  <a:ext uri="{FF2B5EF4-FFF2-40B4-BE49-F238E27FC236}">
                    <a16:creationId xmlns:a16="http://schemas.microsoft.com/office/drawing/2014/main" id="{0A9AC5E5-9831-7B4C-8799-1CAF64C6ACE0}"/>
                  </a:ext>
                </a:extLst>
              </p:cNvPr>
              <p:cNvSpPr>
                <a:spLocks/>
              </p:cNvSpPr>
              <p:nvPr/>
            </p:nvSpPr>
            <p:spPr bwMode="auto">
              <a:xfrm>
                <a:off x="3932" y="2713"/>
                <a:ext cx="58" cy="29"/>
              </a:xfrm>
              <a:custGeom>
                <a:avLst/>
                <a:gdLst>
                  <a:gd name="T0" fmla="*/ 0 w 41"/>
                  <a:gd name="T1" fmla="*/ 3 h 34"/>
                  <a:gd name="T2" fmla="*/ 511709 w 41"/>
                  <a:gd name="T3" fmla="*/ 3 h 34"/>
                  <a:gd name="T4" fmla="*/ 955912 w 41"/>
                  <a:gd name="T5" fmla="*/ 0 h 34"/>
                  <a:gd name="T6" fmla="*/ 0 w 41"/>
                  <a:gd name="T7" fmla="*/ 3 h 34"/>
                  <a:gd name="T8" fmla="*/ 0 w 41"/>
                  <a:gd name="T9" fmla="*/ 3 h 34"/>
                  <a:gd name="T10" fmla="*/ 0 w 41"/>
                  <a:gd name="T11" fmla="*/ 3 h 34"/>
                  <a:gd name="T12" fmla="*/ 0 60000 65536"/>
                  <a:gd name="T13" fmla="*/ 0 60000 65536"/>
                  <a:gd name="T14" fmla="*/ 0 60000 65536"/>
                  <a:gd name="T15" fmla="*/ 0 60000 65536"/>
                  <a:gd name="T16" fmla="*/ 0 60000 65536"/>
                  <a:gd name="T17" fmla="*/ 0 60000 65536"/>
                  <a:gd name="T18" fmla="*/ 0 w 41"/>
                  <a:gd name="T19" fmla="*/ 0 h 34"/>
                  <a:gd name="T20" fmla="*/ 41 w 41"/>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41" h="34">
                    <a:moveTo>
                      <a:pt x="0" y="4"/>
                    </a:moveTo>
                    <a:lnTo>
                      <a:pt x="22" y="34"/>
                    </a:lnTo>
                    <a:lnTo>
                      <a:pt x="41" y="0"/>
                    </a:lnTo>
                    <a:lnTo>
                      <a:pt x="0" y="6"/>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4" name="Freeform 39">
                <a:extLst>
                  <a:ext uri="{FF2B5EF4-FFF2-40B4-BE49-F238E27FC236}">
                    <a16:creationId xmlns:a16="http://schemas.microsoft.com/office/drawing/2014/main" id="{B1A09255-F69E-E149-A28B-A7CBA1FD8A11}"/>
                  </a:ext>
                </a:extLst>
              </p:cNvPr>
              <p:cNvSpPr>
                <a:spLocks/>
              </p:cNvSpPr>
              <p:nvPr/>
            </p:nvSpPr>
            <p:spPr bwMode="auto">
              <a:xfrm>
                <a:off x="3935" y="2801"/>
                <a:ext cx="55" cy="32"/>
              </a:xfrm>
              <a:custGeom>
                <a:avLst/>
                <a:gdLst>
                  <a:gd name="T0" fmla="*/ 0 w 39"/>
                  <a:gd name="T1" fmla="*/ 3 h 38"/>
                  <a:gd name="T2" fmla="*/ 595556 w 39"/>
                  <a:gd name="T3" fmla="*/ 3 h 38"/>
                  <a:gd name="T4" fmla="*/ 839887 w 39"/>
                  <a:gd name="T5" fmla="*/ 0 h 38"/>
                  <a:gd name="T6" fmla="*/ 43561 w 39"/>
                  <a:gd name="T7" fmla="*/ 3 h 38"/>
                  <a:gd name="T8" fmla="*/ 43561 w 39"/>
                  <a:gd name="T9" fmla="*/ 3 h 38"/>
                  <a:gd name="T10" fmla="*/ 0 w 39"/>
                  <a:gd name="T11" fmla="*/ 3 h 38"/>
                  <a:gd name="T12" fmla="*/ 0 60000 65536"/>
                  <a:gd name="T13" fmla="*/ 0 60000 65536"/>
                  <a:gd name="T14" fmla="*/ 0 60000 65536"/>
                  <a:gd name="T15" fmla="*/ 0 60000 65536"/>
                  <a:gd name="T16" fmla="*/ 0 60000 65536"/>
                  <a:gd name="T17" fmla="*/ 0 60000 65536"/>
                  <a:gd name="T18" fmla="*/ 0 w 39"/>
                  <a:gd name="T19" fmla="*/ 0 h 38"/>
                  <a:gd name="T20" fmla="*/ 39 w 39"/>
                  <a:gd name="T21" fmla="*/ 38 h 38"/>
                </a:gdLst>
                <a:ahLst/>
                <a:cxnLst>
                  <a:cxn ang="T12">
                    <a:pos x="T0" y="T1"/>
                  </a:cxn>
                  <a:cxn ang="T13">
                    <a:pos x="T2" y="T3"/>
                  </a:cxn>
                  <a:cxn ang="T14">
                    <a:pos x="T4" y="T5"/>
                  </a:cxn>
                  <a:cxn ang="T15">
                    <a:pos x="T6" y="T7"/>
                  </a:cxn>
                  <a:cxn ang="T16">
                    <a:pos x="T8" y="T9"/>
                  </a:cxn>
                  <a:cxn ang="T17">
                    <a:pos x="T10" y="T11"/>
                  </a:cxn>
                </a:cxnLst>
                <a:rect l="T18" t="T19" r="T20" b="T21"/>
                <a:pathLst>
                  <a:path w="39" h="38">
                    <a:moveTo>
                      <a:pt x="0" y="14"/>
                    </a:moveTo>
                    <a:lnTo>
                      <a:pt x="28" y="38"/>
                    </a:lnTo>
                    <a:lnTo>
                      <a:pt x="39" y="0"/>
                    </a:lnTo>
                    <a:lnTo>
                      <a:pt x="2" y="16"/>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5" name="Freeform 40">
                <a:extLst>
                  <a:ext uri="{FF2B5EF4-FFF2-40B4-BE49-F238E27FC236}">
                    <a16:creationId xmlns:a16="http://schemas.microsoft.com/office/drawing/2014/main" id="{EFE1AD7E-02F5-F742-BDA9-7483965FA6CA}"/>
                  </a:ext>
                </a:extLst>
              </p:cNvPr>
              <p:cNvSpPr>
                <a:spLocks/>
              </p:cNvSpPr>
              <p:nvPr/>
            </p:nvSpPr>
            <p:spPr bwMode="auto">
              <a:xfrm>
                <a:off x="3932" y="2885"/>
                <a:ext cx="58" cy="28"/>
              </a:xfrm>
              <a:custGeom>
                <a:avLst/>
                <a:gdLst>
                  <a:gd name="T0" fmla="*/ 0 w 41"/>
                  <a:gd name="T1" fmla="*/ 4 h 32"/>
                  <a:gd name="T2" fmla="*/ 511709 w 41"/>
                  <a:gd name="T3" fmla="*/ 4 h 32"/>
                  <a:gd name="T4" fmla="*/ 955912 w 41"/>
                  <a:gd name="T5" fmla="*/ 0 h 32"/>
                  <a:gd name="T6" fmla="*/ 0 w 41"/>
                  <a:gd name="T7" fmla="*/ 4 h 32"/>
                  <a:gd name="T8" fmla="*/ 0 w 41"/>
                  <a:gd name="T9" fmla="*/ 4 h 32"/>
                  <a:gd name="T10" fmla="*/ 0 w 41"/>
                  <a:gd name="T11" fmla="*/ 4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0" y="4"/>
                    </a:moveTo>
                    <a:lnTo>
                      <a:pt x="22" y="32"/>
                    </a:lnTo>
                    <a:lnTo>
                      <a:pt x="41" y="0"/>
                    </a:lnTo>
                    <a:lnTo>
                      <a:pt x="0" y="6"/>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6" name="Freeform 41">
                <a:extLst>
                  <a:ext uri="{FF2B5EF4-FFF2-40B4-BE49-F238E27FC236}">
                    <a16:creationId xmlns:a16="http://schemas.microsoft.com/office/drawing/2014/main" id="{278FCD0F-9AEF-0445-9EB8-C05ED1D26117}"/>
                  </a:ext>
                </a:extLst>
              </p:cNvPr>
              <p:cNvSpPr>
                <a:spLocks/>
              </p:cNvSpPr>
              <p:nvPr/>
            </p:nvSpPr>
            <p:spPr bwMode="auto">
              <a:xfrm>
                <a:off x="3932" y="2961"/>
                <a:ext cx="58" cy="28"/>
              </a:xfrm>
              <a:custGeom>
                <a:avLst/>
                <a:gdLst>
                  <a:gd name="T0" fmla="*/ 0 w 41"/>
                  <a:gd name="T1" fmla="*/ 0 h 32"/>
                  <a:gd name="T2" fmla="*/ 205290 w 41"/>
                  <a:gd name="T3" fmla="*/ 4 h 32"/>
                  <a:gd name="T4" fmla="*/ 955912 w 41"/>
                  <a:gd name="T5" fmla="*/ 4 h 32"/>
                  <a:gd name="T6" fmla="*/ 48161 w 41"/>
                  <a:gd name="T7" fmla="*/ 0 h 32"/>
                  <a:gd name="T8" fmla="*/ 48161 w 41"/>
                  <a:gd name="T9" fmla="*/ 0 h 32"/>
                  <a:gd name="T10" fmla="*/ 0 w 41"/>
                  <a:gd name="T11" fmla="*/ 0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0" y="0"/>
                    </a:moveTo>
                    <a:lnTo>
                      <a:pt x="9" y="32"/>
                    </a:lnTo>
                    <a:lnTo>
                      <a:pt x="41" y="10"/>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7" name="Freeform 42">
                <a:extLst>
                  <a:ext uri="{FF2B5EF4-FFF2-40B4-BE49-F238E27FC236}">
                    <a16:creationId xmlns:a16="http://schemas.microsoft.com/office/drawing/2014/main" id="{33043329-3E98-D341-AE34-58CDF24ECD7A}"/>
                  </a:ext>
                </a:extLst>
              </p:cNvPr>
              <p:cNvSpPr>
                <a:spLocks/>
              </p:cNvSpPr>
              <p:nvPr/>
            </p:nvSpPr>
            <p:spPr bwMode="auto">
              <a:xfrm>
                <a:off x="3932" y="3047"/>
                <a:ext cx="58" cy="28"/>
              </a:xfrm>
              <a:custGeom>
                <a:avLst/>
                <a:gdLst>
                  <a:gd name="T0" fmla="*/ 0 w 41"/>
                  <a:gd name="T1" fmla="*/ 0 h 32"/>
                  <a:gd name="T2" fmla="*/ 205290 w 41"/>
                  <a:gd name="T3" fmla="*/ 4 h 32"/>
                  <a:gd name="T4" fmla="*/ 955912 w 41"/>
                  <a:gd name="T5" fmla="*/ 4 h 32"/>
                  <a:gd name="T6" fmla="*/ 48161 w 41"/>
                  <a:gd name="T7" fmla="*/ 0 h 32"/>
                  <a:gd name="T8" fmla="*/ 48161 w 41"/>
                  <a:gd name="T9" fmla="*/ 0 h 32"/>
                  <a:gd name="T10" fmla="*/ 0 w 41"/>
                  <a:gd name="T11" fmla="*/ 0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0" y="0"/>
                    </a:moveTo>
                    <a:lnTo>
                      <a:pt x="9" y="32"/>
                    </a:lnTo>
                    <a:lnTo>
                      <a:pt x="41" y="10"/>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8" name="Freeform 43">
                <a:extLst>
                  <a:ext uri="{FF2B5EF4-FFF2-40B4-BE49-F238E27FC236}">
                    <a16:creationId xmlns:a16="http://schemas.microsoft.com/office/drawing/2014/main" id="{CB5DD077-A819-0F43-B1BD-546E3804AD10}"/>
                  </a:ext>
                </a:extLst>
              </p:cNvPr>
              <p:cNvSpPr>
                <a:spLocks/>
              </p:cNvSpPr>
              <p:nvPr/>
            </p:nvSpPr>
            <p:spPr bwMode="auto">
              <a:xfrm>
                <a:off x="3932" y="3142"/>
                <a:ext cx="58" cy="26"/>
              </a:xfrm>
              <a:custGeom>
                <a:avLst/>
                <a:gdLst>
                  <a:gd name="T0" fmla="*/ 0 w 41"/>
                  <a:gd name="T1" fmla="*/ 0 h 30"/>
                  <a:gd name="T2" fmla="*/ 396860 w 41"/>
                  <a:gd name="T3" fmla="*/ 3 h 30"/>
                  <a:gd name="T4" fmla="*/ 955912 w 41"/>
                  <a:gd name="T5" fmla="*/ 0 h 30"/>
                  <a:gd name="T6" fmla="*/ 0 w 41"/>
                  <a:gd name="T7" fmla="*/ 0 h 30"/>
                  <a:gd name="T8" fmla="*/ 0 w 41"/>
                  <a:gd name="T9" fmla="*/ 0 h 30"/>
                  <a:gd name="T10" fmla="*/ 0 60000 65536"/>
                  <a:gd name="T11" fmla="*/ 0 60000 65536"/>
                  <a:gd name="T12" fmla="*/ 0 60000 65536"/>
                  <a:gd name="T13" fmla="*/ 0 60000 65536"/>
                  <a:gd name="T14" fmla="*/ 0 60000 65536"/>
                  <a:gd name="T15" fmla="*/ 0 w 41"/>
                  <a:gd name="T16" fmla="*/ 0 h 30"/>
                  <a:gd name="T17" fmla="*/ 41 w 41"/>
                  <a:gd name="T18" fmla="*/ 30 h 30"/>
                </a:gdLst>
                <a:ahLst/>
                <a:cxnLst>
                  <a:cxn ang="T10">
                    <a:pos x="T0" y="T1"/>
                  </a:cxn>
                  <a:cxn ang="T11">
                    <a:pos x="T2" y="T3"/>
                  </a:cxn>
                  <a:cxn ang="T12">
                    <a:pos x="T4" y="T5"/>
                  </a:cxn>
                  <a:cxn ang="T13">
                    <a:pos x="T6" y="T7"/>
                  </a:cxn>
                  <a:cxn ang="T14">
                    <a:pos x="T8" y="T9"/>
                  </a:cxn>
                </a:cxnLst>
                <a:rect l="T15" t="T16" r="T17" b="T18"/>
                <a:pathLst>
                  <a:path w="41" h="30">
                    <a:moveTo>
                      <a:pt x="0" y="0"/>
                    </a:moveTo>
                    <a:lnTo>
                      <a:pt x="17" y="30"/>
                    </a:lnTo>
                    <a:lnTo>
                      <a:pt x="4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99" name="Freeform 44">
                <a:extLst>
                  <a:ext uri="{FF2B5EF4-FFF2-40B4-BE49-F238E27FC236}">
                    <a16:creationId xmlns:a16="http://schemas.microsoft.com/office/drawing/2014/main" id="{8CD87C21-5759-7E4A-83AF-84107D655973}"/>
                  </a:ext>
                </a:extLst>
              </p:cNvPr>
              <p:cNvSpPr>
                <a:spLocks/>
              </p:cNvSpPr>
              <p:nvPr/>
            </p:nvSpPr>
            <p:spPr bwMode="auto">
              <a:xfrm>
                <a:off x="3932" y="2765"/>
                <a:ext cx="58" cy="27"/>
              </a:xfrm>
              <a:custGeom>
                <a:avLst/>
                <a:gdLst>
                  <a:gd name="T0" fmla="*/ 396860 w 41"/>
                  <a:gd name="T1" fmla="*/ 0 h 32"/>
                  <a:gd name="T2" fmla="*/ 0 w 41"/>
                  <a:gd name="T3" fmla="*/ 3 h 32"/>
                  <a:gd name="T4" fmla="*/ 955912 w 41"/>
                  <a:gd name="T5" fmla="*/ 3 h 32"/>
                  <a:gd name="T6" fmla="*/ 446012 w 41"/>
                  <a:gd name="T7" fmla="*/ 0 h 32"/>
                  <a:gd name="T8" fmla="*/ 446012 w 41"/>
                  <a:gd name="T9" fmla="*/ 0 h 32"/>
                  <a:gd name="T10" fmla="*/ 396860 w 41"/>
                  <a:gd name="T11" fmla="*/ 0 h 32"/>
                  <a:gd name="T12" fmla="*/ 0 60000 65536"/>
                  <a:gd name="T13" fmla="*/ 0 60000 65536"/>
                  <a:gd name="T14" fmla="*/ 0 60000 65536"/>
                  <a:gd name="T15" fmla="*/ 0 60000 65536"/>
                  <a:gd name="T16" fmla="*/ 0 60000 65536"/>
                  <a:gd name="T17" fmla="*/ 0 60000 65536"/>
                  <a:gd name="T18" fmla="*/ 0 w 41"/>
                  <a:gd name="T19" fmla="*/ 0 h 32"/>
                  <a:gd name="T20" fmla="*/ 41 w 41"/>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41" h="32">
                    <a:moveTo>
                      <a:pt x="17" y="0"/>
                    </a:moveTo>
                    <a:lnTo>
                      <a:pt x="0" y="30"/>
                    </a:lnTo>
                    <a:lnTo>
                      <a:pt x="41" y="32"/>
                    </a:lnTo>
                    <a:lnTo>
                      <a:pt x="19" y="0"/>
                    </a:lnTo>
                    <a:lnTo>
                      <a:pt x="17" y="0"/>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700" name="Freeform 45">
                <a:extLst>
                  <a:ext uri="{FF2B5EF4-FFF2-40B4-BE49-F238E27FC236}">
                    <a16:creationId xmlns:a16="http://schemas.microsoft.com/office/drawing/2014/main" id="{E22A6238-3CC7-E742-B9C2-CBB2F37246BC}"/>
                  </a:ext>
                </a:extLst>
              </p:cNvPr>
              <p:cNvSpPr>
                <a:spLocks/>
              </p:cNvSpPr>
              <p:nvPr/>
            </p:nvSpPr>
            <p:spPr bwMode="auto">
              <a:xfrm>
                <a:off x="3932" y="2765"/>
                <a:ext cx="58" cy="27"/>
              </a:xfrm>
              <a:custGeom>
                <a:avLst/>
                <a:gdLst>
                  <a:gd name="T0" fmla="*/ 396860 w 41"/>
                  <a:gd name="T1" fmla="*/ 0 h 32"/>
                  <a:gd name="T2" fmla="*/ 0 w 41"/>
                  <a:gd name="T3" fmla="*/ 3 h 32"/>
                  <a:gd name="T4" fmla="*/ 955912 w 41"/>
                  <a:gd name="T5" fmla="*/ 3 h 32"/>
                  <a:gd name="T6" fmla="*/ 446012 w 41"/>
                  <a:gd name="T7" fmla="*/ 0 h 32"/>
                  <a:gd name="T8" fmla="*/ 446012 w 41"/>
                  <a:gd name="T9" fmla="*/ 0 h 32"/>
                  <a:gd name="T10" fmla="*/ 0 60000 65536"/>
                  <a:gd name="T11" fmla="*/ 0 60000 65536"/>
                  <a:gd name="T12" fmla="*/ 0 60000 65536"/>
                  <a:gd name="T13" fmla="*/ 0 60000 65536"/>
                  <a:gd name="T14" fmla="*/ 0 60000 65536"/>
                  <a:gd name="T15" fmla="*/ 0 w 41"/>
                  <a:gd name="T16" fmla="*/ 0 h 32"/>
                  <a:gd name="T17" fmla="*/ 41 w 41"/>
                  <a:gd name="T18" fmla="*/ 32 h 32"/>
                </a:gdLst>
                <a:ahLst/>
                <a:cxnLst>
                  <a:cxn ang="T10">
                    <a:pos x="T0" y="T1"/>
                  </a:cxn>
                  <a:cxn ang="T11">
                    <a:pos x="T2" y="T3"/>
                  </a:cxn>
                  <a:cxn ang="T12">
                    <a:pos x="T4" y="T5"/>
                  </a:cxn>
                  <a:cxn ang="T13">
                    <a:pos x="T6" y="T7"/>
                  </a:cxn>
                  <a:cxn ang="T14">
                    <a:pos x="T8" y="T9"/>
                  </a:cxn>
                </a:cxnLst>
                <a:rect l="T15" t="T16" r="T17" b="T18"/>
                <a:pathLst>
                  <a:path w="41" h="32">
                    <a:moveTo>
                      <a:pt x="17" y="0"/>
                    </a:moveTo>
                    <a:lnTo>
                      <a:pt x="0" y="30"/>
                    </a:lnTo>
                    <a:lnTo>
                      <a:pt x="41" y="32"/>
                    </a:lnTo>
                    <a:lnTo>
                      <a:pt x="19" y="0"/>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701" name="Freeform 46">
                <a:extLst>
                  <a:ext uri="{FF2B5EF4-FFF2-40B4-BE49-F238E27FC236}">
                    <a16:creationId xmlns:a16="http://schemas.microsoft.com/office/drawing/2014/main" id="{801E2C20-2536-2645-A210-150304826BD0}"/>
                  </a:ext>
                </a:extLst>
              </p:cNvPr>
              <p:cNvSpPr>
                <a:spLocks/>
              </p:cNvSpPr>
              <p:nvPr/>
            </p:nvSpPr>
            <p:spPr bwMode="auto">
              <a:xfrm>
                <a:off x="2698" y="2360"/>
                <a:ext cx="1261" cy="425"/>
              </a:xfrm>
              <a:custGeom>
                <a:avLst/>
                <a:gdLst>
                  <a:gd name="T0" fmla="*/ 0 w 891"/>
                  <a:gd name="T1" fmla="*/ 3 h 493"/>
                  <a:gd name="T2" fmla="*/ 20998270 w 891"/>
                  <a:gd name="T3" fmla="*/ 7 h 493"/>
                  <a:gd name="T4" fmla="*/ 21098769 w 891"/>
                  <a:gd name="T5" fmla="*/ 7 h 493"/>
                  <a:gd name="T6" fmla="*/ 169683 w 891"/>
                  <a:gd name="T7" fmla="*/ 0 h 493"/>
                  <a:gd name="T8" fmla="*/ 49265 w 891"/>
                  <a:gd name="T9" fmla="*/ 3 h 493"/>
                  <a:gd name="T10" fmla="*/ 49265 w 891"/>
                  <a:gd name="T11" fmla="*/ 3 h 493"/>
                  <a:gd name="T12" fmla="*/ 0 w 891"/>
                  <a:gd name="T13" fmla="*/ 3 h 493"/>
                  <a:gd name="T14" fmla="*/ 0 60000 65536"/>
                  <a:gd name="T15" fmla="*/ 0 60000 65536"/>
                  <a:gd name="T16" fmla="*/ 0 60000 65536"/>
                  <a:gd name="T17" fmla="*/ 0 60000 65536"/>
                  <a:gd name="T18" fmla="*/ 0 60000 65536"/>
                  <a:gd name="T19" fmla="*/ 0 60000 65536"/>
                  <a:gd name="T20" fmla="*/ 0 60000 65536"/>
                  <a:gd name="T21" fmla="*/ 0 w 891"/>
                  <a:gd name="T22" fmla="*/ 0 h 493"/>
                  <a:gd name="T23" fmla="*/ 891 w 891"/>
                  <a:gd name="T24" fmla="*/ 493 h 4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91" h="493">
                    <a:moveTo>
                      <a:pt x="0" y="6"/>
                    </a:moveTo>
                    <a:lnTo>
                      <a:pt x="887" y="493"/>
                    </a:lnTo>
                    <a:lnTo>
                      <a:pt x="891" y="485"/>
                    </a:lnTo>
                    <a:lnTo>
                      <a:pt x="7" y="0"/>
                    </a:lnTo>
                    <a:lnTo>
                      <a:pt x="2" y="6"/>
                    </a:lnTo>
                    <a:lnTo>
                      <a:pt x="0" y="6"/>
                    </a:lnTo>
                    <a:close/>
                  </a:path>
                </a:pathLst>
              </a:custGeom>
              <a:solidFill>
                <a:srgbClr val="EB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702" name="Freeform 47">
                <a:extLst>
                  <a:ext uri="{FF2B5EF4-FFF2-40B4-BE49-F238E27FC236}">
                    <a16:creationId xmlns:a16="http://schemas.microsoft.com/office/drawing/2014/main" id="{86E5F918-276F-B04B-8C51-9181EFEA3408}"/>
                  </a:ext>
                </a:extLst>
              </p:cNvPr>
              <p:cNvSpPr>
                <a:spLocks/>
              </p:cNvSpPr>
              <p:nvPr/>
            </p:nvSpPr>
            <p:spPr bwMode="auto">
              <a:xfrm>
                <a:off x="2698" y="2360"/>
                <a:ext cx="1261" cy="425"/>
              </a:xfrm>
              <a:custGeom>
                <a:avLst/>
                <a:gdLst>
                  <a:gd name="T0" fmla="*/ 0 w 891"/>
                  <a:gd name="T1" fmla="*/ 3 h 493"/>
                  <a:gd name="T2" fmla="*/ 20998270 w 891"/>
                  <a:gd name="T3" fmla="*/ 7 h 493"/>
                  <a:gd name="T4" fmla="*/ 21098769 w 891"/>
                  <a:gd name="T5" fmla="*/ 7 h 493"/>
                  <a:gd name="T6" fmla="*/ 169683 w 891"/>
                  <a:gd name="T7" fmla="*/ 0 h 493"/>
                  <a:gd name="T8" fmla="*/ 49265 w 891"/>
                  <a:gd name="T9" fmla="*/ 3 h 493"/>
                  <a:gd name="T10" fmla="*/ 49265 w 891"/>
                  <a:gd name="T11" fmla="*/ 3 h 493"/>
                  <a:gd name="T12" fmla="*/ 0 60000 65536"/>
                  <a:gd name="T13" fmla="*/ 0 60000 65536"/>
                  <a:gd name="T14" fmla="*/ 0 60000 65536"/>
                  <a:gd name="T15" fmla="*/ 0 60000 65536"/>
                  <a:gd name="T16" fmla="*/ 0 60000 65536"/>
                  <a:gd name="T17" fmla="*/ 0 60000 65536"/>
                  <a:gd name="T18" fmla="*/ 0 w 891"/>
                  <a:gd name="T19" fmla="*/ 0 h 493"/>
                  <a:gd name="T20" fmla="*/ 891 w 891"/>
                  <a:gd name="T21" fmla="*/ 493 h 493"/>
                </a:gdLst>
                <a:ahLst/>
                <a:cxnLst>
                  <a:cxn ang="T12">
                    <a:pos x="T0" y="T1"/>
                  </a:cxn>
                  <a:cxn ang="T13">
                    <a:pos x="T2" y="T3"/>
                  </a:cxn>
                  <a:cxn ang="T14">
                    <a:pos x="T4" y="T5"/>
                  </a:cxn>
                  <a:cxn ang="T15">
                    <a:pos x="T6" y="T7"/>
                  </a:cxn>
                  <a:cxn ang="T16">
                    <a:pos x="T8" y="T9"/>
                  </a:cxn>
                  <a:cxn ang="T17">
                    <a:pos x="T10" y="T11"/>
                  </a:cxn>
                </a:cxnLst>
                <a:rect l="T18" t="T19" r="T20" b="T21"/>
                <a:pathLst>
                  <a:path w="891" h="493">
                    <a:moveTo>
                      <a:pt x="0" y="6"/>
                    </a:moveTo>
                    <a:lnTo>
                      <a:pt x="887" y="493"/>
                    </a:lnTo>
                    <a:lnTo>
                      <a:pt x="891" y="485"/>
                    </a:lnTo>
                    <a:lnTo>
                      <a:pt x="7" y="0"/>
                    </a:lnTo>
                    <a:lnTo>
                      <a:pt x="2" y="6"/>
                    </a:lnTo>
                  </a:path>
                </a:pathLst>
              </a:custGeom>
              <a:noFill/>
              <a:ln w="3175">
                <a:solidFill>
                  <a:srgbClr val="EB75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34510" name="Group 48">
              <a:extLst>
                <a:ext uri="{FF2B5EF4-FFF2-40B4-BE49-F238E27FC236}">
                  <a16:creationId xmlns:a16="http://schemas.microsoft.com/office/drawing/2014/main" id="{781FA518-F06D-FD4B-8413-39975AE4B829}"/>
                </a:ext>
              </a:extLst>
            </p:cNvPr>
            <p:cNvGrpSpPr>
              <a:grpSpLocks/>
            </p:cNvGrpSpPr>
            <p:nvPr/>
          </p:nvGrpSpPr>
          <p:grpSpPr bwMode="auto">
            <a:xfrm>
              <a:off x="1873" y="2474"/>
              <a:ext cx="2101" cy="1660"/>
              <a:chOff x="1873" y="2474"/>
              <a:chExt cx="2101" cy="1660"/>
            </a:xfrm>
          </p:grpSpPr>
          <p:sp>
            <p:nvSpPr>
              <p:cNvPr id="234659" name="Line 49">
                <a:extLst>
                  <a:ext uri="{FF2B5EF4-FFF2-40B4-BE49-F238E27FC236}">
                    <a16:creationId xmlns:a16="http://schemas.microsoft.com/office/drawing/2014/main" id="{71A17DBD-A07A-5C41-96F1-ED2914DC986C}"/>
                  </a:ext>
                </a:extLst>
              </p:cNvPr>
              <p:cNvSpPr>
                <a:spLocks noChangeShapeType="1"/>
              </p:cNvSpPr>
              <p:nvPr/>
            </p:nvSpPr>
            <p:spPr bwMode="auto">
              <a:xfrm flipV="1">
                <a:off x="1883" y="2474"/>
                <a:ext cx="2086" cy="140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0" name="Line 50">
                <a:extLst>
                  <a:ext uri="{FF2B5EF4-FFF2-40B4-BE49-F238E27FC236}">
                    <a16:creationId xmlns:a16="http://schemas.microsoft.com/office/drawing/2014/main" id="{CE6570AE-40E9-DA43-9E5B-4D0088339EFE}"/>
                  </a:ext>
                </a:extLst>
              </p:cNvPr>
              <p:cNvSpPr>
                <a:spLocks noChangeShapeType="1"/>
              </p:cNvSpPr>
              <p:nvPr/>
            </p:nvSpPr>
            <p:spPr bwMode="auto">
              <a:xfrm flipV="1">
                <a:off x="1888" y="2559"/>
                <a:ext cx="2086" cy="157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1" name="Line 51">
                <a:extLst>
                  <a:ext uri="{FF2B5EF4-FFF2-40B4-BE49-F238E27FC236}">
                    <a16:creationId xmlns:a16="http://schemas.microsoft.com/office/drawing/2014/main" id="{6428DD63-A0AC-3547-8870-52C3BB37C8C5}"/>
                  </a:ext>
                </a:extLst>
              </p:cNvPr>
              <p:cNvSpPr>
                <a:spLocks noChangeShapeType="1"/>
              </p:cNvSpPr>
              <p:nvPr/>
            </p:nvSpPr>
            <p:spPr bwMode="auto">
              <a:xfrm flipV="1">
                <a:off x="1883" y="2635"/>
                <a:ext cx="2073" cy="55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2" name="Line 52">
                <a:extLst>
                  <a:ext uri="{FF2B5EF4-FFF2-40B4-BE49-F238E27FC236}">
                    <a16:creationId xmlns:a16="http://schemas.microsoft.com/office/drawing/2014/main" id="{D372B590-A071-FB4C-9166-3463FDEFE519}"/>
                  </a:ext>
                </a:extLst>
              </p:cNvPr>
              <p:cNvSpPr>
                <a:spLocks noChangeShapeType="1"/>
              </p:cNvSpPr>
              <p:nvPr/>
            </p:nvSpPr>
            <p:spPr bwMode="auto">
              <a:xfrm flipV="1">
                <a:off x="1883" y="2725"/>
                <a:ext cx="2076" cy="72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3" name="Line 53">
                <a:extLst>
                  <a:ext uri="{FF2B5EF4-FFF2-40B4-BE49-F238E27FC236}">
                    <a16:creationId xmlns:a16="http://schemas.microsoft.com/office/drawing/2014/main" id="{E63E1017-56B0-3844-84F1-0FCD95F70713}"/>
                  </a:ext>
                </a:extLst>
              </p:cNvPr>
              <p:cNvSpPr>
                <a:spLocks noChangeShapeType="1"/>
              </p:cNvSpPr>
              <p:nvPr/>
            </p:nvSpPr>
            <p:spPr bwMode="auto">
              <a:xfrm flipV="1">
                <a:off x="1888" y="2818"/>
                <a:ext cx="2078" cy="114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4" name="Line 54">
                <a:extLst>
                  <a:ext uri="{FF2B5EF4-FFF2-40B4-BE49-F238E27FC236}">
                    <a16:creationId xmlns:a16="http://schemas.microsoft.com/office/drawing/2014/main" id="{569A9593-3B0E-B346-A5BF-CADB1E05E69F}"/>
                  </a:ext>
                </a:extLst>
              </p:cNvPr>
              <p:cNvSpPr>
                <a:spLocks noChangeShapeType="1"/>
              </p:cNvSpPr>
              <p:nvPr/>
            </p:nvSpPr>
            <p:spPr bwMode="auto">
              <a:xfrm flipV="1">
                <a:off x="1883" y="2897"/>
                <a:ext cx="2076" cy="72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5" name="Line 55">
                <a:extLst>
                  <a:ext uri="{FF2B5EF4-FFF2-40B4-BE49-F238E27FC236}">
                    <a16:creationId xmlns:a16="http://schemas.microsoft.com/office/drawing/2014/main" id="{02048C4E-9FB8-0848-BE1C-88C60D130386}"/>
                  </a:ext>
                </a:extLst>
              </p:cNvPr>
              <p:cNvSpPr>
                <a:spLocks noChangeShapeType="1"/>
              </p:cNvSpPr>
              <p:nvPr/>
            </p:nvSpPr>
            <p:spPr bwMode="auto">
              <a:xfrm flipV="1">
                <a:off x="1883" y="2973"/>
                <a:ext cx="2070" cy="30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6" name="Line 56">
                <a:extLst>
                  <a:ext uri="{FF2B5EF4-FFF2-40B4-BE49-F238E27FC236}">
                    <a16:creationId xmlns:a16="http://schemas.microsoft.com/office/drawing/2014/main" id="{44371E5C-412F-6044-955E-C52DDE5F68AE}"/>
                  </a:ext>
                </a:extLst>
              </p:cNvPr>
              <p:cNvSpPr>
                <a:spLocks noChangeShapeType="1"/>
              </p:cNvSpPr>
              <p:nvPr/>
            </p:nvSpPr>
            <p:spPr bwMode="auto">
              <a:xfrm flipV="1">
                <a:off x="1873" y="3059"/>
                <a:ext cx="2083" cy="29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7" name="Line 57">
                <a:extLst>
                  <a:ext uri="{FF2B5EF4-FFF2-40B4-BE49-F238E27FC236}">
                    <a16:creationId xmlns:a16="http://schemas.microsoft.com/office/drawing/2014/main" id="{284052AC-1E70-4F4E-8B3F-CD36A9156B01}"/>
                  </a:ext>
                </a:extLst>
              </p:cNvPr>
              <p:cNvSpPr>
                <a:spLocks noChangeShapeType="1"/>
              </p:cNvSpPr>
              <p:nvPr/>
            </p:nvSpPr>
            <p:spPr bwMode="auto">
              <a:xfrm flipV="1">
                <a:off x="1883" y="3152"/>
                <a:ext cx="2070" cy="55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68" name="Freeform 58">
                <a:extLst>
                  <a:ext uri="{FF2B5EF4-FFF2-40B4-BE49-F238E27FC236}">
                    <a16:creationId xmlns:a16="http://schemas.microsoft.com/office/drawing/2014/main" id="{EB9CEC7E-DDD3-1C42-BB64-C57898BF1647}"/>
                  </a:ext>
                </a:extLst>
              </p:cNvPr>
              <p:cNvSpPr>
                <a:spLocks/>
              </p:cNvSpPr>
              <p:nvPr/>
            </p:nvSpPr>
            <p:spPr bwMode="auto">
              <a:xfrm>
                <a:off x="3782" y="3595"/>
                <a:ext cx="52" cy="30"/>
              </a:xfrm>
              <a:custGeom>
                <a:avLst/>
                <a:gdLst>
                  <a:gd name="T0" fmla="*/ 97982 w 37"/>
                  <a:gd name="T1" fmla="*/ 0 h 34"/>
                  <a:gd name="T2" fmla="*/ 0 w 37"/>
                  <a:gd name="T3" fmla="*/ 4 h 34"/>
                  <a:gd name="T4" fmla="*/ 718109 w 37"/>
                  <a:gd name="T5" fmla="*/ 4 h 34"/>
                  <a:gd name="T6" fmla="*/ 97982 w 37"/>
                  <a:gd name="T7" fmla="*/ 0 h 34"/>
                  <a:gd name="T8" fmla="*/ 97982 w 37"/>
                  <a:gd name="T9" fmla="*/ 0 h 34"/>
                  <a:gd name="T10" fmla="*/ 0 60000 65536"/>
                  <a:gd name="T11" fmla="*/ 0 60000 65536"/>
                  <a:gd name="T12" fmla="*/ 0 60000 65536"/>
                  <a:gd name="T13" fmla="*/ 0 60000 65536"/>
                  <a:gd name="T14" fmla="*/ 0 60000 65536"/>
                  <a:gd name="T15" fmla="*/ 0 w 37"/>
                  <a:gd name="T16" fmla="*/ 0 h 34"/>
                  <a:gd name="T17" fmla="*/ 37 w 37"/>
                  <a:gd name="T18" fmla="*/ 34 h 34"/>
                </a:gdLst>
                <a:ahLst/>
                <a:cxnLst>
                  <a:cxn ang="T10">
                    <a:pos x="T0" y="T1"/>
                  </a:cxn>
                  <a:cxn ang="T11">
                    <a:pos x="T2" y="T3"/>
                  </a:cxn>
                  <a:cxn ang="T12">
                    <a:pos x="T4" y="T5"/>
                  </a:cxn>
                  <a:cxn ang="T13">
                    <a:pos x="T6" y="T7"/>
                  </a:cxn>
                  <a:cxn ang="T14">
                    <a:pos x="T8" y="T9"/>
                  </a:cxn>
                </a:cxnLst>
                <a:rect l="T15" t="T16" r="T17" b="T18"/>
                <a:pathLst>
                  <a:path w="37" h="34">
                    <a:moveTo>
                      <a:pt x="5" y="0"/>
                    </a:moveTo>
                    <a:lnTo>
                      <a:pt x="0" y="34"/>
                    </a:lnTo>
                    <a:lnTo>
                      <a:pt x="37" y="2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69" name="Freeform 59">
                <a:extLst>
                  <a:ext uri="{FF2B5EF4-FFF2-40B4-BE49-F238E27FC236}">
                    <a16:creationId xmlns:a16="http://schemas.microsoft.com/office/drawing/2014/main" id="{DC2D8EEC-6C53-F84D-8866-21CE20245EFE}"/>
                  </a:ext>
                </a:extLst>
              </p:cNvPr>
              <p:cNvSpPr>
                <a:spLocks/>
              </p:cNvSpPr>
              <p:nvPr/>
            </p:nvSpPr>
            <p:spPr bwMode="auto">
              <a:xfrm>
                <a:off x="3779" y="3839"/>
                <a:ext cx="55" cy="28"/>
              </a:xfrm>
              <a:custGeom>
                <a:avLst/>
                <a:gdLst>
                  <a:gd name="T0" fmla="*/ 0 w 39"/>
                  <a:gd name="T1" fmla="*/ 0 h 32"/>
                  <a:gd name="T2" fmla="*/ 186941 w 39"/>
                  <a:gd name="T3" fmla="*/ 4 h 32"/>
                  <a:gd name="T4" fmla="*/ 839887 w 39"/>
                  <a:gd name="T5" fmla="*/ 4 h 32"/>
                  <a:gd name="T6" fmla="*/ 0 w 39"/>
                  <a:gd name="T7" fmla="*/ 0 h 32"/>
                  <a:gd name="T8" fmla="*/ 0 w 39"/>
                  <a:gd name="T9" fmla="*/ 0 h 32"/>
                  <a:gd name="T10" fmla="*/ 0 60000 65536"/>
                  <a:gd name="T11" fmla="*/ 0 60000 65536"/>
                  <a:gd name="T12" fmla="*/ 0 60000 65536"/>
                  <a:gd name="T13" fmla="*/ 0 60000 65536"/>
                  <a:gd name="T14" fmla="*/ 0 60000 65536"/>
                  <a:gd name="T15" fmla="*/ 0 w 39"/>
                  <a:gd name="T16" fmla="*/ 0 h 32"/>
                  <a:gd name="T17" fmla="*/ 39 w 39"/>
                  <a:gd name="T18" fmla="*/ 32 h 32"/>
                </a:gdLst>
                <a:ahLst/>
                <a:cxnLst>
                  <a:cxn ang="T10">
                    <a:pos x="T0" y="T1"/>
                  </a:cxn>
                  <a:cxn ang="T11">
                    <a:pos x="T2" y="T3"/>
                  </a:cxn>
                  <a:cxn ang="T12">
                    <a:pos x="T4" y="T5"/>
                  </a:cxn>
                  <a:cxn ang="T13">
                    <a:pos x="T6" y="T7"/>
                  </a:cxn>
                  <a:cxn ang="T14">
                    <a:pos x="T8" y="T9"/>
                  </a:cxn>
                </a:cxnLst>
                <a:rect l="T15" t="T16" r="T17" b="T18"/>
                <a:pathLst>
                  <a:path w="39" h="32">
                    <a:moveTo>
                      <a:pt x="0" y="0"/>
                    </a:moveTo>
                    <a:lnTo>
                      <a:pt x="9" y="32"/>
                    </a:lnTo>
                    <a:lnTo>
                      <a:pt x="39"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70" name="Freeform 60">
                <a:extLst>
                  <a:ext uri="{FF2B5EF4-FFF2-40B4-BE49-F238E27FC236}">
                    <a16:creationId xmlns:a16="http://schemas.microsoft.com/office/drawing/2014/main" id="{3152041E-D6E1-A446-9F1C-3E58C0D63BF2}"/>
                  </a:ext>
                </a:extLst>
              </p:cNvPr>
              <p:cNvSpPr>
                <a:spLocks/>
              </p:cNvSpPr>
              <p:nvPr/>
            </p:nvSpPr>
            <p:spPr bwMode="auto">
              <a:xfrm>
                <a:off x="3779" y="3717"/>
                <a:ext cx="55" cy="29"/>
              </a:xfrm>
              <a:custGeom>
                <a:avLst/>
                <a:gdLst>
                  <a:gd name="T0" fmla="*/ 0 w 39"/>
                  <a:gd name="T1" fmla="*/ 0 h 34"/>
                  <a:gd name="T2" fmla="*/ 86635 w 39"/>
                  <a:gd name="T3" fmla="*/ 3 h 34"/>
                  <a:gd name="T4" fmla="*/ 839887 w 39"/>
                  <a:gd name="T5" fmla="*/ 3 h 34"/>
                  <a:gd name="T6" fmla="*/ 43561 w 39"/>
                  <a:gd name="T7" fmla="*/ 0 h 34"/>
                  <a:gd name="T8" fmla="*/ 43561 w 39"/>
                  <a:gd name="T9" fmla="*/ 0 h 34"/>
                  <a:gd name="T10" fmla="*/ 0 w 39"/>
                  <a:gd name="T11" fmla="*/ 0 h 34"/>
                  <a:gd name="T12" fmla="*/ 0 60000 65536"/>
                  <a:gd name="T13" fmla="*/ 0 60000 65536"/>
                  <a:gd name="T14" fmla="*/ 0 60000 65536"/>
                  <a:gd name="T15" fmla="*/ 0 60000 65536"/>
                  <a:gd name="T16" fmla="*/ 0 60000 65536"/>
                  <a:gd name="T17" fmla="*/ 0 60000 65536"/>
                  <a:gd name="T18" fmla="*/ 0 w 39"/>
                  <a:gd name="T19" fmla="*/ 0 h 34"/>
                  <a:gd name="T20" fmla="*/ 39 w 39"/>
                  <a:gd name="T21" fmla="*/ 34 h 34"/>
                </a:gdLst>
                <a:ahLst/>
                <a:cxnLst>
                  <a:cxn ang="T12">
                    <a:pos x="T0" y="T1"/>
                  </a:cxn>
                  <a:cxn ang="T13">
                    <a:pos x="T2" y="T3"/>
                  </a:cxn>
                  <a:cxn ang="T14">
                    <a:pos x="T4" y="T5"/>
                  </a:cxn>
                  <a:cxn ang="T15">
                    <a:pos x="T6" y="T7"/>
                  </a:cxn>
                  <a:cxn ang="T16">
                    <a:pos x="T8" y="T9"/>
                  </a:cxn>
                  <a:cxn ang="T17">
                    <a:pos x="T10" y="T11"/>
                  </a:cxn>
                </a:cxnLst>
                <a:rect l="T18" t="T19" r="T20" b="T21"/>
                <a:pathLst>
                  <a:path w="39" h="34">
                    <a:moveTo>
                      <a:pt x="0" y="0"/>
                    </a:moveTo>
                    <a:lnTo>
                      <a:pt x="4" y="34"/>
                    </a:lnTo>
                    <a:lnTo>
                      <a:pt x="39" y="16"/>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71" name="Line 61">
                <a:extLst>
                  <a:ext uri="{FF2B5EF4-FFF2-40B4-BE49-F238E27FC236}">
                    <a16:creationId xmlns:a16="http://schemas.microsoft.com/office/drawing/2014/main" id="{5A4CC988-D5D0-DB4D-ACBF-1805B459E725}"/>
                  </a:ext>
                </a:extLst>
              </p:cNvPr>
              <p:cNvSpPr>
                <a:spLocks noChangeShapeType="1"/>
              </p:cNvSpPr>
              <p:nvPr/>
            </p:nvSpPr>
            <p:spPr bwMode="auto">
              <a:xfrm>
                <a:off x="1873" y="3530"/>
                <a:ext cx="1961" cy="8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72" name="Line 62">
                <a:extLst>
                  <a:ext uri="{FF2B5EF4-FFF2-40B4-BE49-F238E27FC236}">
                    <a16:creationId xmlns:a16="http://schemas.microsoft.com/office/drawing/2014/main" id="{9AEC71B0-A9C3-5A40-A038-B90566422359}"/>
                  </a:ext>
                </a:extLst>
              </p:cNvPr>
              <p:cNvSpPr>
                <a:spLocks noChangeShapeType="1"/>
              </p:cNvSpPr>
              <p:nvPr/>
            </p:nvSpPr>
            <p:spPr bwMode="auto">
              <a:xfrm flipV="1">
                <a:off x="1883" y="3851"/>
                <a:ext cx="1920" cy="19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73" name="Line 63">
                <a:extLst>
                  <a:ext uri="{FF2B5EF4-FFF2-40B4-BE49-F238E27FC236}">
                    <a16:creationId xmlns:a16="http://schemas.microsoft.com/office/drawing/2014/main" id="{D2384519-4856-6A47-B230-F5C1ED85B5E6}"/>
                  </a:ext>
                </a:extLst>
              </p:cNvPr>
              <p:cNvSpPr>
                <a:spLocks noChangeShapeType="1"/>
              </p:cNvSpPr>
              <p:nvPr/>
            </p:nvSpPr>
            <p:spPr bwMode="auto">
              <a:xfrm flipV="1">
                <a:off x="1873" y="3731"/>
                <a:ext cx="1961" cy="5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34511" name="Group 64">
              <a:extLst>
                <a:ext uri="{FF2B5EF4-FFF2-40B4-BE49-F238E27FC236}">
                  <a16:creationId xmlns:a16="http://schemas.microsoft.com/office/drawing/2014/main" id="{14754EC2-48AB-DA43-8A52-FC2F0F5A5406}"/>
                </a:ext>
              </a:extLst>
            </p:cNvPr>
            <p:cNvGrpSpPr>
              <a:grpSpLocks/>
            </p:cNvGrpSpPr>
            <p:nvPr/>
          </p:nvGrpSpPr>
          <p:grpSpPr bwMode="auto">
            <a:xfrm>
              <a:off x="3996" y="2237"/>
              <a:ext cx="1280" cy="983"/>
              <a:chOff x="3996" y="2237"/>
              <a:chExt cx="1280" cy="983"/>
            </a:xfrm>
          </p:grpSpPr>
          <p:sp>
            <p:nvSpPr>
              <p:cNvPr id="234649" name="Freeform 65">
                <a:extLst>
                  <a:ext uri="{FF2B5EF4-FFF2-40B4-BE49-F238E27FC236}">
                    <a16:creationId xmlns:a16="http://schemas.microsoft.com/office/drawing/2014/main" id="{29747812-ED11-9247-AA92-72623E1DD9E8}"/>
                  </a:ext>
                </a:extLst>
              </p:cNvPr>
              <p:cNvSpPr>
                <a:spLocks/>
              </p:cNvSpPr>
              <p:nvPr/>
            </p:nvSpPr>
            <p:spPr bwMode="auto">
              <a:xfrm>
                <a:off x="3996" y="2448"/>
                <a:ext cx="1252" cy="86"/>
              </a:xfrm>
              <a:custGeom>
                <a:avLst/>
                <a:gdLst>
                  <a:gd name="T0" fmla="*/ 20702684 w 885"/>
                  <a:gd name="T1" fmla="*/ 3 h 100"/>
                  <a:gd name="T2" fmla="*/ 20702684 w 885"/>
                  <a:gd name="T3" fmla="*/ 0 h 100"/>
                  <a:gd name="T4" fmla="*/ 0 w 885"/>
                  <a:gd name="T5" fmla="*/ 0 h 100"/>
                  <a:gd name="T6" fmla="*/ 0 w 885"/>
                  <a:gd name="T7" fmla="*/ 3 h 100"/>
                  <a:gd name="T8" fmla="*/ 20702684 w 885"/>
                  <a:gd name="T9" fmla="*/ 3 h 100"/>
                  <a:gd name="T10" fmla="*/ 20702684 w 885"/>
                  <a:gd name="T11" fmla="*/ 3 h 100"/>
                  <a:gd name="T12" fmla="*/ 0 60000 65536"/>
                  <a:gd name="T13" fmla="*/ 0 60000 65536"/>
                  <a:gd name="T14" fmla="*/ 0 60000 65536"/>
                  <a:gd name="T15" fmla="*/ 0 60000 65536"/>
                  <a:gd name="T16" fmla="*/ 0 60000 65536"/>
                  <a:gd name="T17" fmla="*/ 0 60000 65536"/>
                  <a:gd name="T18" fmla="*/ 0 w 885"/>
                  <a:gd name="T19" fmla="*/ 0 h 100"/>
                  <a:gd name="T20" fmla="*/ 885 w 885"/>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85" h="100">
                    <a:moveTo>
                      <a:pt x="885" y="100"/>
                    </a:moveTo>
                    <a:lnTo>
                      <a:pt x="885" y="0"/>
                    </a:lnTo>
                    <a:lnTo>
                      <a:pt x="0" y="0"/>
                    </a:lnTo>
                    <a:lnTo>
                      <a:pt x="0" y="100"/>
                    </a:lnTo>
                    <a:lnTo>
                      <a:pt x="885"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0" name="Freeform 66">
                <a:extLst>
                  <a:ext uri="{FF2B5EF4-FFF2-40B4-BE49-F238E27FC236}">
                    <a16:creationId xmlns:a16="http://schemas.microsoft.com/office/drawing/2014/main" id="{263904EE-BCF0-B943-B993-D277992321DD}"/>
                  </a:ext>
                </a:extLst>
              </p:cNvPr>
              <p:cNvSpPr>
                <a:spLocks/>
              </p:cNvSpPr>
              <p:nvPr/>
            </p:nvSpPr>
            <p:spPr bwMode="auto">
              <a:xfrm>
                <a:off x="3996" y="2534"/>
                <a:ext cx="1252" cy="87"/>
              </a:xfrm>
              <a:custGeom>
                <a:avLst/>
                <a:gdLst>
                  <a:gd name="T0" fmla="*/ 20702684 w 885"/>
                  <a:gd name="T1" fmla="*/ 3 h 101"/>
                  <a:gd name="T2" fmla="*/ 20702684 w 885"/>
                  <a:gd name="T3" fmla="*/ 0 h 101"/>
                  <a:gd name="T4" fmla="*/ 0 w 885"/>
                  <a:gd name="T5" fmla="*/ 0 h 101"/>
                  <a:gd name="T6" fmla="*/ 0 w 885"/>
                  <a:gd name="T7" fmla="*/ 3 h 101"/>
                  <a:gd name="T8" fmla="*/ 20702684 w 885"/>
                  <a:gd name="T9" fmla="*/ 3 h 101"/>
                  <a:gd name="T10" fmla="*/ 20702684 w 885"/>
                  <a:gd name="T11" fmla="*/ 3 h 101"/>
                  <a:gd name="T12" fmla="*/ 0 60000 65536"/>
                  <a:gd name="T13" fmla="*/ 0 60000 65536"/>
                  <a:gd name="T14" fmla="*/ 0 60000 65536"/>
                  <a:gd name="T15" fmla="*/ 0 60000 65536"/>
                  <a:gd name="T16" fmla="*/ 0 60000 65536"/>
                  <a:gd name="T17" fmla="*/ 0 60000 65536"/>
                  <a:gd name="T18" fmla="*/ 0 w 885"/>
                  <a:gd name="T19" fmla="*/ 0 h 101"/>
                  <a:gd name="T20" fmla="*/ 885 w 885"/>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885" h="101">
                    <a:moveTo>
                      <a:pt x="885" y="99"/>
                    </a:moveTo>
                    <a:lnTo>
                      <a:pt x="885" y="0"/>
                    </a:lnTo>
                    <a:lnTo>
                      <a:pt x="0" y="0"/>
                    </a:lnTo>
                    <a:lnTo>
                      <a:pt x="0" y="101"/>
                    </a:lnTo>
                    <a:lnTo>
                      <a:pt x="885" y="10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1" name="Freeform 67">
                <a:extLst>
                  <a:ext uri="{FF2B5EF4-FFF2-40B4-BE49-F238E27FC236}">
                    <a16:creationId xmlns:a16="http://schemas.microsoft.com/office/drawing/2014/main" id="{57267EC4-D2A5-FA40-A9FE-0B59950F0A6C}"/>
                  </a:ext>
                </a:extLst>
              </p:cNvPr>
              <p:cNvSpPr>
                <a:spLocks/>
              </p:cNvSpPr>
              <p:nvPr/>
            </p:nvSpPr>
            <p:spPr bwMode="auto">
              <a:xfrm>
                <a:off x="3996" y="2621"/>
                <a:ext cx="1252" cy="85"/>
              </a:xfrm>
              <a:custGeom>
                <a:avLst/>
                <a:gdLst>
                  <a:gd name="T0" fmla="*/ 20702684 w 885"/>
                  <a:gd name="T1" fmla="*/ 3 h 98"/>
                  <a:gd name="T2" fmla="*/ 20702684 w 885"/>
                  <a:gd name="T3" fmla="*/ 0 h 98"/>
                  <a:gd name="T4" fmla="*/ 0 w 885"/>
                  <a:gd name="T5" fmla="*/ 0 h 98"/>
                  <a:gd name="T6" fmla="*/ 0 w 885"/>
                  <a:gd name="T7" fmla="*/ 3 h 98"/>
                  <a:gd name="T8" fmla="*/ 20702684 w 885"/>
                  <a:gd name="T9" fmla="*/ 3 h 98"/>
                  <a:gd name="T10" fmla="*/ 20702684 w 885"/>
                  <a:gd name="T11" fmla="*/ 3 h 98"/>
                  <a:gd name="T12" fmla="*/ 0 60000 65536"/>
                  <a:gd name="T13" fmla="*/ 0 60000 65536"/>
                  <a:gd name="T14" fmla="*/ 0 60000 65536"/>
                  <a:gd name="T15" fmla="*/ 0 60000 65536"/>
                  <a:gd name="T16" fmla="*/ 0 60000 65536"/>
                  <a:gd name="T17" fmla="*/ 0 60000 65536"/>
                  <a:gd name="T18" fmla="*/ 0 w 885"/>
                  <a:gd name="T19" fmla="*/ 0 h 98"/>
                  <a:gd name="T20" fmla="*/ 885 w 885"/>
                  <a:gd name="T21" fmla="*/ 98 h 98"/>
                </a:gdLst>
                <a:ahLst/>
                <a:cxnLst>
                  <a:cxn ang="T12">
                    <a:pos x="T0" y="T1"/>
                  </a:cxn>
                  <a:cxn ang="T13">
                    <a:pos x="T2" y="T3"/>
                  </a:cxn>
                  <a:cxn ang="T14">
                    <a:pos x="T4" y="T5"/>
                  </a:cxn>
                  <a:cxn ang="T15">
                    <a:pos x="T6" y="T7"/>
                  </a:cxn>
                  <a:cxn ang="T16">
                    <a:pos x="T8" y="T9"/>
                  </a:cxn>
                  <a:cxn ang="T17">
                    <a:pos x="T10" y="T11"/>
                  </a:cxn>
                </a:cxnLst>
                <a:rect l="T18" t="T19" r="T20" b="T21"/>
                <a:pathLst>
                  <a:path w="885" h="98">
                    <a:moveTo>
                      <a:pt x="885" y="98"/>
                    </a:moveTo>
                    <a:lnTo>
                      <a:pt x="885" y="0"/>
                    </a:lnTo>
                    <a:lnTo>
                      <a:pt x="0" y="0"/>
                    </a:lnTo>
                    <a:lnTo>
                      <a:pt x="0" y="98"/>
                    </a:lnTo>
                    <a:lnTo>
                      <a:pt x="885" y="98"/>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2" name="Freeform 68">
                <a:extLst>
                  <a:ext uri="{FF2B5EF4-FFF2-40B4-BE49-F238E27FC236}">
                    <a16:creationId xmlns:a16="http://schemas.microsoft.com/office/drawing/2014/main" id="{0FA734EB-A6A9-D747-BC39-13F947209DBD}"/>
                  </a:ext>
                </a:extLst>
              </p:cNvPr>
              <p:cNvSpPr>
                <a:spLocks/>
              </p:cNvSpPr>
              <p:nvPr/>
            </p:nvSpPr>
            <p:spPr bwMode="auto">
              <a:xfrm>
                <a:off x="3996" y="2706"/>
                <a:ext cx="1252" cy="86"/>
              </a:xfrm>
              <a:custGeom>
                <a:avLst/>
                <a:gdLst>
                  <a:gd name="T0" fmla="*/ 20702684 w 885"/>
                  <a:gd name="T1" fmla="*/ 3 h 100"/>
                  <a:gd name="T2" fmla="*/ 20702684 w 885"/>
                  <a:gd name="T3" fmla="*/ 0 h 100"/>
                  <a:gd name="T4" fmla="*/ 0 w 885"/>
                  <a:gd name="T5" fmla="*/ 0 h 100"/>
                  <a:gd name="T6" fmla="*/ 0 w 885"/>
                  <a:gd name="T7" fmla="*/ 3 h 100"/>
                  <a:gd name="T8" fmla="*/ 20702684 w 885"/>
                  <a:gd name="T9" fmla="*/ 3 h 100"/>
                  <a:gd name="T10" fmla="*/ 20702684 w 885"/>
                  <a:gd name="T11" fmla="*/ 3 h 100"/>
                  <a:gd name="T12" fmla="*/ 0 60000 65536"/>
                  <a:gd name="T13" fmla="*/ 0 60000 65536"/>
                  <a:gd name="T14" fmla="*/ 0 60000 65536"/>
                  <a:gd name="T15" fmla="*/ 0 60000 65536"/>
                  <a:gd name="T16" fmla="*/ 0 60000 65536"/>
                  <a:gd name="T17" fmla="*/ 0 60000 65536"/>
                  <a:gd name="T18" fmla="*/ 0 w 885"/>
                  <a:gd name="T19" fmla="*/ 0 h 100"/>
                  <a:gd name="T20" fmla="*/ 885 w 885"/>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85" h="100">
                    <a:moveTo>
                      <a:pt x="885" y="98"/>
                    </a:moveTo>
                    <a:lnTo>
                      <a:pt x="885" y="0"/>
                    </a:lnTo>
                    <a:lnTo>
                      <a:pt x="0" y="0"/>
                    </a:lnTo>
                    <a:lnTo>
                      <a:pt x="0" y="100"/>
                    </a:lnTo>
                    <a:lnTo>
                      <a:pt x="885"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3" name="Freeform 69">
                <a:extLst>
                  <a:ext uri="{FF2B5EF4-FFF2-40B4-BE49-F238E27FC236}">
                    <a16:creationId xmlns:a16="http://schemas.microsoft.com/office/drawing/2014/main" id="{15BA7D43-CCB4-CC4D-B1A9-5995B605F22F}"/>
                  </a:ext>
                </a:extLst>
              </p:cNvPr>
              <p:cNvSpPr>
                <a:spLocks/>
              </p:cNvSpPr>
              <p:nvPr/>
            </p:nvSpPr>
            <p:spPr bwMode="auto">
              <a:xfrm>
                <a:off x="3996" y="2792"/>
                <a:ext cx="1252" cy="85"/>
              </a:xfrm>
              <a:custGeom>
                <a:avLst/>
                <a:gdLst>
                  <a:gd name="T0" fmla="*/ 20702684 w 885"/>
                  <a:gd name="T1" fmla="*/ 3 h 98"/>
                  <a:gd name="T2" fmla="*/ 20702684 w 885"/>
                  <a:gd name="T3" fmla="*/ 0 h 98"/>
                  <a:gd name="T4" fmla="*/ 0 w 885"/>
                  <a:gd name="T5" fmla="*/ 0 h 98"/>
                  <a:gd name="T6" fmla="*/ 0 w 885"/>
                  <a:gd name="T7" fmla="*/ 3 h 98"/>
                  <a:gd name="T8" fmla="*/ 20702684 w 885"/>
                  <a:gd name="T9" fmla="*/ 3 h 98"/>
                  <a:gd name="T10" fmla="*/ 20702684 w 885"/>
                  <a:gd name="T11" fmla="*/ 3 h 98"/>
                  <a:gd name="T12" fmla="*/ 0 60000 65536"/>
                  <a:gd name="T13" fmla="*/ 0 60000 65536"/>
                  <a:gd name="T14" fmla="*/ 0 60000 65536"/>
                  <a:gd name="T15" fmla="*/ 0 60000 65536"/>
                  <a:gd name="T16" fmla="*/ 0 60000 65536"/>
                  <a:gd name="T17" fmla="*/ 0 60000 65536"/>
                  <a:gd name="T18" fmla="*/ 0 w 885"/>
                  <a:gd name="T19" fmla="*/ 0 h 98"/>
                  <a:gd name="T20" fmla="*/ 885 w 885"/>
                  <a:gd name="T21" fmla="*/ 98 h 98"/>
                </a:gdLst>
                <a:ahLst/>
                <a:cxnLst>
                  <a:cxn ang="T12">
                    <a:pos x="T0" y="T1"/>
                  </a:cxn>
                  <a:cxn ang="T13">
                    <a:pos x="T2" y="T3"/>
                  </a:cxn>
                  <a:cxn ang="T14">
                    <a:pos x="T4" y="T5"/>
                  </a:cxn>
                  <a:cxn ang="T15">
                    <a:pos x="T6" y="T7"/>
                  </a:cxn>
                  <a:cxn ang="T16">
                    <a:pos x="T8" y="T9"/>
                  </a:cxn>
                  <a:cxn ang="T17">
                    <a:pos x="T10" y="T11"/>
                  </a:cxn>
                </a:cxnLst>
                <a:rect l="T18" t="T19" r="T20" b="T21"/>
                <a:pathLst>
                  <a:path w="885" h="98">
                    <a:moveTo>
                      <a:pt x="885" y="98"/>
                    </a:moveTo>
                    <a:lnTo>
                      <a:pt x="885" y="0"/>
                    </a:lnTo>
                    <a:lnTo>
                      <a:pt x="0" y="0"/>
                    </a:lnTo>
                    <a:lnTo>
                      <a:pt x="0" y="98"/>
                    </a:lnTo>
                    <a:lnTo>
                      <a:pt x="885" y="98"/>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4" name="Freeform 70">
                <a:extLst>
                  <a:ext uri="{FF2B5EF4-FFF2-40B4-BE49-F238E27FC236}">
                    <a16:creationId xmlns:a16="http://schemas.microsoft.com/office/drawing/2014/main" id="{7A803EC0-850C-764B-B977-22F719E8DA3A}"/>
                  </a:ext>
                </a:extLst>
              </p:cNvPr>
              <p:cNvSpPr>
                <a:spLocks/>
              </p:cNvSpPr>
              <p:nvPr/>
            </p:nvSpPr>
            <p:spPr bwMode="auto">
              <a:xfrm>
                <a:off x="3996" y="2877"/>
                <a:ext cx="1252" cy="86"/>
              </a:xfrm>
              <a:custGeom>
                <a:avLst/>
                <a:gdLst>
                  <a:gd name="T0" fmla="*/ 20702684 w 885"/>
                  <a:gd name="T1" fmla="*/ 3 h 100"/>
                  <a:gd name="T2" fmla="*/ 20702684 w 885"/>
                  <a:gd name="T3" fmla="*/ 0 h 100"/>
                  <a:gd name="T4" fmla="*/ 0 w 885"/>
                  <a:gd name="T5" fmla="*/ 0 h 100"/>
                  <a:gd name="T6" fmla="*/ 0 w 885"/>
                  <a:gd name="T7" fmla="*/ 3 h 100"/>
                  <a:gd name="T8" fmla="*/ 20702684 w 885"/>
                  <a:gd name="T9" fmla="*/ 3 h 100"/>
                  <a:gd name="T10" fmla="*/ 20702684 w 885"/>
                  <a:gd name="T11" fmla="*/ 3 h 100"/>
                  <a:gd name="T12" fmla="*/ 0 60000 65536"/>
                  <a:gd name="T13" fmla="*/ 0 60000 65536"/>
                  <a:gd name="T14" fmla="*/ 0 60000 65536"/>
                  <a:gd name="T15" fmla="*/ 0 60000 65536"/>
                  <a:gd name="T16" fmla="*/ 0 60000 65536"/>
                  <a:gd name="T17" fmla="*/ 0 60000 65536"/>
                  <a:gd name="T18" fmla="*/ 0 w 885"/>
                  <a:gd name="T19" fmla="*/ 0 h 100"/>
                  <a:gd name="T20" fmla="*/ 885 w 885"/>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85" h="100">
                    <a:moveTo>
                      <a:pt x="885" y="98"/>
                    </a:moveTo>
                    <a:lnTo>
                      <a:pt x="885" y="0"/>
                    </a:lnTo>
                    <a:lnTo>
                      <a:pt x="0" y="0"/>
                    </a:lnTo>
                    <a:lnTo>
                      <a:pt x="0" y="100"/>
                    </a:lnTo>
                    <a:lnTo>
                      <a:pt x="885"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5" name="Freeform 71">
                <a:extLst>
                  <a:ext uri="{FF2B5EF4-FFF2-40B4-BE49-F238E27FC236}">
                    <a16:creationId xmlns:a16="http://schemas.microsoft.com/office/drawing/2014/main" id="{74BBA7C4-7C01-C844-B502-0741987583EF}"/>
                  </a:ext>
                </a:extLst>
              </p:cNvPr>
              <p:cNvSpPr>
                <a:spLocks/>
              </p:cNvSpPr>
              <p:nvPr/>
            </p:nvSpPr>
            <p:spPr bwMode="auto">
              <a:xfrm>
                <a:off x="3996" y="2963"/>
                <a:ext cx="1252" cy="84"/>
              </a:xfrm>
              <a:custGeom>
                <a:avLst/>
                <a:gdLst>
                  <a:gd name="T0" fmla="*/ 20702684 w 885"/>
                  <a:gd name="T1" fmla="*/ 3 h 98"/>
                  <a:gd name="T2" fmla="*/ 20702684 w 885"/>
                  <a:gd name="T3" fmla="*/ 0 h 98"/>
                  <a:gd name="T4" fmla="*/ 0 w 885"/>
                  <a:gd name="T5" fmla="*/ 0 h 98"/>
                  <a:gd name="T6" fmla="*/ 0 w 885"/>
                  <a:gd name="T7" fmla="*/ 3 h 98"/>
                  <a:gd name="T8" fmla="*/ 20702684 w 885"/>
                  <a:gd name="T9" fmla="*/ 3 h 98"/>
                  <a:gd name="T10" fmla="*/ 20702684 w 885"/>
                  <a:gd name="T11" fmla="*/ 3 h 98"/>
                  <a:gd name="T12" fmla="*/ 0 60000 65536"/>
                  <a:gd name="T13" fmla="*/ 0 60000 65536"/>
                  <a:gd name="T14" fmla="*/ 0 60000 65536"/>
                  <a:gd name="T15" fmla="*/ 0 60000 65536"/>
                  <a:gd name="T16" fmla="*/ 0 60000 65536"/>
                  <a:gd name="T17" fmla="*/ 0 60000 65536"/>
                  <a:gd name="T18" fmla="*/ 0 w 885"/>
                  <a:gd name="T19" fmla="*/ 0 h 98"/>
                  <a:gd name="T20" fmla="*/ 885 w 885"/>
                  <a:gd name="T21" fmla="*/ 98 h 98"/>
                </a:gdLst>
                <a:ahLst/>
                <a:cxnLst>
                  <a:cxn ang="T12">
                    <a:pos x="T0" y="T1"/>
                  </a:cxn>
                  <a:cxn ang="T13">
                    <a:pos x="T2" y="T3"/>
                  </a:cxn>
                  <a:cxn ang="T14">
                    <a:pos x="T4" y="T5"/>
                  </a:cxn>
                  <a:cxn ang="T15">
                    <a:pos x="T6" y="T7"/>
                  </a:cxn>
                  <a:cxn ang="T16">
                    <a:pos x="T8" y="T9"/>
                  </a:cxn>
                  <a:cxn ang="T17">
                    <a:pos x="T10" y="T11"/>
                  </a:cxn>
                </a:cxnLst>
                <a:rect l="T18" t="T19" r="T20" b="T21"/>
                <a:pathLst>
                  <a:path w="885" h="98">
                    <a:moveTo>
                      <a:pt x="885" y="98"/>
                    </a:moveTo>
                    <a:lnTo>
                      <a:pt x="885" y="0"/>
                    </a:lnTo>
                    <a:lnTo>
                      <a:pt x="0" y="0"/>
                    </a:lnTo>
                    <a:lnTo>
                      <a:pt x="0" y="98"/>
                    </a:lnTo>
                    <a:lnTo>
                      <a:pt x="885" y="98"/>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6" name="Freeform 72">
                <a:extLst>
                  <a:ext uri="{FF2B5EF4-FFF2-40B4-BE49-F238E27FC236}">
                    <a16:creationId xmlns:a16="http://schemas.microsoft.com/office/drawing/2014/main" id="{66C465F6-B5E8-D344-8F8D-6C5E291F3211}"/>
                  </a:ext>
                </a:extLst>
              </p:cNvPr>
              <p:cNvSpPr>
                <a:spLocks/>
              </p:cNvSpPr>
              <p:nvPr/>
            </p:nvSpPr>
            <p:spPr bwMode="auto">
              <a:xfrm>
                <a:off x="3996" y="3047"/>
                <a:ext cx="1252" cy="86"/>
              </a:xfrm>
              <a:custGeom>
                <a:avLst/>
                <a:gdLst>
                  <a:gd name="T0" fmla="*/ 20702684 w 885"/>
                  <a:gd name="T1" fmla="*/ 3 h 100"/>
                  <a:gd name="T2" fmla="*/ 20702684 w 885"/>
                  <a:gd name="T3" fmla="*/ 0 h 100"/>
                  <a:gd name="T4" fmla="*/ 0 w 885"/>
                  <a:gd name="T5" fmla="*/ 0 h 100"/>
                  <a:gd name="T6" fmla="*/ 0 w 885"/>
                  <a:gd name="T7" fmla="*/ 3 h 100"/>
                  <a:gd name="T8" fmla="*/ 20702684 w 885"/>
                  <a:gd name="T9" fmla="*/ 3 h 100"/>
                  <a:gd name="T10" fmla="*/ 20702684 w 885"/>
                  <a:gd name="T11" fmla="*/ 3 h 100"/>
                  <a:gd name="T12" fmla="*/ 0 60000 65536"/>
                  <a:gd name="T13" fmla="*/ 0 60000 65536"/>
                  <a:gd name="T14" fmla="*/ 0 60000 65536"/>
                  <a:gd name="T15" fmla="*/ 0 60000 65536"/>
                  <a:gd name="T16" fmla="*/ 0 60000 65536"/>
                  <a:gd name="T17" fmla="*/ 0 60000 65536"/>
                  <a:gd name="T18" fmla="*/ 0 w 885"/>
                  <a:gd name="T19" fmla="*/ 0 h 100"/>
                  <a:gd name="T20" fmla="*/ 885 w 885"/>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85" h="100">
                    <a:moveTo>
                      <a:pt x="885" y="100"/>
                    </a:moveTo>
                    <a:lnTo>
                      <a:pt x="885" y="0"/>
                    </a:lnTo>
                    <a:lnTo>
                      <a:pt x="0" y="0"/>
                    </a:lnTo>
                    <a:lnTo>
                      <a:pt x="0" y="100"/>
                    </a:lnTo>
                    <a:lnTo>
                      <a:pt x="885"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7" name="Freeform 73">
                <a:extLst>
                  <a:ext uri="{FF2B5EF4-FFF2-40B4-BE49-F238E27FC236}">
                    <a16:creationId xmlns:a16="http://schemas.microsoft.com/office/drawing/2014/main" id="{6874A43F-22C2-374D-BDD5-04BCF7488756}"/>
                  </a:ext>
                </a:extLst>
              </p:cNvPr>
              <p:cNvSpPr>
                <a:spLocks/>
              </p:cNvSpPr>
              <p:nvPr/>
            </p:nvSpPr>
            <p:spPr bwMode="auto">
              <a:xfrm>
                <a:off x="3996" y="3133"/>
                <a:ext cx="1252" cy="87"/>
              </a:xfrm>
              <a:custGeom>
                <a:avLst/>
                <a:gdLst>
                  <a:gd name="T0" fmla="*/ 20702684 w 885"/>
                  <a:gd name="T1" fmla="*/ 3 h 100"/>
                  <a:gd name="T2" fmla="*/ 20702684 w 885"/>
                  <a:gd name="T3" fmla="*/ 0 h 100"/>
                  <a:gd name="T4" fmla="*/ 0 w 885"/>
                  <a:gd name="T5" fmla="*/ 0 h 100"/>
                  <a:gd name="T6" fmla="*/ 0 w 885"/>
                  <a:gd name="T7" fmla="*/ 3 h 100"/>
                  <a:gd name="T8" fmla="*/ 20702684 w 885"/>
                  <a:gd name="T9" fmla="*/ 3 h 100"/>
                  <a:gd name="T10" fmla="*/ 20702684 w 885"/>
                  <a:gd name="T11" fmla="*/ 3 h 100"/>
                  <a:gd name="T12" fmla="*/ 0 60000 65536"/>
                  <a:gd name="T13" fmla="*/ 0 60000 65536"/>
                  <a:gd name="T14" fmla="*/ 0 60000 65536"/>
                  <a:gd name="T15" fmla="*/ 0 60000 65536"/>
                  <a:gd name="T16" fmla="*/ 0 60000 65536"/>
                  <a:gd name="T17" fmla="*/ 0 60000 65536"/>
                  <a:gd name="T18" fmla="*/ 0 w 885"/>
                  <a:gd name="T19" fmla="*/ 0 h 100"/>
                  <a:gd name="T20" fmla="*/ 885 w 885"/>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885" h="100">
                    <a:moveTo>
                      <a:pt x="885" y="98"/>
                    </a:moveTo>
                    <a:lnTo>
                      <a:pt x="885" y="0"/>
                    </a:lnTo>
                    <a:lnTo>
                      <a:pt x="0" y="0"/>
                    </a:lnTo>
                    <a:lnTo>
                      <a:pt x="0" y="100"/>
                    </a:lnTo>
                    <a:lnTo>
                      <a:pt x="885"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58" name="Text Box 74">
                <a:extLst>
                  <a:ext uri="{FF2B5EF4-FFF2-40B4-BE49-F238E27FC236}">
                    <a16:creationId xmlns:a16="http://schemas.microsoft.com/office/drawing/2014/main" id="{5AB13E05-D4E0-6A47-9FF4-D007221438CE}"/>
                  </a:ext>
                </a:extLst>
              </p:cNvPr>
              <p:cNvSpPr txBox="1">
                <a:spLocks noChangeArrowheads="1"/>
              </p:cNvSpPr>
              <p:nvPr/>
            </p:nvSpPr>
            <p:spPr bwMode="auto">
              <a:xfrm>
                <a:off x="4068" y="2237"/>
                <a:ext cx="120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latin typeface="Times New Roman" panose="02020603050405020304" pitchFamily="18" charset="0"/>
                    <a:ea typeface="宋体" panose="02010600030101010101" pitchFamily="2" charset="-122"/>
                  </a:rPr>
                  <a:t>Physical memory</a:t>
                </a:r>
              </a:p>
            </p:txBody>
          </p:sp>
        </p:grpSp>
        <p:grpSp>
          <p:nvGrpSpPr>
            <p:cNvPr id="234512" name="Group 75">
              <a:extLst>
                <a:ext uri="{FF2B5EF4-FFF2-40B4-BE49-F238E27FC236}">
                  <a16:creationId xmlns:a16="http://schemas.microsoft.com/office/drawing/2014/main" id="{721DBD3E-6E8F-9047-B5AE-2FA3C85A836E}"/>
                </a:ext>
              </a:extLst>
            </p:cNvPr>
            <p:cNvGrpSpPr>
              <a:grpSpLocks/>
            </p:cNvGrpSpPr>
            <p:nvPr/>
          </p:nvGrpSpPr>
          <p:grpSpPr bwMode="auto">
            <a:xfrm>
              <a:off x="237" y="1953"/>
              <a:ext cx="1208" cy="280"/>
              <a:chOff x="237" y="1953"/>
              <a:chExt cx="1208" cy="280"/>
            </a:xfrm>
          </p:grpSpPr>
          <p:sp>
            <p:nvSpPr>
              <p:cNvPr id="234647" name="Freeform 76">
                <a:extLst>
                  <a:ext uri="{FF2B5EF4-FFF2-40B4-BE49-F238E27FC236}">
                    <a16:creationId xmlns:a16="http://schemas.microsoft.com/office/drawing/2014/main" id="{05019352-76EB-864B-A9E1-0595EB725272}"/>
                  </a:ext>
                </a:extLst>
              </p:cNvPr>
              <p:cNvSpPr>
                <a:spLocks/>
              </p:cNvSpPr>
              <p:nvPr/>
            </p:nvSpPr>
            <p:spPr bwMode="auto">
              <a:xfrm>
                <a:off x="377" y="2147"/>
                <a:ext cx="879" cy="86"/>
              </a:xfrm>
              <a:custGeom>
                <a:avLst/>
                <a:gdLst>
                  <a:gd name="T0" fmla="*/ 14710229 w 621"/>
                  <a:gd name="T1" fmla="*/ 3 h 100"/>
                  <a:gd name="T2" fmla="*/ 14762025 w 621"/>
                  <a:gd name="T3" fmla="*/ 0 h 100"/>
                  <a:gd name="T4" fmla="*/ 0 w 621"/>
                  <a:gd name="T5" fmla="*/ 0 h 100"/>
                  <a:gd name="T6" fmla="*/ 0 w 621"/>
                  <a:gd name="T7" fmla="*/ 3 h 100"/>
                  <a:gd name="T8" fmla="*/ 14762025 w 621"/>
                  <a:gd name="T9" fmla="*/ 3 h 100"/>
                  <a:gd name="T10" fmla="*/ 14762025 w 621"/>
                  <a:gd name="T11" fmla="*/ 3 h 100"/>
                  <a:gd name="T12" fmla="*/ 0 60000 65536"/>
                  <a:gd name="T13" fmla="*/ 0 60000 65536"/>
                  <a:gd name="T14" fmla="*/ 0 60000 65536"/>
                  <a:gd name="T15" fmla="*/ 0 60000 65536"/>
                  <a:gd name="T16" fmla="*/ 0 60000 65536"/>
                  <a:gd name="T17" fmla="*/ 0 60000 65536"/>
                  <a:gd name="T18" fmla="*/ 0 w 621"/>
                  <a:gd name="T19" fmla="*/ 0 h 100"/>
                  <a:gd name="T20" fmla="*/ 621 w 62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21" h="100">
                    <a:moveTo>
                      <a:pt x="619" y="100"/>
                    </a:moveTo>
                    <a:lnTo>
                      <a:pt x="621" y="0"/>
                    </a:lnTo>
                    <a:lnTo>
                      <a:pt x="0" y="0"/>
                    </a:lnTo>
                    <a:lnTo>
                      <a:pt x="0" y="100"/>
                    </a:lnTo>
                    <a:lnTo>
                      <a:pt x="62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48" name="Text Box 77">
                <a:extLst>
                  <a:ext uri="{FF2B5EF4-FFF2-40B4-BE49-F238E27FC236}">
                    <a16:creationId xmlns:a16="http://schemas.microsoft.com/office/drawing/2014/main" id="{5303D53A-AF06-4D4F-A505-B44A43AFF2F0}"/>
                  </a:ext>
                </a:extLst>
              </p:cNvPr>
              <p:cNvSpPr txBox="1">
                <a:spLocks noChangeArrowheads="1"/>
              </p:cNvSpPr>
              <p:nvPr/>
            </p:nvSpPr>
            <p:spPr bwMode="auto">
              <a:xfrm>
                <a:off x="237" y="1953"/>
                <a:ext cx="120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latin typeface="Times New Roman" panose="02020603050405020304" pitchFamily="18" charset="0"/>
                    <a:ea typeface="宋体" panose="02010600030101010101" pitchFamily="2" charset="-122"/>
                  </a:rPr>
                  <a:t>virtual page #</a:t>
                </a:r>
              </a:p>
            </p:txBody>
          </p:sp>
        </p:grpSp>
        <p:grpSp>
          <p:nvGrpSpPr>
            <p:cNvPr id="234513" name="Group 78">
              <a:extLst>
                <a:ext uri="{FF2B5EF4-FFF2-40B4-BE49-F238E27FC236}">
                  <a16:creationId xmlns:a16="http://schemas.microsoft.com/office/drawing/2014/main" id="{5DD1A361-FE35-5E48-8042-028819746418}"/>
                </a:ext>
              </a:extLst>
            </p:cNvPr>
            <p:cNvGrpSpPr>
              <a:grpSpLocks/>
            </p:cNvGrpSpPr>
            <p:nvPr/>
          </p:nvGrpSpPr>
          <p:grpSpPr bwMode="auto">
            <a:xfrm>
              <a:off x="3734" y="3208"/>
              <a:ext cx="1511" cy="983"/>
              <a:chOff x="3734" y="3208"/>
              <a:chExt cx="1511" cy="983"/>
            </a:xfrm>
          </p:grpSpPr>
          <p:sp>
            <p:nvSpPr>
              <p:cNvPr id="234637" name="Freeform 79">
                <a:extLst>
                  <a:ext uri="{FF2B5EF4-FFF2-40B4-BE49-F238E27FC236}">
                    <a16:creationId xmlns:a16="http://schemas.microsoft.com/office/drawing/2014/main" id="{CFFA4C39-C78A-E843-8EBB-0D16091A8792}"/>
                  </a:ext>
                </a:extLst>
              </p:cNvPr>
              <p:cNvSpPr>
                <a:spLocks/>
              </p:cNvSpPr>
              <p:nvPr/>
            </p:nvSpPr>
            <p:spPr bwMode="auto">
              <a:xfrm>
                <a:off x="3734" y="3416"/>
                <a:ext cx="1511" cy="775"/>
              </a:xfrm>
              <a:custGeom>
                <a:avLst/>
                <a:gdLst>
                  <a:gd name="T0" fmla="*/ 25049136 w 1068"/>
                  <a:gd name="T1" fmla="*/ 5485 h 671"/>
                  <a:gd name="T2" fmla="*/ 24904591 w 1068"/>
                  <a:gd name="T3" fmla="*/ 4645 h 671"/>
                  <a:gd name="T4" fmla="*/ 24424557 w 1068"/>
                  <a:gd name="T5" fmla="*/ 3754 h 671"/>
                  <a:gd name="T6" fmla="*/ 23691171 w 1068"/>
                  <a:gd name="T7" fmla="*/ 3015 h 671"/>
                  <a:gd name="T8" fmla="*/ 22670274 w 1068"/>
                  <a:gd name="T9" fmla="*/ 2178 h 671"/>
                  <a:gd name="T10" fmla="*/ 21414059 w 1068"/>
                  <a:gd name="T11" fmla="*/ 1581 h 671"/>
                  <a:gd name="T12" fmla="*/ 19937491 w 1068"/>
                  <a:gd name="T13" fmla="*/ 1026 h 671"/>
                  <a:gd name="T14" fmla="*/ 18304296 w 1068"/>
                  <a:gd name="T15" fmla="*/ 500 h 671"/>
                  <a:gd name="T16" fmla="*/ 16492136 w 1068"/>
                  <a:gd name="T17" fmla="*/ 281 h 671"/>
                  <a:gd name="T18" fmla="*/ 14571643 w 1068"/>
                  <a:gd name="T19" fmla="*/ 0 h 671"/>
                  <a:gd name="T20" fmla="*/ 12541587 w 1068"/>
                  <a:gd name="T21" fmla="*/ 0 h 671"/>
                  <a:gd name="T22" fmla="*/ 10513848 w 1068"/>
                  <a:gd name="T23" fmla="*/ 0 h 671"/>
                  <a:gd name="T24" fmla="*/ 8594915 w 1068"/>
                  <a:gd name="T25" fmla="*/ 281 h 671"/>
                  <a:gd name="T26" fmla="*/ 6782061 w 1068"/>
                  <a:gd name="T27" fmla="*/ 500 h 671"/>
                  <a:gd name="T28" fmla="*/ 5152963 w 1068"/>
                  <a:gd name="T29" fmla="*/ 1026 h 671"/>
                  <a:gd name="T30" fmla="*/ 3672111 w 1068"/>
                  <a:gd name="T31" fmla="*/ 1581 h 671"/>
                  <a:gd name="T32" fmla="*/ 2426031 w 1068"/>
                  <a:gd name="T33" fmla="*/ 2178 h 671"/>
                  <a:gd name="T34" fmla="*/ 1409046 w 1068"/>
                  <a:gd name="T35" fmla="*/ 3015 h 671"/>
                  <a:gd name="T36" fmla="*/ 676635 w 1068"/>
                  <a:gd name="T37" fmla="*/ 3754 h 671"/>
                  <a:gd name="T38" fmla="*/ 193657 w 1068"/>
                  <a:gd name="T39" fmla="*/ 4645 h 671"/>
                  <a:gd name="T40" fmla="*/ 0 w 1068"/>
                  <a:gd name="T41" fmla="*/ 5485 h 671"/>
                  <a:gd name="T42" fmla="*/ 0 w 1068"/>
                  <a:gd name="T43" fmla="*/ 38259 h 671"/>
                  <a:gd name="T44" fmla="*/ 193657 w 1068"/>
                  <a:gd name="T45" fmla="*/ 39091 h 671"/>
                  <a:gd name="T46" fmla="*/ 676635 w 1068"/>
                  <a:gd name="T47" fmla="*/ 40051 h 671"/>
                  <a:gd name="T48" fmla="*/ 1409046 w 1068"/>
                  <a:gd name="T49" fmla="*/ 40800 h 671"/>
                  <a:gd name="T50" fmla="*/ 2426031 w 1068"/>
                  <a:gd name="T51" fmla="*/ 41613 h 671"/>
                  <a:gd name="T52" fmla="*/ 3672111 w 1068"/>
                  <a:gd name="T53" fmla="*/ 42279 h 671"/>
                  <a:gd name="T54" fmla="*/ 5152963 w 1068"/>
                  <a:gd name="T55" fmla="*/ 42745 h 671"/>
                  <a:gd name="T56" fmla="*/ 6782061 w 1068"/>
                  <a:gd name="T57" fmla="*/ 43097 h 671"/>
                  <a:gd name="T58" fmla="*/ 8594915 w 1068"/>
                  <a:gd name="T59" fmla="*/ 43498 h 671"/>
                  <a:gd name="T60" fmla="*/ 10513848 w 1068"/>
                  <a:gd name="T61" fmla="*/ 43664 h 671"/>
                  <a:gd name="T62" fmla="*/ 12541587 w 1068"/>
                  <a:gd name="T63" fmla="*/ 43793 h 671"/>
                  <a:gd name="T64" fmla="*/ 14571643 w 1068"/>
                  <a:gd name="T65" fmla="*/ 43664 h 671"/>
                  <a:gd name="T66" fmla="*/ 16492136 w 1068"/>
                  <a:gd name="T67" fmla="*/ 43498 h 671"/>
                  <a:gd name="T68" fmla="*/ 18304296 w 1068"/>
                  <a:gd name="T69" fmla="*/ 43097 h 671"/>
                  <a:gd name="T70" fmla="*/ 19937491 w 1068"/>
                  <a:gd name="T71" fmla="*/ 42745 h 671"/>
                  <a:gd name="T72" fmla="*/ 21414059 w 1068"/>
                  <a:gd name="T73" fmla="*/ 42279 h 671"/>
                  <a:gd name="T74" fmla="*/ 22670274 w 1068"/>
                  <a:gd name="T75" fmla="*/ 41613 h 671"/>
                  <a:gd name="T76" fmla="*/ 23691171 w 1068"/>
                  <a:gd name="T77" fmla="*/ 40800 h 671"/>
                  <a:gd name="T78" fmla="*/ 24424557 w 1068"/>
                  <a:gd name="T79" fmla="*/ 40051 h 671"/>
                  <a:gd name="T80" fmla="*/ 24904591 w 1068"/>
                  <a:gd name="T81" fmla="*/ 39091 h 671"/>
                  <a:gd name="T82" fmla="*/ 25049136 w 1068"/>
                  <a:gd name="T83" fmla="*/ 38259 h 671"/>
                  <a:gd name="T84" fmla="*/ 25049136 w 1068"/>
                  <a:gd name="T85" fmla="*/ 5485 h 671"/>
                  <a:gd name="T86" fmla="*/ 25049136 w 1068"/>
                  <a:gd name="T87" fmla="*/ 5485 h 67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068"/>
                  <a:gd name="T133" fmla="*/ 0 h 671"/>
                  <a:gd name="T134" fmla="*/ 1068 w 1068"/>
                  <a:gd name="T135" fmla="*/ 671 h 67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068" h="671">
                    <a:moveTo>
                      <a:pt x="1068" y="84"/>
                    </a:moveTo>
                    <a:lnTo>
                      <a:pt x="1062" y="70"/>
                    </a:lnTo>
                    <a:lnTo>
                      <a:pt x="1042" y="58"/>
                    </a:lnTo>
                    <a:lnTo>
                      <a:pt x="1010" y="46"/>
                    </a:lnTo>
                    <a:lnTo>
                      <a:pt x="967" y="34"/>
                    </a:lnTo>
                    <a:lnTo>
                      <a:pt x="913" y="24"/>
                    </a:lnTo>
                    <a:lnTo>
                      <a:pt x="850" y="16"/>
                    </a:lnTo>
                    <a:lnTo>
                      <a:pt x="781" y="8"/>
                    </a:lnTo>
                    <a:lnTo>
                      <a:pt x="703" y="4"/>
                    </a:lnTo>
                    <a:lnTo>
                      <a:pt x="621" y="0"/>
                    </a:lnTo>
                    <a:lnTo>
                      <a:pt x="535" y="0"/>
                    </a:lnTo>
                    <a:lnTo>
                      <a:pt x="449" y="0"/>
                    </a:lnTo>
                    <a:lnTo>
                      <a:pt x="367" y="4"/>
                    </a:lnTo>
                    <a:lnTo>
                      <a:pt x="289" y="8"/>
                    </a:lnTo>
                    <a:lnTo>
                      <a:pt x="220" y="16"/>
                    </a:lnTo>
                    <a:lnTo>
                      <a:pt x="157" y="24"/>
                    </a:lnTo>
                    <a:lnTo>
                      <a:pt x="103" y="34"/>
                    </a:lnTo>
                    <a:lnTo>
                      <a:pt x="60" y="46"/>
                    </a:lnTo>
                    <a:lnTo>
                      <a:pt x="28" y="58"/>
                    </a:lnTo>
                    <a:lnTo>
                      <a:pt x="8" y="70"/>
                    </a:lnTo>
                    <a:lnTo>
                      <a:pt x="0" y="84"/>
                    </a:lnTo>
                    <a:lnTo>
                      <a:pt x="0" y="585"/>
                    </a:lnTo>
                    <a:lnTo>
                      <a:pt x="8" y="599"/>
                    </a:lnTo>
                    <a:lnTo>
                      <a:pt x="28" y="613"/>
                    </a:lnTo>
                    <a:lnTo>
                      <a:pt x="60" y="625"/>
                    </a:lnTo>
                    <a:lnTo>
                      <a:pt x="103" y="637"/>
                    </a:lnTo>
                    <a:lnTo>
                      <a:pt x="157" y="647"/>
                    </a:lnTo>
                    <a:lnTo>
                      <a:pt x="220" y="655"/>
                    </a:lnTo>
                    <a:lnTo>
                      <a:pt x="289" y="661"/>
                    </a:lnTo>
                    <a:lnTo>
                      <a:pt x="367" y="667"/>
                    </a:lnTo>
                    <a:lnTo>
                      <a:pt x="449" y="669"/>
                    </a:lnTo>
                    <a:lnTo>
                      <a:pt x="535" y="671"/>
                    </a:lnTo>
                    <a:lnTo>
                      <a:pt x="621" y="669"/>
                    </a:lnTo>
                    <a:lnTo>
                      <a:pt x="703" y="667"/>
                    </a:lnTo>
                    <a:lnTo>
                      <a:pt x="781" y="661"/>
                    </a:lnTo>
                    <a:lnTo>
                      <a:pt x="850" y="655"/>
                    </a:lnTo>
                    <a:lnTo>
                      <a:pt x="913" y="647"/>
                    </a:lnTo>
                    <a:lnTo>
                      <a:pt x="967" y="637"/>
                    </a:lnTo>
                    <a:lnTo>
                      <a:pt x="1010" y="625"/>
                    </a:lnTo>
                    <a:lnTo>
                      <a:pt x="1042" y="613"/>
                    </a:lnTo>
                    <a:lnTo>
                      <a:pt x="1062" y="599"/>
                    </a:lnTo>
                    <a:lnTo>
                      <a:pt x="1068" y="585"/>
                    </a:lnTo>
                    <a:lnTo>
                      <a:pt x="1068" y="84"/>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38" name="Freeform 80">
                <a:extLst>
                  <a:ext uri="{FF2B5EF4-FFF2-40B4-BE49-F238E27FC236}">
                    <a16:creationId xmlns:a16="http://schemas.microsoft.com/office/drawing/2014/main" id="{AE540104-8075-0045-AF95-54987C87ACAF}"/>
                  </a:ext>
                </a:extLst>
              </p:cNvPr>
              <p:cNvSpPr>
                <a:spLocks/>
              </p:cNvSpPr>
              <p:nvPr/>
            </p:nvSpPr>
            <p:spPr bwMode="auto">
              <a:xfrm>
                <a:off x="3837" y="3616"/>
                <a:ext cx="1353" cy="87"/>
              </a:xfrm>
              <a:custGeom>
                <a:avLst/>
                <a:gdLst>
                  <a:gd name="T0" fmla="*/ 22594330 w 956"/>
                  <a:gd name="T1" fmla="*/ 3 h 101"/>
                  <a:gd name="T2" fmla="*/ 22635881 w 956"/>
                  <a:gd name="T3" fmla="*/ 0 h 101"/>
                  <a:gd name="T4" fmla="*/ 0 w 956"/>
                  <a:gd name="T5" fmla="*/ 0 h 101"/>
                  <a:gd name="T6" fmla="*/ 0 w 956"/>
                  <a:gd name="T7" fmla="*/ 3 h 101"/>
                  <a:gd name="T8" fmla="*/ 22635881 w 956"/>
                  <a:gd name="T9" fmla="*/ 3 h 101"/>
                  <a:gd name="T10" fmla="*/ 22635881 w 956"/>
                  <a:gd name="T11" fmla="*/ 3 h 101"/>
                  <a:gd name="T12" fmla="*/ 22594330 w 956"/>
                  <a:gd name="T13" fmla="*/ 3 h 101"/>
                  <a:gd name="T14" fmla="*/ 0 60000 65536"/>
                  <a:gd name="T15" fmla="*/ 0 60000 65536"/>
                  <a:gd name="T16" fmla="*/ 0 60000 65536"/>
                  <a:gd name="T17" fmla="*/ 0 60000 65536"/>
                  <a:gd name="T18" fmla="*/ 0 60000 65536"/>
                  <a:gd name="T19" fmla="*/ 0 60000 65536"/>
                  <a:gd name="T20" fmla="*/ 0 60000 65536"/>
                  <a:gd name="T21" fmla="*/ 0 w 956"/>
                  <a:gd name="T22" fmla="*/ 0 h 101"/>
                  <a:gd name="T23" fmla="*/ 956 w 956"/>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6" h="101">
                    <a:moveTo>
                      <a:pt x="954" y="101"/>
                    </a:moveTo>
                    <a:lnTo>
                      <a:pt x="956" y="0"/>
                    </a:lnTo>
                    <a:lnTo>
                      <a:pt x="0" y="0"/>
                    </a:lnTo>
                    <a:lnTo>
                      <a:pt x="0" y="101"/>
                    </a:lnTo>
                    <a:lnTo>
                      <a:pt x="956" y="101"/>
                    </a:lnTo>
                    <a:lnTo>
                      <a:pt x="954" y="101"/>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39" name="Freeform 81">
                <a:extLst>
                  <a:ext uri="{FF2B5EF4-FFF2-40B4-BE49-F238E27FC236}">
                    <a16:creationId xmlns:a16="http://schemas.microsoft.com/office/drawing/2014/main" id="{4DCA8092-D3C3-5C44-AD11-E3410039DB87}"/>
                  </a:ext>
                </a:extLst>
              </p:cNvPr>
              <p:cNvSpPr>
                <a:spLocks/>
              </p:cNvSpPr>
              <p:nvPr/>
            </p:nvSpPr>
            <p:spPr bwMode="auto">
              <a:xfrm>
                <a:off x="3837" y="3616"/>
                <a:ext cx="1353" cy="87"/>
              </a:xfrm>
              <a:custGeom>
                <a:avLst/>
                <a:gdLst>
                  <a:gd name="T0" fmla="*/ 22594330 w 956"/>
                  <a:gd name="T1" fmla="*/ 3 h 101"/>
                  <a:gd name="T2" fmla="*/ 22635881 w 956"/>
                  <a:gd name="T3" fmla="*/ 0 h 101"/>
                  <a:gd name="T4" fmla="*/ 0 w 956"/>
                  <a:gd name="T5" fmla="*/ 0 h 101"/>
                  <a:gd name="T6" fmla="*/ 0 w 956"/>
                  <a:gd name="T7" fmla="*/ 3 h 101"/>
                  <a:gd name="T8" fmla="*/ 22635881 w 956"/>
                  <a:gd name="T9" fmla="*/ 3 h 101"/>
                  <a:gd name="T10" fmla="*/ 22635881 w 956"/>
                  <a:gd name="T11" fmla="*/ 3 h 101"/>
                  <a:gd name="T12" fmla="*/ 0 60000 65536"/>
                  <a:gd name="T13" fmla="*/ 0 60000 65536"/>
                  <a:gd name="T14" fmla="*/ 0 60000 65536"/>
                  <a:gd name="T15" fmla="*/ 0 60000 65536"/>
                  <a:gd name="T16" fmla="*/ 0 60000 65536"/>
                  <a:gd name="T17" fmla="*/ 0 60000 65536"/>
                  <a:gd name="T18" fmla="*/ 0 w 956"/>
                  <a:gd name="T19" fmla="*/ 0 h 101"/>
                  <a:gd name="T20" fmla="*/ 956 w 956"/>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956" h="101">
                    <a:moveTo>
                      <a:pt x="954" y="101"/>
                    </a:moveTo>
                    <a:lnTo>
                      <a:pt x="956" y="0"/>
                    </a:lnTo>
                    <a:lnTo>
                      <a:pt x="0" y="0"/>
                    </a:lnTo>
                    <a:lnTo>
                      <a:pt x="0" y="101"/>
                    </a:lnTo>
                    <a:lnTo>
                      <a:pt x="956" y="10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40" name="Freeform 82">
                <a:extLst>
                  <a:ext uri="{FF2B5EF4-FFF2-40B4-BE49-F238E27FC236}">
                    <a16:creationId xmlns:a16="http://schemas.microsoft.com/office/drawing/2014/main" id="{3DFED3F4-3CC3-0C4A-A631-A4FB96814A30}"/>
                  </a:ext>
                </a:extLst>
              </p:cNvPr>
              <p:cNvSpPr>
                <a:spLocks/>
              </p:cNvSpPr>
              <p:nvPr/>
            </p:nvSpPr>
            <p:spPr bwMode="auto">
              <a:xfrm>
                <a:off x="3837" y="3732"/>
                <a:ext cx="1353" cy="87"/>
              </a:xfrm>
              <a:custGeom>
                <a:avLst/>
                <a:gdLst>
                  <a:gd name="T0" fmla="*/ 22594330 w 956"/>
                  <a:gd name="T1" fmla="*/ 3 h 100"/>
                  <a:gd name="T2" fmla="*/ 22635881 w 956"/>
                  <a:gd name="T3" fmla="*/ 0 h 100"/>
                  <a:gd name="T4" fmla="*/ 0 w 956"/>
                  <a:gd name="T5" fmla="*/ 0 h 100"/>
                  <a:gd name="T6" fmla="*/ 0 w 956"/>
                  <a:gd name="T7" fmla="*/ 3 h 100"/>
                  <a:gd name="T8" fmla="*/ 22635881 w 956"/>
                  <a:gd name="T9" fmla="*/ 3 h 100"/>
                  <a:gd name="T10" fmla="*/ 22635881 w 956"/>
                  <a:gd name="T11" fmla="*/ 3 h 100"/>
                  <a:gd name="T12" fmla="*/ 22594330 w 956"/>
                  <a:gd name="T13" fmla="*/ 3 h 100"/>
                  <a:gd name="T14" fmla="*/ 0 60000 65536"/>
                  <a:gd name="T15" fmla="*/ 0 60000 65536"/>
                  <a:gd name="T16" fmla="*/ 0 60000 65536"/>
                  <a:gd name="T17" fmla="*/ 0 60000 65536"/>
                  <a:gd name="T18" fmla="*/ 0 60000 65536"/>
                  <a:gd name="T19" fmla="*/ 0 60000 65536"/>
                  <a:gd name="T20" fmla="*/ 0 60000 65536"/>
                  <a:gd name="T21" fmla="*/ 0 w 956"/>
                  <a:gd name="T22" fmla="*/ 0 h 100"/>
                  <a:gd name="T23" fmla="*/ 956 w 956"/>
                  <a:gd name="T24" fmla="*/ 100 h 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6" h="100">
                    <a:moveTo>
                      <a:pt x="954" y="98"/>
                    </a:moveTo>
                    <a:lnTo>
                      <a:pt x="956" y="0"/>
                    </a:lnTo>
                    <a:lnTo>
                      <a:pt x="0" y="0"/>
                    </a:lnTo>
                    <a:lnTo>
                      <a:pt x="0" y="100"/>
                    </a:lnTo>
                    <a:lnTo>
                      <a:pt x="956" y="100"/>
                    </a:lnTo>
                    <a:lnTo>
                      <a:pt x="954" y="98"/>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41" name="Freeform 83">
                <a:extLst>
                  <a:ext uri="{FF2B5EF4-FFF2-40B4-BE49-F238E27FC236}">
                    <a16:creationId xmlns:a16="http://schemas.microsoft.com/office/drawing/2014/main" id="{3D2B9128-7976-C749-A77B-0C6622F8617B}"/>
                  </a:ext>
                </a:extLst>
              </p:cNvPr>
              <p:cNvSpPr>
                <a:spLocks/>
              </p:cNvSpPr>
              <p:nvPr/>
            </p:nvSpPr>
            <p:spPr bwMode="auto">
              <a:xfrm>
                <a:off x="3837" y="3732"/>
                <a:ext cx="1353" cy="87"/>
              </a:xfrm>
              <a:custGeom>
                <a:avLst/>
                <a:gdLst>
                  <a:gd name="T0" fmla="*/ 22594330 w 956"/>
                  <a:gd name="T1" fmla="*/ 3 h 100"/>
                  <a:gd name="T2" fmla="*/ 22635881 w 956"/>
                  <a:gd name="T3" fmla="*/ 0 h 100"/>
                  <a:gd name="T4" fmla="*/ 0 w 956"/>
                  <a:gd name="T5" fmla="*/ 0 h 100"/>
                  <a:gd name="T6" fmla="*/ 0 w 956"/>
                  <a:gd name="T7" fmla="*/ 3 h 100"/>
                  <a:gd name="T8" fmla="*/ 22635881 w 956"/>
                  <a:gd name="T9" fmla="*/ 3 h 100"/>
                  <a:gd name="T10" fmla="*/ 22635881 w 956"/>
                  <a:gd name="T11" fmla="*/ 3 h 100"/>
                  <a:gd name="T12" fmla="*/ 0 60000 65536"/>
                  <a:gd name="T13" fmla="*/ 0 60000 65536"/>
                  <a:gd name="T14" fmla="*/ 0 60000 65536"/>
                  <a:gd name="T15" fmla="*/ 0 60000 65536"/>
                  <a:gd name="T16" fmla="*/ 0 60000 65536"/>
                  <a:gd name="T17" fmla="*/ 0 60000 65536"/>
                  <a:gd name="T18" fmla="*/ 0 w 956"/>
                  <a:gd name="T19" fmla="*/ 0 h 100"/>
                  <a:gd name="T20" fmla="*/ 956 w 956"/>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56" h="100">
                    <a:moveTo>
                      <a:pt x="954" y="98"/>
                    </a:moveTo>
                    <a:lnTo>
                      <a:pt x="956" y="0"/>
                    </a:lnTo>
                    <a:lnTo>
                      <a:pt x="0" y="0"/>
                    </a:lnTo>
                    <a:lnTo>
                      <a:pt x="0" y="100"/>
                    </a:lnTo>
                    <a:lnTo>
                      <a:pt x="956"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42" name="Freeform 84">
                <a:extLst>
                  <a:ext uri="{FF2B5EF4-FFF2-40B4-BE49-F238E27FC236}">
                    <a16:creationId xmlns:a16="http://schemas.microsoft.com/office/drawing/2014/main" id="{5F95828C-C784-3F4E-9916-2140148DDE6C}"/>
                  </a:ext>
                </a:extLst>
              </p:cNvPr>
              <p:cNvSpPr>
                <a:spLocks/>
              </p:cNvSpPr>
              <p:nvPr/>
            </p:nvSpPr>
            <p:spPr bwMode="auto">
              <a:xfrm>
                <a:off x="3837" y="3846"/>
                <a:ext cx="1353" cy="86"/>
              </a:xfrm>
              <a:custGeom>
                <a:avLst/>
                <a:gdLst>
                  <a:gd name="T0" fmla="*/ 22594330 w 956"/>
                  <a:gd name="T1" fmla="*/ 3 h 100"/>
                  <a:gd name="T2" fmla="*/ 22635881 w 956"/>
                  <a:gd name="T3" fmla="*/ 0 h 100"/>
                  <a:gd name="T4" fmla="*/ 0 w 956"/>
                  <a:gd name="T5" fmla="*/ 0 h 100"/>
                  <a:gd name="T6" fmla="*/ 0 w 956"/>
                  <a:gd name="T7" fmla="*/ 3 h 100"/>
                  <a:gd name="T8" fmla="*/ 22635881 w 956"/>
                  <a:gd name="T9" fmla="*/ 3 h 100"/>
                  <a:gd name="T10" fmla="*/ 22635881 w 956"/>
                  <a:gd name="T11" fmla="*/ 3 h 100"/>
                  <a:gd name="T12" fmla="*/ 22594330 w 956"/>
                  <a:gd name="T13" fmla="*/ 3 h 100"/>
                  <a:gd name="T14" fmla="*/ 0 60000 65536"/>
                  <a:gd name="T15" fmla="*/ 0 60000 65536"/>
                  <a:gd name="T16" fmla="*/ 0 60000 65536"/>
                  <a:gd name="T17" fmla="*/ 0 60000 65536"/>
                  <a:gd name="T18" fmla="*/ 0 60000 65536"/>
                  <a:gd name="T19" fmla="*/ 0 60000 65536"/>
                  <a:gd name="T20" fmla="*/ 0 60000 65536"/>
                  <a:gd name="T21" fmla="*/ 0 w 956"/>
                  <a:gd name="T22" fmla="*/ 0 h 100"/>
                  <a:gd name="T23" fmla="*/ 956 w 956"/>
                  <a:gd name="T24" fmla="*/ 100 h 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6" h="100">
                    <a:moveTo>
                      <a:pt x="954" y="100"/>
                    </a:moveTo>
                    <a:lnTo>
                      <a:pt x="956" y="0"/>
                    </a:lnTo>
                    <a:lnTo>
                      <a:pt x="0" y="0"/>
                    </a:lnTo>
                    <a:lnTo>
                      <a:pt x="0" y="100"/>
                    </a:lnTo>
                    <a:lnTo>
                      <a:pt x="956" y="100"/>
                    </a:lnTo>
                    <a:lnTo>
                      <a:pt x="954" y="10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643" name="Freeform 85">
                <a:extLst>
                  <a:ext uri="{FF2B5EF4-FFF2-40B4-BE49-F238E27FC236}">
                    <a16:creationId xmlns:a16="http://schemas.microsoft.com/office/drawing/2014/main" id="{5E2E41D4-9BDB-CB46-9FC0-019AA380BB28}"/>
                  </a:ext>
                </a:extLst>
              </p:cNvPr>
              <p:cNvSpPr>
                <a:spLocks/>
              </p:cNvSpPr>
              <p:nvPr/>
            </p:nvSpPr>
            <p:spPr bwMode="auto">
              <a:xfrm>
                <a:off x="3837" y="3846"/>
                <a:ext cx="1353" cy="86"/>
              </a:xfrm>
              <a:custGeom>
                <a:avLst/>
                <a:gdLst>
                  <a:gd name="T0" fmla="*/ 22594330 w 956"/>
                  <a:gd name="T1" fmla="*/ 3 h 100"/>
                  <a:gd name="T2" fmla="*/ 22635881 w 956"/>
                  <a:gd name="T3" fmla="*/ 0 h 100"/>
                  <a:gd name="T4" fmla="*/ 0 w 956"/>
                  <a:gd name="T5" fmla="*/ 0 h 100"/>
                  <a:gd name="T6" fmla="*/ 0 w 956"/>
                  <a:gd name="T7" fmla="*/ 3 h 100"/>
                  <a:gd name="T8" fmla="*/ 22635881 w 956"/>
                  <a:gd name="T9" fmla="*/ 3 h 100"/>
                  <a:gd name="T10" fmla="*/ 22635881 w 956"/>
                  <a:gd name="T11" fmla="*/ 3 h 100"/>
                  <a:gd name="T12" fmla="*/ 0 60000 65536"/>
                  <a:gd name="T13" fmla="*/ 0 60000 65536"/>
                  <a:gd name="T14" fmla="*/ 0 60000 65536"/>
                  <a:gd name="T15" fmla="*/ 0 60000 65536"/>
                  <a:gd name="T16" fmla="*/ 0 60000 65536"/>
                  <a:gd name="T17" fmla="*/ 0 60000 65536"/>
                  <a:gd name="T18" fmla="*/ 0 w 956"/>
                  <a:gd name="T19" fmla="*/ 0 h 100"/>
                  <a:gd name="T20" fmla="*/ 956 w 956"/>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56" h="100">
                    <a:moveTo>
                      <a:pt x="954" y="100"/>
                    </a:moveTo>
                    <a:lnTo>
                      <a:pt x="956" y="0"/>
                    </a:lnTo>
                    <a:lnTo>
                      <a:pt x="0" y="0"/>
                    </a:lnTo>
                    <a:lnTo>
                      <a:pt x="0" y="100"/>
                    </a:lnTo>
                    <a:lnTo>
                      <a:pt x="956"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44" name="Freeform 86">
                <a:extLst>
                  <a:ext uri="{FF2B5EF4-FFF2-40B4-BE49-F238E27FC236}">
                    <a16:creationId xmlns:a16="http://schemas.microsoft.com/office/drawing/2014/main" id="{0EC94145-7542-DA46-8B16-932625BFF64D}"/>
                  </a:ext>
                </a:extLst>
              </p:cNvPr>
              <p:cNvSpPr>
                <a:spLocks/>
              </p:cNvSpPr>
              <p:nvPr/>
            </p:nvSpPr>
            <p:spPr bwMode="auto">
              <a:xfrm>
                <a:off x="3734" y="3506"/>
                <a:ext cx="1511" cy="74"/>
              </a:xfrm>
              <a:custGeom>
                <a:avLst/>
                <a:gdLst>
                  <a:gd name="T0" fmla="*/ 0 w 1068"/>
                  <a:gd name="T1" fmla="*/ 0 h 86"/>
                  <a:gd name="T2" fmla="*/ 193657 w 1068"/>
                  <a:gd name="T3" fmla="*/ 3 h 86"/>
                  <a:gd name="T4" fmla="*/ 676635 w 1068"/>
                  <a:gd name="T5" fmla="*/ 3 h 86"/>
                  <a:gd name="T6" fmla="*/ 1409046 w 1068"/>
                  <a:gd name="T7" fmla="*/ 3 h 86"/>
                  <a:gd name="T8" fmla="*/ 2426031 w 1068"/>
                  <a:gd name="T9" fmla="*/ 3 h 86"/>
                  <a:gd name="T10" fmla="*/ 3672111 w 1068"/>
                  <a:gd name="T11" fmla="*/ 3 h 86"/>
                  <a:gd name="T12" fmla="*/ 5152963 w 1068"/>
                  <a:gd name="T13" fmla="*/ 3 h 86"/>
                  <a:gd name="T14" fmla="*/ 6782061 w 1068"/>
                  <a:gd name="T15" fmla="*/ 3 h 86"/>
                  <a:gd name="T16" fmla="*/ 8594915 w 1068"/>
                  <a:gd name="T17" fmla="*/ 3 h 86"/>
                  <a:gd name="T18" fmla="*/ 10513848 w 1068"/>
                  <a:gd name="T19" fmla="*/ 3 h 86"/>
                  <a:gd name="T20" fmla="*/ 12541587 w 1068"/>
                  <a:gd name="T21" fmla="*/ 3 h 86"/>
                  <a:gd name="T22" fmla="*/ 14571643 w 1068"/>
                  <a:gd name="T23" fmla="*/ 3 h 86"/>
                  <a:gd name="T24" fmla="*/ 16492136 w 1068"/>
                  <a:gd name="T25" fmla="*/ 3 h 86"/>
                  <a:gd name="T26" fmla="*/ 18304296 w 1068"/>
                  <a:gd name="T27" fmla="*/ 3 h 86"/>
                  <a:gd name="T28" fmla="*/ 19937491 w 1068"/>
                  <a:gd name="T29" fmla="*/ 3 h 86"/>
                  <a:gd name="T30" fmla="*/ 21414059 w 1068"/>
                  <a:gd name="T31" fmla="*/ 3 h 86"/>
                  <a:gd name="T32" fmla="*/ 22670274 w 1068"/>
                  <a:gd name="T33" fmla="*/ 3 h 86"/>
                  <a:gd name="T34" fmla="*/ 23691171 w 1068"/>
                  <a:gd name="T35" fmla="*/ 3 h 86"/>
                  <a:gd name="T36" fmla="*/ 24424557 w 1068"/>
                  <a:gd name="T37" fmla="*/ 3 h 86"/>
                  <a:gd name="T38" fmla="*/ 24904591 w 1068"/>
                  <a:gd name="T39" fmla="*/ 3 h 86"/>
                  <a:gd name="T40" fmla="*/ 25049136 w 1068"/>
                  <a:gd name="T41" fmla="*/ 0 h 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68"/>
                  <a:gd name="T64" fmla="*/ 0 h 86"/>
                  <a:gd name="T65" fmla="*/ 1068 w 1068"/>
                  <a:gd name="T66" fmla="*/ 86 h 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68" h="86">
                    <a:moveTo>
                      <a:pt x="0" y="0"/>
                    </a:moveTo>
                    <a:lnTo>
                      <a:pt x="8" y="14"/>
                    </a:lnTo>
                    <a:lnTo>
                      <a:pt x="28" y="28"/>
                    </a:lnTo>
                    <a:lnTo>
                      <a:pt x="60" y="40"/>
                    </a:lnTo>
                    <a:lnTo>
                      <a:pt x="103" y="52"/>
                    </a:lnTo>
                    <a:lnTo>
                      <a:pt x="157" y="62"/>
                    </a:lnTo>
                    <a:lnTo>
                      <a:pt x="220" y="70"/>
                    </a:lnTo>
                    <a:lnTo>
                      <a:pt x="289" y="78"/>
                    </a:lnTo>
                    <a:lnTo>
                      <a:pt x="367" y="82"/>
                    </a:lnTo>
                    <a:lnTo>
                      <a:pt x="449" y="86"/>
                    </a:lnTo>
                    <a:lnTo>
                      <a:pt x="535" y="86"/>
                    </a:lnTo>
                    <a:lnTo>
                      <a:pt x="621" y="86"/>
                    </a:lnTo>
                    <a:lnTo>
                      <a:pt x="703" y="82"/>
                    </a:lnTo>
                    <a:lnTo>
                      <a:pt x="781" y="78"/>
                    </a:lnTo>
                    <a:lnTo>
                      <a:pt x="850" y="70"/>
                    </a:lnTo>
                    <a:lnTo>
                      <a:pt x="913" y="62"/>
                    </a:lnTo>
                    <a:lnTo>
                      <a:pt x="967" y="52"/>
                    </a:lnTo>
                    <a:lnTo>
                      <a:pt x="1010" y="40"/>
                    </a:lnTo>
                    <a:lnTo>
                      <a:pt x="1042" y="28"/>
                    </a:lnTo>
                    <a:lnTo>
                      <a:pt x="1062" y="14"/>
                    </a:lnTo>
                    <a:lnTo>
                      <a:pt x="1068"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45" name="Line 87">
                <a:extLst>
                  <a:ext uri="{FF2B5EF4-FFF2-40B4-BE49-F238E27FC236}">
                    <a16:creationId xmlns:a16="http://schemas.microsoft.com/office/drawing/2014/main" id="{58EF936E-ED56-A048-99C0-A833F6B25731}"/>
                  </a:ext>
                </a:extLst>
              </p:cNvPr>
              <p:cNvSpPr>
                <a:spLocks noChangeShapeType="1"/>
              </p:cNvSpPr>
              <p:nvPr/>
            </p:nvSpPr>
            <p:spPr bwMode="auto">
              <a:xfrm>
                <a:off x="4499" y="3994"/>
                <a:ext cx="2" cy="17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646" name="Text Box 88">
                <a:extLst>
                  <a:ext uri="{FF2B5EF4-FFF2-40B4-BE49-F238E27FC236}">
                    <a16:creationId xmlns:a16="http://schemas.microsoft.com/office/drawing/2014/main" id="{11BA9F83-20C0-7340-99C1-E8F2BDC4965E}"/>
                  </a:ext>
                </a:extLst>
              </p:cNvPr>
              <p:cNvSpPr txBox="1">
                <a:spLocks noChangeArrowheads="1"/>
              </p:cNvSpPr>
              <p:nvPr/>
            </p:nvSpPr>
            <p:spPr bwMode="auto">
              <a:xfrm>
                <a:off x="3994" y="3208"/>
                <a:ext cx="897"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latin typeface="Times New Roman" panose="02020603050405020304" pitchFamily="18" charset="0"/>
                    <a:ea typeface="宋体" panose="02010600030101010101" pitchFamily="2" charset="-122"/>
                  </a:rPr>
                  <a:t>Disk storage</a:t>
                </a:r>
              </a:p>
            </p:txBody>
          </p:sp>
        </p:grpSp>
        <p:grpSp>
          <p:nvGrpSpPr>
            <p:cNvPr id="234514" name="Group 93">
              <a:extLst>
                <a:ext uri="{FF2B5EF4-FFF2-40B4-BE49-F238E27FC236}">
                  <a16:creationId xmlns:a16="http://schemas.microsoft.com/office/drawing/2014/main" id="{3B216522-D320-9548-AC95-3DB2780E0F56}"/>
                </a:ext>
              </a:extLst>
            </p:cNvPr>
            <p:cNvGrpSpPr>
              <a:grpSpLocks/>
            </p:cNvGrpSpPr>
            <p:nvPr/>
          </p:nvGrpSpPr>
          <p:grpSpPr bwMode="auto">
            <a:xfrm>
              <a:off x="1199" y="1947"/>
              <a:ext cx="2143" cy="809"/>
              <a:chOff x="1199" y="1947"/>
              <a:chExt cx="2143" cy="809"/>
            </a:xfrm>
          </p:grpSpPr>
          <p:grpSp>
            <p:nvGrpSpPr>
              <p:cNvPr id="234593" name="Group 94">
                <a:extLst>
                  <a:ext uri="{FF2B5EF4-FFF2-40B4-BE49-F238E27FC236}">
                    <a16:creationId xmlns:a16="http://schemas.microsoft.com/office/drawing/2014/main" id="{E050B478-6771-0842-97BE-9303B22CB5D6}"/>
                  </a:ext>
                </a:extLst>
              </p:cNvPr>
              <p:cNvGrpSpPr>
                <a:grpSpLocks/>
              </p:cNvGrpSpPr>
              <p:nvPr/>
            </p:nvGrpSpPr>
            <p:grpSpPr bwMode="auto">
              <a:xfrm>
                <a:off x="1199" y="1954"/>
                <a:ext cx="2143" cy="802"/>
                <a:chOff x="1199" y="1954"/>
                <a:chExt cx="2143" cy="802"/>
              </a:xfrm>
            </p:grpSpPr>
            <p:sp>
              <p:nvSpPr>
                <p:cNvPr id="234595" name="Text Box 95">
                  <a:extLst>
                    <a:ext uri="{FF2B5EF4-FFF2-40B4-BE49-F238E27FC236}">
                      <a16:creationId xmlns:a16="http://schemas.microsoft.com/office/drawing/2014/main" id="{599CC27D-9527-2E47-85F2-4BB341868C08}"/>
                    </a:ext>
                  </a:extLst>
                </p:cNvPr>
                <p:cNvSpPr txBox="1">
                  <a:spLocks noChangeArrowheads="1"/>
                </p:cNvSpPr>
                <p:nvPr/>
              </p:nvSpPr>
              <p:spPr bwMode="auto">
                <a:xfrm>
                  <a:off x="2299" y="1954"/>
                  <a:ext cx="104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latin typeface="Times New Roman" panose="02020603050405020304" pitchFamily="18" charset="0"/>
                      <a:ea typeface="宋体" panose="02010600030101010101" pitchFamily="2" charset="-122"/>
                    </a:rPr>
                    <a:t>page frame #</a:t>
                  </a:r>
                </a:p>
              </p:txBody>
            </p:sp>
            <p:grpSp>
              <p:nvGrpSpPr>
                <p:cNvPr id="234596" name="Group 96">
                  <a:extLst>
                    <a:ext uri="{FF2B5EF4-FFF2-40B4-BE49-F238E27FC236}">
                      <a16:creationId xmlns:a16="http://schemas.microsoft.com/office/drawing/2014/main" id="{C2AA4BD6-0BEB-0D46-8087-56515C0D3900}"/>
                    </a:ext>
                  </a:extLst>
                </p:cNvPr>
                <p:cNvGrpSpPr>
                  <a:grpSpLocks/>
                </p:cNvGrpSpPr>
                <p:nvPr/>
              </p:nvGrpSpPr>
              <p:grpSpPr bwMode="auto">
                <a:xfrm>
                  <a:off x="1326" y="1954"/>
                  <a:ext cx="1815" cy="802"/>
                  <a:chOff x="1326" y="1954"/>
                  <a:chExt cx="1815" cy="802"/>
                </a:xfrm>
              </p:grpSpPr>
              <p:sp>
                <p:nvSpPr>
                  <p:cNvPr id="234598" name="Freeform 97">
                    <a:extLst>
                      <a:ext uri="{FF2B5EF4-FFF2-40B4-BE49-F238E27FC236}">
                        <a16:creationId xmlns:a16="http://schemas.microsoft.com/office/drawing/2014/main" id="{868DB5A8-A181-4742-A0DA-624669334E87}"/>
                      </a:ext>
                    </a:extLst>
                  </p:cNvPr>
                  <p:cNvSpPr>
                    <a:spLocks/>
                  </p:cNvSpPr>
                  <p:nvPr/>
                </p:nvSpPr>
                <p:spPr bwMode="auto">
                  <a:xfrm>
                    <a:off x="2292" y="2580"/>
                    <a:ext cx="849" cy="86"/>
                  </a:xfrm>
                  <a:custGeom>
                    <a:avLst/>
                    <a:gdLst>
                      <a:gd name="T0" fmla="*/ 14122426 w 600"/>
                      <a:gd name="T1" fmla="*/ 3 h 100"/>
                      <a:gd name="T2" fmla="*/ 14122426 w 600"/>
                      <a:gd name="T3" fmla="*/ 0 h 100"/>
                      <a:gd name="T4" fmla="*/ 0 w 600"/>
                      <a:gd name="T5" fmla="*/ 0 h 100"/>
                      <a:gd name="T6" fmla="*/ 0 w 600"/>
                      <a:gd name="T7" fmla="*/ 3 h 100"/>
                      <a:gd name="T8" fmla="*/ 14122426 w 600"/>
                      <a:gd name="T9" fmla="*/ 3 h 100"/>
                      <a:gd name="T10" fmla="*/ 14122426 w 600"/>
                      <a:gd name="T11" fmla="*/ 3 h 100"/>
                      <a:gd name="T12" fmla="*/ 0 60000 65536"/>
                      <a:gd name="T13" fmla="*/ 0 60000 65536"/>
                      <a:gd name="T14" fmla="*/ 0 60000 65536"/>
                      <a:gd name="T15" fmla="*/ 0 60000 65536"/>
                      <a:gd name="T16" fmla="*/ 0 60000 65536"/>
                      <a:gd name="T17" fmla="*/ 0 60000 65536"/>
                      <a:gd name="T18" fmla="*/ 0 w 600"/>
                      <a:gd name="T19" fmla="*/ 0 h 100"/>
                      <a:gd name="T20" fmla="*/ 600 w 600"/>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00" h="100">
                        <a:moveTo>
                          <a:pt x="600" y="98"/>
                        </a:moveTo>
                        <a:lnTo>
                          <a:pt x="600" y="0"/>
                        </a:lnTo>
                        <a:lnTo>
                          <a:pt x="0" y="0"/>
                        </a:lnTo>
                        <a:lnTo>
                          <a:pt x="0" y="100"/>
                        </a:lnTo>
                        <a:lnTo>
                          <a:pt x="600"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99" name="Freeform 98">
                    <a:extLst>
                      <a:ext uri="{FF2B5EF4-FFF2-40B4-BE49-F238E27FC236}">
                        <a16:creationId xmlns:a16="http://schemas.microsoft.com/office/drawing/2014/main" id="{7A9A23F3-14E1-7D46-8183-1B445D2D6600}"/>
                      </a:ext>
                    </a:extLst>
                  </p:cNvPr>
                  <p:cNvSpPr>
                    <a:spLocks/>
                  </p:cNvSpPr>
                  <p:nvPr/>
                </p:nvSpPr>
                <p:spPr bwMode="auto">
                  <a:xfrm>
                    <a:off x="1326" y="2321"/>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98"/>
                        </a:moveTo>
                        <a:lnTo>
                          <a:pt x="91" y="0"/>
                        </a:lnTo>
                        <a:lnTo>
                          <a:pt x="0" y="0"/>
                        </a:lnTo>
                        <a:lnTo>
                          <a:pt x="0" y="100"/>
                        </a:lnTo>
                        <a:lnTo>
                          <a:pt x="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0" name="Freeform 99">
                    <a:extLst>
                      <a:ext uri="{FF2B5EF4-FFF2-40B4-BE49-F238E27FC236}">
                        <a16:creationId xmlns:a16="http://schemas.microsoft.com/office/drawing/2014/main" id="{B94D6BF3-5651-4642-B0FC-81B76EC30F2C}"/>
                      </a:ext>
                    </a:extLst>
                  </p:cNvPr>
                  <p:cNvSpPr>
                    <a:spLocks/>
                  </p:cNvSpPr>
                  <p:nvPr/>
                </p:nvSpPr>
                <p:spPr bwMode="auto">
                  <a:xfrm>
                    <a:off x="1326" y="2493"/>
                    <a:ext cx="129" cy="87"/>
                  </a:xfrm>
                  <a:custGeom>
                    <a:avLst/>
                    <a:gdLst>
                      <a:gd name="T0" fmla="*/ 2254855 w 91"/>
                      <a:gd name="T1" fmla="*/ 3 h 101"/>
                      <a:gd name="T2" fmla="*/ 2254855 w 91"/>
                      <a:gd name="T3" fmla="*/ 0 h 101"/>
                      <a:gd name="T4" fmla="*/ 0 w 91"/>
                      <a:gd name="T5" fmla="*/ 0 h 101"/>
                      <a:gd name="T6" fmla="*/ 0 w 91"/>
                      <a:gd name="T7" fmla="*/ 3 h 101"/>
                      <a:gd name="T8" fmla="*/ 2254855 w 91"/>
                      <a:gd name="T9" fmla="*/ 3 h 101"/>
                      <a:gd name="T10" fmla="*/ 2254855 w 91"/>
                      <a:gd name="T11" fmla="*/ 3 h 101"/>
                      <a:gd name="T12" fmla="*/ 0 60000 65536"/>
                      <a:gd name="T13" fmla="*/ 0 60000 65536"/>
                      <a:gd name="T14" fmla="*/ 0 60000 65536"/>
                      <a:gd name="T15" fmla="*/ 0 60000 65536"/>
                      <a:gd name="T16" fmla="*/ 0 60000 65536"/>
                      <a:gd name="T17" fmla="*/ 0 60000 65536"/>
                      <a:gd name="T18" fmla="*/ 0 w 91"/>
                      <a:gd name="T19" fmla="*/ 0 h 101"/>
                      <a:gd name="T20" fmla="*/ 91 w 91"/>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91" h="101">
                        <a:moveTo>
                          <a:pt x="91" y="99"/>
                        </a:moveTo>
                        <a:lnTo>
                          <a:pt x="91" y="0"/>
                        </a:lnTo>
                        <a:lnTo>
                          <a:pt x="0" y="0"/>
                        </a:lnTo>
                        <a:lnTo>
                          <a:pt x="0" y="101"/>
                        </a:lnTo>
                        <a:lnTo>
                          <a:pt x="91" y="101"/>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1" name="Freeform 100">
                    <a:extLst>
                      <a:ext uri="{FF2B5EF4-FFF2-40B4-BE49-F238E27FC236}">
                        <a16:creationId xmlns:a16="http://schemas.microsoft.com/office/drawing/2014/main" id="{3EAE6C0F-A067-D245-B978-1F62EBECABA7}"/>
                      </a:ext>
                    </a:extLst>
                  </p:cNvPr>
                  <p:cNvSpPr>
                    <a:spLocks/>
                  </p:cNvSpPr>
                  <p:nvPr/>
                </p:nvSpPr>
                <p:spPr bwMode="auto">
                  <a:xfrm>
                    <a:off x="1326" y="2666"/>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98"/>
                        </a:moveTo>
                        <a:lnTo>
                          <a:pt x="91" y="0"/>
                        </a:lnTo>
                        <a:lnTo>
                          <a:pt x="0" y="0"/>
                        </a:lnTo>
                        <a:lnTo>
                          <a:pt x="0" y="100"/>
                        </a:lnTo>
                        <a:lnTo>
                          <a:pt x="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2" name="Freeform 101">
                    <a:extLst>
                      <a:ext uri="{FF2B5EF4-FFF2-40B4-BE49-F238E27FC236}">
                        <a16:creationId xmlns:a16="http://schemas.microsoft.com/office/drawing/2014/main" id="{ADE635E3-1F8C-614C-AE51-A3D28897D6D4}"/>
                      </a:ext>
                    </a:extLst>
                  </p:cNvPr>
                  <p:cNvSpPr>
                    <a:spLocks/>
                  </p:cNvSpPr>
                  <p:nvPr/>
                </p:nvSpPr>
                <p:spPr bwMode="auto">
                  <a:xfrm>
                    <a:off x="1455" y="2321"/>
                    <a:ext cx="837" cy="86"/>
                  </a:xfrm>
                  <a:custGeom>
                    <a:avLst/>
                    <a:gdLst>
                      <a:gd name="T0" fmla="*/ 14267733 w 591"/>
                      <a:gd name="T1" fmla="*/ 3 h 100"/>
                      <a:gd name="T2" fmla="*/ 14267733 w 591"/>
                      <a:gd name="T3" fmla="*/ 0 h 100"/>
                      <a:gd name="T4" fmla="*/ 0 w 591"/>
                      <a:gd name="T5" fmla="*/ 0 h 100"/>
                      <a:gd name="T6" fmla="*/ 0 w 591"/>
                      <a:gd name="T7" fmla="*/ 3 h 100"/>
                      <a:gd name="T8" fmla="*/ 14267733 w 591"/>
                      <a:gd name="T9" fmla="*/ 3 h 100"/>
                      <a:gd name="T10" fmla="*/ 14267733 w 591"/>
                      <a:gd name="T11" fmla="*/ 3 h 100"/>
                      <a:gd name="T12" fmla="*/ 0 60000 65536"/>
                      <a:gd name="T13" fmla="*/ 0 60000 65536"/>
                      <a:gd name="T14" fmla="*/ 0 60000 65536"/>
                      <a:gd name="T15" fmla="*/ 0 60000 65536"/>
                      <a:gd name="T16" fmla="*/ 0 60000 65536"/>
                      <a:gd name="T17" fmla="*/ 0 60000 65536"/>
                      <a:gd name="T18" fmla="*/ 0 w 591"/>
                      <a:gd name="T19" fmla="*/ 0 h 100"/>
                      <a:gd name="T20" fmla="*/ 591 w 5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1" h="100">
                        <a:moveTo>
                          <a:pt x="591" y="98"/>
                        </a:moveTo>
                        <a:lnTo>
                          <a:pt x="591" y="0"/>
                        </a:lnTo>
                        <a:lnTo>
                          <a:pt x="0" y="0"/>
                        </a:lnTo>
                        <a:lnTo>
                          <a:pt x="0" y="100"/>
                        </a:lnTo>
                        <a:lnTo>
                          <a:pt x="5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3" name="Freeform 102">
                    <a:extLst>
                      <a:ext uri="{FF2B5EF4-FFF2-40B4-BE49-F238E27FC236}">
                        <a16:creationId xmlns:a16="http://schemas.microsoft.com/office/drawing/2014/main" id="{374E7AFD-1061-6E4D-B7F1-B0F2C5977301}"/>
                      </a:ext>
                    </a:extLst>
                  </p:cNvPr>
                  <p:cNvSpPr>
                    <a:spLocks/>
                  </p:cNvSpPr>
                  <p:nvPr/>
                </p:nvSpPr>
                <p:spPr bwMode="auto">
                  <a:xfrm>
                    <a:off x="1455" y="2493"/>
                    <a:ext cx="837" cy="87"/>
                  </a:xfrm>
                  <a:custGeom>
                    <a:avLst/>
                    <a:gdLst>
                      <a:gd name="T0" fmla="*/ 14267733 w 591"/>
                      <a:gd name="T1" fmla="*/ 3 h 101"/>
                      <a:gd name="T2" fmla="*/ 14267733 w 591"/>
                      <a:gd name="T3" fmla="*/ 0 h 101"/>
                      <a:gd name="T4" fmla="*/ 0 w 591"/>
                      <a:gd name="T5" fmla="*/ 0 h 101"/>
                      <a:gd name="T6" fmla="*/ 0 w 591"/>
                      <a:gd name="T7" fmla="*/ 3 h 101"/>
                      <a:gd name="T8" fmla="*/ 14267733 w 591"/>
                      <a:gd name="T9" fmla="*/ 3 h 101"/>
                      <a:gd name="T10" fmla="*/ 14267733 w 591"/>
                      <a:gd name="T11" fmla="*/ 3 h 101"/>
                      <a:gd name="T12" fmla="*/ 0 60000 65536"/>
                      <a:gd name="T13" fmla="*/ 0 60000 65536"/>
                      <a:gd name="T14" fmla="*/ 0 60000 65536"/>
                      <a:gd name="T15" fmla="*/ 0 60000 65536"/>
                      <a:gd name="T16" fmla="*/ 0 60000 65536"/>
                      <a:gd name="T17" fmla="*/ 0 60000 65536"/>
                      <a:gd name="T18" fmla="*/ 0 w 591"/>
                      <a:gd name="T19" fmla="*/ 0 h 101"/>
                      <a:gd name="T20" fmla="*/ 591 w 591"/>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591" h="101">
                        <a:moveTo>
                          <a:pt x="591" y="99"/>
                        </a:moveTo>
                        <a:lnTo>
                          <a:pt x="591" y="0"/>
                        </a:lnTo>
                        <a:lnTo>
                          <a:pt x="0" y="0"/>
                        </a:lnTo>
                        <a:lnTo>
                          <a:pt x="0" y="101"/>
                        </a:lnTo>
                        <a:lnTo>
                          <a:pt x="591" y="101"/>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4" name="Freeform 103">
                    <a:extLst>
                      <a:ext uri="{FF2B5EF4-FFF2-40B4-BE49-F238E27FC236}">
                        <a16:creationId xmlns:a16="http://schemas.microsoft.com/office/drawing/2014/main" id="{FEDF7BB0-4E4D-6642-A521-0A67A7DBE2AF}"/>
                      </a:ext>
                    </a:extLst>
                  </p:cNvPr>
                  <p:cNvSpPr>
                    <a:spLocks/>
                  </p:cNvSpPr>
                  <p:nvPr/>
                </p:nvSpPr>
                <p:spPr bwMode="auto">
                  <a:xfrm>
                    <a:off x="1455" y="2666"/>
                    <a:ext cx="837" cy="86"/>
                  </a:xfrm>
                  <a:custGeom>
                    <a:avLst/>
                    <a:gdLst>
                      <a:gd name="T0" fmla="*/ 14267733 w 591"/>
                      <a:gd name="T1" fmla="*/ 3 h 100"/>
                      <a:gd name="T2" fmla="*/ 14267733 w 591"/>
                      <a:gd name="T3" fmla="*/ 0 h 100"/>
                      <a:gd name="T4" fmla="*/ 0 w 591"/>
                      <a:gd name="T5" fmla="*/ 0 h 100"/>
                      <a:gd name="T6" fmla="*/ 0 w 591"/>
                      <a:gd name="T7" fmla="*/ 3 h 100"/>
                      <a:gd name="T8" fmla="*/ 14267733 w 591"/>
                      <a:gd name="T9" fmla="*/ 3 h 100"/>
                      <a:gd name="T10" fmla="*/ 14267733 w 591"/>
                      <a:gd name="T11" fmla="*/ 3 h 100"/>
                      <a:gd name="T12" fmla="*/ 0 60000 65536"/>
                      <a:gd name="T13" fmla="*/ 0 60000 65536"/>
                      <a:gd name="T14" fmla="*/ 0 60000 65536"/>
                      <a:gd name="T15" fmla="*/ 0 60000 65536"/>
                      <a:gd name="T16" fmla="*/ 0 60000 65536"/>
                      <a:gd name="T17" fmla="*/ 0 60000 65536"/>
                      <a:gd name="T18" fmla="*/ 0 w 591"/>
                      <a:gd name="T19" fmla="*/ 0 h 100"/>
                      <a:gd name="T20" fmla="*/ 591 w 5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1" h="100">
                        <a:moveTo>
                          <a:pt x="591" y="98"/>
                        </a:moveTo>
                        <a:lnTo>
                          <a:pt x="591" y="0"/>
                        </a:lnTo>
                        <a:lnTo>
                          <a:pt x="0" y="0"/>
                        </a:lnTo>
                        <a:lnTo>
                          <a:pt x="0" y="100"/>
                        </a:lnTo>
                        <a:lnTo>
                          <a:pt x="5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5" name="Freeform 104">
                    <a:extLst>
                      <a:ext uri="{FF2B5EF4-FFF2-40B4-BE49-F238E27FC236}">
                        <a16:creationId xmlns:a16="http://schemas.microsoft.com/office/drawing/2014/main" id="{7E49D3C4-B7CB-BA48-8ABC-CA11FE6865E3}"/>
                      </a:ext>
                    </a:extLst>
                  </p:cNvPr>
                  <p:cNvSpPr>
                    <a:spLocks/>
                  </p:cNvSpPr>
                  <p:nvPr/>
                </p:nvSpPr>
                <p:spPr bwMode="auto">
                  <a:xfrm>
                    <a:off x="2292" y="2580"/>
                    <a:ext cx="849" cy="86"/>
                  </a:xfrm>
                  <a:custGeom>
                    <a:avLst/>
                    <a:gdLst>
                      <a:gd name="T0" fmla="*/ 14122426 w 600"/>
                      <a:gd name="T1" fmla="*/ 3 h 100"/>
                      <a:gd name="T2" fmla="*/ 14122426 w 600"/>
                      <a:gd name="T3" fmla="*/ 0 h 100"/>
                      <a:gd name="T4" fmla="*/ 0 w 600"/>
                      <a:gd name="T5" fmla="*/ 0 h 100"/>
                      <a:gd name="T6" fmla="*/ 0 w 600"/>
                      <a:gd name="T7" fmla="*/ 3 h 100"/>
                      <a:gd name="T8" fmla="*/ 14122426 w 600"/>
                      <a:gd name="T9" fmla="*/ 3 h 100"/>
                      <a:gd name="T10" fmla="*/ 14122426 w 600"/>
                      <a:gd name="T11" fmla="*/ 3 h 100"/>
                      <a:gd name="T12" fmla="*/ 0 60000 65536"/>
                      <a:gd name="T13" fmla="*/ 0 60000 65536"/>
                      <a:gd name="T14" fmla="*/ 0 60000 65536"/>
                      <a:gd name="T15" fmla="*/ 0 60000 65536"/>
                      <a:gd name="T16" fmla="*/ 0 60000 65536"/>
                      <a:gd name="T17" fmla="*/ 0 60000 65536"/>
                      <a:gd name="T18" fmla="*/ 0 w 600"/>
                      <a:gd name="T19" fmla="*/ 0 h 100"/>
                      <a:gd name="T20" fmla="*/ 600 w 600"/>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00" h="100">
                        <a:moveTo>
                          <a:pt x="600" y="98"/>
                        </a:moveTo>
                        <a:lnTo>
                          <a:pt x="600" y="0"/>
                        </a:lnTo>
                        <a:lnTo>
                          <a:pt x="0" y="0"/>
                        </a:lnTo>
                        <a:lnTo>
                          <a:pt x="0" y="100"/>
                        </a:lnTo>
                        <a:lnTo>
                          <a:pt x="600"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6" name="Freeform 105">
                    <a:extLst>
                      <a:ext uri="{FF2B5EF4-FFF2-40B4-BE49-F238E27FC236}">
                        <a16:creationId xmlns:a16="http://schemas.microsoft.com/office/drawing/2014/main" id="{395B0702-46A3-B54F-BE76-8E64794AAAD9}"/>
                      </a:ext>
                    </a:extLst>
                  </p:cNvPr>
                  <p:cNvSpPr>
                    <a:spLocks/>
                  </p:cNvSpPr>
                  <p:nvPr/>
                </p:nvSpPr>
                <p:spPr bwMode="auto">
                  <a:xfrm>
                    <a:off x="1326" y="2234"/>
                    <a:ext cx="129" cy="87"/>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98"/>
                        </a:moveTo>
                        <a:lnTo>
                          <a:pt x="91" y="0"/>
                        </a:lnTo>
                        <a:lnTo>
                          <a:pt x="0" y="0"/>
                        </a:lnTo>
                        <a:lnTo>
                          <a:pt x="0" y="100"/>
                        </a:lnTo>
                        <a:lnTo>
                          <a:pt x="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7" name="Freeform 106">
                    <a:extLst>
                      <a:ext uri="{FF2B5EF4-FFF2-40B4-BE49-F238E27FC236}">
                        <a16:creationId xmlns:a16="http://schemas.microsoft.com/office/drawing/2014/main" id="{8BCE9090-901F-C344-A954-1AA65D6746E3}"/>
                      </a:ext>
                    </a:extLst>
                  </p:cNvPr>
                  <p:cNvSpPr>
                    <a:spLocks/>
                  </p:cNvSpPr>
                  <p:nvPr/>
                </p:nvSpPr>
                <p:spPr bwMode="auto">
                  <a:xfrm>
                    <a:off x="1326" y="2407"/>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98"/>
                        </a:moveTo>
                        <a:lnTo>
                          <a:pt x="91" y="0"/>
                        </a:lnTo>
                        <a:lnTo>
                          <a:pt x="0" y="0"/>
                        </a:lnTo>
                        <a:lnTo>
                          <a:pt x="0" y="100"/>
                        </a:lnTo>
                        <a:lnTo>
                          <a:pt x="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8" name="Freeform 107">
                    <a:extLst>
                      <a:ext uri="{FF2B5EF4-FFF2-40B4-BE49-F238E27FC236}">
                        <a16:creationId xmlns:a16="http://schemas.microsoft.com/office/drawing/2014/main" id="{9B4230C0-F23A-9949-BD19-20B336E5F98C}"/>
                      </a:ext>
                    </a:extLst>
                  </p:cNvPr>
                  <p:cNvSpPr>
                    <a:spLocks/>
                  </p:cNvSpPr>
                  <p:nvPr/>
                </p:nvSpPr>
                <p:spPr bwMode="auto">
                  <a:xfrm>
                    <a:off x="1326" y="2580"/>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98"/>
                        </a:moveTo>
                        <a:lnTo>
                          <a:pt x="91" y="0"/>
                        </a:lnTo>
                        <a:lnTo>
                          <a:pt x="0" y="0"/>
                        </a:lnTo>
                        <a:lnTo>
                          <a:pt x="0" y="100"/>
                        </a:lnTo>
                        <a:lnTo>
                          <a:pt x="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09" name="Freeform 108">
                    <a:extLst>
                      <a:ext uri="{FF2B5EF4-FFF2-40B4-BE49-F238E27FC236}">
                        <a16:creationId xmlns:a16="http://schemas.microsoft.com/office/drawing/2014/main" id="{A4707F89-D00A-C748-BC3A-D70E50A0A401}"/>
                      </a:ext>
                    </a:extLst>
                  </p:cNvPr>
                  <p:cNvSpPr>
                    <a:spLocks/>
                  </p:cNvSpPr>
                  <p:nvPr/>
                </p:nvSpPr>
                <p:spPr bwMode="auto">
                  <a:xfrm>
                    <a:off x="2292" y="2148"/>
                    <a:ext cx="849" cy="86"/>
                  </a:xfrm>
                  <a:custGeom>
                    <a:avLst/>
                    <a:gdLst>
                      <a:gd name="T0" fmla="*/ 14122426 w 600"/>
                      <a:gd name="T1" fmla="*/ 3 h 100"/>
                      <a:gd name="T2" fmla="*/ 14122426 w 600"/>
                      <a:gd name="T3" fmla="*/ 0 h 100"/>
                      <a:gd name="T4" fmla="*/ 0 w 600"/>
                      <a:gd name="T5" fmla="*/ 0 h 100"/>
                      <a:gd name="T6" fmla="*/ 0 w 600"/>
                      <a:gd name="T7" fmla="*/ 3 h 100"/>
                      <a:gd name="T8" fmla="*/ 14122426 w 600"/>
                      <a:gd name="T9" fmla="*/ 3 h 100"/>
                      <a:gd name="T10" fmla="*/ 14122426 w 600"/>
                      <a:gd name="T11" fmla="*/ 3 h 100"/>
                      <a:gd name="T12" fmla="*/ 0 60000 65536"/>
                      <a:gd name="T13" fmla="*/ 0 60000 65536"/>
                      <a:gd name="T14" fmla="*/ 0 60000 65536"/>
                      <a:gd name="T15" fmla="*/ 0 60000 65536"/>
                      <a:gd name="T16" fmla="*/ 0 60000 65536"/>
                      <a:gd name="T17" fmla="*/ 0 60000 65536"/>
                      <a:gd name="T18" fmla="*/ 0 w 600"/>
                      <a:gd name="T19" fmla="*/ 0 h 100"/>
                      <a:gd name="T20" fmla="*/ 600 w 600"/>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00" h="100">
                        <a:moveTo>
                          <a:pt x="600" y="98"/>
                        </a:moveTo>
                        <a:lnTo>
                          <a:pt x="600" y="0"/>
                        </a:lnTo>
                        <a:lnTo>
                          <a:pt x="0" y="0"/>
                        </a:lnTo>
                        <a:lnTo>
                          <a:pt x="0" y="100"/>
                        </a:lnTo>
                        <a:lnTo>
                          <a:pt x="600"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10" name="Freeform 109">
                    <a:extLst>
                      <a:ext uri="{FF2B5EF4-FFF2-40B4-BE49-F238E27FC236}">
                        <a16:creationId xmlns:a16="http://schemas.microsoft.com/office/drawing/2014/main" id="{E2628264-42AF-3041-A896-2AB9233FD9CD}"/>
                      </a:ext>
                    </a:extLst>
                  </p:cNvPr>
                  <p:cNvSpPr>
                    <a:spLocks/>
                  </p:cNvSpPr>
                  <p:nvPr/>
                </p:nvSpPr>
                <p:spPr bwMode="auto">
                  <a:xfrm>
                    <a:off x="1326" y="2148"/>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98"/>
                        </a:moveTo>
                        <a:lnTo>
                          <a:pt x="91" y="0"/>
                        </a:lnTo>
                        <a:lnTo>
                          <a:pt x="0" y="0"/>
                        </a:lnTo>
                        <a:lnTo>
                          <a:pt x="0" y="100"/>
                        </a:lnTo>
                        <a:lnTo>
                          <a:pt x="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11" name="Rectangle 110">
                    <a:extLst>
                      <a:ext uri="{FF2B5EF4-FFF2-40B4-BE49-F238E27FC236}">
                        <a16:creationId xmlns:a16="http://schemas.microsoft.com/office/drawing/2014/main" id="{724251CD-85CE-E44D-8E32-F0F936C469B7}"/>
                      </a:ext>
                    </a:extLst>
                  </p:cNvPr>
                  <p:cNvSpPr>
                    <a:spLocks noChangeArrowheads="1"/>
                  </p:cNvSpPr>
                  <p:nvPr/>
                </p:nvSpPr>
                <p:spPr bwMode="auto">
                  <a:xfrm>
                    <a:off x="1360" y="2243"/>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612" name="Rectangle 111">
                    <a:extLst>
                      <a:ext uri="{FF2B5EF4-FFF2-40B4-BE49-F238E27FC236}">
                        <a16:creationId xmlns:a16="http://schemas.microsoft.com/office/drawing/2014/main" id="{F4E4285E-A884-CA46-B594-CDE0C5D14680}"/>
                      </a:ext>
                    </a:extLst>
                  </p:cNvPr>
                  <p:cNvSpPr>
                    <a:spLocks noChangeArrowheads="1"/>
                  </p:cNvSpPr>
                  <p:nvPr/>
                </p:nvSpPr>
                <p:spPr bwMode="auto">
                  <a:xfrm>
                    <a:off x="1360" y="2329"/>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613" name="Rectangle 112">
                    <a:extLst>
                      <a:ext uri="{FF2B5EF4-FFF2-40B4-BE49-F238E27FC236}">
                        <a16:creationId xmlns:a16="http://schemas.microsoft.com/office/drawing/2014/main" id="{D2481D9C-B45F-C740-84DA-E7E2EB3EEA69}"/>
                      </a:ext>
                    </a:extLst>
                  </p:cNvPr>
                  <p:cNvSpPr>
                    <a:spLocks noChangeArrowheads="1"/>
                  </p:cNvSpPr>
                  <p:nvPr/>
                </p:nvSpPr>
                <p:spPr bwMode="auto">
                  <a:xfrm>
                    <a:off x="1360" y="2415"/>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614" name="Rectangle 113">
                    <a:extLst>
                      <a:ext uri="{FF2B5EF4-FFF2-40B4-BE49-F238E27FC236}">
                        <a16:creationId xmlns:a16="http://schemas.microsoft.com/office/drawing/2014/main" id="{F8F2EDB0-3C66-C74F-95A6-1BF8EF3353EA}"/>
                      </a:ext>
                    </a:extLst>
                  </p:cNvPr>
                  <p:cNvSpPr>
                    <a:spLocks noChangeArrowheads="1"/>
                  </p:cNvSpPr>
                  <p:nvPr/>
                </p:nvSpPr>
                <p:spPr bwMode="auto">
                  <a:xfrm>
                    <a:off x="1360" y="2503"/>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615" name="Rectangle 114">
                    <a:extLst>
                      <a:ext uri="{FF2B5EF4-FFF2-40B4-BE49-F238E27FC236}">
                        <a16:creationId xmlns:a16="http://schemas.microsoft.com/office/drawing/2014/main" id="{D670520B-049E-BE48-8DA2-2FB4F9DDC0DC}"/>
                      </a:ext>
                    </a:extLst>
                  </p:cNvPr>
                  <p:cNvSpPr>
                    <a:spLocks noChangeArrowheads="1"/>
                  </p:cNvSpPr>
                  <p:nvPr/>
                </p:nvSpPr>
                <p:spPr bwMode="auto">
                  <a:xfrm>
                    <a:off x="1360" y="2589"/>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0</a:t>
                    </a:r>
                  </a:p>
                </p:txBody>
              </p:sp>
              <p:sp>
                <p:nvSpPr>
                  <p:cNvPr id="234616" name="Rectangle 115">
                    <a:extLst>
                      <a:ext uri="{FF2B5EF4-FFF2-40B4-BE49-F238E27FC236}">
                        <a16:creationId xmlns:a16="http://schemas.microsoft.com/office/drawing/2014/main" id="{008DE511-EBD7-D749-8573-2AF2BFC69C8A}"/>
                      </a:ext>
                    </a:extLst>
                  </p:cNvPr>
                  <p:cNvSpPr>
                    <a:spLocks noChangeArrowheads="1"/>
                  </p:cNvSpPr>
                  <p:nvPr/>
                </p:nvSpPr>
                <p:spPr bwMode="auto">
                  <a:xfrm>
                    <a:off x="1360" y="2675"/>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617" name="Freeform 116">
                    <a:extLst>
                      <a:ext uri="{FF2B5EF4-FFF2-40B4-BE49-F238E27FC236}">
                        <a16:creationId xmlns:a16="http://schemas.microsoft.com/office/drawing/2014/main" id="{E61F01CD-F39A-3C4A-8690-62BCE1185E9B}"/>
                      </a:ext>
                    </a:extLst>
                  </p:cNvPr>
                  <p:cNvSpPr>
                    <a:spLocks/>
                  </p:cNvSpPr>
                  <p:nvPr/>
                </p:nvSpPr>
                <p:spPr bwMode="auto">
                  <a:xfrm>
                    <a:off x="1455" y="2234"/>
                    <a:ext cx="837" cy="87"/>
                  </a:xfrm>
                  <a:custGeom>
                    <a:avLst/>
                    <a:gdLst>
                      <a:gd name="T0" fmla="*/ 14267733 w 591"/>
                      <a:gd name="T1" fmla="*/ 3 h 100"/>
                      <a:gd name="T2" fmla="*/ 14267733 w 591"/>
                      <a:gd name="T3" fmla="*/ 0 h 100"/>
                      <a:gd name="T4" fmla="*/ 0 w 591"/>
                      <a:gd name="T5" fmla="*/ 0 h 100"/>
                      <a:gd name="T6" fmla="*/ 0 w 591"/>
                      <a:gd name="T7" fmla="*/ 3 h 100"/>
                      <a:gd name="T8" fmla="*/ 14267733 w 591"/>
                      <a:gd name="T9" fmla="*/ 3 h 100"/>
                      <a:gd name="T10" fmla="*/ 14267733 w 591"/>
                      <a:gd name="T11" fmla="*/ 3 h 100"/>
                      <a:gd name="T12" fmla="*/ 0 60000 65536"/>
                      <a:gd name="T13" fmla="*/ 0 60000 65536"/>
                      <a:gd name="T14" fmla="*/ 0 60000 65536"/>
                      <a:gd name="T15" fmla="*/ 0 60000 65536"/>
                      <a:gd name="T16" fmla="*/ 0 60000 65536"/>
                      <a:gd name="T17" fmla="*/ 0 60000 65536"/>
                      <a:gd name="T18" fmla="*/ 0 w 591"/>
                      <a:gd name="T19" fmla="*/ 0 h 100"/>
                      <a:gd name="T20" fmla="*/ 591 w 5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1" h="100">
                        <a:moveTo>
                          <a:pt x="591" y="98"/>
                        </a:moveTo>
                        <a:lnTo>
                          <a:pt x="591" y="0"/>
                        </a:lnTo>
                        <a:lnTo>
                          <a:pt x="0" y="0"/>
                        </a:lnTo>
                        <a:lnTo>
                          <a:pt x="0" y="100"/>
                        </a:lnTo>
                        <a:lnTo>
                          <a:pt x="5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18" name="Freeform 117">
                    <a:extLst>
                      <a:ext uri="{FF2B5EF4-FFF2-40B4-BE49-F238E27FC236}">
                        <a16:creationId xmlns:a16="http://schemas.microsoft.com/office/drawing/2014/main" id="{B1B0CF05-B87D-D342-AFAB-DD83A7B64BD7}"/>
                      </a:ext>
                    </a:extLst>
                  </p:cNvPr>
                  <p:cNvSpPr>
                    <a:spLocks/>
                  </p:cNvSpPr>
                  <p:nvPr/>
                </p:nvSpPr>
                <p:spPr bwMode="auto">
                  <a:xfrm>
                    <a:off x="1455" y="2407"/>
                    <a:ext cx="837" cy="86"/>
                  </a:xfrm>
                  <a:custGeom>
                    <a:avLst/>
                    <a:gdLst>
                      <a:gd name="T0" fmla="*/ 14267733 w 591"/>
                      <a:gd name="T1" fmla="*/ 3 h 100"/>
                      <a:gd name="T2" fmla="*/ 14267733 w 591"/>
                      <a:gd name="T3" fmla="*/ 0 h 100"/>
                      <a:gd name="T4" fmla="*/ 0 w 591"/>
                      <a:gd name="T5" fmla="*/ 0 h 100"/>
                      <a:gd name="T6" fmla="*/ 0 w 591"/>
                      <a:gd name="T7" fmla="*/ 3 h 100"/>
                      <a:gd name="T8" fmla="*/ 14267733 w 591"/>
                      <a:gd name="T9" fmla="*/ 3 h 100"/>
                      <a:gd name="T10" fmla="*/ 14267733 w 591"/>
                      <a:gd name="T11" fmla="*/ 3 h 100"/>
                      <a:gd name="T12" fmla="*/ 0 60000 65536"/>
                      <a:gd name="T13" fmla="*/ 0 60000 65536"/>
                      <a:gd name="T14" fmla="*/ 0 60000 65536"/>
                      <a:gd name="T15" fmla="*/ 0 60000 65536"/>
                      <a:gd name="T16" fmla="*/ 0 60000 65536"/>
                      <a:gd name="T17" fmla="*/ 0 60000 65536"/>
                      <a:gd name="T18" fmla="*/ 0 w 591"/>
                      <a:gd name="T19" fmla="*/ 0 h 100"/>
                      <a:gd name="T20" fmla="*/ 591 w 5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1" h="100">
                        <a:moveTo>
                          <a:pt x="591" y="98"/>
                        </a:moveTo>
                        <a:lnTo>
                          <a:pt x="591" y="0"/>
                        </a:lnTo>
                        <a:lnTo>
                          <a:pt x="0" y="0"/>
                        </a:lnTo>
                        <a:lnTo>
                          <a:pt x="0" y="100"/>
                        </a:lnTo>
                        <a:lnTo>
                          <a:pt x="5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19" name="Freeform 118">
                    <a:extLst>
                      <a:ext uri="{FF2B5EF4-FFF2-40B4-BE49-F238E27FC236}">
                        <a16:creationId xmlns:a16="http://schemas.microsoft.com/office/drawing/2014/main" id="{96A2C2C3-26F8-C543-A773-2D2D5FC1A62A}"/>
                      </a:ext>
                    </a:extLst>
                  </p:cNvPr>
                  <p:cNvSpPr>
                    <a:spLocks/>
                  </p:cNvSpPr>
                  <p:nvPr/>
                </p:nvSpPr>
                <p:spPr bwMode="auto">
                  <a:xfrm>
                    <a:off x="1455" y="2580"/>
                    <a:ext cx="837" cy="86"/>
                  </a:xfrm>
                  <a:custGeom>
                    <a:avLst/>
                    <a:gdLst>
                      <a:gd name="T0" fmla="*/ 14267733 w 591"/>
                      <a:gd name="T1" fmla="*/ 3 h 100"/>
                      <a:gd name="T2" fmla="*/ 14267733 w 591"/>
                      <a:gd name="T3" fmla="*/ 0 h 100"/>
                      <a:gd name="T4" fmla="*/ 0 w 591"/>
                      <a:gd name="T5" fmla="*/ 0 h 100"/>
                      <a:gd name="T6" fmla="*/ 0 w 591"/>
                      <a:gd name="T7" fmla="*/ 3 h 100"/>
                      <a:gd name="T8" fmla="*/ 14267733 w 591"/>
                      <a:gd name="T9" fmla="*/ 3 h 100"/>
                      <a:gd name="T10" fmla="*/ 14267733 w 591"/>
                      <a:gd name="T11" fmla="*/ 3 h 100"/>
                      <a:gd name="T12" fmla="*/ 0 60000 65536"/>
                      <a:gd name="T13" fmla="*/ 0 60000 65536"/>
                      <a:gd name="T14" fmla="*/ 0 60000 65536"/>
                      <a:gd name="T15" fmla="*/ 0 60000 65536"/>
                      <a:gd name="T16" fmla="*/ 0 60000 65536"/>
                      <a:gd name="T17" fmla="*/ 0 60000 65536"/>
                      <a:gd name="T18" fmla="*/ 0 w 591"/>
                      <a:gd name="T19" fmla="*/ 0 h 100"/>
                      <a:gd name="T20" fmla="*/ 591 w 5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1" h="100">
                        <a:moveTo>
                          <a:pt x="591" y="98"/>
                        </a:moveTo>
                        <a:lnTo>
                          <a:pt x="591" y="0"/>
                        </a:lnTo>
                        <a:lnTo>
                          <a:pt x="0" y="0"/>
                        </a:lnTo>
                        <a:lnTo>
                          <a:pt x="0" y="100"/>
                        </a:lnTo>
                        <a:lnTo>
                          <a:pt x="5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20" name="Freeform 119">
                    <a:extLst>
                      <a:ext uri="{FF2B5EF4-FFF2-40B4-BE49-F238E27FC236}">
                        <a16:creationId xmlns:a16="http://schemas.microsoft.com/office/drawing/2014/main" id="{FFA11FF4-635F-B544-8FB9-7E81339F6800}"/>
                      </a:ext>
                    </a:extLst>
                  </p:cNvPr>
                  <p:cNvSpPr>
                    <a:spLocks/>
                  </p:cNvSpPr>
                  <p:nvPr/>
                </p:nvSpPr>
                <p:spPr bwMode="auto">
                  <a:xfrm>
                    <a:off x="1455" y="2148"/>
                    <a:ext cx="837" cy="86"/>
                  </a:xfrm>
                  <a:custGeom>
                    <a:avLst/>
                    <a:gdLst>
                      <a:gd name="T0" fmla="*/ 14267733 w 591"/>
                      <a:gd name="T1" fmla="*/ 3 h 100"/>
                      <a:gd name="T2" fmla="*/ 14267733 w 591"/>
                      <a:gd name="T3" fmla="*/ 0 h 100"/>
                      <a:gd name="T4" fmla="*/ 0 w 591"/>
                      <a:gd name="T5" fmla="*/ 0 h 100"/>
                      <a:gd name="T6" fmla="*/ 0 w 591"/>
                      <a:gd name="T7" fmla="*/ 3 h 100"/>
                      <a:gd name="T8" fmla="*/ 14267733 w 591"/>
                      <a:gd name="T9" fmla="*/ 3 h 100"/>
                      <a:gd name="T10" fmla="*/ 14267733 w 591"/>
                      <a:gd name="T11" fmla="*/ 3 h 100"/>
                      <a:gd name="T12" fmla="*/ 0 60000 65536"/>
                      <a:gd name="T13" fmla="*/ 0 60000 65536"/>
                      <a:gd name="T14" fmla="*/ 0 60000 65536"/>
                      <a:gd name="T15" fmla="*/ 0 60000 65536"/>
                      <a:gd name="T16" fmla="*/ 0 60000 65536"/>
                      <a:gd name="T17" fmla="*/ 0 60000 65536"/>
                      <a:gd name="T18" fmla="*/ 0 w 591"/>
                      <a:gd name="T19" fmla="*/ 0 h 100"/>
                      <a:gd name="T20" fmla="*/ 591 w 5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1" h="100">
                        <a:moveTo>
                          <a:pt x="591" y="98"/>
                        </a:moveTo>
                        <a:lnTo>
                          <a:pt x="591" y="0"/>
                        </a:lnTo>
                        <a:lnTo>
                          <a:pt x="0" y="0"/>
                        </a:lnTo>
                        <a:lnTo>
                          <a:pt x="0" y="100"/>
                        </a:lnTo>
                        <a:lnTo>
                          <a:pt x="591"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21" name="Freeform 120">
                    <a:extLst>
                      <a:ext uri="{FF2B5EF4-FFF2-40B4-BE49-F238E27FC236}">
                        <a16:creationId xmlns:a16="http://schemas.microsoft.com/office/drawing/2014/main" id="{44BF5F11-2777-A646-97FC-0F35BC6C4AEB}"/>
                      </a:ext>
                    </a:extLst>
                  </p:cNvPr>
                  <p:cNvSpPr>
                    <a:spLocks/>
                  </p:cNvSpPr>
                  <p:nvPr/>
                </p:nvSpPr>
                <p:spPr bwMode="auto">
                  <a:xfrm>
                    <a:off x="2685" y="2264"/>
                    <a:ext cx="52" cy="27"/>
                  </a:xfrm>
                  <a:custGeom>
                    <a:avLst/>
                    <a:gdLst>
                      <a:gd name="T0" fmla="*/ 340690 w 37"/>
                      <a:gd name="T1" fmla="*/ 3 h 32"/>
                      <a:gd name="T2" fmla="*/ 428103 w 37"/>
                      <a:gd name="T3" fmla="*/ 3 h 32"/>
                      <a:gd name="T4" fmla="*/ 466271 w 37"/>
                      <a:gd name="T5" fmla="*/ 3 h 32"/>
                      <a:gd name="T6" fmla="*/ 537220 w 37"/>
                      <a:gd name="T7" fmla="*/ 3 h 32"/>
                      <a:gd name="T8" fmla="*/ 601658 w 37"/>
                      <a:gd name="T9" fmla="*/ 3 h 32"/>
                      <a:gd name="T10" fmla="*/ 635398 w 37"/>
                      <a:gd name="T11" fmla="*/ 3 h 32"/>
                      <a:gd name="T12" fmla="*/ 635398 w 37"/>
                      <a:gd name="T13" fmla="*/ 3 h 32"/>
                      <a:gd name="T14" fmla="*/ 672919 w 37"/>
                      <a:gd name="T15" fmla="*/ 3 h 32"/>
                      <a:gd name="T16" fmla="*/ 718109 w 37"/>
                      <a:gd name="T17" fmla="*/ 3 h 32"/>
                      <a:gd name="T18" fmla="*/ 718109 w 37"/>
                      <a:gd name="T19" fmla="*/ 3 h 32"/>
                      <a:gd name="T20" fmla="*/ 718109 w 37"/>
                      <a:gd name="T21" fmla="*/ 3 h 32"/>
                      <a:gd name="T22" fmla="*/ 718109 w 37"/>
                      <a:gd name="T23" fmla="*/ 3 h 32"/>
                      <a:gd name="T24" fmla="*/ 718109 w 37"/>
                      <a:gd name="T25" fmla="*/ 3 h 32"/>
                      <a:gd name="T26" fmla="*/ 672919 w 37"/>
                      <a:gd name="T27" fmla="*/ 3 h 32"/>
                      <a:gd name="T28" fmla="*/ 635398 w 37"/>
                      <a:gd name="T29" fmla="*/ 3 h 32"/>
                      <a:gd name="T30" fmla="*/ 635398 w 37"/>
                      <a:gd name="T31" fmla="*/ 3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3 h 32"/>
                      <a:gd name="T52" fmla="*/ 97982 w 37"/>
                      <a:gd name="T53" fmla="*/ 3 h 32"/>
                      <a:gd name="T54" fmla="*/ 53262 w 37"/>
                      <a:gd name="T55" fmla="*/ 3 h 32"/>
                      <a:gd name="T56" fmla="*/ 53262 w 37"/>
                      <a:gd name="T57" fmla="*/ 3 h 32"/>
                      <a:gd name="T58" fmla="*/ 0 w 37"/>
                      <a:gd name="T59" fmla="*/ 3 h 32"/>
                      <a:gd name="T60" fmla="*/ 0 w 37"/>
                      <a:gd name="T61" fmla="*/ 3 h 32"/>
                      <a:gd name="T62" fmla="*/ 0 w 37"/>
                      <a:gd name="T63" fmla="*/ 3 h 32"/>
                      <a:gd name="T64" fmla="*/ 53262 w 37"/>
                      <a:gd name="T65" fmla="*/ 3 h 32"/>
                      <a:gd name="T66" fmla="*/ 53262 w 37"/>
                      <a:gd name="T67" fmla="*/ 3 h 32"/>
                      <a:gd name="T68" fmla="*/ 97982 w 37"/>
                      <a:gd name="T69" fmla="*/ 3 h 32"/>
                      <a:gd name="T70" fmla="*/ 137704 w 37"/>
                      <a:gd name="T71" fmla="*/ 3 h 32"/>
                      <a:gd name="T72" fmla="*/ 172487 w 37"/>
                      <a:gd name="T73" fmla="*/ 3 h 32"/>
                      <a:gd name="T74" fmla="*/ 207791 w 37"/>
                      <a:gd name="T75" fmla="*/ 3 h 32"/>
                      <a:gd name="T76" fmla="*/ 242414 w 37"/>
                      <a:gd name="T77" fmla="*/ 3 h 32"/>
                      <a:gd name="T78" fmla="*/ 304612 w 37"/>
                      <a:gd name="T79" fmla="*/ 3 h 32"/>
                      <a:gd name="T80" fmla="*/ 382253 w 37"/>
                      <a:gd name="T81" fmla="*/ 3 h 32"/>
                      <a:gd name="T82" fmla="*/ 382253 w 37"/>
                      <a:gd name="T83" fmla="*/ 3 h 32"/>
                      <a:gd name="T84" fmla="*/ 340690 w 37"/>
                      <a:gd name="T85" fmla="*/ 3 h 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2"/>
                      <a:gd name="T131" fmla="*/ 37 w 37"/>
                      <a:gd name="T132" fmla="*/ 32 h 3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lnTo>
                          <a:pt x="18" y="32"/>
                        </a:lnTo>
                        <a:close/>
                      </a:path>
                    </a:pathLst>
                  </a:custGeom>
                  <a:solidFill>
                    <a:srgbClr val="EB7500"/>
                  </a:solidFill>
                  <a:ln w="9525">
                    <a:solidFill>
                      <a:srgbClr val="FF6600"/>
                    </a:solidFill>
                    <a:round/>
                    <a:headEnd/>
                    <a:tailEnd/>
                  </a:ln>
                </p:spPr>
                <p:txBody>
                  <a:bodyPr/>
                  <a:lstStyle/>
                  <a:p>
                    <a:endParaRPr lang="zh-CN" altLang="en-US"/>
                  </a:p>
                </p:txBody>
              </p:sp>
              <p:sp>
                <p:nvSpPr>
                  <p:cNvPr id="234622" name="Freeform 121">
                    <a:extLst>
                      <a:ext uri="{FF2B5EF4-FFF2-40B4-BE49-F238E27FC236}">
                        <a16:creationId xmlns:a16="http://schemas.microsoft.com/office/drawing/2014/main" id="{3EAE5027-E024-5243-8DDC-310882D7BF09}"/>
                      </a:ext>
                    </a:extLst>
                  </p:cNvPr>
                  <p:cNvSpPr>
                    <a:spLocks/>
                  </p:cNvSpPr>
                  <p:nvPr/>
                </p:nvSpPr>
                <p:spPr bwMode="auto">
                  <a:xfrm>
                    <a:off x="2685" y="2264"/>
                    <a:ext cx="52" cy="27"/>
                  </a:xfrm>
                  <a:custGeom>
                    <a:avLst/>
                    <a:gdLst>
                      <a:gd name="T0" fmla="*/ 340690 w 37"/>
                      <a:gd name="T1" fmla="*/ 3 h 32"/>
                      <a:gd name="T2" fmla="*/ 428103 w 37"/>
                      <a:gd name="T3" fmla="*/ 3 h 32"/>
                      <a:gd name="T4" fmla="*/ 466271 w 37"/>
                      <a:gd name="T5" fmla="*/ 3 h 32"/>
                      <a:gd name="T6" fmla="*/ 537220 w 37"/>
                      <a:gd name="T7" fmla="*/ 3 h 32"/>
                      <a:gd name="T8" fmla="*/ 601658 w 37"/>
                      <a:gd name="T9" fmla="*/ 3 h 32"/>
                      <a:gd name="T10" fmla="*/ 635398 w 37"/>
                      <a:gd name="T11" fmla="*/ 3 h 32"/>
                      <a:gd name="T12" fmla="*/ 635398 w 37"/>
                      <a:gd name="T13" fmla="*/ 3 h 32"/>
                      <a:gd name="T14" fmla="*/ 672919 w 37"/>
                      <a:gd name="T15" fmla="*/ 3 h 32"/>
                      <a:gd name="T16" fmla="*/ 718109 w 37"/>
                      <a:gd name="T17" fmla="*/ 3 h 32"/>
                      <a:gd name="T18" fmla="*/ 718109 w 37"/>
                      <a:gd name="T19" fmla="*/ 3 h 32"/>
                      <a:gd name="T20" fmla="*/ 718109 w 37"/>
                      <a:gd name="T21" fmla="*/ 3 h 32"/>
                      <a:gd name="T22" fmla="*/ 718109 w 37"/>
                      <a:gd name="T23" fmla="*/ 3 h 32"/>
                      <a:gd name="T24" fmla="*/ 718109 w 37"/>
                      <a:gd name="T25" fmla="*/ 3 h 32"/>
                      <a:gd name="T26" fmla="*/ 672919 w 37"/>
                      <a:gd name="T27" fmla="*/ 3 h 32"/>
                      <a:gd name="T28" fmla="*/ 635398 w 37"/>
                      <a:gd name="T29" fmla="*/ 3 h 32"/>
                      <a:gd name="T30" fmla="*/ 635398 w 37"/>
                      <a:gd name="T31" fmla="*/ 3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3 h 32"/>
                      <a:gd name="T52" fmla="*/ 97982 w 37"/>
                      <a:gd name="T53" fmla="*/ 3 h 32"/>
                      <a:gd name="T54" fmla="*/ 53262 w 37"/>
                      <a:gd name="T55" fmla="*/ 3 h 32"/>
                      <a:gd name="T56" fmla="*/ 53262 w 37"/>
                      <a:gd name="T57" fmla="*/ 3 h 32"/>
                      <a:gd name="T58" fmla="*/ 0 w 37"/>
                      <a:gd name="T59" fmla="*/ 3 h 32"/>
                      <a:gd name="T60" fmla="*/ 0 w 37"/>
                      <a:gd name="T61" fmla="*/ 3 h 32"/>
                      <a:gd name="T62" fmla="*/ 0 w 37"/>
                      <a:gd name="T63" fmla="*/ 3 h 32"/>
                      <a:gd name="T64" fmla="*/ 53262 w 37"/>
                      <a:gd name="T65" fmla="*/ 3 h 32"/>
                      <a:gd name="T66" fmla="*/ 53262 w 37"/>
                      <a:gd name="T67" fmla="*/ 3 h 32"/>
                      <a:gd name="T68" fmla="*/ 97982 w 37"/>
                      <a:gd name="T69" fmla="*/ 3 h 32"/>
                      <a:gd name="T70" fmla="*/ 137704 w 37"/>
                      <a:gd name="T71" fmla="*/ 3 h 32"/>
                      <a:gd name="T72" fmla="*/ 172487 w 37"/>
                      <a:gd name="T73" fmla="*/ 3 h 32"/>
                      <a:gd name="T74" fmla="*/ 207791 w 37"/>
                      <a:gd name="T75" fmla="*/ 3 h 32"/>
                      <a:gd name="T76" fmla="*/ 242414 w 37"/>
                      <a:gd name="T77" fmla="*/ 3 h 32"/>
                      <a:gd name="T78" fmla="*/ 304612 w 37"/>
                      <a:gd name="T79" fmla="*/ 3 h 32"/>
                      <a:gd name="T80" fmla="*/ 382253 w 37"/>
                      <a:gd name="T81" fmla="*/ 3 h 32"/>
                      <a:gd name="T82" fmla="*/ 382253 w 37"/>
                      <a:gd name="T83" fmla="*/ 3 h 3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7"/>
                      <a:gd name="T127" fmla="*/ 0 h 32"/>
                      <a:gd name="T128" fmla="*/ 37 w 37"/>
                      <a:gd name="T129" fmla="*/ 32 h 3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path>
                    </a:pathLst>
                  </a:custGeom>
                  <a:noFill/>
                  <a:ln w="31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23" name="Freeform 122">
                    <a:extLst>
                      <a:ext uri="{FF2B5EF4-FFF2-40B4-BE49-F238E27FC236}">
                        <a16:creationId xmlns:a16="http://schemas.microsoft.com/office/drawing/2014/main" id="{E76636AC-2CB9-8B49-B0E2-B0F63C956380}"/>
                      </a:ext>
                    </a:extLst>
                  </p:cNvPr>
                  <p:cNvSpPr>
                    <a:spLocks/>
                  </p:cNvSpPr>
                  <p:nvPr/>
                </p:nvSpPr>
                <p:spPr bwMode="auto">
                  <a:xfrm>
                    <a:off x="2685" y="2436"/>
                    <a:ext cx="52" cy="28"/>
                  </a:xfrm>
                  <a:custGeom>
                    <a:avLst/>
                    <a:gdLst>
                      <a:gd name="T0" fmla="*/ 340690 w 37"/>
                      <a:gd name="T1" fmla="*/ 4 h 32"/>
                      <a:gd name="T2" fmla="*/ 428103 w 37"/>
                      <a:gd name="T3" fmla="*/ 4 h 32"/>
                      <a:gd name="T4" fmla="*/ 466271 w 37"/>
                      <a:gd name="T5" fmla="*/ 4 h 32"/>
                      <a:gd name="T6" fmla="*/ 537220 w 37"/>
                      <a:gd name="T7" fmla="*/ 4 h 32"/>
                      <a:gd name="T8" fmla="*/ 601658 w 37"/>
                      <a:gd name="T9" fmla="*/ 4 h 32"/>
                      <a:gd name="T10" fmla="*/ 635398 w 37"/>
                      <a:gd name="T11" fmla="*/ 4 h 32"/>
                      <a:gd name="T12" fmla="*/ 635398 w 37"/>
                      <a:gd name="T13" fmla="*/ 4 h 32"/>
                      <a:gd name="T14" fmla="*/ 672919 w 37"/>
                      <a:gd name="T15" fmla="*/ 4 h 32"/>
                      <a:gd name="T16" fmla="*/ 718109 w 37"/>
                      <a:gd name="T17" fmla="*/ 4 h 32"/>
                      <a:gd name="T18" fmla="*/ 718109 w 37"/>
                      <a:gd name="T19" fmla="*/ 4 h 32"/>
                      <a:gd name="T20" fmla="*/ 718109 w 37"/>
                      <a:gd name="T21" fmla="*/ 4 h 32"/>
                      <a:gd name="T22" fmla="*/ 718109 w 37"/>
                      <a:gd name="T23" fmla="*/ 4 h 32"/>
                      <a:gd name="T24" fmla="*/ 718109 w 37"/>
                      <a:gd name="T25" fmla="*/ 4 h 32"/>
                      <a:gd name="T26" fmla="*/ 672919 w 37"/>
                      <a:gd name="T27" fmla="*/ 4 h 32"/>
                      <a:gd name="T28" fmla="*/ 635398 w 37"/>
                      <a:gd name="T29" fmla="*/ 4 h 32"/>
                      <a:gd name="T30" fmla="*/ 635398 w 37"/>
                      <a:gd name="T31" fmla="*/ 4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4 h 32"/>
                      <a:gd name="T52" fmla="*/ 97982 w 37"/>
                      <a:gd name="T53" fmla="*/ 4 h 32"/>
                      <a:gd name="T54" fmla="*/ 53262 w 37"/>
                      <a:gd name="T55" fmla="*/ 4 h 32"/>
                      <a:gd name="T56" fmla="*/ 53262 w 37"/>
                      <a:gd name="T57" fmla="*/ 4 h 32"/>
                      <a:gd name="T58" fmla="*/ 0 w 37"/>
                      <a:gd name="T59" fmla="*/ 4 h 32"/>
                      <a:gd name="T60" fmla="*/ 0 w 37"/>
                      <a:gd name="T61" fmla="*/ 4 h 32"/>
                      <a:gd name="T62" fmla="*/ 0 w 37"/>
                      <a:gd name="T63" fmla="*/ 4 h 32"/>
                      <a:gd name="T64" fmla="*/ 53262 w 37"/>
                      <a:gd name="T65" fmla="*/ 4 h 32"/>
                      <a:gd name="T66" fmla="*/ 53262 w 37"/>
                      <a:gd name="T67" fmla="*/ 4 h 32"/>
                      <a:gd name="T68" fmla="*/ 97982 w 37"/>
                      <a:gd name="T69" fmla="*/ 4 h 32"/>
                      <a:gd name="T70" fmla="*/ 137704 w 37"/>
                      <a:gd name="T71" fmla="*/ 4 h 32"/>
                      <a:gd name="T72" fmla="*/ 172487 w 37"/>
                      <a:gd name="T73" fmla="*/ 4 h 32"/>
                      <a:gd name="T74" fmla="*/ 207791 w 37"/>
                      <a:gd name="T75" fmla="*/ 4 h 32"/>
                      <a:gd name="T76" fmla="*/ 242414 w 37"/>
                      <a:gd name="T77" fmla="*/ 4 h 32"/>
                      <a:gd name="T78" fmla="*/ 304612 w 37"/>
                      <a:gd name="T79" fmla="*/ 4 h 32"/>
                      <a:gd name="T80" fmla="*/ 382253 w 37"/>
                      <a:gd name="T81" fmla="*/ 4 h 32"/>
                      <a:gd name="T82" fmla="*/ 382253 w 37"/>
                      <a:gd name="T83" fmla="*/ 4 h 32"/>
                      <a:gd name="T84" fmla="*/ 340690 w 37"/>
                      <a:gd name="T85" fmla="*/ 4 h 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2"/>
                      <a:gd name="T131" fmla="*/ 37 w 37"/>
                      <a:gd name="T132" fmla="*/ 32 h 3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lnTo>
                          <a:pt x="18" y="32"/>
                        </a:lnTo>
                        <a:close/>
                      </a:path>
                    </a:pathLst>
                  </a:custGeom>
                  <a:solidFill>
                    <a:srgbClr val="EB7500"/>
                  </a:solidFill>
                  <a:ln w="9525">
                    <a:solidFill>
                      <a:srgbClr val="FF6600"/>
                    </a:solidFill>
                    <a:round/>
                    <a:headEnd/>
                    <a:tailEnd/>
                  </a:ln>
                </p:spPr>
                <p:txBody>
                  <a:bodyPr/>
                  <a:lstStyle/>
                  <a:p>
                    <a:endParaRPr lang="zh-CN" altLang="en-US"/>
                  </a:p>
                </p:txBody>
              </p:sp>
              <p:sp>
                <p:nvSpPr>
                  <p:cNvPr id="234624" name="Freeform 123">
                    <a:extLst>
                      <a:ext uri="{FF2B5EF4-FFF2-40B4-BE49-F238E27FC236}">
                        <a16:creationId xmlns:a16="http://schemas.microsoft.com/office/drawing/2014/main" id="{F2CCF6B3-9EC8-0C41-88E8-7F3789BC889F}"/>
                      </a:ext>
                    </a:extLst>
                  </p:cNvPr>
                  <p:cNvSpPr>
                    <a:spLocks/>
                  </p:cNvSpPr>
                  <p:nvPr/>
                </p:nvSpPr>
                <p:spPr bwMode="auto">
                  <a:xfrm>
                    <a:off x="2685" y="2436"/>
                    <a:ext cx="52" cy="28"/>
                  </a:xfrm>
                  <a:custGeom>
                    <a:avLst/>
                    <a:gdLst>
                      <a:gd name="T0" fmla="*/ 340690 w 37"/>
                      <a:gd name="T1" fmla="*/ 4 h 32"/>
                      <a:gd name="T2" fmla="*/ 428103 w 37"/>
                      <a:gd name="T3" fmla="*/ 4 h 32"/>
                      <a:gd name="T4" fmla="*/ 466271 w 37"/>
                      <a:gd name="T5" fmla="*/ 4 h 32"/>
                      <a:gd name="T6" fmla="*/ 537220 w 37"/>
                      <a:gd name="T7" fmla="*/ 4 h 32"/>
                      <a:gd name="T8" fmla="*/ 601658 w 37"/>
                      <a:gd name="T9" fmla="*/ 4 h 32"/>
                      <a:gd name="T10" fmla="*/ 635398 w 37"/>
                      <a:gd name="T11" fmla="*/ 4 h 32"/>
                      <a:gd name="T12" fmla="*/ 635398 w 37"/>
                      <a:gd name="T13" fmla="*/ 4 h 32"/>
                      <a:gd name="T14" fmla="*/ 672919 w 37"/>
                      <a:gd name="T15" fmla="*/ 4 h 32"/>
                      <a:gd name="T16" fmla="*/ 718109 w 37"/>
                      <a:gd name="T17" fmla="*/ 4 h 32"/>
                      <a:gd name="T18" fmla="*/ 718109 w 37"/>
                      <a:gd name="T19" fmla="*/ 4 h 32"/>
                      <a:gd name="T20" fmla="*/ 718109 w 37"/>
                      <a:gd name="T21" fmla="*/ 4 h 32"/>
                      <a:gd name="T22" fmla="*/ 718109 w 37"/>
                      <a:gd name="T23" fmla="*/ 4 h 32"/>
                      <a:gd name="T24" fmla="*/ 718109 w 37"/>
                      <a:gd name="T25" fmla="*/ 4 h 32"/>
                      <a:gd name="T26" fmla="*/ 672919 w 37"/>
                      <a:gd name="T27" fmla="*/ 4 h 32"/>
                      <a:gd name="T28" fmla="*/ 635398 w 37"/>
                      <a:gd name="T29" fmla="*/ 4 h 32"/>
                      <a:gd name="T30" fmla="*/ 635398 w 37"/>
                      <a:gd name="T31" fmla="*/ 4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4 h 32"/>
                      <a:gd name="T52" fmla="*/ 97982 w 37"/>
                      <a:gd name="T53" fmla="*/ 4 h 32"/>
                      <a:gd name="T54" fmla="*/ 53262 w 37"/>
                      <a:gd name="T55" fmla="*/ 4 h 32"/>
                      <a:gd name="T56" fmla="*/ 53262 w 37"/>
                      <a:gd name="T57" fmla="*/ 4 h 32"/>
                      <a:gd name="T58" fmla="*/ 0 w 37"/>
                      <a:gd name="T59" fmla="*/ 4 h 32"/>
                      <a:gd name="T60" fmla="*/ 0 w 37"/>
                      <a:gd name="T61" fmla="*/ 4 h 32"/>
                      <a:gd name="T62" fmla="*/ 0 w 37"/>
                      <a:gd name="T63" fmla="*/ 4 h 32"/>
                      <a:gd name="T64" fmla="*/ 53262 w 37"/>
                      <a:gd name="T65" fmla="*/ 4 h 32"/>
                      <a:gd name="T66" fmla="*/ 53262 w 37"/>
                      <a:gd name="T67" fmla="*/ 4 h 32"/>
                      <a:gd name="T68" fmla="*/ 97982 w 37"/>
                      <a:gd name="T69" fmla="*/ 4 h 32"/>
                      <a:gd name="T70" fmla="*/ 137704 w 37"/>
                      <a:gd name="T71" fmla="*/ 4 h 32"/>
                      <a:gd name="T72" fmla="*/ 172487 w 37"/>
                      <a:gd name="T73" fmla="*/ 4 h 32"/>
                      <a:gd name="T74" fmla="*/ 207791 w 37"/>
                      <a:gd name="T75" fmla="*/ 4 h 32"/>
                      <a:gd name="T76" fmla="*/ 242414 w 37"/>
                      <a:gd name="T77" fmla="*/ 4 h 32"/>
                      <a:gd name="T78" fmla="*/ 304612 w 37"/>
                      <a:gd name="T79" fmla="*/ 4 h 32"/>
                      <a:gd name="T80" fmla="*/ 382253 w 37"/>
                      <a:gd name="T81" fmla="*/ 4 h 32"/>
                      <a:gd name="T82" fmla="*/ 382253 w 37"/>
                      <a:gd name="T83" fmla="*/ 4 h 3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7"/>
                      <a:gd name="T127" fmla="*/ 0 h 32"/>
                      <a:gd name="T128" fmla="*/ 37 w 37"/>
                      <a:gd name="T129" fmla="*/ 32 h 3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path>
                    </a:pathLst>
                  </a:custGeom>
                  <a:noFill/>
                  <a:ln w="31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25" name="Freeform 124">
                    <a:extLst>
                      <a:ext uri="{FF2B5EF4-FFF2-40B4-BE49-F238E27FC236}">
                        <a16:creationId xmlns:a16="http://schemas.microsoft.com/office/drawing/2014/main" id="{3B15B13B-07B5-BA42-AFA7-AD112443B667}"/>
                      </a:ext>
                    </a:extLst>
                  </p:cNvPr>
                  <p:cNvSpPr>
                    <a:spLocks/>
                  </p:cNvSpPr>
                  <p:nvPr/>
                </p:nvSpPr>
                <p:spPr bwMode="auto">
                  <a:xfrm>
                    <a:off x="2685" y="2522"/>
                    <a:ext cx="52" cy="29"/>
                  </a:xfrm>
                  <a:custGeom>
                    <a:avLst/>
                    <a:gdLst>
                      <a:gd name="T0" fmla="*/ 340690 w 37"/>
                      <a:gd name="T1" fmla="*/ 4 h 33"/>
                      <a:gd name="T2" fmla="*/ 428103 w 37"/>
                      <a:gd name="T3" fmla="*/ 4 h 33"/>
                      <a:gd name="T4" fmla="*/ 466271 w 37"/>
                      <a:gd name="T5" fmla="*/ 4 h 33"/>
                      <a:gd name="T6" fmla="*/ 537220 w 37"/>
                      <a:gd name="T7" fmla="*/ 4 h 33"/>
                      <a:gd name="T8" fmla="*/ 601658 w 37"/>
                      <a:gd name="T9" fmla="*/ 4 h 33"/>
                      <a:gd name="T10" fmla="*/ 635398 w 37"/>
                      <a:gd name="T11" fmla="*/ 4 h 33"/>
                      <a:gd name="T12" fmla="*/ 635398 w 37"/>
                      <a:gd name="T13" fmla="*/ 4 h 33"/>
                      <a:gd name="T14" fmla="*/ 672919 w 37"/>
                      <a:gd name="T15" fmla="*/ 4 h 33"/>
                      <a:gd name="T16" fmla="*/ 718109 w 37"/>
                      <a:gd name="T17" fmla="*/ 4 h 33"/>
                      <a:gd name="T18" fmla="*/ 718109 w 37"/>
                      <a:gd name="T19" fmla="*/ 4 h 33"/>
                      <a:gd name="T20" fmla="*/ 718109 w 37"/>
                      <a:gd name="T21" fmla="*/ 4 h 33"/>
                      <a:gd name="T22" fmla="*/ 718109 w 37"/>
                      <a:gd name="T23" fmla="*/ 4 h 33"/>
                      <a:gd name="T24" fmla="*/ 718109 w 37"/>
                      <a:gd name="T25" fmla="*/ 4 h 33"/>
                      <a:gd name="T26" fmla="*/ 672919 w 37"/>
                      <a:gd name="T27" fmla="*/ 4 h 33"/>
                      <a:gd name="T28" fmla="*/ 635398 w 37"/>
                      <a:gd name="T29" fmla="*/ 4 h 33"/>
                      <a:gd name="T30" fmla="*/ 635398 w 37"/>
                      <a:gd name="T31" fmla="*/ 4 h 33"/>
                      <a:gd name="T32" fmla="*/ 601658 w 37"/>
                      <a:gd name="T33" fmla="*/ 2 h 33"/>
                      <a:gd name="T34" fmla="*/ 537220 w 37"/>
                      <a:gd name="T35" fmla="*/ 0 h 33"/>
                      <a:gd name="T36" fmla="*/ 466271 w 37"/>
                      <a:gd name="T37" fmla="*/ 0 h 33"/>
                      <a:gd name="T38" fmla="*/ 428103 w 37"/>
                      <a:gd name="T39" fmla="*/ 0 h 33"/>
                      <a:gd name="T40" fmla="*/ 382253 w 37"/>
                      <a:gd name="T41" fmla="*/ 0 h 33"/>
                      <a:gd name="T42" fmla="*/ 304612 w 37"/>
                      <a:gd name="T43" fmla="*/ 0 h 33"/>
                      <a:gd name="T44" fmla="*/ 242414 w 37"/>
                      <a:gd name="T45" fmla="*/ 0 h 33"/>
                      <a:gd name="T46" fmla="*/ 207791 w 37"/>
                      <a:gd name="T47" fmla="*/ 0 h 33"/>
                      <a:gd name="T48" fmla="*/ 172487 w 37"/>
                      <a:gd name="T49" fmla="*/ 2 h 33"/>
                      <a:gd name="T50" fmla="*/ 137704 w 37"/>
                      <a:gd name="T51" fmla="*/ 4 h 33"/>
                      <a:gd name="T52" fmla="*/ 97982 w 37"/>
                      <a:gd name="T53" fmla="*/ 4 h 33"/>
                      <a:gd name="T54" fmla="*/ 53262 w 37"/>
                      <a:gd name="T55" fmla="*/ 4 h 33"/>
                      <a:gd name="T56" fmla="*/ 53262 w 37"/>
                      <a:gd name="T57" fmla="*/ 4 h 33"/>
                      <a:gd name="T58" fmla="*/ 0 w 37"/>
                      <a:gd name="T59" fmla="*/ 4 h 33"/>
                      <a:gd name="T60" fmla="*/ 0 w 37"/>
                      <a:gd name="T61" fmla="*/ 4 h 33"/>
                      <a:gd name="T62" fmla="*/ 0 w 37"/>
                      <a:gd name="T63" fmla="*/ 4 h 33"/>
                      <a:gd name="T64" fmla="*/ 53262 w 37"/>
                      <a:gd name="T65" fmla="*/ 4 h 33"/>
                      <a:gd name="T66" fmla="*/ 53262 w 37"/>
                      <a:gd name="T67" fmla="*/ 4 h 33"/>
                      <a:gd name="T68" fmla="*/ 97982 w 37"/>
                      <a:gd name="T69" fmla="*/ 4 h 33"/>
                      <a:gd name="T70" fmla="*/ 137704 w 37"/>
                      <a:gd name="T71" fmla="*/ 4 h 33"/>
                      <a:gd name="T72" fmla="*/ 172487 w 37"/>
                      <a:gd name="T73" fmla="*/ 4 h 33"/>
                      <a:gd name="T74" fmla="*/ 207791 w 37"/>
                      <a:gd name="T75" fmla="*/ 4 h 33"/>
                      <a:gd name="T76" fmla="*/ 242414 w 37"/>
                      <a:gd name="T77" fmla="*/ 4 h 33"/>
                      <a:gd name="T78" fmla="*/ 304612 w 37"/>
                      <a:gd name="T79" fmla="*/ 4 h 33"/>
                      <a:gd name="T80" fmla="*/ 382253 w 37"/>
                      <a:gd name="T81" fmla="*/ 4 h 33"/>
                      <a:gd name="T82" fmla="*/ 382253 w 37"/>
                      <a:gd name="T83" fmla="*/ 4 h 33"/>
                      <a:gd name="T84" fmla="*/ 340690 w 37"/>
                      <a:gd name="T85" fmla="*/ 4 h 3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3"/>
                      <a:gd name="T131" fmla="*/ 37 w 37"/>
                      <a:gd name="T132" fmla="*/ 33 h 3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3">
                        <a:moveTo>
                          <a:pt x="18" y="33"/>
                        </a:moveTo>
                        <a:lnTo>
                          <a:pt x="22" y="33"/>
                        </a:lnTo>
                        <a:lnTo>
                          <a:pt x="24" y="33"/>
                        </a:lnTo>
                        <a:lnTo>
                          <a:pt x="28" y="31"/>
                        </a:lnTo>
                        <a:lnTo>
                          <a:pt x="31" y="31"/>
                        </a:lnTo>
                        <a:lnTo>
                          <a:pt x="33" y="29"/>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9"/>
                        </a:lnTo>
                        <a:lnTo>
                          <a:pt x="9" y="31"/>
                        </a:lnTo>
                        <a:lnTo>
                          <a:pt x="11" y="31"/>
                        </a:lnTo>
                        <a:lnTo>
                          <a:pt x="13" y="33"/>
                        </a:lnTo>
                        <a:lnTo>
                          <a:pt x="16" y="33"/>
                        </a:lnTo>
                        <a:lnTo>
                          <a:pt x="20" y="33"/>
                        </a:lnTo>
                        <a:lnTo>
                          <a:pt x="18" y="33"/>
                        </a:lnTo>
                        <a:close/>
                      </a:path>
                    </a:pathLst>
                  </a:custGeom>
                  <a:solidFill>
                    <a:srgbClr val="EB7500"/>
                  </a:solidFill>
                  <a:ln w="9525">
                    <a:solidFill>
                      <a:srgbClr val="FF6600"/>
                    </a:solidFill>
                    <a:round/>
                    <a:headEnd/>
                    <a:tailEnd/>
                  </a:ln>
                </p:spPr>
                <p:txBody>
                  <a:bodyPr/>
                  <a:lstStyle/>
                  <a:p>
                    <a:endParaRPr lang="zh-CN" altLang="en-US"/>
                  </a:p>
                </p:txBody>
              </p:sp>
              <p:sp>
                <p:nvSpPr>
                  <p:cNvPr id="234626" name="Freeform 125">
                    <a:extLst>
                      <a:ext uri="{FF2B5EF4-FFF2-40B4-BE49-F238E27FC236}">
                        <a16:creationId xmlns:a16="http://schemas.microsoft.com/office/drawing/2014/main" id="{FBAF2B5F-50F3-9C46-A8C5-83D0FFF398CD}"/>
                      </a:ext>
                    </a:extLst>
                  </p:cNvPr>
                  <p:cNvSpPr>
                    <a:spLocks/>
                  </p:cNvSpPr>
                  <p:nvPr/>
                </p:nvSpPr>
                <p:spPr bwMode="auto">
                  <a:xfrm>
                    <a:off x="2685" y="2522"/>
                    <a:ext cx="52" cy="29"/>
                  </a:xfrm>
                  <a:custGeom>
                    <a:avLst/>
                    <a:gdLst>
                      <a:gd name="T0" fmla="*/ 340690 w 37"/>
                      <a:gd name="T1" fmla="*/ 4 h 33"/>
                      <a:gd name="T2" fmla="*/ 428103 w 37"/>
                      <a:gd name="T3" fmla="*/ 4 h 33"/>
                      <a:gd name="T4" fmla="*/ 466271 w 37"/>
                      <a:gd name="T5" fmla="*/ 4 h 33"/>
                      <a:gd name="T6" fmla="*/ 537220 w 37"/>
                      <a:gd name="T7" fmla="*/ 4 h 33"/>
                      <a:gd name="T8" fmla="*/ 601658 w 37"/>
                      <a:gd name="T9" fmla="*/ 4 h 33"/>
                      <a:gd name="T10" fmla="*/ 635398 w 37"/>
                      <a:gd name="T11" fmla="*/ 4 h 33"/>
                      <a:gd name="T12" fmla="*/ 635398 w 37"/>
                      <a:gd name="T13" fmla="*/ 4 h 33"/>
                      <a:gd name="T14" fmla="*/ 672919 w 37"/>
                      <a:gd name="T15" fmla="*/ 4 h 33"/>
                      <a:gd name="T16" fmla="*/ 718109 w 37"/>
                      <a:gd name="T17" fmla="*/ 4 h 33"/>
                      <a:gd name="T18" fmla="*/ 718109 w 37"/>
                      <a:gd name="T19" fmla="*/ 4 h 33"/>
                      <a:gd name="T20" fmla="*/ 718109 w 37"/>
                      <a:gd name="T21" fmla="*/ 4 h 33"/>
                      <a:gd name="T22" fmla="*/ 718109 w 37"/>
                      <a:gd name="T23" fmla="*/ 4 h 33"/>
                      <a:gd name="T24" fmla="*/ 718109 w 37"/>
                      <a:gd name="T25" fmla="*/ 4 h 33"/>
                      <a:gd name="T26" fmla="*/ 672919 w 37"/>
                      <a:gd name="T27" fmla="*/ 4 h 33"/>
                      <a:gd name="T28" fmla="*/ 635398 w 37"/>
                      <a:gd name="T29" fmla="*/ 4 h 33"/>
                      <a:gd name="T30" fmla="*/ 635398 w 37"/>
                      <a:gd name="T31" fmla="*/ 4 h 33"/>
                      <a:gd name="T32" fmla="*/ 601658 w 37"/>
                      <a:gd name="T33" fmla="*/ 2 h 33"/>
                      <a:gd name="T34" fmla="*/ 537220 w 37"/>
                      <a:gd name="T35" fmla="*/ 0 h 33"/>
                      <a:gd name="T36" fmla="*/ 466271 w 37"/>
                      <a:gd name="T37" fmla="*/ 0 h 33"/>
                      <a:gd name="T38" fmla="*/ 428103 w 37"/>
                      <a:gd name="T39" fmla="*/ 0 h 33"/>
                      <a:gd name="T40" fmla="*/ 382253 w 37"/>
                      <a:gd name="T41" fmla="*/ 0 h 33"/>
                      <a:gd name="T42" fmla="*/ 304612 w 37"/>
                      <a:gd name="T43" fmla="*/ 0 h 33"/>
                      <a:gd name="T44" fmla="*/ 242414 w 37"/>
                      <a:gd name="T45" fmla="*/ 0 h 33"/>
                      <a:gd name="T46" fmla="*/ 207791 w 37"/>
                      <a:gd name="T47" fmla="*/ 0 h 33"/>
                      <a:gd name="T48" fmla="*/ 172487 w 37"/>
                      <a:gd name="T49" fmla="*/ 2 h 33"/>
                      <a:gd name="T50" fmla="*/ 137704 w 37"/>
                      <a:gd name="T51" fmla="*/ 4 h 33"/>
                      <a:gd name="T52" fmla="*/ 97982 w 37"/>
                      <a:gd name="T53" fmla="*/ 4 h 33"/>
                      <a:gd name="T54" fmla="*/ 53262 w 37"/>
                      <a:gd name="T55" fmla="*/ 4 h 33"/>
                      <a:gd name="T56" fmla="*/ 53262 w 37"/>
                      <a:gd name="T57" fmla="*/ 4 h 33"/>
                      <a:gd name="T58" fmla="*/ 0 w 37"/>
                      <a:gd name="T59" fmla="*/ 4 h 33"/>
                      <a:gd name="T60" fmla="*/ 0 w 37"/>
                      <a:gd name="T61" fmla="*/ 4 h 33"/>
                      <a:gd name="T62" fmla="*/ 0 w 37"/>
                      <a:gd name="T63" fmla="*/ 4 h 33"/>
                      <a:gd name="T64" fmla="*/ 53262 w 37"/>
                      <a:gd name="T65" fmla="*/ 4 h 33"/>
                      <a:gd name="T66" fmla="*/ 53262 w 37"/>
                      <a:gd name="T67" fmla="*/ 4 h 33"/>
                      <a:gd name="T68" fmla="*/ 97982 w 37"/>
                      <a:gd name="T69" fmla="*/ 4 h 33"/>
                      <a:gd name="T70" fmla="*/ 137704 w 37"/>
                      <a:gd name="T71" fmla="*/ 4 h 33"/>
                      <a:gd name="T72" fmla="*/ 172487 w 37"/>
                      <a:gd name="T73" fmla="*/ 4 h 33"/>
                      <a:gd name="T74" fmla="*/ 207791 w 37"/>
                      <a:gd name="T75" fmla="*/ 4 h 33"/>
                      <a:gd name="T76" fmla="*/ 242414 w 37"/>
                      <a:gd name="T77" fmla="*/ 4 h 33"/>
                      <a:gd name="T78" fmla="*/ 304612 w 37"/>
                      <a:gd name="T79" fmla="*/ 4 h 33"/>
                      <a:gd name="T80" fmla="*/ 382253 w 37"/>
                      <a:gd name="T81" fmla="*/ 4 h 33"/>
                      <a:gd name="T82" fmla="*/ 382253 w 37"/>
                      <a:gd name="T83" fmla="*/ 4 h 3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7"/>
                      <a:gd name="T127" fmla="*/ 0 h 33"/>
                      <a:gd name="T128" fmla="*/ 37 w 37"/>
                      <a:gd name="T129" fmla="*/ 33 h 3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7" h="33">
                        <a:moveTo>
                          <a:pt x="18" y="33"/>
                        </a:moveTo>
                        <a:lnTo>
                          <a:pt x="22" y="33"/>
                        </a:lnTo>
                        <a:lnTo>
                          <a:pt x="24" y="33"/>
                        </a:lnTo>
                        <a:lnTo>
                          <a:pt x="28" y="31"/>
                        </a:lnTo>
                        <a:lnTo>
                          <a:pt x="31" y="31"/>
                        </a:lnTo>
                        <a:lnTo>
                          <a:pt x="33" y="29"/>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9"/>
                        </a:lnTo>
                        <a:lnTo>
                          <a:pt x="9" y="31"/>
                        </a:lnTo>
                        <a:lnTo>
                          <a:pt x="11" y="31"/>
                        </a:lnTo>
                        <a:lnTo>
                          <a:pt x="13" y="33"/>
                        </a:lnTo>
                        <a:lnTo>
                          <a:pt x="16" y="33"/>
                        </a:lnTo>
                        <a:lnTo>
                          <a:pt x="20" y="33"/>
                        </a:lnTo>
                      </a:path>
                    </a:pathLst>
                  </a:custGeom>
                  <a:noFill/>
                  <a:ln w="31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27" name="Freeform 126">
                    <a:extLst>
                      <a:ext uri="{FF2B5EF4-FFF2-40B4-BE49-F238E27FC236}">
                        <a16:creationId xmlns:a16="http://schemas.microsoft.com/office/drawing/2014/main" id="{6CBB6CAD-F504-6E46-8C86-974AE56E2D02}"/>
                      </a:ext>
                    </a:extLst>
                  </p:cNvPr>
                  <p:cNvSpPr>
                    <a:spLocks/>
                  </p:cNvSpPr>
                  <p:nvPr/>
                </p:nvSpPr>
                <p:spPr bwMode="auto">
                  <a:xfrm>
                    <a:off x="2685" y="2696"/>
                    <a:ext cx="52" cy="27"/>
                  </a:xfrm>
                  <a:custGeom>
                    <a:avLst/>
                    <a:gdLst>
                      <a:gd name="T0" fmla="*/ 340690 w 37"/>
                      <a:gd name="T1" fmla="*/ 3 h 32"/>
                      <a:gd name="T2" fmla="*/ 428103 w 37"/>
                      <a:gd name="T3" fmla="*/ 3 h 32"/>
                      <a:gd name="T4" fmla="*/ 466271 w 37"/>
                      <a:gd name="T5" fmla="*/ 3 h 32"/>
                      <a:gd name="T6" fmla="*/ 537220 w 37"/>
                      <a:gd name="T7" fmla="*/ 3 h 32"/>
                      <a:gd name="T8" fmla="*/ 601658 w 37"/>
                      <a:gd name="T9" fmla="*/ 3 h 32"/>
                      <a:gd name="T10" fmla="*/ 635398 w 37"/>
                      <a:gd name="T11" fmla="*/ 3 h 32"/>
                      <a:gd name="T12" fmla="*/ 635398 w 37"/>
                      <a:gd name="T13" fmla="*/ 3 h 32"/>
                      <a:gd name="T14" fmla="*/ 672919 w 37"/>
                      <a:gd name="T15" fmla="*/ 3 h 32"/>
                      <a:gd name="T16" fmla="*/ 718109 w 37"/>
                      <a:gd name="T17" fmla="*/ 3 h 32"/>
                      <a:gd name="T18" fmla="*/ 718109 w 37"/>
                      <a:gd name="T19" fmla="*/ 3 h 32"/>
                      <a:gd name="T20" fmla="*/ 718109 w 37"/>
                      <a:gd name="T21" fmla="*/ 3 h 32"/>
                      <a:gd name="T22" fmla="*/ 718109 w 37"/>
                      <a:gd name="T23" fmla="*/ 3 h 32"/>
                      <a:gd name="T24" fmla="*/ 718109 w 37"/>
                      <a:gd name="T25" fmla="*/ 3 h 32"/>
                      <a:gd name="T26" fmla="*/ 672919 w 37"/>
                      <a:gd name="T27" fmla="*/ 3 h 32"/>
                      <a:gd name="T28" fmla="*/ 635398 w 37"/>
                      <a:gd name="T29" fmla="*/ 3 h 32"/>
                      <a:gd name="T30" fmla="*/ 635398 w 37"/>
                      <a:gd name="T31" fmla="*/ 3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3 h 32"/>
                      <a:gd name="T52" fmla="*/ 97982 w 37"/>
                      <a:gd name="T53" fmla="*/ 3 h 32"/>
                      <a:gd name="T54" fmla="*/ 53262 w 37"/>
                      <a:gd name="T55" fmla="*/ 3 h 32"/>
                      <a:gd name="T56" fmla="*/ 53262 w 37"/>
                      <a:gd name="T57" fmla="*/ 3 h 32"/>
                      <a:gd name="T58" fmla="*/ 0 w 37"/>
                      <a:gd name="T59" fmla="*/ 3 h 32"/>
                      <a:gd name="T60" fmla="*/ 0 w 37"/>
                      <a:gd name="T61" fmla="*/ 3 h 32"/>
                      <a:gd name="T62" fmla="*/ 0 w 37"/>
                      <a:gd name="T63" fmla="*/ 3 h 32"/>
                      <a:gd name="T64" fmla="*/ 53262 w 37"/>
                      <a:gd name="T65" fmla="*/ 3 h 32"/>
                      <a:gd name="T66" fmla="*/ 53262 w 37"/>
                      <a:gd name="T67" fmla="*/ 3 h 32"/>
                      <a:gd name="T68" fmla="*/ 97982 w 37"/>
                      <a:gd name="T69" fmla="*/ 3 h 32"/>
                      <a:gd name="T70" fmla="*/ 137704 w 37"/>
                      <a:gd name="T71" fmla="*/ 3 h 32"/>
                      <a:gd name="T72" fmla="*/ 172487 w 37"/>
                      <a:gd name="T73" fmla="*/ 3 h 32"/>
                      <a:gd name="T74" fmla="*/ 207791 w 37"/>
                      <a:gd name="T75" fmla="*/ 3 h 32"/>
                      <a:gd name="T76" fmla="*/ 242414 w 37"/>
                      <a:gd name="T77" fmla="*/ 3 h 32"/>
                      <a:gd name="T78" fmla="*/ 304612 w 37"/>
                      <a:gd name="T79" fmla="*/ 3 h 32"/>
                      <a:gd name="T80" fmla="*/ 382253 w 37"/>
                      <a:gd name="T81" fmla="*/ 3 h 32"/>
                      <a:gd name="T82" fmla="*/ 382253 w 37"/>
                      <a:gd name="T83" fmla="*/ 3 h 32"/>
                      <a:gd name="T84" fmla="*/ 340690 w 37"/>
                      <a:gd name="T85" fmla="*/ 3 h 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2"/>
                      <a:gd name="T131" fmla="*/ 37 w 37"/>
                      <a:gd name="T132" fmla="*/ 32 h 3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lnTo>
                          <a:pt x="18" y="32"/>
                        </a:lnTo>
                        <a:close/>
                      </a:path>
                    </a:pathLst>
                  </a:custGeom>
                  <a:solidFill>
                    <a:srgbClr val="EB7500"/>
                  </a:solidFill>
                  <a:ln w="9525">
                    <a:solidFill>
                      <a:srgbClr val="FF6600"/>
                    </a:solidFill>
                    <a:round/>
                    <a:headEnd/>
                    <a:tailEnd/>
                  </a:ln>
                </p:spPr>
                <p:txBody>
                  <a:bodyPr/>
                  <a:lstStyle/>
                  <a:p>
                    <a:endParaRPr lang="zh-CN" altLang="en-US"/>
                  </a:p>
                </p:txBody>
              </p:sp>
              <p:sp>
                <p:nvSpPr>
                  <p:cNvPr id="234628" name="Freeform 127">
                    <a:extLst>
                      <a:ext uri="{FF2B5EF4-FFF2-40B4-BE49-F238E27FC236}">
                        <a16:creationId xmlns:a16="http://schemas.microsoft.com/office/drawing/2014/main" id="{6AE87610-C74E-B740-A90F-919E4AEF83AB}"/>
                      </a:ext>
                    </a:extLst>
                  </p:cNvPr>
                  <p:cNvSpPr>
                    <a:spLocks/>
                  </p:cNvSpPr>
                  <p:nvPr/>
                </p:nvSpPr>
                <p:spPr bwMode="auto">
                  <a:xfrm>
                    <a:off x="2685" y="2696"/>
                    <a:ext cx="52" cy="27"/>
                  </a:xfrm>
                  <a:custGeom>
                    <a:avLst/>
                    <a:gdLst>
                      <a:gd name="T0" fmla="*/ 340690 w 37"/>
                      <a:gd name="T1" fmla="*/ 3 h 32"/>
                      <a:gd name="T2" fmla="*/ 428103 w 37"/>
                      <a:gd name="T3" fmla="*/ 3 h 32"/>
                      <a:gd name="T4" fmla="*/ 466271 w 37"/>
                      <a:gd name="T5" fmla="*/ 3 h 32"/>
                      <a:gd name="T6" fmla="*/ 537220 w 37"/>
                      <a:gd name="T7" fmla="*/ 3 h 32"/>
                      <a:gd name="T8" fmla="*/ 601658 w 37"/>
                      <a:gd name="T9" fmla="*/ 3 h 32"/>
                      <a:gd name="T10" fmla="*/ 635398 w 37"/>
                      <a:gd name="T11" fmla="*/ 3 h 32"/>
                      <a:gd name="T12" fmla="*/ 635398 w 37"/>
                      <a:gd name="T13" fmla="*/ 3 h 32"/>
                      <a:gd name="T14" fmla="*/ 672919 w 37"/>
                      <a:gd name="T15" fmla="*/ 3 h 32"/>
                      <a:gd name="T16" fmla="*/ 718109 w 37"/>
                      <a:gd name="T17" fmla="*/ 3 h 32"/>
                      <a:gd name="T18" fmla="*/ 718109 w 37"/>
                      <a:gd name="T19" fmla="*/ 3 h 32"/>
                      <a:gd name="T20" fmla="*/ 718109 w 37"/>
                      <a:gd name="T21" fmla="*/ 3 h 32"/>
                      <a:gd name="T22" fmla="*/ 718109 w 37"/>
                      <a:gd name="T23" fmla="*/ 3 h 32"/>
                      <a:gd name="T24" fmla="*/ 718109 w 37"/>
                      <a:gd name="T25" fmla="*/ 3 h 32"/>
                      <a:gd name="T26" fmla="*/ 672919 w 37"/>
                      <a:gd name="T27" fmla="*/ 3 h 32"/>
                      <a:gd name="T28" fmla="*/ 635398 w 37"/>
                      <a:gd name="T29" fmla="*/ 3 h 32"/>
                      <a:gd name="T30" fmla="*/ 635398 w 37"/>
                      <a:gd name="T31" fmla="*/ 3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3 h 32"/>
                      <a:gd name="T52" fmla="*/ 97982 w 37"/>
                      <a:gd name="T53" fmla="*/ 3 h 32"/>
                      <a:gd name="T54" fmla="*/ 53262 w 37"/>
                      <a:gd name="T55" fmla="*/ 3 h 32"/>
                      <a:gd name="T56" fmla="*/ 53262 w 37"/>
                      <a:gd name="T57" fmla="*/ 3 h 32"/>
                      <a:gd name="T58" fmla="*/ 0 w 37"/>
                      <a:gd name="T59" fmla="*/ 3 h 32"/>
                      <a:gd name="T60" fmla="*/ 0 w 37"/>
                      <a:gd name="T61" fmla="*/ 3 h 32"/>
                      <a:gd name="T62" fmla="*/ 0 w 37"/>
                      <a:gd name="T63" fmla="*/ 3 h 32"/>
                      <a:gd name="T64" fmla="*/ 53262 w 37"/>
                      <a:gd name="T65" fmla="*/ 3 h 32"/>
                      <a:gd name="T66" fmla="*/ 53262 w 37"/>
                      <a:gd name="T67" fmla="*/ 3 h 32"/>
                      <a:gd name="T68" fmla="*/ 97982 w 37"/>
                      <a:gd name="T69" fmla="*/ 3 h 32"/>
                      <a:gd name="T70" fmla="*/ 137704 w 37"/>
                      <a:gd name="T71" fmla="*/ 3 h 32"/>
                      <a:gd name="T72" fmla="*/ 172487 w 37"/>
                      <a:gd name="T73" fmla="*/ 3 h 32"/>
                      <a:gd name="T74" fmla="*/ 207791 w 37"/>
                      <a:gd name="T75" fmla="*/ 3 h 32"/>
                      <a:gd name="T76" fmla="*/ 242414 w 37"/>
                      <a:gd name="T77" fmla="*/ 3 h 32"/>
                      <a:gd name="T78" fmla="*/ 304612 w 37"/>
                      <a:gd name="T79" fmla="*/ 3 h 32"/>
                      <a:gd name="T80" fmla="*/ 382253 w 37"/>
                      <a:gd name="T81" fmla="*/ 3 h 32"/>
                      <a:gd name="T82" fmla="*/ 382253 w 37"/>
                      <a:gd name="T83" fmla="*/ 3 h 3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7"/>
                      <a:gd name="T127" fmla="*/ 0 h 32"/>
                      <a:gd name="T128" fmla="*/ 37 w 37"/>
                      <a:gd name="T129" fmla="*/ 32 h 3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path>
                    </a:pathLst>
                  </a:custGeom>
                  <a:noFill/>
                  <a:ln w="31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29" name="Freeform 128">
                    <a:extLst>
                      <a:ext uri="{FF2B5EF4-FFF2-40B4-BE49-F238E27FC236}">
                        <a16:creationId xmlns:a16="http://schemas.microsoft.com/office/drawing/2014/main" id="{C8938BA7-CBBB-A54D-BE36-9DA9F079640F}"/>
                      </a:ext>
                    </a:extLst>
                  </p:cNvPr>
                  <p:cNvSpPr>
                    <a:spLocks/>
                  </p:cNvSpPr>
                  <p:nvPr/>
                </p:nvSpPr>
                <p:spPr bwMode="auto">
                  <a:xfrm>
                    <a:off x="2685" y="2350"/>
                    <a:ext cx="52" cy="28"/>
                  </a:xfrm>
                  <a:custGeom>
                    <a:avLst/>
                    <a:gdLst>
                      <a:gd name="T0" fmla="*/ 340690 w 37"/>
                      <a:gd name="T1" fmla="*/ 4 h 32"/>
                      <a:gd name="T2" fmla="*/ 428103 w 37"/>
                      <a:gd name="T3" fmla="*/ 4 h 32"/>
                      <a:gd name="T4" fmla="*/ 466271 w 37"/>
                      <a:gd name="T5" fmla="*/ 4 h 32"/>
                      <a:gd name="T6" fmla="*/ 537220 w 37"/>
                      <a:gd name="T7" fmla="*/ 4 h 32"/>
                      <a:gd name="T8" fmla="*/ 601658 w 37"/>
                      <a:gd name="T9" fmla="*/ 4 h 32"/>
                      <a:gd name="T10" fmla="*/ 635398 w 37"/>
                      <a:gd name="T11" fmla="*/ 4 h 32"/>
                      <a:gd name="T12" fmla="*/ 635398 w 37"/>
                      <a:gd name="T13" fmla="*/ 4 h 32"/>
                      <a:gd name="T14" fmla="*/ 672919 w 37"/>
                      <a:gd name="T15" fmla="*/ 4 h 32"/>
                      <a:gd name="T16" fmla="*/ 718109 w 37"/>
                      <a:gd name="T17" fmla="*/ 4 h 32"/>
                      <a:gd name="T18" fmla="*/ 718109 w 37"/>
                      <a:gd name="T19" fmla="*/ 4 h 32"/>
                      <a:gd name="T20" fmla="*/ 718109 w 37"/>
                      <a:gd name="T21" fmla="*/ 4 h 32"/>
                      <a:gd name="T22" fmla="*/ 718109 w 37"/>
                      <a:gd name="T23" fmla="*/ 4 h 32"/>
                      <a:gd name="T24" fmla="*/ 718109 w 37"/>
                      <a:gd name="T25" fmla="*/ 4 h 32"/>
                      <a:gd name="T26" fmla="*/ 672919 w 37"/>
                      <a:gd name="T27" fmla="*/ 4 h 32"/>
                      <a:gd name="T28" fmla="*/ 635398 w 37"/>
                      <a:gd name="T29" fmla="*/ 4 h 32"/>
                      <a:gd name="T30" fmla="*/ 635398 w 37"/>
                      <a:gd name="T31" fmla="*/ 4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4 h 32"/>
                      <a:gd name="T52" fmla="*/ 97982 w 37"/>
                      <a:gd name="T53" fmla="*/ 4 h 32"/>
                      <a:gd name="T54" fmla="*/ 53262 w 37"/>
                      <a:gd name="T55" fmla="*/ 4 h 32"/>
                      <a:gd name="T56" fmla="*/ 53262 w 37"/>
                      <a:gd name="T57" fmla="*/ 4 h 32"/>
                      <a:gd name="T58" fmla="*/ 0 w 37"/>
                      <a:gd name="T59" fmla="*/ 4 h 32"/>
                      <a:gd name="T60" fmla="*/ 0 w 37"/>
                      <a:gd name="T61" fmla="*/ 4 h 32"/>
                      <a:gd name="T62" fmla="*/ 0 w 37"/>
                      <a:gd name="T63" fmla="*/ 4 h 32"/>
                      <a:gd name="T64" fmla="*/ 53262 w 37"/>
                      <a:gd name="T65" fmla="*/ 4 h 32"/>
                      <a:gd name="T66" fmla="*/ 53262 w 37"/>
                      <a:gd name="T67" fmla="*/ 4 h 32"/>
                      <a:gd name="T68" fmla="*/ 97982 w 37"/>
                      <a:gd name="T69" fmla="*/ 4 h 32"/>
                      <a:gd name="T70" fmla="*/ 137704 w 37"/>
                      <a:gd name="T71" fmla="*/ 4 h 32"/>
                      <a:gd name="T72" fmla="*/ 172487 w 37"/>
                      <a:gd name="T73" fmla="*/ 4 h 32"/>
                      <a:gd name="T74" fmla="*/ 207791 w 37"/>
                      <a:gd name="T75" fmla="*/ 4 h 32"/>
                      <a:gd name="T76" fmla="*/ 242414 w 37"/>
                      <a:gd name="T77" fmla="*/ 4 h 32"/>
                      <a:gd name="T78" fmla="*/ 304612 w 37"/>
                      <a:gd name="T79" fmla="*/ 4 h 32"/>
                      <a:gd name="T80" fmla="*/ 382253 w 37"/>
                      <a:gd name="T81" fmla="*/ 4 h 32"/>
                      <a:gd name="T82" fmla="*/ 382253 w 37"/>
                      <a:gd name="T83" fmla="*/ 4 h 32"/>
                      <a:gd name="T84" fmla="*/ 340690 w 37"/>
                      <a:gd name="T85" fmla="*/ 4 h 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2"/>
                      <a:gd name="T131" fmla="*/ 37 w 37"/>
                      <a:gd name="T132" fmla="*/ 32 h 3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lnTo>
                          <a:pt x="18" y="32"/>
                        </a:lnTo>
                        <a:close/>
                      </a:path>
                    </a:pathLst>
                  </a:custGeom>
                  <a:solidFill>
                    <a:srgbClr val="EB7500"/>
                  </a:solidFill>
                  <a:ln w="9525">
                    <a:solidFill>
                      <a:srgbClr val="FF6600"/>
                    </a:solidFill>
                    <a:round/>
                    <a:headEnd/>
                    <a:tailEnd/>
                  </a:ln>
                </p:spPr>
                <p:txBody>
                  <a:bodyPr/>
                  <a:lstStyle/>
                  <a:p>
                    <a:endParaRPr lang="zh-CN" altLang="en-US"/>
                  </a:p>
                </p:txBody>
              </p:sp>
              <p:sp>
                <p:nvSpPr>
                  <p:cNvPr id="234630" name="Freeform 129">
                    <a:extLst>
                      <a:ext uri="{FF2B5EF4-FFF2-40B4-BE49-F238E27FC236}">
                        <a16:creationId xmlns:a16="http://schemas.microsoft.com/office/drawing/2014/main" id="{0F96CF7E-701E-6F45-AF4D-CFB76A324351}"/>
                      </a:ext>
                    </a:extLst>
                  </p:cNvPr>
                  <p:cNvSpPr>
                    <a:spLocks/>
                  </p:cNvSpPr>
                  <p:nvPr/>
                </p:nvSpPr>
                <p:spPr bwMode="auto">
                  <a:xfrm>
                    <a:off x="2685" y="2350"/>
                    <a:ext cx="52" cy="28"/>
                  </a:xfrm>
                  <a:custGeom>
                    <a:avLst/>
                    <a:gdLst>
                      <a:gd name="T0" fmla="*/ 340690 w 37"/>
                      <a:gd name="T1" fmla="*/ 4 h 32"/>
                      <a:gd name="T2" fmla="*/ 428103 w 37"/>
                      <a:gd name="T3" fmla="*/ 4 h 32"/>
                      <a:gd name="T4" fmla="*/ 466271 w 37"/>
                      <a:gd name="T5" fmla="*/ 4 h 32"/>
                      <a:gd name="T6" fmla="*/ 537220 w 37"/>
                      <a:gd name="T7" fmla="*/ 4 h 32"/>
                      <a:gd name="T8" fmla="*/ 601658 w 37"/>
                      <a:gd name="T9" fmla="*/ 4 h 32"/>
                      <a:gd name="T10" fmla="*/ 635398 w 37"/>
                      <a:gd name="T11" fmla="*/ 4 h 32"/>
                      <a:gd name="T12" fmla="*/ 635398 w 37"/>
                      <a:gd name="T13" fmla="*/ 4 h 32"/>
                      <a:gd name="T14" fmla="*/ 672919 w 37"/>
                      <a:gd name="T15" fmla="*/ 4 h 32"/>
                      <a:gd name="T16" fmla="*/ 718109 w 37"/>
                      <a:gd name="T17" fmla="*/ 4 h 32"/>
                      <a:gd name="T18" fmla="*/ 718109 w 37"/>
                      <a:gd name="T19" fmla="*/ 4 h 32"/>
                      <a:gd name="T20" fmla="*/ 718109 w 37"/>
                      <a:gd name="T21" fmla="*/ 4 h 32"/>
                      <a:gd name="T22" fmla="*/ 718109 w 37"/>
                      <a:gd name="T23" fmla="*/ 4 h 32"/>
                      <a:gd name="T24" fmla="*/ 718109 w 37"/>
                      <a:gd name="T25" fmla="*/ 4 h 32"/>
                      <a:gd name="T26" fmla="*/ 672919 w 37"/>
                      <a:gd name="T27" fmla="*/ 4 h 32"/>
                      <a:gd name="T28" fmla="*/ 635398 w 37"/>
                      <a:gd name="T29" fmla="*/ 4 h 32"/>
                      <a:gd name="T30" fmla="*/ 635398 w 37"/>
                      <a:gd name="T31" fmla="*/ 4 h 32"/>
                      <a:gd name="T32" fmla="*/ 601658 w 37"/>
                      <a:gd name="T33" fmla="*/ 2 h 32"/>
                      <a:gd name="T34" fmla="*/ 537220 w 37"/>
                      <a:gd name="T35" fmla="*/ 0 h 32"/>
                      <a:gd name="T36" fmla="*/ 466271 w 37"/>
                      <a:gd name="T37" fmla="*/ 0 h 32"/>
                      <a:gd name="T38" fmla="*/ 428103 w 37"/>
                      <a:gd name="T39" fmla="*/ 0 h 32"/>
                      <a:gd name="T40" fmla="*/ 382253 w 37"/>
                      <a:gd name="T41" fmla="*/ 0 h 32"/>
                      <a:gd name="T42" fmla="*/ 304612 w 37"/>
                      <a:gd name="T43" fmla="*/ 0 h 32"/>
                      <a:gd name="T44" fmla="*/ 242414 w 37"/>
                      <a:gd name="T45" fmla="*/ 0 h 32"/>
                      <a:gd name="T46" fmla="*/ 207791 w 37"/>
                      <a:gd name="T47" fmla="*/ 0 h 32"/>
                      <a:gd name="T48" fmla="*/ 172487 w 37"/>
                      <a:gd name="T49" fmla="*/ 2 h 32"/>
                      <a:gd name="T50" fmla="*/ 137704 w 37"/>
                      <a:gd name="T51" fmla="*/ 4 h 32"/>
                      <a:gd name="T52" fmla="*/ 97982 w 37"/>
                      <a:gd name="T53" fmla="*/ 4 h 32"/>
                      <a:gd name="T54" fmla="*/ 53262 w 37"/>
                      <a:gd name="T55" fmla="*/ 4 h 32"/>
                      <a:gd name="T56" fmla="*/ 53262 w 37"/>
                      <a:gd name="T57" fmla="*/ 4 h 32"/>
                      <a:gd name="T58" fmla="*/ 0 w 37"/>
                      <a:gd name="T59" fmla="*/ 4 h 32"/>
                      <a:gd name="T60" fmla="*/ 0 w 37"/>
                      <a:gd name="T61" fmla="*/ 4 h 32"/>
                      <a:gd name="T62" fmla="*/ 0 w 37"/>
                      <a:gd name="T63" fmla="*/ 4 h 32"/>
                      <a:gd name="T64" fmla="*/ 53262 w 37"/>
                      <a:gd name="T65" fmla="*/ 4 h 32"/>
                      <a:gd name="T66" fmla="*/ 53262 w 37"/>
                      <a:gd name="T67" fmla="*/ 4 h 32"/>
                      <a:gd name="T68" fmla="*/ 97982 w 37"/>
                      <a:gd name="T69" fmla="*/ 4 h 32"/>
                      <a:gd name="T70" fmla="*/ 137704 w 37"/>
                      <a:gd name="T71" fmla="*/ 4 h 32"/>
                      <a:gd name="T72" fmla="*/ 172487 w 37"/>
                      <a:gd name="T73" fmla="*/ 4 h 32"/>
                      <a:gd name="T74" fmla="*/ 207791 w 37"/>
                      <a:gd name="T75" fmla="*/ 4 h 32"/>
                      <a:gd name="T76" fmla="*/ 242414 w 37"/>
                      <a:gd name="T77" fmla="*/ 4 h 32"/>
                      <a:gd name="T78" fmla="*/ 304612 w 37"/>
                      <a:gd name="T79" fmla="*/ 4 h 32"/>
                      <a:gd name="T80" fmla="*/ 382253 w 37"/>
                      <a:gd name="T81" fmla="*/ 4 h 32"/>
                      <a:gd name="T82" fmla="*/ 382253 w 37"/>
                      <a:gd name="T83" fmla="*/ 4 h 3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7"/>
                      <a:gd name="T127" fmla="*/ 0 h 32"/>
                      <a:gd name="T128" fmla="*/ 37 w 37"/>
                      <a:gd name="T129" fmla="*/ 32 h 3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7" h="32">
                        <a:moveTo>
                          <a:pt x="18" y="32"/>
                        </a:moveTo>
                        <a:lnTo>
                          <a:pt x="22" y="32"/>
                        </a:lnTo>
                        <a:lnTo>
                          <a:pt x="24" y="32"/>
                        </a:lnTo>
                        <a:lnTo>
                          <a:pt x="28" y="30"/>
                        </a:lnTo>
                        <a:lnTo>
                          <a:pt x="31" y="30"/>
                        </a:lnTo>
                        <a:lnTo>
                          <a:pt x="33" y="28"/>
                        </a:lnTo>
                        <a:lnTo>
                          <a:pt x="33" y="26"/>
                        </a:lnTo>
                        <a:lnTo>
                          <a:pt x="35" y="24"/>
                        </a:lnTo>
                        <a:lnTo>
                          <a:pt x="37" y="20"/>
                        </a:lnTo>
                        <a:lnTo>
                          <a:pt x="37" y="18"/>
                        </a:lnTo>
                        <a:lnTo>
                          <a:pt x="37" y="16"/>
                        </a:lnTo>
                        <a:lnTo>
                          <a:pt x="37" y="12"/>
                        </a:lnTo>
                        <a:lnTo>
                          <a:pt x="37" y="10"/>
                        </a:lnTo>
                        <a:lnTo>
                          <a:pt x="35" y="8"/>
                        </a:lnTo>
                        <a:lnTo>
                          <a:pt x="33" y="6"/>
                        </a:lnTo>
                        <a:lnTo>
                          <a:pt x="33" y="4"/>
                        </a:lnTo>
                        <a:lnTo>
                          <a:pt x="31" y="2"/>
                        </a:lnTo>
                        <a:lnTo>
                          <a:pt x="28" y="0"/>
                        </a:lnTo>
                        <a:lnTo>
                          <a:pt x="24" y="0"/>
                        </a:lnTo>
                        <a:lnTo>
                          <a:pt x="22" y="0"/>
                        </a:lnTo>
                        <a:lnTo>
                          <a:pt x="20" y="0"/>
                        </a:lnTo>
                        <a:lnTo>
                          <a:pt x="16" y="0"/>
                        </a:lnTo>
                        <a:lnTo>
                          <a:pt x="13" y="0"/>
                        </a:lnTo>
                        <a:lnTo>
                          <a:pt x="11" y="0"/>
                        </a:lnTo>
                        <a:lnTo>
                          <a:pt x="9" y="2"/>
                        </a:lnTo>
                        <a:lnTo>
                          <a:pt x="7" y="4"/>
                        </a:lnTo>
                        <a:lnTo>
                          <a:pt x="5" y="6"/>
                        </a:lnTo>
                        <a:lnTo>
                          <a:pt x="3" y="8"/>
                        </a:lnTo>
                        <a:lnTo>
                          <a:pt x="3" y="10"/>
                        </a:lnTo>
                        <a:lnTo>
                          <a:pt x="0" y="12"/>
                        </a:lnTo>
                        <a:lnTo>
                          <a:pt x="0" y="16"/>
                        </a:lnTo>
                        <a:lnTo>
                          <a:pt x="0" y="18"/>
                        </a:lnTo>
                        <a:lnTo>
                          <a:pt x="3" y="20"/>
                        </a:lnTo>
                        <a:lnTo>
                          <a:pt x="3" y="24"/>
                        </a:lnTo>
                        <a:lnTo>
                          <a:pt x="5" y="26"/>
                        </a:lnTo>
                        <a:lnTo>
                          <a:pt x="7" y="28"/>
                        </a:lnTo>
                        <a:lnTo>
                          <a:pt x="9" y="30"/>
                        </a:lnTo>
                        <a:lnTo>
                          <a:pt x="11" y="30"/>
                        </a:lnTo>
                        <a:lnTo>
                          <a:pt x="13" y="32"/>
                        </a:lnTo>
                        <a:lnTo>
                          <a:pt x="16" y="32"/>
                        </a:lnTo>
                        <a:lnTo>
                          <a:pt x="20" y="32"/>
                        </a:lnTo>
                      </a:path>
                    </a:pathLst>
                  </a:custGeom>
                  <a:noFill/>
                  <a:ln w="3175">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31" name="Freeform 130">
                    <a:extLst>
                      <a:ext uri="{FF2B5EF4-FFF2-40B4-BE49-F238E27FC236}">
                        <a16:creationId xmlns:a16="http://schemas.microsoft.com/office/drawing/2014/main" id="{5C3315BA-EA56-7A4D-942E-B14699E3220E}"/>
                      </a:ext>
                    </a:extLst>
                  </p:cNvPr>
                  <p:cNvSpPr>
                    <a:spLocks/>
                  </p:cNvSpPr>
                  <p:nvPr/>
                </p:nvSpPr>
                <p:spPr bwMode="auto">
                  <a:xfrm>
                    <a:off x="2292" y="2234"/>
                    <a:ext cx="849" cy="87"/>
                  </a:xfrm>
                  <a:custGeom>
                    <a:avLst/>
                    <a:gdLst>
                      <a:gd name="T0" fmla="*/ 14122426 w 600"/>
                      <a:gd name="T1" fmla="*/ 3 h 100"/>
                      <a:gd name="T2" fmla="*/ 14122426 w 600"/>
                      <a:gd name="T3" fmla="*/ 0 h 100"/>
                      <a:gd name="T4" fmla="*/ 0 w 600"/>
                      <a:gd name="T5" fmla="*/ 0 h 100"/>
                      <a:gd name="T6" fmla="*/ 0 w 600"/>
                      <a:gd name="T7" fmla="*/ 3 h 100"/>
                      <a:gd name="T8" fmla="*/ 14122426 w 600"/>
                      <a:gd name="T9" fmla="*/ 3 h 100"/>
                      <a:gd name="T10" fmla="*/ 14122426 w 600"/>
                      <a:gd name="T11" fmla="*/ 3 h 100"/>
                      <a:gd name="T12" fmla="*/ 0 60000 65536"/>
                      <a:gd name="T13" fmla="*/ 0 60000 65536"/>
                      <a:gd name="T14" fmla="*/ 0 60000 65536"/>
                      <a:gd name="T15" fmla="*/ 0 60000 65536"/>
                      <a:gd name="T16" fmla="*/ 0 60000 65536"/>
                      <a:gd name="T17" fmla="*/ 0 60000 65536"/>
                      <a:gd name="T18" fmla="*/ 0 w 600"/>
                      <a:gd name="T19" fmla="*/ 0 h 100"/>
                      <a:gd name="T20" fmla="*/ 600 w 600"/>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00" h="100">
                        <a:moveTo>
                          <a:pt x="600" y="98"/>
                        </a:moveTo>
                        <a:lnTo>
                          <a:pt x="600" y="0"/>
                        </a:lnTo>
                        <a:lnTo>
                          <a:pt x="0" y="0"/>
                        </a:lnTo>
                        <a:lnTo>
                          <a:pt x="0" y="100"/>
                        </a:lnTo>
                        <a:lnTo>
                          <a:pt x="600"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32" name="Freeform 131">
                    <a:extLst>
                      <a:ext uri="{FF2B5EF4-FFF2-40B4-BE49-F238E27FC236}">
                        <a16:creationId xmlns:a16="http://schemas.microsoft.com/office/drawing/2014/main" id="{22C20190-3281-B84D-9E37-9569BD82891D}"/>
                      </a:ext>
                    </a:extLst>
                  </p:cNvPr>
                  <p:cNvSpPr>
                    <a:spLocks/>
                  </p:cNvSpPr>
                  <p:nvPr/>
                </p:nvSpPr>
                <p:spPr bwMode="auto">
                  <a:xfrm>
                    <a:off x="2292" y="2321"/>
                    <a:ext cx="849" cy="86"/>
                  </a:xfrm>
                  <a:custGeom>
                    <a:avLst/>
                    <a:gdLst>
                      <a:gd name="T0" fmla="*/ 14122426 w 600"/>
                      <a:gd name="T1" fmla="*/ 3 h 100"/>
                      <a:gd name="T2" fmla="*/ 14122426 w 600"/>
                      <a:gd name="T3" fmla="*/ 0 h 100"/>
                      <a:gd name="T4" fmla="*/ 0 w 600"/>
                      <a:gd name="T5" fmla="*/ 0 h 100"/>
                      <a:gd name="T6" fmla="*/ 0 w 600"/>
                      <a:gd name="T7" fmla="*/ 3 h 100"/>
                      <a:gd name="T8" fmla="*/ 14122426 w 600"/>
                      <a:gd name="T9" fmla="*/ 3 h 100"/>
                      <a:gd name="T10" fmla="*/ 14122426 w 600"/>
                      <a:gd name="T11" fmla="*/ 3 h 100"/>
                      <a:gd name="T12" fmla="*/ 0 60000 65536"/>
                      <a:gd name="T13" fmla="*/ 0 60000 65536"/>
                      <a:gd name="T14" fmla="*/ 0 60000 65536"/>
                      <a:gd name="T15" fmla="*/ 0 60000 65536"/>
                      <a:gd name="T16" fmla="*/ 0 60000 65536"/>
                      <a:gd name="T17" fmla="*/ 0 60000 65536"/>
                      <a:gd name="T18" fmla="*/ 0 w 600"/>
                      <a:gd name="T19" fmla="*/ 0 h 100"/>
                      <a:gd name="T20" fmla="*/ 600 w 600"/>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00" h="100">
                        <a:moveTo>
                          <a:pt x="600" y="98"/>
                        </a:moveTo>
                        <a:lnTo>
                          <a:pt x="600" y="0"/>
                        </a:lnTo>
                        <a:lnTo>
                          <a:pt x="0" y="0"/>
                        </a:lnTo>
                        <a:lnTo>
                          <a:pt x="0" y="100"/>
                        </a:lnTo>
                        <a:lnTo>
                          <a:pt x="600"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33" name="Freeform 132">
                    <a:extLst>
                      <a:ext uri="{FF2B5EF4-FFF2-40B4-BE49-F238E27FC236}">
                        <a16:creationId xmlns:a16="http://schemas.microsoft.com/office/drawing/2014/main" id="{3544B983-BDFF-D441-A992-7998337A3341}"/>
                      </a:ext>
                    </a:extLst>
                  </p:cNvPr>
                  <p:cNvSpPr>
                    <a:spLocks/>
                  </p:cNvSpPr>
                  <p:nvPr/>
                </p:nvSpPr>
                <p:spPr bwMode="auto">
                  <a:xfrm>
                    <a:off x="2292" y="2493"/>
                    <a:ext cx="849" cy="87"/>
                  </a:xfrm>
                  <a:custGeom>
                    <a:avLst/>
                    <a:gdLst>
                      <a:gd name="T0" fmla="*/ 14122426 w 600"/>
                      <a:gd name="T1" fmla="*/ 3 h 101"/>
                      <a:gd name="T2" fmla="*/ 14122426 w 600"/>
                      <a:gd name="T3" fmla="*/ 0 h 101"/>
                      <a:gd name="T4" fmla="*/ 0 w 600"/>
                      <a:gd name="T5" fmla="*/ 0 h 101"/>
                      <a:gd name="T6" fmla="*/ 0 w 600"/>
                      <a:gd name="T7" fmla="*/ 3 h 101"/>
                      <a:gd name="T8" fmla="*/ 14122426 w 600"/>
                      <a:gd name="T9" fmla="*/ 3 h 101"/>
                      <a:gd name="T10" fmla="*/ 14122426 w 600"/>
                      <a:gd name="T11" fmla="*/ 3 h 101"/>
                      <a:gd name="T12" fmla="*/ 0 60000 65536"/>
                      <a:gd name="T13" fmla="*/ 0 60000 65536"/>
                      <a:gd name="T14" fmla="*/ 0 60000 65536"/>
                      <a:gd name="T15" fmla="*/ 0 60000 65536"/>
                      <a:gd name="T16" fmla="*/ 0 60000 65536"/>
                      <a:gd name="T17" fmla="*/ 0 60000 65536"/>
                      <a:gd name="T18" fmla="*/ 0 w 600"/>
                      <a:gd name="T19" fmla="*/ 0 h 101"/>
                      <a:gd name="T20" fmla="*/ 600 w 600"/>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600" h="101">
                        <a:moveTo>
                          <a:pt x="600" y="99"/>
                        </a:moveTo>
                        <a:lnTo>
                          <a:pt x="600" y="0"/>
                        </a:lnTo>
                        <a:lnTo>
                          <a:pt x="0" y="0"/>
                        </a:lnTo>
                        <a:lnTo>
                          <a:pt x="0" y="101"/>
                        </a:lnTo>
                        <a:lnTo>
                          <a:pt x="600" y="101"/>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34" name="Freeform 133">
                    <a:extLst>
                      <a:ext uri="{FF2B5EF4-FFF2-40B4-BE49-F238E27FC236}">
                        <a16:creationId xmlns:a16="http://schemas.microsoft.com/office/drawing/2014/main" id="{C17D6FAD-3099-1545-8DFB-AE40B2E41A93}"/>
                      </a:ext>
                    </a:extLst>
                  </p:cNvPr>
                  <p:cNvSpPr>
                    <a:spLocks/>
                  </p:cNvSpPr>
                  <p:nvPr/>
                </p:nvSpPr>
                <p:spPr bwMode="auto">
                  <a:xfrm>
                    <a:off x="2292" y="2666"/>
                    <a:ext cx="849" cy="86"/>
                  </a:xfrm>
                  <a:custGeom>
                    <a:avLst/>
                    <a:gdLst>
                      <a:gd name="T0" fmla="*/ 14122426 w 600"/>
                      <a:gd name="T1" fmla="*/ 3 h 100"/>
                      <a:gd name="T2" fmla="*/ 14122426 w 600"/>
                      <a:gd name="T3" fmla="*/ 0 h 100"/>
                      <a:gd name="T4" fmla="*/ 0 w 600"/>
                      <a:gd name="T5" fmla="*/ 0 h 100"/>
                      <a:gd name="T6" fmla="*/ 0 w 600"/>
                      <a:gd name="T7" fmla="*/ 3 h 100"/>
                      <a:gd name="T8" fmla="*/ 14122426 w 600"/>
                      <a:gd name="T9" fmla="*/ 3 h 100"/>
                      <a:gd name="T10" fmla="*/ 14122426 w 600"/>
                      <a:gd name="T11" fmla="*/ 3 h 100"/>
                      <a:gd name="T12" fmla="*/ 0 60000 65536"/>
                      <a:gd name="T13" fmla="*/ 0 60000 65536"/>
                      <a:gd name="T14" fmla="*/ 0 60000 65536"/>
                      <a:gd name="T15" fmla="*/ 0 60000 65536"/>
                      <a:gd name="T16" fmla="*/ 0 60000 65536"/>
                      <a:gd name="T17" fmla="*/ 0 60000 65536"/>
                      <a:gd name="T18" fmla="*/ 0 w 600"/>
                      <a:gd name="T19" fmla="*/ 0 h 100"/>
                      <a:gd name="T20" fmla="*/ 600 w 600"/>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00" h="100">
                        <a:moveTo>
                          <a:pt x="600" y="98"/>
                        </a:moveTo>
                        <a:lnTo>
                          <a:pt x="600" y="0"/>
                        </a:lnTo>
                        <a:lnTo>
                          <a:pt x="0" y="0"/>
                        </a:lnTo>
                        <a:lnTo>
                          <a:pt x="0" y="100"/>
                        </a:lnTo>
                        <a:lnTo>
                          <a:pt x="600"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35" name="Freeform 134">
                    <a:extLst>
                      <a:ext uri="{FF2B5EF4-FFF2-40B4-BE49-F238E27FC236}">
                        <a16:creationId xmlns:a16="http://schemas.microsoft.com/office/drawing/2014/main" id="{F11FE491-A81E-8A42-B338-70088F12A81C}"/>
                      </a:ext>
                    </a:extLst>
                  </p:cNvPr>
                  <p:cNvSpPr>
                    <a:spLocks/>
                  </p:cNvSpPr>
                  <p:nvPr/>
                </p:nvSpPr>
                <p:spPr bwMode="auto">
                  <a:xfrm>
                    <a:off x="2292" y="2407"/>
                    <a:ext cx="849" cy="86"/>
                  </a:xfrm>
                  <a:custGeom>
                    <a:avLst/>
                    <a:gdLst>
                      <a:gd name="T0" fmla="*/ 14122426 w 600"/>
                      <a:gd name="T1" fmla="*/ 3 h 100"/>
                      <a:gd name="T2" fmla="*/ 14122426 w 600"/>
                      <a:gd name="T3" fmla="*/ 0 h 100"/>
                      <a:gd name="T4" fmla="*/ 0 w 600"/>
                      <a:gd name="T5" fmla="*/ 0 h 100"/>
                      <a:gd name="T6" fmla="*/ 0 w 600"/>
                      <a:gd name="T7" fmla="*/ 3 h 100"/>
                      <a:gd name="T8" fmla="*/ 14122426 w 600"/>
                      <a:gd name="T9" fmla="*/ 3 h 100"/>
                      <a:gd name="T10" fmla="*/ 14122426 w 600"/>
                      <a:gd name="T11" fmla="*/ 3 h 100"/>
                      <a:gd name="T12" fmla="*/ 0 60000 65536"/>
                      <a:gd name="T13" fmla="*/ 0 60000 65536"/>
                      <a:gd name="T14" fmla="*/ 0 60000 65536"/>
                      <a:gd name="T15" fmla="*/ 0 60000 65536"/>
                      <a:gd name="T16" fmla="*/ 0 60000 65536"/>
                      <a:gd name="T17" fmla="*/ 0 60000 65536"/>
                      <a:gd name="T18" fmla="*/ 0 w 600"/>
                      <a:gd name="T19" fmla="*/ 0 h 100"/>
                      <a:gd name="T20" fmla="*/ 600 w 600"/>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600" h="100">
                        <a:moveTo>
                          <a:pt x="600" y="98"/>
                        </a:moveTo>
                        <a:lnTo>
                          <a:pt x="600" y="0"/>
                        </a:lnTo>
                        <a:lnTo>
                          <a:pt x="0" y="0"/>
                        </a:lnTo>
                        <a:lnTo>
                          <a:pt x="0" y="100"/>
                        </a:lnTo>
                        <a:lnTo>
                          <a:pt x="600" y="100"/>
                        </a:lnTo>
                      </a:path>
                    </a:pathLst>
                  </a:custGeom>
                  <a:noFill/>
                  <a:ln w="14288">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636" name="Text Box 135">
                    <a:extLst>
                      <a:ext uri="{FF2B5EF4-FFF2-40B4-BE49-F238E27FC236}">
                        <a16:creationId xmlns:a16="http://schemas.microsoft.com/office/drawing/2014/main" id="{B007D13D-771B-8248-8EEC-F85C3E631D38}"/>
                      </a:ext>
                    </a:extLst>
                  </p:cNvPr>
                  <p:cNvSpPr txBox="1">
                    <a:spLocks noChangeArrowheads="1"/>
                  </p:cNvSpPr>
                  <p:nvPr/>
                </p:nvSpPr>
                <p:spPr bwMode="auto">
                  <a:xfrm>
                    <a:off x="1609" y="1954"/>
                    <a:ext cx="484"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latin typeface="Times New Roman" panose="02020603050405020304" pitchFamily="18" charset="0"/>
                        <a:ea typeface="宋体" panose="02010600030101010101" pitchFamily="2" charset="-122"/>
                      </a:rPr>
                      <a:t>tag</a:t>
                    </a:r>
                  </a:p>
                </p:txBody>
              </p:sp>
            </p:grpSp>
            <p:sp>
              <p:nvSpPr>
                <p:cNvPr id="234597" name="Text Box 136">
                  <a:extLst>
                    <a:ext uri="{FF2B5EF4-FFF2-40B4-BE49-F238E27FC236}">
                      <a16:creationId xmlns:a16="http://schemas.microsoft.com/office/drawing/2014/main" id="{F8B721A7-19F6-964C-87DD-CDB556DE809E}"/>
                    </a:ext>
                  </a:extLst>
                </p:cNvPr>
                <p:cNvSpPr txBox="1">
                  <a:spLocks noChangeArrowheads="1"/>
                </p:cNvSpPr>
                <p:nvPr/>
              </p:nvSpPr>
              <p:spPr bwMode="auto">
                <a:xfrm flipH="1">
                  <a:off x="1199" y="1961"/>
                  <a:ext cx="476"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latin typeface="Times New Roman" panose="02020603050405020304" pitchFamily="18" charset="0"/>
                      <a:ea typeface="宋体" panose="02010600030101010101" pitchFamily="2" charset="-122"/>
                    </a:rPr>
                    <a:t>valid</a:t>
                  </a:r>
                </a:p>
              </p:txBody>
            </p:sp>
          </p:grpSp>
          <p:sp>
            <p:nvSpPr>
              <p:cNvPr id="234594" name="Text Box 137">
                <a:extLst>
                  <a:ext uri="{FF2B5EF4-FFF2-40B4-BE49-F238E27FC236}">
                    <a16:creationId xmlns:a16="http://schemas.microsoft.com/office/drawing/2014/main" id="{17B7CDC2-E81D-5341-A2BA-E053573C204B}"/>
                  </a:ext>
                </a:extLst>
              </p:cNvPr>
              <p:cNvSpPr txBox="1">
                <a:spLocks noChangeArrowheads="1"/>
              </p:cNvSpPr>
              <p:nvPr/>
            </p:nvSpPr>
            <p:spPr bwMode="auto">
              <a:xfrm>
                <a:off x="1966" y="1947"/>
                <a:ext cx="292"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800" b="1">
                    <a:solidFill>
                      <a:srgbClr val="006600"/>
                    </a:solidFill>
                    <a:ea typeface="华文新魏" panose="02010800040101010101" pitchFamily="2" charset="-122"/>
                  </a:rPr>
                  <a:t>TLB</a:t>
                </a:r>
              </a:p>
            </p:txBody>
          </p:sp>
        </p:grpSp>
        <p:grpSp>
          <p:nvGrpSpPr>
            <p:cNvPr id="234515" name="Group 138">
              <a:extLst>
                <a:ext uri="{FF2B5EF4-FFF2-40B4-BE49-F238E27FC236}">
                  <a16:creationId xmlns:a16="http://schemas.microsoft.com/office/drawing/2014/main" id="{57A1CC24-F9CF-3A48-9BCB-8D93BDB1C1A6}"/>
                </a:ext>
              </a:extLst>
            </p:cNvPr>
            <p:cNvGrpSpPr>
              <a:grpSpLocks/>
            </p:cNvGrpSpPr>
            <p:nvPr/>
          </p:nvGrpSpPr>
          <p:grpSpPr bwMode="auto">
            <a:xfrm>
              <a:off x="1326" y="2948"/>
              <a:ext cx="978" cy="1233"/>
              <a:chOff x="1326" y="2948"/>
              <a:chExt cx="978" cy="1233"/>
            </a:xfrm>
          </p:grpSpPr>
          <p:grpSp>
            <p:nvGrpSpPr>
              <p:cNvPr id="234519" name="Group 139">
                <a:extLst>
                  <a:ext uri="{FF2B5EF4-FFF2-40B4-BE49-F238E27FC236}">
                    <a16:creationId xmlns:a16="http://schemas.microsoft.com/office/drawing/2014/main" id="{0F8B590E-069E-A94E-90D2-5DFFB9166625}"/>
                  </a:ext>
                </a:extLst>
              </p:cNvPr>
              <p:cNvGrpSpPr>
                <a:grpSpLocks/>
              </p:cNvGrpSpPr>
              <p:nvPr/>
            </p:nvGrpSpPr>
            <p:grpSpPr bwMode="auto">
              <a:xfrm>
                <a:off x="1326" y="3142"/>
                <a:ext cx="978" cy="1039"/>
                <a:chOff x="1326" y="3142"/>
                <a:chExt cx="978" cy="1039"/>
              </a:xfrm>
            </p:grpSpPr>
            <p:sp>
              <p:nvSpPr>
                <p:cNvPr id="234521" name="Freeform 140">
                  <a:extLst>
                    <a:ext uri="{FF2B5EF4-FFF2-40B4-BE49-F238E27FC236}">
                      <a16:creationId xmlns:a16="http://schemas.microsoft.com/office/drawing/2014/main" id="{5C532587-65A0-2140-B314-BD4E1E7BB7A4}"/>
                    </a:ext>
                  </a:extLst>
                </p:cNvPr>
                <p:cNvSpPr>
                  <a:spLocks/>
                </p:cNvSpPr>
                <p:nvPr/>
              </p:nvSpPr>
              <p:spPr bwMode="auto">
                <a:xfrm>
                  <a:off x="1458" y="3230"/>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13995418 w 598"/>
                    <a:gd name="T13" fmla="*/ 3 h 102"/>
                    <a:gd name="T14" fmla="*/ 0 60000 65536"/>
                    <a:gd name="T15" fmla="*/ 0 60000 65536"/>
                    <a:gd name="T16" fmla="*/ 0 60000 65536"/>
                    <a:gd name="T17" fmla="*/ 0 60000 65536"/>
                    <a:gd name="T18" fmla="*/ 0 60000 65536"/>
                    <a:gd name="T19" fmla="*/ 0 60000 65536"/>
                    <a:gd name="T20" fmla="*/ 0 60000 65536"/>
                    <a:gd name="T21" fmla="*/ 0 w 598"/>
                    <a:gd name="T22" fmla="*/ 0 h 102"/>
                    <a:gd name="T23" fmla="*/ 598 w 59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8" h="102">
                      <a:moveTo>
                        <a:pt x="598" y="100"/>
                      </a:moveTo>
                      <a:lnTo>
                        <a:pt x="598" y="0"/>
                      </a:lnTo>
                      <a:lnTo>
                        <a:pt x="0" y="0"/>
                      </a:lnTo>
                      <a:lnTo>
                        <a:pt x="0" y="102"/>
                      </a:lnTo>
                      <a:lnTo>
                        <a:pt x="598" y="102"/>
                      </a:lnTo>
                      <a:lnTo>
                        <a:pt x="598"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22" name="Freeform 141">
                  <a:extLst>
                    <a:ext uri="{FF2B5EF4-FFF2-40B4-BE49-F238E27FC236}">
                      <a16:creationId xmlns:a16="http://schemas.microsoft.com/office/drawing/2014/main" id="{8EBE94A1-928B-244B-8CB1-85CE86143734}"/>
                    </a:ext>
                  </a:extLst>
                </p:cNvPr>
                <p:cNvSpPr>
                  <a:spLocks/>
                </p:cNvSpPr>
                <p:nvPr/>
              </p:nvSpPr>
              <p:spPr bwMode="auto">
                <a:xfrm>
                  <a:off x="1458" y="3230"/>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0 60000 65536"/>
                    <a:gd name="T13" fmla="*/ 0 60000 65536"/>
                    <a:gd name="T14" fmla="*/ 0 60000 65536"/>
                    <a:gd name="T15" fmla="*/ 0 60000 65536"/>
                    <a:gd name="T16" fmla="*/ 0 60000 65536"/>
                    <a:gd name="T17" fmla="*/ 0 60000 65536"/>
                    <a:gd name="T18" fmla="*/ 0 w 598"/>
                    <a:gd name="T19" fmla="*/ 0 h 102"/>
                    <a:gd name="T20" fmla="*/ 598 w 598"/>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598" h="102">
                      <a:moveTo>
                        <a:pt x="598" y="100"/>
                      </a:moveTo>
                      <a:lnTo>
                        <a:pt x="598" y="0"/>
                      </a:lnTo>
                      <a:lnTo>
                        <a:pt x="0" y="0"/>
                      </a:lnTo>
                      <a:lnTo>
                        <a:pt x="0" y="102"/>
                      </a:lnTo>
                      <a:lnTo>
                        <a:pt x="598" y="10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3" name="Freeform 142">
                  <a:extLst>
                    <a:ext uri="{FF2B5EF4-FFF2-40B4-BE49-F238E27FC236}">
                      <a16:creationId xmlns:a16="http://schemas.microsoft.com/office/drawing/2014/main" id="{FDB25819-3394-514F-B9F1-A687B14F5E05}"/>
                    </a:ext>
                  </a:extLst>
                </p:cNvPr>
                <p:cNvSpPr>
                  <a:spLocks/>
                </p:cNvSpPr>
                <p:nvPr/>
              </p:nvSpPr>
              <p:spPr bwMode="auto">
                <a:xfrm>
                  <a:off x="1326" y="3228"/>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24" name="Freeform 143">
                  <a:extLst>
                    <a:ext uri="{FF2B5EF4-FFF2-40B4-BE49-F238E27FC236}">
                      <a16:creationId xmlns:a16="http://schemas.microsoft.com/office/drawing/2014/main" id="{84A724C6-C51D-C240-B5CA-90C25C342FE5}"/>
                    </a:ext>
                  </a:extLst>
                </p:cNvPr>
                <p:cNvSpPr>
                  <a:spLocks/>
                </p:cNvSpPr>
                <p:nvPr/>
              </p:nvSpPr>
              <p:spPr bwMode="auto">
                <a:xfrm>
                  <a:off x="1326" y="3228"/>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5" name="Freeform 144">
                  <a:extLst>
                    <a:ext uri="{FF2B5EF4-FFF2-40B4-BE49-F238E27FC236}">
                      <a16:creationId xmlns:a16="http://schemas.microsoft.com/office/drawing/2014/main" id="{8EF4AE04-1FF2-314C-B798-C24779D7F676}"/>
                    </a:ext>
                  </a:extLst>
                </p:cNvPr>
                <p:cNvSpPr>
                  <a:spLocks/>
                </p:cNvSpPr>
                <p:nvPr/>
              </p:nvSpPr>
              <p:spPr bwMode="auto">
                <a:xfrm>
                  <a:off x="1458" y="3402"/>
                  <a:ext cx="846" cy="87"/>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26" name="Freeform 145">
                  <a:extLst>
                    <a:ext uri="{FF2B5EF4-FFF2-40B4-BE49-F238E27FC236}">
                      <a16:creationId xmlns:a16="http://schemas.microsoft.com/office/drawing/2014/main" id="{2B9C78E7-9C0A-9E4F-8838-BD0D04BB1A90}"/>
                    </a:ext>
                  </a:extLst>
                </p:cNvPr>
                <p:cNvSpPr>
                  <a:spLocks/>
                </p:cNvSpPr>
                <p:nvPr/>
              </p:nvSpPr>
              <p:spPr bwMode="auto">
                <a:xfrm>
                  <a:off x="1458" y="3402"/>
                  <a:ext cx="846" cy="87"/>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7" name="Freeform 146">
                  <a:extLst>
                    <a:ext uri="{FF2B5EF4-FFF2-40B4-BE49-F238E27FC236}">
                      <a16:creationId xmlns:a16="http://schemas.microsoft.com/office/drawing/2014/main" id="{F96D0BEE-AD91-6140-8506-1044AEE6E401}"/>
                    </a:ext>
                  </a:extLst>
                </p:cNvPr>
                <p:cNvSpPr>
                  <a:spLocks/>
                </p:cNvSpPr>
                <p:nvPr/>
              </p:nvSpPr>
              <p:spPr bwMode="auto">
                <a:xfrm>
                  <a:off x="1326" y="3401"/>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28" name="Freeform 147">
                  <a:extLst>
                    <a:ext uri="{FF2B5EF4-FFF2-40B4-BE49-F238E27FC236}">
                      <a16:creationId xmlns:a16="http://schemas.microsoft.com/office/drawing/2014/main" id="{48EFF5D1-FCB6-5D45-84EF-8E782456F162}"/>
                    </a:ext>
                  </a:extLst>
                </p:cNvPr>
                <p:cNvSpPr>
                  <a:spLocks/>
                </p:cNvSpPr>
                <p:nvPr/>
              </p:nvSpPr>
              <p:spPr bwMode="auto">
                <a:xfrm>
                  <a:off x="1326" y="3401"/>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29" name="Freeform 148">
                  <a:extLst>
                    <a:ext uri="{FF2B5EF4-FFF2-40B4-BE49-F238E27FC236}">
                      <a16:creationId xmlns:a16="http://schemas.microsoft.com/office/drawing/2014/main" id="{60228890-83D8-5945-BAE9-706A2726901A}"/>
                    </a:ext>
                  </a:extLst>
                </p:cNvPr>
                <p:cNvSpPr>
                  <a:spLocks/>
                </p:cNvSpPr>
                <p:nvPr/>
              </p:nvSpPr>
              <p:spPr bwMode="auto">
                <a:xfrm>
                  <a:off x="1458" y="3573"/>
                  <a:ext cx="846" cy="87"/>
                </a:xfrm>
                <a:custGeom>
                  <a:avLst/>
                  <a:gdLst>
                    <a:gd name="T0" fmla="*/ 13995418 w 598"/>
                    <a:gd name="T1" fmla="*/ 3 h 101"/>
                    <a:gd name="T2" fmla="*/ 13995418 w 598"/>
                    <a:gd name="T3" fmla="*/ 0 h 101"/>
                    <a:gd name="T4" fmla="*/ 0 w 598"/>
                    <a:gd name="T5" fmla="*/ 0 h 101"/>
                    <a:gd name="T6" fmla="*/ 0 w 598"/>
                    <a:gd name="T7" fmla="*/ 3 h 101"/>
                    <a:gd name="T8" fmla="*/ 13995418 w 598"/>
                    <a:gd name="T9" fmla="*/ 3 h 101"/>
                    <a:gd name="T10" fmla="*/ 13995418 w 598"/>
                    <a:gd name="T11" fmla="*/ 3 h 101"/>
                    <a:gd name="T12" fmla="*/ 0 60000 65536"/>
                    <a:gd name="T13" fmla="*/ 0 60000 65536"/>
                    <a:gd name="T14" fmla="*/ 0 60000 65536"/>
                    <a:gd name="T15" fmla="*/ 0 60000 65536"/>
                    <a:gd name="T16" fmla="*/ 0 60000 65536"/>
                    <a:gd name="T17" fmla="*/ 0 60000 65536"/>
                    <a:gd name="T18" fmla="*/ 0 w 598"/>
                    <a:gd name="T19" fmla="*/ 0 h 101"/>
                    <a:gd name="T20" fmla="*/ 598 w 598"/>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598" h="101">
                      <a:moveTo>
                        <a:pt x="598" y="101"/>
                      </a:moveTo>
                      <a:lnTo>
                        <a:pt x="598" y="0"/>
                      </a:lnTo>
                      <a:lnTo>
                        <a:pt x="0" y="0"/>
                      </a:lnTo>
                      <a:lnTo>
                        <a:pt x="0" y="101"/>
                      </a:lnTo>
                      <a:lnTo>
                        <a:pt x="598" y="1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30" name="Freeform 149">
                  <a:extLst>
                    <a:ext uri="{FF2B5EF4-FFF2-40B4-BE49-F238E27FC236}">
                      <a16:creationId xmlns:a16="http://schemas.microsoft.com/office/drawing/2014/main" id="{50D96BC7-C9A7-5246-AD32-4BA3DE1BDD98}"/>
                    </a:ext>
                  </a:extLst>
                </p:cNvPr>
                <p:cNvSpPr>
                  <a:spLocks/>
                </p:cNvSpPr>
                <p:nvPr/>
              </p:nvSpPr>
              <p:spPr bwMode="auto">
                <a:xfrm>
                  <a:off x="1458" y="3573"/>
                  <a:ext cx="846" cy="87"/>
                </a:xfrm>
                <a:custGeom>
                  <a:avLst/>
                  <a:gdLst>
                    <a:gd name="T0" fmla="*/ 13995418 w 598"/>
                    <a:gd name="T1" fmla="*/ 3 h 101"/>
                    <a:gd name="T2" fmla="*/ 13995418 w 598"/>
                    <a:gd name="T3" fmla="*/ 0 h 101"/>
                    <a:gd name="T4" fmla="*/ 0 w 598"/>
                    <a:gd name="T5" fmla="*/ 0 h 101"/>
                    <a:gd name="T6" fmla="*/ 0 w 598"/>
                    <a:gd name="T7" fmla="*/ 3 h 101"/>
                    <a:gd name="T8" fmla="*/ 13995418 w 598"/>
                    <a:gd name="T9" fmla="*/ 3 h 101"/>
                    <a:gd name="T10" fmla="*/ 13995418 w 598"/>
                    <a:gd name="T11" fmla="*/ 3 h 101"/>
                    <a:gd name="T12" fmla="*/ 0 60000 65536"/>
                    <a:gd name="T13" fmla="*/ 0 60000 65536"/>
                    <a:gd name="T14" fmla="*/ 0 60000 65536"/>
                    <a:gd name="T15" fmla="*/ 0 60000 65536"/>
                    <a:gd name="T16" fmla="*/ 0 60000 65536"/>
                    <a:gd name="T17" fmla="*/ 0 60000 65536"/>
                    <a:gd name="T18" fmla="*/ 0 w 598"/>
                    <a:gd name="T19" fmla="*/ 0 h 101"/>
                    <a:gd name="T20" fmla="*/ 598 w 598"/>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598" h="101">
                      <a:moveTo>
                        <a:pt x="598" y="101"/>
                      </a:moveTo>
                      <a:lnTo>
                        <a:pt x="598" y="0"/>
                      </a:lnTo>
                      <a:lnTo>
                        <a:pt x="0" y="0"/>
                      </a:lnTo>
                      <a:lnTo>
                        <a:pt x="0" y="101"/>
                      </a:lnTo>
                      <a:lnTo>
                        <a:pt x="598" y="10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31" name="Freeform 150">
                  <a:extLst>
                    <a:ext uri="{FF2B5EF4-FFF2-40B4-BE49-F238E27FC236}">
                      <a16:creationId xmlns:a16="http://schemas.microsoft.com/office/drawing/2014/main" id="{BDD677C1-D6CE-8A4C-995F-201A0C35C290}"/>
                    </a:ext>
                  </a:extLst>
                </p:cNvPr>
                <p:cNvSpPr>
                  <a:spLocks/>
                </p:cNvSpPr>
                <p:nvPr/>
              </p:nvSpPr>
              <p:spPr bwMode="auto">
                <a:xfrm>
                  <a:off x="1326" y="3573"/>
                  <a:ext cx="129" cy="87"/>
                </a:xfrm>
                <a:custGeom>
                  <a:avLst/>
                  <a:gdLst>
                    <a:gd name="T0" fmla="*/ 2254855 w 91"/>
                    <a:gd name="T1" fmla="*/ 3 h 101"/>
                    <a:gd name="T2" fmla="*/ 2254855 w 91"/>
                    <a:gd name="T3" fmla="*/ 0 h 101"/>
                    <a:gd name="T4" fmla="*/ 0 w 91"/>
                    <a:gd name="T5" fmla="*/ 0 h 101"/>
                    <a:gd name="T6" fmla="*/ 0 w 91"/>
                    <a:gd name="T7" fmla="*/ 3 h 101"/>
                    <a:gd name="T8" fmla="*/ 2254855 w 91"/>
                    <a:gd name="T9" fmla="*/ 3 h 101"/>
                    <a:gd name="T10" fmla="*/ 2254855 w 91"/>
                    <a:gd name="T11" fmla="*/ 3 h 101"/>
                    <a:gd name="T12" fmla="*/ 0 60000 65536"/>
                    <a:gd name="T13" fmla="*/ 0 60000 65536"/>
                    <a:gd name="T14" fmla="*/ 0 60000 65536"/>
                    <a:gd name="T15" fmla="*/ 0 60000 65536"/>
                    <a:gd name="T16" fmla="*/ 0 60000 65536"/>
                    <a:gd name="T17" fmla="*/ 0 60000 65536"/>
                    <a:gd name="T18" fmla="*/ 0 w 91"/>
                    <a:gd name="T19" fmla="*/ 0 h 101"/>
                    <a:gd name="T20" fmla="*/ 91 w 91"/>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91" h="101">
                      <a:moveTo>
                        <a:pt x="91" y="101"/>
                      </a:moveTo>
                      <a:lnTo>
                        <a:pt x="91" y="0"/>
                      </a:lnTo>
                      <a:lnTo>
                        <a:pt x="0" y="0"/>
                      </a:lnTo>
                      <a:lnTo>
                        <a:pt x="0" y="101"/>
                      </a:lnTo>
                      <a:lnTo>
                        <a:pt x="91" y="1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32" name="Freeform 151">
                  <a:extLst>
                    <a:ext uri="{FF2B5EF4-FFF2-40B4-BE49-F238E27FC236}">
                      <a16:creationId xmlns:a16="http://schemas.microsoft.com/office/drawing/2014/main" id="{AE872010-8442-F646-91C3-AA721E37C688}"/>
                    </a:ext>
                  </a:extLst>
                </p:cNvPr>
                <p:cNvSpPr>
                  <a:spLocks/>
                </p:cNvSpPr>
                <p:nvPr/>
              </p:nvSpPr>
              <p:spPr bwMode="auto">
                <a:xfrm>
                  <a:off x="1326" y="3573"/>
                  <a:ext cx="129" cy="87"/>
                </a:xfrm>
                <a:custGeom>
                  <a:avLst/>
                  <a:gdLst>
                    <a:gd name="T0" fmla="*/ 2254855 w 91"/>
                    <a:gd name="T1" fmla="*/ 3 h 101"/>
                    <a:gd name="T2" fmla="*/ 2254855 w 91"/>
                    <a:gd name="T3" fmla="*/ 0 h 101"/>
                    <a:gd name="T4" fmla="*/ 0 w 91"/>
                    <a:gd name="T5" fmla="*/ 0 h 101"/>
                    <a:gd name="T6" fmla="*/ 0 w 91"/>
                    <a:gd name="T7" fmla="*/ 3 h 101"/>
                    <a:gd name="T8" fmla="*/ 2254855 w 91"/>
                    <a:gd name="T9" fmla="*/ 3 h 101"/>
                    <a:gd name="T10" fmla="*/ 2254855 w 91"/>
                    <a:gd name="T11" fmla="*/ 3 h 101"/>
                    <a:gd name="T12" fmla="*/ 0 60000 65536"/>
                    <a:gd name="T13" fmla="*/ 0 60000 65536"/>
                    <a:gd name="T14" fmla="*/ 0 60000 65536"/>
                    <a:gd name="T15" fmla="*/ 0 60000 65536"/>
                    <a:gd name="T16" fmla="*/ 0 60000 65536"/>
                    <a:gd name="T17" fmla="*/ 0 60000 65536"/>
                    <a:gd name="T18" fmla="*/ 0 w 91"/>
                    <a:gd name="T19" fmla="*/ 0 h 101"/>
                    <a:gd name="T20" fmla="*/ 91 w 91"/>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91" h="101">
                      <a:moveTo>
                        <a:pt x="91" y="101"/>
                      </a:moveTo>
                      <a:lnTo>
                        <a:pt x="91" y="0"/>
                      </a:lnTo>
                      <a:lnTo>
                        <a:pt x="0" y="0"/>
                      </a:lnTo>
                      <a:lnTo>
                        <a:pt x="0" y="101"/>
                      </a:lnTo>
                      <a:lnTo>
                        <a:pt x="91" y="10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33" name="Freeform 152">
                  <a:extLst>
                    <a:ext uri="{FF2B5EF4-FFF2-40B4-BE49-F238E27FC236}">
                      <a16:creationId xmlns:a16="http://schemas.microsoft.com/office/drawing/2014/main" id="{B5981B83-6A02-F54D-A961-E3C0FBBDAA73}"/>
                    </a:ext>
                  </a:extLst>
                </p:cNvPr>
                <p:cNvSpPr>
                  <a:spLocks/>
                </p:cNvSpPr>
                <p:nvPr/>
              </p:nvSpPr>
              <p:spPr bwMode="auto">
                <a:xfrm>
                  <a:off x="1458" y="3748"/>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34" name="Freeform 153">
                  <a:extLst>
                    <a:ext uri="{FF2B5EF4-FFF2-40B4-BE49-F238E27FC236}">
                      <a16:creationId xmlns:a16="http://schemas.microsoft.com/office/drawing/2014/main" id="{C5A4EF0F-24B6-5D4F-9313-6719FADE04A0}"/>
                    </a:ext>
                  </a:extLst>
                </p:cNvPr>
                <p:cNvSpPr>
                  <a:spLocks/>
                </p:cNvSpPr>
                <p:nvPr/>
              </p:nvSpPr>
              <p:spPr bwMode="auto">
                <a:xfrm>
                  <a:off x="1458" y="3748"/>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35" name="Freeform 154">
                  <a:extLst>
                    <a:ext uri="{FF2B5EF4-FFF2-40B4-BE49-F238E27FC236}">
                      <a16:creationId xmlns:a16="http://schemas.microsoft.com/office/drawing/2014/main" id="{CD8159D8-4CF6-DA4B-98AA-B229918C883C}"/>
                    </a:ext>
                  </a:extLst>
                </p:cNvPr>
                <p:cNvSpPr>
                  <a:spLocks/>
                </p:cNvSpPr>
                <p:nvPr/>
              </p:nvSpPr>
              <p:spPr bwMode="auto">
                <a:xfrm>
                  <a:off x="1326" y="3746"/>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36" name="Freeform 155">
                  <a:extLst>
                    <a:ext uri="{FF2B5EF4-FFF2-40B4-BE49-F238E27FC236}">
                      <a16:creationId xmlns:a16="http://schemas.microsoft.com/office/drawing/2014/main" id="{4361C21D-2F93-6649-BEE2-D54595ACF9CA}"/>
                    </a:ext>
                  </a:extLst>
                </p:cNvPr>
                <p:cNvSpPr>
                  <a:spLocks/>
                </p:cNvSpPr>
                <p:nvPr/>
              </p:nvSpPr>
              <p:spPr bwMode="auto">
                <a:xfrm>
                  <a:off x="1326" y="3746"/>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37" name="Freeform 156">
                  <a:extLst>
                    <a:ext uri="{FF2B5EF4-FFF2-40B4-BE49-F238E27FC236}">
                      <a16:creationId xmlns:a16="http://schemas.microsoft.com/office/drawing/2014/main" id="{D84B9C67-DD98-6D4D-818C-814CD98CF6D5}"/>
                    </a:ext>
                  </a:extLst>
                </p:cNvPr>
                <p:cNvSpPr>
                  <a:spLocks/>
                </p:cNvSpPr>
                <p:nvPr/>
              </p:nvSpPr>
              <p:spPr bwMode="auto">
                <a:xfrm>
                  <a:off x="1458" y="3920"/>
                  <a:ext cx="846" cy="87"/>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38" name="Freeform 157">
                  <a:extLst>
                    <a:ext uri="{FF2B5EF4-FFF2-40B4-BE49-F238E27FC236}">
                      <a16:creationId xmlns:a16="http://schemas.microsoft.com/office/drawing/2014/main" id="{8E7BD303-2293-004E-BBF8-BF726F568AAC}"/>
                    </a:ext>
                  </a:extLst>
                </p:cNvPr>
                <p:cNvSpPr>
                  <a:spLocks/>
                </p:cNvSpPr>
                <p:nvPr/>
              </p:nvSpPr>
              <p:spPr bwMode="auto">
                <a:xfrm>
                  <a:off x="1458" y="3920"/>
                  <a:ext cx="846" cy="87"/>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39" name="Freeform 158">
                  <a:extLst>
                    <a:ext uri="{FF2B5EF4-FFF2-40B4-BE49-F238E27FC236}">
                      <a16:creationId xmlns:a16="http://schemas.microsoft.com/office/drawing/2014/main" id="{BEBDB00E-509D-3741-88E5-375DDB00C4F6}"/>
                    </a:ext>
                  </a:extLst>
                </p:cNvPr>
                <p:cNvSpPr>
                  <a:spLocks/>
                </p:cNvSpPr>
                <p:nvPr/>
              </p:nvSpPr>
              <p:spPr bwMode="auto">
                <a:xfrm>
                  <a:off x="1326" y="3919"/>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40" name="Freeform 159">
                  <a:extLst>
                    <a:ext uri="{FF2B5EF4-FFF2-40B4-BE49-F238E27FC236}">
                      <a16:creationId xmlns:a16="http://schemas.microsoft.com/office/drawing/2014/main" id="{AB5ABD9D-9CBC-EA40-B4C4-220FC94C3ECA}"/>
                    </a:ext>
                  </a:extLst>
                </p:cNvPr>
                <p:cNvSpPr>
                  <a:spLocks/>
                </p:cNvSpPr>
                <p:nvPr/>
              </p:nvSpPr>
              <p:spPr bwMode="auto">
                <a:xfrm>
                  <a:off x="1326" y="3919"/>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41" name="Freeform 160">
                  <a:extLst>
                    <a:ext uri="{FF2B5EF4-FFF2-40B4-BE49-F238E27FC236}">
                      <a16:creationId xmlns:a16="http://schemas.microsoft.com/office/drawing/2014/main" id="{CBB66025-1988-AD4C-BBD8-2C421C448552}"/>
                    </a:ext>
                  </a:extLst>
                </p:cNvPr>
                <p:cNvSpPr>
                  <a:spLocks/>
                </p:cNvSpPr>
                <p:nvPr/>
              </p:nvSpPr>
              <p:spPr bwMode="auto">
                <a:xfrm>
                  <a:off x="1458" y="4093"/>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13995418 w 598"/>
                    <a:gd name="T13" fmla="*/ 3 h 100"/>
                    <a:gd name="T14" fmla="*/ 0 60000 65536"/>
                    <a:gd name="T15" fmla="*/ 0 60000 65536"/>
                    <a:gd name="T16" fmla="*/ 0 60000 65536"/>
                    <a:gd name="T17" fmla="*/ 0 60000 65536"/>
                    <a:gd name="T18" fmla="*/ 0 60000 65536"/>
                    <a:gd name="T19" fmla="*/ 0 60000 65536"/>
                    <a:gd name="T20" fmla="*/ 0 60000 65536"/>
                    <a:gd name="T21" fmla="*/ 0 w 598"/>
                    <a:gd name="T22" fmla="*/ 0 h 100"/>
                    <a:gd name="T23" fmla="*/ 598 w 598"/>
                    <a:gd name="T24" fmla="*/ 100 h 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8" h="100">
                      <a:moveTo>
                        <a:pt x="598" y="98"/>
                      </a:moveTo>
                      <a:lnTo>
                        <a:pt x="598" y="0"/>
                      </a:lnTo>
                      <a:lnTo>
                        <a:pt x="0" y="0"/>
                      </a:lnTo>
                      <a:lnTo>
                        <a:pt x="0" y="100"/>
                      </a:lnTo>
                      <a:lnTo>
                        <a:pt x="598" y="100"/>
                      </a:lnTo>
                      <a:lnTo>
                        <a:pt x="598" y="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42" name="Freeform 161">
                  <a:extLst>
                    <a:ext uri="{FF2B5EF4-FFF2-40B4-BE49-F238E27FC236}">
                      <a16:creationId xmlns:a16="http://schemas.microsoft.com/office/drawing/2014/main" id="{B7BA2F9C-8DBC-5A41-8C21-CE8E1166D9D5}"/>
                    </a:ext>
                  </a:extLst>
                </p:cNvPr>
                <p:cNvSpPr>
                  <a:spLocks/>
                </p:cNvSpPr>
                <p:nvPr/>
              </p:nvSpPr>
              <p:spPr bwMode="auto">
                <a:xfrm>
                  <a:off x="1458" y="4093"/>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98"/>
                      </a:moveTo>
                      <a:lnTo>
                        <a:pt x="598" y="0"/>
                      </a:lnTo>
                      <a:lnTo>
                        <a:pt x="0" y="0"/>
                      </a:lnTo>
                      <a:lnTo>
                        <a:pt x="0" y="100"/>
                      </a:lnTo>
                      <a:lnTo>
                        <a:pt x="598"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43" name="Freeform 162">
                  <a:extLst>
                    <a:ext uri="{FF2B5EF4-FFF2-40B4-BE49-F238E27FC236}">
                      <a16:creationId xmlns:a16="http://schemas.microsoft.com/office/drawing/2014/main" id="{46CAD6C9-EC20-6443-B0C7-5824359A416E}"/>
                    </a:ext>
                  </a:extLst>
                </p:cNvPr>
                <p:cNvSpPr>
                  <a:spLocks/>
                </p:cNvSpPr>
                <p:nvPr/>
              </p:nvSpPr>
              <p:spPr bwMode="auto">
                <a:xfrm>
                  <a:off x="1326" y="4091"/>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44" name="Freeform 163">
                  <a:extLst>
                    <a:ext uri="{FF2B5EF4-FFF2-40B4-BE49-F238E27FC236}">
                      <a16:creationId xmlns:a16="http://schemas.microsoft.com/office/drawing/2014/main" id="{6461EE1C-0BD4-524E-99D4-96781EFCDDCE}"/>
                    </a:ext>
                  </a:extLst>
                </p:cNvPr>
                <p:cNvSpPr>
                  <a:spLocks/>
                </p:cNvSpPr>
                <p:nvPr/>
              </p:nvSpPr>
              <p:spPr bwMode="auto">
                <a:xfrm>
                  <a:off x="1326" y="4091"/>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45" name="Freeform 164">
                  <a:extLst>
                    <a:ext uri="{FF2B5EF4-FFF2-40B4-BE49-F238E27FC236}">
                      <a16:creationId xmlns:a16="http://schemas.microsoft.com/office/drawing/2014/main" id="{00D4201B-1FB0-7A45-8401-1E6C30611D7D}"/>
                    </a:ext>
                  </a:extLst>
                </p:cNvPr>
                <p:cNvSpPr>
                  <a:spLocks/>
                </p:cNvSpPr>
                <p:nvPr/>
              </p:nvSpPr>
              <p:spPr bwMode="auto">
                <a:xfrm>
                  <a:off x="1458" y="3144"/>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46" name="Freeform 165">
                  <a:extLst>
                    <a:ext uri="{FF2B5EF4-FFF2-40B4-BE49-F238E27FC236}">
                      <a16:creationId xmlns:a16="http://schemas.microsoft.com/office/drawing/2014/main" id="{68590CE4-8391-F74B-B793-B769F8C9988B}"/>
                    </a:ext>
                  </a:extLst>
                </p:cNvPr>
                <p:cNvSpPr>
                  <a:spLocks/>
                </p:cNvSpPr>
                <p:nvPr/>
              </p:nvSpPr>
              <p:spPr bwMode="auto">
                <a:xfrm>
                  <a:off x="1458" y="3144"/>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47" name="Freeform 166">
                  <a:extLst>
                    <a:ext uri="{FF2B5EF4-FFF2-40B4-BE49-F238E27FC236}">
                      <a16:creationId xmlns:a16="http://schemas.microsoft.com/office/drawing/2014/main" id="{AD2DC805-1CCA-094B-907B-1BF7C3410643}"/>
                    </a:ext>
                  </a:extLst>
                </p:cNvPr>
                <p:cNvSpPr>
                  <a:spLocks/>
                </p:cNvSpPr>
                <p:nvPr/>
              </p:nvSpPr>
              <p:spPr bwMode="auto">
                <a:xfrm>
                  <a:off x="1326" y="3142"/>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48" name="Freeform 167">
                  <a:extLst>
                    <a:ext uri="{FF2B5EF4-FFF2-40B4-BE49-F238E27FC236}">
                      <a16:creationId xmlns:a16="http://schemas.microsoft.com/office/drawing/2014/main" id="{1A04D850-1751-694E-979C-B7B3B23112D0}"/>
                    </a:ext>
                  </a:extLst>
                </p:cNvPr>
                <p:cNvSpPr>
                  <a:spLocks/>
                </p:cNvSpPr>
                <p:nvPr/>
              </p:nvSpPr>
              <p:spPr bwMode="auto">
                <a:xfrm>
                  <a:off x="1326" y="3142"/>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49" name="Freeform 168">
                  <a:extLst>
                    <a:ext uri="{FF2B5EF4-FFF2-40B4-BE49-F238E27FC236}">
                      <a16:creationId xmlns:a16="http://schemas.microsoft.com/office/drawing/2014/main" id="{42205148-95FF-4B49-86DE-6255039B08C8}"/>
                    </a:ext>
                  </a:extLst>
                </p:cNvPr>
                <p:cNvSpPr>
                  <a:spLocks/>
                </p:cNvSpPr>
                <p:nvPr/>
              </p:nvSpPr>
              <p:spPr bwMode="auto">
                <a:xfrm>
                  <a:off x="1458" y="3314"/>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13995418 w 598"/>
                    <a:gd name="T13" fmla="*/ 3 h 102"/>
                    <a:gd name="T14" fmla="*/ 0 60000 65536"/>
                    <a:gd name="T15" fmla="*/ 0 60000 65536"/>
                    <a:gd name="T16" fmla="*/ 0 60000 65536"/>
                    <a:gd name="T17" fmla="*/ 0 60000 65536"/>
                    <a:gd name="T18" fmla="*/ 0 60000 65536"/>
                    <a:gd name="T19" fmla="*/ 0 60000 65536"/>
                    <a:gd name="T20" fmla="*/ 0 60000 65536"/>
                    <a:gd name="T21" fmla="*/ 0 w 598"/>
                    <a:gd name="T22" fmla="*/ 0 h 102"/>
                    <a:gd name="T23" fmla="*/ 598 w 59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8" h="102">
                      <a:moveTo>
                        <a:pt x="598" y="100"/>
                      </a:moveTo>
                      <a:lnTo>
                        <a:pt x="598" y="0"/>
                      </a:lnTo>
                      <a:lnTo>
                        <a:pt x="0" y="0"/>
                      </a:lnTo>
                      <a:lnTo>
                        <a:pt x="0" y="102"/>
                      </a:lnTo>
                      <a:lnTo>
                        <a:pt x="598" y="102"/>
                      </a:lnTo>
                      <a:lnTo>
                        <a:pt x="598"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50" name="Freeform 169">
                  <a:extLst>
                    <a:ext uri="{FF2B5EF4-FFF2-40B4-BE49-F238E27FC236}">
                      <a16:creationId xmlns:a16="http://schemas.microsoft.com/office/drawing/2014/main" id="{20A3BD5D-1307-6C42-A85E-2A69FA4F6503}"/>
                    </a:ext>
                  </a:extLst>
                </p:cNvPr>
                <p:cNvSpPr>
                  <a:spLocks/>
                </p:cNvSpPr>
                <p:nvPr/>
              </p:nvSpPr>
              <p:spPr bwMode="auto">
                <a:xfrm>
                  <a:off x="1458" y="3314"/>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0 60000 65536"/>
                    <a:gd name="T13" fmla="*/ 0 60000 65536"/>
                    <a:gd name="T14" fmla="*/ 0 60000 65536"/>
                    <a:gd name="T15" fmla="*/ 0 60000 65536"/>
                    <a:gd name="T16" fmla="*/ 0 60000 65536"/>
                    <a:gd name="T17" fmla="*/ 0 60000 65536"/>
                    <a:gd name="T18" fmla="*/ 0 w 598"/>
                    <a:gd name="T19" fmla="*/ 0 h 102"/>
                    <a:gd name="T20" fmla="*/ 598 w 598"/>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598" h="102">
                      <a:moveTo>
                        <a:pt x="598" y="100"/>
                      </a:moveTo>
                      <a:lnTo>
                        <a:pt x="598" y="0"/>
                      </a:lnTo>
                      <a:lnTo>
                        <a:pt x="0" y="0"/>
                      </a:lnTo>
                      <a:lnTo>
                        <a:pt x="0" y="102"/>
                      </a:lnTo>
                      <a:lnTo>
                        <a:pt x="598" y="10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51" name="Freeform 170">
                  <a:extLst>
                    <a:ext uri="{FF2B5EF4-FFF2-40B4-BE49-F238E27FC236}">
                      <a16:creationId xmlns:a16="http://schemas.microsoft.com/office/drawing/2014/main" id="{F1570D96-4E54-FC47-814F-A5EA6E8C6BE5}"/>
                    </a:ext>
                  </a:extLst>
                </p:cNvPr>
                <p:cNvSpPr>
                  <a:spLocks/>
                </p:cNvSpPr>
                <p:nvPr/>
              </p:nvSpPr>
              <p:spPr bwMode="auto">
                <a:xfrm>
                  <a:off x="1326" y="3314"/>
                  <a:ext cx="129" cy="87"/>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52" name="Freeform 171">
                  <a:extLst>
                    <a:ext uri="{FF2B5EF4-FFF2-40B4-BE49-F238E27FC236}">
                      <a16:creationId xmlns:a16="http://schemas.microsoft.com/office/drawing/2014/main" id="{EEF08BB3-1CC4-AF46-AF0E-D8081C141864}"/>
                    </a:ext>
                  </a:extLst>
                </p:cNvPr>
                <p:cNvSpPr>
                  <a:spLocks/>
                </p:cNvSpPr>
                <p:nvPr/>
              </p:nvSpPr>
              <p:spPr bwMode="auto">
                <a:xfrm>
                  <a:off x="1326" y="3314"/>
                  <a:ext cx="129" cy="87"/>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53" name="Freeform 172">
                  <a:extLst>
                    <a:ext uri="{FF2B5EF4-FFF2-40B4-BE49-F238E27FC236}">
                      <a16:creationId xmlns:a16="http://schemas.microsoft.com/office/drawing/2014/main" id="{317B3211-E70D-584B-AAE9-04DD14E80A2B}"/>
                    </a:ext>
                  </a:extLst>
                </p:cNvPr>
                <p:cNvSpPr>
                  <a:spLocks/>
                </p:cNvSpPr>
                <p:nvPr/>
              </p:nvSpPr>
              <p:spPr bwMode="auto">
                <a:xfrm>
                  <a:off x="1458" y="3489"/>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13995418 w 598"/>
                    <a:gd name="T13" fmla="*/ 3 h 100"/>
                    <a:gd name="T14" fmla="*/ 0 60000 65536"/>
                    <a:gd name="T15" fmla="*/ 0 60000 65536"/>
                    <a:gd name="T16" fmla="*/ 0 60000 65536"/>
                    <a:gd name="T17" fmla="*/ 0 60000 65536"/>
                    <a:gd name="T18" fmla="*/ 0 60000 65536"/>
                    <a:gd name="T19" fmla="*/ 0 60000 65536"/>
                    <a:gd name="T20" fmla="*/ 0 60000 65536"/>
                    <a:gd name="T21" fmla="*/ 0 w 598"/>
                    <a:gd name="T22" fmla="*/ 0 h 100"/>
                    <a:gd name="T23" fmla="*/ 598 w 598"/>
                    <a:gd name="T24" fmla="*/ 100 h 1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8" h="100">
                      <a:moveTo>
                        <a:pt x="598" y="98"/>
                      </a:moveTo>
                      <a:lnTo>
                        <a:pt x="598" y="0"/>
                      </a:lnTo>
                      <a:lnTo>
                        <a:pt x="0" y="0"/>
                      </a:lnTo>
                      <a:lnTo>
                        <a:pt x="0" y="100"/>
                      </a:lnTo>
                      <a:lnTo>
                        <a:pt x="598" y="100"/>
                      </a:lnTo>
                      <a:lnTo>
                        <a:pt x="598" y="98"/>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54" name="Freeform 173">
                  <a:extLst>
                    <a:ext uri="{FF2B5EF4-FFF2-40B4-BE49-F238E27FC236}">
                      <a16:creationId xmlns:a16="http://schemas.microsoft.com/office/drawing/2014/main" id="{5AD9B63C-54F5-5643-90A0-3F294F12DE5C}"/>
                    </a:ext>
                  </a:extLst>
                </p:cNvPr>
                <p:cNvSpPr>
                  <a:spLocks/>
                </p:cNvSpPr>
                <p:nvPr/>
              </p:nvSpPr>
              <p:spPr bwMode="auto">
                <a:xfrm>
                  <a:off x="1458" y="3489"/>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98"/>
                      </a:moveTo>
                      <a:lnTo>
                        <a:pt x="598" y="0"/>
                      </a:lnTo>
                      <a:lnTo>
                        <a:pt x="0" y="0"/>
                      </a:lnTo>
                      <a:lnTo>
                        <a:pt x="0" y="100"/>
                      </a:lnTo>
                      <a:lnTo>
                        <a:pt x="598"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55" name="Freeform 174">
                  <a:extLst>
                    <a:ext uri="{FF2B5EF4-FFF2-40B4-BE49-F238E27FC236}">
                      <a16:creationId xmlns:a16="http://schemas.microsoft.com/office/drawing/2014/main" id="{DC4D7240-4A05-1D4B-B812-CCB5C4D734C4}"/>
                    </a:ext>
                  </a:extLst>
                </p:cNvPr>
                <p:cNvSpPr>
                  <a:spLocks/>
                </p:cNvSpPr>
                <p:nvPr/>
              </p:nvSpPr>
              <p:spPr bwMode="auto">
                <a:xfrm>
                  <a:off x="1326" y="3487"/>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56" name="Freeform 175">
                  <a:extLst>
                    <a:ext uri="{FF2B5EF4-FFF2-40B4-BE49-F238E27FC236}">
                      <a16:creationId xmlns:a16="http://schemas.microsoft.com/office/drawing/2014/main" id="{0EA367CC-5E15-EF4C-A262-29676B71B55E}"/>
                    </a:ext>
                  </a:extLst>
                </p:cNvPr>
                <p:cNvSpPr>
                  <a:spLocks/>
                </p:cNvSpPr>
                <p:nvPr/>
              </p:nvSpPr>
              <p:spPr bwMode="auto">
                <a:xfrm>
                  <a:off x="1326" y="3487"/>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57" name="Freeform 176">
                  <a:extLst>
                    <a:ext uri="{FF2B5EF4-FFF2-40B4-BE49-F238E27FC236}">
                      <a16:creationId xmlns:a16="http://schemas.microsoft.com/office/drawing/2014/main" id="{5E197E3C-F518-AC46-B8F2-B64825EFFFC8}"/>
                    </a:ext>
                  </a:extLst>
                </p:cNvPr>
                <p:cNvSpPr>
                  <a:spLocks/>
                </p:cNvSpPr>
                <p:nvPr/>
              </p:nvSpPr>
              <p:spPr bwMode="auto">
                <a:xfrm>
                  <a:off x="1458" y="3660"/>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13995418 w 598"/>
                    <a:gd name="T13" fmla="*/ 3 h 102"/>
                    <a:gd name="T14" fmla="*/ 0 60000 65536"/>
                    <a:gd name="T15" fmla="*/ 0 60000 65536"/>
                    <a:gd name="T16" fmla="*/ 0 60000 65536"/>
                    <a:gd name="T17" fmla="*/ 0 60000 65536"/>
                    <a:gd name="T18" fmla="*/ 0 60000 65536"/>
                    <a:gd name="T19" fmla="*/ 0 60000 65536"/>
                    <a:gd name="T20" fmla="*/ 0 60000 65536"/>
                    <a:gd name="T21" fmla="*/ 0 w 598"/>
                    <a:gd name="T22" fmla="*/ 0 h 102"/>
                    <a:gd name="T23" fmla="*/ 598 w 59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8" h="102">
                      <a:moveTo>
                        <a:pt x="598" y="100"/>
                      </a:moveTo>
                      <a:lnTo>
                        <a:pt x="598" y="0"/>
                      </a:lnTo>
                      <a:lnTo>
                        <a:pt x="0" y="0"/>
                      </a:lnTo>
                      <a:lnTo>
                        <a:pt x="0" y="102"/>
                      </a:lnTo>
                      <a:lnTo>
                        <a:pt x="598" y="102"/>
                      </a:lnTo>
                      <a:lnTo>
                        <a:pt x="598"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58" name="Freeform 177">
                  <a:extLst>
                    <a:ext uri="{FF2B5EF4-FFF2-40B4-BE49-F238E27FC236}">
                      <a16:creationId xmlns:a16="http://schemas.microsoft.com/office/drawing/2014/main" id="{FED061E2-C73C-014F-A1A5-D3724369C7FF}"/>
                    </a:ext>
                  </a:extLst>
                </p:cNvPr>
                <p:cNvSpPr>
                  <a:spLocks/>
                </p:cNvSpPr>
                <p:nvPr/>
              </p:nvSpPr>
              <p:spPr bwMode="auto">
                <a:xfrm>
                  <a:off x="1458" y="3660"/>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0 60000 65536"/>
                    <a:gd name="T13" fmla="*/ 0 60000 65536"/>
                    <a:gd name="T14" fmla="*/ 0 60000 65536"/>
                    <a:gd name="T15" fmla="*/ 0 60000 65536"/>
                    <a:gd name="T16" fmla="*/ 0 60000 65536"/>
                    <a:gd name="T17" fmla="*/ 0 60000 65536"/>
                    <a:gd name="T18" fmla="*/ 0 w 598"/>
                    <a:gd name="T19" fmla="*/ 0 h 102"/>
                    <a:gd name="T20" fmla="*/ 598 w 598"/>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598" h="102">
                      <a:moveTo>
                        <a:pt x="598" y="100"/>
                      </a:moveTo>
                      <a:lnTo>
                        <a:pt x="598" y="0"/>
                      </a:lnTo>
                      <a:lnTo>
                        <a:pt x="0" y="0"/>
                      </a:lnTo>
                      <a:lnTo>
                        <a:pt x="0" y="102"/>
                      </a:lnTo>
                      <a:lnTo>
                        <a:pt x="598" y="10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59" name="Freeform 178">
                  <a:extLst>
                    <a:ext uri="{FF2B5EF4-FFF2-40B4-BE49-F238E27FC236}">
                      <a16:creationId xmlns:a16="http://schemas.microsoft.com/office/drawing/2014/main" id="{2730B9A9-4064-1E45-8930-2B242C6BB71C}"/>
                    </a:ext>
                  </a:extLst>
                </p:cNvPr>
                <p:cNvSpPr>
                  <a:spLocks/>
                </p:cNvSpPr>
                <p:nvPr/>
              </p:nvSpPr>
              <p:spPr bwMode="auto">
                <a:xfrm>
                  <a:off x="1326" y="3660"/>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60" name="Freeform 179">
                  <a:extLst>
                    <a:ext uri="{FF2B5EF4-FFF2-40B4-BE49-F238E27FC236}">
                      <a16:creationId xmlns:a16="http://schemas.microsoft.com/office/drawing/2014/main" id="{43AA0F6A-11D5-454F-A7CC-E1A56B9223DC}"/>
                    </a:ext>
                  </a:extLst>
                </p:cNvPr>
                <p:cNvSpPr>
                  <a:spLocks/>
                </p:cNvSpPr>
                <p:nvPr/>
              </p:nvSpPr>
              <p:spPr bwMode="auto">
                <a:xfrm>
                  <a:off x="1326" y="3660"/>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61" name="Freeform 180">
                  <a:extLst>
                    <a:ext uri="{FF2B5EF4-FFF2-40B4-BE49-F238E27FC236}">
                      <a16:creationId xmlns:a16="http://schemas.microsoft.com/office/drawing/2014/main" id="{2CBFB456-7A07-A946-9453-D1AA4BB41E28}"/>
                    </a:ext>
                  </a:extLst>
                </p:cNvPr>
                <p:cNvSpPr>
                  <a:spLocks/>
                </p:cNvSpPr>
                <p:nvPr/>
              </p:nvSpPr>
              <p:spPr bwMode="auto">
                <a:xfrm>
                  <a:off x="1458" y="3834"/>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62" name="Freeform 181">
                  <a:extLst>
                    <a:ext uri="{FF2B5EF4-FFF2-40B4-BE49-F238E27FC236}">
                      <a16:creationId xmlns:a16="http://schemas.microsoft.com/office/drawing/2014/main" id="{C72E4CF0-40ED-D446-863B-4BA8210D46F4}"/>
                    </a:ext>
                  </a:extLst>
                </p:cNvPr>
                <p:cNvSpPr>
                  <a:spLocks/>
                </p:cNvSpPr>
                <p:nvPr/>
              </p:nvSpPr>
              <p:spPr bwMode="auto">
                <a:xfrm>
                  <a:off x="1458" y="3834"/>
                  <a:ext cx="846" cy="86"/>
                </a:xfrm>
                <a:custGeom>
                  <a:avLst/>
                  <a:gdLst>
                    <a:gd name="T0" fmla="*/ 13995418 w 598"/>
                    <a:gd name="T1" fmla="*/ 3 h 100"/>
                    <a:gd name="T2" fmla="*/ 13995418 w 598"/>
                    <a:gd name="T3" fmla="*/ 0 h 100"/>
                    <a:gd name="T4" fmla="*/ 0 w 598"/>
                    <a:gd name="T5" fmla="*/ 0 h 100"/>
                    <a:gd name="T6" fmla="*/ 0 w 598"/>
                    <a:gd name="T7" fmla="*/ 3 h 100"/>
                    <a:gd name="T8" fmla="*/ 13995418 w 598"/>
                    <a:gd name="T9" fmla="*/ 3 h 100"/>
                    <a:gd name="T10" fmla="*/ 13995418 w 598"/>
                    <a:gd name="T11" fmla="*/ 3 h 100"/>
                    <a:gd name="T12" fmla="*/ 0 60000 65536"/>
                    <a:gd name="T13" fmla="*/ 0 60000 65536"/>
                    <a:gd name="T14" fmla="*/ 0 60000 65536"/>
                    <a:gd name="T15" fmla="*/ 0 60000 65536"/>
                    <a:gd name="T16" fmla="*/ 0 60000 65536"/>
                    <a:gd name="T17" fmla="*/ 0 60000 65536"/>
                    <a:gd name="T18" fmla="*/ 0 w 598"/>
                    <a:gd name="T19" fmla="*/ 0 h 100"/>
                    <a:gd name="T20" fmla="*/ 598 w 598"/>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598" h="100">
                      <a:moveTo>
                        <a:pt x="598" y="100"/>
                      </a:moveTo>
                      <a:lnTo>
                        <a:pt x="598" y="0"/>
                      </a:lnTo>
                      <a:lnTo>
                        <a:pt x="0" y="0"/>
                      </a:lnTo>
                      <a:lnTo>
                        <a:pt x="0" y="100"/>
                      </a:lnTo>
                      <a:lnTo>
                        <a:pt x="598"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63" name="Freeform 182">
                  <a:extLst>
                    <a:ext uri="{FF2B5EF4-FFF2-40B4-BE49-F238E27FC236}">
                      <a16:creationId xmlns:a16="http://schemas.microsoft.com/office/drawing/2014/main" id="{8E412E8E-3EB8-934B-838C-D72B8CEFF56C}"/>
                    </a:ext>
                  </a:extLst>
                </p:cNvPr>
                <p:cNvSpPr>
                  <a:spLocks/>
                </p:cNvSpPr>
                <p:nvPr/>
              </p:nvSpPr>
              <p:spPr bwMode="auto">
                <a:xfrm>
                  <a:off x="1326" y="3832"/>
                  <a:ext cx="129" cy="87"/>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64" name="Freeform 183">
                  <a:extLst>
                    <a:ext uri="{FF2B5EF4-FFF2-40B4-BE49-F238E27FC236}">
                      <a16:creationId xmlns:a16="http://schemas.microsoft.com/office/drawing/2014/main" id="{AD72F57E-DE42-EE4A-BE14-00A13CC74F84}"/>
                    </a:ext>
                  </a:extLst>
                </p:cNvPr>
                <p:cNvSpPr>
                  <a:spLocks/>
                </p:cNvSpPr>
                <p:nvPr/>
              </p:nvSpPr>
              <p:spPr bwMode="auto">
                <a:xfrm>
                  <a:off x="1326" y="3832"/>
                  <a:ext cx="129" cy="87"/>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65" name="Freeform 184">
                  <a:extLst>
                    <a:ext uri="{FF2B5EF4-FFF2-40B4-BE49-F238E27FC236}">
                      <a16:creationId xmlns:a16="http://schemas.microsoft.com/office/drawing/2014/main" id="{F0B030A7-B994-9748-8705-FCF863D251FB}"/>
                    </a:ext>
                  </a:extLst>
                </p:cNvPr>
                <p:cNvSpPr>
                  <a:spLocks/>
                </p:cNvSpPr>
                <p:nvPr/>
              </p:nvSpPr>
              <p:spPr bwMode="auto">
                <a:xfrm>
                  <a:off x="1458" y="4005"/>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13995418 w 598"/>
                    <a:gd name="T13" fmla="*/ 3 h 102"/>
                    <a:gd name="T14" fmla="*/ 0 60000 65536"/>
                    <a:gd name="T15" fmla="*/ 0 60000 65536"/>
                    <a:gd name="T16" fmla="*/ 0 60000 65536"/>
                    <a:gd name="T17" fmla="*/ 0 60000 65536"/>
                    <a:gd name="T18" fmla="*/ 0 60000 65536"/>
                    <a:gd name="T19" fmla="*/ 0 60000 65536"/>
                    <a:gd name="T20" fmla="*/ 0 60000 65536"/>
                    <a:gd name="T21" fmla="*/ 0 w 598"/>
                    <a:gd name="T22" fmla="*/ 0 h 102"/>
                    <a:gd name="T23" fmla="*/ 598 w 598"/>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98" h="102">
                      <a:moveTo>
                        <a:pt x="598" y="100"/>
                      </a:moveTo>
                      <a:lnTo>
                        <a:pt x="598" y="0"/>
                      </a:lnTo>
                      <a:lnTo>
                        <a:pt x="0" y="0"/>
                      </a:lnTo>
                      <a:lnTo>
                        <a:pt x="0" y="102"/>
                      </a:lnTo>
                      <a:lnTo>
                        <a:pt x="598" y="102"/>
                      </a:lnTo>
                      <a:lnTo>
                        <a:pt x="598" y="10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66" name="Freeform 185">
                  <a:extLst>
                    <a:ext uri="{FF2B5EF4-FFF2-40B4-BE49-F238E27FC236}">
                      <a16:creationId xmlns:a16="http://schemas.microsoft.com/office/drawing/2014/main" id="{35618DFA-44FD-F247-B75B-C4A4A8D7A928}"/>
                    </a:ext>
                  </a:extLst>
                </p:cNvPr>
                <p:cNvSpPr>
                  <a:spLocks/>
                </p:cNvSpPr>
                <p:nvPr/>
              </p:nvSpPr>
              <p:spPr bwMode="auto">
                <a:xfrm>
                  <a:off x="1458" y="4005"/>
                  <a:ext cx="846" cy="88"/>
                </a:xfrm>
                <a:custGeom>
                  <a:avLst/>
                  <a:gdLst>
                    <a:gd name="T0" fmla="*/ 13995418 w 598"/>
                    <a:gd name="T1" fmla="*/ 3 h 102"/>
                    <a:gd name="T2" fmla="*/ 13995418 w 598"/>
                    <a:gd name="T3" fmla="*/ 0 h 102"/>
                    <a:gd name="T4" fmla="*/ 0 w 598"/>
                    <a:gd name="T5" fmla="*/ 0 h 102"/>
                    <a:gd name="T6" fmla="*/ 0 w 598"/>
                    <a:gd name="T7" fmla="*/ 3 h 102"/>
                    <a:gd name="T8" fmla="*/ 13995418 w 598"/>
                    <a:gd name="T9" fmla="*/ 3 h 102"/>
                    <a:gd name="T10" fmla="*/ 13995418 w 598"/>
                    <a:gd name="T11" fmla="*/ 3 h 102"/>
                    <a:gd name="T12" fmla="*/ 0 60000 65536"/>
                    <a:gd name="T13" fmla="*/ 0 60000 65536"/>
                    <a:gd name="T14" fmla="*/ 0 60000 65536"/>
                    <a:gd name="T15" fmla="*/ 0 60000 65536"/>
                    <a:gd name="T16" fmla="*/ 0 60000 65536"/>
                    <a:gd name="T17" fmla="*/ 0 60000 65536"/>
                    <a:gd name="T18" fmla="*/ 0 w 598"/>
                    <a:gd name="T19" fmla="*/ 0 h 102"/>
                    <a:gd name="T20" fmla="*/ 598 w 598"/>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598" h="102">
                      <a:moveTo>
                        <a:pt x="598" y="100"/>
                      </a:moveTo>
                      <a:lnTo>
                        <a:pt x="598" y="0"/>
                      </a:lnTo>
                      <a:lnTo>
                        <a:pt x="0" y="0"/>
                      </a:lnTo>
                      <a:lnTo>
                        <a:pt x="0" y="102"/>
                      </a:lnTo>
                      <a:lnTo>
                        <a:pt x="598" y="10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67" name="Freeform 186">
                  <a:extLst>
                    <a:ext uri="{FF2B5EF4-FFF2-40B4-BE49-F238E27FC236}">
                      <a16:creationId xmlns:a16="http://schemas.microsoft.com/office/drawing/2014/main" id="{7C394A62-C7DE-E945-BA2B-C08CFC014A23}"/>
                    </a:ext>
                  </a:extLst>
                </p:cNvPr>
                <p:cNvSpPr>
                  <a:spLocks/>
                </p:cNvSpPr>
                <p:nvPr/>
              </p:nvSpPr>
              <p:spPr bwMode="auto">
                <a:xfrm>
                  <a:off x="1326" y="4005"/>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68" name="Freeform 187">
                  <a:extLst>
                    <a:ext uri="{FF2B5EF4-FFF2-40B4-BE49-F238E27FC236}">
                      <a16:creationId xmlns:a16="http://schemas.microsoft.com/office/drawing/2014/main" id="{640A7CF6-68D3-C74A-A465-09A9BA388349}"/>
                    </a:ext>
                  </a:extLst>
                </p:cNvPr>
                <p:cNvSpPr>
                  <a:spLocks/>
                </p:cNvSpPr>
                <p:nvPr/>
              </p:nvSpPr>
              <p:spPr bwMode="auto">
                <a:xfrm>
                  <a:off x="1326" y="4005"/>
                  <a:ext cx="129" cy="86"/>
                </a:xfrm>
                <a:custGeom>
                  <a:avLst/>
                  <a:gdLst>
                    <a:gd name="T0" fmla="*/ 2254855 w 91"/>
                    <a:gd name="T1" fmla="*/ 3 h 100"/>
                    <a:gd name="T2" fmla="*/ 2254855 w 91"/>
                    <a:gd name="T3" fmla="*/ 0 h 100"/>
                    <a:gd name="T4" fmla="*/ 0 w 91"/>
                    <a:gd name="T5" fmla="*/ 0 h 100"/>
                    <a:gd name="T6" fmla="*/ 0 w 91"/>
                    <a:gd name="T7" fmla="*/ 3 h 100"/>
                    <a:gd name="T8" fmla="*/ 2254855 w 91"/>
                    <a:gd name="T9" fmla="*/ 3 h 100"/>
                    <a:gd name="T10" fmla="*/ 2254855 w 91"/>
                    <a:gd name="T11" fmla="*/ 3 h 100"/>
                    <a:gd name="T12" fmla="*/ 0 60000 65536"/>
                    <a:gd name="T13" fmla="*/ 0 60000 65536"/>
                    <a:gd name="T14" fmla="*/ 0 60000 65536"/>
                    <a:gd name="T15" fmla="*/ 0 60000 65536"/>
                    <a:gd name="T16" fmla="*/ 0 60000 65536"/>
                    <a:gd name="T17" fmla="*/ 0 60000 65536"/>
                    <a:gd name="T18" fmla="*/ 0 w 91"/>
                    <a:gd name="T19" fmla="*/ 0 h 100"/>
                    <a:gd name="T20" fmla="*/ 91 w 91"/>
                    <a:gd name="T21" fmla="*/ 100 h 100"/>
                  </a:gdLst>
                  <a:ahLst/>
                  <a:cxnLst>
                    <a:cxn ang="T12">
                      <a:pos x="T0" y="T1"/>
                    </a:cxn>
                    <a:cxn ang="T13">
                      <a:pos x="T2" y="T3"/>
                    </a:cxn>
                    <a:cxn ang="T14">
                      <a:pos x="T4" y="T5"/>
                    </a:cxn>
                    <a:cxn ang="T15">
                      <a:pos x="T6" y="T7"/>
                    </a:cxn>
                    <a:cxn ang="T16">
                      <a:pos x="T8" y="T9"/>
                    </a:cxn>
                    <a:cxn ang="T17">
                      <a:pos x="T10" y="T11"/>
                    </a:cxn>
                  </a:cxnLst>
                  <a:rect l="T18" t="T19" r="T20" b="T21"/>
                  <a:pathLst>
                    <a:path w="91" h="100">
                      <a:moveTo>
                        <a:pt x="91" y="100"/>
                      </a:moveTo>
                      <a:lnTo>
                        <a:pt x="91" y="0"/>
                      </a:lnTo>
                      <a:lnTo>
                        <a:pt x="0" y="0"/>
                      </a:lnTo>
                      <a:lnTo>
                        <a:pt x="0" y="100"/>
                      </a:lnTo>
                      <a:lnTo>
                        <a:pt x="91" y="10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4569" name="Rectangle 188">
                  <a:extLst>
                    <a:ext uri="{FF2B5EF4-FFF2-40B4-BE49-F238E27FC236}">
                      <a16:creationId xmlns:a16="http://schemas.microsoft.com/office/drawing/2014/main" id="{C3783EFE-0F24-F649-8576-12F4B5AABC06}"/>
                    </a:ext>
                  </a:extLst>
                </p:cNvPr>
                <p:cNvSpPr>
                  <a:spLocks noChangeArrowheads="1"/>
                </p:cNvSpPr>
                <p:nvPr/>
              </p:nvSpPr>
              <p:spPr bwMode="auto">
                <a:xfrm>
                  <a:off x="1360" y="3151"/>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0" name="Rectangle 189">
                  <a:extLst>
                    <a:ext uri="{FF2B5EF4-FFF2-40B4-BE49-F238E27FC236}">
                      <a16:creationId xmlns:a16="http://schemas.microsoft.com/office/drawing/2014/main" id="{9608C1FE-579A-2B47-AEB0-8922A8BAEC7D}"/>
                    </a:ext>
                  </a:extLst>
                </p:cNvPr>
                <p:cNvSpPr>
                  <a:spLocks noChangeArrowheads="1"/>
                </p:cNvSpPr>
                <p:nvPr/>
              </p:nvSpPr>
              <p:spPr bwMode="auto">
                <a:xfrm>
                  <a:off x="1360" y="3237"/>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1" name="Rectangle 190">
                  <a:extLst>
                    <a:ext uri="{FF2B5EF4-FFF2-40B4-BE49-F238E27FC236}">
                      <a16:creationId xmlns:a16="http://schemas.microsoft.com/office/drawing/2014/main" id="{35CA43ED-FEBB-234E-8145-0D6EB336DA77}"/>
                    </a:ext>
                  </a:extLst>
                </p:cNvPr>
                <p:cNvSpPr>
                  <a:spLocks noChangeArrowheads="1"/>
                </p:cNvSpPr>
                <p:nvPr/>
              </p:nvSpPr>
              <p:spPr bwMode="auto">
                <a:xfrm>
                  <a:off x="1360" y="3323"/>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2" name="Rectangle 191">
                  <a:extLst>
                    <a:ext uri="{FF2B5EF4-FFF2-40B4-BE49-F238E27FC236}">
                      <a16:creationId xmlns:a16="http://schemas.microsoft.com/office/drawing/2014/main" id="{407E661A-6BE2-3446-A4B5-3EBE2D13388C}"/>
                    </a:ext>
                  </a:extLst>
                </p:cNvPr>
                <p:cNvSpPr>
                  <a:spLocks noChangeArrowheads="1"/>
                </p:cNvSpPr>
                <p:nvPr/>
              </p:nvSpPr>
              <p:spPr bwMode="auto">
                <a:xfrm>
                  <a:off x="1360" y="3409"/>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3" name="Rectangle 192">
                  <a:extLst>
                    <a:ext uri="{FF2B5EF4-FFF2-40B4-BE49-F238E27FC236}">
                      <a16:creationId xmlns:a16="http://schemas.microsoft.com/office/drawing/2014/main" id="{AA198E9D-392C-E748-8D69-88847B509A8F}"/>
                    </a:ext>
                  </a:extLst>
                </p:cNvPr>
                <p:cNvSpPr>
                  <a:spLocks noChangeArrowheads="1"/>
                </p:cNvSpPr>
                <p:nvPr/>
              </p:nvSpPr>
              <p:spPr bwMode="auto">
                <a:xfrm>
                  <a:off x="1360" y="3495"/>
                  <a:ext cx="52"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0</a:t>
                  </a:r>
                </a:p>
              </p:txBody>
            </p:sp>
            <p:sp>
              <p:nvSpPr>
                <p:cNvPr id="234574" name="Rectangle 193">
                  <a:extLst>
                    <a:ext uri="{FF2B5EF4-FFF2-40B4-BE49-F238E27FC236}">
                      <a16:creationId xmlns:a16="http://schemas.microsoft.com/office/drawing/2014/main" id="{C2C8DB35-C4D2-2848-856B-89FC3D5EB19F}"/>
                    </a:ext>
                  </a:extLst>
                </p:cNvPr>
                <p:cNvSpPr>
                  <a:spLocks noChangeArrowheads="1"/>
                </p:cNvSpPr>
                <p:nvPr/>
              </p:nvSpPr>
              <p:spPr bwMode="auto">
                <a:xfrm>
                  <a:off x="1360" y="3582"/>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5" name="Rectangle 194">
                  <a:extLst>
                    <a:ext uri="{FF2B5EF4-FFF2-40B4-BE49-F238E27FC236}">
                      <a16:creationId xmlns:a16="http://schemas.microsoft.com/office/drawing/2014/main" id="{A8796754-87C1-B248-BAC9-2027FBB95676}"/>
                    </a:ext>
                  </a:extLst>
                </p:cNvPr>
                <p:cNvSpPr>
                  <a:spLocks noChangeArrowheads="1"/>
                </p:cNvSpPr>
                <p:nvPr/>
              </p:nvSpPr>
              <p:spPr bwMode="auto">
                <a:xfrm>
                  <a:off x="1360" y="3669"/>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6" name="Rectangle 195">
                  <a:extLst>
                    <a:ext uri="{FF2B5EF4-FFF2-40B4-BE49-F238E27FC236}">
                      <a16:creationId xmlns:a16="http://schemas.microsoft.com/office/drawing/2014/main" id="{A9AF56F1-8616-3747-8FED-612D8B8F566A}"/>
                    </a:ext>
                  </a:extLst>
                </p:cNvPr>
                <p:cNvSpPr>
                  <a:spLocks noChangeArrowheads="1"/>
                </p:cNvSpPr>
                <p:nvPr/>
              </p:nvSpPr>
              <p:spPr bwMode="auto">
                <a:xfrm>
                  <a:off x="1360" y="3755"/>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0</a:t>
                  </a:r>
                </a:p>
              </p:txBody>
            </p:sp>
            <p:sp>
              <p:nvSpPr>
                <p:cNvPr id="234577" name="Rectangle 196">
                  <a:extLst>
                    <a:ext uri="{FF2B5EF4-FFF2-40B4-BE49-F238E27FC236}">
                      <a16:creationId xmlns:a16="http://schemas.microsoft.com/office/drawing/2014/main" id="{7DE8CA2B-EB08-5048-A43F-F6A1F39CFC49}"/>
                    </a:ext>
                  </a:extLst>
                </p:cNvPr>
                <p:cNvSpPr>
                  <a:spLocks noChangeArrowheads="1"/>
                </p:cNvSpPr>
                <p:nvPr/>
              </p:nvSpPr>
              <p:spPr bwMode="auto">
                <a:xfrm>
                  <a:off x="1360" y="3841"/>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8" name="Rectangle 197">
                  <a:extLst>
                    <a:ext uri="{FF2B5EF4-FFF2-40B4-BE49-F238E27FC236}">
                      <a16:creationId xmlns:a16="http://schemas.microsoft.com/office/drawing/2014/main" id="{5B144EF9-23A1-BB43-B5A6-DB989A91792A}"/>
                    </a:ext>
                  </a:extLst>
                </p:cNvPr>
                <p:cNvSpPr>
                  <a:spLocks noChangeArrowheads="1"/>
                </p:cNvSpPr>
                <p:nvPr/>
              </p:nvSpPr>
              <p:spPr bwMode="auto">
                <a:xfrm>
                  <a:off x="1360" y="3927"/>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79" name="Rectangle 198">
                  <a:extLst>
                    <a:ext uri="{FF2B5EF4-FFF2-40B4-BE49-F238E27FC236}">
                      <a16:creationId xmlns:a16="http://schemas.microsoft.com/office/drawing/2014/main" id="{2223663F-1A3F-1045-89E9-7CBECDCC2252}"/>
                    </a:ext>
                  </a:extLst>
                </p:cNvPr>
                <p:cNvSpPr>
                  <a:spLocks noChangeArrowheads="1"/>
                </p:cNvSpPr>
                <p:nvPr/>
              </p:nvSpPr>
              <p:spPr bwMode="auto">
                <a:xfrm>
                  <a:off x="1360" y="4013"/>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0</a:t>
                  </a:r>
                </a:p>
              </p:txBody>
            </p:sp>
            <p:sp>
              <p:nvSpPr>
                <p:cNvPr id="234580" name="Rectangle 199">
                  <a:extLst>
                    <a:ext uri="{FF2B5EF4-FFF2-40B4-BE49-F238E27FC236}">
                      <a16:creationId xmlns:a16="http://schemas.microsoft.com/office/drawing/2014/main" id="{9E98499F-76DB-8644-B6F9-1E27EAB8EFF2}"/>
                    </a:ext>
                  </a:extLst>
                </p:cNvPr>
                <p:cNvSpPr>
                  <a:spLocks noChangeArrowheads="1"/>
                </p:cNvSpPr>
                <p:nvPr/>
              </p:nvSpPr>
              <p:spPr bwMode="auto">
                <a:xfrm>
                  <a:off x="1360" y="4100"/>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200" b="1">
                      <a:solidFill>
                        <a:srgbClr val="000000"/>
                      </a:solidFill>
                      <a:ea typeface="宋体" panose="02010600030101010101" pitchFamily="2" charset="-122"/>
                    </a:rPr>
                    <a:t>1</a:t>
                  </a:r>
                </a:p>
              </p:txBody>
            </p:sp>
            <p:sp>
              <p:nvSpPr>
                <p:cNvPr id="234581" name="Freeform 200">
                  <a:extLst>
                    <a:ext uri="{FF2B5EF4-FFF2-40B4-BE49-F238E27FC236}">
                      <a16:creationId xmlns:a16="http://schemas.microsoft.com/office/drawing/2014/main" id="{F6AD3C57-BA4C-2543-8A51-97E2A43B244B}"/>
                    </a:ext>
                  </a:extLst>
                </p:cNvPr>
                <p:cNvSpPr>
                  <a:spLocks/>
                </p:cNvSpPr>
                <p:nvPr/>
              </p:nvSpPr>
              <p:spPr bwMode="auto">
                <a:xfrm>
                  <a:off x="1849" y="3171"/>
                  <a:ext cx="52" cy="30"/>
                </a:xfrm>
                <a:custGeom>
                  <a:avLst/>
                  <a:gdLst>
                    <a:gd name="T0" fmla="*/ 331770 w 37"/>
                    <a:gd name="T1" fmla="*/ 4 h 34"/>
                    <a:gd name="T2" fmla="*/ 428103 w 37"/>
                    <a:gd name="T3" fmla="*/ 4 h 34"/>
                    <a:gd name="T4" fmla="*/ 466271 w 37"/>
                    <a:gd name="T5" fmla="*/ 4 h 34"/>
                    <a:gd name="T6" fmla="*/ 510962 w 37"/>
                    <a:gd name="T7" fmla="*/ 4 h 34"/>
                    <a:gd name="T8" fmla="*/ 537220 w 37"/>
                    <a:gd name="T9" fmla="*/ 4 h 34"/>
                    <a:gd name="T10" fmla="*/ 576809 w 37"/>
                    <a:gd name="T11" fmla="*/ 4 h 34"/>
                    <a:gd name="T12" fmla="*/ 619975 w 37"/>
                    <a:gd name="T13" fmla="*/ 4 h 34"/>
                    <a:gd name="T14" fmla="*/ 672919 w 37"/>
                    <a:gd name="T15" fmla="*/ 4 h 34"/>
                    <a:gd name="T16" fmla="*/ 672919 w 37"/>
                    <a:gd name="T17" fmla="*/ 4 h 34"/>
                    <a:gd name="T18" fmla="*/ 718109 w 37"/>
                    <a:gd name="T19" fmla="*/ 4 h 34"/>
                    <a:gd name="T20" fmla="*/ 718109 w 37"/>
                    <a:gd name="T21" fmla="*/ 4 h 34"/>
                    <a:gd name="T22" fmla="*/ 718109 w 37"/>
                    <a:gd name="T23" fmla="*/ 4 h 34"/>
                    <a:gd name="T24" fmla="*/ 672919 w 37"/>
                    <a:gd name="T25" fmla="*/ 4 h 34"/>
                    <a:gd name="T26" fmla="*/ 672919 w 37"/>
                    <a:gd name="T27" fmla="*/ 4 h 34"/>
                    <a:gd name="T28" fmla="*/ 619975 w 37"/>
                    <a:gd name="T29" fmla="*/ 4 h 34"/>
                    <a:gd name="T30" fmla="*/ 576809 w 37"/>
                    <a:gd name="T31" fmla="*/ 4 h 34"/>
                    <a:gd name="T32" fmla="*/ 537220 w 37"/>
                    <a:gd name="T33" fmla="*/ 4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4 h 34"/>
                    <a:gd name="T50" fmla="*/ 137704 w 37"/>
                    <a:gd name="T51" fmla="*/ 4 h 34"/>
                    <a:gd name="T52" fmla="*/ 74855 w 37"/>
                    <a:gd name="T53" fmla="*/ 4 h 34"/>
                    <a:gd name="T54" fmla="*/ 37898 w 37"/>
                    <a:gd name="T55" fmla="*/ 4 h 34"/>
                    <a:gd name="T56" fmla="*/ 37898 w 37"/>
                    <a:gd name="T57" fmla="*/ 4 h 34"/>
                    <a:gd name="T58" fmla="*/ 0 w 37"/>
                    <a:gd name="T59" fmla="*/ 4 h 34"/>
                    <a:gd name="T60" fmla="*/ 0 w 37"/>
                    <a:gd name="T61" fmla="*/ 4 h 34"/>
                    <a:gd name="T62" fmla="*/ 0 w 37"/>
                    <a:gd name="T63" fmla="*/ 4 h 34"/>
                    <a:gd name="T64" fmla="*/ 37898 w 37"/>
                    <a:gd name="T65" fmla="*/ 4 h 34"/>
                    <a:gd name="T66" fmla="*/ 37898 w 37"/>
                    <a:gd name="T67" fmla="*/ 4 h 34"/>
                    <a:gd name="T68" fmla="*/ 74855 w 37"/>
                    <a:gd name="T69" fmla="*/ 4 h 34"/>
                    <a:gd name="T70" fmla="*/ 137704 w 37"/>
                    <a:gd name="T71" fmla="*/ 4 h 34"/>
                    <a:gd name="T72" fmla="*/ 172487 w 37"/>
                    <a:gd name="T73" fmla="*/ 4 h 34"/>
                    <a:gd name="T74" fmla="*/ 207791 w 37"/>
                    <a:gd name="T75" fmla="*/ 4 h 34"/>
                    <a:gd name="T76" fmla="*/ 242414 w 37"/>
                    <a:gd name="T77" fmla="*/ 4 h 34"/>
                    <a:gd name="T78" fmla="*/ 292031 w 37"/>
                    <a:gd name="T79" fmla="*/ 4 h 34"/>
                    <a:gd name="T80" fmla="*/ 331770 w 37"/>
                    <a:gd name="T81" fmla="*/ 4 h 34"/>
                    <a:gd name="T82" fmla="*/ 331770 w 37"/>
                    <a:gd name="T83" fmla="*/ 4 h 34"/>
                    <a:gd name="T84" fmla="*/ 331770 w 37"/>
                    <a:gd name="T85" fmla="*/ 4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2" name="Freeform 201">
                  <a:extLst>
                    <a:ext uri="{FF2B5EF4-FFF2-40B4-BE49-F238E27FC236}">
                      <a16:creationId xmlns:a16="http://schemas.microsoft.com/office/drawing/2014/main" id="{0E2A6E79-BA27-2545-9A23-1A26FA9AFF93}"/>
                    </a:ext>
                  </a:extLst>
                </p:cNvPr>
                <p:cNvSpPr>
                  <a:spLocks/>
                </p:cNvSpPr>
                <p:nvPr/>
              </p:nvSpPr>
              <p:spPr bwMode="auto">
                <a:xfrm>
                  <a:off x="1849" y="3258"/>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3" name="Freeform 202">
                  <a:extLst>
                    <a:ext uri="{FF2B5EF4-FFF2-40B4-BE49-F238E27FC236}">
                      <a16:creationId xmlns:a16="http://schemas.microsoft.com/office/drawing/2014/main" id="{E63ACFC8-0EA5-0045-B990-1E67F3026093}"/>
                    </a:ext>
                  </a:extLst>
                </p:cNvPr>
                <p:cNvSpPr>
                  <a:spLocks/>
                </p:cNvSpPr>
                <p:nvPr/>
              </p:nvSpPr>
              <p:spPr bwMode="auto">
                <a:xfrm>
                  <a:off x="1849" y="3344"/>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4" name="Freeform 203">
                  <a:extLst>
                    <a:ext uri="{FF2B5EF4-FFF2-40B4-BE49-F238E27FC236}">
                      <a16:creationId xmlns:a16="http://schemas.microsoft.com/office/drawing/2014/main" id="{B54A0A29-3163-F743-8F7A-79728C18689D}"/>
                    </a:ext>
                  </a:extLst>
                </p:cNvPr>
                <p:cNvSpPr>
                  <a:spLocks/>
                </p:cNvSpPr>
                <p:nvPr/>
              </p:nvSpPr>
              <p:spPr bwMode="auto">
                <a:xfrm>
                  <a:off x="1849" y="3430"/>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5" name="Freeform 204">
                  <a:extLst>
                    <a:ext uri="{FF2B5EF4-FFF2-40B4-BE49-F238E27FC236}">
                      <a16:creationId xmlns:a16="http://schemas.microsoft.com/office/drawing/2014/main" id="{98B3D764-B7E9-F24C-8FC0-866E27C71862}"/>
                    </a:ext>
                  </a:extLst>
                </p:cNvPr>
                <p:cNvSpPr>
                  <a:spLocks/>
                </p:cNvSpPr>
                <p:nvPr/>
              </p:nvSpPr>
              <p:spPr bwMode="auto">
                <a:xfrm>
                  <a:off x="1849" y="3516"/>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6" name="Freeform 205">
                  <a:extLst>
                    <a:ext uri="{FF2B5EF4-FFF2-40B4-BE49-F238E27FC236}">
                      <a16:creationId xmlns:a16="http://schemas.microsoft.com/office/drawing/2014/main" id="{13888E76-0BF3-C44B-9144-CB343F5DCF9D}"/>
                    </a:ext>
                  </a:extLst>
                </p:cNvPr>
                <p:cNvSpPr>
                  <a:spLocks/>
                </p:cNvSpPr>
                <p:nvPr/>
              </p:nvSpPr>
              <p:spPr bwMode="auto">
                <a:xfrm>
                  <a:off x="1849" y="3602"/>
                  <a:ext cx="52" cy="30"/>
                </a:xfrm>
                <a:custGeom>
                  <a:avLst/>
                  <a:gdLst>
                    <a:gd name="T0" fmla="*/ 331770 w 37"/>
                    <a:gd name="T1" fmla="*/ 4 h 34"/>
                    <a:gd name="T2" fmla="*/ 428103 w 37"/>
                    <a:gd name="T3" fmla="*/ 4 h 34"/>
                    <a:gd name="T4" fmla="*/ 466271 w 37"/>
                    <a:gd name="T5" fmla="*/ 4 h 34"/>
                    <a:gd name="T6" fmla="*/ 510962 w 37"/>
                    <a:gd name="T7" fmla="*/ 4 h 34"/>
                    <a:gd name="T8" fmla="*/ 537220 w 37"/>
                    <a:gd name="T9" fmla="*/ 4 h 34"/>
                    <a:gd name="T10" fmla="*/ 576809 w 37"/>
                    <a:gd name="T11" fmla="*/ 4 h 34"/>
                    <a:gd name="T12" fmla="*/ 619975 w 37"/>
                    <a:gd name="T13" fmla="*/ 4 h 34"/>
                    <a:gd name="T14" fmla="*/ 672919 w 37"/>
                    <a:gd name="T15" fmla="*/ 4 h 34"/>
                    <a:gd name="T16" fmla="*/ 672919 w 37"/>
                    <a:gd name="T17" fmla="*/ 4 h 34"/>
                    <a:gd name="T18" fmla="*/ 718109 w 37"/>
                    <a:gd name="T19" fmla="*/ 4 h 34"/>
                    <a:gd name="T20" fmla="*/ 718109 w 37"/>
                    <a:gd name="T21" fmla="*/ 4 h 34"/>
                    <a:gd name="T22" fmla="*/ 718109 w 37"/>
                    <a:gd name="T23" fmla="*/ 4 h 34"/>
                    <a:gd name="T24" fmla="*/ 672919 w 37"/>
                    <a:gd name="T25" fmla="*/ 4 h 34"/>
                    <a:gd name="T26" fmla="*/ 672919 w 37"/>
                    <a:gd name="T27" fmla="*/ 4 h 34"/>
                    <a:gd name="T28" fmla="*/ 619975 w 37"/>
                    <a:gd name="T29" fmla="*/ 4 h 34"/>
                    <a:gd name="T30" fmla="*/ 576809 w 37"/>
                    <a:gd name="T31" fmla="*/ 4 h 34"/>
                    <a:gd name="T32" fmla="*/ 537220 w 37"/>
                    <a:gd name="T33" fmla="*/ 4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4 h 34"/>
                    <a:gd name="T50" fmla="*/ 137704 w 37"/>
                    <a:gd name="T51" fmla="*/ 4 h 34"/>
                    <a:gd name="T52" fmla="*/ 74855 w 37"/>
                    <a:gd name="T53" fmla="*/ 4 h 34"/>
                    <a:gd name="T54" fmla="*/ 37898 w 37"/>
                    <a:gd name="T55" fmla="*/ 4 h 34"/>
                    <a:gd name="T56" fmla="*/ 37898 w 37"/>
                    <a:gd name="T57" fmla="*/ 4 h 34"/>
                    <a:gd name="T58" fmla="*/ 0 w 37"/>
                    <a:gd name="T59" fmla="*/ 4 h 34"/>
                    <a:gd name="T60" fmla="*/ 0 w 37"/>
                    <a:gd name="T61" fmla="*/ 4 h 34"/>
                    <a:gd name="T62" fmla="*/ 0 w 37"/>
                    <a:gd name="T63" fmla="*/ 4 h 34"/>
                    <a:gd name="T64" fmla="*/ 37898 w 37"/>
                    <a:gd name="T65" fmla="*/ 4 h 34"/>
                    <a:gd name="T66" fmla="*/ 37898 w 37"/>
                    <a:gd name="T67" fmla="*/ 4 h 34"/>
                    <a:gd name="T68" fmla="*/ 74855 w 37"/>
                    <a:gd name="T69" fmla="*/ 4 h 34"/>
                    <a:gd name="T70" fmla="*/ 137704 w 37"/>
                    <a:gd name="T71" fmla="*/ 4 h 34"/>
                    <a:gd name="T72" fmla="*/ 172487 w 37"/>
                    <a:gd name="T73" fmla="*/ 4 h 34"/>
                    <a:gd name="T74" fmla="*/ 207791 w 37"/>
                    <a:gd name="T75" fmla="*/ 4 h 34"/>
                    <a:gd name="T76" fmla="*/ 242414 w 37"/>
                    <a:gd name="T77" fmla="*/ 4 h 34"/>
                    <a:gd name="T78" fmla="*/ 292031 w 37"/>
                    <a:gd name="T79" fmla="*/ 4 h 34"/>
                    <a:gd name="T80" fmla="*/ 331770 w 37"/>
                    <a:gd name="T81" fmla="*/ 4 h 34"/>
                    <a:gd name="T82" fmla="*/ 331770 w 37"/>
                    <a:gd name="T83" fmla="*/ 4 h 34"/>
                    <a:gd name="T84" fmla="*/ 331770 w 37"/>
                    <a:gd name="T85" fmla="*/ 4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7" name="Freeform 206">
                  <a:extLst>
                    <a:ext uri="{FF2B5EF4-FFF2-40B4-BE49-F238E27FC236}">
                      <a16:creationId xmlns:a16="http://schemas.microsoft.com/office/drawing/2014/main" id="{3AD135F7-9011-E340-977A-990DB09EE856}"/>
                    </a:ext>
                  </a:extLst>
                </p:cNvPr>
                <p:cNvSpPr>
                  <a:spLocks/>
                </p:cNvSpPr>
                <p:nvPr/>
              </p:nvSpPr>
              <p:spPr bwMode="auto">
                <a:xfrm>
                  <a:off x="1849" y="3689"/>
                  <a:ext cx="52" cy="30"/>
                </a:xfrm>
                <a:custGeom>
                  <a:avLst/>
                  <a:gdLst>
                    <a:gd name="T0" fmla="*/ 331770 w 37"/>
                    <a:gd name="T1" fmla="*/ 4 h 34"/>
                    <a:gd name="T2" fmla="*/ 428103 w 37"/>
                    <a:gd name="T3" fmla="*/ 4 h 34"/>
                    <a:gd name="T4" fmla="*/ 466271 w 37"/>
                    <a:gd name="T5" fmla="*/ 4 h 34"/>
                    <a:gd name="T6" fmla="*/ 510962 w 37"/>
                    <a:gd name="T7" fmla="*/ 4 h 34"/>
                    <a:gd name="T8" fmla="*/ 537220 w 37"/>
                    <a:gd name="T9" fmla="*/ 4 h 34"/>
                    <a:gd name="T10" fmla="*/ 576809 w 37"/>
                    <a:gd name="T11" fmla="*/ 4 h 34"/>
                    <a:gd name="T12" fmla="*/ 619975 w 37"/>
                    <a:gd name="T13" fmla="*/ 4 h 34"/>
                    <a:gd name="T14" fmla="*/ 672919 w 37"/>
                    <a:gd name="T15" fmla="*/ 4 h 34"/>
                    <a:gd name="T16" fmla="*/ 672919 w 37"/>
                    <a:gd name="T17" fmla="*/ 4 h 34"/>
                    <a:gd name="T18" fmla="*/ 718109 w 37"/>
                    <a:gd name="T19" fmla="*/ 4 h 34"/>
                    <a:gd name="T20" fmla="*/ 718109 w 37"/>
                    <a:gd name="T21" fmla="*/ 4 h 34"/>
                    <a:gd name="T22" fmla="*/ 718109 w 37"/>
                    <a:gd name="T23" fmla="*/ 4 h 34"/>
                    <a:gd name="T24" fmla="*/ 672919 w 37"/>
                    <a:gd name="T25" fmla="*/ 4 h 34"/>
                    <a:gd name="T26" fmla="*/ 672919 w 37"/>
                    <a:gd name="T27" fmla="*/ 4 h 34"/>
                    <a:gd name="T28" fmla="*/ 619975 w 37"/>
                    <a:gd name="T29" fmla="*/ 4 h 34"/>
                    <a:gd name="T30" fmla="*/ 576809 w 37"/>
                    <a:gd name="T31" fmla="*/ 4 h 34"/>
                    <a:gd name="T32" fmla="*/ 537220 w 37"/>
                    <a:gd name="T33" fmla="*/ 4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4 h 34"/>
                    <a:gd name="T50" fmla="*/ 137704 w 37"/>
                    <a:gd name="T51" fmla="*/ 4 h 34"/>
                    <a:gd name="T52" fmla="*/ 74855 w 37"/>
                    <a:gd name="T53" fmla="*/ 4 h 34"/>
                    <a:gd name="T54" fmla="*/ 37898 w 37"/>
                    <a:gd name="T55" fmla="*/ 4 h 34"/>
                    <a:gd name="T56" fmla="*/ 37898 w 37"/>
                    <a:gd name="T57" fmla="*/ 4 h 34"/>
                    <a:gd name="T58" fmla="*/ 0 w 37"/>
                    <a:gd name="T59" fmla="*/ 4 h 34"/>
                    <a:gd name="T60" fmla="*/ 0 w 37"/>
                    <a:gd name="T61" fmla="*/ 4 h 34"/>
                    <a:gd name="T62" fmla="*/ 0 w 37"/>
                    <a:gd name="T63" fmla="*/ 4 h 34"/>
                    <a:gd name="T64" fmla="*/ 37898 w 37"/>
                    <a:gd name="T65" fmla="*/ 4 h 34"/>
                    <a:gd name="T66" fmla="*/ 37898 w 37"/>
                    <a:gd name="T67" fmla="*/ 4 h 34"/>
                    <a:gd name="T68" fmla="*/ 74855 w 37"/>
                    <a:gd name="T69" fmla="*/ 4 h 34"/>
                    <a:gd name="T70" fmla="*/ 137704 w 37"/>
                    <a:gd name="T71" fmla="*/ 4 h 34"/>
                    <a:gd name="T72" fmla="*/ 172487 w 37"/>
                    <a:gd name="T73" fmla="*/ 4 h 34"/>
                    <a:gd name="T74" fmla="*/ 207791 w 37"/>
                    <a:gd name="T75" fmla="*/ 4 h 34"/>
                    <a:gd name="T76" fmla="*/ 242414 w 37"/>
                    <a:gd name="T77" fmla="*/ 4 h 34"/>
                    <a:gd name="T78" fmla="*/ 292031 w 37"/>
                    <a:gd name="T79" fmla="*/ 4 h 34"/>
                    <a:gd name="T80" fmla="*/ 331770 w 37"/>
                    <a:gd name="T81" fmla="*/ 4 h 34"/>
                    <a:gd name="T82" fmla="*/ 331770 w 37"/>
                    <a:gd name="T83" fmla="*/ 4 h 34"/>
                    <a:gd name="T84" fmla="*/ 331770 w 37"/>
                    <a:gd name="T85" fmla="*/ 4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8" name="Freeform 207">
                  <a:extLst>
                    <a:ext uri="{FF2B5EF4-FFF2-40B4-BE49-F238E27FC236}">
                      <a16:creationId xmlns:a16="http://schemas.microsoft.com/office/drawing/2014/main" id="{3CF965F2-14AC-7C49-BF7E-389355851CF0}"/>
                    </a:ext>
                  </a:extLst>
                </p:cNvPr>
                <p:cNvSpPr>
                  <a:spLocks/>
                </p:cNvSpPr>
                <p:nvPr/>
              </p:nvSpPr>
              <p:spPr bwMode="auto">
                <a:xfrm>
                  <a:off x="1849" y="3776"/>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89" name="Freeform 208">
                  <a:extLst>
                    <a:ext uri="{FF2B5EF4-FFF2-40B4-BE49-F238E27FC236}">
                      <a16:creationId xmlns:a16="http://schemas.microsoft.com/office/drawing/2014/main" id="{77146C40-E495-8040-A2D4-D71AD74B9013}"/>
                    </a:ext>
                  </a:extLst>
                </p:cNvPr>
                <p:cNvSpPr>
                  <a:spLocks/>
                </p:cNvSpPr>
                <p:nvPr/>
              </p:nvSpPr>
              <p:spPr bwMode="auto">
                <a:xfrm>
                  <a:off x="1849" y="3862"/>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90" name="Freeform 209">
                  <a:extLst>
                    <a:ext uri="{FF2B5EF4-FFF2-40B4-BE49-F238E27FC236}">
                      <a16:creationId xmlns:a16="http://schemas.microsoft.com/office/drawing/2014/main" id="{2A1D64B3-8F2D-E245-9BC2-22E00FEF4933}"/>
                    </a:ext>
                  </a:extLst>
                </p:cNvPr>
                <p:cNvSpPr>
                  <a:spLocks/>
                </p:cNvSpPr>
                <p:nvPr/>
              </p:nvSpPr>
              <p:spPr bwMode="auto">
                <a:xfrm>
                  <a:off x="1849" y="3948"/>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91" name="Freeform 210">
                  <a:extLst>
                    <a:ext uri="{FF2B5EF4-FFF2-40B4-BE49-F238E27FC236}">
                      <a16:creationId xmlns:a16="http://schemas.microsoft.com/office/drawing/2014/main" id="{B7733DC1-54FE-B346-808B-9E2D1374A134}"/>
                    </a:ext>
                  </a:extLst>
                </p:cNvPr>
                <p:cNvSpPr>
                  <a:spLocks/>
                </p:cNvSpPr>
                <p:nvPr/>
              </p:nvSpPr>
              <p:spPr bwMode="auto">
                <a:xfrm>
                  <a:off x="1849" y="4034"/>
                  <a:ext cx="52" cy="29"/>
                </a:xfrm>
                <a:custGeom>
                  <a:avLst/>
                  <a:gdLst>
                    <a:gd name="T0" fmla="*/ 331770 w 37"/>
                    <a:gd name="T1" fmla="*/ 3 h 34"/>
                    <a:gd name="T2" fmla="*/ 428103 w 37"/>
                    <a:gd name="T3" fmla="*/ 3 h 34"/>
                    <a:gd name="T4" fmla="*/ 466271 w 37"/>
                    <a:gd name="T5" fmla="*/ 3 h 34"/>
                    <a:gd name="T6" fmla="*/ 510962 w 37"/>
                    <a:gd name="T7" fmla="*/ 3 h 34"/>
                    <a:gd name="T8" fmla="*/ 537220 w 37"/>
                    <a:gd name="T9" fmla="*/ 3 h 34"/>
                    <a:gd name="T10" fmla="*/ 576809 w 37"/>
                    <a:gd name="T11" fmla="*/ 3 h 34"/>
                    <a:gd name="T12" fmla="*/ 619975 w 37"/>
                    <a:gd name="T13" fmla="*/ 3 h 34"/>
                    <a:gd name="T14" fmla="*/ 672919 w 37"/>
                    <a:gd name="T15" fmla="*/ 3 h 34"/>
                    <a:gd name="T16" fmla="*/ 672919 w 37"/>
                    <a:gd name="T17" fmla="*/ 3 h 34"/>
                    <a:gd name="T18" fmla="*/ 718109 w 37"/>
                    <a:gd name="T19" fmla="*/ 3 h 34"/>
                    <a:gd name="T20" fmla="*/ 718109 w 37"/>
                    <a:gd name="T21" fmla="*/ 3 h 34"/>
                    <a:gd name="T22" fmla="*/ 718109 w 37"/>
                    <a:gd name="T23" fmla="*/ 3 h 34"/>
                    <a:gd name="T24" fmla="*/ 672919 w 37"/>
                    <a:gd name="T25" fmla="*/ 3 h 34"/>
                    <a:gd name="T26" fmla="*/ 672919 w 37"/>
                    <a:gd name="T27" fmla="*/ 3 h 34"/>
                    <a:gd name="T28" fmla="*/ 619975 w 37"/>
                    <a:gd name="T29" fmla="*/ 3 h 34"/>
                    <a:gd name="T30" fmla="*/ 576809 w 37"/>
                    <a:gd name="T31" fmla="*/ 3 h 34"/>
                    <a:gd name="T32" fmla="*/ 537220 w 37"/>
                    <a:gd name="T33" fmla="*/ 3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3 h 34"/>
                    <a:gd name="T50" fmla="*/ 137704 w 37"/>
                    <a:gd name="T51" fmla="*/ 3 h 34"/>
                    <a:gd name="T52" fmla="*/ 74855 w 37"/>
                    <a:gd name="T53" fmla="*/ 3 h 34"/>
                    <a:gd name="T54" fmla="*/ 37898 w 37"/>
                    <a:gd name="T55" fmla="*/ 3 h 34"/>
                    <a:gd name="T56" fmla="*/ 37898 w 37"/>
                    <a:gd name="T57" fmla="*/ 3 h 34"/>
                    <a:gd name="T58" fmla="*/ 0 w 37"/>
                    <a:gd name="T59" fmla="*/ 3 h 34"/>
                    <a:gd name="T60" fmla="*/ 0 w 37"/>
                    <a:gd name="T61" fmla="*/ 3 h 34"/>
                    <a:gd name="T62" fmla="*/ 0 w 37"/>
                    <a:gd name="T63" fmla="*/ 3 h 34"/>
                    <a:gd name="T64" fmla="*/ 37898 w 37"/>
                    <a:gd name="T65" fmla="*/ 3 h 34"/>
                    <a:gd name="T66" fmla="*/ 37898 w 37"/>
                    <a:gd name="T67" fmla="*/ 3 h 34"/>
                    <a:gd name="T68" fmla="*/ 74855 w 37"/>
                    <a:gd name="T69" fmla="*/ 3 h 34"/>
                    <a:gd name="T70" fmla="*/ 137704 w 37"/>
                    <a:gd name="T71" fmla="*/ 3 h 34"/>
                    <a:gd name="T72" fmla="*/ 172487 w 37"/>
                    <a:gd name="T73" fmla="*/ 3 h 34"/>
                    <a:gd name="T74" fmla="*/ 207791 w 37"/>
                    <a:gd name="T75" fmla="*/ 3 h 34"/>
                    <a:gd name="T76" fmla="*/ 242414 w 37"/>
                    <a:gd name="T77" fmla="*/ 3 h 34"/>
                    <a:gd name="T78" fmla="*/ 292031 w 37"/>
                    <a:gd name="T79" fmla="*/ 3 h 34"/>
                    <a:gd name="T80" fmla="*/ 331770 w 37"/>
                    <a:gd name="T81" fmla="*/ 3 h 34"/>
                    <a:gd name="T82" fmla="*/ 331770 w 37"/>
                    <a:gd name="T83" fmla="*/ 3 h 34"/>
                    <a:gd name="T84" fmla="*/ 331770 w 37"/>
                    <a:gd name="T85" fmla="*/ 3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4592" name="Freeform 211">
                  <a:extLst>
                    <a:ext uri="{FF2B5EF4-FFF2-40B4-BE49-F238E27FC236}">
                      <a16:creationId xmlns:a16="http://schemas.microsoft.com/office/drawing/2014/main" id="{F40FF4E8-22D8-EF43-96B9-286E2A94EC1B}"/>
                    </a:ext>
                  </a:extLst>
                </p:cNvPr>
                <p:cNvSpPr>
                  <a:spLocks/>
                </p:cNvSpPr>
                <p:nvPr/>
              </p:nvSpPr>
              <p:spPr bwMode="auto">
                <a:xfrm>
                  <a:off x="1849" y="4120"/>
                  <a:ext cx="52" cy="30"/>
                </a:xfrm>
                <a:custGeom>
                  <a:avLst/>
                  <a:gdLst>
                    <a:gd name="T0" fmla="*/ 331770 w 37"/>
                    <a:gd name="T1" fmla="*/ 4 h 34"/>
                    <a:gd name="T2" fmla="*/ 428103 w 37"/>
                    <a:gd name="T3" fmla="*/ 4 h 34"/>
                    <a:gd name="T4" fmla="*/ 466271 w 37"/>
                    <a:gd name="T5" fmla="*/ 4 h 34"/>
                    <a:gd name="T6" fmla="*/ 510962 w 37"/>
                    <a:gd name="T7" fmla="*/ 4 h 34"/>
                    <a:gd name="T8" fmla="*/ 537220 w 37"/>
                    <a:gd name="T9" fmla="*/ 4 h 34"/>
                    <a:gd name="T10" fmla="*/ 576809 w 37"/>
                    <a:gd name="T11" fmla="*/ 4 h 34"/>
                    <a:gd name="T12" fmla="*/ 619975 w 37"/>
                    <a:gd name="T13" fmla="*/ 4 h 34"/>
                    <a:gd name="T14" fmla="*/ 672919 w 37"/>
                    <a:gd name="T15" fmla="*/ 4 h 34"/>
                    <a:gd name="T16" fmla="*/ 672919 w 37"/>
                    <a:gd name="T17" fmla="*/ 4 h 34"/>
                    <a:gd name="T18" fmla="*/ 718109 w 37"/>
                    <a:gd name="T19" fmla="*/ 4 h 34"/>
                    <a:gd name="T20" fmla="*/ 718109 w 37"/>
                    <a:gd name="T21" fmla="*/ 4 h 34"/>
                    <a:gd name="T22" fmla="*/ 718109 w 37"/>
                    <a:gd name="T23" fmla="*/ 4 h 34"/>
                    <a:gd name="T24" fmla="*/ 672919 w 37"/>
                    <a:gd name="T25" fmla="*/ 4 h 34"/>
                    <a:gd name="T26" fmla="*/ 672919 w 37"/>
                    <a:gd name="T27" fmla="*/ 4 h 34"/>
                    <a:gd name="T28" fmla="*/ 619975 w 37"/>
                    <a:gd name="T29" fmla="*/ 4 h 34"/>
                    <a:gd name="T30" fmla="*/ 576809 w 37"/>
                    <a:gd name="T31" fmla="*/ 4 h 34"/>
                    <a:gd name="T32" fmla="*/ 537220 w 37"/>
                    <a:gd name="T33" fmla="*/ 4 h 34"/>
                    <a:gd name="T34" fmla="*/ 510962 w 37"/>
                    <a:gd name="T35" fmla="*/ 2 h 34"/>
                    <a:gd name="T36" fmla="*/ 466271 w 37"/>
                    <a:gd name="T37" fmla="*/ 0 h 34"/>
                    <a:gd name="T38" fmla="*/ 428103 w 37"/>
                    <a:gd name="T39" fmla="*/ 0 h 34"/>
                    <a:gd name="T40" fmla="*/ 331770 w 37"/>
                    <a:gd name="T41" fmla="*/ 0 h 34"/>
                    <a:gd name="T42" fmla="*/ 292031 w 37"/>
                    <a:gd name="T43" fmla="*/ 0 h 34"/>
                    <a:gd name="T44" fmla="*/ 242414 w 37"/>
                    <a:gd name="T45" fmla="*/ 0 h 34"/>
                    <a:gd name="T46" fmla="*/ 207791 w 37"/>
                    <a:gd name="T47" fmla="*/ 2 h 34"/>
                    <a:gd name="T48" fmla="*/ 172487 w 37"/>
                    <a:gd name="T49" fmla="*/ 4 h 34"/>
                    <a:gd name="T50" fmla="*/ 137704 w 37"/>
                    <a:gd name="T51" fmla="*/ 4 h 34"/>
                    <a:gd name="T52" fmla="*/ 74855 w 37"/>
                    <a:gd name="T53" fmla="*/ 4 h 34"/>
                    <a:gd name="T54" fmla="*/ 37898 w 37"/>
                    <a:gd name="T55" fmla="*/ 4 h 34"/>
                    <a:gd name="T56" fmla="*/ 37898 w 37"/>
                    <a:gd name="T57" fmla="*/ 4 h 34"/>
                    <a:gd name="T58" fmla="*/ 0 w 37"/>
                    <a:gd name="T59" fmla="*/ 4 h 34"/>
                    <a:gd name="T60" fmla="*/ 0 w 37"/>
                    <a:gd name="T61" fmla="*/ 4 h 34"/>
                    <a:gd name="T62" fmla="*/ 0 w 37"/>
                    <a:gd name="T63" fmla="*/ 4 h 34"/>
                    <a:gd name="T64" fmla="*/ 37898 w 37"/>
                    <a:gd name="T65" fmla="*/ 4 h 34"/>
                    <a:gd name="T66" fmla="*/ 37898 w 37"/>
                    <a:gd name="T67" fmla="*/ 4 h 34"/>
                    <a:gd name="T68" fmla="*/ 74855 w 37"/>
                    <a:gd name="T69" fmla="*/ 4 h 34"/>
                    <a:gd name="T70" fmla="*/ 137704 w 37"/>
                    <a:gd name="T71" fmla="*/ 4 h 34"/>
                    <a:gd name="T72" fmla="*/ 172487 w 37"/>
                    <a:gd name="T73" fmla="*/ 4 h 34"/>
                    <a:gd name="T74" fmla="*/ 207791 w 37"/>
                    <a:gd name="T75" fmla="*/ 4 h 34"/>
                    <a:gd name="T76" fmla="*/ 242414 w 37"/>
                    <a:gd name="T77" fmla="*/ 4 h 34"/>
                    <a:gd name="T78" fmla="*/ 292031 w 37"/>
                    <a:gd name="T79" fmla="*/ 4 h 34"/>
                    <a:gd name="T80" fmla="*/ 331770 w 37"/>
                    <a:gd name="T81" fmla="*/ 4 h 34"/>
                    <a:gd name="T82" fmla="*/ 331770 w 37"/>
                    <a:gd name="T83" fmla="*/ 4 h 34"/>
                    <a:gd name="T84" fmla="*/ 331770 w 37"/>
                    <a:gd name="T85" fmla="*/ 4 h 3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7"/>
                    <a:gd name="T130" fmla="*/ 0 h 34"/>
                    <a:gd name="T131" fmla="*/ 37 w 37"/>
                    <a:gd name="T132" fmla="*/ 34 h 3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7" h="34">
                      <a:moveTo>
                        <a:pt x="17" y="32"/>
                      </a:moveTo>
                      <a:lnTo>
                        <a:pt x="22" y="34"/>
                      </a:lnTo>
                      <a:lnTo>
                        <a:pt x="24" y="32"/>
                      </a:lnTo>
                      <a:lnTo>
                        <a:pt x="26" y="32"/>
                      </a:lnTo>
                      <a:lnTo>
                        <a:pt x="28" y="30"/>
                      </a:lnTo>
                      <a:lnTo>
                        <a:pt x="30" y="28"/>
                      </a:lnTo>
                      <a:lnTo>
                        <a:pt x="32" y="26"/>
                      </a:lnTo>
                      <a:lnTo>
                        <a:pt x="35" y="24"/>
                      </a:lnTo>
                      <a:lnTo>
                        <a:pt x="35" y="22"/>
                      </a:lnTo>
                      <a:lnTo>
                        <a:pt x="37" y="20"/>
                      </a:lnTo>
                      <a:lnTo>
                        <a:pt x="37" y="16"/>
                      </a:lnTo>
                      <a:lnTo>
                        <a:pt x="37" y="14"/>
                      </a:lnTo>
                      <a:lnTo>
                        <a:pt x="35" y="12"/>
                      </a:lnTo>
                      <a:lnTo>
                        <a:pt x="35" y="10"/>
                      </a:lnTo>
                      <a:lnTo>
                        <a:pt x="32" y="6"/>
                      </a:lnTo>
                      <a:lnTo>
                        <a:pt x="30" y="6"/>
                      </a:lnTo>
                      <a:lnTo>
                        <a:pt x="28" y="4"/>
                      </a:lnTo>
                      <a:lnTo>
                        <a:pt x="26" y="2"/>
                      </a:lnTo>
                      <a:lnTo>
                        <a:pt x="24" y="0"/>
                      </a:lnTo>
                      <a:lnTo>
                        <a:pt x="22" y="0"/>
                      </a:lnTo>
                      <a:lnTo>
                        <a:pt x="17" y="0"/>
                      </a:lnTo>
                      <a:lnTo>
                        <a:pt x="15" y="0"/>
                      </a:lnTo>
                      <a:lnTo>
                        <a:pt x="13" y="0"/>
                      </a:lnTo>
                      <a:lnTo>
                        <a:pt x="11" y="2"/>
                      </a:lnTo>
                      <a:lnTo>
                        <a:pt x="9" y="4"/>
                      </a:lnTo>
                      <a:lnTo>
                        <a:pt x="7" y="6"/>
                      </a:lnTo>
                      <a:lnTo>
                        <a:pt x="4" y="6"/>
                      </a:lnTo>
                      <a:lnTo>
                        <a:pt x="2" y="10"/>
                      </a:lnTo>
                      <a:lnTo>
                        <a:pt x="2" y="12"/>
                      </a:lnTo>
                      <a:lnTo>
                        <a:pt x="0" y="14"/>
                      </a:lnTo>
                      <a:lnTo>
                        <a:pt x="0" y="16"/>
                      </a:lnTo>
                      <a:lnTo>
                        <a:pt x="0" y="20"/>
                      </a:lnTo>
                      <a:lnTo>
                        <a:pt x="2" y="22"/>
                      </a:lnTo>
                      <a:lnTo>
                        <a:pt x="2" y="24"/>
                      </a:lnTo>
                      <a:lnTo>
                        <a:pt x="4" y="26"/>
                      </a:lnTo>
                      <a:lnTo>
                        <a:pt x="7" y="28"/>
                      </a:lnTo>
                      <a:lnTo>
                        <a:pt x="9" y="30"/>
                      </a:lnTo>
                      <a:lnTo>
                        <a:pt x="11" y="32"/>
                      </a:lnTo>
                      <a:lnTo>
                        <a:pt x="13" y="32"/>
                      </a:lnTo>
                      <a:lnTo>
                        <a:pt x="15" y="34"/>
                      </a:lnTo>
                      <a:lnTo>
                        <a:pt x="17" y="34"/>
                      </a:lnTo>
                      <a:lnTo>
                        <a:pt x="17"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34520" name="Text Box 212">
                <a:extLst>
                  <a:ext uri="{FF2B5EF4-FFF2-40B4-BE49-F238E27FC236}">
                    <a16:creationId xmlns:a16="http://schemas.microsoft.com/office/drawing/2014/main" id="{71971E14-E39C-5048-96C5-D99607C3AB79}"/>
                  </a:ext>
                </a:extLst>
              </p:cNvPr>
              <p:cNvSpPr txBox="1">
                <a:spLocks noChangeArrowheads="1"/>
              </p:cNvSpPr>
              <p:nvPr/>
            </p:nvSpPr>
            <p:spPr bwMode="auto">
              <a:xfrm>
                <a:off x="1576" y="2948"/>
                <a:ext cx="292"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800" b="1">
                    <a:solidFill>
                      <a:srgbClr val="006600"/>
                    </a:solidFill>
                    <a:ea typeface="宋体" panose="02010600030101010101" pitchFamily="2" charset="-122"/>
                  </a:rPr>
                  <a:t>页表</a:t>
                </a:r>
              </a:p>
            </p:txBody>
          </p:sp>
        </p:grpSp>
        <p:grpSp>
          <p:nvGrpSpPr>
            <p:cNvPr id="234516" name="Group 214">
              <a:extLst>
                <a:ext uri="{FF2B5EF4-FFF2-40B4-BE49-F238E27FC236}">
                  <a16:creationId xmlns:a16="http://schemas.microsoft.com/office/drawing/2014/main" id="{5F79CBD6-87F7-E841-BF74-CA8B912B721F}"/>
                </a:ext>
              </a:extLst>
            </p:cNvPr>
            <p:cNvGrpSpPr>
              <a:grpSpLocks/>
            </p:cNvGrpSpPr>
            <p:nvPr/>
          </p:nvGrpSpPr>
          <p:grpSpPr bwMode="auto">
            <a:xfrm>
              <a:off x="881" y="2240"/>
              <a:ext cx="445" cy="219"/>
              <a:chOff x="881" y="2240"/>
              <a:chExt cx="445" cy="219"/>
            </a:xfrm>
          </p:grpSpPr>
          <p:sp>
            <p:nvSpPr>
              <p:cNvPr id="234517" name="Line 215">
                <a:extLst>
                  <a:ext uri="{FF2B5EF4-FFF2-40B4-BE49-F238E27FC236}">
                    <a16:creationId xmlns:a16="http://schemas.microsoft.com/office/drawing/2014/main" id="{31607832-D55D-6B46-82DF-8275851EC67A}"/>
                  </a:ext>
                </a:extLst>
              </p:cNvPr>
              <p:cNvSpPr>
                <a:spLocks noChangeShapeType="1"/>
              </p:cNvSpPr>
              <p:nvPr/>
            </p:nvSpPr>
            <p:spPr bwMode="auto">
              <a:xfrm>
                <a:off x="881" y="2448"/>
                <a:ext cx="445" cy="1"/>
              </a:xfrm>
              <a:prstGeom prst="line">
                <a:avLst/>
              </a:prstGeom>
              <a:noFill/>
              <a:ln w="2857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4518" name="Line 216">
                <a:extLst>
                  <a:ext uri="{FF2B5EF4-FFF2-40B4-BE49-F238E27FC236}">
                    <a16:creationId xmlns:a16="http://schemas.microsoft.com/office/drawing/2014/main" id="{F696D3BC-0BBE-B244-A19A-519BF03C0113}"/>
                  </a:ext>
                </a:extLst>
              </p:cNvPr>
              <p:cNvSpPr>
                <a:spLocks noChangeShapeType="1"/>
              </p:cNvSpPr>
              <p:nvPr/>
            </p:nvSpPr>
            <p:spPr bwMode="auto">
              <a:xfrm>
                <a:off x="887" y="2240"/>
                <a:ext cx="0" cy="219"/>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grpSp>
      </p:grpSp>
      <p:sp>
        <p:nvSpPr>
          <p:cNvPr id="785625" name="Text Box 217">
            <a:extLst>
              <a:ext uri="{FF2B5EF4-FFF2-40B4-BE49-F238E27FC236}">
                <a16:creationId xmlns:a16="http://schemas.microsoft.com/office/drawing/2014/main" id="{781BABCC-F922-5F45-A307-972BC9CC1944}"/>
              </a:ext>
            </a:extLst>
          </p:cNvPr>
          <p:cNvSpPr txBox="1">
            <a:spLocks noChangeArrowheads="1"/>
          </p:cNvSpPr>
          <p:nvPr/>
        </p:nvSpPr>
        <p:spPr bwMode="auto">
          <a:xfrm>
            <a:off x="250825" y="2889250"/>
            <a:ext cx="112553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0000FF"/>
                </a:solidFill>
                <a:ea typeface="黑体" panose="02010609060101010101" pitchFamily="49" charset="-122"/>
              </a:rPr>
              <a:t>若</a:t>
            </a:r>
            <a:r>
              <a:rPr kumimoji="1" lang="en-US" altLang="zh-CN" sz="2000" b="1">
                <a:solidFill>
                  <a:srgbClr val="0000FF"/>
                </a:solidFill>
                <a:ea typeface="黑体" panose="02010609060101010101" pitchFamily="49" charset="-122"/>
              </a:rPr>
              <a:t>TLB</a:t>
            </a:r>
            <a:r>
              <a:rPr kumimoji="1" lang="zh-CN" altLang="en-US" sz="2000" b="1">
                <a:solidFill>
                  <a:srgbClr val="0000FF"/>
                </a:solidFill>
                <a:ea typeface="黑体" panose="02010609060101010101" pitchFamily="49" charset="-122"/>
              </a:rPr>
              <a:t>中的</a:t>
            </a:r>
            <a:r>
              <a:rPr kumimoji="1" lang="en-US" altLang="zh-CN" sz="2000" b="1">
                <a:solidFill>
                  <a:srgbClr val="0000FF"/>
                </a:solidFill>
                <a:ea typeface="黑体" panose="02010609060101010101" pitchFamily="49" charset="-122"/>
              </a:rPr>
              <a:t>V=0 </a:t>
            </a:r>
            <a:r>
              <a:rPr kumimoji="1" lang="zh-CN" altLang="en-US" sz="2000" b="1">
                <a:solidFill>
                  <a:srgbClr val="0000FF"/>
                </a:solidFill>
                <a:ea typeface="黑体" panose="02010609060101010101" pitchFamily="49" charset="-122"/>
              </a:rPr>
              <a:t>或</a:t>
            </a:r>
            <a:r>
              <a:rPr kumimoji="1" lang="en-US" altLang="zh-CN" sz="2000" b="1">
                <a:solidFill>
                  <a:srgbClr val="0000FF"/>
                </a:solidFill>
                <a:ea typeface="黑体" panose="02010609060101010101" pitchFamily="49" charset="-122"/>
              </a:rPr>
              <a:t>Tag≠VA,</a:t>
            </a:r>
            <a:r>
              <a:rPr kumimoji="1" lang="zh-CN" altLang="en-US" sz="2000" b="1">
                <a:solidFill>
                  <a:srgbClr val="0000FF"/>
                </a:solidFill>
                <a:ea typeface="黑体" panose="02010609060101010101" pitchFamily="49" charset="-122"/>
              </a:rPr>
              <a:t>则到页表中找</a:t>
            </a:r>
          </a:p>
        </p:txBody>
      </p:sp>
      <p:sp>
        <p:nvSpPr>
          <p:cNvPr id="785626" name="Text Box 218">
            <a:extLst>
              <a:ext uri="{FF2B5EF4-FFF2-40B4-BE49-F238E27FC236}">
                <a16:creationId xmlns:a16="http://schemas.microsoft.com/office/drawing/2014/main" id="{5A6FF0FA-0251-8443-A1A9-52DCA526B2EA}"/>
              </a:ext>
            </a:extLst>
          </p:cNvPr>
          <p:cNvSpPr txBox="1">
            <a:spLocks noChangeArrowheads="1"/>
          </p:cNvSpPr>
          <p:nvPr/>
        </p:nvSpPr>
        <p:spPr bwMode="auto">
          <a:xfrm>
            <a:off x="206375" y="4598988"/>
            <a:ext cx="139541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0000FF"/>
                </a:solidFill>
                <a:ea typeface="黑体" panose="02010609060101010101" pitchFamily="49" charset="-122"/>
              </a:rPr>
              <a:t>若页表中的</a:t>
            </a:r>
            <a:r>
              <a:rPr kumimoji="1" lang="en-US" altLang="zh-CN" sz="2000" b="1">
                <a:solidFill>
                  <a:srgbClr val="0000FF"/>
                </a:solidFill>
                <a:ea typeface="黑体" panose="02010609060101010101" pitchFamily="49" charset="-122"/>
              </a:rPr>
              <a:t>V=0</a:t>
            </a:r>
            <a:r>
              <a:rPr kumimoji="1" lang="zh-CN" altLang="en-US" sz="2000" b="1">
                <a:solidFill>
                  <a:srgbClr val="0000FF"/>
                </a:solidFill>
                <a:ea typeface="黑体" panose="02010609060101010101" pitchFamily="49" charset="-122"/>
              </a:rPr>
              <a:t>，则缺页，到磁盘中找</a:t>
            </a:r>
          </a:p>
        </p:txBody>
      </p:sp>
      <p:sp>
        <p:nvSpPr>
          <p:cNvPr id="785627" name="Text Box 219">
            <a:extLst>
              <a:ext uri="{FF2B5EF4-FFF2-40B4-BE49-F238E27FC236}">
                <a16:creationId xmlns:a16="http://schemas.microsoft.com/office/drawing/2014/main" id="{74A39F95-CC9C-B24D-B671-7F208DFB2B80}"/>
              </a:ext>
            </a:extLst>
          </p:cNvPr>
          <p:cNvSpPr txBox="1">
            <a:spLocks noChangeArrowheads="1"/>
          </p:cNvSpPr>
          <p:nvPr/>
        </p:nvSpPr>
        <p:spPr bwMode="auto">
          <a:xfrm>
            <a:off x="4257675" y="5454650"/>
            <a:ext cx="2070100" cy="862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CC0000"/>
                </a:solidFill>
                <a:ea typeface="黑体" panose="02010609060101010101" pitchFamily="49" charset="-122"/>
              </a:rPr>
              <a:t>主存页表中需要</a:t>
            </a:r>
            <a:r>
              <a:rPr kumimoji="1" lang="en-US" altLang="zh-CN" sz="2000" b="1">
                <a:solidFill>
                  <a:srgbClr val="CC0000"/>
                </a:solidFill>
                <a:ea typeface="黑体" panose="02010609060101010101" pitchFamily="49" charset="-122"/>
              </a:rPr>
              <a:t>Tag</a:t>
            </a:r>
            <a:r>
              <a:rPr kumimoji="1" lang="zh-CN" altLang="en-US" sz="2000" b="1">
                <a:solidFill>
                  <a:srgbClr val="CC0000"/>
                </a:solidFill>
                <a:ea typeface="黑体" panose="02010609060101010101" pitchFamily="49" charset="-122"/>
              </a:rPr>
              <a:t>吗？为什么？</a:t>
            </a:r>
            <a:r>
              <a:rPr kumimoji="1" lang="zh-CN" altLang="en-US" b="1">
                <a:solidFill>
                  <a:srgbClr val="CC0000"/>
                </a:solidFill>
                <a:ea typeface="黑体" panose="02010609060101010101" pitchFamily="49" charset="-122"/>
              </a:rPr>
              <a:t>按虚页号排</a:t>
            </a:r>
          </a:p>
        </p:txBody>
      </p:sp>
      <p:sp>
        <p:nvSpPr>
          <p:cNvPr id="206" name="Text Box 219">
            <a:extLst>
              <a:ext uri="{FF2B5EF4-FFF2-40B4-BE49-F238E27FC236}">
                <a16:creationId xmlns:a16="http://schemas.microsoft.com/office/drawing/2014/main" id="{B8B2F71B-B313-364B-8678-CDC286D609B5}"/>
              </a:ext>
            </a:extLst>
          </p:cNvPr>
          <p:cNvSpPr txBox="1">
            <a:spLocks noChangeArrowheads="1"/>
          </p:cNvSpPr>
          <p:nvPr/>
        </p:nvSpPr>
        <p:spPr bwMode="auto">
          <a:xfrm>
            <a:off x="5381625" y="773113"/>
            <a:ext cx="3511550" cy="609600"/>
          </a:xfrm>
          <a:prstGeom prst="rect">
            <a:avLst/>
          </a:prstGeom>
          <a:solidFill>
            <a:schemeClr val="bg1"/>
          </a:solidFill>
          <a:ln w="9525">
            <a:noFill/>
            <a:miter lim="800000"/>
            <a:headEnd/>
            <a:tailEnd/>
          </a:ln>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kumimoji="1" lang="zh-CN" altLang="en-US" sz="2000" b="1">
                <a:solidFill>
                  <a:srgbClr val="CC0000"/>
                </a:solidFill>
                <a:ea typeface="黑体" panose="02010609060101010101" pitchFamily="49" charset="-122"/>
              </a:rPr>
              <a:t>这里的</a:t>
            </a:r>
            <a:r>
              <a:rPr kumimoji="1" lang="en-US" altLang="zh-CN" sz="2000" b="1">
                <a:solidFill>
                  <a:srgbClr val="CC0000"/>
                </a:solidFill>
                <a:ea typeface="黑体" panose="02010609060101010101" pitchFamily="49" charset="-122"/>
              </a:rPr>
              <a:t>TLB</a:t>
            </a:r>
            <a:r>
              <a:rPr kumimoji="1" lang="zh-CN" altLang="en-US" sz="2000" b="1">
                <a:solidFill>
                  <a:srgbClr val="CC0000"/>
                </a:solidFill>
                <a:ea typeface="黑体" panose="02010609060101010101" pitchFamily="49" charset="-122"/>
              </a:rPr>
              <a:t>采用何映射方式？</a:t>
            </a:r>
            <a:endParaRPr kumimoji="1" lang="en-US" altLang="zh-CN" sz="2000" b="1">
              <a:solidFill>
                <a:srgbClr val="CC0000"/>
              </a:solidFill>
              <a:ea typeface="黑体" panose="02010609060101010101" pitchFamily="49" charset="-122"/>
            </a:endParaRPr>
          </a:p>
          <a:p>
            <a:pPr eaLnBrk="1" hangingPunct="1"/>
            <a:r>
              <a:rPr kumimoji="1" lang="zh-CN" altLang="en-US" sz="2000" b="1">
                <a:solidFill>
                  <a:srgbClr val="1B52EA"/>
                </a:solidFill>
                <a:ea typeface="黑体" panose="02010609060101010101" pitchFamily="49" charset="-122"/>
              </a:rPr>
              <a:t>全相联！</a:t>
            </a:r>
            <a:r>
              <a:rPr kumimoji="1" lang="en-US" altLang="zh-CN" sz="2000" b="1">
                <a:solidFill>
                  <a:srgbClr val="1B52EA"/>
                </a:solidFill>
                <a:ea typeface="黑体" panose="02010609060101010101" pitchFamily="49" charset="-122"/>
              </a:rPr>
              <a:t>VP#</a:t>
            </a:r>
            <a:r>
              <a:rPr kumimoji="1" lang="zh-CN" altLang="en-US" sz="2000" b="1">
                <a:solidFill>
                  <a:srgbClr val="1B52EA"/>
                </a:solidFill>
                <a:ea typeface="黑体" panose="02010609060101010101" pitchFamily="49" charset="-122"/>
              </a:rPr>
              <a:t>需和每个</a:t>
            </a:r>
            <a:r>
              <a:rPr kumimoji="1" lang="en-US" altLang="zh-CN" sz="2000" b="1">
                <a:solidFill>
                  <a:srgbClr val="1B52EA"/>
                </a:solidFill>
                <a:ea typeface="黑体" panose="02010609060101010101" pitchFamily="49" charset="-122"/>
              </a:rPr>
              <a:t>tag</a:t>
            </a:r>
            <a:r>
              <a:rPr kumimoji="1" lang="zh-CN" altLang="en-US" sz="2000" b="1">
                <a:solidFill>
                  <a:srgbClr val="1B52EA"/>
                </a:solidFill>
                <a:ea typeface="黑体" panose="02010609060101010101" pitchFamily="49" charset="-122"/>
              </a:rPr>
              <a:t>比较</a:t>
            </a:r>
          </a:p>
        </p:txBody>
      </p:sp>
      <p:sp>
        <p:nvSpPr>
          <p:cNvPr id="208" name="Text Box 220">
            <a:extLst>
              <a:ext uri="{FF2B5EF4-FFF2-40B4-BE49-F238E27FC236}">
                <a16:creationId xmlns:a16="http://schemas.microsoft.com/office/drawing/2014/main" id="{E80049A9-69D5-F64E-A1CC-17A2FB14D168}"/>
              </a:ext>
            </a:extLst>
          </p:cNvPr>
          <p:cNvSpPr txBox="1">
            <a:spLocks noChangeArrowheads="1"/>
          </p:cNvSpPr>
          <p:nvPr/>
        </p:nvSpPr>
        <p:spPr bwMode="auto">
          <a:xfrm>
            <a:off x="206375" y="6348413"/>
            <a:ext cx="40513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200" b="1">
                <a:solidFill>
                  <a:srgbClr val="CC0000"/>
                </a:solidFill>
                <a:latin typeface="微软雅黑" panose="020B0503020204020204" pitchFamily="34" charset="-122"/>
                <a:ea typeface="微软雅黑" panose="020B0503020204020204" pitchFamily="34" charset="-122"/>
              </a:rPr>
              <a:t>问题：引入</a:t>
            </a:r>
            <a:r>
              <a:rPr kumimoji="1" lang="en-US" altLang="zh-CN" sz="2200" b="1">
                <a:solidFill>
                  <a:srgbClr val="CC0000"/>
                </a:solidFill>
                <a:latin typeface="微软雅黑" panose="020B0503020204020204" pitchFamily="34" charset="-122"/>
                <a:ea typeface="微软雅黑" panose="020B0503020204020204" pitchFamily="34" charset="-122"/>
              </a:rPr>
              <a:t>TLB</a:t>
            </a:r>
            <a:r>
              <a:rPr kumimoji="1" lang="zh-CN" altLang="en-US" sz="2200" b="1">
                <a:solidFill>
                  <a:srgbClr val="CC0000"/>
                </a:solidFill>
                <a:latin typeface="微软雅黑" panose="020B0503020204020204" pitchFamily="34" charset="-122"/>
                <a:ea typeface="微软雅黑" panose="020B0503020204020204" pitchFamily="34" charset="-122"/>
              </a:rPr>
              <a:t>的目的是什么？</a:t>
            </a:r>
          </a:p>
        </p:txBody>
      </p:sp>
      <p:sp>
        <p:nvSpPr>
          <p:cNvPr id="209" name="Text Box 221">
            <a:extLst>
              <a:ext uri="{FF2B5EF4-FFF2-40B4-BE49-F238E27FC236}">
                <a16:creationId xmlns:a16="http://schemas.microsoft.com/office/drawing/2014/main" id="{F6EE492D-7760-7645-9055-E69E46D36BE3}"/>
              </a:ext>
            </a:extLst>
          </p:cNvPr>
          <p:cNvSpPr txBox="1">
            <a:spLocks noChangeArrowheads="1"/>
          </p:cNvSpPr>
          <p:nvPr/>
        </p:nvSpPr>
        <p:spPr bwMode="auto">
          <a:xfrm>
            <a:off x="4437063" y="6399213"/>
            <a:ext cx="3735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0000FF"/>
                </a:solidFill>
                <a:ea typeface="黑体" panose="02010609060101010101" pitchFamily="49" charset="-122"/>
              </a:rPr>
              <a:t>减少到内存查页表的次数！</a:t>
            </a:r>
            <a:endParaRPr kumimoji="1" lang="en-US" altLang="zh-CN" sz="2000" b="1">
              <a:solidFill>
                <a:srgbClr val="0000FF"/>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5621"/>
                                        </p:tgtEl>
                                        <p:attrNameLst>
                                          <p:attrName>style.visibility</p:attrName>
                                        </p:attrNameLst>
                                      </p:cBhvr>
                                      <p:to>
                                        <p:strVal val="visible"/>
                                      </p:to>
                                    </p:set>
                                    <p:animEffect transition="in" filter="blinds(horizontal)">
                                      <p:cBhvr>
                                        <p:cTn id="7" dur="500"/>
                                        <p:tgtEl>
                                          <p:spTgt spid="785621"/>
                                        </p:tgtEl>
                                      </p:cBhvr>
                                    </p:animEffect>
                                  </p:childTnLst>
                                  <p:subTnLst>
                                    <p:animClr clrSpc="rgb" dir="cw">
                                      <p:cBhvr override="childStyle">
                                        <p:cTn dur="1" fill="hold" display="0" masterRel="nextClick" afterEffect="1"/>
                                        <p:tgtEl>
                                          <p:spTgt spid="785621"/>
                                        </p:tgtEl>
                                        <p:attrNameLst>
                                          <p:attrName>ppt_c</p:attrName>
                                        </p:attrNameLst>
                                      </p:cBhvr>
                                      <p:to>
                                        <a:schemeClr val="accent1"/>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5625"/>
                                        </p:tgtEl>
                                        <p:attrNameLst>
                                          <p:attrName>style.visibility</p:attrName>
                                        </p:attrNameLst>
                                      </p:cBhvr>
                                      <p:to>
                                        <p:strVal val="visible"/>
                                      </p:to>
                                    </p:set>
                                    <p:animEffect transition="in" filter="blinds(horizontal)">
                                      <p:cBhvr>
                                        <p:cTn id="12" dur="500"/>
                                        <p:tgtEl>
                                          <p:spTgt spid="785625"/>
                                        </p:tgtEl>
                                      </p:cBhvr>
                                    </p:animEffect>
                                  </p:childTnLst>
                                  <p:subTnLst>
                                    <p:animClr clrSpc="rgb" dir="cw">
                                      <p:cBhvr override="childStyle">
                                        <p:cTn dur="1" fill="hold" display="0" masterRel="nextClick" afterEffect="1"/>
                                        <p:tgtEl>
                                          <p:spTgt spid="785625"/>
                                        </p:tgtEl>
                                        <p:attrNameLst>
                                          <p:attrName>ppt_c</p:attrName>
                                        </p:attrNameLst>
                                      </p:cBhvr>
                                      <p:to>
                                        <a:schemeClr val="accent1"/>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5626"/>
                                        </p:tgtEl>
                                        <p:attrNameLst>
                                          <p:attrName>style.visibility</p:attrName>
                                        </p:attrNameLst>
                                      </p:cBhvr>
                                      <p:to>
                                        <p:strVal val="visible"/>
                                      </p:to>
                                    </p:set>
                                    <p:animEffect transition="in" filter="blinds(horizontal)">
                                      <p:cBhvr>
                                        <p:cTn id="17" dur="500"/>
                                        <p:tgtEl>
                                          <p:spTgt spid="785626"/>
                                        </p:tgtEl>
                                      </p:cBhvr>
                                    </p:animEffect>
                                  </p:childTnLst>
                                  <p:subTnLst>
                                    <p:animClr clrSpc="rgb" dir="cw">
                                      <p:cBhvr override="childStyle">
                                        <p:cTn dur="1" fill="hold" display="0" masterRel="nextClick" afterEffect="1"/>
                                        <p:tgtEl>
                                          <p:spTgt spid="785626"/>
                                        </p:tgtEl>
                                        <p:attrNameLst>
                                          <p:attrName>ppt_c</p:attrName>
                                        </p:attrNameLst>
                                      </p:cBhvr>
                                      <p:to>
                                        <a:schemeClr val="accent1"/>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85627"/>
                                        </p:tgtEl>
                                        <p:attrNameLst>
                                          <p:attrName>style.visibility</p:attrName>
                                        </p:attrNameLst>
                                      </p:cBhvr>
                                      <p:to>
                                        <p:strVal val="visible"/>
                                      </p:to>
                                    </p:set>
                                    <p:animEffect transition="in" filter="blinds(horizontal)">
                                      <p:cBhvr>
                                        <p:cTn id="22" dur="500"/>
                                        <p:tgtEl>
                                          <p:spTgt spid="7856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06">
                                            <p:txEl>
                                              <p:pRg st="0" end="0"/>
                                            </p:txEl>
                                          </p:spTgt>
                                        </p:tgtEl>
                                        <p:attrNameLst>
                                          <p:attrName>style.visibility</p:attrName>
                                        </p:attrNameLst>
                                      </p:cBhvr>
                                      <p:to>
                                        <p:strVal val="visible"/>
                                      </p:to>
                                    </p:set>
                                    <p:animEffect transition="in" filter="blinds(horizontal)">
                                      <p:cBhvr>
                                        <p:cTn id="27" dur="500"/>
                                        <p:tgtEl>
                                          <p:spTgt spid="20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06">
                                            <p:txEl>
                                              <p:pRg st="1" end="1"/>
                                            </p:txEl>
                                          </p:spTgt>
                                        </p:tgtEl>
                                        <p:attrNameLst>
                                          <p:attrName>style.visibility</p:attrName>
                                        </p:attrNameLst>
                                      </p:cBhvr>
                                      <p:to>
                                        <p:strVal val="visible"/>
                                      </p:to>
                                    </p:set>
                                    <p:animEffect transition="in" filter="blinds(horizontal)">
                                      <p:cBhvr>
                                        <p:cTn id="32" dur="500"/>
                                        <p:tgtEl>
                                          <p:spTgt spid="206">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8"/>
                                        </p:tgtEl>
                                        <p:attrNameLst>
                                          <p:attrName>style.visibility</p:attrName>
                                        </p:attrNameLst>
                                      </p:cBhvr>
                                      <p:to>
                                        <p:strVal val="visible"/>
                                      </p:to>
                                    </p:set>
                                    <p:animEffect transition="in" filter="blinds(horizontal)">
                                      <p:cBhvr>
                                        <p:cTn id="37" dur="500"/>
                                        <p:tgtEl>
                                          <p:spTgt spid="20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9"/>
                                        </p:tgtEl>
                                        <p:attrNameLst>
                                          <p:attrName>style.visibility</p:attrName>
                                        </p:attrNameLst>
                                      </p:cBhvr>
                                      <p:to>
                                        <p:strVal val="visible"/>
                                      </p:to>
                                    </p:set>
                                    <p:animEffect transition="in" filter="blinds(horizontal)">
                                      <p:cBhvr>
                                        <p:cTn id="42"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621" grpId="0"/>
      <p:bldP spid="785625" grpId="0"/>
      <p:bldP spid="785626" grpId="0"/>
      <p:bldP spid="785627" grpId="0" animBg="1"/>
      <p:bldP spid="208" grpId="0"/>
      <p:bldP spid="20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5CE9D485-3A01-EF4D-84E6-BFB808FA70BB}"/>
              </a:ext>
            </a:extLst>
          </p:cNvPr>
          <p:cNvSpPr>
            <a:spLocks noGrp="1" noChangeArrowheads="1"/>
          </p:cNvSpPr>
          <p:nvPr>
            <p:ph type="title" idx="4294967295"/>
          </p:nvPr>
        </p:nvSpPr>
        <p:spPr>
          <a:xfrm>
            <a:off x="1311275" y="128588"/>
            <a:ext cx="5768975" cy="533400"/>
          </a:xfrm>
          <a:noFill/>
        </p:spPr>
        <p:txBody>
          <a:bodyPr wrap="none"/>
          <a:lstStyle/>
          <a:p>
            <a:pPr eaLnBrk="1" hangingPunct="1"/>
            <a:r>
              <a:rPr lang="en-US" altLang="zh-CN">
                <a:solidFill>
                  <a:srgbClr val="CC0000"/>
                </a:solidFill>
              </a:rPr>
              <a:t>Translation Look-Aside Buffers</a:t>
            </a:r>
          </a:p>
        </p:txBody>
      </p:sp>
      <p:sp>
        <p:nvSpPr>
          <p:cNvPr id="236547" name="Text Box 57">
            <a:extLst>
              <a:ext uri="{FF2B5EF4-FFF2-40B4-BE49-F238E27FC236}">
                <a16:creationId xmlns:a16="http://schemas.microsoft.com/office/drawing/2014/main" id="{B61FE01C-FC58-E84C-BDB5-368569F48D17}"/>
              </a:ext>
            </a:extLst>
          </p:cNvPr>
          <p:cNvSpPr txBox="1">
            <a:spLocks noChangeArrowheads="1"/>
          </p:cNvSpPr>
          <p:nvPr/>
        </p:nvSpPr>
        <p:spPr bwMode="auto">
          <a:xfrm>
            <a:off x="100013" y="1089025"/>
            <a:ext cx="11033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grpSp>
        <p:nvGrpSpPr>
          <p:cNvPr id="236548" name="Group 65">
            <a:extLst>
              <a:ext uri="{FF2B5EF4-FFF2-40B4-BE49-F238E27FC236}">
                <a16:creationId xmlns:a16="http://schemas.microsoft.com/office/drawing/2014/main" id="{27ED9CAD-E41F-8747-A06A-D0DF11CFE031}"/>
              </a:ext>
            </a:extLst>
          </p:cNvPr>
          <p:cNvGrpSpPr>
            <a:grpSpLocks/>
          </p:cNvGrpSpPr>
          <p:nvPr/>
        </p:nvGrpSpPr>
        <p:grpSpPr bwMode="auto">
          <a:xfrm>
            <a:off x="836613" y="954088"/>
            <a:ext cx="8235950" cy="4659312"/>
            <a:chOff x="414" y="852"/>
            <a:chExt cx="4588" cy="2078"/>
          </a:xfrm>
        </p:grpSpPr>
        <p:sp>
          <p:nvSpPr>
            <p:cNvPr id="236551" name="Line 4">
              <a:extLst>
                <a:ext uri="{FF2B5EF4-FFF2-40B4-BE49-F238E27FC236}">
                  <a16:creationId xmlns:a16="http://schemas.microsoft.com/office/drawing/2014/main" id="{7F0A1ACA-4190-514E-B19E-05D2266CCBFC}"/>
                </a:ext>
              </a:extLst>
            </p:cNvPr>
            <p:cNvSpPr>
              <a:spLocks noChangeShapeType="1"/>
            </p:cNvSpPr>
            <p:nvPr/>
          </p:nvSpPr>
          <p:spPr bwMode="auto">
            <a:xfrm>
              <a:off x="504" y="1091"/>
              <a:ext cx="6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52" name="Line 5">
              <a:extLst>
                <a:ext uri="{FF2B5EF4-FFF2-40B4-BE49-F238E27FC236}">
                  <a16:creationId xmlns:a16="http://schemas.microsoft.com/office/drawing/2014/main" id="{587934DD-8FBB-5848-A53C-8DD4CDE9A512}"/>
                </a:ext>
              </a:extLst>
            </p:cNvPr>
            <p:cNvSpPr>
              <a:spLocks noChangeShapeType="1"/>
            </p:cNvSpPr>
            <p:nvPr/>
          </p:nvSpPr>
          <p:spPr bwMode="auto">
            <a:xfrm>
              <a:off x="1132" y="1095"/>
              <a:ext cx="0" cy="5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53" name="Line 6">
              <a:extLst>
                <a:ext uri="{FF2B5EF4-FFF2-40B4-BE49-F238E27FC236}">
                  <a16:creationId xmlns:a16="http://schemas.microsoft.com/office/drawing/2014/main" id="{F75BC00A-A4DB-7143-B956-4C25AC9DB627}"/>
                </a:ext>
              </a:extLst>
            </p:cNvPr>
            <p:cNvSpPr>
              <a:spLocks noChangeShapeType="1"/>
            </p:cNvSpPr>
            <p:nvPr/>
          </p:nvSpPr>
          <p:spPr bwMode="auto">
            <a:xfrm flipH="1">
              <a:off x="474" y="1689"/>
              <a:ext cx="65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54" name="Rectangle 7">
              <a:extLst>
                <a:ext uri="{FF2B5EF4-FFF2-40B4-BE49-F238E27FC236}">
                  <a16:creationId xmlns:a16="http://schemas.microsoft.com/office/drawing/2014/main" id="{35C258D3-A399-E04A-B4D8-ECDA1B7C6AAD}"/>
                </a:ext>
              </a:extLst>
            </p:cNvPr>
            <p:cNvSpPr>
              <a:spLocks noChangeArrowheads="1"/>
            </p:cNvSpPr>
            <p:nvPr/>
          </p:nvSpPr>
          <p:spPr bwMode="auto">
            <a:xfrm>
              <a:off x="540" y="1323"/>
              <a:ext cx="254"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CU</a:t>
              </a:r>
            </a:p>
          </p:txBody>
        </p:sp>
        <p:sp>
          <p:nvSpPr>
            <p:cNvPr id="236555" name="Rectangle 8">
              <a:extLst>
                <a:ext uri="{FF2B5EF4-FFF2-40B4-BE49-F238E27FC236}">
                  <a16:creationId xmlns:a16="http://schemas.microsoft.com/office/drawing/2014/main" id="{2CEA90D5-1AC2-5F40-BCC2-4721D44E9716}"/>
                </a:ext>
              </a:extLst>
            </p:cNvPr>
            <p:cNvSpPr>
              <a:spLocks noChangeArrowheads="1"/>
            </p:cNvSpPr>
            <p:nvPr/>
          </p:nvSpPr>
          <p:spPr bwMode="auto">
            <a:xfrm>
              <a:off x="1544" y="1111"/>
              <a:ext cx="680" cy="265"/>
            </a:xfrm>
            <a:prstGeom prst="rect">
              <a:avLst/>
            </a:prstGeom>
            <a:noFill/>
            <a:ln w="1270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endParaRPr lang="en-US" altLang="zh-CN" sz="1800" b="1">
                <a:solidFill>
                  <a:srgbClr val="CC0000"/>
                </a:solidFill>
                <a:ea typeface="宋体" panose="02010600030101010101" pitchFamily="2" charset="-122"/>
              </a:endParaRPr>
            </a:p>
            <a:p>
              <a:pPr algn="ctr"/>
              <a:r>
                <a:rPr lang="en-US" altLang="zh-CN" sz="1800" b="1">
                  <a:solidFill>
                    <a:srgbClr val="CC0000"/>
                  </a:solidFill>
                  <a:ea typeface="宋体" panose="02010600030101010101" pitchFamily="2" charset="-122"/>
                </a:rPr>
                <a:t>TLB</a:t>
              </a:r>
            </a:p>
            <a:p>
              <a:pPr algn="ctr"/>
              <a:endParaRPr lang="en-US" altLang="zh-CN" sz="1800" b="1">
                <a:solidFill>
                  <a:srgbClr val="CC0000"/>
                </a:solidFill>
                <a:ea typeface="宋体" panose="02010600030101010101" pitchFamily="2" charset="-122"/>
              </a:endParaRPr>
            </a:p>
          </p:txBody>
        </p:sp>
        <p:sp>
          <p:nvSpPr>
            <p:cNvPr id="236556" name="Rectangle 9">
              <a:extLst>
                <a:ext uri="{FF2B5EF4-FFF2-40B4-BE49-F238E27FC236}">
                  <a16:creationId xmlns:a16="http://schemas.microsoft.com/office/drawing/2014/main" id="{54A7C5F2-0CD2-0A40-B930-C0E53E65BBF4}"/>
                </a:ext>
              </a:extLst>
            </p:cNvPr>
            <p:cNvSpPr>
              <a:spLocks noChangeArrowheads="1"/>
            </p:cNvSpPr>
            <p:nvPr/>
          </p:nvSpPr>
          <p:spPr bwMode="auto">
            <a:xfrm>
              <a:off x="2696" y="1019"/>
              <a:ext cx="680" cy="6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sz="1800" b="1">
                  <a:ea typeface="宋体" panose="02010600030101010101" pitchFamily="2" charset="-122"/>
                </a:rPr>
                <a:t>Cache</a:t>
              </a:r>
            </a:p>
          </p:txBody>
        </p:sp>
        <p:sp>
          <p:nvSpPr>
            <p:cNvPr id="236557" name="Rectangle 10">
              <a:extLst>
                <a:ext uri="{FF2B5EF4-FFF2-40B4-BE49-F238E27FC236}">
                  <a16:creationId xmlns:a16="http://schemas.microsoft.com/office/drawing/2014/main" id="{43CDB208-F761-4E4C-A130-6BCC63C1C748}"/>
                </a:ext>
              </a:extLst>
            </p:cNvPr>
            <p:cNvSpPr>
              <a:spLocks noChangeArrowheads="1"/>
            </p:cNvSpPr>
            <p:nvPr/>
          </p:nvSpPr>
          <p:spPr bwMode="auto">
            <a:xfrm>
              <a:off x="3936" y="891"/>
              <a:ext cx="1066" cy="107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sz="2000" b="1">
                  <a:latin typeface="微软雅黑" panose="020B0503020204020204" pitchFamily="34" charset="-122"/>
                  <a:ea typeface="微软雅黑" panose="020B0503020204020204" pitchFamily="34" charset="-122"/>
                </a:rPr>
                <a:t>Main</a:t>
              </a:r>
            </a:p>
            <a:p>
              <a:pPr algn="ctr"/>
              <a:r>
                <a:rPr lang="en-US" altLang="zh-CN" sz="2000" b="1">
                  <a:latin typeface="微软雅黑" panose="020B0503020204020204" pitchFamily="34" charset="-122"/>
                  <a:ea typeface="微软雅黑" panose="020B0503020204020204" pitchFamily="34" charset="-122"/>
                </a:rPr>
                <a:t>Memory</a:t>
              </a:r>
            </a:p>
          </p:txBody>
        </p:sp>
        <p:grpSp>
          <p:nvGrpSpPr>
            <p:cNvPr id="236558" name="Group 54">
              <a:extLst>
                <a:ext uri="{FF2B5EF4-FFF2-40B4-BE49-F238E27FC236}">
                  <a16:creationId xmlns:a16="http://schemas.microsoft.com/office/drawing/2014/main" id="{3AAADA99-2E87-D441-BFED-5FA744275A03}"/>
                </a:ext>
              </a:extLst>
            </p:cNvPr>
            <p:cNvGrpSpPr>
              <a:grpSpLocks/>
            </p:cNvGrpSpPr>
            <p:nvPr/>
          </p:nvGrpSpPr>
          <p:grpSpPr bwMode="auto">
            <a:xfrm>
              <a:off x="1128" y="1631"/>
              <a:ext cx="1408" cy="1096"/>
              <a:chOff x="1529" y="1319"/>
              <a:chExt cx="1408" cy="1096"/>
            </a:xfrm>
          </p:grpSpPr>
          <p:sp>
            <p:nvSpPr>
              <p:cNvPr id="236598" name="Line 16">
                <a:extLst>
                  <a:ext uri="{FF2B5EF4-FFF2-40B4-BE49-F238E27FC236}">
                    <a16:creationId xmlns:a16="http://schemas.microsoft.com/office/drawing/2014/main" id="{A8159F68-6C80-A342-A8E0-A3BEAAA26A0E}"/>
                  </a:ext>
                </a:extLst>
              </p:cNvPr>
              <p:cNvSpPr>
                <a:spLocks noChangeShapeType="1"/>
              </p:cNvSpPr>
              <p:nvPr/>
            </p:nvSpPr>
            <p:spPr bwMode="auto">
              <a:xfrm flipH="1">
                <a:off x="1697" y="2415"/>
                <a:ext cx="12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99" name="Line 17">
                <a:extLst>
                  <a:ext uri="{FF2B5EF4-FFF2-40B4-BE49-F238E27FC236}">
                    <a16:creationId xmlns:a16="http://schemas.microsoft.com/office/drawing/2014/main" id="{873F1503-631E-AB43-A633-2E54C3FBDF4F}"/>
                  </a:ext>
                </a:extLst>
              </p:cNvPr>
              <p:cNvSpPr>
                <a:spLocks noChangeShapeType="1"/>
              </p:cNvSpPr>
              <p:nvPr/>
            </p:nvSpPr>
            <p:spPr bwMode="auto">
              <a:xfrm flipV="1">
                <a:off x="1689" y="1319"/>
                <a:ext cx="0" cy="10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600" name="Line 18">
                <a:extLst>
                  <a:ext uri="{FF2B5EF4-FFF2-40B4-BE49-F238E27FC236}">
                    <a16:creationId xmlns:a16="http://schemas.microsoft.com/office/drawing/2014/main" id="{DF44B792-6888-F34E-AD70-ACA9C748CFFA}"/>
                  </a:ext>
                </a:extLst>
              </p:cNvPr>
              <p:cNvSpPr>
                <a:spLocks noChangeShapeType="1"/>
              </p:cNvSpPr>
              <p:nvPr/>
            </p:nvSpPr>
            <p:spPr bwMode="auto">
              <a:xfrm flipH="1">
                <a:off x="1529" y="1323"/>
                <a:ext cx="16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36559" name="Group 46">
              <a:extLst>
                <a:ext uri="{FF2B5EF4-FFF2-40B4-BE49-F238E27FC236}">
                  <a16:creationId xmlns:a16="http://schemas.microsoft.com/office/drawing/2014/main" id="{B4FA8BE9-0337-534F-9604-89B735FBB94B}"/>
                </a:ext>
              </a:extLst>
            </p:cNvPr>
            <p:cNvGrpSpPr>
              <a:grpSpLocks/>
            </p:cNvGrpSpPr>
            <p:nvPr/>
          </p:nvGrpSpPr>
          <p:grpSpPr bwMode="auto">
            <a:xfrm>
              <a:off x="1136" y="998"/>
              <a:ext cx="400" cy="205"/>
              <a:chOff x="1537" y="686"/>
              <a:chExt cx="400" cy="205"/>
            </a:xfrm>
          </p:grpSpPr>
          <p:sp>
            <p:nvSpPr>
              <p:cNvPr id="236596" name="Line 11">
                <a:extLst>
                  <a:ext uri="{FF2B5EF4-FFF2-40B4-BE49-F238E27FC236}">
                    <a16:creationId xmlns:a16="http://schemas.microsoft.com/office/drawing/2014/main" id="{3545893F-82EA-714A-887A-7B11F5CD4F7D}"/>
                  </a:ext>
                </a:extLst>
              </p:cNvPr>
              <p:cNvSpPr>
                <a:spLocks noChangeShapeType="1"/>
              </p:cNvSpPr>
              <p:nvPr/>
            </p:nvSpPr>
            <p:spPr bwMode="auto">
              <a:xfrm>
                <a:off x="1537" y="891"/>
                <a:ext cx="4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97" name="Rectangle 24">
                <a:extLst>
                  <a:ext uri="{FF2B5EF4-FFF2-40B4-BE49-F238E27FC236}">
                    <a16:creationId xmlns:a16="http://schemas.microsoft.com/office/drawing/2014/main" id="{C7B2A3E3-08F4-DE48-81D4-827E71815FC0}"/>
                  </a:ext>
                </a:extLst>
              </p:cNvPr>
              <p:cNvSpPr>
                <a:spLocks noChangeArrowheads="1"/>
              </p:cNvSpPr>
              <p:nvPr/>
            </p:nvSpPr>
            <p:spPr bwMode="auto">
              <a:xfrm>
                <a:off x="1557" y="686"/>
                <a:ext cx="248"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VA</a:t>
                </a:r>
              </a:p>
            </p:txBody>
          </p:sp>
        </p:grpSp>
        <p:sp>
          <p:nvSpPr>
            <p:cNvPr id="236560" name="Rectangle 25">
              <a:extLst>
                <a:ext uri="{FF2B5EF4-FFF2-40B4-BE49-F238E27FC236}">
                  <a16:creationId xmlns:a16="http://schemas.microsoft.com/office/drawing/2014/main" id="{8AD744C3-368E-1440-B6F4-7098578D4B17}"/>
                </a:ext>
              </a:extLst>
            </p:cNvPr>
            <p:cNvSpPr>
              <a:spLocks noChangeArrowheads="1"/>
            </p:cNvSpPr>
            <p:nvPr/>
          </p:nvSpPr>
          <p:spPr bwMode="auto">
            <a:xfrm>
              <a:off x="2500" y="863"/>
              <a:ext cx="248"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PA</a:t>
              </a:r>
            </a:p>
          </p:txBody>
        </p:sp>
        <p:grpSp>
          <p:nvGrpSpPr>
            <p:cNvPr id="236561" name="Group 52">
              <a:extLst>
                <a:ext uri="{FF2B5EF4-FFF2-40B4-BE49-F238E27FC236}">
                  <a16:creationId xmlns:a16="http://schemas.microsoft.com/office/drawing/2014/main" id="{E8EE3274-8AF2-A749-ADFB-8DEC024491F2}"/>
                </a:ext>
              </a:extLst>
            </p:cNvPr>
            <p:cNvGrpSpPr>
              <a:grpSpLocks/>
            </p:cNvGrpSpPr>
            <p:nvPr/>
          </p:nvGrpSpPr>
          <p:grpSpPr bwMode="auto">
            <a:xfrm>
              <a:off x="3376" y="1019"/>
              <a:ext cx="552" cy="168"/>
              <a:chOff x="3777" y="707"/>
              <a:chExt cx="552" cy="168"/>
            </a:xfrm>
          </p:grpSpPr>
          <p:sp>
            <p:nvSpPr>
              <p:cNvPr id="236594" name="Line 13">
                <a:extLst>
                  <a:ext uri="{FF2B5EF4-FFF2-40B4-BE49-F238E27FC236}">
                    <a16:creationId xmlns:a16="http://schemas.microsoft.com/office/drawing/2014/main" id="{685977AA-34F4-2F4F-B17D-BC4C3766911C}"/>
                  </a:ext>
                </a:extLst>
              </p:cNvPr>
              <p:cNvSpPr>
                <a:spLocks noChangeShapeType="1"/>
              </p:cNvSpPr>
              <p:nvPr/>
            </p:nvSpPr>
            <p:spPr bwMode="auto">
              <a:xfrm>
                <a:off x="3777" y="875"/>
                <a:ext cx="55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95" name="Rectangle 26">
                <a:extLst>
                  <a:ext uri="{FF2B5EF4-FFF2-40B4-BE49-F238E27FC236}">
                    <a16:creationId xmlns:a16="http://schemas.microsoft.com/office/drawing/2014/main" id="{2B646804-6C02-DA40-B2EA-AC7E1A99771D}"/>
                  </a:ext>
                </a:extLst>
              </p:cNvPr>
              <p:cNvSpPr>
                <a:spLocks noChangeArrowheads="1"/>
              </p:cNvSpPr>
              <p:nvPr/>
            </p:nvSpPr>
            <p:spPr bwMode="auto">
              <a:xfrm>
                <a:off x="3813" y="707"/>
                <a:ext cx="431"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miss3</a:t>
                </a:r>
              </a:p>
            </p:txBody>
          </p:sp>
        </p:grpSp>
        <p:grpSp>
          <p:nvGrpSpPr>
            <p:cNvPr id="236562" name="Group 51">
              <a:extLst>
                <a:ext uri="{FF2B5EF4-FFF2-40B4-BE49-F238E27FC236}">
                  <a16:creationId xmlns:a16="http://schemas.microsoft.com/office/drawing/2014/main" id="{C39CEE63-14DB-DD40-9B16-CA5CD70DD8EE}"/>
                </a:ext>
              </a:extLst>
            </p:cNvPr>
            <p:cNvGrpSpPr>
              <a:grpSpLocks/>
            </p:cNvGrpSpPr>
            <p:nvPr/>
          </p:nvGrpSpPr>
          <p:grpSpPr bwMode="auto">
            <a:xfrm>
              <a:off x="2536" y="1595"/>
              <a:ext cx="397" cy="1107"/>
              <a:chOff x="2937" y="1283"/>
              <a:chExt cx="397" cy="1107"/>
            </a:xfrm>
          </p:grpSpPr>
          <p:sp>
            <p:nvSpPr>
              <p:cNvPr id="236591" name="Line 21">
                <a:extLst>
                  <a:ext uri="{FF2B5EF4-FFF2-40B4-BE49-F238E27FC236}">
                    <a16:creationId xmlns:a16="http://schemas.microsoft.com/office/drawing/2014/main" id="{AB4A25C3-6666-6A47-9089-C78950523B3C}"/>
                  </a:ext>
                </a:extLst>
              </p:cNvPr>
              <p:cNvSpPr>
                <a:spLocks noChangeShapeType="1"/>
              </p:cNvSpPr>
              <p:nvPr/>
            </p:nvSpPr>
            <p:spPr bwMode="auto">
              <a:xfrm flipH="1">
                <a:off x="2937" y="1283"/>
                <a:ext cx="16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92" name="Line 22">
                <a:extLst>
                  <a:ext uri="{FF2B5EF4-FFF2-40B4-BE49-F238E27FC236}">
                    <a16:creationId xmlns:a16="http://schemas.microsoft.com/office/drawing/2014/main" id="{A13106F9-3966-DA47-B21E-127F2A86B118}"/>
                  </a:ext>
                </a:extLst>
              </p:cNvPr>
              <p:cNvSpPr>
                <a:spLocks noChangeShapeType="1"/>
              </p:cNvSpPr>
              <p:nvPr/>
            </p:nvSpPr>
            <p:spPr bwMode="auto">
              <a:xfrm flipH="1">
                <a:off x="2938" y="1287"/>
                <a:ext cx="7" cy="110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93" name="Rectangle 27">
                <a:extLst>
                  <a:ext uri="{FF2B5EF4-FFF2-40B4-BE49-F238E27FC236}">
                    <a16:creationId xmlns:a16="http://schemas.microsoft.com/office/drawing/2014/main" id="{71612FD4-1C2E-0A4E-A9B8-4D70C91F012A}"/>
                  </a:ext>
                </a:extLst>
              </p:cNvPr>
              <p:cNvSpPr>
                <a:spLocks noChangeArrowheads="1"/>
              </p:cNvSpPr>
              <p:nvPr/>
            </p:nvSpPr>
            <p:spPr bwMode="auto">
              <a:xfrm>
                <a:off x="3037" y="1419"/>
                <a:ext cx="29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endParaRPr lang="en-US" altLang="zh-CN" sz="1800" b="1">
                  <a:ea typeface="宋体" panose="02010600030101010101" pitchFamily="2" charset="-122"/>
                </a:endParaRPr>
              </a:p>
              <a:p>
                <a:pPr>
                  <a:lnSpc>
                    <a:spcPct val="85000"/>
                  </a:lnSpc>
                </a:pPr>
                <a:r>
                  <a:rPr lang="en-US" altLang="zh-CN" sz="1800" b="1">
                    <a:ea typeface="宋体" panose="02010600030101010101" pitchFamily="2" charset="-122"/>
                  </a:rPr>
                  <a:t>hit3</a:t>
                </a:r>
              </a:p>
            </p:txBody>
          </p:sp>
        </p:grpSp>
        <p:sp>
          <p:nvSpPr>
            <p:cNvPr id="236563" name="Rectangle 29">
              <a:extLst>
                <a:ext uri="{FF2B5EF4-FFF2-40B4-BE49-F238E27FC236}">
                  <a16:creationId xmlns:a16="http://schemas.microsoft.com/office/drawing/2014/main" id="{B5FC2A4A-81A3-864F-8C4E-E86C4E9A898F}"/>
                </a:ext>
              </a:extLst>
            </p:cNvPr>
            <p:cNvSpPr>
              <a:spLocks noChangeArrowheads="1"/>
            </p:cNvSpPr>
            <p:nvPr/>
          </p:nvSpPr>
          <p:spPr bwMode="auto">
            <a:xfrm>
              <a:off x="1373" y="1831"/>
              <a:ext cx="876" cy="31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zh-CN" altLang="en-US" sz="1800" b="1">
                  <a:ea typeface="宋体" panose="02010600030101010101" pitchFamily="2" charset="-122"/>
                </a:rPr>
                <a:t>页表</a:t>
              </a:r>
            </a:p>
          </p:txBody>
        </p:sp>
        <p:grpSp>
          <p:nvGrpSpPr>
            <p:cNvPr id="236564" name="Group 49">
              <a:extLst>
                <a:ext uri="{FF2B5EF4-FFF2-40B4-BE49-F238E27FC236}">
                  <a16:creationId xmlns:a16="http://schemas.microsoft.com/office/drawing/2014/main" id="{E38C99A8-AB26-FC45-A75B-531C17B7720C}"/>
                </a:ext>
              </a:extLst>
            </p:cNvPr>
            <p:cNvGrpSpPr>
              <a:grpSpLocks/>
            </p:cNvGrpSpPr>
            <p:nvPr/>
          </p:nvGrpSpPr>
          <p:grpSpPr bwMode="auto">
            <a:xfrm>
              <a:off x="2216" y="1008"/>
              <a:ext cx="472" cy="195"/>
              <a:chOff x="2617" y="696"/>
              <a:chExt cx="472" cy="195"/>
            </a:xfrm>
          </p:grpSpPr>
          <p:sp>
            <p:nvSpPr>
              <p:cNvPr id="236589" name="Line 12">
                <a:extLst>
                  <a:ext uri="{FF2B5EF4-FFF2-40B4-BE49-F238E27FC236}">
                    <a16:creationId xmlns:a16="http://schemas.microsoft.com/office/drawing/2014/main" id="{6FBA2159-2DCE-2248-BE2B-22040587AFD4}"/>
                  </a:ext>
                </a:extLst>
              </p:cNvPr>
              <p:cNvSpPr>
                <a:spLocks noChangeShapeType="1"/>
              </p:cNvSpPr>
              <p:nvPr/>
            </p:nvSpPr>
            <p:spPr bwMode="auto">
              <a:xfrm>
                <a:off x="2617" y="891"/>
                <a:ext cx="47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90" name="Rectangle 30">
                <a:extLst>
                  <a:ext uri="{FF2B5EF4-FFF2-40B4-BE49-F238E27FC236}">
                    <a16:creationId xmlns:a16="http://schemas.microsoft.com/office/drawing/2014/main" id="{940212BA-E60C-7340-81A6-43DC3B8E8AF6}"/>
                  </a:ext>
                </a:extLst>
              </p:cNvPr>
              <p:cNvSpPr>
                <a:spLocks noChangeArrowheads="1"/>
              </p:cNvSpPr>
              <p:nvPr/>
            </p:nvSpPr>
            <p:spPr bwMode="auto">
              <a:xfrm>
                <a:off x="2625" y="696"/>
                <a:ext cx="29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hit1</a:t>
                </a:r>
              </a:p>
            </p:txBody>
          </p:sp>
        </p:grpSp>
        <p:grpSp>
          <p:nvGrpSpPr>
            <p:cNvPr id="236565" name="Group 47">
              <a:extLst>
                <a:ext uri="{FF2B5EF4-FFF2-40B4-BE49-F238E27FC236}">
                  <a16:creationId xmlns:a16="http://schemas.microsoft.com/office/drawing/2014/main" id="{F7292A7F-99CD-B047-A673-EF00EC8A2763}"/>
                </a:ext>
              </a:extLst>
            </p:cNvPr>
            <p:cNvGrpSpPr>
              <a:grpSpLocks/>
            </p:cNvGrpSpPr>
            <p:nvPr/>
          </p:nvGrpSpPr>
          <p:grpSpPr bwMode="auto">
            <a:xfrm>
              <a:off x="1426" y="1382"/>
              <a:ext cx="524" cy="440"/>
              <a:chOff x="1861" y="1190"/>
              <a:chExt cx="488" cy="242"/>
            </a:xfrm>
          </p:grpSpPr>
          <p:sp>
            <p:nvSpPr>
              <p:cNvPr id="236587" name="Line 31">
                <a:extLst>
                  <a:ext uri="{FF2B5EF4-FFF2-40B4-BE49-F238E27FC236}">
                    <a16:creationId xmlns:a16="http://schemas.microsoft.com/office/drawing/2014/main" id="{26A67B57-E24F-404D-A3B6-AB15FBB8EC3F}"/>
                  </a:ext>
                </a:extLst>
              </p:cNvPr>
              <p:cNvSpPr>
                <a:spLocks noChangeShapeType="1"/>
              </p:cNvSpPr>
              <p:nvPr/>
            </p:nvSpPr>
            <p:spPr bwMode="auto">
              <a:xfrm flipH="1">
                <a:off x="2277" y="1190"/>
                <a:ext cx="0" cy="24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88" name="Rectangle 32">
                <a:extLst>
                  <a:ext uri="{FF2B5EF4-FFF2-40B4-BE49-F238E27FC236}">
                    <a16:creationId xmlns:a16="http://schemas.microsoft.com/office/drawing/2014/main" id="{5A39B013-DE94-E64D-AC9B-0443B6D9BD45}"/>
                  </a:ext>
                </a:extLst>
              </p:cNvPr>
              <p:cNvSpPr>
                <a:spLocks noChangeArrowheads="1"/>
              </p:cNvSpPr>
              <p:nvPr/>
            </p:nvSpPr>
            <p:spPr bwMode="auto">
              <a:xfrm>
                <a:off x="1861" y="1196"/>
                <a:ext cx="488"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miss1</a:t>
                </a:r>
              </a:p>
            </p:txBody>
          </p:sp>
        </p:grpSp>
        <p:grpSp>
          <p:nvGrpSpPr>
            <p:cNvPr id="236566" name="Group 53">
              <a:extLst>
                <a:ext uri="{FF2B5EF4-FFF2-40B4-BE49-F238E27FC236}">
                  <a16:creationId xmlns:a16="http://schemas.microsoft.com/office/drawing/2014/main" id="{4CFD68F4-9ABB-544C-8D1F-B576E86370D3}"/>
                </a:ext>
              </a:extLst>
            </p:cNvPr>
            <p:cNvGrpSpPr>
              <a:grpSpLocks/>
            </p:cNvGrpSpPr>
            <p:nvPr/>
          </p:nvGrpSpPr>
          <p:grpSpPr bwMode="auto">
            <a:xfrm>
              <a:off x="2528" y="1595"/>
              <a:ext cx="1408" cy="1143"/>
              <a:chOff x="2929" y="1283"/>
              <a:chExt cx="1408" cy="1143"/>
            </a:xfrm>
          </p:grpSpPr>
          <p:sp>
            <p:nvSpPr>
              <p:cNvPr id="236582" name="Line 14">
                <a:extLst>
                  <a:ext uri="{FF2B5EF4-FFF2-40B4-BE49-F238E27FC236}">
                    <a16:creationId xmlns:a16="http://schemas.microsoft.com/office/drawing/2014/main" id="{F9469A13-69BB-464F-BF22-6A9FB76DCA5B}"/>
                  </a:ext>
                </a:extLst>
              </p:cNvPr>
              <p:cNvSpPr>
                <a:spLocks noChangeShapeType="1"/>
              </p:cNvSpPr>
              <p:nvPr/>
            </p:nvSpPr>
            <p:spPr bwMode="auto">
              <a:xfrm flipH="1">
                <a:off x="4201" y="1283"/>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83" name="Line 15">
                <a:extLst>
                  <a:ext uri="{FF2B5EF4-FFF2-40B4-BE49-F238E27FC236}">
                    <a16:creationId xmlns:a16="http://schemas.microsoft.com/office/drawing/2014/main" id="{41F6F71B-4A7C-754F-8D0B-423DFA191FBD}"/>
                  </a:ext>
                </a:extLst>
              </p:cNvPr>
              <p:cNvSpPr>
                <a:spLocks noChangeShapeType="1"/>
              </p:cNvSpPr>
              <p:nvPr/>
            </p:nvSpPr>
            <p:spPr bwMode="auto">
              <a:xfrm>
                <a:off x="4209" y="1287"/>
                <a:ext cx="3" cy="113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84" name="Line 19">
                <a:extLst>
                  <a:ext uri="{FF2B5EF4-FFF2-40B4-BE49-F238E27FC236}">
                    <a16:creationId xmlns:a16="http://schemas.microsoft.com/office/drawing/2014/main" id="{8371A2C0-AC51-5841-BC0A-F024B6198C60}"/>
                  </a:ext>
                </a:extLst>
              </p:cNvPr>
              <p:cNvSpPr>
                <a:spLocks noChangeShapeType="1"/>
              </p:cNvSpPr>
              <p:nvPr/>
            </p:nvSpPr>
            <p:spPr bwMode="auto">
              <a:xfrm flipV="1">
                <a:off x="3937" y="1295"/>
                <a:ext cx="0" cy="10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85" name="Line 20">
                <a:extLst>
                  <a:ext uri="{FF2B5EF4-FFF2-40B4-BE49-F238E27FC236}">
                    <a16:creationId xmlns:a16="http://schemas.microsoft.com/office/drawing/2014/main" id="{B2D0CAE8-002D-9140-B711-D579787E63E7}"/>
                  </a:ext>
                </a:extLst>
              </p:cNvPr>
              <p:cNvSpPr>
                <a:spLocks noChangeShapeType="1"/>
              </p:cNvSpPr>
              <p:nvPr/>
            </p:nvSpPr>
            <p:spPr bwMode="auto">
              <a:xfrm flipH="1">
                <a:off x="3777" y="1299"/>
                <a:ext cx="16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86" name="Line 36">
                <a:extLst>
                  <a:ext uri="{FF2B5EF4-FFF2-40B4-BE49-F238E27FC236}">
                    <a16:creationId xmlns:a16="http://schemas.microsoft.com/office/drawing/2014/main" id="{E1C7BF5E-D0E4-7149-AA68-93529BC9F964}"/>
                  </a:ext>
                </a:extLst>
              </p:cNvPr>
              <p:cNvSpPr>
                <a:spLocks noChangeShapeType="1"/>
              </p:cNvSpPr>
              <p:nvPr/>
            </p:nvSpPr>
            <p:spPr bwMode="auto">
              <a:xfrm flipH="1" flipV="1">
                <a:off x="2929" y="2411"/>
                <a:ext cx="129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36567" name="Rectangle 37">
              <a:extLst>
                <a:ext uri="{FF2B5EF4-FFF2-40B4-BE49-F238E27FC236}">
                  <a16:creationId xmlns:a16="http://schemas.microsoft.com/office/drawing/2014/main" id="{06FD9243-3CA6-324A-A207-3FA42BD3795B}"/>
                </a:ext>
              </a:extLst>
            </p:cNvPr>
            <p:cNvSpPr>
              <a:spLocks noChangeArrowheads="1"/>
            </p:cNvSpPr>
            <p:nvPr/>
          </p:nvSpPr>
          <p:spPr bwMode="auto">
            <a:xfrm>
              <a:off x="4407" y="2795"/>
              <a:ext cx="290"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20 t</a:t>
              </a:r>
            </a:p>
          </p:txBody>
        </p:sp>
        <p:sp>
          <p:nvSpPr>
            <p:cNvPr id="236568" name="Rectangle 38">
              <a:extLst>
                <a:ext uri="{FF2B5EF4-FFF2-40B4-BE49-F238E27FC236}">
                  <a16:creationId xmlns:a16="http://schemas.microsoft.com/office/drawing/2014/main" id="{87B5DFF3-4C69-B040-BB9A-8A2935897120}"/>
                </a:ext>
              </a:extLst>
            </p:cNvPr>
            <p:cNvSpPr>
              <a:spLocks noChangeArrowheads="1"/>
            </p:cNvSpPr>
            <p:nvPr/>
          </p:nvSpPr>
          <p:spPr bwMode="auto">
            <a:xfrm>
              <a:off x="3004" y="2795"/>
              <a:ext cx="113"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t</a:t>
              </a:r>
            </a:p>
          </p:txBody>
        </p:sp>
        <p:sp>
          <p:nvSpPr>
            <p:cNvPr id="236569" name="Rectangle 39">
              <a:extLst>
                <a:ext uri="{FF2B5EF4-FFF2-40B4-BE49-F238E27FC236}">
                  <a16:creationId xmlns:a16="http://schemas.microsoft.com/office/drawing/2014/main" id="{004A4D82-7C84-FE47-BAFE-5B5386B45710}"/>
                </a:ext>
              </a:extLst>
            </p:cNvPr>
            <p:cNvSpPr>
              <a:spLocks noChangeArrowheads="1"/>
            </p:cNvSpPr>
            <p:nvPr/>
          </p:nvSpPr>
          <p:spPr bwMode="auto">
            <a:xfrm>
              <a:off x="1692" y="2803"/>
              <a:ext cx="325"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1/2 t</a:t>
              </a:r>
            </a:p>
          </p:txBody>
        </p:sp>
        <p:grpSp>
          <p:nvGrpSpPr>
            <p:cNvPr id="236570" name="Group 48">
              <a:extLst>
                <a:ext uri="{FF2B5EF4-FFF2-40B4-BE49-F238E27FC236}">
                  <a16:creationId xmlns:a16="http://schemas.microsoft.com/office/drawing/2014/main" id="{EEF2C5B3-186B-284A-AC1C-567C2C9D49D7}"/>
                </a:ext>
              </a:extLst>
            </p:cNvPr>
            <p:cNvGrpSpPr>
              <a:grpSpLocks/>
            </p:cNvGrpSpPr>
            <p:nvPr/>
          </p:nvGrpSpPr>
          <p:grpSpPr bwMode="auto">
            <a:xfrm>
              <a:off x="1287" y="2156"/>
              <a:ext cx="790" cy="431"/>
              <a:chOff x="1697" y="1844"/>
              <a:chExt cx="708" cy="431"/>
            </a:xfrm>
          </p:grpSpPr>
          <p:sp>
            <p:nvSpPr>
              <p:cNvPr id="236579" name="Line 42">
                <a:extLst>
                  <a:ext uri="{FF2B5EF4-FFF2-40B4-BE49-F238E27FC236}">
                    <a16:creationId xmlns:a16="http://schemas.microsoft.com/office/drawing/2014/main" id="{25BD4284-37AE-7E42-B5C7-57F877747D93}"/>
                  </a:ext>
                </a:extLst>
              </p:cNvPr>
              <p:cNvSpPr>
                <a:spLocks noChangeShapeType="1"/>
              </p:cNvSpPr>
              <p:nvPr/>
            </p:nvSpPr>
            <p:spPr bwMode="auto">
              <a:xfrm flipH="1">
                <a:off x="2115" y="1844"/>
                <a:ext cx="0" cy="282"/>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80" name="Rectangle 43">
                <a:extLst>
                  <a:ext uri="{FF2B5EF4-FFF2-40B4-BE49-F238E27FC236}">
                    <a16:creationId xmlns:a16="http://schemas.microsoft.com/office/drawing/2014/main" id="{7189DCE8-AA8D-CA4E-91C9-25C5891A85DF}"/>
                  </a:ext>
                </a:extLst>
              </p:cNvPr>
              <p:cNvSpPr>
                <a:spLocks noChangeArrowheads="1"/>
              </p:cNvSpPr>
              <p:nvPr/>
            </p:nvSpPr>
            <p:spPr bwMode="auto">
              <a:xfrm>
                <a:off x="1697" y="1870"/>
                <a:ext cx="38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miss2</a:t>
                </a:r>
              </a:p>
            </p:txBody>
          </p:sp>
          <p:sp>
            <p:nvSpPr>
              <p:cNvPr id="236581" name="Text Box 44">
                <a:extLst>
                  <a:ext uri="{FF2B5EF4-FFF2-40B4-BE49-F238E27FC236}">
                    <a16:creationId xmlns:a16="http://schemas.microsoft.com/office/drawing/2014/main" id="{05DFA72B-6530-474C-A1D6-C86314009D71}"/>
                  </a:ext>
                </a:extLst>
              </p:cNvPr>
              <p:cNvSpPr txBox="1">
                <a:spLocks noChangeArrowheads="1"/>
              </p:cNvSpPr>
              <p:nvPr/>
            </p:nvSpPr>
            <p:spPr bwMode="auto">
              <a:xfrm>
                <a:off x="1718" y="2126"/>
                <a:ext cx="68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2200" b="1">
                    <a:solidFill>
                      <a:srgbClr val="0000FF"/>
                    </a:solidFill>
                    <a:ea typeface="宋体" panose="02010600030101010101" pitchFamily="2" charset="-122"/>
                    <a:cs typeface="Arial" panose="020B0604020202020204" pitchFamily="34" charset="0"/>
                  </a:rPr>
                  <a:t>Page fault</a:t>
                </a:r>
              </a:p>
            </p:txBody>
          </p:sp>
        </p:grpSp>
        <p:grpSp>
          <p:nvGrpSpPr>
            <p:cNvPr id="236571" name="Group 50">
              <a:extLst>
                <a:ext uri="{FF2B5EF4-FFF2-40B4-BE49-F238E27FC236}">
                  <a16:creationId xmlns:a16="http://schemas.microsoft.com/office/drawing/2014/main" id="{CA223CBF-9B95-3F4F-BD0E-E242B60C83FC}"/>
                </a:ext>
              </a:extLst>
            </p:cNvPr>
            <p:cNvGrpSpPr>
              <a:grpSpLocks/>
            </p:cNvGrpSpPr>
            <p:nvPr/>
          </p:nvGrpSpPr>
          <p:grpSpPr bwMode="auto">
            <a:xfrm>
              <a:off x="1888" y="1199"/>
              <a:ext cx="428" cy="1168"/>
              <a:chOff x="2289" y="887"/>
              <a:chExt cx="428" cy="1168"/>
            </a:xfrm>
          </p:grpSpPr>
          <p:sp>
            <p:nvSpPr>
              <p:cNvPr id="236575" name="Line 33">
                <a:extLst>
                  <a:ext uri="{FF2B5EF4-FFF2-40B4-BE49-F238E27FC236}">
                    <a16:creationId xmlns:a16="http://schemas.microsoft.com/office/drawing/2014/main" id="{95EF57B3-152B-DE47-B89D-5C22281B3A41}"/>
                  </a:ext>
                </a:extLst>
              </p:cNvPr>
              <p:cNvSpPr>
                <a:spLocks noChangeShapeType="1"/>
              </p:cNvSpPr>
              <p:nvPr/>
            </p:nvSpPr>
            <p:spPr bwMode="auto">
              <a:xfrm flipH="1">
                <a:off x="2289" y="1832"/>
                <a:ext cx="0" cy="2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76" name="Line 34">
                <a:extLst>
                  <a:ext uri="{FF2B5EF4-FFF2-40B4-BE49-F238E27FC236}">
                    <a16:creationId xmlns:a16="http://schemas.microsoft.com/office/drawing/2014/main" id="{8A5DBAEA-C73D-1449-B292-09D1882EEE89}"/>
                  </a:ext>
                </a:extLst>
              </p:cNvPr>
              <p:cNvSpPr>
                <a:spLocks noChangeShapeType="1"/>
              </p:cNvSpPr>
              <p:nvPr/>
            </p:nvSpPr>
            <p:spPr bwMode="auto">
              <a:xfrm>
                <a:off x="2289" y="2055"/>
                <a:ext cx="42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77" name="Line 35">
                <a:extLst>
                  <a:ext uri="{FF2B5EF4-FFF2-40B4-BE49-F238E27FC236}">
                    <a16:creationId xmlns:a16="http://schemas.microsoft.com/office/drawing/2014/main" id="{36958CFC-205F-B045-A151-1CE60B78ED65}"/>
                  </a:ext>
                </a:extLst>
              </p:cNvPr>
              <p:cNvSpPr>
                <a:spLocks noChangeShapeType="1"/>
              </p:cNvSpPr>
              <p:nvPr/>
            </p:nvSpPr>
            <p:spPr bwMode="auto">
              <a:xfrm flipV="1">
                <a:off x="2717" y="887"/>
                <a:ext cx="0" cy="116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6578" name="Rectangle 45">
                <a:extLst>
                  <a:ext uri="{FF2B5EF4-FFF2-40B4-BE49-F238E27FC236}">
                    <a16:creationId xmlns:a16="http://schemas.microsoft.com/office/drawing/2014/main" id="{849A5EC4-E4DA-7C45-AE88-1298886698E3}"/>
                  </a:ext>
                </a:extLst>
              </p:cNvPr>
              <p:cNvSpPr>
                <a:spLocks noChangeArrowheads="1"/>
              </p:cNvSpPr>
              <p:nvPr/>
            </p:nvSpPr>
            <p:spPr bwMode="auto">
              <a:xfrm>
                <a:off x="2312" y="1868"/>
                <a:ext cx="29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85000"/>
                  </a:lnSpc>
                </a:pPr>
                <a:r>
                  <a:rPr lang="en-US" altLang="zh-CN" sz="1800" b="1">
                    <a:ea typeface="宋体" panose="02010600030101010101" pitchFamily="2" charset="-122"/>
                  </a:rPr>
                  <a:t>hit2</a:t>
                </a:r>
              </a:p>
            </p:txBody>
          </p:sp>
        </p:grpSp>
        <p:grpSp>
          <p:nvGrpSpPr>
            <p:cNvPr id="236572" name="Group 64">
              <a:extLst>
                <a:ext uri="{FF2B5EF4-FFF2-40B4-BE49-F238E27FC236}">
                  <a16:creationId xmlns:a16="http://schemas.microsoft.com/office/drawing/2014/main" id="{79C5FF3B-C90E-4440-ADE8-D1639B5CBFCA}"/>
                </a:ext>
              </a:extLst>
            </p:cNvPr>
            <p:cNvGrpSpPr>
              <a:grpSpLocks/>
            </p:cNvGrpSpPr>
            <p:nvPr/>
          </p:nvGrpSpPr>
          <p:grpSpPr bwMode="auto">
            <a:xfrm>
              <a:off x="414" y="852"/>
              <a:ext cx="3324" cy="900"/>
              <a:chOff x="1014" y="540"/>
              <a:chExt cx="3324" cy="900"/>
            </a:xfrm>
          </p:grpSpPr>
          <p:sp>
            <p:nvSpPr>
              <p:cNvPr id="236573" name="Rectangle 62">
                <a:extLst>
                  <a:ext uri="{FF2B5EF4-FFF2-40B4-BE49-F238E27FC236}">
                    <a16:creationId xmlns:a16="http://schemas.microsoft.com/office/drawing/2014/main" id="{7E3D5315-5150-2041-A011-923D596E777C}"/>
                  </a:ext>
                </a:extLst>
              </p:cNvPr>
              <p:cNvSpPr>
                <a:spLocks noChangeArrowheads="1"/>
              </p:cNvSpPr>
              <p:nvPr/>
            </p:nvSpPr>
            <p:spPr bwMode="auto">
              <a:xfrm>
                <a:off x="1014" y="540"/>
                <a:ext cx="3324" cy="900"/>
              </a:xfrm>
              <a:prstGeom prst="rect">
                <a:avLst/>
              </a:prstGeom>
              <a:solidFill>
                <a:schemeClr val="accent1">
                  <a:alpha val="29019"/>
                </a:schemeClr>
              </a:solidFill>
              <a:ln w="19050">
                <a:solidFill>
                  <a:srgbClr val="CC0000"/>
                </a:solidFill>
                <a:prstDash val="dash"/>
                <a:miter lim="800000"/>
                <a:headEnd/>
                <a:tailEnd/>
              </a:ln>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36574" name="Text Box 63">
                <a:extLst>
                  <a:ext uri="{FF2B5EF4-FFF2-40B4-BE49-F238E27FC236}">
                    <a16:creationId xmlns:a16="http://schemas.microsoft.com/office/drawing/2014/main" id="{6CA551E0-8ADB-C643-99CA-CD2B70317378}"/>
                  </a:ext>
                </a:extLst>
              </p:cNvPr>
              <p:cNvSpPr txBox="1">
                <a:spLocks noChangeArrowheads="1"/>
              </p:cNvSpPr>
              <p:nvPr/>
            </p:nvSpPr>
            <p:spPr bwMode="auto">
              <a:xfrm>
                <a:off x="1152" y="606"/>
                <a:ext cx="46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2000" b="1" i="1">
                    <a:solidFill>
                      <a:srgbClr val="CC0000"/>
                    </a:solidFill>
                    <a:latin typeface="微软雅黑" panose="020B0503020204020204" pitchFamily="34" charset="-122"/>
                    <a:ea typeface="微软雅黑" panose="020B0503020204020204" pitchFamily="34" charset="-122"/>
                  </a:rPr>
                  <a:t>CPU</a:t>
                </a:r>
              </a:p>
            </p:txBody>
          </p:sp>
        </p:grpSp>
      </p:grpSp>
      <p:sp>
        <p:nvSpPr>
          <p:cNvPr id="528450" name="Text Box 66">
            <a:extLst>
              <a:ext uri="{FF2B5EF4-FFF2-40B4-BE49-F238E27FC236}">
                <a16:creationId xmlns:a16="http://schemas.microsoft.com/office/drawing/2014/main" id="{8D3EB95D-976F-064C-8D5A-117EA49EB01E}"/>
              </a:ext>
            </a:extLst>
          </p:cNvPr>
          <p:cNvSpPr txBox="1">
            <a:spLocks noChangeArrowheads="1"/>
          </p:cNvSpPr>
          <p:nvPr/>
        </p:nvSpPr>
        <p:spPr bwMode="auto">
          <a:xfrm>
            <a:off x="431800" y="4238625"/>
            <a:ext cx="3914775"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20000"/>
              </a:spcBef>
            </a:pPr>
            <a:r>
              <a:rPr kumimoji="1" lang="en-US" altLang="zh-CN" sz="2000" b="1">
                <a:solidFill>
                  <a:srgbClr val="CC0000"/>
                </a:solidFill>
                <a:latin typeface="微软雅黑" panose="020B0503020204020204" pitchFamily="34" charset="-122"/>
                <a:ea typeface="微软雅黑" panose="020B0503020204020204" pitchFamily="34" charset="-122"/>
              </a:rPr>
              <a:t>Miss1:</a:t>
            </a:r>
          </a:p>
          <a:p>
            <a:pPr eaLnBrk="1" hangingPunct="1">
              <a:spcBef>
                <a:spcPct val="20000"/>
              </a:spcBef>
            </a:pPr>
            <a:r>
              <a:rPr kumimoji="1" lang="en-US" altLang="zh-CN" sz="2000" b="1">
                <a:solidFill>
                  <a:srgbClr val="0000FF"/>
                </a:solidFill>
                <a:latin typeface="微软雅黑" panose="020B0503020204020204" pitchFamily="34" charset="-122"/>
                <a:ea typeface="微软雅黑" panose="020B0503020204020204" pitchFamily="34" charset="-122"/>
              </a:rPr>
              <a:t>TLB</a:t>
            </a:r>
            <a:r>
              <a:rPr kumimoji="1" lang="zh-CN" altLang="en-US" sz="2000" b="1">
                <a:solidFill>
                  <a:srgbClr val="0000FF"/>
                </a:solidFill>
                <a:latin typeface="微软雅黑" panose="020B0503020204020204" pitchFamily="34" charset="-122"/>
                <a:ea typeface="微软雅黑" panose="020B0503020204020204" pitchFamily="34" charset="-122"/>
              </a:rPr>
              <a:t>缺失</a:t>
            </a:r>
          </a:p>
          <a:p>
            <a:pPr eaLnBrk="1" hangingPunct="1">
              <a:spcBef>
                <a:spcPct val="20000"/>
              </a:spcBef>
            </a:pPr>
            <a:r>
              <a:rPr kumimoji="1" lang="en-US" altLang="zh-CN" sz="2000" b="1">
                <a:solidFill>
                  <a:srgbClr val="CC0000"/>
                </a:solidFill>
                <a:latin typeface="微软雅黑" panose="020B0503020204020204" pitchFamily="34" charset="-122"/>
                <a:ea typeface="微软雅黑" panose="020B0503020204020204" pitchFamily="34" charset="-122"/>
              </a:rPr>
              <a:t>Miss2:</a:t>
            </a:r>
          </a:p>
          <a:p>
            <a:pPr eaLnBrk="1" hangingPunct="1">
              <a:spcBef>
                <a:spcPct val="20000"/>
              </a:spcBef>
            </a:pPr>
            <a:r>
              <a:rPr kumimoji="1" lang="zh-CN" altLang="en-US" sz="2000" b="1">
                <a:solidFill>
                  <a:srgbClr val="0000FF"/>
                </a:solidFill>
                <a:latin typeface="微软雅黑" panose="020B0503020204020204" pitchFamily="34" charset="-122"/>
                <a:ea typeface="微软雅黑" panose="020B0503020204020204" pitchFamily="34" charset="-122"/>
              </a:rPr>
              <a:t>缺页</a:t>
            </a:r>
          </a:p>
          <a:p>
            <a:pPr eaLnBrk="1" hangingPunct="1">
              <a:spcBef>
                <a:spcPct val="20000"/>
              </a:spcBef>
            </a:pPr>
            <a:r>
              <a:rPr kumimoji="1" lang="en-US" altLang="zh-CN" sz="2000" b="1">
                <a:solidFill>
                  <a:srgbClr val="CC0000"/>
                </a:solidFill>
                <a:latin typeface="微软雅黑" panose="020B0503020204020204" pitchFamily="34" charset="-122"/>
                <a:ea typeface="微软雅黑" panose="020B0503020204020204" pitchFamily="34" charset="-122"/>
              </a:rPr>
              <a:t>Miss3:</a:t>
            </a:r>
          </a:p>
          <a:p>
            <a:pPr eaLnBrk="1" hangingPunct="1">
              <a:spcBef>
                <a:spcPct val="20000"/>
              </a:spcBef>
            </a:pPr>
            <a:r>
              <a:rPr kumimoji="1" lang="en-US" altLang="zh-CN" sz="2000" b="1">
                <a:solidFill>
                  <a:srgbClr val="0000FF"/>
                </a:solidFill>
                <a:latin typeface="微软雅黑" panose="020B0503020204020204" pitchFamily="34" charset="-122"/>
                <a:ea typeface="微软雅黑" panose="020B0503020204020204" pitchFamily="34" charset="-122"/>
              </a:rPr>
              <a:t>PA </a:t>
            </a:r>
            <a:r>
              <a:rPr kumimoji="1" lang="zh-CN" altLang="en-US" sz="2000" b="1">
                <a:solidFill>
                  <a:srgbClr val="0000FF"/>
                </a:solidFill>
                <a:latin typeface="微软雅黑" panose="020B0503020204020204" pitchFamily="34" charset="-122"/>
                <a:ea typeface="微软雅黑" panose="020B0503020204020204" pitchFamily="34" charset="-122"/>
              </a:rPr>
              <a:t>在主存中，但不在</a:t>
            </a:r>
            <a:r>
              <a:rPr kumimoji="1" lang="en-US" altLang="zh-CN" sz="2000" b="1">
                <a:solidFill>
                  <a:srgbClr val="0000FF"/>
                </a:solidFill>
                <a:latin typeface="微软雅黑" panose="020B0503020204020204" pitchFamily="34" charset="-122"/>
                <a:ea typeface="微软雅黑" panose="020B0503020204020204" pitchFamily="34" charset="-122"/>
              </a:rPr>
              <a:t>Cache</a:t>
            </a:r>
            <a:r>
              <a:rPr kumimoji="1" lang="zh-CN" altLang="en-US" sz="2000" b="1">
                <a:solidFill>
                  <a:srgbClr val="0000FF"/>
                </a:solidFill>
                <a:latin typeface="微软雅黑" panose="020B0503020204020204" pitchFamily="34" charset="-122"/>
                <a:ea typeface="微软雅黑" panose="020B0503020204020204" pitchFamily="34" charset="-122"/>
              </a:rPr>
              <a:t>中</a:t>
            </a:r>
            <a:endParaRPr kumimoji="1" lang="en-US" altLang="zh-CN" sz="2000" b="1">
              <a:solidFill>
                <a:srgbClr val="0000FF"/>
              </a:solidFill>
              <a:latin typeface="微软雅黑" panose="020B0503020204020204" pitchFamily="34" charset="-122"/>
              <a:ea typeface="微软雅黑" panose="020B0503020204020204" pitchFamily="34" charset="-122"/>
            </a:endParaRPr>
          </a:p>
        </p:txBody>
      </p:sp>
      <p:sp>
        <p:nvSpPr>
          <p:cNvPr id="236550" name="Text Box 56">
            <a:extLst>
              <a:ext uri="{FF2B5EF4-FFF2-40B4-BE49-F238E27FC236}">
                <a16:creationId xmlns:a16="http://schemas.microsoft.com/office/drawing/2014/main" id="{0948839C-066D-8C4E-9FE9-4126B61FA306}"/>
              </a:ext>
            </a:extLst>
          </p:cNvPr>
          <p:cNvSpPr txBox="1">
            <a:spLocks noChangeArrowheads="1"/>
          </p:cNvSpPr>
          <p:nvPr/>
        </p:nvSpPr>
        <p:spPr bwMode="auto">
          <a:xfrm>
            <a:off x="4860925" y="5935663"/>
            <a:ext cx="39211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en-US" altLang="zh-CN" sz="2000" b="1">
                <a:latin typeface="微软雅黑" panose="020B0503020204020204" pitchFamily="34" charset="-122"/>
                <a:ea typeface="微软雅黑" panose="020B0503020204020204" pitchFamily="34" charset="-122"/>
              </a:rPr>
              <a:t>TLB</a:t>
            </a:r>
            <a:r>
              <a:rPr lang="zh-CN" altLang="en-US" sz="2000" b="1">
                <a:latin typeface="微软雅黑" panose="020B0503020204020204" pitchFamily="34" charset="-122"/>
                <a:ea typeface="微软雅黑" panose="020B0503020204020204" pitchFamily="34" charset="-122"/>
              </a:rPr>
              <a:t>冲刷指令和</a:t>
            </a:r>
            <a:r>
              <a:rPr lang="en-US" altLang="zh-CN" sz="2000" b="1">
                <a:latin typeface="微软雅黑" panose="020B0503020204020204" pitchFamily="34" charset="-122"/>
                <a:ea typeface="微软雅黑" panose="020B0503020204020204" pitchFamily="34" charset="-122"/>
              </a:rPr>
              <a:t>Cache</a:t>
            </a:r>
            <a:r>
              <a:rPr lang="zh-CN" altLang="en-US" sz="2000" b="1">
                <a:latin typeface="微软雅黑" panose="020B0503020204020204" pitchFamily="34" charset="-122"/>
                <a:ea typeface="微软雅黑" panose="020B0503020204020204" pitchFamily="34" charset="-122"/>
              </a:rPr>
              <a:t>冲刷指令都是操作系统使用的特权指令</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8450">
                                            <p:txEl>
                                              <p:pRg st="0" end="0"/>
                                            </p:txEl>
                                          </p:spTgt>
                                        </p:tgtEl>
                                        <p:attrNameLst>
                                          <p:attrName>style.visibility</p:attrName>
                                        </p:attrNameLst>
                                      </p:cBhvr>
                                      <p:to>
                                        <p:strVal val="visible"/>
                                      </p:to>
                                    </p:set>
                                    <p:animEffect transition="in" filter="blinds(horizontal)">
                                      <p:cBhvr>
                                        <p:cTn id="7" dur="500"/>
                                        <p:tgtEl>
                                          <p:spTgt spid="52845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28450">
                                            <p:txEl>
                                              <p:pRg st="1" end="1"/>
                                            </p:txEl>
                                          </p:spTgt>
                                        </p:tgtEl>
                                        <p:attrNameLst>
                                          <p:attrName>style.visibility</p:attrName>
                                        </p:attrNameLst>
                                      </p:cBhvr>
                                      <p:to>
                                        <p:strVal val="visible"/>
                                      </p:to>
                                    </p:set>
                                    <p:animEffect transition="in" filter="blinds(horizontal)">
                                      <p:cBhvr>
                                        <p:cTn id="10" dur="500"/>
                                        <p:tgtEl>
                                          <p:spTgt spid="528450">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28450">
                                            <p:txEl>
                                              <p:pRg st="2" end="2"/>
                                            </p:txEl>
                                          </p:spTgt>
                                        </p:tgtEl>
                                        <p:attrNameLst>
                                          <p:attrName>style.visibility</p:attrName>
                                        </p:attrNameLst>
                                      </p:cBhvr>
                                      <p:to>
                                        <p:strVal val="visible"/>
                                      </p:to>
                                    </p:set>
                                    <p:animEffect transition="in" filter="blinds(horizontal)">
                                      <p:cBhvr>
                                        <p:cTn id="15" dur="500"/>
                                        <p:tgtEl>
                                          <p:spTgt spid="528450">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28450">
                                            <p:txEl>
                                              <p:pRg st="3" end="3"/>
                                            </p:txEl>
                                          </p:spTgt>
                                        </p:tgtEl>
                                        <p:attrNameLst>
                                          <p:attrName>style.visibility</p:attrName>
                                        </p:attrNameLst>
                                      </p:cBhvr>
                                      <p:to>
                                        <p:strVal val="visible"/>
                                      </p:to>
                                    </p:set>
                                    <p:animEffect transition="in" filter="blinds(horizontal)">
                                      <p:cBhvr>
                                        <p:cTn id="18" dur="500"/>
                                        <p:tgtEl>
                                          <p:spTgt spid="528450">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528450">
                                            <p:txEl>
                                              <p:pRg st="4" end="4"/>
                                            </p:txEl>
                                          </p:spTgt>
                                        </p:tgtEl>
                                        <p:attrNameLst>
                                          <p:attrName>style.visibility</p:attrName>
                                        </p:attrNameLst>
                                      </p:cBhvr>
                                      <p:to>
                                        <p:strVal val="visible"/>
                                      </p:to>
                                    </p:set>
                                    <p:animEffect transition="in" filter="blinds(horizontal)">
                                      <p:cBhvr>
                                        <p:cTn id="23" dur="500"/>
                                        <p:tgtEl>
                                          <p:spTgt spid="528450">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28450">
                                            <p:txEl>
                                              <p:pRg st="5" end="5"/>
                                            </p:txEl>
                                          </p:spTgt>
                                        </p:tgtEl>
                                        <p:attrNameLst>
                                          <p:attrName>style.visibility</p:attrName>
                                        </p:attrNameLst>
                                      </p:cBhvr>
                                      <p:to>
                                        <p:strVal val="visible"/>
                                      </p:to>
                                    </p:set>
                                    <p:animEffect transition="in" filter="blinds(horizontal)">
                                      <p:cBhvr>
                                        <p:cTn id="26" dur="500"/>
                                        <p:tgtEl>
                                          <p:spTgt spid="52845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3B8077A8-948C-4E4E-AB73-7A387FE57DC4}"/>
              </a:ext>
            </a:extLst>
          </p:cNvPr>
          <p:cNvSpPr>
            <a:spLocks noGrp="1" noChangeArrowheads="1"/>
          </p:cNvSpPr>
          <p:nvPr>
            <p:ph type="title" idx="4294967295"/>
          </p:nvPr>
        </p:nvSpPr>
        <p:spPr/>
        <p:txBody>
          <a:bodyPr lIns="91440" tIns="45720" rIns="91440" bIns="45720" anchor="ctr"/>
          <a:lstStyle/>
          <a:p>
            <a:pPr eaLnBrk="1" hangingPunct="1"/>
            <a:endParaRPr lang="zh-CN" altLang="en-US"/>
          </a:p>
        </p:txBody>
      </p:sp>
      <p:sp>
        <p:nvSpPr>
          <p:cNvPr id="238595" name="Rectangle 3">
            <a:extLst>
              <a:ext uri="{FF2B5EF4-FFF2-40B4-BE49-F238E27FC236}">
                <a16:creationId xmlns:a16="http://schemas.microsoft.com/office/drawing/2014/main" id="{360206F4-47EC-8347-8F5E-8B6BE02A92C4}"/>
              </a:ext>
            </a:extLst>
          </p:cNvPr>
          <p:cNvSpPr>
            <a:spLocks noGrp="1" noChangeArrowheads="1"/>
          </p:cNvSpPr>
          <p:nvPr>
            <p:ph type="body" idx="4294967295"/>
          </p:nvPr>
        </p:nvSpPr>
        <p:spPr>
          <a:xfrm>
            <a:off x="533400" y="1071563"/>
            <a:ext cx="1249363" cy="2794000"/>
          </a:xfrm>
        </p:spPr>
        <p:txBody>
          <a:bodyPr lIns="91440" tIns="45720" rIns="91440" bIns="45720"/>
          <a:lstStyle/>
          <a:p>
            <a:pPr eaLnBrk="1" hangingPunct="1">
              <a:buFontTx/>
              <a:buNone/>
            </a:pPr>
            <a:r>
              <a:rPr lang="zh-CN" altLang="en-US" sz="2000">
                <a:ea typeface="微软雅黑" panose="020B0503020204020204" pitchFamily="34" charset="-122"/>
              </a:rPr>
              <a:t>虚拟地址</a:t>
            </a:r>
          </a:p>
          <a:p>
            <a:pPr eaLnBrk="1" hangingPunct="1">
              <a:buFontTx/>
              <a:buNone/>
            </a:pPr>
            <a:endParaRPr lang="zh-CN" altLang="en-US" sz="2000">
              <a:ea typeface="宋体" panose="02010600030101010101" pitchFamily="2" charset="-122"/>
            </a:endParaRPr>
          </a:p>
          <a:p>
            <a:pPr eaLnBrk="1" hangingPunct="1">
              <a:buFontTx/>
              <a:buNone/>
            </a:pPr>
            <a:endParaRPr lang="zh-CN" altLang="en-US" sz="1600">
              <a:ea typeface="宋体" panose="02010600030101010101" pitchFamily="2" charset="-122"/>
            </a:endParaRPr>
          </a:p>
          <a:p>
            <a:pPr eaLnBrk="1" hangingPunct="1">
              <a:buFontTx/>
              <a:buNone/>
            </a:pPr>
            <a:endParaRPr lang="zh-CN" altLang="en-US" sz="1600">
              <a:ea typeface="宋体" panose="02010600030101010101" pitchFamily="2" charset="-122"/>
            </a:endParaRPr>
          </a:p>
          <a:p>
            <a:pPr eaLnBrk="1" hangingPunct="1">
              <a:buFontTx/>
              <a:buNone/>
            </a:pPr>
            <a:endParaRPr lang="zh-CN" altLang="en-US" sz="1600">
              <a:ea typeface="宋体" panose="02010600030101010101" pitchFamily="2" charset="-122"/>
            </a:endParaRPr>
          </a:p>
          <a:p>
            <a:pPr eaLnBrk="1" hangingPunct="1">
              <a:buFontTx/>
              <a:buNone/>
            </a:pPr>
            <a:endParaRPr lang="zh-CN" altLang="en-US" sz="1600">
              <a:ea typeface="宋体" panose="02010600030101010101" pitchFamily="2" charset="-122"/>
            </a:endParaRPr>
          </a:p>
          <a:p>
            <a:pPr eaLnBrk="1" hangingPunct="1">
              <a:buFontTx/>
              <a:buNone/>
            </a:pPr>
            <a:endParaRPr lang="zh-CN" altLang="en-US" sz="1600">
              <a:ea typeface="宋体" panose="02010600030101010101" pitchFamily="2" charset="-122"/>
            </a:endParaRPr>
          </a:p>
          <a:p>
            <a:pPr eaLnBrk="1" hangingPunct="1">
              <a:spcBef>
                <a:spcPct val="10000"/>
              </a:spcBef>
              <a:buFontTx/>
              <a:buNone/>
            </a:pPr>
            <a:r>
              <a:rPr lang="zh-CN" altLang="en-US" sz="2000">
                <a:ea typeface="微软雅黑" panose="020B0503020204020204" pitchFamily="34" charset="-122"/>
              </a:rPr>
              <a:t>物理地址</a:t>
            </a:r>
          </a:p>
        </p:txBody>
      </p:sp>
      <p:pic>
        <p:nvPicPr>
          <p:cNvPr id="238596" name="Picture 4">
            <a:extLst>
              <a:ext uri="{FF2B5EF4-FFF2-40B4-BE49-F238E27FC236}">
                <a16:creationId xmlns:a16="http://schemas.microsoft.com/office/drawing/2014/main" id="{FE327A56-54C9-3A4E-89C5-4D7271934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913" y="0"/>
            <a:ext cx="74025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0725" name="Rectangle 5">
            <a:extLst>
              <a:ext uri="{FF2B5EF4-FFF2-40B4-BE49-F238E27FC236}">
                <a16:creationId xmlns:a16="http://schemas.microsoft.com/office/drawing/2014/main" id="{ECF42A89-B071-5D48-B65F-ACB71D983DE9}"/>
              </a:ext>
            </a:extLst>
          </p:cNvPr>
          <p:cNvSpPr>
            <a:spLocks noChangeArrowheads="1"/>
          </p:cNvSpPr>
          <p:nvPr/>
        </p:nvSpPr>
        <p:spPr bwMode="auto">
          <a:xfrm>
            <a:off x="1736725" y="0"/>
            <a:ext cx="7296150" cy="857250"/>
          </a:xfrm>
          <a:prstGeom prst="rect">
            <a:avLst/>
          </a:prstGeom>
          <a:solidFill>
            <a:schemeClr val="accent1">
              <a:alpha val="14117"/>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670726" name="Rectangle 6">
            <a:extLst>
              <a:ext uri="{FF2B5EF4-FFF2-40B4-BE49-F238E27FC236}">
                <a16:creationId xmlns:a16="http://schemas.microsoft.com/office/drawing/2014/main" id="{D1B26231-F11D-CC43-8FF0-8921A8270180}"/>
              </a:ext>
            </a:extLst>
          </p:cNvPr>
          <p:cNvSpPr>
            <a:spLocks noChangeArrowheads="1"/>
          </p:cNvSpPr>
          <p:nvPr/>
        </p:nvSpPr>
        <p:spPr bwMode="auto">
          <a:xfrm>
            <a:off x="1833563" y="1463675"/>
            <a:ext cx="7078662" cy="2249488"/>
          </a:xfrm>
          <a:prstGeom prst="rect">
            <a:avLst/>
          </a:prstGeom>
          <a:solidFill>
            <a:srgbClr val="FFCC00">
              <a:alpha val="2313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670727" name="Rectangle 7">
            <a:extLst>
              <a:ext uri="{FF2B5EF4-FFF2-40B4-BE49-F238E27FC236}">
                <a16:creationId xmlns:a16="http://schemas.microsoft.com/office/drawing/2014/main" id="{F00DB709-3EDB-8241-A54F-421460A4D4A7}"/>
              </a:ext>
            </a:extLst>
          </p:cNvPr>
          <p:cNvSpPr>
            <a:spLocks noChangeArrowheads="1"/>
          </p:cNvSpPr>
          <p:nvPr/>
        </p:nvSpPr>
        <p:spPr bwMode="auto">
          <a:xfrm>
            <a:off x="1776413" y="3994150"/>
            <a:ext cx="7296150" cy="2641600"/>
          </a:xfrm>
          <a:prstGeom prst="rect">
            <a:avLst/>
          </a:prstGeom>
          <a:solidFill>
            <a:srgbClr val="00CC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238600" name="Line 8">
            <a:extLst>
              <a:ext uri="{FF2B5EF4-FFF2-40B4-BE49-F238E27FC236}">
                <a16:creationId xmlns:a16="http://schemas.microsoft.com/office/drawing/2014/main" id="{ABC59750-E377-7B43-9E41-4876432F76EB}"/>
              </a:ext>
            </a:extLst>
          </p:cNvPr>
          <p:cNvSpPr>
            <a:spLocks noChangeShapeType="1"/>
          </p:cNvSpPr>
          <p:nvPr/>
        </p:nvSpPr>
        <p:spPr bwMode="auto">
          <a:xfrm>
            <a:off x="1025525" y="1343025"/>
            <a:ext cx="0" cy="4191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01" name="Text Box 9">
            <a:extLst>
              <a:ext uri="{FF2B5EF4-FFF2-40B4-BE49-F238E27FC236}">
                <a16:creationId xmlns:a16="http://schemas.microsoft.com/office/drawing/2014/main" id="{0B81A358-6447-324A-A596-92EA77EA1E4B}"/>
              </a:ext>
            </a:extLst>
          </p:cNvPr>
          <p:cNvSpPr txBox="1">
            <a:spLocks noChangeArrowheads="1"/>
          </p:cNvSpPr>
          <p:nvPr/>
        </p:nvSpPr>
        <p:spPr bwMode="auto">
          <a:xfrm>
            <a:off x="701675" y="1762125"/>
            <a:ext cx="720725" cy="3238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spcBef>
                <a:spcPct val="50000"/>
              </a:spcBef>
            </a:pPr>
            <a:r>
              <a:rPr kumimoji="1" lang="en-US" altLang="zh-CN" sz="2000" b="1">
                <a:solidFill>
                  <a:srgbClr val="0000FF"/>
                </a:solidFill>
                <a:latin typeface="微软雅黑" panose="020B0503020204020204" pitchFamily="34" charset="-122"/>
                <a:ea typeface="微软雅黑" panose="020B0503020204020204" pitchFamily="34" charset="-122"/>
              </a:rPr>
              <a:t>TLB</a:t>
            </a:r>
          </a:p>
        </p:txBody>
      </p:sp>
      <p:sp>
        <p:nvSpPr>
          <p:cNvPr id="238602" name="Line 11">
            <a:extLst>
              <a:ext uri="{FF2B5EF4-FFF2-40B4-BE49-F238E27FC236}">
                <a16:creationId xmlns:a16="http://schemas.microsoft.com/office/drawing/2014/main" id="{EFBEF55E-7760-5B40-A491-F12320BB4D52}"/>
              </a:ext>
            </a:extLst>
          </p:cNvPr>
          <p:cNvSpPr>
            <a:spLocks noChangeShapeType="1"/>
          </p:cNvSpPr>
          <p:nvPr/>
        </p:nvSpPr>
        <p:spPr bwMode="auto">
          <a:xfrm>
            <a:off x="1033463" y="2065338"/>
            <a:ext cx="0" cy="6667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03" name="Text Box 12">
            <a:extLst>
              <a:ext uri="{FF2B5EF4-FFF2-40B4-BE49-F238E27FC236}">
                <a16:creationId xmlns:a16="http://schemas.microsoft.com/office/drawing/2014/main" id="{6C74DD0C-4EF9-7A41-9079-2117FF759D48}"/>
              </a:ext>
            </a:extLst>
          </p:cNvPr>
          <p:cNvSpPr txBox="1">
            <a:spLocks noChangeArrowheads="1"/>
          </p:cNvSpPr>
          <p:nvPr/>
        </p:nvSpPr>
        <p:spPr bwMode="auto">
          <a:xfrm>
            <a:off x="681038" y="2751138"/>
            <a:ext cx="676275" cy="323850"/>
          </a:xfrm>
          <a:prstGeom prst="rect">
            <a:avLst/>
          </a:prstGeom>
          <a:noFill/>
          <a:ln w="1905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spcBef>
                <a:spcPct val="50000"/>
              </a:spcBef>
            </a:pPr>
            <a:r>
              <a:rPr kumimoji="1" lang="zh-CN" altLang="en-US" sz="2000" b="1">
                <a:solidFill>
                  <a:srgbClr val="0000FF"/>
                </a:solidFill>
                <a:ea typeface="微软雅黑" panose="020B0503020204020204" pitchFamily="34" charset="-122"/>
              </a:rPr>
              <a:t>页表</a:t>
            </a:r>
          </a:p>
        </p:txBody>
      </p:sp>
      <p:sp>
        <p:nvSpPr>
          <p:cNvPr id="238604" name="Line 13">
            <a:extLst>
              <a:ext uri="{FF2B5EF4-FFF2-40B4-BE49-F238E27FC236}">
                <a16:creationId xmlns:a16="http://schemas.microsoft.com/office/drawing/2014/main" id="{7DB95568-98C1-E344-B114-5D8C6C006ED2}"/>
              </a:ext>
            </a:extLst>
          </p:cNvPr>
          <p:cNvSpPr>
            <a:spLocks noChangeShapeType="1"/>
          </p:cNvSpPr>
          <p:nvPr/>
        </p:nvSpPr>
        <p:spPr bwMode="auto">
          <a:xfrm flipH="1">
            <a:off x="1030288" y="3073400"/>
            <a:ext cx="1587" cy="4778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05" name="Text Box 14">
            <a:extLst>
              <a:ext uri="{FF2B5EF4-FFF2-40B4-BE49-F238E27FC236}">
                <a16:creationId xmlns:a16="http://schemas.microsoft.com/office/drawing/2014/main" id="{6A2BF3A9-9D5D-3D44-9DCF-5E9D7863D0D8}"/>
              </a:ext>
            </a:extLst>
          </p:cNvPr>
          <p:cNvSpPr txBox="1">
            <a:spLocks noChangeArrowheads="1"/>
          </p:cNvSpPr>
          <p:nvPr/>
        </p:nvSpPr>
        <p:spPr bwMode="auto">
          <a:xfrm>
            <a:off x="115888" y="3059113"/>
            <a:ext cx="59055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lnSpc>
                <a:spcPct val="90000"/>
              </a:lnSpc>
            </a:pPr>
            <a:r>
              <a:rPr kumimoji="1" lang="zh-CN" altLang="en-US" sz="1900" b="1">
                <a:solidFill>
                  <a:srgbClr val="CC0000"/>
                </a:solidFill>
                <a:ea typeface="微软雅黑" panose="020B0503020204020204" pitchFamily="34" charset="-122"/>
              </a:rPr>
              <a:t>缺页</a:t>
            </a:r>
          </a:p>
          <a:p>
            <a:pPr eaLnBrk="1" hangingPunct="1">
              <a:lnSpc>
                <a:spcPct val="90000"/>
              </a:lnSpc>
            </a:pPr>
            <a:r>
              <a:rPr kumimoji="1" lang="zh-CN" altLang="en-US" sz="1900" b="1">
                <a:solidFill>
                  <a:srgbClr val="CC0000"/>
                </a:solidFill>
                <a:ea typeface="微软雅黑" panose="020B0503020204020204" pitchFamily="34" charset="-122"/>
              </a:rPr>
              <a:t>处理</a:t>
            </a:r>
          </a:p>
        </p:txBody>
      </p:sp>
      <p:sp>
        <p:nvSpPr>
          <p:cNvPr id="238606" name="Line 15">
            <a:extLst>
              <a:ext uri="{FF2B5EF4-FFF2-40B4-BE49-F238E27FC236}">
                <a16:creationId xmlns:a16="http://schemas.microsoft.com/office/drawing/2014/main" id="{F5C447B3-8DA2-3543-8730-831974F8C6BF}"/>
              </a:ext>
            </a:extLst>
          </p:cNvPr>
          <p:cNvSpPr>
            <a:spLocks noChangeShapeType="1"/>
          </p:cNvSpPr>
          <p:nvPr/>
        </p:nvSpPr>
        <p:spPr bwMode="auto">
          <a:xfrm flipH="1">
            <a:off x="387350" y="2886075"/>
            <a:ext cx="285750" cy="0"/>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07" name="Line 17">
            <a:extLst>
              <a:ext uri="{FF2B5EF4-FFF2-40B4-BE49-F238E27FC236}">
                <a16:creationId xmlns:a16="http://schemas.microsoft.com/office/drawing/2014/main" id="{DBABCC71-613D-714A-9364-DD8A7C723D29}"/>
              </a:ext>
            </a:extLst>
          </p:cNvPr>
          <p:cNvSpPr>
            <a:spLocks noChangeShapeType="1"/>
          </p:cNvSpPr>
          <p:nvPr/>
        </p:nvSpPr>
        <p:spPr bwMode="auto">
          <a:xfrm>
            <a:off x="396875" y="2862263"/>
            <a:ext cx="14288" cy="231775"/>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08" name="Line 18">
            <a:extLst>
              <a:ext uri="{FF2B5EF4-FFF2-40B4-BE49-F238E27FC236}">
                <a16:creationId xmlns:a16="http://schemas.microsoft.com/office/drawing/2014/main" id="{4CC9D9AE-0BCC-9041-BFB4-7462C1D86BC7}"/>
              </a:ext>
            </a:extLst>
          </p:cNvPr>
          <p:cNvSpPr>
            <a:spLocks noChangeShapeType="1"/>
          </p:cNvSpPr>
          <p:nvPr/>
        </p:nvSpPr>
        <p:spPr bwMode="auto">
          <a:xfrm flipH="1">
            <a:off x="1025525" y="3824288"/>
            <a:ext cx="0" cy="914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09" name="Text Box 19">
            <a:extLst>
              <a:ext uri="{FF2B5EF4-FFF2-40B4-BE49-F238E27FC236}">
                <a16:creationId xmlns:a16="http://schemas.microsoft.com/office/drawing/2014/main" id="{ED0160DA-B597-9A4B-BF21-BE776540D9CA}"/>
              </a:ext>
            </a:extLst>
          </p:cNvPr>
          <p:cNvSpPr txBox="1">
            <a:spLocks noChangeArrowheads="1"/>
          </p:cNvSpPr>
          <p:nvPr/>
        </p:nvSpPr>
        <p:spPr bwMode="auto">
          <a:xfrm>
            <a:off x="668338" y="4778375"/>
            <a:ext cx="754062" cy="3238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spcBef>
                <a:spcPct val="50000"/>
              </a:spcBef>
            </a:pPr>
            <a:r>
              <a:rPr kumimoji="1" lang="en-US" altLang="zh-CN" sz="2000" b="1">
                <a:solidFill>
                  <a:srgbClr val="0000FF"/>
                </a:solidFill>
                <a:latin typeface="微软雅黑" panose="020B0503020204020204" pitchFamily="34" charset="-122"/>
                <a:ea typeface="微软雅黑" panose="020B0503020204020204" pitchFamily="34" charset="-122"/>
              </a:rPr>
              <a:t>cache</a:t>
            </a:r>
          </a:p>
        </p:txBody>
      </p:sp>
      <p:sp>
        <p:nvSpPr>
          <p:cNvPr id="238610" name="Text Box 20">
            <a:extLst>
              <a:ext uri="{FF2B5EF4-FFF2-40B4-BE49-F238E27FC236}">
                <a16:creationId xmlns:a16="http://schemas.microsoft.com/office/drawing/2014/main" id="{204D7620-4B7A-904E-BFDC-2E1488A51FCE}"/>
              </a:ext>
            </a:extLst>
          </p:cNvPr>
          <p:cNvSpPr txBox="1">
            <a:spLocks noChangeArrowheads="1"/>
          </p:cNvSpPr>
          <p:nvPr/>
        </p:nvSpPr>
        <p:spPr bwMode="auto">
          <a:xfrm>
            <a:off x="1062038" y="5184775"/>
            <a:ext cx="590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CC0000"/>
                </a:solidFill>
                <a:ea typeface="微软雅黑" panose="020B0503020204020204" pitchFamily="34" charset="-122"/>
              </a:rPr>
              <a:t>缺失</a:t>
            </a:r>
          </a:p>
        </p:txBody>
      </p:sp>
      <p:sp>
        <p:nvSpPr>
          <p:cNvPr id="238611" name="Line 21">
            <a:extLst>
              <a:ext uri="{FF2B5EF4-FFF2-40B4-BE49-F238E27FC236}">
                <a16:creationId xmlns:a16="http://schemas.microsoft.com/office/drawing/2014/main" id="{03F7ED1F-A82A-3441-88C5-CF203D3DBC67}"/>
              </a:ext>
            </a:extLst>
          </p:cNvPr>
          <p:cNvSpPr>
            <a:spLocks noChangeShapeType="1"/>
          </p:cNvSpPr>
          <p:nvPr/>
        </p:nvSpPr>
        <p:spPr bwMode="auto">
          <a:xfrm flipH="1">
            <a:off x="371475" y="4914900"/>
            <a:ext cx="285750" cy="0"/>
          </a:xfrm>
          <a:prstGeom prst="line">
            <a:avLst/>
          </a:prstGeom>
          <a:noFill/>
          <a:ln w="28575">
            <a:solidFill>
              <a:srgbClr val="CC0000"/>
            </a:solidFill>
            <a:round/>
            <a:headEnd/>
            <a:tailEn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12" name="Line 22">
            <a:extLst>
              <a:ext uri="{FF2B5EF4-FFF2-40B4-BE49-F238E27FC236}">
                <a16:creationId xmlns:a16="http://schemas.microsoft.com/office/drawing/2014/main" id="{4FA91A46-E021-D146-8243-49B331484D3A}"/>
              </a:ext>
            </a:extLst>
          </p:cNvPr>
          <p:cNvSpPr>
            <a:spLocks noChangeShapeType="1"/>
          </p:cNvSpPr>
          <p:nvPr/>
        </p:nvSpPr>
        <p:spPr bwMode="auto">
          <a:xfrm>
            <a:off x="1016000" y="5094288"/>
            <a:ext cx="0" cy="493712"/>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13" name="Text Box 23">
            <a:extLst>
              <a:ext uri="{FF2B5EF4-FFF2-40B4-BE49-F238E27FC236}">
                <a16:creationId xmlns:a16="http://schemas.microsoft.com/office/drawing/2014/main" id="{5D04DD07-4ED4-9142-8D61-87916795B6BE}"/>
              </a:ext>
            </a:extLst>
          </p:cNvPr>
          <p:cNvSpPr txBox="1">
            <a:spLocks noChangeArrowheads="1"/>
          </p:cNvSpPr>
          <p:nvPr/>
        </p:nvSpPr>
        <p:spPr bwMode="auto">
          <a:xfrm>
            <a:off x="657225" y="5589588"/>
            <a:ext cx="676275" cy="323850"/>
          </a:xfrm>
          <a:prstGeom prst="rect">
            <a:avLst/>
          </a:prstGeom>
          <a:noFill/>
          <a:ln w="1905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spcBef>
                <a:spcPct val="50000"/>
              </a:spcBef>
            </a:pPr>
            <a:r>
              <a:rPr kumimoji="1" lang="zh-CN" altLang="en-US" sz="2000" b="1">
                <a:solidFill>
                  <a:srgbClr val="0000FF"/>
                </a:solidFill>
                <a:ea typeface="微软雅黑" panose="020B0503020204020204" pitchFamily="34" charset="-122"/>
              </a:rPr>
              <a:t>主存</a:t>
            </a:r>
          </a:p>
        </p:txBody>
      </p:sp>
      <p:sp>
        <p:nvSpPr>
          <p:cNvPr id="238614" name="Line 24">
            <a:extLst>
              <a:ext uri="{FF2B5EF4-FFF2-40B4-BE49-F238E27FC236}">
                <a16:creationId xmlns:a16="http://schemas.microsoft.com/office/drawing/2014/main" id="{531C631D-2AAA-284F-B913-74BD0F7E2D83}"/>
              </a:ext>
            </a:extLst>
          </p:cNvPr>
          <p:cNvSpPr>
            <a:spLocks noChangeShapeType="1"/>
          </p:cNvSpPr>
          <p:nvPr/>
        </p:nvSpPr>
        <p:spPr bwMode="auto">
          <a:xfrm>
            <a:off x="371475" y="4914900"/>
            <a:ext cx="0" cy="1304925"/>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15" name="Line 25">
            <a:extLst>
              <a:ext uri="{FF2B5EF4-FFF2-40B4-BE49-F238E27FC236}">
                <a16:creationId xmlns:a16="http://schemas.microsoft.com/office/drawing/2014/main" id="{9681C72A-8EB8-834C-B396-992C53C6B40E}"/>
              </a:ext>
            </a:extLst>
          </p:cNvPr>
          <p:cNvSpPr>
            <a:spLocks noChangeShapeType="1"/>
          </p:cNvSpPr>
          <p:nvPr/>
        </p:nvSpPr>
        <p:spPr bwMode="auto">
          <a:xfrm>
            <a:off x="1016000" y="5903913"/>
            <a:ext cx="0" cy="315912"/>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16" name="Text Box 26">
            <a:extLst>
              <a:ext uri="{FF2B5EF4-FFF2-40B4-BE49-F238E27FC236}">
                <a16:creationId xmlns:a16="http://schemas.microsoft.com/office/drawing/2014/main" id="{81E691D4-4708-9343-9148-1518E9BEB37D}"/>
              </a:ext>
            </a:extLst>
          </p:cNvPr>
          <p:cNvSpPr txBox="1">
            <a:spLocks noChangeArrowheads="1"/>
          </p:cNvSpPr>
          <p:nvPr/>
        </p:nvSpPr>
        <p:spPr bwMode="auto">
          <a:xfrm>
            <a:off x="161925" y="4598988"/>
            <a:ext cx="590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000" b="1">
                <a:solidFill>
                  <a:srgbClr val="CC0000"/>
                </a:solidFill>
                <a:ea typeface="微软雅黑" panose="020B0503020204020204" pitchFamily="34" charset="-122"/>
              </a:rPr>
              <a:t>命中</a:t>
            </a:r>
          </a:p>
        </p:txBody>
      </p:sp>
      <p:sp>
        <p:nvSpPr>
          <p:cNvPr id="238617" name="AutoShape 27">
            <a:extLst>
              <a:ext uri="{FF2B5EF4-FFF2-40B4-BE49-F238E27FC236}">
                <a16:creationId xmlns:a16="http://schemas.microsoft.com/office/drawing/2014/main" id="{62FA6C3F-2362-BB4B-84BC-4514A53EFC17}"/>
              </a:ext>
            </a:extLst>
          </p:cNvPr>
          <p:cNvSpPr>
            <a:spLocks noChangeArrowheads="1"/>
          </p:cNvSpPr>
          <p:nvPr/>
        </p:nvSpPr>
        <p:spPr bwMode="auto">
          <a:xfrm>
            <a:off x="250825" y="6219825"/>
            <a:ext cx="900113" cy="17938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19050">
            <a:solidFill>
              <a:schemeClr val="tx1"/>
            </a:solidFill>
            <a:miter lim="800000"/>
            <a:headEnd/>
            <a:tailEnd/>
          </a:ln>
        </p:spPr>
        <p:txBody>
          <a:bodyPr lIns="0" tIns="0" rIns="0" bIns="0" anchor="ctr">
            <a:spAutoFit/>
          </a:bodyPr>
          <a:lstStyle/>
          <a:p>
            <a:endParaRPr lang="zh-CN" altLang="en-US"/>
          </a:p>
        </p:txBody>
      </p:sp>
      <p:sp>
        <p:nvSpPr>
          <p:cNvPr id="238618" name="Line 28">
            <a:extLst>
              <a:ext uri="{FF2B5EF4-FFF2-40B4-BE49-F238E27FC236}">
                <a16:creationId xmlns:a16="http://schemas.microsoft.com/office/drawing/2014/main" id="{038532B9-D3B4-5A4E-9E7A-B03439477253}"/>
              </a:ext>
            </a:extLst>
          </p:cNvPr>
          <p:cNvSpPr>
            <a:spLocks noChangeShapeType="1"/>
          </p:cNvSpPr>
          <p:nvPr/>
        </p:nvSpPr>
        <p:spPr bwMode="auto">
          <a:xfrm flipH="1">
            <a:off x="701675" y="6399213"/>
            <a:ext cx="0" cy="3143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a:p>
        </p:txBody>
      </p:sp>
      <p:sp>
        <p:nvSpPr>
          <p:cNvPr id="238619" name="Text Box 29">
            <a:extLst>
              <a:ext uri="{FF2B5EF4-FFF2-40B4-BE49-F238E27FC236}">
                <a16:creationId xmlns:a16="http://schemas.microsoft.com/office/drawing/2014/main" id="{83FE925C-7341-764B-AAF5-0B16DF127648}"/>
              </a:ext>
            </a:extLst>
          </p:cNvPr>
          <p:cNvSpPr txBox="1">
            <a:spLocks noChangeArrowheads="1"/>
          </p:cNvSpPr>
          <p:nvPr/>
        </p:nvSpPr>
        <p:spPr bwMode="auto">
          <a:xfrm>
            <a:off x="100013" y="233363"/>
            <a:ext cx="14398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2000" b="1">
                <a:solidFill>
                  <a:srgbClr val="0000FF"/>
                </a:solidFill>
                <a:ea typeface="黑体" panose="02010609060101010101" pitchFamily="49" charset="-122"/>
              </a:rPr>
              <a:t>P260 </a:t>
            </a:r>
            <a:r>
              <a:rPr kumimoji="1" lang="zh-CN" altLang="en-US" sz="2000" b="1">
                <a:solidFill>
                  <a:srgbClr val="0000FF"/>
                </a:solidFill>
                <a:ea typeface="黑体" panose="02010609060101010101" pitchFamily="49" charset="-122"/>
              </a:rPr>
              <a:t>图</a:t>
            </a:r>
            <a:r>
              <a:rPr kumimoji="1" lang="en-US" altLang="zh-CN" sz="2000" b="1">
                <a:solidFill>
                  <a:srgbClr val="0000FF"/>
                </a:solidFill>
                <a:ea typeface="黑体" panose="02010609060101010101" pitchFamily="49" charset="-122"/>
              </a:rPr>
              <a:t>7.43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0726"/>
                                        </p:tgtEl>
                                        <p:attrNameLst>
                                          <p:attrName>style.visibility</p:attrName>
                                        </p:attrNameLst>
                                      </p:cBhvr>
                                      <p:to>
                                        <p:strVal val="visible"/>
                                      </p:to>
                                    </p:set>
                                    <p:animEffect transition="in" filter="blinds(horizontal)">
                                      <p:cBhvr>
                                        <p:cTn id="7" dur="500"/>
                                        <p:tgtEl>
                                          <p:spTgt spid="6707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70725"/>
                                        </p:tgtEl>
                                        <p:attrNameLst>
                                          <p:attrName>style.visibility</p:attrName>
                                        </p:attrNameLst>
                                      </p:cBhvr>
                                      <p:to>
                                        <p:strVal val="visible"/>
                                      </p:to>
                                    </p:set>
                                    <p:animEffect transition="in" filter="blinds(horizontal)">
                                      <p:cBhvr>
                                        <p:cTn id="12" dur="500"/>
                                        <p:tgtEl>
                                          <p:spTgt spid="6707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70727"/>
                                        </p:tgtEl>
                                        <p:attrNameLst>
                                          <p:attrName>style.visibility</p:attrName>
                                        </p:attrNameLst>
                                      </p:cBhvr>
                                      <p:to>
                                        <p:strVal val="visible"/>
                                      </p:to>
                                    </p:set>
                                    <p:animEffect transition="in" filter="blinds(horizontal)">
                                      <p:cBhvr>
                                        <p:cTn id="17" dur="500"/>
                                        <p:tgtEl>
                                          <p:spTgt spid="670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5" grpId="0" animBg="1"/>
      <p:bldP spid="670726" grpId="0" animBg="1"/>
      <p:bldP spid="6707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4">
            <a:extLst>
              <a:ext uri="{FF2B5EF4-FFF2-40B4-BE49-F238E27FC236}">
                <a16:creationId xmlns:a16="http://schemas.microsoft.com/office/drawing/2014/main" id="{02293D8C-C29C-DC40-B4CA-9B8C1E622C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9400"/>
            <a:ext cx="8888413" cy="657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19" name="Rectangle 2">
            <a:extLst>
              <a:ext uri="{FF2B5EF4-FFF2-40B4-BE49-F238E27FC236}">
                <a16:creationId xmlns:a16="http://schemas.microsoft.com/office/drawing/2014/main" id="{6442B735-30F7-454C-A5AC-5EBFB75D49B2}"/>
              </a:ext>
            </a:extLst>
          </p:cNvPr>
          <p:cNvSpPr>
            <a:spLocks noGrp="1" noChangeArrowheads="1"/>
          </p:cNvSpPr>
          <p:nvPr>
            <p:ph type="title" idx="4294967295"/>
          </p:nvPr>
        </p:nvSpPr>
        <p:spPr/>
        <p:txBody>
          <a:bodyPr lIns="91440" tIns="45720" rIns="91440" bIns="45720" anchor="ctr"/>
          <a:lstStyle/>
          <a:p>
            <a:pPr algn="l" eaLnBrk="1" hangingPunct="1"/>
            <a:r>
              <a:rPr lang="en-US" altLang="zh-CN" sz="3200"/>
              <a:t>CPU</a:t>
            </a:r>
            <a:r>
              <a:rPr lang="zh-CN" altLang="en-US" sz="3200"/>
              <a:t>访存过程</a:t>
            </a:r>
          </a:p>
        </p:txBody>
      </p:sp>
      <p:sp>
        <p:nvSpPr>
          <p:cNvPr id="744453" name="Rectangle 5">
            <a:extLst>
              <a:ext uri="{FF2B5EF4-FFF2-40B4-BE49-F238E27FC236}">
                <a16:creationId xmlns:a16="http://schemas.microsoft.com/office/drawing/2014/main" id="{965B3150-D6F3-6E45-8AAD-ABB3AEDA318A}"/>
              </a:ext>
            </a:extLst>
          </p:cNvPr>
          <p:cNvSpPr>
            <a:spLocks noChangeArrowheads="1"/>
          </p:cNvSpPr>
          <p:nvPr/>
        </p:nvSpPr>
        <p:spPr bwMode="auto">
          <a:xfrm>
            <a:off x="1179513" y="1824038"/>
            <a:ext cx="5137150" cy="1638300"/>
          </a:xfrm>
          <a:prstGeom prst="rect">
            <a:avLst/>
          </a:prstGeom>
          <a:solidFill>
            <a:srgbClr val="FFCC00">
              <a:alpha val="2392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744454" name="Rectangle 6">
            <a:extLst>
              <a:ext uri="{FF2B5EF4-FFF2-40B4-BE49-F238E27FC236}">
                <a16:creationId xmlns:a16="http://schemas.microsoft.com/office/drawing/2014/main" id="{4ED959EC-A91E-D443-BF9A-E10685A07E20}"/>
              </a:ext>
            </a:extLst>
          </p:cNvPr>
          <p:cNvSpPr>
            <a:spLocks noChangeArrowheads="1"/>
          </p:cNvSpPr>
          <p:nvPr/>
        </p:nvSpPr>
        <p:spPr bwMode="auto">
          <a:xfrm>
            <a:off x="255588" y="3608388"/>
            <a:ext cx="4038600" cy="2655887"/>
          </a:xfrm>
          <a:prstGeom prst="rect">
            <a:avLst/>
          </a:prstGeom>
          <a:solidFill>
            <a:srgbClr val="FF0000">
              <a:alpha val="1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744455" name="Rectangle 7">
            <a:extLst>
              <a:ext uri="{FF2B5EF4-FFF2-40B4-BE49-F238E27FC236}">
                <a16:creationId xmlns:a16="http://schemas.microsoft.com/office/drawing/2014/main" id="{24CCFD15-0866-9B43-8A01-0690C2BEC132}"/>
              </a:ext>
            </a:extLst>
          </p:cNvPr>
          <p:cNvSpPr>
            <a:spLocks noChangeArrowheads="1"/>
          </p:cNvSpPr>
          <p:nvPr/>
        </p:nvSpPr>
        <p:spPr bwMode="auto">
          <a:xfrm>
            <a:off x="4483100" y="3968750"/>
            <a:ext cx="4114800" cy="1981200"/>
          </a:xfrm>
          <a:prstGeom prst="rect">
            <a:avLst/>
          </a:prstGeom>
          <a:solidFill>
            <a:srgbClr val="00CCFF">
              <a:alpha val="2392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endParaRPr kumimoji="1" lang="zh-CN" altLang="en-US" sz="1800" b="1" i="1">
              <a:solidFill>
                <a:srgbClr val="666699"/>
              </a:solidFill>
              <a:ea typeface="华文新魏" panose="02010800040101010101" pitchFamily="2" charset="-122"/>
            </a:endParaRPr>
          </a:p>
        </p:txBody>
      </p:sp>
      <p:sp>
        <p:nvSpPr>
          <p:cNvPr id="671751" name="Text Box 7">
            <a:extLst>
              <a:ext uri="{FF2B5EF4-FFF2-40B4-BE49-F238E27FC236}">
                <a16:creationId xmlns:a16="http://schemas.microsoft.com/office/drawing/2014/main" id="{21BB7D44-5196-AC45-9F93-B4660EB504F7}"/>
              </a:ext>
            </a:extLst>
          </p:cNvPr>
          <p:cNvSpPr txBox="1">
            <a:spLocks noChangeArrowheads="1"/>
          </p:cNvSpPr>
          <p:nvPr/>
        </p:nvSpPr>
        <p:spPr bwMode="auto">
          <a:xfrm>
            <a:off x="4933950" y="349250"/>
            <a:ext cx="421005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25000"/>
              </a:spcBef>
            </a:pPr>
            <a:r>
              <a:rPr lang="en-US" altLang="zh-CN" sz="1900" b="1">
                <a:solidFill>
                  <a:schemeClr val="accent1"/>
                </a:solidFill>
                <a:latin typeface="微软雅黑" panose="020B0503020204020204" pitchFamily="34" charset="-122"/>
                <a:ea typeface="微软雅黑" panose="020B0503020204020204" pitchFamily="34" charset="-122"/>
              </a:rPr>
              <a:t>TLB</a:t>
            </a:r>
            <a:r>
              <a:rPr lang="zh-CN" altLang="en-US" sz="1900" b="1">
                <a:solidFill>
                  <a:schemeClr val="accent1"/>
                </a:solidFill>
                <a:latin typeface="微软雅黑" panose="020B0503020204020204" pitchFamily="34" charset="-122"/>
                <a:ea typeface="微软雅黑" panose="020B0503020204020204" pitchFamily="34" charset="-122"/>
              </a:rPr>
              <a:t>缺失可由硬件也可由</a:t>
            </a:r>
            <a:r>
              <a:rPr lang="en-US" altLang="zh-CN" sz="1900" b="1">
                <a:solidFill>
                  <a:schemeClr val="accent1"/>
                </a:solidFill>
                <a:latin typeface="微软雅黑" panose="020B0503020204020204" pitchFamily="34" charset="-122"/>
                <a:ea typeface="微软雅黑" panose="020B0503020204020204" pitchFamily="34" charset="-122"/>
              </a:rPr>
              <a:t>OS</a:t>
            </a:r>
            <a:r>
              <a:rPr lang="zh-CN" altLang="en-US" sz="1900" b="1">
                <a:solidFill>
                  <a:schemeClr val="accent1"/>
                </a:solidFill>
                <a:latin typeface="微软雅黑" panose="020B0503020204020204" pitchFamily="34" charset="-122"/>
                <a:ea typeface="微软雅黑" panose="020B0503020204020204" pitchFamily="34" charset="-122"/>
              </a:rPr>
              <a:t>处理</a:t>
            </a:r>
          </a:p>
          <a:p>
            <a:pPr>
              <a:spcBef>
                <a:spcPct val="25000"/>
              </a:spcBef>
            </a:pPr>
            <a:r>
              <a:rPr lang="en-US" altLang="zh-CN" sz="1900" b="1">
                <a:solidFill>
                  <a:schemeClr val="accent1"/>
                </a:solidFill>
                <a:latin typeface="微软雅黑" panose="020B0503020204020204" pitchFamily="34" charset="-122"/>
                <a:ea typeface="微软雅黑" panose="020B0503020204020204" pitchFamily="34" charset="-122"/>
              </a:rPr>
              <a:t>Cache</a:t>
            </a:r>
            <a:r>
              <a:rPr lang="zh-CN" altLang="en-US" sz="1900" b="1">
                <a:solidFill>
                  <a:schemeClr val="accent1"/>
                </a:solidFill>
                <a:latin typeface="微软雅黑" panose="020B0503020204020204" pitchFamily="34" charset="-122"/>
                <a:ea typeface="微软雅黑" panose="020B0503020204020204" pitchFamily="34" charset="-122"/>
              </a:rPr>
              <a:t>缺失由硬件处理</a:t>
            </a:r>
          </a:p>
          <a:p>
            <a:pPr>
              <a:spcBef>
                <a:spcPct val="25000"/>
              </a:spcBef>
            </a:pPr>
            <a:r>
              <a:rPr lang="zh-CN" altLang="en-US" sz="1900" b="1">
                <a:solidFill>
                  <a:schemeClr val="accent1"/>
                </a:solidFill>
                <a:latin typeface="微软雅黑" panose="020B0503020204020204" pitchFamily="34" charset="-122"/>
                <a:ea typeface="微软雅黑" panose="020B0503020204020204" pitchFamily="34" charset="-122"/>
              </a:rPr>
              <a:t>缺页由</a:t>
            </a:r>
            <a:r>
              <a:rPr lang="en-US" altLang="zh-CN" sz="1900" b="1">
                <a:solidFill>
                  <a:schemeClr val="accent1"/>
                </a:solidFill>
                <a:latin typeface="微软雅黑" panose="020B0503020204020204" pitchFamily="34" charset="-122"/>
                <a:ea typeface="微软雅黑" panose="020B0503020204020204" pitchFamily="34" charset="-122"/>
              </a:rPr>
              <a:t>OS</a:t>
            </a:r>
            <a:r>
              <a:rPr lang="zh-CN" altLang="en-US" sz="1900" b="1">
                <a:solidFill>
                  <a:schemeClr val="accent1"/>
                </a:solidFill>
                <a:latin typeface="微软雅黑" panose="020B0503020204020204" pitchFamily="34" charset="-122"/>
                <a:ea typeface="微软雅黑" panose="020B0503020204020204" pitchFamily="34" charset="-122"/>
              </a:rPr>
              <a:t>处理（缺页异常）</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4453"/>
                                        </p:tgtEl>
                                        <p:attrNameLst>
                                          <p:attrName>style.visibility</p:attrName>
                                        </p:attrNameLst>
                                      </p:cBhvr>
                                      <p:to>
                                        <p:strVal val="visible"/>
                                      </p:to>
                                    </p:set>
                                    <p:animEffect transition="in" filter="blinds(horizontal)">
                                      <p:cBhvr>
                                        <p:cTn id="7" dur="500"/>
                                        <p:tgtEl>
                                          <p:spTgt spid="7444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4454"/>
                                        </p:tgtEl>
                                        <p:attrNameLst>
                                          <p:attrName>style.visibility</p:attrName>
                                        </p:attrNameLst>
                                      </p:cBhvr>
                                      <p:to>
                                        <p:strVal val="visible"/>
                                      </p:to>
                                    </p:set>
                                    <p:animEffect transition="in" filter="blinds(horizontal)">
                                      <p:cBhvr>
                                        <p:cTn id="12" dur="500"/>
                                        <p:tgtEl>
                                          <p:spTgt spid="7444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44455"/>
                                        </p:tgtEl>
                                        <p:attrNameLst>
                                          <p:attrName>style.visibility</p:attrName>
                                        </p:attrNameLst>
                                      </p:cBhvr>
                                      <p:to>
                                        <p:strVal val="visible"/>
                                      </p:to>
                                    </p:set>
                                    <p:animEffect transition="in" filter="blinds(horizontal)">
                                      <p:cBhvr>
                                        <p:cTn id="17" dur="500"/>
                                        <p:tgtEl>
                                          <p:spTgt spid="7444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71751"/>
                                        </p:tgtEl>
                                        <p:attrNameLst>
                                          <p:attrName>style.visibility</p:attrName>
                                        </p:attrNameLst>
                                      </p:cBhvr>
                                      <p:to>
                                        <p:strVal val="visible"/>
                                      </p:to>
                                    </p:set>
                                    <p:animEffect transition="in" filter="blinds(horizontal)">
                                      <p:cBhvr>
                                        <p:cTn id="22" dur="500"/>
                                        <p:tgtEl>
                                          <p:spTgt spid="67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453" grpId="0" animBg="1"/>
      <p:bldP spid="744454" grpId="0" animBg="1"/>
      <p:bldP spid="744455" grpId="0" animBg="1"/>
      <p:bldP spid="67175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0B97B313-9073-F94E-B90C-F3F1B7C40479}"/>
              </a:ext>
            </a:extLst>
          </p:cNvPr>
          <p:cNvSpPr>
            <a:spLocks noGrp="1" noChangeArrowheads="1"/>
          </p:cNvSpPr>
          <p:nvPr>
            <p:ph type="title" idx="4294967295"/>
          </p:nvPr>
        </p:nvSpPr>
        <p:spPr/>
        <p:txBody>
          <a:bodyPr lIns="91440" tIns="45720" rIns="91440" bIns="45720" anchor="ctr"/>
          <a:lstStyle/>
          <a:p>
            <a:pPr eaLnBrk="1" hangingPunct="1"/>
            <a:r>
              <a:rPr lang="zh-CN" altLang="en-US" sz="3200"/>
              <a:t>举例：三种不同缺失的组合</a:t>
            </a:r>
            <a:endParaRPr lang="en-US" altLang="zh-CN" sz="3200"/>
          </a:p>
        </p:txBody>
      </p:sp>
      <p:pic>
        <p:nvPicPr>
          <p:cNvPr id="240643" name="Picture 4">
            <a:extLst>
              <a:ext uri="{FF2B5EF4-FFF2-40B4-BE49-F238E27FC236}">
                <a16:creationId xmlns:a16="http://schemas.microsoft.com/office/drawing/2014/main" id="{810DA57D-5878-E14D-838A-239BD7130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38" y="998538"/>
            <a:ext cx="8945562" cy="364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6853" name="Text Box 6">
            <a:extLst>
              <a:ext uri="{FF2B5EF4-FFF2-40B4-BE49-F238E27FC236}">
                <a16:creationId xmlns:a16="http://schemas.microsoft.com/office/drawing/2014/main" id="{AB79EC4E-DBAE-AB46-AA63-CB9ECAFF3BB2}"/>
              </a:ext>
            </a:extLst>
          </p:cNvPr>
          <p:cNvSpPr txBox="1">
            <a:spLocks noChangeArrowheads="1"/>
          </p:cNvSpPr>
          <p:nvPr/>
        </p:nvSpPr>
        <p:spPr bwMode="auto">
          <a:xfrm>
            <a:off x="2336800" y="1955800"/>
            <a:ext cx="6415088"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latin typeface="微软雅黑" panose="020B0503020204020204" pitchFamily="34" charset="-122"/>
                <a:ea typeface="微软雅黑" panose="020B0503020204020204" pitchFamily="34" charset="-122"/>
              </a:rPr>
              <a:t>可能，</a:t>
            </a:r>
            <a:r>
              <a:rPr kumimoji="1" lang="en-US" altLang="zh-CN" sz="1900" b="1">
                <a:solidFill>
                  <a:srgbClr val="0000FF"/>
                </a:solidFill>
                <a:latin typeface="微软雅黑" panose="020B0503020204020204" pitchFamily="34" charset="-122"/>
                <a:ea typeface="微软雅黑" panose="020B0503020204020204" pitchFamily="34" charset="-122"/>
              </a:rPr>
              <a:t>TLB</a:t>
            </a:r>
            <a:r>
              <a:rPr kumimoji="1" lang="zh-CN" altLang="en-US" sz="1900" b="1">
                <a:solidFill>
                  <a:srgbClr val="0000FF"/>
                </a:solidFill>
                <a:latin typeface="微软雅黑" panose="020B0503020204020204" pitchFamily="34" charset="-122"/>
                <a:ea typeface="微软雅黑" panose="020B0503020204020204" pitchFamily="34" charset="-122"/>
              </a:rPr>
              <a:t>命中则页表一定命中，但实际上不会查页表</a:t>
            </a:r>
          </a:p>
        </p:txBody>
      </p:sp>
      <p:sp>
        <p:nvSpPr>
          <p:cNvPr id="846854" name="Text Box 7">
            <a:extLst>
              <a:ext uri="{FF2B5EF4-FFF2-40B4-BE49-F238E27FC236}">
                <a16:creationId xmlns:a16="http://schemas.microsoft.com/office/drawing/2014/main" id="{5DDF8C23-4D4C-3D44-8072-66FF5696C378}"/>
              </a:ext>
            </a:extLst>
          </p:cNvPr>
          <p:cNvSpPr txBox="1">
            <a:spLocks noChangeArrowheads="1"/>
          </p:cNvSpPr>
          <p:nvPr/>
        </p:nvSpPr>
        <p:spPr bwMode="auto">
          <a:xfrm>
            <a:off x="2344738" y="2335213"/>
            <a:ext cx="6618287"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latin typeface="微软雅黑" panose="020B0503020204020204" pitchFamily="34" charset="-122"/>
                <a:ea typeface="微软雅黑" panose="020B0503020204020204" pitchFamily="34" charset="-122"/>
              </a:rPr>
              <a:t>可能，</a:t>
            </a:r>
            <a:r>
              <a:rPr kumimoji="1" lang="en-US" altLang="zh-CN" sz="1900" b="1">
                <a:solidFill>
                  <a:srgbClr val="0000FF"/>
                </a:solidFill>
                <a:latin typeface="微软雅黑" panose="020B0503020204020204" pitchFamily="34" charset="-122"/>
                <a:ea typeface="微软雅黑" panose="020B0503020204020204" pitchFamily="34" charset="-122"/>
              </a:rPr>
              <a:t>TLB</a:t>
            </a:r>
            <a:r>
              <a:rPr kumimoji="1" lang="zh-CN" altLang="en-US" sz="1900" b="1">
                <a:solidFill>
                  <a:srgbClr val="0000FF"/>
                </a:solidFill>
                <a:latin typeface="微软雅黑" panose="020B0503020204020204" pitchFamily="34" charset="-122"/>
                <a:ea typeface="微软雅黑" panose="020B0503020204020204" pitchFamily="34" charset="-122"/>
              </a:rPr>
              <a:t>缺失但页表命中，信息在主存，就可能在</a:t>
            </a:r>
            <a:r>
              <a:rPr kumimoji="1" lang="en-US" altLang="zh-CN" sz="1900" b="1">
                <a:solidFill>
                  <a:srgbClr val="0000FF"/>
                </a:solidFill>
                <a:latin typeface="微软雅黑" panose="020B0503020204020204" pitchFamily="34" charset="-122"/>
                <a:ea typeface="微软雅黑" panose="020B0503020204020204" pitchFamily="34" charset="-122"/>
              </a:rPr>
              <a:t>Cache</a:t>
            </a:r>
          </a:p>
        </p:txBody>
      </p:sp>
      <p:sp>
        <p:nvSpPr>
          <p:cNvPr id="846855" name="Text Box 8">
            <a:extLst>
              <a:ext uri="{FF2B5EF4-FFF2-40B4-BE49-F238E27FC236}">
                <a16:creationId xmlns:a16="http://schemas.microsoft.com/office/drawing/2014/main" id="{2A2CC26D-6D32-B745-B16D-1BCA50F9C831}"/>
              </a:ext>
            </a:extLst>
          </p:cNvPr>
          <p:cNvSpPr txBox="1">
            <a:spLocks noChangeArrowheads="1"/>
          </p:cNvSpPr>
          <p:nvPr/>
        </p:nvSpPr>
        <p:spPr bwMode="auto">
          <a:xfrm>
            <a:off x="2352675" y="2714625"/>
            <a:ext cx="6618288"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latin typeface="微软雅黑" panose="020B0503020204020204" pitchFamily="34" charset="-122"/>
                <a:ea typeface="微软雅黑" panose="020B0503020204020204" pitchFamily="34" charset="-122"/>
              </a:rPr>
              <a:t>可能，</a:t>
            </a:r>
            <a:r>
              <a:rPr kumimoji="1" lang="en-US" altLang="zh-CN" sz="1900" b="1">
                <a:solidFill>
                  <a:srgbClr val="0000FF"/>
                </a:solidFill>
                <a:latin typeface="微软雅黑" panose="020B0503020204020204" pitchFamily="34" charset="-122"/>
                <a:ea typeface="微软雅黑" panose="020B0503020204020204" pitchFamily="34" charset="-122"/>
              </a:rPr>
              <a:t>TLB</a:t>
            </a:r>
            <a:r>
              <a:rPr kumimoji="1" lang="zh-CN" altLang="en-US" sz="1900" b="1">
                <a:solidFill>
                  <a:srgbClr val="0000FF"/>
                </a:solidFill>
                <a:latin typeface="微软雅黑" panose="020B0503020204020204" pitchFamily="34" charset="-122"/>
                <a:ea typeface="微软雅黑" panose="020B0503020204020204" pitchFamily="34" charset="-122"/>
              </a:rPr>
              <a:t>缺失但页表命中，信息在主存，但可能不在</a:t>
            </a:r>
            <a:r>
              <a:rPr kumimoji="1" lang="en-US" altLang="zh-CN" sz="1900" b="1">
                <a:solidFill>
                  <a:srgbClr val="0000FF"/>
                </a:solidFill>
                <a:latin typeface="微软雅黑" panose="020B0503020204020204" pitchFamily="34" charset="-122"/>
                <a:ea typeface="微软雅黑" panose="020B0503020204020204" pitchFamily="34" charset="-122"/>
              </a:rPr>
              <a:t>Cache</a:t>
            </a:r>
          </a:p>
        </p:txBody>
      </p:sp>
      <p:sp>
        <p:nvSpPr>
          <p:cNvPr id="846856" name="Text Box 9">
            <a:extLst>
              <a:ext uri="{FF2B5EF4-FFF2-40B4-BE49-F238E27FC236}">
                <a16:creationId xmlns:a16="http://schemas.microsoft.com/office/drawing/2014/main" id="{D4324447-F3D3-1A4A-806A-70E90C2B198E}"/>
              </a:ext>
            </a:extLst>
          </p:cNvPr>
          <p:cNvSpPr txBox="1">
            <a:spLocks noChangeArrowheads="1"/>
          </p:cNvSpPr>
          <p:nvPr/>
        </p:nvSpPr>
        <p:spPr bwMode="auto">
          <a:xfrm>
            <a:off x="2403475" y="3094038"/>
            <a:ext cx="6618288"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latin typeface="微软雅黑" panose="020B0503020204020204" pitchFamily="34" charset="-122"/>
                <a:ea typeface="微软雅黑" panose="020B0503020204020204" pitchFamily="34" charset="-122"/>
              </a:rPr>
              <a:t>可能，</a:t>
            </a:r>
            <a:r>
              <a:rPr kumimoji="1" lang="en-US" altLang="zh-CN" sz="1900" b="1">
                <a:solidFill>
                  <a:srgbClr val="0000FF"/>
                </a:solidFill>
                <a:latin typeface="微软雅黑" panose="020B0503020204020204" pitchFamily="34" charset="-122"/>
                <a:ea typeface="微软雅黑" panose="020B0503020204020204" pitchFamily="34" charset="-122"/>
              </a:rPr>
              <a:t>TLB</a:t>
            </a:r>
            <a:r>
              <a:rPr kumimoji="1" lang="zh-CN" altLang="en-US" sz="1900" b="1">
                <a:solidFill>
                  <a:srgbClr val="0000FF"/>
                </a:solidFill>
                <a:latin typeface="微软雅黑" panose="020B0503020204020204" pitchFamily="34" charset="-122"/>
                <a:ea typeface="微软雅黑" panose="020B0503020204020204" pitchFamily="34" charset="-122"/>
              </a:rPr>
              <a:t>缺失页表缺失，信息不在主存，一定也不在</a:t>
            </a:r>
            <a:r>
              <a:rPr kumimoji="1" lang="en-US" altLang="zh-CN" sz="1900" b="1">
                <a:solidFill>
                  <a:srgbClr val="0000FF"/>
                </a:solidFill>
                <a:latin typeface="微软雅黑" panose="020B0503020204020204" pitchFamily="34" charset="-122"/>
                <a:ea typeface="微软雅黑" panose="020B0503020204020204" pitchFamily="34" charset="-122"/>
              </a:rPr>
              <a:t>Cache</a:t>
            </a:r>
          </a:p>
        </p:txBody>
      </p:sp>
      <p:sp>
        <p:nvSpPr>
          <p:cNvPr id="846857" name="Text Box 10">
            <a:extLst>
              <a:ext uri="{FF2B5EF4-FFF2-40B4-BE49-F238E27FC236}">
                <a16:creationId xmlns:a16="http://schemas.microsoft.com/office/drawing/2014/main" id="{B3FEE938-C742-D445-8F0B-376F2E9FA7AC}"/>
              </a:ext>
            </a:extLst>
          </p:cNvPr>
          <p:cNvSpPr txBox="1">
            <a:spLocks noChangeArrowheads="1"/>
          </p:cNvSpPr>
          <p:nvPr/>
        </p:nvSpPr>
        <p:spPr bwMode="auto">
          <a:xfrm>
            <a:off x="2382838" y="3473450"/>
            <a:ext cx="6618287"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latin typeface="微软雅黑" panose="020B0503020204020204" pitchFamily="34" charset="-122"/>
                <a:ea typeface="微软雅黑" panose="020B0503020204020204" pitchFamily="34" charset="-122"/>
              </a:rPr>
              <a:t>不可能，页表缺失，信息不在主存，</a:t>
            </a:r>
            <a:r>
              <a:rPr kumimoji="1" lang="en-US" altLang="zh-CN" sz="1900" b="1">
                <a:solidFill>
                  <a:srgbClr val="0000FF"/>
                </a:solidFill>
                <a:latin typeface="微软雅黑" panose="020B0503020204020204" pitchFamily="34" charset="-122"/>
                <a:ea typeface="微软雅黑" panose="020B0503020204020204" pitchFamily="34" charset="-122"/>
              </a:rPr>
              <a:t>TLB</a:t>
            </a:r>
            <a:r>
              <a:rPr kumimoji="1" lang="zh-CN" altLang="en-US" sz="1900" b="1">
                <a:solidFill>
                  <a:srgbClr val="0000FF"/>
                </a:solidFill>
                <a:latin typeface="微软雅黑" panose="020B0503020204020204" pitchFamily="34" charset="-122"/>
                <a:ea typeface="微软雅黑" panose="020B0503020204020204" pitchFamily="34" charset="-122"/>
              </a:rPr>
              <a:t>中一定没有该页表项</a:t>
            </a:r>
            <a:endParaRPr kumimoji="1" lang="en-US" altLang="zh-CN" sz="1900" b="1">
              <a:solidFill>
                <a:srgbClr val="0000FF"/>
              </a:solidFill>
              <a:latin typeface="微软雅黑" panose="020B0503020204020204" pitchFamily="34" charset="-122"/>
              <a:ea typeface="微软雅黑" panose="020B0503020204020204" pitchFamily="34" charset="-122"/>
            </a:endParaRPr>
          </a:p>
        </p:txBody>
      </p:sp>
      <p:sp>
        <p:nvSpPr>
          <p:cNvPr id="846858" name="Text Box 11">
            <a:extLst>
              <a:ext uri="{FF2B5EF4-FFF2-40B4-BE49-F238E27FC236}">
                <a16:creationId xmlns:a16="http://schemas.microsoft.com/office/drawing/2014/main" id="{AE306302-2258-7E40-B17E-AE6518243BA0}"/>
              </a:ext>
            </a:extLst>
          </p:cNvPr>
          <p:cNvSpPr txBox="1">
            <a:spLocks noChangeArrowheads="1"/>
          </p:cNvSpPr>
          <p:nvPr/>
        </p:nvSpPr>
        <p:spPr bwMode="auto">
          <a:xfrm>
            <a:off x="2397125" y="3838575"/>
            <a:ext cx="6618288"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latin typeface="微软雅黑" panose="020B0503020204020204" pitchFamily="34" charset="-122"/>
                <a:ea typeface="微软雅黑" panose="020B0503020204020204" pitchFamily="34" charset="-122"/>
              </a:rPr>
              <a:t>同上</a:t>
            </a:r>
            <a:endParaRPr kumimoji="1" lang="en-US" altLang="zh-CN" sz="1900" b="1">
              <a:solidFill>
                <a:srgbClr val="0000FF"/>
              </a:solidFill>
              <a:latin typeface="微软雅黑" panose="020B0503020204020204" pitchFamily="34" charset="-122"/>
              <a:ea typeface="微软雅黑" panose="020B0503020204020204" pitchFamily="34" charset="-122"/>
            </a:endParaRPr>
          </a:p>
        </p:txBody>
      </p:sp>
      <p:sp>
        <p:nvSpPr>
          <p:cNvPr id="846859" name="Text Box 13">
            <a:extLst>
              <a:ext uri="{FF2B5EF4-FFF2-40B4-BE49-F238E27FC236}">
                <a16:creationId xmlns:a16="http://schemas.microsoft.com/office/drawing/2014/main" id="{D932867D-5A23-E345-9321-912714748EB8}"/>
              </a:ext>
            </a:extLst>
          </p:cNvPr>
          <p:cNvSpPr txBox="1">
            <a:spLocks noChangeArrowheads="1"/>
          </p:cNvSpPr>
          <p:nvPr/>
        </p:nvSpPr>
        <p:spPr bwMode="auto">
          <a:xfrm>
            <a:off x="2347913" y="4224338"/>
            <a:ext cx="6618287"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00FF"/>
                </a:solidFill>
                <a:latin typeface="微软雅黑" panose="020B0503020204020204" pitchFamily="34" charset="-122"/>
                <a:ea typeface="微软雅黑" panose="020B0503020204020204" pitchFamily="34" charset="-122"/>
              </a:rPr>
              <a:t>不可能，页表缺失，信息不在主存，</a:t>
            </a:r>
            <a:r>
              <a:rPr kumimoji="1" lang="en-US" altLang="zh-CN" sz="1900" b="1">
                <a:solidFill>
                  <a:srgbClr val="0000FF"/>
                </a:solidFill>
                <a:latin typeface="微软雅黑" panose="020B0503020204020204" pitchFamily="34" charset="-122"/>
                <a:ea typeface="微软雅黑" panose="020B0503020204020204" pitchFamily="34" charset="-122"/>
              </a:rPr>
              <a:t>Cache</a:t>
            </a:r>
            <a:r>
              <a:rPr kumimoji="1" lang="zh-CN" altLang="en-US" sz="1900" b="1">
                <a:solidFill>
                  <a:srgbClr val="0000FF"/>
                </a:solidFill>
                <a:latin typeface="微软雅黑" panose="020B0503020204020204" pitchFamily="34" charset="-122"/>
                <a:ea typeface="微软雅黑" panose="020B0503020204020204" pitchFamily="34" charset="-122"/>
              </a:rPr>
              <a:t>中一定也无该信息</a:t>
            </a:r>
            <a:endParaRPr kumimoji="1" lang="en-US" altLang="zh-CN" sz="1900" b="1">
              <a:solidFill>
                <a:srgbClr val="0000FF"/>
              </a:solidFill>
              <a:latin typeface="微软雅黑" panose="020B0503020204020204" pitchFamily="34" charset="-122"/>
              <a:ea typeface="微软雅黑" panose="020B0503020204020204" pitchFamily="34" charset="-122"/>
            </a:endParaRPr>
          </a:p>
        </p:txBody>
      </p:sp>
      <p:sp>
        <p:nvSpPr>
          <p:cNvPr id="711707" name="Text Box 27">
            <a:extLst>
              <a:ext uri="{FF2B5EF4-FFF2-40B4-BE49-F238E27FC236}">
                <a16:creationId xmlns:a16="http://schemas.microsoft.com/office/drawing/2014/main" id="{1511064C-986C-1E4B-A3FB-48480FD43D54}"/>
              </a:ext>
            </a:extLst>
          </p:cNvPr>
          <p:cNvSpPr txBox="1">
            <a:spLocks noChangeArrowheads="1"/>
          </p:cNvSpPr>
          <p:nvPr/>
        </p:nvSpPr>
        <p:spPr bwMode="auto">
          <a:xfrm>
            <a:off x="188913" y="5213350"/>
            <a:ext cx="346868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CC0000"/>
                </a:solidFill>
                <a:ea typeface="微软雅黑" panose="020B0503020204020204" pitchFamily="34" charset="-122"/>
              </a:rPr>
              <a:t>以上组合中，最好的情况是？</a:t>
            </a:r>
          </a:p>
        </p:txBody>
      </p:sp>
      <p:sp>
        <p:nvSpPr>
          <p:cNvPr id="711708" name="Text Box 28">
            <a:extLst>
              <a:ext uri="{FF2B5EF4-FFF2-40B4-BE49-F238E27FC236}">
                <a16:creationId xmlns:a16="http://schemas.microsoft.com/office/drawing/2014/main" id="{1B520632-F512-B040-9B92-DD7BFE324A7B}"/>
              </a:ext>
            </a:extLst>
          </p:cNvPr>
          <p:cNvSpPr txBox="1">
            <a:spLocks noChangeArrowheads="1"/>
          </p:cNvSpPr>
          <p:nvPr/>
        </p:nvSpPr>
        <p:spPr bwMode="auto">
          <a:xfrm>
            <a:off x="161925" y="4773613"/>
            <a:ext cx="59213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CC0000"/>
                </a:solidFill>
                <a:latin typeface="微软雅黑" panose="020B0503020204020204" pitchFamily="34" charset="-122"/>
                <a:ea typeface="微软雅黑" panose="020B0503020204020204" pitchFamily="34" charset="-122"/>
              </a:rPr>
              <a:t>最好的情况是</a:t>
            </a:r>
            <a:r>
              <a:rPr kumimoji="1" lang="en-US" altLang="zh-CN" sz="1900" b="1">
                <a:solidFill>
                  <a:srgbClr val="663300"/>
                </a:solidFill>
                <a:latin typeface="微软雅黑" panose="020B0503020204020204" pitchFamily="34" charset="-122"/>
                <a:ea typeface="微软雅黑" panose="020B0503020204020204" pitchFamily="34" charset="-122"/>
              </a:rPr>
              <a:t>hit</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hit</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hit</a:t>
            </a:r>
            <a:r>
              <a:rPr kumimoji="1" lang="zh-CN" altLang="en-US" sz="1900" b="1">
                <a:solidFill>
                  <a:srgbClr val="CC0000"/>
                </a:solidFill>
                <a:latin typeface="微软雅黑" panose="020B0503020204020204" pitchFamily="34" charset="-122"/>
                <a:ea typeface="微软雅黑" panose="020B0503020204020204" pitchFamily="34" charset="-122"/>
              </a:rPr>
              <a:t>，此时，访问主存几次？</a:t>
            </a:r>
          </a:p>
        </p:txBody>
      </p:sp>
      <p:sp>
        <p:nvSpPr>
          <p:cNvPr id="711709" name="Text Box 29">
            <a:extLst>
              <a:ext uri="{FF2B5EF4-FFF2-40B4-BE49-F238E27FC236}">
                <a16:creationId xmlns:a16="http://schemas.microsoft.com/office/drawing/2014/main" id="{6E8F0997-98D1-244D-851D-625B6AE7C1D7}"/>
              </a:ext>
            </a:extLst>
          </p:cNvPr>
          <p:cNvSpPr txBox="1">
            <a:spLocks noChangeArrowheads="1"/>
          </p:cNvSpPr>
          <p:nvPr/>
        </p:nvSpPr>
        <p:spPr bwMode="auto">
          <a:xfrm>
            <a:off x="6102350" y="4773613"/>
            <a:ext cx="19304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6600"/>
                </a:solidFill>
                <a:ea typeface="微软雅黑" panose="020B0503020204020204" pitchFamily="34" charset="-122"/>
              </a:rPr>
              <a:t>不需要访问主存！</a:t>
            </a:r>
          </a:p>
        </p:txBody>
      </p:sp>
      <p:sp>
        <p:nvSpPr>
          <p:cNvPr id="711710" name="Text Box 30">
            <a:extLst>
              <a:ext uri="{FF2B5EF4-FFF2-40B4-BE49-F238E27FC236}">
                <a16:creationId xmlns:a16="http://schemas.microsoft.com/office/drawing/2014/main" id="{054C3526-BEDD-4F4F-96EC-BFF090D937DB}"/>
              </a:ext>
            </a:extLst>
          </p:cNvPr>
          <p:cNvSpPr txBox="1">
            <a:spLocks noChangeArrowheads="1"/>
          </p:cNvSpPr>
          <p:nvPr/>
        </p:nvSpPr>
        <p:spPr bwMode="auto">
          <a:xfrm>
            <a:off x="3482975" y="5184775"/>
            <a:ext cx="37465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900" b="1">
                <a:solidFill>
                  <a:srgbClr val="663300"/>
                </a:solidFill>
                <a:latin typeface="微软雅黑" panose="020B0503020204020204" pitchFamily="34" charset="-122"/>
                <a:ea typeface="微软雅黑" panose="020B0503020204020204" pitchFamily="34" charset="-122"/>
              </a:rPr>
              <a:t>hit</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hit</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miss</a:t>
            </a:r>
            <a:r>
              <a:rPr kumimoji="1" lang="zh-CN" altLang="en-US" sz="1900" b="1">
                <a:solidFill>
                  <a:srgbClr val="663300"/>
                </a:solidFill>
                <a:latin typeface="微软雅黑" panose="020B0503020204020204" pitchFamily="34" charset="-122"/>
                <a:ea typeface="微软雅黑" panose="020B0503020204020204" pitchFamily="34" charset="-122"/>
              </a:rPr>
              <a:t>和</a:t>
            </a:r>
            <a:r>
              <a:rPr kumimoji="1" lang="en-US" altLang="zh-CN" sz="1900" b="1">
                <a:solidFill>
                  <a:srgbClr val="663300"/>
                </a:solidFill>
                <a:latin typeface="微软雅黑" panose="020B0503020204020204" pitchFamily="34" charset="-122"/>
                <a:ea typeface="微软雅黑" panose="020B0503020204020204" pitchFamily="34" charset="-122"/>
              </a:rPr>
              <a:t>miss</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hit</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hit</a:t>
            </a:r>
            <a:endParaRPr kumimoji="1" lang="zh-CN" altLang="en-US" sz="1900" b="1">
              <a:solidFill>
                <a:srgbClr val="663300"/>
              </a:solidFill>
              <a:latin typeface="微软雅黑" panose="020B0503020204020204" pitchFamily="34" charset="-122"/>
              <a:ea typeface="微软雅黑" panose="020B0503020204020204" pitchFamily="34" charset="-122"/>
            </a:endParaRPr>
          </a:p>
        </p:txBody>
      </p:sp>
      <p:sp>
        <p:nvSpPr>
          <p:cNvPr id="711711" name="Text Box 31">
            <a:extLst>
              <a:ext uri="{FF2B5EF4-FFF2-40B4-BE49-F238E27FC236}">
                <a16:creationId xmlns:a16="http://schemas.microsoft.com/office/drawing/2014/main" id="{A2C5F49C-A16A-9E48-9DBB-96D0CF12CDC7}"/>
              </a:ext>
            </a:extLst>
          </p:cNvPr>
          <p:cNvSpPr txBox="1">
            <a:spLocks noChangeArrowheads="1"/>
          </p:cNvSpPr>
          <p:nvPr/>
        </p:nvSpPr>
        <p:spPr bwMode="auto">
          <a:xfrm>
            <a:off x="7362825" y="5184775"/>
            <a:ext cx="9001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6600"/>
                </a:solidFill>
                <a:latin typeface="微软雅黑" panose="020B0503020204020204" pitchFamily="34" charset="-122"/>
                <a:ea typeface="微软雅黑" panose="020B0503020204020204" pitchFamily="34" charset="-122"/>
              </a:rPr>
              <a:t>访存</a:t>
            </a:r>
            <a:r>
              <a:rPr kumimoji="1" lang="en-US" altLang="zh-CN" sz="1900" b="1">
                <a:solidFill>
                  <a:srgbClr val="006600"/>
                </a:solidFill>
                <a:latin typeface="微软雅黑" panose="020B0503020204020204" pitchFamily="34" charset="-122"/>
                <a:ea typeface="微软雅黑" panose="020B0503020204020204" pitchFamily="34" charset="-122"/>
              </a:rPr>
              <a:t>1</a:t>
            </a:r>
            <a:r>
              <a:rPr kumimoji="1" lang="zh-CN" altLang="en-US" sz="1900" b="1">
                <a:solidFill>
                  <a:srgbClr val="006600"/>
                </a:solidFill>
                <a:latin typeface="微软雅黑" panose="020B0503020204020204" pitchFamily="34" charset="-122"/>
                <a:ea typeface="微软雅黑" panose="020B0503020204020204" pitchFamily="34" charset="-122"/>
              </a:rPr>
              <a:t>次</a:t>
            </a:r>
          </a:p>
        </p:txBody>
      </p:sp>
      <p:sp>
        <p:nvSpPr>
          <p:cNvPr id="711712" name="Text Box 32">
            <a:extLst>
              <a:ext uri="{FF2B5EF4-FFF2-40B4-BE49-F238E27FC236}">
                <a16:creationId xmlns:a16="http://schemas.microsoft.com/office/drawing/2014/main" id="{EFF2B2EE-CFD9-6A4E-975D-610DEC57656C}"/>
              </a:ext>
            </a:extLst>
          </p:cNvPr>
          <p:cNvSpPr txBox="1">
            <a:spLocks noChangeArrowheads="1"/>
          </p:cNvSpPr>
          <p:nvPr/>
        </p:nvSpPr>
        <p:spPr bwMode="auto">
          <a:xfrm>
            <a:off x="180975" y="6138863"/>
            <a:ext cx="34686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CC0000"/>
                </a:solidFill>
                <a:ea typeface="微软雅黑" panose="020B0503020204020204" pitchFamily="34" charset="-122"/>
              </a:rPr>
              <a:t>介于最坏和最好之间的是？</a:t>
            </a:r>
          </a:p>
        </p:txBody>
      </p:sp>
      <p:sp>
        <p:nvSpPr>
          <p:cNvPr id="711713" name="Text Box 33">
            <a:extLst>
              <a:ext uri="{FF2B5EF4-FFF2-40B4-BE49-F238E27FC236}">
                <a16:creationId xmlns:a16="http://schemas.microsoft.com/office/drawing/2014/main" id="{76D6BDC8-0E12-1B40-ACC2-9582F7580528}"/>
              </a:ext>
            </a:extLst>
          </p:cNvPr>
          <p:cNvSpPr txBox="1">
            <a:spLocks noChangeArrowheads="1"/>
          </p:cNvSpPr>
          <p:nvPr/>
        </p:nvSpPr>
        <p:spPr bwMode="auto">
          <a:xfrm>
            <a:off x="3317875" y="6126163"/>
            <a:ext cx="2149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900" b="1">
                <a:solidFill>
                  <a:srgbClr val="663300"/>
                </a:solidFill>
                <a:latin typeface="微软雅黑" panose="020B0503020204020204" pitchFamily="34" charset="-122"/>
                <a:ea typeface="微软雅黑" panose="020B0503020204020204" pitchFamily="34" charset="-122"/>
              </a:rPr>
              <a:t>miss</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hit</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miss</a:t>
            </a:r>
          </a:p>
        </p:txBody>
      </p:sp>
      <p:sp>
        <p:nvSpPr>
          <p:cNvPr id="711714" name="Text Box 34">
            <a:extLst>
              <a:ext uri="{FF2B5EF4-FFF2-40B4-BE49-F238E27FC236}">
                <a16:creationId xmlns:a16="http://schemas.microsoft.com/office/drawing/2014/main" id="{1D267490-4073-7D46-9F56-F866C6E99F48}"/>
              </a:ext>
            </a:extLst>
          </p:cNvPr>
          <p:cNvSpPr txBox="1">
            <a:spLocks noChangeArrowheads="1"/>
          </p:cNvSpPr>
          <p:nvPr/>
        </p:nvSpPr>
        <p:spPr bwMode="auto">
          <a:xfrm>
            <a:off x="5514975" y="6153150"/>
            <a:ext cx="333851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6600"/>
                </a:solidFill>
                <a:latin typeface="微软雅黑" panose="020B0503020204020204" pitchFamily="34" charset="-122"/>
                <a:ea typeface="微软雅黑" panose="020B0503020204020204" pitchFamily="34" charset="-122"/>
              </a:rPr>
              <a:t>不需访问磁盘、但访存至少</a:t>
            </a:r>
            <a:r>
              <a:rPr kumimoji="1" lang="en-US" altLang="zh-CN" sz="1900" b="1">
                <a:solidFill>
                  <a:srgbClr val="006600"/>
                </a:solidFill>
                <a:latin typeface="微软雅黑" panose="020B0503020204020204" pitchFamily="34" charset="-122"/>
                <a:ea typeface="微软雅黑" panose="020B0503020204020204" pitchFamily="34" charset="-122"/>
              </a:rPr>
              <a:t>2</a:t>
            </a:r>
            <a:r>
              <a:rPr kumimoji="1" lang="zh-CN" altLang="en-US" sz="1900" b="1">
                <a:solidFill>
                  <a:srgbClr val="006600"/>
                </a:solidFill>
                <a:latin typeface="微软雅黑" panose="020B0503020204020204" pitchFamily="34" charset="-122"/>
                <a:ea typeface="微软雅黑" panose="020B0503020204020204" pitchFamily="34" charset="-122"/>
              </a:rPr>
              <a:t>次</a:t>
            </a:r>
          </a:p>
        </p:txBody>
      </p:sp>
      <p:sp>
        <p:nvSpPr>
          <p:cNvPr id="711715" name="Text Box 35">
            <a:extLst>
              <a:ext uri="{FF2B5EF4-FFF2-40B4-BE49-F238E27FC236}">
                <a16:creationId xmlns:a16="http://schemas.microsoft.com/office/drawing/2014/main" id="{15F75081-A82B-3D42-B1F1-C0A2E46EABAA}"/>
              </a:ext>
            </a:extLst>
          </p:cNvPr>
          <p:cNvSpPr txBox="1">
            <a:spLocks noChangeArrowheads="1"/>
          </p:cNvSpPr>
          <p:nvPr/>
        </p:nvSpPr>
        <p:spPr bwMode="auto">
          <a:xfrm>
            <a:off x="158750" y="5675313"/>
            <a:ext cx="34686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CC0000"/>
                </a:solidFill>
                <a:ea typeface="微软雅黑" panose="020B0503020204020204" pitchFamily="34" charset="-122"/>
              </a:rPr>
              <a:t>以上组合中，最坏的情况是？</a:t>
            </a:r>
          </a:p>
        </p:txBody>
      </p:sp>
      <p:sp>
        <p:nvSpPr>
          <p:cNvPr id="711716" name="Text Box 36">
            <a:extLst>
              <a:ext uri="{FF2B5EF4-FFF2-40B4-BE49-F238E27FC236}">
                <a16:creationId xmlns:a16="http://schemas.microsoft.com/office/drawing/2014/main" id="{F6A71BDB-D951-F048-9C7A-B71EC698934C}"/>
              </a:ext>
            </a:extLst>
          </p:cNvPr>
          <p:cNvSpPr txBox="1">
            <a:spLocks noChangeArrowheads="1"/>
          </p:cNvSpPr>
          <p:nvPr/>
        </p:nvSpPr>
        <p:spPr bwMode="auto">
          <a:xfrm>
            <a:off x="3424238" y="5662613"/>
            <a:ext cx="21494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en-US" altLang="zh-CN" sz="1900" b="1">
                <a:solidFill>
                  <a:srgbClr val="663300"/>
                </a:solidFill>
                <a:latin typeface="微软雅黑" panose="020B0503020204020204" pitchFamily="34" charset="-122"/>
                <a:ea typeface="微软雅黑" panose="020B0503020204020204" pitchFamily="34" charset="-122"/>
              </a:rPr>
              <a:t>miss</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miss</a:t>
            </a:r>
            <a:r>
              <a:rPr kumimoji="1" lang="zh-CN" altLang="en-US" sz="1900" b="1">
                <a:solidFill>
                  <a:srgbClr val="663300"/>
                </a:solidFill>
                <a:latin typeface="微软雅黑" panose="020B0503020204020204" pitchFamily="34" charset="-122"/>
                <a:ea typeface="微软雅黑" panose="020B0503020204020204" pitchFamily="34" charset="-122"/>
              </a:rPr>
              <a:t>、</a:t>
            </a:r>
            <a:r>
              <a:rPr kumimoji="1" lang="en-US" altLang="zh-CN" sz="1900" b="1">
                <a:solidFill>
                  <a:srgbClr val="663300"/>
                </a:solidFill>
                <a:latin typeface="微软雅黑" panose="020B0503020204020204" pitchFamily="34" charset="-122"/>
                <a:ea typeface="微软雅黑" panose="020B0503020204020204" pitchFamily="34" charset="-122"/>
              </a:rPr>
              <a:t>miss</a:t>
            </a:r>
          </a:p>
        </p:txBody>
      </p:sp>
      <p:sp>
        <p:nvSpPr>
          <p:cNvPr id="711717" name="Text Box 37">
            <a:extLst>
              <a:ext uri="{FF2B5EF4-FFF2-40B4-BE49-F238E27FC236}">
                <a16:creationId xmlns:a16="http://schemas.microsoft.com/office/drawing/2014/main" id="{936BCCF8-9AF0-B747-8D98-2E2C37EEF352}"/>
              </a:ext>
            </a:extLst>
          </p:cNvPr>
          <p:cNvSpPr txBox="1">
            <a:spLocks noChangeArrowheads="1"/>
          </p:cNvSpPr>
          <p:nvPr/>
        </p:nvSpPr>
        <p:spPr bwMode="auto">
          <a:xfrm>
            <a:off x="5791200" y="5629275"/>
            <a:ext cx="307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1900" b="1">
                <a:solidFill>
                  <a:srgbClr val="006600"/>
                </a:solidFill>
                <a:latin typeface="微软雅黑" panose="020B0503020204020204" pitchFamily="34" charset="-122"/>
                <a:ea typeface="微软雅黑" panose="020B0503020204020204" pitchFamily="34" charset="-122"/>
              </a:rPr>
              <a:t>需访问磁盘、并访存至少</a:t>
            </a:r>
            <a:r>
              <a:rPr kumimoji="1" lang="en-US" altLang="zh-CN" sz="1900" b="1">
                <a:solidFill>
                  <a:srgbClr val="006600"/>
                </a:solidFill>
                <a:latin typeface="微软雅黑" panose="020B0503020204020204" pitchFamily="34" charset="-122"/>
                <a:ea typeface="微软雅黑" panose="020B0503020204020204" pitchFamily="34" charset="-122"/>
              </a:rPr>
              <a:t>2</a:t>
            </a:r>
            <a:r>
              <a:rPr kumimoji="1" lang="zh-CN" altLang="en-US" sz="1900" b="1">
                <a:solidFill>
                  <a:srgbClr val="006600"/>
                </a:solidFill>
                <a:latin typeface="微软雅黑" panose="020B0503020204020204" pitchFamily="34" charset="-122"/>
                <a:ea typeface="微软雅黑" panose="020B0503020204020204" pitchFamily="34" charset="-122"/>
              </a:rPr>
              <a:t>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6853"/>
                                        </p:tgtEl>
                                        <p:attrNameLst>
                                          <p:attrName>style.visibility</p:attrName>
                                        </p:attrNameLst>
                                      </p:cBhvr>
                                      <p:to>
                                        <p:strVal val="visible"/>
                                      </p:to>
                                    </p:set>
                                    <p:animEffect transition="in" filter="blinds(horizontal)">
                                      <p:cBhvr>
                                        <p:cTn id="7" dur="500"/>
                                        <p:tgtEl>
                                          <p:spTgt spid="8468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6854"/>
                                        </p:tgtEl>
                                        <p:attrNameLst>
                                          <p:attrName>style.visibility</p:attrName>
                                        </p:attrNameLst>
                                      </p:cBhvr>
                                      <p:to>
                                        <p:strVal val="visible"/>
                                      </p:to>
                                    </p:set>
                                    <p:animEffect transition="in" filter="blinds(horizontal)">
                                      <p:cBhvr>
                                        <p:cTn id="12" dur="500"/>
                                        <p:tgtEl>
                                          <p:spTgt spid="8468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46855"/>
                                        </p:tgtEl>
                                        <p:attrNameLst>
                                          <p:attrName>style.visibility</p:attrName>
                                        </p:attrNameLst>
                                      </p:cBhvr>
                                      <p:to>
                                        <p:strVal val="visible"/>
                                      </p:to>
                                    </p:set>
                                    <p:animEffect transition="in" filter="blinds(horizontal)">
                                      <p:cBhvr>
                                        <p:cTn id="17" dur="500"/>
                                        <p:tgtEl>
                                          <p:spTgt spid="8468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46856"/>
                                        </p:tgtEl>
                                        <p:attrNameLst>
                                          <p:attrName>style.visibility</p:attrName>
                                        </p:attrNameLst>
                                      </p:cBhvr>
                                      <p:to>
                                        <p:strVal val="visible"/>
                                      </p:to>
                                    </p:set>
                                    <p:animEffect transition="in" filter="blinds(horizontal)">
                                      <p:cBhvr>
                                        <p:cTn id="22" dur="500"/>
                                        <p:tgtEl>
                                          <p:spTgt spid="8468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46857"/>
                                        </p:tgtEl>
                                        <p:attrNameLst>
                                          <p:attrName>style.visibility</p:attrName>
                                        </p:attrNameLst>
                                      </p:cBhvr>
                                      <p:to>
                                        <p:strVal val="visible"/>
                                      </p:to>
                                    </p:set>
                                    <p:animEffect transition="in" filter="blinds(horizontal)">
                                      <p:cBhvr>
                                        <p:cTn id="27" dur="500"/>
                                        <p:tgtEl>
                                          <p:spTgt spid="8468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46858"/>
                                        </p:tgtEl>
                                        <p:attrNameLst>
                                          <p:attrName>style.visibility</p:attrName>
                                        </p:attrNameLst>
                                      </p:cBhvr>
                                      <p:to>
                                        <p:strVal val="visible"/>
                                      </p:to>
                                    </p:set>
                                    <p:animEffect transition="in" filter="blinds(horizontal)">
                                      <p:cBhvr>
                                        <p:cTn id="32" dur="500"/>
                                        <p:tgtEl>
                                          <p:spTgt spid="8468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846859"/>
                                        </p:tgtEl>
                                        <p:attrNameLst>
                                          <p:attrName>style.visibility</p:attrName>
                                        </p:attrNameLst>
                                      </p:cBhvr>
                                      <p:to>
                                        <p:strVal val="visible"/>
                                      </p:to>
                                    </p:set>
                                    <p:animEffect transition="in" filter="blinds(horizontal)">
                                      <p:cBhvr>
                                        <p:cTn id="37" dur="500"/>
                                        <p:tgtEl>
                                          <p:spTgt spid="8468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1708"/>
                                        </p:tgtEl>
                                        <p:attrNameLst>
                                          <p:attrName>style.visibility</p:attrName>
                                        </p:attrNameLst>
                                      </p:cBhvr>
                                      <p:to>
                                        <p:strVal val="visible"/>
                                      </p:to>
                                    </p:set>
                                    <p:animEffect transition="in" filter="blinds(horizontal)">
                                      <p:cBhvr>
                                        <p:cTn id="42" dur="500"/>
                                        <p:tgtEl>
                                          <p:spTgt spid="71170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11709"/>
                                        </p:tgtEl>
                                        <p:attrNameLst>
                                          <p:attrName>style.visibility</p:attrName>
                                        </p:attrNameLst>
                                      </p:cBhvr>
                                      <p:to>
                                        <p:strVal val="visible"/>
                                      </p:to>
                                    </p:set>
                                    <p:animEffect transition="in" filter="blinds(horizontal)">
                                      <p:cBhvr>
                                        <p:cTn id="47" dur="500"/>
                                        <p:tgtEl>
                                          <p:spTgt spid="71170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711707"/>
                                        </p:tgtEl>
                                        <p:attrNameLst>
                                          <p:attrName>style.visibility</p:attrName>
                                        </p:attrNameLst>
                                      </p:cBhvr>
                                      <p:to>
                                        <p:strVal val="visible"/>
                                      </p:to>
                                    </p:set>
                                    <p:animEffect transition="in" filter="blinds(horizontal)">
                                      <p:cBhvr>
                                        <p:cTn id="52" dur="500"/>
                                        <p:tgtEl>
                                          <p:spTgt spid="71170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11710"/>
                                        </p:tgtEl>
                                        <p:attrNameLst>
                                          <p:attrName>style.visibility</p:attrName>
                                        </p:attrNameLst>
                                      </p:cBhvr>
                                      <p:to>
                                        <p:strVal val="visible"/>
                                      </p:to>
                                    </p:set>
                                    <p:animEffect transition="in" filter="blinds(horizontal)">
                                      <p:cBhvr>
                                        <p:cTn id="57" dur="500"/>
                                        <p:tgtEl>
                                          <p:spTgt spid="71171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11711"/>
                                        </p:tgtEl>
                                        <p:attrNameLst>
                                          <p:attrName>style.visibility</p:attrName>
                                        </p:attrNameLst>
                                      </p:cBhvr>
                                      <p:to>
                                        <p:strVal val="visible"/>
                                      </p:to>
                                    </p:set>
                                    <p:animEffect transition="in" filter="blinds(horizontal)">
                                      <p:cBhvr>
                                        <p:cTn id="62" dur="500"/>
                                        <p:tgtEl>
                                          <p:spTgt spid="71171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11715"/>
                                        </p:tgtEl>
                                        <p:attrNameLst>
                                          <p:attrName>style.visibility</p:attrName>
                                        </p:attrNameLst>
                                      </p:cBhvr>
                                      <p:to>
                                        <p:strVal val="visible"/>
                                      </p:to>
                                    </p:set>
                                    <p:animEffect transition="in" filter="blinds(horizontal)">
                                      <p:cBhvr>
                                        <p:cTn id="67" dur="500"/>
                                        <p:tgtEl>
                                          <p:spTgt spid="71171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711716"/>
                                        </p:tgtEl>
                                        <p:attrNameLst>
                                          <p:attrName>style.visibility</p:attrName>
                                        </p:attrNameLst>
                                      </p:cBhvr>
                                      <p:to>
                                        <p:strVal val="visible"/>
                                      </p:to>
                                    </p:set>
                                    <p:animEffect transition="in" filter="blinds(horizontal)">
                                      <p:cBhvr>
                                        <p:cTn id="72" dur="500"/>
                                        <p:tgtEl>
                                          <p:spTgt spid="71171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711717"/>
                                        </p:tgtEl>
                                        <p:attrNameLst>
                                          <p:attrName>style.visibility</p:attrName>
                                        </p:attrNameLst>
                                      </p:cBhvr>
                                      <p:to>
                                        <p:strVal val="visible"/>
                                      </p:to>
                                    </p:set>
                                    <p:animEffect transition="in" filter="blinds(horizontal)">
                                      <p:cBhvr>
                                        <p:cTn id="77" dur="500"/>
                                        <p:tgtEl>
                                          <p:spTgt spid="71171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711712"/>
                                        </p:tgtEl>
                                        <p:attrNameLst>
                                          <p:attrName>style.visibility</p:attrName>
                                        </p:attrNameLst>
                                      </p:cBhvr>
                                      <p:to>
                                        <p:strVal val="visible"/>
                                      </p:to>
                                    </p:set>
                                    <p:animEffect transition="in" filter="blinds(horizontal)">
                                      <p:cBhvr>
                                        <p:cTn id="82" dur="500"/>
                                        <p:tgtEl>
                                          <p:spTgt spid="71171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711713"/>
                                        </p:tgtEl>
                                        <p:attrNameLst>
                                          <p:attrName>style.visibility</p:attrName>
                                        </p:attrNameLst>
                                      </p:cBhvr>
                                      <p:to>
                                        <p:strVal val="visible"/>
                                      </p:to>
                                    </p:set>
                                    <p:animEffect transition="in" filter="blinds(horizontal)">
                                      <p:cBhvr>
                                        <p:cTn id="87" dur="500"/>
                                        <p:tgtEl>
                                          <p:spTgt spid="71171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711714"/>
                                        </p:tgtEl>
                                        <p:attrNameLst>
                                          <p:attrName>style.visibility</p:attrName>
                                        </p:attrNameLst>
                                      </p:cBhvr>
                                      <p:to>
                                        <p:strVal val="visible"/>
                                      </p:to>
                                    </p:set>
                                    <p:animEffect transition="in" filter="blinds(horizontal)">
                                      <p:cBhvr>
                                        <p:cTn id="92" dur="500"/>
                                        <p:tgtEl>
                                          <p:spTgt spid="711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53" grpId="0" animBg="1"/>
      <p:bldP spid="846854" grpId="0" animBg="1"/>
      <p:bldP spid="846855" grpId="0" animBg="1"/>
      <p:bldP spid="846856" grpId="0" animBg="1"/>
      <p:bldP spid="846857" grpId="0" animBg="1"/>
      <p:bldP spid="846858" grpId="0" animBg="1"/>
      <p:bldP spid="846859" grpId="0" animBg="1"/>
      <p:bldP spid="711707" grpId="0"/>
      <p:bldP spid="711708" grpId="0"/>
      <p:bldP spid="711709" grpId="0"/>
      <p:bldP spid="711710" grpId="0"/>
      <p:bldP spid="711711" grpId="0"/>
      <p:bldP spid="711712" grpId="0"/>
      <p:bldP spid="711713" grpId="0"/>
      <p:bldP spid="711714" grpId="0"/>
      <p:bldP spid="711715" grpId="0"/>
      <p:bldP spid="711716" grpId="0"/>
      <p:bldP spid="7117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3F02AF9B-DF10-BA42-BA14-C199AD1ED7AD}"/>
              </a:ext>
            </a:extLst>
          </p:cNvPr>
          <p:cNvSpPr>
            <a:spLocks noGrp="1" noChangeArrowheads="1"/>
          </p:cNvSpPr>
          <p:nvPr>
            <p:ph type="title" idx="4294967295"/>
          </p:nvPr>
        </p:nvSpPr>
        <p:spPr>
          <a:xfrm>
            <a:off x="415925" y="95250"/>
            <a:ext cx="7591425" cy="569913"/>
          </a:xfrm>
        </p:spPr>
        <p:txBody>
          <a:bodyPr lIns="91440" tIns="45720" rIns="91440" bIns="45720" anchor="ctr"/>
          <a:lstStyle/>
          <a:p>
            <a:r>
              <a:rPr lang="zh-CN" altLang="en-US">
                <a:ea typeface="宋体" panose="02010600030101010101" pitchFamily="2" charset="-122"/>
              </a:rPr>
              <a:t>缩写的含义</a:t>
            </a:r>
          </a:p>
        </p:txBody>
      </p:sp>
      <p:sp>
        <p:nvSpPr>
          <p:cNvPr id="241667" name="Rectangle 3">
            <a:extLst>
              <a:ext uri="{FF2B5EF4-FFF2-40B4-BE49-F238E27FC236}">
                <a16:creationId xmlns:a16="http://schemas.microsoft.com/office/drawing/2014/main" id="{43F0CA03-0ABD-2F4B-B3D7-209532D7FE93}"/>
              </a:ext>
            </a:extLst>
          </p:cNvPr>
          <p:cNvSpPr>
            <a:spLocks noGrp="1" noChangeArrowheads="1"/>
          </p:cNvSpPr>
          <p:nvPr>
            <p:ph type="body" idx="4294967295"/>
          </p:nvPr>
        </p:nvSpPr>
        <p:spPr>
          <a:xfrm>
            <a:off x="382588" y="776288"/>
            <a:ext cx="7896225" cy="5700712"/>
          </a:xfrm>
        </p:spPr>
        <p:txBody>
          <a:bodyPr lIns="91440" tIns="45720" rIns="91440" bIns="45720"/>
          <a:lstStyle/>
          <a:p>
            <a:pPr>
              <a:lnSpc>
                <a:spcPct val="90000"/>
              </a:lnSpc>
            </a:pPr>
            <a:r>
              <a:rPr lang="zh-CN" altLang="en-US" sz="2000">
                <a:latin typeface="微软雅黑" panose="020B0503020204020204" pitchFamily="34" charset="-122"/>
                <a:ea typeface="微软雅黑" panose="020B0503020204020204" pitchFamily="34" charset="-122"/>
              </a:rPr>
              <a:t>基本参数（按字节编址）</a:t>
            </a:r>
          </a:p>
          <a:p>
            <a:pPr lvl="1">
              <a:lnSpc>
                <a:spcPct val="90000"/>
              </a:lnSpc>
            </a:pPr>
            <a:r>
              <a:rPr lang="en-US" altLang="zh-CN" sz="2000">
                <a:latin typeface="微软雅黑" panose="020B0503020204020204" pitchFamily="34" charset="-122"/>
                <a:ea typeface="微软雅黑" panose="020B0503020204020204" pitchFamily="34" charset="-122"/>
              </a:rPr>
              <a:t>N = 2</a:t>
            </a:r>
            <a:r>
              <a:rPr lang="en-US" altLang="zh-CN" sz="2000" baseline="30000">
                <a:latin typeface="微软雅黑" panose="020B0503020204020204" pitchFamily="34" charset="-122"/>
                <a:ea typeface="微软雅黑" panose="020B0503020204020204" pitchFamily="34" charset="-122"/>
              </a:rPr>
              <a:t>n </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虚拟地址空间大小</a:t>
            </a:r>
            <a:endParaRPr lang="zh-CN" altLang="en-US" sz="2000" baseline="30000">
              <a:latin typeface="微软雅黑" panose="020B0503020204020204" pitchFamily="34" charset="-122"/>
              <a:ea typeface="微软雅黑" panose="020B0503020204020204" pitchFamily="34" charset="-122"/>
            </a:endParaRPr>
          </a:p>
          <a:p>
            <a:pPr lvl="1">
              <a:lnSpc>
                <a:spcPct val="90000"/>
              </a:lnSpc>
            </a:pPr>
            <a:r>
              <a:rPr lang="en-US" altLang="zh-CN" sz="2000">
                <a:latin typeface="微软雅黑" panose="020B0503020204020204" pitchFamily="34" charset="-122"/>
                <a:ea typeface="微软雅黑" panose="020B0503020204020204" pitchFamily="34" charset="-122"/>
              </a:rPr>
              <a:t>M = 2</a:t>
            </a:r>
            <a:r>
              <a:rPr lang="en-US" altLang="zh-CN" sz="2000" baseline="30000">
                <a:latin typeface="微软雅黑" panose="020B0503020204020204" pitchFamily="34" charset="-122"/>
                <a:ea typeface="微软雅黑" panose="020B0503020204020204" pitchFamily="34" charset="-122"/>
              </a:rPr>
              <a:t>m </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物理地址空间大小</a:t>
            </a:r>
            <a:endParaRPr lang="zh-CN" altLang="en-US" sz="2000" baseline="30000">
              <a:latin typeface="微软雅黑" panose="020B0503020204020204" pitchFamily="34" charset="-122"/>
              <a:ea typeface="微软雅黑" panose="020B0503020204020204" pitchFamily="34" charset="-122"/>
            </a:endParaRPr>
          </a:p>
          <a:p>
            <a:pPr lvl="1">
              <a:lnSpc>
                <a:spcPct val="90000"/>
              </a:lnSpc>
            </a:pPr>
            <a:r>
              <a:rPr lang="en-US" altLang="zh-CN" sz="2000">
                <a:latin typeface="微软雅黑" panose="020B0503020204020204" pitchFamily="34" charset="-122"/>
                <a:ea typeface="微软雅黑" panose="020B0503020204020204" pitchFamily="34" charset="-122"/>
              </a:rPr>
              <a:t>P = 2</a:t>
            </a:r>
            <a:r>
              <a:rPr lang="en-US" altLang="zh-CN" sz="2000" baseline="30000">
                <a:latin typeface="微软雅黑" panose="020B0503020204020204" pitchFamily="34" charset="-122"/>
                <a:ea typeface="微软雅黑" panose="020B0503020204020204" pitchFamily="34" charset="-122"/>
              </a:rPr>
              <a:t>p </a:t>
            </a:r>
            <a:r>
              <a:rPr lang="en-US" altLang="zh-CN" sz="2000">
                <a:latin typeface="微软雅黑" panose="020B0503020204020204" pitchFamily="34" charset="-122"/>
                <a:ea typeface="微软雅黑" panose="020B0503020204020204" pitchFamily="34" charset="-122"/>
              </a:rPr>
              <a:t> : </a:t>
            </a:r>
            <a:r>
              <a:rPr lang="zh-CN" altLang="en-US" sz="2000">
                <a:latin typeface="微软雅黑" panose="020B0503020204020204" pitchFamily="34" charset="-122"/>
                <a:ea typeface="微软雅黑" panose="020B0503020204020204" pitchFamily="34" charset="-122"/>
              </a:rPr>
              <a:t>页大小</a:t>
            </a:r>
            <a:endParaRPr lang="en-US" altLang="zh-CN" sz="2000" baseline="30000">
              <a:latin typeface="微软雅黑" panose="020B0503020204020204" pitchFamily="34" charset="-122"/>
              <a:ea typeface="微软雅黑" panose="020B0503020204020204" pitchFamily="34" charset="-122"/>
            </a:endParaRPr>
          </a:p>
          <a:p>
            <a:pPr>
              <a:lnSpc>
                <a:spcPct val="90000"/>
              </a:lnSpc>
            </a:pPr>
            <a:r>
              <a:rPr lang="zh-CN" altLang="en-US" sz="2000">
                <a:latin typeface="微软雅黑" panose="020B0503020204020204" pitchFamily="34" charset="-122"/>
                <a:ea typeface="微软雅黑" panose="020B0503020204020204" pitchFamily="34" charset="-122"/>
              </a:rPr>
              <a:t>虚拟地址 </a:t>
            </a:r>
            <a:r>
              <a:rPr lang="en-US" altLang="zh-CN" sz="2000">
                <a:latin typeface="微软雅黑" panose="020B0503020204020204" pitchFamily="34" charset="-122"/>
                <a:ea typeface="微软雅黑" panose="020B0503020204020204" pitchFamily="34" charset="-122"/>
              </a:rPr>
              <a:t>(VA)</a:t>
            </a:r>
            <a:r>
              <a:rPr lang="zh-CN" altLang="en-US" sz="2000">
                <a:latin typeface="微软雅黑" panose="020B0503020204020204" pitchFamily="34" charset="-122"/>
                <a:ea typeface="微软雅黑" panose="020B0503020204020204" pitchFamily="34" charset="-122"/>
              </a:rPr>
              <a:t>中的各字段</a:t>
            </a:r>
          </a:p>
          <a:p>
            <a:pPr lvl="1">
              <a:lnSpc>
                <a:spcPct val="90000"/>
              </a:lnSpc>
            </a:pPr>
            <a:r>
              <a:rPr lang="en-US" altLang="zh-CN" sz="2000">
                <a:latin typeface="微软雅黑" panose="020B0503020204020204" pitchFamily="34" charset="-122"/>
                <a:ea typeface="微软雅黑" panose="020B0503020204020204" pitchFamily="34" charset="-122"/>
              </a:rPr>
              <a:t>TLBI: TLB index</a:t>
            </a:r>
            <a:r>
              <a:rPr lang="zh-CN" altLang="en-US" sz="2000">
                <a:solidFill>
                  <a:srgbClr val="D10F0F"/>
                </a:solidFill>
                <a:latin typeface="微软雅黑" panose="020B0503020204020204" pitchFamily="34" charset="-122"/>
                <a:ea typeface="微软雅黑" panose="020B0503020204020204" pitchFamily="34" charset="-122"/>
              </a:rPr>
              <a:t>（</a:t>
            </a:r>
            <a:r>
              <a:rPr lang="en-US" altLang="zh-CN" sz="2000">
                <a:solidFill>
                  <a:srgbClr val="D10F0F"/>
                </a:solidFill>
                <a:latin typeface="微软雅黑" panose="020B0503020204020204" pitchFamily="34" charset="-122"/>
                <a:ea typeface="微软雅黑" panose="020B0503020204020204" pitchFamily="34" charset="-122"/>
              </a:rPr>
              <a:t>TLB</a:t>
            </a:r>
            <a:r>
              <a:rPr lang="zh-CN" altLang="en-US" sz="2000">
                <a:solidFill>
                  <a:srgbClr val="D10F0F"/>
                </a:solidFill>
                <a:latin typeface="微软雅黑" panose="020B0503020204020204" pitchFamily="34" charset="-122"/>
                <a:ea typeface="微软雅黑" panose="020B0503020204020204" pitchFamily="34" charset="-122"/>
              </a:rPr>
              <a:t>索引）</a:t>
            </a:r>
          </a:p>
          <a:p>
            <a:pPr lvl="1">
              <a:lnSpc>
                <a:spcPct val="90000"/>
              </a:lnSpc>
            </a:pPr>
            <a:r>
              <a:rPr lang="en-US" altLang="zh-CN" sz="2000">
                <a:latin typeface="微软雅黑" panose="020B0503020204020204" pitchFamily="34" charset="-122"/>
                <a:ea typeface="微软雅黑" panose="020B0503020204020204" pitchFamily="34" charset="-122"/>
              </a:rPr>
              <a:t>TLBT: TLB tag</a:t>
            </a:r>
            <a:r>
              <a:rPr lang="zh-CN" altLang="en-US" sz="2000">
                <a:solidFill>
                  <a:srgbClr val="D10F0F"/>
                </a:solidFill>
                <a:latin typeface="微软雅黑" panose="020B0503020204020204" pitchFamily="34" charset="-122"/>
                <a:ea typeface="微软雅黑" panose="020B0503020204020204" pitchFamily="34" charset="-122"/>
              </a:rPr>
              <a:t>（</a:t>
            </a:r>
            <a:r>
              <a:rPr lang="en-US" altLang="zh-CN" sz="2000">
                <a:solidFill>
                  <a:srgbClr val="D10F0F"/>
                </a:solidFill>
                <a:latin typeface="微软雅黑" panose="020B0503020204020204" pitchFamily="34" charset="-122"/>
                <a:ea typeface="微软雅黑" panose="020B0503020204020204" pitchFamily="34" charset="-122"/>
              </a:rPr>
              <a:t>TLB</a:t>
            </a:r>
            <a:r>
              <a:rPr lang="zh-CN" altLang="en-US" sz="2000">
                <a:solidFill>
                  <a:srgbClr val="D10F0F"/>
                </a:solidFill>
                <a:latin typeface="微软雅黑" panose="020B0503020204020204" pitchFamily="34" charset="-122"/>
                <a:ea typeface="微软雅黑" panose="020B0503020204020204" pitchFamily="34" charset="-122"/>
              </a:rPr>
              <a:t>标记）</a:t>
            </a:r>
          </a:p>
          <a:p>
            <a:pPr lvl="1">
              <a:lnSpc>
                <a:spcPct val="90000"/>
              </a:lnSpc>
            </a:pPr>
            <a:r>
              <a:rPr lang="en-US" altLang="zh-CN" sz="2000">
                <a:latin typeface="微软雅黑" panose="020B0503020204020204" pitchFamily="34" charset="-122"/>
                <a:ea typeface="微软雅黑" panose="020B0503020204020204" pitchFamily="34" charset="-122"/>
              </a:rPr>
              <a:t>VPO: Virtual page offset </a:t>
            </a:r>
            <a:r>
              <a:rPr lang="zh-CN" altLang="en-US" sz="2000">
                <a:solidFill>
                  <a:srgbClr val="D10F0F"/>
                </a:solidFill>
                <a:latin typeface="微软雅黑" panose="020B0503020204020204" pitchFamily="34" charset="-122"/>
                <a:ea typeface="微软雅黑" panose="020B0503020204020204" pitchFamily="34" charset="-122"/>
              </a:rPr>
              <a:t>（页内偏移地址）</a:t>
            </a:r>
          </a:p>
          <a:p>
            <a:pPr lvl="1">
              <a:lnSpc>
                <a:spcPct val="90000"/>
              </a:lnSpc>
            </a:pPr>
            <a:r>
              <a:rPr lang="en-US" altLang="zh-CN" sz="2000">
                <a:latin typeface="微软雅黑" panose="020B0503020204020204" pitchFamily="34" charset="-122"/>
                <a:ea typeface="微软雅黑" panose="020B0503020204020204" pitchFamily="34" charset="-122"/>
              </a:rPr>
              <a:t>VPN: Virtual page number </a:t>
            </a:r>
            <a:r>
              <a:rPr lang="zh-CN" altLang="en-US" sz="2000">
                <a:solidFill>
                  <a:srgbClr val="D10F0F"/>
                </a:solidFill>
                <a:latin typeface="微软雅黑" panose="020B0503020204020204" pitchFamily="34" charset="-122"/>
                <a:ea typeface="微软雅黑" panose="020B0503020204020204" pitchFamily="34" charset="-122"/>
              </a:rPr>
              <a:t>（虚拟页号）</a:t>
            </a:r>
          </a:p>
          <a:p>
            <a:pPr>
              <a:lnSpc>
                <a:spcPct val="90000"/>
              </a:lnSpc>
            </a:pPr>
            <a:r>
              <a:rPr lang="zh-CN" altLang="en-US" sz="2000">
                <a:latin typeface="微软雅黑" panose="020B0503020204020204" pitchFamily="34" charset="-122"/>
                <a:ea typeface="微软雅黑" panose="020B0503020204020204" pitchFamily="34" charset="-122"/>
              </a:rPr>
              <a:t>物理地址</a:t>
            </a:r>
            <a:r>
              <a:rPr lang="en-US" altLang="zh-CN" sz="2000">
                <a:latin typeface="微软雅黑" panose="020B0503020204020204" pitchFamily="34" charset="-122"/>
                <a:ea typeface="微软雅黑" panose="020B0503020204020204" pitchFamily="34" charset="-122"/>
              </a:rPr>
              <a:t>(PA)</a:t>
            </a:r>
            <a:r>
              <a:rPr lang="zh-CN" altLang="en-US" sz="2000">
                <a:latin typeface="微软雅黑" panose="020B0503020204020204" pitchFamily="34" charset="-122"/>
                <a:ea typeface="微软雅黑" panose="020B0503020204020204" pitchFamily="34" charset="-122"/>
              </a:rPr>
              <a:t>中的各字段</a:t>
            </a:r>
          </a:p>
          <a:p>
            <a:pPr lvl="1">
              <a:lnSpc>
                <a:spcPct val="90000"/>
              </a:lnSpc>
            </a:pPr>
            <a:r>
              <a:rPr lang="en-US" altLang="zh-CN" sz="2000">
                <a:latin typeface="微软雅黑" panose="020B0503020204020204" pitchFamily="34" charset="-122"/>
                <a:ea typeface="微软雅黑" panose="020B0503020204020204" pitchFamily="34" charset="-122"/>
              </a:rPr>
              <a:t>PPO: Physical page offset </a:t>
            </a:r>
            <a:r>
              <a:rPr lang="en-US" altLang="zh-CN" sz="2000">
                <a:solidFill>
                  <a:srgbClr val="D10F0F"/>
                </a:solidFill>
                <a:latin typeface="微软雅黑" panose="020B0503020204020204" pitchFamily="34" charset="-122"/>
                <a:ea typeface="微软雅黑" panose="020B0503020204020204" pitchFamily="34" charset="-122"/>
              </a:rPr>
              <a:t>(</a:t>
            </a:r>
            <a:r>
              <a:rPr lang="zh-CN" altLang="en-US" sz="2000">
                <a:solidFill>
                  <a:srgbClr val="D10F0F"/>
                </a:solidFill>
                <a:latin typeface="微软雅黑" panose="020B0503020204020204" pitchFamily="34" charset="-122"/>
                <a:ea typeface="微软雅黑" panose="020B0503020204020204" pitchFamily="34" charset="-122"/>
              </a:rPr>
              <a:t>页内偏移地址</a:t>
            </a:r>
            <a:r>
              <a:rPr lang="en-US" altLang="zh-CN" sz="2000">
                <a:solidFill>
                  <a:srgbClr val="D10F0F"/>
                </a:solidFill>
                <a:latin typeface="微软雅黑" panose="020B0503020204020204" pitchFamily="34" charset="-122"/>
                <a:ea typeface="微软雅黑" panose="020B0503020204020204" pitchFamily="34" charset="-122"/>
              </a:rPr>
              <a:t>)</a:t>
            </a:r>
          </a:p>
          <a:p>
            <a:pPr lvl="1">
              <a:lnSpc>
                <a:spcPct val="90000"/>
              </a:lnSpc>
            </a:pPr>
            <a:r>
              <a:rPr lang="en-US" altLang="zh-CN" sz="2000">
                <a:latin typeface="微软雅黑" panose="020B0503020204020204" pitchFamily="34" charset="-122"/>
                <a:ea typeface="微软雅黑" panose="020B0503020204020204" pitchFamily="34" charset="-122"/>
              </a:rPr>
              <a:t>PPN: Physical page number</a:t>
            </a:r>
            <a:r>
              <a:rPr lang="zh-CN" altLang="en-US" sz="2000">
                <a:solidFill>
                  <a:srgbClr val="D10F0F"/>
                </a:solidFill>
                <a:latin typeface="微软雅黑" panose="020B0503020204020204" pitchFamily="34" charset="-122"/>
                <a:ea typeface="微软雅黑" panose="020B0503020204020204" pitchFamily="34" charset="-122"/>
              </a:rPr>
              <a:t>（物理页号）</a:t>
            </a:r>
          </a:p>
          <a:p>
            <a:pPr lvl="1">
              <a:lnSpc>
                <a:spcPct val="90000"/>
              </a:lnSpc>
            </a:pPr>
            <a:r>
              <a:rPr lang="en-US" altLang="zh-CN" sz="2000">
                <a:latin typeface="微软雅黑" panose="020B0503020204020204" pitchFamily="34" charset="-122"/>
                <a:ea typeface="微软雅黑" panose="020B0503020204020204" pitchFamily="34" charset="-122"/>
              </a:rPr>
              <a:t>CO: Byte offset within cache line</a:t>
            </a:r>
            <a:r>
              <a:rPr lang="zh-CN" altLang="en-US" sz="2000">
                <a:solidFill>
                  <a:srgbClr val="D10F0F"/>
                </a:solidFill>
                <a:latin typeface="微软雅黑" panose="020B0503020204020204" pitchFamily="34" charset="-122"/>
                <a:ea typeface="微软雅黑" panose="020B0503020204020204" pitchFamily="34" charset="-122"/>
              </a:rPr>
              <a:t>（块内偏移地址）</a:t>
            </a:r>
          </a:p>
          <a:p>
            <a:pPr lvl="1">
              <a:lnSpc>
                <a:spcPct val="90000"/>
              </a:lnSpc>
            </a:pPr>
            <a:r>
              <a:rPr lang="en-US" altLang="zh-CN" sz="2000">
                <a:latin typeface="微软雅黑" panose="020B0503020204020204" pitchFamily="34" charset="-122"/>
                <a:ea typeface="微软雅黑" panose="020B0503020204020204" pitchFamily="34" charset="-122"/>
              </a:rPr>
              <a:t>CI: Cache index</a:t>
            </a:r>
            <a:r>
              <a:rPr lang="zh-CN" altLang="en-US" sz="2000">
                <a:solidFill>
                  <a:srgbClr val="D10F0F"/>
                </a:solidFill>
                <a:latin typeface="微软雅黑" panose="020B0503020204020204" pitchFamily="34" charset="-122"/>
                <a:ea typeface="微软雅黑" panose="020B0503020204020204" pitchFamily="34" charset="-122"/>
              </a:rPr>
              <a:t>（</a:t>
            </a:r>
            <a:r>
              <a:rPr lang="en-US" altLang="zh-CN" sz="2000">
                <a:solidFill>
                  <a:srgbClr val="D10F0F"/>
                </a:solidFill>
                <a:latin typeface="微软雅黑" panose="020B0503020204020204" pitchFamily="34" charset="-122"/>
                <a:ea typeface="微软雅黑" panose="020B0503020204020204" pitchFamily="34" charset="-122"/>
              </a:rPr>
              <a:t>cache</a:t>
            </a:r>
            <a:r>
              <a:rPr lang="zh-CN" altLang="en-US" sz="2000">
                <a:solidFill>
                  <a:srgbClr val="D10F0F"/>
                </a:solidFill>
                <a:latin typeface="微软雅黑" panose="020B0503020204020204" pitchFamily="34" charset="-122"/>
                <a:ea typeface="微软雅黑" panose="020B0503020204020204" pitchFamily="34" charset="-122"/>
              </a:rPr>
              <a:t>索引）</a:t>
            </a:r>
          </a:p>
          <a:p>
            <a:pPr lvl="1">
              <a:lnSpc>
                <a:spcPct val="90000"/>
              </a:lnSpc>
            </a:pPr>
            <a:r>
              <a:rPr lang="en-US" altLang="zh-CN" sz="2000">
                <a:latin typeface="微软雅黑" panose="020B0503020204020204" pitchFamily="34" charset="-122"/>
                <a:ea typeface="微软雅黑" panose="020B0503020204020204" pitchFamily="34" charset="-122"/>
              </a:rPr>
              <a:t>CT: Cache tag</a:t>
            </a:r>
            <a:r>
              <a:rPr lang="zh-CN" altLang="en-US" sz="2000">
                <a:solidFill>
                  <a:srgbClr val="D10F0F"/>
                </a:solidFill>
                <a:latin typeface="微软雅黑" panose="020B0503020204020204" pitchFamily="34" charset="-122"/>
                <a:ea typeface="微软雅黑" panose="020B0503020204020204" pitchFamily="34" charset="-122"/>
              </a:rPr>
              <a:t>（</a:t>
            </a:r>
            <a:r>
              <a:rPr lang="en-US" altLang="zh-CN" sz="2000">
                <a:solidFill>
                  <a:srgbClr val="D10F0F"/>
                </a:solidFill>
                <a:latin typeface="微软雅黑" panose="020B0503020204020204" pitchFamily="34" charset="-122"/>
                <a:ea typeface="微软雅黑" panose="020B0503020204020204" pitchFamily="34" charset="-122"/>
              </a:rPr>
              <a:t>cache</a:t>
            </a:r>
            <a:r>
              <a:rPr lang="zh-CN" altLang="en-US" sz="2000">
                <a:solidFill>
                  <a:srgbClr val="D10F0F"/>
                </a:solidFill>
                <a:latin typeface="微软雅黑" panose="020B0503020204020204" pitchFamily="34" charset="-122"/>
                <a:ea typeface="微软雅黑" panose="020B0503020204020204" pitchFamily="34" charset="-122"/>
              </a:rPr>
              <a:t>标记）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1">
            <a:extLst>
              <a:ext uri="{FF2B5EF4-FFF2-40B4-BE49-F238E27FC236}">
                <a16:creationId xmlns:a16="http://schemas.microsoft.com/office/drawing/2014/main" id="{00989416-2389-254A-A610-7A8063CEA7E4}"/>
              </a:ext>
            </a:extLst>
          </p:cNvPr>
          <p:cNvSpPr>
            <a:spLocks noGrp="1" noChangeArrowheads="1"/>
          </p:cNvSpPr>
          <p:nvPr>
            <p:ph type="title" idx="4294967295"/>
          </p:nvPr>
        </p:nvSpPr>
        <p:spPr>
          <a:xfrm>
            <a:off x="244475" y="96838"/>
            <a:ext cx="8478838" cy="569912"/>
          </a:xfrm>
        </p:spPr>
        <p:txBody>
          <a:bodyPr lIns="91440" tIns="45720" rIns="91440" bIns="45720" anchor="ctr"/>
          <a:lstStyle/>
          <a:p>
            <a: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a:t>一个简化的存储系统举例</a:t>
            </a:r>
          </a:p>
        </p:txBody>
      </p:sp>
      <p:sp>
        <p:nvSpPr>
          <p:cNvPr id="243715" name="Rectangle 2">
            <a:extLst>
              <a:ext uri="{FF2B5EF4-FFF2-40B4-BE49-F238E27FC236}">
                <a16:creationId xmlns:a16="http://schemas.microsoft.com/office/drawing/2014/main" id="{282BFC91-33E9-F94C-8067-8653C61968E6}"/>
              </a:ext>
            </a:extLst>
          </p:cNvPr>
          <p:cNvSpPr>
            <a:spLocks noGrp="1" noChangeArrowheads="1"/>
          </p:cNvSpPr>
          <p:nvPr>
            <p:ph type="body" idx="4294967295"/>
          </p:nvPr>
        </p:nvSpPr>
        <p:spPr>
          <a:xfrm>
            <a:off x="350838" y="785813"/>
            <a:ext cx="8307387" cy="1630362"/>
          </a:xfrm>
        </p:spPr>
        <p:txBody>
          <a:bodyPr lIns="91440" tIns="45720" rIns="91440" bIns="45720"/>
          <a:lstStyle/>
          <a:p>
            <a:pPr marL="342900" indent="-34290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GB" sz="2000">
                <a:latin typeface="微软雅黑" panose="020B0503020204020204" pitchFamily="34" charset="-122"/>
                <a:ea typeface="微软雅黑" panose="020B0503020204020204" pitchFamily="34" charset="-122"/>
              </a:rPr>
              <a:t>假定以下参数，则虚拟地址和物理地址如何划分？共多少页表项？</a:t>
            </a:r>
          </a:p>
          <a:p>
            <a:pPr marL="742950" lvl="1" indent="-28575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2000">
                <a:latin typeface="微软雅黑" panose="020B0503020204020204" pitchFamily="34" charset="-122"/>
                <a:ea typeface="微软雅黑" panose="020B0503020204020204" pitchFamily="34" charset="-122"/>
              </a:rPr>
              <a:t>14-bit virtual addresses</a:t>
            </a:r>
            <a:r>
              <a:rPr lang="zh-CN" altLang="en-GB" sz="2000">
                <a:solidFill>
                  <a:srgbClr val="D10F0F"/>
                </a:solidFill>
                <a:latin typeface="微软雅黑" panose="020B0503020204020204" pitchFamily="34" charset="-122"/>
                <a:ea typeface="微软雅黑" panose="020B0503020204020204" pitchFamily="34" charset="-122"/>
              </a:rPr>
              <a:t>（虚拟地址</a:t>
            </a:r>
            <a:r>
              <a:rPr lang="en-GB" altLang="zh-CN" sz="2000">
                <a:solidFill>
                  <a:srgbClr val="D10F0F"/>
                </a:solidFill>
                <a:latin typeface="微软雅黑" panose="020B0503020204020204" pitchFamily="34" charset="-122"/>
                <a:ea typeface="微软雅黑" panose="020B0503020204020204" pitchFamily="34" charset="-122"/>
              </a:rPr>
              <a:t>14</a:t>
            </a:r>
            <a:r>
              <a:rPr lang="zh-CN" altLang="en-GB" sz="2000">
                <a:solidFill>
                  <a:srgbClr val="D10F0F"/>
                </a:solidFill>
                <a:latin typeface="微软雅黑" panose="020B0503020204020204" pitchFamily="34" charset="-122"/>
                <a:ea typeface="微软雅黑" panose="020B0503020204020204" pitchFamily="34" charset="-122"/>
              </a:rPr>
              <a:t>位）</a:t>
            </a:r>
          </a:p>
          <a:p>
            <a:pPr marL="742950" lvl="1" indent="-28575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2000">
                <a:latin typeface="微软雅黑" panose="020B0503020204020204" pitchFamily="34" charset="-122"/>
                <a:ea typeface="微软雅黑" panose="020B0503020204020204" pitchFamily="34" charset="-122"/>
              </a:rPr>
              <a:t>12-bit physical address</a:t>
            </a:r>
            <a:r>
              <a:rPr lang="zh-CN" altLang="en-GB" sz="2000">
                <a:solidFill>
                  <a:srgbClr val="D10F0F"/>
                </a:solidFill>
                <a:latin typeface="微软雅黑" panose="020B0503020204020204" pitchFamily="34" charset="-122"/>
                <a:ea typeface="微软雅黑" panose="020B0503020204020204" pitchFamily="34" charset="-122"/>
              </a:rPr>
              <a:t>（物理地址</a:t>
            </a:r>
            <a:r>
              <a:rPr lang="en-GB" altLang="zh-CN" sz="2000">
                <a:solidFill>
                  <a:srgbClr val="D10F0F"/>
                </a:solidFill>
                <a:latin typeface="微软雅黑" panose="020B0503020204020204" pitchFamily="34" charset="-122"/>
                <a:ea typeface="微软雅黑" panose="020B0503020204020204" pitchFamily="34" charset="-122"/>
              </a:rPr>
              <a:t>12</a:t>
            </a:r>
            <a:r>
              <a:rPr lang="zh-CN" altLang="en-GB" sz="2000">
                <a:solidFill>
                  <a:srgbClr val="D10F0F"/>
                </a:solidFill>
                <a:latin typeface="微软雅黑" panose="020B0503020204020204" pitchFamily="34" charset="-122"/>
                <a:ea typeface="微软雅黑" panose="020B0503020204020204" pitchFamily="34" charset="-122"/>
              </a:rPr>
              <a:t>位）</a:t>
            </a:r>
          </a:p>
          <a:p>
            <a:pPr marL="742950" lvl="1" indent="-285750">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2000">
                <a:latin typeface="微软雅黑" panose="020B0503020204020204" pitchFamily="34" charset="-122"/>
                <a:ea typeface="微软雅黑" panose="020B0503020204020204" pitchFamily="34" charset="-122"/>
              </a:rPr>
              <a:t>Page size = 64 bytes</a:t>
            </a:r>
            <a:r>
              <a:rPr lang="zh-CN" altLang="en-GB" sz="2000">
                <a:solidFill>
                  <a:srgbClr val="D10F0F"/>
                </a:solidFill>
                <a:latin typeface="微软雅黑" panose="020B0503020204020204" pitchFamily="34" charset="-122"/>
                <a:ea typeface="微软雅黑" panose="020B0503020204020204" pitchFamily="34" charset="-122"/>
              </a:rPr>
              <a:t>（页大小</a:t>
            </a:r>
            <a:r>
              <a:rPr lang="en-GB" altLang="zh-CN" sz="2000">
                <a:solidFill>
                  <a:srgbClr val="D10F0F"/>
                </a:solidFill>
                <a:latin typeface="微软雅黑" panose="020B0503020204020204" pitchFamily="34" charset="-122"/>
                <a:ea typeface="微软雅黑" panose="020B0503020204020204" pitchFamily="34" charset="-122"/>
              </a:rPr>
              <a:t>64B</a:t>
            </a:r>
            <a:r>
              <a:rPr lang="zh-CN" altLang="en-GB" sz="2000">
                <a:solidFill>
                  <a:srgbClr val="D10F0F"/>
                </a:solidFill>
                <a:latin typeface="微软雅黑" panose="020B0503020204020204" pitchFamily="34" charset="-122"/>
                <a:ea typeface="微软雅黑" panose="020B0503020204020204" pitchFamily="34" charset="-122"/>
              </a:rPr>
              <a:t>）</a:t>
            </a:r>
          </a:p>
        </p:txBody>
      </p:sp>
      <p:grpSp>
        <p:nvGrpSpPr>
          <p:cNvPr id="740424" name="Group 72">
            <a:extLst>
              <a:ext uri="{FF2B5EF4-FFF2-40B4-BE49-F238E27FC236}">
                <a16:creationId xmlns:a16="http://schemas.microsoft.com/office/drawing/2014/main" id="{133ADA19-607D-B441-85EE-4D3D3A9B0875}"/>
              </a:ext>
            </a:extLst>
          </p:cNvPr>
          <p:cNvGrpSpPr>
            <a:grpSpLocks/>
          </p:cNvGrpSpPr>
          <p:nvPr/>
        </p:nvGrpSpPr>
        <p:grpSpPr bwMode="auto">
          <a:xfrm>
            <a:off x="192088" y="2581275"/>
            <a:ext cx="8707437" cy="2103438"/>
            <a:chOff x="605" y="1947"/>
            <a:chExt cx="4298" cy="896"/>
          </a:xfrm>
        </p:grpSpPr>
        <p:sp>
          <p:nvSpPr>
            <p:cNvPr id="33797" name="Rectangle 5">
              <a:extLst>
                <a:ext uri="{FF2B5EF4-FFF2-40B4-BE49-F238E27FC236}">
                  <a16:creationId xmlns:a16="http://schemas.microsoft.com/office/drawing/2014/main" id="{C197D475-0247-4D4C-9C63-A26B6C79B915}"/>
                </a:ext>
              </a:extLst>
            </p:cNvPr>
            <p:cNvSpPr>
              <a:spLocks noChangeArrowheads="1"/>
            </p:cNvSpPr>
            <p:nvPr/>
          </p:nvSpPr>
          <p:spPr bwMode="auto">
            <a:xfrm>
              <a:off x="605" y="2139"/>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52" name="Rectangle 6">
              <a:extLst>
                <a:ext uri="{FF2B5EF4-FFF2-40B4-BE49-F238E27FC236}">
                  <a16:creationId xmlns:a16="http://schemas.microsoft.com/office/drawing/2014/main" id="{B910CB5D-D3A4-694A-A8BE-BE6402CC5D42}"/>
                </a:ext>
              </a:extLst>
            </p:cNvPr>
            <p:cNvSpPr>
              <a:spLocks noChangeArrowheads="1"/>
            </p:cNvSpPr>
            <p:nvPr/>
          </p:nvSpPr>
          <p:spPr bwMode="auto">
            <a:xfrm>
              <a:off x="605"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13</a:t>
              </a:r>
            </a:p>
          </p:txBody>
        </p:sp>
        <p:sp>
          <p:nvSpPr>
            <p:cNvPr id="33800" name="Rectangle 8">
              <a:extLst>
                <a:ext uri="{FF2B5EF4-FFF2-40B4-BE49-F238E27FC236}">
                  <a16:creationId xmlns:a16="http://schemas.microsoft.com/office/drawing/2014/main" id="{B0770670-4312-9A4C-AB0F-8D3C6EF25D92}"/>
                </a:ext>
              </a:extLst>
            </p:cNvPr>
            <p:cNvSpPr>
              <a:spLocks noChangeArrowheads="1"/>
            </p:cNvSpPr>
            <p:nvPr/>
          </p:nvSpPr>
          <p:spPr bwMode="auto">
            <a:xfrm>
              <a:off x="912" y="2139"/>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54" name="Rectangle 9">
              <a:extLst>
                <a:ext uri="{FF2B5EF4-FFF2-40B4-BE49-F238E27FC236}">
                  <a16:creationId xmlns:a16="http://schemas.microsoft.com/office/drawing/2014/main" id="{3A31179B-50FC-5F4B-93A4-350C054FE2B3}"/>
                </a:ext>
              </a:extLst>
            </p:cNvPr>
            <p:cNvSpPr>
              <a:spLocks noChangeArrowheads="1"/>
            </p:cNvSpPr>
            <p:nvPr/>
          </p:nvSpPr>
          <p:spPr bwMode="auto">
            <a:xfrm>
              <a:off x="912"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12</a:t>
              </a:r>
            </a:p>
          </p:txBody>
        </p:sp>
        <p:sp>
          <p:nvSpPr>
            <p:cNvPr id="33803" name="Rectangle 11">
              <a:extLst>
                <a:ext uri="{FF2B5EF4-FFF2-40B4-BE49-F238E27FC236}">
                  <a16:creationId xmlns:a16="http://schemas.microsoft.com/office/drawing/2014/main" id="{57AD31B3-8761-4E4A-A11B-0413979D74D5}"/>
                </a:ext>
              </a:extLst>
            </p:cNvPr>
            <p:cNvSpPr>
              <a:spLocks noChangeArrowheads="1"/>
            </p:cNvSpPr>
            <p:nvPr/>
          </p:nvSpPr>
          <p:spPr bwMode="auto">
            <a:xfrm>
              <a:off x="1219" y="2139"/>
              <a:ext cx="306"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56" name="Rectangle 12">
              <a:extLst>
                <a:ext uri="{FF2B5EF4-FFF2-40B4-BE49-F238E27FC236}">
                  <a16:creationId xmlns:a16="http://schemas.microsoft.com/office/drawing/2014/main" id="{7765F987-69E8-5B45-B04C-F41705181D66}"/>
                </a:ext>
              </a:extLst>
            </p:cNvPr>
            <p:cNvSpPr>
              <a:spLocks noChangeArrowheads="1"/>
            </p:cNvSpPr>
            <p:nvPr/>
          </p:nvSpPr>
          <p:spPr bwMode="auto">
            <a:xfrm>
              <a:off x="1219"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11</a:t>
              </a:r>
            </a:p>
          </p:txBody>
        </p:sp>
        <p:sp>
          <p:nvSpPr>
            <p:cNvPr id="33806" name="Rectangle 14">
              <a:extLst>
                <a:ext uri="{FF2B5EF4-FFF2-40B4-BE49-F238E27FC236}">
                  <a16:creationId xmlns:a16="http://schemas.microsoft.com/office/drawing/2014/main" id="{9D6F5065-05EE-B946-A3B4-58E464784034}"/>
                </a:ext>
              </a:extLst>
            </p:cNvPr>
            <p:cNvSpPr>
              <a:spLocks noChangeArrowheads="1"/>
            </p:cNvSpPr>
            <p:nvPr/>
          </p:nvSpPr>
          <p:spPr bwMode="auto">
            <a:xfrm>
              <a:off x="1526" y="2139"/>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58" name="Rectangle 15">
              <a:extLst>
                <a:ext uri="{FF2B5EF4-FFF2-40B4-BE49-F238E27FC236}">
                  <a16:creationId xmlns:a16="http://schemas.microsoft.com/office/drawing/2014/main" id="{CE2A6D28-F2FC-774C-BEBA-B1D287FE0AAB}"/>
                </a:ext>
              </a:extLst>
            </p:cNvPr>
            <p:cNvSpPr>
              <a:spLocks noChangeArrowheads="1"/>
            </p:cNvSpPr>
            <p:nvPr/>
          </p:nvSpPr>
          <p:spPr bwMode="auto">
            <a:xfrm>
              <a:off x="1526"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10</a:t>
              </a:r>
            </a:p>
          </p:txBody>
        </p:sp>
        <p:sp>
          <p:nvSpPr>
            <p:cNvPr id="33809" name="Rectangle 17">
              <a:extLst>
                <a:ext uri="{FF2B5EF4-FFF2-40B4-BE49-F238E27FC236}">
                  <a16:creationId xmlns:a16="http://schemas.microsoft.com/office/drawing/2014/main" id="{F345CED3-D2E5-0243-AFEB-416AD2AA7D29}"/>
                </a:ext>
              </a:extLst>
            </p:cNvPr>
            <p:cNvSpPr>
              <a:spLocks noChangeArrowheads="1"/>
            </p:cNvSpPr>
            <p:nvPr/>
          </p:nvSpPr>
          <p:spPr bwMode="auto">
            <a:xfrm>
              <a:off x="1833" y="2139"/>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60" name="Rectangle 18">
              <a:extLst>
                <a:ext uri="{FF2B5EF4-FFF2-40B4-BE49-F238E27FC236}">
                  <a16:creationId xmlns:a16="http://schemas.microsoft.com/office/drawing/2014/main" id="{B35ACB28-61B1-2A4D-B2D6-688CAD7F8ACF}"/>
                </a:ext>
              </a:extLst>
            </p:cNvPr>
            <p:cNvSpPr>
              <a:spLocks noChangeArrowheads="1"/>
            </p:cNvSpPr>
            <p:nvPr/>
          </p:nvSpPr>
          <p:spPr bwMode="auto">
            <a:xfrm>
              <a:off x="1833"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9</a:t>
              </a:r>
            </a:p>
          </p:txBody>
        </p:sp>
        <p:sp>
          <p:nvSpPr>
            <p:cNvPr id="33812" name="Rectangle 20">
              <a:extLst>
                <a:ext uri="{FF2B5EF4-FFF2-40B4-BE49-F238E27FC236}">
                  <a16:creationId xmlns:a16="http://schemas.microsoft.com/office/drawing/2014/main" id="{56964AE5-4F1E-B749-9650-0DEC50844C43}"/>
                </a:ext>
              </a:extLst>
            </p:cNvPr>
            <p:cNvSpPr>
              <a:spLocks noChangeArrowheads="1"/>
            </p:cNvSpPr>
            <p:nvPr/>
          </p:nvSpPr>
          <p:spPr bwMode="auto">
            <a:xfrm>
              <a:off x="2140" y="2139"/>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62" name="Rectangle 21">
              <a:extLst>
                <a:ext uri="{FF2B5EF4-FFF2-40B4-BE49-F238E27FC236}">
                  <a16:creationId xmlns:a16="http://schemas.microsoft.com/office/drawing/2014/main" id="{8C492159-C499-0947-8279-9486A002565A}"/>
                </a:ext>
              </a:extLst>
            </p:cNvPr>
            <p:cNvSpPr>
              <a:spLocks noChangeArrowheads="1"/>
            </p:cNvSpPr>
            <p:nvPr/>
          </p:nvSpPr>
          <p:spPr bwMode="auto">
            <a:xfrm>
              <a:off x="2140"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8</a:t>
              </a:r>
            </a:p>
          </p:txBody>
        </p:sp>
        <p:sp>
          <p:nvSpPr>
            <p:cNvPr id="33815" name="Rectangle 23">
              <a:extLst>
                <a:ext uri="{FF2B5EF4-FFF2-40B4-BE49-F238E27FC236}">
                  <a16:creationId xmlns:a16="http://schemas.microsoft.com/office/drawing/2014/main" id="{7CF2BD71-5B45-7E4D-9500-EDA8BAE63081}"/>
                </a:ext>
              </a:extLst>
            </p:cNvPr>
            <p:cNvSpPr>
              <a:spLocks noChangeArrowheads="1"/>
            </p:cNvSpPr>
            <p:nvPr/>
          </p:nvSpPr>
          <p:spPr bwMode="auto">
            <a:xfrm>
              <a:off x="2447" y="2139"/>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64" name="Rectangle 24">
              <a:extLst>
                <a:ext uri="{FF2B5EF4-FFF2-40B4-BE49-F238E27FC236}">
                  <a16:creationId xmlns:a16="http://schemas.microsoft.com/office/drawing/2014/main" id="{700353A3-57D3-3C4F-9DFF-10746F22F9E1}"/>
                </a:ext>
              </a:extLst>
            </p:cNvPr>
            <p:cNvSpPr>
              <a:spLocks noChangeArrowheads="1"/>
            </p:cNvSpPr>
            <p:nvPr/>
          </p:nvSpPr>
          <p:spPr bwMode="auto">
            <a:xfrm>
              <a:off x="2447"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7</a:t>
              </a:r>
            </a:p>
          </p:txBody>
        </p:sp>
        <p:sp>
          <p:nvSpPr>
            <p:cNvPr id="33818" name="Rectangle 26">
              <a:extLst>
                <a:ext uri="{FF2B5EF4-FFF2-40B4-BE49-F238E27FC236}">
                  <a16:creationId xmlns:a16="http://schemas.microsoft.com/office/drawing/2014/main" id="{76E0AB51-5281-8149-B43D-DB98605F96F1}"/>
                </a:ext>
              </a:extLst>
            </p:cNvPr>
            <p:cNvSpPr>
              <a:spLocks noChangeArrowheads="1"/>
            </p:cNvSpPr>
            <p:nvPr/>
          </p:nvSpPr>
          <p:spPr bwMode="auto">
            <a:xfrm>
              <a:off x="2754" y="2139"/>
              <a:ext cx="306"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66" name="Rectangle 27">
              <a:extLst>
                <a:ext uri="{FF2B5EF4-FFF2-40B4-BE49-F238E27FC236}">
                  <a16:creationId xmlns:a16="http://schemas.microsoft.com/office/drawing/2014/main" id="{C043CD57-5189-DD46-9E39-2C1F5C3044C7}"/>
                </a:ext>
              </a:extLst>
            </p:cNvPr>
            <p:cNvSpPr>
              <a:spLocks noChangeArrowheads="1"/>
            </p:cNvSpPr>
            <p:nvPr/>
          </p:nvSpPr>
          <p:spPr bwMode="auto">
            <a:xfrm>
              <a:off x="2754"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6</a:t>
              </a:r>
            </a:p>
          </p:txBody>
        </p:sp>
        <p:sp>
          <p:nvSpPr>
            <p:cNvPr id="33821" name="Rectangle 29">
              <a:extLst>
                <a:ext uri="{FF2B5EF4-FFF2-40B4-BE49-F238E27FC236}">
                  <a16:creationId xmlns:a16="http://schemas.microsoft.com/office/drawing/2014/main" id="{B60FCF11-2B94-CD4A-B530-9E4D51D05888}"/>
                </a:ext>
              </a:extLst>
            </p:cNvPr>
            <p:cNvSpPr>
              <a:spLocks noChangeArrowheads="1"/>
            </p:cNvSpPr>
            <p:nvPr/>
          </p:nvSpPr>
          <p:spPr bwMode="auto">
            <a:xfrm>
              <a:off x="3061" y="2139"/>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68" name="Rectangle 30">
              <a:extLst>
                <a:ext uri="{FF2B5EF4-FFF2-40B4-BE49-F238E27FC236}">
                  <a16:creationId xmlns:a16="http://schemas.microsoft.com/office/drawing/2014/main" id="{FE055EC3-7CA6-8243-A2E7-A99071FF0B68}"/>
                </a:ext>
              </a:extLst>
            </p:cNvPr>
            <p:cNvSpPr>
              <a:spLocks noChangeArrowheads="1"/>
            </p:cNvSpPr>
            <p:nvPr/>
          </p:nvSpPr>
          <p:spPr bwMode="auto">
            <a:xfrm>
              <a:off x="3061"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5</a:t>
              </a:r>
            </a:p>
          </p:txBody>
        </p:sp>
        <p:sp>
          <p:nvSpPr>
            <p:cNvPr id="33824" name="Rectangle 32">
              <a:extLst>
                <a:ext uri="{FF2B5EF4-FFF2-40B4-BE49-F238E27FC236}">
                  <a16:creationId xmlns:a16="http://schemas.microsoft.com/office/drawing/2014/main" id="{F56AEA0B-7441-1841-B193-C13987DB615C}"/>
                </a:ext>
              </a:extLst>
            </p:cNvPr>
            <p:cNvSpPr>
              <a:spLocks noChangeArrowheads="1"/>
            </p:cNvSpPr>
            <p:nvPr/>
          </p:nvSpPr>
          <p:spPr bwMode="auto">
            <a:xfrm>
              <a:off x="3368" y="2139"/>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70" name="Rectangle 33">
              <a:extLst>
                <a:ext uri="{FF2B5EF4-FFF2-40B4-BE49-F238E27FC236}">
                  <a16:creationId xmlns:a16="http://schemas.microsoft.com/office/drawing/2014/main" id="{7B4FF31A-27E1-8D4E-8FD8-5F212C84919D}"/>
                </a:ext>
              </a:extLst>
            </p:cNvPr>
            <p:cNvSpPr>
              <a:spLocks noChangeArrowheads="1"/>
            </p:cNvSpPr>
            <p:nvPr/>
          </p:nvSpPr>
          <p:spPr bwMode="auto">
            <a:xfrm>
              <a:off x="3368"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4</a:t>
              </a:r>
            </a:p>
          </p:txBody>
        </p:sp>
        <p:sp>
          <p:nvSpPr>
            <p:cNvPr id="33827" name="Rectangle 35">
              <a:extLst>
                <a:ext uri="{FF2B5EF4-FFF2-40B4-BE49-F238E27FC236}">
                  <a16:creationId xmlns:a16="http://schemas.microsoft.com/office/drawing/2014/main" id="{E67FFE8B-A7C2-434D-A1B5-2F304C17452E}"/>
                </a:ext>
              </a:extLst>
            </p:cNvPr>
            <p:cNvSpPr>
              <a:spLocks noChangeArrowheads="1"/>
            </p:cNvSpPr>
            <p:nvPr/>
          </p:nvSpPr>
          <p:spPr bwMode="auto">
            <a:xfrm>
              <a:off x="3675" y="2139"/>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72" name="Rectangle 36">
              <a:extLst>
                <a:ext uri="{FF2B5EF4-FFF2-40B4-BE49-F238E27FC236}">
                  <a16:creationId xmlns:a16="http://schemas.microsoft.com/office/drawing/2014/main" id="{8DF6FC08-F3E2-6942-878D-665736F32D9B}"/>
                </a:ext>
              </a:extLst>
            </p:cNvPr>
            <p:cNvSpPr>
              <a:spLocks noChangeArrowheads="1"/>
            </p:cNvSpPr>
            <p:nvPr/>
          </p:nvSpPr>
          <p:spPr bwMode="auto">
            <a:xfrm>
              <a:off x="3675"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3</a:t>
              </a:r>
            </a:p>
          </p:txBody>
        </p:sp>
        <p:sp>
          <p:nvSpPr>
            <p:cNvPr id="33830" name="Rectangle 38">
              <a:extLst>
                <a:ext uri="{FF2B5EF4-FFF2-40B4-BE49-F238E27FC236}">
                  <a16:creationId xmlns:a16="http://schemas.microsoft.com/office/drawing/2014/main" id="{2F5DDF4A-318C-2043-A964-BFFE67626F9D}"/>
                </a:ext>
              </a:extLst>
            </p:cNvPr>
            <p:cNvSpPr>
              <a:spLocks noChangeArrowheads="1"/>
            </p:cNvSpPr>
            <p:nvPr/>
          </p:nvSpPr>
          <p:spPr bwMode="auto">
            <a:xfrm>
              <a:off x="3982" y="2139"/>
              <a:ext cx="306"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74" name="Rectangle 39">
              <a:extLst>
                <a:ext uri="{FF2B5EF4-FFF2-40B4-BE49-F238E27FC236}">
                  <a16:creationId xmlns:a16="http://schemas.microsoft.com/office/drawing/2014/main" id="{59832182-0A5C-5A4C-BB25-799030C1F192}"/>
                </a:ext>
              </a:extLst>
            </p:cNvPr>
            <p:cNvSpPr>
              <a:spLocks noChangeArrowheads="1"/>
            </p:cNvSpPr>
            <p:nvPr/>
          </p:nvSpPr>
          <p:spPr bwMode="auto">
            <a:xfrm>
              <a:off x="3982"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2</a:t>
              </a:r>
            </a:p>
          </p:txBody>
        </p:sp>
        <p:sp>
          <p:nvSpPr>
            <p:cNvPr id="33833" name="Rectangle 41">
              <a:extLst>
                <a:ext uri="{FF2B5EF4-FFF2-40B4-BE49-F238E27FC236}">
                  <a16:creationId xmlns:a16="http://schemas.microsoft.com/office/drawing/2014/main" id="{4A0E86EE-E383-1046-85AB-F87D9C686DD6}"/>
                </a:ext>
              </a:extLst>
            </p:cNvPr>
            <p:cNvSpPr>
              <a:spLocks noChangeArrowheads="1"/>
            </p:cNvSpPr>
            <p:nvPr/>
          </p:nvSpPr>
          <p:spPr bwMode="auto">
            <a:xfrm>
              <a:off x="4289" y="2139"/>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76" name="Rectangle 42">
              <a:extLst>
                <a:ext uri="{FF2B5EF4-FFF2-40B4-BE49-F238E27FC236}">
                  <a16:creationId xmlns:a16="http://schemas.microsoft.com/office/drawing/2014/main" id="{DB9A025E-C4DB-CA4F-A509-C3E3E9C7B805}"/>
                </a:ext>
              </a:extLst>
            </p:cNvPr>
            <p:cNvSpPr>
              <a:spLocks noChangeArrowheads="1"/>
            </p:cNvSpPr>
            <p:nvPr/>
          </p:nvSpPr>
          <p:spPr bwMode="auto">
            <a:xfrm>
              <a:off x="4289"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a:t>
              </a:r>
            </a:p>
          </p:txBody>
        </p:sp>
        <p:sp>
          <p:nvSpPr>
            <p:cNvPr id="33836" name="Rectangle 44">
              <a:extLst>
                <a:ext uri="{FF2B5EF4-FFF2-40B4-BE49-F238E27FC236}">
                  <a16:creationId xmlns:a16="http://schemas.microsoft.com/office/drawing/2014/main" id="{8067F363-ED7D-5548-B87E-EFD36309CE03}"/>
                </a:ext>
              </a:extLst>
            </p:cNvPr>
            <p:cNvSpPr>
              <a:spLocks noChangeArrowheads="1"/>
            </p:cNvSpPr>
            <p:nvPr/>
          </p:nvSpPr>
          <p:spPr bwMode="auto">
            <a:xfrm>
              <a:off x="4596" y="2139"/>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78" name="Rectangle 45">
              <a:extLst>
                <a:ext uri="{FF2B5EF4-FFF2-40B4-BE49-F238E27FC236}">
                  <a16:creationId xmlns:a16="http://schemas.microsoft.com/office/drawing/2014/main" id="{579F27F7-E34A-9543-B2B6-A4CE49E9D2EE}"/>
                </a:ext>
              </a:extLst>
            </p:cNvPr>
            <p:cNvSpPr>
              <a:spLocks noChangeArrowheads="1"/>
            </p:cNvSpPr>
            <p:nvPr/>
          </p:nvSpPr>
          <p:spPr bwMode="auto">
            <a:xfrm>
              <a:off x="4596" y="1947"/>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0</a:t>
              </a:r>
            </a:p>
          </p:txBody>
        </p:sp>
        <p:grpSp>
          <p:nvGrpSpPr>
            <p:cNvPr id="243779" name="Group 83">
              <a:extLst>
                <a:ext uri="{FF2B5EF4-FFF2-40B4-BE49-F238E27FC236}">
                  <a16:creationId xmlns:a16="http://schemas.microsoft.com/office/drawing/2014/main" id="{EF46544E-D357-C442-B6D0-37781FB0EE39}"/>
                </a:ext>
              </a:extLst>
            </p:cNvPr>
            <p:cNvGrpSpPr>
              <a:grpSpLocks/>
            </p:cNvGrpSpPr>
            <p:nvPr/>
          </p:nvGrpSpPr>
          <p:grpSpPr bwMode="auto">
            <a:xfrm>
              <a:off x="3061" y="2432"/>
              <a:ext cx="1842" cy="141"/>
              <a:chOff x="3061" y="2261"/>
              <a:chExt cx="1842" cy="141"/>
            </a:xfrm>
          </p:grpSpPr>
          <p:sp>
            <p:nvSpPr>
              <p:cNvPr id="243785" name="Line 84">
                <a:extLst>
                  <a:ext uri="{FF2B5EF4-FFF2-40B4-BE49-F238E27FC236}">
                    <a16:creationId xmlns:a16="http://schemas.microsoft.com/office/drawing/2014/main" id="{586E069F-5552-6A41-8028-EBAE21813D90}"/>
                  </a:ext>
                </a:extLst>
              </p:cNvPr>
              <p:cNvSpPr>
                <a:spLocks noChangeShapeType="1"/>
              </p:cNvSpPr>
              <p:nvPr/>
            </p:nvSpPr>
            <p:spPr bwMode="auto">
              <a:xfrm>
                <a:off x="3061" y="2352"/>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3786" name="Text Box 85">
                <a:extLst>
                  <a:ext uri="{FF2B5EF4-FFF2-40B4-BE49-F238E27FC236}">
                    <a16:creationId xmlns:a16="http://schemas.microsoft.com/office/drawing/2014/main" id="{9CCF8621-873B-E74E-B32A-FF8A3087E694}"/>
                  </a:ext>
                </a:extLst>
              </p:cNvPr>
              <p:cNvSpPr txBox="1">
                <a:spLocks noChangeArrowheads="1"/>
              </p:cNvSpPr>
              <p:nvPr/>
            </p:nvSpPr>
            <p:spPr bwMode="auto">
              <a:xfrm>
                <a:off x="3768" y="2261"/>
                <a:ext cx="337" cy="141"/>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VPO</a:t>
                </a:r>
              </a:p>
            </p:txBody>
          </p:sp>
        </p:grpSp>
        <p:grpSp>
          <p:nvGrpSpPr>
            <p:cNvPr id="243780" name="Group 92">
              <a:extLst>
                <a:ext uri="{FF2B5EF4-FFF2-40B4-BE49-F238E27FC236}">
                  <a16:creationId xmlns:a16="http://schemas.microsoft.com/office/drawing/2014/main" id="{B3B7F09F-6E07-0940-9B72-70C1153B1412}"/>
                </a:ext>
              </a:extLst>
            </p:cNvPr>
            <p:cNvGrpSpPr>
              <a:grpSpLocks/>
            </p:cNvGrpSpPr>
            <p:nvPr/>
          </p:nvGrpSpPr>
          <p:grpSpPr bwMode="auto">
            <a:xfrm>
              <a:off x="605" y="2427"/>
              <a:ext cx="2467" cy="141"/>
              <a:chOff x="605" y="2256"/>
              <a:chExt cx="2467" cy="141"/>
            </a:xfrm>
          </p:grpSpPr>
          <p:sp>
            <p:nvSpPr>
              <p:cNvPr id="243783" name="Line 93">
                <a:extLst>
                  <a:ext uri="{FF2B5EF4-FFF2-40B4-BE49-F238E27FC236}">
                    <a16:creationId xmlns:a16="http://schemas.microsoft.com/office/drawing/2014/main" id="{9B7B3591-5136-5F4D-B761-DA482A38540F}"/>
                  </a:ext>
                </a:extLst>
              </p:cNvPr>
              <p:cNvSpPr>
                <a:spLocks noChangeShapeType="1"/>
              </p:cNvSpPr>
              <p:nvPr/>
            </p:nvSpPr>
            <p:spPr bwMode="auto">
              <a:xfrm>
                <a:off x="605" y="2347"/>
                <a:ext cx="2467"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3784" name="Text Box 94">
                <a:extLst>
                  <a:ext uri="{FF2B5EF4-FFF2-40B4-BE49-F238E27FC236}">
                    <a16:creationId xmlns:a16="http://schemas.microsoft.com/office/drawing/2014/main" id="{453369B5-51E7-B54E-AC77-D2F91F1BC515}"/>
                  </a:ext>
                </a:extLst>
              </p:cNvPr>
              <p:cNvSpPr txBox="1">
                <a:spLocks noChangeArrowheads="1"/>
              </p:cNvSpPr>
              <p:nvPr/>
            </p:nvSpPr>
            <p:spPr bwMode="auto">
              <a:xfrm>
                <a:off x="1553" y="2256"/>
                <a:ext cx="340" cy="141"/>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VPN</a:t>
                </a:r>
              </a:p>
            </p:txBody>
          </p:sp>
        </p:grpSp>
        <p:sp>
          <p:nvSpPr>
            <p:cNvPr id="243781" name="Text Box 95">
              <a:extLst>
                <a:ext uri="{FF2B5EF4-FFF2-40B4-BE49-F238E27FC236}">
                  <a16:creationId xmlns:a16="http://schemas.microsoft.com/office/drawing/2014/main" id="{F04F15C3-1CFD-A44E-926A-BA1C6C5494CD}"/>
                </a:ext>
              </a:extLst>
            </p:cNvPr>
            <p:cNvSpPr txBox="1">
              <a:spLocks noChangeArrowheads="1"/>
            </p:cNvSpPr>
            <p:nvPr/>
          </p:nvSpPr>
          <p:spPr bwMode="auto">
            <a:xfrm>
              <a:off x="1044" y="2702"/>
              <a:ext cx="127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Virtual</a:t>
              </a:r>
              <a:r>
                <a:rPr lang="en-GB" altLang="zh-CN" sz="1800" b="1">
                  <a:solidFill>
                    <a:schemeClr val="accent2"/>
                  </a:solidFill>
                  <a:latin typeface="Calibri" panose="020F0502020204030204" pitchFamily="34" charset="0"/>
                  <a:ea typeface="宋体" panose="02010600030101010101" pitchFamily="2" charset="-122"/>
                </a:rPr>
                <a:t> </a:t>
              </a:r>
              <a:r>
                <a:rPr lang="en-GB" altLang="zh-CN" sz="1800" b="1">
                  <a:solidFill>
                    <a:schemeClr val="accent2"/>
                  </a:solidFill>
                  <a:latin typeface="微软雅黑" panose="020B0503020204020204" pitchFamily="34" charset="-122"/>
                  <a:ea typeface="微软雅黑" panose="020B0503020204020204" pitchFamily="34" charset="-122"/>
                </a:rPr>
                <a:t>Page</a:t>
              </a:r>
              <a:r>
                <a:rPr lang="en-GB" altLang="zh-CN" sz="1800" b="1">
                  <a:solidFill>
                    <a:schemeClr val="accent2"/>
                  </a:solidFill>
                  <a:latin typeface="Calibri" panose="020F0502020204030204" pitchFamily="34" charset="0"/>
                  <a:ea typeface="宋体" panose="02010600030101010101" pitchFamily="2" charset="-122"/>
                </a:rPr>
                <a:t> </a:t>
              </a:r>
              <a:r>
                <a:rPr lang="en-GB" altLang="zh-CN" sz="1800" b="1">
                  <a:solidFill>
                    <a:schemeClr val="accent2"/>
                  </a:solidFill>
                  <a:latin typeface="微软雅黑" panose="020B0503020204020204" pitchFamily="34" charset="-122"/>
                  <a:ea typeface="微软雅黑" panose="020B0503020204020204" pitchFamily="34" charset="-122"/>
                </a:rPr>
                <a:t>Number</a:t>
              </a:r>
            </a:p>
          </p:txBody>
        </p:sp>
        <p:sp>
          <p:nvSpPr>
            <p:cNvPr id="243782" name="Text Box 96">
              <a:extLst>
                <a:ext uri="{FF2B5EF4-FFF2-40B4-BE49-F238E27FC236}">
                  <a16:creationId xmlns:a16="http://schemas.microsoft.com/office/drawing/2014/main" id="{AB3AFB25-C83F-AE4C-A307-DE893C7BFBC1}"/>
                </a:ext>
              </a:extLst>
            </p:cNvPr>
            <p:cNvSpPr txBox="1">
              <a:spLocks noChangeArrowheads="1"/>
            </p:cNvSpPr>
            <p:nvPr/>
          </p:nvSpPr>
          <p:spPr bwMode="auto">
            <a:xfrm>
              <a:off x="3333" y="2696"/>
              <a:ext cx="1154" cy="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Virtual</a:t>
              </a:r>
              <a:r>
                <a:rPr lang="en-GB" altLang="zh-CN" sz="1800" b="1">
                  <a:solidFill>
                    <a:schemeClr val="accent2"/>
                  </a:solidFill>
                  <a:latin typeface="Calibri" panose="020F0502020204030204" pitchFamily="34" charset="0"/>
                  <a:ea typeface="宋体" panose="02010600030101010101" pitchFamily="2" charset="-122"/>
                </a:rPr>
                <a:t> </a:t>
              </a:r>
              <a:r>
                <a:rPr lang="en-GB" altLang="zh-CN" sz="1800" b="1">
                  <a:solidFill>
                    <a:schemeClr val="accent2"/>
                  </a:solidFill>
                  <a:latin typeface="微软雅黑" panose="020B0503020204020204" pitchFamily="34" charset="-122"/>
                  <a:ea typeface="微软雅黑" panose="020B0503020204020204" pitchFamily="34" charset="-122"/>
                </a:rPr>
                <a:t>Page</a:t>
              </a:r>
              <a:r>
                <a:rPr lang="en-GB" altLang="zh-CN" sz="1800" b="1">
                  <a:solidFill>
                    <a:schemeClr val="accent2"/>
                  </a:solidFill>
                  <a:latin typeface="Calibri" panose="020F0502020204030204" pitchFamily="34" charset="0"/>
                  <a:ea typeface="宋体" panose="02010600030101010101" pitchFamily="2" charset="-122"/>
                </a:rPr>
                <a:t> </a:t>
              </a:r>
              <a:r>
                <a:rPr lang="en-GB" altLang="zh-CN" sz="1800" b="1">
                  <a:solidFill>
                    <a:schemeClr val="accent2"/>
                  </a:solidFill>
                  <a:latin typeface="微软雅黑" panose="020B0503020204020204" pitchFamily="34" charset="-122"/>
                  <a:ea typeface="微软雅黑" panose="020B0503020204020204" pitchFamily="34" charset="-122"/>
                </a:rPr>
                <a:t>Offset</a:t>
              </a:r>
            </a:p>
          </p:txBody>
        </p:sp>
      </p:grpSp>
      <p:grpSp>
        <p:nvGrpSpPr>
          <p:cNvPr id="740425" name="Group 73">
            <a:extLst>
              <a:ext uri="{FF2B5EF4-FFF2-40B4-BE49-F238E27FC236}">
                <a16:creationId xmlns:a16="http://schemas.microsoft.com/office/drawing/2014/main" id="{01C11D32-8B64-D74D-9B2B-31BB7D2C26AC}"/>
              </a:ext>
            </a:extLst>
          </p:cNvPr>
          <p:cNvGrpSpPr>
            <a:grpSpLocks/>
          </p:cNvGrpSpPr>
          <p:nvPr/>
        </p:nvGrpSpPr>
        <p:grpSpPr bwMode="auto">
          <a:xfrm>
            <a:off x="1419225" y="4864100"/>
            <a:ext cx="7610475" cy="1809750"/>
            <a:chOff x="1219" y="3230"/>
            <a:chExt cx="3695" cy="822"/>
          </a:xfrm>
        </p:grpSpPr>
        <p:sp>
          <p:nvSpPr>
            <p:cNvPr id="243719" name="Rectangle 48">
              <a:extLst>
                <a:ext uri="{FF2B5EF4-FFF2-40B4-BE49-F238E27FC236}">
                  <a16:creationId xmlns:a16="http://schemas.microsoft.com/office/drawing/2014/main" id="{3B13E2EB-ADF5-E249-B297-931B231EC58E}"/>
                </a:ext>
              </a:extLst>
            </p:cNvPr>
            <p:cNvSpPr>
              <a:spLocks noChangeArrowheads="1"/>
            </p:cNvSpPr>
            <p:nvPr/>
          </p:nvSpPr>
          <p:spPr bwMode="auto">
            <a:xfrm>
              <a:off x="1219" y="3422"/>
              <a:ext cx="307" cy="192"/>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3720" name="Rectangle 49">
              <a:extLst>
                <a:ext uri="{FF2B5EF4-FFF2-40B4-BE49-F238E27FC236}">
                  <a16:creationId xmlns:a16="http://schemas.microsoft.com/office/drawing/2014/main" id="{1C9C6B2C-D294-FD4C-9606-8E900FF79397}"/>
                </a:ext>
              </a:extLst>
            </p:cNvPr>
            <p:cNvSpPr>
              <a:spLocks noChangeArrowheads="1"/>
            </p:cNvSpPr>
            <p:nvPr/>
          </p:nvSpPr>
          <p:spPr bwMode="auto">
            <a:xfrm>
              <a:off x="1219"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11</a:t>
              </a:r>
            </a:p>
          </p:txBody>
        </p:sp>
        <p:sp>
          <p:nvSpPr>
            <p:cNvPr id="243721" name="Rectangle 51">
              <a:extLst>
                <a:ext uri="{FF2B5EF4-FFF2-40B4-BE49-F238E27FC236}">
                  <a16:creationId xmlns:a16="http://schemas.microsoft.com/office/drawing/2014/main" id="{F187336E-969E-4D4E-8029-10CCA15768BD}"/>
                </a:ext>
              </a:extLst>
            </p:cNvPr>
            <p:cNvSpPr>
              <a:spLocks noChangeArrowheads="1"/>
            </p:cNvSpPr>
            <p:nvPr/>
          </p:nvSpPr>
          <p:spPr bwMode="auto">
            <a:xfrm>
              <a:off x="1526" y="3422"/>
              <a:ext cx="307" cy="192"/>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3722" name="Rectangle 52">
              <a:extLst>
                <a:ext uri="{FF2B5EF4-FFF2-40B4-BE49-F238E27FC236}">
                  <a16:creationId xmlns:a16="http://schemas.microsoft.com/office/drawing/2014/main" id="{D8B39411-E305-2142-BEE6-7A5B9544E74C}"/>
                </a:ext>
              </a:extLst>
            </p:cNvPr>
            <p:cNvSpPr>
              <a:spLocks noChangeArrowheads="1"/>
            </p:cNvSpPr>
            <p:nvPr/>
          </p:nvSpPr>
          <p:spPr bwMode="auto">
            <a:xfrm>
              <a:off x="1526"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10</a:t>
              </a:r>
            </a:p>
          </p:txBody>
        </p:sp>
        <p:sp>
          <p:nvSpPr>
            <p:cNvPr id="243723" name="Rectangle 54">
              <a:extLst>
                <a:ext uri="{FF2B5EF4-FFF2-40B4-BE49-F238E27FC236}">
                  <a16:creationId xmlns:a16="http://schemas.microsoft.com/office/drawing/2014/main" id="{FC169786-30D7-5445-BDCD-B126CC1881CD}"/>
                </a:ext>
              </a:extLst>
            </p:cNvPr>
            <p:cNvSpPr>
              <a:spLocks noChangeArrowheads="1"/>
            </p:cNvSpPr>
            <p:nvPr/>
          </p:nvSpPr>
          <p:spPr bwMode="auto">
            <a:xfrm>
              <a:off x="1833" y="3422"/>
              <a:ext cx="307" cy="192"/>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3724" name="Rectangle 55">
              <a:extLst>
                <a:ext uri="{FF2B5EF4-FFF2-40B4-BE49-F238E27FC236}">
                  <a16:creationId xmlns:a16="http://schemas.microsoft.com/office/drawing/2014/main" id="{BCF648B0-0700-1744-B392-D9B4DD960143}"/>
                </a:ext>
              </a:extLst>
            </p:cNvPr>
            <p:cNvSpPr>
              <a:spLocks noChangeArrowheads="1"/>
            </p:cNvSpPr>
            <p:nvPr/>
          </p:nvSpPr>
          <p:spPr bwMode="auto">
            <a:xfrm>
              <a:off x="1833"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9</a:t>
              </a:r>
            </a:p>
          </p:txBody>
        </p:sp>
        <p:sp>
          <p:nvSpPr>
            <p:cNvPr id="243725" name="Rectangle 57">
              <a:extLst>
                <a:ext uri="{FF2B5EF4-FFF2-40B4-BE49-F238E27FC236}">
                  <a16:creationId xmlns:a16="http://schemas.microsoft.com/office/drawing/2014/main" id="{B8D7DCD0-7717-3949-96C2-4CB028218029}"/>
                </a:ext>
              </a:extLst>
            </p:cNvPr>
            <p:cNvSpPr>
              <a:spLocks noChangeArrowheads="1"/>
            </p:cNvSpPr>
            <p:nvPr/>
          </p:nvSpPr>
          <p:spPr bwMode="auto">
            <a:xfrm>
              <a:off x="2140" y="3422"/>
              <a:ext cx="307" cy="192"/>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3726" name="Rectangle 58">
              <a:extLst>
                <a:ext uri="{FF2B5EF4-FFF2-40B4-BE49-F238E27FC236}">
                  <a16:creationId xmlns:a16="http://schemas.microsoft.com/office/drawing/2014/main" id="{47C8253E-A041-7641-A4C9-BA9FC73E224C}"/>
                </a:ext>
              </a:extLst>
            </p:cNvPr>
            <p:cNvSpPr>
              <a:spLocks noChangeArrowheads="1"/>
            </p:cNvSpPr>
            <p:nvPr/>
          </p:nvSpPr>
          <p:spPr bwMode="auto">
            <a:xfrm>
              <a:off x="2140"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8</a:t>
              </a:r>
            </a:p>
          </p:txBody>
        </p:sp>
        <p:sp>
          <p:nvSpPr>
            <p:cNvPr id="243727" name="Rectangle 60">
              <a:extLst>
                <a:ext uri="{FF2B5EF4-FFF2-40B4-BE49-F238E27FC236}">
                  <a16:creationId xmlns:a16="http://schemas.microsoft.com/office/drawing/2014/main" id="{F117FE38-88B6-E24D-90C6-4AFBC749D9D7}"/>
                </a:ext>
              </a:extLst>
            </p:cNvPr>
            <p:cNvSpPr>
              <a:spLocks noChangeArrowheads="1"/>
            </p:cNvSpPr>
            <p:nvPr/>
          </p:nvSpPr>
          <p:spPr bwMode="auto">
            <a:xfrm>
              <a:off x="2447" y="3422"/>
              <a:ext cx="307" cy="192"/>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3728" name="Rectangle 61">
              <a:extLst>
                <a:ext uri="{FF2B5EF4-FFF2-40B4-BE49-F238E27FC236}">
                  <a16:creationId xmlns:a16="http://schemas.microsoft.com/office/drawing/2014/main" id="{5479E1E8-C349-BB43-9401-798E15003F11}"/>
                </a:ext>
              </a:extLst>
            </p:cNvPr>
            <p:cNvSpPr>
              <a:spLocks noChangeArrowheads="1"/>
            </p:cNvSpPr>
            <p:nvPr/>
          </p:nvSpPr>
          <p:spPr bwMode="auto">
            <a:xfrm>
              <a:off x="2447"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7</a:t>
              </a:r>
            </a:p>
          </p:txBody>
        </p:sp>
        <p:sp>
          <p:nvSpPr>
            <p:cNvPr id="243729" name="Rectangle 63">
              <a:extLst>
                <a:ext uri="{FF2B5EF4-FFF2-40B4-BE49-F238E27FC236}">
                  <a16:creationId xmlns:a16="http://schemas.microsoft.com/office/drawing/2014/main" id="{C60018A1-CC24-0A43-8BDA-32EDDAB0351C}"/>
                </a:ext>
              </a:extLst>
            </p:cNvPr>
            <p:cNvSpPr>
              <a:spLocks noChangeArrowheads="1"/>
            </p:cNvSpPr>
            <p:nvPr/>
          </p:nvSpPr>
          <p:spPr bwMode="auto">
            <a:xfrm>
              <a:off x="2754" y="3422"/>
              <a:ext cx="307" cy="192"/>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3730" name="Rectangle 64">
              <a:extLst>
                <a:ext uri="{FF2B5EF4-FFF2-40B4-BE49-F238E27FC236}">
                  <a16:creationId xmlns:a16="http://schemas.microsoft.com/office/drawing/2014/main" id="{6AEFC612-CC5D-C243-999F-4DB68D3F8193}"/>
                </a:ext>
              </a:extLst>
            </p:cNvPr>
            <p:cNvSpPr>
              <a:spLocks noChangeArrowheads="1"/>
            </p:cNvSpPr>
            <p:nvPr/>
          </p:nvSpPr>
          <p:spPr bwMode="auto">
            <a:xfrm>
              <a:off x="2754"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6</a:t>
              </a:r>
            </a:p>
          </p:txBody>
        </p:sp>
        <p:sp>
          <p:nvSpPr>
            <p:cNvPr id="33858" name="Rectangle 66">
              <a:extLst>
                <a:ext uri="{FF2B5EF4-FFF2-40B4-BE49-F238E27FC236}">
                  <a16:creationId xmlns:a16="http://schemas.microsoft.com/office/drawing/2014/main" id="{46D14576-381E-9340-9A8A-7D70A0EF1924}"/>
                </a:ext>
              </a:extLst>
            </p:cNvPr>
            <p:cNvSpPr>
              <a:spLocks noChangeArrowheads="1"/>
            </p:cNvSpPr>
            <p:nvPr/>
          </p:nvSpPr>
          <p:spPr bwMode="auto">
            <a:xfrm>
              <a:off x="3061" y="3422"/>
              <a:ext cx="307" cy="193"/>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32" name="Rectangle 67">
              <a:extLst>
                <a:ext uri="{FF2B5EF4-FFF2-40B4-BE49-F238E27FC236}">
                  <a16:creationId xmlns:a16="http://schemas.microsoft.com/office/drawing/2014/main" id="{017F974E-2FBF-2440-B76A-4252866D9D75}"/>
                </a:ext>
              </a:extLst>
            </p:cNvPr>
            <p:cNvSpPr>
              <a:spLocks noChangeArrowheads="1"/>
            </p:cNvSpPr>
            <p:nvPr/>
          </p:nvSpPr>
          <p:spPr bwMode="auto">
            <a:xfrm>
              <a:off x="3061"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5</a:t>
              </a:r>
            </a:p>
          </p:txBody>
        </p:sp>
        <p:sp>
          <p:nvSpPr>
            <p:cNvPr id="33861" name="Rectangle 69">
              <a:extLst>
                <a:ext uri="{FF2B5EF4-FFF2-40B4-BE49-F238E27FC236}">
                  <a16:creationId xmlns:a16="http://schemas.microsoft.com/office/drawing/2014/main" id="{C7FD8EF9-0D6C-8445-9A85-84F7CF262C58}"/>
                </a:ext>
              </a:extLst>
            </p:cNvPr>
            <p:cNvSpPr>
              <a:spLocks noChangeArrowheads="1"/>
            </p:cNvSpPr>
            <p:nvPr/>
          </p:nvSpPr>
          <p:spPr bwMode="auto">
            <a:xfrm>
              <a:off x="3368" y="3422"/>
              <a:ext cx="307" cy="193"/>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34" name="Rectangle 70">
              <a:extLst>
                <a:ext uri="{FF2B5EF4-FFF2-40B4-BE49-F238E27FC236}">
                  <a16:creationId xmlns:a16="http://schemas.microsoft.com/office/drawing/2014/main" id="{3E2680C5-8D67-D449-ADE6-8545423BD08B}"/>
                </a:ext>
              </a:extLst>
            </p:cNvPr>
            <p:cNvSpPr>
              <a:spLocks noChangeArrowheads="1"/>
            </p:cNvSpPr>
            <p:nvPr/>
          </p:nvSpPr>
          <p:spPr bwMode="auto">
            <a:xfrm>
              <a:off x="3368"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4</a:t>
              </a:r>
            </a:p>
          </p:txBody>
        </p:sp>
        <p:sp>
          <p:nvSpPr>
            <p:cNvPr id="33864" name="Rectangle 72">
              <a:extLst>
                <a:ext uri="{FF2B5EF4-FFF2-40B4-BE49-F238E27FC236}">
                  <a16:creationId xmlns:a16="http://schemas.microsoft.com/office/drawing/2014/main" id="{E4DEA32A-FB16-6A4B-A737-A17214770369}"/>
                </a:ext>
              </a:extLst>
            </p:cNvPr>
            <p:cNvSpPr>
              <a:spLocks noChangeArrowheads="1"/>
            </p:cNvSpPr>
            <p:nvPr/>
          </p:nvSpPr>
          <p:spPr bwMode="auto">
            <a:xfrm>
              <a:off x="3675" y="3422"/>
              <a:ext cx="308" cy="193"/>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36" name="Rectangle 73">
              <a:extLst>
                <a:ext uri="{FF2B5EF4-FFF2-40B4-BE49-F238E27FC236}">
                  <a16:creationId xmlns:a16="http://schemas.microsoft.com/office/drawing/2014/main" id="{A7655BBB-4D8D-C348-AA1B-E99513A7036B}"/>
                </a:ext>
              </a:extLst>
            </p:cNvPr>
            <p:cNvSpPr>
              <a:spLocks noChangeArrowheads="1"/>
            </p:cNvSpPr>
            <p:nvPr/>
          </p:nvSpPr>
          <p:spPr bwMode="auto">
            <a:xfrm>
              <a:off x="3675"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3</a:t>
              </a:r>
            </a:p>
          </p:txBody>
        </p:sp>
        <p:sp>
          <p:nvSpPr>
            <p:cNvPr id="33867" name="Rectangle 75">
              <a:extLst>
                <a:ext uri="{FF2B5EF4-FFF2-40B4-BE49-F238E27FC236}">
                  <a16:creationId xmlns:a16="http://schemas.microsoft.com/office/drawing/2014/main" id="{D8832537-E6D0-8B48-ABF7-1029325CE12B}"/>
                </a:ext>
              </a:extLst>
            </p:cNvPr>
            <p:cNvSpPr>
              <a:spLocks noChangeArrowheads="1"/>
            </p:cNvSpPr>
            <p:nvPr/>
          </p:nvSpPr>
          <p:spPr bwMode="auto">
            <a:xfrm>
              <a:off x="3982" y="3422"/>
              <a:ext cx="307" cy="193"/>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38" name="Rectangle 76">
              <a:extLst>
                <a:ext uri="{FF2B5EF4-FFF2-40B4-BE49-F238E27FC236}">
                  <a16:creationId xmlns:a16="http://schemas.microsoft.com/office/drawing/2014/main" id="{927B81BB-328C-0C4C-B163-6776CD8C4AB8}"/>
                </a:ext>
              </a:extLst>
            </p:cNvPr>
            <p:cNvSpPr>
              <a:spLocks noChangeArrowheads="1"/>
            </p:cNvSpPr>
            <p:nvPr/>
          </p:nvSpPr>
          <p:spPr bwMode="auto">
            <a:xfrm>
              <a:off x="3982"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2</a:t>
              </a:r>
            </a:p>
          </p:txBody>
        </p:sp>
        <p:sp>
          <p:nvSpPr>
            <p:cNvPr id="33870" name="Rectangle 78">
              <a:extLst>
                <a:ext uri="{FF2B5EF4-FFF2-40B4-BE49-F238E27FC236}">
                  <a16:creationId xmlns:a16="http://schemas.microsoft.com/office/drawing/2014/main" id="{DC650B3E-6BFC-F945-AD2F-6C202997D474}"/>
                </a:ext>
              </a:extLst>
            </p:cNvPr>
            <p:cNvSpPr>
              <a:spLocks noChangeArrowheads="1"/>
            </p:cNvSpPr>
            <p:nvPr/>
          </p:nvSpPr>
          <p:spPr bwMode="auto">
            <a:xfrm>
              <a:off x="4289" y="3422"/>
              <a:ext cx="307" cy="193"/>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40" name="Rectangle 79">
              <a:extLst>
                <a:ext uri="{FF2B5EF4-FFF2-40B4-BE49-F238E27FC236}">
                  <a16:creationId xmlns:a16="http://schemas.microsoft.com/office/drawing/2014/main" id="{1EE6A918-009F-204E-BD7B-77AE95306BEF}"/>
                </a:ext>
              </a:extLst>
            </p:cNvPr>
            <p:cNvSpPr>
              <a:spLocks noChangeArrowheads="1"/>
            </p:cNvSpPr>
            <p:nvPr/>
          </p:nvSpPr>
          <p:spPr bwMode="auto">
            <a:xfrm>
              <a:off x="4289"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a:t>
              </a:r>
            </a:p>
          </p:txBody>
        </p:sp>
        <p:sp>
          <p:nvSpPr>
            <p:cNvPr id="33873" name="Rectangle 81">
              <a:extLst>
                <a:ext uri="{FF2B5EF4-FFF2-40B4-BE49-F238E27FC236}">
                  <a16:creationId xmlns:a16="http://schemas.microsoft.com/office/drawing/2014/main" id="{B581655A-07EF-E34F-BECF-2EF7B8A81EDB}"/>
                </a:ext>
              </a:extLst>
            </p:cNvPr>
            <p:cNvSpPr>
              <a:spLocks noChangeArrowheads="1"/>
            </p:cNvSpPr>
            <p:nvPr/>
          </p:nvSpPr>
          <p:spPr bwMode="auto">
            <a:xfrm>
              <a:off x="4596" y="3422"/>
              <a:ext cx="308" cy="193"/>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3742" name="Rectangle 82">
              <a:extLst>
                <a:ext uri="{FF2B5EF4-FFF2-40B4-BE49-F238E27FC236}">
                  <a16:creationId xmlns:a16="http://schemas.microsoft.com/office/drawing/2014/main" id="{B24A6F2F-F110-084E-BF83-17D874B79481}"/>
                </a:ext>
              </a:extLst>
            </p:cNvPr>
            <p:cNvSpPr>
              <a:spLocks noChangeArrowheads="1"/>
            </p:cNvSpPr>
            <p:nvPr/>
          </p:nvSpPr>
          <p:spPr bwMode="auto">
            <a:xfrm>
              <a:off x="4596" y="323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0</a:t>
              </a:r>
            </a:p>
          </p:txBody>
        </p:sp>
        <p:grpSp>
          <p:nvGrpSpPr>
            <p:cNvPr id="243743" name="Group 86">
              <a:extLst>
                <a:ext uri="{FF2B5EF4-FFF2-40B4-BE49-F238E27FC236}">
                  <a16:creationId xmlns:a16="http://schemas.microsoft.com/office/drawing/2014/main" id="{56262D08-FC5E-1C4F-B6B8-A8CF1C40BF2E}"/>
                </a:ext>
              </a:extLst>
            </p:cNvPr>
            <p:cNvGrpSpPr>
              <a:grpSpLocks/>
            </p:cNvGrpSpPr>
            <p:nvPr/>
          </p:nvGrpSpPr>
          <p:grpSpPr bwMode="auto">
            <a:xfrm>
              <a:off x="3072" y="3663"/>
              <a:ext cx="1842" cy="150"/>
              <a:chOff x="3072" y="3313"/>
              <a:chExt cx="1842" cy="150"/>
            </a:xfrm>
          </p:grpSpPr>
          <p:sp>
            <p:nvSpPr>
              <p:cNvPr id="243749" name="Line 87">
                <a:extLst>
                  <a:ext uri="{FF2B5EF4-FFF2-40B4-BE49-F238E27FC236}">
                    <a16:creationId xmlns:a16="http://schemas.microsoft.com/office/drawing/2014/main" id="{601EEFEF-3705-4940-A97A-1542EF413690}"/>
                  </a:ext>
                </a:extLst>
              </p:cNvPr>
              <p:cNvSpPr>
                <a:spLocks noChangeShapeType="1"/>
              </p:cNvSpPr>
              <p:nvPr/>
            </p:nvSpPr>
            <p:spPr bwMode="auto">
              <a:xfrm>
                <a:off x="3072" y="3403"/>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3750" name="Text Box 88">
                <a:extLst>
                  <a:ext uri="{FF2B5EF4-FFF2-40B4-BE49-F238E27FC236}">
                    <a16:creationId xmlns:a16="http://schemas.microsoft.com/office/drawing/2014/main" id="{8CA06ECC-31C9-6744-8C65-0682AE378051}"/>
                  </a:ext>
                </a:extLst>
              </p:cNvPr>
              <p:cNvSpPr txBox="1">
                <a:spLocks noChangeArrowheads="1"/>
              </p:cNvSpPr>
              <p:nvPr/>
            </p:nvSpPr>
            <p:spPr bwMode="auto">
              <a:xfrm>
                <a:off x="3779" y="3313"/>
                <a:ext cx="325" cy="15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PPO</a:t>
                </a:r>
              </a:p>
            </p:txBody>
          </p:sp>
        </p:grpSp>
        <p:grpSp>
          <p:nvGrpSpPr>
            <p:cNvPr id="243744" name="Group 89">
              <a:extLst>
                <a:ext uri="{FF2B5EF4-FFF2-40B4-BE49-F238E27FC236}">
                  <a16:creationId xmlns:a16="http://schemas.microsoft.com/office/drawing/2014/main" id="{9D4C18E7-48D8-CB43-AF83-0BE0E234A6AA}"/>
                </a:ext>
              </a:extLst>
            </p:cNvPr>
            <p:cNvGrpSpPr>
              <a:grpSpLocks/>
            </p:cNvGrpSpPr>
            <p:nvPr/>
          </p:nvGrpSpPr>
          <p:grpSpPr bwMode="auto">
            <a:xfrm>
              <a:off x="1248" y="3663"/>
              <a:ext cx="1842" cy="150"/>
              <a:chOff x="1248" y="3313"/>
              <a:chExt cx="1842" cy="150"/>
            </a:xfrm>
          </p:grpSpPr>
          <p:sp>
            <p:nvSpPr>
              <p:cNvPr id="243747" name="Line 90">
                <a:extLst>
                  <a:ext uri="{FF2B5EF4-FFF2-40B4-BE49-F238E27FC236}">
                    <a16:creationId xmlns:a16="http://schemas.microsoft.com/office/drawing/2014/main" id="{F1E8815C-415E-6144-80E0-5378C90CAD0F}"/>
                  </a:ext>
                </a:extLst>
              </p:cNvPr>
              <p:cNvSpPr>
                <a:spLocks noChangeShapeType="1"/>
              </p:cNvSpPr>
              <p:nvPr/>
            </p:nvSpPr>
            <p:spPr bwMode="auto">
              <a:xfrm>
                <a:off x="1248" y="3403"/>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3748" name="Text Box 91">
                <a:extLst>
                  <a:ext uri="{FF2B5EF4-FFF2-40B4-BE49-F238E27FC236}">
                    <a16:creationId xmlns:a16="http://schemas.microsoft.com/office/drawing/2014/main" id="{C34FA13D-99C5-604E-8154-C80472910A5A}"/>
                  </a:ext>
                </a:extLst>
              </p:cNvPr>
              <p:cNvSpPr txBox="1">
                <a:spLocks noChangeArrowheads="1"/>
              </p:cNvSpPr>
              <p:nvPr/>
            </p:nvSpPr>
            <p:spPr bwMode="auto">
              <a:xfrm>
                <a:off x="1955" y="3313"/>
                <a:ext cx="328" cy="15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PPN</a:t>
                </a:r>
              </a:p>
            </p:txBody>
          </p:sp>
        </p:grpSp>
        <p:sp>
          <p:nvSpPr>
            <p:cNvPr id="243745" name="Text Box 97">
              <a:extLst>
                <a:ext uri="{FF2B5EF4-FFF2-40B4-BE49-F238E27FC236}">
                  <a16:creationId xmlns:a16="http://schemas.microsoft.com/office/drawing/2014/main" id="{10B83557-A696-0347-B94D-8C4A4A40FCD7}"/>
                </a:ext>
              </a:extLst>
            </p:cNvPr>
            <p:cNvSpPr txBox="1">
              <a:spLocks noChangeArrowheads="1"/>
            </p:cNvSpPr>
            <p:nvPr/>
          </p:nvSpPr>
          <p:spPr bwMode="auto">
            <a:xfrm>
              <a:off x="1388" y="3882"/>
              <a:ext cx="1442"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Physical</a:t>
              </a:r>
              <a:r>
                <a:rPr lang="en-GB" altLang="zh-CN" sz="1800" b="1">
                  <a:solidFill>
                    <a:schemeClr val="accent2"/>
                  </a:solidFill>
                  <a:latin typeface="Calibri" panose="020F0502020204030204" pitchFamily="34" charset="0"/>
                  <a:ea typeface="宋体" panose="02010600030101010101" pitchFamily="2" charset="-122"/>
                </a:rPr>
                <a:t> </a:t>
              </a:r>
              <a:r>
                <a:rPr lang="en-GB" altLang="zh-CN" sz="1800" b="1">
                  <a:solidFill>
                    <a:schemeClr val="accent2"/>
                  </a:solidFill>
                  <a:latin typeface="微软雅黑" panose="020B0503020204020204" pitchFamily="34" charset="-122"/>
                  <a:ea typeface="微软雅黑" panose="020B0503020204020204" pitchFamily="34" charset="-122"/>
                </a:rPr>
                <a:t>Page</a:t>
              </a:r>
              <a:r>
                <a:rPr lang="en-GB" altLang="zh-CN" sz="1800" b="1">
                  <a:solidFill>
                    <a:schemeClr val="accent2"/>
                  </a:solidFill>
                  <a:latin typeface="Calibri" panose="020F0502020204030204" pitchFamily="34" charset="0"/>
                  <a:ea typeface="宋体" panose="02010600030101010101" pitchFamily="2" charset="-122"/>
                </a:rPr>
                <a:t> </a:t>
              </a:r>
              <a:r>
                <a:rPr lang="en-GB" altLang="zh-CN" sz="1800" b="1">
                  <a:solidFill>
                    <a:schemeClr val="accent2"/>
                  </a:solidFill>
                  <a:latin typeface="微软雅黑" panose="020B0503020204020204" pitchFamily="34" charset="-122"/>
                  <a:ea typeface="微软雅黑" panose="020B0503020204020204" pitchFamily="34" charset="-122"/>
                </a:rPr>
                <a:t>Number</a:t>
              </a:r>
            </a:p>
          </p:txBody>
        </p:sp>
        <p:sp>
          <p:nvSpPr>
            <p:cNvPr id="243746" name="Text Box 98">
              <a:extLst>
                <a:ext uri="{FF2B5EF4-FFF2-40B4-BE49-F238E27FC236}">
                  <a16:creationId xmlns:a16="http://schemas.microsoft.com/office/drawing/2014/main" id="{E296A423-6F11-EC43-9E35-3D1EE99D68AE}"/>
                </a:ext>
              </a:extLst>
            </p:cNvPr>
            <p:cNvSpPr txBox="1">
              <a:spLocks noChangeArrowheads="1"/>
            </p:cNvSpPr>
            <p:nvPr/>
          </p:nvSpPr>
          <p:spPr bwMode="auto">
            <a:xfrm>
              <a:off x="3345" y="3902"/>
              <a:ext cx="1219"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75"/>
                </a:spcBef>
              </a:pPr>
              <a:r>
                <a:rPr lang="en-GB" altLang="zh-CN" sz="1800" b="1">
                  <a:solidFill>
                    <a:schemeClr val="accent2"/>
                  </a:solidFill>
                  <a:latin typeface="微软雅黑" panose="020B0503020204020204" pitchFamily="34" charset="-122"/>
                  <a:ea typeface="微软雅黑" panose="020B0503020204020204" pitchFamily="34" charset="-122"/>
                </a:rPr>
                <a:t>Physical Page</a:t>
              </a:r>
              <a:r>
                <a:rPr lang="en-GB" altLang="zh-CN" sz="1800" b="1">
                  <a:solidFill>
                    <a:schemeClr val="accent2"/>
                  </a:solidFill>
                  <a:latin typeface="Calibri" panose="020F0502020204030204" pitchFamily="34" charset="0"/>
                  <a:ea typeface="宋体" panose="02010600030101010101" pitchFamily="2" charset="-122"/>
                </a:rPr>
                <a:t> </a:t>
              </a:r>
              <a:r>
                <a:rPr lang="en-GB" altLang="zh-CN" sz="1800" b="1">
                  <a:solidFill>
                    <a:schemeClr val="accent2"/>
                  </a:solidFill>
                  <a:latin typeface="微软雅黑" panose="020B0503020204020204" pitchFamily="34" charset="-122"/>
                  <a:ea typeface="微软雅黑" panose="020B0503020204020204" pitchFamily="34" charset="-122"/>
                </a:rPr>
                <a:t>Offset</a:t>
              </a:r>
            </a:p>
          </p:txBody>
        </p:sp>
      </p:grpSp>
      <p:sp>
        <p:nvSpPr>
          <p:cNvPr id="740426" name="Text Box 74">
            <a:extLst>
              <a:ext uri="{FF2B5EF4-FFF2-40B4-BE49-F238E27FC236}">
                <a16:creationId xmlns:a16="http://schemas.microsoft.com/office/drawing/2014/main" id="{9CF3D1F4-FF4F-6F47-8AE3-2BB3D8D85417}"/>
              </a:ext>
            </a:extLst>
          </p:cNvPr>
          <p:cNvSpPr txBox="1">
            <a:spLocks noChangeArrowheads="1"/>
          </p:cNvSpPr>
          <p:nvPr/>
        </p:nvSpPr>
        <p:spPr bwMode="auto">
          <a:xfrm>
            <a:off x="6677025" y="1479550"/>
            <a:ext cx="203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solidFill>
                  <a:srgbClr val="006600"/>
                </a:solidFill>
                <a:latin typeface="微软雅黑" panose="020B0503020204020204" pitchFamily="34" charset="-122"/>
                <a:ea typeface="微软雅黑" panose="020B0503020204020204" pitchFamily="34" charset="-122"/>
              </a:rPr>
              <a:t>页表项数应为：</a:t>
            </a:r>
            <a:r>
              <a:rPr lang="en-US" altLang="zh-CN" sz="2000" b="1">
                <a:solidFill>
                  <a:srgbClr val="006600"/>
                </a:solidFill>
                <a:latin typeface="微软雅黑" panose="020B0503020204020204" pitchFamily="34" charset="-122"/>
                <a:ea typeface="微软雅黑" panose="020B0503020204020204" pitchFamily="34" charset="-122"/>
              </a:rPr>
              <a:t>2</a:t>
            </a:r>
            <a:r>
              <a:rPr lang="en-US" altLang="zh-CN" sz="2000" b="1" baseline="30000">
                <a:solidFill>
                  <a:srgbClr val="006600"/>
                </a:solidFill>
                <a:latin typeface="微软雅黑" panose="020B0503020204020204" pitchFamily="34" charset="-122"/>
                <a:ea typeface="微软雅黑" panose="020B0503020204020204" pitchFamily="34" charset="-122"/>
              </a:rPr>
              <a:t>14-6</a:t>
            </a:r>
            <a:r>
              <a:rPr lang="en-US" altLang="zh-CN" sz="2000" b="1">
                <a:solidFill>
                  <a:srgbClr val="006600"/>
                </a:solidFill>
                <a:latin typeface="微软雅黑" panose="020B0503020204020204" pitchFamily="34" charset="-122"/>
                <a:ea typeface="微软雅黑" panose="020B0503020204020204" pitchFamily="34" charset="-122"/>
              </a:rPr>
              <a:t>=256</a:t>
            </a:r>
            <a:endParaRPr lang="zh-CN" altLang="en-US" sz="2000" b="1">
              <a:solidFill>
                <a:srgbClr val="006600"/>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0426"/>
                                        </p:tgtEl>
                                        <p:attrNameLst>
                                          <p:attrName>style.visibility</p:attrName>
                                        </p:attrNameLst>
                                      </p:cBhvr>
                                      <p:to>
                                        <p:strVal val="visible"/>
                                      </p:to>
                                    </p:set>
                                    <p:animEffect transition="in" filter="blinds(horizontal)">
                                      <p:cBhvr>
                                        <p:cTn id="7" dur="500"/>
                                        <p:tgtEl>
                                          <p:spTgt spid="7404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40424"/>
                                        </p:tgtEl>
                                        <p:attrNameLst>
                                          <p:attrName>style.visibility</p:attrName>
                                        </p:attrNameLst>
                                      </p:cBhvr>
                                      <p:to>
                                        <p:strVal val="visible"/>
                                      </p:to>
                                    </p:set>
                                    <p:animEffect transition="in" filter="blinds(horizontal)">
                                      <p:cBhvr>
                                        <p:cTn id="12" dur="500"/>
                                        <p:tgtEl>
                                          <p:spTgt spid="7404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40425"/>
                                        </p:tgtEl>
                                        <p:attrNameLst>
                                          <p:attrName>style.visibility</p:attrName>
                                        </p:attrNameLst>
                                      </p:cBhvr>
                                      <p:to>
                                        <p:strVal val="visible"/>
                                      </p:to>
                                    </p:set>
                                    <p:animEffect transition="in" filter="blinds(horizontal)">
                                      <p:cBhvr>
                                        <p:cTn id="17" dur="500"/>
                                        <p:tgtEl>
                                          <p:spTgt spid="740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42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1">
            <a:extLst>
              <a:ext uri="{FF2B5EF4-FFF2-40B4-BE49-F238E27FC236}">
                <a16:creationId xmlns:a16="http://schemas.microsoft.com/office/drawing/2014/main" id="{73079D4C-E583-4849-B10B-2B298F78348B}"/>
              </a:ext>
            </a:extLst>
          </p:cNvPr>
          <p:cNvSpPr>
            <a:spLocks noGrp="1" noChangeArrowheads="1"/>
          </p:cNvSpPr>
          <p:nvPr>
            <p:ph type="title" idx="4294967295"/>
          </p:nvPr>
        </p:nvSpPr>
        <p:spPr>
          <a:xfrm>
            <a:off x="431800" y="119063"/>
            <a:ext cx="8110538" cy="569912"/>
          </a:xfrm>
        </p:spPr>
        <p:txBody>
          <a:bodyPr lIns="91440" tIns="45720" rIns="91440" bIns="45720" anchor="ctr"/>
          <a:lstStyle/>
          <a:p>
            <a: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a:t>一个简化的存储系统举例（续）</a:t>
            </a:r>
            <a:endParaRPr lang="en-GB" altLang="zh-CN"/>
          </a:p>
        </p:txBody>
      </p:sp>
      <p:grpSp>
        <p:nvGrpSpPr>
          <p:cNvPr id="245763" name="Group 88">
            <a:extLst>
              <a:ext uri="{FF2B5EF4-FFF2-40B4-BE49-F238E27FC236}">
                <a16:creationId xmlns:a16="http://schemas.microsoft.com/office/drawing/2014/main" id="{B290ED39-9641-4943-886A-36E9137F90ED}"/>
              </a:ext>
            </a:extLst>
          </p:cNvPr>
          <p:cNvGrpSpPr>
            <a:grpSpLocks/>
          </p:cNvGrpSpPr>
          <p:nvPr/>
        </p:nvGrpSpPr>
        <p:grpSpPr bwMode="auto">
          <a:xfrm>
            <a:off x="6230938" y="692150"/>
            <a:ext cx="2855912" cy="2655888"/>
            <a:chOff x="3021" y="2263"/>
            <a:chExt cx="1325" cy="1746"/>
          </a:xfrm>
        </p:grpSpPr>
        <p:sp>
          <p:nvSpPr>
            <p:cNvPr id="245939" name="Rectangle 4">
              <a:extLst>
                <a:ext uri="{FF2B5EF4-FFF2-40B4-BE49-F238E27FC236}">
                  <a16:creationId xmlns:a16="http://schemas.microsoft.com/office/drawing/2014/main" id="{2215FC5C-4332-5E4D-A1FB-46A4D315CE52}"/>
                </a:ext>
              </a:extLst>
            </p:cNvPr>
            <p:cNvSpPr>
              <a:spLocks noChangeArrowheads="1"/>
            </p:cNvSpPr>
            <p:nvPr/>
          </p:nvSpPr>
          <p:spPr bwMode="auto">
            <a:xfrm>
              <a:off x="3894" y="381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40" name="Rectangle 5">
              <a:extLst>
                <a:ext uri="{FF2B5EF4-FFF2-40B4-BE49-F238E27FC236}">
                  <a16:creationId xmlns:a16="http://schemas.microsoft.com/office/drawing/2014/main" id="{51883C41-C86C-9E42-A7B7-3C7B743884C3}"/>
                </a:ext>
              </a:extLst>
            </p:cNvPr>
            <p:cNvSpPr>
              <a:spLocks noChangeArrowheads="1"/>
            </p:cNvSpPr>
            <p:nvPr/>
          </p:nvSpPr>
          <p:spPr bwMode="auto">
            <a:xfrm>
              <a:off x="3458" y="381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0D</a:t>
              </a:r>
            </a:p>
          </p:txBody>
        </p:sp>
        <p:sp>
          <p:nvSpPr>
            <p:cNvPr id="245941" name="Rectangle 6">
              <a:extLst>
                <a:ext uri="{FF2B5EF4-FFF2-40B4-BE49-F238E27FC236}">
                  <a16:creationId xmlns:a16="http://schemas.microsoft.com/office/drawing/2014/main" id="{8729D4D0-0EBA-1546-AAFE-A3EE2391C8B2}"/>
                </a:ext>
              </a:extLst>
            </p:cNvPr>
            <p:cNvSpPr>
              <a:spLocks noChangeArrowheads="1"/>
            </p:cNvSpPr>
            <p:nvPr/>
          </p:nvSpPr>
          <p:spPr bwMode="auto">
            <a:xfrm>
              <a:off x="3021" y="3810"/>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02F</a:t>
              </a:r>
            </a:p>
          </p:txBody>
        </p:sp>
        <p:sp>
          <p:nvSpPr>
            <p:cNvPr id="245942" name="Rectangle 10">
              <a:extLst>
                <a:ext uri="{FF2B5EF4-FFF2-40B4-BE49-F238E27FC236}">
                  <a16:creationId xmlns:a16="http://schemas.microsoft.com/office/drawing/2014/main" id="{71E39106-F2D5-C04B-98AD-9FAE07AD1C98}"/>
                </a:ext>
              </a:extLst>
            </p:cNvPr>
            <p:cNvSpPr>
              <a:spLocks noChangeArrowheads="1"/>
            </p:cNvSpPr>
            <p:nvPr/>
          </p:nvSpPr>
          <p:spPr bwMode="auto">
            <a:xfrm>
              <a:off x="3894" y="3617"/>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43" name="Rectangle 11">
              <a:extLst>
                <a:ext uri="{FF2B5EF4-FFF2-40B4-BE49-F238E27FC236}">
                  <a16:creationId xmlns:a16="http://schemas.microsoft.com/office/drawing/2014/main" id="{25F9963F-01D0-0D47-B094-A848098AD3F1}"/>
                </a:ext>
              </a:extLst>
            </p:cNvPr>
            <p:cNvSpPr>
              <a:spLocks noChangeArrowheads="1"/>
            </p:cNvSpPr>
            <p:nvPr/>
          </p:nvSpPr>
          <p:spPr bwMode="auto">
            <a:xfrm>
              <a:off x="3458" y="3617"/>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11</a:t>
              </a:r>
            </a:p>
          </p:txBody>
        </p:sp>
        <p:sp>
          <p:nvSpPr>
            <p:cNvPr id="245944" name="Rectangle 12">
              <a:extLst>
                <a:ext uri="{FF2B5EF4-FFF2-40B4-BE49-F238E27FC236}">
                  <a16:creationId xmlns:a16="http://schemas.microsoft.com/office/drawing/2014/main" id="{69E1873B-3FD4-4648-A578-D3E4B4BC9C64}"/>
                </a:ext>
              </a:extLst>
            </p:cNvPr>
            <p:cNvSpPr>
              <a:spLocks noChangeArrowheads="1"/>
            </p:cNvSpPr>
            <p:nvPr/>
          </p:nvSpPr>
          <p:spPr bwMode="auto">
            <a:xfrm>
              <a:off x="3021" y="3617"/>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02E</a:t>
              </a:r>
            </a:p>
          </p:txBody>
        </p:sp>
        <p:sp>
          <p:nvSpPr>
            <p:cNvPr id="245945" name="Rectangle 16">
              <a:extLst>
                <a:ext uri="{FF2B5EF4-FFF2-40B4-BE49-F238E27FC236}">
                  <a16:creationId xmlns:a16="http://schemas.microsoft.com/office/drawing/2014/main" id="{5B199473-8AE2-AB41-B590-70547FCAC674}"/>
                </a:ext>
              </a:extLst>
            </p:cNvPr>
            <p:cNvSpPr>
              <a:spLocks noChangeArrowheads="1"/>
            </p:cNvSpPr>
            <p:nvPr/>
          </p:nvSpPr>
          <p:spPr bwMode="auto">
            <a:xfrm>
              <a:off x="3894" y="3424"/>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46" name="Rectangle 17">
              <a:extLst>
                <a:ext uri="{FF2B5EF4-FFF2-40B4-BE49-F238E27FC236}">
                  <a16:creationId xmlns:a16="http://schemas.microsoft.com/office/drawing/2014/main" id="{54490666-BDD6-D643-865C-7A36D631139E}"/>
                </a:ext>
              </a:extLst>
            </p:cNvPr>
            <p:cNvSpPr>
              <a:spLocks noChangeArrowheads="1"/>
            </p:cNvSpPr>
            <p:nvPr/>
          </p:nvSpPr>
          <p:spPr bwMode="auto">
            <a:xfrm>
              <a:off x="3458" y="3424"/>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2D</a:t>
              </a:r>
            </a:p>
          </p:txBody>
        </p:sp>
        <p:sp>
          <p:nvSpPr>
            <p:cNvPr id="245947" name="Rectangle 18">
              <a:extLst>
                <a:ext uri="{FF2B5EF4-FFF2-40B4-BE49-F238E27FC236}">
                  <a16:creationId xmlns:a16="http://schemas.microsoft.com/office/drawing/2014/main" id="{55AB3EE0-3BB4-4443-A1A0-7FDC8ECF8CD5}"/>
                </a:ext>
              </a:extLst>
            </p:cNvPr>
            <p:cNvSpPr>
              <a:spLocks noChangeArrowheads="1"/>
            </p:cNvSpPr>
            <p:nvPr/>
          </p:nvSpPr>
          <p:spPr bwMode="auto">
            <a:xfrm>
              <a:off x="3021" y="3424"/>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02D</a:t>
              </a:r>
            </a:p>
          </p:txBody>
        </p:sp>
        <p:sp>
          <p:nvSpPr>
            <p:cNvPr id="245948" name="Rectangle 22">
              <a:extLst>
                <a:ext uri="{FF2B5EF4-FFF2-40B4-BE49-F238E27FC236}">
                  <a16:creationId xmlns:a16="http://schemas.microsoft.com/office/drawing/2014/main" id="{661F0618-D5C0-B440-B6A1-2E90E9D063D9}"/>
                </a:ext>
              </a:extLst>
            </p:cNvPr>
            <p:cNvSpPr>
              <a:spLocks noChangeArrowheads="1"/>
            </p:cNvSpPr>
            <p:nvPr/>
          </p:nvSpPr>
          <p:spPr bwMode="auto">
            <a:xfrm>
              <a:off x="3894" y="323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a:t>
              </a:r>
            </a:p>
          </p:txBody>
        </p:sp>
        <p:sp>
          <p:nvSpPr>
            <p:cNvPr id="245949" name="Rectangle 23">
              <a:extLst>
                <a:ext uri="{FF2B5EF4-FFF2-40B4-BE49-F238E27FC236}">
                  <a16:creationId xmlns:a16="http://schemas.microsoft.com/office/drawing/2014/main" id="{B52174DE-E109-334E-A5BA-086D822EC186}"/>
                </a:ext>
              </a:extLst>
            </p:cNvPr>
            <p:cNvSpPr>
              <a:spLocks noChangeArrowheads="1"/>
            </p:cNvSpPr>
            <p:nvPr/>
          </p:nvSpPr>
          <p:spPr bwMode="auto">
            <a:xfrm>
              <a:off x="3458" y="323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a:t>
              </a:r>
            </a:p>
          </p:txBody>
        </p:sp>
        <p:sp>
          <p:nvSpPr>
            <p:cNvPr id="245950" name="Rectangle 24">
              <a:extLst>
                <a:ext uri="{FF2B5EF4-FFF2-40B4-BE49-F238E27FC236}">
                  <a16:creationId xmlns:a16="http://schemas.microsoft.com/office/drawing/2014/main" id="{7568AEB8-F40A-4548-A799-72394577865E}"/>
                </a:ext>
              </a:extLst>
            </p:cNvPr>
            <p:cNvSpPr>
              <a:spLocks noChangeArrowheads="1"/>
            </p:cNvSpPr>
            <p:nvPr/>
          </p:nvSpPr>
          <p:spPr bwMode="auto">
            <a:xfrm>
              <a:off x="3021" y="3230"/>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02C</a:t>
              </a:r>
            </a:p>
          </p:txBody>
        </p:sp>
        <p:sp>
          <p:nvSpPr>
            <p:cNvPr id="245951" name="Rectangle 28">
              <a:extLst>
                <a:ext uri="{FF2B5EF4-FFF2-40B4-BE49-F238E27FC236}">
                  <a16:creationId xmlns:a16="http://schemas.microsoft.com/office/drawing/2014/main" id="{32A9B676-C861-0A47-B48E-A54CC93C6C76}"/>
                </a:ext>
              </a:extLst>
            </p:cNvPr>
            <p:cNvSpPr>
              <a:spLocks noChangeArrowheads="1"/>
            </p:cNvSpPr>
            <p:nvPr/>
          </p:nvSpPr>
          <p:spPr bwMode="auto">
            <a:xfrm>
              <a:off x="3894" y="303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00B050"/>
                  </a:solidFill>
                  <a:latin typeface="微软雅黑" panose="020B0503020204020204" pitchFamily="34" charset="-122"/>
                  <a:ea typeface="微软雅黑" panose="020B0503020204020204" pitchFamily="34" charset="-122"/>
                </a:rPr>
                <a:t>0</a:t>
              </a:r>
            </a:p>
          </p:txBody>
        </p:sp>
        <p:sp>
          <p:nvSpPr>
            <p:cNvPr id="245952" name="Rectangle 29">
              <a:extLst>
                <a:ext uri="{FF2B5EF4-FFF2-40B4-BE49-F238E27FC236}">
                  <a16:creationId xmlns:a16="http://schemas.microsoft.com/office/drawing/2014/main" id="{9EE2E7AA-4F64-FC46-A1D5-C238105D94D2}"/>
                </a:ext>
              </a:extLst>
            </p:cNvPr>
            <p:cNvSpPr>
              <a:spLocks noChangeArrowheads="1"/>
            </p:cNvSpPr>
            <p:nvPr/>
          </p:nvSpPr>
          <p:spPr bwMode="auto">
            <a:xfrm>
              <a:off x="3458" y="303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a:t>
              </a:r>
            </a:p>
          </p:txBody>
        </p:sp>
        <p:sp>
          <p:nvSpPr>
            <p:cNvPr id="245953" name="Rectangle 30">
              <a:extLst>
                <a:ext uri="{FF2B5EF4-FFF2-40B4-BE49-F238E27FC236}">
                  <a16:creationId xmlns:a16="http://schemas.microsoft.com/office/drawing/2014/main" id="{431E5AC0-7861-0F49-AE4D-CA30051386EB}"/>
                </a:ext>
              </a:extLst>
            </p:cNvPr>
            <p:cNvSpPr>
              <a:spLocks noChangeArrowheads="1"/>
            </p:cNvSpPr>
            <p:nvPr/>
          </p:nvSpPr>
          <p:spPr bwMode="auto">
            <a:xfrm>
              <a:off x="3021" y="3036"/>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00B050"/>
                  </a:solidFill>
                  <a:latin typeface="微软雅黑" panose="020B0503020204020204" pitchFamily="34" charset="-122"/>
                  <a:ea typeface="微软雅黑" panose="020B0503020204020204" pitchFamily="34" charset="-122"/>
                </a:rPr>
                <a:t>02B</a:t>
              </a:r>
            </a:p>
          </p:txBody>
        </p:sp>
        <p:sp>
          <p:nvSpPr>
            <p:cNvPr id="245954" name="Rectangle 34">
              <a:extLst>
                <a:ext uri="{FF2B5EF4-FFF2-40B4-BE49-F238E27FC236}">
                  <a16:creationId xmlns:a16="http://schemas.microsoft.com/office/drawing/2014/main" id="{B21DFDE4-AFD8-9343-B2A8-9F2BEA81C204}"/>
                </a:ext>
              </a:extLst>
            </p:cNvPr>
            <p:cNvSpPr>
              <a:spLocks noChangeArrowheads="1"/>
            </p:cNvSpPr>
            <p:nvPr/>
          </p:nvSpPr>
          <p:spPr bwMode="auto">
            <a:xfrm>
              <a:off x="3894" y="2843"/>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55" name="Rectangle 35">
              <a:extLst>
                <a:ext uri="{FF2B5EF4-FFF2-40B4-BE49-F238E27FC236}">
                  <a16:creationId xmlns:a16="http://schemas.microsoft.com/office/drawing/2014/main" id="{315ACF84-137A-BD41-8F85-9686FAA3431B}"/>
                </a:ext>
              </a:extLst>
            </p:cNvPr>
            <p:cNvSpPr>
              <a:spLocks noChangeArrowheads="1"/>
            </p:cNvSpPr>
            <p:nvPr/>
          </p:nvSpPr>
          <p:spPr bwMode="auto">
            <a:xfrm>
              <a:off x="3458" y="2843"/>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09</a:t>
              </a:r>
            </a:p>
          </p:txBody>
        </p:sp>
        <p:sp>
          <p:nvSpPr>
            <p:cNvPr id="245956" name="Rectangle 36">
              <a:extLst>
                <a:ext uri="{FF2B5EF4-FFF2-40B4-BE49-F238E27FC236}">
                  <a16:creationId xmlns:a16="http://schemas.microsoft.com/office/drawing/2014/main" id="{6DC2F822-9229-AE4B-A61E-C2B76B0F733C}"/>
                </a:ext>
              </a:extLst>
            </p:cNvPr>
            <p:cNvSpPr>
              <a:spLocks noChangeArrowheads="1"/>
            </p:cNvSpPr>
            <p:nvPr/>
          </p:nvSpPr>
          <p:spPr bwMode="auto">
            <a:xfrm>
              <a:off x="3021" y="2843"/>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02A</a:t>
              </a:r>
            </a:p>
          </p:txBody>
        </p:sp>
        <p:sp>
          <p:nvSpPr>
            <p:cNvPr id="245957" name="Rectangle 40">
              <a:extLst>
                <a:ext uri="{FF2B5EF4-FFF2-40B4-BE49-F238E27FC236}">
                  <a16:creationId xmlns:a16="http://schemas.microsoft.com/office/drawing/2014/main" id="{B1EEBBD5-D0CF-CC48-92E3-5582CF26B7E1}"/>
                </a:ext>
              </a:extLst>
            </p:cNvPr>
            <p:cNvSpPr>
              <a:spLocks noChangeArrowheads="1"/>
            </p:cNvSpPr>
            <p:nvPr/>
          </p:nvSpPr>
          <p:spPr bwMode="auto">
            <a:xfrm>
              <a:off x="3894" y="265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58" name="Rectangle 41">
              <a:extLst>
                <a:ext uri="{FF2B5EF4-FFF2-40B4-BE49-F238E27FC236}">
                  <a16:creationId xmlns:a16="http://schemas.microsoft.com/office/drawing/2014/main" id="{00AFEC58-4436-BE48-9C42-C002D4C17DA3}"/>
                </a:ext>
              </a:extLst>
            </p:cNvPr>
            <p:cNvSpPr>
              <a:spLocks noChangeArrowheads="1"/>
            </p:cNvSpPr>
            <p:nvPr/>
          </p:nvSpPr>
          <p:spPr bwMode="auto">
            <a:xfrm>
              <a:off x="3458" y="265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17</a:t>
              </a:r>
            </a:p>
          </p:txBody>
        </p:sp>
        <p:sp>
          <p:nvSpPr>
            <p:cNvPr id="245959" name="Rectangle 42">
              <a:extLst>
                <a:ext uri="{FF2B5EF4-FFF2-40B4-BE49-F238E27FC236}">
                  <a16:creationId xmlns:a16="http://schemas.microsoft.com/office/drawing/2014/main" id="{B28760A2-73F5-A64E-9291-71DF3997C142}"/>
                </a:ext>
              </a:extLst>
            </p:cNvPr>
            <p:cNvSpPr>
              <a:spLocks noChangeArrowheads="1"/>
            </p:cNvSpPr>
            <p:nvPr/>
          </p:nvSpPr>
          <p:spPr bwMode="auto">
            <a:xfrm>
              <a:off x="3021" y="2650"/>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029</a:t>
              </a:r>
            </a:p>
          </p:txBody>
        </p:sp>
        <p:sp>
          <p:nvSpPr>
            <p:cNvPr id="245960" name="Rectangle 46">
              <a:extLst>
                <a:ext uri="{FF2B5EF4-FFF2-40B4-BE49-F238E27FC236}">
                  <a16:creationId xmlns:a16="http://schemas.microsoft.com/office/drawing/2014/main" id="{DE140D2F-F268-E84B-AB46-003134E89EEE}"/>
                </a:ext>
              </a:extLst>
            </p:cNvPr>
            <p:cNvSpPr>
              <a:spLocks noChangeArrowheads="1"/>
            </p:cNvSpPr>
            <p:nvPr/>
          </p:nvSpPr>
          <p:spPr bwMode="auto">
            <a:xfrm>
              <a:off x="3894" y="245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61" name="Rectangle 47">
              <a:extLst>
                <a:ext uri="{FF2B5EF4-FFF2-40B4-BE49-F238E27FC236}">
                  <a16:creationId xmlns:a16="http://schemas.microsoft.com/office/drawing/2014/main" id="{CE703A7F-856B-8E43-BD5E-664DCFA90673}"/>
                </a:ext>
              </a:extLst>
            </p:cNvPr>
            <p:cNvSpPr>
              <a:spLocks noChangeArrowheads="1"/>
            </p:cNvSpPr>
            <p:nvPr/>
          </p:nvSpPr>
          <p:spPr bwMode="auto">
            <a:xfrm>
              <a:off x="3458" y="245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13</a:t>
              </a:r>
            </a:p>
          </p:txBody>
        </p:sp>
        <p:sp>
          <p:nvSpPr>
            <p:cNvPr id="245962" name="Rectangle 48">
              <a:extLst>
                <a:ext uri="{FF2B5EF4-FFF2-40B4-BE49-F238E27FC236}">
                  <a16:creationId xmlns:a16="http://schemas.microsoft.com/office/drawing/2014/main" id="{D65401D7-0DD5-8D48-B056-EF148A98FB02}"/>
                </a:ext>
              </a:extLst>
            </p:cNvPr>
            <p:cNvSpPr>
              <a:spLocks noChangeArrowheads="1"/>
            </p:cNvSpPr>
            <p:nvPr/>
          </p:nvSpPr>
          <p:spPr bwMode="auto">
            <a:xfrm>
              <a:off x="3021" y="2456"/>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028</a:t>
              </a:r>
            </a:p>
          </p:txBody>
        </p:sp>
        <p:sp>
          <p:nvSpPr>
            <p:cNvPr id="34868" name="Rectangle 52">
              <a:extLst>
                <a:ext uri="{FF2B5EF4-FFF2-40B4-BE49-F238E27FC236}">
                  <a16:creationId xmlns:a16="http://schemas.microsoft.com/office/drawing/2014/main" id="{DECF92C0-ACDC-6446-8905-BFB689985E60}"/>
                </a:ext>
              </a:extLst>
            </p:cNvPr>
            <p:cNvSpPr>
              <a:spLocks noChangeArrowheads="1"/>
            </p:cNvSpPr>
            <p:nvPr/>
          </p:nvSpPr>
          <p:spPr bwMode="auto">
            <a:xfrm>
              <a:off x="3894" y="2263"/>
              <a:ext cx="436" cy="193"/>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1000"/>
                </a:spcBef>
                <a:defRPr/>
              </a:pPr>
              <a:r>
                <a:rPr lang="en-GB" altLang="zh-CN" sz="1800" b="1" i="1">
                  <a:solidFill>
                    <a:srgbClr val="990000"/>
                  </a:solidFill>
                  <a:latin typeface="微软雅黑" panose="020B0503020204020204" pitchFamily="34" charset="-122"/>
                  <a:ea typeface="微软雅黑" panose="020B0503020204020204" pitchFamily="34" charset="-122"/>
                </a:rPr>
                <a:t>Valid</a:t>
              </a:r>
            </a:p>
          </p:txBody>
        </p:sp>
        <p:sp>
          <p:nvSpPr>
            <p:cNvPr id="34869" name="Rectangle 53">
              <a:extLst>
                <a:ext uri="{FF2B5EF4-FFF2-40B4-BE49-F238E27FC236}">
                  <a16:creationId xmlns:a16="http://schemas.microsoft.com/office/drawing/2014/main" id="{6FEB679A-08A8-F843-B183-4AC37C1A0FFC}"/>
                </a:ext>
              </a:extLst>
            </p:cNvPr>
            <p:cNvSpPr>
              <a:spLocks noChangeArrowheads="1"/>
            </p:cNvSpPr>
            <p:nvPr/>
          </p:nvSpPr>
          <p:spPr bwMode="auto">
            <a:xfrm>
              <a:off x="3458" y="2263"/>
              <a:ext cx="436" cy="193"/>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1000"/>
                </a:spcBef>
                <a:defRPr/>
              </a:pPr>
              <a:r>
                <a:rPr lang="en-GB" altLang="zh-CN" sz="1800" b="1" i="1">
                  <a:solidFill>
                    <a:srgbClr val="990000"/>
                  </a:solidFill>
                  <a:latin typeface="微软雅黑" panose="020B0503020204020204" pitchFamily="34" charset="-122"/>
                  <a:ea typeface="微软雅黑" panose="020B0503020204020204" pitchFamily="34" charset="-122"/>
                </a:rPr>
                <a:t>PPN</a:t>
              </a:r>
            </a:p>
          </p:txBody>
        </p:sp>
        <p:sp>
          <p:nvSpPr>
            <p:cNvPr id="34870" name="Rectangle 54">
              <a:extLst>
                <a:ext uri="{FF2B5EF4-FFF2-40B4-BE49-F238E27FC236}">
                  <a16:creationId xmlns:a16="http://schemas.microsoft.com/office/drawing/2014/main" id="{DAB100FF-21C7-E546-B43C-B2442CB68EF0}"/>
                </a:ext>
              </a:extLst>
            </p:cNvPr>
            <p:cNvSpPr>
              <a:spLocks noChangeArrowheads="1"/>
            </p:cNvSpPr>
            <p:nvPr/>
          </p:nvSpPr>
          <p:spPr bwMode="auto">
            <a:xfrm>
              <a:off x="3021" y="2263"/>
              <a:ext cx="437" cy="193"/>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1000"/>
                </a:spcBef>
                <a:defRPr/>
              </a:pPr>
              <a:r>
                <a:rPr lang="en-GB" altLang="zh-CN" sz="1800" b="1" i="1">
                  <a:solidFill>
                    <a:srgbClr val="990000"/>
                  </a:solidFill>
                  <a:latin typeface="微软雅黑" panose="020B0503020204020204" pitchFamily="34" charset="-122"/>
                  <a:ea typeface="微软雅黑" panose="020B0503020204020204" pitchFamily="34" charset="-122"/>
                </a:rPr>
                <a:t>VPN</a:t>
              </a:r>
            </a:p>
          </p:txBody>
        </p:sp>
        <p:sp>
          <p:nvSpPr>
            <p:cNvPr id="245966" name="Line 58">
              <a:extLst>
                <a:ext uri="{FF2B5EF4-FFF2-40B4-BE49-F238E27FC236}">
                  <a16:creationId xmlns:a16="http://schemas.microsoft.com/office/drawing/2014/main" id="{6DC37B52-CEAA-764D-9830-01F7F2314A11}"/>
                </a:ext>
              </a:extLst>
            </p:cNvPr>
            <p:cNvSpPr>
              <a:spLocks noChangeShapeType="1"/>
            </p:cNvSpPr>
            <p:nvPr/>
          </p:nvSpPr>
          <p:spPr bwMode="auto">
            <a:xfrm>
              <a:off x="3021" y="2456"/>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67" name="Line 59">
              <a:extLst>
                <a:ext uri="{FF2B5EF4-FFF2-40B4-BE49-F238E27FC236}">
                  <a16:creationId xmlns:a16="http://schemas.microsoft.com/office/drawing/2014/main" id="{4549C624-854B-9044-B0CC-D8FECC2DDDEE}"/>
                </a:ext>
              </a:extLst>
            </p:cNvPr>
            <p:cNvSpPr>
              <a:spLocks noChangeShapeType="1"/>
            </p:cNvSpPr>
            <p:nvPr/>
          </p:nvSpPr>
          <p:spPr bwMode="auto">
            <a:xfrm>
              <a:off x="3021" y="2650"/>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68" name="Line 60">
              <a:extLst>
                <a:ext uri="{FF2B5EF4-FFF2-40B4-BE49-F238E27FC236}">
                  <a16:creationId xmlns:a16="http://schemas.microsoft.com/office/drawing/2014/main" id="{91B9D07C-C75A-1548-BED8-BE932C99EEB5}"/>
                </a:ext>
              </a:extLst>
            </p:cNvPr>
            <p:cNvSpPr>
              <a:spLocks noChangeShapeType="1"/>
            </p:cNvSpPr>
            <p:nvPr/>
          </p:nvSpPr>
          <p:spPr bwMode="auto">
            <a:xfrm>
              <a:off x="3021" y="2845"/>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69" name="Line 61">
              <a:extLst>
                <a:ext uri="{FF2B5EF4-FFF2-40B4-BE49-F238E27FC236}">
                  <a16:creationId xmlns:a16="http://schemas.microsoft.com/office/drawing/2014/main" id="{8CA21AD6-EB16-2F42-A8A6-BA00F5CED7A1}"/>
                </a:ext>
              </a:extLst>
            </p:cNvPr>
            <p:cNvSpPr>
              <a:spLocks noChangeShapeType="1"/>
            </p:cNvSpPr>
            <p:nvPr/>
          </p:nvSpPr>
          <p:spPr bwMode="auto">
            <a:xfrm>
              <a:off x="3021" y="3036"/>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0" name="Line 62">
              <a:extLst>
                <a:ext uri="{FF2B5EF4-FFF2-40B4-BE49-F238E27FC236}">
                  <a16:creationId xmlns:a16="http://schemas.microsoft.com/office/drawing/2014/main" id="{CF1BD0A3-4688-BD48-A486-EE275101C6B0}"/>
                </a:ext>
              </a:extLst>
            </p:cNvPr>
            <p:cNvSpPr>
              <a:spLocks noChangeShapeType="1"/>
            </p:cNvSpPr>
            <p:nvPr/>
          </p:nvSpPr>
          <p:spPr bwMode="auto">
            <a:xfrm>
              <a:off x="3021" y="3230"/>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1" name="Line 63">
              <a:extLst>
                <a:ext uri="{FF2B5EF4-FFF2-40B4-BE49-F238E27FC236}">
                  <a16:creationId xmlns:a16="http://schemas.microsoft.com/office/drawing/2014/main" id="{902A60A8-99D6-B44F-8350-3102A1CF5C26}"/>
                </a:ext>
              </a:extLst>
            </p:cNvPr>
            <p:cNvSpPr>
              <a:spLocks noChangeShapeType="1"/>
            </p:cNvSpPr>
            <p:nvPr/>
          </p:nvSpPr>
          <p:spPr bwMode="auto">
            <a:xfrm>
              <a:off x="3021" y="3417"/>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2" name="Line 64">
              <a:extLst>
                <a:ext uri="{FF2B5EF4-FFF2-40B4-BE49-F238E27FC236}">
                  <a16:creationId xmlns:a16="http://schemas.microsoft.com/office/drawing/2014/main" id="{9B3DF654-CC43-1546-8704-3993C54FCD3E}"/>
                </a:ext>
              </a:extLst>
            </p:cNvPr>
            <p:cNvSpPr>
              <a:spLocks noChangeShapeType="1"/>
            </p:cNvSpPr>
            <p:nvPr/>
          </p:nvSpPr>
          <p:spPr bwMode="auto">
            <a:xfrm>
              <a:off x="3021" y="3617"/>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3" name="Line 65">
              <a:extLst>
                <a:ext uri="{FF2B5EF4-FFF2-40B4-BE49-F238E27FC236}">
                  <a16:creationId xmlns:a16="http://schemas.microsoft.com/office/drawing/2014/main" id="{269E07FB-9591-A145-955F-7761A3EB6703}"/>
                </a:ext>
              </a:extLst>
            </p:cNvPr>
            <p:cNvSpPr>
              <a:spLocks noChangeShapeType="1"/>
            </p:cNvSpPr>
            <p:nvPr/>
          </p:nvSpPr>
          <p:spPr bwMode="auto">
            <a:xfrm>
              <a:off x="3021" y="3810"/>
              <a:ext cx="1325"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4" name="Line 68">
              <a:extLst>
                <a:ext uri="{FF2B5EF4-FFF2-40B4-BE49-F238E27FC236}">
                  <a16:creationId xmlns:a16="http://schemas.microsoft.com/office/drawing/2014/main" id="{CE1E0DC3-1016-5044-9A29-1B271C68AD53}"/>
                </a:ext>
              </a:extLst>
            </p:cNvPr>
            <p:cNvSpPr>
              <a:spLocks noChangeShapeType="1"/>
            </p:cNvSpPr>
            <p:nvPr/>
          </p:nvSpPr>
          <p:spPr bwMode="auto">
            <a:xfrm>
              <a:off x="3458" y="2263"/>
              <a:ext cx="1" cy="174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5" name="Line 69">
              <a:extLst>
                <a:ext uri="{FF2B5EF4-FFF2-40B4-BE49-F238E27FC236}">
                  <a16:creationId xmlns:a16="http://schemas.microsoft.com/office/drawing/2014/main" id="{2A3207C3-8DE0-CE4B-98F9-2E1216F690CD}"/>
                </a:ext>
              </a:extLst>
            </p:cNvPr>
            <p:cNvSpPr>
              <a:spLocks noChangeShapeType="1"/>
            </p:cNvSpPr>
            <p:nvPr/>
          </p:nvSpPr>
          <p:spPr bwMode="auto">
            <a:xfrm>
              <a:off x="3894" y="2263"/>
              <a:ext cx="1" cy="174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6" name="Line 72">
              <a:extLst>
                <a:ext uri="{FF2B5EF4-FFF2-40B4-BE49-F238E27FC236}">
                  <a16:creationId xmlns:a16="http://schemas.microsoft.com/office/drawing/2014/main" id="{13AA107A-D8CB-8044-B3EF-3C6D382DA263}"/>
                </a:ext>
              </a:extLst>
            </p:cNvPr>
            <p:cNvSpPr>
              <a:spLocks noChangeShapeType="1"/>
            </p:cNvSpPr>
            <p:nvPr/>
          </p:nvSpPr>
          <p:spPr bwMode="auto">
            <a:xfrm>
              <a:off x="3021" y="2263"/>
              <a:ext cx="1325" cy="1"/>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7" name="Line 73">
              <a:extLst>
                <a:ext uri="{FF2B5EF4-FFF2-40B4-BE49-F238E27FC236}">
                  <a16:creationId xmlns:a16="http://schemas.microsoft.com/office/drawing/2014/main" id="{09398A82-9806-4542-85C0-A02608FC4C1B}"/>
                </a:ext>
              </a:extLst>
            </p:cNvPr>
            <p:cNvSpPr>
              <a:spLocks noChangeShapeType="1"/>
            </p:cNvSpPr>
            <p:nvPr/>
          </p:nvSpPr>
          <p:spPr bwMode="auto">
            <a:xfrm>
              <a:off x="4335" y="2263"/>
              <a:ext cx="1" cy="1741"/>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8" name="Line 74">
              <a:extLst>
                <a:ext uri="{FF2B5EF4-FFF2-40B4-BE49-F238E27FC236}">
                  <a16:creationId xmlns:a16="http://schemas.microsoft.com/office/drawing/2014/main" id="{EA54FC68-3500-B240-A1BB-BB2A0844D88E}"/>
                </a:ext>
              </a:extLst>
            </p:cNvPr>
            <p:cNvSpPr>
              <a:spLocks noChangeShapeType="1"/>
            </p:cNvSpPr>
            <p:nvPr/>
          </p:nvSpPr>
          <p:spPr bwMode="auto">
            <a:xfrm>
              <a:off x="3021" y="4004"/>
              <a:ext cx="1325" cy="1"/>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9" name="Line 73">
              <a:extLst>
                <a:ext uri="{FF2B5EF4-FFF2-40B4-BE49-F238E27FC236}">
                  <a16:creationId xmlns:a16="http://schemas.microsoft.com/office/drawing/2014/main" id="{FCA972D8-B7E3-6542-AEA2-58771987863E}"/>
                </a:ext>
              </a:extLst>
            </p:cNvPr>
            <p:cNvSpPr>
              <a:spLocks noChangeShapeType="1"/>
            </p:cNvSpPr>
            <p:nvPr/>
          </p:nvSpPr>
          <p:spPr bwMode="auto">
            <a:xfrm>
              <a:off x="3021" y="2268"/>
              <a:ext cx="1" cy="1741"/>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764" name="Group 87">
            <a:extLst>
              <a:ext uri="{FF2B5EF4-FFF2-40B4-BE49-F238E27FC236}">
                <a16:creationId xmlns:a16="http://schemas.microsoft.com/office/drawing/2014/main" id="{8C3BA3CB-556D-4942-B0A7-8D777F09D115}"/>
              </a:ext>
            </a:extLst>
          </p:cNvPr>
          <p:cNvGrpSpPr>
            <a:grpSpLocks/>
          </p:cNvGrpSpPr>
          <p:nvPr/>
        </p:nvGrpSpPr>
        <p:grpSpPr bwMode="auto">
          <a:xfrm>
            <a:off x="3284538" y="679450"/>
            <a:ext cx="2825750" cy="2659063"/>
            <a:chOff x="1245" y="2257"/>
            <a:chExt cx="1314" cy="1757"/>
          </a:xfrm>
        </p:grpSpPr>
        <p:sp>
          <p:nvSpPr>
            <p:cNvPr id="245898" name="Rectangle 7">
              <a:extLst>
                <a:ext uri="{FF2B5EF4-FFF2-40B4-BE49-F238E27FC236}">
                  <a16:creationId xmlns:a16="http://schemas.microsoft.com/office/drawing/2014/main" id="{9C26BC18-7665-1944-988F-4D2A84F71F4D}"/>
                </a:ext>
              </a:extLst>
            </p:cNvPr>
            <p:cNvSpPr>
              <a:spLocks noChangeArrowheads="1"/>
            </p:cNvSpPr>
            <p:nvPr/>
          </p:nvSpPr>
          <p:spPr bwMode="auto">
            <a:xfrm>
              <a:off x="2118" y="381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a:t>
              </a:r>
            </a:p>
          </p:txBody>
        </p:sp>
        <p:sp>
          <p:nvSpPr>
            <p:cNvPr id="245899" name="Rectangle 8">
              <a:extLst>
                <a:ext uri="{FF2B5EF4-FFF2-40B4-BE49-F238E27FC236}">
                  <a16:creationId xmlns:a16="http://schemas.microsoft.com/office/drawing/2014/main" id="{356AE9E5-14FB-E84F-9FFD-9CBBA858965E}"/>
                </a:ext>
              </a:extLst>
            </p:cNvPr>
            <p:cNvSpPr>
              <a:spLocks noChangeArrowheads="1"/>
            </p:cNvSpPr>
            <p:nvPr/>
          </p:nvSpPr>
          <p:spPr bwMode="auto">
            <a:xfrm>
              <a:off x="1682" y="381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a:t>
              </a:r>
            </a:p>
          </p:txBody>
        </p:sp>
        <p:sp>
          <p:nvSpPr>
            <p:cNvPr id="245900" name="Rectangle 9">
              <a:extLst>
                <a:ext uri="{FF2B5EF4-FFF2-40B4-BE49-F238E27FC236}">
                  <a16:creationId xmlns:a16="http://schemas.microsoft.com/office/drawing/2014/main" id="{7F4F6BB0-704B-324C-9E13-85A099C16D79}"/>
                </a:ext>
              </a:extLst>
            </p:cNvPr>
            <p:cNvSpPr>
              <a:spLocks noChangeArrowheads="1"/>
            </p:cNvSpPr>
            <p:nvPr/>
          </p:nvSpPr>
          <p:spPr bwMode="auto">
            <a:xfrm>
              <a:off x="1245" y="3810"/>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007</a:t>
              </a:r>
            </a:p>
          </p:txBody>
        </p:sp>
        <p:sp>
          <p:nvSpPr>
            <p:cNvPr id="245901" name="Rectangle 13">
              <a:extLst>
                <a:ext uri="{FF2B5EF4-FFF2-40B4-BE49-F238E27FC236}">
                  <a16:creationId xmlns:a16="http://schemas.microsoft.com/office/drawing/2014/main" id="{8190AD73-3E21-414A-9308-3F10B68EE26D}"/>
                </a:ext>
              </a:extLst>
            </p:cNvPr>
            <p:cNvSpPr>
              <a:spLocks noChangeArrowheads="1"/>
            </p:cNvSpPr>
            <p:nvPr/>
          </p:nvSpPr>
          <p:spPr bwMode="auto">
            <a:xfrm>
              <a:off x="2118" y="3617"/>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a:t>
              </a:r>
            </a:p>
          </p:txBody>
        </p:sp>
        <p:sp>
          <p:nvSpPr>
            <p:cNvPr id="245902" name="Rectangle 14">
              <a:extLst>
                <a:ext uri="{FF2B5EF4-FFF2-40B4-BE49-F238E27FC236}">
                  <a16:creationId xmlns:a16="http://schemas.microsoft.com/office/drawing/2014/main" id="{42C56EE4-1AFA-1846-8925-ADD4E5DE2779}"/>
                </a:ext>
              </a:extLst>
            </p:cNvPr>
            <p:cNvSpPr>
              <a:spLocks noChangeArrowheads="1"/>
            </p:cNvSpPr>
            <p:nvPr/>
          </p:nvSpPr>
          <p:spPr bwMode="auto">
            <a:xfrm>
              <a:off x="1682" y="3617"/>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a:t>
              </a:r>
            </a:p>
          </p:txBody>
        </p:sp>
        <p:sp>
          <p:nvSpPr>
            <p:cNvPr id="245903" name="Rectangle 15">
              <a:extLst>
                <a:ext uri="{FF2B5EF4-FFF2-40B4-BE49-F238E27FC236}">
                  <a16:creationId xmlns:a16="http://schemas.microsoft.com/office/drawing/2014/main" id="{D333632A-EA60-8F46-8970-5808C586CF94}"/>
                </a:ext>
              </a:extLst>
            </p:cNvPr>
            <p:cNvSpPr>
              <a:spLocks noChangeArrowheads="1"/>
            </p:cNvSpPr>
            <p:nvPr/>
          </p:nvSpPr>
          <p:spPr bwMode="auto">
            <a:xfrm>
              <a:off x="1245" y="3617"/>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006</a:t>
              </a:r>
            </a:p>
          </p:txBody>
        </p:sp>
        <p:sp>
          <p:nvSpPr>
            <p:cNvPr id="245904" name="Rectangle 19">
              <a:extLst>
                <a:ext uri="{FF2B5EF4-FFF2-40B4-BE49-F238E27FC236}">
                  <a16:creationId xmlns:a16="http://schemas.microsoft.com/office/drawing/2014/main" id="{98D848A1-9164-D442-93D3-D7A375AF75D7}"/>
                </a:ext>
              </a:extLst>
            </p:cNvPr>
            <p:cNvSpPr>
              <a:spLocks noChangeArrowheads="1"/>
            </p:cNvSpPr>
            <p:nvPr/>
          </p:nvSpPr>
          <p:spPr bwMode="auto">
            <a:xfrm>
              <a:off x="2118" y="3424"/>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05" name="Rectangle 20">
              <a:extLst>
                <a:ext uri="{FF2B5EF4-FFF2-40B4-BE49-F238E27FC236}">
                  <a16:creationId xmlns:a16="http://schemas.microsoft.com/office/drawing/2014/main" id="{950C3A4B-C331-EA47-93B2-BC17A399F96B}"/>
                </a:ext>
              </a:extLst>
            </p:cNvPr>
            <p:cNvSpPr>
              <a:spLocks noChangeArrowheads="1"/>
            </p:cNvSpPr>
            <p:nvPr/>
          </p:nvSpPr>
          <p:spPr bwMode="auto">
            <a:xfrm>
              <a:off x="1682" y="3424"/>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16</a:t>
              </a:r>
            </a:p>
          </p:txBody>
        </p:sp>
        <p:sp>
          <p:nvSpPr>
            <p:cNvPr id="245906" name="Rectangle 21">
              <a:extLst>
                <a:ext uri="{FF2B5EF4-FFF2-40B4-BE49-F238E27FC236}">
                  <a16:creationId xmlns:a16="http://schemas.microsoft.com/office/drawing/2014/main" id="{4FE4E5C9-3801-934E-91F9-E63725C58BC7}"/>
                </a:ext>
              </a:extLst>
            </p:cNvPr>
            <p:cNvSpPr>
              <a:spLocks noChangeArrowheads="1"/>
            </p:cNvSpPr>
            <p:nvPr/>
          </p:nvSpPr>
          <p:spPr bwMode="auto">
            <a:xfrm>
              <a:off x="1245" y="3424"/>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005</a:t>
              </a:r>
            </a:p>
          </p:txBody>
        </p:sp>
        <p:sp>
          <p:nvSpPr>
            <p:cNvPr id="245907" name="Rectangle 25">
              <a:extLst>
                <a:ext uri="{FF2B5EF4-FFF2-40B4-BE49-F238E27FC236}">
                  <a16:creationId xmlns:a16="http://schemas.microsoft.com/office/drawing/2014/main" id="{1F2B1F6F-D319-8843-9CAD-5AEEA8DE8BC0}"/>
                </a:ext>
              </a:extLst>
            </p:cNvPr>
            <p:cNvSpPr>
              <a:spLocks noChangeArrowheads="1"/>
            </p:cNvSpPr>
            <p:nvPr/>
          </p:nvSpPr>
          <p:spPr bwMode="auto">
            <a:xfrm>
              <a:off x="2118" y="323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a:t>
              </a:r>
            </a:p>
          </p:txBody>
        </p:sp>
        <p:sp>
          <p:nvSpPr>
            <p:cNvPr id="245908" name="Rectangle 26">
              <a:extLst>
                <a:ext uri="{FF2B5EF4-FFF2-40B4-BE49-F238E27FC236}">
                  <a16:creationId xmlns:a16="http://schemas.microsoft.com/office/drawing/2014/main" id="{A166C6CA-0BAA-9044-9D1D-EB1BDE014523}"/>
                </a:ext>
              </a:extLst>
            </p:cNvPr>
            <p:cNvSpPr>
              <a:spLocks noChangeArrowheads="1"/>
            </p:cNvSpPr>
            <p:nvPr/>
          </p:nvSpPr>
          <p:spPr bwMode="auto">
            <a:xfrm>
              <a:off x="1682" y="323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a:t>
              </a:r>
            </a:p>
          </p:txBody>
        </p:sp>
        <p:sp>
          <p:nvSpPr>
            <p:cNvPr id="245909" name="Rectangle 27">
              <a:extLst>
                <a:ext uri="{FF2B5EF4-FFF2-40B4-BE49-F238E27FC236}">
                  <a16:creationId xmlns:a16="http://schemas.microsoft.com/office/drawing/2014/main" id="{CF31C3CF-A207-4341-9650-2780CC12B14B}"/>
                </a:ext>
              </a:extLst>
            </p:cNvPr>
            <p:cNvSpPr>
              <a:spLocks noChangeArrowheads="1"/>
            </p:cNvSpPr>
            <p:nvPr/>
          </p:nvSpPr>
          <p:spPr bwMode="auto">
            <a:xfrm>
              <a:off x="1245" y="3230"/>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004</a:t>
              </a:r>
            </a:p>
          </p:txBody>
        </p:sp>
        <p:sp>
          <p:nvSpPr>
            <p:cNvPr id="245910" name="Rectangle 31">
              <a:extLst>
                <a:ext uri="{FF2B5EF4-FFF2-40B4-BE49-F238E27FC236}">
                  <a16:creationId xmlns:a16="http://schemas.microsoft.com/office/drawing/2014/main" id="{0C5E09A1-1524-9C46-B6C2-6C3E334204BD}"/>
                </a:ext>
              </a:extLst>
            </p:cNvPr>
            <p:cNvSpPr>
              <a:spLocks noChangeArrowheads="1"/>
            </p:cNvSpPr>
            <p:nvPr/>
          </p:nvSpPr>
          <p:spPr bwMode="auto">
            <a:xfrm>
              <a:off x="2118" y="303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11" name="Rectangle 32">
              <a:extLst>
                <a:ext uri="{FF2B5EF4-FFF2-40B4-BE49-F238E27FC236}">
                  <a16:creationId xmlns:a16="http://schemas.microsoft.com/office/drawing/2014/main" id="{438B0DC0-DB3D-4F41-8814-88F5C1E76C31}"/>
                </a:ext>
              </a:extLst>
            </p:cNvPr>
            <p:cNvSpPr>
              <a:spLocks noChangeArrowheads="1"/>
            </p:cNvSpPr>
            <p:nvPr/>
          </p:nvSpPr>
          <p:spPr bwMode="auto">
            <a:xfrm>
              <a:off x="1682" y="303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02</a:t>
              </a:r>
            </a:p>
          </p:txBody>
        </p:sp>
        <p:sp>
          <p:nvSpPr>
            <p:cNvPr id="245912" name="Rectangle 33">
              <a:extLst>
                <a:ext uri="{FF2B5EF4-FFF2-40B4-BE49-F238E27FC236}">
                  <a16:creationId xmlns:a16="http://schemas.microsoft.com/office/drawing/2014/main" id="{A65FA128-497C-514A-A72E-80C1125235F1}"/>
                </a:ext>
              </a:extLst>
            </p:cNvPr>
            <p:cNvSpPr>
              <a:spLocks noChangeArrowheads="1"/>
            </p:cNvSpPr>
            <p:nvPr/>
          </p:nvSpPr>
          <p:spPr bwMode="auto">
            <a:xfrm>
              <a:off x="1245" y="3036"/>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003</a:t>
              </a:r>
            </a:p>
          </p:txBody>
        </p:sp>
        <p:sp>
          <p:nvSpPr>
            <p:cNvPr id="245913" name="Rectangle 37">
              <a:extLst>
                <a:ext uri="{FF2B5EF4-FFF2-40B4-BE49-F238E27FC236}">
                  <a16:creationId xmlns:a16="http://schemas.microsoft.com/office/drawing/2014/main" id="{30838873-63EF-FB4E-AF18-40894AE1BFEC}"/>
                </a:ext>
              </a:extLst>
            </p:cNvPr>
            <p:cNvSpPr>
              <a:spLocks noChangeArrowheads="1"/>
            </p:cNvSpPr>
            <p:nvPr/>
          </p:nvSpPr>
          <p:spPr bwMode="auto">
            <a:xfrm>
              <a:off x="2118" y="2843"/>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14" name="Rectangle 38">
              <a:extLst>
                <a:ext uri="{FF2B5EF4-FFF2-40B4-BE49-F238E27FC236}">
                  <a16:creationId xmlns:a16="http://schemas.microsoft.com/office/drawing/2014/main" id="{9C43DFEC-00A8-7347-9DBE-4697D2124FE3}"/>
                </a:ext>
              </a:extLst>
            </p:cNvPr>
            <p:cNvSpPr>
              <a:spLocks noChangeArrowheads="1"/>
            </p:cNvSpPr>
            <p:nvPr/>
          </p:nvSpPr>
          <p:spPr bwMode="auto">
            <a:xfrm>
              <a:off x="1682" y="2843"/>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33</a:t>
              </a:r>
            </a:p>
          </p:txBody>
        </p:sp>
        <p:sp>
          <p:nvSpPr>
            <p:cNvPr id="245915" name="Rectangle 39">
              <a:extLst>
                <a:ext uri="{FF2B5EF4-FFF2-40B4-BE49-F238E27FC236}">
                  <a16:creationId xmlns:a16="http://schemas.microsoft.com/office/drawing/2014/main" id="{2F5E3EA0-4CB9-2C4E-907A-160A86FAF2DF}"/>
                </a:ext>
              </a:extLst>
            </p:cNvPr>
            <p:cNvSpPr>
              <a:spLocks noChangeArrowheads="1"/>
            </p:cNvSpPr>
            <p:nvPr/>
          </p:nvSpPr>
          <p:spPr bwMode="auto">
            <a:xfrm>
              <a:off x="1245" y="2843"/>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002</a:t>
              </a:r>
            </a:p>
          </p:txBody>
        </p:sp>
        <p:sp>
          <p:nvSpPr>
            <p:cNvPr id="245916" name="Rectangle 43">
              <a:extLst>
                <a:ext uri="{FF2B5EF4-FFF2-40B4-BE49-F238E27FC236}">
                  <a16:creationId xmlns:a16="http://schemas.microsoft.com/office/drawing/2014/main" id="{C14FEB6D-B458-294C-8311-9094AFF83EFE}"/>
                </a:ext>
              </a:extLst>
            </p:cNvPr>
            <p:cNvSpPr>
              <a:spLocks noChangeArrowheads="1"/>
            </p:cNvSpPr>
            <p:nvPr/>
          </p:nvSpPr>
          <p:spPr bwMode="auto">
            <a:xfrm>
              <a:off x="2118" y="265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0</a:t>
              </a:r>
            </a:p>
          </p:txBody>
        </p:sp>
        <p:sp>
          <p:nvSpPr>
            <p:cNvPr id="245917" name="Rectangle 44">
              <a:extLst>
                <a:ext uri="{FF2B5EF4-FFF2-40B4-BE49-F238E27FC236}">
                  <a16:creationId xmlns:a16="http://schemas.microsoft.com/office/drawing/2014/main" id="{FFB6F2B1-66B8-9647-87E6-7E049AE996C5}"/>
                </a:ext>
              </a:extLst>
            </p:cNvPr>
            <p:cNvSpPr>
              <a:spLocks noChangeArrowheads="1"/>
            </p:cNvSpPr>
            <p:nvPr/>
          </p:nvSpPr>
          <p:spPr bwMode="auto">
            <a:xfrm>
              <a:off x="1682" y="2650"/>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a:t>
              </a:r>
            </a:p>
          </p:txBody>
        </p:sp>
        <p:sp>
          <p:nvSpPr>
            <p:cNvPr id="245918" name="Rectangle 45">
              <a:extLst>
                <a:ext uri="{FF2B5EF4-FFF2-40B4-BE49-F238E27FC236}">
                  <a16:creationId xmlns:a16="http://schemas.microsoft.com/office/drawing/2014/main" id="{D268256D-18CC-0F4E-A1AA-C1FB0E9A6685}"/>
                </a:ext>
              </a:extLst>
            </p:cNvPr>
            <p:cNvSpPr>
              <a:spLocks noChangeArrowheads="1"/>
            </p:cNvSpPr>
            <p:nvPr/>
          </p:nvSpPr>
          <p:spPr bwMode="auto">
            <a:xfrm>
              <a:off x="1245" y="2650"/>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001</a:t>
              </a:r>
            </a:p>
          </p:txBody>
        </p:sp>
        <p:sp>
          <p:nvSpPr>
            <p:cNvPr id="245919" name="Rectangle 49">
              <a:extLst>
                <a:ext uri="{FF2B5EF4-FFF2-40B4-BE49-F238E27FC236}">
                  <a16:creationId xmlns:a16="http://schemas.microsoft.com/office/drawing/2014/main" id="{18644D69-8B04-9D42-AE25-5052D56B9A94}"/>
                </a:ext>
              </a:extLst>
            </p:cNvPr>
            <p:cNvSpPr>
              <a:spLocks noChangeArrowheads="1"/>
            </p:cNvSpPr>
            <p:nvPr/>
          </p:nvSpPr>
          <p:spPr bwMode="auto">
            <a:xfrm>
              <a:off x="2118" y="245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1</a:t>
              </a:r>
            </a:p>
          </p:txBody>
        </p:sp>
        <p:sp>
          <p:nvSpPr>
            <p:cNvPr id="245920" name="Rectangle 50">
              <a:extLst>
                <a:ext uri="{FF2B5EF4-FFF2-40B4-BE49-F238E27FC236}">
                  <a16:creationId xmlns:a16="http://schemas.microsoft.com/office/drawing/2014/main" id="{7AA739B8-1717-4547-A0F9-AB6AA3A0FB64}"/>
                </a:ext>
              </a:extLst>
            </p:cNvPr>
            <p:cNvSpPr>
              <a:spLocks noChangeArrowheads="1"/>
            </p:cNvSpPr>
            <p:nvPr/>
          </p:nvSpPr>
          <p:spPr bwMode="auto">
            <a:xfrm>
              <a:off x="1682" y="2456"/>
              <a:ext cx="43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latin typeface="微软雅黑" panose="020B0503020204020204" pitchFamily="34" charset="-122"/>
                  <a:ea typeface="微软雅黑" panose="020B0503020204020204" pitchFamily="34" charset="-122"/>
                </a:rPr>
                <a:t>28</a:t>
              </a:r>
            </a:p>
          </p:txBody>
        </p:sp>
        <p:sp>
          <p:nvSpPr>
            <p:cNvPr id="245921" name="Rectangle 51">
              <a:extLst>
                <a:ext uri="{FF2B5EF4-FFF2-40B4-BE49-F238E27FC236}">
                  <a16:creationId xmlns:a16="http://schemas.microsoft.com/office/drawing/2014/main" id="{4621CA2E-B60D-E64A-9E20-DDF0CD42838F}"/>
                </a:ext>
              </a:extLst>
            </p:cNvPr>
            <p:cNvSpPr>
              <a:spLocks noChangeArrowheads="1"/>
            </p:cNvSpPr>
            <p:nvPr/>
          </p:nvSpPr>
          <p:spPr bwMode="auto">
            <a:xfrm>
              <a:off x="1245" y="2456"/>
              <a:ext cx="43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1000"/>
                </a:spcBef>
              </a:pPr>
              <a:r>
                <a:rPr lang="en-GB" altLang="zh-CN" sz="1800" b="1">
                  <a:solidFill>
                    <a:srgbClr val="990000"/>
                  </a:solidFill>
                  <a:latin typeface="微软雅黑" panose="020B0503020204020204" pitchFamily="34" charset="-122"/>
                  <a:ea typeface="微软雅黑" panose="020B0503020204020204" pitchFamily="34" charset="-122"/>
                </a:rPr>
                <a:t>000</a:t>
              </a:r>
            </a:p>
          </p:txBody>
        </p:sp>
        <p:sp>
          <p:nvSpPr>
            <p:cNvPr id="172" name="Rectangle 55">
              <a:extLst>
                <a:ext uri="{FF2B5EF4-FFF2-40B4-BE49-F238E27FC236}">
                  <a16:creationId xmlns:a16="http://schemas.microsoft.com/office/drawing/2014/main" id="{85117D12-A1FB-C44C-A84F-2D83A6D5D385}"/>
                </a:ext>
              </a:extLst>
            </p:cNvPr>
            <p:cNvSpPr>
              <a:spLocks noChangeArrowheads="1"/>
            </p:cNvSpPr>
            <p:nvPr/>
          </p:nvSpPr>
          <p:spPr bwMode="auto">
            <a:xfrm>
              <a:off x="2118" y="2263"/>
              <a:ext cx="436" cy="193"/>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1000"/>
                </a:spcBef>
                <a:defRPr/>
              </a:pPr>
              <a:r>
                <a:rPr lang="en-GB" altLang="zh-CN" sz="1800" b="1" i="1">
                  <a:solidFill>
                    <a:srgbClr val="990000"/>
                  </a:solidFill>
                  <a:latin typeface="微软雅黑" panose="020B0503020204020204" pitchFamily="34" charset="-122"/>
                  <a:ea typeface="微软雅黑" panose="020B0503020204020204" pitchFamily="34" charset="-122"/>
                </a:rPr>
                <a:t>Valid</a:t>
              </a:r>
            </a:p>
          </p:txBody>
        </p:sp>
        <p:sp>
          <p:nvSpPr>
            <p:cNvPr id="173" name="Rectangle 56">
              <a:extLst>
                <a:ext uri="{FF2B5EF4-FFF2-40B4-BE49-F238E27FC236}">
                  <a16:creationId xmlns:a16="http://schemas.microsoft.com/office/drawing/2014/main" id="{85DD6B16-C8A4-1148-B5CE-DB29F3BD466D}"/>
                </a:ext>
              </a:extLst>
            </p:cNvPr>
            <p:cNvSpPr>
              <a:spLocks noChangeArrowheads="1"/>
            </p:cNvSpPr>
            <p:nvPr/>
          </p:nvSpPr>
          <p:spPr bwMode="auto">
            <a:xfrm>
              <a:off x="1682" y="2263"/>
              <a:ext cx="436" cy="193"/>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1000"/>
                </a:spcBef>
                <a:defRPr/>
              </a:pPr>
              <a:r>
                <a:rPr lang="en-GB" altLang="zh-CN" sz="1800" b="1" i="1">
                  <a:solidFill>
                    <a:srgbClr val="990000"/>
                  </a:solidFill>
                  <a:latin typeface="微软雅黑" panose="020B0503020204020204" pitchFamily="34" charset="-122"/>
                  <a:ea typeface="微软雅黑" panose="020B0503020204020204" pitchFamily="34" charset="-122"/>
                </a:rPr>
                <a:t>PPN</a:t>
              </a:r>
            </a:p>
          </p:txBody>
        </p:sp>
        <p:sp>
          <p:nvSpPr>
            <p:cNvPr id="174" name="Rectangle 57">
              <a:extLst>
                <a:ext uri="{FF2B5EF4-FFF2-40B4-BE49-F238E27FC236}">
                  <a16:creationId xmlns:a16="http://schemas.microsoft.com/office/drawing/2014/main" id="{C086167D-4709-7249-9351-52F30D7A616E}"/>
                </a:ext>
              </a:extLst>
            </p:cNvPr>
            <p:cNvSpPr>
              <a:spLocks noChangeArrowheads="1"/>
            </p:cNvSpPr>
            <p:nvPr/>
          </p:nvSpPr>
          <p:spPr bwMode="auto">
            <a:xfrm>
              <a:off x="1245" y="2263"/>
              <a:ext cx="437" cy="193"/>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1000"/>
                </a:spcBef>
                <a:defRPr/>
              </a:pPr>
              <a:r>
                <a:rPr lang="en-GB" altLang="zh-CN" sz="1800" b="1" i="1">
                  <a:solidFill>
                    <a:srgbClr val="990000"/>
                  </a:solidFill>
                  <a:latin typeface="微软雅黑" panose="020B0503020204020204" pitchFamily="34" charset="-122"/>
                  <a:ea typeface="微软雅黑" panose="020B0503020204020204" pitchFamily="34" charset="-122"/>
                </a:rPr>
                <a:t>VPN</a:t>
              </a:r>
            </a:p>
          </p:txBody>
        </p:sp>
        <p:sp>
          <p:nvSpPr>
            <p:cNvPr id="245925" name="Line 58">
              <a:extLst>
                <a:ext uri="{FF2B5EF4-FFF2-40B4-BE49-F238E27FC236}">
                  <a16:creationId xmlns:a16="http://schemas.microsoft.com/office/drawing/2014/main" id="{C3FCEADB-3798-4C4C-9B47-5E7426664113}"/>
                </a:ext>
              </a:extLst>
            </p:cNvPr>
            <p:cNvSpPr>
              <a:spLocks noChangeShapeType="1"/>
            </p:cNvSpPr>
            <p:nvPr/>
          </p:nvSpPr>
          <p:spPr bwMode="auto">
            <a:xfrm>
              <a:off x="1245" y="2456"/>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26" name="Line 59">
              <a:extLst>
                <a:ext uri="{FF2B5EF4-FFF2-40B4-BE49-F238E27FC236}">
                  <a16:creationId xmlns:a16="http://schemas.microsoft.com/office/drawing/2014/main" id="{22B06309-B42F-D341-A24F-F0BC6AF450AE}"/>
                </a:ext>
              </a:extLst>
            </p:cNvPr>
            <p:cNvSpPr>
              <a:spLocks noChangeShapeType="1"/>
            </p:cNvSpPr>
            <p:nvPr/>
          </p:nvSpPr>
          <p:spPr bwMode="auto">
            <a:xfrm>
              <a:off x="1245" y="2650"/>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27" name="Line 60">
              <a:extLst>
                <a:ext uri="{FF2B5EF4-FFF2-40B4-BE49-F238E27FC236}">
                  <a16:creationId xmlns:a16="http://schemas.microsoft.com/office/drawing/2014/main" id="{AA3C4B4F-0407-9B4F-AD45-8DAC93F20E21}"/>
                </a:ext>
              </a:extLst>
            </p:cNvPr>
            <p:cNvSpPr>
              <a:spLocks noChangeShapeType="1"/>
            </p:cNvSpPr>
            <p:nvPr/>
          </p:nvSpPr>
          <p:spPr bwMode="auto">
            <a:xfrm>
              <a:off x="1245" y="2845"/>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28" name="Line 61">
              <a:extLst>
                <a:ext uri="{FF2B5EF4-FFF2-40B4-BE49-F238E27FC236}">
                  <a16:creationId xmlns:a16="http://schemas.microsoft.com/office/drawing/2014/main" id="{114E6C06-8356-5741-A514-DE27DADD68FB}"/>
                </a:ext>
              </a:extLst>
            </p:cNvPr>
            <p:cNvSpPr>
              <a:spLocks noChangeShapeType="1"/>
            </p:cNvSpPr>
            <p:nvPr/>
          </p:nvSpPr>
          <p:spPr bwMode="auto">
            <a:xfrm>
              <a:off x="1245" y="3036"/>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29" name="Line 62">
              <a:extLst>
                <a:ext uri="{FF2B5EF4-FFF2-40B4-BE49-F238E27FC236}">
                  <a16:creationId xmlns:a16="http://schemas.microsoft.com/office/drawing/2014/main" id="{600F24C1-B3FB-854C-95A6-D98219C9FE1F}"/>
                </a:ext>
              </a:extLst>
            </p:cNvPr>
            <p:cNvSpPr>
              <a:spLocks noChangeShapeType="1"/>
            </p:cNvSpPr>
            <p:nvPr/>
          </p:nvSpPr>
          <p:spPr bwMode="auto">
            <a:xfrm>
              <a:off x="1245" y="3230"/>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0" name="Line 63">
              <a:extLst>
                <a:ext uri="{FF2B5EF4-FFF2-40B4-BE49-F238E27FC236}">
                  <a16:creationId xmlns:a16="http://schemas.microsoft.com/office/drawing/2014/main" id="{33EABCBC-1696-BA49-9B0A-B2B3C68905E3}"/>
                </a:ext>
              </a:extLst>
            </p:cNvPr>
            <p:cNvSpPr>
              <a:spLocks noChangeShapeType="1"/>
            </p:cNvSpPr>
            <p:nvPr/>
          </p:nvSpPr>
          <p:spPr bwMode="auto">
            <a:xfrm>
              <a:off x="1245" y="3426"/>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1" name="Line 64">
              <a:extLst>
                <a:ext uri="{FF2B5EF4-FFF2-40B4-BE49-F238E27FC236}">
                  <a16:creationId xmlns:a16="http://schemas.microsoft.com/office/drawing/2014/main" id="{FBA83302-31BE-3146-B9B4-1F179A1B9B5C}"/>
                </a:ext>
              </a:extLst>
            </p:cNvPr>
            <p:cNvSpPr>
              <a:spLocks noChangeShapeType="1"/>
            </p:cNvSpPr>
            <p:nvPr/>
          </p:nvSpPr>
          <p:spPr bwMode="auto">
            <a:xfrm>
              <a:off x="1245" y="3617"/>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2" name="Line 65">
              <a:extLst>
                <a:ext uri="{FF2B5EF4-FFF2-40B4-BE49-F238E27FC236}">
                  <a16:creationId xmlns:a16="http://schemas.microsoft.com/office/drawing/2014/main" id="{C54EC60F-79DA-564E-BB7F-B9B9D2D9C0A8}"/>
                </a:ext>
              </a:extLst>
            </p:cNvPr>
            <p:cNvSpPr>
              <a:spLocks noChangeShapeType="1"/>
            </p:cNvSpPr>
            <p:nvPr/>
          </p:nvSpPr>
          <p:spPr bwMode="auto">
            <a:xfrm>
              <a:off x="1245" y="3810"/>
              <a:ext cx="1308"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3" name="Line 66">
              <a:extLst>
                <a:ext uri="{FF2B5EF4-FFF2-40B4-BE49-F238E27FC236}">
                  <a16:creationId xmlns:a16="http://schemas.microsoft.com/office/drawing/2014/main" id="{4A2834F6-7D08-C647-9A92-472FDFAFF3AA}"/>
                </a:ext>
              </a:extLst>
            </p:cNvPr>
            <p:cNvSpPr>
              <a:spLocks noChangeShapeType="1"/>
            </p:cNvSpPr>
            <p:nvPr/>
          </p:nvSpPr>
          <p:spPr bwMode="auto">
            <a:xfrm>
              <a:off x="1676" y="2263"/>
              <a:ext cx="1" cy="174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4" name="Line 67">
              <a:extLst>
                <a:ext uri="{FF2B5EF4-FFF2-40B4-BE49-F238E27FC236}">
                  <a16:creationId xmlns:a16="http://schemas.microsoft.com/office/drawing/2014/main" id="{75E2EB1E-2493-6348-8B62-D85BAF9BA4CA}"/>
                </a:ext>
              </a:extLst>
            </p:cNvPr>
            <p:cNvSpPr>
              <a:spLocks noChangeShapeType="1"/>
            </p:cNvSpPr>
            <p:nvPr/>
          </p:nvSpPr>
          <p:spPr bwMode="auto">
            <a:xfrm>
              <a:off x="2118" y="2263"/>
              <a:ext cx="1" cy="174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5" name="Line 70">
              <a:extLst>
                <a:ext uri="{FF2B5EF4-FFF2-40B4-BE49-F238E27FC236}">
                  <a16:creationId xmlns:a16="http://schemas.microsoft.com/office/drawing/2014/main" id="{AA3DE297-2994-C946-A60E-7DD74CE92344}"/>
                </a:ext>
              </a:extLst>
            </p:cNvPr>
            <p:cNvSpPr>
              <a:spLocks noChangeShapeType="1"/>
            </p:cNvSpPr>
            <p:nvPr/>
          </p:nvSpPr>
          <p:spPr bwMode="auto">
            <a:xfrm>
              <a:off x="1245" y="2263"/>
              <a:ext cx="1" cy="1741"/>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6" name="Line 72">
              <a:extLst>
                <a:ext uri="{FF2B5EF4-FFF2-40B4-BE49-F238E27FC236}">
                  <a16:creationId xmlns:a16="http://schemas.microsoft.com/office/drawing/2014/main" id="{FF1342FD-BE29-334F-9712-95D8E4739864}"/>
                </a:ext>
              </a:extLst>
            </p:cNvPr>
            <p:cNvSpPr>
              <a:spLocks noChangeShapeType="1"/>
            </p:cNvSpPr>
            <p:nvPr/>
          </p:nvSpPr>
          <p:spPr bwMode="auto">
            <a:xfrm>
              <a:off x="1245" y="2263"/>
              <a:ext cx="1308" cy="1"/>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7" name="Line 74">
              <a:extLst>
                <a:ext uri="{FF2B5EF4-FFF2-40B4-BE49-F238E27FC236}">
                  <a16:creationId xmlns:a16="http://schemas.microsoft.com/office/drawing/2014/main" id="{A1A88569-B013-D54F-90AB-3D87F818D363}"/>
                </a:ext>
              </a:extLst>
            </p:cNvPr>
            <p:cNvSpPr>
              <a:spLocks noChangeShapeType="1"/>
            </p:cNvSpPr>
            <p:nvPr/>
          </p:nvSpPr>
          <p:spPr bwMode="auto">
            <a:xfrm>
              <a:off x="1245" y="4004"/>
              <a:ext cx="1308" cy="1"/>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8" name="Line 70">
              <a:extLst>
                <a:ext uri="{FF2B5EF4-FFF2-40B4-BE49-F238E27FC236}">
                  <a16:creationId xmlns:a16="http://schemas.microsoft.com/office/drawing/2014/main" id="{5B228EE3-6374-8343-9F80-4C560A8A7AB2}"/>
                </a:ext>
              </a:extLst>
            </p:cNvPr>
            <p:cNvSpPr>
              <a:spLocks noChangeShapeType="1"/>
            </p:cNvSpPr>
            <p:nvPr/>
          </p:nvSpPr>
          <p:spPr bwMode="auto">
            <a:xfrm>
              <a:off x="2558" y="2257"/>
              <a:ext cx="1" cy="1757"/>
            </a:xfrm>
            <a:prstGeom prst="line">
              <a:avLst/>
            </a:prstGeom>
            <a:noFill/>
            <a:ln w="127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765" name="Group 89">
            <a:extLst>
              <a:ext uri="{FF2B5EF4-FFF2-40B4-BE49-F238E27FC236}">
                <a16:creationId xmlns:a16="http://schemas.microsoft.com/office/drawing/2014/main" id="{CDA4BB97-EB44-B743-9FCB-C123E31DE734}"/>
              </a:ext>
            </a:extLst>
          </p:cNvPr>
          <p:cNvGrpSpPr>
            <a:grpSpLocks/>
          </p:cNvGrpSpPr>
          <p:nvPr/>
        </p:nvGrpSpPr>
        <p:grpSpPr bwMode="auto">
          <a:xfrm>
            <a:off x="209550" y="4811713"/>
            <a:ext cx="8848725" cy="1903412"/>
            <a:chOff x="337" y="2976"/>
            <a:chExt cx="5137" cy="1025"/>
          </a:xfrm>
        </p:grpSpPr>
        <p:sp>
          <p:nvSpPr>
            <p:cNvPr id="245813" name="Rectangle 60">
              <a:extLst>
                <a:ext uri="{FF2B5EF4-FFF2-40B4-BE49-F238E27FC236}">
                  <a16:creationId xmlns:a16="http://schemas.microsoft.com/office/drawing/2014/main" id="{35EAB8CB-D6D4-D642-8073-141115CAF9E7}"/>
                </a:ext>
              </a:extLst>
            </p:cNvPr>
            <p:cNvSpPr>
              <a:spLocks noChangeArrowheads="1"/>
            </p:cNvSpPr>
            <p:nvPr/>
          </p:nvSpPr>
          <p:spPr bwMode="auto">
            <a:xfrm>
              <a:off x="5079" y="3795"/>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14" name="Rectangle 61">
              <a:extLst>
                <a:ext uri="{FF2B5EF4-FFF2-40B4-BE49-F238E27FC236}">
                  <a16:creationId xmlns:a16="http://schemas.microsoft.com/office/drawing/2014/main" id="{6FFC6C56-9AC3-1B42-AE78-AEC577130534}"/>
                </a:ext>
              </a:extLst>
            </p:cNvPr>
            <p:cNvSpPr>
              <a:spLocks noChangeArrowheads="1"/>
            </p:cNvSpPr>
            <p:nvPr/>
          </p:nvSpPr>
          <p:spPr bwMode="auto">
            <a:xfrm>
              <a:off x="4682" y="3795"/>
              <a:ext cx="39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15" name="Rectangle 62">
              <a:extLst>
                <a:ext uri="{FF2B5EF4-FFF2-40B4-BE49-F238E27FC236}">
                  <a16:creationId xmlns:a16="http://schemas.microsoft.com/office/drawing/2014/main" id="{C5E7DAE3-C1FC-424D-BCCB-76A04D8C5261}"/>
                </a:ext>
              </a:extLst>
            </p:cNvPr>
            <p:cNvSpPr>
              <a:spLocks noChangeArrowheads="1"/>
            </p:cNvSpPr>
            <p:nvPr/>
          </p:nvSpPr>
          <p:spPr bwMode="auto">
            <a:xfrm>
              <a:off x="4288" y="3795"/>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02</a:t>
              </a:r>
            </a:p>
          </p:txBody>
        </p:sp>
        <p:sp>
          <p:nvSpPr>
            <p:cNvPr id="245816" name="Rectangle 63">
              <a:extLst>
                <a:ext uri="{FF2B5EF4-FFF2-40B4-BE49-F238E27FC236}">
                  <a16:creationId xmlns:a16="http://schemas.microsoft.com/office/drawing/2014/main" id="{24C42068-6472-F944-8161-05224AA25486}"/>
                </a:ext>
              </a:extLst>
            </p:cNvPr>
            <p:cNvSpPr>
              <a:spLocks noChangeArrowheads="1"/>
            </p:cNvSpPr>
            <p:nvPr/>
          </p:nvSpPr>
          <p:spPr bwMode="auto">
            <a:xfrm>
              <a:off x="3892" y="3795"/>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00B050"/>
                  </a:solidFill>
                  <a:latin typeface="微软雅黑" panose="020B0503020204020204" pitchFamily="34" charset="-122"/>
                  <a:ea typeface="微软雅黑" panose="020B0503020204020204" pitchFamily="34" charset="-122"/>
                </a:rPr>
                <a:t>1</a:t>
              </a:r>
            </a:p>
          </p:txBody>
        </p:sp>
        <p:sp>
          <p:nvSpPr>
            <p:cNvPr id="245817" name="Rectangle 64">
              <a:extLst>
                <a:ext uri="{FF2B5EF4-FFF2-40B4-BE49-F238E27FC236}">
                  <a16:creationId xmlns:a16="http://schemas.microsoft.com/office/drawing/2014/main" id="{E2C0645B-9B1C-F046-B4AC-6580BA0DB15C}"/>
                </a:ext>
              </a:extLst>
            </p:cNvPr>
            <p:cNvSpPr>
              <a:spLocks noChangeArrowheads="1"/>
            </p:cNvSpPr>
            <p:nvPr/>
          </p:nvSpPr>
          <p:spPr bwMode="auto">
            <a:xfrm>
              <a:off x="3498" y="3795"/>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00B050"/>
                  </a:solidFill>
                  <a:latin typeface="微软雅黑" panose="020B0503020204020204" pitchFamily="34" charset="-122"/>
                  <a:ea typeface="微软雅黑" panose="020B0503020204020204" pitchFamily="34" charset="-122"/>
                </a:rPr>
                <a:t>34</a:t>
              </a:r>
            </a:p>
          </p:txBody>
        </p:sp>
        <p:sp>
          <p:nvSpPr>
            <p:cNvPr id="245818" name="Rectangle 65">
              <a:extLst>
                <a:ext uri="{FF2B5EF4-FFF2-40B4-BE49-F238E27FC236}">
                  <a16:creationId xmlns:a16="http://schemas.microsoft.com/office/drawing/2014/main" id="{0749F5F3-8D27-3949-B6C5-1BC546B5479A}"/>
                </a:ext>
              </a:extLst>
            </p:cNvPr>
            <p:cNvSpPr>
              <a:spLocks noChangeArrowheads="1"/>
            </p:cNvSpPr>
            <p:nvPr/>
          </p:nvSpPr>
          <p:spPr bwMode="auto">
            <a:xfrm>
              <a:off x="3103" y="3795"/>
              <a:ext cx="395"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00B050"/>
                  </a:solidFill>
                  <a:latin typeface="微软雅黑" panose="020B0503020204020204" pitchFamily="34" charset="-122"/>
                  <a:ea typeface="微软雅黑" panose="020B0503020204020204" pitchFamily="34" charset="-122"/>
                </a:rPr>
                <a:t>0A</a:t>
              </a:r>
            </a:p>
          </p:txBody>
        </p:sp>
        <p:sp>
          <p:nvSpPr>
            <p:cNvPr id="245819" name="Rectangle 66">
              <a:extLst>
                <a:ext uri="{FF2B5EF4-FFF2-40B4-BE49-F238E27FC236}">
                  <a16:creationId xmlns:a16="http://schemas.microsoft.com/office/drawing/2014/main" id="{9D8FF2C1-F81A-7A40-AD9D-931E4BE92767}"/>
                </a:ext>
              </a:extLst>
            </p:cNvPr>
            <p:cNvSpPr>
              <a:spLocks noChangeArrowheads="1"/>
            </p:cNvSpPr>
            <p:nvPr/>
          </p:nvSpPr>
          <p:spPr bwMode="auto">
            <a:xfrm>
              <a:off x="2707" y="3795"/>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1"/>
                  </a:solidFill>
                  <a:latin typeface="微软雅黑" panose="020B0503020204020204" pitchFamily="34" charset="-122"/>
                  <a:ea typeface="微软雅黑" panose="020B0503020204020204" pitchFamily="34" charset="-122"/>
                </a:rPr>
                <a:t>1</a:t>
              </a:r>
            </a:p>
          </p:txBody>
        </p:sp>
        <p:sp>
          <p:nvSpPr>
            <p:cNvPr id="245820" name="Rectangle 67">
              <a:extLst>
                <a:ext uri="{FF2B5EF4-FFF2-40B4-BE49-F238E27FC236}">
                  <a16:creationId xmlns:a16="http://schemas.microsoft.com/office/drawing/2014/main" id="{096053C5-2F70-1A45-AD57-F1CB82967A15}"/>
                </a:ext>
              </a:extLst>
            </p:cNvPr>
            <p:cNvSpPr>
              <a:spLocks noChangeArrowheads="1"/>
            </p:cNvSpPr>
            <p:nvPr/>
          </p:nvSpPr>
          <p:spPr bwMode="auto">
            <a:xfrm>
              <a:off x="2312" y="3795"/>
              <a:ext cx="395"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1"/>
                  </a:solidFill>
                  <a:latin typeface="微软雅黑" panose="020B0503020204020204" pitchFamily="34" charset="-122"/>
                  <a:ea typeface="微软雅黑" panose="020B0503020204020204" pitchFamily="34" charset="-122"/>
                </a:rPr>
                <a:t>0D</a:t>
              </a:r>
            </a:p>
          </p:txBody>
        </p:sp>
        <p:sp>
          <p:nvSpPr>
            <p:cNvPr id="245821" name="Rectangle 68">
              <a:extLst>
                <a:ext uri="{FF2B5EF4-FFF2-40B4-BE49-F238E27FC236}">
                  <a16:creationId xmlns:a16="http://schemas.microsoft.com/office/drawing/2014/main" id="{C33EC9BC-D0C0-2F4E-8D30-1645F87D9C3E}"/>
                </a:ext>
              </a:extLst>
            </p:cNvPr>
            <p:cNvSpPr>
              <a:spLocks noChangeArrowheads="1"/>
            </p:cNvSpPr>
            <p:nvPr/>
          </p:nvSpPr>
          <p:spPr bwMode="auto">
            <a:xfrm>
              <a:off x="1918" y="3795"/>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1"/>
                  </a:solidFill>
                  <a:latin typeface="微软雅黑" panose="020B0503020204020204" pitchFamily="34" charset="-122"/>
                  <a:ea typeface="微软雅黑" panose="020B0503020204020204" pitchFamily="34" charset="-122"/>
                </a:rPr>
                <a:t>03</a:t>
              </a:r>
            </a:p>
          </p:txBody>
        </p:sp>
        <p:sp>
          <p:nvSpPr>
            <p:cNvPr id="245822" name="Rectangle 69">
              <a:extLst>
                <a:ext uri="{FF2B5EF4-FFF2-40B4-BE49-F238E27FC236}">
                  <a16:creationId xmlns:a16="http://schemas.microsoft.com/office/drawing/2014/main" id="{E6B2C02F-3B71-E441-AC31-5D5A02ED89E5}"/>
                </a:ext>
              </a:extLst>
            </p:cNvPr>
            <p:cNvSpPr>
              <a:spLocks noChangeArrowheads="1"/>
            </p:cNvSpPr>
            <p:nvPr/>
          </p:nvSpPr>
          <p:spPr bwMode="auto">
            <a:xfrm>
              <a:off x="1522" y="3795"/>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23" name="Rectangle 70">
              <a:extLst>
                <a:ext uri="{FF2B5EF4-FFF2-40B4-BE49-F238E27FC236}">
                  <a16:creationId xmlns:a16="http://schemas.microsoft.com/office/drawing/2014/main" id="{FEB81820-E9D1-B449-A229-5B4AE887A5D4}"/>
                </a:ext>
              </a:extLst>
            </p:cNvPr>
            <p:cNvSpPr>
              <a:spLocks noChangeArrowheads="1"/>
            </p:cNvSpPr>
            <p:nvPr/>
          </p:nvSpPr>
          <p:spPr bwMode="auto">
            <a:xfrm>
              <a:off x="1128" y="3795"/>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24" name="Rectangle 71">
              <a:extLst>
                <a:ext uri="{FF2B5EF4-FFF2-40B4-BE49-F238E27FC236}">
                  <a16:creationId xmlns:a16="http://schemas.microsoft.com/office/drawing/2014/main" id="{BFB58D49-0996-4946-A09B-049C42F2F315}"/>
                </a:ext>
              </a:extLst>
            </p:cNvPr>
            <p:cNvSpPr>
              <a:spLocks noChangeArrowheads="1"/>
            </p:cNvSpPr>
            <p:nvPr/>
          </p:nvSpPr>
          <p:spPr bwMode="auto">
            <a:xfrm>
              <a:off x="731" y="3795"/>
              <a:ext cx="39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07</a:t>
              </a:r>
            </a:p>
          </p:txBody>
        </p:sp>
        <p:sp>
          <p:nvSpPr>
            <p:cNvPr id="245825" name="Rectangle 72">
              <a:extLst>
                <a:ext uri="{FF2B5EF4-FFF2-40B4-BE49-F238E27FC236}">
                  <a16:creationId xmlns:a16="http://schemas.microsoft.com/office/drawing/2014/main" id="{CBB37FBC-BA83-0042-80D4-5A49A1409523}"/>
                </a:ext>
              </a:extLst>
            </p:cNvPr>
            <p:cNvSpPr>
              <a:spLocks noChangeArrowheads="1"/>
            </p:cNvSpPr>
            <p:nvPr/>
          </p:nvSpPr>
          <p:spPr bwMode="auto">
            <a:xfrm>
              <a:off x="337" y="3795"/>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3</a:t>
              </a:r>
            </a:p>
          </p:txBody>
        </p:sp>
        <p:sp>
          <p:nvSpPr>
            <p:cNvPr id="245826" name="Rectangle 73">
              <a:extLst>
                <a:ext uri="{FF2B5EF4-FFF2-40B4-BE49-F238E27FC236}">
                  <a16:creationId xmlns:a16="http://schemas.microsoft.com/office/drawing/2014/main" id="{2531D2DF-5283-0241-BDD4-D53EFBAA2B13}"/>
                </a:ext>
              </a:extLst>
            </p:cNvPr>
            <p:cNvSpPr>
              <a:spLocks noChangeArrowheads="1"/>
            </p:cNvSpPr>
            <p:nvPr/>
          </p:nvSpPr>
          <p:spPr bwMode="auto">
            <a:xfrm>
              <a:off x="5079" y="3590"/>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27" name="Rectangle 74">
              <a:extLst>
                <a:ext uri="{FF2B5EF4-FFF2-40B4-BE49-F238E27FC236}">
                  <a16:creationId xmlns:a16="http://schemas.microsoft.com/office/drawing/2014/main" id="{E402C535-173E-4A4B-941E-2190C4DE8FAC}"/>
                </a:ext>
              </a:extLst>
            </p:cNvPr>
            <p:cNvSpPr>
              <a:spLocks noChangeArrowheads="1"/>
            </p:cNvSpPr>
            <p:nvPr/>
          </p:nvSpPr>
          <p:spPr bwMode="auto">
            <a:xfrm>
              <a:off x="4682" y="3590"/>
              <a:ext cx="39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28" name="Rectangle 75">
              <a:extLst>
                <a:ext uri="{FF2B5EF4-FFF2-40B4-BE49-F238E27FC236}">
                  <a16:creationId xmlns:a16="http://schemas.microsoft.com/office/drawing/2014/main" id="{7A615A9E-71FF-4144-9063-A365C1A8542E}"/>
                </a:ext>
              </a:extLst>
            </p:cNvPr>
            <p:cNvSpPr>
              <a:spLocks noChangeArrowheads="1"/>
            </p:cNvSpPr>
            <p:nvPr/>
          </p:nvSpPr>
          <p:spPr bwMode="auto">
            <a:xfrm>
              <a:off x="4288" y="3590"/>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03</a:t>
              </a:r>
            </a:p>
          </p:txBody>
        </p:sp>
        <p:sp>
          <p:nvSpPr>
            <p:cNvPr id="245829" name="Rectangle 76">
              <a:extLst>
                <a:ext uri="{FF2B5EF4-FFF2-40B4-BE49-F238E27FC236}">
                  <a16:creationId xmlns:a16="http://schemas.microsoft.com/office/drawing/2014/main" id="{09720FE5-C503-0E43-B1EF-CDAEADF04B29}"/>
                </a:ext>
              </a:extLst>
            </p:cNvPr>
            <p:cNvSpPr>
              <a:spLocks noChangeArrowheads="1"/>
            </p:cNvSpPr>
            <p:nvPr/>
          </p:nvSpPr>
          <p:spPr bwMode="auto">
            <a:xfrm>
              <a:off x="3892" y="3590"/>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30" name="Rectangle 77">
              <a:extLst>
                <a:ext uri="{FF2B5EF4-FFF2-40B4-BE49-F238E27FC236}">
                  <a16:creationId xmlns:a16="http://schemas.microsoft.com/office/drawing/2014/main" id="{7E17FCF5-6817-7444-85C2-2F33EBAE96B0}"/>
                </a:ext>
              </a:extLst>
            </p:cNvPr>
            <p:cNvSpPr>
              <a:spLocks noChangeArrowheads="1"/>
            </p:cNvSpPr>
            <p:nvPr/>
          </p:nvSpPr>
          <p:spPr bwMode="auto">
            <a:xfrm>
              <a:off x="3498" y="3590"/>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31" name="Rectangle 78">
              <a:extLst>
                <a:ext uri="{FF2B5EF4-FFF2-40B4-BE49-F238E27FC236}">
                  <a16:creationId xmlns:a16="http://schemas.microsoft.com/office/drawing/2014/main" id="{53B7A59B-BD5D-4241-8497-C214E95C4A0D}"/>
                </a:ext>
              </a:extLst>
            </p:cNvPr>
            <p:cNvSpPr>
              <a:spLocks noChangeArrowheads="1"/>
            </p:cNvSpPr>
            <p:nvPr/>
          </p:nvSpPr>
          <p:spPr bwMode="auto">
            <a:xfrm>
              <a:off x="3103" y="3590"/>
              <a:ext cx="395"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06</a:t>
              </a:r>
            </a:p>
          </p:txBody>
        </p:sp>
        <p:sp>
          <p:nvSpPr>
            <p:cNvPr id="245832" name="Rectangle 79">
              <a:extLst>
                <a:ext uri="{FF2B5EF4-FFF2-40B4-BE49-F238E27FC236}">
                  <a16:creationId xmlns:a16="http://schemas.microsoft.com/office/drawing/2014/main" id="{97C2E47F-9174-6E4E-866D-3D6C73E388A1}"/>
                </a:ext>
              </a:extLst>
            </p:cNvPr>
            <p:cNvSpPr>
              <a:spLocks noChangeArrowheads="1"/>
            </p:cNvSpPr>
            <p:nvPr/>
          </p:nvSpPr>
          <p:spPr bwMode="auto">
            <a:xfrm>
              <a:off x="2707" y="3590"/>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33" name="Rectangle 80">
              <a:extLst>
                <a:ext uri="{FF2B5EF4-FFF2-40B4-BE49-F238E27FC236}">
                  <a16:creationId xmlns:a16="http://schemas.microsoft.com/office/drawing/2014/main" id="{CDA5FB4C-98B5-A841-A518-1B49AE8D9E45}"/>
                </a:ext>
              </a:extLst>
            </p:cNvPr>
            <p:cNvSpPr>
              <a:spLocks noChangeArrowheads="1"/>
            </p:cNvSpPr>
            <p:nvPr/>
          </p:nvSpPr>
          <p:spPr bwMode="auto">
            <a:xfrm>
              <a:off x="2312" y="3590"/>
              <a:ext cx="395"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34" name="Rectangle 81">
              <a:extLst>
                <a:ext uri="{FF2B5EF4-FFF2-40B4-BE49-F238E27FC236}">
                  <a16:creationId xmlns:a16="http://schemas.microsoft.com/office/drawing/2014/main" id="{F38F8556-5F6A-C54F-A372-5A6660E39681}"/>
                </a:ext>
              </a:extLst>
            </p:cNvPr>
            <p:cNvSpPr>
              <a:spLocks noChangeArrowheads="1"/>
            </p:cNvSpPr>
            <p:nvPr/>
          </p:nvSpPr>
          <p:spPr bwMode="auto">
            <a:xfrm>
              <a:off x="1918" y="3590"/>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08</a:t>
              </a:r>
            </a:p>
          </p:txBody>
        </p:sp>
        <p:sp>
          <p:nvSpPr>
            <p:cNvPr id="245835" name="Rectangle 82">
              <a:extLst>
                <a:ext uri="{FF2B5EF4-FFF2-40B4-BE49-F238E27FC236}">
                  <a16:creationId xmlns:a16="http://schemas.microsoft.com/office/drawing/2014/main" id="{3D3E7250-0F37-8B4E-93E8-80897673B8E9}"/>
                </a:ext>
              </a:extLst>
            </p:cNvPr>
            <p:cNvSpPr>
              <a:spLocks noChangeArrowheads="1"/>
            </p:cNvSpPr>
            <p:nvPr/>
          </p:nvSpPr>
          <p:spPr bwMode="auto">
            <a:xfrm>
              <a:off x="1522" y="3590"/>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36" name="Rectangle 83">
              <a:extLst>
                <a:ext uri="{FF2B5EF4-FFF2-40B4-BE49-F238E27FC236}">
                  <a16:creationId xmlns:a16="http://schemas.microsoft.com/office/drawing/2014/main" id="{A5E25F39-0310-AB45-B585-7DEF3E8A3323}"/>
                </a:ext>
              </a:extLst>
            </p:cNvPr>
            <p:cNvSpPr>
              <a:spLocks noChangeArrowheads="1"/>
            </p:cNvSpPr>
            <p:nvPr/>
          </p:nvSpPr>
          <p:spPr bwMode="auto">
            <a:xfrm>
              <a:off x="1128" y="3590"/>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37" name="Rectangle 84">
              <a:extLst>
                <a:ext uri="{FF2B5EF4-FFF2-40B4-BE49-F238E27FC236}">
                  <a16:creationId xmlns:a16="http://schemas.microsoft.com/office/drawing/2014/main" id="{268555FE-433A-224A-8031-A9D9F8B07699}"/>
                </a:ext>
              </a:extLst>
            </p:cNvPr>
            <p:cNvSpPr>
              <a:spLocks noChangeArrowheads="1"/>
            </p:cNvSpPr>
            <p:nvPr/>
          </p:nvSpPr>
          <p:spPr bwMode="auto">
            <a:xfrm>
              <a:off x="731" y="3590"/>
              <a:ext cx="39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02</a:t>
              </a:r>
            </a:p>
          </p:txBody>
        </p:sp>
        <p:sp>
          <p:nvSpPr>
            <p:cNvPr id="245838" name="Rectangle 85">
              <a:extLst>
                <a:ext uri="{FF2B5EF4-FFF2-40B4-BE49-F238E27FC236}">
                  <a16:creationId xmlns:a16="http://schemas.microsoft.com/office/drawing/2014/main" id="{AC6A2906-6DA5-E040-9C0B-A6AC530BE235}"/>
                </a:ext>
              </a:extLst>
            </p:cNvPr>
            <p:cNvSpPr>
              <a:spLocks noChangeArrowheads="1"/>
            </p:cNvSpPr>
            <p:nvPr/>
          </p:nvSpPr>
          <p:spPr bwMode="auto">
            <a:xfrm>
              <a:off x="337" y="3590"/>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2</a:t>
              </a:r>
            </a:p>
          </p:txBody>
        </p:sp>
        <p:sp>
          <p:nvSpPr>
            <p:cNvPr id="245839" name="Rectangle 86">
              <a:extLst>
                <a:ext uri="{FF2B5EF4-FFF2-40B4-BE49-F238E27FC236}">
                  <a16:creationId xmlns:a16="http://schemas.microsoft.com/office/drawing/2014/main" id="{1EE64A6A-15D4-244B-BF05-C33E1C40E144}"/>
                </a:ext>
              </a:extLst>
            </p:cNvPr>
            <p:cNvSpPr>
              <a:spLocks noChangeArrowheads="1"/>
            </p:cNvSpPr>
            <p:nvPr/>
          </p:nvSpPr>
          <p:spPr bwMode="auto">
            <a:xfrm>
              <a:off x="5079" y="3386"/>
              <a:ext cx="3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40" name="Rectangle 87">
              <a:extLst>
                <a:ext uri="{FF2B5EF4-FFF2-40B4-BE49-F238E27FC236}">
                  <a16:creationId xmlns:a16="http://schemas.microsoft.com/office/drawing/2014/main" id="{998C4EBE-F67F-FD4D-988D-B0483D48786D}"/>
                </a:ext>
              </a:extLst>
            </p:cNvPr>
            <p:cNvSpPr>
              <a:spLocks noChangeArrowheads="1"/>
            </p:cNvSpPr>
            <p:nvPr/>
          </p:nvSpPr>
          <p:spPr bwMode="auto">
            <a:xfrm>
              <a:off x="4682" y="3386"/>
              <a:ext cx="39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41" name="Rectangle 88">
              <a:extLst>
                <a:ext uri="{FF2B5EF4-FFF2-40B4-BE49-F238E27FC236}">
                  <a16:creationId xmlns:a16="http://schemas.microsoft.com/office/drawing/2014/main" id="{8A398757-A9CB-DE42-AFBF-DEF3010DD5F2}"/>
                </a:ext>
              </a:extLst>
            </p:cNvPr>
            <p:cNvSpPr>
              <a:spLocks noChangeArrowheads="1"/>
            </p:cNvSpPr>
            <p:nvPr/>
          </p:nvSpPr>
          <p:spPr bwMode="auto">
            <a:xfrm>
              <a:off x="4288" y="3386"/>
              <a:ext cx="3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a:t>
              </a:r>
            </a:p>
          </p:txBody>
        </p:sp>
        <p:sp>
          <p:nvSpPr>
            <p:cNvPr id="245842" name="Rectangle 89">
              <a:extLst>
                <a:ext uri="{FF2B5EF4-FFF2-40B4-BE49-F238E27FC236}">
                  <a16:creationId xmlns:a16="http://schemas.microsoft.com/office/drawing/2014/main" id="{AADCFEE1-0983-054D-8762-2F6BE0630D5F}"/>
                </a:ext>
              </a:extLst>
            </p:cNvPr>
            <p:cNvSpPr>
              <a:spLocks noChangeArrowheads="1"/>
            </p:cNvSpPr>
            <p:nvPr/>
          </p:nvSpPr>
          <p:spPr bwMode="auto">
            <a:xfrm>
              <a:off x="3892" y="3386"/>
              <a:ext cx="39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43" name="Rectangle 90">
              <a:extLst>
                <a:ext uri="{FF2B5EF4-FFF2-40B4-BE49-F238E27FC236}">
                  <a16:creationId xmlns:a16="http://schemas.microsoft.com/office/drawing/2014/main" id="{63C5FAD0-4C97-054C-9015-2A0C0AE70EC2}"/>
                </a:ext>
              </a:extLst>
            </p:cNvPr>
            <p:cNvSpPr>
              <a:spLocks noChangeArrowheads="1"/>
            </p:cNvSpPr>
            <p:nvPr/>
          </p:nvSpPr>
          <p:spPr bwMode="auto">
            <a:xfrm>
              <a:off x="3498" y="3386"/>
              <a:ext cx="3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44" name="Rectangle 91">
              <a:extLst>
                <a:ext uri="{FF2B5EF4-FFF2-40B4-BE49-F238E27FC236}">
                  <a16:creationId xmlns:a16="http://schemas.microsoft.com/office/drawing/2014/main" id="{FC0DFCA5-C370-C341-9E67-F0FB8A1FF2AF}"/>
                </a:ext>
              </a:extLst>
            </p:cNvPr>
            <p:cNvSpPr>
              <a:spLocks noChangeArrowheads="1"/>
            </p:cNvSpPr>
            <p:nvPr/>
          </p:nvSpPr>
          <p:spPr bwMode="auto">
            <a:xfrm>
              <a:off x="3103" y="3386"/>
              <a:ext cx="39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04</a:t>
              </a:r>
            </a:p>
          </p:txBody>
        </p:sp>
        <p:sp>
          <p:nvSpPr>
            <p:cNvPr id="245845" name="Rectangle 92">
              <a:extLst>
                <a:ext uri="{FF2B5EF4-FFF2-40B4-BE49-F238E27FC236}">
                  <a16:creationId xmlns:a16="http://schemas.microsoft.com/office/drawing/2014/main" id="{1602A258-64B0-2F41-9F42-B803F30BF03E}"/>
                </a:ext>
              </a:extLst>
            </p:cNvPr>
            <p:cNvSpPr>
              <a:spLocks noChangeArrowheads="1"/>
            </p:cNvSpPr>
            <p:nvPr/>
          </p:nvSpPr>
          <p:spPr bwMode="auto">
            <a:xfrm>
              <a:off x="2707" y="3386"/>
              <a:ext cx="39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46" name="Rectangle 93">
              <a:extLst>
                <a:ext uri="{FF2B5EF4-FFF2-40B4-BE49-F238E27FC236}">
                  <a16:creationId xmlns:a16="http://schemas.microsoft.com/office/drawing/2014/main" id="{6CD0987D-02C5-A64B-B65D-F376398A4E81}"/>
                </a:ext>
              </a:extLst>
            </p:cNvPr>
            <p:cNvSpPr>
              <a:spLocks noChangeArrowheads="1"/>
            </p:cNvSpPr>
            <p:nvPr/>
          </p:nvSpPr>
          <p:spPr bwMode="auto">
            <a:xfrm>
              <a:off x="2312" y="3386"/>
              <a:ext cx="395"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47" name="Rectangle 94">
              <a:extLst>
                <a:ext uri="{FF2B5EF4-FFF2-40B4-BE49-F238E27FC236}">
                  <a16:creationId xmlns:a16="http://schemas.microsoft.com/office/drawing/2014/main" id="{DC2AF90A-E579-1A47-B4DD-A2B6F659EE3B}"/>
                </a:ext>
              </a:extLst>
            </p:cNvPr>
            <p:cNvSpPr>
              <a:spLocks noChangeArrowheads="1"/>
            </p:cNvSpPr>
            <p:nvPr/>
          </p:nvSpPr>
          <p:spPr bwMode="auto">
            <a:xfrm>
              <a:off x="1918" y="3386"/>
              <a:ext cx="3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02</a:t>
              </a:r>
            </a:p>
          </p:txBody>
        </p:sp>
        <p:sp>
          <p:nvSpPr>
            <p:cNvPr id="245848" name="Rectangle 95">
              <a:extLst>
                <a:ext uri="{FF2B5EF4-FFF2-40B4-BE49-F238E27FC236}">
                  <a16:creationId xmlns:a16="http://schemas.microsoft.com/office/drawing/2014/main" id="{D8828F91-2B2E-9545-815A-6402756B151A}"/>
                </a:ext>
              </a:extLst>
            </p:cNvPr>
            <p:cNvSpPr>
              <a:spLocks noChangeArrowheads="1"/>
            </p:cNvSpPr>
            <p:nvPr/>
          </p:nvSpPr>
          <p:spPr bwMode="auto">
            <a:xfrm>
              <a:off x="1522" y="3386"/>
              <a:ext cx="39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2"/>
                  </a:solidFill>
                  <a:latin typeface="微软雅黑" panose="020B0503020204020204" pitchFamily="34" charset="-122"/>
                  <a:ea typeface="微软雅黑" panose="020B0503020204020204" pitchFamily="34" charset="-122"/>
                </a:rPr>
                <a:t>1</a:t>
              </a:r>
            </a:p>
          </p:txBody>
        </p:sp>
        <p:sp>
          <p:nvSpPr>
            <p:cNvPr id="245849" name="Rectangle 96">
              <a:extLst>
                <a:ext uri="{FF2B5EF4-FFF2-40B4-BE49-F238E27FC236}">
                  <a16:creationId xmlns:a16="http://schemas.microsoft.com/office/drawing/2014/main" id="{658289F9-D3EE-7E4C-82A5-544B334FE5A7}"/>
                </a:ext>
              </a:extLst>
            </p:cNvPr>
            <p:cNvSpPr>
              <a:spLocks noChangeArrowheads="1"/>
            </p:cNvSpPr>
            <p:nvPr/>
          </p:nvSpPr>
          <p:spPr bwMode="auto">
            <a:xfrm>
              <a:off x="1128" y="3386"/>
              <a:ext cx="3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2"/>
                  </a:solidFill>
                  <a:latin typeface="微软雅黑" panose="020B0503020204020204" pitchFamily="34" charset="-122"/>
                  <a:ea typeface="微软雅黑" panose="020B0503020204020204" pitchFamily="34" charset="-122"/>
                </a:rPr>
                <a:t>2D</a:t>
              </a:r>
            </a:p>
          </p:txBody>
        </p:sp>
        <p:sp>
          <p:nvSpPr>
            <p:cNvPr id="245850" name="Rectangle 97">
              <a:extLst>
                <a:ext uri="{FF2B5EF4-FFF2-40B4-BE49-F238E27FC236}">
                  <a16:creationId xmlns:a16="http://schemas.microsoft.com/office/drawing/2014/main" id="{D9A3E1B9-58AD-5F41-9DA9-1A964C76C3A0}"/>
                </a:ext>
              </a:extLst>
            </p:cNvPr>
            <p:cNvSpPr>
              <a:spLocks noChangeArrowheads="1"/>
            </p:cNvSpPr>
            <p:nvPr/>
          </p:nvSpPr>
          <p:spPr bwMode="auto">
            <a:xfrm>
              <a:off x="731" y="3386"/>
              <a:ext cx="39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2"/>
                  </a:solidFill>
                  <a:latin typeface="微软雅黑" panose="020B0503020204020204" pitchFamily="34" charset="-122"/>
                  <a:ea typeface="微软雅黑" panose="020B0503020204020204" pitchFamily="34" charset="-122"/>
                </a:rPr>
                <a:t>03</a:t>
              </a:r>
            </a:p>
          </p:txBody>
        </p:sp>
        <p:sp>
          <p:nvSpPr>
            <p:cNvPr id="245851" name="Rectangle 98">
              <a:extLst>
                <a:ext uri="{FF2B5EF4-FFF2-40B4-BE49-F238E27FC236}">
                  <a16:creationId xmlns:a16="http://schemas.microsoft.com/office/drawing/2014/main" id="{60BC56D6-1F43-D541-AD42-23D947076331}"/>
                </a:ext>
              </a:extLst>
            </p:cNvPr>
            <p:cNvSpPr>
              <a:spLocks noChangeArrowheads="1"/>
            </p:cNvSpPr>
            <p:nvPr/>
          </p:nvSpPr>
          <p:spPr bwMode="auto">
            <a:xfrm>
              <a:off x="337" y="3386"/>
              <a:ext cx="39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1</a:t>
              </a:r>
            </a:p>
          </p:txBody>
        </p:sp>
        <p:sp>
          <p:nvSpPr>
            <p:cNvPr id="245852" name="Rectangle 99">
              <a:extLst>
                <a:ext uri="{FF2B5EF4-FFF2-40B4-BE49-F238E27FC236}">
                  <a16:creationId xmlns:a16="http://schemas.microsoft.com/office/drawing/2014/main" id="{BB343704-DBE4-CF46-B8C4-AA6378C6CC61}"/>
                </a:ext>
              </a:extLst>
            </p:cNvPr>
            <p:cNvSpPr>
              <a:spLocks noChangeArrowheads="1"/>
            </p:cNvSpPr>
            <p:nvPr/>
          </p:nvSpPr>
          <p:spPr bwMode="auto">
            <a:xfrm>
              <a:off x="5079" y="3181"/>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5853" name="Rectangle 100">
              <a:extLst>
                <a:ext uri="{FF2B5EF4-FFF2-40B4-BE49-F238E27FC236}">
                  <a16:creationId xmlns:a16="http://schemas.microsoft.com/office/drawing/2014/main" id="{C48BBD87-860E-6B4A-8E6F-66DBE630E442}"/>
                </a:ext>
              </a:extLst>
            </p:cNvPr>
            <p:cNvSpPr>
              <a:spLocks noChangeArrowheads="1"/>
            </p:cNvSpPr>
            <p:nvPr/>
          </p:nvSpPr>
          <p:spPr bwMode="auto">
            <a:xfrm>
              <a:off x="4682" y="3181"/>
              <a:ext cx="39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02</a:t>
              </a:r>
            </a:p>
          </p:txBody>
        </p:sp>
        <p:sp>
          <p:nvSpPr>
            <p:cNvPr id="245854" name="Rectangle 101">
              <a:extLst>
                <a:ext uri="{FF2B5EF4-FFF2-40B4-BE49-F238E27FC236}">
                  <a16:creationId xmlns:a16="http://schemas.microsoft.com/office/drawing/2014/main" id="{37164EB8-9B93-2840-AA58-E68A4860F4C3}"/>
                </a:ext>
              </a:extLst>
            </p:cNvPr>
            <p:cNvSpPr>
              <a:spLocks noChangeArrowheads="1"/>
            </p:cNvSpPr>
            <p:nvPr/>
          </p:nvSpPr>
          <p:spPr bwMode="auto">
            <a:xfrm>
              <a:off x="4288" y="3181"/>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07</a:t>
              </a:r>
            </a:p>
          </p:txBody>
        </p:sp>
        <p:sp>
          <p:nvSpPr>
            <p:cNvPr id="245855" name="Rectangle 102">
              <a:extLst>
                <a:ext uri="{FF2B5EF4-FFF2-40B4-BE49-F238E27FC236}">
                  <a16:creationId xmlns:a16="http://schemas.microsoft.com/office/drawing/2014/main" id="{ADC82EEC-26F6-5044-8F5C-C06499CD1DF8}"/>
                </a:ext>
              </a:extLst>
            </p:cNvPr>
            <p:cNvSpPr>
              <a:spLocks noChangeArrowheads="1"/>
            </p:cNvSpPr>
            <p:nvPr/>
          </p:nvSpPr>
          <p:spPr bwMode="auto">
            <a:xfrm>
              <a:off x="3892" y="3181"/>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56" name="Rectangle 103">
              <a:extLst>
                <a:ext uri="{FF2B5EF4-FFF2-40B4-BE49-F238E27FC236}">
                  <a16:creationId xmlns:a16="http://schemas.microsoft.com/office/drawing/2014/main" id="{61511C2C-6833-C847-9CA2-3E47308756F0}"/>
                </a:ext>
              </a:extLst>
            </p:cNvPr>
            <p:cNvSpPr>
              <a:spLocks noChangeArrowheads="1"/>
            </p:cNvSpPr>
            <p:nvPr/>
          </p:nvSpPr>
          <p:spPr bwMode="auto">
            <a:xfrm>
              <a:off x="3498" y="3181"/>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57" name="Rectangle 104">
              <a:extLst>
                <a:ext uri="{FF2B5EF4-FFF2-40B4-BE49-F238E27FC236}">
                  <a16:creationId xmlns:a16="http://schemas.microsoft.com/office/drawing/2014/main" id="{8C70AFF4-3957-8145-90DB-DF736A04ACA8}"/>
                </a:ext>
              </a:extLst>
            </p:cNvPr>
            <p:cNvSpPr>
              <a:spLocks noChangeArrowheads="1"/>
            </p:cNvSpPr>
            <p:nvPr/>
          </p:nvSpPr>
          <p:spPr bwMode="auto">
            <a:xfrm>
              <a:off x="3103" y="3181"/>
              <a:ext cx="395"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00</a:t>
              </a:r>
            </a:p>
          </p:txBody>
        </p:sp>
        <p:sp>
          <p:nvSpPr>
            <p:cNvPr id="245858" name="Rectangle 105">
              <a:extLst>
                <a:ext uri="{FF2B5EF4-FFF2-40B4-BE49-F238E27FC236}">
                  <a16:creationId xmlns:a16="http://schemas.microsoft.com/office/drawing/2014/main" id="{9CBE7F00-794B-AF43-AD08-0BDBA1574FFC}"/>
                </a:ext>
              </a:extLst>
            </p:cNvPr>
            <p:cNvSpPr>
              <a:spLocks noChangeArrowheads="1"/>
            </p:cNvSpPr>
            <p:nvPr/>
          </p:nvSpPr>
          <p:spPr bwMode="auto">
            <a:xfrm>
              <a:off x="2707" y="3181"/>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2"/>
                  </a:solidFill>
                  <a:latin typeface="微软雅黑" panose="020B0503020204020204" pitchFamily="34" charset="-122"/>
                  <a:ea typeface="微软雅黑" panose="020B0503020204020204" pitchFamily="34" charset="-122"/>
                </a:rPr>
                <a:t>1</a:t>
              </a:r>
            </a:p>
          </p:txBody>
        </p:sp>
        <p:sp>
          <p:nvSpPr>
            <p:cNvPr id="245859" name="Rectangle 106">
              <a:extLst>
                <a:ext uri="{FF2B5EF4-FFF2-40B4-BE49-F238E27FC236}">
                  <a16:creationId xmlns:a16="http://schemas.microsoft.com/office/drawing/2014/main" id="{70CC5627-E02E-324A-847C-8D2DBDFE819C}"/>
                </a:ext>
              </a:extLst>
            </p:cNvPr>
            <p:cNvSpPr>
              <a:spLocks noChangeArrowheads="1"/>
            </p:cNvSpPr>
            <p:nvPr/>
          </p:nvSpPr>
          <p:spPr bwMode="auto">
            <a:xfrm>
              <a:off x="2312" y="3181"/>
              <a:ext cx="395"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2"/>
                  </a:solidFill>
                  <a:latin typeface="微软雅黑" panose="020B0503020204020204" pitchFamily="34" charset="-122"/>
                  <a:ea typeface="微软雅黑" panose="020B0503020204020204" pitchFamily="34" charset="-122"/>
                </a:rPr>
                <a:t>0D</a:t>
              </a:r>
            </a:p>
          </p:txBody>
        </p:sp>
        <p:sp>
          <p:nvSpPr>
            <p:cNvPr id="245860" name="Rectangle 107">
              <a:extLst>
                <a:ext uri="{FF2B5EF4-FFF2-40B4-BE49-F238E27FC236}">
                  <a16:creationId xmlns:a16="http://schemas.microsoft.com/office/drawing/2014/main" id="{4948D761-66C1-404F-B20D-2F5428834321}"/>
                </a:ext>
              </a:extLst>
            </p:cNvPr>
            <p:cNvSpPr>
              <a:spLocks noChangeArrowheads="1"/>
            </p:cNvSpPr>
            <p:nvPr/>
          </p:nvSpPr>
          <p:spPr bwMode="auto">
            <a:xfrm>
              <a:off x="1918" y="3181"/>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2"/>
                  </a:solidFill>
                  <a:latin typeface="微软雅黑" panose="020B0503020204020204" pitchFamily="34" charset="-122"/>
                  <a:ea typeface="微软雅黑" panose="020B0503020204020204" pitchFamily="34" charset="-122"/>
                </a:rPr>
                <a:t>09</a:t>
              </a:r>
            </a:p>
          </p:txBody>
        </p:sp>
        <p:sp>
          <p:nvSpPr>
            <p:cNvPr id="245861" name="Rectangle 108">
              <a:extLst>
                <a:ext uri="{FF2B5EF4-FFF2-40B4-BE49-F238E27FC236}">
                  <a16:creationId xmlns:a16="http://schemas.microsoft.com/office/drawing/2014/main" id="{185DCFDB-CCAD-9245-A7E6-E6D0E3D30DAD}"/>
                </a:ext>
              </a:extLst>
            </p:cNvPr>
            <p:cNvSpPr>
              <a:spLocks noChangeArrowheads="1"/>
            </p:cNvSpPr>
            <p:nvPr/>
          </p:nvSpPr>
          <p:spPr bwMode="auto">
            <a:xfrm>
              <a:off x="1522" y="3181"/>
              <a:ext cx="39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5862" name="Rectangle 109">
              <a:extLst>
                <a:ext uri="{FF2B5EF4-FFF2-40B4-BE49-F238E27FC236}">
                  <a16:creationId xmlns:a16="http://schemas.microsoft.com/office/drawing/2014/main" id="{E62BA5CB-DE18-FD4F-B880-7F95BF0F15F9}"/>
                </a:ext>
              </a:extLst>
            </p:cNvPr>
            <p:cNvSpPr>
              <a:spLocks noChangeArrowheads="1"/>
            </p:cNvSpPr>
            <p:nvPr/>
          </p:nvSpPr>
          <p:spPr bwMode="auto">
            <a:xfrm>
              <a:off x="1128" y="3181"/>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5863" name="Rectangle 110">
              <a:extLst>
                <a:ext uri="{FF2B5EF4-FFF2-40B4-BE49-F238E27FC236}">
                  <a16:creationId xmlns:a16="http://schemas.microsoft.com/office/drawing/2014/main" id="{AAB00255-5ECF-2B43-A19C-4F55D247DDD6}"/>
                </a:ext>
              </a:extLst>
            </p:cNvPr>
            <p:cNvSpPr>
              <a:spLocks noChangeArrowheads="1"/>
            </p:cNvSpPr>
            <p:nvPr/>
          </p:nvSpPr>
          <p:spPr bwMode="auto">
            <a:xfrm>
              <a:off x="731" y="3181"/>
              <a:ext cx="39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03</a:t>
              </a:r>
            </a:p>
          </p:txBody>
        </p:sp>
        <p:sp>
          <p:nvSpPr>
            <p:cNvPr id="245864" name="Rectangle 111">
              <a:extLst>
                <a:ext uri="{FF2B5EF4-FFF2-40B4-BE49-F238E27FC236}">
                  <a16:creationId xmlns:a16="http://schemas.microsoft.com/office/drawing/2014/main" id="{6C6874F4-6BA9-4948-856D-3A8CD1EEC492}"/>
                </a:ext>
              </a:extLst>
            </p:cNvPr>
            <p:cNvSpPr>
              <a:spLocks noChangeArrowheads="1"/>
            </p:cNvSpPr>
            <p:nvPr/>
          </p:nvSpPr>
          <p:spPr bwMode="auto">
            <a:xfrm>
              <a:off x="337" y="3181"/>
              <a:ext cx="394"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0</a:t>
              </a:r>
            </a:p>
          </p:txBody>
        </p:sp>
        <p:sp>
          <p:nvSpPr>
            <p:cNvPr id="35952" name="Rectangle 112">
              <a:extLst>
                <a:ext uri="{FF2B5EF4-FFF2-40B4-BE49-F238E27FC236}">
                  <a16:creationId xmlns:a16="http://schemas.microsoft.com/office/drawing/2014/main" id="{0699A726-0798-3A43-958F-3EDEC4E72D29}"/>
                </a:ext>
              </a:extLst>
            </p:cNvPr>
            <p:cNvSpPr>
              <a:spLocks noChangeArrowheads="1"/>
            </p:cNvSpPr>
            <p:nvPr/>
          </p:nvSpPr>
          <p:spPr bwMode="auto">
            <a:xfrm>
              <a:off x="5079"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500" b="1" i="1">
                  <a:solidFill>
                    <a:srgbClr val="990000"/>
                  </a:solidFill>
                  <a:latin typeface="微软雅黑" panose="020B0503020204020204" pitchFamily="34" charset="-122"/>
                  <a:ea typeface="微软雅黑" panose="020B0503020204020204" pitchFamily="34" charset="-122"/>
                </a:rPr>
                <a:t>Valid</a:t>
              </a:r>
            </a:p>
          </p:txBody>
        </p:sp>
        <p:sp>
          <p:nvSpPr>
            <p:cNvPr id="35953" name="Rectangle 113">
              <a:extLst>
                <a:ext uri="{FF2B5EF4-FFF2-40B4-BE49-F238E27FC236}">
                  <a16:creationId xmlns:a16="http://schemas.microsoft.com/office/drawing/2014/main" id="{E56B171E-7731-D44D-B50F-D34B92FC33DF}"/>
                </a:ext>
              </a:extLst>
            </p:cNvPr>
            <p:cNvSpPr>
              <a:spLocks noChangeArrowheads="1"/>
            </p:cNvSpPr>
            <p:nvPr/>
          </p:nvSpPr>
          <p:spPr bwMode="auto">
            <a:xfrm>
              <a:off x="4682"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PPN</a:t>
              </a:r>
            </a:p>
          </p:txBody>
        </p:sp>
        <p:sp>
          <p:nvSpPr>
            <p:cNvPr id="35954" name="Rectangle 114">
              <a:extLst>
                <a:ext uri="{FF2B5EF4-FFF2-40B4-BE49-F238E27FC236}">
                  <a16:creationId xmlns:a16="http://schemas.microsoft.com/office/drawing/2014/main" id="{2707B6B6-74D1-EB43-9F33-D5A40F304B44}"/>
                </a:ext>
              </a:extLst>
            </p:cNvPr>
            <p:cNvSpPr>
              <a:spLocks noChangeArrowheads="1"/>
            </p:cNvSpPr>
            <p:nvPr/>
          </p:nvSpPr>
          <p:spPr bwMode="auto">
            <a:xfrm>
              <a:off x="4288"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Tag</a:t>
              </a:r>
            </a:p>
          </p:txBody>
        </p:sp>
        <p:sp>
          <p:nvSpPr>
            <p:cNvPr id="35955" name="Rectangle 115">
              <a:extLst>
                <a:ext uri="{FF2B5EF4-FFF2-40B4-BE49-F238E27FC236}">
                  <a16:creationId xmlns:a16="http://schemas.microsoft.com/office/drawing/2014/main" id="{B4B7D6EA-649B-5344-B1E5-EECA1D68415E}"/>
                </a:ext>
              </a:extLst>
            </p:cNvPr>
            <p:cNvSpPr>
              <a:spLocks noChangeArrowheads="1"/>
            </p:cNvSpPr>
            <p:nvPr/>
          </p:nvSpPr>
          <p:spPr bwMode="auto">
            <a:xfrm>
              <a:off x="3892" y="2976"/>
              <a:ext cx="396"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500" b="1" i="1">
                  <a:solidFill>
                    <a:srgbClr val="990000"/>
                  </a:solidFill>
                  <a:latin typeface="微软雅黑" panose="020B0503020204020204" pitchFamily="34" charset="-122"/>
                  <a:ea typeface="微软雅黑" panose="020B0503020204020204" pitchFamily="34" charset="-122"/>
                </a:rPr>
                <a:t>Valid</a:t>
              </a:r>
            </a:p>
          </p:txBody>
        </p:sp>
        <p:sp>
          <p:nvSpPr>
            <p:cNvPr id="35956" name="Rectangle 116">
              <a:extLst>
                <a:ext uri="{FF2B5EF4-FFF2-40B4-BE49-F238E27FC236}">
                  <a16:creationId xmlns:a16="http://schemas.microsoft.com/office/drawing/2014/main" id="{DC815452-5588-404C-BF2D-6DF4CE25B03F}"/>
                </a:ext>
              </a:extLst>
            </p:cNvPr>
            <p:cNvSpPr>
              <a:spLocks noChangeArrowheads="1"/>
            </p:cNvSpPr>
            <p:nvPr/>
          </p:nvSpPr>
          <p:spPr bwMode="auto">
            <a:xfrm>
              <a:off x="3498"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PPN</a:t>
              </a:r>
            </a:p>
          </p:txBody>
        </p:sp>
        <p:sp>
          <p:nvSpPr>
            <p:cNvPr id="35957" name="Rectangle 117">
              <a:extLst>
                <a:ext uri="{FF2B5EF4-FFF2-40B4-BE49-F238E27FC236}">
                  <a16:creationId xmlns:a16="http://schemas.microsoft.com/office/drawing/2014/main" id="{E400CA09-3B3F-BF48-BB83-026538E677F3}"/>
                </a:ext>
              </a:extLst>
            </p:cNvPr>
            <p:cNvSpPr>
              <a:spLocks noChangeArrowheads="1"/>
            </p:cNvSpPr>
            <p:nvPr/>
          </p:nvSpPr>
          <p:spPr bwMode="auto">
            <a:xfrm>
              <a:off x="3103" y="2976"/>
              <a:ext cx="395"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Tag</a:t>
              </a:r>
            </a:p>
          </p:txBody>
        </p:sp>
        <p:sp>
          <p:nvSpPr>
            <p:cNvPr id="35958" name="Rectangle 118">
              <a:extLst>
                <a:ext uri="{FF2B5EF4-FFF2-40B4-BE49-F238E27FC236}">
                  <a16:creationId xmlns:a16="http://schemas.microsoft.com/office/drawing/2014/main" id="{D049FE13-5E1C-D642-B5DC-9764180A1B28}"/>
                </a:ext>
              </a:extLst>
            </p:cNvPr>
            <p:cNvSpPr>
              <a:spLocks noChangeArrowheads="1"/>
            </p:cNvSpPr>
            <p:nvPr/>
          </p:nvSpPr>
          <p:spPr bwMode="auto">
            <a:xfrm>
              <a:off x="2707"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500" b="1" i="1">
                  <a:solidFill>
                    <a:srgbClr val="990000"/>
                  </a:solidFill>
                  <a:latin typeface="微软雅黑" panose="020B0503020204020204" pitchFamily="34" charset="-122"/>
                  <a:ea typeface="微软雅黑" panose="020B0503020204020204" pitchFamily="34" charset="-122"/>
                </a:rPr>
                <a:t>Valid</a:t>
              </a:r>
            </a:p>
          </p:txBody>
        </p:sp>
        <p:sp>
          <p:nvSpPr>
            <p:cNvPr id="35959" name="Rectangle 119">
              <a:extLst>
                <a:ext uri="{FF2B5EF4-FFF2-40B4-BE49-F238E27FC236}">
                  <a16:creationId xmlns:a16="http://schemas.microsoft.com/office/drawing/2014/main" id="{099BB0CB-0304-7445-8B2B-5B7915713C51}"/>
                </a:ext>
              </a:extLst>
            </p:cNvPr>
            <p:cNvSpPr>
              <a:spLocks noChangeArrowheads="1"/>
            </p:cNvSpPr>
            <p:nvPr/>
          </p:nvSpPr>
          <p:spPr bwMode="auto">
            <a:xfrm>
              <a:off x="2312" y="2976"/>
              <a:ext cx="395"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PPN</a:t>
              </a:r>
            </a:p>
          </p:txBody>
        </p:sp>
        <p:sp>
          <p:nvSpPr>
            <p:cNvPr id="35960" name="Rectangle 120">
              <a:extLst>
                <a:ext uri="{FF2B5EF4-FFF2-40B4-BE49-F238E27FC236}">
                  <a16:creationId xmlns:a16="http://schemas.microsoft.com/office/drawing/2014/main" id="{5CB940E9-6FEB-8B48-A863-1CCB3B957A1C}"/>
                </a:ext>
              </a:extLst>
            </p:cNvPr>
            <p:cNvSpPr>
              <a:spLocks noChangeArrowheads="1"/>
            </p:cNvSpPr>
            <p:nvPr/>
          </p:nvSpPr>
          <p:spPr bwMode="auto">
            <a:xfrm>
              <a:off x="1918"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Tag</a:t>
              </a:r>
            </a:p>
          </p:txBody>
        </p:sp>
        <p:sp>
          <p:nvSpPr>
            <p:cNvPr id="35961" name="Rectangle 121">
              <a:extLst>
                <a:ext uri="{FF2B5EF4-FFF2-40B4-BE49-F238E27FC236}">
                  <a16:creationId xmlns:a16="http://schemas.microsoft.com/office/drawing/2014/main" id="{9D34D1B1-90A9-B442-A09B-5FE43C37EAD7}"/>
                </a:ext>
              </a:extLst>
            </p:cNvPr>
            <p:cNvSpPr>
              <a:spLocks noChangeArrowheads="1"/>
            </p:cNvSpPr>
            <p:nvPr/>
          </p:nvSpPr>
          <p:spPr bwMode="auto">
            <a:xfrm>
              <a:off x="1522"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500" b="1" i="1">
                  <a:solidFill>
                    <a:srgbClr val="990000"/>
                  </a:solidFill>
                  <a:latin typeface="微软雅黑" panose="020B0503020204020204" pitchFamily="34" charset="-122"/>
                  <a:ea typeface="微软雅黑" panose="020B0503020204020204" pitchFamily="34" charset="-122"/>
                </a:rPr>
                <a:t>Valid</a:t>
              </a:r>
            </a:p>
          </p:txBody>
        </p:sp>
        <p:sp>
          <p:nvSpPr>
            <p:cNvPr id="35962" name="Rectangle 122">
              <a:extLst>
                <a:ext uri="{FF2B5EF4-FFF2-40B4-BE49-F238E27FC236}">
                  <a16:creationId xmlns:a16="http://schemas.microsoft.com/office/drawing/2014/main" id="{686A7549-5B06-0345-A6CC-81EBFDA6FCC2}"/>
                </a:ext>
              </a:extLst>
            </p:cNvPr>
            <p:cNvSpPr>
              <a:spLocks noChangeArrowheads="1"/>
            </p:cNvSpPr>
            <p:nvPr/>
          </p:nvSpPr>
          <p:spPr bwMode="auto">
            <a:xfrm>
              <a:off x="1128"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PPN</a:t>
              </a:r>
            </a:p>
          </p:txBody>
        </p:sp>
        <p:sp>
          <p:nvSpPr>
            <p:cNvPr id="35963" name="Rectangle 123">
              <a:extLst>
                <a:ext uri="{FF2B5EF4-FFF2-40B4-BE49-F238E27FC236}">
                  <a16:creationId xmlns:a16="http://schemas.microsoft.com/office/drawing/2014/main" id="{B9E0A721-06CC-414A-A5F9-BC09B62FAB21}"/>
                </a:ext>
              </a:extLst>
            </p:cNvPr>
            <p:cNvSpPr>
              <a:spLocks noChangeArrowheads="1"/>
            </p:cNvSpPr>
            <p:nvPr/>
          </p:nvSpPr>
          <p:spPr bwMode="auto">
            <a:xfrm>
              <a:off x="731"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Tag</a:t>
              </a:r>
            </a:p>
          </p:txBody>
        </p:sp>
        <p:sp>
          <p:nvSpPr>
            <p:cNvPr id="35964" name="Rectangle 124">
              <a:extLst>
                <a:ext uri="{FF2B5EF4-FFF2-40B4-BE49-F238E27FC236}">
                  <a16:creationId xmlns:a16="http://schemas.microsoft.com/office/drawing/2014/main" id="{111E4EE6-D091-E94B-823A-6C21F6B1E1F6}"/>
                </a:ext>
              </a:extLst>
            </p:cNvPr>
            <p:cNvSpPr>
              <a:spLocks noChangeArrowheads="1"/>
            </p:cNvSpPr>
            <p:nvPr/>
          </p:nvSpPr>
          <p:spPr bwMode="auto">
            <a:xfrm>
              <a:off x="337" y="2976"/>
              <a:ext cx="394" cy="205"/>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Set</a:t>
              </a:r>
            </a:p>
          </p:txBody>
        </p:sp>
        <p:sp>
          <p:nvSpPr>
            <p:cNvPr id="245878" name="Line 125">
              <a:extLst>
                <a:ext uri="{FF2B5EF4-FFF2-40B4-BE49-F238E27FC236}">
                  <a16:creationId xmlns:a16="http://schemas.microsoft.com/office/drawing/2014/main" id="{1AEF15B3-3F47-AD46-8B6B-FF7F2B59B50B}"/>
                </a:ext>
              </a:extLst>
            </p:cNvPr>
            <p:cNvSpPr>
              <a:spLocks noChangeShapeType="1"/>
            </p:cNvSpPr>
            <p:nvPr/>
          </p:nvSpPr>
          <p:spPr bwMode="auto">
            <a:xfrm>
              <a:off x="337" y="3181"/>
              <a:ext cx="5136"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79" name="Line 126">
              <a:extLst>
                <a:ext uri="{FF2B5EF4-FFF2-40B4-BE49-F238E27FC236}">
                  <a16:creationId xmlns:a16="http://schemas.microsoft.com/office/drawing/2014/main" id="{DF253958-0660-894B-AD7C-FCD58E79A2C6}"/>
                </a:ext>
              </a:extLst>
            </p:cNvPr>
            <p:cNvSpPr>
              <a:spLocks noChangeShapeType="1"/>
            </p:cNvSpPr>
            <p:nvPr/>
          </p:nvSpPr>
          <p:spPr bwMode="auto">
            <a:xfrm>
              <a:off x="337" y="3386"/>
              <a:ext cx="5136"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0" name="Line 127">
              <a:extLst>
                <a:ext uri="{FF2B5EF4-FFF2-40B4-BE49-F238E27FC236}">
                  <a16:creationId xmlns:a16="http://schemas.microsoft.com/office/drawing/2014/main" id="{A12D3686-28AA-0347-8E67-9258EA1562B4}"/>
                </a:ext>
              </a:extLst>
            </p:cNvPr>
            <p:cNvSpPr>
              <a:spLocks noChangeShapeType="1"/>
            </p:cNvSpPr>
            <p:nvPr/>
          </p:nvSpPr>
          <p:spPr bwMode="auto">
            <a:xfrm>
              <a:off x="337" y="3590"/>
              <a:ext cx="5136"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1" name="Line 128">
              <a:extLst>
                <a:ext uri="{FF2B5EF4-FFF2-40B4-BE49-F238E27FC236}">
                  <a16:creationId xmlns:a16="http://schemas.microsoft.com/office/drawing/2014/main" id="{EB1BA3AE-53E5-1749-91DF-6D8626E4BB48}"/>
                </a:ext>
              </a:extLst>
            </p:cNvPr>
            <p:cNvSpPr>
              <a:spLocks noChangeShapeType="1"/>
            </p:cNvSpPr>
            <p:nvPr/>
          </p:nvSpPr>
          <p:spPr bwMode="auto">
            <a:xfrm>
              <a:off x="337" y="3795"/>
              <a:ext cx="5136"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2" name="Line 129">
              <a:extLst>
                <a:ext uri="{FF2B5EF4-FFF2-40B4-BE49-F238E27FC236}">
                  <a16:creationId xmlns:a16="http://schemas.microsoft.com/office/drawing/2014/main" id="{C45CEB20-4524-1C44-9EB9-4933A10E5A3D}"/>
                </a:ext>
              </a:extLst>
            </p:cNvPr>
            <p:cNvSpPr>
              <a:spLocks noChangeShapeType="1"/>
            </p:cNvSpPr>
            <p:nvPr/>
          </p:nvSpPr>
          <p:spPr bwMode="auto">
            <a:xfrm>
              <a:off x="1128"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3" name="Line 130">
              <a:extLst>
                <a:ext uri="{FF2B5EF4-FFF2-40B4-BE49-F238E27FC236}">
                  <a16:creationId xmlns:a16="http://schemas.microsoft.com/office/drawing/2014/main" id="{E4934D97-7E04-014F-A014-5EA00C53E146}"/>
                </a:ext>
              </a:extLst>
            </p:cNvPr>
            <p:cNvSpPr>
              <a:spLocks noChangeShapeType="1"/>
            </p:cNvSpPr>
            <p:nvPr/>
          </p:nvSpPr>
          <p:spPr bwMode="auto">
            <a:xfrm>
              <a:off x="1522"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4" name="Line 131">
              <a:extLst>
                <a:ext uri="{FF2B5EF4-FFF2-40B4-BE49-F238E27FC236}">
                  <a16:creationId xmlns:a16="http://schemas.microsoft.com/office/drawing/2014/main" id="{E15973E9-536D-F842-8BBD-01CED684145D}"/>
                </a:ext>
              </a:extLst>
            </p:cNvPr>
            <p:cNvSpPr>
              <a:spLocks noChangeShapeType="1"/>
            </p:cNvSpPr>
            <p:nvPr/>
          </p:nvSpPr>
          <p:spPr bwMode="auto">
            <a:xfrm>
              <a:off x="2312"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5" name="Line 132">
              <a:extLst>
                <a:ext uri="{FF2B5EF4-FFF2-40B4-BE49-F238E27FC236}">
                  <a16:creationId xmlns:a16="http://schemas.microsoft.com/office/drawing/2014/main" id="{D1CF1879-2DC4-BD41-9175-89BF60504197}"/>
                </a:ext>
              </a:extLst>
            </p:cNvPr>
            <p:cNvSpPr>
              <a:spLocks noChangeShapeType="1"/>
            </p:cNvSpPr>
            <p:nvPr/>
          </p:nvSpPr>
          <p:spPr bwMode="auto">
            <a:xfrm>
              <a:off x="2707"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6" name="Line 133">
              <a:extLst>
                <a:ext uri="{FF2B5EF4-FFF2-40B4-BE49-F238E27FC236}">
                  <a16:creationId xmlns:a16="http://schemas.microsoft.com/office/drawing/2014/main" id="{D2790070-3805-8E4C-8FB7-9DDD0E8158D6}"/>
                </a:ext>
              </a:extLst>
            </p:cNvPr>
            <p:cNvSpPr>
              <a:spLocks noChangeShapeType="1"/>
            </p:cNvSpPr>
            <p:nvPr/>
          </p:nvSpPr>
          <p:spPr bwMode="auto">
            <a:xfrm>
              <a:off x="3498"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7" name="Line 134">
              <a:extLst>
                <a:ext uri="{FF2B5EF4-FFF2-40B4-BE49-F238E27FC236}">
                  <a16:creationId xmlns:a16="http://schemas.microsoft.com/office/drawing/2014/main" id="{50E20119-C0D5-E546-B2C9-537F970EAC6D}"/>
                </a:ext>
              </a:extLst>
            </p:cNvPr>
            <p:cNvSpPr>
              <a:spLocks noChangeShapeType="1"/>
            </p:cNvSpPr>
            <p:nvPr/>
          </p:nvSpPr>
          <p:spPr bwMode="auto">
            <a:xfrm>
              <a:off x="3892"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8" name="Line 135">
              <a:extLst>
                <a:ext uri="{FF2B5EF4-FFF2-40B4-BE49-F238E27FC236}">
                  <a16:creationId xmlns:a16="http://schemas.microsoft.com/office/drawing/2014/main" id="{66287C90-2F73-DA42-B3A6-0D5A92A3F6FE}"/>
                </a:ext>
              </a:extLst>
            </p:cNvPr>
            <p:cNvSpPr>
              <a:spLocks noChangeShapeType="1"/>
            </p:cNvSpPr>
            <p:nvPr/>
          </p:nvSpPr>
          <p:spPr bwMode="auto">
            <a:xfrm>
              <a:off x="4682"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9" name="Line 136">
              <a:extLst>
                <a:ext uri="{FF2B5EF4-FFF2-40B4-BE49-F238E27FC236}">
                  <a16:creationId xmlns:a16="http://schemas.microsoft.com/office/drawing/2014/main" id="{C72BB5D5-017C-F24E-B9A7-B8E5216D8750}"/>
                </a:ext>
              </a:extLst>
            </p:cNvPr>
            <p:cNvSpPr>
              <a:spLocks noChangeShapeType="1"/>
            </p:cNvSpPr>
            <p:nvPr/>
          </p:nvSpPr>
          <p:spPr bwMode="auto">
            <a:xfrm>
              <a:off x="5079" y="2976"/>
              <a:ext cx="1" cy="1024"/>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0" name="Line 137">
              <a:extLst>
                <a:ext uri="{FF2B5EF4-FFF2-40B4-BE49-F238E27FC236}">
                  <a16:creationId xmlns:a16="http://schemas.microsoft.com/office/drawing/2014/main" id="{18308BF3-F6D8-714E-B742-39A610E76D73}"/>
                </a:ext>
              </a:extLst>
            </p:cNvPr>
            <p:cNvSpPr>
              <a:spLocks noChangeShapeType="1"/>
            </p:cNvSpPr>
            <p:nvPr/>
          </p:nvSpPr>
          <p:spPr bwMode="auto">
            <a:xfrm>
              <a:off x="731" y="2976"/>
              <a:ext cx="1" cy="1024"/>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1" name="Line 138">
              <a:extLst>
                <a:ext uri="{FF2B5EF4-FFF2-40B4-BE49-F238E27FC236}">
                  <a16:creationId xmlns:a16="http://schemas.microsoft.com/office/drawing/2014/main" id="{03E6E321-7E8A-E148-9237-0F4D7138B473}"/>
                </a:ext>
              </a:extLst>
            </p:cNvPr>
            <p:cNvSpPr>
              <a:spLocks noChangeShapeType="1"/>
            </p:cNvSpPr>
            <p:nvPr/>
          </p:nvSpPr>
          <p:spPr bwMode="auto">
            <a:xfrm>
              <a:off x="1918" y="2976"/>
              <a:ext cx="1" cy="1024"/>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2" name="Line 139">
              <a:extLst>
                <a:ext uri="{FF2B5EF4-FFF2-40B4-BE49-F238E27FC236}">
                  <a16:creationId xmlns:a16="http://schemas.microsoft.com/office/drawing/2014/main" id="{59C13406-027A-FE43-952E-DE1CB45DA710}"/>
                </a:ext>
              </a:extLst>
            </p:cNvPr>
            <p:cNvSpPr>
              <a:spLocks noChangeShapeType="1"/>
            </p:cNvSpPr>
            <p:nvPr/>
          </p:nvSpPr>
          <p:spPr bwMode="auto">
            <a:xfrm>
              <a:off x="337" y="2976"/>
              <a:ext cx="1" cy="1024"/>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3" name="Line 140">
              <a:extLst>
                <a:ext uri="{FF2B5EF4-FFF2-40B4-BE49-F238E27FC236}">
                  <a16:creationId xmlns:a16="http://schemas.microsoft.com/office/drawing/2014/main" id="{2AE5FCC6-6A12-7645-90F4-AC75AECC6C8A}"/>
                </a:ext>
              </a:extLst>
            </p:cNvPr>
            <p:cNvSpPr>
              <a:spLocks noChangeShapeType="1"/>
            </p:cNvSpPr>
            <p:nvPr/>
          </p:nvSpPr>
          <p:spPr bwMode="auto">
            <a:xfrm>
              <a:off x="3103" y="2976"/>
              <a:ext cx="1" cy="1024"/>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4" name="Line 141">
              <a:extLst>
                <a:ext uri="{FF2B5EF4-FFF2-40B4-BE49-F238E27FC236}">
                  <a16:creationId xmlns:a16="http://schemas.microsoft.com/office/drawing/2014/main" id="{817A3796-9526-4D42-8A29-3C2A7B5E86B8}"/>
                </a:ext>
              </a:extLst>
            </p:cNvPr>
            <p:cNvSpPr>
              <a:spLocks noChangeShapeType="1"/>
            </p:cNvSpPr>
            <p:nvPr/>
          </p:nvSpPr>
          <p:spPr bwMode="auto">
            <a:xfrm>
              <a:off x="4288" y="2976"/>
              <a:ext cx="1" cy="1024"/>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5" name="Line 142">
              <a:extLst>
                <a:ext uri="{FF2B5EF4-FFF2-40B4-BE49-F238E27FC236}">
                  <a16:creationId xmlns:a16="http://schemas.microsoft.com/office/drawing/2014/main" id="{95557237-C341-7340-8D00-B8484E7FB13E}"/>
                </a:ext>
              </a:extLst>
            </p:cNvPr>
            <p:cNvSpPr>
              <a:spLocks noChangeShapeType="1"/>
            </p:cNvSpPr>
            <p:nvPr/>
          </p:nvSpPr>
          <p:spPr bwMode="auto">
            <a:xfrm>
              <a:off x="337" y="2976"/>
              <a:ext cx="5136" cy="1"/>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6" name="Line 143">
              <a:extLst>
                <a:ext uri="{FF2B5EF4-FFF2-40B4-BE49-F238E27FC236}">
                  <a16:creationId xmlns:a16="http://schemas.microsoft.com/office/drawing/2014/main" id="{E51B7006-F637-044D-8148-B44CE8D2DBDB}"/>
                </a:ext>
              </a:extLst>
            </p:cNvPr>
            <p:cNvSpPr>
              <a:spLocks noChangeShapeType="1"/>
            </p:cNvSpPr>
            <p:nvPr/>
          </p:nvSpPr>
          <p:spPr bwMode="auto">
            <a:xfrm>
              <a:off x="5473" y="2976"/>
              <a:ext cx="1" cy="1024"/>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7" name="Line 144">
              <a:extLst>
                <a:ext uri="{FF2B5EF4-FFF2-40B4-BE49-F238E27FC236}">
                  <a16:creationId xmlns:a16="http://schemas.microsoft.com/office/drawing/2014/main" id="{EC63DE3C-5493-C440-8752-7DD98C582290}"/>
                </a:ext>
              </a:extLst>
            </p:cNvPr>
            <p:cNvSpPr>
              <a:spLocks noChangeShapeType="1"/>
            </p:cNvSpPr>
            <p:nvPr/>
          </p:nvSpPr>
          <p:spPr bwMode="auto">
            <a:xfrm>
              <a:off x="337" y="4000"/>
              <a:ext cx="5136" cy="1"/>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766" name="Rectangle 176">
            <a:extLst>
              <a:ext uri="{FF2B5EF4-FFF2-40B4-BE49-F238E27FC236}">
                <a16:creationId xmlns:a16="http://schemas.microsoft.com/office/drawing/2014/main" id="{3592BA0D-CADA-9B40-929F-89032218DD29}"/>
              </a:ext>
            </a:extLst>
          </p:cNvPr>
          <p:cNvSpPr>
            <a:spLocks noChangeArrowheads="1"/>
          </p:cNvSpPr>
          <p:nvPr/>
        </p:nvSpPr>
        <p:spPr bwMode="auto">
          <a:xfrm>
            <a:off x="85725" y="2252663"/>
            <a:ext cx="30337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35000"/>
              </a:spcBef>
              <a:buSzPct val="100000"/>
            </a:pPr>
            <a:r>
              <a:rPr lang="zh-CN" altLang="en-GB" sz="2000" b="1">
                <a:latin typeface="微软雅黑" panose="020B0503020204020204" pitchFamily="34" charset="-122"/>
                <a:ea typeface="微软雅黑" panose="020B0503020204020204" pitchFamily="34" charset="-122"/>
              </a:rPr>
              <a:t>假定</a:t>
            </a:r>
            <a:r>
              <a:rPr lang="en-GB" altLang="zh-CN" sz="2000" b="1">
                <a:latin typeface="微软雅黑" panose="020B0503020204020204" pitchFamily="34" charset="-122"/>
                <a:ea typeface="微软雅黑" panose="020B0503020204020204" pitchFamily="34" charset="-122"/>
              </a:rPr>
              <a:t>TLB</a:t>
            </a:r>
            <a:r>
              <a:rPr lang="zh-CN" altLang="en-GB" sz="2000" b="1">
                <a:latin typeface="微软雅黑" panose="020B0503020204020204" pitchFamily="34" charset="-122"/>
                <a:ea typeface="微软雅黑" panose="020B0503020204020204" pitchFamily="34" charset="-122"/>
              </a:rPr>
              <a:t>如下：</a:t>
            </a:r>
            <a:r>
              <a:rPr lang="en-GB" altLang="zh-CN" sz="2000" b="1">
                <a:solidFill>
                  <a:schemeClr val="accent2"/>
                </a:solidFill>
                <a:latin typeface="微软雅黑" panose="020B0503020204020204" pitchFamily="34" charset="-122"/>
                <a:ea typeface="微软雅黑" panose="020B0503020204020204" pitchFamily="34" charset="-122"/>
              </a:rPr>
              <a:t>16 </a:t>
            </a:r>
            <a:r>
              <a:rPr lang="zh-CN" altLang="en-GB" sz="2000" b="1">
                <a:solidFill>
                  <a:schemeClr val="accent2"/>
                </a:solidFill>
                <a:latin typeface="微软雅黑" panose="020B0503020204020204" pitchFamily="34" charset="-122"/>
                <a:ea typeface="微软雅黑" panose="020B0503020204020204" pitchFamily="34" charset="-122"/>
              </a:rPr>
              <a:t>个</a:t>
            </a:r>
            <a:r>
              <a:rPr lang="en-GB" altLang="zh-CN" sz="2000" b="1">
                <a:solidFill>
                  <a:schemeClr val="accent2"/>
                </a:solidFill>
                <a:latin typeface="微软雅黑" panose="020B0503020204020204" pitchFamily="34" charset="-122"/>
                <a:ea typeface="微软雅黑" panose="020B0503020204020204" pitchFamily="34" charset="-122"/>
              </a:rPr>
              <a:t>TLB</a:t>
            </a:r>
            <a:r>
              <a:rPr lang="zh-CN" altLang="en-GB" sz="2000" b="1">
                <a:solidFill>
                  <a:schemeClr val="accent2"/>
                </a:solidFill>
                <a:latin typeface="微软雅黑" panose="020B0503020204020204" pitchFamily="34" charset="-122"/>
                <a:ea typeface="微软雅黑" panose="020B0503020204020204" pitchFamily="34" charset="-122"/>
              </a:rPr>
              <a:t>项，</a:t>
            </a:r>
            <a:r>
              <a:rPr lang="en-GB" altLang="zh-CN" sz="2000" b="1">
                <a:solidFill>
                  <a:schemeClr val="accent2"/>
                </a:solidFill>
                <a:latin typeface="微软雅黑" panose="020B0503020204020204" pitchFamily="34" charset="-122"/>
                <a:ea typeface="微软雅黑" panose="020B0503020204020204" pitchFamily="34" charset="-122"/>
              </a:rPr>
              <a:t>4</a:t>
            </a:r>
            <a:r>
              <a:rPr lang="zh-CN" altLang="en-GB" sz="2000" b="1">
                <a:solidFill>
                  <a:schemeClr val="accent2"/>
                </a:solidFill>
                <a:latin typeface="微软雅黑" panose="020B0503020204020204" pitchFamily="34" charset="-122"/>
                <a:ea typeface="微软雅黑" panose="020B0503020204020204" pitchFamily="34" charset="-122"/>
              </a:rPr>
              <a:t>路组相联，则</a:t>
            </a:r>
            <a:r>
              <a:rPr lang="en-GB" altLang="zh-CN" sz="2000" b="1">
                <a:solidFill>
                  <a:schemeClr val="accent2"/>
                </a:solidFill>
                <a:latin typeface="微软雅黑" panose="020B0503020204020204" pitchFamily="34" charset="-122"/>
                <a:ea typeface="微软雅黑" panose="020B0503020204020204" pitchFamily="34" charset="-122"/>
              </a:rPr>
              <a:t>TLBT</a:t>
            </a:r>
            <a:r>
              <a:rPr lang="zh-CN" altLang="en-GB" sz="2000" b="1">
                <a:solidFill>
                  <a:schemeClr val="accent2"/>
                </a:solidFill>
                <a:latin typeface="微软雅黑" panose="020B0503020204020204" pitchFamily="34" charset="-122"/>
                <a:ea typeface="微软雅黑" panose="020B0503020204020204" pitchFamily="34" charset="-122"/>
              </a:rPr>
              <a:t>和</a:t>
            </a:r>
            <a:r>
              <a:rPr lang="en-GB" altLang="zh-CN" sz="2000" b="1">
                <a:solidFill>
                  <a:schemeClr val="accent2"/>
                </a:solidFill>
                <a:latin typeface="微软雅黑" panose="020B0503020204020204" pitchFamily="34" charset="-122"/>
                <a:ea typeface="微软雅黑" panose="020B0503020204020204" pitchFamily="34" charset="-122"/>
              </a:rPr>
              <a:t>TLBI</a:t>
            </a:r>
            <a:r>
              <a:rPr lang="zh-CN" altLang="en-GB" sz="2000" b="1">
                <a:solidFill>
                  <a:schemeClr val="accent2"/>
                </a:solidFill>
                <a:latin typeface="微软雅黑" panose="020B0503020204020204" pitchFamily="34" charset="-122"/>
                <a:ea typeface="微软雅黑" panose="020B0503020204020204" pitchFamily="34" charset="-122"/>
              </a:rPr>
              <a:t>各占几位？</a:t>
            </a:r>
            <a:endParaRPr lang="zh-CN" altLang="en-GB" sz="2000" b="1">
              <a:solidFill>
                <a:srgbClr val="D10F0F"/>
              </a:solidFill>
              <a:latin typeface="微软雅黑" panose="020B0503020204020204" pitchFamily="34" charset="-122"/>
              <a:ea typeface="微软雅黑" panose="020B0503020204020204" pitchFamily="34" charset="-122"/>
            </a:endParaRPr>
          </a:p>
        </p:txBody>
      </p:sp>
      <p:sp>
        <p:nvSpPr>
          <p:cNvPr id="245767" name="Rectangle 218">
            <a:extLst>
              <a:ext uri="{FF2B5EF4-FFF2-40B4-BE49-F238E27FC236}">
                <a16:creationId xmlns:a16="http://schemas.microsoft.com/office/drawing/2014/main" id="{7364FEE2-875D-9341-8CEA-88056F779C4E}"/>
              </a:ext>
            </a:extLst>
          </p:cNvPr>
          <p:cNvSpPr>
            <a:spLocks noChangeArrowheads="1"/>
          </p:cNvSpPr>
          <p:nvPr/>
        </p:nvSpPr>
        <p:spPr bwMode="auto">
          <a:xfrm>
            <a:off x="185738" y="1039813"/>
            <a:ext cx="2835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zh-CN" altLang="en-GB" sz="2000" b="1">
                <a:ea typeface="微软雅黑" panose="020B0503020204020204" pitchFamily="34" charset="-122"/>
              </a:rPr>
              <a:t>假定部分页表项内容（十六进制表示）如右：</a:t>
            </a:r>
            <a:endParaRPr lang="zh-CN" altLang="en-US" sz="2000" b="1">
              <a:ea typeface="微软雅黑" panose="020B0503020204020204" pitchFamily="34" charset="-122"/>
            </a:endParaRPr>
          </a:p>
        </p:txBody>
      </p:sp>
      <p:grpSp>
        <p:nvGrpSpPr>
          <p:cNvPr id="245768" name="Group 222">
            <a:extLst>
              <a:ext uri="{FF2B5EF4-FFF2-40B4-BE49-F238E27FC236}">
                <a16:creationId xmlns:a16="http://schemas.microsoft.com/office/drawing/2014/main" id="{A57CC256-D92C-7046-AC21-5B88539FAEA8}"/>
              </a:ext>
            </a:extLst>
          </p:cNvPr>
          <p:cNvGrpSpPr>
            <a:grpSpLocks/>
          </p:cNvGrpSpPr>
          <p:nvPr/>
        </p:nvGrpSpPr>
        <p:grpSpPr bwMode="auto">
          <a:xfrm>
            <a:off x="320675" y="3475038"/>
            <a:ext cx="8556625" cy="1214437"/>
            <a:chOff x="202" y="2189"/>
            <a:chExt cx="5390" cy="765"/>
          </a:xfrm>
        </p:grpSpPr>
        <p:grpSp>
          <p:nvGrpSpPr>
            <p:cNvPr id="245773" name="Group 220">
              <a:extLst>
                <a:ext uri="{FF2B5EF4-FFF2-40B4-BE49-F238E27FC236}">
                  <a16:creationId xmlns:a16="http://schemas.microsoft.com/office/drawing/2014/main" id="{2C9766E4-03A7-9C46-B3E8-2B18C9C31FFB}"/>
                </a:ext>
              </a:extLst>
            </p:cNvPr>
            <p:cNvGrpSpPr>
              <a:grpSpLocks/>
            </p:cNvGrpSpPr>
            <p:nvPr/>
          </p:nvGrpSpPr>
          <p:grpSpPr bwMode="auto">
            <a:xfrm>
              <a:off x="202" y="2189"/>
              <a:ext cx="5390" cy="765"/>
              <a:chOff x="202" y="2171"/>
              <a:chExt cx="5390" cy="765"/>
            </a:xfrm>
          </p:grpSpPr>
          <p:sp>
            <p:nvSpPr>
              <p:cNvPr id="35846" name="Rectangle 6">
                <a:extLst>
                  <a:ext uri="{FF2B5EF4-FFF2-40B4-BE49-F238E27FC236}">
                    <a16:creationId xmlns:a16="http://schemas.microsoft.com/office/drawing/2014/main" id="{1A09CD44-0605-9C41-85DA-331B051500BC}"/>
                  </a:ext>
                </a:extLst>
              </p:cNvPr>
              <p:cNvSpPr>
                <a:spLocks noChangeArrowheads="1"/>
              </p:cNvSpPr>
              <p:nvPr/>
            </p:nvSpPr>
            <p:spPr bwMode="auto">
              <a:xfrm>
                <a:off x="208" y="2530"/>
                <a:ext cx="384"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76" name="Rectangle 7">
                <a:extLst>
                  <a:ext uri="{FF2B5EF4-FFF2-40B4-BE49-F238E27FC236}">
                    <a16:creationId xmlns:a16="http://schemas.microsoft.com/office/drawing/2014/main" id="{307A8C76-013D-924F-80E3-4BC779FF380B}"/>
                  </a:ext>
                </a:extLst>
              </p:cNvPr>
              <p:cNvSpPr>
                <a:spLocks noChangeArrowheads="1"/>
              </p:cNvSpPr>
              <p:nvPr/>
            </p:nvSpPr>
            <p:spPr bwMode="auto">
              <a:xfrm>
                <a:off x="208"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13</a:t>
                </a:r>
              </a:p>
            </p:txBody>
          </p:sp>
          <p:sp>
            <p:nvSpPr>
              <p:cNvPr id="35849" name="Rectangle 9">
                <a:extLst>
                  <a:ext uri="{FF2B5EF4-FFF2-40B4-BE49-F238E27FC236}">
                    <a16:creationId xmlns:a16="http://schemas.microsoft.com/office/drawing/2014/main" id="{D13B1DD0-4702-944F-8F66-CD370CEE7D24}"/>
                  </a:ext>
                </a:extLst>
              </p:cNvPr>
              <p:cNvSpPr>
                <a:spLocks noChangeArrowheads="1"/>
              </p:cNvSpPr>
              <p:nvPr/>
            </p:nvSpPr>
            <p:spPr bwMode="auto">
              <a:xfrm>
                <a:off x="592" y="2530"/>
                <a:ext cx="384"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78" name="Rectangle 10">
                <a:extLst>
                  <a:ext uri="{FF2B5EF4-FFF2-40B4-BE49-F238E27FC236}">
                    <a16:creationId xmlns:a16="http://schemas.microsoft.com/office/drawing/2014/main" id="{BE4D131E-94AB-9947-AC5B-5ABDEB303690}"/>
                  </a:ext>
                </a:extLst>
              </p:cNvPr>
              <p:cNvSpPr>
                <a:spLocks noChangeArrowheads="1"/>
              </p:cNvSpPr>
              <p:nvPr/>
            </p:nvSpPr>
            <p:spPr bwMode="auto">
              <a:xfrm>
                <a:off x="592"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12</a:t>
                </a:r>
              </a:p>
            </p:txBody>
          </p:sp>
          <p:sp>
            <p:nvSpPr>
              <p:cNvPr id="35852" name="Rectangle 12">
                <a:extLst>
                  <a:ext uri="{FF2B5EF4-FFF2-40B4-BE49-F238E27FC236}">
                    <a16:creationId xmlns:a16="http://schemas.microsoft.com/office/drawing/2014/main" id="{22DCD283-5C08-1C45-B4C0-0804FA64596F}"/>
                  </a:ext>
                </a:extLst>
              </p:cNvPr>
              <p:cNvSpPr>
                <a:spLocks noChangeArrowheads="1"/>
              </p:cNvSpPr>
              <p:nvPr/>
            </p:nvSpPr>
            <p:spPr bwMode="auto">
              <a:xfrm>
                <a:off x="976" y="2530"/>
                <a:ext cx="384"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80" name="Rectangle 13">
                <a:extLst>
                  <a:ext uri="{FF2B5EF4-FFF2-40B4-BE49-F238E27FC236}">
                    <a16:creationId xmlns:a16="http://schemas.microsoft.com/office/drawing/2014/main" id="{C4129E21-30EC-FA43-B177-DBD58EDFF9C3}"/>
                  </a:ext>
                </a:extLst>
              </p:cNvPr>
              <p:cNvSpPr>
                <a:spLocks noChangeArrowheads="1"/>
              </p:cNvSpPr>
              <p:nvPr/>
            </p:nvSpPr>
            <p:spPr bwMode="auto">
              <a:xfrm>
                <a:off x="976"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11</a:t>
                </a:r>
              </a:p>
            </p:txBody>
          </p:sp>
          <p:sp>
            <p:nvSpPr>
              <p:cNvPr id="35855" name="Rectangle 15">
                <a:extLst>
                  <a:ext uri="{FF2B5EF4-FFF2-40B4-BE49-F238E27FC236}">
                    <a16:creationId xmlns:a16="http://schemas.microsoft.com/office/drawing/2014/main" id="{84884D5C-4CEE-D047-8366-9ED35D0377E1}"/>
                  </a:ext>
                </a:extLst>
              </p:cNvPr>
              <p:cNvSpPr>
                <a:spLocks noChangeArrowheads="1"/>
              </p:cNvSpPr>
              <p:nvPr/>
            </p:nvSpPr>
            <p:spPr bwMode="auto">
              <a:xfrm>
                <a:off x="1360" y="2530"/>
                <a:ext cx="384"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82" name="Rectangle 16">
                <a:extLst>
                  <a:ext uri="{FF2B5EF4-FFF2-40B4-BE49-F238E27FC236}">
                    <a16:creationId xmlns:a16="http://schemas.microsoft.com/office/drawing/2014/main" id="{80D7C544-A10E-F847-A4DB-20518C7B1DF9}"/>
                  </a:ext>
                </a:extLst>
              </p:cNvPr>
              <p:cNvSpPr>
                <a:spLocks noChangeArrowheads="1"/>
              </p:cNvSpPr>
              <p:nvPr/>
            </p:nvSpPr>
            <p:spPr bwMode="auto">
              <a:xfrm>
                <a:off x="1360" y="2329"/>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10</a:t>
                </a:r>
              </a:p>
            </p:txBody>
          </p:sp>
          <p:sp>
            <p:nvSpPr>
              <p:cNvPr id="35858" name="Rectangle 18">
                <a:extLst>
                  <a:ext uri="{FF2B5EF4-FFF2-40B4-BE49-F238E27FC236}">
                    <a16:creationId xmlns:a16="http://schemas.microsoft.com/office/drawing/2014/main" id="{0522C74D-6586-D24A-9A52-580F831C1F91}"/>
                  </a:ext>
                </a:extLst>
              </p:cNvPr>
              <p:cNvSpPr>
                <a:spLocks noChangeArrowheads="1"/>
              </p:cNvSpPr>
              <p:nvPr/>
            </p:nvSpPr>
            <p:spPr bwMode="auto">
              <a:xfrm>
                <a:off x="1744" y="2530"/>
                <a:ext cx="384"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84" name="Rectangle 19">
                <a:extLst>
                  <a:ext uri="{FF2B5EF4-FFF2-40B4-BE49-F238E27FC236}">
                    <a16:creationId xmlns:a16="http://schemas.microsoft.com/office/drawing/2014/main" id="{12C6A154-8ED2-194B-8795-B6BE4CD7DB55}"/>
                  </a:ext>
                </a:extLst>
              </p:cNvPr>
              <p:cNvSpPr>
                <a:spLocks noChangeArrowheads="1"/>
              </p:cNvSpPr>
              <p:nvPr/>
            </p:nvSpPr>
            <p:spPr bwMode="auto">
              <a:xfrm>
                <a:off x="1744"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9</a:t>
                </a:r>
              </a:p>
            </p:txBody>
          </p:sp>
          <p:sp>
            <p:nvSpPr>
              <p:cNvPr id="35861" name="Rectangle 21">
                <a:extLst>
                  <a:ext uri="{FF2B5EF4-FFF2-40B4-BE49-F238E27FC236}">
                    <a16:creationId xmlns:a16="http://schemas.microsoft.com/office/drawing/2014/main" id="{B5C52897-1633-2647-A978-9FF8494BED4C}"/>
                  </a:ext>
                </a:extLst>
              </p:cNvPr>
              <p:cNvSpPr>
                <a:spLocks noChangeArrowheads="1"/>
              </p:cNvSpPr>
              <p:nvPr/>
            </p:nvSpPr>
            <p:spPr bwMode="auto">
              <a:xfrm>
                <a:off x="2128" y="2530"/>
                <a:ext cx="384"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86" name="Rectangle 22">
                <a:extLst>
                  <a:ext uri="{FF2B5EF4-FFF2-40B4-BE49-F238E27FC236}">
                    <a16:creationId xmlns:a16="http://schemas.microsoft.com/office/drawing/2014/main" id="{A2FBA2C6-BADB-B148-9826-0914C3F4D456}"/>
                  </a:ext>
                </a:extLst>
              </p:cNvPr>
              <p:cNvSpPr>
                <a:spLocks noChangeArrowheads="1"/>
              </p:cNvSpPr>
              <p:nvPr/>
            </p:nvSpPr>
            <p:spPr bwMode="auto">
              <a:xfrm>
                <a:off x="2128"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8</a:t>
                </a:r>
              </a:p>
            </p:txBody>
          </p:sp>
          <p:sp>
            <p:nvSpPr>
              <p:cNvPr id="35864" name="Rectangle 24">
                <a:extLst>
                  <a:ext uri="{FF2B5EF4-FFF2-40B4-BE49-F238E27FC236}">
                    <a16:creationId xmlns:a16="http://schemas.microsoft.com/office/drawing/2014/main" id="{C064BD1B-4011-7448-84DB-D9DC3D7A5FD9}"/>
                  </a:ext>
                </a:extLst>
              </p:cNvPr>
              <p:cNvSpPr>
                <a:spLocks noChangeArrowheads="1"/>
              </p:cNvSpPr>
              <p:nvPr/>
            </p:nvSpPr>
            <p:spPr bwMode="auto">
              <a:xfrm>
                <a:off x="2512" y="2530"/>
                <a:ext cx="384"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88" name="Rectangle 25">
                <a:extLst>
                  <a:ext uri="{FF2B5EF4-FFF2-40B4-BE49-F238E27FC236}">
                    <a16:creationId xmlns:a16="http://schemas.microsoft.com/office/drawing/2014/main" id="{89852A33-4337-6D4F-9E2D-8992DC52DB8D}"/>
                  </a:ext>
                </a:extLst>
              </p:cNvPr>
              <p:cNvSpPr>
                <a:spLocks noChangeArrowheads="1"/>
              </p:cNvSpPr>
              <p:nvPr/>
            </p:nvSpPr>
            <p:spPr bwMode="auto">
              <a:xfrm>
                <a:off x="2512"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7</a:t>
                </a:r>
              </a:p>
            </p:txBody>
          </p:sp>
          <p:sp>
            <p:nvSpPr>
              <p:cNvPr id="35867" name="Rectangle 27">
                <a:extLst>
                  <a:ext uri="{FF2B5EF4-FFF2-40B4-BE49-F238E27FC236}">
                    <a16:creationId xmlns:a16="http://schemas.microsoft.com/office/drawing/2014/main" id="{DB26344B-D749-FE4E-B286-72EEC0147D98}"/>
                  </a:ext>
                </a:extLst>
              </p:cNvPr>
              <p:cNvSpPr>
                <a:spLocks noChangeArrowheads="1"/>
              </p:cNvSpPr>
              <p:nvPr/>
            </p:nvSpPr>
            <p:spPr bwMode="auto">
              <a:xfrm>
                <a:off x="2896" y="2530"/>
                <a:ext cx="383"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90" name="Rectangle 28">
                <a:extLst>
                  <a:ext uri="{FF2B5EF4-FFF2-40B4-BE49-F238E27FC236}">
                    <a16:creationId xmlns:a16="http://schemas.microsoft.com/office/drawing/2014/main" id="{81A51447-FC6A-E24C-B706-EAB3047FAC12}"/>
                  </a:ext>
                </a:extLst>
              </p:cNvPr>
              <p:cNvSpPr>
                <a:spLocks noChangeArrowheads="1"/>
              </p:cNvSpPr>
              <p:nvPr/>
            </p:nvSpPr>
            <p:spPr bwMode="auto">
              <a:xfrm>
                <a:off x="2896" y="2338"/>
                <a:ext cx="3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6</a:t>
                </a:r>
              </a:p>
            </p:txBody>
          </p:sp>
          <p:sp>
            <p:nvSpPr>
              <p:cNvPr id="35870" name="Rectangle 30">
                <a:extLst>
                  <a:ext uri="{FF2B5EF4-FFF2-40B4-BE49-F238E27FC236}">
                    <a16:creationId xmlns:a16="http://schemas.microsoft.com/office/drawing/2014/main" id="{25D5AB0D-895F-6D43-A337-BFD43C1E4F12}"/>
                  </a:ext>
                </a:extLst>
              </p:cNvPr>
              <p:cNvSpPr>
                <a:spLocks noChangeArrowheads="1"/>
              </p:cNvSpPr>
              <p:nvPr/>
            </p:nvSpPr>
            <p:spPr bwMode="auto">
              <a:xfrm>
                <a:off x="3279" y="2530"/>
                <a:ext cx="384"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92" name="Rectangle 31">
                <a:extLst>
                  <a:ext uri="{FF2B5EF4-FFF2-40B4-BE49-F238E27FC236}">
                    <a16:creationId xmlns:a16="http://schemas.microsoft.com/office/drawing/2014/main" id="{9E6A6D7D-0166-2B4D-ADDC-CE6005103531}"/>
                  </a:ext>
                </a:extLst>
              </p:cNvPr>
              <p:cNvSpPr>
                <a:spLocks noChangeArrowheads="1"/>
              </p:cNvSpPr>
              <p:nvPr/>
            </p:nvSpPr>
            <p:spPr bwMode="auto">
              <a:xfrm>
                <a:off x="3279"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5</a:t>
                </a:r>
              </a:p>
            </p:txBody>
          </p:sp>
          <p:sp>
            <p:nvSpPr>
              <p:cNvPr id="35873" name="Rectangle 33">
                <a:extLst>
                  <a:ext uri="{FF2B5EF4-FFF2-40B4-BE49-F238E27FC236}">
                    <a16:creationId xmlns:a16="http://schemas.microsoft.com/office/drawing/2014/main" id="{FF7C772F-CDCE-7D4A-9ACB-E8831E4FCC86}"/>
                  </a:ext>
                </a:extLst>
              </p:cNvPr>
              <p:cNvSpPr>
                <a:spLocks noChangeArrowheads="1"/>
              </p:cNvSpPr>
              <p:nvPr/>
            </p:nvSpPr>
            <p:spPr bwMode="auto">
              <a:xfrm>
                <a:off x="3663" y="2530"/>
                <a:ext cx="384"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94" name="Rectangle 34">
                <a:extLst>
                  <a:ext uri="{FF2B5EF4-FFF2-40B4-BE49-F238E27FC236}">
                    <a16:creationId xmlns:a16="http://schemas.microsoft.com/office/drawing/2014/main" id="{4E1CE840-5B4A-094E-A80A-4B2F4AF58D7D}"/>
                  </a:ext>
                </a:extLst>
              </p:cNvPr>
              <p:cNvSpPr>
                <a:spLocks noChangeArrowheads="1"/>
              </p:cNvSpPr>
              <p:nvPr/>
            </p:nvSpPr>
            <p:spPr bwMode="auto">
              <a:xfrm>
                <a:off x="3663"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4</a:t>
                </a:r>
              </a:p>
            </p:txBody>
          </p:sp>
          <p:sp>
            <p:nvSpPr>
              <p:cNvPr id="35876" name="Rectangle 36">
                <a:extLst>
                  <a:ext uri="{FF2B5EF4-FFF2-40B4-BE49-F238E27FC236}">
                    <a16:creationId xmlns:a16="http://schemas.microsoft.com/office/drawing/2014/main" id="{AC78D64C-62BA-3845-9538-9E0C2B552F7B}"/>
                  </a:ext>
                </a:extLst>
              </p:cNvPr>
              <p:cNvSpPr>
                <a:spLocks noChangeArrowheads="1"/>
              </p:cNvSpPr>
              <p:nvPr/>
            </p:nvSpPr>
            <p:spPr bwMode="auto">
              <a:xfrm>
                <a:off x="4047" y="2530"/>
                <a:ext cx="384"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96" name="Rectangle 37">
                <a:extLst>
                  <a:ext uri="{FF2B5EF4-FFF2-40B4-BE49-F238E27FC236}">
                    <a16:creationId xmlns:a16="http://schemas.microsoft.com/office/drawing/2014/main" id="{809A4A05-6B7E-3649-B5E3-755562E2D463}"/>
                  </a:ext>
                </a:extLst>
              </p:cNvPr>
              <p:cNvSpPr>
                <a:spLocks noChangeArrowheads="1"/>
              </p:cNvSpPr>
              <p:nvPr/>
            </p:nvSpPr>
            <p:spPr bwMode="auto">
              <a:xfrm>
                <a:off x="4047"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3</a:t>
                </a:r>
              </a:p>
            </p:txBody>
          </p:sp>
          <p:sp>
            <p:nvSpPr>
              <p:cNvPr id="35879" name="Rectangle 39">
                <a:extLst>
                  <a:ext uri="{FF2B5EF4-FFF2-40B4-BE49-F238E27FC236}">
                    <a16:creationId xmlns:a16="http://schemas.microsoft.com/office/drawing/2014/main" id="{BEED4C74-7FBE-5E4A-A22E-B64F4BBE5C0D}"/>
                  </a:ext>
                </a:extLst>
              </p:cNvPr>
              <p:cNvSpPr>
                <a:spLocks noChangeArrowheads="1"/>
              </p:cNvSpPr>
              <p:nvPr/>
            </p:nvSpPr>
            <p:spPr bwMode="auto">
              <a:xfrm>
                <a:off x="4431" y="2530"/>
                <a:ext cx="384"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798" name="Rectangle 40">
                <a:extLst>
                  <a:ext uri="{FF2B5EF4-FFF2-40B4-BE49-F238E27FC236}">
                    <a16:creationId xmlns:a16="http://schemas.microsoft.com/office/drawing/2014/main" id="{C5DBF19B-F222-014D-AB43-C0A6933BC2EB}"/>
                  </a:ext>
                </a:extLst>
              </p:cNvPr>
              <p:cNvSpPr>
                <a:spLocks noChangeArrowheads="1"/>
              </p:cNvSpPr>
              <p:nvPr/>
            </p:nvSpPr>
            <p:spPr bwMode="auto">
              <a:xfrm>
                <a:off x="4431"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2</a:t>
                </a:r>
              </a:p>
            </p:txBody>
          </p:sp>
          <p:sp>
            <p:nvSpPr>
              <p:cNvPr id="35882" name="Rectangle 42">
                <a:extLst>
                  <a:ext uri="{FF2B5EF4-FFF2-40B4-BE49-F238E27FC236}">
                    <a16:creationId xmlns:a16="http://schemas.microsoft.com/office/drawing/2014/main" id="{E36B3205-EEBD-BB4C-893F-4A43815D8D93}"/>
                  </a:ext>
                </a:extLst>
              </p:cNvPr>
              <p:cNvSpPr>
                <a:spLocks noChangeArrowheads="1"/>
              </p:cNvSpPr>
              <p:nvPr/>
            </p:nvSpPr>
            <p:spPr bwMode="auto">
              <a:xfrm>
                <a:off x="4815" y="2530"/>
                <a:ext cx="384"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800" name="Rectangle 43">
                <a:extLst>
                  <a:ext uri="{FF2B5EF4-FFF2-40B4-BE49-F238E27FC236}">
                    <a16:creationId xmlns:a16="http://schemas.microsoft.com/office/drawing/2014/main" id="{1188B2E5-6A37-3040-946F-E66379AF2197}"/>
                  </a:ext>
                </a:extLst>
              </p:cNvPr>
              <p:cNvSpPr>
                <a:spLocks noChangeArrowheads="1"/>
              </p:cNvSpPr>
              <p:nvPr/>
            </p:nvSpPr>
            <p:spPr bwMode="auto">
              <a:xfrm>
                <a:off x="4815"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a:t>
                </a:r>
              </a:p>
            </p:txBody>
          </p:sp>
          <p:sp>
            <p:nvSpPr>
              <p:cNvPr id="35885" name="Rectangle 45">
                <a:extLst>
                  <a:ext uri="{FF2B5EF4-FFF2-40B4-BE49-F238E27FC236}">
                    <a16:creationId xmlns:a16="http://schemas.microsoft.com/office/drawing/2014/main" id="{8A3D4328-183D-C04D-B124-9ED4F3DDB119}"/>
                  </a:ext>
                </a:extLst>
              </p:cNvPr>
              <p:cNvSpPr>
                <a:spLocks noChangeArrowheads="1"/>
              </p:cNvSpPr>
              <p:nvPr/>
            </p:nvSpPr>
            <p:spPr bwMode="auto">
              <a:xfrm>
                <a:off x="5199" y="2530"/>
                <a:ext cx="384"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5802" name="Rectangle 46">
                <a:extLst>
                  <a:ext uri="{FF2B5EF4-FFF2-40B4-BE49-F238E27FC236}">
                    <a16:creationId xmlns:a16="http://schemas.microsoft.com/office/drawing/2014/main" id="{7B5E415C-5BEC-7C49-80C4-0DA23A4F2200}"/>
                  </a:ext>
                </a:extLst>
              </p:cNvPr>
              <p:cNvSpPr>
                <a:spLocks noChangeArrowheads="1"/>
              </p:cNvSpPr>
              <p:nvPr/>
            </p:nvSpPr>
            <p:spPr bwMode="auto">
              <a:xfrm>
                <a:off x="5199" y="2338"/>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0</a:t>
                </a:r>
              </a:p>
            </p:txBody>
          </p:sp>
          <p:grpSp>
            <p:nvGrpSpPr>
              <p:cNvPr id="245803" name="Group 47">
                <a:extLst>
                  <a:ext uri="{FF2B5EF4-FFF2-40B4-BE49-F238E27FC236}">
                    <a16:creationId xmlns:a16="http://schemas.microsoft.com/office/drawing/2014/main" id="{EDC0C7E0-E8A8-AC46-A9EC-23A42EFB16C3}"/>
                  </a:ext>
                </a:extLst>
              </p:cNvPr>
              <p:cNvGrpSpPr>
                <a:grpSpLocks/>
              </p:cNvGrpSpPr>
              <p:nvPr/>
            </p:nvGrpSpPr>
            <p:grpSpPr bwMode="auto">
              <a:xfrm>
                <a:off x="3288" y="2728"/>
                <a:ext cx="2304" cy="208"/>
                <a:chOff x="3061" y="2140"/>
                <a:chExt cx="1842" cy="208"/>
              </a:xfrm>
            </p:grpSpPr>
            <p:sp>
              <p:nvSpPr>
                <p:cNvPr id="245811" name="Line 48">
                  <a:extLst>
                    <a:ext uri="{FF2B5EF4-FFF2-40B4-BE49-F238E27FC236}">
                      <a16:creationId xmlns:a16="http://schemas.microsoft.com/office/drawing/2014/main" id="{D20D4867-A268-724C-A28D-E81F1583CF5C}"/>
                    </a:ext>
                  </a:extLst>
                </p:cNvPr>
                <p:cNvSpPr>
                  <a:spLocks noChangeShapeType="1"/>
                </p:cNvSpPr>
                <p:nvPr/>
              </p:nvSpPr>
              <p:spPr bwMode="auto">
                <a:xfrm>
                  <a:off x="3061" y="2231"/>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12" name="Text Box 49">
                  <a:extLst>
                    <a:ext uri="{FF2B5EF4-FFF2-40B4-BE49-F238E27FC236}">
                      <a16:creationId xmlns:a16="http://schemas.microsoft.com/office/drawing/2014/main" id="{F6266FEA-5AE9-5047-8368-A6F2671DF1E6}"/>
                    </a:ext>
                  </a:extLst>
                </p:cNvPr>
                <p:cNvSpPr txBox="1">
                  <a:spLocks noChangeArrowheads="1"/>
                </p:cNvSpPr>
                <p:nvPr/>
              </p:nvSpPr>
              <p:spPr bwMode="auto">
                <a:xfrm>
                  <a:off x="3768" y="2140"/>
                  <a:ext cx="344" cy="208"/>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latin typeface="微软雅黑" panose="020B0503020204020204" pitchFamily="34" charset="-122"/>
                      <a:ea typeface="微软雅黑" panose="020B0503020204020204" pitchFamily="34" charset="-122"/>
                    </a:rPr>
                    <a:t>VPO</a:t>
                  </a:r>
                </a:p>
              </p:txBody>
            </p:sp>
          </p:grpSp>
          <p:grpSp>
            <p:nvGrpSpPr>
              <p:cNvPr id="245804" name="Group 50">
                <a:extLst>
                  <a:ext uri="{FF2B5EF4-FFF2-40B4-BE49-F238E27FC236}">
                    <a16:creationId xmlns:a16="http://schemas.microsoft.com/office/drawing/2014/main" id="{9A615465-9B08-6646-A562-9A6F64555514}"/>
                  </a:ext>
                </a:extLst>
              </p:cNvPr>
              <p:cNvGrpSpPr>
                <a:grpSpLocks/>
              </p:cNvGrpSpPr>
              <p:nvPr/>
            </p:nvGrpSpPr>
            <p:grpSpPr bwMode="auto">
              <a:xfrm>
                <a:off x="202" y="2728"/>
                <a:ext cx="3086" cy="208"/>
                <a:chOff x="605" y="2135"/>
                <a:chExt cx="2467" cy="208"/>
              </a:xfrm>
            </p:grpSpPr>
            <p:sp>
              <p:nvSpPr>
                <p:cNvPr id="245809" name="Line 51">
                  <a:extLst>
                    <a:ext uri="{FF2B5EF4-FFF2-40B4-BE49-F238E27FC236}">
                      <a16:creationId xmlns:a16="http://schemas.microsoft.com/office/drawing/2014/main" id="{2961416C-4842-F64E-AB1C-E9EE87BA18D3}"/>
                    </a:ext>
                  </a:extLst>
                </p:cNvPr>
                <p:cNvSpPr>
                  <a:spLocks noChangeShapeType="1"/>
                </p:cNvSpPr>
                <p:nvPr/>
              </p:nvSpPr>
              <p:spPr bwMode="auto">
                <a:xfrm>
                  <a:off x="605" y="2226"/>
                  <a:ext cx="2467"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10" name="Text Box 52">
                  <a:extLst>
                    <a:ext uri="{FF2B5EF4-FFF2-40B4-BE49-F238E27FC236}">
                      <a16:creationId xmlns:a16="http://schemas.microsoft.com/office/drawing/2014/main" id="{E06AEC96-F233-4946-9F0B-8250E5087C70}"/>
                    </a:ext>
                  </a:extLst>
                </p:cNvPr>
                <p:cNvSpPr txBox="1">
                  <a:spLocks noChangeArrowheads="1"/>
                </p:cNvSpPr>
                <p:nvPr/>
              </p:nvSpPr>
              <p:spPr bwMode="auto">
                <a:xfrm>
                  <a:off x="1543" y="2135"/>
                  <a:ext cx="347" cy="208"/>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VPN</a:t>
                  </a:r>
                </a:p>
              </p:txBody>
            </p:sp>
          </p:grpSp>
          <p:sp>
            <p:nvSpPr>
              <p:cNvPr id="245805" name="Line 54">
                <a:extLst>
                  <a:ext uri="{FF2B5EF4-FFF2-40B4-BE49-F238E27FC236}">
                    <a16:creationId xmlns:a16="http://schemas.microsoft.com/office/drawing/2014/main" id="{56F02780-5741-6C49-AF8D-C285B267F645}"/>
                  </a:ext>
                </a:extLst>
              </p:cNvPr>
              <p:cNvSpPr>
                <a:spLocks noChangeShapeType="1"/>
              </p:cNvSpPr>
              <p:nvPr/>
            </p:nvSpPr>
            <p:spPr bwMode="auto">
              <a:xfrm>
                <a:off x="2528" y="2287"/>
                <a:ext cx="781"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06" name="Text Box 55">
                <a:extLst>
                  <a:ext uri="{FF2B5EF4-FFF2-40B4-BE49-F238E27FC236}">
                    <a16:creationId xmlns:a16="http://schemas.microsoft.com/office/drawing/2014/main" id="{45E9AAB2-37F1-2C44-914B-D68CFE459844}"/>
                  </a:ext>
                </a:extLst>
              </p:cNvPr>
              <p:cNvSpPr txBox="1">
                <a:spLocks noChangeArrowheads="1"/>
              </p:cNvSpPr>
              <p:nvPr/>
            </p:nvSpPr>
            <p:spPr bwMode="auto">
              <a:xfrm>
                <a:off x="2738" y="2200"/>
                <a:ext cx="315" cy="152"/>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sz="1800" b="1">
                    <a:latin typeface="微软雅黑" panose="020B0503020204020204" pitchFamily="34" charset="-122"/>
                    <a:ea typeface="微软雅黑" panose="020B0503020204020204" pitchFamily="34" charset="-122"/>
                  </a:rPr>
                  <a:t>TLBI</a:t>
                </a:r>
              </a:p>
            </p:txBody>
          </p:sp>
          <p:sp>
            <p:nvSpPr>
              <p:cNvPr id="245807" name="Line 57">
                <a:extLst>
                  <a:ext uri="{FF2B5EF4-FFF2-40B4-BE49-F238E27FC236}">
                    <a16:creationId xmlns:a16="http://schemas.microsoft.com/office/drawing/2014/main" id="{585FFA69-D238-6747-B61A-BE4AA79FC38F}"/>
                  </a:ext>
                </a:extLst>
              </p:cNvPr>
              <p:cNvSpPr>
                <a:spLocks noChangeShapeType="1"/>
              </p:cNvSpPr>
              <p:nvPr/>
            </p:nvSpPr>
            <p:spPr bwMode="auto">
              <a:xfrm>
                <a:off x="208" y="2285"/>
                <a:ext cx="2305"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08" name="Text Box 58">
                <a:extLst>
                  <a:ext uri="{FF2B5EF4-FFF2-40B4-BE49-F238E27FC236}">
                    <a16:creationId xmlns:a16="http://schemas.microsoft.com/office/drawing/2014/main" id="{D9331D66-8376-E341-A4C0-100EFC883688}"/>
                  </a:ext>
                </a:extLst>
              </p:cNvPr>
              <p:cNvSpPr txBox="1">
                <a:spLocks noChangeArrowheads="1"/>
              </p:cNvSpPr>
              <p:nvPr/>
            </p:nvSpPr>
            <p:spPr bwMode="auto">
              <a:xfrm>
                <a:off x="1169" y="2171"/>
                <a:ext cx="577" cy="152"/>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sz="1800" b="1">
                    <a:latin typeface="微软雅黑" panose="020B0503020204020204" pitchFamily="34" charset="-122"/>
                    <a:ea typeface="微软雅黑" panose="020B0503020204020204" pitchFamily="34" charset="-122"/>
                  </a:rPr>
                  <a:t>TLBT</a:t>
                </a:r>
              </a:p>
            </p:txBody>
          </p:sp>
        </p:grpSp>
        <p:sp>
          <p:nvSpPr>
            <p:cNvPr id="245774" name="Rectangle 221">
              <a:extLst>
                <a:ext uri="{FF2B5EF4-FFF2-40B4-BE49-F238E27FC236}">
                  <a16:creationId xmlns:a16="http://schemas.microsoft.com/office/drawing/2014/main" id="{9FF93735-CB3A-FD4D-BA45-879241E37D0B}"/>
                </a:ext>
              </a:extLst>
            </p:cNvPr>
            <p:cNvSpPr>
              <a:spLocks noChangeArrowheads="1"/>
            </p:cNvSpPr>
            <p:nvPr/>
          </p:nvSpPr>
          <p:spPr bwMode="auto">
            <a:xfrm>
              <a:off x="2514" y="2541"/>
              <a:ext cx="768" cy="192"/>
            </a:xfrm>
            <a:prstGeom prst="rect">
              <a:avLst/>
            </a:prstGeom>
            <a:solidFill>
              <a:schemeClr val="accent1">
                <a:alpha val="21960"/>
              </a:schemeClr>
            </a:solidFill>
            <a:ln>
              <a:noFill/>
            </a:ln>
            <a:effectLst/>
            <a:extLs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grpSp>
      <p:sp>
        <p:nvSpPr>
          <p:cNvPr id="245769" name="Rectangle 224">
            <a:extLst>
              <a:ext uri="{FF2B5EF4-FFF2-40B4-BE49-F238E27FC236}">
                <a16:creationId xmlns:a16="http://schemas.microsoft.com/office/drawing/2014/main" id="{B2BA6B70-0F1F-7B4E-A0BF-426467BD6907}"/>
              </a:ext>
            </a:extLst>
          </p:cNvPr>
          <p:cNvSpPr>
            <a:spLocks noChangeArrowheads="1"/>
          </p:cNvSpPr>
          <p:nvPr/>
        </p:nvSpPr>
        <p:spPr bwMode="auto">
          <a:xfrm>
            <a:off x="885825" y="4833938"/>
            <a:ext cx="2017713" cy="1843087"/>
          </a:xfrm>
          <a:prstGeom prst="rect">
            <a:avLst/>
          </a:prstGeom>
          <a:noFill/>
          <a:ln w="508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45770" name="Rectangle 225">
            <a:extLst>
              <a:ext uri="{FF2B5EF4-FFF2-40B4-BE49-F238E27FC236}">
                <a16:creationId xmlns:a16="http://schemas.microsoft.com/office/drawing/2014/main" id="{45F81CC0-6BC0-A247-875D-63BF266DE178}"/>
              </a:ext>
            </a:extLst>
          </p:cNvPr>
          <p:cNvSpPr>
            <a:spLocks noChangeArrowheads="1"/>
          </p:cNvSpPr>
          <p:nvPr/>
        </p:nvSpPr>
        <p:spPr bwMode="auto">
          <a:xfrm>
            <a:off x="2951163" y="4829175"/>
            <a:ext cx="2017712" cy="1843088"/>
          </a:xfrm>
          <a:prstGeom prst="rect">
            <a:avLst/>
          </a:prstGeom>
          <a:noFill/>
          <a:ln w="508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45771" name="Rectangle 226">
            <a:extLst>
              <a:ext uri="{FF2B5EF4-FFF2-40B4-BE49-F238E27FC236}">
                <a16:creationId xmlns:a16="http://schemas.microsoft.com/office/drawing/2014/main" id="{70926814-9A7B-F14E-873B-1EE5C5BEBF66}"/>
              </a:ext>
            </a:extLst>
          </p:cNvPr>
          <p:cNvSpPr>
            <a:spLocks noChangeArrowheads="1"/>
          </p:cNvSpPr>
          <p:nvPr/>
        </p:nvSpPr>
        <p:spPr bwMode="auto">
          <a:xfrm>
            <a:off x="5008563" y="4829175"/>
            <a:ext cx="2017712" cy="1843088"/>
          </a:xfrm>
          <a:prstGeom prst="rect">
            <a:avLst/>
          </a:prstGeom>
          <a:noFill/>
          <a:ln w="508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45772" name="Rectangle 227">
            <a:extLst>
              <a:ext uri="{FF2B5EF4-FFF2-40B4-BE49-F238E27FC236}">
                <a16:creationId xmlns:a16="http://schemas.microsoft.com/office/drawing/2014/main" id="{148FB52D-81E7-D249-A40C-C69BBA4D3459}"/>
              </a:ext>
            </a:extLst>
          </p:cNvPr>
          <p:cNvSpPr>
            <a:spLocks noChangeArrowheads="1"/>
          </p:cNvSpPr>
          <p:nvPr/>
        </p:nvSpPr>
        <p:spPr bwMode="auto">
          <a:xfrm>
            <a:off x="7040563" y="4837113"/>
            <a:ext cx="2017712" cy="1843087"/>
          </a:xfrm>
          <a:prstGeom prst="rect">
            <a:avLst/>
          </a:prstGeom>
          <a:noFill/>
          <a:ln w="508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7810" name="Group 209">
            <a:extLst>
              <a:ext uri="{FF2B5EF4-FFF2-40B4-BE49-F238E27FC236}">
                <a16:creationId xmlns:a16="http://schemas.microsoft.com/office/drawing/2014/main" id="{D213CD3A-A8F0-2947-85BE-D14A6C9757C1}"/>
              </a:ext>
            </a:extLst>
          </p:cNvPr>
          <p:cNvGrpSpPr>
            <a:grpSpLocks/>
          </p:cNvGrpSpPr>
          <p:nvPr/>
        </p:nvGrpSpPr>
        <p:grpSpPr bwMode="auto">
          <a:xfrm>
            <a:off x="100013" y="3540125"/>
            <a:ext cx="4343400" cy="3097213"/>
            <a:chOff x="96" y="2568"/>
            <a:chExt cx="2736" cy="1613"/>
          </a:xfrm>
        </p:grpSpPr>
        <p:sp>
          <p:nvSpPr>
            <p:cNvPr id="247935" name="Rectangle 64">
              <a:extLst>
                <a:ext uri="{FF2B5EF4-FFF2-40B4-BE49-F238E27FC236}">
                  <a16:creationId xmlns:a16="http://schemas.microsoft.com/office/drawing/2014/main" id="{E3F6595F-8EED-C344-9B8E-557DF7AC7652}"/>
                </a:ext>
              </a:extLst>
            </p:cNvPr>
            <p:cNvSpPr>
              <a:spLocks noChangeArrowheads="1"/>
            </p:cNvSpPr>
            <p:nvPr/>
          </p:nvSpPr>
          <p:spPr bwMode="auto">
            <a:xfrm>
              <a:off x="2441"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03</a:t>
              </a:r>
            </a:p>
          </p:txBody>
        </p:sp>
        <p:sp>
          <p:nvSpPr>
            <p:cNvPr id="247936" name="Rectangle 65">
              <a:extLst>
                <a:ext uri="{FF2B5EF4-FFF2-40B4-BE49-F238E27FC236}">
                  <a16:creationId xmlns:a16="http://schemas.microsoft.com/office/drawing/2014/main" id="{2C9BC5F3-938B-154C-9727-A2213EBE5EAB}"/>
                </a:ext>
              </a:extLst>
            </p:cNvPr>
            <p:cNvSpPr>
              <a:spLocks noChangeArrowheads="1"/>
            </p:cNvSpPr>
            <p:nvPr/>
          </p:nvSpPr>
          <p:spPr bwMode="auto">
            <a:xfrm>
              <a:off x="2051" y="4000"/>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DF</a:t>
              </a:r>
            </a:p>
          </p:txBody>
        </p:sp>
        <p:sp>
          <p:nvSpPr>
            <p:cNvPr id="247937" name="Rectangle 66">
              <a:extLst>
                <a:ext uri="{FF2B5EF4-FFF2-40B4-BE49-F238E27FC236}">
                  <a16:creationId xmlns:a16="http://schemas.microsoft.com/office/drawing/2014/main" id="{BB52AFF6-6FFF-7A4D-80F5-EF96A220B875}"/>
                </a:ext>
              </a:extLst>
            </p:cNvPr>
            <p:cNvSpPr>
              <a:spLocks noChangeArrowheads="1"/>
            </p:cNvSpPr>
            <p:nvPr/>
          </p:nvSpPr>
          <p:spPr bwMode="auto">
            <a:xfrm>
              <a:off x="1660"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C2</a:t>
              </a:r>
            </a:p>
          </p:txBody>
        </p:sp>
        <p:sp>
          <p:nvSpPr>
            <p:cNvPr id="247938" name="Rectangle 67">
              <a:extLst>
                <a:ext uri="{FF2B5EF4-FFF2-40B4-BE49-F238E27FC236}">
                  <a16:creationId xmlns:a16="http://schemas.microsoft.com/office/drawing/2014/main" id="{108B3205-9972-8841-A5DF-2298DAF88D8C}"/>
                </a:ext>
              </a:extLst>
            </p:cNvPr>
            <p:cNvSpPr>
              <a:spLocks noChangeArrowheads="1"/>
            </p:cNvSpPr>
            <p:nvPr/>
          </p:nvSpPr>
          <p:spPr bwMode="auto">
            <a:xfrm>
              <a:off x="1268" y="4000"/>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11</a:t>
              </a:r>
            </a:p>
          </p:txBody>
        </p:sp>
        <p:sp>
          <p:nvSpPr>
            <p:cNvPr id="247939" name="Rectangle 68">
              <a:extLst>
                <a:ext uri="{FF2B5EF4-FFF2-40B4-BE49-F238E27FC236}">
                  <a16:creationId xmlns:a16="http://schemas.microsoft.com/office/drawing/2014/main" id="{71FAD604-F708-BB4D-A353-373347F198FD}"/>
                </a:ext>
              </a:extLst>
            </p:cNvPr>
            <p:cNvSpPr>
              <a:spLocks noChangeArrowheads="1"/>
            </p:cNvSpPr>
            <p:nvPr/>
          </p:nvSpPr>
          <p:spPr bwMode="auto">
            <a:xfrm>
              <a:off x="877"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940" name="Rectangle 69">
              <a:extLst>
                <a:ext uri="{FF2B5EF4-FFF2-40B4-BE49-F238E27FC236}">
                  <a16:creationId xmlns:a16="http://schemas.microsoft.com/office/drawing/2014/main" id="{CDF6FB51-D8DF-1240-B025-85F344D1454A}"/>
                </a:ext>
              </a:extLst>
            </p:cNvPr>
            <p:cNvSpPr>
              <a:spLocks noChangeArrowheads="1"/>
            </p:cNvSpPr>
            <p:nvPr/>
          </p:nvSpPr>
          <p:spPr bwMode="auto">
            <a:xfrm>
              <a:off x="487" y="4000"/>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16</a:t>
              </a:r>
            </a:p>
          </p:txBody>
        </p:sp>
        <p:sp>
          <p:nvSpPr>
            <p:cNvPr id="247941" name="Rectangle 70">
              <a:extLst>
                <a:ext uri="{FF2B5EF4-FFF2-40B4-BE49-F238E27FC236}">
                  <a16:creationId xmlns:a16="http://schemas.microsoft.com/office/drawing/2014/main" id="{596CECC3-E069-2B46-B242-ACC57DA14F46}"/>
                </a:ext>
              </a:extLst>
            </p:cNvPr>
            <p:cNvSpPr>
              <a:spLocks noChangeArrowheads="1"/>
            </p:cNvSpPr>
            <p:nvPr/>
          </p:nvSpPr>
          <p:spPr bwMode="auto">
            <a:xfrm>
              <a:off x="96"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7</a:t>
              </a:r>
            </a:p>
          </p:txBody>
        </p:sp>
        <p:sp>
          <p:nvSpPr>
            <p:cNvPr id="247942" name="Rectangle 78">
              <a:extLst>
                <a:ext uri="{FF2B5EF4-FFF2-40B4-BE49-F238E27FC236}">
                  <a16:creationId xmlns:a16="http://schemas.microsoft.com/office/drawing/2014/main" id="{5C68625A-8424-814E-8779-B9C6316B9ABF}"/>
                </a:ext>
              </a:extLst>
            </p:cNvPr>
            <p:cNvSpPr>
              <a:spLocks noChangeArrowheads="1"/>
            </p:cNvSpPr>
            <p:nvPr/>
          </p:nvSpPr>
          <p:spPr bwMode="auto">
            <a:xfrm>
              <a:off x="2441"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43" name="Rectangle 79">
              <a:extLst>
                <a:ext uri="{FF2B5EF4-FFF2-40B4-BE49-F238E27FC236}">
                  <a16:creationId xmlns:a16="http://schemas.microsoft.com/office/drawing/2014/main" id="{52303790-5A1E-1748-9949-58D5D18CF02A}"/>
                </a:ext>
              </a:extLst>
            </p:cNvPr>
            <p:cNvSpPr>
              <a:spLocks noChangeArrowheads="1"/>
            </p:cNvSpPr>
            <p:nvPr/>
          </p:nvSpPr>
          <p:spPr bwMode="auto">
            <a:xfrm>
              <a:off x="2051" y="3823"/>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44" name="Rectangle 80">
              <a:extLst>
                <a:ext uri="{FF2B5EF4-FFF2-40B4-BE49-F238E27FC236}">
                  <a16:creationId xmlns:a16="http://schemas.microsoft.com/office/drawing/2014/main" id="{FDFD4384-A78E-4744-AA8A-94BC83382661}"/>
                </a:ext>
              </a:extLst>
            </p:cNvPr>
            <p:cNvSpPr>
              <a:spLocks noChangeArrowheads="1"/>
            </p:cNvSpPr>
            <p:nvPr/>
          </p:nvSpPr>
          <p:spPr bwMode="auto">
            <a:xfrm>
              <a:off x="1660"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45" name="Rectangle 81">
              <a:extLst>
                <a:ext uri="{FF2B5EF4-FFF2-40B4-BE49-F238E27FC236}">
                  <a16:creationId xmlns:a16="http://schemas.microsoft.com/office/drawing/2014/main" id="{EBFDFCC5-7A27-9A46-9139-7BB5054AAB94}"/>
                </a:ext>
              </a:extLst>
            </p:cNvPr>
            <p:cNvSpPr>
              <a:spLocks noChangeArrowheads="1"/>
            </p:cNvSpPr>
            <p:nvPr/>
          </p:nvSpPr>
          <p:spPr bwMode="auto">
            <a:xfrm>
              <a:off x="1268" y="3823"/>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46" name="Rectangle 82">
              <a:extLst>
                <a:ext uri="{FF2B5EF4-FFF2-40B4-BE49-F238E27FC236}">
                  <a16:creationId xmlns:a16="http://schemas.microsoft.com/office/drawing/2014/main" id="{BF5EAEF6-E9CF-4B43-96C6-3AFE97B8C59A}"/>
                </a:ext>
              </a:extLst>
            </p:cNvPr>
            <p:cNvSpPr>
              <a:spLocks noChangeArrowheads="1"/>
            </p:cNvSpPr>
            <p:nvPr/>
          </p:nvSpPr>
          <p:spPr bwMode="auto">
            <a:xfrm>
              <a:off x="877"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7947" name="Rectangle 83">
              <a:extLst>
                <a:ext uri="{FF2B5EF4-FFF2-40B4-BE49-F238E27FC236}">
                  <a16:creationId xmlns:a16="http://schemas.microsoft.com/office/drawing/2014/main" id="{3DECDD35-F82A-D149-A76C-D2F600FB4564}"/>
                </a:ext>
              </a:extLst>
            </p:cNvPr>
            <p:cNvSpPr>
              <a:spLocks noChangeArrowheads="1"/>
            </p:cNvSpPr>
            <p:nvPr/>
          </p:nvSpPr>
          <p:spPr bwMode="auto">
            <a:xfrm>
              <a:off x="487" y="3823"/>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31</a:t>
              </a:r>
            </a:p>
          </p:txBody>
        </p:sp>
        <p:sp>
          <p:nvSpPr>
            <p:cNvPr id="247948" name="Rectangle 84">
              <a:extLst>
                <a:ext uri="{FF2B5EF4-FFF2-40B4-BE49-F238E27FC236}">
                  <a16:creationId xmlns:a16="http://schemas.microsoft.com/office/drawing/2014/main" id="{7D3B54D5-865A-5B43-BCA1-788FC5822B18}"/>
                </a:ext>
              </a:extLst>
            </p:cNvPr>
            <p:cNvSpPr>
              <a:spLocks noChangeArrowheads="1"/>
            </p:cNvSpPr>
            <p:nvPr/>
          </p:nvSpPr>
          <p:spPr bwMode="auto">
            <a:xfrm>
              <a:off x="96"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6</a:t>
              </a:r>
            </a:p>
          </p:txBody>
        </p:sp>
        <p:sp>
          <p:nvSpPr>
            <p:cNvPr id="247949" name="Rectangle 92">
              <a:extLst>
                <a:ext uri="{FF2B5EF4-FFF2-40B4-BE49-F238E27FC236}">
                  <a16:creationId xmlns:a16="http://schemas.microsoft.com/office/drawing/2014/main" id="{A7846AEE-C625-5B49-90D3-97677158080D}"/>
                </a:ext>
              </a:extLst>
            </p:cNvPr>
            <p:cNvSpPr>
              <a:spLocks noChangeArrowheads="1"/>
            </p:cNvSpPr>
            <p:nvPr/>
          </p:nvSpPr>
          <p:spPr bwMode="auto">
            <a:xfrm>
              <a:off x="2441"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1D</a:t>
              </a:r>
            </a:p>
          </p:txBody>
        </p:sp>
        <p:sp>
          <p:nvSpPr>
            <p:cNvPr id="247950" name="Rectangle 93">
              <a:extLst>
                <a:ext uri="{FF2B5EF4-FFF2-40B4-BE49-F238E27FC236}">
                  <a16:creationId xmlns:a16="http://schemas.microsoft.com/office/drawing/2014/main" id="{21580924-7ECD-494E-B07E-A3C1CADA3896}"/>
                </a:ext>
              </a:extLst>
            </p:cNvPr>
            <p:cNvSpPr>
              <a:spLocks noChangeArrowheads="1"/>
            </p:cNvSpPr>
            <p:nvPr/>
          </p:nvSpPr>
          <p:spPr bwMode="auto">
            <a:xfrm>
              <a:off x="2051" y="364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F0</a:t>
              </a:r>
            </a:p>
          </p:txBody>
        </p:sp>
        <p:sp>
          <p:nvSpPr>
            <p:cNvPr id="247951" name="Rectangle 94">
              <a:extLst>
                <a:ext uri="{FF2B5EF4-FFF2-40B4-BE49-F238E27FC236}">
                  <a16:creationId xmlns:a16="http://schemas.microsoft.com/office/drawing/2014/main" id="{7CE152A3-5D85-3F47-AD86-5F51320844EC}"/>
                </a:ext>
              </a:extLst>
            </p:cNvPr>
            <p:cNvSpPr>
              <a:spLocks noChangeArrowheads="1"/>
            </p:cNvSpPr>
            <p:nvPr/>
          </p:nvSpPr>
          <p:spPr bwMode="auto">
            <a:xfrm>
              <a:off x="1660"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1"/>
                  </a:solidFill>
                  <a:latin typeface="微软雅黑" panose="020B0503020204020204" pitchFamily="34" charset="-122"/>
                  <a:ea typeface="微软雅黑" panose="020B0503020204020204" pitchFamily="34" charset="-122"/>
                </a:rPr>
                <a:t>72</a:t>
              </a:r>
            </a:p>
          </p:txBody>
        </p:sp>
        <p:sp>
          <p:nvSpPr>
            <p:cNvPr id="247952" name="Rectangle 95">
              <a:extLst>
                <a:ext uri="{FF2B5EF4-FFF2-40B4-BE49-F238E27FC236}">
                  <a16:creationId xmlns:a16="http://schemas.microsoft.com/office/drawing/2014/main" id="{EE6860B4-4631-F341-A6F7-D60990ED0E9A}"/>
                </a:ext>
              </a:extLst>
            </p:cNvPr>
            <p:cNvSpPr>
              <a:spLocks noChangeArrowheads="1"/>
            </p:cNvSpPr>
            <p:nvPr/>
          </p:nvSpPr>
          <p:spPr bwMode="auto">
            <a:xfrm>
              <a:off x="1268" y="3646"/>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1"/>
                  </a:solidFill>
                  <a:latin typeface="微软雅黑" panose="020B0503020204020204" pitchFamily="34" charset="-122"/>
                  <a:ea typeface="微软雅黑" panose="020B0503020204020204" pitchFamily="34" charset="-122"/>
                </a:rPr>
                <a:t>36</a:t>
              </a:r>
            </a:p>
          </p:txBody>
        </p:sp>
        <p:sp>
          <p:nvSpPr>
            <p:cNvPr id="247953" name="Rectangle 96">
              <a:extLst>
                <a:ext uri="{FF2B5EF4-FFF2-40B4-BE49-F238E27FC236}">
                  <a16:creationId xmlns:a16="http://schemas.microsoft.com/office/drawing/2014/main" id="{372C0E61-0655-B747-9299-246C39D3CAF7}"/>
                </a:ext>
              </a:extLst>
            </p:cNvPr>
            <p:cNvSpPr>
              <a:spLocks noChangeArrowheads="1"/>
            </p:cNvSpPr>
            <p:nvPr/>
          </p:nvSpPr>
          <p:spPr bwMode="auto">
            <a:xfrm>
              <a:off x="877"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1"/>
                  </a:solidFill>
                  <a:latin typeface="微软雅黑" panose="020B0503020204020204" pitchFamily="34" charset="-122"/>
                  <a:ea typeface="微软雅黑" panose="020B0503020204020204" pitchFamily="34" charset="-122"/>
                </a:rPr>
                <a:t>1</a:t>
              </a:r>
            </a:p>
          </p:txBody>
        </p:sp>
        <p:sp>
          <p:nvSpPr>
            <p:cNvPr id="247954" name="Rectangle 97">
              <a:extLst>
                <a:ext uri="{FF2B5EF4-FFF2-40B4-BE49-F238E27FC236}">
                  <a16:creationId xmlns:a16="http://schemas.microsoft.com/office/drawing/2014/main" id="{E03C61FD-6821-064F-BA83-FF33918646C6}"/>
                </a:ext>
              </a:extLst>
            </p:cNvPr>
            <p:cNvSpPr>
              <a:spLocks noChangeArrowheads="1"/>
            </p:cNvSpPr>
            <p:nvPr/>
          </p:nvSpPr>
          <p:spPr bwMode="auto">
            <a:xfrm>
              <a:off x="487" y="364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chemeClr val="accent1"/>
                  </a:solidFill>
                  <a:latin typeface="微软雅黑" panose="020B0503020204020204" pitchFamily="34" charset="-122"/>
                  <a:ea typeface="微软雅黑" panose="020B0503020204020204" pitchFamily="34" charset="-122"/>
                </a:rPr>
                <a:t>0D</a:t>
              </a:r>
            </a:p>
          </p:txBody>
        </p:sp>
        <p:sp>
          <p:nvSpPr>
            <p:cNvPr id="247955" name="Rectangle 98">
              <a:extLst>
                <a:ext uri="{FF2B5EF4-FFF2-40B4-BE49-F238E27FC236}">
                  <a16:creationId xmlns:a16="http://schemas.microsoft.com/office/drawing/2014/main" id="{1A4298AD-B4F9-3F4C-8D06-A36552D444C0}"/>
                </a:ext>
              </a:extLst>
            </p:cNvPr>
            <p:cNvSpPr>
              <a:spLocks noChangeArrowheads="1"/>
            </p:cNvSpPr>
            <p:nvPr/>
          </p:nvSpPr>
          <p:spPr bwMode="auto">
            <a:xfrm>
              <a:off x="96"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5</a:t>
              </a:r>
            </a:p>
          </p:txBody>
        </p:sp>
        <p:sp>
          <p:nvSpPr>
            <p:cNvPr id="247956" name="Rectangle 106">
              <a:extLst>
                <a:ext uri="{FF2B5EF4-FFF2-40B4-BE49-F238E27FC236}">
                  <a16:creationId xmlns:a16="http://schemas.microsoft.com/office/drawing/2014/main" id="{17BFEB6D-2D00-9144-B5FD-6ABC4589703A}"/>
                </a:ext>
              </a:extLst>
            </p:cNvPr>
            <p:cNvSpPr>
              <a:spLocks noChangeArrowheads="1"/>
            </p:cNvSpPr>
            <p:nvPr/>
          </p:nvSpPr>
          <p:spPr bwMode="auto">
            <a:xfrm>
              <a:off x="2441"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09</a:t>
              </a:r>
            </a:p>
          </p:txBody>
        </p:sp>
        <p:sp>
          <p:nvSpPr>
            <p:cNvPr id="247957" name="Rectangle 107">
              <a:extLst>
                <a:ext uri="{FF2B5EF4-FFF2-40B4-BE49-F238E27FC236}">
                  <a16:creationId xmlns:a16="http://schemas.microsoft.com/office/drawing/2014/main" id="{779E3FE2-383D-D044-973E-29CD09A46EFA}"/>
                </a:ext>
              </a:extLst>
            </p:cNvPr>
            <p:cNvSpPr>
              <a:spLocks noChangeArrowheads="1"/>
            </p:cNvSpPr>
            <p:nvPr/>
          </p:nvSpPr>
          <p:spPr bwMode="auto">
            <a:xfrm>
              <a:off x="2051" y="3453"/>
              <a:ext cx="39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8F</a:t>
              </a:r>
            </a:p>
          </p:txBody>
        </p:sp>
        <p:sp>
          <p:nvSpPr>
            <p:cNvPr id="247958" name="Rectangle 108">
              <a:extLst>
                <a:ext uri="{FF2B5EF4-FFF2-40B4-BE49-F238E27FC236}">
                  <a16:creationId xmlns:a16="http://schemas.microsoft.com/office/drawing/2014/main" id="{5EB7EB2D-E97D-A246-98CE-8440134DA9F2}"/>
                </a:ext>
              </a:extLst>
            </p:cNvPr>
            <p:cNvSpPr>
              <a:spLocks noChangeArrowheads="1"/>
            </p:cNvSpPr>
            <p:nvPr/>
          </p:nvSpPr>
          <p:spPr bwMode="auto">
            <a:xfrm>
              <a:off x="1660"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6D</a:t>
              </a:r>
            </a:p>
          </p:txBody>
        </p:sp>
        <p:sp>
          <p:nvSpPr>
            <p:cNvPr id="247959" name="Rectangle 109">
              <a:extLst>
                <a:ext uri="{FF2B5EF4-FFF2-40B4-BE49-F238E27FC236}">
                  <a16:creationId xmlns:a16="http://schemas.microsoft.com/office/drawing/2014/main" id="{FD372B4D-4AD9-9B49-9965-1A5CE45BE4CF}"/>
                </a:ext>
              </a:extLst>
            </p:cNvPr>
            <p:cNvSpPr>
              <a:spLocks noChangeArrowheads="1"/>
            </p:cNvSpPr>
            <p:nvPr/>
          </p:nvSpPr>
          <p:spPr bwMode="auto">
            <a:xfrm>
              <a:off x="1268" y="3453"/>
              <a:ext cx="39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43</a:t>
              </a:r>
            </a:p>
          </p:txBody>
        </p:sp>
        <p:sp>
          <p:nvSpPr>
            <p:cNvPr id="247960" name="Rectangle 110">
              <a:extLst>
                <a:ext uri="{FF2B5EF4-FFF2-40B4-BE49-F238E27FC236}">
                  <a16:creationId xmlns:a16="http://schemas.microsoft.com/office/drawing/2014/main" id="{99A269F4-40FB-D94B-9474-8AB11A490B09}"/>
                </a:ext>
              </a:extLst>
            </p:cNvPr>
            <p:cNvSpPr>
              <a:spLocks noChangeArrowheads="1"/>
            </p:cNvSpPr>
            <p:nvPr/>
          </p:nvSpPr>
          <p:spPr bwMode="auto">
            <a:xfrm>
              <a:off x="877"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961" name="Rectangle 111">
              <a:extLst>
                <a:ext uri="{FF2B5EF4-FFF2-40B4-BE49-F238E27FC236}">
                  <a16:creationId xmlns:a16="http://schemas.microsoft.com/office/drawing/2014/main" id="{6A0F460A-114E-F048-B435-A646CE558835}"/>
                </a:ext>
              </a:extLst>
            </p:cNvPr>
            <p:cNvSpPr>
              <a:spLocks noChangeArrowheads="1"/>
            </p:cNvSpPr>
            <p:nvPr/>
          </p:nvSpPr>
          <p:spPr bwMode="auto">
            <a:xfrm>
              <a:off x="487" y="3453"/>
              <a:ext cx="39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32</a:t>
              </a:r>
            </a:p>
          </p:txBody>
        </p:sp>
        <p:sp>
          <p:nvSpPr>
            <p:cNvPr id="247962" name="Rectangle 112">
              <a:extLst>
                <a:ext uri="{FF2B5EF4-FFF2-40B4-BE49-F238E27FC236}">
                  <a16:creationId xmlns:a16="http://schemas.microsoft.com/office/drawing/2014/main" id="{1830530F-6F80-9A48-9B83-DDBABA1698A0}"/>
                </a:ext>
              </a:extLst>
            </p:cNvPr>
            <p:cNvSpPr>
              <a:spLocks noChangeArrowheads="1"/>
            </p:cNvSpPr>
            <p:nvPr/>
          </p:nvSpPr>
          <p:spPr bwMode="auto">
            <a:xfrm>
              <a:off x="96"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4</a:t>
              </a:r>
            </a:p>
          </p:txBody>
        </p:sp>
        <p:sp>
          <p:nvSpPr>
            <p:cNvPr id="247963" name="Rectangle 120">
              <a:extLst>
                <a:ext uri="{FF2B5EF4-FFF2-40B4-BE49-F238E27FC236}">
                  <a16:creationId xmlns:a16="http://schemas.microsoft.com/office/drawing/2014/main" id="{F4CB2BF5-C4AC-6D46-A727-59D00C4D4565}"/>
                </a:ext>
              </a:extLst>
            </p:cNvPr>
            <p:cNvSpPr>
              <a:spLocks noChangeArrowheads="1"/>
            </p:cNvSpPr>
            <p:nvPr/>
          </p:nvSpPr>
          <p:spPr bwMode="auto">
            <a:xfrm>
              <a:off x="2441"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64" name="Rectangle 121">
              <a:extLst>
                <a:ext uri="{FF2B5EF4-FFF2-40B4-BE49-F238E27FC236}">
                  <a16:creationId xmlns:a16="http://schemas.microsoft.com/office/drawing/2014/main" id="{596A6052-9210-B440-AE1D-69039340BBF5}"/>
                </a:ext>
              </a:extLst>
            </p:cNvPr>
            <p:cNvSpPr>
              <a:spLocks noChangeArrowheads="1"/>
            </p:cNvSpPr>
            <p:nvPr/>
          </p:nvSpPr>
          <p:spPr bwMode="auto">
            <a:xfrm>
              <a:off x="2051" y="327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65" name="Rectangle 122">
              <a:extLst>
                <a:ext uri="{FF2B5EF4-FFF2-40B4-BE49-F238E27FC236}">
                  <a16:creationId xmlns:a16="http://schemas.microsoft.com/office/drawing/2014/main" id="{5806AEA9-E7DE-1E44-8CC0-00DD7E7D428E}"/>
                </a:ext>
              </a:extLst>
            </p:cNvPr>
            <p:cNvSpPr>
              <a:spLocks noChangeArrowheads="1"/>
            </p:cNvSpPr>
            <p:nvPr/>
          </p:nvSpPr>
          <p:spPr bwMode="auto">
            <a:xfrm>
              <a:off x="1660"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66" name="Rectangle 123">
              <a:extLst>
                <a:ext uri="{FF2B5EF4-FFF2-40B4-BE49-F238E27FC236}">
                  <a16:creationId xmlns:a16="http://schemas.microsoft.com/office/drawing/2014/main" id="{04BFFD19-CFA8-0540-950A-C3BEF12A8604}"/>
                </a:ext>
              </a:extLst>
            </p:cNvPr>
            <p:cNvSpPr>
              <a:spLocks noChangeArrowheads="1"/>
            </p:cNvSpPr>
            <p:nvPr/>
          </p:nvSpPr>
          <p:spPr bwMode="auto">
            <a:xfrm>
              <a:off x="1268" y="3276"/>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67" name="Rectangle 124">
              <a:extLst>
                <a:ext uri="{FF2B5EF4-FFF2-40B4-BE49-F238E27FC236}">
                  <a16:creationId xmlns:a16="http://schemas.microsoft.com/office/drawing/2014/main" id="{4D0842EB-7D9E-5943-9385-2193D8CD89DF}"/>
                </a:ext>
              </a:extLst>
            </p:cNvPr>
            <p:cNvSpPr>
              <a:spLocks noChangeArrowheads="1"/>
            </p:cNvSpPr>
            <p:nvPr/>
          </p:nvSpPr>
          <p:spPr bwMode="auto">
            <a:xfrm>
              <a:off x="877"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7968" name="Rectangle 125">
              <a:extLst>
                <a:ext uri="{FF2B5EF4-FFF2-40B4-BE49-F238E27FC236}">
                  <a16:creationId xmlns:a16="http://schemas.microsoft.com/office/drawing/2014/main" id="{79CEC94A-288A-0B49-AA75-D862FDECC317}"/>
                </a:ext>
              </a:extLst>
            </p:cNvPr>
            <p:cNvSpPr>
              <a:spLocks noChangeArrowheads="1"/>
            </p:cNvSpPr>
            <p:nvPr/>
          </p:nvSpPr>
          <p:spPr bwMode="auto">
            <a:xfrm>
              <a:off x="487" y="327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36</a:t>
              </a:r>
            </a:p>
          </p:txBody>
        </p:sp>
        <p:sp>
          <p:nvSpPr>
            <p:cNvPr id="247969" name="Rectangle 126">
              <a:extLst>
                <a:ext uri="{FF2B5EF4-FFF2-40B4-BE49-F238E27FC236}">
                  <a16:creationId xmlns:a16="http://schemas.microsoft.com/office/drawing/2014/main" id="{B4F01602-A99F-FD4E-922F-FEB46F3E3ADB}"/>
                </a:ext>
              </a:extLst>
            </p:cNvPr>
            <p:cNvSpPr>
              <a:spLocks noChangeArrowheads="1"/>
            </p:cNvSpPr>
            <p:nvPr/>
          </p:nvSpPr>
          <p:spPr bwMode="auto">
            <a:xfrm>
              <a:off x="96"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3</a:t>
              </a:r>
            </a:p>
          </p:txBody>
        </p:sp>
        <p:sp>
          <p:nvSpPr>
            <p:cNvPr id="247970" name="Rectangle 134">
              <a:extLst>
                <a:ext uri="{FF2B5EF4-FFF2-40B4-BE49-F238E27FC236}">
                  <a16:creationId xmlns:a16="http://schemas.microsoft.com/office/drawing/2014/main" id="{FD51ADDD-6D8F-6744-8D98-D77B395C8A88}"/>
                </a:ext>
              </a:extLst>
            </p:cNvPr>
            <p:cNvSpPr>
              <a:spLocks noChangeArrowheads="1"/>
            </p:cNvSpPr>
            <p:nvPr/>
          </p:nvSpPr>
          <p:spPr bwMode="auto">
            <a:xfrm>
              <a:off x="2441"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08</a:t>
              </a:r>
            </a:p>
          </p:txBody>
        </p:sp>
        <p:sp>
          <p:nvSpPr>
            <p:cNvPr id="247971" name="Rectangle 135">
              <a:extLst>
                <a:ext uri="{FF2B5EF4-FFF2-40B4-BE49-F238E27FC236}">
                  <a16:creationId xmlns:a16="http://schemas.microsoft.com/office/drawing/2014/main" id="{0D3A0099-C9F2-EF46-B26C-10798931A315}"/>
                </a:ext>
              </a:extLst>
            </p:cNvPr>
            <p:cNvSpPr>
              <a:spLocks noChangeArrowheads="1"/>
            </p:cNvSpPr>
            <p:nvPr/>
          </p:nvSpPr>
          <p:spPr bwMode="auto">
            <a:xfrm>
              <a:off x="2051" y="3099"/>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04</a:t>
              </a:r>
            </a:p>
          </p:txBody>
        </p:sp>
        <p:sp>
          <p:nvSpPr>
            <p:cNvPr id="247972" name="Rectangle 136">
              <a:extLst>
                <a:ext uri="{FF2B5EF4-FFF2-40B4-BE49-F238E27FC236}">
                  <a16:creationId xmlns:a16="http://schemas.microsoft.com/office/drawing/2014/main" id="{EFCEF926-0B25-D246-B15E-C5A416E722E7}"/>
                </a:ext>
              </a:extLst>
            </p:cNvPr>
            <p:cNvSpPr>
              <a:spLocks noChangeArrowheads="1"/>
            </p:cNvSpPr>
            <p:nvPr/>
          </p:nvSpPr>
          <p:spPr bwMode="auto">
            <a:xfrm>
              <a:off x="1660"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02</a:t>
              </a:r>
            </a:p>
          </p:txBody>
        </p:sp>
        <p:sp>
          <p:nvSpPr>
            <p:cNvPr id="247973" name="Rectangle 137">
              <a:extLst>
                <a:ext uri="{FF2B5EF4-FFF2-40B4-BE49-F238E27FC236}">
                  <a16:creationId xmlns:a16="http://schemas.microsoft.com/office/drawing/2014/main" id="{E14C9AB6-2723-DC4D-BDFB-1F420FB38D56}"/>
                </a:ext>
              </a:extLst>
            </p:cNvPr>
            <p:cNvSpPr>
              <a:spLocks noChangeArrowheads="1"/>
            </p:cNvSpPr>
            <p:nvPr/>
          </p:nvSpPr>
          <p:spPr bwMode="auto">
            <a:xfrm>
              <a:off x="1268" y="3099"/>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00</a:t>
              </a:r>
            </a:p>
          </p:txBody>
        </p:sp>
        <p:sp>
          <p:nvSpPr>
            <p:cNvPr id="247974" name="Rectangle 138">
              <a:extLst>
                <a:ext uri="{FF2B5EF4-FFF2-40B4-BE49-F238E27FC236}">
                  <a16:creationId xmlns:a16="http://schemas.microsoft.com/office/drawing/2014/main" id="{4FAEE9D1-8933-F844-BC1A-365799C65007}"/>
                </a:ext>
              </a:extLst>
            </p:cNvPr>
            <p:cNvSpPr>
              <a:spLocks noChangeArrowheads="1"/>
            </p:cNvSpPr>
            <p:nvPr/>
          </p:nvSpPr>
          <p:spPr bwMode="auto">
            <a:xfrm>
              <a:off x="877"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975" name="Rectangle 139">
              <a:extLst>
                <a:ext uri="{FF2B5EF4-FFF2-40B4-BE49-F238E27FC236}">
                  <a16:creationId xmlns:a16="http://schemas.microsoft.com/office/drawing/2014/main" id="{8BA87AAD-9D81-E844-B7EB-DF38478720F4}"/>
                </a:ext>
              </a:extLst>
            </p:cNvPr>
            <p:cNvSpPr>
              <a:spLocks noChangeArrowheads="1"/>
            </p:cNvSpPr>
            <p:nvPr/>
          </p:nvSpPr>
          <p:spPr bwMode="auto">
            <a:xfrm>
              <a:off x="487" y="3099"/>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1B</a:t>
              </a:r>
            </a:p>
          </p:txBody>
        </p:sp>
        <p:sp>
          <p:nvSpPr>
            <p:cNvPr id="247976" name="Rectangle 140">
              <a:extLst>
                <a:ext uri="{FF2B5EF4-FFF2-40B4-BE49-F238E27FC236}">
                  <a16:creationId xmlns:a16="http://schemas.microsoft.com/office/drawing/2014/main" id="{C5D3A6C8-E5DA-164D-8EEB-D94290439F7B}"/>
                </a:ext>
              </a:extLst>
            </p:cNvPr>
            <p:cNvSpPr>
              <a:spLocks noChangeArrowheads="1"/>
            </p:cNvSpPr>
            <p:nvPr/>
          </p:nvSpPr>
          <p:spPr bwMode="auto">
            <a:xfrm>
              <a:off x="96"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2</a:t>
              </a:r>
            </a:p>
          </p:txBody>
        </p:sp>
        <p:sp>
          <p:nvSpPr>
            <p:cNvPr id="247977" name="Rectangle 148">
              <a:extLst>
                <a:ext uri="{FF2B5EF4-FFF2-40B4-BE49-F238E27FC236}">
                  <a16:creationId xmlns:a16="http://schemas.microsoft.com/office/drawing/2014/main" id="{40A9D626-30E0-564E-A70D-068431BEF30E}"/>
                </a:ext>
              </a:extLst>
            </p:cNvPr>
            <p:cNvSpPr>
              <a:spLocks noChangeArrowheads="1"/>
            </p:cNvSpPr>
            <p:nvPr/>
          </p:nvSpPr>
          <p:spPr bwMode="auto">
            <a:xfrm>
              <a:off x="2441"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78" name="Rectangle 149">
              <a:extLst>
                <a:ext uri="{FF2B5EF4-FFF2-40B4-BE49-F238E27FC236}">
                  <a16:creationId xmlns:a16="http://schemas.microsoft.com/office/drawing/2014/main" id="{C0300ADF-7A63-DF48-8CB0-B1F35258C899}"/>
                </a:ext>
              </a:extLst>
            </p:cNvPr>
            <p:cNvSpPr>
              <a:spLocks noChangeArrowheads="1"/>
            </p:cNvSpPr>
            <p:nvPr/>
          </p:nvSpPr>
          <p:spPr bwMode="auto">
            <a:xfrm>
              <a:off x="2051" y="2922"/>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79" name="Rectangle 150">
              <a:extLst>
                <a:ext uri="{FF2B5EF4-FFF2-40B4-BE49-F238E27FC236}">
                  <a16:creationId xmlns:a16="http://schemas.microsoft.com/office/drawing/2014/main" id="{CAA116B4-66C3-274A-9270-369F5E285C25}"/>
                </a:ext>
              </a:extLst>
            </p:cNvPr>
            <p:cNvSpPr>
              <a:spLocks noChangeArrowheads="1"/>
            </p:cNvSpPr>
            <p:nvPr/>
          </p:nvSpPr>
          <p:spPr bwMode="auto">
            <a:xfrm>
              <a:off x="1660"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80" name="Rectangle 151">
              <a:extLst>
                <a:ext uri="{FF2B5EF4-FFF2-40B4-BE49-F238E27FC236}">
                  <a16:creationId xmlns:a16="http://schemas.microsoft.com/office/drawing/2014/main" id="{3577C9A9-1D73-D74E-86F5-18524300AF1F}"/>
                </a:ext>
              </a:extLst>
            </p:cNvPr>
            <p:cNvSpPr>
              <a:spLocks noChangeArrowheads="1"/>
            </p:cNvSpPr>
            <p:nvPr/>
          </p:nvSpPr>
          <p:spPr bwMode="auto">
            <a:xfrm>
              <a:off x="1268" y="2922"/>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981" name="Rectangle 152">
              <a:extLst>
                <a:ext uri="{FF2B5EF4-FFF2-40B4-BE49-F238E27FC236}">
                  <a16:creationId xmlns:a16="http://schemas.microsoft.com/office/drawing/2014/main" id="{3EEF6455-4271-9640-994B-0ED88E2E247C}"/>
                </a:ext>
              </a:extLst>
            </p:cNvPr>
            <p:cNvSpPr>
              <a:spLocks noChangeArrowheads="1"/>
            </p:cNvSpPr>
            <p:nvPr/>
          </p:nvSpPr>
          <p:spPr bwMode="auto">
            <a:xfrm>
              <a:off x="877"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7982" name="Rectangle 153">
              <a:extLst>
                <a:ext uri="{FF2B5EF4-FFF2-40B4-BE49-F238E27FC236}">
                  <a16:creationId xmlns:a16="http://schemas.microsoft.com/office/drawing/2014/main" id="{31351037-4FC8-3643-A365-BFE7E2B5B795}"/>
                </a:ext>
              </a:extLst>
            </p:cNvPr>
            <p:cNvSpPr>
              <a:spLocks noChangeArrowheads="1"/>
            </p:cNvSpPr>
            <p:nvPr/>
          </p:nvSpPr>
          <p:spPr bwMode="auto">
            <a:xfrm>
              <a:off x="487" y="2922"/>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15</a:t>
              </a:r>
            </a:p>
          </p:txBody>
        </p:sp>
        <p:sp>
          <p:nvSpPr>
            <p:cNvPr id="247983" name="Rectangle 154">
              <a:extLst>
                <a:ext uri="{FF2B5EF4-FFF2-40B4-BE49-F238E27FC236}">
                  <a16:creationId xmlns:a16="http://schemas.microsoft.com/office/drawing/2014/main" id="{D723B5EB-B276-BC44-BD6D-31452045C8C0}"/>
                </a:ext>
              </a:extLst>
            </p:cNvPr>
            <p:cNvSpPr>
              <a:spLocks noChangeArrowheads="1"/>
            </p:cNvSpPr>
            <p:nvPr/>
          </p:nvSpPr>
          <p:spPr bwMode="auto">
            <a:xfrm>
              <a:off x="96"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1</a:t>
              </a:r>
            </a:p>
          </p:txBody>
        </p:sp>
        <p:sp>
          <p:nvSpPr>
            <p:cNvPr id="247984" name="Rectangle 162">
              <a:extLst>
                <a:ext uri="{FF2B5EF4-FFF2-40B4-BE49-F238E27FC236}">
                  <a16:creationId xmlns:a16="http://schemas.microsoft.com/office/drawing/2014/main" id="{1F1968C0-879E-1349-95B2-6192F8E37295}"/>
                </a:ext>
              </a:extLst>
            </p:cNvPr>
            <p:cNvSpPr>
              <a:spLocks noChangeArrowheads="1"/>
            </p:cNvSpPr>
            <p:nvPr/>
          </p:nvSpPr>
          <p:spPr bwMode="auto">
            <a:xfrm>
              <a:off x="2441"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11</a:t>
              </a:r>
            </a:p>
          </p:txBody>
        </p:sp>
        <p:sp>
          <p:nvSpPr>
            <p:cNvPr id="247985" name="Rectangle 163">
              <a:extLst>
                <a:ext uri="{FF2B5EF4-FFF2-40B4-BE49-F238E27FC236}">
                  <a16:creationId xmlns:a16="http://schemas.microsoft.com/office/drawing/2014/main" id="{E4284EE6-A46F-EF44-9BF1-E0F370473877}"/>
                </a:ext>
              </a:extLst>
            </p:cNvPr>
            <p:cNvSpPr>
              <a:spLocks noChangeArrowheads="1"/>
            </p:cNvSpPr>
            <p:nvPr/>
          </p:nvSpPr>
          <p:spPr bwMode="auto">
            <a:xfrm>
              <a:off x="2051" y="2745"/>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23</a:t>
              </a:r>
            </a:p>
          </p:txBody>
        </p:sp>
        <p:sp>
          <p:nvSpPr>
            <p:cNvPr id="247986" name="Rectangle 164">
              <a:extLst>
                <a:ext uri="{FF2B5EF4-FFF2-40B4-BE49-F238E27FC236}">
                  <a16:creationId xmlns:a16="http://schemas.microsoft.com/office/drawing/2014/main" id="{70C0C349-CF62-F74C-A0D7-FBEC1E51153C}"/>
                </a:ext>
              </a:extLst>
            </p:cNvPr>
            <p:cNvSpPr>
              <a:spLocks noChangeArrowheads="1"/>
            </p:cNvSpPr>
            <p:nvPr/>
          </p:nvSpPr>
          <p:spPr bwMode="auto">
            <a:xfrm>
              <a:off x="1660"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11</a:t>
              </a:r>
            </a:p>
          </p:txBody>
        </p:sp>
        <p:sp>
          <p:nvSpPr>
            <p:cNvPr id="247987" name="Rectangle 165">
              <a:extLst>
                <a:ext uri="{FF2B5EF4-FFF2-40B4-BE49-F238E27FC236}">
                  <a16:creationId xmlns:a16="http://schemas.microsoft.com/office/drawing/2014/main" id="{B3C975C4-4FF6-1241-AF05-CDEAFE56D068}"/>
                </a:ext>
              </a:extLst>
            </p:cNvPr>
            <p:cNvSpPr>
              <a:spLocks noChangeArrowheads="1"/>
            </p:cNvSpPr>
            <p:nvPr/>
          </p:nvSpPr>
          <p:spPr bwMode="auto">
            <a:xfrm>
              <a:off x="1268" y="2745"/>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99</a:t>
              </a:r>
            </a:p>
          </p:txBody>
        </p:sp>
        <p:sp>
          <p:nvSpPr>
            <p:cNvPr id="247988" name="Rectangle 166">
              <a:extLst>
                <a:ext uri="{FF2B5EF4-FFF2-40B4-BE49-F238E27FC236}">
                  <a16:creationId xmlns:a16="http://schemas.microsoft.com/office/drawing/2014/main" id="{56D0BA0F-26D5-634B-8B80-E28114768979}"/>
                </a:ext>
              </a:extLst>
            </p:cNvPr>
            <p:cNvSpPr>
              <a:spLocks noChangeArrowheads="1"/>
            </p:cNvSpPr>
            <p:nvPr/>
          </p:nvSpPr>
          <p:spPr bwMode="auto">
            <a:xfrm>
              <a:off x="877"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989" name="Rectangle 167">
              <a:extLst>
                <a:ext uri="{FF2B5EF4-FFF2-40B4-BE49-F238E27FC236}">
                  <a16:creationId xmlns:a16="http://schemas.microsoft.com/office/drawing/2014/main" id="{6F14D186-0825-B249-AD26-EFF10923CBBD}"/>
                </a:ext>
              </a:extLst>
            </p:cNvPr>
            <p:cNvSpPr>
              <a:spLocks noChangeArrowheads="1"/>
            </p:cNvSpPr>
            <p:nvPr/>
          </p:nvSpPr>
          <p:spPr bwMode="auto">
            <a:xfrm>
              <a:off x="487" y="2745"/>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19</a:t>
              </a:r>
            </a:p>
          </p:txBody>
        </p:sp>
        <p:sp>
          <p:nvSpPr>
            <p:cNvPr id="247990" name="Rectangle 168">
              <a:extLst>
                <a:ext uri="{FF2B5EF4-FFF2-40B4-BE49-F238E27FC236}">
                  <a16:creationId xmlns:a16="http://schemas.microsoft.com/office/drawing/2014/main" id="{0F731497-73E0-894E-8F04-DBC4825E70E9}"/>
                </a:ext>
              </a:extLst>
            </p:cNvPr>
            <p:cNvSpPr>
              <a:spLocks noChangeArrowheads="1"/>
            </p:cNvSpPr>
            <p:nvPr/>
          </p:nvSpPr>
          <p:spPr bwMode="auto">
            <a:xfrm>
              <a:off x="96"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0</a:t>
              </a:r>
            </a:p>
          </p:txBody>
        </p:sp>
        <p:sp>
          <p:nvSpPr>
            <p:cNvPr id="37040" name="Rectangle 176">
              <a:extLst>
                <a:ext uri="{FF2B5EF4-FFF2-40B4-BE49-F238E27FC236}">
                  <a16:creationId xmlns:a16="http://schemas.microsoft.com/office/drawing/2014/main" id="{F9A57E1E-81B8-4F46-B766-AC60D0D33632}"/>
                </a:ext>
              </a:extLst>
            </p:cNvPr>
            <p:cNvSpPr>
              <a:spLocks noChangeArrowheads="1"/>
            </p:cNvSpPr>
            <p:nvPr/>
          </p:nvSpPr>
          <p:spPr bwMode="auto">
            <a:xfrm>
              <a:off x="2441"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B3</a:t>
              </a:r>
            </a:p>
          </p:txBody>
        </p:sp>
        <p:sp>
          <p:nvSpPr>
            <p:cNvPr id="37041" name="Rectangle 177">
              <a:extLst>
                <a:ext uri="{FF2B5EF4-FFF2-40B4-BE49-F238E27FC236}">
                  <a16:creationId xmlns:a16="http://schemas.microsoft.com/office/drawing/2014/main" id="{5BBC3EF7-DA80-4C48-BEB4-CF642413FC4C}"/>
                </a:ext>
              </a:extLst>
            </p:cNvPr>
            <p:cNvSpPr>
              <a:spLocks noChangeArrowheads="1"/>
            </p:cNvSpPr>
            <p:nvPr/>
          </p:nvSpPr>
          <p:spPr bwMode="auto">
            <a:xfrm>
              <a:off x="2051" y="2568"/>
              <a:ext cx="390"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B2</a:t>
              </a:r>
            </a:p>
          </p:txBody>
        </p:sp>
        <p:sp>
          <p:nvSpPr>
            <p:cNvPr id="37042" name="Rectangle 178">
              <a:extLst>
                <a:ext uri="{FF2B5EF4-FFF2-40B4-BE49-F238E27FC236}">
                  <a16:creationId xmlns:a16="http://schemas.microsoft.com/office/drawing/2014/main" id="{83FFD613-7233-884A-A85D-427316B42987}"/>
                </a:ext>
              </a:extLst>
            </p:cNvPr>
            <p:cNvSpPr>
              <a:spLocks noChangeArrowheads="1"/>
            </p:cNvSpPr>
            <p:nvPr/>
          </p:nvSpPr>
          <p:spPr bwMode="auto">
            <a:xfrm>
              <a:off x="1660"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B1</a:t>
              </a:r>
            </a:p>
          </p:txBody>
        </p:sp>
        <p:sp>
          <p:nvSpPr>
            <p:cNvPr id="37043" name="Rectangle 179">
              <a:extLst>
                <a:ext uri="{FF2B5EF4-FFF2-40B4-BE49-F238E27FC236}">
                  <a16:creationId xmlns:a16="http://schemas.microsoft.com/office/drawing/2014/main" id="{058B8470-95AB-E947-9886-A0C26464A550}"/>
                </a:ext>
              </a:extLst>
            </p:cNvPr>
            <p:cNvSpPr>
              <a:spLocks noChangeArrowheads="1"/>
            </p:cNvSpPr>
            <p:nvPr/>
          </p:nvSpPr>
          <p:spPr bwMode="auto">
            <a:xfrm>
              <a:off x="1268" y="2568"/>
              <a:ext cx="392"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B0</a:t>
              </a:r>
            </a:p>
          </p:txBody>
        </p:sp>
        <p:sp>
          <p:nvSpPr>
            <p:cNvPr id="37044" name="Rectangle 180">
              <a:extLst>
                <a:ext uri="{FF2B5EF4-FFF2-40B4-BE49-F238E27FC236}">
                  <a16:creationId xmlns:a16="http://schemas.microsoft.com/office/drawing/2014/main" id="{F1707ED6-9353-8C4A-AC59-210136671502}"/>
                </a:ext>
              </a:extLst>
            </p:cNvPr>
            <p:cNvSpPr>
              <a:spLocks noChangeArrowheads="1"/>
            </p:cNvSpPr>
            <p:nvPr/>
          </p:nvSpPr>
          <p:spPr bwMode="auto">
            <a:xfrm>
              <a:off x="877"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V</a:t>
              </a:r>
            </a:p>
          </p:txBody>
        </p:sp>
        <p:sp>
          <p:nvSpPr>
            <p:cNvPr id="37045" name="Rectangle 181">
              <a:extLst>
                <a:ext uri="{FF2B5EF4-FFF2-40B4-BE49-F238E27FC236}">
                  <a16:creationId xmlns:a16="http://schemas.microsoft.com/office/drawing/2014/main" id="{E3D3A07D-35C9-D442-9B3F-0E0FF7677FCE}"/>
                </a:ext>
              </a:extLst>
            </p:cNvPr>
            <p:cNvSpPr>
              <a:spLocks noChangeArrowheads="1"/>
            </p:cNvSpPr>
            <p:nvPr/>
          </p:nvSpPr>
          <p:spPr bwMode="auto">
            <a:xfrm>
              <a:off x="487" y="2568"/>
              <a:ext cx="390"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Tag</a:t>
              </a:r>
            </a:p>
          </p:txBody>
        </p:sp>
        <p:sp>
          <p:nvSpPr>
            <p:cNvPr id="37046" name="Rectangle 182">
              <a:extLst>
                <a:ext uri="{FF2B5EF4-FFF2-40B4-BE49-F238E27FC236}">
                  <a16:creationId xmlns:a16="http://schemas.microsoft.com/office/drawing/2014/main" id="{2EDFE98F-D732-7B46-8A85-7FE7B9B0C3C6}"/>
                </a:ext>
              </a:extLst>
            </p:cNvPr>
            <p:cNvSpPr>
              <a:spLocks noChangeArrowheads="1"/>
            </p:cNvSpPr>
            <p:nvPr/>
          </p:nvSpPr>
          <p:spPr bwMode="auto">
            <a:xfrm>
              <a:off x="96"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Idx</a:t>
              </a:r>
            </a:p>
          </p:txBody>
        </p:sp>
        <p:sp>
          <p:nvSpPr>
            <p:cNvPr id="247998" name="Line 183">
              <a:extLst>
                <a:ext uri="{FF2B5EF4-FFF2-40B4-BE49-F238E27FC236}">
                  <a16:creationId xmlns:a16="http://schemas.microsoft.com/office/drawing/2014/main" id="{9B087063-EEFE-E247-B2CB-90CE9FC8D925}"/>
                </a:ext>
              </a:extLst>
            </p:cNvPr>
            <p:cNvSpPr>
              <a:spLocks noChangeShapeType="1"/>
            </p:cNvSpPr>
            <p:nvPr/>
          </p:nvSpPr>
          <p:spPr bwMode="auto">
            <a:xfrm>
              <a:off x="96" y="2745"/>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999" name="Line 184">
              <a:extLst>
                <a:ext uri="{FF2B5EF4-FFF2-40B4-BE49-F238E27FC236}">
                  <a16:creationId xmlns:a16="http://schemas.microsoft.com/office/drawing/2014/main" id="{A3A8DABF-711B-5941-97AA-4124387ECF3E}"/>
                </a:ext>
              </a:extLst>
            </p:cNvPr>
            <p:cNvSpPr>
              <a:spLocks noChangeShapeType="1"/>
            </p:cNvSpPr>
            <p:nvPr/>
          </p:nvSpPr>
          <p:spPr bwMode="auto">
            <a:xfrm>
              <a:off x="96" y="2922"/>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0" name="Line 185">
              <a:extLst>
                <a:ext uri="{FF2B5EF4-FFF2-40B4-BE49-F238E27FC236}">
                  <a16:creationId xmlns:a16="http://schemas.microsoft.com/office/drawing/2014/main" id="{84D6DFA1-9629-8140-B834-70607B609DAE}"/>
                </a:ext>
              </a:extLst>
            </p:cNvPr>
            <p:cNvSpPr>
              <a:spLocks noChangeShapeType="1"/>
            </p:cNvSpPr>
            <p:nvPr/>
          </p:nvSpPr>
          <p:spPr bwMode="auto">
            <a:xfrm>
              <a:off x="96" y="3099"/>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1" name="Line 186">
              <a:extLst>
                <a:ext uri="{FF2B5EF4-FFF2-40B4-BE49-F238E27FC236}">
                  <a16:creationId xmlns:a16="http://schemas.microsoft.com/office/drawing/2014/main" id="{3E31BA79-BC00-D24F-A84C-23CD8059051D}"/>
                </a:ext>
              </a:extLst>
            </p:cNvPr>
            <p:cNvSpPr>
              <a:spLocks noChangeShapeType="1"/>
            </p:cNvSpPr>
            <p:nvPr/>
          </p:nvSpPr>
          <p:spPr bwMode="auto">
            <a:xfrm>
              <a:off x="96" y="3276"/>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2" name="Line 187">
              <a:extLst>
                <a:ext uri="{FF2B5EF4-FFF2-40B4-BE49-F238E27FC236}">
                  <a16:creationId xmlns:a16="http://schemas.microsoft.com/office/drawing/2014/main" id="{97CB8A74-2C6D-214E-B2D4-1AB1FE49DE16}"/>
                </a:ext>
              </a:extLst>
            </p:cNvPr>
            <p:cNvSpPr>
              <a:spLocks noChangeShapeType="1"/>
            </p:cNvSpPr>
            <p:nvPr/>
          </p:nvSpPr>
          <p:spPr bwMode="auto">
            <a:xfrm>
              <a:off x="96" y="3455"/>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3" name="Line 188">
              <a:extLst>
                <a:ext uri="{FF2B5EF4-FFF2-40B4-BE49-F238E27FC236}">
                  <a16:creationId xmlns:a16="http://schemas.microsoft.com/office/drawing/2014/main" id="{5BAB1FBB-BD6B-D34E-A239-98E8A7A9E186}"/>
                </a:ext>
              </a:extLst>
            </p:cNvPr>
            <p:cNvSpPr>
              <a:spLocks noChangeShapeType="1"/>
            </p:cNvSpPr>
            <p:nvPr/>
          </p:nvSpPr>
          <p:spPr bwMode="auto">
            <a:xfrm>
              <a:off x="96" y="3646"/>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4" name="Line 189">
              <a:extLst>
                <a:ext uri="{FF2B5EF4-FFF2-40B4-BE49-F238E27FC236}">
                  <a16:creationId xmlns:a16="http://schemas.microsoft.com/office/drawing/2014/main" id="{CD6EF208-75CD-2746-8DC7-F24E6A490B53}"/>
                </a:ext>
              </a:extLst>
            </p:cNvPr>
            <p:cNvSpPr>
              <a:spLocks noChangeShapeType="1"/>
            </p:cNvSpPr>
            <p:nvPr/>
          </p:nvSpPr>
          <p:spPr bwMode="auto">
            <a:xfrm>
              <a:off x="96" y="3823"/>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5" name="Line 190">
              <a:extLst>
                <a:ext uri="{FF2B5EF4-FFF2-40B4-BE49-F238E27FC236}">
                  <a16:creationId xmlns:a16="http://schemas.microsoft.com/office/drawing/2014/main" id="{16007C8D-E82E-5C4F-B9F3-0EBEB3B9076B}"/>
                </a:ext>
              </a:extLst>
            </p:cNvPr>
            <p:cNvSpPr>
              <a:spLocks noChangeShapeType="1"/>
            </p:cNvSpPr>
            <p:nvPr/>
          </p:nvSpPr>
          <p:spPr bwMode="auto">
            <a:xfrm>
              <a:off x="96" y="4000"/>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6" name="Line 191">
              <a:extLst>
                <a:ext uri="{FF2B5EF4-FFF2-40B4-BE49-F238E27FC236}">
                  <a16:creationId xmlns:a16="http://schemas.microsoft.com/office/drawing/2014/main" id="{72FF9D31-310D-3E47-A112-28A458870C9F}"/>
                </a:ext>
              </a:extLst>
            </p:cNvPr>
            <p:cNvSpPr>
              <a:spLocks noChangeShapeType="1"/>
            </p:cNvSpPr>
            <p:nvPr/>
          </p:nvSpPr>
          <p:spPr bwMode="auto">
            <a:xfrm>
              <a:off x="487"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7" name="Line 192">
              <a:extLst>
                <a:ext uri="{FF2B5EF4-FFF2-40B4-BE49-F238E27FC236}">
                  <a16:creationId xmlns:a16="http://schemas.microsoft.com/office/drawing/2014/main" id="{5C8942C2-EF21-F642-9790-7ED1D940F499}"/>
                </a:ext>
              </a:extLst>
            </p:cNvPr>
            <p:cNvSpPr>
              <a:spLocks noChangeShapeType="1"/>
            </p:cNvSpPr>
            <p:nvPr/>
          </p:nvSpPr>
          <p:spPr bwMode="auto">
            <a:xfrm>
              <a:off x="877"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8" name="Line 193">
              <a:extLst>
                <a:ext uri="{FF2B5EF4-FFF2-40B4-BE49-F238E27FC236}">
                  <a16:creationId xmlns:a16="http://schemas.microsoft.com/office/drawing/2014/main" id="{AD06AC48-437D-C646-B8BE-23B2B0935C17}"/>
                </a:ext>
              </a:extLst>
            </p:cNvPr>
            <p:cNvSpPr>
              <a:spLocks noChangeShapeType="1"/>
            </p:cNvSpPr>
            <p:nvPr/>
          </p:nvSpPr>
          <p:spPr bwMode="auto">
            <a:xfrm>
              <a:off x="1268"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09" name="Line 194">
              <a:extLst>
                <a:ext uri="{FF2B5EF4-FFF2-40B4-BE49-F238E27FC236}">
                  <a16:creationId xmlns:a16="http://schemas.microsoft.com/office/drawing/2014/main" id="{51FFA53B-EF3B-7B42-8A1B-5B76184D572C}"/>
                </a:ext>
              </a:extLst>
            </p:cNvPr>
            <p:cNvSpPr>
              <a:spLocks noChangeShapeType="1"/>
            </p:cNvSpPr>
            <p:nvPr/>
          </p:nvSpPr>
          <p:spPr bwMode="auto">
            <a:xfrm>
              <a:off x="1660"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10" name="Line 195">
              <a:extLst>
                <a:ext uri="{FF2B5EF4-FFF2-40B4-BE49-F238E27FC236}">
                  <a16:creationId xmlns:a16="http://schemas.microsoft.com/office/drawing/2014/main" id="{182F1F52-6227-3647-BE10-D5C64684966D}"/>
                </a:ext>
              </a:extLst>
            </p:cNvPr>
            <p:cNvSpPr>
              <a:spLocks noChangeShapeType="1"/>
            </p:cNvSpPr>
            <p:nvPr/>
          </p:nvSpPr>
          <p:spPr bwMode="auto">
            <a:xfrm>
              <a:off x="2051"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11" name="Line 196">
              <a:extLst>
                <a:ext uri="{FF2B5EF4-FFF2-40B4-BE49-F238E27FC236}">
                  <a16:creationId xmlns:a16="http://schemas.microsoft.com/office/drawing/2014/main" id="{DF8331C2-445A-1941-B5C9-F80C7AF06DD0}"/>
                </a:ext>
              </a:extLst>
            </p:cNvPr>
            <p:cNvSpPr>
              <a:spLocks noChangeShapeType="1"/>
            </p:cNvSpPr>
            <p:nvPr/>
          </p:nvSpPr>
          <p:spPr bwMode="auto">
            <a:xfrm>
              <a:off x="2441"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12" name="Line 203">
              <a:extLst>
                <a:ext uri="{FF2B5EF4-FFF2-40B4-BE49-F238E27FC236}">
                  <a16:creationId xmlns:a16="http://schemas.microsoft.com/office/drawing/2014/main" id="{6D72B117-D62B-C74C-9357-C38EAD719DEE}"/>
                </a:ext>
              </a:extLst>
            </p:cNvPr>
            <p:cNvSpPr>
              <a:spLocks noChangeShapeType="1"/>
            </p:cNvSpPr>
            <p:nvPr/>
          </p:nvSpPr>
          <p:spPr bwMode="auto">
            <a:xfrm>
              <a:off x="96" y="2568"/>
              <a:ext cx="1" cy="1609"/>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13" name="Line 205">
              <a:extLst>
                <a:ext uri="{FF2B5EF4-FFF2-40B4-BE49-F238E27FC236}">
                  <a16:creationId xmlns:a16="http://schemas.microsoft.com/office/drawing/2014/main" id="{47F2D84A-0666-F54B-BF49-39320D558DF6}"/>
                </a:ext>
              </a:extLst>
            </p:cNvPr>
            <p:cNvSpPr>
              <a:spLocks noChangeShapeType="1"/>
            </p:cNvSpPr>
            <p:nvPr/>
          </p:nvSpPr>
          <p:spPr bwMode="auto">
            <a:xfrm>
              <a:off x="96" y="2568"/>
              <a:ext cx="2724" cy="1"/>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14" name="Line 207">
              <a:extLst>
                <a:ext uri="{FF2B5EF4-FFF2-40B4-BE49-F238E27FC236}">
                  <a16:creationId xmlns:a16="http://schemas.microsoft.com/office/drawing/2014/main" id="{83A6AA01-F3A0-D741-ACAE-36BC37320DB8}"/>
                </a:ext>
              </a:extLst>
            </p:cNvPr>
            <p:cNvSpPr>
              <a:spLocks noChangeShapeType="1"/>
            </p:cNvSpPr>
            <p:nvPr/>
          </p:nvSpPr>
          <p:spPr bwMode="auto">
            <a:xfrm>
              <a:off x="96" y="4177"/>
              <a:ext cx="2724" cy="1"/>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8015" name="Line 203">
              <a:extLst>
                <a:ext uri="{FF2B5EF4-FFF2-40B4-BE49-F238E27FC236}">
                  <a16:creationId xmlns:a16="http://schemas.microsoft.com/office/drawing/2014/main" id="{1C9E4813-585A-024D-8627-914B0CCD3863}"/>
                </a:ext>
              </a:extLst>
            </p:cNvPr>
            <p:cNvSpPr>
              <a:spLocks noChangeShapeType="1"/>
            </p:cNvSpPr>
            <p:nvPr/>
          </p:nvSpPr>
          <p:spPr bwMode="auto">
            <a:xfrm>
              <a:off x="2827" y="2572"/>
              <a:ext cx="1" cy="1609"/>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7811" name="Group 208">
            <a:extLst>
              <a:ext uri="{FF2B5EF4-FFF2-40B4-BE49-F238E27FC236}">
                <a16:creationId xmlns:a16="http://schemas.microsoft.com/office/drawing/2014/main" id="{C3812986-53C7-AA4D-9F09-5F81333AEE55}"/>
              </a:ext>
            </a:extLst>
          </p:cNvPr>
          <p:cNvGrpSpPr>
            <a:grpSpLocks/>
          </p:cNvGrpSpPr>
          <p:nvPr/>
        </p:nvGrpSpPr>
        <p:grpSpPr bwMode="auto">
          <a:xfrm>
            <a:off x="376238" y="1697038"/>
            <a:ext cx="7985125" cy="1574800"/>
            <a:chOff x="90" y="1171"/>
            <a:chExt cx="4564" cy="1047"/>
          </a:xfrm>
        </p:grpSpPr>
        <p:sp>
          <p:nvSpPr>
            <p:cNvPr id="247896" name="Rectangle 6">
              <a:extLst>
                <a:ext uri="{FF2B5EF4-FFF2-40B4-BE49-F238E27FC236}">
                  <a16:creationId xmlns:a16="http://schemas.microsoft.com/office/drawing/2014/main" id="{5375A62F-6886-B04B-8945-2F69598147F1}"/>
                </a:ext>
              </a:extLst>
            </p:cNvPr>
            <p:cNvSpPr>
              <a:spLocks noChangeArrowheads="1"/>
            </p:cNvSpPr>
            <p:nvPr/>
          </p:nvSpPr>
          <p:spPr bwMode="auto">
            <a:xfrm>
              <a:off x="90" y="1663"/>
              <a:ext cx="379" cy="290"/>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7897" name="Rectangle 7">
              <a:extLst>
                <a:ext uri="{FF2B5EF4-FFF2-40B4-BE49-F238E27FC236}">
                  <a16:creationId xmlns:a16="http://schemas.microsoft.com/office/drawing/2014/main" id="{12E756B5-CA2C-074D-936F-9F2A1F54248F}"/>
                </a:ext>
              </a:extLst>
            </p:cNvPr>
            <p:cNvSpPr>
              <a:spLocks noChangeArrowheads="1"/>
            </p:cNvSpPr>
            <p:nvPr/>
          </p:nvSpPr>
          <p:spPr bwMode="auto">
            <a:xfrm>
              <a:off x="90"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11</a:t>
              </a:r>
            </a:p>
          </p:txBody>
        </p:sp>
        <p:sp>
          <p:nvSpPr>
            <p:cNvPr id="247898" name="Rectangle 9">
              <a:extLst>
                <a:ext uri="{FF2B5EF4-FFF2-40B4-BE49-F238E27FC236}">
                  <a16:creationId xmlns:a16="http://schemas.microsoft.com/office/drawing/2014/main" id="{A849A19E-C40E-A44A-87C6-315A9F32AEB1}"/>
                </a:ext>
              </a:extLst>
            </p:cNvPr>
            <p:cNvSpPr>
              <a:spLocks noChangeArrowheads="1"/>
            </p:cNvSpPr>
            <p:nvPr/>
          </p:nvSpPr>
          <p:spPr bwMode="auto">
            <a:xfrm>
              <a:off x="469" y="1663"/>
              <a:ext cx="379" cy="290"/>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7899" name="Rectangle 10">
              <a:extLst>
                <a:ext uri="{FF2B5EF4-FFF2-40B4-BE49-F238E27FC236}">
                  <a16:creationId xmlns:a16="http://schemas.microsoft.com/office/drawing/2014/main" id="{284EB3C4-1D10-5D44-A3E8-8C1697F1F5DE}"/>
                </a:ext>
              </a:extLst>
            </p:cNvPr>
            <p:cNvSpPr>
              <a:spLocks noChangeArrowheads="1"/>
            </p:cNvSpPr>
            <p:nvPr/>
          </p:nvSpPr>
          <p:spPr bwMode="auto">
            <a:xfrm>
              <a:off x="469"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10</a:t>
              </a:r>
            </a:p>
          </p:txBody>
        </p:sp>
        <p:sp>
          <p:nvSpPr>
            <p:cNvPr id="247900" name="Rectangle 12">
              <a:extLst>
                <a:ext uri="{FF2B5EF4-FFF2-40B4-BE49-F238E27FC236}">
                  <a16:creationId xmlns:a16="http://schemas.microsoft.com/office/drawing/2014/main" id="{4B321695-6FC7-5149-B560-8DEA428C2505}"/>
                </a:ext>
              </a:extLst>
            </p:cNvPr>
            <p:cNvSpPr>
              <a:spLocks noChangeArrowheads="1"/>
            </p:cNvSpPr>
            <p:nvPr/>
          </p:nvSpPr>
          <p:spPr bwMode="auto">
            <a:xfrm>
              <a:off x="848" y="1663"/>
              <a:ext cx="379" cy="290"/>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7901" name="Rectangle 13">
              <a:extLst>
                <a:ext uri="{FF2B5EF4-FFF2-40B4-BE49-F238E27FC236}">
                  <a16:creationId xmlns:a16="http://schemas.microsoft.com/office/drawing/2014/main" id="{56C69457-339F-074B-ACB5-CCA5A1D0FFE9}"/>
                </a:ext>
              </a:extLst>
            </p:cNvPr>
            <p:cNvSpPr>
              <a:spLocks noChangeArrowheads="1"/>
            </p:cNvSpPr>
            <p:nvPr/>
          </p:nvSpPr>
          <p:spPr bwMode="auto">
            <a:xfrm>
              <a:off x="848"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9</a:t>
              </a:r>
            </a:p>
          </p:txBody>
        </p:sp>
        <p:sp>
          <p:nvSpPr>
            <p:cNvPr id="247902" name="Rectangle 15">
              <a:extLst>
                <a:ext uri="{FF2B5EF4-FFF2-40B4-BE49-F238E27FC236}">
                  <a16:creationId xmlns:a16="http://schemas.microsoft.com/office/drawing/2014/main" id="{B39BD159-F238-3D41-BA46-6188749298C8}"/>
                </a:ext>
              </a:extLst>
            </p:cNvPr>
            <p:cNvSpPr>
              <a:spLocks noChangeArrowheads="1"/>
            </p:cNvSpPr>
            <p:nvPr/>
          </p:nvSpPr>
          <p:spPr bwMode="auto">
            <a:xfrm>
              <a:off x="1227" y="1663"/>
              <a:ext cx="380" cy="290"/>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7903" name="Rectangle 16">
              <a:extLst>
                <a:ext uri="{FF2B5EF4-FFF2-40B4-BE49-F238E27FC236}">
                  <a16:creationId xmlns:a16="http://schemas.microsoft.com/office/drawing/2014/main" id="{D5FE63B6-F6A1-F64D-98F4-AE2C7345AF3E}"/>
                </a:ext>
              </a:extLst>
            </p:cNvPr>
            <p:cNvSpPr>
              <a:spLocks noChangeArrowheads="1"/>
            </p:cNvSpPr>
            <p:nvPr/>
          </p:nvSpPr>
          <p:spPr bwMode="auto">
            <a:xfrm>
              <a:off x="1227" y="1373"/>
              <a:ext cx="38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8</a:t>
              </a:r>
            </a:p>
          </p:txBody>
        </p:sp>
        <p:sp>
          <p:nvSpPr>
            <p:cNvPr id="247904" name="Rectangle 18">
              <a:extLst>
                <a:ext uri="{FF2B5EF4-FFF2-40B4-BE49-F238E27FC236}">
                  <a16:creationId xmlns:a16="http://schemas.microsoft.com/office/drawing/2014/main" id="{9081A623-58D4-FF46-806A-1077A9574808}"/>
                </a:ext>
              </a:extLst>
            </p:cNvPr>
            <p:cNvSpPr>
              <a:spLocks noChangeArrowheads="1"/>
            </p:cNvSpPr>
            <p:nvPr/>
          </p:nvSpPr>
          <p:spPr bwMode="auto">
            <a:xfrm>
              <a:off x="1607" y="1663"/>
              <a:ext cx="379" cy="290"/>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7905" name="Rectangle 19">
              <a:extLst>
                <a:ext uri="{FF2B5EF4-FFF2-40B4-BE49-F238E27FC236}">
                  <a16:creationId xmlns:a16="http://schemas.microsoft.com/office/drawing/2014/main" id="{B3AA2D74-F5E7-974A-A9A7-C5CC1BC7318B}"/>
                </a:ext>
              </a:extLst>
            </p:cNvPr>
            <p:cNvSpPr>
              <a:spLocks noChangeArrowheads="1"/>
            </p:cNvSpPr>
            <p:nvPr/>
          </p:nvSpPr>
          <p:spPr bwMode="auto">
            <a:xfrm>
              <a:off x="1607"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7</a:t>
              </a:r>
            </a:p>
          </p:txBody>
        </p:sp>
        <p:sp>
          <p:nvSpPr>
            <p:cNvPr id="247906" name="Rectangle 21">
              <a:extLst>
                <a:ext uri="{FF2B5EF4-FFF2-40B4-BE49-F238E27FC236}">
                  <a16:creationId xmlns:a16="http://schemas.microsoft.com/office/drawing/2014/main" id="{6E900084-B64B-894C-AD97-B3FA5874DC18}"/>
                </a:ext>
              </a:extLst>
            </p:cNvPr>
            <p:cNvSpPr>
              <a:spLocks noChangeArrowheads="1"/>
            </p:cNvSpPr>
            <p:nvPr/>
          </p:nvSpPr>
          <p:spPr bwMode="auto">
            <a:xfrm>
              <a:off x="1986" y="1663"/>
              <a:ext cx="379" cy="290"/>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7907" name="Rectangle 22">
              <a:extLst>
                <a:ext uri="{FF2B5EF4-FFF2-40B4-BE49-F238E27FC236}">
                  <a16:creationId xmlns:a16="http://schemas.microsoft.com/office/drawing/2014/main" id="{4DFC111B-38FC-804B-BEB5-C8C637B9F154}"/>
                </a:ext>
              </a:extLst>
            </p:cNvPr>
            <p:cNvSpPr>
              <a:spLocks noChangeArrowheads="1"/>
            </p:cNvSpPr>
            <p:nvPr/>
          </p:nvSpPr>
          <p:spPr bwMode="auto">
            <a:xfrm>
              <a:off x="1986"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6</a:t>
              </a:r>
            </a:p>
          </p:txBody>
        </p:sp>
        <p:sp>
          <p:nvSpPr>
            <p:cNvPr id="36888" name="Rectangle 24">
              <a:extLst>
                <a:ext uri="{FF2B5EF4-FFF2-40B4-BE49-F238E27FC236}">
                  <a16:creationId xmlns:a16="http://schemas.microsoft.com/office/drawing/2014/main" id="{65C7EBC5-4B87-944B-B569-14EE22B0141B}"/>
                </a:ext>
              </a:extLst>
            </p:cNvPr>
            <p:cNvSpPr>
              <a:spLocks noChangeArrowheads="1"/>
            </p:cNvSpPr>
            <p:nvPr/>
          </p:nvSpPr>
          <p:spPr bwMode="auto">
            <a:xfrm>
              <a:off x="2365" y="1663"/>
              <a:ext cx="379" cy="290"/>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7909" name="Rectangle 25">
              <a:extLst>
                <a:ext uri="{FF2B5EF4-FFF2-40B4-BE49-F238E27FC236}">
                  <a16:creationId xmlns:a16="http://schemas.microsoft.com/office/drawing/2014/main" id="{2929BAF5-FFF7-0F41-B856-299FA1A9007B}"/>
                </a:ext>
              </a:extLst>
            </p:cNvPr>
            <p:cNvSpPr>
              <a:spLocks noChangeArrowheads="1"/>
            </p:cNvSpPr>
            <p:nvPr/>
          </p:nvSpPr>
          <p:spPr bwMode="auto">
            <a:xfrm>
              <a:off x="2365"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5</a:t>
              </a:r>
            </a:p>
          </p:txBody>
        </p:sp>
        <p:sp>
          <p:nvSpPr>
            <p:cNvPr id="36891" name="Rectangle 27">
              <a:extLst>
                <a:ext uri="{FF2B5EF4-FFF2-40B4-BE49-F238E27FC236}">
                  <a16:creationId xmlns:a16="http://schemas.microsoft.com/office/drawing/2014/main" id="{B6FD0343-5773-B245-9F72-19D7D213D252}"/>
                </a:ext>
              </a:extLst>
            </p:cNvPr>
            <p:cNvSpPr>
              <a:spLocks noChangeArrowheads="1"/>
            </p:cNvSpPr>
            <p:nvPr/>
          </p:nvSpPr>
          <p:spPr bwMode="auto">
            <a:xfrm>
              <a:off x="2744" y="1663"/>
              <a:ext cx="379" cy="290"/>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7911" name="Rectangle 28">
              <a:extLst>
                <a:ext uri="{FF2B5EF4-FFF2-40B4-BE49-F238E27FC236}">
                  <a16:creationId xmlns:a16="http://schemas.microsoft.com/office/drawing/2014/main" id="{DEA50C16-61BE-6B4C-99B4-17B404ACB03F}"/>
                </a:ext>
              </a:extLst>
            </p:cNvPr>
            <p:cNvSpPr>
              <a:spLocks noChangeArrowheads="1"/>
            </p:cNvSpPr>
            <p:nvPr/>
          </p:nvSpPr>
          <p:spPr bwMode="auto">
            <a:xfrm>
              <a:off x="2744"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4</a:t>
              </a:r>
            </a:p>
          </p:txBody>
        </p:sp>
        <p:sp>
          <p:nvSpPr>
            <p:cNvPr id="36894" name="Rectangle 30">
              <a:extLst>
                <a:ext uri="{FF2B5EF4-FFF2-40B4-BE49-F238E27FC236}">
                  <a16:creationId xmlns:a16="http://schemas.microsoft.com/office/drawing/2014/main" id="{2631345D-BBA3-D44E-A3D9-1446CC8FB70F}"/>
                </a:ext>
              </a:extLst>
            </p:cNvPr>
            <p:cNvSpPr>
              <a:spLocks noChangeArrowheads="1"/>
            </p:cNvSpPr>
            <p:nvPr/>
          </p:nvSpPr>
          <p:spPr bwMode="auto">
            <a:xfrm>
              <a:off x="3123" y="1663"/>
              <a:ext cx="377" cy="290"/>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7913" name="Rectangle 31">
              <a:extLst>
                <a:ext uri="{FF2B5EF4-FFF2-40B4-BE49-F238E27FC236}">
                  <a16:creationId xmlns:a16="http://schemas.microsoft.com/office/drawing/2014/main" id="{6F20B3D1-EB4A-5C41-B672-17013D598358}"/>
                </a:ext>
              </a:extLst>
            </p:cNvPr>
            <p:cNvSpPr>
              <a:spLocks noChangeArrowheads="1"/>
            </p:cNvSpPr>
            <p:nvPr/>
          </p:nvSpPr>
          <p:spPr bwMode="auto">
            <a:xfrm>
              <a:off x="3123"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3</a:t>
              </a:r>
            </a:p>
          </p:txBody>
        </p:sp>
        <p:sp>
          <p:nvSpPr>
            <p:cNvPr id="36897" name="Rectangle 33">
              <a:extLst>
                <a:ext uri="{FF2B5EF4-FFF2-40B4-BE49-F238E27FC236}">
                  <a16:creationId xmlns:a16="http://schemas.microsoft.com/office/drawing/2014/main" id="{A9C3A63E-E3E0-E444-AB3C-AEB03FD34962}"/>
                </a:ext>
              </a:extLst>
            </p:cNvPr>
            <p:cNvSpPr>
              <a:spLocks noChangeArrowheads="1"/>
            </p:cNvSpPr>
            <p:nvPr/>
          </p:nvSpPr>
          <p:spPr bwMode="auto">
            <a:xfrm>
              <a:off x="3502" y="1663"/>
              <a:ext cx="380" cy="290"/>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7915" name="Rectangle 34">
              <a:extLst>
                <a:ext uri="{FF2B5EF4-FFF2-40B4-BE49-F238E27FC236}">
                  <a16:creationId xmlns:a16="http://schemas.microsoft.com/office/drawing/2014/main" id="{52E957B4-6D40-D343-AA10-BAE68093A03B}"/>
                </a:ext>
              </a:extLst>
            </p:cNvPr>
            <p:cNvSpPr>
              <a:spLocks noChangeArrowheads="1"/>
            </p:cNvSpPr>
            <p:nvPr/>
          </p:nvSpPr>
          <p:spPr bwMode="auto">
            <a:xfrm>
              <a:off x="3502" y="1373"/>
              <a:ext cx="38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2</a:t>
              </a:r>
            </a:p>
          </p:txBody>
        </p:sp>
        <p:sp>
          <p:nvSpPr>
            <p:cNvPr id="36900" name="Rectangle 36">
              <a:extLst>
                <a:ext uri="{FF2B5EF4-FFF2-40B4-BE49-F238E27FC236}">
                  <a16:creationId xmlns:a16="http://schemas.microsoft.com/office/drawing/2014/main" id="{96B02352-AC94-E14B-8F8E-ABB5932275C5}"/>
                </a:ext>
              </a:extLst>
            </p:cNvPr>
            <p:cNvSpPr>
              <a:spLocks noChangeArrowheads="1"/>
            </p:cNvSpPr>
            <p:nvPr/>
          </p:nvSpPr>
          <p:spPr bwMode="auto">
            <a:xfrm>
              <a:off x="3882" y="1663"/>
              <a:ext cx="379" cy="290"/>
            </a:xfrm>
            <a:prstGeom prst="rect">
              <a:avLst/>
            </a:prstGeom>
            <a:solidFill>
              <a:schemeClr val="accent2">
                <a:lumMod val="40000"/>
                <a:lumOff val="6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7917" name="Rectangle 37">
              <a:extLst>
                <a:ext uri="{FF2B5EF4-FFF2-40B4-BE49-F238E27FC236}">
                  <a16:creationId xmlns:a16="http://schemas.microsoft.com/office/drawing/2014/main" id="{B3389B13-6592-9D4E-9AF3-83D4CE1DAA07}"/>
                </a:ext>
              </a:extLst>
            </p:cNvPr>
            <p:cNvSpPr>
              <a:spLocks noChangeArrowheads="1"/>
            </p:cNvSpPr>
            <p:nvPr/>
          </p:nvSpPr>
          <p:spPr bwMode="auto">
            <a:xfrm>
              <a:off x="3882"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1</a:t>
              </a:r>
            </a:p>
          </p:txBody>
        </p:sp>
        <p:sp>
          <p:nvSpPr>
            <p:cNvPr id="36903" name="Rectangle 39">
              <a:extLst>
                <a:ext uri="{FF2B5EF4-FFF2-40B4-BE49-F238E27FC236}">
                  <a16:creationId xmlns:a16="http://schemas.microsoft.com/office/drawing/2014/main" id="{A8FB0DE2-1DE0-934E-A3EC-D692CBC2F876}"/>
                </a:ext>
              </a:extLst>
            </p:cNvPr>
            <p:cNvSpPr>
              <a:spLocks noChangeArrowheads="1"/>
            </p:cNvSpPr>
            <p:nvPr/>
          </p:nvSpPr>
          <p:spPr bwMode="auto">
            <a:xfrm>
              <a:off x="4261" y="1663"/>
              <a:ext cx="379" cy="290"/>
            </a:xfrm>
            <a:prstGeom prst="rect">
              <a:avLst/>
            </a:prstGeom>
            <a:solidFill>
              <a:schemeClr val="accent2">
                <a:lumMod val="40000"/>
                <a:lumOff val="6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7919" name="Rectangle 40">
              <a:extLst>
                <a:ext uri="{FF2B5EF4-FFF2-40B4-BE49-F238E27FC236}">
                  <a16:creationId xmlns:a16="http://schemas.microsoft.com/office/drawing/2014/main" id="{20B92FAB-3D22-0E4F-A281-1523126C13AF}"/>
                </a:ext>
              </a:extLst>
            </p:cNvPr>
            <p:cNvSpPr>
              <a:spLocks noChangeArrowheads="1"/>
            </p:cNvSpPr>
            <p:nvPr/>
          </p:nvSpPr>
          <p:spPr bwMode="auto">
            <a:xfrm>
              <a:off x="4261" y="1373"/>
              <a:ext cx="37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800" b="1">
                  <a:latin typeface="微软雅黑" panose="020B0503020204020204" pitchFamily="34" charset="-122"/>
                  <a:ea typeface="微软雅黑" panose="020B0503020204020204" pitchFamily="34" charset="-122"/>
                </a:rPr>
                <a:t>0</a:t>
              </a:r>
            </a:p>
          </p:txBody>
        </p:sp>
        <p:grpSp>
          <p:nvGrpSpPr>
            <p:cNvPr id="247920" name="Group 41">
              <a:extLst>
                <a:ext uri="{FF2B5EF4-FFF2-40B4-BE49-F238E27FC236}">
                  <a16:creationId xmlns:a16="http://schemas.microsoft.com/office/drawing/2014/main" id="{ADAEB6F5-D5CE-044F-AE1C-79E9B5A97FB1}"/>
                </a:ext>
              </a:extLst>
            </p:cNvPr>
            <p:cNvGrpSpPr>
              <a:grpSpLocks/>
            </p:cNvGrpSpPr>
            <p:nvPr/>
          </p:nvGrpSpPr>
          <p:grpSpPr bwMode="auto">
            <a:xfrm>
              <a:off x="2379" y="1998"/>
              <a:ext cx="2275" cy="220"/>
              <a:chOff x="2931" y="2156"/>
              <a:chExt cx="1842" cy="146"/>
            </a:xfrm>
          </p:grpSpPr>
          <p:sp>
            <p:nvSpPr>
              <p:cNvPr id="247933" name="Line 42">
                <a:extLst>
                  <a:ext uri="{FF2B5EF4-FFF2-40B4-BE49-F238E27FC236}">
                    <a16:creationId xmlns:a16="http://schemas.microsoft.com/office/drawing/2014/main" id="{6F3D08C4-CF0C-5E41-A923-BC864356FFC3}"/>
                  </a:ext>
                </a:extLst>
              </p:cNvPr>
              <p:cNvSpPr>
                <a:spLocks noChangeShapeType="1"/>
              </p:cNvSpPr>
              <p:nvPr/>
            </p:nvSpPr>
            <p:spPr bwMode="auto">
              <a:xfrm>
                <a:off x="2931" y="2247"/>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7934" name="Text Box 43">
                <a:extLst>
                  <a:ext uri="{FF2B5EF4-FFF2-40B4-BE49-F238E27FC236}">
                    <a16:creationId xmlns:a16="http://schemas.microsoft.com/office/drawing/2014/main" id="{B7C559C3-03A5-9542-AFFC-1DE45B73FAD5}"/>
                  </a:ext>
                </a:extLst>
              </p:cNvPr>
              <p:cNvSpPr txBox="1">
                <a:spLocks noChangeArrowheads="1"/>
              </p:cNvSpPr>
              <p:nvPr/>
            </p:nvSpPr>
            <p:spPr bwMode="auto">
              <a:xfrm>
                <a:off x="3638" y="2156"/>
                <a:ext cx="310" cy="14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latin typeface="微软雅黑" panose="020B0503020204020204" pitchFamily="34" charset="-122"/>
                    <a:ea typeface="微软雅黑" panose="020B0503020204020204" pitchFamily="34" charset="-122"/>
                  </a:rPr>
                  <a:t>PPO</a:t>
                </a:r>
              </a:p>
            </p:txBody>
          </p:sp>
        </p:grpSp>
        <p:grpSp>
          <p:nvGrpSpPr>
            <p:cNvPr id="247921" name="Group 44">
              <a:extLst>
                <a:ext uri="{FF2B5EF4-FFF2-40B4-BE49-F238E27FC236}">
                  <a16:creationId xmlns:a16="http://schemas.microsoft.com/office/drawing/2014/main" id="{4C8C1800-95F7-4E46-941D-83BACDE399B4}"/>
                </a:ext>
              </a:extLst>
            </p:cNvPr>
            <p:cNvGrpSpPr>
              <a:grpSpLocks/>
            </p:cNvGrpSpPr>
            <p:nvPr/>
          </p:nvGrpSpPr>
          <p:grpSpPr bwMode="auto">
            <a:xfrm>
              <a:off x="126" y="1998"/>
              <a:ext cx="2275" cy="220"/>
              <a:chOff x="1107" y="2156"/>
              <a:chExt cx="1842" cy="146"/>
            </a:xfrm>
          </p:grpSpPr>
          <p:sp>
            <p:nvSpPr>
              <p:cNvPr id="247931" name="Line 45">
                <a:extLst>
                  <a:ext uri="{FF2B5EF4-FFF2-40B4-BE49-F238E27FC236}">
                    <a16:creationId xmlns:a16="http://schemas.microsoft.com/office/drawing/2014/main" id="{7241AAB7-152A-0144-A738-734990746447}"/>
                  </a:ext>
                </a:extLst>
              </p:cNvPr>
              <p:cNvSpPr>
                <a:spLocks noChangeShapeType="1"/>
              </p:cNvSpPr>
              <p:nvPr/>
            </p:nvSpPr>
            <p:spPr bwMode="auto">
              <a:xfrm>
                <a:off x="1107" y="2247"/>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7932" name="Text Box 46">
                <a:extLst>
                  <a:ext uri="{FF2B5EF4-FFF2-40B4-BE49-F238E27FC236}">
                    <a16:creationId xmlns:a16="http://schemas.microsoft.com/office/drawing/2014/main" id="{2F46330E-E547-C649-8972-11C1780BE14D}"/>
                  </a:ext>
                </a:extLst>
              </p:cNvPr>
              <p:cNvSpPr txBox="1">
                <a:spLocks noChangeArrowheads="1"/>
              </p:cNvSpPr>
              <p:nvPr/>
            </p:nvSpPr>
            <p:spPr bwMode="auto">
              <a:xfrm>
                <a:off x="1814" y="2156"/>
                <a:ext cx="313" cy="14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latin typeface="微软雅黑" panose="020B0503020204020204" pitchFamily="34" charset="-122"/>
                    <a:ea typeface="微软雅黑" panose="020B0503020204020204" pitchFamily="34" charset="-122"/>
                  </a:rPr>
                  <a:t>PPN</a:t>
                </a:r>
              </a:p>
            </p:txBody>
          </p:sp>
        </p:grpSp>
        <p:grpSp>
          <p:nvGrpSpPr>
            <p:cNvPr id="247922" name="Group 47">
              <a:extLst>
                <a:ext uri="{FF2B5EF4-FFF2-40B4-BE49-F238E27FC236}">
                  <a16:creationId xmlns:a16="http://schemas.microsoft.com/office/drawing/2014/main" id="{5F6A41A6-B345-D145-96A4-D33B89BFA254}"/>
                </a:ext>
              </a:extLst>
            </p:cNvPr>
            <p:cNvGrpSpPr>
              <a:grpSpLocks/>
            </p:cNvGrpSpPr>
            <p:nvPr/>
          </p:nvGrpSpPr>
          <p:grpSpPr bwMode="auto">
            <a:xfrm>
              <a:off x="3859" y="1179"/>
              <a:ext cx="772" cy="220"/>
              <a:chOff x="4130" y="1501"/>
              <a:chExt cx="625" cy="146"/>
            </a:xfrm>
          </p:grpSpPr>
          <p:sp>
            <p:nvSpPr>
              <p:cNvPr id="247929" name="Line 48">
                <a:extLst>
                  <a:ext uri="{FF2B5EF4-FFF2-40B4-BE49-F238E27FC236}">
                    <a16:creationId xmlns:a16="http://schemas.microsoft.com/office/drawing/2014/main" id="{00B511E2-F02D-FB44-AB6B-FB1295A01154}"/>
                  </a:ext>
                </a:extLst>
              </p:cNvPr>
              <p:cNvSpPr>
                <a:spLocks noChangeShapeType="1"/>
              </p:cNvSpPr>
              <p:nvPr/>
            </p:nvSpPr>
            <p:spPr bwMode="auto">
              <a:xfrm>
                <a:off x="4130" y="1579"/>
                <a:ext cx="625"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7930" name="Text Box 49">
                <a:extLst>
                  <a:ext uri="{FF2B5EF4-FFF2-40B4-BE49-F238E27FC236}">
                    <a16:creationId xmlns:a16="http://schemas.microsoft.com/office/drawing/2014/main" id="{BB2879EC-5FA8-F744-8B73-BFD824F38899}"/>
                  </a:ext>
                </a:extLst>
              </p:cNvPr>
              <p:cNvSpPr txBox="1">
                <a:spLocks noChangeArrowheads="1"/>
              </p:cNvSpPr>
              <p:nvPr/>
            </p:nvSpPr>
            <p:spPr bwMode="auto">
              <a:xfrm>
                <a:off x="4330" y="1501"/>
                <a:ext cx="242" cy="14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sz="1800" b="1">
                    <a:latin typeface="微软雅黑" panose="020B0503020204020204" pitchFamily="34" charset="-122"/>
                    <a:ea typeface="微软雅黑" panose="020B0503020204020204" pitchFamily="34" charset="-122"/>
                  </a:rPr>
                  <a:t>CO</a:t>
                </a:r>
              </a:p>
            </p:txBody>
          </p:sp>
        </p:grpSp>
        <p:grpSp>
          <p:nvGrpSpPr>
            <p:cNvPr id="247923" name="Group 50">
              <a:extLst>
                <a:ext uri="{FF2B5EF4-FFF2-40B4-BE49-F238E27FC236}">
                  <a16:creationId xmlns:a16="http://schemas.microsoft.com/office/drawing/2014/main" id="{49CA129D-2BB6-A34B-A3A1-9EE0DF91832F}"/>
                </a:ext>
              </a:extLst>
            </p:cNvPr>
            <p:cNvGrpSpPr>
              <a:grpSpLocks/>
            </p:cNvGrpSpPr>
            <p:nvPr/>
          </p:nvGrpSpPr>
          <p:grpSpPr bwMode="auto">
            <a:xfrm>
              <a:off x="2359" y="1176"/>
              <a:ext cx="1499" cy="220"/>
              <a:chOff x="2920" y="1488"/>
              <a:chExt cx="1214" cy="146"/>
            </a:xfrm>
          </p:grpSpPr>
          <p:sp>
            <p:nvSpPr>
              <p:cNvPr id="247927" name="Line 51">
                <a:extLst>
                  <a:ext uri="{FF2B5EF4-FFF2-40B4-BE49-F238E27FC236}">
                    <a16:creationId xmlns:a16="http://schemas.microsoft.com/office/drawing/2014/main" id="{EA7E8C31-CBFB-854B-B16D-B4292AA344C0}"/>
                  </a:ext>
                </a:extLst>
              </p:cNvPr>
              <p:cNvSpPr>
                <a:spLocks noChangeShapeType="1"/>
              </p:cNvSpPr>
              <p:nvPr/>
            </p:nvSpPr>
            <p:spPr bwMode="auto">
              <a:xfrm>
                <a:off x="2920" y="1566"/>
                <a:ext cx="1214"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7928" name="Text Box 52">
                <a:extLst>
                  <a:ext uri="{FF2B5EF4-FFF2-40B4-BE49-F238E27FC236}">
                    <a16:creationId xmlns:a16="http://schemas.microsoft.com/office/drawing/2014/main" id="{45426539-5F01-0F4B-A4D5-D3BC78BF8F25}"/>
                  </a:ext>
                </a:extLst>
              </p:cNvPr>
              <p:cNvSpPr txBox="1">
                <a:spLocks noChangeArrowheads="1"/>
              </p:cNvSpPr>
              <p:nvPr/>
            </p:nvSpPr>
            <p:spPr bwMode="auto">
              <a:xfrm>
                <a:off x="3473" y="1488"/>
                <a:ext cx="191" cy="14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sz="1800" b="1">
                    <a:latin typeface="微软雅黑" panose="020B0503020204020204" pitchFamily="34" charset="-122"/>
                    <a:ea typeface="微软雅黑" panose="020B0503020204020204" pitchFamily="34" charset="-122"/>
                  </a:rPr>
                  <a:t>CI</a:t>
                </a:r>
              </a:p>
            </p:txBody>
          </p:sp>
        </p:grpSp>
        <p:grpSp>
          <p:nvGrpSpPr>
            <p:cNvPr id="247924" name="Group 53">
              <a:extLst>
                <a:ext uri="{FF2B5EF4-FFF2-40B4-BE49-F238E27FC236}">
                  <a16:creationId xmlns:a16="http://schemas.microsoft.com/office/drawing/2014/main" id="{0D249CA7-75D4-4F4E-A6E0-FE397708DB7A}"/>
                </a:ext>
              </a:extLst>
            </p:cNvPr>
            <p:cNvGrpSpPr>
              <a:grpSpLocks/>
            </p:cNvGrpSpPr>
            <p:nvPr/>
          </p:nvGrpSpPr>
          <p:grpSpPr bwMode="auto">
            <a:xfrm>
              <a:off x="90" y="1171"/>
              <a:ext cx="2252" cy="220"/>
              <a:chOff x="1078" y="1501"/>
              <a:chExt cx="1823" cy="145"/>
            </a:xfrm>
          </p:grpSpPr>
          <p:sp>
            <p:nvSpPr>
              <p:cNvPr id="247925" name="Line 54">
                <a:extLst>
                  <a:ext uri="{FF2B5EF4-FFF2-40B4-BE49-F238E27FC236}">
                    <a16:creationId xmlns:a16="http://schemas.microsoft.com/office/drawing/2014/main" id="{70A42373-32B8-8349-ADAD-B9B2E495A05E}"/>
                  </a:ext>
                </a:extLst>
              </p:cNvPr>
              <p:cNvSpPr>
                <a:spLocks noChangeShapeType="1"/>
              </p:cNvSpPr>
              <p:nvPr/>
            </p:nvSpPr>
            <p:spPr bwMode="auto">
              <a:xfrm>
                <a:off x="1078" y="1579"/>
                <a:ext cx="1823"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7926" name="Text Box 55">
                <a:extLst>
                  <a:ext uri="{FF2B5EF4-FFF2-40B4-BE49-F238E27FC236}">
                    <a16:creationId xmlns:a16="http://schemas.microsoft.com/office/drawing/2014/main" id="{9263127B-4AB0-D647-82F2-866F523165B9}"/>
                  </a:ext>
                </a:extLst>
              </p:cNvPr>
              <p:cNvSpPr txBox="1">
                <a:spLocks noChangeArrowheads="1"/>
              </p:cNvSpPr>
              <p:nvPr/>
            </p:nvSpPr>
            <p:spPr bwMode="auto">
              <a:xfrm>
                <a:off x="1942" y="1501"/>
                <a:ext cx="222" cy="145"/>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sz="1800" b="1">
                    <a:latin typeface="微软雅黑" panose="020B0503020204020204" pitchFamily="34" charset="-122"/>
                    <a:ea typeface="微软雅黑" panose="020B0503020204020204" pitchFamily="34" charset="-122"/>
                  </a:rPr>
                  <a:t>CT</a:t>
                </a:r>
              </a:p>
            </p:txBody>
          </p:sp>
        </p:grpSp>
      </p:grpSp>
      <p:sp>
        <p:nvSpPr>
          <p:cNvPr id="247812" name="Rectangle 1">
            <a:extLst>
              <a:ext uri="{FF2B5EF4-FFF2-40B4-BE49-F238E27FC236}">
                <a16:creationId xmlns:a16="http://schemas.microsoft.com/office/drawing/2014/main" id="{948950C0-76BE-0F41-B83C-159780577121}"/>
              </a:ext>
            </a:extLst>
          </p:cNvPr>
          <p:cNvSpPr>
            <a:spLocks noChangeArrowheads="1"/>
          </p:cNvSpPr>
          <p:nvPr/>
        </p:nvSpPr>
        <p:spPr bwMode="auto">
          <a:xfrm>
            <a:off x="431800" y="119063"/>
            <a:ext cx="8110538"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576263" indent="-1190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1033463" indent="-1190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1490663" indent="-1190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1947863" indent="-1190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7000"/>
              </a:lnSpc>
            </a:pPr>
            <a:r>
              <a:rPr lang="zh-CN" altLang="en-GB" sz="3600" b="1">
                <a:solidFill>
                  <a:srgbClr val="CC3300"/>
                </a:solidFill>
                <a:ea typeface="黑体" panose="02010609060101010101" pitchFamily="49" charset="-122"/>
              </a:rPr>
              <a:t>一个简化的存储系统举例（续）</a:t>
            </a:r>
            <a:endParaRPr lang="en-GB" altLang="zh-CN" sz="3600" b="1">
              <a:solidFill>
                <a:srgbClr val="CC3300"/>
              </a:solidFill>
              <a:ea typeface="黑体" panose="02010609060101010101" pitchFamily="49" charset="-122"/>
            </a:endParaRPr>
          </a:p>
        </p:txBody>
      </p:sp>
      <p:sp>
        <p:nvSpPr>
          <p:cNvPr id="247813" name="Rectangle 206">
            <a:extLst>
              <a:ext uri="{FF2B5EF4-FFF2-40B4-BE49-F238E27FC236}">
                <a16:creationId xmlns:a16="http://schemas.microsoft.com/office/drawing/2014/main" id="{9FD4C582-0374-1D44-A817-040E5803DC1F}"/>
              </a:ext>
            </a:extLst>
          </p:cNvPr>
          <p:cNvSpPr>
            <a:spLocks noChangeArrowheads="1"/>
          </p:cNvSpPr>
          <p:nvPr/>
        </p:nvSpPr>
        <p:spPr bwMode="auto">
          <a:xfrm>
            <a:off x="301625" y="830263"/>
            <a:ext cx="85201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35000"/>
              </a:spcBef>
              <a:buSzPct val="100000"/>
            </a:pPr>
            <a:r>
              <a:rPr lang="zh-CN" altLang="en-GB" sz="2000" b="1">
                <a:latin typeface="微软雅黑" panose="020B0503020204020204" pitchFamily="34" charset="-122"/>
                <a:ea typeface="微软雅黑" panose="020B0503020204020204" pitchFamily="34" charset="-122"/>
              </a:rPr>
              <a:t>假定</a:t>
            </a:r>
            <a:r>
              <a:rPr lang="en-GB" altLang="zh-CN" sz="2000" b="1">
                <a:latin typeface="微软雅黑" panose="020B0503020204020204" pitchFamily="34" charset="-122"/>
                <a:ea typeface="微软雅黑" panose="020B0503020204020204" pitchFamily="34" charset="-122"/>
              </a:rPr>
              <a:t>Cache</a:t>
            </a:r>
            <a:r>
              <a:rPr lang="zh-CN" altLang="en-GB" sz="2000" b="1">
                <a:latin typeface="微软雅黑" panose="020B0503020204020204" pitchFamily="34" charset="-122"/>
                <a:ea typeface="微软雅黑" panose="020B0503020204020204" pitchFamily="34" charset="-122"/>
              </a:rPr>
              <a:t>的参数和内容（十六进制）如下：</a:t>
            </a:r>
            <a:r>
              <a:rPr lang="en-GB" altLang="zh-CN" sz="2000" b="1">
                <a:solidFill>
                  <a:schemeClr val="accent2"/>
                </a:solidFill>
                <a:latin typeface="微软雅黑" panose="020B0503020204020204" pitchFamily="34" charset="-122"/>
                <a:ea typeface="微软雅黑" panose="020B0503020204020204" pitchFamily="34" charset="-122"/>
              </a:rPr>
              <a:t>16 </a:t>
            </a:r>
            <a:r>
              <a:rPr lang="zh-CN" altLang="en-GB" sz="2000" b="1">
                <a:solidFill>
                  <a:schemeClr val="accent2"/>
                </a:solidFill>
                <a:latin typeface="微软雅黑" panose="020B0503020204020204" pitchFamily="34" charset="-122"/>
                <a:ea typeface="微软雅黑" panose="020B0503020204020204" pitchFamily="34" charset="-122"/>
              </a:rPr>
              <a:t>行，主存块大小为</a:t>
            </a:r>
            <a:r>
              <a:rPr lang="en-GB" altLang="zh-CN" sz="2000" b="1">
                <a:solidFill>
                  <a:schemeClr val="accent2"/>
                </a:solidFill>
                <a:latin typeface="微软雅黑" panose="020B0503020204020204" pitchFamily="34" charset="-122"/>
                <a:ea typeface="微软雅黑" panose="020B0503020204020204" pitchFamily="34" charset="-122"/>
              </a:rPr>
              <a:t>4B</a:t>
            </a:r>
            <a:r>
              <a:rPr lang="zh-CN" altLang="en-GB" sz="2000" b="1">
                <a:solidFill>
                  <a:schemeClr val="accent2"/>
                </a:solidFill>
                <a:latin typeface="微软雅黑" panose="020B0503020204020204" pitchFamily="34" charset="-122"/>
                <a:ea typeface="微软雅黑" panose="020B0503020204020204" pitchFamily="34" charset="-122"/>
              </a:rPr>
              <a:t>，</a:t>
            </a:r>
            <a:r>
              <a:rPr lang="zh-CN" altLang="en-GB" sz="2000" b="1">
                <a:solidFill>
                  <a:schemeClr val="accent1"/>
                </a:solidFill>
                <a:latin typeface="微软雅黑" panose="020B0503020204020204" pitchFamily="34" charset="-122"/>
                <a:ea typeface="微软雅黑" panose="020B0503020204020204" pitchFamily="34" charset="-122"/>
              </a:rPr>
              <a:t>直接映射</a:t>
            </a:r>
            <a:r>
              <a:rPr lang="zh-CN" altLang="en-GB" sz="2000" b="1">
                <a:solidFill>
                  <a:schemeClr val="accent2"/>
                </a:solidFill>
                <a:latin typeface="微软雅黑" panose="020B0503020204020204" pitchFamily="34" charset="-122"/>
                <a:ea typeface="微软雅黑" panose="020B0503020204020204" pitchFamily="34" charset="-122"/>
              </a:rPr>
              <a:t>，则主存地址如何划分？</a:t>
            </a:r>
            <a:endParaRPr lang="zh-CN" altLang="en-GB" sz="2000" b="1">
              <a:solidFill>
                <a:srgbClr val="D10F0F"/>
              </a:solidFill>
              <a:latin typeface="微软雅黑" panose="020B0503020204020204" pitchFamily="34" charset="-122"/>
              <a:ea typeface="微软雅黑" panose="020B0503020204020204" pitchFamily="34" charset="-122"/>
            </a:endParaRPr>
          </a:p>
        </p:txBody>
      </p:sp>
      <p:grpSp>
        <p:nvGrpSpPr>
          <p:cNvPr id="247814" name="Group 211">
            <a:extLst>
              <a:ext uri="{FF2B5EF4-FFF2-40B4-BE49-F238E27FC236}">
                <a16:creationId xmlns:a16="http://schemas.microsoft.com/office/drawing/2014/main" id="{FCA54150-8A1A-0741-A2A6-C718B1C468E2}"/>
              </a:ext>
            </a:extLst>
          </p:cNvPr>
          <p:cNvGrpSpPr>
            <a:grpSpLocks/>
          </p:cNvGrpSpPr>
          <p:nvPr/>
        </p:nvGrpSpPr>
        <p:grpSpPr bwMode="auto">
          <a:xfrm>
            <a:off x="4583113" y="3538538"/>
            <a:ext cx="4460875" cy="3111500"/>
            <a:chOff x="2928" y="2568"/>
            <a:chExt cx="2737" cy="1613"/>
          </a:xfrm>
        </p:grpSpPr>
        <p:sp>
          <p:nvSpPr>
            <p:cNvPr id="247815" name="Rectangle 57">
              <a:extLst>
                <a:ext uri="{FF2B5EF4-FFF2-40B4-BE49-F238E27FC236}">
                  <a16:creationId xmlns:a16="http://schemas.microsoft.com/office/drawing/2014/main" id="{5D19B496-4F80-8844-97A7-41719CE6EF17}"/>
                </a:ext>
              </a:extLst>
            </p:cNvPr>
            <p:cNvSpPr>
              <a:spLocks noChangeArrowheads="1"/>
            </p:cNvSpPr>
            <p:nvPr/>
          </p:nvSpPr>
          <p:spPr bwMode="auto">
            <a:xfrm>
              <a:off x="5273"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16" name="Rectangle 58">
              <a:extLst>
                <a:ext uri="{FF2B5EF4-FFF2-40B4-BE49-F238E27FC236}">
                  <a16:creationId xmlns:a16="http://schemas.microsoft.com/office/drawing/2014/main" id="{5B5B5CD3-94A6-5F45-8A65-A7841AAD9A59}"/>
                </a:ext>
              </a:extLst>
            </p:cNvPr>
            <p:cNvSpPr>
              <a:spLocks noChangeArrowheads="1"/>
            </p:cNvSpPr>
            <p:nvPr/>
          </p:nvSpPr>
          <p:spPr bwMode="auto">
            <a:xfrm>
              <a:off x="4883" y="4000"/>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17" name="Rectangle 59">
              <a:extLst>
                <a:ext uri="{FF2B5EF4-FFF2-40B4-BE49-F238E27FC236}">
                  <a16:creationId xmlns:a16="http://schemas.microsoft.com/office/drawing/2014/main" id="{80A6672E-A0E3-554F-8F8B-8355BBF5B338}"/>
                </a:ext>
              </a:extLst>
            </p:cNvPr>
            <p:cNvSpPr>
              <a:spLocks noChangeArrowheads="1"/>
            </p:cNvSpPr>
            <p:nvPr/>
          </p:nvSpPr>
          <p:spPr bwMode="auto">
            <a:xfrm>
              <a:off x="4492"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18" name="Rectangle 60">
              <a:extLst>
                <a:ext uri="{FF2B5EF4-FFF2-40B4-BE49-F238E27FC236}">
                  <a16:creationId xmlns:a16="http://schemas.microsoft.com/office/drawing/2014/main" id="{C73F8C6A-17AA-E041-B393-13C22BCF2901}"/>
                </a:ext>
              </a:extLst>
            </p:cNvPr>
            <p:cNvSpPr>
              <a:spLocks noChangeArrowheads="1"/>
            </p:cNvSpPr>
            <p:nvPr/>
          </p:nvSpPr>
          <p:spPr bwMode="auto">
            <a:xfrm>
              <a:off x="4100" y="4000"/>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19" name="Rectangle 61">
              <a:extLst>
                <a:ext uri="{FF2B5EF4-FFF2-40B4-BE49-F238E27FC236}">
                  <a16:creationId xmlns:a16="http://schemas.microsoft.com/office/drawing/2014/main" id="{0F56CC43-98D1-DC45-8CDE-35AC5A783C1C}"/>
                </a:ext>
              </a:extLst>
            </p:cNvPr>
            <p:cNvSpPr>
              <a:spLocks noChangeArrowheads="1"/>
            </p:cNvSpPr>
            <p:nvPr/>
          </p:nvSpPr>
          <p:spPr bwMode="auto">
            <a:xfrm>
              <a:off x="3709"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7820" name="Rectangle 62">
              <a:extLst>
                <a:ext uri="{FF2B5EF4-FFF2-40B4-BE49-F238E27FC236}">
                  <a16:creationId xmlns:a16="http://schemas.microsoft.com/office/drawing/2014/main" id="{7E020360-268B-AA42-86A5-C36AE073189C}"/>
                </a:ext>
              </a:extLst>
            </p:cNvPr>
            <p:cNvSpPr>
              <a:spLocks noChangeArrowheads="1"/>
            </p:cNvSpPr>
            <p:nvPr/>
          </p:nvSpPr>
          <p:spPr bwMode="auto">
            <a:xfrm>
              <a:off x="3319" y="4000"/>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14</a:t>
              </a:r>
            </a:p>
          </p:txBody>
        </p:sp>
        <p:sp>
          <p:nvSpPr>
            <p:cNvPr id="247821" name="Rectangle 63">
              <a:extLst>
                <a:ext uri="{FF2B5EF4-FFF2-40B4-BE49-F238E27FC236}">
                  <a16:creationId xmlns:a16="http://schemas.microsoft.com/office/drawing/2014/main" id="{A10821A1-625D-5B4C-8763-7C0568A57A3B}"/>
                </a:ext>
              </a:extLst>
            </p:cNvPr>
            <p:cNvSpPr>
              <a:spLocks noChangeArrowheads="1"/>
            </p:cNvSpPr>
            <p:nvPr/>
          </p:nvSpPr>
          <p:spPr bwMode="auto">
            <a:xfrm>
              <a:off x="2928" y="4000"/>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F</a:t>
              </a:r>
            </a:p>
          </p:txBody>
        </p:sp>
        <p:sp>
          <p:nvSpPr>
            <p:cNvPr id="247822" name="Rectangle 71">
              <a:extLst>
                <a:ext uri="{FF2B5EF4-FFF2-40B4-BE49-F238E27FC236}">
                  <a16:creationId xmlns:a16="http://schemas.microsoft.com/office/drawing/2014/main" id="{B771491B-A8C7-2E46-8ADB-1A57C169A37A}"/>
                </a:ext>
              </a:extLst>
            </p:cNvPr>
            <p:cNvSpPr>
              <a:spLocks noChangeArrowheads="1"/>
            </p:cNvSpPr>
            <p:nvPr/>
          </p:nvSpPr>
          <p:spPr bwMode="auto">
            <a:xfrm>
              <a:off x="5273"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D3</a:t>
              </a:r>
            </a:p>
          </p:txBody>
        </p:sp>
        <p:sp>
          <p:nvSpPr>
            <p:cNvPr id="247823" name="Rectangle 72">
              <a:extLst>
                <a:ext uri="{FF2B5EF4-FFF2-40B4-BE49-F238E27FC236}">
                  <a16:creationId xmlns:a16="http://schemas.microsoft.com/office/drawing/2014/main" id="{913612C1-2E6C-1140-A26B-F463A18F623C}"/>
                </a:ext>
              </a:extLst>
            </p:cNvPr>
            <p:cNvSpPr>
              <a:spLocks noChangeArrowheads="1"/>
            </p:cNvSpPr>
            <p:nvPr/>
          </p:nvSpPr>
          <p:spPr bwMode="auto">
            <a:xfrm>
              <a:off x="4883" y="3823"/>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1B</a:t>
              </a:r>
            </a:p>
          </p:txBody>
        </p:sp>
        <p:sp>
          <p:nvSpPr>
            <p:cNvPr id="247824" name="Rectangle 73">
              <a:extLst>
                <a:ext uri="{FF2B5EF4-FFF2-40B4-BE49-F238E27FC236}">
                  <a16:creationId xmlns:a16="http://schemas.microsoft.com/office/drawing/2014/main" id="{217DA4CE-9AA7-C24D-B739-38E2A730991D}"/>
                </a:ext>
              </a:extLst>
            </p:cNvPr>
            <p:cNvSpPr>
              <a:spLocks noChangeArrowheads="1"/>
            </p:cNvSpPr>
            <p:nvPr/>
          </p:nvSpPr>
          <p:spPr bwMode="auto">
            <a:xfrm>
              <a:off x="4492"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77</a:t>
              </a:r>
            </a:p>
          </p:txBody>
        </p:sp>
        <p:sp>
          <p:nvSpPr>
            <p:cNvPr id="247825" name="Rectangle 74">
              <a:extLst>
                <a:ext uri="{FF2B5EF4-FFF2-40B4-BE49-F238E27FC236}">
                  <a16:creationId xmlns:a16="http://schemas.microsoft.com/office/drawing/2014/main" id="{582C7591-5327-2145-AE42-D5E1CB5B12BD}"/>
                </a:ext>
              </a:extLst>
            </p:cNvPr>
            <p:cNvSpPr>
              <a:spLocks noChangeArrowheads="1"/>
            </p:cNvSpPr>
            <p:nvPr/>
          </p:nvSpPr>
          <p:spPr bwMode="auto">
            <a:xfrm>
              <a:off x="4100" y="3823"/>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83</a:t>
              </a:r>
            </a:p>
          </p:txBody>
        </p:sp>
        <p:sp>
          <p:nvSpPr>
            <p:cNvPr id="247826" name="Rectangle 75">
              <a:extLst>
                <a:ext uri="{FF2B5EF4-FFF2-40B4-BE49-F238E27FC236}">
                  <a16:creationId xmlns:a16="http://schemas.microsoft.com/office/drawing/2014/main" id="{BAECEAF9-837C-A745-B76D-92854FD5CF68}"/>
                </a:ext>
              </a:extLst>
            </p:cNvPr>
            <p:cNvSpPr>
              <a:spLocks noChangeArrowheads="1"/>
            </p:cNvSpPr>
            <p:nvPr/>
          </p:nvSpPr>
          <p:spPr bwMode="auto">
            <a:xfrm>
              <a:off x="3709"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827" name="Rectangle 76">
              <a:extLst>
                <a:ext uri="{FF2B5EF4-FFF2-40B4-BE49-F238E27FC236}">
                  <a16:creationId xmlns:a16="http://schemas.microsoft.com/office/drawing/2014/main" id="{6E186F12-25BA-F741-81C8-8D148DB5F570}"/>
                </a:ext>
              </a:extLst>
            </p:cNvPr>
            <p:cNvSpPr>
              <a:spLocks noChangeArrowheads="1"/>
            </p:cNvSpPr>
            <p:nvPr/>
          </p:nvSpPr>
          <p:spPr bwMode="auto">
            <a:xfrm>
              <a:off x="3319" y="3823"/>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13</a:t>
              </a:r>
            </a:p>
          </p:txBody>
        </p:sp>
        <p:sp>
          <p:nvSpPr>
            <p:cNvPr id="247828" name="Rectangle 77">
              <a:extLst>
                <a:ext uri="{FF2B5EF4-FFF2-40B4-BE49-F238E27FC236}">
                  <a16:creationId xmlns:a16="http://schemas.microsoft.com/office/drawing/2014/main" id="{441F1C51-E6F1-3240-B8FC-CD71AA581EC7}"/>
                </a:ext>
              </a:extLst>
            </p:cNvPr>
            <p:cNvSpPr>
              <a:spLocks noChangeArrowheads="1"/>
            </p:cNvSpPr>
            <p:nvPr/>
          </p:nvSpPr>
          <p:spPr bwMode="auto">
            <a:xfrm>
              <a:off x="2928" y="3823"/>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E</a:t>
              </a:r>
            </a:p>
          </p:txBody>
        </p:sp>
        <p:sp>
          <p:nvSpPr>
            <p:cNvPr id="247829" name="Rectangle 85">
              <a:extLst>
                <a:ext uri="{FF2B5EF4-FFF2-40B4-BE49-F238E27FC236}">
                  <a16:creationId xmlns:a16="http://schemas.microsoft.com/office/drawing/2014/main" id="{5A3E47D6-5322-B346-8C53-A432F15B04EE}"/>
                </a:ext>
              </a:extLst>
            </p:cNvPr>
            <p:cNvSpPr>
              <a:spLocks noChangeArrowheads="1"/>
            </p:cNvSpPr>
            <p:nvPr/>
          </p:nvSpPr>
          <p:spPr bwMode="auto">
            <a:xfrm>
              <a:off x="5273"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15</a:t>
              </a:r>
            </a:p>
          </p:txBody>
        </p:sp>
        <p:sp>
          <p:nvSpPr>
            <p:cNvPr id="247830" name="Rectangle 86">
              <a:extLst>
                <a:ext uri="{FF2B5EF4-FFF2-40B4-BE49-F238E27FC236}">
                  <a16:creationId xmlns:a16="http://schemas.microsoft.com/office/drawing/2014/main" id="{5E7967F8-212D-1343-A8E2-C5E1E796F455}"/>
                </a:ext>
              </a:extLst>
            </p:cNvPr>
            <p:cNvSpPr>
              <a:spLocks noChangeArrowheads="1"/>
            </p:cNvSpPr>
            <p:nvPr/>
          </p:nvSpPr>
          <p:spPr bwMode="auto">
            <a:xfrm>
              <a:off x="4883" y="364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34</a:t>
              </a:r>
            </a:p>
          </p:txBody>
        </p:sp>
        <p:sp>
          <p:nvSpPr>
            <p:cNvPr id="247831" name="Rectangle 87">
              <a:extLst>
                <a:ext uri="{FF2B5EF4-FFF2-40B4-BE49-F238E27FC236}">
                  <a16:creationId xmlns:a16="http://schemas.microsoft.com/office/drawing/2014/main" id="{47AA63FA-186D-9846-80A4-9150F6D8C896}"/>
                </a:ext>
              </a:extLst>
            </p:cNvPr>
            <p:cNvSpPr>
              <a:spLocks noChangeArrowheads="1"/>
            </p:cNvSpPr>
            <p:nvPr/>
          </p:nvSpPr>
          <p:spPr bwMode="auto">
            <a:xfrm>
              <a:off x="4492"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96</a:t>
              </a:r>
            </a:p>
          </p:txBody>
        </p:sp>
        <p:sp>
          <p:nvSpPr>
            <p:cNvPr id="247832" name="Rectangle 88">
              <a:extLst>
                <a:ext uri="{FF2B5EF4-FFF2-40B4-BE49-F238E27FC236}">
                  <a16:creationId xmlns:a16="http://schemas.microsoft.com/office/drawing/2014/main" id="{8D3FA60B-53CA-B24D-BC68-2CCFFB7CD1EC}"/>
                </a:ext>
              </a:extLst>
            </p:cNvPr>
            <p:cNvSpPr>
              <a:spLocks noChangeArrowheads="1"/>
            </p:cNvSpPr>
            <p:nvPr/>
          </p:nvSpPr>
          <p:spPr bwMode="auto">
            <a:xfrm>
              <a:off x="4100" y="3646"/>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04</a:t>
              </a:r>
            </a:p>
          </p:txBody>
        </p:sp>
        <p:sp>
          <p:nvSpPr>
            <p:cNvPr id="247833" name="Rectangle 89">
              <a:extLst>
                <a:ext uri="{FF2B5EF4-FFF2-40B4-BE49-F238E27FC236}">
                  <a16:creationId xmlns:a16="http://schemas.microsoft.com/office/drawing/2014/main" id="{9CA25692-1206-A54C-BB52-F319D9025109}"/>
                </a:ext>
              </a:extLst>
            </p:cNvPr>
            <p:cNvSpPr>
              <a:spLocks noChangeArrowheads="1"/>
            </p:cNvSpPr>
            <p:nvPr/>
          </p:nvSpPr>
          <p:spPr bwMode="auto">
            <a:xfrm>
              <a:off x="3709"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834" name="Rectangle 90">
              <a:extLst>
                <a:ext uri="{FF2B5EF4-FFF2-40B4-BE49-F238E27FC236}">
                  <a16:creationId xmlns:a16="http://schemas.microsoft.com/office/drawing/2014/main" id="{90C603E9-688E-FD46-A014-7FC9825EC1AD}"/>
                </a:ext>
              </a:extLst>
            </p:cNvPr>
            <p:cNvSpPr>
              <a:spLocks noChangeArrowheads="1"/>
            </p:cNvSpPr>
            <p:nvPr/>
          </p:nvSpPr>
          <p:spPr bwMode="auto">
            <a:xfrm>
              <a:off x="3319" y="364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16</a:t>
              </a:r>
            </a:p>
          </p:txBody>
        </p:sp>
        <p:sp>
          <p:nvSpPr>
            <p:cNvPr id="247835" name="Rectangle 91">
              <a:extLst>
                <a:ext uri="{FF2B5EF4-FFF2-40B4-BE49-F238E27FC236}">
                  <a16:creationId xmlns:a16="http://schemas.microsoft.com/office/drawing/2014/main" id="{3BFBE297-7EEC-7542-9AFB-266EE1D16CAA}"/>
                </a:ext>
              </a:extLst>
            </p:cNvPr>
            <p:cNvSpPr>
              <a:spLocks noChangeArrowheads="1"/>
            </p:cNvSpPr>
            <p:nvPr/>
          </p:nvSpPr>
          <p:spPr bwMode="auto">
            <a:xfrm>
              <a:off x="2928" y="364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D</a:t>
              </a:r>
            </a:p>
          </p:txBody>
        </p:sp>
        <p:sp>
          <p:nvSpPr>
            <p:cNvPr id="247836" name="Rectangle 99">
              <a:extLst>
                <a:ext uri="{FF2B5EF4-FFF2-40B4-BE49-F238E27FC236}">
                  <a16:creationId xmlns:a16="http://schemas.microsoft.com/office/drawing/2014/main" id="{7F79EC7A-C8BE-1048-B270-E6A18C486D77}"/>
                </a:ext>
              </a:extLst>
            </p:cNvPr>
            <p:cNvSpPr>
              <a:spLocks noChangeArrowheads="1"/>
            </p:cNvSpPr>
            <p:nvPr/>
          </p:nvSpPr>
          <p:spPr bwMode="auto">
            <a:xfrm>
              <a:off x="5273"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37" name="Rectangle 100">
              <a:extLst>
                <a:ext uri="{FF2B5EF4-FFF2-40B4-BE49-F238E27FC236}">
                  <a16:creationId xmlns:a16="http://schemas.microsoft.com/office/drawing/2014/main" id="{366C8B10-85FA-3541-9010-510E34BAF43D}"/>
                </a:ext>
              </a:extLst>
            </p:cNvPr>
            <p:cNvSpPr>
              <a:spLocks noChangeArrowheads="1"/>
            </p:cNvSpPr>
            <p:nvPr/>
          </p:nvSpPr>
          <p:spPr bwMode="auto">
            <a:xfrm>
              <a:off x="4883" y="3453"/>
              <a:ext cx="39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38" name="Rectangle 101">
              <a:extLst>
                <a:ext uri="{FF2B5EF4-FFF2-40B4-BE49-F238E27FC236}">
                  <a16:creationId xmlns:a16="http://schemas.microsoft.com/office/drawing/2014/main" id="{1B152B1F-8362-0D40-8612-65558C001B05}"/>
                </a:ext>
              </a:extLst>
            </p:cNvPr>
            <p:cNvSpPr>
              <a:spLocks noChangeArrowheads="1"/>
            </p:cNvSpPr>
            <p:nvPr/>
          </p:nvSpPr>
          <p:spPr bwMode="auto">
            <a:xfrm>
              <a:off x="4492"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39" name="Rectangle 102">
              <a:extLst>
                <a:ext uri="{FF2B5EF4-FFF2-40B4-BE49-F238E27FC236}">
                  <a16:creationId xmlns:a16="http://schemas.microsoft.com/office/drawing/2014/main" id="{94EB5447-B821-6448-899B-62977A3CD51A}"/>
                </a:ext>
              </a:extLst>
            </p:cNvPr>
            <p:cNvSpPr>
              <a:spLocks noChangeArrowheads="1"/>
            </p:cNvSpPr>
            <p:nvPr/>
          </p:nvSpPr>
          <p:spPr bwMode="auto">
            <a:xfrm>
              <a:off x="4100" y="3453"/>
              <a:ext cx="39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endParaRPr lang="en-GB" altLang="zh-CN" sz="1800" b="1">
                <a:latin typeface="Calibri" panose="020F0502020204030204" pitchFamily="34" charset="0"/>
                <a:ea typeface="微软雅黑" panose="020B0503020204020204" pitchFamily="34" charset="-122"/>
              </a:endParaRPr>
            </a:p>
          </p:txBody>
        </p:sp>
        <p:sp>
          <p:nvSpPr>
            <p:cNvPr id="247840" name="Rectangle 103">
              <a:extLst>
                <a:ext uri="{FF2B5EF4-FFF2-40B4-BE49-F238E27FC236}">
                  <a16:creationId xmlns:a16="http://schemas.microsoft.com/office/drawing/2014/main" id="{AE77EDB1-7C67-F54C-8261-0B55BF70B2E5}"/>
                </a:ext>
              </a:extLst>
            </p:cNvPr>
            <p:cNvSpPr>
              <a:spLocks noChangeArrowheads="1"/>
            </p:cNvSpPr>
            <p:nvPr/>
          </p:nvSpPr>
          <p:spPr bwMode="auto">
            <a:xfrm>
              <a:off x="3709"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7841" name="Rectangle 104">
              <a:extLst>
                <a:ext uri="{FF2B5EF4-FFF2-40B4-BE49-F238E27FC236}">
                  <a16:creationId xmlns:a16="http://schemas.microsoft.com/office/drawing/2014/main" id="{3F51A78F-EBDA-F04D-B53D-01F379E73C8A}"/>
                </a:ext>
              </a:extLst>
            </p:cNvPr>
            <p:cNvSpPr>
              <a:spLocks noChangeArrowheads="1"/>
            </p:cNvSpPr>
            <p:nvPr/>
          </p:nvSpPr>
          <p:spPr bwMode="auto">
            <a:xfrm>
              <a:off x="3319" y="3453"/>
              <a:ext cx="390"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12</a:t>
              </a:r>
            </a:p>
          </p:txBody>
        </p:sp>
        <p:sp>
          <p:nvSpPr>
            <p:cNvPr id="247842" name="Rectangle 105">
              <a:extLst>
                <a:ext uri="{FF2B5EF4-FFF2-40B4-BE49-F238E27FC236}">
                  <a16:creationId xmlns:a16="http://schemas.microsoft.com/office/drawing/2014/main" id="{49E6CD0B-F52F-6F45-9FFC-16761BC6A323}"/>
                </a:ext>
              </a:extLst>
            </p:cNvPr>
            <p:cNvSpPr>
              <a:spLocks noChangeArrowheads="1"/>
            </p:cNvSpPr>
            <p:nvPr/>
          </p:nvSpPr>
          <p:spPr bwMode="auto">
            <a:xfrm>
              <a:off x="2928" y="3453"/>
              <a:ext cx="391"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C</a:t>
              </a:r>
            </a:p>
          </p:txBody>
        </p:sp>
        <p:sp>
          <p:nvSpPr>
            <p:cNvPr id="247843" name="Rectangle 113">
              <a:extLst>
                <a:ext uri="{FF2B5EF4-FFF2-40B4-BE49-F238E27FC236}">
                  <a16:creationId xmlns:a16="http://schemas.microsoft.com/office/drawing/2014/main" id="{90A706A6-13C9-B545-B760-503F893EE169}"/>
                </a:ext>
              </a:extLst>
            </p:cNvPr>
            <p:cNvSpPr>
              <a:spLocks noChangeArrowheads="1"/>
            </p:cNvSpPr>
            <p:nvPr/>
          </p:nvSpPr>
          <p:spPr bwMode="auto">
            <a:xfrm>
              <a:off x="5273"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44" name="Rectangle 114">
              <a:extLst>
                <a:ext uri="{FF2B5EF4-FFF2-40B4-BE49-F238E27FC236}">
                  <a16:creationId xmlns:a16="http://schemas.microsoft.com/office/drawing/2014/main" id="{9B174517-2283-E14A-90B8-92668A88C138}"/>
                </a:ext>
              </a:extLst>
            </p:cNvPr>
            <p:cNvSpPr>
              <a:spLocks noChangeArrowheads="1"/>
            </p:cNvSpPr>
            <p:nvPr/>
          </p:nvSpPr>
          <p:spPr bwMode="auto">
            <a:xfrm>
              <a:off x="4883" y="327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45" name="Rectangle 115">
              <a:extLst>
                <a:ext uri="{FF2B5EF4-FFF2-40B4-BE49-F238E27FC236}">
                  <a16:creationId xmlns:a16="http://schemas.microsoft.com/office/drawing/2014/main" id="{1B4B9426-4722-7E4B-8831-D63C4D37B388}"/>
                </a:ext>
              </a:extLst>
            </p:cNvPr>
            <p:cNvSpPr>
              <a:spLocks noChangeArrowheads="1"/>
            </p:cNvSpPr>
            <p:nvPr/>
          </p:nvSpPr>
          <p:spPr bwMode="auto">
            <a:xfrm>
              <a:off x="4492"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46" name="Rectangle 116">
              <a:extLst>
                <a:ext uri="{FF2B5EF4-FFF2-40B4-BE49-F238E27FC236}">
                  <a16:creationId xmlns:a16="http://schemas.microsoft.com/office/drawing/2014/main" id="{58DCAFAE-766F-2643-9784-B6BB1639EDA1}"/>
                </a:ext>
              </a:extLst>
            </p:cNvPr>
            <p:cNvSpPr>
              <a:spLocks noChangeArrowheads="1"/>
            </p:cNvSpPr>
            <p:nvPr/>
          </p:nvSpPr>
          <p:spPr bwMode="auto">
            <a:xfrm>
              <a:off x="4100" y="3276"/>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47" name="Rectangle 117">
              <a:extLst>
                <a:ext uri="{FF2B5EF4-FFF2-40B4-BE49-F238E27FC236}">
                  <a16:creationId xmlns:a16="http://schemas.microsoft.com/office/drawing/2014/main" id="{B4F20CC7-D85A-4F4B-B874-D4F1DF7A0663}"/>
                </a:ext>
              </a:extLst>
            </p:cNvPr>
            <p:cNvSpPr>
              <a:spLocks noChangeArrowheads="1"/>
            </p:cNvSpPr>
            <p:nvPr/>
          </p:nvSpPr>
          <p:spPr bwMode="auto">
            <a:xfrm>
              <a:off x="3709"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7848" name="Rectangle 118">
              <a:extLst>
                <a:ext uri="{FF2B5EF4-FFF2-40B4-BE49-F238E27FC236}">
                  <a16:creationId xmlns:a16="http://schemas.microsoft.com/office/drawing/2014/main" id="{C0CAA4DB-BD0B-EF42-A72B-0AA66D4CBBE6}"/>
                </a:ext>
              </a:extLst>
            </p:cNvPr>
            <p:cNvSpPr>
              <a:spLocks noChangeArrowheads="1"/>
            </p:cNvSpPr>
            <p:nvPr/>
          </p:nvSpPr>
          <p:spPr bwMode="auto">
            <a:xfrm>
              <a:off x="3319" y="3276"/>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0B</a:t>
              </a:r>
            </a:p>
          </p:txBody>
        </p:sp>
        <p:sp>
          <p:nvSpPr>
            <p:cNvPr id="247849" name="Rectangle 119">
              <a:extLst>
                <a:ext uri="{FF2B5EF4-FFF2-40B4-BE49-F238E27FC236}">
                  <a16:creationId xmlns:a16="http://schemas.microsoft.com/office/drawing/2014/main" id="{A6C1F93E-A7F5-6F4C-A148-67A1C369858C}"/>
                </a:ext>
              </a:extLst>
            </p:cNvPr>
            <p:cNvSpPr>
              <a:spLocks noChangeArrowheads="1"/>
            </p:cNvSpPr>
            <p:nvPr/>
          </p:nvSpPr>
          <p:spPr bwMode="auto">
            <a:xfrm>
              <a:off x="2928" y="3276"/>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B</a:t>
              </a:r>
            </a:p>
          </p:txBody>
        </p:sp>
        <p:sp>
          <p:nvSpPr>
            <p:cNvPr id="247850" name="Rectangle 127">
              <a:extLst>
                <a:ext uri="{FF2B5EF4-FFF2-40B4-BE49-F238E27FC236}">
                  <a16:creationId xmlns:a16="http://schemas.microsoft.com/office/drawing/2014/main" id="{0F45C44F-571F-BC40-ACE0-9AF7C11EB003}"/>
                </a:ext>
              </a:extLst>
            </p:cNvPr>
            <p:cNvSpPr>
              <a:spLocks noChangeArrowheads="1"/>
            </p:cNvSpPr>
            <p:nvPr/>
          </p:nvSpPr>
          <p:spPr bwMode="auto">
            <a:xfrm>
              <a:off x="5273"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3B</a:t>
              </a:r>
            </a:p>
          </p:txBody>
        </p:sp>
        <p:sp>
          <p:nvSpPr>
            <p:cNvPr id="247851" name="Rectangle 128">
              <a:extLst>
                <a:ext uri="{FF2B5EF4-FFF2-40B4-BE49-F238E27FC236}">
                  <a16:creationId xmlns:a16="http://schemas.microsoft.com/office/drawing/2014/main" id="{92A6E457-2FD8-764C-AF2F-A2CB371BAE92}"/>
                </a:ext>
              </a:extLst>
            </p:cNvPr>
            <p:cNvSpPr>
              <a:spLocks noChangeArrowheads="1"/>
            </p:cNvSpPr>
            <p:nvPr/>
          </p:nvSpPr>
          <p:spPr bwMode="auto">
            <a:xfrm>
              <a:off x="4883" y="3099"/>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DA</a:t>
              </a:r>
            </a:p>
          </p:txBody>
        </p:sp>
        <p:sp>
          <p:nvSpPr>
            <p:cNvPr id="247852" name="Rectangle 129">
              <a:extLst>
                <a:ext uri="{FF2B5EF4-FFF2-40B4-BE49-F238E27FC236}">
                  <a16:creationId xmlns:a16="http://schemas.microsoft.com/office/drawing/2014/main" id="{2031E3D0-F993-0E43-B442-20CAD8481F63}"/>
                </a:ext>
              </a:extLst>
            </p:cNvPr>
            <p:cNvSpPr>
              <a:spLocks noChangeArrowheads="1"/>
            </p:cNvSpPr>
            <p:nvPr/>
          </p:nvSpPr>
          <p:spPr bwMode="auto">
            <a:xfrm>
              <a:off x="4492"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15</a:t>
              </a:r>
            </a:p>
          </p:txBody>
        </p:sp>
        <p:sp>
          <p:nvSpPr>
            <p:cNvPr id="247853" name="Rectangle 130">
              <a:extLst>
                <a:ext uri="{FF2B5EF4-FFF2-40B4-BE49-F238E27FC236}">
                  <a16:creationId xmlns:a16="http://schemas.microsoft.com/office/drawing/2014/main" id="{984ACD72-A629-874C-AD9B-B9DE3870A55E}"/>
                </a:ext>
              </a:extLst>
            </p:cNvPr>
            <p:cNvSpPr>
              <a:spLocks noChangeArrowheads="1"/>
            </p:cNvSpPr>
            <p:nvPr/>
          </p:nvSpPr>
          <p:spPr bwMode="auto">
            <a:xfrm>
              <a:off x="4100" y="3099"/>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93</a:t>
              </a:r>
            </a:p>
          </p:txBody>
        </p:sp>
        <p:sp>
          <p:nvSpPr>
            <p:cNvPr id="247854" name="Rectangle 131">
              <a:extLst>
                <a:ext uri="{FF2B5EF4-FFF2-40B4-BE49-F238E27FC236}">
                  <a16:creationId xmlns:a16="http://schemas.microsoft.com/office/drawing/2014/main" id="{A7DCF229-7AD7-3E46-8C52-C760F6119EC7}"/>
                </a:ext>
              </a:extLst>
            </p:cNvPr>
            <p:cNvSpPr>
              <a:spLocks noChangeArrowheads="1"/>
            </p:cNvSpPr>
            <p:nvPr/>
          </p:nvSpPr>
          <p:spPr bwMode="auto">
            <a:xfrm>
              <a:off x="3709"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855" name="Rectangle 132">
              <a:extLst>
                <a:ext uri="{FF2B5EF4-FFF2-40B4-BE49-F238E27FC236}">
                  <a16:creationId xmlns:a16="http://schemas.microsoft.com/office/drawing/2014/main" id="{85A4E73D-1BE2-4040-B605-280FA8C27C51}"/>
                </a:ext>
              </a:extLst>
            </p:cNvPr>
            <p:cNvSpPr>
              <a:spLocks noChangeArrowheads="1"/>
            </p:cNvSpPr>
            <p:nvPr/>
          </p:nvSpPr>
          <p:spPr bwMode="auto">
            <a:xfrm>
              <a:off x="3319" y="3099"/>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2D</a:t>
              </a:r>
            </a:p>
          </p:txBody>
        </p:sp>
        <p:sp>
          <p:nvSpPr>
            <p:cNvPr id="247856" name="Rectangle 133">
              <a:extLst>
                <a:ext uri="{FF2B5EF4-FFF2-40B4-BE49-F238E27FC236}">
                  <a16:creationId xmlns:a16="http://schemas.microsoft.com/office/drawing/2014/main" id="{9CF04668-B64F-194F-9467-3B73F5248978}"/>
                </a:ext>
              </a:extLst>
            </p:cNvPr>
            <p:cNvSpPr>
              <a:spLocks noChangeArrowheads="1"/>
            </p:cNvSpPr>
            <p:nvPr/>
          </p:nvSpPr>
          <p:spPr bwMode="auto">
            <a:xfrm>
              <a:off x="2928" y="3099"/>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A</a:t>
              </a:r>
            </a:p>
          </p:txBody>
        </p:sp>
        <p:sp>
          <p:nvSpPr>
            <p:cNvPr id="247857" name="Rectangle 141">
              <a:extLst>
                <a:ext uri="{FF2B5EF4-FFF2-40B4-BE49-F238E27FC236}">
                  <a16:creationId xmlns:a16="http://schemas.microsoft.com/office/drawing/2014/main" id="{096484B7-5C32-5048-8183-2BB67A44D0A4}"/>
                </a:ext>
              </a:extLst>
            </p:cNvPr>
            <p:cNvSpPr>
              <a:spLocks noChangeArrowheads="1"/>
            </p:cNvSpPr>
            <p:nvPr/>
          </p:nvSpPr>
          <p:spPr bwMode="auto">
            <a:xfrm>
              <a:off x="5273"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58" name="Rectangle 142">
              <a:extLst>
                <a:ext uri="{FF2B5EF4-FFF2-40B4-BE49-F238E27FC236}">
                  <a16:creationId xmlns:a16="http://schemas.microsoft.com/office/drawing/2014/main" id="{662A4A68-9C23-1742-A772-7FCF00D76121}"/>
                </a:ext>
              </a:extLst>
            </p:cNvPr>
            <p:cNvSpPr>
              <a:spLocks noChangeArrowheads="1"/>
            </p:cNvSpPr>
            <p:nvPr/>
          </p:nvSpPr>
          <p:spPr bwMode="auto">
            <a:xfrm>
              <a:off x="4883" y="2922"/>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59" name="Rectangle 143">
              <a:extLst>
                <a:ext uri="{FF2B5EF4-FFF2-40B4-BE49-F238E27FC236}">
                  <a16:creationId xmlns:a16="http://schemas.microsoft.com/office/drawing/2014/main" id="{B10DF4E6-782C-124D-A6E3-7D0E7AF82748}"/>
                </a:ext>
              </a:extLst>
            </p:cNvPr>
            <p:cNvSpPr>
              <a:spLocks noChangeArrowheads="1"/>
            </p:cNvSpPr>
            <p:nvPr/>
          </p:nvSpPr>
          <p:spPr bwMode="auto">
            <a:xfrm>
              <a:off x="4492"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60" name="Rectangle 144">
              <a:extLst>
                <a:ext uri="{FF2B5EF4-FFF2-40B4-BE49-F238E27FC236}">
                  <a16:creationId xmlns:a16="http://schemas.microsoft.com/office/drawing/2014/main" id="{CE4C6F9A-A6C7-0144-B1AF-1E7EEDD6B9B1}"/>
                </a:ext>
              </a:extLst>
            </p:cNvPr>
            <p:cNvSpPr>
              <a:spLocks noChangeArrowheads="1"/>
            </p:cNvSpPr>
            <p:nvPr/>
          </p:nvSpPr>
          <p:spPr bwMode="auto">
            <a:xfrm>
              <a:off x="4100" y="2922"/>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a:t>
              </a:r>
            </a:p>
          </p:txBody>
        </p:sp>
        <p:sp>
          <p:nvSpPr>
            <p:cNvPr id="247861" name="Rectangle 145">
              <a:extLst>
                <a:ext uri="{FF2B5EF4-FFF2-40B4-BE49-F238E27FC236}">
                  <a16:creationId xmlns:a16="http://schemas.microsoft.com/office/drawing/2014/main" id="{A56F8D05-C8B2-EB40-8A0C-6F246ACAF1C7}"/>
                </a:ext>
              </a:extLst>
            </p:cNvPr>
            <p:cNvSpPr>
              <a:spLocks noChangeArrowheads="1"/>
            </p:cNvSpPr>
            <p:nvPr/>
          </p:nvSpPr>
          <p:spPr bwMode="auto">
            <a:xfrm>
              <a:off x="3709"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a:t>
              </a:r>
            </a:p>
          </p:txBody>
        </p:sp>
        <p:sp>
          <p:nvSpPr>
            <p:cNvPr id="247862" name="Rectangle 146">
              <a:extLst>
                <a:ext uri="{FF2B5EF4-FFF2-40B4-BE49-F238E27FC236}">
                  <a16:creationId xmlns:a16="http://schemas.microsoft.com/office/drawing/2014/main" id="{D6D8D082-F60F-7149-B6CA-913AD3E6DFD9}"/>
                </a:ext>
              </a:extLst>
            </p:cNvPr>
            <p:cNvSpPr>
              <a:spLocks noChangeArrowheads="1"/>
            </p:cNvSpPr>
            <p:nvPr/>
          </p:nvSpPr>
          <p:spPr bwMode="auto">
            <a:xfrm>
              <a:off x="3319" y="2922"/>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2D</a:t>
              </a:r>
            </a:p>
          </p:txBody>
        </p:sp>
        <p:sp>
          <p:nvSpPr>
            <p:cNvPr id="247863" name="Rectangle 147">
              <a:extLst>
                <a:ext uri="{FF2B5EF4-FFF2-40B4-BE49-F238E27FC236}">
                  <a16:creationId xmlns:a16="http://schemas.microsoft.com/office/drawing/2014/main" id="{50E80DFD-C307-424E-84CF-33F904ADAD82}"/>
                </a:ext>
              </a:extLst>
            </p:cNvPr>
            <p:cNvSpPr>
              <a:spLocks noChangeArrowheads="1"/>
            </p:cNvSpPr>
            <p:nvPr/>
          </p:nvSpPr>
          <p:spPr bwMode="auto">
            <a:xfrm>
              <a:off x="2928" y="2922"/>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9</a:t>
              </a:r>
            </a:p>
          </p:txBody>
        </p:sp>
        <p:sp>
          <p:nvSpPr>
            <p:cNvPr id="247864" name="Rectangle 155">
              <a:extLst>
                <a:ext uri="{FF2B5EF4-FFF2-40B4-BE49-F238E27FC236}">
                  <a16:creationId xmlns:a16="http://schemas.microsoft.com/office/drawing/2014/main" id="{8C5BB96C-D79A-9943-8E63-5EA331E3A6E5}"/>
                </a:ext>
              </a:extLst>
            </p:cNvPr>
            <p:cNvSpPr>
              <a:spLocks noChangeArrowheads="1"/>
            </p:cNvSpPr>
            <p:nvPr/>
          </p:nvSpPr>
          <p:spPr bwMode="auto">
            <a:xfrm>
              <a:off x="5273"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89</a:t>
              </a:r>
            </a:p>
          </p:txBody>
        </p:sp>
        <p:sp>
          <p:nvSpPr>
            <p:cNvPr id="247865" name="Rectangle 156">
              <a:extLst>
                <a:ext uri="{FF2B5EF4-FFF2-40B4-BE49-F238E27FC236}">
                  <a16:creationId xmlns:a16="http://schemas.microsoft.com/office/drawing/2014/main" id="{56D8ED55-14E1-774E-AD44-8E0312702A48}"/>
                </a:ext>
              </a:extLst>
            </p:cNvPr>
            <p:cNvSpPr>
              <a:spLocks noChangeArrowheads="1"/>
            </p:cNvSpPr>
            <p:nvPr/>
          </p:nvSpPr>
          <p:spPr bwMode="auto">
            <a:xfrm>
              <a:off x="4883" y="2745"/>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51</a:t>
              </a:r>
            </a:p>
          </p:txBody>
        </p:sp>
        <p:sp>
          <p:nvSpPr>
            <p:cNvPr id="247866" name="Rectangle 157">
              <a:extLst>
                <a:ext uri="{FF2B5EF4-FFF2-40B4-BE49-F238E27FC236}">
                  <a16:creationId xmlns:a16="http://schemas.microsoft.com/office/drawing/2014/main" id="{75074E39-1420-F74B-AD81-EB2C500B6631}"/>
                </a:ext>
              </a:extLst>
            </p:cNvPr>
            <p:cNvSpPr>
              <a:spLocks noChangeArrowheads="1"/>
            </p:cNvSpPr>
            <p:nvPr/>
          </p:nvSpPr>
          <p:spPr bwMode="auto">
            <a:xfrm>
              <a:off x="4492"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00</a:t>
              </a:r>
            </a:p>
          </p:txBody>
        </p:sp>
        <p:sp>
          <p:nvSpPr>
            <p:cNvPr id="247867" name="Rectangle 158">
              <a:extLst>
                <a:ext uri="{FF2B5EF4-FFF2-40B4-BE49-F238E27FC236}">
                  <a16:creationId xmlns:a16="http://schemas.microsoft.com/office/drawing/2014/main" id="{919D4B93-EB00-C743-9727-10312C8D2E1D}"/>
                </a:ext>
              </a:extLst>
            </p:cNvPr>
            <p:cNvSpPr>
              <a:spLocks noChangeArrowheads="1"/>
            </p:cNvSpPr>
            <p:nvPr/>
          </p:nvSpPr>
          <p:spPr bwMode="auto">
            <a:xfrm>
              <a:off x="4100" y="2745"/>
              <a:ext cx="392"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3A</a:t>
              </a:r>
            </a:p>
          </p:txBody>
        </p:sp>
        <p:sp>
          <p:nvSpPr>
            <p:cNvPr id="247868" name="Rectangle 159">
              <a:extLst>
                <a:ext uri="{FF2B5EF4-FFF2-40B4-BE49-F238E27FC236}">
                  <a16:creationId xmlns:a16="http://schemas.microsoft.com/office/drawing/2014/main" id="{15B01750-C9A6-B449-8A9F-EC11D5E24705}"/>
                </a:ext>
              </a:extLst>
            </p:cNvPr>
            <p:cNvSpPr>
              <a:spLocks noChangeArrowheads="1"/>
            </p:cNvSpPr>
            <p:nvPr/>
          </p:nvSpPr>
          <p:spPr bwMode="auto">
            <a:xfrm>
              <a:off x="3709"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1</a:t>
              </a:r>
            </a:p>
          </p:txBody>
        </p:sp>
        <p:sp>
          <p:nvSpPr>
            <p:cNvPr id="247869" name="Rectangle 160">
              <a:extLst>
                <a:ext uri="{FF2B5EF4-FFF2-40B4-BE49-F238E27FC236}">
                  <a16:creationId xmlns:a16="http://schemas.microsoft.com/office/drawing/2014/main" id="{32454496-AC23-9B42-949E-3FEE7EAC7A03}"/>
                </a:ext>
              </a:extLst>
            </p:cNvPr>
            <p:cNvSpPr>
              <a:spLocks noChangeArrowheads="1"/>
            </p:cNvSpPr>
            <p:nvPr/>
          </p:nvSpPr>
          <p:spPr bwMode="auto">
            <a:xfrm>
              <a:off x="3319" y="2745"/>
              <a:ext cx="390"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latin typeface="微软雅黑" panose="020B0503020204020204" pitchFamily="34" charset="-122"/>
                  <a:ea typeface="微软雅黑" panose="020B0503020204020204" pitchFamily="34" charset="-122"/>
                </a:rPr>
                <a:t>24</a:t>
              </a:r>
            </a:p>
          </p:txBody>
        </p:sp>
        <p:sp>
          <p:nvSpPr>
            <p:cNvPr id="247870" name="Rectangle 161">
              <a:extLst>
                <a:ext uri="{FF2B5EF4-FFF2-40B4-BE49-F238E27FC236}">
                  <a16:creationId xmlns:a16="http://schemas.microsoft.com/office/drawing/2014/main" id="{CBABD7C6-D586-1242-8366-7D96C618B1C1}"/>
                </a:ext>
              </a:extLst>
            </p:cNvPr>
            <p:cNvSpPr>
              <a:spLocks noChangeArrowheads="1"/>
            </p:cNvSpPr>
            <p:nvPr/>
          </p:nvSpPr>
          <p:spPr bwMode="auto">
            <a:xfrm>
              <a:off x="2928" y="2745"/>
              <a:ext cx="391"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eaLnBrk="1" hangingPunct="1">
                <a:spcBef>
                  <a:spcPts val="875"/>
                </a:spcBef>
              </a:pPr>
              <a:r>
                <a:rPr lang="en-GB" altLang="zh-CN" sz="1800" b="1">
                  <a:solidFill>
                    <a:srgbClr val="990000"/>
                  </a:solidFill>
                  <a:latin typeface="微软雅黑" panose="020B0503020204020204" pitchFamily="34" charset="-122"/>
                  <a:ea typeface="微软雅黑" panose="020B0503020204020204" pitchFamily="34" charset="-122"/>
                </a:rPr>
                <a:t>8</a:t>
              </a:r>
            </a:p>
          </p:txBody>
        </p:sp>
        <p:sp>
          <p:nvSpPr>
            <p:cNvPr id="266" name="Rectangle 169">
              <a:extLst>
                <a:ext uri="{FF2B5EF4-FFF2-40B4-BE49-F238E27FC236}">
                  <a16:creationId xmlns:a16="http://schemas.microsoft.com/office/drawing/2014/main" id="{C841515B-25DC-8A4F-8B8D-54706FB7BE7C}"/>
                </a:ext>
              </a:extLst>
            </p:cNvPr>
            <p:cNvSpPr>
              <a:spLocks noChangeArrowheads="1"/>
            </p:cNvSpPr>
            <p:nvPr/>
          </p:nvSpPr>
          <p:spPr bwMode="auto">
            <a:xfrm>
              <a:off x="5273"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B3</a:t>
              </a:r>
            </a:p>
          </p:txBody>
        </p:sp>
        <p:sp>
          <p:nvSpPr>
            <p:cNvPr id="267" name="Rectangle 170">
              <a:extLst>
                <a:ext uri="{FF2B5EF4-FFF2-40B4-BE49-F238E27FC236}">
                  <a16:creationId xmlns:a16="http://schemas.microsoft.com/office/drawing/2014/main" id="{60D6DAC4-1908-3E49-8FD0-3EA44C72F0E4}"/>
                </a:ext>
              </a:extLst>
            </p:cNvPr>
            <p:cNvSpPr>
              <a:spLocks noChangeArrowheads="1"/>
            </p:cNvSpPr>
            <p:nvPr/>
          </p:nvSpPr>
          <p:spPr bwMode="auto">
            <a:xfrm>
              <a:off x="4883" y="2568"/>
              <a:ext cx="394"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B2</a:t>
              </a:r>
            </a:p>
          </p:txBody>
        </p:sp>
        <p:sp>
          <p:nvSpPr>
            <p:cNvPr id="268" name="Rectangle 171">
              <a:extLst>
                <a:ext uri="{FF2B5EF4-FFF2-40B4-BE49-F238E27FC236}">
                  <a16:creationId xmlns:a16="http://schemas.microsoft.com/office/drawing/2014/main" id="{07783B97-7B48-CB4D-9896-491BFC136DF9}"/>
                </a:ext>
              </a:extLst>
            </p:cNvPr>
            <p:cNvSpPr>
              <a:spLocks noChangeArrowheads="1"/>
            </p:cNvSpPr>
            <p:nvPr/>
          </p:nvSpPr>
          <p:spPr bwMode="auto">
            <a:xfrm>
              <a:off x="4492"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B1</a:t>
              </a:r>
            </a:p>
          </p:txBody>
        </p:sp>
        <p:sp>
          <p:nvSpPr>
            <p:cNvPr id="269" name="Rectangle 172">
              <a:extLst>
                <a:ext uri="{FF2B5EF4-FFF2-40B4-BE49-F238E27FC236}">
                  <a16:creationId xmlns:a16="http://schemas.microsoft.com/office/drawing/2014/main" id="{5C9C614E-A0CD-AB49-817A-4BEEFEE5E092}"/>
                </a:ext>
              </a:extLst>
            </p:cNvPr>
            <p:cNvSpPr>
              <a:spLocks noChangeArrowheads="1"/>
            </p:cNvSpPr>
            <p:nvPr/>
          </p:nvSpPr>
          <p:spPr bwMode="auto">
            <a:xfrm>
              <a:off x="4100" y="2568"/>
              <a:ext cx="394"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B0</a:t>
              </a:r>
            </a:p>
          </p:txBody>
        </p:sp>
        <p:sp>
          <p:nvSpPr>
            <p:cNvPr id="270" name="Rectangle 173">
              <a:extLst>
                <a:ext uri="{FF2B5EF4-FFF2-40B4-BE49-F238E27FC236}">
                  <a16:creationId xmlns:a16="http://schemas.microsoft.com/office/drawing/2014/main" id="{66A69528-6F60-2542-A00D-675652E59AB9}"/>
                </a:ext>
              </a:extLst>
            </p:cNvPr>
            <p:cNvSpPr>
              <a:spLocks noChangeArrowheads="1"/>
            </p:cNvSpPr>
            <p:nvPr/>
          </p:nvSpPr>
          <p:spPr bwMode="auto">
            <a:xfrm>
              <a:off x="3709"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V</a:t>
              </a:r>
            </a:p>
          </p:txBody>
        </p:sp>
        <p:sp>
          <p:nvSpPr>
            <p:cNvPr id="271" name="Rectangle 174">
              <a:extLst>
                <a:ext uri="{FF2B5EF4-FFF2-40B4-BE49-F238E27FC236}">
                  <a16:creationId xmlns:a16="http://schemas.microsoft.com/office/drawing/2014/main" id="{8154D0E0-A0E5-8446-8D8D-731483F0F57D}"/>
                </a:ext>
              </a:extLst>
            </p:cNvPr>
            <p:cNvSpPr>
              <a:spLocks noChangeArrowheads="1"/>
            </p:cNvSpPr>
            <p:nvPr/>
          </p:nvSpPr>
          <p:spPr bwMode="auto">
            <a:xfrm>
              <a:off x="3319" y="2568"/>
              <a:ext cx="394"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Tag</a:t>
              </a:r>
            </a:p>
          </p:txBody>
        </p:sp>
        <p:sp>
          <p:nvSpPr>
            <p:cNvPr id="272" name="Rectangle 175">
              <a:extLst>
                <a:ext uri="{FF2B5EF4-FFF2-40B4-BE49-F238E27FC236}">
                  <a16:creationId xmlns:a16="http://schemas.microsoft.com/office/drawing/2014/main" id="{BDFFE334-A240-9E4F-A5C2-B2163E95B1BE}"/>
                </a:ext>
              </a:extLst>
            </p:cNvPr>
            <p:cNvSpPr>
              <a:spLocks noChangeArrowheads="1"/>
            </p:cNvSpPr>
            <p:nvPr/>
          </p:nvSpPr>
          <p:spPr bwMode="auto">
            <a:xfrm>
              <a:off x="2928" y="2568"/>
              <a:ext cx="391" cy="177"/>
            </a:xfrm>
            <a:prstGeom prst="rect">
              <a:avLst/>
            </a:prstGeom>
            <a:solidFill>
              <a:schemeClr val="bg2">
                <a:lumMod val="20000"/>
                <a:lumOff val="80000"/>
              </a:schemeClr>
            </a:solidFill>
            <a:ln w="9525">
              <a:noFill/>
              <a:round/>
              <a:headEnd/>
              <a:tailEnd/>
            </a:ln>
            <a:effectLst/>
          </p:spPr>
          <p:txBody>
            <a:bodyPr lIns="90360" tIns="44280" rIns="90360" bIns="4428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Times New Roman" panose="02020603050405020304" pitchFamily="18" charset="0"/>
                </a:defRPr>
              </a:lvl9pPr>
            </a:lstStyle>
            <a:p>
              <a:pPr algn="ctr" eaLnBrk="1" hangingPunct="1">
                <a:spcBef>
                  <a:spcPts val="875"/>
                </a:spcBef>
                <a:defRPr/>
              </a:pPr>
              <a:r>
                <a:rPr lang="en-GB" altLang="zh-CN" sz="1800" b="1" i="1">
                  <a:solidFill>
                    <a:srgbClr val="990000"/>
                  </a:solidFill>
                  <a:latin typeface="微软雅黑" panose="020B0503020204020204" pitchFamily="34" charset="-122"/>
                  <a:ea typeface="微软雅黑" panose="020B0503020204020204" pitchFamily="34" charset="-122"/>
                </a:rPr>
                <a:t>Idx</a:t>
              </a:r>
            </a:p>
          </p:txBody>
        </p:sp>
        <p:sp>
          <p:nvSpPr>
            <p:cNvPr id="247878" name="Line 183">
              <a:extLst>
                <a:ext uri="{FF2B5EF4-FFF2-40B4-BE49-F238E27FC236}">
                  <a16:creationId xmlns:a16="http://schemas.microsoft.com/office/drawing/2014/main" id="{2DFE0F66-9455-5646-8303-7405FD163674}"/>
                </a:ext>
              </a:extLst>
            </p:cNvPr>
            <p:cNvSpPr>
              <a:spLocks noChangeShapeType="1"/>
            </p:cNvSpPr>
            <p:nvPr/>
          </p:nvSpPr>
          <p:spPr bwMode="auto">
            <a:xfrm>
              <a:off x="2940" y="2745"/>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79" name="Line 184">
              <a:extLst>
                <a:ext uri="{FF2B5EF4-FFF2-40B4-BE49-F238E27FC236}">
                  <a16:creationId xmlns:a16="http://schemas.microsoft.com/office/drawing/2014/main" id="{EC9FE141-809E-784D-93D8-A5F7422D59E8}"/>
                </a:ext>
              </a:extLst>
            </p:cNvPr>
            <p:cNvSpPr>
              <a:spLocks noChangeShapeType="1"/>
            </p:cNvSpPr>
            <p:nvPr/>
          </p:nvSpPr>
          <p:spPr bwMode="auto">
            <a:xfrm>
              <a:off x="2940" y="2922"/>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0" name="Line 185">
              <a:extLst>
                <a:ext uri="{FF2B5EF4-FFF2-40B4-BE49-F238E27FC236}">
                  <a16:creationId xmlns:a16="http://schemas.microsoft.com/office/drawing/2014/main" id="{1FA17B2F-CA0B-7842-AD80-3B94FD347518}"/>
                </a:ext>
              </a:extLst>
            </p:cNvPr>
            <p:cNvSpPr>
              <a:spLocks noChangeShapeType="1"/>
            </p:cNvSpPr>
            <p:nvPr/>
          </p:nvSpPr>
          <p:spPr bwMode="auto">
            <a:xfrm>
              <a:off x="2940" y="3099"/>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1" name="Line 186">
              <a:extLst>
                <a:ext uri="{FF2B5EF4-FFF2-40B4-BE49-F238E27FC236}">
                  <a16:creationId xmlns:a16="http://schemas.microsoft.com/office/drawing/2014/main" id="{86DC55AF-8D50-2A48-94D7-3E88EBC6190A}"/>
                </a:ext>
              </a:extLst>
            </p:cNvPr>
            <p:cNvSpPr>
              <a:spLocks noChangeShapeType="1"/>
            </p:cNvSpPr>
            <p:nvPr/>
          </p:nvSpPr>
          <p:spPr bwMode="auto">
            <a:xfrm>
              <a:off x="2940" y="3276"/>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2" name="Line 187">
              <a:extLst>
                <a:ext uri="{FF2B5EF4-FFF2-40B4-BE49-F238E27FC236}">
                  <a16:creationId xmlns:a16="http://schemas.microsoft.com/office/drawing/2014/main" id="{D7FBCAB1-F9E6-8142-9859-9FF75D138613}"/>
                </a:ext>
              </a:extLst>
            </p:cNvPr>
            <p:cNvSpPr>
              <a:spLocks noChangeShapeType="1"/>
            </p:cNvSpPr>
            <p:nvPr/>
          </p:nvSpPr>
          <p:spPr bwMode="auto">
            <a:xfrm>
              <a:off x="2940" y="3455"/>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3" name="Line 188">
              <a:extLst>
                <a:ext uri="{FF2B5EF4-FFF2-40B4-BE49-F238E27FC236}">
                  <a16:creationId xmlns:a16="http://schemas.microsoft.com/office/drawing/2014/main" id="{AF351ABD-CE3A-364A-AC0D-2F2D2F04834F}"/>
                </a:ext>
              </a:extLst>
            </p:cNvPr>
            <p:cNvSpPr>
              <a:spLocks noChangeShapeType="1"/>
            </p:cNvSpPr>
            <p:nvPr/>
          </p:nvSpPr>
          <p:spPr bwMode="auto">
            <a:xfrm>
              <a:off x="2940" y="3646"/>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4" name="Line 189">
              <a:extLst>
                <a:ext uri="{FF2B5EF4-FFF2-40B4-BE49-F238E27FC236}">
                  <a16:creationId xmlns:a16="http://schemas.microsoft.com/office/drawing/2014/main" id="{123E14BD-27AE-AE4C-9282-77DEA9BE3A24}"/>
                </a:ext>
              </a:extLst>
            </p:cNvPr>
            <p:cNvSpPr>
              <a:spLocks noChangeShapeType="1"/>
            </p:cNvSpPr>
            <p:nvPr/>
          </p:nvSpPr>
          <p:spPr bwMode="auto">
            <a:xfrm>
              <a:off x="2940" y="3823"/>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5" name="Line 190">
              <a:extLst>
                <a:ext uri="{FF2B5EF4-FFF2-40B4-BE49-F238E27FC236}">
                  <a16:creationId xmlns:a16="http://schemas.microsoft.com/office/drawing/2014/main" id="{37C65999-5B46-8F4E-BDC7-0FAD5325429F}"/>
                </a:ext>
              </a:extLst>
            </p:cNvPr>
            <p:cNvSpPr>
              <a:spLocks noChangeShapeType="1"/>
            </p:cNvSpPr>
            <p:nvPr/>
          </p:nvSpPr>
          <p:spPr bwMode="auto">
            <a:xfrm>
              <a:off x="2940" y="4000"/>
              <a:ext cx="2724" cy="1"/>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6" name="Line 197">
              <a:extLst>
                <a:ext uri="{FF2B5EF4-FFF2-40B4-BE49-F238E27FC236}">
                  <a16:creationId xmlns:a16="http://schemas.microsoft.com/office/drawing/2014/main" id="{B3A34EFD-6D40-624A-9309-304E366E699C}"/>
                </a:ext>
              </a:extLst>
            </p:cNvPr>
            <p:cNvSpPr>
              <a:spLocks noChangeShapeType="1"/>
            </p:cNvSpPr>
            <p:nvPr/>
          </p:nvSpPr>
          <p:spPr bwMode="auto">
            <a:xfrm>
              <a:off x="3319"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7" name="Line 198">
              <a:extLst>
                <a:ext uri="{FF2B5EF4-FFF2-40B4-BE49-F238E27FC236}">
                  <a16:creationId xmlns:a16="http://schemas.microsoft.com/office/drawing/2014/main" id="{2CCE0B60-D032-9049-9474-AC9899CED8F2}"/>
                </a:ext>
              </a:extLst>
            </p:cNvPr>
            <p:cNvSpPr>
              <a:spLocks noChangeShapeType="1"/>
            </p:cNvSpPr>
            <p:nvPr/>
          </p:nvSpPr>
          <p:spPr bwMode="auto">
            <a:xfrm>
              <a:off x="3709"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8" name="Line 199">
              <a:extLst>
                <a:ext uri="{FF2B5EF4-FFF2-40B4-BE49-F238E27FC236}">
                  <a16:creationId xmlns:a16="http://schemas.microsoft.com/office/drawing/2014/main" id="{E648C2D0-12F8-C14B-8FE0-DCB22AFA9323}"/>
                </a:ext>
              </a:extLst>
            </p:cNvPr>
            <p:cNvSpPr>
              <a:spLocks noChangeShapeType="1"/>
            </p:cNvSpPr>
            <p:nvPr/>
          </p:nvSpPr>
          <p:spPr bwMode="auto">
            <a:xfrm>
              <a:off x="4100"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89" name="Line 200">
              <a:extLst>
                <a:ext uri="{FF2B5EF4-FFF2-40B4-BE49-F238E27FC236}">
                  <a16:creationId xmlns:a16="http://schemas.microsoft.com/office/drawing/2014/main" id="{889DE2A9-0E59-1847-A805-00C20E869007}"/>
                </a:ext>
              </a:extLst>
            </p:cNvPr>
            <p:cNvSpPr>
              <a:spLocks noChangeShapeType="1"/>
            </p:cNvSpPr>
            <p:nvPr/>
          </p:nvSpPr>
          <p:spPr bwMode="auto">
            <a:xfrm>
              <a:off x="4492"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90" name="Line 201">
              <a:extLst>
                <a:ext uri="{FF2B5EF4-FFF2-40B4-BE49-F238E27FC236}">
                  <a16:creationId xmlns:a16="http://schemas.microsoft.com/office/drawing/2014/main" id="{4D33CB0C-117A-2648-992A-7A2D0BBB44A8}"/>
                </a:ext>
              </a:extLst>
            </p:cNvPr>
            <p:cNvSpPr>
              <a:spLocks noChangeShapeType="1"/>
            </p:cNvSpPr>
            <p:nvPr/>
          </p:nvSpPr>
          <p:spPr bwMode="auto">
            <a:xfrm>
              <a:off x="4883"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91" name="Line 202">
              <a:extLst>
                <a:ext uri="{FF2B5EF4-FFF2-40B4-BE49-F238E27FC236}">
                  <a16:creationId xmlns:a16="http://schemas.microsoft.com/office/drawing/2014/main" id="{134B8068-0F5E-C949-B0A6-DCA0A15D2BDF}"/>
                </a:ext>
              </a:extLst>
            </p:cNvPr>
            <p:cNvSpPr>
              <a:spLocks noChangeShapeType="1"/>
            </p:cNvSpPr>
            <p:nvPr/>
          </p:nvSpPr>
          <p:spPr bwMode="auto">
            <a:xfrm>
              <a:off x="5273" y="2568"/>
              <a:ext cx="1" cy="1609"/>
            </a:xfrm>
            <a:prstGeom prst="line">
              <a:avLst/>
            </a:prstGeom>
            <a:noFill/>
            <a:ln w="12600">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92" name="Line 206">
              <a:extLst>
                <a:ext uri="{FF2B5EF4-FFF2-40B4-BE49-F238E27FC236}">
                  <a16:creationId xmlns:a16="http://schemas.microsoft.com/office/drawing/2014/main" id="{6B2BD9CE-77BD-5549-B0C3-1E7C8165B961}"/>
                </a:ext>
              </a:extLst>
            </p:cNvPr>
            <p:cNvSpPr>
              <a:spLocks noChangeShapeType="1"/>
            </p:cNvSpPr>
            <p:nvPr/>
          </p:nvSpPr>
          <p:spPr bwMode="auto">
            <a:xfrm>
              <a:off x="5664" y="2568"/>
              <a:ext cx="1" cy="1609"/>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93" name="Line 207">
              <a:extLst>
                <a:ext uri="{FF2B5EF4-FFF2-40B4-BE49-F238E27FC236}">
                  <a16:creationId xmlns:a16="http://schemas.microsoft.com/office/drawing/2014/main" id="{915CA288-DEBD-7247-B986-7ADC97B2CE46}"/>
                </a:ext>
              </a:extLst>
            </p:cNvPr>
            <p:cNvSpPr>
              <a:spLocks noChangeShapeType="1"/>
            </p:cNvSpPr>
            <p:nvPr/>
          </p:nvSpPr>
          <p:spPr bwMode="auto">
            <a:xfrm>
              <a:off x="2940" y="4177"/>
              <a:ext cx="2724" cy="1"/>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94" name="Line 206">
              <a:extLst>
                <a:ext uri="{FF2B5EF4-FFF2-40B4-BE49-F238E27FC236}">
                  <a16:creationId xmlns:a16="http://schemas.microsoft.com/office/drawing/2014/main" id="{344E7D9E-4051-7441-B0DF-9CF8DA2D2744}"/>
                </a:ext>
              </a:extLst>
            </p:cNvPr>
            <p:cNvSpPr>
              <a:spLocks noChangeShapeType="1"/>
            </p:cNvSpPr>
            <p:nvPr/>
          </p:nvSpPr>
          <p:spPr bwMode="auto">
            <a:xfrm>
              <a:off x="2928" y="2572"/>
              <a:ext cx="1" cy="1609"/>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7895" name="Line 207">
              <a:extLst>
                <a:ext uri="{FF2B5EF4-FFF2-40B4-BE49-F238E27FC236}">
                  <a16:creationId xmlns:a16="http://schemas.microsoft.com/office/drawing/2014/main" id="{0FCD6D20-3325-3246-BB87-FE2E479C721D}"/>
                </a:ext>
              </a:extLst>
            </p:cNvPr>
            <p:cNvSpPr>
              <a:spLocks noChangeShapeType="1"/>
            </p:cNvSpPr>
            <p:nvPr/>
          </p:nvSpPr>
          <p:spPr bwMode="auto">
            <a:xfrm>
              <a:off x="2928" y="2580"/>
              <a:ext cx="2724" cy="1"/>
            </a:xfrm>
            <a:prstGeom prst="line">
              <a:avLst/>
            </a:prstGeom>
            <a:noFill/>
            <a:ln w="28575">
              <a:solidFill>
                <a:srgbClr val="000066"/>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1">
            <a:extLst>
              <a:ext uri="{FF2B5EF4-FFF2-40B4-BE49-F238E27FC236}">
                <a16:creationId xmlns:a16="http://schemas.microsoft.com/office/drawing/2014/main" id="{49F58D11-DF76-8E4E-A27C-BDA3EB308BF6}"/>
              </a:ext>
            </a:extLst>
          </p:cNvPr>
          <p:cNvSpPr>
            <a:spLocks noGrp="1" noChangeArrowheads="1"/>
          </p:cNvSpPr>
          <p:nvPr>
            <p:ph type="title" idx="4294967295"/>
          </p:nvPr>
        </p:nvSpPr>
        <p:spPr>
          <a:xfrm>
            <a:off x="244475" y="127000"/>
            <a:ext cx="8521700" cy="569913"/>
          </a:xfrm>
        </p:spPr>
        <p:txBody>
          <a:bodyPr lIns="91440" tIns="45720" rIns="91440" bIns="45720" anchor="ctr"/>
          <a:lstStyle/>
          <a:p>
            <a:pPr marL="119063" indent="-119063">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a:t>一个简化的存储系统举例（续）</a:t>
            </a:r>
            <a:endParaRPr lang="en-GB" altLang="zh-CN"/>
          </a:p>
        </p:txBody>
      </p:sp>
      <p:sp>
        <p:nvSpPr>
          <p:cNvPr id="249859" name="Rectangle 2">
            <a:extLst>
              <a:ext uri="{FF2B5EF4-FFF2-40B4-BE49-F238E27FC236}">
                <a16:creationId xmlns:a16="http://schemas.microsoft.com/office/drawing/2014/main" id="{E16F6B47-BA24-844F-BC14-D586DDF92B5A}"/>
              </a:ext>
            </a:extLst>
          </p:cNvPr>
          <p:cNvSpPr>
            <a:spLocks noGrp="1" noChangeArrowheads="1"/>
          </p:cNvSpPr>
          <p:nvPr>
            <p:ph type="body" idx="4294967295"/>
          </p:nvPr>
        </p:nvSpPr>
        <p:spPr>
          <a:xfrm>
            <a:off x="322263" y="800100"/>
            <a:ext cx="8307387" cy="5781675"/>
          </a:xfrm>
        </p:spPr>
        <p:txBody>
          <a:bodyPr lIns="91440" tIns="45720" rIns="91440" bIns="45720"/>
          <a:lstStyle/>
          <a:p>
            <a:pPr marL="222250" indent="-222250">
              <a:lnSpc>
                <a:spcPct val="120000"/>
              </a:lnSpc>
              <a:buFontTx/>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r>
              <a:rPr lang="zh-CN" altLang="en-GB" sz="2000">
                <a:latin typeface="微软雅黑" panose="020B0503020204020204" pitchFamily="34" charset="-122"/>
                <a:ea typeface="微软雅黑" panose="020B0503020204020204" pitchFamily="34" charset="-122"/>
              </a:rPr>
              <a:t>   假设该存储系统所在计算机采用小端方式， </a:t>
            </a:r>
            <a:r>
              <a:rPr lang="en-GB" altLang="zh-CN" sz="2000">
                <a:latin typeface="微软雅黑" panose="020B0503020204020204" pitchFamily="34" charset="-122"/>
                <a:ea typeface="微软雅黑" panose="020B0503020204020204" pitchFamily="34" charset="-122"/>
              </a:rPr>
              <a:t>CPU</a:t>
            </a:r>
            <a:r>
              <a:rPr lang="zh-CN" altLang="en-GB" sz="2000">
                <a:latin typeface="微软雅黑" panose="020B0503020204020204" pitchFamily="34" charset="-122"/>
                <a:ea typeface="微软雅黑" panose="020B0503020204020204" pitchFamily="34" charset="-122"/>
              </a:rPr>
              <a:t>执行某指令过程中要求访问一个</a:t>
            </a:r>
            <a:r>
              <a:rPr lang="en-GB" altLang="zh-CN" sz="2000">
                <a:solidFill>
                  <a:schemeClr val="accent1"/>
                </a:solidFill>
                <a:latin typeface="微软雅黑" panose="020B0503020204020204" pitchFamily="34" charset="-122"/>
                <a:ea typeface="微软雅黑" panose="020B0503020204020204" pitchFamily="34" charset="-122"/>
              </a:rPr>
              <a:t>16</a:t>
            </a:r>
            <a:r>
              <a:rPr lang="zh-CN" altLang="en-GB" sz="2000">
                <a:solidFill>
                  <a:schemeClr val="accent1"/>
                </a:solidFill>
                <a:latin typeface="微软雅黑" panose="020B0503020204020204" pitchFamily="34" charset="-122"/>
                <a:ea typeface="微软雅黑" panose="020B0503020204020204" pitchFamily="34" charset="-122"/>
              </a:rPr>
              <a:t>位数据</a:t>
            </a:r>
            <a:r>
              <a:rPr lang="zh-CN" altLang="en-GB" sz="2000">
                <a:latin typeface="微软雅黑" panose="020B0503020204020204" pitchFamily="34" charset="-122"/>
                <a:ea typeface="微软雅黑" panose="020B0503020204020204" pitchFamily="34" charset="-122"/>
              </a:rPr>
              <a:t>，给出的逻辑地址为</a:t>
            </a:r>
            <a:r>
              <a:rPr lang="en-GB" altLang="zh-CN" sz="2000">
                <a:latin typeface="微软雅黑" panose="020B0503020204020204" pitchFamily="34" charset="-122"/>
                <a:ea typeface="微软雅黑" panose="020B0503020204020204" pitchFamily="34" charset="-122"/>
              </a:rPr>
              <a:t>0x03D4</a:t>
            </a:r>
            <a:r>
              <a:rPr lang="zh-CN" altLang="en-GB" sz="2000">
                <a:latin typeface="微软雅黑" panose="020B0503020204020204" pitchFamily="34" charset="-122"/>
                <a:ea typeface="微软雅黑" panose="020B0503020204020204" pitchFamily="34" charset="-122"/>
              </a:rPr>
              <a:t>，说明访存过程。</a:t>
            </a:r>
          </a:p>
          <a:p>
            <a:pPr marL="222250" indent="-222250">
              <a:lnSpc>
                <a:spcPct val="12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2000">
              <a:latin typeface="微软雅黑" panose="020B0503020204020204" pitchFamily="34" charset="-122"/>
              <a:ea typeface="微软雅黑" panose="020B0503020204020204" pitchFamily="34" charset="-122"/>
            </a:endParaRPr>
          </a:p>
          <a:p>
            <a:pPr marL="222250" indent="-222250">
              <a:lnSpc>
                <a:spcPct val="12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2000">
              <a:latin typeface="微软雅黑" panose="020B0503020204020204" pitchFamily="34" charset="-122"/>
              <a:ea typeface="微软雅黑" panose="020B0503020204020204" pitchFamily="34" charset="-122"/>
            </a:endParaRPr>
          </a:p>
          <a:p>
            <a:pPr marL="222250" indent="-222250">
              <a:lnSpc>
                <a:spcPct val="12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2000">
              <a:latin typeface="微软雅黑" panose="020B0503020204020204" pitchFamily="34" charset="-122"/>
              <a:ea typeface="微软雅黑" panose="020B0503020204020204" pitchFamily="34" charset="-122"/>
            </a:endParaRPr>
          </a:p>
          <a:p>
            <a:pPr marL="222250" indent="-222250">
              <a:lnSpc>
                <a:spcPct val="9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1200">
              <a:ea typeface="宋体" panose="02010600030101010101" pitchFamily="2" charset="-122"/>
            </a:endParaRPr>
          </a:p>
          <a:p>
            <a:pPr marL="558800" lvl="1" indent="-220663">
              <a:lnSpc>
                <a:spcPct val="78000"/>
              </a:lnSpc>
              <a:spcBef>
                <a:spcPts val="500"/>
              </a:spcBef>
              <a:buSzPct val="75000"/>
              <a:buFontTx/>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1400">
              <a:ea typeface="宋体" panose="02010600030101010101" pitchFamily="2" charset="-122"/>
            </a:endParaRPr>
          </a:p>
          <a:p>
            <a:pPr marL="558800" lvl="1" indent="-220663">
              <a:lnSpc>
                <a:spcPct val="78000"/>
              </a:lnSpc>
              <a:spcBef>
                <a:spcPts val="500"/>
              </a:spcBef>
              <a:buSzPct val="75000"/>
              <a:buFontTx/>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r>
              <a:rPr lang="en-GB" altLang="zh-CN" sz="1600">
                <a:latin typeface="Arial Black" panose="020B0604020202020204" pitchFamily="34" charset="0"/>
                <a:ea typeface="宋体" panose="02010600030101010101" pitchFamily="2" charset="-122"/>
              </a:rPr>
              <a:t>VPN ___  TLBI ___  TLBT ____  TLB Hit? __  Page Fault? __   PPN: ____</a:t>
            </a:r>
          </a:p>
          <a:p>
            <a:pPr marL="222250" indent="-222250">
              <a:lnSpc>
                <a:spcPct val="15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r>
              <a:rPr lang="zh-CN" altLang="en-GB" sz="2000">
                <a:ea typeface="微软雅黑" panose="020B0503020204020204" pitchFamily="34" charset="-122"/>
              </a:rPr>
              <a:t>物理地址为</a:t>
            </a:r>
          </a:p>
          <a:p>
            <a:pPr marL="222250" indent="-222250">
              <a:lnSpc>
                <a:spcPct val="15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900">
              <a:ea typeface="宋体" panose="02010600030101010101" pitchFamily="2" charset="-122"/>
            </a:endParaRPr>
          </a:p>
          <a:p>
            <a:pPr marL="222250" indent="-222250">
              <a:lnSpc>
                <a:spcPct val="15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900">
              <a:ea typeface="宋体" panose="02010600030101010101" pitchFamily="2" charset="-122"/>
            </a:endParaRPr>
          </a:p>
          <a:p>
            <a:pPr marL="222250" indent="-222250">
              <a:lnSpc>
                <a:spcPct val="15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900">
              <a:ea typeface="宋体" panose="02010600030101010101" pitchFamily="2" charset="-122"/>
            </a:endParaRPr>
          </a:p>
          <a:p>
            <a:pPr marL="222250" indent="-222250">
              <a:lnSpc>
                <a:spcPct val="150000"/>
              </a:lnSpc>
              <a:buFont typeface="Wingdings" pitchFamily="2" charset="2"/>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a:ea typeface="宋体" panose="02010600030101010101" pitchFamily="2" charset="-122"/>
            </a:endParaRPr>
          </a:p>
          <a:p>
            <a:pPr marL="558800" lvl="1" indent="-220663">
              <a:lnSpc>
                <a:spcPct val="78000"/>
              </a:lnSpc>
              <a:buSzPct val="75000"/>
              <a:buFontTx/>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1400">
              <a:ea typeface="宋体" panose="02010600030101010101" pitchFamily="2" charset="-122"/>
            </a:endParaRPr>
          </a:p>
          <a:p>
            <a:pPr marL="558800" lvl="1" indent="-220663">
              <a:lnSpc>
                <a:spcPct val="78000"/>
              </a:lnSpc>
              <a:buSzPct val="75000"/>
              <a:buFontTx/>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1400">
              <a:ea typeface="宋体" panose="02010600030101010101" pitchFamily="2" charset="-122"/>
            </a:endParaRPr>
          </a:p>
          <a:p>
            <a:pPr marL="558800" lvl="1" indent="-220663">
              <a:lnSpc>
                <a:spcPct val="78000"/>
              </a:lnSpc>
              <a:buSzPct val="75000"/>
              <a:buFontTx/>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endParaRPr lang="en-GB" altLang="zh-CN" sz="1400">
              <a:ea typeface="宋体" panose="02010600030101010101" pitchFamily="2" charset="-122"/>
            </a:endParaRPr>
          </a:p>
          <a:p>
            <a:pPr marL="558800" lvl="1" indent="-220663">
              <a:lnSpc>
                <a:spcPct val="78000"/>
              </a:lnSpc>
              <a:spcBef>
                <a:spcPts val="500"/>
              </a:spcBef>
              <a:buSzPct val="75000"/>
              <a:buFontTx/>
              <a:buNone/>
              <a:tabLst>
                <a:tab pos="222250" algn="l"/>
                <a:tab pos="749300" algn="l"/>
                <a:tab pos="1663700" algn="l"/>
                <a:tab pos="2578100" algn="l"/>
                <a:tab pos="3492500" algn="l"/>
                <a:tab pos="4406900" algn="l"/>
                <a:tab pos="5321300" algn="l"/>
                <a:tab pos="6235700" algn="l"/>
                <a:tab pos="7150100" algn="l"/>
                <a:tab pos="8064500" algn="l"/>
                <a:tab pos="8978900" algn="l"/>
                <a:tab pos="9893300" algn="l"/>
              </a:tabLst>
            </a:pPr>
            <a:r>
              <a:rPr lang="en-GB" altLang="zh-CN" sz="1400">
                <a:ea typeface="宋体" panose="02010600030101010101" pitchFamily="2" charset="-122"/>
              </a:rPr>
              <a:t>	</a:t>
            </a:r>
            <a:r>
              <a:rPr lang="en-GB" altLang="zh-CN" sz="1600">
                <a:latin typeface="Arial Black" panose="020B0604020202020204" pitchFamily="34" charset="0"/>
                <a:ea typeface="宋体" panose="02010600030101010101" pitchFamily="2" charset="-122"/>
              </a:rPr>
              <a:t>CO ___	CI___	CT ____	     cache Hit? __              </a:t>
            </a:r>
            <a:r>
              <a:rPr lang="zh-CN" altLang="en-GB">
                <a:latin typeface="微软雅黑" panose="020B0503020204020204" pitchFamily="34" charset="-122"/>
                <a:ea typeface="微软雅黑" panose="020B0503020204020204" pitchFamily="34" charset="-122"/>
              </a:rPr>
              <a:t>数据</a:t>
            </a:r>
            <a:r>
              <a:rPr lang="en-GB" altLang="zh-CN">
                <a:latin typeface="微软雅黑" panose="020B0503020204020204" pitchFamily="34" charset="-122"/>
                <a:ea typeface="微软雅黑" panose="020B0503020204020204" pitchFamily="34" charset="-122"/>
              </a:rPr>
              <a:t>: ____</a:t>
            </a:r>
          </a:p>
        </p:txBody>
      </p:sp>
      <p:sp>
        <p:nvSpPr>
          <p:cNvPr id="38016" name="Text Box 128">
            <a:extLst>
              <a:ext uri="{FF2B5EF4-FFF2-40B4-BE49-F238E27FC236}">
                <a16:creationId xmlns:a16="http://schemas.microsoft.com/office/drawing/2014/main" id="{01A2E38C-D11C-2548-B6F2-869452D357F6}"/>
              </a:ext>
            </a:extLst>
          </p:cNvPr>
          <p:cNvSpPr txBox="1">
            <a:spLocks noChangeArrowheads="1"/>
          </p:cNvSpPr>
          <p:nvPr/>
        </p:nvSpPr>
        <p:spPr bwMode="auto">
          <a:xfrm>
            <a:off x="1173163" y="3260725"/>
            <a:ext cx="631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0x0F</a:t>
            </a:r>
          </a:p>
        </p:txBody>
      </p:sp>
      <p:sp>
        <p:nvSpPr>
          <p:cNvPr id="38017" name="Text Box 129">
            <a:extLst>
              <a:ext uri="{FF2B5EF4-FFF2-40B4-BE49-F238E27FC236}">
                <a16:creationId xmlns:a16="http://schemas.microsoft.com/office/drawing/2014/main" id="{C0A82F85-67E6-B548-84D5-23B630CF3085}"/>
              </a:ext>
            </a:extLst>
          </p:cNvPr>
          <p:cNvSpPr txBox="1">
            <a:spLocks noChangeArrowheads="1"/>
          </p:cNvSpPr>
          <p:nvPr/>
        </p:nvSpPr>
        <p:spPr bwMode="auto">
          <a:xfrm>
            <a:off x="2293938" y="3275013"/>
            <a:ext cx="4968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0x3</a:t>
            </a:r>
          </a:p>
        </p:txBody>
      </p:sp>
      <p:sp>
        <p:nvSpPr>
          <p:cNvPr id="38018" name="Text Box 130">
            <a:extLst>
              <a:ext uri="{FF2B5EF4-FFF2-40B4-BE49-F238E27FC236}">
                <a16:creationId xmlns:a16="http://schemas.microsoft.com/office/drawing/2014/main" id="{8D923D62-2516-BE43-85A5-20A449CC3A08}"/>
              </a:ext>
            </a:extLst>
          </p:cNvPr>
          <p:cNvSpPr txBox="1">
            <a:spLocks noChangeArrowheads="1"/>
          </p:cNvSpPr>
          <p:nvPr/>
        </p:nvSpPr>
        <p:spPr bwMode="auto">
          <a:xfrm>
            <a:off x="3373438" y="3332163"/>
            <a:ext cx="631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0x03</a:t>
            </a:r>
          </a:p>
        </p:txBody>
      </p:sp>
      <p:sp>
        <p:nvSpPr>
          <p:cNvPr id="38019" name="Text Box 131">
            <a:extLst>
              <a:ext uri="{FF2B5EF4-FFF2-40B4-BE49-F238E27FC236}">
                <a16:creationId xmlns:a16="http://schemas.microsoft.com/office/drawing/2014/main" id="{FCF2F355-450F-3141-8E6F-14981008765F}"/>
              </a:ext>
            </a:extLst>
          </p:cNvPr>
          <p:cNvSpPr txBox="1">
            <a:spLocks noChangeArrowheads="1"/>
          </p:cNvSpPr>
          <p:nvPr/>
        </p:nvSpPr>
        <p:spPr bwMode="auto">
          <a:xfrm>
            <a:off x="4973638" y="3405188"/>
            <a:ext cx="250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Y</a:t>
            </a:r>
          </a:p>
        </p:txBody>
      </p:sp>
      <p:sp>
        <p:nvSpPr>
          <p:cNvPr id="38021" name="Text Box 133">
            <a:extLst>
              <a:ext uri="{FF2B5EF4-FFF2-40B4-BE49-F238E27FC236}">
                <a16:creationId xmlns:a16="http://schemas.microsoft.com/office/drawing/2014/main" id="{6A87DF95-AE24-A44A-BF59-D660171FA922}"/>
              </a:ext>
            </a:extLst>
          </p:cNvPr>
          <p:cNvSpPr txBox="1">
            <a:spLocks noChangeArrowheads="1"/>
          </p:cNvSpPr>
          <p:nvPr/>
        </p:nvSpPr>
        <p:spPr bwMode="auto">
          <a:xfrm>
            <a:off x="6691313" y="3375025"/>
            <a:ext cx="261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N</a:t>
            </a:r>
          </a:p>
        </p:txBody>
      </p:sp>
      <p:sp>
        <p:nvSpPr>
          <p:cNvPr id="38022" name="Text Box 134">
            <a:extLst>
              <a:ext uri="{FF2B5EF4-FFF2-40B4-BE49-F238E27FC236}">
                <a16:creationId xmlns:a16="http://schemas.microsoft.com/office/drawing/2014/main" id="{24C71C4F-B4E6-BB41-8278-309D42987D07}"/>
              </a:ext>
            </a:extLst>
          </p:cNvPr>
          <p:cNvSpPr txBox="1">
            <a:spLocks noChangeArrowheads="1"/>
          </p:cNvSpPr>
          <p:nvPr/>
        </p:nvSpPr>
        <p:spPr bwMode="auto">
          <a:xfrm>
            <a:off x="7637463" y="3348038"/>
            <a:ext cx="6556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0x0D</a:t>
            </a:r>
          </a:p>
        </p:txBody>
      </p:sp>
      <p:sp>
        <p:nvSpPr>
          <p:cNvPr id="38037" name="Text Box 149">
            <a:extLst>
              <a:ext uri="{FF2B5EF4-FFF2-40B4-BE49-F238E27FC236}">
                <a16:creationId xmlns:a16="http://schemas.microsoft.com/office/drawing/2014/main" id="{0CE5982E-FA48-9547-8EA4-B251B41381D7}"/>
              </a:ext>
            </a:extLst>
          </p:cNvPr>
          <p:cNvSpPr txBox="1">
            <a:spLocks noChangeArrowheads="1"/>
          </p:cNvSpPr>
          <p:nvPr/>
        </p:nvSpPr>
        <p:spPr bwMode="auto">
          <a:xfrm>
            <a:off x="1401763" y="6134100"/>
            <a:ext cx="227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a:t>
            </a:r>
          </a:p>
        </p:txBody>
      </p:sp>
      <p:sp>
        <p:nvSpPr>
          <p:cNvPr id="38038" name="Text Box 150">
            <a:extLst>
              <a:ext uri="{FF2B5EF4-FFF2-40B4-BE49-F238E27FC236}">
                <a16:creationId xmlns:a16="http://schemas.microsoft.com/office/drawing/2014/main" id="{0F4EA96B-E704-1140-8A13-85CA1BBD8734}"/>
              </a:ext>
            </a:extLst>
          </p:cNvPr>
          <p:cNvSpPr txBox="1">
            <a:spLocks noChangeArrowheads="1"/>
          </p:cNvSpPr>
          <p:nvPr/>
        </p:nvSpPr>
        <p:spPr bwMode="auto">
          <a:xfrm>
            <a:off x="2349500" y="6105525"/>
            <a:ext cx="4968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0x5</a:t>
            </a:r>
          </a:p>
        </p:txBody>
      </p:sp>
      <p:sp>
        <p:nvSpPr>
          <p:cNvPr id="38039" name="Text Box 151">
            <a:extLst>
              <a:ext uri="{FF2B5EF4-FFF2-40B4-BE49-F238E27FC236}">
                <a16:creationId xmlns:a16="http://schemas.microsoft.com/office/drawing/2014/main" id="{D950F4DB-F4F2-104C-BBC5-B904053E5B01}"/>
              </a:ext>
            </a:extLst>
          </p:cNvPr>
          <p:cNvSpPr txBox="1">
            <a:spLocks noChangeArrowheads="1"/>
          </p:cNvSpPr>
          <p:nvPr/>
        </p:nvSpPr>
        <p:spPr bwMode="auto">
          <a:xfrm>
            <a:off x="3336925" y="6107113"/>
            <a:ext cx="655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0x0D</a:t>
            </a:r>
          </a:p>
        </p:txBody>
      </p:sp>
      <p:sp>
        <p:nvSpPr>
          <p:cNvPr id="38041" name="Text Box 153">
            <a:extLst>
              <a:ext uri="{FF2B5EF4-FFF2-40B4-BE49-F238E27FC236}">
                <a16:creationId xmlns:a16="http://schemas.microsoft.com/office/drawing/2014/main" id="{7DDA7AA5-B7EC-DA45-ACCF-B4B0D79CF601}"/>
              </a:ext>
            </a:extLst>
          </p:cNvPr>
          <p:cNvSpPr txBox="1">
            <a:spLocks noChangeArrowheads="1"/>
          </p:cNvSpPr>
          <p:nvPr/>
        </p:nvSpPr>
        <p:spPr bwMode="auto">
          <a:xfrm>
            <a:off x="5586413" y="6148388"/>
            <a:ext cx="2508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Y</a:t>
            </a:r>
          </a:p>
        </p:txBody>
      </p:sp>
      <p:sp>
        <p:nvSpPr>
          <p:cNvPr id="38042" name="Text Box 154">
            <a:extLst>
              <a:ext uri="{FF2B5EF4-FFF2-40B4-BE49-F238E27FC236}">
                <a16:creationId xmlns:a16="http://schemas.microsoft.com/office/drawing/2014/main" id="{92527EFE-2432-3344-A679-56236EAA9E3B}"/>
              </a:ext>
            </a:extLst>
          </p:cNvPr>
          <p:cNvSpPr txBox="1">
            <a:spLocks noChangeArrowheads="1"/>
          </p:cNvSpPr>
          <p:nvPr/>
        </p:nvSpPr>
        <p:spPr bwMode="auto">
          <a:xfrm>
            <a:off x="7185025" y="6134100"/>
            <a:ext cx="901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b="1">
                <a:solidFill>
                  <a:srgbClr val="C00000"/>
                </a:solidFill>
                <a:latin typeface="Arial Black" panose="020B0604020202020204" pitchFamily="34" charset="0"/>
                <a:ea typeface="宋体" panose="02010600030101010101" pitchFamily="2" charset="-122"/>
              </a:rPr>
              <a:t>0x7236</a:t>
            </a:r>
          </a:p>
        </p:txBody>
      </p:sp>
      <p:grpSp>
        <p:nvGrpSpPr>
          <p:cNvPr id="748666" name="Group 122">
            <a:extLst>
              <a:ext uri="{FF2B5EF4-FFF2-40B4-BE49-F238E27FC236}">
                <a16:creationId xmlns:a16="http://schemas.microsoft.com/office/drawing/2014/main" id="{F73C8E6C-3B23-2B49-9597-6B6E917DADF9}"/>
              </a:ext>
            </a:extLst>
          </p:cNvPr>
          <p:cNvGrpSpPr>
            <a:grpSpLocks/>
          </p:cNvGrpSpPr>
          <p:nvPr/>
        </p:nvGrpSpPr>
        <p:grpSpPr bwMode="auto">
          <a:xfrm>
            <a:off x="292100" y="1778000"/>
            <a:ext cx="8766175" cy="1431925"/>
            <a:chOff x="157" y="1102"/>
            <a:chExt cx="5522" cy="902"/>
          </a:xfrm>
        </p:grpSpPr>
        <p:grpSp>
          <p:nvGrpSpPr>
            <p:cNvPr id="249929" name="Group 119">
              <a:extLst>
                <a:ext uri="{FF2B5EF4-FFF2-40B4-BE49-F238E27FC236}">
                  <a16:creationId xmlns:a16="http://schemas.microsoft.com/office/drawing/2014/main" id="{838661E1-DE78-8244-B434-C2A127185730}"/>
                </a:ext>
              </a:extLst>
            </p:cNvPr>
            <p:cNvGrpSpPr>
              <a:grpSpLocks/>
            </p:cNvGrpSpPr>
            <p:nvPr/>
          </p:nvGrpSpPr>
          <p:grpSpPr bwMode="auto">
            <a:xfrm>
              <a:off x="157" y="1102"/>
              <a:ext cx="5522" cy="902"/>
              <a:chOff x="686" y="1432"/>
              <a:chExt cx="4298" cy="849"/>
            </a:xfrm>
          </p:grpSpPr>
          <p:sp>
            <p:nvSpPr>
              <p:cNvPr id="37894" name="Rectangle 6">
                <a:extLst>
                  <a:ext uri="{FF2B5EF4-FFF2-40B4-BE49-F238E27FC236}">
                    <a16:creationId xmlns:a16="http://schemas.microsoft.com/office/drawing/2014/main" id="{BB870A77-04B1-4B4B-B452-B1FC2EE95922}"/>
                  </a:ext>
                </a:extLst>
              </p:cNvPr>
              <p:cNvSpPr>
                <a:spLocks noChangeArrowheads="1"/>
              </p:cNvSpPr>
              <p:nvPr/>
            </p:nvSpPr>
            <p:spPr bwMode="auto">
              <a:xfrm>
                <a:off x="686" y="1792"/>
                <a:ext cx="307"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32" name="Rectangle 7">
                <a:extLst>
                  <a:ext uri="{FF2B5EF4-FFF2-40B4-BE49-F238E27FC236}">
                    <a16:creationId xmlns:a16="http://schemas.microsoft.com/office/drawing/2014/main" id="{64C4B186-9961-F744-A023-ECA848F7294C}"/>
                  </a:ext>
                </a:extLst>
              </p:cNvPr>
              <p:cNvSpPr>
                <a:spLocks noChangeArrowheads="1"/>
              </p:cNvSpPr>
              <p:nvPr/>
            </p:nvSpPr>
            <p:spPr bwMode="auto">
              <a:xfrm>
                <a:off x="686"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13</a:t>
                </a:r>
              </a:p>
            </p:txBody>
          </p:sp>
          <p:sp>
            <p:nvSpPr>
              <p:cNvPr id="37897" name="Rectangle 9">
                <a:extLst>
                  <a:ext uri="{FF2B5EF4-FFF2-40B4-BE49-F238E27FC236}">
                    <a16:creationId xmlns:a16="http://schemas.microsoft.com/office/drawing/2014/main" id="{09841CD3-BD97-1047-A475-D3386896BAD2}"/>
                  </a:ext>
                </a:extLst>
              </p:cNvPr>
              <p:cNvSpPr>
                <a:spLocks noChangeArrowheads="1"/>
              </p:cNvSpPr>
              <p:nvPr/>
            </p:nvSpPr>
            <p:spPr bwMode="auto">
              <a:xfrm>
                <a:off x="993" y="1792"/>
                <a:ext cx="307"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34" name="Rectangle 10">
                <a:extLst>
                  <a:ext uri="{FF2B5EF4-FFF2-40B4-BE49-F238E27FC236}">
                    <a16:creationId xmlns:a16="http://schemas.microsoft.com/office/drawing/2014/main" id="{E876F134-6C59-8048-BE93-6B29D9BFBDD8}"/>
                  </a:ext>
                </a:extLst>
              </p:cNvPr>
              <p:cNvSpPr>
                <a:spLocks noChangeArrowheads="1"/>
              </p:cNvSpPr>
              <p:nvPr/>
            </p:nvSpPr>
            <p:spPr bwMode="auto">
              <a:xfrm>
                <a:off x="993"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12</a:t>
                </a:r>
              </a:p>
            </p:txBody>
          </p:sp>
          <p:sp>
            <p:nvSpPr>
              <p:cNvPr id="37900" name="Rectangle 12">
                <a:extLst>
                  <a:ext uri="{FF2B5EF4-FFF2-40B4-BE49-F238E27FC236}">
                    <a16:creationId xmlns:a16="http://schemas.microsoft.com/office/drawing/2014/main" id="{E8CC85DB-8890-6E40-B197-8FCA21B0A7FD}"/>
                  </a:ext>
                </a:extLst>
              </p:cNvPr>
              <p:cNvSpPr>
                <a:spLocks noChangeArrowheads="1"/>
              </p:cNvSpPr>
              <p:nvPr/>
            </p:nvSpPr>
            <p:spPr bwMode="auto">
              <a:xfrm>
                <a:off x="1300" y="1792"/>
                <a:ext cx="307"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36" name="Rectangle 13">
                <a:extLst>
                  <a:ext uri="{FF2B5EF4-FFF2-40B4-BE49-F238E27FC236}">
                    <a16:creationId xmlns:a16="http://schemas.microsoft.com/office/drawing/2014/main" id="{C723DE32-D20C-E24D-80D6-2D77E2475F81}"/>
                  </a:ext>
                </a:extLst>
              </p:cNvPr>
              <p:cNvSpPr>
                <a:spLocks noChangeArrowheads="1"/>
              </p:cNvSpPr>
              <p:nvPr/>
            </p:nvSpPr>
            <p:spPr bwMode="auto">
              <a:xfrm>
                <a:off x="1300"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11</a:t>
                </a:r>
              </a:p>
            </p:txBody>
          </p:sp>
          <p:sp>
            <p:nvSpPr>
              <p:cNvPr id="37903" name="Rectangle 15">
                <a:extLst>
                  <a:ext uri="{FF2B5EF4-FFF2-40B4-BE49-F238E27FC236}">
                    <a16:creationId xmlns:a16="http://schemas.microsoft.com/office/drawing/2014/main" id="{B64AB0D9-B82F-B84B-8F8E-ADC3E21FA170}"/>
                  </a:ext>
                </a:extLst>
              </p:cNvPr>
              <p:cNvSpPr>
                <a:spLocks noChangeArrowheads="1"/>
              </p:cNvSpPr>
              <p:nvPr/>
            </p:nvSpPr>
            <p:spPr bwMode="auto">
              <a:xfrm>
                <a:off x="1607" y="1792"/>
                <a:ext cx="307"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38" name="Rectangle 16">
                <a:extLst>
                  <a:ext uri="{FF2B5EF4-FFF2-40B4-BE49-F238E27FC236}">
                    <a16:creationId xmlns:a16="http://schemas.microsoft.com/office/drawing/2014/main" id="{B7D10307-A9AA-9E44-9918-F4388F657B2F}"/>
                  </a:ext>
                </a:extLst>
              </p:cNvPr>
              <p:cNvSpPr>
                <a:spLocks noChangeArrowheads="1"/>
              </p:cNvSpPr>
              <p:nvPr/>
            </p:nvSpPr>
            <p:spPr bwMode="auto">
              <a:xfrm>
                <a:off x="1607"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10</a:t>
                </a:r>
              </a:p>
            </p:txBody>
          </p:sp>
          <p:sp>
            <p:nvSpPr>
              <p:cNvPr id="37906" name="Rectangle 18">
                <a:extLst>
                  <a:ext uri="{FF2B5EF4-FFF2-40B4-BE49-F238E27FC236}">
                    <a16:creationId xmlns:a16="http://schemas.microsoft.com/office/drawing/2014/main" id="{1C8E5D46-4693-EF48-9CAA-B9D93324FCA9}"/>
                  </a:ext>
                </a:extLst>
              </p:cNvPr>
              <p:cNvSpPr>
                <a:spLocks noChangeArrowheads="1"/>
              </p:cNvSpPr>
              <p:nvPr/>
            </p:nvSpPr>
            <p:spPr bwMode="auto">
              <a:xfrm>
                <a:off x="1914" y="1792"/>
                <a:ext cx="307"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40" name="Rectangle 19">
                <a:extLst>
                  <a:ext uri="{FF2B5EF4-FFF2-40B4-BE49-F238E27FC236}">
                    <a16:creationId xmlns:a16="http://schemas.microsoft.com/office/drawing/2014/main" id="{D5E92DFE-F5E1-5F41-AAAB-F2E350CEDCDF}"/>
                  </a:ext>
                </a:extLst>
              </p:cNvPr>
              <p:cNvSpPr>
                <a:spLocks noChangeArrowheads="1"/>
              </p:cNvSpPr>
              <p:nvPr/>
            </p:nvSpPr>
            <p:spPr bwMode="auto">
              <a:xfrm>
                <a:off x="1914"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9</a:t>
                </a:r>
              </a:p>
            </p:txBody>
          </p:sp>
          <p:sp>
            <p:nvSpPr>
              <p:cNvPr id="37909" name="Rectangle 21">
                <a:extLst>
                  <a:ext uri="{FF2B5EF4-FFF2-40B4-BE49-F238E27FC236}">
                    <a16:creationId xmlns:a16="http://schemas.microsoft.com/office/drawing/2014/main" id="{6D05209B-F792-8B48-B239-7DE16EC8BDD4}"/>
                  </a:ext>
                </a:extLst>
              </p:cNvPr>
              <p:cNvSpPr>
                <a:spLocks noChangeArrowheads="1"/>
              </p:cNvSpPr>
              <p:nvPr/>
            </p:nvSpPr>
            <p:spPr bwMode="auto">
              <a:xfrm>
                <a:off x="2221" y="1792"/>
                <a:ext cx="307" cy="192"/>
              </a:xfrm>
              <a:prstGeom prst="rect">
                <a:avLst/>
              </a:prstGeom>
              <a:solidFill>
                <a:schemeClr val="bg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42" name="Rectangle 22">
                <a:extLst>
                  <a:ext uri="{FF2B5EF4-FFF2-40B4-BE49-F238E27FC236}">
                    <a16:creationId xmlns:a16="http://schemas.microsoft.com/office/drawing/2014/main" id="{10AFBA9C-6967-1447-BE4F-4580B8837DD3}"/>
                  </a:ext>
                </a:extLst>
              </p:cNvPr>
              <p:cNvSpPr>
                <a:spLocks noChangeArrowheads="1"/>
              </p:cNvSpPr>
              <p:nvPr/>
            </p:nvSpPr>
            <p:spPr bwMode="auto">
              <a:xfrm>
                <a:off x="2221"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8</a:t>
                </a:r>
              </a:p>
            </p:txBody>
          </p:sp>
          <p:sp>
            <p:nvSpPr>
              <p:cNvPr id="37912" name="Rectangle 24">
                <a:extLst>
                  <a:ext uri="{FF2B5EF4-FFF2-40B4-BE49-F238E27FC236}">
                    <a16:creationId xmlns:a16="http://schemas.microsoft.com/office/drawing/2014/main" id="{B72052A5-7C3E-7547-9867-1B6EFB0778F9}"/>
                  </a:ext>
                </a:extLst>
              </p:cNvPr>
              <p:cNvSpPr>
                <a:spLocks noChangeArrowheads="1"/>
              </p:cNvSpPr>
              <p:nvPr/>
            </p:nvSpPr>
            <p:spPr bwMode="auto">
              <a:xfrm>
                <a:off x="2528" y="1792"/>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44" name="Rectangle 25">
                <a:extLst>
                  <a:ext uri="{FF2B5EF4-FFF2-40B4-BE49-F238E27FC236}">
                    <a16:creationId xmlns:a16="http://schemas.microsoft.com/office/drawing/2014/main" id="{0A246293-61EF-3E4C-A31E-578EC44A6375}"/>
                  </a:ext>
                </a:extLst>
              </p:cNvPr>
              <p:cNvSpPr>
                <a:spLocks noChangeArrowheads="1"/>
              </p:cNvSpPr>
              <p:nvPr/>
            </p:nvSpPr>
            <p:spPr bwMode="auto">
              <a:xfrm>
                <a:off x="2528"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7</a:t>
                </a:r>
              </a:p>
            </p:txBody>
          </p:sp>
          <p:sp>
            <p:nvSpPr>
              <p:cNvPr id="37915" name="Rectangle 27">
                <a:extLst>
                  <a:ext uri="{FF2B5EF4-FFF2-40B4-BE49-F238E27FC236}">
                    <a16:creationId xmlns:a16="http://schemas.microsoft.com/office/drawing/2014/main" id="{529F251C-55FE-2C45-8E4E-7A943774BA04}"/>
                  </a:ext>
                </a:extLst>
              </p:cNvPr>
              <p:cNvSpPr>
                <a:spLocks noChangeArrowheads="1"/>
              </p:cNvSpPr>
              <p:nvPr/>
            </p:nvSpPr>
            <p:spPr bwMode="auto">
              <a:xfrm>
                <a:off x="2835" y="1792"/>
                <a:ext cx="307" cy="192"/>
              </a:xfrm>
              <a:prstGeom prst="rect">
                <a:avLst/>
              </a:prstGeom>
              <a:solidFill>
                <a:schemeClr val="bg1">
                  <a:lumMod val="95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46" name="Rectangle 28">
                <a:extLst>
                  <a:ext uri="{FF2B5EF4-FFF2-40B4-BE49-F238E27FC236}">
                    <a16:creationId xmlns:a16="http://schemas.microsoft.com/office/drawing/2014/main" id="{F2EBE1F1-3232-6C42-B59B-D438E8223E4B}"/>
                  </a:ext>
                </a:extLst>
              </p:cNvPr>
              <p:cNvSpPr>
                <a:spLocks noChangeArrowheads="1"/>
              </p:cNvSpPr>
              <p:nvPr/>
            </p:nvSpPr>
            <p:spPr bwMode="auto">
              <a:xfrm>
                <a:off x="2835"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6</a:t>
                </a:r>
              </a:p>
            </p:txBody>
          </p:sp>
          <p:sp>
            <p:nvSpPr>
              <p:cNvPr id="37918" name="Rectangle 30">
                <a:extLst>
                  <a:ext uri="{FF2B5EF4-FFF2-40B4-BE49-F238E27FC236}">
                    <a16:creationId xmlns:a16="http://schemas.microsoft.com/office/drawing/2014/main" id="{289F8209-CB9C-534D-A1E8-C4DEE2F4DBC0}"/>
                  </a:ext>
                </a:extLst>
              </p:cNvPr>
              <p:cNvSpPr>
                <a:spLocks noChangeArrowheads="1"/>
              </p:cNvSpPr>
              <p:nvPr/>
            </p:nvSpPr>
            <p:spPr bwMode="auto">
              <a:xfrm>
                <a:off x="3142" y="1792"/>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48" name="Rectangle 31">
                <a:extLst>
                  <a:ext uri="{FF2B5EF4-FFF2-40B4-BE49-F238E27FC236}">
                    <a16:creationId xmlns:a16="http://schemas.microsoft.com/office/drawing/2014/main" id="{37A23327-1355-744A-A6E0-10325DC10266}"/>
                  </a:ext>
                </a:extLst>
              </p:cNvPr>
              <p:cNvSpPr>
                <a:spLocks noChangeArrowheads="1"/>
              </p:cNvSpPr>
              <p:nvPr/>
            </p:nvSpPr>
            <p:spPr bwMode="auto">
              <a:xfrm>
                <a:off x="3142"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5</a:t>
                </a:r>
              </a:p>
            </p:txBody>
          </p:sp>
          <p:sp>
            <p:nvSpPr>
              <p:cNvPr id="37921" name="Rectangle 33">
                <a:extLst>
                  <a:ext uri="{FF2B5EF4-FFF2-40B4-BE49-F238E27FC236}">
                    <a16:creationId xmlns:a16="http://schemas.microsoft.com/office/drawing/2014/main" id="{1C3EA6AF-0342-D94E-806A-12420F6F9E7F}"/>
                  </a:ext>
                </a:extLst>
              </p:cNvPr>
              <p:cNvSpPr>
                <a:spLocks noChangeArrowheads="1"/>
              </p:cNvSpPr>
              <p:nvPr/>
            </p:nvSpPr>
            <p:spPr bwMode="auto">
              <a:xfrm>
                <a:off x="3449" y="1792"/>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50" name="Rectangle 34">
                <a:extLst>
                  <a:ext uri="{FF2B5EF4-FFF2-40B4-BE49-F238E27FC236}">
                    <a16:creationId xmlns:a16="http://schemas.microsoft.com/office/drawing/2014/main" id="{4B78F8CB-8F9E-1A47-AAA2-AD49BA85E24C}"/>
                  </a:ext>
                </a:extLst>
              </p:cNvPr>
              <p:cNvSpPr>
                <a:spLocks noChangeArrowheads="1"/>
              </p:cNvSpPr>
              <p:nvPr/>
            </p:nvSpPr>
            <p:spPr bwMode="auto">
              <a:xfrm>
                <a:off x="3449"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4</a:t>
                </a:r>
              </a:p>
            </p:txBody>
          </p:sp>
          <p:sp>
            <p:nvSpPr>
              <p:cNvPr id="37924" name="Rectangle 36">
                <a:extLst>
                  <a:ext uri="{FF2B5EF4-FFF2-40B4-BE49-F238E27FC236}">
                    <a16:creationId xmlns:a16="http://schemas.microsoft.com/office/drawing/2014/main" id="{B21EC0DE-1C7F-8F4C-A6A4-4B1B48021178}"/>
                  </a:ext>
                </a:extLst>
              </p:cNvPr>
              <p:cNvSpPr>
                <a:spLocks noChangeArrowheads="1"/>
              </p:cNvSpPr>
              <p:nvPr/>
            </p:nvSpPr>
            <p:spPr bwMode="auto">
              <a:xfrm>
                <a:off x="3756" y="1792"/>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52" name="Rectangle 37">
                <a:extLst>
                  <a:ext uri="{FF2B5EF4-FFF2-40B4-BE49-F238E27FC236}">
                    <a16:creationId xmlns:a16="http://schemas.microsoft.com/office/drawing/2014/main" id="{45BC130B-4DBF-5F44-8322-DF0F90133D15}"/>
                  </a:ext>
                </a:extLst>
              </p:cNvPr>
              <p:cNvSpPr>
                <a:spLocks noChangeArrowheads="1"/>
              </p:cNvSpPr>
              <p:nvPr/>
            </p:nvSpPr>
            <p:spPr bwMode="auto">
              <a:xfrm>
                <a:off x="3756"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3</a:t>
                </a:r>
              </a:p>
            </p:txBody>
          </p:sp>
          <p:sp>
            <p:nvSpPr>
              <p:cNvPr id="37927" name="Rectangle 39">
                <a:extLst>
                  <a:ext uri="{FF2B5EF4-FFF2-40B4-BE49-F238E27FC236}">
                    <a16:creationId xmlns:a16="http://schemas.microsoft.com/office/drawing/2014/main" id="{7BD28803-4816-CD47-B9DA-5B24F2004F0B}"/>
                  </a:ext>
                </a:extLst>
              </p:cNvPr>
              <p:cNvSpPr>
                <a:spLocks noChangeArrowheads="1"/>
              </p:cNvSpPr>
              <p:nvPr/>
            </p:nvSpPr>
            <p:spPr bwMode="auto">
              <a:xfrm>
                <a:off x="4063" y="1792"/>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54" name="Rectangle 40">
                <a:extLst>
                  <a:ext uri="{FF2B5EF4-FFF2-40B4-BE49-F238E27FC236}">
                    <a16:creationId xmlns:a16="http://schemas.microsoft.com/office/drawing/2014/main" id="{2FAF6198-CC8C-1E4C-A06C-6BF753324AA7}"/>
                  </a:ext>
                </a:extLst>
              </p:cNvPr>
              <p:cNvSpPr>
                <a:spLocks noChangeArrowheads="1"/>
              </p:cNvSpPr>
              <p:nvPr/>
            </p:nvSpPr>
            <p:spPr bwMode="auto">
              <a:xfrm>
                <a:off x="4063"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2</a:t>
                </a:r>
              </a:p>
            </p:txBody>
          </p:sp>
          <p:sp>
            <p:nvSpPr>
              <p:cNvPr id="37930" name="Rectangle 42">
                <a:extLst>
                  <a:ext uri="{FF2B5EF4-FFF2-40B4-BE49-F238E27FC236}">
                    <a16:creationId xmlns:a16="http://schemas.microsoft.com/office/drawing/2014/main" id="{98EED502-DF4C-8945-85CE-340307623F90}"/>
                  </a:ext>
                </a:extLst>
              </p:cNvPr>
              <p:cNvSpPr>
                <a:spLocks noChangeArrowheads="1"/>
              </p:cNvSpPr>
              <p:nvPr/>
            </p:nvSpPr>
            <p:spPr bwMode="auto">
              <a:xfrm>
                <a:off x="4370" y="1792"/>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56" name="Rectangle 43">
                <a:extLst>
                  <a:ext uri="{FF2B5EF4-FFF2-40B4-BE49-F238E27FC236}">
                    <a16:creationId xmlns:a16="http://schemas.microsoft.com/office/drawing/2014/main" id="{F5C67C97-5768-1447-8645-2053671D5715}"/>
                  </a:ext>
                </a:extLst>
              </p:cNvPr>
              <p:cNvSpPr>
                <a:spLocks noChangeArrowheads="1"/>
              </p:cNvSpPr>
              <p:nvPr/>
            </p:nvSpPr>
            <p:spPr bwMode="auto">
              <a:xfrm>
                <a:off x="4370"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a:t>
                </a:r>
              </a:p>
            </p:txBody>
          </p:sp>
          <p:sp>
            <p:nvSpPr>
              <p:cNvPr id="37933" name="Rectangle 45">
                <a:extLst>
                  <a:ext uri="{FF2B5EF4-FFF2-40B4-BE49-F238E27FC236}">
                    <a16:creationId xmlns:a16="http://schemas.microsoft.com/office/drawing/2014/main" id="{D5E2BA2D-E97B-B442-A7EF-3D1BD02D71EB}"/>
                  </a:ext>
                </a:extLst>
              </p:cNvPr>
              <p:cNvSpPr>
                <a:spLocks noChangeArrowheads="1"/>
              </p:cNvSpPr>
              <p:nvPr/>
            </p:nvSpPr>
            <p:spPr bwMode="auto">
              <a:xfrm>
                <a:off x="4677" y="1792"/>
                <a:ext cx="307" cy="192"/>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958" name="Rectangle 46">
                <a:extLst>
                  <a:ext uri="{FF2B5EF4-FFF2-40B4-BE49-F238E27FC236}">
                    <a16:creationId xmlns:a16="http://schemas.microsoft.com/office/drawing/2014/main" id="{BEA4ADE6-033A-E84B-B835-A223FBD94991}"/>
                  </a:ext>
                </a:extLst>
              </p:cNvPr>
              <p:cNvSpPr>
                <a:spLocks noChangeArrowheads="1"/>
              </p:cNvSpPr>
              <p:nvPr/>
            </p:nvSpPr>
            <p:spPr bwMode="auto">
              <a:xfrm>
                <a:off x="4677" y="1600"/>
                <a:ext cx="3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0</a:t>
                </a:r>
              </a:p>
            </p:txBody>
          </p:sp>
          <p:grpSp>
            <p:nvGrpSpPr>
              <p:cNvPr id="249959" name="Group 47">
                <a:extLst>
                  <a:ext uri="{FF2B5EF4-FFF2-40B4-BE49-F238E27FC236}">
                    <a16:creationId xmlns:a16="http://schemas.microsoft.com/office/drawing/2014/main" id="{C9FD2795-160F-F84C-8F07-CF0A1CC0F31A}"/>
                  </a:ext>
                </a:extLst>
              </p:cNvPr>
              <p:cNvGrpSpPr>
                <a:grpSpLocks/>
              </p:cNvGrpSpPr>
              <p:nvPr/>
            </p:nvGrpSpPr>
            <p:grpSpPr bwMode="auto">
              <a:xfrm>
                <a:off x="3142" y="2085"/>
                <a:ext cx="1842" cy="196"/>
                <a:chOff x="3085" y="1661"/>
                <a:chExt cx="1842" cy="196"/>
              </a:xfrm>
            </p:grpSpPr>
            <p:sp>
              <p:nvSpPr>
                <p:cNvPr id="249981" name="Line 48">
                  <a:extLst>
                    <a:ext uri="{FF2B5EF4-FFF2-40B4-BE49-F238E27FC236}">
                      <a16:creationId xmlns:a16="http://schemas.microsoft.com/office/drawing/2014/main" id="{A1E4B0C7-8559-5646-AF33-AF5228032E24}"/>
                    </a:ext>
                  </a:extLst>
                </p:cNvPr>
                <p:cNvSpPr>
                  <a:spLocks noChangeShapeType="1"/>
                </p:cNvSpPr>
                <p:nvPr/>
              </p:nvSpPr>
              <p:spPr bwMode="auto">
                <a:xfrm>
                  <a:off x="3085" y="1752"/>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82" name="Text Box 49">
                  <a:extLst>
                    <a:ext uri="{FF2B5EF4-FFF2-40B4-BE49-F238E27FC236}">
                      <a16:creationId xmlns:a16="http://schemas.microsoft.com/office/drawing/2014/main" id="{68825F2C-27EB-7A47-AA3C-4BEE8EBB282F}"/>
                    </a:ext>
                  </a:extLst>
                </p:cNvPr>
                <p:cNvSpPr txBox="1">
                  <a:spLocks noChangeArrowheads="1"/>
                </p:cNvSpPr>
                <p:nvPr/>
              </p:nvSpPr>
              <p:spPr bwMode="auto">
                <a:xfrm>
                  <a:off x="3792" y="1661"/>
                  <a:ext cx="351" cy="196"/>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rgbClr val="003300"/>
                      </a:solidFill>
                      <a:latin typeface="Arial Black" panose="020B0604020202020204" pitchFamily="34" charset="0"/>
                      <a:ea typeface="宋体" panose="02010600030101010101" pitchFamily="2" charset="-122"/>
                    </a:rPr>
                    <a:t>VPO</a:t>
                  </a:r>
                </a:p>
              </p:txBody>
            </p:sp>
          </p:grpSp>
          <p:grpSp>
            <p:nvGrpSpPr>
              <p:cNvPr id="249960" name="Group 50">
                <a:extLst>
                  <a:ext uri="{FF2B5EF4-FFF2-40B4-BE49-F238E27FC236}">
                    <a16:creationId xmlns:a16="http://schemas.microsoft.com/office/drawing/2014/main" id="{91A36D6C-3E73-964B-9BA3-6BF15759D3BA}"/>
                  </a:ext>
                </a:extLst>
              </p:cNvPr>
              <p:cNvGrpSpPr>
                <a:grpSpLocks/>
              </p:cNvGrpSpPr>
              <p:nvPr/>
            </p:nvGrpSpPr>
            <p:grpSpPr bwMode="auto">
              <a:xfrm>
                <a:off x="686" y="2081"/>
                <a:ext cx="2467" cy="195"/>
                <a:chOff x="629" y="1657"/>
                <a:chExt cx="2467" cy="195"/>
              </a:xfrm>
            </p:grpSpPr>
            <p:sp>
              <p:nvSpPr>
                <p:cNvPr id="249979" name="Line 51">
                  <a:extLst>
                    <a:ext uri="{FF2B5EF4-FFF2-40B4-BE49-F238E27FC236}">
                      <a16:creationId xmlns:a16="http://schemas.microsoft.com/office/drawing/2014/main" id="{47C16326-BC65-9C44-841D-3810A333B778}"/>
                    </a:ext>
                  </a:extLst>
                </p:cNvPr>
                <p:cNvSpPr>
                  <a:spLocks noChangeShapeType="1"/>
                </p:cNvSpPr>
                <p:nvPr/>
              </p:nvSpPr>
              <p:spPr bwMode="auto">
                <a:xfrm>
                  <a:off x="629" y="1747"/>
                  <a:ext cx="2467"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80" name="Text Box 52">
                  <a:extLst>
                    <a:ext uri="{FF2B5EF4-FFF2-40B4-BE49-F238E27FC236}">
                      <a16:creationId xmlns:a16="http://schemas.microsoft.com/office/drawing/2014/main" id="{DEAF7E14-D2FA-9845-A26E-8C7D85018C99}"/>
                    </a:ext>
                  </a:extLst>
                </p:cNvPr>
                <p:cNvSpPr txBox="1">
                  <a:spLocks noChangeArrowheads="1"/>
                </p:cNvSpPr>
                <p:nvPr/>
              </p:nvSpPr>
              <p:spPr bwMode="auto">
                <a:xfrm>
                  <a:off x="1577" y="1657"/>
                  <a:ext cx="350" cy="195"/>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sz="1800" b="1">
                      <a:solidFill>
                        <a:srgbClr val="003300"/>
                      </a:solidFill>
                      <a:latin typeface="Arial Black" panose="020B0604020202020204" pitchFamily="34" charset="0"/>
                      <a:ea typeface="宋体" panose="02010600030101010101" pitchFamily="2" charset="-122"/>
                    </a:rPr>
                    <a:t>VPN</a:t>
                  </a:r>
                </a:p>
              </p:txBody>
            </p:sp>
          </p:grpSp>
          <p:sp>
            <p:nvSpPr>
              <p:cNvPr id="249961" name="Line 54">
                <a:extLst>
                  <a:ext uri="{FF2B5EF4-FFF2-40B4-BE49-F238E27FC236}">
                    <a16:creationId xmlns:a16="http://schemas.microsoft.com/office/drawing/2014/main" id="{74D4A9C8-30D5-E246-8C97-024EE8CCA8FF}"/>
                  </a:ext>
                </a:extLst>
              </p:cNvPr>
              <p:cNvSpPr>
                <a:spLocks noChangeShapeType="1"/>
              </p:cNvSpPr>
              <p:nvPr/>
            </p:nvSpPr>
            <p:spPr bwMode="auto">
              <a:xfrm>
                <a:off x="2526" y="1512"/>
                <a:ext cx="625"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62" name="Text Box 55">
                <a:extLst>
                  <a:ext uri="{FF2B5EF4-FFF2-40B4-BE49-F238E27FC236}">
                    <a16:creationId xmlns:a16="http://schemas.microsoft.com/office/drawing/2014/main" id="{A0693EA2-5A86-654C-A3CE-414B0D0AAC8A}"/>
                  </a:ext>
                </a:extLst>
              </p:cNvPr>
              <p:cNvSpPr txBox="1">
                <a:spLocks noChangeArrowheads="1"/>
              </p:cNvSpPr>
              <p:nvPr/>
            </p:nvSpPr>
            <p:spPr bwMode="auto">
              <a:xfrm>
                <a:off x="2664" y="1434"/>
                <a:ext cx="343" cy="181"/>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b="1">
                    <a:solidFill>
                      <a:srgbClr val="003300"/>
                    </a:solidFill>
                    <a:latin typeface="Arial Black" panose="020B0604020202020204" pitchFamily="34" charset="0"/>
                    <a:ea typeface="宋体" panose="02010600030101010101" pitchFamily="2" charset="-122"/>
                  </a:rPr>
                  <a:t>TLBI</a:t>
                </a:r>
              </a:p>
            </p:txBody>
          </p:sp>
          <p:sp>
            <p:nvSpPr>
              <p:cNvPr id="249963" name="Line 57">
                <a:extLst>
                  <a:ext uri="{FF2B5EF4-FFF2-40B4-BE49-F238E27FC236}">
                    <a16:creationId xmlns:a16="http://schemas.microsoft.com/office/drawing/2014/main" id="{41CAA8DE-443A-2D45-A7A9-A916B9646A2E}"/>
                  </a:ext>
                </a:extLst>
              </p:cNvPr>
              <p:cNvSpPr>
                <a:spLocks noChangeShapeType="1"/>
              </p:cNvSpPr>
              <p:nvPr/>
            </p:nvSpPr>
            <p:spPr bwMode="auto">
              <a:xfrm>
                <a:off x="686" y="1510"/>
                <a:ext cx="1844"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64" name="Text Box 58">
                <a:extLst>
                  <a:ext uri="{FF2B5EF4-FFF2-40B4-BE49-F238E27FC236}">
                    <a16:creationId xmlns:a16="http://schemas.microsoft.com/office/drawing/2014/main" id="{C21A8C04-5CCC-CF48-BD23-1D9815C09CB8}"/>
                  </a:ext>
                </a:extLst>
              </p:cNvPr>
              <p:cNvSpPr txBox="1">
                <a:spLocks noChangeArrowheads="1"/>
              </p:cNvSpPr>
              <p:nvPr/>
            </p:nvSpPr>
            <p:spPr bwMode="auto">
              <a:xfrm>
                <a:off x="1464" y="1432"/>
                <a:ext cx="376" cy="181"/>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b="1">
                    <a:solidFill>
                      <a:srgbClr val="003300"/>
                    </a:solidFill>
                    <a:latin typeface="Arial Black" panose="020B0604020202020204" pitchFamily="34" charset="0"/>
                    <a:ea typeface="宋体" panose="02010600030101010101" pitchFamily="2" charset="-122"/>
                  </a:rPr>
                  <a:t>TLBT</a:t>
                </a:r>
              </a:p>
            </p:txBody>
          </p:sp>
          <p:sp>
            <p:nvSpPr>
              <p:cNvPr id="249965" name="Text Box 113">
                <a:extLst>
                  <a:ext uri="{FF2B5EF4-FFF2-40B4-BE49-F238E27FC236}">
                    <a16:creationId xmlns:a16="http://schemas.microsoft.com/office/drawing/2014/main" id="{5B58DB08-C238-D540-A10A-AD16CB6F599A}"/>
                  </a:ext>
                </a:extLst>
              </p:cNvPr>
              <p:cNvSpPr txBox="1">
                <a:spLocks noChangeArrowheads="1"/>
              </p:cNvSpPr>
              <p:nvPr/>
            </p:nvSpPr>
            <p:spPr bwMode="auto">
              <a:xfrm>
                <a:off x="4766" y="1786"/>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66" name="Text Box 114">
                <a:extLst>
                  <a:ext uri="{FF2B5EF4-FFF2-40B4-BE49-F238E27FC236}">
                    <a16:creationId xmlns:a16="http://schemas.microsoft.com/office/drawing/2014/main" id="{46B170D8-3F31-854F-94B1-4F50E5DA6031}"/>
                  </a:ext>
                </a:extLst>
              </p:cNvPr>
              <p:cNvSpPr txBox="1">
                <a:spLocks noChangeArrowheads="1"/>
              </p:cNvSpPr>
              <p:nvPr/>
            </p:nvSpPr>
            <p:spPr bwMode="auto">
              <a:xfrm>
                <a:off x="4459" y="1785"/>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67" name="Text Box 115">
                <a:extLst>
                  <a:ext uri="{FF2B5EF4-FFF2-40B4-BE49-F238E27FC236}">
                    <a16:creationId xmlns:a16="http://schemas.microsoft.com/office/drawing/2014/main" id="{65B0CB9D-C755-A449-BAC9-E49B38F263AC}"/>
                  </a:ext>
                </a:extLst>
              </p:cNvPr>
              <p:cNvSpPr txBox="1">
                <a:spLocks noChangeArrowheads="1"/>
              </p:cNvSpPr>
              <p:nvPr/>
            </p:nvSpPr>
            <p:spPr bwMode="auto">
              <a:xfrm>
                <a:off x="4154" y="1785"/>
                <a:ext cx="11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68" name="Text Box 116">
                <a:extLst>
                  <a:ext uri="{FF2B5EF4-FFF2-40B4-BE49-F238E27FC236}">
                    <a16:creationId xmlns:a16="http://schemas.microsoft.com/office/drawing/2014/main" id="{C396D70D-4CEE-A444-9E3B-A2490C577BDE}"/>
                  </a:ext>
                </a:extLst>
              </p:cNvPr>
              <p:cNvSpPr txBox="1">
                <a:spLocks noChangeArrowheads="1"/>
              </p:cNvSpPr>
              <p:nvPr/>
            </p:nvSpPr>
            <p:spPr bwMode="auto">
              <a:xfrm>
                <a:off x="3846" y="1785"/>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69" name="Text Box 117">
                <a:extLst>
                  <a:ext uri="{FF2B5EF4-FFF2-40B4-BE49-F238E27FC236}">
                    <a16:creationId xmlns:a16="http://schemas.microsoft.com/office/drawing/2014/main" id="{BF931B69-43E4-5842-BCAE-B039F224FC6C}"/>
                  </a:ext>
                </a:extLst>
              </p:cNvPr>
              <p:cNvSpPr txBox="1">
                <a:spLocks noChangeArrowheads="1"/>
              </p:cNvSpPr>
              <p:nvPr/>
            </p:nvSpPr>
            <p:spPr bwMode="auto">
              <a:xfrm>
                <a:off x="3540" y="1785"/>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70" name="Text Box 118">
                <a:extLst>
                  <a:ext uri="{FF2B5EF4-FFF2-40B4-BE49-F238E27FC236}">
                    <a16:creationId xmlns:a16="http://schemas.microsoft.com/office/drawing/2014/main" id="{DE6C7385-8CEB-2644-8BA0-506067183898}"/>
                  </a:ext>
                </a:extLst>
              </p:cNvPr>
              <p:cNvSpPr txBox="1">
                <a:spLocks noChangeArrowheads="1"/>
              </p:cNvSpPr>
              <p:nvPr/>
            </p:nvSpPr>
            <p:spPr bwMode="auto">
              <a:xfrm>
                <a:off x="3234" y="1785"/>
                <a:ext cx="11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71" name="Text Box 119">
                <a:extLst>
                  <a:ext uri="{FF2B5EF4-FFF2-40B4-BE49-F238E27FC236}">
                    <a16:creationId xmlns:a16="http://schemas.microsoft.com/office/drawing/2014/main" id="{E8B765B6-79F0-4244-8867-B34BDDD75477}"/>
                  </a:ext>
                </a:extLst>
              </p:cNvPr>
              <p:cNvSpPr txBox="1">
                <a:spLocks noChangeArrowheads="1"/>
              </p:cNvSpPr>
              <p:nvPr/>
            </p:nvSpPr>
            <p:spPr bwMode="auto">
              <a:xfrm>
                <a:off x="2936" y="1786"/>
                <a:ext cx="10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Calibri" panose="020F0502020204030204" pitchFamily="34" charset="0"/>
                    <a:ea typeface="宋体" panose="02010600030101010101" pitchFamily="2" charset="-122"/>
                  </a:rPr>
                  <a:t>1</a:t>
                </a:r>
              </a:p>
            </p:txBody>
          </p:sp>
          <p:sp>
            <p:nvSpPr>
              <p:cNvPr id="249972" name="Text Box 120">
                <a:extLst>
                  <a:ext uri="{FF2B5EF4-FFF2-40B4-BE49-F238E27FC236}">
                    <a16:creationId xmlns:a16="http://schemas.microsoft.com/office/drawing/2014/main" id="{335A6B20-1C9D-5743-BFD2-B933ED6240B6}"/>
                  </a:ext>
                </a:extLst>
              </p:cNvPr>
              <p:cNvSpPr txBox="1">
                <a:spLocks noChangeArrowheads="1"/>
              </p:cNvSpPr>
              <p:nvPr/>
            </p:nvSpPr>
            <p:spPr bwMode="auto">
              <a:xfrm>
                <a:off x="2630" y="1786"/>
                <a:ext cx="10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Calibri" panose="020F0502020204030204" pitchFamily="34" charset="0"/>
                    <a:ea typeface="宋体" panose="02010600030101010101" pitchFamily="2" charset="-122"/>
                  </a:rPr>
                  <a:t>1</a:t>
                </a:r>
              </a:p>
            </p:txBody>
          </p:sp>
          <p:sp>
            <p:nvSpPr>
              <p:cNvPr id="249973" name="Text Box 121">
                <a:extLst>
                  <a:ext uri="{FF2B5EF4-FFF2-40B4-BE49-F238E27FC236}">
                    <a16:creationId xmlns:a16="http://schemas.microsoft.com/office/drawing/2014/main" id="{8A5FB788-ED6E-7548-BE14-32CF7E2D532E}"/>
                  </a:ext>
                </a:extLst>
              </p:cNvPr>
              <p:cNvSpPr txBox="1">
                <a:spLocks noChangeArrowheads="1"/>
              </p:cNvSpPr>
              <p:nvPr/>
            </p:nvSpPr>
            <p:spPr bwMode="auto">
              <a:xfrm>
                <a:off x="2314" y="1786"/>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74" name="Text Box 122">
                <a:extLst>
                  <a:ext uri="{FF2B5EF4-FFF2-40B4-BE49-F238E27FC236}">
                    <a16:creationId xmlns:a16="http://schemas.microsoft.com/office/drawing/2014/main" id="{6C07821B-C6B0-4A43-AFE0-19A663185B45}"/>
                  </a:ext>
                </a:extLst>
              </p:cNvPr>
              <p:cNvSpPr txBox="1">
                <a:spLocks noChangeArrowheads="1"/>
              </p:cNvSpPr>
              <p:nvPr/>
            </p:nvSpPr>
            <p:spPr bwMode="auto">
              <a:xfrm>
                <a:off x="2006" y="1786"/>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75" name="Text Box 123">
                <a:extLst>
                  <a:ext uri="{FF2B5EF4-FFF2-40B4-BE49-F238E27FC236}">
                    <a16:creationId xmlns:a16="http://schemas.microsoft.com/office/drawing/2014/main" id="{FEEEBB38-54F3-CE43-BC08-CE70C0405928}"/>
                  </a:ext>
                </a:extLst>
              </p:cNvPr>
              <p:cNvSpPr txBox="1">
                <a:spLocks noChangeArrowheads="1"/>
              </p:cNvSpPr>
              <p:nvPr/>
            </p:nvSpPr>
            <p:spPr bwMode="auto">
              <a:xfrm>
                <a:off x="1702" y="1786"/>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76" name="Text Box 124">
                <a:extLst>
                  <a:ext uri="{FF2B5EF4-FFF2-40B4-BE49-F238E27FC236}">
                    <a16:creationId xmlns:a16="http://schemas.microsoft.com/office/drawing/2014/main" id="{134D6C23-1059-714E-A63F-6D88F4D86DD1}"/>
                  </a:ext>
                </a:extLst>
              </p:cNvPr>
              <p:cNvSpPr txBox="1">
                <a:spLocks noChangeArrowheads="1"/>
              </p:cNvSpPr>
              <p:nvPr/>
            </p:nvSpPr>
            <p:spPr bwMode="auto">
              <a:xfrm>
                <a:off x="1395" y="1786"/>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77" name="Text Box 125">
                <a:extLst>
                  <a:ext uri="{FF2B5EF4-FFF2-40B4-BE49-F238E27FC236}">
                    <a16:creationId xmlns:a16="http://schemas.microsoft.com/office/drawing/2014/main" id="{D435019B-A577-E241-AC37-B09C179B2530}"/>
                  </a:ext>
                </a:extLst>
              </p:cNvPr>
              <p:cNvSpPr txBox="1">
                <a:spLocks noChangeArrowheads="1"/>
              </p:cNvSpPr>
              <p:nvPr/>
            </p:nvSpPr>
            <p:spPr bwMode="auto">
              <a:xfrm>
                <a:off x="1088" y="1786"/>
                <a:ext cx="120"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78" name="Text Box 126">
                <a:extLst>
                  <a:ext uri="{FF2B5EF4-FFF2-40B4-BE49-F238E27FC236}">
                    <a16:creationId xmlns:a16="http://schemas.microsoft.com/office/drawing/2014/main" id="{647FDEA7-2A9D-A74C-9C44-895D4C4E6577}"/>
                  </a:ext>
                </a:extLst>
              </p:cNvPr>
              <p:cNvSpPr txBox="1">
                <a:spLocks noChangeArrowheads="1"/>
              </p:cNvSpPr>
              <p:nvPr/>
            </p:nvSpPr>
            <p:spPr bwMode="auto">
              <a:xfrm>
                <a:off x="783" y="1786"/>
                <a:ext cx="11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grpSp>
        <p:sp>
          <p:nvSpPr>
            <p:cNvPr id="249930" name="Rectangle 120">
              <a:extLst>
                <a:ext uri="{FF2B5EF4-FFF2-40B4-BE49-F238E27FC236}">
                  <a16:creationId xmlns:a16="http://schemas.microsoft.com/office/drawing/2014/main" id="{6283E759-005D-E048-99C0-F9A51A84BA1B}"/>
                </a:ext>
              </a:extLst>
            </p:cNvPr>
            <p:cNvSpPr>
              <a:spLocks noChangeArrowheads="1"/>
            </p:cNvSpPr>
            <p:nvPr/>
          </p:nvSpPr>
          <p:spPr bwMode="auto">
            <a:xfrm>
              <a:off x="2514" y="1489"/>
              <a:ext cx="804" cy="192"/>
            </a:xfrm>
            <a:prstGeom prst="rect">
              <a:avLst/>
            </a:prstGeom>
            <a:solidFill>
              <a:schemeClr val="accent1">
                <a:alpha val="21960"/>
              </a:schemeClr>
            </a:solidFill>
            <a:ln>
              <a:noFill/>
            </a:ln>
            <a:effectLst/>
            <a:extLs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grpSp>
      <p:grpSp>
        <p:nvGrpSpPr>
          <p:cNvPr id="748668" name="Group 124">
            <a:extLst>
              <a:ext uri="{FF2B5EF4-FFF2-40B4-BE49-F238E27FC236}">
                <a16:creationId xmlns:a16="http://schemas.microsoft.com/office/drawing/2014/main" id="{2F1ED395-AC8F-D846-9B0A-D8470034FEBA}"/>
              </a:ext>
            </a:extLst>
          </p:cNvPr>
          <p:cNvGrpSpPr>
            <a:grpSpLocks/>
          </p:cNvGrpSpPr>
          <p:nvPr/>
        </p:nvGrpSpPr>
        <p:grpSpPr bwMode="auto">
          <a:xfrm>
            <a:off x="433388" y="4664075"/>
            <a:ext cx="8137525" cy="1401763"/>
            <a:chOff x="381" y="2857"/>
            <a:chExt cx="5126" cy="883"/>
          </a:xfrm>
        </p:grpSpPr>
        <p:sp>
          <p:nvSpPr>
            <p:cNvPr id="249876" name="Rectangle 62">
              <a:extLst>
                <a:ext uri="{FF2B5EF4-FFF2-40B4-BE49-F238E27FC236}">
                  <a16:creationId xmlns:a16="http://schemas.microsoft.com/office/drawing/2014/main" id="{113A77CD-B20B-9142-BAC6-A87AD2A5687B}"/>
                </a:ext>
              </a:extLst>
            </p:cNvPr>
            <p:cNvSpPr>
              <a:spLocks noChangeArrowheads="1"/>
            </p:cNvSpPr>
            <p:nvPr/>
          </p:nvSpPr>
          <p:spPr bwMode="auto">
            <a:xfrm>
              <a:off x="381" y="3271"/>
              <a:ext cx="426" cy="245"/>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9877" name="Rectangle 63">
              <a:extLst>
                <a:ext uri="{FF2B5EF4-FFF2-40B4-BE49-F238E27FC236}">
                  <a16:creationId xmlns:a16="http://schemas.microsoft.com/office/drawing/2014/main" id="{6A530E6D-EAC6-2D4A-9C22-C39D8FB639CF}"/>
                </a:ext>
              </a:extLst>
            </p:cNvPr>
            <p:cNvSpPr>
              <a:spLocks noChangeArrowheads="1"/>
            </p:cNvSpPr>
            <p:nvPr/>
          </p:nvSpPr>
          <p:spPr bwMode="auto">
            <a:xfrm>
              <a:off x="381" y="3027"/>
              <a:ext cx="42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11</a:t>
              </a:r>
            </a:p>
          </p:txBody>
        </p:sp>
        <p:sp>
          <p:nvSpPr>
            <p:cNvPr id="249878" name="Rectangle 65">
              <a:extLst>
                <a:ext uri="{FF2B5EF4-FFF2-40B4-BE49-F238E27FC236}">
                  <a16:creationId xmlns:a16="http://schemas.microsoft.com/office/drawing/2014/main" id="{87CFB10E-B489-5149-AED4-AB820D179467}"/>
                </a:ext>
              </a:extLst>
            </p:cNvPr>
            <p:cNvSpPr>
              <a:spLocks noChangeArrowheads="1"/>
            </p:cNvSpPr>
            <p:nvPr/>
          </p:nvSpPr>
          <p:spPr bwMode="auto">
            <a:xfrm>
              <a:off x="807" y="3271"/>
              <a:ext cx="427" cy="245"/>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9879" name="Rectangle 66">
              <a:extLst>
                <a:ext uri="{FF2B5EF4-FFF2-40B4-BE49-F238E27FC236}">
                  <a16:creationId xmlns:a16="http://schemas.microsoft.com/office/drawing/2014/main" id="{DC64CA14-3580-DE45-857C-B61BF283B7D5}"/>
                </a:ext>
              </a:extLst>
            </p:cNvPr>
            <p:cNvSpPr>
              <a:spLocks noChangeArrowheads="1"/>
            </p:cNvSpPr>
            <p:nvPr/>
          </p:nvSpPr>
          <p:spPr bwMode="auto">
            <a:xfrm>
              <a:off x="807" y="3027"/>
              <a:ext cx="42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10</a:t>
              </a:r>
            </a:p>
          </p:txBody>
        </p:sp>
        <p:sp>
          <p:nvSpPr>
            <p:cNvPr id="249880" name="Rectangle 68">
              <a:extLst>
                <a:ext uri="{FF2B5EF4-FFF2-40B4-BE49-F238E27FC236}">
                  <a16:creationId xmlns:a16="http://schemas.microsoft.com/office/drawing/2014/main" id="{F47561F1-DF5D-BE42-B4C4-AFB1F2E837A0}"/>
                </a:ext>
              </a:extLst>
            </p:cNvPr>
            <p:cNvSpPr>
              <a:spLocks noChangeArrowheads="1"/>
            </p:cNvSpPr>
            <p:nvPr/>
          </p:nvSpPr>
          <p:spPr bwMode="auto">
            <a:xfrm>
              <a:off x="1234" y="3271"/>
              <a:ext cx="426" cy="245"/>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9881" name="Rectangle 69">
              <a:extLst>
                <a:ext uri="{FF2B5EF4-FFF2-40B4-BE49-F238E27FC236}">
                  <a16:creationId xmlns:a16="http://schemas.microsoft.com/office/drawing/2014/main" id="{FD79108F-45AB-DB4A-9F97-9B5DEDA1194F}"/>
                </a:ext>
              </a:extLst>
            </p:cNvPr>
            <p:cNvSpPr>
              <a:spLocks noChangeArrowheads="1"/>
            </p:cNvSpPr>
            <p:nvPr/>
          </p:nvSpPr>
          <p:spPr bwMode="auto">
            <a:xfrm>
              <a:off x="1234" y="3027"/>
              <a:ext cx="42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9</a:t>
              </a:r>
            </a:p>
          </p:txBody>
        </p:sp>
        <p:sp>
          <p:nvSpPr>
            <p:cNvPr id="249882" name="Rectangle 71">
              <a:extLst>
                <a:ext uri="{FF2B5EF4-FFF2-40B4-BE49-F238E27FC236}">
                  <a16:creationId xmlns:a16="http://schemas.microsoft.com/office/drawing/2014/main" id="{2FDFCD58-B8A6-274F-A181-202E64C26378}"/>
                </a:ext>
              </a:extLst>
            </p:cNvPr>
            <p:cNvSpPr>
              <a:spLocks noChangeArrowheads="1"/>
            </p:cNvSpPr>
            <p:nvPr/>
          </p:nvSpPr>
          <p:spPr bwMode="auto">
            <a:xfrm>
              <a:off x="1660" y="3271"/>
              <a:ext cx="427" cy="245"/>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9883" name="Rectangle 72">
              <a:extLst>
                <a:ext uri="{FF2B5EF4-FFF2-40B4-BE49-F238E27FC236}">
                  <a16:creationId xmlns:a16="http://schemas.microsoft.com/office/drawing/2014/main" id="{8B299BEC-EE12-7941-B26C-4748B3B1606A}"/>
                </a:ext>
              </a:extLst>
            </p:cNvPr>
            <p:cNvSpPr>
              <a:spLocks noChangeArrowheads="1"/>
            </p:cNvSpPr>
            <p:nvPr/>
          </p:nvSpPr>
          <p:spPr bwMode="auto">
            <a:xfrm>
              <a:off x="1660" y="3027"/>
              <a:ext cx="42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8</a:t>
              </a:r>
            </a:p>
          </p:txBody>
        </p:sp>
        <p:sp>
          <p:nvSpPr>
            <p:cNvPr id="249884" name="Rectangle 74">
              <a:extLst>
                <a:ext uri="{FF2B5EF4-FFF2-40B4-BE49-F238E27FC236}">
                  <a16:creationId xmlns:a16="http://schemas.microsoft.com/office/drawing/2014/main" id="{FAB8AE95-6641-E445-AE8A-36CFB6F56287}"/>
                </a:ext>
              </a:extLst>
            </p:cNvPr>
            <p:cNvSpPr>
              <a:spLocks noChangeArrowheads="1"/>
            </p:cNvSpPr>
            <p:nvPr/>
          </p:nvSpPr>
          <p:spPr bwMode="auto">
            <a:xfrm>
              <a:off x="2087" y="3271"/>
              <a:ext cx="426" cy="245"/>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9885" name="Rectangle 75">
              <a:extLst>
                <a:ext uri="{FF2B5EF4-FFF2-40B4-BE49-F238E27FC236}">
                  <a16:creationId xmlns:a16="http://schemas.microsoft.com/office/drawing/2014/main" id="{84953214-1363-C84F-8705-D990E70129A5}"/>
                </a:ext>
              </a:extLst>
            </p:cNvPr>
            <p:cNvSpPr>
              <a:spLocks noChangeArrowheads="1"/>
            </p:cNvSpPr>
            <p:nvPr/>
          </p:nvSpPr>
          <p:spPr bwMode="auto">
            <a:xfrm>
              <a:off x="2087" y="3027"/>
              <a:ext cx="42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7</a:t>
              </a:r>
            </a:p>
          </p:txBody>
        </p:sp>
        <p:sp>
          <p:nvSpPr>
            <p:cNvPr id="249886" name="Rectangle 77">
              <a:extLst>
                <a:ext uri="{FF2B5EF4-FFF2-40B4-BE49-F238E27FC236}">
                  <a16:creationId xmlns:a16="http://schemas.microsoft.com/office/drawing/2014/main" id="{9A3375A4-AB3D-1C42-A8F6-83288C10E1D8}"/>
                </a:ext>
              </a:extLst>
            </p:cNvPr>
            <p:cNvSpPr>
              <a:spLocks noChangeArrowheads="1"/>
            </p:cNvSpPr>
            <p:nvPr/>
          </p:nvSpPr>
          <p:spPr bwMode="auto">
            <a:xfrm>
              <a:off x="2513" y="3271"/>
              <a:ext cx="427" cy="245"/>
            </a:xfrm>
            <a:prstGeom prst="rect">
              <a:avLst/>
            </a:prstGeom>
            <a:solidFill>
              <a:srgbClr val="D5F1CF"/>
            </a:solidFill>
            <a:ln w="9360">
              <a:solidFill>
                <a:srgbClr val="000066"/>
              </a:solidFill>
              <a:miter lim="800000"/>
              <a:headEnd/>
              <a:tailEnd/>
            </a:ln>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sz="2400" b="1">
                <a:latin typeface="Arial Narrow" panose="020B0604020202020204" pitchFamily="34" charset="0"/>
                <a:ea typeface="宋体" panose="02010600030101010101" pitchFamily="2" charset="-122"/>
              </a:endParaRPr>
            </a:p>
          </p:txBody>
        </p:sp>
        <p:sp>
          <p:nvSpPr>
            <p:cNvPr id="249887" name="Rectangle 78">
              <a:extLst>
                <a:ext uri="{FF2B5EF4-FFF2-40B4-BE49-F238E27FC236}">
                  <a16:creationId xmlns:a16="http://schemas.microsoft.com/office/drawing/2014/main" id="{878760E8-6D1F-F34C-9182-C4FB8A89AE91}"/>
                </a:ext>
              </a:extLst>
            </p:cNvPr>
            <p:cNvSpPr>
              <a:spLocks noChangeArrowheads="1"/>
            </p:cNvSpPr>
            <p:nvPr/>
          </p:nvSpPr>
          <p:spPr bwMode="auto">
            <a:xfrm>
              <a:off x="2513" y="3027"/>
              <a:ext cx="42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6</a:t>
              </a:r>
            </a:p>
          </p:txBody>
        </p:sp>
        <p:sp>
          <p:nvSpPr>
            <p:cNvPr id="37968" name="Rectangle 80">
              <a:extLst>
                <a:ext uri="{FF2B5EF4-FFF2-40B4-BE49-F238E27FC236}">
                  <a16:creationId xmlns:a16="http://schemas.microsoft.com/office/drawing/2014/main" id="{178D97FD-B1B6-4D4C-8BB7-01DBD3814DC8}"/>
                </a:ext>
              </a:extLst>
            </p:cNvPr>
            <p:cNvSpPr>
              <a:spLocks noChangeArrowheads="1"/>
            </p:cNvSpPr>
            <p:nvPr/>
          </p:nvSpPr>
          <p:spPr bwMode="auto">
            <a:xfrm>
              <a:off x="2940" y="3271"/>
              <a:ext cx="426" cy="245"/>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889" name="Rectangle 81">
              <a:extLst>
                <a:ext uri="{FF2B5EF4-FFF2-40B4-BE49-F238E27FC236}">
                  <a16:creationId xmlns:a16="http://schemas.microsoft.com/office/drawing/2014/main" id="{DB68979C-964B-1E42-AF86-42723E4704B0}"/>
                </a:ext>
              </a:extLst>
            </p:cNvPr>
            <p:cNvSpPr>
              <a:spLocks noChangeArrowheads="1"/>
            </p:cNvSpPr>
            <p:nvPr/>
          </p:nvSpPr>
          <p:spPr bwMode="auto">
            <a:xfrm>
              <a:off x="2940" y="3027"/>
              <a:ext cx="42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5</a:t>
              </a:r>
            </a:p>
          </p:txBody>
        </p:sp>
        <p:sp>
          <p:nvSpPr>
            <p:cNvPr id="37971" name="Rectangle 83">
              <a:extLst>
                <a:ext uri="{FF2B5EF4-FFF2-40B4-BE49-F238E27FC236}">
                  <a16:creationId xmlns:a16="http://schemas.microsoft.com/office/drawing/2014/main" id="{79632304-1652-814D-A665-BCA4F0926F03}"/>
                </a:ext>
              </a:extLst>
            </p:cNvPr>
            <p:cNvSpPr>
              <a:spLocks noChangeArrowheads="1"/>
            </p:cNvSpPr>
            <p:nvPr/>
          </p:nvSpPr>
          <p:spPr bwMode="auto">
            <a:xfrm>
              <a:off x="3366" y="3271"/>
              <a:ext cx="427" cy="245"/>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891" name="Rectangle 84">
              <a:extLst>
                <a:ext uri="{FF2B5EF4-FFF2-40B4-BE49-F238E27FC236}">
                  <a16:creationId xmlns:a16="http://schemas.microsoft.com/office/drawing/2014/main" id="{11503FAF-ED6F-6041-9752-05B45F04EBF1}"/>
                </a:ext>
              </a:extLst>
            </p:cNvPr>
            <p:cNvSpPr>
              <a:spLocks noChangeArrowheads="1"/>
            </p:cNvSpPr>
            <p:nvPr/>
          </p:nvSpPr>
          <p:spPr bwMode="auto">
            <a:xfrm>
              <a:off x="3366" y="3027"/>
              <a:ext cx="42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4</a:t>
              </a:r>
            </a:p>
          </p:txBody>
        </p:sp>
        <p:sp>
          <p:nvSpPr>
            <p:cNvPr id="37974" name="Rectangle 86">
              <a:extLst>
                <a:ext uri="{FF2B5EF4-FFF2-40B4-BE49-F238E27FC236}">
                  <a16:creationId xmlns:a16="http://schemas.microsoft.com/office/drawing/2014/main" id="{7648A151-DF5F-0748-BB30-65C85F4A2598}"/>
                </a:ext>
              </a:extLst>
            </p:cNvPr>
            <p:cNvSpPr>
              <a:spLocks noChangeArrowheads="1"/>
            </p:cNvSpPr>
            <p:nvPr/>
          </p:nvSpPr>
          <p:spPr bwMode="auto">
            <a:xfrm>
              <a:off x="3793" y="3271"/>
              <a:ext cx="426" cy="245"/>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893" name="Rectangle 87">
              <a:extLst>
                <a:ext uri="{FF2B5EF4-FFF2-40B4-BE49-F238E27FC236}">
                  <a16:creationId xmlns:a16="http://schemas.microsoft.com/office/drawing/2014/main" id="{425BBA39-C1EA-7F41-A181-74282369B39E}"/>
                </a:ext>
              </a:extLst>
            </p:cNvPr>
            <p:cNvSpPr>
              <a:spLocks noChangeArrowheads="1"/>
            </p:cNvSpPr>
            <p:nvPr/>
          </p:nvSpPr>
          <p:spPr bwMode="auto">
            <a:xfrm>
              <a:off x="3793" y="3027"/>
              <a:ext cx="42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3</a:t>
              </a:r>
            </a:p>
          </p:txBody>
        </p:sp>
        <p:sp>
          <p:nvSpPr>
            <p:cNvPr id="37977" name="Rectangle 89">
              <a:extLst>
                <a:ext uri="{FF2B5EF4-FFF2-40B4-BE49-F238E27FC236}">
                  <a16:creationId xmlns:a16="http://schemas.microsoft.com/office/drawing/2014/main" id="{EB884DE9-2A0F-9740-9A2C-E335D95458D6}"/>
                </a:ext>
              </a:extLst>
            </p:cNvPr>
            <p:cNvSpPr>
              <a:spLocks noChangeArrowheads="1"/>
            </p:cNvSpPr>
            <p:nvPr/>
          </p:nvSpPr>
          <p:spPr bwMode="auto">
            <a:xfrm>
              <a:off x="4219" y="3271"/>
              <a:ext cx="427" cy="245"/>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895" name="Rectangle 90">
              <a:extLst>
                <a:ext uri="{FF2B5EF4-FFF2-40B4-BE49-F238E27FC236}">
                  <a16:creationId xmlns:a16="http://schemas.microsoft.com/office/drawing/2014/main" id="{144A52FF-E09B-E44E-A77F-38DA40E5C3C6}"/>
                </a:ext>
              </a:extLst>
            </p:cNvPr>
            <p:cNvSpPr>
              <a:spLocks noChangeArrowheads="1"/>
            </p:cNvSpPr>
            <p:nvPr/>
          </p:nvSpPr>
          <p:spPr bwMode="auto">
            <a:xfrm>
              <a:off x="4219" y="3027"/>
              <a:ext cx="42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2</a:t>
              </a:r>
            </a:p>
          </p:txBody>
        </p:sp>
        <p:sp>
          <p:nvSpPr>
            <p:cNvPr id="37980" name="Rectangle 92">
              <a:extLst>
                <a:ext uri="{FF2B5EF4-FFF2-40B4-BE49-F238E27FC236}">
                  <a16:creationId xmlns:a16="http://schemas.microsoft.com/office/drawing/2014/main" id="{F4733C7D-2E50-D341-B7BC-0C60B2CA3FF0}"/>
                </a:ext>
              </a:extLst>
            </p:cNvPr>
            <p:cNvSpPr>
              <a:spLocks noChangeArrowheads="1"/>
            </p:cNvSpPr>
            <p:nvPr/>
          </p:nvSpPr>
          <p:spPr bwMode="auto">
            <a:xfrm>
              <a:off x="4646" y="3271"/>
              <a:ext cx="426" cy="245"/>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897" name="Rectangle 93">
              <a:extLst>
                <a:ext uri="{FF2B5EF4-FFF2-40B4-BE49-F238E27FC236}">
                  <a16:creationId xmlns:a16="http://schemas.microsoft.com/office/drawing/2014/main" id="{33A4CEB0-6583-3844-B9DD-00F0F2989545}"/>
                </a:ext>
              </a:extLst>
            </p:cNvPr>
            <p:cNvSpPr>
              <a:spLocks noChangeArrowheads="1"/>
            </p:cNvSpPr>
            <p:nvPr/>
          </p:nvSpPr>
          <p:spPr bwMode="auto">
            <a:xfrm>
              <a:off x="4646" y="3027"/>
              <a:ext cx="426"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1</a:t>
              </a:r>
            </a:p>
          </p:txBody>
        </p:sp>
        <p:sp>
          <p:nvSpPr>
            <p:cNvPr id="37983" name="Rectangle 95">
              <a:extLst>
                <a:ext uri="{FF2B5EF4-FFF2-40B4-BE49-F238E27FC236}">
                  <a16:creationId xmlns:a16="http://schemas.microsoft.com/office/drawing/2014/main" id="{4F107743-564A-EE43-8498-52EDF4594500}"/>
                </a:ext>
              </a:extLst>
            </p:cNvPr>
            <p:cNvSpPr>
              <a:spLocks noChangeArrowheads="1"/>
            </p:cNvSpPr>
            <p:nvPr/>
          </p:nvSpPr>
          <p:spPr bwMode="auto">
            <a:xfrm>
              <a:off x="5072" y="3271"/>
              <a:ext cx="427" cy="245"/>
            </a:xfrm>
            <a:prstGeom prst="rect">
              <a:avLst/>
            </a:prstGeom>
            <a:solidFill>
              <a:schemeClr val="accent2">
                <a:lumMod val="20000"/>
                <a:lumOff val="80000"/>
              </a:schemeClr>
            </a:solidFill>
            <a:ln w="9360">
              <a:solidFill>
                <a:srgbClr val="000066"/>
              </a:solidFill>
              <a:miter lim="800000"/>
              <a:headEnd/>
              <a:tailEnd/>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defRPr/>
              </a:pPr>
              <a:endParaRPr lang="en-US" altLang="zh-CN" sz="2400" b="1">
                <a:latin typeface="Arial Narrow" panose="020B0606020202030204" pitchFamily="34" charset="0"/>
                <a:ea typeface="宋体" panose="02010600030101010101" pitchFamily="2" charset="-122"/>
              </a:endParaRPr>
            </a:p>
          </p:txBody>
        </p:sp>
        <p:sp>
          <p:nvSpPr>
            <p:cNvPr id="249899" name="Rectangle 96">
              <a:extLst>
                <a:ext uri="{FF2B5EF4-FFF2-40B4-BE49-F238E27FC236}">
                  <a16:creationId xmlns:a16="http://schemas.microsoft.com/office/drawing/2014/main" id="{5546A554-1B9A-6446-9116-16B6DAA15287}"/>
                </a:ext>
              </a:extLst>
            </p:cNvPr>
            <p:cNvSpPr>
              <a:spLocks noChangeArrowheads="1"/>
            </p:cNvSpPr>
            <p:nvPr/>
          </p:nvSpPr>
          <p:spPr bwMode="auto">
            <a:xfrm>
              <a:off x="5072" y="3027"/>
              <a:ext cx="427"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525"/>
                </a:spcBef>
              </a:pPr>
              <a:r>
                <a:rPr lang="en-GB" altLang="zh-CN" sz="1400" b="1">
                  <a:solidFill>
                    <a:srgbClr val="003300"/>
                  </a:solidFill>
                  <a:latin typeface="Calibri" panose="020F0502020204030204" pitchFamily="34" charset="0"/>
                  <a:ea typeface="宋体" panose="02010600030101010101" pitchFamily="2" charset="-122"/>
                </a:rPr>
                <a:t>0</a:t>
              </a:r>
            </a:p>
          </p:txBody>
        </p:sp>
        <p:grpSp>
          <p:nvGrpSpPr>
            <p:cNvPr id="249900" name="Group 97">
              <a:extLst>
                <a:ext uri="{FF2B5EF4-FFF2-40B4-BE49-F238E27FC236}">
                  <a16:creationId xmlns:a16="http://schemas.microsoft.com/office/drawing/2014/main" id="{0B2F0B48-35DE-EF4D-8DDC-64870E7F5D7A}"/>
                </a:ext>
              </a:extLst>
            </p:cNvPr>
            <p:cNvGrpSpPr>
              <a:grpSpLocks/>
            </p:cNvGrpSpPr>
            <p:nvPr/>
          </p:nvGrpSpPr>
          <p:grpSpPr bwMode="auto">
            <a:xfrm>
              <a:off x="2948" y="3549"/>
              <a:ext cx="2559" cy="191"/>
              <a:chOff x="3101" y="3292"/>
              <a:chExt cx="1842" cy="150"/>
            </a:xfrm>
          </p:grpSpPr>
          <p:sp>
            <p:nvSpPr>
              <p:cNvPr id="249927" name="Line 98">
                <a:extLst>
                  <a:ext uri="{FF2B5EF4-FFF2-40B4-BE49-F238E27FC236}">
                    <a16:creationId xmlns:a16="http://schemas.microsoft.com/office/drawing/2014/main" id="{6EA3A586-909C-E04B-B531-30F425617FB5}"/>
                  </a:ext>
                </a:extLst>
              </p:cNvPr>
              <p:cNvSpPr>
                <a:spLocks noChangeShapeType="1"/>
              </p:cNvSpPr>
              <p:nvPr/>
            </p:nvSpPr>
            <p:spPr bwMode="auto">
              <a:xfrm>
                <a:off x="3101" y="3383"/>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28" name="Text Box 99">
                <a:extLst>
                  <a:ext uri="{FF2B5EF4-FFF2-40B4-BE49-F238E27FC236}">
                    <a16:creationId xmlns:a16="http://schemas.microsoft.com/office/drawing/2014/main" id="{03D41659-223D-DB4F-A3A6-161D213AAF95}"/>
                  </a:ext>
                </a:extLst>
              </p:cNvPr>
              <p:cNvSpPr txBox="1">
                <a:spLocks noChangeArrowheads="1"/>
              </p:cNvSpPr>
              <p:nvPr/>
            </p:nvSpPr>
            <p:spPr bwMode="auto">
              <a:xfrm>
                <a:off x="3808" y="3292"/>
                <a:ext cx="291" cy="15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b="1">
                    <a:latin typeface="Arial Black" panose="020B0604020202020204" pitchFamily="34" charset="0"/>
                    <a:ea typeface="宋体" panose="02010600030101010101" pitchFamily="2" charset="-122"/>
                  </a:rPr>
                  <a:t>PPO</a:t>
                </a:r>
              </a:p>
            </p:txBody>
          </p:sp>
        </p:grpSp>
        <p:grpSp>
          <p:nvGrpSpPr>
            <p:cNvPr id="249901" name="Group 100">
              <a:extLst>
                <a:ext uri="{FF2B5EF4-FFF2-40B4-BE49-F238E27FC236}">
                  <a16:creationId xmlns:a16="http://schemas.microsoft.com/office/drawing/2014/main" id="{E7B6B6DD-6BAB-7448-8F1F-3B218BF5B7C4}"/>
                </a:ext>
              </a:extLst>
            </p:cNvPr>
            <p:cNvGrpSpPr>
              <a:grpSpLocks/>
            </p:cNvGrpSpPr>
            <p:nvPr/>
          </p:nvGrpSpPr>
          <p:grpSpPr bwMode="auto">
            <a:xfrm>
              <a:off x="399" y="3543"/>
              <a:ext cx="2559" cy="191"/>
              <a:chOff x="1277" y="3292"/>
              <a:chExt cx="1842" cy="150"/>
            </a:xfrm>
          </p:grpSpPr>
          <p:sp>
            <p:nvSpPr>
              <p:cNvPr id="249925" name="Line 101">
                <a:extLst>
                  <a:ext uri="{FF2B5EF4-FFF2-40B4-BE49-F238E27FC236}">
                    <a16:creationId xmlns:a16="http://schemas.microsoft.com/office/drawing/2014/main" id="{D6A2079A-C15C-834F-A3B4-4DF49CF6DC53}"/>
                  </a:ext>
                </a:extLst>
              </p:cNvPr>
              <p:cNvSpPr>
                <a:spLocks noChangeShapeType="1"/>
              </p:cNvSpPr>
              <p:nvPr/>
            </p:nvSpPr>
            <p:spPr bwMode="auto">
              <a:xfrm>
                <a:off x="1277" y="3383"/>
                <a:ext cx="1842"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26" name="Text Box 102">
                <a:extLst>
                  <a:ext uri="{FF2B5EF4-FFF2-40B4-BE49-F238E27FC236}">
                    <a16:creationId xmlns:a16="http://schemas.microsoft.com/office/drawing/2014/main" id="{C4B13DE0-B28E-3F4D-BEBE-AA0307B92668}"/>
                  </a:ext>
                </a:extLst>
              </p:cNvPr>
              <p:cNvSpPr txBox="1">
                <a:spLocks noChangeArrowheads="1"/>
              </p:cNvSpPr>
              <p:nvPr/>
            </p:nvSpPr>
            <p:spPr bwMode="auto">
              <a:xfrm>
                <a:off x="1984" y="3292"/>
                <a:ext cx="291" cy="150"/>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nSpc>
                    <a:spcPct val="88000"/>
                  </a:lnSpc>
                  <a:spcBef>
                    <a:spcPts val="675"/>
                  </a:spcBef>
                </a:pPr>
                <a:r>
                  <a:rPr lang="en-GB" altLang="zh-CN" b="1">
                    <a:latin typeface="Arial Black" panose="020B0604020202020204" pitchFamily="34" charset="0"/>
                    <a:ea typeface="宋体" panose="02010600030101010101" pitchFamily="2" charset="-122"/>
                  </a:rPr>
                  <a:t>PPN</a:t>
                </a:r>
              </a:p>
            </p:txBody>
          </p:sp>
        </p:grpSp>
        <p:grpSp>
          <p:nvGrpSpPr>
            <p:cNvPr id="249902" name="Group 103">
              <a:extLst>
                <a:ext uri="{FF2B5EF4-FFF2-40B4-BE49-F238E27FC236}">
                  <a16:creationId xmlns:a16="http://schemas.microsoft.com/office/drawing/2014/main" id="{B00CB85E-4174-8349-94E3-59334C9B5C0E}"/>
                </a:ext>
              </a:extLst>
            </p:cNvPr>
            <p:cNvGrpSpPr>
              <a:grpSpLocks/>
            </p:cNvGrpSpPr>
            <p:nvPr/>
          </p:nvGrpSpPr>
          <p:grpSpPr bwMode="auto">
            <a:xfrm>
              <a:off x="4628" y="2860"/>
              <a:ext cx="868" cy="192"/>
              <a:chOff x="4300" y="2637"/>
              <a:chExt cx="625" cy="151"/>
            </a:xfrm>
          </p:grpSpPr>
          <p:sp>
            <p:nvSpPr>
              <p:cNvPr id="249923" name="Line 104">
                <a:extLst>
                  <a:ext uri="{FF2B5EF4-FFF2-40B4-BE49-F238E27FC236}">
                    <a16:creationId xmlns:a16="http://schemas.microsoft.com/office/drawing/2014/main" id="{50CAA0D5-2F37-714A-B95E-9E12953E9F18}"/>
                  </a:ext>
                </a:extLst>
              </p:cNvPr>
              <p:cNvSpPr>
                <a:spLocks noChangeShapeType="1"/>
              </p:cNvSpPr>
              <p:nvPr/>
            </p:nvSpPr>
            <p:spPr bwMode="auto">
              <a:xfrm>
                <a:off x="4300" y="2715"/>
                <a:ext cx="625"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24" name="Text Box 105">
                <a:extLst>
                  <a:ext uri="{FF2B5EF4-FFF2-40B4-BE49-F238E27FC236}">
                    <a16:creationId xmlns:a16="http://schemas.microsoft.com/office/drawing/2014/main" id="{CA064D17-D0CC-5D4B-9873-B665D4AD1FF2}"/>
                  </a:ext>
                </a:extLst>
              </p:cNvPr>
              <p:cNvSpPr txBox="1">
                <a:spLocks noChangeArrowheads="1"/>
              </p:cNvSpPr>
              <p:nvPr/>
            </p:nvSpPr>
            <p:spPr bwMode="auto">
              <a:xfrm>
                <a:off x="4506" y="2637"/>
                <a:ext cx="231" cy="151"/>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b="1">
                    <a:latin typeface="Arial Black" panose="020B0604020202020204" pitchFamily="34" charset="0"/>
                    <a:ea typeface="宋体" panose="02010600030101010101" pitchFamily="2" charset="-122"/>
                  </a:rPr>
                  <a:t>CO</a:t>
                </a:r>
              </a:p>
            </p:txBody>
          </p:sp>
        </p:grpSp>
        <p:grpSp>
          <p:nvGrpSpPr>
            <p:cNvPr id="249903" name="Group 106">
              <a:extLst>
                <a:ext uri="{FF2B5EF4-FFF2-40B4-BE49-F238E27FC236}">
                  <a16:creationId xmlns:a16="http://schemas.microsoft.com/office/drawing/2014/main" id="{8F51F8C7-4D23-3E48-8483-3A693C4C9CEA}"/>
                </a:ext>
              </a:extLst>
            </p:cNvPr>
            <p:cNvGrpSpPr>
              <a:grpSpLocks/>
            </p:cNvGrpSpPr>
            <p:nvPr/>
          </p:nvGrpSpPr>
          <p:grpSpPr bwMode="auto">
            <a:xfrm>
              <a:off x="2933" y="2857"/>
              <a:ext cx="1686" cy="192"/>
              <a:chOff x="3090" y="2624"/>
              <a:chExt cx="1214" cy="151"/>
            </a:xfrm>
          </p:grpSpPr>
          <p:sp>
            <p:nvSpPr>
              <p:cNvPr id="249921" name="Line 107">
                <a:extLst>
                  <a:ext uri="{FF2B5EF4-FFF2-40B4-BE49-F238E27FC236}">
                    <a16:creationId xmlns:a16="http://schemas.microsoft.com/office/drawing/2014/main" id="{BC9FB7DA-0D88-E047-8E2A-113333A5358E}"/>
                  </a:ext>
                </a:extLst>
              </p:cNvPr>
              <p:cNvSpPr>
                <a:spLocks noChangeShapeType="1"/>
              </p:cNvSpPr>
              <p:nvPr/>
            </p:nvSpPr>
            <p:spPr bwMode="auto">
              <a:xfrm>
                <a:off x="3090" y="2702"/>
                <a:ext cx="1214"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22" name="Text Box 108">
                <a:extLst>
                  <a:ext uri="{FF2B5EF4-FFF2-40B4-BE49-F238E27FC236}">
                    <a16:creationId xmlns:a16="http://schemas.microsoft.com/office/drawing/2014/main" id="{607E52C7-7EFD-9242-8C28-E5106C6265E2}"/>
                  </a:ext>
                </a:extLst>
              </p:cNvPr>
              <p:cNvSpPr txBox="1">
                <a:spLocks noChangeArrowheads="1"/>
              </p:cNvSpPr>
              <p:nvPr/>
            </p:nvSpPr>
            <p:spPr bwMode="auto">
              <a:xfrm>
                <a:off x="3643" y="2624"/>
                <a:ext cx="190" cy="151"/>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b="1">
                    <a:latin typeface="Arial Black" panose="020B0604020202020204" pitchFamily="34" charset="0"/>
                    <a:ea typeface="宋体" panose="02010600030101010101" pitchFamily="2" charset="-122"/>
                  </a:rPr>
                  <a:t>CI</a:t>
                </a:r>
              </a:p>
            </p:txBody>
          </p:sp>
        </p:grpSp>
        <p:grpSp>
          <p:nvGrpSpPr>
            <p:cNvPr id="249904" name="Group 109">
              <a:extLst>
                <a:ext uri="{FF2B5EF4-FFF2-40B4-BE49-F238E27FC236}">
                  <a16:creationId xmlns:a16="http://schemas.microsoft.com/office/drawing/2014/main" id="{A991EDEB-4161-6043-B2DB-37C04C34DC6F}"/>
                </a:ext>
              </a:extLst>
            </p:cNvPr>
            <p:cNvGrpSpPr>
              <a:grpSpLocks/>
            </p:cNvGrpSpPr>
            <p:nvPr/>
          </p:nvGrpSpPr>
          <p:grpSpPr bwMode="auto">
            <a:xfrm>
              <a:off x="381" y="2860"/>
              <a:ext cx="2532" cy="192"/>
              <a:chOff x="1248" y="2637"/>
              <a:chExt cx="1823" cy="151"/>
            </a:xfrm>
          </p:grpSpPr>
          <p:sp>
            <p:nvSpPr>
              <p:cNvPr id="249919" name="Line 110">
                <a:extLst>
                  <a:ext uri="{FF2B5EF4-FFF2-40B4-BE49-F238E27FC236}">
                    <a16:creationId xmlns:a16="http://schemas.microsoft.com/office/drawing/2014/main" id="{00E1F7A8-BCCD-D647-B018-0E8940CC6B33}"/>
                  </a:ext>
                </a:extLst>
              </p:cNvPr>
              <p:cNvSpPr>
                <a:spLocks noChangeShapeType="1"/>
              </p:cNvSpPr>
              <p:nvPr/>
            </p:nvSpPr>
            <p:spPr bwMode="auto">
              <a:xfrm>
                <a:off x="1248" y="2715"/>
                <a:ext cx="1823" cy="1"/>
              </a:xfrm>
              <a:prstGeom prst="line">
                <a:avLst/>
              </a:prstGeom>
              <a:noFill/>
              <a:ln w="9360">
                <a:solidFill>
                  <a:srgbClr val="000066"/>
                </a:solidFill>
                <a:miter lim="800000"/>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9920" name="Text Box 111">
                <a:extLst>
                  <a:ext uri="{FF2B5EF4-FFF2-40B4-BE49-F238E27FC236}">
                    <a16:creationId xmlns:a16="http://schemas.microsoft.com/office/drawing/2014/main" id="{A5C62733-0A43-0C42-8FF8-B8EECDCECC48}"/>
                  </a:ext>
                </a:extLst>
              </p:cNvPr>
              <p:cNvSpPr txBox="1">
                <a:spLocks noChangeArrowheads="1"/>
              </p:cNvSpPr>
              <p:nvPr/>
            </p:nvSpPr>
            <p:spPr bwMode="auto">
              <a:xfrm>
                <a:off x="2111" y="2637"/>
                <a:ext cx="221" cy="151"/>
              </a:xfrm>
              <a:prstGeom prst="rect">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90360" tIns="44280" rIns="90360" bIns="4428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spcBef>
                    <a:spcPts val="600"/>
                  </a:spcBef>
                </a:pPr>
                <a:r>
                  <a:rPr lang="en-GB" altLang="zh-CN" b="1">
                    <a:latin typeface="Arial Black" panose="020B0604020202020204" pitchFamily="34" charset="0"/>
                    <a:ea typeface="宋体" panose="02010600030101010101" pitchFamily="2" charset="-122"/>
                  </a:rPr>
                  <a:t>CT</a:t>
                </a:r>
              </a:p>
            </p:txBody>
          </p:sp>
        </p:grpSp>
        <p:grpSp>
          <p:nvGrpSpPr>
            <p:cNvPr id="249905" name="Group 135">
              <a:extLst>
                <a:ext uri="{FF2B5EF4-FFF2-40B4-BE49-F238E27FC236}">
                  <a16:creationId xmlns:a16="http://schemas.microsoft.com/office/drawing/2014/main" id="{1FA8AD16-577F-D54D-A730-BD3905B2788A}"/>
                </a:ext>
              </a:extLst>
            </p:cNvPr>
            <p:cNvGrpSpPr>
              <a:grpSpLocks/>
            </p:cNvGrpSpPr>
            <p:nvPr/>
          </p:nvGrpSpPr>
          <p:grpSpPr bwMode="auto">
            <a:xfrm>
              <a:off x="502" y="3287"/>
              <a:ext cx="4852" cy="211"/>
              <a:chOff x="1354" y="3030"/>
              <a:chExt cx="3492" cy="165"/>
            </a:xfrm>
          </p:grpSpPr>
          <p:sp>
            <p:nvSpPr>
              <p:cNvPr id="249907" name="Text Box 136">
                <a:extLst>
                  <a:ext uri="{FF2B5EF4-FFF2-40B4-BE49-F238E27FC236}">
                    <a16:creationId xmlns:a16="http://schemas.microsoft.com/office/drawing/2014/main" id="{9547483E-C3D9-6849-A2A0-D75A04CE1981}"/>
                  </a:ext>
                </a:extLst>
              </p:cNvPr>
              <p:cNvSpPr txBox="1">
                <a:spLocks noChangeArrowheads="1"/>
              </p:cNvSpPr>
              <p:nvPr/>
            </p:nvSpPr>
            <p:spPr bwMode="auto">
              <a:xfrm>
                <a:off x="4735" y="3031"/>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08" name="Text Box 137">
                <a:extLst>
                  <a:ext uri="{FF2B5EF4-FFF2-40B4-BE49-F238E27FC236}">
                    <a16:creationId xmlns:a16="http://schemas.microsoft.com/office/drawing/2014/main" id="{E6EBB4BB-ACFA-D549-A2AF-DCBECAD13A95}"/>
                  </a:ext>
                </a:extLst>
              </p:cNvPr>
              <p:cNvSpPr txBox="1">
                <a:spLocks noChangeArrowheads="1"/>
              </p:cNvSpPr>
              <p:nvPr/>
            </p:nvSpPr>
            <p:spPr bwMode="auto">
              <a:xfrm>
                <a:off x="4427"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09" name="Text Box 138">
                <a:extLst>
                  <a:ext uri="{FF2B5EF4-FFF2-40B4-BE49-F238E27FC236}">
                    <a16:creationId xmlns:a16="http://schemas.microsoft.com/office/drawing/2014/main" id="{50425B34-F87E-2E43-9DED-B32B60431BF5}"/>
                  </a:ext>
                </a:extLst>
              </p:cNvPr>
              <p:cNvSpPr txBox="1">
                <a:spLocks noChangeArrowheads="1"/>
              </p:cNvSpPr>
              <p:nvPr/>
            </p:nvSpPr>
            <p:spPr bwMode="auto">
              <a:xfrm>
                <a:off x="3812"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10" name="Text Box 139">
                <a:extLst>
                  <a:ext uri="{FF2B5EF4-FFF2-40B4-BE49-F238E27FC236}">
                    <a16:creationId xmlns:a16="http://schemas.microsoft.com/office/drawing/2014/main" id="{B052B913-0767-A34C-BB17-71ECC86FED40}"/>
                  </a:ext>
                </a:extLst>
              </p:cNvPr>
              <p:cNvSpPr txBox="1">
                <a:spLocks noChangeArrowheads="1"/>
              </p:cNvSpPr>
              <p:nvPr/>
            </p:nvSpPr>
            <p:spPr bwMode="auto">
              <a:xfrm>
                <a:off x="2890"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11" name="Text Box 140">
                <a:extLst>
                  <a:ext uri="{FF2B5EF4-FFF2-40B4-BE49-F238E27FC236}">
                    <a16:creationId xmlns:a16="http://schemas.microsoft.com/office/drawing/2014/main" id="{F4B44D2C-5057-3946-B67F-99824E48D5E6}"/>
                  </a:ext>
                </a:extLst>
              </p:cNvPr>
              <p:cNvSpPr txBox="1">
                <a:spLocks noChangeArrowheads="1"/>
              </p:cNvSpPr>
              <p:nvPr/>
            </p:nvSpPr>
            <p:spPr bwMode="auto">
              <a:xfrm>
                <a:off x="2582"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12" name="Text Box 141">
                <a:extLst>
                  <a:ext uri="{FF2B5EF4-FFF2-40B4-BE49-F238E27FC236}">
                    <a16:creationId xmlns:a16="http://schemas.microsoft.com/office/drawing/2014/main" id="{71339302-3578-F248-84BB-14E064F8CAEE}"/>
                  </a:ext>
                </a:extLst>
              </p:cNvPr>
              <p:cNvSpPr txBox="1">
                <a:spLocks noChangeArrowheads="1"/>
              </p:cNvSpPr>
              <p:nvPr/>
            </p:nvSpPr>
            <p:spPr bwMode="auto">
              <a:xfrm>
                <a:off x="2275"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13" name="Text Box 142">
                <a:extLst>
                  <a:ext uri="{FF2B5EF4-FFF2-40B4-BE49-F238E27FC236}">
                    <a16:creationId xmlns:a16="http://schemas.microsoft.com/office/drawing/2014/main" id="{535E3F84-4D74-8640-95ED-0EFA80716E48}"/>
                  </a:ext>
                </a:extLst>
              </p:cNvPr>
              <p:cNvSpPr txBox="1">
                <a:spLocks noChangeArrowheads="1"/>
              </p:cNvSpPr>
              <p:nvPr/>
            </p:nvSpPr>
            <p:spPr bwMode="auto">
              <a:xfrm>
                <a:off x="1661"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14" name="Text Box 143">
                <a:extLst>
                  <a:ext uri="{FF2B5EF4-FFF2-40B4-BE49-F238E27FC236}">
                    <a16:creationId xmlns:a16="http://schemas.microsoft.com/office/drawing/2014/main" id="{917CE1AE-F473-024D-9686-7F4BC4A33765}"/>
                  </a:ext>
                </a:extLst>
              </p:cNvPr>
              <p:cNvSpPr txBox="1">
                <a:spLocks noChangeArrowheads="1"/>
              </p:cNvSpPr>
              <p:nvPr/>
            </p:nvSpPr>
            <p:spPr bwMode="auto">
              <a:xfrm>
                <a:off x="4120"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15" name="Text Box 144">
                <a:extLst>
                  <a:ext uri="{FF2B5EF4-FFF2-40B4-BE49-F238E27FC236}">
                    <a16:creationId xmlns:a16="http://schemas.microsoft.com/office/drawing/2014/main" id="{8E12F097-E8C0-F74F-AFC4-00B9817031C4}"/>
                  </a:ext>
                </a:extLst>
              </p:cNvPr>
              <p:cNvSpPr txBox="1">
                <a:spLocks noChangeArrowheads="1"/>
              </p:cNvSpPr>
              <p:nvPr/>
            </p:nvSpPr>
            <p:spPr bwMode="auto">
              <a:xfrm>
                <a:off x="3505"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16" name="Text Box 145">
                <a:extLst>
                  <a:ext uri="{FF2B5EF4-FFF2-40B4-BE49-F238E27FC236}">
                    <a16:creationId xmlns:a16="http://schemas.microsoft.com/office/drawing/2014/main" id="{4D4AC425-B9B4-474E-8665-2A7E2CF62CD5}"/>
                  </a:ext>
                </a:extLst>
              </p:cNvPr>
              <p:cNvSpPr txBox="1">
                <a:spLocks noChangeArrowheads="1"/>
              </p:cNvSpPr>
              <p:nvPr/>
            </p:nvSpPr>
            <p:spPr bwMode="auto">
              <a:xfrm>
                <a:off x="3197"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sp>
            <p:nvSpPr>
              <p:cNvPr id="249917" name="Text Box 146">
                <a:extLst>
                  <a:ext uri="{FF2B5EF4-FFF2-40B4-BE49-F238E27FC236}">
                    <a16:creationId xmlns:a16="http://schemas.microsoft.com/office/drawing/2014/main" id="{465FD3DF-DBF9-C245-AE4E-6129314DEDB8}"/>
                  </a:ext>
                </a:extLst>
              </p:cNvPr>
              <p:cNvSpPr txBox="1">
                <a:spLocks noChangeArrowheads="1"/>
              </p:cNvSpPr>
              <p:nvPr/>
            </p:nvSpPr>
            <p:spPr bwMode="auto">
              <a:xfrm>
                <a:off x="1967"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1</a:t>
                </a:r>
              </a:p>
            </p:txBody>
          </p:sp>
          <p:sp>
            <p:nvSpPr>
              <p:cNvPr id="249918" name="Text Box 147">
                <a:extLst>
                  <a:ext uri="{FF2B5EF4-FFF2-40B4-BE49-F238E27FC236}">
                    <a16:creationId xmlns:a16="http://schemas.microsoft.com/office/drawing/2014/main" id="{E4A08FE6-6715-D74D-AD9E-7119C05CD4FA}"/>
                  </a:ext>
                </a:extLst>
              </p:cNvPr>
              <p:cNvSpPr txBox="1">
                <a:spLocks noChangeArrowheads="1"/>
              </p:cNvSpPr>
              <p:nvPr/>
            </p:nvSpPr>
            <p:spPr bwMode="auto">
              <a:xfrm>
                <a:off x="1354" y="3030"/>
                <a:ext cx="111"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45720" tIns="46800" rIns="4572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ctr">
                  <a:lnSpc>
                    <a:spcPct val="88000"/>
                  </a:lnSpc>
                </a:pPr>
                <a:r>
                  <a:rPr lang="en-GB" altLang="zh-CN" sz="1800" b="1">
                    <a:solidFill>
                      <a:srgbClr val="C00000"/>
                    </a:solidFill>
                    <a:latin typeface="Arial Black" panose="020B0604020202020204" pitchFamily="34" charset="0"/>
                    <a:ea typeface="宋体" panose="02010600030101010101" pitchFamily="2" charset="-122"/>
                  </a:rPr>
                  <a:t>0</a:t>
                </a:r>
              </a:p>
            </p:txBody>
          </p:sp>
        </p:grpSp>
        <p:sp>
          <p:nvSpPr>
            <p:cNvPr id="249906" name="Rectangle 123">
              <a:extLst>
                <a:ext uri="{FF2B5EF4-FFF2-40B4-BE49-F238E27FC236}">
                  <a16:creationId xmlns:a16="http://schemas.microsoft.com/office/drawing/2014/main" id="{1FA5BC57-2A73-314D-BAEF-24F9886363BC}"/>
                </a:ext>
              </a:extLst>
            </p:cNvPr>
            <p:cNvSpPr>
              <a:spLocks noChangeArrowheads="1"/>
            </p:cNvSpPr>
            <p:nvPr/>
          </p:nvSpPr>
          <p:spPr bwMode="auto">
            <a:xfrm>
              <a:off x="2944" y="3282"/>
              <a:ext cx="1700" cy="229"/>
            </a:xfrm>
            <a:prstGeom prst="rect">
              <a:avLst/>
            </a:prstGeom>
            <a:solidFill>
              <a:schemeClr val="accent1">
                <a:alpha val="25098"/>
              </a:schemeClr>
            </a:solidFill>
            <a:ln>
              <a:noFill/>
            </a:ln>
            <a:effectLst/>
            <a:extLs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grpSp>
      <p:sp>
        <p:nvSpPr>
          <p:cNvPr id="748669" name="Text Box 125">
            <a:extLst>
              <a:ext uri="{FF2B5EF4-FFF2-40B4-BE49-F238E27FC236}">
                <a16:creationId xmlns:a16="http://schemas.microsoft.com/office/drawing/2014/main" id="{1E8CB390-4E7E-0642-97DB-E5B827F4FCBE}"/>
              </a:ext>
            </a:extLst>
          </p:cNvPr>
          <p:cNvSpPr txBox="1">
            <a:spLocks noChangeArrowheads="1"/>
          </p:cNvSpPr>
          <p:nvPr/>
        </p:nvSpPr>
        <p:spPr bwMode="auto">
          <a:xfrm>
            <a:off x="2016125" y="3889375"/>
            <a:ext cx="6837363"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10000"/>
              </a:spcBef>
            </a:pPr>
            <a:r>
              <a:rPr lang="zh-CN" altLang="en-US" sz="2000" b="1">
                <a:solidFill>
                  <a:schemeClr val="accent1"/>
                </a:solidFill>
                <a:latin typeface="微软雅黑" panose="020B0503020204020204" pitchFamily="34" charset="-122"/>
                <a:ea typeface="微软雅黑" panose="020B0503020204020204" pitchFamily="34" charset="-122"/>
              </a:rPr>
              <a:t>问题：逻辑地址为</a:t>
            </a:r>
            <a:r>
              <a:rPr lang="en-US" altLang="zh-CN" sz="2000" b="1">
                <a:solidFill>
                  <a:schemeClr val="accent1"/>
                </a:solidFill>
                <a:latin typeface="微软雅黑" panose="020B0503020204020204" pitchFamily="34" charset="-122"/>
                <a:ea typeface="微软雅黑" panose="020B0503020204020204" pitchFamily="34" charset="-122"/>
              </a:rPr>
              <a:t>0x0A7A</a:t>
            </a:r>
            <a:r>
              <a:rPr lang="zh-CN" altLang="en-US" sz="2000" b="1">
                <a:solidFill>
                  <a:schemeClr val="accent1"/>
                </a:solidFill>
                <a:latin typeface="微软雅黑" panose="020B0503020204020204" pitchFamily="34" charset="-122"/>
                <a:ea typeface="微软雅黑" panose="020B0503020204020204" pitchFamily="34" charset="-122"/>
              </a:rPr>
              <a:t>、</a:t>
            </a:r>
            <a:r>
              <a:rPr lang="en-US" altLang="zh-CN" sz="2000" b="1">
                <a:solidFill>
                  <a:schemeClr val="accent1"/>
                </a:solidFill>
                <a:latin typeface="微软雅黑" panose="020B0503020204020204" pitchFamily="34" charset="-122"/>
                <a:ea typeface="微软雅黑" panose="020B0503020204020204" pitchFamily="34" charset="-122"/>
              </a:rPr>
              <a:t>0x0507</a:t>
            </a:r>
            <a:r>
              <a:rPr lang="zh-CN" altLang="en-US" sz="2000" b="1">
                <a:solidFill>
                  <a:schemeClr val="accent1"/>
                </a:solidFill>
                <a:latin typeface="微软雅黑" panose="020B0503020204020204" pitchFamily="34" charset="-122"/>
                <a:ea typeface="微软雅黑" panose="020B0503020204020204" pitchFamily="34" charset="-122"/>
              </a:rPr>
              <a:t>时的访存过程如何？</a:t>
            </a:r>
          </a:p>
          <a:p>
            <a:pPr>
              <a:spcBef>
                <a:spcPct val="10000"/>
              </a:spcBef>
            </a:pPr>
            <a:r>
              <a:rPr lang="zh-CN" altLang="en-US" sz="2000" b="1">
                <a:solidFill>
                  <a:schemeClr val="accent1"/>
                </a:solidFill>
                <a:latin typeface="微软雅黑" panose="020B0503020204020204" pitchFamily="34" charset="-122"/>
                <a:ea typeface="微软雅黑" panose="020B0503020204020204" pitchFamily="34" charset="-122"/>
              </a:rPr>
              <a:t>          </a:t>
            </a:r>
            <a:r>
              <a:rPr lang="en-US" altLang="zh-CN" sz="2000" b="1">
                <a:solidFill>
                  <a:schemeClr val="accent2"/>
                </a:solidFill>
                <a:latin typeface="微软雅黑" panose="020B0503020204020204" pitchFamily="34" charset="-122"/>
                <a:ea typeface="微软雅黑" panose="020B0503020204020204" pitchFamily="34" charset="-122"/>
              </a:rPr>
              <a:t>TLB</a:t>
            </a:r>
            <a:r>
              <a:rPr lang="zh-CN" altLang="en-US" sz="2000" b="1">
                <a:solidFill>
                  <a:schemeClr val="accent2"/>
                </a:solidFill>
                <a:latin typeface="微软雅黑" panose="020B0503020204020204" pitchFamily="34" charset="-122"/>
                <a:ea typeface="微软雅黑" panose="020B0503020204020204" pitchFamily="34" charset="-122"/>
              </a:rPr>
              <a:t>缺失</a:t>
            </a:r>
            <a:r>
              <a:rPr lang="en-US" altLang="zh-CN" sz="2000" b="1">
                <a:solidFill>
                  <a:schemeClr val="accent2"/>
                </a:solidFill>
                <a:latin typeface="微软雅黑" panose="020B0503020204020204" pitchFamily="34" charset="-122"/>
                <a:ea typeface="微软雅黑" panose="020B0503020204020204" pitchFamily="34" charset="-122"/>
              </a:rPr>
              <a:t>/cache</a:t>
            </a:r>
            <a:r>
              <a:rPr lang="zh-CN" altLang="en-US" sz="2000" b="1">
                <a:solidFill>
                  <a:schemeClr val="accent2"/>
                </a:solidFill>
                <a:latin typeface="微软雅黑" panose="020B0503020204020204" pitchFamily="34" charset="-122"/>
                <a:ea typeface="微软雅黑" panose="020B0503020204020204" pitchFamily="34" charset="-122"/>
              </a:rPr>
              <a:t>缺失、</a:t>
            </a:r>
            <a:r>
              <a:rPr lang="en-US" altLang="zh-CN" sz="2000" b="1">
                <a:solidFill>
                  <a:schemeClr val="accent2"/>
                </a:solidFill>
                <a:latin typeface="微软雅黑" panose="020B0503020204020204" pitchFamily="34" charset="-122"/>
                <a:ea typeface="微软雅黑" panose="020B0503020204020204" pitchFamily="34" charset="-122"/>
              </a:rPr>
              <a:t>TLB</a:t>
            </a:r>
            <a:r>
              <a:rPr lang="zh-CN" altLang="en-US" sz="2000" b="1">
                <a:solidFill>
                  <a:schemeClr val="accent2"/>
                </a:solidFill>
                <a:latin typeface="微软雅黑" panose="020B0503020204020204" pitchFamily="34" charset="-122"/>
                <a:ea typeface="微软雅黑" panose="020B0503020204020204" pitchFamily="34" charset="-122"/>
              </a:rPr>
              <a:t>缺失</a:t>
            </a:r>
            <a:r>
              <a:rPr lang="en-US" altLang="zh-CN" sz="2000" b="1">
                <a:solidFill>
                  <a:schemeClr val="accent2"/>
                </a:solidFill>
                <a:latin typeface="微软雅黑" panose="020B0503020204020204" pitchFamily="34" charset="-122"/>
                <a:ea typeface="微软雅黑" panose="020B0503020204020204" pitchFamily="34" charset="-122"/>
              </a:rPr>
              <a:t>/</a:t>
            </a:r>
            <a:r>
              <a:rPr lang="zh-CN" altLang="en-US" sz="2000" b="1">
                <a:solidFill>
                  <a:schemeClr val="accent2"/>
                </a:solidFill>
                <a:latin typeface="微软雅黑" panose="020B0503020204020204" pitchFamily="34" charset="-122"/>
                <a:ea typeface="微软雅黑" panose="020B0503020204020204" pitchFamily="34" charset="-122"/>
              </a:rPr>
              <a:t>缺页</a:t>
            </a:r>
          </a:p>
        </p:txBody>
      </p:sp>
      <p:pic>
        <p:nvPicPr>
          <p:cNvPr id="249874" name="图片 124">
            <a:extLst>
              <a:ext uri="{FF2B5EF4-FFF2-40B4-BE49-F238E27FC236}">
                <a16:creationId xmlns:a16="http://schemas.microsoft.com/office/drawing/2014/main" id="{A4FB83CD-7BA3-7F4B-AB0E-C72A41602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888" y="3709988"/>
            <a:ext cx="63341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9875" name="图片 125">
            <a:extLst>
              <a:ext uri="{FF2B5EF4-FFF2-40B4-BE49-F238E27FC236}">
                <a16:creationId xmlns:a16="http://schemas.microsoft.com/office/drawing/2014/main" id="{055DA247-9245-374E-8E0E-2D91FC65F0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3625" y="6589713"/>
            <a:ext cx="31432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48666"/>
                                        </p:tgtEl>
                                        <p:attrNameLst>
                                          <p:attrName>style.visibility</p:attrName>
                                        </p:attrNameLst>
                                      </p:cBhvr>
                                      <p:to>
                                        <p:strVal val="visible"/>
                                      </p:to>
                                    </p:set>
                                    <p:animEffect transition="in" filter="blinds(horizontal)">
                                      <p:cBhvr>
                                        <p:cTn id="7" dur="500"/>
                                        <p:tgtEl>
                                          <p:spTgt spid="7486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016"/>
                                        </p:tgtEl>
                                        <p:attrNameLst>
                                          <p:attrName>style.visibility</p:attrName>
                                        </p:attrNameLst>
                                      </p:cBhvr>
                                      <p:to>
                                        <p:strVal val="visible"/>
                                      </p:to>
                                    </p:set>
                                    <p:animEffect transition="in" filter="blinds(horizontal)">
                                      <p:cBhvr>
                                        <p:cTn id="12" dur="500"/>
                                        <p:tgtEl>
                                          <p:spTgt spid="380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8017"/>
                                        </p:tgtEl>
                                        <p:attrNameLst>
                                          <p:attrName>style.visibility</p:attrName>
                                        </p:attrNameLst>
                                      </p:cBhvr>
                                      <p:to>
                                        <p:strVal val="visible"/>
                                      </p:to>
                                    </p:set>
                                    <p:animEffect transition="in" filter="blinds(horizontal)">
                                      <p:cBhvr>
                                        <p:cTn id="17" dur="500"/>
                                        <p:tgtEl>
                                          <p:spTgt spid="380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8018"/>
                                        </p:tgtEl>
                                        <p:attrNameLst>
                                          <p:attrName>style.visibility</p:attrName>
                                        </p:attrNameLst>
                                      </p:cBhvr>
                                      <p:to>
                                        <p:strVal val="visible"/>
                                      </p:to>
                                    </p:set>
                                    <p:animEffect transition="in" filter="blinds(horizontal)">
                                      <p:cBhvr>
                                        <p:cTn id="22" dur="500"/>
                                        <p:tgtEl>
                                          <p:spTgt spid="380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8019"/>
                                        </p:tgtEl>
                                        <p:attrNameLst>
                                          <p:attrName>style.visibility</p:attrName>
                                        </p:attrNameLst>
                                      </p:cBhvr>
                                      <p:to>
                                        <p:strVal val="visible"/>
                                      </p:to>
                                    </p:set>
                                    <p:animEffect transition="in" filter="blinds(horizontal)">
                                      <p:cBhvr>
                                        <p:cTn id="27" dur="500"/>
                                        <p:tgtEl>
                                          <p:spTgt spid="380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021"/>
                                        </p:tgtEl>
                                        <p:attrNameLst>
                                          <p:attrName>style.visibility</p:attrName>
                                        </p:attrNameLst>
                                      </p:cBhvr>
                                      <p:to>
                                        <p:strVal val="visible"/>
                                      </p:to>
                                    </p:set>
                                    <p:animEffect transition="in" filter="blinds(horizontal)">
                                      <p:cBhvr>
                                        <p:cTn id="32" dur="500"/>
                                        <p:tgtEl>
                                          <p:spTgt spid="380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8022"/>
                                        </p:tgtEl>
                                        <p:attrNameLst>
                                          <p:attrName>style.visibility</p:attrName>
                                        </p:attrNameLst>
                                      </p:cBhvr>
                                      <p:to>
                                        <p:strVal val="visible"/>
                                      </p:to>
                                    </p:set>
                                    <p:animEffect transition="in" filter="blinds(horizontal)">
                                      <p:cBhvr>
                                        <p:cTn id="37" dur="500"/>
                                        <p:tgtEl>
                                          <p:spTgt spid="380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48668"/>
                                        </p:tgtEl>
                                        <p:attrNameLst>
                                          <p:attrName>style.visibility</p:attrName>
                                        </p:attrNameLst>
                                      </p:cBhvr>
                                      <p:to>
                                        <p:strVal val="visible"/>
                                      </p:to>
                                    </p:set>
                                    <p:animEffect transition="in" filter="blinds(horizontal)">
                                      <p:cBhvr>
                                        <p:cTn id="42" dur="500"/>
                                        <p:tgtEl>
                                          <p:spTgt spid="74866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8037"/>
                                        </p:tgtEl>
                                        <p:attrNameLst>
                                          <p:attrName>style.visibility</p:attrName>
                                        </p:attrNameLst>
                                      </p:cBhvr>
                                      <p:to>
                                        <p:strVal val="visible"/>
                                      </p:to>
                                    </p:set>
                                    <p:animEffect transition="in" filter="blinds(horizontal)">
                                      <p:cBhvr>
                                        <p:cTn id="47" dur="500"/>
                                        <p:tgtEl>
                                          <p:spTgt spid="380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8038"/>
                                        </p:tgtEl>
                                        <p:attrNameLst>
                                          <p:attrName>style.visibility</p:attrName>
                                        </p:attrNameLst>
                                      </p:cBhvr>
                                      <p:to>
                                        <p:strVal val="visible"/>
                                      </p:to>
                                    </p:set>
                                    <p:animEffect transition="in" filter="blinds(horizontal)">
                                      <p:cBhvr>
                                        <p:cTn id="52" dur="500"/>
                                        <p:tgtEl>
                                          <p:spTgt spid="3803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8039"/>
                                        </p:tgtEl>
                                        <p:attrNameLst>
                                          <p:attrName>style.visibility</p:attrName>
                                        </p:attrNameLst>
                                      </p:cBhvr>
                                      <p:to>
                                        <p:strVal val="visible"/>
                                      </p:to>
                                    </p:set>
                                    <p:animEffect transition="in" filter="blinds(horizontal)">
                                      <p:cBhvr>
                                        <p:cTn id="57" dur="500"/>
                                        <p:tgtEl>
                                          <p:spTgt spid="3803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8041"/>
                                        </p:tgtEl>
                                        <p:attrNameLst>
                                          <p:attrName>style.visibility</p:attrName>
                                        </p:attrNameLst>
                                      </p:cBhvr>
                                      <p:to>
                                        <p:strVal val="visible"/>
                                      </p:to>
                                    </p:set>
                                    <p:animEffect transition="in" filter="blinds(horizontal)">
                                      <p:cBhvr>
                                        <p:cTn id="62" dur="500"/>
                                        <p:tgtEl>
                                          <p:spTgt spid="3804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8042"/>
                                        </p:tgtEl>
                                        <p:attrNameLst>
                                          <p:attrName>style.visibility</p:attrName>
                                        </p:attrNameLst>
                                      </p:cBhvr>
                                      <p:to>
                                        <p:strVal val="visible"/>
                                      </p:to>
                                    </p:set>
                                    <p:animEffect transition="in" filter="blinds(horizontal)">
                                      <p:cBhvr>
                                        <p:cTn id="67" dur="500"/>
                                        <p:tgtEl>
                                          <p:spTgt spid="3804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748669"/>
                                        </p:tgtEl>
                                        <p:attrNameLst>
                                          <p:attrName>style.visibility</p:attrName>
                                        </p:attrNameLst>
                                      </p:cBhvr>
                                      <p:to>
                                        <p:strVal val="visible"/>
                                      </p:to>
                                    </p:set>
                                    <p:animEffect transition="in" filter="blinds(horizontal)">
                                      <p:cBhvr>
                                        <p:cTn id="72" dur="500"/>
                                        <p:tgtEl>
                                          <p:spTgt spid="748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16" grpId="0"/>
      <p:bldP spid="38017" grpId="0"/>
      <p:bldP spid="38018" grpId="0"/>
      <p:bldP spid="38019" grpId="0"/>
      <p:bldP spid="38021" grpId="0"/>
      <p:bldP spid="38022" grpId="0"/>
      <p:bldP spid="38037" grpId="0"/>
      <p:bldP spid="38038" grpId="0"/>
      <p:bldP spid="38039" grpId="0"/>
      <p:bldP spid="38041" grpId="0"/>
      <p:bldP spid="38042" grpId="0"/>
      <p:bldP spid="74866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A8F332C6-75B0-6045-A1E9-FC357798C101}"/>
              </a:ext>
            </a:extLst>
          </p:cNvPr>
          <p:cNvSpPr>
            <a:spLocks noGrp="1" noChangeArrowheads="1"/>
          </p:cNvSpPr>
          <p:nvPr>
            <p:ph type="title"/>
          </p:nvPr>
        </p:nvSpPr>
        <p:spPr>
          <a:xfrm>
            <a:off x="214313" y="128588"/>
            <a:ext cx="8807450" cy="528637"/>
          </a:xfrm>
        </p:spPr>
        <p:txBody>
          <a:bodyPr/>
          <a:lstStyle/>
          <a:p>
            <a:r>
              <a:rPr lang="en-US" altLang="zh-CN"/>
              <a:t>IA-32</a:t>
            </a:r>
            <a:r>
              <a:rPr lang="zh-CN" altLang="en-US"/>
              <a:t>中线性地址向物理地址转换</a:t>
            </a:r>
            <a:endParaRPr lang="en-US" altLang="zh-CN"/>
          </a:p>
        </p:txBody>
      </p:sp>
      <p:pic>
        <p:nvPicPr>
          <p:cNvPr id="251907" name="Picture 3">
            <a:extLst>
              <a:ext uri="{FF2B5EF4-FFF2-40B4-BE49-F238E27FC236}">
                <a16:creationId xmlns:a16="http://schemas.microsoft.com/office/drawing/2014/main" id="{15274808-A365-1E44-8764-6FA205B0A1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1555750"/>
            <a:ext cx="8939212" cy="526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1908" name="Rectangle 4">
            <a:extLst>
              <a:ext uri="{FF2B5EF4-FFF2-40B4-BE49-F238E27FC236}">
                <a16:creationId xmlns:a16="http://schemas.microsoft.com/office/drawing/2014/main" id="{81AE73EF-581E-594D-AF47-BCD33B6CE611}"/>
              </a:ext>
            </a:extLst>
          </p:cNvPr>
          <p:cNvSpPr>
            <a:spLocks noChangeArrowheads="1"/>
          </p:cNvSpPr>
          <p:nvPr/>
        </p:nvSpPr>
        <p:spPr bwMode="auto">
          <a:xfrm>
            <a:off x="1973263" y="3036888"/>
            <a:ext cx="985837" cy="401637"/>
          </a:xfrm>
          <a:prstGeom prst="rect">
            <a:avLst/>
          </a:prstGeom>
          <a:noFill/>
          <a:ln w="50800">
            <a:solidFill>
              <a:srgbClr val="FE9AAB"/>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51909" name="Rectangle 5">
            <a:extLst>
              <a:ext uri="{FF2B5EF4-FFF2-40B4-BE49-F238E27FC236}">
                <a16:creationId xmlns:a16="http://schemas.microsoft.com/office/drawing/2014/main" id="{A48F301F-C0CC-1A4B-9C39-924181CD9C9C}"/>
              </a:ext>
            </a:extLst>
          </p:cNvPr>
          <p:cNvSpPr>
            <a:spLocks noChangeArrowheads="1"/>
          </p:cNvSpPr>
          <p:nvPr/>
        </p:nvSpPr>
        <p:spPr bwMode="auto">
          <a:xfrm>
            <a:off x="4846638" y="2867025"/>
            <a:ext cx="566737" cy="371475"/>
          </a:xfrm>
          <a:prstGeom prst="rect">
            <a:avLst/>
          </a:prstGeom>
          <a:noFill/>
          <a:ln w="50800">
            <a:solidFill>
              <a:srgbClr val="FE9AAB"/>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51910" name="Rectangle 6">
            <a:extLst>
              <a:ext uri="{FF2B5EF4-FFF2-40B4-BE49-F238E27FC236}">
                <a16:creationId xmlns:a16="http://schemas.microsoft.com/office/drawing/2014/main" id="{0A96A062-1657-2A4D-B917-8B1CF1A452FA}"/>
              </a:ext>
            </a:extLst>
          </p:cNvPr>
          <p:cNvSpPr>
            <a:spLocks noChangeArrowheads="1"/>
          </p:cNvSpPr>
          <p:nvPr/>
        </p:nvSpPr>
        <p:spPr bwMode="auto">
          <a:xfrm>
            <a:off x="85725" y="5749925"/>
            <a:ext cx="550863" cy="371475"/>
          </a:xfrm>
          <a:prstGeom prst="rect">
            <a:avLst/>
          </a:prstGeom>
          <a:noFill/>
          <a:ln w="50800">
            <a:solidFill>
              <a:srgbClr val="FE9AAB"/>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51911" name="Rectangle 7">
            <a:extLst>
              <a:ext uri="{FF2B5EF4-FFF2-40B4-BE49-F238E27FC236}">
                <a16:creationId xmlns:a16="http://schemas.microsoft.com/office/drawing/2014/main" id="{12E4C51E-385E-B747-97D3-F66558208FFA}"/>
              </a:ext>
            </a:extLst>
          </p:cNvPr>
          <p:cNvSpPr>
            <a:spLocks noChangeArrowheads="1"/>
          </p:cNvSpPr>
          <p:nvPr/>
        </p:nvSpPr>
        <p:spPr bwMode="auto">
          <a:xfrm>
            <a:off x="1973263" y="4524375"/>
            <a:ext cx="1204912" cy="419100"/>
          </a:xfrm>
          <a:prstGeom prst="rect">
            <a:avLst/>
          </a:prstGeom>
          <a:noFill/>
          <a:ln w="508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51912" name="Rectangle 8">
            <a:extLst>
              <a:ext uri="{FF2B5EF4-FFF2-40B4-BE49-F238E27FC236}">
                <a16:creationId xmlns:a16="http://schemas.microsoft.com/office/drawing/2014/main" id="{EAB3039E-49D1-3144-A153-7D1D621DBC1B}"/>
              </a:ext>
            </a:extLst>
          </p:cNvPr>
          <p:cNvSpPr>
            <a:spLocks noChangeArrowheads="1"/>
          </p:cNvSpPr>
          <p:nvPr/>
        </p:nvSpPr>
        <p:spPr bwMode="auto">
          <a:xfrm>
            <a:off x="4489450" y="4327525"/>
            <a:ext cx="1204913" cy="419100"/>
          </a:xfrm>
          <a:prstGeom prst="rect">
            <a:avLst/>
          </a:prstGeom>
          <a:noFill/>
          <a:ln w="508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51913" name="Rectangle 9">
            <a:extLst>
              <a:ext uri="{FF2B5EF4-FFF2-40B4-BE49-F238E27FC236}">
                <a16:creationId xmlns:a16="http://schemas.microsoft.com/office/drawing/2014/main" id="{615BC56F-855E-4841-B617-5A75519A254D}"/>
              </a:ext>
            </a:extLst>
          </p:cNvPr>
          <p:cNvSpPr>
            <a:spLocks noChangeArrowheads="1"/>
          </p:cNvSpPr>
          <p:nvPr/>
        </p:nvSpPr>
        <p:spPr bwMode="auto">
          <a:xfrm>
            <a:off x="7067550" y="3455988"/>
            <a:ext cx="1146175" cy="2014537"/>
          </a:xfrm>
          <a:prstGeom prst="rect">
            <a:avLst/>
          </a:prstGeom>
          <a:solidFill>
            <a:schemeClr val="accent1">
              <a:alpha val="14117"/>
            </a:schemeClr>
          </a:solidFill>
          <a:ln>
            <a:noFill/>
          </a:ln>
          <a:effectLst/>
          <a:extLs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51914" name="Text Box 10">
            <a:extLst>
              <a:ext uri="{FF2B5EF4-FFF2-40B4-BE49-F238E27FC236}">
                <a16:creationId xmlns:a16="http://schemas.microsoft.com/office/drawing/2014/main" id="{EC50EA0D-C114-D344-8CCF-E8A133095CC6}"/>
              </a:ext>
            </a:extLst>
          </p:cNvPr>
          <p:cNvSpPr txBox="1">
            <a:spLocks noChangeArrowheads="1"/>
          </p:cNvSpPr>
          <p:nvPr/>
        </p:nvSpPr>
        <p:spPr bwMode="auto">
          <a:xfrm>
            <a:off x="5481638" y="814388"/>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grpSp>
        <p:nvGrpSpPr>
          <p:cNvPr id="251915" name="Group 12">
            <a:extLst>
              <a:ext uri="{FF2B5EF4-FFF2-40B4-BE49-F238E27FC236}">
                <a16:creationId xmlns:a16="http://schemas.microsoft.com/office/drawing/2014/main" id="{DAEF51B4-D7B9-E248-9F68-0CC1F65500BD}"/>
              </a:ext>
            </a:extLst>
          </p:cNvPr>
          <p:cNvGrpSpPr>
            <a:grpSpLocks/>
          </p:cNvGrpSpPr>
          <p:nvPr/>
        </p:nvGrpSpPr>
        <p:grpSpPr bwMode="auto">
          <a:xfrm>
            <a:off x="798513" y="1709738"/>
            <a:ext cx="6240462" cy="585787"/>
            <a:chOff x="503" y="933"/>
            <a:chExt cx="3931" cy="369"/>
          </a:xfrm>
        </p:grpSpPr>
        <p:sp>
          <p:nvSpPr>
            <p:cNvPr id="251918" name="Rectangle 13">
              <a:extLst>
                <a:ext uri="{FF2B5EF4-FFF2-40B4-BE49-F238E27FC236}">
                  <a16:creationId xmlns:a16="http://schemas.microsoft.com/office/drawing/2014/main" id="{EFC8A94A-7D60-214E-B3C7-894C0D3454A9}"/>
                </a:ext>
              </a:extLst>
            </p:cNvPr>
            <p:cNvSpPr>
              <a:spLocks noChangeArrowheads="1"/>
            </p:cNvSpPr>
            <p:nvPr/>
          </p:nvSpPr>
          <p:spPr bwMode="auto">
            <a:xfrm>
              <a:off x="503" y="951"/>
              <a:ext cx="3931" cy="329"/>
            </a:xfrm>
            <a:prstGeom prst="rect">
              <a:avLst/>
            </a:prstGeom>
            <a:noFill/>
            <a:ln w="508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endParaRPr lang="zh-CN" altLang="en-US">
                <a:solidFill>
                  <a:schemeClr val="accent1"/>
                </a:solidFill>
                <a:ea typeface="宋体" panose="02010600030101010101" pitchFamily="2" charset="-122"/>
              </a:endParaRPr>
            </a:p>
          </p:txBody>
        </p:sp>
        <p:sp>
          <p:nvSpPr>
            <p:cNvPr id="251919" name="Line 14">
              <a:extLst>
                <a:ext uri="{FF2B5EF4-FFF2-40B4-BE49-F238E27FC236}">
                  <a16:creationId xmlns:a16="http://schemas.microsoft.com/office/drawing/2014/main" id="{D23FACDF-622F-A645-AFC5-C24310E63B04}"/>
                </a:ext>
              </a:extLst>
            </p:cNvPr>
            <p:cNvSpPr>
              <a:spLocks noChangeShapeType="1"/>
            </p:cNvSpPr>
            <p:nvPr/>
          </p:nvSpPr>
          <p:spPr bwMode="auto">
            <a:xfrm>
              <a:off x="1645" y="933"/>
              <a:ext cx="0" cy="338"/>
            </a:xfrm>
            <a:prstGeom prst="line">
              <a:avLst/>
            </a:prstGeom>
            <a:noFill/>
            <a:ln w="508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1920" name="Line 15">
              <a:extLst>
                <a:ext uri="{FF2B5EF4-FFF2-40B4-BE49-F238E27FC236}">
                  <a16:creationId xmlns:a16="http://schemas.microsoft.com/office/drawing/2014/main" id="{BB45A6BF-968E-8A4D-91E6-E9395E5CA307}"/>
                </a:ext>
              </a:extLst>
            </p:cNvPr>
            <p:cNvSpPr>
              <a:spLocks noChangeShapeType="1"/>
            </p:cNvSpPr>
            <p:nvPr/>
          </p:nvSpPr>
          <p:spPr bwMode="auto">
            <a:xfrm>
              <a:off x="2773" y="964"/>
              <a:ext cx="0" cy="338"/>
            </a:xfrm>
            <a:prstGeom prst="line">
              <a:avLst/>
            </a:prstGeom>
            <a:noFill/>
            <a:ln w="508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1916" name="Rectangle 16">
            <a:extLst>
              <a:ext uri="{FF2B5EF4-FFF2-40B4-BE49-F238E27FC236}">
                <a16:creationId xmlns:a16="http://schemas.microsoft.com/office/drawing/2014/main" id="{91E87037-5F7A-764D-9BE7-76AEDA1AD4E1}"/>
              </a:ext>
            </a:extLst>
          </p:cNvPr>
          <p:cNvSpPr>
            <a:spLocks noChangeArrowheads="1"/>
          </p:cNvSpPr>
          <p:nvPr/>
        </p:nvSpPr>
        <p:spPr bwMode="auto">
          <a:xfrm>
            <a:off x="7373938" y="2390775"/>
            <a:ext cx="609600" cy="319088"/>
          </a:xfrm>
          <a:prstGeom prst="rect">
            <a:avLst/>
          </a:prstGeom>
          <a:noFill/>
          <a:ln w="50800">
            <a:solidFill>
              <a:srgbClr val="FE9AAB"/>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251917" name="Text Box 17">
            <a:extLst>
              <a:ext uri="{FF2B5EF4-FFF2-40B4-BE49-F238E27FC236}">
                <a16:creationId xmlns:a16="http://schemas.microsoft.com/office/drawing/2014/main" id="{47B6E784-4FD8-5943-A390-A49FF6494BB9}"/>
              </a:ext>
            </a:extLst>
          </p:cNvPr>
          <p:cNvSpPr txBox="1">
            <a:spLocks noChangeArrowheads="1"/>
          </p:cNvSpPr>
          <p:nvPr/>
        </p:nvSpPr>
        <p:spPr bwMode="auto">
          <a:xfrm>
            <a:off x="214313" y="984250"/>
            <a:ext cx="80406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latin typeface="微软雅黑" panose="020B0503020204020204" pitchFamily="34" charset="-122"/>
                <a:ea typeface="微软雅黑" panose="020B0503020204020204" pitchFamily="34" charset="-122"/>
              </a:rPr>
              <a:t>线性地址空间划分：</a:t>
            </a:r>
            <a:r>
              <a:rPr lang="en-US" altLang="zh-CN" sz="2000" b="1">
                <a:latin typeface="微软雅黑" panose="020B0503020204020204" pitchFamily="34" charset="-122"/>
                <a:ea typeface="微软雅黑" panose="020B0503020204020204" pitchFamily="34" charset="-122"/>
              </a:rPr>
              <a:t>4GB=1K</a:t>
            </a:r>
            <a:r>
              <a:rPr lang="zh-CN" altLang="en-US" sz="2000" b="1">
                <a:latin typeface="微软雅黑" panose="020B0503020204020204" pitchFamily="34" charset="-122"/>
                <a:ea typeface="微软雅黑" panose="020B0503020204020204" pitchFamily="34" charset="-122"/>
              </a:rPr>
              <a:t>个子空间 * </a:t>
            </a:r>
            <a:r>
              <a:rPr lang="en-US" altLang="zh-CN" sz="2000" b="1">
                <a:latin typeface="微软雅黑" panose="020B0503020204020204" pitchFamily="34" charset="-122"/>
                <a:ea typeface="微软雅黑" panose="020B0503020204020204" pitchFamily="34" charset="-122"/>
              </a:rPr>
              <a:t>1K</a:t>
            </a:r>
            <a:r>
              <a:rPr lang="zh-CN" altLang="en-US" sz="2000" b="1">
                <a:latin typeface="微软雅黑" panose="020B0503020204020204" pitchFamily="34" charset="-122"/>
                <a:ea typeface="微软雅黑" panose="020B0503020204020204" pitchFamily="34" charset="-122"/>
              </a:rPr>
              <a:t>个页面</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子空间 * </a:t>
            </a:r>
            <a:r>
              <a:rPr lang="en-US" altLang="zh-CN" sz="2000" b="1">
                <a:latin typeface="微软雅黑" panose="020B0503020204020204" pitchFamily="34" charset="-122"/>
                <a:ea typeface="微软雅黑" panose="020B0503020204020204" pitchFamily="34" charset="-122"/>
              </a:rPr>
              <a:t>4KB/</a:t>
            </a:r>
            <a:r>
              <a:rPr lang="zh-CN" altLang="en-US" sz="2000" b="1">
                <a:latin typeface="微软雅黑" panose="020B0503020204020204" pitchFamily="34" charset="-122"/>
                <a:ea typeface="微软雅黑" panose="020B0503020204020204" pitchFamily="34" charset="-122"/>
              </a:rPr>
              <a:t>页</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Title 1">
            <a:extLst>
              <a:ext uri="{FF2B5EF4-FFF2-40B4-BE49-F238E27FC236}">
                <a16:creationId xmlns:a16="http://schemas.microsoft.com/office/drawing/2014/main" id="{F6A09993-00D5-F041-93C3-2DA810B453C4}"/>
              </a:ext>
            </a:extLst>
          </p:cNvPr>
          <p:cNvSpPr>
            <a:spLocks noGrp="1" noChangeArrowheads="1"/>
          </p:cNvSpPr>
          <p:nvPr>
            <p:ph type="title" idx="4294967295"/>
          </p:nvPr>
        </p:nvSpPr>
        <p:spPr>
          <a:xfrm>
            <a:off x="369888" y="149225"/>
            <a:ext cx="7591425" cy="569913"/>
          </a:xfrm>
        </p:spPr>
        <p:txBody>
          <a:bodyPr lIns="91440" tIns="45720" rIns="91440" bIns="45720" anchor="ctr"/>
          <a:lstStyle/>
          <a:p>
            <a:r>
              <a:rPr lang="en-US" altLang="zh-CN">
                <a:ea typeface="宋体" panose="02010600030101010101" pitchFamily="2" charset="-122"/>
              </a:rPr>
              <a:t>Core i7 Page Table Translation</a:t>
            </a:r>
          </a:p>
        </p:txBody>
      </p:sp>
      <p:sp>
        <p:nvSpPr>
          <p:cNvPr id="252931" name="Text Box 381">
            <a:extLst>
              <a:ext uri="{FF2B5EF4-FFF2-40B4-BE49-F238E27FC236}">
                <a16:creationId xmlns:a16="http://schemas.microsoft.com/office/drawing/2014/main" id="{73949AA4-3E8A-034B-938F-108AAAEAF9FF}"/>
              </a:ext>
            </a:extLst>
          </p:cNvPr>
          <p:cNvSpPr txBox="1">
            <a:spLocks noChangeArrowheads="1"/>
          </p:cNvSpPr>
          <p:nvPr/>
        </p:nvSpPr>
        <p:spPr bwMode="auto">
          <a:xfrm>
            <a:off x="90488" y="3000375"/>
            <a:ext cx="576262"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CR3</a:t>
            </a:r>
          </a:p>
        </p:txBody>
      </p:sp>
      <p:sp>
        <p:nvSpPr>
          <p:cNvPr id="252932" name="Text Box 387">
            <a:extLst>
              <a:ext uri="{FF2B5EF4-FFF2-40B4-BE49-F238E27FC236}">
                <a16:creationId xmlns:a16="http://schemas.microsoft.com/office/drawing/2014/main" id="{6458A545-9099-9B4A-B1A0-C431C948875C}"/>
              </a:ext>
            </a:extLst>
          </p:cNvPr>
          <p:cNvSpPr txBox="1">
            <a:spLocks noChangeArrowheads="1"/>
          </p:cNvSpPr>
          <p:nvPr/>
        </p:nvSpPr>
        <p:spPr bwMode="auto">
          <a:xfrm>
            <a:off x="6375400" y="4257675"/>
            <a:ext cx="1117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Physical  </a:t>
            </a:r>
          </a:p>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address</a:t>
            </a:r>
          </a:p>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of page</a:t>
            </a:r>
          </a:p>
        </p:txBody>
      </p:sp>
      <p:sp>
        <p:nvSpPr>
          <p:cNvPr id="252933" name="Text Box 388">
            <a:extLst>
              <a:ext uri="{FF2B5EF4-FFF2-40B4-BE49-F238E27FC236}">
                <a16:creationId xmlns:a16="http://schemas.microsoft.com/office/drawing/2014/main" id="{AEF17D75-E585-9B44-8F72-C96A421849AF}"/>
              </a:ext>
            </a:extLst>
          </p:cNvPr>
          <p:cNvSpPr txBox="1">
            <a:spLocks noChangeArrowheads="1"/>
          </p:cNvSpPr>
          <p:nvPr/>
        </p:nvSpPr>
        <p:spPr bwMode="auto">
          <a:xfrm>
            <a:off x="71438" y="3271838"/>
            <a:ext cx="105886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Physical </a:t>
            </a:r>
          </a:p>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address</a:t>
            </a:r>
          </a:p>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of L1 PT</a:t>
            </a:r>
          </a:p>
        </p:txBody>
      </p:sp>
      <p:sp>
        <p:nvSpPr>
          <p:cNvPr id="252934" name="Text Box 394">
            <a:extLst>
              <a:ext uri="{FF2B5EF4-FFF2-40B4-BE49-F238E27FC236}">
                <a16:creationId xmlns:a16="http://schemas.microsoft.com/office/drawing/2014/main" id="{AD063389-0E99-384E-8085-D13E9614F4D9}"/>
              </a:ext>
            </a:extLst>
          </p:cNvPr>
          <p:cNvSpPr txBox="1">
            <a:spLocks noChangeAspect="1" noChangeArrowheads="1"/>
          </p:cNvSpPr>
          <p:nvPr/>
        </p:nvSpPr>
        <p:spPr bwMode="auto">
          <a:xfrm>
            <a:off x="2867025" y="1285875"/>
            <a:ext cx="300038"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9</a:t>
            </a:r>
          </a:p>
        </p:txBody>
      </p:sp>
      <p:sp>
        <p:nvSpPr>
          <p:cNvPr id="252935" name="Rectangle 395">
            <a:extLst>
              <a:ext uri="{FF2B5EF4-FFF2-40B4-BE49-F238E27FC236}">
                <a16:creationId xmlns:a16="http://schemas.microsoft.com/office/drawing/2014/main" id="{146BE3FC-9238-F44B-BF71-5182317B374C}"/>
              </a:ext>
            </a:extLst>
          </p:cNvPr>
          <p:cNvSpPr>
            <a:spLocks noChangeAspect="1" noChangeArrowheads="1"/>
          </p:cNvSpPr>
          <p:nvPr/>
        </p:nvSpPr>
        <p:spPr bwMode="auto">
          <a:xfrm>
            <a:off x="6127750" y="1558925"/>
            <a:ext cx="1843088" cy="273050"/>
          </a:xfrm>
          <a:prstGeom prst="rect">
            <a:avLst/>
          </a:prstGeom>
          <a:solidFill>
            <a:srgbClr val="DEDFF5"/>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VPO</a:t>
            </a:r>
          </a:p>
        </p:txBody>
      </p:sp>
      <p:sp>
        <p:nvSpPr>
          <p:cNvPr id="252936" name="Text Box 396">
            <a:extLst>
              <a:ext uri="{FF2B5EF4-FFF2-40B4-BE49-F238E27FC236}">
                <a16:creationId xmlns:a16="http://schemas.microsoft.com/office/drawing/2014/main" id="{D860DB3F-E810-5241-B5B6-DEC5CA621095}"/>
              </a:ext>
            </a:extLst>
          </p:cNvPr>
          <p:cNvSpPr txBox="1">
            <a:spLocks noChangeAspect="1" noChangeArrowheads="1"/>
          </p:cNvSpPr>
          <p:nvPr/>
        </p:nvSpPr>
        <p:spPr bwMode="auto">
          <a:xfrm>
            <a:off x="5419725" y="1295400"/>
            <a:ext cx="300038"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9</a:t>
            </a:r>
          </a:p>
        </p:txBody>
      </p:sp>
      <p:sp>
        <p:nvSpPr>
          <p:cNvPr id="252937" name="Text Box 397">
            <a:extLst>
              <a:ext uri="{FF2B5EF4-FFF2-40B4-BE49-F238E27FC236}">
                <a16:creationId xmlns:a16="http://schemas.microsoft.com/office/drawing/2014/main" id="{196AFB94-A571-A444-BF8E-38F3A010962C}"/>
              </a:ext>
            </a:extLst>
          </p:cNvPr>
          <p:cNvSpPr txBox="1">
            <a:spLocks noChangeAspect="1" noChangeArrowheads="1"/>
          </p:cNvSpPr>
          <p:nvPr/>
        </p:nvSpPr>
        <p:spPr bwMode="auto">
          <a:xfrm>
            <a:off x="6823075" y="1295400"/>
            <a:ext cx="419100"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12</a:t>
            </a:r>
          </a:p>
        </p:txBody>
      </p:sp>
      <p:sp>
        <p:nvSpPr>
          <p:cNvPr id="252938" name="Text Box 399">
            <a:extLst>
              <a:ext uri="{FF2B5EF4-FFF2-40B4-BE49-F238E27FC236}">
                <a16:creationId xmlns:a16="http://schemas.microsoft.com/office/drawing/2014/main" id="{B54D3FA3-4F11-9F43-A16C-4254E6A553D7}"/>
              </a:ext>
            </a:extLst>
          </p:cNvPr>
          <p:cNvSpPr txBox="1">
            <a:spLocks noChangeAspect="1" noChangeArrowheads="1"/>
          </p:cNvSpPr>
          <p:nvPr/>
        </p:nvSpPr>
        <p:spPr bwMode="auto">
          <a:xfrm>
            <a:off x="7916863" y="1339850"/>
            <a:ext cx="11715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800" b="1">
                <a:solidFill>
                  <a:schemeClr val="tx2"/>
                </a:solidFill>
                <a:latin typeface="Arial Black" panose="020B0604020202020204" pitchFamily="34" charset="0"/>
                <a:ea typeface="宋体" panose="02010600030101010101" pitchFamily="2" charset="-122"/>
              </a:rPr>
              <a:t>Virtual </a:t>
            </a:r>
          </a:p>
          <a:p>
            <a:pPr algn="ctr">
              <a:lnSpc>
                <a:spcPct val="90000"/>
              </a:lnSpc>
              <a:spcBef>
                <a:spcPct val="30000"/>
              </a:spcBef>
            </a:pPr>
            <a:r>
              <a:rPr lang="en-US" altLang="zh-CN" sz="1800" b="1">
                <a:solidFill>
                  <a:schemeClr val="tx2"/>
                </a:solidFill>
                <a:latin typeface="Arial Black" panose="020B0604020202020204" pitchFamily="34" charset="0"/>
                <a:ea typeface="宋体" panose="02010600030101010101" pitchFamily="2" charset="-122"/>
              </a:rPr>
              <a:t>address</a:t>
            </a:r>
          </a:p>
        </p:txBody>
      </p:sp>
      <p:sp>
        <p:nvSpPr>
          <p:cNvPr id="12" name="Line 403">
            <a:extLst>
              <a:ext uri="{FF2B5EF4-FFF2-40B4-BE49-F238E27FC236}">
                <a16:creationId xmlns:a16="http://schemas.microsoft.com/office/drawing/2014/main" id="{F7FBC0AE-667B-064F-934C-979B14296E2E}"/>
              </a:ext>
            </a:extLst>
          </p:cNvPr>
          <p:cNvSpPr>
            <a:spLocks noChangeShapeType="1"/>
          </p:cNvSpPr>
          <p:nvPr/>
        </p:nvSpPr>
        <p:spPr bwMode="auto">
          <a:xfrm>
            <a:off x="6088063" y="3978275"/>
            <a:ext cx="304800" cy="0"/>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13" name="Line 404">
            <a:extLst>
              <a:ext uri="{FF2B5EF4-FFF2-40B4-BE49-F238E27FC236}">
                <a16:creationId xmlns:a16="http://schemas.microsoft.com/office/drawing/2014/main" id="{B804B581-76D6-824A-8D02-425122FE25F0}"/>
              </a:ext>
            </a:extLst>
          </p:cNvPr>
          <p:cNvSpPr>
            <a:spLocks noChangeShapeType="1"/>
          </p:cNvSpPr>
          <p:nvPr/>
        </p:nvSpPr>
        <p:spPr bwMode="auto">
          <a:xfrm>
            <a:off x="6392863" y="3978275"/>
            <a:ext cx="0" cy="1839913"/>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14" name="Line 406">
            <a:extLst>
              <a:ext uri="{FF2B5EF4-FFF2-40B4-BE49-F238E27FC236}">
                <a16:creationId xmlns:a16="http://schemas.microsoft.com/office/drawing/2014/main" id="{F202E062-53E6-F540-8DB2-32C24C6D8893}"/>
              </a:ext>
            </a:extLst>
          </p:cNvPr>
          <p:cNvSpPr>
            <a:spLocks noChangeShapeType="1"/>
          </p:cNvSpPr>
          <p:nvPr/>
        </p:nvSpPr>
        <p:spPr bwMode="auto">
          <a:xfrm>
            <a:off x="5099050" y="4003675"/>
            <a:ext cx="265113"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42" name="Rectangle 382">
            <a:extLst>
              <a:ext uri="{FF2B5EF4-FFF2-40B4-BE49-F238E27FC236}">
                <a16:creationId xmlns:a16="http://schemas.microsoft.com/office/drawing/2014/main" id="{3E779F44-BE10-7E41-8236-D73BD1E73903}"/>
              </a:ext>
            </a:extLst>
          </p:cNvPr>
          <p:cNvSpPr>
            <a:spLocks noChangeArrowheads="1"/>
          </p:cNvSpPr>
          <p:nvPr/>
        </p:nvSpPr>
        <p:spPr bwMode="auto">
          <a:xfrm>
            <a:off x="5364163" y="3114675"/>
            <a:ext cx="762000" cy="1600200"/>
          </a:xfrm>
          <a:prstGeom prst="rect">
            <a:avLst/>
          </a:prstGeom>
          <a:solidFill>
            <a:srgbClr val="FFFFFF"/>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endParaRPr lang="en-US" altLang="zh-CN" sz="2400" b="1">
              <a:ea typeface="宋体" panose="02010600030101010101" pitchFamily="2" charset="-122"/>
            </a:endParaRPr>
          </a:p>
        </p:txBody>
      </p:sp>
      <p:sp>
        <p:nvSpPr>
          <p:cNvPr id="252943" name="Text Box 392">
            <a:extLst>
              <a:ext uri="{FF2B5EF4-FFF2-40B4-BE49-F238E27FC236}">
                <a16:creationId xmlns:a16="http://schemas.microsoft.com/office/drawing/2014/main" id="{6BD688F3-C866-3640-BB9C-712D482E71AE}"/>
              </a:ext>
            </a:extLst>
          </p:cNvPr>
          <p:cNvSpPr txBox="1">
            <a:spLocks noChangeArrowheads="1"/>
          </p:cNvSpPr>
          <p:nvPr/>
        </p:nvSpPr>
        <p:spPr bwMode="auto">
          <a:xfrm>
            <a:off x="5368925" y="2227263"/>
            <a:ext cx="7350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L4 PT</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Page </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table</a:t>
            </a:r>
          </a:p>
        </p:txBody>
      </p:sp>
      <p:sp>
        <p:nvSpPr>
          <p:cNvPr id="252944" name="Rectangle 405">
            <a:extLst>
              <a:ext uri="{FF2B5EF4-FFF2-40B4-BE49-F238E27FC236}">
                <a16:creationId xmlns:a16="http://schemas.microsoft.com/office/drawing/2014/main" id="{6608B55A-C778-5347-A8B1-AA93D2A9E30E}"/>
              </a:ext>
            </a:extLst>
          </p:cNvPr>
          <p:cNvSpPr>
            <a:spLocks noChangeArrowheads="1"/>
          </p:cNvSpPr>
          <p:nvPr/>
        </p:nvSpPr>
        <p:spPr bwMode="auto">
          <a:xfrm>
            <a:off x="5367338" y="3876675"/>
            <a:ext cx="758825" cy="228600"/>
          </a:xfrm>
          <a:prstGeom prst="rect">
            <a:avLst/>
          </a:prstGeom>
          <a:solidFill>
            <a:srgbClr val="F6F5BD"/>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L4 PTE</a:t>
            </a:r>
          </a:p>
        </p:txBody>
      </p:sp>
      <p:sp>
        <p:nvSpPr>
          <p:cNvPr id="18" name="Line 407">
            <a:extLst>
              <a:ext uri="{FF2B5EF4-FFF2-40B4-BE49-F238E27FC236}">
                <a16:creationId xmlns:a16="http://schemas.microsoft.com/office/drawing/2014/main" id="{D3FDEB99-5739-BE43-BE0C-59010989470F}"/>
              </a:ext>
            </a:extLst>
          </p:cNvPr>
          <p:cNvSpPr>
            <a:spLocks noChangeShapeType="1"/>
          </p:cNvSpPr>
          <p:nvPr/>
        </p:nvSpPr>
        <p:spPr bwMode="auto">
          <a:xfrm>
            <a:off x="5099050" y="1831975"/>
            <a:ext cx="7938" cy="2168525"/>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19" name="Line 408">
            <a:extLst>
              <a:ext uri="{FF2B5EF4-FFF2-40B4-BE49-F238E27FC236}">
                <a16:creationId xmlns:a16="http://schemas.microsoft.com/office/drawing/2014/main" id="{DD1D65D3-AF45-6B4C-837A-7016F9CFB8C3}"/>
              </a:ext>
            </a:extLst>
          </p:cNvPr>
          <p:cNvSpPr>
            <a:spLocks noChangeShapeType="1"/>
          </p:cNvSpPr>
          <p:nvPr/>
        </p:nvSpPr>
        <p:spPr bwMode="auto">
          <a:xfrm>
            <a:off x="7624763" y="1831975"/>
            <a:ext cx="0" cy="4437063"/>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47" name="Rectangle 409">
            <a:extLst>
              <a:ext uri="{FF2B5EF4-FFF2-40B4-BE49-F238E27FC236}">
                <a16:creationId xmlns:a16="http://schemas.microsoft.com/office/drawing/2014/main" id="{0C45A9B4-E006-B447-B88F-D33788A8B0B0}"/>
              </a:ext>
            </a:extLst>
          </p:cNvPr>
          <p:cNvSpPr>
            <a:spLocks noChangeAspect="1" noChangeArrowheads="1"/>
          </p:cNvSpPr>
          <p:nvPr/>
        </p:nvSpPr>
        <p:spPr bwMode="auto">
          <a:xfrm>
            <a:off x="1574800" y="6269038"/>
            <a:ext cx="4495800" cy="287337"/>
          </a:xfrm>
          <a:prstGeom prst="rect">
            <a:avLst/>
          </a:prstGeom>
          <a:solidFill>
            <a:srgbClr val="F6F5BD"/>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PPN</a:t>
            </a:r>
          </a:p>
        </p:txBody>
      </p:sp>
      <p:sp>
        <p:nvSpPr>
          <p:cNvPr id="252948" name="Rectangle 410">
            <a:extLst>
              <a:ext uri="{FF2B5EF4-FFF2-40B4-BE49-F238E27FC236}">
                <a16:creationId xmlns:a16="http://schemas.microsoft.com/office/drawing/2014/main" id="{822BBB39-6C5E-C043-A0AD-0243936146C9}"/>
              </a:ext>
            </a:extLst>
          </p:cNvPr>
          <p:cNvSpPr>
            <a:spLocks noChangeAspect="1" noChangeArrowheads="1"/>
          </p:cNvSpPr>
          <p:nvPr/>
        </p:nvSpPr>
        <p:spPr bwMode="auto">
          <a:xfrm>
            <a:off x="6070600" y="6269038"/>
            <a:ext cx="1874838" cy="287337"/>
          </a:xfrm>
          <a:prstGeom prst="rect">
            <a:avLst/>
          </a:prstGeom>
          <a:solidFill>
            <a:srgbClr val="DEDFF5"/>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PPO</a:t>
            </a:r>
          </a:p>
        </p:txBody>
      </p:sp>
      <p:sp>
        <p:nvSpPr>
          <p:cNvPr id="252949" name="Text Box 411">
            <a:extLst>
              <a:ext uri="{FF2B5EF4-FFF2-40B4-BE49-F238E27FC236}">
                <a16:creationId xmlns:a16="http://schemas.microsoft.com/office/drawing/2014/main" id="{BC3FCAC1-ACDA-8248-8C54-174C9D526B0F}"/>
              </a:ext>
            </a:extLst>
          </p:cNvPr>
          <p:cNvSpPr txBox="1">
            <a:spLocks noChangeAspect="1" noChangeArrowheads="1"/>
          </p:cNvSpPr>
          <p:nvPr/>
        </p:nvSpPr>
        <p:spPr bwMode="auto">
          <a:xfrm>
            <a:off x="3641725" y="6059488"/>
            <a:ext cx="3841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40</a:t>
            </a:r>
          </a:p>
        </p:txBody>
      </p:sp>
      <p:sp>
        <p:nvSpPr>
          <p:cNvPr id="252950" name="Text Box 412">
            <a:extLst>
              <a:ext uri="{FF2B5EF4-FFF2-40B4-BE49-F238E27FC236}">
                <a16:creationId xmlns:a16="http://schemas.microsoft.com/office/drawing/2014/main" id="{29DCA62C-E182-354E-BACA-92F9D919EA3C}"/>
              </a:ext>
            </a:extLst>
          </p:cNvPr>
          <p:cNvSpPr txBox="1">
            <a:spLocks noChangeAspect="1" noChangeArrowheads="1"/>
          </p:cNvSpPr>
          <p:nvPr/>
        </p:nvSpPr>
        <p:spPr bwMode="auto">
          <a:xfrm>
            <a:off x="6815138" y="6059488"/>
            <a:ext cx="3841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12</a:t>
            </a:r>
          </a:p>
        </p:txBody>
      </p:sp>
      <p:sp>
        <p:nvSpPr>
          <p:cNvPr id="24" name="Text Box 413">
            <a:extLst>
              <a:ext uri="{FF2B5EF4-FFF2-40B4-BE49-F238E27FC236}">
                <a16:creationId xmlns:a16="http://schemas.microsoft.com/office/drawing/2014/main" id="{49B90393-F432-2547-BC5F-D83FCEF4F88B}"/>
              </a:ext>
            </a:extLst>
          </p:cNvPr>
          <p:cNvSpPr txBox="1">
            <a:spLocks noChangeAspect="1" noChangeArrowheads="1"/>
          </p:cNvSpPr>
          <p:nvPr/>
        </p:nvSpPr>
        <p:spPr bwMode="auto">
          <a:xfrm>
            <a:off x="8015288" y="6072188"/>
            <a:ext cx="995362" cy="666750"/>
          </a:xfrm>
          <a:prstGeom prst="rect">
            <a:avLst/>
          </a:prstGeom>
          <a:noFill/>
          <a:ln w="9525">
            <a:noFill/>
            <a:miter lim="800000"/>
            <a:headEnd/>
            <a:tailEnd/>
          </a:ln>
          <a:effectLst/>
        </p:spPr>
        <p:txBody>
          <a:bodyPr wrap="none" lIns="90487" tIns="44450" rIns="90487" bIns="44450">
            <a:spAutoFit/>
          </a:bodyPr>
          <a:lstStyle/>
          <a:p>
            <a:pPr algn="ctr">
              <a:lnSpc>
                <a:spcPct val="90000"/>
              </a:lnSpc>
              <a:spcBef>
                <a:spcPct val="30000"/>
              </a:spcBef>
              <a:defRPr/>
            </a:pPr>
            <a:r>
              <a:rPr lang="en-US" sz="1800" b="1">
                <a:solidFill>
                  <a:schemeClr val="tx2"/>
                </a:solidFill>
                <a:latin typeface="+mn-lt"/>
              </a:rPr>
              <a:t>Physical </a:t>
            </a:r>
          </a:p>
          <a:p>
            <a:pPr algn="ctr">
              <a:lnSpc>
                <a:spcPct val="90000"/>
              </a:lnSpc>
              <a:spcBef>
                <a:spcPct val="30000"/>
              </a:spcBef>
              <a:defRPr/>
            </a:pPr>
            <a:r>
              <a:rPr lang="en-US" sz="1800" b="1">
                <a:solidFill>
                  <a:schemeClr val="tx2"/>
                </a:solidFill>
                <a:latin typeface="+mn-lt"/>
              </a:rPr>
              <a:t>address</a:t>
            </a:r>
          </a:p>
        </p:txBody>
      </p:sp>
      <p:sp>
        <p:nvSpPr>
          <p:cNvPr id="25" name="Line 414">
            <a:extLst>
              <a:ext uri="{FF2B5EF4-FFF2-40B4-BE49-F238E27FC236}">
                <a16:creationId xmlns:a16="http://schemas.microsoft.com/office/drawing/2014/main" id="{9FB6D564-69B6-0B40-8B74-6F182748EE65}"/>
              </a:ext>
            </a:extLst>
          </p:cNvPr>
          <p:cNvSpPr>
            <a:spLocks noChangeShapeType="1"/>
          </p:cNvSpPr>
          <p:nvPr/>
        </p:nvSpPr>
        <p:spPr bwMode="auto">
          <a:xfrm flipH="1">
            <a:off x="4564063" y="5819775"/>
            <a:ext cx="1828800" cy="0"/>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26" name="Line 415">
            <a:extLst>
              <a:ext uri="{FF2B5EF4-FFF2-40B4-BE49-F238E27FC236}">
                <a16:creationId xmlns:a16="http://schemas.microsoft.com/office/drawing/2014/main" id="{3EE71C84-802E-134E-8E70-A1521F0EE847}"/>
              </a:ext>
            </a:extLst>
          </p:cNvPr>
          <p:cNvSpPr>
            <a:spLocks noChangeShapeType="1"/>
          </p:cNvSpPr>
          <p:nvPr/>
        </p:nvSpPr>
        <p:spPr bwMode="auto">
          <a:xfrm>
            <a:off x="4564063" y="5818188"/>
            <a:ext cx="0" cy="433387"/>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54" name="Text Box 416">
            <a:extLst>
              <a:ext uri="{FF2B5EF4-FFF2-40B4-BE49-F238E27FC236}">
                <a16:creationId xmlns:a16="http://schemas.microsoft.com/office/drawing/2014/main" id="{314334D2-4680-D74F-A240-56589FC68B92}"/>
              </a:ext>
            </a:extLst>
          </p:cNvPr>
          <p:cNvSpPr txBox="1">
            <a:spLocks noChangeArrowheads="1"/>
          </p:cNvSpPr>
          <p:nvPr/>
        </p:nvSpPr>
        <p:spPr bwMode="auto">
          <a:xfrm>
            <a:off x="7664450" y="3479800"/>
            <a:ext cx="14652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Offset into </a:t>
            </a:r>
          </a:p>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physical and </a:t>
            </a:r>
          </a:p>
          <a:p>
            <a:pP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virtual page</a:t>
            </a:r>
          </a:p>
        </p:txBody>
      </p:sp>
      <p:sp>
        <p:nvSpPr>
          <p:cNvPr id="252955" name="Rectangle 417">
            <a:extLst>
              <a:ext uri="{FF2B5EF4-FFF2-40B4-BE49-F238E27FC236}">
                <a16:creationId xmlns:a16="http://schemas.microsoft.com/office/drawing/2014/main" id="{E078A604-7B46-DE4A-B5C8-F014B8FFA52D}"/>
              </a:ext>
            </a:extLst>
          </p:cNvPr>
          <p:cNvSpPr>
            <a:spLocks noChangeAspect="1" noChangeArrowheads="1"/>
          </p:cNvSpPr>
          <p:nvPr/>
        </p:nvSpPr>
        <p:spPr bwMode="auto">
          <a:xfrm>
            <a:off x="3571875" y="1552575"/>
            <a:ext cx="1277938" cy="280988"/>
          </a:xfrm>
          <a:prstGeom prst="rect">
            <a:avLst/>
          </a:prstGeom>
          <a:solidFill>
            <a:srgbClr val="E6E6E6"/>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VPN 3</a:t>
            </a:r>
          </a:p>
        </p:txBody>
      </p:sp>
      <p:sp>
        <p:nvSpPr>
          <p:cNvPr id="252956" name="Rectangle 418">
            <a:extLst>
              <a:ext uri="{FF2B5EF4-FFF2-40B4-BE49-F238E27FC236}">
                <a16:creationId xmlns:a16="http://schemas.microsoft.com/office/drawing/2014/main" id="{6241E1DC-FB7C-FA41-BCB2-D294B1268C12}"/>
              </a:ext>
            </a:extLst>
          </p:cNvPr>
          <p:cNvSpPr>
            <a:spLocks noChangeAspect="1" noChangeArrowheads="1"/>
          </p:cNvSpPr>
          <p:nvPr/>
        </p:nvSpPr>
        <p:spPr bwMode="auto">
          <a:xfrm>
            <a:off x="4849813" y="1558925"/>
            <a:ext cx="1277937" cy="273050"/>
          </a:xfrm>
          <a:prstGeom prst="rect">
            <a:avLst/>
          </a:prstGeom>
          <a:solidFill>
            <a:srgbClr val="F6F5BD"/>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VPN</a:t>
            </a:r>
            <a:r>
              <a:rPr lang="en-US" altLang="zh-CN" sz="1400" b="1">
                <a:solidFill>
                  <a:schemeClr val="tx2"/>
                </a:solidFill>
                <a:latin typeface="Calibri" panose="020F0502020204030204" pitchFamily="34" charset="0"/>
                <a:ea typeface="宋体" panose="02010600030101010101" pitchFamily="2" charset="-122"/>
              </a:rPr>
              <a:t> </a:t>
            </a:r>
            <a:r>
              <a:rPr lang="en-US" altLang="zh-CN" sz="1400" b="1">
                <a:solidFill>
                  <a:schemeClr val="tx2"/>
                </a:solidFill>
                <a:latin typeface="Arial Black" panose="020B0604020202020204" pitchFamily="34" charset="0"/>
                <a:ea typeface="宋体" panose="02010600030101010101" pitchFamily="2" charset="-122"/>
              </a:rPr>
              <a:t>4</a:t>
            </a:r>
          </a:p>
        </p:txBody>
      </p:sp>
      <p:sp>
        <p:nvSpPr>
          <p:cNvPr id="252957" name="Rectangle 419">
            <a:extLst>
              <a:ext uri="{FF2B5EF4-FFF2-40B4-BE49-F238E27FC236}">
                <a16:creationId xmlns:a16="http://schemas.microsoft.com/office/drawing/2014/main" id="{CB9DE2F7-A3EA-3A4C-8852-3BDA2730C0D5}"/>
              </a:ext>
            </a:extLst>
          </p:cNvPr>
          <p:cNvSpPr>
            <a:spLocks noChangeAspect="1" noChangeArrowheads="1"/>
          </p:cNvSpPr>
          <p:nvPr/>
        </p:nvSpPr>
        <p:spPr bwMode="auto">
          <a:xfrm>
            <a:off x="2300288" y="1552575"/>
            <a:ext cx="1277937" cy="280988"/>
          </a:xfrm>
          <a:prstGeom prst="rect">
            <a:avLst/>
          </a:prstGeom>
          <a:solidFill>
            <a:srgbClr val="DBF2DA"/>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VPN 2</a:t>
            </a:r>
          </a:p>
        </p:txBody>
      </p:sp>
      <p:sp>
        <p:nvSpPr>
          <p:cNvPr id="252958" name="Rectangle 420">
            <a:extLst>
              <a:ext uri="{FF2B5EF4-FFF2-40B4-BE49-F238E27FC236}">
                <a16:creationId xmlns:a16="http://schemas.microsoft.com/office/drawing/2014/main" id="{009E2BDD-4DA2-DD4C-B2F3-8F111B43D0A5}"/>
              </a:ext>
            </a:extLst>
          </p:cNvPr>
          <p:cNvSpPr>
            <a:spLocks noChangeAspect="1" noChangeArrowheads="1"/>
          </p:cNvSpPr>
          <p:nvPr/>
        </p:nvSpPr>
        <p:spPr bwMode="auto">
          <a:xfrm>
            <a:off x="1022350" y="1550988"/>
            <a:ext cx="1277938" cy="280987"/>
          </a:xfrm>
          <a:prstGeom prst="rect">
            <a:avLst/>
          </a:prstGeom>
          <a:solidFill>
            <a:srgbClr val="F6D2D2"/>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VPN 1</a:t>
            </a:r>
          </a:p>
        </p:txBody>
      </p:sp>
      <p:sp>
        <p:nvSpPr>
          <p:cNvPr id="32" name="Line 430">
            <a:extLst>
              <a:ext uri="{FF2B5EF4-FFF2-40B4-BE49-F238E27FC236}">
                <a16:creationId xmlns:a16="http://schemas.microsoft.com/office/drawing/2014/main" id="{AF697340-B07E-1141-B68C-CF90DD3CF415}"/>
              </a:ext>
            </a:extLst>
          </p:cNvPr>
          <p:cNvSpPr>
            <a:spLocks noChangeShapeType="1"/>
          </p:cNvSpPr>
          <p:nvPr/>
        </p:nvSpPr>
        <p:spPr bwMode="auto">
          <a:xfrm>
            <a:off x="4827588" y="4000500"/>
            <a:ext cx="179387" cy="0"/>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33" name="Line 431">
            <a:extLst>
              <a:ext uri="{FF2B5EF4-FFF2-40B4-BE49-F238E27FC236}">
                <a16:creationId xmlns:a16="http://schemas.microsoft.com/office/drawing/2014/main" id="{FC05A7D6-B897-BA4C-8899-E669408CD5DC}"/>
              </a:ext>
            </a:extLst>
          </p:cNvPr>
          <p:cNvSpPr>
            <a:spLocks noChangeShapeType="1"/>
          </p:cNvSpPr>
          <p:nvPr/>
        </p:nvSpPr>
        <p:spPr bwMode="auto">
          <a:xfrm>
            <a:off x="5006975" y="3119438"/>
            <a:ext cx="9525" cy="881062"/>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34" name="Line 432">
            <a:extLst>
              <a:ext uri="{FF2B5EF4-FFF2-40B4-BE49-F238E27FC236}">
                <a16:creationId xmlns:a16="http://schemas.microsoft.com/office/drawing/2014/main" id="{1E6E7776-26C9-1C4D-8DC4-0798BB7A4F16}"/>
              </a:ext>
            </a:extLst>
          </p:cNvPr>
          <p:cNvSpPr>
            <a:spLocks noChangeShapeType="1"/>
          </p:cNvSpPr>
          <p:nvPr/>
        </p:nvSpPr>
        <p:spPr bwMode="auto">
          <a:xfrm>
            <a:off x="5016500" y="3119438"/>
            <a:ext cx="344488" cy="4762"/>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62" name="Rectangle 435">
            <a:extLst>
              <a:ext uri="{FF2B5EF4-FFF2-40B4-BE49-F238E27FC236}">
                <a16:creationId xmlns:a16="http://schemas.microsoft.com/office/drawing/2014/main" id="{307DAA04-17D8-2C4E-9FC5-0CA1D0898825}"/>
              </a:ext>
            </a:extLst>
          </p:cNvPr>
          <p:cNvSpPr>
            <a:spLocks noChangeArrowheads="1"/>
          </p:cNvSpPr>
          <p:nvPr/>
        </p:nvSpPr>
        <p:spPr bwMode="auto">
          <a:xfrm>
            <a:off x="4087813" y="3124200"/>
            <a:ext cx="762000" cy="1600200"/>
          </a:xfrm>
          <a:prstGeom prst="rect">
            <a:avLst/>
          </a:prstGeom>
          <a:solidFill>
            <a:srgbClr val="FFFFFF"/>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endParaRPr lang="en-US" altLang="zh-CN" sz="2400" b="1">
              <a:ea typeface="宋体" panose="02010600030101010101" pitchFamily="2" charset="-122"/>
            </a:endParaRPr>
          </a:p>
        </p:txBody>
      </p:sp>
      <p:sp>
        <p:nvSpPr>
          <p:cNvPr id="252963" name="Text Box 437">
            <a:extLst>
              <a:ext uri="{FF2B5EF4-FFF2-40B4-BE49-F238E27FC236}">
                <a16:creationId xmlns:a16="http://schemas.microsoft.com/office/drawing/2014/main" id="{F47C741B-5CCA-D848-B03D-AF5D49BB13D9}"/>
              </a:ext>
            </a:extLst>
          </p:cNvPr>
          <p:cNvSpPr txBox="1">
            <a:spLocks noChangeArrowheads="1"/>
          </p:cNvSpPr>
          <p:nvPr/>
        </p:nvSpPr>
        <p:spPr bwMode="auto">
          <a:xfrm>
            <a:off x="3787775" y="2214563"/>
            <a:ext cx="13779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L3 PT</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Page middle</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directory</a:t>
            </a:r>
          </a:p>
        </p:txBody>
      </p:sp>
      <p:sp>
        <p:nvSpPr>
          <p:cNvPr id="252964" name="Rectangle 438">
            <a:extLst>
              <a:ext uri="{FF2B5EF4-FFF2-40B4-BE49-F238E27FC236}">
                <a16:creationId xmlns:a16="http://schemas.microsoft.com/office/drawing/2014/main" id="{E2B186FE-9C8C-5049-B3B4-977207D2F399}"/>
              </a:ext>
            </a:extLst>
          </p:cNvPr>
          <p:cNvSpPr>
            <a:spLocks noChangeArrowheads="1"/>
          </p:cNvSpPr>
          <p:nvPr/>
        </p:nvSpPr>
        <p:spPr bwMode="auto">
          <a:xfrm>
            <a:off x="4090988" y="3886200"/>
            <a:ext cx="758825" cy="228600"/>
          </a:xfrm>
          <a:prstGeom prst="rect">
            <a:avLst/>
          </a:prstGeom>
          <a:solidFill>
            <a:srgbClr val="E6E6E6"/>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L3 PTE</a:t>
            </a:r>
          </a:p>
        </p:txBody>
      </p:sp>
      <p:sp>
        <p:nvSpPr>
          <p:cNvPr id="38" name="Line 439">
            <a:extLst>
              <a:ext uri="{FF2B5EF4-FFF2-40B4-BE49-F238E27FC236}">
                <a16:creationId xmlns:a16="http://schemas.microsoft.com/office/drawing/2014/main" id="{8C4CFEB9-74A1-C74E-BA14-26C945BD089E}"/>
              </a:ext>
            </a:extLst>
          </p:cNvPr>
          <p:cNvSpPr>
            <a:spLocks noChangeShapeType="1"/>
          </p:cNvSpPr>
          <p:nvPr/>
        </p:nvSpPr>
        <p:spPr bwMode="auto">
          <a:xfrm flipH="1">
            <a:off x="3819525" y="1841500"/>
            <a:ext cx="11113" cy="2159000"/>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39" name="Line 440">
            <a:extLst>
              <a:ext uri="{FF2B5EF4-FFF2-40B4-BE49-F238E27FC236}">
                <a16:creationId xmlns:a16="http://schemas.microsoft.com/office/drawing/2014/main" id="{70B1F868-7460-5A4C-A00E-CE80B65D6845}"/>
              </a:ext>
            </a:extLst>
          </p:cNvPr>
          <p:cNvSpPr>
            <a:spLocks noChangeShapeType="1"/>
          </p:cNvSpPr>
          <p:nvPr/>
        </p:nvSpPr>
        <p:spPr bwMode="auto">
          <a:xfrm>
            <a:off x="3830638" y="4006850"/>
            <a:ext cx="25717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40" name="Line 444">
            <a:extLst>
              <a:ext uri="{FF2B5EF4-FFF2-40B4-BE49-F238E27FC236}">
                <a16:creationId xmlns:a16="http://schemas.microsoft.com/office/drawing/2014/main" id="{DEAE337B-1CA9-7742-B0B8-F1160D7152A2}"/>
              </a:ext>
            </a:extLst>
          </p:cNvPr>
          <p:cNvSpPr>
            <a:spLocks noChangeShapeType="1"/>
          </p:cNvSpPr>
          <p:nvPr/>
        </p:nvSpPr>
        <p:spPr bwMode="auto">
          <a:xfrm>
            <a:off x="3532188" y="4005263"/>
            <a:ext cx="179387" cy="0"/>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41" name="Line 445">
            <a:extLst>
              <a:ext uri="{FF2B5EF4-FFF2-40B4-BE49-F238E27FC236}">
                <a16:creationId xmlns:a16="http://schemas.microsoft.com/office/drawing/2014/main" id="{03E21C84-D694-FC49-BD2B-75230BB79D0B}"/>
              </a:ext>
            </a:extLst>
          </p:cNvPr>
          <p:cNvSpPr>
            <a:spLocks noChangeShapeType="1"/>
          </p:cNvSpPr>
          <p:nvPr/>
        </p:nvSpPr>
        <p:spPr bwMode="auto">
          <a:xfrm>
            <a:off x="3713163" y="3122613"/>
            <a:ext cx="0" cy="881062"/>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252969" name="Rectangle 447">
            <a:extLst>
              <a:ext uri="{FF2B5EF4-FFF2-40B4-BE49-F238E27FC236}">
                <a16:creationId xmlns:a16="http://schemas.microsoft.com/office/drawing/2014/main" id="{02BFBAB2-DA36-6B4E-AB4E-294D90612E83}"/>
              </a:ext>
            </a:extLst>
          </p:cNvPr>
          <p:cNvSpPr>
            <a:spLocks noChangeArrowheads="1"/>
          </p:cNvSpPr>
          <p:nvPr/>
        </p:nvSpPr>
        <p:spPr bwMode="auto">
          <a:xfrm>
            <a:off x="2792413" y="3124200"/>
            <a:ext cx="762000" cy="1600200"/>
          </a:xfrm>
          <a:prstGeom prst="rect">
            <a:avLst/>
          </a:prstGeom>
          <a:solidFill>
            <a:srgbClr val="FFFFFF"/>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endParaRPr lang="en-US" altLang="zh-CN" sz="2400" b="1">
              <a:ea typeface="宋体" panose="02010600030101010101" pitchFamily="2" charset="-122"/>
            </a:endParaRPr>
          </a:p>
        </p:txBody>
      </p:sp>
      <p:sp>
        <p:nvSpPr>
          <p:cNvPr id="252970" name="Text Box 449">
            <a:extLst>
              <a:ext uri="{FF2B5EF4-FFF2-40B4-BE49-F238E27FC236}">
                <a16:creationId xmlns:a16="http://schemas.microsoft.com/office/drawing/2014/main" id="{60405516-49AE-D249-9B41-09622F06EEA8}"/>
              </a:ext>
            </a:extLst>
          </p:cNvPr>
          <p:cNvSpPr txBox="1">
            <a:spLocks noChangeArrowheads="1"/>
          </p:cNvSpPr>
          <p:nvPr/>
        </p:nvSpPr>
        <p:spPr bwMode="auto">
          <a:xfrm>
            <a:off x="2535238" y="2214563"/>
            <a:ext cx="1281112"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L2 PT</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Page upper</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directory</a:t>
            </a:r>
          </a:p>
        </p:txBody>
      </p:sp>
      <p:sp>
        <p:nvSpPr>
          <p:cNvPr id="252971" name="Rectangle 450">
            <a:extLst>
              <a:ext uri="{FF2B5EF4-FFF2-40B4-BE49-F238E27FC236}">
                <a16:creationId xmlns:a16="http://schemas.microsoft.com/office/drawing/2014/main" id="{616F0E66-B4D9-C444-862C-DC4F0E50DB7E}"/>
              </a:ext>
            </a:extLst>
          </p:cNvPr>
          <p:cNvSpPr>
            <a:spLocks noChangeArrowheads="1"/>
          </p:cNvSpPr>
          <p:nvPr/>
        </p:nvSpPr>
        <p:spPr bwMode="auto">
          <a:xfrm>
            <a:off x="2795588" y="3886200"/>
            <a:ext cx="758825" cy="228600"/>
          </a:xfrm>
          <a:prstGeom prst="rect">
            <a:avLst/>
          </a:prstGeom>
          <a:solidFill>
            <a:srgbClr val="DBF2DA"/>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L2 PTE</a:t>
            </a:r>
          </a:p>
        </p:txBody>
      </p:sp>
      <p:sp>
        <p:nvSpPr>
          <p:cNvPr id="45" name="Line 451">
            <a:extLst>
              <a:ext uri="{FF2B5EF4-FFF2-40B4-BE49-F238E27FC236}">
                <a16:creationId xmlns:a16="http://schemas.microsoft.com/office/drawing/2014/main" id="{64A87BA3-3BAA-CB4B-87FA-086196F08368}"/>
              </a:ext>
            </a:extLst>
          </p:cNvPr>
          <p:cNvSpPr>
            <a:spLocks noChangeShapeType="1"/>
          </p:cNvSpPr>
          <p:nvPr/>
        </p:nvSpPr>
        <p:spPr bwMode="auto">
          <a:xfrm>
            <a:off x="2535238" y="1841500"/>
            <a:ext cx="0" cy="2147888"/>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46" name="Line 452">
            <a:extLst>
              <a:ext uri="{FF2B5EF4-FFF2-40B4-BE49-F238E27FC236}">
                <a16:creationId xmlns:a16="http://schemas.microsoft.com/office/drawing/2014/main" id="{14867A57-5119-0644-89DF-D4AD1D17CFC2}"/>
              </a:ext>
            </a:extLst>
          </p:cNvPr>
          <p:cNvSpPr>
            <a:spLocks noChangeShapeType="1"/>
          </p:cNvSpPr>
          <p:nvPr/>
        </p:nvSpPr>
        <p:spPr bwMode="auto">
          <a:xfrm>
            <a:off x="2535238" y="4000500"/>
            <a:ext cx="25717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47" name="Line 456">
            <a:extLst>
              <a:ext uri="{FF2B5EF4-FFF2-40B4-BE49-F238E27FC236}">
                <a16:creationId xmlns:a16="http://schemas.microsoft.com/office/drawing/2014/main" id="{31EB07C7-AE89-D544-8F7B-12882812CF46}"/>
              </a:ext>
            </a:extLst>
          </p:cNvPr>
          <p:cNvSpPr>
            <a:spLocks noChangeShapeType="1"/>
          </p:cNvSpPr>
          <p:nvPr/>
        </p:nvSpPr>
        <p:spPr bwMode="auto">
          <a:xfrm>
            <a:off x="2255838" y="4000500"/>
            <a:ext cx="179387" cy="0"/>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252975" name="Rectangle 459">
            <a:extLst>
              <a:ext uri="{FF2B5EF4-FFF2-40B4-BE49-F238E27FC236}">
                <a16:creationId xmlns:a16="http://schemas.microsoft.com/office/drawing/2014/main" id="{374B97E9-A675-AA45-8EA1-AF1FB76AC1E7}"/>
              </a:ext>
            </a:extLst>
          </p:cNvPr>
          <p:cNvSpPr>
            <a:spLocks noChangeArrowheads="1"/>
          </p:cNvSpPr>
          <p:nvPr/>
        </p:nvSpPr>
        <p:spPr bwMode="auto">
          <a:xfrm>
            <a:off x="1516063" y="3124200"/>
            <a:ext cx="762000" cy="1600200"/>
          </a:xfrm>
          <a:prstGeom prst="rect">
            <a:avLst/>
          </a:prstGeom>
          <a:solidFill>
            <a:srgbClr val="FFFFFF"/>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endParaRPr lang="en-US" altLang="zh-CN" sz="2400" b="1">
              <a:ea typeface="宋体" panose="02010600030101010101" pitchFamily="2" charset="-122"/>
            </a:endParaRPr>
          </a:p>
        </p:txBody>
      </p:sp>
      <p:sp>
        <p:nvSpPr>
          <p:cNvPr id="252976" name="Text Box 461">
            <a:extLst>
              <a:ext uri="{FF2B5EF4-FFF2-40B4-BE49-F238E27FC236}">
                <a16:creationId xmlns:a16="http://schemas.microsoft.com/office/drawing/2014/main" id="{143C3D15-0EE8-344F-8D9A-57F15E630584}"/>
              </a:ext>
            </a:extLst>
          </p:cNvPr>
          <p:cNvSpPr txBox="1">
            <a:spLocks noChangeArrowheads="1"/>
          </p:cNvSpPr>
          <p:nvPr/>
        </p:nvSpPr>
        <p:spPr bwMode="auto">
          <a:xfrm>
            <a:off x="1235075" y="2200275"/>
            <a:ext cx="13192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L1 PT</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Page global</a:t>
            </a:r>
          </a:p>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directory</a:t>
            </a:r>
          </a:p>
        </p:txBody>
      </p:sp>
      <p:sp>
        <p:nvSpPr>
          <p:cNvPr id="252977" name="Rectangle 462">
            <a:extLst>
              <a:ext uri="{FF2B5EF4-FFF2-40B4-BE49-F238E27FC236}">
                <a16:creationId xmlns:a16="http://schemas.microsoft.com/office/drawing/2014/main" id="{608022E9-11B2-D440-AB4A-D93897E10F5F}"/>
              </a:ext>
            </a:extLst>
          </p:cNvPr>
          <p:cNvSpPr>
            <a:spLocks noChangeArrowheads="1"/>
          </p:cNvSpPr>
          <p:nvPr/>
        </p:nvSpPr>
        <p:spPr bwMode="auto">
          <a:xfrm>
            <a:off x="1519238" y="3886200"/>
            <a:ext cx="758825" cy="228600"/>
          </a:xfrm>
          <a:prstGeom prst="rect">
            <a:avLst/>
          </a:prstGeom>
          <a:solidFill>
            <a:srgbClr val="F6D2D2"/>
          </a:solidFill>
          <a:ln w="9525">
            <a:solidFill>
              <a:srgbClr val="000000"/>
            </a:solidFill>
            <a:miter lim="800000"/>
            <a:headEnd/>
            <a:tailEnd/>
          </a:ln>
        </p:spPr>
        <p:txBody>
          <a:bodyPr wrap="none" lIns="90487" tIns="44450" rIns="90487" bIns="44450"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L1 PTE</a:t>
            </a:r>
          </a:p>
        </p:txBody>
      </p:sp>
      <p:sp>
        <p:nvSpPr>
          <p:cNvPr id="51" name="Line 463">
            <a:extLst>
              <a:ext uri="{FF2B5EF4-FFF2-40B4-BE49-F238E27FC236}">
                <a16:creationId xmlns:a16="http://schemas.microsoft.com/office/drawing/2014/main" id="{53A68EA0-D568-EF4A-96B3-E5FB3F41C6E0}"/>
              </a:ext>
            </a:extLst>
          </p:cNvPr>
          <p:cNvSpPr>
            <a:spLocks noChangeShapeType="1"/>
          </p:cNvSpPr>
          <p:nvPr/>
        </p:nvSpPr>
        <p:spPr bwMode="auto">
          <a:xfrm flipH="1">
            <a:off x="1246188" y="1841500"/>
            <a:ext cx="12700" cy="2147888"/>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52" name="Line 464">
            <a:extLst>
              <a:ext uri="{FF2B5EF4-FFF2-40B4-BE49-F238E27FC236}">
                <a16:creationId xmlns:a16="http://schemas.microsoft.com/office/drawing/2014/main" id="{43BD53C2-A374-B041-8A20-44E74C522D7D}"/>
              </a:ext>
            </a:extLst>
          </p:cNvPr>
          <p:cNvSpPr>
            <a:spLocks noChangeShapeType="1"/>
          </p:cNvSpPr>
          <p:nvPr/>
        </p:nvSpPr>
        <p:spPr bwMode="auto">
          <a:xfrm>
            <a:off x="1258888" y="3994150"/>
            <a:ext cx="25717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80" name="Text Box 465">
            <a:extLst>
              <a:ext uri="{FF2B5EF4-FFF2-40B4-BE49-F238E27FC236}">
                <a16:creationId xmlns:a16="http://schemas.microsoft.com/office/drawing/2014/main" id="{9F232935-BE1B-6A40-9ADE-45BDCF271360}"/>
              </a:ext>
            </a:extLst>
          </p:cNvPr>
          <p:cNvSpPr txBox="1">
            <a:spLocks noChangeAspect="1" noChangeArrowheads="1"/>
          </p:cNvSpPr>
          <p:nvPr/>
        </p:nvSpPr>
        <p:spPr bwMode="auto">
          <a:xfrm>
            <a:off x="4124325" y="1285875"/>
            <a:ext cx="300038"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9</a:t>
            </a:r>
          </a:p>
        </p:txBody>
      </p:sp>
      <p:sp>
        <p:nvSpPr>
          <p:cNvPr id="252981" name="Text Box 466">
            <a:extLst>
              <a:ext uri="{FF2B5EF4-FFF2-40B4-BE49-F238E27FC236}">
                <a16:creationId xmlns:a16="http://schemas.microsoft.com/office/drawing/2014/main" id="{5AFE3324-A351-DE40-AAD9-BF09BA29ADCC}"/>
              </a:ext>
            </a:extLst>
          </p:cNvPr>
          <p:cNvSpPr txBox="1">
            <a:spLocks noChangeAspect="1" noChangeArrowheads="1"/>
          </p:cNvSpPr>
          <p:nvPr/>
        </p:nvSpPr>
        <p:spPr bwMode="auto">
          <a:xfrm>
            <a:off x="1535113" y="1285875"/>
            <a:ext cx="30003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400" b="1">
                <a:solidFill>
                  <a:schemeClr val="tx2"/>
                </a:solidFill>
                <a:latin typeface="Arial Black" panose="020B0604020202020204" pitchFamily="34" charset="0"/>
                <a:ea typeface="宋体" panose="02010600030101010101" pitchFamily="2" charset="-122"/>
              </a:rPr>
              <a:t>9</a:t>
            </a:r>
          </a:p>
        </p:txBody>
      </p:sp>
      <p:sp>
        <p:nvSpPr>
          <p:cNvPr id="55" name="Line 467">
            <a:extLst>
              <a:ext uri="{FF2B5EF4-FFF2-40B4-BE49-F238E27FC236}">
                <a16:creationId xmlns:a16="http://schemas.microsoft.com/office/drawing/2014/main" id="{4E9687C8-5875-DC40-9EFE-F05D6E01FB88}"/>
              </a:ext>
            </a:extLst>
          </p:cNvPr>
          <p:cNvSpPr>
            <a:spLocks noChangeShapeType="1"/>
          </p:cNvSpPr>
          <p:nvPr/>
        </p:nvSpPr>
        <p:spPr bwMode="auto">
          <a:xfrm flipV="1">
            <a:off x="681038" y="3140075"/>
            <a:ext cx="822325" cy="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83" name="Text Box 471">
            <a:extLst>
              <a:ext uri="{FF2B5EF4-FFF2-40B4-BE49-F238E27FC236}">
                <a16:creationId xmlns:a16="http://schemas.microsoft.com/office/drawing/2014/main" id="{CA5D76C3-3DEB-A746-881F-2B7331C528F0}"/>
              </a:ext>
            </a:extLst>
          </p:cNvPr>
          <p:cNvSpPr txBox="1">
            <a:spLocks noChangeAspect="1" noChangeArrowheads="1"/>
          </p:cNvSpPr>
          <p:nvPr/>
        </p:nvSpPr>
        <p:spPr bwMode="auto">
          <a:xfrm>
            <a:off x="900113" y="2871788"/>
            <a:ext cx="3841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40</a:t>
            </a:r>
          </a:p>
        </p:txBody>
      </p:sp>
      <p:sp>
        <p:nvSpPr>
          <p:cNvPr id="252984" name="Text Box 473">
            <a:extLst>
              <a:ext uri="{FF2B5EF4-FFF2-40B4-BE49-F238E27FC236}">
                <a16:creationId xmlns:a16="http://schemas.microsoft.com/office/drawing/2014/main" id="{2A8263AD-7F4F-9B41-ADD1-B6B9E2F7A9E9}"/>
              </a:ext>
            </a:extLst>
          </p:cNvPr>
          <p:cNvSpPr txBox="1">
            <a:spLocks noChangeArrowheads="1"/>
          </p:cNvSpPr>
          <p:nvPr/>
        </p:nvSpPr>
        <p:spPr bwMode="auto">
          <a:xfrm>
            <a:off x="1008063" y="3030538"/>
            <a:ext cx="249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sz="1200" b="1">
                <a:latin typeface="Calibri" panose="020F0502020204030204" pitchFamily="34" charset="0"/>
                <a:ea typeface="宋体" panose="02010600030101010101" pitchFamily="2" charset="-122"/>
              </a:rPr>
              <a:t>/</a:t>
            </a:r>
          </a:p>
        </p:txBody>
      </p:sp>
      <p:sp>
        <p:nvSpPr>
          <p:cNvPr id="58" name="Line 457">
            <a:extLst>
              <a:ext uri="{FF2B5EF4-FFF2-40B4-BE49-F238E27FC236}">
                <a16:creationId xmlns:a16="http://schemas.microsoft.com/office/drawing/2014/main" id="{0DC5CF2E-B467-304C-88F1-9270CC276C9A}"/>
              </a:ext>
            </a:extLst>
          </p:cNvPr>
          <p:cNvSpPr>
            <a:spLocks noChangeShapeType="1"/>
          </p:cNvSpPr>
          <p:nvPr/>
        </p:nvSpPr>
        <p:spPr bwMode="auto">
          <a:xfrm>
            <a:off x="2435225" y="3122613"/>
            <a:ext cx="0" cy="877887"/>
          </a:xfrm>
          <a:prstGeom prst="line">
            <a:avLst/>
          </a:prstGeom>
          <a:noFill/>
          <a:ln w="9525">
            <a:solidFill>
              <a:srgbClr val="000000"/>
            </a:solidFill>
            <a:round/>
            <a:headEnd/>
            <a:tailEnd/>
          </a:ln>
          <a:effectLst/>
        </p:spPr>
        <p:txBody>
          <a:bodyPr wrap="none" lIns="90487" tIns="44450" rIns="90487" bIns="44450" anchor="ctr"/>
          <a:lstStyle/>
          <a:p>
            <a:pPr algn="ctr">
              <a:defRPr/>
            </a:pPr>
            <a:endParaRPr lang="en-US" sz="2400" b="1">
              <a:latin typeface="+mn-lt"/>
            </a:endParaRPr>
          </a:p>
        </p:txBody>
      </p:sp>
      <p:sp>
        <p:nvSpPr>
          <p:cNvPr id="59" name="Line 458">
            <a:extLst>
              <a:ext uri="{FF2B5EF4-FFF2-40B4-BE49-F238E27FC236}">
                <a16:creationId xmlns:a16="http://schemas.microsoft.com/office/drawing/2014/main" id="{E33BF67C-6D7D-A346-ACB1-057FEA68C698}"/>
              </a:ext>
            </a:extLst>
          </p:cNvPr>
          <p:cNvSpPr>
            <a:spLocks noChangeShapeType="1"/>
          </p:cNvSpPr>
          <p:nvPr/>
        </p:nvSpPr>
        <p:spPr bwMode="auto">
          <a:xfrm>
            <a:off x="2444750" y="3124200"/>
            <a:ext cx="344488" cy="4763"/>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87" name="Text Box 476">
            <a:extLst>
              <a:ext uri="{FF2B5EF4-FFF2-40B4-BE49-F238E27FC236}">
                <a16:creationId xmlns:a16="http://schemas.microsoft.com/office/drawing/2014/main" id="{211560BD-6AC0-AF48-A5C5-375CCB674C39}"/>
              </a:ext>
            </a:extLst>
          </p:cNvPr>
          <p:cNvSpPr txBox="1">
            <a:spLocks noChangeAspect="1" noChangeArrowheads="1"/>
          </p:cNvSpPr>
          <p:nvPr/>
        </p:nvSpPr>
        <p:spPr bwMode="auto">
          <a:xfrm>
            <a:off x="2428875" y="2892425"/>
            <a:ext cx="3841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40</a:t>
            </a:r>
          </a:p>
        </p:txBody>
      </p:sp>
      <p:sp>
        <p:nvSpPr>
          <p:cNvPr id="252988" name="Text Box 477">
            <a:extLst>
              <a:ext uri="{FF2B5EF4-FFF2-40B4-BE49-F238E27FC236}">
                <a16:creationId xmlns:a16="http://schemas.microsoft.com/office/drawing/2014/main" id="{DBCD4C77-7894-5F4E-BF5B-831331B84EC3}"/>
              </a:ext>
            </a:extLst>
          </p:cNvPr>
          <p:cNvSpPr txBox="1">
            <a:spLocks noChangeArrowheads="1"/>
          </p:cNvSpPr>
          <p:nvPr/>
        </p:nvSpPr>
        <p:spPr bwMode="auto">
          <a:xfrm>
            <a:off x="2517775" y="2994025"/>
            <a:ext cx="249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sz="1200" b="1">
                <a:latin typeface="Calibri" panose="020F0502020204030204" pitchFamily="34" charset="0"/>
                <a:ea typeface="宋体" panose="02010600030101010101" pitchFamily="2" charset="-122"/>
              </a:rPr>
              <a:t>/</a:t>
            </a:r>
          </a:p>
        </p:txBody>
      </p:sp>
      <p:sp>
        <p:nvSpPr>
          <p:cNvPr id="62" name="Line 446">
            <a:extLst>
              <a:ext uri="{FF2B5EF4-FFF2-40B4-BE49-F238E27FC236}">
                <a16:creationId xmlns:a16="http://schemas.microsoft.com/office/drawing/2014/main" id="{197F0A0E-A85D-7B47-A284-89165CE6625C}"/>
              </a:ext>
            </a:extLst>
          </p:cNvPr>
          <p:cNvSpPr>
            <a:spLocks noChangeShapeType="1"/>
          </p:cNvSpPr>
          <p:nvPr/>
        </p:nvSpPr>
        <p:spPr bwMode="auto">
          <a:xfrm>
            <a:off x="3711575" y="3122613"/>
            <a:ext cx="392113" cy="12700"/>
          </a:xfrm>
          <a:prstGeom prst="line">
            <a:avLst/>
          </a:prstGeom>
          <a:noFill/>
          <a:ln w="9525">
            <a:solidFill>
              <a:srgbClr val="000000"/>
            </a:solidFill>
            <a:round/>
            <a:headEnd/>
            <a:tailEnd type="triangle" w="med" len="med"/>
          </a:ln>
          <a:effectLst/>
        </p:spPr>
        <p:txBody>
          <a:bodyPr wrap="none" lIns="90487" tIns="44450" rIns="90487" bIns="44450" anchor="ctr"/>
          <a:lstStyle/>
          <a:p>
            <a:pPr algn="ctr">
              <a:defRPr/>
            </a:pPr>
            <a:endParaRPr lang="en-US" sz="2400" b="1">
              <a:latin typeface="+mn-lt"/>
            </a:endParaRPr>
          </a:p>
        </p:txBody>
      </p:sp>
      <p:sp>
        <p:nvSpPr>
          <p:cNvPr id="252990" name="Text Box 479">
            <a:extLst>
              <a:ext uri="{FF2B5EF4-FFF2-40B4-BE49-F238E27FC236}">
                <a16:creationId xmlns:a16="http://schemas.microsoft.com/office/drawing/2014/main" id="{77B4E6E9-175C-4240-9A39-318A12D2DB2E}"/>
              </a:ext>
            </a:extLst>
          </p:cNvPr>
          <p:cNvSpPr txBox="1">
            <a:spLocks noChangeAspect="1" noChangeArrowheads="1"/>
          </p:cNvSpPr>
          <p:nvPr/>
        </p:nvSpPr>
        <p:spPr bwMode="auto">
          <a:xfrm>
            <a:off x="3749675" y="2911475"/>
            <a:ext cx="3841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40</a:t>
            </a:r>
          </a:p>
        </p:txBody>
      </p:sp>
      <p:sp>
        <p:nvSpPr>
          <p:cNvPr id="252991" name="Text Box 480">
            <a:extLst>
              <a:ext uri="{FF2B5EF4-FFF2-40B4-BE49-F238E27FC236}">
                <a16:creationId xmlns:a16="http://schemas.microsoft.com/office/drawing/2014/main" id="{209E3C41-BDDF-6D4D-9D87-B62450B76E0D}"/>
              </a:ext>
            </a:extLst>
          </p:cNvPr>
          <p:cNvSpPr txBox="1">
            <a:spLocks noChangeArrowheads="1"/>
          </p:cNvSpPr>
          <p:nvPr/>
        </p:nvSpPr>
        <p:spPr bwMode="auto">
          <a:xfrm>
            <a:off x="3825875" y="3013075"/>
            <a:ext cx="249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sz="1200" b="1">
                <a:latin typeface="Calibri" panose="020F0502020204030204" pitchFamily="34" charset="0"/>
                <a:ea typeface="宋体" panose="02010600030101010101" pitchFamily="2" charset="-122"/>
              </a:rPr>
              <a:t>/</a:t>
            </a:r>
          </a:p>
        </p:txBody>
      </p:sp>
      <p:sp>
        <p:nvSpPr>
          <p:cNvPr id="252992" name="Text Box 482">
            <a:extLst>
              <a:ext uri="{FF2B5EF4-FFF2-40B4-BE49-F238E27FC236}">
                <a16:creationId xmlns:a16="http://schemas.microsoft.com/office/drawing/2014/main" id="{332C68BC-B7D1-EC45-96A8-4EAA118F2EB7}"/>
              </a:ext>
            </a:extLst>
          </p:cNvPr>
          <p:cNvSpPr txBox="1">
            <a:spLocks noChangeAspect="1" noChangeArrowheads="1"/>
          </p:cNvSpPr>
          <p:nvPr/>
        </p:nvSpPr>
        <p:spPr bwMode="auto">
          <a:xfrm>
            <a:off x="5024438" y="2887663"/>
            <a:ext cx="3841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40</a:t>
            </a:r>
          </a:p>
        </p:txBody>
      </p:sp>
      <p:sp>
        <p:nvSpPr>
          <p:cNvPr id="252993" name="Text Box 483">
            <a:extLst>
              <a:ext uri="{FF2B5EF4-FFF2-40B4-BE49-F238E27FC236}">
                <a16:creationId xmlns:a16="http://schemas.microsoft.com/office/drawing/2014/main" id="{3216987A-CB88-C24D-8FCB-77028FCFCAEE}"/>
              </a:ext>
            </a:extLst>
          </p:cNvPr>
          <p:cNvSpPr txBox="1">
            <a:spLocks noChangeArrowheads="1"/>
          </p:cNvSpPr>
          <p:nvPr/>
        </p:nvSpPr>
        <p:spPr bwMode="auto">
          <a:xfrm>
            <a:off x="5113338" y="2989263"/>
            <a:ext cx="249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sz="1200" b="1">
                <a:latin typeface="Calibri" panose="020F0502020204030204" pitchFamily="34" charset="0"/>
                <a:ea typeface="宋体" panose="02010600030101010101" pitchFamily="2" charset="-122"/>
              </a:rPr>
              <a:t>/</a:t>
            </a:r>
          </a:p>
        </p:txBody>
      </p:sp>
      <p:sp>
        <p:nvSpPr>
          <p:cNvPr id="252994" name="Text Box 485">
            <a:extLst>
              <a:ext uri="{FF2B5EF4-FFF2-40B4-BE49-F238E27FC236}">
                <a16:creationId xmlns:a16="http://schemas.microsoft.com/office/drawing/2014/main" id="{2BA250DF-2234-3F49-8DF6-D1303E696D27}"/>
              </a:ext>
            </a:extLst>
          </p:cNvPr>
          <p:cNvSpPr txBox="1">
            <a:spLocks noChangeAspect="1" noChangeArrowheads="1"/>
          </p:cNvSpPr>
          <p:nvPr/>
        </p:nvSpPr>
        <p:spPr bwMode="auto">
          <a:xfrm>
            <a:off x="5170488" y="5592763"/>
            <a:ext cx="3841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40</a:t>
            </a:r>
          </a:p>
        </p:txBody>
      </p:sp>
      <p:sp>
        <p:nvSpPr>
          <p:cNvPr id="252995" name="Text Box 486">
            <a:extLst>
              <a:ext uri="{FF2B5EF4-FFF2-40B4-BE49-F238E27FC236}">
                <a16:creationId xmlns:a16="http://schemas.microsoft.com/office/drawing/2014/main" id="{7C028A55-98C7-C741-9CA7-EDAA16406603}"/>
              </a:ext>
            </a:extLst>
          </p:cNvPr>
          <p:cNvSpPr txBox="1">
            <a:spLocks noChangeArrowheads="1"/>
          </p:cNvSpPr>
          <p:nvPr/>
        </p:nvSpPr>
        <p:spPr bwMode="auto">
          <a:xfrm>
            <a:off x="5259388" y="5667375"/>
            <a:ext cx="249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sz="1200" b="1">
                <a:latin typeface="Calibri" panose="020F0502020204030204" pitchFamily="34" charset="0"/>
                <a:ea typeface="宋体" panose="02010600030101010101" pitchFamily="2" charset="-122"/>
              </a:rPr>
              <a:t>/</a:t>
            </a:r>
          </a:p>
        </p:txBody>
      </p:sp>
      <p:sp>
        <p:nvSpPr>
          <p:cNvPr id="252996" name="Text Box 488">
            <a:extLst>
              <a:ext uri="{FF2B5EF4-FFF2-40B4-BE49-F238E27FC236}">
                <a16:creationId xmlns:a16="http://schemas.microsoft.com/office/drawing/2014/main" id="{4413038D-F78C-1846-926F-FD9BDE2DD25A}"/>
              </a:ext>
            </a:extLst>
          </p:cNvPr>
          <p:cNvSpPr txBox="1">
            <a:spLocks noChangeAspect="1" noChangeArrowheads="1"/>
          </p:cNvSpPr>
          <p:nvPr/>
        </p:nvSpPr>
        <p:spPr bwMode="auto">
          <a:xfrm>
            <a:off x="7353300" y="3221038"/>
            <a:ext cx="93662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7" tIns="44450" rIns="90487" bIns="4445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lnSpc>
                <a:spcPct val="90000"/>
              </a:lnSpc>
              <a:spcBef>
                <a:spcPct val="30000"/>
              </a:spcBef>
            </a:pPr>
            <a:r>
              <a:rPr lang="en-US" altLang="zh-CN" sz="1200" b="1">
                <a:solidFill>
                  <a:schemeClr val="tx2"/>
                </a:solidFill>
                <a:latin typeface="Arial Black" panose="020B0604020202020204" pitchFamily="34" charset="0"/>
                <a:ea typeface="宋体" panose="02010600030101010101" pitchFamily="2" charset="-122"/>
              </a:rPr>
              <a:t>12</a:t>
            </a:r>
          </a:p>
        </p:txBody>
      </p:sp>
      <p:sp>
        <p:nvSpPr>
          <p:cNvPr id="252997" name="Text Box 489">
            <a:extLst>
              <a:ext uri="{FF2B5EF4-FFF2-40B4-BE49-F238E27FC236}">
                <a16:creationId xmlns:a16="http://schemas.microsoft.com/office/drawing/2014/main" id="{865F79AB-CA88-6045-98D0-F87977AB08C9}"/>
              </a:ext>
            </a:extLst>
          </p:cNvPr>
          <p:cNvSpPr txBox="1">
            <a:spLocks noChangeArrowheads="1"/>
          </p:cNvSpPr>
          <p:nvPr/>
        </p:nvSpPr>
        <p:spPr bwMode="auto">
          <a:xfrm>
            <a:off x="7504113" y="3175000"/>
            <a:ext cx="280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a:r>
              <a:rPr lang="en-US" altLang="zh-CN" b="1">
                <a:latin typeface="微软雅黑" panose="020B0503020204020204" pitchFamily="34" charset="-122"/>
                <a:ea typeface="微软雅黑" panose="020B0503020204020204" pitchFamily="34" charset="-122"/>
              </a:rPr>
              <a:t>/</a:t>
            </a:r>
          </a:p>
        </p:txBody>
      </p:sp>
      <p:sp>
        <p:nvSpPr>
          <p:cNvPr id="252998" name="Text Box 505">
            <a:extLst>
              <a:ext uri="{FF2B5EF4-FFF2-40B4-BE49-F238E27FC236}">
                <a16:creationId xmlns:a16="http://schemas.microsoft.com/office/drawing/2014/main" id="{F367D328-EF77-A54A-B2A9-38F040B6B9B7}"/>
              </a:ext>
            </a:extLst>
          </p:cNvPr>
          <p:cNvSpPr txBox="1">
            <a:spLocks noChangeArrowheads="1"/>
          </p:cNvSpPr>
          <p:nvPr/>
        </p:nvSpPr>
        <p:spPr bwMode="auto">
          <a:xfrm>
            <a:off x="1404938" y="4722813"/>
            <a:ext cx="11366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400" b="1">
                <a:latin typeface="Arial Black" panose="020B0604020202020204" pitchFamily="34" charset="0"/>
                <a:ea typeface="宋体" panose="02010600030101010101" pitchFamily="2" charset="-122"/>
              </a:rPr>
              <a:t>512 GB </a:t>
            </a:r>
          </a:p>
          <a:p>
            <a:r>
              <a:rPr lang="en-US" altLang="zh-CN" sz="1400" b="1">
                <a:latin typeface="Arial Black" panose="020B0604020202020204" pitchFamily="34" charset="0"/>
                <a:ea typeface="宋体" panose="02010600030101010101" pitchFamily="2" charset="-122"/>
              </a:rPr>
              <a:t>region </a:t>
            </a:r>
          </a:p>
          <a:p>
            <a:r>
              <a:rPr lang="en-US" altLang="zh-CN" sz="1400" b="1">
                <a:latin typeface="Arial Black" panose="020B0604020202020204" pitchFamily="34" charset="0"/>
                <a:ea typeface="宋体" panose="02010600030101010101" pitchFamily="2" charset="-122"/>
              </a:rPr>
              <a:t>per entry</a:t>
            </a:r>
          </a:p>
        </p:txBody>
      </p:sp>
      <p:sp>
        <p:nvSpPr>
          <p:cNvPr id="252999" name="Text Box 507">
            <a:extLst>
              <a:ext uri="{FF2B5EF4-FFF2-40B4-BE49-F238E27FC236}">
                <a16:creationId xmlns:a16="http://schemas.microsoft.com/office/drawing/2014/main" id="{0D67A193-D701-8C44-88A6-62F225B1FCE0}"/>
              </a:ext>
            </a:extLst>
          </p:cNvPr>
          <p:cNvSpPr txBox="1">
            <a:spLocks noChangeArrowheads="1"/>
          </p:cNvSpPr>
          <p:nvPr/>
        </p:nvSpPr>
        <p:spPr bwMode="auto">
          <a:xfrm>
            <a:off x="2835275" y="4722813"/>
            <a:ext cx="120808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400" b="1">
                <a:latin typeface="Arial Black" panose="020B0604020202020204" pitchFamily="34" charset="0"/>
                <a:ea typeface="宋体" panose="02010600030101010101" pitchFamily="2" charset="-122"/>
              </a:rPr>
              <a:t>1 GB </a:t>
            </a:r>
          </a:p>
          <a:p>
            <a:r>
              <a:rPr lang="en-US" altLang="zh-CN" sz="1400" b="1">
                <a:latin typeface="Arial Black" panose="020B0604020202020204" pitchFamily="34" charset="0"/>
                <a:ea typeface="宋体" panose="02010600030101010101" pitchFamily="2" charset="-122"/>
              </a:rPr>
              <a:t>region </a:t>
            </a:r>
          </a:p>
          <a:p>
            <a:r>
              <a:rPr lang="en-US" altLang="zh-CN" sz="1400" b="1">
                <a:latin typeface="Arial Black" panose="020B0604020202020204" pitchFamily="34" charset="0"/>
                <a:ea typeface="宋体" panose="02010600030101010101" pitchFamily="2" charset="-122"/>
              </a:rPr>
              <a:t>per entry</a:t>
            </a:r>
          </a:p>
        </p:txBody>
      </p:sp>
      <p:sp>
        <p:nvSpPr>
          <p:cNvPr id="253000" name="Text Box 508">
            <a:extLst>
              <a:ext uri="{FF2B5EF4-FFF2-40B4-BE49-F238E27FC236}">
                <a16:creationId xmlns:a16="http://schemas.microsoft.com/office/drawing/2014/main" id="{87BA0B22-D0D1-8B49-8446-B07D5D7969E8}"/>
              </a:ext>
            </a:extLst>
          </p:cNvPr>
          <p:cNvSpPr txBox="1">
            <a:spLocks noChangeArrowheads="1"/>
          </p:cNvSpPr>
          <p:nvPr/>
        </p:nvSpPr>
        <p:spPr bwMode="auto">
          <a:xfrm>
            <a:off x="4057650" y="4749800"/>
            <a:ext cx="12509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400" b="1">
                <a:latin typeface="Arial Black" panose="020B0604020202020204" pitchFamily="34" charset="0"/>
                <a:ea typeface="宋体" panose="02010600030101010101" pitchFamily="2" charset="-122"/>
              </a:rPr>
              <a:t>2 MB </a:t>
            </a:r>
          </a:p>
          <a:p>
            <a:r>
              <a:rPr lang="en-US" altLang="zh-CN" sz="1400" b="1">
                <a:latin typeface="Arial Black" panose="020B0604020202020204" pitchFamily="34" charset="0"/>
                <a:ea typeface="宋体" panose="02010600030101010101" pitchFamily="2" charset="-122"/>
              </a:rPr>
              <a:t>region</a:t>
            </a:r>
            <a:r>
              <a:rPr lang="en-US" altLang="zh-CN" sz="1400" b="1" i="1">
                <a:latin typeface="Calibri" panose="020F0502020204030204" pitchFamily="34" charset="0"/>
                <a:ea typeface="宋体" panose="02010600030101010101" pitchFamily="2" charset="-122"/>
              </a:rPr>
              <a:t> </a:t>
            </a:r>
          </a:p>
          <a:p>
            <a:r>
              <a:rPr lang="en-US" altLang="zh-CN" sz="1400" b="1">
                <a:latin typeface="Arial Black" panose="020B0604020202020204" pitchFamily="34" charset="0"/>
                <a:ea typeface="宋体" panose="02010600030101010101" pitchFamily="2" charset="-122"/>
              </a:rPr>
              <a:t>per</a:t>
            </a:r>
            <a:r>
              <a:rPr lang="en-US" altLang="zh-CN" sz="1400" b="1" i="1">
                <a:latin typeface="Calibri" panose="020F0502020204030204" pitchFamily="34" charset="0"/>
                <a:ea typeface="宋体" panose="02010600030101010101" pitchFamily="2" charset="-122"/>
              </a:rPr>
              <a:t> </a:t>
            </a:r>
            <a:r>
              <a:rPr lang="en-US" altLang="zh-CN" sz="1400" b="1">
                <a:latin typeface="Arial Black" panose="020B0604020202020204" pitchFamily="34" charset="0"/>
                <a:ea typeface="宋体" panose="02010600030101010101" pitchFamily="2" charset="-122"/>
              </a:rPr>
              <a:t>entry</a:t>
            </a:r>
          </a:p>
        </p:txBody>
      </p:sp>
      <p:sp>
        <p:nvSpPr>
          <p:cNvPr id="253001" name="Text Box 509">
            <a:extLst>
              <a:ext uri="{FF2B5EF4-FFF2-40B4-BE49-F238E27FC236}">
                <a16:creationId xmlns:a16="http://schemas.microsoft.com/office/drawing/2014/main" id="{22C94A53-AB41-E344-AFD8-EB2E76C5B2F8}"/>
              </a:ext>
            </a:extLst>
          </p:cNvPr>
          <p:cNvSpPr txBox="1">
            <a:spLocks noChangeArrowheads="1"/>
          </p:cNvSpPr>
          <p:nvPr/>
        </p:nvSpPr>
        <p:spPr bwMode="auto">
          <a:xfrm>
            <a:off x="5392738" y="4722813"/>
            <a:ext cx="11207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457200" indent="-457200">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r>
              <a:rPr lang="en-US" altLang="zh-CN" sz="1400" b="1">
                <a:latin typeface="Arial Black" panose="020B0604020202020204" pitchFamily="34" charset="0"/>
                <a:ea typeface="宋体" panose="02010600030101010101" pitchFamily="2" charset="-122"/>
              </a:rPr>
              <a:t>4 KB</a:t>
            </a:r>
          </a:p>
          <a:p>
            <a:r>
              <a:rPr lang="en-US" altLang="zh-CN" sz="1400" b="1">
                <a:latin typeface="Arial Black" panose="020B0604020202020204" pitchFamily="34" charset="0"/>
                <a:ea typeface="宋体" panose="02010600030101010101" pitchFamily="2" charset="-122"/>
              </a:rPr>
              <a:t>region </a:t>
            </a:r>
          </a:p>
          <a:p>
            <a:r>
              <a:rPr lang="en-US" altLang="zh-CN" sz="1400" b="1">
                <a:latin typeface="Arial Black" panose="020B0604020202020204" pitchFamily="34" charset="0"/>
                <a:ea typeface="宋体" panose="02010600030101010101" pitchFamily="2" charset="-122"/>
              </a:rPr>
              <a:t>per entry</a:t>
            </a:r>
          </a:p>
        </p:txBody>
      </p:sp>
      <p:sp>
        <p:nvSpPr>
          <p:cNvPr id="253002" name="Text Box 74">
            <a:extLst>
              <a:ext uri="{FF2B5EF4-FFF2-40B4-BE49-F238E27FC236}">
                <a16:creationId xmlns:a16="http://schemas.microsoft.com/office/drawing/2014/main" id="{D8BCBDAE-8E36-A949-A21A-B21CA7027D32}"/>
              </a:ext>
            </a:extLst>
          </p:cNvPr>
          <p:cNvSpPr txBox="1">
            <a:spLocks noChangeArrowheads="1"/>
          </p:cNvSpPr>
          <p:nvPr/>
        </p:nvSpPr>
        <p:spPr bwMode="auto">
          <a:xfrm>
            <a:off x="228600" y="766763"/>
            <a:ext cx="8040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solidFill>
                  <a:schemeClr val="accent1"/>
                </a:solidFill>
                <a:latin typeface="微软雅黑" panose="020B0503020204020204" pitchFamily="34" charset="-122"/>
                <a:ea typeface="微软雅黑" panose="020B0503020204020204" pitchFamily="34" charset="-122"/>
              </a:rPr>
              <a:t>线性地址空间划分：</a:t>
            </a:r>
            <a:r>
              <a:rPr lang="en-US" altLang="zh-CN" sz="2000" b="1">
                <a:solidFill>
                  <a:schemeClr val="accent1"/>
                </a:solidFill>
                <a:latin typeface="微软雅黑" panose="020B0503020204020204" pitchFamily="34" charset="-122"/>
                <a:ea typeface="微软雅黑" panose="020B0503020204020204" pitchFamily="34" charset="-122"/>
              </a:rPr>
              <a:t>2</a:t>
            </a:r>
            <a:r>
              <a:rPr lang="en-US" altLang="zh-CN" sz="2000" b="1" baseline="30000">
                <a:solidFill>
                  <a:schemeClr val="accent1"/>
                </a:solidFill>
                <a:latin typeface="微软雅黑" panose="020B0503020204020204" pitchFamily="34" charset="-122"/>
                <a:ea typeface="微软雅黑" panose="020B0503020204020204" pitchFamily="34" charset="-122"/>
              </a:rPr>
              <a:t>48</a:t>
            </a:r>
            <a:r>
              <a:rPr lang="en-US" altLang="zh-CN" sz="2000" b="1">
                <a:solidFill>
                  <a:schemeClr val="accent1"/>
                </a:solidFill>
                <a:latin typeface="微软雅黑" panose="020B0503020204020204" pitchFamily="34" charset="-122"/>
                <a:ea typeface="微软雅黑" panose="020B0503020204020204" pitchFamily="34" charset="-122"/>
              </a:rPr>
              <a:t>B=512</a:t>
            </a:r>
            <a:r>
              <a:rPr lang="zh-CN" altLang="en-US" sz="2000" b="1">
                <a:solidFill>
                  <a:schemeClr val="accent1"/>
                </a:solidFill>
                <a:latin typeface="微软雅黑" panose="020B0503020204020204" pitchFamily="34" charset="-122"/>
                <a:ea typeface="微软雅黑" panose="020B0503020204020204" pitchFamily="34" charset="-122"/>
              </a:rPr>
              <a:t>* </a:t>
            </a:r>
            <a:r>
              <a:rPr lang="en-US" altLang="zh-CN" sz="2000" b="1">
                <a:solidFill>
                  <a:schemeClr val="accent1"/>
                </a:solidFill>
                <a:latin typeface="微软雅黑" panose="020B0503020204020204" pitchFamily="34" charset="-122"/>
                <a:ea typeface="微软雅黑" panose="020B0503020204020204" pitchFamily="34" charset="-122"/>
              </a:rPr>
              <a:t>512 *512 *512 * 4KB/</a:t>
            </a:r>
            <a:r>
              <a:rPr lang="zh-CN" altLang="en-US" sz="2000" b="1">
                <a:solidFill>
                  <a:schemeClr val="accent1"/>
                </a:solidFill>
                <a:latin typeface="微软雅黑" panose="020B0503020204020204" pitchFamily="34" charset="-122"/>
                <a:ea typeface="微软雅黑" panose="020B0503020204020204" pitchFamily="34" charset="-122"/>
              </a:rPr>
              <a:t>页</a:t>
            </a:r>
          </a:p>
        </p:txBody>
      </p:sp>
      <p:sp>
        <p:nvSpPr>
          <p:cNvPr id="253003" name="Text Box 75">
            <a:extLst>
              <a:ext uri="{FF2B5EF4-FFF2-40B4-BE49-F238E27FC236}">
                <a16:creationId xmlns:a16="http://schemas.microsoft.com/office/drawing/2014/main" id="{C6BDE0EA-5C92-E747-A13C-F77D712D160D}"/>
              </a:ext>
            </a:extLst>
          </p:cNvPr>
          <p:cNvSpPr txBox="1">
            <a:spLocks noChangeArrowheads="1"/>
          </p:cNvSpPr>
          <p:nvPr/>
        </p:nvSpPr>
        <p:spPr bwMode="auto">
          <a:xfrm>
            <a:off x="71438" y="5634038"/>
            <a:ext cx="5138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solidFill>
                  <a:schemeClr val="accent1"/>
                </a:solidFill>
                <a:latin typeface="微软雅黑" panose="020B0503020204020204" pitchFamily="34" charset="-122"/>
                <a:ea typeface="微软雅黑" panose="020B0503020204020204" pitchFamily="34" charset="-122"/>
              </a:rPr>
              <a:t>主存划分</a:t>
            </a:r>
            <a:r>
              <a:rPr lang="en-US" altLang="zh-CN" sz="2000" b="1">
                <a:solidFill>
                  <a:schemeClr val="accent1"/>
                </a:solidFill>
                <a:latin typeface="微软雅黑" panose="020B0503020204020204" pitchFamily="34" charset="-122"/>
                <a:ea typeface="微软雅黑" panose="020B0503020204020204" pitchFamily="34" charset="-122"/>
              </a:rPr>
              <a:t>2</a:t>
            </a:r>
            <a:r>
              <a:rPr lang="en-US" altLang="zh-CN" sz="2000" b="1" baseline="30000">
                <a:solidFill>
                  <a:schemeClr val="accent1"/>
                </a:solidFill>
                <a:latin typeface="微软雅黑" panose="020B0503020204020204" pitchFamily="34" charset="-122"/>
                <a:ea typeface="微软雅黑" panose="020B0503020204020204" pitchFamily="34" charset="-122"/>
              </a:rPr>
              <a:t>52</a:t>
            </a:r>
            <a:r>
              <a:rPr lang="en-US" altLang="zh-CN" sz="2000" b="1">
                <a:solidFill>
                  <a:schemeClr val="accent1"/>
                </a:solidFill>
                <a:latin typeface="微软雅黑" panose="020B0503020204020204" pitchFamily="34" charset="-122"/>
                <a:ea typeface="微软雅黑" panose="020B0503020204020204" pitchFamily="34" charset="-122"/>
              </a:rPr>
              <a:t>B=2</a:t>
            </a:r>
            <a:r>
              <a:rPr lang="en-US" altLang="zh-CN" sz="2000" b="1" baseline="30000">
                <a:solidFill>
                  <a:schemeClr val="accent1"/>
                </a:solidFill>
                <a:latin typeface="微软雅黑" panose="020B0503020204020204" pitchFamily="34" charset="-122"/>
                <a:ea typeface="微软雅黑" panose="020B0503020204020204" pitchFamily="34" charset="-122"/>
              </a:rPr>
              <a:t>40</a:t>
            </a:r>
            <a:r>
              <a:rPr lang="zh-CN" altLang="en-US" sz="2000" b="1">
                <a:solidFill>
                  <a:schemeClr val="accent1"/>
                </a:solidFill>
                <a:ea typeface="微软雅黑" panose="020B0503020204020204" pitchFamily="34" charset="-122"/>
              </a:rPr>
              <a:t>页框 </a:t>
            </a:r>
            <a:r>
              <a:rPr lang="en-US" altLang="zh-CN" sz="2000" b="1">
                <a:solidFill>
                  <a:schemeClr val="accent1"/>
                </a:solidFill>
                <a:latin typeface="微软雅黑" panose="020B0503020204020204" pitchFamily="34" charset="-122"/>
                <a:ea typeface="微软雅黑" panose="020B0503020204020204" pitchFamily="34" charset="-122"/>
              </a:rPr>
              <a:t>*4KB/</a:t>
            </a:r>
            <a:r>
              <a:rPr lang="zh-CN" altLang="en-US" sz="2000" b="1">
                <a:solidFill>
                  <a:schemeClr val="accent1"/>
                </a:solidFill>
                <a:latin typeface="微软雅黑" panose="020B0503020204020204" pitchFamily="34" charset="-122"/>
                <a:ea typeface="微软雅黑" panose="020B0503020204020204" pitchFamily="34" charset="-122"/>
              </a:rPr>
              <a:t>页框</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361FB781-FD02-AB4E-8C28-0685DC714C3C}"/>
              </a:ext>
            </a:extLst>
          </p:cNvPr>
          <p:cNvSpPr>
            <a:spLocks noGrp="1" noChangeArrowheads="1"/>
          </p:cNvSpPr>
          <p:nvPr>
            <p:ph type="title" idx="4294967295"/>
          </p:nvPr>
        </p:nvSpPr>
        <p:spPr>
          <a:xfrm>
            <a:off x="2430463" y="128588"/>
            <a:ext cx="4941887" cy="528637"/>
          </a:xfrm>
        </p:spPr>
        <p:txBody>
          <a:bodyPr lIns="91440" tIns="45720" rIns="91440" bIns="45720" anchor="ctr"/>
          <a:lstStyle/>
          <a:p>
            <a:pPr algn="l" eaLnBrk="1" hangingPunct="1"/>
            <a:r>
              <a:rPr lang="zh-CN" altLang="en-US"/>
              <a:t>分段式虚拟存储器</a:t>
            </a:r>
          </a:p>
        </p:txBody>
      </p:sp>
      <p:sp>
        <p:nvSpPr>
          <p:cNvPr id="792579" name="Rectangle 3">
            <a:extLst>
              <a:ext uri="{FF2B5EF4-FFF2-40B4-BE49-F238E27FC236}">
                <a16:creationId xmlns:a16="http://schemas.microsoft.com/office/drawing/2014/main" id="{C726C45F-4214-9E40-90B6-7BF5FC01E876}"/>
              </a:ext>
            </a:extLst>
          </p:cNvPr>
          <p:cNvSpPr>
            <a:spLocks noGrp="1" noChangeArrowheads="1"/>
          </p:cNvSpPr>
          <p:nvPr>
            <p:ph type="body" idx="4294967295"/>
          </p:nvPr>
        </p:nvSpPr>
        <p:spPr>
          <a:xfrm>
            <a:off x="107950" y="550863"/>
            <a:ext cx="8950325" cy="5354637"/>
          </a:xfrm>
        </p:spPr>
        <p:txBody>
          <a:bodyPr lIns="91440" tIns="45720" rIns="91440" bIns="45720"/>
          <a:lstStyle/>
          <a:p>
            <a:pPr eaLnBrk="1" hangingPunct="1">
              <a:lnSpc>
                <a:spcPct val="115000"/>
              </a:lnSpc>
              <a:spcBef>
                <a:spcPct val="10000"/>
              </a:spcBef>
              <a:buFontTx/>
              <a:buNone/>
            </a:pPr>
            <a:endParaRPr lang="zh-CN" altLang="en-US" sz="1700">
              <a:ea typeface="宋体" panose="02010600030101010101" pitchFamily="2" charset="-122"/>
            </a:endParaRPr>
          </a:p>
          <a:p>
            <a:pPr eaLnBrk="1" hangingPunct="1">
              <a:lnSpc>
                <a:spcPct val="130000"/>
              </a:lnSpc>
              <a:spcBef>
                <a:spcPct val="10000"/>
              </a:spcBef>
            </a:pPr>
            <a:r>
              <a:rPr lang="zh-CN" altLang="en-US" sz="2400">
                <a:latin typeface="微软雅黑" panose="020B0503020204020204" pitchFamily="34" charset="-122"/>
                <a:ea typeface="微软雅黑" panose="020B0503020204020204" pitchFamily="34" charset="-122"/>
              </a:rPr>
              <a:t>分段系统的实现</a:t>
            </a:r>
          </a:p>
          <a:p>
            <a:pPr lvl="1" eaLnBrk="1" hangingPunct="1">
              <a:lnSpc>
                <a:spcPct val="130000"/>
              </a:lnSpc>
              <a:spcBef>
                <a:spcPct val="10000"/>
              </a:spcBef>
            </a:pPr>
            <a:r>
              <a:rPr lang="zh-CN" altLang="en-US" sz="2400">
                <a:solidFill>
                  <a:srgbClr val="0000FF"/>
                </a:solidFill>
                <a:latin typeface="微软雅黑" panose="020B0503020204020204" pitchFamily="34" charset="-122"/>
                <a:ea typeface="微软雅黑" panose="020B0503020204020204" pitchFamily="34" charset="-122"/>
              </a:rPr>
              <a:t>程序员或</a:t>
            </a:r>
            <a:r>
              <a:rPr lang="en-US" altLang="zh-CN" sz="2400">
                <a:solidFill>
                  <a:srgbClr val="0000FF"/>
                </a:solidFill>
                <a:latin typeface="微软雅黑" panose="020B0503020204020204" pitchFamily="34" charset="-122"/>
                <a:ea typeface="微软雅黑" panose="020B0503020204020204" pitchFamily="34" charset="-122"/>
              </a:rPr>
              <a:t>OS</a:t>
            </a:r>
            <a:r>
              <a:rPr lang="zh-CN" altLang="en-US" sz="2400">
                <a:solidFill>
                  <a:srgbClr val="0000FF"/>
                </a:solidFill>
                <a:latin typeface="微软雅黑" panose="020B0503020204020204" pitchFamily="34" charset="-122"/>
                <a:ea typeface="微软雅黑" panose="020B0503020204020204" pitchFamily="34" charset="-122"/>
              </a:rPr>
              <a:t>将程序模块或数据模块分配给不同的主存段，一个大程序有多个代码段和多个数据段构成，是按照程序的逻辑结构划分而成的多个相对独立的部分。</a:t>
            </a:r>
          </a:p>
          <a:p>
            <a:pPr lvl="1" eaLnBrk="1" hangingPunct="1">
              <a:lnSpc>
                <a:spcPct val="130000"/>
              </a:lnSpc>
              <a:spcBef>
                <a:spcPct val="10000"/>
              </a:spcBef>
              <a:buFontTx/>
              <a:buNone/>
            </a:pPr>
            <a:r>
              <a:rPr lang="zh-CN" altLang="en-US" sz="2400">
                <a:solidFill>
                  <a:srgbClr val="FF0000"/>
                </a:solidFill>
                <a:latin typeface="微软雅黑" panose="020B0503020204020204" pitchFamily="34" charset="-122"/>
                <a:ea typeface="微软雅黑" panose="020B0503020204020204" pitchFamily="34" charset="-122"/>
              </a:rPr>
              <a:t>     （例如，代码段、只读数据段、可读写数据段等）</a:t>
            </a:r>
          </a:p>
          <a:p>
            <a:pPr lvl="1" eaLnBrk="1" hangingPunct="1">
              <a:lnSpc>
                <a:spcPct val="130000"/>
              </a:lnSpc>
              <a:spcBef>
                <a:spcPct val="10000"/>
              </a:spcBef>
            </a:pPr>
            <a:r>
              <a:rPr lang="zh-CN" altLang="en-US" sz="2400">
                <a:solidFill>
                  <a:srgbClr val="0000FF"/>
                </a:solidFill>
                <a:latin typeface="微软雅黑" panose="020B0503020204020204" pitchFamily="34" charset="-122"/>
                <a:ea typeface="微软雅黑" panose="020B0503020204020204" pitchFamily="34" charset="-122"/>
              </a:rPr>
              <a:t>段通常带有</a:t>
            </a:r>
            <a:r>
              <a:rPr lang="zh-CN" altLang="en-US" sz="2400">
                <a:solidFill>
                  <a:srgbClr val="FF0000"/>
                </a:solidFill>
                <a:latin typeface="微软雅黑" panose="020B0503020204020204" pitchFamily="34" charset="-122"/>
                <a:ea typeface="微软雅黑" panose="020B0503020204020204" pitchFamily="34" charset="-122"/>
              </a:rPr>
              <a:t>段名或基地址</a:t>
            </a:r>
            <a:r>
              <a:rPr lang="zh-CN" altLang="en-US" sz="2400">
                <a:solidFill>
                  <a:srgbClr val="0000FF"/>
                </a:solidFill>
                <a:latin typeface="微软雅黑" panose="020B0503020204020204" pitchFamily="34" charset="-122"/>
                <a:ea typeface="微软雅黑" panose="020B0503020204020204" pitchFamily="34" charset="-122"/>
              </a:rPr>
              <a:t>，便于编写程序、编译器优化和操作系统调度管理</a:t>
            </a:r>
          </a:p>
          <a:p>
            <a:pPr lvl="1" eaLnBrk="1" hangingPunct="1">
              <a:lnSpc>
                <a:spcPct val="130000"/>
              </a:lnSpc>
              <a:spcBef>
                <a:spcPct val="10000"/>
              </a:spcBef>
            </a:pPr>
            <a:r>
              <a:rPr lang="zh-CN" altLang="en-US" sz="2400">
                <a:solidFill>
                  <a:srgbClr val="0000FF"/>
                </a:solidFill>
                <a:latin typeface="微软雅黑" panose="020B0503020204020204" pitchFamily="34" charset="-122"/>
                <a:ea typeface="微软雅黑" panose="020B0503020204020204" pitchFamily="34" charset="-122"/>
              </a:rPr>
              <a:t>分段系统将主存空间</a:t>
            </a:r>
            <a:r>
              <a:rPr lang="zh-CN" altLang="en-US" sz="2400">
                <a:solidFill>
                  <a:srgbClr val="FF0000"/>
                </a:solidFill>
                <a:latin typeface="微软雅黑" panose="020B0503020204020204" pitchFamily="34" charset="-122"/>
                <a:ea typeface="微软雅黑" panose="020B0503020204020204" pitchFamily="34" charset="-122"/>
              </a:rPr>
              <a:t>按实际程序中的段来划分</a:t>
            </a:r>
            <a:r>
              <a:rPr lang="zh-CN" altLang="en-US" sz="2400">
                <a:solidFill>
                  <a:srgbClr val="0000FF"/>
                </a:solidFill>
                <a:latin typeface="微软雅黑" panose="020B0503020204020204" pitchFamily="34" charset="-122"/>
                <a:ea typeface="微软雅黑" panose="020B0503020204020204" pitchFamily="34" charset="-122"/>
              </a:rPr>
              <a:t>，每个段在主存中的位置记录在</a:t>
            </a:r>
            <a:r>
              <a:rPr lang="zh-CN" altLang="en-US" sz="2400">
                <a:solidFill>
                  <a:schemeClr val="accent1"/>
                </a:solidFill>
                <a:latin typeface="微软雅黑" panose="020B0503020204020204" pitchFamily="34" charset="-122"/>
                <a:ea typeface="微软雅黑" panose="020B0503020204020204" pitchFamily="34" charset="-122"/>
              </a:rPr>
              <a:t>段表</a:t>
            </a:r>
            <a:r>
              <a:rPr lang="zh-CN" altLang="en-US" sz="2400">
                <a:solidFill>
                  <a:srgbClr val="0000FF"/>
                </a:solidFill>
                <a:latin typeface="微软雅黑" panose="020B0503020204020204" pitchFamily="34" charset="-122"/>
                <a:ea typeface="微软雅黑" panose="020B0503020204020204" pitchFamily="34" charset="-122"/>
              </a:rPr>
              <a:t>中，并附以“段长”项</a:t>
            </a:r>
          </a:p>
          <a:p>
            <a:pPr lvl="1" eaLnBrk="1" hangingPunct="1">
              <a:lnSpc>
                <a:spcPct val="130000"/>
              </a:lnSpc>
              <a:spcBef>
                <a:spcPct val="10000"/>
              </a:spcBef>
            </a:pPr>
            <a:r>
              <a:rPr lang="zh-CN" altLang="en-US" sz="2400">
                <a:solidFill>
                  <a:srgbClr val="0000FF"/>
                </a:solidFill>
                <a:latin typeface="微软雅黑" panose="020B0503020204020204" pitchFamily="34" charset="-122"/>
                <a:ea typeface="微软雅黑" panose="020B0503020204020204" pitchFamily="34" charset="-122"/>
              </a:rPr>
              <a:t>段表由</a:t>
            </a:r>
            <a:r>
              <a:rPr lang="zh-CN" altLang="en-US" sz="2400">
                <a:solidFill>
                  <a:schemeClr val="accent1"/>
                </a:solidFill>
                <a:latin typeface="微软雅黑" panose="020B0503020204020204" pitchFamily="34" charset="-122"/>
                <a:ea typeface="微软雅黑" panose="020B0503020204020204" pitchFamily="34" charset="-122"/>
              </a:rPr>
              <a:t>段表项</a:t>
            </a:r>
            <a:r>
              <a:rPr lang="zh-CN" altLang="en-US" sz="2400">
                <a:solidFill>
                  <a:srgbClr val="0000FF"/>
                </a:solidFill>
                <a:latin typeface="微软雅黑" panose="020B0503020204020204" pitchFamily="34" charset="-122"/>
                <a:ea typeface="微软雅黑" panose="020B0503020204020204" pitchFamily="34" charset="-122"/>
              </a:rPr>
              <a:t>组成，段表本身也是主存中的一个可再定位段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92579">
                                            <p:txEl>
                                              <p:pRg st="2" end="2"/>
                                            </p:txEl>
                                          </p:spTgt>
                                        </p:tgtEl>
                                        <p:attrNameLst>
                                          <p:attrName>style.visibility</p:attrName>
                                        </p:attrNameLst>
                                      </p:cBhvr>
                                      <p:to>
                                        <p:strVal val="visible"/>
                                      </p:to>
                                    </p:set>
                                    <p:animEffect transition="in" filter="blinds(horizontal)">
                                      <p:cBhvr>
                                        <p:cTn id="7" dur="500"/>
                                        <p:tgtEl>
                                          <p:spTgt spid="79257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92579">
                                            <p:txEl>
                                              <p:pRg st="3" end="3"/>
                                            </p:txEl>
                                          </p:spTgt>
                                        </p:tgtEl>
                                        <p:attrNameLst>
                                          <p:attrName>style.visibility</p:attrName>
                                        </p:attrNameLst>
                                      </p:cBhvr>
                                      <p:to>
                                        <p:strVal val="visible"/>
                                      </p:to>
                                    </p:set>
                                    <p:animEffect transition="in" filter="blinds(horizontal)">
                                      <p:cBhvr>
                                        <p:cTn id="12" dur="500"/>
                                        <p:tgtEl>
                                          <p:spTgt spid="79257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92579">
                                            <p:txEl>
                                              <p:pRg st="4" end="4"/>
                                            </p:txEl>
                                          </p:spTgt>
                                        </p:tgtEl>
                                        <p:attrNameLst>
                                          <p:attrName>style.visibility</p:attrName>
                                        </p:attrNameLst>
                                      </p:cBhvr>
                                      <p:to>
                                        <p:strVal val="visible"/>
                                      </p:to>
                                    </p:set>
                                    <p:animEffect transition="in" filter="blinds(horizontal)">
                                      <p:cBhvr>
                                        <p:cTn id="17" dur="500"/>
                                        <p:tgtEl>
                                          <p:spTgt spid="79257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92579">
                                            <p:txEl>
                                              <p:pRg st="5" end="5"/>
                                            </p:txEl>
                                          </p:spTgt>
                                        </p:tgtEl>
                                        <p:attrNameLst>
                                          <p:attrName>style.visibility</p:attrName>
                                        </p:attrNameLst>
                                      </p:cBhvr>
                                      <p:to>
                                        <p:strVal val="visible"/>
                                      </p:to>
                                    </p:set>
                                    <p:animEffect transition="in" filter="blinds(horizontal)">
                                      <p:cBhvr>
                                        <p:cTn id="22" dur="500"/>
                                        <p:tgtEl>
                                          <p:spTgt spid="79257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92579">
                                            <p:txEl>
                                              <p:pRg st="6" end="6"/>
                                            </p:txEl>
                                          </p:spTgt>
                                        </p:tgtEl>
                                        <p:attrNameLst>
                                          <p:attrName>style.visibility</p:attrName>
                                        </p:attrNameLst>
                                      </p:cBhvr>
                                      <p:to>
                                        <p:strVal val="visible"/>
                                      </p:to>
                                    </p:set>
                                    <p:animEffect transition="in" filter="blinds(horizontal)">
                                      <p:cBhvr>
                                        <p:cTn id="27" dur="500"/>
                                        <p:tgtEl>
                                          <p:spTgt spid="7925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173D1C08-851E-C746-9B17-110177AE0A76}"/>
              </a:ext>
            </a:extLst>
          </p:cNvPr>
          <p:cNvSpPr>
            <a:spLocks noGrp="1" noChangeArrowheads="1"/>
          </p:cNvSpPr>
          <p:nvPr>
            <p:ph type="title" idx="4294967295"/>
          </p:nvPr>
        </p:nvSpPr>
        <p:spPr>
          <a:xfrm>
            <a:off x="1703388" y="107950"/>
            <a:ext cx="6070600" cy="569913"/>
          </a:xfrm>
        </p:spPr>
        <p:txBody>
          <a:bodyPr lIns="91440" tIns="45720" rIns="91440" bIns="45720" anchor="ctr"/>
          <a:lstStyle/>
          <a:p>
            <a:pPr algn="l" eaLnBrk="1" hangingPunct="1"/>
            <a:r>
              <a:rPr lang="zh-CN" altLang="en-US"/>
              <a:t>段式虚拟存储器的地址映像</a:t>
            </a:r>
          </a:p>
        </p:txBody>
      </p:sp>
      <p:pic>
        <p:nvPicPr>
          <p:cNvPr id="254979" name="Picture 3" descr="段式虚拟存储器的地址映像(俞建新)">
            <a:extLst>
              <a:ext uri="{FF2B5EF4-FFF2-40B4-BE49-F238E27FC236}">
                <a16:creationId xmlns:a16="http://schemas.microsoft.com/office/drawing/2014/main" id="{412006DA-7B68-F049-8F49-2D461F391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1133475"/>
            <a:ext cx="8982075" cy="5491163"/>
          </a:xfrm>
          <a:prstGeom prst="rect">
            <a:avLst/>
          </a:prstGeom>
          <a:noFill/>
          <a:ln w="28575">
            <a:solidFill>
              <a:srgbClr val="CC99FF"/>
            </a:solidFill>
            <a:miter lim="800000"/>
            <a:headEnd/>
            <a:tailEnd/>
          </a:ln>
          <a:extLst>
            <a:ext uri="{909E8E84-426E-40DD-AFC4-6F175D3DCCD1}">
              <a14:hiddenFill xmlns:a14="http://schemas.microsoft.com/office/drawing/2010/main">
                <a:solidFill>
                  <a:srgbClr val="FFFFFF"/>
                </a:solidFill>
              </a14:hiddenFill>
            </a:ext>
          </a:extLst>
        </p:spPr>
      </p:pic>
      <p:sp>
        <p:nvSpPr>
          <p:cNvPr id="535556" name="Rectangle 4">
            <a:extLst>
              <a:ext uri="{FF2B5EF4-FFF2-40B4-BE49-F238E27FC236}">
                <a16:creationId xmlns:a16="http://schemas.microsoft.com/office/drawing/2014/main" id="{079E49D2-6221-7D47-9879-CCB173BC1986}"/>
              </a:ext>
            </a:extLst>
          </p:cNvPr>
          <p:cNvSpPr>
            <a:spLocks noChangeArrowheads="1"/>
          </p:cNvSpPr>
          <p:nvPr/>
        </p:nvSpPr>
        <p:spPr bwMode="auto">
          <a:xfrm>
            <a:off x="2141538" y="4554538"/>
            <a:ext cx="5032375" cy="174466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20000"/>
              </a:lnSpc>
            </a:pPr>
            <a:r>
              <a:rPr lang="en-US" altLang="zh-CN" sz="2000" b="1">
                <a:solidFill>
                  <a:srgbClr val="0000FF"/>
                </a:solidFill>
                <a:latin typeface="微软雅黑" panose="020B0503020204020204" pitchFamily="34" charset="-122"/>
                <a:ea typeface="微软雅黑" panose="020B0503020204020204" pitchFamily="34" charset="-122"/>
                <a:cs typeface="Arial" panose="020B0604020202020204" pitchFamily="34" charset="0"/>
              </a:rPr>
              <a:t>Faults (</a:t>
            </a:r>
            <a:r>
              <a:rPr lang="zh-CN" altLang="en-US" sz="2000" b="1">
                <a:solidFill>
                  <a:srgbClr val="0000FF"/>
                </a:solidFill>
                <a:latin typeface="微软雅黑" panose="020B0503020204020204" pitchFamily="34" charset="-122"/>
                <a:ea typeface="微软雅黑" panose="020B0503020204020204" pitchFamily="34" charset="-122"/>
                <a:cs typeface="Arial" panose="020B0604020202020204" pitchFamily="34" charset="0"/>
              </a:rPr>
              <a:t>异常情况</a:t>
            </a:r>
            <a:r>
              <a:rPr lang="en-US" altLang="zh-CN" sz="20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2000" b="1">
                <a:solidFill>
                  <a:srgbClr val="0000FF"/>
                </a:solidFill>
                <a:latin typeface="微软雅黑" panose="020B0503020204020204" pitchFamily="34" charset="-122"/>
                <a:ea typeface="微软雅黑" panose="020B0503020204020204" pitchFamily="34" charset="-122"/>
                <a:cs typeface="Arial" panose="020B0604020202020204" pitchFamily="34" charset="0"/>
              </a:rPr>
              <a:t>：</a:t>
            </a:r>
          </a:p>
          <a:p>
            <a:pPr>
              <a:lnSpc>
                <a:spcPct val="120000"/>
              </a:lnSpc>
            </a:pPr>
            <a:r>
              <a:rPr lang="zh-CN" altLang="en-US" sz="2000" b="1">
                <a:solidFill>
                  <a:srgbClr val="CC0000"/>
                </a:solidFill>
                <a:latin typeface="微软雅黑" panose="020B0503020204020204" pitchFamily="34" charset="-122"/>
                <a:ea typeface="微软雅黑" panose="020B0503020204020204" pitchFamily="34" charset="-122"/>
                <a:cs typeface="Arial" panose="020B0604020202020204" pitchFamily="34" charset="0"/>
              </a:rPr>
              <a:t>缺段（段不存在）</a:t>
            </a:r>
            <a:r>
              <a:rPr lang="zh-CN" altLang="en-US" sz="2000" b="1">
                <a:latin typeface="微软雅黑" panose="020B0503020204020204" pitchFamily="34" charset="-122"/>
                <a:ea typeface="微软雅黑" panose="020B0503020204020204" pitchFamily="34" charset="-122"/>
                <a:cs typeface="Arial" panose="020B0604020202020204" pitchFamily="34" charset="0"/>
              </a:rPr>
              <a:t>：装入位</a:t>
            </a:r>
            <a:r>
              <a:rPr lang="en-US" altLang="zh-CN" sz="2000" b="1">
                <a:latin typeface="微软雅黑" panose="020B0503020204020204" pitchFamily="34" charset="-122"/>
                <a:ea typeface="微软雅黑" panose="020B0503020204020204" pitchFamily="34" charset="-122"/>
                <a:cs typeface="Arial" panose="020B0604020202020204" pitchFamily="34" charset="0"/>
              </a:rPr>
              <a:t>= 0</a:t>
            </a:r>
            <a:endParaRPr lang="zh-CN" altLang="en-US" sz="2000" b="1">
              <a:latin typeface="微软雅黑" panose="020B0503020204020204" pitchFamily="34" charset="-122"/>
              <a:ea typeface="微软雅黑" panose="020B0503020204020204" pitchFamily="34" charset="-122"/>
              <a:cs typeface="Arial" panose="020B0604020202020204" pitchFamily="34" charset="0"/>
            </a:endParaRPr>
          </a:p>
          <a:p>
            <a:pPr>
              <a:lnSpc>
                <a:spcPct val="120000"/>
              </a:lnSpc>
            </a:pPr>
            <a:r>
              <a:rPr lang="zh-CN" altLang="en-US" sz="2000" b="1">
                <a:solidFill>
                  <a:srgbClr val="CC0000"/>
                </a:solidFill>
                <a:latin typeface="微软雅黑" panose="020B0503020204020204" pitchFamily="34" charset="-122"/>
                <a:ea typeface="微软雅黑" panose="020B0503020204020204" pitchFamily="34" charset="-122"/>
                <a:cs typeface="Arial" panose="020B0604020202020204" pitchFamily="34" charset="0"/>
              </a:rPr>
              <a:t>地址出界</a:t>
            </a:r>
            <a:r>
              <a:rPr lang="zh-CN" altLang="en-US" sz="2000" b="1">
                <a:latin typeface="微软雅黑" panose="020B0503020204020204" pitchFamily="34" charset="-122"/>
                <a:ea typeface="微软雅黑" panose="020B0503020204020204" pitchFamily="34" charset="-122"/>
                <a:cs typeface="Arial" panose="020B0604020202020204" pitchFamily="34" charset="0"/>
              </a:rPr>
              <a:t>： 偏移量超出最大段长</a:t>
            </a:r>
          </a:p>
          <a:p>
            <a:pPr>
              <a:lnSpc>
                <a:spcPct val="120000"/>
              </a:lnSpc>
            </a:pPr>
            <a:r>
              <a:rPr lang="zh-CN" altLang="en-US" sz="2000" b="1">
                <a:solidFill>
                  <a:srgbClr val="CC0000"/>
                </a:solidFill>
                <a:latin typeface="微软雅黑" panose="020B0503020204020204" pitchFamily="34" charset="-122"/>
                <a:ea typeface="微软雅黑" panose="020B0503020204020204" pitchFamily="34" charset="-122"/>
                <a:cs typeface="Arial" panose="020B0604020202020204" pitchFamily="34" charset="0"/>
              </a:rPr>
              <a:t>保护违例</a:t>
            </a:r>
            <a:r>
              <a:rPr lang="zh-CN" altLang="en-US" sz="2000" b="1">
                <a:latin typeface="微软雅黑" panose="020B0503020204020204" pitchFamily="34" charset="-122"/>
                <a:ea typeface="微软雅黑" panose="020B0503020204020204" pitchFamily="34" charset="-122"/>
                <a:cs typeface="Arial" panose="020B0604020202020204" pitchFamily="34" charset="0"/>
              </a:rPr>
              <a:t>：访问操作与访问方式不匹配</a:t>
            </a:r>
            <a:endParaRPr lang="en-US" altLang="zh-CN" sz="2000" b="1">
              <a:latin typeface="微软雅黑" panose="020B0503020204020204" pitchFamily="34" charset="-122"/>
              <a:ea typeface="微软雅黑" panose="020B0503020204020204" pitchFamily="34" charset="-122"/>
              <a:cs typeface="Arial" panose="020B0604020202020204" pitchFamily="34" charset="0"/>
            </a:endParaRPr>
          </a:p>
          <a:p>
            <a:pPr>
              <a:lnSpc>
                <a:spcPct val="85000"/>
              </a:lnSpc>
            </a:pPr>
            <a:r>
              <a:rPr lang="en-US" altLang="zh-CN" sz="1800" b="1">
                <a:ea typeface="黑体" panose="02010609060101010101" pitchFamily="49" charset="-122"/>
                <a:cs typeface="Arial" panose="020B0604020202020204" pitchFamily="34" charset="0"/>
              </a:rPr>
              <a:t>      </a:t>
            </a:r>
          </a:p>
        </p:txBody>
      </p:sp>
      <p:sp>
        <p:nvSpPr>
          <p:cNvPr id="535557" name="Text Box 5">
            <a:extLst>
              <a:ext uri="{FF2B5EF4-FFF2-40B4-BE49-F238E27FC236}">
                <a16:creationId xmlns:a16="http://schemas.microsoft.com/office/drawing/2014/main" id="{042862C0-A679-F84F-9091-547612864844}"/>
              </a:ext>
            </a:extLst>
          </p:cNvPr>
          <p:cNvSpPr txBox="1">
            <a:spLocks noChangeArrowheads="1"/>
          </p:cNvSpPr>
          <p:nvPr/>
        </p:nvSpPr>
        <p:spPr bwMode="auto">
          <a:xfrm>
            <a:off x="2366963" y="1354138"/>
            <a:ext cx="4725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kumimoji="1" lang="zh-CN" altLang="en-US" sz="2400" b="1">
                <a:solidFill>
                  <a:srgbClr val="CC0000"/>
                </a:solidFill>
                <a:ea typeface="黑体" panose="02010609060101010101" pitchFamily="49" charset="-122"/>
                <a:cs typeface="Arial" panose="020B0604020202020204" pitchFamily="34" charset="0"/>
              </a:rPr>
              <a:t>物理地址</a:t>
            </a:r>
            <a:r>
              <a:rPr kumimoji="1" lang="en-US" altLang="zh-CN" sz="2400" b="1">
                <a:solidFill>
                  <a:srgbClr val="CC0000"/>
                </a:solidFill>
                <a:ea typeface="黑体" panose="02010609060101010101" pitchFamily="49" charset="-122"/>
                <a:cs typeface="Arial" panose="020B0604020202020204" pitchFamily="34" charset="0"/>
              </a:rPr>
              <a:t>=</a:t>
            </a:r>
            <a:r>
              <a:rPr kumimoji="1" lang="zh-CN" altLang="en-US" sz="2400" b="1">
                <a:solidFill>
                  <a:srgbClr val="CC0000"/>
                </a:solidFill>
                <a:ea typeface="黑体" panose="02010609060101010101" pitchFamily="49" charset="-122"/>
                <a:cs typeface="Arial" panose="020B0604020202020204" pitchFamily="34" charset="0"/>
              </a:rPr>
              <a:t>段起始地址</a:t>
            </a:r>
            <a:r>
              <a:rPr kumimoji="1" lang="en-US" altLang="zh-CN" sz="2400" b="1">
                <a:solidFill>
                  <a:srgbClr val="CC0000"/>
                </a:solidFill>
                <a:ea typeface="黑体" panose="02010609060101010101" pitchFamily="49" charset="-122"/>
                <a:cs typeface="Arial" panose="020B0604020202020204" pitchFamily="34" charset="0"/>
              </a:rPr>
              <a:t>+</a:t>
            </a:r>
            <a:r>
              <a:rPr kumimoji="1" lang="zh-CN" altLang="en-US" sz="2400" b="1">
                <a:solidFill>
                  <a:srgbClr val="CC0000"/>
                </a:solidFill>
                <a:ea typeface="黑体" panose="02010609060101010101" pitchFamily="49" charset="-122"/>
                <a:cs typeface="Arial" panose="020B0604020202020204" pitchFamily="34" charset="0"/>
              </a:rPr>
              <a:t>段内偏移</a:t>
            </a:r>
          </a:p>
        </p:txBody>
      </p:sp>
      <p:sp>
        <p:nvSpPr>
          <p:cNvPr id="254982" name="Text Box 6">
            <a:extLst>
              <a:ext uri="{FF2B5EF4-FFF2-40B4-BE49-F238E27FC236}">
                <a16:creationId xmlns:a16="http://schemas.microsoft.com/office/drawing/2014/main" id="{93ED51A3-35FB-2246-97BB-8CCD1499F24B}"/>
              </a:ext>
            </a:extLst>
          </p:cNvPr>
          <p:cNvSpPr txBox="1">
            <a:spLocks noChangeArrowheads="1"/>
          </p:cNvSpPr>
          <p:nvPr/>
        </p:nvSpPr>
        <p:spPr bwMode="auto">
          <a:xfrm>
            <a:off x="3527425" y="3990975"/>
            <a:ext cx="2336800" cy="396875"/>
          </a:xfrm>
          <a:prstGeom prst="rect">
            <a:avLst/>
          </a:prstGeom>
          <a:solidFill>
            <a:schemeClr val="bg1"/>
          </a:solidFill>
          <a:ln>
            <a:noFill/>
          </a:ln>
          <a:effectLst/>
          <a:extLst>
            <a:ext uri="{91240B29-F687-4F45-9708-019B960494DF}">
              <a14:hiddenLine xmlns:a14="http://schemas.microsoft.com/office/drawing/2010/main" w="50800">
                <a:solidFill>
                  <a:srgbClr val="FE9AA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pPr>
            <a:r>
              <a:rPr lang="zh-CN" altLang="en-US" sz="2000" b="1">
                <a:latin typeface="微软雅黑" panose="020B0503020204020204" pitchFamily="34" charset="-122"/>
                <a:ea typeface="微软雅黑" panose="020B0503020204020204" pitchFamily="34" charset="-122"/>
              </a:rPr>
              <a:t>段表由段表项组成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5557"/>
                                        </p:tgtEl>
                                        <p:attrNameLst>
                                          <p:attrName>style.visibility</p:attrName>
                                        </p:attrNameLst>
                                      </p:cBhvr>
                                      <p:to>
                                        <p:strVal val="visible"/>
                                      </p:to>
                                    </p:set>
                                    <p:animEffect transition="in" filter="blinds(horizontal)">
                                      <p:cBhvr>
                                        <p:cTn id="7" dur="500"/>
                                        <p:tgtEl>
                                          <p:spTgt spid="535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35556">
                                            <p:txEl>
                                              <p:pRg st="0" end="0"/>
                                            </p:txEl>
                                          </p:spTgt>
                                        </p:tgtEl>
                                        <p:attrNameLst>
                                          <p:attrName>style.visibility</p:attrName>
                                        </p:attrNameLst>
                                      </p:cBhvr>
                                      <p:to>
                                        <p:strVal val="visible"/>
                                      </p:to>
                                    </p:set>
                                    <p:animEffect transition="in" filter="blinds(horizontal)">
                                      <p:cBhvr>
                                        <p:cTn id="12" dur="500"/>
                                        <p:tgtEl>
                                          <p:spTgt spid="53555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35556">
                                            <p:txEl>
                                              <p:pRg st="1" end="1"/>
                                            </p:txEl>
                                          </p:spTgt>
                                        </p:tgtEl>
                                        <p:attrNameLst>
                                          <p:attrName>style.visibility</p:attrName>
                                        </p:attrNameLst>
                                      </p:cBhvr>
                                      <p:to>
                                        <p:strVal val="visible"/>
                                      </p:to>
                                    </p:set>
                                    <p:animEffect transition="in" filter="blinds(horizontal)">
                                      <p:cBhvr>
                                        <p:cTn id="17" dur="500"/>
                                        <p:tgtEl>
                                          <p:spTgt spid="53555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35556">
                                            <p:txEl>
                                              <p:pRg st="2" end="2"/>
                                            </p:txEl>
                                          </p:spTgt>
                                        </p:tgtEl>
                                        <p:attrNameLst>
                                          <p:attrName>style.visibility</p:attrName>
                                        </p:attrNameLst>
                                      </p:cBhvr>
                                      <p:to>
                                        <p:strVal val="visible"/>
                                      </p:to>
                                    </p:set>
                                    <p:animEffect transition="in" filter="blinds(horizontal)">
                                      <p:cBhvr>
                                        <p:cTn id="22" dur="500"/>
                                        <p:tgtEl>
                                          <p:spTgt spid="53555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35556">
                                            <p:txEl>
                                              <p:pRg st="3" end="3"/>
                                            </p:txEl>
                                          </p:spTgt>
                                        </p:tgtEl>
                                        <p:attrNameLst>
                                          <p:attrName>style.visibility</p:attrName>
                                        </p:attrNameLst>
                                      </p:cBhvr>
                                      <p:to>
                                        <p:strVal val="visible"/>
                                      </p:to>
                                    </p:set>
                                    <p:animEffect transition="in" filter="blinds(horizontal)">
                                      <p:cBhvr>
                                        <p:cTn id="27" dur="500"/>
                                        <p:tgtEl>
                                          <p:spTgt spid="5355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354DFA67-6C77-5645-ACF1-2A515E5B45D0}"/>
              </a:ext>
            </a:extLst>
          </p:cNvPr>
          <p:cNvSpPr>
            <a:spLocks noGrp="1" noChangeArrowheads="1"/>
          </p:cNvSpPr>
          <p:nvPr>
            <p:ph type="title" idx="4294967295"/>
          </p:nvPr>
        </p:nvSpPr>
        <p:spPr>
          <a:xfrm>
            <a:off x="2681288" y="104775"/>
            <a:ext cx="4713287" cy="533400"/>
          </a:xfrm>
          <a:noFill/>
        </p:spPr>
        <p:txBody>
          <a:bodyPr lIns="91440" tIns="45720" rIns="91440" bIns="45720" anchor="ctr"/>
          <a:lstStyle/>
          <a:p>
            <a:pPr algn="l" eaLnBrk="1" hangingPunct="1"/>
            <a:r>
              <a:rPr lang="zh-CN" altLang="en-US"/>
              <a:t>段页式存储器</a:t>
            </a:r>
          </a:p>
        </p:txBody>
      </p:sp>
      <p:sp>
        <p:nvSpPr>
          <p:cNvPr id="794627" name="Rectangle 3">
            <a:extLst>
              <a:ext uri="{FF2B5EF4-FFF2-40B4-BE49-F238E27FC236}">
                <a16:creationId xmlns:a16="http://schemas.microsoft.com/office/drawing/2014/main" id="{9EBC3DBE-94CD-144E-B9CB-6CAD7638271C}"/>
              </a:ext>
            </a:extLst>
          </p:cNvPr>
          <p:cNvSpPr>
            <a:spLocks noGrp="1" noChangeArrowheads="1"/>
          </p:cNvSpPr>
          <p:nvPr>
            <p:ph type="body" idx="4294967295"/>
          </p:nvPr>
        </p:nvSpPr>
        <p:spPr>
          <a:xfrm>
            <a:off x="214313" y="977900"/>
            <a:ext cx="8686800" cy="4546600"/>
          </a:xfrm>
          <a:noFill/>
        </p:spPr>
        <p:txBody>
          <a:bodyPr lIns="91440" tIns="45720" rIns="91440" bIns="45720"/>
          <a:lstStyle/>
          <a:p>
            <a:pPr eaLnBrk="1" hangingPunct="1">
              <a:lnSpc>
                <a:spcPct val="110000"/>
              </a:lnSpc>
              <a:spcBef>
                <a:spcPct val="30000"/>
              </a:spcBef>
            </a:pPr>
            <a:r>
              <a:rPr lang="zh-CN" altLang="en-US" sz="2400">
                <a:latin typeface="微软雅黑" panose="020B0503020204020204" pitchFamily="34" charset="-122"/>
                <a:ea typeface="微软雅黑" panose="020B0503020204020204" pitchFamily="34" charset="-122"/>
              </a:rPr>
              <a:t>段页式系统基本思想</a:t>
            </a:r>
          </a:p>
          <a:p>
            <a:pPr lvl="1" eaLnBrk="1" hangingPunct="1">
              <a:lnSpc>
                <a:spcPct val="120000"/>
              </a:lnSpc>
              <a:spcBef>
                <a:spcPct val="30000"/>
              </a:spcBef>
            </a:pPr>
            <a:r>
              <a:rPr lang="zh-CN" altLang="en-US" sz="2400">
                <a:solidFill>
                  <a:srgbClr val="0000FF"/>
                </a:solidFill>
                <a:ea typeface="微软雅黑" panose="020B0503020204020204" pitchFamily="34" charset="-122"/>
              </a:rPr>
              <a:t>段、页式结合：</a:t>
            </a:r>
          </a:p>
          <a:p>
            <a:pPr lvl="2" eaLnBrk="1" hangingPunct="1">
              <a:lnSpc>
                <a:spcPct val="120000"/>
              </a:lnSpc>
              <a:spcBef>
                <a:spcPct val="30000"/>
              </a:spcBef>
            </a:pPr>
            <a:r>
              <a:rPr lang="zh-CN" altLang="en-US" sz="2400">
                <a:solidFill>
                  <a:schemeClr val="accent1"/>
                </a:solidFill>
                <a:ea typeface="微软雅黑" panose="020B0503020204020204" pitchFamily="34" charset="-122"/>
              </a:rPr>
              <a:t>程序的虚拟地址空间按模块分段</a:t>
            </a:r>
            <a:r>
              <a:rPr lang="zh-CN" altLang="en-US" sz="2400">
                <a:solidFill>
                  <a:srgbClr val="0000FF"/>
                </a:solidFill>
                <a:ea typeface="微软雅黑" panose="020B0503020204020204" pitchFamily="34" charset="-122"/>
              </a:rPr>
              <a:t>、</a:t>
            </a:r>
            <a:r>
              <a:rPr lang="zh-CN" altLang="en-US" sz="2400">
                <a:solidFill>
                  <a:schemeClr val="accent1"/>
                </a:solidFill>
                <a:ea typeface="微软雅黑" panose="020B0503020204020204" pitchFamily="34" charset="-122"/>
              </a:rPr>
              <a:t>段内再分页</a:t>
            </a:r>
            <a:r>
              <a:rPr lang="zh-CN" altLang="en-US" sz="2400">
                <a:solidFill>
                  <a:srgbClr val="0000FF"/>
                </a:solidFill>
                <a:ea typeface="微软雅黑" panose="020B0503020204020204" pitchFamily="34" charset="-122"/>
              </a:rPr>
              <a:t>，进入主存仍以页为基本单位</a:t>
            </a:r>
          </a:p>
          <a:p>
            <a:pPr lvl="1" eaLnBrk="1" hangingPunct="1">
              <a:lnSpc>
                <a:spcPct val="120000"/>
              </a:lnSpc>
              <a:spcBef>
                <a:spcPct val="30000"/>
              </a:spcBef>
            </a:pPr>
            <a:r>
              <a:rPr lang="zh-CN" altLang="en-US" sz="2400">
                <a:solidFill>
                  <a:srgbClr val="0000FF"/>
                </a:solidFill>
                <a:ea typeface="微软雅黑" panose="020B0503020204020204" pitchFamily="34" charset="-122"/>
              </a:rPr>
              <a:t>逻辑地址由段地址、页地址和偏移量三个字段构成</a:t>
            </a:r>
          </a:p>
          <a:p>
            <a:pPr lvl="1" eaLnBrk="1" hangingPunct="1">
              <a:lnSpc>
                <a:spcPct val="120000"/>
              </a:lnSpc>
              <a:spcBef>
                <a:spcPct val="30000"/>
              </a:spcBef>
            </a:pPr>
            <a:r>
              <a:rPr lang="zh-CN" altLang="en-US" sz="2400">
                <a:solidFill>
                  <a:srgbClr val="0000FF"/>
                </a:solidFill>
                <a:ea typeface="微软雅黑" panose="020B0503020204020204" pitchFamily="34" charset="-122"/>
              </a:rPr>
              <a:t>用段表和页表（每段一个）进行两级定位管理</a:t>
            </a:r>
          </a:p>
          <a:p>
            <a:pPr lvl="1" eaLnBrk="1" hangingPunct="1">
              <a:lnSpc>
                <a:spcPct val="120000"/>
              </a:lnSpc>
              <a:spcBef>
                <a:spcPct val="30000"/>
              </a:spcBef>
            </a:pPr>
            <a:r>
              <a:rPr lang="zh-CN" altLang="en-US" sz="2400">
                <a:solidFill>
                  <a:srgbClr val="0000FF"/>
                </a:solidFill>
                <a:ea typeface="微软雅黑" panose="020B0503020204020204" pitchFamily="34" charset="-122"/>
              </a:rPr>
              <a:t>根据段地址到段表中查阅与该段相应的页表首地址，转向页表，然后根据页地址从页表中查到该页在主存中的页框地址，由此再访问到页内某数据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94627">
                                            <p:txEl>
                                              <p:pRg st="1" end="1"/>
                                            </p:txEl>
                                          </p:spTgt>
                                        </p:tgtEl>
                                        <p:attrNameLst>
                                          <p:attrName>style.visibility</p:attrName>
                                        </p:attrNameLst>
                                      </p:cBhvr>
                                      <p:to>
                                        <p:strVal val="visible"/>
                                      </p:to>
                                    </p:set>
                                    <p:animEffect transition="in" filter="blinds(horizontal)">
                                      <p:cBhvr>
                                        <p:cTn id="7" dur="500"/>
                                        <p:tgtEl>
                                          <p:spTgt spid="7946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94627">
                                            <p:txEl>
                                              <p:pRg st="2" end="2"/>
                                            </p:txEl>
                                          </p:spTgt>
                                        </p:tgtEl>
                                        <p:attrNameLst>
                                          <p:attrName>style.visibility</p:attrName>
                                        </p:attrNameLst>
                                      </p:cBhvr>
                                      <p:to>
                                        <p:strVal val="visible"/>
                                      </p:to>
                                    </p:set>
                                    <p:animEffect transition="in" filter="blinds(horizontal)">
                                      <p:cBhvr>
                                        <p:cTn id="12" dur="500"/>
                                        <p:tgtEl>
                                          <p:spTgt spid="79462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94627">
                                            <p:txEl>
                                              <p:pRg st="3" end="3"/>
                                            </p:txEl>
                                          </p:spTgt>
                                        </p:tgtEl>
                                        <p:attrNameLst>
                                          <p:attrName>style.visibility</p:attrName>
                                        </p:attrNameLst>
                                      </p:cBhvr>
                                      <p:to>
                                        <p:strVal val="visible"/>
                                      </p:to>
                                    </p:set>
                                    <p:animEffect transition="in" filter="blinds(horizontal)">
                                      <p:cBhvr>
                                        <p:cTn id="17" dur="500"/>
                                        <p:tgtEl>
                                          <p:spTgt spid="79462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94627">
                                            <p:txEl>
                                              <p:pRg st="4" end="4"/>
                                            </p:txEl>
                                          </p:spTgt>
                                        </p:tgtEl>
                                        <p:attrNameLst>
                                          <p:attrName>style.visibility</p:attrName>
                                        </p:attrNameLst>
                                      </p:cBhvr>
                                      <p:to>
                                        <p:strVal val="visible"/>
                                      </p:to>
                                    </p:set>
                                    <p:animEffect transition="in" filter="blinds(horizontal)">
                                      <p:cBhvr>
                                        <p:cTn id="22" dur="500"/>
                                        <p:tgtEl>
                                          <p:spTgt spid="79462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94627">
                                            <p:txEl>
                                              <p:pRg st="5" end="5"/>
                                            </p:txEl>
                                          </p:spTgt>
                                        </p:tgtEl>
                                        <p:attrNameLst>
                                          <p:attrName>style.visibility</p:attrName>
                                        </p:attrNameLst>
                                      </p:cBhvr>
                                      <p:to>
                                        <p:strVal val="visible"/>
                                      </p:to>
                                    </p:set>
                                    <p:animEffect transition="in" filter="blinds(horizontal)">
                                      <p:cBhvr>
                                        <p:cTn id="27" dur="500"/>
                                        <p:tgtEl>
                                          <p:spTgt spid="7946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A300524B-9096-9343-BE4E-902BE798161B}"/>
              </a:ext>
            </a:extLst>
          </p:cNvPr>
          <p:cNvSpPr>
            <a:spLocks noGrp="1" noChangeArrowheads="1"/>
          </p:cNvSpPr>
          <p:nvPr>
            <p:ph type="title"/>
          </p:nvPr>
        </p:nvSpPr>
        <p:spPr/>
        <p:txBody>
          <a:bodyPr/>
          <a:lstStyle/>
          <a:p>
            <a:r>
              <a:rPr lang="zh-CN" altLang="en-US"/>
              <a:t>内存访问时的异常信息</a:t>
            </a:r>
          </a:p>
        </p:txBody>
      </p:sp>
      <p:sp>
        <p:nvSpPr>
          <p:cNvPr id="257027" name="Rectangle 3">
            <a:extLst>
              <a:ext uri="{FF2B5EF4-FFF2-40B4-BE49-F238E27FC236}">
                <a16:creationId xmlns:a16="http://schemas.microsoft.com/office/drawing/2014/main" id="{2AF47D1C-75C2-454E-93A5-DB37C38B55C6}"/>
              </a:ext>
            </a:extLst>
          </p:cNvPr>
          <p:cNvSpPr>
            <a:spLocks noGrp="1" noChangeArrowheads="1"/>
          </p:cNvSpPr>
          <p:nvPr>
            <p:ph type="body" idx="1"/>
          </p:nvPr>
        </p:nvSpPr>
        <p:spPr/>
        <p:txBody>
          <a:bodyPr/>
          <a:lstStyle/>
          <a:p>
            <a:endParaRPr lang="zh-CN" altLang="en-US">
              <a:ea typeface="宋体" panose="02010600030101010101" pitchFamily="2" charset="-122"/>
            </a:endParaRPr>
          </a:p>
        </p:txBody>
      </p:sp>
      <p:pic>
        <p:nvPicPr>
          <p:cNvPr id="257028" name="Picture 4">
            <a:extLst>
              <a:ext uri="{FF2B5EF4-FFF2-40B4-BE49-F238E27FC236}">
                <a16:creationId xmlns:a16="http://schemas.microsoft.com/office/drawing/2014/main" id="{E89EF7F1-6565-E848-BC32-2C9F0678E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3" y="909638"/>
            <a:ext cx="7650162"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029" name="Picture 5">
            <a:extLst>
              <a:ext uri="{FF2B5EF4-FFF2-40B4-BE49-F238E27FC236}">
                <a16:creationId xmlns:a16="http://schemas.microsoft.com/office/drawing/2014/main" id="{23895AD8-366F-5147-A99B-60E043FBD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3" y="4076700"/>
            <a:ext cx="776605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950" name="Text Box 6">
            <a:extLst>
              <a:ext uri="{FF2B5EF4-FFF2-40B4-BE49-F238E27FC236}">
                <a16:creationId xmlns:a16="http://schemas.microsoft.com/office/drawing/2014/main" id="{97EA683A-235C-004D-B32C-37E9BDFB8330}"/>
              </a:ext>
            </a:extLst>
          </p:cNvPr>
          <p:cNvSpPr txBox="1">
            <a:spLocks noChangeArrowheads="1"/>
          </p:cNvSpPr>
          <p:nvPr/>
        </p:nvSpPr>
        <p:spPr bwMode="auto">
          <a:xfrm>
            <a:off x="2786063" y="5400675"/>
            <a:ext cx="306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spcBef>
                <a:spcPct val="50000"/>
              </a:spcBef>
            </a:pPr>
            <a:r>
              <a:rPr lang="en-US" altLang="zh-CN" sz="2000" b="1">
                <a:solidFill>
                  <a:srgbClr val="FF0000"/>
                </a:solidFill>
                <a:latin typeface="微软雅黑" panose="020B0503020204020204" pitchFamily="34" charset="-122"/>
                <a:ea typeface="微软雅黑" panose="020B0503020204020204" pitchFamily="34" charset="-122"/>
              </a:rPr>
              <a:t>0xc0000005</a:t>
            </a:r>
            <a:r>
              <a:rPr lang="zh-CN" altLang="en-US" sz="2000" b="1">
                <a:solidFill>
                  <a:srgbClr val="FF0000"/>
                </a:solidFill>
                <a:latin typeface="微软雅黑" panose="020B0503020204020204" pitchFamily="34" charset="-122"/>
                <a:ea typeface="微软雅黑" panose="020B0503020204020204" pitchFamily="34" charset="-122"/>
              </a:rPr>
              <a:t>为出错</a:t>
            </a:r>
            <a:r>
              <a:rPr lang="en-US" altLang="zh-CN" sz="2000" b="1">
                <a:solidFill>
                  <a:srgbClr val="FF0000"/>
                </a:solidFill>
                <a:latin typeface="微软雅黑" panose="020B0503020204020204" pitchFamily="34" charset="-122"/>
                <a:ea typeface="微软雅黑" panose="020B0503020204020204" pitchFamily="34" charset="-122"/>
              </a:rPr>
              <a:t>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0950"/>
                                        </p:tgtEl>
                                        <p:attrNameLst>
                                          <p:attrName>style.visibility</p:attrName>
                                        </p:attrNameLst>
                                      </p:cBhvr>
                                      <p:to>
                                        <p:strVal val="visible"/>
                                      </p:to>
                                    </p:set>
                                    <p:animEffect transition="in" filter="blinds(horizontal)">
                                      <p:cBhvr>
                                        <p:cTn id="7" dur="500"/>
                                        <p:tgtEl>
                                          <p:spTgt spid="850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5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95D44CA5-FAF5-524A-BAE2-8B963DD8370A}"/>
              </a:ext>
            </a:extLst>
          </p:cNvPr>
          <p:cNvSpPr>
            <a:spLocks noGrp="1" noChangeArrowheads="1"/>
          </p:cNvSpPr>
          <p:nvPr>
            <p:ph type="title" idx="4294967295"/>
          </p:nvPr>
        </p:nvSpPr>
        <p:spPr>
          <a:xfrm>
            <a:off x="762000" y="53975"/>
            <a:ext cx="7848600" cy="609600"/>
          </a:xfrm>
        </p:spPr>
        <p:txBody>
          <a:bodyPr lIns="91440" tIns="45720" rIns="91440" bIns="45720" anchor="ctr"/>
          <a:lstStyle/>
          <a:p>
            <a:pPr eaLnBrk="1" hangingPunct="1"/>
            <a:r>
              <a:rPr lang="zh-CN" altLang="en-US">
                <a:latin typeface="方正舒体" pitchFamily="2" charset="-122"/>
              </a:rPr>
              <a:t>存储保护的基本概念</a:t>
            </a:r>
          </a:p>
        </p:txBody>
      </p:sp>
      <p:sp>
        <p:nvSpPr>
          <p:cNvPr id="544771" name="Rectangle 3">
            <a:extLst>
              <a:ext uri="{FF2B5EF4-FFF2-40B4-BE49-F238E27FC236}">
                <a16:creationId xmlns:a16="http://schemas.microsoft.com/office/drawing/2014/main" id="{0A9D5D76-D5A9-D448-91E0-0311A1573B99}"/>
              </a:ext>
            </a:extLst>
          </p:cNvPr>
          <p:cNvSpPr>
            <a:spLocks noGrp="1" noChangeArrowheads="1"/>
          </p:cNvSpPr>
          <p:nvPr>
            <p:ph type="body" idx="4294967295"/>
          </p:nvPr>
        </p:nvSpPr>
        <p:spPr>
          <a:xfrm>
            <a:off x="287338" y="773113"/>
            <a:ext cx="8628062" cy="5561012"/>
          </a:xfrm>
        </p:spPr>
        <p:txBody>
          <a:bodyPr lIns="91440" tIns="45720" rIns="91440" bIns="45720"/>
          <a:lstStyle/>
          <a:p>
            <a:pPr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什么是存储保护？</a:t>
            </a:r>
          </a:p>
          <a:p>
            <a:pPr lvl="1"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为避免多道程序相互干扰，防止某程序出错而破坏其他程序的正确性或不合法地访问其他程序或数据区，应对每个程序进行存储保护</a:t>
            </a:r>
          </a:p>
          <a:p>
            <a:pPr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操作系统程序和用户程序都需要保护</a:t>
            </a:r>
          </a:p>
          <a:p>
            <a:pPr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以下情况发生存储保护错</a:t>
            </a:r>
          </a:p>
          <a:p>
            <a:pPr lvl="1"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地址越界（转换得到的物理地址不属于可访问范围）</a:t>
            </a:r>
          </a:p>
          <a:p>
            <a:pPr lvl="1"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访问越权（访问操作与所拥有的访问权限不符）</a:t>
            </a:r>
          </a:p>
          <a:p>
            <a:pPr lvl="2"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页表中设定访问（存取）权限</a:t>
            </a:r>
          </a:p>
          <a:p>
            <a:pPr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访问属性的设定</a:t>
            </a:r>
          </a:p>
          <a:p>
            <a:pPr lvl="1"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数据段可指定</a:t>
            </a:r>
            <a:r>
              <a:rPr lang="en-US" altLang="zh-CN" sz="2000">
                <a:latin typeface="微软雅黑" panose="020B0503020204020204" pitchFamily="34" charset="-122"/>
                <a:ea typeface="微软雅黑" panose="020B0503020204020204" pitchFamily="34" charset="-122"/>
              </a:rPr>
              <a:t>R/W</a:t>
            </a:r>
            <a:r>
              <a:rPr lang="zh-CN" altLang="en-US" sz="2000">
                <a:latin typeface="微软雅黑" panose="020B0503020204020204" pitchFamily="34" charset="-122"/>
                <a:ea typeface="微软雅黑" panose="020B0503020204020204" pitchFamily="34" charset="-122"/>
              </a:rPr>
              <a:t>或</a:t>
            </a:r>
            <a:r>
              <a:rPr lang="en-US" altLang="zh-CN" sz="2000">
                <a:latin typeface="微软雅黑" panose="020B0503020204020204" pitchFamily="34" charset="-122"/>
                <a:ea typeface="微软雅黑" panose="020B0503020204020204" pitchFamily="34" charset="-122"/>
              </a:rPr>
              <a:t>RO</a:t>
            </a:r>
            <a:r>
              <a:rPr lang="zh-CN" altLang="en-US" sz="2000">
                <a:latin typeface="微软雅黑" panose="020B0503020204020204" pitchFamily="34" charset="-122"/>
                <a:ea typeface="微软雅黑" panose="020B0503020204020204" pitchFamily="34" charset="-122"/>
              </a:rPr>
              <a:t>；程序段可指定</a:t>
            </a:r>
            <a:r>
              <a:rPr lang="en-US" altLang="zh-CN" sz="2000">
                <a:latin typeface="微软雅黑" panose="020B0503020204020204" pitchFamily="34" charset="-122"/>
                <a:ea typeface="微软雅黑" panose="020B0503020204020204" pitchFamily="34" charset="-122"/>
              </a:rPr>
              <a:t>R/E</a:t>
            </a:r>
            <a:r>
              <a:rPr lang="zh-CN" altLang="en-US" sz="2000">
                <a:latin typeface="微软雅黑" panose="020B0503020204020204" pitchFamily="34" charset="-122"/>
                <a:ea typeface="微软雅黑" panose="020B0503020204020204" pitchFamily="34" charset="-122"/>
              </a:rPr>
              <a:t>或</a:t>
            </a:r>
            <a:r>
              <a:rPr lang="en-US" altLang="zh-CN" sz="2000">
                <a:latin typeface="微软雅黑" panose="020B0503020204020204" pitchFamily="34" charset="-122"/>
                <a:ea typeface="微软雅黑" panose="020B0503020204020204" pitchFamily="34" charset="-122"/>
              </a:rPr>
              <a:t>RO</a:t>
            </a:r>
            <a:endParaRPr lang="zh-CN" altLang="en-US" sz="2000">
              <a:latin typeface="微软雅黑" panose="020B0503020204020204" pitchFamily="34" charset="-122"/>
              <a:ea typeface="微软雅黑" panose="020B0503020204020204" pitchFamily="34" charset="-122"/>
            </a:endParaRPr>
          </a:p>
          <a:p>
            <a:pPr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最基本的保护措施：</a:t>
            </a:r>
          </a:p>
          <a:p>
            <a:pPr eaLnBrk="1" hangingPunct="1">
              <a:lnSpc>
                <a:spcPct val="115000"/>
              </a:lnSpc>
              <a:spcBef>
                <a:spcPct val="5000"/>
              </a:spcBef>
              <a:buFontTx/>
              <a:buNone/>
            </a:pPr>
            <a:r>
              <a:rPr lang="zh-CN" altLang="en-US" sz="2000">
                <a:latin typeface="微软雅黑" panose="020B0503020204020204" pitchFamily="34" charset="-122"/>
                <a:ea typeface="微软雅黑" panose="020B0503020204020204" pitchFamily="34" charset="-122"/>
              </a:rPr>
              <a:t>    </a:t>
            </a:r>
            <a:r>
              <a:rPr lang="zh-CN" altLang="en-US" sz="2000">
                <a:solidFill>
                  <a:srgbClr val="D10F0F"/>
                </a:solidFill>
                <a:latin typeface="微软雅黑" panose="020B0503020204020204" pitchFamily="34" charset="-122"/>
                <a:ea typeface="微软雅黑" panose="020B0503020204020204" pitchFamily="34" charset="-122"/>
              </a:rPr>
              <a:t>规定各道程序只能访问属于自己所在的存储区和共享区</a:t>
            </a:r>
          </a:p>
          <a:p>
            <a:pPr lvl="1"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对于属自己存储区的信息：可读可写，只读</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只可执行</a:t>
            </a:r>
          </a:p>
          <a:p>
            <a:pPr lvl="1"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对共享区或已获授权的其他用户信息：可读不可写</a:t>
            </a:r>
          </a:p>
          <a:p>
            <a:pPr lvl="1" eaLnBrk="1" hangingPunct="1">
              <a:lnSpc>
                <a:spcPct val="115000"/>
              </a:lnSpc>
              <a:spcBef>
                <a:spcPct val="5000"/>
              </a:spcBef>
            </a:pPr>
            <a:r>
              <a:rPr lang="zh-CN" altLang="en-US" sz="2000">
                <a:latin typeface="微软雅黑" panose="020B0503020204020204" pitchFamily="34" charset="-122"/>
                <a:ea typeface="微软雅黑" panose="020B0503020204020204" pitchFamily="34" charset="-122"/>
              </a:rPr>
              <a:t>对未获授权的信息（如</a:t>
            </a:r>
            <a:r>
              <a:rPr lang="en-US" altLang="zh-CN" sz="2000">
                <a:latin typeface="微软雅黑" panose="020B0503020204020204" pitchFamily="34" charset="-122"/>
                <a:ea typeface="微软雅黑" panose="020B0503020204020204" pitchFamily="34" charset="-122"/>
              </a:rPr>
              <a:t>OS</a:t>
            </a:r>
            <a:r>
              <a:rPr lang="zh-CN" altLang="en-US" sz="2000">
                <a:latin typeface="微软雅黑" panose="020B0503020204020204" pitchFamily="34" charset="-122"/>
                <a:ea typeface="微软雅黑" panose="020B0503020204020204" pitchFamily="34" charset="-122"/>
              </a:rPr>
              <a:t>内核、页表等）：不可访问</a:t>
            </a:r>
            <a:endParaRPr lang="zh-CN" altLang="en-US" sz="2000">
              <a:solidFill>
                <a:srgbClr val="660066"/>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4771">
                                            <p:txEl>
                                              <p:pRg st="0" end="0"/>
                                            </p:txEl>
                                          </p:spTgt>
                                        </p:tgtEl>
                                        <p:attrNameLst>
                                          <p:attrName>style.visibility</p:attrName>
                                        </p:attrNameLst>
                                      </p:cBhvr>
                                      <p:to>
                                        <p:strVal val="visible"/>
                                      </p:to>
                                    </p:set>
                                    <p:animEffect transition="in" filter="blinds(horizontal)">
                                      <p:cBhvr>
                                        <p:cTn id="7" dur="500"/>
                                        <p:tgtEl>
                                          <p:spTgt spid="544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44771">
                                            <p:txEl>
                                              <p:pRg st="1" end="1"/>
                                            </p:txEl>
                                          </p:spTgt>
                                        </p:tgtEl>
                                        <p:attrNameLst>
                                          <p:attrName>style.visibility</p:attrName>
                                        </p:attrNameLst>
                                      </p:cBhvr>
                                      <p:to>
                                        <p:strVal val="visible"/>
                                      </p:to>
                                    </p:set>
                                    <p:animEffect transition="in" filter="blinds(horizontal)">
                                      <p:cBhvr>
                                        <p:cTn id="12" dur="500"/>
                                        <p:tgtEl>
                                          <p:spTgt spid="5447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44771">
                                            <p:txEl>
                                              <p:pRg st="2" end="2"/>
                                            </p:txEl>
                                          </p:spTgt>
                                        </p:tgtEl>
                                        <p:attrNameLst>
                                          <p:attrName>style.visibility</p:attrName>
                                        </p:attrNameLst>
                                      </p:cBhvr>
                                      <p:to>
                                        <p:strVal val="visible"/>
                                      </p:to>
                                    </p:set>
                                    <p:animEffect transition="in" filter="blinds(horizontal)">
                                      <p:cBhvr>
                                        <p:cTn id="17" dur="500"/>
                                        <p:tgtEl>
                                          <p:spTgt spid="5447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44771">
                                            <p:txEl>
                                              <p:pRg st="3" end="3"/>
                                            </p:txEl>
                                          </p:spTgt>
                                        </p:tgtEl>
                                        <p:attrNameLst>
                                          <p:attrName>style.visibility</p:attrName>
                                        </p:attrNameLst>
                                      </p:cBhvr>
                                      <p:to>
                                        <p:strVal val="visible"/>
                                      </p:to>
                                    </p:set>
                                    <p:animEffect transition="in" filter="blinds(horizontal)">
                                      <p:cBhvr>
                                        <p:cTn id="22" dur="500"/>
                                        <p:tgtEl>
                                          <p:spTgt spid="5447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44771">
                                            <p:txEl>
                                              <p:pRg st="4" end="4"/>
                                            </p:txEl>
                                          </p:spTgt>
                                        </p:tgtEl>
                                        <p:attrNameLst>
                                          <p:attrName>style.visibility</p:attrName>
                                        </p:attrNameLst>
                                      </p:cBhvr>
                                      <p:to>
                                        <p:strVal val="visible"/>
                                      </p:to>
                                    </p:set>
                                    <p:animEffect transition="in" filter="blinds(horizontal)">
                                      <p:cBhvr>
                                        <p:cTn id="27" dur="500"/>
                                        <p:tgtEl>
                                          <p:spTgt spid="5447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44771">
                                            <p:txEl>
                                              <p:pRg st="5" end="5"/>
                                            </p:txEl>
                                          </p:spTgt>
                                        </p:tgtEl>
                                        <p:attrNameLst>
                                          <p:attrName>style.visibility</p:attrName>
                                        </p:attrNameLst>
                                      </p:cBhvr>
                                      <p:to>
                                        <p:strVal val="visible"/>
                                      </p:to>
                                    </p:set>
                                    <p:animEffect transition="in" filter="blinds(horizontal)">
                                      <p:cBhvr>
                                        <p:cTn id="32" dur="500"/>
                                        <p:tgtEl>
                                          <p:spTgt spid="54477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44771">
                                            <p:txEl>
                                              <p:pRg st="6" end="6"/>
                                            </p:txEl>
                                          </p:spTgt>
                                        </p:tgtEl>
                                        <p:attrNameLst>
                                          <p:attrName>style.visibility</p:attrName>
                                        </p:attrNameLst>
                                      </p:cBhvr>
                                      <p:to>
                                        <p:strVal val="visible"/>
                                      </p:to>
                                    </p:set>
                                    <p:animEffect transition="in" filter="blinds(horizontal)">
                                      <p:cBhvr>
                                        <p:cTn id="37" dur="500"/>
                                        <p:tgtEl>
                                          <p:spTgt spid="54477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44771">
                                            <p:txEl>
                                              <p:pRg st="7" end="7"/>
                                            </p:txEl>
                                          </p:spTgt>
                                        </p:tgtEl>
                                        <p:attrNameLst>
                                          <p:attrName>style.visibility</p:attrName>
                                        </p:attrNameLst>
                                      </p:cBhvr>
                                      <p:to>
                                        <p:strVal val="visible"/>
                                      </p:to>
                                    </p:set>
                                    <p:animEffect transition="in" filter="blinds(horizontal)">
                                      <p:cBhvr>
                                        <p:cTn id="42" dur="500"/>
                                        <p:tgtEl>
                                          <p:spTgt spid="544771">
                                            <p:txEl>
                                              <p:pRg st="7" end="7"/>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544771">
                                            <p:txEl>
                                              <p:pRg st="8" end="8"/>
                                            </p:txEl>
                                          </p:spTgt>
                                        </p:tgtEl>
                                        <p:attrNameLst>
                                          <p:attrName>style.visibility</p:attrName>
                                        </p:attrNameLst>
                                      </p:cBhvr>
                                      <p:to>
                                        <p:strVal val="visible"/>
                                      </p:to>
                                    </p:set>
                                    <p:animEffect transition="in" filter="blinds(horizontal)">
                                      <p:cBhvr>
                                        <p:cTn id="45" dur="500"/>
                                        <p:tgtEl>
                                          <p:spTgt spid="544771">
                                            <p:txEl>
                                              <p:pRg st="8" end="8"/>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544771">
                                            <p:txEl>
                                              <p:pRg st="9" end="9"/>
                                            </p:txEl>
                                          </p:spTgt>
                                        </p:tgtEl>
                                        <p:attrNameLst>
                                          <p:attrName>style.visibility</p:attrName>
                                        </p:attrNameLst>
                                      </p:cBhvr>
                                      <p:to>
                                        <p:strVal val="visible"/>
                                      </p:to>
                                    </p:set>
                                    <p:animEffect transition="in" filter="blinds(horizontal)">
                                      <p:cBhvr>
                                        <p:cTn id="50" dur="500"/>
                                        <p:tgtEl>
                                          <p:spTgt spid="544771">
                                            <p:txEl>
                                              <p:pRg st="9" end="9"/>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544771">
                                            <p:txEl>
                                              <p:pRg st="10" end="10"/>
                                            </p:txEl>
                                          </p:spTgt>
                                        </p:tgtEl>
                                        <p:attrNameLst>
                                          <p:attrName>style.visibility</p:attrName>
                                        </p:attrNameLst>
                                      </p:cBhvr>
                                      <p:to>
                                        <p:strVal val="visible"/>
                                      </p:to>
                                    </p:set>
                                    <p:animEffect transition="in" filter="blinds(horizontal)">
                                      <p:cBhvr>
                                        <p:cTn id="53" dur="500"/>
                                        <p:tgtEl>
                                          <p:spTgt spid="544771">
                                            <p:txEl>
                                              <p:pRg st="10" end="10"/>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544771">
                                            <p:txEl>
                                              <p:pRg st="11" end="11"/>
                                            </p:txEl>
                                          </p:spTgt>
                                        </p:tgtEl>
                                        <p:attrNameLst>
                                          <p:attrName>style.visibility</p:attrName>
                                        </p:attrNameLst>
                                      </p:cBhvr>
                                      <p:to>
                                        <p:strVal val="visible"/>
                                      </p:to>
                                    </p:set>
                                    <p:animEffect transition="in" filter="blinds(horizontal)">
                                      <p:cBhvr>
                                        <p:cTn id="56" dur="500"/>
                                        <p:tgtEl>
                                          <p:spTgt spid="544771">
                                            <p:txEl>
                                              <p:pRg st="11" end="11"/>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544771">
                                            <p:txEl>
                                              <p:pRg st="12" end="12"/>
                                            </p:txEl>
                                          </p:spTgt>
                                        </p:tgtEl>
                                        <p:attrNameLst>
                                          <p:attrName>style.visibility</p:attrName>
                                        </p:attrNameLst>
                                      </p:cBhvr>
                                      <p:to>
                                        <p:strVal val="visible"/>
                                      </p:to>
                                    </p:set>
                                    <p:animEffect transition="in" filter="blinds(horizontal)">
                                      <p:cBhvr>
                                        <p:cTn id="59" dur="500"/>
                                        <p:tgtEl>
                                          <p:spTgt spid="544771">
                                            <p:txEl>
                                              <p:pRg st="12" end="12"/>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544771">
                                            <p:txEl>
                                              <p:pRg st="13" end="13"/>
                                            </p:txEl>
                                          </p:spTgt>
                                        </p:tgtEl>
                                        <p:attrNameLst>
                                          <p:attrName>style.visibility</p:attrName>
                                        </p:attrNameLst>
                                      </p:cBhvr>
                                      <p:to>
                                        <p:strVal val="visible"/>
                                      </p:to>
                                    </p:set>
                                    <p:animEffect transition="in" filter="blinds(horizontal)">
                                      <p:cBhvr>
                                        <p:cTn id="62" dur="500"/>
                                        <p:tgtEl>
                                          <p:spTgt spid="54477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3C6A862D-D2D9-254B-B6CA-8D523F0D5994}"/>
              </a:ext>
            </a:extLst>
          </p:cNvPr>
          <p:cNvSpPr>
            <a:spLocks noGrp="1" noChangeArrowheads="1"/>
          </p:cNvSpPr>
          <p:nvPr>
            <p:ph type="title" idx="4294967295"/>
          </p:nvPr>
        </p:nvSpPr>
        <p:spPr/>
        <p:txBody>
          <a:bodyPr lIns="91440" tIns="45720" rIns="91440" bIns="45720" anchor="ctr"/>
          <a:lstStyle/>
          <a:p>
            <a:pPr eaLnBrk="1" hangingPunct="1"/>
            <a:r>
              <a:rPr lang="zh-CN" altLang="en-US"/>
              <a:t>存储保护的硬件支持</a:t>
            </a:r>
          </a:p>
        </p:txBody>
      </p:sp>
      <p:sp>
        <p:nvSpPr>
          <p:cNvPr id="612355" name="Rectangle 3">
            <a:extLst>
              <a:ext uri="{FF2B5EF4-FFF2-40B4-BE49-F238E27FC236}">
                <a16:creationId xmlns:a16="http://schemas.microsoft.com/office/drawing/2014/main" id="{F73BD6E6-5E98-654B-B87C-12722EE8DA84}"/>
              </a:ext>
            </a:extLst>
          </p:cNvPr>
          <p:cNvSpPr>
            <a:spLocks noGrp="1" noChangeArrowheads="1"/>
          </p:cNvSpPr>
          <p:nvPr>
            <p:ph type="body" idx="4294967295"/>
          </p:nvPr>
        </p:nvSpPr>
        <p:spPr>
          <a:xfrm>
            <a:off x="82550" y="790575"/>
            <a:ext cx="8945563" cy="5629275"/>
          </a:xfrm>
        </p:spPr>
        <p:txBody>
          <a:bodyPr lIns="91440" tIns="45720" rIns="91440" bIns="45720"/>
          <a:lstStyle/>
          <a:p>
            <a:pPr eaLnBrk="1" hangingPunct="1">
              <a:lnSpc>
                <a:spcPct val="110000"/>
              </a:lnSpc>
              <a:spcBef>
                <a:spcPct val="20000"/>
              </a:spcBef>
            </a:pPr>
            <a:r>
              <a:rPr lang="zh-CN" altLang="en-US" sz="1900">
                <a:latin typeface="微软雅黑" panose="020B0503020204020204" pitchFamily="34" charset="-122"/>
                <a:ea typeface="微软雅黑" panose="020B0503020204020204" pitchFamily="34" charset="-122"/>
              </a:rPr>
              <a:t>为了对操作系统的存储保护提供支持，硬件必须具有以下三种基本功能：</a:t>
            </a:r>
          </a:p>
          <a:p>
            <a:pPr lvl="1" eaLnBrk="1" hangingPunct="1">
              <a:lnSpc>
                <a:spcPct val="110000"/>
              </a:lnSpc>
              <a:spcBef>
                <a:spcPct val="20000"/>
              </a:spcBef>
            </a:pPr>
            <a:r>
              <a:rPr lang="zh-CN" altLang="en-US" sz="1900">
                <a:latin typeface="微软雅黑" panose="020B0503020204020204" pitchFamily="34" charset="-122"/>
                <a:ea typeface="微软雅黑" panose="020B0503020204020204" pitchFamily="34" charset="-122"/>
              </a:rPr>
              <a:t>支持至少两种运行模式：</a:t>
            </a:r>
          </a:p>
          <a:p>
            <a:pPr lvl="2" eaLnBrk="1" hangingPunct="1">
              <a:lnSpc>
                <a:spcPct val="110000"/>
              </a:lnSpc>
              <a:spcBef>
                <a:spcPct val="20000"/>
              </a:spcBef>
            </a:pPr>
            <a:r>
              <a:rPr lang="zh-CN" altLang="en-US" sz="1900">
                <a:latin typeface="微软雅黑" panose="020B0503020204020204" pitchFamily="34" charset="-122"/>
                <a:ea typeface="微软雅黑" panose="020B0503020204020204" pitchFamily="34" charset="-122"/>
              </a:rPr>
              <a:t>管理模式</a:t>
            </a:r>
            <a:r>
              <a:rPr lang="en-US" altLang="zh-CN" sz="1900">
                <a:latin typeface="微软雅黑" panose="020B0503020204020204" pitchFamily="34" charset="-122"/>
                <a:ea typeface="微软雅黑" panose="020B0503020204020204" pitchFamily="34" charset="-122"/>
              </a:rPr>
              <a:t>(Supervisor Mode)</a:t>
            </a:r>
            <a:endParaRPr lang="zh-CN" altLang="en-US" sz="1900">
              <a:latin typeface="微软雅黑" panose="020B0503020204020204" pitchFamily="34" charset="-122"/>
              <a:ea typeface="微软雅黑" panose="020B0503020204020204" pitchFamily="34" charset="-122"/>
            </a:endParaRPr>
          </a:p>
          <a:p>
            <a:pPr lvl="2" eaLnBrk="1" hangingPunct="1">
              <a:lnSpc>
                <a:spcPct val="110000"/>
              </a:lnSpc>
              <a:spcBef>
                <a:spcPct val="20000"/>
              </a:spcBef>
              <a:buFontTx/>
              <a:buNone/>
            </a:pPr>
            <a:r>
              <a:rPr lang="zh-CN" altLang="en-US" sz="1900">
                <a:solidFill>
                  <a:srgbClr val="006600"/>
                </a:solidFill>
                <a:latin typeface="微软雅黑" panose="020B0503020204020204" pitchFamily="34" charset="-122"/>
                <a:ea typeface="微软雅黑" panose="020B0503020204020204" pitchFamily="34" charset="-122"/>
              </a:rPr>
              <a:t>     执行系统程序（内核）时处理器所处的模式称为</a:t>
            </a:r>
            <a:r>
              <a:rPr lang="zh-CN" altLang="en-US" sz="1900">
                <a:solidFill>
                  <a:schemeClr val="accent1"/>
                </a:solidFill>
                <a:latin typeface="微软雅黑" panose="020B0503020204020204" pitchFamily="34" charset="-122"/>
                <a:ea typeface="微软雅黑" panose="020B0503020204020204" pitchFamily="34" charset="-122"/>
              </a:rPr>
              <a:t>管理模式</a:t>
            </a:r>
            <a:r>
              <a:rPr lang="en-US" altLang="zh-CN" sz="1900">
                <a:solidFill>
                  <a:schemeClr val="accent1"/>
                </a:solidFill>
                <a:latin typeface="微软雅黑" panose="020B0503020204020204" pitchFamily="34" charset="-122"/>
                <a:ea typeface="微软雅黑" panose="020B0503020204020204" pitchFamily="34" charset="-122"/>
              </a:rPr>
              <a:t>(Supervisor Mode)</a:t>
            </a:r>
            <a:r>
              <a:rPr lang="zh-CN" altLang="en-US" sz="1900">
                <a:solidFill>
                  <a:srgbClr val="006600"/>
                </a:solidFill>
                <a:latin typeface="微软雅黑" panose="020B0503020204020204" pitchFamily="34" charset="-122"/>
                <a:ea typeface="微软雅黑" panose="020B0503020204020204" pitchFamily="34" charset="-122"/>
              </a:rPr>
              <a:t>，或称</a:t>
            </a:r>
            <a:r>
              <a:rPr lang="zh-CN" altLang="en-US" sz="1900">
                <a:solidFill>
                  <a:schemeClr val="accent1"/>
                </a:solidFill>
                <a:latin typeface="微软雅黑" panose="020B0503020204020204" pitchFamily="34" charset="-122"/>
                <a:ea typeface="微软雅黑" panose="020B0503020204020204" pitchFamily="34" charset="-122"/>
              </a:rPr>
              <a:t>管理程序状态</a:t>
            </a:r>
            <a:r>
              <a:rPr lang="zh-CN" altLang="en-US" sz="1900">
                <a:solidFill>
                  <a:srgbClr val="006600"/>
                </a:solidFill>
                <a:latin typeface="微软雅黑" panose="020B0503020204020204" pitchFamily="34" charset="-122"/>
                <a:ea typeface="微软雅黑" panose="020B0503020204020204" pitchFamily="34" charset="-122"/>
              </a:rPr>
              <a:t>，简称</a:t>
            </a:r>
            <a:r>
              <a:rPr lang="zh-CN" altLang="en-US" sz="1900">
                <a:solidFill>
                  <a:schemeClr val="accent1"/>
                </a:solidFill>
                <a:latin typeface="微软雅黑" panose="020B0503020204020204" pitchFamily="34" charset="-122"/>
                <a:ea typeface="微软雅黑" panose="020B0503020204020204" pitchFamily="34" charset="-122"/>
              </a:rPr>
              <a:t>管态</a:t>
            </a:r>
            <a:r>
              <a:rPr lang="zh-CN" altLang="en-US" sz="1900">
                <a:solidFill>
                  <a:srgbClr val="006600"/>
                </a:solidFill>
                <a:latin typeface="微软雅黑" panose="020B0503020204020204" pitchFamily="34" charset="-122"/>
                <a:ea typeface="微软雅黑" panose="020B0503020204020204" pitchFamily="34" charset="-122"/>
              </a:rPr>
              <a:t>、</a:t>
            </a:r>
            <a:r>
              <a:rPr lang="zh-CN" altLang="en-US" sz="1900">
                <a:solidFill>
                  <a:schemeClr val="accent1"/>
                </a:solidFill>
                <a:latin typeface="微软雅黑" panose="020B0503020204020204" pitchFamily="34" charset="-122"/>
                <a:ea typeface="微软雅黑" panose="020B0503020204020204" pitchFamily="34" charset="-122"/>
              </a:rPr>
              <a:t>管理态</a:t>
            </a:r>
            <a:r>
              <a:rPr lang="zh-CN" altLang="en-US" sz="1900">
                <a:solidFill>
                  <a:srgbClr val="006600"/>
                </a:solidFill>
                <a:latin typeface="微软雅黑" panose="020B0503020204020204" pitchFamily="34" charset="-122"/>
                <a:ea typeface="微软雅黑" panose="020B0503020204020204" pitchFamily="34" charset="-122"/>
              </a:rPr>
              <a:t>、</a:t>
            </a:r>
            <a:r>
              <a:rPr lang="zh-CN" altLang="en-US" sz="1900">
                <a:solidFill>
                  <a:schemeClr val="accent1"/>
                </a:solidFill>
                <a:latin typeface="微软雅黑" panose="020B0503020204020204" pitchFamily="34" charset="-122"/>
                <a:ea typeface="微软雅黑" panose="020B0503020204020204" pitchFamily="34" charset="-122"/>
              </a:rPr>
              <a:t>核心态</a:t>
            </a:r>
            <a:r>
              <a:rPr lang="zh-CN" altLang="en-US" sz="1900">
                <a:solidFill>
                  <a:srgbClr val="006600"/>
                </a:solidFill>
                <a:latin typeface="微软雅黑" panose="020B0503020204020204" pitchFamily="34" charset="-122"/>
                <a:ea typeface="微软雅黑" panose="020B0503020204020204" pitchFamily="34" charset="-122"/>
              </a:rPr>
              <a:t>、</a:t>
            </a:r>
            <a:r>
              <a:rPr lang="zh-CN" altLang="en-US" sz="1900">
                <a:solidFill>
                  <a:schemeClr val="accent1"/>
                </a:solidFill>
                <a:latin typeface="微软雅黑" panose="020B0503020204020204" pitchFamily="34" charset="-122"/>
                <a:ea typeface="微软雅黑" panose="020B0503020204020204" pitchFamily="34" charset="-122"/>
              </a:rPr>
              <a:t>内核态</a:t>
            </a:r>
          </a:p>
          <a:p>
            <a:pPr lvl="2" eaLnBrk="1" hangingPunct="1">
              <a:lnSpc>
                <a:spcPct val="110000"/>
              </a:lnSpc>
              <a:spcBef>
                <a:spcPct val="20000"/>
              </a:spcBef>
            </a:pPr>
            <a:r>
              <a:rPr lang="zh-CN" altLang="en-US" sz="1900">
                <a:latin typeface="微软雅黑" panose="020B0503020204020204" pitchFamily="34" charset="-122"/>
                <a:ea typeface="微软雅黑" panose="020B0503020204020204" pitchFamily="34" charset="-122"/>
              </a:rPr>
              <a:t>用户模式</a:t>
            </a:r>
            <a:r>
              <a:rPr lang="en-US" altLang="zh-CN" sz="1900">
                <a:latin typeface="微软雅黑" panose="020B0503020204020204" pitchFamily="34" charset="-122"/>
                <a:ea typeface="微软雅黑" panose="020B0503020204020204" pitchFamily="34" charset="-122"/>
              </a:rPr>
              <a:t>(User Mode)</a:t>
            </a:r>
          </a:p>
          <a:p>
            <a:pPr lvl="2" eaLnBrk="1" hangingPunct="1">
              <a:lnSpc>
                <a:spcPct val="110000"/>
              </a:lnSpc>
              <a:spcBef>
                <a:spcPct val="20000"/>
              </a:spcBef>
              <a:buFontTx/>
              <a:buNone/>
            </a:pPr>
            <a:r>
              <a:rPr lang="zh-CN" altLang="en-US" sz="1900">
                <a:solidFill>
                  <a:srgbClr val="006600"/>
                </a:solidFill>
                <a:latin typeface="微软雅黑" panose="020B0503020204020204" pitchFamily="34" charset="-122"/>
                <a:ea typeface="微软雅黑" panose="020B0503020204020204" pitchFamily="34" charset="-122"/>
              </a:rPr>
              <a:t>    </a:t>
            </a:r>
            <a:r>
              <a:rPr lang="en-US" altLang="zh-CN" sz="1900">
                <a:solidFill>
                  <a:srgbClr val="006600"/>
                </a:solidFill>
                <a:latin typeface="微软雅黑" panose="020B0503020204020204" pitchFamily="34" charset="-122"/>
                <a:ea typeface="微软雅黑" panose="020B0503020204020204" pitchFamily="34" charset="-122"/>
              </a:rPr>
              <a:t>CPU</a:t>
            </a:r>
            <a:r>
              <a:rPr lang="zh-CN" altLang="en-US" sz="1900">
                <a:solidFill>
                  <a:srgbClr val="006600"/>
                </a:solidFill>
                <a:latin typeface="微软雅黑" panose="020B0503020204020204" pitchFamily="34" charset="-122"/>
                <a:ea typeface="微软雅黑" panose="020B0503020204020204" pitchFamily="34" charset="-122"/>
              </a:rPr>
              <a:t>执行非操作系统的用户程序时，处理器所处的模式就是</a:t>
            </a:r>
            <a:r>
              <a:rPr lang="zh-CN" altLang="en-US" sz="1900">
                <a:solidFill>
                  <a:schemeClr val="accent1"/>
                </a:solidFill>
                <a:latin typeface="微软雅黑" panose="020B0503020204020204" pitchFamily="34" charset="-122"/>
                <a:ea typeface="微软雅黑" panose="020B0503020204020204" pitchFamily="34" charset="-122"/>
              </a:rPr>
              <a:t>用户模式</a:t>
            </a:r>
            <a:r>
              <a:rPr lang="zh-CN" altLang="en-US" sz="1900">
                <a:solidFill>
                  <a:srgbClr val="006600"/>
                </a:solidFill>
                <a:latin typeface="微软雅黑" panose="020B0503020204020204" pitchFamily="34" charset="-122"/>
                <a:ea typeface="微软雅黑" panose="020B0503020204020204" pitchFamily="34" charset="-122"/>
              </a:rPr>
              <a:t>，或称</a:t>
            </a:r>
            <a:r>
              <a:rPr lang="zh-CN" altLang="en-US" sz="1900">
                <a:solidFill>
                  <a:schemeClr val="accent1"/>
                </a:solidFill>
                <a:latin typeface="微软雅黑" panose="020B0503020204020204" pitchFamily="34" charset="-122"/>
                <a:ea typeface="微软雅黑" panose="020B0503020204020204" pitchFamily="34" charset="-122"/>
              </a:rPr>
              <a:t>用户状态</a:t>
            </a:r>
            <a:r>
              <a:rPr lang="zh-CN" altLang="en-US" sz="1900">
                <a:solidFill>
                  <a:srgbClr val="006600"/>
                </a:solidFill>
                <a:latin typeface="微软雅黑" panose="020B0503020204020204" pitchFamily="34" charset="-122"/>
                <a:ea typeface="微软雅黑" panose="020B0503020204020204" pitchFamily="34" charset="-122"/>
              </a:rPr>
              <a:t>、</a:t>
            </a:r>
            <a:r>
              <a:rPr lang="zh-CN" altLang="en-US" sz="1900">
                <a:solidFill>
                  <a:schemeClr val="accent1"/>
                </a:solidFill>
                <a:latin typeface="微软雅黑" panose="020B0503020204020204" pitchFamily="34" charset="-122"/>
                <a:ea typeface="微软雅黑" panose="020B0503020204020204" pitchFamily="34" charset="-122"/>
              </a:rPr>
              <a:t>目标程序状态</a:t>
            </a:r>
            <a:r>
              <a:rPr lang="zh-CN" altLang="en-US" sz="1900">
                <a:solidFill>
                  <a:srgbClr val="006600"/>
                </a:solidFill>
                <a:latin typeface="微软雅黑" panose="020B0503020204020204" pitchFamily="34" charset="-122"/>
                <a:ea typeface="微软雅黑" panose="020B0503020204020204" pitchFamily="34" charset="-122"/>
              </a:rPr>
              <a:t>，简称为</a:t>
            </a:r>
            <a:r>
              <a:rPr lang="zh-CN" altLang="en-US" sz="1900">
                <a:solidFill>
                  <a:schemeClr val="accent1"/>
                </a:solidFill>
                <a:latin typeface="微软雅黑" panose="020B0503020204020204" pitchFamily="34" charset="-122"/>
                <a:ea typeface="微软雅黑" panose="020B0503020204020204" pitchFamily="34" charset="-122"/>
              </a:rPr>
              <a:t>目态</a:t>
            </a:r>
            <a:r>
              <a:rPr lang="zh-CN" altLang="en-US" sz="1900">
                <a:solidFill>
                  <a:srgbClr val="006600"/>
                </a:solidFill>
                <a:latin typeface="微软雅黑" panose="020B0503020204020204" pitchFamily="34" charset="-122"/>
                <a:ea typeface="微软雅黑" panose="020B0503020204020204" pitchFamily="34" charset="-122"/>
              </a:rPr>
              <a:t>或</a:t>
            </a:r>
            <a:r>
              <a:rPr lang="zh-CN" altLang="en-US" sz="1900">
                <a:solidFill>
                  <a:schemeClr val="accent1"/>
                </a:solidFill>
                <a:latin typeface="微软雅黑" panose="020B0503020204020204" pitchFamily="34" charset="-122"/>
                <a:ea typeface="微软雅黑" panose="020B0503020204020204" pitchFamily="34" charset="-122"/>
              </a:rPr>
              <a:t>用户态</a:t>
            </a:r>
          </a:p>
          <a:p>
            <a:pPr lvl="1" eaLnBrk="1" hangingPunct="1">
              <a:lnSpc>
                <a:spcPct val="110000"/>
              </a:lnSpc>
              <a:spcBef>
                <a:spcPct val="20000"/>
              </a:spcBef>
            </a:pPr>
            <a:r>
              <a:rPr lang="zh-CN" altLang="en-US" sz="1900">
                <a:latin typeface="微软雅黑" panose="020B0503020204020204" pitchFamily="34" charset="-122"/>
                <a:ea typeface="微软雅黑" panose="020B0503020204020204" pitchFamily="34" charset="-122"/>
              </a:rPr>
              <a:t>使一部分</a:t>
            </a:r>
            <a:r>
              <a:rPr lang="en-US" altLang="zh-CN" sz="1900">
                <a:latin typeface="微软雅黑" panose="020B0503020204020204" pitchFamily="34" charset="-122"/>
                <a:ea typeface="微软雅黑" panose="020B0503020204020204" pitchFamily="34" charset="-122"/>
              </a:rPr>
              <a:t>CPU</a:t>
            </a:r>
            <a:r>
              <a:rPr lang="zh-CN" altLang="en-US" sz="1900">
                <a:latin typeface="微软雅黑" panose="020B0503020204020204" pitchFamily="34" charset="-122"/>
                <a:ea typeface="微软雅黑" panose="020B0503020204020204" pitchFamily="34" charset="-122"/>
              </a:rPr>
              <a:t>状态只能由内核程序读写而不能由用户程序读写：这部分状态包括：</a:t>
            </a:r>
            <a:r>
              <a:rPr lang="en-US" altLang="zh-CN" sz="1900">
                <a:solidFill>
                  <a:srgbClr val="663300"/>
                </a:solidFill>
                <a:latin typeface="微软雅黑" panose="020B0503020204020204" pitchFamily="34" charset="-122"/>
                <a:ea typeface="微软雅黑" panose="020B0503020204020204" pitchFamily="34" charset="-122"/>
              </a:rPr>
              <a:t>User/Supervisor</a:t>
            </a:r>
            <a:r>
              <a:rPr lang="zh-CN" altLang="en-US" sz="1900">
                <a:solidFill>
                  <a:srgbClr val="663300"/>
                </a:solidFill>
                <a:latin typeface="微软雅黑" panose="020B0503020204020204" pitchFamily="34" charset="-122"/>
                <a:ea typeface="微软雅黑" panose="020B0503020204020204" pitchFamily="34" charset="-122"/>
              </a:rPr>
              <a:t>模式位</a:t>
            </a:r>
            <a:r>
              <a:rPr lang="zh-CN" altLang="en-US" sz="1900">
                <a:latin typeface="微软雅黑" panose="020B0503020204020204" pitchFamily="34" charset="-122"/>
                <a:ea typeface="微软雅黑" panose="020B0503020204020204" pitchFamily="34" charset="-122"/>
              </a:rPr>
              <a:t>、</a:t>
            </a:r>
            <a:r>
              <a:rPr lang="zh-CN" altLang="en-US" sz="1900">
                <a:solidFill>
                  <a:srgbClr val="663300"/>
                </a:solidFill>
                <a:latin typeface="微软雅黑" panose="020B0503020204020204" pitchFamily="34" charset="-122"/>
                <a:ea typeface="微软雅黑" panose="020B0503020204020204" pitchFamily="34" charset="-122"/>
              </a:rPr>
              <a:t>页表首地址</a:t>
            </a:r>
            <a:r>
              <a:rPr lang="zh-CN" altLang="en-US" sz="1900">
                <a:latin typeface="微软雅黑" panose="020B0503020204020204" pitchFamily="34" charset="-122"/>
                <a:ea typeface="微软雅黑" panose="020B0503020204020204" pitchFamily="34" charset="-122"/>
              </a:rPr>
              <a:t>、</a:t>
            </a:r>
            <a:r>
              <a:rPr lang="en-US" altLang="zh-CN" sz="1900">
                <a:solidFill>
                  <a:srgbClr val="663300"/>
                </a:solidFill>
                <a:latin typeface="微软雅黑" panose="020B0503020204020204" pitchFamily="34" charset="-122"/>
                <a:ea typeface="微软雅黑" panose="020B0503020204020204" pitchFamily="34" charset="-122"/>
              </a:rPr>
              <a:t>TLB</a:t>
            </a:r>
            <a:r>
              <a:rPr lang="zh-CN" altLang="en-US" sz="1900">
                <a:solidFill>
                  <a:srgbClr val="663300"/>
                </a:solidFill>
                <a:latin typeface="微软雅黑" panose="020B0503020204020204" pitchFamily="34" charset="-122"/>
                <a:ea typeface="微软雅黑" panose="020B0503020204020204" pitchFamily="34" charset="-122"/>
              </a:rPr>
              <a:t>等</a:t>
            </a:r>
            <a:r>
              <a:rPr lang="zh-CN" altLang="en-US" sz="1900">
                <a:latin typeface="微软雅黑" panose="020B0503020204020204" pitchFamily="34" charset="-122"/>
                <a:ea typeface="微软雅黑" panose="020B0503020204020204" pitchFamily="34" charset="-122"/>
              </a:rPr>
              <a:t>。</a:t>
            </a:r>
            <a:r>
              <a:rPr lang="en-US" altLang="zh-CN" sz="1900">
                <a:latin typeface="微软雅黑" panose="020B0503020204020204" pitchFamily="34" charset="-122"/>
                <a:ea typeface="微软雅黑" panose="020B0503020204020204" pitchFamily="34" charset="-122"/>
              </a:rPr>
              <a:t>OS</a:t>
            </a:r>
            <a:r>
              <a:rPr lang="zh-CN" altLang="en-US" sz="1900">
                <a:latin typeface="微软雅黑" panose="020B0503020204020204" pitchFamily="34" charset="-122"/>
                <a:ea typeface="微软雅黑" panose="020B0503020204020204" pitchFamily="34" charset="-122"/>
              </a:rPr>
              <a:t>内核可以用特殊的指令（一般称为</a:t>
            </a:r>
            <a:r>
              <a:rPr lang="zh-CN" altLang="en-US" sz="1900">
                <a:solidFill>
                  <a:schemeClr val="accent1"/>
                </a:solidFill>
                <a:latin typeface="微软雅黑" panose="020B0503020204020204" pitchFamily="34" charset="-122"/>
                <a:ea typeface="微软雅黑" panose="020B0503020204020204" pitchFamily="34" charset="-122"/>
              </a:rPr>
              <a:t>管态指令</a:t>
            </a:r>
            <a:r>
              <a:rPr lang="zh-CN" altLang="en-US" sz="1900">
                <a:latin typeface="微软雅黑" panose="020B0503020204020204" pitchFamily="34" charset="-122"/>
                <a:ea typeface="微软雅黑" panose="020B0503020204020204" pitchFamily="34" charset="-122"/>
              </a:rPr>
              <a:t>或</a:t>
            </a:r>
            <a:r>
              <a:rPr lang="zh-CN" altLang="en-US" sz="1900">
                <a:solidFill>
                  <a:schemeClr val="accent1"/>
                </a:solidFill>
                <a:latin typeface="微软雅黑" panose="020B0503020204020204" pitchFamily="34" charset="-122"/>
                <a:ea typeface="微软雅黑" panose="020B0503020204020204" pitchFamily="34" charset="-122"/>
              </a:rPr>
              <a:t>特权指令</a:t>
            </a:r>
            <a:r>
              <a:rPr lang="zh-CN" altLang="en-US" sz="1900">
                <a:latin typeface="微软雅黑" panose="020B0503020204020204" pitchFamily="34" charset="-122"/>
                <a:ea typeface="微软雅黑" panose="020B0503020204020204" pitchFamily="34" charset="-122"/>
              </a:rPr>
              <a:t>）来读写这些状态</a:t>
            </a:r>
          </a:p>
          <a:p>
            <a:pPr lvl="1" eaLnBrk="1" hangingPunct="1">
              <a:lnSpc>
                <a:spcPct val="110000"/>
              </a:lnSpc>
              <a:spcBef>
                <a:spcPct val="20000"/>
              </a:spcBef>
            </a:pPr>
            <a:r>
              <a:rPr lang="zh-CN" altLang="en-US" sz="1900">
                <a:latin typeface="微软雅黑" panose="020B0503020204020204" pitchFamily="34" charset="-122"/>
                <a:ea typeface="微软雅黑" panose="020B0503020204020204" pitchFamily="34" charset="-122"/>
              </a:rPr>
              <a:t>提供让</a:t>
            </a:r>
            <a:r>
              <a:rPr lang="en-US" altLang="zh-CN" sz="1900">
                <a:latin typeface="微软雅黑" panose="020B0503020204020204" pitchFamily="34" charset="-122"/>
                <a:ea typeface="微软雅黑" panose="020B0503020204020204" pitchFamily="34" charset="-122"/>
              </a:rPr>
              <a:t>CPU</a:t>
            </a:r>
            <a:r>
              <a:rPr lang="zh-CN" altLang="en-US" sz="1900">
                <a:latin typeface="微软雅黑" panose="020B0503020204020204" pitchFamily="34" charset="-122"/>
                <a:ea typeface="微软雅黑" panose="020B0503020204020204" pitchFamily="34" charset="-122"/>
              </a:rPr>
              <a:t>在管理模式</a:t>
            </a:r>
            <a:r>
              <a:rPr lang="zh-CN" altLang="en-US" sz="1900">
                <a:solidFill>
                  <a:schemeClr val="accent1"/>
                </a:solidFill>
                <a:latin typeface="微软雅黑" panose="020B0503020204020204" pitchFamily="34" charset="-122"/>
                <a:ea typeface="微软雅黑" panose="020B0503020204020204" pitchFamily="34" charset="-122"/>
              </a:rPr>
              <a:t>（内核态）</a:t>
            </a:r>
            <a:r>
              <a:rPr lang="zh-CN" altLang="en-US" sz="1900">
                <a:latin typeface="微软雅黑" panose="020B0503020204020204" pitchFamily="34" charset="-122"/>
                <a:ea typeface="微软雅黑" panose="020B0503020204020204" pitchFamily="34" charset="-122"/>
              </a:rPr>
              <a:t>和用户模式</a:t>
            </a:r>
            <a:r>
              <a:rPr lang="zh-CN" altLang="en-US" sz="1900">
                <a:solidFill>
                  <a:schemeClr val="accent1"/>
                </a:solidFill>
                <a:latin typeface="微软雅黑" panose="020B0503020204020204" pitchFamily="34" charset="-122"/>
                <a:ea typeface="微软雅黑" panose="020B0503020204020204" pitchFamily="34" charset="-122"/>
              </a:rPr>
              <a:t>（用户态）</a:t>
            </a:r>
            <a:r>
              <a:rPr lang="zh-CN" altLang="en-US" sz="1900">
                <a:latin typeface="微软雅黑" panose="020B0503020204020204" pitchFamily="34" charset="-122"/>
                <a:ea typeface="微软雅黑" panose="020B0503020204020204" pitchFamily="34" charset="-122"/>
              </a:rPr>
              <a:t>相互转换的机制：“异常”和“陷阱”（系统调用）使</a:t>
            </a:r>
            <a:r>
              <a:rPr lang="en-US" altLang="zh-CN" sz="1900">
                <a:latin typeface="微软雅黑" panose="020B0503020204020204" pitchFamily="34" charset="-122"/>
                <a:ea typeface="微软雅黑" panose="020B0503020204020204" pitchFamily="34" charset="-122"/>
              </a:rPr>
              <a:t>CPU</a:t>
            </a:r>
            <a:r>
              <a:rPr lang="zh-CN" altLang="en-US" sz="1900">
                <a:latin typeface="微软雅黑" panose="020B0503020204020204" pitchFamily="34" charset="-122"/>
                <a:ea typeface="微软雅黑" panose="020B0503020204020204" pitchFamily="34" charset="-122"/>
              </a:rPr>
              <a:t>从用户态转到内核态；异常处理中的“返回”指令使</a:t>
            </a:r>
            <a:r>
              <a:rPr lang="en-US" altLang="zh-CN" sz="1900">
                <a:latin typeface="微软雅黑" panose="020B0503020204020204" pitchFamily="34" charset="-122"/>
                <a:ea typeface="微软雅黑" panose="020B0503020204020204" pitchFamily="34" charset="-122"/>
              </a:rPr>
              <a:t>CPU</a:t>
            </a:r>
            <a:r>
              <a:rPr lang="zh-CN" altLang="en-US" sz="1900">
                <a:latin typeface="微软雅黑" panose="020B0503020204020204" pitchFamily="34" charset="-122"/>
                <a:ea typeface="微软雅黑" panose="020B0503020204020204" pitchFamily="34" charset="-122"/>
              </a:rPr>
              <a:t>从内核态态转到用户态</a:t>
            </a:r>
          </a:p>
          <a:p>
            <a:pPr eaLnBrk="1" hangingPunct="1">
              <a:lnSpc>
                <a:spcPct val="110000"/>
              </a:lnSpc>
              <a:spcBef>
                <a:spcPct val="20000"/>
              </a:spcBef>
            </a:pPr>
            <a:r>
              <a:rPr lang="zh-CN" altLang="en-US" sz="1900">
                <a:latin typeface="微软雅黑" panose="020B0503020204020204" pitchFamily="34" charset="-122"/>
                <a:ea typeface="微软雅黑" panose="020B0503020204020204" pitchFamily="34" charset="-122"/>
              </a:rPr>
              <a:t>通过上述三个功能并把页表保存在</a:t>
            </a:r>
            <a:r>
              <a:rPr lang="en-US" altLang="zh-CN" sz="1900">
                <a:latin typeface="微软雅黑" panose="020B0503020204020204" pitchFamily="34" charset="-122"/>
                <a:ea typeface="微软雅黑" panose="020B0503020204020204" pitchFamily="34" charset="-122"/>
              </a:rPr>
              <a:t>OS</a:t>
            </a:r>
            <a:r>
              <a:rPr lang="zh-CN" altLang="en-US" sz="1900">
                <a:latin typeface="微软雅黑" panose="020B0503020204020204" pitchFamily="34" charset="-122"/>
                <a:ea typeface="微软雅黑" panose="020B0503020204020204" pitchFamily="34" charset="-122"/>
              </a:rPr>
              <a:t>的地址空间，</a:t>
            </a:r>
            <a:r>
              <a:rPr lang="en-US" altLang="zh-CN" sz="1900">
                <a:latin typeface="微软雅黑" panose="020B0503020204020204" pitchFamily="34" charset="-122"/>
                <a:ea typeface="微软雅黑" panose="020B0503020204020204" pitchFamily="34" charset="-122"/>
              </a:rPr>
              <a:t>OS</a:t>
            </a:r>
            <a:r>
              <a:rPr lang="zh-CN" altLang="en-US" sz="1900">
                <a:latin typeface="微软雅黑" panose="020B0503020204020204" pitchFamily="34" charset="-122"/>
                <a:ea typeface="微软雅黑" panose="020B0503020204020204" pitchFamily="34" charset="-122"/>
              </a:rPr>
              <a:t>就可以更新页表，并防止用户程序改变页表，确保用户程序只能访问由</a:t>
            </a:r>
            <a:r>
              <a:rPr lang="en-US" altLang="zh-CN" sz="1900">
                <a:latin typeface="微软雅黑" panose="020B0503020204020204" pitchFamily="34" charset="-122"/>
                <a:ea typeface="微软雅黑" panose="020B0503020204020204" pitchFamily="34" charset="-122"/>
              </a:rPr>
              <a:t>OS</a:t>
            </a:r>
            <a:r>
              <a:rPr lang="zh-CN" altLang="en-US" sz="1900">
                <a:latin typeface="微软雅黑" panose="020B0503020204020204" pitchFamily="34" charset="-122"/>
                <a:ea typeface="微软雅黑" panose="020B0503020204020204" pitchFamily="34" charset="-122"/>
              </a:rPr>
              <a:t>分配给的存储空间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2355">
                                            <p:txEl>
                                              <p:pRg st="1" end="1"/>
                                            </p:txEl>
                                          </p:spTgt>
                                        </p:tgtEl>
                                        <p:attrNameLst>
                                          <p:attrName>style.visibility</p:attrName>
                                        </p:attrNameLst>
                                      </p:cBhvr>
                                      <p:to>
                                        <p:strVal val="visible"/>
                                      </p:to>
                                    </p:set>
                                    <p:animEffect transition="in" filter="blinds(horizontal)">
                                      <p:cBhvr>
                                        <p:cTn id="7" dur="500"/>
                                        <p:tgtEl>
                                          <p:spTgt spid="6123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2355">
                                            <p:txEl>
                                              <p:pRg st="2" end="2"/>
                                            </p:txEl>
                                          </p:spTgt>
                                        </p:tgtEl>
                                        <p:attrNameLst>
                                          <p:attrName>style.visibility</p:attrName>
                                        </p:attrNameLst>
                                      </p:cBhvr>
                                      <p:to>
                                        <p:strVal val="visible"/>
                                      </p:to>
                                    </p:set>
                                    <p:animEffect transition="in" filter="blinds(horizontal)">
                                      <p:cBhvr>
                                        <p:cTn id="12" dur="500"/>
                                        <p:tgtEl>
                                          <p:spTgt spid="6123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2355">
                                            <p:txEl>
                                              <p:pRg st="3" end="3"/>
                                            </p:txEl>
                                          </p:spTgt>
                                        </p:tgtEl>
                                        <p:attrNameLst>
                                          <p:attrName>style.visibility</p:attrName>
                                        </p:attrNameLst>
                                      </p:cBhvr>
                                      <p:to>
                                        <p:strVal val="visible"/>
                                      </p:to>
                                    </p:set>
                                    <p:animEffect transition="in" filter="blinds(horizontal)">
                                      <p:cBhvr>
                                        <p:cTn id="17" dur="500"/>
                                        <p:tgtEl>
                                          <p:spTgt spid="61235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2355">
                                            <p:txEl>
                                              <p:pRg st="4" end="4"/>
                                            </p:txEl>
                                          </p:spTgt>
                                        </p:tgtEl>
                                        <p:attrNameLst>
                                          <p:attrName>style.visibility</p:attrName>
                                        </p:attrNameLst>
                                      </p:cBhvr>
                                      <p:to>
                                        <p:strVal val="visible"/>
                                      </p:to>
                                    </p:set>
                                    <p:animEffect transition="in" filter="blinds(horizontal)">
                                      <p:cBhvr>
                                        <p:cTn id="22" dur="500"/>
                                        <p:tgtEl>
                                          <p:spTgt spid="61235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2355">
                                            <p:txEl>
                                              <p:pRg st="5" end="5"/>
                                            </p:txEl>
                                          </p:spTgt>
                                        </p:tgtEl>
                                        <p:attrNameLst>
                                          <p:attrName>style.visibility</p:attrName>
                                        </p:attrNameLst>
                                      </p:cBhvr>
                                      <p:to>
                                        <p:strVal val="visible"/>
                                      </p:to>
                                    </p:set>
                                    <p:animEffect transition="in" filter="blinds(horizontal)">
                                      <p:cBhvr>
                                        <p:cTn id="27" dur="500"/>
                                        <p:tgtEl>
                                          <p:spTgt spid="61235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2355">
                                            <p:txEl>
                                              <p:pRg st="6" end="6"/>
                                            </p:txEl>
                                          </p:spTgt>
                                        </p:tgtEl>
                                        <p:attrNameLst>
                                          <p:attrName>style.visibility</p:attrName>
                                        </p:attrNameLst>
                                      </p:cBhvr>
                                      <p:to>
                                        <p:strVal val="visible"/>
                                      </p:to>
                                    </p:set>
                                    <p:animEffect transition="in" filter="blinds(horizontal)">
                                      <p:cBhvr>
                                        <p:cTn id="32" dur="500"/>
                                        <p:tgtEl>
                                          <p:spTgt spid="612355">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12355">
                                            <p:txEl>
                                              <p:pRg st="7" end="7"/>
                                            </p:txEl>
                                          </p:spTgt>
                                        </p:tgtEl>
                                        <p:attrNameLst>
                                          <p:attrName>style.visibility</p:attrName>
                                        </p:attrNameLst>
                                      </p:cBhvr>
                                      <p:to>
                                        <p:strVal val="visible"/>
                                      </p:to>
                                    </p:set>
                                    <p:animEffect transition="in" filter="blinds(horizontal)">
                                      <p:cBhvr>
                                        <p:cTn id="37" dur="500"/>
                                        <p:tgtEl>
                                          <p:spTgt spid="61235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12355">
                                            <p:txEl>
                                              <p:pRg st="8" end="8"/>
                                            </p:txEl>
                                          </p:spTgt>
                                        </p:tgtEl>
                                        <p:attrNameLst>
                                          <p:attrName>style.visibility</p:attrName>
                                        </p:attrNameLst>
                                      </p:cBhvr>
                                      <p:to>
                                        <p:strVal val="visible"/>
                                      </p:to>
                                    </p:set>
                                    <p:animEffect transition="in" filter="blinds(horizontal)">
                                      <p:cBhvr>
                                        <p:cTn id="42" dur="500"/>
                                        <p:tgtEl>
                                          <p:spTgt spid="6123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4">
            <a:extLst>
              <a:ext uri="{FF2B5EF4-FFF2-40B4-BE49-F238E27FC236}">
                <a16:creationId xmlns:a16="http://schemas.microsoft.com/office/drawing/2014/main" id="{459A262E-B819-EC48-9E23-0AFF9CE8DE1C}"/>
              </a:ext>
            </a:extLst>
          </p:cNvPr>
          <p:cNvSpPr>
            <a:spLocks noChangeArrowheads="1"/>
          </p:cNvSpPr>
          <p:nvPr/>
        </p:nvSpPr>
        <p:spPr bwMode="auto">
          <a:xfrm>
            <a:off x="38100" y="749300"/>
            <a:ext cx="9047163" cy="587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defRPr sz="1600">
                <a:solidFill>
                  <a:schemeClr val="tx1"/>
                </a:solidFill>
                <a:latin typeface="Arial" panose="020B0604020202020204" pitchFamily="34" charset="0"/>
              </a:defRPr>
            </a:lvl1pPr>
            <a:lvl2pPr>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25000"/>
              </a:lnSpc>
              <a:spcBef>
                <a:spcPts val="600"/>
              </a:spcBef>
              <a:buSzPct val="100000"/>
              <a:buFontTx/>
              <a:buChar char="–"/>
            </a:pPr>
            <a:r>
              <a:rPr lang="zh-CN" altLang="en-US" sz="1800" b="1">
                <a:latin typeface="微软雅黑" panose="020B0503020204020204" pitchFamily="34" charset="-122"/>
                <a:ea typeface="微软雅黑" panose="020B0503020204020204" pitchFamily="34" charset="-122"/>
              </a:rPr>
              <a:t>机器模式（</a:t>
            </a:r>
            <a:r>
              <a:rPr lang="en-US" altLang="zh-CN" sz="1800" b="1">
                <a:latin typeface="微软雅黑" panose="020B0503020204020204" pitchFamily="34" charset="-122"/>
                <a:ea typeface="微软雅黑" panose="020B0503020204020204" pitchFamily="34" charset="-122"/>
              </a:rPr>
              <a:t>Machine Mode</a:t>
            </a:r>
            <a:r>
              <a:rPr lang="zh-CN" altLang="en-US" sz="1800" b="1">
                <a:latin typeface="微软雅黑" panose="020B0503020204020204" pitchFamily="34" charset="-122"/>
                <a:ea typeface="微软雅黑" panose="020B0503020204020204" pitchFamily="34" charset="-122"/>
              </a:rPr>
              <a:t>）</a:t>
            </a:r>
            <a:endParaRPr lang="en-US" altLang="zh-CN" sz="1800" b="1">
              <a:latin typeface="微软雅黑" panose="020B0503020204020204" pitchFamily="34" charset="-122"/>
              <a:ea typeface="微软雅黑" panose="020B0503020204020204" pitchFamily="34" charset="-122"/>
            </a:endParaRPr>
          </a:p>
          <a:p>
            <a:pPr lvl="1">
              <a:lnSpc>
                <a:spcPct val="12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也称为</a:t>
            </a:r>
            <a:r>
              <a:rPr lang="en-US" altLang="zh-CN" sz="1800" b="1">
                <a:solidFill>
                  <a:srgbClr val="FF0000"/>
                </a:solidFill>
                <a:latin typeface="微软雅黑" panose="020B0503020204020204" pitchFamily="34" charset="-122"/>
                <a:ea typeface="微软雅黑" panose="020B0503020204020204" pitchFamily="34" charset="-122"/>
              </a:rPr>
              <a:t>M</a:t>
            </a:r>
            <a:r>
              <a:rPr lang="zh-CN" altLang="en-US" sz="1800" b="1">
                <a:solidFill>
                  <a:srgbClr val="FF0000"/>
                </a:solidFill>
                <a:latin typeface="微软雅黑" panose="020B0503020204020204" pitchFamily="34" charset="-122"/>
                <a:ea typeface="微软雅黑" panose="020B0503020204020204" pitchFamily="34" charset="-122"/>
              </a:rPr>
              <a:t>模式</a:t>
            </a:r>
            <a:r>
              <a:rPr lang="zh-CN" altLang="en-US" sz="1800" b="1">
                <a:solidFill>
                  <a:schemeClr val="accent2"/>
                </a:solidFill>
                <a:latin typeface="微软雅黑" panose="020B0503020204020204" pitchFamily="34" charset="-122"/>
                <a:ea typeface="微软雅黑" panose="020B0503020204020204" pitchFamily="34" charset="-122"/>
              </a:rPr>
              <a:t>。</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模式是</a:t>
            </a:r>
            <a:r>
              <a:rPr lang="en-US" altLang="zh-CN" sz="1800" b="1">
                <a:solidFill>
                  <a:schemeClr val="accent2"/>
                </a:solidFill>
                <a:latin typeface="微软雅黑" panose="020B0503020204020204" pitchFamily="34" charset="-122"/>
                <a:ea typeface="微软雅黑" panose="020B0503020204020204" pitchFamily="34" charset="-122"/>
              </a:rPr>
              <a:t>RISC-V</a:t>
            </a:r>
            <a:r>
              <a:rPr lang="zh-CN" altLang="en-US" sz="1800" b="1">
                <a:solidFill>
                  <a:schemeClr val="accent2"/>
                </a:solidFill>
                <a:latin typeface="微软雅黑" panose="020B0503020204020204" pitchFamily="34" charset="-122"/>
                <a:ea typeface="微软雅黑" panose="020B0503020204020204" pitchFamily="34" charset="-122"/>
              </a:rPr>
              <a:t>中</a:t>
            </a:r>
            <a:r>
              <a:rPr lang="zh-CN" altLang="en-US" sz="1800" b="1">
                <a:solidFill>
                  <a:srgbClr val="C00000"/>
                </a:solidFill>
                <a:latin typeface="微软雅黑" panose="020B0503020204020204" pitchFamily="34" charset="-122"/>
                <a:ea typeface="微软雅黑" panose="020B0503020204020204" pitchFamily="34" charset="-122"/>
              </a:rPr>
              <a:t>硬件线程（</a:t>
            </a:r>
            <a:r>
              <a:rPr lang="en-US" altLang="zh-CN" sz="1800" b="1">
                <a:solidFill>
                  <a:srgbClr val="C00000"/>
                </a:solidFill>
                <a:latin typeface="微软雅黑" panose="020B0503020204020204" pitchFamily="34" charset="-122"/>
                <a:ea typeface="微软雅黑" panose="020B0503020204020204" pitchFamily="34" charset="-122"/>
              </a:rPr>
              <a:t>hart</a:t>
            </a:r>
            <a:r>
              <a:rPr lang="zh-CN" altLang="en-US" sz="1800" b="1">
                <a:solidFill>
                  <a:srgbClr val="C00000"/>
                </a:solidFill>
                <a:latin typeface="微软雅黑" panose="020B0503020204020204" pitchFamily="34" charset="-122"/>
                <a:ea typeface="微软雅黑" panose="020B0503020204020204" pitchFamily="34" charset="-122"/>
              </a:rPr>
              <a:t>）</a:t>
            </a:r>
            <a:r>
              <a:rPr lang="zh-CN" altLang="en-US" sz="1800" b="1">
                <a:solidFill>
                  <a:schemeClr val="accent2"/>
                </a:solidFill>
                <a:latin typeface="微软雅黑" panose="020B0503020204020204" pitchFamily="34" charset="-122"/>
                <a:ea typeface="微软雅黑" panose="020B0503020204020204" pitchFamily="34" charset="-122"/>
              </a:rPr>
              <a:t>可以执行的</a:t>
            </a:r>
            <a:r>
              <a:rPr lang="zh-CN" altLang="en-US" sz="1800" b="1">
                <a:solidFill>
                  <a:srgbClr val="FF0000"/>
                </a:solidFill>
                <a:latin typeface="微软雅黑" panose="020B0503020204020204" pitchFamily="34" charset="-122"/>
                <a:ea typeface="微软雅黑" panose="020B0503020204020204" pitchFamily="34" charset="-122"/>
              </a:rPr>
              <a:t>最高权限模式</a:t>
            </a:r>
            <a:r>
              <a:rPr lang="zh-CN" altLang="en-US" sz="1800" b="1">
                <a:solidFill>
                  <a:schemeClr val="accent2"/>
                </a:solidFill>
                <a:latin typeface="微软雅黑" panose="020B0503020204020204" pitchFamily="34" charset="-122"/>
                <a:ea typeface="微软雅黑" panose="020B0503020204020204" pitchFamily="34" charset="-122"/>
              </a:rPr>
              <a:t>。在</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模式下运行的</a:t>
            </a:r>
            <a:r>
              <a:rPr lang="en-US" altLang="zh-CN" sz="1800" b="1">
                <a:solidFill>
                  <a:schemeClr val="accent2"/>
                </a:solidFill>
                <a:latin typeface="微软雅黑" panose="020B0503020204020204" pitchFamily="34" charset="-122"/>
                <a:ea typeface="微软雅黑" panose="020B0503020204020204" pitchFamily="34" charset="-122"/>
              </a:rPr>
              <a:t>hart</a:t>
            </a:r>
            <a:r>
              <a:rPr lang="zh-CN" altLang="en-US" sz="1800" b="1">
                <a:solidFill>
                  <a:schemeClr val="accent2"/>
                </a:solidFill>
                <a:latin typeface="微软雅黑" panose="020B0503020204020204" pitchFamily="34" charset="-122"/>
                <a:ea typeface="微软雅黑" panose="020B0503020204020204" pitchFamily="34" charset="-122"/>
              </a:rPr>
              <a:t>可访问所有资源和所有内存，具有启动和配置系统等系统底层支撑功能。因此，</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模式是所有标准</a:t>
            </a:r>
            <a:r>
              <a:rPr lang="en-US" altLang="zh-CN" sz="1800" b="1">
                <a:solidFill>
                  <a:schemeClr val="accent2"/>
                </a:solidFill>
                <a:latin typeface="微软雅黑" panose="020B0503020204020204" pitchFamily="34" charset="-122"/>
                <a:ea typeface="微软雅黑" panose="020B0503020204020204" pitchFamily="34" charset="-122"/>
              </a:rPr>
              <a:t>RISC-V</a:t>
            </a:r>
            <a:r>
              <a:rPr lang="zh-CN" altLang="en-US" sz="1800" b="1">
                <a:solidFill>
                  <a:schemeClr val="accent2"/>
                </a:solidFill>
                <a:latin typeface="微软雅黑" panose="020B0503020204020204" pitchFamily="34" charset="-122"/>
                <a:ea typeface="微软雅黑" panose="020B0503020204020204" pitchFamily="34" charset="-122"/>
              </a:rPr>
              <a:t>处理器都</a:t>
            </a:r>
            <a:r>
              <a:rPr lang="zh-CN" altLang="en-US" sz="1800" b="1">
                <a:solidFill>
                  <a:srgbClr val="FF0000"/>
                </a:solidFill>
                <a:latin typeface="微软雅黑" panose="020B0503020204020204" pitchFamily="34" charset="-122"/>
                <a:ea typeface="微软雅黑" panose="020B0503020204020204" pitchFamily="34" charset="-122"/>
              </a:rPr>
              <a:t>必须实现的运行模式</a:t>
            </a:r>
            <a:r>
              <a:rPr lang="zh-CN" altLang="en-US" sz="1800" b="1">
                <a:solidFill>
                  <a:schemeClr val="accent2"/>
                </a:solidFill>
                <a:latin typeface="微软雅黑" panose="020B0503020204020204" pitchFamily="34" charset="-122"/>
                <a:ea typeface="微软雅黑" panose="020B0503020204020204" pitchFamily="34" charset="-122"/>
              </a:rPr>
              <a:t>。通常，</a:t>
            </a:r>
            <a:r>
              <a:rPr lang="zh-CN" altLang="en-US" sz="1800" b="1">
                <a:solidFill>
                  <a:srgbClr val="FF0000"/>
                </a:solidFill>
                <a:latin typeface="微软雅黑" panose="020B0503020204020204" pitchFamily="34" charset="-122"/>
                <a:ea typeface="微软雅黑" panose="020B0503020204020204" pitchFamily="34" charset="-122"/>
              </a:rPr>
              <a:t>用于嵌入式系统的简单</a:t>
            </a:r>
            <a:r>
              <a:rPr lang="en-US" altLang="zh-CN" sz="1800" b="1">
                <a:solidFill>
                  <a:srgbClr val="FF0000"/>
                </a:solidFill>
                <a:latin typeface="微软雅黑" panose="020B0503020204020204" pitchFamily="34" charset="-122"/>
                <a:ea typeface="微软雅黑" panose="020B0503020204020204" pitchFamily="34" charset="-122"/>
              </a:rPr>
              <a:t>RISC-V</a:t>
            </a:r>
            <a:r>
              <a:rPr lang="zh-CN" altLang="en-US" sz="1800" b="1">
                <a:solidFill>
                  <a:srgbClr val="FF0000"/>
                </a:solidFill>
                <a:latin typeface="微软雅黑" panose="020B0503020204020204" pitchFamily="34" charset="-122"/>
                <a:ea typeface="微软雅黑" panose="020B0503020204020204" pitchFamily="34" charset="-122"/>
              </a:rPr>
              <a:t>微控制器仅支持</a:t>
            </a:r>
            <a:r>
              <a:rPr lang="en-US" altLang="zh-CN" sz="1800" b="1">
                <a:solidFill>
                  <a:srgbClr val="FF0000"/>
                </a:solidFill>
                <a:latin typeface="微软雅黑" panose="020B0503020204020204" pitchFamily="34" charset="-122"/>
                <a:ea typeface="微软雅黑" panose="020B0503020204020204" pitchFamily="34" charset="-122"/>
              </a:rPr>
              <a:t>M</a:t>
            </a:r>
            <a:r>
              <a:rPr lang="zh-CN" altLang="en-US" sz="1800" b="1">
                <a:solidFill>
                  <a:srgbClr val="FF0000"/>
                </a:solidFill>
                <a:latin typeface="微软雅黑" panose="020B0503020204020204" pitchFamily="34" charset="-122"/>
                <a:ea typeface="微软雅黑" panose="020B0503020204020204" pitchFamily="34" charset="-122"/>
              </a:rPr>
              <a:t>模式</a:t>
            </a:r>
            <a:r>
              <a:rPr lang="zh-CN" altLang="en-US" sz="1800" b="1">
                <a:solidFill>
                  <a:schemeClr val="accent2"/>
                </a:solidFill>
                <a:latin typeface="微软雅黑" panose="020B0503020204020204" pitchFamily="34" charset="-122"/>
                <a:ea typeface="微软雅黑" panose="020B0503020204020204" pitchFamily="34" charset="-122"/>
              </a:rPr>
              <a:t>。</a:t>
            </a:r>
            <a:endParaRPr lang="en-US" altLang="zh-CN" sz="1800" b="1">
              <a:solidFill>
                <a:schemeClr val="accent2"/>
              </a:solidFill>
              <a:latin typeface="微软雅黑" panose="020B0503020204020204" pitchFamily="34" charset="-122"/>
              <a:ea typeface="微软雅黑" panose="020B0503020204020204" pitchFamily="34" charset="-122"/>
            </a:endParaRPr>
          </a:p>
          <a:p>
            <a:pPr>
              <a:lnSpc>
                <a:spcPct val="125000"/>
              </a:lnSpc>
              <a:spcBef>
                <a:spcPts val="1200"/>
              </a:spcBef>
              <a:buSzPct val="100000"/>
              <a:buFontTx/>
              <a:buChar char="–"/>
            </a:pPr>
            <a:r>
              <a:rPr lang="zh-CN" altLang="en-US" sz="1800" b="1">
                <a:latin typeface="微软雅黑" panose="020B0503020204020204" pitchFamily="34" charset="-122"/>
                <a:ea typeface="微软雅黑" panose="020B0503020204020204" pitchFamily="34" charset="-122"/>
              </a:rPr>
              <a:t>用户模式（</a:t>
            </a:r>
            <a:r>
              <a:rPr lang="en-US" altLang="zh-CN" sz="1800" b="1">
                <a:latin typeface="微软雅黑" panose="020B0503020204020204" pitchFamily="34" charset="-122"/>
                <a:ea typeface="微软雅黑" panose="020B0503020204020204" pitchFamily="34" charset="-122"/>
              </a:rPr>
              <a:t>User Mode</a:t>
            </a:r>
            <a:r>
              <a:rPr lang="zh-CN" altLang="en-US" sz="1800" b="1">
                <a:latin typeface="微软雅黑" panose="020B0503020204020204" pitchFamily="34" charset="-122"/>
                <a:ea typeface="微软雅黑" panose="020B0503020204020204" pitchFamily="34" charset="-122"/>
              </a:rPr>
              <a:t>）</a:t>
            </a:r>
            <a:endParaRPr lang="en-US" altLang="zh-CN" sz="1800" b="1">
              <a:latin typeface="微软雅黑" panose="020B0503020204020204" pitchFamily="34" charset="-122"/>
              <a:ea typeface="微软雅黑" panose="020B0503020204020204" pitchFamily="34" charset="-122"/>
            </a:endParaRPr>
          </a:p>
          <a:p>
            <a:pPr lvl="1">
              <a:lnSpc>
                <a:spcPct val="12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也称为</a:t>
            </a:r>
            <a:r>
              <a:rPr lang="en-US" altLang="zh-CN" sz="1800" b="1">
                <a:solidFill>
                  <a:srgbClr val="FF0000"/>
                </a:solidFill>
                <a:latin typeface="微软雅黑" panose="020B0503020204020204" pitchFamily="34" charset="-122"/>
                <a:ea typeface="微软雅黑" panose="020B0503020204020204" pitchFamily="34" charset="-122"/>
              </a:rPr>
              <a:t>U</a:t>
            </a:r>
            <a:r>
              <a:rPr lang="zh-CN" altLang="en-US" sz="1800" b="1">
                <a:solidFill>
                  <a:srgbClr val="FF0000"/>
                </a:solidFill>
                <a:latin typeface="微软雅黑" panose="020B0503020204020204" pitchFamily="34" charset="-122"/>
                <a:ea typeface="微软雅黑" panose="020B0503020204020204" pitchFamily="34" charset="-122"/>
              </a:rPr>
              <a:t>模式</a:t>
            </a:r>
            <a:r>
              <a:rPr lang="zh-CN" altLang="en-US" sz="1800" b="1">
                <a:solidFill>
                  <a:schemeClr val="accent2"/>
                </a:solidFill>
                <a:latin typeface="微软雅黑" panose="020B0503020204020204" pitchFamily="34" charset="-122"/>
                <a:ea typeface="微软雅黑" panose="020B0503020204020204" pitchFamily="34" charset="-122"/>
              </a:rPr>
              <a:t>。为阻止不可信代码通过特权指令访问系统中重要的信息或控制系统的行为，</a:t>
            </a:r>
            <a:r>
              <a:rPr lang="en-US" altLang="zh-CN" sz="1800" b="1">
                <a:solidFill>
                  <a:schemeClr val="accent2"/>
                </a:solidFill>
                <a:latin typeface="微软雅黑" panose="020B0503020204020204" pitchFamily="34" charset="-122"/>
                <a:ea typeface="微软雅黑" panose="020B0503020204020204" pitchFamily="34" charset="-122"/>
              </a:rPr>
              <a:t>RISC-V</a:t>
            </a:r>
            <a:r>
              <a:rPr lang="zh-CN" altLang="en-US" sz="1800" b="1">
                <a:solidFill>
                  <a:schemeClr val="accent2"/>
                </a:solidFill>
                <a:latin typeface="微软雅黑" panose="020B0503020204020204" pitchFamily="34" charset="-122"/>
                <a:ea typeface="微软雅黑" panose="020B0503020204020204" pitchFamily="34" charset="-122"/>
              </a:rPr>
              <a:t>把处理器</a:t>
            </a:r>
            <a:r>
              <a:rPr lang="zh-CN" altLang="en-US" sz="1800" b="1">
                <a:solidFill>
                  <a:srgbClr val="FF0000"/>
                </a:solidFill>
                <a:latin typeface="微软雅黑" panose="020B0503020204020204" pitchFamily="34" charset="-122"/>
                <a:ea typeface="微软雅黑" panose="020B0503020204020204" pitchFamily="34" charset="-122"/>
              </a:rPr>
              <a:t>执行普通应用程序</a:t>
            </a:r>
            <a:r>
              <a:rPr lang="zh-CN" altLang="en-US" sz="1800" b="1">
                <a:solidFill>
                  <a:schemeClr val="accent2"/>
                </a:solidFill>
                <a:latin typeface="微软雅黑" panose="020B0503020204020204" pitchFamily="34" charset="-122"/>
                <a:ea typeface="微软雅黑" panose="020B0503020204020204" pitchFamily="34" charset="-122"/>
              </a:rPr>
              <a:t>时的模式定义为用户模式。在</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模式下</a:t>
            </a:r>
            <a:r>
              <a:rPr lang="zh-CN" altLang="en-US" sz="1800" b="1">
                <a:solidFill>
                  <a:srgbClr val="FF0000"/>
                </a:solidFill>
                <a:latin typeface="微软雅黑" panose="020B0503020204020204" pitchFamily="34" charset="-122"/>
                <a:ea typeface="微软雅黑" panose="020B0503020204020204" pitchFamily="34" charset="-122"/>
              </a:rPr>
              <a:t>只能执行各类普通指令</a:t>
            </a:r>
            <a:r>
              <a:rPr lang="zh-CN" altLang="en-US" sz="1800" b="1">
                <a:solidFill>
                  <a:schemeClr val="accent2"/>
                </a:solidFill>
                <a:latin typeface="微软雅黑" panose="020B0503020204020204" pitchFamily="34" charset="-122"/>
                <a:ea typeface="微软雅黑" panose="020B0503020204020204" pitchFamily="34" charset="-122"/>
              </a:rPr>
              <a:t>，不能执行特权指令。安全的嵌入式系统一般支持</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模式，执行</a:t>
            </a:r>
            <a:r>
              <a:rPr lang="en-US" altLang="zh-CN" sz="1800" b="1">
                <a:solidFill>
                  <a:srgbClr val="FF0000"/>
                </a:solidFill>
                <a:latin typeface="微软雅黑" panose="020B0503020204020204" pitchFamily="34" charset="-122"/>
                <a:ea typeface="微软雅黑" panose="020B0503020204020204" pitchFamily="34" charset="-122"/>
              </a:rPr>
              <a:t>ecall</a:t>
            </a:r>
            <a:r>
              <a:rPr lang="zh-CN" altLang="en-US" sz="1800" b="1">
                <a:solidFill>
                  <a:schemeClr val="accent2"/>
                </a:solidFill>
                <a:latin typeface="微软雅黑" panose="020B0503020204020204" pitchFamily="34" charset="-122"/>
                <a:ea typeface="微软雅黑" panose="020B0503020204020204" pitchFamily="34" charset="-122"/>
              </a:rPr>
              <a:t>指令</a:t>
            </a:r>
            <a:r>
              <a:rPr lang="zh-CN" altLang="en-US" sz="1800" b="1">
                <a:solidFill>
                  <a:srgbClr val="FF0000"/>
                </a:solidFill>
                <a:latin typeface="微软雅黑" panose="020B0503020204020204" pitchFamily="34" charset="-122"/>
                <a:ea typeface="微软雅黑" panose="020B0503020204020204" pitchFamily="34" charset="-122"/>
              </a:rPr>
              <a:t>从</a:t>
            </a:r>
            <a:r>
              <a:rPr lang="en-US" altLang="zh-CN" sz="1800" b="1">
                <a:solidFill>
                  <a:srgbClr val="FF0000"/>
                </a:solidFill>
                <a:latin typeface="微软雅黑" panose="020B0503020204020204" pitchFamily="34" charset="-122"/>
                <a:ea typeface="微软雅黑" panose="020B0503020204020204" pitchFamily="34" charset="-122"/>
              </a:rPr>
              <a:t>U→M</a:t>
            </a:r>
            <a:r>
              <a:rPr lang="zh-CN" altLang="en-US" sz="1800" b="1">
                <a:solidFill>
                  <a:schemeClr val="accent2"/>
                </a:solidFill>
                <a:latin typeface="微软雅黑" panose="020B0503020204020204" pitchFamily="34" charset="-122"/>
                <a:ea typeface="微软雅黑" panose="020B0503020204020204" pitchFamily="34" charset="-122"/>
              </a:rPr>
              <a:t>模式，执行</a:t>
            </a:r>
            <a:r>
              <a:rPr lang="en-US" altLang="zh-CN" sz="1800" b="1">
                <a:solidFill>
                  <a:srgbClr val="FF0000"/>
                </a:solidFill>
                <a:latin typeface="微软雅黑" panose="020B0503020204020204" pitchFamily="34" charset="-122"/>
                <a:ea typeface="微软雅黑" panose="020B0503020204020204" pitchFamily="34" charset="-122"/>
              </a:rPr>
              <a:t>mret</a:t>
            </a:r>
            <a:r>
              <a:rPr lang="zh-CN" altLang="en-US" sz="1800" b="1">
                <a:solidFill>
                  <a:schemeClr val="accent2"/>
                </a:solidFill>
                <a:latin typeface="微软雅黑" panose="020B0503020204020204" pitchFamily="34" charset="-122"/>
                <a:ea typeface="微软雅黑" panose="020B0503020204020204" pitchFamily="34" charset="-122"/>
              </a:rPr>
              <a:t>指令</a:t>
            </a:r>
            <a:r>
              <a:rPr lang="zh-CN" altLang="en-US" sz="1800" b="1">
                <a:solidFill>
                  <a:srgbClr val="FF0000"/>
                </a:solidFill>
                <a:latin typeface="微软雅黑" panose="020B0503020204020204" pitchFamily="34" charset="-122"/>
                <a:ea typeface="微软雅黑" panose="020B0503020204020204" pitchFamily="34" charset="-122"/>
              </a:rPr>
              <a:t>从</a:t>
            </a:r>
            <a:r>
              <a:rPr lang="en-US" altLang="zh-CN" sz="1800" b="1">
                <a:solidFill>
                  <a:srgbClr val="FF0000"/>
                </a:solidFill>
                <a:latin typeface="微软雅黑" panose="020B0503020204020204" pitchFamily="34" charset="-122"/>
                <a:ea typeface="微软雅黑" panose="020B0503020204020204" pitchFamily="34" charset="-122"/>
              </a:rPr>
              <a:t>M→U</a:t>
            </a:r>
            <a:r>
              <a:rPr lang="zh-CN" altLang="en-US" sz="1800" b="1">
                <a:solidFill>
                  <a:schemeClr val="accent2"/>
                </a:solidFill>
                <a:latin typeface="微软雅黑" panose="020B0503020204020204" pitchFamily="34" charset="-122"/>
                <a:ea typeface="微软雅黑" panose="020B0503020204020204" pitchFamily="34" charset="-122"/>
              </a:rPr>
              <a:t>模式。</a:t>
            </a:r>
            <a:endParaRPr lang="en-US" altLang="zh-CN" sz="1800" b="1">
              <a:solidFill>
                <a:schemeClr val="accent2"/>
              </a:solidFill>
              <a:latin typeface="微软雅黑" panose="020B0503020204020204" pitchFamily="34" charset="-122"/>
              <a:ea typeface="微软雅黑" panose="020B0503020204020204" pitchFamily="34" charset="-122"/>
            </a:endParaRPr>
          </a:p>
          <a:p>
            <a:pPr>
              <a:lnSpc>
                <a:spcPct val="125000"/>
              </a:lnSpc>
              <a:spcBef>
                <a:spcPts val="1200"/>
              </a:spcBef>
              <a:buSzPct val="100000"/>
              <a:buFontTx/>
              <a:buChar char="–"/>
            </a:pPr>
            <a:r>
              <a:rPr lang="zh-CN" altLang="en-US" sz="1800" b="1">
                <a:latin typeface="微软雅黑" panose="020B0503020204020204" pitchFamily="34" charset="-122"/>
                <a:ea typeface="微软雅黑" panose="020B0503020204020204" pitchFamily="34" charset="-122"/>
              </a:rPr>
              <a:t>监管模式（</a:t>
            </a:r>
            <a:r>
              <a:rPr lang="en-US" altLang="zh-CN" sz="1800" b="1">
                <a:latin typeface="微软雅黑" panose="020B0503020204020204" pitchFamily="34" charset="-122"/>
                <a:ea typeface="微软雅黑" panose="020B0503020204020204" pitchFamily="34" charset="-122"/>
              </a:rPr>
              <a:t>Supervisor Mode</a:t>
            </a:r>
            <a:r>
              <a:rPr lang="zh-CN" altLang="en-US" sz="1800" b="1">
                <a:latin typeface="微软雅黑" panose="020B0503020204020204" pitchFamily="34" charset="-122"/>
                <a:ea typeface="微软雅黑" panose="020B0503020204020204" pitchFamily="34" charset="-122"/>
              </a:rPr>
              <a:t>）</a:t>
            </a:r>
            <a:endParaRPr lang="en-US" altLang="zh-CN" sz="1800" b="1">
              <a:latin typeface="微软雅黑" panose="020B0503020204020204" pitchFamily="34" charset="-122"/>
              <a:ea typeface="微软雅黑" panose="020B0503020204020204" pitchFamily="34" charset="-122"/>
            </a:endParaRPr>
          </a:p>
          <a:p>
            <a:pPr lvl="1">
              <a:lnSpc>
                <a:spcPct val="12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也称为</a:t>
            </a:r>
            <a:r>
              <a:rPr lang="en-US" altLang="zh-CN" sz="1800" b="1">
                <a:solidFill>
                  <a:srgbClr val="FF0000"/>
                </a:solidFill>
                <a:latin typeface="微软雅黑" panose="020B0503020204020204" pitchFamily="34" charset="-122"/>
                <a:ea typeface="微软雅黑" panose="020B0503020204020204" pitchFamily="34" charset="-122"/>
              </a:rPr>
              <a:t>S</a:t>
            </a:r>
            <a:r>
              <a:rPr lang="zh-CN" altLang="en-US" sz="1800" b="1">
                <a:solidFill>
                  <a:srgbClr val="FF0000"/>
                </a:solidFill>
                <a:latin typeface="微软雅黑" panose="020B0503020204020204" pitchFamily="34" charset="-122"/>
                <a:ea typeface="微软雅黑" panose="020B0503020204020204" pitchFamily="34" charset="-122"/>
              </a:rPr>
              <a:t>模式</a:t>
            </a:r>
            <a:r>
              <a:rPr lang="zh-CN" altLang="en-US" sz="1800" b="1">
                <a:solidFill>
                  <a:schemeClr val="accent2"/>
                </a:solidFill>
                <a:latin typeface="微软雅黑" panose="020B0503020204020204" pitchFamily="34" charset="-122"/>
                <a:ea typeface="微软雅黑" panose="020B0503020204020204" pitchFamily="34" charset="-122"/>
              </a:rPr>
              <a:t>。复杂的</a:t>
            </a:r>
            <a:r>
              <a:rPr lang="en-US" altLang="zh-CN" sz="1800" b="1">
                <a:solidFill>
                  <a:schemeClr val="accent2"/>
                </a:solidFill>
                <a:latin typeface="微软雅黑" panose="020B0503020204020204" pitchFamily="34" charset="-122"/>
                <a:ea typeface="微软雅黑" panose="020B0503020204020204" pitchFamily="34" charset="-122"/>
              </a:rPr>
              <a:t>RISC-V</a:t>
            </a:r>
            <a:r>
              <a:rPr lang="zh-CN" altLang="en-US" sz="1800" b="1">
                <a:solidFill>
                  <a:schemeClr val="accent2"/>
                </a:solidFill>
                <a:latin typeface="微软雅黑" panose="020B0503020204020204" pitchFamily="34" charset="-122"/>
                <a:ea typeface="微软雅黑" panose="020B0503020204020204" pitchFamily="34" charset="-122"/>
              </a:rPr>
              <a:t>系统会使用请求分页虚拟存储管理方式，对应的运行模式为支持存储保护的</a:t>
            </a: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模式。因此，</a:t>
            </a:r>
            <a:r>
              <a:rPr lang="zh-CN" altLang="en-US" sz="1800" b="1">
                <a:solidFill>
                  <a:srgbClr val="FF0000"/>
                </a:solidFill>
                <a:latin typeface="微软雅黑" panose="020B0503020204020204" pitchFamily="34" charset="-122"/>
                <a:ea typeface="微软雅黑" panose="020B0503020204020204" pitchFamily="34" charset="-122"/>
              </a:rPr>
              <a:t>操作系统内核程序运行在</a:t>
            </a:r>
            <a:r>
              <a:rPr lang="en-US" altLang="zh-CN" sz="1800" b="1">
                <a:solidFill>
                  <a:srgbClr val="FF0000"/>
                </a:solidFill>
                <a:latin typeface="微软雅黑" panose="020B0503020204020204" pitchFamily="34" charset="-122"/>
                <a:ea typeface="微软雅黑" panose="020B0503020204020204" pitchFamily="34" charset="-122"/>
              </a:rPr>
              <a:t>S</a:t>
            </a:r>
            <a:r>
              <a:rPr lang="zh-CN" altLang="en-US" sz="1800" b="1">
                <a:solidFill>
                  <a:srgbClr val="FF0000"/>
                </a:solidFill>
                <a:latin typeface="微软雅黑" panose="020B0503020204020204" pitchFamily="34" charset="-122"/>
                <a:ea typeface="微软雅黑" panose="020B0503020204020204" pitchFamily="34" charset="-122"/>
              </a:rPr>
              <a:t>模式下</a:t>
            </a:r>
            <a:r>
              <a:rPr lang="zh-CN" altLang="en-US" sz="1800" b="1">
                <a:solidFill>
                  <a:schemeClr val="accent2"/>
                </a:solidFill>
                <a:latin typeface="微软雅黑" panose="020B0503020204020204" pitchFamily="34" charset="-122"/>
                <a:ea typeface="微软雅黑" panose="020B0503020204020204" pitchFamily="34" charset="-122"/>
              </a:rPr>
              <a:t>。</a:t>
            </a:r>
            <a:endParaRPr lang="en-US" altLang="zh-CN" sz="1800" b="1">
              <a:solidFill>
                <a:schemeClr val="accent2"/>
              </a:solidFill>
              <a:latin typeface="微软雅黑" panose="020B0503020204020204" pitchFamily="34" charset="-122"/>
              <a:ea typeface="微软雅黑" panose="020B0503020204020204" pitchFamily="34" charset="-122"/>
            </a:endParaRPr>
          </a:p>
          <a:p>
            <a:pPr lvl="1">
              <a:lnSpc>
                <a:spcPct val="12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在</a:t>
            </a:r>
            <a:r>
              <a:rPr lang="zh-CN" altLang="en-US" sz="1800" b="1">
                <a:solidFill>
                  <a:srgbClr val="FF0000"/>
                </a:solidFill>
                <a:latin typeface="微软雅黑" panose="020B0503020204020204" pitchFamily="34" charset="-122"/>
                <a:ea typeface="微软雅黑" panose="020B0503020204020204" pitchFamily="34" charset="-122"/>
              </a:rPr>
              <a:t>支持</a:t>
            </a:r>
            <a:r>
              <a:rPr lang="en-US" altLang="zh-CN" sz="1800" b="1">
                <a:solidFill>
                  <a:srgbClr val="FF0000"/>
                </a:solidFill>
                <a:latin typeface="微软雅黑" panose="020B0503020204020204" pitchFamily="34" charset="-122"/>
                <a:ea typeface="微软雅黑" panose="020B0503020204020204" pitchFamily="34" charset="-122"/>
              </a:rPr>
              <a:t>M</a:t>
            </a:r>
            <a:r>
              <a:rPr lang="zh-CN" altLang="en-US" sz="1800" b="1">
                <a:solidFill>
                  <a:srgbClr val="FF0000"/>
                </a:solidFill>
                <a:latin typeface="微软雅黑" panose="020B0503020204020204" pitchFamily="34" charset="-122"/>
                <a:ea typeface="微软雅黑" panose="020B0503020204020204" pitchFamily="34" charset="-122"/>
              </a:rPr>
              <a:t>、</a:t>
            </a:r>
            <a:r>
              <a:rPr lang="en-US" altLang="zh-CN" sz="1800" b="1">
                <a:solidFill>
                  <a:srgbClr val="FF0000"/>
                </a:solidFill>
                <a:latin typeface="微软雅黑" panose="020B0503020204020204" pitchFamily="34" charset="-122"/>
                <a:ea typeface="微软雅黑" panose="020B0503020204020204" pitchFamily="34" charset="-122"/>
              </a:rPr>
              <a:t>S</a:t>
            </a:r>
            <a:r>
              <a:rPr lang="zh-CN" altLang="en-US" sz="1800" b="1">
                <a:solidFill>
                  <a:srgbClr val="FF0000"/>
                </a:solidFill>
                <a:latin typeface="微软雅黑" panose="020B0503020204020204" pitchFamily="34" charset="-122"/>
                <a:ea typeface="微软雅黑" panose="020B0503020204020204" pitchFamily="34" charset="-122"/>
              </a:rPr>
              <a:t>和</a:t>
            </a:r>
            <a:r>
              <a:rPr lang="en-US" altLang="zh-CN" sz="1800" b="1">
                <a:solidFill>
                  <a:srgbClr val="FF0000"/>
                </a:solidFill>
                <a:latin typeface="微软雅黑" panose="020B0503020204020204" pitchFamily="34" charset="-122"/>
                <a:ea typeface="微软雅黑" panose="020B0503020204020204" pitchFamily="34" charset="-122"/>
              </a:rPr>
              <a:t>U</a:t>
            </a:r>
            <a:r>
              <a:rPr lang="zh-CN" altLang="en-US" sz="1800" b="1">
                <a:solidFill>
                  <a:srgbClr val="FF0000"/>
                </a:solidFill>
                <a:latin typeface="微软雅黑" panose="020B0503020204020204" pitchFamily="34" charset="-122"/>
                <a:ea typeface="微软雅黑" panose="020B0503020204020204" pitchFamily="34" charset="-122"/>
              </a:rPr>
              <a:t>三种模式</a:t>
            </a:r>
            <a:r>
              <a:rPr lang="zh-CN" altLang="en-US" sz="1800" b="1">
                <a:solidFill>
                  <a:schemeClr val="accent2"/>
                </a:solidFill>
                <a:latin typeface="微软雅黑" panose="020B0503020204020204" pitchFamily="34" charset="-122"/>
                <a:ea typeface="微软雅黑" panose="020B0503020204020204" pitchFamily="34" charset="-122"/>
              </a:rPr>
              <a:t>的系统中，可实现类似</a:t>
            </a:r>
            <a:r>
              <a:rPr lang="en-US" altLang="zh-CN" sz="1800" b="1">
                <a:solidFill>
                  <a:schemeClr val="accent2"/>
                </a:solidFill>
                <a:latin typeface="微软雅黑" panose="020B0503020204020204" pitchFamily="34" charset="-122"/>
                <a:ea typeface="微软雅黑" panose="020B0503020204020204" pitchFamily="34" charset="-122"/>
              </a:rPr>
              <a:t>UNIX</a:t>
            </a:r>
            <a:r>
              <a:rPr lang="zh-CN" altLang="en-US" sz="1800" b="1">
                <a:solidFill>
                  <a:schemeClr val="accent2"/>
                </a:solidFill>
                <a:latin typeface="微软雅黑" panose="020B0503020204020204" pitchFamily="34" charset="-122"/>
                <a:ea typeface="微软雅黑" panose="020B0503020204020204" pitchFamily="34" charset="-122"/>
              </a:rPr>
              <a:t>的操作系统。</a:t>
            </a:r>
            <a:endParaRPr lang="en-US" altLang="zh-CN" sz="1800" b="1">
              <a:solidFill>
                <a:schemeClr val="accent2"/>
              </a:solidFill>
              <a:latin typeface="微软雅黑" panose="020B0503020204020204" pitchFamily="34" charset="-122"/>
              <a:ea typeface="微软雅黑" panose="020B0503020204020204" pitchFamily="34" charset="-122"/>
            </a:endParaRPr>
          </a:p>
          <a:p>
            <a:pPr lvl="1">
              <a:lnSpc>
                <a:spcPct val="125000"/>
              </a:lnSpc>
              <a:spcBef>
                <a:spcPct val="15000"/>
              </a:spcBef>
              <a:buSzPct val="100000"/>
            </a:pPr>
            <a:r>
              <a:rPr lang="en-US" altLang="zh-CN" sz="1800" b="1">
                <a:latin typeface="微软雅黑" panose="020B0503020204020204" pitchFamily="34" charset="-122"/>
                <a:ea typeface="微软雅黑" panose="020B0503020204020204" pitchFamily="34" charset="-122"/>
              </a:rPr>
              <a:t>RISC-V</a:t>
            </a:r>
            <a:r>
              <a:rPr lang="zh-CN" altLang="en-US" sz="1800" b="1">
                <a:latin typeface="微软雅黑" panose="020B0503020204020204" pitchFamily="34" charset="-122"/>
                <a:ea typeface="微软雅黑" panose="020B0503020204020204" pitchFamily="34" charset="-122"/>
              </a:rPr>
              <a:t>当前的特权模式属于处理器的内部状态，软件无法直接查询。</a:t>
            </a:r>
            <a:endParaRPr lang="en-US" altLang="zh-CN" sz="1800" b="1">
              <a:latin typeface="微软雅黑" panose="020B0503020204020204" pitchFamily="34" charset="-122"/>
              <a:ea typeface="微软雅黑" panose="020B0503020204020204" pitchFamily="34" charset="-122"/>
            </a:endParaRPr>
          </a:p>
          <a:p>
            <a:pPr lvl="1">
              <a:lnSpc>
                <a:spcPct val="125000"/>
              </a:lnSpc>
              <a:spcBef>
                <a:spcPct val="15000"/>
              </a:spcBef>
              <a:buSzPct val="100000"/>
            </a:pPr>
            <a:r>
              <a:rPr lang="zh-CN" altLang="en-US" sz="1800" b="1">
                <a:latin typeface="微软雅黑" panose="020B0503020204020204" pitchFamily="34" charset="-122"/>
                <a:ea typeface="微软雅黑" panose="020B0503020204020204" pitchFamily="34" charset="-122"/>
              </a:rPr>
              <a:t>模式位占两位，</a:t>
            </a:r>
            <a:r>
              <a:rPr lang="en-US" altLang="zh-CN" sz="1800" b="1">
                <a:latin typeface="微软雅黑" panose="020B0503020204020204" pitchFamily="34" charset="-122"/>
                <a:ea typeface="微软雅黑" panose="020B0503020204020204" pitchFamily="34" charset="-122"/>
              </a:rPr>
              <a:t>00</a:t>
            </a:r>
            <a:r>
              <a:rPr lang="zh-CN" altLang="en-US" sz="1800" b="1">
                <a:latin typeface="微软雅黑" panose="020B0503020204020204" pitchFamily="34" charset="-122"/>
                <a:ea typeface="微软雅黑" panose="020B0503020204020204" pitchFamily="34" charset="-122"/>
              </a:rPr>
              <a:t>：</a:t>
            </a:r>
            <a:r>
              <a:rPr lang="en-US" altLang="zh-CN" sz="1800" b="1">
                <a:latin typeface="微软雅黑" panose="020B0503020204020204" pitchFamily="34" charset="-122"/>
                <a:ea typeface="微软雅黑" panose="020B0503020204020204" pitchFamily="34" charset="-122"/>
              </a:rPr>
              <a:t>U</a:t>
            </a:r>
            <a:r>
              <a:rPr lang="zh-CN" altLang="en-US" sz="1800" b="1">
                <a:latin typeface="微软雅黑" panose="020B0503020204020204" pitchFamily="34" charset="-122"/>
                <a:ea typeface="微软雅黑" panose="020B0503020204020204" pitchFamily="34" charset="-122"/>
              </a:rPr>
              <a:t>模式；</a:t>
            </a:r>
            <a:r>
              <a:rPr lang="en-US" altLang="zh-CN" sz="1800" b="1">
                <a:latin typeface="微软雅黑" panose="020B0503020204020204" pitchFamily="34" charset="-122"/>
                <a:ea typeface="微软雅黑" panose="020B0503020204020204" pitchFamily="34" charset="-122"/>
              </a:rPr>
              <a:t>01</a:t>
            </a:r>
            <a:r>
              <a:rPr lang="zh-CN" altLang="en-US" sz="1800" b="1">
                <a:latin typeface="微软雅黑" panose="020B0503020204020204" pitchFamily="34" charset="-122"/>
                <a:ea typeface="微软雅黑" panose="020B0503020204020204" pitchFamily="34" charset="-122"/>
              </a:rPr>
              <a:t>：</a:t>
            </a:r>
            <a:r>
              <a:rPr lang="en-US" altLang="zh-CN" sz="1800" b="1">
                <a:latin typeface="微软雅黑" panose="020B0503020204020204" pitchFamily="34" charset="-122"/>
                <a:ea typeface="微软雅黑" panose="020B0503020204020204" pitchFamily="34" charset="-122"/>
              </a:rPr>
              <a:t>S</a:t>
            </a:r>
            <a:r>
              <a:rPr lang="zh-CN" altLang="en-US" sz="1800" b="1">
                <a:latin typeface="微软雅黑" panose="020B0503020204020204" pitchFamily="34" charset="-122"/>
                <a:ea typeface="微软雅黑" panose="020B0503020204020204" pitchFamily="34" charset="-122"/>
              </a:rPr>
              <a:t>模式；</a:t>
            </a:r>
            <a:r>
              <a:rPr lang="en-US" altLang="zh-CN" sz="1800" b="1">
                <a:latin typeface="微软雅黑" panose="020B0503020204020204" pitchFamily="34" charset="-122"/>
                <a:ea typeface="微软雅黑" panose="020B0503020204020204" pitchFamily="34" charset="-122"/>
              </a:rPr>
              <a:t>11</a:t>
            </a:r>
            <a:r>
              <a:rPr lang="zh-CN" altLang="en-US" sz="1800" b="1">
                <a:latin typeface="微软雅黑" panose="020B0503020204020204" pitchFamily="34" charset="-122"/>
                <a:ea typeface="微软雅黑" panose="020B0503020204020204" pitchFamily="34" charset="-122"/>
              </a:rPr>
              <a:t>：</a:t>
            </a:r>
            <a:r>
              <a:rPr lang="en-US" altLang="zh-CN" sz="1800" b="1">
                <a:latin typeface="微软雅黑" panose="020B0503020204020204" pitchFamily="34" charset="-122"/>
                <a:ea typeface="微软雅黑" panose="020B0503020204020204" pitchFamily="34" charset="-122"/>
              </a:rPr>
              <a:t>M</a:t>
            </a:r>
            <a:r>
              <a:rPr lang="zh-CN" altLang="en-US" sz="1800" b="1">
                <a:latin typeface="微软雅黑" panose="020B0503020204020204" pitchFamily="34" charset="-122"/>
                <a:ea typeface="微软雅黑" panose="020B0503020204020204" pitchFamily="34" charset="-122"/>
              </a:rPr>
              <a:t>模式。</a:t>
            </a:r>
          </a:p>
        </p:txBody>
      </p:sp>
      <p:sp>
        <p:nvSpPr>
          <p:cNvPr id="260099" name="Rectangle 5">
            <a:extLst>
              <a:ext uri="{FF2B5EF4-FFF2-40B4-BE49-F238E27FC236}">
                <a16:creationId xmlns:a16="http://schemas.microsoft.com/office/drawing/2014/main" id="{7EF5857E-F26B-4943-9E40-AFFA662CD2AE}"/>
              </a:ext>
            </a:extLst>
          </p:cNvPr>
          <p:cNvSpPr>
            <a:spLocks noGrp="1" noChangeArrowheads="1"/>
          </p:cNvSpPr>
          <p:nvPr>
            <p:ph type="title"/>
          </p:nvPr>
        </p:nvSpPr>
        <p:spPr>
          <a:xfrm>
            <a:off x="342900" y="114300"/>
            <a:ext cx="8096250" cy="533400"/>
          </a:xfrm>
          <a:noFill/>
        </p:spPr>
        <p:txBody>
          <a:bodyPr/>
          <a:lstStyle/>
          <a:p>
            <a:r>
              <a:rPr lang="en-US" altLang="zh-CN"/>
              <a:t>RISC-V</a:t>
            </a:r>
            <a:r>
              <a:rPr lang="zh-CN" altLang="en-US"/>
              <a:t>的三种特权模式</a:t>
            </a:r>
            <a:endParaRPr lang="en-US" altLang="zh-CN">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4">
            <a:extLst>
              <a:ext uri="{FF2B5EF4-FFF2-40B4-BE49-F238E27FC236}">
                <a16:creationId xmlns:a16="http://schemas.microsoft.com/office/drawing/2014/main" id="{0F24F287-881D-0249-BF18-355757B07723}"/>
              </a:ext>
            </a:extLst>
          </p:cNvPr>
          <p:cNvSpPr>
            <a:spLocks noChangeArrowheads="1"/>
          </p:cNvSpPr>
          <p:nvPr/>
        </p:nvSpPr>
        <p:spPr bwMode="auto">
          <a:xfrm>
            <a:off x="66675" y="768350"/>
            <a:ext cx="9047163" cy="597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defRPr sz="1600">
                <a:solidFill>
                  <a:schemeClr val="tx1"/>
                </a:solidFill>
                <a:latin typeface="Arial" panose="020B0604020202020204" pitchFamily="34" charset="0"/>
              </a:defRPr>
            </a:lvl1pPr>
            <a:lvl2pPr>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05000"/>
              </a:lnSpc>
              <a:spcBef>
                <a:spcPct val="15000"/>
              </a:spcBef>
              <a:buSzPct val="75000"/>
              <a:buFont typeface="Wingdings" pitchFamily="2" charset="2"/>
              <a:buChar char="u"/>
            </a:pPr>
            <a:r>
              <a:rPr lang="en-US" altLang="zh-CN" sz="1800" b="1">
                <a:latin typeface="微软雅黑" panose="020B0503020204020204" pitchFamily="34" charset="-122"/>
                <a:ea typeface="微软雅黑" panose="020B0503020204020204" pitchFamily="34" charset="-122"/>
              </a:rPr>
              <a:t>RISC-V</a:t>
            </a:r>
            <a:r>
              <a:rPr lang="zh-CN" altLang="en-US" sz="1800" b="1">
                <a:latin typeface="微软雅黑" panose="020B0503020204020204" pitchFamily="34" charset="-122"/>
                <a:ea typeface="微软雅黑" panose="020B0503020204020204" pitchFamily="34" charset="-122"/>
              </a:rPr>
              <a:t>采用可灵活组合特权模式的方式来实现不同的系统。</a:t>
            </a:r>
          </a:p>
          <a:p>
            <a:pPr>
              <a:lnSpc>
                <a:spcPct val="105000"/>
              </a:lnSpc>
              <a:spcBef>
                <a:spcPts val="600"/>
              </a:spcBef>
              <a:buSzPct val="75000"/>
              <a:buFont typeface="Wingdings" pitchFamily="2" charset="2"/>
              <a:buChar char="u"/>
            </a:pPr>
            <a:r>
              <a:rPr lang="zh-CN" altLang="en-US" sz="1800" b="1">
                <a:solidFill>
                  <a:schemeClr val="accent1"/>
                </a:solidFill>
                <a:latin typeface="微软雅黑" panose="020B0503020204020204" pitchFamily="34" charset="-122"/>
                <a:ea typeface="微软雅黑" panose="020B0503020204020204" pitchFamily="34" charset="-122"/>
              </a:rPr>
              <a:t>仅支持</a:t>
            </a:r>
            <a:r>
              <a:rPr lang="en-US" altLang="zh-CN" sz="1800" b="1">
                <a:solidFill>
                  <a:schemeClr val="accent1"/>
                </a:solidFill>
                <a:latin typeface="微软雅黑" panose="020B0503020204020204" pitchFamily="34" charset="-122"/>
                <a:ea typeface="微软雅黑" panose="020B0503020204020204" pitchFamily="34" charset="-122"/>
              </a:rPr>
              <a:t>M</a:t>
            </a:r>
            <a:r>
              <a:rPr lang="zh-CN" altLang="en-US" sz="1800" b="1">
                <a:solidFill>
                  <a:schemeClr val="accent1"/>
                </a:solidFill>
                <a:latin typeface="微软雅黑" panose="020B0503020204020204" pitchFamily="34" charset="-122"/>
                <a:ea typeface="微软雅黑" panose="020B0503020204020204" pitchFamily="34" charset="-122"/>
              </a:rPr>
              <a:t>模式的系统</a:t>
            </a:r>
            <a:endParaRPr lang="en-US" altLang="zh-CN" sz="1800" b="1">
              <a:solidFill>
                <a:schemeClr val="accent1"/>
              </a:solidFill>
              <a:latin typeface="微软雅黑" panose="020B0503020204020204" pitchFamily="34" charset="-122"/>
              <a:ea typeface="微软雅黑" panose="020B0503020204020204" pitchFamily="34" charset="-122"/>
            </a:endParaRPr>
          </a:p>
          <a:p>
            <a:pPr lvl="1">
              <a:lnSpc>
                <a:spcPct val="10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因为所有程序都在</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模式下执行，所以所有代码都可直接访问系统中的重要信息，因此，这种系统易受到不可信代码的控制和攻击，</a:t>
            </a:r>
            <a:r>
              <a:rPr lang="zh-CN" altLang="en-US" sz="1800" b="1">
                <a:solidFill>
                  <a:schemeClr val="accent1"/>
                </a:solidFill>
                <a:latin typeface="微软雅黑" panose="020B0503020204020204" pitchFamily="34" charset="-122"/>
                <a:ea typeface="微软雅黑" panose="020B0503020204020204" pitchFamily="34" charset="-122"/>
              </a:rPr>
              <a:t>只能用于安全性和可靠性要求不高的场合</a:t>
            </a:r>
            <a:r>
              <a:rPr lang="zh-CN" altLang="en-US" sz="1800" b="1">
                <a:solidFill>
                  <a:schemeClr val="accent2"/>
                </a:solidFill>
                <a:latin typeface="微软雅黑" panose="020B0503020204020204" pitchFamily="34" charset="-122"/>
                <a:ea typeface="微软雅黑" panose="020B0503020204020204" pitchFamily="34" charset="-122"/>
              </a:rPr>
              <a:t>，例如，只运行少数甚至一个程序的微控制器。</a:t>
            </a:r>
            <a:endParaRPr lang="en-US" altLang="zh-CN" sz="1800" b="1">
              <a:solidFill>
                <a:schemeClr val="accent2"/>
              </a:solidFill>
              <a:latin typeface="微软雅黑" panose="020B0503020204020204" pitchFamily="34" charset="-122"/>
              <a:ea typeface="微软雅黑" panose="020B0503020204020204" pitchFamily="34" charset="-122"/>
            </a:endParaRPr>
          </a:p>
          <a:p>
            <a:pPr>
              <a:lnSpc>
                <a:spcPct val="105000"/>
              </a:lnSpc>
              <a:spcBef>
                <a:spcPts val="1200"/>
              </a:spcBef>
              <a:buSzPct val="75000"/>
              <a:buFont typeface="Wingdings" pitchFamily="2" charset="2"/>
              <a:buChar char="u"/>
            </a:pPr>
            <a:r>
              <a:rPr lang="zh-CN" altLang="en-US" sz="1800" b="1">
                <a:solidFill>
                  <a:schemeClr val="accent1"/>
                </a:solidFill>
                <a:latin typeface="微软雅黑" panose="020B0503020204020204" pitchFamily="34" charset="-122"/>
                <a:ea typeface="微软雅黑" panose="020B0503020204020204" pitchFamily="34" charset="-122"/>
              </a:rPr>
              <a:t>支持</a:t>
            </a:r>
            <a:r>
              <a:rPr lang="en-US" altLang="zh-CN" sz="1800" b="1">
                <a:solidFill>
                  <a:schemeClr val="accent1"/>
                </a:solidFill>
                <a:latin typeface="微软雅黑" panose="020B0503020204020204" pitchFamily="34" charset="-122"/>
                <a:ea typeface="微软雅黑" panose="020B0503020204020204" pitchFamily="34" charset="-122"/>
              </a:rPr>
              <a:t>M</a:t>
            </a:r>
            <a:r>
              <a:rPr lang="zh-CN" altLang="en-US" sz="1800" b="1">
                <a:solidFill>
                  <a:schemeClr val="accent1"/>
                </a:solidFill>
                <a:latin typeface="微软雅黑" panose="020B0503020204020204" pitchFamily="34" charset="-122"/>
                <a:ea typeface="微软雅黑" panose="020B0503020204020204" pitchFamily="34" charset="-122"/>
              </a:rPr>
              <a:t>模式和</a:t>
            </a:r>
            <a:r>
              <a:rPr lang="en-US" altLang="zh-CN" sz="1800" b="1">
                <a:solidFill>
                  <a:schemeClr val="accent1"/>
                </a:solidFill>
                <a:latin typeface="微软雅黑" panose="020B0503020204020204" pitchFamily="34" charset="-122"/>
                <a:ea typeface="微软雅黑" panose="020B0503020204020204" pitchFamily="34" charset="-122"/>
              </a:rPr>
              <a:t>U</a:t>
            </a:r>
            <a:r>
              <a:rPr lang="zh-CN" altLang="en-US" sz="1800" b="1">
                <a:solidFill>
                  <a:schemeClr val="accent1"/>
                </a:solidFill>
                <a:latin typeface="微软雅黑" panose="020B0503020204020204" pitchFamily="34" charset="-122"/>
                <a:ea typeface="微软雅黑" panose="020B0503020204020204" pitchFamily="34" charset="-122"/>
              </a:rPr>
              <a:t>模式的系统</a:t>
            </a:r>
            <a:endParaRPr lang="en-US" altLang="zh-CN" sz="1800" b="1">
              <a:solidFill>
                <a:schemeClr val="accent1"/>
              </a:solidFill>
              <a:latin typeface="微软雅黑" panose="020B0503020204020204" pitchFamily="34" charset="-122"/>
              <a:ea typeface="微软雅黑" panose="020B0503020204020204" pitchFamily="34" charset="-122"/>
            </a:endParaRPr>
          </a:p>
          <a:p>
            <a:pPr lvl="1">
              <a:lnSpc>
                <a:spcPct val="10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安全的嵌入式系统一般都属于这种系统。通过将不可信代码限制在较低特权的</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模式执行，来保证系统的重要信息得到保护。</a:t>
            </a:r>
            <a:endParaRPr lang="en-US" altLang="zh-CN" sz="1800" b="1">
              <a:solidFill>
                <a:schemeClr val="accent2"/>
              </a:solidFill>
              <a:latin typeface="微软雅黑" panose="020B0503020204020204" pitchFamily="34" charset="-122"/>
              <a:ea typeface="微软雅黑" panose="020B0503020204020204" pitchFamily="34" charset="-122"/>
            </a:endParaRPr>
          </a:p>
          <a:p>
            <a:pPr lvl="1">
              <a:lnSpc>
                <a:spcPct val="10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处理器具有</a:t>
            </a:r>
            <a:r>
              <a:rPr lang="zh-CN" altLang="en-US" sz="1800" b="1">
                <a:solidFill>
                  <a:schemeClr val="accent1"/>
                </a:solidFill>
                <a:latin typeface="微软雅黑" panose="020B0503020204020204" pitchFamily="34" charset="-122"/>
                <a:ea typeface="微软雅黑" panose="020B0503020204020204" pitchFamily="34" charset="-122"/>
              </a:rPr>
              <a:t>物理内存保护（</a:t>
            </a:r>
            <a:r>
              <a:rPr lang="en-US" altLang="zh-CN" sz="1800" b="1">
                <a:solidFill>
                  <a:schemeClr val="accent1"/>
                </a:solidFill>
                <a:latin typeface="微软雅黑" panose="020B0503020204020204" pitchFamily="34" charset="-122"/>
                <a:ea typeface="微软雅黑" panose="020B0503020204020204" pitchFamily="34" charset="-122"/>
              </a:rPr>
              <a:t>Physical Memory Protection</a:t>
            </a:r>
            <a:r>
              <a:rPr lang="zh-CN" altLang="en-US" sz="1800" b="1">
                <a:solidFill>
                  <a:schemeClr val="accent1"/>
                </a:solidFill>
                <a:latin typeface="微软雅黑" panose="020B0503020204020204" pitchFamily="34" charset="-122"/>
                <a:ea typeface="微软雅黑" panose="020B0503020204020204" pitchFamily="34" charset="-122"/>
              </a:rPr>
              <a:t>，</a:t>
            </a:r>
            <a:r>
              <a:rPr lang="en-US" altLang="zh-CN" sz="1800" b="1">
                <a:solidFill>
                  <a:schemeClr val="accent1"/>
                </a:solidFill>
                <a:latin typeface="微软雅黑" panose="020B0503020204020204" pitchFamily="34" charset="-122"/>
                <a:ea typeface="微软雅黑" panose="020B0503020204020204" pitchFamily="34" charset="-122"/>
              </a:rPr>
              <a:t>PMP</a:t>
            </a:r>
            <a:r>
              <a:rPr lang="zh-CN" altLang="en-US" sz="1800" b="1">
                <a:solidFill>
                  <a:schemeClr val="accent1"/>
                </a:solidFill>
                <a:latin typeface="微软雅黑" panose="020B0503020204020204" pitchFamily="34" charset="-122"/>
                <a:ea typeface="微软雅黑" panose="020B0503020204020204" pitchFamily="34" charset="-122"/>
              </a:rPr>
              <a:t>）功能</a:t>
            </a:r>
            <a:r>
              <a:rPr lang="zh-CN" altLang="en-US" sz="1800" b="1">
                <a:solidFill>
                  <a:schemeClr val="accent2"/>
                </a:solidFill>
                <a:latin typeface="微软雅黑" panose="020B0503020204020204" pitchFamily="34" charset="-122"/>
                <a:ea typeface="微软雅黑" panose="020B0503020204020204" pitchFamily="34" charset="-122"/>
              </a:rPr>
              <a:t>，允许</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模式指定</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模式可以访问的物理内存地址空间范围。</a:t>
            </a:r>
            <a:endParaRPr lang="en-US" altLang="zh-CN" sz="1800" b="1">
              <a:solidFill>
                <a:schemeClr val="accent2"/>
              </a:solidFill>
              <a:latin typeface="微软雅黑" panose="020B0503020204020204" pitchFamily="34" charset="-122"/>
              <a:ea typeface="微软雅黑" panose="020B0503020204020204" pitchFamily="34" charset="-122"/>
            </a:endParaRPr>
          </a:p>
          <a:p>
            <a:pPr lvl="1">
              <a:lnSpc>
                <a:spcPct val="10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在</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模式下，如果处理器在取指令或执行</a:t>
            </a:r>
            <a:r>
              <a:rPr lang="en-US" altLang="zh-CN" sz="1800" b="1">
                <a:solidFill>
                  <a:schemeClr val="accent2"/>
                </a:solidFill>
                <a:latin typeface="微软雅黑" panose="020B0503020204020204" pitchFamily="34" charset="-122"/>
                <a:ea typeface="微软雅黑" panose="020B0503020204020204" pitchFamily="34" charset="-122"/>
              </a:rPr>
              <a:t>Load/Store</a:t>
            </a:r>
            <a:r>
              <a:rPr lang="zh-CN" altLang="en-US" sz="1800" b="1">
                <a:solidFill>
                  <a:schemeClr val="accent2"/>
                </a:solidFill>
                <a:latin typeface="微软雅黑" panose="020B0503020204020204" pitchFamily="34" charset="-122"/>
                <a:ea typeface="微软雅黑" panose="020B0503020204020204" pitchFamily="34" charset="-122"/>
              </a:rPr>
              <a:t>指令时，发生了与配置寄存器设置的权限不相符的操作，则会引起异常。</a:t>
            </a:r>
            <a:endParaRPr lang="en-US" altLang="zh-CN" sz="1800" b="1">
              <a:solidFill>
                <a:schemeClr val="accent2"/>
              </a:solidFill>
              <a:latin typeface="微软雅黑" panose="020B0503020204020204" pitchFamily="34" charset="-122"/>
              <a:ea typeface="微软雅黑" panose="020B0503020204020204" pitchFamily="34" charset="-122"/>
            </a:endParaRPr>
          </a:p>
          <a:p>
            <a:pPr lvl="1">
              <a:lnSpc>
                <a:spcPct val="10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只有在</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模式下才能执行级别较高的特权指令，以避免不可信代码对系统的破坏。</a:t>
            </a:r>
            <a:endParaRPr lang="en-US" altLang="zh-CN" sz="1800" b="1">
              <a:solidFill>
                <a:schemeClr val="accent2"/>
              </a:solidFill>
              <a:latin typeface="微软雅黑" panose="020B0503020204020204" pitchFamily="34" charset="-122"/>
              <a:ea typeface="微软雅黑" panose="020B0503020204020204" pitchFamily="34" charset="-122"/>
            </a:endParaRPr>
          </a:p>
          <a:p>
            <a:pPr>
              <a:lnSpc>
                <a:spcPct val="105000"/>
              </a:lnSpc>
              <a:spcBef>
                <a:spcPts val="1200"/>
              </a:spcBef>
              <a:buSzPct val="75000"/>
              <a:buFont typeface="Wingdings" pitchFamily="2" charset="2"/>
              <a:buChar char="u"/>
            </a:pPr>
            <a:r>
              <a:rPr lang="zh-CN" altLang="en-US" sz="1800" b="1">
                <a:solidFill>
                  <a:schemeClr val="accent1"/>
                </a:solidFill>
                <a:latin typeface="微软雅黑" panose="020B0503020204020204" pitchFamily="34" charset="-122"/>
                <a:ea typeface="微软雅黑" panose="020B0503020204020204" pitchFamily="34" charset="-122"/>
              </a:rPr>
              <a:t>支持</a:t>
            </a:r>
            <a:r>
              <a:rPr lang="en-US" altLang="zh-CN" sz="1800" b="1">
                <a:solidFill>
                  <a:schemeClr val="accent1"/>
                </a:solidFill>
                <a:latin typeface="微软雅黑" panose="020B0503020204020204" pitchFamily="34" charset="-122"/>
                <a:ea typeface="微软雅黑" panose="020B0503020204020204" pitchFamily="34" charset="-122"/>
              </a:rPr>
              <a:t>M</a:t>
            </a:r>
            <a:r>
              <a:rPr lang="zh-CN" altLang="en-US" sz="1800" b="1">
                <a:solidFill>
                  <a:schemeClr val="accent1"/>
                </a:solidFill>
                <a:latin typeface="微软雅黑" panose="020B0503020204020204" pitchFamily="34" charset="-122"/>
                <a:ea typeface="微软雅黑" panose="020B0503020204020204" pitchFamily="34" charset="-122"/>
              </a:rPr>
              <a:t>模式、</a:t>
            </a:r>
            <a:r>
              <a:rPr lang="en-US" altLang="zh-CN" sz="1800" b="1">
                <a:solidFill>
                  <a:schemeClr val="accent1"/>
                </a:solidFill>
                <a:latin typeface="微软雅黑" panose="020B0503020204020204" pitchFamily="34" charset="-122"/>
                <a:ea typeface="微软雅黑" panose="020B0503020204020204" pitchFamily="34" charset="-122"/>
              </a:rPr>
              <a:t>S</a:t>
            </a:r>
            <a:r>
              <a:rPr lang="zh-CN" altLang="en-US" sz="1800" b="1">
                <a:solidFill>
                  <a:schemeClr val="accent1"/>
                </a:solidFill>
                <a:latin typeface="微软雅黑" panose="020B0503020204020204" pitchFamily="34" charset="-122"/>
                <a:ea typeface="微软雅黑" panose="020B0503020204020204" pitchFamily="34" charset="-122"/>
              </a:rPr>
              <a:t>模式和</a:t>
            </a:r>
            <a:r>
              <a:rPr lang="en-US" altLang="zh-CN" sz="1800" b="1">
                <a:solidFill>
                  <a:schemeClr val="accent1"/>
                </a:solidFill>
                <a:latin typeface="微软雅黑" panose="020B0503020204020204" pitchFamily="34" charset="-122"/>
                <a:ea typeface="微软雅黑" panose="020B0503020204020204" pitchFamily="34" charset="-122"/>
              </a:rPr>
              <a:t>U</a:t>
            </a:r>
            <a:r>
              <a:rPr lang="zh-CN" altLang="en-US" sz="1800" b="1">
                <a:solidFill>
                  <a:schemeClr val="accent1"/>
                </a:solidFill>
                <a:latin typeface="微软雅黑" panose="020B0503020204020204" pitchFamily="34" charset="-122"/>
                <a:ea typeface="微软雅黑" panose="020B0503020204020204" pitchFamily="34" charset="-122"/>
              </a:rPr>
              <a:t>模式的系统</a:t>
            </a:r>
            <a:endParaRPr lang="en-US" altLang="zh-CN" sz="1800" b="1">
              <a:solidFill>
                <a:schemeClr val="accent1"/>
              </a:solidFill>
              <a:latin typeface="微软雅黑" panose="020B0503020204020204" pitchFamily="34" charset="-122"/>
              <a:ea typeface="微软雅黑" panose="020B0503020204020204" pitchFamily="34" charset="-122"/>
            </a:endParaRPr>
          </a:p>
          <a:p>
            <a:pPr lvl="1">
              <a:lnSpc>
                <a:spcPct val="105000"/>
              </a:lnSpc>
              <a:spcBef>
                <a:spcPct val="15000"/>
              </a:spcBef>
              <a:buSzPct val="75000"/>
            </a:pP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模式比</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权限高，但比</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低。</a:t>
            </a: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模式下不能使用</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模式下的</a:t>
            </a:r>
            <a:r>
              <a:rPr lang="en-US" altLang="zh-CN" sz="1800" b="1">
                <a:solidFill>
                  <a:schemeClr val="accent2"/>
                </a:solidFill>
                <a:latin typeface="微软雅黑" panose="020B0503020204020204" pitchFamily="34" charset="-122"/>
                <a:ea typeface="微软雅黑" panose="020B0503020204020204" pitchFamily="34" charset="-122"/>
              </a:rPr>
              <a:t>CSR</a:t>
            </a:r>
            <a:r>
              <a:rPr lang="zh-CN" altLang="en-US" sz="1800" b="1">
                <a:solidFill>
                  <a:schemeClr val="accent2"/>
                </a:solidFill>
                <a:latin typeface="微软雅黑" panose="020B0503020204020204" pitchFamily="34" charset="-122"/>
                <a:ea typeface="微软雅黑" panose="020B0503020204020204" pitchFamily="34" charset="-122"/>
              </a:rPr>
              <a:t>寄存器和指令。</a:t>
            </a:r>
            <a:endParaRPr lang="en-US" altLang="zh-CN" sz="1800" b="1">
              <a:solidFill>
                <a:schemeClr val="accent2"/>
              </a:solidFill>
              <a:latin typeface="微软雅黑" panose="020B0503020204020204" pitchFamily="34" charset="-122"/>
              <a:ea typeface="微软雅黑" panose="020B0503020204020204" pitchFamily="34" charset="-122"/>
            </a:endParaRPr>
          </a:p>
          <a:p>
            <a:pPr lvl="1">
              <a:lnSpc>
                <a:spcPct val="105000"/>
              </a:lnSpc>
              <a:spcBef>
                <a:spcPct val="15000"/>
              </a:spcBef>
              <a:buSzPct val="75000"/>
            </a:pP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模式支持页式虚拟存储管理机制，因而这种系统可实现现代操作系统的功能。</a:t>
            </a:r>
            <a:endParaRPr lang="en-US" altLang="zh-CN" sz="1800" b="1">
              <a:solidFill>
                <a:schemeClr val="accent2"/>
              </a:solidFill>
              <a:latin typeface="微软雅黑" panose="020B0503020204020204" pitchFamily="34" charset="-122"/>
              <a:ea typeface="微软雅黑" panose="020B0503020204020204" pitchFamily="34" charset="-122"/>
            </a:endParaRPr>
          </a:p>
          <a:p>
            <a:pPr lvl="1">
              <a:lnSpc>
                <a:spcPct val="105000"/>
              </a:lnSpc>
              <a:spcBef>
                <a:spcPct val="15000"/>
              </a:spcBef>
              <a:buSzPct val="100000"/>
            </a:pPr>
            <a:r>
              <a:rPr lang="zh-CN" altLang="en-US" sz="1800" b="1">
                <a:solidFill>
                  <a:schemeClr val="accent2"/>
                </a:solidFill>
                <a:latin typeface="微软雅黑" panose="020B0503020204020204" pitchFamily="34" charset="-122"/>
                <a:ea typeface="微软雅黑" panose="020B0503020204020204" pitchFamily="34" charset="-122"/>
              </a:rPr>
              <a:t>在</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模式下发生的异常总是在</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模式下处理，</a:t>
            </a: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模式下发生的异常，只可能在</a:t>
            </a:r>
            <a:r>
              <a:rPr lang="en-US" altLang="zh-CN" sz="1800" b="1">
                <a:solidFill>
                  <a:schemeClr val="accent2"/>
                </a:solidFill>
                <a:latin typeface="微软雅黑" panose="020B0503020204020204" pitchFamily="34" charset="-122"/>
                <a:ea typeface="微软雅黑" panose="020B0503020204020204" pitchFamily="34" charset="-122"/>
              </a:rPr>
              <a:t>M</a:t>
            </a:r>
            <a:r>
              <a:rPr lang="zh-CN" altLang="en-US" sz="1800" b="1">
                <a:solidFill>
                  <a:schemeClr val="accent2"/>
                </a:solidFill>
                <a:latin typeface="微软雅黑" panose="020B0503020204020204" pitchFamily="34" charset="-122"/>
                <a:ea typeface="微软雅黑" panose="020B0503020204020204" pitchFamily="34" charset="-122"/>
              </a:rPr>
              <a:t>或</a:t>
            </a: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模式下处理，不可能移交到</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模式下处理。</a:t>
            </a:r>
            <a:endParaRPr lang="en-US" altLang="zh-CN" sz="1800" b="1">
              <a:solidFill>
                <a:schemeClr val="accent2"/>
              </a:solidFill>
              <a:latin typeface="微软雅黑" panose="020B0503020204020204" pitchFamily="34" charset="-122"/>
              <a:ea typeface="微软雅黑" panose="020B0503020204020204" pitchFamily="34" charset="-122"/>
            </a:endParaRPr>
          </a:p>
        </p:txBody>
      </p:sp>
      <p:sp>
        <p:nvSpPr>
          <p:cNvPr id="261123" name="Rectangle 5">
            <a:extLst>
              <a:ext uri="{FF2B5EF4-FFF2-40B4-BE49-F238E27FC236}">
                <a16:creationId xmlns:a16="http://schemas.microsoft.com/office/drawing/2014/main" id="{7ABF6A57-077B-8648-A270-33CC052C9537}"/>
              </a:ext>
            </a:extLst>
          </p:cNvPr>
          <p:cNvSpPr>
            <a:spLocks noGrp="1" noChangeArrowheads="1"/>
          </p:cNvSpPr>
          <p:nvPr>
            <p:ph type="title"/>
          </p:nvPr>
        </p:nvSpPr>
        <p:spPr>
          <a:xfrm>
            <a:off x="285750" y="114300"/>
            <a:ext cx="8553450" cy="908050"/>
          </a:xfrm>
          <a:noFill/>
        </p:spPr>
        <p:txBody>
          <a:bodyPr/>
          <a:lstStyle/>
          <a:p>
            <a:r>
              <a:rPr lang="en-US" altLang="zh-CN" sz="3200"/>
              <a:t>RISC-V</a:t>
            </a:r>
            <a:r>
              <a:rPr lang="zh-CN" altLang="en-US" sz="3200"/>
              <a:t>不同特权模式组合系统的存储保护机制</a:t>
            </a:r>
            <a:endParaRPr lang="en-US" altLang="zh-CN" sz="320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4">
            <a:extLst>
              <a:ext uri="{FF2B5EF4-FFF2-40B4-BE49-F238E27FC236}">
                <a16:creationId xmlns:a16="http://schemas.microsoft.com/office/drawing/2014/main" id="{A0604C37-81CA-6547-AF3C-03A2BEAB9F03}"/>
              </a:ext>
            </a:extLst>
          </p:cNvPr>
          <p:cNvSpPr>
            <a:spLocks noChangeArrowheads="1"/>
          </p:cNvSpPr>
          <p:nvPr/>
        </p:nvSpPr>
        <p:spPr bwMode="auto">
          <a:xfrm>
            <a:off x="60325" y="765175"/>
            <a:ext cx="9047163" cy="597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defRPr sz="1600">
                <a:solidFill>
                  <a:schemeClr val="tx1"/>
                </a:solidFill>
                <a:latin typeface="Arial" panose="020B0604020202020204" pitchFamily="34" charset="0"/>
              </a:defRPr>
            </a:lvl1pPr>
            <a:lvl2pPr marL="800100" indent="-34290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05000"/>
              </a:lnSpc>
              <a:spcBef>
                <a:spcPct val="15000"/>
              </a:spcBef>
              <a:buSzPct val="75000"/>
              <a:buFont typeface="Wingdings" pitchFamily="2" charset="2"/>
              <a:buChar char="u"/>
            </a:pPr>
            <a:r>
              <a:rPr lang="en-US" altLang="zh-CN" sz="1800" b="1">
                <a:latin typeface="微软雅黑" panose="020B0503020204020204" pitchFamily="34" charset="-122"/>
                <a:ea typeface="微软雅黑" panose="020B0503020204020204" pitchFamily="34" charset="-122"/>
              </a:rPr>
              <a:t>RV32</a:t>
            </a:r>
            <a:r>
              <a:rPr lang="zh-CN" altLang="en-US" sz="1800" b="1">
                <a:latin typeface="微软雅黑" panose="020B0503020204020204" pitchFamily="34" charset="-122"/>
                <a:ea typeface="微软雅黑" panose="020B0503020204020204" pitchFamily="34" charset="-122"/>
              </a:rPr>
              <a:t>的分页方案</a:t>
            </a:r>
            <a:r>
              <a:rPr lang="en-US" altLang="zh-CN" sz="1800" b="1">
                <a:latin typeface="微软雅黑" panose="020B0503020204020204" pitchFamily="34" charset="-122"/>
                <a:ea typeface="微软雅黑" panose="020B0503020204020204" pitchFamily="34" charset="-122"/>
              </a:rPr>
              <a:t>Sv32</a:t>
            </a:r>
            <a:r>
              <a:rPr lang="zh-CN" altLang="en-US" sz="1800" b="1">
                <a:latin typeface="微软雅黑" panose="020B0503020204020204" pitchFamily="34" charset="-122"/>
                <a:ea typeface="微软雅黑" panose="020B0503020204020204" pitchFamily="34" charset="-122"/>
              </a:rPr>
              <a:t>：</a:t>
            </a:r>
            <a:r>
              <a:rPr lang="en-US" altLang="zh-CN" sz="1800" b="1">
                <a:solidFill>
                  <a:schemeClr val="accent1"/>
                </a:solidFill>
                <a:latin typeface="微软雅黑" panose="020B0503020204020204" pitchFamily="34" charset="-122"/>
                <a:ea typeface="微软雅黑" panose="020B0503020204020204" pitchFamily="34" charset="-122"/>
              </a:rPr>
              <a:t>4GB</a:t>
            </a:r>
            <a:r>
              <a:rPr lang="zh-CN" altLang="en-US" sz="1800" b="1">
                <a:solidFill>
                  <a:schemeClr val="accent1"/>
                </a:solidFill>
                <a:latin typeface="微软雅黑" panose="020B0503020204020204" pitchFamily="34" charset="-122"/>
                <a:ea typeface="微软雅黑" panose="020B0503020204020204" pitchFamily="34" charset="-122"/>
              </a:rPr>
              <a:t>虚拟空间、</a:t>
            </a:r>
            <a:r>
              <a:rPr lang="en-US" altLang="zh-CN" sz="1800" b="1">
                <a:solidFill>
                  <a:schemeClr val="accent1"/>
                </a:solidFill>
                <a:latin typeface="微软雅黑" panose="020B0503020204020204" pitchFamily="34" charset="-122"/>
                <a:ea typeface="微软雅黑" panose="020B0503020204020204" pitchFamily="34" charset="-122"/>
              </a:rPr>
              <a:t>4KB</a:t>
            </a:r>
            <a:r>
              <a:rPr lang="zh-CN" altLang="en-US" sz="1800" b="1">
                <a:solidFill>
                  <a:schemeClr val="accent1"/>
                </a:solidFill>
                <a:latin typeface="微软雅黑" panose="020B0503020204020204" pitchFamily="34" charset="-122"/>
                <a:ea typeface="微软雅黑" panose="020B0503020204020204" pitchFamily="34" charset="-122"/>
              </a:rPr>
              <a:t>页面、页目录项（</a:t>
            </a:r>
            <a:r>
              <a:rPr lang="en-US" altLang="zh-CN" sz="1800" b="1">
                <a:solidFill>
                  <a:schemeClr val="accent1"/>
                </a:solidFill>
                <a:latin typeface="微软雅黑" panose="020B0503020204020204" pitchFamily="34" charset="-122"/>
                <a:ea typeface="微软雅黑" panose="020B0503020204020204" pitchFamily="34" charset="-122"/>
              </a:rPr>
              <a:t>PDE</a:t>
            </a:r>
            <a:r>
              <a:rPr lang="zh-CN" altLang="en-US" sz="1800" b="1">
                <a:solidFill>
                  <a:schemeClr val="accent1"/>
                </a:solidFill>
                <a:latin typeface="微软雅黑" panose="020B0503020204020204" pitchFamily="34" charset="-122"/>
                <a:ea typeface="微软雅黑" panose="020B0503020204020204" pitchFamily="34" charset="-122"/>
              </a:rPr>
              <a:t>）和页表项（</a:t>
            </a:r>
            <a:r>
              <a:rPr lang="en-US" altLang="zh-CN" sz="1800" b="1">
                <a:solidFill>
                  <a:schemeClr val="accent1"/>
                </a:solidFill>
                <a:latin typeface="微软雅黑" panose="020B0503020204020204" pitchFamily="34" charset="-122"/>
                <a:ea typeface="微软雅黑" panose="020B0503020204020204" pitchFamily="34" charset="-122"/>
              </a:rPr>
              <a:t>PTE</a:t>
            </a:r>
            <a:r>
              <a:rPr lang="zh-CN" altLang="en-US" sz="1800" b="1">
                <a:solidFill>
                  <a:schemeClr val="accent1"/>
                </a:solidFill>
                <a:latin typeface="微软雅黑" panose="020B0503020204020204" pitchFamily="34" charset="-122"/>
                <a:ea typeface="微软雅黑" panose="020B0503020204020204" pitchFamily="34" charset="-122"/>
              </a:rPr>
              <a:t>）都占</a:t>
            </a:r>
            <a:r>
              <a:rPr lang="en-US" altLang="zh-CN" sz="1800" b="1">
                <a:solidFill>
                  <a:schemeClr val="accent1"/>
                </a:solidFill>
                <a:latin typeface="微软雅黑" panose="020B0503020204020204" pitchFamily="34" charset="-122"/>
                <a:ea typeface="微软雅黑" panose="020B0503020204020204" pitchFamily="34" charset="-122"/>
              </a:rPr>
              <a:t>32</a:t>
            </a:r>
            <a:r>
              <a:rPr lang="zh-CN" altLang="en-US" sz="1800" b="1">
                <a:solidFill>
                  <a:schemeClr val="accent1"/>
                </a:solidFill>
                <a:latin typeface="微软雅黑" panose="020B0503020204020204" pitchFamily="34" charset="-122"/>
                <a:ea typeface="微软雅黑" panose="020B0503020204020204" pitchFamily="34" charset="-122"/>
              </a:rPr>
              <a:t>位，内容如下：</a:t>
            </a:r>
            <a:endParaRPr lang="en-US" altLang="zh-CN" sz="1800" b="1">
              <a:solidFill>
                <a:schemeClr val="accent1"/>
              </a:solidFill>
              <a:latin typeface="微软雅黑" panose="020B0503020204020204" pitchFamily="34" charset="-122"/>
              <a:ea typeface="微软雅黑" panose="020B0503020204020204" pitchFamily="34" charset="-122"/>
            </a:endParaRPr>
          </a:p>
          <a:p>
            <a:pPr>
              <a:lnSpc>
                <a:spcPct val="105000"/>
              </a:lnSpc>
              <a:spcBef>
                <a:spcPct val="15000"/>
              </a:spcBef>
              <a:buSzPct val="75000"/>
              <a:buFont typeface="Wingdings" pitchFamily="2" charset="2"/>
              <a:buChar char="u"/>
            </a:pPr>
            <a:endParaRPr lang="en-US" altLang="zh-CN" sz="1800" b="1">
              <a:solidFill>
                <a:schemeClr val="accent1"/>
              </a:solidFill>
              <a:latin typeface="微软雅黑" panose="020B0503020204020204" pitchFamily="34" charset="-122"/>
              <a:ea typeface="微软雅黑" panose="020B0503020204020204" pitchFamily="34" charset="-122"/>
            </a:endParaRPr>
          </a:p>
          <a:p>
            <a:pPr>
              <a:lnSpc>
                <a:spcPct val="105000"/>
              </a:lnSpc>
              <a:spcBef>
                <a:spcPct val="15000"/>
              </a:spcBef>
              <a:buSzPct val="75000"/>
              <a:buFont typeface="Wingdings" pitchFamily="2" charset="2"/>
              <a:buChar char="u"/>
            </a:pPr>
            <a:endParaRPr lang="en-US" altLang="zh-CN" sz="1800" b="1">
              <a:solidFill>
                <a:schemeClr val="accent1"/>
              </a:solidFill>
              <a:latin typeface="微软雅黑" panose="020B0503020204020204" pitchFamily="34" charset="-122"/>
              <a:ea typeface="微软雅黑" panose="020B0503020204020204" pitchFamily="34" charset="-122"/>
            </a:endParaRPr>
          </a:p>
          <a:p>
            <a:pPr>
              <a:lnSpc>
                <a:spcPct val="105000"/>
              </a:lnSpc>
              <a:spcBef>
                <a:spcPct val="15000"/>
              </a:spcBef>
              <a:buSzPct val="75000"/>
              <a:buFont typeface="Wingdings" pitchFamily="2" charset="2"/>
              <a:buChar char="u"/>
            </a:pPr>
            <a:endParaRPr lang="en-US" altLang="zh-CN" sz="1800" b="1">
              <a:solidFill>
                <a:schemeClr val="accent1"/>
              </a:solidFill>
              <a:latin typeface="微软雅黑" panose="020B0503020204020204" pitchFamily="34" charset="-122"/>
              <a:ea typeface="微软雅黑" panose="020B0503020204020204" pitchFamily="34" charset="-122"/>
            </a:endParaRP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V</a:t>
            </a:r>
            <a:r>
              <a:rPr lang="zh-CN" altLang="en-US" sz="1800" b="1">
                <a:solidFill>
                  <a:schemeClr val="accent2"/>
                </a:solidFill>
                <a:latin typeface="微软雅黑" panose="020B0503020204020204" pitchFamily="34" charset="-122"/>
                <a:ea typeface="微软雅黑" panose="020B0503020204020204" pitchFamily="34" charset="-122"/>
              </a:rPr>
              <a:t>：有效位。</a:t>
            </a:r>
            <a:r>
              <a:rPr lang="en-US" altLang="zh-CN" sz="1800" b="1">
                <a:solidFill>
                  <a:schemeClr val="accent2"/>
                </a:solidFill>
                <a:latin typeface="微软雅黑" panose="020B0503020204020204" pitchFamily="34" charset="-122"/>
                <a:ea typeface="微软雅黑" panose="020B0503020204020204" pitchFamily="34" charset="-122"/>
              </a:rPr>
              <a:t>0</a:t>
            </a:r>
            <a:r>
              <a:rPr lang="zh-CN" altLang="en-US" sz="1800" b="1">
                <a:solidFill>
                  <a:schemeClr val="accent2"/>
                </a:solidFill>
                <a:latin typeface="微软雅黑" panose="020B0503020204020204" pitchFamily="34" charset="-122"/>
                <a:ea typeface="微软雅黑" panose="020B0503020204020204" pitchFamily="34" charset="-122"/>
              </a:rPr>
              <a:t>表示对应页不在主存，发生缺页故障（</a:t>
            </a:r>
            <a:r>
              <a:rPr lang="en-US" altLang="zh-CN" sz="1800" b="1">
                <a:solidFill>
                  <a:schemeClr val="accent2"/>
                </a:solidFill>
                <a:latin typeface="微软雅黑" panose="020B0503020204020204" pitchFamily="34" charset="-122"/>
                <a:ea typeface="微软雅黑" panose="020B0503020204020204" pitchFamily="34" charset="-122"/>
              </a:rPr>
              <a:t>page fault</a:t>
            </a:r>
            <a:r>
              <a:rPr lang="zh-CN" altLang="en-US" sz="1800" b="1">
                <a:solidFill>
                  <a:schemeClr val="accent2"/>
                </a:solidFill>
                <a:latin typeface="微软雅黑" panose="020B0503020204020204" pitchFamily="34" charset="-122"/>
                <a:ea typeface="微软雅黑" panose="020B0503020204020204" pitchFamily="34" charset="-122"/>
              </a:rPr>
              <a:t>）。</a:t>
            </a: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R</a:t>
            </a:r>
            <a:r>
              <a:rPr lang="zh-CN" altLang="en-US" sz="1800" b="1">
                <a:solidFill>
                  <a:schemeClr val="accent2"/>
                </a:solidFill>
                <a:latin typeface="微软雅黑" panose="020B0503020204020204" pitchFamily="34" charset="-122"/>
                <a:ea typeface="微软雅黑" panose="020B0503020204020204" pitchFamily="34" charset="-122"/>
              </a:rPr>
              <a:t>、</a:t>
            </a:r>
            <a:r>
              <a:rPr lang="en-US" altLang="zh-CN" sz="1800" b="1">
                <a:solidFill>
                  <a:schemeClr val="accent2"/>
                </a:solidFill>
                <a:latin typeface="微软雅黑" panose="020B0503020204020204" pitchFamily="34" charset="-122"/>
                <a:ea typeface="微软雅黑" panose="020B0503020204020204" pitchFamily="34" charset="-122"/>
              </a:rPr>
              <a:t>W</a:t>
            </a:r>
            <a:r>
              <a:rPr lang="zh-CN" altLang="en-US" sz="1800" b="1">
                <a:solidFill>
                  <a:schemeClr val="accent2"/>
                </a:solidFill>
                <a:latin typeface="微软雅黑" panose="020B0503020204020204" pitchFamily="34" charset="-122"/>
                <a:ea typeface="微软雅黑" panose="020B0503020204020204" pitchFamily="34" charset="-122"/>
              </a:rPr>
              <a:t>、</a:t>
            </a:r>
            <a:r>
              <a:rPr lang="en-US" altLang="zh-CN" sz="1800" b="1">
                <a:solidFill>
                  <a:schemeClr val="accent2"/>
                </a:solidFill>
                <a:latin typeface="微软雅黑" panose="020B0503020204020204" pitchFamily="34" charset="-122"/>
                <a:ea typeface="微软雅黑" panose="020B0503020204020204" pitchFamily="34" charset="-122"/>
              </a:rPr>
              <a:t>X</a:t>
            </a:r>
            <a:r>
              <a:rPr lang="zh-CN" altLang="en-US" sz="1800" b="1">
                <a:solidFill>
                  <a:schemeClr val="accent2"/>
                </a:solidFill>
                <a:latin typeface="微软雅黑" panose="020B0503020204020204" pitchFamily="34" charset="-122"/>
                <a:ea typeface="微软雅黑" panose="020B0503020204020204" pitchFamily="34" charset="-122"/>
              </a:rPr>
              <a:t>： 存取权限位。表示是否可读、可写和可执行。当指令执行时实际发生的操作与存取权限发生矛盾，则会引起访存故障或取指令故障。若全为</a:t>
            </a:r>
            <a:r>
              <a:rPr lang="en-US" altLang="zh-CN" sz="1800" b="1">
                <a:solidFill>
                  <a:schemeClr val="accent2"/>
                </a:solidFill>
                <a:latin typeface="微软雅黑" panose="020B0503020204020204" pitchFamily="34" charset="-122"/>
                <a:ea typeface="微软雅黑" panose="020B0503020204020204" pitchFamily="34" charset="-122"/>
              </a:rPr>
              <a:t>0</a:t>
            </a:r>
            <a:r>
              <a:rPr lang="zh-CN" altLang="en-US" sz="1800" b="1">
                <a:solidFill>
                  <a:schemeClr val="accent2"/>
                </a:solidFill>
                <a:latin typeface="微软雅黑" panose="020B0503020204020204" pitchFamily="34" charset="-122"/>
                <a:ea typeface="微软雅黑" panose="020B0503020204020204" pitchFamily="34" charset="-122"/>
              </a:rPr>
              <a:t>，则说明是页目录项，其中</a:t>
            </a:r>
            <a:r>
              <a:rPr lang="en-US" altLang="zh-CN" sz="1800" b="1">
                <a:solidFill>
                  <a:schemeClr val="accent2"/>
                </a:solidFill>
                <a:latin typeface="微软雅黑" panose="020B0503020204020204" pitchFamily="34" charset="-122"/>
                <a:ea typeface="微软雅黑" panose="020B0503020204020204" pitchFamily="34" charset="-122"/>
              </a:rPr>
              <a:t>PPN</a:t>
            </a:r>
            <a:r>
              <a:rPr lang="zh-CN" altLang="en-US" sz="1800" b="1">
                <a:solidFill>
                  <a:schemeClr val="accent2"/>
                </a:solidFill>
                <a:latin typeface="微软雅黑" panose="020B0503020204020204" pitchFamily="34" charset="-122"/>
                <a:ea typeface="微软雅黑" panose="020B0503020204020204" pitchFamily="34" charset="-122"/>
              </a:rPr>
              <a:t>存放的是所指向的下一级页表所在的物理页（即页框）号。</a:t>
            </a: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：是否</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模式可访问。</a:t>
            </a:r>
            <a:r>
              <a:rPr lang="en-US" altLang="zh-CN" sz="1800" b="1">
                <a:solidFill>
                  <a:schemeClr val="accent2"/>
                </a:solidFill>
                <a:latin typeface="微软雅黑" panose="020B0503020204020204" pitchFamily="34" charset="-122"/>
                <a:ea typeface="微软雅黑" panose="020B0503020204020204" pitchFamily="34" charset="-122"/>
              </a:rPr>
              <a:t>0</a:t>
            </a:r>
            <a:r>
              <a:rPr lang="zh-CN" altLang="en-US" sz="1800" b="1">
                <a:solidFill>
                  <a:schemeClr val="accent2"/>
                </a:solidFill>
                <a:latin typeface="微软雅黑" panose="020B0503020204020204" pitchFamily="34" charset="-122"/>
                <a:ea typeface="微软雅黑" panose="020B0503020204020204" pitchFamily="34" charset="-122"/>
              </a:rPr>
              <a:t>表示</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模式不能访问该页，但</a:t>
            </a: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模式可以；</a:t>
            </a:r>
            <a:r>
              <a:rPr lang="en-US" altLang="zh-CN" sz="1800" b="1">
                <a:solidFill>
                  <a:schemeClr val="accent2"/>
                </a:solidFill>
                <a:latin typeface="微软雅黑" panose="020B0503020204020204" pitchFamily="34" charset="-122"/>
                <a:ea typeface="微软雅黑" panose="020B0503020204020204" pitchFamily="34" charset="-122"/>
              </a:rPr>
              <a:t>1</a:t>
            </a:r>
            <a:r>
              <a:rPr lang="zh-CN" altLang="en-US" sz="1800" b="1">
                <a:solidFill>
                  <a:schemeClr val="accent2"/>
                </a:solidFill>
                <a:latin typeface="微软雅黑" panose="020B0503020204020204" pitchFamily="34" charset="-122"/>
                <a:ea typeface="微软雅黑" panose="020B0503020204020204" pitchFamily="34" charset="-122"/>
              </a:rPr>
              <a:t>表示</a:t>
            </a:r>
            <a:r>
              <a:rPr lang="en-US" altLang="zh-CN" sz="1800" b="1">
                <a:solidFill>
                  <a:schemeClr val="accent2"/>
                </a:solidFill>
                <a:latin typeface="微软雅黑" panose="020B0503020204020204" pitchFamily="34" charset="-122"/>
                <a:ea typeface="微软雅黑" panose="020B0503020204020204" pitchFamily="34" charset="-122"/>
              </a:rPr>
              <a:t>U</a:t>
            </a:r>
            <a:r>
              <a:rPr lang="zh-CN" altLang="en-US" sz="1800" b="1">
                <a:solidFill>
                  <a:schemeClr val="accent2"/>
                </a:solidFill>
                <a:latin typeface="微软雅黑" panose="020B0503020204020204" pitchFamily="34" charset="-122"/>
                <a:ea typeface="微软雅黑" panose="020B0503020204020204" pitchFamily="34" charset="-122"/>
              </a:rPr>
              <a:t>模式下能访问该页，而默认</a:t>
            </a: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模式不能。若不能访问时进行了访存操作，则引起访存故障。默认</a:t>
            </a:r>
            <a:r>
              <a:rPr lang="en-US" altLang="zh-CN" sz="1800" b="1">
                <a:solidFill>
                  <a:schemeClr val="accent2"/>
                </a:solidFill>
                <a:latin typeface="微软雅黑" panose="020B0503020204020204" pitchFamily="34" charset="-122"/>
                <a:ea typeface="微软雅黑" panose="020B0503020204020204" pitchFamily="34" charset="-122"/>
              </a:rPr>
              <a:t>S</a:t>
            </a:r>
            <a:r>
              <a:rPr lang="zh-CN" altLang="en-US" sz="1800" b="1">
                <a:solidFill>
                  <a:schemeClr val="accent2"/>
                </a:solidFill>
                <a:latin typeface="微软雅黑" panose="020B0503020204020204" pitchFamily="34" charset="-122"/>
                <a:ea typeface="微软雅黑" panose="020B0503020204020204" pitchFamily="34" charset="-122"/>
              </a:rPr>
              <a:t>模式不能访问</a:t>
            </a:r>
            <a:r>
              <a:rPr lang="en-US" altLang="zh-CN" sz="1800" b="1">
                <a:solidFill>
                  <a:schemeClr val="accent2"/>
                </a:solidFill>
                <a:latin typeface="微软雅黑" panose="020B0503020204020204" pitchFamily="34" charset="-122"/>
                <a:ea typeface="微软雅黑" panose="020B0503020204020204" pitchFamily="34" charset="-122"/>
              </a:rPr>
              <a:t>U=1</a:t>
            </a:r>
            <a:r>
              <a:rPr lang="zh-CN" altLang="en-US" sz="1800" b="1">
                <a:solidFill>
                  <a:schemeClr val="accent2"/>
                </a:solidFill>
                <a:latin typeface="微软雅黑" panose="020B0503020204020204" pitchFamily="34" charset="-122"/>
                <a:ea typeface="微软雅黑" panose="020B0503020204020204" pitchFamily="34" charset="-122"/>
              </a:rPr>
              <a:t>的页面，可防止恶意程序哄骗操作系统窃取其它程序的数据。</a:t>
            </a: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G</a:t>
            </a:r>
            <a:r>
              <a:rPr lang="zh-CN" altLang="en-US" sz="1800" b="1">
                <a:solidFill>
                  <a:schemeClr val="accent2"/>
                </a:solidFill>
                <a:latin typeface="微软雅黑" panose="020B0503020204020204" pitchFamily="34" charset="-122"/>
                <a:ea typeface="微软雅黑" panose="020B0503020204020204" pitchFamily="34" charset="-122"/>
              </a:rPr>
              <a:t>：指定全局映射。全局映射指存在于整个地址空间的映射，通常用于</a:t>
            </a:r>
            <a:r>
              <a:rPr lang="en-US" altLang="zh-CN" sz="1800" b="1">
                <a:solidFill>
                  <a:schemeClr val="accent2"/>
                </a:solidFill>
                <a:latin typeface="微软雅黑" panose="020B0503020204020204" pitchFamily="34" charset="-122"/>
                <a:ea typeface="微软雅黑" panose="020B0503020204020204" pitchFamily="34" charset="-122"/>
              </a:rPr>
              <a:t>OS</a:t>
            </a:r>
            <a:r>
              <a:rPr lang="zh-CN" altLang="en-US" sz="1800" b="1">
                <a:solidFill>
                  <a:schemeClr val="accent2"/>
                </a:solidFill>
                <a:latin typeface="微软雅黑" panose="020B0503020204020204" pitchFamily="34" charset="-122"/>
                <a:ea typeface="微软雅黑" panose="020B0503020204020204" pitchFamily="34" charset="-122"/>
              </a:rPr>
              <a:t>自身使用的页面。页目录项时，</a:t>
            </a:r>
            <a:r>
              <a:rPr lang="en-US" altLang="zh-CN" sz="1800" b="1">
                <a:solidFill>
                  <a:schemeClr val="accent2"/>
                </a:solidFill>
                <a:latin typeface="微软雅黑" panose="020B0503020204020204" pitchFamily="34" charset="-122"/>
                <a:ea typeface="微软雅黑" panose="020B0503020204020204" pitchFamily="34" charset="-122"/>
              </a:rPr>
              <a:t>G=1</a:t>
            </a:r>
            <a:r>
              <a:rPr lang="zh-CN" altLang="en-US" sz="1800" b="1">
                <a:solidFill>
                  <a:schemeClr val="accent2"/>
                </a:solidFill>
                <a:latin typeface="微软雅黑" panose="020B0503020204020204" pitchFamily="34" charset="-122"/>
                <a:ea typeface="微软雅黑" panose="020B0503020204020204" pitchFamily="34" charset="-122"/>
              </a:rPr>
              <a:t>说明其下一级所有页表项都是全局映射。将全局映射标记为非全局映射只会降低性能，而将非全局映射标记为全局映射则会发生访存故障。</a:t>
            </a: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A</a:t>
            </a:r>
            <a:r>
              <a:rPr lang="zh-CN" altLang="en-US" sz="1800" b="1">
                <a:solidFill>
                  <a:schemeClr val="accent2"/>
                </a:solidFill>
                <a:latin typeface="微软雅黑" panose="020B0503020204020204" pitchFamily="34" charset="-122"/>
                <a:ea typeface="微软雅黑" panose="020B0503020204020204" pitchFamily="34" charset="-122"/>
              </a:rPr>
              <a:t>：访问位。记录自上一次</a:t>
            </a:r>
            <a:r>
              <a:rPr lang="en-US" altLang="zh-CN" sz="1800" b="1">
                <a:solidFill>
                  <a:schemeClr val="accent2"/>
                </a:solidFill>
                <a:latin typeface="微软雅黑" panose="020B0503020204020204" pitchFamily="34" charset="-122"/>
                <a:ea typeface="微软雅黑" panose="020B0503020204020204" pitchFamily="34" charset="-122"/>
              </a:rPr>
              <a:t>A</a:t>
            </a:r>
            <a:r>
              <a:rPr lang="zh-CN" altLang="en-US" sz="1800" b="1">
                <a:solidFill>
                  <a:schemeClr val="accent2"/>
                </a:solidFill>
                <a:latin typeface="微软雅黑" panose="020B0503020204020204" pitchFamily="34" charset="-122"/>
                <a:ea typeface="微软雅黑" panose="020B0503020204020204" pitchFamily="34" charset="-122"/>
              </a:rPr>
              <a:t>位被清除以来，该页是否被访问过。</a:t>
            </a: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D</a:t>
            </a:r>
            <a:r>
              <a:rPr lang="zh-CN" altLang="en-US" sz="1800" b="1">
                <a:solidFill>
                  <a:schemeClr val="accent2"/>
                </a:solidFill>
                <a:latin typeface="微软雅黑" panose="020B0503020204020204" pitchFamily="34" charset="-122"/>
                <a:ea typeface="微软雅黑" panose="020B0503020204020204" pitchFamily="34" charset="-122"/>
              </a:rPr>
              <a:t>：脏位。记录自上一次</a:t>
            </a:r>
            <a:r>
              <a:rPr lang="en-US" altLang="zh-CN" sz="1800" b="1">
                <a:solidFill>
                  <a:schemeClr val="accent2"/>
                </a:solidFill>
                <a:latin typeface="微软雅黑" panose="020B0503020204020204" pitchFamily="34" charset="-122"/>
                <a:ea typeface="微软雅黑" panose="020B0503020204020204" pitchFamily="34" charset="-122"/>
              </a:rPr>
              <a:t>D</a:t>
            </a:r>
            <a:r>
              <a:rPr lang="zh-CN" altLang="en-US" sz="1800" b="1">
                <a:solidFill>
                  <a:schemeClr val="accent2"/>
                </a:solidFill>
                <a:latin typeface="微软雅黑" panose="020B0503020204020204" pitchFamily="34" charset="-122"/>
                <a:ea typeface="微软雅黑" panose="020B0503020204020204" pitchFamily="34" charset="-122"/>
              </a:rPr>
              <a:t>位被清除以来，该页是否被写过。</a:t>
            </a: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RSW</a:t>
            </a:r>
            <a:r>
              <a:rPr lang="zh-CN" altLang="en-US" sz="1800" b="1">
                <a:solidFill>
                  <a:schemeClr val="accent2"/>
                </a:solidFill>
                <a:latin typeface="微软雅黑" panose="020B0503020204020204" pitchFamily="34" charset="-122"/>
                <a:ea typeface="微软雅黑" panose="020B0503020204020204" pitchFamily="34" charset="-122"/>
              </a:rPr>
              <a:t>：留给操作系统使用，硬件可忽略。</a:t>
            </a:r>
          </a:p>
          <a:p>
            <a:pPr>
              <a:lnSpc>
                <a:spcPct val="105000"/>
              </a:lnSpc>
              <a:spcBef>
                <a:spcPct val="15000"/>
              </a:spcBef>
              <a:buSzPct val="75000"/>
              <a:buFont typeface="Wingdings" pitchFamily="2" charset="2"/>
              <a:buChar char="u"/>
            </a:pPr>
            <a:r>
              <a:rPr lang="en-US" altLang="zh-CN" sz="1800" b="1">
                <a:solidFill>
                  <a:schemeClr val="accent2"/>
                </a:solidFill>
                <a:latin typeface="微软雅黑" panose="020B0503020204020204" pitchFamily="34" charset="-122"/>
                <a:ea typeface="微软雅黑" panose="020B0503020204020204" pitchFamily="34" charset="-122"/>
              </a:rPr>
              <a:t>PPN</a:t>
            </a:r>
            <a:r>
              <a:rPr lang="zh-CN" altLang="en-US" sz="1800" b="1">
                <a:solidFill>
                  <a:schemeClr val="accent2"/>
                </a:solidFill>
                <a:latin typeface="微软雅黑" panose="020B0503020204020204" pitchFamily="34" charset="-122"/>
                <a:ea typeface="微软雅黑" panose="020B0503020204020204" pitchFamily="34" charset="-122"/>
              </a:rPr>
              <a:t>：物理页（页框）号。</a:t>
            </a:r>
            <a:endParaRPr lang="en-US" altLang="zh-CN" sz="1800" b="1">
              <a:solidFill>
                <a:schemeClr val="accent2"/>
              </a:solidFill>
              <a:latin typeface="微软雅黑" panose="020B0503020204020204" pitchFamily="34" charset="-122"/>
              <a:ea typeface="微软雅黑" panose="020B0503020204020204" pitchFamily="34" charset="-122"/>
            </a:endParaRPr>
          </a:p>
        </p:txBody>
      </p:sp>
      <p:sp>
        <p:nvSpPr>
          <p:cNvPr id="262147" name="Rectangle 5">
            <a:extLst>
              <a:ext uri="{FF2B5EF4-FFF2-40B4-BE49-F238E27FC236}">
                <a16:creationId xmlns:a16="http://schemas.microsoft.com/office/drawing/2014/main" id="{BB41C25E-7801-1B45-9F5C-02E2CDFA72E4}"/>
              </a:ext>
            </a:extLst>
          </p:cNvPr>
          <p:cNvSpPr>
            <a:spLocks noGrp="1" noChangeArrowheads="1"/>
          </p:cNvSpPr>
          <p:nvPr>
            <p:ph type="title"/>
          </p:nvPr>
        </p:nvSpPr>
        <p:spPr>
          <a:xfrm>
            <a:off x="285750" y="114300"/>
            <a:ext cx="8553450" cy="479425"/>
          </a:xfrm>
          <a:noFill/>
        </p:spPr>
        <p:txBody>
          <a:bodyPr/>
          <a:lstStyle/>
          <a:p>
            <a:r>
              <a:rPr lang="en-US" altLang="zh-CN" sz="3200">
                <a:ea typeface="宋体" panose="02010600030101010101" pitchFamily="2" charset="-122"/>
              </a:rPr>
              <a:t>S</a:t>
            </a:r>
            <a:r>
              <a:rPr lang="zh-CN" altLang="en-US" sz="3200">
                <a:ea typeface="宋体" panose="02010600030101010101" pitchFamily="2" charset="-122"/>
              </a:rPr>
              <a:t>模式下的页式虚拟存储管理机制</a:t>
            </a:r>
            <a:endParaRPr lang="en-US" altLang="zh-CN" sz="3200">
              <a:ea typeface="宋体" panose="02010600030101010101" pitchFamily="2" charset="-122"/>
            </a:endParaRPr>
          </a:p>
        </p:txBody>
      </p:sp>
      <p:pic>
        <p:nvPicPr>
          <p:cNvPr id="262148" name="Picture 2">
            <a:extLst>
              <a:ext uri="{FF2B5EF4-FFF2-40B4-BE49-F238E27FC236}">
                <a16:creationId xmlns:a16="http://schemas.microsoft.com/office/drawing/2014/main" id="{18668EF2-5FA7-DB42-94A2-82A733172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 y="1333500"/>
            <a:ext cx="770572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194" name="图片 4">
            <a:extLst>
              <a:ext uri="{FF2B5EF4-FFF2-40B4-BE49-F238E27FC236}">
                <a16:creationId xmlns:a16="http://schemas.microsoft.com/office/drawing/2014/main" id="{B801D6EC-B22B-E142-93BF-C44F803F02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784350"/>
            <a:ext cx="5438775" cy="400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195" name="Rectangle 5">
            <a:extLst>
              <a:ext uri="{FF2B5EF4-FFF2-40B4-BE49-F238E27FC236}">
                <a16:creationId xmlns:a16="http://schemas.microsoft.com/office/drawing/2014/main" id="{3186D97B-3954-BF41-A1A2-5F0B2CF34279}"/>
              </a:ext>
            </a:extLst>
          </p:cNvPr>
          <p:cNvSpPr>
            <a:spLocks noGrp="1" noChangeArrowheads="1"/>
          </p:cNvSpPr>
          <p:nvPr>
            <p:ph type="title"/>
          </p:nvPr>
        </p:nvSpPr>
        <p:spPr>
          <a:xfrm>
            <a:off x="285750" y="114300"/>
            <a:ext cx="8553450" cy="479425"/>
          </a:xfrm>
          <a:noFill/>
        </p:spPr>
        <p:txBody>
          <a:bodyPr/>
          <a:lstStyle/>
          <a:p>
            <a:r>
              <a:rPr lang="en-US" altLang="zh-CN" sz="3200">
                <a:ea typeface="宋体" panose="02010600030101010101" pitchFamily="2" charset="-122"/>
              </a:rPr>
              <a:t>Sv32</a:t>
            </a:r>
            <a:r>
              <a:rPr lang="zh-CN" altLang="en-US" sz="3200">
                <a:ea typeface="宋体" panose="02010600030101010101" pitchFamily="2" charset="-122"/>
              </a:rPr>
              <a:t>中地址转换过程</a:t>
            </a:r>
            <a:endParaRPr lang="en-US" altLang="zh-CN" sz="3200">
              <a:ea typeface="宋体" panose="02010600030101010101" pitchFamily="2" charset="-122"/>
            </a:endParaRPr>
          </a:p>
        </p:txBody>
      </p:sp>
      <p:sp>
        <p:nvSpPr>
          <p:cNvPr id="264196" name="矩形 1">
            <a:extLst>
              <a:ext uri="{FF2B5EF4-FFF2-40B4-BE49-F238E27FC236}">
                <a16:creationId xmlns:a16="http://schemas.microsoft.com/office/drawing/2014/main" id="{BEFBE35C-82CD-3842-B8D1-F185582BD6C1}"/>
              </a:ext>
            </a:extLst>
          </p:cNvPr>
          <p:cNvSpPr>
            <a:spLocks noChangeArrowheads="1"/>
          </p:cNvSpPr>
          <p:nvPr/>
        </p:nvSpPr>
        <p:spPr bwMode="auto">
          <a:xfrm>
            <a:off x="133350" y="768350"/>
            <a:ext cx="89233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14000"/>
              </a:lnSpc>
            </a:pPr>
            <a:r>
              <a:rPr lang="en-US" altLang="zh-CN" sz="1800" b="1">
                <a:latin typeface="微软雅黑" panose="020B0503020204020204" pitchFamily="34" charset="-122"/>
                <a:ea typeface="微软雅黑" panose="020B0503020204020204" pitchFamily="34" charset="-122"/>
              </a:rPr>
              <a:t>satp</a:t>
            </a:r>
            <a:r>
              <a:rPr lang="zh-CN" altLang="en-US" sz="1800" b="1">
                <a:latin typeface="微软雅黑" panose="020B0503020204020204" pitchFamily="34" charset="-122"/>
                <a:ea typeface="微软雅黑" panose="020B0503020204020204" pitchFamily="34" charset="-122"/>
              </a:rPr>
              <a:t>（</a:t>
            </a:r>
            <a:r>
              <a:rPr lang="en-US" altLang="zh-CN" sz="1800" b="1">
                <a:latin typeface="微软雅黑" panose="020B0503020204020204" pitchFamily="34" charset="-122"/>
                <a:ea typeface="微软雅黑" panose="020B0503020204020204" pitchFamily="34" charset="-122"/>
              </a:rPr>
              <a:t>Supervisor Address Translation and Protection</a:t>
            </a:r>
            <a:r>
              <a:rPr lang="zh-CN" altLang="en-US" sz="1800" b="1">
                <a:latin typeface="微软雅黑" panose="020B0503020204020204" pitchFamily="34" charset="-122"/>
                <a:ea typeface="微软雅黑" panose="020B0503020204020204" pitchFamily="34" charset="-122"/>
              </a:rPr>
              <a:t>）寄存器是</a:t>
            </a:r>
            <a:r>
              <a:rPr lang="en-US" altLang="zh-CN" sz="1800" b="1">
                <a:latin typeface="微软雅黑" panose="020B0503020204020204" pitchFamily="34" charset="-122"/>
                <a:ea typeface="微软雅黑" panose="020B0503020204020204" pitchFamily="34" charset="-122"/>
              </a:rPr>
              <a:t>S</a:t>
            </a:r>
            <a:r>
              <a:rPr lang="zh-CN" altLang="en-US" sz="1800" b="1">
                <a:latin typeface="微软雅黑" panose="020B0503020204020204" pitchFamily="34" charset="-122"/>
                <a:ea typeface="微软雅黑" panose="020B0503020204020204" pitchFamily="34" charset="-122"/>
              </a:rPr>
              <a:t>模式下的一个</a:t>
            </a:r>
            <a:r>
              <a:rPr lang="en-US" altLang="zh-CN" sz="1800" b="1">
                <a:latin typeface="微软雅黑" panose="020B0503020204020204" pitchFamily="34" charset="-122"/>
                <a:ea typeface="微软雅黑" panose="020B0503020204020204" pitchFamily="34" charset="-122"/>
              </a:rPr>
              <a:t>CSR</a:t>
            </a:r>
            <a:r>
              <a:rPr lang="zh-CN" altLang="en-US" sz="1800" b="1">
                <a:latin typeface="微软雅黑" panose="020B0503020204020204" pitchFamily="34" charset="-122"/>
                <a:ea typeface="微软雅黑" panose="020B0503020204020204" pitchFamily="34" charset="-122"/>
              </a:rPr>
              <a:t>寄存器，其中，</a:t>
            </a:r>
            <a:r>
              <a:rPr lang="en-US" altLang="zh-CN" sz="1800" b="1">
                <a:latin typeface="微软雅黑" panose="020B0503020204020204" pitchFamily="34" charset="-122"/>
                <a:ea typeface="微软雅黑" panose="020B0503020204020204" pitchFamily="34" charset="-122"/>
              </a:rPr>
              <a:t>MODE</a:t>
            </a:r>
            <a:r>
              <a:rPr lang="zh-CN" altLang="en-US" sz="1800" b="1">
                <a:latin typeface="微软雅黑" panose="020B0503020204020204" pitchFamily="34" charset="-122"/>
                <a:ea typeface="微软雅黑" panose="020B0503020204020204" pitchFamily="34" charset="-122"/>
              </a:rPr>
              <a:t>字段可设置是否开启分页模式，以及支持多少位虚拟地址，在开启分页模式的情况下，</a:t>
            </a:r>
            <a:r>
              <a:rPr lang="en-US" altLang="zh-CN" sz="1800" b="1">
                <a:latin typeface="微软雅黑" panose="020B0503020204020204" pitchFamily="34" charset="-122"/>
                <a:ea typeface="微软雅黑" panose="020B0503020204020204" pitchFamily="34" charset="-122"/>
              </a:rPr>
              <a:t>PPN</a:t>
            </a:r>
            <a:r>
              <a:rPr lang="zh-CN" altLang="en-US" sz="1800" b="1">
                <a:latin typeface="微软雅黑" panose="020B0503020204020204" pitchFamily="34" charset="-122"/>
                <a:ea typeface="微软雅黑" panose="020B0503020204020204" pitchFamily="34" charset="-122"/>
              </a:rPr>
              <a:t>字段用于指出页目录表的页框号。</a:t>
            </a:r>
          </a:p>
        </p:txBody>
      </p:sp>
      <p:sp>
        <p:nvSpPr>
          <p:cNvPr id="264197" name="矩形 2">
            <a:extLst>
              <a:ext uri="{FF2B5EF4-FFF2-40B4-BE49-F238E27FC236}">
                <a16:creationId xmlns:a16="http://schemas.microsoft.com/office/drawing/2014/main" id="{A9F4E572-7C82-E045-BE0D-CB77D0A615E4}"/>
              </a:ext>
            </a:extLst>
          </p:cNvPr>
          <p:cNvSpPr>
            <a:spLocks noChangeArrowheads="1"/>
          </p:cNvSpPr>
          <p:nvPr/>
        </p:nvSpPr>
        <p:spPr bwMode="auto">
          <a:xfrm>
            <a:off x="228600" y="1879600"/>
            <a:ext cx="3457575"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25000"/>
              </a:lnSpc>
              <a:spcBef>
                <a:spcPts val="1200"/>
              </a:spcBef>
            </a:pPr>
            <a:r>
              <a:rPr lang="en-US" altLang="zh-CN" sz="1800" b="1">
                <a:solidFill>
                  <a:schemeClr val="accent1"/>
                </a:solidFill>
                <a:latin typeface="微软雅黑" panose="020B0503020204020204" pitchFamily="34" charset="-122"/>
                <a:ea typeface="微软雅黑" panose="020B0503020204020204" pitchFamily="34" charset="-122"/>
              </a:rPr>
              <a:t>Step1. </a:t>
            </a:r>
            <a:r>
              <a:rPr lang="zh-CN" altLang="en-US" sz="1800" b="1">
                <a:solidFill>
                  <a:schemeClr val="accent2"/>
                </a:solidFill>
                <a:latin typeface="微软雅黑" panose="020B0503020204020204" pitchFamily="34" charset="-122"/>
                <a:ea typeface="微软雅黑" panose="020B0503020204020204" pitchFamily="34" charset="-122"/>
              </a:rPr>
              <a:t>读取位于主存地址</a:t>
            </a:r>
            <a:r>
              <a:rPr lang="en-US" altLang="zh-CN" sz="1800" b="1">
                <a:solidFill>
                  <a:schemeClr val="accent2"/>
                </a:solidFill>
                <a:latin typeface="微软雅黑" panose="020B0503020204020204" pitchFamily="34" charset="-122"/>
                <a:ea typeface="微软雅黑" panose="020B0503020204020204" pitchFamily="34" charset="-122"/>
              </a:rPr>
              <a:t>(satp.PPN×4096+VA[31:22]×4)</a:t>
            </a:r>
            <a:r>
              <a:rPr lang="zh-CN" altLang="en-US" sz="1800" b="1">
                <a:solidFill>
                  <a:schemeClr val="accent2"/>
                </a:solidFill>
                <a:latin typeface="微软雅黑" panose="020B0503020204020204" pitchFamily="34" charset="-122"/>
                <a:ea typeface="微软雅黑" panose="020B0503020204020204" pitchFamily="34" charset="-122"/>
              </a:rPr>
              <a:t>处的页目录项（</a:t>
            </a:r>
            <a:r>
              <a:rPr lang="en-US" altLang="zh-CN" sz="1800" b="1">
                <a:solidFill>
                  <a:schemeClr val="accent2"/>
                </a:solidFill>
                <a:latin typeface="微软雅黑" panose="020B0503020204020204" pitchFamily="34" charset="-122"/>
                <a:ea typeface="微软雅黑" panose="020B0503020204020204" pitchFamily="34" charset="-122"/>
              </a:rPr>
              <a:t>PDE</a:t>
            </a:r>
            <a:r>
              <a:rPr lang="zh-CN" altLang="en-US" sz="1800" b="1">
                <a:solidFill>
                  <a:schemeClr val="accent2"/>
                </a:solidFill>
                <a:latin typeface="微软雅黑" panose="020B0503020204020204" pitchFamily="34" charset="-122"/>
                <a:ea typeface="微软雅黑" panose="020B0503020204020204" pitchFamily="34" charset="-122"/>
              </a:rPr>
              <a:t>）</a:t>
            </a:r>
          </a:p>
          <a:p>
            <a:pPr>
              <a:lnSpc>
                <a:spcPct val="125000"/>
              </a:lnSpc>
              <a:spcBef>
                <a:spcPts val="1200"/>
              </a:spcBef>
            </a:pPr>
            <a:r>
              <a:rPr lang="en-US" altLang="zh-CN" sz="1800" b="1">
                <a:solidFill>
                  <a:schemeClr val="accent1"/>
                </a:solidFill>
                <a:latin typeface="微软雅黑" panose="020B0503020204020204" pitchFamily="34" charset="-122"/>
                <a:ea typeface="微软雅黑" panose="020B0503020204020204" pitchFamily="34" charset="-122"/>
              </a:rPr>
              <a:t>Step2. </a:t>
            </a:r>
            <a:r>
              <a:rPr lang="zh-CN" altLang="en-US" sz="1800" b="1">
                <a:solidFill>
                  <a:schemeClr val="accent2"/>
                </a:solidFill>
                <a:latin typeface="微软雅黑" panose="020B0503020204020204" pitchFamily="34" charset="-122"/>
                <a:ea typeface="微软雅黑" panose="020B0503020204020204" pitchFamily="34" charset="-122"/>
              </a:rPr>
              <a:t>读取位于主存地址</a:t>
            </a:r>
            <a:r>
              <a:rPr lang="en-US" altLang="zh-CN" sz="1800" b="1">
                <a:solidFill>
                  <a:schemeClr val="accent2"/>
                </a:solidFill>
                <a:latin typeface="微软雅黑" panose="020B0503020204020204" pitchFamily="34" charset="-122"/>
                <a:ea typeface="微软雅黑" panose="020B0503020204020204" pitchFamily="34" charset="-122"/>
              </a:rPr>
              <a:t>(PDE.PPN×4096+VA[21:12]×4)</a:t>
            </a:r>
            <a:r>
              <a:rPr lang="zh-CN" altLang="en-US" sz="1800" b="1">
                <a:solidFill>
                  <a:schemeClr val="accent2"/>
                </a:solidFill>
                <a:latin typeface="微软雅黑" panose="020B0503020204020204" pitchFamily="34" charset="-122"/>
                <a:ea typeface="微软雅黑" panose="020B0503020204020204" pitchFamily="34" charset="-122"/>
              </a:rPr>
              <a:t>的页表项（</a:t>
            </a:r>
            <a:r>
              <a:rPr lang="en-US" altLang="zh-CN" sz="1800" b="1">
                <a:solidFill>
                  <a:schemeClr val="accent2"/>
                </a:solidFill>
                <a:latin typeface="微软雅黑" panose="020B0503020204020204" pitchFamily="34" charset="-122"/>
                <a:ea typeface="微软雅黑" panose="020B0503020204020204" pitchFamily="34" charset="-122"/>
              </a:rPr>
              <a:t>PTE</a:t>
            </a:r>
            <a:r>
              <a:rPr lang="zh-CN" altLang="en-US" sz="1800" b="1">
                <a:solidFill>
                  <a:schemeClr val="accent2"/>
                </a:solidFill>
                <a:latin typeface="微软雅黑" panose="020B0503020204020204" pitchFamily="34" charset="-122"/>
                <a:ea typeface="微软雅黑" panose="020B0503020204020204" pitchFamily="34" charset="-122"/>
              </a:rPr>
              <a:t>）</a:t>
            </a:r>
          </a:p>
          <a:p>
            <a:pPr>
              <a:lnSpc>
                <a:spcPct val="125000"/>
              </a:lnSpc>
              <a:spcBef>
                <a:spcPts val="1200"/>
              </a:spcBef>
            </a:pPr>
            <a:r>
              <a:rPr lang="en-US" altLang="zh-CN" sz="1800" b="1">
                <a:solidFill>
                  <a:schemeClr val="accent1"/>
                </a:solidFill>
                <a:latin typeface="微软雅黑" panose="020B0503020204020204" pitchFamily="34" charset="-122"/>
                <a:ea typeface="微软雅黑" panose="020B0503020204020204" pitchFamily="34" charset="-122"/>
              </a:rPr>
              <a:t>Step3. </a:t>
            </a:r>
            <a:r>
              <a:rPr lang="zh-CN" altLang="en-US" sz="1800" b="1">
                <a:solidFill>
                  <a:schemeClr val="accent2"/>
                </a:solidFill>
                <a:latin typeface="微软雅黑" panose="020B0503020204020204" pitchFamily="34" charset="-122"/>
                <a:ea typeface="微软雅黑" panose="020B0503020204020204" pitchFamily="34" charset="-122"/>
              </a:rPr>
              <a:t>页表项中</a:t>
            </a:r>
            <a:r>
              <a:rPr lang="en-US" altLang="zh-CN" sz="1800" b="1">
                <a:solidFill>
                  <a:schemeClr val="accent2"/>
                </a:solidFill>
                <a:latin typeface="微软雅黑" panose="020B0503020204020204" pitchFamily="34" charset="-122"/>
                <a:ea typeface="微软雅黑" panose="020B0503020204020204" pitchFamily="34" charset="-122"/>
              </a:rPr>
              <a:t>22</a:t>
            </a:r>
            <a:r>
              <a:rPr lang="zh-CN" altLang="en-US" sz="1800" b="1">
                <a:solidFill>
                  <a:schemeClr val="accent2"/>
                </a:solidFill>
                <a:latin typeface="微软雅黑" panose="020B0503020204020204" pitchFamily="34" charset="-122"/>
                <a:ea typeface="微软雅黑" panose="020B0503020204020204" pitchFamily="34" charset="-122"/>
              </a:rPr>
              <a:t>位的</a:t>
            </a:r>
            <a:r>
              <a:rPr lang="en-US" altLang="zh-CN" sz="1800" b="1">
                <a:solidFill>
                  <a:schemeClr val="accent2"/>
                </a:solidFill>
                <a:latin typeface="微软雅黑" panose="020B0503020204020204" pitchFamily="34" charset="-122"/>
                <a:ea typeface="微软雅黑" panose="020B0503020204020204" pitchFamily="34" charset="-122"/>
              </a:rPr>
              <a:t>PPN</a:t>
            </a:r>
            <a:r>
              <a:rPr lang="zh-CN" altLang="en-US" sz="1800" b="1">
                <a:solidFill>
                  <a:schemeClr val="accent2"/>
                </a:solidFill>
                <a:latin typeface="微软雅黑" panose="020B0503020204020204" pitchFamily="34" charset="-122"/>
                <a:ea typeface="微软雅黑" panose="020B0503020204020204" pitchFamily="34" charset="-122"/>
              </a:rPr>
              <a:t>字段和</a:t>
            </a:r>
            <a:r>
              <a:rPr lang="en-US" altLang="zh-CN" sz="1800" b="1">
                <a:solidFill>
                  <a:schemeClr val="accent2"/>
                </a:solidFill>
                <a:latin typeface="微软雅黑" panose="020B0503020204020204" pitchFamily="34" charset="-122"/>
                <a:ea typeface="微软雅黑" panose="020B0503020204020204" pitchFamily="34" charset="-122"/>
              </a:rPr>
              <a:t>VA</a:t>
            </a:r>
            <a:r>
              <a:rPr lang="zh-CN" altLang="en-US" sz="1800" b="1">
                <a:solidFill>
                  <a:schemeClr val="accent2"/>
                </a:solidFill>
                <a:latin typeface="微软雅黑" panose="020B0503020204020204" pitchFamily="34" charset="-122"/>
                <a:ea typeface="微软雅黑" panose="020B0503020204020204" pitchFamily="34" charset="-122"/>
              </a:rPr>
              <a:t>中的页内偏移地址（</a:t>
            </a:r>
            <a:r>
              <a:rPr lang="en-US" altLang="zh-CN" sz="1800" b="1">
                <a:solidFill>
                  <a:schemeClr val="accent2"/>
                </a:solidFill>
                <a:latin typeface="微软雅黑" panose="020B0503020204020204" pitchFamily="34" charset="-122"/>
                <a:ea typeface="微软雅黑" panose="020B0503020204020204" pitchFamily="34" charset="-122"/>
              </a:rPr>
              <a:t>offset</a:t>
            </a:r>
            <a:r>
              <a:rPr lang="zh-CN" altLang="en-US" sz="1800" b="1">
                <a:solidFill>
                  <a:schemeClr val="accent2"/>
                </a:solidFill>
                <a:latin typeface="微软雅黑" panose="020B0503020204020204" pitchFamily="34" charset="-122"/>
                <a:ea typeface="微软雅黑" panose="020B0503020204020204" pitchFamily="34" charset="-122"/>
              </a:rPr>
              <a:t>）组成</a:t>
            </a:r>
            <a:r>
              <a:rPr lang="en-US" altLang="zh-CN" sz="1800" b="1">
                <a:solidFill>
                  <a:schemeClr val="accent2"/>
                </a:solidFill>
                <a:latin typeface="微软雅黑" panose="020B0503020204020204" pitchFamily="34" charset="-122"/>
                <a:ea typeface="微软雅黑" panose="020B0503020204020204" pitchFamily="34" charset="-122"/>
              </a:rPr>
              <a:t>34</a:t>
            </a:r>
            <a:r>
              <a:rPr lang="zh-CN" altLang="en-US" sz="1800" b="1">
                <a:solidFill>
                  <a:schemeClr val="accent2"/>
                </a:solidFill>
                <a:latin typeface="微软雅黑" panose="020B0503020204020204" pitchFamily="34" charset="-122"/>
                <a:ea typeface="微软雅黑" panose="020B0503020204020204" pitchFamily="34" charset="-122"/>
              </a:rPr>
              <a:t>位物理地址：</a:t>
            </a:r>
            <a:r>
              <a:rPr lang="en-US" altLang="zh-CN" sz="1800" b="1">
                <a:solidFill>
                  <a:schemeClr val="accent2"/>
                </a:solidFill>
                <a:latin typeface="微软雅黑" panose="020B0503020204020204" pitchFamily="34" charset="-122"/>
                <a:ea typeface="微软雅黑" panose="020B0503020204020204" pitchFamily="34" charset="-122"/>
              </a:rPr>
              <a:t>(PTE.PPN×4096+VA[11: 0])</a:t>
            </a:r>
            <a:endParaRPr lang="zh-CN" altLang="en-US" sz="1800" b="1">
              <a:solidFill>
                <a:schemeClr val="accent2"/>
              </a:solidFill>
              <a:latin typeface="微软雅黑" panose="020B0503020204020204" pitchFamily="34" charset="-122"/>
              <a:ea typeface="微软雅黑" panose="020B0503020204020204" pitchFamily="34" charset="-122"/>
            </a:endParaRPr>
          </a:p>
        </p:txBody>
      </p:sp>
      <p:sp>
        <p:nvSpPr>
          <p:cNvPr id="264198" name="矩形 3">
            <a:extLst>
              <a:ext uri="{FF2B5EF4-FFF2-40B4-BE49-F238E27FC236}">
                <a16:creationId xmlns:a16="http://schemas.microsoft.com/office/drawing/2014/main" id="{73E5BD10-4924-9C48-9928-E72825C73D08}"/>
              </a:ext>
            </a:extLst>
          </p:cNvPr>
          <p:cNvSpPr>
            <a:spLocks noChangeArrowheads="1"/>
          </p:cNvSpPr>
          <p:nvPr/>
        </p:nvSpPr>
        <p:spPr bwMode="auto">
          <a:xfrm>
            <a:off x="217488" y="5791200"/>
            <a:ext cx="8639175"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nSpc>
                <a:spcPct val="110000"/>
              </a:lnSpc>
            </a:pPr>
            <a:r>
              <a:rPr lang="zh-CN" altLang="en-US" sz="1800" b="1">
                <a:latin typeface="微软雅黑" panose="020B0503020204020204" pitchFamily="34" charset="-122"/>
                <a:ea typeface="微软雅黑" panose="020B0503020204020204" pitchFamily="34" charset="-122"/>
              </a:rPr>
              <a:t>地址转换过程中，处理器会根据页表项内容进行各种异常情况检查。</a:t>
            </a:r>
            <a:endParaRPr lang="en-US" altLang="zh-CN" sz="1800" b="1">
              <a:latin typeface="微软雅黑" panose="020B0503020204020204" pitchFamily="34" charset="-122"/>
              <a:ea typeface="微软雅黑" panose="020B0503020204020204" pitchFamily="34" charset="-122"/>
            </a:endParaRPr>
          </a:p>
          <a:p>
            <a:pPr>
              <a:lnSpc>
                <a:spcPct val="110000"/>
              </a:lnSpc>
            </a:pPr>
            <a:r>
              <a:rPr lang="zh-CN" altLang="en-US" sz="1800" b="1">
                <a:solidFill>
                  <a:srgbClr val="7030A0"/>
                </a:solidFill>
                <a:latin typeface="微软雅黑" panose="020B0503020204020204" pitchFamily="34" charset="-122"/>
                <a:ea typeface="微软雅黑" panose="020B0503020204020204" pitchFamily="34" charset="-122"/>
              </a:rPr>
              <a:t>例如，若</a:t>
            </a:r>
            <a:r>
              <a:rPr lang="en-US" altLang="zh-CN" sz="1800" b="1">
                <a:solidFill>
                  <a:srgbClr val="7030A0"/>
                </a:solidFill>
                <a:latin typeface="微软雅黑" panose="020B0503020204020204" pitchFamily="34" charset="-122"/>
                <a:ea typeface="微软雅黑" panose="020B0503020204020204" pitchFamily="34" charset="-122"/>
              </a:rPr>
              <a:t>V=0</a:t>
            </a:r>
            <a:r>
              <a:rPr lang="zh-CN" altLang="en-US" sz="1800" b="1">
                <a:solidFill>
                  <a:srgbClr val="7030A0"/>
                </a:solidFill>
                <a:latin typeface="微软雅黑" panose="020B0503020204020204" pitchFamily="34" charset="-122"/>
                <a:ea typeface="微软雅黑" panose="020B0503020204020204" pitchFamily="34" charset="-122"/>
              </a:rPr>
              <a:t>，则引起缺页故障；若实际操作与</a:t>
            </a:r>
            <a:r>
              <a:rPr lang="en-US" altLang="zh-CN" sz="1800" b="1">
                <a:solidFill>
                  <a:srgbClr val="7030A0"/>
                </a:solidFill>
                <a:latin typeface="微软雅黑" panose="020B0503020204020204" pitchFamily="34" charset="-122"/>
                <a:ea typeface="微软雅黑" panose="020B0503020204020204" pitchFamily="34" charset="-122"/>
              </a:rPr>
              <a:t>R</a:t>
            </a:r>
            <a:r>
              <a:rPr lang="zh-CN" altLang="en-US" sz="1800" b="1">
                <a:solidFill>
                  <a:srgbClr val="7030A0"/>
                </a:solidFill>
                <a:latin typeface="微软雅黑" panose="020B0503020204020204" pitchFamily="34" charset="-122"/>
                <a:ea typeface="微软雅黑" panose="020B0503020204020204" pitchFamily="34" charset="-122"/>
              </a:rPr>
              <a:t>、</a:t>
            </a:r>
            <a:r>
              <a:rPr lang="en-US" altLang="zh-CN" sz="1800" b="1">
                <a:solidFill>
                  <a:srgbClr val="7030A0"/>
                </a:solidFill>
                <a:latin typeface="微软雅黑" panose="020B0503020204020204" pitchFamily="34" charset="-122"/>
                <a:ea typeface="微软雅黑" panose="020B0503020204020204" pitchFamily="34" charset="-122"/>
              </a:rPr>
              <a:t>W</a:t>
            </a:r>
            <a:r>
              <a:rPr lang="zh-CN" altLang="en-US" sz="1800" b="1">
                <a:solidFill>
                  <a:srgbClr val="7030A0"/>
                </a:solidFill>
                <a:latin typeface="微软雅黑" panose="020B0503020204020204" pitchFamily="34" charset="-122"/>
                <a:ea typeface="微软雅黑" panose="020B0503020204020204" pitchFamily="34" charset="-122"/>
              </a:rPr>
              <a:t>、</a:t>
            </a:r>
            <a:r>
              <a:rPr lang="en-US" altLang="zh-CN" sz="1800" b="1">
                <a:solidFill>
                  <a:srgbClr val="7030A0"/>
                </a:solidFill>
                <a:latin typeface="微软雅黑" panose="020B0503020204020204" pitchFamily="34" charset="-122"/>
                <a:ea typeface="微软雅黑" panose="020B0503020204020204" pitchFamily="34" charset="-122"/>
              </a:rPr>
              <a:t>X</a:t>
            </a:r>
            <a:r>
              <a:rPr lang="zh-CN" altLang="en-US" sz="1800" b="1">
                <a:solidFill>
                  <a:srgbClr val="7030A0"/>
                </a:solidFill>
                <a:latin typeface="微软雅黑" panose="020B0503020204020204" pitchFamily="34" charset="-122"/>
                <a:ea typeface="微软雅黑" panose="020B0503020204020204" pitchFamily="34" charset="-122"/>
              </a:rPr>
              <a:t>指定的操作不符，则引起访存故障或取指令故障（有时统称为保护错）。</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8E2CA28D-979C-604C-93A4-66EDCB0872D9}"/>
              </a:ext>
            </a:extLst>
          </p:cNvPr>
          <p:cNvSpPr>
            <a:spLocks noGrp="1" noChangeArrowheads="1"/>
          </p:cNvSpPr>
          <p:nvPr>
            <p:ph type="title"/>
          </p:nvPr>
        </p:nvSpPr>
        <p:spPr>
          <a:xfrm>
            <a:off x="236538" y="128588"/>
            <a:ext cx="8807450" cy="425450"/>
          </a:xfrm>
        </p:spPr>
        <p:txBody>
          <a:bodyPr/>
          <a:lstStyle/>
          <a:p>
            <a:pPr eaLnBrk="1" hangingPunct="1"/>
            <a:r>
              <a:rPr lang="zh-CN" altLang="en-US" sz="2800"/>
              <a:t>第六讲小结</a:t>
            </a:r>
          </a:p>
        </p:txBody>
      </p:sp>
      <p:sp>
        <p:nvSpPr>
          <p:cNvPr id="617475" name="Rectangle 3">
            <a:extLst>
              <a:ext uri="{FF2B5EF4-FFF2-40B4-BE49-F238E27FC236}">
                <a16:creationId xmlns:a16="http://schemas.microsoft.com/office/drawing/2014/main" id="{50B2EDE4-FEDF-6646-B1E5-D8D17BDB6FC2}"/>
              </a:ext>
            </a:extLst>
          </p:cNvPr>
          <p:cNvSpPr>
            <a:spLocks noGrp="1" noChangeArrowheads="1"/>
          </p:cNvSpPr>
          <p:nvPr>
            <p:ph type="body" idx="1"/>
          </p:nvPr>
        </p:nvSpPr>
        <p:spPr>
          <a:xfrm>
            <a:off x="304800" y="954088"/>
            <a:ext cx="8640763" cy="5734050"/>
          </a:xfrm>
        </p:spPr>
        <p:txBody>
          <a:bodyPr/>
          <a:lstStyle/>
          <a:p>
            <a:pPr eaLnBrk="1" hangingPunct="1">
              <a:lnSpc>
                <a:spcPct val="110000"/>
              </a:lnSpc>
              <a:spcBef>
                <a:spcPct val="10000"/>
              </a:spcBef>
            </a:pPr>
            <a:r>
              <a:rPr lang="zh-CN" altLang="en-US" sz="2000">
                <a:ea typeface="黑体" panose="02010609060101010101" pitchFamily="49" charset="-122"/>
              </a:rPr>
              <a:t>虚拟存储器是磁盘和主存之间的缓存管理机制，而不是一种物理存储器</a:t>
            </a:r>
          </a:p>
          <a:p>
            <a:pPr eaLnBrk="1" hangingPunct="1">
              <a:lnSpc>
                <a:spcPct val="110000"/>
              </a:lnSpc>
              <a:spcBef>
                <a:spcPct val="10000"/>
              </a:spcBef>
            </a:pPr>
            <a:r>
              <a:rPr lang="zh-CN" altLang="en-US" sz="2000">
                <a:ea typeface="黑体" panose="02010609060101010101" pitchFamily="49" charset="-122"/>
              </a:rPr>
              <a:t>引入虚拟存储器，使程序员可以在一个极大的存储空间写程序，无需知道运行程序的物理存储器有多大</a:t>
            </a:r>
          </a:p>
          <a:p>
            <a:pPr eaLnBrk="1" hangingPunct="1">
              <a:lnSpc>
                <a:spcPct val="110000"/>
              </a:lnSpc>
              <a:spcBef>
                <a:spcPct val="10000"/>
              </a:spcBef>
            </a:pPr>
            <a:r>
              <a:rPr lang="zh-CN" altLang="en-US" sz="2000">
                <a:ea typeface="黑体" panose="02010609060101010101" pitchFamily="49" charset="-122"/>
              </a:rPr>
              <a:t>虚拟存储器采用“按需调页”技术，一部分程序调入主存，一部分存放在磁盘上</a:t>
            </a:r>
          </a:p>
          <a:p>
            <a:pPr eaLnBrk="1" hangingPunct="1">
              <a:lnSpc>
                <a:spcPct val="110000"/>
              </a:lnSpc>
              <a:spcBef>
                <a:spcPct val="10000"/>
              </a:spcBef>
            </a:pPr>
            <a:r>
              <a:rPr lang="zh-CN" altLang="en-US" sz="2000">
                <a:ea typeface="黑体" panose="02010609060101010101" pitchFamily="49" charset="-122"/>
              </a:rPr>
              <a:t>交换的块（称为页）比</a:t>
            </a:r>
            <a:r>
              <a:rPr lang="en-US" altLang="zh-CN" sz="2000">
                <a:ea typeface="黑体" panose="02010609060101010101" pitchFamily="49" charset="-122"/>
              </a:rPr>
              <a:t>Cache-MM</a:t>
            </a:r>
            <a:r>
              <a:rPr lang="zh-CN" altLang="en-US" sz="2000">
                <a:ea typeface="黑体" panose="02010609060101010101" pitchFamily="49" charset="-122"/>
              </a:rPr>
              <a:t>层次的块要大得多</a:t>
            </a:r>
          </a:p>
          <a:p>
            <a:pPr eaLnBrk="1" hangingPunct="1">
              <a:lnSpc>
                <a:spcPct val="110000"/>
              </a:lnSpc>
              <a:spcBef>
                <a:spcPct val="10000"/>
              </a:spcBef>
            </a:pPr>
            <a:r>
              <a:rPr lang="zh-CN" altLang="en-US" sz="2000">
                <a:ea typeface="黑体" panose="02010609060101010101" pitchFamily="49" charset="-122"/>
              </a:rPr>
              <a:t>采用全相联映射，通过页表实现逻辑地址和物理地址转换，由硬件实现</a:t>
            </a:r>
          </a:p>
          <a:p>
            <a:pPr eaLnBrk="1" hangingPunct="1">
              <a:lnSpc>
                <a:spcPct val="110000"/>
              </a:lnSpc>
              <a:spcBef>
                <a:spcPct val="10000"/>
              </a:spcBef>
            </a:pPr>
            <a:r>
              <a:rPr lang="zh-CN" altLang="en-US" sz="2000">
                <a:ea typeface="黑体" panose="02010609060101010101" pitchFamily="49" charset="-122"/>
              </a:rPr>
              <a:t>缺页处理由</a:t>
            </a:r>
            <a:r>
              <a:rPr lang="en-US" altLang="zh-CN" sz="2000">
                <a:ea typeface="黑体" panose="02010609060101010101" pitchFamily="49" charset="-122"/>
              </a:rPr>
              <a:t>OS</a:t>
            </a:r>
            <a:r>
              <a:rPr lang="zh-CN" altLang="en-US" sz="2000">
                <a:ea typeface="黑体" panose="02010609060101010101" pitchFamily="49" charset="-122"/>
              </a:rPr>
              <a:t>完成（</a:t>
            </a:r>
            <a:r>
              <a:rPr lang="en-US" altLang="zh-CN" sz="2000">
                <a:ea typeface="黑体" panose="02010609060101010101" pitchFamily="49" charset="-122"/>
              </a:rPr>
              <a:t>cache miss</a:t>
            </a:r>
            <a:r>
              <a:rPr lang="zh-CN" altLang="en-US" sz="2000">
                <a:ea typeface="黑体" panose="02010609060101010101" pitchFamily="49" charset="-122"/>
              </a:rPr>
              <a:t>处理由硬件实现）</a:t>
            </a:r>
          </a:p>
          <a:p>
            <a:pPr eaLnBrk="1" hangingPunct="1">
              <a:lnSpc>
                <a:spcPct val="110000"/>
              </a:lnSpc>
              <a:spcBef>
                <a:spcPct val="10000"/>
              </a:spcBef>
            </a:pPr>
            <a:r>
              <a:rPr lang="zh-CN" altLang="en-US" sz="2000">
                <a:ea typeface="黑体" panose="02010609060101010101" pitchFamily="49" charset="-122"/>
              </a:rPr>
              <a:t>采用</a:t>
            </a:r>
            <a:r>
              <a:rPr lang="en-US" altLang="zh-CN" sz="2000">
                <a:ea typeface="黑体" panose="02010609060101010101" pitchFamily="49" charset="-122"/>
              </a:rPr>
              <a:t>Write Back</a:t>
            </a:r>
            <a:r>
              <a:rPr lang="zh-CN" altLang="en-US" sz="2000">
                <a:ea typeface="黑体" panose="02010609060101010101" pitchFamily="49" charset="-122"/>
              </a:rPr>
              <a:t>写策略</a:t>
            </a:r>
          </a:p>
          <a:p>
            <a:pPr eaLnBrk="1" hangingPunct="1">
              <a:lnSpc>
                <a:spcPct val="110000"/>
              </a:lnSpc>
              <a:spcBef>
                <a:spcPct val="10000"/>
              </a:spcBef>
            </a:pPr>
            <a:r>
              <a:rPr lang="zh-CN" altLang="en-US" sz="2000">
                <a:ea typeface="黑体" panose="02010609060101010101" pitchFamily="49" charset="-122"/>
              </a:rPr>
              <a:t>页表中记录装入位、访问方式、使用情况、修改位、磁盘地址或页框号</a:t>
            </a:r>
          </a:p>
          <a:p>
            <a:pPr eaLnBrk="1" hangingPunct="1">
              <a:lnSpc>
                <a:spcPct val="110000"/>
              </a:lnSpc>
              <a:spcBef>
                <a:spcPct val="10000"/>
              </a:spcBef>
            </a:pPr>
            <a:r>
              <a:rPr lang="zh-CN" altLang="en-US" sz="2000">
                <a:ea typeface="黑体" panose="02010609060101010101" pitchFamily="49" charset="-122"/>
              </a:rPr>
              <a:t>经常使用的页表项放到特殊的</a:t>
            </a:r>
            <a:r>
              <a:rPr lang="en-US" altLang="zh-CN" sz="2000">
                <a:ea typeface="黑体" panose="02010609060101010101" pitchFamily="49" charset="-122"/>
              </a:rPr>
              <a:t>Cache</a:t>
            </a:r>
            <a:r>
              <a:rPr lang="zh-CN" altLang="en-US" sz="2000">
                <a:ea typeface="黑体" panose="02010609060101010101" pitchFamily="49" charset="-122"/>
              </a:rPr>
              <a:t>中，称为快表（</a:t>
            </a:r>
            <a:r>
              <a:rPr lang="en-US" altLang="zh-CN" sz="2000">
                <a:ea typeface="黑体" panose="02010609060101010101" pitchFamily="49" charset="-122"/>
              </a:rPr>
              <a:t>TLB</a:t>
            </a:r>
            <a:r>
              <a:rPr lang="zh-CN" altLang="en-US" sz="2000">
                <a:ea typeface="黑体" panose="02010609060101010101" pitchFamily="49" charset="-122"/>
              </a:rPr>
              <a:t>）</a:t>
            </a:r>
            <a:endParaRPr lang="en-US" altLang="zh-CN" sz="2000">
              <a:ea typeface="黑体" panose="02010609060101010101" pitchFamily="49" charset="-122"/>
            </a:endParaRPr>
          </a:p>
          <a:p>
            <a:pPr eaLnBrk="1" hangingPunct="1">
              <a:lnSpc>
                <a:spcPct val="110000"/>
              </a:lnSpc>
              <a:spcBef>
                <a:spcPct val="10000"/>
              </a:spcBef>
            </a:pPr>
            <a:r>
              <a:rPr lang="zh-CN" altLang="en-US" sz="2000">
                <a:ea typeface="黑体" panose="02010609060101010101" pitchFamily="49" charset="-122"/>
              </a:rPr>
              <a:t>有分页式、分段式、段页式三种管理模式</a:t>
            </a:r>
          </a:p>
          <a:p>
            <a:pPr eaLnBrk="1" hangingPunct="1">
              <a:lnSpc>
                <a:spcPct val="110000"/>
              </a:lnSpc>
              <a:spcBef>
                <a:spcPct val="10000"/>
              </a:spcBef>
            </a:pPr>
            <a:r>
              <a:rPr lang="zh-CN" altLang="en-US" sz="2000">
                <a:ea typeface="黑体" panose="02010609060101010101" pitchFamily="49" charset="-122"/>
              </a:rPr>
              <a:t>存储保护</a:t>
            </a:r>
          </a:p>
          <a:p>
            <a:pPr lvl="1" eaLnBrk="1" hangingPunct="1">
              <a:lnSpc>
                <a:spcPct val="110000"/>
              </a:lnSpc>
              <a:spcBef>
                <a:spcPct val="10000"/>
              </a:spcBef>
            </a:pPr>
            <a:r>
              <a:rPr lang="zh-CN" altLang="en-US">
                <a:ea typeface="黑体" panose="02010609060101010101" pitchFamily="49" charset="-122"/>
              </a:rPr>
              <a:t>可利用程序重定位或其他存储保护方式进行地址越界判断</a:t>
            </a:r>
          </a:p>
          <a:p>
            <a:pPr lvl="1" eaLnBrk="1" hangingPunct="1">
              <a:lnSpc>
                <a:spcPct val="110000"/>
              </a:lnSpc>
              <a:spcBef>
                <a:spcPct val="10000"/>
              </a:spcBef>
            </a:pPr>
            <a:r>
              <a:rPr lang="zh-CN" altLang="en-US">
                <a:ea typeface="黑体" panose="02010609060101010101" pitchFamily="49" charset="-122"/>
              </a:rPr>
              <a:t>可利用访问方式进行存取权限的判断</a:t>
            </a:r>
            <a:endParaRPr lang="en-US" altLang="zh-CN">
              <a:ea typeface="黑体" panose="02010609060101010101" pitchFamily="49" charset="-122"/>
            </a:endParaRPr>
          </a:p>
          <a:p>
            <a:pPr lvl="1" eaLnBrk="1" hangingPunct="1">
              <a:lnSpc>
                <a:spcPct val="110000"/>
              </a:lnSpc>
              <a:spcBef>
                <a:spcPct val="10000"/>
              </a:spcBef>
            </a:pPr>
            <a:r>
              <a:rPr lang="zh-CN" altLang="en-US">
                <a:ea typeface="黑体" panose="02010609060101010101" pitchFamily="49" charset="-122"/>
              </a:rPr>
              <a:t>可利用特权模式进行越级访问的判断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7475">
                                            <p:txEl>
                                              <p:pRg st="0" end="0"/>
                                            </p:txEl>
                                          </p:spTgt>
                                        </p:tgtEl>
                                        <p:attrNameLst>
                                          <p:attrName>style.visibility</p:attrName>
                                        </p:attrNameLst>
                                      </p:cBhvr>
                                      <p:to>
                                        <p:strVal val="visible"/>
                                      </p:to>
                                    </p:set>
                                    <p:animEffect transition="in" filter="blinds(horizontal)">
                                      <p:cBhvr>
                                        <p:cTn id="7" dur="500"/>
                                        <p:tgtEl>
                                          <p:spTgt spid="617475">
                                            <p:txEl>
                                              <p:pRg st="0" end="0"/>
                                            </p:txEl>
                                          </p:spTgt>
                                        </p:tgtEl>
                                      </p:cBhvr>
                                    </p:animEffect>
                                  </p:childTnLst>
                                  <p:subTnLst>
                                    <p:animClr clrSpc="rgb" dir="cw">
                                      <p:cBhvr override="childStyle">
                                        <p:cTn dur="1" fill="hold" display="0" masterRel="nextClick" afterEffect="1"/>
                                        <p:tgtEl>
                                          <p:spTgt spid="617475">
                                            <p:txEl>
                                              <p:pRg st="0" end="0"/>
                                            </p:txEl>
                                          </p:spTgt>
                                        </p:tgtEl>
                                        <p:attrNameLst>
                                          <p:attrName>ppt_c</p:attrName>
                                        </p:attrNameLst>
                                      </p:cBhvr>
                                      <p:to>
                                        <a:schemeClr val="accent1"/>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7475">
                                            <p:txEl>
                                              <p:pRg st="1" end="1"/>
                                            </p:txEl>
                                          </p:spTgt>
                                        </p:tgtEl>
                                        <p:attrNameLst>
                                          <p:attrName>style.visibility</p:attrName>
                                        </p:attrNameLst>
                                      </p:cBhvr>
                                      <p:to>
                                        <p:strVal val="visible"/>
                                      </p:to>
                                    </p:set>
                                    <p:animEffect transition="in" filter="blinds(horizontal)">
                                      <p:cBhvr>
                                        <p:cTn id="12" dur="500"/>
                                        <p:tgtEl>
                                          <p:spTgt spid="617475">
                                            <p:txEl>
                                              <p:pRg st="1" end="1"/>
                                            </p:txEl>
                                          </p:spTgt>
                                        </p:tgtEl>
                                      </p:cBhvr>
                                    </p:animEffect>
                                  </p:childTnLst>
                                  <p:subTnLst>
                                    <p:animClr clrSpc="rgb" dir="cw">
                                      <p:cBhvr override="childStyle">
                                        <p:cTn dur="1" fill="hold" display="0" masterRel="nextClick" afterEffect="1"/>
                                        <p:tgtEl>
                                          <p:spTgt spid="617475">
                                            <p:txEl>
                                              <p:pRg st="1" end="1"/>
                                            </p:txEl>
                                          </p:spTgt>
                                        </p:tgtEl>
                                        <p:attrNameLst>
                                          <p:attrName>ppt_c</p:attrName>
                                        </p:attrNameLst>
                                      </p:cBhvr>
                                      <p:to>
                                        <a:schemeClr val="accent1"/>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7475">
                                            <p:txEl>
                                              <p:pRg st="2" end="2"/>
                                            </p:txEl>
                                          </p:spTgt>
                                        </p:tgtEl>
                                        <p:attrNameLst>
                                          <p:attrName>style.visibility</p:attrName>
                                        </p:attrNameLst>
                                      </p:cBhvr>
                                      <p:to>
                                        <p:strVal val="visible"/>
                                      </p:to>
                                    </p:set>
                                    <p:animEffect transition="in" filter="blinds(horizontal)">
                                      <p:cBhvr>
                                        <p:cTn id="17" dur="500"/>
                                        <p:tgtEl>
                                          <p:spTgt spid="617475">
                                            <p:txEl>
                                              <p:pRg st="2" end="2"/>
                                            </p:txEl>
                                          </p:spTgt>
                                        </p:tgtEl>
                                      </p:cBhvr>
                                    </p:animEffect>
                                  </p:childTnLst>
                                  <p:subTnLst>
                                    <p:animClr clrSpc="rgb" dir="cw">
                                      <p:cBhvr override="childStyle">
                                        <p:cTn dur="1" fill="hold" display="0" masterRel="nextClick" afterEffect="1"/>
                                        <p:tgtEl>
                                          <p:spTgt spid="617475">
                                            <p:txEl>
                                              <p:pRg st="2" end="2"/>
                                            </p:txEl>
                                          </p:spTgt>
                                        </p:tgtEl>
                                        <p:attrNameLst>
                                          <p:attrName>ppt_c</p:attrName>
                                        </p:attrNameLst>
                                      </p:cBhvr>
                                      <p:to>
                                        <a:schemeClr val="accent1"/>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7475">
                                            <p:txEl>
                                              <p:pRg st="3" end="3"/>
                                            </p:txEl>
                                          </p:spTgt>
                                        </p:tgtEl>
                                        <p:attrNameLst>
                                          <p:attrName>style.visibility</p:attrName>
                                        </p:attrNameLst>
                                      </p:cBhvr>
                                      <p:to>
                                        <p:strVal val="visible"/>
                                      </p:to>
                                    </p:set>
                                    <p:animEffect transition="in" filter="blinds(horizontal)">
                                      <p:cBhvr>
                                        <p:cTn id="22" dur="500"/>
                                        <p:tgtEl>
                                          <p:spTgt spid="617475">
                                            <p:txEl>
                                              <p:pRg st="3" end="3"/>
                                            </p:txEl>
                                          </p:spTgt>
                                        </p:tgtEl>
                                      </p:cBhvr>
                                    </p:animEffect>
                                  </p:childTnLst>
                                  <p:subTnLst>
                                    <p:animClr clrSpc="rgb" dir="cw">
                                      <p:cBhvr override="childStyle">
                                        <p:cTn dur="1" fill="hold" display="0" masterRel="nextClick" afterEffect="1"/>
                                        <p:tgtEl>
                                          <p:spTgt spid="617475">
                                            <p:txEl>
                                              <p:pRg st="3" end="3"/>
                                            </p:txEl>
                                          </p:spTgt>
                                        </p:tgtEl>
                                        <p:attrNameLst>
                                          <p:attrName>ppt_c</p:attrName>
                                        </p:attrNameLst>
                                      </p:cBhvr>
                                      <p:to>
                                        <a:schemeClr val="accent1"/>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7475">
                                            <p:txEl>
                                              <p:pRg st="4" end="4"/>
                                            </p:txEl>
                                          </p:spTgt>
                                        </p:tgtEl>
                                        <p:attrNameLst>
                                          <p:attrName>style.visibility</p:attrName>
                                        </p:attrNameLst>
                                      </p:cBhvr>
                                      <p:to>
                                        <p:strVal val="visible"/>
                                      </p:to>
                                    </p:set>
                                    <p:animEffect transition="in" filter="blinds(horizontal)">
                                      <p:cBhvr>
                                        <p:cTn id="27" dur="500"/>
                                        <p:tgtEl>
                                          <p:spTgt spid="617475">
                                            <p:txEl>
                                              <p:pRg st="4" end="4"/>
                                            </p:txEl>
                                          </p:spTgt>
                                        </p:tgtEl>
                                      </p:cBhvr>
                                    </p:animEffect>
                                  </p:childTnLst>
                                  <p:subTnLst>
                                    <p:animClr clrSpc="rgb" dir="cw">
                                      <p:cBhvr override="childStyle">
                                        <p:cTn dur="1" fill="hold" display="0" masterRel="nextClick" afterEffect="1"/>
                                        <p:tgtEl>
                                          <p:spTgt spid="617475">
                                            <p:txEl>
                                              <p:pRg st="4" end="4"/>
                                            </p:txEl>
                                          </p:spTgt>
                                        </p:tgtEl>
                                        <p:attrNameLst>
                                          <p:attrName>ppt_c</p:attrName>
                                        </p:attrNameLst>
                                      </p:cBhvr>
                                      <p:to>
                                        <a:schemeClr val="accent1"/>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7475">
                                            <p:txEl>
                                              <p:pRg st="5" end="5"/>
                                            </p:txEl>
                                          </p:spTgt>
                                        </p:tgtEl>
                                        <p:attrNameLst>
                                          <p:attrName>style.visibility</p:attrName>
                                        </p:attrNameLst>
                                      </p:cBhvr>
                                      <p:to>
                                        <p:strVal val="visible"/>
                                      </p:to>
                                    </p:set>
                                    <p:animEffect transition="in" filter="blinds(horizontal)">
                                      <p:cBhvr>
                                        <p:cTn id="32" dur="500"/>
                                        <p:tgtEl>
                                          <p:spTgt spid="617475">
                                            <p:txEl>
                                              <p:pRg st="5" end="5"/>
                                            </p:txEl>
                                          </p:spTgt>
                                        </p:tgtEl>
                                      </p:cBhvr>
                                    </p:animEffect>
                                  </p:childTnLst>
                                  <p:subTnLst>
                                    <p:animClr clrSpc="rgb" dir="cw">
                                      <p:cBhvr override="childStyle">
                                        <p:cTn dur="1" fill="hold" display="0" masterRel="nextClick" afterEffect="1"/>
                                        <p:tgtEl>
                                          <p:spTgt spid="617475">
                                            <p:txEl>
                                              <p:pRg st="5" end="5"/>
                                            </p:txEl>
                                          </p:spTgt>
                                        </p:tgtEl>
                                        <p:attrNameLst>
                                          <p:attrName>ppt_c</p:attrName>
                                        </p:attrNameLst>
                                      </p:cBhvr>
                                      <p:to>
                                        <a:schemeClr val="accent1"/>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17475">
                                            <p:txEl>
                                              <p:pRg st="6" end="6"/>
                                            </p:txEl>
                                          </p:spTgt>
                                        </p:tgtEl>
                                        <p:attrNameLst>
                                          <p:attrName>style.visibility</p:attrName>
                                        </p:attrNameLst>
                                      </p:cBhvr>
                                      <p:to>
                                        <p:strVal val="visible"/>
                                      </p:to>
                                    </p:set>
                                    <p:animEffect transition="in" filter="blinds(horizontal)">
                                      <p:cBhvr>
                                        <p:cTn id="37" dur="500"/>
                                        <p:tgtEl>
                                          <p:spTgt spid="617475">
                                            <p:txEl>
                                              <p:pRg st="6" end="6"/>
                                            </p:txEl>
                                          </p:spTgt>
                                        </p:tgtEl>
                                      </p:cBhvr>
                                    </p:animEffect>
                                  </p:childTnLst>
                                  <p:subTnLst>
                                    <p:animClr clrSpc="rgb" dir="cw">
                                      <p:cBhvr override="childStyle">
                                        <p:cTn dur="1" fill="hold" display="0" masterRel="nextClick" afterEffect="1"/>
                                        <p:tgtEl>
                                          <p:spTgt spid="617475">
                                            <p:txEl>
                                              <p:pRg st="6" end="6"/>
                                            </p:txEl>
                                          </p:spTgt>
                                        </p:tgtEl>
                                        <p:attrNameLst>
                                          <p:attrName>ppt_c</p:attrName>
                                        </p:attrNameLst>
                                      </p:cBhvr>
                                      <p:to>
                                        <a:schemeClr val="accent1"/>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17475">
                                            <p:txEl>
                                              <p:pRg st="7" end="7"/>
                                            </p:txEl>
                                          </p:spTgt>
                                        </p:tgtEl>
                                        <p:attrNameLst>
                                          <p:attrName>style.visibility</p:attrName>
                                        </p:attrNameLst>
                                      </p:cBhvr>
                                      <p:to>
                                        <p:strVal val="visible"/>
                                      </p:to>
                                    </p:set>
                                    <p:animEffect transition="in" filter="blinds(horizontal)">
                                      <p:cBhvr>
                                        <p:cTn id="42" dur="500"/>
                                        <p:tgtEl>
                                          <p:spTgt spid="617475">
                                            <p:txEl>
                                              <p:pRg st="7" end="7"/>
                                            </p:txEl>
                                          </p:spTgt>
                                        </p:tgtEl>
                                      </p:cBhvr>
                                    </p:animEffect>
                                  </p:childTnLst>
                                  <p:subTnLst>
                                    <p:animClr clrSpc="rgb" dir="cw">
                                      <p:cBhvr override="childStyle">
                                        <p:cTn dur="1" fill="hold" display="0" masterRel="nextClick" afterEffect="1"/>
                                        <p:tgtEl>
                                          <p:spTgt spid="617475">
                                            <p:txEl>
                                              <p:pRg st="7" end="7"/>
                                            </p:txEl>
                                          </p:spTgt>
                                        </p:tgtEl>
                                        <p:attrNameLst>
                                          <p:attrName>ppt_c</p:attrName>
                                        </p:attrNameLst>
                                      </p:cBhvr>
                                      <p:to>
                                        <a:schemeClr val="accent1"/>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617475">
                                            <p:txEl>
                                              <p:pRg st="8" end="8"/>
                                            </p:txEl>
                                          </p:spTgt>
                                        </p:tgtEl>
                                        <p:attrNameLst>
                                          <p:attrName>style.visibility</p:attrName>
                                        </p:attrNameLst>
                                      </p:cBhvr>
                                      <p:to>
                                        <p:strVal val="visible"/>
                                      </p:to>
                                    </p:set>
                                    <p:animEffect transition="in" filter="blinds(horizontal)">
                                      <p:cBhvr>
                                        <p:cTn id="47" dur="500"/>
                                        <p:tgtEl>
                                          <p:spTgt spid="617475">
                                            <p:txEl>
                                              <p:pRg st="8" end="8"/>
                                            </p:txEl>
                                          </p:spTgt>
                                        </p:tgtEl>
                                      </p:cBhvr>
                                    </p:animEffect>
                                  </p:childTnLst>
                                  <p:subTnLst>
                                    <p:animClr clrSpc="rgb" dir="cw">
                                      <p:cBhvr override="childStyle">
                                        <p:cTn dur="1" fill="hold" display="0" masterRel="nextClick" afterEffect="1"/>
                                        <p:tgtEl>
                                          <p:spTgt spid="617475">
                                            <p:txEl>
                                              <p:pRg st="8" end="8"/>
                                            </p:txEl>
                                          </p:spTgt>
                                        </p:tgtEl>
                                        <p:attrNameLst>
                                          <p:attrName>ppt_c</p:attrName>
                                        </p:attrNameLst>
                                      </p:cBhvr>
                                      <p:to>
                                        <a:schemeClr val="accent1"/>
                                      </p:to>
                                    </p:animClr>
                                  </p:sub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617475">
                                            <p:txEl>
                                              <p:pRg st="9" end="9"/>
                                            </p:txEl>
                                          </p:spTgt>
                                        </p:tgtEl>
                                        <p:attrNameLst>
                                          <p:attrName>style.visibility</p:attrName>
                                        </p:attrNameLst>
                                      </p:cBhvr>
                                      <p:to>
                                        <p:strVal val="visible"/>
                                      </p:to>
                                    </p:set>
                                    <p:animEffect transition="in" filter="blinds(horizontal)">
                                      <p:cBhvr>
                                        <p:cTn id="52" dur="500"/>
                                        <p:tgtEl>
                                          <p:spTgt spid="617475">
                                            <p:txEl>
                                              <p:pRg st="9" end="9"/>
                                            </p:txEl>
                                          </p:spTgt>
                                        </p:tgtEl>
                                      </p:cBhvr>
                                    </p:animEffect>
                                  </p:childTnLst>
                                  <p:subTnLst>
                                    <p:animClr clrSpc="rgb" dir="cw">
                                      <p:cBhvr override="childStyle">
                                        <p:cTn dur="1" fill="hold" display="0" masterRel="nextClick" afterEffect="1"/>
                                        <p:tgtEl>
                                          <p:spTgt spid="617475">
                                            <p:txEl>
                                              <p:pRg st="9" end="9"/>
                                            </p:txEl>
                                          </p:spTgt>
                                        </p:tgtEl>
                                        <p:attrNameLst>
                                          <p:attrName>ppt_c</p:attrName>
                                        </p:attrNameLst>
                                      </p:cBhvr>
                                      <p:to>
                                        <a:schemeClr val="accent1"/>
                                      </p:to>
                                    </p:animClr>
                                  </p:sub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617475">
                                            <p:txEl>
                                              <p:pRg st="10" end="10"/>
                                            </p:txEl>
                                          </p:spTgt>
                                        </p:tgtEl>
                                        <p:attrNameLst>
                                          <p:attrName>style.visibility</p:attrName>
                                        </p:attrNameLst>
                                      </p:cBhvr>
                                      <p:to>
                                        <p:strVal val="visible"/>
                                      </p:to>
                                    </p:set>
                                    <p:animEffect transition="in" filter="blinds(horizontal)">
                                      <p:cBhvr>
                                        <p:cTn id="57" dur="500"/>
                                        <p:tgtEl>
                                          <p:spTgt spid="617475">
                                            <p:txEl>
                                              <p:pRg st="10" end="10"/>
                                            </p:txEl>
                                          </p:spTgt>
                                        </p:tgtEl>
                                      </p:cBhvr>
                                    </p:animEffect>
                                  </p:childTnLst>
                                  <p:subTnLst>
                                    <p:animClr clrSpc="rgb" dir="cw">
                                      <p:cBhvr override="childStyle">
                                        <p:cTn dur="1" fill="hold" display="0" masterRel="nextClick" afterEffect="1"/>
                                        <p:tgtEl>
                                          <p:spTgt spid="617475">
                                            <p:txEl>
                                              <p:pRg st="10" end="10"/>
                                            </p:txEl>
                                          </p:spTgt>
                                        </p:tgtEl>
                                        <p:attrNameLst>
                                          <p:attrName>ppt_c</p:attrName>
                                        </p:attrNameLst>
                                      </p:cBhvr>
                                      <p:to>
                                        <a:schemeClr val="accent1"/>
                                      </p:to>
                                    </p:animClr>
                                  </p:sub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617475">
                                            <p:txEl>
                                              <p:pRg st="11" end="11"/>
                                            </p:txEl>
                                          </p:spTgt>
                                        </p:tgtEl>
                                        <p:attrNameLst>
                                          <p:attrName>style.visibility</p:attrName>
                                        </p:attrNameLst>
                                      </p:cBhvr>
                                      <p:to>
                                        <p:strVal val="visible"/>
                                      </p:to>
                                    </p:set>
                                    <p:animEffect transition="in" filter="blinds(horizontal)">
                                      <p:cBhvr>
                                        <p:cTn id="62" dur="500"/>
                                        <p:tgtEl>
                                          <p:spTgt spid="617475">
                                            <p:txEl>
                                              <p:pRg st="11" end="11"/>
                                            </p:txEl>
                                          </p:spTgt>
                                        </p:tgtEl>
                                      </p:cBhvr>
                                    </p:animEffect>
                                  </p:childTnLst>
                                  <p:subTnLst>
                                    <p:animClr clrSpc="rgb" dir="cw">
                                      <p:cBhvr override="childStyle">
                                        <p:cTn dur="1" fill="hold" display="0" masterRel="nextClick" afterEffect="1"/>
                                        <p:tgtEl>
                                          <p:spTgt spid="617475">
                                            <p:txEl>
                                              <p:pRg st="11" end="11"/>
                                            </p:txEl>
                                          </p:spTgt>
                                        </p:tgtEl>
                                        <p:attrNameLst>
                                          <p:attrName>ppt_c</p:attrName>
                                        </p:attrNameLst>
                                      </p:cBhvr>
                                      <p:to>
                                        <a:srgbClr val="808080"/>
                                      </p:to>
                                    </p:animClr>
                                  </p:sub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617475">
                                            <p:txEl>
                                              <p:pRg st="12" end="12"/>
                                            </p:txEl>
                                          </p:spTgt>
                                        </p:tgtEl>
                                        <p:attrNameLst>
                                          <p:attrName>style.visibility</p:attrName>
                                        </p:attrNameLst>
                                      </p:cBhvr>
                                      <p:to>
                                        <p:strVal val="visible"/>
                                      </p:to>
                                    </p:set>
                                    <p:animEffect transition="in" filter="blinds(horizontal)">
                                      <p:cBhvr>
                                        <p:cTn id="67" dur="500"/>
                                        <p:tgtEl>
                                          <p:spTgt spid="617475">
                                            <p:txEl>
                                              <p:pRg st="12" end="12"/>
                                            </p:txEl>
                                          </p:spTgt>
                                        </p:tgtEl>
                                      </p:cBhvr>
                                    </p:animEffect>
                                  </p:childTnLst>
                                  <p:subTnLst>
                                    <p:animClr clrSpc="rgb" dir="cw">
                                      <p:cBhvr override="childStyle">
                                        <p:cTn dur="1" fill="hold" display="0" masterRel="nextClick" afterEffect="1"/>
                                        <p:tgtEl>
                                          <p:spTgt spid="617475">
                                            <p:txEl>
                                              <p:pRg st="12" end="12"/>
                                            </p:txEl>
                                          </p:spTgt>
                                        </p:tgtEl>
                                        <p:attrNameLst>
                                          <p:attrName>ppt_c</p:attrName>
                                        </p:attrNameLst>
                                      </p:cBhvr>
                                      <p:to>
                                        <a:srgbClr val="808080"/>
                                      </p:to>
                                    </p:animClr>
                                  </p:sub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617475">
                                            <p:txEl>
                                              <p:pRg st="13" end="13"/>
                                            </p:txEl>
                                          </p:spTgt>
                                        </p:tgtEl>
                                        <p:attrNameLst>
                                          <p:attrName>style.visibility</p:attrName>
                                        </p:attrNameLst>
                                      </p:cBhvr>
                                      <p:to>
                                        <p:strVal val="visible"/>
                                      </p:to>
                                    </p:set>
                                    <p:animEffect transition="in" filter="blinds(horizontal)">
                                      <p:cBhvr>
                                        <p:cTn id="72" dur="500"/>
                                        <p:tgtEl>
                                          <p:spTgt spid="617475">
                                            <p:txEl>
                                              <p:pRg st="13" end="13"/>
                                            </p:txEl>
                                          </p:spTgt>
                                        </p:tgtEl>
                                      </p:cBhvr>
                                    </p:animEffect>
                                  </p:childTnLst>
                                  <p:subTnLst>
                                    <p:animClr clrSpc="rgb" dir="cw">
                                      <p:cBhvr override="childStyle">
                                        <p:cTn dur="1" fill="hold" display="0" masterRel="nextClick" afterEffect="1"/>
                                        <p:tgtEl>
                                          <p:spTgt spid="617475">
                                            <p:txEl>
                                              <p:pRg st="13" end="13"/>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886EB6B8-3053-424A-9319-4C1469CC2E8B}"/>
              </a:ext>
            </a:extLst>
          </p:cNvPr>
          <p:cNvSpPr>
            <a:spLocks noGrp="1" noChangeArrowheads="1"/>
          </p:cNvSpPr>
          <p:nvPr>
            <p:ph type="title"/>
          </p:nvPr>
        </p:nvSpPr>
        <p:spPr/>
        <p:txBody>
          <a:bodyPr/>
          <a:lstStyle/>
          <a:p>
            <a:r>
              <a:rPr lang="zh-CN" altLang="en-US">
                <a:ea typeface="宋体" panose="02010600030101010101" pitchFamily="2" charset="-122"/>
              </a:rPr>
              <a:t>本章作业</a:t>
            </a:r>
          </a:p>
        </p:txBody>
      </p:sp>
      <p:sp>
        <p:nvSpPr>
          <p:cNvPr id="267267" name="Rectangle 3">
            <a:extLst>
              <a:ext uri="{FF2B5EF4-FFF2-40B4-BE49-F238E27FC236}">
                <a16:creationId xmlns:a16="http://schemas.microsoft.com/office/drawing/2014/main" id="{C9D18CF0-08D4-7947-8286-86AB2D6C2DC4}"/>
              </a:ext>
            </a:extLst>
          </p:cNvPr>
          <p:cNvSpPr>
            <a:spLocks noGrp="1" noChangeArrowheads="1"/>
          </p:cNvSpPr>
          <p:nvPr>
            <p:ph type="body" idx="1"/>
          </p:nvPr>
        </p:nvSpPr>
        <p:spPr>
          <a:xfrm>
            <a:off x="730250" y="835025"/>
            <a:ext cx="7681913" cy="681038"/>
          </a:xfrm>
        </p:spPr>
        <p:txBody>
          <a:bodyPr/>
          <a:lstStyle/>
          <a:p>
            <a:pPr>
              <a:lnSpc>
                <a:spcPct val="145000"/>
              </a:lnSpc>
              <a:buFont typeface="Wingdings" pitchFamily="2" charset="2"/>
              <a:buNone/>
            </a:pPr>
            <a:r>
              <a:rPr lang="en-US" altLang="zh-CN" sz="3200">
                <a:ea typeface="宋体" panose="02010600030101010101" pitchFamily="2" charset="-122"/>
              </a:rPr>
              <a:t>  </a:t>
            </a:r>
            <a:endParaRPr lang="en-US" altLang="zh-CN" sz="3600">
              <a:ea typeface="宋体" panose="02010600030101010101" pitchFamily="2" charset="-122"/>
            </a:endParaRPr>
          </a:p>
        </p:txBody>
      </p:sp>
      <p:sp>
        <p:nvSpPr>
          <p:cNvPr id="267268" name="Rectangle 3">
            <a:extLst>
              <a:ext uri="{FF2B5EF4-FFF2-40B4-BE49-F238E27FC236}">
                <a16:creationId xmlns:a16="http://schemas.microsoft.com/office/drawing/2014/main" id="{5BF0BBDA-A9EB-484F-8990-478977E5B337}"/>
              </a:ext>
            </a:extLst>
          </p:cNvPr>
          <p:cNvSpPr txBox="1">
            <a:spLocks noChangeArrowheads="1"/>
          </p:cNvSpPr>
          <p:nvPr/>
        </p:nvSpPr>
        <p:spPr bwMode="auto">
          <a:xfrm>
            <a:off x="612775" y="1516063"/>
            <a:ext cx="6777038" cy="186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spAutoFit/>
          </a:bodyPr>
          <a:lstStyle>
            <a:lvl1pPr marL="203200" indent="-203200">
              <a:spcBef>
                <a:spcPct val="35000"/>
              </a:spcBef>
              <a:buSzPct val="100000"/>
              <a:buChar char="°"/>
              <a:defRPr b="1">
                <a:solidFill>
                  <a:schemeClr val="tx1"/>
                </a:solidFill>
                <a:latin typeface="Arial" panose="020B0604020202020204" pitchFamily="34" charset="0"/>
              </a:defRPr>
            </a:lvl1pPr>
            <a:lvl2pPr marL="685800" indent="-190500">
              <a:spcBef>
                <a:spcPct val="35000"/>
              </a:spcBef>
              <a:buSzPct val="100000"/>
              <a:buChar char="•"/>
              <a:defRPr b="1">
                <a:solidFill>
                  <a:schemeClr val="accent2"/>
                </a:solidFill>
                <a:latin typeface="Arial" panose="020B0604020202020204" pitchFamily="34" charset="0"/>
              </a:defRPr>
            </a:lvl2pPr>
            <a:lvl3pPr marL="1257300" indent="-342900">
              <a:spcBef>
                <a:spcPct val="35000"/>
              </a:spcBef>
              <a:buSzPct val="100000"/>
              <a:buChar char="-"/>
              <a:defRPr b="1">
                <a:solidFill>
                  <a:srgbClr val="B7011F"/>
                </a:solidFill>
                <a:latin typeface="Arial" panose="020B0604020202020204" pitchFamily="34" charset="0"/>
              </a:defRPr>
            </a:lvl3pPr>
            <a:lvl4pPr marL="1714500" indent="-342900">
              <a:spcBef>
                <a:spcPct val="20000"/>
              </a:spcBef>
              <a:buChar char="–"/>
              <a:defRPr sz="2000">
                <a:solidFill>
                  <a:schemeClr val="tx1"/>
                </a:solidFill>
                <a:latin typeface="Times New Roman" panose="02020603050405020304" pitchFamily="18" charset="0"/>
              </a:defRPr>
            </a:lvl4pPr>
            <a:lvl5pPr marL="2171700" indent="-342900">
              <a:spcBef>
                <a:spcPct val="20000"/>
              </a:spcBef>
              <a:buChar char="»"/>
              <a:defRPr sz="2000">
                <a:solidFill>
                  <a:schemeClr val="tx1"/>
                </a:solidFill>
                <a:latin typeface="Times New Roman" panose="02020603050405020304" pitchFamily="18" charset="0"/>
              </a:defRPr>
            </a:lvl5pPr>
            <a:lvl6pPr marL="2628900" indent="-3429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20000"/>
              </a:lnSpc>
              <a:spcBef>
                <a:spcPct val="10000"/>
              </a:spcBef>
              <a:buClr>
                <a:schemeClr val="tx1"/>
              </a:buClr>
              <a:buSzPct val="60000"/>
              <a:buFont typeface="Wingdings" pitchFamily="2" charset="2"/>
              <a:buChar char="u"/>
            </a:pPr>
            <a:r>
              <a:rPr lang="zh-CN" altLang="en-US" sz="3200" dirty="0">
                <a:ea typeface="宋体" panose="02010600030101010101" pitchFamily="2" charset="-122"/>
              </a:rPr>
              <a:t>第</a:t>
            </a:r>
            <a:r>
              <a:rPr lang="en-US" altLang="zh-CN" sz="3200" dirty="0">
                <a:ea typeface="宋体" panose="02010600030101010101" pitchFamily="2" charset="-122"/>
              </a:rPr>
              <a:t>7</a:t>
            </a:r>
            <a:r>
              <a:rPr lang="zh-CN" altLang="en-US" sz="3200" dirty="0">
                <a:ea typeface="宋体" panose="02010600030101010101" pitchFamily="2" charset="-122"/>
              </a:rPr>
              <a:t>章习题 </a:t>
            </a:r>
            <a:endParaRPr lang="en-US" altLang="zh-CN" sz="3200" dirty="0">
              <a:ea typeface="宋体" panose="02010600030101010101" pitchFamily="2" charset="-122"/>
            </a:endParaRPr>
          </a:p>
          <a:p>
            <a:pPr>
              <a:lnSpc>
                <a:spcPct val="120000"/>
              </a:lnSpc>
              <a:spcBef>
                <a:spcPct val="10000"/>
              </a:spcBef>
              <a:buClr>
                <a:schemeClr val="tx1"/>
              </a:buClr>
              <a:buSzPct val="60000"/>
              <a:buFont typeface="Wingdings" pitchFamily="2" charset="2"/>
              <a:buNone/>
            </a:pPr>
            <a:r>
              <a:rPr lang="en-US" altLang="zh-CN" sz="3200" dirty="0">
                <a:ea typeface="宋体" panose="02010600030101010101" pitchFamily="2" charset="-122"/>
              </a:rPr>
              <a:t> 3</a:t>
            </a:r>
            <a:r>
              <a:rPr lang="zh-CN" altLang="en-US" sz="3200" dirty="0">
                <a:ea typeface="宋体" panose="02010600030101010101" pitchFamily="2" charset="-122"/>
              </a:rPr>
              <a:t>、</a:t>
            </a:r>
            <a:r>
              <a:rPr lang="en-US" altLang="zh-CN" sz="3200" dirty="0">
                <a:ea typeface="宋体" panose="02010600030101010101" pitchFamily="2" charset="-122"/>
              </a:rPr>
              <a:t>4</a:t>
            </a:r>
            <a:r>
              <a:rPr lang="zh-CN" altLang="en-US" sz="3200" dirty="0">
                <a:ea typeface="宋体" panose="02010600030101010101" pitchFamily="2" charset="-122"/>
              </a:rPr>
              <a:t>（不用画逻辑框图）、</a:t>
            </a:r>
            <a:r>
              <a:rPr lang="en-US" altLang="zh-CN" sz="3200" dirty="0">
                <a:ea typeface="宋体" panose="02010600030101010101" pitchFamily="2" charset="-122"/>
              </a:rPr>
              <a:t>5</a:t>
            </a:r>
            <a:r>
              <a:rPr lang="zh-CN" altLang="en-US" sz="3200" dirty="0">
                <a:ea typeface="宋体" panose="02010600030101010101" pitchFamily="2" charset="-122"/>
              </a:rPr>
              <a:t>、</a:t>
            </a:r>
            <a:r>
              <a:rPr lang="en-US" altLang="zh-CN" sz="3200" dirty="0">
                <a:ea typeface="宋体" panose="02010600030101010101" pitchFamily="2" charset="-122"/>
              </a:rPr>
              <a:t>8</a:t>
            </a:r>
            <a:r>
              <a:rPr lang="zh-CN" altLang="en-US" sz="3200" dirty="0">
                <a:ea typeface="宋体" panose="02010600030101010101" pitchFamily="2" charset="-122"/>
              </a:rPr>
              <a:t>、</a:t>
            </a:r>
            <a:endParaRPr lang="en-US" altLang="zh-CN" sz="3200" dirty="0">
              <a:ea typeface="宋体" panose="02010600030101010101" pitchFamily="2" charset="-122"/>
            </a:endParaRPr>
          </a:p>
          <a:p>
            <a:pPr>
              <a:lnSpc>
                <a:spcPct val="120000"/>
              </a:lnSpc>
              <a:spcBef>
                <a:spcPct val="10000"/>
              </a:spcBef>
              <a:buClr>
                <a:schemeClr val="tx1"/>
              </a:buClr>
              <a:buSzPct val="60000"/>
              <a:buFont typeface="Wingdings" pitchFamily="2" charset="2"/>
              <a:buNone/>
            </a:pPr>
            <a:r>
              <a:rPr lang="en-US" altLang="zh-CN" sz="3200" dirty="0">
                <a:ea typeface="宋体" panose="02010600030101010101" pitchFamily="2" charset="-122"/>
              </a:rPr>
              <a:t>11</a:t>
            </a:r>
            <a:r>
              <a:rPr lang="zh-CN" altLang="en-US" sz="3200" dirty="0">
                <a:ea typeface="宋体" panose="02010600030101010101" pitchFamily="2" charset="-122"/>
              </a:rPr>
              <a:t>、</a:t>
            </a:r>
            <a:r>
              <a:rPr lang="en-US" altLang="zh-CN" sz="3200" dirty="0">
                <a:ea typeface="宋体" panose="02010600030101010101" pitchFamily="2" charset="-122"/>
              </a:rPr>
              <a:t>14</a:t>
            </a:r>
            <a:r>
              <a:rPr lang="zh-CN" altLang="en-US" sz="3200" dirty="0">
                <a:ea typeface="宋体" panose="02010600030101010101" pitchFamily="2" charset="-122"/>
              </a:rPr>
              <a:t>、</a:t>
            </a:r>
            <a:r>
              <a:rPr lang="en-US" altLang="zh-CN" sz="3200" dirty="0">
                <a:ea typeface="宋体" panose="02010600030101010101" pitchFamily="2" charset="-122"/>
              </a:rPr>
              <a:t>25</a:t>
            </a:r>
          </a:p>
        </p:txBody>
      </p:sp>
    </p:spTree>
  </p:cSld>
  <p:clrMapOvr>
    <a:masterClrMapping/>
  </p:clrMapOvr>
  <p:transition spd="slow"/>
</p:sld>
</file>

<file path=ppt/theme/theme1.xml><?xml version="1.0" encoding="utf-8"?>
<a:theme xmlns:a="http://schemas.openxmlformats.org/drawingml/2006/main" name="lecture1">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lecture1">
      <a:majorFont>
        <a:latin typeface="Arial"/>
        <a:ea typeface="黑体"/>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50800" cap="flat" cmpd="sng" algn="ctr">
          <a:solidFill>
            <a:srgbClr val="FE9AAB"/>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6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50800" cap="flat" cmpd="sng" algn="ctr">
          <a:solidFill>
            <a:srgbClr val="FE9AAB"/>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6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lecture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ecture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ecture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HD:User Folder:C152 Spring95:lecture1</Template>
  <TotalTime>2184143680</TotalTime>
  <Pages>40</Pages>
  <Words>6541</Words>
  <Application>Microsoft Macintosh PowerPoint</Application>
  <PresentationFormat>全屏显示(4:3)</PresentationFormat>
  <Paragraphs>1047</Paragraphs>
  <Slides>45</Slides>
  <Notes>22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6" baseType="lpstr">
      <vt:lpstr>方正舒体</vt:lpstr>
      <vt:lpstr>黑体</vt:lpstr>
      <vt:lpstr>微软雅黑</vt:lpstr>
      <vt:lpstr>Arial</vt:lpstr>
      <vt:lpstr>Arial Black</vt:lpstr>
      <vt:lpstr>Arial Narrow</vt:lpstr>
      <vt:lpstr>Calibri</vt:lpstr>
      <vt:lpstr>Times New Roman</vt:lpstr>
      <vt:lpstr>Wingdings</vt:lpstr>
      <vt:lpstr>lecture1</vt:lpstr>
      <vt:lpstr>位图图像</vt:lpstr>
      <vt:lpstr>层次结构存储系统</vt:lpstr>
      <vt:lpstr>             早期分页方式的概念</vt:lpstr>
      <vt:lpstr>早期分页方式的实现</vt:lpstr>
      <vt:lpstr>分页（Paging）</vt:lpstr>
      <vt:lpstr>分页（Paging）</vt:lpstr>
      <vt:lpstr>虚拟存储系统的基本概念</vt:lpstr>
      <vt:lpstr>虚拟存储技术的实质</vt:lpstr>
      <vt:lpstr>虚拟地址空间</vt:lpstr>
      <vt:lpstr>MIPS程序和数据的存储器分配</vt:lpstr>
      <vt:lpstr>Linux将虚存空间组织成“区域”的集合</vt:lpstr>
      <vt:lpstr>                   虚拟存储器管理</vt:lpstr>
      <vt:lpstr>存储器的层次结构</vt:lpstr>
      <vt:lpstr>“主存--磁盘”层次</vt:lpstr>
      <vt:lpstr>页表结构</vt:lpstr>
      <vt:lpstr>主存中的页表示例</vt:lpstr>
      <vt:lpstr>存储管理的总体结构</vt:lpstr>
      <vt:lpstr>逻辑地址转换为物理地址的过程</vt:lpstr>
      <vt:lpstr>信息访问中可能出现的异常情况</vt:lpstr>
      <vt:lpstr>回顾：用“系统思维”分析问题</vt:lpstr>
      <vt:lpstr>PowerPoint 演示文稿</vt:lpstr>
      <vt:lpstr>TLBs --- Making Address Translation Fast</vt:lpstr>
      <vt:lpstr>TLBs --- Making Address Translation Fast</vt:lpstr>
      <vt:lpstr>Translation Look-Aside Buffers</vt:lpstr>
      <vt:lpstr>PowerPoint 演示文稿</vt:lpstr>
      <vt:lpstr>CPU访存过程</vt:lpstr>
      <vt:lpstr>举例：三种不同缺失的组合</vt:lpstr>
      <vt:lpstr>缩写的含义</vt:lpstr>
      <vt:lpstr>一个简化的存储系统举例</vt:lpstr>
      <vt:lpstr>一个简化的存储系统举例（续）</vt:lpstr>
      <vt:lpstr>PowerPoint 演示文稿</vt:lpstr>
      <vt:lpstr>一个简化的存储系统举例（续）</vt:lpstr>
      <vt:lpstr>IA-32中线性地址向物理地址转换</vt:lpstr>
      <vt:lpstr>Core i7 Page Table Translation</vt:lpstr>
      <vt:lpstr>分段式虚拟存储器</vt:lpstr>
      <vt:lpstr>段式虚拟存储器的地址映像</vt:lpstr>
      <vt:lpstr>段页式存储器</vt:lpstr>
      <vt:lpstr>内存访问时的异常信息</vt:lpstr>
      <vt:lpstr>存储保护的基本概念</vt:lpstr>
      <vt:lpstr>存储保护的硬件支持</vt:lpstr>
      <vt:lpstr>RISC-V的三种特权模式</vt:lpstr>
      <vt:lpstr>RISC-V不同特权模式组合系统的存储保护机制</vt:lpstr>
      <vt:lpstr>S模式下的页式虚拟存储管理机制</vt:lpstr>
      <vt:lpstr>Sv32中地址转换过程</vt:lpstr>
      <vt:lpstr>第六讲小结</vt:lpstr>
      <vt:lpstr>本章作业</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Ch7: Memory Hierarchy  存储器层次结构  </dc:title>
  <dc:subject>Designing a Multiple Cycle Processor</dc:subject>
  <dc:creator>CFYUAN</dc:creator>
  <cp:keywords/>
  <dc:description/>
  <cp:lastModifiedBy>Jesson Liu</cp:lastModifiedBy>
  <cp:revision>1882</cp:revision>
  <cp:lastPrinted>1998-02-02T13:15:44Z</cp:lastPrinted>
  <dcterms:created xsi:type="dcterms:W3CDTF">1996-09-09T11:33:30Z</dcterms:created>
  <dcterms:modified xsi:type="dcterms:W3CDTF">2026-06-15T08:55:01Z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2</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vipin@eng.wayne.edu</vt:lpwstr>
  </property>
  <property fmtid="{D5CDD505-2E9C-101B-9397-08002B2CF9AE}" pid="8" name="HomePage">
    <vt:lpwstr>http://www.pdcl.eng.wayne.edu/~vipin</vt:lpwstr>
  </property>
  <property fmtid="{D5CDD505-2E9C-101B-9397-08002B2CF9AE}" pid="9" name="Other">
    <vt:lpwstr>Vipin Chaudhary_x000d_
Dept. of Electrical &amp; Computer Engineering_x000d_
Wayne State University</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true</vt:bool>
  </property>
  <property fmtid="{D5CDD505-2E9C-101B-9397-08002B2CF9AE}" pid="20" name="NavBtnPos">
    <vt:i4>1</vt:i4>
  </property>
  <property fmtid="{D5CDD505-2E9C-101B-9397-08002B2CF9AE}" pid="21" name="OutputDir">
    <vt:lpwstr>C:\WINDOWS\Desktop\VIPIN\WSU\ACADEMIC\COURSES\ECE468\SLIDES\web</vt:lpwstr>
  </property>
</Properties>
</file>
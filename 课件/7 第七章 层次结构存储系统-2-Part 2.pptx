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5"/>
  </p:notesMasterIdLst>
  <p:handoutMasterIdLst>
    <p:handoutMasterId r:id="rId66"/>
  </p:handoutMasterIdLst>
  <p:sldIdLst>
    <p:sldId id="666" r:id="rId2"/>
    <p:sldId id="751" r:id="rId3"/>
    <p:sldId id="752" r:id="rId4"/>
    <p:sldId id="526" r:id="rId5"/>
    <p:sldId id="527" r:id="rId6"/>
    <p:sldId id="529" r:id="rId7"/>
    <p:sldId id="530" r:id="rId8"/>
    <p:sldId id="531" r:id="rId9"/>
    <p:sldId id="532" r:id="rId10"/>
    <p:sldId id="533" r:id="rId11"/>
    <p:sldId id="534" r:id="rId12"/>
    <p:sldId id="535" r:id="rId13"/>
    <p:sldId id="536" r:id="rId14"/>
    <p:sldId id="537" r:id="rId15"/>
    <p:sldId id="538" r:id="rId16"/>
    <p:sldId id="1091" r:id="rId17"/>
    <p:sldId id="540" r:id="rId18"/>
    <p:sldId id="543" r:id="rId19"/>
    <p:sldId id="544" r:id="rId20"/>
    <p:sldId id="545" r:id="rId21"/>
    <p:sldId id="546" r:id="rId22"/>
    <p:sldId id="548" r:id="rId23"/>
    <p:sldId id="549" r:id="rId24"/>
    <p:sldId id="550" r:id="rId25"/>
    <p:sldId id="553" r:id="rId26"/>
    <p:sldId id="554" r:id="rId27"/>
    <p:sldId id="1092" r:id="rId28"/>
    <p:sldId id="556" r:id="rId29"/>
    <p:sldId id="557" r:id="rId30"/>
    <p:sldId id="561" r:id="rId31"/>
    <p:sldId id="562" r:id="rId32"/>
    <p:sldId id="564" r:id="rId33"/>
    <p:sldId id="565" r:id="rId34"/>
    <p:sldId id="566" r:id="rId35"/>
    <p:sldId id="1096" r:id="rId36"/>
    <p:sldId id="568" r:id="rId37"/>
    <p:sldId id="569" r:id="rId38"/>
    <p:sldId id="563" r:id="rId39"/>
    <p:sldId id="1093" r:id="rId40"/>
    <p:sldId id="1094" r:id="rId41"/>
    <p:sldId id="1095" r:id="rId42"/>
    <p:sldId id="574" r:id="rId43"/>
    <p:sldId id="575" r:id="rId44"/>
    <p:sldId id="576" r:id="rId45"/>
    <p:sldId id="577" r:id="rId46"/>
    <p:sldId id="578" r:id="rId47"/>
    <p:sldId id="579" r:id="rId48"/>
    <p:sldId id="580" r:id="rId49"/>
    <p:sldId id="582" r:id="rId50"/>
    <p:sldId id="593" r:id="rId51"/>
    <p:sldId id="594" r:id="rId52"/>
    <p:sldId id="596" r:id="rId53"/>
    <p:sldId id="789" r:id="rId54"/>
    <p:sldId id="790" r:id="rId55"/>
    <p:sldId id="791" r:id="rId56"/>
    <p:sldId id="771" r:id="rId57"/>
    <p:sldId id="772" r:id="rId58"/>
    <p:sldId id="773" r:id="rId59"/>
    <p:sldId id="774" r:id="rId60"/>
    <p:sldId id="595" r:id="rId61"/>
    <p:sldId id="775" r:id="rId62"/>
    <p:sldId id="604" r:id="rId63"/>
    <p:sldId id="1097" r:id="rId64"/>
  </p:sldIdLst>
  <p:sldSz cx="9144000" cy="6858000" type="screen4x3"/>
  <p:notesSz cx="7099300" cy="10234613"/>
  <p:kinsoku lang="zh-CN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16" autoAdjust="0"/>
    <p:restoredTop sz="80990" autoAdjust="0"/>
  </p:normalViewPr>
  <p:slideViewPr>
    <p:cSldViewPr snapToGrid="0">
      <p:cViewPr varScale="1">
        <p:scale>
          <a:sx n="82" d="100"/>
          <a:sy n="82" d="100"/>
        </p:scale>
        <p:origin x="760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9" d="100"/>
          <a:sy n="49" d="100"/>
        </p:scale>
        <p:origin x="-2358" y="-90"/>
      </p:cViewPr>
      <p:guideLst>
        <p:guide orient="horz" pos="3224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920EDEB-6225-3148-8A64-D6EB201A0E9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644525"/>
            <a:ext cx="5135563" cy="385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8B36A8C-C8F0-0C42-B002-73F79BB2C8A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860925"/>
            <a:ext cx="6118225" cy="4606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00269" tIns="49255" rIns="100269" bIns="4925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We want this to be in font 11 and justify.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just" rtl="0" eaLnBrk="0" fontAlgn="base" hangingPunct="0">
      <a:lnSpc>
        <a:spcPct val="90000"/>
      </a:lnSpc>
      <a:spcBef>
        <a:spcPct val="40000"/>
      </a:spcBef>
      <a:spcAft>
        <a:spcPct val="0"/>
      </a:spcAft>
      <a:defRPr sz="1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幻灯片图像占位符 1">
            <a:extLst>
              <a:ext uri="{FF2B5EF4-FFF2-40B4-BE49-F238E27FC236}">
                <a16:creationId xmlns:a16="http://schemas.microsoft.com/office/drawing/2014/main" id="{95FC9178-FB46-9244-88F5-A4DB63E6BE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6979" name="备注占位符 2">
            <a:extLst>
              <a:ext uri="{FF2B5EF4-FFF2-40B4-BE49-F238E27FC236}">
                <a16:creationId xmlns:a16="http://schemas.microsoft.com/office/drawing/2014/main" id="{FF2C848C-6E6D-244D-B0D8-B1891C8DD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>
            <a:extLst>
              <a:ext uri="{FF2B5EF4-FFF2-40B4-BE49-F238E27FC236}">
                <a16:creationId xmlns:a16="http://schemas.microsoft.com/office/drawing/2014/main" id="{1475014D-9C36-4346-8E72-473BA8C8A584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01CC691B-E428-2B42-9CBA-D8AEEFB86F9C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76F0A4E2-A34C-E64C-85E0-8D661DCB4E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29028" name="Rectangle 3">
            <a:extLst>
              <a:ext uri="{FF2B5EF4-FFF2-40B4-BE49-F238E27FC236}">
                <a16:creationId xmlns:a16="http://schemas.microsoft.com/office/drawing/2014/main" id="{D3D7EF8E-466F-A54C-BD86-0A920A2A7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en-US" altLang="zh-CN" dirty="0">
              <a:solidFill>
                <a:srgbClr val="800000"/>
              </a:solidFill>
              <a:latin typeface="隶书" pitchFamily="49" charset="-122"/>
              <a:ea typeface="隶书" pitchFamily="49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1D0DF1E7-7C51-254D-A5B1-1739B248A0B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05CD601D-57CF-C54A-BAD5-96ED2DC10831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4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2067C905-769C-2A4C-A702-842AC1B9A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54550"/>
            <a:ext cx="6118225" cy="4813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116" tIns="46724" rIns="95116" bIns="46724"/>
          <a:lstStyle/>
          <a:p>
            <a:pPr eaLnBrk="1" hangingPunct="1"/>
            <a:endParaRPr lang="en-US" altLang="zh-CN" dirty="0"/>
          </a:p>
        </p:txBody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4E18F3F0-E8FF-9A40-B59A-DC59EABEB4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642938"/>
            <a:ext cx="5137150" cy="3852862"/>
          </a:xfr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2898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>
            <a:extLst>
              <a:ext uri="{FF2B5EF4-FFF2-40B4-BE49-F238E27FC236}">
                <a16:creationId xmlns:a16="http://schemas.microsoft.com/office/drawing/2014/main" id="{8177D3D1-3390-5C4E-9EDD-9C9F342AFB8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5355A9C7-07F5-7C45-AABF-8C07DB773289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16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45411" name="Rectangle 2">
            <a:extLst>
              <a:ext uri="{FF2B5EF4-FFF2-40B4-BE49-F238E27FC236}">
                <a16:creationId xmlns:a16="http://schemas.microsoft.com/office/drawing/2014/main" id="{3F4887E9-C34B-414E-8494-9C18CB7556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45412" name="Rectangle 3">
            <a:extLst>
              <a:ext uri="{FF2B5EF4-FFF2-40B4-BE49-F238E27FC236}">
                <a16:creationId xmlns:a16="http://schemas.microsoft.com/office/drawing/2014/main" id="{E9BE9EB0-4FB9-BF4B-B2FA-5F1BADF22E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23180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>
            <a:extLst>
              <a:ext uri="{FF2B5EF4-FFF2-40B4-BE49-F238E27FC236}">
                <a16:creationId xmlns:a16="http://schemas.microsoft.com/office/drawing/2014/main" id="{2DBEA9DB-08A6-5C4A-A057-8EE7600443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11A05CDC-FAC5-B445-9124-6EEFE54CA219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18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48483" name="Rectangle 2">
            <a:extLst>
              <a:ext uri="{FF2B5EF4-FFF2-40B4-BE49-F238E27FC236}">
                <a16:creationId xmlns:a16="http://schemas.microsoft.com/office/drawing/2014/main" id="{1696EF56-1C44-3343-B5E8-3B9EB36D69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642938"/>
            <a:ext cx="5137150" cy="3852862"/>
          </a:xfrm>
        </p:spPr>
      </p:sp>
      <p:sp>
        <p:nvSpPr>
          <p:cNvPr id="148484" name="Rectangle 3">
            <a:extLst>
              <a:ext uri="{FF2B5EF4-FFF2-40B4-BE49-F238E27FC236}">
                <a16:creationId xmlns:a16="http://schemas.microsoft.com/office/drawing/2014/main" id="{129915E2-F011-1649-81DD-85A0411B05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65663"/>
            <a:ext cx="6118225" cy="480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493" tIns="45746" rIns="91493" bIns="45746"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49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>
            <a:extLst>
              <a:ext uri="{FF2B5EF4-FFF2-40B4-BE49-F238E27FC236}">
                <a16:creationId xmlns:a16="http://schemas.microsoft.com/office/drawing/2014/main" id="{C6909EA1-77A8-5E48-A295-41BDE819F2C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16D7F471-E5A4-AD46-91FE-F5B9DF9AC0E9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20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51555" name="Rectangle 2">
            <a:extLst>
              <a:ext uri="{FF2B5EF4-FFF2-40B4-BE49-F238E27FC236}">
                <a16:creationId xmlns:a16="http://schemas.microsoft.com/office/drawing/2014/main" id="{BE1B1A19-1346-9940-A057-A5E6A43827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51556" name="Rectangle 3">
            <a:extLst>
              <a:ext uri="{FF2B5EF4-FFF2-40B4-BE49-F238E27FC236}">
                <a16:creationId xmlns:a16="http://schemas.microsoft.com/office/drawing/2014/main" id="{A47BE901-0FC0-514A-BF11-7DD192F3DD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>
            <a:extLst>
              <a:ext uri="{FF2B5EF4-FFF2-40B4-BE49-F238E27FC236}">
                <a16:creationId xmlns:a16="http://schemas.microsoft.com/office/drawing/2014/main" id="{693DE1D6-318F-F947-9DA4-4D77D3871C51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3C3280D3-C6C2-2349-9AE0-F6B7805984AD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23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44F592BF-29ED-F54F-A7CF-6FA3FD2BB3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55652" name="Rectangle 3">
            <a:extLst>
              <a:ext uri="{FF2B5EF4-FFF2-40B4-BE49-F238E27FC236}">
                <a16:creationId xmlns:a16="http://schemas.microsoft.com/office/drawing/2014/main" id="{D8D67492-4646-A542-A90D-98BCCAFC6F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A63AC6E5-14BC-7747-9501-A2C8B78C2D0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DFAB20A0-2A66-9D49-A763-2BCEA092B8DF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25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BF870C03-77BA-B944-9EDD-EBD40C6E4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4654550"/>
            <a:ext cx="6118225" cy="4813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5116" tIns="46724" rIns="95116" bIns="46724"/>
          <a:lstStyle/>
          <a:p>
            <a:pPr eaLnBrk="1" hangingPunct="1"/>
            <a:endParaRPr lang="en-US" altLang="zh-CN" dirty="0"/>
          </a:p>
        </p:txBody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2A942715-BB64-F34F-B2A5-8FAF08840F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642938"/>
            <a:ext cx="5137150" cy="3852862"/>
          </a:xfr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76E13BB0-A517-CB49-8094-8EEEC49996C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4C79DFF9-8F4A-1B43-9743-5EF71F04F72A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26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8E921B69-5BA8-F44F-B78B-5182531D12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9B7A133F-2BC5-8D4E-8A95-74D507C936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>
            <a:extLst>
              <a:ext uri="{FF2B5EF4-FFF2-40B4-BE49-F238E27FC236}">
                <a16:creationId xmlns:a16="http://schemas.microsoft.com/office/drawing/2014/main" id="{2869BD0C-2033-DA42-894E-3235460B5D4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575" tIns="48288" rIns="96575" bIns="48288" anchor="b"/>
          <a:lstStyle>
            <a:lvl1pPr algn="just" defTabSz="965200">
              <a:lnSpc>
                <a:spcPct val="90000"/>
              </a:lnSpc>
              <a:spcBef>
                <a:spcPct val="40000"/>
              </a:spcBef>
              <a:defRPr sz="1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52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5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</a:pPr>
            <a:fld id="{FDF2516B-7057-5A41-AB2D-BE13B447B0CC}" type="slidenum">
              <a:rPr kumimoji="1" lang="zh-CN" altLang="en-US" sz="1300">
                <a:latin typeface="Times New Roman" panose="02020603050405020304" pitchFamily="18" charset="0"/>
              </a:rPr>
              <a:pPr algn="r" eaLnBrk="1" hangingPunct="1">
                <a:lnSpc>
                  <a:spcPct val="100000"/>
                </a:lnSpc>
                <a:spcBef>
                  <a:spcPct val="0"/>
                </a:spcBef>
              </a:pPr>
              <a:t>33</a:t>
            </a:fld>
            <a:endParaRPr kumimoji="1"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168963" name="Rectangle 2">
            <a:extLst>
              <a:ext uri="{FF2B5EF4-FFF2-40B4-BE49-F238E27FC236}">
                <a16:creationId xmlns:a16="http://schemas.microsoft.com/office/drawing/2014/main" id="{72939C50-1176-3E41-8FB9-2A6FE1160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6763"/>
            <a:ext cx="5118100" cy="3838575"/>
          </a:xfrm>
        </p:spPr>
      </p:sp>
      <p:sp>
        <p:nvSpPr>
          <p:cNvPr id="168964" name="Rectangle 3">
            <a:extLst>
              <a:ext uri="{FF2B5EF4-FFF2-40B4-BE49-F238E27FC236}">
                <a16:creationId xmlns:a16="http://schemas.microsoft.com/office/drawing/2014/main" id="{48DAA60C-DC02-0F4C-9AD0-01E0A7BFC2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6575" tIns="48288" rIns="96575" bIns="48288"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幻灯片图像占位符 1">
            <a:extLst>
              <a:ext uri="{FF2B5EF4-FFF2-40B4-BE49-F238E27FC236}">
                <a16:creationId xmlns:a16="http://schemas.microsoft.com/office/drawing/2014/main" id="{8D0EF306-01C9-4143-8E33-60E27F800F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78179" name="备注占位符 2">
            <a:extLst>
              <a:ext uri="{FF2B5EF4-FFF2-40B4-BE49-F238E27FC236}">
                <a16:creationId xmlns:a16="http://schemas.microsoft.com/office/drawing/2014/main" id="{580FF820-CFBD-2545-9903-9166747355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98446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71165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84287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922486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7250" y="1295400"/>
            <a:ext cx="4019550" cy="21828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2717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1174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07622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87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1683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71445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79651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2125" y="128588"/>
            <a:ext cx="2201863" cy="33496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36538" y="128588"/>
            <a:ext cx="6453187" cy="33496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965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3930FD5-E805-C84A-86DE-514FF8DF0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36538" y="128588"/>
            <a:ext cx="8807450" cy="52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Title</a:t>
            </a:r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E6B2775E-2090-A442-ABB8-66E403802E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295400"/>
            <a:ext cx="8191500" cy="2182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3500" tIns="25400" rIns="63500" bIns="2540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zh-CN"/>
              <a:t>This is our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  <a:p>
            <a:pPr lvl="0"/>
            <a:r>
              <a:rPr lang="en-US" altLang="zh-CN"/>
              <a:t>This is our next 1st Level Bullet</a:t>
            </a:r>
          </a:p>
          <a:p>
            <a:pPr lvl="1"/>
            <a:r>
              <a:rPr lang="en-US" altLang="zh-CN"/>
              <a:t>This is our 2nd level bullet</a:t>
            </a:r>
          </a:p>
          <a:p>
            <a:pPr lvl="2"/>
            <a:r>
              <a:rPr lang="en-US" altLang="zh-CN"/>
              <a:t>This is our 3rd level bullet</a:t>
            </a:r>
          </a:p>
        </p:txBody>
      </p:sp>
      <p:sp>
        <p:nvSpPr>
          <p:cNvPr id="1028" name="Line 6">
            <a:extLst>
              <a:ext uri="{FF2B5EF4-FFF2-40B4-BE49-F238E27FC236}">
                <a16:creationId xmlns:a16="http://schemas.microsoft.com/office/drawing/2014/main" id="{B4CC1008-D94F-D946-B180-D0CE5D6BAB7A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46063" y="682625"/>
            <a:ext cx="86518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 kern="1200">
          <a:solidFill>
            <a:srgbClr val="CC3300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lnSpc>
          <a:spcPct val="87000"/>
        </a:lnSpc>
        <a:spcBef>
          <a:spcPct val="0"/>
        </a:spcBef>
        <a:spcAft>
          <a:spcPct val="0"/>
        </a:spcAft>
        <a:defRPr sz="3600" b="1">
          <a:solidFill>
            <a:srgbClr val="CC3300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203200" indent="-203200" algn="l" rtl="0" eaLnBrk="0" fontAlgn="base" hangingPunct="0">
        <a:spcBef>
          <a:spcPct val="35000"/>
        </a:spcBef>
        <a:spcAft>
          <a:spcPct val="0"/>
        </a:spcAft>
        <a:buSzPct val="100000"/>
        <a:buChar char="°"/>
        <a:defRPr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190500" algn="l" rtl="0" eaLnBrk="0" fontAlgn="base" hangingPunct="0">
        <a:spcBef>
          <a:spcPct val="35000"/>
        </a:spcBef>
        <a:spcAft>
          <a:spcPct val="0"/>
        </a:spcAft>
        <a:buSzPct val="100000"/>
        <a:buChar char="•"/>
        <a:defRPr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1257300" indent="-342900" algn="l" rtl="0" eaLnBrk="0" fontAlgn="base" hangingPunct="0">
        <a:spcBef>
          <a:spcPct val="35000"/>
        </a:spcBef>
        <a:spcAft>
          <a:spcPct val="0"/>
        </a:spcAft>
        <a:buSzPct val="100000"/>
        <a:buChar char="-"/>
        <a:defRPr b="1" kern="1200">
          <a:solidFill>
            <a:srgbClr val="B7011F"/>
          </a:solidFill>
          <a:latin typeface="+mn-lt"/>
          <a:ea typeface="+mn-ea"/>
          <a:cs typeface="+mn-cs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2" Type="http://schemas.openxmlformats.org/officeDocument/2006/relationships/slide" Target="slide45.xml"/><Relationship Id="rId1" Type="http://schemas.openxmlformats.org/officeDocument/2006/relationships/slideLayout" Target="../slideLayouts/slideLayout7.xml"/><Relationship Id="rId5" Type="http://schemas.openxmlformats.org/officeDocument/2006/relationships/slide" Target="slide48.xml"/><Relationship Id="rId4" Type="http://schemas.openxmlformats.org/officeDocument/2006/relationships/slide" Target="slide4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>
            <a:extLst>
              <a:ext uri="{FF2B5EF4-FFF2-40B4-BE49-F238E27FC236}">
                <a16:creationId xmlns:a16="http://schemas.microsoft.com/office/drawing/2014/main" id="{ADDDA526-D555-1149-A0F5-A200D08C5B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5938" y="57150"/>
            <a:ext cx="7499350" cy="581025"/>
          </a:xfrm>
        </p:spPr>
        <p:txBody>
          <a:bodyPr/>
          <a:lstStyle/>
          <a:p>
            <a:r>
              <a:rPr lang="zh-CN" altLang="en-US" sz="4000"/>
              <a:t>层次结构存储系统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E4FFEB7D-7E38-8D47-933E-300C59818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513" y="895350"/>
            <a:ext cx="8229600" cy="5159375"/>
          </a:xfrm>
          <a:noFill/>
        </p:spPr>
        <p:txBody>
          <a:bodyPr/>
          <a:lstStyle/>
          <a:p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分以下六个部分介绍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第一讲：存储器概述和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芯片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第二讲：主存与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的连接及其读写操作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主存模块的连接和读写操作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“装入”指令和“存储”指令操作过程 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第三讲：外部辅助存储器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第四讲：存储器的数据校验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第五讲：高速缓冲存储器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(cache)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程序访问的局部性、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的基本工作原理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行和主存块之间的映射方式 </a:t>
            </a:r>
          </a:p>
          <a:p>
            <a:pPr lvl="2"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和程序性能 </a:t>
            </a:r>
          </a:p>
          <a:p>
            <a:pPr lvl="1"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第六讲：虚拟存储器 </a:t>
            </a:r>
          </a:p>
          <a:p>
            <a:pPr lvl="2"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虚拟地址空间、虚拟存储器的实现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C6388D2A-F5A1-3249-A8BA-EC5324D3EB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12713"/>
            <a:ext cx="8640763" cy="569912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latin typeface="MSTT31c62400" charset="0"/>
              </a:rPr>
              <a:t>希望的理想存储器</a:t>
            </a:r>
          </a:p>
        </p:txBody>
      </p:sp>
      <p:sp>
        <p:nvSpPr>
          <p:cNvPr id="399364" name="Rectangle 4">
            <a:extLst>
              <a:ext uri="{FF2B5EF4-FFF2-40B4-BE49-F238E27FC236}">
                <a16:creationId xmlns:a16="http://schemas.microsoft.com/office/drawing/2014/main" id="{F222E0F1-543C-C14B-9A4A-306FE9BD8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625" y="847725"/>
            <a:ext cx="5748338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15000"/>
              </a:spcBef>
            </a:pPr>
            <a:r>
              <a:rPr lang="zh-CN" altLang="en-US" sz="22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到目前为止，已经了解到有以下几种存储器：</a:t>
            </a:r>
          </a:p>
          <a:p>
            <a:pPr eaLnBrk="1" hangingPunct="1">
              <a:lnSpc>
                <a:spcPct val="115000"/>
              </a:lnSpc>
              <a:spcBef>
                <a:spcPct val="15000"/>
              </a:spcBef>
            </a:pPr>
            <a:r>
              <a:rPr lang="zh-CN" altLang="en-US" sz="22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寄存器，</a:t>
            </a:r>
            <a:r>
              <a:rPr lang="en-US" altLang="zh-CN" sz="22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SRAM</a:t>
            </a:r>
            <a:r>
              <a:rPr lang="zh-CN" altLang="en-US" sz="22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2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DRAM</a:t>
            </a:r>
            <a:r>
              <a:rPr lang="zh-CN" altLang="en-US" sz="22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 硬盘</a:t>
            </a:r>
          </a:p>
        </p:txBody>
      </p:sp>
      <p:sp>
        <p:nvSpPr>
          <p:cNvPr id="399365" name="Rectangle 5">
            <a:extLst>
              <a:ext uri="{FF2B5EF4-FFF2-40B4-BE49-F238E27FC236}">
                <a16:creationId xmlns:a16="http://schemas.microsoft.com/office/drawing/2014/main" id="{CB0A79AD-34E4-F146-96A9-14CA33692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7100" y="5499100"/>
            <a:ext cx="58674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>
                <a:solidFill>
                  <a:srgbClr val="0000FF"/>
                </a:solidFill>
                <a:ea typeface="微软雅黑" panose="020B0503020204020204" pitchFamily="34" charset="-122"/>
              </a:rPr>
              <a:t>单独用某一种存储器，都不能满足我们的需要！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200" b="1">
                <a:solidFill>
                  <a:srgbClr val="CC0000"/>
                </a:solidFill>
                <a:ea typeface="微软雅黑" panose="020B0503020204020204" pitchFamily="34" charset="-122"/>
              </a:rPr>
              <a:t>采用分层存储结构来构建计算机的存储体系！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55622FDD-10BE-884A-B98F-2959962CDB0A}"/>
              </a:ext>
            </a:extLst>
          </p:cNvPr>
          <p:cNvGrpSpPr>
            <a:grpSpLocks/>
          </p:cNvGrpSpPr>
          <p:nvPr/>
        </p:nvGrpSpPr>
        <p:grpSpPr bwMode="auto">
          <a:xfrm>
            <a:off x="523875" y="1646238"/>
            <a:ext cx="8305800" cy="3303587"/>
            <a:chOff x="336" y="1253"/>
            <a:chExt cx="5232" cy="2081"/>
          </a:xfrm>
        </p:grpSpPr>
        <p:graphicFrame>
          <p:nvGraphicFramePr>
            <p:cNvPr id="128007" name="Object 3">
              <a:extLst>
                <a:ext uri="{FF2B5EF4-FFF2-40B4-BE49-F238E27FC236}">
                  <a16:creationId xmlns:a16="http://schemas.microsoft.com/office/drawing/2014/main" id="{1C44CE8A-156B-2649-B91A-885B021303A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6" y="1253"/>
            <a:ext cx="5232" cy="20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8046" name="位图图像" r:id="rId4" imgW="3765550" imgH="1574800" progId="Paint.Picture">
                    <p:embed/>
                  </p:oleObj>
                </mc:Choice>
                <mc:Fallback>
                  <p:oleObj name="位图图像" r:id="rId4" imgW="3765550" imgH="1574800" progId="Paint.Picture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1253"/>
                          <a:ext cx="5232" cy="20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8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8008" name="Text Box 12">
              <a:extLst>
                <a:ext uri="{FF2B5EF4-FFF2-40B4-BE49-F238E27FC236}">
                  <a16:creationId xmlns:a16="http://schemas.microsoft.com/office/drawing/2014/main" id="{FC4034DF-2697-0C47-A4C5-D3CAC9AB3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1741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1ns</a:t>
              </a:r>
            </a:p>
          </p:txBody>
        </p:sp>
        <p:sp>
          <p:nvSpPr>
            <p:cNvPr id="128009" name="Text Box 17">
              <a:extLst>
                <a:ext uri="{FF2B5EF4-FFF2-40B4-BE49-F238E27FC236}">
                  <a16:creationId xmlns:a16="http://schemas.microsoft.com/office/drawing/2014/main" id="{38A3EE9D-3C7C-F14E-AD5B-6FC523BA5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2005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2ns</a:t>
              </a:r>
            </a:p>
          </p:txBody>
        </p:sp>
        <p:sp>
          <p:nvSpPr>
            <p:cNvPr id="128010" name="Text Box 18">
              <a:extLst>
                <a:ext uri="{FF2B5EF4-FFF2-40B4-BE49-F238E27FC236}">
                  <a16:creationId xmlns:a16="http://schemas.microsoft.com/office/drawing/2014/main" id="{0EB00F87-E154-8746-88D5-B03EC7590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2286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10ns</a:t>
              </a:r>
            </a:p>
          </p:txBody>
        </p:sp>
        <p:sp>
          <p:nvSpPr>
            <p:cNvPr id="128011" name="Text Box 19">
              <a:extLst>
                <a:ext uri="{FF2B5EF4-FFF2-40B4-BE49-F238E27FC236}">
                  <a16:creationId xmlns:a16="http://schemas.microsoft.com/office/drawing/2014/main" id="{6AD196FC-38AF-B64A-B79C-C759C63994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1" y="2558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10ms</a:t>
              </a:r>
            </a:p>
          </p:txBody>
        </p:sp>
        <p:sp>
          <p:nvSpPr>
            <p:cNvPr id="128012" name="Text Box 20">
              <a:extLst>
                <a:ext uri="{FF2B5EF4-FFF2-40B4-BE49-F238E27FC236}">
                  <a16:creationId xmlns:a16="http://schemas.microsoft.com/office/drawing/2014/main" id="{C93D1D56-6D9E-F44F-9B40-0E14EA96D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1706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 b="1">
                  <a:latin typeface="Times New Roman" panose="02020603050405020304" pitchFamily="18" charset="0"/>
                  <a:ea typeface="华文新魏" panose="02010800040101010101" pitchFamily="2" charset="-122"/>
                </a:rPr>
                <a:t>&lt;</a:t>
              </a: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1KB</a:t>
              </a:r>
            </a:p>
          </p:txBody>
        </p:sp>
        <p:sp>
          <p:nvSpPr>
            <p:cNvPr id="128013" name="Text Box 21">
              <a:extLst>
                <a:ext uri="{FF2B5EF4-FFF2-40B4-BE49-F238E27FC236}">
                  <a16:creationId xmlns:a16="http://schemas.microsoft.com/office/drawing/2014/main" id="{CB9B473D-2973-7B4C-9152-E41D40A6EA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7" y="2013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1MB</a:t>
              </a:r>
            </a:p>
          </p:txBody>
        </p:sp>
        <p:sp>
          <p:nvSpPr>
            <p:cNvPr id="128014" name="Text Box 22">
              <a:extLst>
                <a:ext uri="{FF2B5EF4-FFF2-40B4-BE49-F238E27FC236}">
                  <a16:creationId xmlns:a16="http://schemas.microsoft.com/office/drawing/2014/main" id="{13038470-5DC3-7A48-B84A-6F22884B22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1" y="2286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1GB</a:t>
              </a:r>
            </a:p>
          </p:txBody>
        </p:sp>
        <p:sp>
          <p:nvSpPr>
            <p:cNvPr id="128015" name="Text Box 23">
              <a:extLst>
                <a:ext uri="{FF2B5EF4-FFF2-40B4-BE49-F238E27FC236}">
                  <a16:creationId xmlns:a16="http://schemas.microsoft.com/office/drawing/2014/main" id="{EF9E9DAB-02C9-8043-BF6C-6031C9338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568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latin typeface="Comic Sans MS" panose="030F0902030302020204" pitchFamily="66" charset="0"/>
                  <a:ea typeface="华文新魏" panose="02010800040101010101" pitchFamily="2" charset="-122"/>
                </a:rPr>
                <a:t>1000GB</a:t>
              </a:r>
            </a:p>
          </p:txBody>
        </p:sp>
        <p:sp>
          <p:nvSpPr>
            <p:cNvPr id="128016" name="Text Box 24">
              <a:extLst>
                <a:ext uri="{FF2B5EF4-FFF2-40B4-BE49-F238E27FC236}">
                  <a16:creationId xmlns:a16="http://schemas.microsoft.com/office/drawing/2014/main" id="{40A2F910-68A9-1343-8924-2A61914C6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6" y="2840"/>
              <a:ext cx="1089" cy="1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1800">
                  <a:solidFill>
                    <a:srgbClr val="CC0000"/>
                  </a:solidFill>
                  <a:latin typeface="Comic Sans MS" panose="030F0902030302020204" pitchFamily="66" charset="0"/>
                  <a:ea typeface="华文新魏" panose="02010800040101010101" pitchFamily="2" charset="-122"/>
                </a:rPr>
                <a:t>100GB</a:t>
              </a:r>
            </a:p>
          </p:txBody>
        </p:sp>
        <p:sp>
          <p:nvSpPr>
            <p:cNvPr id="128017" name="Text Box 25">
              <a:extLst>
                <a:ext uri="{FF2B5EF4-FFF2-40B4-BE49-F238E27FC236}">
                  <a16:creationId xmlns:a16="http://schemas.microsoft.com/office/drawing/2014/main" id="{CC075BB9-0A71-B646-BBD6-DF0E6C178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2840"/>
              <a:ext cx="1089" cy="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kumimoji="1" lang="en-US" altLang="zh-CN" sz="2000">
                  <a:solidFill>
                    <a:srgbClr val="CC0000"/>
                  </a:solidFill>
                  <a:latin typeface="Comic Sans MS" panose="030F0902030302020204" pitchFamily="66" charset="0"/>
                  <a:ea typeface="华文新魏" panose="02010800040101010101" pitchFamily="2" charset="-122"/>
                </a:rPr>
                <a:t>1ns</a:t>
              </a:r>
            </a:p>
          </p:txBody>
        </p:sp>
      </p:grpSp>
      <p:sp>
        <p:nvSpPr>
          <p:cNvPr id="399390" name="Rectangle 30">
            <a:extLst>
              <a:ext uri="{FF2B5EF4-FFF2-40B4-BE49-F238E27FC236}">
                <a16:creationId xmlns:a16="http://schemas.microsoft.com/office/drawing/2014/main" id="{1A3D55C1-3FC7-A345-8D98-AAC36EFD8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999038"/>
            <a:ext cx="61468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>
                <a:solidFill>
                  <a:srgbClr val="CC0000"/>
                </a:solidFill>
                <a:ea typeface="微软雅黑" panose="020B0503020204020204" pitchFamily="34" charset="-122"/>
              </a:rPr>
              <a:t>问题：你认为哪一种最适合做计算机的存储器呢？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3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993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313C5CC4-8947-EF4B-A376-D1A763254F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07950"/>
            <a:ext cx="8805863" cy="569913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存储器的层次结构</a:t>
            </a:r>
          </a:p>
        </p:txBody>
      </p:sp>
      <p:sp>
        <p:nvSpPr>
          <p:cNvPr id="130051" name="Text Box 4">
            <a:extLst>
              <a:ext uri="{FF2B5EF4-FFF2-40B4-BE49-F238E27FC236}">
                <a16:creationId xmlns:a16="http://schemas.microsoft.com/office/drawing/2014/main" id="{F84D4895-95EC-2D4E-81B1-6648139E4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2259013"/>
            <a:ext cx="1527175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cache</a:t>
            </a:r>
            <a:endParaRPr kumimoji="1" lang="zh-CN" altLang="en-US" sz="2200" b="1">
              <a:ea typeface="黑体" panose="02010609060101010101" pitchFamily="49" charset="-122"/>
            </a:endParaRPr>
          </a:p>
        </p:txBody>
      </p:sp>
      <p:sp>
        <p:nvSpPr>
          <p:cNvPr id="130052" name="Text Box 5">
            <a:extLst>
              <a:ext uri="{FF2B5EF4-FFF2-40B4-BE49-F238E27FC236}">
                <a16:creationId xmlns:a16="http://schemas.microsoft.com/office/drawing/2014/main" id="{33FFD35A-B1A9-0848-A83E-2CDB75286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0" y="2933700"/>
            <a:ext cx="2519363" cy="7207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主存</a:t>
            </a:r>
            <a:r>
              <a:rPr kumimoji="1" lang="en-US" altLang="zh-CN" sz="2200" b="1">
                <a:ea typeface="黑体" panose="02010609060101010101" pitchFamily="49" charset="-122"/>
              </a:rPr>
              <a:t>(RAM</a:t>
            </a:r>
            <a:r>
              <a:rPr kumimoji="1" lang="zh-CN" altLang="en-US" sz="2200" b="1">
                <a:ea typeface="黑体" panose="02010609060101010101" pitchFamily="49" charset="-122"/>
              </a:rPr>
              <a:t>和</a:t>
            </a:r>
            <a:r>
              <a:rPr kumimoji="1" lang="en-US" altLang="zh-CN" sz="2200" b="1">
                <a:ea typeface="黑体" panose="02010609060101010101" pitchFamily="49" charset="-122"/>
              </a:rPr>
              <a:t>ROM)</a:t>
            </a:r>
          </a:p>
        </p:txBody>
      </p:sp>
      <p:sp>
        <p:nvSpPr>
          <p:cNvPr id="130053" name="Text Box 6">
            <a:extLst>
              <a:ext uri="{FF2B5EF4-FFF2-40B4-BE49-F238E27FC236}">
                <a16:creationId xmlns:a16="http://schemas.microsoft.com/office/drawing/2014/main" id="{928C79EF-8BCE-4641-AB52-22884A530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225" y="3654425"/>
            <a:ext cx="3735388" cy="6953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 外存储器（硬盘、光盘）</a:t>
            </a:r>
          </a:p>
        </p:txBody>
      </p:sp>
      <p:sp>
        <p:nvSpPr>
          <p:cNvPr id="130054" name="Text Box 7">
            <a:extLst>
              <a:ext uri="{FF2B5EF4-FFF2-40B4-BE49-F238E27FC236}">
                <a16:creationId xmlns:a16="http://schemas.microsoft.com/office/drawing/2014/main" id="{121AF490-927E-F94D-A42A-7DE5C0C730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6475" y="4329113"/>
            <a:ext cx="4995863" cy="693737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后备存储器（磁带库、光盘库）</a:t>
            </a:r>
          </a:p>
        </p:txBody>
      </p:sp>
      <p:sp>
        <p:nvSpPr>
          <p:cNvPr id="130055" name="Line 8">
            <a:extLst>
              <a:ext uri="{FF2B5EF4-FFF2-40B4-BE49-F238E27FC236}">
                <a16:creationId xmlns:a16="http://schemas.microsoft.com/office/drawing/2014/main" id="{21736B09-9696-9F49-A740-466141D7AE7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0" y="3649663"/>
            <a:ext cx="9086850" cy="1587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0056" name="Text Box 9">
            <a:extLst>
              <a:ext uri="{FF2B5EF4-FFF2-40B4-BE49-F238E27FC236}">
                <a16:creationId xmlns:a16="http://schemas.microsoft.com/office/drawing/2014/main" id="{89916065-935C-4643-91E8-0CD0039A9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1314450"/>
            <a:ext cx="657225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内部存储器</a:t>
            </a:r>
            <a:endParaRPr kumimoji="1" lang="zh-CN" altLang="en-US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130057" name="Text Box 10">
            <a:extLst>
              <a:ext uri="{FF2B5EF4-FFF2-40B4-BE49-F238E27FC236}">
                <a16:creationId xmlns:a16="http://schemas.microsoft.com/office/drawing/2014/main" id="{BFC735BB-FC6F-D644-B4FE-E4CFFBDC0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5094288"/>
            <a:ext cx="2116137" cy="97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58311" rIns="116623" bIns="58311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外部存储器</a:t>
            </a:r>
            <a:endParaRPr kumimoji="1" lang="zh-CN" altLang="en-US" sz="2400" b="1">
              <a:solidFill>
                <a:srgbClr val="0000CC"/>
              </a:solidFill>
              <a:ea typeface="黑体" panose="02010609060101010101" pitchFamily="49" charset="-122"/>
            </a:endParaRPr>
          </a:p>
        </p:txBody>
      </p:sp>
      <p:sp>
        <p:nvSpPr>
          <p:cNvPr id="130058" name="Text Box 11">
            <a:extLst>
              <a:ext uri="{FF2B5EF4-FFF2-40B4-BE49-F238E27FC236}">
                <a16:creationId xmlns:a16="http://schemas.microsoft.com/office/drawing/2014/main" id="{287C8BFF-A17A-5F46-BF86-602971C8F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4663" y="1620838"/>
            <a:ext cx="901700" cy="636587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寄存器</a:t>
            </a:r>
          </a:p>
        </p:txBody>
      </p:sp>
      <p:sp>
        <p:nvSpPr>
          <p:cNvPr id="130059" name="Text Box 13">
            <a:extLst>
              <a:ext uri="{FF2B5EF4-FFF2-40B4-BE49-F238E27FC236}">
                <a16:creationId xmlns:a16="http://schemas.microsoft.com/office/drawing/2014/main" id="{7EC6ED2B-505A-944D-9F2D-475467861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9950" y="1268413"/>
            <a:ext cx="1614488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典型容量</a:t>
            </a:r>
          </a:p>
        </p:txBody>
      </p:sp>
      <p:sp>
        <p:nvSpPr>
          <p:cNvPr id="130060" name="Text Box 14">
            <a:extLst>
              <a:ext uri="{FF2B5EF4-FFF2-40B4-BE49-F238E27FC236}">
                <a16:creationId xmlns:a16="http://schemas.microsoft.com/office/drawing/2014/main" id="{234CB60C-B3A5-3343-8E2F-1D9BB49F8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27888" y="1808163"/>
            <a:ext cx="1530350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&lt;1KB</a:t>
            </a:r>
          </a:p>
        </p:txBody>
      </p:sp>
      <p:sp>
        <p:nvSpPr>
          <p:cNvPr id="130061" name="Text Box 15">
            <a:extLst>
              <a:ext uri="{FF2B5EF4-FFF2-40B4-BE49-F238E27FC236}">
                <a16:creationId xmlns:a16="http://schemas.microsoft.com/office/drawing/2014/main" id="{47BA6FF4-0B41-D845-AD27-C67B7BB91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2825" y="2362200"/>
            <a:ext cx="1530350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1MB</a:t>
            </a:r>
          </a:p>
        </p:txBody>
      </p:sp>
      <p:sp>
        <p:nvSpPr>
          <p:cNvPr id="130062" name="Text Box 16">
            <a:extLst>
              <a:ext uri="{FF2B5EF4-FFF2-40B4-BE49-F238E27FC236}">
                <a16:creationId xmlns:a16="http://schemas.microsoft.com/office/drawing/2014/main" id="{BC020312-F9A4-7341-8E6B-39135E5A9E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6913" y="3014663"/>
            <a:ext cx="1871662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256MB</a:t>
            </a:r>
            <a:r>
              <a:rPr kumimoji="1" lang="en-US" altLang="zh-CN" sz="1800" b="1">
                <a:ea typeface="华文新魏" panose="02010800040101010101" pitchFamily="2" charset="-122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1GB</a:t>
            </a:r>
          </a:p>
        </p:txBody>
      </p:sp>
      <p:sp>
        <p:nvSpPr>
          <p:cNvPr id="130063" name="Text Box 17">
            <a:extLst>
              <a:ext uri="{FF2B5EF4-FFF2-40B4-BE49-F238E27FC236}">
                <a16:creationId xmlns:a16="http://schemas.microsoft.com/office/drawing/2014/main" id="{9EE2533B-AAF9-9E42-94BE-2612F38CB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2463" y="3743325"/>
            <a:ext cx="2141537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40GB</a:t>
            </a:r>
            <a:r>
              <a:rPr kumimoji="1" lang="en-US" altLang="zh-CN" sz="1800" b="1">
                <a:ea typeface="华文新魏" panose="02010800040101010101" pitchFamily="2" charset="-122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200GB</a:t>
            </a:r>
          </a:p>
        </p:txBody>
      </p:sp>
      <p:sp>
        <p:nvSpPr>
          <p:cNvPr id="130064" name="Text Box 18">
            <a:extLst>
              <a:ext uri="{FF2B5EF4-FFF2-40B4-BE49-F238E27FC236}">
                <a16:creationId xmlns:a16="http://schemas.microsoft.com/office/drawing/2014/main" id="{661D0269-2B5C-B44B-8502-505D877455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4464050"/>
            <a:ext cx="1755775" cy="652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10TB</a:t>
            </a:r>
            <a:r>
              <a:rPr kumimoji="1" lang="en-US" altLang="zh-CN" sz="1800" b="1">
                <a:ea typeface="华文新魏" panose="02010800040101010101" pitchFamily="2" charset="-122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100TB</a:t>
            </a:r>
          </a:p>
        </p:txBody>
      </p:sp>
      <p:sp>
        <p:nvSpPr>
          <p:cNvPr id="130065" name="Text Box 19">
            <a:extLst>
              <a:ext uri="{FF2B5EF4-FFF2-40B4-BE49-F238E27FC236}">
                <a16:creationId xmlns:a16="http://schemas.microsoft.com/office/drawing/2014/main" id="{B91EAB54-1161-2F47-8D1F-35220C0796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575" y="1290638"/>
            <a:ext cx="226377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10000"/>
              </a:lnSpc>
            </a:pPr>
            <a:r>
              <a:rPr kumimoji="1" lang="zh-CN" altLang="en-US" sz="2200" b="1">
                <a:ea typeface="黑体" panose="02010609060101010101" pitchFamily="49" charset="-122"/>
              </a:rPr>
              <a:t>典型存取时间</a:t>
            </a:r>
          </a:p>
        </p:txBody>
      </p:sp>
      <p:sp>
        <p:nvSpPr>
          <p:cNvPr id="130066" name="Text Box 20">
            <a:extLst>
              <a:ext uri="{FF2B5EF4-FFF2-40B4-BE49-F238E27FC236}">
                <a16:creationId xmlns:a16="http://schemas.microsoft.com/office/drawing/2014/main" id="{2818695B-512B-1F4C-9517-9C41792CCF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1800225"/>
            <a:ext cx="260985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1ns(0.5</a:t>
            </a:r>
            <a:r>
              <a:rPr kumimoji="1" lang="en-US" altLang="zh-CN" sz="2200" b="1">
                <a:ea typeface="黑体" panose="02010609060101010101" pitchFamily="49" charset="-122"/>
                <a:cs typeface="Times New Roman" panose="02020603050405020304" pitchFamily="18" charset="0"/>
              </a:rPr>
              <a:t>~</a:t>
            </a:r>
            <a:r>
              <a:rPr kumimoji="1" lang="en-US" altLang="zh-CN" sz="2200" b="1">
                <a:ea typeface="黑体" panose="02010609060101010101" pitchFamily="49" charset="-122"/>
              </a:rPr>
              <a:t>1cycles</a:t>
            </a:r>
            <a:r>
              <a:rPr kumimoji="1" lang="en-US" altLang="zh-CN" sz="1500" b="1">
                <a:solidFill>
                  <a:schemeClr val="hlink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kumimoji="1" lang="zh-CN" altLang="en-US" sz="2300" b="1">
              <a:solidFill>
                <a:schemeClr val="hlink"/>
              </a:solidFill>
              <a:ea typeface="宋体" panose="02010600030101010101" pitchFamily="2" charset="-122"/>
            </a:endParaRPr>
          </a:p>
        </p:txBody>
      </p:sp>
      <p:sp>
        <p:nvSpPr>
          <p:cNvPr id="130067" name="Text Box 21">
            <a:extLst>
              <a:ext uri="{FF2B5EF4-FFF2-40B4-BE49-F238E27FC236}">
                <a16:creationId xmlns:a16="http://schemas.microsoft.com/office/drawing/2014/main" id="{6AD4DD56-C097-B645-93C8-229EB79A9A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2347913"/>
            <a:ext cx="310515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2ns(1~3cycles)</a:t>
            </a:r>
          </a:p>
        </p:txBody>
      </p:sp>
      <p:sp>
        <p:nvSpPr>
          <p:cNvPr id="130068" name="Text Box 22">
            <a:extLst>
              <a:ext uri="{FF2B5EF4-FFF2-40B4-BE49-F238E27FC236}">
                <a16:creationId xmlns:a16="http://schemas.microsoft.com/office/drawing/2014/main" id="{6BCB164A-1889-8B4F-A2D9-C84136124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024188"/>
            <a:ext cx="2925762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10ns(10~100cycles)</a:t>
            </a:r>
            <a:endParaRPr kumimoji="1" lang="en-US" altLang="zh-CN" sz="1500" b="1">
              <a:solidFill>
                <a:schemeClr val="hlink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30069" name="Text Box 23">
            <a:extLst>
              <a:ext uri="{FF2B5EF4-FFF2-40B4-BE49-F238E27FC236}">
                <a16:creationId xmlns:a16="http://schemas.microsoft.com/office/drawing/2014/main" id="{E3995376-62EF-C34C-9C62-8920ED197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3789363"/>
            <a:ext cx="306070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000" b="1">
                <a:ea typeface="黑体" panose="02010609060101010101" pitchFamily="49" charset="-122"/>
              </a:rPr>
              <a:t>10ms(10</a:t>
            </a:r>
            <a:r>
              <a:rPr kumimoji="1" lang="en-US" altLang="zh-CN" sz="2000" b="1" baseline="30000">
                <a:ea typeface="黑体" panose="02010609060101010101" pitchFamily="49" charset="-122"/>
              </a:rPr>
              <a:t>7</a:t>
            </a:r>
            <a:r>
              <a:rPr kumimoji="1" lang="en-US" altLang="zh-CN" sz="2000" b="1">
                <a:ea typeface="华文新魏" panose="02010800040101010101" pitchFamily="2" charset="-122"/>
              </a:rPr>
              <a:t>~10</a:t>
            </a:r>
            <a:r>
              <a:rPr kumimoji="1" lang="en-US" altLang="zh-CN" sz="2000" b="1" baseline="30000">
                <a:ea typeface="华文新魏" panose="02010800040101010101" pitchFamily="2" charset="-122"/>
              </a:rPr>
              <a:t>8</a:t>
            </a:r>
            <a:r>
              <a:rPr kumimoji="1" lang="en-US" altLang="zh-CN" sz="2000" b="1">
                <a:ea typeface="华文新魏" panose="02010800040101010101" pitchFamily="2" charset="-122"/>
              </a:rPr>
              <a:t>cycles)</a:t>
            </a:r>
            <a:endParaRPr kumimoji="1" lang="zh-CN" altLang="en-US" sz="2000" b="1">
              <a:ea typeface="华文新魏" panose="02010800040101010101" pitchFamily="2" charset="-122"/>
            </a:endParaRPr>
          </a:p>
        </p:txBody>
      </p:sp>
      <p:sp>
        <p:nvSpPr>
          <p:cNvPr id="130070" name="Text Box 24">
            <a:extLst>
              <a:ext uri="{FF2B5EF4-FFF2-40B4-BE49-F238E27FC236}">
                <a16:creationId xmlns:a16="http://schemas.microsoft.com/office/drawing/2014/main" id="{B10772D1-6C8C-294C-B10C-7895DD276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888" y="4418013"/>
            <a:ext cx="1889125" cy="652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6623" tIns="0" rIns="11662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10000"/>
              </a:lnSpc>
            </a:pPr>
            <a:r>
              <a:rPr kumimoji="1" lang="en-US" altLang="zh-CN" sz="2200" b="1">
                <a:ea typeface="黑体" panose="02010609060101010101" pitchFamily="49" charset="-122"/>
              </a:rPr>
              <a:t>10s(</a:t>
            </a:r>
            <a:r>
              <a:rPr kumimoji="1" lang="zh-CN" altLang="en-US" sz="2200" b="1">
                <a:ea typeface="黑体" panose="02010609060101010101" pitchFamily="49" charset="-122"/>
              </a:rPr>
              <a:t>脱机</a:t>
            </a:r>
            <a:r>
              <a:rPr kumimoji="1" lang="en-US" altLang="zh-CN" sz="2200" b="1"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130071" name="Text Box 27">
            <a:extLst>
              <a:ext uri="{FF2B5EF4-FFF2-40B4-BE49-F238E27FC236}">
                <a16:creationId xmlns:a16="http://schemas.microsoft.com/office/drawing/2014/main" id="{8E69F117-AFA7-D143-9D0F-63020E54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5854700"/>
            <a:ext cx="8191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FF0066"/>
                </a:solidFill>
                <a:ea typeface="黑体" panose="02010609060101010101" pitchFamily="49" charset="-122"/>
              </a:rPr>
              <a:t>列出的时间和容量会随时间变化，但数量级相对关系不变。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>
            <a:extLst>
              <a:ext uri="{FF2B5EF4-FFF2-40B4-BE49-F238E27FC236}">
                <a16:creationId xmlns:a16="http://schemas.microsoft.com/office/drawing/2014/main" id="{5DE5E61D-0271-4E49-A016-01E03D276A4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3075" y="128588"/>
            <a:ext cx="8142288" cy="474662"/>
          </a:xfrm>
          <a:noFill/>
        </p:spPr>
        <p:txBody>
          <a:bodyPr/>
          <a:lstStyle/>
          <a:p>
            <a:pPr eaLnBrk="1" hangingPunct="1"/>
            <a:r>
              <a:rPr lang="zh-CN" altLang="en-US" sz="3200"/>
              <a:t>层次化存储器结构（</a:t>
            </a:r>
            <a:r>
              <a:rPr lang="en-US" altLang="zh-CN" sz="3200"/>
              <a:t>Memory Hierarchy</a:t>
            </a:r>
            <a:r>
              <a:rPr lang="zh-CN" altLang="en-US" sz="3200"/>
              <a:t>）</a:t>
            </a:r>
          </a:p>
        </p:txBody>
      </p:sp>
      <p:sp>
        <p:nvSpPr>
          <p:cNvPr id="409603" name="Rectangle 3">
            <a:extLst>
              <a:ext uri="{FF2B5EF4-FFF2-40B4-BE49-F238E27FC236}">
                <a16:creationId xmlns:a16="http://schemas.microsoft.com/office/drawing/2014/main" id="{225D1F2D-B449-5A42-B9DD-48A8EC67A6D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41313" y="4594225"/>
            <a:ext cx="7921625" cy="2030413"/>
          </a:xfrm>
          <a:noFill/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时间局部性（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Temporal Locality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含义：刚被访问过的单元很可能不久又被访问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做法：让最近被访问过的信息保留在靠近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的存储器中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空间局部性 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Spatial Locality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spcBef>
                <a:spcPct val="10000"/>
              </a:spcBef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含义：刚被访问过的单元的邻近单元很可能不久被访问</a:t>
            </a:r>
            <a:endParaRPr lang="en-US" altLang="zh-CN" sz="20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10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做法：将刚被访问过的单元的邻近单元调到靠近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的存储器中 </a:t>
            </a:r>
          </a:p>
        </p:txBody>
      </p:sp>
      <p:grpSp>
        <p:nvGrpSpPr>
          <p:cNvPr id="131076" name="Group 24">
            <a:extLst>
              <a:ext uri="{FF2B5EF4-FFF2-40B4-BE49-F238E27FC236}">
                <a16:creationId xmlns:a16="http://schemas.microsoft.com/office/drawing/2014/main" id="{9076E6F7-A124-1C48-B811-4D54B2E0AD9E}"/>
              </a:ext>
            </a:extLst>
          </p:cNvPr>
          <p:cNvGrpSpPr>
            <a:grpSpLocks/>
          </p:cNvGrpSpPr>
          <p:nvPr/>
        </p:nvGrpSpPr>
        <p:grpSpPr bwMode="auto">
          <a:xfrm>
            <a:off x="1150938" y="863600"/>
            <a:ext cx="6913562" cy="1760538"/>
            <a:chOff x="553" y="1152"/>
            <a:chExt cx="3378" cy="1184"/>
          </a:xfrm>
        </p:grpSpPr>
        <p:sp>
          <p:nvSpPr>
            <p:cNvPr id="131083" name="Rectangle 4">
              <a:extLst>
                <a:ext uri="{FF2B5EF4-FFF2-40B4-BE49-F238E27FC236}">
                  <a16:creationId xmlns:a16="http://schemas.microsoft.com/office/drawing/2014/main" id="{9A5F70C6-CE8E-B641-BE3A-17E8D1ABE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" y="1296"/>
              <a:ext cx="800" cy="896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1084" name="Rectangle 5">
              <a:extLst>
                <a:ext uri="{FF2B5EF4-FFF2-40B4-BE49-F238E27FC236}">
                  <a16:creationId xmlns:a16="http://schemas.microsoft.com/office/drawing/2014/main" id="{3505889A-D2E8-8640-A1B3-B7069B7F1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" y="1152"/>
              <a:ext cx="752" cy="118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1085" name="Rectangle 6">
              <a:extLst>
                <a:ext uri="{FF2B5EF4-FFF2-40B4-BE49-F238E27FC236}">
                  <a16:creationId xmlns:a16="http://schemas.microsoft.com/office/drawing/2014/main" id="{B260CF98-C633-FB41-A088-BAFFA314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8" y="1161"/>
              <a:ext cx="727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Lower</a:t>
              </a:r>
              <a:r>
                <a:rPr lang="en-US" altLang="zh-CN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lang="en-US" altLang="zh-CN" sz="1800" b="1">
                  <a:ea typeface="宋体" panose="02010600030101010101" pitchFamily="2" charset="-122"/>
                </a:rPr>
                <a:t>Level</a:t>
              </a:r>
            </a:p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31086" name="Rectangle 7">
              <a:extLst>
                <a:ext uri="{FF2B5EF4-FFF2-40B4-BE49-F238E27FC236}">
                  <a16:creationId xmlns:a16="http://schemas.microsoft.com/office/drawing/2014/main" id="{6EAC79AE-7CDB-C34F-8BDC-9D4EC6C83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2" y="1305"/>
              <a:ext cx="728" cy="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Upper Level</a:t>
              </a:r>
            </a:p>
            <a:p>
              <a:pPr algn="ctr"/>
              <a:r>
                <a:rPr lang="en-US" altLang="zh-CN" sz="1800" b="1">
                  <a:ea typeface="宋体" panose="02010600030101010101" pitchFamily="2" charset="-122"/>
                </a:rPr>
                <a:t>Memory</a:t>
              </a:r>
            </a:p>
          </p:txBody>
        </p:sp>
        <p:sp>
          <p:nvSpPr>
            <p:cNvPr id="131087" name="Line 8">
              <a:extLst>
                <a:ext uri="{FF2B5EF4-FFF2-40B4-BE49-F238E27FC236}">
                  <a16:creationId xmlns:a16="http://schemas.microsoft.com/office/drawing/2014/main" id="{3376D900-8E61-F74B-A217-8ACD3F2B3D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4" y="1528"/>
              <a:ext cx="1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88" name="Rectangle 9">
              <a:extLst>
                <a:ext uri="{FF2B5EF4-FFF2-40B4-BE49-F238E27FC236}">
                  <a16:creationId xmlns:a16="http://schemas.microsoft.com/office/drawing/2014/main" id="{A7ABAFEB-3FEE-3E47-B627-B2DBF3E99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3" y="1336"/>
              <a:ext cx="491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To CPU</a:t>
              </a:r>
            </a:p>
          </p:txBody>
        </p:sp>
        <p:sp>
          <p:nvSpPr>
            <p:cNvPr id="131089" name="Line 10">
              <a:extLst>
                <a:ext uri="{FF2B5EF4-FFF2-40B4-BE49-F238E27FC236}">
                  <a16:creationId xmlns:a16="http://schemas.microsoft.com/office/drawing/2014/main" id="{2ADE9A66-696F-A647-924F-472C498FA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0" y="2008"/>
              <a:ext cx="113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90" name="Rectangle 11">
              <a:extLst>
                <a:ext uri="{FF2B5EF4-FFF2-40B4-BE49-F238E27FC236}">
                  <a16:creationId xmlns:a16="http://schemas.microsoft.com/office/drawing/2014/main" id="{464C0D36-88A5-2048-9EAB-D10B7C5CDA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3" y="1816"/>
              <a:ext cx="634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From CPU</a:t>
              </a:r>
            </a:p>
          </p:txBody>
        </p:sp>
        <p:sp>
          <p:nvSpPr>
            <p:cNvPr id="131091" name="Line 12">
              <a:extLst>
                <a:ext uri="{FF2B5EF4-FFF2-40B4-BE49-F238E27FC236}">
                  <a16:creationId xmlns:a16="http://schemas.microsoft.com/office/drawing/2014/main" id="{BDD10DA9-CAFC-C94E-8BC3-B1E900BB6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38" y="1720"/>
              <a:ext cx="5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92" name="Rectangle 13">
              <a:extLst>
                <a:ext uri="{FF2B5EF4-FFF2-40B4-BE49-F238E27FC236}">
                  <a16:creationId xmlns:a16="http://schemas.microsoft.com/office/drawing/2014/main" id="{BFAC6728-F000-AB46-9033-8D6D215D4F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4" y="1868"/>
              <a:ext cx="568" cy="232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1093" name="Rectangle 14">
              <a:extLst>
                <a:ext uri="{FF2B5EF4-FFF2-40B4-BE49-F238E27FC236}">
                  <a16:creationId xmlns:a16="http://schemas.microsoft.com/office/drawing/2014/main" id="{965D886E-8756-2545-A5B1-6D99FA9CC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7" y="1687"/>
              <a:ext cx="498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Block X</a:t>
              </a:r>
            </a:p>
          </p:txBody>
        </p:sp>
        <p:sp>
          <p:nvSpPr>
            <p:cNvPr id="131094" name="Rectangle 15">
              <a:extLst>
                <a:ext uri="{FF2B5EF4-FFF2-40B4-BE49-F238E27FC236}">
                  <a16:creationId xmlns:a16="http://schemas.microsoft.com/office/drawing/2014/main" id="{C6108515-588A-0E48-A92B-F480F6FA4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6" y="2060"/>
              <a:ext cx="568" cy="232"/>
            </a:xfrm>
            <a:prstGeom prst="rect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31095" name="Rectangle 16">
              <a:extLst>
                <a:ext uri="{FF2B5EF4-FFF2-40B4-BE49-F238E27FC236}">
                  <a16:creationId xmlns:a16="http://schemas.microsoft.com/office/drawing/2014/main" id="{39BFAA88-80BE-374C-98C4-FF3AE25AEA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9" y="1879"/>
              <a:ext cx="642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Block Y</a:t>
              </a:r>
            </a:p>
          </p:txBody>
        </p:sp>
        <p:sp>
          <p:nvSpPr>
            <p:cNvPr id="131096" name="Line 17">
              <a:extLst>
                <a:ext uri="{FF2B5EF4-FFF2-40B4-BE49-F238E27FC236}">
                  <a16:creationId xmlns:a16="http://schemas.microsoft.com/office/drawing/2014/main" id="{3F996F76-E9F0-EA4E-89F9-861FF74B9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8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97" name="Line 18">
              <a:extLst>
                <a:ext uri="{FF2B5EF4-FFF2-40B4-BE49-F238E27FC236}">
                  <a16:creationId xmlns:a16="http://schemas.microsoft.com/office/drawing/2014/main" id="{E7CB65BA-D6F0-2A42-9EF3-93832D678E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42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98" name="Line 19">
              <a:extLst>
                <a:ext uri="{FF2B5EF4-FFF2-40B4-BE49-F238E27FC236}">
                  <a16:creationId xmlns:a16="http://schemas.microsoft.com/office/drawing/2014/main" id="{12F977F2-5784-9F44-8362-DE87A4B029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1872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099" name="Line 20">
              <a:extLst>
                <a:ext uri="{FF2B5EF4-FFF2-40B4-BE49-F238E27FC236}">
                  <a16:creationId xmlns:a16="http://schemas.microsoft.com/office/drawing/2014/main" id="{32D920B7-39B0-AC4C-A908-57403E767F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90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100" name="Line 21">
              <a:extLst>
                <a:ext uri="{FF2B5EF4-FFF2-40B4-BE49-F238E27FC236}">
                  <a16:creationId xmlns:a16="http://schemas.microsoft.com/office/drawing/2014/main" id="{0FC11D2F-CF74-9444-B7BF-F54AC0D8C4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4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1101" name="Line 22">
              <a:extLst>
                <a:ext uri="{FF2B5EF4-FFF2-40B4-BE49-F238E27FC236}">
                  <a16:creationId xmlns:a16="http://schemas.microsoft.com/office/drawing/2014/main" id="{9EEACC40-2F56-1F49-AEE2-C0F452574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46" y="2064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9623" name="Rectangle 23">
            <a:extLst>
              <a:ext uri="{FF2B5EF4-FFF2-40B4-BE49-F238E27FC236}">
                <a16:creationId xmlns:a16="http://schemas.microsoft.com/office/drawing/2014/main" id="{9865450F-734F-2E4E-BE3B-E473BB61D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838" y="2663825"/>
            <a:ext cx="7362825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数据总是在相邻两层之间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复制传送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Upper Level: 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上层更靠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Lower Level: 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下层更远离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</a:p>
          <a:p>
            <a:pPr eaLnBrk="1" hangingPunct="1">
              <a:spcBef>
                <a:spcPct val="10000"/>
              </a:spcBef>
              <a:buFont typeface="Wingdings" pitchFamily="2" charset="2"/>
              <a:buNone/>
            </a:pP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Block: 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最小传送单位是定长块，互为副本</a:t>
            </a:r>
          </a:p>
        </p:txBody>
      </p:sp>
      <p:sp>
        <p:nvSpPr>
          <p:cNvPr id="409625" name="Text Box 25">
            <a:extLst>
              <a:ext uri="{FF2B5EF4-FFF2-40B4-BE49-F238E27FC236}">
                <a16:creationId xmlns:a16="http://schemas.microsoft.com/office/drawing/2014/main" id="{79478588-BCCB-5944-82D5-A6AF3AD64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186238"/>
            <a:ext cx="5772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微软雅黑" panose="020B0503020204020204" pitchFamily="34" charset="-122"/>
              </a:rPr>
              <a:t>问题：为什么这种层次化结构是有效的？</a:t>
            </a:r>
          </a:p>
        </p:txBody>
      </p:sp>
      <p:sp>
        <p:nvSpPr>
          <p:cNvPr id="131079" name="Text Box 26">
            <a:extLst>
              <a:ext uri="{FF2B5EF4-FFF2-40B4-BE49-F238E27FC236}">
                <a16:creationId xmlns:a16="http://schemas.microsoft.com/office/drawing/2014/main" id="{D718FA0E-8B17-0E4B-9F1B-C4B0DF58AA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11750" y="2889250"/>
            <a:ext cx="3646488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8000"/>
                </a:solidFill>
                <a:ea typeface="黑体" panose="02010609060101010101" pitchFamily="49" charset="-122"/>
              </a:rPr>
              <a:t>相当于工厂中设置了多级仓库！</a:t>
            </a:r>
          </a:p>
        </p:txBody>
      </p:sp>
      <p:grpSp>
        <p:nvGrpSpPr>
          <p:cNvPr id="564251" name="Group 27">
            <a:extLst>
              <a:ext uri="{FF2B5EF4-FFF2-40B4-BE49-F238E27FC236}">
                <a16:creationId xmlns:a16="http://schemas.microsoft.com/office/drawing/2014/main" id="{C7DAC1E8-7443-6B47-A264-E04D67FCB5F5}"/>
              </a:ext>
            </a:extLst>
          </p:cNvPr>
          <p:cNvGrpSpPr>
            <a:grpSpLocks/>
          </p:cNvGrpSpPr>
          <p:nvPr/>
        </p:nvGrpSpPr>
        <p:grpSpPr bwMode="auto">
          <a:xfrm>
            <a:off x="4821238" y="3563938"/>
            <a:ext cx="4141787" cy="1301750"/>
            <a:chOff x="3334" y="2245"/>
            <a:chExt cx="2426" cy="820"/>
          </a:xfrm>
        </p:grpSpPr>
        <p:sp>
          <p:nvSpPr>
            <p:cNvPr id="131081" name="Text Box 26">
              <a:extLst>
                <a:ext uri="{FF2B5EF4-FFF2-40B4-BE49-F238E27FC236}">
                  <a16:creationId xmlns:a16="http://schemas.microsoft.com/office/drawing/2014/main" id="{F23A037C-44E5-484D-9EE6-56F2CA12BE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2245"/>
              <a:ext cx="1746" cy="82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36000" tIns="36000" rIns="36000" bIns="360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00FF"/>
                  </a:solidFill>
                  <a:ea typeface="微软雅黑" panose="020B0503020204020204" pitchFamily="34" charset="-122"/>
                </a:rPr>
                <a:t>程序访问局部化特点！</a:t>
              </a:r>
            </a:p>
            <a:p>
              <a:pPr eaLnBrk="1" hangingPunct="1"/>
              <a:r>
                <a:rPr kumimoji="1" lang="zh-CN" altLang="en-US" sz="2000" b="1">
                  <a:solidFill>
                    <a:srgbClr val="0000FF"/>
                  </a:solidFill>
                  <a:ea typeface="微软雅黑" panose="020B0503020204020204" pitchFamily="34" charset="-122"/>
                </a:rPr>
                <a:t>例如，写论文时图书馆借参考书：欲借书附近的书也是欲借书！</a:t>
              </a:r>
            </a:p>
          </p:txBody>
        </p:sp>
        <p:sp>
          <p:nvSpPr>
            <p:cNvPr id="131082" name="Line 29">
              <a:extLst>
                <a:ext uri="{FF2B5EF4-FFF2-40B4-BE49-F238E27FC236}">
                  <a16:creationId xmlns:a16="http://schemas.microsoft.com/office/drawing/2014/main" id="{20E0E2CA-79C4-8D4E-9EFF-09944C684A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4" y="2557"/>
              <a:ext cx="680" cy="1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96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64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09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409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09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09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09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09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43F65388-F3A2-B14B-8D05-64FC870C5E1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7950" y="142875"/>
            <a:ext cx="8640763" cy="5334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加快访存速度措施之三：引入</a:t>
            </a:r>
            <a:r>
              <a:rPr lang="en-US" altLang="zh-CN" sz="3200"/>
              <a:t>Cache</a:t>
            </a:r>
          </a:p>
        </p:txBody>
      </p:sp>
      <p:sp>
        <p:nvSpPr>
          <p:cNvPr id="404483" name="Rectangle 3">
            <a:extLst>
              <a:ext uri="{FF2B5EF4-FFF2-40B4-BE49-F238E27FC236}">
                <a16:creationId xmlns:a16="http://schemas.microsoft.com/office/drawing/2014/main" id="{5CB89D88-F897-5C46-97A3-550873F4EC5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0013" y="920750"/>
            <a:ext cx="8782050" cy="4583113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大量典型程序的运行情况分析结果表明</a:t>
            </a:r>
          </a:p>
          <a:p>
            <a:pPr lvl="1"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在较短时间间隔内，程序产生的地址往往集中在一个很小范围内</a:t>
            </a:r>
          </a:p>
          <a:p>
            <a:pPr lvl="1" eaLnBrk="1" hangingPunct="1">
              <a:lnSpc>
                <a:spcPct val="110000"/>
              </a:lnSpc>
              <a:spcBef>
                <a:spcPct val="4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这种现象称为程序访问的局部性：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空间局部性、时间局部性</a:t>
            </a:r>
          </a:p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程序具有访问局部性特征的原因</a:t>
            </a:r>
          </a:p>
          <a:p>
            <a:pPr lvl="1"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指令：指令按序存放，地址连续，循环程序段或子程序段重复执行</a:t>
            </a:r>
          </a:p>
          <a:p>
            <a:pPr lvl="1"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数据：连续存放，数组元素重复、按序访问</a:t>
            </a:r>
          </a:p>
          <a:p>
            <a:pPr eaLnBrk="1" hangingPunct="1">
              <a:lnSpc>
                <a:spcPct val="11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为什么引入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会加快访存速度？</a:t>
            </a:r>
          </a:p>
          <a:p>
            <a:pPr lvl="1" eaLnBrk="1" hangingPunct="1">
              <a:lnSpc>
                <a:spcPct val="130000"/>
              </a:lnSpc>
              <a:spcBef>
                <a:spcPct val="4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和主存之间设置一个快速小容量的存储器，其中总是存放最活跃（被频繁访问）的程序和数据，由于程序访问的局部性特征，大多数情况下，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能直接从这个高速缓存中取得指令和数据，而不必访问主存。</a:t>
            </a:r>
          </a:p>
        </p:txBody>
      </p:sp>
      <p:sp>
        <p:nvSpPr>
          <p:cNvPr id="404484" name="Text Box 4">
            <a:extLst>
              <a:ext uri="{FF2B5EF4-FFF2-40B4-BE49-F238E27FC236}">
                <a16:creationId xmlns:a16="http://schemas.microsoft.com/office/drawing/2014/main" id="{09404645-387D-FC47-8C07-884CEB850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350" y="6080125"/>
            <a:ext cx="70564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CC3300"/>
                </a:solidFill>
                <a:ea typeface="黑体" panose="02010609060101010101" pitchFamily="49" charset="-122"/>
              </a:rPr>
              <a:t>这个高速缓存就是位于主存和</a:t>
            </a:r>
            <a:r>
              <a:rPr kumimoji="1" lang="en-US" altLang="zh-CN" sz="2400" b="1">
                <a:solidFill>
                  <a:srgbClr val="CC3300"/>
                </a:solidFill>
                <a:ea typeface="黑体" panose="02010609060101010101" pitchFamily="49" charset="-122"/>
              </a:rPr>
              <a:t>CPU</a:t>
            </a:r>
            <a:r>
              <a:rPr kumimoji="1" lang="zh-CN" altLang="en-US" sz="2400" b="1">
                <a:solidFill>
                  <a:srgbClr val="CC3300"/>
                </a:solidFill>
                <a:ea typeface="黑体" panose="02010609060101010101" pitchFamily="49" charset="-122"/>
              </a:rPr>
              <a:t>之间的</a:t>
            </a:r>
            <a:r>
              <a:rPr kumimoji="1" lang="en-US" altLang="zh-CN" sz="2400" b="1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2400" b="1">
                <a:solidFill>
                  <a:srgbClr val="CC3300"/>
                </a:solidFill>
                <a:ea typeface="黑体" panose="02010609060101010101" pitchFamily="49" charset="-122"/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4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4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04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4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4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04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>
            <a:extLst>
              <a:ext uri="{FF2B5EF4-FFF2-40B4-BE49-F238E27FC236}">
                <a16:creationId xmlns:a16="http://schemas.microsoft.com/office/drawing/2014/main" id="{E1F0F884-A62A-374F-A6D3-E3DEFEFFDA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8100"/>
            <a:ext cx="6791325" cy="569913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程序的局部性原理举例</a:t>
            </a:r>
            <a:r>
              <a:rPr lang="en-US" altLang="zh-CN"/>
              <a:t>1</a:t>
            </a:r>
          </a:p>
        </p:txBody>
      </p:sp>
      <p:sp>
        <p:nvSpPr>
          <p:cNvPr id="134147" name="Rectangle 3">
            <a:extLst>
              <a:ext uri="{FF2B5EF4-FFF2-40B4-BE49-F238E27FC236}">
                <a16:creationId xmlns:a16="http://schemas.microsoft.com/office/drawing/2014/main" id="{E3F06418-8BDE-F14C-BDDC-54775C4A8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863600"/>
            <a:ext cx="2565400" cy="1333500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lIns="89140" tIns="43777" rIns="89140" bIns="43777">
            <a:spAutoFit/>
          </a:bodyPr>
          <a:lstStyle>
            <a:lvl1pPr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 sz="2000" b="1">
                <a:ea typeface="PMingLiU" panose="02020500000000000000" pitchFamily="18" charset="-120"/>
              </a:rPr>
              <a:t>sum = 0;</a:t>
            </a:r>
          </a:p>
          <a:p>
            <a:r>
              <a:rPr lang="en-US" altLang="zh-TW" sz="2000" b="1">
                <a:ea typeface="PMingLiU" panose="02020500000000000000" pitchFamily="18" charset="-120"/>
              </a:rPr>
              <a:t>for (i = 0; i &lt; n; i++)</a:t>
            </a:r>
          </a:p>
          <a:p>
            <a:r>
              <a:rPr lang="en-US" altLang="zh-TW" sz="2000" b="1">
                <a:ea typeface="PMingLiU" panose="02020500000000000000" pitchFamily="18" charset="-120"/>
              </a:rPr>
              <a:t>	sum += a[i];</a:t>
            </a:r>
          </a:p>
          <a:p>
            <a:r>
              <a:rPr lang="en-US" altLang="zh-TW" sz="2000" b="1">
                <a:ea typeface="PMingLiU" panose="02020500000000000000" pitchFamily="18" charset="-120"/>
              </a:rPr>
              <a:t>*v = sum;</a:t>
            </a:r>
          </a:p>
        </p:txBody>
      </p:sp>
      <p:sp>
        <p:nvSpPr>
          <p:cNvPr id="573445" name="Rectangle 5">
            <a:extLst>
              <a:ext uri="{FF2B5EF4-FFF2-40B4-BE49-F238E27FC236}">
                <a16:creationId xmlns:a16="http://schemas.microsoft.com/office/drawing/2014/main" id="{A81C1353-486F-0D46-A559-9AE52562F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763" y="5454650"/>
            <a:ext cx="575945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9140" tIns="43777" rIns="89140" bIns="43777"/>
          <a:lstStyle>
            <a:lvl1pPr marL="225425" indent="-225425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每条指令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个字节；每个数组元素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指令和数组元素在内存中均连续存放</a:t>
            </a:r>
          </a:p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sum, ap ,i, t 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均为通用寄存器；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为内存地址</a:t>
            </a:r>
          </a:p>
        </p:txBody>
      </p:sp>
      <p:sp>
        <p:nvSpPr>
          <p:cNvPr id="134149" name="Rectangle 6">
            <a:extLst>
              <a:ext uri="{FF2B5EF4-FFF2-40B4-BE49-F238E27FC236}">
                <a16:creationId xmlns:a16="http://schemas.microsoft.com/office/drawing/2014/main" id="{708B315A-95B4-AE4B-A88D-8855BB754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2368550"/>
            <a:ext cx="5445125" cy="2860675"/>
          </a:xfrm>
          <a:prstGeom prst="rect">
            <a:avLst/>
          </a:prstGeom>
          <a:noFill/>
          <a:ln w="254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89140" tIns="43777" rIns="89140" bIns="43777">
            <a:spAutoFit/>
          </a:bodyPr>
          <a:lstStyle>
            <a:lvl1pPr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520700" algn="l"/>
                <a:tab pos="12573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TW" sz="1800" b="1">
                <a:ea typeface="PMingLiU" panose="02020500000000000000" pitchFamily="18" charset="-120"/>
              </a:rPr>
              <a:t>I0:		sum  &lt;-- 0</a:t>
            </a:r>
          </a:p>
          <a:p>
            <a:r>
              <a:rPr lang="en-US" altLang="zh-TW" sz="1800" b="1">
                <a:ea typeface="PMingLiU" panose="02020500000000000000" pitchFamily="18" charset="-120"/>
              </a:rPr>
              <a:t>I1:		ap  &lt;-- </a:t>
            </a:r>
            <a:r>
              <a:rPr lang="en-US" altLang="zh-CN" sz="1800" b="1">
                <a:ea typeface="PMingLiU" panose="02020500000000000000" pitchFamily="18" charset="-120"/>
              </a:rPr>
              <a:t>A   A</a:t>
            </a:r>
            <a:r>
              <a:rPr lang="zh-CN" altLang="en-US" sz="1800" b="1">
                <a:ea typeface="PMingLiU" panose="02020500000000000000" pitchFamily="18" charset="-120"/>
              </a:rPr>
              <a:t>是数组</a:t>
            </a:r>
            <a:r>
              <a:rPr lang="en-US" altLang="zh-CN" sz="1800" b="1">
                <a:ea typeface="PMingLiU" panose="02020500000000000000" pitchFamily="18" charset="-120"/>
              </a:rPr>
              <a:t>a</a:t>
            </a:r>
            <a:r>
              <a:rPr lang="zh-CN" altLang="en-US" sz="1800" b="1">
                <a:ea typeface="PMingLiU" panose="02020500000000000000" pitchFamily="18" charset="-120"/>
              </a:rPr>
              <a:t>的起始地址</a:t>
            </a:r>
            <a:endParaRPr lang="zh-TW" altLang="en-US" sz="1800" b="1">
              <a:ea typeface="PMingLiU" panose="02020500000000000000" pitchFamily="18" charset="-120"/>
            </a:endParaRPr>
          </a:p>
          <a:p>
            <a:r>
              <a:rPr lang="en-US" altLang="zh-TW" sz="1800" b="1">
                <a:ea typeface="PMingLiU" panose="02020500000000000000" pitchFamily="18" charset="-120"/>
              </a:rPr>
              <a:t>I2:		i   &lt;-- 0</a:t>
            </a:r>
          </a:p>
          <a:p>
            <a:r>
              <a:rPr lang="en-US" altLang="zh-TW" sz="1800" b="1">
                <a:ea typeface="PMingLiU" panose="02020500000000000000" pitchFamily="18" charset="-120"/>
              </a:rPr>
              <a:t>I3:		if (i &gt;= n) goto done</a:t>
            </a:r>
          </a:p>
          <a:p>
            <a:r>
              <a:rPr lang="en-US" altLang="zh-CN" sz="1800" b="1">
                <a:ea typeface="PMingLiU" panose="02020500000000000000" pitchFamily="18" charset="-120"/>
              </a:rPr>
              <a:t>I</a:t>
            </a:r>
            <a:r>
              <a:rPr lang="en-US" altLang="zh-TW" sz="1800" b="1">
                <a:ea typeface="PMingLiU" panose="02020500000000000000" pitchFamily="18" charset="-120"/>
              </a:rPr>
              <a:t>4:	loop:	t   &lt;-- </a:t>
            </a:r>
            <a:r>
              <a:rPr lang="en-US" altLang="zh-CN" sz="1800" b="1">
                <a:ea typeface="PMingLiU" panose="02020500000000000000" pitchFamily="18" charset="-120"/>
              </a:rPr>
              <a:t>(</a:t>
            </a:r>
            <a:r>
              <a:rPr lang="en-US" altLang="zh-TW" sz="1800" b="1">
                <a:ea typeface="PMingLiU" panose="02020500000000000000" pitchFamily="18" charset="-120"/>
              </a:rPr>
              <a:t>ap</a:t>
            </a:r>
            <a:r>
              <a:rPr lang="en-US" altLang="zh-CN" sz="1800" b="1">
                <a:ea typeface="PMingLiU" panose="02020500000000000000" pitchFamily="18" charset="-120"/>
              </a:rPr>
              <a:t>) </a:t>
            </a:r>
            <a:r>
              <a:rPr lang="zh-CN" altLang="en-US" sz="1800" b="1">
                <a:ea typeface="PMingLiU" panose="02020500000000000000" pitchFamily="18" charset="-120"/>
              </a:rPr>
              <a:t>数组元素</a:t>
            </a:r>
            <a:r>
              <a:rPr lang="en-US" altLang="zh-CN" sz="1800" b="1">
                <a:ea typeface="PMingLiU" panose="02020500000000000000" pitchFamily="18" charset="-120"/>
              </a:rPr>
              <a:t>a[i]</a:t>
            </a:r>
            <a:r>
              <a:rPr lang="zh-CN" altLang="en-US" sz="1800" b="1">
                <a:ea typeface="PMingLiU" panose="02020500000000000000" pitchFamily="18" charset="-120"/>
              </a:rPr>
              <a:t>的值 </a:t>
            </a:r>
            <a:endParaRPr lang="zh-TW" altLang="en-US" sz="1800" b="1">
              <a:ea typeface="PMingLiU" panose="02020500000000000000" pitchFamily="18" charset="-120"/>
            </a:endParaRPr>
          </a:p>
          <a:p>
            <a:r>
              <a:rPr lang="en-US" altLang="zh-TW" sz="1800" b="1">
                <a:ea typeface="PMingLiU" panose="02020500000000000000" pitchFamily="18" charset="-120"/>
              </a:rPr>
              <a:t>I5:		sum &lt;-- sum + t</a:t>
            </a:r>
            <a:r>
              <a:rPr lang="en-US" altLang="zh-CN" sz="1800" b="1">
                <a:ea typeface="PMingLiU" panose="02020500000000000000" pitchFamily="18" charset="-120"/>
              </a:rPr>
              <a:t>   </a:t>
            </a:r>
            <a:r>
              <a:rPr lang="zh-CN" altLang="en-US" sz="1800" b="1">
                <a:ea typeface="PMingLiU" panose="02020500000000000000" pitchFamily="18" charset="-120"/>
              </a:rPr>
              <a:t>累计在</a:t>
            </a:r>
            <a:r>
              <a:rPr lang="en-US" altLang="zh-CN" sz="1800" b="1">
                <a:ea typeface="PMingLiU" panose="02020500000000000000" pitchFamily="18" charset="-120"/>
              </a:rPr>
              <a:t>sum</a:t>
            </a:r>
            <a:r>
              <a:rPr lang="zh-CN" altLang="en-US" sz="1800" b="1">
                <a:ea typeface="PMingLiU" panose="02020500000000000000" pitchFamily="18" charset="-120"/>
              </a:rPr>
              <a:t>中</a:t>
            </a:r>
          </a:p>
          <a:p>
            <a:r>
              <a:rPr lang="en-US" altLang="zh-TW" sz="1800" b="1">
                <a:ea typeface="PMingLiU" panose="02020500000000000000" pitchFamily="18" charset="-120"/>
              </a:rPr>
              <a:t>I6:		ap  &lt;-- ap + 4</a:t>
            </a:r>
            <a:r>
              <a:rPr lang="en-US" altLang="zh-CN" sz="1800" b="1">
                <a:ea typeface="PMingLiU" panose="02020500000000000000" pitchFamily="18" charset="-120"/>
              </a:rPr>
              <a:t>   </a:t>
            </a:r>
            <a:r>
              <a:rPr lang="zh-CN" altLang="en-US" sz="1800" b="1">
                <a:ea typeface="PMingLiU" panose="02020500000000000000" pitchFamily="18" charset="-120"/>
              </a:rPr>
              <a:t>计算下个数组元素地址</a:t>
            </a:r>
            <a:endParaRPr lang="zh-TW" altLang="en-US" sz="1800" b="1">
              <a:ea typeface="PMingLiU" panose="02020500000000000000" pitchFamily="18" charset="-120"/>
            </a:endParaRPr>
          </a:p>
          <a:p>
            <a:r>
              <a:rPr lang="en-US" altLang="zh-TW" sz="1800" b="1">
                <a:ea typeface="PMingLiU" panose="02020500000000000000" pitchFamily="18" charset="-120"/>
              </a:rPr>
              <a:t>I7:		i   &lt;-- i + 1</a:t>
            </a:r>
            <a:r>
              <a:rPr lang="en-US" altLang="zh-CN" sz="1800" b="1">
                <a:ea typeface="PMingLiU" panose="02020500000000000000" pitchFamily="18" charset="-120"/>
              </a:rPr>
              <a:t>  </a:t>
            </a:r>
            <a:endParaRPr lang="en-US" altLang="zh-TW" sz="1800" b="1">
              <a:ea typeface="PMingLiU" panose="02020500000000000000" pitchFamily="18" charset="-120"/>
            </a:endParaRPr>
          </a:p>
          <a:p>
            <a:r>
              <a:rPr lang="en-US" altLang="zh-TW" sz="1800" b="1">
                <a:ea typeface="PMingLiU" panose="02020500000000000000" pitchFamily="18" charset="-120"/>
              </a:rPr>
              <a:t>I8:		if (i &lt; n) goto loop</a:t>
            </a:r>
          </a:p>
          <a:p>
            <a:r>
              <a:rPr lang="en-US" altLang="zh-TW" sz="1800" b="1">
                <a:ea typeface="PMingLiU" panose="02020500000000000000" pitchFamily="18" charset="-120"/>
              </a:rPr>
              <a:t>I9:	done:	</a:t>
            </a:r>
            <a:r>
              <a:rPr lang="en-US" altLang="zh-CN" sz="1800" b="1">
                <a:ea typeface="PMingLiU" panose="02020500000000000000" pitchFamily="18" charset="-120"/>
              </a:rPr>
              <a:t>V</a:t>
            </a:r>
            <a:r>
              <a:rPr lang="en-US" altLang="zh-TW" sz="1800" b="1">
                <a:ea typeface="PMingLiU" panose="02020500000000000000" pitchFamily="18" charset="-120"/>
              </a:rPr>
              <a:t>  &lt;-- sum</a:t>
            </a:r>
            <a:r>
              <a:rPr lang="en-US" altLang="zh-CN" sz="1800" b="1">
                <a:ea typeface="PMingLiU" panose="02020500000000000000" pitchFamily="18" charset="-120"/>
              </a:rPr>
              <a:t>   </a:t>
            </a:r>
            <a:r>
              <a:rPr lang="zh-CN" altLang="en-US" sz="1800" b="1">
                <a:ea typeface="PMingLiU" panose="02020500000000000000" pitchFamily="18" charset="-120"/>
              </a:rPr>
              <a:t>累计结果保存至地址</a:t>
            </a:r>
            <a:r>
              <a:rPr lang="en-US" altLang="zh-CN" sz="1800" b="1">
                <a:ea typeface="PMingLiU" panose="02020500000000000000" pitchFamily="18" charset="-120"/>
              </a:rPr>
              <a:t>v</a:t>
            </a:r>
            <a:endParaRPr lang="en-US" altLang="zh-TW" sz="1800" b="1">
              <a:ea typeface="PMingLiU" panose="02020500000000000000" pitchFamily="18" charset="-120"/>
            </a:endParaRPr>
          </a:p>
        </p:txBody>
      </p:sp>
      <p:grpSp>
        <p:nvGrpSpPr>
          <p:cNvPr id="2" name="Group 59">
            <a:extLst>
              <a:ext uri="{FF2B5EF4-FFF2-40B4-BE49-F238E27FC236}">
                <a16:creationId xmlns:a16="http://schemas.microsoft.com/office/drawing/2014/main" id="{1C6748BF-434F-DD4E-A265-E58527134E23}"/>
              </a:ext>
            </a:extLst>
          </p:cNvPr>
          <p:cNvGrpSpPr>
            <a:grpSpLocks/>
          </p:cNvGrpSpPr>
          <p:nvPr/>
        </p:nvGrpSpPr>
        <p:grpSpPr bwMode="auto">
          <a:xfrm>
            <a:off x="6235700" y="892175"/>
            <a:ext cx="2849563" cy="5448300"/>
            <a:chOff x="3928" y="562"/>
            <a:chExt cx="1795" cy="3432"/>
          </a:xfrm>
        </p:grpSpPr>
        <p:sp>
          <p:nvSpPr>
            <p:cNvPr id="134156" name="Rectangle 10">
              <a:extLst>
                <a:ext uri="{FF2B5EF4-FFF2-40B4-BE49-F238E27FC236}">
                  <a16:creationId xmlns:a16="http://schemas.microsoft.com/office/drawing/2014/main" id="{EA4C4A1A-71FD-DB4A-834F-32EAFE624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982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I1</a:t>
              </a:r>
            </a:p>
          </p:txBody>
        </p:sp>
        <p:sp>
          <p:nvSpPr>
            <p:cNvPr id="134157" name="Rectangle 11">
              <a:extLst>
                <a:ext uri="{FF2B5EF4-FFF2-40B4-BE49-F238E27FC236}">
                  <a16:creationId xmlns:a16="http://schemas.microsoft.com/office/drawing/2014/main" id="{9728EAE1-F0AE-F945-A351-FF924A887A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150"/>
              <a:ext cx="890" cy="15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I2</a:t>
              </a:r>
            </a:p>
          </p:txBody>
        </p:sp>
        <p:sp>
          <p:nvSpPr>
            <p:cNvPr id="134158" name="Rectangle 12">
              <a:extLst>
                <a:ext uri="{FF2B5EF4-FFF2-40B4-BE49-F238E27FC236}">
                  <a16:creationId xmlns:a16="http://schemas.microsoft.com/office/drawing/2014/main" id="{A83FF617-60D0-8F40-AF2A-91A2B079D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319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I3</a:t>
              </a:r>
            </a:p>
          </p:txBody>
        </p:sp>
        <p:sp>
          <p:nvSpPr>
            <p:cNvPr id="134159" name="Rectangle 13">
              <a:extLst>
                <a:ext uri="{FF2B5EF4-FFF2-40B4-BE49-F238E27FC236}">
                  <a16:creationId xmlns:a16="http://schemas.microsoft.com/office/drawing/2014/main" id="{DDB356D4-A0AE-374C-A0E4-038797A49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488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I4</a:t>
              </a:r>
            </a:p>
          </p:txBody>
        </p:sp>
        <p:sp>
          <p:nvSpPr>
            <p:cNvPr id="134160" name="Rectangle 14">
              <a:extLst>
                <a:ext uri="{FF2B5EF4-FFF2-40B4-BE49-F238E27FC236}">
                  <a16:creationId xmlns:a16="http://schemas.microsoft.com/office/drawing/2014/main" id="{A756DF59-527E-C441-9E97-E39F0DBE15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657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I5</a:t>
              </a:r>
            </a:p>
          </p:txBody>
        </p:sp>
        <p:sp>
          <p:nvSpPr>
            <p:cNvPr id="134161" name="Rectangle 15">
              <a:extLst>
                <a:ext uri="{FF2B5EF4-FFF2-40B4-BE49-F238E27FC236}">
                  <a16:creationId xmlns:a16="http://schemas.microsoft.com/office/drawing/2014/main" id="{78C09B5E-D5CB-FA42-8A7D-44D1E12E25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826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I6</a:t>
              </a:r>
            </a:p>
          </p:txBody>
        </p:sp>
        <p:sp>
          <p:nvSpPr>
            <p:cNvPr id="134162" name="Rectangle 16">
              <a:extLst>
                <a:ext uri="{FF2B5EF4-FFF2-40B4-BE49-F238E27FC236}">
                  <a16:creationId xmlns:a16="http://schemas.microsoft.com/office/drawing/2014/main" id="{8ECF83DD-E74E-9143-8503-40F196026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970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0x100</a:t>
              </a:r>
            </a:p>
          </p:txBody>
        </p:sp>
        <p:sp>
          <p:nvSpPr>
            <p:cNvPr id="134163" name="Rectangle 17">
              <a:extLst>
                <a:ext uri="{FF2B5EF4-FFF2-40B4-BE49-F238E27FC236}">
                  <a16:creationId xmlns:a16="http://schemas.microsoft.com/office/drawing/2014/main" id="{E9515A8B-66A1-9E46-BA14-1E2C1D3972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139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0x104</a:t>
              </a:r>
            </a:p>
          </p:txBody>
        </p:sp>
        <p:sp>
          <p:nvSpPr>
            <p:cNvPr id="134164" name="Rectangle 18">
              <a:extLst>
                <a:ext uri="{FF2B5EF4-FFF2-40B4-BE49-F238E27FC236}">
                  <a16:creationId xmlns:a16="http://schemas.microsoft.com/office/drawing/2014/main" id="{91ADA580-5A58-CC4D-B2B7-C7730B02F0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308"/>
              <a:ext cx="477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0x108</a:t>
              </a:r>
            </a:p>
          </p:txBody>
        </p:sp>
        <p:sp>
          <p:nvSpPr>
            <p:cNvPr id="134165" name="Rectangle 19">
              <a:extLst>
                <a:ext uri="{FF2B5EF4-FFF2-40B4-BE49-F238E27FC236}">
                  <a16:creationId xmlns:a16="http://schemas.microsoft.com/office/drawing/2014/main" id="{0B6A4214-F7E0-0C4F-A919-FCEDDFB92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477"/>
              <a:ext cx="4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0x10C</a:t>
              </a:r>
            </a:p>
          </p:txBody>
        </p:sp>
        <p:sp>
          <p:nvSpPr>
            <p:cNvPr id="134166" name="Rectangle 20">
              <a:extLst>
                <a:ext uri="{FF2B5EF4-FFF2-40B4-BE49-F238E27FC236}">
                  <a16:creationId xmlns:a16="http://schemas.microsoft.com/office/drawing/2014/main" id="{07D35217-1FA1-4A4D-9EC8-CD4C07524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646"/>
              <a:ext cx="46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0x110</a:t>
              </a:r>
            </a:p>
          </p:txBody>
        </p:sp>
        <p:sp>
          <p:nvSpPr>
            <p:cNvPr id="134167" name="Rectangle 21">
              <a:extLst>
                <a:ext uri="{FF2B5EF4-FFF2-40B4-BE49-F238E27FC236}">
                  <a16:creationId xmlns:a16="http://schemas.microsoft.com/office/drawing/2014/main" id="{DCB11272-1190-4240-BB5F-764CBD6693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1814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0x114</a:t>
              </a:r>
            </a:p>
          </p:txBody>
        </p:sp>
        <p:sp>
          <p:nvSpPr>
            <p:cNvPr id="134168" name="Rectangle 22">
              <a:extLst>
                <a:ext uri="{FF2B5EF4-FFF2-40B4-BE49-F238E27FC236}">
                  <a16:creationId xmlns:a16="http://schemas.microsoft.com/office/drawing/2014/main" id="{8043BACE-C12D-8D41-926E-5E7F1DF915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2389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a[0]</a:t>
              </a:r>
            </a:p>
          </p:txBody>
        </p:sp>
        <p:sp>
          <p:nvSpPr>
            <p:cNvPr id="134169" name="Rectangle 23">
              <a:extLst>
                <a:ext uri="{FF2B5EF4-FFF2-40B4-BE49-F238E27FC236}">
                  <a16:creationId xmlns:a16="http://schemas.microsoft.com/office/drawing/2014/main" id="{1D5EDDCA-50E6-7A44-BD6C-DFD800C41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2558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a[1]</a:t>
              </a:r>
            </a:p>
          </p:txBody>
        </p:sp>
        <p:sp>
          <p:nvSpPr>
            <p:cNvPr id="134170" name="Rectangle 24">
              <a:extLst>
                <a:ext uri="{FF2B5EF4-FFF2-40B4-BE49-F238E27FC236}">
                  <a16:creationId xmlns:a16="http://schemas.microsoft.com/office/drawing/2014/main" id="{C1AC5EF6-DB16-0449-B20C-4CBB642FE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2726"/>
              <a:ext cx="890" cy="15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a[2]</a:t>
              </a:r>
            </a:p>
          </p:txBody>
        </p:sp>
        <p:sp>
          <p:nvSpPr>
            <p:cNvPr id="134171" name="Rectangle 25">
              <a:extLst>
                <a:ext uri="{FF2B5EF4-FFF2-40B4-BE49-F238E27FC236}">
                  <a16:creationId xmlns:a16="http://schemas.microsoft.com/office/drawing/2014/main" id="{133CCF83-EA9D-614F-8D5E-1082CCB35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2895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a[3]</a:t>
              </a:r>
            </a:p>
          </p:txBody>
        </p:sp>
        <p:sp>
          <p:nvSpPr>
            <p:cNvPr id="134172" name="Rectangle 26">
              <a:extLst>
                <a:ext uri="{FF2B5EF4-FFF2-40B4-BE49-F238E27FC236}">
                  <a16:creationId xmlns:a16="http://schemas.microsoft.com/office/drawing/2014/main" id="{02EC77EA-6A34-1F43-B298-BF41E2DF7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064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a[4]</a:t>
              </a:r>
            </a:p>
          </p:txBody>
        </p:sp>
        <p:sp>
          <p:nvSpPr>
            <p:cNvPr id="134173" name="Rectangle 27">
              <a:extLst>
                <a:ext uri="{FF2B5EF4-FFF2-40B4-BE49-F238E27FC236}">
                  <a16:creationId xmlns:a16="http://schemas.microsoft.com/office/drawing/2014/main" id="{BB49EAD1-C4BF-9D45-9DEA-87AAF4A716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233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a[5]</a:t>
              </a:r>
            </a:p>
          </p:txBody>
        </p:sp>
        <p:sp>
          <p:nvSpPr>
            <p:cNvPr id="134174" name="Rectangle 28">
              <a:extLst>
                <a:ext uri="{FF2B5EF4-FFF2-40B4-BE49-F238E27FC236}">
                  <a16:creationId xmlns:a16="http://schemas.microsoft.com/office/drawing/2014/main" id="{E945ADDE-6E7C-3846-B95E-4B9DA2444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377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0x400</a:t>
              </a:r>
            </a:p>
          </p:txBody>
        </p:sp>
        <p:sp>
          <p:nvSpPr>
            <p:cNvPr id="134175" name="Rectangle 29">
              <a:extLst>
                <a:ext uri="{FF2B5EF4-FFF2-40B4-BE49-F238E27FC236}">
                  <a16:creationId xmlns:a16="http://schemas.microsoft.com/office/drawing/2014/main" id="{83683A43-68B8-A540-9497-DDE6A22FFB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546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0x404</a:t>
              </a:r>
            </a:p>
          </p:txBody>
        </p:sp>
        <p:sp>
          <p:nvSpPr>
            <p:cNvPr id="134176" name="Rectangle 30">
              <a:extLst>
                <a:ext uri="{FF2B5EF4-FFF2-40B4-BE49-F238E27FC236}">
                  <a16:creationId xmlns:a16="http://schemas.microsoft.com/office/drawing/2014/main" id="{19AA9BD4-68D5-6141-8FB7-DB9EB46A9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715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0x408</a:t>
              </a:r>
            </a:p>
          </p:txBody>
        </p:sp>
        <p:sp>
          <p:nvSpPr>
            <p:cNvPr id="134177" name="Rectangle 31">
              <a:extLst>
                <a:ext uri="{FF2B5EF4-FFF2-40B4-BE49-F238E27FC236}">
                  <a16:creationId xmlns:a16="http://schemas.microsoft.com/office/drawing/2014/main" id="{35E168F7-9BEE-E840-8373-F31951D7C2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2884"/>
              <a:ext cx="4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0x40C</a:t>
              </a:r>
            </a:p>
          </p:txBody>
        </p:sp>
        <p:sp>
          <p:nvSpPr>
            <p:cNvPr id="134178" name="Rectangle 32">
              <a:extLst>
                <a:ext uri="{FF2B5EF4-FFF2-40B4-BE49-F238E27FC236}">
                  <a16:creationId xmlns:a16="http://schemas.microsoft.com/office/drawing/2014/main" id="{082FA5AF-13ED-9344-BF39-85F78BEC8A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053"/>
              <a:ext cx="46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0x410</a:t>
              </a:r>
            </a:p>
          </p:txBody>
        </p:sp>
        <p:sp>
          <p:nvSpPr>
            <p:cNvPr id="134179" name="Rectangle 33">
              <a:extLst>
                <a:ext uri="{FF2B5EF4-FFF2-40B4-BE49-F238E27FC236}">
                  <a16:creationId xmlns:a16="http://schemas.microsoft.com/office/drawing/2014/main" id="{ED517907-34B2-1648-8EF1-EB1D40A8C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222"/>
              <a:ext cx="468" cy="2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0x414</a:t>
              </a:r>
            </a:p>
          </p:txBody>
        </p:sp>
        <p:sp>
          <p:nvSpPr>
            <p:cNvPr id="134180" name="Rectangle 34">
              <a:extLst>
                <a:ext uri="{FF2B5EF4-FFF2-40B4-BE49-F238E27FC236}">
                  <a16:creationId xmlns:a16="http://schemas.microsoft.com/office/drawing/2014/main" id="{D01C6183-F4C2-DC41-8862-A6AF655D4D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1995"/>
              <a:ext cx="890" cy="3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>
                  <a:latin typeface="Times New Roman" panose="02020603050405020304" pitchFamily="18" charset="0"/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4181" name="Rectangle 35">
              <a:extLst>
                <a:ext uri="{FF2B5EF4-FFF2-40B4-BE49-F238E27FC236}">
                  <a16:creationId xmlns:a16="http://schemas.microsoft.com/office/drawing/2014/main" id="{97D32385-8296-5647-8A9A-9BE8EAFB4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796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4182" name="Rectangle 36">
              <a:extLst>
                <a:ext uri="{FF2B5EF4-FFF2-40B4-BE49-F238E27FC236}">
                  <a16:creationId xmlns:a16="http://schemas.microsoft.com/office/drawing/2014/main" id="{30580E55-A7EA-0B48-95D6-DE4E0A9D2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3784"/>
              <a:ext cx="488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0x7A4</a:t>
              </a:r>
            </a:p>
          </p:txBody>
        </p:sp>
        <p:sp>
          <p:nvSpPr>
            <p:cNvPr id="134183" name="Rectangle 37">
              <a:extLst>
                <a:ext uri="{FF2B5EF4-FFF2-40B4-BE49-F238E27FC236}">
                  <a16:creationId xmlns:a16="http://schemas.microsoft.com/office/drawing/2014/main" id="{9F805D90-A711-9C40-969A-74C46100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3402"/>
              <a:ext cx="890" cy="375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4184" name="Rectangle 38">
              <a:extLst>
                <a:ext uri="{FF2B5EF4-FFF2-40B4-BE49-F238E27FC236}">
                  <a16:creationId xmlns:a16="http://schemas.microsoft.com/office/drawing/2014/main" id="{E2E9A3A2-6F0A-ED46-B8F1-68327DA54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8" y="562"/>
              <a:ext cx="880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1800" b="1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主存的布局</a:t>
              </a:r>
              <a:r>
                <a:rPr lang="en-US" altLang="zh-CN" sz="1800" b="1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:</a:t>
              </a:r>
            </a:p>
          </p:txBody>
        </p:sp>
        <p:sp>
          <p:nvSpPr>
            <p:cNvPr id="134185" name="Rectangle 39">
              <a:extLst>
                <a:ext uri="{FF2B5EF4-FFF2-40B4-BE49-F238E27FC236}">
                  <a16:creationId xmlns:a16="http://schemas.microsoft.com/office/drawing/2014/main" id="{0A3E6223-53D0-8147-A750-9ED7D527B0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0" y="813"/>
              <a:ext cx="890" cy="15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Times New Roman" panose="02020603050405020304" pitchFamily="18" charset="0"/>
                  <a:ea typeface="PMingLiU" panose="02020500000000000000" pitchFamily="18" charset="-120"/>
                </a:rPr>
                <a:t>I0</a:t>
              </a:r>
            </a:p>
          </p:txBody>
        </p:sp>
        <p:sp>
          <p:nvSpPr>
            <p:cNvPr id="134186" name="Rectangle 40">
              <a:extLst>
                <a:ext uri="{FF2B5EF4-FFF2-40B4-BE49-F238E27FC236}">
                  <a16:creationId xmlns:a16="http://schemas.microsoft.com/office/drawing/2014/main" id="{B1104F41-E5B3-F742-B12B-2D1EF147F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" y="801"/>
              <a:ext cx="49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0x0FC</a:t>
              </a:r>
            </a:p>
          </p:txBody>
        </p:sp>
        <p:sp>
          <p:nvSpPr>
            <p:cNvPr id="134187" name="Text Box 41">
              <a:extLst>
                <a:ext uri="{FF2B5EF4-FFF2-40B4-BE49-F238E27FC236}">
                  <a16:creationId xmlns:a16="http://schemas.microsoft.com/office/drawing/2014/main" id="{0578DC31-A4DC-3542-A0F3-457E9F7EC4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1" y="1232"/>
              <a:ext cx="288" cy="26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solidFill>
                    <a:srgbClr val="006600"/>
                  </a:solidFill>
                  <a:ea typeface="黑体" panose="02010609060101010101" pitchFamily="49" charset="-122"/>
                </a:rPr>
                <a:t>指  </a:t>
              </a:r>
              <a:r>
                <a:rPr lang="zh-CN" altLang="en-US" sz="1800" b="1">
                  <a:solidFill>
                    <a:srgbClr val="006600"/>
                  </a:solidFill>
                  <a:latin typeface="Times New Roman" panose="02020603050405020304" pitchFamily="18" charset="0"/>
                  <a:ea typeface="PMingLiU" panose="02020500000000000000" pitchFamily="18" charset="-120"/>
                </a:rPr>
                <a:t>令                            数   据</a:t>
              </a:r>
            </a:p>
          </p:txBody>
        </p:sp>
        <p:sp>
          <p:nvSpPr>
            <p:cNvPr id="134188" name="Text Box 42">
              <a:extLst>
                <a:ext uri="{FF2B5EF4-FFF2-40B4-BE49-F238E27FC236}">
                  <a16:creationId xmlns:a16="http://schemas.microsoft.com/office/drawing/2014/main" id="{C3E856FF-9FD2-7D40-BCAE-6DF83AC64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2" y="2333"/>
              <a:ext cx="29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rgbClr val="FF0000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4189" name="Text Box 43">
              <a:extLst>
                <a:ext uri="{FF2B5EF4-FFF2-40B4-BE49-F238E27FC236}">
                  <a16:creationId xmlns:a16="http://schemas.microsoft.com/office/drawing/2014/main" id="{7E2CD416-BADB-0D42-951A-47CAA16D2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32" y="3706"/>
              <a:ext cx="291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rgbClr val="FF0000"/>
                  </a:solidFill>
                  <a:ea typeface="宋体" panose="02010600030101010101" pitchFamily="2" charset="-122"/>
                </a:rPr>
                <a:t>V</a:t>
              </a:r>
            </a:p>
          </p:txBody>
        </p:sp>
      </p:grpSp>
      <p:sp>
        <p:nvSpPr>
          <p:cNvPr id="134151" name="Text Box 45">
            <a:extLst>
              <a:ext uri="{FF2B5EF4-FFF2-40B4-BE49-F238E27FC236}">
                <a16:creationId xmlns:a16="http://schemas.microsoft.com/office/drawing/2014/main" id="{F8DD5C46-9799-F249-89F9-3667E7BC5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1023938"/>
            <a:ext cx="277495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高级语言源程序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对应的汇编语言程序</a:t>
            </a:r>
          </a:p>
        </p:txBody>
      </p:sp>
      <p:sp>
        <p:nvSpPr>
          <p:cNvPr id="134152" name="Line 46">
            <a:extLst>
              <a:ext uri="{FF2B5EF4-FFF2-40B4-BE49-F238E27FC236}">
                <a16:creationId xmlns:a16="http://schemas.microsoft.com/office/drawing/2014/main" id="{E0CE4E77-8F17-A64B-986F-E5A36FDFE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57450" y="1133475"/>
            <a:ext cx="1123950" cy="134938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4153" name="Line 47">
            <a:extLst>
              <a:ext uri="{FF2B5EF4-FFF2-40B4-BE49-F238E27FC236}">
                <a16:creationId xmlns:a16="http://schemas.microsoft.com/office/drawing/2014/main" id="{5353AD9B-A199-3E46-BDCE-445BD007216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6225" y="1854200"/>
            <a:ext cx="360363" cy="44926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4154" name="Line 44">
            <a:extLst>
              <a:ext uri="{FF2B5EF4-FFF2-40B4-BE49-F238E27FC236}">
                <a16:creationId xmlns:a16="http://schemas.microsoft.com/office/drawing/2014/main" id="{D3DE8247-07A8-DF48-B894-FBD786ECC6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613" y="4778375"/>
            <a:ext cx="54133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34155" name="Line 45">
            <a:extLst>
              <a:ext uri="{FF2B5EF4-FFF2-40B4-BE49-F238E27FC236}">
                <a16:creationId xmlns:a16="http://schemas.microsoft.com/office/drawing/2014/main" id="{9229B7DB-FDD8-714C-AEA6-B35FDA72F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6613" y="3833813"/>
            <a:ext cx="0" cy="9445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86597A60-2BD8-C447-825E-858A1556BE4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84213" y="38100"/>
            <a:ext cx="5092700" cy="569913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程序的局部性原理举例</a:t>
            </a:r>
            <a:r>
              <a:rPr lang="en-US" altLang="zh-CN"/>
              <a:t>1</a:t>
            </a:r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38664E77-0F97-474E-8EC1-03F345F29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6675" y="368300"/>
            <a:ext cx="2565400" cy="1212850"/>
          </a:xfrm>
          <a:prstGeom prst="rect">
            <a:avLst/>
          </a:prstGeom>
          <a:solidFill>
            <a:schemeClr val="bg1"/>
          </a:solidFill>
          <a:ln w="25400">
            <a:solidFill>
              <a:schemeClr val="hlink"/>
            </a:solidFill>
            <a:miter lim="800000"/>
            <a:headEnd/>
            <a:tailEnd/>
          </a:ln>
        </p:spPr>
        <p:txBody>
          <a:bodyPr lIns="89140" tIns="43777" rIns="89140" bIns="43777">
            <a:spAutoFit/>
          </a:bodyPr>
          <a:lstStyle>
            <a:lvl1pPr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TW" sz="2000" b="1">
                <a:ea typeface="PMingLiU" panose="02020500000000000000" pitchFamily="18" charset="-120"/>
              </a:rPr>
              <a:t>sum = 0;</a:t>
            </a:r>
          </a:p>
          <a:p>
            <a:pPr>
              <a:lnSpc>
                <a:spcPct val="90000"/>
              </a:lnSpc>
            </a:pPr>
            <a:r>
              <a:rPr lang="en-US" altLang="zh-TW" sz="2000" b="1">
                <a:ea typeface="PMingLiU" panose="02020500000000000000" pitchFamily="18" charset="-120"/>
              </a:rPr>
              <a:t>for (i = 0; i &lt; n; i++)</a:t>
            </a:r>
          </a:p>
          <a:p>
            <a:pPr>
              <a:lnSpc>
                <a:spcPct val="90000"/>
              </a:lnSpc>
            </a:pPr>
            <a:r>
              <a:rPr lang="en-US" altLang="zh-TW" sz="2000" b="1">
                <a:ea typeface="PMingLiU" panose="02020500000000000000" pitchFamily="18" charset="-120"/>
              </a:rPr>
              <a:t>	sum += a[i];</a:t>
            </a:r>
          </a:p>
          <a:p>
            <a:pPr>
              <a:lnSpc>
                <a:spcPct val="90000"/>
              </a:lnSpc>
            </a:pPr>
            <a:r>
              <a:rPr lang="en-US" altLang="zh-TW" sz="2000" b="1">
                <a:ea typeface="PMingLiU" panose="02020500000000000000" pitchFamily="18" charset="-120"/>
              </a:rPr>
              <a:t>*v = sum;</a:t>
            </a:r>
          </a:p>
        </p:txBody>
      </p:sp>
      <p:sp>
        <p:nvSpPr>
          <p:cNvPr id="761860" name="Rectangle 4">
            <a:extLst>
              <a:ext uri="{FF2B5EF4-FFF2-40B4-BE49-F238E27FC236}">
                <a16:creationId xmlns:a16="http://schemas.microsoft.com/office/drawing/2014/main" id="{82ADE5C5-A230-2846-B142-7E2EA55BE39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" y="681038"/>
            <a:ext cx="5445125" cy="4813300"/>
          </a:xfrm>
          <a:noFill/>
        </p:spPr>
        <p:txBody>
          <a:bodyPr lIns="91440" tIns="45720" rIns="91440" bIns="45720"/>
          <a:lstStyle/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问题：指令和数据的时间局部性和空间局部性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各自体现在哪里？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指令：    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0x0FC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I0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）</a:t>
            </a:r>
            <a:endParaRPr lang="en-US" altLang="zh-CN" sz="2000">
              <a:solidFill>
                <a:srgbClr val="006600"/>
              </a:solidFill>
              <a:ea typeface="黑体" panose="02010609060101010101" pitchFamily="49" charset="-122"/>
            </a:endParaRP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                    …</a:t>
            </a:r>
            <a:endParaRPr lang="zh-CN" altLang="en-US" sz="2000">
              <a:solidFill>
                <a:srgbClr val="006600"/>
              </a:solidFill>
              <a:ea typeface="黑体" panose="02010609060101010101" pitchFamily="49" charset="-122"/>
            </a:endParaRP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            →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0x108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I3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）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            →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0x10C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I4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）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                   …</a:t>
            </a:r>
            <a:endParaRPr lang="zh-CN" altLang="en-US" sz="2000">
              <a:solidFill>
                <a:srgbClr val="006600"/>
              </a:solidFill>
              <a:ea typeface="黑体" panose="02010609060101010101" pitchFamily="49" charset="-122"/>
            </a:endParaRP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            →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0x11C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I8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）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            →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0x120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（</a:t>
            </a: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I9</a:t>
            </a: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） 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endParaRPr lang="zh-CN" altLang="en-US" sz="2000">
              <a:solidFill>
                <a:srgbClr val="006600"/>
              </a:solidFill>
              <a:ea typeface="黑体" panose="02010609060101010101" pitchFamily="49" charset="-122"/>
            </a:endParaRP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ea typeface="黑体" panose="02010609060101010101" pitchFamily="49" charset="-122"/>
              </a:rPr>
              <a:t>数据：只有数组在主存中：   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           0x400→0x404→0x408</a:t>
            </a:r>
          </a:p>
          <a:p>
            <a:pPr marL="182563" indent="-182563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006600"/>
                </a:solidFill>
                <a:ea typeface="黑体" panose="02010609060101010101" pitchFamily="49" charset="-122"/>
              </a:rPr>
              <a:t>          →0x40C→……→0x7A4 </a:t>
            </a:r>
            <a:endParaRPr lang="zh-CN" altLang="en-US" sz="2000">
              <a:solidFill>
                <a:srgbClr val="006600"/>
              </a:solidFill>
              <a:ea typeface="黑体" panose="02010609060101010101" pitchFamily="49" charset="-122"/>
            </a:endParaRPr>
          </a:p>
        </p:txBody>
      </p:sp>
      <p:grpSp>
        <p:nvGrpSpPr>
          <p:cNvPr id="135173" name="Group 7">
            <a:extLst>
              <a:ext uri="{FF2B5EF4-FFF2-40B4-BE49-F238E27FC236}">
                <a16:creationId xmlns:a16="http://schemas.microsoft.com/office/drawing/2014/main" id="{2CC0A2D6-D552-C446-A179-5A74431E26B0}"/>
              </a:ext>
            </a:extLst>
          </p:cNvPr>
          <p:cNvGrpSpPr>
            <a:grpSpLocks/>
          </p:cNvGrpSpPr>
          <p:nvPr/>
        </p:nvGrpSpPr>
        <p:grpSpPr bwMode="auto">
          <a:xfrm>
            <a:off x="6777038" y="1776413"/>
            <a:ext cx="2349500" cy="4667250"/>
            <a:chOff x="4422" y="709"/>
            <a:chExt cx="1338" cy="2940"/>
          </a:xfrm>
        </p:grpSpPr>
        <p:grpSp>
          <p:nvGrpSpPr>
            <p:cNvPr id="135182" name="Group 8">
              <a:extLst>
                <a:ext uri="{FF2B5EF4-FFF2-40B4-BE49-F238E27FC236}">
                  <a16:creationId xmlns:a16="http://schemas.microsoft.com/office/drawing/2014/main" id="{941E56D1-1B39-0C43-BBC2-FAEEBF4804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2" y="709"/>
              <a:ext cx="1338" cy="2939"/>
              <a:chOff x="4422" y="822"/>
              <a:chExt cx="1338" cy="2938"/>
            </a:xfrm>
          </p:grpSpPr>
          <p:grpSp>
            <p:nvGrpSpPr>
              <p:cNvPr id="135185" name="Group 9">
                <a:extLst>
                  <a:ext uri="{FF2B5EF4-FFF2-40B4-BE49-F238E27FC236}">
                    <a16:creationId xmlns:a16="http://schemas.microsoft.com/office/drawing/2014/main" id="{ED8C7BDB-6535-2E42-AF61-310800CAEAB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2" y="822"/>
                <a:ext cx="1113" cy="2938"/>
                <a:chOff x="4486" y="822"/>
                <a:chExt cx="1113" cy="2938"/>
              </a:xfrm>
            </p:grpSpPr>
            <p:sp>
              <p:nvSpPr>
                <p:cNvPr id="135187" name="Rectangle 10">
                  <a:extLst>
                    <a:ext uri="{FF2B5EF4-FFF2-40B4-BE49-F238E27FC236}">
                      <a16:creationId xmlns:a16="http://schemas.microsoft.com/office/drawing/2014/main" id="{117947F8-9AD7-3949-8321-E05315C7BC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219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I1</a:t>
                  </a:r>
                </a:p>
              </p:txBody>
            </p:sp>
            <p:sp>
              <p:nvSpPr>
                <p:cNvPr id="135188" name="Rectangle 11">
                  <a:extLst>
                    <a:ext uri="{FF2B5EF4-FFF2-40B4-BE49-F238E27FC236}">
                      <a16:creationId xmlns:a16="http://schemas.microsoft.com/office/drawing/2014/main" id="{EC590FCE-C70A-E248-B43F-2DD90591C1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363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I2</a:t>
                  </a:r>
                </a:p>
              </p:txBody>
            </p:sp>
            <p:sp>
              <p:nvSpPr>
                <p:cNvPr id="135189" name="Rectangle 12">
                  <a:extLst>
                    <a:ext uri="{FF2B5EF4-FFF2-40B4-BE49-F238E27FC236}">
                      <a16:creationId xmlns:a16="http://schemas.microsoft.com/office/drawing/2014/main" id="{047CFAB6-705F-2C4B-A18C-9EA3E93170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507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I3</a:t>
                  </a:r>
                </a:p>
              </p:txBody>
            </p:sp>
            <p:sp>
              <p:nvSpPr>
                <p:cNvPr id="135190" name="Rectangle 13">
                  <a:extLst>
                    <a:ext uri="{FF2B5EF4-FFF2-40B4-BE49-F238E27FC236}">
                      <a16:creationId xmlns:a16="http://schemas.microsoft.com/office/drawing/2014/main" id="{7B2DDAF3-F460-8444-9461-FB60CB2999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651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I4</a:t>
                  </a:r>
                </a:p>
              </p:txBody>
            </p:sp>
            <p:sp>
              <p:nvSpPr>
                <p:cNvPr id="135191" name="Rectangle 14">
                  <a:extLst>
                    <a:ext uri="{FF2B5EF4-FFF2-40B4-BE49-F238E27FC236}">
                      <a16:creationId xmlns:a16="http://schemas.microsoft.com/office/drawing/2014/main" id="{2C61970D-F575-1B40-A422-FDD25A7BD60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795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I5</a:t>
                  </a:r>
                </a:p>
              </p:txBody>
            </p:sp>
            <p:sp>
              <p:nvSpPr>
                <p:cNvPr id="135192" name="Rectangle 15">
                  <a:extLst>
                    <a:ext uri="{FF2B5EF4-FFF2-40B4-BE49-F238E27FC236}">
                      <a16:creationId xmlns:a16="http://schemas.microsoft.com/office/drawing/2014/main" id="{4E82D9AD-F1B3-D14A-AEE2-371BBDF4D6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939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I6</a:t>
                  </a:r>
                </a:p>
              </p:txBody>
            </p:sp>
            <p:sp>
              <p:nvSpPr>
                <p:cNvPr id="135193" name="Rectangle 16">
                  <a:extLst>
                    <a:ext uri="{FF2B5EF4-FFF2-40B4-BE49-F238E27FC236}">
                      <a16:creationId xmlns:a16="http://schemas.microsoft.com/office/drawing/2014/main" id="{4BD80DFA-AEE0-8040-9D6E-2A878DBAD4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170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0x100</a:t>
                  </a:r>
                </a:p>
              </p:txBody>
            </p:sp>
            <p:sp>
              <p:nvSpPr>
                <p:cNvPr id="135194" name="Rectangle 17">
                  <a:extLst>
                    <a:ext uri="{FF2B5EF4-FFF2-40B4-BE49-F238E27FC236}">
                      <a16:creationId xmlns:a16="http://schemas.microsoft.com/office/drawing/2014/main" id="{65021E82-78C8-A142-9C7A-AF8538F32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314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0x104</a:t>
                  </a:r>
                </a:p>
              </p:txBody>
            </p:sp>
            <p:sp>
              <p:nvSpPr>
                <p:cNvPr id="135195" name="Rectangle 18">
                  <a:extLst>
                    <a:ext uri="{FF2B5EF4-FFF2-40B4-BE49-F238E27FC236}">
                      <a16:creationId xmlns:a16="http://schemas.microsoft.com/office/drawing/2014/main" id="{A9E6B161-0D78-6544-BF6A-2CB8F348A7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458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0x108</a:t>
                  </a:r>
                </a:p>
              </p:txBody>
            </p:sp>
            <p:sp>
              <p:nvSpPr>
                <p:cNvPr id="135196" name="Rectangle 19">
                  <a:extLst>
                    <a:ext uri="{FF2B5EF4-FFF2-40B4-BE49-F238E27FC236}">
                      <a16:creationId xmlns:a16="http://schemas.microsoft.com/office/drawing/2014/main" id="{DD8283EE-A563-C94C-8E6E-EE6A1458C6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602"/>
                  <a:ext cx="377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0x10C</a:t>
                  </a:r>
                </a:p>
              </p:txBody>
            </p:sp>
            <p:sp>
              <p:nvSpPr>
                <p:cNvPr id="135197" name="Rectangle 20">
                  <a:extLst>
                    <a:ext uri="{FF2B5EF4-FFF2-40B4-BE49-F238E27FC236}">
                      <a16:creationId xmlns:a16="http://schemas.microsoft.com/office/drawing/2014/main" id="{BFA0563B-09DD-F342-9D1E-FCE04EB5B3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746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0x110</a:t>
                  </a:r>
                </a:p>
              </p:txBody>
            </p:sp>
            <p:sp>
              <p:nvSpPr>
                <p:cNvPr id="135198" name="Rectangle 21">
                  <a:extLst>
                    <a:ext uri="{FF2B5EF4-FFF2-40B4-BE49-F238E27FC236}">
                      <a16:creationId xmlns:a16="http://schemas.microsoft.com/office/drawing/2014/main" id="{ED609D03-FFC0-8E4E-BCAE-642EACAB16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890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0x114</a:t>
                  </a:r>
                </a:p>
              </p:txBody>
            </p:sp>
            <p:sp>
              <p:nvSpPr>
                <p:cNvPr id="135199" name="Rectangle 22">
                  <a:extLst>
                    <a:ext uri="{FF2B5EF4-FFF2-40B4-BE49-F238E27FC236}">
                      <a16:creationId xmlns:a16="http://schemas.microsoft.com/office/drawing/2014/main" id="{C73645F7-7039-774B-B572-CFC091AE51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419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a[0]</a:t>
                  </a:r>
                </a:p>
              </p:txBody>
            </p:sp>
            <p:sp>
              <p:nvSpPr>
                <p:cNvPr id="135200" name="Rectangle 23">
                  <a:extLst>
                    <a:ext uri="{FF2B5EF4-FFF2-40B4-BE49-F238E27FC236}">
                      <a16:creationId xmlns:a16="http://schemas.microsoft.com/office/drawing/2014/main" id="{D875E0A8-3A3B-6949-A05A-A77317EDB7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563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a[1]</a:t>
                  </a:r>
                </a:p>
              </p:txBody>
            </p:sp>
            <p:sp>
              <p:nvSpPr>
                <p:cNvPr id="135201" name="Rectangle 24">
                  <a:extLst>
                    <a:ext uri="{FF2B5EF4-FFF2-40B4-BE49-F238E27FC236}">
                      <a16:creationId xmlns:a16="http://schemas.microsoft.com/office/drawing/2014/main" id="{78CF98E6-A9CA-4242-8BC4-A0FD4DBA1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707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a[2]</a:t>
                  </a:r>
                </a:p>
              </p:txBody>
            </p:sp>
            <p:sp>
              <p:nvSpPr>
                <p:cNvPr id="135202" name="Rectangle 25">
                  <a:extLst>
                    <a:ext uri="{FF2B5EF4-FFF2-40B4-BE49-F238E27FC236}">
                      <a16:creationId xmlns:a16="http://schemas.microsoft.com/office/drawing/2014/main" id="{7951E037-4576-CD4B-84DC-72936A761A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851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a[3]</a:t>
                  </a:r>
                </a:p>
              </p:txBody>
            </p:sp>
            <p:sp>
              <p:nvSpPr>
                <p:cNvPr id="135203" name="Rectangle 26">
                  <a:extLst>
                    <a:ext uri="{FF2B5EF4-FFF2-40B4-BE49-F238E27FC236}">
                      <a16:creationId xmlns:a16="http://schemas.microsoft.com/office/drawing/2014/main" id="{F4D45C4E-2B3F-3F43-A996-C51F788C87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995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a[4]</a:t>
                  </a:r>
                </a:p>
              </p:txBody>
            </p:sp>
            <p:sp>
              <p:nvSpPr>
                <p:cNvPr id="135204" name="Rectangle 27">
                  <a:extLst>
                    <a:ext uri="{FF2B5EF4-FFF2-40B4-BE49-F238E27FC236}">
                      <a16:creationId xmlns:a16="http://schemas.microsoft.com/office/drawing/2014/main" id="{EA01997E-2612-0C47-8E78-2D71F08F04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3139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a[5]</a:t>
                  </a:r>
                </a:p>
              </p:txBody>
            </p:sp>
            <p:sp>
              <p:nvSpPr>
                <p:cNvPr id="135205" name="Rectangle 28">
                  <a:extLst>
                    <a:ext uri="{FF2B5EF4-FFF2-40B4-BE49-F238E27FC236}">
                      <a16:creationId xmlns:a16="http://schemas.microsoft.com/office/drawing/2014/main" id="{A7677FE9-0B48-AF4A-A732-5229C0883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2370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0x400</a:t>
                  </a:r>
                </a:p>
              </p:txBody>
            </p:sp>
            <p:sp>
              <p:nvSpPr>
                <p:cNvPr id="135206" name="Rectangle 29">
                  <a:extLst>
                    <a:ext uri="{FF2B5EF4-FFF2-40B4-BE49-F238E27FC236}">
                      <a16:creationId xmlns:a16="http://schemas.microsoft.com/office/drawing/2014/main" id="{72EED0F2-679E-7D40-9129-385D51FE8F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2514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0x404</a:t>
                  </a:r>
                </a:p>
              </p:txBody>
            </p:sp>
            <p:sp>
              <p:nvSpPr>
                <p:cNvPr id="135207" name="Rectangle 30">
                  <a:extLst>
                    <a:ext uri="{FF2B5EF4-FFF2-40B4-BE49-F238E27FC236}">
                      <a16:creationId xmlns:a16="http://schemas.microsoft.com/office/drawing/2014/main" id="{29E03175-B78E-0443-9FF8-7F0134A61E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2658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0x408</a:t>
                  </a:r>
                </a:p>
              </p:txBody>
            </p:sp>
            <p:sp>
              <p:nvSpPr>
                <p:cNvPr id="135208" name="Rectangle 31">
                  <a:extLst>
                    <a:ext uri="{FF2B5EF4-FFF2-40B4-BE49-F238E27FC236}">
                      <a16:creationId xmlns:a16="http://schemas.microsoft.com/office/drawing/2014/main" id="{75060A25-171B-9741-B95B-822D87C250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2802"/>
                  <a:ext cx="377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0x40C</a:t>
                  </a:r>
                </a:p>
              </p:txBody>
            </p:sp>
            <p:sp>
              <p:nvSpPr>
                <p:cNvPr id="135209" name="Rectangle 32">
                  <a:extLst>
                    <a:ext uri="{FF2B5EF4-FFF2-40B4-BE49-F238E27FC236}">
                      <a16:creationId xmlns:a16="http://schemas.microsoft.com/office/drawing/2014/main" id="{4D17B7A1-7E70-4E42-8FAD-1276FE11BC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2946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0x410</a:t>
                  </a:r>
                </a:p>
              </p:txBody>
            </p:sp>
            <p:sp>
              <p:nvSpPr>
                <p:cNvPr id="135210" name="Rectangle 33">
                  <a:extLst>
                    <a:ext uri="{FF2B5EF4-FFF2-40B4-BE49-F238E27FC236}">
                      <a16:creationId xmlns:a16="http://schemas.microsoft.com/office/drawing/2014/main" id="{ED18F37A-B74E-5740-A8CD-BA7E9A682B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3090"/>
                  <a:ext cx="354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0x414</a:t>
                  </a:r>
                </a:p>
              </p:txBody>
            </p:sp>
            <p:sp>
              <p:nvSpPr>
                <p:cNvPr id="135211" name="Rectangle 34">
                  <a:extLst>
                    <a:ext uri="{FF2B5EF4-FFF2-40B4-BE49-F238E27FC236}">
                      <a16:creationId xmlns:a16="http://schemas.microsoft.com/office/drawing/2014/main" id="{21E3BC4F-77A0-614D-B796-63C81CF2C67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2083"/>
                  <a:ext cx="560" cy="32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• • •</a:t>
                  </a:r>
                </a:p>
              </p:txBody>
            </p:sp>
            <p:sp>
              <p:nvSpPr>
                <p:cNvPr id="135212" name="Rectangle 35">
                  <a:extLst>
                    <a:ext uri="{FF2B5EF4-FFF2-40B4-BE49-F238E27FC236}">
                      <a16:creationId xmlns:a16="http://schemas.microsoft.com/office/drawing/2014/main" id="{81522026-648C-6040-84CB-6116245B03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3619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endParaRPr lang="zh-CN" altLang="en-US" sz="1400" b="1">
                    <a:latin typeface="Courier New" panose="02070309020205020404" pitchFamily="49" charset="0"/>
                    <a:ea typeface="PMingLiU" panose="02020500000000000000" pitchFamily="18" charset="-120"/>
                  </a:endParaRPr>
                </a:p>
              </p:txBody>
            </p:sp>
            <p:sp>
              <p:nvSpPr>
                <p:cNvPr id="135213" name="Rectangle 36">
                  <a:extLst>
                    <a:ext uri="{FF2B5EF4-FFF2-40B4-BE49-F238E27FC236}">
                      <a16:creationId xmlns:a16="http://schemas.microsoft.com/office/drawing/2014/main" id="{1C62855E-E7EC-AD42-A7EF-00268C0FD9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3570"/>
                  <a:ext cx="377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0x7A4</a:t>
                  </a:r>
                </a:p>
              </p:txBody>
            </p:sp>
            <p:sp>
              <p:nvSpPr>
                <p:cNvPr id="135214" name="Rectangle 37">
                  <a:extLst>
                    <a:ext uri="{FF2B5EF4-FFF2-40B4-BE49-F238E27FC236}">
                      <a16:creationId xmlns:a16="http://schemas.microsoft.com/office/drawing/2014/main" id="{DFBD9D0D-C4EC-7E4C-A8E2-649DC988583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3283"/>
                  <a:ext cx="560" cy="320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ea typeface="PMingLiU" panose="02020500000000000000" pitchFamily="18" charset="-120"/>
                    </a:rPr>
                    <a:t>• • •</a:t>
                  </a:r>
                </a:p>
              </p:txBody>
            </p:sp>
            <p:sp>
              <p:nvSpPr>
                <p:cNvPr id="135215" name="Rectangle 38">
                  <a:extLst>
                    <a:ext uri="{FF2B5EF4-FFF2-40B4-BE49-F238E27FC236}">
                      <a16:creationId xmlns:a16="http://schemas.microsoft.com/office/drawing/2014/main" id="{D40573A3-6620-0C4A-B4FE-A1B8526035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6" y="822"/>
                  <a:ext cx="823" cy="2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zh-CN" altLang="en-US" sz="1800" b="1">
                      <a:solidFill>
                        <a:srgbClr val="0066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主存的布局</a:t>
                  </a:r>
                  <a:r>
                    <a:rPr lang="en-US" altLang="zh-CN" sz="1800" b="1">
                      <a:solidFill>
                        <a:srgbClr val="006600"/>
                      </a:solidFill>
                      <a:latin typeface="黑体" panose="02010609060101010101" pitchFamily="49" charset="-122"/>
                      <a:ea typeface="黑体" panose="02010609060101010101" pitchFamily="49" charset="-122"/>
                    </a:rPr>
                    <a:t>:</a:t>
                  </a:r>
                </a:p>
              </p:txBody>
            </p:sp>
            <p:sp>
              <p:nvSpPr>
                <p:cNvPr id="135216" name="Rectangle 39">
                  <a:extLst>
                    <a:ext uri="{FF2B5EF4-FFF2-40B4-BE49-F238E27FC236}">
                      <a16:creationId xmlns:a16="http://schemas.microsoft.com/office/drawing/2014/main" id="{D0373285-6CBA-484B-94E2-A3E45864D1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9" y="1075"/>
                  <a:ext cx="560" cy="128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89140" tIns="43777" rIns="89140" bIns="43777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/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I0</a:t>
                  </a:r>
                </a:p>
              </p:txBody>
            </p:sp>
            <p:sp>
              <p:nvSpPr>
                <p:cNvPr id="135217" name="Rectangle 40">
                  <a:extLst>
                    <a:ext uri="{FF2B5EF4-FFF2-40B4-BE49-F238E27FC236}">
                      <a16:creationId xmlns:a16="http://schemas.microsoft.com/office/drawing/2014/main" id="{9C56065A-2967-7649-A37B-3A17A22A94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582" y="1026"/>
                  <a:ext cx="388" cy="1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89140" tIns="43777" rIns="89140" bIns="43777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r>
                    <a:rPr lang="en-US" altLang="zh-TW" sz="1400" b="1">
                      <a:latin typeface="Times New Roman" panose="02020603050405020304" pitchFamily="18" charset="0"/>
                      <a:ea typeface="PMingLiU" panose="02020500000000000000" pitchFamily="18" charset="-120"/>
                    </a:rPr>
                    <a:t>0x0FC</a:t>
                  </a:r>
                </a:p>
              </p:txBody>
            </p:sp>
          </p:grpSp>
          <p:sp>
            <p:nvSpPr>
              <p:cNvPr id="135186" name="Text Box 41">
                <a:extLst>
                  <a:ext uri="{FF2B5EF4-FFF2-40B4-BE49-F238E27FC236}">
                    <a16:creationId xmlns:a16="http://schemas.microsoft.com/office/drawing/2014/main" id="{CFCE360F-983D-7A41-AF41-9CFC65D06A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10" y="1276"/>
                <a:ext cx="250" cy="22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lIns="90083" tIns="45046" rIns="90083" bIns="45046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1700" b="1">
                    <a:solidFill>
                      <a:srgbClr val="006600"/>
                    </a:solidFill>
                    <a:ea typeface="宋体" panose="02010600030101010101" pitchFamily="2" charset="-122"/>
                  </a:rPr>
                  <a:t>指  令                            数   据</a:t>
                </a:r>
              </a:p>
            </p:txBody>
          </p:sp>
        </p:grpSp>
        <p:sp>
          <p:nvSpPr>
            <p:cNvPr id="135183" name="Text Box 42">
              <a:extLst>
                <a:ext uri="{FF2B5EF4-FFF2-40B4-BE49-F238E27FC236}">
                  <a16:creationId xmlns:a16="http://schemas.microsoft.com/office/drawing/2014/main" id="{3678D167-1570-A141-B459-B29FB433B9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" y="2259"/>
              <a:ext cx="18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5184" name="Text Box 43">
              <a:extLst>
                <a:ext uri="{FF2B5EF4-FFF2-40B4-BE49-F238E27FC236}">
                  <a16:creationId xmlns:a16="http://schemas.microsoft.com/office/drawing/2014/main" id="{10771729-51C3-A542-B20F-D47416C94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11" y="3430"/>
              <a:ext cx="183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V</a:t>
              </a:r>
            </a:p>
          </p:txBody>
        </p:sp>
      </p:grpSp>
      <p:sp>
        <p:nvSpPr>
          <p:cNvPr id="761910" name="Rectangle 54">
            <a:extLst>
              <a:ext uri="{FF2B5EF4-FFF2-40B4-BE49-F238E27FC236}">
                <a16:creationId xmlns:a16="http://schemas.microsoft.com/office/drawing/2014/main" id="{CC36649A-898D-FF4A-88D1-1BFA80ABF0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638" y="1944688"/>
            <a:ext cx="2116137" cy="292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足够大，则在一段时间内一直在局部区域内执行指令，故循环内指令的时间局部性好；</a:t>
            </a:r>
          </a:p>
          <a:p>
            <a:pPr>
              <a:lnSpc>
                <a:spcPct val="120000"/>
              </a:lnSpc>
            </a:pPr>
            <a:endParaRPr lang="zh-CN" altLang="en-US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按顺序执行，故程序空间局部性好！</a:t>
            </a:r>
            <a:endParaRPr lang="en-US" altLang="zh-CN" sz="20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1911" name="Rectangle 55">
            <a:extLst>
              <a:ext uri="{FF2B5EF4-FFF2-40B4-BE49-F238E27FC236}">
                <a16:creationId xmlns:a16="http://schemas.microsoft.com/office/drawing/2014/main" id="{44DF7744-6F42-A040-9F9A-9C4145736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5589588"/>
            <a:ext cx="6164262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数组元素按顺序存放，按顺序访问，故空间局部性好；</a:t>
            </a:r>
          </a:p>
          <a:p>
            <a:pPr>
              <a:lnSpc>
                <a:spcPct val="120000"/>
              </a:lnSpc>
            </a:pP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每个数组元素都只被访问</a:t>
            </a:r>
            <a:r>
              <a:rPr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次，故没有时间局部性。</a:t>
            </a:r>
          </a:p>
        </p:txBody>
      </p:sp>
      <p:grpSp>
        <p:nvGrpSpPr>
          <p:cNvPr id="569388" name="Group 44">
            <a:extLst>
              <a:ext uri="{FF2B5EF4-FFF2-40B4-BE49-F238E27FC236}">
                <a16:creationId xmlns:a16="http://schemas.microsoft.com/office/drawing/2014/main" id="{3C3DB13C-502D-5246-B660-4348683C5EB4}"/>
              </a:ext>
            </a:extLst>
          </p:cNvPr>
          <p:cNvGrpSpPr>
            <a:grpSpLocks/>
          </p:cNvGrpSpPr>
          <p:nvPr/>
        </p:nvGrpSpPr>
        <p:grpSpPr bwMode="auto">
          <a:xfrm>
            <a:off x="2816225" y="2708275"/>
            <a:ext cx="900113" cy="763588"/>
            <a:chOff x="1604" y="1565"/>
            <a:chExt cx="567" cy="453"/>
          </a:xfrm>
        </p:grpSpPr>
        <p:grpSp>
          <p:nvGrpSpPr>
            <p:cNvPr id="135177" name="Group 59">
              <a:extLst>
                <a:ext uri="{FF2B5EF4-FFF2-40B4-BE49-F238E27FC236}">
                  <a16:creationId xmlns:a16="http://schemas.microsoft.com/office/drawing/2014/main" id="{31222AA2-2133-9F4D-B542-55AE45AED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04" y="1565"/>
              <a:ext cx="171" cy="453"/>
              <a:chOff x="1633" y="1678"/>
              <a:chExt cx="340" cy="199"/>
            </a:xfrm>
          </p:grpSpPr>
          <p:sp>
            <p:nvSpPr>
              <p:cNvPr id="135179" name="Line 56">
                <a:extLst>
                  <a:ext uri="{FF2B5EF4-FFF2-40B4-BE49-F238E27FC236}">
                    <a16:creationId xmlns:a16="http://schemas.microsoft.com/office/drawing/2014/main" id="{2C87F699-EF73-B34C-B6C9-16C6205375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3" y="1877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5180" name="Line 57">
                <a:extLst>
                  <a:ext uri="{FF2B5EF4-FFF2-40B4-BE49-F238E27FC236}">
                    <a16:creationId xmlns:a16="http://schemas.microsoft.com/office/drawing/2014/main" id="{A370C7ED-5623-5C4B-820E-48DE94857C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73" y="1678"/>
                <a:ext cx="0" cy="199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5181" name="Line 58">
                <a:extLst>
                  <a:ext uri="{FF2B5EF4-FFF2-40B4-BE49-F238E27FC236}">
                    <a16:creationId xmlns:a16="http://schemas.microsoft.com/office/drawing/2014/main" id="{EBE2E137-4A84-F949-98E8-9EBBFC7CBD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33" y="1678"/>
                <a:ext cx="340" cy="0"/>
              </a:xfrm>
              <a:prstGeom prst="line">
                <a:avLst/>
              </a:prstGeom>
              <a:noFill/>
              <a:ln w="28575">
                <a:solidFill>
                  <a:srgbClr val="8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5178" name="Text Box 60">
              <a:extLst>
                <a:ext uri="{FF2B5EF4-FFF2-40B4-BE49-F238E27FC236}">
                  <a16:creationId xmlns:a16="http://schemas.microsoft.com/office/drawing/2014/main" id="{D2B0B771-4AB6-9A4B-9698-E4EE8C6E24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31" y="1593"/>
              <a:ext cx="340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6600"/>
                  </a:solidFill>
                  <a:ea typeface="黑体" panose="02010609060101010101" pitchFamily="49" charset="-122"/>
                </a:rPr>
                <a:t>循环</a:t>
              </a:r>
              <a:r>
                <a:rPr kumimoji="1" lang="en-US" altLang="zh-CN" sz="2000" b="1">
                  <a:solidFill>
                    <a:srgbClr val="006600"/>
                  </a:solidFill>
                  <a:ea typeface="黑体" panose="02010609060101010101" pitchFamily="49" charset="-122"/>
                </a:rPr>
                <a:t>n</a:t>
              </a:r>
              <a:r>
                <a:rPr kumimoji="1" lang="zh-CN" altLang="en-US" sz="2000" b="1">
                  <a:solidFill>
                    <a:srgbClr val="006600"/>
                  </a:solidFill>
                  <a:ea typeface="黑体" panose="02010609060101010101" pitchFamily="49" charset="-122"/>
                </a:rPr>
                <a:t>次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18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618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618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618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618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618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18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618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618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6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76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76186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6186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8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76186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761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1910" grpId="0"/>
      <p:bldP spid="7619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>
            <a:extLst>
              <a:ext uri="{FF2B5EF4-FFF2-40B4-BE49-F238E27FC236}">
                <a16:creationId xmlns:a16="http://schemas.microsoft.com/office/drawing/2014/main" id="{491EC647-9479-B445-919E-43D1521826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程序的局部性原理举例</a:t>
            </a:r>
            <a:r>
              <a:rPr lang="en-US" altLang="zh-CN" sz="3200"/>
              <a:t>2</a:t>
            </a:r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2CF9FECE-5FC9-1D40-B2F0-2E0CD655AC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700" y="649288"/>
            <a:ext cx="8783638" cy="1096962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1000">
                <a:ea typeface="宋体" panose="02010600030101010101" pitchFamily="2" charset="-122"/>
              </a:rPr>
              <a:t>     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以下哪个对数组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引用的空间局部性更好？时间局部性呢？变量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的空间局部性和时间局部性如何？对于指令来说，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循环体的空间局部性和时间局部性如何？</a:t>
            </a:r>
          </a:p>
        </p:txBody>
      </p:sp>
      <p:sp>
        <p:nvSpPr>
          <p:cNvPr id="736260" name="Rectangle 4">
            <a:extLst>
              <a:ext uri="{FF2B5EF4-FFF2-40B4-BE49-F238E27FC236}">
                <a16:creationId xmlns:a16="http://schemas.microsoft.com/office/drawing/2014/main" id="{D81A975E-BC19-E74A-846F-1219A2DA0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1150" y="63436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1800" b="1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数组在存储器中按行优先顺序存放</a:t>
            </a:r>
            <a:endParaRPr kumimoji="1" lang="zh-CN" altLang="en-US" sz="18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6197" name="Text Box 5">
            <a:extLst>
              <a:ext uri="{FF2B5EF4-FFF2-40B4-BE49-F238E27FC236}">
                <a16:creationId xmlns:a16="http://schemas.microsoft.com/office/drawing/2014/main" id="{B06E765A-F69F-B548-AD42-94DF6F8E6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170613"/>
            <a:ext cx="7507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736262" name="Rectangle 6">
            <a:extLst>
              <a:ext uri="{FF2B5EF4-FFF2-40B4-BE49-F238E27FC236}">
                <a16:creationId xmlns:a16="http://schemas.microsoft.com/office/drawing/2014/main" id="{5813FFB2-CF06-0A46-8E4F-7122A5BEF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184650"/>
            <a:ext cx="4979987" cy="25495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1900" b="1">
                <a:solidFill>
                  <a:srgbClr val="CC0000"/>
                </a:solidFill>
                <a:ea typeface="宋体" panose="02010600030101010101" pitchFamily="2" charset="-122"/>
              </a:rPr>
              <a:t>程序段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B:</a:t>
            </a:r>
          </a:p>
          <a:p>
            <a:pPr eaLnBrk="1" hangingPunct="1">
              <a:lnSpc>
                <a:spcPct val="110000"/>
              </a:lnSpc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en-US" altLang="zh-CN" sz="1900" b="1">
                <a:ea typeface="宋体" panose="02010600030101010101" pitchFamily="2" charset="-122"/>
              </a:rPr>
              <a:t> int sumarraycols(int a[M][N])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{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 int i, j, sum=0;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      for  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(j=0; j&lt;N, j++)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	  for </a:t>
            </a:r>
            <a:r>
              <a:rPr kumimoji="1" lang="en-US" altLang="zh-CN" sz="1900" b="1">
                <a:solidFill>
                  <a:srgbClr val="0000FF"/>
                </a:solidFill>
                <a:ea typeface="宋体" panose="02010600030101010101" pitchFamily="2" charset="-122"/>
              </a:rPr>
              <a:t>(i=0; i&lt;M, i++)</a:t>
            </a:r>
            <a:r>
              <a:rPr kumimoji="1" lang="en-US" altLang="zh-CN" sz="1900" b="1">
                <a:ea typeface="宋体" panose="02010600030101010101" pitchFamily="2" charset="-122"/>
              </a:rPr>
              <a:t>  sum+=a[i][j];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       return sum;</a:t>
            </a:r>
          </a:p>
          <a:p>
            <a:pPr eaLnBrk="1" hangingPunct="1">
              <a:lnSpc>
                <a:spcPct val="110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736263" name="Rectangle 7">
            <a:extLst>
              <a:ext uri="{FF2B5EF4-FFF2-40B4-BE49-F238E27FC236}">
                <a16:creationId xmlns:a16="http://schemas.microsoft.com/office/drawing/2014/main" id="{4943C756-D456-0148-BD6B-299693009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1862138"/>
            <a:ext cx="4995862" cy="22066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kumimoji="1" lang="zh-CN" altLang="en-US" sz="1900" b="1">
                <a:solidFill>
                  <a:srgbClr val="CC3300"/>
                </a:solidFill>
                <a:ea typeface="宋体" panose="02010600030101010101" pitchFamily="2" charset="-122"/>
              </a:rPr>
              <a:t>程序段</a:t>
            </a:r>
            <a:r>
              <a:rPr kumimoji="1" lang="en-US" altLang="zh-CN" sz="1900" b="1">
                <a:solidFill>
                  <a:srgbClr val="CC3300"/>
                </a:solidFill>
                <a:ea typeface="宋体" panose="02010600030101010101" pitchFamily="2" charset="-122"/>
              </a:rPr>
              <a:t>A: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int sumarrayrows(int a[M][N])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{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int i, j, sum=0;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    for  (</a:t>
            </a:r>
            <a:r>
              <a:rPr kumimoji="1" lang="en-US" altLang="zh-CN" sz="1900" b="1">
                <a:solidFill>
                  <a:srgbClr val="CC0000"/>
                </a:solidFill>
                <a:ea typeface="宋体" panose="02010600030101010101" pitchFamily="2" charset="-122"/>
              </a:rPr>
              <a:t>i=0; i&lt;M, i++)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	for </a:t>
            </a:r>
            <a:r>
              <a:rPr kumimoji="1" lang="en-US" altLang="zh-CN" sz="1900" b="1">
                <a:solidFill>
                  <a:srgbClr val="0000FF"/>
                </a:solidFill>
                <a:ea typeface="宋体" panose="02010600030101010101" pitchFamily="2" charset="-122"/>
              </a:rPr>
              <a:t>(j=0; j&lt;N, j++)  </a:t>
            </a:r>
            <a:r>
              <a:rPr kumimoji="1" lang="en-US" altLang="zh-CN" sz="1900" b="1">
                <a:ea typeface="宋体" panose="02010600030101010101" pitchFamily="2" charset="-122"/>
              </a:rPr>
              <a:t>sum+=a[i][j];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       return sum;</a:t>
            </a:r>
          </a:p>
          <a:p>
            <a:pPr eaLnBrk="1" hangingPunct="1">
              <a:lnSpc>
                <a:spcPct val="95000"/>
              </a:lnSpc>
            </a:pPr>
            <a:r>
              <a:rPr kumimoji="1" lang="en-US" altLang="zh-CN" sz="1900" b="1">
                <a:ea typeface="宋体" panose="02010600030101010101" pitchFamily="2" charset="-122"/>
              </a:rPr>
              <a:t> }</a:t>
            </a:r>
          </a:p>
        </p:txBody>
      </p:sp>
      <p:sp>
        <p:nvSpPr>
          <p:cNvPr id="736264" name="Rectangle 8">
            <a:extLst>
              <a:ext uri="{FF2B5EF4-FFF2-40B4-BE49-F238E27FC236}">
                <a16:creationId xmlns:a16="http://schemas.microsoft.com/office/drawing/2014/main" id="{B6B2A0EB-F041-3045-B809-69FE100F3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1388" y="1460500"/>
            <a:ext cx="27654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9140" tIns="43777" rIns="89140" bIns="43777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6600"/>
                </a:solidFill>
                <a:ea typeface="黑体" panose="02010609060101010101" pitchFamily="49" charset="-122"/>
              </a:rPr>
              <a:t>M=N=2048</a:t>
            </a: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时</a:t>
            </a:r>
            <a:r>
              <a:rPr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主存的布局</a:t>
            </a:r>
            <a:r>
              <a:rPr lang="en-US" altLang="zh-CN" sz="1800" b="1">
                <a:solidFill>
                  <a:srgbClr val="006600"/>
                </a:solidFill>
                <a:ea typeface="黑体" panose="02010609060101010101" pitchFamily="49" charset="-122"/>
              </a:rPr>
              <a:t>:</a:t>
            </a: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9DC6CB34-4EA0-5D4E-A2F5-E7DD7A556B2B}"/>
              </a:ext>
            </a:extLst>
          </p:cNvPr>
          <p:cNvGrpSpPr>
            <a:grpSpLocks/>
          </p:cNvGrpSpPr>
          <p:nvPr/>
        </p:nvGrpSpPr>
        <p:grpSpPr bwMode="auto">
          <a:xfrm>
            <a:off x="5346700" y="1835150"/>
            <a:ext cx="3556000" cy="4421188"/>
            <a:chOff x="3560" y="1196"/>
            <a:chExt cx="1985" cy="2728"/>
          </a:xfrm>
        </p:grpSpPr>
        <p:sp>
          <p:nvSpPr>
            <p:cNvPr id="136202" name="Rectangle 10">
              <a:extLst>
                <a:ext uri="{FF2B5EF4-FFF2-40B4-BE49-F238E27FC236}">
                  <a16:creationId xmlns:a16="http://schemas.microsoft.com/office/drawing/2014/main" id="{9E302FE7-474F-7F4A-9C4D-91E7970CC4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318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0x100</a:t>
              </a:r>
            </a:p>
          </p:txBody>
        </p:sp>
        <p:sp>
          <p:nvSpPr>
            <p:cNvPr id="136203" name="Rectangle 11">
              <a:extLst>
                <a:ext uri="{FF2B5EF4-FFF2-40B4-BE49-F238E27FC236}">
                  <a16:creationId xmlns:a16="http://schemas.microsoft.com/office/drawing/2014/main" id="{0BA3B0F9-A68F-854A-9919-A4C0ABD70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769"/>
              <a:ext cx="432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</a:t>
              </a:r>
              <a:r>
                <a:rPr lang="en-US" altLang="zh-CN" b="1">
                  <a:ea typeface="PMingLiU" panose="02020500000000000000" pitchFamily="18" charset="-120"/>
                </a:rPr>
                <a:t>7</a:t>
              </a:r>
              <a:r>
                <a:rPr lang="en-US" altLang="zh-TW" b="1">
                  <a:ea typeface="PMingLiU" panose="02020500000000000000" pitchFamily="18" charset="-120"/>
                </a:rPr>
                <a:t>C</a:t>
              </a:r>
            </a:p>
          </p:txBody>
        </p:sp>
        <p:sp>
          <p:nvSpPr>
            <p:cNvPr id="136204" name="Rectangle 12">
              <a:extLst>
                <a:ext uri="{FF2B5EF4-FFF2-40B4-BE49-F238E27FC236}">
                  <a16:creationId xmlns:a16="http://schemas.microsoft.com/office/drawing/2014/main" id="{A0EB87A6-4DE7-944B-8849-41437D3C32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913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</a:t>
              </a:r>
              <a:r>
                <a:rPr lang="en-US" altLang="zh-CN" b="1">
                  <a:ea typeface="PMingLiU" panose="02020500000000000000" pitchFamily="18" charset="-120"/>
                </a:rPr>
                <a:t>8</a:t>
              </a:r>
              <a:r>
                <a:rPr lang="en-US" altLang="zh-TW" b="1"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6205" name="Rectangle 13">
              <a:extLst>
                <a:ext uri="{FF2B5EF4-FFF2-40B4-BE49-F238E27FC236}">
                  <a16:creationId xmlns:a16="http://schemas.microsoft.com/office/drawing/2014/main" id="{2211078B-E848-B147-A25F-370FE6651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057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0x1</a:t>
              </a:r>
              <a:r>
                <a:rPr lang="en-US" altLang="zh-CN" b="1">
                  <a:ea typeface="PMingLiU" panose="02020500000000000000" pitchFamily="18" charset="-120"/>
                </a:rPr>
                <a:t>8</a:t>
              </a:r>
              <a:r>
                <a:rPr lang="en-US" altLang="zh-TW" b="1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6206" name="Rectangle 14">
              <a:extLst>
                <a:ext uri="{FF2B5EF4-FFF2-40B4-BE49-F238E27FC236}">
                  <a16:creationId xmlns:a16="http://schemas.microsoft.com/office/drawing/2014/main" id="{B395DE07-C1C3-F346-A85A-D553813662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538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0x400</a:t>
              </a:r>
            </a:p>
          </p:txBody>
        </p:sp>
        <p:sp>
          <p:nvSpPr>
            <p:cNvPr id="136207" name="Rectangle 15">
              <a:extLst>
                <a:ext uri="{FF2B5EF4-FFF2-40B4-BE49-F238E27FC236}">
                  <a16:creationId xmlns:a16="http://schemas.microsoft.com/office/drawing/2014/main" id="{97B1E149-8A14-7A42-AC88-1DCFE76F24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682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0x404</a:t>
              </a:r>
            </a:p>
          </p:txBody>
        </p:sp>
        <p:sp>
          <p:nvSpPr>
            <p:cNvPr id="136208" name="Rectangle 16">
              <a:extLst>
                <a:ext uri="{FF2B5EF4-FFF2-40B4-BE49-F238E27FC236}">
                  <a16:creationId xmlns:a16="http://schemas.microsoft.com/office/drawing/2014/main" id="{1938C420-94FC-EE4A-ADFC-FB3AE439CE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114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</a:t>
              </a:r>
              <a:r>
                <a:rPr lang="en-US" altLang="zh-CN" b="1">
                  <a:ea typeface="PMingLiU" panose="02020500000000000000" pitchFamily="18" charset="-120"/>
                </a:rPr>
                <a:t>c0</a:t>
              </a:r>
              <a:r>
                <a:rPr lang="en-US" altLang="zh-TW" b="1"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6209" name="Rectangle 17">
              <a:extLst>
                <a:ext uri="{FF2B5EF4-FFF2-40B4-BE49-F238E27FC236}">
                  <a16:creationId xmlns:a16="http://schemas.microsoft.com/office/drawing/2014/main" id="{496E57CB-4AC4-144E-B1B2-3F3C808A6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58"/>
              <a:ext cx="414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</a:t>
              </a:r>
              <a:r>
                <a:rPr lang="en-US" altLang="zh-CN" b="1">
                  <a:ea typeface="PMingLiU" panose="02020500000000000000" pitchFamily="18" charset="-120"/>
                </a:rPr>
                <a:t>c0</a:t>
              </a:r>
              <a:r>
                <a:rPr lang="en-US" altLang="zh-TW" b="1"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6210" name="Rectangle 18">
              <a:extLst>
                <a:ext uri="{FF2B5EF4-FFF2-40B4-BE49-F238E27FC236}">
                  <a16:creationId xmlns:a16="http://schemas.microsoft.com/office/drawing/2014/main" id="{BAC6F4B1-5A83-274B-9F4E-3E8CD97AD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196"/>
              <a:ext cx="439" cy="2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b="1">
                  <a:ea typeface="PMingLiU" panose="02020500000000000000" pitchFamily="18" charset="-120"/>
                </a:rPr>
                <a:t>0x0FC</a:t>
              </a:r>
            </a:p>
          </p:txBody>
        </p:sp>
        <p:sp>
          <p:nvSpPr>
            <p:cNvPr id="136211" name="Text Box 19">
              <a:extLst>
                <a:ext uri="{FF2B5EF4-FFF2-40B4-BE49-F238E27FC236}">
                  <a16:creationId xmlns:a16="http://schemas.microsoft.com/office/drawing/2014/main" id="{43CDEABF-77FB-7849-A6C6-D56062799D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1" y="1443"/>
              <a:ext cx="254" cy="2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solidFill>
                    <a:srgbClr val="006600"/>
                  </a:solidFill>
                  <a:ea typeface="黑体" panose="02010609060101010101" pitchFamily="49" charset="-122"/>
                </a:rPr>
                <a:t>指  令                            数   据</a:t>
              </a:r>
            </a:p>
          </p:txBody>
        </p:sp>
        <p:sp>
          <p:nvSpPr>
            <p:cNvPr id="136212" name="Text Box 20">
              <a:extLst>
                <a:ext uri="{FF2B5EF4-FFF2-40B4-BE49-F238E27FC236}">
                  <a16:creationId xmlns:a16="http://schemas.microsoft.com/office/drawing/2014/main" id="{F54A28FF-EC57-6643-8C23-B960E8608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2539"/>
              <a:ext cx="183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6213" name="Text Box 21">
              <a:extLst>
                <a:ext uri="{FF2B5EF4-FFF2-40B4-BE49-F238E27FC236}">
                  <a16:creationId xmlns:a16="http://schemas.microsoft.com/office/drawing/2014/main" id="{DAF91C7F-F0F7-0D48-ABE6-7F00C7C3E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3710"/>
              <a:ext cx="522" cy="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sum</a:t>
              </a:r>
            </a:p>
          </p:txBody>
        </p:sp>
        <p:sp>
          <p:nvSpPr>
            <p:cNvPr id="136214" name="Rectangle 22">
              <a:extLst>
                <a:ext uri="{FF2B5EF4-FFF2-40B4-BE49-F238E27FC236}">
                  <a16:creationId xmlns:a16="http://schemas.microsoft.com/office/drawing/2014/main" id="{331CEAEC-B378-9349-967F-31907988A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1962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b="1">
                  <a:ea typeface="PMingLiU" panose="02020500000000000000" pitchFamily="18" charset="-120"/>
                </a:rPr>
                <a:t>I</a:t>
              </a:r>
              <a:r>
                <a:rPr lang="en-US" altLang="zh-CN" b="1">
                  <a:ea typeface="PMingLiU" panose="02020500000000000000" pitchFamily="18" charset="-120"/>
                </a:rPr>
                <a:t>34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15" name="Rectangle 23">
              <a:extLst>
                <a:ext uri="{FF2B5EF4-FFF2-40B4-BE49-F238E27FC236}">
                  <a16:creationId xmlns:a16="http://schemas.microsoft.com/office/drawing/2014/main" id="{E3F3C710-3B71-4D49-AC29-68AFE98F54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106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b="1">
                  <a:ea typeface="PMingLiU" panose="02020500000000000000" pitchFamily="18" charset="-120"/>
                </a:rPr>
                <a:t>I</a:t>
              </a:r>
              <a:r>
                <a:rPr lang="en-US" altLang="zh-CN" b="1">
                  <a:ea typeface="PMingLiU" panose="02020500000000000000" pitchFamily="18" charset="-120"/>
                </a:rPr>
                <a:t>35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16" name="Rectangle 24">
              <a:extLst>
                <a:ext uri="{FF2B5EF4-FFF2-40B4-BE49-F238E27FC236}">
                  <a16:creationId xmlns:a16="http://schemas.microsoft.com/office/drawing/2014/main" id="{C7580DF1-893D-4A49-A36A-2BCBB9B489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5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b="1">
                  <a:ea typeface="PMingLiU" panose="02020500000000000000" pitchFamily="18" charset="-120"/>
                </a:rPr>
                <a:t>a[0]</a:t>
              </a:r>
              <a:r>
                <a:rPr lang="en-US" altLang="zh-CN" b="1">
                  <a:ea typeface="PMingLiU" panose="02020500000000000000" pitchFamily="18" charset="-120"/>
                </a:rPr>
                <a:t>[0]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17" name="Rectangle 25">
              <a:extLst>
                <a:ext uri="{FF2B5EF4-FFF2-40B4-BE49-F238E27FC236}">
                  <a16:creationId xmlns:a16="http://schemas.microsoft.com/office/drawing/2014/main" id="{E3C42792-B414-D44D-9FAA-16A1E298C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731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PMingLiU" panose="02020500000000000000" pitchFamily="18" charset="-120"/>
                </a:rPr>
                <a:t>a[0]</a:t>
              </a:r>
              <a:r>
                <a:rPr lang="en-US" altLang="zh-TW" b="1">
                  <a:ea typeface="PMingLiU" panose="02020500000000000000" pitchFamily="18" charset="-120"/>
                </a:rPr>
                <a:t>[1]</a:t>
              </a:r>
            </a:p>
          </p:txBody>
        </p:sp>
        <p:sp>
          <p:nvSpPr>
            <p:cNvPr id="136218" name="Rectangle 26">
              <a:extLst>
                <a:ext uri="{FF2B5EF4-FFF2-40B4-BE49-F238E27FC236}">
                  <a16:creationId xmlns:a16="http://schemas.microsoft.com/office/drawing/2014/main" id="{726E248F-8BFC-7B46-9F80-D27B76FC2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875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800" b="1">
                  <a:latin typeface="Times New Roman" panose="02020603050405020304" pitchFamily="18" charset="0"/>
                  <a:ea typeface="华文新魏" panose="02010800040101010101" pitchFamily="2" charset="-122"/>
                </a:rPr>
                <a:t>• • •</a:t>
              </a:r>
              <a:endParaRPr lang="en-US" altLang="zh-TW" sz="1800" b="1">
                <a:ea typeface="华文新魏" panose="02010800040101010101" pitchFamily="2" charset="-122"/>
              </a:endParaRPr>
            </a:p>
          </p:txBody>
        </p:sp>
        <p:sp>
          <p:nvSpPr>
            <p:cNvPr id="136219" name="Rectangle 27">
              <a:extLst>
                <a:ext uri="{FF2B5EF4-FFF2-40B4-BE49-F238E27FC236}">
                  <a16:creationId xmlns:a16="http://schemas.microsoft.com/office/drawing/2014/main" id="{717C9645-517A-2B40-871B-946D2A6E62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01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PMingLiU" panose="02020500000000000000" pitchFamily="18" charset="-120"/>
                </a:rPr>
                <a:t>a[0]</a:t>
              </a:r>
              <a:r>
                <a:rPr lang="en-US" altLang="zh-TW" b="1">
                  <a:ea typeface="PMingLiU" panose="02020500000000000000" pitchFamily="18" charset="-120"/>
                </a:rPr>
                <a:t>[</a:t>
              </a:r>
              <a:r>
                <a:rPr lang="en-US" altLang="zh-CN" b="1">
                  <a:ea typeface="PMingLiU" panose="02020500000000000000" pitchFamily="18" charset="-120"/>
                </a:rPr>
                <a:t>2047</a:t>
              </a:r>
              <a:r>
                <a:rPr lang="en-US" altLang="zh-TW" b="1"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6220" name="Rectangle 28">
              <a:extLst>
                <a:ext uri="{FF2B5EF4-FFF2-40B4-BE49-F238E27FC236}">
                  <a16:creationId xmlns:a16="http://schemas.microsoft.com/office/drawing/2014/main" id="{3D97C3FC-1EBA-B741-A47E-F308256EED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16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PMingLiU" panose="02020500000000000000" pitchFamily="18" charset="-120"/>
                </a:rPr>
                <a:t>a[1]</a:t>
              </a:r>
              <a:r>
                <a:rPr lang="en-US" altLang="zh-TW" b="1">
                  <a:ea typeface="PMingLiU" panose="02020500000000000000" pitchFamily="18" charset="-120"/>
                </a:rPr>
                <a:t>[</a:t>
              </a:r>
              <a:r>
                <a:rPr lang="en-US" altLang="zh-CN" b="1">
                  <a:ea typeface="PMingLiU" panose="02020500000000000000" pitchFamily="18" charset="-120"/>
                </a:rPr>
                <a:t>0</a:t>
              </a:r>
              <a:r>
                <a:rPr lang="en-US" altLang="zh-TW" b="1"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6221" name="Rectangle 29">
              <a:extLst>
                <a:ext uri="{FF2B5EF4-FFF2-40B4-BE49-F238E27FC236}">
                  <a16:creationId xmlns:a16="http://schemas.microsoft.com/office/drawing/2014/main" id="{328B3A92-6B5D-254B-8206-1871788A9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30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PMingLiU" panose="02020500000000000000" pitchFamily="18" charset="-120"/>
                </a:rPr>
                <a:t>a[1]</a:t>
              </a:r>
              <a:r>
                <a:rPr lang="en-US" altLang="zh-TW" b="1">
                  <a:ea typeface="PMingLiU" panose="02020500000000000000" pitchFamily="18" charset="-120"/>
                </a:rPr>
                <a:t>[</a:t>
              </a:r>
              <a:r>
                <a:rPr lang="en-US" altLang="zh-CN" b="1">
                  <a:ea typeface="PMingLiU" panose="02020500000000000000" pitchFamily="18" charset="-120"/>
                </a:rPr>
                <a:t>1</a:t>
              </a:r>
              <a:r>
                <a:rPr lang="en-US" altLang="zh-TW" b="1"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6222" name="Rectangle 30">
              <a:extLst>
                <a:ext uri="{FF2B5EF4-FFF2-40B4-BE49-F238E27FC236}">
                  <a16:creationId xmlns:a16="http://schemas.microsoft.com/office/drawing/2014/main" id="{52471C03-D2AB-674C-A8F0-9EA921D6A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250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6223" name="Rectangle 31">
              <a:extLst>
                <a:ext uri="{FF2B5EF4-FFF2-40B4-BE49-F238E27FC236}">
                  <a16:creationId xmlns:a16="http://schemas.microsoft.com/office/drawing/2014/main" id="{47201D7D-7A7A-0D4C-B246-BEAA32F08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7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6224" name="Rectangle 32">
              <a:extLst>
                <a:ext uri="{FF2B5EF4-FFF2-40B4-BE49-F238E27FC236}">
                  <a16:creationId xmlns:a16="http://schemas.microsoft.com/office/drawing/2014/main" id="{78EBF588-2219-0642-BC3A-D23C7F767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451"/>
              <a:ext cx="818" cy="3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6225" name="Rectangle 33">
              <a:extLst>
                <a:ext uri="{FF2B5EF4-FFF2-40B4-BE49-F238E27FC236}">
                  <a16:creationId xmlns:a16="http://schemas.microsoft.com/office/drawing/2014/main" id="{AF45EFCE-DF75-4A4D-AD16-A56630517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20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b="1">
                  <a:ea typeface="PMingLiU" panose="02020500000000000000" pitchFamily="18" charset="-120"/>
                </a:rPr>
                <a:t>I</a:t>
              </a:r>
              <a:r>
                <a:rPr lang="en-US" altLang="zh-CN" b="1">
                  <a:ea typeface="PMingLiU" panose="02020500000000000000" pitchFamily="18" charset="-120"/>
                </a:rPr>
                <a:t>1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26" name="Rectangle 34">
              <a:extLst>
                <a:ext uri="{FF2B5EF4-FFF2-40B4-BE49-F238E27FC236}">
                  <a16:creationId xmlns:a16="http://schemas.microsoft.com/office/drawing/2014/main" id="{373B9EB1-C671-4643-86C8-AF4B022B04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35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b="1">
                  <a:ea typeface="PMingLiU" panose="02020500000000000000" pitchFamily="18" charset="-120"/>
                </a:rPr>
                <a:t>I</a:t>
              </a:r>
              <a:r>
                <a:rPr lang="en-US" altLang="zh-CN" b="1">
                  <a:ea typeface="PMingLiU" panose="02020500000000000000" pitchFamily="18" charset="-120"/>
                </a:rPr>
                <a:t>2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27" name="Rectangle 35">
              <a:extLst>
                <a:ext uri="{FF2B5EF4-FFF2-40B4-BE49-F238E27FC236}">
                  <a16:creationId xmlns:a16="http://schemas.microsoft.com/office/drawing/2014/main" id="{9E04BECD-8566-9D41-85A2-A7C9CAF90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834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b="1">
                  <a:ea typeface="PMingLiU" panose="02020500000000000000" pitchFamily="18" charset="-120"/>
                </a:rPr>
                <a:t>I33</a:t>
              </a:r>
              <a:endParaRPr lang="en-US" altLang="zh-TW" b="1">
                <a:ea typeface="PMingLiU" panose="02020500000000000000" pitchFamily="18" charset="-120"/>
              </a:endParaRPr>
            </a:p>
          </p:txBody>
        </p:sp>
        <p:sp>
          <p:nvSpPr>
            <p:cNvPr id="136228" name="Rectangle 36">
              <a:extLst>
                <a:ext uri="{FF2B5EF4-FFF2-40B4-BE49-F238E27FC236}">
                  <a16:creationId xmlns:a16="http://schemas.microsoft.com/office/drawing/2014/main" id="{35C0E4F9-3E75-D64E-91B5-F6A9FB740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497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grpSp>
          <p:nvGrpSpPr>
            <p:cNvPr id="136229" name="Group 37">
              <a:extLst>
                <a:ext uri="{FF2B5EF4-FFF2-40B4-BE49-F238E27FC236}">
                  <a16:creationId xmlns:a16="http://schemas.microsoft.com/office/drawing/2014/main" id="{CB257A20-5E77-ED4D-889D-498D27B75A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3" y="1497"/>
              <a:ext cx="202" cy="416"/>
              <a:chOff x="5023" y="1497"/>
              <a:chExt cx="202" cy="416"/>
            </a:xfrm>
          </p:grpSpPr>
          <p:sp>
            <p:nvSpPr>
              <p:cNvPr id="136231" name="Line 38">
                <a:extLst>
                  <a:ext uri="{FF2B5EF4-FFF2-40B4-BE49-F238E27FC236}">
                    <a16:creationId xmlns:a16="http://schemas.microsoft.com/office/drawing/2014/main" id="{B99BF869-F3F3-0F40-B338-0163102EBA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3" y="1913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232" name="Line 39">
                <a:extLst>
                  <a:ext uri="{FF2B5EF4-FFF2-40B4-BE49-F238E27FC236}">
                    <a16:creationId xmlns:a16="http://schemas.microsoft.com/office/drawing/2014/main" id="{F0FA17FD-CF5C-A14C-9A83-D123ADE031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25" y="1497"/>
                <a:ext cx="0" cy="416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6233" name="Line 40">
                <a:extLst>
                  <a:ext uri="{FF2B5EF4-FFF2-40B4-BE49-F238E27FC236}">
                    <a16:creationId xmlns:a16="http://schemas.microsoft.com/office/drawing/2014/main" id="{24B79FD0-C1FB-DD43-80FE-1C31E167B5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23" y="1497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6230" name="Text Box 41">
              <a:extLst>
                <a:ext uri="{FF2B5EF4-FFF2-40B4-BE49-F238E27FC236}">
                  <a16:creationId xmlns:a16="http://schemas.microsoft.com/office/drawing/2014/main" id="{9758CF59-8915-EB41-84F0-4BF93288B6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581"/>
              <a:ext cx="70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CC00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fo</a:t>
              </a:r>
              <a:r>
                <a:rPr kumimoji="1" lang="en-US" altLang="zh-CN" sz="1800" b="1">
                  <a:solidFill>
                    <a:srgbClr val="CC00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r</a:t>
              </a:r>
              <a:r>
                <a:rPr kumimoji="1" lang="zh-CN" altLang="en-US" sz="1800">
                  <a:solidFill>
                    <a:srgbClr val="CC0000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循环体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6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6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6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260" grpId="0"/>
      <p:bldP spid="736262" grpId="0" animBg="1"/>
      <p:bldP spid="736263" grpId="0" animBg="1"/>
      <p:bldP spid="7362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F5E2BC89-1899-7249-B834-1A82F56F10C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程序的局部性原理举例</a:t>
            </a:r>
            <a:r>
              <a:rPr lang="en-US" altLang="zh-CN"/>
              <a:t>2</a:t>
            </a:r>
          </a:p>
        </p:txBody>
      </p:sp>
      <p:sp>
        <p:nvSpPr>
          <p:cNvPr id="737283" name="Rectangle 3">
            <a:extLst>
              <a:ext uri="{FF2B5EF4-FFF2-40B4-BE49-F238E27FC236}">
                <a16:creationId xmlns:a16="http://schemas.microsoft.com/office/drawing/2014/main" id="{71C77683-510A-7445-BB92-4EB030B98B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438" y="1089025"/>
            <a:ext cx="6156325" cy="4716463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程序段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的时间局部性和空间局部性分析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a[0][0], a[0][1] ,……,  a[0][2047]; a[1][0], a[1][1],…… ,a[1][2047];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，与存放顺序一致，故空间局部性好！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因为每个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a[i][j]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只被访问一次，故时间局部性差！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单个变量不考虑空间局部性；每次循环都要访问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，所以其时间局部性较好！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循环体内指令按序连续存放，所以空间局部性好！ 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循环体被连续重复执行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2048x2048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次，所以时间局部性好！</a:t>
            </a:r>
          </a:p>
        </p:txBody>
      </p:sp>
      <p:sp>
        <p:nvSpPr>
          <p:cNvPr id="137220" name="Text Box 4">
            <a:extLst>
              <a:ext uri="{FF2B5EF4-FFF2-40B4-BE49-F238E27FC236}">
                <a16:creationId xmlns:a16="http://schemas.microsoft.com/office/drawing/2014/main" id="{0BD0BADA-511C-3143-8C76-7BEFD18E2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170613"/>
            <a:ext cx="7507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7221" name="Group 6">
            <a:extLst>
              <a:ext uri="{FF2B5EF4-FFF2-40B4-BE49-F238E27FC236}">
                <a16:creationId xmlns:a16="http://schemas.microsoft.com/office/drawing/2014/main" id="{D445A5F5-1E7D-924F-96E1-897DEE88AC67}"/>
              </a:ext>
            </a:extLst>
          </p:cNvPr>
          <p:cNvGrpSpPr>
            <a:grpSpLocks/>
          </p:cNvGrpSpPr>
          <p:nvPr/>
        </p:nvGrpSpPr>
        <p:grpSpPr bwMode="auto">
          <a:xfrm>
            <a:off x="6011863" y="908050"/>
            <a:ext cx="3151187" cy="4338638"/>
            <a:chOff x="3560" y="1196"/>
            <a:chExt cx="1985" cy="2733"/>
          </a:xfrm>
        </p:grpSpPr>
        <p:sp>
          <p:nvSpPr>
            <p:cNvPr id="137223" name="Rectangle 7">
              <a:extLst>
                <a:ext uri="{FF2B5EF4-FFF2-40B4-BE49-F238E27FC236}">
                  <a16:creationId xmlns:a16="http://schemas.microsoft.com/office/drawing/2014/main" id="{ED7AEDE9-5611-224C-8848-C8A738003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31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0x100</a:t>
              </a:r>
            </a:p>
          </p:txBody>
        </p:sp>
        <p:sp>
          <p:nvSpPr>
            <p:cNvPr id="137224" name="Rectangle 8">
              <a:extLst>
                <a:ext uri="{FF2B5EF4-FFF2-40B4-BE49-F238E27FC236}">
                  <a16:creationId xmlns:a16="http://schemas.microsoft.com/office/drawing/2014/main" id="{22CBF077-1B5D-784A-BE5A-7691A61EB2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769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7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</a:t>
              </a:r>
            </a:p>
          </p:txBody>
        </p:sp>
        <p:sp>
          <p:nvSpPr>
            <p:cNvPr id="137225" name="Rectangle 9">
              <a:extLst>
                <a:ext uri="{FF2B5EF4-FFF2-40B4-BE49-F238E27FC236}">
                  <a16:creationId xmlns:a16="http://schemas.microsoft.com/office/drawing/2014/main" id="{B56A0BFD-E32F-5D43-B162-36B510558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913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8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7226" name="Rectangle 10">
              <a:extLst>
                <a:ext uri="{FF2B5EF4-FFF2-40B4-BE49-F238E27FC236}">
                  <a16:creationId xmlns:a16="http://schemas.microsoft.com/office/drawing/2014/main" id="{D6EE172A-5E80-174E-985F-FEEBE25CC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057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8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7227" name="Rectangle 11">
              <a:extLst>
                <a:ext uri="{FF2B5EF4-FFF2-40B4-BE49-F238E27FC236}">
                  <a16:creationId xmlns:a16="http://schemas.microsoft.com/office/drawing/2014/main" id="{1D838AE4-A661-1242-9811-42C379968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53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0x400</a:t>
              </a:r>
            </a:p>
          </p:txBody>
        </p:sp>
        <p:sp>
          <p:nvSpPr>
            <p:cNvPr id="137228" name="Rectangle 12">
              <a:extLst>
                <a:ext uri="{FF2B5EF4-FFF2-40B4-BE49-F238E27FC236}">
                  <a16:creationId xmlns:a16="http://schemas.microsoft.com/office/drawing/2014/main" id="{67DC6158-3E22-154B-8C42-5E62DECD6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682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0x404</a:t>
              </a:r>
            </a:p>
          </p:txBody>
        </p:sp>
        <p:sp>
          <p:nvSpPr>
            <p:cNvPr id="137229" name="Rectangle 13">
              <a:extLst>
                <a:ext uri="{FF2B5EF4-FFF2-40B4-BE49-F238E27FC236}">
                  <a16:creationId xmlns:a16="http://schemas.microsoft.com/office/drawing/2014/main" id="{2C09F643-3DFE-F14A-8CD2-E4E396CA7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114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7230" name="Rectangle 14">
              <a:extLst>
                <a:ext uri="{FF2B5EF4-FFF2-40B4-BE49-F238E27FC236}">
                  <a16:creationId xmlns:a16="http://schemas.microsoft.com/office/drawing/2014/main" id="{94E53C52-8199-9546-92A9-4635BC770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5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7231" name="Rectangle 15">
              <a:extLst>
                <a:ext uri="{FF2B5EF4-FFF2-40B4-BE49-F238E27FC236}">
                  <a16:creationId xmlns:a16="http://schemas.microsoft.com/office/drawing/2014/main" id="{217C511A-3AD1-CA4F-8F8B-F13853F3D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196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0x0FC</a:t>
              </a:r>
            </a:p>
          </p:txBody>
        </p:sp>
        <p:sp>
          <p:nvSpPr>
            <p:cNvPr id="137232" name="Text Box 16">
              <a:extLst>
                <a:ext uri="{FF2B5EF4-FFF2-40B4-BE49-F238E27FC236}">
                  <a16:creationId xmlns:a16="http://schemas.microsoft.com/office/drawing/2014/main" id="{8D109F53-CE56-324B-B625-BCC6C801FB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8" y="1443"/>
              <a:ext cx="287" cy="2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1800" b="1">
                  <a:solidFill>
                    <a:srgbClr val="006600"/>
                  </a:solidFill>
                  <a:ea typeface="黑体" panose="02010609060101010101" pitchFamily="49" charset="-122"/>
                </a:rPr>
                <a:t>指  令                            数   据</a:t>
              </a:r>
            </a:p>
          </p:txBody>
        </p:sp>
        <p:sp>
          <p:nvSpPr>
            <p:cNvPr id="137233" name="Text Box 17">
              <a:extLst>
                <a:ext uri="{FF2B5EF4-FFF2-40B4-BE49-F238E27FC236}">
                  <a16:creationId xmlns:a16="http://schemas.microsoft.com/office/drawing/2014/main" id="{1E347DFF-D091-074D-B896-FA0DD5B7C6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2539"/>
              <a:ext cx="18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7234" name="Text Box 18">
              <a:extLst>
                <a:ext uri="{FF2B5EF4-FFF2-40B4-BE49-F238E27FC236}">
                  <a16:creationId xmlns:a16="http://schemas.microsoft.com/office/drawing/2014/main" id="{48794AE2-FB48-634F-B186-A7A42C1E79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3710"/>
              <a:ext cx="52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sum</a:t>
              </a:r>
            </a:p>
          </p:txBody>
        </p:sp>
        <p:sp>
          <p:nvSpPr>
            <p:cNvPr id="137235" name="Rectangle 19">
              <a:extLst>
                <a:ext uri="{FF2B5EF4-FFF2-40B4-BE49-F238E27FC236}">
                  <a16:creationId xmlns:a16="http://schemas.microsoft.com/office/drawing/2014/main" id="{9322B50F-E9BF-574A-A34B-E5DFF667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1962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34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36" name="Rectangle 20">
              <a:extLst>
                <a:ext uri="{FF2B5EF4-FFF2-40B4-BE49-F238E27FC236}">
                  <a16:creationId xmlns:a16="http://schemas.microsoft.com/office/drawing/2014/main" id="{47C33292-F45B-3949-B7D0-8D617D7140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106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35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37" name="Rectangle 21">
              <a:extLst>
                <a:ext uri="{FF2B5EF4-FFF2-40B4-BE49-F238E27FC236}">
                  <a16:creationId xmlns:a16="http://schemas.microsoft.com/office/drawing/2014/main" id="{8ED81870-D1BF-A245-917E-E095DE3CC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5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[0]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38" name="Rectangle 22">
              <a:extLst>
                <a:ext uri="{FF2B5EF4-FFF2-40B4-BE49-F238E27FC236}">
                  <a16:creationId xmlns:a16="http://schemas.microsoft.com/office/drawing/2014/main" id="{38D617BF-E00E-D04D-8410-FD9C8CF607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731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[1]</a:t>
              </a:r>
            </a:p>
          </p:txBody>
        </p:sp>
        <p:sp>
          <p:nvSpPr>
            <p:cNvPr id="137239" name="Rectangle 23">
              <a:extLst>
                <a:ext uri="{FF2B5EF4-FFF2-40B4-BE49-F238E27FC236}">
                  <a16:creationId xmlns:a16="http://schemas.microsoft.com/office/drawing/2014/main" id="{50189BB6-05AD-7343-AF19-D7A1FFE0C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875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800" b="1">
                  <a:latin typeface="Times New Roman" panose="02020603050405020304" pitchFamily="18" charset="0"/>
                  <a:ea typeface="华文新魏" panose="02010800040101010101" pitchFamily="2" charset="-122"/>
                </a:rPr>
                <a:t>• • •</a:t>
              </a:r>
              <a:endParaRPr lang="en-US" altLang="zh-TW" sz="1800" b="1">
                <a:ea typeface="华文新魏" panose="02010800040101010101" pitchFamily="2" charset="-122"/>
              </a:endParaRPr>
            </a:p>
          </p:txBody>
        </p:sp>
        <p:sp>
          <p:nvSpPr>
            <p:cNvPr id="137240" name="Rectangle 24">
              <a:extLst>
                <a:ext uri="{FF2B5EF4-FFF2-40B4-BE49-F238E27FC236}">
                  <a16:creationId xmlns:a16="http://schemas.microsoft.com/office/drawing/2014/main" id="{2AFE37BB-52A0-B540-B7F2-01E01FCCF2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01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2047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7241" name="Rectangle 25">
              <a:extLst>
                <a:ext uri="{FF2B5EF4-FFF2-40B4-BE49-F238E27FC236}">
                  <a16:creationId xmlns:a16="http://schemas.microsoft.com/office/drawing/2014/main" id="{D0E3D579-B39B-464E-A99C-71E8A82A09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16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a[1]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7242" name="Rectangle 26">
              <a:extLst>
                <a:ext uri="{FF2B5EF4-FFF2-40B4-BE49-F238E27FC236}">
                  <a16:creationId xmlns:a16="http://schemas.microsoft.com/office/drawing/2014/main" id="{363B4EB0-BC96-714D-BA09-5EB115B86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30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a[1]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1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7243" name="Rectangle 27">
              <a:extLst>
                <a:ext uri="{FF2B5EF4-FFF2-40B4-BE49-F238E27FC236}">
                  <a16:creationId xmlns:a16="http://schemas.microsoft.com/office/drawing/2014/main" id="{38A75D43-BD4F-3A46-B521-6747397694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250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7244" name="Rectangle 28">
              <a:extLst>
                <a:ext uri="{FF2B5EF4-FFF2-40B4-BE49-F238E27FC236}">
                  <a16:creationId xmlns:a16="http://schemas.microsoft.com/office/drawing/2014/main" id="{CE20BEED-7AAD-8840-9B8B-570D99AE3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7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45" name="Rectangle 29">
              <a:extLst>
                <a:ext uri="{FF2B5EF4-FFF2-40B4-BE49-F238E27FC236}">
                  <a16:creationId xmlns:a16="http://schemas.microsoft.com/office/drawing/2014/main" id="{AEA5A250-9A31-C242-8D9C-BF9989194C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451"/>
              <a:ext cx="818" cy="3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7246" name="Rectangle 30">
              <a:extLst>
                <a:ext uri="{FF2B5EF4-FFF2-40B4-BE49-F238E27FC236}">
                  <a16:creationId xmlns:a16="http://schemas.microsoft.com/office/drawing/2014/main" id="{0447AB50-A3CF-3542-A3B7-123D02542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20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1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47" name="Rectangle 31">
              <a:extLst>
                <a:ext uri="{FF2B5EF4-FFF2-40B4-BE49-F238E27FC236}">
                  <a16:creationId xmlns:a16="http://schemas.microsoft.com/office/drawing/2014/main" id="{66A14F17-BBE8-6B49-87B4-D0B2BE954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35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2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48" name="Rectangle 32">
              <a:extLst>
                <a:ext uri="{FF2B5EF4-FFF2-40B4-BE49-F238E27FC236}">
                  <a16:creationId xmlns:a16="http://schemas.microsoft.com/office/drawing/2014/main" id="{F762E1AE-E3B2-2A49-83AF-857CB2BF9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834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I33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7249" name="Rectangle 33">
              <a:extLst>
                <a:ext uri="{FF2B5EF4-FFF2-40B4-BE49-F238E27FC236}">
                  <a16:creationId xmlns:a16="http://schemas.microsoft.com/office/drawing/2014/main" id="{1372B1D0-9DFE-DE4E-9ABC-7442BB98AA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497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grpSp>
          <p:nvGrpSpPr>
            <p:cNvPr id="137250" name="Group 34">
              <a:extLst>
                <a:ext uri="{FF2B5EF4-FFF2-40B4-BE49-F238E27FC236}">
                  <a16:creationId xmlns:a16="http://schemas.microsoft.com/office/drawing/2014/main" id="{405EE504-797F-3247-B1B7-1DE6919547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3" y="1497"/>
              <a:ext cx="202" cy="416"/>
              <a:chOff x="5023" y="1497"/>
              <a:chExt cx="202" cy="416"/>
            </a:xfrm>
          </p:grpSpPr>
          <p:sp>
            <p:nvSpPr>
              <p:cNvPr id="137252" name="Line 35">
                <a:extLst>
                  <a:ext uri="{FF2B5EF4-FFF2-40B4-BE49-F238E27FC236}">
                    <a16:creationId xmlns:a16="http://schemas.microsoft.com/office/drawing/2014/main" id="{1BC74AAB-3FBC-4C48-B8DE-C372D73D69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3" y="1913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253" name="Line 36">
                <a:extLst>
                  <a:ext uri="{FF2B5EF4-FFF2-40B4-BE49-F238E27FC236}">
                    <a16:creationId xmlns:a16="http://schemas.microsoft.com/office/drawing/2014/main" id="{729ACCAF-EE8F-7244-9536-C8CDC4A052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25" y="1497"/>
                <a:ext cx="0" cy="416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7254" name="Line 37">
                <a:extLst>
                  <a:ext uri="{FF2B5EF4-FFF2-40B4-BE49-F238E27FC236}">
                    <a16:creationId xmlns:a16="http://schemas.microsoft.com/office/drawing/2014/main" id="{33572A6F-55A8-DC45-81F2-A39518271E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23" y="1497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7251" name="Text Box 38">
              <a:extLst>
                <a:ext uri="{FF2B5EF4-FFF2-40B4-BE49-F238E27FC236}">
                  <a16:creationId xmlns:a16="http://schemas.microsoft.com/office/drawing/2014/main" id="{F80DD10A-8F05-544F-BCCB-8E45B3D943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581"/>
              <a:ext cx="70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fo</a:t>
              </a:r>
              <a:r>
                <a:rPr kumimoji="1" lang="en-US" altLang="zh-CN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r</a:t>
              </a:r>
              <a:r>
                <a:rPr kumimoji="1" lang="zh-CN" altLang="en-US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循环体</a:t>
              </a:r>
            </a:p>
          </p:txBody>
        </p:sp>
      </p:grpSp>
      <p:sp>
        <p:nvSpPr>
          <p:cNvPr id="737319" name="Text Box 39">
            <a:extLst>
              <a:ext uri="{FF2B5EF4-FFF2-40B4-BE49-F238E27FC236}">
                <a16:creationId xmlns:a16="http://schemas.microsoft.com/office/drawing/2014/main" id="{B2412FE4-48C5-1E4D-9DAA-4A944DC2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5724525"/>
            <a:ext cx="4700587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实际上 优化的编译器使循环中的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分配在寄存器中，最后才写回存储器！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2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7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7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37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>
            <a:extLst>
              <a:ext uri="{FF2B5EF4-FFF2-40B4-BE49-F238E27FC236}">
                <a16:creationId xmlns:a16="http://schemas.microsoft.com/office/drawing/2014/main" id="{68DCE522-42F8-6E41-B6E9-940885E0D86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程序的局部性原理举例</a:t>
            </a:r>
            <a:r>
              <a:rPr lang="en-US" altLang="zh-CN"/>
              <a:t>2</a:t>
            </a:r>
          </a:p>
        </p:txBody>
      </p:sp>
      <p:sp>
        <p:nvSpPr>
          <p:cNvPr id="738307" name="Rectangle 3">
            <a:extLst>
              <a:ext uri="{FF2B5EF4-FFF2-40B4-BE49-F238E27FC236}">
                <a16:creationId xmlns:a16="http://schemas.microsoft.com/office/drawing/2014/main" id="{6800ACDB-E136-3D40-9EC4-E390DC52A56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1925" y="998538"/>
            <a:ext cx="5715000" cy="3946525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程序段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的时间局部性和空间局部性分析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数组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访问顺序为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a[0][0], a[1][0] ,……,  a[2047][0]; a[0][1], a[1][1],…… ,a[2047][1];……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，与存放顺序不一致，每次跳过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2048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个单元，若交换单位小于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2KB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，则没有空间局部性！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    （时间局部性差，同程序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（同程序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 </a:t>
            </a:r>
            <a:r>
              <a:rPr lang="en-US" altLang="zh-CN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</a:t>
            </a:r>
            <a:r>
              <a:rPr lang="zh-CN" altLang="en-US" sz="2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循环体：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（同程序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38244" name="Text Box 4">
            <a:extLst>
              <a:ext uri="{FF2B5EF4-FFF2-40B4-BE49-F238E27FC236}">
                <a16:creationId xmlns:a16="http://schemas.microsoft.com/office/drawing/2014/main" id="{FFFB36A0-0E4A-384C-AF57-4DB62DBE0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6170613"/>
            <a:ext cx="7507288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38245" name="Group 5">
            <a:extLst>
              <a:ext uri="{FF2B5EF4-FFF2-40B4-BE49-F238E27FC236}">
                <a16:creationId xmlns:a16="http://schemas.microsoft.com/office/drawing/2014/main" id="{1B90E125-A0BD-304E-A476-D1E2383E4314}"/>
              </a:ext>
            </a:extLst>
          </p:cNvPr>
          <p:cNvGrpSpPr>
            <a:grpSpLocks/>
          </p:cNvGrpSpPr>
          <p:nvPr/>
        </p:nvGrpSpPr>
        <p:grpSpPr bwMode="auto">
          <a:xfrm>
            <a:off x="5973763" y="863600"/>
            <a:ext cx="3151187" cy="4338638"/>
            <a:chOff x="3560" y="1196"/>
            <a:chExt cx="1985" cy="2733"/>
          </a:xfrm>
        </p:grpSpPr>
        <p:sp>
          <p:nvSpPr>
            <p:cNvPr id="138248" name="Rectangle 6">
              <a:extLst>
                <a:ext uri="{FF2B5EF4-FFF2-40B4-BE49-F238E27FC236}">
                  <a16:creationId xmlns:a16="http://schemas.microsoft.com/office/drawing/2014/main" id="{8E6F4FFE-EE24-8949-A5D5-380E8BB19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31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0x100</a:t>
              </a:r>
            </a:p>
          </p:txBody>
        </p:sp>
        <p:sp>
          <p:nvSpPr>
            <p:cNvPr id="138249" name="Rectangle 7">
              <a:extLst>
                <a:ext uri="{FF2B5EF4-FFF2-40B4-BE49-F238E27FC236}">
                  <a16:creationId xmlns:a16="http://schemas.microsoft.com/office/drawing/2014/main" id="{69FDAE14-A51D-C242-A088-EE48C1457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769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7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</a:t>
              </a:r>
            </a:p>
          </p:txBody>
        </p:sp>
        <p:sp>
          <p:nvSpPr>
            <p:cNvPr id="138250" name="Rectangle 8">
              <a:extLst>
                <a:ext uri="{FF2B5EF4-FFF2-40B4-BE49-F238E27FC236}">
                  <a16:creationId xmlns:a16="http://schemas.microsoft.com/office/drawing/2014/main" id="{1801FCA7-7CE2-BE44-A6C6-A822D0F6CF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1913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8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8251" name="Rectangle 9">
              <a:extLst>
                <a:ext uri="{FF2B5EF4-FFF2-40B4-BE49-F238E27FC236}">
                  <a16:creationId xmlns:a16="http://schemas.microsoft.com/office/drawing/2014/main" id="{911BDB2E-BCC4-6F4C-9EE8-6AA8BEF2E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057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0x1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8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8252" name="Rectangle 10">
              <a:extLst>
                <a:ext uri="{FF2B5EF4-FFF2-40B4-BE49-F238E27FC236}">
                  <a16:creationId xmlns:a16="http://schemas.microsoft.com/office/drawing/2014/main" id="{9EED4AC4-F760-4448-83F3-C430EED9F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53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0x400</a:t>
              </a:r>
            </a:p>
          </p:txBody>
        </p:sp>
        <p:sp>
          <p:nvSpPr>
            <p:cNvPr id="138253" name="Rectangle 11">
              <a:extLst>
                <a:ext uri="{FF2B5EF4-FFF2-40B4-BE49-F238E27FC236}">
                  <a16:creationId xmlns:a16="http://schemas.microsoft.com/office/drawing/2014/main" id="{E97F7EE2-F39B-BE4F-A376-610922F163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2682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0x404</a:t>
              </a:r>
            </a:p>
          </p:txBody>
        </p:sp>
        <p:sp>
          <p:nvSpPr>
            <p:cNvPr id="138254" name="Rectangle 12">
              <a:extLst>
                <a:ext uri="{FF2B5EF4-FFF2-40B4-BE49-F238E27FC236}">
                  <a16:creationId xmlns:a16="http://schemas.microsoft.com/office/drawing/2014/main" id="{EBAACEB0-B7EF-5C47-9F4E-BE56CD23E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114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</a:p>
          </p:txBody>
        </p:sp>
        <p:sp>
          <p:nvSpPr>
            <p:cNvPr id="138255" name="Rectangle 13">
              <a:extLst>
                <a:ext uri="{FF2B5EF4-FFF2-40B4-BE49-F238E27FC236}">
                  <a16:creationId xmlns:a16="http://schemas.microsoft.com/office/drawing/2014/main" id="{98A80074-31B7-F141-9828-42697E0660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2" y="3258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c0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4</a:t>
              </a:r>
            </a:p>
          </p:txBody>
        </p:sp>
        <p:sp>
          <p:nvSpPr>
            <p:cNvPr id="138256" name="Rectangle 14">
              <a:extLst>
                <a:ext uri="{FF2B5EF4-FFF2-40B4-BE49-F238E27FC236}">
                  <a16:creationId xmlns:a16="http://schemas.microsoft.com/office/drawing/2014/main" id="{B421F012-DBF2-324D-B7B8-356BDF105D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1196"/>
              <a:ext cx="447" cy="1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9140" tIns="43777" rIns="89140" bIns="43777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0x0FC</a:t>
              </a:r>
            </a:p>
          </p:txBody>
        </p:sp>
        <p:sp>
          <p:nvSpPr>
            <p:cNvPr id="138257" name="Text Box 15">
              <a:extLst>
                <a:ext uri="{FF2B5EF4-FFF2-40B4-BE49-F238E27FC236}">
                  <a16:creationId xmlns:a16="http://schemas.microsoft.com/office/drawing/2014/main" id="{7A7C0111-B86D-D145-BA4A-43C527BB8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9" y="1443"/>
              <a:ext cx="306" cy="2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solidFill>
                    <a:srgbClr val="006600"/>
                  </a:solidFill>
                  <a:ea typeface="宋体" panose="02010600030101010101" pitchFamily="2" charset="-122"/>
                </a:rPr>
                <a:t>指  令                            数   据</a:t>
              </a:r>
            </a:p>
          </p:txBody>
        </p:sp>
        <p:sp>
          <p:nvSpPr>
            <p:cNvPr id="138258" name="Text Box 16">
              <a:extLst>
                <a:ext uri="{FF2B5EF4-FFF2-40B4-BE49-F238E27FC236}">
                  <a16:creationId xmlns:a16="http://schemas.microsoft.com/office/drawing/2014/main" id="{ACD5096C-6639-674E-A6FE-A2AE1DC78F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2539"/>
              <a:ext cx="183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38259" name="Text Box 17">
              <a:extLst>
                <a:ext uri="{FF2B5EF4-FFF2-40B4-BE49-F238E27FC236}">
                  <a16:creationId xmlns:a16="http://schemas.microsoft.com/office/drawing/2014/main" id="{19C5A6B5-FBED-F748-93B6-21B68396DD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8" y="3710"/>
              <a:ext cx="522" cy="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700" b="1">
                  <a:solidFill>
                    <a:srgbClr val="0000FF"/>
                  </a:solidFill>
                  <a:ea typeface="宋体" panose="02010600030101010101" pitchFamily="2" charset="-122"/>
                </a:rPr>
                <a:t>sum</a:t>
              </a:r>
            </a:p>
          </p:txBody>
        </p:sp>
        <p:sp>
          <p:nvSpPr>
            <p:cNvPr id="138260" name="Rectangle 18">
              <a:extLst>
                <a:ext uri="{FF2B5EF4-FFF2-40B4-BE49-F238E27FC236}">
                  <a16:creationId xmlns:a16="http://schemas.microsoft.com/office/drawing/2014/main" id="{0AEF0216-3FF8-104F-9E80-79F331749F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1962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34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61" name="Rectangle 19">
              <a:extLst>
                <a:ext uri="{FF2B5EF4-FFF2-40B4-BE49-F238E27FC236}">
                  <a16:creationId xmlns:a16="http://schemas.microsoft.com/office/drawing/2014/main" id="{8CFB7807-4596-1840-97E2-014BE3A901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106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35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62" name="Rectangle 20">
              <a:extLst>
                <a:ext uri="{FF2B5EF4-FFF2-40B4-BE49-F238E27FC236}">
                  <a16:creationId xmlns:a16="http://schemas.microsoft.com/office/drawing/2014/main" id="{9DB4BCFA-F670-3B44-B0D4-BF9B80865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5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[0]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63" name="Rectangle 21">
              <a:extLst>
                <a:ext uri="{FF2B5EF4-FFF2-40B4-BE49-F238E27FC236}">
                  <a16:creationId xmlns:a16="http://schemas.microsoft.com/office/drawing/2014/main" id="{3523C228-F9DB-8043-9160-1A2F4728C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731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[1]</a:t>
              </a:r>
            </a:p>
          </p:txBody>
        </p:sp>
        <p:sp>
          <p:nvSpPr>
            <p:cNvPr id="138264" name="Rectangle 22">
              <a:extLst>
                <a:ext uri="{FF2B5EF4-FFF2-40B4-BE49-F238E27FC236}">
                  <a16:creationId xmlns:a16="http://schemas.microsoft.com/office/drawing/2014/main" id="{AC08B588-7431-6340-80B6-F9165AFD0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875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800" b="1">
                  <a:latin typeface="Times New Roman" panose="02020603050405020304" pitchFamily="18" charset="0"/>
                  <a:ea typeface="华文新魏" panose="02010800040101010101" pitchFamily="2" charset="-122"/>
                </a:rPr>
                <a:t>• • •</a:t>
              </a:r>
              <a:endParaRPr lang="en-US" altLang="zh-TW" sz="1800" b="1">
                <a:ea typeface="华文新魏" panose="02010800040101010101" pitchFamily="2" charset="-122"/>
              </a:endParaRPr>
            </a:p>
          </p:txBody>
        </p:sp>
        <p:sp>
          <p:nvSpPr>
            <p:cNvPr id="138265" name="Rectangle 23">
              <a:extLst>
                <a:ext uri="{FF2B5EF4-FFF2-40B4-BE49-F238E27FC236}">
                  <a16:creationId xmlns:a16="http://schemas.microsoft.com/office/drawing/2014/main" id="{3525140A-4C24-8C4D-8AD3-ED49827FCE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01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a[0]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2047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8266" name="Rectangle 24">
              <a:extLst>
                <a:ext uri="{FF2B5EF4-FFF2-40B4-BE49-F238E27FC236}">
                  <a16:creationId xmlns:a16="http://schemas.microsoft.com/office/drawing/2014/main" id="{2DC76AE2-B41C-E44B-8522-B72B04AEA6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16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a[1]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0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8267" name="Rectangle 25">
              <a:extLst>
                <a:ext uri="{FF2B5EF4-FFF2-40B4-BE49-F238E27FC236}">
                  <a16:creationId xmlns:a16="http://schemas.microsoft.com/office/drawing/2014/main" id="{D407C68F-5A4B-B544-AF52-037A214176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30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a[1]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[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1</a:t>
              </a:r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]</a:t>
              </a:r>
            </a:p>
          </p:txBody>
        </p:sp>
        <p:sp>
          <p:nvSpPr>
            <p:cNvPr id="138268" name="Rectangle 26">
              <a:extLst>
                <a:ext uri="{FF2B5EF4-FFF2-40B4-BE49-F238E27FC236}">
                  <a16:creationId xmlns:a16="http://schemas.microsoft.com/office/drawing/2014/main" id="{FC3C9132-7CD6-4949-B3A2-39A44716A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2250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8269" name="Rectangle 27">
              <a:extLst>
                <a:ext uri="{FF2B5EF4-FFF2-40B4-BE49-F238E27FC236}">
                  <a16:creationId xmlns:a16="http://schemas.microsoft.com/office/drawing/2014/main" id="{2E9BA700-C591-3045-AFDC-6AED15A5C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787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zh-CN" altLang="en-US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70" name="Rectangle 28">
              <a:extLst>
                <a:ext uri="{FF2B5EF4-FFF2-40B4-BE49-F238E27FC236}">
                  <a16:creationId xmlns:a16="http://schemas.microsoft.com/office/drawing/2014/main" id="{651DFAC8-8735-EF40-B3B2-B6E423A82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0" y="3451"/>
              <a:ext cx="818" cy="32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sp>
          <p:nvSpPr>
            <p:cNvPr id="138271" name="Rectangle 29">
              <a:extLst>
                <a:ext uri="{FF2B5EF4-FFF2-40B4-BE49-F238E27FC236}">
                  <a16:creationId xmlns:a16="http://schemas.microsoft.com/office/drawing/2014/main" id="{C52C7599-F43D-404B-B88D-E6810CE34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209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1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72" name="Rectangle 30">
              <a:extLst>
                <a:ext uri="{FF2B5EF4-FFF2-40B4-BE49-F238E27FC236}">
                  <a16:creationId xmlns:a16="http://schemas.microsoft.com/office/drawing/2014/main" id="{C0E2E6F1-EB87-C14C-A61E-79AD0D7A3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353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</a:t>
              </a:r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2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73" name="Rectangle 31">
              <a:extLst>
                <a:ext uri="{FF2B5EF4-FFF2-40B4-BE49-F238E27FC236}">
                  <a16:creationId xmlns:a16="http://schemas.microsoft.com/office/drawing/2014/main" id="{8E78D89A-715E-7149-AF43-54B090DA0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834"/>
              <a:ext cx="818" cy="128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CN" sz="1400" b="1">
                  <a:latin typeface="Courier New" panose="02070309020205020404" pitchFamily="49" charset="0"/>
                  <a:ea typeface="PMingLiU" panose="02020500000000000000" pitchFamily="18" charset="-120"/>
                </a:rPr>
                <a:t>I33</a:t>
              </a:r>
              <a:endParaRPr lang="en-US" altLang="zh-TW" sz="1400" b="1">
                <a:latin typeface="Courier New" panose="02070309020205020404" pitchFamily="49" charset="0"/>
                <a:ea typeface="PMingLiU" panose="02020500000000000000" pitchFamily="18" charset="-120"/>
              </a:endParaRPr>
            </a:p>
          </p:txBody>
        </p:sp>
        <p:sp>
          <p:nvSpPr>
            <p:cNvPr id="138274" name="Rectangle 32">
              <a:extLst>
                <a:ext uri="{FF2B5EF4-FFF2-40B4-BE49-F238E27FC236}">
                  <a16:creationId xmlns:a16="http://schemas.microsoft.com/office/drawing/2014/main" id="{593275B1-9E87-E646-A393-0F79EE92F2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1497"/>
              <a:ext cx="818" cy="321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89140" tIns="43777" rIns="89140" bIns="43777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r>
                <a:rPr lang="en-US" altLang="zh-TW" sz="1400" b="1">
                  <a:ea typeface="PMingLiU" panose="02020500000000000000" pitchFamily="18" charset="-120"/>
                </a:rPr>
                <a:t>• • •</a:t>
              </a:r>
            </a:p>
          </p:txBody>
        </p:sp>
        <p:grpSp>
          <p:nvGrpSpPr>
            <p:cNvPr id="138275" name="Group 33">
              <a:extLst>
                <a:ext uri="{FF2B5EF4-FFF2-40B4-BE49-F238E27FC236}">
                  <a16:creationId xmlns:a16="http://schemas.microsoft.com/office/drawing/2014/main" id="{1C06208F-A4E7-8C48-8BAC-4C27A95DB1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23" y="1497"/>
              <a:ext cx="202" cy="416"/>
              <a:chOff x="5023" y="1497"/>
              <a:chExt cx="202" cy="416"/>
            </a:xfrm>
          </p:grpSpPr>
          <p:sp>
            <p:nvSpPr>
              <p:cNvPr id="138277" name="Line 34">
                <a:extLst>
                  <a:ext uri="{FF2B5EF4-FFF2-40B4-BE49-F238E27FC236}">
                    <a16:creationId xmlns:a16="http://schemas.microsoft.com/office/drawing/2014/main" id="{9512A41D-882E-BF44-8C5F-5E1F2C5E75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23" y="1913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8278" name="Line 35">
                <a:extLst>
                  <a:ext uri="{FF2B5EF4-FFF2-40B4-BE49-F238E27FC236}">
                    <a16:creationId xmlns:a16="http://schemas.microsoft.com/office/drawing/2014/main" id="{BCCFD9CA-7D63-5844-8F2C-4F0DDCB1E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225" y="1497"/>
                <a:ext cx="0" cy="416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38279" name="Line 36">
                <a:extLst>
                  <a:ext uri="{FF2B5EF4-FFF2-40B4-BE49-F238E27FC236}">
                    <a16:creationId xmlns:a16="http://schemas.microsoft.com/office/drawing/2014/main" id="{D1746F22-DCA5-6044-96BC-8E400B285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023" y="1497"/>
                <a:ext cx="202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tIns="0" rIns="0" bIns="0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38276" name="Text Box 37">
              <a:extLst>
                <a:ext uri="{FF2B5EF4-FFF2-40B4-BE49-F238E27FC236}">
                  <a16:creationId xmlns:a16="http://schemas.microsoft.com/office/drawing/2014/main" id="{2A3407A6-4C3A-C54C-9042-5BA92936CF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1581"/>
              <a:ext cx="70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fo</a:t>
              </a:r>
              <a:r>
                <a:rPr kumimoji="1" lang="en-US" altLang="zh-CN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r</a:t>
              </a:r>
              <a:r>
                <a:rPr kumimoji="1" lang="zh-CN" altLang="en-US" b="1">
                  <a:solidFill>
                    <a:srgbClr val="CC0000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循环体</a:t>
              </a:r>
            </a:p>
          </p:txBody>
        </p:sp>
      </p:grpSp>
      <p:sp>
        <p:nvSpPr>
          <p:cNvPr id="738343" name="Text Box 39">
            <a:extLst>
              <a:ext uri="{FF2B5EF4-FFF2-40B4-BE49-F238E27FC236}">
                <a16:creationId xmlns:a16="http://schemas.microsoft.com/office/drawing/2014/main" id="{92C38181-8ABD-0C4C-B9C5-BCABCC826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5138738"/>
            <a:ext cx="51308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45046" tIns="45046" rIns="45046" bIns="45046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0000"/>
              </a:lnSpc>
            </a:pP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实际运行结果</a:t>
            </a:r>
            <a:r>
              <a:rPr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(2GHz Intel Pentium 4):</a:t>
            </a:r>
            <a:endParaRPr lang="zh-CN" altLang="en-US" sz="2200" b="1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59,393,288 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时钟周期</a:t>
            </a:r>
            <a:endParaRPr lang="en-US" altLang="zh-CN" sz="2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程序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1,277,877,876 </a:t>
            </a:r>
            <a:r>
              <a:rPr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时钟周期</a:t>
            </a:r>
            <a:endParaRPr lang="en-US" altLang="zh-CN" sz="2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zh-CN" sz="2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8344" name="Text Box 40">
            <a:extLst>
              <a:ext uri="{FF2B5EF4-FFF2-40B4-BE49-F238E27FC236}">
                <a16:creationId xmlns:a16="http://schemas.microsoft.com/office/drawing/2014/main" id="{E4716E46-6A8B-7E41-B829-497709011F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0388" y="5726113"/>
            <a:ext cx="2430462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lIns="45046" tIns="45046" rIns="45046" bIns="45046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</a:t>
            </a:r>
            <a:r>
              <a:rPr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比程序</a:t>
            </a:r>
            <a:r>
              <a:rPr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r>
              <a:rPr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21.5 </a:t>
            </a:r>
            <a:r>
              <a:rPr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  <a:r>
              <a:rPr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383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4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83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34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343" grpId="0"/>
      <p:bldP spid="73834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>
            <a:extLst>
              <a:ext uri="{FF2B5EF4-FFF2-40B4-BE49-F238E27FC236}">
                <a16:creationId xmlns:a16="http://schemas.microsoft.com/office/drawing/2014/main" id="{30B5A867-AC0E-F44A-9A6C-C8E910749D0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en-US" altLang="zh-CN"/>
              <a:t>Cache(</a:t>
            </a:r>
            <a:r>
              <a:rPr lang="zh-CN" altLang="en-US"/>
              <a:t>高速缓存</a:t>
            </a:r>
            <a:r>
              <a:rPr lang="en-US" altLang="zh-CN"/>
              <a:t>)</a:t>
            </a:r>
            <a:r>
              <a:rPr lang="zh-CN" altLang="en-US"/>
              <a:t>是什么样的？</a:t>
            </a:r>
          </a:p>
        </p:txBody>
      </p:sp>
      <p:sp>
        <p:nvSpPr>
          <p:cNvPr id="572419" name="Rectangle 3">
            <a:extLst>
              <a:ext uri="{FF2B5EF4-FFF2-40B4-BE49-F238E27FC236}">
                <a16:creationId xmlns:a16="http://schemas.microsoft.com/office/drawing/2014/main" id="{2D2DBDFA-1FE1-194C-BDBA-CFD423F19E3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5100" y="993775"/>
            <a:ext cx="4241800" cy="4940300"/>
          </a:xfrm>
        </p:spPr>
        <p:txBody>
          <a:bodyPr lIns="91440" tIns="45720" rIns="91440" bIns="45720"/>
          <a:lstStyle/>
          <a:p>
            <a:pPr marL="268288" indent="-268288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是一种小容量高速缓冲存储器，它由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组成。</a:t>
            </a:r>
          </a:p>
          <a:p>
            <a:pPr marL="268288" indent="-268288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直接制作在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芯片内，速度几乎与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一样快。</a:t>
            </a:r>
          </a:p>
          <a:p>
            <a:pPr marL="268288" indent="-268288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程序运行时，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使用的一部分数据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指令会预先成批拷贝在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的内容是主存储器中部分内容的映象。</a:t>
            </a:r>
            <a:endParaRPr lang="en-US" altLang="zh-CN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68288" indent="-268288" defTabSz="717550" eaLnBrk="1" hangingPunct="1">
              <a:lnSpc>
                <a:spcPct val="125000"/>
              </a:lnSpc>
              <a:spcBef>
                <a:spcPct val="30000"/>
              </a:spcBef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需要从内存读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数据或指令时，先检查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，若有，就直接从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中读取，而不用访问主存储器。</a:t>
            </a:r>
          </a:p>
        </p:txBody>
      </p:sp>
      <p:sp>
        <p:nvSpPr>
          <p:cNvPr id="139268" name="Rectangle 4">
            <a:extLst>
              <a:ext uri="{FF2B5EF4-FFF2-40B4-BE49-F238E27FC236}">
                <a16:creationId xmlns:a16="http://schemas.microsoft.com/office/drawing/2014/main" id="{7B2F78A7-F780-D34C-AE21-8E8ADDD8D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2488" y="3727450"/>
            <a:ext cx="4265612" cy="22860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9269" name="Rectangle 5">
            <a:extLst>
              <a:ext uri="{FF2B5EF4-FFF2-40B4-BE49-F238E27FC236}">
                <a16:creationId xmlns:a16="http://schemas.microsoft.com/office/drawing/2014/main" id="{82BBFE78-992A-6C4D-AC26-B73D32CF1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4033838"/>
            <a:ext cx="687388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39270" name="Rectangle 6">
            <a:extLst>
              <a:ext uri="{FF2B5EF4-FFF2-40B4-BE49-F238E27FC236}">
                <a16:creationId xmlns:a16="http://schemas.microsoft.com/office/drawing/2014/main" id="{6FD05938-6FBE-5C48-97E8-274B1EB7A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03383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39271" name="Rectangle 7">
            <a:extLst>
              <a:ext uri="{FF2B5EF4-FFF2-40B4-BE49-F238E27FC236}">
                <a16:creationId xmlns:a16="http://schemas.microsoft.com/office/drawing/2014/main" id="{3514F96E-42AB-E64A-96AE-A4D29EF2E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03383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39272" name="Rectangle 8">
            <a:extLst>
              <a:ext uri="{FF2B5EF4-FFF2-40B4-BE49-F238E27FC236}">
                <a16:creationId xmlns:a16="http://schemas.microsoft.com/office/drawing/2014/main" id="{266A7511-D6F2-E340-A2EF-A74D6244B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033838"/>
            <a:ext cx="685800" cy="3032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39273" name="Rectangle 9">
            <a:extLst>
              <a:ext uri="{FF2B5EF4-FFF2-40B4-BE49-F238E27FC236}">
                <a16:creationId xmlns:a16="http://schemas.microsoft.com/office/drawing/2014/main" id="{AF0E474E-C0DF-6D4E-83A6-00E5070691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4489450"/>
            <a:ext cx="687388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39274" name="Rectangle 10">
            <a:extLst>
              <a:ext uri="{FF2B5EF4-FFF2-40B4-BE49-F238E27FC236}">
                <a16:creationId xmlns:a16="http://schemas.microsoft.com/office/drawing/2014/main" id="{9470F0B7-9DAC-0546-B113-E330AAE75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4894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39275" name="Rectangle 11">
            <a:extLst>
              <a:ext uri="{FF2B5EF4-FFF2-40B4-BE49-F238E27FC236}">
                <a16:creationId xmlns:a16="http://schemas.microsoft.com/office/drawing/2014/main" id="{79104057-61E7-BF47-812B-1BF5AEC1E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4894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6</a:t>
            </a:r>
          </a:p>
        </p:txBody>
      </p:sp>
      <p:sp>
        <p:nvSpPr>
          <p:cNvPr id="139276" name="Rectangle 12">
            <a:extLst>
              <a:ext uri="{FF2B5EF4-FFF2-40B4-BE49-F238E27FC236}">
                <a16:creationId xmlns:a16="http://schemas.microsoft.com/office/drawing/2014/main" id="{E4C95372-1A2F-A643-9ACC-8716B9422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4894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7</a:t>
            </a:r>
          </a:p>
        </p:txBody>
      </p:sp>
      <p:sp>
        <p:nvSpPr>
          <p:cNvPr id="139277" name="Rectangle 13">
            <a:extLst>
              <a:ext uri="{FF2B5EF4-FFF2-40B4-BE49-F238E27FC236}">
                <a16:creationId xmlns:a16="http://schemas.microsoft.com/office/drawing/2014/main" id="{48C20415-4127-F347-995F-DD505B6623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4946650"/>
            <a:ext cx="687388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9278" name="Rectangle 14">
            <a:extLst>
              <a:ext uri="{FF2B5EF4-FFF2-40B4-BE49-F238E27FC236}">
                <a16:creationId xmlns:a16="http://schemas.microsoft.com/office/drawing/2014/main" id="{05C3B028-7643-7E45-81B4-FD7A8981C7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49466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9279" name="Rectangle 15">
            <a:extLst>
              <a:ext uri="{FF2B5EF4-FFF2-40B4-BE49-F238E27FC236}">
                <a16:creationId xmlns:a16="http://schemas.microsoft.com/office/drawing/2014/main" id="{C6A8F648-16B0-DB4F-9C99-F295BDA4D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9466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9280" name="Rectangle 16">
            <a:extLst>
              <a:ext uri="{FF2B5EF4-FFF2-40B4-BE49-F238E27FC236}">
                <a16:creationId xmlns:a16="http://schemas.microsoft.com/office/drawing/2014/main" id="{804FBA2C-24AD-8249-97E5-469805ED5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4946650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11</a:t>
            </a:r>
          </a:p>
        </p:txBody>
      </p:sp>
      <p:sp>
        <p:nvSpPr>
          <p:cNvPr id="139281" name="Rectangle 17">
            <a:extLst>
              <a:ext uri="{FF2B5EF4-FFF2-40B4-BE49-F238E27FC236}">
                <a16:creationId xmlns:a16="http://schemas.microsoft.com/office/drawing/2014/main" id="{0088CFAB-4D17-B849-83BC-730F34F782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4300" y="5403850"/>
            <a:ext cx="687388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12</a:t>
            </a:r>
          </a:p>
        </p:txBody>
      </p:sp>
      <p:sp>
        <p:nvSpPr>
          <p:cNvPr id="139282" name="Rectangle 18">
            <a:extLst>
              <a:ext uri="{FF2B5EF4-FFF2-40B4-BE49-F238E27FC236}">
                <a16:creationId xmlns:a16="http://schemas.microsoft.com/office/drawing/2014/main" id="{63AA3C28-3A3B-B74A-9024-5CE4B9DB3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4088" y="540385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13</a:t>
            </a:r>
          </a:p>
        </p:txBody>
      </p:sp>
      <p:sp>
        <p:nvSpPr>
          <p:cNvPr id="139283" name="Rectangle 19">
            <a:extLst>
              <a:ext uri="{FF2B5EF4-FFF2-40B4-BE49-F238E27FC236}">
                <a16:creationId xmlns:a16="http://schemas.microsoft.com/office/drawing/2014/main" id="{691FCDA9-D32B-6D4D-9A7A-5A36A7739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540385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39284" name="Rectangle 20">
            <a:extLst>
              <a:ext uri="{FF2B5EF4-FFF2-40B4-BE49-F238E27FC236}">
                <a16:creationId xmlns:a16="http://schemas.microsoft.com/office/drawing/2014/main" id="{D16A4815-76AD-074F-803C-AF44E6943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5403850"/>
            <a:ext cx="685800" cy="306388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39285" name="Rectangle 21">
            <a:extLst>
              <a:ext uri="{FF2B5EF4-FFF2-40B4-BE49-F238E27FC236}">
                <a16:creationId xmlns:a16="http://schemas.microsoft.com/office/drawing/2014/main" id="{7D5A963D-C35F-C044-9725-ED953177E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13" y="1470025"/>
            <a:ext cx="3579812" cy="609600"/>
          </a:xfrm>
          <a:prstGeom prst="rect">
            <a:avLst/>
          </a:prstGeom>
          <a:solidFill>
            <a:srgbClr val="FF99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39286" name="Rectangle 22">
            <a:extLst>
              <a:ext uri="{FF2B5EF4-FFF2-40B4-BE49-F238E27FC236}">
                <a16:creationId xmlns:a16="http://schemas.microsoft.com/office/drawing/2014/main" id="{7E343127-8055-5E40-BDF4-7EF38B49C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0013" y="1614488"/>
            <a:ext cx="685800" cy="306387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8</a:t>
            </a:r>
          </a:p>
        </p:txBody>
      </p:sp>
      <p:sp>
        <p:nvSpPr>
          <p:cNvPr id="139287" name="Rectangle 23">
            <a:extLst>
              <a:ext uri="{FF2B5EF4-FFF2-40B4-BE49-F238E27FC236}">
                <a16:creationId xmlns:a16="http://schemas.microsoft.com/office/drawing/2014/main" id="{1BE47C17-9773-9645-B48B-4586CDE20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9325" y="1624013"/>
            <a:ext cx="684213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9</a:t>
            </a:r>
          </a:p>
        </p:txBody>
      </p:sp>
      <p:sp>
        <p:nvSpPr>
          <p:cNvPr id="139288" name="Rectangle 24">
            <a:extLst>
              <a:ext uri="{FF2B5EF4-FFF2-40B4-BE49-F238E27FC236}">
                <a16:creationId xmlns:a16="http://schemas.microsoft.com/office/drawing/2014/main" id="{D01CD92F-56CD-B244-BD4C-4B0B17FFB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7525" y="1624013"/>
            <a:ext cx="684213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14</a:t>
            </a:r>
          </a:p>
        </p:txBody>
      </p:sp>
      <p:sp>
        <p:nvSpPr>
          <p:cNvPr id="139289" name="Rectangle 25">
            <a:extLst>
              <a:ext uri="{FF2B5EF4-FFF2-40B4-BE49-F238E27FC236}">
                <a16:creationId xmlns:a16="http://schemas.microsoft.com/office/drawing/2014/main" id="{78F916E2-8DCC-FE40-88E2-2F6DBA230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5725" y="1624013"/>
            <a:ext cx="685800" cy="304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572442" name="Rectangle 26">
            <a:extLst>
              <a:ext uri="{FF2B5EF4-FFF2-40B4-BE49-F238E27FC236}">
                <a16:creationId xmlns:a16="http://schemas.microsoft.com/office/drawing/2014/main" id="{06C90B77-5D1F-4D46-8000-5E16E3E95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475" y="4489450"/>
            <a:ext cx="685800" cy="3048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2443" name="Rectangle 27">
            <a:extLst>
              <a:ext uri="{FF2B5EF4-FFF2-40B4-BE49-F238E27FC236}">
                <a16:creationId xmlns:a16="http://schemas.microsoft.com/office/drawing/2014/main" id="{B5C524C0-88C2-9F47-9B71-3FA094694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63" y="2490788"/>
            <a:ext cx="685800" cy="306387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2444" name="Rectangle 28">
            <a:extLst>
              <a:ext uri="{FF2B5EF4-FFF2-40B4-BE49-F238E27FC236}">
                <a16:creationId xmlns:a16="http://schemas.microsoft.com/office/drawing/2014/main" id="{A26955DA-95B9-E646-86C0-57046C1D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1619250"/>
            <a:ext cx="684213" cy="304800"/>
          </a:xfrm>
          <a:prstGeom prst="rect">
            <a:avLst/>
          </a:prstGeom>
          <a:solidFill>
            <a:srgbClr val="00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572445" name="Rectangle 29">
            <a:extLst>
              <a:ext uri="{FF2B5EF4-FFF2-40B4-BE49-F238E27FC236}">
                <a16:creationId xmlns:a16="http://schemas.microsoft.com/office/drawing/2014/main" id="{70645879-575D-794A-A01E-71A6951FA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1628775"/>
            <a:ext cx="685800" cy="306388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572446" name="Rectangle 30">
            <a:extLst>
              <a:ext uri="{FF2B5EF4-FFF2-40B4-BE49-F238E27FC236}">
                <a16:creationId xmlns:a16="http://schemas.microsoft.com/office/drawing/2014/main" id="{783E26CF-A87A-9540-AB07-B3BFF7644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2495550"/>
            <a:ext cx="684213" cy="303213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572447" name="Rectangle 31">
            <a:extLst>
              <a:ext uri="{FF2B5EF4-FFF2-40B4-BE49-F238E27FC236}">
                <a16:creationId xmlns:a16="http://schemas.microsoft.com/office/drawing/2014/main" id="{7A915EF1-87B0-9F47-90B3-94204DE25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2288" y="4946650"/>
            <a:ext cx="684212" cy="304800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083" tIns="45046" rIns="90083" bIns="45046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1700" b="1">
                <a:latin typeface="Helvetica" pitchFamily="2" charset="0"/>
                <a:ea typeface="宋体" panose="02010600030101010101" pitchFamily="2" charset="-122"/>
              </a:rPr>
              <a:t>10</a:t>
            </a:r>
          </a:p>
        </p:txBody>
      </p:sp>
      <p:sp>
        <p:nvSpPr>
          <p:cNvPr id="139296" name="Line 32">
            <a:extLst>
              <a:ext uri="{FF2B5EF4-FFF2-40B4-BE49-F238E27FC236}">
                <a16:creationId xmlns:a16="http://schemas.microsoft.com/office/drawing/2014/main" id="{5B31F9C6-C531-AF46-AFDC-B253319D2070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7038" y="2079625"/>
            <a:ext cx="0" cy="16192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2449" name="Text Box 33">
            <a:extLst>
              <a:ext uri="{FF2B5EF4-FFF2-40B4-BE49-F238E27FC236}">
                <a16:creationId xmlns:a16="http://schemas.microsoft.com/office/drawing/2014/main" id="{07C31E1A-D104-BE4A-B596-1C9EBEAC2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7525" y="2259013"/>
            <a:ext cx="1665288" cy="100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ea typeface="黑体" panose="02010609060101010101" pitchFamily="49" charset="-122"/>
              </a:rPr>
              <a:t>主存中的信息按</a:t>
            </a:r>
            <a:r>
              <a:rPr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“块”</a:t>
            </a:r>
            <a:r>
              <a:rPr lang="zh-CN" altLang="en-US" sz="2000" b="1">
                <a:ea typeface="黑体" panose="02010609060101010101" pitchFamily="49" charset="-122"/>
              </a:rPr>
              <a:t>送到</a:t>
            </a:r>
            <a:r>
              <a:rPr lang="en-US" altLang="zh-CN" sz="2000" b="1"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ea typeface="黑体" panose="02010609060101010101" pitchFamily="49" charset="-122"/>
              </a:rPr>
              <a:t>中</a:t>
            </a:r>
          </a:p>
        </p:txBody>
      </p:sp>
      <p:sp>
        <p:nvSpPr>
          <p:cNvPr id="139298" name="Text Box 34">
            <a:extLst>
              <a:ext uri="{FF2B5EF4-FFF2-40B4-BE49-F238E27FC236}">
                <a16:creationId xmlns:a16="http://schemas.microsoft.com/office/drawing/2014/main" id="{0F71C2CE-74F1-554B-B64A-BE6B9D797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1225" y="1149350"/>
            <a:ext cx="17113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chemeClr val="accent2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chemeClr val="accent2"/>
                </a:solidFill>
                <a:ea typeface="黑体" panose="02010609060101010101" pitchFamily="49" charset="-122"/>
              </a:rPr>
              <a:t>存储器</a:t>
            </a:r>
          </a:p>
        </p:txBody>
      </p:sp>
      <p:sp>
        <p:nvSpPr>
          <p:cNvPr id="139299" name="Text Box 35">
            <a:extLst>
              <a:ext uri="{FF2B5EF4-FFF2-40B4-BE49-F238E27FC236}">
                <a16:creationId xmlns:a16="http://schemas.microsoft.com/office/drawing/2014/main" id="{45766798-0095-6041-8860-6620EEFE19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5850" y="3316288"/>
            <a:ext cx="12033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83" tIns="45046" rIns="90083" bIns="45046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chemeClr val="accent2"/>
                </a:solidFill>
                <a:latin typeface="Helvetica" pitchFamily="2" charset="0"/>
                <a:ea typeface="黑体" panose="02010609060101010101" pitchFamily="49" charset="-122"/>
              </a:rPr>
              <a:t>主存储器</a:t>
            </a:r>
          </a:p>
        </p:txBody>
      </p:sp>
      <p:sp>
        <p:nvSpPr>
          <p:cNvPr id="572453" name="Text Box 37">
            <a:extLst>
              <a:ext uri="{FF2B5EF4-FFF2-40B4-BE49-F238E27FC236}">
                <a16:creationId xmlns:a16="http://schemas.microsoft.com/office/drawing/2014/main" id="{ECCA3F64-8D53-134B-BDE6-F5D179A6D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97425" y="908050"/>
            <a:ext cx="2870200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FF0000"/>
                </a:solidFill>
                <a:ea typeface="黑体" panose="02010609060101010101" pitchFamily="49" charset="-122"/>
              </a:rPr>
              <a:t>数据访问过程：</a:t>
            </a:r>
          </a:p>
        </p:txBody>
      </p:sp>
      <p:sp>
        <p:nvSpPr>
          <p:cNvPr id="139301" name="Text Box 37">
            <a:extLst>
              <a:ext uri="{FF2B5EF4-FFF2-40B4-BE49-F238E27FC236}">
                <a16:creationId xmlns:a16="http://schemas.microsoft.com/office/drawing/2014/main" id="{F54FC47A-B700-B84B-8395-6D2ACDE07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6173788"/>
            <a:ext cx="12604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块（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39302" name="Line 38">
            <a:extLst>
              <a:ext uri="{FF2B5EF4-FFF2-40B4-BE49-F238E27FC236}">
                <a16:creationId xmlns:a16="http://schemas.microsoft.com/office/drawing/2014/main" id="{2B5F31B6-80E1-734B-868F-ED978E5B9AC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92613" y="5634038"/>
            <a:ext cx="765175" cy="4953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2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2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2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2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572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2442" grpId="0" animBg="1" autoUpdateAnimBg="0"/>
      <p:bldP spid="572443" grpId="0" animBg="1" autoUpdateAnimBg="0"/>
      <p:bldP spid="572444" grpId="0" animBg="1" autoUpdateAnimBg="0"/>
      <p:bldP spid="572445" grpId="0" animBg="1" autoUpdateAnimBg="0"/>
      <p:bldP spid="572446" grpId="0" animBg="1" autoUpdateAnimBg="0"/>
      <p:bldP spid="572447" grpId="0" animBg="1" autoUpdateAnimBg="0"/>
      <p:bldP spid="572449" grpId="0"/>
      <p:bldP spid="5724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90" name="Picture 12">
            <a:extLst>
              <a:ext uri="{FF2B5EF4-FFF2-40B4-BE49-F238E27FC236}">
                <a16:creationId xmlns:a16="http://schemas.microsoft.com/office/drawing/2014/main" id="{94A9676D-0591-AC4A-B55B-B9279D8D3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1257300"/>
            <a:ext cx="7378700" cy="540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0291" name="Rectangle 2">
            <a:extLst>
              <a:ext uri="{FF2B5EF4-FFF2-40B4-BE49-F238E27FC236}">
                <a16:creationId xmlns:a16="http://schemas.microsoft.com/office/drawing/2014/main" id="{4DAC5BC9-4C76-3D4E-908A-28CA028EAA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5741988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en-GB" altLang="zh-CN">
                <a:solidFill>
                  <a:srgbClr val="CC0000"/>
                </a:solidFill>
              </a:rPr>
              <a:t>Cache </a:t>
            </a:r>
            <a:r>
              <a:rPr lang="zh-CN" altLang="en-GB">
                <a:solidFill>
                  <a:srgbClr val="CC0000"/>
                </a:solidFill>
              </a:rPr>
              <a:t>的操作过程</a:t>
            </a:r>
            <a:endParaRPr lang="zh-CN" altLang="en-US">
              <a:solidFill>
                <a:srgbClr val="CC0000"/>
              </a:solidFill>
            </a:endParaRPr>
          </a:p>
        </p:txBody>
      </p:sp>
      <p:sp>
        <p:nvSpPr>
          <p:cNvPr id="574469" name="AutoShape 5">
            <a:extLst>
              <a:ext uri="{FF2B5EF4-FFF2-40B4-BE49-F238E27FC236}">
                <a16:creationId xmlns:a16="http://schemas.microsoft.com/office/drawing/2014/main" id="{1CB4B980-B903-F542-9F8F-26B8101FC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908050"/>
            <a:ext cx="2835275" cy="1260475"/>
          </a:xfrm>
          <a:prstGeom prst="wedgeRoundRectCallout">
            <a:avLst>
              <a:gd name="adj1" fmla="val -38352"/>
              <a:gd name="adj2" fmla="val 111588"/>
              <a:gd name="adj3" fmla="val 16667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若被访问信息不在</a:t>
            </a:r>
            <a:r>
              <a:rPr kumimoji="1" lang="en-US" altLang="zh-CN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中，称为缺失或失靶</a:t>
            </a:r>
            <a:r>
              <a:rPr kumimoji="1" lang="en-US" altLang="zh-CN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(miss)</a:t>
            </a:r>
            <a:endParaRPr kumimoji="1" lang="zh-CN" altLang="en-US" sz="22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4470" name="AutoShape 6">
            <a:extLst>
              <a:ext uri="{FF2B5EF4-FFF2-40B4-BE49-F238E27FC236}">
                <a16:creationId xmlns:a16="http://schemas.microsoft.com/office/drawing/2014/main" id="{FFA20242-E0F2-FC45-B9E6-B6CCF596986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61925" y="2889250"/>
            <a:ext cx="1349375" cy="2628900"/>
          </a:xfrm>
          <a:prstGeom prst="wedgeRoundRectCallout">
            <a:avLst>
              <a:gd name="adj1" fmla="val -154120"/>
              <a:gd name="adj2" fmla="val -26704"/>
              <a:gd name="adj3" fmla="val 16667"/>
            </a:avLst>
          </a:prstGeom>
          <a:noFill/>
          <a:ln w="9525">
            <a:solidFill>
              <a:schemeClr val="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若被访问信息在</a:t>
            </a:r>
            <a:r>
              <a:rPr kumimoji="1" lang="en-US" altLang="zh-CN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中，称为命中</a:t>
            </a:r>
            <a:r>
              <a:rPr kumimoji="1" lang="en-US" altLang="zh-CN" sz="22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(hit)</a:t>
            </a:r>
            <a:endParaRPr kumimoji="1" lang="zh-CN" altLang="en-US" sz="22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4501" name="Text Box 37">
            <a:extLst>
              <a:ext uri="{FF2B5EF4-FFF2-40B4-BE49-F238E27FC236}">
                <a16:creationId xmlns:a16="http://schemas.microsoft.com/office/drawing/2014/main" id="{38EC8BBF-6B71-574C-98A1-73E9FD415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" y="866775"/>
            <a:ext cx="16287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问题：什么情况下，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产生访存要求？</a:t>
            </a:r>
          </a:p>
        </p:txBody>
      </p:sp>
      <p:sp>
        <p:nvSpPr>
          <p:cNvPr id="574502" name="Text Box 38">
            <a:extLst>
              <a:ext uri="{FF2B5EF4-FFF2-40B4-BE49-F238E27FC236}">
                <a16:creationId xmlns:a16="http://schemas.microsoft.com/office/drawing/2014/main" id="{1BB64ACB-AF5D-2342-8100-9FB6BD48B2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989138"/>
            <a:ext cx="1081087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FF0000"/>
                </a:solidFill>
                <a:ea typeface="微软雅黑" panose="020B0503020204020204" pitchFamily="34" charset="-122"/>
              </a:rPr>
              <a:t>执行指令时！</a:t>
            </a:r>
          </a:p>
        </p:txBody>
      </p:sp>
      <p:sp>
        <p:nvSpPr>
          <p:cNvPr id="574472" name="Text Box 8">
            <a:extLst>
              <a:ext uri="{FF2B5EF4-FFF2-40B4-BE49-F238E27FC236}">
                <a16:creationId xmlns:a16="http://schemas.microsoft.com/office/drawing/2014/main" id="{DC92F0BE-5A13-BC4E-BD31-E2E0B68C7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625" y="5819775"/>
            <a:ext cx="2306638" cy="85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指令最初给出的是</a:t>
            </a:r>
          </a:p>
          <a:p>
            <a:pPr>
              <a:spcBef>
                <a:spcPct val="50000"/>
              </a:spcBef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虚拟地址！</a:t>
            </a:r>
          </a:p>
        </p:txBody>
      </p:sp>
      <p:sp>
        <p:nvSpPr>
          <p:cNvPr id="574473" name="Text Box 9">
            <a:extLst>
              <a:ext uri="{FF2B5EF4-FFF2-40B4-BE49-F238E27FC236}">
                <a16:creationId xmlns:a16="http://schemas.microsoft.com/office/drawing/2014/main" id="{AAE24A4D-39F0-F144-84AF-671726585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5967413"/>
            <a:ext cx="2757488" cy="7016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如果将虚拟地址转换为主存地址，后面介绍。</a:t>
            </a:r>
            <a:endParaRPr lang="en-US" altLang="zh-CN" sz="2000" b="1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4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74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74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744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7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4469" grpId="0" animBg="1"/>
      <p:bldP spid="574470" grpId="0" animBg="1"/>
      <p:bldP spid="574501" grpId="0"/>
      <p:bldP spid="574502" grpId="0"/>
      <p:bldP spid="57447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>
            <a:extLst>
              <a:ext uri="{FF2B5EF4-FFF2-40B4-BE49-F238E27FC236}">
                <a16:creationId xmlns:a16="http://schemas.microsoft.com/office/drawing/2014/main" id="{634EF1AB-D1AA-2B4F-BA0B-EA01A68E2A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en-US" altLang="zh-CN"/>
              <a:t>Cache</a:t>
            </a:r>
            <a:r>
              <a:rPr lang="zh-CN" altLang="en-US"/>
              <a:t>（高速缓存）的实现</a:t>
            </a:r>
          </a:p>
        </p:txBody>
      </p:sp>
      <p:sp>
        <p:nvSpPr>
          <p:cNvPr id="763941" name="Text Box 37">
            <a:extLst>
              <a:ext uri="{FF2B5EF4-FFF2-40B4-BE49-F238E27FC236}">
                <a16:creationId xmlns:a16="http://schemas.microsoft.com/office/drawing/2014/main" id="{92DE13C6-C900-F24B-8C5D-CDD5801A99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998538"/>
            <a:ext cx="67960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问题：要实现</a:t>
            </a:r>
            <a:r>
              <a:rPr kumimoji="1" lang="en-US" altLang="zh-CN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机制需要解决哪些问题？</a:t>
            </a:r>
          </a:p>
        </p:txBody>
      </p:sp>
      <p:sp>
        <p:nvSpPr>
          <p:cNvPr id="763942" name="Text Box 38">
            <a:extLst>
              <a:ext uri="{FF2B5EF4-FFF2-40B4-BE49-F238E27FC236}">
                <a16:creationId xmlns:a16="http://schemas.microsoft.com/office/drawing/2014/main" id="{CBCC88E5-F32E-1344-B9AF-2893947C1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638300"/>
            <a:ext cx="6615112" cy="2441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如何分块？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主存块和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之间如何映射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已满时，怎么办？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写数据时怎样保证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MM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的一致性？</a:t>
            </a:r>
          </a:p>
          <a:p>
            <a:pPr eaLnBrk="1" hangingPunct="1">
              <a:lnSpc>
                <a:spcPct val="130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如何根据主存地址访问到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中的数据？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</p:txBody>
      </p:sp>
      <p:sp>
        <p:nvSpPr>
          <p:cNvPr id="763943" name="Text Box 39">
            <a:extLst>
              <a:ext uri="{FF2B5EF4-FFF2-40B4-BE49-F238E27FC236}">
                <a16:creationId xmlns:a16="http://schemas.microsoft.com/office/drawing/2014/main" id="{B6076D00-61B1-654B-B42C-D5FDF731B0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4419600"/>
            <a:ext cx="7470775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对程序员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是否透明？为什么？</a:t>
            </a:r>
          </a:p>
        </p:txBody>
      </p:sp>
      <p:sp>
        <p:nvSpPr>
          <p:cNvPr id="763944" name="Text Box 40">
            <a:extLst>
              <a:ext uri="{FF2B5EF4-FFF2-40B4-BE49-F238E27FC236}">
                <a16:creationId xmlns:a16="http://schemas.microsoft.com/office/drawing/2014/main" id="{2B46CC0B-2CC4-3C44-93ED-E3CF5AA548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4959350"/>
            <a:ext cx="83248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300" b="1">
                <a:ea typeface="黑体" panose="02010609060101010101" pitchFamily="49" charset="-122"/>
              </a:rPr>
              <a:t>是透明的，程序员</a:t>
            </a:r>
            <a:r>
              <a:rPr kumimoji="1" lang="en-US" altLang="zh-CN" sz="2300" b="1">
                <a:ea typeface="黑体" panose="02010609060101010101" pitchFamily="49" charset="-122"/>
              </a:rPr>
              <a:t>(</a:t>
            </a:r>
            <a:r>
              <a:rPr kumimoji="1" lang="zh-CN" altLang="en-US" sz="2300" b="1">
                <a:ea typeface="黑体" panose="02010609060101010101" pitchFamily="49" charset="-122"/>
              </a:rPr>
              <a:t>编译器</a:t>
            </a:r>
            <a:r>
              <a:rPr kumimoji="1" lang="en-US" altLang="zh-CN" sz="2300" b="1">
                <a:ea typeface="黑体" panose="02010609060101010101" pitchFamily="49" charset="-122"/>
              </a:rPr>
              <a:t>)</a:t>
            </a:r>
            <a:r>
              <a:rPr kumimoji="1" lang="zh-CN" altLang="en-US" sz="2300" b="1">
                <a:ea typeface="黑体" panose="02010609060101010101" pitchFamily="49" charset="-122"/>
              </a:rPr>
              <a:t>在编写</a:t>
            </a:r>
            <a:r>
              <a:rPr kumimoji="1" lang="en-US" altLang="zh-CN" sz="2300" b="1">
                <a:ea typeface="黑体" panose="02010609060101010101" pitchFamily="49" charset="-122"/>
              </a:rPr>
              <a:t>/</a:t>
            </a:r>
            <a:r>
              <a:rPr kumimoji="1" lang="zh-CN" altLang="en-US" sz="2300" b="1">
                <a:ea typeface="黑体" panose="02010609060101010101" pitchFamily="49" charset="-122"/>
              </a:rPr>
              <a:t>生成高级或低级语言程序时无需了解</a:t>
            </a:r>
            <a:r>
              <a:rPr kumimoji="1" lang="en-US" altLang="zh-CN" sz="2300" b="1">
                <a:ea typeface="黑体" panose="02010609060101010101" pitchFamily="49" charset="-122"/>
              </a:rPr>
              <a:t>Cache</a:t>
            </a:r>
            <a:r>
              <a:rPr kumimoji="1" lang="zh-CN" altLang="en-US" sz="2300" b="1">
                <a:ea typeface="黑体" panose="02010609060101010101" pitchFamily="49" charset="-122"/>
              </a:rPr>
              <a:t>是否存在或如何设置，感觉不到</a:t>
            </a:r>
            <a:r>
              <a:rPr kumimoji="1" lang="en-US" altLang="zh-CN" sz="2300" b="1">
                <a:ea typeface="黑体" panose="02010609060101010101" pitchFamily="49" charset="-122"/>
              </a:rPr>
              <a:t>cache</a:t>
            </a:r>
            <a:r>
              <a:rPr kumimoji="1" lang="zh-CN" altLang="en-US" sz="2300" b="1">
                <a:ea typeface="黑体" panose="02010609060101010101" pitchFamily="49" charset="-122"/>
              </a:rPr>
              <a:t>的存在。</a:t>
            </a:r>
          </a:p>
        </p:txBody>
      </p:sp>
      <p:sp>
        <p:nvSpPr>
          <p:cNvPr id="763945" name="Text Box 41">
            <a:extLst>
              <a:ext uri="{FF2B5EF4-FFF2-40B4-BE49-F238E27FC236}">
                <a16:creationId xmlns:a16="http://schemas.microsoft.com/office/drawing/2014/main" id="{DD5B8FC0-E891-D846-90D8-28ACC8F282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5949950"/>
            <a:ext cx="74707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 u="sng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但是，对</a:t>
            </a:r>
            <a:r>
              <a:rPr kumimoji="1" lang="en-US" altLang="zh-CN" sz="2400" b="1" u="sng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Cache</a:t>
            </a:r>
            <a:r>
              <a:rPr kumimoji="1" lang="zh-CN" altLang="en-US" sz="2400" b="1" u="sng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深入了解有助于编写出高效的程序！</a:t>
            </a:r>
          </a:p>
        </p:txBody>
      </p:sp>
      <p:sp>
        <p:nvSpPr>
          <p:cNvPr id="763946" name="Text Box 42">
            <a:extLst>
              <a:ext uri="{FF2B5EF4-FFF2-40B4-BE49-F238E27FC236}">
                <a16:creationId xmlns:a16="http://schemas.microsoft.com/office/drawing/2014/main" id="{2F5D8D46-4960-6444-BE90-5BC8CA050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488" y="1535113"/>
            <a:ext cx="2657475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2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主存被分成若干大小相同的块，称为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主存块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(Block)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也被分成相同大小的块，称为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行（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line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槽（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Slot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kumimoji="1" lang="en-US" altLang="zh-CN" sz="20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3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39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39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39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39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39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3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39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763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3941" grpId="0"/>
      <p:bldP spid="763943" grpId="0"/>
      <p:bldP spid="7639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>
            <a:extLst>
              <a:ext uri="{FF2B5EF4-FFF2-40B4-BE49-F238E27FC236}">
                <a16:creationId xmlns:a16="http://schemas.microsoft.com/office/drawing/2014/main" id="{22573801-EB04-8149-BFED-7F7C8568AEC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825" y="0"/>
            <a:ext cx="8640763" cy="5334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en-US" altLang="zh-CN" sz="3200"/>
              <a:t>Cache</a:t>
            </a:r>
            <a:r>
              <a:rPr lang="zh-CN" altLang="en-US" sz="3200"/>
              <a:t>映射(</a:t>
            </a:r>
            <a:r>
              <a:rPr lang="en-US" altLang="zh-CN" sz="3200"/>
              <a:t>Cache Mapping)</a:t>
            </a: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ADFF2BB1-C3F7-2644-BCD0-988F25D29C4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90488" y="863600"/>
            <a:ext cx="8945562" cy="530225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什么是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的映射功能？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把访问的局部主存区域取到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中时，该放到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的何处？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行比主存块少，多个主存块映射到一个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行中</a:t>
            </a:r>
          </a:p>
          <a:p>
            <a:pPr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如何进行映射？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把主存空间划分成大小相等的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主存块（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  <a:p>
            <a:pPr lvl="1" eaLnBrk="1" hangingPunct="1">
              <a:lnSpc>
                <a:spcPct val="115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中存放一个主存块的对应单位称为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槽（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Slot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line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</a:p>
          <a:p>
            <a:pPr lvl="1" eaLnBrk="1" hangingPunct="1">
              <a:lnSpc>
                <a:spcPct val="115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有书中也称之为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块（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），</a:t>
            </a:r>
            <a:r>
              <a:rPr lang="zh-CN" altLang="en-US" sz="20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有书称之为页（</a:t>
            </a:r>
            <a:r>
              <a:rPr lang="en-US" altLang="zh-CN" sz="20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page</a:t>
            </a:r>
            <a:r>
              <a:rPr lang="zh-CN" altLang="en-US" sz="2000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）（不妥！）</a:t>
            </a:r>
          </a:p>
          <a:p>
            <a:pPr lvl="1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将主存块和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行按照以下三种方式进行映射</a:t>
            </a:r>
          </a:p>
          <a:p>
            <a:pPr lvl="2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直接(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Direct)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每个主存块映射到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的固定行</a:t>
            </a:r>
          </a:p>
          <a:p>
            <a:pPr lvl="2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全相联(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Full Associate)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每个主存块映射到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的任一行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2" eaLnBrk="1" hangingPunct="1">
              <a:lnSpc>
                <a:spcPct val="115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组相联(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Set Associate)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每个主存块映射到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固定组中任一行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eaLnBrk="1" hangingPunct="1">
              <a:buFontTx/>
              <a:buNone/>
            </a:pP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6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76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76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76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76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76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576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576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5765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>
            <a:extLst>
              <a:ext uri="{FF2B5EF4-FFF2-40B4-BE49-F238E27FC236}">
                <a16:creationId xmlns:a16="http://schemas.microsoft.com/office/drawing/2014/main" id="{79447998-068A-0C40-BD30-5AACFECF93C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5425" y="142875"/>
            <a:ext cx="8740775" cy="466725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en-US" altLang="zh-CN" sz="3200"/>
              <a:t>The Simplest Cache: </a:t>
            </a:r>
            <a:r>
              <a:rPr lang="en-US" altLang="zh-CN" sz="3200">
                <a:solidFill>
                  <a:srgbClr val="CC0000"/>
                </a:solidFill>
              </a:rPr>
              <a:t>Direct  Mapped Cache</a:t>
            </a:r>
          </a:p>
        </p:txBody>
      </p:sp>
      <p:sp>
        <p:nvSpPr>
          <p:cNvPr id="421891" name="Rectangle 3">
            <a:extLst>
              <a:ext uri="{FF2B5EF4-FFF2-40B4-BE49-F238E27FC236}">
                <a16:creationId xmlns:a16="http://schemas.microsoft.com/office/drawing/2014/main" id="{785A0C5B-5123-DB4B-94E8-0D9B25DC1BF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0825" y="908050"/>
            <a:ext cx="8674100" cy="2863850"/>
          </a:xfrm>
        </p:spPr>
        <p:txBody>
          <a:bodyPr lIns="91440" tIns="45720" rIns="91440" bIns="45720"/>
          <a:lstStyle/>
          <a:p>
            <a:pPr eaLnBrk="1" hangingPunct="1"/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Direct  Mapped 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" action="ppaction://hlinkshowjump?jump=nextslide"/>
              </a:rPr>
              <a:t>直接映射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" action="ppaction://hlinkshowjump?jump=nextslide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举例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把主存的每一块映射到一个固定的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行（槽）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也称模映射(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Module Mapping)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映射关系为：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行号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主存块号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 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行数</a:t>
            </a:r>
          </a:p>
          <a:p>
            <a:pPr eaLnBrk="1" hangingPunct="1"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举例：4=100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mod 16  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（假定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共有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行）</a:t>
            </a:r>
          </a:p>
          <a:p>
            <a:pPr eaLnBrk="1" hangingPunct="1"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(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说明：主存第100块应映射到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的第4行中。)</a:t>
            </a:r>
          </a:p>
        </p:txBody>
      </p:sp>
      <p:sp>
        <p:nvSpPr>
          <p:cNvPr id="421893" name="Rectangle 5">
            <a:extLst>
              <a:ext uri="{FF2B5EF4-FFF2-40B4-BE49-F238E27FC236}">
                <a16:creationId xmlns:a16="http://schemas.microsoft.com/office/drawing/2014/main" id="{64FC0D86-C824-1A49-B0D8-9ADD942F0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3722688"/>
            <a:ext cx="8596313" cy="303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20000"/>
              </a:spcBef>
              <a:buClr>
                <a:schemeClr val="tx1"/>
              </a:buClr>
              <a:buSzPct val="80000"/>
              <a:buFont typeface="Wingdings" pitchFamily="2" charset="2"/>
              <a:buChar char="u"/>
            </a:pPr>
            <a:r>
              <a:rPr kumimoji="1"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特点：</a:t>
            </a:r>
          </a:p>
          <a:p>
            <a:pPr lvl="1" eaLnBrk="1" hangingPunct="1">
              <a:lnSpc>
                <a:spcPct val="105000"/>
              </a:lnSpc>
              <a:spcBef>
                <a:spcPct val="20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容易实现，命中时间短</a:t>
            </a:r>
          </a:p>
          <a:p>
            <a:pPr lvl="1" eaLnBrk="1" hangingPunct="1">
              <a:lnSpc>
                <a:spcPct val="105000"/>
              </a:lnSpc>
              <a:spcBef>
                <a:spcPct val="20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无需考虑淘汰（替换）问题</a:t>
            </a:r>
          </a:p>
          <a:p>
            <a:pPr lvl="1" eaLnBrk="1" hangingPunct="1">
              <a:lnSpc>
                <a:spcPct val="105000"/>
              </a:lnSpc>
              <a:spcBef>
                <a:spcPct val="20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但不够灵活，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存储空间得不到充分利用，命中率低</a:t>
            </a:r>
            <a:endParaRPr kumimoji="1" lang="en-US" altLang="zh-CN" sz="22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eaLnBrk="1" hangingPunct="1">
              <a:lnSpc>
                <a:spcPct val="10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例如，需将主存第0块与第16块同时复制到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中时，由于它们都只能复制到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第0行，即使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其它行空闲，也有一个主存块不能写入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Cache。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这样就会产生频繁的 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装入。</a:t>
            </a:r>
            <a:endParaRPr kumimoji="1" lang="en-US" altLang="zh-CN" sz="2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1894" name="Text Box 6">
            <a:extLst>
              <a:ext uri="{FF2B5EF4-FFF2-40B4-BE49-F238E27FC236}">
                <a16:creationId xmlns:a16="http://schemas.microsoft.com/office/drawing/2014/main" id="{D838465B-0550-F04D-ADCA-0759A3365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38" y="4419600"/>
            <a:ext cx="11176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2" action="ppaction://hlinksldjump"/>
              </a:rPr>
              <a:t>SKIP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21895" name="Text Box 7">
            <a:extLst>
              <a:ext uri="{FF2B5EF4-FFF2-40B4-BE49-F238E27FC236}">
                <a16:creationId xmlns:a16="http://schemas.microsoft.com/office/drawing/2014/main" id="{E2A22D7A-2390-094B-958E-58B1B202A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1989138"/>
            <a:ext cx="31496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块（行）都从</a:t>
            </a:r>
            <a:r>
              <a:rPr kumimoji="1" lang="en-US" altLang="zh-CN" sz="2200" b="1">
                <a:solidFill>
                  <a:srgbClr val="0000FF"/>
                </a:solidFill>
                <a:ea typeface="黑体" panose="02010609060101010101" pitchFamily="49" charset="-122"/>
              </a:rPr>
              <a:t>0</a:t>
            </a: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开始编号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1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1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1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21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21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21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4218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18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4218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218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4" grpId="0"/>
      <p:bldP spid="42189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>
            <a:extLst>
              <a:ext uri="{FF2B5EF4-FFF2-40B4-BE49-F238E27FC236}">
                <a16:creationId xmlns:a16="http://schemas.microsoft.com/office/drawing/2014/main" id="{81CA5B14-C682-9D48-ABB4-19126EEB4E7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76250" y="141288"/>
            <a:ext cx="8640763" cy="4524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直接映射</a:t>
            </a:r>
            <a:r>
              <a:rPr lang="en-US" altLang="zh-CN"/>
              <a:t>Cache</a:t>
            </a:r>
            <a:r>
              <a:rPr lang="zh-CN" altLang="en-US"/>
              <a:t>组织示意图</a:t>
            </a:r>
          </a:p>
        </p:txBody>
      </p:sp>
      <p:pic>
        <p:nvPicPr>
          <p:cNvPr id="144387" name="Picture 3" descr="直接映射的Cache组织示意图">
            <a:extLst>
              <a:ext uri="{FF2B5EF4-FFF2-40B4-BE49-F238E27FC236}">
                <a16:creationId xmlns:a16="http://schemas.microsoft.com/office/drawing/2014/main" id="{1DCAD2AC-D3EA-BD41-B001-2B2562AF3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998538"/>
            <a:ext cx="6832600" cy="5400675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4388" name="Rectangle 4">
            <a:extLst>
              <a:ext uri="{FF2B5EF4-FFF2-40B4-BE49-F238E27FC236}">
                <a16:creationId xmlns:a16="http://schemas.microsoft.com/office/drawing/2014/main" id="{CB58F4D7-5330-AC44-98A5-C736785DC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79400"/>
            <a:ext cx="2301875" cy="33861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假定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数据在主存和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间的传送单位为512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大小：2</a:t>
            </a:r>
            <a:r>
              <a:rPr kumimoji="1" lang="zh-CN" altLang="en-US" sz="2000" b="1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13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B=8KB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=16行 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 512B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 行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</a:t>
            </a:r>
            <a:r>
              <a:rPr kumimoji="1"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=2</a:t>
            </a:r>
            <a:r>
              <a:rPr kumimoji="1" lang="en-US" altLang="zh-CN" b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</a:t>
            </a:r>
            <a:r>
              <a:rPr kumimoji="1"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en-US" altLang="zh-CN" b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kumimoji="1"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）</a:t>
            </a:r>
            <a:endParaRPr kumimoji="1" lang="zh-CN" altLang="en-US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主存大小：2</a:t>
            </a:r>
            <a:r>
              <a:rPr kumimoji="1" lang="zh-CN" altLang="en-US" sz="2000" b="1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B=1024KB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=2048块 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x 512B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/块</a:t>
            </a:r>
            <a:r>
              <a:rPr kumimoji="1"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(=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kumimoji="1" lang="en-US" altLang="zh-CN" b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11</a:t>
            </a:r>
            <a:r>
              <a:rPr kumimoji="1" lang="zh-CN" altLang="en-US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* 2</a:t>
            </a:r>
            <a:r>
              <a:rPr kumimoji="1" lang="en-US" altLang="zh-CN" b="1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</a:t>
            </a:r>
            <a:r>
              <a:rPr kumimoji="1" lang="en-US" altLang="zh-CN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kumimoji="1" lang="zh-CN" altLang="en-US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22917" name="Text Box 5">
            <a:extLst>
              <a:ext uri="{FF2B5EF4-FFF2-40B4-BE49-F238E27FC236}">
                <a16:creationId xmlns:a16="http://schemas.microsoft.com/office/drawing/2014/main" id="{04F4DDF5-3714-4C4D-BDFF-A37366825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3519488"/>
            <a:ext cx="1844675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标记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(tag)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指出对应行取自哪个主存块群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指出对应地址位于哪个块群</a:t>
            </a:r>
          </a:p>
        </p:txBody>
      </p:sp>
      <p:sp>
        <p:nvSpPr>
          <p:cNvPr id="422918" name="Line 6">
            <a:extLst>
              <a:ext uri="{FF2B5EF4-FFF2-40B4-BE49-F238E27FC236}">
                <a16:creationId xmlns:a16="http://schemas.microsoft.com/office/drawing/2014/main" id="{F65CC1DB-BDB8-F340-A431-15031A22C9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97088" y="3068638"/>
            <a:ext cx="674687" cy="7207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22919" name="Line 7">
            <a:extLst>
              <a:ext uri="{FF2B5EF4-FFF2-40B4-BE49-F238E27FC236}">
                <a16:creationId xmlns:a16="http://schemas.microsoft.com/office/drawing/2014/main" id="{C4034608-578B-5646-95B9-F47D500A4D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4914900"/>
            <a:ext cx="854075" cy="3143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22922" name="Text Box 10">
            <a:extLst>
              <a:ext uri="{FF2B5EF4-FFF2-40B4-BE49-F238E27FC236}">
                <a16:creationId xmlns:a16="http://schemas.microsoft.com/office/drawing/2014/main" id="{3B3CB685-C8DB-6D4C-968E-8CE4177998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5273675"/>
            <a:ext cx="1941512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例：如何对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0220CH</a:t>
            </a: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单元进行访问？</a:t>
            </a:r>
          </a:p>
        </p:txBody>
      </p:sp>
      <p:sp>
        <p:nvSpPr>
          <p:cNvPr id="144393" name="Text Box 11">
            <a:extLst>
              <a:ext uri="{FF2B5EF4-FFF2-40B4-BE49-F238E27FC236}">
                <a16:creationId xmlns:a16="http://schemas.microsoft.com/office/drawing/2014/main" id="{BBA79CE3-CD1B-774C-9691-3DA8324F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4125" y="3629025"/>
            <a:ext cx="8667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22924" name="Text Box 12">
            <a:extLst>
              <a:ext uri="{FF2B5EF4-FFF2-40B4-BE49-F238E27FC236}">
                <a16:creationId xmlns:a16="http://schemas.microsoft.com/office/drawing/2014/main" id="{946F82BD-873B-8748-8AB0-48096CC0B8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5075" y="3324225"/>
            <a:ext cx="7715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 i="1">
                <a:solidFill>
                  <a:srgbClr val="006600"/>
                </a:solidFill>
                <a:ea typeface="华文新魏" panose="02010800040101010101" pitchFamily="2" charset="-122"/>
              </a:rPr>
              <a:t>0220CH</a:t>
            </a:r>
          </a:p>
        </p:txBody>
      </p:sp>
      <p:sp>
        <p:nvSpPr>
          <p:cNvPr id="422925" name="Text Box 13">
            <a:extLst>
              <a:ext uri="{FF2B5EF4-FFF2-40B4-BE49-F238E27FC236}">
                <a16:creationId xmlns:a16="http://schemas.microsoft.com/office/drawing/2014/main" id="{FA538118-776E-544C-910B-2E900181B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6600" y="6248400"/>
            <a:ext cx="5934075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6600"/>
                </a:solidFill>
                <a:ea typeface="黑体" panose="02010609060101010101" pitchFamily="49" charset="-122"/>
              </a:rPr>
              <a:t>0000 001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</a:rPr>
              <a:t>0 001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0 0000 1100B 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是第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块群中的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0001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块（即第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17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块）中第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个单元！</a:t>
            </a:r>
          </a:p>
        </p:txBody>
      </p:sp>
      <p:sp>
        <p:nvSpPr>
          <p:cNvPr id="422926" name="Rectangle 14">
            <a:extLst>
              <a:ext uri="{FF2B5EF4-FFF2-40B4-BE49-F238E27FC236}">
                <a16:creationId xmlns:a16="http://schemas.microsoft.com/office/drawing/2014/main" id="{489EAFF7-04B1-D848-835C-8302F8B98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900" y="3267075"/>
            <a:ext cx="790575" cy="333375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22927" name="Rectangle 15">
            <a:extLst>
              <a:ext uri="{FF2B5EF4-FFF2-40B4-BE49-F238E27FC236}">
                <a16:creationId xmlns:a16="http://schemas.microsoft.com/office/drawing/2014/main" id="{BF4B3BD6-A5E0-2C41-BE16-CF5F3AF55E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2684463"/>
            <a:ext cx="762000" cy="333375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22929" name="Rectangle 17">
            <a:extLst>
              <a:ext uri="{FF2B5EF4-FFF2-40B4-BE49-F238E27FC236}">
                <a16:creationId xmlns:a16="http://schemas.microsoft.com/office/drawing/2014/main" id="{6F96F6BE-73B8-5746-A3F0-A1B71CE0F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2388" y="2779713"/>
            <a:ext cx="7889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0000001</a:t>
            </a:r>
            <a:endParaRPr kumimoji="1" lang="zh-CN" altLang="en-US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0DC883-28C1-C442-A479-711764ED05FC}"/>
              </a:ext>
            </a:extLst>
          </p:cNvPr>
          <p:cNvSpPr txBox="1"/>
          <p:nvPr/>
        </p:nvSpPr>
        <p:spPr>
          <a:xfrm>
            <a:off x="3581400" y="5133975"/>
            <a:ext cx="990600" cy="2301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500" b="1" dirty="0">
                <a:solidFill>
                  <a:srgbClr val="FF0000"/>
                </a:solidFill>
                <a:latin typeface="+mn-lt"/>
                <a:ea typeface="黑体" pitchFamily="49" charset="-122"/>
              </a:rPr>
              <a:t>Cache</a:t>
            </a:r>
            <a:r>
              <a:rPr kumimoji="1" lang="zh-CN" altLang="en-US" sz="1500" b="1" dirty="0">
                <a:solidFill>
                  <a:srgbClr val="FF0000"/>
                </a:solidFill>
                <a:latin typeface="+mn-lt"/>
                <a:ea typeface="黑体" pitchFamily="49" charset="-122"/>
              </a:rPr>
              <a:t>索引</a:t>
            </a:r>
          </a:p>
        </p:txBody>
      </p:sp>
      <p:grpSp>
        <p:nvGrpSpPr>
          <p:cNvPr id="2" name="组合 23">
            <a:extLst>
              <a:ext uri="{FF2B5EF4-FFF2-40B4-BE49-F238E27FC236}">
                <a16:creationId xmlns:a16="http://schemas.microsoft.com/office/drawing/2014/main" id="{745E7015-E87A-6448-933A-D337A282A5CC}"/>
              </a:ext>
            </a:extLst>
          </p:cNvPr>
          <p:cNvGrpSpPr>
            <a:grpSpLocks/>
          </p:cNvGrpSpPr>
          <p:nvPr/>
        </p:nvGrpSpPr>
        <p:grpSpPr bwMode="auto">
          <a:xfrm>
            <a:off x="2457450" y="5499100"/>
            <a:ext cx="2609850" cy="855663"/>
            <a:chOff x="2456765" y="5499230"/>
            <a:chExt cx="2610290" cy="855096"/>
          </a:xfrm>
        </p:grpSpPr>
        <p:cxnSp>
          <p:nvCxnSpPr>
            <p:cNvPr id="144401" name="直接箭头连接符 16">
              <a:extLst>
                <a:ext uri="{FF2B5EF4-FFF2-40B4-BE49-F238E27FC236}">
                  <a16:creationId xmlns:a16="http://schemas.microsoft.com/office/drawing/2014/main" id="{7FF14DA8-C18A-AE4C-80C2-F37B853B5D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56765" y="5634245"/>
              <a:ext cx="450050" cy="630070"/>
            </a:xfrm>
            <a:prstGeom prst="straightConnector1">
              <a:avLst/>
            </a:prstGeom>
            <a:noFill/>
            <a:ln w="38100" algn="ctr">
              <a:solidFill>
                <a:srgbClr val="008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02" name="直接箭头连接符 17">
              <a:extLst>
                <a:ext uri="{FF2B5EF4-FFF2-40B4-BE49-F238E27FC236}">
                  <a16:creationId xmlns:a16="http://schemas.microsoft.com/office/drawing/2014/main" id="{17CA4BC9-DC3C-9745-B769-8E41D0E7B9C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11860" y="5544235"/>
              <a:ext cx="495055" cy="765085"/>
            </a:xfrm>
            <a:prstGeom prst="straightConnector1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403" name="直接箭头连接符 19">
              <a:extLst>
                <a:ext uri="{FF2B5EF4-FFF2-40B4-BE49-F238E27FC236}">
                  <a16:creationId xmlns:a16="http://schemas.microsoft.com/office/drawing/2014/main" id="{CB043D83-78A6-5F47-8439-047090C0998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4481990" y="5499230"/>
              <a:ext cx="585065" cy="855096"/>
            </a:xfrm>
            <a:prstGeom prst="straightConnector1">
              <a:avLst/>
            </a:prstGeom>
            <a:noFill/>
            <a:ln w="38100" algn="ctr">
              <a:solidFill>
                <a:schemeClr val="accent2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2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2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29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2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22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2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2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22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22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22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2922" grpId="0"/>
      <p:bldP spid="422924" grpId="0"/>
      <p:bldP spid="422925" grpId="0" animBg="1"/>
      <p:bldP spid="422926" grpId="0" animBg="1"/>
      <p:bldP spid="422927" grpId="0" animBg="1"/>
      <p:bldP spid="422929" grpId="0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Text Box 3">
            <a:extLst>
              <a:ext uri="{FF2B5EF4-FFF2-40B4-BE49-F238E27FC236}">
                <a16:creationId xmlns:a16="http://schemas.microsoft.com/office/drawing/2014/main" id="{13B555BF-8642-514D-BEC7-F265A0CA9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3565525"/>
            <a:ext cx="54006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46435" name="Rectangle 8">
            <a:extLst>
              <a:ext uri="{FF2B5EF4-FFF2-40B4-BE49-F238E27FC236}">
                <a16:creationId xmlns:a16="http://schemas.microsoft.com/office/drawing/2014/main" id="{0798AE81-7AF8-F942-A420-A69778B2E6A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142875"/>
            <a:ext cx="8640763" cy="533400"/>
          </a:xfrm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有效位（</a:t>
            </a:r>
            <a:r>
              <a:rPr lang="en-US" altLang="zh-CN"/>
              <a:t>Valid Bit</a:t>
            </a:r>
            <a:r>
              <a:rPr lang="zh-CN" altLang="en-US"/>
              <a:t>）</a:t>
            </a:r>
          </a:p>
        </p:txBody>
      </p:sp>
      <p:sp>
        <p:nvSpPr>
          <p:cNvPr id="457737" name="Text Box 9">
            <a:extLst>
              <a:ext uri="{FF2B5EF4-FFF2-40B4-BE49-F238E27FC236}">
                <a16:creationId xmlns:a16="http://schemas.microsoft.com/office/drawing/2014/main" id="{9FB215AE-F7D5-4D43-940A-80206477A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3395663"/>
            <a:ext cx="8370887" cy="299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en-US" altLang="zh-CN" sz="2200" b="1">
                <a:ea typeface="黑体" panose="02010609060101010101" pitchFamily="49" charset="-122"/>
              </a:rPr>
              <a:t>  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为有效位，为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表示信息有效，为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表示信息无效</a:t>
            </a:r>
            <a:endParaRPr kumimoji="1"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开机或复位时，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使所有行的有效位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V=0</a:t>
            </a:r>
          </a:p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某行被替换后使其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V=1</a:t>
            </a:r>
          </a:p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某行装入新块时 使其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V=1</a:t>
            </a:r>
          </a:p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通过使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V=0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来冲刷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（例如：进程切换时，</a:t>
            </a:r>
            <a:r>
              <a:rPr kumimoji="1"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DMA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传送时）</a:t>
            </a:r>
            <a:endParaRPr kumimoji="1" lang="en-US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5000"/>
              </a:lnSpc>
              <a:spcBef>
                <a:spcPts val="800"/>
              </a:spcBef>
              <a:buFont typeface="Arial" panose="020B0604020202020204" pitchFamily="34" charset="0"/>
              <a:buChar char="•"/>
            </a:pP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 通常为操作系统设置</a:t>
            </a:r>
            <a:r>
              <a:rPr kumimoji="1"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kumimoji="1"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冲刷”指令</a:t>
            </a:r>
            <a:r>
              <a:rPr kumimoji="1"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，因此，</a:t>
            </a:r>
            <a:r>
              <a:rPr kumimoji="1" lang="en-US" altLang="zh-CN" sz="2000" b="1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99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对操作系统程序员不是透明的！</a:t>
            </a:r>
            <a:endParaRPr kumimoji="1" lang="zh-CN" altLang="en-US" sz="22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6437" name="Picture 2">
            <a:extLst>
              <a:ext uri="{FF2B5EF4-FFF2-40B4-BE49-F238E27FC236}">
                <a16:creationId xmlns:a16="http://schemas.microsoft.com/office/drawing/2014/main" id="{E8294A0C-46E5-B34E-AD3D-671330E0B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98538"/>
            <a:ext cx="7650163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DE93D5-EF71-444D-A08B-6CE33F72173B}"/>
              </a:ext>
            </a:extLst>
          </p:cNvPr>
          <p:cNvSpPr txBox="1"/>
          <p:nvPr/>
        </p:nvSpPr>
        <p:spPr>
          <a:xfrm>
            <a:off x="6597650" y="819150"/>
            <a:ext cx="2295525" cy="7080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为何要用有效位来区分是否有效？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7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7737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>
            <a:extLst>
              <a:ext uri="{FF2B5EF4-FFF2-40B4-BE49-F238E27FC236}">
                <a16:creationId xmlns:a16="http://schemas.microsoft.com/office/drawing/2014/main" id="{338BD60F-84D7-A14D-B4F8-1EA492F7E3B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95263" y="157163"/>
            <a:ext cx="8740775" cy="474662"/>
          </a:xfrm>
          <a:noFill/>
        </p:spPr>
        <p:txBody>
          <a:bodyPr wrap="none"/>
          <a:lstStyle/>
          <a:p>
            <a:pPr eaLnBrk="1" hangingPunct="1"/>
            <a:r>
              <a:rPr lang="en-US" altLang="zh-CN" sz="3200"/>
              <a:t>64 KB Direct Mapped Cache with 16B Blocks</a:t>
            </a:r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37C6D0F6-C3DC-514A-9150-95341D706C9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819150"/>
            <a:ext cx="8937625" cy="660400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200">
                <a:ea typeface="宋体" panose="02010600030101010101" pitchFamily="2" charset="-122"/>
              </a:rPr>
              <a:t>     </a:t>
            </a:r>
            <a:r>
              <a:rPr lang="zh-CN" altLang="en-US" sz="2000">
                <a:ea typeface="黑体" panose="02010609060101010101" pitchFamily="49" charset="-122"/>
              </a:rPr>
              <a:t>主存和</a:t>
            </a:r>
            <a:r>
              <a:rPr lang="en-US" altLang="zh-CN" sz="2000">
                <a:ea typeface="黑体" panose="02010609060101010101" pitchFamily="49" charset="-122"/>
              </a:rPr>
              <a:t>Cache</a:t>
            </a:r>
            <a:r>
              <a:rPr lang="zh-CN" altLang="en-US" sz="2000">
                <a:ea typeface="黑体" panose="02010609060101010101" pitchFamily="49" charset="-122"/>
              </a:rPr>
              <a:t>之间直接映射，块大小为</a:t>
            </a:r>
            <a:r>
              <a:rPr lang="en-US" altLang="zh-CN" sz="2000">
                <a:ea typeface="黑体" panose="02010609060101010101" pitchFamily="49" charset="-122"/>
              </a:rPr>
              <a:t>16B</a:t>
            </a:r>
            <a:r>
              <a:rPr lang="zh-CN" altLang="en-US" sz="2000">
                <a:ea typeface="黑体" panose="02010609060101010101" pitchFamily="49" charset="-122"/>
              </a:rPr>
              <a:t>。</a:t>
            </a:r>
            <a:r>
              <a:rPr lang="en-US" altLang="zh-CN" sz="2000">
                <a:ea typeface="黑体" panose="02010609060101010101" pitchFamily="49" charset="-122"/>
              </a:rPr>
              <a:t>Cache</a:t>
            </a:r>
            <a:r>
              <a:rPr lang="zh-CN" altLang="en-US" sz="2000">
                <a:ea typeface="黑体" panose="02010609060101010101" pitchFamily="49" charset="-122"/>
              </a:rPr>
              <a:t>的数据区容量为</a:t>
            </a:r>
            <a:r>
              <a:rPr lang="en-US" altLang="zh-CN" sz="2000">
                <a:ea typeface="黑体" panose="02010609060101010101" pitchFamily="49" charset="-122"/>
              </a:rPr>
              <a:t>64KB</a:t>
            </a:r>
            <a:r>
              <a:rPr lang="zh-CN" altLang="en-US" sz="2000">
                <a:ea typeface="黑体" panose="02010609060101010101" pitchFamily="49" charset="-122"/>
              </a:rPr>
              <a:t>，主存地址为</a:t>
            </a:r>
            <a:r>
              <a:rPr lang="en-US" altLang="zh-CN" sz="2000">
                <a:ea typeface="黑体" panose="02010609060101010101" pitchFamily="49" charset="-122"/>
              </a:rPr>
              <a:t>32</a:t>
            </a:r>
            <a:r>
              <a:rPr lang="zh-CN" altLang="en-US" sz="2000">
                <a:ea typeface="黑体" panose="02010609060101010101" pitchFamily="49" charset="-122"/>
              </a:rPr>
              <a:t>位，按字节编址。要求：说明主存地址如何划分和访存过程。</a:t>
            </a:r>
            <a:r>
              <a:rPr lang="en-US" altLang="zh-CN" sz="20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47460" name="Freeform 4">
            <a:extLst>
              <a:ext uri="{FF2B5EF4-FFF2-40B4-BE49-F238E27FC236}">
                <a16:creationId xmlns:a16="http://schemas.microsoft.com/office/drawing/2014/main" id="{34C9595A-4106-504C-9CC5-0BB46820F44F}"/>
              </a:ext>
            </a:extLst>
          </p:cNvPr>
          <p:cNvSpPr>
            <a:spLocks/>
          </p:cNvSpPr>
          <p:nvPr/>
        </p:nvSpPr>
        <p:spPr bwMode="auto">
          <a:xfrm>
            <a:off x="1755775" y="5086350"/>
            <a:ext cx="61913" cy="55563"/>
          </a:xfrm>
          <a:custGeom>
            <a:avLst/>
            <a:gdLst>
              <a:gd name="T0" fmla="*/ 2147483646 w 31"/>
              <a:gd name="T1" fmla="*/ 0 h 31"/>
              <a:gd name="T2" fmla="*/ 0 w 31"/>
              <a:gd name="T3" fmla="*/ 0 h 31"/>
              <a:gd name="T4" fmla="*/ 2147483646 w 31"/>
              <a:gd name="T5" fmla="*/ 2147483646 h 31"/>
              <a:gd name="T6" fmla="*/ 2147483646 w 31"/>
              <a:gd name="T7" fmla="*/ 0 h 31"/>
              <a:gd name="T8" fmla="*/ 2147483646 w 31"/>
              <a:gd name="T9" fmla="*/ 0 h 31"/>
              <a:gd name="T10" fmla="*/ 2147483646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29" y="0"/>
                </a:moveTo>
                <a:lnTo>
                  <a:pt x="0" y="0"/>
                </a:lnTo>
                <a:lnTo>
                  <a:pt x="14" y="31"/>
                </a:lnTo>
                <a:lnTo>
                  <a:pt x="31" y="0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1" name="Line 6">
            <a:extLst>
              <a:ext uri="{FF2B5EF4-FFF2-40B4-BE49-F238E27FC236}">
                <a16:creationId xmlns:a16="http://schemas.microsoft.com/office/drawing/2014/main" id="{6F67F757-2E72-E641-B9D5-503663384E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371850" y="2286000"/>
            <a:ext cx="80963" cy="428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2" name="Rectangle 7">
            <a:extLst>
              <a:ext uri="{FF2B5EF4-FFF2-40B4-BE49-F238E27FC236}">
                <a16:creationId xmlns:a16="http://schemas.microsoft.com/office/drawing/2014/main" id="{AA3676C8-AEA8-2E44-AC2C-72922B23D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168525"/>
            <a:ext cx="1968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kumimoji="1"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endParaRPr kumimoji="1"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3" name="Line 9">
            <a:extLst>
              <a:ext uri="{FF2B5EF4-FFF2-40B4-BE49-F238E27FC236}">
                <a16:creationId xmlns:a16="http://schemas.microsoft.com/office/drawing/2014/main" id="{A2084926-75D0-DF40-A503-6C27A9C0F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7938" y="2270125"/>
            <a:ext cx="157162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4" name="Rectangle 10">
            <a:extLst>
              <a:ext uri="{FF2B5EF4-FFF2-40B4-BE49-F238E27FC236}">
                <a16:creationId xmlns:a16="http://schemas.microsoft.com/office/drawing/2014/main" id="{3BE360A4-943E-D842-A41D-F7A711B12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7000" y="2168525"/>
            <a:ext cx="1968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kumimoji="1"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65" name="Rectangle 12">
            <a:extLst>
              <a:ext uri="{FF2B5EF4-FFF2-40B4-BE49-F238E27FC236}">
                <a16:creationId xmlns:a16="http://schemas.microsoft.com/office/drawing/2014/main" id="{E09B48D4-7DDE-3144-8CFD-AC5D482372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6413" y="2079625"/>
            <a:ext cx="16859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Byte offset</a:t>
            </a:r>
          </a:p>
        </p:txBody>
      </p:sp>
      <p:sp>
        <p:nvSpPr>
          <p:cNvPr id="147466" name="Freeform 13">
            <a:extLst>
              <a:ext uri="{FF2B5EF4-FFF2-40B4-BE49-F238E27FC236}">
                <a16:creationId xmlns:a16="http://schemas.microsoft.com/office/drawing/2014/main" id="{0F142EF2-2512-D147-BB77-0D356BD01EB8}"/>
              </a:ext>
            </a:extLst>
          </p:cNvPr>
          <p:cNvSpPr>
            <a:spLocks/>
          </p:cNvSpPr>
          <p:nvPr/>
        </p:nvSpPr>
        <p:spPr bwMode="auto">
          <a:xfrm>
            <a:off x="1314450" y="3130550"/>
            <a:ext cx="5762625" cy="1660525"/>
          </a:xfrm>
          <a:custGeom>
            <a:avLst/>
            <a:gdLst>
              <a:gd name="T0" fmla="*/ 2147483646 w 2903"/>
              <a:gd name="T1" fmla="*/ 2147483646 h 915"/>
              <a:gd name="T2" fmla="*/ 2147483646 w 2903"/>
              <a:gd name="T3" fmla="*/ 0 h 915"/>
              <a:gd name="T4" fmla="*/ 0 w 2903"/>
              <a:gd name="T5" fmla="*/ 0 h 915"/>
              <a:gd name="T6" fmla="*/ 0 w 2903"/>
              <a:gd name="T7" fmla="*/ 2147483646 h 915"/>
              <a:gd name="T8" fmla="*/ 2147483646 w 2903"/>
              <a:gd name="T9" fmla="*/ 2147483646 h 915"/>
              <a:gd name="T10" fmla="*/ 2147483646 w 2903"/>
              <a:gd name="T11" fmla="*/ 2147483646 h 91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3"/>
              <a:gd name="T19" fmla="*/ 0 h 915"/>
              <a:gd name="T20" fmla="*/ 2903 w 2903"/>
              <a:gd name="T21" fmla="*/ 915 h 91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3" h="915">
                <a:moveTo>
                  <a:pt x="2901" y="913"/>
                </a:moveTo>
                <a:lnTo>
                  <a:pt x="2903" y="0"/>
                </a:lnTo>
                <a:lnTo>
                  <a:pt x="0" y="0"/>
                </a:lnTo>
                <a:lnTo>
                  <a:pt x="0" y="915"/>
                </a:lnTo>
                <a:lnTo>
                  <a:pt x="2903" y="915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67" name="Rectangle 14">
            <a:extLst>
              <a:ext uri="{FF2B5EF4-FFF2-40B4-BE49-F238E27FC236}">
                <a16:creationId xmlns:a16="http://schemas.microsoft.com/office/drawing/2014/main" id="{E3896FB3-BC1F-E644-8163-B7A475028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425" y="2884488"/>
            <a:ext cx="11112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V</a:t>
            </a:r>
          </a:p>
        </p:txBody>
      </p:sp>
      <p:sp>
        <p:nvSpPr>
          <p:cNvPr id="147468" name="Rectangle 16">
            <a:extLst>
              <a:ext uri="{FF2B5EF4-FFF2-40B4-BE49-F238E27FC236}">
                <a16:creationId xmlns:a16="http://schemas.microsoft.com/office/drawing/2014/main" id="{2AA8010B-3498-C941-9D69-B5BBBC992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9413" y="2843213"/>
            <a:ext cx="342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tag</a:t>
            </a:r>
          </a:p>
        </p:txBody>
      </p:sp>
      <p:sp>
        <p:nvSpPr>
          <p:cNvPr id="147469" name="Freeform 22">
            <a:extLst>
              <a:ext uri="{FF2B5EF4-FFF2-40B4-BE49-F238E27FC236}">
                <a16:creationId xmlns:a16="http://schemas.microsoft.com/office/drawing/2014/main" id="{92A632B2-A041-C246-8127-9288978287C3}"/>
              </a:ext>
            </a:extLst>
          </p:cNvPr>
          <p:cNvSpPr>
            <a:spLocks/>
          </p:cNvSpPr>
          <p:nvPr/>
        </p:nvSpPr>
        <p:spPr bwMode="auto">
          <a:xfrm>
            <a:off x="1314450" y="3790950"/>
            <a:ext cx="5762625" cy="171450"/>
          </a:xfrm>
          <a:custGeom>
            <a:avLst/>
            <a:gdLst>
              <a:gd name="T0" fmla="*/ 2147483646 w 2903"/>
              <a:gd name="T1" fmla="*/ 2147483646 h 94"/>
              <a:gd name="T2" fmla="*/ 2147483646 w 2903"/>
              <a:gd name="T3" fmla="*/ 0 h 94"/>
              <a:gd name="T4" fmla="*/ 0 w 2903"/>
              <a:gd name="T5" fmla="*/ 0 h 94"/>
              <a:gd name="T6" fmla="*/ 0 w 2903"/>
              <a:gd name="T7" fmla="*/ 2147483646 h 94"/>
              <a:gd name="T8" fmla="*/ 2147483646 w 2903"/>
              <a:gd name="T9" fmla="*/ 2147483646 h 94"/>
              <a:gd name="T10" fmla="*/ 2147483646 w 2903"/>
              <a:gd name="T11" fmla="*/ 2147483646 h 94"/>
              <a:gd name="T12" fmla="*/ 2147483646 w 2903"/>
              <a:gd name="T13" fmla="*/ 2147483646 h 9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2903"/>
              <a:gd name="T22" fmla="*/ 0 h 94"/>
              <a:gd name="T23" fmla="*/ 2903 w 2903"/>
              <a:gd name="T24" fmla="*/ 94 h 9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2903" h="94">
                <a:moveTo>
                  <a:pt x="2901" y="92"/>
                </a:moveTo>
                <a:lnTo>
                  <a:pt x="2903" y="0"/>
                </a:lnTo>
                <a:lnTo>
                  <a:pt x="0" y="0"/>
                </a:lnTo>
                <a:lnTo>
                  <a:pt x="0" y="94"/>
                </a:lnTo>
                <a:lnTo>
                  <a:pt x="2903" y="94"/>
                </a:lnTo>
                <a:lnTo>
                  <a:pt x="2901" y="92"/>
                </a:lnTo>
                <a:close/>
              </a:path>
            </a:pathLst>
          </a:custGeom>
          <a:solidFill>
            <a:srgbClr val="CCCC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0" name="Freeform 23">
            <a:extLst>
              <a:ext uri="{FF2B5EF4-FFF2-40B4-BE49-F238E27FC236}">
                <a16:creationId xmlns:a16="http://schemas.microsoft.com/office/drawing/2014/main" id="{2003D7B5-8AFD-5341-9930-DB8E73EE2CC3}"/>
              </a:ext>
            </a:extLst>
          </p:cNvPr>
          <p:cNvSpPr>
            <a:spLocks/>
          </p:cNvSpPr>
          <p:nvPr/>
        </p:nvSpPr>
        <p:spPr bwMode="auto">
          <a:xfrm>
            <a:off x="1314450" y="3790950"/>
            <a:ext cx="5762625" cy="171450"/>
          </a:xfrm>
          <a:custGeom>
            <a:avLst/>
            <a:gdLst>
              <a:gd name="T0" fmla="*/ 2147483646 w 2903"/>
              <a:gd name="T1" fmla="*/ 2147483646 h 94"/>
              <a:gd name="T2" fmla="*/ 2147483646 w 2903"/>
              <a:gd name="T3" fmla="*/ 0 h 94"/>
              <a:gd name="T4" fmla="*/ 0 w 2903"/>
              <a:gd name="T5" fmla="*/ 0 h 94"/>
              <a:gd name="T6" fmla="*/ 0 w 2903"/>
              <a:gd name="T7" fmla="*/ 2147483646 h 94"/>
              <a:gd name="T8" fmla="*/ 2147483646 w 2903"/>
              <a:gd name="T9" fmla="*/ 2147483646 h 94"/>
              <a:gd name="T10" fmla="*/ 2147483646 w 2903"/>
              <a:gd name="T11" fmla="*/ 2147483646 h 9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03"/>
              <a:gd name="T19" fmla="*/ 0 h 94"/>
              <a:gd name="T20" fmla="*/ 2903 w 2903"/>
              <a:gd name="T21" fmla="*/ 94 h 9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03" h="94">
                <a:moveTo>
                  <a:pt x="2901" y="92"/>
                </a:moveTo>
                <a:lnTo>
                  <a:pt x="2903" y="0"/>
                </a:lnTo>
                <a:lnTo>
                  <a:pt x="0" y="0"/>
                </a:lnTo>
                <a:lnTo>
                  <a:pt x="0" y="94"/>
                </a:lnTo>
                <a:lnTo>
                  <a:pt x="2903" y="94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1" name="Freeform 24">
            <a:extLst>
              <a:ext uri="{FF2B5EF4-FFF2-40B4-BE49-F238E27FC236}">
                <a16:creationId xmlns:a16="http://schemas.microsoft.com/office/drawing/2014/main" id="{23DBB6FF-E8DF-D04D-9177-4F1C50C12FFD}"/>
              </a:ext>
            </a:extLst>
          </p:cNvPr>
          <p:cNvSpPr>
            <a:spLocks/>
          </p:cNvSpPr>
          <p:nvPr/>
        </p:nvSpPr>
        <p:spPr bwMode="auto">
          <a:xfrm>
            <a:off x="1360488" y="3849688"/>
            <a:ext cx="61912" cy="55562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2147483646 w 31"/>
              <a:gd name="T13" fmla="*/ 2147483646 h 31"/>
              <a:gd name="T14" fmla="*/ 2147483646 w 31"/>
              <a:gd name="T15" fmla="*/ 2147483646 h 31"/>
              <a:gd name="T16" fmla="*/ 2147483646 w 31"/>
              <a:gd name="T17" fmla="*/ 2147483646 h 31"/>
              <a:gd name="T18" fmla="*/ 2147483646 w 31"/>
              <a:gd name="T19" fmla="*/ 2147483646 h 31"/>
              <a:gd name="T20" fmla="*/ 2147483646 w 31"/>
              <a:gd name="T21" fmla="*/ 2147483646 h 31"/>
              <a:gd name="T22" fmla="*/ 2147483646 w 31"/>
              <a:gd name="T23" fmla="*/ 2147483646 h 31"/>
              <a:gd name="T24" fmla="*/ 2147483646 w 31"/>
              <a:gd name="T25" fmla="*/ 2147483646 h 31"/>
              <a:gd name="T26" fmla="*/ 2147483646 w 31"/>
              <a:gd name="T27" fmla="*/ 2147483646 h 31"/>
              <a:gd name="T28" fmla="*/ 2147483646 w 31"/>
              <a:gd name="T29" fmla="*/ 2147483646 h 31"/>
              <a:gd name="T30" fmla="*/ 2147483646 w 31"/>
              <a:gd name="T31" fmla="*/ 2147483646 h 31"/>
              <a:gd name="T32" fmla="*/ 2147483646 w 31"/>
              <a:gd name="T33" fmla="*/ 2147483646 h 31"/>
              <a:gd name="T34" fmla="*/ 2147483646 w 31"/>
              <a:gd name="T35" fmla="*/ 2147483646 h 31"/>
              <a:gd name="T36" fmla="*/ 2147483646 w 31"/>
              <a:gd name="T37" fmla="*/ 2147483646 h 31"/>
              <a:gd name="T38" fmla="*/ 2147483646 w 31"/>
              <a:gd name="T39" fmla="*/ 0 h 31"/>
              <a:gd name="T40" fmla="*/ 2147483646 w 31"/>
              <a:gd name="T41" fmla="*/ 0 h 31"/>
              <a:gd name="T42" fmla="*/ 2147483646 w 31"/>
              <a:gd name="T43" fmla="*/ 0 h 31"/>
              <a:gd name="T44" fmla="*/ 2147483646 w 31"/>
              <a:gd name="T45" fmla="*/ 2147483646 h 31"/>
              <a:gd name="T46" fmla="*/ 2147483646 w 31"/>
              <a:gd name="T47" fmla="*/ 2147483646 h 31"/>
              <a:gd name="T48" fmla="*/ 2147483646 w 31"/>
              <a:gd name="T49" fmla="*/ 2147483646 h 31"/>
              <a:gd name="T50" fmla="*/ 2147483646 w 31"/>
              <a:gd name="T51" fmla="*/ 2147483646 h 31"/>
              <a:gd name="T52" fmla="*/ 2147483646 w 31"/>
              <a:gd name="T53" fmla="*/ 2147483646 h 31"/>
              <a:gd name="T54" fmla="*/ 2147483646 w 31"/>
              <a:gd name="T55" fmla="*/ 2147483646 h 31"/>
              <a:gd name="T56" fmla="*/ 2147483646 w 31"/>
              <a:gd name="T57" fmla="*/ 2147483646 h 31"/>
              <a:gd name="T58" fmla="*/ 0 w 31"/>
              <a:gd name="T59" fmla="*/ 2147483646 h 31"/>
              <a:gd name="T60" fmla="*/ 0 w 31"/>
              <a:gd name="T61" fmla="*/ 2147483646 h 31"/>
              <a:gd name="T62" fmla="*/ 0 w 31"/>
              <a:gd name="T63" fmla="*/ 2147483646 h 31"/>
              <a:gd name="T64" fmla="*/ 2147483646 w 31"/>
              <a:gd name="T65" fmla="*/ 2147483646 h 31"/>
              <a:gd name="T66" fmla="*/ 2147483646 w 31"/>
              <a:gd name="T67" fmla="*/ 2147483646 h 31"/>
              <a:gd name="T68" fmla="*/ 2147483646 w 31"/>
              <a:gd name="T69" fmla="*/ 2147483646 h 31"/>
              <a:gd name="T70" fmla="*/ 2147483646 w 31"/>
              <a:gd name="T71" fmla="*/ 2147483646 h 31"/>
              <a:gd name="T72" fmla="*/ 2147483646 w 31"/>
              <a:gd name="T73" fmla="*/ 2147483646 h 31"/>
              <a:gd name="T74" fmla="*/ 2147483646 w 31"/>
              <a:gd name="T75" fmla="*/ 2147483646 h 31"/>
              <a:gd name="T76" fmla="*/ 2147483646 w 31"/>
              <a:gd name="T77" fmla="*/ 2147483646 h 31"/>
              <a:gd name="T78" fmla="*/ 2147483646 w 31"/>
              <a:gd name="T79" fmla="*/ 2147483646 h 31"/>
              <a:gd name="T80" fmla="*/ 2147483646 w 31"/>
              <a:gd name="T81" fmla="*/ 2147483646 h 31"/>
              <a:gd name="T82" fmla="*/ 2147483646 w 31"/>
              <a:gd name="T83" fmla="*/ 2147483646 h 31"/>
              <a:gd name="T84" fmla="*/ 2147483646 w 31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31"/>
              <a:gd name="T131" fmla="*/ 31 w 31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31">
                <a:moveTo>
                  <a:pt x="14" y="29"/>
                </a:moveTo>
                <a:lnTo>
                  <a:pt x="19" y="31"/>
                </a:lnTo>
                <a:lnTo>
                  <a:pt x="21" y="29"/>
                </a:lnTo>
                <a:lnTo>
                  <a:pt x="23" y="29"/>
                </a:lnTo>
                <a:lnTo>
                  <a:pt x="25" y="26"/>
                </a:lnTo>
                <a:lnTo>
                  <a:pt x="27" y="26"/>
                </a:lnTo>
                <a:lnTo>
                  <a:pt x="29" y="24"/>
                </a:lnTo>
                <a:lnTo>
                  <a:pt x="29" y="22"/>
                </a:lnTo>
                <a:lnTo>
                  <a:pt x="31" y="20"/>
                </a:lnTo>
                <a:lnTo>
                  <a:pt x="31" y="18"/>
                </a:lnTo>
                <a:lnTo>
                  <a:pt x="31" y="14"/>
                </a:lnTo>
                <a:lnTo>
                  <a:pt x="31" y="12"/>
                </a:lnTo>
                <a:lnTo>
                  <a:pt x="29" y="10"/>
                </a:lnTo>
                <a:lnTo>
                  <a:pt x="29" y="8"/>
                </a:lnTo>
                <a:lnTo>
                  <a:pt x="27" y="6"/>
                </a:lnTo>
                <a:lnTo>
                  <a:pt x="25" y="4"/>
                </a:lnTo>
                <a:lnTo>
                  <a:pt x="23" y="2"/>
                </a:lnTo>
                <a:lnTo>
                  <a:pt x="21" y="2"/>
                </a:lnTo>
                <a:lnTo>
                  <a:pt x="19" y="0"/>
                </a:lnTo>
                <a:lnTo>
                  <a:pt x="16" y="0"/>
                </a:lnTo>
                <a:lnTo>
                  <a:pt x="12" y="0"/>
                </a:lnTo>
                <a:lnTo>
                  <a:pt x="10" y="2"/>
                </a:lnTo>
                <a:lnTo>
                  <a:pt x="8" y="2"/>
                </a:lnTo>
                <a:lnTo>
                  <a:pt x="6" y="4"/>
                </a:lnTo>
                <a:lnTo>
                  <a:pt x="4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4"/>
                </a:lnTo>
                <a:lnTo>
                  <a:pt x="0" y="18"/>
                </a:lnTo>
                <a:lnTo>
                  <a:pt x="2" y="20"/>
                </a:lnTo>
                <a:lnTo>
                  <a:pt x="2" y="22"/>
                </a:lnTo>
                <a:lnTo>
                  <a:pt x="4" y="24"/>
                </a:lnTo>
                <a:lnTo>
                  <a:pt x="4" y="26"/>
                </a:lnTo>
                <a:lnTo>
                  <a:pt x="6" y="26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6" y="31"/>
                </a:lnTo>
                <a:lnTo>
                  <a:pt x="14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2" name="Freeform 25">
            <a:extLst>
              <a:ext uri="{FF2B5EF4-FFF2-40B4-BE49-F238E27FC236}">
                <a16:creationId xmlns:a16="http://schemas.microsoft.com/office/drawing/2014/main" id="{CC1B9F7E-BA48-E847-AFFB-FB155EE41075}"/>
              </a:ext>
            </a:extLst>
          </p:cNvPr>
          <p:cNvSpPr>
            <a:spLocks/>
          </p:cNvSpPr>
          <p:nvPr/>
        </p:nvSpPr>
        <p:spPr bwMode="auto">
          <a:xfrm>
            <a:off x="1755775" y="3840163"/>
            <a:ext cx="61913" cy="57150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2147483646 w 31"/>
              <a:gd name="T13" fmla="*/ 2147483646 h 31"/>
              <a:gd name="T14" fmla="*/ 2147483646 w 31"/>
              <a:gd name="T15" fmla="*/ 2147483646 h 31"/>
              <a:gd name="T16" fmla="*/ 2147483646 w 31"/>
              <a:gd name="T17" fmla="*/ 2147483646 h 31"/>
              <a:gd name="T18" fmla="*/ 2147483646 w 31"/>
              <a:gd name="T19" fmla="*/ 2147483646 h 31"/>
              <a:gd name="T20" fmla="*/ 2147483646 w 31"/>
              <a:gd name="T21" fmla="*/ 2147483646 h 31"/>
              <a:gd name="T22" fmla="*/ 2147483646 w 31"/>
              <a:gd name="T23" fmla="*/ 2147483646 h 31"/>
              <a:gd name="T24" fmla="*/ 2147483646 w 31"/>
              <a:gd name="T25" fmla="*/ 2147483646 h 31"/>
              <a:gd name="T26" fmla="*/ 2147483646 w 31"/>
              <a:gd name="T27" fmla="*/ 2147483646 h 31"/>
              <a:gd name="T28" fmla="*/ 2147483646 w 31"/>
              <a:gd name="T29" fmla="*/ 2147483646 h 31"/>
              <a:gd name="T30" fmla="*/ 2147483646 w 31"/>
              <a:gd name="T31" fmla="*/ 2147483646 h 31"/>
              <a:gd name="T32" fmla="*/ 2147483646 w 31"/>
              <a:gd name="T33" fmla="*/ 2147483646 h 31"/>
              <a:gd name="T34" fmla="*/ 2147483646 w 31"/>
              <a:gd name="T35" fmla="*/ 2147483646 h 31"/>
              <a:gd name="T36" fmla="*/ 2147483646 w 31"/>
              <a:gd name="T37" fmla="*/ 0 h 31"/>
              <a:gd name="T38" fmla="*/ 2147483646 w 31"/>
              <a:gd name="T39" fmla="*/ 0 h 31"/>
              <a:gd name="T40" fmla="*/ 2147483646 w 31"/>
              <a:gd name="T41" fmla="*/ 0 h 31"/>
              <a:gd name="T42" fmla="*/ 2147483646 w 31"/>
              <a:gd name="T43" fmla="*/ 0 h 31"/>
              <a:gd name="T44" fmla="*/ 2147483646 w 31"/>
              <a:gd name="T45" fmla="*/ 0 h 31"/>
              <a:gd name="T46" fmla="*/ 2147483646 w 31"/>
              <a:gd name="T47" fmla="*/ 2147483646 h 31"/>
              <a:gd name="T48" fmla="*/ 2147483646 w 31"/>
              <a:gd name="T49" fmla="*/ 2147483646 h 31"/>
              <a:gd name="T50" fmla="*/ 2147483646 w 31"/>
              <a:gd name="T51" fmla="*/ 2147483646 h 31"/>
              <a:gd name="T52" fmla="*/ 2147483646 w 31"/>
              <a:gd name="T53" fmla="*/ 2147483646 h 31"/>
              <a:gd name="T54" fmla="*/ 2147483646 w 31"/>
              <a:gd name="T55" fmla="*/ 2147483646 h 31"/>
              <a:gd name="T56" fmla="*/ 0 w 31"/>
              <a:gd name="T57" fmla="*/ 2147483646 h 31"/>
              <a:gd name="T58" fmla="*/ 0 w 31"/>
              <a:gd name="T59" fmla="*/ 2147483646 h 31"/>
              <a:gd name="T60" fmla="*/ 0 w 31"/>
              <a:gd name="T61" fmla="*/ 2147483646 h 31"/>
              <a:gd name="T62" fmla="*/ 0 w 31"/>
              <a:gd name="T63" fmla="*/ 2147483646 h 31"/>
              <a:gd name="T64" fmla="*/ 0 w 31"/>
              <a:gd name="T65" fmla="*/ 2147483646 h 31"/>
              <a:gd name="T66" fmla="*/ 2147483646 w 31"/>
              <a:gd name="T67" fmla="*/ 2147483646 h 31"/>
              <a:gd name="T68" fmla="*/ 2147483646 w 31"/>
              <a:gd name="T69" fmla="*/ 2147483646 h 31"/>
              <a:gd name="T70" fmla="*/ 2147483646 w 31"/>
              <a:gd name="T71" fmla="*/ 2147483646 h 31"/>
              <a:gd name="T72" fmla="*/ 2147483646 w 31"/>
              <a:gd name="T73" fmla="*/ 2147483646 h 31"/>
              <a:gd name="T74" fmla="*/ 2147483646 w 31"/>
              <a:gd name="T75" fmla="*/ 2147483646 h 31"/>
              <a:gd name="T76" fmla="*/ 2147483646 w 31"/>
              <a:gd name="T77" fmla="*/ 2147483646 h 31"/>
              <a:gd name="T78" fmla="*/ 2147483646 w 31"/>
              <a:gd name="T79" fmla="*/ 2147483646 h 31"/>
              <a:gd name="T80" fmla="*/ 2147483646 w 31"/>
              <a:gd name="T81" fmla="*/ 2147483646 h 31"/>
              <a:gd name="T82" fmla="*/ 2147483646 w 31"/>
              <a:gd name="T83" fmla="*/ 2147483646 h 31"/>
              <a:gd name="T84" fmla="*/ 2147483646 w 31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31"/>
              <a:gd name="T131" fmla="*/ 31 w 31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31">
                <a:moveTo>
                  <a:pt x="14" y="29"/>
                </a:moveTo>
                <a:lnTo>
                  <a:pt x="16" y="31"/>
                </a:lnTo>
                <a:lnTo>
                  <a:pt x="20" y="29"/>
                </a:lnTo>
                <a:lnTo>
                  <a:pt x="22" y="29"/>
                </a:lnTo>
                <a:lnTo>
                  <a:pt x="25" y="27"/>
                </a:lnTo>
                <a:lnTo>
                  <a:pt x="27" y="25"/>
                </a:lnTo>
                <a:lnTo>
                  <a:pt x="29" y="23"/>
                </a:lnTo>
                <a:lnTo>
                  <a:pt x="29" y="21"/>
                </a:lnTo>
                <a:lnTo>
                  <a:pt x="29" y="19"/>
                </a:lnTo>
                <a:lnTo>
                  <a:pt x="31" y="15"/>
                </a:lnTo>
                <a:lnTo>
                  <a:pt x="29" y="13"/>
                </a:lnTo>
                <a:lnTo>
                  <a:pt x="29" y="11"/>
                </a:lnTo>
                <a:lnTo>
                  <a:pt x="29" y="9"/>
                </a:lnTo>
                <a:lnTo>
                  <a:pt x="27" y="7"/>
                </a:lnTo>
                <a:lnTo>
                  <a:pt x="25" y="5"/>
                </a:lnTo>
                <a:lnTo>
                  <a:pt x="25" y="2"/>
                </a:lnTo>
                <a:lnTo>
                  <a:pt x="22" y="2"/>
                </a:lnTo>
                <a:lnTo>
                  <a:pt x="20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8" y="2"/>
                </a:lnTo>
                <a:lnTo>
                  <a:pt x="6" y="2"/>
                </a:lnTo>
                <a:lnTo>
                  <a:pt x="4" y="5"/>
                </a:lnTo>
                <a:lnTo>
                  <a:pt x="2" y="7"/>
                </a:lnTo>
                <a:lnTo>
                  <a:pt x="2" y="9"/>
                </a:lnTo>
                <a:lnTo>
                  <a:pt x="0" y="11"/>
                </a:lnTo>
                <a:lnTo>
                  <a:pt x="0" y="13"/>
                </a:lnTo>
                <a:lnTo>
                  <a:pt x="0" y="15"/>
                </a:lnTo>
                <a:lnTo>
                  <a:pt x="0" y="19"/>
                </a:lnTo>
                <a:lnTo>
                  <a:pt x="0" y="21"/>
                </a:lnTo>
                <a:lnTo>
                  <a:pt x="2" y="23"/>
                </a:lnTo>
                <a:lnTo>
                  <a:pt x="2" y="25"/>
                </a:lnTo>
                <a:lnTo>
                  <a:pt x="4" y="27"/>
                </a:lnTo>
                <a:lnTo>
                  <a:pt x="6" y="27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4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3" name="Freeform 26">
            <a:extLst>
              <a:ext uri="{FF2B5EF4-FFF2-40B4-BE49-F238E27FC236}">
                <a16:creationId xmlns:a16="http://schemas.microsoft.com/office/drawing/2014/main" id="{08C4EF60-8060-7544-91C7-8F740715A219}"/>
              </a:ext>
            </a:extLst>
          </p:cNvPr>
          <p:cNvSpPr>
            <a:spLocks/>
          </p:cNvSpPr>
          <p:nvPr/>
        </p:nvSpPr>
        <p:spPr bwMode="auto">
          <a:xfrm>
            <a:off x="2676525" y="3849688"/>
            <a:ext cx="61913" cy="55562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2147483646 w 31"/>
              <a:gd name="T13" fmla="*/ 2147483646 h 31"/>
              <a:gd name="T14" fmla="*/ 2147483646 w 31"/>
              <a:gd name="T15" fmla="*/ 2147483646 h 31"/>
              <a:gd name="T16" fmla="*/ 2147483646 w 31"/>
              <a:gd name="T17" fmla="*/ 2147483646 h 31"/>
              <a:gd name="T18" fmla="*/ 2147483646 w 31"/>
              <a:gd name="T19" fmla="*/ 2147483646 h 31"/>
              <a:gd name="T20" fmla="*/ 2147483646 w 31"/>
              <a:gd name="T21" fmla="*/ 2147483646 h 31"/>
              <a:gd name="T22" fmla="*/ 2147483646 w 31"/>
              <a:gd name="T23" fmla="*/ 2147483646 h 31"/>
              <a:gd name="T24" fmla="*/ 2147483646 w 31"/>
              <a:gd name="T25" fmla="*/ 2147483646 h 31"/>
              <a:gd name="T26" fmla="*/ 2147483646 w 31"/>
              <a:gd name="T27" fmla="*/ 2147483646 h 31"/>
              <a:gd name="T28" fmla="*/ 2147483646 w 31"/>
              <a:gd name="T29" fmla="*/ 2147483646 h 31"/>
              <a:gd name="T30" fmla="*/ 2147483646 w 31"/>
              <a:gd name="T31" fmla="*/ 2147483646 h 31"/>
              <a:gd name="T32" fmla="*/ 2147483646 w 31"/>
              <a:gd name="T33" fmla="*/ 2147483646 h 31"/>
              <a:gd name="T34" fmla="*/ 2147483646 w 31"/>
              <a:gd name="T35" fmla="*/ 2147483646 h 31"/>
              <a:gd name="T36" fmla="*/ 2147483646 w 31"/>
              <a:gd name="T37" fmla="*/ 2147483646 h 31"/>
              <a:gd name="T38" fmla="*/ 2147483646 w 31"/>
              <a:gd name="T39" fmla="*/ 0 h 31"/>
              <a:gd name="T40" fmla="*/ 2147483646 w 31"/>
              <a:gd name="T41" fmla="*/ 0 h 31"/>
              <a:gd name="T42" fmla="*/ 2147483646 w 31"/>
              <a:gd name="T43" fmla="*/ 0 h 31"/>
              <a:gd name="T44" fmla="*/ 2147483646 w 31"/>
              <a:gd name="T45" fmla="*/ 2147483646 h 31"/>
              <a:gd name="T46" fmla="*/ 2147483646 w 31"/>
              <a:gd name="T47" fmla="*/ 2147483646 h 31"/>
              <a:gd name="T48" fmla="*/ 2147483646 w 31"/>
              <a:gd name="T49" fmla="*/ 2147483646 h 31"/>
              <a:gd name="T50" fmla="*/ 2147483646 w 31"/>
              <a:gd name="T51" fmla="*/ 2147483646 h 31"/>
              <a:gd name="T52" fmla="*/ 2147483646 w 31"/>
              <a:gd name="T53" fmla="*/ 2147483646 h 31"/>
              <a:gd name="T54" fmla="*/ 2147483646 w 31"/>
              <a:gd name="T55" fmla="*/ 2147483646 h 31"/>
              <a:gd name="T56" fmla="*/ 0 w 31"/>
              <a:gd name="T57" fmla="*/ 2147483646 h 31"/>
              <a:gd name="T58" fmla="*/ 0 w 31"/>
              <a:gd name="T59" fmla="*/ 2147483646 h 31"/>
              <a:gd name="T60" fmla="*/ 0 w 31"/>
              <a:gd name="T61" fmla="*/ 2147483646 h 31"/>
              <a:gd name="T62" fmla="*/ 0 w 31"/>
              <a:gd name="T63" fmla="*/ 2147483646 h 31"/>
              <a:gd name="T64" fmla="*/ 0 w 31"/>
              <a:gd name="T65" fmla="*/ 2147483646 h 31"/>
              <a:gd name="T66" fmla="*/ 2147483646 w 31"/>
              <a:gd name="T67" fmla="*/ 2147483646 h 31"/>
              <a:gd name="T68" fmla="*/ 2147483646 w 31"/>
              <a:gd name="T69" fmla="*/ 2147483646 h 31"/>
              <a:gd name="T70" fmla="*/ 2147483646 w 31"/>
              <a:gd name="T71" fmla="*/ 2147483646 h 31"/>
              <a:gd name="T72" fmla="*/ 2147483646 w 31"/>
              <a:gd name="T73" fmla="*/ 2147483646 h 31"/>
              <a:gd name="T74" fmla="*/ 2147483646 w 31"/>
              <a:gd name="T75" fmla="*/ 2147483646 h 31"/>
              <a:gd name="T76" fmla="*/ 2147483646 w 31"/>
              <a:gd name="T77" fmla="*/ 2147483646 h 31"/>
              <a:gd name="T78" fmla="*/ 2147483646 w 31"/>
              <a:gd name="T79" fmla="*/ 2147483646 h 31"/>
              <a:gd name="T80" fmla="*/ 2147483646 w 31"/>
              <a:gd name="T81" fmla="*/ 2147483646 h 31"/>
              <a:gd name="T82" fmla="*/ 2147483646 w 31"/>
              <a:gd name="T83" fmla="*/ 2147483646 h 31"/>
              <a:gd name="T84" fmla="*/ 2147483646 w 31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31"/>
              <a:gd name="T131" fmla="*/ 31 w 31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31">
                <a:moveTo>
                  <a:pt x="14" y="29"/>
                </a:moveTo>
                <a:lnTo>
                  <a:pt x="16" y="31"/>
                </a:lnTo>
                <a:lnTo>
                  <a:pt x="20" y="29"/>
                </a:lnTo>
                <a:lnTo>
                  <a:pt x="22" y="29"/>
                </a:lnTo>
                <a:lnTo>
                  <a:pt x="24" y="26"/>
                </a:lnTo>
                <a:lnTo>
                  <a:pt x="26" y="24"/>
                </a:lnTo>
                <a:lnTo>
                  <a:pt x="29" y="22"/>
                </a:lnTo>
                <a:lnTo>
                  <a:pt x="29" y="20"/>
                </a:lnTo>
                <a:lnTo>
                  <a:pt x="31" y="18"/>
                </a:lnTo>
                <a:lnTo>
                  <a:pt x="31" y="14"/>
                </a:lnTo>
                <a:lnTo>
                  <a:pt x="31" y="12"/>
                </a:lnTo>
                <a:lnTo>
                  <a:pt x="29" y="10"/>
                </a:lnTo>
                <a:lnTo>
                  <a:pt x="29" y="8"/>
                </a:lnTo>
                <a:lnTo>
                  <a:pt x="26" y="6"/>
                </a:lnTo>
                <a:lnTo>
                  <a:pt x="24" y="4"/>
                </a:lnTo>
                <a:lnTo>
                  <a:pt x="22" y="2"/>
                </a:lnTo>
                <a:lnTo>
                  <a:pt x="20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2"/>
                </a:lnTo>
                <a:lnTo>
                  <a:pt x="8" y="2"/>
                </a:lnTo>
                <a:lnTo>
                  <a:pt x="6" y="4"/>
                </a:lnTo>
                <a:lnTo>
                  <a:pt x="4" y="4"/>
                </a:lnTo>
                <a:lnTo>
                  <a:pt x="2" y="6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8"/>
                </a:lnTo>
                <a:lnTo>
                  <a:pt x="0" y="20"/>
                </a:lnTo>
                <a:lnTo>
                  <a:pt x="2" y="22"/>
                </a:lnTo>
                <a:lnTo>
                  <a:pt x="2" y="24"/>
                </a:lnTo>
                <a:lnTo>
                  <a:pt x="4" y="26"/>
                </a:lnTo>
                <a:lnTo>
                  <a:pt x="6" y="26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4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4" name="Freeform 27">
            <a:extLst>
              <a:ext uri="{FF2B5EF4-FFF2-40B4-BE49-F238E27FC236}">
                <a16:creationId xmlns:a16="http://schemas.microsoft.com/office/drawing/2014/main" id="{9F5234E2-BEB0-A84F-A520-13A652F49151}"/>
              </a:ext>
            </a:extLst>
          </p:cNvPr>
          <p:cNvSpPr>
            <a:spLocks/>
          </p:cNvSpPr>
          <p:nvPr/>
        </p:nvSpPr>
        <p:spPr bwMode="auto">
          <a:xfrm>
            <a:off x="1241425" y="3849688"/>
            <a:ext cx="61913" cy="55562"/>
          </a:xfrm>
          <a:custGeom>
            <a:avLst/>
            <a:gdLst>
              <a:gd name="T0" fmla="*/ 0 w 31"/>
              <a:gd name="T1" fmla="*/ 0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0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0" y="0"/>
                </a:moveTo>
                <a:lnTo>
                  <a:pt x="2" y="31"/>
                </a:lnTo>
                <a:lnTo>
                  <a:pt x="31" y="16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5" name="Freeform 29">
            <a:extLst>
              <a:ext uri="{FF2B5EF4-FFF2-40B4-BE49-F238E27FC236}">
                <a16:creationId xmlns:a16="http://schemas.microsoft.com/office/drawing/2014/main" id="{262DEA60-BD61-5948-8DD6-B2EB697C3561}"/>
              </a:ext>
            </a:extLst>
          </p:cNvPr>
          <p:cNvSpPr>
            <a:spLocks/>
          </p:cNvSpPr>
          <p:nvPr/>
        </p:nvSpPr>
        <p:spPr bwMode="auto">
          <a:xfrm>
            <a:off x="7935913" y="2973388"/>
            <a:ext cx="100012" cy="80962"/>
          </a:xfrm>
          <a:custGeom>
            <a:avLst/>
            <a:gdLst>
              <a:gd name="T0" fmla="*/ 0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0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0 w 31"/>
              <a:gd name="T11" fmla="*/ 2147483646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0" y="29"/>
                </a:moveTo>
                <a:lnTo>
                  <a:pt x="31" y="31"/>
                </a:lnTo>
                <a:lnTo>
                  <a:pt x="16" y="0"/>
                </a:lnTo>
                <a:lnTo>
                  <a:pt x="2" y="31"/>
                </a:lnTo>
                <a:lnTo>
                  <a:pt x="0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6" name="Freeform 30">
            <a:extLst>
              <a:ext uri="{FF2B5EF4-FFF2-40B4-BE49-F238E27FC236}">
                <a16:creationId xmlns:a16="http://schemas.microsoft.com/office/drawing/2014/main" id="{9AD853C7-6629-4940-98CE-FD097CF4B0B4}"/>
              </a:ext>
            </a:extLst>
          </p:cNvPr>
          <p:cNvSpPr>
            <a:spLocks/>
          </p:cNvSpPr>
          <p:nvPr/>
        </p:nvSpPr>
        <p:spPr bwMode="auto">
          <a:xfrm>
            <a:off x="1282700" y="5614988"/>
            <a:ext cx="238125" cy="260350"/>
          </a:xfrm>
          <a:custGeom>
            <a:avLst/>
            <a:gdLst>
              <a:gd name="T0" fmla="*/ 0 w 120"/>
              <a:gd name="T1" fmla="*/ 2147483646 h 143"/>
              <a:gd name="T2" fmla="*/ 2147483646 w 120"/>
              <a:gd name="T3" fmla="*/ 2147483646 h 143"/>
              <a:gd name="T4" fmla="*/ 2147483646 w 120"/>
              <a:gd name="T5" fmla="*/ 2147483646 h 143"/>
              <a:gd name="T6" fmla="*/ 2147483646 w 120"/>
              <a:gd name="T7" fmla="*/ 2147483646 h 143"/>
              <a:gd name="T8" fmla="*/ 2147483646 w 120"/>
              <a:gd name="T9" fmla="*/ 2147483646 h 143"/>
              <a:gd name="T10" fmla="*/ 2147483646 w 120"/>
              <a:gd name="T11" fmla="*/ 2147483646 h 143"/>
              <a:gd name="T12" fmla="*/ 2147483646 w 120"/>
              <a:gd name="T13" fmla="*/ 2147483646 h 143"/>
              <a:gd name="T14" fmla="*/ 2147483646 w 120"/>
              <a:gd name="T15" fmla="*/ 2147483646 h 143"/>
              <a:gd name="T16" fmla="*/ 2147483646 w 120"/>
              <a:gd name="T17" fmla="*/ 2147483646 h 143"/>
              <a:gd name="T18" fmla="*/ 2147483646 w 120"/>
              <a:gd name="T19" fmla="*/ 2147483646 h 143"/>
              <a:gd name="T20" fmla="*/ 2147483646 w 120"/>
              <a:gd name="T21" fmla="*/ 2147483646 h 143"/>
              <a:gd name="T22" fmla="*/ 2147483646 w 120"/>
              <a:gd name="T23" fmla="*/ 2147483646 h 143"/>
              <a:gd name="T24" fmla="*/ 2147483646 w 120"/>
              <a:gd name="T25" fmla="*/ 2147483646 h 143"/>
              <a:gd name="T26" fmla="*/ 2147483646 w 120"/>
              <a:gd name="T27" fmla="*/ 2147483646 h 143"/>
              <a:gd name="T28" fmla="*/ 2147483646 w 120"/>
              <a:gd name="T29" fmla="*/ 2147483646 h 143"/>
              <a:gd name="T30" fmla="*/ 2147483646 w 120"/>
              <a:gd name="T31" fmla="*/ 2147483646 h 143"/>
              <a:gd name="T32" fmla="*/ 2147483646 w 120"/>
              <a:gd name="T33" fmla="*/ 2147483646 h 143"/>
              <a:gd name="T34" fmla="*/ 2147483646 w 120"/>
              <a:gd name="T35" fmla="*/ 2147483646 h 143"/>
              <a:gd name="T36" fmla="*/ 2147483646 w 120"/>
              <a:gd name="T37" fmla="*/ 2147483646 h 143"/>
              <a:gd name="T38" fmla="*/ 2147483646 w 120"/>
              <a:gd name="T39" fmla="*/ 2147483646 h 143"/>
              <a:gd name="T40" fmla="*/ 2147483646 w 120"/>
              <a:gd name="T41" fmla="*/ 2147483646 h 143"/>
              <a:gd name="T42" fmla="*/ 2147483646 w 120"/>
              <a:gd name="T43" fmla="*/ 0 h 143"/>
              <a:gd name="T44" fmla="*/ 2147483646 w 120"/>
              <a:gd name="T45" fmla="*/ 0 h 143"/>
              <a:gd name="T46" fmla="*/ 2147483646 w 120"/>
              <a:gd name="T47" fmla="*/ 2147483646 h 143"/>
              <a:gd name="T48" fmla="*/ 2147483646 w 120"/>
              <a:gd name="T49" fmla="*/ 2147483646 h 143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120"/>
              <a:gd name="T76" fmla="*/ 0 h 143"/>
              <a:gd name="T77" fmla="*/ 120 w 120"/>
              <a:gd name="T78" fmla="*/ 143 h 143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120" h="143">
                <a:moveTo>
                  <a:pt x="0" y="85"/>
                </a:moveTo>
                <a:lnTo>
                  <a:pt x="2" y="95"/>
                </a:lnTo>
                <a:lnTo>
                  <a:pt x="4" y="103"/>
                </a:lnTo>
                <a:lnTo>
                  <a:pt x="8" y="111"/>
                </a:lnTo>
                <a:lnTo>
                  <a:pt x="12" y="120"/>
                </a:lnTo>
                <a:lnTo>
                  <a:pt x="18" y="126"/>
                </a:lnTo>
                <a:lnTo>
                  <a:pt x="24" y="132"/>
                </a:lnTo>
                <a:lnTo>
                  <a:pt x="33" y="136"/>
                </a:lnTo>
                <a:lnTo>
                  <a:pt x="41" y="140"/>
                </a:lnTo>
                <a:lnTo>
                  <a:pt x="51" y="143"/>
                </a:lnTo>
                <a:lnTo>
                  <a:pt x="62" y="143"/>
                </a:lnTo>
                <a:lnTo>
                  <a:pt x="70" y="143"/>
                </a:lnTo>
                <a:lnTo>
                  <a:pt x="80" y="140"/>
                </a:lnTo>
                <a:lnTo>
                  <a:pt x="89" y="136"/>
                </a:lnTo>
                <a:lnTo>
                  <a:pt x="97" y="132"/>
                </a:lnTo>
                <a:lnTo>
                  <a:pt x="103" y="126"/>
                </a:lnTo>
                <a:lnTo>
                  <a:pt x="109" y="120"/>
                </a:lnTo>
                <a:lnTo>
                  <a:pt x="113" y="111"/>
                </a:lnTo>
                <a:lnTo>
                  <a:pt x="118" y="103"/>
                </a:lnTo>
                <a:lnTo>
                  <a:pt x="120" y="95"/>
                </a:lnTo>
                <a:lnTo>
                  <a:pt x="120" y="85"/>
                </a:lnTo>
                <a:lnTo>
                  <a:pt x="120" y="0"/>
                </a:lnTo>
                <a:lnTo>
                  <a:pt x="2" y="0"/>
                </a:lnTo>
                <a:lnTo>
                  <a:pt x="2" y="85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7" name="Freeform 31">
            <a:extLst>
              <a:ext uri="{FF2B5EF4-FFF2-40B4-BE49-F238E27FC236}">
                <a16:creationId xmlns:a16="http://schemas.microsoft.com/office/drawing/2014/main" id="{9FFE33F2-9700-7D48-80D4-FA2273F46364}"/>
              </a:ext>
            </a:extLst>
          </p:cNvPr>
          <p:cNvSpPr>
            <a:spLocks/>
          </p:cNvSpPr>
          <p:nvPr/>
        </p:nvSpPr>
        <p:spPr bwMode="auto">
          <a:xfrm>
            <a:off x="1647825" y="5149850"/>
            <a:ext cx="273050" cy="247650"/>
          </a:xfrm>
          <a:custGeom>
            <a:avLst/>
            <a:gdLst>
              <a:gd name="T0" fmla="*/ 2147483646 w 137"/>
              <a:gd name="T1" fmla="*/ 2147483646 h 137"/>
              <a:gd name="T2" fmla="*/ 2147483646 w 137"/>
              <a:gd name="T3" fmla="*/ 2147483646 h 137"/>
              <a:gd name="T4" fmla="*/ 2147483646 w 137"/>
              <a:gd name="T5" fmla="*/ 2147483646 h 137"/>
              <a:gd name="T6" fmla="*/ 2147483646 w 137"/>
              <a:gd name="T7" fmla="*/ 2147483646 h 137"/>
              <a:gd name="T8" fmla="*/ 2147483646 w 137"/>
              <a:gd name="T9" fmla="*/ 2147483646 h 137"/>
              <a:gd name="T10" fmla="*/ 2147483646 w 137"/>
              <a:gd name="T11" fmla="*/ 2147483646 h 137"/>
              <a:gd name="T12" fmla="*/ 2147483646 w 137"/>
              <a:gd name="T13" fmla="*/ 2147483646 h 137"/>
              <a:gd name="T14" fmla="*/ 2147483646 w 137"/>
              <a:gd name="T15" fmla="*/ 2147483646 h 137"/>
              <a:gd name="T16" fmla="*/ 2147483646 w 137"/>
              <a:gd name="T17" fmla="*/ 2147483646 h 137"/>
              <a:gd name="T18" fmla="*/ 2147483646 w 137"/>
              <a:gd name="T19" fmla="*/ 2147483646 h 137"/>
              <a:gd name="T20" fmla="*/ 2147483646 w 137"/>
              <a:gd name="T21" fmla="*/ 2147483646 h 137"/>
              <a:gd name="T22" fmla="*/ 2147483646 w 137"/>
              <a:gd name="T23" fmla="*/ 2147483646 h 137"/>
              <a:gd name="T24" fmla="*/ 2147483646 w 137"/>
              <a:gd name="T25" fmla="*/ 2147483646 h 137"/>
              <a:gd name="T26" fmla="*/ 2147483646 w 137"/>
              <a:gd name="T27" fmla="*/ 2147483646 h 137"/>
              <a:gd name="T28" fmla="*/ 2147483646 w 137"/>
              <a:gd name="T29" fmla="*/ 2147483646 h 137"/>
              <a:gd name="T30" fmla="*/ 2147483646 w 137"/>
              <a:gd name="T31" fmla="*/ 2147483646 h 137"/>
              <a:gd name="T32" fmla="*/ 2147483646 w 137"/>
              <a:gd name="T33" fmla="*/ 2147483646 h 137"/>
              <a:gd name="T34" fmla="*/ 2147483646 w 137"/>
              <a:gd name="T35" fmla="*/ 2147483646 h 137"/>
              <a:gd name="T36" fmla="*/ 2147483646 w 137"/>
              <a:gd name="T37" fmla="*/ 2147483646 h 137"/>
              <a:gd name="T38" fmla="*/ 2147483646 w 137"/>
              <a:gd name="T39" fmla="*/ 2147483646 h 137"/>
              <a:gd name="T40" fmla="*/ 2147483646 w 137"/>
              <a:gd name="T41" fmla="*/ 0 h 137"/>
              <a:gd name="T42" fmla="*/ 2147483646 w 137"/>
              <a:gd name="T43" fmla="*/ 2147483646 h 137"/>
              <a:gd name="T44" fmla="*/ 2147483646 w 137"/>
              <a:gd name="T45" fmla="*/ 2147483646 h 137"/>
              <a:gd name="T46" fmla="*/ 2147483646 w 137"/>
              <a:gd name="T47" fmla="*/ 2147483646 h 137"/>
              <a:gd name="T48" fmla="*/ 2147483646 w 137"/>
              <a:gd name="T49" fmla="*/ 2147483646 h 137"/>
              <a:gd name="T50" fmla="*/ 2147483646 w 137"/>
              <a:gd name="T51" fmla="*/ 2147483646 h 137"/>
              <a:gd name="T52" fmla="*/ 2147483646 w 137"/>
              <a:gd name="T53" fmla="*/ 2147483646 h 137"/>
              <a:gd name="T54" fmla="*/ 2147483646 w 137"/>
              <a:gd name="T55" fmla="*/ 2147483646 h 137"/>
              <a:gd name="T56" fmla="*/ 2147483646 w 137"/>
              <a:gd name="T57" fmla="*/ 2147483646 h 137"/>
              <a:gd name="T58" fmla="*/ 2147483646 w 137"/>
              <a:gd name="T59" fmla="*/ 2147483646 h 137"/>
              <a:gd name="T60" fmla="*/ 0 w 137"/>
              <a:gd name="T61" fmla="*/ 2147483646 h 137"/>
              <a:gd name="T62" fmla="*/ 2147483646 w 137"/>
              <a:gd name="T63" fmla="*/ 2147483646 h 137"/>
              <a:gd name="T64" fmla="*/ 2147483646 w 137"/>
              <a:gd name="T65" fmla="*/ 2147483646 h 137"/>
              <a:gd name="T66" fmla="*/ 2147483646 w 137"/>
              <a:gd name="T67" fmla="*/ 2147483646 h 137"/>
              <a:gd name="T68" fmla="*/ 2147483646 w 137"/>
              <a:gd name="T69" fmla="*/ 2147483646 h 137"/>
              <a:gd name="T70" fmla="*/ 2147483646 w 137"/>
              <a:gd name="T71" fmla="*/ 2147483646 h 137"/>
              <a:gd name="T72" fmla="*/ 2147483646 w 137"/>
              <a:gd name="T73" fmla="*/ 2147483646 h 137"/>
              <a:gd name="T74" fmla="*/ 2147483646 w 137"/>
              <a:gd name="T75" fmla="*/ 2147483646 h 137"/>
              <a:gd name="T76" fmla="*/ 2147483646 w 137"/>
              <a:gd name="T77" fmla="*/ 2147483646 h 137"/>
              <a:gd name="T78" fmla="*/ 2147483646 w 137"/>
              <a:gd name="T79" fmla="*/ 2147483646 h 137"/>
              <a:gd name="T80" fmla="*/ 2147483646 w 137"/>
              <a:gd name="T81" fmla="*/ 2147483646 h 137"/>
              <a:gd name="T82" fmla="*/ 2147483646 w 137"/>
              <a:gd name="T83" fmla="*/ 2147483646 h 13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37"/>
              <a:gd name="T127" fmla="*/ 0 h 137"/>
              <a:gd name="T128" fmla="*/ 137 w 137"/>
              <a:gd name="T129" fmla="*/ 137 h 13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37" h="137">
                <a:moveTo>
                  <a:pt x="68" y="137"/>
                </a:moveTo>
                <a:lnTo>
                  <a:pt x="81" y="137"/>
                </a:lnTo>
                <a:lnTo>
                  <a:pt x="91" y="135"/>
                </a:lnTo>
                <a:lnTo>
                  <a:pt x="99" y="130"/>
                </a:lnTo>
                <a:lnTo>
                  <a:pt x="110" y="124"/>
                </a:lnTo>
                <a:lnTo>
                  <a:pt x="118" y="118"/>
                </a:lnTo>
                <a:lnTo>
                  <a:pt x="124" y="110"/>
                </a:lnTo>
                <a:lnTo>
                  <a:pt x="130" y="101"/>
                </a:lnTo>
                <a:lnTo>
                  <a:pt x="134" y="91"/>
                </a:lnTo>
                <a:lnTo>
                  <a:pt x="137" y="81"/>
                </a:lnTo>
                <a:lnTo>
                  <a:pt x="137" y="68"/>
                </a:lnTo>
                <a:lnTo>
                  <a:pt x="137" y="58"/>
                </a:lnTo>
                <a:lnTo>
                  <a:pt x="134" y="48"/>
                </a:lnTo>
                <a:lnTo>
                  <a:pt x="130" y="37"/>
                </a:lnTo>
                <a:lnTo>
                  <a:pt x="124" y="29"/>
                </a:lnTo>
                <a:lnTo>
                  <a:pt x="118" y="21"/>
                </a:lnTo>
                <a:lnTo>
                  <a:pt x="110" y="14"/>
                </a:lnTo>
                <a:lnTo>
                  <a:pt x="99" y="8"/>
                </a:lnTo>
                <a:lnTo>
                  <a:pt x="91" y="4"/>
                </a:lnTo>
                <a:lnTo>
                  <a:pt x="81" y="2"/>
                </a:lnTo>
                <a:lnTo>
                  <a:pt x="68" y="0"/>
                </a:lnTo>
                <a:lnTo>
                  <a:pt x="58" y="2"/>
                </a:lnTo>
                <a:lnTo>
                  <a:pt x="47" y="4"/>
                </a:lnTo>
                <a:lnTo>
                  <a:pt x="37" y="8"/>
                </a:lnTo>
                <a:lnTo>
                  <a:pt x="29" y="14"/>
                </a:lnTo>
                <a:lnTo>
                  <a:pt x="21" y="21"/>
                </a:lnTo>
                <a:lnTo>
                  <a:pt x="14" y="29"/>
                </a:lnTo>
                <a:lnTo>
                  <a:pt x="8" y="37"/>
                </a:lnTo>
                <a:lnTo>
                  <a:pt x="4" y="48"/>
                </a:lnTo>
                <a:lnTo>
                  <a:pt x="2" y="58"/>
                </a:lnTo>
                <a:lnTo>
                  <a:pt x="0" y="68"/>
                </a:lnTo>
                <a:lnTo>
                  <a:pt x="2" y="81"/>
                </a:lnTo>
                <a:lnTo>
                  <a:pt x="4" y="91"/>
                </a:lnTo>
                <a:lnTo>
                  <a:pt x="8" y="101"/>
                </a:lnTo>
                <a:lnTo>
                  <a:pt x="14" y="110"/>
                </a:lnTo>
                <a:lnTo>
                  <a:pt x="21" y="118"/>
                </a:lnTo>
                <a:lnTo>
                  <a:pt x="29" y="124"/>
                </a:lnTo>
                <a:lnTo>
                  <a:pt x="37" y="130"/>
                </a:lnTo>
                <a:lnTo>
                  <a:pt x="47" y="135"/>
                </a:lnTo>
                <a:lnTo>
                  <a:pt x="58" y="137"/>
                </a:lnTo>
                <a:lnTo>
                  <a:pt x="68" y="137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8" name="Line 32">
            <a:extLst>
              <a:ext uri="{FF2B5EF4-FFF2-40B4-BE49-F238E27FC236}">
                <a16:creationId xmlns:a16="http://schemas.microsoft.com/office/drawing/2014/main" id="{6EBAD4DB-6626-AC48-BA46-A95188418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06563" y="4897438"/>
            <a:ext cx="155575" cy="873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79" name="Rectangle 33">
            <a:extLst>
              <a:ext uri="{FF2B5EF4-FFF2-40B4-BE49-F238E27FC236}">
                <a16:creationId xmlns:a16="http://schemas.microsoft.com/office/drawing/2014/main" id="{56038DE0-C695-B64A-ADC0-F03CFE422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500" y="4800600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80" name="Rectangle 34">
            <a:extLst>
              <a:ext uri="{FF2B5EF4-FFF2-40B4-BE49-F238E27FC236}">
                <a16:creationId xmlns:a16="http://schemas.microsoft.com/office/drawing/2014/main" id="{76CBF69A-D9C9-C64E-875B-FFA6E0389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875" y="4800600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81" name="Line 35">
            <a:extLst>
              <a:ext uri="{FF2B5EF4-FFF2-40B4-BE49-F238E27FC236}">
                <a16:creationId xmlns:a16="http://schemas.microsoft.com/office/drawing/2014/main" id="{D0058F23-3EBC-2B4C-B6F4-E535173553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2763" y="3867150"/>
            <a:ext cx="3175" cy="1233488"/>
          </a:xfrm>
          <a:prstGeom prst="line">
            <a:avLst/>
          </a:pr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2" name="Freeform 39">
            <a:extLst>
              <a:ext uri="{FF2B5EF4-FFF2-40B4-BE49-F238E27FC236}">
                <a16:creationId xmlns:a16="http://schemas.microsoft.com/office/drawing/2014/main" id="{51BC917D-A8CC-A74B-A285-A4EBB9F1017E}"/>
              </a:ext>
            </a:extLst>
          </p:cNvPr>
          <p:cNvSpPr>
            <a:spLocks/>
          </p:cNvSpPr>
          <p:nvPr/>
        </p:nvSpPr>
        <p:spPr bwMode="auto">
          <a:xfrm>
            <a:off x="1579563" y="5246688"/>
            <a:ext cx="60325" cy="57150"/>
          </a:xfrm>
          <a:custGeom>
            <a:avLst/>
            <a:gdLst>
              <a:gd name="T0" fmla="*/ 0 w 31"/>
              <a:gd name="T1" fmla="*/ 0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0 h 31"/>
              <a:gd name="T8" fmla="*/ 2147483646 w 31"/>
              <a:gd name="T9" fmla="*/ 0 h 31"/>
              <a:gd name="T10" fmla="*/ 0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0" y="0"/>
                </a:moveTo>
                <a:lnTo>
                  <a:pt x="2" y="31"/>
                </a:lnTo>
                <a:lnTo>
                  <a:pt x="31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3" name="Freeform 41">
            <a:extLst>
              <a:ext uri="{FF2B5EF4-FFF2-40B4-BE49-F238E27FC236}">
                <a16:creationId xmlns:a16="http://schemas.microsoft.com/office/drawing/2014/main" id="{C16A7881-B1B0-4C4F-AD1E-3407CB50253E}"/>
              </a:ext>
            </a:extLst>
          </p:cNvPr>
          <p:cNvSpPr>
            <a:spLocks/>
          </p:cNvSpPr>
          <p:nvPr/>
        </p:nvSpPr>
        <p:spPr bwMode="auto">
          <a:xfrm>
            <a:off x="2700338" y="3875088"/>
            <a:ext cx="1497012" cy="1527175"/>
          </a:xfrm>
          <a:custGeom>
            <a:avLst/>
            <a:gdLst>
              <a:gd name="T0" fmla="*/ 0 w 754"/>
              <a:gd name="T1" fmla="*/ 0 h 841"/>
              <a:gd name="T2" fmla="*/ 0 w 754"/>
              <a:gd name="T3" fmla="*/ 2147483646 h 841"/>
              <a:gd name="T4" fmla="*/ 2147483646 w 754"/>
              <a:gd name="T5" fmla="*/ 2147483646 h 841"/>
              <a:gd name="T6" fmla="*/ 2147483646 w 754"/>
              <a:gd name="T7" fmla="*/ 2147483646 h 841"/>
              <a:gd name="T8" fmla="*/ 0 60000 65536"/>
              <a:gd name="T9" fmla="*/ 0 60000 65536"/>
              <a:gd name="T10" fmla="*/ 0 60000 65536"/>
              <a:gd name="T11" fmla="*/ 0 60000 65536"/>
              <a:gd name="T12" fmla="*/ 0 w 754"/>
              <a:gd name="T13" fmla="*/ 0 h 841"/>
              <a:gd name="T14" fmla="*/ 754 w 754"/>
              <a:gd name="T15" fmla="*/ 841 h 8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4" h="841">
                <a:moveTo>
                  <a:pt x="0" y="0"/>
                </a:moveTo>
                <a:lnTo>
                  <a:pt x="0" y="776"/>
                </a:lnTo>
                <a:lnTo>
                  <a:pt x="754" y="776"/>
                </a:lnTo>
                <a:lnTo>
                  <a:pt x="754" y="841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4" name="Freeform 42">
            <a:extLst>
              <a:ext uri="{FF2B5EF4-FFF2-40B4-BE49-F238E27FC236}">
                <a16:creationId xmlns:a16="http://schemas.microsoft.com/office/drawing/2014/main" id="{AC2BB37A-92FF-8344-A24F-A580AAF97B99}"/>
              </a:ext>
            </a:extLst>
          </p:cNvPr>
          <p:cNvSpPr>
            <a:spLocks/>
          </p:cNvSpPr>
          <p:nvPr/>
        </p:nvSpPr>
        <p:spPr bwMode="auto">
          <a:xfrm>
            <a:off x="4467225" y="3043238"/>
            <a:ext cx="3513138" cy="2989262"/>
          </a:xfrm>
          <a:custGeom>
            <a:avLst/>
            <a:gdLst>
              <a:gd name="T0" fmla="*/ 2147483646 w 1783"/>
              <a:gd name="T1" fmla="*/ 0 h 1976"/>
              <a:gd name="T2" fmla="*/ 2147483646 w 1783"/>
              <a:gd name="T3" fmla="*/ 2147483646 h 1976"/>
              <a:gd name="T4" fmla="*/ 0 w 1783"/>
              <a:gd name="T5" fmla="*/ 2147483646 h 1976"/>
              <a:gd name="T6" fmla="*/ 0 w 1783"/>
              <a:gd name="T7" fmla="*/ 2147483646 h 1976"/>
              <a:gd name="T8" fmla="*/ 0 60000 65536"/>
              <a:gd name="T9" fmla="*/ 0 60000 65536"/>
              <a:gd name="T10" fmla="*/ 0 60000 65536"/>
              <a:gd name="T11" fmla="*/ 0 60000 65536"/>
              <a:gd name="T12" fmla="*/ 0 w 1783"/>
              <a:gd name="T13" fmla="*/ 0 h 1976"/>
              <a:gd name="T14" fmla="*/ 1783 w 1783"/>
              <a:gd name="T15" fmla="*/ 1976 h 19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783" h="1976">
                <a:moveTo>
                  <a:pt x="1783" y="0"/>
                </a:moveTo>
                <a:lnTo>
                  <a:pt x="1783" y="1976"/>
                </a:lnTo>
                <a:lnTo>
                  <a:pt x="0" y="1976"/>
                </a:lnTo>
                <a:lnTo>
                  <a:pt x="0" y="1793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5" name="Line 43">
            <a:extLst>
              <a:ext uri="{FF2B5EF4-FFF2-40B4-BE49-F238E27FC236}">
                <a16:creationId xmlns:a16="http://schemas.microsoft.com/office/drawing/2014/main" id="{CE639507-18DB-9F47-B11C-134799114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7313" y="4908550"/>
            <a:ext cx="153987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6" name="Rectangle 44">
            <a:extLst>
              <a:ext uri="{FF2B5EF4-FFF2-40B4-BE49-F238E27FC236}">
                <a16:creationId xmlns:a16="http://schemas.microsoft.com/office/drawing/2014/main" id="{3F6FBA8E-6B9D-1944-9799-D10FBFD13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5425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87" name="Rectangle 45">
            <a:extLst>
              <a:ext uri="{FF2B5EF4-FFF2-40B4-BE49-F238E27FC236}">
                <a16:creationId xmlns:a16="http://schemas.microsoft.com/office/drawing/2014/main" id="{B9807AC7-588F-D141-9B0B-6ABD4B807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00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88" name="Freeform 46">
            <a:extLst>
              <a:ext uri="{FF2B5EF4-FFF2-40B4-BE49-F238E27FC236}">
                <a16:creationId xmlns:a16="http://schemas.microsoft.com/office/drawing/2014/main" id="{C45DC9B1-A244-C74D-A351-B4CE80556F91}"/>
              </a:ext>
            </a:extLst>
          </p:cNvPr>
          <p:cNvSpPr>
            <a:spLocks/>
          </p:cNvSpPr>
          <p:nvPr/>
        </p:nvSpPr>
        <p:spPr bwMode="auto">
          <a:xfrm>
            <a:off x="1989138" y="2878138"/>
            <a:ext cx="61912" cy="60325"/>
          </a:xfrm>
          <a:custGeom>
            <a:avLst/>
            <a:gdLst>
              <a:gd name="T0" fmla="*/ 0 w 31"/>
              <a:gd name="T1" fmla="*/ 0 h 33"/>
              <a:gd name="T2" fmla="*/ 0 w 31"/>
              <a:gd name="T3" fmla="*/ 2147483646 h 33"/>
              <a:gd name="T4" fmla="*/ 2147483646 w 31"/>
              <a:gd name="T5" fmla="*/ 2147483646 h 33"/>
              <a:gd name="T6" fmla="*/ 0 w 31"/>
              <a:gd name="T7" fmla="*/ 2147483646 h 33"/>
              <a:gd name="T8" fmla="*/ 0 w 31"/>
              <a:gd name="T9" fmla="*/ 2147483646 h 33"/>
              <a:gd name="T10" fmla="*/ 0 w 31"/>
              <a:gd name="T11" fmla="*/ 0 h 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3"/>
              <a:gd name="T20" fmla="*/ 31 w 31"/>
              <a:gd name="T21" fmla="*/ 33 h 3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3">
                <a:moveTo>
                  <a:pt x="0" y="0"/>
                </a:moveTo>
                <a:lnTo>
                  <a:pt x="0" y="33"/>
                </a:lnTo>
                <a:lnTo>
                  <a:pt x="31" y="17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89" name="Freeform 47">
            <a:extLst>
              <a:ext uri="{FF2B5EF4-FFF2-40B4-BE49-F238E27FC236}">
                <a16:creationId xmlns:a16="http://schemas.microsoft.com/office/drawing/2014/main" id="{66092104-5C61-9C4C-85F4-29070F18DFDC}"/>
              </a:ext>
            </a:extLst>
          </p:cNvPr>
          <p:cNvSpPr>
            <a:spLocks/>
          </p:cNvSpPr>
          <p:nvPr/>
        </p:nvSpPr>
        <p:spPr bwMode="auto">
          <a:xfrm>
            <a:off x="7146925" y="3130550"/>
            <a:ext cx="63500" cy="57150"/>
          </a:xfrm>
          <a:custGeom>
            <a:avLst/>
            <a:gdLst>
              <a:gd name="T0" fmla="*/ 0 w 32"/>
              <a:gd name="T1" fmla="*/ 2147483646 h 31"/>
              <a:gd name="T2" fmla="*/ 2147483646 w 32"/>
              <a:gd name="T3" fmla="*/ 2147483646 h 31"/>
              <a:gd name="T4" fmla="*/ 2147483646 w 32"/>
              <a:gd name="T5" fmla="*/ 0 h 31"/>
              <a:gd name="T6" fmla="*/ 0 w 32"/>
              <a:gd name="T7" fmla="*/ 2147483646 h 31"/>
              <a:gd name="T8" fmla="*/ 0 w 32"/>
              <a:gd name="T9" fmla="*/ 2147483646 h 31"/>
              <a:gd name="T10" fmla="*/ 0 w 32"/>
              <a:gd name="T11" fmla="*/ 2147483646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"/>
              <a:gd name="T19" fmla="*/ 0 h 31"/>
              <a:gd name="T20" fmla="*/ 32 w 32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" h="31">
                <a:moveTo>
                  <a:pt x="0" y="29"/>
                </a:moveTo>
                <a:lnTo>
                  <a:pt x="32" y="31"/>
                </a:lnTo>
                <a:lnTo>
                  <a:pt x="17" y="0"/>
                </a:lnTo>
                <a:lnTo>
                  <a:pt x="0" y="31"/>
                </a:lnTo>
                <a:lnTo>
                  <a:pt x="0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0" name="Freeform 48">
            <a:extLst>
              <a:ext uri="{FF2B5EF4-FFF2-40B4-BE49-F238E27FC236}">
                <a16:creationId xmlns:a16="http://schemas.microsoft.com/office/drawing/2014/main" id="{E9899807-97F6-EA40-A78B-86B39D9582D2}"/>
              </a:ext>
            </a:extLst>
          </p:cNvPr>
          <p:cNvSpPr>
            <a:spLocks/>
          </p:cNvSpPr>
          <p:nvPr/>
        </p:nvSpPr>
        <p:spPr bwMode="auto">
          <a:xfrm>
            <a:off x="7146925" y="4732338"/>
            <a:ext cx="63500" cy="55562"/>
          </a:xfrm>
          <a:custGeom>
            <a:avLst/>
            <a:gdLst>
              <a:gd name="T0" fmla="*/ 2147483646 w 32"/>
              <a:gd name="T1" fmla="*/ 0 h 31"/>
              <a:gd name="T2" fmla="*/ 0 w 32"/>
              <a:gd name="T3" fmla="*/ 0 h 31"/>
              <a:gd name="T4" fmla="*/ 2147483646 w 32"/>
              <a:gd name="T5" fmla="*/ 2147483646 h 31"/>
              <a:gd name="T6" fmla="*/ 2147483646 w 32"/>
              <a:gd name="T7" fmla="*/ 0 h 31"/>
              <a:gd name="T8" fmla="*/ 2147483646 w 32"/>
              <a:gd name="T9" fmla="*/ 0 h 31"/>
              <a:gd name="T10" fmla="*/ 2147483646 w 32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2"/>
              <a:gd name="T19" fmla="*/ 0 h 31"/>
              <a:gd name="T20" fmla="*/ 32 w 32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2" h="31">
                <a:moveTo>
                  <a:pt x="29" y="0"/>
                </a:moveTo>
                <a:lnTo>
                  <a:pt x="0" y="0"/>
                </a:lnTo>
                <a:lnTo>
                  <a:pt x="17" y="31"/>
                </a:lnTo>
                <a:lnTo>
                  <a:pt x="32" y="0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1" name="Line 49">
            <a:extLst>
              <a:ext uri="{FF2B5EF4-FFF2-40B4-BE49-F238E27FC236}">
                <a16:creationId xmlns:a16="http://schemas.microsoft.com/office/drawing/2014/main" id="{3600B4EB-6A05-6B4E-B9E2-7DB2FD6B5B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7088" y="3168650"/>
            <a:ext cx="3175" cy="15779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2" name="Rectangle 50">
            <a:extLst>
              <a:ext uri="{FF2B5EF4-FFF2-40B4-BE49-F238E27FC236}">
                <a16:creationId xmlns:a16="http://schemas.microsoft.com/office/drawing/2014/main" id="{F9028458-413D-DC4E-AE51-B770BA5FC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4400" y="3273425"/>
            <a:ext cx="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93" name="Freeform 51">
            <a:extLst>
              <a:ext uri="{FF2B5EF4-FFF2-40B4-BE49-F238E27FC236}">
                <a16:creationId xmlns:a16="http://schemas.microsoft.com/office/drawing/2014/main" id="{E29291E1-590A-9844-9C5C-F81DECDFE644}"/>
              </a:ext>
            </a:extLst>
          </p:cNvPr>
          <p:cNvSpPr>
            <a:spLocks/>
          </p:cNvSpPr>
          <p:nvPr/>
        </p:nvSpPr>
        <p:spPr bwMode="auto">
          <a:xfrm>
            <a:off x="2055813" y="2882900"/>
            <a:ext cx="60325" cy="55563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0 h 31"/>
              <a:gd name="T4" fmla="*/ 0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29" y="29"/>
                </a:moveTo>
                <a:lnTo>
                  <a:pt x="31" y="0"/>
                </a:lnTo>
                <a:lnTo>
                  <a:pt x="0" y="15"/>
                </a:lnTo>
                <a:lnTo>
                  <a:pt x="31" y="31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4" name="Freeform 52">
            <a:extLst>
              <a:ext uri="{FF2B5EF4-FFF2-40B4-BE49-F238E27FC236}">
                <a16:creationId xmlns:a16="http://schemas.microsoft.com/office/drawing/2014/main" id="{E6AAC880-079F-694A-9272-E6BA7FABDC58}"/>
              </a:ext>
            </a:extLst>
          </p:cNvPr>
          <p:cNvSpPr>
            <a:spLocks/>
          </p:cNvSpPr>
          <p:nvPr/>
        </p:nvSpPr>
        <p:spPr bwMode="auto">
          <a:xfrm>
            <a:off x="7015163" y="2878138"/>
            <a:ext cx="61912" cy="60325"/>
          </a:xfrm>
          <a:custGeom>
            <a:avLst/>
            <a:gdLst>
              <a:gd name="T0" fmla="*/ 0 w 31"/>
              <a:gd name="T1" fmla="*/ 0 h 33"/>
              <a:gd name="T2" fmla="*/ 0 w 31"/>
              <a:gd name="T3" fmla="*/ 2147483646 h 33"/>
              <a:gd name="T4" fmla="*/ 2147483646 w 31"/>
              <a:gd name="T5" fmla="*/ 2147483646 h 33"/>
              <a:gd name="T6" fmla="*/ 0 w 31"/>
              <a:gd name="T7" fmla="*/ 2147483646 h 33"/>
              <a:gd name="T8" fmla="*/ 0 w 31"/>
              <a:gd name="T9" fmla="*/ 2147483646 h 33"/>
              <a:gd name="T10" fmla="*/ 0 w 31"/>
              <a:gd name="T11" fmla="*/ 0 h 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3"/>
              <a:gd name="T20" fmla="*/ 31 w 31"/>
              <a:gd name="T21" fmla="*/ 33 h 3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3">
                <a:moveTo>
                  <a:pt x="0" y="0"/>
                </a:moveTo>
                <a:lnTo>
                  <a:pt x="0" y="33"/>
                </a:lnTo>
                <a:lnTo>
                  <a:pt x="31" y="17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5" name="Freeform 53">
            <a:extLst>
              <a:ext uri="{FF2B5EF4-FFF2-40B4-BE49-F238E27FC236}">
                <a16:creationId xmlns:a16="http://schemas.microsoft.com/office/drawing/2014/main" id="{21B2463F-AA2C-7149-A6E0-8B3A2A0A5043}"/>
              </a:ext>
            </a:extLst>
          </p:cNvPr>
          <p:cNvSpPr>
            <a:spLocks/>
          </p:cNvSpPr>
          <p:nvPr/>
        </p:nvSpPr>
        <p:spPr bwMode="auto">
          <a:xfrm>
            <a:off x="1533525" y="2882900"/>
            <a:ext cx="61913" cy="55563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0 h 31"/>
              <a:gd name="T4" fmla="*/ 0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29" y="29"/>
                </a:moveTo>
                <a:lnTo>
                  <a:pt x="31" y="0"/>
                </a:lnTo>
                <a:lnTo>
                  <a:pt x="0" y="15"/>
                </a:lnTo>
                <a:lnTo>
                  <a:pt x="31" y="31"/>
                </a:lnTo>
                <a:lnTo>
                  <a:pt x="29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6" name="Line 54">
            <a:extLst>
              <a:ext uri="{FF2B5EF4-FFF2-40B4-BE49-F238E27FC236}">
                <a16:creationId xmlns:a16="http://schemas.microsoft.com/office/drawing/2014/main" id="{838A4139-4F25-5947-A8A3-6BCD88E95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9563" y="2909888"/>
            <a:ext cx="417512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7" name="Line 55">
            <a:extLst>
              <a:ext uri="{FF2B5EF4-FFF2-40B4-BE49-F238E27FC236}">
                <a16:creationId xmlns:a16="http://schemas.microsoft.com/office/drawing/2014/main" id="{18D09E37-0FDD-3242-BB92-16EE0FFA63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108200" y="2909888"/>
            <a:ext cx="4922838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498" name="Rectangle 69">
            <a:extLst>
              <a:ext uri="{FF2B5EF4-FFF2-40B4-BE49-F238E27FC236}">
                <a16:creationId xmlns:a16="http://schemas.microsoft.com/office/drawing/2014/main" id="{5848F9F0-D13B-E946-8677-F91AC4954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0638" y="2619375"/>
            <a:ext cx="381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128</a:t>
            </a:r>
            <a:endParaRPr kumimoji="1" lang="en-US" altLang="zh-CN" sz="1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499" name="Freeform 72">
            <a:extLst>
              <a:ext uri="{FF2B5EF4-FFF2-40B4-BE49-F238E27FC236}">
                <a16:creationId xmlns:a16="http://schemas.microsoft.com/office/drawing/2014/main" id="{692C68B5-385B-A145-9E23-906FEDBD76FF}"/>
              </a:ext>
            </a:extLst>
          </p:cNvPr>
          <p:cNvSpPr>
            <a:spLocks/>
          </p:cNvSpPr>
          <p:nvPr/>
        </p:nvSpPr>
        <p:spPr bwMode="auto">
          <a:xfrm>
            <a:off x="4016375" y="5449888"/>
            <a:ext cx="903288" cy="250825"/>
          </a:xfrm>
          <a:custGeom>
            <a:avLst/>
            <a:gdLst>
              <a:gd name="T0" fmla="*/ 2147483646 w 455"/>
              <a:gd name="T1" fmla="*/ 2147483646 h 138"/>
              <a:gd name="T2" fmla="*/ 2147483646 w 455"/>
              <a:gd name="T3" fmla="*/ 2147483646 h 138"/>
              <a:gd name="T4" fmla="*/ 2147483646 w 455"/>
              <a:gd name="T5" fmla="*/ 2147483646 h 138"/>
              <a:gd name="T6" fmla="*/ 2147483646 w 455"/>
              <a:gd name="T7" fmla="*/ 2147483646 h 138"/>
              <a:gd name="T8" fmla="*/ 2147483646 w 455"/>
              <a:gd name="T9" fmla="*/ 2147483646 h 138"/>
              <a:gd name="T10" fmla="*/ 2147483646 w 455"/>
              <a:gd name="T11" fmla="*/ 2147483646 h 138"/>
              <a:gd name="T12" fmla="*/ 2147483646 w 455"/>
              <a:gd name="T13" fmla="*/ 2147483646 h 138"/>
              <a:gd name="T14" fmla="*/ 2147483646 w 455"/>
              <a:gd name="T15" fmla="*/ 2147483646 h 138"/>
              <a:gd name="T16" fmla="*/ 2147483646 w 455"/>
              <a:gd name="T17" fmla="*/ 2147483646 h 138"/>
              <a:gd name="T18" fmla="*/ 0 w 455"/>
              <a:gd name="T19" fmla="*/ 2147483646 h 138"/>
              <a:gd name="T20" fmla="*/ 0 w 455"/>
              <a:gd name="T21" fmla="*/ 2147483646 h 138"/>
              <a:gd name="T22" fmla="*/ 0 w 455"/>
              <a:gd name="T23" fmla="*/ 2147483646 h 138"/>
              <a:gd name="T24" fmla="*/ 2147483646 w 455"/>
              <a:gd name="T25" fmla="*/ 2147483646 h 138"/>
              <a:gd name="T26" fmla="*/ 2147483646 w 455"/>
              <a:gd name="T27" fmla="*/ 2147483646 h 138"/>
              <a:gd name="T28" fmla="*/ 2147483646 w 455"/>
              <a:gd name="T29" fmla="*/ 2147483646 h 138"/>
              <a:gd name="T30" fmla="*/ 2147483646 w 455"/>
              <a:gd name="T31" fmla="*/ 2147483646 h 138"/>
              <a:gd name="T32" fmla="*/ 2147483646 w 455"/>
              <a:gd name="T33" fmla="*/ 2147483646 h 138"/>
              <a:gd name="T34" fmla="*/ 2147483646 w 455"/>
              <a:gd name="T35" fmla="*/ 2147483646 h 138"/>
              <a:gd name="T36" fmla="*/ 2147483646 w 455"/>
              <a:gd name="T37" fmla="*/ 2147483646 h 138"/>
              <a:gd name="T38" fmla="*/ 2147483646 w 455"/>
              <a:gd name="T39" fmla="*/ 2147483646 h 138"/>
              <a:gd name="T40" fmla="*/ 2147483646 w 455"/>
              <a:gd name="T41" fmla="*/ 0 h 138"/>
              <a:gd name="T42" fmla="*/ 2147483646 w 455"/>
              <a:gd name="T43" fmla="*/ 0 h 138"/>
              <a:gd name="T44" fmla="*/ 2147483646 w 455"/>
              <a:gd name="T45" fmla="*/ 2147483646 h 138"/>
              <a:gd name="T46" fmla="*/ 2147483646 w 455"/>
              <a:gd name="T47" fmla="*/ 2147483646 h 138"/>
              <a:gd name="T48" fmla="*/ 2147483646 w 455"/>
              <a:gd name="T49" fmla="*/ 2147483646 h 138"/>
              <a:gd name="T50" fmla="*/ 2147483646 w 455"/>
              <a:gd name="T51" fmla="*/ 2147483646 h 138"/>
              <a:gd name="T52" fmla="*/ 2147483646 w 455"/>
              <a:gd name="T53" fmla="*/ 2147483646 h 138"/>
              <a:gd name="T54" fmla="*/ 2147483646 w 455"/>
              <a:gd name="T55" fmla="*/ 2147483646 h 138"/>
              <a:gd name="T56" fmla="*/ 2147483646 w 455"/>
              <a:gd name="T57" fmla="*/ 2147483646 h 138"/>
              <a:gd name="T58" fmla="*/ 2147483646 w 455"/>
              <a:gd name="T59" fmla="*/ 2147483646 h 138"/>
              <a:gd name="T60" fmla="*/ 2147483646 w 455"/>
              <a:gd name="T61" fmla="*/ 2147483646 h 138"/>
              <a:gd name="T62" fmla="*/ 2147483646 w 455"/>
              <a:gd name="T63" fmla="*/ 2147483646 h 138"/>
              <a:gd name="T64" fmla="*/ 2147483646 w 455"/>
              <a:gd name="T65" fmla="*/ 2147483646 h 138"/>
              <a:gd name="T66" fmla="*/ 2147483646 w 455"/>
              <a:gd name="T67" fmla="*/ 2147483646 h 138"/>
              <a:gd name="T68" fmla="*/ 2147483646 w 455"/>
              <a:gd name="T69" fmla="*/ 2147483646 h 138"/>
              <a:gd name="T70" fmla="*/ 2147483646 w 455"/>
              <a:gd name="T71" fmla="*/ 2147483646 h 138"/>
              <a:gd name="T72" fmla="*/ 2147483646 w 455"/>
              <a:gd name="T73" fmla="*/ 2147483646 h 138"/>
              <a:gd name="T74" fmla="*/ 2147483646 w 455"/>
              <a:gd name="T75" fmla="*/ 2147483646 h 138"/>
              <a:gd name="T76" fmla="*/ 2147483646 w 455"/>
              <a:gd name="T77" fmla="*/ 2147483646 h 138"/>
              <a:gd name="T78" fmla="*/ 2147483646 w 455"/>
              <a:gd name="T79" fmla="*/ 2147483646 h 138"/>
              <a:gd name="T80" fmla="*/ 2147483646 w 455"/>
              <a:gd name="T81" fmla="*/ 2147483646 h 138"/>
              <a:gd name="T82" fmla="*/ 2147483646 w 455"/>
              <a:gd name="T83" fmla="*/ 2147483646 h 138"/>
              <a:gd name="T84" fmla="*/ 2147483646 w 455"/>
              <a:gd name="T85" fmla="*/ 2147483646 h 138"/>
              <a:gd name="T86" fmla="*/ 2147483646 w 455"/>
              <a:gd name="T87" fmla="*/ 2147483646 h 138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455"/>
              <a:gd name="T133" fmla="*/ 0 h 138"/>
              <a:gd name="T134" fmla="*/ 455 w 455"/>
              <a:gd name="T135" fmla="*/ 138 h 138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455" h="138">
                <a:moveTo>
                  <a:pt x="68" y="136"/>
                </a:moveTo>
                <a:lnTo>
                  <a:pt x="58" y="136"/>
                </a:lnTo>
                <a:lnTo>
                  <a:pt x="47" y="134"/>
                </a:lnTo>
                <a:lnTo>
                  <a:pt x="37" y="130"/>
                </a:lnTo>
                <a:lnTo>
                  <a:pt x="29" y="124"/>
                </a:lnTo>
                <a:lnTo>
                  <a:pt x="20" y="118"/>
                </a:lnTo>
                <a:lnTo>
                  <a:pt x="12" y="109"/>
                </a:lnTo>
                <a:lnTo>
                  <a:pt x="8" y="101"/>
                </a:lnTo>
                <a:lnTo>
                  <a:pt x="4" y="91"/>
                </a:lnTo>
                <a:lnTo>
                  <a:pt x="0" y="80"/>
                </a:lnTo>
                <a:lnTo>
                  <a:pt x="0" y="70"/>
                </a:lnTo>
                <a:lnTo>
                  <a:pt x="0" y="58"/>
                </a:lnTo>
                <a:lnTo>
                  <a:pt x="4" y="47"/>
                </a:lnTo>
                <a:lnTo>
                  <a:pt x="8" y="37"/>
                </a:lnTo>
                <a:lnTo>
                  <a:pt x="12" y="29"/>
                </a:lnTo>
                <a:lnTo>
                  <a:pt x="20" y="20"/>
                </a:lnTo>
                <a:lnTo>
                  <a:pt x="29" y="14"/>
                </a:lnTo>
                <a:lnTo>
                  <a:pt x="37" y="8"/>
                </a:lnTo>
                <a:lnTo>
                  <a:pt x="47" y="4"/>
                </a:lnTo>
                <a:lnTo>
                  <a:pt x="58" y="2"/>
                </a:lnTo>
                <a:lnTo>
                  <a:pt x="68" y="0"/>
                </a:lnTo>
                <a:lnTo>
                  <a:pt x="387" y="0"/>
                </a:lnTo>
                <a:lnTo>
                  <a:pt x="399" y="2"/>
                </a:lnTo>
                <a:lnTo>
                  <a:pt x="410" y="4"/>
                </a:lnTo>
                <a:lnTo>
                  <a:pt x="420" y="8"/>
                </a:lnTo>
                <a:lnTo>
                  <a:pt x="428" y="14"/>
                </a:lnTo>
                <a:lnTo>
                  <a:pt x="437" y="20"/>
                </a:lnTo>
                <a:lnTo>
                  <a:pt x="443" y="29"/>
                </a:lnTo>
                <a:lnTo>
                  <a:pt x="449" y="37"/>
                </a:lnTo>
                <a:lnTo>
                  <a:pt x="453" y="47"/>
                </a:lnTo>
                <a:lnTo>
                  <a:pt x="455" y="58"/>
                </a:lnTo>
                <a:lnTo>
                  <a:pt x="455" y="70"/>
                </a:lnTo>
                <a:lnTo>
                  <a:pt x="455" y="80"/>
                </a:lnTo>
                <a:lnTo>
                  <a:pt x="453" y="91"/>
                </a:lnTo>
                <a:lnTo>
                  <a:pt x="449" y="101"/>
                </a:lnTo>
                <a:lnTo>
                  <a:pt x="443" y="109"/>
                </a:lnTo>
                <a:lnTo>
                  <a:pt x="437" y="118"/>
                </a:lnTo>
                <a:lnTo>
                  <a:pt x="428" y="124"/>
                </a:lnTo>
                <a:lnTo>
                  <a:pt x="420" y="130"/>
                </a:lnTo>
                <a:lnTo>
                  <a:pt x="410" y="134"/>
                </a:lnTo>
                <a:lnTo>
                  <a:pt x="399" y="136"/>
                </a:lnTo>
                <a:lnTo>
                  <a:pt x="387" y="138"/>
                </a:lnTo>
                <a:lnTo>
                  <a:pt x="68" y="138"/>
                </a:lnTo>
              </a:path>
            </a:pathLst>
          </a:cu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0" name="Freeform 73">
            <a:extLst>
              <a:ext uri="{FF2B5EF4-FFF2-40B4-BE49-F238E27FC236}">
                <a16:creationId xmlns:a16="http://schemas.microsoft.com/office/drawing/2014/main" id="{C0637B66-30A8-504F-8693-366E858B2445}"/>
              </a:ext>
            </a:extLst>
          </p:cNvPr>
          <p:cNvSpPr>
            <a:spLocks/>
          </p:cNvSpPr>
          <p:nvPr/>
        </p:nvSpPr>
        <p:spPr bwMode="auto">
          <a:xfrm>
            <a:off x="3929063" y="3849688"/>
            <a:ext cx="61912" cy="55562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2147483646 w 31"/>
              <a:gd name="T13" fmla="*/ 2147483646 h 31"/>
              <a:gd name="T14" fmla="*/ 2147483646 w 31"/>
              <a:gd name="T15" fmla="*/ 2147483646 h 31"/>
              <a:gd name="T16" fmla="*/ 2147483646 w 31"/>
              <a:gd name="T17" fmla="*/ 2147483646 h 31"/>
              <a:gd name="T18" fmla="*/ 2147483646 w 31"/>
              <a:gd name="T19" fmla="*/ 2147483646 h 31"/>
              <a:gd name="T20" fmla="*/ 2147483646 w 31"/>
              <a:gd name="T21" fmla="*/ 2147483646 h 31"/>
              <a:gd name="T22" fmla="*/ 2147483646 w 31"/>
              <a:gd name="T23" fmla="*/ 2147483646 h 31"/>
              <a:gd name="T24" fmla="*/ 2147483646 w 31"/>
              <a:gd name="T25" fmla="*/ 2147483646 h 31"/>
              <a:gd name="T26" fmla="*/ 2147483646 w 31"/>
              <a:gd name="T27" fmla="*/ 2147483646 h 31"/>
              <a:gd name="T28" fmla="*/ 2147483646 w 31"/>
              <a:gd name="T29" fmla="*/ 2147483646 h 31"/>
              <a:gd name="T30" fmla="*/ 2147483646 w 31"/>
              <a:gd name="T31" fmla="*/ 2147483646 h 31"/>
              <a:gd name="T32" fmla="*/ 2147483646 w 31"/>
              <a:gd name="T33" fmla="*/ 2147483646 h 31"/>
              <a:gd name="T34" fmla="*/ 2147483646 w 31"/>
              <a:gd name="T35" fmla="*/ 2147483646 h 31"/>
              <a:gd name="T36" fmla="*/ 2147483646 w 31"/>
              <a:gd name="T37" fmla="*/ 2147483646 h 31"/>
              <a:gd name="T38" fmla="*/ 2147483646 w 31"/>
              <a:gd name="T39" fmla="*/ 0 h 31"/>
              <a:gd name="T40" fmla="*/ 2147483646 w 31"/>
              <a:gd name="T41" fmla="*/ 0 h 31"/>
              <a:gd name="T42" fmla="*/ 2147483646 w 31"/>
              <a:gd name="T43" fmla="*/ 0 h 31"/>
              <a:gd name="T44" fmla="*/ 2147483646 w 31"/>
              <a:gd name="T45" fmla="*/ 2147483646 h 31"/>
              <a:gd name="T46" fmla="*/ 2147483646 w 31"/>
              <a:gd name="T47" fmla="*/ 2147483646 h 31"/>
              <a:gd name="T48" fmla="*/ 2147483646 w 31"/>
              <a:gd name="T49" fmla="*/ 2147483646 h 31"/>
              <a:gd name="T50" fmla="*/ 2147483646 w 31"/>
              <a:gd name="T51" fmla="*/ 2147483646 h 31"/>
              <a:gd name="T52" fmla="*/ 2147483646 w 31"/>
              <a:gd name="T53" fmla="*/ 2147483646 h 31"/>
              <a:gd name="T54" fmla="*/ 2147483646 w 31"/>
              <a:gd name="T55" fmla="*/ 2147483646 h 31"/>
              <a:gd name="T56" fmla="*/ 2147483646 w 31"/>
              <a:gd name="T57" fmla="*/ 2147483646 h 31"/>
              <a:gd name="T58" fmla="*/ 0 w 31"/>
              <a:gd name="T59" fmla="*/ 2147483646 h 31"/>
              <a:gd name="T60" fmla="*/ 0 w 31"/>
              <a:gd name="T61" fmla="*/ 2147483646 h 31"/>
              <a:gd name="T62" fmla="*/ 0 w 31"/>
              <a:gd name="T63" fmla="*/ 2147483646 h 31"/>
              <a:gd name="T64" fmla="*/ 2147483646 w 31"/>
              <a:gd name="T65" fmla="*/ 2147483646 h 31"/>
              <a:gd name="T66" fmla="*/ 2147483646 w 31"/>
              <a:gd name="T67" fmla="*/ 2147483646 h 31"/>
              <a:gd name="T68" fmla="*/ 2147483646 w 31"/>
              <a:gd name="T69" fmla="*/ 2147483646 h 31"/>
              <a:gd name="T70" fmla="*/ 2147483646 w 31"/>
              <a:gd name="T71" fmla="*/ 2147483646 h 31"/>
              <a:gd name="T72" fmla="*/ 2147483646 w 31"/>
              <a:gd name="T73" fmla="*/ 2147483646 h 31"/>
              <a:gd name="T74" fmla="*/ 2147483646 w 31"/>
              <a:gd name="T75" fmla="*/ 2147483646 h 31"/>
              <a:gd name="T76" fmla="*/ 2147483646 w 31"/>
              <a:gd name="T77" fmla="*/ 2147483646 h 31"/>
              <a:gd name="T78" fmla="*/ 2147483646 w 31"/>
              <a:gd name="T79" fmla="*/ 2147483646 h 31"/>
              <a:gd name="T80" fmla="*/ 2147483646 w 31"/>
              <a:gd name="T81" fmla="*/ 2147483646 h 31"/>
              <a:gd name="T82" fmla="*/ 2147483646 w 31"/>
              <a:gd name="T83" fmla="*/ 2147483646 h 31"/>
              <a:gd name="T84" fmla="*/ 2147483646 w 31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31"/>
              <a:gd name="T131" fmla="*/ 31 w 31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31">
                <a:moveTo>
                  <a:pt x="15" y="29"/>
                </a:moveTo>
                <a:lnTo>
                  <a:pt x="19" y="31"/>
                </a:lnTo>
                <a:lnTo>
                  <a:pt x="21" y="29"/>
                </a:lnTo>
                <a:lnTo>
                  <a:pt x="23" y="29"/>
                </a:lnTo>
                <a:lnTo>
                  <a:pt x="25" y="26"/>
                </a:lnTo>
                <a:lnTo>
                  <a:pt x="27" y="26"/>
                </a:lnTo>
                <a:lnTo>
                  <a:pt x="29" y="24"/>
                </a:lnTo>
                <a:lnTo>
                  <a:pt x="29" y="22"/>
                </a:lnTo>
                <a:lnTo>
                  <a:pt x="31" y="20"/>
                </a:lnTo>
                <a:lnTo>
                  <a:pt x="31" y="18"/>
                </a:lnTo>
                <a:lnTo>
                  <a:pt x="31" y="14"/>
                </a:lnTo>
                <a:lnTo>
                  <a:pt x="31" y="12"/>
                </a:lnTo>
                <a:lnTo>
                  <a:pt x="31" y="10"/>
                </a:lnTo>
                <a:lnTo>
                  <a:pt x="29" y="8"/>
                </a:lnTo>
                <a:lnTo>
                  <a:pt x="29" y="6"/>
                </a:lnTo>
                <a:lnTo>
                  <a:pt x="27" y="4"/>
                </a:lnTo>
                <a:lnTo>
                  <a:pt x="25" y="4"/>
                </a:lnTo>
                <a:lnTo>
                  <a:pt x="23" y="2"/>
                </a:lnTo>
                <a:lnTo>
                  <a:pt x="21" y="2"/>
                </a:lnTo>
                <a:lnTo>
                  <a:pt x="19" y="0"/>
                </a:lnTo>
                <a:lnTo>
                  <a:pt x="17" y="0"/>
                </a:lnTo>
                <a:lnTo>
                  <a:pt x="15" y="0"/>
                </a:lnTo>
                <a:lnTo>
                  <a:pt x="10" y="2"/>
                </a:lnTo>
                <a:lnTo>
                  <a:pt x="8" y="2"/>
                </a:lnTo>
                <a:lnTo>
                  <a:pt x="6" y="4"/>
                </a:lnTo>
                <a:lnTo>
                  <a:pt x="4" y="6"/>
                </a:lnTo>
                <a:lnTo>
                  <a:pt x="2" y="8"/>
                </a:lnTo>
                <a:lnTo>
                  <a:pt x="2" y="10"/>
                </a:lnTo>
                <a:lnTo>
                  <a:pt x="0" y="12"/>
                </a:lnTo>
                <a:lnTo>
                  <a:pt x="0" y="14"/>
                </a:lnTo>
                <a:lnTo>
                  <a:pt x="0" y="18"/>
                </a:lnTo>
                <a:lnTo>
                  <a:pt x="2" y="20"/>
                </a:lnTo>
                <a:lnTo>
                  <a:pt x="2" y="22"/>
                </a:lnTo>
                <a:lnTo>
                  <a:pt x="4" y="24"/>
                </a:lnTo>
                <a:lnTo>
                  <a:pt x="6" y="26"/>
                </a:lnTo>
                <a:lnTo>
                  <a:pt x="8" y="29"/>
                </a:lnTo>
                <a:lnTo>
                  <a:pt x="10" y="29"/>
                </a:lnTo>
                <a:lnTo>
                  <a:pt x="15" y="31"/>
                </a:lnTo>
                <a:lnTo>
                  <a:pt x="17" y="31"/>
                </a:lnTo>
                <a:lnTo>
                  <a:pt x="15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1" name="Line 74">
            <a:extLst>
              <a:ext uri="{FF2B5EF4-FFF2-40B4-BE49-F238E27FC236}">
                <a16:creationId xmlns:a16="http://schemas.microsoft.com/office/drawing/2014/main" id="{A4BEC169-8A9F-E442-A52A-0B6528BC6E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9850" y="4908550"/>
            <a:ext cx="160338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2" name="Rectangle 75">
            <a:extLst>
              <a:ext uri="{FF2B5EF4-FFF2-40B4-BE49-F238E27FC236}">
                <a16:creationId xmlns:a16="http://schemas.microsoft.com/office/drawing/2014/main" id="{1FC88D18-DA20-2C47-ABE7-A83093493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11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03" name="Rectangle 76">
            <a:extLst>
              <a:ext uri="{FF2B5EF4-FFF2-40B4-BE49-F238E27FC236}">
                <a16:creationId xmlns:a16="http://schemas.microsoft.com/office/drawing/2014/main" id="{5A630A74-7113-914F-9EEB-F568095F8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04" name="Freeform 77">
            <a:extLst>
              <a:ext uri="{FF2B5EF4-FFF2-40B4-BE49-F238E27FC236}">
                <a16:creationId xmlns:a16="http://schemas.microsoft.com/office/drawing/2014/main" id="{A3240E63-19C5-7D43-B78D-F069604EED79}"/>
              </a:ext>
            </a:extLst>
          </p:cNvPr>
          <p:cNvSpPr>
            <a:spLocks/>
          </p:cNvSpPr>
          <p:nvPr/>
        </p:nvSpPr>
        <p:spPr bwMode="auto">
          <a:xfrm>
            <a:off x="5180013" y="3849688"/>
            <a:ext cx="57150" cy="55562"/>
          </a:xfrm>
          <a:custGeom>
            <a:avLst/>
            <a:gdLst>
              <a:gd name="T0" fmla="*/ 2147483646 w 29"/>
              <a:gd name="T1" fmla="*/ 2147483646 h 31"/>
              <a:gd name="T2" fmla="*/ 2147483646 w 29"/>
              <a:gd name="T3" fmla="*/ 2147483646 h 31"/>
              <a:gd name="T4" fmla="*/ 2147483646 w 29"/>
              <a:gd name="T5" fmla="*/ 2147483646 h 31"/>
              <a:gd name="T6" fmla="*/ 2147483646 w 29"/>
              <a:gd name="T7" fmla="*/ 2147483646 h 31"/>
              <a:gd name="T8" fmla="*/ 2147483646 w 29"/>
              <a:gd name="T9" fmla="*/ 2147483646 h 31"/>
              <a:gd name="T10" fmla="*/ 2147483646 w 29"/>
              <a:gd name="T11" fmla="*/ 2147483646 h 31"/>
              <a:gd name="T12" fmla="*/ 2147483646 w 29"/>
              <a:gd name="T13" fmla="*/ 2147483646 h 31"/>
              <a:gd name="T14" fmla="*/ 2147483646 w 29"/>
              <a:gd name="T15" fmla="*/ 2147483646 h 31"/>
              <a:gd name="T16" fmla="*/ 2147483646 w 29"/>
              <a:gd name="T17" fmla="*/ 2147483646 h 31"/>
              <a:gd name="T18" fmla="*/ 2147483646 w 29"/>
              <a:gd name="T19" fmla="*/ 2147483646 h 31"/>
              <a:gd name="T20" fmla="*/ 2147483646 w 29"/>
              <a:gd name="T21" fmla="*/ 2147483646 h 31"/>
              <a:gd name="T22" fmla="*/ 2147483646 w 29"/>
              <a:gd name="T23" fmla="*/ 2147483646 h 31"/>
              <a:gd name="T24" fmla="*/ 2147483646 w 29"/>
              <a:gd name="T25" fmla="*/ 2147483646 h 31"/>
              <a:gd name="T26" fmla="*/ 2147483646 w 29"/>
              <a:gd name="T27" fmla="*/ 2147483646 h 31"/>
              <a:gd name="T28" fmla="*/ 2147483646 w 29"/>
              <a:gd name="T29" fmla="*/ 2147483646 h 31"/>
              <a:gd name="T30" fmla="*/ 2147483646 w 29"/>
              <a:gd name="T31" fmla="*/ 2147483646 h 31"/>
              <a:gd name="T32" fmla="*/ 2147483646 w 29"/>
              <a:gd name="T33" fmla="*/ 2147483646 h 31"/>
              <a:gd name="T34" fmla="*/ 2147483646 w 29"/>
              <a:gd name="T35" fmla="*/ 2147483646 h 31"/>
              <a:gd name="T36" fmla="*/ 2147483646 w 29"/>
              <a:gd name="T37" fmla="*/ 2147483646 h 31"/>
              <a:gd name="T38" fmla="*/ 2147483646 w 29"/>
              <a:gd name="T39" fmla="*/ 0 h 31"/>
              <a:gd name="T40" fmla="*/ 2147483646 w 29"/>
              <a:gd name="T41" fmla="*/ 0 h 31"/>
              <a:gd name="T42" fmla="*/ 2147483646 w 29"/>
              <a:gd name="T43" fmla="*/ 0 h 31"/>
              <a:gd name="T44" fmla="*/ 2147483646 w 29"/>
              <a:gd name="T45" fmla="*/ 2147483646 h 31"/>
              <a:gd name="T46" fmla="*/ 2147483646 w 29"/>
              <a:gd name="T47" fmla="*/ 2147483646 h 31"/>
              <a:gd name="T48" fmla="*/ 2147483646 w 29"/>
              <a:gd name="T49" fmla="*/ 2147483646 h 31"/>
              <a:gd name="T50" fmla="*/ 2147483646 w 29"/>
              <a:gd name="T51" fmla="*/ 2147483646 h 31"/>
              <a:gd name="T52" fmla="*/ 2147483646 w 29"/>
              <a:gd name="T53" fmla="*/ 2147483646 h 31"/>
              <a:gd name="T54" fmla="*/ 2147483646 w 29"/>
              <a:gd name="T55" fmla="*/ 2147483646 h 31"/>
              <a:gd name="T56" fmla="*/ 0 w 29"/>
              <a:gd name="T57" fmla="*/ 2147483646 h 31"/>
              <a:gd name="T58" fmla="*/ 0 w 29"/>
              <a:gd name="T59" fmla="*/ 2147483646 h 31"/>
              <a:gd name="T60" fmla="*/ 0 w 29"/>
              <a:gd name="T61" fmla="*/ 2147483646 h 31"/>
              <a:gd name="T62" fmla="*/ 0 w 29"/>
              <a:gd name="T63" fmla="*/ 2147483646 h 31"/>
              <a:gd name="T64" fmla="*/ 0 w 29"/>
              <a:gd name="T65" fmla="*/ 2147483646 h 31"/>
              <a:gd name="T66" fmla="*/ 2147483646 w 29"/>
              <a:gd name="T67" fmla="*/ 2147483646 h 31"/>
              <a:gd name="T68" fmla="*/ 2147483646 w 29"/>
              <a:gd name="T69" fmla="*/ 2147483646 h 31"/>
              <a:gd name="T70" fmla="*/ 2147483646 w 29"/>
              <a:gd name="T71" fmla="*/ 2147483646 h 31"/>
              <a:gd name="T72" fmla="*/ 2147483646 w 29"/>
              <a:gd name="T73" fmla="*/ 2147483646 h 31"/>
              <a:gd name="T74" fmla="*/ 2147483646 w 29"/>
              <a:gd name="T75" fmla="*/ 2147483646 h 31"/>
              <a:gd name="T76" fmla="*/ 2147483646 w 29"/>
              <a:gd name="T77" fmla="*/ 2147483646 h 31"/>
              <a:gd name="T78" fmla="*/ 2147483646 w 29"/>
              <a:gd name="T79" fmla="*/ 2147483646 h 31"/>
              <a:gd name="T80" fmla="*/ 2147483646 w 29"/>
              <a:gd name="T81" fmla="*/ 2147483646 h 31"/>
              <a:gd name="T82" fmla="*/ 2147483646 w 29"/>
              <a:gd name="T83" fmla="*/ 2147483646 h 31"/>
              <a:gd name="T84" fmla="*/ 2147483646 w 29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9"/>
              <a:gd name="T130" fmla="*/ 0 h 31"/>
              <a:gd name="T131" fmla="*/ 29 w 29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9" h="31">
                <a:moveTo>
                  <a:pt x="14" y="29"/>
                </a:moveTo>
                <a:lnTo>
                  <a:pt x="16" y="31"/>
                </a:lnTo>
                <a:lnTo>
                  <a:pt x="18" y="29"/>
                </a:lnTo>
                <a:lnTo>
                  <a:pt x="20" y="29"/>
                </a:lnTo>
                <a:lnTo>
                  <a:pt x="22" y="26"/>
                </a:lnTo>
                <a:lnTo>
                  <a:pt x="24" y="26"/>
                </a:lnTo>
                <a:lnTo>
                  <a:pt x="27" y="24"/>
                </a:lnTo>
                <a:lnTo>
                  <a:pt x="29" y="22"/>
                </a:lnTo>
                <a:lnTo>
                  <a:pt x="29" y="20"/>
                </a:lnTo>
                <a:lnTo>
                  <a:pt x="29" y="18"/>
                </a:lnTo>
                <a:lnTo>
                  <a:pt x="29" y="14"/>
                </a:lnTo>
                <a:lnTo>
                  <a:pt x="29" y="12"/>
                </a:lnTo>
                <a:lnTo>
                  <a:pt x="29" y="10"/>
                </a:lnTo>
                <a:lnTo>
                  <a:pt x="29" y="8"/>
                </a:lnTo>
                <a:lnTo>
                  <a:pt x="27" y="6"/>
                </a:lnTo>
                <a:lnTo>
                  <a:pt x="24" y="4"/>
                </a:lnTo>
                <a:lnTo>
                  <a:pt x="22" y="4"/>
                </a:lnTo>
                <a:lnTo>
                  <a:pt x="20" y="2"/>
                </a:lnTo>
                <a:lnTo>
                  <a:pt x="18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0" y="2"/>
                </a:lnTo>
                <a:lnTo>
                  <a:pt x="8" y="2"/>
                </a:lnTo>
                <a:lnTo>
                  <a:pt x="6" y="4"/>
                </a:lnTo>
                <a:lnTo>
                  <a:pt x="4" y="4"/>
                </a:lnTo>
                <a:lnTo>
                  <a:pt x="2" y="6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8"/>
                </a:lnTo>
                <a:lnTo>
                  <a:pt x="0" y="20"/>
                </a:lnTo>
                <a:lnTo>
                  <a:pt x="2" y="22"/>
                </a:lnTo>
                <a:lnTo>
                  <a:pt x="2" y="24"/>
                </a:lnTo>
                <a:lnTo>
                  <a:pt x="4" y="26"/>
                </a:lnTo>
                <a:lnTo>
                  <a:pt x="6" y="26"/>
                </a:lnTo>
                <a:lnTo>
                  <a:pt x="8" y="29"/>
                </a:lnTo>
                <a:lnTo>
                  <a:pt x="10" y="29"/>
                </a:lnTo>
                <a:lnTo>
                  <a:pt x="12" y="31"/>
                </a:lnTo>
                <a:lnTo>
                  <a:pt x="14" y="31"/>
                </a:lnTo>
                <a:lnTo>
                  <a:pt x="14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5" name="Freeform 78">
            <a:extLst>
              <a:ext uri="{FF2B5EF4-FFF2-40B4-BE49-F238E27FC236}">
                <a16:creationId xmlns:a16="http://schemas.microsoft.com/office/drawing/2014/main" id="{4B0B40D4-A7AC-8649-AE4F-B45833F170FD}"/>
              </a:ext>
            </a:extLst>
          </p:cNvPr>
          <p:cNvSpPr>
            <a:spLocks/>
          </p:cNvSpPr>
          <p:nvPr/>
        </p:nvSpPr>
        <p:spPr bwMode="auto">
          <a:xfrm>
            <a:off x="4557713" y="3875088"/>
            <a:ext cx="646112" cy="1527175"/>
          </a:xfrm>
          <a:custGeom>
            <a:avLst/>
            <a:gdLst>
              <a:gd name="T0" fmla="*/ 2147483646 w 325"/>
              <a:gd name="T1" fmla="*/ 0 h 841"/>
              <a:gd name="T2" fmla="*/ 2147483646 w 325"/>
              <a:gd name="T3" fmla="*/ 2147483646 h 841"/>
              <a:gd name="T4" fmla="*/ 0 w 325"/>
              <a:gd name="T5" fmla="*/ 2147483646 h 841"/>
              <a:gd name="T6" fmla="*/ 0 w 325"/>
              <a:gd name="T7" fmla="*/ 2147483646 h 841"/>
              <a:gd name="T8" fmla="*/ 0 60000 65536"/>
              <a:gd name="T9" fmla="*/ 0 60000 65536"/>
              <a:gd name="T10" fmla="*/ 0 60000 65536"/>
              <a:gd name="T11" fmla="*/ 0 60000 65536"/>
              <a:gd name="T12" fmla="*/ 0 w 325"/>
              <a:gd name="T13" fmla="*/ 0 h 841"/>
              <a:gd name="T14" fmla="*/ 325 w 325"/>
              <a:gd name="T15" fmla="*/ 841 h 84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5" h="841">
                <a:moveTo>
                  <a:pt x="325" y="0"/>
                </a:moveTo>
                <a:lnTo>
                  <a:pt x="325" y="685"/>
                </a:lnTo>
                <a:lnTo>
                  <a:pt x="0" y="685"/>
                </a:lnTo>
                <a:lnTo>
                  <a:pt x="0" y="841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6" name="Line 79">
            <a:extLst>
              <a:ext uri="{FF2B5EF4-FFF2-40B4-BE49-F238E27FC236}">
                <a16:creationId xmlns:a16="http://schemas.microsoft.com/office/drawing/2014/main" id="{D2BC8203-A9FF-B140-A32D-4486785DBA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9213" y="4908550"/>
            <a:ext cx="155575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07" name="Rectangle 80">
            <a:extLst>
              <a:ext uri="{FF2B5EF4-FFF2-40B4-BE49-F238E27FC236}">
                <a16:creationId xmlns:a16="http://schemas.microsoft.com/office/drawing/2014/main" id="{7114D108-FCA2-7043-A4A1-F7CA56B677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57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08" name="Rectangle 81">
            <a:extLst>
              <a:ext uri="{FF2B5EF4-FFF2-40B4-BE49-F238E27FC236}">
                <a16:creationId xmlns:a16="http://schemas.microsoft.com/office/drawing/2014/main" id="{C7E0B5D1-5EA7-A84B-AFF5-578F289A7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19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09" name="Freeform 82">
            <a:extLst>
              <a:ext uri="{FF2B5EF4-FFF2-40B4-BE49-F238E27FC236}">
                <a16:creationId xmlns:a16="http://schemas.microsoft.com/office/drawing/2014/main" id="{63964CE3-2387-2B47-8A73-A0174E5CA4A3}"/>
              </a:ext>
            </a:extLst>
          </p:cNvPr>
          <p:cNvSpPr>
            <a:spLocks/>
          </p:cNvSpPr>
          <p:nvPr/>
        </p:nvSpPr>
        <p:spPr bwMode="auto">
          <a:xfrm>
            <a:off x="6432550" y="3849688"/>
            <a:ext cx="60325" cy="55562"/>
          </a:xfrm>
          <a:custGeom>
            <a:avLst/>
            <a:gdLst>
              <a:gd name="T0" fmla="*/ 2147483646 w 31"/>
              <a:gd name="T1" fmla="*/ 2147483646 h 31"/>
              <a:gd name="T2" fmla="*/ 2147483646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2147483646 h 31"/>
              <a:gd name="T12" fmla="*/ 2147483646 w 31"/>
              <a:gd name="T13" fmla="*/ 2147483646 h 31"/>
              <a:gd name="T14" fmla="*/ 2147483646 w 31"/>
              <a:gd name="T15" fmla="*/ 2147483646 h 31"/>
              <a:gd name="T16" fmla="*/ 2147483646 w 31"/>
              <a:gd name="T17" fmla="*/ 2147483646 h 31"/>
              <a:gd name="T18" fmla="*/ 2147483646 w 31"/>
              <a:gd name="T19" fmla="*/ 2147483646 h 31"/>
              <a:gd name="T20" fmla="*/ 2147483646 w 31"/>
              <a:gd name="T21" fmla="*/ 2147483646 h 31"/>
              <a:gd name="T22" fmla="*/ 2147483646 w 31"/>
              <a:gd name="T23" fmla="*/ 2147483646 h 31"/>
              <a:gd name="T24" fmla="*/ 2147483646 w 31"/>
              <a:gd name="T25" fmla="*/ 2147483646 h 31"/>
              <a:gd name="T26" fmla="*/ 2147483646 w 31"/>
              <a:gd name="T27" fmla="*/ 2147483646 h 31"/>
              <a:gd name="T28" fmla="*/ 2147483646 w 31"/>
              <a:gd name="T29" fmla="*/ 2147483646 h 31"/>
              <a:gd name="T30" fmla="*/ 2147483646 w 31"/>
              <a:gd name="T31" fmla="*/ 2147483646 h 31"/>
              <a:gd name="T32" fmla="*/ 2147483646 w 31"/>
              <a:gd name="T33" fmla="*/ 2147483646 h 31"/>
              <a:gd name="T34" fmla="*/ 2147483646 w 31"/>
              <a:gd name="T35" fmla="*/ 2147483646 h 31"/>
              <a:gd name="T36" fmla="*/ 2147483646 w 31"/>
              <a:gd name="T37" fmla="*/ 2147483646 h 31"/>
              <a:gd name="T38" fmla="*/ 2147483646 w 31"/>
              <a:gd name="T39" fmla="*/ 0 h 31"/>
              <a:gd name="T40" fmla="*/ 2147483646 w 31"/>
              <a:gd name="T41" fmla="*/ 0 h 31"/>
              <a:gd name="T42" fmla="*/ 2147483646 w 31"/>
              <a:gd name="T43" fmla="*/ 0 h 31"/>
              <a:gd name="T44" fmla="*/ 2147483646 w 31"/>
              <a:gd name="T45" fmla="*/ 2147483646 h 31"/>
              <a:gd name="T46" fmla="*/ 2147483646 w 31"/>
              <a:gd name="T47" fmla="*/ 2147483646 h 31"/>
              <a:gd name="T48" fmla="*/ 2147483646 w 31"/>
              <a:gd name="T49" fmla="*/ 2147483646 h 31"/>
              <a:gd name="T50" fmla="*/ 2147483646 w 31"/>
              <a:gd name="T51" fmla="*/ 2147483646 h 31"/>
              <a:gd name="T52" fmla="*/ 2147483646 w 31"/>
              <a:gd name="T53" fmla="*/ 2147483646 h 31"/>
              <a:gd name="T54" fmla="*/ 2147483646 w 31"/>
              <a:gd name="T55" fmla="*/ 2147483646 h 31"/>
              <a:gd name="T56" fmla="*/ 0 w 31"/>
              <a:gd name="T57" fmla="*/ 2147483646 h 31"/>
              <a:gd name="T58" fmla="*/ 0 w 31"/>
              <a:gd name="T59" fmla="*/ 2147483646 h 31"/>
              <a:gd name="T60" fmla="*/ 0 w 31"/>
              <a:gd name="T61" fmla="*/ 2147483646 h 31"/>
              <a:gd name="T62" fmla="*/ 0 w 31"/>
              <a:gd name="T63" fmla="*/ 2147483646 h 31"/>
              <a:gd name="T64" fmla="*/ 0 w 31"/>
              <a:gd name="T65" fmla="*/ 2147483646 h 31"/>
              <a:gd name="T66" fmla="*/ 2147483646 w 31"/>
              <a:gd name="T67" fmla="*/ 2147483646 h 31"/>
              <a:gd name="T68" fmla="*/ 2147483646 w 31"/>
              <a:gd name="T69" fmla="*/ 2147483646 h 31"/>
              <a:gd name="T70" fmla="*/ 2147483646 w 31"/>
              <a:gd name="T71" fmla="*/ 2147483646 h 31"/>
              <a:gd name="T72" fmla="*/ 2147483646 w 31"/>
              <a:gd name="T73" fmla="*/ 2147483646 h 31"/>
              <a:gd name="T74" fmla="*/ 2147483646 w 31"/>
              <a:gd name="T75" fmla="*/ 2147483646 h 31"/>
              <a:gd name="T76" fmla="*/ 2147483646 w 31"/>
              <a:gd name="T77" fmla="*/ 2147483646 h 31"/>
              <a:gd name="T78" fmla="*/ 2147483646 w 31"/>
              <a:gd name="T79" fmla="*/ 2147483646 h 31"/>
              <a:gd name="T80" fmla="*/ 2147483646 w 31"/>
              <a:gd name="T81" fmla="*/ 2147483646 h 31"/>
              <a:gd name="T82" fmla="*/ 2147483646 w 31"/>
              <a:gd name="T83" fmla="*/ 2147483646 h 31"/>
              <a:gd name="T84" fmla="*/ 2147483646 w 31"/>
              <a:gd name="T85" fmla="*/ 2147483646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31"/>
              <a:gd name="T131" fmla="*/ 31 w 31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31">
                <a:moveTo>
                  <a:pt x="15" y="29"/>
                </a:moveTo>
                <a:lnTo>
                  <a:pt x="17" y="31"/>
                </a:lnTo>
                <a:lnTo>
                  <a:pt x="21" y="29"/>
                </a:lnTo>
                <a:lnTo>
                  <a:pt x="23" y="29"/>
                </a:lnTo>
                <a:lnTo>
                  <a:pt x="25" y="26"/>
                </a:lnTo>
                <a:lnTo>
                  <a:pt x="27" y="24"/>
                </a:lnTo>
                <a:lnTo>
                  <a:pt x="29" y="22"/>
                </a:lnTo>
                <a:lnTo>
                  <a:pt x="29" y="20"/>
                </a:lnTo>
                <a:lnTo>
                  <a:pt x="29" y="18"/>
                </a:lnTo>
                <a:lnTo>
                  <a:pt x="31" y="14"/>
                </a:lnTo>
                <a:lnTo>
                  <a:pt x="29" y="12"/>
                </a:lnTo>
                <a:lnTo>
                  <a:pt x="29" y="10"/>
                </a:lnTo>
                <a:lnTo>
                  <a:pt x="29" y="8"/>
                </a:lnTo>
                <a:lnTo>
                  <a:pt x="27" y="6"/>
                </a:lnTo>
                <a:lnTo>
                  <a:pt x="25" y="4"/>
                </a:lnTo>
                <a:lnTo>
                  <a:pt x="23" y="2"/>
                </a:lnTo>
                <a:lnTo>
                  <a:pt x="21" y="2"/>
                </a:lnTo>
                <a:lnTo>
                  <a:pt x="17" y="0"/>
                </a:lnTo>
                <a:lnTo>
                  <a:pt x="15" y="0"/>
                </a:lnTo>
                <a:lnTo>
                  <a:pt x="13" y="0"/>
                </a:lnTo>
                <a:lnTo>
                  <a:pt x="11" y="2"/>
                </a:lnTo>
                <a:lnTo>
                  <a:pt x="8" y="2"/>
                </a:lnTo>
                <a:lnTo>
                  <a:pt x="6" y="4"/>
                </a:lnTo>
                <a:lnTo>
                  <a:pt x="4" y="4"/>
                </a:lnTo>
                <a:lnTo>
                  <a:pt x="2" y="6"/>
                </a:lnTo>
                <a:lnTo>
                  <a:pt x="2" y="8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8"/>
                </a:lnTo>
                <a:lnTo>
                  <a:pt x="0" y="20"/>
                </a:lnTo>
                <a:lnTo>
                  <a:pt x="2" y="22"/>
                </a:lnTo>
                <a:lnTo>
                  <a:pt x="2" y="24"/>
                </a:lnTo>
                <a:lnTo>
                  <a:pt x="4" y="26"/>
                </a:lnTo>
                <a:lnTo>
                  <a:pt x="6" y="26"/>
                </a:lnTo>
                <a:lnTo>
                  <a:pt x="8" y="29"/>
                </a:lnTo>
                <a:lnTo>
                  <a:pt x="11" y="29"/>
                </a:lnTo>
                <a:lnTo>
                  <a:pt x="13" y="31"/>
                </a:lnTo>
                <a:lnTo>
                  <a:pt x="15" y="31"/>
                </a:lnTo>
                <a:lnTo>
                  <a:pt x="15" y="2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0" name="Freeform 83">
            <a:extLst>
              <a:ext uri="{FF2B5EF4-FFF2-40B4-BE49-F238E27FC236}">
                <a16:creationId xmlns:a16="http://schemas.microsoft.com/office/drawing/2014/main" id="{7D08C318-1545-BD45-AA14-41373D4F432E}"/>
              </a:ext>
            </a:extLst>
          </p:cNvPr>
          <p:cNvSpPr>
            <a:spLocks/>
          </p:cNvSpPr>
          <p:nvPr/>
        </p:nvSpPr>
        <p:spPr bwMode="auto">
          <a:xfrm>
            <a:off x="4738688" y="3875088"/>
            <a:ext cx="1722437" cy="1522412"/>
          </a:xfrm>
          <a:custGeom>
            <a:avLst/>
            <a:gdLst>
              <a:gd name="T0" fmla="*/ 2147483646 w 868"/>
              <a:gd name="T1" fmla="*/ 0 h 839"/>
              <a:gd name="T2" fmla="*/ 2147483646 w 868"/>
              <a:gd name="T3" fmla="*/ 2147483646 h 839"/>
              <a:gd name="T4" fmla="*/ 0 w 868"/>
              <a:gd name="T5" fmla="*/ 2147483646 h 839"/>
              <a:gd name="T6" fmla="*/ 0 w 868"/>
              <a:gd name="T7" fmla="*/ 2147483646 h 839"/>
              <a:gd name="T8" fmla="*/ 0 60000 65536"/>
              <a:gd name="T9" fmla="*/ 0 60000 65536"/>
              <a:gd name="T10" fmla="*/ 0 60000 65536"/>
              <a:gd name="T11" fmla="*/ 0 60000 65536"/>
              <a:gd name="T12" fmla="*/ 0 w 868"/>
              <a:gd name="T13" fmla="*/ 0 h 839"/>
              <a:gd name="T14" fmla="*/ 868 w 868"/>
              <a:gd name="T15" fmla="*/ 839 h 8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8" h="839">
                <a:moveTo>
                  <a:pt x="866" y="0"/>
                </a:moveTo>
                <a:lnTo>
                  <a:pt x="868" y="776"/>
                </a:lnTo>
                <a:lnTo>
                  <a:pt x="0" y="776"/>
                </a:lnTo>
                <a:lnTo>
                  <a:pt x="0" y="839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1" name="Line 84">
            <a:extLst>
              <a:ext uri="{FF2B5EF4-FFF2-40B4-BE49-F238E27FC236}">
                <a16:creationId xmlns:a16="http://schemas.microsoft.com/office/drawing/2014/main" id="{44F6E8F8-C3EF-504B-92E3-721ED5366C4B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1750" y="4908550"/>
            <a:ext cx="157163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2" name="Rectangle 85">
            <a:extLst>
              <a:ext uri="{FF2B5EF4-FFF2-40B4-BE49-F238E27FC236}">
                <a16:creationId xmlns:a16="http://schemas.microsoft.com/office/drawing/2014/main" id="{B1B21968-5A49-ED4A-AC78-48DC5CE8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3038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13" name="Rectangle 86">
            <a:extLst>
              <a:ext uri="{FF2B5EF4-FFF2-40B4-BE49-F238E27FC236}">
                <a16:creationId xmlns:a16="http://schemas.microsoft.com/office/drawing/2014/main" id="{A7C0CD3A-8683-9F42-925D-796F8633C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6063" y="4808538"/>
            <a:ext cx="63500" cy="13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14" name="Freeform 87">
            <a:extLst>
              <a:ext uri="{FF2B5EF4-FFF2-40B4-BE49-F238E27FC236}">
                <a16:creationId xmlns:a16="http://schemas.microsoft.com/office/drawing/2014/main" id="{8AD8C9B0-6578-6047-87FF-B953CC031168}"/>
              </a:ext>
            </a:extLst>
          </p:cNvPr>
          <p:cNvSpPr>
            <a:spLocks/>
          </p:cNvSpPr>
          <p:nvPr/>
        </p:nvSpPr>
        <p:spPr bwMode="auto">
          <a:xfrm>
            <a:off x="4167188" y="5384800"/>
            <a:ext cx="57150" cy="57150"/>
          </a:xfrm>
          <a:custGeom>
            <a:avLst/>
            <a:gdLst>
              <a:gd name="T0" fmla="*/ 2147483646 w 29"/>
              <a:gd name="T1" fmla="*/ 0 h 31"/>
              <a:gd name="T2" fmla="*/ 0 w 29"/>
              <a:gd name="T3" fmla="*/ 2147483646 h 31"/>
              <a:gd name="T4" fmla="*/ 2147483646 w 29"/>
              <a:gd name="T5" fmla="*/ 2147483646 h 31"/>
              <a:gd name="T6" fmla="*/ 2147483646 w 29"/>
              <a:gd name="T7" fmla="*/ 2147483646 h 31"/>
              <a:gd name="T8" fmla="*/ 2147483646 w 29"/>
              <a:gd name="T9" fmla="*/ 2147483646 h 31"/>
              <a:gd name="T10" fmla="*/ 2147483646 w 29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"/>
              <a:gd name="T19" fmla="*/ 0 h 31"/>
              <a:gd name="T20" fmla="*/ 29 w 29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" h="31">
                <a:moveTo>
                  <a:pt x="29" y="0"/>
                </a:moveTo>
                <a:lnTo>
                  <a:pt x="0" y="2"/>
                </a:lnTo>
                <a:lnTo>
                  <a:pt x="15" y="31"/>
                </a:lnTo>
                <a:lnTo>
                  <a:pt x="29" y="2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5" name="Freeform 88">
            <a:extLst>
              <a:ext uri="{FF2B5EF4-FFF2-40B4-BE49-F238E27FC236}">
                <a16:creationId xmlns:a16="http://schemas.microsoft.com/office/drawing/2014/main" id="{4107ED1F-FC75-5F40-ADAB-23905AD83ABC}"/>
              </a:ext>
            </a:extLst>
          </p:cNvPr>
          <p:cNvSpPr>
            <a:spLocks/>
          </p:cNvSpPr>
          <p:nvPr/>
        </p:nvSpPr>
        <p:spPr bwMode="auto">
          <a:xfrm>
            <a:off x="4348163" y="5384800"/>
            <a:ext cx="57150" cy="57150"/>
          </a:xfrm>
          <a:custGeom>
            <a:avLst/>
            <a:gdLst>
              <a:gd name="T0" fmla="*/ 2147483646 w 29"/>
              <a:gd name="T1" fmla="*/ 0 h 31"/>
              <a:gd name="T2" fmla="*/ 0 w 29"/>
              <a:gd name="T3" fmla="*/ 2147483646 h 31"/>
              <a:gd name="T4" fmla="*/ 2147483646 w 29"/>
              <a:gd name="T5" fmla="*/ 2147483646 h 31"/>
              <a:gd name="T6" fmla="*/ 2147483646 w 29"/>
              <a:gd name="T7" fmla="*/ 2147483646 h 31"/>
              <a:gd name="T8" fmla="*/ 2147483646 w 29"/>
              <a:gd name="T9" fmla="*/ 2147483646 h 31"/>
              <a:gd name="T10" fmla="*/ 2147483646 w 29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9"/>
              <a:gd name="T19" fmla="*/ 0 h 31"/>
              <a:gd name="T20" fmla="*/ 29 w 29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9" h="31">
                <a:moveTo>
                  <a:pt x="29" y="0"/>
                </a:moveTo>
                <a:lnTo>
                  <a:pt x="0" y="2"/>
                </a:lnTo>
                <a:lnTo>
                  <a:pt x="15" y="31"/>
                </a:lnTo>
                <a:lnTo>
                  <a:pt x="29" y="2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6" name="Freeform 89">
            <a:extLst>
              <a:ext uri="{FF2B5EF4-FFF2-40B4-BE49-F238E27FC236}">
                <a16:creationId xmlns:a16="http://schemas.microsoft.com/office/drawing/2014/main" id="{38299B37-EF40-CD48-B67C-0710AEA42353}"/>
              </a:ext>
            </a:extLst>
          </p:cNvPr>
          <p:cNvSpPr>
            <a:spLocks/>
          </p:cNvSpPr>
          <p:nvPr/>
        </p:nvSpPr>
        <p:spPr bwMode="auto">
          <a:xfrm>
            <a:off x="4529138" y="5384800"/>
            <a:ext cx="60325" cy="57150"/>
          </a:xfrm>
          <a:custGeom>
            <a:avLst/>
            <a:gdLst>
              <a:gd name="T0" fmla="*/ 2147483646 w 31"/>
              <a:gd name="T1" fmla="*/ 0 h 31"/>
              <a:gd name="T2" fmla="*/ 0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29" y="0"/>
                </a:moveTo>
                <a:lnTo>
                  <a:pt x="0" y="2"/>
                </a:lnTo>
                <a:lnTo>
                  <a:pt x="15" y="31"/>
                </a:lnTo>
                <a:lnTo>
                  <a:pt x="31" y="2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7" name="Freeform 90">
            <a:extLst>
              <a:ext uri="{FF2B5EF4-FFF2-40B4-BE49-F238E27FC236}">
                <a16:creationId xmlns:a16="http://schemas.microsoft.com/office/drawing/2014/main" id="{1F352A54-4BC8-0842-BC6F-7A0DB8C43D16}"/>
              </a:ext>
            </a:extLst>
          </p:cNvPr>
          <p:cNvSpPr>
            <a:spLocks/>
          </p:cNvSpPr>
          <p:nvPr/>
        </p:nvSpPr>
        <p:spPr bwMode="auto">
          <a:xfrm>
            <a:off x="4711700" y="5384800"/>
            <a:ext cx="60325" cy="57150"/>
          </a:xfrm>
          <a:custGeom>
            <a:avLst/>
            <a:gdLst>
              <a:gd name="T0" fmla="*/ 2147483646 w 31"/>
              <a:gd name="T1" fmla="*/ 0 h 31"/>
              <a:gd name="T2" fmla="*/ 0 w 31"/>
              <a:gd name="T3" fmla="*/ 2147483646 h 31"/>
              <a:gd name="T4" fmla="*/ 2147483646 w 31"/>
              <a:gd name="T5" fmla="*/ 2147483646 h 31"/>
              <a:gd name="T6" fmla="*/ 2147483646 w 31"/>
              <a:gd name="T7" fmla="*/ 2147483646 h 31"/>
              <a:gd name="T8" fmla="*/ 2147483646 w 31"/>
              <a:gd name="T9" fmla="*/ 2147483646 h 31"/>
              <a:gd name="T10" fmla="*/ 2147483646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29" y="0"/>
                </a:moveTo>
                <a:lnTo>
                  <a:pt x="0" y="2"/>
                </a:lnTo>
                <a:lnTo>
                  <a:pt x="14" y="31"/>
                </a:lnTo>
                <a:lnTo>
                  <a:pt x="31" y="2"/>
                </a:lnTo>
                <a:lnTo>
                  <a:pt x="2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8" name="Line 91">
            <a:extLst>
              <a:ext uri="{FF2B5EF4-FFF2-40B4-BE49-F238E27FC236}">
                <a16:creationId xmlns:a16="http://schemas.microsoft.com/office/drawing/2014/main" id="{3938FBCB-D5A7-3142-B728-12829B1E6D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21163" y="2270125"/>
            <a:ext cx="160337" cy="825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19" name="Rectangle 92">
            <a:extLst>
              <a:ext uri="{FF2B5EF4-FFF2-40B4-BE49-F238E27FC236}">
                <a16:creationId xmlns:a16="http://schemas.microsoft.com/office/drawing/2014/main" id="{1F920A53-8D41-5D4A-9694-4CFEFE75D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1813" y="2151063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20" name="Line 93">
            <a:extLst>
              <a:ext uri="{FF2B5EF4-FFF2-40B4-BE49-F238E27FC236}">
                <a16:creationId xmlns:a16="http://schemas.microsoft.com/office/drawing/2014/main" id="{6F00A1B8-4EB7-144B-BEC8-BFA7012E1C56}"/>
              </a:ext>
            </a:extLst>
          </p:cNvPr>
          <p:cNvSpPr>
            <a:spLocks noChangeShapeType="1"/>
          </p:cNvSpPr>
          <p:nvPr/>
        </p:nvSpPr>
        <p:spPr bwMode="auto">
          <a:xfrm>
            <a:off x="4389438" y="5816600"/>
            <a:ext cx="157162" cy="8731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1" name="Rectangle 94">
            <a:extLst>
              <a:ext uri="{FF2B5EF4-FFF2-40B4-BE49-F238E27FC236}">
                <a16:creationId xmlns:a16="http://schemas.microsoft.com/office/drawing/2014/main" id="{18D03435-1317-134B-9B6D-AACA44948E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5" y="5721350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22" name="Rectangle 95">
            <a:extLst>
              <a:ext uri="{FF2B5EF4-FFF2-40B4-BE49-F238E27FC236}">
                <a16:creationId xmlns:a16="http://schemas.microsoft.com/office/drawing/2014/main" id="{73058952-1D21-5F4C-823E-251960688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0" y="5721350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23" name="Freeform 96">
            <a:extLst>
              <a:ext uri="{FF2B5EF4-FFF2-40B4-BE49-F238E27FC236}">
                <a16:creationId xmlns:a16="http://schemas.microsoft.com/office/drawing/2014/main" id="{0081F20F-B10B-D143-ABA1-069AF763AD90}"/>
              </a:ext>
            </a:extLst>
          </p:cNvPr>
          <p:cNvSpPr>
            <a:spLocks/>
          </p:cNvSpPr>
          <p:nvPr/>
        </p:nvSpPr>
        <p:spPr bwMode="auto">
          <a:xfrm>
            <a:off x="3959225" y="3875088"/>
            <a:ext cx="419100" cy="1522412"/>
          </a:xfrm>
          <a:custGeom>
            <a:avLst/>
            <a:gdLst>
              <a:gd name="T0" fmla="*/ 2147483646 w 211"/>
              <a:gd name="T1" fmla="*/ 2147483646 h 839"/>
              <a:gd name="T2" fmla="*/ 2147483646 w 211"/>
              <a:gd name="T3" fmla="*/ 2147483646 h 839"/>
              <a:gd name="T4" fmla="*/ 0 w 211"/>
              <a:gd name="T5" fmla="*/ 2147483646 h 839"/>
              <a:gd name="T6" fmla="*/ 0 w 211"/>
              <a:gd name="T7" fmla="*/ 0 h 839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839"/>
              <a:gd name="T14" fmla="*/ 211 w 211"/>
              <a:gd name="T15" fmla="*/ 839 h 8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839">
                <a:moveTo>
                  <a:pt x="211" y="839"/>
                </a:moveTo>
                <a:lnTo>
                  <a:pt x="211" y="685"/>
                </a:lnTo>
                <a:lnTo>
                  <a:pt x="0" y="685"/>
                </a:lnTo>
                <a:lnTo>
                  <a:pt x="0" y="0"/>
                </a:lnTo>
              </a:path>
            </a:pathLst>
          </a:custGeom>
          <a:noFill/>
          <a:ln w="222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4" name="Line 97">
            <a:extLst>
              <a:ext uri="{FF2B5EF4-FFF2-40B4-BE49-F238E27FC236}">
                <a16:creationId xmlns:a16="http://schemas.microsoft.com/office/drawing/2014/main" id="{ECF28F38-6FE7-7143-9103-EBA3BC7F34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68438" y="3141663"/>
            <a:ext cx="3175" cy="1649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5" name="Line 98">
            <a:extLst>
              <a:ext uri="{FF2B5EF4-FFF2-40B4-BE49-F238E27FC236}">
                <a16:creationId xmlns:a16="http://schemas.microsoft.com/office/drawing/2014/main" id="{95596639-477F-FC48-8781-7FD086863CE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47875" y="3141663"/>
            <a:ext cx="3175" cy="1649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6" name="Line 99">
            <a:extLst>
              <a:ext uri="{FF2B5EF4-FFF2-40B4-BE49-F238E27FC236}">
                <a16:creationId xmlns:a16="http://schemas.microsoft.com/office/drawing/2014/main" id="{2E0D146F-7C51-9641-BA9A-E8FAACEBA9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28988" y="3141663"/>
            <a:ext cx="4762" cy="1649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7" name="Line 100">
            <a:extLst>
              <a:ext uri="{FF2B5EF4-FFF2-40B4-BE49-F238E27FC236}">
                <a16:creationId xmlns:a16="http://schemas.microsoft.com/office/drawing/2014/main" id="{18DD00DD-BAB1-F24A-B6D7-EAD6CBBBE6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86288" y="3141663"/>
            <a:ext cx="3175" cy="1649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8" name="Line 101">
            <a:extLst>
              <a:ext uri="{FF2B5EF4-FFF2-40B4-BE49-F238E27FC236}">
                <a16:creationId xmlns:a16="http://schemas.microsoft.com/office/drawing/2014/main" id="{5C2DDFBE-8F43-9244-B469-36CF7BF8EA9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37238" y="3141663"/>
            <a:ext cx="1587" cy="16494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29" name="Line 102">
            <a:extLst>
              <a:ext uri="{FF2B5EF4-FFF2-40B4-BE49-F238E27FC236}">
                <a16:creationId xmlns:a16="http://schemas.microsoft.com/office/drawing/2014/main" id="{91158612-F5C8-5D4F-A975-383064D946A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295650"/>
            <a:ext cx="57435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0" name="Line 103">
            <a:extLst>
              <a:ext uri="{FF2B5EF4-FFF2-40B4-BE49-F238E27FC236}">
                <a16:creationId xmlns:a16="http://schemas.microsoft.com/office/drawing/2014/main" id="{194C1348-C7E8-234E-B793-F41B0C4A6EE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460750"/>
            <a:ext cx="5743575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1" name="Line 104">
            <a:extLst>
              <a:ext uri="{FF2B5EF4-FFF2-40B4-BE49-F238E27FC236}">
                <a16:creationId xmlns:a16="http://schemas.microsoft.com/office/drawing/2014/main" id="{AEC70C19-9635-8241-BE03-028D4FFA54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625850"/>
            <a:ext cx="5743575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2" name="Line 105">
            <a:extLst>
              <a:ext uri="{FF2B5EF4-FFF2-40B4-BE49-F238E27FC236}">
                <a16:creationId xmlns:a16="http://schemas.microsoft.com/office/drawing/2014/main" id="{B46053DD-3704-F84E-8309-B73E5A1701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790950"/>
            <a:ext cx="5743575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3" name="Line 106">
            <a:extLst>
              <a:ext uri="{FF2B5EF4-FFF2-40B4-BE49-F238E27FC236}">
                <a16:creationId xmlns:a16="http://schemas.microsoft.com/office/drawing/2014/main" id="{C06CE0F3-BA99-DF42-932A-A9B8752FF11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3959225"/>
            <a:ext cx="5743575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4" name="Line 107">
            <a:extLst>
              <a:ext uri="{FF2B5EF4-FFF2-40B4-BE49-F238E27FC236}">
                <a16:creationId xmlns:a16="http://schemas.microsoft.com/office/drawing/2014/main" id="{749E1FA3-6B34-D94F-9AC1-DC3FAA3153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4127500"/>
            <a:ext cx="57435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5" name="Line 108">
            <a:extLst>
              <a:ext uri="{FF2B5EF4-FFF2-40B4-BE49-F238E27FC236}">
                <a16:creationId xmlns:a16="http://schemas.microsoft.com/office/drawing/2014/main" id="{053681E3-0B03-394E-B826-0B1648A9B62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4292600"/>
            <a:ext cx="57435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6" name="Line 109">
            <a:extLst>
              <a:ext uri="{FF2B5EF4-FFF2-40B4-BE49-F238E27FC236}">
                <a16:creationId xmlns:a16="http://schemas.microsoft.com/office/drawing/2014/main" id="{F2B0DDAB-12BF-9343-9F15-3932D5A4FF5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4457700"/>
            <a:ext cx="57435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7" name="Line 110">
            <a:extLst>
              <a:ext uri="{FF2B5EF4-FFF2-40B4-BE49-F238E27FC236}">
                <a16:creationId xmlns:a16="http://schemas.microsoft.com/office/drawing/2014/main" id="{AB14090D-4938-A747-94C8-7DA7C01A9C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22388" y="4622800"/>
            <a:ext cx="5743575" cy="15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38" name="Rectangle 112">
            <a:extLst>
              <a:ext uri="{FF2B5EF4-FFF2-40B4-BE49-F238E27FC236}">
                <a16:creationId xmlns:a16="http://schemas.microsoft.com/office/drawing/2014/main" id="{BB6C42D2-52AA-4945-817B-4FDFDCCD8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4338" y="1685925"/>
            <a:ext cx="19685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3</a:t>
            </a:r>
            <a:r>
              <a:rPr kumimoji="1" lang="en-US" altLang="zh-CN" sz="1400" b="1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endParaRPr kumimoji="1" lang="en-US" altLang="zh-CN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39" name="Rectangle 115">
            <a:extLst>
              <a:ext uri="{FF2B5EF4-FFF2-40B4-BE49-F238E27FC236}">
                <a16:creationId xmlns:a16="http://schemas.microsoft.com/office/drawing/2014/main" id="{D34459DC-C2C0-2146-A9AF-2E1456483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4050" y="1771650"/>
            <a:ext cx="33338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40" name="Rectangle 117">
            <a:extLst>
              <a:ext uri="{FF2B5EF4-FFF2-40B4-BE49-F238E27FC236}">
                <a16:creationId xmlns:a16="http://schemas.microsoft.com/office/drawing/2014/main" id="{38BD8071-3DBE-9E4E-A020-A90C67721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1771650"/>
            <a:ext cx="317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900">
                <a:solidFill>
                  <a:srgbClr val="000000"/>
                </a:solidFill>
                <a:ea typeface="宋体" panose="02010600030101010101" pitchFamily="2" charset="-122"/>
              </a:rPr>
              <a:t> </a:t>
            </a:r>
            <a:endParaRPr kumimoji="1"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41" name="AutoShape 119">
            <a:extLst>
              <a:ext uri="{FF2B5EF4-FFF2-40B4-BE49-F238E27FC236}">
                <a16:creationId xmlns:a16="http://schemas.microsoft.com/office/drawing/2014/main" id="{455D16B8-C53D-4F4D-AA4A-1B556521E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3825" y="2243138"/>
            <a:ext cx="558800" cy="241300"/>
          </a:xfrm>
          <a:prstGeom prst="roundRect">
            <a:avLst>
              <a:gd name="adj" fmla="val 375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47542" name="Line 120">
            <a:extLst>
              <a:ext uri="{FF2B5EF4-FFF2-40B4-BE49-F238E27FC236}">
                <a16:creationId xmlns:a16="http://schemas.microsoft.com/office/drawing/2014/main" id="{7C7245D8-AE5A-C243-BBB9-7F22A91FEE0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972425" y="2471738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43" name="Text Box 124">
            <a:extLst>
              <a:ext uri="{FF2B5EF4-FFF2-40B4-BE49-F238E27FC236}">
                <a16:creationId xmlns:a16="http://schemas.microsoft.com/office/drawing/2014/main" id="{0D47F4A4-E773-4D4F-91C5-6182E09B4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18150" y="5695950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47544" name="Text Box 125">
            <a:extLst>
              <a:ext uri="{FF2B5EF4-FFF2-40B4-BE49-F238E27FC236}">
                <a16:creationId xmlns:a16="http://schemas.microsoft.com/office/drawing/2014/main" id="{1F3A4BBD-ECB9-C642-894C-4CCAB15BB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2698750"/>
            <a:ext cx="7683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Word</a:t>
            </a:r>
          </a:p>
        </p:txBody>
      </p:sp>
      <p:sp>
        <p:nvSpPr>
          <p:cNvPr id="147545" name="Line 126">
            <a:extLst>
              <a:ext uri="{FF2B5EF4-FFF2-40B4-BE49-F238E27FC236}">
                <a16:creationId xmlns:a16="http://schemas.microsoft.com/office/drawing/2014/main" id="{C390AD83-12F2-3346-8CD2-CD18EE24270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985125" y="1963738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46" name="Line 127">
            <a:extLst>
              <a:ext uri="{FF2B5EF4-FFF2-40B4-BE49-F238E27FC236}">
                <a16:creationId xmlns:a16="http://schemas.microsoft.com/office/drawing/2014/main" id="{A07FF737-9535-1C4B-80A6-4BF688E619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29138" y="2265363"/>
            <a:ext cx="169862" cy="873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7547" name="Rectangle 128">
            <a:extLst>
              <a:ext uri="{FF2B5EF4-FFF2-40B4-BE49-F238E27FC236}">
                <a16:creationId xmlns:a16="http://schemas.microsoft.com/office/drawing/2014/main" id="{0C1DFCD5-CEA6-AC41-B18C-AA0F58EB2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2151063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endParaRPr kumimoji="1" lang="zh-CN" alt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48" name="Rectangle 130">
            <a:extLst>
              <a:ext uri="{FF2B5EF4-FFF2-40B4-BE49-F238E27FC236}">
                <a16:creationId xmlns:a16="http://schemas.microsoft.com/office/drawing/2014/main" id="{C0D59A26-FBC6-B143-ADBB-1B5FEA3B18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9625" y="1685925"/>
            <a:ext cx="98425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400" b="1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endParaRPr kumimoji="1" lang="zh-CN" altLang="en-US" sz="1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7549" name="Text Box 132">
            <a:extLst>
              <a:ext uri="{FF2B5EF4-FFF2-40B4-BE49-F238E27FC236}">
                <a16:creationId xmlns:a16="http://schemas.microsoft.com/office/drawing/2014/main" id="{12D5C53F-1FE8-1C46-8677-CA234218D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2700" y="1584325"/>
            <a:ext cx="679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Byte</a:t>
            </a:r>
          </a:p>
        </p:txBody>
      </p:sp>
      <p:sp>
        <p:nvSpPr>
          <p:cNvPr id="147550" name="Rectangle 133">
            <a:extLst>
              <a:ext uri="{FF2B5EF4-FFF2-40B4-BE49-F238E27FC236}">
                <a16:creationId xmlns:a16="http://schemas.microsoft.com/office/drawing/2014/main" id="{8F3EACB7-12DA-6749-BC9D-A8292D27CC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2438" y="2393950"/>
            <a:ext cx="164941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800000"/>
                </a:solidFill>
                <a:ea typeface="宋体" panose="02010600030101010101" pitchFamily="2" charset="-122"/>
              </a:rPr>
              <a:t>Block offset</a:t>
            </a:r>
          </a:p>
        </p:txBody>
      </p:sp>
      <p:sp>
        <p:nvSpPr>
          <p:cNvPr id="147551" name="Rectangle 134">
            <a:extLst>
              <a:ext uri="{FF2B5EF4-FFF2-40B4-BE49-F238E27FC236}">
                <a16:creationId xmlns:a16="http://schemas.microsoft.com/office/drawing/2014/main" id="{3761DE06-0FA9-704A-970A-5931D3867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493838"/>
            <a:ext cx="2382837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Memory Address</a:t>
            </a:r>
          </a:p>
        </p:txBody>
      </p:sp>
      <p:sp>
        <p:nvSpPr>
          <p:cNvPr id="147552" name="Rectangle 135">
            <a:extLst>
              <a:ext uri="{FF2B5EF4-FFF2-40B4-BE49-F238E27FC236}">
                <a16:creationId xmlns:a16="http://schemas.microsoft.com/office/drawing/2014/main" id="{FFF06365-4AA7-DC4C-8C04-769051191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363" y="2168525"/>
            <a:ext cx="11731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Tag</a:t>
            </a:r>
          </a:p>
        </p:txBody>
      </p:sp>
      <p:sp>
        <p:nvSpPr>
          <p:cNvPr id="147553" name="Rectangle 136">
            <a:extLst>
              <a:ext uri="{FF2B5EF4-FFF2-40B4-BE49-F238E27FC236}">
                <a16:creationId xmlns:a16="http://schemas.microsoft.com/office/drawing/2014/main" id="{67C26F0C-2C41-8D44-98CF-F850D5B83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225" y="2438400"/>
            <a:ext cx="1173163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CC0000"/>
                </a:solidFill>
                <a:ea typeface="宋体" panose="02010600030101010101" pitchFamily="2" charset="-122"/>
              </a:rPr>
              <a:t>Index</a:t>
            </a:r>
            <a:endParaRPr kumimoji="1" lang="zh-CN" altLang="en-US" sz="1800" b="1">
              <a:solidFill>
                <a:srgbClr val="CC0000"/>
              </a:solidFill>
              <a:ea typeface="宋体" panose="02010600030101010101" pitchFamily="2" charset="-122"/>
            </a:endParaRPr>
          </a:p>
        </p:txBody>
      </p:sp>
      <p:sp>
        <p:nvSpPr>
          <p:cNvPr id="147554" name="Rectangle 137">
            <a:extLst>
              <a:ext uri="{FF2B5EF4-FFF2-40B4-BE49-F238E27FC236}">
                <a16:creationId xmlns:a16="http://schemas.microsoft.com/office/drawing/2014/main" id="{8D39FDCF-6C66-654E-A1DC-BF8A0314E1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288" y="2225675"/>
            <a:ext cx="636587" cy="25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700" b="1">
                <a:solidFill>
                  <a:srgbClr val="000000"/>
                </a:solidFill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7555" name="Rectangle 139">
            <a:extLst>
              <a:ext uri="{FF2B5EF4-FFF2-40B4-BE49-F238E27FC236}">
                <a16:creationId xmlns:a16="http://schemas.microsoft.com/office/drawing/2014/main" id="{1D9A7575-6E03-DB4B-9C03-04F391F97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25" y="3848100"/>
            <a:ext cx="141128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ea typeface="宋体" panose="02010600030101010101" pitchFamily="2" charset="-122"/>
              </a:rPr>
              <a:t>4K</a:t>
            </a:r>
          </a:p>
          <a:p>
            <a:r>
              <a:rPr kumimoji="1" lang="en-US" altLang="zh-CN" sz="1800" b="1">
                <a:ea typeface="宋体" panose="02010600030101010101" pitchFamily="2" charset="-122"/>
              </a:rPr>
              <a:t>lines</a:t>
            </a:r>
          </a:p>
        </p:txBody>
      </p:sp>
      <p:sp>
        <p:nvSpPr>
          <p:cNvPr id="147556" name="Text Box 140">
            <a:extLst>
              <a:ext uri="{FF2B5EF4-FFF2-40B4-BE49-F238E27FC236}">
                <a16:creationId xmlns:a16="http://schemas.microsoft.com/office/drawing/2014/main" id="{E6681940-2D3B-AB46-9FC6-377BD2940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7038" y="5143500"/>
            <a:ext cx="5603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rPr>
              <a:t>=</a:t>
            </a:r>
          </a:p>
        </p:txBody>
      </p:sp>
      <p:sp>
        <p:nvSpPr>
          <p:cNvPr id="147557" name="Rectangle 141">
            <a:extLst>
              <a:ext uri="{FF2B5EF4-FFF2-40B4-BE49-F238E27FC236}">
                <a16:creationId xmlns:a16="http://schemas.microsoft.com/office/drawing/2014/main" id="{38F03803-A170-CE45-9EF1-B3069B18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625" y="5408613"/>
            <a:ext cx="512763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47558" name="Rectangle 143">
            <a:extLst>
              <a:ext uri="{FF2B5EF4-FFF2-40B4-BE49-F238E27FC236}">
                <a16:creationId xmlns:a16="http://schemas.microsoft.com/office/drawing/2014/main" id="{3EC21BBF-D1DC-064F-A9BB-A52B02110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7988" y="2659063"/>
            <a:ext cx="25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800" b="1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6</a:t>
            </a:r>
          </a:p>
        </p:txBody>
      </p:sp>
      <p:grpSp>
        <p:nvGrpSpPr>
          <p:cNvPr id="147559" name="Group 166">
            <a:extLst>
              <a:ext uri="{FF2B5EF4-FFF2-40B4-BE49-F238E27FC236}">
                <a16:creationId xmlns:a16="http://schemas.microsoft.com/office/drawing/2014/main" id="{E5BA5CA1-4BC0-2746-813E-58CB3BC8ADBE}"/>
              </a:ext>
            </a:extLst>
          </p:cNvPr>
          <p:cNvGrpSpPr>
            <a:grpSpLocks/>
          </p:cNvGrpSpPr>
          <p:nvPr/>
        </p:nvGrpSpPr>
        <p:grpSpPr bwMode="auto">
          <a:xfrm>
            <a:off x="2862263" y="1898650"/>
            <a:ext cx="1905000" cy="269875"/>
            <a:chOff x="1878" y="1213"/>
            <a:chExt cx="1091" cy="153"/>
          </a:xfrm>
        </p:grpSpPr>
        <p:sp>
          <p:nvSpPr>
            <p:cNvPr id="147588" name="Freeform 111">
              <a:extLst>
                <a:ext uri="{FF2B5EF4-FFF2-40B4-BE49-F238E27FC236}">
                  <a16:creationId xmlns:a16="http://schemas.microsoft.com/office/drawing/2014/main" id="{D437C7D8-858F-7D41-8E06-508B01C3F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" y="1223"/>
              <a:ext cx="1091" cy="132"/>
            </a:xfrm>
            <a:custGeom>
              <a:avLst/>
              <a:gdLst>
                <a:gd name="T0" fmla="*/ 0 w 757"/>
                <a:gd name="T1" fmla="*/ 237722 h 101"/>
                <a:gd name="T2" fmla="*/ 0 w 757"/>
                <a:gd name="T3" fmla="*/ 0 h 101"/>
                <a:gd name="T4" fmla="*/ 30355478 w 757"/>
                <a:gd name="T5" fmla="*/ 0 h 101"/>
                <a:gd name="T6" fmla="*/ 30355478 w 757"/>
                <a:gd name="T7" fmla="*/ 237722 h 101"/>
                <a:gd name="T8" fmla="*/ 0 w 757"/>
                <a:gd name="T9" fmla="*/ 237722 h 101"/>
                <a:gd name="T10" fmla="*/ 0 w 757"/>
                <a:gd name="T11" fmla="*/ 237722 h 1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7"/>
                <a:gd name="T19" fmla="*/ 0 h 101"/>
                <a:gd name="T20" fmla="*/ 757 w 757"/>
                <a:gd name="T21" fmla="*/ 101 h 1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7" h="101">
                  <a:moveTo>
                    <a:pt x="0" y="101"/>
                  </a:moveTo>
                  <a:lnTo>
                    <a:pt x="0" y="0"/>
                  </a:lnTo>
                  <a:lnTo>
                    <a:pt x="757" y="0"/>
                  </a:lnTo>
                  <a:lnTo>
                    <a:pt x="757" y="101"/>
                  </a:lnTo>
                  <a:lnTo>
                    <a:pt x="0" y="10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89" name="Line 131">
              <a:extLst>
                <a:ext uri="{FF2B5EF4-FFF2-40B4-BE49-F238E27FC236}">
                  <a16:creationId xmlns:a16="http://schemas.microsoft.com/office/drawing/2014/main" id="{C9F97061-B5EB-864B-AD77-F98561DEAE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3" y="1221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90" name="Line 138">
              <a:extLst>
                <a:ext uri="{FF2B5EF4-FFF2-40B4-BE49-F238E27FC236}">
                  <a16:creationId xmlns:a16="http://schemas.microsoft.com/office/drawing/2014/main" id="{D9A0A3BC-A94F-B04A-BE0A-5B81E755A6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88" y="1223"/>
              <a:ext cx="0" cy="13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91" name="Line 144">
              <a:extLst>
                <a:ext uri="{FF2B5EF4-FFF2-40B4-BE49-F238E27FC236}">
                  <a16:creationId xmlns:a16="http://schemas.microsoft.com/office/drawing/2014/main" id="{7C672ECA-ADD2-E944-8AC0-A3CB5661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7" y="1213"/>
              <a:ext cx="0" cy="14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7560" name="Rectangle 145">
            <a:extLst>
              <a:ext uri="{FF2B5EF4-FFF2-40B4-BE49-F238E27FC236}">
                <a16:creationId xmlns:a16="http://schemas.microsoft.com/office/drawing/2014/main" id="{27E24E47-05B1-F44D-B531-299D1E0D97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3988" y="2843213"/>
            <a:ext cx="4699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00"/>
                </a:solidFill>
                <a:ea typeface="宋体" panose="02010600030101010101" pitchFamily="2" charset="-122"/>
              </a:rPr>
              <a:t>data</a:t>
            </a:r>
          </a:p>
        </p:txBody>
      </p:sp>
      <p:grpSp>
        <p:nvGrpSpPr>
          <p:cNvPr id="3" name="Group 157">
            <a:extLst>
              <a:ext uri="{FF2B5EF4-FFF2-40B4-BE49-F238E27FC236}">
                <a16:creationId xmlns:a16="http://schemas.microsoft.com/office/drawing/2014/main" id="{A0077D64-1BCD-DD43-A8C1-7CE0243218AF}"/>
              </a:ext>
            </a:extLst>
          </p:cNvPr>
          <p:cNvGrpSpPr>
            <a:grpSpLocks/>
          </p:cNvGrpSpPr>
          <p:nvPr/>
        </p:nvGrpSpPr>
        <p:grpSpPr bwMode="auto">
          <a:xfrm>
            <a:off x="4294188" y="2147888"/>
            <a:ext cx="3400425" cy="3727450"/>
            <a:chOff x="2675" y="1761"/>
            <a:chExt cx="2142" cy="2348"/>
          </a:xfrm>
        </p:grpSpPr>
        <p:sp>
          <p:nvSpPr>
            <p:cNvPr id="147586" name="Freeform 71">
              <a:extLst>
                <a:ext uri="{FF2B5EF4-FFF2-40B4-BE49-F238E27FC236}">
                  <a16:creationId xmlns:a16="http://schemas.microsoft.com/office/drawing/2014/main" id="{771C7C02-1E2B-1D41-B337-2F651DBE1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1761"/>
              <a:ext cx="2142" cy="2160"/>
            </a:xfrm>
            <a:custGeom>
              <a:avLst/>
              <a:gdLst>
                <a:gd name="T0" fmla="*/ 205702 w 1713"/>
                <a:gd name="T1" fmla="*/ 90733 h 1890"/>
                <a:gd name="T2" fmla="*/ 1118400 w 1713"/>
                <a:gd name="T3" fmla="*/ 90872 h 1890"/>
                <a:gd name="T4" fmla="*/ 1118400 w 1713"/>
                <a:gd name="T5" fmla="*/ 14349 h 1890"/>
                <a:gd name="T6" fmla="*/ 0 w 1713"/>
                <a:gd name="T7" fmla="*/ 14349 h 1890"/>
                <a:gd name="T8" fmla="*/ 0 w 1713"/>
                <a:gd name="T9" fmla="*/ 0 h 18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13"/>
                <a:gd name="T16" fmla="*/ 0 h 1890"/>
                <a:gd name="T17" fmla="*/ 1713 w 1713"/>
                <a:gd name="T18" fmla="*/ 1890 h 18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13" h="1890">
                  <a:moveTo>
                    <a:pt x="315" y="1888"/>
                  </a:moveTo>
                  <a:lnTo>
                    <a:pt x="1713" y="1890"/>
                  </a:lnTo>
                  <a:lnTo>
                    <a:pt x="1713" y="298"/>
                  </a:lnTo>
                  <a:lnTo>
                    <a:pt x="0" y="298"/>
                  </a:lnTo>
                  <a:lnTo>
                    <a:pt x="0" y="0"/>
                  </a:lnTo>
                </a:path>
              </a:pathLst>
            </a:custGeom>
            <a:noFill/>
            <a:ln w="22225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87" name="Rectangle 149">
              <a:extLst>
                <a:ext uri="{FF2B5EF4-FFF2-40B4-BE49-F238E27FC236}">
                  <a16:creationId xmlns:a16="http://schemas.microsoft.com/office/drawing/2014/main" id="{81C43465-CE49-BC43-8B17-D7B5DC58E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9" y="3936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solidFill>
                    <a:schemeClr val="hlink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④</a:t>
              </a:r>
            </a:p>
          </p:txBody>
        </p:sp>
      </p:grpSp>
      <p:grpSp>
        <p:nvGrpSpPr>
          <p:cNvPr id="4" name="Group 151">
            <a:extLst>
              <a:ext uri="{FF2B5EF4-FFF2-40B4-BE49-F238E27FC236}">
                <a16:creationId xmlns:a16="http://schemas.microsoft.com/office/drawing/2014/main" id="{817C697A-3341-5141-97FD-F97CD52441FB}"/>
              </a:ext>
            </a:extLst>
          </p:cNvPr>
          <p:cNvGrpSpPr>
            <a:grpSpLocks/>
          </p:cNvGrpSpPr>
          <p:nvPr/>
        </p:nvGrpSpPr>
        <p:grpSpPr bwMode="auto">
          <a:xfrm>
            <a:off x="1138238" y="2147888"/>
            <a:ext cx="2744787" cy="1730375"/>
            <a:chOff x="687" y="1761"/>
            <a:chExt cx="1729" cy="1090"/>
          </a:xfrm>
        </p:grpSpPr>
        <p:sp>
          <p:nvSpPr>
            <p:cNvPr id="147584" name="Freeform 28">
              <a:extLst>
                <a:ext uri="{FF2B5EF4-FFF2-40B4-BE49-F238E27FC236}">
                  <a16:creationId xmlns:a16="http://schemas.microsoft.com/office/drawing/2014/main" id="{B5ACE1CE-54BC-D44E-A0D6-548C84F8B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" y="1761"/>
              <a:ext cx="1729" cy="1090"/>
            </a:xfrm>
            <a:custGeom>
              <a:avLst/>
              <a:gdLst>
                <a:gd name="T0" fmla="*/ 897677 w 1383"/>
                <a:gd name="T1" fmla="*/ 0 h 954"/>
                <a:gd name="T2" fmla="*/ 897677 w 1383"/>
                <a:gd name="T3" fmla="*/ 14133 h 954"/>
                <a:gd name="T4" fmla="*/ 0 w 1383"/>
                <a:gd name="T5" fmla="*/ 14133 h 954"/>
                <a:gd name="T6" fmla="*/ 0 w 1383"/>
                <a:gd name="T7" fmla="*/ 45506 h 954"/>
                <a:gd name="T8" fmla="*/ 41423 w 1383"/>
                <a:gd name="T9" fmla="*/ 45506 h 9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3"/>
                <a:gd name="T16" fmla="*/ 0 h 954"/>
                <a:gd name="T17" fmla="*/ 1383 w 1383"/>
                <a:gd name="T18" fmla="*/ 954 h 95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3" h="954">
                  <a:moveTo>
                    <a:pt x="1383" y="0"/>
                  </a:moveTo>
                  <a:lnTo>
                    <a:pt x="1383" y="298"/>
                  </a:lnTo>
                  <a:lnTo>
                    <a:pt x="0" y="298"/>
                  </a:lnTo>
                  <a:lnTo>
                    <a:pt x="0" y="954"/>
                  </a:lnTo>
                  <a:lnTo>
                    <a:pt x="64" y="954"/>
                  </a:lnTo>
                </a:path>
              </a:pathLst>
            </a:custGeom>
            <a:noFill/>
            <a:ln w="222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85" name="Rectangle 150">
              <a:extLst>
                <a:ext uri="{FF2B5EF4-FFF2-40B4-BE49-F238E27FC236}">
                  <a16:creationId xmlns:a16="http://schemas.microsoft.com/office/drawing/2014/main" id="{552C381A-8F64-0A44-BA12-113A4AD6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8" y="1861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CC0000"/>
                  </a:solidFill>
                  <a:ea typeface="宋体" panose="02010600030101010101" pitchFamily="2" charset="-122"/>
                </a:rPr>
                <a:t>①</a:t>
              </a:r>
              <a:endParaRPr lang="zh-CN" altLang="en-US" sz="1800" b="1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" name="Group 153">
            <a:extLst>
              <a:ext uri="{FF2B5EF4-FFF2-40B4-BE49-F238E27FC236}">
                <a16:creationId xmlns:a16="http://schemas.microsoft.com/office/drawing/2014/main" id="{9B956049-5396-C445-AABD-2219C5586775}"/>
              </a:ext>
            </a:extLst>
          </p:cNvPr>
          <p:cNvGrpSpPr>
            <a:grpSpLocks/>
          </p:cNvGrpSpPr>
          <p:nvPr/>
        </p:nvGrpSpPr>
        <p:grpSpPr bwMode="auto">
          <a:xfrm>
            <a:off x="1031875" y="2125663"/>
            <a:ext cx="2395538" cy="3151187"/>
            <a:chOff x="620" y="1747"/>
            <a:chExt cx="1509" cy="1985"/>
          </a:xfrm>
        </p:grpSpPr>
        <p:sp>
          <p:nvSpPr>
            <p:cNvPr id="147582" name="Freeform 40">
              <a:extLst>
                <a:ext uri="{FF2B5EF4-FFF2-40B4-BE49-F238E27FC236}">
                  <a16:creationId xmlns:a16="http://schemas.microsoft.com/office/drawing/2014/main" id="{A747B033-1D33-A14C-972C-8A9A89609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" y="1761"/>
              <a:ext cx="1509" cy="1971"/>
            </a:xfrm>
            <a:custGeom>
              <a:avLst/>
              <a:gdLst>
                <a:gd name="T0" fmla="*/ 783925 w 1207"/>
                <a:gd name="T1" fmla="*/ 0 h 1724"/>
                <a:gd name="T2" fmla="*/ 783925 w 1207"/>
                <a:gd name="T3" fmla="*/ 8915 h 1724"/>
                <a:gd name="T4" fmla="*/ 0 w 1207"/>
                <a:gd name="T5" fmla="*/ 8915 h 1724"/>
                <a:gd name="T6" fmla="*/ 0 w 1207"/>
                <a:gd name="T7" fmla="*/ 83709 h 1724"/>
                <a:gd name="T8" fmla="*/ 186070 w 1207"/>
                <a:gd name="T9" fmla="*/ 83709 h 17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07"/>
                <a:gd name="T16" fmla="*/ 0 h 1724"/>
                <a:gd name="T17" fmla="*/ 1207 w 1207"/>
                <a:gd name="T18" fmla="*/ 1724 h 17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07" h="1724">
                  <a:moveTo>
                    <a:pt x="1207" y="0"/>
                  </a:moveTo>
                  <a:lnTo>
                    <a:pt x="1207" y="184"/>
                  </a:lnTo>
                  <a:lnTo>
                    <a:pt x="0" y="184"/>
                  </a:lnTo>
                  <a:lnTo>
                    <a:pt x="0" y="1724"/>
                  </a:lnTo>
                  <a:lnTo>
                    <a:pt x="286" y="1724"/>
                  </a:lnTo>
                </a:path>
              </a:pathLst>
            </a:custGeom>
            <a:noFill/>
            <a:ln w="22225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83" name="Rectangle 152">
              <a:extLst>
                <a:ext uri="{FF2B5EF4-FFF2-40B4-BE49-F238E27FC236}">
                  <a16:creationId xmlns:a16="http://schemas.microsoft.com/office/drawing/2014/main" id="{3015D379-ADCC-4F4A-AA60-8815AD4C32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1747"/>
              <a:ext cx="14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0000FF"/>
                  </a:solidFill>
                  <a:ea typeface="宋体" panose="02010600030101010101" pitchFamily="2" charset="-122"/>
                </a:rPr>
                <a:t>②</a:t>
              </a:r>
              <a:endParaRPr lang="zh-CN" altLang="en-US" sz="1800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6" name="Group 161">
            <a:extLst>
              <a:ext uri="{FF2B5EF4-FFF2-40B4-BE49-F238E27FC236}">
                <a16:creationId xmlns:a16="http://schemas.microsoft.com/office/drawing/2014/main" id="{E24CA4B6-1064-F741-893D-E1D9F75FFB41}"/>
              </a:ext>
            </a:extLst>
          </p:cNvPr>
          <p:cNvGrpSpPr>
            <a:grpSpLocks/>
          </p:cNvGrpSpPr>
          <p:nvPr/>
        </p:nvGrpSpPr>
        <p:grpSpPr bwMode="auto">
          <a:xfrm>
            <a:off x="654050" y="2101850"/>
            <a:ext cx="1171575" cy="3938588"/>
            <a:chOff x="382" y="1732"/>
            <a:chExt cx="738" cy="2481"/>
          </a:xfrm>
        </p:grpSpPr>
        <p:sp>
          <p:nvSpPr>
            <p:cNvPr id="147574" name="Freeform 5">
              <a:extLst>
                <a:ext uri="{FF2B5EF4-FFF2-40B4-BE49-F238E27FC236}">
                  <a16:creationId xmlns:a16="http://schemas.microsoft.com/office/drawing/2014/main" id="{3B5FAC24-DC70-E246-9D08-ED03FC040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" y="1929"/>
              <a:ext cx="39" cy="35"/>
            </a:xfrm>
            <a:custGeom>
              <a:avLst/>
              <a:gdLst>
                <a:gd name="T0" fmla="*/ 0 w 31"/>
                <a:gd name="T1" fmla="*/ 982 h 31"/>
                <a:gd name="T2" fmla="*/ 24122 w 31"/>
                <a:gd name="T3" fmla="*/ 1053 h 31"/>
                <a:gd name="T4" fmla="*/ 13088 w 31"/>
                <a:gd name="T5" fmla="*/ 0 h 31"/>
                <a:gd name="T6" fmla="*/ 0 w 31"/>
                <a:gd name="T7" fmla="*/ 1053 h 31"/>
                <a:gd name="T8" fmla="*/ 0 w 31"/>
                <a:gd name="T9" fmla="*/ 1053 h 31"/>
                <a:gd name="T10" fmla="*/ 0 w 31"/>
                <a:gd name="T11" fmla="*/ 982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29"/>
                  </a:moveTo>
                  <a:lnTo>
                    <a:pt x="31" y="31"/>
                  </a:lnTo>
                  <a:lnTo>
                    <a:pt x="17" y="0"/>
                  </a:lnTo>
                  <a:lnTo>
                    <a:pt x="0" y="3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575" name="Text Box 123">
              <a:extLst>
                <a:ext uri="{FF2B5EF4-FFF2-40B4-BE49-F238E27FC236}">
                  <a16:creationId xmlns:a16="http://schemas.microsoft.com/office/drawing/2014/main" id="{1B1C79FF-1F2F-8E4F-8353-2F19A617B2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2" y="1732"/>
              <a:ext cx="3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Hit</a:t>
              </a:r>
            </a:p>
          </p:txBody>
        </p:sp>
        <p:grpSp>
          <p:nvGrpSpPr>
            <p:cNvPr id="147576" name="Group 156">
              <a:extLst>
                <a:ext uri="{FF2B5EF4-FFF2-40B4-BE49-F238E27FC236}">
                  <a16:creationId xmlns:a16="http://schemas.microsoft.com/office/drawing/2014/main" id="{DD91190E-4B9D-B74E-96C7-71D09C8537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7" y="1956"/>
              <a:ext cx="593" cy="2257"/>
              <a:chOff x="527" y="1956"/>
              <a:chExt cx="593" cy="2257"/>
            </a:xfrm>
          </p:grpSpPr>
          <p:sp>
            <p:nvSpPr>
              <p:cNvPr id="147577" name="Line 36">
                <a:extLst>
                  <a:ext uri="{FF2B5EF4-FFF2-40B4-BE49-F238E27FC236}">
                    <a16:creationId xmlns:a16="http://schemas.microsoft.com/office/drawing/2014/main" id="{6B2B4565-A19D-8E47-B37A-64D5675B4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45" y="2849"/>
                <a:ext cx="2" cy="1094"/>
              </a:xfrm>
              <a:prstGeom prst="line">
                <a:avLst/>
              </a:pr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578" name="Freeform 38">
                <a:extLst>
                  <a:ext uri="{FF2B5EF4-FFF2-40B4-BE49-F238E27FC236}">
                    <a16:creationId xmlns:a16="http://schemas.microsoft.com/office/drawing/2014/main" id="{FB16CDE0-D5FF-1840-87D8-298C4EF723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7" y="1956"/>
                <a:ext cx="320" cy="2257"/>
              </a:xfrm>
              <a:custGeom>
                <a:avLst/>
                <a:gdLst>
                  <a:gd name="T0" fmla="*/ 165255 w 256"/>
                  <a:gd name="T1" fmla="*/ 91697 h 1974"/>
                  <a:gd name="T2" fmla="*/ 165255 w 256"/>
                  <a:gd name="T3" fmla="*/ 96119 h 1974"/>
                  <a:gd name="T4" fmla="*/ 0 w 256"/>
                  <a:gd name="T5" fmla="*/ 96119 h 1974"/>
                  <a:gd name="T6" fmla="*/ 0 w 256"/>
                  <a:gd name="T7" fmla="*/ 0 h 197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6"/>
                  <a:gd name="T13" fmla="*/ 0 h 1974"/>
                  <a:gd name="T14" fmla="*/ 256 w 256"/>
                  <a:gd name="T15" fmla="*/ 1974 h 197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6" h="1974">
                    <a:moveTo>
                      <a:pt x="256" y="1883"/>
                    </a:moveTo>
                    <a:lnTo>
                      <a:pt x="256" y="1974"/>
                    </a:lnTo>
                    <a:lnTo>
                      <a:pt x="0" y="1974"/>
                    </a:lnTo>
                    <a:lnTo>
                      <a:pt x="0" y="0"/>
                    </a:lnTo>
                  </a:path>
                </a:pathLst>
              </a:custGeom>
              <a:noFill/>
              <a:ln w="28575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47579" name="Group 155">
                <a:extLst>
                  <a:ext uri="{FF2B5EF4-FFF2-40B4-BE49-F238E27FC236}">
                    <a16:creationId xmlns:a16="http://schemas.microsoft.com/office/drawing/2014/main" id="{240B6701-CAAB-DF45-A81E-A6085C0EFB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87" y="3808"/>
                <a:ext cx="233" cy="294"/>
                <a:chOff x="887" y="3808"/>
                <a:chExt cx="233" cy="294"/>
              </a:xfrm>
            </p:grpSpPr>
            <p:sp>
              <p:nvSpPr>
                <p:cNvPr id="147580" name="Freeform 37">
                  <a:extLst>
                    <a:ext uri="{FF2B5EF4-FFF2-40B4-BE49-F238E27FC236}">
                      <a16:creationId xmlns:a16="http://schemas.microsoft.com/office/drawing/2014/main" id="{DDEEB952-0AD0-1B46-AA61-0C8F97F2D58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" y="3808"/>
                  <a:ext cx="206" cy="129"/>
                </a:xfrm>
                <a:custGeom>
                  <a:avLst/>
                  <a:gdLst>
                    <a:gd name="T0" fmla="*/ 102915 w 165"/>
                    <a:gd name="T1" fmla="*/ 0 h 113"/>
                    <a:gd name="T2" fmla="*/ 102915 w 165"/>
                    <a:gd name="T3" fmla="*/ 2696 h 113"/>
                    <a:gd name="T4" fmla="*/ 0 w 165"/>
                    <a:gd name="T5" fmla="*/ 2696 h 113"/>
                    <a:gd name="T6" fmla="*/ 0 w 165"/>
                    <a:gd name="T7" fmla="*/ 5250 h 11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5"/>
                    <a:gd name="T13" fmla="*/ 0 h 113"/>
                    <a:gd name="T14" fmla="*/ 165 w 165"/>
                    <a:gd name="T15" fmla="*/ 113 h 11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5" h="113">
                      <a:moveTo>
                        <a:pt x="165" y="0"/>
                      </a:moveTo>
                      <a:lnTo>
                        <a:pt x="165" y="58"/>
                      </a:lnTo>
                      <a:lnTo>
                        <a:pt x="0" y="58"/>
                      </a:lnTo>
                      <a:lnTo>
                        <a:pt x="0" y="113"/>
                      </a:lnTo>
                    </a:path>
                  </a:pathLst>
                </a:custGeom>
                <a:noFill/>
                <a:ln w="28575">
                  <a:solidFill>
                    <a:srgbClr val="0066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47581" name="Rectangle 154">
                  <a:extLst>
                    <a:ext uri="{FF2B5EF4-FFF2-40B4-BE49-F238E27FC236}">
                      <a16:creationId xmlns:a16="http://schemas.microsoft.com/office/drawing/2014/main" id="{6B1BE4A3-BB91-9D45-8E14-7CC9AD86F1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75" y="3929"/>
                  <a:ext cx="14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1800" b="1">
                      <a:solidFill>
                        <a:srgbClr val="006600"/>
                      </a:solidFill>
                      <a:ea typeface="宋体" panose="02010600030101010101" pitchFamily="2" charset="-122"/>
                    </a:rPr>
                    <a:t>③</a:t>
                  </a:r>
                  <a:endParaRPr lang="zh-CN" altLang="en-US" sz="1800" b="1">
                    <a:solidFill>
                      <a:srgbClr val="006600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  <p:grpSp>
        <p:nvGrpSpPr>
          <p:cNvPr id="9" name="Group 160">
            <a:extLst>
              <a:ext uri="{FF2B5EF4-FFF2-40B4-BE49-F238E27FC236}">
                <a16:creationId xmlns:a16="http://schemas.microsoft.com/office/drawing/2014/main" id="{32D2FCF3-15E5-A140-8DEF-38944B46A8CD}"/>
              </a:ext>
            </a:extLst>
          </p:cNvPr>
          <p:cNvGrpSpPr>
            <a:grpSpLocks/>
          </p:cNvGrpSpPr>
          <p:nvPr/>
        </p:nvGrpSpPr>
        <p:grpSpPr bwMode="auto">
          <a:xfrm>
            <a:off x="4594225" y="2151063"/>
            <a:ext cx="3111500" cy="274637"/>
            <a:chOff x="2864" y="1763"/>
            <a:chExt cx="1960" cy="173"/>
          </a:xfrm>
        </p:grpSpPr>
        <p:grpSp>
          <p:nvGrpSpPr>
            <p:cNvPr id="147570" name="Group 158">
              <a:extLst>
                <a:ext uri="{FF2B5EF4-FFF2-40B4-BE49-F238E27FC236}">
                  <a16:creationId xmlns:a16="http://schemas.microsoft.com/office/drawing/2014/main" id="{D6812643-DE6E-DE43-8F97-080BAD7D2F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64" y="1765"/>
              <a:ext cx="1960" cy="168"/>
              <a:chOff x="2864" y="1765"/>
              <a:chExt cx="1960" cy="168"/>
            </a:xfrm>
          </p:grpSpPr>
          <p:sp>
            <p:nvSpPr>
              <p:cNvPr id="147572" name="Line 121">
                <a:extLst>
                  <a:ext uri="{FF2B5EF4-FFF2-40B4-BE49-F238E27FC236}">
                    <a16:creationId xmlns:a16="http://schemas.microsoft.com/office/drawing/2014/main" id="{5671C724-726B-E244-A2D6-C8B3B05559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4" y="1765"/>
                <a:ext cx="0" cy="168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7573" name="Line 122">
                <a:extLst>
                  <a:ext uri="{FF2B5EF4-FFF2-40B4-BE49-F238E27FC236}">
                    <a16:creationId xmlns:a16="http://schemas.microsoft.com/office/drawing/2014/main" id="{FA613B94-F581-9046-BEF9-1509527586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4" y="1925"/>
                <a:ext cx="1960" cy="0"/>
              </a:xfrm>
              <a:prstGeom prst="line">
                <a:avLst/>
              </a:prstGeom>
              <a:noFill/>
              <a:ln w="22225">
                <a:solidFill>
                  <a:schemeClr val="accent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47571" name="Rectangle 159">
              <a:extLst>
                <a:ext uri="{FF2B5EF4-FFF2-40B4-BE49-F238E27FC236}">
                  <a16:creationId xmlns:a16="http://schemas.microsoft.com/office/drawing/2014/main" id="{DAE18F66-C61E-4C42-B2E0-0FC777D90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2" y="1763"/>
              <a:ext cx="18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solidFill>
                    <a:schemeClr val="accent1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⑤</a:t>
              </a:r>
              <a:r>
                <a:rPr lang="en-US" altLang="zh-CN" sz="1800" b="1" i="1">
                  <a:solidFill>
                    <a:srgbClr val="666699"/>
                  </a:solidFill>
                  <a:ea typeface="宋体" panose="02010600030101010101" pitchFamily="2" charset="-122"/>
                  <a:cs typeface="Arial" panose="020B0604020202020204" pitchFamily="34" charset="0"/>
                </a:rPr>
                <a:t> </a:t>
              </a:r>
            </a:p>
          </p:txBody>
        </p:sp>
      </p:grpSp>
      <p:sp>
        <p:nvSpPr>
          <p:cNvPr id="432291" name="Text Box 163">
            <a:extLst>
              <a:ext uri="{FF2B5EF4-FFF2-40B4-BE49-F238E27FC236}">
                <a16:creationId xmlns:a16="http://schemas.microsoft.com/office/drawing/2014/main" id="{713B0312-62B0-E845-8E98-91342C962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2150" y="5454650"/>
            <a:ext cx="1936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FF0000"/>
                </a:solidFill>
                <a:ea typeface="黑体" panose="02010609060101010101" pitchFamily="49" charset="-122"/>
              </a:rPr>
              <a:t>问题：</a:t>
            </a:r>
            <a:r>
              <a:rPr kumimoji="1" lang="en-US" altLang="zh-CN" sz="1800" b="1">
                <a:solidFill>
                  <a:srgbClr val="FF0000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1800" b="1">
                <a:solidFill>
                  <a:srgbClr val="FF0000"/>
                </a:solidFill>
                <a:ea typeface="黑体" panose="02010609060101010101" pitchFamily="49" charset="-122"/>
              </a:rPr>
              <a:t>有多少行？容量多大？</a:t>
            </a:r>
          </a:p>
        </p:txBody>
      </p:sp>
      <p:sp>
        <p:nvSpPr>
          <p:cNvPr id="432292" name="Text Box 164">
            <a:extLst>
              <a:ext uri="{FF2B5EF4-FFF2-40B4-BE49-F238E27FC236}">
                <a16:creationId xmlns:a16="http://schemas.microsoft.com/office/drawing/2014/main" id="{EF1AD1EC-F785-BC4A-9159-4A66ED127F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1788" y="6105525"/>
            <a:ext cx="5400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容量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4Kx(1+16)+64Kx8=580Kbits=72.5KB, </a:t>
            </a:r>
          </a:p>
          <a:p>
            <a:pPr eaLnBrk="1" hangingPunct="1"/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数据占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64KB / 72.5KB = 88.3%</a:t>
            </a:r>
            <a:r>
              <a:rPr kumimoji="1" lang="en-US" altLang="zh-CN" sz="2000" b="1" i="1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47568" name="Line 165">
            <a:extLst>
              <a:ext uri="{FF2B5EF4-FFF2-40B4-BE49-F238E27FC236}">
                <a16:creationId xmlns:a16="http://schemas.microsoft.com/office/drawing/2014/main" id="{7397E8B7-6FCC-0F4E-AB1E-B74A747B11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2752725"/>
            <a:ext cx="0" cy="406400"/>
          </a:xfrm>
          <a:prstGeom prst="line">
            <a:avLst/>
          </a:prstGeom>
          <a:noFill/>
          <a:ln w="285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585863" name="Text Box 135">
            <a:extLst>
              <a:ext uri="{FF2B5EF4-FFF2-40B4-BE49-F238E27FC236}">
                <a16:creationId xmlns:a16="http://schemas.microsoft.com/office/drawing/2014/main" id="{893E0A09-F1B6-3041-9395-9A8214358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450" y="4103688"/>
            <a:ext cx="765175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CC3300"/>
                </a:solidFill>
                <a:ea typeface="华文新魏" panose="02010800040101010101" pitchFamily="2" charset="-122"/>
              </a:rPr>
              <a:t>64KB÷16B=4K</a:t>
            </a:r>
            <a:r>
              <a:rPr kumimoji="1" lang="zh-CN" altLang="en-US" sz="2000" b="1">
                <a:solidFill>
                  <a:srgbClr val="CC3300"/>
                </a:solidFill>
                <a:ea typeface="华文新魏" panose="02010800040101010101" pitchFamily="2" charset="-122"/>
              </a:rPr>
              <a:t>行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85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291" grpId="0"/>
      <p:bldP spid="432292" grpId="0"/>
      <p:bldP spid="58586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>
            <a:extLst>
              <a:ext uri="{FF2B5EF4-FFF2-40B4-BE49-F238E27FC236}">
                <a16:creationId xmlns:a16="http://schemas.microsoft.com/office/drawing/2014/main" id="{3689A5DB-7584-C347-ADBE-9F556A22DE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741363" y="247650"/>
            <a:ext cx="7321550" cy="365125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如何计算</a:t>
            </a:r>
            <a:r>
              <a:rPr lang="en-US" altLang="zh-CN"/>
              <a:t>Cache</a:t>
            </a:r>
            <a:r>
              <a:rPr lang="zh-CN" altLang="en-US"/>
              <a:t>的容量？</a:t>
            </a:r>
          </a:p>
        </p:txBody>
      </p:sp>
      <p:sp>
        <p:nvSpPr>
          <p:cNvPr id="434179" name="Text Box 3">
            <a:extLst>
              <a:ext uri="{FF2B5EF4-FFF2-40B4-BE49-F238E27FC236}">
                <a16:creationId xmlns:a16="http://schemas.microsoft.com/office/drawing/2014/main" id="{3EE4DCDC-9A83-8949-831E-9CE724D7C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638175"/>
            <a:ext cx="80041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ea typeface="宋体" panose="02010600030101010101" pitchFamily="2" charset="-122"/>
              </a:rPr>
              <a:t>Consider a cache with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</a:rPr>
              <a:t>64 Lines</a:t>
            </a:r>
            <a:r>
              <a:rPr lang="en-US" altLang="zh-CN" sz="2000" b="1">
                <a:ea typeface="宋体" panose="02010600030101010101" pitchFamily="2" charset="-122"/>
              </a:rPr>
              <a:t> and 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</a:rPr>
              <a:t>a block size of 16 bytes</a:t>
            </a:r>
            <a:r>
              <a:rPr lang="en-US" altLang="zh-CN" sz="2000" b="1">
                <a:ea typeface="宋体" panose="02010600030101010101" pitchFamily="2" charset="-122"/>
              </a:rPr>
              <a:t>. </a:t>
            </a:r>
          </a:p>
          <a:p>
            <a:r>
              <a:rPr lang="en-US" altLang="zh-CN" sz="2000" b="1">
                <a:solidFill>
                  <a:srgbClr val="FF0000"/>
                </a:solidFill>
                <a:ea typeface="宋体" panose="02010600030101010101" pitchFamily="2" charset="-122"/>
              </a:rPr>
              <a:t>What line number does byte address 1200 map to?</a:t>
            </a:r>
          </a:p>
        </p:txBody>
      </p:sp>
      <p:sp>
        <p:nvSpPr>
          <p:cNvPr id="434180" name="Text Box 4">
            <a:extLst>
              <a:ext uri="{FF2B5EF4-FFF2-40B4-BE49-F238E27FC236}">
                <a16:creationId xmlns:a16="http://schemas.microsoft.com/office/drawing/2014/main" id="{2A791EF5-1799-3F47-B995-15C0B835A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1314450"/>
            <a:ext cx="80549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地址</a:t>
            </a:r>
            <a:r>
              <a:rPr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1200</a:t>
            </a:r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对应存放在第</a:t>
            </a:r>
            <a:r>
              <a:rPr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11</a:t>
            </a:r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行。因为：</a:t>
            </a:r>
            <a:r>
              <a:rPr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 [1200/16=75] module 64 = 11</a:t>
            </a:r>
          </a:p>
        </p:txBody>
      </p:sp>
      <p:sp>
        <p:nvSpPr>
          <p:cNvPr id="434181" name="Text Box 5">
            <a:extLst>
              <a:ext uri="{FF2B5EF4-FFF2-40B4-BE49-F238E27FC236}">
                <a16:creationId xmlns:a16="http://schemas.microsoft.com/office/drawing/2014/main" id="{0562469A-DE00-4448-A653-D679C36B2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284413"/>
            <a:ext cx="841692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实现以下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需要多少位容量？</a:t>
            </a:r>
          </a:p>
          <a:p>
            <a:pPr>
              <a:lnSpc>
                <a:spcPct val="115000"/>
              </a:lnSpc>
            </a:pP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：直接映射 、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16K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行数据、块大小为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个字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(4B)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、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32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位主存地址</a:t>
            </a:r>
            <a:endParaRPr lang="en-US" altLang="zh-CN" sz="2000" b="1">
              <a:solidFill>
                <a:srgbClr val="CC3300"/>
              </a:solidFill>
              <a:ea typeface="黑体" panose="02010609060101010101" pitchFamily="49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      </a:t>
            </a:r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 答：</a:t>
            </a:r>
            <a:r>
              <a:rPr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的存储布局如下：</a:t>
            </a:r>
          </a:p>
        </p:txBody>
      </p:sp>
      <p:sp>
        <p:nvSpPr>
          <p:cNvPr id="149510" name="Text Box 6">
            <a:extLst>
              <a:ext uri="{FF2B5EF4-FFF2-40B4-BE49-F238E27FC236}">
                <a16:creationId xmlns:a16="http://schemas.microsoft.com/office/drawing/2014/main" id="{D6BFCFBE-66DD-484F-9231-C4BC0CB78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5" y="3706813"/>
            <a:ext cx="18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34183" name="Text Box 7">
            <a:extLst>
              <a:ext uri="{FF2B5EF4-FFF2-40B4-BE49-F238E27FC236}">
                <a16:creationId xmlns:a16="http://schemas.microsoft.com/office/drawing/2014/main" id="{FDD04B4A-C4A7-294B-A731-BAE38F67E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5441950"/>
            <a:ext cx="8280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所以，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 b="1">
                <a:solidFill>
                  <a:srgbClr val="CC3300"/>
                </a:solidFill>
                <a:ea typeface="黑体" panose="02010609060101010101" pitchFamily="49" charset="-122"/>
              </a:rPr>
              <a:t>的大小为：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2</a:t>
            </a:r>
            <a:r>
              <a:rPr lang="en-US" altLang="zh-CN" sz="2000" b="1" baseline="42000">
                <a:solidFill>
                  <a:srgbClr val="CC3300"/>
                </a:solidFill>
                <a:ea typeface="黑体" panose="02010609060101010101" pitchFamily="49" charset="-122"/>
              </a:rPr>
              <a:t>14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 ×(32 + (32-14-2)+1) = 2</a:t>
            </a:r>
            <a:r>
              <a:rPr lang="en-US" altLang="zh-CN" sz="2000" b="1" baseline="42000">
                <a:solidFill>
                  <a:srgbClr val="CC3300"/>
                </a:solidFill>
                <a:ea typeface="黑体" panose="02010609060101010101" pitchFamily="49" charset="-122"/>
              </a:rPr>
              <a:t>14</a:t>
            </a:r>
            <a:r>
              <a:rPr lang="en-US" altLang="zh-CN" sz="2000" b="1">
                <a:solidFill>
                  <a:srgbClr val="CC3300"/>
                </a:solidFill>
                <a:ea typeface="黑体" panose="02010609060101010101" pitchFamily="49" charset="-122"/>
              </a:rPr>
              <a:t>×49 = 784 Kbits</a:t>
            </a:r>
          </a:p>
        </p:txBody>
      </p:sp>
      <p:grpSp>
        <p:nvGrpSpPr>
          <p:cNvPr id="2" name="Group 8">
            <a:extLst>
              <a:ext uri="{FF2B5EF4-FFF2-40B4-BE49-F238E27FC236}">
                <a16:creationId xmlns:a16="http://schemas.microsoft.com/office/drawing/2014/main" id="{9AC72B3A-AEF8-6741-A947-C1882B644545}"/>
              </a:ext>
            </a:extLst>
          </p:cNvPr>
          <p:cNvGrpSpPr>
            <a:grpSpLocks/>
          </p:cNvGrpSpPr>
          <p:nvPr/>
        </p:nvGrpSpPr>
        <p:grpSpPr bwMode="auto">
          <a:xfrm>
            <a:off x="1422400" y="3865563"/>
            <a:ext cx="6384925" cy="1546225"/>
            <a:chOff x="598" y="2312"/>
            <a:chExt cx="4022" cy="1420"/>
          </a:xfrm>
        </p:grpSpPr>
        <p:sp>
          <p:nvSpPr>
            <p:cNvPr id="149521" name="Rectangle 9">
              <a:extLst>
                <a:ext uri="{FF2B5EF4-FFF2-40B4-BE49-F238E27FC236}">
                  <a16:creationId xmlns:a16="http://schemas.microsoft.com/office/drawing/2014/main" id="{260CD7A2-D0CB-5449-946A-ED81CFD1F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8" y="2328"/>
              <a:ext cx="1208" cy="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2" name="Rectangle 10">
              <a:extLst>
                <a:ext uri="{FF2B5EF4-FFF2-40B4-BE49-F238E27FC236}">
                  <a16:creationId xmlns:a16="http://schemas.microsoft.com/office/drawing/2014/main" id="{1F93B8C6-4449-1845-9699-F65AA9B54C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2" y="2328"/>
              <a:ext cx="1872" cy="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3" name="Rectangle 11">
              <a:extLst>
                <a:ext uri="{FF2B5EF4-FFF2-40B4-BE49-F238E27FC236}">
                  <a16:creationId xmlns:a16="http://schemas.microsoft.com/office/drawing/2014/main" id="{29EF0BBE-DC35-0144-AC7B-B3C873096C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4" y="2328"/>
              <a:ext cx="184" cy="88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4" name="Text Box 12">
              <a:extLst>
                <a:ext uri="{FF2B5EF4-FFF2-40B4-BE49-F238E27FC236}">
                  <a16:creationId xmlns:a16="http://schemas.microsoft.com/office/drawing/2014/main" id="{B58917D4-8445-5E42-AECC-117A08A232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6" y="3368"/>
              <a:ext cx="863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32 –14 –2</a:t>
              </a:r>
              <a:r>
                <a:rPr lang="zh-CN" altLang="en-US" sz="1800" b="1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</a:p>
          </p:txBody>
        </p:sp>
        <p:sp>
          <p:nvSpPr>
            <p:cNvPr id="149525" name="Text Box 13">
              <a:extLst>
                <a:ext uri="{FF2B5EF4-FFF2-40B4-BE49-F238E27FC236}">
                  <a16:creationId xmlns:a16="http://schemas.microsoft.com/office/drawing/2014/main" id="{F8E919C4-5D66-414E-936A-D01C467D7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2" y="3351"/>
              <a:ext cx="2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32</a:t>
              </a:r>
            </a:p>
          </p:txBody>
        </p:sp>
        <p:sp>
          <p:nvSpPr>
            <p:cNvPr id="149526" name="AutoShape 14">
              <a:extLst>
                <a:ext uri="{FF2B5EF4-FFF2-40B4-BE49-F238E27FC236}">
                  <a16:creationId xmlns:a16="http://schemas.microsoft.com/office/drawing/2014/main" id="{1D21D449-370C-8044-ADDD-409CF977E10C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1428" y="2756"/>
              <a:ext cx="128" cy="1176"/>
            </a:xfrm>
            <a:prstGeom prst="rightBrace">
              <a:avLst>
                <a:gd name="adj1" fmla="val 74436"/>
                <a:gd name="adj2" fmla="val 4793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7" name="AutoShape 15">
              <a:extLst>
                <a:ext uri="{FF2B5EF4-FFF2-40B4-BE49-F238E27FC236}">
                  <a16:creationId xmlns:a16="http://schemas.microsoft.com/office/drawing/2014/main" id="{957687FE-80DD-074D-80C2-5204D1918818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3108" y="2420"/>
              <a:ext cx="136" cy="1808"/>
            </a:xfrm>
            <a:prstGeom prst="rightBrace">
              <a:avLst>
                <a:gd name="adj1" fmla="val 107707"/>
                <a:gd name="adj2" fmla="val 47935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8" name="AutoShape 16">
              <a:extLst>
                <a:ext uri="{FF2B5EF4-FFF2-40B4-BE49-F238E27FC236}">
                  <a16:creationId xmlns:a16="http://schemas.microsoft.com/office/drawing/2014/main" id="{E9C33F62-6817-E741-88B8-3D9141B4A10A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4184" y="2312"/>
              <a:ext cx="56" cy="896"/>
            </a:xfrm>
            <a:prstGeom prst="leftBrace">
              <a:avLst>
                <a:gd name="adj1" fmla="val 133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49529" name="Text Box 17">
              <a:extLst>
                <a:ext uri="{FF2B5EF4-FFF2-40B4-BE49-F238E27FC236}">
                  <a16:creationId xmlns:a16="http://schemas.microsoft.com/office/drawing/2014/main" id="{AF887410-95B6-114A-B894-2E5856BFF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2" y="2663"/>
              <a:ext cx="18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2</a:t>
              </a:r>
            </a:p>
          </p:txBody>
        </p:sp>
        <p:sp>
          <p:nvSpPr>
            <p:cNvPr id="149530" name="Text Box 18">
              <a:extLst>
                <a:ext uri="{FF2B5EF4-FFF2-40B4-BE49-F238E27FC236}">
                  <a16:creationId xmlns:a16="http://schemas.microsoft.com/office/drawing/2014/main" id="{D4435166-28C1-F44F-A95A-08BA122AA4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6" y="2535"/>
              <a:ext cx="29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14</a:t>
              </a:r>
            </a:p>
          </p:txBody>
        </p:sp>
        <p:sp>
          <p:nvSpPr>
            <p:cNvPr id="149531" name="Text Box 19">
              <a:extLst>
                <a:ext uri="{FF2B5EF4-FFF2-40B4-BE49-F238E27FC236}">
                  <a16:creationId xmlns:a16="http://schemas.microsoft.com/office/drawing/2014/main" id="{311B84D2-9300-8248-AF00-3B526E5074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8" y="3207"/>
              <a:ext cx="205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1</a:t>
              </a:r>
            </a:p>
          </p:txBody>
        </p:sp>
      </p:grpSp>
      <p:sp>
        <p:nvSpPr>
          <p:cNvPr id="434196" name="Text Box 20">
            <a:extLst>
              <a:ext uri="{FF2B5EF4-FFF2-40B4-BE49-F238E27FC236}">
                <a16:creationId xmlns:a16="http://schemas.microsoft.com/office/drawing/2014/main" id="{DA849CFE-9299-794E-B203-1702BD3C28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927725"/>
            <a:ext cx="25590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若块大小为</a:t>
            </a:r>
            <a:r>
              <a:rPr kumimoji="1" lang="en-US" altLang="zh-CN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4</a:t>
            </a:r>
            <a:r>
              <a:rPr kumimoji="1" lang="zh-CN" altLang="en-US" sz="20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Arial" panose="020B0604020202020204" pitchFamily="34" charset="0"/>
              </a:rPr>
              <a:t>个字呢？</a:t>
            </a:r>
          </a:p>
        </p:txBody>
      </p:sp>
      <p:sp>
        <p:nvSpPr>
          <p:cNvPr id="434197" name="Text Box 21">
            <a:extLst>
              <a:ext uri="{FF2B5EF4-FFF2-40B4-BE49-F238E27FC236}">
                <a16:creationId xmlns:a16="http://schemas.microsoft.com/office/drawing/2014/main" id="{EFA43593-45B7-B14B-A8AB-D302DFC3A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5891213"/>
            <a:ext cx="637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b="1" baseline="4200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×(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4×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32 + (32-14-2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-2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)+1) = 2</a:t>
            </a:r>
            <a:r>
              <a:rPr lang="en-US" altLang="zh-CN" sz="2000" b="1" baseline="4200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×143 = 2288 Kbits</a:t>
            </a:r>
          </a:p>
        </p:txBody>
      </p:sp>
      <p:sp>
        <p:nvSpPr>
          <p:cNvPr id="434199" name="Text Box 23">
            <a:extLst>
              <a:ext uri="{FF2B5EF4-FFF2-40B4-BE49-F238E27FC236}">
                <a16:creationId xmlns:a16="http://schemas.microsoft.com/office/drawing/2014/main" id="{D7DD690C-D667-D940-B246-47D1F4468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50" y="3506788"/>
            <a:ext cx="39687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共有</a:t>
            </a: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16K x 4B= 64KB</a:t>
            </a: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数据</a:t>
            </a:r>
          </a:p>
        </p:txBody>
      </p:sp>
      <p:sp>
        <p:nvSpPr>
          <p:cNvPr id="434201" name="Text Box 25">
            <a:extLst>
              <a:ext uri="{FF2B5EF4-FFF2-40B4-BE49-F238E27FC236}">
                <a16:creationId xmlns:a16="http://schemas.microsoft.com/office/drawing/2014/main" id="{B30B17E3-BB57-1647-A8EC-2507125A4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6386513"/>
            <a:ext cx="2835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若块大小为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</a:t>
            </a:r>
            <a:r>
              <a:rPr kumimoji="1" lang="en-US" altLang="zh-CN" sz="2000" b="1" baseline="300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m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个字呢？</a:t>
            </a:r>
          </a:p>
        </p:txBody>
      </p:sp>
      <p:sp>
        <p:nvSpPr>
          <p:cNvPr id="434202" name="Text Box 26">
            <a:extLst>
              <a:ext uri="{FF2B5EF4-FFF2-40B4-BE49-F238E27FC236}">
                <a16:creationId xmlns:a16="http://schemas.microsoft.com/office/drawing/2014/main" id="{231859D7-7AB5-C548-BD1D-04EA29BC4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7325" y="6318250"/>
            <a:ext cx="38893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b="1" baseline="42000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14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×(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en-US" altLang="zh-CN" sz="2000" b="1" baseline="30000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m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×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32 + (32-14-2</a:t>
            </a:r>
            <a:r>
              <a:rPr lang="en-US" altLang="zh-CN" sz="2000" b="1">
                <a:solidFill>
                  <a:srgbClr val="CC000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- m</a:t>
            </a:r>
            <a:r>
              <a:rPr lang="en-US" altLang="zh-CN" sz="20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)+1)</a:t>
            </a:r>
            <a:r>
              <a:rPr lang="en-US" altLang="zh-CN" sz="1800" b="1">
                <a:solidFill>
                  <a:srgbClr val="0000FF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" name="Text Box 6">
            <a:extLst>
              <a:ext uri="{FF2B5EF4-FFF2-40B4-BE49-F238E27FC236}">
                <a16:creationId xmlns:a16="http://schemas.microsoft.com/office/drawing/2014/main" id="{52BDBD83-E148-1943-82D1-326785ED3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650" y="6396038"/>
            <a:ext cx="11176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3" action="ppaction://hlinksldjump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587802" name="Text Box 26">
            <a:extLst>
              <a:ext uri="{FF2B5EF4-FFF2-40B4-BE49-F238E27FC236}">
                <a16:creationId xmlns:a16="http://schemas.microsoft.com/office/drawing/2014/main" id="{3D786DEC-D99B-A149-9957-7EB435424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808163"/>
            <a:ext cx="648176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9900"/>
                </a:solidFill>
                <a:ea typeface="华文新魏" panose="02010800040101010101" pitchFamily="2" charset="-122"/>
              </a:rPr>
              <a:t>1200 = 1024+128+32+16 = 0…01</a:t>
            </a:r>
            <a:r>
              <a:rPr kumimoji="1" lang="en-US" altLang="zh-CN" sz="2000" b="1">
                <a:solidFill>
                  <a:srgbClr val="006600"/>
                </a:solidFill>
                <a:ea typeface="华文新魏" panose="02010800040101010101" pitchFamily="2" charset="-122"/>
              </a:rPr>
              <a:t> </a:t>
            </a:r>
            <a:r>
              <a:rPr kumimoji="1" lang="en-US" altLang="zh-CN" sz="2000" b="1">
                <a:solidFill>
                  <a:schemeClr val="accent2"/>
                </a:solidFill>
                <a:ea typeface="华文新魏" panose="02010800040101010101" pitchFamily="2" charset="-122"/>
              </a:rPr>
              <a:t>001011</a:t>
            </a:r>
            <a:r>
              <a:rPr kumimoji="1" lang="en-US" altLang="zh-CN" sz="2000" b="1">
                <a:solidFill>
                  <a:srgbClr val="006600"/>
                </a:solidFill>
                <a:ea typeface="华文新魏" panose="02010800040101010101" pitchFamily="2" charset="-122"/>
              </a:rPr>
              <a:t> </a:t>
            </a:r>
            <a:r>
              <a:rPr kumimoji="1" lang="en-US" altLang="zh-CN" sz="2000" b="1">
                <a:ea typeface="华文新魏" panose="02010800040101010101" pitchFamily="2" charset="-122"/>
              </a:rPr>
              <a:t>0000 </a:t>
            </a:r>
            <a:r>
              <a:rPr kumimoji="1" lang="en-US" altLang="zh-CN" sz="2000" b="1">
                <a:solidFill>
                  <a:srgbClr val="006600"/>
                </a:solidFill>
                <a:ea typeface="华文新魏" panose="02010800040101010101" pitchFamily="2" charset="-122"/>
              </a:rPr>
              <a:t>B</a:t>
            </a:r>
          </a:p>
        </p:txBody>
      </p:sp>
      <p:sp>
        <p:nvSpPr>
          <p:cNvPr id="587803" name="Rectangle 27">
            <a:extLst>
              <a:ext uri="{FF2B5EF4-FFF2-40B4-BE49-F238E27FC236}">
                <a16:creationId xmlns:a16="http://schemas.microsoft.com/office/drawing/2014/main" id="{40B7CE3E-14D5-434E-80D9-637E88BFD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1513" y="1763713"/>
            <a:ext cx="900112" cy="36036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41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8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8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41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41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41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3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3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3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80" grpId="0" autoUpdateAnimBg="0"/>
      <p:bldP spid="434181" grpId="0" build="allAtOnce" autoUpdateAnimBg="0"/>
      <p:bldP spid="434183" grpId="0" autoUpdateAnimBg="0"/>
      <p:bldP spid="434196" grpId="0"/>
      <p:bldP spid="434197" grpId="0" autoUpdateAnimBg="0"/>
      <p:bldP spid="434199" grpId="0"/>
      <p:bldP spid="434201" grpId="0"/>
      <p:bldP spid="434202" grpId="0" autoUpdateAnimBg="0"/>
      <p:bldP spid="25" grpId="0"/>
      <p:bldP spid="587802" grpId="0"/>
      <p:bldP spid="58780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7250" name="Picture 2" descr="全相联映射的Cache组织示意图">
            <a:extLst>
              <a:ext uri="{FF2B5EF4-FFF2-40B4-BE49-F238E27FC236}">
                <a16:creationId xmlns:a16="http://schemas.microsoft.com/office/drawing/2014/main" id="{EADE428D-C531-964C-BE4D-58575D6C9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7725" y="1487488"/>
            <a:ext cx="5741988" cy="468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0531" name="Rectangle 4">
            <a:extLst>
              <a:ext uri="{FF2B5EF4-FFF2-40B4-BE49-F238E27FC236}">
                <a16:creationId xmlns:a16="http://schemas.microsoft.com/office/drawing/2014/main" id="{9EF8186C-CDD1-124C-930C-216B7E9C3D2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250825"/>
            <a:ext cx="8807450" cy="361950"/>
          </a:xfrm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       全相联映射</a:t>
            </a:r>
            <a:r>
              <a:rPr lang="en-US" altLang="zh-CN"/>
              <a:t>Cache</a:t>
            </a:r>
            <a:r>
              <a:rPr lang="zh-CN" altLang="en-US"/>
              <a:t>组织示意图</a:t>
            </a:r>
          </a:p>
        </p:txBody>
      </p:sp>
      <p:sp>
        <p:nvSpPr>
          <p:cNvPr id="437254" name="Text Box 6">
            <a:extLst>
              <a:ext uri="{FF2B5EF4-FFF2-40B4-BE49-F238E27FC236}">
                <a16:creationId xmlns:a16="http://schemas.microsoft.com/office/drawing/2014/main" id="{02B753CD-0BD2-C44C-A2B1-25AB5AC5B9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3429000"/>
            <a:ext cx="28019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标记（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tag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）指出对应行取自哪个主存块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主存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tag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指出对应地址位于哪个主存块</a:t>
            </a:r>
          </a:p>
        </p:txBody>
      </p:sp>
      <p:sp>
        <p:nvSpPr>
          <p:cNvPr id="437255" name="Line 7">
            <a:extLst>
              <a:ext uri="{FF2B5EF4-FFF2-40B4-BE49-F238E27FC236}">
                <a16:creationId xmlns:a16="http://schemas.microsoft.com/office/drawing/2014/main" id="{94379109-0B3D-384F-8FA3-1EC996AEEC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85988" y="2798763"/>
            <a:ext cx="1665287" cy="630237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37256" name="Line 8">
            <a:extLst>
              <a:ext uri="{FF2B5EF4-FFF2-40B4-BE49-F238E27FC236}">
                <a16:creationId xmlns:a16="http://schemas.microsoft.com/office/drawing/2014/main" id="{5D30AAB9-C95A-D54C-95E1-3DC0F1072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6350" y="4464050"/>
            <a:ext cx="1574800" cy="93027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37260" name="Text Box 12">
            <a:extLst>
              <a:ext uri="{FF2B5EF4-FFF2-40B4-BE49-F238E27FC236}">
                <a16:creationId xmlns:a16="http://schemas.microsoft.com/office/drawing/2014/main" id="{6DEF31C2-C5C6-5347-967A-6BBFF1455B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049838"/>
            <a:ext cx="24765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如何对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01E0CH</a:t>
            </a: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单元进行访问？</a:t>
            </a:r>
          </a:p>
        </p:txBody>
      </p:sp>
      <p:sp>
        <p:nvSpPr>
          <p:cNvPr id="437261" name="Text Box 13">
            <a:extLst>
              <a:ext uri="{FF2B5EF4-FFF2-40B4-BE49-F238E27FC236}">
                <a16:creationId xmlns:a16="http://schemas.microsoft.com/office/drawing/2014/main" id="{2F87668C-D1E4-6449-9AA1-C658AFD88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859463"/>
            <a:ext cx="351155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0000 0001 111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0 0000 1100B  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是第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15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块中的第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个单元！</a:t>
            </a:r>
          </a:p>
        </p:txBody>
      </p:sp>
      <p:sp>
        <p:nvSpPr>
          <p:cNvPr id="437262" name="Rectangle 14">
            <a:extLst>
              <a:ext uri="{FF2B5EF4-FFF2-40B4-BE49-F238E27FC236}">
                <a16:creationId xmlns:a16="http://schemas.microsoft.com/office/drawing/2014/main" id="{CD33F670-3A5C-294B-965F-8509150AF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58125" y="3924300"/>
            <a:ext cx="900113" cy="360363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0538" name="Rectangle 17">
            <a:extLst>
              <a:ext uri="{FF2B5EF4-FFF2-40B4-BE49-F238E27FC236}">
                <a16:creationId xmlns:a16="http://schemas.microsoft.com/office/drawing/2014/main" id="{E5EDFFA5-AAD8-2F49-9009-3C1E278D1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7425" y="819150"/>
            <a:ext cx="3870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30000"/>
              </a:spcBef>
              <a:buClr>
                <a:schemeClr val="accent1"/>
              </a:buClr>
              <a:buSzPct val="80000"/>
              <a:buFont typeface="Wingdings" pitchFamily="2" charset="2"/>
              <a:buNone/>
            </a:pPr>
            <a:r>
              <a:rPr kumimoji="1" lang="zh-CN" altLang="en-US" sz="2000" b="1">
                <a:ea typeface="黑体" panose="02010609060101010101" pitchFamily="49" charset="-122"/>
              </a:rPr>
              <a:t>每个主存块可装到</a:t>
            </a:r>
            <a:r>
              <a:rPr kumimoji="1" lang="en-US" altLang="zh-CN" sz="2000" b="1">
                <a:ea typeface="黑体" panose="02010609060101010101" pitchFamily="49" charset="-122"/>
              </a:rPr>
              <a:t>Cache</a:t>
            </a:r>
            <a:r>
              <a:rPr kumimoji="1" lang="zh-CN" altLang="en-US" sz="2000" b="1">
                <a:ea typeface="黑体" panose="02010609060101010101" pitchFamily="49" charset="-122"/>
              </a:rPr>
              <a:t>任一行中。</a:t>
            </a:r>
          </a:p>
        </p:txBody>
      </p:sp>
      <p:sp>
        <p:nvSpPr>
          <p:cNvPr id="150539" name="Rectangle 18">
            <a:extLst>
              <a:ext uri="{FF2B5EF4-FFF2-40B4-BE49-F238E27FC236}">
                <a16:creationId xmlns:a16="http://schemas.microsoft.com/office/drawing/2014/main" id="{BF4663E3-A7E1-B147-B4BB-463680258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279400"/>
            <a:ext cx="2025650" cy="304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假定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数据在主存和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间的传送单位为512字。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大小：2</a:t>
            </a:r>
            <a:r>
              <a:rPr kumimoji="1" lang="zh-CN" altLang="en-US" sz="2000" b="1" baseline="300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13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字=8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字=16行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 512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字/ 行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主存大小：2</a:t>
            </a:r>
            <a:r>
              <a:rPr kumimoji="1" lang="zh-CN" altLang="en-US" sz="2000" b="1" baseline="300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20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字=1024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字=2048块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 512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字/ 块</a:t>
            </a:r>
          </a:p>
        </p:txBody>
      </p:sp>
      <p:sp>
        <p:nvSpPr>
          <p:cNvPr id="437267" name="Rectangle 19">
            <a:extLst>
              <a:ext uri="{FF2B5EF4-FFF2-40B4-BE49-F238E27FC236}">
                <a16:creationId xmlns:a16="http://schemas.microsoft.com/office/drawing/2014/main" id="{29B7BF32-DF11-D54F-813B-1E491A2D7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7200" y="3429000"/>
            <a:ext cx="15748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>
                <a:solidFill>
                  <a:srgbClr val="FF0000"/>
                </a:solidFill>
                <a:ea typeface="黑体" panose="02010609060101010101" pitchFamily="49" charset="-122"/>
              </a:rPr>
              <a:t>0000 0001 111</a:t>
            </a:r>
            <a:endParaRPr kumimoji="1" lang="zh-CN" altLang="en-US" sz="1800" b="1">
              <a:solidFill>
                <a:srgbClr val="FF0000"/>
              </a:solidFill>
              <a:ea typeface="黑体" panose="02010609060101010101" pitchFamily="49" charset="-122"/>
            </a:endParaRPr>
          </a:p>
        </p:txBody>
      </p:sp>
      <p:sp>
        <p:nvSpPr>
          <p:cNvPr id="437268" name="Text Box 20">
            <a:extLst>
              <a:ext uri="{FF2B5EF4-FFF2-40B4-BE49-F238E27FC236}">
                <a16:creationId xmlns:a16="http://schemas.microsoft.com/office/drawing/2014/main" id="{4CC9B74F-5A8E-8045-A6F9-B9272BB4C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819150"/>
            <a:ext cx="1844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按内容访问，是相联存取方式！</a:t>
            </a:r>
          </a:p>
        </p:txBody>
      </p:sp>
      <p:sp>
        <p:nvSpPr>
          <p:cNvPr id="437269" name="Text Box 21">
            <a:extLst>
              <a:ext uri="{FF2B5EF4-FFF2-40B4-BE49-F238E27FC236}">
                <a16:creationId xmlns:a16="http://schemas.microsoft.com/office/drawing/2014/main" id="{E9990279-9D4F-C949-90D9-DB04162BDF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584325"/>
            <a:ext cx="148590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如何实现按内容访问？</a:t>
            </a:r>
          </a:p>
        </p:txBody>
      </p:sp>
      <p:sp>
        <p:nvSpPr>
          <p:cNvPr id="437270" name="Text Box 22">
            <a:extLst>
              <a:ext uri="{FF2B5EF4-FFF2-40B4-BE49-F238E27FC236}">
                <a16:creationId xmlns:a16="http://schemas.microsoft.com/office/drawing/2014/main" id="{5FF544A3-22FC-7E47-980A-4A2A04BD1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2314575"/>
            <a:ext cx="1485900" cy="304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黑体" panose="02010609060101010101" pitchFamily="49" charset="-122"/>
                <a:cs typeface="Arial" panose="020B0604020202020204" pitchFamily="34" charset="0"/>
              </a:rPr>
              <a:t>直接比较！</a:t>
            </a:r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0854A15E-45C1-8640-BA7E-1DC2A24713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0" y="6129338"/>
            <a:ext cx="4095750" cy="609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为何地址中没有</a:t>
            </a: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索引字段？</a:t>
            </a:r>
            <a:endParaRPr kumimoji="1" lang="en-US" altLang="zh-CN" sz="2000" b="1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eaLnBrk="1" hangingPunct="1"/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因为可映射到任意一个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行中！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372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7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37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3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3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3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3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37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7260" grpId="0"/>
      <p:bldP spid="437261" grpId="0" animBg="1"/>
      <p:bldP spid="437262" grpId="0" animBg="1"/>
      <p:bldP spid="437267" grpId="0"/>
      <p:bldP spid="437268" grpId="0"/>
      <p:bldP spid="437269" grpId="0" animBg="1"/>
      <p:bldP spid="43727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>
            <a:extLst>
              <a:ext uri="{FF2B5EF4-FFF2-40B4-BE49-F238E27FC236}">
                <a16:creationId xmlns:a16="http://schemas.microsoft.com/office/drawing/2014/main" id="{22D18D98-9CC7-0F46-AB5C-83298B9A04D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举例：</a:t>
            </a:r>
            <a:r>
              <a:rPr lang="en-US" altLang="zh-CN" sz="3200"/>
              <a:t>Fully Associative</a:t>
            </a:r>
            <a:endParaRPr lang="zh-CN" altLang="en-US" sz="3200"/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1BF094C6-6F7C-384A-BA74-A3D31D09CE1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8288" y="820738"/>
            <a:ext cx="8596312" cy="2109787"/>
          </a:xfrm>
          <a:noFill/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Fully Associative Cache </a:t>
            </a:r>
          </a:p>
          <a:p>
            <a:pPr lvl="1" eaLnBrk="1" hangingPunct="1">
              <a:spcBef>
                <a:spcPct val="15000"/>
              </a:spcBef>
            </a:pPr>
            <a:r>
              <a:rPr lang="zh-CN" altLang="en-US" sz="2000">
                <a:solidFill>
                  <a:srgbClr val="CC3300"/>
                </a:solidFill>
                <a:ea typeface="黑体" panose="02010609060101010101" pitchFamily="49" charset="-122"/>
              </a:rPr>
              <a:t>无需</a:t>
            </a:r>
            <a:r>
              <a:rPr lang="en-US" altLang="zh-CN" sz="2000">
                <a:solidFill>
                  <a:srgbClr val="CC3300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>
                <a:solidFill>
                  <a:srgbClr val="CC3300"/>
                </a:solidFill>
                <a:ea typeface="黑体" panose="02010609060101010101" pitchFamily="49" charset="-122"/>
              </a:rPr>
              <a:t>索引，为什么？  </a:t>
            </a:r>
            <a:r>
              <a:rPr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因为同时比较所有</a:t>
            </a:r>
            <a:r>
              <a:rPr lang="en-US" altLang="zh-CN" sz="2000">
                <a:solidFill>
                  <a:srgbClr val="0000FF"/>
                </a:solidFill>
                <a:ea typeface="黑体" panose="02010609060101010101" pitchFamily="49" charset="-122"/>
              </a:rPr>
              <a:t>Cache</a:t>
            </a:r>
            <a:r>
              <a:rPr lang="zh-CN" altLang="en-US" sz="2000">
                <a:solidFill>
                  <a:srgbClr val="0000FF"/>
                </a:solidFill>
                <a:ea typeface="黑体" panose="02010609060101010101" pitchFamily="49" charset="-122"/>
              </a:rPr>
              <a:t>项的标志</a:t>
            </a:r>
            <a:endParaRPr lang="en-US" altLang="zh-CN" sz="200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By definition: 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Conflict Miss</a:t>
            </a:r>
            <a:r>
              <a:rPr lang="en-US" altLang="zh-CN" sz="2000">
                <a:ea typeface="黑体" panose="02010609060101010101" pitchFamily="49" charset="-122"/>
              </a:rPr>
              <a:t> = 0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(</a:t>
            </a:r>
            <a:r>
              <a:rPr lang="zh-CN" altLang="en-US" sz="2000">
                <a:ea typeface="黑体" panose="02010609060101010101" pitchFamily="49" charset="-122"/>
              </a:rPr>
              <a:t>没有</a:t>
            </a:r>
            <a:r>
              <a:rPr lang="zh-CN" altLang="en-US" sz="2000">
                <a:solidFill>
                  <a:srgbClr val="CC0000"/>
                </a:solidFill>
                <a:ea typeface="黑体" panose="02010609060101010101" pitchFamily="49" charset="-122"/>
              </a:rPr>
              <a:t>冲突缺失</a:t>
            </a:r>
            <a:r>
              <a:rPr lang="zh-CN" altLang="en-US" sz="2000">
                <a:ea typeface="黑体" panose="02010609060101010101" pitchFamily="49" charset="-122"/>
              </a:rPr>
              <a:t>，因为只要有空闲</a:t>
            </a:r>
            <a:r>
              <a:rPr lang="en-US" altLang="zh-CN" sz="2000">
                <a:ea typeface="黑体" panose="02010609060101010101" pitchFamily="49" charset="-122"/>
              </a:rPr>
              <a:t>Cache</a:t>
            </a:r>
            <a:r>
              <a:rPr lang="zh-CN" altLang="en-US" sz="2000">
                <a:ea typeface="黑体" panose="02010609060101010101" pitchFamily="49" charset="-122"/>
              </a:rPr>
              <a:t>块，都不会发生冲突</a:t>
            </a:r>
            <a:r>
              <a:rPr lang="en-US" altLang="zh-CN" sz="2000">
                <a:ea typeface="黑体" panose="02010609060101010101" pitchFamily="49" charset="-122"/>
              </a:rPr>
              <a:t>)</a:t>
            </a:r>
          </a:p>
          <a:p>
            <a:pPr eaLnBrk="1" hangingPunct="1">
              <a:spcBef>
                <a:spcPct val="15000"/>
              </a:spcBef>
            </a:pPr>
            <a:r>
              <a:rPr lang="en-US" altLang="zh-CN" sz="2000">
                <a:ea typeface="黑体" panose="02010609060101010101" pitchFamily="49" charset="-122"/>
              </a:rPr>
              <a:t>Example: 32bits memory address,</a:t>
            </a:r>
            <a:r>
              <a:rPr lang="zh-CN" altLang="en-US" sz="2000"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32 B blocks.</a:t>
            </a:r>
            <a:r>
              <a:rPr lang="en-US" altLang="zh-CN" sz="2000" b="0">
                <a:ea typeface="黑体" panose="02010609060101010101" pitchFamily="49" charset="-122"/>
              </a:rPr>
              <a:t> </a:t>
            </a:r>
            <a:r>
              <a:rPr lang="zh-CN" altLang="en-US" sz="2000">
                <a:ea typeface="黑体" panose="02010609060101010101" pitchFamily="49" charset="-122"/>
              </a:rPr>
              <a:t>比较器位数多长？</a:t>
            </a:r>
          </a:p>
          <a:p>
            <a:pPr lvl="1" eaLnBrk="1" hangingPunct="1">
              <a:spcBef>
                <a:spcPct val="15000"/>
              </a:spcBef>
            </a:pPr>
            <a:r>
              <a:rPr lang="en-US" altLang="zh-CN" sz="2000" b="0">
                <a:ea typeface="黑体" panose="02010609060101010101" pitchFamily="49" charset="-122"/>
              </a:rPr>
              <a:t> </a:t>
            </a:r>
            <a:r>
              <a:rPr lang="en-US" altLang="zh-CN" sz="2000">
                <a:ea typeface="黑体" panose="02010609060101010101" pitchFamily="49" charset="-122"/>
              </a:rPr>
              <a:t>we need N </a:t>
            </a:r>
            <a:r>
              <a:rPr lang="en-US" altLang="zh-CN" sz="2000">
                <a:solidFill>
                  <a:srgbClr val="CC0000"/>
                </a:solidFill>
                <a:ea typeface="黑体" panose="02010609060101010101" pitchFamily="49" charset="-122"/>
              </a:rPr>
              <a:t>27-bit </a:t>
            </a:r>
            <a:r>
              <a:rPr lang="en-US" altLang="zh-CN" sz="2000">
                <a:ea typeface="黑体" panose="02010609060101010101" pitchFamily="49" charset="-122"/>
              </a:rPr>
              <a:t>comparators</a:t>
            </a:r>
          </a:p>
        </p:txBody>
      </p:sp>
      <p:grpSp>
        <p:nvGrpSpPr>
          <p:cNvPr id="152580" name="Group 71">
            <a:extLst>
              <a:ext uri="{FF2B5EF4-FFF2-40B4-BE49-F238E27FC236}">
                <a16:creationId xmlns:a16="http://schemas.microsoft.com/office/drawing/2014/main" id="{472E233E-C4B7-DA46-928D-A38B4349E322}"/>
              </a:ext>
            </a:extLst>
          </p:cNvPr>
          <p:cNvGrpSpPr>
            <a:grpSpLocks/>
          </p:cNvGrpSpPr>
          <p:nvPr/>
        </p:nvGrpSpPr>
        <p:grpSpPr bwMode="auto">
          <a:xfrm>
            <a:off x="566738" y="3122613"/>
            <a:ext cx="7932737" cy="3432175"/>
            <a:chOff x="563" y="2020"/>
            <a:chExt cx="4997" cy="1997"/>
          </a:xfrm>
        </p:grpSpPr>
        <p:sp>
          <p:nvSpPr>
            <p:cNvPr id="152583" name="Rectangle 13">
              <a:extLst>
                <a:ext uri="{FF2B5EF4-FFF2-40B4-BE49-F238E27FC236}">
                  <a16:creationId xmlns:a16="http://schemas.microsoft.com/office/drawing/2014/main" id="{37086E92-2118-0640-ADF5-DDCEA10E7A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3" y="2020"/>
              <a:ext cx="20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0</a:t>
              </a:r>
            </a:p>
          </p:txBody>
        </p:sp>
        <p:sp>
          <p:nvSpPr>
            <p:cNvPr id="152584" name="Rectangle 14">
              <a:extLst>
                <a:ext uri="{FF2B5EF4-FFF2-40B4-BE49-F238E27FC236}">
                  <a16:creationId xmlns:a16="http://schemas.microsoft.com/office/drawing/2014/main" id="{75EE2ED2-DED7-8248-8AB0-242FB6D96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2020"/>
              <a:ext cx="203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4</a:t>
              </a:r>
            </a:p>
          </p:txBody>
        </p:sp>
        <p:sp>
          <p:nvSpPr>
            <p:cNvPr id="152585" name="Rectangle 15">
              <a:extLst>
                <a:ext uri="{FF2B5EF4-FFF2-40B4-BE49-F238E27FC236}">
                  <a16:creationId xmlns:a16="http://schemas.microsoft.com/office/drawing/2014/main" id="{09ED9880-5129-E44C-8523-B356D264A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3" y="2020"/>
              <a:ext cx="29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zh-CN" altLang="en-US" sz="2000" b="1">
                  <a:ea typeface="宋体" panose="02010600030101010101" pitchFamily="2" charset="-122"/>
                </a:rPr>
                <a:t>31</a:t>
              </a:r>
            </a:p>
          </p:txBody>
        </p:sp>
        <p:grpSp>
          <p:nvGrpSpPr>
            <p:cNvPr id="152586" name="Group 70">
              <a:extLst>
                <a:ext uri="{FF2B5EF4-FFF2-40B4-BE49-F238E27FC236}">
                  <a16:creationId xmlns:a16="http://schemas.microsoft.com/office/drawing/2014/main" id="{9A63C79A-75DA-D948-BAD9-2DF5DDFE0E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4" y="2212"/>
              <a:ext cx="4976" cy="1805"/>
              <a:chOff x="584" y="2212"/>
              <a:chExt cx="4976" cy="1805"/>
            </a:xfrm>
          </p:grpSpPr>
          <p:sp>
            <p:nvSpPr>
              <p:cNvPr id="152587" name="Rectangle 4">
                <a:extLst>
                  <a:ext uri="{FF2B5EF4-FFF2-40B4-BE49-F238E27FC236}">
                    <a16:creationId xmlns:a16="http://schemas.microsoft.com/office/drawing/2014/main" id="{0CAD055D-4DC6-E541-89A4-F288450DA5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00" y="2840"/>
                <a:ext cx="1760" cy="113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588" name="Line 5">
                <a:extLst>
                  <a:ext uri="{FF2B5EF4-FFF2-40B4-BE49-F238E27FC236}">
                    <a16:creationId xmlns:a16="http://schemas.microsoft.com/office/drawing/2014/main" id="{6117A728-7B50-C546-80C0-971460EAE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3024"/>
                <a:ext cx="17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89" name="Line 6">
                <a:extLst>
                  <a:ext uri="{FF2B5EF4-FFF2-40B4-BE49-F238E27FC236}">
                    <a16:creationId xmlns:a16="http://schemas.microsoft.com/office/drawing/2014/main" id="{4974735A-3027-9747-B5EE-6BE82FD437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3216"/>
                <a:ext cx="17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90" name="Line 7">
                <a:extLst>
                  <a:ext uri="{FF2B5EF4-FFF2-40B4-BE49-F238E27FC236}">
                    <a16:creationId xmlns:a16="http://schemas.microsoft.com/office/drawing/2014/main" id="{4D98CB3B-AD48-B442-BDD5-7EF3A4F7E9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3408"/>
                <a:ext cx="17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91" name="Line 8">
                <a:extLst>
                  <a:ext uri="{FF2B5EF4-FFF2-40B4-BE49-F238E27FC236}">
                    <a16:creationId xmlns:a16="http://schemas.microsoft.com/office/drawing/2014/main" id="{E0246297-0F5B-E54A-87F5-3448C8865D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00" y="3600"/>
                <a:ext cx="17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92" name="Rectangle 9">
                <a:extLst>
                  <a:ext uri="{FF2B5EF4-FFF2-40B4-BE49-F238E27FC236}">
                    <a16:creationId xmlns:a16="http://schemas.microsoft.com/office/drawing/2014/main" id="{C3FE4E2C-8354-CE46-90C9-F4F9ADA2F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3" y="3635"/>
                <a:ext cx="17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152593" name="Rectangle 10">
                <a:extLst>
                  <a:ext uri="{FF2B5EF4-FFF2-40B4-BE49-F238E27FC236}">
                    <a16:creationId xmlns:a16="http://schemas.microsoft.com/office/drawing/2014/main" id="{8BCFBC7C-29B0-D04F-A413-D4D833AB2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3" y="2636"/>
                <a:ext cx="9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Cache Data</a:t>
                </a:r>
              </a:p>
            </p:txBody>
          </p:sp>
          <p:sp>
            <p:nvSpPr>
              <p:cNvPr id="152594" name="Rectangle 11">
                <a:extLst>
                  <a:ext uri="{FF2B5EF4-FFF2-40B4-BE49-F238E27FC236}">
                    <a16:creationId xmlns:a16="http://schemas.microsoft.com/office/drawing/2014/main" id="{AA887C25-ECCC-3C4F-933D-2733D7E09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5" y="2828"/>
                <a:ext cx="3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0</a:t>
                </a:r>
              </a:p>
            </p:txBody>
          </p:sp>
          <p:sp>
            <p:nvSpPr>
              <p:cNvPr id="152595" name="Rectangle 12">
                <a:extLst>
                  <a:ext uri="{FF2B5EF4-FFF2-40B4-BE49-F238E27FC236}">
                    <a16:creationId xmlns:a16="http://schemas.microsoft.com/office/drawing/2014/main" id="{01B6B229-96E0-D44C-A8FC-05246D65C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4" y="2224"/>
                <a:ext cx="4688" cy="17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596" name="Rectangle 16">
                <a:extLst>
                  <a:ext uri="{FF2B5EF4-FFF2-40B4-BE49-F238E27FC236}">
                    <a16:creationId xmlns:a16="http://schemas.microsoft.com/office/drawing/2014/main" id="{86C715D6-CE9E-8048-9DBD-3D626B0653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8" y="2840"/>
                <a:ext cx="1856" cy="113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597" name="Line 17">
                <a:extLst>
                  <a:ext uri="{FF2B5EF4-FFF2-40B4-BE49-F238E27FC236}">
                    <a16:creationId xmlns:a16="http://schemas.microsoft.com/office/drawing/2014/main" id="{C6E87166-BF54-4D4F-B617-2AB0AEDB0B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2" y="3024"/>
                <a:ext cx="18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98" name="Line 18">
                <a:extLst>
                  <a:ext uri="{FF2B5EF4-FFF2-40B4-BE49-F238E27FC236}">
                    <a16:creationId xmlns:a16="http://schemas.microsoft.com/office/drawing/2014/main" id="{1023CE14-C6B5-004D-9D1C-9BD837D131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2" y="3216"/>
                <a:ext cx="18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599" name="Line 19">
                <a:extLst>
                  <a:ext uri="{FF2B5EF4-FFF2-40B4-BE49-F238E27FC236}">
                    <a16:creationId xmlns:a16="http://schemas.microsoft.com/office/drawing/2014/main" id="{98493CE9-2C8E-054E-ABC5-1CD05962CC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2" y="3408"/>
                <a:ext cx="18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0" name="Line 20">
                <a:extLst>
                  <a:ext uri="{FF2B5EF4-FFF2-40B4-BE49-F238E27FC236}">
                    <a16:creationId xmlns:a16="http://schemas.microsoft.com/office/drawing/2014/main" id="{E5078A6F-6F69-6B4F-B5C6-18E3CECA9B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72" y="3600"/>
                <a:ext cx="1888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1" name="Rectangle 21">
                <a:extLst>
                  <a:ext uri="{FF2B5EF4-FFF2-40B4-BE49-F238E27FC236}">
                    <a16:creationId xmlns:a16="http://schemas.microsoft.com/office/drawing/2014/main" id="{ED3FAAF8-092B-4C4D-96C6-4A5AC7F39D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5" y="3635"/>
                <a:ext cx="17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152602" name="Rectangle 22">
                <a:extLst>
                  <a:ext uri="{FF2B5EF4-FFF2-40B4-BE49-F238E27FC236}">
                    <a16:creationId xmlns:a16="http://schemas.microsoft.com/office/drawing/2014/main" id="{6DA76E63-F660-5F43-B155-4014A693F6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7" y="2212"/>
                <a:ext cx="177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Cache Tag (27 bits long)</a:t>
                </a:r>
              </a:p>
            </p:txBody>
          </p:sp>
          <p:sp>
            <p:nvSpPr>
              <p:cNvPr id="152603" name="Rectangle 23">
                <a:extLst>
                  <a:ext uri="{FF2B5EF4-FFF2-40B4-BE49-F238E27FC236}">
                    <a16:creationId xmlns:a16="http://schemas.microsoft.com/office/drawing/2014/main" id="{45940DF2-F553-464B-8E2F-4EE761673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08" y="2840"/>
                <a:ext cx="128" cy="1136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04" name="Rectangle 24">
                <a:extLst>
                  <a:ext uri="{FF2B5EF4-FFF2-40B4-BE49-F238E27FC236}">
                    <a16:creationId xmlns:a16="http://schemas.microsoft.com/office/drawing/2014/main" id="{8D99FFF9-6106-A14A-95FC-F8A86A08D9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7" y="2636"/>
                <a:ext cx="4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     V</a:t>
                </a:r>
              </a:p>
            </p:txBody>
          </p:sp>
          <p:sp>
            <p:nvSpPr>
              <p:cNvPr id="152605" name="Line 25">
                <a:extLst>
                  <a:ext uri="{FF2B5EF4-FFF2-40B4-BE49-F238E27FC236}">
                    <a16:creationId xmlns:a16="http://schemas.microsoft.com/office/drawing/2014/main" id="{76E2E9C5-57F4-934D-8CF1-2567BBDD7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2" y="3024"/>
                <a:ext cx="1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6" name="Line 26">
                <a:extLst>
                  <a:ext uri="{FF2B5EF4-FFF2-40B4-BE49-F238E27FC236}">
                    <a16:creationId xmlns:a16="http://schemas.microsoft.com/office/drawing/2014/main" id="{575940AB-86BA-3E4F-8E33-9544D77295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2" y="3216"/>
                <a:ext cx="1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7" name="Line 27">
                <a:extLst>
                  <a:ext uri="{FF2B5EF4-FFF2-40B4-BE49-F238E27FC236}">
                    <a16:creationId xmlns:a16="http://schemas.microsoft.com/office/drawing/2014/main" id="{175830F7-0CF8-6B44-9519-8DA68B2336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2" y="3408"/>
                <a:ext cx="1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8" name="Line 28">
                <a:extLst>
                  <a:ext uri="{FF2B5EF4-FFF2-40B4-BE49-F238E27FC236}">
                    <a16:creationId xmlns:a16="http://schemas.microsoft.com/office/drawing/2014/main" id="{27FE1A8A-0DF6-5A4B-91EB-F6DF4C88EE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92" y="3600"/>
                <a:ext cx="1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09" name="Rectangle 29">
                <a:extLst>
                  <a:ext uri="{FF2B5EF4-FFF2-40B4-BE49-F238E27FC236}">
                    <a16:creationId xmlns:a16="http://schemas.microsoft.com/office/drawing/2014/main" id="{EA02553F-3AC8-884B-84C8-09CDD603A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7" y="3635"/>
                <a:ext cx="17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152610" name="Line 30">
                <a:extLst>
                  <a:ext uri="{FF2B5EF4-FFF2-40B4-BE49-F238E27FC236}">
                    <a16:creationId xmlns:a16="http://schemas.microsoft.com/office/drawing/2014/main" id="{86B2484C-5F65-0A4D-84F3-3A29204AD9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28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11" name="Rectangle 31">
                <a:extLst>
                  <a:ext uri="{FF2B5EF4-FFF2-40B4-BE49-F238E27FC236}">
                    <a16:creationId xmlns:a16="http://schemas.microsoft.com/office/drawing/2014/main" id="{8612136E-5E5C-514F-96FD-3C5DF88D40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5" y="2828"/>
                <a:ext cx="33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1</a:t>
                </a:r>
              </a:p>
            </p:txBody>
          </p:sp>
          <p:sp>
            <p:nvSpPr>
              <p:cNvPr id="152612" name="Line 32">
                <a:extLst>
                  <a:ext uri="{FF2B5EF4-FFF2-40B4-BE49-F238E27FC236}">
                    <a16:creationId xmlns:a16="http://schemas.microsoft.com/office/drawing/2014/main" id="{1733657D-2252-AB42-97F8-2D69DF9308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8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13" name="Rectangle 33">
                <a:extLst>
                  <a:ext uri="{FF2B5EF4-FFF2-40B4-BE49-F238E27FC236}">
                    <a16:creationId xmlns:a16="http://schemas.microsoft.com/office/drawing/2014/main" id="{49DCF850-A5C2-004F-8FA4-49F195EEE3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2828"/>
                <a:ext cx="4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31</a:t>
                </a:r>
              </a:p>
            </p:txBody>
          </p:sp>
          <p:sp>
            <p:nvSpPr>
              <p:cNvPr id="152614" name="Line 34">
                <a:extLst>
                  <a:ext uri="{FF2B5EF4-FFF2-40B4-BE49-F238E27FC236}">
                    <a16:creationId xmlns:a16="http://schemas.microsoft.com/office/drawing/2014/main" id="{96190D08-37BC-FB42-A3AD-F97CF0806E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2840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15" name="Rectangle 35">
                <a:extLst>
                  <a:ext uri="{FF2B5EF4-FFF2-40B4-BE49-F238E27FC236}">
                    <a16:creationId xmlns:a16="http://schemas.microsoft.com/office/drawing/2014/main" id="{FC401D5B-A039-164F-B304-4F14B5178C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365" y="2781"/>
                <a:ext cx="16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152616" name="Rectangle 36">
                <a:extLst>
                  <a:ext uri="{FF2B5EF4-FFF2-40B4-BE49-F238E27FC236}">
                    <a16:creationId xmlns:a16="http://schemas.microsoft.com/office/drawing/2014/main" id="{462BF6A4-890C-8C4C-8A40-BB4A26775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5" y="3020"/>
                <a:ext cx="410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</a:t>
                </a:r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32</a:t>
                </a:r>
              </a:p>
            </p:txBody>
          </p:sp>
          <p:sp>
            <p:nvSpPr>
              <p:cNvPr id="152617" name="Line 37">
                <a:extLst>
                  <a:ext uri="{FF2B5EF4-FFF2-40B4-BE49-F238E27FC236}">
                    <a16:creationId xmlns:a16="http://schemas.microsoft.com/office/drawing/2014/main" id="{E8F33F00-AB68-CB47-BD4F-F0B1BE16A8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88" y="3032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18" name="Rectangle 38">
                <a:extLst>
                  <a:ext uri="{FF2B5EF4-FFF2-40B4-BE49-F238E27FC236}">
                    <a16:creationId xmlns:a16="http://schemas.microsoft.com/office/drawing/2014/main" id="{1D38B843-3FF7-2544-972B-9F47429993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5" y="3020"/>
                <a:ext cx="37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B33</a:t>
                </a:r>
              </a:p>
            </p:txBody>
          </p:sp>
          <p:sp>
            <p:nvSpPr>
              <p:cNvPr id="152619" name="Line 39">
                <a:extLst>
                  <a:ext uri="{FF2B5EF4-FFF2-40B4-BE49-F238E27FC236}">
                    <a16:creationId xmlns:a16="http://schemas.microsoft.com/office/drawing/2014/main" id="{0C3FD89F-B198-5549-8821-B8708FD46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3032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20" name="Rectangle 40">
                <a:extLst>
                  <a:ext uri="{FF2B5EF4-FFF2-40B4-BE49-F238E27FC236}">
                    <a16:creationId xmlns:a16="http://schemas.microsoft.com/office/drawing/2014/main" id="{ED1DE511-CB9E-D54D-8C3F-5093EAE4CB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79" y="3020"/>
                <a:ext cx="41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 63</a:t>
                </a:r>
              </a:p>
            </p:txBody>
          </p:sp>
          <p:sp>
            <p:nvSpPr>
              <p:cNvPr id="152621" name="Line 41">
                <a:extLst>
                  <a:ext uri="{FF2B5EF4-FFF2-40B4-BE49-F238E27FC236}">
                    <a16:creationId xmlns:a16="http://schemas.microsoft.com/office/drawing/2014/main" id="{8A455331-51EB-D84C-8315-CDA9DEF4C0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72" y="3032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22" name="Rectangle 42">
                <a:extLst>
                  <a:ext uri="{FF2B5EF4-FFF2-40B4-BE49-F238E27FC236}">
                    <a16:creationId xmlns:a16="http://schemas.microsoft.com/office/drawing/2014/main" id="{49F84C94-13D6-9344-903D-F2DE3DE03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4364" y="2973"/>
                <a:ext cx="16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  <p:sp>
            <p:nvSpPr>
              <p:cNvPr id="152623" name="Rectangle 43">
                <a:extLst>
                  <a:ext uri="{FF2B5EF4-FFF2-40B4-BE49-F238E27FC236}">
                    <a16:creationId xmlns:a16="http://schemas.microsoft.com/office/drawing/2014/main" id="{A40AE288-7E2B-2447-BA43-9CC43A364A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7" y="2636"/>
                <a:ext cx="874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Cache Tag</a:t>
                </a:r>
              </a:p>
            </p:txBody>
          </p:sp>
          <p:sp>
            <p:nvSpPr>
              <p:cNvPr id="152624" name="Line 44">
                <a:extLst>
                  <a:ext uri="{FF2B5EF4-FFF2-40B4-BE49-F238E27FC236}">
                    <a16:creationId xmlns:a16="http://schemas.microsoft.com/office/drawing/2014/main" id="{1A6F69C8-5E91-C14E-8E38-38147368C1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68" y="2224"/>
                <a:ext cx="0" cy="1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25" name="Rectangle 45">
                <a:extLst>
                  <a:ext uri="{FF2B5EF4-FFF2-40B4-BE49-F238E27FC236}">
                    <a16:creationId xmlns:a16="http://schemas.microsoft.com/office/drawing/2014/main" id="{7C8DCFC8-335C-B94C-9644-2AE204308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3" y="2212"/>
                <a:ext cx="882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Byte</a:t>
                </a:r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r>
                  <a:rPr kumimoji="1" lang="en-US" altLang="zh-CN" sz="1800" b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Select</a:t>
                </a:r>
              </a:p>
            </p:txBody>
          </p:sp>
          <p:sp>
            <p:nvSpPr>
              <p:cNvPr id="152626" name="Rectangle 46">
                <a:extLst>
                  <a:ext uri="{FF2B5EF4-FFF2-40B4-BE49-F238E27FC236}">
                    <a16:creationId xmlns:a16="http://schemas.microsoft.com/office/drawing/2014/main" id="{D4207556-2ADE-5F41-A24B-EC68456F8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" y="2404"/>
                <a:ext cx="763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solidFill>
                      <a:srgbClr val="CC0000"/>
                    </a:solidFill>
                    <a:ea typeface="宋体" panose="02010600030101010101" pitchFamily="2" charset="-122"/>
                  </a:rPr>
                  <a:t>Ex: 0x01</a:t>
                </a:r>
              </a:p>
            </p:txBody>
          </p:sp>
          <p:sp>
            <p:nvSpPr>
              <p:cNvPr id="152627" name="Oval 47">
                <a:extLst>
                  <a:ext uri="{FF2B5EF4-FFF2-40B4-BE49-F238E27FC236}">
                    <a16:creationId xmlns:a16="http://schemas.microsoft.com/office/drawing/2014/main" id="{E5DC7E4D-E35D-BB46-9EE0-9B33955F13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2840"/>
                <a:ext cx="176" cy="1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28" name="Rectangle 48">
                <a:extLst>
                  <a:ext uri="{FF2B5EF4-FFF2-40B4-BE49-F238E27FC236}">
                    <a16:creationId xmlns:a16="http://schemas.microsoft.com/office/drawing/2014/main" id="{B18264AF-9EB5-1A4F-B17C-D101E26AB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4" y="2829"/>
                <a:ext cx="20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152629" name="Line 49">
                <a:extLst>
                  <a:ext uri="{FF2B5EF4-FFF2-40B4-BE49-F238E27FC236}">
                    <a16:creationId xmlns:a16="http://schemas.microsoft.com/office/drawing/2014/main" id="{3227526B-9291-194C-B605-B46E64815E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2928"/>
                <a:ext cx="2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0" name="Oval 50">
                <a:extLst>
                  <a:ext uri="{FF2B5EF4-FFF2-40B4-BE49-F238E27FC236}">
                    <a16:creationId xmlns:a16="http://schemas.microsoft.com/office/drawing/2014/main" id="{D470744C-E401-1244-BB7E-0F41B3BE9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6" y="3224"/>
                <a:ext cx="176" cy="1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31" name="Rectangle 51">
                <a:extLst>
                  <a:ext uri="{FF2B5EF4-FFF2-40B4-BE49-F238E27FC236}">
                    <a16:creationId xmlns:a16="http://schemas.microsoft.com/office/drawing/2014/main" id="{2F1CD0BB-C3F2-504A-B9D9-E1353DB0B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7" y="3212"/>
                <a:ext cx="20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152632" name="Line 52">
                <a:extLst>
                  <a:ext uri="{FF2B5EF4-FFF2-40B4-BE49-F238E27FC236}">
                    <a16:creationId xmlns:a16="http://schemas.microsoft.com/office/drawing/2014/main" id="{9556AD54-B184-F545-9A7F-C787C7789C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432" y="3312"/>
                <a:ext cx="25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3" name="Oval 53">
                <a:extLst>
                  <a:ext uri="{FF2B5EF4-FFF2-40B4-BE49-F238E27FC236}">
                    <a16:creationId xmlns:a16="http://schemas.microsoft.com/office/drawing/2014/main" id="{E3B4DF41-A638-D740-A814-008453DCD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3032"/>
                <a:ext cx="176" cy="1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34" name="Rectangle 54">
                <a:extLst>
                  <a:ext uri="{FF2B5EF4-FFF2-40B4-BE49-F238E27FC236}">
                    <a16:creationId xmlns:a16="http://schemas.microsoft.com/office/drawing/2014/main" id="{8E0A6C58-C577-9D4E-88C1-DF57059B7A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3020"/>
                <a:ext cx="20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152635" name="Line 55">
                <a:extLst>
                  <a:ext uri="{FF2B5EF4-FFF2-40B4-BE49-F238E27FC236}">
                    <a16:creationId xmlns:a16="http://schemas.microsoft.com/office/drawing/2014/main" id="{F1FDE9CF-D010-4946-A459-7B755801AE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2" y="3120"/>
                <a:ext cx="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6" name="Oval 56">
                <a:extLst>
                  <a:ext uri="{FF2B5EF4-FFF2-40B4-BE49-F238E27FC236}">
                    <a16:creationId xmlns:a16="http://schemas.microsoft.com/office/drawing/2014/main" id="{4418335D-E670-814B-B520-7CDCF1074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3416"/>
                <a:ext cx="176" cy="1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37" name="Line 57">
                <a:extLst>
                  <a:ext uri="{FF2B5EF4-FFF2-40B4-BE49-F238E27FC236}">
                    <a16:creationId xmlns:a16="http://schemas.microsoft.com/office/drawing/2014/main" id="{0621BF1A-806C-C84A-A717-069FE002B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2" y="3504"/>
                <a:ext cx="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38" name="Rectangle 58">
                <a:extLst>
                  <a:ext uri="{FF2B5EF4-FFF2-40B4-BE49-F238E27FC236}">
                    <a16:creationId xmlns:a16="http://schemas.microsoft.com/office/drawing/2014/main" id="{4161CC1D-1BED-6844-8248-1BE75D6A7D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3404"/>
                <a:ext cx="20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152639" name="Line 59">
                <a:extLst>
                  <a:ext uri="{FF2B5EF4-FFF2-40B4-BE49-F238E27FC236}">
                    <a16:creationId xmlns:a16="http://schemas.microsoft.com/office/drawing/2014/main" id="{A1D52D2F-AA05-0A44-B0BA-349302E252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404"/>
                <a:ext cx="0" cy="1476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0" name="Line 60">
                <a:extLst>
                  <a:ext uri="{FF2B5EF4-FFF2-40B4-BE49-F238E27FC236}">
                    <a16:creationId xmlns:a16="http://schemas.microsoft.com/office/drawing/2014/main" id="{EF269213-D559-0C49-857F-17D7452FA7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3504"/>
                <a:ext cx="3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1" name="Line 61">
                <a:extLst>
                  <a:ext uri="{FF2B5EF4-FFF2-40B4-BE49-F238E27FC236}">
                    <a16:creationId xmlns:a16="http://schemas.microsoft.com/office/drawing/2014/main" id="{65CCE523-4AEF-BC4C-AF10-091C8D8737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3120"/>
                <a:ext cx="3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2" name="Line 62">
                <a:extLst>
                  <a:ext uri="{FF2B5EF4-FFF2-40B4-BE49-F238E27FC236}">
                    <a16:creationId xmlns:a16="http://schemas.microsoft.com/office/drawing/2014/main" id="{23EB41CB-7DE8-1B40-97E1-28333ABC0DD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3312"/>
                <a:ext cx="5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3" name="Line 63">
                <a:extLst>
                  <a:ext uri="{FF2B5EF4-FFF2-40B4-BE49-F238E27FC236}">
                    <a16:creationId xmlns:a16="http://schemas.microsoft.com/office/drawing/2014/main" id="{B812B80A-AFBD-8544-BF67-93ACAFE2F6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2928"/>
                <a:ext cx="56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4" name="Oval 64">
                <a:extLst>
                  <a:ext uri="{FF2B5EF4-FFF2-40B4-BE49-F238E27FC236}">
                    <a16:creationId xmlns:a16="http://schemas.microsoft.com/office/drawing/2014/main" id="{6F1D6F24-D907-9645-8AA1-F6785205B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6" y="3800"/>
                <a:ext cx="176" cy="176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52645" name="Line 65">
                <a:extLst>
                  <a:ext uri="{FF2B5EF4-FFF2-40B4-BE49-F238E27FC236}">
                    <a16:creationId xmlns:a16="http://schemas.microsoft.com/office/drawing/2014/main" id="{EA29FA62-6544-3043-89FA-54E9E76CF6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92" y="3888"/>
                <a:ext cx="496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6" name="Rectangle 66">
                <a:extLst>
                  <a:ext uri="{FF2B5EF4-FFF2-40B4-BE49-F238E27FC236}">
                    <a16:creationId xmlns:a16="http://schemas.microsoft.com/office/drawing/2014/main" id="{80186536-A345-594E-9178-9D72D5716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3788"/>
                <a:ext cx="207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sz="2000" b="1">
                    <a:ea typeface="宋体" panose="02010600030101010101" pitchFamily="2" charset="-122"/>
                  </a:rPr>
                  <a:t>=</a:t>
                </a:r>
              </a:p>
            </p:txBody>
          </p:sp>
          <p:sp>
            <p:nvSpPr>
              <p:cNvPr id="152647" name="Line 67">
                <a:extLst>
                  <a:ext uri="{FF2B5EF4-FFF2-40B4-BE49-F238E27FC236}">
                    <a16:creationId xmlns:a16="http://schemas.microsoft.com/office/drawing/2014/main" id="{07ADB03C-0E68-5147-8092-1A9A89EFB2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0" y="3888"/>
                <a:ext cx="32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8" name="Line 68">
                <a:extLst>
                  <a:ext uri="{FF2B5EF4-FFF2-40B4-BE49-F238E27FC236}">
                    <a16:creationId xmlns:a16="http://schemas.microsoft.com/office/drawing/2014/main" id="{61C918FB-F01E-E946-916D-A905F532BA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48" y="2614"/>
                <a:ext cx="0" cy="21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2649" name="Rectangle 69">
                <a:extLst>
                  <a:ext uri="{FF2B5EF4-FFF2-40B4-BE49-F238E27FC236}">
                    <a16:creationId xmlns:a16="http://schemas.microsoft.com/office/drawing/2014/main" id="{2B07A07D-A65D-D541-A9C5-3A2BF0281C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3" y="3587"/>
                <a:ext cx="178" cy="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zh-CN" altLang="en-US" sz="2400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:</a:t>
                </a:r>
              </a:p>
            </p:txBody>
          </p:sp>
        </p:grpSp>
      </p:grpSp>
      <p:sp>
        <p:nvSpPr>
          <p:cNvPr id="152581" name="Text Box 72">
            <a:extLst>
              <a:ext uri="{FF2B5EF4-FFF2-40B4-BE49-F238E27FC236}">
                <a16:creationId xmlns:a16="http://schemas.microsoft.com/office/drawing/2014/main" id="{8D8DA201-1E52-9F4F-A652-C4DD3DD14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3878263"/>
            <a:ext cx="3195638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</a:rPr>
              <a:t>问题：需要多少个比较器？</a:t>
            </a:r>
          </a:p>
        </p:txBody>
      </p:sp>
      <p:sp>
        <p:nvSpPr>
          <p:cNvPr id="152582" name="Text Box 74">
            <a:extLst>
              <a:ext uri="{FF2B5EF4-FFF2-40B4-BE49-F238E27FC236}">
                <a16:creationId xmlns:a16="http://schemas.microsoft.com/office/drawing/2014/main" id="{BBA702C6-4324-DE46-934D-584A1CC8C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213" y="3878263"/>
            <a:ext cx="21145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0000FF"/>
                </a:solidFill>
                <a:ea typeface="黑体" panose="02010609060101010101" pitchFamily="49" charset="-122"/>
              </a:rPr>
              <a:t>每行一个比较器！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841058AE-9EF0-D443-8402-033EDACE79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3688" y="169863"/>
            <a:ext cx="8623300" cy="4905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组相联映射（</a:t>
            </a:r>
            <a:r>
              <a:rPr lang="en-US" altLang="zh-CN"/>
              <a:t>Set Associative）</a:t>
            </a:r>
          </a:p>
        </p:txBody>
      </p:sp>
      <p:sp>
        <p:nvSpPr>
          <p:cNvPr id="442371" name="Rectangle 3">
            <a:extLst>
              <a:ext uri="{FF2B5EF4-FFF2-40B4-BE49-F238E27FC236}">
                <a16:creationId xmlns:a16="http://schemas.microsoft.com/office/drawing/2014/main" id="{D59B519A-B0F1-BC4D-94A6-2C921636F61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44538" y="889000"/>
            <a:ext cx="7339012" cy="327660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组相联映射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结合直接映射和全相联映射的特点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所有行分组，把主存块映射到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固定组的任一行中。也即：组间模映射、组内全映射。映射关系为：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组号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主存块号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 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组数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举例：假定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划分为：8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字=8组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x2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x512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字/行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4=100 mod 8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(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主存第100块应映射到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的第4组的任意行中。)</a:t>
            </a:r>
          </a:p>
          <a:p>
            <a:pPr eaLnBrk="1" hangingPunct="1">
              <a:lnSpc>
                <a:spcPct val="110000"/>
              </a:lnSpc>
              <a:buFontTx/>
              <a:buNone/>
            </a:pPr>
            <a:r>
              <a:rPr lang="zh-CN" altLang="en-US" sz="140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zh-CN" altLang="en-US" sz="1400">
              <a:ea typeface="宋体" panose="02010600030101010101" pitchFamily="2" charset="-122"/>
            </a:endParaRPr>
          </a:p>
        </p:txBody>
      </p:sp>
      <p:sp>
        <p:nvSpPr>
          <p:cNvPr id="442372" name="Rectangle 4">
            <a:extLst>
              <a:ext uri="{FF2B5EF4-FFF2-40B4-BE49-F238E27FC236}">
                <a16:creationId xmlns:a16="http://schemas.microsoft.com/office/drawing/2014/main" id="{7158AD5C-B036-2848-94F9-6DE6D7FDE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4014788"/>
            <a:ext cx="8415337" cy="231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70000"/>
              </a:spcBef>
              <a:buClr>
                <a:schemeClr val="tx1"/>
              </a:buClr>
              <a:buSzPct val="80000"/>
              <a:buFont typeface="Wingdings" pitchFamily="2" charset="2"/>
              <a:buChar char="u"/>
            </a:pPr>
            <a:r>
              <a:rPr kumimoji="1" lang="zh-CN" altLang="en-US" sz="2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特点：</a:t>
            </a:r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结合直接映射和全相联映射的优点。当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组数为1时，变为全相联映射；当每组只有一个槽时，变为直接映射。</a:t>
            </a:r>
          </a:p>
          <a:p>
            <a:pPr lvl="1" eaLnBrk="1" hangingPunct="1">
              <a:lnSpc>
                <a:spcPct val="115000"/>
              </a:lnSpc>
              <a:spcBef>
                <a:spcPct val="30000"/>
              </a:spcBef>
              <a:buFontTx/>
              <a:buChar char="–"/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每组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行（称为2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路或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路组相联）较常用。通常每组4行以上很少用。在较大容量的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 Cahce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 Cahce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中使用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路以上。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2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2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2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2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2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2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626" name="Picture 3" descr="Cache组相联映象的组织示意图_修改">
            <a:extLst>
              <a:ext uri="{FF2B5EF4-FFF2-40B4-BE49-F238E27FC236}">
                <a16:creationId xmlns:a16="http://schemas.microsoft.com/office/drawing/2014/main" id="{D70B084B-795B-5D42-8C6D-349614476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263" y="414338"/>
            <a:ext cx="6119812" cy="580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3397" name="Text Box 5">
            <a:extLst>
              <a:ext uri="{FF2B5EF4-FFF2-40B4-BE49-F238E27FC236}">
                <a16:creationId xmlns:a16="http://schemas.microsoft.com/office/drawing/2014/main" id="{5CAAD345-CC3C-F842-95DC-B1907A214A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3249613"/>
            <a:ext cx="2116138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指出对应行取自哪个主存组群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指出对应地址位于哪个主存组群中</a:t>
            </a:r>
          </a:p>
        </p:txBody>
      </p:sp>
      <p:sp>
        <p:nvSpPr>
          <p:cNvPr id="443398" name="Line 6">
            <a:extLst>
              <a:ext uri="{FF2B5EF4-FFF2-40B4-BE49-F238E27FC236}">
                <a16:creationId xmlns:a16="http://schemas.microsoft.com/office/drawing/2014/main" id="{C8711BA5-913F-914E-A351-027A90D62A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32025" y="2573338"/>
            <a:ext cx="1260475" cy="720725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43399" name="Line 7">
            <a:extLst>
              <a:ext uri="{FF2B5EF4-FFF2-40B4-BE49-F238E27FC236}">
                <a16:creationId xmlns:a16="http://schemas.microsoft.com/office/drawing/2014/main" id="{E574A603-79E9-DA43-9944-A3754E896E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4238" y="4344988"/>
            <a:ext cx="1112837" cy="74930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43401" name="Text Box 9">
            <a:extLst>
              <a:ext uri="{FF2B5EF4-FFF2-40B4-BE49-F238E27FC236}">
                <a16:creationId xmlns:a16="http://schemas.microsoft.com/office/drawing/2014/main" id="{1BF8F70F-BD6F-0543-AC5E-C2BF59E45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129338"/>
            <a:ext cx="39925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将主存地址标记和对应</a:t>
            </a: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组中每个</a:t>
            </a: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标记进行比较！</a:t>
            </a:r>
          </a:p>
        </p:txBody>
      </p:sp>
      <p:sp>
        <p:nvSpPr>
          <p:cNvPr id="443403" name="Text Box 11">
            <a:extLst>
              <a:ext uri="{FF2B5EF4-FFF2-40B4-BE49-F238E27FC236}">
                <a16:creationId xmlns:a16="http://schemas.microsoft.com/office/drawing/2014/main" id="{7817564F-6EAB-E24D-9480-3933107D70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4754563"/>
            <a:ext cx="270351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例：如何对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0120CH</a:t>
            </a: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单元进行访问？</a:t>
            </a:r>
          </a:p>
        </p:txBody>
      </p:sp>
      <p:sp>
        <p:nvSpPr>
          <p:cNvPr id="443404" name="Text Box 12">
            <a:extLst>
              <a:ext uri="{FF2B5EF4-FFF2-40B4-BE49-F238E27FC236}">
                <a16:creationId xmlns:a16="http://schemas.microsoft.com/office/drawing/2014/main" id="{D236398A-39F8-1A4D-AE5D-6598DEC31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5364163"/>
            <a:ext cx="3133725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000" b="1">
                <a:solidFill>
                  <a:srgbClr val="FF0000"/>
                </a:solidFill>
                <a:ea typeface="黑体" panose="02010609060101010101" pitchFamily="49" charset="-122"/>
              </a:rPr>
              <a:t>0000 0001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</a:rPr>
              <a:t> 001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0 0000 1100B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是第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组群中的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001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块（即第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9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块）中第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个单元。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 </a:t>
            </a:r>
          </a:p>
          <a:p>
            <a:pPr eaLnBrk="1" hangingPunct="1"/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所以，映射到第一组中。</a:t>
            </a:r>
          </a:p>
        </p:txBody>
      </p:sp>
      <p:sp>
        <p:nvSpPr>
          <p:cNvPr id="443405" name="Rectangle 13">
            <a:extLst>
              <a:ext uri="{FF2B5EF4-FFF2-40B4-BE49-F238E27FC236}">
                <a16:creationId xmlns:a16="http://schemas.microsoft.com/office/drawing/2014/main" id="{D46F1C10-4181-8E4E-A01A-B25BDBAC8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2825" y="2754313"/>
            <a:ext cx="765175" cy="404812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43406" name="Line 14">
            <a:extLst>
              <a:ext uri="{FF2B5EF4-FFF2-40B4-BE49-F238E27FC236}">
                <a16:creationId xmlns:a16="http://schemas.microsoft.com/office/drawing/2014/main" id="{15BFAD45-AE90-E54A-B595-9BE8C297B9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76813" y="2619375"/>
            <a:ext cx="2386012" cy="3143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443407" name="Rectangle 15">
            <a:extLst>
              <a:ext uri="{FF2B5EF4-FFF2-40B4-BE49-F238E27FC236}">
                <a16:creationId xmlns:a16="http://schemas.microsoft.com/office/drawing/2014/main" id="{1AFF08E7-8952-3446-83B3-18676BA4A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2259013"/>
            <a:ext cx="671513" cy="360362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43408" name="Rectangle 16">
            <a:extLst>
              <a:ext uri="{FF2B5EF4-FFF2-40B4-BE49-F238E27FC236}">
                <a16:creationId xmlns:a16="http://schemas.microsoft.com/office/drawing/2014/main" id="{06FB58AF-A210-ED44-BFF3-04A6699B6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738" y="2619375"/>
            <a:ext cx="671512" cy="404813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4637" name="Rectangle 20">
            <a:extLst>
              <a:ext uri="{FF2B5EF4-FFF2-40B4-BE49-F238E27FC236}">
                <a16:creationId xmlns:a16="http://schemas.microsoft.com/office/drawing/2014/main" id="{AA86A943-20A2-284F-9E68-DA0FD7E0F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188913"/>
            <a:ext cx="2025650" cy="2863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假定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数据在主存和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间的传送单位为512字。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大小：2</a:t>
            </a:r>
            <a:r>
              <a:rPr kumimoji="1" lang="zh-CN" altLang="en-US" sz="2000" b="1" baseline="300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13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字=8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字=16行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 512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字/ 行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主存大小：2</a:t>
            </a:r>
            <a:r>
              <a:rPr kumimoji="1" lang="zh-CN" altLang="en-US" sz="2000" b="1" baseline="30000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20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字=1024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K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字=2048块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x 512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字/ 块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905423-AAA6-2C44-A5C7-A3D07E9D797C}"/>
              </a:ext>
            </a:extLst>
          </p:cNvPr>
          <p:cNvSpPr txBox="1"/>
          <p:nvPr/>
        </p:nvSpPr>
        <p:spPr>
          <a:xfrm>
            <a:off x="4032250" y="5229225"/>
            <a:ext cx="989013" cy="23018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500" b="1" dirty="0">
                <a:solidFill>
                  <a:srgbClr val="FF0000"/>
                </a:solidFill>
                <a:latin typeface="+mn-lt"/>
                <a:ea typeface="黑体" pitchFamily="49" charset="-122"/>
              </a:rPr>
              <a:t>Cache</a:t>
            </a:r>
            <a:r>
              <a:rPr kumimoji="1" lang="zh-CN" altLang="en-US" sz="1500" b="1" dirty="0">
                <a:solidFill>
                  <a:srgbClr val="FF0000"/>
                </a:solidFill>
                <a:latin typeface="+mn-lt"/>
                <a:ea typeface="黑体" pitchFamily="49" charset="-122"/>
              </a:rPr>
              <a:t>索引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33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3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33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3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3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43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4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43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43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43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43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01" grpId="0"/>
      <p:bldP spid="443403" grpId="0"/>
      <p:bldP spid="443404" grpId="0"/>
      <p:bldP spid="443405" grpId="0" animBg="1"/>
      <p:bldP spid="443407" grpId="0" animBg="1"/>
      <p:bldP spid="443408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>
            <a:extLst>
              <a:ext uri="{FF2B5EF4-FFF2-40B4-BE49-F238E27FC236}">
                <a16:creationId xmlns:a16="http://schemas.microsoft.com/office/drawing/2014/main" id="{2A276327-16DE-6145-8310-94EDF8A620F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A Two-way Set Associative Cache</a:t>
            </a:r>
            <a:endParaRPr lang="zh-CN" altLang="en-US"/>
          </a:p>
        </p:txBody>
      </p:sp>
      <p:sp>
        <p:nvSpPr>
          <p:cNvPr id="445443" name="Rectangle 3">
            <a:extLst>
              <a:ext uri="{FF2B5EF4-FFF2-40B4-BE49-F238E27FC236}">
                <a16:creationId xmlns:a16="http://schemas.microsoft.com/office/drawing/2014/main" id="{11AEE3ED-EFC4-994E-8E28-C35DAA3BF58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84163" y="768350"/>
            <a:ext cx="8402637" cy="2060575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N-way set associative</a:t>
            </a:r>
            <a:endParaRPr lang="zh-CN" altLang="en-US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个直接映射的行并行操作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Example: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Two-way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 associative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cache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 Index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选择其中的一个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行集合（共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行）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对这个集合中的两个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Tag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进行比较</a:t>
            </a:r>
          </a:p>
          <a:p>
            <a:pPr lvl="1" eaLnBrk="1" hangingPunct="1">
              <a:lnSpc>
                <a:spcPct val="110000"/>
              </a:lnSpc>
              <a:spcBef>
                <a:spcPct val="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根据比较结果确定信息在哪个行，或不在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</p:txBody>
      </p:sp>
      <p:sp>
        <p:nvSpPr>
          <p:cNvPr id="156676" name="Rectangle 38">
            <a:extLst>
              <a:ext uri="{FF2B5EF4-FFF2-40B4-BE49-F238E27FC236}">
                <a16:creationId xmlns:a16="http://schemas.microsoft.com/office/drawing/2014/main" id="{2BC496CA-6D39-844C-8050-5F86BF142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438" y="3079750"/>
            <a:ext cx="184467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rgbClr val="CC0000"/>
                </a:solidFill>
                <a:ea typeface="黑体" panose="02010609060101010101" pitchFamily="49" charset="-122"/>
              </a:rPr>
              <a:t>Cache Index</a:t>
            </a:r>
          </a:p>
        </p:txBody>
      </p:sp>
      <p:sp>
        <p:nvSpPr>
          <p:cNvPr id="156677" name="Rectangle 4">
            <a:extLst>
              <a:ext uri="{FF2B5EF4-FFF2-40B4-BE49-F238E27FC236}">
                <a16:creationId xmlns:a16="http://schemas.microsoft.com/office/drawing/2014/main" id="{FF9E8CA3-4EDD-B74B-9E1B-CC666D9BE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0" y="3673475"/>
            <a:ext cx="15748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678" name="Line 5">
            <a:extLst>
              <a:ext uri="{FF2B5EF4-FFF2-40B4-BE49-F238E27FC236}">
                <a16:creationId xmlns:a16="http://schemas.microsoft.com/office/drawing/2014/main" id="{429CAAF1-8216-304D-B03C-0EBE42BEB52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3975100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79" name="Line 6">
            <a:extLst>
              <a:ext uri="{FF2B5EF4-FFF2-40B4-BE49-F238E27FC236}">
                <a16:creationId xmlns:a16="http://schemas.microsoft.com/office/drawing/2014/main" id="{0D57FBD0-E1A7-DC4B-A719-A9442C724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3500" y="4606925"/>
            <a:ext cx="157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0" name="Rectangle 7">
            <a:extLst>
              <a:ext uri="{FF2B5EF4-FFF2-40B4-BE49-F238E27FC236}">
                <a16:creationId xmlns:a16="http://schemas.microsoft.com/office/drawing/2014/main" id="{0CD308AB-9745-1543-8A3B-A6D4A114E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8763" y="3338513"/>
            <a:ext cx="14128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Cache</a:t>
            </a:r>
            <a:r>
              <a:rPr lang="en-US" altLang="zh-CN" b="1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Data</a:t>
            </a:r>
          </a:p>
        </p:txBody>
      </p:sp>
      <p:sp>
        <p:nvSpPr>
          <p:cNvPr id="156681" name="Rectangle 8">
            <a:extLst>
              <a:ext uri="{FF2B5EF4-FFF2-40B4-BE49-F238E27FC236}">
                <a16:creationId xmlns:a16="http://schemas.microsoft.com/office/drawing/2014/main" id="{2D742188-2816-A84F-A79F-5BE9DED63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2563" y="3654425"/>
            <a:ext cx="993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Block 0</a:t>
            </a:r>
          </a:p>
        </p:txBody>
      </p:sp>
      <p:sp>
        <p:nvSpPr>
          <p:cNvPr id="156682" name="Rectangle 9">
            <a:extLst>
              <a:ext uri="{FF2B5EF4-FFF2-40B4-BE49-F238E27FC236}">
                <a16:creationId xmlns:a16="http://schemas.microsoft.com/office/drawing/2014/main" id="{736E3EF4-EEA8-C44C-9058-280E17196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00" y="3673475"/>
            <a:ext cx="17272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683" name="Line 10">
            <a:extLst>
              <a:ext uri="{FF2B5EF4-FFF2-40B4-BE49-F238E27FC236}">
                <a16:creationId xmlns:a16="http://schemas.microsoft.com/office/drawing/2014/main" id="{3F43578F-38B9-8F4E-9354-7EB756843E6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6913" y="3975100"/>
            <a:ext cx="173037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4" name="Line 11">
            <a:extLst>
              <a:ext uri="{FF2B5EF4-FFF2-40B4-BE49-F238E27FC236}">
                <a16:creationId xmlns:a16="http://schemas.microsoft.com/office/drawing/2014/main" id="{D82CF9D6-41CC-614E-BA0A-76F427F0928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675" y="4606925"/>
            <a:ext cx="17256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5" name="Rectangle 12">
            <a:extLst>
              <a:ext uri="{FF2B5EF4-FFF2-40B4-BE49-F238E27FC236}">
                <a16:creationId xmlns:a16="http://schemas.microsoft.com/office/drawing/2014/main" id="{98894BC5-A41A-7A43-99A5-9C1CFF7AC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500" y="3673475"/>
            <a:ext cx="2032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686" name="Line 13">
            <a:extLst>
              <a:ext uri="{FF2B5EF4-FFF2-40B4-BE49-F238E27FC236}">
                <a16:creationId xmlns:a16="http://schemas.microsoft.com/office/drawing/2014/main" id="{2EFAB477-DF66-E144-B1A0-0FDE05C9130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15913" y="3975100"/>
            <a:ext cx="1968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7" name="Line 14">
            <a:extLst>
              <a:ext uri="{FF2B5EF4-FFF2-40B4-BE49-F238E27FC236}">
                <a16:creationId xmlns:a16="http://schemas.microsoft.com/office/drawing/2014/main" id="{EFD77C12-5679-5F46-B576-379A62E1704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5438" y="4606925"/>
            <a:ext cx="192087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88" name="Rectangle 15">
            <a:extLst>
              <a:ext uri="{FF2B5EF4-FFF2-40B4-BE49-F238E27FC236}">
                <a16:creationId xmlns:a16="http://schemas.microsoft.com/office/drawing/2014/main" id="{777202AA-FFBC-E54E-8E44-FD7AB146E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3338513"/>
            <a:ext cx="13366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Cache Tag</a:t>
            </a:r>
          </a:p>
        </p:txBody>
      </p:sp>
      <p:sp>
        <p:nvSpPr>
          <p:cNvPr id="156689" name="Rectangle 16">
            <a:extLst>
              <a:ext uri="{FF2B5EF4-FFF2-40B4-BE49-F238E27FC236}">
                <a16:creationId xmlns:a16="http://schemas.microsoft.com/office/drawing/2014/main" id="{0D603D8A-17C8-EE4A-9775-1EF3574F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63" y="3338513"/>
            <a:ext cx="7270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Valid</a:t>
            </a:r>
          </a:p>
        </p:txBody>
      </p:sp>
      <p:sp>
        <p:nvSpPr>
          <p:cNvPr id="156690" name="Rectangle 17">
            <a:extLst>
              <a:ext uri="{FF2B5EF4-FFF2-40B4-BE49-F238E27FC236}">
                <a16:creationId xmlns:a16="http://schemas.microsoft.com/office/drawing/2014/main" id="{39923C80-B242-BC4B-A11D-19AB723A1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7163" y="403383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691" name="Rectangle 18">
            <a:extLst>
              <a:ext uri="{FF2B5EF4-FFF2-40B4-BE49-F238E27FC236}">
                <a16:creationId xmlns:a16="http://schemas.microsoft.com/office/drawing/2014/main" id="{80AD8D24-82CB-AE40-A4A9-91781CC58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403383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692" name="Rectangle 19">
            <a:extLst>
              <a:ext uri="{FF2B5EF4-FFF2-40B4-BE49-F238E27FC236}">
                <a16:creationId xmlns:a16="http://schemas.microsoft.com/office/drawing/2014/main" id="{2ABA9DD1-3CDC-5749-A96D-E9768CB23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403383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693" name="Rectangle 20">
            <a:extLst>
              <a:ext uri="{FF2B5EF4-FFF2-40B4-BE49-F238E27FC236}">
                <a16:creationId xmlns:a16="http://schemas.microsoft.com/office/drawing/2014/main" id="{3766E37D-536D-4446-A9EB-74F92344E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825" y="3673475"/>
            <a:ext cx="15748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694" name="Line 21">
            <a:extLst>
              <a:ext uri="{FF2B5EF4-FFF2-40B4-BE49-F238E27FC236}">
                <a16:creationId xmlns:a16="http://schemas.microsoft.com/office/drawing/2014/main" id="{3860361B-888B-DD4C-B54B-C8BA2F6CB73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953000" y="3975100"/>
            <a:ext cx="1573213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5" name="Line 22">
            <a:extLst>
              <a:ext uri="{FF2B5EF4-FFF2-40B4-BE49-F238E27FC236}">
                <a16:creationId xmlns:a16="http://schemas.microsoft.com/office/drawing/2014/main" id="{023909F9-FAD3-4C46-A66C-B70149888E5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57763" y="4606925"/>
            <a:ext cx="1592262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696" name="Rectangle 23">
            <a:extLst>
              <a:ext uri="{FF2B5EF4-FFF2-40B4-BE49-F238E27FC236}">
                <a16:creationId xmlns:a16="http://schemas.microsoft.com/office/drawing/2014/main" id="{50272AB6-E972-774A-BB77-528F4663971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132388" y="3344863"/>
            <a:ext cx="14255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Cache Data</a:t>
            </a:r>
          </a:p>
        </p:txBody>
      </p:sp>
      <p:sp>
        <p:nvSpPr>
          <p:cNvPr id="156697" name="Rectangle 24">
            <a:extLst>
              <a:ext uri="{FF2B5EF4-FFF2-40B4-BE49-F238E27FC236}">
                <a16:creationId xmlns:a16="http://schemas.microsoft.com/office/drawing/2014/main" id="{4D577DFF-95B2-914D-99D8-A87E8B82310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976813" y="3660775"/>
            <a:ext cx="10572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 Block 0</a:t>
            </a:r>
          </a:p>
        </p:txBody>
      </p:sp>
      <p:sp>
        <p:nvSpPr>
          <p:cNvPr id="156698" name="Rectangle 25">
            <a:extLst>
              <a:ext uri="{FF2B5EF4-FFF2-40B4-BE49-F238E27FC236}">
                <a16:creationId xmlns:a16="http://schemas.microsoft.com/office/drawing/2014/main" id="{1A845349-10BC-6D46-9480-C95F2DF4D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2425" y="3673475"/>
            <a:ext cx="17272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699" name="Line 26">
            <a:extLst>
              <a:ext uri="{FF2B5EF4-FFF2-40B4-BE49-F238E27FC236}">
                <a16:creationId xmlns:a16="http://schemas.microsoft.com/office/drawing/2014/main" id="{A42C0E7C-7319-3A4D-9674-B81496F1E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2425" y="3975100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0" name="Line 27">
            <a:extLst>
              <a:ext uri="{FF2B5EF4-FFF2-40B4-BE49-F238E27FC236}">
                <a16:creationId xmlns:a16="http://schemas.microsoft.com/office/drawing/2014/main" id="{EE246216-5B3A-5C4D-967C-77ECCE50AF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2425" y="4606925"/>
            <a:ext cx="1727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1" name="Rectangle 28">
            <a:extLst>
              <a:ext uri="{FF2B5EF4-FFF2-40B4-BE49-F238E27FC236}">
                <a16:creationId xmlns:a16="http://schemas.microsoft.com/office/drawing/2014/main" id="{EA5034A0-DA91-CE4E-83E2-E4BFEE2403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07425" y="3673475"/>
            <a:ext cx="203200" cy="123507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56702" name="Line 29">
            <a:extLst>
              <a:ext uri="{FF2B5EF4-FFF2-40B4-BE49-F238E27FC236}">
                <a16:creationId xmlns:a16="http://schemas.microsoft.com/office/drawing/2014/main" id="{FECD978F-D29C-684E-A4D2-DCBB2CB3791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3975100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3" name="Line 30">
            <a:extLst>
              <a:ext uri="{FF2B5EF4-FFF2-40B4-BE49-F238E27FC236}">
                <a16:creationId xmlns:a16="http://schemas.microsoft.com/office/drawing/2014/main" id="{9C30BFF1-5333-3446-AF17-62049FC7A6A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07425" y="4606925"/>
            <a:ext cx="203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04" name="Rectangle 31">
            <a:extLst>
              <a:ext uri="{FF2B5EF4-FFF2-40B4-BE49-F238E27FC236}">
                <a16:creationId xmlns:a16="http://schemas.microsoft.com/office/drawing/2014/main" id="{8E1413DB-84A0-7D45-8A07-B385C11E808B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038975" y="3344863"/>
            <a:ext cx="13366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Cache Tag</a:t>
            </a:r>
          </a:p>
        </p:txBody>
      </p:sp>
      <p:sp>
        <p:nvSpPr>
          <p:cNvPr id="156705" name="Rectangle 32">
            <a:extLst>
              <a:ext uri="{FF2B5EF4-FFF2-40B4-BE49-F238E27FC236}">
                <a16:creationId xmlns:a16="http://schemas.microsoft.com/office/drawing/2014/main" id="{FB4061A1-91A2-D94A-B9FB-3BEFD2CBE7AD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413750" y="3344863"/>
            <a:ext cx="7270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Valid</a:t>
            </a:r>
          </a:p>
        </p:txBody>
      </p:sp>
      <p:sp>
        <p:nvSpPr>
          <p:cNvPr id="156706" name="Rectangle 33">
            <a:extLst>
              <a:ext uri="{FF2B5EF4-FFF2-40B4-BE49-F238E27FC236}">
                <a16:creationId xmlns:a16="http://schemas.microsoft.com/office/drawing/2014/main" id="{3F857A3D-25DB-2448-A5C3-68B25B86D26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7412038" y="404018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707" name="Rectangle 34">
            <a:extLst>
              <a:ext uri="{FF2B5EF4-FFF2-40B4-BE49-F238E27FC236}">
                <a16:creationId xmlns:a16="http://schemas.microsoft.com/office/drawing/2014/main" id="{BB4EE143-6B0D-A549-B3CD-C463DB0755C7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555038" y="404018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708" name="Rectangle 35">
            <a:extLst>
              <a:ext uri="{FF2B5EF4-FFF2-40B4-BE49-F238E27FC236}">
                <a16:creationId xmlns:a16="http://schemas.microsoft.com/office/drawing/2014/main" id="{E24CFE1D-E2BB-9943-B8EA-1B786DCF6D85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583238" y="4040188"/>
            <a:ext cx="282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156709" name="Line 40">
            <a:extLst>
              <a:ext uri="{FF2B5EF4-FFF2-40B4-BE49-F238E27FC236}">
                <a16:creationId xmlns:a16="http://schemas.microsoft.com/office/drawing/2014/main" id="{FAA41C9E-4245-E643-ACB0-5C4CE57B7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5394325"/>
            <a:ext cx="244475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0" name="Line 41">
            <a:extLst>
              <a:ext uri="{FF2B5EF4-FFF2-40B4-BE49-F238E27FC236}">
                <a16:creationId xmlns:a16="http://schemas.microsoft.com/office/drawing/2014/main" id="{67A75D2A-3BC6-F043-9349-4ECC9C278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5407025"/>
            <a:ext cx="209550" cy="3032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1" name="Line 42">
            <a:extLst>
              <a:ext uri="{FF2B5EF4-FFF2-40B4-BE49-F238E27FC236}">
                <a16:creationId xmlns:a16="http://schemas.microsoft.com/office/drawing/2014/main" id="{18C9FA49-D4F6-2C4B-BD63-2E124A7B4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68700" y="5710238"/>
            <a:ext cx="1981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2" name="Line 43">
            <a:extLst>
              <a:ext uri="{FF2B5EF4-FFF2-40B4-BE49-F238E27FC236}">
                <a16:creationId xmlns:a16="http://schemas.microsoft.com/office/drawing/2014/main" id="{2F3702BD-F75E-7143-9C19-95A018B5C2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45138" y="5387975"/>
            <a:ext cx="265112" cy="3238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3" name="Rectangle 44">
            <a:extLst>
              <a:ext uri="{FF2B5EF4-FFF2-40B4-BE49-F238E27FC236}">
                <a16:creationId xmlns:a16="http://schemas.microsoft.com/office/drawing/2014/main" id="{581AB222-27B0-D948-81DC-CE6C2E061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2763" y="5387975"/>
            <a:ext cx="6381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Mux</a:t>
            </a:r>
          </a:p>
        </p:txBody>
      </p:sp>
      <p:sp>
        <p:nvSpPr>
          <p:cNvPr id="156714" name="Rectangle 47">
            <a:extLst>
              <a:ext uri="{FF2B5EF4-FFF2-40B4-BE49-F238E27FC236}">
                <a16:creationId xmlns:a16="http://schemas.microsoft.com/office/drawing/2014/main" id="{F601EA92-9A54-B140-8598-027A03266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8563" y="5334000"/>
            <a:ext cx="3079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800" b="1"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56715" name="Rectangle 48">
            <a:extLst>
              <a:ext uri="{FF2B5EF4-FFF2-40B4-BE49-F238E27FC236}">
                <a16:creationId xmlns:a16="http://schemas.microsoft.com/office/drawing/2014/main" id="{2EB1EB60-065E-E643-B846-14856F52C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563" y="5334000"/>
            <a:ext cx="32226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000" b="1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56716" name="Arc 54">
            <a:extLst>
              <a:ext uri="{FF2B5EF4-FFF2-40B4-BE49-F238E27FC236}">
                <a16:creationId xmlns:a16="http://schemas.microsoft.com/office/drawing/2014/main" id="{310F3088-E496-E449-9DD9-6A250FB6B4B8}"/>
              </a:ext>
            </a:extLst>
          </p:cNvPr>
          <p:cNvSpPr>
            <a:spLocks/>
          </p:cNvSpPr>
          <p:nvPr/>
        </p:nvSpPr>
        <p:spPr bwMode="auto">
          <a:xfrm>
            <a:off x="2946400" y="5408613"/>
            <a:ext cx="304800" cy="223837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7" name="Arc 55">
            <a:extLst>
              <a:ext uri="{FF2B5EF4-FFF2-40B4-BE49-F238E27FC236}">
                <a16:creationId xmlns:a16="http://schemas.microsoft.com/office/drawing/2014/main" id="{F9095F07-EFA1-7F43-88DF-02A2096E397E}"/>
              </a:ext>
            </a:extLst>
          </p:cNvPr>
          <p:cNvSpPr>
            <a:spLocks/>
          </p:cNvSpPr>
          <p:nvPr/>
        </p:nvSpPr>
        <p:spPr bwMode="auto">
          <a:xfrm rot="10800000">
            <a:off x="2947988" y="5645150"/>
            <a:ext cx="304800" cy="223838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600"/>
                </a:moveTo>
                <a:cubicBezTo>
                  <a:pt x="0" y="9714"/>
                  <a:pt x="9602" y="61"/>
                  <a:pt x="21488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14"/>
                  <a:pt x="9602" y="61"/>
                  <a:pt x="21488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8" name="Line 56">
            <a:extLst>
              <a:ext uri="{FF2B5EF4-FFF2-40B4-BE49-F238E27FC236}">
                <a16:creationId xmlns:a16="http://schemas.microsoft.com/office/drawing/2014/main" id="{64C72822-212C-FF42-BA2C-60B5DB6823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0500" y="5414963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19" name="Line 57">
            <a:extLst>
              <a:ext uri="{FF2B5EF4-FFF2-40B4-BE49-F238E27FC236}">
                <a16:creationId xmlns:a16="http://schemas.microsoft.com/office/drawing/2014/main" id="{66E7F38E-FAF4-874F-89F3-03B8B546FD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5407025"/>
            <a:ext cx="0" cy="4476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0" name="Line 58">
            <a:extLst>
              <a:ext uri="{FF2B5EF4-FFF2-40B4-BE49-F238E27FC236}">
                <a16:creationId xmlns:a16="http://schemas.microsoft.com/office/drawing/2014/main" id="{AAF7197C-19B0-FB45-A466-D4FFE681EA3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30500" y="5867400"/>
            <a:ext cx="2159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1" name="Line 59">
            <a:extLst>
              <a:ext uri="{FF2B5EF4-FFF2-40B4-BE49-F238E27FC236}">
                <a16:creationId xmlns:a16="http://schemas.microsoft.com/office/drawing/2014/main" id="{A555F5B1-9D8A-224C-B674-4DB0E660CC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59138" y="5624513"/>
            <a:ext cx="252412" cy="15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2" name="Line 61">
            <a:extLst>
              <a:ext uri="{FF2B5EF4-FFF2-40B4-BE49-F238E27FC236}">
                <a16:creationId xmlns:a16="http://schemas.microsoft.com/office/drawing/2014/main" id="{E1990B4F-4CD9-2348-B5BB-5DA594722EC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01900" y="5788025"/>
            <a:ext cx="254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3" name="Rectangle 62">
            <a:extLst>
              <a:ext uri="{FF2B5EF4-FFF2-40B4-BE49-F238E27FC236}">
                <a16:creationId xmlns:a16="http://schemas.microsoft.com/office/drawing/2014/main" id="{70CBD3E6-7E1B-0145-AF0E-2A9F1089BF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308600"/>
            <a:ext cx="5683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56724" name="Arc 70">
            <a:extLst>
              <a:ext uri="{FF2B5EF4-FFF2-40B4-BE49-F238E27FC236}">
                <a16:creationId xmlns:a16="http://schemas.microsoft.com/office/drawing/2014/main" id="{E4C70596-A380-094D-A8C0-D12530980430}"/>
              </a:ext>
            </a:extLst>
          </p:cNvPr>
          <p:cNvSpPr>
            <a:spLocks/>
          </p:cNvSpPr>
          <p:nvPr/>
        </p:nvSpPr>
        <p:spPr bwMode="auto">
          <a:xfrm>
            <a:off x="5907088" y="5408613"/>
            <a:ext cx="304800" cy="223837"/>
          </a:xfrm>
          <a:custGeom>
            <a:avLst/>
            <a:gdLst>
              <a:gd name="T0" fmla="*/ 0 w 21600"/>
              <a:gd name="T1" fmla="*/ 2147483646 h 21600"/>
              <a:gd name="T2" fmla="*/ 2147483646 w 21600"/>
              <a:gd name="T3" fmla="*/ 0 h 21600"/>
              <a:gd name="T4" fmla="*/ 2147483646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0" y="21600"/>
                </a:moveTo>
                <a:cubicBezTo>
                  <a:pt x="0" y="9714"/>
                  <a:pt x="9602" y="61"/>
                  <a:pt x="21488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714"/>
                  <a:pt x="9602" y="61"/>
                  <a:pt x="21488" y="0"/>
                </a:cubicBez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5" name="Arc 71">
            <a:extLst>
              <a:ext uri="{FF2B5EF4-FFF2-40B4-BE49-F238E27FC236}">
                <a16:creationId xmlns:a16="http://schemas.microsoft.com/office/drawing/2014/main" id="{FEBF7F34-88FE-184F-845B-DF000F3ADD50}"/>
              </a:ext>
            </a:extLst>
          </p:cNvPr>
          <p:cNvSpPr>
            <a:spLocks/>
          </p:cNvSpPr>
          <p:nvPr/>
        </p:nvSpPr>
        <p:spPr bwMode="auto">
          <a:xfrm rot="10800000">
            <a:off x="5892800" y="5645150"/>
            <a:ext cx="304800" cy="223838"/>
          </a:xfrm>
          <a:custGeom>
            <a:avLst/>
            <a:gdLst>
              <a:gd name="T0" fmla="*/ 0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6" name="Line 72">
            <a:extLst>
              <a:ext uri="{FF2B5EF4-FFF2-40B4-BE49-F238E27FC236}">
                <a16:creationId xmlns:a16="http://schemas.microsoft.com/office/drawing/2014/main" id="{3B0DE691-03B7-A043-ADF5-651EF7818D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3000" y="5414963"/>
            <a:ext cx="1651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7" name="Line 73">
            <a:extLst>
              <a:ext uri="{FF2B5EF4-FFF2-40B4-BE49-F238E27FC236}">
                <a16:creationId xmlns:a16="http://schemas.microsoft.com/office/drawing/2014/main" id="{658A0ACE-53C8-6B40-8872-0A0A46F95C7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5407025"/>
            <a:ext cx="0" cy="4667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8" name="Line 74">
            <a:extLst>
              <a:ext uri="{FF2B5EF4-FFF2-40B4-BE49-F238E27FC236}">
                <a16:creationId xmlns:a16="http://schemas.microsoft.com/office/drawing/2014/main" id="{805E57BF-8704-6846-B2EF-E84740BF0BD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7600" y="5867400"/>
            <a:ext cx="1905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29" name="Line 75">
            <a:extLst>
              <a:ext uri="{FF2B5EF4-FFF2-40B4-BE49-F238E27FC236}">
                <a16:creationId xmlns:a16="http://schemas.microsoft.com/office/drawing/2014/main" id="{B8E6DE8E-FB53-FB4F-9A72-95F18462DCF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626100" y="5630863"/>
            <a:ext cx="279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6730" name="Rectangle 77">
            <a:extLst>
              <a:ext uri="{FF2B5EF4-FFF2-40B4-BE49-F238E27FC236}">
                <a16:creationId xmlns:a16="http://schemas.microsoft.com/office/drawing/2014/main" id="{A3135615-9198-F342-AA62-A95A5A765F70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792913" y="5316538"/>
            <a:ext cx="6953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sz="1800" b="1">
                <a:solidFill>
                  <a:srgbClr val="0000FF"/>
                </a:solidFill>
                <a:ea typeface="宋体" panose="02010600030101010101" pitchFamily="2" charset="-122"/>
              </a:rPr>
              <a:t>      </a:t>
            </a:r>
            <a:r>
              <a:rPr kumimoji="1" lang="en-US" altLang="zh-CN" sz="1800" b="1">
                <a:solidFill>
                  <a:srgbClr val="0000FF"/>
                </a:solidFill>
                <a:ea typeface="宋体" panose="02010600030101010101" pitchFamily="2" charset="-122"/>
              </a:rPr>
              <a:t>=</a:t>
            </a:r>
          </a:p>
        </p:txBody>
      </p:sp>
      <p:sp>
        <p:nvSpPr>
          <p:cNvPr id="156731" name="Oval 83">
            <a:extLst>
              <a:ext uri="{FF2B5EF4-FFF2-40B4-BE49-F238E27FC236}">
                <a16:creationId xmlns:a16="http://schemas.microsoft.com/office/drawing/2014/main" id="{E1085AC1-A205-9E4F-AAE3-50D5542C9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5802313"/>
            <a:ext cx="431800" cy="446087"/>
          </a:xfrm>
          <a:prstGeom prst="ellips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56732" name="Group 109">
            <a:extLst>
              <a:ext uri="{FF2B5EF4-FFF2-40B4-BE49-F238E27FC236}">
                <a16:creationId xmlns:a16="http://schemas.microsoft.com/office/drawing/2014/main" id="{476E7FFF-590D-C04A-BB45-E7B67FE81442}"/>
              </a:ext>
            </a:extLst>
          </p:cNvPr>
          <p:cNvGrpSpPr>
            <a:grpSpLocks/>
          </p:cNvGrpSpPr>
          <p:nvPr/>
        </p:nvGrpSpPr>
        <p:grpSpPr bwMode="auto">
          <a:xfrm>
            <a:off x="3357563" y="5629275"/>
            <a:ext cx="2370137" cy="995363"/>
            <a:chOff x="2115" y="3567"/>
            <a:chExt cx="1493" cy="606"/>
          </a:xfrm>
        </p:grpSpPr>
        <p:grpSp>
          <p:nvGrpSpPr>
            <p:cNvPr id="156772" name="Group 108">
              <a:extLst>
                <a:ext uri="{FF2B5EF4-FFF2-40B4-BE49-F238E27FC236}">
                  <a16:creationId xmlns:a16="http://schemas.microsoft.com/office/drawing/2014/main" id="{327ABFD5-CCA7-1F47-B0C0-0B255BE6A8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15" y="3567"/>
              <a:ext cx="1493" cy="344"/>
              <a:chOff x="2115" y="3567"/>
              <a:chExt cx="1493" cy="344"/>
            </a:xfrm>
          </p:grpSpPr>
          <p:sp>
            <p:nvSpPr>
              <p:cNvPr id="156776" name="Rectangle 84">
                <a:extLst>
                  <a:ext uri="{FF2B5EF4-FFF2-40B4-BE49-F238E27FC236}">
                    <a16:creationId xmlns:a16="http://schemas.microsoft.com/office/drawing/2014/main" id="{B20D4752-F18C-8842-9360-F7BD43FB2B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3" y="3708"/>
                <a:ext cx="306" cy="2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zh-CN" b="1">
                    <a:latin typeface="Times New Roman" panose="02020603050405020304" pitchFamily="18" charset="0"/>
                    <a:ea typeface="宋体" panose="02010600030101010101" pitchFamily="2" charset="-122"/>
                  </a:rPr>
                  <a:t>OR</a:t>
                </a:r>
              </a:p>
            </p:txBody>
          </p:sp>
          <p:sp>
            <p:nvSpPr>
              <p:cNvPr id="156777" name="Line 85">
                <a:extLst>
                  <a:ext uri="{FF2B5EF4-FFF2-40B4-BE49-F238E27FC236}">
                    <a16:creationId xmlns:a16="http://schemas.microsoft.com/office/drawing/2014/main" id="{082E1F3A-B6D2-BB4F-8D7D-C5E513B65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5" y="3567"/>
                <a:ext cx="1" cy="245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78" name="Line 86">
                <a:extLst>
                  <a:ext uri="{FF2B5EF4-FFF2-40B4-BE49-F238E27FC236}">
                    <a16:creationId xmlns:a16="http://schemas.microsoft.com/office/drawing/2014/main" id="{41F5B91D-A80C-9A46-8845-D83403A358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20" y="3802"/>
                <a:ext cx="140" cy="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79" name="Line 87">
                <a:extLst>
                  <a:ext uri="{FF2B5EF4-FFF2-40B4-BE49-F238E27FC236}">
                    <a16:creationId xmlns:a16="http://schemas.microsoft.com/office/drawing/2014/main" id="{8B599F2D-D9D9-0D4F-BBD8-992208B54E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0" y="3576"/>
                <a:ext cx="0" cy="224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80" name="Line 88">
                <a:extLst>
                  <a:ext uri="{FF2B5EF4-FFF2-40B4-BE49-F238E27FC236}">
                    <a16:creationId xmlns:a16="http://schemas.microsoft.com/office/drawing/2014/main" id="{AE972851-9E1E-7D4E-88B7-E4FAD305E7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39" y="3804"/>
                <a:ext cx="1069" cy="1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6773" name="Line 89">
              <a:extLst>
                <a:ext uri="{FF2B5EF4-FFF2-40B4-BE49-F238E27FC236}">
                  <a16:creationId xmlns:a16="http://schemas.microsoft.com/office/drawing/2014/main" id="{3FBA4C45-1343-C649-A220-A35707ADA9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0" y="3949"/>
              <a:ext cx="0" cy="22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4" name="Rectangle 90">
              <a:extLst>
                <a:ext uri="{FF2B5EF4-FFF2-40B4-BE49-F238E27FC236}">
                  <a16:creationId xmlns:a16="http://schemas.microsoft.com/office/drawing/2014/main" id="{47FFF2A6-ABC0-0445-AFEA-727BD6F1C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5" y="3934"/>
              <a:ext cx="306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1800" b="1">
                  <a:solidFill>
                    <a:srgbClr val="0000FF"/>
                  </a:solidFill>
                  <a:ea typeface="宋体" panose="02010600030101010101" pitchFamily="2" charset="-122"/>
                </a:rPr>
                <a:t>Hit</a:t>
              </a:r>
            </a:p>
          </p:txBody>
        </p:sp>
        <p:sp>
          <p:nvSpPr>
            <p:cNvPr id="156775" name="Rectangle 91">
              <a:extLst>
                <a:ext uri="{FF2B5EF4-FFF2-40B4-BE49-F238E27FC236}">
                  <a16:creationId xmlns:a16="http://schemas.microsoft.com/office/drawing/2014/main" id="{9A8CFEA4-0030-0240-A1FC-D7B495BC7E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3974"/>
              <a:ext cx="14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1800" b="1">
                  <a:ea typeface="宋体" panose="02010600030101010101" pitchFamily="2" charset="-122"/>
                </a:rPr>
                <a:t>④</a:t>
              </a:r>
            </a:p>
          </p:txBody>
        </p:sp>
      </p:grpSp>
      <p:grpSp>
        <p:nvGrpSpPr>
          <p:cNvPr id="156733" name="Group 95">
            <a:extLst>
              <a:ext uri="{FF2B5EF4-FFF2-40B4-BE49-F238E27FC236}">
                <a16:creationId xmlns:a16="http://schemas.microsoft.com/office/drawing/2014/main" id="{1A923FEE-8BA4-084A-809F-F7DE9FC17A96}"/>
              </a:ext>
            </a:extLst>
          </p:cNvPr>
          <p:cNvGrpSpPr>
            <a:grpSpLocks/>
          </p:cNvGrpSpPr>
          <p:nvPr/>
        </p:nvGrpSpPr>
        <p:grpSpPr bwMode="auto">
          <a:xfrm>
            <a:off x="241300" y="3429000"/>
            <a:ext cx="8661400" cy="1558925"/>
            <a:chOff x="152" y="2227"/>
            <a:chExt cx="5456" cy="949"/>
          </a:xfrm>
        </p:grpSpPr>
        <p:sp>
          <p:nvSpPr>
            <p:cNvPr id="156768" name="Line 36">
              <a:extLst>
                <a:ext uri="{FF2B5EF4-FFF2-40B4-BE49-F238E27FC236}">
                  <a16:creationId xmlns:a16="http://schemas.microsoft.com/office/drawing/2014/main" id="{2F91D518-A984-B94F-A403-BB44A67F0C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2227"/>
              <a:ext cx="0" cy="805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69" name="Line 37">
              <a:extLst>
                <a:ext uri="{FF2B5EF4-FFF2-40B4-BE49-F238E27FC236}">
                  <a16:creationId xmlns:a16="http://schemas.microsoft.com/office/drawing/2014/main" id="{60A5D849-2502-D743-94C7-D01B8B31D3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8" y="3040"/>
              <a:ext cx="464" cy="0"/>
            </a:xfrm>
            <a:prstGeom prst="line">
              <a:avLst/>
            </a:prstGeom>
            <a:noFill/>
            <a:ln w="254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6770" name="Rectangle 39">
              <a:extLst>
                <a:ext uri="{FF2B5EF4-FFF2-40B4-BE49-F238E27FC236}">
                  <a16:creationId xmlns:a16="http://schemas.microsoft.com/office/drawing/2014/main" id="{053F882B-B748-2844-94B9-4F0E6FCB2A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" y="2856"/>
              <a:ext cx="5456" cy="320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56771" name="Rectangle 92">
              <a:extLst>
                <a:ext uri="{FF2B5EF4-FFF2-40B4-BE49-F238E27FC236}">
                  <a16:creationId xmlns:a16="http://schemas.microsoft.com/office/drawing/2014/main" id="{8D57A37D-B838-464B-9981-F7C510E38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3" y="2544"/>
              <a:ext cx="14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CC0000"/>
                  </a:solidFill>
                  <a:ea typeface="宋体" panose="02010600030101010101" pitchFamily="2" charset="-122"/>
                </a:rPr>
                <a:t>①</a:t>
              </a:r>
              <a:endParaRPr lang="zh-CN" altLang="en-US" sz="1800" b="1">
                <a:solidFill>
                  <a:srgbClr val="CC0000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56734" name="Group 103">
            <a:extLst>
              <a:ext uri="{FF2B5EF4-FFF2-40B4-BE49-F238E27FC236}">
                <a16:creationId xmlns:a16="http://schemas.microsoft.com/office/drawing/2014/main" id="{D278AE62-74E3-9342-ACD7-C9CAF94B4D2A}"/>
              </a:ext>
            </a:extLst>
          </p:cNvPr>
          <p:cNvGrpSpPr>
            <a:grpSpLocks/>
          </p:cNvGrpSpPr>
          <p:nvPr/>
        </p:nvGrpSpPr>
        <p:grpSpPr bwMode="auto">
          <a:xfrm>
            <a:off x="531813" y="4776788"/>
            <a:ext cx="7989887" cy="947737"/>
            <a:chOff x="335" y="3048"/>
            <a:chExt cx="5033" cy="577"/>
          </a:xfrm>
        </p:grpSpPr>
        <p:sp>
          <p:nvSpPr>
            <p:cNvPr id="156758" name="Oval 53">
              <a:extLst>
                <a:ext uri="{FF2B5EF4-FFF2-40B4-BE49-F238E27FC236}">
                  <a16:creationId xmlns:a16="http://schemas.microsoft.com/office/drawing/2014/main" id="{F4C6DCB2-A585-024F-9EA3-AADC6882EF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2" y="3336"/>
              <a:ext cx="560" cy="272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56759" name="Oval 69">
              <a:extLst>
                <a:ext uri="{FF2B5EF4-FFF2-40B4-BE49-F238E27FC236}">
                  <a16:creationId xmlns:a16="http://schemas.microsoft.com/office/drawing/2014/main" id="{63E42BDA-40DE-C14A-9401-4F2F7DA8F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6" y="3332"/>
              <a:ext cx="618" cy="293"/>
            </a:xfrm>
            <a:prstGeom prst="ellips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grpSp>
          <p:nvGrpSpPr>
            <p:cNvPr id="156760" name="Group 98">
              <a:extLst>
                <a:ext uri="{FF2B5EF4-FFF2-40B4-BE49-F238E27FC236}">
                  <a16:creationId xmlns:a16="http://schemas.microsoft.com/office/drawing/2014/main" id="{25ACDBA3-FE99-6341-BBDD-A4E7B51DA1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" y="3048"/>
              <a:ext cx="5033" cy="449"/>
              <a:chOff x="335" y="3048"/>
              <a:chExt cx="5033" cy="449"/>
            </a:xfrm>
          </p:grpSpPr>
          <p:sp>
            <p:nvSpPr>
              <p:cNvPr id="156761" name="Line 66">
                <a:extLst>
                  <a:ext uri="{FF2B5EF4-FFF2-40B4-BE49-F238E27FC236}">
                    <a16:creationId xmlns:a16="http://schemas.microsoft.com/office/drawing/2014/main" id="{6F7ECFCE-D48D-144C-9619-71F224880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8" y="3048"/>
                <a:ext cx="4" cy="284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62" name="Line 67">
                <a:extLst>
                  <a:ext uri="{FF2B5EF4-FFF2-40B4-BE49-F238E27FC236}">
                    <a16:creationId xmlns:a16="http://schemas.microsoft.com/office/drawing/2014/main" id="{4A1F407E-13E2-6042-AC80-BB79894B51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6" y="3472"/>
                <a:ext cx="496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63" name="Rectangle 68">
                <a:extLst>
                  <a:ext uri="{FF2B5EF4-FFF2-40B4-BE49-F238E27FC236}">
                    <a16:creationId xmlns:a16="http://schemas.microsoft.com/office/drawing/2014/main" id="{81CE3A55-9375-FB4B-87B8-2E9406470C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5" y="3276"/>
                <a:ext cx="618" cy="22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AdrTag</a:t>
                </a:r>
              </a:p>
            </p:txBody>
          </p:sp>
          <p:sp>
            <p:nvSpPr>
              <p:cNvPr id="156764" name="Line 81">
                <a:extLst>
                  <a:ext uri="{FF2B5EF4-FFF2-40B4-BE49-F238E27FC236}">
                    <a16:creationId xmlns:a16="http://schemas.microsoft.com/office/drawing/2014/main" id="{72EE9348-AABC-E54A-983B-AF846274E5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4" y="3048"/>
                <a:ext cx="0" cy="2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65" name="Line 82">
                <a:extLst>
                  <a:ext uri="{FF2B5EF4-FFF2-40B4-BE49-F238E27FC236}">
                    <a16:creationId xmlns:a16="http://schemas.microsoft.com/office/drawing/2014/main" id="{9C99F9F7-3630-D745-BCAA-2274B89141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4" y="3472"/>
                <a:ext cx="464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66" name="Rectangle 93">
                <a:extLst>
                  <a:ext uri="{FF2B5EF4-FFF2-40B4-BE49-F238E27FC236}">
                    <a16:creationId xmlns:a16="http://schemas.microsoft.com/office/drawing/2014/main" id="{13598650-B9D5-F844-BE76-50B7F6CAB0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4" y="3136"/>
                <a:ext cx="145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②</a:t>
                </a:r>
                <a:endParaRPr kumimoji="1" lang="zh-CN" altLang="en-US" sz="1800" b="1">
                  <a:solidFill>
                    <a:srgbClr val="0000FF"/>
                  </a:solidFill>
                  <a:ea typeface="宋体" panose="02010600030101010101" pitchFamily="2" charset="-122"/>
                </a:endParaRPr>
              </a:p>
            </p:txBody>
          </p:sp>
          <p:sp>
            <p:nvSpPr>
              <p:cNvPr id="156767" name="Rectangle 97">
                <a:extLst>
                  <a:ext uri="{FF2B5EF4-FFF2-40B4-BE49-F238E27FC236}">
                    <a16:creationId xmlns:a16="http://schemas.microsoft.com/office/drawing/2014/main" id="{2D98FA78-45B6-4040-A982-168D191D3B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3133"/>
                <a:ext cx="145" cy="1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b="1">
                    <a:solidFill>
                      <a:srgbClr val="0000FF"/>
                    </a:solidFill>
                    <a:ea typeface="宋体" panose="02010600030101010101" pitchFamily="2" charset="-122"/>
                  </a:rPr>
                  <a:t>②</a:t>
                </a:r>
                <a:endParaRPr kumimoji="1" lang="zh-CN" altLang="en-US" sz="1800" b="1">
                  <a:solidFill>
                    <a:srgbClr val="0000FF"/>
                  </a:solidFill>
                  <a:ea typeface="宋体" panose="02010600030101010101" pitchFamily="2" charset="-122"/>
                </a:endParaRPr>
              </a:p>
            </p:txBody>
          </p:sp>
        </p:grpSp>
      </p:grpSp>
      <p:grpSp>
        <p:nvGrpSpPr>
          <p:cNvPr id="156735" name="Group 102">
            <a:extLst>
              <a:ext uri="{FF2B5EF4-FFF2-40B4-BE49-F238E27FC236}">
                <a16:creationId xmlns:a16="http://schemas.microsoft.com/office/drawing/2014/main" id="{BAC51E07-D078-1449-9DD6-B565A48DADE5}"/>
              </a:ext>
            </a:extLst>
          </p:cNvPr>
          <p:cNvGrpSpPr>
            <a:grpSpLocks/>
          </p:cNvGrpSpPr>
          <p:nvPr/>
        </p:nvGrpSpPr>
        <p:grpSpPr bwMode="auto">
          <a:xfrm>
            <a:off x="431800" y="4778375"/>
            <a:ext cx="8231188" cy="1350963"/>
            <a:chOff x="280" y="3048"/>
            <a:chExt cx="5185" cy="822"/>
          </a:xfrm>
        </p:grpSpPr>
        <p:grpSp>
          <p:nvGrpSpPr>
            <p:cNvPr id="156747" name="Group 99">
              <a:extLst>
                <a:ext uri="{FF2B5EF4-FFF2-40B4-BE49-F238E27FC236}">
                  <a16:creationId xmlns:a16="http://schemas.microsoft.com/office/drawing/2014/main" id="{DAC28A57-C440-754F-9412-BBFB29136F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0" y="3048"/>
              <a:ext cx="5185" cy="630"/>
              <a:chOff x="280" y="3048"/>
              <a:chExt cx="5185" cy="630"/>
            </a:xfrm>
          </p:grpSpPr>
          <p:sp>
            <p:nvSpPr>
              <p:cNvPr id="156750" name="Line 60">
                <a:extLst>
                  <a:ext uri="{FF2B5EF4-FFF2-40B4-BE49-F238E27FC236}">
                    <a16:creationId xmlns:a16="http://schemas.microsoft.com/office/drawing/2014/main" id="{912A0FAE-8A0C-F148-9AFC-C6200183FC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6" y="3472"/>
                <a:ext cx="160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1" name="Line 63">
                <a:extLst>
                  <a:ext uri="{FF2B5EF4-FFF2-40B4-BE49-F238E27FC236}">
                    <a16:creationId xmlns:a16="http://schemas.microsoft.com/office/drawing/2014/main" id="{332AFAB8-4653-0F48-9184-49113045A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8" y="3472"/>
                <a:ext cx="128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2" name="Line 64">
                <a:extLst>
                  <a:ext uri="{FF2B5EF4-FFF2-40B4-BE49-F238E27FC236}">
                    <a16:creationId xmlns:a16="http://schemas.microsoft.com/office/drawing/2014/main" id="{E6C3D406-1147-0B40-BAE7-6ED439A56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0" y="3664"/>
                <a:ext cx="1312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3" name="Line 65">
                <a:extLst>
                  <a:ext uri="{FF2B5EF4-FFF2-40B4-BE49-F238E27FC236}">
                    <a16:creationId xmlns:a16="http://schemas.microsoft.com/office/drawing/2014/main" id="{8A4D0CD9-2D3A-8F47-B33A-C152280E03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" y="3048"/>
                <a:ext cx="0" cy="608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4" name="Line 76">
                <a:extLst>
                  <a:ext uri="{FF2B5EF4-FFF2-40B4-BE49-F238E27FC236}">
                    <a16:creationId xmlns:a16="http://schemas.microsoft.com/office/drawing/2014/main" id="{65ABA3C5-E531-D344-9212-70EEBB3250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0" y="3472"/>
                <a:ext cx="128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5" name="Line 78">
                <a:extLst>
                  <a:ext uri="{FF2B5EF4-FFF2-40B4-BE49-F238E27FC236}">
                    <a16:creationId xmlns:a16="http://schemas.microsoft.com/office/drawing/2014/main" id="{4D8800C1-E66A-3C4E-ABFA-314EA3CD1B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68" y="3472"/>
                <a:ext cx="160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6" name="Line 79">
                <a:extLst>
                  <a:ext uri="{FF2B5EF4-FFF2-40B4-BE49-F238E27FC236}">
                    <a16:creationId xmlns:a16="http://schemas.microsoft.com/office/drawing/2014/main" id="{EB7D0B71-1FC4-494E-AE47-DF968826D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3664"/>
                <a:ext cx="1432" cy="0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57" name="Line 80">
                <a:extLst>
                  <a:ext uri="{FF2B5EF4-FFF2-40B4-BE49-F238E27FC236}">
                    <a16:creationId xmlns:a16="http://schemas.microsoft.com/office/drawing/2014/main" id="{2E0722FF-D45E-FC4C-AC94-EFC7EED403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5" y="3070"/>
                <a:ext cx="0" cy="608"/>
              </a:xfrm>
              <a:prstGeom prst="line">
                <a:avLst/>
              </a:prstGeom>
              <a:noFill/>
              <a:ln w="25400">
                <a:solidFill>
                  <a:srgbClr val="8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6748" name="Rectangle 100">
              <a:extLst>
                <a:ext uri="{FF2B5EF4-FFF2-40B4-BE49-F238E27FC236}">
                  <a16:creationId xmlns:a16="http://schemas.microsoft.com/office/drawing/2014/main" id="{768A7A44-CC24-5D49-9388-49AB28A21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1" y="3703"/>
              <a:ext cx="14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1800" b="1">
                  <a:solidFill>
                    <a:srgbClr val="800000"/>
                  </a:solidFill>
                  <a:ea typeface="宋体" panose="02010600030101010101" pitchFamily="2" charset="-122"/>
                </a:rPr>
                <a:t>③</a:t>
              </a:r>
              <a:endParaRPr lang="zh-CN" altLang="en-US" sz="1800" b="1">
                <a:solidFill>
                  <a:srgbClr val="800000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6749" name="Rectangle 101">
              <a:extLst>
                <a:ext uri="{FF2B5EF4-FFF2-40B4-BE49-F238E27FC236}">
                  <a16:creationId xmlns:a16="http://schemas.microsoft.com/office/drawing/2014/main" id="{28FBA333-896B-874B-97C0-AAC828DB0C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3703"/>
              <a:ext cx="145" cy="1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solidFill>
                    <a:srgbClr val="0000FF"/>
                  </a:solidFill>
                  <a:ea typeface="宋体" panose="02010600030101010101" pitchFamily="2" charset="-122"/>
                </a:rPr>
                <a:t>③</a:t>
              </a:r>
              <a:endParaRPr kumimoji="1" lang="zh-CN" altLang="en-US" sz="1800" b="1">
                <a:solidFill>
                  <a:srgbClr val="0000FF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156736" name="Group 112">
            <a:extLst>
              <a:ext uri="{FF2B5EF4-FFF2-40B4-BE49-F238E27FC236}">
                <a16:creationId xmlns:a16="http://schemas.microsoft.com/office/drawing/2014/main" id="{0B3283A2-7EB3-4744-A6B8-BF2DEB8618FF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4776788"/>
            <a:ext cx="2149475" cy="1725612"/>
            <a:chOff x="2496" y="3048"/>
            <a:chExt cx="1354" cy="1051"/>
          </a:xfrm>
        </p:grpSpPr>
        <p:sp>
          <p:nvSpPr>
            <p:cNvPr id="156737" name="Rectangle 52">
              <a:extLst>
                <a:ext uri="{FF2B5EF4-FFF2-40B4-BE49-F238E27FC236}">
                  <a16:creationId xmlns:a16="http://schemas.microsoft.com/office/drawing/2014/main" id="{72C94827-F030-AE4C-B5F7-6D3F8A737C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0" y="3878"/>
              <a:ext cx="970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kumimoji="1" lang="en-US" altLang="zh-CN" sz="1800" b="1">
                  <a:solidFill>
                    <a:srgbClr val="0000FF"/>
                  </a:solidFill>
                  <a:ea typeface="宋体" panose="02010600030101010101" pitchFamily="2" charset="-122"/>
                </a:rPr>
                <a:t>Cache</a:t>
              </a:r>
              <a:r>
                <a:rPr lang="en-US" altLang="zh-CN" b="1">
                  <a:solidFill>
                    <a:srgbClr val="CC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r>
                <a:rPr kumimoji="1" lang="en-US" altLang="zh-CN" sz="1800" b="1">
                  <a:solidFill>
                    <a:srgbClr val="0000FF"/>
                  </a:solidFill>
                  <a:ea typeface="宋体" panose="02010600030101010101" pitchFamily="2" charset="-122"/>
                </a:rPr>
                <a:t>Block</a:t>
              </a:r>
            </a:p>
          </p:txBody>
        </p:sp>
        <p:grpSp>
          <p:nvGrpSpPr>
            <p:cNvPr id="156738" name="Group 110">
              <a:extLst>
                <a:ext uri="{FF2B5EF4-FFF2-40B4-BE49-F238E27FC236}">
                  <a16:creationId xmlns:a16="http://schemas.microsoft.com/office/drawing/2014/main" id="{92593490-6238-8B4B-B7BB-43F04DFD78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3048"/>
              <a:ext cx="974" cy="1040"/>
              <a:chOff x="2496" y="3048"/>
              <a:chExt cx="974" cy="1040"/>
            </a:xfrm>
          </p:grpSpPr>
          <p:sp>
            <p:nvSpPr>
              <p:cNvPr id="156740" name="Line 45">
                <a:extLst>
                  <a:ext uri="{FF2B5EF4-FFF2-40B4-BE49-F238E27FC236}">
                    <a16:creationId xmlns:a16="http://schemas.microsoft.com/office/drawing/2014/main" id="{CE8AC85A-89F2-3141-9FE9-2346FFAB4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3048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6741" name="Line 46">
                <a:extLst>
                  <a:ext uri="{FF2B5EF4-FFF2-40B4-BE49-F238E27FC236}">
                    <a16:creationId xmlns:a16="http://schemas.microsoft.com/office/drawing/2014/main" id="{41D81CF8-FB54-ED4E-A5AE-117C6B88B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3048"/>
                <a:ext cx="0" cy="368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56742" name="Group 107">
                <a:extLst>
                  <a:ext uri="{FF2B5EF4-FFF2-40B4-BE49-F238E27FC236}">
                    <a16:creationId xmlns:a16="http://schemas.microsoft.com/office/drawing/2014/main" id="{4A609841-9780-6142-821D-F3A97BAE4B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92" y="3217"/>
                <a:ext cx="878" cy="871"/>
                <a:chOff x="2592" y="3217"/>
                <a:chExt cx="878" cy="871"/>
              </a:xfrm>
            </p:grpSpPr>
            <p:sp>
              <p:nvSpPr>
                <p:cNvPr id="156743" name="Line 51">
                  <a:extLst>
                    <a:ext uri="{FF2B5EF4-FFF2-40B4-BE49-F238E27FC236}">
                      <a16:creationId xmlns:a16="http://schemas.microsoft.com/office/drawing/2014/main" id="{39131966-CDA3-AD43-9037-C5ECB6DEE9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80" y="3624"/>
                  <a:ext cx="0" cy="464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round/>
                      <a:headEnd/>
                      <a:tailEnd type="triangle" w="med" len="med"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56744" name="Group 106">
                  <a:extLst>
                    <a:ext uri="{FF2B5EF4-FFF2-40B4-BE49-F238E27FC236}">
                      <a16:creationId xmlns:a16="http://schemas.microsoft.com/office/drawing/2014/main" id="{B154EC28-3844-6844-9219-660EAC7DF1E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92" y="3217"/>
                  <a:ext cx="878" cy="188"/>
                  <a:chOff x="2592" y="3217"/>
                  <a:chExt cx="878" cy="188"/>
                </a:xfrm>
              </p:grpSpPr>
              <p:sp>
                <p:nvSpPr>
                  <p:cNvPr id="156745" name="Rectangle 104">
                    <a:extLst>
                      <a:ext uri="{FF2B5EF4-FFF2-40B4-BE49-F238E27FC236}">
                        <a16:creationId xmlns:a16="http://schemas.microsoft.com/office/drawing/2014/main" id="{6E37BCA0-F528-C14F-970F-C3187824F9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592" y="3238"/>
                    <a:ext cx="145" cy="1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 anchor="ctr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kumimoji="1" lang="en-US" altLang="zh-CN" sz="1800" b="1">
                        <a:solidFill>
                          <a:srgbClr val="0000FF"/>
                        </a:solidFill>
                        <a:ea typeface="宋体" panose="02010600030101010101" pitchFamily="2" charset="-122"/>
                      </a:rPr>
                      <a:t>⑤</a:t>
                    </a:r>
                  </a:p>
                </p:txBody>
              </p:sp>
              <p:sp>
                <p:nvSpPr>
                  <p:cNvPr id="156746" name="Rectangle 105">
                    <a:extLst>
                      <a:ext uri="{FF2B5EF4-FFF2-40B4-BE49-F238E27FC236}">
                        <a16:creationId xmlns:a16="http://schemas.microsoft.com/office/drawing/2014/main" id="{2344D6D4-E02E-9D47-A12F-95ABDC62C6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325" y="3217"/>
                    <a:ext cx="145" cy="16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 anchor="ctr">
                    <a:spAutoFit/>
                  </a:bodyPr>
                  <a:lstStyle>
                    <a:lvl1pPr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16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r>
                      <a:rPr lang="en-US" altLang="zh-CN" sz="1800" b="1">
                        <a:solidFill>
                          <a:srgbClr val="006600"/>
                        </a:solidFill>
                        <a:ea typeface="宋体" panose="02010600030101010101" pitchFamily="2" charset="-122"/>
                      </a:rPr>
                      <a:t>⑤</a:t>
                    </a:r>
                  </a:p>
                </p:txBody>
              </p:sp>
            </p:grpSp>
          </p:grpSp>
        </p:grpSp>
        <p:sp>
          <p:nvSpPr>
            <p:cNvPr id="156739" name="Line 111">
              <a:extLst>
                <a:ext uri="{FF2B5EF4-FFF2-40B4-BE49-F238E27FC236}">
                  <a16:creationId xmlns:a16="http://schemas.microsoft.com/office/drawing/2014/main" id="{DAEFCA88-24F4-9944-A152-1B5723741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4" y="3618"/>
              <a:ext cx="0" cy="4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5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5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5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45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45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>
            <a:extLst>
              <a:ext uri="{FF2B5EF4-FFF2-40B4-BE49-F238E27FC236}">
                <a16:creationId xmlns:a16="http://schemas.microsoft.com/office/drawing/2014/main" id="{CB27F02B-FB36-794B-BDAF-909A1EE22E4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76388" y="169863"/>
            <a:ext cx="4498975" cy="473075"/>
          </a:xfrm>
          <a:noFill/>
        </p:spPr>
        <p:txBody>
          <a:bodyPr wrap="none"/>
          <a:lstStyle/>
          <a:p>
            <a:pPr eaLnBrk="1" hangingPunct="1"/>
            <a:r>
              <a:rPr lang="zh-CN" altLang="en-US" sz="3200"/>
              <a:t>命中率、缺失率、缺失损失</a:t>
            </a:r>
          </a:p>
        </p:txBody>
      </p:sp>
      <p:sp>
        <p:nvSpPr>
          <p:cNvPr id="415747" name="Rectangle 3">
            <a:extLst>
              <a:ext uri="{FF2B5EF4-FFF2-40B4-BE49-F238E27FC236}">
                <a16:creationId xmlns:a16="http://schemas.microsoft.com/office/drawing/2014/main" id="{20EC1D04-A378-B642-A508-A8BEBC18508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39725" y="1122363"/>
            <a:ext cx="8575675" cy="4491037"/>
          </a:xfrm>
          <a:noFill/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Hit: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要访问的信息在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 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Rate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命中率)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中的概率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Time 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命中时间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中的访问时间，包括：</a:t>
            </a:r>
            <a:endParaRPr lang="en-US" altLang="zh-CN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zh-CN" sz="22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Time to determine hit/miss + Cache access time </a:t>
            </a:r>
          </a:p>
          <a:p>
            <a:pPr lvl="2" eaLnBrk="1" hangingPunct="1">
              <a:lnSpc>
                <a:spcPct val="110000"/>
              </a:lnSpc>
              <a:spcBef>
                <a:spcPct val="25000"/>
              </a:spcBef>
              <a:buFontTx/>
              <a:buNone/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即： 判断时间 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+ 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访问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Miss: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要找的信息不在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Miss Rate 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缺失率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 = 1 - (Hit Rate)</a:t>
            </a:r>
          </a:p>
          <a:p>
            <a:pPr lvl="1"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Miss Penalty </a:t>
            </a:r>
            <a:r>
              <a:rPr lang="en-US" altLang="zh-CN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缺失损失)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：访问一个主存块所花时间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Hit Time &lt;&lt; Miss Penalty  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Why?</a:t>
            </a:r>
            <a:r>
              <a:rPr lang="zh-CN" altLang="en-US" sz="22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eaLnBrk="1" hangingPunct="1">
              <a:buFontTx/>
              <a:buNone/>
            </a:pPr>
            <a:endParaRPr lang="en-US" altLang="zh-CN" sz="22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7700" name="Text Box 26">
            <a:extLst>
              <a:ext uri="{FF2B5EF4-FFF2-40B4-BE49-F238E27FC236}">
                <a16:creationId xmlns:a16="http://schemas.microsoft.com/office/drawing/2014/main" id="{27E1932F-59BF-914B-9B12-7C1024BFDD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7245350"/>
            <a:ext cx="274637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5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5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5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15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15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15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15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746" name="Picture 2" descr="cache ratio">
            <a:extLst>
              <a:ext uri="{FF2B5EF4-FFF2-40B4-BE49-F238E27FC236}">
                <a16:creationId xmlns:a16="http://schemas.microsoft.com/office/drawing/2014/main" id="{D6450144-084E-FE4B-94DF-2EE6EE45B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36613"/>
            <a:ext cx="8640763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47" name="Rectangle 3">
            <a:extLst>
              <a:ext uri="{FF2B5EF4-FFF2-40B4-BE49-F238E27FC236}">
                <a16:creationId xmlns:a16="http://schemas.microsoft.com/office/drawing/2014/main" id="{2B608758-4BC7-A54E-ADEC-E4EDEE658C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98425"/>
            <a:ext cx="8640763" cy="533400"/>
          </a:xfrm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en-US" altLang="zh-CN"/>
              <a:t>Average access time(</a:t>
            </a:r>
            <a:r>
              <a:rPr lang="zh-CN" altLang="en-US"/>
              <a:t>平均访问时间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17796" name="Text Box 4">
            <a:extLst>
              <a:ext uri="{FF2B5EF4-FFF2-40B4-BE49-F238E27FC236}">
                <a16:creationId xmlns:a16="http://schemas.microsoft.com/office/drawing/2014/main" id="{1D075D55-29DB-6A46-9882-357FA1290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975" y="6173788"/>
            <a:ext cx="7281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200" b="1">
                <a:solidFill>
                  <a:srgbClr val="CC33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200" b="1">
                <a:solidFill>
                  <a:srgbClr val="CC33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对程序员来说是透明的，以方便编程！</a:t>
            </a:r>
          </a:p>
        </p:txBody>
      </p:sp>
      <p:sp>
        <p:nvSpPr>
          <p:cNvPr id="417797" name="Text Box 5">
            <a:extLst>
              <a:ext uri="{FF2B5EF4-FFF2-40B4-BE49-F238E27FC236}">
                <a16:creationId xmlns:a16="http://schemas.microsoft.com/office/drawing/2014/main" id="{3250FB2B-F7B3-D740-9D56-ABFBE5EC53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103688"/>
            <a:ext cx="55991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要提高平均访问速度，必须提高命中率！</a:t>
            </a:r>
          </a:p>
        </p:txBody>
      </p:sp>
      <p:sp>
        <p:nvSpPr>
          <p:cNvPr id="159750" name="Line 7">
            <a:extLst>
              <a:ext uri="{FF2B5EF4-FFF2-40B4-BE49-F238E27FC236}">
                <a16:creationId xmlns:a16="http://schemas.microsoft.com/office/drawing/2014/main" id="{745EF68F-CC8F-EF47-BFB5-70E4245B276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5724525"/>
            <a:ext cx="31591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59751" name="Line 8">
            <a:extLst>
              <a:ext uri="{FF2B5EF4-FFF2-40B4-BE49-F238E27FC236}">
                <a16:creationId xmlns:a16="http://schemas.microsoft.com/office/drawing/2014/main" id="{DFCF1BF1-BB72-F440-92A0-EAB8FCF7C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7563" y="5722938"/>
            <a:ext cx="944562" cy="15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17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77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6" grpId="0" build="allAtOnce"/>
      <p:bldP spid="41779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>
            <a:extLst>
              <a:ext uri="{FF2B5EF4-FFF2-40B4-BE49-F238E27FC236}">
                <a16:creationId xmlns:a16="http://schemas.microsoft.com/office/drawing/2014/main" id="{F741F623-FE86-3348-91F6-938378F02A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命中率到底应该有多大？</a:t>
            </a:r>
          </a:p>
        </p:txBody>
      </p:sp>
      <p:grpSp>
        <p:nvGrpSpPr>
          <p:cNvPr id="161795" name="Group 15">
            <a:extLst>
              <a:ext uri="{FF2B5EF4-FFF2-40B4-BE49-F238E27FC236}">
                <a16:creationId xmlns:a16="http://schemas.microsoft.com/office/drawing/2014/main" id="{66E717B0-D782-DD4E-BB91-4EDAA772C67D}"/>
              </a:ext>
            </a:extLst>
          </p:cNvPr>
          <p:cNvGrpSpPr>
            <a:grpSpLocks/>
          </p:cNvGrpSpPr>
          <p:nvPr/>
        </p:nvGrpSpPr>
        <p:grpSpPr bwMode="auto">
          <a:xfrm>
            <a:off x="206375" y="863600"/>
            <a:ext cx="8731250" cy="5580063"/>
            <a:chOff x="144" y="573"/>
            <a:chExt cx="5491" cy="2449"/>
          </a:xfrm>
        </p:grpSpPr>
        <p:pic>
          <p:nvPicPr>
            <p:cNvPr id="161798" name="Picture 16" descr="cache ratio2">
              <a:extLst>
                <a:ext uri="{FF2B5EF4-FFF2-40B4-BE49-F238E27FC236}">
                  <a16:creationId xmlns:a16="http://schemas.microsoft.com/office/drawing/2014/main" id="{571B954B-2913-E949-A3AA-7796B4A801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" y="573"/>
              <a:ext cx="5491" cy="24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1799" name="Line 17">
              <a:extLst>
                <a:ext uri="{FF2B5EF4-FFF2-40B4-BE49-F238E27FC236}">
                  <a16:creationId xmlns:a16="http://schemas.microsoft.com/office/drawing/2014/main" id="{6F3FFEE3-4780-C349-ADB0-6B2D7518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4" y="1395"/>
              <a:ext cx="51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1800" name="Line 18">
              <a:extLst>
                <a:ext uri="{FF2B5EF4-FFF2-40B4-BE49-F238E27FC236}">
                  <a16:creationId xmlns:a16="http://schemas.microsoft.com/office/drawing/2014/main" id="{3EB091D9-9BF9-8240-8474-FB0B2E1709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26" y="1706"/>
              <a:ext cx="6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  <p:sp>
          <p:nvSpPr>
            <p:cNvPr id="161801" name="Line 19">
              <a:extLst>
                <a:ext uri="{FF2B5EF4-FFF2-40B4-BE49-F238E27FC236}">
                  <a16:creationId xmlns:a16="http://schemas.microsoft.com/office/drawing/2014/main" id="{A5F704F4-6A2C-7E47-B28F-C800B01602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6" y="1877"/>
              <a:ext cx="28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tIns="0" rIns="0" bIns="0">
              <a:spAutoFit/>
            </a:bodyPr>
            <a:lstStyle/>
            <a:p>
              <a:endParaRPr lang="zh-CN" altLang="en-US"/>
            </a:p>
          </p:txBody>
        </p:sp>
      </p:grpSp>
      <p:pic>
        <p:nvPicPr>
          <p:cNvPr id="161796" name="图片 7">
            <a:extLst>
              <a:ext uri="{FF2B5EF4-FFF2-40B4-BE49-F238E27FC236}">
                <a16:creationId xmlns:a16="http://schemas.microsoft.com/office/drawing/2014/main" id="{8903457D-C511-D64D-8028-E4D08B5B0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4041775"/>
            <a:ext cx="4386263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D49200F1-715F-B548-9639-602FB3A9E2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2950" y="4071938"/>
            <a:ext cx="804863" cy="390525"/>
          </a:xfrm>
          <a:prstGeom prst="rect">
            <a:avLst/>
          </a:prstGeom>
          <a:noFill/>
          <a:ln>
            <a:noFill/>
          </a:ln>
          <a:effectLst/>
        </p:spPr>
        <p:txBody>
          <a:bodyPr lIns="63500" tIns="25400" rIns="63500" bIns="25400">
            <a:spAutoFit/>
          </a:bodyPr>
          <a:lstStyle>
            <a:lvl1pPr marL="203200" indent="-203200" algn="l" rtl="0" eaLnBrk="0" fontAlgn="base" hangingPunct="0">
              <a:spcBef>
                <a:spcPct val="35000"/>
              </a:spcBef>
              <a:spcAft>
                <a:spcPct val="0"/>
              </a:spcAft>
              <a:buSzPct val="100000"/>
              <a:buChar char="°"/>
              <a:defRPr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190500" algn="l" rtl="0" eaLnBrk="0" fontAlgn="base" hangingPunct="0">
              <a:spcBef>
                <a:spcPct val="35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chemeClr val="accent2"/>
                </a:solidFill>
                <a:latin typeface="+mn-lt"/>
              </a:defRPr>
            </a:lvl2pPr>
            <a:lvl3pPr marL="12573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SzPct val="100000"/>
              <a:buChar char="-"/>
              <a:defRPr b="1">
                <a:solidFill>
                  <a:srgbClr val="B7011F"/>
                </a:solidFill>
                <a:latin typeface="+mn-lt"/>
              </a:defRPr>
            </a:lvl3pPr>
            <a:lvl4pPr marL="1714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1717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628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30861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5433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40005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indent="0" eaLnBrk="1" hangingPunct="1">
              <a:lnSpc>
                <a:spcPct val="11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=&gt;</a:t>
            </a:r>
            <a:endParaRPr lang="zh-CN" altLang="en-US" sz="2000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>
            <a:extLst>
              <a:ext uri="{FF2B5EF4-FFF2-40B4-BE49-F238E27FC236}">
                <a16:creationId xmlns:a16="http://schemas.microsoft.com/office/drawing/2014/main" id="{1EA0F192-12F6-5646-96EF-F2B4E34FD1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看看命中率对平均访问时间的影响</a:t>
            </a:r>
          </a:p>
        </p:txBody>
      </p:sp>
      <p:sp>
        <p:nvSpPr>
          <p:cNvPr id="162819" name="Rectangle 4">
            <a:extLst>
              <a:ext uri="{FF2B5EF4-FFF2-40B4-BE49-F238E27FC236}">
                <a16:creationId xmlns:a16="http://schemas.microsoft.com/office/drawing/2014/main" id="{D4AA2283-D408-E240-9D53-C4B41A01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954088"/>
            <a:ext cx="8640762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65125" indent="-182563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zh-CN" altLang="en-US" sz="2400" b="1">
                <a:ea typeface="宋体" panose="02010600030101010101" pitchFamily="2" charset="-122"/>
              </a:rPr>
              <a:t> 设</a:t>
            </a:r>
            <a:r>
              <a:rPr kumimoji="1" lang="en-US" altLang="zh-CN" sz="2400" b="1">
                <a:ea typeface="黑体" panose="02010609060101010101" pitchFamily="49" charset="-122"/>
              </a:rPr>
              <a:t>H</a:t>
            </a:r>
            <a:r>
              <a:rPr kumimoji="1" lang="zh-CN" altLang="en-US" sz="2400" b="1">
                <a:ea typeface="黑体" panose="02010609060101010101" pitchFamily="49" charset="-122"/>
              </a:rPr>
              <a:t>是命中率，则平均访问时间</a:t>
            </a:r>
            <a:r>
              <a:rPr kumimoji="1" lang="en-US" altLang="zh-CN" sz="2400" b="1">
                <a:ea typeface="黑体" panose="02010609060101010101" pitchFamily="49" charset="-122"/>
              </a:rPr>
              <a:t>T</a:t>
            </a:r>
            <a:r>
              <a:rPr kumimoji="1" lang="zh-CN" altLang="en-US" sz="2400" b="1">
                <a:ea typeface="黑体" panose="02010609060101010101" pitchFamily="49" charset="-122"/>
              </a:rPr>
              <a:t> </a:t>
            </a:r>
            <a:r>
              <a:rPr kumimoji="1" lang="en-US" altLang="zh-CN" sz="2400" b="1">
                <a:ea typeface="黑体" panose="02010609060101010101" pitchFamily="49" charset="-122"/>
              </a:rPr>
              <a:t>= HT</a:t>
            </a:r>
            <a:r>
              <a:rPr kumimoji="1" lang="en-US" altLang="zh-CN" sz="2400" b="1" baseline="-25000">
                <a:ea typeface="黑体" panose="02010609060101010101" pitchFamily="49" charset="-122"/>
              </a:rPr>
              <a:t>C</a:t>
            </a:r>
            <a:r>
              <a:rPr kumimoji="1" lang="en-US" altLang="zh-CN" sz="2400" b="1">
                <a:ea typeface="黑体" panose="02010609060101010101" pitchFamily="49" charset="-122"/>
              </a:rPr>
              <a:t>+ (1 - H)(T</a:t>
            </a:r>
            <a:r>
              <a:rPr kumimoji="1" lang="en-US" altLang="zh-CN" sz="2400" b="1" baseline="-25000">
                <a:ea typeface="黑体" panose="02010609060101010101" pitchFamily="49" charset="-122"/>
              </a:rPr>
              <a:t>C</a:t>
            </a:r>
            <a:r>
              <a:rPr kumimoji="1" lang="en-US" altLang="zh-CN" sz="2400" b="1">
                <a:ea typeface="黑体" panose="02010609060101010101" pitchFamily="49" charset="-122"/>
              </a:rPr>
              <a:t>+ T</a:t>
            </a:r>
            <a:r>
              <a:rPr kumimoji="1" lang="en-US" altLang="zh-CN" sz="2400" b="1" baseline="-25000">
                <a:ea typeface="黑体" panose="02010609060101010101" pitchFamily="49" charset="-122"/>
              </a:rPr>
              <a:t>M</a:t>
            </a:r>
            <a:r>
              <a:rPr kumimoji="1" lang="en-US" altLang="zh-CN" sz="2400" b="1">
                <a:ea typeface="黑体" panose="02010609060101010101" pitchFamily="49" charset="-122"/>
              </a:rPr>
              <a:t>)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                                                       = T</a:t>
            </a:r>
            <a:r>
              <a:rPr kumimoji="1" lang="en-US" altLang="zh-CN" sz="24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C</a:t>
            </a: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+ (1 - H)T</a:t>
            </a:r>
            <a:r>
              <a:rPr kumimoji="1" lang="en-US" altLang="zh-CN" sz="2400" b="1" baseline="-25000">
                <a:solidFill>
                  <a:srgbClr val="000099"/>
                </a:solidFill>
                <a:ea typeface="黑体" panose="02010609060101010101" pitchFamily="49" charset="-122"/>
              </a:rPr>
              <a:t>M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endParaRPr kumimoji="1" lang="en-US" altLang="zh-CN" sz="24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zh-CN" altLang="en-US" sz="2400" b="1">
                <a:ea typeface="黑体" panose="02010609060101010101" pitchFamily="49" charset="-122"/>
              </a:rPr>
              <a:t>例</a:t>
            </a:r>
            <a:r>
              <a:rPr kumimoji="1" lang="en-US" altLang="zh-CN" sz="2400" b="1">
                <a:ea typeface="黑体" panose="02010609060101010101" pitchFamily="49" charset="-122"/>
              </a:rPr>
              <a:t>1. </a:t>
            </a:r>
            <a:r>
              <a:rPr kumimoji="1" lang="zh-CN" altLang="en-US" sz="2400" b="1">
                <a:ea typeface="黑体" panose="02010609060101010101" pitchFamily="49" charset="-122"/>
              </a:rPr>
              <a:t>若</a:t>
            </a:r>
            <a:r>
              <a:rPr kumimoji="1" lang="en-US" altLang="zh-CN" sz="2400" b="1">
                <a:ea typeface="黑体" panose="02010609060101010101" pitchFamily="49" charset="-122"/>
              </a:rPr>
              <a:t>H=0.85, Tc=1ns, T</a:t>
            </a:r>
            <a:r>
              <a:rPr kumimoji="1" lang="en-US" altLang="zh-CN" sz="2400" b="1" baseline="-25000">
                <a:ea typeface="黑体" panose="02010609060101010101" pitchFamily="49" charset="-122"/>
              </a:rPr>
              <a:t>M</a:t>
            </a:r>
            <a:r>
              <a:rPr kumimoji="1" lang="en-US" altLang="zh-CN" sz="2400" b="1">
                <a:ea typeface="黑体" panose="02010609060101010101" pitchFamily="49" charset="-122"/>
              </a:rPr>
              <a:t>=20ns</a:t>
            </a:r>
            <a:r>
              <a:rPr kumimoji="1" lang="zh-CN" altLang="en-US" sz="2400" b="1">
                <a:ea typeface="黑体" panose="02010609060101010101" pitchFamily="49" charset="-122"/>
              </a:rPr>
              <a:t>，则</a:t>
            </a:r>
            <a:r>
              <a:rPr kumimoji="1" lang="en-US" altLang="zh-CN" sz="2400" b="1">
                <a:ea typeface="黑体" panose="02010609060101010101" pitchFamily="49" charset="-122"/>
              </a:rPr>
              <a:t>T</a:t>
            </a:r>
            <a:r>
              <a:rPr kumimoji="1" lang="zh-CN" altLang="en-US" sz="2400" b="1">
                <a:ea typeface="黑体" panose="02010609060101010101" pitchFamily="49" charset="-122"/>
              </a:rPr>
              <a:t>为多少？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  答： </a:t>
            </a: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T = 4ns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  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zh-CN" altLang="en-US" sz="2400" b="1">
                <a:ea typeface="黑体" panose="02010609060101010101" pitchFamily="49" charset="-122"/>
              </a:rPr>
              <a:t>例</a:t>
            </a:r>
            <a:r>
              <a:rPr kumimoji="1" lang="en-US" altLang="zh-CN" sz="2400" b="1">
                <a:ea typeface="黑体" panose="02010609060101010101" pitchFamily="49" charset="-122"/>
              </a:rPr>
              <a:t>2. </a:t>
            </a:r>
            <a:r>
              <a:rPr kumimoji="1" lang="zh-CN" altLang="en-US" sz="2400" b="1">
                <a:ea typeface="黑体" panose="02010609060101010101" pitchFamily="49" charset="-122"/>
              </a:rPr>
              <a:t>若命中率</a:t>
            </a:r>
            <a:r>
              <a:rPr kumimoji="1" lang="en-US" altLang="zh-CN" sz="2400" b="1">
                <a:ea typeface="黑体" panose="02010609060101010101" pitchFamily="49" charset="-122"/>
              </a:rPr>
              <a:t>H</a:t>
            </a:r>
            <a:r>
              <a:rPr kumimoji="1" lang="zh-CN" altLang="en-US" sz="2400" b="1">
                <a:ea typeface="黑体" panose="02010609060101010101" pitchFamily="49" charset="-122"/>
              </a:rPr>
              <a:t>提高到</a:t>
            </a:r>
            <a:r>
              <a:rPr kumimoji="1" lang="en-US" altLang="zh-CN" sz="2400" b="1">
                <a:ea typeface="黑体" panose="02010609060101010101" pitchFamily="49" charset="-122"/>
              </a:rPr>
              <a:t>0.95</a:t>
            </a:r>
            <a:r>
              <a:rPr kumimoji="1" lang="zh-CN" altLang="en-US" sz="2400" b="1">
                <a:ea typeface="黑体" panose="02010609060101010101" pitchFamily="49" charset="-122"/>
              </a:rPr>
              <a:t>，则结果又如何？ 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	答： </a:t>
            </a: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T = 2ns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endParaRPr kumimoji="1" lang="en-US" altLang="zh-CN" sz="2400" b="1">
              <a:solidFill>
                <a:srgbClr val="000099"/>
              </a:solidFill>
              <a:ea typeface="黑体" panose="02010609060101010101" pitchFamily="49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kumimoji="1" lang="zh-CN" altLang="en-US" sz="2400" b="1">
                <a:ea typeface="黑体" panose="02010609060101010101" pitchFamily="49" charset="-122"/>
              </a:rPr>
              <a:t>例</a:t>
            </a:r>
            <a:r>
              <a:rPr kumimoji="1" lang="en-US" altLang="zh-CN" sz="2400" b="1">
                <a:ea typeface="黑体" panose="02010609060101010101" pitchFamily="49" charset="-122"/>
              </a:rPr>
              <a:t>3. </a:t>
            </a:r>
            <a:r>
              <a:rPr kumimoji="1" lang="zh-CN" altLang="en-US" sz="2400" b="1">
                <a:ea typeface="黑体" panose="02010609060101010101" pitchFamily="49" charset="-122"/>
              </a:rPr>
              <a:t>若命中率为</a:t>
            </a:r>
            <a:r>
              <a:rPr kumimoji="1" lang="en-US" altLang="zh-CN" sz="2400" b="1">
                <a:ea typeface="黑体" panose="02010609060101010101" pitchFamily="49" charset="-122"/>
              </a:rPr>
              <a:t>0.99</a:t>
            </a:r>
            <a:r>
              <a:rPr kumimoji="1" lang="zh-CN" altLang="en-US" sz="2400" b="1">
                <a:ea typeface="黑体" panose="02010609060101010101" pitchFamily="49" charset="-122"/>
              </a:rPr>
              <a:t>呢？ 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kumimoji="1" lang="zh-CN" altLang="en-US" sz="2400" b="1">
                <a:solidFill>
                  <a:srgbClr val="000099"/>
                </a:solidFill>
                <a:ea typeface="黑体" panose="02010609060101010101" pitchFamily="49" charset="-122"/>
              </a:rPr>
              <a:t>   答</a:t>
            </a:r>
            <a:r>
              <a:rPr kumimoji="1" lang="en-US" altLang="zh-CN" sz="2400" b="1">
                <a:solidFill>
                  <a:srgbClr val="000099"/>
                </a:solidFill>
                <a:ea typeface="黑体" panose="02010609060101010101" pitchFamily="49" charset="-122"/>
              </a:rPr>
              <a:t>:   T = 1.2ns</a:t>
            </a:r>
            <a:endParaRPr kumimoji="1" lang="zh-CN" altLang="en-US" sz="2400" b="1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62820" name="Text Box 5">
            <a:extLst>
              <a:ext uri="{FF2B5EF4-FFF2-40B4-BE49-F238E27FC236}">
                <a16:creationId xmlns:a16="http://schemas.microsoft.com/office/drawing/2014/main" id="{C8B82DCA-E9E8-C54E-ACE8-5796E40E4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1763" y="5634038"/>
            <a:ext cx="4505325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FF0000"/>
                </a:solidFill>
                <a:ea typeface="黑体" panose="02010609060101010101" pitchFamily="49" charset="-122"/>
              </a:rPr>
              <a:t>访存速度与命中率的关系非常大！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>
            <a:extLst>
              <a:ext uri="{FF2B5EF4-FFF2-40B4-BE49-F238E27FC236}">
                <a16:creationId xmlns:a16="http://schemas.microsoft.com/office/drawing/2014/main" id="{D591C4AB-EFDB-1349-A3AF-6AC455D5074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高速缓存的缺失率和关联度</a:t>
            </a:r>
          </a:p>
        </p:txBody>
      </p:sp>
      <p:sp>
        <p:nvSpPr>
          <p:cNvPr id="163843" name="Rectangle 3">
            <a:extLst>
              <a:ext uri="{FF2B5EF4-FFF2-40B4-BE49-F238E27FC236}">
                <a16:creationId xmlns:a16="http://schemas.microsoft.com/office/drawing/2014/main" id="{6A4F0AEB-C750-5441-8DF4-FC00805F980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8125" y="777875"/>
            <a:ext cx="8677275" cy="5741988"/>
          </a:xfrm>
        </p:spPr>
        <p:txBody>
          <a:bodyPr lIns="91440" tIns="45720" rIns="91440" bIns="45720"/>
          <a:lstStyle/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三种映射方式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直接映射：唯一映射（只有一个可能的位置）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全相联映射：任意映射（每个位置都可能）</a:t>
            </a:r>
          </a:p>
          <a:p>
            <a:pPr lvl="1"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路组相联映射：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路映射（有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个可能的位置）</a:t>
            </a:r>
          </a:p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什么叫关联度？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一个主存块映射到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中时，可能存放的位置个数</a:t>
            </a:r>
          </a:p>
          <a:p>
            <a:pPr lvl="2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直接映射关联度？</a:t>
            </a:r>
          </a:p>
          <a:p>
            <a:pPr lvl="2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全相联映射关联度？</a:t>
            </a:r>
          </a:p>
          <a:p>
            <a:pPr lvl="2" eaLnBrk="1" hangingPunct="1"/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N-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路组相联映射关联度？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关联度和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miss rate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有什么关系呢？和命中时间的关系呢？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直观上，你的结论是什么？（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大小和块大小一定时 ）</a:t>
            </a:r>
          </a:p>
          <a:p>
            <a:pPr lvl="2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缺失率：直接映射最高，全相联映射最低</a:t>
            </a:r>
          </a:p>
          <a:p>
            <a:pPr lvl="2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命中时间：直接映射最小，全相联映射最大</a:t>
            </a:r>
          </a:p>
          <a:p>
            <a:pPr lvl="1"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用例子来说明</a:t>
            </a:r>
          </a:p>
        </p:txBody>
      </p:sp>
      <p:sp>
        <p:nvSpPr>
          <p:cNvPr id="163844" name="Rectangle 4">
            <a:extLst>
              <a:ext uri="{FF2B5EF4-FFF2-40B4-BE49-F238E27FC236}">
                <a16:creationId xmlns:a16="http://schemas.microsoft.com/office/drawing/2014/main" id="{D43DEC32-6B6C-2241-893B-0C8DB529E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3209925"/>
            <a:ext cx="2108200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zh-CN" altLang="en-US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关联度最低，为</a:t>
            </a:r>
            <a:r>
              <a:rPr lang="en-US" altLang="zh-CN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163845" name="Rectangle 5">
            <a:extLst>
              <a:ext uri="{FF2B5EF4-FFF2-40B4-BE49-F238E27FC236}">
                <a16:creationId xmlns:a16="http://schemas.microsoft.com/office/drawing/2014/main" id="{FF4237B6-3E22-C442-B717-C3B591C471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5" y="3643313"/>
            <a:ext cx="4149725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marL="342900" indent="-3429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2" eaLnBrk="1" hangingPunct="1">
              <a:spcBef>
                <a:spcPct val="20000"/>
              </a:spcBef>
            </a:pPr>
            <a:r>
              <a:rPr lang="zh-CN" altLang="en-US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关联度最高，为</a:t>
            </a:r>
            <a:r>
              <a:rPr lang="en-US" altLang="zh-CN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Cache</a:t>
            </a:r>
            <a:r>
              <a:rPr lang="zh-CN" altLang="en-US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行数</a:t>
            </a:r>
          </a:p>
        </p:txBody>
      </p:sp>
      <p:sp>
        <p:nvSpPr>
          <p:cNvPr id="163846" name="Rectangle 6">
            <a:extLst>
              <a:ext uri="{FF2B5EF4-FFF2-40B4-BE49-F238E27FC236}">
                <a16:creationId xmlns:a16="http://schemas.microsoft.com/office/drawing/2014/main" id="{A9877D9F-A28A-904C-9920-B7F194875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1875" y="4044950"/>
            <a:ext cx="2108200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关联度居中，为</a:t>
            </a:r>
            <a:r>
              <a:rPr lang="en-US" altLang="zh-CN" sz="22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endParaRPr lang="zh-CN" altLang="en-US" sz="22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3">
            <a:extLst>
              <a:ext uri="{FF2B5EF4-FFF2-40B4-BE49-F238E27FC236}">
                <a16:creationId xmlns:a16="http://schemas.microsoft.com/office/drawing/2014/main" id="{D34D5F54-20FF-5D4B-B9F9-354B801A2F28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75" y="527050"/>
            <a:ext cx="8937625" cy="6330950"/>
          </a:xfrm>
          <a:noFill/>
        </p:spPr>
      </p:pic>
      <p:sp>
        <p:nvSpPr>
          <p:cNvPr id="721936" name="Text Box 16">
            <a:extLst>
              <a:ext uri="{FF2B5EF4-FFF2-40B4-BE49-F238E27FC236}">
                <a16:creationId xmlns:a16="http://schemas.microsoft.com/office/drawing/2014/main" id="{C6E2D2D2-E8D3-7549-A390-454BE5081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6105525"/>
            <a:ext cx="1709737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如何只取</a:t>
            </a:r>
            <a:r>
              <a:rPr kumimoji="1" lang="en-US" altLang="zh-CN" sz="2000" b="1">
                <a:solidFill>
                  <a:srgbClr val="CC0000"/>
                </a:solidFill>
                <a:ea typeface="黑体" panose="02010609060101010101" pitchFamily="49" charset="-122"/>
              </a:rPr>
              <a:t>Data</a:t>
            </a: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中某字节？</a:t>
            </a:r>
          </a:p>
        </p:txBody>
      </p:sp>
      <p:sp>
        <p:nvSpPr>
          <p:cNvPr id="721939" name="Text Box 19">
            <a:extLst>
              <a:ext uri="{FF2B5EF4-FFF2-40B4-BE49-F238E27FC236}">
                <a16:creationId xmlns:a16="http://schemas.microsoft.com/office/drawing/2014/main" id="{CDA1EEEB-1B5B-644C-A966-11A029BCF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2350" y="684213"/>
            <a:ext cx="26098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CC0000"/>
                </a:solidFill>
                <a:ea typeface="黑体" panose="02010609060101010101" pitchFamily="49" charset="-122"/>
              </a:rPr>
              <a:t>关联度不同，总的标记位数不同，也即额外空间开销不同！</a:t>
            </a:r>
          </a:p>
        </p:txBody>
      </p:sp>
      <p:sp>
        <p:nvSpPr>
          <p:cNvPr id="6" name="Text Box 16">
            <a:extLst>
              <a:ext uri="{FF2B5EF4-FFF2-40B4-BE49-F238E27FC236}">
                <a16:creationId xmlns:a16="http://schemas.microsoft.com/office/drawing/2014/main" id="{A22B9747-3292-E744-AC03-C82676218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6129338"/>
            <a:ext cx="17541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2"/>
                </a:solidFill>
                <a:ea typeface="黑体" panose="02010609060101010101" pitchFamily="49" charset="-122"/>
              </a:rPr>
              <a:t>根据地址中最低两位来取！</a:t>
            </a:r>
          </a:p>
        </p:txBody>
      </p:sp>
      <p:sp>
        <p:nvSpPr>
          <p:cNvPr id="164870" name="Rectangle 2">
            <a:extLst>
              <a:ext uri="{FF2B5EF4-FFF2-40B4-BE49-F238E27FC236}">
                <a16:creationId xmlns:a16="http://schemas.microsoft.com/office/drawing/2014/main" id="{AD111F61-71F8-6747-8EDA-1B64F9D0ACE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34938"/>
            <a:ext cx="4808537" cy="5159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标记位大小与关联度</a:t>
            </a:r>
          </a:p>
        </p:txBody>
      </p:sp>
      <p:sp>
        <p:nvSpPr>
          <p:cNvPr id="2" name="Text Box 19">
            <a:extLst>
              <a:ext uri="{FF2B5EF4-FFF2-40B4-BE49-F238E27FC236}">
                <a16:creationId xmlns:a16="http://schemas.microsoft.com/office/drawing/2014/main" id="{861ED816-F0C2-AB44-B134-D625E83979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" y="5678488"/>
            <a:ext cx="2790825" cy="6096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zh-CN" altLang="en-US" sz="2000" b="1" dirty="0">
                <a:solidFill>
                  <a:srgbClr val="CC0000"/>
                </a:solidFill>
                <a:ea typeface="黑体" panose="02010609060101010101" pitchFamily="49" charset="-122"/>
              </a:rPr>
              <a:t>按字节编址，块大小为</a:t>
            </a:r>
            <a:r>
              <a:rPr kumimoji="1" lang="en-US" altLang="zh-CN" sz="2000" b="1" dirty="0">
                <a:solidFill>
                  <a:srgbClr val="CC0000"/>
                </a:solidFill>
                <a:ea typeface="黑体" panose="02010609060101010101" pitchFamily="49" charset="-122"/>
              </a:rPr>
              <a:t>4B</a:t>
            </a:r>
            <a:r>
              <a:rPr kumimoji="1" lang="zh-CN" altLang="en-US" sz="2000" b="1" dirty="0">
                <a:solidFill>
                  <a:srgbClr val="CC0000"/>
                </a:solidFill>
                <a:ea typeface="黑体" panose="02010609060101010101" pitchFamily="49" charset="-122"/>
              </a:rPr>
              <a:t>，故块内地址占</a:t>
            </a:r>
            <a:r>
              <a:rPr kumimoji="1" lang="en-US" altLang="zh-CN" sz="2000" b="1" dirty="0">
                <a:solidFill>
                  <a:srgbClr val="CC0000"/>
                </a:solidFill>
                <a:highlight>
                  <a:srgbClr val="FFFF00"/>
                </a:highlight>
                <a:ea typeface="黑体" panose="02010609060101010101" pitchFamily="49" charset="-122"/>
              </a:rPr>
              <a:t>2</a:t>
            </a:r>
            <a:r>
              <a:rPr kumimoji="1" lang="zh-CN" altLang="en-US" sz="2000" b="1" dirty="0">
                <a:solidFill>
                  <a:srgbClr val="CC0000"/>
                </a:solidFill>
                <a:ea typeface="黑体" panose="02010609060101010101" pitchFamily="49" charset="-122"/>
              </a:rPr>
              <a:t>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1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1936" grpId="0"/>
      <p:bldP spid="721939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>
            <a:extLst>
              <a:ext uri="{FF2B5EF4-FFF2-40B4-BE49-F238E27FC236}">
                <a16:creationId xmlns:a16="http://schemas.microsoft.com/office/drawing/2014/main" id="{539A457A-6D91-9A4C-9F7A-D543A329B79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标记位大小与关联度</a:t>
            </a:r>
          </a:p>
        </p:txBody>
      </p:sp>
      <p:sp>
        <p:nvSpPr>
          <p:cNvPr id="769028" name="Text Box 4">
            <a:extLst>
              <a:ext uri="{FF2B5EF4-FFF2-40B4-BE49-F238E27FC236}">
                <a16:creationId xmlns:a16="http://schemas.microsoft.com/office/drawing/2014/main" id="{2A09F79D-2F02-D846-84C8-6908B2D07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1073150"/>
            <a:ext cx="8551862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问题：若主存地址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位，块大小为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字节，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总大小为</a:t>
            </a:r>
            <a:r>
              <a:rPr kumimoji="1" lang="en-US" altLang="zh-CN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  <a:r>
              <a:rPr kumimoji="1" lang="zh-CN" altLang="en-US" sz="2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行，问：标记位的总位数是多少？</a:t>
            </a:r>
          </a:p>
        </p:txBody>
      </p:sp>
      <p:sp>
        <p:nvSpPr>
          <p:cNvPr id="769031" name="Text Box 7">
            <a:extLst>
              <a:ext uri="{FF2B5EF4-FFF2-40B4-BE49-F238E27FC236}">
                <a16:creationId xmlns:a16="http://schemas.microsoft.com/office/drawing/2014/main" id="{8FF85258-5709-5848-8C73-22A1E82A9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313" y="2012950"/>
            <a:ext cx="85629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200" b="1">
                <a:ea typeface="黑体" panose="02010609060101010101" pitchFamily="49" charset="-122"/>
              </a:rPr>
              <a:t>直接映射方式下：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相当于每组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行，共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组，标志占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32-4-12=16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位</a:t>
            </a:r>
          </a:p>
          <a:p>
            <a:pPr eaLnBrk="1" hangingPunct="1"/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总位数占 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4Kx16=</a:t>
            </a:r>
            <a:r>
              <a:rPr kumimoji="1" lang="en-US" altLang="zh-CN" sz="2200" b="1">
                <a:solidFill>
                  <a:srgbClr val="0000FF"/>
                </a:solidFill>
                <a:ea typeface="黑体" panose="02010609060101010101" pitchFamily="49" charset="-122"/>
              </a:rPr>
              <a:t>64K</a:t>
            </a: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769033" name="Text Box 9">
            <a:extLst>
              <a:ext uri="{FF2B5EF4-FFF2-40B4-BE49-F238E27FC236}">
                <a16:creationId xmlns:a16="http://schemas.microsoft.com/office/drawing/2014/main" id="{97BC55C8-F1E7-B248-A636-D6414C96F9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" y="3008313"/>
            <a:ext cx="8415338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200" b="1">
                <a:ea typeface="黑体" panose="02010609060101010101" pitchFamily="49" charset="-122"/>
              </a:rPr>
              <a:t>关联度增加到</a:t>
            </a:r>
            <a:r>
              <a:rPr lang="en-US" altLang="zh-CN" sz="2200" b="1">
                <a:ea typeface="黑体" panose="02010609060101010101" pitchFamily="49" charset="-122"/>
              </a:rPr>
              <a:t>2</a:t>
            </a:r>
            <a:r>
              <a:rPr lang="zh-CN" altLang="en-US" sz="2200" b="1">
                <a:ea typeface="黑体" panose="02010609060101010101" pitchFamily="49" charset="-122"/>
              </a:rPr>
              <a:t>倍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(2-way)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：每组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2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行，共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2K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组，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标志占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32-4-11=17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位</a:t>
            </a:r>
          </a:p>
          <a:p>
            <a:pPr eaLnBrk="1" hangingPunct="1"/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总位数占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4Kx17=</a:t>
            </a:r>
            <a:r>
              <a:rPr kumimoji="1" lang="en-US" altLang="zh-CN" sz="2200" b="1">
                <a:solidFill>
                  <a:srgbClr val="0000FF"/>
                </a:solidFill>
                <a:ea typeface="黑体" panose="02010609060101010101" pitchFamily="49" charset="-122"/>
              </a:rPr>
              <a:t>68K</a:t>
            </a: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769035" name="Text Box 11">
            <a:extLst>
              <a:ext uri="{FF2B5EF4-FFF2-40B4-BE49-F238E27FC236}">
                <a16:creationId xmlns:a16="http://schemas.microsoft.com/office/drawing/2014/main" id="{0854AEEE-4D04-8D4B-99C7-AFCF2A491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3997325"/>
            <a:ext cx="8423275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200" b="1">
                <a:ea typeface="黑体" panose="02010609060101010101" pitchFamily="49" charset="-122"/>
              </a:rPr>
              <a:t>关联度增加到</a:t>
            </a:r>
            <a:r>
              <a:rPr lang="en-US" altLang="zh-CN" sz="2200" b="1">
                <a:ea typeface="黑体" panose="02010609060101010101" pitchFamily="49" charset="-122"/>
              </a:rPr>
              <a:t>4</a:t>
            </a:r>
            <a:r>
              <a:rPr lang="zh-CN" altLang="en-US" sz="2200" b="1">
                <a:ea typeface="黑体" panose="02010609060101010101" pitchFamily="49" charset="-122"/>
              </a:rPr>
              <a:t>倍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(4-way)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：每组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行，共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1K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组，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标志占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32-4-10=18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位</a:t>
            </a:r>
          </a:p>
          <a:p>
            <a:pPr eaLnBrk="1" hangingPunct="1"/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总位数占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4Kx18=</a:t>
            </a:r>
            <a:r>
              <a:rPr kumimoji="1" lang="en-US" altLang="zh-CN" sz="2200" b="1">
                <a:solidFill>
                  <a:srgbClr val="0000FF"/>
                </a:solidFill>
                <a:ea typeface="黑体" panose="02010609060101010101" pitchFamily="49" charset="-122"/>
              </a:rPr>
              <a:t>72K</a:t>
            </a: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位</a:t>
            </a:r>
          </a:p>
        </p:txBody>
      </p:sp>
      <p:sp>
        <p:nvSpPr>
          <p:cNvPr id="769037" name="Text Box 13">
            <a:extLst>
              <a:ext uri="{FF2B5EF4-FFF2-40B4-BE49-F238E27FC236}">
                <a16:creationId xmlns:a16="http://schemas.microsoft.com/office/drawing/2014/main" id="{9DB05EDF-36F7-3A48-968B-E9D4A51DF4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033963"/>
            <a:ext cx="8394700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zh-CN" altLang="en-US" sz="2200" b="1">
                <a:ea typeface="黑体" panose="02010609060101010101" pitchFamily="49" charset="-122"/>
              </a:rPr>
              <a:t>全相联时：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整个为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1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组，每组</a:t>
            </a:r>
            <a:r>
              <a:rPr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</a:t>
            </a:r>
            <a:r>
              <a:rPr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行，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标志占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32-4=28</a:t>
            </a:r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位</a:t>
            </a:r>
          </a:p>
          <a:p>
            <a:pPr eaLnBrk="1" hangingPunct="1"/>
            <a:r>
              <a:rPr kumimoji="1" lang="zh-CN" altLang="en-US" sz="2200" b="1">
                <a:solidFill>
                  <a:srgbClr val="CC0000"/>
                </a:solidFill>
                <a:ea typeface="黑体" panose="02010609060101010101" pitchFamily="49" charset="-122"/>
              </a:rPr>
              <a:t>总位数占</a:t>
            </a:r>
            <a:r>
              <a:rPr kumimoji="1" lang="en-US" altLang="zh-CN" sz="2200" b="1">
                <a:solidFill>
                  <a:srgbClr val="CC0000"/>
                </a:solidFill>
                <a:ea typeface="黑体" panose="02010609060101010101" pitchFamily="49" charset="-122"/>
              </a:rPr>
              <a:t>4Kx28=</a:t>
            </a:r>
            <a:r>
              <a:rPr kumimoji="1" lang="en-US" altLang="zh-CN" sz="2200" b="1">
                <a:solidFill>
                  <a:srgbClr val="0000FF"/>
                </a:solidFill>
                <a:ea typeface="黑体" panose="02010609060101010101" pitchFamily="49" charset="-122"/>
              </a:rPr>
              <a:t>112K</a:t>
            </a:r>
            <a:r>
              <a:rPr kumimoji="1" lang="zh-CN" altLang="en-US" sz="2200" b="1">
                <a:solidFill>
                  <a:srgbClr val="0000FF"/>
                </a:solidFill>
                <a:ea typeface="黑体" panose="02010609060101010101" pitchFamily="49" charset="-122"/>
              </a:rPr>
              <a:t>位</a:t>
            </a:r>
          </a:p>
          <a:p>
            <a:pPr eaLnBrk="1" hangingPunct="1"/>
            <a:endParaRPr kumimoji="1" lang="zh-CN" altLang="en-US" sz="2200" b="1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769041" name="Text Box 17">
            <a:extLst>
              <a:ext uri="{FF2B5EF4-FFF2-40B4-BE49-F238E27FC236}">
                <a16:creationId xmlns:a16="http://schemas.microsoft.com/office/drawing/2014/main" id="{A0DB62D7-DA2E-844A-8CD8-00814D50D7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5903913"/>
            <a:ext cx="76057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ea typeface="黑体" panose="02010609060101010101" pitchFamily="49" charset="-122"/>
              </a:rPr>
              <a:t>关联度越高，总的标记位数越多，额外空间开销越大！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9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9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69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69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69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69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690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7690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769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9028" grpId="0"/>
      <p:bldP spid="769031" grpId="0"/>
      <p:bldP spid="76904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>
            <a:extLst>
              <a:ext uri="{FF2B5EF4-FFF2-40B4-BE49-F238E27FC236}">
                <a16:creationId xmlns:a16="http://schemas.microsoft.com/office/drawing/2014/main" id="{5D4807C8-995F-8646-B1FD-42540927A97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28588"/>
            <a:ext cx="8807450" cy="4143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4000"/>
              <a:t>替换(</a:t>
            </a:r>
            <a:r>
              <a:rPr lang="en-US" altLang="zh-CN" sz="4000"/>
              <a:t>Replacement</a:t>
            </a:r>
            <a:r>
              <a:rPr lang="zh-CN" altLang="en-US" sz="4000"/>
              <a:t>)算法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298AF51D-E3D9-D54C-AD1D-51188299778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61925" y="863600"/>
            <a:ext cx="8620125" cy="4627563"/>
          </a:xfrm>
        </p:spPr>
        <p:txBody>
          <a:bodyPr lIns="91440" tIns="45720" rIns="91440" bIns="45720"/>
          <a:lstStyle/>
          <a:p>
            <a:pPr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hlinkClick r:id="rId2" action="ppaction://hlinksldjump"/>
              </a:rPr>
              <a:t>问题举例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</a:p>
          <a:p>
            <a:pPr lvl="1"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组相联映射时，假定第0组的两行分别被主存第0和8块占满，此时若需调入主存第16块，根据映射关系，它只能放到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组，因此，第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组中必须调出一块，那么调出哪一块呢？</a:t>
            </a:r>
          </a:p>
          <a:p>
            <a:pPr lvl="1"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这就是淘汰策略问题，也称替换算法。</a:t>
            </a:r>
          </a:p>
          <a:p>
            <a:pPr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常用替换算法有：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先进先出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FIFO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first-in-first-out）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最近最少用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LRU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least-recently used）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最不经常用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LFU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least-frequently used）</a:t>
            </a: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随机替换算法（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Random）</a:t>
            </a:r>
          </a:p>
          <a:p>
            <a:pPr lvl="1" algn="just"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</a:p>
        </p:txBody>
      </p:sp>
      <p:sp>
        <p:nvSpPr>
          <p:cNvPr id="451588" name="Text Box 4">
            <a:extLst>
              <a:ext uri="{FF2B5EF4-FFF2-40B4-BE49-F238E27FC236}">
                <a16:creationId xmlns:a16="http://schemas.microsoft.com/office/drawing/2014/main" id="{A731348C-77B4-BA4F-8B35-C5E657D46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3" y="5768975"/>
            <a:ext cx="7605712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CC0000"/>
                </a:solidFill>
                <a:ea typeface="微软雅黑" panose="020B0503020204020204" pitchFamily="34" charset="-122"/>
              </a:rPr>
              <a:t>这里的替换策略和后面的虚拟存储器所用的替换策略类似，将是以后操作系统课程的重要内容，本课程只做简单介绍。有兴趣的同学可以自学。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51F38-D4D3-2247-8D58-3DECEA820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4824413"/>
            <a:ext cx="1260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3" action="ppaction://hlinksldjump"/>
              </a:rPr>
              <a:t>SKIP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1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588" grpId="0"/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938" name="Picture 3" descr="Cache组相联映象的组织示意图_修改">
            <a:extLst>
              <a:ext uri="{FF2B5EF4-FFF2-40B4-BE49-F238E27FC236}">
                <a16:creationId xmlns:a16="http://schemas.microsoft.com/office/drawing/2014/main" id="{7D97C087-163F-2E44-A44B-937A2EFBC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150" y="414338"/>
            <a:ext cx="6765925" cy="580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3404" name="Text Box 12">
            <a:extLst>
              <a:ext uri="{FF2B5EF4-FFF2-40B4-BE49-F238E27FC236}">
                <a16:creationId xmlns:a16="http://schemas.microsoft.com/office/drawing/2014/main" id="{8EED7E62-A610-F54E-8AB0-DAFCD2549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819150"/>
            <a:ext cx="1800225" cy="1828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假定第0组的两行分别被主存第0和8块占满，此时若需调入主存第16块</a:t>
            </a:r>
            <a:endParaRPr kumimoji="1" lang="en-US" altLang="zh-CN" sz="20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eaLnBrk="1" hangingPunct="1"/>
            <a:r>
              <a:rPr kumimoji="1" lang="zh-CN" altLang="en-US" sz="2000" b="1">
                <a:solidFill>
                  <a:srgbClr val="A50021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该怎么办？</a:t>
            </a:r>
          </a:p>
        </p:txBody>
      </p:sp>
      <p:sp>
        <p:nvSpPr>
          <p:cNvPr id="167940" name="Rectangle 13">
            <a:extLst>
              <a:ext uri="{FF2B5EF4-FFF2-40B4-BE49-F238E27FC236}">
                <a16:creationId xmlns:a16="http://schemas.microsoft.com/office/drawing/2014/main" id="{D029F4C6-B340-9B47-AF9A-ED4CB8526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8525" y="762000"/>
            <a:ext cx="765175" cy="404813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7941" name="Line 14">
            <a:extLst>
              <a:ext uri="{FF2B5EF4-FFF2-40B4-BE49-F238E27FC236}">
                <a16:creationId xmlns:a16="http://schemas.microsoft.com/office/drawing/2014/main" id="{2CCE51E9-6FAA-424A-9C35-1172E0C1079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616450" y="1962150"/>
            <a:ext cx="2800350" cy="213360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67942" name="Rectangle 15">
            <a:extLst>
              <a:ext uri="{FF2B5EF4-FFF2-40B4-BE49-F238E27FC236}">
                <a16:creationId xmlns:a16="http://schemas.microsoft.com/office/drawing/2014/main" id="{F787B5EF-2ADA-0E48-A7E9-549FBDB1D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1468438"/>
            <a:ext cx="671513" cy="360362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7943" name="Rectangle 16">
            <a:extLst>
              <a:ext uri="{FF2B5EF4-FFF2-40B4-BE49-F238E27FC236}">
                <a16:creationId xmlns:a16="http://schemas.microsoft.com/office/drawing/2014/main" id="{9A780E55-626C-2741-B60F-D560C43551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1828800"/>
            <a:ext cx="671513" cy="404813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7944" name="Rectangle 13">
            <a:extLst>
              <a:ext uri="{FF2B5EF4-FFF2-40B4-BE49-F238E27FC236}">
                <a16:creationId xmlns:a16="http://schemas.microsoft.com/office/drawing/2014/main" id="{8B7F2069-2B30-AB4E-9F74-72D64AC78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00" y="2357438"/>
            <a:ext cx="765175" cy="404812"/>
          </a:xfrm>
          <a:prstGeom prst="rect">
            <a:avLst/>
          </a:prstGeom>
          <a:solidFill>
            <a:srgbClr val="008000">
              <a:alpha val="3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14697" name="矩形 14">
            <a:extLst>
              <a:ext uri="{FF2B5EF4-FFF2-40B4-BE49-F238E27FC236}">
                <a16:creationId xmlns:a16="http://schemas.microsoft.com/office/drawing/2014/main" id="{C43B0EC4-FD55-0448-BFF5-862764234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375" y="2838450"/>
            <a:ext cx="205105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第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组中必须调出一块，那么，调出哪一块呢？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1B0703-20FC-3D4D-BA50-393209203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1375" y="6129338"/>
            <a:ext cx="12604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" action="ppaction://hlinkshowjump?jump=previousslide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3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4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3404" grpId="0" animBg="1"/>
      <p:bldP spid="114697" grpId="0"/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>
            <a:extLst>
              <a:ext uri="{FF2B5EF4-FFF2-40B4-BE49-F238E27FC236}">
                <a16:creationId xmlns:a16="http://schemas.microsoft.com/office/drawing/2014/main" id="{AE54D073-9DDE-C84D-A131-E541A030A92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替换算法-先进先出（</a:t>
            </a:r>
            <a:r>
              <a:rPr lang="en-US" altLang="zh-CN">
                <a:solidFill>
                  <a:srgbClr val="CC0000"/>
                </a:solidFill>
              </a:rPr>
              <a:t>FIFO</a:t>
            </a:r>
            <a:r>
              <a:rPr lang="zh-CN" altLang="en-US">
                <a:solidFill>
                  <a:srgbClr val="CC0000"/>
                </a:solidFill>
              </a:rPr>
              <a:t>）</a:t>
            </a:r>
            <a:endParaRPr lang="en-US" altLang="zh-CN">
              <a:solidFill>
                <a:srgbClr val="CC0000"/>
              </a:solidFill>
            </a:endParaRP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DFA00F07-BDBC-7E44-9781-F3304953310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0013" y="923925"/>
            <a:ext cx="8640762" cy="1112838"/>
          </a:xfrm>
        </p:spPr>
        <p:txBody>
          <a:bodyPr lIns="91440" tIns="45720" rIns="91440" bIns="45720"/>
          <a:lstStyle/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总是把最先进入的那一块淘汰掉。</a:t>
            </a:r>
          </a:p>
          <a:p>
            <a:pPr lvl="1" eaLnBrk="1" hangingPunct="1"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例：假定主存中的5块{1,2,3,4,5}同时映射到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同一组中，对于同一地址流，考察3行/组、 4行/组的情况。</a:t>
            </a:r>
          </a:p>
        </p:txBody>
      </p:sp>
      <p:sp>
        <p:nvSpPr>
          <p:cNvPr id="169988" name="Text Box 4">
            <a:extLst>
              <a:ext uri="{FF2B5EF4-FFF2-40B4-BE49-F238E27FC236}">
                <a16:creationId xmlns:a16="http://schemas.microsoft.com/office/drawing/2014/main" id="{51F6EDEC-64DE-F842-AFD8-D906BE47E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888" y="6272213"/>
            <a:ext cx="8699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800000"/>
                </a:solidFill>
                <a:ea typeface="黑体" panose="02010609060101010101" pitchFamily="49" charset="-122"/>
              </a:rPr>
              <a:t>由此可见，</a:t>
            </a:r>
            <a:r>
              <a:rPr kumimoji="1" lang="en-US" altLang="zh-CN" sz="2000" b="1">
                <a:solidFill>
                  <a:srgbClr val="800000"/>
                </a:solidFill>
                <a:ea typeface="黑体" panose="02010609060101010101" pitchFamily="49" charset="-122"/>
              </a:rPr>
              <a:t>FIFO</a:t>
            </a:r>
            <a:r>
              <a:rPr kumimoji="1" lang="zh-CN" altLang="en-US" sz="2000" b="1">
                <a:solidFill>
                  <a:srgbClr val="800000"/>
                </a:solidFill>
                <a:ea typeface="黑体" panose="02010609060101010101" pitchFamily="49" charset="-122"/>
              </a:rPr>
              <a:t>不是一种栈算法，即命中率并不随组的增大而提高。</a:t>
            </a:r>
          </a:p>
        </p:txBody>
      </p:sp>
      <p:sp>
        <p:nvSpPr>
          <p:cNvPr id="169989" name="Rectangle 5">
            <a:extLst>
              <a:ext uri="{FF2B5EF4-FFF2-40B4-BE49-F238E27FC236}">
                <a16:creationId xmlns:a16="http://schemas.microsoft.com/office/drawing/2014/main" id="{C1526264-4EE5-144B-9D82-7E12C862D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13713" y="2957513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9990" name="Line 6">
            <a:extLst>
              <a:ext uri="{FF2B5EF4-FFF2-40B4-BE49-F238E27FC236}">
                <a16:creationId xmlns:a16="http://schemas.microsoft.com/office/drawing/2014/main" id="{6966ECBA-6EFD-B249-8BE7-BBCBF2B20D77}"/>
              </a:ext>
            </a:extLst>
          </p:cNvPr>
          <p:cNvSpPr>
            <a:spLocks noChangeShapeType="1"/>
          </p:cNvSpPr>
          <p:nvPr/>
        </p:nvSpPr>
        <p:spPr bwMode="auto">
          <a:xfrm>
            <a:off x="8113713" y="33766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1" name="Line 7">
            <a:extLst>
              <a:ext uri="{FF2B5EF4-FFF2-40B4-BE49-F238E27FC236}">
                <a16:creationId xmlns:a16="http://schemas.microsoft.com/office/drawing/2014/main" id="{FD1497AF-2FE8-6444-9920-74B98D6106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5775" y="37068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2" name="Rectangle 8">
            <a:extLst>
              <a:ext uri="{FF2B5EF4-FFF2-40B4-BE49-F238E27FC236}">
                <a16:creationId xmlns:a16="http://schemas.microsoft.com/office/drawing/2014/main" id="{4EBEA9C1-F7BB-184A-B758-F0E83F884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700" y="2986088"/>
            <a:ext cx="376238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9993" name="Rectangle 9">
            <a:extLst>
              <a:ext uri="{FF2B5EF4-FFF2-40B4-BE49-F238E27FC236}">
                <a16:creationId xmlns:a16="http://schemas.microsoft.com/office/drawing/2014/main" id="{15A4D3A0-1D18-DE4C-9AB8-508CDD5CB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7600" y="2974975"/>
            <a:ext cx="376238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69994" name="Line 10">
            <a:extLst>
              <a:ext uri="{FF2B5EF4-FFF2-40B4-BE49-F238E27FC236}">
                <a16:creationId xmlns:a16="http://schemas.microsoft.com/office/drawing/2014/main" id="{75FF2D85-D088-0E4D-8D9A-DDC35ADE62AB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288" y="33670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5" name="Line 11">
            <a:extLst>
              <a:ext uri="{FF2B5EF4-FFF2-40B4-BE49-F238E27FC236}">
                <a16:creationId xmlns:a16="http://schemas.microsoft.com/office/drawing/2014/main" id="{01B75BF7-C906-C946-A824-E39854955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784350" y="37353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6" name="Text Box 12">
            <a:extLst>
              <a:ext uri="{FF2B5EF4-FFF2-40B4-BE49-F238E27FC236}">
                <a16:creationId xmlns:a16="http://schemas.microsoft.com/office/drawing/2014/main" id="{FEA4F189-FA4D-6E4A-861C-DC5D5C65A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4988" y="29892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69997" name="Line 13">
            <a:extLst>
              <a:ext uri="{FF2B5EF4-FFF2-40B4-BE49-F238E27FC236}">
                <a16:creationId xmlns:a16="http://schemas.microsoft.com/office/drawing/2014/main" id="{9CBF3BE7-933C-CC48-AA50-9E0FEDB54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2838" y="33845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8" name="Line 14">
            <a:extLst>
              <a:ext uri="{FF2B5EF4-FFF2-40B4-BE49-F238E27FC236}">
                <a16:creationId xmlns:a16="http://schemas.microsoft.com/office/drawing/2014/main" id="{C698E9C6-23B9-3A42-9837-6648A16DD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7600" y="37401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9999" name="Text Box 15">
            <a:extLst>
              <a:ext uri="{FF2B5EF4-FFF2-40B4-BE49-F238E27FC236}">
                <a16:creationId xmlns:a16="http://schemas.microsoft.com/office/drawing/2014/main" id="{90CE8C8E-5E86-AC4F-8F2F-053EB64BC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8238" y="2994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00" name="Text Box 16">
            <a:extLst>
              <a:ext uri="{FF2B5EF4-FFF2-40B4-BE49-F238E27FC236}">
                <a16:creationId xmlns:a16="http://schemas.microsoft.com/office/drawing/2014/main" id="{B47A1C6E-7477-914E-B898-4366A9455F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5513" y="5575300"/>
            <a:ext cx="2555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01" name="Text Box 17">
            <a:extLst>
              <a:ext uri="{FF2B5EF4-FFF2-40B4-BE49-F238E27FC236}">
                <a16:creationId xmlns:a16="http://schemas.microsoft.com/office/drawing/2014/main" id="{A4C1C1FA-3129-7A46-93A8-42A4D0154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6338" y="33829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02" name="Text Box 18">
            <a:extLst>
              <a:ext uri="{FF2B5EF4-FFF2-40B4-BE49-F238E27FC236}">
                <a16:creationId xmlns:a16="http://schemas.microsoft.com/office/drawing/2014/main" id="{AB394446-448E-1149-969A-AD2210A37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0700" y="37226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03" name="Rectangle 19">
            <a:extLst>
              <a:ext uri="{FF2B5EF4-FFF2-40B4-BE49-F238E27FC236}">
                <a16:creationId xmlns:a16="http://schemas.microsoft.com/office/drawing/2014/main" id="{A2A1CAD2-055E-E941-AE8C-5BB92DD30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7675" y="2971800"/>
            <a:ext cx="376238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04" name="Line 20">
            <a:extLst>
              <a:ext uri="{FF2B5EF4-FFF2-40B4-BE49-F238E27FC236}">
                <a16:creationId xmlns:a16="http://schemas.microsoft.com/office/drawing/2014/main" id="{202248F9-E0C9-5344-98C3-E66FAB4B2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33655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5" name="Line 21">
            <a:extLst>
              <a:ext uri="{FF2B5EF4-FFF2-40B4-BE49-F238E27FC236}">
                <a16:creationId xmlns:a16="http://schemas.microsoft.com/office/drawing/2014/main" id="{6E0096C6-C705-DA4C-A190-84C52A7C11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92438" y="37211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06" name="Text Box 22">
            <a:extLst>
              <a:ext uri="{FF2B5EF4-FFF2-40B4-BE49-F238E27FC236}">
                <a16:creationId xmlns:a16="http://schemas.microsoft.com/office/drawing/2014/main" id="{3FD584A7-31A7-B646-BB46-B75400A713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30003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07" name="Rectangle 23">
            <a:extLst>
              <a:ext uri="{FF2B5EF4-FFF2-40B4-BE49-F238E27FC236}">
                <a16:creationId xmlns:a16="http://schemas.microsoft.com/office/drawing/2014/main" id="{CD39947E-FE0F-9F4E-BAE3-AC9E996AE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25" y="2978150"/>
            <a:ext cx="376238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08" name="Rectangle 24">
            <a:extLst>
              <a:ext uri="{FF2B5EF4-FFF2-40B4-BE49-F238E27FC236}">
                <a16:creationId xmlns:a16="http://schemas.microsoft.com/office/drawing/2014/main" id="{426EA666-AB02-4448-8A9A-FB9BBDDE1F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5" y="2967038"/>
            <a:ext cx="376238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09" name="Line 25">
            <a:extLst>
              <a:ext uri="{FF2B5EF4-FFF2-40B4-BE49-F238E27FC236}">
                <a16:creationId xmlns:a16="http://schemas.microsoft.com/office/drawing/2014/main" id="{92B08A48-1139-3948-B828-624C954F78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4413" y="33718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0" name="Line 26">
            <a:extLst>
              <a:ext uri="{FF2B5EF4-FFF2-40B4-BE49-F238E27FC236}">
                <a16:creationId xmlns:a16="http://schemas.microsoft.com/office/drawing/2014/main" id="{9CEB7934-C7BD-B34D-BE4D-DD8C522D9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6475" y="37274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1" name="Text Box 27">
            <a:extLst>
              <a:ext uri="{FF2B5EF4-FFF2-40B4-BE49-F238E27FC236}">
                <a16:creationId xmlns:a16="http://schemas.microsoft.com/office/drawing/2014/main" id="{9A78E431-C9C8-8F45-9E8D-4B957BF5E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5213" y="2981325"/>
            <a:ext cx="2143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12" name="Line 28">
            <a:extLst>
              <a:ext uri="{FF2B5EF4-FFF2-40B4-BE49-F238E27FC236}">
                <a16:creationId xmlns:a16="http://schemas.microsoft.com/office/drawing/2014/main" id="{C13CFE5F-1E93-6346-A3B7-FCCF6F4CA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6863" y="33639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3" name="Line 29">
            <a:extLst>
              <a:ext uri="{FF2B5EF4-FFF2-40B4-BE49-F238E27FC236}">
                <a16:creationId xmlns:a16="http://schemas.microsoft.com/office/drawing/2014/main" id="{B6B48EBD-2B53-BF41-84B9-C4943B07775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8925" y="37322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14" name="Text Box 30">
            <a:extLst>
              <a:ext uri="{FF2B5EF4-FFF2-40B4-BE49-F238E27FC236}">
                <a16:creationId xmlns:a16="http://schemas.microsoft.com/office/drawing/2014/main" id="{EF23949E-5BB3-434B-9B18-592BB31D9F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0363" y="2986088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15" name="Text Box 31">
            <a:extLst>
              <a:ext uri="{FF2B5EF4-FFF2-40B4-BE49-F238E27FC236}">
                <a16:creationId xmlns:a16="http://schemas.microsoft.com/office/drawing/2014/main" id="{C18D1770-317F-F141-ADD7-6BC892919B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33893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170016" name="Text Box 32">
            <a:extLst>
              <a:ext uri="{FF2B5EF4-FFF2-40B4-BE49-F238E27FC236}">
                <a16:creationId xmlns:a16="http://schemas.microsoft.com/office/drawing/2014/main" id="{3A6AB415-4011-AE42-80B4-6DB948E1A4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5763" y="3392488"/>
            <a:ext cx="2143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0017" name="Text Box 33">
            <a:extLst>
              <a:ext uri="{FF2B5EF4-FFF2-40B4-BE49-F238E27FC236}">
                <a16:creationId xmlns:a16="http://schemas.microsoft.com/office/drawing/2014/main" id="{3A24707E-548B-074C-B3C7-212FC3E219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7663" y="3740150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3*</a:t>
            </a:r>
          </a:p>
        </p:txBody>
      </p:sp>
      <p:sp>
        <p:nvSpPr>
          <p:cNvPr id="170018" name="Rectangle 34">
            <a:extLst>
              <a:ext uri="{FF2B5EF4-FFF2-40B4-BE49-F238E27FC236}">
                <a16:creationId xmlns:a16="http://schemas.microsoft.com/office/drawing/2014/main" id="{D39A6B0A-0DD8-7C46-8994-E1D4D10AC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2970213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19" name="Line 35">
            <a:extLst>
              <a:ext uri="{FF2B5EF4-FFF2-40B4-BE49-F238E27FC236}">
                <a16:creationId xmlns:a16="http://schemas.microsoft.com/office/drawing/2014/main" id="{04DC9C9C-DD37-904D-A426-191431478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9788" y="33639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0" name="Line 36">
            <a:extLst>
              <a:ext uri="{FF2B5EF4-FFF2-40B4-BE49-F238E27FC236}">
                <a16:creationId xmlns:a16="http://schemas.microsoft.com/office/drawing/2014/main" id="{FC53D702-2DB3-154C-AE74-076E0863D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4550" y="37195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1" name="Text Box 37">
            <a:extLst>
              <a:ext uri="{FF2B5EF4-FFF2-40B4-BE49-F238E27FC236}">
                <a16:creationId xmlns:a16="http://schemas.microsoft.com/office/drawing/2014/main" id="{610540A9-6084-8E41-8AAE-7BAD27D3AB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2998788"/>
            <a:ext cx="309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4*</a:t>
            </a:r>
          </a:p>
        </p:txBody>
      </p:sp>
      <p:sp>
        <p:nvSpPr>
          <p:cNvPr id="170022" name="Rectangle 38">
            <a:extLst>
              <a:ext uri="{FF2B5EF4-FFF2-40B4-BE49-F238E27FC236}">
                <a16:creationId xmlns:a16="http://schemas.microsoft.com/office/drawing/2014/main" id="{B7A54BC9-363A-F446-A7F0-24D7F1731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4938" y="2976563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23" name="Rectangle 39">
            <a:extLst>
              <a:ext uri="{FF2B5EF4-FFF2-40B4-BE49-F238E27FC236}">
                <a16:creationId xmlns:a16="http://schemas.microsoft.com/office/drawing/2014/main" id="{E635569E-541E-9341-ACA2-5B7BC5963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6438" y="2965450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24" name="Line 40">
            <a:extLst>
              <a:ext uri="{FF2B5EF4-FFF2-40B4-BE49-F238E27FC236}">
                <a16:creationId xmlns:a16="http://schemas.microsoft.com/office/drawing/2014/main" id="{D00A2F26-3524-544D-A15F-A6FED72CC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6525" y="33702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5" name="Line 41">
            <a:extLst>
              <a:ext uri="{FF2B5EF4-FFF2-40B4-BE49-F238E27FC236}">
                <a16:creationId xmlns:a16="http://schemas.microsoft.com/office/drawing/2014/main" id="{C45F214F-DD92-5C44-BBE4-86CE303945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21288" y="37258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6" name="Text Box 42">
            <a:extLst>
              <a:ext uri="{FF2B5EF4-FFF2-40B4-BE49-F238E27FC236}">
                <a16:creationId xmlns:a16="http://schemas.microsoft.com/office/drawing/2014/main" id="{AB89BDB6-4776-7B42-8F6F-2FC6BA8B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9225" y="29797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027" name="Line 43">
            <a:extLst>
              <a:ext uri="{FF2B5EF4-FFF2-40B4-BE49-F238E27FC236}">
                <a16:creationId xmlns:a16="http://schemas.microsoft.com/office/drawing/2014/main" id="{3E582D94-3578-8B46-8742-B9CF3A75AA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1675" y="33750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8" name="Line 44">
            <a:extLst>
              <a:ext uri="{FF2B5EF4-FFF2-40B4-BE49-F238E27FC236}">
                <a16:creationId xmlns:a16="http://schemas.microsoft.com/office/drawing/2014/main" id="{C38B4F55-CF43-574A-8669-D105E4A0B1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86438" y="37306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29" name="Text Box 45">
            <a:extLst>
              <a:ext uri="{FF2B5EF4-FFF2-40B4-BE49-F238E27FC236}">
                <a16:creationId xmlns:a16="http://schemas.microsoft.com/office/drawing/2014/main" id="{455124E7-29DE-2F4A-BBE6-11A355AAF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7075" y="33528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30" name="Text Box 46">
            <a:extLst>
              <a:ext uri="{FF2B5EF4-FFF2-40B4-BE49-F238E27FC236}">
                <a16:creationId xmlns:a16="http://schemas.microsoft.com/office/drawing/2014/main" id="{722FCC11-4A9D-F746-87E6-B3E3AE85F6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3360738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31" name="Text Box 47">
            <a:extLst>
              <a:ext uri="{FF2B5EF4-FFF2-40B4-BE49-F238E27FC236}">
                <a16:creationId xmlns:a16="http://schemas.microsoft.com/office/drawing/2014/main" id="{A93F4CCE-3FC0-6E41-88CF-65883EFC4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45175" y="37417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32" name="Text Box 48">
            <a:extLst>
              <a:ext uri="{FF2B5EF4-FFF2-40B4-BE49-F238E27FC236}">
                <a16:creationId xmlns:a16="http://schemas.microsoft.com/office/drawing/2014/main" id="{412374AC-1F3D-D049-884E-C93E60C14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3575" y="33401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33" name="Rectangle 49">
            <a:extLst>
              <a:ext uri="{FF2B5EF4-FFF2-40B4-BE49-F238E27FC236}">
                <a16:creationId xmlns:a16="http://schemas.microsoft.com/office/drawing/2014/main" id="{C96A8CE1-234F-1A4E-8B8F-B3B1EBB52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163" y="2973388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34" name="Line 50">
            <a:extLst>
              <a:ext uri="{FF2B5EF4-FFF2-40B4-BE49-F238E27FC236}">
                <a16:creationId xmlns:a16="http://schemas.microsoft.com/office/drawing/2014/main" id="{AA03D3AF-C826-D34B-9E27-32E0755B2A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0163" y="33416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35" name="Line 51">
            <a:extLst>
              <a:ext uri="{FF2B5EF4-FFF2-40B4-BE49-F238E27FC236}">
                <a16:creationId xmlns:a16="http://schemas.microsoft.com/office/drawing/2014/main" id="{09EA3669-F497-D649-840A-88C8D3AAE8B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25" y="36972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36" name="Rectangle 52">
            <a:extLst>
              <a:ext uri="{FF2B5EF4-FFF2-40B4-BE49-F238E27FC236}">
                <a16:creationId xmlns:a16="http://schemas.microsoft.com/office/drawing/2014/main" id="{4708ABDA-973B-5A46-B402-A0A4E247A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5313" y="2941638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37" name="Rectangle 53">
            <a:extLst>
              <a:ext uri="{FF2B5EF4-FFF2-40B4-BE49-F238E27FC236}">
                <a16:creationId xmlns:a16="http://schemas.microsoft.com/office/drawing/2014/main" id="{07C5EF8C-E4AB-9A41-B753-5B4B9648A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2943225"/>
            <a:ext cx="376237" cy="11303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38" name="Line 54">
            <a:extLst>
              <a:ext uri="{FF2B5EF4-FFF2-40B4-BE49-F238E27FC236}">
                <a16:creationId xmlns:a16="http://schemas.microsoft.com/office/drawing/2014/main" id="{C2B0FB3F-D488-C74A-9C19-07172FCDD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33353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39" name="Line 55">
            <a:extLst>
              <a:ext uri="{FF2B5EF4-FFF2-40B4-BE49-F238E27FC236}">
                <a16:creationId xmlns:a16="http://schemas.microsoft.com/office/drawing/2014/main" id="{3FD5141B-A4A4-4442-8761-88ED0BF5E5A9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8963" y="36909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40" name="Text Box 56">
            <a:extLst>
              <a:ext uri="{FF2B5EF4-FFF2-40B4-BE49-F238E27FC236}">
                <a16:creationId xmlns:a16="http://schemas.microsoft.com/office/drawing/2014/main" id="{526657A3-8BA4-4840-94E0-789A36CE5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100" y="2957513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0041" name="Line 57">
            <a:extLst>
              <a:ext uri="{FF2B5EF4-FFF2-40B4-BE49-F238E27FC236}">
                <a16:creationId xmlns:a16="http://schemas.microsoft.com/office/drawing/2014/main" id="{E85921C6-13D0-0C4B-8B41-2827B6311D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2050" y="33528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42" name="Line 58">
            <a:extLst>
              <a:ext uri="{FF2B5EF4-FFF2-40B4-BE49-F238E27FC236}">
                <a16:creationId xmlns:a16="http://schemas.microsoft.com/office/drawing/2014/main" id="{BE05A9DD-E9FF-1245-8972-4E5AA7179F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6813" y="37084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43" name="Text Box 59">
            <a:extLst>
              <a:ext uri="{FF2B5EF4-FFF2-40B4-BE49-F238E27FC236}">
                <a16:creationId xmlns:a16="http://schemas.microsoft.com/office/drawing/2014/main" id="{6F1F3C81-6545-CE47-91C3-234CC750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29622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5*</a:t>
            </a:r>
          </a:p>
        </p:txBody>
      </p:sp>
      <p:sp>
        <p:nvSpPr>
          <p:cNvPr id="170044" name="Text Box 60">
            <a:extLst>
              <a:ext uri="{FF2B5EF4-FFF2-40B4-BE49-F238E27FC236}">
                <a16:creationId xmlns:a16="http://schemas.microsoft.com/office/drawing/2014/main" id="{CB4EDC0F-26E2-8143-B651-6ABDE350F7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4525" y="3702050"/>
            <a:ext cx="36353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170045" name="Text Box 61">
            <a:extLst>
              <a:ext uri="{FF2B5EF4-FFF2-40B4-BE49-F238E27FC236}">
                <a16:creationId xmlns:a16="http://schemas.microsoft.com/office/drawing/2014/main" id="{BDC371B2-E676-5649-A4E7-CC2B874A9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33512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46" name="Text Box 62">
            <a:extLst>
              <a:ext uri="{FF2B5EF4-FFF2-40B4-BE49-F238E27FC236}">
                <a16:creationId xmlns:a16="http://schemas.microsoft.com/office/drawing/2014/main" id="{98B83192-2CC5-F34A-839D-6AF8D181A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0950" y="37163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47" name="Text Box 63">
            <a:extLst>
              <a:ext uri="{FF2B5EF4-FFF2-40B4-BE49-F238E27FC236}">
                <a16:creationId xmlns:a16="http://schemas.microsoft.com/office/drawing/2014/main" id="{5B6DFCC4-88B9-A040-B09C-81BB8A65A1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8775" y="2478088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1      2     3     4    1     2     5    1     2     3     4     5   </a:t>
            </a:r>
          </a:p>
        </p:txBody>
      </p:sp>
      <p:sp>
        <p:nvSpPr>
          <p:cNvPr id="170048" name="Text Box 64">
            <a:extLst>
              <a:ext uri="{FF2B5EF4-FFF2-40B4-BE49-F238E27FC236}">
                <a16:creationId xmlns:a16="http://schemas.microsoft.com/office/drawing/2014/main" id="{B46AC151-B930-AD4C-A52E-D7E6542FD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3375025"/>
            <a:ext cx="2428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49" name="Text Box 65">
            <a:extLst>
              <a:ext uri="{FF2B5EF4-FFF2-40B4-BE49-F238E27FC236}">
                <a16:creationId xmlns:a16="http://schemas.microsoft.com/office/drawing/2014/main" id="{6213087A-5691-FC4F-A974-F9BB7723B9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7438" y="37385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50" name="Text Box 66">
            <a:extLst>
              <a:ext uri="{FF2B5EF4-FFF2-40B4-BE49-F238E27FC236}">
                <a16:creationId xmlns:a16="http://schemas.microsoft.com/office/drawing/2014/main" id="{4CA81D04-9205-7442-B849-5CB7E8C63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8688" y="3379788"/>
            <a:ext cx="258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0051" name="Text Box 67">
            <a:extLst>
              <a:ext uri="{FF2B5EF4-FFF2-40B4-BE49-F238E27FC236}">
                <a16:creationId xmlns:a16="http://schemas.microsoft.com/office/drawing/2014/main" id="{37AB592C-7ED0-2B43-87E6-0F900123A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6150" y="3729038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52" name="Text Box 68">
            <a:extLst>
              <a:ext uri="{FF2B5EF4-FFF2-40B4-BE49-F238E27FC236}">
                <a16:creationId xmlns:a16="http://schemas.microsoft.com/office/drawing/2014/main" id="{DB963717-928F-964E-8329-97C06F72D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1775" y="3736975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53" name="Text Box 69">
            <a:extLst>
              <a:ext uri="{FF2B5EF4-FFF2-40B4-BE49-F238E27FC236}">
                <a16:creationId xmlns:a16="http://schemas.microsoft.com/office/drawing/2014/main" id="{1124D332-F008-F943-AD85-6559CC376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738" y="2984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054" name="Text Box 70">
            <a:extLst>
              <a:ext uri="{FF2B5EF4-FFF2-40B4-BE49-F238E27FC236}">
                <a16:creationId xmlns:a16="http://schemas.microsoft.com/office/drawing/2014/main" id="{1CAC633B-5B88-874C-8820-00844E4170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91275" y="33337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55" name="Text Box 71">
            <a:extLst>
              <a:ext uri="{FF2B5EF4-FFF2-40B4-BE49-F238E27FC236}">
                <a16:creationId xmlns:a16="http://schemas.microsoft.com/office/drawing/2014/main" id="{1F0D8FDD-5E99-BB4A-AFCF-13CB63D6A7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75" y="37226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56" name="Text Box 72">
            <a:extLst>
              <a:ext uri="{FF2B5EF4-FFF2-40B4-BE49-F238E27FC236}">
                <a16:creationId xmlns:a16="http://schemas.microsoft.com/office/drawing/2014/main" id="{8FC5DC48-9D4C-8841-9AC5-F3BC2A1759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7938" y="29654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057" name="Text Box 73">
            <a:extLst>
              <a:ext uri="{FF2B5EF4-FFF2-40B4-BE49-F238E27FC236}">
                <a16:creationId xmlns:a16="http://schemas.microsoft.com/office/drawing/2014/main" id="{6C34037D-D2DE-094E-B044-8210A2DBEF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6100" y="29591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5*</a:t>
            </a:r>
          </a:p>
        </p:txBody>
      </p:sp>
      <p:sp>
        <p:nvSpPr>
          <p:cNvPr id="170058" name="Text Box 74">
            <a:extLst>
              <a:ext uri="{FF2B5EF4-FFF2-40B4-BE49-F238E27FC236}">
                <a16:creationId xmlns:a16="http://schemas.microsoft.com/office/drawing/2014/main" id="{C9338B20-BFBB-874F-B404-9631B1DB7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33480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59" name="Text Box 75">
            <a:extLst>
              <a:ext uri="{FF2B5EF4-FFF2-40B4-BE49-F238E27FC236}">
                <a16:creationId xmlns:a16="http://schemas.microsoft.com/office/drawing/2014/main" id="{ECBDE11C-272B-8E45-92A9-27CA6F745C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4200" y="37131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60" name="Text Box 76">
            <a:extLst>
              <a:ext uri="{FF2B5EF4-FFF2-40B4-BE49-F238E27FC236}">
                <a16:creationId xmlns:a16="http://schemas.microsoft.com/office/drawing/2014/main" id="{490A83DE-63FD-EC44-A6BB-FB737AE68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6238" y="4105275"/>
            <a:ext cx="6911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ea typeface="宋体" panose="02010600030101010101" pitchFamily="2" charset="-122"/>
              </a:rPr>
              <a:t>                                                 </a:t>
            </a:r>
            <a:r>
              <a:rPr kumimoji="1" lang="zh-CN" altLang="en-US" sz="2400" b="1">
                <a:solidFill>
                  <a:srgbClr val="006600"/>
                </a:solidFill>
                <a:ea typeface="宋体" panose="02010600030101010101" pitchFamily="2" charset="-122"/>
              </a:rPr>
              <a:t>√    √                √</a:t>
            </a:r>
            <a:r>
              <a:rPr kumimoji="1" lang="zh-CN" altLang="en-US" sz="2400" b="1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70061" name="Text Box 77">
            <a:extLst>
              <a:ext uri="{FF2B5EF4-FFF2-40B4-BE49-F238E27FC236}">
                <a16:creationId xmlns:a16="http://schemas.microsoft.com/office/drawing/2014/main" id="{EF8E899D-0FC7-924B-A14E-EFEFFA660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3078163"/>
            <a:ext cx="129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ea typeface="黑体" panose="02010609060101010101" pitchFamily="49" charset="-122"/>
              </a:rPr>
              <a:t>3行</a:t>
            </a:r>
            <a:r>
              <a:rPr kumimoji="1" lang="en-US" altLang="zh-CN" sz="2400" b="1">
                <a:ea typeface="黑体" panose="02010609060101010101" pitchFamily="49" charset="-122"/>
              </a:rPr>
              <a:t>/</a:t>
            </a:r>
            <a:r>
              <a:rPr kumimoji="1" lang="zh-CN" altLang="en-US" sz="2400" b="1">
                <a:ea typeface="黑体" panose="02010609060101010101" pitchFamily="49" charset="-122"/>
              </a:rPr>
              <a:t>组</a:t>
            </a:r>
            <a:endParaRPr kumimoji="1"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170062" name="Rectangle 78">
            <a:extLst>
              <a:ext uri="{FF2B5EF4-FFF2-40B4-BE49-F238E27FC236}">
                <a16:creationId xmlns:a16="http://schemas.microsoft.com/office/drawing/2014/main" id="{62F20310-E7FE-EA4D-AA17-B74CE31D7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1013" y="4481513"/>
            <a:ext cx="376237" cy="1452562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63" name="Line 79">
            <a:extLst>
              <a:ext uri="{FF2B5EF4-FFF2-40B4-BE49-F238E27FC236}">
                <a16:creationId xmlns:a16="http://schemas.microsoft.com/office/drawing/2014/main" id="{BF2E7C1F-ED48-1E44-AF7B-CFA52BB8CB41}"/>
              </a:ext>
            </a:extLst>
          </p:cNvPr>
          <p:cNvSpPr>
            <a:spLocks noChangeShapeType="1"/>
          </p:cNvSpPr>
          <p:nvPr/>
        </p:nvSpPr>
        <p:spPr bwMode="auto">
          <a:xfrm>
            <a:off x="8101013" y="49006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64" name="Line 80">
            <a:extLst>
              <a:ext uri="{FF2B5EF4-FFF2-40B4-BE49-F238E27FC236}">
                <a16:creationId xmlns:a16="http://schemas.microsoft.com/office/drawing/2014/main" id="{8ED27C99-9077-BA45-B06C-3FF919FDC6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3075" y="52308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65" name="Rectangle 81">
            <a:extLst>
              <a:ext uri="{FF2B5EF4-FFF2-40B4-BE49-F238E27FC236}">
                <a16:creationId xmlns:a16="http://schemas.microsoft.com/office/drawing/2014/main" id="{35352C32-6C23-5546-A1CC-528458128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75" y="4511675"/>
            <a:ext cx="376238" cy="1373188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66" name="Rectangle 82">
            <a:extLst>
              <a:ext uri="{FF2B5EF4-FFF2-40B4-BE49-F238E27FC236}">
                <a16:creationId xmlns:a16="http://schemas.microsoft.com/office/drawing/2014/main" id="{A2886FAD-5BBC-4949-AAE6-6FBFCBA5A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74900" y="4498975"/>
            <a:ext cx="376238" cy="1398588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67" name="Line 83">
            <a:extLst>
              <a:ext uri="{FF2B5EF4-FFF2-40B4-BE49-F238E27FC236}">
                <a16:creationId xmlns:a16="http://schemas.microsoft.com/office/drawing/2014/main" id="{ABB8A99A-E7D4-1F4A-B725-917CF15603E8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9588" y="48910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68" name="Line 84">
            <a:extLst>
              <a:ext uri="{FF2B5EF4-FFF2-40B4-BE49-F238E27FC236}">
                <a16:creationId xmlns:a16="http://schemas.microsoft.com/office/drawing/2014/main" id="{958EB543-D8BF-7A4F-B895-1E0E0C2E11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650" y="52593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69" name="Text Box 85">
            <a:extLst>
              <a:ext uri="{FF2B5EF4-FFF2-40B4-BE49-F238E27FC236}">
                <a16:creationId xmlns:a16="http://schemas.microsoft.com/office/drawing/2014/main" id="{EE9B3E71-CB1C-BA48-9740-E2C2B24F36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7213" y="45116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70" name="Line 86">
            <a:extLst>
              <a:ext uri="{FF2B5EF4-FFF2-40B4-BE49-F238E27FC236}">
                <a16:creationId xmlns:a16="http://schemas.microsoft.com/office/drawing/2014/main" id="{8FD16908-9DB4-AD41-BD6F-AD939146C5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2838" y="48958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71" name="Line 87">
            <a:extLst>
              <a:ext uri="{FF2B5EF4-FFF2-40B4-BE49-F238E27FC236}">
                <a16:creationId xmlns:a16="http://schemas.microsoft.com/office/drawing/2014/main" id="{0FC36C43-ABD8-5D4E-81A6-2D38F57247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4900" y="52514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72" name="Text Box 88">
            <a:extLst>
              <a:ext uri="{FF2B5EF4-FFF2-40B4-BE49-F238E27FC236}">
                <a16:creationId xmlns:a16="http://schemas.microsoft.com/office/drawing/2014/main" id="{944F3A68-BF1D-674C-ADA4-CBC2B8D6F1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5538" y="4518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73" name="Text Box 89">
            <a:extLst>
              <a:ext uri="{FF2B5EF4-FFF2-40B4-BE49-F238E27FC236}">
                <a16:creationId xmlns:a16="http://schemas.microsoft.com/office/drawing/2014/main" id="{2B91DB4F-3D2E-2E47-82D1-130ACE918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1788" y="55800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74" name="Text Box 90">
            <a:extLst>
              <a:ext uri="{FF2B5EF4-FFF2-40B4-BE49-F238E27FC236}">
                <a16:creationId xmlns:a16="http://schemas.microsoft.com/office/drawing/2014/main" id="{AF248996-783D-4C4F-9ACF-D78EFD069E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3638" y="49069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75" name="Text Box 91">
            <a:extLst>
              <a:ext uri="{FF2B5EF4-FFF2-40B4-BE49-F238E27FC236}">
                <a16:creationId xmlns:a16="http://schemas.microsoft.com/office/drawing/2014/main" id="{78F10027-FAC0-384C-ACB2-30485F8E5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52466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076" name="Rectangle 92">
            <a:extLst>
              <a:ext uri="{FF2B5EF4-FFF2-40B4-BE49-F238E27FC236}">
                <a16:creationId xmlns:a16="http://schemas.microsoft.com/office/drawing/2014/main" id="{44C5BB59-3FC5-3B4D-89CC-62E598406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5" y="4495800"/>
            <a:ext cx="376238" cy="14255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77" name="Line 93">
            <a:extLst>
              <a:ext uri="{FF2B5EF4-FFF2-40B4-BE49-F238E27FC236}">
                <a16:creationId xmlns:a16="http://schemas.microsoft.com/office/drawing/2014/main" id="{DDB188C9-3B15-444B-B4FC-176DEDAA95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4975" y="48895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78" name="Line 94">
            <a:extLst>
              <a:ext uri="{FF2B5EF4-FFF2-40B4-BE49-F238E27FC236}">
                <a16:creationId xmlns:a16="http://schemas.microsoft.com/office/drawing/2014/main" id="{4B2D81FB-7685-2640-AFEC-1C2D353147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7038" y="52451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79" name="Text Box 95">
            <a:extLst>
              <a:ext uri="{FF2B5EF4-FFF2-40B4-BE49-F238E27FC236}">
                <a16:creationId xmlns:a16="http://schemas.microsoft.com/office/drawing/2014/main" id="{E6A2268F-516B-FD43-A41C-CC65D29A06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975" y="45243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80" name="Rectangle 96">
            <a:extLst>
              <a:ext uri="{FF2B5EF4-FFF2-40B4-BE49-F238E27FC236}">
                <a16:creationId xmlns:a16="http://schemas.microsoft.com/office/drawing/2014/main" id="{F9846FF2-BC85-F841-BE4F-A20D3B3849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25" y="4502150"/>
            <a:ext cx="376238" cy="14128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81" name="Rectangle 97">
            <a:extLst>
              <a:ext uri="{FF2B5EF4-FFF2-40B4-BE49-F238E27FC236}">
                <a16:creationId xmlns:a16="http://schemas.microsoft.com/office/drawing/2014/main" id="{8983CC1D-D6C6-584C-8CFD-31ED5B572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6225" y="4491038"/>
            <a:ext cx="376238" cy="1452562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82" name="Line 98">
            <a:extLst>
              <a:ext uri="{FF2B5EF4-FFF2-40B4-BE49-F238E27FC236}">
                <a16:creationId xmlns:a16="http://schemas.microsoft.com/office/drawing/2014/main" id="{720CA607-532D-9F4B-8C52-CA4EC255F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1713" y="48831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83" name="Line 99">
            <a:extLst>
              <a:ext uri="{FF2B5EF4-FFF2-40B4-BE49-F238E27FC236}">
                <a16:creationId xmlns:a16="http://schemas.microsoft.com/office/drawing/2014/main" id="{F5169D28-E796-AA40-8C7D-92A2D0FA0CE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3775" y="52514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84" name="Text Box 100">
            <a:extLst>
              <a:ext uri="{FF2B5EF4-FFF2-40B4-BE49-F238E27FC236}">
                <a16:creationId xmlns:a16="http://schemas.microsoft.com/office/drawing/2014/main" id="{1CD2DF40-39E1-9641-8C98-FE55DD4E8C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25" y="5572125"/>
            <a:ext cx="2143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85" name="Line 101">
            <a:extLst>
              <a:ext uri="{FF2B5EF4-FFF2-40B4-BE49-F238E27FC236}">
                <a16:creationId xmlns:a16="http://schemas.microsoft.com/office/drawing/2014/main" id="{95940C3D-DEC3-CE43-9D4F-BBB5DA578AE4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4163" y="48879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86" name="Line 102">
            <a:extLst>
              <a:ext uri="{FF2B5EF4-FFF2-40B4-BE49-F238E27FC236}">
                <a16:creationId xmlns:a16="http://schemas.microsoft.com/office/drawing/2014/main" id="{B21C7564-B045-1D47-A195-40B6A0A391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6225" y="52562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87" name="Text Box 103">
            <a:extLst>
              <a:ext uri="{FF2B5EF4-FFF2-40B4-BE49-F238E27FC236}">
                <a16:creationId xmlns:a16="http://schemas.microsoft.com/office/drawing/2014/main" id="{E936963F-5F51-694E-A6CC-C61376F2A1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4788" y="5622925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88" name="Text Box 104">
            <a:extLst>
              <a:ext uri="{FF2B5EF4-FFF2-40B4-BE49-F238E27FC236}">
                <a16:creationId xmlns:a16="http://schemas.microsoft.com/office/drawing/2014/main" id="{46C21218-3FDF-664B-829E-2712B35A22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5375" y="4900613"/>
            <a:ext cx="322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089" name="Text Box 105">
            <a:extLst>
              <a:ext uri="{FF2B5EF4-FFF2-40B4-BE49-F238E27FC236}">
                <a16:creationId xmlns:a16="http://schemas.microsoft.com/office/drawing/2014/main" id="{20CCAE28-A4C4-CF4F-93DC-9882B6F495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7875" y="5619750"/>
            <a:ext cx="2143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090" name="Text Box 106">
            <a:extLst>
              <a:ext uri="{FF2B5EF4-FFF2-40B4-BE49-F238E27FC236}">
                <a16:creationId xmlns:a16="http://schemas.microsoft.com/office/drawing/2014/main" id="{3668B691-F8A6-8F47-AB5A-A8C6926D8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963" y="5264150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3*</a:t>
            </a:r>
          </a:p>
        </p:txBody>
      </p:sp>
      <p:sp>
        <p:nvSpPr>
          <p:cNvPr id="170091" name="Rectangle 107">
            <a:extLst>
              <a:ext uri="{FF2B5EF4-FFF2-40B4-BE49-F238E27FC236}">
                <a16:creationId xmlns:a16="http://schemas.microsoft.com/office/drawing/2014/main" id="{8BAF7D2E-5A6F-A84F-BC21-6AF8A3FB9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088" y="4494213"/>
            <a:ext cx="376237" cy="1452562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92" name="Line 108">
            <a:extLst>
              <a:ext uri="{FF2B5EF4-FFF2-40B4-BE49-F238E27FC236}">
                <a16:creationId xmlns:a16="http://schemas.microsoft.com/office/drawing/2014/main" id="{717A95AE-3D99-8641-87C8-E13C095B72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37088" y="48879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93" name="Line 109">
            <a:extLst>
              <a:ext uri="{FF2B5EF4-FFF2-40B4-BE49-F238E27FC236}">
                <a16:creationId xmlns:a16="http://schemas.microsoft.com/office/drawing/2014/main" id="{DD124FE3-F103-EA45-911A-11907163F1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1850" y="52435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94" name="Text Box 110">
            <a:extLst>
              <a:ext uri="{FF2B5EF4-FFF2-40B4-BE49-F238E27FC236}">
                <a16:creationId xmlns:a16="http://schemas.microsoft.com/office/drawing/2014/main" id="{E06C3FF1-6843-6745-B37C-EB5C822B0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3288" y="4522788"/>
            <a:ext cx="3095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095" name="Rectangle 111">
            <a:extLst>
              <a:ext uri="{FF2B5EF4-FFF2-40B4-BE49-F238E27FC236}">
                <a16:creationId xmlns:a16="http://schemas.microsoft.com/office/drawing/2014/main" id="{85380879-F4AC-DF49-A2E5-447C11324C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238" y="4487863"/>
            <a:ext cx="376237" cy="145415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96" name="Rectangle 112">
            <a:extLst>
              <a:ext uri="{FF2B5EF4-FFF2-40B4-BE49-F238E27FC236}">
                <a16:creationId xmlns:a16="http://schemas.microsoft.com/office/drawing/2014/main" id="{3B15E46E-9F3F-244A-A73D-E59F9B346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4489450"/>
            <a:ext cx="376237" cy="147955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097" name="Line 113">
            <a:extLst>
              <a:ext uri="{FF2B5EF4-FFF2-40B4-BE49-F238E27FC236}">
                <a16:creationId xmlns:a16="http://schemas.microsoft.com/office/drawing/2014/main" id="{FA5B1AC1-0DBB-4146-8EB3-B4E9D389EB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3825" y="48942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98" name="Line 114">
            <a:extLst>
              <a:ext uri="{FF2B5EF4-FFF2-40B4-BE49-F238E27FC236}">
                <a16:creationId xmlns:a16="http://schemas.microsoft.com/office/drawing/2014/main" id="{7AF65B10-E8B1-124C-82C1-93B228DA3F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8588" y="52498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099" name="Text Box 115">
            <a:extLst>
              <a:ext uri="{FF2B5EF4-FFF2-40B4-BE49-F238E27FC236}">
                <a16:creationId xmlns:a16="http://schemas.microsoft.com/office/drawing/2014/main" id="{EFF994C8-EB87-0C40-A645-72CC1EB03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6525" y="45037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100" name="Line 116">
            <a:extLst>
              <a:ext uri="{FF2B5EF4-FFF2-40B4-BE49-F238E27FC236}">
                <a16:creationId xmlns:a16="http://schemas.microsoft.com/office/drawing/2014/main" id="{F021C414-1DE7-1F4A-B709-E8743381CB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8975" y="48990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01" name="Line 117">
            <a:extLst>
              <a:ext uri="{FF2B5EF4-FFF2-40B4-BE49-F238E27FC236}">
                <a16:creationId xmlns:a16="http://schemas.microsoft.com/office/drawing/2014/main" id="{FBA4DB1F-DE1F-EC48-89BF-E08856A2F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3738" y="52546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02" name="Text Box 118">
            <a:extLst>
              <a:ext uri="{FF2B5EF4-FFF2-40B4-BE49-F238E27FC236}">
                <a16:creationId xmlns:a16="http://schemas.microsoft.com/office/drawing/2014/main" id="{79DE2AE2-5D23-2B4A-A52E-3DB45B33A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4876800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0103" name="Text Box 119">
            <a:extLst>
              <a:ext uri="{FF2B5EF4-FFF2-40B4-BE49-F238E27FC236}">
                <a16:creationId xmlns:a16="http://schemas.microsoft.com/office/drawing/2014/main" id="{25CC153E-DF5D-364E-AE3C-3B4697B8C8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3825" y="4884738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170104" name="Text Box 120">
            <a:extLst>
              <a:ext uri="{FF2B5EF4-FFF2-40B4-BE49-F238E27FC236}">
                <a16:creationId xmlns:a16="http://schemas.microsoft.com/office/drawing/2014/main" id="{8C708933-3AE3-294B-8A0B-C4EC9D3789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2475" y="5265738"/>
            <a:ext cx="322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3*</a:t>
            </a:r>
          </a:p>
        </p:txBody>
      </p:sp>
      <p:sp>
        <p:nvSpPr>
          <p:cNvPr id="170105" name="Text Box 121">
            <a:extLst>
              <a:ext uri="{FF2B5EF4-FFF2-40B4-BE49-F238E27FC236}">
                <a16:creationId xmlns:a16="http://schemas.microsoft.com/office/drawing/2014/main" id="{284D40BD-0017-2C40-BA35-0EF1DE30C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0875" y="48641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0106" name="Rectangle 122">
            <a:extLst>
              <a:ext uri="{FF2B5EF4-FFF2-40B4-BE49-F238E27FC236}">
                <a16:creationId xmlns:a16="http://schemas.microsoft.com/office/drawing/2014/main" id="{A0A534F4-E924-EE42-BEFD-19D0379F5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9913" y="4471988"/>
            <a:ext cx="376237" cy="1465262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107" name="Line 123">
            <a:extLst>
              <a:ext uri="{FF2B5EF4-FFF2-40B4-BE49-F238E27FC236}">
                <a16:creationId xmlns:a16="http://schemas.microsoft.com/office/drawing/2014/main" id="{060E0DAD-1282-D245-9BE2-87981A2E1B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7463" y="48656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08" name="Line 124">
            <a:extLst>
              <a:ext uri="{FF2B5EF4-FFF2-40B4-BE49-F238E27FC236}">
                <a16:creationId xmlns:a16="http://schemas.microsoft.com/office/drawing/2014/main" id="{F94C500D-ECBB-6D47-986A-6A61B5C7D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9525" y="52212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09" name="Rectangle 125">
            <a:extLst>
              <a:ext uri="{FF2B5EF4-FFF2-40B4-BE49-F238E27FC236}">
                <a16:creationId xmlns:a16="http://schemas.microsoft.com/office/drawing/2014/main" id="{06F29EF9-88FD-0D4C-A122-81FB9FF69C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0163" y="4478338"/>
            <a:ext cx="376237" cy="147955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110" name="Rectangle 126">
            <a:extLst>
              <a:ext uri="{FF2B5EF4-FFF2-40B4-BE49-F238E27FC236}">
                <a16:creationId xmlns:a16="http://schemas.microsoft.com/office/drawing/2014/main" id="{0C88E9B3-CF05-6C48-9AE0-8F6FB847D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04113" y="4467225"/>
            <a:ext cx="376237" cy="1481138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0111" name="Line 127">
            <a:extLst>
              <a:ext uri="{FF2B5EF4-FFF2-40B4-BE49-F238E27FC236}">
                <a16:creationId xmlns:a16="http://schemas.microsoft.com/office/drawing/2014/main" id="{A3C49D9E-7377-5541-BEEF-C6829087C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1500" y="48593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12" name="Line 128">
            <a:extLst>
              <a:ext uri="{FF2B5EF4-FFF2-40B4-BE49-F238E27FC236}">
                <a16:creationId xmlns:a16="http://schemas.microsoft.com/office/drawing/2014/main" id="{C9CC4212-F098-E34B-8232-715EE43055B7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6263" y="52149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13" name="Text Box 129">
            <a:extLst>
              <a:ext uri="{FF2B5EF4-FFF2-40B4-BE49-F238E27FC236}">
                <a16:creationId xmlns:a16="http://schemas.microsoft.com/office/drawing/2014/main" id="{02D2631D-7E14-1847-ADCA-865DA3B4D6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25" y="4481513"/>
            <a:ext cx="361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5*</a:t>
            </a:r>
          </a:p>
        </p:txBody>
      </p:sp>
      <p:sp>
        <p:nvSpPr>
          <p:cNvPr id="170114" name="Line 130">
            <a:extLst>
              <a:ext uri="{FF2B5EF4-FFF2-40B4-BE49-F238E27FC236}">
                <a16:creationId xmlns:a16="http://schemas.microsoft.com/office/drawing/2014/main" id="{8C1FC246-FF5B-1E43-BDB6-93B837FECABE}"/>
              </a:ext>
            </a:extLst>
          </p:cNvPr>
          <p:cNvSpPr>
            <a:spLocks noChangeShapeType="1"/>
          </p:cNvSpPr>
          <p:nvPr/>
        </p:nvSpPr>
        <p:spPr bwMode="auto">
          <a:xfrm>
            <a:off x="7499350" y="48768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15" name="Line 131">
            <a:extLst>
              <a:ext uri="{FF2B5EF4-FFF2-40B4-BE49-F238E27FC236}">
                <a16:creationId xmlns:a16="http://schemas.microsoft.com/office/drawing/2014/main" id="{DC46FC13-990F-2D45-B493-4D95EC9BA31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4113" y="52324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16" name="Text Box 132">
            <a:extLst>
              <a:ext uri="{FF2B5EF4-FFF2-40B4-BE49-F238E27FC236}">
                <a16:creationId xmlns:a16="http://schemas.microsoft.com/office/drawing/2014/main" id="{DB2FD02D-8B77-9C4C-974D-CF340C1F55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5550" y="44862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117" name="Text Box 133">
            <a:extLst>
              <a:ext uri="{FF2B5EF4-FFF2-40B4-BE49-F238E27FC236}">
                <a16:creationId xmlns:a16="http://schemas.microsoft.com/office/drawing/2014/main" id="{739A7714-A14E-6646-883E-45B9A952D9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5226050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18" name="Text Box 134">
            <a:extLst>
              <a:ext uri="{FF2B5EF4-FFF2-40B4-BE49-F238E27FC236}">
                <a16:creationId xmlns:a16="http://schemas.microsoft.com/office/drawing/2014/main" id="{C9210C86-4144-B040-8FC6-E63EEE0F93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62850" y="48752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119" name="Text Box 135">
            <a:extLst>
              <a:ext uri="{FF2B5EF4-FFF2-40B4-BE49-F238E27FC236}">
                <a16:creationId xmlns:a16="http://schemas.microsoft.com/office/drawing/2014/main" id="{1E5A8711-6D50-1C4D-91C2-DF803FEE95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8250" y="52403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20" name="Text Box 136">
            <a:extLst>
              <a:ext uri="{FF2B5EF4-FFF2-40B4-BE49-F238E27FC236}">
                <a16:creationId xmlns:a16="http://schemas.microsoft.com/office/drawing/2014/main" id="{0C6B3B90-3748-3C49-9A01-0BB4296AB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38" y="4899025"/>
            <a:ext cx="2428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21" name="Text Box 137">
            <a:extLst>
              <a:ext uri="{FF2B5EF4-FFF2-40B4-BE49-F238E27FC236}">
                <a16:creationId xmlns:a16="http://schemas.microsoft.com/office/drawing/2014/main" id="{5FB2F639-7D79-8549-97A2-9E878D3B86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4738" y="52371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22" name="Text Box 138">
            <a:extLst>
              <a:ext uri="{FF2B5EF4-FFF2-40B4-BE49-F238E27FC236}">
                <a16:creationId xmlns:a16="http://schemas.microsoft.com/office/drawing/2014/main" id="{FCEA4852-4ADC-8B47-A29E-4A68FBCFB2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5988" y="4903788"/>
            <a:ext cx="258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23" name="Text Box 139">
            <a:extLst>
              <a:ext uri="{FF2B5EF4-FFF2-40B4-BE49-F238E27FC236}">
                <a16:creationId xmlns:a16="http://schemas.microsoft.com/office/drawing/2014/main" id="{0A789FB9-E9A5-B649-8960-C6AD4D195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3450" y="5253038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24" name="Text Box 140">
            <a:extLst>
              <a:ext uri="{FF2B5EF4-FFF2-40B4-BE49-F238E27FC236}">
                <a16:creationId xmlns:a16="http://schemas.microsoft.com/office/drawing/2014/main" id="{731646A4-5572-E745-B3B1-2717FAD70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9075" y="5260975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25" name="Text Box 141">
            <a:extLst>
              <a:ext uri="{FF2B5EF4-FFF2-40B4-BE49-F238E27FC236}">
                <a16:creationId xmlns:a16="http://schemas.microsoft.com/office/drawing/2014/main" id="{5426C39A-922B-F04E-A9C5-CB12CD397E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6438" y="4508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126" name="Text Box 142">
            <a:extLst>
              <a:ext uri="{FF2B5EF4-FFF2-40B4-BE49-F238E27FC236}">
                <a16:creationId xmlns:a16="http://schemas.microsoft.com/office/drawing/2014/main" id="{1BECC709-0555-4E46-BCE9-F432515A7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4857750"/>
            <a:ext cx="2682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0127" name="Text Box 143">
            <a:extLst>
              <a:ext uri="{FF2B5EF4-FFF2-40B4-BE49-F238E27FC236}">
                <a16:creationId xmlns:a16="http://schemas.microsoft.com/office/drawing/2014/main" id="{546DB5EE-049F-FC44-8DAC-3FBC1E26A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675" y="52466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28" name="Text Box 144">
            <a:extLst>
              <a:ext uri="{FF2B5EF4-FFF2-40B4-BE49-F238E27FC236}">
                <a16:creationId xmlns:a16="http://schemas.microsoft.com/office/drawing/2014/main" id="{585330A2-B02F-F745-BB1A-194B93025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8" y="44894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0129" name="Text Box 145">
            <a:extLst>
              <a:ext uri="{FF2B5EF4-FFF2-40B4-BE49-F238E27FC236}">
                <a16:creationId xmlns:a16="http://schemas.microsoft.com/office/drawing/2014/main" id="{B192A60C-09EE-7E4C-87E0-E90582B7C9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0" y="44831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0130" name="Text Box 146">
            <a:extLst>
              <a:ext uri="{FF2B5EF4-FFF2-40B4-BE49-F238E27FC236}">
                <a16:creationId xmlns:a16="http://schemas.microsoft.com/office/drawing/2014/main" id="{244B04F9-2AB0-8649-ACAE-EE1D4C2D57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1500" y="48720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0131" name="Text Box 147">
            <a:extLst>
              <a:ext uri="{FF2B5EF4-FFF2-40B4-BE49-F238E27FC236}">
                <a16:creationId xmlns:a16="http://schemas.microsoft.com/office/drawing/2014/main" id="{FD20AF30-B81A-F946-BCED-A2B56A524C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400" y="52371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2*</a:t>
            </a:r>
          </a:p>
        </p:txBody>
      </p:sp>
      <p:sp>
        <p:nvSpPr>
          <p:cNvPr id="170132" name="Line 148">
            <a:extLst>
              <a:ext uri="{FF2B5EF4-FFF2-40B4-BE49-F238E27FC236}">
                <a16:creationId xmlns:a16="http://schemas.microsoft.com/office/drawing/2014/main" id="{76555B48-1AC7-5A47-9DEE-C89DA0C83F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1650" y="55768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3" name="Line 149">
            <a:extLst>
              <a:ext uri="{FF2B5EF4-FFF2-40B4-BE49-F238E27FC236}">
                <a16:creationId xmlns:a16="http://schemas.microsoft.com/office/drawing/2014/main" id="{7FC5FAC2-F4A1-1440-865D-273292CC4BA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50" y="55641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4" name="Line 150">
            <a:extLst>
              <a:ext uri="{FF2B5EF4-FFF2-40B4-BE49-F238E27FC236}">
                <a16:creationId xmlns:a16="http://schemas.microsoft.com/office/drawing/2014/main" id="{B157F4B9-2F2D-EC48-A7F2-E1A8308BD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5450" y="55768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5" name="Line 151">
            <a:extLst>
              <a:ext uri="{FF2B5EF4-FFF2-40B4-BE49-F238E27FC236}">
                <a16:creationId xmlns:a16="http://schemas.microsoft.com/office/drawing/2014/main" id="{D1ED4D5B-4E77-BF4D-AD02-B89ED2AC0BE2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6950" y="55832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6" name="Line 152">
            <a:extLst>
              <a:ext uri="{FF2B5EF4-FFF2-40B4-BE49-F238E27FC236}">
                <a16:creationId xmlns:a16="http://schemas.microsoft.com/office/drawing/2014/main" id="{A5D0BD66-54B6-A14C-B993-E6F4C5EAE4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3438" y="56213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7" name="Line 153">
            <a:extLst>
              <a:ext uri="{FF2B5EF4-FFF2-40B4-BE49-F238E27FC236}">
                <a16:creationId xmlns:a16="http://schemas.microsoft.com/office/drawing/2014/main" id="{C417D09D-41EB-0042-A90F-17C15FF28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8575" y="562927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8" name="Line 154">
            <a:extLst>
              <a:ext uri="{FF2B5EF4-FFF2-40B4-BE49-F238E27FC236}">
                <a16:creationId xmlns:a16="http://schemas.microsoft.com/office/drawing/2014/main" id="{F1744F1B-1562-374F-8A9C-1243DE5010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926263" y="56197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39" name="Line 155">
            <a:extLst>
              <a:ext uri="{FF2B5EF4-FFF2-40B4-BE49-F238E27FC236}">
                <a16:creationId xmlns:a16="http://schemas.microsoft.com/office/drawing/2014/main" id="{6056AC3F-D665-E24B-BA16-C33C13A0F0C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875" y="55991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40" name="Line 156">
            <a:extLst>
              <a:ext uri="{FF2B5EF4-FFF2-40B4-BE49-F238E27FC236}">
                <a16:creationId xmlns:a16="http://schemas.microsoft.com/office/drawing/2014/main" id="{74FB0F92-0584-AD49-9232-67278AD8E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093075" y="56118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41" name="Line 157">
            <a:extLst>
              <a:ext uri="{FF2B5EF4-FFF2-40B4-BE49-F238E27FC236}">
                <a16:creationId xmlns:a16="http://schemas.microsoft.com/office/drawing/2014/main" id="{F3FA4B91-9D80-7D4D-8B01-319B055012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765800" y="56467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42" name="Line 158">
            <a:extLst>
              <a:ext uri="{FF2B5EF4-FFF2-40B4-BE49-F238E27FC236}">
                <a16:creationId xmlns:a16="http://schemas.microsoft.com/office/drawing/2014/main" id="{E21CF1B0-35A2-5440-A933-27967F80F59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3825" y="56403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43" name="Line 159">
            <a:extLst>
              <a:ext uri="{FF2B5EF4-FFF2-40B4-BE49-F238E27FC236}">
                <a16:creationId xmlns:a16="http://schemas.microsoft.com/office/drawing/2014/main" id="{519DAB7F-1056-264D-9BA4-3218AB6B54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56007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0144" name="Text Box 160">
            <a:extLst>
              <a:ext uri="{FF2B5EF4-FFF2-40B4-BE49-F238E27FC236}">
                <a16:creationId xmlns:a16="http://schemas.microsoft.com/office/drawing/2014/main" id="{B470248C-4D5F-4149-AFFE-BFEB8B5CA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0213" y="5969000"/>
            <a:ext cx="6911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                           </a:t>
            </a:r>
            <a:r>
              <a:rPr kumimoji="1" lang="zh-CN" altLang="en-US" sz="2400" b="1">
                <a:solidFill>
                  <a:srgbClr val="006600"/>
                </a:solidFill>
                <a:ea typeface="宋体" panose="02010600030101010101" pitchFamily="2" charset="-122"/>
              </a:rPr>
              <a:t>√    √</a:t>
            </a:r>
            <a:r>
              <a:rPr kumimoji="1" lang="zh-CN" altLang="en-US" sz="2400">
                <a:solidFill>
                  <a:srgbClr val="006600"/>
                </a:solidFill>
                <a:ea typeface="宋体" panose="02010600030101010101" pitchFamily="2" charset="-122"/>
              </a:rPr>
              <a:t> </a:t>
            </a:r>
            <a:r>
              <a:rPr kumimoji="1" lang="zh-CN" altLang="en-US" sz="2400">
                <a:ea typeface="宋体" panose="02010600030101010101" pitchFamily="2" charset="-122"/>
              </a:rPr>
              <a:t>                 </a:t>
            </a:r>
          </a:p>
        </p:txBody>
      </p:sp>
      <p:sp>
        <p:nvSpPr>
          <p:cNvPr id="170145" name="Text Box 161">
            <a:extLst>
              <a:ext uri="{FF2B5EF4-FFF2-40B4-BE49-F238E27FC236}">
                <a16:creationId xmlns:a16="http://schemas.microsoft.com/office/drawing/2014/main" id="{A365AB21-AFC6-3B48-991B-1F1C9F402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8225" y="45339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146" name="Text Box 162">
            <a:extLst>
              <a:ext uri="{FF2B5EF4-FFF2-40B4-BE49-F238E27FC236}">
                <a16:creationId xmlns:a16="http://schemas.microsoft.com/office/drawing/2014/main" id="{0B44B046-1601-3F4C-9E21-28F39DFBE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8775" y="4913313"/>
            <a:ext cx="3222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0147" name="Text Box 163">
            <a:extLst>
              <a:ext uri="{FF2B5EF4-FFF2-40B4-BE49-F238E27FC236}">
                <a16:creationId xmlns:a16="http://schemas.microsoft.com/office/drawing/2014/main" id="{C5811F5A-A9DE-ED45-B89B-6B19E5643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625" y="45466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1*</a:t>
            </a:r>
          </a:p>
        </p:txBody>
      </p:sp>
      <p:sp>
        <p:nvSpPr>
          <p:cNvPr id="170148" name="Text Box 164">
            <a:extLst>
              <a:ext uri="{FF2B5EF4-FFF2-40B4-BE49-F238E27FC236}">
                <a16:creationId xmlns:a16="http://schemas.microsoft.com/office/drawing/2014/main" id="{32AA9ACE-B5F0-6841-B4F0-EE64B8B73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6200" y="561181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4*</a:t>
            </a:r>
          </a:p>
        </p:txBody>
      </p:sp>
      <p:sp>
        <p:nvSpPr>
          <p:cNvPr id="170149" name="Text Box 165">
            <a:extLst>
              <a:ext uri="{FF2B5EF4-FFF2-40B4-BE49-F238E27FC236}">
                <a16:creationId xmlns:a16="http://schemas.microsoft.com/office/drawing/2014/main" id="{C38A6EB6-B098-CF47-8A95-FCD1F536EA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1513" y="56038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50" name="Text Box 166">
            <a:extLst>
              <a:ext uri="{FF2B5EF4-FFF2-40B4-BE49-F238E27FC236}">
                <a16:creationId xmlns:a16="http://schemas.microsoft.com/office/drawing/2014/main" id="{BFE285AF-4C06-7844-8E49-1721248D2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55911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51" name="Text Box 167">
            <a:extLst>
              <a:ext uri="{FF2B5EF4-FFF2-40B4-BE49-F238E27FC236}">
                <a16:creationId xmlns:a16="http://schemas.microsoft.com/office/drawing/2014/main" id="{0543FF54-1691-8544-971E-5BC6DA669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9913" y="55911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0152" name="Text Box 168">
            <a:extLst>
              <a:ext uri="{FF2B5EF4-FFF2-40B4-BE49-F238E27FC236}">
                <a16:creationId xmlns:a16="http://schemas.microsoft.com/office/drawing/2014/main" id="{493E0D38-C8B7-1A43-80C4-D6FB206EE3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500" y="4978400"/>
            <a:ext cx="1290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 b="1">
                <a:ea typeface="黑体" panose="02010609060101010101" pitchFamily="49" charset="-122"/>
              </a:rPr>
              <a:t>4行/组</a:t>
            </a:r>
            <a:endParaRPr kumimoji="1" lang="en-US" altLang="zh-CN" sz="2400" b="1">
              <a:ea typeface="黑体" panose="02010609060101010101" pitchFamily="49" charset="-122"/>
            </a:endParaRPr>
          </a:p>
        </p:txBody>
      </p:sp>
      <p:sp>
        <p:nvSpPr>
          <p:cNvPr id="170153" name="Text Box 169">
            <a:extLst>
              <a:ext uri="{FF2B5EF4-FFF2-40B4-BE49-F238E27FC236}">
                <a16:creationId xmlns:a16="http://schemas.microsoft.com/office/drawing/2014/main" id="{BE41F558-D1D1-5244-8A6E-E101BE272F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2138363"/>
            <a:ext cx="733583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注：通常一组中含有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2000" b="1" baseline="30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行，这里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组主要为了简化问题而假设</a:t>
            </a:r>
          </a:p>
        </p:txBody>
      </p:sp>
      <p:sp>
        <p:nvSpPr>
          <p:cNvPr id="615594" name="Text Box 170">
            <a:extLst>
              <a:ext uri="{FF2B5EF4-FFF2-40B4-BE49-F238E27FC236}">
                <a16:creationId xmlns:a16="http://schemas.microsoft.com/office/drawing/2014/main" id="{0D3E7DCA-3062-174F-B5B0-437F8BB5E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3325" y="736600"/>
            <a:ext cx="2249488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总是把最先从图书馆搬来的书还回去！</a:t>
            </a:r>
          </a:p>
        </p:txBody>
      </p:sp>
      <p:sp>
        <p:nvSpPr>
          <p:cNvPr id="171" name="Text Box 170">
            <a:extLst>
              <a:ext uri="{FF2B5EF4-FFF2-40B4-BE49-F238E27FC236}">
                <a16:creationId xmlns:a16="http://schemas.microsoft.com/office/drawing/2014/main" id="{F4D6389F-DC7D-0E40-AFDF-FCE0FF4B2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0788" y="1633538"/>
            <a:ext cx="2251075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kumimoji="1"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：逻辑编号</a:t>
            </a:r>
            <a:endParaRPr kumimoji="1" lang="en-US" altLang="zh-CN" sz="1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</a:t>
            </a:r>
            <a:r>
              <a:rPr kumimoji="1" lang="en-US" altLang="zh-CN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1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：访问块中某一单元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5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594" grpId="0"/>
      <p:bldP spid="17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92A2830E-4B10-E444-9673-D8BAB345667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替换算法-最近最少用</a:t>
            </a:r>
            <a:r>
              <a:rPr lang="en-US" altLang="zh-CN">
                <a:solidFill>
                  <a:srgbClr val="CC0000"/>
                </a:solidFill>
              </a:rPr>
              <a:t>(LRU)</a:t>
            </a: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E6A9E233-2D18-FD45-AA05-0AD8765762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2875" y="1171575"/>
            <a:ext cx="8640763" cy="1524000"/>
          </a:xfrm>
        </p:spPr>
        <p:txBody>
          <a:bodyPr lIns="91440" tIns="45720" rIns="91440" bIns="45720"/>
          <a:lstStyle/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总是把最近最少用的那一块淘汰掉。</a:t>
            </a:r>
          </a:p>
          <a:p>
            <a:pPr lvl="1" eaLnBrk="1" hangingPunct="1"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例：假定主存中的5块{1,2,3,4,5}同时映射到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同一组中，对于同一地址流，考察3行/组、 4行/组、 5行/组的情况。</a:t>
            </a:r>
          </a:p>
          <a:p>
            <a:pPr eaLnBrk="1" hangingPunct="1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012" name="Text Box 4">
            <a:extLst>
              <a:ext uri="{FF2B5EF4-FFF2-40B4-BE49-F238E27FC236}">
                <a16:creationId xmlns:a16="http://schemas.microsoft.com/office/drawing/2014/main" id="{721FA263-2672-B846-9DB6-F5A5F125F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2150" y="4113213"/>
            <a:ext cx="2555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13" name="Rectangle 5">
            <a:extLst>
              <a:ext uri="{FF2B5EF4-FFF2-40B4-BE49-F238E27FC236}">
                <a16:creationId xmlns:a16="http://schemas.microsoft.com/office/drawing/2014/main" id="{A3039460-11E9-DC46-A064-45C41322B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7650" y="2981325"/>
            <a:ext cx="376238" cy="18700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14" name="Line 6">
            <a:extLst>
              <a:ext uri="{FF2B5EF4-FFF2-40B4-BE49-F238E27FC236}">
                <a16:creationId xmlns:a16="http://schemas.microsoft.com/office/drawing/2014/main" id="{7DF8B102-07D1-A74E-875B-D27EBD0692DB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7650" y="34004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5" name="Line 7">
            <a:extLst>
              <a:ext uri="{FF2B5EF4-FFF2-40B4-BE49-F238E27FC236}">
                <a16:creationId xmlns:a16="http://schemas.microsoft.com/office/drawing/2014/main" id="{7E640A54-931B-5642-ACAF-B994F63002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9713" y="37306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6" name="Rectangle 8">
            <a:extLst>
              <a:ext uri="{FF2B5EF4-FFF2-40B4-BE49-F238E27FC236}">
                <a16:creationId xmlns:a16="http://schemas.microsoft.com/office/drawing/2014/main" id="{9DF5F10C-F651-4346-9DE5-75E597ABA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3009900"/>
            <a:ext cx="376237" cy="1843088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17" name="Rectangle 9">
            <a:extLst>
              <a:ext uri="{FF2B5EF4-FFF2-40B4-BE49-F238E27FC236}">
                <a16:creationId xmlns:a16="http://schemas.microsoft.com/office/drawing/2014/main" id="{4BF61E82-9787-B849-848B-B91D26F52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1538" y="2998788"/>
            <a:ext cx="376237" cy="1855787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18" name="Line 10">
            <a:extLst>
              <a:ext uri="{FF2B5EF4-FFF2-40B4-BE49-F238E27FC236}">
                <a16:creationId xmlns:a16="http://schemas.microsoft.com/office/drawing/2014/main" id="{8F5D8625-15C4-5A4D-8326-BA37E2211E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546225" y="33909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19" name="Line 11">
            <a:extLst>
              <a:ext uri="{FF2B5EF4-FFF2-40B4-BE49-F238E27FC236}">
                <a16:creationId xmlns:a16="http://schemas.microsoft.com/office/drawing/2014/main" id="{78C0FD0F-301F-ED41-8283-AB1BF55DF72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37592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0" name="Text Box 12">
            <a:extLst>
              <a:ext uri="{FF2B5EF4-FFF2-40B4-BE49-F238E27FC236}">
                <a16:creationId xmlns:a16="http://schemas.microsoft.com/office/drawing/2014/main" id="{F7ABFD60-2FDF-AD44-A1B6-EB35D7774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925" y="30130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1</a:t>
            </a:r>
          </a:p>
        </p:txBody>
      </p:sp>
      <p:sp>
        <p:nvSpPr>
          <p:cNvPr id="171021" name="Line 13">
            <a:extLst>
              <a:ext uri="{FF2B5EF4-FFF2-40B4-BE49-F238E27FC236}">
                <a16:creationId xmlns:a16="http://schemas.microsoft.com/office/drawing/2014/main" id="{2BC91E8A-7AB8-7A4A-A1D2-7D94FEFB082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9475" y="33956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2" name="Line 14">
            <a:extLst>
              <a:ext uri="{FF2B5EF4-FFF2-40B4-BE49-F238E27FC236}">
                <a16:creationId xmlns:a16="http://schemas.microsoft.com/office/drawing/2014/main" id="{17EC2F59-C51A-D142-BAF5-7BA4A5C51B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1538" y="37512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3" name="Text Box 15">
            <a:extLst>
              <a:ext uri="{FF2B5EF4-FFF2-40B4-BE49-F238E27FC236}">
                <a16:creationId xmlns:a16="http://schemas.microsoft.com/office/drawing/2014/main" id="{19A71F96-A675-4B44-BDBB-66C6C8E02E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62175" y="30178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2</a:t>
            </a:r>
          </a:p>
        </p:txBody>
      </p:sp>
      <p:sp>
        <p:nvSpPr>
          <p:cNvPr id="171024" name="Text Box 16">
            <a:extLst>
              <a:ext uri="{FF2B5EF4-FFF2-40B4-BE49-F238E27FC236}">
                <a16:creationId xmlns:a16="http://schemas.microsoft.com/office/drawing/2014/main" id="{102F2268-3221-C94E-BD84-51381BF74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3825" y="40925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25" name="Text Box 17">
            <a:extLst>
              <a:ext uri="{FF2B5EF4-FFF2-40B4-BE49-F238E27FC236}">
                <a16:creationId xmlns:a16="http://schemas.microsoft.com/office/drawing/2014/main" id="{742605A3-E216-894C-B065-4C9D635B34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5675" y="34067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26" name="Text Box 18">
            <a:extLst>
              <a:ext uri="{FF2B5EF4-FFF2-40B4-BE49-F238E27FC236}">
                <a16:creationId xmlns:a16="http://schemas.microsoft.com/office/drawing/2014/main" id="{08387741-919A-8F4B-BCF6-348AE00F7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3746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27" name="Rectangle 19">
            <a:extLst>
              <a:ext uri="{FF2B5EF4-FFF2-40B4-BE49-F238E27FC236}">
                <a16:creationId xmlns:a16="http://schemas.microsoft.com/office/drawing/2014/main" id="{540DA2F1-B321-1B49-A980-6D53DF822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1613" y="2995613"/>
            <a:ext cx="376237" cy="1855787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28" name="Line 20">
            <a:extLst>
              <a:ext uri="{FF2B5EF4-FFF2-40B4-BE49-F238E27FC236}">
                <a16:creationId xmlns:a16="http://schemas.microsoft.com/office/drawing/2014/main" id="{5AD97CDC-F79A-DE40-B770-E6A1FBE802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1613" y="33893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29" name="Line 21">
            <a:extLst>
              <a:ext uri="{FF2B5EF4-FFF2-40B4-BE49-F238E27FC236}">
                <a16:creationId xmlns:a16="http://schemas.microsoft.com/office/drawing/2014/main" id="{8DCB7EAE-32B1-2B44-BDA5-A777B999A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3675" y="37449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30" name="Text Box 22">
            <a:extLst>
              <a:ext uri="{FF2B5EF4-FFF2-40B4-BE49-F238E27FC236}">
                <a16:creationId xmlns:a16="http://schemas.microsoft.com/office/drawing/2014/main" id="{5FADEB12-D731-2646-8767-598B20BD26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613" y="30241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3</a:t>
            </a:r>
          </a:p>
        </p:txBody>
      </p:sp>
      <p:sp>
        <p:nvSpPr>
          <p:cNvPr id="171031" name="Rectangle 23">
            <a:extLst>
              <a:ext uri="{FF2B5EF4-FFF2-40B4-BE49-F238E27FC236}">
                <a16:creationId xmlns:a16="http://schemas.microsoft.com/office/drawing/2014/main" id="{70170756-A9BA-F140-9744-06BBCF297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6763" y="3001963"/>
            <a:ext cx="376237" cy="18573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32" name="Rectangle 24">
            <a:extLst>
              <a:ext uri="{FF2B5EF4-FFF2-40B4-BE49-F238E27FC236}">
                <a16:creationId xmlns:a16="http://schemas.microsoft.com/office/drawing/2014/main" id="{EAF214D6-6AA3-C240-9559-CD7D8C61F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2990850"/>
            <a:ext cx="376237" cy="18542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33" name="Line 25">
            <a:extLst>
              <a:ext uri="{FF2B5EF4-FFF2-40B4-BE49-F238E27FC236}">
                <a16:creationId xmlns:a16="http://schemas.microsoft.com/office/drawing/2014/main" id="{1281DD9C-EE1D-1141-9C2F-30C1CA272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8350" y="33829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34" name="Line 26">
            <a:extLst>
              <a:ext uri="{FF2B5EF4-FFF2-40B4-BE49-F238E27FC236}">
                <a16:creationId xmlns:a16="http://schemas.microsoft.com/office/drawing/2014/main" id="{27F6A914-4783-5541-99DD-4EC0260A52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413" y="37512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35" name="Text Box 27">
            <a:extLst>
              <a:ext uri="{FF2B5EF4-FFF2-40B4-BE49-F238E27FC236}">
                <a16:creationId xmlns:a16="http://schemas.microsoft.com/office/drawing/2014/main" id="{D1310724-AF72-B24C-9E02-A2EEFD143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2963" y="4084638"/>
            <a:ext cx="2143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36" name="Line 28">
            <a:extLst>
              <a:ext uri="{FF2B5EF4-FFF2-40B4-BE49-F238E27FC236}">
                <a16:creationId xmlns:a16="http://schemas.microsoft.com/office/drawing/2014/main" id="{CE1E748F-1973-544A-9A9F-2A7FBA922B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60800" y="33877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37" name="Line 29">
            <a:extLst>
              <a:ext uri="{FF2B5EF4-FFF2-40B4-BE49-F238E27FC236}">
                <a16:creationId xmlns:a16="http://schemas.microsoft.com/office/drawing/2014/main" id="{80BBF997-8C3D-5D4E-A9FD-7850C3AF2F8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2863" y="37560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38" name="Text Box 30">
            <a:extLst>
              <a:ext uri="{FF2B5EF4-FFF2-40B4-BE49-F238E27FC236}">
                <a16:creationId xmlns:a16="http://schemas.microsoft.com/office/drawing/2014/main" id="{641A3EBE-E2E0-784D-AD1D-9BAD27B95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1425" y="4122738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39" name="Text Box 31">
            <a:extLst>
              <a:ext uri="{FF2B5EF4-FFF2-40B4-BE49-F238E27FC236}">
                <a16:creationId xmlns:a16="http://schemas.microsoft.com/office/drawing/2014/main" id="{4B6E6875-B0E1-8E43-8EB9-F7DC9F81AA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9313" y="3400425"/>
            <a:ext cx="3222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40" name="Text Box 32">
            <a:extLst>
              <a:ext uri="{FF2B5EF4-FFF2-40B4-BE49-F238E27FC236}">
                <a16:creationId xmlns:a16="http://schemas.microsoft.com/office/drawing/2014/main" id="{74C0CC0F-FB4C-5D45-8573-37579B02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613" y="4510088"/>
            <a:ext cx="2143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41" name="Text Box 33">
            <a:extLst>
              <a:ext uri="{FF2B5EF4-FFF2-40B4-BE49-F238E27FC236}">
                <a16:creationId xmlns:a16="http://schemas.microsoft.com/office/drawing/2014/main" id="{DA006108-F1F3-9141-84DF-9F2C66126E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7000" y="3763963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42" name="Rectangle 34">
            <a:extLst>
              <a:ext uri="{FF2B5EF4-FFF2-40B4-BE49-F238E27FC236}">
                <a16:creationId xmlns:a16="http://schemas.microsoft.com/office/drawing/2014/main" id="{5DCB5A4A-7FF7-7D4C-8DB0-8502BDE07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3725" y="2994025"/>
            <a:ext cx="376238" cy="18446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43" name="Line 35">
            <a:extLst>
              <a:ext uri="{FF2B5EF4-FFF2-40B4-BE49-F238E27FC236}">
                <a16:creationId xmlns:a16="http://schemas.microsoft.com/office/drawing/2014/main" id="{216AA2EF-8FD9-C648-9467-2ED1E76A7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3725" y="33877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44" name="Line 36">
            <a:extLst>
              <a:ext uri="{FF2B5EF4-FFF2-40B4-BE49-F238E27FC236}">
                <a16:creationId xmlns:a16="http://schemas.microsoft.com/office/drawing/2014/main" id="{6E8343DE-A77C-EB48-9335-09D9B2CE85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488" y="37433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45" name="Text Box 37">
            <a:extLst>
              <a:ext uri="{FF2B5EF4-FFF2-40B4-BE49-F238E27FC236}">
                <a16:creationId xmlns:a16="http://schemas.microsoft.com/office/drawing/2014/main" id="{29DE64C6-ADF4-1E4A-A1C7-5E526C9A3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3022600"/>
            <a:ext cx="3095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46" name="Rectangle 38">
            <a:extLst>
              <a:ext uri="{FF2B5EF4-FFF2-40B4-BE49-F238E27FC236}">
                <a16:creationId xmlns:a16="http://schemas.microsoft.com/office/drawing/2014/main" id="{191216AE-7856-8B46-87D0-429DF2730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75" y="2987675"/>
            <a:ext cx="376238" cy="18700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47" name="Rectangle 39">
            <a:extLst>
              <a:ext uri="{FF2B5EF4-FFF2-40B4-BE49-F238E27FC236}">
                <a16:creationId xmlns:a16="http://schemas.microsoft.com/office/drawing/2014/main" id="{FBBE4E2D-4818-DA4E-8AFA-405250940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0375" y="2989263"/>
            <a:ext cx="376238" cy="18700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48" name="Line 40">
            <a:extLst>
              <a:ext uri="{FF2B5EF4-FFF2-40B4-BE49-F238E27FC236}">
                <a16:creationId xmlns:a16="http://schemas.microsoft.com/office/drawing/2014/main" id="{70A569B6-A64F-7B4B-AF6A-9AC3090705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339407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49" name="Line 41">
            <a:extLst>
              <a:ext uri="{FF2B5EF4-FFF2-40B4-BE49-F238E27FC236}">
                <a16:creationId xmlns:a16="http://schemas.microsoft.com/office/drawing/2014/main" id="{C3788D91-C9FB-C949-B344-548CE0B37E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374967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50" name="Text Box 42">
            <a:extLst>
              <a:ext uri="{FF2B5EF4-FFF2-40B4-BE49-F238E27FC236}">
                <a16:creationId xmlns:a16="http://schemas.microsoft.com/office/drawing/2014/main" id="{6714873E-9880-8243-98D1-F1C67199A0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3163" y="30035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1051" name="Line 43">
            <a:extLst>
              <a:ext uri="{FF2B5EF4-FFF2-40B4-BE49-F238E27FC236}">
                <a16:creationId xmlns:a16="http://schemas.microsoft.com/office/drawing/2014/main" id="{70E2B32D-84CD-DD4A-B96E-A64514565BE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5613" y="33988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52" name="Line 44">
            <a:extLst>
              <a:ext uri="{FF2B5EF4-FFF2-40B4-BE49-F238E27FC236}">
                <a16:creationId xmlns:a16="http://schemas.microsoft.com/office/drawing/2014/main" id="{B3E97543-2306-144B-90B6-341F9FC659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5" y="37544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53" name="Text Box 45">
            <a:extLst>
              <a:ext uri="{FF2B5EF4-FFF2-40B4-BE49-F238E27FC236}">
                <a16:creationId xmlns:a16="http://schemas.microsoft.com/office/drawing/2014/main" id="{1125CEAB-AD60-444B-ABFC-B2B1AF21C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3760788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54" name="Text Box 46">
            <a:extLst>
              <a:ext uri="{FF2B5EF4-FFF2-40B4-BE49-F238E27FC236}">
                <a16:creationId xmlns:a16="http://schemas.microsoft.com/office/drawing/2014/main" id="{670BC666-97DC-F143-996D-D57BE78F7B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9363" y="3384550"/>
            <a:ext cx="295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55" name="Text Box 47">
            <a:extLst>
              <a:ext uri="{FF2B5EF4-FFF2-40B4-BE49-F238E27FC236}">
                <a16:creationId xmlns:a16="http://schemas.microsoft.com/office/drawing/2014/main" id="{BA43E441-7A1F-A04A-A4A1-5E6E17B96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7213" y="4149725"/>
            <a:ext cx="3222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56" name="Text Box 48">
            <a:extLst>
              <a:ext uri="{FF2B5EF4-FFF2-40B4-BE49-F238E27FC236}">
                <a16:creationId xmlns:a16="http://schemas.microsoft.com/office/drawing/2014/main" id="{15AECBF7-E7A6-9D40-A5B4-079CC9CE8F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8313" y="33639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57" name="Rectangle 49">
            <a:extLst>
              <a:ext uri="{FF2B5EF4-FFF2-40B4-BE49-F238E27FC236}">
                <a16:creationId xmlns:a16="http://schemas.microsoft.com/office/drawing/2014/main" id="{8260C59E-6E81-4540-BC20-38BFA1116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550" y="2971800"/>
            <a:ext cx="376238" cy="1893888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58" name="Line 50">
            <a:extLst>
              <a:ext uri="{FF2B5EF4-FFF2-40B4-BE49-F238E27FC236}">
                <a16:creationId xmlns:a16="http://schemas.microsoft.com/office/drawing/2014/main" id="{257F77E1-D130-FD4C-AB59-97DCFFFB1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4100" y="33655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59" name="Line 51">
            <a:extLst>
              <a:ext uri="{FF2B5EF4-FFF2-40B4-BE49-F238E27FC236}">
                <a16:creationId xmlns:a16="http://schemas.microsoft.com/office/drawing/2014/main" id="{50C24263-93DF-6143-B7CC-97BDF7309F8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6163" y="37211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0" name="Rectangle 52">
            <a:extLst>
              <a:ext uri="{FF2B5EF4-FFF2-40B4-BE49-F238E27FC236}">
                <a16:creationId xmlns:a16="http://schemas.microsoft.com/office/drawing/2014/main" id="{775B7E88-7358-5843-9F39-723C70927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800" y="2978150"/>
            <a:ext cx="376238" cy="18700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61" name="Rectangle 53">
            <a:extLst>
              <a:ext uri="{FF2B5EF4-FFF2-40B4-BE49-F238E27FC236}">
                <a16:creationId xmlns:a16="http://schemas.microsoft.com/office/drawing/2014/main" id="{8DE05D89-A5C6-BD4A-B4A1-056658344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0750" y="2967038"/>
            <a:ext cx="376238" cy="18700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1062" name="Line 54">
            <a:extLst>
              <a:ext uri="{FF2B5EF4-FFF2-40B4-BE49-F238E27FC236}">
                <a16:creationId xmlns:a16="http://schemas.microsoft.com/office/drawing/2014/main" id="{BCF97BB9-B6C5-7A45-A83A-83B19B03C4E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88138" y="33591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3" name="Line 55">
            <a:extLst>
              <a:ext uri="{FF2B5EF4-FFF2-40B4-BE49-F238E27FC236}">
                <a16:creationId xmlns:a16="http://schemas.microsoft.com/office/drawing/2014/main" id="{AD6352BB-1561-CE4D-A67B-F89FBCAB03E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37147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4" name="Text Box 56">
            <a:extLst>
              <a:ext uri="{FF2B5EF4-FFF2-40B4-BE49-F238E27FC236}">
                <a16:creationId xmlns:a16="http://schemas.microsoft.com/office/drawing/2014/main" id="{7439DFD6-38D7-824F-9582-ED8202356B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6563" y="2981325"/>
            <a:ext cx="3619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65" name="Line 57">
            <a:extLst>
              <a:ext uri="{FF2B5EF4-FFF2-40B4-BE49-F238E27FC236}">
                <a16:creationId xmlns:a16="http://schemas.microsoft.com/office/drawing/2014/main" id="{9E0CFE7E-F978-3A4F-BB3D-59491C4CB0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988" y="33766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6" name="Line 58">
            <a:extLst>
              <a:ext uri="{FF2B5EF4-FFF2-40B4-BE49-F238E27FC236}">
                <a16:creationId xmlns:a16="http://schemas.microsoft.com/office/drawing/2014/main" id="{26A87954-BDE5-454E-8895-78A6B6738F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37322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67" name="Text Box 59">
            <a:extLst>
              <a:ext uri="{FF2B5EF4-FFF2-40B4-BE49-F238E27FC236}">
                <a16:creationId xmlns:a16="http://schemas.microsoft.com/office/drawing/2014/main" id="{AC1D27F8-BE43-FC42-81BA-A7E78A25D6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2188" y="29860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68" name="Text Box 60">
            <a:extLst>
              <a:ext uri="{FF2B5EF4-FFF2-40B4-BE49-F238E27FC236}">
                <a16:creationId xmlns:a16="http://schemas.microsoft.com/office/drawing/2014/main" id="{B6D945E9-CE91-EE4E-BE1A-4765F1B593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9263" y="3725863"/>
            <a:ext cx="282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69" name="Text Box 61">
            <a:extLst>
              <a:ext uri="{FF2B5EF4-FFF2-40B4-BE49-F238E27FC236}">
                <a16:creationId xmlns:a16="http://schemas.microsoft.com/office/drawing/2014/main" id="{ADD1B2E5-BAF7-9C4B-BAB9-82CA7159BB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4888" y="3375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70" name="Text Box 62">
            <a:extLst>
              <a:ext uri="{FF2B5EF4-FFF2-40B4-BE49-F238E27FC236}">
                <a16:creationId xmlns:a16="http://schemas.microsoft.com/office/drawing/2014/main" id="{E0CAA36C-91EB-9846-A8EF-E2734ACECD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4888" y="37401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71" name="Text Box 63">
            <a:extLst>
              <a:ext uri="{FF2B5EF4-FFF2-40B4-BE49-F238E27FC236}">
                <a16:creationId xmlns:a16="http://schemas.microsoft.com/office/drawing/2014/main" id="{6FDF04DE-41A5-3347-B89D-6B89B336F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2575" y="3398838"/>
            <a:ext cx="2428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72" name="Text Box 64">
            <a:extLst>
              <a:ext uri="{FF2B5EF4-FFF2-40B4-BE49-F238E27FC236}">
                <a16:creationId xmlns:a16="http://schemas.microsoft.com/office/drawing/2014/main" id="{D2EA000F-1723-CC4E-8951-35045A1EA3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75" y="37369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073" name="Text Box 65">
            <a:extLst>
              <a:ext uri="{FF2B5EF4-FFF2-40B4-BE49-F238E27FC236}">
                <a16:creationId xmlns:a16="http://schemas.microsoft.com/office/drawing/2014/main" id="{CB62CD23-77DC-F34F-B84D-C73B00DF22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25" y="3403600"/>
            <a:ext cx="2587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74" name="Text Box 66">
            <a:extLst>
              <a:ext uri="{FF2B5EF4-FFF2-40B4-BE49-F238E27FC236}">
                <a16:creationId xmlns:a16="http://schemas.microsoft.com/office/drawing/2014/main" id="{C96BAB41-6343-AE44-B3C2-20B37314C4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088" y="3752850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75" name="Text Box 67">
            <a:extLst>
              <a:ext uri="{FF2B5EF4-FFF2-40B4-BE49-F238E27FC236}">
                <a16:creationId xmlns:a16="http://schemas.microsoft.com/office/drawing/2014/main" id="{B82B7D0A-EED3-2642-9A8C-4BADCE658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5713" y="3760788"/>
            <a:ext cx="269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76" name="Text Box 68">
            <a:extLst>
              <a:ext uri="{FF2B5EF4-FFF2-40B4-BE49-F238E27FC236}">
                <a16:creationId xmlns:a16="http://schemas.microsoft.com/office/drawing/2014/main" id="{5E0D76DC-63C1-C840-986F-A82E71762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34147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5</a:t>
            </a:r>
          </a:p>
        </p:txBody>
      </p:sp>
      <p:sp>
        <p:nvSpPr>
          <p:cNvPr id="171077" name="Text Box 69">
            <a:extLst>
              <a:ext uri="{FF2B5EF4-FFF2-40B4-BE49-F238E27FC236}">
                <a16:creationId xmlns:a16="http://schemas.microsoft.com/office/drawing/2014/main" id="{5757B0CE-F606-D647-8211-569D008E4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3357563"/>
            <a:ext cx="26828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78" name="Text Box 70">
            <a:extLst>
              <a:ext uri="{FF2B5EF4-FFF2-40B4-BE49-F238E27FC236}">
                <a16:creationId xmlns:a16="http://schemas.microsoft.com/office/drawing/2014/main" id="{5C5F163C-1464-474E-B822-2FEF7B194D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1413" y="3746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1079" name="Text Box 71">
            <a:extLst>
              <a:ext uri="{FF2B5EF4-FFF2-40B4-BE49-F238E27FC236}">
                <a16:creationId xmlns:a16="http://schemas.microsoft.com/office/drawing/2014/main" id="{39E56DE2-023B-DB48-A10A-3A8F0E2D08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5" y="29892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2</a:t>
            </a:r>
          </a:p>
        </p:txBody>
      </p:sp>
      <p:sp>
        <p:nvSpPr>
          <p:cNvPr id="171080" name="Text Box 72">
            <a:extLst>
              <a:ext uri="{FF2B5EF4-FFF2-40B4-BE49-F238E27FC236}">
                <a16:creationId xmlns:a16="http://schemas.microsoft.com/office/drawing/2014/main" id="{1FBA63A2-7EB7-3C45-8194-AF5B1FAC40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9829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1081" name="Text Box 73">
            <a:extLst>
              <a:ext uri="{FF2B5EF4-FFF2-40B4-BE49-F238E27FC236}">
                <a16:creationId xmlns:a16="http://schemas.microsoft.com/office/drawing/2014/main" id="{6A83A571-9679-DB4C-BC29-7C3CD3B02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33718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82" name="Text Box 74">
            <a:extLst>
              <a:ext uri="{FF2B5EF4-FFF2-40B4-BE49-F238E27FC236}">
                <a16:creationId xmlns:a16="http://schemas.microsoft.com/office/drawing/2014/main" id="{474F855C-C981-3940-9F6F-4C21F441C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70838" y="37369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083" name="Line 75">
            <a:extLst>
              <a:ext uri="{FF2B5EF4-FFF2-40B4-BE49-F238E27FC236}">
                <a16:creationId xmlns:a16="http://schemas.microsoft.com/office/drawing/2014/main" id="{00E5DBBB-D071-3849-A639-C9BCB1F14AA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41021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4" name="Line 76">
            <a:extLst>
              <a:ext uri="{FF2B5EF4-FFF2-40B4-BE49-F238E27FC236}">
                <a16:creationId xmlns:a16="http://schemas.microsoft.com/office/drawing/2014/main" id="{BD76D1B7-4626-DC42-8123-04411BD1D46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40894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5" name="Line 77">
            <a:extLst>
              <a:ext uri="{FF2B5EF4-FFF2-40B4-BE49-F238E27FC236}">
                <a16:creationId xmlns:a16="http://schemas.microsoft.com/office/drawing/2014/main" id="{6947CED2-43F7-1549-A10B-57283F3535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2088" y="40767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6" name="Line 78">
            <a:extLst>
              <a:ext uri="{FF2B5EF4-FFF2-40B4-BE49-F238E27FC236}">
                <a16:creationId xmlns:a16="http://schemas.microsoft.com/office/drawing/2014/main" id="{5E96B7B2-F31E-5E4B-8A88-48D6C66AFE57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8" y="40830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7" name="Line 79">
            <a:extLst>
              <a:ext uri="{FF2B5EF4-FFF2-40B4-BE49-F238E27FC236}">
                <a16:creationId xmlns:a16="http://schemas.microsoft.com/office/drawing/2014/main" id="{5CA8E8F7-0B58-4944-B572-7E70A06389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0075" y="41211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8" name="Line 80">
            <a:extLst>
              <a:ext uri="{FF2B5EF4-FFF2-40B4-BE49-F238E27FC236}">
                <a16:creationId xmlns:a16="http://schemas.microsoft.com/office/drawing/2014/main" id="{108687F7-7917-8048-84BF-8C43E3EFD568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5213" y="41290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89" name="Line 81">
            <a:extLst>
              <a:ext uri="{FF2B5EF4-FFF2-40B4-BE49-F238E27FC236}">
                <a16:creationId xmlns:a16="http://schemas.microsoft.com/office/drawing/2014/main" id="{545D9FB1-AEB6-0042-9DA2-064B034BDAD8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411956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0" name="Line 82">
            <a:extLst>
              <a:ext uri="{FF2B5EF4-FFF2-40B4-BE49-F238E27FC236}">
                <a16:creationId xmlns:a16="http://schemas.microsoft.com/office/drawing/2014/main" id="{BB57D02A-C8F6-B44C-BFD9-AF8A8C72C5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5513" y="40989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1" name="Line 83">
            <a:extLst>
              <a:ext uri="{FF2B5EF4-FFF2-40B4-BE49-F238E27FC236}">
                <a16:creationId xmlns:a16="http://schemas.microsoft.com/office/drawing/2014/main" id="{29BFE8C4-87D1-3744-8854-B4A66F87D6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59713" y="41116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2" name="Line 84">
            <a:extLst>
              <a:ext uri="{FF2B5EF4-FFF2-40B4-BE49-F238E27FC236}">
                <a16:creationId xmlns:a16="http://schemas.microsoft.com/office/drawing/2014/main" id="{DB941EB7-1295-DB4D-BF50-8D65B9A4F2A1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2438" y="41465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3" name="Line 85">
            <a:extLst>
              <a:ext uri="{FF2B5EF4-FFF2-40B4-BE49-F238E27FC236}">
                <a16:creationId xmlns:a16="http://schemas.microsoft.com/office/drawing/2014/main" id="{905E51F6-6DBC-6148-9237-D14D86E2B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0463" y="41402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4" name="Line 86">
            <a:extLst>
              <a:ext uri="{FF2B5EF4-FFF2-40B4-BE49-F238E27FC236}">
                <a16:creationId xmlns:a16="http://schemas.microsoft.com/office/drawing/2014/main" id="{0050F7C3-B1B7-0E4F-A2F7-9310982CF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51275" y="4100513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095" name="Text Box 87">
            <a:extLst>
              <a:ext uri="{FF2B5EF4-FFF2-40B4-BE49-F238E27FC236}">
                <a16:creationId xmlns:a16="http://schemas.microsoft.com/office/drawing/2014/main" id="{6EFC3BC4-AA1D-9342-8382-198EFD8C4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6850" y="4930775"/>
            <a:ext cx="691197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                                               </a:t>
            </a:r>
            <a:r>
              <a:rPr kumimoji="1" lang="zh-CN" altLang="en-US" sz="2400" b="1">
                <a:solidFill>
                  <a:srgbClr val="006600"/>
                </a:solidFill>
                <a:ea typeface="宋体" panose="02010600030101010101" pitchFamily="2" charset="-122"/>
              </a:rPr>
              <a:t>√    √ </a:t>
            </a:r>
            <a:r>
              <a:rPr kumimoji="1" lang="zh-CN" altLang="en-US" sz="2400" b="1">
                <a:ea typeface="宋体" panose="02010600030101010101" pitchFamily="2" charset="-122"/>
              </a:rPr>
              <a:t>      </a:t>
            </a: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2400" b="1">
                <a:ea typeface="宋体" panose="02010600030101010101" pitchFamily="2" charset="-122"/>
              </a:rPr>
              <a:t>                             </a:t>
            </a:r>
            <a:r>
              <a:rPr kumimoji="1" lang="zh-CN" altLang="en-US" sz="2400" b="1">
                <a:solidFill>
                  <a:srgbClr val="006600"/>
                </a:solidFill>
                <a:ea typeface="宋体" panose="02010600030101010101" pitchFamily="2" charset="-122"/>
              </a:rPr>
              <a:t>√  √          √    √</a:t>
            </a: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2400" b="1">
                <a:solidFill>
                  <a:srgbClr val="006600"/>
                </a:solidFill>
                <a:ea typeface="宋体" panose="02010600030101010101" pitchFamily="2" charset="-122"/>
              </a:rPr>
              <a:t>                             √  √          √    √   √   √   √</a:t>
            </a:r>
          </a:p>
        </p:txBody>
      </p:sp>
      <p:sp>
        <p:nvSpPr>
          <p:cNvPr id="171096" name="Text Box 88">
            <a:extLst>
              <a:ext uri="{FF2B5EF4-FFF2-40B4-BE49-F238E27FC236}">
                <a16:creationId xmlns:a16="http://schemas.microsoft.com/office/drawing/2014/main" id="{6C1944D3-1CA6-A74A-9B31-A46A7A4D5F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6763" y="30210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4</a:t>
            </a:r>
          </a:p>
        </p:txBody>
      </p:sp>
      <p:sp>
        <p:nvSpPr>
          <p:cNvPr id="171097" name="Text Box 89">
            <a:extLst>
              <a:ext uri="{FF2B5EF4-FFF2-40B4-BE49-F238E27FC236}">
                <a16:creationId xmlns:a16="http://schemas.microsoft.com/office/drawing/2014/main" id="{05B29AA1-9C57-2A49-9739-8711BD61B5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35413" y="3413125"/>
            <a:ext cx="3222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098" name="Text Box 90">
            <a:extLst>
              <a:ext uri="{FF2B5EF4-FFF2-40B4-BE49-F238E27FC236}">
                <a16:creationId xmlns:a16="http://schemas.microsoft.com/office/drawing/2014/main" id="{CA91CD30-9F00-C44F-ABC1-BBE23BDB5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3663" y="30337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099" name="Text Box 91">
            <a:extLst>
              <a:ext uri="{FF2B5EF4-FFF2-40B4-BE49-F238E27FC236}">
                <a16:creationId xmlns:a16="http://schemas.microsoft.com/office/drawing/2014/main" id="{B370AD48-1000-EC42-9B9D-25E75ED92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411162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100" name="Text Box 92">
            <a:extLst>
              <a:ext uri="{FF2B5EF4-FFF2-40B4-BE49-F238E27FC236}">
                <a16:creationId xmlns:a16="http://schemas.microsoft.com/office/drawing/2014/main" id="{D22B787C-E34B-D94F-BE9A-794262884C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3550" y="41036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1101" name="Text Box 93">
            <a:extLst>
              <a:ext uri="{FF2B5EF4-FFF2-40B4-BE49-F238E27FC236}">
                <a16:creationId xmlns:a16="http://schemas.microsoft.com/office/drawing/2014/main" id="{FF7C1910-5B11-4B43-9692-F7862BFEF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40909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102" name="Text Box 94">
            <a:extLst>
              <a:ext uri="{FF2B5EF4-FFF2-40B4-BE49-F238E27FC236}">
                <a16:creationId xmlns:a16="http://schemas.microsoft.com/office/drawing/2014/main" id="{4E5C80FE-1DB3-C342-8D4D-95608406B0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40909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1103" name="Text Box 95">
            <a:extLst>
              <a:ext uri="{FF2B5EF4-FFF2-40B4-BE49-F238E27FC236}">
                <a16:creationId xmlns:a16="http://schemas.microsoft.com/office/drawing/2014/main" id="{74361F41-D5AF-3443-9AEA-C9BF67F65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2540000"/>
            <a:ext cx="6911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1      2     3     4    1    2     5    1     2     3     4     5   </a:t>
            </a:r>
          </a:p>
        </p:txBody>
      </p:sp>
      <p:sp>
        <p:nvSpPr>
          <p:cNvPr id="171104" name="Line 96">
            <a:extLst>
              <a:ext uri="{FF2B5EF4-FFF2-40B4-BE49-F238E27FC236}">
                <a16:creationId xmlns:a16="http://schemas.microsoft.com/office/drawing/2014/main" id="{7E871753-70F6-A341-B6BC-436BA3AB56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447040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05" name="Line 97">
            <a:extLst>
              <a:ext uri="{FF2B5EF4-FFF2-40B4-BE49-F238E27FC236}">
                <a16:creationId xmlns:a16="http://schemas.microsoft.com/office/drawing/2014/main" id="{2301CF6B-44A8-B24D-B726-35B87964B45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47888" y="44640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06" name="Line 98">
            <a:extLst>
              <a:ext uri="{FF2B5EF4-FFF2-40B4-BE49-F238E27FC236}">
                <a16:creationId xmlns:a16="http://schemas.microsoft.com/office/drawing/2014/main" id="{2020167E-9C69-0848-8427-C05768408E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75225" y="451167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07" name="Line 99">
            <a:extLst>
              <a:ext uri="{FF2B5EF4-FFF2-40B4-BE49-F238E27FC236}">
                <a16:creationId xmlns:a16="http://schemas.microsoft.com/office/drawing/2014/main" id="{A8C5F370-A294-424E-B806-8FB170B4237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45148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08" name="Line 100">
            <a:extLst>
              <a:ext uri="{FF2B5EF4-FFF2-40B4-BE49-F238E27FC236}">
                <a16:creationId xmlns:a16="http://schemas.microsoft.com/office/drawing/2014/main" id="{EBD2E5ED-F118-D142-945B-83FF815A63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43625" y="451802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09" name="Line 101">
            <a:extLst>
              <a:ext uri="{FF2B5EF4-FFF2-40B4-BE49-F238E27FC236}">
                <a16:creationId xmlns:a16="http://schemas.microsoft.com/office/drawing/2014/main" id="{9A9680FE-83E2-6044-B7D1-E40CAEC9EE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692900" y="4498975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0" name="Line 102">
            <a:extLst>
              <a:ext uri="{FF2B5EF4-FFF2-40B4-BE49-F238E27FC236}">
                <a16:creationId xmlns:a16="http://schemas.microsoft.com/office/drawing/2014/main" id="{F9F30196-8FFB-384A-A37E-85A5E19A9636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0" y="447833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1" name="Line 103">
            <a:extLst>
              <a:ext uri="{FF2B5EF4-FFF2-40B4-BE49-F238E27FC236}">
                <a16:creationId xmlns:a16="http://schemas.microsoft.com/office/drawing/2014/main" id="{D981D9C6-8D30-1B42-A307-0F5D60778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1300" y="4510088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2" name="Line 104">
            <a:extLst>
              <a:ext uri="{FF2B5EF4-FFF2-40B4-BE49-F238E27FC236}">
                <a16:creationId xmlns:a16="http://schemas.microsoft.com/office/drawing/2014/main" id="{C1ADE8BD-A752-084C-BF62-4F8FEBDD11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2088" y="44767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3" name="Line 105">
            <a:extLst>
              <a:ext uri="{FF2B5EF4-FFF2-40B4-BE49-F238E27FC236}">
                <a16:creationId xmlns:a16="http://schemas.microsoft.com/office/drawing/2014/main" id="{06856120-FB30-CB48-A807-91ACEADAD1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3588" y="44894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4" name="Line 106">
            <a:extLst>
              <a:ext uri="{FF2B5EF4-FFF2-40B4-BE49-F238E27FC236}">
                <a16:creationId xmlns:a16="http://schemas.microsoft.com/office/drawing/2014/main" id="{37162716-4375-AA48-80E2-0D6B7A7E07B7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9688" y="45021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5" name="Line 107">
            <a:extLst>
              <a:ext uri="{FF2B5EF4-FFF2-40B4-BE49-F238E27FC236}">
                <a16:creationId xmlns:a16="http://schemas.microsoft.com/office/drawing/2014/main" id="{7FD4FAE4-C49C-6846-984C-E31811ABA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08488" y="4514850"/>
            <a:ext cx="3905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1116" name="Text Box 108">
            <a:extLst>
              <a:ext uri="{FF2B5EF4-FFF2-40B4-BE49-F238E27FC236}">
                <a16:creationId xmlns:a16="http://schemas.microsoft.com/office/drawing/2014/main" id="{2D9A116B-CE93-F143-8BA8-B339D000FD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8888" y="45116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117" name="Text Box 109">
            <a:extLst>
              <a:ext uri="{FF2B5EF4-FFF2-40B4-BE49-F238E27FC236}">
                <a16:creationId xmlns:a16="http://schemas.microsoft.com/office/drawing/2014/main" id="{8BBB60D9-81B8-6A40-AD06-070C55297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3875" y="3006725"/>
            <a:ext cx="228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118" name="Text Box 110">
            <a:extLst>
              <a:ext uri="{FF2B5EF4-FFF2-40B4-BE49-F238E27FC236}">
                <a16:creationId xmlns:a16="http://schemas.microsoft.com/office/drawing/2014/main" id="{13A81C0C-84E4-3D41-88F2-F9AEC36B6F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4513263"/>
            <a:ext cx="2143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1119" name="Text Box 111">
            <a:extLst>
              <a:ext uri="{FF2B5EF4-FFF2-40B4-BE49-F238E27FC236}">
                <a16:creationId xmlns:a16="http://schemas.microsoft.com/office/drawing/2014/main" id="{F5B8FFCC-7524-3C41-9078-6FE6EC4C5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9738" y="450532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1120" name="Text Box 112">
            <a:extLst>
              <a:ext uri="{FF2B5EF4-FFF2-40B4-BE49-F238E27FC236}">
                <a16:creationId xmlns:a16="http://schemas.microsoft.com/office/drawing/2014/main" id="{472AB6DA-F382-E649-9A2F-BFAAA811A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2350" y="44846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1121" name="Text Box 113">
            <a:extLst>
              <a:ext uri="{FF2B5EF4-FFF2-40B4-BE49-F238E27FC236}">
                <a16:creationId xmlns:a16="http://schemas.microsoft.com/office/drawing/2014/main" id="{DDF58730-304D-B549-8EE5-A1DB559AF6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6550" y="44973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1122" name="Text Box 114">
            <a:extLst>
              <a:ext uri="{FF2B5EF4-FFF2-40B4-BE49-F238E27FC236}">
                <a16:creationId xmlns:a16="http://schemas.microsoft.com/office/drawing/2014/main" id="{29B67608-3AE8-A645-ADB6-10460E12BE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822825"/>
            <a:ext cx="1143000" cy="126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0000"/>
              </a:spcBef>
            </a:pPr>
            <a:r>
              <a:rPr kumimoji="1" lang="zh-CN" altLang="en-US" sz="2400">
                <a:ea typeface="黑体" panose="02010609060101010101" pitchFamily="49" charset="-122"/>
              </a:rPr>
              <a:t>3行/组</a:t>
            </a:r>
          </a:p>
          <a:p>
            <a:pPr eaLnBrk="1" hangingPunct="1">
              <a:spcBef>
                <a:spcPct val="10000"/>
              </a:spcBef>
            </a:pPr>
            <a:r>
              <a:rPr kumimoji="1" lang="en-US" altLang="zh-CN" sz="2400">
                <a:ea typeface="黑体" panose="02010609060101010101" pitchFamily="49" charset="-122"/>
              </a:rPr>
              <a:t>4</a:t>
            </a:r>
            <a:r>
              <a:rPr kumimoji="1" lang="zh-CN" altLang="en-US" sz="2400">
                <a:ea typeface="黑体" panose="02010609060101010101" pitchFamily="49" charset="-122"/>
              </a:rPr>
              <a:t>行/组</a:t>
            </a:r>
          </a:p>
          <a:p>
            <a:pPr eaLnBrk="1" hangingPunct="1">
              <a:spcBef>
                <a:spcPct val="10000"/>
              </a:spcBef>
            </a:pPr>
            <a:r>
              <a:rPr kumimoji="1" lang="zh-CN" altLang="en-US" sz="2400">
                <a:ea typeface="黑体" panose="02010609060101010101" pitchFamily="49" charset="-122"/>
              </a:rPr>
              <a:t>5行/组</a:t>
            </a:r>
          </a:p>
        </p:txBody>
      </p:sp>
      <p:sp>
        <p:nvSpPr>
          <p:cNvPr id="616563" name="Text Box 115">
            <a:extLst>
              <a:ext uri="{FF2B5EF4-FFF2-40B4-BE49-F238E27FC236}">
                <a16:creationId xmlns:a16="http://schemas.microsoft.com/office/drawing/2014/main" id="{86BD271E-7922-8F44-BD13-DE6CD9D346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908050"/>
            <a:ext cx="1981200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总是把最长时间不看的书还回去！</a:t>
            </a:r>
          </a:p>
        </p:txBody>
      </p:sp>
      <p:sp>
        <p:nvSpPr>
          <p:cNvPr id="171124" name="矩形 1">
            <a:extLst>
              <a:ext uri="{FF2B5EF4-FFF2-40B4-BE49-F238E27FC236}">
                <a16:creationId xmlns:a16="http://schemas.microsoft.com/office/drawing/2014/main" id="{F721CA13-F167-6B4D-A5A4-41A5DCA6C5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525" y="3048000"/>
            <a:ext cx="1211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1">
                <a:solidFill>
                  <a:srgbClr val="11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最近最多用</a:t>
            </a:r>
            <a:endParaRPr lang="zh-CN" altLang="en-US" b="1">
              <a:solidFill>
                <a:srgbClr val="113CB7"/>
              </a:solidFill>
              <a:ea typeface="宋体" panose="02010600030101010101" pitchFamily="2" charset="-122"/>
            </a:endParaRPr>
          </a:p>
        </p:txBody>
      </p:sp>
      <p:cxnSp>
        <p:nvCxnSpPr>
          <p:cNvPr id="171125" name="直接连接符 7">
            <a:extLst>
              <a:ext uri="{FF2B5EF4-FFF2-40B4-BE49-F238E27FC236}">
                <a16:creationId xmlns:a16="http://schemas.microsoft.com/office/drawing/2014/main" id="{840FEB48-0DC3-6A4D-8101-F5A9A0ECE9B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247775" y="3227388"/>
            <a:ext cx="290513" cy="0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8" name="矩形 117">
            <a:extLst>
              <a:ext uri="{FF2B5EF4-FFF2-40B4-BE49-F238E27FC236}">
                <a16:creationId xmlns:a16="http://schemas.microsoft.com/office/drawing/2014/main" id="{32ABB338-86FE-F741-AF19-919BB0C1CD4E}"/>
              </a:ext>
            </a:extLst>
          </p:cNvPr>
          <p:cNvSpPr/>
          <p:nvPr/>
        </p:nvSpPr>
        <p:spPr>
          <a:xfrm>
            <a:off x="192088" y="2608263"/>
            <a:ext cx="1011237" cy="339725"/>
          </a:xfrm>
          <a:prstGeom prst="rect">
            <a:avLst/>
          </a:prstGeom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1">
                <a:solidFill>
                  <a:srgbClr val="11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访问序列</a:t>
            </a:r>
          </a:p>
        </p:txBody>
      </p:sp>
      <p:cxnSp>
        <p:nvCxnSpPr>
          <p:cNvPr id="171127" name="直接连接符 137">
            <a:extLst>
              <a:ext uri="{FF2B5EF4-FFF2-40B4-BE49-F238E27FC236}">
                <a16:creationId xmlns:a16="http://schemas.microsoft.com/office/drawing/2014/main" id="{8DF1B38E-A782-034F-B419-8229526775C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62050" y="2768600"/>
            <a:ext cx="287338" cy="0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1128" name="矩形 1">
            <a:extLst>
              <a:ext uri="{FF2B5EF4-FFF2-40B4-BE49-F238E27FC236}">
                <a16:creationId xmlns:a16="http://schemas.microsoft.com/office/drawing/2014/main" id="{B1DDC031-5E42-524A-91D8-247010924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038" y="4160838"/>
            <a:ext cx="1209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b="1">
                <a:solidFill>
                  <a:srgbClr val="113CB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最近最少用</a:t>
            </a:r>
            <a:endParaRPr lang="zh-CN" altLang="en-US" b="1">
              <a:solidFill>
                <a:srgbClr val="113CB7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56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9F09235D-B7AA-544E-9D9F-D321187227A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替换算法-最近最少用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31DF2F70-5100-F247-941C-E1A5F3B65F9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520700" y="981075"/>
            <a:ext cx="8299450" cy="4454525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是一种栈算法，它的命中率随组的增大而提高。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当分块局部化范围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即：某段时间集中访问的存储区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超过了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存储容量时，命中率变得很低。极端情况下，假设地址流是1,2,3,4,1 2,3,4,1,……，而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每组只有3行，那么，不管是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FIFO，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还是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算法，其命中率都为0。这种现象称为颠簸(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Thrashing / PingPong)。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</a:pP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具体实现时，并不是通过移动块来实现的，而是通过给每个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行设定一个计数器，根据计数值来记录这些主存块的使用情况。这个计数值称为</a:t>
            </a:r>
            <a:r>
              <a:rPr lang="en-US" altLang="zh-CN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eaLnBrk="1" hangingPunct="1">
              <a:lnSpc>
                <a:spcPct val="115000"/>
              </a:lnSpc>
              <a:spcBef>
                <a:spcPct val="50000"/>
              </a:spcBef>
              <a:buFontTx/>
              <a:buNone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  <a:hlinkClick r:id="" action="ppaction://hlinkshowjump?jump=nextslide"/>
              </a:rPr>
              <a:t>具体实现</a:t>
            </a:r>
            <a:endParaRPr lang="zh-CN" altLang="en-US" sz="2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>
            <a:extLst>
              <a:ext uri="{FF2B5EF4-FFF2-40B4-BE49-F238E27FC236}">
                <a16:creationId xmlns:a16="http://schemas.microsoft.com/office/drawing/2014/main" id="{EF41F77A-6256-A24A-9FFE-268E6368A00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07950"/>
            <a:ext cx="8807450" cy="569913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>
                <a:solidFill>
                  <a:srgbClr val="CC0000"/>
                </a:solidFill>
              </a:rPr>
              <a:t>替换算法-最近最少用</a:t>
            </a:r>
          </a:p>
        </p:txBody>
      </p:sp>
      <p:sp>
        <p:nvSpPr>
          <p:cNvPr id="455683" name="Rectangle 3">
            <a:extLst>
              <a:ext uri="{FF2B5EF4-FFF2-40B4-BE49-F238E27FC236}">
                <a16:creationId xmlns:a16="http://schemas.microsoft.com/office/drawing/2014/main" id="{15B9A98D-1570-7A4C-A44D-0E714B23417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1577975"/>
            <a:ext cx="8945563" cy="2757488"/>
          </a:xfrm>
        </p:spPr>
        <p:txBody>
          <a:bodyPr lIns="91440" tIns="45720" rIns="91440" bIns="45720"/>
          <a:lstStyle/>
          <a:p>
            <a:pPr eaLnBrk="1" hangingPunct="1"/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计数器变化规则：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每组4行时，计数器有2位。计数值越小则说明越被常用。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命中时，被访问行的计数器置0，比其低的计数器加1，其余不变。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未命中且该组未满时，新行计数器置为0，其余全加1。</a:t>
            </a:r>
          </a:p>
          <a:p>
            <a:pPr lvl="1" eaLnBrk="1" hangingPunct="1">
              <a:buFont typeface="Wingdings" pitchFamily="2" charset="2"/>
              <a:buChar char="Ø"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未命中且该组已满时，计数值为3的那一行中的主存块被淘汰，新行计数器置为0，其余加1。</a:t>
            </a:r>
          </a:p>
          <a:p>
            <a:pPr lvl="1" eaLnBrk="1" hangingPunct="1"/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060" name="Rectangle 4">
            <a:extLst>
              <a:ext uri="{FF2B5EF4-FFF2-40B4-BE49-F238E27FC236}">
                <a16:creationId xmlns:a16="http://schemas.microsoft.com/office/drawing/2014/main" id="{1C2C4CF7-1151-2D4C-8F28-22A9003C7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4541838"/>
            <a:ext cx="7851775" cy="1598612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73061" name="Text Box 5">
            <a:extLst>
              <a:ext uri="{FF2B5EF4-FFF2-40B4-BE49-F238E27FC236}">
                <a16:creationId xmlns:a16="http://schemas.microsoft.com/office/drawing/2014/main" id="{02337104-BD07-F346-A511-3D72AE918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4056063"/>
            <a:ext cx="8161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  1      2      3      4      1      2     5      1      2      3      4      5   </a:t>
            </a:r>
          </a:p>
        </p:txBody>
      </p:sp>
      <p:sp>
        <p:nvSpPr>
          <p:cNvPr id="173062" name="Line 6">
            <a:extLst>
              <a:ext uri="{FF2B5EF4-FFF2-40B4-BE49-F238E27FC236}">
                <a16:creationId xmlns:a16="http://schemas.microsoft.com/office/drawing/2014/main" id="{66E53AD7-8AAE-3544-88B7-E58B51CAEE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3" y="5024438"/>
            <a:ext cx="7850187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3" name="Line 7">
            <a:extLst>
              <a:ext uri="{FF2B5EF4-FFF2-40B4-BE49-F238E27FC236}">
                <a16:creationId xmlns:a16="http://schemas.microsoft.com/office/drawing/2014/main" id="{96B4465C-275A-8048-BF93-4B06EF71FB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2763" y="5367338"/>
            <a:ext cx="7891462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4" name="Line 8">
            <a:extLst>
              <a:ext uri="{FF2B5EF4-FFF2-40B4-BE49-F238E27FC236}">
                <a16:creationId xmlns:a16="http://schemas.microsoft.com/office/drawing/2014/main" id="{15BD6BD5-E390-F74B-B247-2AB3D92FE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463" y="5748338"/>
            <a:ext cx="7837487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5" name="Line 9">
            <a:extLst>
              <a:ext uri="{FF2B5EF4-FFF2-40B4-BE49-F238E27FC236}">
                <a16:creationId xmlns:a16="http://schemas.microsoft.com/office/drawing/2014/main" id="{CB6E703A-79C2-C34F-AD48-FDEDA4AF0B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23950" y="4540250"/>
            <a:ext cx="12700" cy="1614488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6" name="Line 10">
            <a:extLst>
              <a:ext uri="{FF2B5EF4-FFF2-40B4-BE49-F238E27FC236}">
                <a16:creationId xmlns:a16="http://schemas.microsoft.com/office/drawing/2014/main" id="{2A482582-FB74-8046-802E-AD45C3A5AE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450" y="454025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67" name="Text Box 11">
            <a:extLst>
              <a:ext uri="{FF2B5EF4-FFF2-40B4-BE49-F238E27FC236}">
                <a16:creationId xmlns:a16="http://schemas.microsoft.com/office/drawing/2014/main" id="{72F7706F-BD85-B649-88A9-318E364A29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175" y="4635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3068" name="Text Box 12">
            <a:extLst>
              <a:ext uri="{FF2B5EF4-FFF2-40B4-BE49-F238E27FC236}">
                <a16:creationId xmlns:a16="http://schemas.microsoft.com/office/drawing/2014/main" id="{90FB1B5C-7FCC-7943-ACDF-4C7E5F746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1175" y="50244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069" name="Text Box 13">
            <a:extLst>
              <a:ext uri="{FF2B5EF4-FFF2-40B4-BE49-F238E27FC236}">
                <a16:creationId xmlns:a16="http://schemas.microsoft.com/office/drawing/2014/main" id="{AE55E269-90C5-B64A-A5E2-E4B0A998A7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75" y="53895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070" name="Text Box 14">
            <a:extLst>
              <a:ext uri="{FF2B5EF4-FFF2-40B4-BE49-F238E27FC236}">
                <a16:creationId xmlns:a16="http://schemas.microsoft.com/office/drawing/2014/main" id="{BA67B5D9-35D8-C64D-A1A1-1927EC3FD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9588" y="57435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071" name="Line 15">
            <a:extLst>
              <a:ext uri="{FF2B5EF4-FFF2-40B4-BE49-F238E27FC236}">
                <a16:creationId xmlns:a16="http://schemas.microsoft.com/office/drawing/2014/main" id="{78565AE3-B287-F14F-B2A2-856EADC66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4350" y="4540250"/>
            <a:ext cx="0" cy="16002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2" name="Line 16">
            <a:extLst>
              <a:ext uri="{FF2B5EF4-FFF2-40B4-BE49-F238E27FC236}">
                <a16:creationId xmlns:a16="http://schemas.microsoft.com/office/drawing/2014/main" id="{6C3871A8-C88B-FA40-8F20-0F9F089035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54150" y="455295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3" name="Line 17">
            <a:extLst>
              <a:ext uri="{FF2B5EF4-FFF2-40B4-BE49-F238E27FC236}">
                <a16:creationId xmlns:a16="http://schemas.microsoft.com/office/drawing/2014/main" id="{C419678A-3F7F-054E-B550-E8BBA227B95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68563" y="4559300"/>
            <a:ext cx="12700" cy="1614488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4" name="Line 18">
            <a:extLst>
              <a:ext uri="{FF2B5EF4-FFF2-40B4-BE49-F238E27FC236}">
                <a16:creationId xmlns:a16="http://schemas.microsoft.com/office/drawing/2014/main" id="{2040D525-6B7D-454A-B363-34F4E9954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455930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5" name="Line 19">
            <a:extLst>
              <a:ext uri="{FF2B5EF4-FFF2-40B4-BE49-F238E27FC236}">
                <a16:creationId xmlns:a16="http://schemas.microsoft.com/office/drawing/2014/main" id="{C093B4FE-5901-4D4A-A588-3E9429EE90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8963" y="4559300"/>
            <a:ext cx="0" cy="16002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6" name="Line 20">
            <a:extLst>
              <a:ext uri="{FF2B5EF4-FFF2-40B4-BE49-F238E27FC236}">
                <a16:creationId xmlns:a16="http://schemas.microsoft.com/office/drawing/2014/main" id="{A2864013-25FD-A649-B294-B600084DF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8763" y="457200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7" name="Line 21">
            <a:extLst>
              <a:ext uri="{FF2B5EF4-FFF2-40B4-BE49-F238E27FC236}">
                <a16:creationId xmlns:a16="http://schemas.microsoft.com/office/drawing/2014/main" id="{03E05222-BC13-7649-87F5-5802BBE096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02063" y="4533900"/>
            <a:ext cx="0" cy="1614488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8" name="Line 22">
            <a:extLst>
              <a:ext uri="{FF2B5EF4-FFF2-40B4-BE49-F238E27FC236}">
                <a16:creationId xmlns:a16="http://schemas.microsoft.com/office/drawing/2014/main" id="{CC6939E5-9714-FF4F-9FFD-734A0ED42AA9}"/>
              </a:ext>
            </a:extLst>
          </p:cNvPr>
          <p:cNvSpPr>
            <a:spLocks noChangeShapeType="1"/>
          </p:cNvSpPr>
          <p:nvPr/>
        </p:nvSpPr>
        <p:spPr bwMode="auto">
          <a:xfrm>
            <a:off x="3471863" y="453390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79" name="Line 23">
            <a:extLst>
              <a:ext uri="{FF2B5EF4-FFF2-40B4-BE49-F238E27FC236}">
                <a16:creationId xmlns:a16="http://schemas.microsoft.com/office/drawing/2014/main" id="{F4C564A5-B9E9-2746-AF83-6517D2E91D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49763" y="4533900"/>
            <a:ext cx="0" cy="16002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0" name="Line 24">
            <a:extLst>
              <a:ext uri="{FF2B5EF4-FFF2-40B4-BE49-F238E27FC236}">
                <a16:creationId xmlns:a16="http://schemas.microsoft.com/office/drawing/2014/main" id="{1A3EDE00-8ECE-CC44-9A3E-901658532D3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9563" y="4546600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1" name="Line 25">
            <a:extLst>
              <a:ext uri="{FF2B5EF4-FFF2-40B4-BE49-F238E27FC236}">
                <a16:creationId xmlns:a16="http://schemas.microsoft.com/office/drawing/2014/main" id="{CD411019-0152-8941-9F45-4BA2D09AEB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081588" y="4545013"/>
            <a:ext cx="0" cy="162877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2" name="Line 26">
            <a:extLst>
              <a:ext uri="{FF2B5EF4-FFF2-40B4-BE49-F238E27FC236}">
                <a16:creationId xmlns:a16="http://schemas.microsoft.com/office/drawing/2014/main" id="{70D09D61-6B31-6F45-8D01-B2BD8C4CF5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751388" y="4545013"/>
            <a:ext cx="0" cy="1601787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3" name="Line 27">
            <a:extLst>
              <a:ext uri="{FF2B5EF4-FFF2-40B4-BE49-F238E27FC236}">
                <a16:creationId xmlns:a16="http://schemas.microsoft.com/office/drawing/2014/main" id="{CF8E9F6F-4CB3-E149-BAA7-BF330CF224B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9288" y="4545013"/>
            <a:ext cx="0" cy="16002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4" name="Line 28">
            <a:extLst>
              <a:ext uri="{FF2B5EF4-FFF2-40B4-BE49-F238E27FC236}">
                <a16:creationId xmlns:a16="http://schemas.microsoft.com/office/drawing/2014/main" id="{B2ED7418-5DFC-6047-A24D-EAD66684E1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9088" y="4557713"/>
            <a:ext cx="0" cy="1601787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5" name="Line 29">
            <a:extLst>
              <a:ext uri="{FF2B5EF4-FFF2-40B4-BE49-F238E27FC236}">
                <a16:creationId xmlns:a16="http://schemas.microsoft.com/office/drawing/2014/main" id="{FE6948A1-978B-6844-BA38-296135941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6426200" y="4538663"/>
            <a:ext cx="1588" cy="1614487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6" name="Line 30">
            <a:extLst>
              <a:ext uri="{FF2B5EF4-FFF2-40B4-BE49-F238E27FC236}">
                <a16:creationId xmlns:a16="http://schemas.microsoft.com/office/drawing/2014/main" id="{FC27D69A-332E-2E41-AB2C-B735541F50FF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564063"/>
            <a:ext cx="0" cy="1601787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7" name="Line 31">
            <a:extLst>
              <a:ext uri="{FF2B5EF4-FFF2-40B4-BE49-F238E27FC236}">
                <a16:creationId xmlns:a16="http://schemas.microsoft.com/office/drawing/2014/main" id="{26F70638-846A-9F4A-9A93-E7C9B13790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73900" y="4538663"/>
            <a:ext cx="0" cy="160020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8" name="Line 32">
            <a:extLst>
              <a:ext uri="{FF2B5EF4-FFF2-40B4-BE49-F238E27FC236}">
                <a16:creationId xmlns:a16="http://schemas.microsoft.com/office/drawing/2014/main" id="{155B894D-1402-934D-9406-4E0ADDA6D2DC}"/>
              </a:ext>
            </a:extLst>
          </p:cNvPr>
          <p:cNvSpPr>
            <a:spLocks noChangeShapeType="1"/>
          </p:cNvSpPr>
          <p:nvPr/>
        </p:nvSpPr>
        <p:spPr bwMode="auto">
          <a:xfrm>
            <a:off x="6743700" y="4551363"/>
            <a:ext cx="0" cy="1601787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89" name="Line 33">
            <a:extLst>
              <a:ext uri="{FF2B5EF4-FFF2-40B4-BE49-F238E27FC236}">
                <a16:creationId xmlns:a16="http://schemas.microsoft.com/office/drawing/2014/main" id="{3C32DFB2-B06B-884D-B1AC-A2695981AF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7000" y="4538663"/>
            <a:ext cx="0" cy="1614487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90" name="Line 34">
            <a:extLst>
              <a:ext uri="{FF2B5EF4-FFF2-40B4-BE49-F238E27FC236}">
                <a16:creationId xmlns:a16="http://schemas.microsoft.com/office/drawing/2014/main" id="{A48BBE0A-CE1C-4D48-AA55-8CDC7255BD7B}"/>
              </a:ext>
            </a:extLst>
          </p:cNvPr>
          <p:cNvSpPr>
            <a:spLocks noChangeShapeType="1"/>
          </p:cNvSpPr>
          <p:nvPr/>
        </p:nvSpPr>
        <p:spPr bwMode="auto">
          <a:xfrm>
            <a:off x="7416800" y="4538663"/>
            <a:ext cx="0" cy="1601787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91" name="Line 35">
            <a:extLst>
              <a:ext uri="{FF2B5EF4-FFF2-40B4-BE49-F238E27FC236}">
                <a16:creationId xmlns:a16="http://schemas.microsoft.com/office/drawing/2014/main" id="{F3DFF82B-3FC0-D64C-A8DB-BE498E7D9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80375" y="4543425"/>
            <a:ext cx="0" cy="1601788"/>
          </a:xfrm>
          <a:prstGeom prst="line">
            <a:avLst/>
          </a:prstGeom>
          <a:noFill/>
          <a:ln w="9525" cap="rnd">
            <a:solidFill>
              <a:srgbClr val="8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3092" name="Text Box 36">
            <a:extLst>
              <a:ext uri="{FF2B5EF4-FFF2-40B4-BE49-F238E27FC236}">
                <a16:creationId xmlns:a16="http://schemas.microsoft.com/office/drawing/2014/main" id="{26DD7EBD-9AA7-FD49-A843-32A3EA952E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46370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093" name="Text Box 37">
            <a:extLst>
              <a:ext uri="{FF2B5EF4-FFF2-40B4-BE49-F238E27FC236}">
                <a16:creationId xmlns:a16="http://schemas.microsoft.com/office/drawing/2014/main" id="{EF1E497A-F855-7B43-9263-3BA501905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5026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094" name="Text Box 38">
            <a:extLst>
              <a:ext uri="{FF2B5EF4-FFF2-40B4-BE49-F238E27FC236}">
                <a16:creationId xmlns:a16="http://schemas.microsoft.com/office/drawing/2014/main" id="{F7FC2D09-6F28-C543-9969-7BD9AA632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3200" y="53911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095" name="Text Box 39">
            <a:extLst>
              <a:ext uri="{FF2B5EF4-FFF2-40B4-BE49-F238E27FC236}">
                <a16:creationId xmlns:a16="http://schemas.microsoft.com/office/drawing/2014/main" id="{56E83FDE-9BAB-3842-9D7B-B908F298C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8913" y="57451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096" name="Text Box 40">
            <a:extLst>
              <a:ext uri="{FF2B5EF4-FFF2-40B4-BE49-F238E27FC236}">
                <a16:creationId xmlns:a16="http://schemas.microsoft.com/office/drawing/2014/main" id="{58B56FAE-DF50-F940-920F-B335D0C36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88" y="4635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097" name="Text Box 41">
            <a:extLst>
              <a:ext uri="{FF2B5EF4-FFF2-40B4-BE49-F238E27FC236}">
                <a16:creationId xmlns:a16="http://schemas.microsoft.com/office/drawing/2014/main" id="{2CB62FD9-002C-EA4A-8590-5A0FD025E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4588" y="50244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098" name="Text Box 42">
            <a:extLst>
              <a:ext uri="{FF2B5EF4-FFF2-40B4-BE49-F238E27FC236}">
                <a16:creationId xmlns:a16="http://schemas.microsoft.com/office/drawing/2014/main" id="{E35AAE14-9676-C94E-BB44-6FCEAC9513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7288" y="53895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099" name="Text Box 43">
            <a:extLst>
              <a:ext uri="{FF2B5EF4-FFF2-40B4-BE49-F238E27FC236}">
                <a16:creationId xmlns:a16="http://schemas.microsoft.com/office/drawing/2014/main" id="{9578F954-31C9-9947-84AF-3DEE5B23E3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93000" y="57435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00" name="Text Box 44">
            <a:extLst>
              <a:ext uri="{FF2B5EF4-FFF2-40B4-BE49-F238E27FC236}">
                <a16:creationId xmlns:a16="http://schemas.microsoft.com/office/drawing/2014/main" id="{9C7FBCDF-A8B3-0D4F-919D-B56CA23E7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913" y="46370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01" name="Text Box 45">
            <a:extLst>
              <a:ext uri="{FF2B5EF4-FFF2-40B4-BE49-F238E27FC236}">
                <a16:creationId xmlns:a16="http://schemas.microsoft.com/office/drawing/2014/main" id="{09012761-B42F-0E41-866A-397CDBB84D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3913" y="5026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02" name="Text Box 46">
            <a:extLst>
              <a:ext uri="{FF2B5EF4-FFF2-40B4-BE49-F238E27FC236}">
                <a16:creationId xmlns:a16="http://schemas.microsoft.com/office/drawing/2014/main" id="{D2B3C970-A950-364C-8F3B-A2CDB1F11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6613" y="53911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03" name="Text Box 47">
            <a:extLst>
              <a:ext uri="{FF2B5EF4-FFF2-40B4-BE49-F238E27FC236}">
                <a16:creationId xmlns:a16="http://schemas.microsoft.com/office/drawing/2014/main" id="{ABCE0F37-BD43-EE40-B809-F6B7DB10F6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325" y="57451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04" name="Text Box 48">
            <a:extLst>
              <a:ext uri="{FF2B5EF4-FFF2-40B4-BE49-F238E27FC236}">
                <a16:creationId xmlns:a16="http://schemas.microsoft.com/office/drawing/2014/main" id="{6C0F48C1-2B73-9B4F-A58D-6D9AE5E0A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46355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05" name="Text Box 49">
            <a:extLst>
              <a:ext uri="{FF2B5EF4-FFF2-40B4-BE49-F238E27FC236}">
                <a16:creationId xmlns:a16="http://schemas.microsoft.com/office/drawing/2014/main" id="{C67E7FB9-EE8B-C948-95F2-4A364BCB5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1488" y="50244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06" name="Text Box 50">
            <a:extLst>
              <a:ext uri="{FF2B5EF4-FFF2-40B4-BE49-F238E27FC236}">
                <a16:creationId xmlns:a16="http://schemas.microsoft.com/office/drawing/2014/main" id="{0A3C572B-B6F7-1241-8370-D6F2B5691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188" y="53895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3107" name="Text Box 51">
            <a:extLst>
              <a:ext uri="{FF2B5EF4-FFF2-40B4-BE49-F238E27FC236}">
                <a16:creationId xmlns:a16="http://schemas.microsoft.com/office/drawing/2014/main" id="{875D478F-1CA4-5E49-8C51-9B7A87D2A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9900" y="57435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08" name="Text Box 52">
            <a:extLst>
              <a:ext uri="{FF2B5EF4-FFF2-40B4-BE49-F238E27FC236}">
                <a16:creationId xmlns:a16="http://schemas.microsoft.com/office/drawing/2014/main" id="{F117C477-07E1-214E-A0D0-5DC6C69009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46370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09" name="Text Box 53">
            <a:extLst>
              <a:ext uri="{FF2B5EF4-FFF2-40B4-BE49-F238E27FC236}">
                <a16:creationId xmlns:a16="http://schemas.microsoft.com/office/drawing/2014/main" id="{99D202CF-D5E6-F14A-95B5-066BF2296A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00813" y="5026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10" name="Text Box 54">
            <a:extLst>
              <a:ext uri="{FF2B5EF4-FFF2-40B4-BE49-F238E27FC236}">
                <a16:creationId xmlns:a16="http://schemas.microsoft.com/office/drawing/2014/main" id="{7984F009-1FB4-AC45-A1FD-555B8D43B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3513" y="53911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11" name="Text Box 55">
            <a:extLst>
              <a:ext uri="{FF2B5EF4-FFF2-40B4-BE49-F238E27FC236}">
                <a16:creationId xmlns:a16="http://schemas.microsoft.com/office/drawing/2014/main" id="{38D57CD7-25B2-184D-9530-A1BC5C2E86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225" y="57451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12" name="Text Box 56">
            <a:extLst>
              <a:ext uri="{FF2B5EF4-FFF2-40B4-BE49-F238E27FC236}">
                <a16:creationId xmlns:a16="http://schemas.microsoft.com/office/drawing/2014/main" id="{A9C332CA-6422-8246-B4EA-FB53CB026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4648200"/>
            <a:ext cx="187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13" name="Text Box 57">
            <a:extLst>
              <a:ext uri="{FF2B5EF4-FFF2-40B4-BE49-F238E27FC236}">
                <a16:creationId xmlns:a16="http://schemas.microsoft.com/office/drawing/2014/main" id="{7E05D7CE-22A9-ED4A-86CA-22AE76EE7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3788" y="50371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14" name="Text Box 58">
            <a:extLst>
              <a:ext uri="{FF2B5EF4-FFF2-40B4-BE49-F238E27FC236}">
                <a16:creationId xmlns:a16="http://schemas.microsoft.com/office/drawing/2014/main" id="{0412842E-D203-994A-9916-E7967AECBA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86488" y="54022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3115" name="Text Box 59">
            <a:extLst>
              <a:ext uri="{FF2B5EF4-FFF2-40B4-BE49-F238E27FC236}">
                <a16:creationId xmlns:a16="http://schemas.microsoft.com/office/drawing/2014/main" id="{90722177-2D20-0743-8EAE-5C2B65BEF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7562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16" name="Text Box 60">
            <a:extLst>
              <a:ext uri="{FF2B5EF4-FFF2-40B4-BE49-F238E27FC236}">
                <a16:creationId xmlns:a16="http://schemas.microsoft.com/office/drawing/2014/main" id="{F20B6BD5-FE9E-CC4A-9289-66F7CAA8F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46497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17" name="Text Box 61">
            <a:extLst>
              <a:ext uri="{FF2B5EF4-FFF2-40B4-BE49-F238E27FC236}">
                <a16:creationId xmlns:a16="http://schemas.microsoft.com/office/drawing/2014/main" id="{287B71A8-9C9A-EC42-824A-407340157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3113" y="50387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18" name="Text Box 62">
            <a:extLst>
              <a:ext uri="{FF2B5EF4-FFF2-40B4-BE49-F238E27FC236}">
                <a16:creationId xmlns:a16="http://schemas.microsoft.com/office/drawing/2014/main" id="{8A450F17-0E43-1249-B141-178566F26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5813" y="54038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19" name="Text Box 63">
            <a:extLst>
              <a:ext uri="{FF2B5EF4-FFF2-40B4-BE49-F238E27FC236}">
                <a16:creationId xmlns:a16="http://schemas.microsoft.com/office/drawing/2014/main" id="{B1D6687E-570C-754A-8E04-BDC9B6F20B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57578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20" name="Text Box 64">
            <a:extLst>
              <a:ext uri="{FF2B5EF4-FFF2-40B4-BE49-F238E27FC236}">
                <a16:creationId xmlns:a16="http://schemas.microsoft.com/office/drawing/2014/main" id="{E57AB9BE-F339-A344-8474-20A1B90446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46370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21" name="Text Box 65">
            <a:extLst>
              <a:ext uri="{FF2B5EF4-FFF2-40B4-BE49-F238E27FC236}">
                <a16:creationId xmlns:a16="http://schemas.microsoft.com/office/drawing/2014/main" id="{9A105BD4-D3F7-0C43-9841-9DE90EC4B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5026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22" name="Text Box 66">
            <a:extLst>
              <a:ext uri="{FF2B5EF4-FFF2-40B4-BE49-F238E27FC236}">
                <a16:creationId xmlns:a16="http://schemas.microsoft.com/office/drawing/2014/main" id="{0DECFC7A-1239-A94B-960F-A8307E124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53911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3123" name="Text Box 67">
            <a:extLst>
              <a:ext uri="{FF2B5EF4-FFF2-40B4-BE49-F238E27FC236}">
                <a16:creationId xmlns:a16="http://schemas.microsoft.com/office/drawing/2014/main" id="{E33F045C-3AA3-A245-AA1A-12CA8E222D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7451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24" name="Text Box 68">
            <a:extLst>
              <a:ext uri="{FF2B5EF4-FFF2-40B4-BE49-F238E27FC236}">
                <a16:creationId xmlns:a16="http://schemas.microsoft.com/office/drawing/2014/main" id="{325C548F-1814-5543-9FB7-861D4975C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313" y="46386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25" name="Text Box 69">
            <a:extLst>
              <a:ext uri="{FF2B5EF4-FFF2-40B4-BE49-F238E27FC236}">
                <a16:creationId xmlns:a16="http://schemas.microsoft.com/office/drawing/2014/main" id="{0F36AD5B-E5E3-C245-B213-BBBB0CECC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7313" y="50276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26" name="Text Box 70">
            <a:extLst>
              <a:ext uri="{FF2B5EF4-FFF2-40B4-BE49-F238E27FC236}">
                <a16:creationId xmlns:a16="http://schemas.microsoft.com/office/drawing/2014/main" id="{4B9673BF-2F04-9044-9BD3-100431D04C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0013" y="53927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27" name="Text Box 71">
            <a:extLst>
              <a:ext uri="{FF2B5EF4-FFF2-40B4-BE49-F238E27FC236}">
                <a16:creationId xmlns:a16="http://schemas.microsoft.com/office/drawing/2014/main" id="{326459C3-335A-4248-AB1F-6F191484E3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5746750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28" name="Text Box 72">
            <a:extLst>
              <a:ext uri="{FF2B5EF4-FFF2-40B4-BE49-F238E27FC236}">
                <a16:creationId xmlns:a16="http://schemas.microsoft.com/office/drawing/2014/main" id="{DFAB65DA-CFBE-4548-97D4-84993B7DA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46529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29" name="Text Box 73">
            <a:extLst>
              <a:ext uri="{FF2B5EF4-FFF2-40B4-BE49-F238E27FC236}">
                <a16:creationId xmlns:a16="http://schemas.microsoft.com/office/drawing/2014/main" id="{B2DA2C60-E0C4-0149-B913-CA80A367D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50419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30" name="Text Box 74">
            <a:extLst>
              <a:ext uri="{FF2B5EF4-FFF2-40B4-BE49-F238E27FC236}">
                <a16:creationId xmlns:a16="http://schemas.microsoft.com/office/drawing/2014/main" id="{DDEEF0BF-CE83-BA40-BF66-DCFE37CD8D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1875" y="54070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5</a:t>
            </a:r>
          </a:p>
        </p:txBody>
      </p:sp>
      <p:sp>
        <p:nvSpPr>
          <p:cNvPr id="173131" name="Text Box 75">
            <a:extLst>
              <a:ext uri="{FF2B5EF4-FFF2-40B4-BE49-F238E27FC236}">
                <a16:creationId xmlns:a16="http://schemas.microsoft.com/office/drawing/2014/main" id="{6C442691-CCA1-2E4F-8C46-DDFD0871E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7588" y="576103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32" name="Text Box 76">
            <a:extLst>
              <a:ext uri="{FF2B5EF4-FFF2-40B4-BE49-F238E27FC236}">
                <a16:creationId xmlns:a16="http://schemas.microsoft.com/office/drawing/2014/main" id="{C464DF01-91FB-904B-998D-EA532B4AC5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46545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33" name="Text Box 77">
            <a:extLst>
              <a:ext uri="{FF2B5EF4-FFF2-40B4-BE49-F238E27FC236}">
                <a16:creationId xmlns:a16="http://schemas.microsoft.com/office/drawing/2014/main" id="{4012E799-91E3-9B48-9DB1-904B5E9078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8500" y="50434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34" name="Text Box 78">
            <a:extLst>
              <a:ext uri="{FF2B5EF4-FFF2-40B4-BE49-F238E27FC236}">
                <a16:creationId xmlns:a16="http://schemas.microsoft.com/office/drawing/2014/main" id="{B5444BF4-6C54-E041-8927-9893F875A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1200" y="54086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35" name="Text Box 79">
            <a:extLst>
              <a:ext uri="{FF2B5EF4-FFF2-40B4-BE49-F238E27FC236}">
                <a16:creationId xmlns:a16="http://schemas.microsoft.com/office/drawing/2014/main" id="{D01BB1A9-D8DE-8640-9FF2-5B148666D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6913" y="576262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36" name="Text Box 80">
            <a:extLst>
              <a:ext uri="{FF2B5EF4-FFF2-40B4-BE49-F238E27FC236}">
                <a16:creationId xmlns:a16="http://schemas.microsoft.com/office/drawing/2014/main" id="{A95E1298-4576-5E4D-BD54-062C26FC06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46561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37" name="Text Box 81">
            <a:extLst>
              <a:ext uri="{FF2B5EF4-FFF2-40B4-BE49-F238E27FC236}">
                <a16:creationId xmlns:a16="http://schemas.microsoft.com/office/drawing/2014/main" id="{B4320F9C-EF18-F04B-B98C-993CB5959C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463" y="50450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38" name="Text Box 82">
            <a:extLst>
              <a:ext uri="{FF2B5EF4-FFF2-40B4-BE49-F238E27FC236}">
                <a16:creationId xmlns:a16="http://schemas.microsoft.com/office/drawing/2014/main" id="{A3763F17-B2D5-4847-8986-94236C4C2B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54102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39" name="Text Box 83">
            <a:extLst>
              <a:ext uri="{FF2B5EF4-FFF2-40B4-BE49-F238E27FC236}">
                <a16:creationId xmlns:a16="http://schemas.microsoft.com/office/drawing/2014/main" id="{70B9FCC8-047B-1C48-8B1A-B975C0AFB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6875" y="576421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40" name="Text Box 84">
            <a:extLst>
              <a:ext uri="{FF2B5EF4-FFF2-40B4-BE49-F238E27FC236}">
                <a16:creationId xmlns:a16="http://schemas.microsoft.com/office/drawing/2014/main" id="{66F8A96F-B3C7-E549-ABE1-71911E90D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46577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41" name="Text Box 85">
            <a:extLst>
              <a:ext uri="{FF2B5EF4-FFF2-40B4-BE49-F238E27FC236}">
                <a16:creationId xmlns:a16="http://schemas.microsoft.com/office/drawing/2014/main" id="{2B10A166-1706-4048-8A22-D1E69540F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7788" y="50466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42" name="Text Box 86">
            <a:extLst>
              <a:ext uri="{FF2B5EF4-FFF2-40B4-BE49-F238E27FC236}">
                <a16:creationId xmlns:a16="http://schemas.microsoft.com/office/drawing/2014/main" id="{F378533D-FED3-5A4A-B4FD-54B305DBEA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0488" y="54117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43" name="Text Box 87">
            <a:extLst>
              <a:ext uri="{FF2B5EF4-FFF2-40B4-BE49-F238E27FC236}">
                <a16:creationId xmlns:a16="http://schemas.microsoft.com/office/drawing/2014/main" id="{E9D3AF17-71AA-5547-B5B5-00367E04D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5765800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44" name="Text Box 88">
            <a:extLst>
              <a:ext uri="{FF2B5EF4-FFF2-40B4-BE49-F238E27FC236}">
                <a16:creationId xmlns:a16="http://schemas.microsoft.com/office/drawing/2014/main" id="{DE8B199B-C2C3-3F46-A5C0-0282B9051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465931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45" name="Text Box 89">
            <a:extLst>
              <a:ext uri="{FF2B5EF4-FFF2-40B4-BE49-F238E27FC236}">
                <a16:creationId xmlns:a16="http://schemas.microsoft.com/office/drawing/2014/main" id="{D67F2FB4-3597-0B40-B06F-B1DC4D85B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50482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46" name="Text Box 90">
            <a:extLst>
              <a:ext uri="{FF2B5EF4-FFF2-40B4-BE49-F238E27FC236}">
                <a16:creationId xmlns:a16="http://schemas.microsoft.com/office/drawing/2014/main" id="{B01AD058-DB70-E144-8A70-A7A88D5DD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7750" y="541337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47" name="Text Box 91">
            <a:extLst>
              <a:ext uri="{FF2B5EF4-FFF2-40B4-BE49-F238E27FC236}">
                <a16:creationId xmlns:a16="http://schemas.microsoft.com/office/drawing/2014/main" id="{9131EC7C-DACF-F34D-B590-8C472287AD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463" y="5767388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48" name="Text Box 92">
            <a:extLst>
              <a:ext uri="{FF2B5EF4-FFF2-40B4-BE49-F238E27FC236}">
                <a16:creationId xmlns:a16="http://schemas.microsoft.com/office/drawing/2014/main" id="{9A02C03D-190A-764A-AC42-8128FCB16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46609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49" name="Text Box 93">
            <a:extLst>
              <a:ext uri="{FF2B5EF4-FFF2-40B4-BE49-F238E27FC236}">
                <a16:creationId xmlns:a16="http://schemas.microsoft.com/office/drawing/2014/main" id="{80AC683D-0D78-C449-8074-6CC5220A4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4375" y="50498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50" name="Text Box 94">
            <a:extLst>
              <a:ext uri="{FF2B5EF4-FFF2-40B4-BE49-F238E27FC236}">
                <a16:creationId xmlns:a16="http://schemas.microsoft.com/office/drawing/2014/main" id="{5A52F616-A7BF-0B44-96D0-A43221810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7075" y="54149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51" name="Text Box 95">
            <a:extLst>
              <a:ext uri="{FF2B5EF4-FFF2-40B4-BE49-F238E27FC236}">
                <a16:creationId xmlns:a16="http://schemas.microsoft.com/office/drawing/2014/main" id="{6E26A3C1-BE0F-294E-B182-40F82A81FF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2788" y="57689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52" name="Text Box 96">
            <a:extLst>
              <a:ext uri="{FF2B5EF4-FFF2-40B4-BE49-F238E27FC236}">
                <a16:creationId xmlns:a16="http://schemas.microsoft.com/office/drawing/2014/main" id="{2AAD1E70-746A-664F-A7B9-8C77CFF66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763" y="46482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53" name="Text Box 97">
            <a:extLst>
              <a:ext uri="{FF2B5EF4-FFF2-40B4-BE49-F238E27FC236}">
                <a16:creationId xmlns:a16="http://schemas.microsoft.com/office/drawing/2014/main" id="{71326B76-4A03-D447-BC66-8E3C5DD58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5763" y="50371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54" name="Text Box 98">
            <a:extLst>
              <a:ext uri="{FF2B5EF4-FFF2-40B4-BE49-F238E27FC236}">
                <a16:creationId xmlns:a16="http://schemas.microsoft.com/office/drawing/2014/main" id="{4CC20C78-D1F2-E843-89A8-E0D3C1E53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54022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55" name="Text Box 99">
            <a:extLst>
              <a:ext uri="{FF2B5EF4-FFF2-40B4-BE49-F238E27FC236}">
                <a16:creationId xmlns:a16="http://schemas.microsoft.com/office/drawing/2014/main" id="{E93CA833-27C6-D547-91A7-69E70A9FD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5" y="5756275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4</a:t>
            </a:r>
          </a:p>
        </p:txBody>
      </p:sp>
      <p:sp>
        <p:nvSpPr>
          <p:cNvPr id="173156" name="Text Box 100">
            <a:extLst>
              <a:ext uri="{FF2B5EF4-FFF2-40B4-BE49-F238E27FC236}">
                <a16:creationId xmlns:a16="http://schemas.microsoft.com/office/drawing/2014/main" id="{3B3CE431-9269-9644-86E6-03F71650D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46497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57" name="Text Box 101">
            <a:extLst>
              <a:ext uri="{FF2B5EF4-FFF2-40B4-BE49-F238E27FC236}">
                <a16:creationId xmlns:a16="http://schemas.microsoft.com/office/drawing/2014/main" id="{85728A28-9238-144C-912B-5AD598D54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9688" y="50387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58" name="Text Box 102">
            <a:extLst>
              <a:ext uri="{FF2B5EF4-FFF2-40B4-BE49-F238E27FC236}">
                <a16:creationId xmlns:a16="http://schemas.microsoft.com/office/drawing/2014/main" id="{E93A5972-8716-E948-AD95-DA597AA650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2388" y="54038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59" name="Text Box 103">
            <a:extLst>
              <a:ext uri="{FF2B5EF4-FFF2-40B4-BE49-F238E27FC236}">
                <a16:creationId xmlns:a16="http://schemas.microsoft.com/office/drawing/2014/main" id="{EA145D85-54DB-BB45-BAAE-8A9EBCF87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8100" y="5757863"/>
            <a:ext cx="3079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60" name="Text Box 104">
            <a:extLst>
              <a:ext uri="{FF2B5EF4-FFF2-40B4-BE49-F238E27FC236}">
                <a16:creationId xmlns:a16="http://schemas.microsoft.com/office/drawing/2014/main" id="{23E01DF4-62D5-2C4E-B249-2F2F90B176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3300" y="46482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61" name="Text Box 105">
            <a:extLst>
              <a:ext uri="{FF2B5EF4-FFF2-40B4-BE49-F238E27FC236}">
                <a16:creationId xmlns:a16="http://schemas.microsoft.com/office/drawing/2014/main" id="{34EEB027-8BEF-E549-96F6-204C21DD84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59013" y="50371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62" name="Text Box 106">
            <a:extLst>
              <a:ext uri="{FF2B5EF4-FFF2-40B4-BE49-F238E27FC236}">
                <a16:creationId xmlns:a16="http://schemas.microsoft.com/office/drawing/2014/main" id="{154AF245-DF93-C84F-B4A9-1E9F53B9B5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1713" y="5402263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3</a:t>
            </a:r>
          </a:p>
        </p:txBody>
      </p:sp>
      <p:sp>
        <p:nvSpPr>
          <p:cNvPr id="173163" name="Text Box 107">
            <a:extLst>
              <a:ext uri="{FF2B5EF4-FFF2-40B4-BE49-F238E27FC236}">
                <a16:creationId xmlns:a16="http://schemas.microsoft.com/office/drawing/2014/main" id="{0AF00580-91B3-A640-9631-327B106E8E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46497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64" name="Text Box 108">
            <a:extLst>
              <a:ext uri="{FF2B5EF4-FFF2-40B4-BE49-F238E27FC236}">
                <a16:creationId xmlns:a16="http://schemas.microsoft.com/office/drawing/2014/main" id="{983DB133-84BE-314A-93F9-676E9B9CF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8338" y="50387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65" name="Text Box 109">
            <a:extLst>
              <a:ext uri="{FF2B5EF4-FFF2-40B4-BE49-F238E27FC236}">
                <a16:creationId xmlns:a16="http://schemas.microsoft.com/office/drawing/2014/main" id="{E1C53858-D370-6642-A84A-720ACC99F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1038" y="540385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66" name="Text Box 110">
            <a:extLst>
              <a:ext uri="{FF2B5EF4-FFF2-40B4-BE49-F238E27FC236}">
                <a16:creationId xmlns:a16="http://schemas.microsoft.com/office/drawing/2014/main" id="{21699CC6-F9BE-744A-8986-CE7C782070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46482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67" name="Text Box 111">
            <a:extLst>
              <a:ext uri="{FF2B5EF4-FFF2-40B4-BE49-F238E27FC236}">
                <a16:creationId xmlns:a16="http://schemas.microsoft.com/office/drawing/2014/main" id="{C4769B6B-1AD0-7040-A512-58A08E362B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3213" y="503713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2</a:t>
            </a:r>
          </a:p>
        </p:txBody>
      </p:sp>
      <p:sp>
        <p:nvSpPr>
          <p:cNvPr id="173168" name="Text Box 112">
            <a:extLst>
              <a:ext uri="{FF2B5EF4-FFF2-40B4-BE49-F238E27FC236}">
                <a16:creationId xmlns:a16="http://schemas.microsoft.com/office/drawing/2014/main" id="{209C8729-444C-8E45-A7DE-6871477FA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38" y="46497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69" name="Text Box 113">
            <a:extLst>
              <a:ext uri="{FF2B5EF4-FFF2-40B4-BE49-F238E27FC236}">
                <a16:creationId xmlns:a16="http://schemas.microsoft.com/office/drawing/2014/main" id="{4DF14073-49C8-B44C-A177-3351CB332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2538" y="5038725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173170" name="Text Box 114">
            <a:extLst>
              <a:ext uri="{FF2B5EF4-FFF2-40B4-BE49-F238E27FC236}">
                <a16:creationId xmlns:a16="http://schemas.microsoft.com/office/drawing/2014/main" id="{4A4E3D68-2EFC-9C43-A8DD-22E7910C1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513" y="4660900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173171" name="Text Box 115">
            <a:extLst>
              <a:ext uri="{FF2B5EF4-FFF2-40B4-BE49-F238E27FC236}">
                <a16:creationId xmlns:a16="http://schemas.microsoft.com/office/drawing/2014/main" id="{4059A12C-9D5A-784D-9E63-FAC7475BE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838" y="4662488"/>
            <a:ext cx="3492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</a:p>
        </p:txBody>
      </p:sp>
      <p:sp>
        <p:nvSpPr>
          <p:cNvPr id="618612" name="Text Box 116">
            <a:extLst>
              <a:ext uri="{FF2B5EF4-FFF2-40B4-BE49-F238E27FC236}">
                <a16:creationId xmlns:a16="http://schemas.microsoft.com/office/drawing/2014/main" id="{0F76778B-E740-9D4B-B050-D65E6F8E5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773113"/>
            <a:ext cx="3644900" cy="86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9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即：计数值为</a:t>
            </a:r>
            <a:r>
              <a:rPr kumimoji="1" lang="en-US" altLang="zh-CN" sz="19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19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的行中的主存块最常被访问，计数值为</a:t>
            </a:r>
            <a:r>
              <a:rPr kumimoji="1" lang="en-US" altLang="zh-CN" sz="19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1900" b="1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的行中的主存块最不经常被访问，先被淘汰！</a:t>
            </a:r>
          </a:p>
        </p:txBody>
      </p:sp>
      <p:sp>
        <p:nvSpPr>
          <p:cNvPr id="618613" name="Text Box 117">
            <a:extLst>
              <a:ext uri="{FF2B5EF4-FFF2-40B4-BE49-F238E27FC236}">
                <a16:creationId xmlns:a16="http://schemas.microsoft.com/office/drawing/2014/main" id="{54437354-7F64-B14C-A0BA-E9E96D3A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8" y="863600"/>
            <a:ext cx="2932112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通过计数值来确定</a:t>
            </a:r>
            <a:r>
              <a:rPr kumimoji="1" lang="en-US" altLang="zh-CN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0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行中主存块的使用情况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8612" grpId="0"/>
      <p:bldP spid="61861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B28CD958-C410-1741-9520-1894F9EC019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en-US" altLang="zh-CN"/>
              <a:t>The Need to Replace! (</a:t>
            </a:r>
            <a:r>
              <a:rPr lang="zh-CN" altLang="en-US"/>
              <a:t>何时需要替换？</a:t>
            </a:r>
            <a:r>
              <a:rPr lang="en-US" altLang="zh-CN"/>
              <a:t>)</a:t>
            </a:r>
            <a:endParaRPr lang="zh-CN" altLang="en-US"/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30AEFD30-F037-8D45-B1C8-2F992450C5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495300" y="914400"/>
            <a:ext cx="8191500" cy="5389563"/>
          </a:xfrm>
          <a:noFill/>
        </p:spPr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Direct Mapped Cache:</a:t>
            </a:r>
            <a:endParaRPr lang="en-US" altLang="zh-CN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映射唯一，毫无选择，无需考虑替换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N-way Set Associative Cache: </a:t>
            </a:r>
            <a:endParaRPr lang="en-US" altLang="zh-CN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每个主存数据有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行可选择，需考虑替换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Fully Associative Cache:</a:t>
            </a:r>
            <a:endParaRPr lang="en-US" altLang="zh-CN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每个主存数据可存放到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任意行中，需考虑替换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结论：若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 miss in a N-way Set Associative or Fully Associative 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，则可能需要替换。其过程为：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从主存取出一个新块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选择一个有映射关系的空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</a:p>
          <a:p>
            <a:pPr lvl="1" eaLnBrk="1" hangingPunct="1"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若对应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行被占满时又需调入新主存块，则必须考虑从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行中替换出一个主存块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5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05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5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>
            <a:extLst>
              <a:ext uri="{FF2B5EF4-FFF2-40B4-BE49-F238E27FC236}">
                <a16:creationId xmlns:a16="http://schemas.microsoft.com/office/drawing/2014/main" id="{1500EC55-68E6-F941-B1A6-583FBC83A7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举例</a:t>
            </a:r>
          </a:p>
        </p:txBody>
      </p:sp>
      <p:sp>
        <p:nvSpPr>
          <p:cNvPr id="175107" name="Rectangle 3">
            <a:extLst>
              <a:ext uri="{FF2B5EF4-FFF2-40B4-BE49-F238E27FC236}">
                <a16:creationId xmlns:a16="http://schemas.microsoft.com/office/drawing/2014/main" id="{CBC70F82-6901-484A-A46B-B8E861D9B7E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857250"/>
            <a:ext cx="8247063" cy="3717925"/>
          </a:xfrm>
        </p:spPr>
        <p:txBody>
          <a:bodyPr lIns="0" tIns="0" rIns="0" bIns="0"/>
          <a:lstStyle/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假定计算机系统主存空间大小为32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Kx16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位，且有一个4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字的</a:t>
            </a:r>
            <a:r>
              <a:rPr lang="zh-CN" altLang="en-US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4路组相联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Cache，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主存和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之间的数据交换块的大小为64字。假定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开始为空，处理器顺序地从存储单元0、1、…、4351中取数，一共重复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次。设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比主存快10倍。采用</a:t>
            </a:r>
            <a:r>
              <a:rPr lang="en-US" altLang="zh-CN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lang="zh-CN" altLang="en-US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。试分析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的结构和主存地址的划分。说明采用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后速度提高了多少？采用</a:t>
            </a:r>
            <a:r>
              <a:rPr lang="en-US" altLang="zh-CN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MRU</a:t>
            </a:r>
            <a:r>
              <a:rPr lang="zh-CN" altLang="en-US" sz="200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后呢？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</a:pP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答：假定主存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按字编址</a:t>
            </a: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。每字16位。</a:t>
            </a: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主存：32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字=512块 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64</a:t>
            </a: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 / 块  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=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zh-CN" altLang="en-US" sz="200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Cache：4K</a:t>
            </a: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字=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16组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4</a:t>
            </a:r>
            <a:r>
              <a:rPr lang="zh-CN" altLang="en-US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 / 组 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64 </a:t>
            </a: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 / 行   </a:t>
            </a:r>
            <a:r>
              <a:rPr lang="en-US" altLang="zh-CN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200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ct val="30000"/>
              </a:spcBef>
              <a:buFontTx/>
              <a:buNone/>
            </a:pPr>
            <a:r>
              <a:rPr lang="zh-CN" altLang="en-US" sz="200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主存地址划分为：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D36F11CF-DEDD-2A43-B89D-ACC27483E15C}"/>
              </a:ext>
            </a:extLst>
          </p:cNvPr>
          <p:cNvGrpSpPr>
            <a:grpSpLocks/>
          </p:cNvGrpSpPr>
          <p:nvPr/>
        </p:nvGrpSpPr>
        <p:grpSpPr bwMode="auto">
          <a:xfrm>
            <a:off x="3222625" y="4518025"/>
            <a:ext cx="5041900" cy="971550"/>
            <a:chOff x="1944" y="2614"/>
            <a:chExt cx="3176" cy="612"/>
          </a:xfrm>
        </p:grpSpPr>
        <p:sp>
          <p:nvSpPr>
            <p:cNvPr id="175114" name="Text Box 4">
              <a:extLst>
                <a:ext uri="{FF2B5EF4-FFF2-40B4-BE49-F238E27FC236}">
                  <a16:creationId xmlns:a16="http://schemas.microsoft.com/office/drawing/2014/main" id="{4C50D810-4C85-E441-B770-F5028FA220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1" y="2642"/>
              <a:ext cx="6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000" b="1">
                  <a:ea typeface="黑体" panose="02010609060101010101" pitchFamily="49" charset="-122"/>
                </a:rPr>
                <a:t>字号</a:t>
              </a:r>
            </a:p>
          </p:txBody>
        </p:sp>
        <p:grpSp>
          <p:nvGrpSpPr>
            <p:cNvPr id="175115" name="Group 5">
              <a:extLst>
                <a:ext uri="{FF2B5EF4-FFF2-40B4-BE49-F238E27FC236}">
                  <a16:creationId xmlns:a16="http://schemas.microsoft.com/office/drawing/2014/main" id="{68A4B532-F4C0-334C-BC31-67DCB4CCFB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44" y="2614"/>
              <a:ext cx="3158" cy="612"/>
              <a:chOff x="2394" y="2898"/>
              <a:chExt cx="3158" cy="612"/>
            </a:xfrm>
          </p:grpSpPr>
          <p:sp>
            <p:nvSpPr>
              <p:cNvPr id="175116" name="Rectangle 6">
                <a:extLst>
                  <a:ext uri="{FF2B5EF4-FFF2-40B4-BE49-F238E27FC236}">
                    <a16:creationId xmlns:a16="http://schemas.microsoft.com/office/drawing/2014/main" id="{CE2740B3-C4D8-9749-80A2-D9E8BBDED1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4" y="2904"/>
                <a:ext cx="3158" cy="305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endParaRPr kumimoji="1" lang="zh-CN" altLang="en-US" sz="1800" b="1" i="1">
                  <a:solidFill>
                    <a:srgbClr val="666699"/>
                  </a:solidFill>
                  <a:ea typeface="华文新魏" panose="02010800040101010101" pitchFamily="2" charset="-122"/>
                </a:endParaRPr>
              </a:p>
            </p:txBody>
          </p:sp>
          <p:sp>
            <p:nvSpPr>
              <p:cNvPr id="175117" name="Line 7">
                <a:extLst>
                  <a:ext uri="{FF2B5EF4-FFF2-40B4-BE49-F238E27FC236}">
                    <a16:creationId xmlns:a16="http://schemas.microsoft.com/office/drawing/2014/main" id="{FE28EB5A-7F58-FC4D-B14C-60BB59532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6" y="2903"/>
                <a:ext cx="0" cy="30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5118" name="Line 8">
                <a:extLst>
                  <a:ext uri="{FF2B5EF4-FFF2-40B4-BE49-F238E27FC236}">
                    <a16:creationId xmlns:a16="http://schemas.microsoft.com/office/drawing/2014/main" id="{E94106E0-8071-B844-9402-09B658CB6B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06" y="2903"/>
                <a:ext cx="0" cy="30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175119" name="Text Box 9">
                <a:extLst>
                  <a:ext uri="{FF2B5EF4-FFF2-40B4-BE49-F238E27FC236}">
                    <a16:creationId xmlns:a16="http://schemas.microsoft.com/office/drawing/2014/main" id="{4349DD6E-0658-AB41-BB1A-A279E6FABD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16" y="2904"/>
                <a:ext cx="923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000" b="1">
                    <a:ea typeface="黑体" panose="02010609060101010101" pitchFamily="49" charset="-122"/>
                  </a:rPr>
                  <a:t>标志位</a:t>
                </a:r>
              </a:p>
            </p:txBody>
          </p:sp>
          <p:sp>
            <p:nvSpPr>
              <p:cNvPr id="175120" name="Text Box 10">
                <a:extLst>
                  <a:ext uri="{FF2B5EF4-FFF2-40B4-BE49-F238E27FC236}">
                    <a16:creationId xmlns:a16="http://schemas.microsoft.com/office/drawing/2014/main" id="{AEC53A1D-AAC2-7543-9228-176C5BFB7DA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1" y="2898"/>
                <a:ext cx="60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000" b="1">
                    <a:ea typeface="黑体" panose="02010609060101010101" pitchFamily="49" charset="-122"/>
                  </a:rPr>
                  <a:t>组号</a:t>
                </a:r>
              </a:p>
            </p:txBody>
          </p:sp>
          <p:sp>
            <p:nvSpPr>
              <p:cNvPr id="175121" name="Text Box 11">
                <a:extLst>
                  <a:ext uri="{FF2B5EF4-FFF2-40B4-BE49-F238E27FC236}">
                    <a16:creationId xmlns:a16="http://schemas.microsoft.com/office/drawing/2014/main" id="{169EE9BA-167E-BD4D-AD88-B20CFB2AFF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48" y="3212"/>
                <a:ext cx="3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>
                    <a:ea typeface="宋体" panose="02010600030101010101" pitchFamily="2" charset="-122"/>
                  </a:rPr>
                  <a:t>6</a:t>
                </a:r>
              </a:p>
            </p:txBody>
          </p:sp>
          <p:sp>
            <p:nvSpPr>
              <p:cNvPr id="175122" name="Text Box 12">
                <a:extLst>
                  <a:ext uri="{FF2B5EF4-FFF2-40B4-BE49-F238E27FC236}">
                    <a16:creationId xmlns:a16="http://schemas.microsoft.com/office/drawing/2014/main" id="{FC409A31-7B3C-0647-82B7-51B7DA166F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05" y="3222"/>
                <a:ext cx="3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>
                    <a:ea typeface="宋体" panose="02010600030101010101" pitchFamily="2" charset="-122"/>
                  </a:rPr>
                  <a:t>4</a:t>
                </a:r>
              </a:p>
            </p:txBody>
          </p:sp>
          <p:sp>
            <p:nvSpPr>
              <p:cNvPr id="175123" name="Text Box 13">
                <a:extLst>
                  <a:ext uri="{FF2B5EF4-FFF2-40B4-BE49-F238E27FC236}">
                    <a16:creationId xmlns:a16="http://schemas.microsoft.com/office/drawing/2014/main" id="{7DA8D6F9-8B87-EA42-B11F-1A41BC893A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7" y="3222"/>
                <a:ext cx="339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zh-CN" altLang="en-US" sz="2400">
                    <a:ea typeface="宋体" panose="02010600030101010101" pitchFamily="2" charset="-122"/>
                  </a:rPr>
                  <a:t>5</a:t>
                </a:r>
              </a:p>
            </p:txBody>
          </p:sp>
        </p:grpSp>
      </p:grpSp>
      <p:sp>
        <p:nvSpPr>
          <p:cNvPr id="458766" name="Text Box 14">
            <a:extLst>
              <a:ext uri="{FF2B5EF4-FFF2-40B4-BE49-F238E27FC236}">
                <a16:creationId xmlns:a16="http://schemas.microsoft.com/office/drawing/2014/main" id="{243D0D5A-4D3D-364E-8213-1D9C3EE78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5473700"/>
            <a:ext cx="80692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4352/64=68，所以访问过程实际上是对前68块连续访问10次。</a:t>
            </a:r>
            <a:endParaRPr kumimoji="1" lang="en-US" altLang="zh-CN" sz="2200" b="1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75110" name="直接连接符 118">
            <a:extLst>
              <a:ext uri="{FF2B5EF4-FFF2-40B4-BE49-F238E27FC236}">
                <a16:creationId xmlns:a16="http://schemas.microsoft.com/office/drawing/2014/main" id="{B0B353D5-B5A1-B440-91F6-1DB6DE0BFE6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3414713" y="4168775"/>
            <a:ext cx="3128962" cy="230188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5111" name="直接连接符 118">
            <a:extLst>
              <a:ext uri="{FF2B5EF4-FFF2-40B4-BE49-F238E27FC236}">
                <a16:creationId xmlns:a16="http://schemas.microsoft.com/office/drawing/2014/main" id="{BD1E65B6-5915-7F4E-B95B-44D27614E104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5835650" y="4144963"/>
            <a:ext cx="2138363" cy="277812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Text Box 14">
            <a:extLst>
              <a:ext uri="{FF2B5EF4-FFF2-40B4-BE49-F238E27FC236}">
                <a16:creationId xmlns:a16="http://schemas.microsoft.com/office/drawing/2014/main" id="{460EE33A-43BD-6447-B2C1-EE456155FB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2850" y="5815013"/>
            <a:ext cx="3427413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0, 1,…, 63 </a:t>
            </a:r>
            <a:r>
              <a:rPr kumimoji="1" lang="zh-CN" altLang="en-US" sz="14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（单元）   </a:t>
            </a: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=》 Block 0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64, 65, …, 127   </a:t>
            </a: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=&gt; Block 1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, …       , 4351 </a:t>
            </a: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=&gt; Block 67   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4814AC5A-6079-7C45-AE1A-FD816592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9813" y="5815013"/>
            <a:ext cx="325755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 mod 16 =0, 1 mod 16 =1,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16 mod 16 =0, 17 mod 16=1, …</a:t>
            </a:r>
          </a:p>
          <a:p>
            <a:pPr eaLnBrk="1" hangingPunct="1">
              <a:spcBef>
                <a:spcPct val="50000"/>
              </a:spcBef>
            </a:pPr>
            <a:r>
              <a:rPr kumimoji="1" lang="en-US" altLang="zh-CN" sz="14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8766" grpId="0"/>
      <p:bldP spid="18" grpId="0"/>
      <p:bldP spid="1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>
            <a:extLst>
              <a:ext uri="{FF2B5EF4-FFF2-40B4-BE49-F238E27FC236}">
                <a16:creationId xmlns:a16="http://schemas.microsoft.com/office/drawing/2014/main" id="{5F5C39F3-C186-6A4B-954A-97DFAF3B6D2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举例</a:t>
            </a:r>
          </a:p>
        </p:txBody>
      </p:sp>
      <p:sp>
        <p:nvSpPr>
          <p:cNvPr id="176131" name="Line 3">
            <a:extLst>
              <a:ext uri="{FF2B5EF4-FFF2-40B4-BE49-F238E27FC236}">
                <a16:creationId xmlns:a16="http://schemas.microsoft.com/office/drawing/2014/main" id="{E14B5D60-E791-8B43-850C-BCA209A4A2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17513" y="1208088"/>
            <a:ext cx="84042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32" name="Line 4">
            <a:extLst>
              <a:ext uri="{FF2B5EF4-FFF2-40B4-BE49-F238E27FC236}">
                <a16:creationId xmlns:a16="http://schemas.microsoft.com/office/drawing/2014/main" id="{262EEA09-C200-CD41-A909-13AA67A3DD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177925" y="900113"/>
            <a:ext cx="0" cy="4137025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6133" name="Text Box 5">
            <a:extLst>
              <a:ext uri="{FF2B5EF4-FFF2-40B4-BE49-F238E27FC236}">
                <a16:creationId xmlns:a16="http://schemas.microsoft.com/office/drawing/2014/main" id="{295AB02F-FC82-2F47-8545-EFDD3B68F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447800"/>
            <a:ext cx="1062038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第0组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第2组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第3组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第4组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第15组</a:t>
            </a:r>
          </a:p>
        </p:txBody>
      </p:sp>
      <p:sp>
        <p:nvSpPr>
          <p:cNvPr id="176134" name="Text Box 6">
            <a:extLst>
              <a:ext uri="{FF2B5EF4-FFF2-40B4-BE49-F238E27FC236}">
                <a16:creationId xmlns:a16="http://schemas.microsoft.com/office/drawing/2014/main" id="{40461BDB-5F04-434A-9AF7-B01199488C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838200"/>
            <a:ext cx="9620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第0 </a:t>
            </a:r>
            <a:r>
              <a:rPr kumimoji="1" lang="zh-CN" altLang="en-US" sz="2200" b="1">
                <a:ea typeface="宋体" panose="02010600030101010101" pitchFamily="2" charset="-122"/>
              </a:rPr>
              <a:t>行</a:t>
            </a:r>
            <a:endParaRPr kumimoji="1" lang="en-US" altLang="zh-CN" sz="2200" b="1">
              <a:ea typeface="宋体" panose="02010600030101010101" pitchFamily="2" charset="-122"/>
            </a:endParaRPr>
          </a:p>
        </p:txBody>
      </p:sp>
      <p:sp>
        <p:nvSpPr>
          <p:cNvPr id="176135" name="Text Box 7">
            <a:extLst>
              <a:ext uri="{FF2B5EF4-FFF2-40B4-BE49-F238E27FC236}">
                <a16:creationId xmlns:a16="http://schemas.microsoft.com/office/drawing/2014/main" id="{EE373883-19E3-2E4E-96F8-146C48E73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830263"/>
            <a:ext cx="1019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6136" name="Text Box 8">
            <a:extLst>
              <a:ext uri="{FF2B5EF4-FFF2-40B4-BE49-F238E27FC236}">
                <a16:creationId xmlns:a16="http://schemas.microsoft.com/office/drawing/2014/main" id="{5418B8B8-5F70-9D4C-B718-4B8351E44F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823913"/>
            <a:ext cx="95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第2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6137" name="Text Box 9">
            <a:extLst>
              <a:ext uri="{FF2B5EF4-FFF2-40B4-BE49-F238E27FC236}">
                <a16:creationId xmlns:a16="http://schemas.microsoft.com/office/drawing/2014/main" id="{BC75D3F7-36C3-8044-B4E6-893CD77DE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88" y="841375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第3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6138" name="Text Box 10">
            <a:extLst>
              <a:ext uri="{FF2B5EF4-FFF2-40B4-BE49-F238E27FC236}">
                <a16:creationId xmlns:a16="http://schemas.microsoft.com/office/drawing/2014/main" id="{293EABE3-BDB9-C84D-842E-D34782C2ED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1397000"/>
            <a:ext cx="1479550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2"/>
                </a:solidFill>
                <a:ea typeface="宋体" panose="02010600030101010101" pitchFamily="2" charset="-122"/>
              </a:rPr>
              <a:t>0</a:t>
            </a:r>
            <a:r>
              <a:rPr kumimoji="1" lang="zh-CN" altLang="en-US" sz="2000" b="1">
                <a:ea typeface="宋体" panose="02010600030101010101" pitchFamily="2" charset="-122"/>
              </a:rPr>
              <a:t>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64</a:t>
            </a:r>
            <a:r>
              <a:rPr kumimoji="1" lang="zh-CN" altLang="en-US" sz="2000" b="1">
                <a:ea typeface="宋体" panose="02010600030101010101" pitchFamily="2" charset="-122"/>
              </a:rPr>
              <a:t>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48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chemeClr val="accent2"/>
                </a:solidFill>
                <a:ea typeface="宋体" panose="02010600030101010101" pitchFamily="2" charset="-122"/>
              </a:rPr>
              <a:t>1</a:t>
            </a:r>
            <a:r>
              <a:rPr kumimoji="1" lang="zh-CN" altLang="en-US" sz="2000" b="1">
                <a:ea typeface="宋体" panose="02010600030101010101" pitchFamily="2" charset="-122"/>
              </a:rPr>
              <a:t>/65/49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2/66/50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3/67/51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15</a:t>
            </a:r>
          </a:p>
        </p:txBody>
      </p:sp>
      <p:sp>
        <p:nvSpPr>
          <p:cNvPr id="176139" name="Text Box 11">
            <a:extLst>
              <a:ext uri="{FF2B5EF4-FFF2-40B4-BE49-F238E27FC236}">
                <a16:creationId xmlns:a16="http://schemas.microsoft.com/office/drawing/2014/main" id="{BB5FBDDE-4E01-2B4E-8BD3-EB73095A1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3250" y="1390650"/>
            <a:ext cx="15335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16/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  <a:r>
              <a:rPr kumimoji="1" lang="zh-CN" altLang="en-US" sz="2000" b="1">
                <a:ea typeface="宋体" panose="02010600030101010101" pitchFamily="2" charset="-122"/>
              </a:rPr>
              <a:t>/64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17/1/65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18/2/66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19/3/67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20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31</a:t>
            </a:r>
          </a:p>
        </p:txBody>
      </p:sp>
      <p:sp>
        <p:nvSpPr>
          <p:cNvPr id="176140" name="Text Box 12">
            <a:extLst>
              <a:ext uri="{FF2B5EF4-FFF2-40B4-BE49-F238E27FC236}">
                <a16:creationId xmlns:a16="http://schemas.microsoft.com/office/drawing/2014/main" id="{67727748-3908-D44F-A7A1-A6FFB269F2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8563" y="1403350"/>
            <a:ext cx="16414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32/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16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33/17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34/18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35/19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47</a:t>
            </a:r>
          </a:p>
        </p:txBody>
      </p:sp>
      <p:sp>
        <p:nvSpPr>
          <p:cNvPr id="176141" name="Text Box 13">
            <a:extLst>
              <a:ext uri="{FF2B5EF4-FFF2-40B4-BE49-F238E27FC236}">
                <a16:creationId xmlns:a16="http://schemas.microsoft.com/office/drawing/2014/main" id="{92A180CA-CE3E-8240-B203-29648E78D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1400175"/>
            <a:ext cx="1585912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48/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32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49/33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50/34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51/35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52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r>
              <a:rPr kumimoji="1" lang="zh-CN" altLang="en-US" sz="1800" b="1">
                <a:latin typeface="Times New Roman" panose="02020603050405020304" pitchFamily="18" charset="0"/>
                <a:ea typeface="华文新魏" panose="0201080004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63</a:t>
            </a:r>
          </a:p>
        </p:txBody>
      </p:sp>
      <p:sp>
        <p:nvSpPr>
          <p:cNvPr id="176142" name="Text Box 14">
            <a:extLst>
              <a:ext uri="{FF2B5EF4-FFF2-40B4-BE49-F238E27FC236}">
                <a16:creationId xmlns:a16="http://schemas.microsoft.com/office/drawing/2014/main" id="{A27C5B3F-796F-8B47-9489-158E174EBE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5095875"/>
            <a:ext cx="8148638" cy="15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5000"/>
              </a:spcBef>
            </a:pPr>
            <a:r>
              <a:rPr kumimoji="1" lang="en-US" altLang="zh-CN" sz="20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kumimoji="1" lang="zh-CN" altLang="en-US" sz="2000" b="1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算法：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第一次循环,每一块只有第一字未命中,其余都命中;</a:t>
            </a:r>
          </a:p>
          <a:p>
            <a:pPr eaLnBrk="1" hangingPunct="1">
              <a:lnSpc>
                <a:spcPct val="115000"/>
              </a:lnSpc>
              <a:spcBef>
                <a:spcPct val="5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以后9次循环,有20块的第一字未命中,其余都命中.</a:t>
            </a:r>
          </a:p>
          <a:p>
            <a:pPr eaLnBrk="1" hangingPunct="1">
              <a:lnSpc>
                <a:spcPct val="115000"/>
              </a:lnSpc>
              <a:spcBef>
                <a:spcPct val="5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所以,命中率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(43520-68-9x20)/43520=99.43%</a:t>
            </a:r>
          </a:p>
          <a:p>
            <a:pPr eaLnBrk="1" hangingPunct="1">
              <a:lnSpc>
                <a:spcPct val="115000"/>
              </a:lnSpc>
              <a:spcBef>
                <a:spcPct val="5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速度提高：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tm/ta=tm/(tc+(1-p)tm)=10/(1+10x(1-p))=9.5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</a:p>
        </p:txBody>
      </p:sp>
      <p:cxnSp>
        <p:nvCxnSpPr>
          <p:cNvPr id="176143" name="直接连接符 15">
            <a:extLst>
              <a:ext uri="{FF2B5EF4-FFF2-40B4-BE49-F238E27FC236}">
                <a16:creationId xmlns:a16="http://schemas.microsoft.com/office/drawing/2014/main" id="{8A801E7D-1ECE-514E-B0CC-736985C04E4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1003300" y="692150"/>
            <a:ext cx="400050" cy="755650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144" name="矩形 1">
            <a:extLst>
              <a:ext uri="{FF2B5EF4-FFF2-40B4-BE49-F238E27FC236}">
                <a16:creationId xmlns:a16="http://schemas.microsoft.com/office/drawing/2014/main" id="{EE4D5F75-2A7E-CB41-A5D0-245E848A8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" y="687388"/>
            <a:ext cx="1314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accent1"/>
                </a:solidFill>
                <a:ea typeface="宋体" panose="02010600030101010101" pitchFamily="2" charset="-122"/>
              </a:rPr>
              <a:t>1</a:t>
            </a:r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块</a:t>
            </a:r>
            <a:endParaRPr kumimoji="1" lang="en-US" altLang="zh-CN" b="1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r>
              <a:rPr kumimoji="1" lang="en-US" altLang="zh-CN" b="1">
                <a:solidFill>
                  <a:schemeClr val="accent1"/>
                </a:solidFill>
                <a:ea typeface="宋体" panose="02010600030101010101" pitchFamily="2" charset="-122"/>
              </a:rPr>
              <a:t>64~127</a:t>
            </a:r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单元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  <p:cxnSp>
        <p:nvCxnSpPr>
          <p:cNvPr id="176145" name="直接连接符 15">
            <a:extLst>
              <a:ext uri="{FF2B5EF4-FFF2-40B4-BE49-F238E27FC236}">
                <a16:creationId xmlns:a16="http://schemas.microsoft.com/office/drawing/2014/main" id="{2F3A5243-0E66-344D-866A-6BC4330AB5D9}"/>
              </a:ext>
            </a:extLst>
          </p:cNvPr>
          <p:cNvCxnSpPr>
            <a:cxnSpLocks noChangeShapeType="1"/>
          </p:cNvCxnSpPr>
          <p:nvPr/>
        </p:nvCxnSpPr>
        <p:spPr bwMode="auto">
          <a:xfrm flipH="1" flipV="1">
            <a:off x="957263" y="1220788"/>
            <a:ext cx="455612" cy="747712"/>
          </a:xfrm>
          <a:prstGeom prst="line">
            <a:avLst/>
          </a:prstGeom>
          <a:noFill/>
          <a:ln w="50800" algn="ctr">
            <a:solidFill>
              <a:srgbClr val="FE9AAB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6146" name="矩形 1">
            <a:extLst>
              <a:ext uri="{FF2B5EF4-FFF2-40B4-BE49-F238E27FC236}">
                <a16:creationId xmlns:a16="http://schemas.microsoft.com/office/drawing/2014/main" id="{94D1F9D1-77C4-0141-A13B-CFA328894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5" y="155575"/>
            <a:ext cx="11922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第</a:t>
            </a:r>
            <a:r>
              <a:rPr kumimoji="1" lang="en-US" altLang="zh-CN" b="1">
                <a:solidFill>
                  <a:schemeClr val="accent1"/>
                </a:solidFill>
                <a:ea typeface="宋体" panose="02010600030101010101" pitchFamily="2" charset="-122"/>
              </a:rPr>
              <a:t>0</a:t>
            </a:r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块</a:t>
            </a:r>
            <a:endParaRPr kumimoji="1" lang="en-US" altLang="zh-CN" b="1">
              <a:solidFill>
                <a:schemeClr val="accent1"/>
              </a:solidFill>
              <a:ea typeface="宋体" panose="02010600030101010101" pitchFamily="2" charset="-122"/>
            </a:endParaRPr>
          </a:p>
          <a:p>
            <a:r>
              <a:rPr kumimoji="1" lang="en-US" altLang="zh-CN" b="1">
                <a:solidFill>
                  <a:schemeClr val="accent1"/>
                </a:solidFill>
                <a:ea typeface="宋体" panose="02010600030101010101" pitchFamily="2" charset="-122"/>
              </a:rPr>
              <a:t>0~</a:t>
            </a:r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6</a:t>
            </a:r>
            <a:r>
              <a:rPr kumimoji="1" lang="en-US" altLang="zh-CN" b="1">
                <a:solidFill>
                  <a:schemeClr val="accent1"/>
                </a:solidFill>
                <a:ea typeface="宋体" panose="02010600030101010101" pitchFamily="2" charset="-122"/>
              </a:rPr>
              <a:t>3</a:t>
            </a:r>
            <a:r>
              <a:rPr kumimoji="1" lang="zh-CN" altLang="en-US" b="1">
                <a:solidFill>
                  <a:schemeClr val="accent1"/>
                </a:solidFill>
                <a:ea typeface="宋体" panose="02010600030101010101" pitchFamily="2" charset="-122"/>
              </a:rPr>
              <a:t>单元</a:t>
            </a:r>
            <a:endParaRPr lang="zh-CN" altLang="en-US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>
            <a:extLst>
              <a:ext uri="{FF2B5EF4-FFF2-40B4-BE49-F238E27FC236}">
                <a16:creationId xmlns:a16="http://schemas.microsoft.com/office/drawing/2014/main" id="{4D6A5B10-2BB4-7240-820E-6477F1FFD22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举例</a:t>
            </a:r>
          </a:p>
        </p:txBody>
      </p:sp>
      <p:sp>
        <p:nvSpPr>
          <p:cNvPr id="177155" name="Line 3">
            <a:extLst>
              <a:ext uri="{FF2B5EF4-FFF2-40B4-BE49-F238E27FC236}">
                <a16:creationId xmlns:a16="http://schemas.microsoft.com/office/drawing/2014/main" id="{0CCC136F-FEB4-BB49-A458-4B4C95E920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3" y="1212850"/>
            <a:ext cx="8404225" cy="0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6" name="Line 4">
            <a:extLst>
              <a:ext uri="{FF2B5EF4-FFF2-40B4-BE49-F238E27FC236}">
                <a16:creationId xmlns:a16="http://schemas.microsoft.com/office/drawing/2014/main" id="{37877A83-39B9-FA42-950E-A7394C6A58B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77938" y="984250"/>
            <a:ext cx="0" cy="3960813"/>
          </a:xfrm>
          <a:prstGeom prst="line">
            <a:avLst/>
          </a:prstGeom>
          <a:noFill/>
          <a:ln w="952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7157" name="Text Box 10">
            <a:extLst>
              <a:ext uri="{FF2B5EF4-FFF2-40B4-BE49-F238E27FC236}">
                <a16:creationId xmlns:a16="http://schemas.microsoft.com/office/drawing/2014/main" id="{69AEB34C-6A8F-784C-B784-6C3A08627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2088" y="1408113"/>
            <a:ext cx="1479550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0/16/32/48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1/17/33/49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2/18/34/50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3/19/35/52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15组</a:t>
            </a:r>
            <a:endParaRPr kumimoji="1"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7158" name="Text Box 11">
            <a:extLst>
              <a:ext uri="{FF2B5EF4-FFF2-40B4-BE49-F238E27FC236}">
                <a16:creationId xmlns:a16="http://schemas.microsoft.com/office/drawing/2014/main" id="{45E63723-1907-8441-BD2B-8185E9DCF1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0250" y="1441450"/>
            <a:ext cx="153352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16/32/48/64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17/33/49/65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18/34/50/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66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19/35/51/67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20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31</a:t>
            </a:r>
            <a:endParaRPr kumimoji="1"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7159" name="Text Box 12">
            <a:extLst>
              <a:ext uri="{FF2B5EF4-FFF2-40B4-BE49-F238E27FC236}">
                <a16:creationId xmlns:a16="http://schemas.microsoft.com/office/drawing/2014/main" id="{43EDA705-E38E-B441-8A3D-D2D2B261D1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5563" y="1414463"/>
            <a:ext cx="1641475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32/48/64/0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33/49/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65</a:t>
            </a:r>
            <a:r>
              <a:rPr kumimoji="1" lang="zh-CN" altLang="en-US" sz="2000" b="1">
                <a:ea typeface="宋体" panose="02010600030101010101" pitchFamily="2" charset="-122"/>
              </a:rPr>
              <a:t>/1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34/50/66/2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35/51/67/3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36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47</a:t>
            </a:r>
            <a:endParaRPr kumimoji="1"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7160" name="Text Box 13">
            <a:extLst>
              <a:ext uri="{FF2B5EF4-FFF2-40B4-BE49-F238E27FC236}">
                <a16:creationId xmlns:a16="http://schemas.microsoft.com/office/drawing/2014/main" id="{3FAEF1CF-A8CB-4D48-B844-4332CE93E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6138" y="1412875"/>
            <a:ext cx="1585912" cy="359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48/</a:t>
            </a:r>
            <a:r>
              <a:rPr kumimoji="1" lang="zh-CN" altLang="en-US" sz="2000" b="1">
                <a:solidFill>
                  <a:schemeClr val="accent1"/>
                </a:solidFill>
                <a:ea typeface="宋体" panose="02010600030101010101" pitchFamily="2" charset="-122"/>
              </a:rPr>
              <a:t>64</a:t>
            </a:r>
            <a:r>
              <a:rPr kumimoji="1" lang="zh-CN" altLang="en-US" sz="2000" b="1">
                <a:ea typeface="宋体" panose="02010600030101010101" pitchFamily="2" charset="-122"/>
              </a:rPr>
              <a:t>/0/16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49/65/1/17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50/66/2/18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51/67/3/19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52</a:t>
            </a: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63</a:t>
            </a:r>
            <a:endParaRPr kumimoji="1" lang="zh-CN" altLang="en-US" sz="2400" b="1">
              <a:ea typeface="宋体" panose="02010600030101010101" pitchFamily="2" charset="-122"/>
            </a:endParaRPr>
          </a:p>
        </p:txBody>
      </p:sp>
      <p:sp>
        <p:nvSpPr>
          <p:cNvPr id="177161" name="Text Box 14">
            <a:extLst>
              <a:ext uri="{FF2B5EF4-FFF2-40B4-BE49-F238E27FC236}">
                <a16:creationId xmlns:a16="http://schemas.microsoft.com/office/drawing/2014/main" id="{450A7F8F-6A8B-7446-BAEB-D3B6032EC5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5051425"/>
            <a:ext cx="8148638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kumimoji="1" lang="en-US" altLang="zh-CN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MRU</a:t>
            </a:r>
            <a:r>
              <a:rPr kumimoji="1" lang="zh-CN" altLang="en-US" sz="2000" b="1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：第一次68字未命中；第2,3,4,6,7,8,10次各有4字未命中；第5,9次各有8字未命中；其余都命中.</a:t>
            </a:r>
          </a:p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所以,命中率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(43520-68-7x4-2 x8)/43520=99.74%</a:t>
            </a:r>
          </a:p>
          <a:p>
            <a:pPr eaLnBrk="1" hangingPunct="1">
              <a:lnSpc>
                <a:spcPct val="125000"/>
              </a:lnSpc>
              <a:spcBef>
                <a:spcPct val="5000"/>
              </a:spcBef>
            </a:pP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速度提高：</a:t>
            </a:r>
            <a:r>
              <a:rPr kumimoji="1" lang="en-US" altLang="zh-CN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tm/ta=tm/(tc+(1-p)tm)=10/(1+10x(1-p))=9.77</a:t>
            </a:r>
            <a:r>
              <a:rPr kumimoji="1" lang="zh-CN" altLang="en-US" sz="20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</a:p>
        </p:txBody>
      </p:sp>
      <p:sp>
        <p:nvSpPr>
          <p:cNvPr id="177162" name="Text Box 15">
            <a:extLst>
              <a:ext uri="{FF2B5EF4-FFF2-40B4-BE49-F238E27FC236}">
                <a16:creationId xmlns:a16="http://schemas.microsoft.com/office/drawing/2014/main" id="{6FFEC775-4058-F841-9B97-D2DAAD65CC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7475" y="838200"/>
            <a:ext cx="9620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第0 </a:t>
            </a:r>
            <a:r>
              <a:rPr kumimoji="1" lang="zh-CN" altLang="en-US" sz="2200" b="1">
                <a:ea typeface="宋体" panose="02010600030101010101" pitchFamily="2" charset="-122"/>
              </a:rPr>
              <a:t>行</a:t>
            </a:r>
            <a:endParaRPr kumimoji="1" lang="en-US" altLang="zh-CN" sz="2200" b="1">
              <a:ea typeface="宋体" panose="02010600030101010101" pitchFamily="2" charset="-122"/>
            </a:endParaRPr>
          </a:p>
        </p:txBody>
      </p:sp>
      <p:sp>
        <p:nvSpPr>
          <p:cNvPr id="177163" name="Text Box 16">
            <a:extLst>
              <a:ext uri="{FF2B5EF4-FFF2-40B4-BE49-F238E27FC236}">
                <a16:creationId xmlns:a16="http://schemas.microsoft.com/office/drawing/2014/main" id="{53E12669-D091-0C48-977C-4A80EDB039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830263"/>
            <a:ext cx="10191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7164" name="Text Box 17">
            <a:extLst>
              <a:ext uri="{FF2B5EF4-FFF2-40B4-BE49-F238E27FC236}">
                <a16:creationId xmlns:a16="http://schemas.microsoft.com/office/drawing/2014/main" id="{B7FA46C5-C1A7-5B48-B19D-F6F049BEFF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5863" y="823913"/>
            <a:ext cx="95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第2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7165" name="Text Box 18">
            <a:extLst>
              <a:ext uri="{FF2B5EF4-FFF2-40B4-BE49-F238E27FC236}">
                <a16:creationId xmlns:a16="http://schemas.microsoft.com/office/drawing/2014/main" id="{6B02E358-727B-B745-9E85-12319D441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0088" y="841375"/>
            <a:ext cx="990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第3 行</a:t>
            </a:r>
            <a:endParaRPr kumimoji="1" lang="en-US" altLang="zh-CN" sz="2000" b="1">
              <a:ea typeface="宋体" panose="02010600030101010101" pitchFamily="2" charset="-122"/>
            </a:endParaRPr>
          </a:p>
        </p:txBody>
      </p:sp>
      <p:sp>
        <p:nvSpPr>
          <p:cNvPr id="177166" name="Text Box 19">
            <a:extLst>
              <a:ext uri="{FF2B5EF4-FFF2-40B4-BE49-F238E27FC236}">
                <a16:creationId xmlns:a16="http://schemas.microsoft.com/office/drawing/2014/main" id="{E0652035-A174-FD4A-BB1E-0EB77DD3B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750" y="1447800"/>
            <a:ext cx="1062038" cy="348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第0组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第2组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第3组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第4组</a:t>
            </a: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latin typeface="Times New Roman" panose="02020603050405020304" pitchFamily="18" charset="0"/>
                <a:ea typeface="宋体" panose="02010600030101010101" pitchFamily="2" charset="-122"/>
              </a:rPr>
              <a:t>……</a:t>
            </a:r>
            <a:endParaRPr kumimoji="1" lang="zh-CN" altLang="en-US" sz="2000" b="1">
              <a:ea typeface="宋体" panose="02010600030101010101" pitchFamily="2" charset="-122"/>
            </a:endParaRPr>
          </a:p>
          <a:p>
            <a:pPr eaLnBrk="1" hangingPunct="1">
              <a:spcBef>
                <a:spcPct val="45000"/>
              </a:spcBef>
            </a:pPr>
            <a:r>
              <a:rPr kumimoji="1" lang="zh-CN" altLang="en-US" sz="2000" b="1">
                <a:ea typeface="宋体" panose="02010600030101010101" pitchFamily="2" charset="-122"/>
              </a:rPr>
              <a:t>第15组</a:t>
            </a:r>
          </a:p>
        </p:txBody>
      </p:sp>
      <p:pic>
        <p:nvPicPr>
          <p:cNvPr id="177167" name="图片 2">
            <a:extLst>
              <a:ext uri="{FF2B5EF4-FFF2-40B4-BE49-F238E27FC236}">
                <a16:creationId xmlns:a16="http://schemas.microsoft.com/office/drawing/2014/main" id="{B3D1EE01-326D-CE4F-BC20-E7C143486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" y="26988"/>
            <a:ext cx="9023350" cy="680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7168" name="文本框 16">
            <a:extLst>
              <a:ext uri="{FF2B5EF4-FFF2-40B4-BE49-F238E27FC236}">
                <a16:creationId xmlns:a16="http://schemas.microsoft.com/office/drawing/2014/main" id="{FD2CF2F1-DB80-A04D-A73F-906590D4F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738" y="5553075"/>
            <a:ext cx="45720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1200" b="1">
                <a:solidFill>
                  <a:srgbClr val="FF0000"/>
                </a:solidFill>
                <a:ea typeface="宋体" panose="02010600030101010101" pitchFamily="2" charset="-122"/>
              </a:rPr>
              <a:t>（当没有free way时，选择最近最新未使用的way予以替换）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>
            <a:extLst>
              <a:ext uri="{FF2B5EF4-FFF2-40B4-BE49-F238E27FC236}">
                <a16:creationId xmlns:a16="http://schemas.microsoft.com/office/drawing/2014/main" id="{437F774D-49E0-D34F-988C-5E94D2B8D88D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6863" y="150813"/>
            <a:ext cx="8640762" cy="5334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写策略（</a:t>
            </a:r>
            <a:r>
              <a:rPr lang="en-US" altLang="zh-CN" sz="3200"/>
              <a:t>Cache</a:t>
            </a:r>
            <a:r>
              <a:rPr lang="zh-CN" altLang="en-US" sz="3200"/>
              <a:t>一致性问题）</a:t>
            </a:r>
          </a:p>
        </p:txBody>
      </p:sp>
      <p:sp>
        <p:nvSpPr>
          <p:cNvPr id="461827" name="Rectangle 3">
            <a:extLst>
              <a:ext uri="{FF2B5EF4-FFF2-40B4-BE49-F238E27FC236}">
                <a16:creationId xmlns:a16="http://schemas.microsoft.com/office/drawing/2014/main" id="{90EF2816-2D12-8B4E-8775-61F87688C31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304800" y="908050"/>
            <a:ext cx="8610600" cy="5738813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为何要保持在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和主存中数据的一致？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中的内容是主存块副本，当对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中的内容进行更新时，就存在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和主存如何保持一致的问题。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以下情况也会出现“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一致性问题”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当多个设备都允许访问主存时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例如：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设备可直接读写内存时，如果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中的内容被修改，则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设备读出的对应主存单元的内容无效；若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设备修改了主存单元的内容，则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中对应的内容无效。</a:t>
            </a:r>
          </a:p>
          <a:p>
            <a:pPr lvl="2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当多个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都带有各自的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而共享主存时</a:t>
            </a:r>
          </a:p>
          <a:p>
            <a:pPr lvl="2" eaLnBrk="1" hangingPunct="1">
              <a:lnSpc>
                <a:spcPct val="110000"/>
              </a:lnSpc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某个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修改了自身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中的内容，则对应的主存单元和其他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中对应的内容都变为无效。</a:t>
            </a:r>
          </a:p>
          <a:p>
            <a:pPr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写操作有两种情况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写命中（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 Hit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）：要写的单元已经在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</a:p>
          <a:p>
            <a:pPr lvl="1" eaLnBrk="1" hangingPunct="1">
              <a:lnSpc>
                <a:spcPct val="11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写不命中（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 Miss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）：要写的单元不在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1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1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18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18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18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18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1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1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>
            <a:extLst>
              <a:ext uri="{FF2B5EF4-FFF2-40B4-BE49-F238E27FC236}">
                <a16:creationId xmlns:a16="http://schemas.microsoft.com/office/drawing/2014/main" id="{2889E9E6-CE20-3D45-B3F5-5E6C2720810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34938"/>
            <a:ext cx="8807450" cy="5159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写策略（</a:t>
            </a:r>
            <a:r>
              <a:rPr lang="en-US" altLang="zh-CN" sz="3200"/>
              <a:t>Cache</a:t>
            </a:r>
            <a:r>
              <a:rPr lang="zh-CN" altLang="en-US" sz="3200"/>
              <a:t>一致性问题）</a:t>
            </a:r>
          </a:p>
        </p:txBody>
      </p:sp>
      <p:sp>
        <p:nvSpPr>
          <p:cNvPr id="462851" name="Rectangle 3">
            <a:extLst>
              <a:ext uri="{FF2B5EF4-FFF2-40B4-BE49-F238E27FC236}">
                <a16:creationId xmlns:a16="http://schemas.microsoft.com/office/drawing/2014/main" id="{D3A30EB4-40BC-5F43-B956-1F4BD89A26D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77800" y="877888"/>
            <a:ext cx="8758238" cy="5584825"/>
          </a:xfrm>
        </p:spPr>
        <p:txBody>
          <a:bodyPr/>
          <a:lstStyle/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处理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读比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写更容易，故</a:t>
            </a:r>
            <a:r>
              <a:rPr lang="zh-CN" altLang="en-US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r>
              <a:rPr lang="en-US" altLang="zh-CN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比数据</a:t>
            </a:r>
            <a:r>
              <a:rPr lang="en-US" altLang="zh-CN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容易设计</a:t>
            </a:r>
            <a:endParaRPr lang="en-US" altLang="zh-CN" sz="19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对于写命中，有两种处理方式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19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 action="ppaction://hlinksldjump"/>
              </a:rPr>
              <a:t>Write Through </a:t>
            </a:r>
            <a:r>
              <a:rPr lang="en-US" altLang="zh-CN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通过式写、写直达、直写)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同时写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和主存单元</a:t>
            </a:r>
            <a:endParaRPr lang="en-US" altLang="zh-CN" sz="19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What!!! How can this be?  Memory is too slow(&gt;100Cycles)?</a:t>
            </a:r>
          </a:p>
          <a:p>
            <a:pPr lvl="3" eaLnBrk="1" hangingPunct="1">
              <a:lnSpc>
                <a:spcPct val="110000"/>
              </a:lnSpc>
              <a:spcBef>
                <a:spcPct val="10000"/>
              </a:spcBef>
              <a:buFontTx/>
              <a:buNone/>
            </a:pPr>
            <a:r>
              <a:rPr lang="en-US" altLang="zh-CN" sz="1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10%</a:t>
            </a:r>
            <a:r>
              <a:rPr lang="zh-CN" altLang="en-US" sz="1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的存储指令使</a:t>
            </a:r>
            <a:r>
              <a:rPr lang="en-US" altLang="zh-CN" sz="1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CPI</a:t>
            </a:r>
            <a:r>
              <a:rPr lang="zh-CN" altLang="en-US" sz="1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增加到：</a:t>
            </a:r>
            <a:r>
              <a:rPr lang="en-US" altLang="zh-CN" sz="1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1.0+100x10%=11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使用写缓冲（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 action="ppaction://hlinksldjump"/>
              </a:rPr>
              <a:t>Write Buffer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900">
                <a:solidFill>
                  <a:srgbClr val="416FE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（多级）</a:t>
            </a:r>
            <a:endParaRPr lang="zh-CN" altLang="en-US" sz="19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19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 action="ppaction://hlinksldjump"/>
              </a:rPr>
              <a:t>Write Back </a:t>
            </a:r>
            <a:r>
              <a:rPr lang="en-US" altLang="zh-CN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一次性写、写回、回写)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只写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不写主存，缺失时一次写回，每行有个修改位（“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dirty bit-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脏位”），大大降低主存带宽需求，控制可能很复杂</a:t>
            </a:r>
          </a:p>
          <a:p>
            <a:pPr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对于写不命中，有两种处理方式</a:t>
            </a:r>
            <a:endParaRPr lang="en-US" altLang="zh-CN" sz="19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19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Allocate </a:t>
            </a:r>
            <a:r>
              <a:rPr lang="en-US" altLang="zh-CN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写分配)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将主存块装入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，然后更新相应单元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试图利用空间局部性，但每次都要从主存读一个块</a:t>
            </a:r>
          </a:p>
          <a:p>
            <a:pPr lvl="1" eaLnBrk="1" hangingPunct="1">
              <a:lnSpc>
                <a:spcPct val="110000"/>
              </a:lnSpc>
              <a:spcBef>
                <a:spcPct val="10000"/>
              </a:spcBef>
            </a:pPr>
            <a:r>
              <a:rPr lang="en-US" altLang="zh-CN" sz="19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Write Allocate </a:t>
            </a:r>
            <a:r>
              <a:rPr lang="en-US" altLang="zh-CN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9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非写分配)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2" eaLnBrk="1" hangingPunct="1">
              <a:lnSpc>
                <a:spcPct val="110000"/>
              </a:lnSpc>
              <a:spcBef>
                <a:spcPct val="10000"/>
              </a:spcBef>
            </a:pPr>
            <a:r>
              <a:rPr lang="zh-CN" altLang="en-US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直接写主存单元，不把主存块装入到</a:t>
            </a:r>
            <a:r>
              <a:rPr lang="en-US" altLang="zh-CN" sz="19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</a:p>
        </p:txBody>
      </p:sp>
      <p:sp>
        <p:nvSpPr>
          <p:cNvPr id="462852" name="Text Box 4">
            <a:extLst>
              <a:ext uri="{FF2B5EF4-FFF2-40B4-BE49-F238E27FC236}">
                <a16:creationId xmlns:a16="http://schemas.microsoft.com/office/drawing/2014/main" id="{1E9DDF8F-FDAC-3A4D-B4E6-A6E5AA420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6488" y="5907088"/>
            <a:ext cx="13493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5" action="ppaction://hlinksldjump"/>
              </a:rPr>
              <a:t>SKIP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62854" name="Rectangle 6">
            <a:extLst>
              <a:ext uri="{FF2B5EF4-FFF2-40B4-BE49-F238E27FC236}">
                <a16:creationId xmlns:a16="http://schemas.microsoft.com/office/drawing/2014/main" id="{9FEABF97-1AEB-504D-A0AD-10C1962ED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8188" y="4460875"/>
            <a:ext cx="3509962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直写</a:t>
            </a:r>
            <a:r>
              <a:rPr kumimoji="1" lang="en-US" altLang="zh-CN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可用非写分配或写分配</a:t>
            </a:r>
          </a:p>
          <a:p>
            <a:pPr eaLnBrk="1" hangingPunct="1"/>
            <a:r>
              <a:rPr kumimoji="1"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回写</a:t>
            </a:r>
            <a:r>
              <a:rPr kumimoji="1" lang="en-US" altLang="zh-CN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18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通常用写分配</a:t>
            </a:r>
          </a:p>
        </p:txBody>
      </p:sp>
      <p:sp>
        <p:nvSpPr>
          <p:cNvPr id="462856" name="Rectangle 8">
            <a:extLst>
              <a:ext uri="{FF2B5EF4-FFF2-40B4-BE49-F238E27FC236}">
                <a16:creationId xmlns:a16="http://schemas.microsoft.com/office/drawing/2014/main" id="{F6FB239E-8507-294C-A927-6FF31AD9F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1863" y="4784725"/>
            <a:ext cx="9207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1800" b="1">
                <a:solidFill>
                  <a:srgbClr val="CC3300"/>
                </a:solidFill>
                <a:ea typeface="黑体" panose="02010609060101010101" pitchFamily="49" charset="-122"/>
              </a:rPr>
              <a:t>为什么？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2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2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28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28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28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6285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285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6285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6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6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6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2852" grpId="0"/>
      <p:bldP spid="462854" grpId="0"/>
      <p:bldP spid="46285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>
            <a:extLst>
              <a:ext uri="{FF2B5EF4-FFF2-40B4-BE49-F238E27FC236}">
                <a16:creationId xmlns:a16="http://schemas.microsoft.com/office/drawing/2014/main" id="{678BBE23-124C-0B4C-817D-FAAAC09918E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en-US" altLang="zh-CN" sz="3200"/>
              <a:t>Write Through</a:t>
            </a:r>
            <a:r>
              <a:rPr lang="zh-CN" altLang="en-US" sz="3200"/>
              <a:t>中的</a:t>
            </a:r>
            <a:r>
              <a:rPr lang="en-US" altLang="zh-CN" sz="3200"/>
              <a:t>Write Buffer</a:t>
            </a:r>
            <a:endParaRPr lang="zh-CN" altLang="en-US" sz="3200"/>
          </a:p>
        </p:txBody>
      </p:sp>
      <p:sp>
        <p:nvSpPr>
          <p:cNvPr id="468995" name="Rectangle 3">
            <a:extLst>
              <a:ext uri="{FF2B5EF4-FFF2-40B4-BE49-F238E27FC236}">
                <a16:creationId xmlns:a16="http://schemas.microsoft.com/office/drawing/2014/main" id="{33E51966-7EDF-B545-B00A-02CE8319807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15963" y="2457450"/>
            <a:ext cx="7077075" cy="4006850"/>
          </a:xfrm>
          <a:noFill/>
        </p:spPr>
        <p:txBody>
          <a:bodyPr/>
          <a:lstStyle/>
          <a:p>
            <a:pPr eaLnBrk="1" hangingPunct="1"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在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Memory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之间加一个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 Buffer 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同时写数据到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Buffer</a:t>
            </a:r>
            <a:endParaRPr lang="zh-CN" altLang="en-US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Memory controller</a:t>
            </a: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（存控）将缓冲内容写主存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Write buffer (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写缓冲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FIFO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队列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一般有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在存数频率不 高时效果好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最棘手的问题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当频繁写时，易使写缓存饱和，发生阻塞</a:t>
            </a:r>
            <a:endParaRPr lang="en-US" altLang="zh-CN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如何解决写缓冲饱和？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ct val="20000"/>
              </a:spcBef>
            </a:pP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加一个二级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</a:p>
          <a:p>
            <a:pPr lvl="1" eaLnBrk="1" hangingPunct="1">
              <a:spcBef>
                <a:spcPct val="20000"/>
              </a:spcBef>
            </a:pP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Back</a:t>
            </a:r>
            <a:r>
              <a:rPr lang="zh-CN" altLang="en-US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方式的</a:t>
            </a:r>
            <a:r>
              <a:rPr lang="en-US" altLang="zh-CN" sz="2000">
                <a:solidFill>
                  <a:srgbClr val="CC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endParaRPr lang="zh-CN" altLang="en-US" sz="2000">
              <a:solidFill>
                <a:srgbClr val="CC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1252" name="Rectangle 4">
            <a:extLst>
              <a:ext uri="{FF2B5EF4-FFF2-40B4-BE49-F238E27FC236}">
                <a16:creationId xmlns:a16="http://schemas.microsoft.com/office/drawing/2014/main" id="{0A18E431-7DF2-9E45-8300-0CEA1A3B0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1900" y="1003300"/>
            <a:ext cx="12700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1253" name="Rectangle 5">
            <a:extLst>
              <a:ext uri="{FF2B5EF4-FFF2-40B4-BE49-F238E27FC236}">
                <a16:creationId xmlns:a16="http://schemas.microsoft.com/office/drawing/2014/main" id="{3C8729B9-E93B-F04E-B16F-C600D1AE5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268413"/>
            <a:ext cx="6635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CPU</a:t>
            </a:r>
          </a:p>
        </p:txBody>
      </p:sp>
      <p:sp>
        <p:nvSpPr>
          <p:cNvPr id="181254" name="Rectangle 6">
            <a:extLst>
              <a:ext uri="{FF2B5EF4-FFF2-40B4-BE49-F238E27FC236}">
                <a16:creationId xmlns:a16="http://schemas.microsoft.com/office/drawing/2014/main" id="{10F9C67A-FBD1-9348-AB24-F334D310C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1003300"/>
            <a:ext cx="889000" cy="584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1255" name="Rectangle 7">
            <a:extLst>
              <a:ext uri="{FF2B5EF4-FFF2-40B4-BE49-F238E27FC236}">
                <a16:creationId xmlns:a16="http://schemas.microsoft.com/office/drawing/2014/main" id="{6EE74B9B-7F68-2F4C-90A3-CDB959C54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1133475"/>
            <a:ext cx="866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Cache</a:t>
            </a:r>
          </a:p>
        </p:txBody>
      </p:sp>
      <p:sp>
        <p:nvSpPr>
          <p:cNvPr id="181256" name="Rectangle 8">
            <a:extLst>
              <a:ext uri="{FF2B5EF4-FFF2-40B4-BE49-F238E27FC236}">
                <a16:creationId xmlns:a16="http://schemas.microsoft.com/office/drawing/2014/main" id="{21149684-CD18-4F4A-8804-176290F18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0300" y="1689100"/>
            <a:ext cx="889000" cy="2794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1257" name="Line 9">
            <a:extLst>
              <a:ext uri="{FF2B5EF4-FFF2-40B4-BE49-F238E27FC236}">
                <a16:creationId xmlns:a16="http://schemas.microsoft.com/office/drawing/2014/main" id="{DCED913D-EBAE-9C4A-884A-5FBFB7D329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8" name="Line 10">
            <a:extLst>
              <a:ext uri="{FF2B5EF4-FFF2-40B4-BE49-F238E27FC236}">
                <a16:creationId xmlns:a16="http://schemas.microsoft.com/office/drawing/2014/main" id="{6781AA4A-5F95-FF46-B983-069B92E2304B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59" name="Line 11">
            <a:extLst>
              <a:ext uri="{FF2B5EF4-FFF2-40B4-BE49-F238E27FC236}">
                <a16:creationId xmlns:a16="http://schemas.microsoft.com/office/drawing/2014/main" id="{9E6D5D40-607D-BC41-A258-62F0E342EC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689100"/>
            <a:ext cx="0" cy="279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0" name="Line 12">
            <a:extLst>
              <a:ext uri="{FF2B5EF4-FFF2-40B4-BE49-F238E27FC236}">
                <a16:creationId xmlns:a16="http://schemas.microsoft.com/office/drawing/2014/main" id="{B459BD65-B60A-CD43-86C1-29B698444B6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3100" y="1828800"/>
            <a:ext cx="431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1" name="Line 13">
            <a:extLst>
              <a:ext uri="{FF2B5EF4-FFF2-40B4-BE49-F238E27FC236}">
                <a16:creationId xmlns:a16="http://schemas.microsoft.com/office/drawing/2014/main" id="{EA49FB5A-118B-2C4B-A56E-8B2789DDB5A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27300" y="1295400"/>
            <a:ext cx="1117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2" name="Rectangle 14">
            <a:extLst>
              <a:ext uri="{FF2B5EF4-FFF2-40B4-BE49-F238E27FC236}">
                <a16:creationId xmlns:a16="http://schemas.microsoft.com/office/drawing/2014/main" id="{60998950-F585-C74A-A7B1-9450B95C8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1989138"/>
            <a:ext cx="147637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solidFill>
                  <a:srgbClr val="FF0000"/>
                </a:solidFill>
                <a:ea typeface="宋体" panose="02010600030101010101" pitchFamily="2" charset="-122"/>
              </a:rPr>
              <a:t>Write</a:t>
            </a:r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ea typeface="宋体" panose="02010600030101010101" pitchFamily="2" charset="-122"/>
              </a:rPr>
              <a:t>Buffer</a:t>
            </a:r>
          </a:p>
        </p:txBody>
      </p:sp>
      <p:sp>
        <p:nvSpPr>
          <p:cNvPr id="181263" name="Rectangle 15">
            <a:extLst>
              <a:ext uri="{FF2B5EF4-FFF2-40B4-BE49-F238E27FC236}">
                <a16:creationId xmlns:a16="http://schemas.microsoft.com/office/drawing/2014/main" id="{964F1876-5C35-F544-8C9A-1A9587C51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2963" y="1003300"/>
            <a:ext cx="1041400" cy="9652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1264" name="Rectangle 16">
            <a:extLst>
              <a:ext uri="{FF2B5EF4-FFF2-40B4-BE49-F238E27FC236}">
                <a16:creationId xmlns:a16="http://schemas.microsoft.com/office/drawing/2014/main" id="{DD671BF8-0AFA-BE42-A502-7F3CA9CB2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2025" y="1289050"/>
            <a:ext cx="86677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1800" b="1">
                <a:ea typeface="宋体" panose="02010600030101010101" pitchFamily="2" charset="-122"/>
              </a:rPr>
              <a:t>DRAM</a:t>
            </a:r>
          </a:p>
        </p:txBody>
      </p:sp>
      <p:sp>
        <p:nvSpPr>
          <p:cNvPr id="181265" name="Line 17">
            <a:extLst>
              <a:ext uri="{FF2B5EF4-FFF2-40B4-BE49-F238E27FC236}">
                <a16:creationId xmlns:a16="http://schemas.microsoft.com/office/drawing/2014/main" id="{40222132-DBB6-EF4F-A212-67B351A65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1828800"/>
            <a:ext cx="1309688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6" name="Line 18">
            <a:extLst>
              <a:ext uri="{FF2B5EF4-FFF2-40B4-BE49-F238E27FC236}">
                <a16:creationId xmlns:a16="http://schemas.microsoft.com/office/drawing/2014/main" id="{8359119A-CFB1-4043-9325-5491CAFFE4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4700" y="1295400"/>
            <a:ext cx="1338263" cy="158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7" name="Line 19">
            <a:extLst>
              <a:ext uri="{FF2B5EF4-FFF2-40B4-BE49-F238E27FC236}">
                <a16:creationId xmlns:a16="http://schemas.microsoft.com/office/drawing/2014/main" id="{C67D8005-6727-A54A-B6F1-D2AEBD484D6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1308100"/>
            <a:ext cx="0" cy="508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1268" name="Text Box 20">
            <a:extLst>
              <a:ext uri="{FF2B5EF4-FFF2-40B4-BE49-F238E27FC236}">
                <a16:creationId xmlns:a16="http://schemas.microsoft.com/office/drawing/2014/main" id="{1E18FE09-9EF9-6A40-A3B4-09CFA817D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6938" y="1314450"/>
            <a:ext cx="12382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5000"/>
              </a:lnSpc>
            </a:pPr>
            <a:r>
              <a:rPr lang="en-US" altLang="zh-CN" sz="1800" b="1">
                <a:ea typeface="宋体" panose="02010600030101010101" pitchFamily="2" charset="-122"/>
              </a:rPr>
              <a:t>Memory Controller</a:t>
            </a:r>
          </a:p>
        </p:txBody>
      </p:sp>
      <p:sp>
        <p:nvSpPr>
          <p:cNvPr id="21" name="Text Box 42">
            <a:extLst>
              <a:ext uri="{FF2B5EF4-FFF2-40B4-BE49-F238E27FC236}">
                <a16:creationId xmlns:a16="http://schemas.microsoft.com/office/drawing/2014/main" id="{A15F3F35-97DE-024F-A691-D0003273E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8" y="6129338"/>
            <a:ext cx="1527175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2" action="ppaction://hlinksldjump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8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68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68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689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689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689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689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 descr="write-through">
            <a:extLst>
              <a:ext uri="{FF2B5EF4-FFF2-40B4-BE49-F238E27FC236}">
                <a16:creationId xmlns:a16="http://schemas.microsoft.com/office/drawing/2014/main" id="{B43AA3E6-3865-FF4B-B8C1-86B9F19C9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873125"/>
            <a:ext cx="8664575" cy="557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2275" name="Rectangle 3">
            <a:extLst>
              <a:ext uri="{FF2B5EF4-FFF2-40B4-BE49-F238E27FC236}">
                <a16:creationId xmlns:a16="http://schemas.microsoft.com/office/drawing/2014/main" id="{26BBAE66-C255-E14B-A7F2-655C9975B4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写策略（</a:t>
            </a:r>
            <a:r>
              <a:rPr lang="en-US" altLang="zh-CN"/>
              <a:t>Cache</a:t>
            </a:r>
            <a:r>
              <a:rPr lang="zh-CN" altLang="en-US"/>
              <a:t>一致性问题）</a:t>
            </a:r>
          </a:p>
        </p:txBody>
      </p:sp>
      <p:sp>
        <p:nvSpPr>
          <p:cNvPr id="467972" name="Text Box 4">
            <a:extLst>
              <a:ext uri="{FF2B5EF4-FFF2-40B4-BE49-F238E27FC236}">
                <a16:creationId xmlns:a16="http://schemas.microsoft.com/office/drawing/2014/main" id="{2F4FFF42-426E-7542-AC33-EDE793AA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46688" y="6354763"/>
            <a:ext cx="161925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3" action="ppaction://hlinksldjump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67977" name="Line 9">
            <a:extLst>
              <a:ext uri="{FF2B5EF4-FFF2-40B4-BE49-F238E27FC236}">
                <a16:creationId xmlns:a16="http://schemas.microsoft.com/office/drawing/2014/main" id="{BFE3200A-6142-304D-BFD7-10FC4C4FBA48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5975" y="6129338"/>
            <a:ext cx="5124450" cy="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zh-CN" altLang="en-US"/>
          </a:p>
        </p:txBody>
      </p:sp>
      <p:sp>
        <p:nvSpPr>
          <p:cNvPr id="182278" name="Rectangle 10">
            <a:extLst>
              <a:ext uri="{FF2B5EF4-FFF2-40B4-BE49-F238E27FC236}">
                <a16:creationId xmlns:a16="http://schemas.microsoft.com/office/drawing/2014/main" id="{078F2869-2322-8C43-BCC2-079EBA3F7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4125" y="866775"/>
            <a:ext cx="4248150" cy="609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467974" name="Text Box 6">
            <a:extLst>
              <a:ext uri="{FF2B5EF4-FFF2-40B4-BE49-F238E27FC236}">
                <a16:creationId xmlns:a16="http://schemas.microsoft.com/office/drawing/2014/main" id="{15E8864F-C68D-484B-A5C7-C3434423B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1038225"/>
            <a:ext cx="4759325" cy="736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：以下描述的是哪种写策略？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Through 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Allocate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  <p:sp>
        <p:nvSpPr>
          <p:cNvPr id="467976" name="Text Box 8">
            <a:extLst>
              <a:ext uri="{FF2B5EF4-FFF2-40B4-BE49-F238E27FC236}">
                <a16:creationId xmlns:a16="http://schemas.microsoft.com/office/drawing/2014/main" id="{BEA4A306-D883-E342-9A28-212410E0B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738" y="1022350"/>
            <a:ext cx="3544887" cy="736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000" b="1" i="1">
                <a:solidFill>
                  <a:srgbClr val="CC0000"/>
                </a:solidFill>
                <a:ea typeface="华文新魏" panose="02010800040101010101" pitchFamily="2" charset="-122"/>
              </a:rPr>
              <a:t> 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  <a:r>
              <a:rPr kumimoji="1" lang="en-US" altLang="zh-CN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：如果用非写分配，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则如何修改算法？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79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79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7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67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67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7972" grpId="0"/>
      <p:bldP spid="46797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298" name="Picture 2" descr="write-back1">
            <a:extLst>
              <a:ext uri="{FF2B5EF4-FFF2-40B4-BE49-F238E27FC236}">
                <a16:creationId xmlns:a16="http://schemas.microsoft.com/office/drawing/2014/main" id="{02C86434-83C7-8F4F-BA50-81CCB2879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33475"/>
            <a:ext cx="8915400" cy="532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3299" name="Rectangle 4">
            <a:extLst>
              <a:ext uri="{FF2B5EF4-FFF2-40B4-BE49-F238E27FC236}">
                <a16:creationId xmlns:a16="http://schemas.microsoft.com/office/drawing/2014/main" id="{FF6E271E-8974-3846-A6AA-A25B6488947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写策略</a:t>
            </a:r>
            <a:r>
              <a:rPr lang="en-US" altLang="zh-CN"/>
              <a:t>2</a:t>
            </a:r>
            <a:r>
              <a:rPr lang="zh-CN" altLang="en-US"/>
              <a:t>：</a:t>
            </a:r>
            <a:r>
              <a:rPr lang="en-US" altLang="zh-CN"/>
              <a:t>Write Back</a:t>
            </a:r>
            <a:r>
              <a:rPr lang="zh-CN" altLang="en-US"/>
              <a:t>算法 </a:t>
            </a:r>
          </a:p>
        </p:txBody>
      </p:sp>
      <p:sp>
        <p:nvSpPr>
          <p:cNvPr id="465925" name="Text Box 5">
            <a:extLst>
              <a:ext uri="{FF2B5EF4-FFF2-40B4-BE49-F238E27FC236}">
                <a16:creationId xmlns:a16="http://schemas.microsoft.com/office/drawing/2014/main" id="{193335BD-D742-9B43-B73E-84C72B3EB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981075"/>
            <a:ext cx="8267700" cy="736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问题：以下算法描述的是哪种写策略？</a:t>
            </a: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Back 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Allocate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59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59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22" name="Picture 2" descr="write-back2">
            <a:extLst>
              <a:ext uri="{FF2B5EF4-FFF2-40B4-BE49-F238E27FC236}">
                <a16:creationId xmlns:a16="http://schemas.microsoft.com/office/drawing/2014/main" id="{DDF4D8B4-083D-8843-8D52-4637B94249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650" y="773113"/>
            <a:ext cx="8642350" cy="564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23" name="Rectangle 3">
            <a:extLst>
              <a:ext uri="{FF2B5EF4-FFF2-40B4-BE49-F238E27FC236}">
                <a16:creationId xmlns:a16="http://schemas.microsoft.com/office/drawing/2014/main" id="{9608B9C2-D7D2-2946-A458-237C7B3A19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写策略</a:t>
            </a:r>
            <a:r>
              <a:rPr lang="en-US" altLang="zh-CN" sz="3200"/>
              <a:t>2</a:t>
            </a:r>
            <a:r>
              <a:rPr lang="zh-CN" altLang="en-US" sz="3200"/>
              <a:t>：</a:t>
            </a:r>
            <a:r>
              <a:rPr lang="en-US" altLang="zh-CN" sz="3200"/>
              <a:t>Write Back</a:t>
            </a:r>
            <a:r>
              <a:rPr lang="zh-CN" altLang="en-US" sz="3200"/>
              <a:t>中的修改（“脏</a:t>
            </a:r>
            <a:r>
              <a:rPr lang="en-US" altLang="zh-CN" sz="3200"/>
              <a:t>”</a:t>
            </a:r>
            <a:r>
              <a:rPr lang="zh-CN" altLang="en-US" sz="3200"/>
              <a:t>）位 </a:t>
            </a:r>
          </a:p>
        </p:txBody>
      </p:sp>
      <p:sp>
        <p:nvSpPr>
          <p:cNvPr id="184324" name="Text Box 4">
            <a:extLst>
              <a:ext uri="{FF2B5EF4-FFF2-40B4-BE49-F238E27FC236}">
                <a16:creationId xmlns:a16="http://schemas.microsoft.com/office/drawing/2014/main" id="{473C3D0D-5074-004C-8481-542295547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7638" y="1854200"/>
            <a:ext cx="100965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800" b="1" i="1">
                <a:solidFill>
                  <a:srgbClr val="666699"/>
                </a:solidFill>
                <a:ea typeface="华文新魏" panose="02010800040101010101" pitchFamily="2" charset="-122"/>
                <a:hlinkClick r:id="rId3" action="ppaction://hlinksldjump"/>
              </a:rPr>
              <a:t>BACK</a:t>
            </a:r>
            <a:endParaRPr kumimoji="1" lang="en-US" altLang="zh-CN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346" name="Picture 2" descr="block size1">
            <a:extLst>
              <a:ext uri="{FF2B5EF4-FFF2-40B4-BE49-F238E27FC236}">
                <a16:creationId xmlns:a16="http://schemas.microsoft.com/office/drawing/2014/main" id="{D1F4A6FA-72B5-554C-8800-1CA49DCA8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54088"/>
            <a:ext cx="8953500" cy="4900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72067" name="Rectangle 3">
            <a:extLst>
              <a:ext uri="{FF2B5EF4-FFF2-40B4-BE49-F238E27FC236}">
                <a16:creationId xmlns:a16="http://schemas.microsoft.com/office/drawing/2014/main" id="{CA0C4636-CC00-2947-ADFD-14E7BE446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800" y="5859463"/>
            <a:ext cx="8123238" cy="65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15000"/>
              </a:spcBef>
            </a:pPr>
            <a:r>
              <a:rPr kumimoji="1" lang="en-US" altLang="zh-CN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大小：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越大，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Miss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率越低，但成本越高！</a:t>
            </a:r>
          </a:p>
          <a:p>
            <a:pPr eaLnBrk="1" hangingPunct="1">
              <a:spcBef>
                <a:spcPct val="15000"/>
              </a:spcBef>
            </a:pPr>
            <a:r>
              <a:rPr kumimoji="1" lang="en-US" altLang="zh-CN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kumimoji="1" lang="zh-CN" altLang="en-US" sz="20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大小：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大小与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大小有关，且不能太大，也不能太小！</a:t>
            </a:r>
            <a:endParaRPr lang="zh-CN" altLang="en-US" sz="2000" b="1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85348" name="Rectangle 5">
            <a:extLst>
              <a:ext uri="{FF2B5EF4-FFF2-40B4-BE49-F238E27FC236}">
                <a16:creationId xmlns:a16="http://schemas.microsoft.com/office/drawing/2014/main" id="{C5E6A9E5-7A6C-1A43-8CF8-BA1720A4950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en-US" altLang="zh-CN" sz="3400"/>
              <a:t>Cache</a:t>
            </a:r>
            <a:r>
              <a:rPr lang="zh-CN" altLang="en-US" sz="3400"/>
              <a:t>大小、</a:t>
            </a:r>
            <a:r>
              <a:rPr lang="en-US" altLang="zh-CN" sz="3400"/>
              <a:t>Block</a:t>
            </a:r>
            <a:r>
              <a:rPr lang="zh-CN" altLang="en-US" sz="3400"/>
              <a:t>大小和缺失率的关系</a:t>
            </a:r>
          </a:p>
        </p:txBody>
      </p:sp>
      <p:sp>
        <p:nvSpPr>
          <p:cNvPr id="185349" name="Text Box 6">
            <a:extLst>
              <a:ext uri="{FF2B5EF4-FFF2-40B4-BE49-F238E27FC236}">
                <a16:creationId xmlns:a16="http://schemas.microsoft.com/office/drawing/2014/main" id="{63162390-6D22-BC48-8869-AAF9872EF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3" y="1089025"/>
            <a:ext cx="8372475" cy="736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性能由缺失率确定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而缺失率与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大小、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大小等有关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2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2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67" grpId="0" build="allAtOnce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>
            <a:extLst>
              <a:ext uri="{FF2B5EF4-FFF2-40B4-BE49-F238E27FC236}">
                <a16:creationId xmlns:a16="http://schemas.microsoft.com/office/drawing/2014/main" id="{70B5A44E-F558-654D-B09C-8E0F3692713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6538" y="128588"/>
            <a:ext cx="8807450" cy="414337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系统中的</a:t>
            </a:r>
            <a:r>
              <a:rPr lang="en-US" altLang="zh-CN"/>
              <a:t>Cache</a:t>
            </a:r>
            <a:r>
              <a:rPr lang="zh-CN" altLang="en-US"/>
              <a:t>数目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44788803-43DA-D449-B3AC-B46A75B371D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66700" y="781050"/>
            <a:ext cx="8537575" cy="5262563"/>
          </a:xfrm>
        </p:spPr>
        <p:txBody>
          <a:bodyPr lIns="91440" tIns="45720" rIns="91440" bIns="45720"/>
          <a:lstStyle/>
          <a:p>
            <a:pPr algn="just" eaLnBrk="1" hangingPunct="1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刚引入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时只有一个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Cache。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近年来多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系统成为主流</a:t>
            </a:r>
            <a:endParaRPr lang="en-US" altLang="zh-CN" sz="20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15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多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系统中，需考虑两个方面：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[1]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单级/多级？</a:t>
            </a:r>
          </a:p>
          <a:p>
            <a:pPr lvl="1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外部(</a:t>
            </a:r>
            <a:r>
              <a:rPr lang="en-US" altLang="zh-CN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Off-chip)Cache: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不做在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内而是独立设置一个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</a:p>
          <a:p>
            <a:pPr lvl="1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片内(</a:t>
            </a:r>
            <a:r>
              <a:rPr lang="en-US" altLang="zh-CN" sz="2000">
                <a:solidFill>
                  <a:srgbClr val="8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On-chip)Cache: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将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作在一个芯片上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单级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只用一个片内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endParaRPr lang="zh-CN" altLang="en-US" sz="200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多级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Cache：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同时使用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L1 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L2 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，甚至有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L3 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L1 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更靠近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，其速度比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L2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快，其容量比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L2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小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[2] 联合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/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分立？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分立：指数据和指令分开存放在各自的数据和指令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一般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L1 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都是分立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L1 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的命中时间比命中率更重要！为什么？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联合：指数据和指令都放在一个</a:t>
            </a:r>
            <a:r>
              <a:rPr lang="en-US" altLang="zh-CN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中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     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一般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L2 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都是联合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，为什么？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	    </a:t>
            </a:r>
            <a:r>
              <a:rPr lang="en-US" altLang="zh-CN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L2 Cache</a:t>
            </a:r>
            <a:r>
              <a:rPr lang="zh-CN" altLang="en-US" sz="20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的命中率比命中时间更重要！为什么？</a:t>
            </a:r>
          </a:p>
        </p:txBody>
      </p:sp>
      <p:sp>
        <p:nvSpPr>
          <p:cNvPr id="475140" name="Text Box 4">
            <a:extLst>
              <a:ext uri="{FF2B5EF4-FFF2-40B4-BE49-F238E27FC236}">
                <a16:creationId xmlns:a16="http://schemas.microsoft.com/office/drawing/2014/main" id="{C27B1432-0326-064E-90E5-871BC9907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6229350"/>
            <a:ext cx="706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因为缺失时需从主存取数，并要送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L2cache</a:t>
            </a:r>
            <a:r>
              <a:rPr kumimoji="1" lang="zh-CN" altLang="en-US" sz="20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，损失大！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394" name="Picture 2" descr="Pentium内部数据Cache的结构_20010310">
            <a:extLst>
              <a:ext uri="{FF2B5EF4-FFF2-40B4-BE49-F238E27FC236}">
                <a16:creationId xmlns:a16="http://schemas.microsoft.com/office/drawing/2014/main" id="{46EEEE51-8AA6-EE4B-BD31-028568BCE9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963" y="706438"/>
            <a:ext cx="6777037" cy="615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7395" name="Rectangle 3">
            <a:extLst>
              <a:ext uri="{FF2B5EF4-FFF2-40B4-BE49-F238E27FC236}">
                <a16:creationId xmlns:a16="http://schemas.microsoft.com/office/drawing/2014/main" id="{66C12995-74EE-F948-B305-302229E372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53975"/>
            <a:ext cx="8640763" cy="533400"/>
          </a:xfrm>
          <a:noFill/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实例：奔腾机的</a:t>
            </a:r>
            <a:r>
              <a:rPr lang="en-US" altLang="zh-CN"/>
              <a:t>Cache</a:t>
            </a:r>
            <a:r>
              <a:rPr lang="zh-CN" altLang="en-US"/>
              <a:t>组织</a:t>
            </a:r>
          </a:p>
        </p:txBody>
      </p:sp>
      <p:sp>
        <p:nvSpPr>
          <p:cNvPr id="187396" name="Rectangle 4">
            <a:extLst>
              <a:ext uri="{FF2B5EF4-FFF2-40B4-BE49-F238E27FC236}">
                <a16:creationId xmlns:a16="http://schemas.microsoft.com/office/drawing/2014/main" id="{2A765A35-2721-184C-883F-ABAC6EFBAB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30188" y="1047750"/>
            <a:ext cx="4259262" cy="738188"/>
          </a:xfrm>
          <a:noFill/>
        </p:spPr>
        <p:txBody>
          <a:bodyPr lIns="91440" tIns="45720" rIns="91440" bIns="45720"/>
          <a:lstStyle/>
          <a:p>
            <a:pPr eaLnBrk="1" hangingPunct="1">
              <a:buFontTx/>
              <a:buNone/>
            </a:pP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主存：4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GB=2</a:t>
            </a:r>
            <a:r>
              <a:rPr lang="en-US" altLang="zh-CN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</a:t>
            </a:r>
            <a:r>
              <a:rPr lang="en-US" altLang="zh-CN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2</a:t>
            </a:r>
            <a:r>
              <a:rPr lang="en-US" altLang="zh-CN" baseline="3000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B/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</a:p>
          <a:p>
            <a:pPr eaLnBrk="1" hangingPunct="1">
              <a:buFontTx/>
              <a:buNone/>
            </a:pP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Cache：8KB=128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x2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en-US" altLang="zh-CN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 </a:t>
            </a:r>
          </a:p>
        </p:txBody>
      </p:sp>
      <p:sp>
        <p:nvSpPr>
          <p:cNvPr id="483343" name="Rectangle 15">
            <a:extLst>
              <a:ext uri="{FF2B5EF4-FFF2-40B4-BE49-F238E27FC236}">
                <a16:creationId xmlns:a16="http://schemas.microsoft.com/office/drawing/2014/main" id="{D96C1E71-D884-D347-A3A4-487B9D328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" y="2949575"/>
            <a:ext cx="2625725" cy="349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替换算法：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LRU，</a:t>
            </a: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每组一位</a:t>
            </a:r>
            <a:r>
              <a:rPr kumimoji="1"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</a:t>
            </a: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0：下次淘汰第0路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1：下次淘汰第1路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写策略：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默认为</a:t>
            </a:r>
            <a:r>
              <a:rPr kumimoji="1"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Back，</a:t>
            </a: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可动态设置为</a:t>
            </a:r>
            <a:r>
              <a:rPr kumimoji="1"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Write Through。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en-US" altLang="zh-CN" sz="1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kumimoji="1" lang="zh-CN" altLang="en-US" sz="18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一致性：</a:t>
            </a:r>
          </a:p>
          <a:p>
            <a:pPr eaLnBrk="1" hangingPunct="1">
              <a:lnSpc>
                <a:spcPct val="110000"/>
              </a:lnSpc>
              <a:spcBef>
                <a:spcPct val="20000"/>
              </a:spcBef>
            </a:pP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kumimoji="1" lang="en-US" altLang="zh-CN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MESI</a:t>
            </a:r>
            <a:r>
              <a:rPr kumimoji="1" lang="zh-CN" altLang="en-US" sz="18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</a:t>
            </a:r>
            <a:endParaRPr kumimoji="1" lang="zh-CN" altLang="en-US" sz="1800" b="1">
              <a:solidFill>
                <a:srgbClr val="8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3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83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83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3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3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83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833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833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>
            <a:extLst>
              <a:ext uri="{FF2B5EF4-FFF2-40B4-BE49-F238E27FC236}">
                <a16:creationId xmlns:a16="http://schemas.microsoft.com/office/drawing/2014/main" id="{F2E8D479-10E2-994C-8FAB-244F66578A7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38125" y="128588"/>
            <a:ext cx="8805863" cy="528637"/>
          </a:xfrm>
        </p:spPr>
        <p:txBody>
          <a:bodyPr lIns="91440" tIns="45720" rIns="91440" bIns="45720" anchor="ctr"/>
          <a:lstStyle/>
          <a:p>
            <a:pPr defTabSz="717550" eaLnBrk="1" hangingPunct="1"/>
            <a:r>
              <a:rPr lang="zh-CN" altLang="en-US"/>
              <a:t>实例：</a:t>
            </a:r>
            <a:r>
              <a:rPr lang="en-US" altLang="zh-CN"/>
              <a:t>Pentium 4</a:t>
            </a:r>
            <a:r>
              <a:rPr lang="zh-CN" altLang="en-US"/>
              <a:t>的</a:t>
            </a:r>
            <a:r>
              <a:rPr lang="en-US" altLang="zh-CN"/>
              <a:t>cache</a:t>
            </a:r>
            <a:r>
              <a:rPr lang="zh-CN" altLang="en-US"/>
              <a:t>存储器</a:t>
            </a:r>
          </a:p>
        </p:txBody>
      </p:sp>
      <p:sp>
        <p:nvSpPr>
          <p:cNvPr id="188419" name="Rectangle 3">
            <a:extLst>
              <a:ext uri="{FF2B5EF4-FFF2-40B4-BE49-F238E27FC236}">
                <a16:creationId xmlns:a16="http://schemas.microsoft.com/office/drawing/2014/main" id="{A28D7F18-41DB-1B43-A87C-E506F775AE3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563813" y="2433638"/>
            <a:ext cx="5797550" cy="2087562"/>
          </a:xfrm>
        </p:spPr>
        <p:txBody>
          <a:bodyPr lIns="91440" tIns="45720" rIns="91440" bIns="45720"/>
          <a:lstStyle/>
          <a:p>
            <a:pPr marL="268288" indent="-268288" defTabSz="717550" eaLnBrk="1" hangingPunct="1">
              <a:lnSpc>
                <a:spcPct val="11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，分成两级：</a:t>
            </a:r>
          </a:p>
          <a:p>
            <a:pPr marL="582613" lvl="1" indent="-223838" defTabSz="717550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L1cache</a:t>
            </a:r>
          </a:p>
          <a:p>
            <a:pPr marL="895350" lvl="2" indent="-177800" defTabSz="717550" eaLnBrk="1" hangingPunct="1">
              <a:lnSpc>
                <a:spcPct val="11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数据缓存（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L1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8KB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95350" lvl="2" indent="-177800" defTabSz="717550" eaLnBrk="1" hangingPunct="1">
              <a:lnSpc>
                <a:spcPct val="115000"/>
              </a:lnSpc>
              <a:spcBef>
                <a:spcPct val="20000"/>
              </a:spcBef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指令缓存， 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8KB</a:t>
            </a:r>
            <a:endParaRPr lang="zh-CN" altLang="en-US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82613" lvl="1" indent="-223838" defTabSz="717550" eaLnBrk="1" hangingPunct="1">
              <a:lnSpc>
                <a:spcPct val="115000"/>
              </a:lnSpc>
              <a:spcBef>
                <a:spcPct val="20000"/>
              </a:spcBef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L2 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，容量为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256 KB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2MB</a:t>
            </a:r>
          </a:p>
        </p:txBody>
      </p:sp>
      <p:sp>
        <p:nvSpPr>
          <p:cNvPr id="188420" name="Rectangle 5">
            <a:extLst>
              <a:ext uri="{FF2B5EF4-FFF2-40B4-BE49-F238E27FC236}">
                <a16:creationId xmlns:a16="http://schemas.microsoft.com/office/drawing/2014/main" id="{A7CDE5DC-734C-7E41-8721-635FDB368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3300" y="1179513"/>
            <a:ext cx="3729038" cy="900112"/>
          </a:xfrm>
          <a:prstGeom prst="rect">
            <a:avLst/>
          </a:prstGeom>
          <a:solidFill>
            <a:srgbClr val="FEE2E3"/>
          </a:solidFill>
          <a:ln w="28575">
            <a:solidFill>
              <a:srgbClr val="009900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21" name="Rectangle 6">
            <a:extLst>
              <a:ext uri="{FF2B5EF4-FFF2-40B4-BE49-F238E27FC236}">
                <a16:creationId xmlns:a16="http://schemas.microsoft.com/office/drawing/2014/main" id="{C58C0D23-0A87-B947-A420-2B2326F69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5372100"/>
            <a:ext cx="3079750" cy="892175"/>
          </a:xfrm>
          <a:prstGeom prst="rect">
            <a:avLst/>
          </a:prstGeom>
          <a:solidFill>
            <a:srgbClr val="FEE2E3"/>
          </a:solidFill>
          <a:ln w="28575">
            <a:solidFill>
              <a:srgbClr val="009900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grpSp>
        <p:nvGrpSpPr>
          <p:cNvPr id="188422" name="Group 7">
            <a:extLst>
              <a:ext uri="{FF2B5EF4-FFF2-40B4-BE49-F238E27FC236}">
                <a16:creationId xmlns:a16="http://schemas.microsoft.com/office/drawing/2014/main" id="{8C05BB4F-2BD3-5D48-8887-253883D02698}"/>
              </a:ext>
            </a:extLst>
          </p:cNvPr>
          <p:cNvGrpSpPr>
            <a:grpSpLocks/>
          </p:cNvGrpSpPr>
          <p:nvPr/>
        </p:nvGrpSpPr>
        <p:grpSpPr bwMode="auto">
          <a:xfrm>
            <a:off x="657225" y="4384675"/>
            <a:ext cx="1709738" cy="1781175"/>
            <a:chOff x="1312" y="11960"/>
            <a:chExt cx="1060" cy="1368"/>
          </a:xfrm>
        </p:grpSpPr>
        <p:sp>
          <p:nvSpPr>
            <p:cNvPr id="188439" name="Rectangle 8">
              <a:extLst>
                <a:ext uri="{FF2B5EF4-FFF2-40B4-BE49-F238E27FC236}">
                  <a16:creationId xmlns:a16="http://schemas.microsoft.com/office/drawing/2014/main" id="{1A29FCD9-1805-BB45-837F-AF3C37F755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2" y="11960"/>
              <a:ext cx="1060" cy="1368"/>
            </a:xfrm>
            <a:prstGeom prst="rect">
              <a:avLst/>
            </a:prstGeom>
            <a:solidFill>
              <a:srgbClr val="FEE2E3"/>
            </a:solidFill>
            <a:ln w="28575">
              <a:solidFill>
                <a:srgbClr val="0099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88440" name="Text Box 9">
              <a:extLst>
                <a:ext uri="{FF2B5EF4-FFF2-40B4-BE49-F238E27FC236}">
                  <a16:creationId xmlns:a16="http://schemas.microsoft.com/office/drawing/2014/main" id="{BBCC5B56-27B2-1748-B06C-E81FC908AB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4" y="12184"/>
              <a:ext cx="952" cy="755"/>
            </a:xfrm>
            <a:prstGeom prst="rect">
              <a:avLst/>
            </a:prstGeom>
            <a:solidFill>
              <a:srgbClr val="FEE2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96000"/>
                </a:lnSpc>
              </a:pPr>
              <a:r>
                <a:rPr kumimoji="1" lang="en-US" altLang="zh-CN" sz="2000" b="1">
                  <a:solidFill>
                    <a:srgbClr val="0000FF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L2</a:t>
              </a:r>
            </a:p>
            <a:p>
              <a:pPr algn="ctr" eaLnBrk="1" hangingPunct="1">
                <a:lnSpc>
                  <a:spcPct val="96000"/>
                </a:lnSpc>
              </a:pPr>
              <a:r>
                <a:rPr kumimoji="1" lang="en-US" altLang="zh-CN" sz="2000" b="1">
                  <a:solidFill>
                    <a:srgbClr val="0000FF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cache</a:t>
              </a:r>
            </a:p>
            <a:p>
              <a:pPr algn="ctr" eaLnBrk="1" hangingPunct="1">
                <a:lnSpc>
                  <a:spcPct val="96000"/>
                </a:lnSpc>
              </a:pPr>
              <a:r>
                <a:rPr kumimoji="1" lang="en-US" altLang="zh-CN" sz="2000" b="1">
                  <a:solidFill>
                    <a:srgbClr val="0000FF"/>
                  </a:solidFill>
                  <a:ea typeface="黑体" panose="02010609060101010101" pitchFamily="49" charset="-122"/>
                  <a:cs typeface="Arial" panose="020B0604020202020204" pitchFamily="34" charset="0"/>
                </a:rPr>
                <a:t>(48GB/s)</a:t>
              </a:r>
            </a:p>
          </p:txBody>
        </p:sp>
      </p:grpSp>
      <p:sp>
        <p:nvSpPr>
          <p:cNvPr id="188423" name="AutoShape 10">
            <a:extLst>
              <a:ext uri="{FF2B5EF4-FFF2-40B4-BE49-F238E27FC236}">
                <a16:creationId xmlns:a16="http://schemas.microsoft.com/office/drawing/2014/main" id="{389763E8-F4F1-4B42-A6D5-5DA904707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5599113"/>
            <a:ext cx="2895600" cy="369887"/>
          </a:xfrm>
          <a:prstGeom prst="leftRightArrow">
            <a:avLst>
              <a:gd name="adj1" fmla="val 50148"/>
              <a:gd name="adj2" fmla="val 97274"/>
            </a:avLst>
          </a:prstGeom>
          <a:solidFill>
            <a:srgbClr val="FFFFFF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24" name="Rectangle 11">
            <a:extLst>
              <a:ext uri="{FF2B5EF4-FFF2-40B4-BE49-F238E27FC236}">
                <a16:creationId xmlns:a16="http://schemas.microsoft.com/office/drawing/2014/main" id="{32C06214-AD15-0849-AD9C-00DA4884A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7225" y="5608638"/>
            <a:ext cx="23907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30000"/>
              </a:lnSpc>
            </a:pPr>
            <a:r>
              <a:rPr kumimoji="1" lang="en-US" altLang="zh-CN" sz="1700" b="1">
                <a:solidFill>
                  <a:srgbClr val="0099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数据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cache(8KB)</a:t>
            </a:r>
          </a:p>
        </p:txBody>
      </p:sp>
      <p:sp>
        <p:nvSpPr>
          <p:cNvPr id="188425" name="AutoShape 12">
            <a:extLst>
              <a:ext uri="{FF2B5EF4-FFF2-40B4-BE49-F238E27FC236}">
                <a16:creationId xmlns:a16="http://schemas.microsoft.com/office/drawing/2014/main" id="{1C292F02-9E02-184B-BDA3-7BF08FE267CC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1188244" y="3977481"/>
            <a:ext cx="401638" cy="384175"/>
          </a:xfrm>
          <a:prstGeom prst="leftRightArrow">
            <a:avLst>
              <a:gd name="adj1" fmla="val 44148"/>
              <a:gd name="adj2" fmla="val 29428"/>
            </a:avLst>
          </a:prstGeom>
          <a:solidFill>
            <a:srgbClr val="FFFFFF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26" name="Rectangle 13">
            <a:extLst>
              <a:ext uri="{FF2B5EF4-FFF2-40B4-BE49-F238E27FC236}">
                <a16:creationId xmlns:a16="http://schemas.microsoft.com/office/drawing/2014/main" id="{B4BF3B36-2E0E-5E45-B606-905DCC06F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1403350"/>
            <a:ext cx="3173413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指令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及指令预取部件</a:t>
            </a:r>
          </a:p>
        </p:txBody>
      </p:sp>
      <p:sp>
        <p:nvSpPr>
          <p:cNvPr id="188427" name="AutoShape 14">
            <a:extLst>
              <a:ext uri="{FF2B5EF4-FFF2-40B4-BE49-F238E27FC236}">
                <a16:creationId xmlns:a16="http://schemas.microsoft.com/office/drawing/2014/main" id="{8F6A3154-6D63-8E45-A305-2C0A0905DC6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00088" y="1630363"/>
            <a:ext cx="1484312" cy="671512"/>
          </a:xfrm>
          <a:prstGeom prst="leftRightArrow">
            <a:avLst>
              <a:gd name="adj1" fmla="val 50000"/>
              <a:gd name="adj2" fmla="val 44208"/>
            </a:avLst>
          </a:prstGeom>
          <a:solidFill>
            <a:srgbClr val="FFFFFF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28" name="Text Box 15">
            <a:extLst>
              <a:ext uri="{FF2B5EF4-FFF2-40B4-BE49-F238E27FC236}">
                <a16:creationId xmlns:a16="http://schemas.microsoft.com/office/drawing/2014/main" id="{82AAAAF4-3B86-DB44-9DF2-C990BD731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1314450"/>
            <a:ext cx="438150" cy="113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前端总线</a:t>
            </a:r>
          </a:p>
        </p:txBody>
      </p:sp>
      <p:sp>
        <p:nvSpPr>
          <p:cNvPr id="188429" name="AutoShape 16">
            <a:extLst>
              <a:ext uri="{FF2B5EF4-FFF2-40B4-BE49-F238E27FC236}">
                <a16:creationId xmlns:a16="http://schemas.microsoft.com/office/drawing/2014/main" id="{97FB5A9F-491F-BE4C-A0A5-EDB04BD133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6750" y="1590675"/>
            <a:ext cx="350838" cy="2751138"/>
          </a:xfrm>
          <a:prstGeom prst="downArrow">
            <a:avLst>
              <a:gd name="adj1" fmla="val 61815"/>
              <a:gd name="adj2" fmla="val 68070"/>
            </a:avLst>
          </a:prstGeom>
          <a:solidFill>
            <a:srgbClr val="FFFFFF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 vert="eaVert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30" name="AutoShape 17">
            <a:extLst>
              <a:ext uri="{FF2B5EF4-FFF2-40B4-BE49-F238E27FC236}">
                <a16:creationId xmlns:a16="http://schemas.microsoft.com/office/drawing/2014/main" id="{BBBAC834-B32C-F547-816E-73CFD7729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5013" y="1433513"/>
            <a:ext cx="1527175" cy="347662"/>
          </a:xfrm>
          <a:prstGeom prst="rightArrow">
            <a:avLst>
              <a:gd name="adj1" fmla="val 50000"/>
              <a:gd name="adj2" fmla="val 109818"/>
            </a:avLst>
          </a:prstGeom>
          <a:solidFill>
            <a:srgbClr val="FFFFFF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31" name="Rectangle 18">
            <a:extLst>
              <a:ext uri="{FF2B5EF4-FFF2-40B4-BE49-F238E27FC236}">
                <a16:creationId xmlns:a16="http://schemas.microsoft.com/office/drawing/2014/main" id="{4658C067-5A43-6345-9D3E-67E9FF739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2950" y="1600200"/>
            <a:ext cx="195263" cy="2032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32" name="Text Box 19">
            <a:extLst>
              <a:ext uri="{FF2B5EF4-FFF2-40B4-BE49-F238E27FC236}">
                <a16:creationId xmlns:a16="http://schemas.microsoft.com/office/drawing/2014/main" id="{90320ABC-369C-A942-83E5-83F02C9515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6713" y="5191125"/>
            <a:ext cx="20383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0" rIns="9008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70000"/>
              </a:lnSpc>
            </a:pPr>
            <a:r>
              <a:rPr kumimoji="1" lang="en-US" altLang="zh-CN" sz="1800" b="1">
                <a:solidFill>
                  <a:srgbClr val="006600"/>
                </a:solidFill>
                <a:ea typeface="黑体" panose="02010609060101010101" pitchFamily="49" charset="-122"/>
              </a:rPr>
              <a:t>256</a:t>
            </a: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位，时钟频率</a:t>
            </a:r>
          </a:p>
        </p:txBody>
      </p:sp>
      <p:sp>
        <p:nvSpPr>
          <p:cNvPr id="188433" name="Text Box 20">
            <a:extLst>
              <a:ext uri="{FF2B5EF4-FFF2-40B4-BE49-F238E27FC236}">
                <a16:creationId xmlns:a16="http://schemas.microsoft.com/office/drawing/2014/main" id="{1B9FAE6F-CB7C-BF45-961F-10DB327E89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725" y="998538"/>
            <a:ext cx="1935163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0" rIns="90083" bIns="0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70000"/>
              </a:lnSpc>
            </a:pPr>
            <a:r>
              <a:rPr kumimoji="1" lang="en-US" altLang="zh-CN" sz="1800" b="1">
                <a:solidFill>
                  <a:srgbClr val="006600"/>
                </a:solidFill>
                <a:ea typeface="黑体" panose="02010609060101010101" pitchFamily="49" charset="-122"/>
              </a:rPr>
              <a:t>64</a:t>
            </a: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位</a:t>
            </a:r>
            <a:r>
              <a:rPr kumimoji="1" lang="en-US" altLang="zh-CN" sz="1800" b="1">
                <a:solidFill>
                  <a:srgbClr val="006600"/>
                </a:solidFill>
                <a:ea typeface="黑体" panose="02010609060101010101" pitchFamily="49" charset="-122"/>
              </a:rPr>
              <a:t>,</a:t>
            </a: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时钟频率</a:t>
            </a:r>
          </a:p>
        </p:txBody>
      </p:sp>
      <p:sp>
        <p:nvSpPr>
          <p:cNvPr id="188434" name="Rectangle 21">
            <a:extLst>
              <a:ext uri="{FF2B5EF4-FFF2-40B4-BE49-F238E27FC236}">
                <a16:creationId xmlns:a16="http://schemas.microsoft.com/office/drawing/2014/main" id="{0BD89A97-915D-724A-A722-AF6F1D73E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6613" y="2663825"/>
            <a:ext cx="1044575" cy="714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kumimoji="1" lang="zh-CN" altLang="en-US" sz="1800" b="1" i="1">
              <a:solidFill>
                <a:srgbClr val="666699"/>
              </a:solidFill>
              <a:ea typeface="华文新魏" panose="02010800040101010101" pitchFamily="2" charset="-122"/>
            </a:endParaRPr>
          </a:p>
        </p:txBody>
      </p:sp>
      <p:sp>
        <p:nvSpPr>
          <p:cNvPr id="188435" name="Text Box 22">
            <a:extLst>
              <a:ext uri="{FF2B5EF4-FFF2-40B4-BE49-F238E27FC236}">
                <a16:creationId xmlns:a16="http://schemas.microsoft.com/office/drawing/2014/main" id="{7D862156-A373-8F45-A6B8-37FA263F7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708275"/>
            <a:ext cx="1169987" cy="59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83" tIns="45046" rIns="90083" bIns="45046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</a:pP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总线</a:t>
            </a:r>
          </a:p>
          <a:p>
            <a:pPr algn="ctr" eaLnBrk="1" hangingPunct="1">
              <a:lnSpc>
                <a:spcPct val="80000"/>
              </a:lnSpc>
            </a:pPr>
            <a:r>
              <a:rPr kumimoji="1" lang="zh-CN" altLang="en-US" sz="1800" b="1">
                <a:solidFill>
                  <a:srgbClr val="006600"/>
                </a:solidFill>
                <a:ea typeface="黑体" panose="02010609060101010101" pitchFamily="49" charset="-122"/>
              </a:rPr>
              <a:t>接口部件</a:t>
            </a:r>
          </a:p>
        </p:txBody>
      </p:sp>
      <p:grpSp>
        <p:nvGrpSpPr>
          <p:cNvPr id="188436" name="Group 23">
            <a:extLst>
              <a:ext uri="{FF2B5EF4-FFF2-40B4-BE49-F238E27FC236}">
                <a16:creationId xmlns:a16="http://schemas.microsoft.com/office/drawing/2014/main" id="{96EA151F-F12B-1E4B-A408-A474A7CBC580}"/>
              </a:ext>
            </a:extLst>
          </p:cNvPr>
          <p:cNvGrpSpPr>
            <a:grpSpLocks/>
          </p:cNvGrpSpPr>
          <p:nvPr/>
        </p:nvGrpSpPr>
        <p:grpSpPr bwMode="auto">
          <a:xfrm>
            <a:off x="701675" y="3384550"/>
            <a:ext cx="1260475" cy="595313"/>
            <a:chOff x="336" y="4095"/>
            <a:chExt cx="816" cy="543"/>
          </a:xfrm>
        </p:grpSpPr>
        <p:sp>
          <p:nvSpPr>
            <p:cNvPr id="188437" name="Rectangle 24">
              <a:extLst>
                <a:ext uri="{FF2B5EF4-FFF2-40B4-BE49-F238E27FC236}">
                  <a16:creationId xmlns:a16="http://schemas.microsoft.com/office/drawing/2014/main" id="{11FF8702-2FB0-F84E-AAA2-9D20A3A155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" y="4113"/>
              <a:ext cx="668" cy="51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  <p:sp>
          <p:nvSpPr>
            <p:cNvPr id="188438" name="Text Box 25">
              <a:extLst>
                <a:ext uri="{FF2B5EF4-FFF2-40B4-BE49-F238E27FC236}">
                  <a16:creationId xmlns:a16="http://schemas.microsoft.com/office/drawing/2014/main" id="{1F0D4263-0B5D-B542-9111-10517EAD7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4095"/>
              <a:ext cx="816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83" tIns="45046" rIns="90083" bIns="45046"/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80000"/>
                </a:lnSpc>
              </a:pPr>
              <a:r>
                <a:rPr kumimoji="1" lang="zh-CN" altLang="en-US" sz="1800" b="1">
                  <a:solidFill>
                    <a:srgbClr val="006600"/>
                  </a:solidFill>
                  <a:ea typeface="黑体" panose="02010609060101010101" pitchFamily="49" charset="-122"/>
                </a:rPr>
                <a:t>预取</a:t>
              </a:r>
            </a:p>
            <a:p>
              <a:pPr algn="ctr" eaLnBrk="1" hangingPunct="1">
                <a:lnSpc>
                  <a:spcPct val="80000"/>
                </a:lnSpc>
              </a:pPr>
              <a:r>
                <a:rPr kumimoji="1" lang="zh-CN" altLang="en-US" sz="1800" b="1">
                  <a:solidFill>
                    <a:srgbClr val="006600"/>
                  </a:solidFill>
                  <a:ea typeface="黑体" panose="02010609060101010101" pitchFamily="49" charset="-122"/>
                </a:rPr>
                <a:t>控制逻辑</a:t>
              </a:r>
            </a:p>
          </p:txBody>
        </p:sp>
      </p:grp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2" name="Rectangle 2">
            <a:extLst>
              <a:ext uri="{FF2B5EF4-FFF2-40B4-BE49-F238E27FC236}">
                <a16:creationId xmlns:a16="http://schemas.microsoft.com/office/drawing/2014/main" id="{F6D1CD00-76D5-3044-918B-4B06C136A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实例：</a:t>
            </a:r>
            <a:r>
              <a:rPr lang="en-US" altLang="zh-CN"/>
              <a:t>Intel Core i7</a:t>
            </a:r>
            <a:r>
              <a:rPr lang="zh-CN" altLang="en-US"/>
              <a:t>处理器的</a:t>
            </a:r>
            <a:r>
              <a:rPr lang="en-US" altLang="zh-CN"/>
              <a:t>cache</a:t>
            </a:r>
            <a:r>
              <a:rPr lang="zh-CN" altLang="en-US"/>
              <a:t>结构 </a:t>
            </a:r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0EDE0FC0-5EE8-D14E-A75D-12AB2157F8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89444" name="Picture 4">
            <a:extLst>
              <a:ext uri="{FF2B5EF4-FFF2-40B4-BE49-F238E27FC236}">
                <a16:creationId xmlns:a16="http://schemas.microsoft.com/office/drawing/2014/main" id="{315AFB9A-20A0-CC41-8DF2-89D2C74BC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854075"/>
            <a:ext cx="7845425" cy="483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9445" name="Rectangle 5">
            <a:extLst>
              <a:ext uri="{FF2B5EF4-FFF2-40B4-BE49-F238E27FC236}">
                <a16:creationId xmlns:a16="http://schemas.microsoft.com/office/drawing/2014/main" id="{7CD526CE-92D6-4948-978B-EA93D4F08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3" y="5699125"/>
            <a:ext cx="83693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i-cache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d-cache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都是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32KB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个时钟周期；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L2 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256KB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个时钟周期。所有核共享的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L3 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8MB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路、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30~40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个时钟周期。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 i7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中所有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的块大小都是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64B</a:t>
            </a:r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>
            <a:extLst>
              <a:ext uri="{FF2B5EF4-FFF2-40B4-BE49-F238E27FC236}">
                <a16:creationId xmlns:a16="http://schemas.microsoft.com/office/drawing/2014/main" id="{ED6BAF0C-6E7A-6942-A927-8AFBB04E2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6863" y="60325"/>
            <a:ext cx="8640762" cy="417513"/>
          </a:xfrm>
        </p:spPr>
        <p:txBody>
          <a:bodyPr/>
          <a:lstStyle/>
          <a:p>
            <a:pPr eaLnBrk="1" hangingPunct="1"/>
            <a:r>
              <a:rPr lang="zh-CN" altLang="en-US"/>
              <a:t>系统中的</a:t>
            </a:r>
            <a:r>
              <a:rPr lang="en-US" altLang="zh-CN"/>
              <a:t>Cache</a:t>
            </a:r>
            <a:r>
              <a:rPr lang="zh-CN" altLang="en-US"/>
              <a:t>数目</a:t>
            </a:r>
          </a:p>
        </p:txBody>
      </p:sp>
      <p:sp>
        <p:nvSpPr>
          <p:cNvPr id="475139" name="Rectangle 3">
            <a:extLst>
              <a:ext uri="{FF2B5EF4-FFF2-40B4-BE49-F238E27FC236}">
                <a16:creationId xmlns:a16="http://schemas.microsoft.com/office/drawing/2014/main" id="{156A5B0B-5BE4-DC42-81BF-0D29E032B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66700" y="939800"/>
            <a:ext cx="8537575" cy="5667375"/>
          </a:xfrm>
        </p:spPr>
        <p:txBody>
          <a:bodyPr/>
          <a:lstStyle/>
          <a:p>
            <a:pPr algn="just" eaLnBrk="1" hangingPunct="1"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刚引入</a:t>
            </a:r>
            <a:r>
              <a:rPr lang="en-US" altLang="zh-CN" sz="2000"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时只有一个</a:t>
            </a:r>
            <a:r>
              <a:rPr lang="en-US" altLang="zh-CN" sz="2000">
                <a:ea typeface="黑体" panose="02010609060101010101" pitchFamily="49" charset="-122"/>
                <a:cs typeface="Arial" panose="020B0604020202020204" pitchFamily="34" charset="0"/>
              </a:rPr>
              <a:t>Cache。</a:t>
            </a: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近年来多</a:t>
            </a:r>
            <a:r>
              <a:rPr lang="en-US" altLang="zh-CN" sz="2000"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系统成为主流</a:t>
            </a:r>
            <a:endParaRPr lang="en-US" altLang="zh-CN" sz="2000"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15000"/>
              </a:spcBef>
            </a:pP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多</a:t>
            </a:r>
            <a:r>
              <a:rPr lang="en-US" altLang="zh-CN" sz="2000"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 sz="2000">
                <a:ea typeface="黑体" panose="02010609060101010101" pitchFamily="49" charset="-122"/>
                <a:cs typeface="Arial" panose="020B0604020202020204" pitchFamily="34" charset="0"/>
              </a:rPr>
              <a:t>系统中，需考虑两个方面：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[1] 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单级/多级？</a:t>
            </a:r>
          </a:p>
          <a:p>
            <a:pPr lvl="1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片内(</a:t>
            </a:r>
            <a:r>
              <a:rPr lang="en-US" altLang="zh-CN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On-chip)Cache: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 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将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作在一个芯片上</a:t>
            </a:r>
          </a:p>
          <a:p>
            <a:pPr lvl="1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外部(</a:t>
            </a:r>
            <a:r>
              <a:rPr lang="en-US" altLang="zh-CN">
                <a:solidFill>
                  <a:srgbClr val="80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Off-chip)Cache: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不做在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CPU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内而是独立设置一个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单级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Cache：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只用一个片内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endParaRPr lang="zh-CN" altLang="en-US">
              <a:solidFill>
                <a:srgbClr val="006600"/>
              </a:solidFill>
              <a:ea typeface="黑体" panose="02010609060101010101" pitchFamily="49" charset="-122"/>
              <a:cs typeface="Arial" panose="020B0604020202020204" pitchFamily="34" charset="0"/>
            </a:endParaRP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多级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Cache：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同时使用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L1 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和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L2 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，有些高端系统甚至有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L3 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L1 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更靠近执行部件，速度比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L2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快，容量比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L2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小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[2] 联合</a:t>
            </a:r>
            <a:r>
              <a:rPr lang="en-US" altLang="zh-CN">
                <a:ea typeface="黑体" panose="02010609060101010101" pitchFamily="49" charset="-122"/>
                <a:cs typeface="Arial" panose="020B0604020202020204" pitchFamily="34" charset="0"/>
              </a:rPr>
              <a:t>/</a:t>
            </a:r>
            <a:r>
              <a:rPr lang="zh-CN" altLang="en-US">
                <a:ea typeface="黑体" panose="02010609060101010101" pitchFamily="49" charset="-122"/>
                <a:cs typeface="Arial" panose="020B0604020202020204" pitchFamily="34" charset="0"/>
              </a:rPr>
              <a:t>分立？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分立：指数据和指令分开存放在各自的数据和指令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中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          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一般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L1 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都是分立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            L1 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的命中时间比命中率更重要！为什么？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联合：指数据和指令都放在一个</a:t>
            </a:r>
            <a:r>
              <a:rPr lang="en-US" altLang="zh-CN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中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0066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		     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一般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L2 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都是联合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，为什么？</a:t>
            </a:r>
          </a:p>
          <a:p>
            <a:pPr lvl="1" algn="just" eaLnBrk="1" hangingPunct="1">
              <a:spcBef>
                <a:spcPct val="15000"/>
              </a:spcBef>
              <a:buFontTx/>
              <a:buNone/>
            </a:pP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		    </a:t>
            </a:r>
            <a:r>
              <a:rPr lang="en-US" altLang="zh-CN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L2 Cache</a:t>
            </a:r>
            <a:r>
              <a:rPr lang="zh-CN" altLang="en-US">
                <a:solidFill>
                  <a:srgbClr val="CC0000"/>
                </a:solidFill>
                <a:ea typeface="黑体" panose="02010609060101010101" pitchFamily="49" charset="-122"/>
                <a:cs typeface="Arial" panose="020B0604020202020204" pitchFamily="34" charset="0"/>
              </a:rPr>
              <a:t>的命中率比命中时间更重要！为什么？</a:t>
            </a:r>
          </a:p>
        </p:txBody>
      </p:sp>
      <p:sp>
        <p:nvSpPr>
          <p:cNvPr id="475140" name="Text Box 4">
            <a:extLst>
              <a:ext uri="{FF2B5EF4-FFF2-40B4-BE49-F238E27FC236}">
                <a16:creationId xmlns:a16="http://schemas.microsoft.com/office/drawing/2014/main" id="{2A50D383-A37B-ED4F-9019-0AB0AD82CE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6229350"/>
            <a:ext cx="706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因为缺失时需从主存取数，并要送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L1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和</a:t>
            </a:r>
            <a:r>
              <a:rPr kumimoji="1" lang="en-US" altLang="zh-CN" sz="2000" b="1">
                <a:solidFill>
                  <a:srgbClr val="0000FF"/>
                </a:solidFill>
                <a:ea typeface="黑体" panose="02010609060101010101" pitchFamily="49" charset="-122"/>
              </a:rPr>
              <a:t>L2cache</a:t>
            </a:r>
            <a:r>
              <a:rPr kumimoji="1" lang="zh-CN" altLang="en-US" sz="2000" b="1">
                <a:solidFill>
                  <a:srgbClr val="0000FF"/>
                </a:solidFill>
                <a:ea typeface="黑体" panose="02010609060101010101" pitchFamily="49" charset="-122"/>
              </a:rPr>
              <a:t>，损失大！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75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5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75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751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751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751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7513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7513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7513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75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5140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0" name="Rectangle 2">
            <a:extLst>
              <a:ext uri="{FF2B5EF4-FFF2-40B4-BE49-F238E27FC236}">
                <a16:creationId xmlns:a16="http://schemas.microsoft.com/office/drawing/2014/main" id="{6985959B-C2FD-2F4D-A1AA-1928DCF0B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多核处理器中的多级</a:t>
            </a:r>
            <a:r>
              <a:rPr lang="en-US" altLang="zh-CN" sz="2800"/>
              <a:t>Cache</a:t>
            </a:r>
          </a:p>
        </p:txBody>
      </p:sp>
      <p:sp>
        <p:nvSpPr>
          <p:cNvPr id="191491" name="Rectangle 3">
            <a:extLst>
              <a:ext uri="{FF2B5EF4-FFF2-40B4-BE49-F238E27FC236}">
                <a16:creationId xmlns:a16="http://schemas.microsoft.com/office/drawing/2014/main" id="{5FE73ABC-6BC8-3A42-ACA6-CBEE561A9A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pic>
        <p:nvPicPr>
          <p:cNvPr id="191492" name="Picture 5">
            <a:extLst>
              <a:ext uri="{FF2B5EF4-FFF2-40B4-BE49-F238E27FC236}">
                <a16:creationId xmlns:a16="http://schemas.microsoft.com/office/drawing/2014/main" id="{91C29E55-013D-8848-84DC-38BBDD07F8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7288" y="1352550"/>
            <a:ext cx="2906712" cy="423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1493" name="Picture 6">
            <a:extLst>
              <a:ext uri="{FF2B5EF4-FFF2-40B4-BE49-F238E27FC236}">
                <a16:creationId xmlns:a16="http://schemas.microsoft.com/office/drawing/2014/main" id="{1294F053-AB6E-FB42-97E8-ABF1C2DEE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050"/>
            <a:ext cx="6237288" cy="558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>
            <a:extLst>
              <a:ext uri="{FF2B5EF4-FFF2-40B4-BE49-F238E27FC236}">
                <a16:creationId xmlns:a16="http://schemas.microsoft.com/office/drawing/2014/main" id="{AC50A680-D9E3-484D-ACC2-20F6557861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多级</a:t>
            </a:r>
            <a:r>
              <a:rPr lang="en-US" altLang="zh-CN" sz="2800"/>
              <a:t>cache</a:t>
            </a:r>
            <a:r>
              <a:rPr lang="zh-CN" altLang="en-US" sz="2800"/>
              <a:t>的性能</a:t>
            </a:r>
          </a:p>
        </p:txBody>
      </p:sp>
      <p:sp>
        <p:nvSpPr>
          <p:cNvPr id="691203" name="Rectangle 3">
            <a:extLst>
              <a:ext uri="{FF2B5EF4-FFF2-40B4-BE49-F238E27FC236}">
                <a16:creationId xmlns:a16="http://schemas.microsoft.com/office/drawing/2014/main" id="{9F5B58CA-2CDF-BA44-9E57-0E9EE049DA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000" y="901700"/>
            <a:ext cx="8890000" cy="5715000"/>
          </a:xfrm>
        </p:spPr>
        <p:txBody>
          <a:bodyPr/>
          <a:lstStyle/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100">
                <a:ea typeface="黑体" panose="02010609060101010101" pitchFamily="49" charset="-122"/>
              </a:rPr>
              <a:t>采用</a:t>
            </a:r>
            <a:r>
              <a:rPr lang="en-US" altLang="zh-CN" sz="2100">
                <a:ea typeface="黑体" panose="02010609060101010101" pitchFamily="49" charset="-122"/>
              </a:rPr>
              <a:t>L2 Cache</a:t>
            </a:r>
            <a:r>
              <a:rPr lang="zh-CN" altLang="en-US" sz="2100">
                <a:ea typeface="黑体" panose="02010609060101010101" pitchFamily="49" charset="-122"/>
              </a:rPr>
              <a:t>的系统，其缺失损失的计算如下：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100">
                <a:ea typeface="黑体" panose="02010609060101010101" pitchFamily="49" charset="-122"/>
              </a:rPr>
              <a:t>若</a:t>
            </a:r>
            <a:r>
              <a:rPr lang="en-US" altLang="zh-CN" sz="2100">
                <a:ea typeface="黑体" panose="02010609060101010101" pitchFamily="49" charset="-122"/>
              </a:rPr>
              <a:t>L2 Cache</a:t>
            </a:r>
            <a:r>
              <a:rPr lang="zh-CN" altLang="en-US" sz="2100">
                <a:ea typeface="黑体" panose="02010609060101010101" pitchFamily="49" charset="-122"/>
              </a:rPr>
              <a:t>包含所请求信息，则缺失损失为</a:t>
            </a:r>
            <a:r>
              <a:rPr lang="en-US" altLang="zh-CN" sz="2100">
                <a:ea typeface="黑体" panose="02010609060101010101" pitchFamily="49" charset="-122"/>
              </a:rPr>
              <a:t>L2 Cache</a:t>
            </a:r>
            <a:r>
              <a:rPr lang="zh-CN" altLang="en-US" sz="2100">
                <a:ea typeface="黑体" panose="02010609060101010101" pitchFamily="49" charset="-122"/>
              </a:rPr>
              <a:t>访问时间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100">
                <a:ea typeface="黑体" panose="02010609060101010101" pitchFamily="49" charset="-122"/>
              </a:rPr>
              <a:t>否则访问主存，并取到</a:t>
            </a:r>
            <a:r>
              <a:rPr lang="en-US" altLang="zh-CN" sz="2100">
                <a:ea typeface="黑体" panose="02010609060101010101" pitchFamily="49" charset="-122"/>
              </a:rPr>
              <a:t>L1 Cache</a:t>
            </a:r>
            <a:r>
              <a:rPr lang="zh-CN" altLang="en-US" sz="2100">
                <a:ea typeface="黑体" panose="02010609060101010101" pitchFamily="49" charset="-122"/>
              </a:rPr>
              <a:t>和</a:t>
            </a:r>
            <a:r>
              <a:rPr lang="en-US" altLang="zh-CN" sz="2100">
                <a:ea typeface="黑体" panose="02010609060101010101" pitchFamily="49" charset="-122"/>
              </a:rPr>
              <a:t>L2 Cache</a:t>
            </a:r>
            <a:r>
              <a:rPr lang="zh-CN" altLang="en-US" sz="2100">
                <a:ea typeface="黑体" panose="02010609060101010101" pitchFamily="49" charset="-122"/>
              </a:rPr>
              <a:t>（缺失损失更大）</a:t>
            </a:r>
          </a:p>
          <a:p>
            <a:pPr eaLnBrk="1" hangingPunct="1">
              <a:lnSpc>
                <a:spcPct val="105000"/>
              </a:lnSpc>
              <a:spcBef>
                <a:spcPct val="15000"/>
              </a:spcBef>
            </a:pPr>
            <a:r>
              <a:rPr lang="zh-CN" altLang="en-US" sz="2100">
                <a:ea typeface="黑体" panose="02010609060101010101" pitchFamily="49" charset="-122"/>
              </a:rPr>
              <a:t>例：某处理器在无</a:t>
            </a:r>
            <a:r>
              <a:rPr lang="en-US" altLang="zh-CN" sz="2100">
                <a:ea typeface="黑体" panose="02010609060101010101" pitchFamily="49" charset="-122"/>
              </a:rPr>
              <a:t>cache</a:t>
            </a:r>
            <a:r>
              <a:rPr lang="zh-CN" altLang="en-US" sz="2100">
                <a:ea typeface="黑体" panose="02010609060101010101" pitchFamily="49" charset="-122"/>
              </a:rPr>
              <a:t>缺失时</a:t>
            </a:r>
            <a:r>
              <a:rPr lang="en-US" altLang="zh-CN" sz="2100">
                <a:ea typeface="黑体" panose="02010609060101010101" pitchFamily="49" charset="-122"/>
              </a:rPr>
              <a:t>CPI</a:t>
            </a:r>
            <a:r>
              <a:rPr lang="zh-CN" altLang="en-US" sz="2100">
                <a:ea typeface="黑体" panose="02010609060101010101" pitchFamily="49" charset="-122"/>
              </a:rPr>
              <a:t>为</a:t>
            </a:r>
            <a:r>
              <a:rPr lang="en-US" altLang="zh-CN" sz="2100">
                <a:ea typeface="黑体" panose="02010609060101010101" pitchFamily="49" charset="-122"/>
              </a:rPr>
              <a:t>1</a:t>
            </a:r>
            <a:r>
              <a:rPr lang="zh-CN" altLang="en-US" sz="2100">
                <a:ea typeface="黑体" panose="02010609060101010101" pitchFamily="49" charset="-122"/>
              </a:rPr>
              <a:t>，时钟频率为</a:t>
            </a:r>
            <a:r>
              <a:rPr lang="en-US" altLang="zh-CN" sz="2100">
                <a:ea typeface="黑体" panose="02010609060101010101" pitchFamily="49" charset="-122"/>
              </a:rPr>
              <a:t>5GHz</a:t>
            </a:r>
            <a:r>
              <a:rPr lang="zh-CN" altLang="en-US" sz="2100">
                <a:ea typeface="黑体" panose="02010609060101010101" pitchFamily="49" charset="-122"/>
              </a:rPr>
              <a:t>。假定访问一次主存的时间（包括所有的缺失处理）为</a:t>
            </a:r>
            <a:r>
              <a:rPr lang="en-US" altLang="zh-CN" sz="2100">
                <a:ea typeface="黑体" panose="02010609060101010101" pitchFamily="49" charset="-122"/>
              </a:rPr>
              <a:t>100ns</a:t>
            </a:r>
            <a:r>
              <a:rPr lang="zh-CN" altLang="en-US" sz="2100">
                <a:ea typeface="黑体" panose="02010609060101010101" pitchFamily="49" charset="-122"/>
              </a:rPr>
              <a:t>，平均每条指令在</a:t>
            </a:r>
            <a:r>
              <a:rPr lang="en-US" altLang="zh-CN" sz="2100">
                <a:ea typeface="黑体" panose="02010609060101010101" pitchFamily="49" charset="-122"/>
              </a:rPr>
              <a:t>L1 Cache</a:t>
            </a:r>
            <a:r>
              <a:rPr lang="zh-CN" altLang="en-US" sz="2100">
                <a:ea typeface="黑体" panose="02010609060101010101" pitchFamily="49" charset="-122"/>
              </a:rPr>
              <a:t>中的缺失率为</a:t>
            </a:r>
            <a:r>
              <a:rPr lang="en-US" altLang="zh-CN" sz="2100">
                <a:ea typeface="黑体" panose="02010609060101010101" pitchFamily="49" charset="-122"/>
              </a:rPr>
              <a:t>2%</a:t>
            </a:r>
            <a:r>
              <a:rPr lang="zh-CN" altLang="en-US" sz="2100">
                <a:ea typeface="黑体" panose="02010609060101010101" pitchFamily="49" charset="-122"/>
              </a:rPr>
              <a:t>。若增加一个</a:t>
            </a:r>
            <a:r>
              <a:rPr lang="en-US" altLang="zh-CN" sz="2100">
                <a:ea typeface="黑体" panose="02010609060101010101" pitchFamily="49" charset="-122"/>
              </a:rPr>
              <a:t>L2 Cache</a:t>
            </a:r>
            <a:r>
              <a:rPr lang="zh-CN" altLang="en-US" sz="2100">
                <a:ea typeface="黑体" panose="02010609060101010101" pitchFamily="49" charset="-122"/>
              </a:rPr>
              <a:t>，其访问时间为</a:t>
            </a:r>
            <a:r>
              <a:rPr lang="en-US" altLang="zh-CN" sz="2100">
                <a:ea typeface="黑体" panose="02010609060101010101" pitchFamily="49" charset="-122"/>
              </a:rPr>
              <a:t>5ns</a:t>
            </a:r>
            <a:r>
              <a:rPr lang="zh-CN" altLang="en-US" sz="2100">
                <a:ea typeface="黑体" panose="02010609060101010101" pitchFamily="49" charset="-122"/>
              </a:rPr>
              <a:t>，而且容量足够大到使全局缺失率减为</a:t>
            </a:r>
            <a:r>
              <a:rPr lang="en-US" altLang="zh-CN" sz="2100">
                <a:ea typeface="黑体" panose="02010609060101010101" pitchFamily="49" charset="-122"/>
              </a:rPr>
              <a:t>0.5%</a:t>
            </a:r>
            <a:r>
              <a:rPr lang="zh-CN" altLang="en-US" sz="2100">
                <a:ea typeface="黑体" panose="02010609060101010101" pitchFamily="49" charset="-122"/>
              </a:rPr>
              <a:t>，问处理器执行指令的速度提高了多少？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100">
                <a:ea typeface="黑体" panose="02010609060101010101" pitchFamily="49" charset="-122"/>
              </a:rPr>
              <a:t>解：如果只有一级</a:t>
            </a:r>
            <a:r>
              <a:rPr lang="en-US" altLang="zh-CN" sz="2100">
                <a:ea typeface="黑体" panose="02010609060101010101" pitchFamily="49" charset="-122"/>
              </a:rPr>
              <a:t>Cache</a:t>
            </a:r>
            <a:r>
              <a:rPr lang="zh-CN" altLang="en-US" sz="2100">
                <a:ea typeface="黑体" panose="02010609060101010101" pitchFamily="49" charset="-122"/>
              </a:rPr>
              <a:t>，则缺失只有一种。即</a:t>
            </a:r>
            <a:r>
              <a:rPr lang="en-US" altLang="zh-CN" sz="2100">
                <a:ea typeface="黑体" panose="02010609060101010101" pitchFamily="49" charset="-122"/>
              </a:rPr>
              <a:t>L1</a:t>
            </a:r>
            <a:r>
              <a:rPr lang="zh-CN" altLang="en-US" sz="2100">
                <a:ea typeface="黑体" panose="02010609060101010101" pitchFamily="49" charset="-122"/>
              </a:rPr>
              <a:t>缺失</a:t>
            </a:r>
            <a:r>
              <a:rPr lang="en-US" altLang="zh-CN" sz="2100">
                <a:ea typeface="黑体" panose="02010609060101010101" pitchFamily="49" charset="-122"/>
              </a:rPr>
              <a:t>(</a:t>
            </a:r>
            <a:r>
              <a:rPr lang="zh-CN" altLang="en-US" sz="2100">
                <a:ea typeface="黑体" panose="02010609060101010101" pitchFamily="49" charset="-122"/>
              </a:rPr>
              <a:t>需访问主存</a:t>
            </a:r>
            <a:r>
              <a:rPr lang="en-US" altLang="zh-CN" sz="2100">
                <a:ea typeface="黑体" panose="02010609060101010101" pitchFamily="49" charset="-122"/>
              </a:rPr>
              <a:t>)</a:t>
            </a:r>
            <a:r>
              <a:rPr lang="zh-CN" altLang="en-US" sz="2100">
                <a:ea typeface="黑体" panose="02010609060101010101" pitchFamily="49" charset="-122"/>
              </a:rPr>
              <a:t>，其缺失损失为：</a:t>
            </a:r>
            <a:r>
              <a:rPr lang="en-US" altLang="zh-CN" sz="2100">
                <a:ea typeface="黑体" panose="02010609060101010101" pitchFamily="49" charset="-122"/>
              </a:rPr>
              <a:t>100nsx5GHz=500</a:t>
            </a:r>
            <a:r>
              <a:rPr lang="zh-CN" altLang="en-US" sz="2100">
                <a:ea typeface="黑体" panose="02010609060101010101" pitchFamily="49" charset="-122"/>
              </a:rPr>
              <a:t>个时钟，</a:t>
            </a:r>
            <a:r>
              <a:rPr lang="en-US" altLang="zh-CN" sz="2100">
                <a:ea typeface="黑体" panose="02010609060101010101" pitchFamily="49" charset="-122"/>
              </a:rPr>
              <a:t>CPI=1+500x2%=11.0</a:t>
            </a:r>
            <a:r>
              <a:rPr lang="zh-CN" altLang="en-US" sz="2100">
                <a:ea typeface="黑体" panose="02010609060101010101" pitchFamily="49" charset="-122"/>
              </a:rPr>
              <a:t>。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100">
                <a:ea typeface="黑体" panose="02010609060101010101" pitchFamily="49" charset="-122"/>
              </a:rPr>
              <a:t>       如果有二级</a:t>
            </a:r>
            <a:r>
              <a:rPr lang="en-US" altLang="zh-CN" sz="2100">
                <a:ea typeface="黑体" panose="02010609060101010101" pitchFamily="49" charset="-122"/>
              </a:rPr>
              <a:t>Cache</a:t>
            </a:r>
            <a:r>
              <a:rPr lang="zh-CN" altLang="en-US" sz="2100">
                <a:ea typeface="黑体" panose="02010609060101010101" pitchFamily="49" charset="-122"/>
              </a:rPr>
              <a:t>，则有两种缺失：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100">
                <a:ea typeface="黑体" panose="02010609060101010101" pitchFamily="49" charset="-122"/>
              </a:rPr>
              <a:t>          </a:t>
            </a:r>
            <a:r>
              <a:rPr lang="en-US" altLang="zh-CN" sz="2100">
                <a:ea typeface="黑体" panose="02010609060101010101" pitchFamily="49" charset="-122"/>
              </a:rPr>
              <a:t>L1</a:t>
            </a:r>
            <a:r>
              <a:rPr lang="zh-CN" altLang="en-US" sz="2100">
                <a:ea typeface="黑体" panose="02010609060101010101" pitchFamily="49" charset="-122"/>
              </a:rPr>
              <a:t>缺失</a:t>
            </a:r>
            <a:r>
              <a:rPr lang="en-US" altLang="zh-CN" sz="2100">
                <a:ea typeface="黑体" panose="02010609060101010101" pitchFamily="49" charset="-122"/>
              </a:rPr>
              <a:t>(</a:t>
            </a:r>
            <a:r>
              <a:rPr lang="zh-CN" altLang="en-US" sz="2100">
                <a:ea typeface="黑体" panose="02010609060101010101" pitchFamily="49" charset="-122"/>
              </a:rPr>
              <a:t>需访问</a:t>
            </a:r>
            <a:r>
              <a:rPr lang="en-US" altLang="zh-CN" sz="2100">
                <a:ea typeface="黑体" panose="02010609060101010101" pitchFamily="49" charset="-122"/>
              </a:rPr>
              <a:t>L2 Cache)</a:t>
            </a:r>
            <a:r>
              <a:rPr lang="zh-CN" altLang="en-US" sz="2100">
                <a:ea typeface="黑体" panose="02010609060101010101" pitchFamily="49" charset="-122"/>
              </a:rPr>
              <a:t>：</a:t>
            </a:r>
            <a:r>
              <a:rPr lang="en-US" altLang="zh-CN" sz="2100">
                <a:ea typeface="黑体" panose="02010609060101010101" pitchFamily="49" charset="-122"/>
              </a:rPr>
              <a:t>5nsx5GHz=25</a:t>
            </a:r>
            <a:r>
              <a:rPr lang="zh-CN" altLang="en-US" sz="2100">
                <a:ea typeface="黑体" panose="02010609060101010101" pitchFamily="49" charset="-122"/>
              </a:rPr>
              <a:t>个时钟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100">
                <a:ea typeface="黑体" panose="02010609060101010101" pitchFamily="49" charset="-122"/>
              </a:rPr>
              <a:t>          </a:t>
            </a:r>
            <a:r>
              <a:rPr lang="en-US" altLang="zh-CN" sz="2100">
                <a:ea typeface="黑体" panose="02010609060101010101" pitchFamily="49" charset="-122"/>
              </a:rPr>
              <a:t>L1</a:t>
            </a:r>
            <a:r>
              <a:rPr lang="zh-CN" altLang="en-US" sz="2100">
                <a:ea typeface="黑体" panose="02010609060101010101" pitchFamily="49" charset="-122"/>
              </a:rPr>
              <a:t>和</a:t>
            </a:r>
            <a:r>
              <a:rPr lang="en-US" altLang="zh-CN" sz="2100">
                <a:ea typeface="黑体" panose="02010609060101010101" pitchFamily="49" charset="-122"/>
              </a:rPr>
              <a:t>L2</a:t>
            </a:r>
            <a:r>
              <a:rPr lang="zh-CN" altLang="en-US" sz="2100">
                <a:ea typeface="黑体" panose="02010609060101010101" pitchFamily="49" charset="-122"/>
              </a:rPr>
              <a:t>都缺失</a:t>
            </a:r>
            <a:r>
              <a:rPr lang="en-US" altLang="zh-CN" sz="2100">
                <a:ea typeface="黑体" panose="02010609060101010101" pitchFamily="49" charset="-122"/>
              </a:rPr>
              <a:t>(</a:t>
            </a:r>
            <a:r>
              <a:rPr lang="zh-CN" altLang="en-US" sz="2100">
                <a:ea typeface="黑体" panose="02010609060101010101" pitchFamily="49" charset="-122"/>
              </a:rPr>
              <a:t>需访问主存</a:t>
            </a:r>
            <a:r>
              <a:rPr lang="en-US" altLang="zh-CN" sz="2100">
                <a:ea typeface="黑体" panose="02010609060101010101" pitchFamily="49" charset="-122"/>
              </a:rPr>
              <a:t>)</a:t>
            </a:r>
            <a:r>
              <a:rPr lang="zh-CN" altLang="en-US" sz="2100">
                <a:ea typeface="黑体" panose="02010609060101010101" pitchFamily="49" charset="-122"/>
              </a:rPr>
              <a:t>：</a:t>
            </a:r>
            <a:r>
              <a:rPr lang="en-US" altLang="zh-CN" sz="2100">
                <a:ea typeface="黑体" panose="02010609060101010101" pitchFamily="49" charset="-122"/>
              </a:rPr>
              <a:t>500</a:t>
            </a:r>
            <a:r>
              <a:rPr lang="zh-CN" altLang="en-US" sz="2100">
                <a:ea typeface="黑体" panose="02010609060101010101" pitchFamily="49" charset="-122"/>
              </a:rPr>
              <a:t>个时钟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en-US" altLang="zh-CN" sz="2100">
                <a:ea typeface="黑体" panose="02010609060101010101" pitchFamily="49" charset="-122"/>
              </a:rPr>
              <a:t>          </a:t>
            </a:r>
            <a:r>
              <a:rPr lang="zh-CN" altLang="en-US" sz="2100">
                <a:ea typeface="黑体" panose="02010609060101010101" pitchFamily="49" charset="-122"/>
              </a:rPr>
              <a:t>因此，</a:t>
            </a:r>
            <a:r>
              <a:rPr lang="en-US" altLang="zh-CN" sz="2100">
                <a:ea typeface="黑体" panose="02010609060101010101" pitchFamily="49" charset="-122"/>
              </a:rPr>
              <a:t>CPI=1+25x2%+500x0.5%=4.0</a:t>
            </a:r>
          </a:p>
          <a:p>
            <a:pPr lvl="1" eaLnBrk="1" hangingPunct="1">
              <a:lnSpc>
                <a:spcPct val="105000"/>
              </a:lnSpc>
              <a:spcBef>
                <a:spcPct val="15000"/>
              </a:spcBef>
              <a:buFontTx/>
              <a:buNone/>
            </a:pPr>
            <a:r>
              <a:rPr lang="zh-CN" altLang="en-US" sz="2100">
                <a:solidFill>
                  <a:srgbClr val="FF0000"/>
                </a:solidFill>
                <a:ea typeface="黑体" panose="02010609060101010101" pitchFamily="49" charset="-122"/>
              </a:rPr>
              <a:t>         二者的性能比为</a:t>
            </a:r>
            <a:r>
              <a:rPr lang="en-US" altLang="zh-CN" sz="2100">
                <a:solidFill>
                  <a:srgbClr val="FF0000"/>
                </a:solidFill>
                <a:ea typeface="黑体" panose="02010609060101010101" pitchFamily="49" charset="-122"/>
              </a:rPr>
              <a:t>11.0/4.0=2.8</a:t>
            </a:r>
            <a:r>
              <a:rPr lang="zh-CN" altLang="en-US" sz="2100">
                <a:solidFill>
                  <a:srgbClr val="FF0000"/>
                </a:solidFill>
                <a:ea typeface="黑体" panose="02010609060101010101" pitchFamily="49" charset="-122"/>
              </a:rPr>
              <a:t>倍！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9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>
            <a:extLst>
              <a:ext uri="{FF2B5EF4-FFF2-40B4-BE49-F238E27FC236}">
                <a16:creationId xmlns:a16="http://schemas.microsoft.com/office/drawing/2014/main" id="{F50BA7D2-B4C3-C742-B70E-569DAA155F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96863" y="150813"/>
            <a:ext cx="8640762" cy="533400"/>
          </a:xfrm>
        </p:spPr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设计支持</a:t>
            </a:r>
            <a:r>
              <a:rPr lang="en-US" altLang="zh-CN" sz="3200"/>
              <a:t>Cache</a:t>
            </a:r>
            <a:r>
              <a:rPr lang="zh-CN" altLang="en-US" sz="3200"/>
              <a:t>的存储器系统</a:t>
            </a:r>
          </a:p>
        </p:txBody>
      </p:sp>
      <p:sp>
        <p:nvSpPr>
          <p:cNvPr id="595971" name="Rectangle 3">
            <a:extLst>
              <a:ext uri="{FF2B5EF4-FFF2-40B4-BE49-F238E27FC236}">
                <a16:creationId xmlns:a16="http://schemas.microsoft.com/office/drawing/2014/main" id="{5518EECB-D5E6-FE41-921A-B7BFBE551848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06375" y="1058863"/>
            <a:ext cx="8731250" cy="136525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指令执行若发生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缺失，必须到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中取数据或指令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DRAM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之间传输的单位是</a:t>
            </a:r>
            <a:r>
              <a:rPr lang="en-US" altLang="zh-CN" sz="2200"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</a:p>
          <a:p>
            <a:pPr eaLnBrk="1" hangingPunct="1">
              <a:lnSpc>
                <a:spcPct val="110000"/>
              </a:lnSpc>
              <a:spcBef>
                <a:spcPct val="25000"/>
              </a:spcBef>
            </a:pP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问题：怎样的存储器组织使得</a:t>
            </a:r>
            <a:r>
              <a:rPr lang="en-US" altLang="zh-CN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2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传输最快（缺失损失最小）？</a:t>
            </a:r>
          </a:p>
        </p:txBody>
      </p:sp>
      <p:sp>
        <p:nvSpPr>
          <p:cNvPr id="595980" name="Rectangle 12">
            <a:extLst>
              <a:ext uri="{FF2B5EF4-FFF2-40B4-BE49-F238E27FC236}">
                <a16:creationId xmlns:a16="http://schemas.microsoft.com/office/drawing/2014/main" id="{FF81BB92-4686-E74E-AB9D-BEC7FF896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5768975"/>
            <a:ext cx="6529387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假定一个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Block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有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个字，则缺失损失各为多少时钟？</a:t>
            </a:r>
            <a:endParaRPr kumimoji="1" lang="en-US" altLang="zh-CN" sz="2200" b="1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95981" name="Rectangle 13">
            <a:extLst>
              <a:ext uri="{FF2B5EF4-FFF2-40B4-BE49-F238E27FC236}">
                <a16:creationId xmlns:a16="http://schemas.microsoft.com/office/drawing/2014/main" id="{64A833F5-3697-984A-97BF-A9BF4C65B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2798763"/>
            <a:ext cx="6345237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假定存储器访问过程：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发送地址到内存：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访问内存的初始化时间：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从总线上传送一个字：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</p:txBody>
      </p:sp>
      <p:sp>
        <p:nvSpPr>
          <p:cNvPr id="595988" name="Rectangle 20">
            <a:extLst>
              <a:ext uri="{FF2B5EF4-FFF2-40B4-BE49-F238E27FC236}">
                <a16:creationId xmlns:a16="http://schemas.microsoft.com/office/drawing/2014/main" id="{192E8E84-A633-AF4F-814E-326299495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7338" y="5094288"/>
            <a:ext cx="36322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可以有三种不同的组织形式！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7670019E-3184-C049-9AEF-08735C4484B8}"/>
              </a:ext>
            </a:extLst>
          </p:cNvPr>
          <p:cNvGrpSpPr>
            <a:grpSpLocks/>
          </p:cNvGrpSpPr>
          <p:nvPr/>
        </p:nvGrpSpPr>
        <p:grpSpPr bwMode="auto">
          <a:xfrm>
            <a:off x="6102350" y="2933700"/>
            <a:ext cx="2474913" cy="592138"/>
            <a:chOff x="3844" y="1848"/>
            <a:chExt cx="1559" cy="373"/>
          </a:xfrm>
        </p:grpSpPr>
        <p:sp>
          <p:nvSpPr>
            <p:cNvPr id="193544" name="Text Box 21">
              <a:extLst>
                <a:ext uri="{FF2B5EF4-FFF2-40B4-BE49-F238E27FC236}">
                  <a16:creationId xmlns:a16="http://schemas.microsoft.com/office/drawing/2014/main" id="{5A20CDB4-6FE1-2F43-B4FA-DC457D703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" y="1848"/>
              <a:ext cx="510" cy="37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44000" tIns="144000" rIns="144000" bIns="1440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ea typeface="华文新魏" panose="02010800040101010101" pitchFamily="2" charset="-122"/>
                </a:rPr>
                <a:t>CPU</a:t>
              </a:r>
            </a:p>
          </p:txBody>
        </p:sp>
        <p:sp>
          <p:nvSpPr>
            <p:cNvPr id="193545" name="Text Box 22">
              <a:extLst>
                <a:ext uri="{FF2B5EF4-FFF2-40B4-BE49-F238E27FC236}">
                  <a16:creationId xmlns:a16="http://schemas.microsoft.com/office/drawing/2014/main" id="{98A9B2F4-5AF3-3A49-B8A6-FC56D70564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3" y="1848"/>
              <a:ext cx="510" cy="37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44000" tIns="144000" rIns="144000" bIns="144000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b="1">
                  <a:ea typeface="华文新魏" panose="02010800040101010101" pitchFamily="2" charset="-122"/>
                </a:rPr>
                <a:t>MM</a:t>
              </a:r>
            </a:p>
          </p:txBody>
        </p:sp>
        <p:sp>
          <p:nvSpPr>
            <p:cNvPr id="193546" name="AutoShape 23">
              <a:extLst>
                <a:ext uri="{FF2B5EF4-FFF2-40B4-BE49-F238E27FC236}">
                  <a16:creationId xmlns:a16="http://schemas.microsoft.com/office/drawing/2014/main" id="{A1EF6EA9-A9AA-7640-B52A-992D83C45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5" y="1933"/>
              <a:ext cx="510" cy="170"/>
            </a:xfrm>
            <a:prstGeom prst="leftRightArrow">
              <a:avLst>
                <a:gd name="adj1" fmla="val 50000"/>
                <a:gd name="adj2" fmla="val 60000"/>
              </a:avLst>
            </a:prstGeom>
            <a:solidFill>
              <a:srgbClr val="FFFFFF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endParaRPr kumimoji="1" lang="zh-CN" altLang="en-US" sz="1800" b="1" i="1">
                <a:solidFill>
                  <a:srgbClr val="666699"/>
                </a:solidFill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95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95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959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959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959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9598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9598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95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95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5980" grpId="0"/>
      <p:bldP spid="595988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Rectangle 2">
            <a:extLst>
              <a:ext uri="{FF2B5EF4-FFF2-40B4-BE49-F238E27FC236}">
                <a16:creationId xmlns:a16="http://schemas.microsoft.com/office/drawing/2014/main" id="{6445B4E1-C3BB-3D45-9CF3-7A815F8AC4E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                            设计支持</a:t>
            </a:r>
            <a:r>
              <a:rPr lang="en-US" altLang="zh-CN" sz="3200"/>
              <a:t>Cache</a:t>
            </a:r>
            <a:r>
              <a:rPr lang="zh-CN" altLang="en-US" sz="3200"/>
              <a:t>的存储器系统</a:t>
            </a:r>
          </a:p>
        </p:txBody>
      </p:sp>
      <p:pic>
        <p:nvPicPr>
          <p:cNvPr id="194563" name="Picture 3" descr="one-word-wide">
            <a:extLst>
              <a:ext uri="{FF2B5EF4-FFF2-40B4-BE49-F238E27FC236}">
                <a16:creationId xmlns:a16="http://schemas.microsoft.com/office/drawing/2014/main" id="{AD56A6CF-B03C-D245-B1D9-438096D5F88A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75" y="728663"/>
            <a:ext cx="4140200" cy="5805487"/>
          </a:xfrm>
          <a:noFill/>
        </p:spPr>
      </p:pic>
      <p:sp>
        <p:nvSpPr>
          <p:cNvPr id="773129" name="Rectangle 9">
            <a:extLst>
              <a:ext uri="{FF2B5EF4-FFF2-40B4-BE49-F238E27FC236}">
                <a16:creationId xmlns:a16="http://schemas.microsoft.com/office/drawing/2014/main" id="{D41A0DE3-E0F4-ED48-BA8A-0495C40C4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3924300"/>
            <a:ext cx="40513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4x(1+10+1)=48</a:t>
            </a:r>
          </a:p>
        </p:txBody>
      </p:sp>
      <p:sp>
        <p:nvSpPr>
          <p:cNvPr id="194565" name="Rectangle 15">
            <a:extLst>
              <a:ext uri="{FF2B5EF4-FFF2-40B4-BE49-F238E27FC236}">
                <a16:creationId xmlns:a16="http://schemas.microsoft.com/office/drawing/2014/main" id="{CC633DD4-18DB-E643-8AAF-4A522F48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25" y="1403350"/>
            <a:ext cx="5643563" cy="187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假定存储器访问过程：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发送地址到内存：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内存访问时间：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从总线上传送一个字：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</p:txBody>
      </p:sp>
      <p:sp>
        <p:nvSpPr>
          <p:cNvPr id="773136" name="Rectangle 16">
            <a:extLst>
              <a:ext uri="{FF2B5EF4-FFF2-40B4-BE49-F238E27FC236}">
                <a16:creationId xmlns:a16="http://schemas.microsoft.com/office/drawing/2014/main" id="{52782B74-8B3C-564A-9D2A-14C2BA980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1275" y="4868863"/>
            <a:ext cx="31400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缺失损失为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48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个时钟周期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代价小，但速度慢！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3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3129" grpId="0"/>
      <p:bldP spid="77313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86" name="Rectangle 2">
            <a:extLst>
              <a:ext uri="{FF2B5EF4-FFF2-40B4-BE49-F238E27FC236}">
                <a16:creationId xmlns:a16="http://schemas.microsoft.com/office/drawing/2014/main" id="{F1448F05-96EC-CD47-B8F5-7B827FB7127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设计支持</a:t>
            </a:r>
            <a:r>
              <a:rPr lang="en-US" altLang="zh-CN" sz="3200"/>
              <a:t>Cache</a:t>
            </a:r>
            <a:r>
              <a:rPr lang="zh-CN" altLang="en-US" sz="3200"/>
              <a:t>的存储器系统</a:t>
            </a:r>
          </a:p>
        </p:txBody>
      </p:sp>
      <p:pic>
        <p:nvPicPr>
          <p:cNvPr id="195587" name="Picture 5" descr="wide">
            <a:extLst>
              <a:ext uri="{FF2B5EF4-FFF2-40B4-BE49-F238E27FC236}">
                <a16:creationId xmlns:a16="http://schemas.microsoft.com/office/drawing/2014/main" id="{E250995D-BBBC-5B4A-818E-4245061C139E}"/>
              </a:ext>
            </a:extLst>
          </p:cNvPr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" y="954088"/>
            <a:ext cx="4679950" cy="5445125"/>
          </a:xfrm>
          <a:noFill/>
        </p:spPr>
      </p:pic>
      <p:sp>
        <p:nvSpPr>
          <p:cNvPr id="774154" name="Rectangle 10">
            <a:extLst>
              <a:ext uri="{FF2B5EF4-FFF2-40B4-BE49-F238E27FC236}">
                <a16:creationId xmlns:a16="http://schemas.microsoft.com/office/drawing/2014/main" id="{7A91A7D7-77E2-DF49-A966-79B70558B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3908425"/>
            <a:ext cx="3717925" cy="80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400" b="1">
                <a:solidFill>
                  <a:srgbClr val="CC0000"/>
                </a:solidFill>
                <a:ea typeface="华文新魏" panose="02010800040101010101" pitchFamily="2" charset="-122"/>
              </a:rPr>
              <a:t>Two-word: 2x(1+10+1)=24</a:t>
            </a:r>
            <a:endParaRPr kumimoji="1" lang="zh-CN" altLang="en-US" sz="2400" b="1">
              <a:solidFill>
                <a:srgbClr val="CC0000"/>
              </a:solidFill>
              <a:ea typeface="华文新魏" panose="02010800040101010101" pitchFamily="2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kumimoji="1" lang="en-US" altLang="zh-CN" sz="2400" b="1">
                <a:solidFill>
                  <a:srgbClr val="CC0000"/>
                </a:solidFill>
                <a:ea typeface="华文新魏" panose="02010800040101010101" pitchFamily="2" charset="-122"/>
              </a:rPr>
              <a:t>Four-word: 1+10+1=12</a:t>
            </a:r>
          </a:p>
        </p:txBody>
      </p:sp>
      <p:sp>
        <p:nvSpPr>
          <p:cNvPr id="195589" name="Rectangle 14">
            <a:extLst>
              <a:ext uri="{FF2B5EF4-FFF2-40B4-BE49-F238E27FC236}">
                <a16:creationId xmlns:a16="http://schemas.microsoft.com/office/drawing/2014/main" id="{36BB3A6E-5775-E643-900B-89CB54899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1162050"/>
            <a:ext cx="5032375" cy="1876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假定存储器访问过程：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发送地址到内存：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内存访问时间：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从总线上传送一个字：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</p:txBody>
      </p:sp>
      <p:sp>
        <p:nvSpPr>
          <p:cNvPr id="774159" name="Rectangle 15">
            <a:extLst>
              <a:ext uri="{FF2B5EF4-FFF2-40B4-BE49-F238E27FC236}">
                <a16:creationId xmlns:a16="http://schemas.microsoft.com/office/drawing/2014/main" id="{9D8E81CE-C996-144C-A0C6-9021449B2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2363" y="5483225"/>
            <a:ext cx="4044950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缺失损失各为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24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或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12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个时钟周期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速度快，但代价大！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4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4154" grpId="0"/>
      <p:bldP spid="77415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Rectangle 2">
            <a:extLst>
              <a:ext uri="{FF2B5EF4-FFF2-40B4-BE49-F238E27FC236}">
                <a16:creationId xmlns:a16="http://schemas.microsoft.com/office/drawing/2014/main" id="{B5273F49-1CAD-6E4F-9C2A-20F86E77B84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 sz="3200"/>
              <a:t>设计支持</a:t>
            </a:r>
            <a:r>
              <a:rPr lang="en-US" altLang="zh-CN" sz="3200"/>
              <a:t>Cache</a:t>
            </a:r>
            <a:r>
              <a:rPr lang="zh-CN" altLang="en-US" sz="3200"/>
              <a:t>的存储器系统</a:t>
            </a:r>
          </a:p>
        </p:txBody>
      </p:sp>
      <p:pic>
        <p:nvPicPr>
          <p:cNvPr id="196611" name="Picture 4" descr="interleaved memory">
            <a:extLst>
              <a:ext uri="{FF2B5EF4-FFF2-40B4-BE49-F238E27FC236}">
                <a16:creationId xmlns:a16="http://schemas.microsoft.com/office/drawing/2014/main" id="{E3DB0A5E-7080-D243-B316-9E4C73C43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" y="998538"/>
            <a:ext cx="4633912" cy="567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5179" name="Rectangle 11">
            <a:extLst>
              <a:ext uri="{FF2B5EF4-FFF2-40B4-BE49-F238E27FC236}">
                <a16:creationId xmlns:a16="http://schemas.microsoft.com/office/drawing/2014/main" id="{5B59AC42-9538-094B-A7E1-F515ACD4A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2933700"/>
            <a:ext cx="3478213" cy="669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kumimoji="1" lang="en-US" altLang="zh-CN" sz="2200" b="1">
                <a:solidFill>
                  <a:srgbClr val="CC0000"/>
                </a:solidFill>
                <a:ea typeface="华文新魏" panose="02010800040101010101" pitchFamily="2" charset="-122"/>
              </a:rPr>
              <a:t>Interleaved four banks </a:t>
            </a:r>
          </a:p>
          <a:p>
            <a:pPr eaLnBrk="1" hangingPunct="1"/>
            <a:r>
              <a:rPr kumimoji="1" lang="en-US" altLang="zh-CN" sz="2200" b="1">
                <a:solidFill>
                  <a:srgbClr val="CC0000"/>
                </a:solidFill>
                <a:ea typeface="华文新魏" panose="02010800040101010101" pitchFamily="2" charset="-122"/>
              </a:rPr>
              <a:t>one-word: 1+1x10+4x1=15</a:t>
            </a:r>
          </a:p>
        </p:txBody>
      </p:sp>
      <p:sp>
        <p:nvSpPr>
          <p:cNvPr id="196613" name="Rectangle 15">
            <a:extLst>
              <a:ext uri="{FF2B5EF4-FFF2-40B4-BE49-F238E27FC236}">
                <a16:creationId xmlns:a16="http://schemas.microsoft.com/office/drawing/2014/main" id="{3EA3D56D-8E3C-8241-A916-056554158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966788"/>
            <a:ext cx="5032375" cy="18764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假定存储器访问过程：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发送地址到内存：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内存访问时间：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10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  <a:p>
            <a:pPr lvl="1" eaLnBrk="1" hangingPunct="1">
              <a:lnSpc>
                <a:spcPct val="125000"/>
              </a:lnSpc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从总线上传送一个字：</a:t>
            </a:r>
            <a:r>
              <a:rPr kumimoji="1" lang="en-US" altLang="zh-CN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</a:t>
            </a:r>
            <a:r>
              <a:rPr kumimoji="1" lang="zh-CN" altLang="en-US" sz="2200" b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个总线时钟</a:t>
            </a:r>
          </a:p>
        </p:txBody>
      </p:sp>
      <p:sp>
        <p:nvSpPr>
          <p:cNvPr id="775184" name="Rectangle 16">
            <a:extLst>
              <a:ext uri="{FF2B5EF4-FFF2-40B4-BE49-F238E27FC236}">
                <a16:creationId xmlns:a16="http://schemas.microsoft.com/office/drawing/2014/main" id="{65E5AA5A-0935-F740-90FC-9889CC37C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5678488"/>
            <a:ext cx="3140075" cy="73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缺失损失为</a:t>
            </a:r>
            <a:r>
              <a:rPr kumimoji="1" lang="en-US" altLang="zh-CN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15</a:t>
            </a: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个时钟周期</a:t>
            </a:r>
          </a:p>
          <a:p>
            <a:pPr eaLnBrk="1" hangingPunct="1">
              <a:spcBef>
                <a:spcPct val="20000"/>
              </a:spcBef>
            </a:pPr>
            <a:r>
              <a:rPr kumimoji="1" lang="zh-CN" altLang="en-US" sz="22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代价小，而且速度快！</a:t>
            </a:r>
          </a:p>
        </p:txBody>
      </p:sp>
      <p:sp>
        <p:nvSpPr>
          <p:cNvPr id="196615" name="Line 61">
            <a:extLst>
              <a:ext uri="{FF2B5EF4-FFF2-40B4-BE49-F238E27FC236}">
                <a16:creationId xmlns:a16="http://schemas.microsoft.com/office/drawing/2014/main" id="{EB222526-22AC-764A-A395-BD4C4683C7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3713" y="3825875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6" name="Line 62">
            <a:extLst>
              <a:ext uri="{FF2B5EF4-FFF2-40B4-BE49-F238E27FC236}">
                <a16:creationId xmlns:a16="http://schemas.microsoft.com/office/drawing/2014/main" id="{E4A3AAFC-06B6-AB48-881D-F509832717F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73713" y="3924300"/>
            <a:ext cx="248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7" name="Line 63">
            <a:extLst>
              <a:ext uri="{FF2B5EF4-FFF2-40B4-BE49-F238E27FC236}">
                <a16:creationId xmlns:a16="http://schemas.microsoft.com/office/drawing/2014/main" id="{1BFC808B-24C7-6C49-8BA8-E3BC3D00ED5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65813" y="3825875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8" name="Line 64">
            <a:extLst>
              <a:ext uri="{FF2B5EF4-FFF2-40B4-BE49-F238E27FC236}">
                <a16:creationId xmlns:a16="http://schemas.microsoft.com/office/drawing/2014/main" id="{E74C40F7-2307-D046-9E45-F20A7ABCE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9225" y="3822700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19" name="Text Box 65">
            <a:extLst>
              <a:ext uri="{FF2B5EF4-FFF2-40B4-BE49-F238E27FC236}">
                <a16:creationId xmlns:a16="http://schemas.microsoft.com/office/drawing/2014/main" id="{7C6ADCD5-EA76-794F-BC15-5D91FF030D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7350" y="3754438"/>
            <a:ext cx="1509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</a:t>
            </a:r>
          </a:p>
        </p:txBody>
      </p:sp>
      <p:sp>
        <p:nvSpPr>
          <p:cNvPr id="196620" name="Line 66">
            <a:extLst>
              <a:ext uri="{FF2B5EF4-FFF2-40B4-BE49-F238E27FC236}">
                <a16:creationId xmlns:a16="http://schemas.microsoft.com/office/drawing/2014/main" id="{19BB3775-92D8-FB46-9BC4-F5AC638B5EF7}"/>
              </a:ext>
            </a:extLst>
          </p:cNvPr>
          <p:cNvSpPr>
            <a:spLocks noChangeShapeType="1"/>
          </p:cNvSpPr>
          <p:nvPr/>
        </p:nvSpPr>
        <p:spPr bwMode="auto">
          <a:xfrm>
            <a:off x="8061325" y="3822700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21" name="Text Box 71">
            <a:extLst>
              <a:ext uri="{FF2B5EF4-FFF2-40B4-BE49-F238E27FC236}">
                <a16:creationId xmlns:a16="http://schemas.microsoft.com/office/drawing/2014/main" id="{D0164351-65FD-EB46-880A-4F2776C5EF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0125" y="4194175"/>
            <a:ext cx="1392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</a:t>
            </a:r>
          </a:p>
        </p:txBody>
      </p:sp>
      <p:sp>
        <p:nvSpPr>
          <p:cNvPr id="196622" name="Text Box 74">
            <a:extLst>
              <a:ext uri="{FF2B5EF4-FFF2-40B4-BE49-F238E27FC236}">
                <a16:creationId xmlns:a16="http://schemas.microsoft.com/office/drawing/2014/main" id="{699626DA-9762-F443-9DE3-1CB44187A2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0488" y="4643438"/>
            <a:ext cx="14366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</a:t>
            </a:r>
          </a:p>
        </p:txBody>
      </p:sp>
      <p:sp>
        <p:nvSpPr>
          <p:cNvPr id="196623" name="Text Box 75">
            <a:extLst>
              <a:ext uri="{FF2B5EF4-FFF2-40B4-BE49-F238E27FC236}">
                <a16:creationId xmlns:a16="http://schemas.microsoft.com/office/drawing/2014/main" id="{CCE85128-7657-B445-B925-DBC3D105EC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5103813"/>
            <a:ext cx="1362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0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</a:t>
            </a:r>
          </a:p>
        </p:txBody>
      </p:sp>
      <p:sp>
        <p:nvSpPr>
          <p:cNvPr id="196624" name="Line 67">
            <a:extLst>
              <a:ext uri="{FF2B5EF4-FFF2-40B4-BE49-F238E27FC236}">
                <a16:creationId xmlns:a16="http://schemas.microsoft.com/office/drawing/2014/main" id="{6F3404E0-C69A-4545-A89F-D4F4135891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4738" y="4244975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25" name="Line 68">
            <a:extLst>
              <a:ext uri="{FF2B5EF4-FFF2-40B4-BE49-F238E27FC236}">
                <a16:creationId xmlns:a16="http://schemas.microsoft.com/office/drawing/2014/main" id="{93B49D90-CB61-B149-8E25-7A2B2454FCC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67438" y="4357688"/>
            <a:ext cx="21971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26" name="Line 70">
            <a:extLst>
              <a:ext uri="{FF2B5EF4-FFF2-40B4-BE49-F238E27FC236}">
                <a16:creationId xmlns:a16="http://schemas.microsoft.com/office/drawing/2014/main" id="{8C2D0209-3C43-9745-AA98-FD66A76AA1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070850" y="4256088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27" name="Line 72">
            <a:extLst>
              <a:ext uri="{FF2B5EF4-FFF2-40B4-BE49-F238E27FC236}">
                <a16:creationId xmlns:a16="http://schemas.microsoft.com/office/drawing/2014/main" id="{187BC70B-F066-3140-B5A2-41B97B248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2950" y="4256088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28" name="Text Box 86">
            <a:extLst>
              <a:ext uri="{FF2B5EF4-FFF2-40B4-BE49-F238E27FC236}">
                <a16:creationId xmlns:a16="http://schemas.microsoft.com/office/drawing/2014/main" id="{E75EBACA-6EF6-9840-98AD-997793B689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0975" y="3930650"/>
            <a:ext cx="2233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1800" b="1" i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6629" name="Line 77">
            <a:extLst>
              <a:ext uri="{FF2B5EF4-FFF2-40B4-BE49-F238E27FC236}">
                <a16:creationId xmlns:a16="http://schemas.microsoft.com/office/drawing/2014/main" id="{F2656743-1EBD-0142-8D8A-ADE3F4C00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6469063" y="4805363"/>
            <a:ext cx="21844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0" name="Line 78">
            <a:extLst>
              <a:ext uri="{FF2B5EF4-FFF2-40B4-BE49-F238E27FC236}">
                <a16:creationId xmlns:a16="http://schemas.microsoft.com/office/drawing/2014/main" id="{B71FDA69-A87D-9A41-8444-FEDF112EA87E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0175" y="4706938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1" name="Line 79">
            <a:extLst>
              <a:ext uri="{FF2B5EF4-FFF2-40B4-BE49-F238E27FC236}">
                <a16:creationId xmlns:a16="http://schemas.microsoft.com/office/drawing/2014/main" id="{CA4829E6-1F56-C641-82FA-D96CFE1E2D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61363" y="4703763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2" name="Line 80">
            <a:extLst>
              <a:ext uri="{FF2B5EF4-FFF2-40B4-BE49-F238E27FC236}">
                <a16:creationId xmlns:a16="http://schemas.microsoft.com/office/drawing/2014/main" id="{82833595-6F5F-D94A-9F8F-114E695C666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1875" y="4703763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3" name="Line 82">
            <a:extLst>
              <a:ext uri="{FF2B5EF4-FFF2-40B4-BE49-F238E27FC236}">
                <a16:creationId xmlns:a16="http://schemas.microsoft.com/office/drawing/2014/main" id="{8BB3EA4F-99E6-6B4D-A0D6-2EE55468A6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77038" y="5273675"/>
            <a:ext cx="21859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4" name="Line 83">
            <a:extLst>
              <a:ext uri="{FF2B5EF4-FFF2-40B4-BE49-F238E27FC236}">
                <a16:creationId xmlns:a16="http://schemas.microsoft.com/office/drawing/2014/main" id="{34707F32-2590-B640-9944-FE812EF902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772275" y="5156200"/>
            <a:ext cx="0" cy="196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5" name="Line 84">
            <a:extLst>
              <a:ext uri="{FF2B5EF4-FFF2-40B4-BE49-F238E27FC236}">
                <a16:creationId xmlns:a16="http://schemas.microsoft.com/office/drawing/2014/main" id="{6025126C-BD3A-064A-977A-7EBE19AC3AB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51875" y="5154613"/>
            <a:ext cx="0" cy="195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6" name="Line 85">
            <a:extLst>
              <a:ext uri="{FF2B5EF4-FFF2-40B4-BE49-F238E27FC236}">
                <a16:creationId xmlns:a16="http://schemas.microsoft.com/office/drawing/2014/main" id="{A1B07D88-0E53-C947-8E52-746A8E158BE4}"/>
              </a:ext>
            </a:extLst>
          </p:cNvPr>
          <p:cNvSpPr>
            <a:spLocks noChangeShapeType="1"/>
          </p:cNvSpPr>
          <p:nvPr/>
        </p:nvSpPr>
        <p:spPr bwMode="auto">
          <a:xfrm>
            <a:off x="8943975" y="5154613"/>
            <a:ext cx="0" cy="1952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6637" name="Text Box 86">
            <a:extLst>
              <a:ext uri="{FF2B5EF4-FFF2-40B4-BE49-F238E27FC236}">
                <a16:creationId xmlns:a16="http://schemas.microsoft.com/office/drawing/2014/main" id="{C45CC0FD-EE6B-F74C-907F-D9CE27F78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8950" y="4386263"/>
            <a:ext cx="1697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1800" b="1" i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6638" name="Text Box 86">
            <a:extLst>
              <a:ext uri="{FF2B5EF4-FFF2-40B4-BE49-F238E27FC236}">
                <a16:creationId xmlns:a16="http://schemas.microsoft.com/office/drawing/2014/main" id="{278D4BA9-8B69-DC4B-B34F-FFED92DD0C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9775" y="4811713"/>
            <a:ext cx="1697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1800" b="1" i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96639" name="Text Box 86">
            <a:extLst>
              <a:ext uri="{FF2B5EF4-FFF2-40B4-BE49-F238E27FC236}">
                <a16:creationId xmlns:a16="http://schemas.microsoft.com/office/drawing/2014/main" id="{891EBB6E-96C0-424B-8920-196E94869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8700" y="5307013"/>
            <a:ext cx="16970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40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1800" b="1" i="1">
                <a:solidFill>
                  <a:srgbClr val="6666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  <a:r>
              <a:rPr kumimoji="1" lang="en-US" altLang="zh-CN" sz="1800" b="1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5179" grpId="0"/>
      <p:bldP spid="775184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Rectangle 2">
            <a:extLst>
              <a:ext uri="{FF2B5EF4-FFF2-40B4-BE49-F238E27FC236}">
                <a16:creationId xmlns:a16="http://schemas.microsoft.com/office/drawing/2014/main" id="{E0E3DC20-BBDB-B348-9D80-C86154097E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ctr"/>
          <a:lstStyle/>
          <a:p>
            <a:pPr eaLnBrk="1" hangingPunct="1"/>
            <a:r>
              <a:rPr lang="zh-CN" altLang="en-US"/>
              <a:t>缓存在现代计算机中无处不在</a:t>
            </a:r>
          </a:p>
        </p:txBody>
      </p:sp>
      <p:pic>
        <p:nvPicPr>
          <p:cNvPr id="735236" name="Picture 4">
            <a:extLst>
              <a:ext uri="{FF2B5EF4-FFF2-40B4-BE49-F238E27FC236}">
                <a16:creationId xmlns:a16="http://schemas.microsoft.com/office/drawing/2014/main" id="{726BE6FB-2854-9241-973E-D1A64E67D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39800"/>
            <a:ext cx="9144000" cy="540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5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64136C16-2396-A341-AA0D-49511CFA3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和程序性能</a:t>
            </a:r>
          </a:p>
        </p:txBody>
      </p:sp>
      <p:sp>
        <p:nvSpPr>
          <p:cNvPr id="914435" name="Rectangle 3">
            <a:extLst>
              <a:ext uri="{FF2B5EF4-FFF2-40B4-BE49-F238E27FC236}">
                <a16:creationId xmlns:a16="http://schemas.microsoft.com/office/drawing/2014/main" id="{0BFCEAAC-43CD-C24F-9F87-B482B105B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0675" y="947738"/>
            <a:ext cx="8453438" cy="4598987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程序的性能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指执行程序所用的时间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程序执行所用时间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与程序执行时访问指令和数据所用的时间有很大关系，而指令和数据的访问时间与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命中率、命中时间和缺失损失有关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对于给定的计算机系统而言，命中时间和缺失损失是确定的，因此，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指令和数据的访存时间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主要由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命中率决定</a:t>
            </a:r>
          </a:p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命中率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主要由程序的空间局部性和时间局部性决定。因此，为了提高程序的性能，程序员须编写出具有良好访问局部性的程序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考虑</a:t>
            </a: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程序的访问局部性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通常在数据的访问局部性上下工夫</a:t>
            </a:r>
          </a:p>
          <a:p>
            <a:pPr>
              <a:lnSpc>
                <a:spcPct val="120000"/>
              </a:lnSpc>
            </a:pPr>
            <a:r>
              <a:rPr lang="zh-CN" altLang="en-US" sz="20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数据的访问局部性</a:t>
            </a: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主要是指数组、结构等类型数据访问时的局部性，这些数据结构的数据元素访问通常是通过循环语句进行的，所以，如何合理地处理循环对于数据访问局部性来说是非常重要的。</a:t>
            </a:r>
            <a:r>
              <a:rPr lang="zh-CN" altLang="en-US" sz="2000" b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1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1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1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1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14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>
            <a:extLst>
              <a:ext uri="{FF2B5EF4-FFF2-40B4-BE49-F238E27FC236}">
                <a16:creationId xmlns:a16="http://schemas.microsoft.com/office/drawing/2014/main" id="{4043885A-0C7F-C04C-85AD-42DA3357A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和程序性能举例</a:t>
            </a:r>
          </a:p>
        </p:txBody>
      </p:sp>
      <p:sp>
        <p:nvSpPr>
          <p:cNvPr id="199683" name="Rectangle 3">
            <a:extLst>
              <a:ext uri="{FF2B5EF4-FFF2-40B4-BE49-F238E27FC236}">
                <a16:creationId xmlns:a16="http://schemas.microsoft.com/office/drawing/2014/main" id="{43FBBC47-EE55-FF47-B1F7-5769D56E5D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0500" y="804863"/>
            <a:ext cx="8350250" cy="928687"/>
          </a:xfrm>
        </p:spPr>
        <p:txBody>
          <a:bodyPr/>
          <a:lstStyle/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举例：某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位机器主存地址空间大小为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256 MB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，按字节编址。指令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和数据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均有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行，主存块为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64B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，数据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en-US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直接映射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。假定编译时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i, j, sum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均分配在寄存器中，数组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按行优先方式存放，其首址为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320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9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99684" name="Rectangle 6">
            <a:extLst>
              <a:ext uri="{FF2B5EF4-FFF2-40B4-BE49-F238E27FC236}">
                <a16:creationId xmlns:a16="http://schemas.microsoft.com/office/drawing/2014/main" id="{77E404A4-52EA-5C49-9B6E-52E6681C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88" y="5467350"/>
            <a:ext cx="8613775" cy="1144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FE9AAB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indent="288925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15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）不考虑用于一致性和替换的控制位，数据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的总容量为多少？</a:t>
            </a:r>
          </a:p>
          <a:p>
            <a:pPr>
              <a:lnSpc>
                <a:spcPct val="115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a[0][31]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a[1][1]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各自所在主存块对应的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行号分别是多少</a:t>
            </a:r>
            <a:r>
              <a:rPr lang="zh-CN" altLang="pt-BR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zh-CN" altLang="en-US" sz="2000" b="1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5000"/>
              </a:lnSpc>
            </a:pP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）程序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000" b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的数据访问命中率各是多少？哪个程序的执行时间更短？</a:t>
            </a:r>
          </a:p>
        </p:txBody>
      </p:sp>
      <p:pic>
        <p:nvPicPr>
          <p:cNvPr id="199685" name="Picture 7">
            <a:extLst>
              <a:ext uri="{FF2B5EF4-FFF2-40B4-BE49-F238E27FC236}">
                <a16:creationId xmlns:a16="http://schemas.microsoft.com/office/drawing/2014/main" id="{1A9ABFB5-A5C5-8847-8FC9-34675161E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00" y="1862138"/>
            <a:ext cx="4344988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9686" name="Picture 9">
            <a:extLst>
              <a:ext uri="{FF2B5EF4-FFF2-40B4-BE49-F238E27FC236}">
                <a16:creationId xmlns:a16="http://schemas.microsoft.com/office/drawing/2014/main" id="{85150E80-F213-D442-9EDC-C1DD82177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00" y="1866900"/>
            <a:ext cx="4252913" cy="346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Rectangle 2">
            <a:extLst>
              <a:ext uri="{FF2B5EF4-FFF2-40B4-BE49-F238E27FC236}">
                <a16:creationId xmlns:a16="http://schemas.microsoft.com/office/drawing/2014/main" id="{B91A2780-F4A7-C641-A11A-4B6FEC8AAE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Cache</a:t>
            </a:r>
            <a:r>
              <a:rPr lang="zh-CN" altLang="en-US"/>
              <a:t>和程序性能举例</a:t>
            </a:r>
          </a:p>
        </p:txBody>
      </p:sp>
      <p:sp>
        <p:nvSpPr>
          <p:cNvPr id="825347" name="Rectangle 3">
            <a:extLst>
              <a:ext uri="{FF2B5EF4-FFF2-40B4-BE49-F238E27FC236}">
                <a16:creationId xmlns:a16="http://schemas.microsoft.com/office/drawing/2014/main" id="{FD02F6D7-738C-0E40-8903-76B438A373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6375" y="1646238"/>
            <a:ext cx="8697913" cy="5237162"/>
          </a:xfrm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）主存地址空间大小为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256MB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，因而主存地址为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位，其中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位为块内地址，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行号（行索引），标志信息有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28-6-3=19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位。在不考虑用于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一致性维护和替换算法的控制位的情况下，数据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的总容量为：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8×(19+1+64×8)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=4256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=532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 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a[0][31]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320+4×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31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=444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i)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[444/64]=6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（取整），因此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a[0][31]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对应的主存块号为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mod 8=6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，对应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或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en-US" altLang="zh-CN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ii)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444=0000 0000 0000 0000 000 </a:t>
            </a:r>
            <a:r>
              <a:rPr lang="en-US" altLang="zh-CN" sz="19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111100B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，中间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为行号（行索引），因此，对应的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a[1][1]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行号为：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[(320+4</a:t>
            </a:r>
            <a:r>
              <a:rPr lang="en-US" altLang="zh-CN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×(1×256+1)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)/64] mod 8=5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19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中数组访问顺序与存放顺序相同，共访问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次，占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个主存块；首地址位于一个主存块开始，故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每个主存块总是第一个元素缺失，其他都命中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，共缺失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4K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次，命中率为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1-4K/64K=93.75%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320</a:t>
            </a:r>
            <a:r>
              <a:rPr kumimoji="1"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地址：块号：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kumimoji="1"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256*256*4B/64B=4K</a:t>
            </a:r>
            <a:r>
              <a:rPr kumimoji="1"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块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方法二：每个主存块的命中情况一样。对于一个主存块，包含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个元素，需访存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次，其中第一次不命中，因而命中率为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15/16=93.75%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中访问顺序与存放顺序不同，依次访问的元素分布在相隔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256×4=1024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的单元处，它们都不在同一个主存块中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行，一次内循环访问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块，故再次访问同一块时，已被调出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，因而</a:t>
            </a:r>
            <a:r>
              <a:rPr lang="zh-CN" altLang="en-US" sz="19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每次都缺失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，命中率为</a:t>
            </a:r>
            <a:r>
              <a:rPr lang="en-US" altLang="zh-CN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90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kumimoji="1"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kumimoji="1" lang="en-US" altLang="zh-CN" sz="14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</a:t>
            </a:r>
            <a:r>
              <a:rPr kumimoji="1" lang="en-US" altLang="zh-CN" sz="14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=2</a:t>
            </a:r>
            <a:r>
              <a:rPr kumimoji="1" lang="en-US" altLang="zh-CN" sz="1400" baseline="300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kumimoji="1" lang="en-US" altLang="zh-CN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140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708" name="Rectangle 4">
            <a:extLst>
              <a:ext uri="{FF2B5EF4-FFF2-40B4-BE49-F238E27FC236}">
                <a16:creationId xmlns:a16="http://schemas.microsoft.com/office/drawing/2014/main" id="{757FF8D4-6E03-A642-96EC-26B5C499C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733425"/>
            <a:ext cx="8350250" cy="91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3500" tIns="25400" rIns="63500" bIns="25400">
            <a:spAutoFit/>
          </a:bodyPr>
          <a:lstStyle>
            <a:lvl1pPr marL="203200" indent="-203200">
              <a:spcBef>
                <a:spcPct val="35000"/>
              </a:spcBef>
              <a:buSzPct val="100000"/>
              <a:buChar char="°"/>
              <a:defRPr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685800" indent="-190500">
              <a:spcBef>
                <a:spcPct val="35000"/>
              </a:spcBef>
              <a:buSzPct val="100000"/>
              <a:buChar char="•"/>
              <a:defRPr b="1">
                <a:solidFill>
                  <a:schemeClr val="accent2"/>
                </a:solidFill>
                <a:latin typeface="Arial" panose="020B0604020202020204" pitchFamily="34" charset="0"/>
              </a:defRPr>
            </a:lvl2pPr>
            <a:lvl3pPr marL="1257300" indent="-342900">
              <a:spcBef>
                <a:spcPct val="35000"/>
              </a:spcBef>
              <a:buSzPct val="100000"/>
              <a:buChar char="-"/>
              <a:defRPr b="1">
                <a:solidFill>
                  <a:srgbClr val="B7011F"/>
                </a:solidFill>
                <a:latin typeface="Arial" panose="020B0604020202020204" pitchFamily="34" charset="0"/>
              </a:defRPr>
            </a:lvl3pPr>
            <a:lvl4pPr marL="1714500" indent="-3429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171700" indent="-3429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6289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861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5433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000500" indent="-3429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举例：某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位机器主存地址空间大小为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256 MB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，按字节编址。指令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和数据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均有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行，主存块为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64B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，数据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采用直接映射。假定编译时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i, j, sum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均分配在寄存器中，数组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按行优先方式存放，其首址为</a:t>
            </a:r>
            <a:r>
              <a:rPr lang="en-US" altLang="zh-CN" sz="1900">
                <a:latin typeface="微软雅黑" panose="020B0503020204020204" pitchFamily="34" charset="-122"/>
                <a:ea typeface="微软雅黑" panose="020B0503020204020204" pitchFamily="34" charset="-122"/>
              </a:rPr>
              <a:t>320</a:t>
            </a:r>
            <a:r>
              <a:rPr lang="zh-CN" altLang="en-US" sz="190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90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2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2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2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2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2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2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2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2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lecture1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lecture1">
      <a:majorFont>
        <a:latin typeface="Arial"/>
        <a:ea typeface="黑体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50800" cap="flat" cmpd="sng" algn="ctr">
          <a:solidFill>
            <a:srgbClr val="FE9AAB"/>
          </a:solidFill>
          <a:prstDash val="solid"/>
          <a:round/>
          <a:headEnd type="triangl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ecture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81D58"/>
      </a:dk2>
      <a:lt2>
        <a:srgbClr val="919191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Macintosh HD:User Folder:C152 Spring95:lecture1</Template>
  <TotalTime>2184135855</TotalTime>
  <Pages>40</Pages>
  <Words>8894</Words>
  <Application>Microsoft Macintosh PowerPoint</Application>
  <PresentationFormat>全屏显示(4:3)</PresentationFormat>
  <Paragraphs>1272</Paragraphs>
  <Slides>63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6" baseType="lpstr">
      <vt:lpstr>黑体</vt:lpstr>
      <vt:lpstr>隶书</vt:lpstr>
      <vt:lpstr>宋体</vt:lpstr>
      <vt:lpstr>微软雅黑</vt:lpstr>
      <vt:lpstr>MSTT31c62400</vt:lpstr>
      <vt:lpstr>Arial</vt:lpstr>
      <vt:lpstr>Comic Sans MS</vt:lpstr>
      <vt:lpstr>Courier New</vt:lpstr>
      <vt:lpstr>Helvetica</vt:lpstr>
      <vt:lpstr>Times New Roman</vt:lpstr>
      <vt:lpstr>Wingdings</vt:lpstr>
      <vt:lpstr>lecture1</vt:lpstr>
      <vt:lpstr>位图图像</vt:lpstr>
      <vt:lpstr>层次结构存储系统</vt:lpstr>
      <vt:lpstr>希望的理想存储器</vt:lpstr>
      <vt:lpstr>存储器的层次结构</vt:lpstr>
      <vt:lpstr>层次化存储器结构（Memory Hierarchy）</vt:lpstr>
      <vt:lpstr>加快访存速度措施之三：引入Cache</vt:lpstr>
      <vt:lpstr>程序的局部性原理举例1</vt:lpstr>
      <vt:lpstr>程序的局部性原理举例1</vt:lpstr>
      <vt:lpstr>程序的局部性原理举例2</vt:lpstr>
      <vt:lpstr>程序的局部性原理举例2</vt:lpstr>
      <vt:lpstr>程序的局部性原理举例2</vt:lpstr>
      <vt:lpstr>Cache(高速缓存)是什么样的？</vt:lpstr>
      <vt:lpstr>Cache 的操作过程</vt:lpstr>
      <vt:lpstr>Cache（高速缓存）的实现</vt:lpstr>
      <vt:lpstr>Cache映射(Cache Mapping)</vt:lpstr>
      <vt:lpstr>The Simplest Cache: Direct  Mapped Cache</vt:lpstr>
      <vt:lpstr>直接映射Cache组织示意图</vt:lpstr>
      <vt:lpstr>有效位（Valid Bit）</vt:lpstr>
      <vt:lpstr>64 KB Direct Mapped Cache with 16B Blocks</vt:lpstr>
      <vt:lpstr>如何计算Cache的容量？</vt:lpstr>
      <vt:lpstr>       全相联映射Cache组织示意图</vt:lpstr>
      <vt:lpstr>举例：Fully Associative</vt:lpstr>
      <vt:lpstr>组相联映射（Set Associative）</vt:lpstr>
      <vt:lpstr>PowerPoint 演示文稿</vt:lpstr>
      <vt:lpstr>例1：A Two-way Set Associative Cache</vt:lpstr>
      <vt:lpstr>命中率、缺失率、缺失损失</vt:lpstr>
      <vt:lpstr>Average access time(平均访问时间)</vt:lpstr>
      <vt:lpstr>命中率到底应该有多大？</vt:lpstr>
      <vt:lpstr>看看命中率对平均访问时间的影响</vt:lpstr>
      <vt:lpstr>高速缓存的缺失率和关联度</vt:lpstr>
      <vt:lpstr>标记位大小与关联度</vt:lpstr>
      <vt:lpstr>标记位大小与关联度</vt:lpstr>
      <vt:lpstr>替换(Replacement)算法</vt:lpstr>
      <vt:lpstr>PowerPoint 演示文稿</vt:lpstr>
      <vt:lpstr>替换算法-先进先出（FIFO）</vt:lpstr>
      <vt:lpstr>替换算法-最近最少用(LRU)</vt:lpstr>
      <vt:lpstr>替换算法-最近最少用</vt:lpstr>
      <vt:lpstr>替换算法-最近最少用</vt:lpstr>
      <vt:lpstr>The Need to Replace! (何时需要替换？)</vt:lpstr>
      <vt:lpstr>举例</vt:lpstr>
      <vt:lpstr>举例</vt:lpstr>
      <vt:lpstr>举例</vt:lpstr>
      <vt:lpstr>写策略（Cache一致性问题）</vt:lpstr>
      <vt:lpstr>写策略（Cache一致性问题）</vt:lpstr>
      <vt:lpstr>Write Through中的Write Buffer</vt:lpstr>
      <vt:lpstr>写策略（Cache一致性问题）</vt:lpstr>
      <vt:lpstr>写策略2：Write Back算法 </vt:lpstr>
      <vt:lpstr>写策略2：Write Back中的修改（“脏”）位 </vt:lpstr>
      <vt:lpstr>Cache大小、Block大小和缺失率的关系</vt:lpstr>
      <vt:lpstr>系统中的Cache数目</vt:lpstr>
      <vt:lpstr>实例：奔腾机的Cache组织</vt:lpstr>
      <vt:lpstr>实例：Pentium 4的cache存储器</vt:lpstr>
      <vt:lpstr>实例：Intel Core i7处理器的cache结构 </vt:lpstr>
      <vt:lpstr>系统中的Cache数目</vt:lpstr>
      <vt:lpstr>多核处理器中的多级Cache</vt:lpstr>
      <vt:lpstr>多级cache的性能</vt:lpstr>
      <vt:lpstr>设计支持Cache的存储器系统</vt:lpstr>
      <vt:lpstr>                            设计支持Cache的存储器系统</vt:lpstr>
      <vt:lpstr>设计支持Cache的存储器系统</vt:lpstr>
      <vt:lpstr>设计支持Cache的存储器系统</vt:lpstr>
      <vt:lpstr>缓存在现代计算机中无处不在</vt:lpstr>
      <vt:lpstr>Cache和程序性能</vt:lpstr>
      <vt:lpstr>Cache和程序性能举例</vt:lpstr>
      <vt:lpstr>Cache和程序性能举例</vt:lpstr>
    </vt:vector>
  </TitlesOfParts>
  <Company>Nanjing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Ch7: Memory Hierarchy  存储器层次结构  </dc:title>
  <dc:subject>Designing a Multiple Cycle Processor</dc:subject>
  <dc:creator>CFYUAN</dc:creator>
  <cp:keywords/>
  <dc:description/>
  <cp:lastModifiedBy>Sen Liu</cp:lastModifiedBy>
  <cp:revision>1833</cp:revision>
  <cp:lastPrinted>1998-02-02T13:15:44Z</cp:lastPrinted>
  <dcterms:created xsi:type="dcterms:W3CDTF">1996-09-09T11:33:30Z</dcterms:created>
  <dcterms:modified xsi:type="dcterms:W3CDTF">2024-05-27T05:10:52Z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2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vipin@eng.wayne.edu</vt:lpwstr>
  </property>
  <property fmtid="{D5CDD505-2E9C-101B-9397-08002B2CF9AE}" pid="8" name="HomePage">
    <vt:lpwstr>http://www.pdcl.eng.wayne.edu/~vipin</vt:lpwstr>
  </property>
  <property fmtid="{D5CDD505-2E9C-101B-9397-08002B2CF9AE}" pid="9" name="Other">
    <vt:lpwstr>Vipin Chaudhary_x000d_
Dept. of Electrical &amp; Computer Engineering_x000d_
Wayne State University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true</vt:bool>
  </property>
  <property fmtid="{D5CDD505-2E9C-101B-9397-08002B2CF9AE}" pid="20" name="NavBtnPos">
    <vt:i4>1</vt:i4>
  </property>
  <property fmtid="{D5CDD505-2E9C-101B-9397-08002B2CF9AE}" pid="21" name="OutputDir">
    <vt:lpwstr>C:\WINDOWS\Desktop\VIPIN\WSU\ACADEMIC\COURSES\ECE468\SLIDES\web</vt:lpwstr>
  </property>
</Properties>
</file>
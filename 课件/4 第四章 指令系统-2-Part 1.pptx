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49"/>
  </p:handoutMasterIdLst>
  <p:sldIdLst>
    <p:sldId id="373" r:id="rId3"/>
    <p:sldId id="421" r:id="rId4"/>
    <p:sldId id="422" r:id="rId5"/>
    <p:sldId id="424" r:id="rId6"/>
    <p:sldId id="425" r:id="rId7"/>
    <p:sldId id="427" r:id="rId9"/>
    <p:sldId id="428" r:id="rId10"/>
    <p:sldId id="429" r:id="rId11"/>
    <p:sldId id="431" r:id="rId12"/>
    <p:sldId id="443" r:id="rId13"/>
    <p:sldId id="444" r:id="rId14"/>
    <p:sldId id="445" r:id="rId15"/>
    <p:sldId id="446" r:id="rId16"/>
    <p:sldId id="447" r:id="rId17"/>
    <p:sldId id="448" r:id="rId18"/>
    <p:sldId id="496" r:id="rId19"/>
    <p:sldId id="449" r:id="rId20"/>
    <p:sldId id="450" r:id="rId21"/>
    <p:sldId id="499" r:id="rId22"/>
    <p:sldId id="457" r:id="rId23"/>
    <p:sldId id="458" r:id="rId24"/>
    <p:sldId id="459" r:id="rId25"/>
    <p:sldId id="460" r:id="rId26"/>
    <p:sldId id="461" r:id="rId27"/>
    <p:sldId id="463" r:id="rId28"/>
    <p:sldId id="511" r:id="rId29"/>
    <p:sldId id="510" r:id="rId30"/>
    <p:sldId id="434" r:id="rId31"/>
    <p:sldId id="435" r:id="rId32"/>
    <p:sldId id="437" r:id="rId33"/>
    <p:sldId id="477" r:id="rId34"/>
    <p:sldId id="478" r:id="rId35"/>
    <p:sldId id="479" r:id="rId36"/>
    <p:sldId id="480" r:id="rId37"/>
    <p:sldId id="481" r:id="rId38"/>
    <p:sldId id="486" r:id="rId39"/>
    <p:sldId id="452" r:id="rId40"/>
    <p:sldId id="512" r:id="rId41"/>
    <p:sldId id="513" r:id="rId42"/>
    <p:sldId id="514" r:id="rId43"/>
    <p:sldId id="454" r:id="rId44"/>
    <p:sldId id="488" r:id="rId45"/>
    <p:sldId id="515" r:id="rId46"/>
    <p:sldId id="516" r:id="rId47"/>
    <p:sldId id="487" r:id="rId48"/>
  </p:sldIdLst>
  <p:sldSz cx="9144000" cy="6858000" type="letter"/>
  <p:notesSz cx="7099300" cy="10234295"/>
  <p:kinsoku lang="zh-CN" invalStChars="、。，．・：；？！゛゜ヽヾゝゞ々ー’”）〕］｝〉》」』】°‰′″℃￠％ぁぃぅぇぉっゃゅょゎァィゥェォッャュョヮヵヶ!%),.:;?]}｡｣､･ｧｨｩｪｫｬｭｮｯｰﾞﾟ" invalEndChars="‘“（〔［｛〈《「『【￥＄$([\{｢￡"/>
  <p:defaultTextStyle>
    <a:defPPr>
      <a:defRPr lang="en-US"/>
    </a:defPPr>
    <a:lvl1pPr marL="0" lvl="0"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800" b="1" i="0" u="none" kern="1200" baseline="0">
        <a:solidFill>
          <a:schemeClr val="accent2"/>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9556"/>
    <a:srgbClr val="388A36"/>
    <a:srgbClr val="2E5C35"/>
    <a:srgbClr val="3C7845"/>
    <a:srgbClr val="A50021"/>
    <a:srgbClr val="0033CC"/>
    <a:srgbClr val="EAEAEA"/>
    <a:srgbClr val="C519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41"/>
    <p:restoredTop sz="84345"/>
  </p:normalViewPr>
  <p:slideViewPr>
    <p:cSldViewPr snapToGrid="0" showGuides="1">
      <p:cViewPr varScale="1">
        <p:scale>
          <a:sx n="85" d="100"/>
          <a:sy n="85" d="100"/>
        </p:scale>
        <p:origin x="66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TextEdit="1"/>
          </p:cNvSpPr>
          <p:nvPr>
            <p:ph type="sldImg" idx="2"/>
          </p:nvPr>
        </p:nvSpPr>
        <p:spPr>
          <a:xfrm>
            <a:off x="990600" y="644525"/>
            <a:ext cx="5135563" cy="3851275"/>
          </a:xfrm>
          <a:prstGeom prst="rect">
            <a:avLst/>
          </a:prstGeom>
          <a:noFill/>
          <a:ln w="12700">
            <a:noFill/>
          </a:ln>
        </p:spPr>
      </p:sp>
    </p:spTree>
  </p:cSld>
  <p:clrMap bg1="lt1" tx1="dk1" bg2="lt2" tx2="dk2" accent1="accent1" accent2="accent2" accent3="accent3" accent4="accent4" accent5="accent5" accent6="accent6" hlink="hlink" folHlink="folHlink"/>
  <p:hf sldNum="0" hdr="0" ftr="0" dt="0"/>
  <p:notesStyle>
    <a:lvl1pPr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lnSpc>
        <a:spcPct val="90000"/>
      </a:lnSpc>
      <a:spcBef>
        <a:spcPct val="4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sz="quarter"/>
          </p:nvPr>
        </p:nvSpPr>
        <p:spPr>
          <a:xfrm>
            <a:off x="685310" y="4400550"/>
            <a:ext cx="5482477" cy="3600450"/>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p:sp>
      <p:sp>
        <p:nvSpPr>
          <p:cNvPr id="13315" name="备注占位符 2"/>
          <p:cNvSpPr>
            <a:spLocks noGrp="1"/>
          </p:cNvSpPr>
          <p:nvPr>
            <p:ph type="body" idx="1"/>
          </p:nvPr>
        </p:nvSpPr>
        <p:spPr>
          <a:xfrm>
            <a:off x="709613" y="4860925"/>
            <a:ext cx="5680075" cy="4605338"/>
          </a:xfrm>
          <a:prstGeom prst="rect">
            <a:avLst/>
          </a:prstGeom>
          <a:noFill/>
          <a:ln w="9525">
            <a:noFill/>
          </a:ln>
        </p:spPr>
        <p:txBody>
          <a:bodyPr/>
          <a:lstStyle/>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TextEdit="1"/>
          </p:cNvSpPr>
          <p:nvPr>
            <p:ph type="sldImg"/>
          </p:nvPr>
        </p:nvSpPr>
        <p:spPr/>
      </p:sp>
      <p:sp>
        <p:nvSpPr>
          <p:cNvPr id="19459" name="备注占位符 2"/>
          <p:cNvSpPr>
            <a:spLocks noGrp="1"/>
          </p:cNvSpPr>
          <p:nvPr>
            <p:ph type="body" idx="1"/>
          </p:nvPr>
        </p:nvSpPr>
        <p:spPr>
          <a:xfrm>
            <a:off x="709613" y="4860925"/>
            <a:ext cx="5680075" cy="4605338"/>
          </a:xfrm>
          <a:prstGeom prst="rect">
            <a:avLst/>
          </a:prstGeom>
          <a:noFill/>
          <a:ln w="9525">
            <a:noFill/>
          </a:ln>
        </p:spPr>
        <p:txBody>
          <a:bodyPr/>
          <a:lstStyle/>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TextEdit="1"/>
          </p:cNvSpPr>
          <p:nvPr>
            <p:ph type="sldImg"/>
          </p:nvPr>
        </p:nvSpPr>
        <p:spPr/>
      </p:sp>
      <p:sp>
        <p:nvSpPr>
          <p:cNvPr id="21507" name="备注占位符 2"/>
          <p:cNvSpPr>
            <a:spLocks noGrp="1"/>
          </p:cNvSpPr>
          <p:nvPr>
            <p:ph type="body" idx="1"/>
          </p:nvPr>
        </p:nvSpPr>
        <p:spPr>
          <a:xfrm>
            <a:off x="709613" y="4860925"/>
            <a:ext cx="5680075" cy="4605338"/>
          </a:xfrm>
          <a:prstGeom prst="rect">
            <a:avLst/>
          </a:prstGeom>
          <a:noFill/>
          <a:ln w="9525">
            <a:noFill/>
          </a:ln>
        </p:spPr>
        <p:txBody>
          <a:bodyPr/>
          <a:lstStyle/>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709613" y="4926013"/>
            <a:ext cx="5680075" cy="4029075"/>
          </a:xfrm>
          <a:prstGeom prst="rect">
            <a:avLst/>
          </a:prstGeom>
        </p:spPr>
        <p:txBody>
          <a:bodyPr/>
          <a:lstStyle/>
          <a:p>
            <a:endParaRPr kumimoji="1"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p:sp>
      <p:sp>
        <p:nvSpPr>
          <p:cNvPr id="29699" name="备注占位符 2"/>
          <p:cNvSpPr>
            <a:spLocks noGrp="1"/>
          </p:cNvSpPr>
          <p:nvPr>
            <p:ph type="body" idx="1"/>
          </p:nvPr>
        </p:nvSpPr>
        <p:spPr>
          <a:xfrm>
            <a:off x="709613" y="4926013"/>
            <a:ext cx="5680075" cy="4029075"/>
          </a:xfrm>
          <a:prstGeom prst="rect">
            <a:avLst/>
          </a:prstGeom>
          <a:noFill/>
          <a:ln w="9525">
            <a:noFill/>
          </a:ln>
        </p:spPr>
        <p:txBody>
          <a:bodyPr/>
          <a:lstStyle/>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p:sp>
      <p:sp>
        <p:nvSpPr>
          <p:cNvPr id="31747" name="备注占位符 2"/>
          <p:cNvSpPr>
            <a:spLocks noGrp="1"/>
          </p:cNvSpPr>
          <p:nvPr>
            <p:ph type="body" idx="1"/>
          </p:nvPr>
        </p:nvSpPr>
        <p:spPr>
          <a:xfrm>
            <a:off x="709613" y="4926013"/>
            <a:ext cx="5680075" cy="4029075"/>
          </a:xfrm>
          <a:prstGeom prst="rect">
            <a:avLst/>
          </a:prstGeom>
          <a:noFill/>
          <a:ln w="9525">
            <a:noFill/>
          </a:ln>
        </p:spPr>
        <p:txBody>
          <a:bodyPr/>
          <a:lstStyle/>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p:sp>
      <p:sp>
        <p:nvSpPr>
          <p:cNvPr id="33795" name="Rectangle 3"/>
          <p:cNvSpPr>
            <a:spLocks noGrp="1"/>
          </p:cNvSpPr>
          <p:nvPr>
            <p:ph type="body" idx="1"/>
          </p:nvPr>
        </p:nvSpPr>
        <p:spPr>
          <a:xfrm>
            <a:off x="946150" y="4821238"/>
            <a:ext cx="5207000" cy="4652962"/>
          </a:xfrm>
          <a:prstGeom prst="rect">
            <a:avLst/>
          </a:prstGeom>
          <a:noFill/>
          <a:ln w="12700">
            <a:noFill/>
          </a:ln>
        </p:spPr>
        <p:txBody>
          <a:bodyPr lIns="98562" tIns="49282" rIns="98562" bIns="49282"/>
          <a:lstStyle/>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body" idx="1"/>
          </p:nvPr>
        </p:nvSpPr>
        <p:spPr>
          <a:xfrm>
            <a:off x="515938" y="4343400"/>
            <a:ext cx="5910262" cy="4114800"/>
          </a:xfrm>
          <a:prstGeom prst="rect">
            <a:avLst/>
          </a:prstGeom>
          <a:noFill/>
          <a:ln w="9525">
            <a:noFill/>
          </a:ln>
        </p:spPr>
        <p:txBody>
          <a:bodyPr lIns="85465" tIns="41982" rIns="85465" bIns="41982"/>
          <a:lstStyle/>
          <a:p>
            <a:pPr lvl="0"/>
            <a:endParaRPr lang="en-US" altLang="zh-CN" dirty="0">
              <a:ea typeface="宋体" panose="02010600030101010101" pitchFamily="2" charset="-122"/>
            </a:endParaRPr>
          </a:p>
        </p:txBody>
      </p:sp>
      <p:sp>
        <p:nvSpPr>
          <p:cNvPr id="35843" name="Rectangle 3"/>
          <p:cNvSpPr>
            <a:spLocks noGrp="1" noRot="1" noChangeAspect="1" noTextEdit="1"/>
          </p:cNvSpPr>
          <p:nvPr>
            <p:ph type="sldImg"/>
          </p:nvPr>
        </p:nvSpPr>
        <p:spPr>
          <a:xfrm>
            <a:off x="1143000" y="574675"/>
            <a:ext cx="4589463" cy="3441700"/>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p:sp>
      <p:sp>
        <p:nvSpPr>
          <p:cNvPr id="38915" name="Rectangle 3"/>
          <p:cNvSpPr>
            <a:spLocks noGrp="1"/>
          </p:cNvSpPr>
          <p:nvPr>
            <p:ph type="body" idx="1"/>
          </p:nvPr>
        </p:nvSpPr>
        <p:spPr>
          <a:xfrm>
            <a:off x="915988" y="4881563"/>
            <a:ext cx="5267325" cy="4576762"/>
          </a:xfrm>
          <a:prstGeom prst="rect">
            <a:avLst/>
          </a:prstGeom>
          <a:noFill/>
          <a:ln w="9525">
            <a:noFill/>
          </a:ln>
        </p:spPr>
        <p:txBody>
          <a:bodyPr lIns="91551" tIns="45775" rIns="91551" bIns="45775"/>
          <a:lstStyle/>
          <a:p>
            <a:pPr lvl="0"/>
            <a:endParaRPr lang="en-US" altLang="zh-CN"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a:xfrm>
            <a:off x="1144588" y="576263"/>
            <a:ext cx="4586287" cy="3440112"/>
          </a:xfrm>
        </p:spPr>
      </p:sp>
      <p:sp>
        <p:nvSpPr>
          <p:cNvPr id="55299" name="Rectangle 3"/>
          <p:cNvSpPr>
            <a:spLocks noGrp="1"/>
          </p:cNvSpPr>
          <p:nvPr>
            <p:ph type="body" idx="1"/>
          </p:nvPr>
        </p:nvSpPr>
        <p:spPr>
          <a:xfrm>
            <a:off x="515938" y="4343400"/>
            <a:ext cx="5910262" cy="4114800"/>
          </a:xfrm>
          <a:prstGeom prst="rect">
            <a:avLst/>
          </a:prstGeom>
          <a:noFill/>
          <a:ln w="9525">
            <a:noFill/>
          </a:ln>
        </p:spPr>
        <p:txBody>
          <a:bodyPr/>
          <a:lstStyle/>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a:xfrm>
            <a:off x="1108075" y="654050"/>
            <a:ext cx="4652963" cy="3489325"/>
          </a:xfrm>
        </p:spPr>
      </p:sp>
      <p:sp>
        <p:nvSpPr>
          <p:cNvPr id="57347" name="Rectangle 3"/>
          <p:cNvSpPr>
            <a:spLocks noGrp="1"/>
          </p:cNvSpPr>
          <p:nvPr>
            <p:ph type="body" idx="1"/>
          </p:nvPr>
        </p:nvSpPr>
        <p:spPr>
          <a:xfrm>
            <a:off x="930275" y="4360863"/>
            <a:ext cx="5008563" cy="4070350"/>
          </a:xfrm>
          <a:prstGeom prst="rect">
            <a:avLst/>
          </a:prstGeom>
          <a:noFill/>
          <a:ln w="9525">
            <a:noFill/>
          </a:ln>
        </p:spPr>
        <p:txBody>
          <a:bodyPr lIns="86630" tIns="43315" rIns="86630" bIns="43315"/>
          <a:lstStyle/>
          <a:p>
            <a:pPr lvl="0"/>
            <a:endParaRPr lang="en-US" altLang="zh-CN"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846138"/>
            <a:ext cx="4038600" cy="5280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846138"/>
            <a:ext cx="4038600" cy="52800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ct val="30000"/>
              </a:spcBef>
              <a:spcAft>
                <a:spcPct val="0"/>
              </a:spcAft>
              <a:buClrTx/>
              <a:buSzPct val="75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14300"/>
            <a:ext cx="2057400" cy="60118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14300"/>
            <a:ext cx="6019800" cy="60118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11200" y="114300"/>
            <a:ext cx="7867650" cy="3683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846138"/>
            <a:ext cx="4038600" cy="5280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846138"/>
            <a:ext cx="4038600" cy="52800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711200" y="114300"/>
            <a:ext cx="7867650" cy="368300"/>
          </a:xfrm>
          <a:prstGeom prst="rect">
            <a:avLst/>
          </a:prstGeom>
          <a:noFill/>
          <a:ln w="12700">
            <a:noFill/>
          </a:ln>
        </p:spPr>
        <p:txBody>
          <a:bodyPr lIns="63500" tIns="25400" rIns="63500" bIns="25400">
            <a:spAutoFit/>
          </a:bodyPr>
          <a:lstStyle/>
          <a:p>
            <a:pPr lvl="0"/>
            <a:r>
              <a:rPr lang="en-US" altLang="zh-CN" dirty="0"/>
              <a:t>Title</a:t>
            </a:r>
            <a:endParaRPr lang="en-US" altLang="zh-CN" dirty="0"/>
          </a:p>
        </p:txBody>
      </p:sp>
      <p:sp>
        <p:nvSpPr>
          <p:cNvPr id="1027" name="Rectangle 7"/>
          <p:cNvSpPr>
            <a:spLocks noGrp="1"/>
          </p:cNvSpPr>
          <p:nvPr>
            <p:ph type="body" idx="1"/>
          </p:nvPr>
        </p:nvSpPr>
        <p:spPr>
          <a:xfrm>
            <a:off x="457200" y="846138"/>
            <a:ext cx="8229600" cy="52800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Line 8"/>
          <p:cNvSpPr/>
          <p:nvPr userDrawn="1"/>
        </p:nvSpPr>
        <p:spPr>
          <a:xfrm>
            <a:off x="257175" y="523875"/>
            <a:ext cx="8429625" cy="0"/>
          </a:xfrm>
          <a:prstGeom prst="line">
            <a:avLst/>
          </a:prstGeom>
          <a:ln w="12700" cap="flat" cmpd="sng">
            <a:solidFill>
              <a:schemeClr val="tx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lnSpc>
          <a:spcPct val="87000"/>
        </a:lnSpc>
        <a:spcBef>
          <a:spcPct val="0"/>
        </a:spcBef>
        <a:spcAft>
          <a:spcPct val="0"/>
        </a:spcAft>
        <a:defRPr sz="2400" b="1">
          <a:solidFill>
            <a:srgbClr val="C51915"/>
          </a:solidFill>
          <a:latin typeface="+mj-lt"/>
          <a:ea typeface="+mj-ea"/>
          <a:cs typeface="+mj-cs"/>
        </a:defRPr>
      </a:lvl1pPr>
      <a:lvl2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2pPr>
      <a:lvl3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3pPr>
      <a:lvl4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4pPr>
      <a:lvl5pPr algn="l" rtl="0" eaLnBrk="0" fontAlgn="base" hangingPunct="0">
        <a:lnSpc>
          <a:spcPct val="87000"/>
        </a:lnSpc>
        <a:spcBef>
          <a:spcPct val="0"/>
        </a:spcBef>
        <a:spcAft>
          <a:spcPct val="0"/>
        </a:spcAft>
        <a:defRPr sz="2400" b="1">
          <a:solidFill>
            <a:srgbClr val="C51915"/>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accent2"/>
          </a:solidFill>
          <a:latin typeface="Arial" panose="020B0604020202020204" pitchFamily="34" charset="0"/>
        </a:defRPr>
      </a:lvl9pPr>
    </p:titleStyle>
    <p:bodyStyle>
      <a:lvl1pPr marL="285750" indent="-285750" algn="l" rtl="0" eaLnBrk="0" fontAlgn="base" hangingPunct="0">
        <a:lnSpc>
          <a:spcPct val="90000"/>
        </a:lnSpc>
        <a:spcBef>
          <a:spcPct val="30000"/>
        </a:spcBef>
        <a:spcAft>
          <a:spcPct val="0"/>
        </a:spcAft>
        <a:buSzPct val="75000"/>
        <a:buFont typeface="Wingdings" panose="05000000000000000000" pitchFamily="2" charset="2"/>
        <a:buChar char="u"/>
        <a:defRPr sz="2000" b="1">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accent2"/>
          </a:solidFill>
          <a:latin typeface="+mn-lt"/>
          <a:ea typeface="+mn-ea"/>
          <a:cs typeface="+mn-cs"/>
        </a:defRPr>
      </a:lvl2pPr>
      <a:lvl3pPr marL="1143000" indent="-228600" algn="l" rtl="0" eaLnBrk="0" fontAlgn="base" hangingPunct="0">
        <a:lnSpc>
          <a:spcPct val="90000"/>
        </a:lnSpc>
        <a:spcBef>
          <a:spcPct val="30000"/>
        </a:spcBef>
        <a:spcAft>
          <a:spcPct val="0"/>
        </a:spcAft>
        <a:buSzPct val="100000"/>
        <a:buChar char="»"/>
        <a:defRPr b="1">
          <a:solidFill>
            <a:srgbClr val="A50021"/>
          </a:solidFill>
          <a:latin typeface="+mn-lt"/>
          <a:ea typeface="+mn-ea"/>
          <a:cs typeface="+mn-cs"/>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4pPr>
      <a:lvl5pPr marL="20002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5pPr>
      <a:lvl6pPr marL="24574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6pPr>
      <a:lvl7pPr marL="29146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7pPr>
      <a:lvl8pPr marL="33718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8pPr>
      <a:lvl9pPr marL="3829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18.xml"/><Relationship Id="rId2" Type="http://schemas.openxmlformats.org/officeDocument/2006/relationships/slide" Target="slide17.xml"/><Relationship Id="rId1" Type="http://schemas.openxmlformats.org/officeDocument/2006/relationships/slide" Target="slide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slide" Target="slide14.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14.xml"/><Relationship Id="rId2" Type="http://schemas.openxmlformats.org/officeDocument/2006/relationships/image" Target="../media/image2.jpe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slide" Target="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3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oleObject" Target="../embeddings/oleObject1.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2.jpeg"/><Relationship Id="rId1"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p:cNvSpPr>
          <p:nvPr>
            <p:ph type="ctrTitle"/>
          </p:nvPr>
        </p:nvSpPr>
        <p:spPr>
          <a:xfrm>
            <a:off x="582613" y="1284288"/>
            <a:ext cx="8107362" cy="1824037"/>
          </a:xfrm>
        </p:spPr>
        <p:txBody>
          <a:bodyPr vert="horz" wrap="square" lIns="63500" tIns="25400" rIns="63500" bIns="25400" anchor="t" anchorCtr="0">
            <a:spAutoFit/>
          </a:bodyPr>
          <a:lstStyle/>
          <a:p>
            <a:pPr algn="ctr">
              <a:lnSpc>
                <a:spcPct val="120000"/>
              </a:lnSpc>
              <a:spcBef>
                <a:spcPct val="25000"/>
              </a:spcBef>
              <a:buClrTx/>
              <a:buSzTx/>
              <a:buFontTx/>
            </a:pPr>
            <a:r>
              <a:rPr lang="en-US" altLang="zh-CN" sz="4800" b="0" dirty="0">
                <a:solidFill>
                  <a:schemeClr val="accent1"/>
                </a:solidFill>
                <a:ea typeface="宋体" panose="02010600030101010101" pitchFamily="2" charset="-122"/>
              </a:rPr>
              <a:t>Ch4: Instruction Set</a:t>
            </a:r>
            <a:br>
              <a:rPr lang="en-US" altLang="zh-CN" sz="4800" b="0" dirty="0">
                <a:solidFill>
                  <a:schemeClr val="accent1"/>
                </a:solidFill>
                <a:ea typeface="宋体" panose="02010600030101010101" pitchFamily="2" charset="-122"/>
              </a:rPr>
            </a:br>
            <a:r>
              <a:rPr lang="zh-CN" altLang="en-US" sz="4800" dirty="0">
                <a:solidFill>
                  <a:srgbClr val="0033CC"/>
                </a:solidFill>
                <a:ea typeface="宋体" panose="02010600030101010101" pitchFamily="2" charset="-122"/>
              </a:rPr>
              <a:t>指令系统</a:t>
            </a:r>
            <a:endParaRPr lang="zh-CN" altLang="en-US" sz="4800" dirty="0">
              <a:solidFill>
                <a:srgbClr val="0033CC"/>
              </a:solidFill>
              <a:ea typeface="宋体" panose="02010600030101010101" pitchFamily="2" charset="-122"/>
            </a:endParaRPr>
          </a:p>
        </p:txBody>
      </p:sp>
      <p:sp>
        <p:nvSpPr>
          <p:cNvPr id="252935" name="Rectangle 7"/>
          <p:cNvSpPr>
            <a:spLocks noGrp="1"/>
          </p:cNvSpPr>
          <p:nvPr>
            <p:ph type="subTitle" idx="1"/>
          </p:nvPr>
        </p:nvSpPr>
        <p:spPr>
          <a:xfrm>
            <a:off x="2357438" y="4022725"/>
            <a:ext cx="4913312" cy="2668588"/>
          </a:xfrm>
        </p:spPr>
        <p:txBody>
          <a:bodyPr vert="horz" wrap="square" lIns="91440" tIns="45720" rIns="91440" bIns="45720" anchor="t" anchorCtr="0"/>
          <a:lstStyle/>
          <a:p>
            <a:pPr algn="l">
              <a:lnSpc>
                <a:spcPct val="125000"/>
              </a:lnSpc>
              <a:buClrTx/>
              <a:buSzPct val="75000"/>
            </a:pPr>
            <a:r>
              <a:rPr lang="zh-CN" altLang="en-US" sz="3200" dirty="0">
                <a:latin typeface="黑体" panose="02010609060101010101" pitchFamily="49" charset="-122"/>
                <a:ea typeface="黑体" panose="02010609060101010101" pitchFamily="49" charset="-122"/>
                <a:cs typeface="+mn-cs"/>
              </a:rPr>
              <a:t>第</a:t>
            </a:r>
            <a:r>
              <a:rPr lang="en-US" altLang="zh-CN" sz="3200" dirty="0">
                <a:latin typeface="黑体" panose="02010609060101010101" pitchFamily="49" charset="-122"/>
                <a:ea typeface="黑体" panose="02010609060101010101" pitchFamily="49" charset="-122"/>
                <a:cs typeface="+mn-cs"/>
              </a:rPr>
              <a:t>1</a:t>
            </a:r>
            <a:r>
              <a:rPr lang="zh-CN" altLang="en-US" sz="3200" dirty="0">
                <a:latin typeface="黑体" panose="02010609060101010101" pitchFamily="49" charset="-122"/>
                <a:ea typeface="黑体" panose="02010609060101010101" pitchFamily="49" charset="-122"/>
                <a:cs typeface="+mn-cs"/>
              </a:rPr>
              <a:t>讲：指令系统的设计</a:t>
            </a:r>
            <a:endParaRPr lang="zh-CN" altLang="en-US" sz="3200" dirty="0">
              <a:latin typeface="黑体" panose="02010609060101010101" pitchFamily="49" charset="-122"/>
              <a:ea typeface="黑体" panose="02010609060101010101" pitchFamily="49" charset="-122"/>
              <a:cs typeface="+mn-cs"/>
            </a:endParaRPr>
          </a:p>
          <a:p>
            <a:pPr algn="l">
              <a:lnSpc>
                <a:spcPct val="125000"/>
              </a:lnSpc>
              <a:buClrTx/>
              <a:buSzPct val="75000"/>
            </a:pPr>
            <a:r>
              <a:rPr lang="zh-CN" altLang="en-US" sz="3200" dirty="0">
                <a:latin typeface="黑体" panose="02010609060101010101" pitchFamily="49" charset="-122"/>
                <a:ea typeface="黑体" panose="02010609060101010101" pitchFamily="49" charset="-122"/>
                <a:cs typeface="+mn-cs"/>
              </a:rPr>
              <a:t>第</a:t>
            </a:r>
            <a:r>
              <a:rPr lang="en-US" altLang="zh-CN" sz="3200" dirty="0">
                <a:latin typeface="黑体" panose="02010609060101010101" pitchFamily="49" charset="-122"/>
                <a:ea typeface="黑体" panose="02010609060101010101" pitchFamily="49" charset="-122"/>
                <a:cs typeface="+mn-cs"/>
              </a:rPr>
              <a:t>2</a:t>
            </a:r>
            <a:r>
              <a:rPr lang="zh-CN" altLang="en-US" sz="3200" dirty="0">
                <a:latin typeface="黑体" panose="02010609060101010101" pitchFamily="49" charset="-122"/>
                <a:ea typeface="黑体" panose="02010609060101010101" pitchFamily="49" charset="-122"/>
                <a:cs typeface="+mn-cs"/>
              </a:rPr>
              <a:t>讲：程序的机器级表示</a:t>
            </a:r>
            <a:endParaRPr lang="en-US" altLang="zh-CN" sz="3200" dirty="0">
              <a:latin typeface="黑体" panose="02010609060101010101" pitchFamily="49" charset="-122"/>
              <a:ea typeface="黑体" panose="02010609060101010101" pitchFamily="49" charset="-122"/>
              <a:cs typeface="+mn-cs"/>
            </a:endParaRPr>
          </a:p>
          <a:p>
            <a:pPr algn="l">
              <a:lnSpc>
                <a:spcPct val="125000"/>
              </a:lnSpc>
              <a:buClrTx/>
              <a:buSzPct val="75000"/>
            </a:pPr>
            <a:r>
              <a:rPr lang="zh-CN" altLang="en-US" sz="3200" dirty="0">
                <a:latin typeface="黑体" panose="02010609060101010101" pitchFamily="49" charset="-122"/>
                <a:ea typeface="黑体" panose="02010609060101010101" pitchFamily="49" charset="-122"/>
                <a:cs typeface="+mn-cs"/>
              </a:rPr>
              <a:t>第</a:t>
            </a:r>
            <a:r>
              <a:rPr lang="en-US" altLang="zh-CN" sz="3200" dirty="0">
                <a:latin typeface="黑体" panose="02010609060101010101" pitchFamily="49" charset="-122"/>
                <a:ea typeface="黑体" panose="02010609060101010101" pitchFamily="49" charset="-122"/>
                <a:cs typeface="+mn-cs"/>
              </a:rPr>
              <a:t>3</a:t>
            </a:r>
            <a:r>
              <a:rPr lang="zh-CN" altLang="en-US" sz="3200" dirty="0">
                <a:latin typeface="黑体" panose="02010609060101010101" pitchFamily="49" charset="-122"/>
                <a:ea typeface="黑体" panose="02010609060101010101" pitchFamily="49" charset="-122"/>
                <a:cs typeface="+mn-cs"/>
              </a:rPr>
              <a:t>讲：</a:t>
            </a:r>
            <a:r>
              <a:rPr lang="en-US" altLang="zh-CN" sz="3200" dirty="0">
                <a:latin typeface="黑体" panose="02010609060101010101" pitchFamily="49" charset="-122"/>
                <a:ea typeface="黑体" panose="02010609060101010101" pitchFamily="49" charset="-122"/>
                <a:cs typeface="+mn-cs"/>
              </a:rPr>
              <a:t>ISA</a:t>
            </a:r>
            <a:r>
              <a:rPr lang="zh-CN" altLang="en-US" sz="3200" dirty="0">
                <a:latin typeface="黑体" panose="02010609060101010101" pitchFamily="49" charset="-122"/>
                <a:ea typeface="黑体" panose="02010609060101010101" pitchFamily="49" charset="-122"/>
                <a:cs typeface="+mn-cs"/>
              </a:rPr>
              <a:t>实例：</a:t>
            </a:r>
            <a:r>
              <a:rPr lang="en-US" altLang="zh-CN" sz="3200" dirty="0">
                <a:latin typeface="黑体" panose="02010609060101010101" pitchFamily="49" charset="-122"/>
                <a:ea typeface="黑体" panose="02010609060101010101" pitchFamily="49" charset="-122"/>
                <a:cs typeface="+mn-cs"/>
              </a:rPr>
              <a:t>RISC-V</a:t>
            </a:r>
            <a:endParaRPr lang="zh-CN" altLang="en-US" sz="3200" dirty="0">
              <a:latin typeface="黑体" panose="02010609060101010101" pitchFamily="49" charset="-122"/>
              <a:ea typeface="黑体" panose="02010609060101010101" pitchFamily="49" charset="-122"/>
              <a:cs typeface="+mn-cs"/>
            </a:endParaRPr>
          </a:p>
          <a:p>
            <a:pPr algn="l">
              <a:lnSpc>
                <a:spcPct val="70000"/>
              </a:lnSpc>
              <a:buClrTx/>
              <a:buSzPct val="60000"/>
              <a:buFont typeface="Wingdings" panose="05000000000000000000" pitchFamily="2" charset="2"/>
              <a:buChar char="l"/>
            </a:pPr>
            <a:endParaRPr lang="en-US" altLang="zh-CN" sz="2400" dirty="0">
              <a:latin typeface="黑体" panose="02010609060101010101" pitchFamily="49" charset="-122"/>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2935">
                                            <p:txEl>
                                              <p:pRg st="0" end="0"/>
                                            </p:txEl>
                                          </p:spTgt>
                                        </p:tgtEl>
                                        <p:attrNameLst>
                                          <p:attrName>style.visibility</p:attrName>
                                        </p:attrNameLst>
                                      </p:cBhvr>
                                      <p:to>
                                        <p:strVal val="visible"/>
                                      </p:to>
                                    </p:set>
                                    <p:animEffect transition="in" filter="blinds(horizontal)">
                                      <p:cBhvr>
                                        <p:cTn id="7" dur="500"/>
                                        <p:tgtEl>
                                          <p:spTgt spid="2529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2935">
                                            <p:txEl>
                                              <p:pRg st="1" end="1"/>
                                            </p:txEl>
                                          </p:spTgt>
                                        </p:tgtEl>
                                        <p:attrNameLst>
                                          <p:attrName>style.visibility</p:attrName>
                                        </p:attrNameLst>
                                      </p:cBhvr>
                                      <p:to>
                                        <p:strVal val="visible"/>
                                      </p:to>
                                    </p:set>
                                    <p:animEffect transition="in" filter="blinds(horizontal)">
                                      <p:cBhvr>
                                        <p:cTn id="12" dur="500"/>
                                        <p:tgtEl>
                                          <p:spTgt spid="2529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52935">
                                            <p:txEl>
                                              <p:pRg st="2" end="2"/>
                                            </p:txEl>
                                          </p:spTgt>
                                        </p:tgtEl>
                                        <p:attrNameLst>
                                          <p:attrName>style.visibility</p:attrName>
                                        </p:attrNameLst>
                                      </p:cBhvr>
                                      <p:to>
                                        <p:strVal val="visible"/>
                                      </p:to>
                                    </p:set>
                                    <p:animEffect transition="in" filter="blinds(horizontal)">
                                      <p:cBhvr>
                                        <p:cTn id="17" dur="500"/>
                                        <p:tgtEl>
                                          <p:spTgt spid="2529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711200" y="122238"/>
            <a:ext cx="7686675" cy="396875"/>
          </a:xfrm>
        </p:spPr>
        <p:txBody>
          <a:bodyPr vert="horz" wrap="square" lIns="63500" tIns="25400" rIns="63500" bIns="25400" anchor="t" anchorCtr="0">
            <a:spAutoFit/>
          </a:bodyPr>
          <a:lstStyle/>
          <a:p>
            <a:pPr algn="ctr"/>
            <a:r>
              <a:rPr lang="zh-CN" altLang="en-US" sz="2600" dirty="0">
                <a:latin typeface="黑体" panose="02010609060101010101" pitchFamily="49" charset="-122"/>
                <a:ea typeface="黑体" panose="02010609060101010101" pitchFamily="49" charset="-122"/>
              </a:rPr>
              <a:t>第一讲 指令系统设计</a:t>
            </a:r>
            <a:endParaRPr lang="zh-CN" altLang="en-US" sz="2600" dirty="0">
              <a:latin typeface="黑体" panose="02010609060101010101" pitchFamily="49" charset="-122"/>
              <a:ea typeface="黑体" panose="02010609060101010101" pitchFamily="49" charset="-122"/>
            </a:endParaRPr>
          </a:p>
        </p:txBody>
      </p:sp>
      <p:sp>
        <p:nvSpPr>
          <p:cNvPr id="4099" name="Rectangle 3"/>
          <p:cNvSpPr>
            <a:spLocks noGrp="1"/>
          </p:cNvSpPr>
          <p:nvPr>
            <p:ph idx="1"/>
          </p:nvPr>
        </p:nvSpPr>
        <p:spPr>
          <a:xfrm>
            <a:off x="371475" y="1000125"/>
            <a:ext cx="8502650" cy="5553075"/>
          </a:xfrm>
        </p:spPr>
        <p:txBody>
          <a:bodyPr vert="horz" wrap="square" lIns="91440" tIns="45720" rIns="91440" bIns="45720" anchor="t" anchorCtr="0"/>
          <a:lstStyle/>
          <a:p>
            <a:pPr>
              <a:lnSpc>
                <a:spcPct val="105000"/>
              </a:lnSpc>
            </a:pPr>
            <a:r>
              <a:rPr lang="zh-CN" altLang="en-US" sz="2400" dirty="0">
                <a:latin typeface="Arial" panose="020B0604020202020204" pitchFamily="34" charset="0"/>
                <a:ea typeface="黑体" panose="02010609060101010101" pitchFamily="49" charset="-122"/>
              </a:rPr>
              <a:t>指令系统设计的基本原则</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指令类型和格式</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数据类型</a:t>
            </a:r>
            <a:endParaRPr lang="zh-CN" altLang="en-US" sz="2400" dirty="0">
              <a:latin typeface="Arial" panose="020B0604020202020204" pitchFamily="34" charset="0"/>
              <a:ea typeface="黑体" panose="02010609060101010101" pitchFamily="49" charset="-122"/>
            </a:endParaRPr>
          </a:p>
          <a:p>
            <a:pPr lvl="1">
              <a:lnSpc>
                <a:spcPct val="105000"/>
              </a:lnSpc>
            </a:pPr>
            <a:r>
              <a:rPr lang="zh-CN" altLang="en-US" sz="2400" dirty="0">
                <a:latin typeface="Arial" panose="020B0604020202020204" pitchFamily="34" charset="0"/>
                <a:ea typeface="黑体" panose="02010609060101010101" pitchFamily="49" charset="-122"/>
              </a:rPr>
              <a:t>寄存器组织、存储器组织</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操作数的寻址方式</a:t>
            </a:r>
            <a:endParaRPr lang="zh-CN" altLang="en-US" sz="2400" dirty="0">
              <a:latin typeface="Arial" panose="020B0604020202020204" pitchFamily="34" charset="0"/>
              <a:ea typeface="黑体" panose="02010609060101010101" pitchFamily="49" charset="-122"/>
            </a:endParaRPr>
          </a:p>
          <a:p>
            <a:pPr lvl="1">
              <a:lnSpc>
                <a:spcPct val="105000"/>
              </a:lnSpc>
            </a:pPr>
            <a:r>
              <a:rPr lang="zh-CN" altLang="en-US" sz="2400" dirty="0">
                <a:latin typeface="Arial" panose="020B0604020202020204" pitchFamily="34" charset="0"/>
                <a:ea typeface="黑体" panose="02010609060101010101" pitchFamily="49" charset="-122"/>
              </a:rPr>
              <a:t>立即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寄存器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寄存器间接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直接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间接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堆栈 </a:t>
            </a:r>
            <a:r>
              <a:rPr lang="en-US" altLang="zh-CN" sz="2400" dirty="0">
                <a:latin typeface="Arial" panose="020B0604020202020204" pitchFamily="34" charset="0"/>
                <a:ea typeface="黑体" panose="02010609060101010101" pitchFamily="49" charset="-122"/>
              </a:rPr>
              <a:t>/ </a:t>
            </a:r>
            <a:r>
              <a:rPr lang="zh-CN" altLang="en-US" sz="2400" dirty="0">
                <a:latin typeface="Arial" panose="020B0604020202020204" pitchFamily="34" charset="0"/>
                <a:ea typeface="黑体" panose="02010609060101010101" pitchFamily="49" charset="-122"/>
              </a:rPr>
              <a:t>偏移</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操作码的编码</a:t>
            </a:r>
            <a:endParaRPr lang="zh-CN" altLang="en-US" sz="2400" dirty="0">
              <a:latin typeface="Arial" panose="020B0604020202020204" pitchFamily="34" charset="0"/>
              <a:ea typeface="黑体" panose="02010609060101010101" pitchFamily="49" charset="-122"/>
            </a:endParaRPr>
          </a:p>
          <a:p>
            <a:pPr lvl="1">
              <a:lnSpc>
                <a:spcPct val="105000"/>
              </a:lnSpc>
            </a:pPr>
            <a:r>
              <a:rPr lang="zh-CN" altLang="en-US" sz="2400" dirty="0">
                <a:latin typeface="Arial" panose="020B0604020202020204" pitchFamily="34" charset="0"/>
                <a:ea typeface="黑体" panose="02010609060101010101" pitchFamily="49" charset="-122"/>
              </a:rPr>
              <a:t>定长编码法、变长扩展编码法</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条件码和标志寄存器</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指令设计风格 </a:t>
            </a:r>
            <a:endParaRPr lang="zh-CN" altLang="en-US" sz="2400" dirty="0">
              <a:latin typeface="Arial" panose="020B0604020202020204" pitchFamily="34" charset="0"/>
              <a:ea typeface="黑体" panose="02010609060101010101" pitchFamily="49" charset="-122"/>
            </a:endParaRPr>
          </a:p>
          <a:p>
            <a:pPr>
              <a:lnSpc>
                <a:spcPct val="105000"/>
              </a:lnSpc>
            </a:pPr>
            <a:r>
              <a:rPr lang="zh-CN" altLang="en-US" sz="2400" dirty="0">
                <a:latin typeface="Arial" panose="020B0604020202020204" pitchFamily="34" charset="0"/>
                <a:ea typeface="黑体" panose="02010609060101010101" pitchFamily="49" charset="-122"/>
              </a:rPr>
              <a:t>异常和中断处理机制</a:t>
            </a:r>
            <a:endParaRPr lang="zh-CN" altLang="en-US" sz="2400" dirty="0">
              <a:latin typeface="Arial" panose="020B0604020202020204" pitchFamily="34" charset="0"/>
              <a:ea typeface="黑体" panose="02010609060101010101" pitchFamily="49" charset="-122"/>
            </a:endParaRPr>
          </a:p>
        </p:txBody>
      </p:sp>
      <p:sp>
        <p:nvSpPr>
          <p:cNvPr id="4100" name="Text Box 4"/>
          <p:cNvSpPr txBox="1"/>
          <p:nvPr/>
        </p:nvSpPr>
        <p:spPr>
          <a:xfrm>
            <a:off x="3486150" y="596900"/>
            <a:ext cx="2279650" cy="482600"/>
          </a:xfrm>
          <a:prstGeom prst="rect">
            <a:avLst/>
          </a:prstGeom>
          <a:noFill/>
          <a:ln w="12700">
            <a:noFill/>
          </a:ln>
        </p:spPr>
        <p:txBody>
          <a:bodyPr lIns="63500" tIns="25400" rIns="63500" bIns="25400">
            <a:spAutoFit/>
          </a:bodyPr>
          <a:lstStyle/>
          <a:p>
            <a:pPr>
              <a:spcBef>
                <a:spcPct val="50000"/>
              </a:spcBef>
            </a:pPr>
            <a:r>
              <a:rPr lang="zh-CN" altLang="en-US" sz="2800" dirty="0">
                <a:solidFill>
                  <a:schemeClr val="accent1"/>
                </a:solidFill>
                <a:latin typeface="Arial" panose="020B0604020202020204" pitchFamily="34" charset="0"/>
              </a:rPr>
              <a:t>主  要  内  容</a:t>
            </a:r>
            <a:endParaRPr lang="zh-CN" altLang="en-US" sz="2800" dirty="0">
              <a:solidFill>
                <a:schemeClr val="accent1"/>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711200" y="114300"/>
            <a:ext cx="3359150" cy="368300"/>
          </a:xfrm>
        </p:spPr>
        <p:txBody>
          <a:bodyPr vert="horz" wrap="none" lIns="63500" tIns="25400" rIns="63500" bIns="25400" anchor="t" anchorCtr="0">
            <a:spAutoFit/>
          </a:bodyPr>
          <a:lstStyle/>
          <a:p>
            <a:r>
              <a:rPr lang="en-US" altLang="zh-CN" dirty="0">
                <a:ea typeface="宋体" panose="02010600030101010101" pitchFamily="2" charset="-122"/>
              </a:rPr>
              <a:t>Instruction Set Design</a:t>
            </a:r>
            <a:endParaRPr lang="en-US" altLang="zh-CN" dirty="0">
              <a:ea typeface="宋体" panose="02010600030101010101" pitchFamily="2" charset="-122"/>
            </a:endParaRPr>
          </a:p>
        </p:txBody>
      </p:sp>
      <p:grpSp>
        <p:nvGrpSpPr>
          <p:cNvPr id="5123" name="Group 3"/>
          <p:cNvGrpSpPr/>
          <p:nvPr/>
        </p:nvGrpSpPr>
        <p:grpSpPr>
          <a:xfrm>
            <a:off x="1293813" y="2443163"/>
            <a:ext cx="6483350" cy="2141537"/>
            <a:chOff x="488" y="532"/>
            <a:chExt cx="4500" cy="2268"/>
          </a:xfrm>
        </p:grpSpPr>
        <p:sp>
          <p:nvSpPr>
            <p:cNvPr id="5126" name="Rectangle 4" descr="Horizontal brick"/>
            <p:cNvSpPr/>
            <p:nvPr/>
          </p:nvSpPr>
          <p:spPr>
            <a:xfrm>
              <a:off x="772" y="1396"/>
              <a:ext cx="4216" cy="280"/>
            </a:xfrm>
            <a:prstGeom prst="rect">
              <a:avLst/>
            </a:prstGeom>
            <a:blipFill rotWithShape="0">
              <a:blip r:embed="rId1"/>
            </a:blip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27" name="Oval 5"/>
            <p:cNvSpPr/>
            <p:nvPr/>
          </p:nvSpPr>
          <p:spPr>
            <a:xfrm>
              <a:off x="2308" y="532"/>
              <a:ext cx="232" cy="184"/>
            </a:xfrm>
            <a:prstGeom prst="ellipse">
              <a:avLst/>
            </a:prstGeom>
            <a:noFill/>
            <a:ln w="12700"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28" name="Line 6"/>
            <p:cNvSpPr/>
            <p:nvPr/>
          </p:nvSpPr>
          <p:spPr>
            <a:xfrm flipH="1">
              <a:off x="2396" y="724"/>
              <a:ext cx="56" cy="376"/>
            </a:xfrm>
            <a:prstGeom prst="line">
              <a:avLst/>
            </a:prstGeom>
            <a:ln w="12700" cap="flat" cmpd="sng">
              <a:solidFill>
                <a:schemeClr val="tx1"/>
              </a:solidFill>
              <a:prstDash val="solid"/>
              <a:headEnd type="none" w="med" len="med"/>
              <a:tailEnd type="none" w="med" len="med"/>
            </a:ln>
          </p:spPr>
        </p:sp>
        <p:sp>
          <p:nvSpPr>
            <p:cNvPr id="5129" name="Line 7"/>
            <p:cNvSpPr/>
            <p:nvPr/>
          </p:nvSpPr>
          <p:spPr>
            <a:xfrm>
              <a:off x="2404" y="1104"/>
              <a:ext cx="136" cy="0"/>
            </a:xfrm>
            <a:prstGeom prst="line">
              <a:avLst/>
            </a:prstGeom>
            <a:ln w="12700" cap="flat" cmpd="sng">
              <a:solidFill>
                <a:schemeClr val="tx1"/>
              </a:solidFill>
              <a:prstDash val="solid"/>
              <a:headEnd type="none" w="med" len="med"/>
              <a:tailEnd type="none" w="med" len="med"/>
            </a:ln>
          </p:spPr>
        </p:sp>
        <p:sp>
          <p:nvSpPr>
            <p:cNvPr id="5130" name="Line 8"/>
            <p:cNvSpPr/>
            <p:nvPr/>
          </p:nvSpPr>
          <p:spPr>
            <a:xfrm>
              <a:off x="2544" y="1108"/>
              <a:ext cx="0" cy="184"/>
            </a:xfrm>
            <a:prstGeom prst="line">
              <a:avLst/>
            </a:prstGeom>
            <a:ln w="12700" cap="flat" cmpd="sng">
              <a:solidFill>
                <a:schemeClr val="tx1"/>
              </a:solidFill>
              <a:prstDash val="solid"/>
              <a:headEnd type="none" w="med" len="med"/>
              <a:tailEnd type="none" w="med" len="med"/>
            </a:ln>
          </p:spPr>
        </p:sp>
        <p:sp>
          <p:nvSpPr>
            <p:cNvPr id="5131" name="Line 9"/>
            <p:cNvSpPr/>
            <p:nvPr/>
          </p:nvSpPr>
          <p:spPr>
            <a:xfrm>
              <a:off x="2548" y="1296"/>
              <a:ext cx="40" cy="0"/>
            </a:xfrm>
            <a:prstGeom prst="line">
              <a:avLst/>
            </a:prstGeom>
            <a:ln w="12700" cap="flat" cmpd="sng">
              <a:solidFill>
                <a:schemeClr val="tx1"/>
              </a:solidFill>
              <a:prstDash val="solid"/>
              <a:headEnd type="none" w="med" len="med"/>
              <a:tailEnd type="none" w="med" len="med"/>
            </a:ln>
          </p:spPr>
        </p:sp>
        <p:sp>
          <p:nvSpPr>
            <p:cNvPr id="5132" name="Line 10"/>
            <p:cNvSpPr/>
            <p:nvPr/>
          </p:nvSpPr>
          <p:spPr>
            <a:xfrm flipH="1">
              <a:off x="2300" y="1108"/>
              <a:ext cx="104" cy="232"/>
            </a:xfrm>
            <a:prstGeom prst="line">
              <a:avLst/>
            </a:prstGeom>
            <a:ln w="12700" cap="flat" cmpd="sng">
              <a:solidFill>
                <a:schemeClr val="tx1"/>
              </a:solidFill>
              <a:prstDash val="solid"/>
              <a:headEnd type="none" w="med" len="med"/>
              <a:tailEnd type="none" w="med" len="med"/>
            </a:ln>
          </p:spPr>
        </p:sp>
        <p:sp>
          <p:nvSpPr>
            <p:cNvPr id="5133" name="Line 11"/>
            <p:cNvSpPr/>
            <p:nvPr/>
          </p:nvSpPr>
          <p:spPr>
            <a:xfrm flipH="1">
              <a:off x="2156" y="1348"/>
              <a:ext cx="152" cy="88"/>
            </a:xfrm>
            <a:prstGeom prst="line">
              <a:avLst/>
            </a:prstGeom>
            <a:ln w="12700" cap="flat" cmpd="sng">
              <a:solidFill>
                <a:schemeClr val="tx1"/>
              </a:solidFill>
              <a:prstDash val="solid"/>
              <a:headEnd type="none" w="med" len="med"/>
              <a:tailEnd type="none" w="med" len="med"/>
            </a:ln>
          </p:spPr>
        </p:sp>
        <p:sp>
          <p:nvSpPr>
            <p:cNvPr id="5134" name="Line 12"/>
            <p:cNvSpPr/>
            <p:nvPr/>
          </p:nvSpPr>
          <p:spPr>
            <a:xfrm>
              <a:off x="2452" y="868"/>
              <a:ext cx="136" cy="88"/>
            </a:xfrm>
            <a:prstGeom prst="line">
              <a:avLst/>
            </a:prstGeom>
            <a:ln w="12700" cap="flat" cmpd="sng">
              <a:solidFill>
                <a:schemeClr val="tx1"/>
              </a:solidFill>
              <a:prstDash val="solid"/>
              <a:headEnd type="none" w="med" len="med"/>
              <a:tailEnd type="none" w="med" len="med"/>
            </a:ln>
          </p:spPr>
        </p:sp>
        <p:sp>
          <p:nvSpPr>
            <p:cNvPr id="5135" name="Line 13"/>
            <p:cNvSpPr/>
            <p:nvPr/>
          </p:nvSpPr>
          <p:spPr>
            <a:xfrm flipV="1">
              <a:off x="2596" y="860"/>
              <a:ext cx="88" cy="104"/>
            </a:xfrm>
            <a:prstGeom prst="line">
              <a:avLst/>
            </a:prstGeom>
            <a:ln w="12700" cap="flat" cmpd="sng">
              <a:solidFill>
                <a:schemeClr val="tx1"/>
              </a:solidFill>
              <a:prstDash val="solid"/>
              <a:headEnd type="none" w="med" len="med"/>
              <a:tailEnd type="none" w="med" len="med"/>
            </a:ln>
          </p:spPr>
        </p:sp>
        <p:sp>
          <p:nvSpPr>
            <p:cNvPr id="5136" name="Line 14"/>
            <p:cNvSpPr/>
            <p:nvPr/>
          </p:nvSpPr>
          <p:spPr>
            <a:xfrm>
              <a:off x="2404" y="816"/>
              <a:ext cx="136" cy="0"/>
            </a:xfrm>
            <a:prstGeom prst="line">
              <a:avLst/>
            </a:prstGeom>
            <a:ln w="12700" cap="flat" cmpd="sng">
              <a:solidFill>
                <a:schemeClr val="tx1"/>
              </a:solidFill>
              <a:prstDash val="solid"/>
              <a:headEnd type="none" w="med" len="med"/>
              <a:tailEnd type="none" w="med" len="med"/>
            </a:ln>
          </p:spPr>
        </p:sp>
        <p:sp>
          <p:nvSpPr>
            <p:cNvPr id="5137" name="Line 15"/>
            <p:cNvSpPr/>
            <p:nvPr/>
          </p:nvSpPr>
          <p:spPr>
            <a:xfrm flipV="1">
              <a:off x="2548" y="716"/>
              <a:ext cx="88" cy="104"/>
            </a:xfrm>
            <a:prstGeom prst="line">
              <a:avLst/>
            </a:prstGeom>
            <a:ln w="12700" cap="flat" cmpd="sng">
              <a:solidFill>
                <a:schemeClr val="tx1"/>
              </a:solidFill>
              <a:prstDash val="solid"/>
              <a:headEnd type="none" w="med" len="med"/>
              <a:tailEnd type="none" w="med" len="med"/>
            </a:ln>
          </p:spPr>
        </p:sp>
        <p:sp>
          <p:nvSpPr>
            <p:cNvPr id="5138" name="Oval 16"/>
            <p:cNvSpPr/>
            <p:nvPr/>
          </p:nvSpPr>
          <p:spPr>
            <a:xfrm>
              <a:off x="3172" y="580"/>
              <a:ext cx="232" cy="184"/>
            </a:xfrm>
            <a:prstGeom prst="ellipse">
              <a:avLst/>
            </a:prstGeom>
            <a:noFill/>
            <a:ln w="12700"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39" name="Line 17"/>
            <p:cNvSpPr/>
            <p:nvPr/>
          </p:nvSpPr>
          <p:spPr>
            <a:xfrm>
              <a:off x="3316" y="772"/>
              <a:ext cx="40" cy="424"/>
            </a:xfrm>
            <a:prstGeom prst="line">
              <a:avLst/>
            </a:prstGeom>
            <a:ln w="12700" cap="flat" cmpd="sng">
              <a:solidFill>
                <a:schemeClr val="tx1"/>
              </a:solidFill>
              <a:prstDash val="solid"/>
              <a:headEnd type="none" w="med" len="med"/>
              <a:tailEnd type="none" w="med" len="med"/>
            </a:ln>
          </p:spPr>
        </p:sp>
        <p:sp>
          <p:nvSpPr>
            <p:cNvPr id="5140" name="Line 18"/>
            <p:cNvSpPr/>
            <p:nvPr/>
          </p:nvSpPr>
          <p:spPr>
            <a:xfrm flipH="1">
              <a:off x="3164" y="1156"/>
              <a:ext cx="200" cy="136"/>
            </a:xfrm>
            <a:prstGeom prst="line">
              <a:avLst/>
            </a:prstGeom>
            <a:ln w="12700" cap="flat" cmpd="sng">
              <a:solidFill>
                <a:schemeClr val="tx1"/>
              </a:solidFill>
              <a:prstDash val="solid"/>
              <a:headEnd type="none" w="med" len="med"/>
              <a:tailEnd type="none" w="med" len="med"/>
            </a:ln>
          </p:spPr>
        </p:sp>
        <p:sp>
          <p:nvSpPr>
            <p:cNvPr id="5141" name="Line 19"/>
            <p:cNvSpPr/>
            <p:nvPr/>
          </p:nvSpPr>
          <p:spPr>
            <a:xfrm>
              <a:off x="3172" y="1300"/>
              <a:ext cx="88" cy="184"/>
            </a:xfrm>
            <a:prstGeom prst="line">
              <a:avLst/>
            </a:prstGeom>
            <a:ln w="12700" cap="flat" cmpd="sng">
              <a:solidFill>
                <a:schemeClr val="tx1"/>
              </a:solidFill>
              <a:prstDash val="solid"/>
              <a:headEnd type="none" w="med" len="med"/>
              <a:tailEnd type="none" w="med" len="med"/>
            </a:ln>
          </p:spPr>
        </p:sp>
        <p:sp>
          <p:nvSpPr>
            <p:cNvPr id="5142" name="Line 20"/>
            <p:cNvSpPr/>
            <p:nvPr/>
          </p:nvSpPr>
          <p:spPr>
            <a:xfrm>
              <a:off x="3364" y="1156"/>
              <a:ext cx="184" cy="136"/>
            </a:xfrm>
            <a:prstGeom prst="line">
              <a:avLst/>
            </a:prstGeom>
            <a:ln w="12700" cap="flat" cmpd="sng">
              <a:solidFill>
                <a:schemeClr val="tx1"/>
              </a:solidFill>
              <a:prstDash val="solid"/>
              <a:headEnd type="none" w="med" len="med"/>
              <a:tailEnd type="none" w="med" len="med"/>
            </a:ln>
          </p:spPr>
        </p:sp>
        <p:sp>
          <p:nvSpPr>
            <p:cNvPr id="5143" name="Line 21"/>
            <p:cNvSpPr/>
            <p:nvPr/>
          </p:nvSpPr>
          <p:spPr>
            <a:xfrm flipV="1">
              <a:off x="3556" y="1196"/>
              <a:ext cx="136" cy="104"/>
            </a:xfrm>
            <a:prstGeom prst="line">
              <a:avLst/>
            </a:prstGeom>
            <a:ln w="12700" cap="flat" cmpd="sng">
              <a:solidFill>
                <a:schemeClr val="tx1"/>
              </a:solidFill>
              <a:prstDash val="solid"/>
              <a:headEnd type="none" w="med" len="med"/>
              <a:tailEnd type="none" w="med" len="med"/>
            </a:ln>
          </p:spPr>
        </p:sp>
        <p:sp>
          <p:nvSpPr>
            <p:cNvPr id="5144" name="Line 22"/>
            <p:cNvSpPr/>
            <p:nvPr/>
          </p:nvSpPr>
          <p:spPr>
            <a:xfrm>
              <a:off x="3700" y="1204"/>
              <a:ext cx="40" cy="40"/>
            </a:xfrm>
            <a:prstGeom prst="line">
              <a:avLst/>
            </a:prstGeom>
            <a:ln w="12700" cap="flat" cmpd="sng">
              <a:solidFill>
                <a:schemeClr val="tx1"/>
              </a:solidFill>
              <a:prstDash val="solid"/>
              <a:headEnd type="none" w="med" len="med"/>
              <a:tailEnd type="none" w="med" len="med"/>
            </a:ln>
          </p:spPr>
        </p:sp>
        <p:sp>
          <p:nvSpPr>
            <p:cNvPr id="5145" name="Line 23"/>
            <p:cNvSpPr/>
            <p:nvPr/>
          </p:nvSpPr>
          <p:spPr>
            <a:xfrm flipH="1">
              <a:off x="3212" y="916"/>
              <a:ext cx="104" cy="136"/>
            </a:xfrm>
            <a:prstGeom prst="line">
              <a:avLst/>
            </a:prstGeom>
            <a:ln w="12700" cap="flat" cmpd="sng">
              <a:solidFill>
                <a:schemeClr val="tx1"/>
              </a:solidFill>
              <a:prstDash val="solid"/>
              <a:headEnd type="none" w="med" len="med"/>
              <a:tailEnd type="none" w="med" len="med"/>
            </a:ln>
          </p:spPr>
        </p:sp>
        <p:sp>
          <p:nvSpPr>
            <p:cNvPr id="5146" name="Line 24"/>
            <p:cNvSpPr/>
            <p:nvPr/>
          </p:nvSpPr>
          <p:spPr>
            <a:xfrm flipH="1" flipV="1">
              <a:off x="3068" y="1004"/>
              <a:ext cx="152" cy="56"/>
            </a:xfrm>
            <a:prstGeom prst="line">
              <a:avLst/>
            </a:prstGeom>
            <a:ln w="12700" cap="flat" cmpd="sng">
              <a:solidFill>
                <a:schemeClr val="tx1"/>
              </a:solidFill>
              <a:prstDash val="solid"/>
              <a:headEnd type="none" w="med" len="med"/>
              <a:tailEnd type="none" w="med" len="med"/>
            </a:ln>
          </p:spPr>
        </p:sp>
        <p:sp>
          <p:nvSpPr>
            <p:cNvPr id="5147" name="Line 25"/>
            <p:cNvSpPr/>
            <p:nvPr/>
          </p:nvSpPr>
          <p:spPr>
            <a:xfrm flipH="1">
              <a:off x="3116" y="864"/>
              <a:ext cx="200" cy="0"/>
            </a:xfrm>
            <a:prstGeom prst="line">
              <a:avLst/>
            </a:prstGeom>
            <a:ln w="12700" cap="flat" cmpd="sng">
              <a:solidFill>
                <a:schemeClr val="tx1"/>
              </a:solidFill>
              <a:prstDash val="solid"/>
              <a:headEnd type="none" w="med" len="med"/>
              <a:tailEnd type="none" w="med" len="med"/>
            </a:ln>
          </p:spPr>
        </p:sp>
        <p:sp>
          <p:nvSpPr>
            <p:cNvPr id="5148" name="Line 26"/>
            <p:cNvSpPr/>
            <p:nvPr/>
          </p:nvSpPr>
          <p:spPr>
            <a:xfrm flipH="1" flipV="1">
              <a:off x="2972" y="764"/>
              <a:ext cx="152" cy="104"/>
            </a:xfrm>
            <a:prstGeom prst="line">
              <a:avLst/>
            </a:prstGeom>
            <a:ln w="12700" cap="flat" cmpd="sng">
              <a:solidFill>
                <a:schemeClr val="tx1"/>
              </a:solidFill>
              <a:prstDash val="solid"/>
              <a:headEnd type="none" w="med" len="med"/>
              <a:tailEnd type="none" w="med" len="med"/>
            </a:ln>
          </p:spPr>
        </p:sp>
        <p:sp>
          <p:nvSpPr>
            <p:cNvPr id="5149" name="Line 27"/>
            <p:cNvSpPr/>
            <p:nvPr/>
          </p:nvSpPr>
          <p:spPr>
            <a:xfrm flipV="1">
              <a:off x="3220" y="668"/>
              <a:ext cx="40" cy="56"/>
            </a:xfrm>
            <a:prstGeom prst="line">
              <a:avLst/>
            </a:prstGeom>
            <a:ln w="12700" cap="flat" cmpd="sng">
              <a:solidFill>
                <a:schemeClr val="tx1"/>
              </a:solidFill>
              <a:prstDash val="solid"/>
              <a:headEnd type="none" w="med" len="med"/>
              <a:tailEnd type="none" w="med" len="med"/>
            </a:ln>
          </p:spPr>
        </p:sp>
        <p:sp>
          <p:nvSpPr>
            <p:cNvPr id="5150" name="Line 28"/>
            <p:cNvSpPr/>
            <p:nvPr/>
          </p:nvSpPr>
          <p:spPr>
            <a:xfrm flipH="1" flipV="1">
              <a:off x="2396" y="620"/>
              <a:ext cx="104" cy="104"/>
            </a:xfrm>
            <a:prstGeom prst="line">
              <a:avLst/>
            </a:prstGeom>
            <a:ln w="12700" cap="flat" cmpd="sng">
              <a:solidFill>
                <a:schemeClr val="tx1"/>
              </a:solidFill>
              <a:prstDash val="solid"/>
              <a:headEnd type="none" w="med" len="med"/>
              <a:tailEnd type="none" w="med" len="med"/>
            </a:ln>
          </p:spPr>
        </p:sp>
        <p:sp>
          <p:nvSpPr>
            <p:cNvPr id="5151" name="Oval 29"/>
            <p:cNvSpPr/>
            <p:nvPr/>
          </p:nvSpPr>
          <p:spPr>
            <a:xfrm>
              <a:off x="2608" y="1744"/>
              <a:ext cx="400" cy="304"/>
            </a:xfrm>
            <a:prstGeom prst="ellipse">
              <a:avLst/>
            </a:prstGeom>
            <a:noFill/>
            <a:ln w="50800"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52" name="Line 30"/>
            <p:cNvSpPr/>
            <p:nvPr/>
          </p:nvSpPr>
          <p:spPr>
            <a:xfrm flipV="1">
              <a:off x="2752" y="1904"/>
              <a:ext cx="16" cy="80"/>
            </a:xfrm>
            <a:prstGeom prst="line">
              <a:avLst/>
            </a:prstGeom>
            <a:ln w="50800" cap="flat" cmpd="sng">
              <a:solidFill>
                <a:schemeClr val="tx1"/>
              </a:solidFill>
              <a:prstDash val="solid"/>
              <a:headEnd type="none" w="med" len="med"/>
              <a:tailEnd type="none" w="med" len="med"/>
            </a:ln>
          </p:spPr>
        </p:sp>
        <p:sp>
          <p:nvSpPr>
            <p:cNvPr id="5153" name="Line 31"/>
            <p:cNvSpPr/>
            <p:nvPr/>
          </p:nvSpPr>
          <p:spPr>
            <a:xfrm>
              <a:off x="2800" y="1920"/>
              <a:ext cx="16" cy="0"/>
            </a:xfrm>
            <a:prstGeom prst="line">
              <a:avLst/>
            </a:prstGeom>
            <a:ln w="50800" cap="flat" cmpd="sng">
              <a:solidFill>
                <a:schemeClr val="tx1"/>
              </a:solidFill>
              <a:prstDash val="solid"/>
              <a:headEnd type="none" w="med" len="med"/>
              <a:tailEnd type="none" w="med" len="med"/>
            </a:ln>
          </p:spPr>
        </p:sp>
        <p:sp>
          <p:nvSpPr>
            <p:cNvPr id="5154" name="Line 32"/>
            <p:cNvSpPr/>
            <p:nvPr/>
          </p:nvSpPr>
          <p:spPr>
            <a:xfrm>
              <a:off x="2848" y="1936"/>
              <a:ext cx="16" cy="16"/>
            </a:xfrm>
            <a:prstGeom prst="line">
              <a:avLst/>
            </a:prstGeom>
            <a:ln w="50800" cap="flat" cmpd="sng">
              <a:solidFill>
                <a:schemeClr val="tx1"/>
              </a:solidFill>
              <a:prstDash val="solid"/>
              <a:headEnd type="none" w="med" len="med"/>
              <a:tailEnd type="none" w="med" len="med"/>
            </a:ln>
          </p:spPr>
        </p:sp>
        <p:sp>
          <p:nvSpPr>
            <p:cNvPr id="5155" name="Line 33"/>
            <p:cNvSpPr/>
            <p:nvPr/>
          </p:nvSpPr>
          <p:spPr>
            <a:xfrm>
              <a:off x="2848" y="1824"/>
              <a:ext cx="64" cy="0"/>
            </a:xfrm>
            <a:prstGeom prst="line">
              <a:avLst/>
            </a:prstGeom>
            <a:ln w="50800" cap="flat" cmpd="sng">
              <a:solidFill>
                <a:schemeClr val="tx1"/>
              </a:solidFill>
              <a:prstDash val="solid"/>
              <a:headEnd type="none" w="med" len="med"/>
              <a:tailEnd type="none" w="med" len="med"/>
            </a:ln>
          </p:spPr>
        </p:sp>
        <p:sp>
          <p:nvSpPr>
            <p:cNvPr id="5156" name="Line 34"/>
            <p:cNvSpPr/>
            <p:nvPr/>
          </p:nvSpPr>
          <p:spPr>
            <a:xfrm flipH="1">
              <a:off x="2672" y="1824"/>
              <a:ext cx="80" cy="0"/>
            </a:xfrm>
            <a:prstGeom prst="line">
              <a:avLst/>
            </a:prstGeom>
            <a:ln w="50800" cap="flat" cmpd="sng">
              <a:solidFill>
                <a:schemeClr val="tx1"/>
              </a:solidFill>
              <a:prstDash val="solid"/>
              <a:headEnd type="none" w="med" len="med"/>
              <a:tailEnd type="none" w="med" len="med"/>
            </a:ln>
          </p:spPr>
        </p:sp>
        <p:sp>
          <p:nvSpPr>
            <p:cNvPr id="5157" name="Line 35"/>
            <p:cNvSpPr/>
            <p:nvPr/>
          </p:nvSpPr>
          <p:spPr>
            <a:xfrm flipV="1">
              <a:off x="2400" y="2720"/>
              <a:ext cx="0" cy="80"/>
            </a:xfrm>
            <a:prstGeom prst="line">
              <a:avLst/>
            </a:prstGeom>
            <a:ln w="50800" cap="flat" cmpd="sng">
              <a:solidFill>
                <a:schemeClr val="tx1"/>
              </a:solidFill>
              <a:prstDash val="solid"/>
              <a:headEnd type="none" w="med" len="med"/>
              <a:tailEnd type="none" w="med" len="med"/>
            </a:ln>
          </p:spPr>
        </p:sp>
        <p:sp>
          <p:nvSpPr>
            <p:cNvPr id="5158" name="Line 36"/>
            <p:cNvSpPr/>
            <p:nvPr/>
          </p:nvSpPr>
          <p:spPr>
            <a:xfrm>
              <a:off x="2832" y="2080"/>
              <a:ext cx="0" cy="352"/>
            </a:xfrm>
            <a:prstGeom prst="line">
              <a:avLst/>
            </a:prstGeom>
            <a:ln w="50800" cap="flat" cmpd="sng">
              <a:solidFill>
                <a:schemeClr val="tx1"/>
              </a:solidFill>
              <a:prstDash val="solid"/>
              <a:headEnd type="none" w="med" len="med"/>
              <a:tailEnd type="none" w="med" len="med"/>
            </a:ln>
          </p:spPr>
        </p:sp>
        <p:sp>
          <p:nvSpPr>
            <p:cNvPr id="5159" name="Line 37"/>
            <p:cNvSpPr/>
            <p:nvPr/>
          </p:nvSpPr>
          <p:spPr>
            <a:xfrm>
              <a:off x="2848" y="2448"/>
              <a:ext cx="208" cy="0"/>
            </a:xfrm>
            <a:prstGeom prst="line">
              <a:avLst/>
            </a:prstGeom>
            <a:ln w="50800" cap="flat" cmpd="sng">
              <a:solidFill>
                <a:schemeClr val="tx1"/>
              </a:solidFill>
              <a:prstDash val="solid"/>
              <a:headEnd type="none" w="med" len="med"/>
              <a:tailEnd type="none" w="med" len="med"/>
            </a:ln>
          </p:spPr>
        </p:sp>
        <p:sp>
          <p:nvSpPr>
            <p:cNvPr id="5160" name="Line 38"/>
            <p:cNvSpPr/>
            <p:nvPr/>
          </p:nvSpPr>
          <p:spPr>
            <a:xfrm>
              <a:off x="3088" y="2464"/>
              <a:ext cx="64" cy="256"/>
            </a:xfrm>
            <a:prstGeom prst="line">
              <a:avLst/>
            </a:prstGeom>
            <a:ln w="50800" cap="flat" cmpd="sng">
              <a:solidFill>
                <a:schemeClr val="tx1"/>
              </a:solidFill>
              <a:prstDash val="solid"/>
              <a:headEnd type="none" w="med" len="med"/>
              <a:tailEnd type="none" w="med" len="med"/>
            </a:ln>
          </p:spPr>
        </p:sp>
        <p:sp>
          <p:nvSpPr>
            <p:cNvPr id="5161" name="Line 39"/>
            <p:cNvSpPr/>
            <p:nvPr/>
          </p:nvSpPr>
          <p:spPr>
            <a:xfrm flipV="1">
              <a:off x="3184" y="2672"/>
              <a:ext cx="16" cy="80"/>
            </a:xfrm>
            <a:prstGeom prst="line">
              <a:avLst/>
            </a:prstGeom>
            <a:ln w="50800" cap="flat" cmpd="sng">
              <a:solidFill>
                <a:schemeClr val="tx1"/>
              </a:solidFill>
              <a:prstDash val="solid"/>
              <a:headEnd type="none" w="med" len="med"/>
              <a:tailEnd type="none" w="med" len="med"/>
            </a:ln>
          </p:spPr>
        </p:sp>
        <p:sp>
          <p:nvSpPr>
            <p:cNvPr id="5162" name="Line 40"/>
            <p:cNvSpPr/>
            <p:nvPr/>
          </p:nvSpPr>
          <p:spPr>
            <a:xfrm flipH="1">
              <a:off x="2576" y="2464"/>
              <a:ext cx="272" cy="16"/>
            </a:xfrm>
            <a:prstGeom prst="line">
              <a:avLst/>
            </a:prstGeom>
            <a:ln w="50800" cap="flat" cmpd="sng">
              <a:solidFill>
                <a:schemeClr val="tx1"/>
              </a:solidFill>
              <a:prstDash val="solid"/>
              <a:headEnd type="none" w="med" len="med"/>
              <a:tailEnd type="none" w="med" len="med"/>
            </a:ln>
          </p:spPr>
        </p:sp>
        <p:sp>
          <p:nvSpPr>
            <p:cNvPr id="5163" name="Line 41"/>
            <p:cNvSpPr/>
            <p:nvPr/>
          </p:nvSpPr>
          <p:spPr>
            <a:xfrm flipH="1">
              <a:off x="2480" y="2512"/>
              <a:ext cx="128" cy="256"/>
            </a:xfrm>
            <a:prstGeom prst="line">
              <a:avLst/>
            </a:prstGeom>
            <a:ln w="50800" cap="flat" cmpd="sng">
              <a:solidFill>
                <a:schemeClr val="tx1"/>
              </a:solidFill>
              <a:prstDash val="solid"/>
              <a:headEnd type="none" w="med" len="med"/>
              <a:tailEnd type="none" w="med" len="med"/>
            </a:ln>
          </p:spPr>
        </p:sp>
        <p:sp>
          <p:nvSpPr>
            <p:cNvPr id="5164" name="Line 42"/>
            <p:cNvSpPr/>
            <p:nvPr/>
          </p:nvSpPr>
          <p:spPr>
            <a:xfrm flipH="1">
              <a:off x="2384" y="2784"/>
              <a:ext cx="128" cy="0"/>
            </a:xfrm>
            <a:prstGeom prst="line">
              <a:avLst/>
            </a:prstGeom>
            <a:ln w="50800" cap="flat" cmpd="sng">
              <a:solidFill>
                <a:schemeClr val="tx1"/>
              </a:solidFill>
              <a:prstDash val="solid"/>
              <a:headEnd type="none" w="med" len="med"/>
              <a:tailEnd type="none" w="med" len="med"/>
            </a:ln>
          </p:spPr>
        </p:sp>
        <p:sp>
          <p:nvSpPr>
            <p:cNvPr id="5165" name="Line 43"/>
            <p:cNvSpPr/>
            <p:nvPr/>
          </p:nvSpPr>
          <p:spPr>
            <a:xfrm>
              <a:off x="2848" y="2080"/>
              <a:ext cx="304" cy="16"/>
            </a:xfrm>
            <a:prstGeom prst="line">
              <a:avLst/>
            </a:prstGeom>
            <a:ln w="50800" cap="flat" cmpd="sng">
              <a:solidFill>
                <a:schemeClr val="tx1"/>
              </a:solidFill>
              <a:prstDash val="solid"/>
              <a:headEnd type="none" w="med" len="med"/>
              <a:tailEnd type="none" w="med" len="med"/>
            </a:ln>
          </p:spPr>
        </p:sp>
        <p:sp>
          <p:nvSpPr>
            <p:cNvPr id="5166" name="Line 44"/>
            <p:cNvSpPr/>
            <p:nvPr/>
          </p:nvSpPr>
          <p:spPr>
            <a:xfrm flipV="1">
              <a:off x="3184" y="1664"/>
              <a:ext cx="208" cy="464"/>
            </a:xfrm>
            <a:prstGeom prst="line">
              <a:avLst/>
            </a:prstGeom>
            <a:ln w="50800" cap="flat" cmpd="sng">
              <a:solidFill>
                <a:schemeClr val="tx1"/>
              </a:solidFill>
              <a:prstDash val="solid"/>
              <a:headEnd type="none" w="med" len="med"/>
              <a:tailEnd type="none" w="med" len="med"/>
            </a:ln>
          </p:spPr>
        </p:sp>
        <p:sp>
          <p:nvSpPr>
            <p:cNvPr id="5167" name="Line 45"/>
            <p:cNvSpPr/>
            <p:nvPr/>
          </p:nvSpPr>
          <p:spPr>
            <a:xfrm>
              <a:off x="3424" y="1680"/>
              <a:ext cx="112" cy="0"/>
            </a:xfrm>
            <a:prstGeom prst="line">
              <a:avLst/>
            </a:prstGeom>
            <a:ln w="50800" cap="flat" cmpd="sng">
              <a:solidFill>
                <a:schemeClr val="tx1"/>
              </a:solidFill>
              <a:prstDash val="solid"/>
              <a:headEnd type="none" w="med" len="med"/>
              <a:tailEnd type="none" w="med" len="med"/>
            </a:ln>
          </p:spPr>
        </p:sp>
        <p:sp>
          <p:nvSpPr>
            <p:cNvPr id="5168" name="Line 46"/>
            <p:cNvSpPr/>
            <p:nvPr/>
          </p:nvSpPr>
          <p:spPr>
            <a:xfrm flipH="1">
              <a:off x="2528" y="2128"/>
              <a:ext cx="320" cy="16"/>
            </a:xfrm>
            <a:prstGeom prst="line">
              <a:avLst/>
            </a:prstGeom>
            <a:ln w="50800" cap="flat" cmpd="sng">
              <a:solidFill>
                <a:schemeClr val="tx1"/>
              </a:solidFill>
              <a:prstDash val="solid"/>
              <a:headEnd type="none" w="med" len="med"/>
              <a:tailEnd type="none" w="med" len="med"/>
            </a:ln>
          </p:spPr>
        </p:sp>
        <p:sp>
          <p:nvSpPr>
            <p:cNvPr id="5169" name="Line 47"/>
            <p:cNvSpPr/>
            <p:nvPr/>
          </p:nvSpPr>
          <p:spPr>
            <a:xfrm flipH="1" flipV="1">
              <a:off x="2192" y="1664"/>
              <a:ext cx="368" cy="512"/>
            </a:xfrm>
            <a:prstGeom prst="line">
              <a:avLst/>
            </a:prstGeom>
            <a:ln w="50800" cap="flat" cmpd="sng">
              <a:solidFill>
                <a:schemeClr val="tx1"/>
              </a:solidFill>
              <a:prstDash val="solid"/>
              <a:headEnd type="none" w="med" len="med"/>
              <a:tailEnd type="none" w="med" len="med"/>
            </a:ln>
          </p:spPr>
        </p:sp>
        <p:sp>
          <p:nvSpPr>
            <p:cNvPr id="5170" name="Line 48"/>
            <p:cNvSpPr/>
            <p:nvPr/>
          </p:nvSpPr>
          <p:spPr>
            <a:xfrm flipH="1">
              <a:off x="2048" y="1680"/>
              <a:ext cx="176" cy="0"/>
            </a:xfrm>
            <a:prstGeom prst="line">
              <a:avLst/>
            </a:prstGeom>
            <a:ln w="50800" cap="flat" cmpd="sng">
              <a:solidFill>
                <a:schemeClr val="tx1"/>
              </a:solidFill>
              <a:prstDash val="solid"/>
              <a:headEnd type="none" w="med" len="med"/>
              <a:tailEnd type="none" w="med" len="med"/>
            </a:ln>
          </p:spPr>
        </p:sp>
        <p:sp useBgFill="1">
          <p:nvSpPr>
            <p:cNvPr id="5171" name="Rectangle 49"/>
            <p:cNvSpPr/>
            <p:nvPr/>
          </p:nvSpPr>
          <p:spPr>
            <a:xfrm>
              <a:off x="2264" y="1448"/>
              <a:ext cx="1252" cy="321"/>
            </a:xfrm>
            <a:prstGeom prst="rect">
              <a:avLst/>
            </a:prstGeom>
            <a:ln w="12700">
              <a:noFill/>
            </a:ln>
          </p:spPr>
          <p:txBody>
            <a:bodyPr lIns="63500" tIns="25400" rIns="63500" bIns="25400">
              <a:spAutoFit/>
            </a:bodyPr>
            <a:lstStyle/>
            <a:p>
              <a:pPr>
                <a:lnSpc>
                  <a:spcPct val="92000"/>
                </a:lnSpc>
              </a:pPr>
              <a:r>
                <a:rPr lang="en-US" altLang="zh-CN" sz="1800" dirty="0">
                  <a:solidFill>
                    <a:schemeClr val="tx1"/>
                  </a:solidFill>
                  <a:latin typeface="Arial" panose="020B0604020202020204" pitchFamily="34" charset="0"/>
                </a:rPr>
                <a:t>instruction set</a:t>
              </a:r>
              <a:endParaRPr lang="en-US" altLang="zh-CN" sz="1800" dirty="0">
                <a:solidFill>
                  <a:schemeClr val="tx1"/>
                </a:solidFill>
                <a:latin typeface="Arial" panose="020B0604020202020204" pitchFamily="34" charset="0"/>
              </a:endParaRPr>
            </a:p>
          </p:txBody>
        </p:sp>
        <p:sp>
          <p:nvSpPr>
            <p:cNvPr id="5172" name="Rectangle 50"/>
            <p:cNvSpPr/>
            <p:nvPr/>
          </p:nvSpPr>
          <p:spPr>
            <a:xfrm>
              <a:off x="488" y="878"/>
              <a:ext cx="740" cy="301"/>
            </a:xfrm>
            <a:prstGeom prst="rect">
              <a:avLst/>
            </a:prstGeom>
            <a:noFill/>
            <a:ln w="12700">
              <a:noFill/>
            </a:ln>
          </p:spPr>
          <p:txBody>
            <a:bodyPr wrap="none" lIns="63500" tIns="25400" rIns="63500" bIns="25400">
              <a:spAutoFit/>
            </a:bodyPr>
            <a:lstStyle/>
            <a:p>
              <a:pPr>
                <a:lnSpc>
                  <a:spcPct val="85000"/>
                </a:lnSpc>
              </a:pPr>
              <a:r>
                <a:rPr lang="en-US" altLang="zh-CN" sz="1800" dirty="0">
                  <a:solidFill>
                    <a:schemeClr val="tx1"/>
                  </a:solidFill>
                  <a:latin typeface="Arial" panose="020B0604020202020204" pitchFamily="34" charset="0"/>
                </a:rPr>
                <a:t>software</a:t>
              </a:r>
              <a:endParaRPr lang="en-US" altLang="zh-CN" sz="1800" dirty="0">
                <a:solidFill>
                  <a:schemeClr val="tx1"/>
                </a:solidFill>
                <a:latin typeface="Arial" panose="020B0604020202020204" pitchFamily="34" charset="0"/>
              </a:endParaRPr>
            </a:p>
          </p:txBody>
        </p:sp>
        <p:sp>
          <p:nvSpPr>
            <p:cNvPr id="5173" name="Rectangle 51"/>
            <p:cNvSpPr/>
            <p:nvPr/>
          </p:nvSpPr>
          <p:spPr>
            <a:xfrm>
              <a:off x="488" y="2080"/>
              <a:ext cx="793" cy="301"/>
            </a:xfrm>
            <a:prstGeom prst="rect">
              <a:avLst/>
            </a:prstGeom>
            <a:noFill/>
            <a:ln w="12700">
              <a:noFill/>
            </a:ln>
          </p:spPr>
          <p:txBody>
            <a:bodyPr wrap="none" lIns="63500" tIns="25400" rIns="63500" bIns="25400">
              <a:spAutoFit/>
            </a:bodyPr>
            <a:lstStyle/>
            <a:p>
              <a:pPr>
                <a:lnSpc>
                  <a:spcPct val="85000"/>
                </a:lnSpc>
              </a:pPr>
              <a:r>
                <a:rPr lang="en-US" altLang="zh-CN" sz="1800" dirty="0">
                  <a:solidFill>
                    <a:schemeClr val="tx1"/>
                  </a:solidFill>
                  <a:latin typeface="Arial" panose="020B0604020202020204" pitchFamily="34" charset="0"/>
                </a:rPr>
                <a:t>hardware</a:t>
              </a:r>
              <a:endParaRPr lang="en-US" altLang="zh-CN" sz="1800" dirty="0">
                <a:solidFill>
                  <a:schemeClr val="tx1"/>
                </a:solidFill>
                <a:latin typeface="Arial" panose="020B0604020202020204" pitchFamily="34" charset="0"/>
              </a:endParaRPr>
            </a:p>
          </p:txBody>
        </p:sp>
      </p:grpSp>
      <p:sp>
        <p:nvSpPr>
          <p:cNvPr id="345140" name="Text Box 52"/>
          <p:cNvSpPr txBox="1"/>
          <p:nvPr/>
        </p:nvSpPr>
        <p:spPr>
          <a:xfrm>
            <a:off x="731838" y="4656138"/>
            <a:ext cx="7245350" cy="1857375"/>
          </a:xfrm>
          <a:prstGeom prst="rect">
            <a:avLst/>
          </a:prstGeom>
          <a:noFill/>
          <a:ln w="12700">
            <a:noFill/>
          </a:ln>
        </p:spPr>
        <p:txBody>
          <a:bodyPr wrap="none">
            <a:spAutoFit/>
          </a:bodyPr>
          <a:lstStyle/>
          <a:p>
            <a:pPr>
              <a:spcBef>
                <a:spcPct val="20000"/>
              </a:spcBef>
            </a:pPr>
            <a:r>
              <a:rPr lang="zh-CN" altLang="en-US" sz="2000" dirty="0">
                <a:latin typeface="Arial" panose="020B0604020202020204" pitchFamily="34" charset="0"/>
                <a:ea typeface="黑体" panose="02010609060101010101" pitchFamily="49" charset="-122"/>
              </a:rPr>
              <a:t>回顾：冯</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诺依曼结构机器对指令规定：</a:t>
            </a:r>
            <a:endParaRPr lang="zh-CN" altLang="en-US" sz="2000" dirty="0">
              <a:latin typeface="Arial" panose="020B0604020202020204" pitchFamily="34" charset="0"/>
              <a:ea typeface="黑体" panose="02010609060101010101" pitchFamily="49" charset="-122"/>
            </a:endParaRPr>
          </a:p>
          <a:p>
            <a:pPr>
              <a:spcBef>
                <a:spcPct val="20000"/>
              </a:spcBef>
              <a:buSzPct val="80000"/>
              <a:buFont typeface="Wingdings" panose="05000000000000000000" pitchFamily="2" charset="2"/>
              <a:buChar char="u"/>
            </a:pPr>
            <a:r>
              <a:rPr lang="zh-CN" altLang="en-US" sz="2000" dirty="0">
                <a:solidFill>
                  <a:schemeClr val="tx1"/>
                </a:solidFill>
                <a:latin typeface="Arial" panose="020B0604020202020204" pitchFamily="34" charset="0"/>
                <a:ea typeface="黑体" panose="02010609060101010101" pitchFamily="49" charset="-122"/>
              </a:rPr>
              <a:t> 用二进制表示，和数据一起存放在主存中</a:t>
            </a:r>
            <a:endParaRPr lang="zh-CN" altLang="en-US" sz="2000" dirty="0">
              <a:solidFill>
                <a:schemeClr val="tx1"/>
              </a:solidFill>
              <a:latin typeface="Arial" panose="020B0604020202020204" pitchFamily="34" charset="0"/>
              <a:ea typeface="黑体" panose="02010609060101010101" pitchFamily="49" charset="-122"/>
            </a:endParaRPr>
          </a:p>
          <a:p>
            <a:pPr>
              <a:spcBef>
                <a:spcPct val="20000"/>
              </a:spcBef>
              <a:buSzPct val="80000"/>
              <a:buFont typeface="Wingdings" panose="05000000000000000000" pitchFamily="2" charset="2"/>
              <a:buChar char="u"/>
            </a:pPr>
            <a:r>
              <a:rPr lang="zh-CN" altLang="en-US" sz="2000" dirty="0">
                <a:solidFill>
                  <a:schemeClr val="tx1"/>
                </a:solidFill>
                <a:latin typeface="Arial" panose="020B0604020202020204" pitchFamily="34" charset="0"/>
                <a:ea typeface="黑体" panose="02010609060101010101" pitchFamily="49" charset="-122"/>
              </a:rPr>
              <a:t>  由两部分组成：操作码和操作数（或其地址码）</a:t>
            </a:r>
            <a:endParaRPr lang="zh-CN" altLang="en-US" sz="2000" dirty="0">
              <a:solidFill>
                <a:schemeClr val="tx1"/>
              </a:solidFill>
              <a:latin typeface="Arial" panose="020B0604020202020204" pitchFamily="34" charset="0"/>
              <a:ea typeface="黑体" panose="02010609060101010101" pitchFamily="49" charset="-122"/>
            </a:endParaRPr>
          </a:p>
          <a:p>
            <a:pPr lvl="1">
              <a:spcBef>
                <a:spcPct val="20000"/>
              </a:spcBef>
              <a:buChar char="•"/>
            </a:pPr>
            <a:r>
              <a:rPr lang="en-US" altLang="zh-CN" sz="2000" dirty="0">
                <a:solidFill>
                  <a:schemeClr val="tx1"/>
                </a:solidFill>
                <a:latin typeface="Arial" panose="020B0604020202020204" pitchFamily="34" charset="0"/>
                <a:ea typeface="黑体" panose="02010609060101010101" pitchFamily="49" charset="-122"/>
              </a:rPr>
              <a:t> </a:t>
            </a:r>
            <a:r>
              <a:rPr lang="en-US" altLang="zh-CN" sz="2000" dirty="0">
                <a:solidFill>
                  <a:schemeClr val="accent1"/>
                </a:solidFill>
                <a:latin typeface="Arial" panose="020B0604020202020204" pitchFamily="34" charset="0"/>
                <a:ea typeface="黑体" panose="02010609060101010101" pitchFamily="49" charset="-122"/>
              </a:rPr>
              <a:t>Operation Code</a:t>
            </a:r>
            <a:r>
              <a:rPr lang="en-US" altLang="zh-CN" sz="2000" dirty="0">
                <a:solidFill>
                  <a:schemeClr val="tx1"/>
                </a:solidFill>
                <a:latin typeface="Arial" panose="020B0604020202020204" pitchFamily="34" charset="0"/>
                <a:ea typeface="黑体" panose="02010609060101010101" pitchFamily="49" charset="-122"/>
              </a:rPr>
              <a:t>:  defines the operation type</a:t>
            </a:r>
            <a:endParaRPr lang="en-US" altLang="zh-CN" sz="2000" dirty="0">
              <a:solidFill>
                <a:schemeClr val="tx1"/>
              </a:solidFill>
              <a:latin typeface="Arial" panose="020B0604020202020204" pitchFamily="34" charset="0"/>
              <a:ea typeface="黑体" panose="02010609060101010101" pitchFamily="49" charset="-122"/>
            </a:endParaRPr>
          </a:p>
          <a:p>
            <a:pPr lvl="1">
              <a:spcBef>
                <a:spcPct val="20000"/>
              </a:spcBef>
              <a:buChar char="•"/>
            </a:pPr>
            <a:r>
              <a:rPr lang="en-US" altLang="zh-CN" sz="2000" dirty="0">
                <a:solidFill>
                  <a:schemeClr val="tx1"/>
                </a:solidFill>
                <a:latin typeface="Arial" panose="020B0604020202020204" pitchFamily="34" charset="0"/>
                <a:ea typeface="黑体" panose="02010609060101010101" pitchFamily="49" charset="-122"/>
              </a:rPr>
              <a:t> </a:t>
            </a:r>
            <a:r>
              <a:rPr lang="en-US" altLang="zh-CN" sz="2000" dirty="0">
                <a:solidFill>
                  <a:schemeClr val="accent1"/>
                </a:solidFill>
                <a:latin typeface="Arial" panose="020B0604020202020204" pitchFamily="34" charset="0"/>
                <a:ea typeface="黑体" panose="02010609060101010101" pitchFamily="49" charset="-122"/>
              </a:rPr>
              <a:t>Operands</a:t>
            </a:r>
            <a:r>
              <a:rPr lang="en-US" altLang="zh-CN" sz="2000" dirty="0">
                <a:solidFill>
                  <a:schemeClr val="tx1"/>
                </a:solidFill>
                <a:latin typeface="Arial" panose="020B0604020202020204" pitchFamily="34" charset="0"/>
                <a:ea typeface="黑体" panose="02010609060101010101" pitchFamily="49" charset="-122"/>
              </a:rPr>
              <a:t>:  indicate operation source and destination</a:t>
            </a:r>
            <a:endParaRPr lang="en-US" altLang="zh-CN" sz="2000" dirty="0">
              <a:solidFill>
                <a:schemeClr val="tx1"/>
              </a:solidFill>
              <a:latin typeface="Arial" panose="020B0604020202020204" pitchFamily="34" charset="0"/>
              <a:ea typeface="黑体" panose="02010609060101010101" pitchFamily="49" charset="-122"/>
            </a:endParaRPr>
          </a:p>
        </p:txBody>
      </p:sp>
      <p:sp>
        <p:nvSpPr>
          <p:cNvPr id="345141" name="Rectangle 53"/>
          <p:cNvSpPr>
            <a:spLocks noGrp="1"/>
          </p:cNvSpPr>
          <p:nvPr>
            <p:ph idx="1"/>
          </p:nvPr>
        </p:nvSpPr>
        <p:spPr>
          <a:xfrm>
            <a:off x="236538" y="519113"/>
            <a:ext cx="8824912" cy="2087562"/>
          </a:xfrm>
        </p:spPr>
        <p:txBody>
          <a:bodyPr vert="horz" wrap="square" lIns="91440" tIns="45720" rIns="91440" bIns="45720" anchor="t" anchorCtr="0"/>
          <a:lstStyle/>
          <a:p>
            <a:pPr marL="342900" indent="-342900">
              <a:lnSpc>
                <a:spcPct val="100000"/>
              </a:lnSpc>
              <a:buSzPct val="70000"/>
            </a:pPr>
            <a:r>
              <a:rPr lang="zh-CN" altLang="en-US" sz="2100" dirty="0">
                <a:latin typeface="Arial" panose="020B0604020202020204" pitchFamily="34" charset="0"/>
                <a:ea typeface="黑体" panose="02010609060101010101" pitchFamily="49" charset="-122"/>
              </a:rPr>
              <a:t>指令系统处在软</a:t>
            </a:r>
            <a:r>
              <a:rPr lang="en-US" altLang="zh-CN" sz="2100" dirty="0">
                <a:latin typeface="Arial" panose="020B0604020202020204" pitchFamily="34" charset="0"/>
                <a:ea typeface="黑体" panose="02010609060101010101" pitchFamily="49" charset="-122"/>
              </a:rPr>
              <a:t>/</a:t>
            </a:r>
            <a:r>
              <a:rPr lang="zh-CN" altLang="en-US" sz="2100" dirty="0">
                <a:latin typeface="Arial" panose="020B0604020202020204" pitchFamily="34" charset="0"/>
                <a:ea typeface="黑体" panose="02010609060101010101" pitchFamily="49" charset="-122"/>
              </a:rPr>
              <a:t>硬件交界面，同时被硬件设计者和系统程序员看到</a:t>
            </a:r>
            <a:endParaRPr lang="zh-CN" altLang="en-US" sz="2100" dirty="0">
              <a:latin typeface="Arial" panose="020B0604020202020204" pitchFamily="34" charset="0"/>
              <a:ea typeface="黑体" panose="02010609060101010101" pitchFamily="49" charset="-122"/>
            </a:endParaRPr>
          </a:p>
          <a:p>
            <a:pPr marL="342900" indent="-342900">
              <a:lnSpc>
                <a:spcPct val="100000"/>
              </a:lnSpc>
              <a:buSzPct val="70000"/>
            </a:pPr>
            <a:r>
              <a:rPr lang="zh-CN" altLang="en-US" sz="2100" dirty="0">
                <a:latin typeface="Arial" panose="020B0604020202020204" pitchFamily="34" charset="0"/>
                <a:ea typeface="黑体" panose="02010609060101010101" pitchFamily="49" charset="-122"/>
              </a:rPr>
              <a:t>硬件设计者角度：指令系统为</a:t>
            </a:r>
            <a:r>
              <a:rPr lang="en-US" altLang="en-US" sz="2100" dirty="0">
                <a:latin typeface="Arial" panose="020B0604020202020204" pitchFamily="34" charset="0"/>
                <a:ea typeface="黑体" panose="02010609060101010101" pitchFamily="49" charset="-122"/>
              </a:rPr>
              <a:t>CPU</a:t>
            </a:r>
            <a:r>
              <a:rPr lang="zh-CN" altLang="en-US" sz="2100" dirty="0">
                <a:latin typeface="Arial" panose="020B0604020202020204" pitchFamily="34" charset="0"/>
                <a:ea typeface="黑体" panose="02010609060101010101" pitchFamily="49" charset="-122"/>
              </a:rPr>
              <a:t>提供功能需求，要求易于硬件设计</a:t>
            </a:r>
            <a:endParaRPr lang="zh-CN" altLang="en-US" sz="2100" dirty="0">
              <a:latin typeface="Arial" panose="020B0604020202020204" pitchFamily="34" charset="0"/>
              <a:ea typeface="黑体" panose="02010609060101010101" pitchFamily="49" charset="-122"/>
            </a:endParaRPr>
          </a:p>
          <a:p>
            <a:pPr marL="342900" indent="-342900">
              <a:lnSpc>
                <a:spcPct val="100000"/>
              </a:lnSpc>
              <a:buSzPct val="70000"/>
            </a:pPr>
            <a:r>
              <a:rPr lang="zh-CN" altLang="en-US" sz="2100" dirty="0">
                <a:latin typeface="Arial" panose="020B0604020202020204" pitchFamily="34" charset="0"/>
                <a:ea typeface="黑体" panose="02010609060101010101" pitchFamily="49" charset="-122"/>
              </a:rPr>
              <a:t>系统程序员角度：通过指令系统使用硬件，要求易于编写</a:t>
            </a:r>
            <a:r>
              <a:rPr lang="en-US" altLang="zh-CN" sz="2100" dirty="0">
                <a:latin typeface="Arial" panose="020B0604020202020204" pitchFamily="34" charset="0"/>
                <a:ea typeface="黑体" panose="02010609060101010101" pitchFamily="49" charset="-122"/>
              </a:rPr>
              <a:t>OS</a:t>
            </a:r>
            <a:r>
              <a:rPr lang="zh-CN" altLang="en-US" sz="2100" dirty="0">
                <a:latin typeface="Arial" panose="020B0604020202020204" pitchFamily="34" charset="0"/>
                <a:ea typeface="黑体" panose="02010609060101010101" pitchFamily="49" charset="-122"/>
              </a:rPr>
              <a:t>和编译器</a:t>
            </a:r>
            <a:endParaRPr lang="zh-CN" altLang="en-US" sz="2100" dirty="0">
              <a:latin typeface="Arial" panose="020B0604020202020204" pitchFamily="34" charset="0"/>
              <a:ea typeface="黑体" panose="02010609060101010101" pitchFamily="49" charset="-122"/>
            </a:endParaRPr>
          </a:p>
          <a:p>
            <a:pPr marL="342900" indent="-342900">
              <a:lnSpc>
                <a:spcPct val="100000"/>
              </a:lnSpc>
              <a:buSzPct val="70000"/>
            </a:pPr>
            <a:r>
              <a:rPr lang="zh-CN" altLang="en-US" sz="2100" dirty="0">
                <a:latin typeface="Arial" panose="020B0604020202020204" pitchFamily="34" charset="0"/>
                <a:ea typeface="黑体" panose="02010609060101010101" pitchFamily="49" charset="-122"/>
              </a:rPr>
              <a:t>指令系统设计的好坏还决定了：计算机的性能和成本</a:t>
            </a:r>
            <a:endParaRPr lang="zh-CN" altLang="en-US" sz="2100" dirty="0">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5141">
                                            <p:txEl>
                                              <p:pRg st="0" end="0"/>
                                            </p:txEl>
                                          </p:spTgt>
                                        </p:tgtEl>
                                        <p:attrNameLst>
                                          <p:attrName>style.visibility</p:attrName>
                                        </p:attrNameLst>
                                      </p:cBhvr>
                                      <p:to>
                                        <p:strVal val="visible"/>
                                      </p:to>
                                    </p:set>
                                    <p:animEffect transition="in" filter="blinds(horizontal)">
                                      <p:cBhvr>
                                        <p:cTn id="7" dur="500"/>
                                        <p:tgtEl>
                                          <p:spTgt spid="3451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5141">
                                            <p:txEl>
                                              <p:pRg st="1" end="1"/>
                                            </p:txEl>
                                          </p:spTgt>
                                        </p:tgtEl>
                                        <p:attrNameLst>
                                          <p:attrName>style.visibility</p:attrName>
                                        </p:attrNameLst>
                                      </p:cBhvr>
                                      <p:to>
                                        <p:strVal val="visible"/>
                                      </p:to>
                                    </p:set>
                                    <p:animEffect transition="in" filter="blinds(horizontal)">
                                      <p:cBhvr>
                                        <p:cTn id="12" dur="500"/>
                                        <p:tgtEl>
                                          <p:spTgt spid="3451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45141">
                                            <p:txEl>
                                              <p:pRg st="2" end="2"/>
                                            </p:txEl>
                                          </p:spTgt>
                                        </p:tgtEl>
                                        <p:attrNameLst>
                                          <p:attrName>style.visibility</p:attrName>
                                        </p:attrNameLst>
                                      </p:cBhvr>
                                      <p:to>
                                        <p:strVal val="visible"/>
                                      </p:to>
                                    </p:set>
                                    <p:animEffect transition="in" filter="blinds(horizontal)">
                                      <p:cBhvr>
                                        <p:cTn id="17" dur="500"/>
                                        <p:tgtEl>
                                          <p:spTgt spid="3451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45141">
                                            <p:txEl>
                                              <p:pRg st="3" end="3"/>
                                            </p:txEl>
                                          </p:spTgt>
                                        </p:tgtEl>
                                        <p:attrNameLst>
                                          <p:attrName>style.visibility</p:attrName>
                                        </p:attrNameLst>
                                      </p:cBhvr>
                                      <p:to>
                                        <p:strVal val="visible"/>
                                      </p:to>
                                    </p:set>
                                    <p:animEffect transition="in" filter="blinds(horizontal)">
                                      <p:cBhvr>
                                        <p:cTn id="22" dur="500"/>
                                        <p:tgtEl>
                                          <p:spTgt spid="3451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45140">
                                            <p:txEl>
                                              <p:pRg st="0" end="0"/>
                                            </p:txEl>
                                          </p:spTgt>
                                        </p:tgtEl>
                                        <p:attrNameLst>
                                          <p:attrName>style.visibility</p:attrName>
                                        </p:attrNameLst>
                                      </p:cBhvr>
                                      <p:to>
                                        <p:strVal val="visible"/>
                                      </p:to>
                                    </p:set>
                                    <p:animEffect transition="in" filter="blinds(horizontal)">
                                      <p:cBhvr>
                                        <p:cTn id="27" dur="500"/>
                                        <p:tgtEl>
                                          <p:spTgt spid="34514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45140">
                                            <p:txEl>
                                              <p:pRg st="1" end="1"/>
                                            </p:txEl>
                                          </p:spTgt>
                                        </p:tgtEl>
                                        <p:attrNameLst>
                                          <p:attrName>style.visibility</p:attrName>
                                        </p:attrNameLst>
                                      </p:cBhvr>
                                      <p:to>
                                        <p:strVal val="visible"/>
                                      </p:to>
                                    </p:set>
                                    <p:animEffect transition="in" filter="blinds(horizontal)">
                                      <p:cBhvr>
                                        <p:cTn id="32" dur="500"/>
                                        <p:tgtEl>
                                          <p:spTgt spid="345140">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45140">
                                            <p:txEl>
                                              <p:pRg st="2" end="2"/>
                                            </p:txEl>
                                          </p:spTgt>
                                        </p:tgtEl>
                                        <p:attrNameLst>
                                          <p:attrName>style.visibility</p:attrName>
                                        </p:attrNameLst>
                                      </p:cBhvr>
                                      <p:to>
                                        <p:strVal val="visible"/>
                                      </p:to>
                                    </p:set>
                                    <p:animEffect transition="in" filter="blinds(horizontal)">
                                      <p:cBhvr>
                                        <p:cTn id="37" dur="500"/>
                                        <p:tgtEl>
                                          <p:spTgt spid="345140">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45140">
                                            <p:txEl>
                                              <p:pRg st="3" end="3"/>
                                            </p:txEl>
                                          </p:spTgt>
                                        </p:tgtEl>
                                        <p:attrNameLst>
                                          <p:attrName>style.visibility</p:attrName>
                                        </p:attrNameLst>
                                      </p:cBhvr>
                                      <p:to>
                                        <p:strVal val="visible"/>
                                      </p:to>
                                    </p:set>
                                    <p:animEffect transition="in" filter="blinds(horizontal)">
                                      <p:cBhvr>
                                        <p:cTn id="42" dur="500"/>
                                        <p:tgtEl>
                                          <p:spTgt spid="345140">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45140">
                                            <p:txEl>
                                              <p:pRg st="4" end="4"/>
                                            </p:txEl>
                                          </p:spTgt>
                                        </p:tgtEl>
                                        <p:attrNameLst>
                                          <p:attrName>style.visibility</p:attrName>
                                        </p:attrNameLst>
                                      </p:cBhvr>
                                      <p:to>
                                        <p:strVal val="visible"/>
                                      </p:to>
                                    </p:set>
                                    <p:animEffect transition="in" filter="blinds(horizontal)">
                                      <p:cBhvr>
                                        <p:cTn id="47" dur="500"/>
                                        <p:tgtEl>
                                          <p:spTgt spid="34514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514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698500" y="42863"/>
            <a:ext cx="6781800" cy="422275"/>
          </a:xfrm>
        </p:spPr>
        <p:txBody>
          <a:bodyPr vert="horz" wrap="square" lIns="63500" tIns="25400" rIns="63500" bIns="25400" anchor="t" anchorCtr="0">
            <a:spAutoFit/>
          </a:bodyPr>
          <a:lstStyle/>
          <a:p>
            <a:r>
              <a:rPr lang="zh-CN" altLang="en-US" sz="2800" dirty="0">
                <a:latin typeface="宋体" panose="02010600030101010101" pitchFamily="2" charset="-122"/>
                <a:ea typeface="宋体" panose="02010600030101010101" pitchFamily="2" charset="-122"/>
              </a:rPr>
              <a:t>一条指令须包含的信息</a:t>
            </a:r>
            <a:endParaRPr lang="zh-CN" altLang="en-US" sz="3200" dirty="0">
              <a:latin typeface="宋体" panose="02010600030101010101" pitchFamily="2" charset="-122"/>
              <a:ea typeface="宋体" panose="02010600030101010101" pitchFamily="2" charset="-122"/>
            </a:endParaRPr>
          </a:p>
        </p:txBody>
      </p:sp>
      <p:sp>
        <p:nvSpPr>
          <p:cNvPr id="347139" name="Rectangle 3"/>
          <p:cNvSpPr>
            <a:spLocks noGrp="1"/>
          </p:cNvSpPr>
          <p:nvPr>
            <p:ph idx="1"/>
          </p:nvPr>
        </p:nvSpPr>
        <p:spPr>
          <a:xfrm>
            <a:off x="446088" y="868363"/>
            <a:ext cx="8615362" cy="5354637"/>
          </a:xfrm>
        </p:spPr>
        <p:txBody>
          <a:bodyPr vert="horz" wrap="square" lIns="91440" tIns="45720" rIns="91440" bIns="45720" anchor="t" anchorCtr="0"/>
          <a:lstStyle/>
          <a:p>
            <a:pPr marL="342900" indent="-342900">
              <a:lnSpc>
                <a:spcPct val="110000"/>
              </a:lnSpc>
              <a:buNone/>
            </a:pPr>
            <a:r>
              <a:rPr lang="zh-CN" altLang="en-US" sz="2400" dirty="0">
                <a:solidFill>
                  <a:srgbClr val="31209A"/>
                </a:solidFill>
                <a:latin typeface="黑体" panose="02010609060101010101" pitchFamily="49" charset="-122"/>
                <a:ea typeface="黑体" panose="02010609060101010101" pitchFamily="49" charset="-122"/>
              </a:rPr>
              <a:t>问题：一条指令必须</a:t>
            </a:r>
            <a:r>
              <a:rPr lang="zh-CN" altLang="en-US" sz="2400" dirty="0">
                <a:solidFill>
                  <a:schemeClr val="accent1"/>
                </a:solidFill>
                <a:latin typeface="黑体" panose="02010609060101010101" pitchFamily="49" charset="-122"/>
                <a:ea typeface="黑体" panose="02010609060101010101" pitchFamily="49" charset="-122"/>
              </a:rPr>
              <a:t>明显</a:t>
            </a:r>
            <a:r>
              <a:rPr lang="zh-CN" altLang="en-US" sz="2400" dirty="0">
                <a:solidFill>
                  <a:srgbClr val="31209A"/>
                </a:solidFill>
                <a:latin typeface="黑体" panose="02010609060101010101" pitchFamily="49" charset="-122"/>
                <a:ea typeface="黑体" panose="02010609060101010101" pitchFamily="49" charset="-122"/>
              </a:rPr>
              <a:t>或</a:t>
            </a:r>
            <a:r>
              <a:rPr lang="zh-CN" altLang="en-US" sz="2400" dirty="0">
                <a:solidFill>
                  <a:schemeClr val="accent1"/>
                </a:solidFill>
                <a:latin typeface="黑体" panose="02010609060101010101" pitchFamily="49" charset="-122"/>
                <a:ea typeface="黑体" panose="02010609060101010101" pitchFamily="49" charset="-122"/>
              </a:rPr>
              <a:t>隐含</a:t>
            </a:r>
            <a:r>
              <a:rPr lang="zh-CN" altLang="en-US" sz="2400" dirty="0">
                <a:solidFill>
                  <a:srgbClr val="31209A"/>
                </a:solidFill>
                <a:latin typeface="黑体" panose="02010609060101010101" pitchFamily="49" charset="-122"/>
                <a:ea typeface="黑体" panose="02010609060101010101" pitchFamily="49" charset="-122"/>
              </a:rPr>
              <a:t>包含的信息有哪些？</a:t>
            </a:r>
            <a:endParaRPr lang="zh-CN" altLang="en-US" sz="2400" dirty="0">
              <a:solidFill>
                <a:srgbClr val="31209A"/>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None/>
            </a:pPr>
            <a:r>
              <a:rPr lang="zh-CN" altLang="en-US" sz="2400" dirty="0">
                <a:solidFill>
                  <a:schemeClr val="accent2"/>
                </a:solidFill>
                <a:latin typeface="黑体" panose="02010609060101010101" pitchFamily="49" charset="-122"/>
                <a:ea typeface="黑体" panose="02010609060101010101" pitchFamily="49" charset="-122"/>
              </a:rPr>
              <a:t>操作码：指定操作类型</a:t>
            </a:r>
            <a:endParaRPr lang="zh-CN" altLang="en-US" sz="2400" dirty="0">
              <a:solidFill>
                <a:schemeClr val="accent2"/>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Char char=" "/>
            </a:pPr>
            <a:r>
              <a:rPr lang="zh-CN" altLang="en-US" sz="2400" dirty="0">
                <a:solidFill>
                  <a:srgbClr val="31209A"/>
                </a:solidFill>
                <a:latin typeface="黑体" panose="02010609060101010101" pitchFamily="49" charset="-122"/>
                <a:ea typeface="黑体" panose="02010609060101010101" pitchFamily="49" charset="-122"/>
              </a:rPr>
              <a:t>   </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操作码长度：固定／可变</a:t>
            </a:r>
            <a:r>
              <a:rPr lang="en-US" altLang="zh-CN" sz="2400" dirty="0">
                <a:solidFill>
                  <a:srgbClr val="31209A"/>
                </a:solidFill>
                <a:latin typeface="黑体" panose="02010609060101010101" pitchFamily="49" charset="-122"/>
                <a:ea typeface="黑体" panose="02010609060101010101" pitchFamily="49" charset="-122"/>
              </a:rPr>
              <a:t>)</a:t>
            </a:r>
            <a:endParaRPr lang="en-US" altLang="zh-CN" sz="2400" dirty="0">
              <a:solidFill>
                <a:srgbClr val="31209A"/>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None/>
            </a:pPr>
            <a:r>
              <a:rPr lang="zh-CN" altLang="en-US" sz="2400" dirty="0">
                <a:solidFill>
                  <a:schemeClr val="accent2"/>
                </a:solidFill>
                <a:latin typeface="黑体" panose="02010609060101010101" pitchFamily="49" charset="-122"/>
                <a:ea typeface="黑体" panose="02010609060101010101" pitchFamily="49" charset="-122"/>
              </a:rPr>
              <a:t>源操作数参照：一个或多个源操作数所在的地址</a:t>
            </a:r>
            <a:endParaRPr lang="zh-CN" altLang="en-US" sz="2400" dirty="0">
              <a:solidFill>
                <a:schemeClr val="accent2"/>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Char char=" "/>
            </a:pPr>
            <a:r>
              <a:rPr lang="zh-CN" altLang="en-US" sz="2400" dirty="0">
                <a:solidFill>
                  <a:srgbClr val="31209A"/>
                </a:solidFill>
                <a:latin typeface="黑体" panose="02010609060101010101" pitchFamily="49" charset="-122"/>
                <a:ea typeface="黑体" panose="02010609060101010101" pitchFamily="49" charset="-122"/>
              </a:rPr>
              <a:t>   </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操作数来源：主</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虚</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存</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寄存器</a:t>
            </a:r>
            <a:r>
              <a:rPr lang="en-US" altLang="zh-CN" sz="2400" dirty="0">
                <a:solidFill>
                  <a:srgbClr val="31209A"/>
                </a:solidFill>
                <a:latin typeface="黑体" panose="02010609060101010101" pitchFamily="49" charset="-122"/>
                <a:ea typeface="黑体" panose="02010609060101010101" pitchFamily="49" charset="-122"/>
              </a:rPr>
              <a:t>/</a:t>
            </a:r>
            <a:r>
              <a:rPr lang="en-US" altLang="en-US" sz="2400" dirty="0">
                <a:solidFill>
                  <a:srgbClr val="31209A"/>
                </a:solidFill>
                <a:latin typeface="黑体" panose="02010609060101010101" pitchFamily="49" charset="-122"/>
                <a:ea typeface="黑体" panose="02010609060101010101" pitchFamily="49" charset="-122"/>
              </a:rPr>
              <a:t>I/O</a:t>
            </a:r>
            <a:r>
              <a:rPr lang="zh-CN" altLang="en-US" sz="2400" dirty="0">
                <a:solidFill>
                  <a:srgbClr val="31209A"/>
                </a:solidFill>
                <a:latin typeface="黑体" panose="02010609060101010101" pitchFamily="49" charset="-122"/>
                <a:ea typeface="黑体" panose="02010609060101010101" pitchFamily="49" charset="-122"/>
              </a:rPr>
              <a:t>端口</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指令本身）</a:t>
            </a:r>
            <a:endParaRPr lang="zh-CN" altLang="en-US" sz="2400" dirty="0">
              <a:solidFill>
                <a:srgbClr val="31209A"/>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None/>
            </a:pPr>
            <a:r>
              <a:rPr lang="zh-CN" altLang="en-US" sz="2400" dirty="0">
                <a:solidFill>
                  <a:schemeClr val="accent2"/>
                </a:solidFill>
                <a:latin typeface="黑体" panose="02010609060101010101" pitchFamily="49" charset="-122"/>
                <a:ea typeface="黑体" panose="02010609060101010101" pitchFamily="49" charset="-122"/>
              </a:rPr>
              <a:t>结果值参照：产生的结果存放何处（目的操作数）</a:t>
            </a:r>
            <a:endParaRPr lang="zh-CN" altLang="en-US" sz="2400" dirty="0">
              <a:solidFill>
                <a:schemeClr val="accent2"/>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Char char=" "/>
            </a:pPr>
            <a:r>
              <a:rPr lang="zh-CN" altLang="en-US" sz="2400" dirty="0">
                <a:solidFill>
                  <a:srgbClr val="31209A"/>
                </a:solidFill>
                <a:latin typeface="黑体" panose="02010609060101010101" pitchFamily="49" charset="-122"/>
                <a:ea typeface="黑体" panose="02010609060101010101" pitchFamily="49" charset="-122"/>
              </a:rPr>
              <a:t>   </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结果地址：主</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虚</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存</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寄存器</a:t>
            </a:r>
            <a:r>
              <a:rPr lang="en-US" altLang="zh-CN" sz="2400" dirty="0">
                <a:solidFill>
                  <a:srgbClr val="31209A"/>
                </a:solidFill>
                <a:latin typeface="黑体" panose="02010609060101010101" pitchFamily="49" charset="-122"/>
                <a:ea typeface="黑体" panose="02010609060101010101" pitchFamily="49" charset="-122"/>
              </a:rPr>
              <a:t>/</a:t>
            </a:r>
            <a:r>
              <a:rPr lang="en-US" altLang="en-US" sz="2400" dirty="0">
                <a:solidFill>
                  <a:srgbClr val="31209A"/>
                </a:solidFill>
                <a:latin typeface="黑体" panose="02010609060101010101" pitchFamily="49" charset="-122"/>
                <a:ea typeface="黑体" panose="02010609060101010101" pitchFamily="49" charset="-122"/>
              </a:rPr>
              <a:t>I/O</a:t>
            </a:r>
            <a:r>
              <a:rPr lang="zh-CN" altLang="en-US" sz="2400" dirty="0">
                <a:solidFill>
                  <a:srgbClr val="31209A"/>
                </a:solidFill>
                <a:latin typeface="黑体" panose="02010609060101010101" pitchFamily="49" charset="-122"/>
                <a:ea typeface="黑体" panose="02010609060101010101" pitchFamily="49" charset="-122"/>
              </a:rPr>
              <a:t>端口</a:t>
            </a:r>
            <a:r>
              <a:rPr lang="en-US" altLang="zh-CN" sz="2400" dirty="0">
                <a:solidFill>
                  <a:srgbClr val="31209A"/>
                </a:solidFill>
                <a:latin typeface="黑体" panose="02010609060101010101" pitchFamily="49" charset="-122"/>
                <a:ea typeface="黑体" panose="02010609060101010101" pitchFamily="49" charset="-122"/>
              </a:rPr>
              <a:t>)</a:t>
            </a:r>
            <a:endParaRPr lang="en-US" altLang="zh-CN" sz="2400" dirty="0">
              <a:solidFill>
                <a:srgbClr val="31209A"/>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None/>
            </a:pPr>
            <a:r>
              <a:rPr lang="zh-CN" altLang="en-US" sz="2400" dirty="0">
                <a:solidFill>
                  <a:schemeClr val="accent2"/>
                </a:solidFill>
                <a:latin typeface="黑体" panose="02010609060101010101" pitchFamily="49" charset="-122"/>
                <a:ea typeface="黑体" panose="02010609060101010101" pitchFamily="49" charset="-122"/>
              </a:rPr>
              <a:t>下一条指令地址：下条指令存放何处</a:t>
            </a:r>
            <a:endParaRPr lang="zh-CN" altLang="en-US" sz="2400" dirty="0">
              <a:solidFill>
                <a:schemeClr val="accent2"/>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Char char=" "/>
            </a:pPr>
            <a:r>
              <a:rPr lang="zh-CN" altLang="en-US" sz="2400" dirty="0">
                <a:solidFill>
                  <a:srgbClr val="31209A"/>
                </a:solidFill>
                <a:latin typeface="黑体" panose="02010609060101010101" pitchFamily="49" charset="-122"/>
                <a:ea typeface="黑体" panose="02010609060101010101" pitchFamily="49" charset="-122"/>
              </a:rPr>
              <a:t>   </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下条指令地址 ：主</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虚</a:t>
            </a:r>
            <a:r>
              <a:rPr lang="en-US" altLang="zh-CN" sz="2400" dirty="0">
                <a:solidFill>
                  <a:srgbClr val="31209A"/>
                </a:solidFill>
                <a:latin typeface="黑体" panose="02010609060101010101" pitchFamily="49" charset="-122"/>
                <a:ea typeface="黑体" panose="02010609060101010101" pitchFamily="49" charset="-122"/>
              </a:rPr>
              <a:t>)</a:t>
            </a:r>
            <a:r>
              <a:rPr lang="zh-CN" altLang="en-US" sz="2400" dirty="0">
                <a:solidFill>
                  <a:srgbClr val="31209A"/>
                </a:solidFill>
                <a:latin typeface="黑体" panose="02010609060101010101" pitchFamily="49" charset="-122"/>
                <a:ea typeface="黑体" panose="02010609060101010101" pitchFamily="49" charset="-122"/>
              </a:rPr>
              <a:t>存</a:t>
            </a:r>
            <a:r>
              <a:rPr lang="zh-CN" altLang="zh-CN" sz="2400" dirty="0">
                <a:solidFill>
                  <a:srgbClr val="31209A"/>
                </a:solidFill>
                <a:latin typeface="黑体" panose="02010609060101010101" pitchFamily="49" charset="-122"/>
                <a:ea typeface="黑体" panose="02010609060101010101" pitchFamily="49" charset="-122"/>
              </a:rPr>
              <a:t>)</a:t>
            </a:r>
            <a:endParaRPr lang="zh-CN" altLang="zh-CN" sz="2400" dirty="0">
              <a:solidFill>
                <a:srgbClr val="31209A"/>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Char char=" "/>
            </a:pPr>
            <a:r>
              <a:rPr lang="en-US" altLang="zh-CN" sz="2400" dirty="0">
                <a:solidFill>
                  <a:srgbClr val="31209A"/>
                </a:solidFill>
                <a:latin typeface="黑体" panose="02010609060101010101" pitchFamily="49" charset="-122"/>
                <a:ea typeface="黑体" panose="02010609060101010101" pitchFamily="49" charset="-122"/>
              </a:rPr>
              <a:t>   (</a:t>
            </a:r>
            <a:r>
              <a:rPr lang="zh-CN" altLang="en-US" sz="2400" dirty="0">
                <a:solidFill>
                  <a:srgbClr val="31209A"/>
                </a:solidFill>
                <a:latin typeface="黑体" panose="02010609060101010101" pitchFamily="49" charset="-122"/>
                <a:ea typeface="黑体" panose="02010609060101010101" pitchFamily="49" charset="-122"/>
              </a:rPr>
              <a:t>正常情况隐含在</a:t>
            </a:r>
            <a:r>
              <a:rPr lang="en-US" altLang="en-US" sz="2400" dirty="0">
                <a:solidFill>
                  <a:srgbClr val="31209A"/>
                </a:solidFill>
                <a:latin typeface="黑体" panose="02010609060101010101" pitchFamily="49" charset="-122"/>
                <a:ea typeface="黑体" panose="02010609060101010101" pitchFamily="49" charset="-122"/>
              </a:rPr>
              <a:t>PC</a:t>
            </a:r>
            <a:r>
              <a:rPr lang="zh-CN" altLang="en-US" sz="2400" dirty="0">
                <a:solidFill>
                  <a:srgbClr val="31209A"/>
                </a:solidFill>
                <a:latin typeface="黑体" panose="02010609060101010101" pitchFamily="49" charset="-122"/>
                <a:ea typeface="黑体" panose="02010609060101010101" pitchFamily="49" charset="-122"/>
              </a:rPr>
              <a:t>中，改变顺序时由指令给出）</a:t>
            </a:r>
            <a:endParaRPr lang="zh-CN" altLang="en-US" sz="2400" dirty="0">
              <a:solidFill>
                <a:srgbClr val="31209A"/>
              </a:solidFill>
              <a:latin typeface="黑体" panose="02010609060101010101" pitchFamily="49" charset="-122"/>
              <a:ea typeface="黑体" panose="02010609060101010101" pitchFamily="49" charset="-122"/>
            </a:endParaRPr>
          </a:p>
          <a:p>
            <a:pPr marL="342900" indent="-342900">
              <a:lnSpc>
                <a:spcPct val="110000"/>
              </a:lnSpc>
              <a:buFont typeface="Monotype Sorts" pitchFamily="2" charset="2"/>
              <a:buChar char="l"/>
            </a:pPr>
            <a:endParaRPr lang="zh-CN" altLang="en-US" dirty="0">
              <a:solidFill>
                <a:srgbClr val="31209A"/>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7139">
                                            <p:txEl>
                                              <p:pRg st="1" end="1"/>
                                            </p:txEl>
                                          </p:spTgt>
                                        </p:tgtEl>
                                        <p:attrNameLst>
                                          <p:attrName>style.visibility</p:attrName>
                                        </p:attrNameLst>
                                      </p:cBhvr>
                                      <p:to>
                                        <p:strVal val="visible"/>
                                      </p:to>
                                    </p:set>
                                    <p:animEffect transition="in" filter="blinds(horizontal)">
                                      <p:cBhvr>
                                        <p:cTn id="7" dur="500"/>
                                        <p:tgtEl>
                                          <p:spTgt spid="34713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47139">
                                            <p:txEl>
                                              <p:pRg st="2" end="2"/>
                                            </p:txEl>
                                          </p:spTgt>
                                        </p:tgtEl>
                                        <p:attrNameLst>
                                          <p:attrName>style.visibility</p:attrName>
                                        </p:attrNameLst>
                                      </p:cBhvr>
                                      <p:to>
                                        <p:strVal val="visible"/>
                                      </p:to>
                                    </p:set>
                                    <p:animEffect transition="in" filter="blinds(horizontal)">
                                      <p:cBhvr>
                                        <p:cTn id="10" dur="500"/>
                                        <p:tgtEl>
                                          <p:spTgt spid="34713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47139">
                                            <p:txEl>
                                              <p:pRg st="3" end="3"/>
                                            </p:txEl>
                                          </p:spTgt>
                                        </p:tgtEl>
                                        <p:attrNameLst>
                                          <p:attrName>style.visibility</p:attrName>
                                        </p:attrNameLst>
                                      </p:cBhvr>
                                      <p:to>
                                        <p:strVal val="visible"/>
                                      </p:to>
                                    </p:set>
                                    <p:animEffect transition="in" filter="blinds(horizontal)">
                                      <p:cBhvr>
                                        <p:cTn id="15" dur="500"/>
                                        <p:tgtEl>
                                          <p:spTgt spid="34713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47139">
                                            <p:txEl>
                                              <p:pRg st="4" end="4"/>
                                            </p:txEl>
                                          </p:spTgt>
                                        </p:tgtEl>
                                        <p:attrNameLst>
                                          <p:attrName>style.visibility</p:attrName>
                                        </p:attrNameLst>
                                      </p:cBhvr>
                                      <p:to>
                                        <p:strVal val="visible"/>
                                      </p:to>
                                    </p:set>
                                    <p:animEffect transition="in" filter="blinds(horizontal)">
                                      <p:cBhvr>
                                        <p:cTn id="18" dur="500"/>
                                        <p:tgtEl>
                                          <p:spTgt spid="347139">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47139">
                                            <p:txEl>
                                              <p:pRg st="5" end="5"/>
                                            </p:txEl>
                                          </p:spTgt>
                                        </p:tgtEl>
                                        <p:attrNameLst>
                                          <p:attrName>style.visibility</p:attrName>
                                        </p:attrNameLst>
                                      </p:cBhvr>
                                      <p:to>
                                        <p:strVal val="visible"/>
                                      </p:to>
                                    </p:set>
                                    <p:animEffect transition="in" filter="blinds(horizontal)">
                                      <p:cBhvr>
                                        <p:cTn id="23" dur="500"/>
                                        <p:tgtEl>
                                          <p:spTgt spid="347139">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47139">
                                            <p:txEl>
                                              <p:pRg st="6" end="6"/>
                                            </p:txEl>
                                          </p:spTgt>
                                        </p:tgtEl>
                                        <p:attrNameLst>
                                          <p:attrName>style.visibility</p:attrName>
                                        </p:attrNameLst>
                                      </p:cBhvr>
                                      <p:to>
                                        <p:strVal val="visible"/>
                                      </p:to>
                                    </p:set>
                                    <p:animEffect transition="in" filter="blinds(horizontal)">
                                      <p:cBhvr>
                                        <p:cTn id="26" dur="500"/>
                                        <p:tgtEl>
                                          <p:spTgt spid="347139">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47139">
                                            <p:txEl>
                                              <p:pRg st="7" end="7"/>
                                            </p:txEl>
                                          </p:spTgt>
                                        </p:tgtEl>
                                        <p:attrNameLst>
                                          <p:attrName>style.visibility</p:attrName>
                                        </p:attrNameLst>
                                      </p:cBhvr>
                                      <p:to>
                                        <p:strVal val="visible"/>
                                      </p:to>
                                    </p:set>
                                    <p:animEffect transition="in" filter="blinds(horizontal)">
                                      <p:cBhvr>
                                        <p:cTn id="31" dur="500"/>
                                        <p:tgtEl>
                                          <p:spTgt spid="347139">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47139">
                                            <p:txEl>
                                              <p:pRg st="8" end="8"/>
                                            </p:txEl>
                                          </p:spTgt>
                                        </p:tgtEl>
                                        <p:attrNameLst>
                                          <p:attrName>style.visibility</p:attrName>
                                        </p:attrNameLst>
                                      </p:cBhvr>
                                      <p:to>
                                        <p:strVal val="visible"/>
                                      </p:to>
                                    </p:set>
                                    <p:animEffect transition="in" filter="blinds(horizontal)">
                                      <p:cBhvr>
                                        <p:cTn id="34" dur="500"/>
                                        <p:tgtEl>
                                          <p:spTgt spid="347139">
                                            <p:txEl>
                                              <p:pRg st="8" end="8"/>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347139">
                                            <p:txEl>
                                              <p:pRg st="9" end="9"/>
                                            </p:txEl>
                                          </p:spTgt>
                                        </p:tgtEl>
                                        <p:attrNameLst>
                                          <p:attrName>style.visibility</p:attrName>
                                        </p:attrNameLst>
                                      </p:cBhvr>
                                      <p:to>
                                        <p:strVal val="visible"/>
                                      </p:to>
                                    </p:set>
                                    <p:animEffect transition="in" filter="blinds(horizontal)">
                                      <p:cBhvr>
                                        <p:cTn id="37" dur="500"/>
                                        <p:tgtEl>
                                          <p:spTgt spid="34713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457200" y="39688"/>
            <a:ext cx="6742113" cy="425450"/>
          </a:xfrm>
        </p:spPr>
        <p:txBody>
          <a:bodyPr vert="horz" wrap="square" lIns="63500" tIns="25400" rIns="63500" bIns="25400" anchor="ctr" anchorCtr="0">
            <a:spAutoFit/>
          </a:bodyPr>
          <a:lstStyle/>
          <a:p>
            <a:r>
              <a:rPr lang="zh-CN" altLang="en-US" sz="2800" dirty="0">
                <a:latin typeface="宋体" panose="02010600030101010101" pitchFamily="2" charset="-122"/>
                <a:ea typeface="宋体" panose="02010600030101010101" pitchFamily="2" charset="-122"/>
              </a:rPr>
              <a:t>一条指令中应该有几个地址码字段？</a:t>
            </a:r>
            <a:endParaRPr lang="zh-CN" altLang="en-US" sz="2800" dirty="0">
              <a:latin typeface="宋体" panose="02010600030101010101" pitchFamily="2" charset="-122"/>
              <a:ea typeface="宋体" panose="02010600030101010101" pitchFamily="2" charset="-122"/>
            </a:endParaRPr>
          </a:p>
        </p:txBody>
      </p:sp>
      <p:sp>
        <p:nvSpPr>
          <p:cNvPr id="7171" name="Rectangle 3"/>
          <p:cNvSpPr>
            <a:spLocks noGrp="1"/>
          </p:cNvSpPr>
          <p:nvPr>
            <p:ph idx="1"/>
          </p:nvPr>
        </p:nvSpPr>
        <p:spPr>
          <a:xfrm>
            <a:off x="231775" y="701675"/>
            <a:ext cx="8458200" cy="3348038"/>
          </a:xfrm>
        </p:spPr>
        <p:txBody>
          <a:bodyPr vert="horz" wrap="square" lIns="91440" tIns="45720" rIns="91440" bIns="45720" anchor="t" anchorCtr="0"/>
          <a:lstStyle/>
          <a:p>
            <a:pPr marL="342900" indent="-342900">
              <a:lnSpc>
                <a:spcPct val="110000"/>
              </a:lnSpc>
              <a:buNone/>
            </a:pPr>
            <a:r>
              <a:rPr lang="zh-CN" altLang="en-US" sz="1800" dirty="0">
                <a:solidFill>
                  <a:srgbClr val="CC3300"/>
                </a:solidFill>
                <a:latin typeface="黑体" panose="02010609060101010101" pitchFamily="49" charset="-122"/>
                <a:ea typeface="黑体" panose="02010609060101010101" pitchFamily="49" charset="-122"/>
              </a:rPr>
              <a:t>零地址指令</a:t>
            </a:r>
            <a:endParaRPr lang="zh-CN" altLang="en-US" sz="1800" dirty="0">
              <a:solidFill>
                <a:srgbClr val="CC3300"/>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en-US" altLang="zh-CN" sz="1800" dirty="0">
                <a:solidFill>
                  <a:srgbClr val="31209A"/>
                </a:solidFill>
                <a:latin typeface="黑体" panose="02010609060101010101" pitchFamily="49" charset="-122"/>
                <a:ea typeface="黑体" panose="02010609060101010101" pitchFamily="49" charset="-122"/>
              </a:rPr>
              <a:t>(1) </a:t>
            </a:r>
            <a:r>
              <a:rPr lang="zh-CN" altLang="en-US" sz="1800" dirty="0">
                <a:solidFill>
                  <a:srgbClr val="31209A"/>
                </a:solidFill>
                <a:latin typeface="黑体" panose="02010609060101010101" pitchFamily="49" charset="-122"/>
                <a:ea typeface="黑体" panose="02010609060101010101" pitchFamily="49" charset="-122"/>
              </a:rPr>
              <a:t>无需操作数　如：空操作／停机等</a:t>
            </a:r>
            <a:endParaRPr lang="zh-CN" altLang="en-US" sz="1800" dirty="0">
              <a:solidFill>
                <a:srgbClr val="31209A"/>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en-US" altLang="zh-CN" sz="1800" dirty="0">
                <a:solidFill>
                  <a:srgbClr val="31209A"/>
                </a:solidFill>
                <a:latin typeface="黑体" panose="02010609060101010101" pitchFamily="49" charset="-122"/>
                <a:ea typeface="黑体" panose="02010609060101010101" pitchFamily="49" charset="-122"/>
              </a:rPr>
              <a:t>(2) </a:t>
            </a:r>
            <a:r>
              <a:rPr lang="zh-CN" altLang="en-US" sz="1800" dirty="0">
                <a:solidFill>
                  <a:srgbClr val="31209A"/>
                </a:solidFill>
                <a:latin typeface="黑体" panose="02010609060101010101" pitchFamily="49" charset="-122"/>
                <a:ea typeface="黑体" panose="02010609060101010101" pitchFamily="49" charset="-122"/>
              </a:rPr>
              <a:t>所需操作数为默认的　如：堆栈／累加器等</a:t>
            </a:r>
            <a:endParaRPr lang="zh-CN" altLang="en-US" sz="1800" dirty="0">
              <a:solidFill>
                <a:srgbClr val="31209A"/>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zh-CN" altLang="en-US" sz="1800" dirty="0">
                <a:solidFill>
                  <a:srgbClr val="31209A"/>
                </a:solidFill>
                <a:latin typeface="黑体" panose="02010609060101010101" pitchFamily="49" charset="-122"/>
                <a:ea typeface="黑体" panose="02010609060101010101" pitchFamily="49" charset="-122"/>
              </a:rPr>
              <a:t>形式：</a:t>
            </a:r>
            <a:endParaRPr lang="zh-CN" altLang="en-US" sz="1800" dirty="0">
              <a:solidFill>
                <a:srgbClr val="31209A"/>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None/>
            </a:pPr>
            <a:r>
              <a:rPr lang="zh-CN" altLang="en-US" sz="1800" dirty="0">
                <a:solidFill>
                  <a:srgbClr val="CC3300"/>
                </a:solidFill>
                <a:latin typeface="黑体" panose="02010609060101010101" pitchFamily="49" charset="-122"/>
                <a:ea typeface="黑体" panose="02010609060101010101" pitchFamily="49" charset="-122"/>
              </a:rPr>
              <a:t>一地址指令</a:t>
            </a:r>
            <a:endParaRPr lang="zh-CN" altLang="en-US" sz="1800" dirty="0">
              <a:solidFill>
                <a:srgbClr val="CC3300"/>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zh-CN" altLang="zh-CN" sz="1800" dirty="0">
                <a:solidFill>
                  <a:srgbClr val="31209A"/>
                </a:solidFill>
                <a:latin typeface="黑体" panose="02010609060101010101" pitchFamily="49" charset="-122"/>
                <a:ea typeface="黑体" panose="02010609060101010101" pitchFamily="49" charset="-122"/>
              </a:rPr>
              <a:t>其</a:t>
            </a:r>
            <a:r>
              <a:rPr lang="zh-CN" altLang="en-US" sz="1800" dirty="0">
                <a:solidFill>
                  <a:srgbClr val="31209A"/>
                </a:solidFill>
                <a:latin typeface="黑体" panose="02010609060101010101" pitchFamily="49" charset="-122"/>
                <a:ea typeface="黑体" panose="02010609060101010101" pitchFamily="49" charset="-122"/>
              </a:rPr>
              <a:t>地址既是操作数的地址，也是结果的地址</a:t>
            </a:r>
            <a:endParaRPr lang="zh-CN" altLang="en-US" sz="1800" dirty="0">
              <a:solidFill>
                <a:srgbClr val="31209A"/>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en-US" altLang="zh-CN" sz="1800" dirty="0">
                <a:solidFill>
                  <a:srgbClr val="31209A"/>
                </a:solidFill>
                <a:latin typeface="黑体" panose="02010609060101010101" pitchFamily="49" charset="-122"/>
                <a:ea typeface="黑体" panose="02010609060101010101" pitchFamily="49" charset="-122"/>
              </a:rPr>
              <a:t>(1) </a:t>
            </a:r>
            <a:r>
              <a:rPr lang="zh-CN" altLang="en-US" sz="1800" dirty="0">
                <a:solidFill>
                  <a:srgbClr val="31209A"/>
                </a:solidFill>
                <a:latin typeface="黑体" panose="02010609060101010101" pitchFamily="49" charset="-122"/>
                <a:ea typeface="黑体" panose="02010609060101010101" pitchFamily="49" charset="-122"/>
              </a:rPr>
              <a:t>单目运算：如：取反／取负等</a:t>
            </a:r>
            <a:endParaRPr lang="zh-CN" altLang="en-US" sz="1800" dirty="0">
              <a:solidFill>
                <a:srgbClr val="31209A"/>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en-US" altLang="zh-CN" sz="1800" dirty="0">
                <a:solidFill>
                  <a:srgbClr val="31209A"/>
                </a:solidFill>
                <a:latin typeface="黑体" panose="02010609060101010101" pitchFamily="49" charset="-122"/>
                <a:ea typeface="黑体" panose="02010609060101010101" pitchFamily="49" charset="-122"/>
              </a:rPr>
              <a:t>(2) </a:t>
            </a:r>
            <a:r>
              <a:rPr lang="zh-CN" altLang="en-US" sz="1800" dirty="0">
                <a:solidFill>
                  <a:srgbClr val="31209A"/>
                </a:solidFill>
                <a:latin typeface="黑体" panose="02010609060101010101" pitchFamily="49" charset="-122"/>
                <a:ea typeface="黑体" panose="02010609060101010101" pitchFamily="49" charset="-122"/>
              </a:rPr>
              <a:t>双目运算：另一操作数为默认的　如：累加器等</a:t>
            </a:r>
            <a:endParaRPr lang="zh-CN" altLang="en-US" sz="1800" dirty="0">
              <a:solidFill>
                <a:srgbClr val="31209A"/>
              </a:solidFill>
              <a:latin typeface="黑体" panose="02010609060101010101" pitchFamily="49" charset="-122"/>
              <a:ea typeface="黑体" panose="02010609060101010101" pitchFamily="49" charset="-122"/>
            </a:endParaRPr>
          </a:p>
          <a:p>
            <a:pPr marL="342900" indent="-342900">
              <a:lnSpc>
                <a:spcPct val="110000"/>
              </a:lnSpc>
              <a:spcBef>
                <a:spcPct val="0"/>
              </a:spcBef>
              <a:buFont typeface="Monotype Sorts" pitchFamily="2" charset="2"/>
              <a:buChar char=" "/>
            </a:pPr>
            <a:r>
              <a:rPr lang="zh-CN" altLang="en-US" sz="1800" dirty="0">
                <a:solidFill>
                  <a:srgbClr val="31209A"/>
                </a:solidFill>
                <a:latin typeface="黑体" panose="02010609060101010101" pitchFamily="49" charset="-122"/>
                <a:ea typeface="黑体" panose="02010609060101010101" pitchFamily="49" charset="-122"/>
              </a:rPr>
              <a:t>形式：</a:t>
            </a:r>
            <a:endParaRPr lang="zh-CN" altLang="en-US" sz="1800" dirty="0">
              <a:latin typeface="黑体" panose="02010609060101010101" pitchFamily="49" charset="-122"/>
              <a:ea typeface="黑体" panose="02010609060101010101" pitchFamily="49" charset="-122"/>
            </a:endParaRPr>
          </a:p>
        </p:txBody>
      </p:sp>
      <p:sp>
        <p:nvSpPr>
          <p:cNvPr id="7172" name="Rectangle 12"/>
          <p:cNvSpPr/>
          <p:nvPr/>
        </p:nvSpPr>
        <p:spPr>
          <a:xfrm>
            <a:off x="369888" y="3533775"/>
            <a:ext cx="8610600" cy="2800350"/>
          </a:xfrm>
          <a:prstGeom prst="rect">
            <a:avLst/>
          </a:prstGeom>
          <a:noFill/>
          <a:ln w="9525">
            <a:noFill/>
          </a:ln>
        </p:spPr>
        <p:txBody>
          <a:bodyPr/>
          <a:lstStyle>
            <a:lvl1pPr marL="285750" indent="-285750" algn="l" rtl="0" eaLnBrk="0" fontAlgn="base" hangingPunct="0">
              <a:lnSpc>
                <a:spcPct val="90000"/>
              </a:lnSpc>
              <a:spcBef>
                <a:spcPct val="30000"/>
              </a:spcBef>
              <a:spcAft>
                <a:spcPct val="0"/>
              </a:spcAft>
              <a:buSzPct val="75000"/>
              <a:buFont typeface="Wingdings" panose="05000000000000000000" pitchFamily="2" charset="2"/>
              <a:buChar char="u"/>
              <a:defRPr sz="20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accent2"/>
                </a:solidFill>
                <a:latin typeface="+mn-lt"/>
                <a:ea typeface="+mn-ea"/>
                <a:cs typeface="+mn-cs"/>
              </a:defRPr>
            </a:lvl2pPr>
            <a:lvl3pPr marL="1143000" indent="-228600" algn="l" rtl="0" eaLnBrk="0" fontAlgn="base" hangingPunct="0">
              <a:lnSpc>
                <a:spcPct val="90000"/>
              </a:lnSpc>
              <a:spcBef>
                <a:spcPct val="30000"/>
              </a:spcBef>
              <a:spcAft>
                <a:spcPct val="0"/>
              </a:spcAft>
              <a:buSzPct val="100000"/>
              <a:buChar char="»"/>
              <a:defRPr b="1">
                <a:solidFill>
                  <a:srgbClr val="A50021"/>
                </a:solidFill>
                <a:latin typeface="+mn-lt"/>
                <a:ea typeface="+mn-ea"/>
                <a:cs typeface="+mn-cs"/>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4pPr>
            <a:lvl5pPr marL="20002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5pPr>
          </a:lstStyle>
          <a:p>
            <a:pPr marL="285750" lvl="0" indent="-285750">
              <a:lnSpc>
                <a:spcPct val="120000"/>
              </a:lnSpc>
              <a:spcBef>
                <a:spcPct val="0"/>
              </a:spcBef>
              <a:buNone/>
            </a:pPr>
            <a:r>
              <a:rPr lang="zh-CN" altLang="en-US" sz="1800" dirty="0">
                <a:solidFill>
                  <a:srgbClr val="CC3300"/>
                </a:solidFill>
                <a:latin typeface="Arial" panose="020B0604020202020204" pitchFamily="34" charset="0"/>
                <a:ea typeface="黑体" panose="02010609060101010101" pitchFamily="49" charset="-122"/>
              </a:rPr>
              <a:t>二地址指令（最常用）</a:t>
            </a:r>
            <a:endParaRPr lang="zh-CN" altLang="en-US" sz="1800" dirty="0">
              <a:solidFill>
                <a:srgbClr val="CC3300"/>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Char char=" "/>
            </a:pPr>
            <a:r>
              <a:rPr lang="zh-CN" altLang="en-US" sz="1800" dirty="0">
                <a:solidFill>
                  <a:srgbClr val="31209A"/>
                </a:solidFill>
                <a:latin typeface="Arial" panose="020B0604020202020204" pitchFamily="34" charset="0"/>
                <a:ea typeface="黑体" panose="02010609060101010101" pitchFamily="49" charset="-122"/>
              </a:rPr>
              <a:t>分别存放双目运算中两个操作数，并将其中一个地址作为结果的地址。 </a:t>
            </a:r>
            <a:endParaRPr lang="zh-CN" altLang="en-US" sz="1800" dirty="0">
              <a:solidFill>
                <a:srgbClr val="31209A"/>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Char char=" "/>
            </a:pPr>
            <a:r>
              <a:rPr lang="zh-CN" altLang="en-US" sz="1800" dirty="0">
                <a:solidFill>
                  <a:srgbClr val="31209A"/>
                </a:solidFill>
                <a:latin typeface="Arial" panose="020B0604020202020204" pitchFamily="34" charset="0"/>
                <a:ea typeface="黑体" panose="02010609060101010101" pitchFamily="49" charset="-122"/>
              </a:rPr>
              <a:t>形式：</a:t>
            </a:r>
            <a:endParaRPr lang="zh-CN" altLang="en-US" sz="1800" dirty="0">
              <a:solidFill>
                <a:srgbClr val="31209A"/>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None/>
            </a:pPr>
            <a:r>
              <a:rPr lang="zh-CN" altLang="en-US" sz="1800" dirty="0">
                <a:solidFill>
                  <a:srgbClr val="CC3300"/>
                </a:solidFill>
                <a:latin typeface="Arial" panose="020B0604020202020204" pitchFamily="34" charset="0"/>
                <a:ea typeface="黑体" panose="02010609060101010101" pitchFamily="49" charset="-122"/>
              </a:rPr>
              <a:t>三地址指令（</a:t>
            </a:r>
            <a:r>
              <a:rPr lang="en-US" altLang="zh-CN" sz="1800" dirty="0">
                <a:solidFill>
                  <a:srgbClr val="CC3300"/>
                </a:solidFill>
                <a:latin typeface="Arial" panose="020B0604020202020204" pitchFamily="34" charset="0"/>
                <a:ea typeface="黑体" panose="02010609060101010101" pitchFamily="49" charset="-122"/>
              </a:rPr>
              <a:t>RISC</a:t>
            </a:r>
            <a:r>
              <a:rPr lang="zh-CN" altLang="en-US" sz="1800" dirty="0">
                <a:solidFill>
                  <a:srgbClr val="CC3300"/>
                </a:solidFill>
                <a:latin typeface="Arial" panose="020B0604020202020204" pitchFamily="34" charset="0"/>
                <a:ea typeface="黑体" panose="02010609060101010101" pitchFamily="49" charset="-122"/>
              </a:rPr>
              <a:t>风格）</a:t>
            </a:r>
            <a:endParaRPr lang="zh-CN" altLang="en-US" sz="1800" dirty="0">
              <a:solidFill>
                <a:srgbClr val="CC3300"/>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Char char=" "/>
            </a:pPr>
            <a:r>
              <a:rPr lang="zh-CN" altLang="en-US" sz="1800" dirty="0">
                <a:solidFill>
                  <a:srgbClr val="31209A"/>
                </a:solidFill>
                <a:latin typeface="Arial" panose="020B0604020202020204" pitchFamily="34" charset="0"/>
                <a:ea typeface="黑体" panose="02010609060101010101" pitchFamily="49" charset="-122"/>
              </a:rPr>
              <a:t>分别作为双目运算中两个源操作数的地址和一个结果的地址。</a:t>
            </a:r>
            <a:endParaRPr lang="zh-CN" altLang="en-US" sz="1800" dirty="0">
              <a:solidFill>
                <a:srgbClr val="31209A"/>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Char char=" "/>
            </a:pPr>
            <a:r>
              <a:rPr lang="zh-CN" altLang="en-US" sz="1800" dirty="0">
                <a:solidFill>
                  <a:srgbClr val="31209A"/>
                </a:solidFill>
                <a:latin typeface="Arial" panose="020B0604020202020204" pitchFamily="34" charset="0"/>
                <a:ea typeface="黑体" panose="02010609060101010101" pitchFamily="49" charset="-122"/>
              </a:rPr>
              <a:t>形式：</a:t>
            </a:r>
            <a:endParaRPr lang="zh-CN" altLang="en-US" sz="1800" dirty="0">
              <a:solidFill>
                <a:srgbClr val="31209A"/>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None/>
            </a:pPr>
            <a:r>
              <a:rPr lang="zh-CN" altLang="en-US" sz="1800" dirty="0">
                <a:solidFill>
                  <a:srgbClr val="CC3300"/>
                </a:solidFill>
                <a:latin typeface="Arial" panose="020B0604020202020204" pitchFamily="34" charset="0"/>
                <a:ea typeface="黑体" panose="02010609060101010101" pitchFamily="49" charset="-122"/>
              </a:rPr>
              <a:t>多地址指令</a:t>
            </a:r>
            <a:endParaRPr lang="zh-CN" altLang="en-US" sz="1800" dirty="0">
              <a:solidFill>
                <a:srgbClr val="CC3300"/>
              </a:solidFill>
              <a:latin typeface="Arial" panose="020B0604020202020204" pitchFamily="34" charset="0"/>
              <a:ea typeface="黑体" panose="02010609060101010101" pitchFamily="49" charset="-122"/>
            </a:endParaRPr>
          </a:p>
          <a:p>
            <a:pPr marL="285750" lvl="0" indent="-285750">
              <a:lnSpc>
                <a:spcPct val="120000"/>
              </a:lnSpc>
              <a:spcBef>
                <a:spcPct val="0"/>
              </a:spcBef>
              <a:buFont typeface="Monotype Sorts" pitchFamily="2" charset="2"/>
              <a:buChar char=" "/>
            </a:pPr>
            <a:r>
              <a:rPr lang="zh-CN" altLang="en-US" sz="1800" dirty="0">
                <a:solidFill>
                  <a:srgbClr val="31209A"/>
                </a:solidFill>
                <a:latin typeface="Arial" panose="020B0604020202020204" pitchFamily="34" charset="0"/>
                <a:ea typeface="黑体" panose="02010609060101010101" pitchFamily="49" charset="-122"/>
              </a:rPr>
              <a:t>用于成批数据处理的指令，如</a:t>
            </a:r>
            <a:r>
              <a:rPr lang="en-US" altLang="zh-CN" sz="1800" dirty="0">
                <a:solidFill>
                  <a:srgbClr val="31209A"/>
                </a:solidFill>
                <a:latin typeface="Arial" panose="020B0604020202020204" pitchFamily="34" charset="0"/>
                <a:ea typeface="黑体" panose="02010609060101010101" pitchFamily="49" charset="-122"/>
              </a:rPr>
              <a:t>:</a:t>
            </a:r>
            <a:r>
              <a:rPr lang="zh-CN" altLang="en-US" sz="1800" dirty="0">
                <a:solidFill>
                  <a:srgbClr val="31209A"/>
                </a:solidFill>
                <a:latin typeface="Arial" panose="020B0604020202020204" pitchFamily="34" charset="0"/>
                <a:ea typeface="黑体" panose="02010609060101010101" pitchFamily="49" charset="-122"/>
              </a:rPr>
              <a:t>向量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矩阵等运算的</a:t>
            </a:r>
            <a:r>
              <a:rPr lang="en-US" altLang="zh-CN" sz="1800" dirty="0">
                <a:solidFill>
                  <a:srgbClr val="31209A"/>
                </a:solidFill>
                <a:latin typeface="Arial" panose="020B0604020202020204" pitchFamily="34" charset="0"/>
                <a:ea typeface="黑体" panose="02010609060101010101" pitchFamily="49" charset="-122"/>
              </a:rPr>
              <a:t>SIMD</a:t>
            </a:r>
            <a:r>
              <a:rPr lang="zh-CN" altLang="en-US" sz="1800" dirty="0">
                <a:solidFill>
                  <a:srgbClr val="31209A"/>
                </a:solidFill>
                <a:latin typeface="Arial" panose="020B0604020202020204" pitchFamily="34" charset="0"/>
                <a:ea typeface="黑体" panose="02010609060101010101" pitchFamily="49" charset="-122"/>
              </a:rPr>
              <a:t>指令。</a:t>
            </a:r>
            <a:endParaRPr lang="zh-CN" altLang="en-US" sz="1800" dirty="0">
              <a:latin typeface="Arial" panose="020B0604020202020204" pitchFamily="34" charset="0"/>
              <a:ea typeface="黑体" panose="02010609060101010101" pitchFamily="49" charset="-122"/>
            </a:endParaRPr>
          </a:p>
        </p:txBody>
      </p:sp>
      <p:grpSp>
        <p:nvGrpSpPr>
          <p:cNvPr id="7173" name="组合 40"/>
          <p:cNvGrpSpPr/>
          <p:nvPr/>
        </p:nvGrpSpPr>
        <p:grpSpPr>
          <a:xfrm>
            <a:off x="1393825" y="1646238"/>
            <a:ext cx="3024188" cy="3943350"/>
            <a:chOff x="1393825" y="1878013"/>
            <a:chExt cx="3024188" cy="3943350"/>
          </a:xfrm>
        </p:grpSpPr>
        <p:sp>
          <p:nvSpPr>
            <p:cNvPr id="7174" name="Rectangle 5"/>
            <p:cNvSpPr/>
            <p:nvPr/>
          </p:nvSpPr>
          <p:spPr>
            <a:xfrm flipV="1">
              <a:off x="1471613" y="1936971"/>
              <a:ext cx="1066800" cy="235831"/>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7175" name="Text Box 6"/>
            <p:cNvSpPr txBox="1"/>
            <p:nvPr/>
          </p:nvSpPr>
          <p:spPr>
            <a:xfrm>
              <a:off x="1700213" y="1878013"/>
              <a:ext cx="6858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OP</a:t>
              </a:r>
              <a:endParaRPr lang="en-US" altLang="zh-CN" sz="1600" dirty="0">
                <a:solidFill>
                  <a:schemeClr val="tx1"/>
                </a:solidFill>
                <a:latin typeface="Arial" panose="020B0604020202020204" pitchFamily="34" charset="0"/>
              </a:endParaRPr>
            </a:p>
          </p:txBody>
        </p:sp>
        <p:sp>
          <p:nvSpPr>
            <p:cNvPr id="7176" name="Line 8"/>
            <p:cNvSpPr/>
            <p:nvPr/>
          </p:nvSpPr>
          <p:spPr>
            <a:xfrm>
              <a:off x="2401743" y="3443288"/>
              <a:ext cx="0" cy="261398"/>
            </a:xfrm>
            <a:prstGeom prst="line">
              <a:avLst/>
            </a:prstGeom>
            <a:ln w="9525" cap="flat" cmpd="sng">
              <a:solidFill>
                <a:schemeClr val="tx1"/>
              </a:solidFill>
              <a:prstDash val="solid"/>
              <a:headEnd type="none" w="med" len="med"/>
              <a:tailEnd type="none" w="med" len="med"/>
            </a:ln>
          </p:spPr>
        </p:sp>
        <p:sp>
          <p:nvSpPr>
            <p:cNvPr id="7177" name="Rectangle 9"/>
            <p:cNvSpPr/>
            <p:nvPr/>
          </p:nvSpPr>
          <p:spPr>
            <a:xfrm flipV="1">
              <a:off x="1393825" y="3443288"/>
              <a:ext cx="1763857" cy="261398"/>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7178" name="Text Box 10"/>
            <p:cNvSpPr txBox="1"/>
            <p:nvPr/>
          </p:nvSpPr>
          <p:spPr>
            <a:xfrm>
              <a:off x="1645805" y="3443288"/>
              <a:ext cx="755939"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OP</a:t>
              </a:r>
              <a:endParaRPr lang="en-US" altLang="zh-CN" sz="1600" dirty="0">
                <a:solidFill>
                  <a:schemeClr val="tx1"/>
                </a:solidFill>
                <a:latin typeface="Arial" panose="020B0604020202020204" pitchFamily="34" charset="0"/>
              </a:endParaRPr>
            </a:p>
          </p:txBody>
        </p:sp>
        <p:sp>
          <p:nvSpPr>
            <p:cNvPr id="7179" name="Text Box 11"/>
            <p:cNvSpPr txBox="1"/>
            <p:nvPr/>
          </p:nvSpPr>
          <p:spPr>
            <a:xfrm>
              <a:off x="2569730" y="3443288"/>
              <a:ext cx="671945"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A1</a:t>
              </a:r>
              <a:endParaRPr lang="en-US" altLang="zh-CN" sz="1600" dirty="0">
                <a:solidFill>
                  <a:schemeClr val="tx1"/>
                </a:solidFill>
                <a:latin typeface="Arial" panose="020B0604020202020204" pitchFamily="34" charset="0"/>
              </a:endParaRPr>
            </a:p>
          </p:txBody>
        </p:sp>
        <p:sp>
          <p:nvSpPr>
            <p:cNvPr id="7180" name="Line 14"/>
            <p:cNvSpPr/>
            <p:nvPr/>
          </p:nvSpPr>
          <p:spPr>
            <a:xfrm>
              <a:off x="2513013" y="5543771"/>
              <a:ext cx="0" cy="235831"/>
            </a:xfrm>
            <a:prstGeom prst="line">
              <a:avLst/>
            </a:prstGeom>
            <a:ln w="9525" cap="flat" cmpd="sng">
              <a:solidFill>
                <a:schemeClr val="tx1"/>
              </a:solidFill>
              <a:prstDash val="solid"/>
              <a:headEnd type="none" w="med" len="med"/>
              <a:tailEnd type="none" w="med" len="med"/>
            </a:ln>
          </p:spPr>
        </p:sp>
        <p:sp>
          <p:nvSpPr>
            <p:cNvPr id="7181" name="Text Box 15"/>
            <p:cNvSpPr txBox="1"/>
            <p:nvPr/>
          </p:nvSpPr>
          <p:spPr>
            <a:xfrm>
              <a:off x="3198813" y="5484813"/>
              <a:ext cx="6096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A2</a:t>
              </a:r>
              <a:endParaRPr lang="en-US" altLang="zh-CN" sz="1600" dirty="0">
                <a:solidFill>
                  <a:schemeClr val="tx1"/>
                </a:solidFill>
                <a:latin typeface="Arial" panose="020B0604020202020204" pitchFamily="34" charset="0"/>
              </a:endParaRPr>
            </a:p>
          </p:txBody>
        </p:sp>
        <p:sp>
          <p:nvSpPr>
            <p:cNvPr id="7182" name="Text Box 16"/>
            <p:cNvSpPr txBox="1"/>
            <p:nvPr/>
          </p:nvSpPr>
          <p:spPr>
            <a:xfrm>
              <a:off x="3808413" y="5484813"/>
              <a:ext cx="6096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A3</a:t>
              </a:r>
              <a:endParaRPr lang="en-US" altLang="zh-CN" sz="1600" dirty="0">
                <a:solidFill>
                  <a:schemeClr val="tx1"/>
                </a:solidFill>
                <a:latin typeface="Arial" panose="020B0604020202020204" pitchFamily="34" charset="0"/>
              </a:endParaRPr>
            </a:p>
          </p:txBody>
        </p:sp>
        <p:sp>
          <p:nvSpPr>
            <p:cNvPr id="7183" name="Rectangle 17"/>
            <p:cNvSpPr/>
            <p:nvPr/>
          </p:nvSpPr>
          <p:spPr>
            <a:xfrm flipV="1">
              <a:off x="1522413" y="5543771"/>
              <a:ext cx="2819400" cy="235831"/>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7184" name="Text Box 18"/>
            <p:cNvSpPr txBox="1"/>
            <p:nvPr/>
          </p:nvSpPr>
          <p:spPr>
            <a:xfrm>
              <a:off x="1751013" y="5484813"/>
              <a:ext cx="6858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OP</a:t>
              </a:r>
              <a:endParaRPr lang="en-US" altLang="zh-CN" sz="1600" dirty="0">
                <a:solidFill>
                  <a:schemeClr val="tx1"/>
                </a:solidFill>
                <a:latin typeface="Arial" panose="020B0604020202020204" pitchFamily="34" charset="0"/>
              </a:endParaRPr>
            </a:p>
          </p:txBody>
        </p:sp>
        <p:sp>
          <p:nvSpPr>
            <p:cNvPr id="7185" name="Text Box 19"/>
            <p:cNvSpPr txBox="1"/>
            <p:nvPr/>
          </p:nvSpPr>
          <p:spPr>
            <a:xfrm>
              <a:off x="2589213" y="5484813"/>
              <a:ext cx="6096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A1</a:t>
              </a:r>
              <a:endParaRPr lang="en-US" altLang="zh-CN" sz="1600" dirty="0">
                <a:solidFill>
                  <a:schemeClr val="tx1"/>
                </a:solidFill>
                <a:latin typeface="Arial" panose="020B0604020202020204" pitchFamily="34" charset="0"/>
              </a:endParaRPr>
            </a:p>
          </p:txBody>
        </p:sp>
        <p:sp>
          <p:nvSpPr>
            <p:cNvPr id="7186" name="Line 20"/>
            <p:cNvSpPr/>
            <p:nvPr/>
          </p:nvSpPr>
          <p:spPr>
            <a:xfrm>
              <a:off x="3122613" y="5543771"/>
              <a:ext cx="0" cy="235831"/>
            </a:xfrm>
            <a:prstGeom prst="line">
              <a:avLst/>
            </a:prstGeom>
            <a:ln w="9525" cap="flat" cmpd="sng">
              <a:solidFill>
                <a:schemeClr val="tx1"/>
              </a:solidFill>
              <a:prstDash val="solid"/>
              <a:headEnd type="none" w="med" len="med"/>
              <a:tailEnd type="none" w="med" len="med"/>
            </a:ln>
          </p:spPr>
        </p:sp>
        <p:sp>
          <p:nvSpPr>
            <p:cNvPr id="7187" name="Line 21"/>
            <p:cNvSpPr/>
            <p:nvPr/>
          </p:nvSpPr>
          <p:spPr>
            <a:xfrm>
              <a:off x="3732213" y="5543771"/>
              <a:ext cx="0" cy="235831"/>
            </a:xfrm>
            <a:prstGeom prst="line">
              <a:avLst/>
            </a:prstGeom>
            <a:ln w="9525" cap="flat" cmpd="sng">
              <a:solidFill>
                <a:schemeClr val="tx1"/>
              </a:solidFill>
              <a:prstDash val="solid"/>
              <a:headEnd type="none" w="med" len="med"/>
              <a:tailEnd type="none" w="med" len="med"/>
            </a:ln>
          </p:spPr>
        </p:sp>
        <p:sp>
          <p:nvSpPr>
            <p:cNvPr id="7188" name="Text Box 23"/>
            <p:cNvSpPr txBox="1"/>
            <p:nvPr/>
          </p:nvSpPr>
          <p:spPr>
            <a:xfrm>
              <a:off x="2619375" y="4438650"/>
              <a:ext cx="6096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A1</a:t>
              </a:r>
              <a:endParaRPr lang="en-US" altLang="zh-CN" sz="1600" dirty="0">
                <a:solidFill>
                  <a:schemeClr val="tx1"/>
                </a:solidFill>
                <a:latin typeface="Arial" panose="020B0604020202020204" pitchFamily="34" charset="0"/>
              </a:endParaRPr>
            </a:p>
          </p:txBody>
        </p:sp>
        <p:sp>
          <p:nvSpPr>
            <p:cNvPr id="7189" name="Rectangle 24"/>
            <p:cNvSpPr/>
            <p:nvPr/>
          </p:nvSpPr>
          <p:spPr>
            <a:xfrm flipV="1">
              <a:off x="1476375" y="4501508"/>
              <a:ext cx="2209800" cy="25143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7190" name="Text Box 25"/>
            <p:cNvSpPr txBox="1"/>
            <p:nvPr/>
          </p:nvSpPr>
          <p:spPr>
            <a:xfrm>
              <a:off x="1704975" y="4438650"/>
              <a:ext cx="6858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OP</a:t>
              </a:r>
              <a:endParaRPr lang="en-US" altLang="zh-CN" sz="1600" dirty="0">
                <a:solidFill>
                  <a:schemeClr val="tx1"/>
                </a:solidFill>
                <a:latin typeface="Arial" panose="020B0604020202020204" pitchFamily="34" charset="0"/>
              </a:endParaRPr>
            </a:p>
          </p:txBody>
        </p:sp>
        <p:sp>
          <p:nvSpPr>
            <p:cNvPr id="7191" name="Line 26"/>
            <p:cNvSpPr/>
            <p:nvPr/>
          </p:nvSpPr>
          <p:spPr>
            <a:xfrm>
              <a:off x="2543175" y="4501508"/>
              <a:ext cx="0" cy="251430"/>
            </a:xfrm>
            <a:prstGeom prst="line">
              <a:avLst/>
            </a:prstGeom>
            <a:ln w="9525" cap="flat" cmpd="sng">
              <a:solidFill>
                <a:schemeClr val="tx1"/>
              </a:solidFill>
              <a:prstDash val="solid"/>
              <a:headEnd type="none" w="med" len="med"/>
              <a:tailEnd type="none" w="med" len="med"/>
            </a:ln>
          </p:spPr>
        </p:sp>
        <p:sp>
          <p:nvSpPr>
            <p:cNvPr id="7192" name="Line 27"/>
            <p:cNvSpPr/>
            <p:nvPr/>
          </p:nvSpPr>
          <p:spPr>
            <a:xfrm>
              <a:off x="3152775" y="4501508"/>
              <a:ext cx="0" cy="251430"/>
            </a:xfrm>
            <a:prstGeom prst="line">
              <a:avLst/>
            </a:prstGeom>
            <a:ln w="9525" cap="flat" cmpd="sng">
              <a:solidFill>
                <a:schemeClr val="tx1"/>
              </a:solidFill>
              <a:prstDash val="solid"/>
              <a:headEnd type="none" w="med" len="med"/>
              <a:tailEnd type="none" w="med" len="med"/>
            </a:ln>
          </p:spPr>
        </p:sp>
        <p:sp>
          <p:nvSpPr>
            <p:cNvPr id="7193" name="Text Box 28"/>
            <p:cNvSpPr txBox="1"/>
            <p:nvPr/>
          </p:nvSpPr>
          <p:spPr>
            <a:xfrm>
              <a:off x="3152775" y="4438650"/>
              <a:ext cx="609600" cy="336550"/>
            </a:xfrm>
            <a:prstGeom prst="rect">
              <a:avLst/>
            </a:prstGeom>
            <a:noFill/>
            <a:ln w="9525">
              <a:noFill/>
            </a:ln>
          </p:spPr>
          <p:txBody>
            <a:bodyPr>
              <a:spAutoFit/>
            </a:bodyPr>
            <a:lstStyle/>
            <a:p>
              <a:pPr eaLnBrk="1" hangingPunct="1">
                <a:spcBef>
                  <a:spcPct val="50000"/>
                </a:spcBef>
              </a:pPr>
              <a:r>
                <a:rPr lang="en-US" altLang="zh-CN" sz="1600" dirty="0">
                  <a:solidFill>
                    <a:schemeClr val="tx1"/>
                  </a:solidFill>
                  <a:latin typeface="Arial" panose="020B0604020202020204" pitchFamily="34" charset="0"/>
                </a:rPr>
                <a:t>A2</a:t>
              </a:r>
              <a:endParaRPr lang="en-US" altLang="zh-CN" sz="1600" dirty="0">
                <a:solidFill>
                  <a:schemeClr val="tx1"/>
                </a:solidFill>
                <a:latin typeface="Arial" panose="020B0604020202020204" pitchFamily="34"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711200" y="114300"/>
            <a:ext cx="6610350" cy="368300"/>
          </a:xfrm>
        </p:spPr>
        <p:txBody>
          <a:bodyPr vert="horz" wrap="square" lIns="63500" tIns="25400" rIns="63500" bIns="25400" anchor="t" anchorCtr="0">
            <a:spAutoFit/>
          </a:bodyPr>
          <a:lstStyle/>
          <a:p>
            <a:r>
              <a:rPr lang="zh-CN" altLang="en-US" dirty="0">
                <a:ea typeface="宋体" panose="02010600030101010101" pitchFamily="2" charset="-122"/>
              </a:rPr>
              <a:t>从指令执行周期看指令设计涉及的问题</a:t>
            </a:r>
            <a:endParaRPr lang="en-US" altLang="zh-CN" dirty="0">
              <a:ea typeface="宋体" panose="02010600030101010101" pitchFamily="2" charset="-122"/>
            </a:endParaRPr>
          </a:p>
        </p:txBody>
      </p:sp>
      <p:sp>
        <p:nvSpPr>
          <p:cNvPr id="8195" name="Rectangle 3"/>
          <p:cNvSpPr/>
          <p:nvPr/>
        </p:nvSpPr>
        <p:spPr>
          <a:xfrm>
            <a:off x="933450" y="100965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marL="342900" indent="-342900" algn="ctr">
              <a:lnSpc>
                <a:spcPct val="86000"/>
              </a:lnSpc>
              <a:spcBef>
                <a:spcPct val="40000"/>
              </a:spcBef>
            </a:pPr>
            <a:r>
              <a:rPr lang="en-US" altLang="zh-CN" sz="1800" i="1" dirty="0">
                <a:solidFill>
                  <a:schemeClr val="tx1"/>
                </a:solidFill>
                <a:latin typeface="Arial" panose="020B0604020202020204" pitchFamily="34" charset="0"/>
              </a:rPr>
              <a:t>Instruction</a:t>
            </a:r>
            <a:endParaRPr lang="en-US" altLang="zh-CN" sz="1800" i="1" dirty="0">
              <a:solidFill>
                <a:schemeClr val="tx1"/>
              </a:solidFill>
              <a:latin typeface="Arial" panose="020B0604020202020204" pitchFamily="34" charset="0"/>
            </a:endParaRPr>
          </a:p>
          <a:p>
            <a:pPr marL="342900" indent="-342900" algn="ctr">
              <a:lnSpc>
                <a:spcPct val="86000"/>
              </a:lnSpc>
              <a:spcBef>
                <a:spcPct val="40000"/>
              </a:spcBef>
            </a:pPr>
            <a:r>
              <a:rPr lang="en-US" altLang="zh-CN" sz="1800" i="1" dirty="0">
                <a:solidFill>
                  <a:schemeClr val="tx1"/>
                </a:solidFill>
                <a:latin typeface="Arial" panose="020B0604020202020204" pitchFamily="34" charset="0"/>
              </a:rPr>
              <a:t>Fetch</a:t>
            </a:r>
            <a:endParaRPr lang="en-US" altLang="zh-CN" sz="1800" i="1" dirty="0">
              <a:solidFill>
                <a:schemeClr val="tx1"/>
              </a:solidFill>
              <a:latin typeface="Arial" panose="020B0604020202020204" pitchFamily="34" charset="0"/>
            </a:endParaRPr>
          </a:p>
        </p:txBody>
      </p:sp>
      <p:sp>
        <p:nvSpPr>
          <p:cNvPr id="8196" name="Rectangle 4"/>
          <p:cNvSpPr/>
          <p:nvPr/>
        </p:nvSpPr>
        <p:spPr>
          <a:xfrm>
            <a:off x="933450" y="200025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marL="342900" indent="-342900" algn="ctr">
              <a:lnSpc>
                <a:spcPct val="86000"/>
              </a:lnSpc>
              <a:spcBef>
                <a:spcPct val="40000"/>
              </a:spcBef>
            </a:pPr>
            <a:r>
              <a:rPr lang="en-US" altLang="zh-CN" sz="1800" i="1" dirty="0">
                <a:solidFill>
                  <a:schemeClr val="tx1"/>
                </a:solidFill>
                <a:latin typeface="Arial" panose="020B0604020202020204" pitchFamily="34" charset="0"/>
              </a:rPr>
              <a:t>Instruction</a:t>
            </a:r>
            <a:endParaRPr lang="en-US" altLang="zh-CN" sz="1800" i="1" dirty="0">
              <a:solidFill>
                <a:schemeClr val="tx1"/>
              </a:solidFill>
              <a:latin typeface="Arial" panose="020B0604020202020204" pitchFamily="34" charset="0"/>
            </a:endParaRPr>
          </a:p>
          <a:p>
            <a:pPr marL="342900" indent="-342900" algn="ctr">
              <a:lnSpc>
                <a:spcPct val="86000"/>
              </a:lnSpc>
              <a:spcBef>
                <a:spcPct val="40000"/>
              </a:spcBef>
            </a:pPr>
            <a:r>
              <a:rPr lang="en-US" altLang="zh-CN" sz="1800" i="1" dirty="0">
                <a:solidFill>
                  <a:schemeClr val="tx1"/>
                </a:solidFill>
                <a:latin typeface="Arial" panose="020B0604020202020204" pitchFamily="34" charset="0"/>
              </a:rPr>
              <a:t>Decode</a:t>
            </a:r>
            <a:endParaRPr lang="en-US" altLang="zh-CN" sz="1800" i="1" dirty="0">
              <a:solidFill>
                <a:schemeClr val="tx1"/>
              </a:solidFill>
              <a:latin typeface="Arial" panose="020B0604020202020204" pitchFamily="34" charset="0"/>
            </a:endParaRPr>
          </a:p>
        </p:txBody>
      </p:sp>
      <p:sp>
        <p:nvSpPr>
          <p:cNvPr id="8197" name="Rectangle 5"/>
          <p:cNvSpPr/>
          <p:nvPr/>
        </p:nvSpPr>
        <p:spPr>
          <a:xfrm>
            <a:off x="933450" y="299085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marL="342900" indent="-342900" algn="ctr">
              <a:lnSpc>
                <a:spcPct val="86000"/>
              </a:lnSpc>
              <a:spcBef>
                <a:spcPct val="40000"/>
              </a:spcBef>
            </a:pPr>
            <a:r>
              <a:rPr lang="en-US" altLang="zh-CN" sz="1800" i="1" dirty="0">
                <a:solidFill>
                  <a:schemeClr val="tx1"/>
                </a:solidFill>
                <a:latin typeface="Arial" panose="020B0604020202020204" pitchFamily="34" charset="0"/>
              </a:rPr>
              <a:t>Operand</a:t>
            </a:r>
            <a:endParaRPr lang="en-US" altLang="zh-CN" sz="1800" i="1" dirty="0">
              <a:solidFill>
                <a:schemeClr val="tx1"/>
              </a:solidFill>
              <a:latin typeface="Arial" panose="020B0604020202020204" pitchFamily="34" charset="0"/>
            </a:endParaRPr>
          </a:p>
          <a:p>
            <a:pPr marL="342900" indent="-342900" algn="ctr">
              <a:lnSpc>
                <a:spcPct val="86000"/>
              </a:lnSpc>
              <a:spcBef>
                <a:spcPct val="40000"/>
              </a:spcBef>
            </a:pPr>
            <a:r>
              <a:rPr lang="en-US" altLang="zh-CN" sz="1800" i="1" dirty="0">
                <a:solidFill>
                  <a:schemeClr val="tx1"/>
                </a:solidFill>
                <a:latin typeface="Arial" panose="020B0604020202020204" pitchFamily="34" charset="0"/>
              </a:rPr>
              <a:t>Fetch</a:t>
            </a:r>
            <a:endParaRPr lang="en-US" altLang="zh-CN" sz="1800" i="1" dirty="0">
              <a:solidFill>
                <a:schemeClr val="tx1"/>
              </a:solidFill>
              <a:latin typeface="Arial" panose="020B0604020202020204" pitchFamily="34" charset="0"/>
            </a:endParaRPr>
          </a:p>
        </p:txBody>
      </p:sp>
      <p:sp>
        <p:nvSpPr>
          <p:cNvPr id="8198" name="Rectangle 6"/>
          <p:cNvSpPr/>
          <p:nvPr/>
        </p:nvSpPr>
        <p:spPr>
          <a:xfrm>
            <a:off x="933450" y="3981450"/>
            <a:ext cx="1574800" cy="304800"/>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marL="342900" indent="-342900" algn="ctr">
              <a:lnSpc>
                <a:spcPct val="88000"/>
              </a:lnSpc>
              <a:spcBef>
                <a:spcPct val="43000"/>
              </a:spcBef>
            </a:pPr>
            <a:r>
              <a:rPr lang="en-US" altLang="zh-CN" sz="1800" i="1" dirty="0">
                <a:solidFill>
                  <a:schemeClr val="tx1"/>
                </a:solidFill>
                <a:latin typeface="Arial" panose="020B0604020202020204" pitchFamily="34" charset="0"/>
              </a:rPr>
              <a:t>Execute</a:t>
            </a:r>
            <a:endParaRPr lang="en-US" altLang="zh-CN" sz="1800" i="1" dirty="0">
              <a:solidFill>
                <a:schemeClr val="tx1"/>
              </a:solidFill>
              <a:latin typeface="Arial" panose="020B0604020202020204" pitchFamily="34" charset="0"/>
            </a:endParaRPr>
          </a:p>
        </p:txBody>
      </p:sp>
      <p:sp>
        <p:nvSpPr>
          <p:cNvPr id="8199" name="Rectangle 7"/>
          <p:cNvSpPr/>
          <p:nvPr/>
        </p:nvSpPr>
        <p:spPr>
          <a:xfrm>
            <a:off x="933450" y="466725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marL="342900" indent="-342900" algn="ctr">
              <a:lnSpc>
                <a:spcPct val="86000"/>
              </a:lnSpc>
              <a:spcBef>
                <a:spcPct val="40000"/>
              </a:spcBef>
            </a:pPr>
            <a:r>
              <a:rPr lang="en-US" altLang="zh-CN" sz="1800" i="1" dirty="0">
                <a:solidFill>
                  <a:schemeClr val="tx1"/>
                </a:solidFill>
                <a:latin typeface="Arial" panose="020B0604020202020204" pitchFamily="34" charset="0"/>
              </a:rPr>
              <a:t>Result</a:t>
            </a:r>
            <a:endParaRPr lang="en-US" altLang="zh-CN" sz="1800" i="1" dirty="0">
              <a:solidFill>
                <a:schemeClr val="tx1"/>
              </a:solidFill>
              <a:latin typeface="Arial" panose="020B0604020202020204" pitchFamily="34" charset="0"/>
            </a:endParaRPr>
          </a:p>
          <a:p>
            <a:pPr marL="342900" indent="-342900" algn="ctr">
              <a:lnSpc>
                <a:spcPct val="86000"/>
              </a:lnSpc>
              <a:spcBef>
                <a:spcPct val="40000"/>
              </a:spcBef>
            </a:pPr>
            <a:r>
              <a:rPr lang="en-US" altLang="zh-CN" sz="1800" i="1" dirty="0">
                <a:solidFill>
                  <a:schemeClr val="tx1"/>
                </a:solidFill>
                <a:latin typeface="Arial" panose="020B0604020202020204" pitchFamily="34" charset="0"/>
              </a:rPr>
              <a:t>Store</a:t>
            </a:r>
            <a:endParaRPr lang="en-US" altLang="zh-CN" sz="1800" i="1" dirty="0">
              <a:solidFill>
                <a:schemeClr val="tx1"/>
              </a:solidFill>
              <a:latin typeface="Arial" panose="020B0604020202020204" pitchFamily="34" charset="0"/>
            </a:endParaRPr>
          </a:p>
        </p:txBody>
      </p:sp>
      <p:sp>
        <p:nvSpPr>
          <p:cNvPr id="8200" name="Rectangle 8"/>
          <p:cNvSpPr/>
          <p:nvPr/>
        </p:nvSpPr>
        <p:spPr>
          <a:xfrm>
            <a:off x="933450" y="5657850"/>
            <a:ext cx="1574800" cy="646113"/>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marL="342900" indent="-342900" algn="ctr">
              <a:lnSpc>
                <a:spcPct val="86000"/>
              </a:lnSpc>
              <a:spcBef>
                <a:spcPct val="40000"/>
              </a:spcBef>
            </a:pPr>
            <a:r>
              <a:rPr lang="en-US" altLang="zh-CN" sz="1800" i="1" dirty="0">
                <a:solidFill>
                  <a:schemeClr val="tx1"/>
                </a:solidFill>
                <a:latin typeface="Arial" panose="020B0604020202020204" pitchFamily="34" charset="0"/>
              </a:rPr>
              <a:t>Next</a:t>
            </a:r>
            <a:endParaRPr lang="en-US" altLang="zh-CN" sz="1800" i="1" dirty="0">
              <a:solidFill>
                <a:schemeClr val="tx1"/>
              </a:solidFill>
              <a:latin typeface="Arial" panose="020B0604020202020204" pitchFamily="34" charset="0"/>
            </a:endParaRPr>
          </a:p>
          <a:p>
            <a:pPr marL="342900" indent="-342900" algn="ctr">
              <a:lnSpc>
                <a:spcPct val="86000"/>
              </a:lnSpc>
              <a:spcBef>
                <a:spcPct val="40000"/>
              </a:spcBef>
            </a:pPr>
            <a:r>
              <a:rPr lang="en-US" altLang="zh-CN" sz="1800" i="1" dirty="0">
                <a:solidFill>
                  <a:schemeClr val="tx1"/>
                </a:solidFill>
                <a:latin typeface="Arial" panose="020B0604020202020204" pitchFamily="34" charset="0"/>
              </a:rPr>
              <a:t>Instruction</a:t>
            </a:r>
            <a:endParaRPr lang="en-US" altLang="zh-CN" sz="1800" i="1" dirty="0">
              <a:solidFill>
                <a:schemeClr val="tx1"/>
              </a:solidFill>
              <a:latin typeface="Arial" panose="020B0604020202020204" pitchFamily="34" charset="0"/>
            </a:endParaRPr>
          </a:p>
        </p:txBody>
      </p:sp>
      <p:sp>
        <p:nvSpPr>
          <p:cNvPr id="8201" name="Line 9"/>
          <p:cNvSpPr/>
          <p:nvPr/>
        </p:nvSpPr>
        <p:spPr>
          <a:xfrm>
            <a:off x="1676400" y="1689100"/>
            <a:ext cx="0" cy="279400"/>
          </a:xfrm>
          <a:prstGeom prst="line">
            <a:avLst/>
          </a:prstGeom>
          <a:ln w="25400" cap="flat" cmpd="sng">
            <a:solidFill>
              <a:schemeClr val="tx1"/>
            </a:solidFill>
            <a:prstDash val="solid"/>
            <a:headEnd type="none" w="med" len="med"/>
            <a:tailEnd type="triangle" w="med" len="med"/>
          </a:ln>
        </p:spPr>
      </p:sp>
      <p:sp>
        <p:nvSpPr>
          <p:cNvPr id="8202" name="Line 10"/>
          <p:cNvSpPr/>
          <p:nvPr/>
        </p:nvSpPr>
        <p:spPr>
          <a:xfrm>
            <a:off x="1676400" y="3670300"/>
            <a:ext cx="0" cy="279400"/>
          </a:xfrm>
          <a:prstGeom prst="line">
            <a:avLst/>
          </a:prstGeom>
          <a:ln w="25400" cap="flat" cmpd="sng">
            <a:solidFill>
              <a:schemeClr val="tx1"/>
            </a:solidFill>
            <a:prstDash val="solid"/>
            <a:headEnd type="none" w="med" len="med"/>
            <a:tailEnd type="triangle" w="med" len="med"/>
          </a:ln>
        </p:spPr>
      </p:sp>
      <p:sp>
        <p:nvSpPr>
          <p:cNvPr id="8203" name="Line 11"/>
          <p:cNvSpPr/>
          <p:nvPr/>
        </p:nvSpPr>
        <p:spPr>
          <a:xfrm>
            <a:off x="1676400" y="2679700"/>
            <a:ext cx="0" cy="279400"/>
          </a:xfrm>
          <a:prstGeom prst="line">
            <a:avLst/>
          </a:prstGeom>
          <a:ln w="25400" cap="flat" cmpd="sng">
            <a:solidFill>
              <a:schemeClr val="tx1"/>
            </a:solidFill>
            <a:prstDash val="solid"/>
            <a:headEnd type="none" w="med" len="med"/>
            <a:tailEnd type="triangle" w="med" len="med"/>
          </a:ln>
        </p:spPr>
      </p:sp>
      <p:sp>
        <p:nvSpPr>
          <p:cNvPr id="8204" name="Line 12"/>
          <p:cNvSpPr/>
          <p:nvPr/>
        </p:nvSpPr>
        <p:spPr>
          <a:xfrm>
            <a:off x="1676400" y="5346700"/>
            <a:ext cx="0" cy="279400"/>
          </a:xfrm>
          <a:prstGeom prst="line">
            <a:avLst/>
          </a:prstGeom>
          <a:ln w="25400" cap="flat" cmpd="sng">
            <a:solidFill>
              <a:schemeClr val="tx1"/>
            </a:solidFill>
            <a:prstDash val="solid"/>
            <a:headEnd type="none" w="med" len="med"/>
            <a:tailEnd type="triangle" w="med" len="med"/>
          </a:ln>
        </p:spPr>
      </p:sp>
      <p:sp>
        <p:nvSpPr>
          <p:cNvPr id="8205" name="Line 13"/>
          <p:cNvSpPr/>
          <p:nvPr/>
        </p:nvSpPr>
        <p:spPr>
          <a:xfrm>
            <a:off x="1676400" y="4279900"/>
            <a:ext cx="0" cy="355600"/>
          </a:xfrm>
          <a:prstGeom prst="line">
            <a:avLst/>
          </a:prstGeom>
          <a:ln w="25400" cap="flat" cmpd="sng">
            <a:solidFill>
              <a:schemeClr val="tx1"/>
            </a:solidFill>
            <a:prstDash val="solid"/>
            <a:headEnd type="none" w="med" len="med"/>
            <a:tailEnd type="triangle" w="med" len="med"/>
          </a:ln>
        </p:spPr>
      </p:sp>
      <p:sp>
        <p:nvSpPr>
          <p:cNvPr id="8206" name="Line 14"/>
          <p:cNvSpPr/>
          <p:nvPr/>
        </p:nvSpPr>
        <p:spPr>
          <a:xfrm>
            <a:off x="1676400" y="6337300"/>
            <a:ext cx="0" cy="127000"/>
          </a:xfrm>
          <a:prstGeom prst="line">
            <a:avLst/>
          </a:prstGeom>
          <a:ln w="25400" cap="flat" cmpd="sng">
            <a:solidFill>
              <a:schemeClr val="tx1"/>
            </a:solidFill>
            <a:prstDash val="solid"/>
            <a:headEnd type="none" w="med" len="med"/>
            <a:tailEnd type="none" w="med" len="med"/>
          </a:ln>
        </p:spPr>
      </p:sp>
      <p:sp>
        <p:nvSpPr>
          <p:cNvPr id="8207" name="Line 15"/>
          <p:cNvSpPr/>
          <p:nvPr/>
        </p:nvSpPr>
        <p:spPr>
          <a:xfrm flipH="1">
            <a:off x="596900" y="6477000"/>
            <a:ext cx="1092200" cy="0"/>
          </a:xfrm>
          <a:prstGeom prst="line">
            <a:avLst/>
          </a:prstGeom>
          <a:ln w="25400" cap="flat" cmpd="sng">
            <a:solidFill>
              <a:schemeClr val="tx1"/>
            </a:solidFill>
            <a:prstDash val="solid"/>
            <a:headEnd type="none" w="med" len="med"/>
            <a:tailEnd type="none" w="med" len="med"/>
          </a:ln>
        </p:spPr>
      </p:sp>
      <p:sp>
        <p:nvSpPr>
          <p:cNvPr id="8208" name="Line 16"/>
          <p:cNvSpPr/>
          <p:nvPr/>
        </p:nvSpPr>
        <p:spPr>
          <a:xfrm flipV="1">
            <a:off x="609600" y="673100"/>
            <a:ext cx="0" cy="5816600"/>
          </a:xfrm>
          <a:prstGeom prst="line">
            <a:avLst/>
          </a:prstGeom>
          <a:ln w="25400" cap="flat" cmpd="sng">
            <a:solidFill>
              <a:schemeClr val="tx1"/>
            </a:solidFill>
            <a:prstDash val="solid"/>
            <a:headEnd type="none" w="med" len="med"/>
            <a:tailEnd type="none" w="med" len="med"/>
          </a:ln>
        </p:spPr>
      </p:sp>
      <p:sp>
        <p:nvSpPr>
          <p:cNvPr id="8209" name="Line 17"/>
          <p:cNvSpPr/>
          <p:nvPr/>
        </p:nvSpPr>
        <p:spPr>
          <a:xfrm>
            <a:off x="622300" y="685800"/>
            <a:ext cx="1041400" cy="0"/>
          </a:xfrm>
          <a:prstGeom prst="line">
            <a:avLst/>
          </a:prstGeom>
          <a:ln w="25400" cap="flat" cmpd="sng">
            <a:solidFill>
              <a:schemeClr val="tx1"/>
            </a:solidFill>
            <a:prstDash val="solid"/>
            <a:headEnd type="none" w="med" len="med"/>
            <a:tailEnd type="none" w="med" len="med"/>
          </a:ln>
        </p:spPr>
      </p:sp>
      <p:sp>
        <p:nvSpPr>
          <p:cNvPr id="8210" name="Line 18"/>
          <p:cNvSpPr/>
          <p:nvPr/>
        </p:nvSpPr>
        <p:spPr>
          <a:xfrm>
            <a:off x="1676400" y="698500"/>
            <a:ext cx="0" cy="279400"/>
          </a:xfrm>
          <a:prstGeom prst="line">
            <a:avLst/>
          </a:prstGeom>
          <a:ln w="25400" cap="flat" cmpd="sng">
            <a:solidFill>
              <a:schemeClr val="tx1"/>
            </a:solidFill>
            <a:prstDash val="solid"/>
            <a:headEnd type="none" w="med" len="med"/>
            <a:tailEnd type="triangle" w="med" len="med"/>
          </a:ln>
        </p:spPr>
      </p:sp>
      <p:sp>
        <p:nvSpPr>
          <p:cNvPr id="350227" name="Rectangle 19"/>
          <p:cNvSpPr/>
          <p:nvPr/>
        </p:nvSpPr>
        <p:spPr>
          <a:xfrm>
            <a:off x="3136900" y="1003300"/>
            <a:ext cx="5549900" cy="346075"/>
          </a:xfrm>
          <a:prstGeom prst="rect">
            <a:avLst/>
          </a:prstGeom>
          <a:noFill/>
          <a:ln w="12700">
            <a:noFill/>
          </a:ln>
        </p:spPr>
        <p:txBody>
          <a:bodyPr lIns="63500" tIns="25400" rIns="63500" bIns="25400">
            <a:spAutoFit/>
          </a:bodyPr>
          <a:lstStyle/>
          <a:p>
            <a:pPr marL="342900" indent="-342900" algn="just">
              <a:lnSpc>
                <a:spcPct val="97000"/>
              </a:lnSpc>
              <a:spcBef>
                <a:spcPct val="49000"/>
              </a:spcBef>
            </a:pPr>
            <a:r>
              <a:rPr lang="zh-CN" altLang="en-US" sz="2000" dirty="0">
                <a:solidFill>
                  <a:schemeClr val="tx1"/>
                </a:solidFill>
                <a:latin typeface="Arial" panose="020B0604020202020204" pitchFamily="34" charset="0"/>
              </a:rPr>
              <a:t>从存储器取指令</a:t>
            </a:r>
            <a:endParaRPr lang="zh-CN" altLang="en-US" sz="2000" dirty="0">
              <a:solidFill>
                <a:schemeClr val="tx1"/>
              </a:solidFill>
              <a:latin typeface="Arial" panose="020B0604020202020204" pitchFamily="34" charset="0"/>
            </a:endParaRPr>
          </a:p>
        </p:txBody>
      </p:sp>
      <p:sp>
        <p:nvSpPr>
          <p:cNvPr id="350228" name="Rectangle 20"/>
          <p:cNvSpPr/>
          <p:nvPr/>
        </p:nvSpPr>
        <p:spPr>
          <a:xfrm>
            <a:off x="3136900" y="1993900"/>
            <a:ext cx="5238750" cy="346075"/>
          </a:xfrm>
          <a:prstGeom prst="rect">
            <a:avLst/>
          </a:prstGeom>
          <a:noFill/>
          <a:ln w="12700">
            <a:noFill/>
          </a:ln>
        </p:spPr>
        <p:txBody>
          <a:bodyPr lIns="63500" tIns="25400" rIns="63500" bIns="25400">
            <a:spAutoFit/>
          </a:bodyPr>
          <a:lstStyle/>
          <a:p>
            <a:pPr marL="342900" indent="-342900" algn="just">
              <a:lnSpc>
                <a:spcPct val="97000"/>
              </a:lnSpc>
              <a:spcBef>
                <a:spcPct val="49000"/>
              </a:spcBef>
            </a:pPr>
            <a:r>
              <a:rPr lang="zh-CN" altLang="en-US" sz="2000" dirty="0">
                <a:solidFill>
                  <a:schemeClr val="tx1"/>
                </a:solidFill>
                <a:latin typeface="Arial" panose="020B0604020202020204" pitchFamily="34" charset="0"/>
              </a:rPr>
              <a:t>对指令译码，以确定将要做什么操作</a:t>
            </a:r>
            <a:r>
              <a:rPr lang="zh-CN" altLang="en-US" sz="1800" dirty="0">
                <a:solidFill>
                  <a:schemeClr val="tx1"/>
                </a:solidFill>
                <a:latin typeface="Arial" panose="020B0604020202020204" pitchFamily="34" charset="0"/>
              </a:rPr>
              <a:t> </a:t>
            </a:r>
            <a:endParaRPr lang="zh-CN" altLang="en-US" sz="1800" dirty="0">
              <a:solidFill>
                <a:schemeClr val="tx1"/>
              </a:solidFill>
              <a:latin typeface="Arial" panose="020B0604020202020204" pitchFamily="34" charset="0"/>
            </a:endParaRPr>
          </a:p>
        </p:txBody>
      </p:sp>
      <p:sp>
        <p:nvSpPr>
          <p:cNvPr id="350229" name="Rectangle 21"/>
          <p:cNvSpPr/>
          <p:nvPr/>
        </p:nvSpPr>
        <p:spPr>
          <a:xfrm>
            <a:off x="3136900" y="2984500"/>
            <a:ext cx="5321300" cy="346075"/>
          </a:xfrm>
          <a:prstGeom prst="rect">
            <a:avLst/>
          </a:prstGeom>
          <a:noFill/>
          <a:ln w="12700">
            <a:noFill/>
          </a:ln>
        </p:spPr>
        <p:txBody>
          <a:bodyPr lIns="63500" tIns="25400" rIns="63500" bIns="25400">
            <a:spAutoFit/>
          </a:bodyPr>
          <a:lstStyle/>
          <a:p>
            <a:pPr marL="342900" indent="-342900" algn="just">
              <a:lnSpc>
                <a:spcPct val="97000"/>
              </a:lnSpc>
              <a:spcBef>
                <a:spcPct val="49000"/>
              </a:spcBef>
            </a:pPr>
            <a:r>
              <a:rPr lang="zh-CN" altLang="en-US" sz="2000" dirty="0">
                <a:solidFill>
                  <a:schemeClr val="tx1"/>
                </a:solidFill>
                <a:latin typeface="Arial" panose="020B0604020202020204" pitchFamily="34" charset="0"/>
              </a:rPr>
              <a:t>计算操作数地址并取操作数</a:t>
            </a:r>
            <a:endParaRPr lang="zh-CN" altLang="en-US" sz="2000" dirty="0">
              <a:solidFill>
                <a:schemeClr val="tx1"/>
              </a:solidFill>
              <a:latin typeface="Arial" panose="020B0604020202020204" pitchFamily="34" charset="0"/>
            </a:endParaRPr>
          </a:p>
        </p:txBody>
      </p:sp>
      <p:sp>
        <p:nvSpPr>
          <p:cNvPr id="350230" name="Rectangle 22"/>
          <p:cNvSpPr/>
          <p:nvPr/>
        </p:nvSpPr>
        <p:spPr>
          <a:xfrm>
            <a:off x="3136900" y="3898900"/>
            <a:ext cx="5321300" cy="346075"/>
          </a:xfrm>
          <a:prstGeom prst="rect">
            <a:avLst/>
          </a:prstGeom>
          <a:noFill/>
          <a:ln w="12700">
            <a:noFill/>
          </a:ln>
        </p:spPr>
        <p:txBody>
          <a:bodyPr lIns="63500" tIns="25400" rIns="63500" bIns="25400">
            <a:spAutoFit/>
          </a:bodyPr>
          <a:lstStyle/>
          <a:p>
            <a:pPr marL="342900" indent="-342900" algn="just">
              <a:lnSpc>
                <a:spcPct val="97000"/>
              </a:lnSpc>
              <a:spcBef>
                <a:spcPct val="49000"/>
              </a:spcBef>
            </a:pPr>
            <a:r>
              <a:rPr lang="zh-CN" altLang="en-US" sz="2000" dirty="0">
                <a:solidFill>
                  <a:schemeClr val="tx1"/>
                </a:solidFill>
                <a:latin typeface="Arial" panose="020B0604020202020204" pitchFamily="34" charset="0"/>
              </a:rPr>
              <a:t>进行相应计算，并得到标志位</a:t>
            </a:r>
            <a:endParaRPr lang="zh-CN" altLang="en-US" sz="2000" dirty="0">
              <a:solidFill>
                <a:schemeClr val="tx1"/>
              </a:solidFill>
              <a:latin typeface="Arial" panose="020B0604020202020204" pitchFamily="34" charset="0"/>
            </a:endParaRPr>
          </a:p>
        </p:txBody>
      </p:sp>
      <p:sp>
        <p:nvSpPr>
          <p:cNvPr id="350231" name="Rectangle 23"/>
          <p:cNvSpPr/>
          <p:nvPr/>
        </p:nvSpPr>
        <p:spPr>
          <a:xfrm>
            <a:off x="3136900" y="4660900"/>
            <a:ext cx="5245100" cy="346075"/>
          </a:xfrm>
          <a:prstGeom prst="rect">
            <a:avLst/>
          </a:prstGeom>
          <a:noFill/>
          <a:ln w="12700">
            <a:noFill/>
          </a:ln>
        </p:spPr>
        <p:txBody>
          <a:bodyPr lIns="63500" tIns="25400" rIns="63500" bIns="25400">
            <a:spAutoFit/>
          </a:bodyPr>
          <a:lstStyle/>
          <a:p>
            <a:pPr marL="342900" indent="-342900" algn="just">
              <a:lnSpc>
                <a:spcPct val="97000"/>
              </a:lnSpc>
              <a:spcBef>
                <a:spcPct val="49000"/>
              </a:spcBef>
            </a:pPr>
            <a:r>
              <a:rPr lang="zh-CN" altLang="en-US" sz="2000" dirty="0">
                <a:solidFill>
                  <a:schemeClr val="tx1"/>
                </a:solidFill>
                <a:latin typeface="Arial" panose="020B0604020202020204" pitchFamily="34" charset="0"/>
              </a:rPr>
              <a:t>将计算结果保存到目的地</a:t>
            </a:r>
            <a:endParaRPr lang="zh-CN" altLang="en-US" sz="2000" dirty="0">
              <a:solidFill>
                <a:schemeClr val="tx1"/>
              </a:solidFill>
              <a:latin typeface="Arial" panose="020B0604020202020204" pitchFamily="34" charset="0"/>
            </a:endParaRPr>
          </a:p>
        </p:txBody>
      </p:sp>
      <p:sp>
        <p:nvSpPr>
          <p:cNvPr id="350232" name="Rectangle 24"/>
          <p:cNvSpPr/>
          <p:nvPr/>
        </p:nvSpPr>
        <p:spPr>
          <a:xfrm>
            <a:off x="3136900" y="5651500"/>
            <a:ext cx="5595938" cy="346075"/>
          </a:xfrm>
          <a:prstGeom prst="rect">
            <a:avLst/>
          </a:prstGeom>
          <a:noFill/>
          <a:ln w="12700">
            <a:noFill/>
          </a:ln>
        </p:spPr>
        <p:txBody>
          <a:bodyPr lIns="63500" tIns="25400" rIns="63500" bIns="25400">
            <a:spAutoFit/>
          </a:bodyPr>
          <a:lstStyle/>
          <a:p>
            <a:pPr marL="342900" indent="-342900" algn="just">
              <a:lnSpc>
                <a:spcPct val="97000"/>
              </a:lnSpc>
              <a:spcBef>
                <a:spcPct val="49000"/>
              </a:spcBef>
            </a:pPr>
            <a:r>
              <a:rPr lang="zh-CN" altLang="en-US" sz="2000" dirty="0">
                <a:solidFill>
                  <a:schemeClr val="tx1"/>
                </a:solidFill>
                <a:latin typeface="Arial" panose="020B0604020202020204" pitchFamily="34" charset="0"/>
              </a:rPr>
              <a:t>计算下条指令地址（通常和取指令同时进行）</a:t>
            </a:r>
            <a:endParaRPr lang="zh-CN" altLang="en-US" sz="2000" dirty="0">
              <a:solidFill>
                <a:schemeClr val="tx1"/>
              </a:solidFill>
              <a:latin typeface="Arial" panose="020B0604020202020204" pitchFamily="34" charset="0"/>
            </a:endParaRPr>
          </a:p>
        </p:txBody>
      </p:sp>
      <p:sp>
        <p:nvSpPr>
          <p:cNvPr id="350233" name="Text Box 25"/>
          <p:cNvSpPr txBox="1"/>
          <p:nvPr/>
        </p:nvSpPr>
        <p:spPr>
          <a:xfrm>
            <a:off x="3201988" y="1393825"/>
            <a:ext cx="4545012"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指令地址、指令长度（定长</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变长）</a:t>
            </a:r>
            <a:endParaRPr lang="zh-CN" altLang="en-US" sz="2000" dirty="0">
              <a:latin typeface="Arial" panose="020B0604020202020204" pitchFamily="34" charset="0"/>
              <a:ea typeface="黑体" panose="02010609060101010101" pitchFamily="49" charset="-122"/>
            </a:endParaRPr>
          </a:p>
        </p:txBody>
      </p:sp>
      <p:sp>
        <p:nvSpPr>
          <p:cNvPr id="350234" name="Text Box 26"/>
          <p:cNvSpPr txBox="1"/>
          <p:nvPr/>
        </p:nvSpPr>
        <p:spPr>
          <a:xfrm>
            <a:off x="3205163" y="2435225"/>
            <a:ext cx="4545012"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指令格式、操作码编码、操作数类型</a:t>
            </a:r>
            <a:endParaRPr lang="zh-CN" altLang="en-US" sz="2000" dirty="0">
              <a:latin typeface="Arial" panose="020B0604020202020204" pitchFamily="34" charset="0"/>
              <a:ea typeface="黑体" panose="02010609060101010101" pitchFamily="49" charset="-122"/>
            </a:endParaRPr>
          </a:p>
        </p:txBody>
      </p:sp>
      <p:sp>
        <p:nvSpPr>
          <p:cNvPr id="350235" name="Text Box 27"/>
          <p:cNvSpPr txBox="1"/>
          <p:nvPr/>
        </p:nvSpPr>
        <p:spPr>
          <a:xfrm>
            <a:off x="3186113" y="3452813"/>
            <a:ext cx="5357812"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地址码、寻址方式、操作数格式和存放方式</a:t>
            </a:r>
            <a:endParaRPr lang="zh-CN" altLang="en-US" sz="2000" dirty="0">
              <a:latin typeface="Arial" panose="020B0604020202020204" pitchFamily="34" charset="0"/>
              <a:ea typeface="黑体" panose="02010609060101010101" pitchFamily="49" charset="-122"/>
            </a:endParaRPr>
          </a:p>
        </p:txBody>
      </p:sp>
      <p:sp>
        <p:nvSpPr>
          <p:cNvPr id="350236" name="Text Box 28"/>
          <p:cNvSpPr txBox="1"/>
          <p:nvPr/>
        </p:nvSpPr>
        <p:spPr>
          <a:xfrm>
            <a:off x="3243263" y="4310063"/>
            <a:ext cx="4545012"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操作类型、标志或条件码</a:t>
            </a:r>
            <a:endParaRPr lang="zh-CN" altLang="en-US" sz="2000" dirty="0">
              <a:latin typeface="Arial" panose="020B0604020202020204" pitchFamily="34" charset="0"/>
              <a:ea typeface="黑体" panose="02010609060101010101" pitchFamily="49" charset="-122"/>
            </a:endParaRPr>
          </a:p>
        </p:txBody>
      </p:sp>
      <p:sp>
        <p:nvSpPr>
          <p:cNvPr id="350237" name="Text Box 29"/>
          <p:cNvSpPr txBox="1"/>
          <p:nvPr/>
        </p:nvSpPr>
        <p:spPr>
          <a:xfrm>
            <a:off x="3200400" y="5080000"/>
            <a:ext cx="4545013"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结果数据位置（目的操作数）</a:t>
            </a:r>
            <a:endParaRPr lang="zh-CN" altLang="en-US" sz="2000" dirty="0">
              <a:latin typeface="Arial" panose="020B0604020202020204" pitchFamily="34" charset="0"/>
              <a:ea typeface="黑体" panose="02010609060101010101" pitchFamily="49" charset="-122"/>
            </a:endParaRPr>
          </a:p>
        </p:txBody>
      </p:sp>
      <p:sp>
        <p:nvSpPr>
          <p:cNvPr id="350238" name="Text Box 30"/>
          <p:cNvSpPr txBox="1"/>
          <p:nvPr/>
        </p:nvSpPr>
        <p:spPr>
          <a:xfrm>
            <a:off x="3159125" y="6049963"/>
            <a:ext cx="4545013"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下条指令地址（顺序 </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转移）</a:t>
            </a:r>
            <a:endParaRPr lang="en-US" altLang="zh-CN" sz="2000" dirty="0">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0227">
                                            <p:txEl>
                                              <p:pRg st="0" end="0"/>
                                            </p:txEl>
                                          </p:spTgt>
                                        </p:tgtEl>
                                        <p:attrNameLst>
                                          <p:attrName>style.visibility</p:attrName>
                                        </p:attrNameLst>
                                      </p:cBhvr>
                                      <p:to>
                                        <p:strVal val="visible"/>
                                      </p:to>
                                    </p:set>
                                    <p:animEffect transition="in" filter="blinds(horizontal)">
                                      <p:cBhvr>
                                        <p:cTn id="7" dur="500"/>
                                        <p:tgtEl>
                                          <p:spTgt spid="3502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0233"/>
                                        </p:tgtEl>
                                        <p:attrNameLst>
                                          <p:attrName>style.visibility</p:attrName>
                                        </p:attrNameLst>
                                      </p:cBhvr>
                                      <p:to>
                                        <p:strVal val="visible"/>
                                      </p:to>
                                    </p:set>
                                    <p:animEffect transition="in" filter="blinds(horizontal)">
                                      <p:cBhvr>
                                        <p:cTn id="12" dur="500"/>
                                        <p:tgtEl>
                                          <p:spTgt spid="3502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0228">
                                            <p:txEl>
                                              <p:pRg st="0" end="0"/>
                                            </p:txEl>
                                          </p:spTgt>
                                        </p:tgtEl>
                                        <p:attrNameLst>
                                          <p:attrName>style.visibility</p:attrName>
                                        </p:attrNameLst>
                                      </p:cBhvr>
                                      <p:to>
                                        <p:strVal val="visible"/>
                                      </p:to>
                                    </p:set>
                                    <p:animEffect transition="in" filter="blinds(horizontal)">
                                      <p:cBhvr>
                                        <p:cTn id="17" dur="500"/>
                                        <p:tgtEl>
                                          <p:spTgt spid="35022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50234"/>
                                        </p:tgtEl>
                                        <p:attrNameLst>
                                          <p:attrName>style.visibility</p:attrName>
                                        </p:attrNameLst>
                                      </p:cBhvr>
                                      <p:to>
                                        <p:strVal val="visible"/>
                                      </p:to>
                                    </p:set>
                                    <p:animEffect transition="in" filter="blinds(horizontal)">
                                      <p:cBhvr>
                                        <p:cTn id="22" dur="500"/>
                                        <p:tgtEl>
                                          <p:spTgt spid="35023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0229">
                                            <p:txEl>
                                              <p:pRg st="0" end="0"/>
                                            </p:txEl>
                                          </p:spTgt>
                                        </p:tgtEl>
                                        <p:attrNameLst>
                                          <p:attrName>style.visibility</p:attrName>
                                        </p:attrNameLst>
                                      </p:cBhvr>
                                      <p:to>
                                        <p:strVal val="visible"/>
                                      </p:to>
                                    </p:set>
                                    <p:animEffect transition="in" filter="blinds(horizontal)">
                                      <p:cBhvr>
                                        <p:cTn id="27" dur="500"/>
                                        <p:tgtEl>
                                          <p:spTgt spid="35022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0235"/>
                                        </p:tgtEl>
                                        <p:attrNameLst>
                                          <p:attrName>style.visibility</p:attrName>
                                        </p:attrNameLst>
                                      </p:cBhvr>
                                      <p:to>
                                        <p:strVal val="visible"/>
                                      </p:to>
                                    </p:set>
                                    <p:animEffect transition="in" filter="blinds(horizontal)">
                                      <p:cBhvr>
                                        <p:cTn id="32" dur="500"/>
                                        <p:tgtEl>
                                          <p:spTgt spid="35023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50230">
                                            <p:txEl>
                                              <p:pRg st="0" end="0"/>
                                            </p:txEl>
                                          </p:spTgt>
                                        </p:tgtEl>
                                        <p:attrNameLst>
                                          <p:attrName>style.visibility</p:attrName>
                                        </p:attrNameLst>
                                      </p:cBhvr>
                                      <p:to>
                                        <p:strVal val="visible"/>
                                      </p:to>
                                    </p:set>
                                    <p:animEffect transition="in" filter="blinds(horizontal)">
                                      <p:cBhvr>
                                        <p:cTn id="37" dur="500"/>
                                        <p:tgtEl>
                                          <p:spTgt spid="35023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50236"/>
                                        </p:tgtEl>
                                        <p:attrNameLst>
                                          <p:attrName>style.visibility</p:attrName>
                                        </p:attrNameLst>
                                      </p:cBhvr>
                                      <p:to>
                                        <p:strVal val="visible"/>
                                      </p:to>
                                    </p:set>
                                    <p:animEffect transition="in" filter="blinds(horizontal)">
                                      <p:cBhvr>
                                        <p:cTn id="42" dur="500"/>
                                        <p:tgtEl>
                                          <p:spTgt spid="35023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50231">
                                            <p:txEl>
                                              <p:pRg st="0" end="0"/>
                                            </p:txEl>
                                          </p:spTgt>
                                        </p:tgtEl>
                                        <p:attrNameLst>
                                          <p:attrName>style.visibility</p:attrName>
                                        </p:attrNameLst>
                                      </p:cBhvr>
                                      <p:to>
                                        <p:strVal val="visible"/>
                                      </p:to>
                                    </p:set>
                                    <p:animEffect transition="in" filter="blinds(horizontal)">
                                      <p:cBhvr>
                                        <p:cTn id="47" dur="500"/>
                                        <p:tgtEl>
                                          <p:spTgt spid="35023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50237"/>
                                        </p:tgtEl>
                                        <p:attrNameLst>
                                          <p:attrName>style.visibility</p:attrName>
                                        </p:attrNameLst>
                                      </p:cBhvr>
                                      <p:to>
                                        <p:strVal val="visible"/>
                                      </p:to>
                                    </p:set>
                                    <p:animEffect transition="in" filter="blinds(horizontal)">
                                      <p:cBhvr>
                                        <p:cTn id="52" dur="500"/>
                                        <p:tgtEl>
                                          <p:spTgt spid="35023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50232">
                                            <p:txEl>
                                              <p:pRg st="0" end="0"/>
                                            </p:txEl>
                                          </p:spTgt>
                                        </p:tgtEl>
                                        <p:attrNameLst>
                                          <p:attrName>style.visibility</p:attrName>
                                        </p:attrNameLst>
                                      </p:cBhvr>
                                      <p:to>
                                        <p:strVal val="visible"/>
                                      </p:to>
                                    </p:set>
                                    <p:animEffect transition="in" filter="blinds(horizontal)">
                                      <p:cBhvr>
                                        <p:cTn id="57" dur="500"/>
                                        <p:tgtEl>
                                          <p:spTgt spid="350232">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350238"/>
                                        </p:tgtEl>
                                        <p:attrNameLst>
                                          <p:attrName>style.visibility</p:attrName>
                                        </p:attrNameLst>
                                      </p:cBhvr>
                                      <p:to>
                                        <p:strVal val="visible"/>
                                      </p:to>
                                    </p:set>
                                    <p:animEffect transition="in" filter="blinds(horizontal)">
                                      <p:cBhvr>
                                        <p:cTn id="62" dur="500"/>
                                        <p:tgtEl>
                                          <p:spTgt spid="350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33" grpId="0"/>
      <p:bldP spid="350234" grpId="0"/>
      <p:bldP spid="350235" grpId="0"/>
      <p:bldP spid="350236" grpId="0"/>
      <p:bldP spid="350237" grpId="0"/>
      <p:bldP spid="35023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p:cNvSpPr>
            <a:spLocks noGrp="1"/>
          </p:cNvSpPr>
          <p:nvPr>
            <p:ph idx="1"/>
          </p:nvPr>
        </p:nvSpPr>
        <p:spPr>
          <a:xfrm>
            <a:off x="230188" y="620713"/>
            <a:ext cx="8913812" cy="5473700"/>
          </a:xfrm>
        </p:spPr>
        <p:txBody>
          <a:bodyPr vert="horz" wrap="square" lIns="91440" tIns="45720" rIns="91440" bIns="45720" anchor="t" anchorCtr="0"/>
          <a:lstStyle/>
          <a:p>
            <a:pPr marL="342900" indent="-342900">
              <a:lnSpc>
                <a:spcPct val="120000"/>
              </a:lnSpc>
              <a:spcBef>
                <a:spcPct val="5000"/>
              </a:spcBef>
              <a:buNone/>
            </a:pPr>
            <a:r>
              <a:rPr lang="zh-CN" altLang="en-US" sz="1800" dirty="0">
                <a:solidFill>
                  <a:srgbClr val="CC3300"/>
                </a:solidFill>
                <a:latin typeface="Arial" panose="020B0604020202020204" pitchFamily="34" charset="0"/>
                <a:ea typeface="黑体" panose="02010609060101010101" pitchFamily="49" charset="-122"/>
              </a:rPr>
              <a:t>指令格式的选择应遵循的几条基本原则</a:t>
            </a:r>
            <a:endParaRPr lang="zh-CN" altLang="en-US" sz="1800" dirty="0">
              <a:solidFill>
                <a:srgbClr val="CC3300"/>
              </a:solidFill>
              <a:latin typeface="Arial" panose="020B0604020202020204" pitchFamily="34" charset="0"/>
              <a:ea typeface="黑体" panose="02010609060101010101" pitchFamily="49" charset="-122"/>
            </a:endParaRPr>
          </a:p>
          <a:p>
            <a:pPr marL="342900" indent="-342900">
              <a:lnSpc>
                <a:spcPct val="120000"/>
              </a:lnSpc>
              <a:spcBef>
                <a:spcPct val="5000"/>
              </a:spcBef>
            </a:pPr>
            <a:r>
              <a:rPr lang="zh-CN" altLang="en-US" sz="1800" dirty="0">
                <a:solidFill>
                  <a:srgbClr val="31209A"/>
                </a:solidFill>
                <a:latin typeface="Arial" panose="020B0604020202020204" pitchFamily="34" charset="0"/>
                <a:ea typeface="黑体" panose="02010609060101010101" pitchFamily="49" charset="-122"/>
              </a:rPr>
              <a:t>应尽量短</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pPr>
            <a:r>
              <a:rPr lang="zh-CN" altLang="en-US" sz="1800" dirty="0">
                <a:solidFill>
                  <a:srgbClr val="31209A"/>
                </a:solidFill>
                <a:latin typeface="Arial" panose="020B0604020202020204" pitchFamily="34" charset="0"/>
                <a:ea typeface="黑体" panose="02010609060101010101" pitchFamily="49" charset="-122"/>
              </a:rPr>
              <a:t>要有足够的操作码位数</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pPr>
            <a:r>
              <a:rPr lang="zh-CN" altLang="en-US" sz="1800" dirty="0">
                <a:solidFill>
                  <a:srgbClr val="31209A"/>
                </a:solidFill>
                <a:latin typeface="Arial" panose="020B0604020202020204" pitchFamily="34" charset="0"/>
                <a:ea typeface="黑体" panose="02010609060101010101" pitchFamily="49" charset="-122"/>
              </a:rPr>
              <a:t>指令编码必须有唯一的解释，否则是不合法的指令</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pPr>
            <a:r>
              <a:rPr lang="zh-CN" altLang="en-US" sz="1800" dirty="0">
                <a:solidFill>
                  <a:srgbClr val="31209A"/>
                </a:solidFill>
                <a:latin typeface="Arial" panose="020B0604020202020204" pitchFamily="34" charset="0"/>
                <a:ea typeface="黑体" panose="02010609060101010101" pitchFamily="49" charset="-122"/>
              </a:rPr>
              <a:t>指令字长应是字节的整数倍</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pPr>
            <a:r>
              <a:rPr lang="zh-CN" altLang="en-US" sz="1800" dirty="0">
                <a:solidFill>
                  <a:srgbClr val="31209A"/>
                </a:solidFill>
                <a:latin typeface="Arial" panose="020B0604020202020204" pitchFamily="34" charset="0"/>
                <a:ea typeface="黑体" panose="02010609060101010101" pitchFamily="49" charset="-122"/>
              </a:rPr>
              <a:t>合理地选择地址字段的个数</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pPr>
            <a:r>
              <a:rPr lang="zh-CN" altLang="en-US" sz="1800" dirty="0">
                <a:solidFill>
                  <a:srgbClr val="31209A"/>
                </a:solidFill>
                <a:latin typeface="Arial" panose="020B0604020202020204" pitchFamily="34" charset="0"/>
                <a:ea typeface="黑体" panose="02010609060101010101" pitchFamily="49" charset="-122"/>
              </a:rPr>
              <a:t>指令尽量规整</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None/>
            </a:pPr>
            <a:r>
              <a:rPr lang="zh-CN" altLang="en-US" sz="1800" dirty="0">
                <a:solidFill>
                  <a:srgbClr val="CC3300"/>
                </a:solidFill>
                <a:latin typeface="Arial" panose="020B0604020202020204" pitchFamily="34" charset="0"/>
                <a:ea typeface="黑体" panose="02010609060101010101" pitchFamily="49" charset="-122"/>
              </a:rPr>
              <a:t>与指令集设计相关的重要方面</a:t>
            </a:r>
            <a:endParaRPr lang="zh-CN" altLang="en-US" sz="1800" dirty="0">
              <a:solidFill>
                <a:srgbClr val="CC3300"/>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pPr>
            <a:r>
              <a:rPr lang="zh-CN" altLang="en-US" sz="1800" dirty="0">
                <a:solidFill>
                  <a:srgbClr val="31209A"/>
                </a:solidFill>
                <a:latin typeface="Arial" panose="020B0604020202020204" pitchFamily="34" charset="0"/>
                <a:ea typeface="黑体" panose="02010609060101010101" pitchFamily="49" charset="-122"/>
              </a:rPr>
              <a:t>操作码的全部组成：操作码个数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种类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复杂度</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buNone/>
            </a:pPr>
            <a:r>
              <a:rPr lang="en-US" altLang="zh-CN" sz="1800" dirty="0">
                <a:latin typeface="Arial" panose="020B0604020202020204" pitchFamily="34" charset="0"/>
                <a:ea typeface="黑体" panose="02010609060101010101" pitchFamily="49" charset="-122"/>
              </a:rPr>
              <a:t>       LD/ST/INC/BRN </a:t>
            </a:r>
            <a:r>
              <a:rPr lang="zh-CN" altLang="en-US" sz="1800" dirty="0">
                <a:latin typeface="Arial" panose="020B0604020202020204" pitchFamily="34" charset="0"/>
                <a:ea typeface="黑体" panose="02010609060101010101" pitchFamily="49" charset="-122"/>
              </a:rPr>
              <a:t>四种指令已足够编制任何可计算程序，但程序会很长</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pPr>
            <a:r>
              <a:rPr lang="zh-CN" altLang="en-US" sz="1800" dirty="0">
                <a:solidFill>
                  <a:srgbClr val="31209A"/>
                </a:solidFill>
                <a:latin typeface="Arial" panose="020B0604020202020204" pitchFamily="34" charset="0"/>
                <a:ea typeface="黑体" panose="02010609060101010101" pitchFamily="49" charset="-122"/>
              </a:rPr>
              <a:t>数据类型：对哪几种数据类型完成操作</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pPr>
            <a:r>
              <a:rPr lang="zh-CN" altLang="en-US" sz="1800" dirty="0">
                <a:solidFill>
                  <a:srgbClr val="31209A"/>
                </a:solidFill>
                <a:latin typeface="Arial" panose="020B0604020202020204" pitchFamily="34" charset="0"/>
                <a:ea typeface="黑体" panose="02010609060101010101" pitchFamily="49" charset="-122"/>
              </a:rPr>
              <a:t>指令格式：指令长度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地址码个数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各字段长度</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pPr>
            <a:r>
              <a:rPr lang="zh-CN" altLang="en-US" sz="1800" dirty="0">
                <a:solidFill>
                  <a:srgbClr val="31209A"/>
                </a:solidFill>
                <a:latin typeface="Arial" panose="020B0604020202020204" pitchFamily="34" charset="0"/>
                <a:ea typeface="黑体" panose="02010609060101010101" pitchFamily="49" charset="-122"/>
              </a:rPr>
              <a:t>通用寄存器：个数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功能 </a:t>
            </a:r>
            <a:r>
              <a:rPr lang="en-US" altLang="zh-CN" sz="1800" dirty="0">
                <a:solidFill>
                  <a:srgbClr val="31209A"/>
                </a:solidFill>
                <a:latin typeface="Arial" panose="020B0604020202020204" pitchFamily="34" charset="0"/>
                <a:ea typeface="黑体" panose="02010609060101010101" pitchFamily="49" charset="-122"/>
              </a:rPr>
              <a:t>/ </a:t>
            </a:r>
            <a:r>
              <a:rPr lang="zh-CN" altLang="en-US" sz="1800" dirty="0">
                <a:solidFill>
                  <a:srgbClr val="31209A"/>
                </a:solidFill>
                <a:latin typeface="Arial" panose="020B0604020202020204" pitchFamily="34" charset="0"/>
                <a:ea typeface="黑体" panose="02010609060101010101" pitchFamily="49" charset="-122"/>
              </a:rPr>
              <a:t>长度</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pPr>
            <a:r>
              <a:rPr lang="zh-CN" altLang="en-US" sz="1800" dirty="0">
                <a:solidFill>
                  <a:srgbClr val="31209A"/>
                </a:solidFill>
                <a:latin typeface="Arial" panose="020B0604020202020204" pitchFamily="34" charset="0"/>
                <a:ea typeface="黑体" panose="02010609060101010101" pitchFamily="49" charset="-122"/>
              </a:rPr>
              <a:t>寻址方式：操作数地址的指定方式</a:t>
            </a:r>
            <a:endParaRPr lang="zh-CN" altLang="en-US" sz="1800" dirty="0">
              <a:solidFill>
                <a:srgbClr val="31209A"/>
              </a:solidFill>
              <a:latin typeface="Arial" panose="020B0604020202020204" pitchFamily="34" charset="0"/>
              <a:ea typeface="黑体" panose="02010609060101010101" pitchFamily="49" charset="-122"/>
            </a:endParaRPr>
          </a:p>
          <a:p>
            <a:pPr marL="342900" indent="-342900">
              <a:lnSpc>
                <a:spcPct val="120000"/>
              </a:lnSpc>
              <a:spcBef>
                <a:spcPct val="5000"/>
              </a:spcBef>
              <a:buSzPct val="80000"/>
            </a:pPr>
            <a:r>
              <a:rPr lang="zh-CN" altLang="en-US" sz="1800" dirty="0">
                <a:solidFill>
                  <a:srgbClr val="31209A"/>
                </a:solidFill>
                <a:latin typeface="Arial" panose="020B0604020202020204" pitchFamily="34" charset="0"/>
                <a:ea typeface="黑体" panose="02010609060101010101" pitchFamily="49" charset="-122"/>
              </a:rPr>
              <a:t>下条指令的地址如何确定：顺序，</a:t>
            </a:r>
            <a:r>
              <a:rPr lang="en-US" altLang="zh-CN" sz="1800" dirty="0">
                <a:solidFill>
                  <a:srgbClr val="31209A"/>
                </a:solidFill>
                <a:latin typeface="Arial" panose="020B0604020202020204" pitchFamily="34" charset="0"/>
                <a:ea typeface="黑体" panose="02010609060101010101" pitchFamily="49" charset="-122"/>
              </a:rPr>
              <a:t>PC+1</a:t>
            </a:r>
            <a:r>
              <a:rPr lang="zh-CN" altLang="en-US" sz="1800" dirty="0">
                <a:solidFill>
                  <a:srgbClr val="31209A"/>
                </a:solidFill>
                <a:latin typeface="Arial" panose="020B0604020202020204" pitchFamily="34" charset="0"/>
                <a:ea typeface="黑体" panose="02010609060101010101" pitchFamily="49" charset="-122"/>
              </a:rPr>
              <a:t>；条件转移；无条件转移；</a:t>
            </a:r>
            <a:r>
              <a:rPr lang="en-US" altLang="zh-CN" sz="1800" dirty="0">
                <a:solidFill>
                  <a:srgbClr val="31209A"/>
                </a:solidFill>
                <a:latin typeface="Arial" panose="020B0604020202020204" pitchFamily="34" charset="0"/>
                <a:ea typeface="黑体" panose="02010609060101010101" pitchFamily="49" charset="-122"/>
              </a:rPr>
              <a:t>……</a:t>
            </a:r>
            <a:endParaRPr lang="en-US" altLang="zh-CN" sz="1800" dirty="0">
              <a:solidFill>
                <a:srgbClr val="31209A"/>
              </a:solidFill>
              <a:latin typeface="Arial" panose="020B0604020202020204" pitchFamily="34" charset="0"/>
              <a:ea typeface="黑体" panose="02010609060101010101" pitchFamily="49" charset="-122"/>
            </a:endParaRPr>
          </a:p>
        </p:txBody>
      </p:sp>
      <p:sp>
        <p:nvSpPr>
          <p:cNvPr id="9219" name="Rectangle 3"/>
          <p:cNvSpPr>
            <a:spLocks noGrp="1"/>
          </p:cNvSpPr>
          <p:nvPr>
            <p:ph type="title"/>
          </p:nvPr>
        </p:nvSpPr>
        <p:spPr>
          <a:xfrm>
            <a:off x="738188" y="28575"/>
            <a:ext cx="3978275" cy="422275"/>
          </a:xfrm>
        </p:spPr>
        <p:txBody>
          <a:bodyPr vert="horz" wrap="square" lIns="63500" tIns="25400" rIns="63500" bIns="25400" anchor="t" anchorCtr="0">
            <a:spAutoFit/>
          </a:bodyPr>
          <a:lstStyle/>
          <a:p>
            <a:r>
              <a:rPr lang="zh-CN" altLang="en-US" sz="2800" dirty="0">
                <a:ea typeface="宋体" panose="02010600030101010101" pitchFamily="2" charset="-122"/>
              </a:rPr>
              <a:t>指令格式的设计</a:t>
            </a:r>
            <a:endParaRPr lang="zh-CN" altLang="en-US" sz="2800" dirty="0">
              <a:ea typeface="宋体" panose="02010600030101010101" pitchFamily="2" charset="-122"/>
            </a:endParaRPr>
          </a:p>
        </p:txBody>
      </p:sp>
      <p:sp>
        <p:nvSpPr>
          <p:cNvPr id="351236" name="Rectangle 4"/>
          <p:cNvSpPr/>
          <p:nvPr/>
        </p:nvSpPr>
        <p:spPr>
          <a:xfrm>
            <a:off x="1169988" y="5843588"/>
            <a:ext cx="6448425" cy="781050"/>
          </a:xfrm>
          <a:prstGeom prst="rect">
            <a:avLst/>
          </a:prstGeom>
          <a:noFill/>
          <a:ln w="12700">
            <a:noFill/>
          </a:ln>
        </p:spPr>
        <p:txBody>
          <a:bodyPr lIns="63500" tIns="25400" rIns="63500" bIns="25400">
            <a:spAutoFit/>
          </a:bodyPr>
          <a:lstStyle/>
          <a:p>
            <a:pPr>
              <a:lnSpc>
                <a:spcPct val="120000"/>
              </a:lnSpc>
              <a:spcBef>
                <a:spcPct val="30000"/>
              </a:spcBef>
              <a:buSzPct val="100000"/>
              <a:buFont typeface="Monotype Sorts" pitchFamily="2" charset="2"/>
            </a:pPr>
            <a:r>
              <a:rPr lang="zh-CN" altLang="en-US" sz="2000" dirty="0">
                <a:solidFill>
                  <a:srgbClr val="B3110D"/>
                </a:solidFill>
                <a:latin typeface="黑体" panose="02010609060101010101" pitchFamily="49" charset="-122"/>
                <a:ea typeface="黑体" panose="02010609060101010101" pitchFamily="49" charset="-122"/>
              </a:rPr>
              <a:t>一般通过对操作码进行不同的编码来定义不同的含义，操作码相同时，再由功能码定义不同的含义</a:t>
            </a:r>
            <a:r>
              <a:rPr lang="en-US" altLang="zh-CN" sz="2000" dirty="0">
                <a:solidFill>
                  <a:srgbClr val="B3110D"/>
                </a:solidFill>
                <a:latin typeface="黑体" panose="02010609060101010101" pitchFamily="49" charset="-122"/>
                <a:ea typeface="黑体" panose="02010609060101010101" pitchFamily="49" charset="-122"/>
              </a:rPr>
              <a:t>!</a:t>
            </a:r>
            <a:endParaRPr lang="en-US" altLang="zh-CN" sz="2000" dirty="0">
              <a:solidFill>
                <a:srgbClr val="B3110D"/>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animEffect transition="in" filter="blinds(horizontal)">
                                      <p:cBhvr>
                                        <p:cTn id="7" dur="500"/>
                                        <p:tgtEl>
                                          <p:spTgt spid="3512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1234">
                                            <p:txEl>
                                              <p:pRg st="2" end="2"/>
                                            </p:txEl>
                                          </p:spTgt>
                                        </p:tgtEl>
                                        <p:attrNameLst>
                                          <p:attrName>style.visibility</p:attrName>
                                        </p:attrNameLst>
                                      </p:cBhvr>
                                      <p:to>
                                        <p:strVal val="visible"/>
                                      </p:to>
                                    </p:set>
                                    <p:animEffect transition="in" filter="blinds(horizontal)">
                                      <p:cBhvr>
                                        <p:cTn id="12" dur="500"/>
                                        <p:tgtEl>
                                          <p:spTgt spid="35123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1234">
                                            <p:txEl>
                                              <p:pRg st="3" end="3"/>
                                            </p:txEl>
                                          </p:spTgt>
                                        </p:tgtEl>
                                        <p:attrNameLst>
                                          <p:attrName>style.visibility</p:attrName>
                                        </p:attrNameLst>
                                      </p:cBhvr>
                                      <p:to>
                                        <p:strVal val="visible"/>
                                      </p:to>
                                    </p:set>
                                    <p:animEffect transition="in" filter="blinds(horizontal)">
                                      <p:cBhvr>
                                        <p:cTn id="17" dur="500"/>
                                        <p:tgtEl>
                                          <p:spTgt spid="35123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1234">
                                            <p:txEl>
                                              <p:pRg st="4" end="4"/>
                                            </p:txEl>
                                          </p:spTgt>
                                        </p:tgtEl>
                                        <p:attrNameLst>
                                          <p:attrName>style.visibility</p:attrName>
                                        </p:attrNameLst>
                                      </p:cBhvr>
                                      <p:to>
                                        <p:strVal val="visible"/>
                                      </p:to>
                                    </p:set>
                                    <p:animEffect transition="in" filter="blinds(horizontal)">
                                      <p:cBhvr>
                                        <p:cTn id="22" dur="500"/>
                                        <p:tgtEl>
                                          <p:spTgt spid="35123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1234">
                                            <p:txEl>
                                              <p:pRg st="5" end="5"/>
                                            </p:txEl>
                                          </p:spTgt>
                                        </p:tgtEl>
                                        <p:attrNameLst>
                                          <p:attrName>style.visibility</p:attrName>
                                        </p:attrNameLst>
                                      </p:cBhvr>
                                      <p:to>
                                        <p:strVal val="visible"/>
                                      </p:to>
                                    </p:set>
                                    <p:animEffect transition="in" filter="blinds(horizontal)">
                                      <p:cBhvr>
                                        <p:cTn id="27" dur="500"/>
                                        <p:tgtEl>
                                          <p:spTgt spid="35123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51234">
                                            <p:txEl>
                                              <p:pRg st="6" end="6"/>
                                            </p:txEl>
                                          </p:spTgt>
                                        </p:tgtEl>
                                        <p:attrNameLst>
                                          <p:attrName>style.visibility</p:attrName>
                                        </p:attrNameLst>
                                      </p:cBhvr>
                                      <p:to>
                                        <p:strVal val="visible"/>
                                      </p:to>
                                    </p:set>
                                    <p:animEffect transition="in" filter="blinds(horizontal)">
                                      <p:cBhvr>
                                        <p:cTn id="32" dur="500"/>
                                        <p:tgtEl>
                                          <p:spTgt spid="35123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51234">
                                            <p:txEl>
                                              <p:pRg st="8" end="8"/>
                                            </p:txEl>
                                          </p:spTgt>
                                        </p:tgtEl>
                                        <p:attrNameLst>
                                          <p:attrName>style.visibility</p:attrName>
                                        </p:attrNameLst>
                                      </p:cBhvr>
                                      <p:to>
                                        <p:strVal val="visible"/>
                                      </p:to>
                                    </p:set>
                                    <p:animEffect transition="in" filter="blinds(horizontal)">
                                      <p:cBhvr>
                                        <p:cTn id="37" dur="500"/>
                                        <p:tgtEl>
                                          <p:spTgt spid="351234">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351234">
                                            <p:txEl>
                                              <p:pRg st="9" end="9"/>
                                            </p:txEl>
                                          </p:spTgt>
                                        </p:tgtEl>
                                        <p:attrNameLst>
                                          <p:attrName>style.visibility</p:attrName>
                                        </p:attrNameLst>
                                      </p:cBhvr>
                                      <p:to>
                                        <p:strVal val="visible"/>
                                      </p:to>
                                    </p:set>
                                    <p:animEffect transition="in" filter="blinds(horizontal)">
                                      <p:cBhvr>
                                        <p:cTn id="40" dur="500"/>
                                        <p:tgtEl>
                                          <p:spTgt spid="351234">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51234">
                                            <p:txEl>
                                              <p:pRg st="10" end="10"/>
                                            </p:txEl>
                                          </p:spTgt>
                                        </p:tgtEl>
                                        <p:attrNameLst>
                                          <p:attrName>style.visibility</p:attrName>
                                        </p:attrNameLst>
                                      </p:cBhvr>
                                      <p:to>
                                        <p:strVal val="visible"/>
                                      </p:to>
                                    </p:set>
                                    <p:animEffect transition="in" filter="blinds(horizontal)">
                                      <p:cBhvr>
                                        <p:cTn id="45" dur="500"/>
                                        <p:tgtEl>
                                          <p:spTgt spid="351234">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51234">
                                            <p:txEl>
                                              <p:pRg st="11" end="11"/>
                                            </p:txEl>
                                          </p:spTgt>
                                        </p:tgtEl>
                                        <p:attrNameLst>
                                          <p:attrName>style.visibility</p:attrName>
                                        </p:attrNameLst>
                                      </p:cBhvr>
                                      <p:to>
                                        <p:strVal val="visible"/>
                                      </p:to>
                                    </p:set>
                                    <p:animEffect transition="in" filter="blinds(horizontal)">
                                      <p:cBhvr>
                                        <p:cTn id="50" dur="500"/>
                                        <p:tgtEl>
                                          <p:spTgt spid="351234">
                                            <p:txEl>
                                              <p:pRg st="11" end="1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51234">
                                            <p:txEl>
                                              <p:pRg st="12" end="12"/>
                                            </p:txEl>
                                          </p:spTgt>
                                        </p:tgtEl>
                                        <p:attrNameLst>
                                          <p:attrName>style.visibility</p:attrName>
                                        </p:attrNameLst>
                                      </p:cBhvr>
                                      <p:to>
                                        <p:strVal val="visible"/>
                                      </p:to>
                                    </p:set>
                                    <p:animEffect transition="in" filter="blinds(horizontal)">
                                      <p:cBhvr>
                                        <p:cTn id="55" dur="500"/>
                                        <p:tgtEl>
                                          <p:spTgt spid="351234">
                                            <p:txEl>
                                              <p:pRg st="12" end="12"/>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51234">
                                            <p:txEl>
                                              <p:pRg st="13" end="13"/>
                                            </p:txEl>
                                          </p:spTgt>
                                        </p:tgtEl>
                                        <p:attrNameLst>
                                          <p:attrName>style.visibility</p:attrName>
                                        </p:attrNameLst>
                                      </p:cBhvr>
                                      <p:to>
                                        <p:strVal val="visible"/>
                                      </p:to>
                                    </p:set>
                                    <p:animEffect transition="in" filter="blinds(horizontal)">
                                      <p:cBhvr>
                                        <p:cTn id="60" dur="500"/>
                                        <p:tgtEl>
                                          <p:spTgt spid="351234">
                                            <p:txEl>
                                              <p:pRg st="13" end="13"/>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51234">
                                            <p:txEl>
                                              <p:pRg st="14" end="14"/>
                                            </p:txEl>
                                          </p:spTgt>
                                        </p:tgtEl>
                                        <p:attrNameLst>
                                          <p:attrName>style.visibility</p:attrName>
                                        </p:attrNameLst>
                                      </p:cBhvr>
                                      <p:to>
                                        <p:strVal val="visible"/>
                                      </p:to>
                                    </p:set>
                                    <p:animEffect transition="in" filter="blinds(horizontal)">
                                      <p:cBhvr>
                                        <p:cTn id="65" dur="500"/>
                                        <p:tgtEl>
                                          <p:spTgt spid="351234">
                                            <p:txEl>
                                              <p:pRg st="14" end="14"/>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351236"/>
                                        </p:tgtEl>
                                        <p:attrNameLst>
                                          <p:attrName>style.visibility</p:attrName>
                                        </p:attrNameLst>
                                      </p:cBhvr>
                                      <p:to>
                                        <p:strVal val="visible"/>
                                      </p:to>
                                    </p:set>
                                    <p:animEffect transition="in" filter="blinds(horizontal)">
                                      <p:cBhvr>
                                        <p:cTn id="70" dur="500"/>
                                        <p:tgtEl>
                                          <p:spTgt spid="3512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739775" y="69850"/>
            <a:ext cx="3698875" cy="422275"/>
          </a:xfrm>
        </p:spPr>
        <p:txBody>
          <a:bodyPr vert="horz" wrap="square" lIns="63500" tIns="25400" rIns="63500" bIns="25400" anchor="ctr" anchorCtr="0">
            <a:spAutoFit/>
          </a:bodyPr>
          <a:lstStyle/>
          <a:p>
            <a:pPr>
              <a:buNone/>
            </a:pPr>
            <a:r>
              <a:rPr lang="zh-CN" altLang="en-US" sz="2800" dirty="0">
                <a:latin typeface="宋体" panose="02010600030101010101" pitchFamily="2" charset="-122"/>
                <a:ea typeface="宋体" panose="02010600030101010101" pitchFamily="2" charset="-122"/>
              </a:rPr>
              <a:t>操作数类型和存储方式</a:t>
            </a:r>
            <a:endParaRPr lang="zh-CN" altLang="en-US" sz="2800" dirty="0">
              <a:latin typeface="宋体" panose="02010600030101010101" pitchFamily="2" charset="-122"/>
              <a:ea typeface="宋体" panose="02010600030101010101" pitchFamily="2" charset="-122"/>
            </a:endParaRPr>
          </a:p>
        </p:txBody>
      </p:sp>
      <p:sp>
        <p:nvSpPr>
          <p:cNvPr id="352259" name="Rectangle 3"/>
          <p:cNvSpPr>
            <a:spLocks noGrp="1"/>
          </p:cNvSpPr>
          <p:nvPr>
            <p:ph idx="1"/>
          </p:nvPr>
        </p:nvSpPr>
        <p:spPr>
          <a:xfrm>
            <a:off x="474663" y="674688"/>
            <a:ext cx="8382000" cy="5783262"/>
          </a:xfrm>
        </p:spPr>
        <p:txBody>
          <a:bodyPr vert="horz" wrap="square" lIns="91440" tIns="45720" rIns="91440" bIns="45720" anchor="t" anchorCtr="0"/>
          <a:lstStyle/>
          <a:p>
            <a:pPr marL="342900" indent="-342900">
              <a:lnSpc>
                <a:spcPct val="100000"/>
              </a:lnSpc>
              <a:spcBef>
                <a:spcPct val="15000"/>
              </a:spcBef>
              <a:buNone/>
            </a:pPr>
            <a:r>
              <a:rPr lang="zh-CN" altLang="en-US" dirty="0">
                <a:latin typeface="Arial" panose="020B0604020202020204" pitchFamily="34" charset="0"/>
                <a:ea typeface="黑体" panose="02010609060101010101" pitchFamily="49" charset="-122"/>
              </a:rPr>
              <a:t>操作数是指令处理的对象，与高级语言数据类型对应，基本类型有哪些？</a:t>
            </a:r>
            <a:endParaRPr lang="zh-CN" altLang="en-US" dirty="0">
              <a:latin typeface="Arial" panose="020B0604020202020204" pitchFamily="34" charset="0"/>
              <a:ea typeface="黑体" panose="02010609060101010101" pitchFamily="49" charset="-122"/>
            </a:endParaRPr>
          </a:p>
          <a:p>
            <a:pPr marL="342900" indent="-342900">
              <a:lnSpc>
                <a:spcPct val="100000"/>
              </a:lnSpc>
              <a:spcBef>
                <a:spcPct val="15000"/>
              </a:spcBef>
              <a:buNone/>
            </a:pPr>
            <a:r>
              <a:rPr lang="zh-CN" altLang="en-US" dirty="0">
                <a:solidFill>
                  <a:srgbClr val="CC3300"/>
                </a:solidFill>
                <a:latin typeface="Arial" panose="020B0604020202020204" pitchFamily="34" charset="0"/>
                <a:ea typeface="黑体" panose="02010609060101010101" pitchFamily="49" charset="-122"/>
              </a:rPr>
              <a:t>地址（指针）</a:t>
            </a:r>
            <a:endParaRPr lang="zh-CN" altLang="en-US" dirty="0">
              <a:solidFill>
                <a:srgbClr val="CC3300"/>
              </a:solidFill>
              <a:latin typeface="Arial" panose="020B0604020202020204" pitchFamily="34" charset="0"/>
              <a:ea typeface="黑体" panose="02010609060101010101" pitchFamily="49" charset="-122"/>
            </a:endParaRPr>
          </a:p>
          <a:p>
            <a:pPr marL="342900" indent="-342900">
              <a:lnSpc>
                <a:spcPct val="100000"/>
              </a:lnSpc>
              <a:spcBef>
                <a:spcPct val="15000"/>
              </a:spcBef>
              <a:buNone/>
            </a:pPr>
            <a:r>
              <a:rPr lang="zh-CN" altLang="en-US" dirty="0">
                <a:latin typeface="Arial" panose="020B0604020202020204" pitchFamily="34" charset="0"/>
                <a:ea typeface="黑体" panose="02010609060101010101" pitchFamily="49" charset="-122"/>
              </a:rPr>
              <a:t>     </a:t>
            </a:r>
            <a:r>
              <a:rPr lang="zh-CN" altLang="en-US" dirty="0">
                <a:solidFill>
                  <a:srgbClr val="0033CC"/>
                </a:solidFill>
                <a:latin typeface="Arial" panose="020B0604020202020204" pitchFamily="34" charset="0"/>
                <a:ea typeface="黑体" panose="02010609060101010101" pitchFamily="49" charset="-122"/>
              </a:rPr>
              <a:t>被看成无符号整数，用来参加运算以确定主</a:t>
            </a:r>
            <a:r>
              <a:rPr lang="en-US" altLang="zh-CN" dirty="0">
                <a:solidFill>
                  <a:srgbClr val="0033CC"/>
                </a:solidFill>
                <a:latin typeface="Arial" panose="020B0604020202020204" pitchFamily="34" charset="0"/>
                <a:ea typeface="黑体" panose="02010609060101010101" pitchFamily="49" charset="-122"/>
              </a:rPr>
              <a:t>(</a:t>
            </a:r>
            <a:r>
              <a:rPr lang="zh-CN" altLang="en-US" dirty="0">
                <a:solidFill>
                  <a:srgbClr val="0033CC"/>
                </a:solidFill>
                <a:latin typeface="Arial" panose="020B0604020202020204" pitchFamily="34" charset="0"/>
                <a:ea typeface="黑体" panose="02010609060101010101" pitchFamily="49" charset="-122"/>
              </a:rPr>
              <a:t>虚</a:t>
            </a:r>
            <a:r>
              <a:rPr lang="en-US" altLang="zh-CN" dirty="0">
                <a:solidFill>
                  <a:srgbClr val="0033CC"/>
                </a:solidFill>
                <a:latin typeface="Arial" panose="020B0604020202020204" pitchFamily="34" charset="0"/>
                <a:ea typeface="黑体" panose="02010609060101010101" pitchFamily="49" charset="-122"/>
              </a:rPr>
              <a:t>)</a:t>
            </a:r>
            <a:r>
              <a:rPr lang="zh-CN" altLang="en-US" dirty="0">
                <a:solidFill>
                  <a:srgbClr val="0033CC"/>
                </a:solidFill>
                <a:latin typeface="Arial" panose="020B0604020202020204" pitchFamily="34" charset="0"/>
                <a:ea typeface="黑体" panose="02010609060101010101" pitchFamily="49" charset="-122"/>
              </a:rPr>
              <a:t>存地址</a:t>
            </a:r>
            <a:endParaRPr lang="zh-CN" altLang="en-US" dirty="0">
              <a:solidFill>
                <a:srgbClr val="0033CC"/>
              </a:solidFill>
              <a:latin typeface="Arial" panose="020B0604020202020204" pitchFamily="34" charset="0"/>
              <a:ea typeface="黑体" panose="02010609060101010101" pitchFamily="49" charset="-122"/>
            </a:endParaRPr>
          </a:p>
          <a:p>
            <a:pPr marL="342900" indent="-342900">
              <a:lnSpc>
                <a:spcPct val="100000"/>
              </a:lnSpc>
              <a:spcBef>
                <a:spcPct val="15000"/>
              </a:spcBef>
              <a:buFont typeface="Monotype Sorts" pitchFamily="2" charset="2"/>
              <a:buNone/>
            </a:pPr>
            <a:r>
              <a:rPr lang="zh-CN" altLang="en-US" dirty="0">
                <a:solidFill>
                  <a:srgbClr val="CC3300"/>
                </a:solidFill>
                <a:latin typeface="Arial" panose="020B0604020202020204" pitchFamily="34" charset="0"/>
                <a:ea typeface="黑体" panose="02010609060101010101" pitchFamily="49" charset="-122"/>
              </a:rPr>
              <a:t>数值数据</a:t>
            </a:r>
            <a:endParaRPr lang="zh-CN" altLang="en-US" dirty="0">
              <a:solidFill>
                <a:srgbClr val="CC3300"/>
              </a:solidFill>
              <a:latin typeface="Arial" panose="020B0604020202020204" pitchFamily="34" charset="0"/>
              <a:ea typeface="黑体" panose="02010609060101010101" pitchFamily="49" charset="-122"/>
            </a:endParaRPr>
          </a:p>
          <a:p>
            <a:pPr marL="342900" indent="-342900">
              <a:lnSpc>
                <a:spcPct val="100000"/>
              </a:lnSpc>
              <a:spcBef>
                <a:spcPct val="15000"/>
              </a:spcBef>
              <a:buNone/>
            </a:pPr>
            <a:r>
              <a:rPr lang="zh-CN" altLang="en-US" dirty="0">
                <a:latin typeface="Arial" panose="020B0604020202020204" pitchFamily="34" charset="0"/>
                <a:ea typeface="黑体" panose="02010609060101010101" pitchFamily="49" charset="-122"/>
              </a:rPr>
              <a:t>     </a:t>
            </a:r>
            <a:r>
              <a:rPr lang="zh-CN" altLang="en-US" dirty="0">
                <a:solidFill>
                  <a:srgbClr val="0033CC"/>
                </a:solidFill>
                <a:latin typeface="Arial" panose="020B0604020202020204" pitchFamily="34" charset="0"/>
                <a:ea typeface="黑体" panose="02010609060101010101" pitchFamily="49" charset="-122"/>
              </a:rPr>
              <a:t>定点数</a:t>
            </a:r>
            <a:r>
              <a:rPr lang="en-US" altLang="zh-CN" dirty="0">
                <a:solidFill>
                  <a:srgbClr val="0033CC"/>
                </a:solidFill>
                <a:latin typeface="Arial" panose="020B0604020202020204" pitchFamily="34" charset="0"/>
                <a:ea typeface="黑体" panose="02010609060101010101" pitchFamily="49" charset="-122"/>
              </a:rPr>
              <a:t>(</a:t>
            </a:r>
            <a:r>
              <a:rPr lang="zh-CN" altLang="en-US" dirty="0">
                <a:solidFill>
                  <a:srgbClr val="0033CC"/>
                </a:solidFill>
                <a:latin typeface="Arial" panose="020B0604020202020204" pitchFamily="34" charset="0"/>
                <a:ea typeface="黑体" panose="02010609060101010101" pitchFamily="49" charset="-122"/>
              </a:rPr>
              <a:t>整数</a:t>
            </a:r>
            <a:r>
              <a:rPr lang="en-US" altLang="zh-CN" dirty="0">
                <a:solidFill>
                  <a:srgbClr val="0033CC"/>
                </a:solidFill>
                <a:latin typeface="Arial" panose="020B0604020202020204" pitchFamily="34" charset="0"/>
                <a:ea typeface="黑体" panose="02010609060101010101" pitchFamily="49" charset="-122"/>
              </a:rPr>
              <a:t>)</a:t>
            </a:r>
            <a:r>
              <a:rPr lang="zh-CN" altLang="en-US" dirty="0">
                <a:solidFill>
                  <a:srgbClr val="0033CC"/>
                </a:solidFill>
                <a:latin typeface="Arial" panose="020B0604020202020204" pitchFamily="34" charset="0"/>
                <a:ea typeface="黑体" panose="02010609060101010101" pitchFamily="49" charset="-122"/>
              </a:rPr>
              <a:t>：一般用二进制补码表示</a:t>
            </a:r>
            <a:endParaRPr lang="zh-CN" altLang="en-US" dirty="0">
              <a:solidFill>
                <a:srgbClr val="0033CC"/>
              </a:solidFill>
              <a:latin typeface="Arial" panose="020B0604020202020204" pitchFamily="34" charset="0"/>
              <a:ea typeface="黑体" panose="02010609060101010101" pitchFamily="49" charset="-122"/>
            </a:endParaRPr>
          </a:p>
          <a:p>
            <a:pPr marL="342900" indent="-342900">
              <a:lnSpc>
                <a:spcPct val="100000"/>
              </a:lnSpc>
              <a:spcBef>
                <a:spcPct val="15000"/>
              </a:spcBef>
              <a:buNone/>
            </a:pPr>
            <a:r>
              <a:rPr lang="zh-CN" altLang="en-US" dirty="0">
                <a:solidFill>
                  <a:srgbClr val="0033CC"/>
                </a:solidFill>
                <a:latin typeface="Arial" panose="020B0604020202020204" pitchFamily="34" charset="0"/>
                <a:ea typeface="黑体" panose="02010609060101010101" pitchFamily="49" charset="-122"/>
              </a:rPr>
              <a:t>     浮点数</a:t>
            </a:r>
            <a:r>
              <a:rPr lang="en-US" altLang="zh-CN" dirty="0">
                <a:solidFill>
                  <a:srgbClr val="0033CC"/>
                </a:solidFill>
                <a:latin typeface="Arial" panose="020B0604020202020204" pitchFamily="34" charset="0"/>
                <a:ea typeface="黑体" panose="02010609060101010101" pitchFamily="49" charset="-122"/>
              </a:rPr>
              <a:t>(</a:t>
            </a:r>
            <a:r>
              <a:rPr lang="zh-CN" altLang="en-US" dirty="0">
                <a:solidFill>
                  <a:srgbClr val="0033CC"/>
                </a:solidFill>
                <a:latin typeface="Arial" panose="020B0604020202020204" pitchFamily="34" charset="0"/>
                <a:ea typeface="黑体" panose="02010609060101010101" pitchFamily="49" charset="-122"/>
              </a:rPr>
              <a:t>实数</a:t>
            </a:r>
            <a:r>
              <a:rPr lang="en-US" altLang="zh-CN" dirty="0">
                <a:solidFill>
                  <a:srgbClr val="0033CC"/>
                </a:solidFill>
                <a:latin typeface="Arial" panose="020B0604020202020204" pitchFamily="34" charset="0"/>
                <a:ea typeface="黑体" panose="02010609060101010101" pitchFamily="49" charset="-122"/>
              </a:rPr>
              <a:t>)</a:t>
            </a:r>
            <a:r>
              <a:rPr lang="zh-CN" altLang="en-US" dirty="0">
                <a:solidFill>
                  <a:srgbClr val="0033CC"/>
                </a:solidFill>
                <a:latin typeface="Arial" panose="020B0604020202020204" pitchFamily="34" charset="0"/>
                <a:ea typeface="黑体" panose="02010609060101010101" pitchFamily="49" charset="-122"/>
              </a:rPr>
              <a:t>：大多数机器采用</a:t>
            </a:r>
            <a:r>
              <a:rPr lang="en-US" altLang="en-US" dirty="0">
                <a:solidFill>
                  <a:srgbClr val="0033CC"/>
                </a:solidFill>
                <a:latin typeface="Arial" panose="020B0604020202020204" pitchFamily="34" charset="0"/>
                <a:ea typeface="黑体" panose="02010609060101010101" pitchFamily="49" charset="-122"/>
              </a:rPr>
              <a:t>IEEE754</a:t>
            </a:r>
            <a:r>
              <a:rPr lang="zh-CN" altLang="en-US" dirty="0">
                <a:solidFill>
                  <a:srgbClr val="0033CC"/>
                </a:solidFill>
                <a:latin typeface="Arial" panose="020B0604020202020204" pitchFamily="34" charset="0"/>
                <a:ea typeface="黑体" panose="02010609060101010101" pitchFamily="49" charset="-122"/>
              </a:rPr>
              <a:t>标准</a:t>
            </a:r>
            <a:endParaRPr lang="zh-CN" altLang="en-US" dirty="0">
              <a:solidFill>
                <a:srgbClr val="0033CC"/>
              </a:solidFill>
              <a:latin typeface="Arial" panose="020B0604020202020204" pitchFamily="34" charset="0"/>
              <a:ea typeface="黑体" panose="02010609060101010101" pitchFamily="49" charset="-122"/>
            </a:endParaRPr>
          </a:p>
          <a:p>
            <a:pPr marL="342900" indent="-342900">
              <a:lnSpc>
                <a:spcPct val="100000"/>
              </a:lnSpc>
              <a:spcBef>
                <a:spcPct val="15000"/>
              </a:spcBef>
              <a:buNone/>
            </a:pPr>
            <a:r>
              <a:rPr lang="zh-CN" altLang="en-US" dirty="0">
                <a:solidFill>
                  <a:srgbClr val="0033CC"/>
                </a:solidFill>
                <a:latin typeface="Arial" panose="020B0604020202020204" pitchFamily="34" charset="0"/>
                <a:ea typeface="黑体" panose="02010609060101010101" pitchFamily="49" charset="-122"/>
              </a:rPr>
              <a:t>     </a:t>
            </a:r>
            <a:r>
              <a:rPr lang="zh-CN" altLang="en-US" dirty="0">
                <a:solidFill>
                  <a:srgbClr val="2E5C35"/>
                </a:solidFill>
                <a:latin typeface="Arial" panose="020B0604020202020204" pitchFamily="34" charset="0"/>
                <a:ea typeface="黑体" panose="02010609060101010101" pitchFamily="49" charset="-122"/>
              </a:rPr>
              <a:t>十进制数：用</a:t>
            </a:r>
            <a:r>
              <a:rPr lang="en-US" altLang="en-US" dirty="0">
                <a:solidFill>
                  <a:srgbClr val="2E5C35"/>
                </a:solidFill>
                <a:latin typeface="Arial" panose="020B0604020202020204" pitchFamily="34" charset="0"/>
                <a:ea typeface="黑体" panose="02010609060101010101" pitchFamily="49" charset="-122"/>
              </a:rPr>
              <a:t>NBCD</a:t>
            </a:r>
            <a:r>
              <a:rPr lang="zh-CN" altLang="en-US" dirty="0">
                <a:solidFill>
                  <a:srgbClr val="2E5C35"/>
                </a:solidFill>
                <a:latin typeface="Arial" panose="020B0604020202020204" pitchFamily="34" charset="0"/>
                <a:ea typeface="黑体" panose="02010609060101010101" pitchFamily="49" charset="-122"/>
              </a:rPr>
              <a:t>码表示，压缩</a:t>
            </a:r>
            <a:r>
              <a:rPr lang="en-US" altLang="zh-CN" dirty="0">
                <a:solidFill>
                  <a:srgbClr val="2E5C35"/>
                </a:solidFill>
                <a:latin typeface="Arial" panose="020B0604020202020204" pitchFamily="34" charset="0"/>
                <a:ea typeface="黑体" panose="02010609060101010101" pitchFamily="49" charset="-122"/>
              </a:rPr>
              <a:t>/</a:t>
            </a:r>
            <a:r>
              <a:rPr lang="zh-CN" altLang="en-US" dirty="0">
                <a:solidFill>
                  <a:srgbClr val="2E5C35"/>
                </a:solidFill>
                <a:latin typeface="Arial" panose="020B0604020202020204" pitchFamily="34" charset="0"/>
                <a:ea typeface="黑体" panose="02010609060101010101" pitchFamily="49" charset="-122"/>
              </a:rPr>
              <a:t>非压缩（汇编程序设计时用）</a:t>
            </a:r>
            <a:endParaRPr lang="zh-CN" altLang="en-US" dirty="0">
              <a:solidFill>
                <a:srgbClr val="2E5C35"/>
              </a:solidFill>
              <a:latin typeface="Arial" panose="020B0604020202020204" pitchFamily="34" charset="0"/>
              <a:ea typeface="黑体" panose="02010609060101010101" pitchFamily="49" charset="-122"/>
            </a:endParaRPr>
          </a:p>
          <a:p>
            <a:pPr marL="342900" indent="-342900">
              <a:lnSpc>
                <a:spcPct val="100000"/>
              </a:lnSpc>
              <a:spcBef>
                <a:spcPct val="15000"/>
              </a:spcBef>
              <a:buFont typeface="Monotype Sorts" pitchFamily="2" charset="2"/>
              <a:buNone/>
            </a:pPr>
            <a:r>
              <a:rPr lang="zh-CN" altLang="en-US" dirty="0">
                <a:solidFill>
                  <a:srgbClr val="CC3300"/>
                </a:solidFill>
                <a:latin typeface="Arial" panose="020B0604020202020204" pitchFamily="34" charset="0"/>
                <a:ea typeface="黑体" panose="02010609060101010101" pitchFamily="49" charset="-122"/>
              </a:rPr>
              <a:t>位、位串、字符和字符串</a:t>
            </a:r>
            <a:r>
              <a:rPr lang="zh-CN" altLang="en-US" dirty="0">
                <a:latin typeface="Arial" panose="020B0604020202020204" pitchFamily="34" charset="0"/>
                <a:ea typeface="黑体" panose="02010609060101010101" pitchFamily="49" charset="-122"/>
              </a:rPr>
              <a:t> </a:t>
            </a:r>
            <a:endParaRPr lang="zh-CN" altLang="en-US" dirty="0">
              <a:latin typeface="Arial" panose="020B0604020202020204" pitchFamily="34" charset="0"/>
              <a:ea typeface="黑体" panose="02010609060101010101" pitchFamily="49" charset="-122"/>
            </a:endParaRPr>
          </a:p>
          <a:p>
            <a:pPr marL="342900" indent="-342900">
              <a:lnSpc>
                <a:spcPct val="100000"/>
              </a:lnSpc>
              <a:spcBef>
                <a:spcPct val="15000"/>
              </a:spcBef>
              <a:buFont typeface="Monotype Sorts" pitchFamily="2" charset="2"/>
              <a:buChar char=" "/>
            </a:pPr>
            <a:r>
              <a:rPr lang="zh-CN" altLang="en-US" dirty="0">
                <a:latin typeface="Arial" panose="020B0604020202020204" pitchFamily="34" charset="0"/>
                <a:ea typeface="黑体" panose="02010609060101010101" pitchFamily="49" charset="-122"/>
              </a:rPr>
              <a:t>   </a:t>
            </a:r>
            <a:r>
              <a:rPr lang="zh-CN" altLang="en-US" dirty="0">
                <a:solidFill>
                  <a:srgbClr val="0033CC"/>
                </a:solidFill>
                <a:latin typeface="Arial" panose="020B0604020202020204" pitchFamily="34" charset="0"/>
                <a:ea typeface="黑体" panose="02010609060101010101" pitchFamily="49" charset="-122"/>
              </a:rPr>
              <a:t>用来表示文本、声音和图像等</a:t>
            </a:r>
            <a:endParaRPr lang="en-US" altLang="zh-CN" dirty="0">
              <a:solidFill>
                <a:srgbClr val="0033CC"/>
              </a:solidFill>
              <a:latin typeface="Arial" panose="020B0604020202020204" pitchFamily="34" charset="0"/>
              <a:ea typeface="黑体" panose="02010609060101010101" pitchFamily="49" charset="-122"/>
            </a:endParaRPr>
          </a:p>
          <a:p>
            <a:pPr lvl="2">
              <a:lnSpc>
                <a:spcPct val="100000"/>
              </a:lnSpc>
              <a:spcBef>
                <a:spcPct val="15000"/>
              </a:spcBef>
              <a:buChar char="»"/>
            </a:pPr>
            <a:r>
              <a:rPr lang="en-US" altLang="zh-CN" sz="2000" dirty="0">
                <a:latin typeface="Arial" panose="020B0604020202020204" pitchFamily="34" charset="0"/>
                <a:ea typeface="黑体" panose="02010609060101010101" pitchFamily="49" charset="-122"/>
              </a:rPr>
              <a:t>4 bits is a </a:t>
            </a:r>
            <a:r>
              <a:rPr lang="en-US" altLang="zh-CN" sz="2000" dirty="0">
                <a:solidFill>
                  <a:schemeClr val="accent1"/>
                </a:solidFill>
                <a:latin typeface="Arial" panose="020B0604020202020204" pitchFamily="34" charset="0"/>
                <a:ea typeface="黑体" panose="02010609060101010101" pitchFamily="49" charset="-122"/>
              </a:rPr>
              <a:t>nibble</a:t>
            </a:r>
            <a:r>
              <a:rPr lang="zh-CN" altLang="en-US" sz="2000" dirty="0">
                <a:solidFill>
                  <a:schemeClr val="accent1"/>
                </a:solidFill>
                <a:latin typeface="Arial" panose="020B0604020202020204" pitchFamily="34" charset="0"/>
                <a:ea typeface="黑体" panose="02010609060101010101" pitchFamily="49" charset="-122"/>
              </a:rPr>
              <a:t>（一个十六进制数字）</a:t>
            </a:r>
            <a:endParaRPr lang="zh-CN" altLang="en-US" sz="2000" dirty="0">
              <a:solidFill>
                <a:schemeClr val="accent1"/>
              </a:solidFill>
              <a:latin typeface="Arial" panose="020B0604020202020204" pitchFamily="34" charset="0"/>
              <a:ea typeface="黑体" panose="02010609060101010101" pitchFamily="49" charset="-122"/>
            </a:endParaRPr>
          </a:p>
          <a:p>
            <a:pPr lvl="2">
              <a:lnSpc>
                <a:spcPct val="100000"/>
              </a:lnSpc>
              <a:spcBef>
                <a:spcPct val="15000"/>
              </a:spcBef>
              <a:buChar char="»"/>
            </a:pPr>
            <a:r>
              <a:rPr lang="en-US" altLang="zh-CN" sz="2000" dirty="0">
                <a:latin typeface="Arial" panose="020B0604020202020204" pitchFamily="34" charset="0"/>
                <a:ea typeface="黑体" panose="02010609060101010101" pitchFamily="49" charset="-122"/>
              </a:rPr>
              <a:t>8 bits is a </a:t>
            </a:r>
            <a:r>
              <a:rPr lang="en-US" altLang="zh-CN" sz="2000" dirty="0">
                <a:solidFill>
                  <a:schemeClr val="accent1"/>
                </a:solidFill>
                <a:latin typeface="Arial" panose="020B0604020202020204" pitchFamily="34" charset="0"/>
                <a:ea typeface="黑体" panose="02010609060101010101" pitchFamily="49" charset="-122"/>
              </a:rPr>
              <a:t>byte</a:t>
            </a:r>
            <a:endParaRPr lang="en-US" altLang="zh-CN" sz="2000" dirty="0">
              <a:latin typeface="Arial" panose="020B0604020202020204" pitchFamily="34" charset="0"/>
              <a:ea typeface="黑体" panose="02010609060101010101" pitchFamily="49" charset="-122"/>
            </a:endParaRPr>
          </a:p>
          <a:p>
            <a:pPr lvl="2">
              <a:lnSpc>
                <a:spcPct val="100000"/>
              </a:lnSpc>
              <a:spcBef>
                <a:spcPct val="15000"/>
              </a:spcBef>
              <a:buChar char="»"/>
            </a:pPr>
            <a:r>
              <a:rPr lang="en-US" altLang="zh-CN" sz="2000" dirty="0">
                <a:latin typeface="Arial" panose="020B0604020202020204" pitchFamily="34" charset="0"/>
                <a:ea typeface="黑体" panose="02010609060101010101" pitchFamily="49" charset="-122"/>
              </a:rPr>
              <a:t>16 bits is a </a:t>
            </a:r>
            <a:r>
              <a:rPr lang="en-US" altLang="zh-CN" sz="2000" dirty="0">
                <a:solidFill>
                  <a:schemeClr val="accent1"/>
                </a:solidFill>
                <a:latin typeface="Arial" panose="020B0604020202020204" pitchFamily="34" charset="0"/>
                <a:ea typeface="黑体" panose="02010609060101010101" pitchFamily="49" charset="-122"/>
              </a:rPr>
              <a:t>half-word</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若一个字为</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endParaRPr lang="en-US" altLang="zh-CN" sz="2000" dirty="0">
              <a:latin typeface="Arial" panose="020B0604020202020204" pitchFamily="34" charset="0"/>
              <a:ea typeface="黑体" panose="02010609060101010101" pitchFamily="49" charset="-122"/>
            </a:endParaRPr>
          </a:p>
          <a:p>
            <a:pPr lvl="2">
              <a:lnSpc>
                <a:spcPct val="100000"/>
              </a:lnSpc>
              <a:spcBef>
                <a:spcPct val="15000"/>
              </a:spcBef>
              <a:buChar char="»"/>
            </a:pPr>
            <a:r>
              <a:rPr lang="en-US" altLang="zh-CN" sz="2000" dirty="0">
                <a:latin typeface="Arial" panose="020B0604020202020204" pitchFamily="34" charset="0"/>
                <a:ea typeface="黑体" panose="02010609060101010101" pitchFamily="49" charset="-122"/>
              </a:rPr>
              <a:t>32 bits is a </a:t>
            </a:r>
            <a:r>
              <a:rPr lang="en-US" altLang="zh-CN" sz="2000" dirty="0">
                <a:solidFill>
                  <a:schemeClr val="accent1"/>
                </a:solidFill>
                <a:latin typeface="Arial" panose="020B0604020202020204" pitchFamily="34" charset="0"/>
                <a:ea typeface="黑体" panose="02010609060101010101" pitchFamily="49" charset="-122"/>
              </a:rPr>
              <a:t>word </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若一个字为</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endParaRPr lang="zh-CN" altLang="en-US" sz="2000" dirty="0">
              <a:latin typeface="Arial" panose="020B0604020202020204" pitchFamily="34" charset="0"/>
              <a:ea typeface="黑体" panose="02010609060101010101" pitchFamily="49" charset="-122"/>
            </a:endParaRPr>
          </a:p>
          <a:p>
            <a:pPr marL="342900" indent="-342900">
              <a:lnSpc>
                <a:spcPct val="100000"/>
              </a:lnSpc>
              <a:spcBef>
                <a:spcPct val="15000"/>
              </a:spcBef>
              <a:buFont typeface="Monotype Sorts" pitchFamily="2" charset="2"/>
              <a:buNone/>
            </a:pPr>
            <a:r>
              <a:rPr lang="zh-CN" altLang="en-US" dirty="0">
                <a:solidFill>
                  <a:srgbClr val="CC3300"/>
                </a:solidFill>
                <a:latin typeface="Arial" panose="020B0604020202020204" pitchFamily="34" charset="0"/>
                <a:ea typeface="黑体" panose="02010609060101010101" pitchFamily="49" charset="-122"/>
              </a:rPr>
              <a:t>逻辑</a:t>
            </a:r>
            <a:r>
              <a:rPr lang="en-US" altLang="zh-CN" dirty="0">
                <a:solidFill>
                  <a:srgbClr val="CC3300"/>
                </a:solidFill>
                <a:latin typeface="Arial" panose="020B0604020202020204" pitchFamily="34" charset="0"/>
                <a:ea typeface="黑体" panose="02010609060101010101" pitchFamily="49" charset="-122"/>
              </a:rPr>
              <a:t>(</a:t>
            </a:r>
            <a:r>
              <a:rPr lang="zh-CN" altLang="en-US" dirty="0">
                <a:solidFill>
                  <a:srgbClr val="CC3300"/>
                </a:solidFill>
                <a:latin typeface="Arial" panose="020B0604020202020204" pitchFamily="34" charset="0"/>
                <a:ea typeface="黑体" panose="02010609060101010101" pitchFamily="49" charset="-122"/>
              </a:rPr>
              <a:t>布尔</a:t>
            </a:r>
            <a:r>
              <a:rPr lang="en-US" altLang="zh-CN" dirty="0">
                <a:solidFill>
                  <a:srgbClr val="CC3300"/>
                </a:solidFill>
                <a:latin typeface="Arial" panose="020B0604020202020204" pitchFamily="34" charset="0"/>
                <a:ea typeface="黑体" panose="02010609060101010101" pitchFamily="49" charset="-122"/>
              </a:rPr>
              <a:t>)</a:t>
            </a:r>
            <a:r>
              <a:rPr lang="zh-CN" altLang="en-US" dirty="0">
                <a:solidFill>
                  <a:srgbClr val="CC3300"/>
                </a:solidFill>
                <a:latin typeface="Arial" panose="020B0604020202020204" pitchFamily="34" charset="0"/>
                <a:ea typeface="黑体" panose="02010609060101010101" pitchFamily="49" charset="-122"/>
              </a:rPr>
              <a:t>数据</a:t>
            </a:r>
            <a:endParaRPr lang="zh-CN" altLang="en-US" dirty="0">
              <a:solidFill>
                <a:srgbClr val="CC3300"/>
              </a:solidFill>
              <a:latin typeface="Arial" panose="020B0604020202020204" pitchFamily="34" charset="0"/>
              <a:ea typeface="黑体" panose="02010609060101010101" pitchFamily="49" charset="-122"/>
            </a:endParaRPr>
          </a:p>
          <a:p>
            <a:pPr marL="342900" indent="-342900">
              <a:lnSpc>
                <a:spcPct val="100000"/>
              </a:lnSpc>
              <a:spcBef>
                <a:spcPct val="15000"/>
              </a:spcBef>
              <a:buFont typeface="Monotype Sorts" pitchFamily="2" charset="2"/>
              <a:buChar char=" "/>
            </a:pPr>
            <a:r>
              <a:rPr lang="zh-CN" altLang="en-US" dirty="0">
                <a:latin typeface="Arial" panose="020B0604020202020204" pitchFamily="34" charset="0"/>
                <a:ea typeface="黑体" panose="02010609060101010101" pitchFamily="49" charset="-122"/>
              </a:rPr>
              <a:t>   按位操作（</a:t>
            </a:r>
            <a:r>
              <a:rPr lang="en-US" altLang="zh-CN" dirty="0">
                <a:latin typeface="Arial" panose="020B0604020202020204" pitchFamily="34" charset="0"/>
                <a:ea typeface="黑体" panose="02010609060101010101" pitchFamily="49" charset="-122"/>
              </a:rPr>
              <a:t>0-</a:t>
            </a:r>
            <a:r>
              <a:rPr lang="zh-CN" altLang="en-US" dirty="0">
                <a:latin typeface="Arial" panose="020B0604020202020204" pitchFamily="34" charset="0"/>
                <a:ea typeface="黑体" panose="02010609060101010101" pitchFamily="49" charset="-122"/>
              </a:rPr>
              <a:t>假／</a:t>
            </a:r>
            <a:r>
              <a:rPr lang="en-US" altLang="zh-CN" dirty="0">
                <a:latin typeface="Arial" panose="020B0604020202020204" pitchFamily="34" charset="0"/>
                <a:ea typeface="黑体" panose="02010609060101010101" pitchFamily="49" charset="-122"/>
              </a:rPr>
              <a:t>1-</a:t>
            </a:r>
            <a:r>
              <a:rPr lang="zh-CN" altLang="en-US" dirty="0">
                <a:latin typeface="Arial" panose="020B0604020202020204" pitchFamily="34" charset="0"/>
                <a:ea typeface="黑体" panose="02010609060101010101" pitchFamily="49" charset="-122"/>
              </a:rPr>
              <a:t>真）</a:t>
            </a:r>
            <a:endParaRPr lang="zh-CN" altLang="en-US" dirty="0">
              <a:latin typeface="Arial" panose="020B0604020202020204" pitchFamily="34" charset="0"/>
              <a:ea typeface="黑体" panose="02010609060101010101" pitchFamily="49" charset="-122"/>
            </a:endParaRPr>
          </a:p>
        </p:txBody>
      </p:sp>
      <p:sp>
        <p:nvSpPr>
          <p:cNvPr id="16389" name="Text Box 5"/>
          <p:cNvSpPr txBox="1"/>
          <p:nvPr/>
        </p:nvSpPr>
        <p:spPr>
          <a:xfrm>
            <a:off x="5781675" y="5486400"/>
            <a:ext cx="2139950" cy="781050"/>
          </a:xfrm>
          <a:prstGeom prst="rect">
            <a:avLst/>
          </a:prstGeom>
          <a:noFill/>
          <a:ln w="12700">
            <a:noFill/>
          </a:ln>
        </p:spPr>
        <p:txBody>
          <a:bodyPr lIns="63500" tIns="25400" rIns="63500" bIns="25400">
            <a:spAutoFit/>
          </a:bodyPr>
          <a:lstStyle/>
          <a:p>
            <a:pPr>
              <a:spcBef>
                <a:spcPct val="50000"/>
              </a:spcBef>
            </a:pPr>
            <a:r>
              <a:rPr lang="zh-CN" altLang="en-US" sz="2400" dirty="0">
                <a:latin typeface="Arial" panose="020B0604020202020204" pitchFamily="34" charset="0"/>
                <a:ea typeface="黑体" panose="02010609060101010101" pitchFamily="49" charset="-122"/>
              </a:rPr>
              <a:t>存放在寄存器或内存单元中</a:t>
            </a:r>
            <a:endParaRPr lang="zh-CN" altLang="en-US" sz="2400"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2259">
                                            <p:txEl>
                                              <p:pRg st="1" end="1"/>
                                            </p:txEl>
                                          </p:spTgt>
                                        </p:tgtEl>
                                        <p:attrNameLst>
                                          <p:attrName>style.visibility</p:attrName>
                                        </p:attrNameLst>
                                      </p:cBhvr>
                                      <p:to>
                                        <p:strVal val="visible"/>
                                      </p:to>
                                    </p:set>
                                    <p:animEffect transition="in" filter="blinds(horizontal)">
                                      <p:cBhvr>
                                        <p:cTn id="7" dur="500"/>
                                        <p:tgtEl>
                                          <p:spTgt spid="35225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52259">
                                            <p:txEl>
                                              <p:pRg st="2" end="2"/>
                                            </p:txEl>
                                          </p:spTgt>
                                        </p:tgtEl>
                                        <p:attrNameLst>
                                          <p:attrName>style.visibility</p:attrName>
                                        </p:attrNameLst>
                                      </p:cBhvr>
                                      <p:to>
                                        <p:strVal val="visible"/>
                                      </p:to>
                                    </p:set>
                                    <p:animEffect transition="in" filter="blinds(horizontal)">
                                      <p:cBhvr>
                                        <p:cTn id="10" dur="500"/>
                                        <p:tgtEl>
                                          <p:spTgt spid="3522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52259">
                                            <p:txEl>
                                              <p:pRg st="3" end="3"/>
                                            </p:txEl>
                                          </p:spTgt>
                                        </p:tgtEl>
                                        <p:attrNameLst>
                                          <p:attrName>style.visibility</p:attrName>
                                        </p:attrNameLst>
                                      </p:cBhvr>
                                      <p:to>
                                        <p:strVal val="visible"/>
                                      </p:to>
                                    </p:set>
                                    <p:animEffect transition="in" filter="blinds(horizontal)">
                                      <p:cBhvr>
                                        <p:cTn id="15" dur="500"/>
                                        <p:tgtEl>
                                          <p:spTgt spid="352259">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52259">
                                            <p:txEl>
                                              <p:pRg st="4" end="4"/>
                                            </p:txEl>
                                          </p:spTgt>
                                        </p:tgtEl>
                                        <p:attrNameLst>
                                          <p:attrName>style.visibility</p:attrName>
                                        </p:attrNameLst>
                                      </p:cBhvr>
                                      <p:to>
                                        <p:strVal val="visible"/>
                                      </p:to>
                                    </p:set>
                                    <p:animEffect transition="in" filter="blinds(horizontal)">
                                      <p:cBhvr>
                                        <p:cTn id="18" dur="500"/>
                                        <p:tgtEl>
                                          <p:spTgt spid="352259">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52259">
                                            <p:txEl>
                                              <p:pRg st="5" end="5"/>
                                            </p:txEl>
                                          </p:spTgt>
                                        </p:tgtEl>
                                        <p:attrNameLst>
                                          <p:attrName>style.visibility</p:attrName>
                                        </p:attrNameLst>
                                      </p:cBhvr>
                                      <p:to>
                                        <p:strVal val="visible"/>
                                      </p:to>
                                    </p:set>
                                    <p:animEffect transition="in" filter="blinds(horizontal)">
                                      <p:cBhvr>
                                        <p:cTn id="21" dur="500"/>
                                        <p:tgtEl>
                                          <p:spTgt spid="352259">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52259">
                                            <p:txEl>
                                              <p:pRg st="6" end="6"/>
                                            </p:txEl>
                                          </p:spTgt>
                                        </p:tgtEl>
                                        <p:attrNameLst>
                                          <p:attrName>style.visibility</p:attrName>
                                        </p:attrNameLst>
                                      </p:cBhvr>
                                      <p:to>
                                        <p:strVal val="visible"/>
                                      </p:to>
                                    </p:set>
                                    <p:animEffect transition="in" filter="blinds(horizontal)">
                                      <p:cBhvr>
                                        <p:cTn id="26" dur="500"/>
                                        <p:tgtEl>
                                          <p:spTgt spid="352259">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52259">
                                            <p:txEl>
                                              <p:pRg st="7" end="7"/>
                                            </p:txEl>
                                          </p:spTgt>
                                        </p:tgtEl>
                                        <p:attrNameLst>
                                          <p:attrName>style.visibility</p:attrName>
                                        </p:attrNameLst>
                                      </p:cBhvr>
                                      <p:to>
                                        <p:strVal val="visible"/>
                                      </p:to>
                                    </p:set>
                                    <p:animEffect transition="in" filter="blinds(horizontal)">
                                      <p:cBhvr>
                                        <p:cTn id="31" dur="500"/>
                                        <p:tgtEl>
                                          <p:spTgt spid="352259">
                                            <p:txEl>
                                              <p:pRg st="7" end="7"/>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352259">
                                            <p:txEl>
                                              <p:pRg st="8" end="8"/>
                                            </p:txEl>
                                          </p:spTgt>
                                        </p:tgtEl>
                                        <p:attrNameLst>
                                          <p:attrName>style.visibility</p:attrName>
                                        </p:attrNameLst>
                                      </p:cBhvr>
                                      <p:to>
                                        <p:strVal val="visible"/>
                                      </p:to>
                                    </p:set>
                                    <p:animEffect transition="in" filter="blinds(horizontal)">
                                      <p:cBhvr>
                                        <p:cTn id="34" dur="500"/>
                                        <p:tgtEl>
                                          <p:spTgt spid="352259">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352259">
                                            <p:txEl>
                                              <p:pRg st="9" end="9"/>
                                            </p:txEl>
                                          </p:spTgt>
                                        </p:tgtEl>
                                        <p:attrNameLst>
                                          <p:attrName>style.visibility</p:attrName>
                                        </p:attrNameLst>
                                      </p:cBhvr>
                                      <p:to>
                                        <p:strVal val="visible"/>
                                      </p:to>
                                    </p:set>
                                    <p:animEffect transition="in" filter="blinds(horizontal)">
                                      <p:cBhvr>
                                        <p:cTn id="39" dur="500"/>
                                        <p:tgtEl>
                                          <p:spTgt spid="352259">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352259">
                                            <p:txEl>
                                              <p:pRg st="10" end="10"/>
                                            </p:txEl>
                                          </p:spTgt>
                                        </p:tgtEl>
                                        <p:attrNameLst>
                                          <p:attrName>style.visibility</p:attrName>
                                        </p:attrNameLst>
                                      </p:cBhvr>
                                      <p:to>
                                        <p:strVal val="visible"/>
                                      </p:to>
                                    </p:set>
                                    <p:animEffect transition="in" filter="blinds(horizontal)">
                                      <p:cBhvr>
                                        <p:cTn id="42" dur="500"/>
                                        <p:tgtEl>
                                          <p:spTgt spid="352259">
                                            <p:txEl>
                                              <p:pRg st="10" end="1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352259">
                                            <p:txEl>
                                              <p:pRg st="11" end="11"/>
                                            </p:txEl>
                                          </p:spTgt>
                                        </p:tgtEl>
                                        <p:attrNameLst>
                                          <p:attrName>style.visibility</p:attrName>
                                        </p:attrNameLst>
                                      </p:cBhvr>
                                      <p:to>
                                        <p:strVal val="visible"/>
                                      </p:to>
                                    </p:set>
                                    <p:animEffect transition="in" filter="blinds(horizontal)">
                                      <p:cBhvr>
                                        <p:cTn id="45" dur="500"/>
                                        <p:tgtEl>
                                          <p:spTgt spid="352259">
                                            <p:txEl>
                                              <p:pRg st="11" end="11"/>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352259">
                                            <p:txEl>
                                              <p:pRg st="12" end="12"/>
                                            </p:txEl>
                                          </p:spTgt>
                                        </p:tgtEl>
                                        <p:attrNameLst>
                                          <p:attrName>style.visibility</p:attrName>
                                        </p:attrNameLst>
                                      </p:cBhvr>
                                      <p:to>
                                        <p:strVal val="visible"/>
                                      </p:to>
                                    </p:set>
                                    <p:animEffect transition="in" filter="blinds(horizontal)">
                                      <p:cBhvr>
                                        <p:cTn id="48" dur="500"/>
                                        <p:tgtEl>
                                          <p:spTgt spid="352259">
                                            <p:txEl>
                                              <p:pRg st="12" end="1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52259">
                                            <p:txEl>
                                              <p:pRg st="13" end="13"/>
                                            </p:txEl>
                                          </p:spTgt>
                                        </p:tgtEl>
                                        <p:attrNameLst>
                                          <p:attrName>style.visibility</p:attrName>
                                        </p:attrNameLst>
                                      </p:cBhvr>
                                      <p:to>
                                        <p:strVal val="visible"/>
                                      </p:to>
                                    </p:set>
                                    <p:animEffect transition="in" filter="blinds(horizontal)">
                                      <p:cBhvr>
                                        <p:cTn id="53" dur="500"/>
                                        <p:tgtEl>
                                          <p:spTgt spid="352259">
                                            <p:txEl>
                                              <p:pRg st="13" end="13"/>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352259">
                                            <p:txEl>
                                              <p:pRg st="14" end="14"/>
                                            </p:txEl>
                                          </p:spTgt>
                                        </p:tgtEl>
                                        <p:attrNameLst>
                                          <p:attrName>style.visibility</p:attrName>
                                        </p:attrNameLst>
                                      </p:cBhvr>
                                      <p:to>
                                        <p:strVal val="visible"/>
                                      </p:to>
                                    </p:set>
                                    <p:animEffect transition="in" filter="blinds(horizontal)">
                                      <p:cBhvr>
                                        <p:cTn id="56" dur="500"/>
                                        <p:tgtEl>
                                          <p:spTgt spid="352259">
                                            <p:txEl>
                                              <p:pRg st="14" end="14"/>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6389"/>
                                        </p:tgtEl>
                                        <p:attrNameLst>
                                          <p:attrName>style.visibility</p:attrName>
                                        </p:attrNameLst>
                                      </p:cBhvr>
                                      <p:to>
                                        <p:strVal val="visible"/>
                                      </p:to>
                                    </p:set>
                                    <p:animEffect transition="in" filter="blinds(horizontal)">
                                      <p:cBhvr>
                                        <p:cTn id="61" dur="500"/>
                                        <p:tgtEl>
                                          <p:spTgt spid="16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711200" y="85725"/>
            <a:ext cx="4705350" cy="368300"/>
          </a:xfrm>
        </p:spPr>
        <p:txBody>
          <a:bodyPr vert="horz" wrap="square" lIns="63500" tIns="25400" rIns="63500" bIns="25400" anchor="t" anchorCtr="0">
            <a:spAutoFit/>
          </a:bodyPr>
          <a:lstStyle/>
          <a:p>
            <a:r>
              <a:rPr lang="en-US" altLang="zh-CN" dirty="0">
                <a:ea typeface="宋体" panose="02010600030101010101" pitchFamily="2" charset="-122"/>
              </a:rPr>
              <a:t>IA-32 &amp; MIPS Data Type</a:t>
            </a:r>
            <a:endParaRPr lang="en-US" altLang="zh-CN" dirty="0">
              <a:ea typeface="宋体" panose="02010600030101010101" pitchFamily="2" charset="-122"/>
            </a:endParaRPr>
          </a:p>
        </p:txBody>
      </p:sp>
      <p:sp>
        <p:nvSpPr>
          <p:cNvPr id="355331" name="Rectangle 3"/>
          <p:cNvSpPr>
            <a:spLocks noGrp="1"/>
          </p:cNvSpPr>
          <p:nvPr>
            <p:ph idx="1"/>
          </p:nvPr>
        </p:nvSpPr>
        <p:spPr>
          <a:xfrm>
            <a:off x="490538" y="588963"/>
            <a:ext cx="7794625" cy="6024562"/>
          </a:xfrm>
        </p:spPr>
        <p:txBody>
          <a:bodyPr vert="horz" wrap="square" lIns="91440" tIns="45720" rIns="91440" bIns="45720" anchor="t" anchorCtr="0"/>
          <a:lstStyle/>
          <a:p>
            <a:pPr marL="342900" indent="-342900">
              <a:lnSpc>
                <a:spcPct val="100000"/>
              </a:lnSpc>
              <a:spcBef>
                <a:spcPct val="20000"/>
              </a:spcBef>
            </a:pPr>
            <a:r>
              <a:rPr lang="en-US" altLang="zh-CN" dirty="0">
                <a:latin typeface="Arial" panose="020B0604020202020204" pitchFamily="34" charset="0"/>
              </a:rPr>
              <a:t>IA-32</a:t>
            </a:r>
            <a:endParaRPr lang="en-US" altLang="zh-CN" dirty="0">
              <a:latin typeface="Arial" panose="020B0604020202020204" pitchFamily="34" charset="0"/>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基本类型：</a:t>
            </a:r>
            <a:endParaRPr lang="zh-CN" altLang="en-US" sz="2000" dirty="0">
              <a:latin typeface="Arial" panose="020B0604020202020204" pitchFamily="34" charset="0"/>
              <a:ea typeface="黑体" panose="02010609060101010101" pitchFamily="49" charset="-122"/>
            </a:endParaRPr>
          </a:p>
          <a:p>
            <a:pPr lvl="2">
              <a:lnSpc>
                <a:spcPct val="100000"/>
              </a:lnSpc>
              <a:spcBef>
                <a:spcPct val="20000"/>
              </a:spcBef>
            </a:pPr>
            <a:r>
              <a:rPr lang="zh-CN" altLang="en-US" sz="2000" dirty="0">
                <a:latin typeface="Arial" panose="020B0604020202020204" pitchFamily="34" charset="0"/>
                <a:ea typeface="黑体" panose="02010609060101010101" pitchFamily="49" charset="-122"/>
              </a:rPr>
              <a:t>字节、字</a:t>
            </a:r>
            <a:r>
              <a:rPr lang="en-US" altLang="zh-CN" sz="2000" dirty="0">
                <a:latin typeface="Arial" panose="020B0604020202020204" pitchFamily="34" charset="0"/>
                <a:ea typeface="黑体" panose="02010609060101010101" pitchFamily="49" charset="-122"/>
              </a:rPr>
              <a:t>(16</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、双字</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、四字</a:t>
            </a:r>
            <a:r>
              <a:rPr lang="en-US" altLang="zh-CN" sz="2000" dirty="0">
                <a:latin typeface="Arial" panose="020B0604020202020204" pitchFamily="34" charset="0"/>
                <a:ea typeface="黑体" panose="02010609060101010101" pitchFamily="49" charset="-122"/>
              </a:rPr>
              <a:t>(64</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 </a:t>
            </a:r>
            <a:endParaRPr lang="en-US" altLang="zh-CN"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整数：</a:t>
            </a:r>
            <a:endParaRPr lang="zh-CN" altLang="en-US" sz="2000" dirty="0">
              <a:latin typeface="Arial" panose="020B0604020202020204" pitchFamily="34" charset="0"/>
              <a:ea typeface="黑体" panose="02010609060101010101" pitchFamily="49" charset="-122"/>
            </a:endParaRPr>
          </a:p>
          <a:p>
            <a:pPr lvl="2">
              <a:lnSpc>
                <a:spcPct val="100000"/>
              </a:lnSpc>
              <a:spcBef>
                <a:spcPct val="20000"/>
              </a:spcBef>
            </a:pPr>
            <a:r>
              <a:rPr lang="zh-CN" altLang="en-US" sz="2000" dirty="0">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16</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64</a:t>
            </a:r>
            <a:r>
              <a:rPr lang="zh-CN" altLang="en-US" sz="2000" dirty="0">
                <a:latin typeface="Arial" panose="020B0604020202020204" pitchFamily="34" charset="0"/>
                <a:ea typeface="黑体" panose="02010609060101010101" pitchFamily="49" charset="-122"/>
              </a:rPr>
              <a:t>位三种</a:t>
            </a:r>
            <a:r>
              <a:rPr lang="en-US" altLang="zh-CN" sz="2000" dirty="0">
                <a:latin typeface="Arial" panose="020B0604020202020204" pitchFamily="34" charset="0"/>
                <a:ea typeface="黑体" panose="02010609060101010101" pitchFamily="49" charset="-122"/>
              </a:rPr>
              <a:t>2-</a:t>
            </a:r>
            <a:r>
              <a:rPr lang="zh-CN" altLang="en-US" sz="2000" dirty="0">
                <a:latin typeface="Arial" panose="020B0604020202020204" pitchFamily="34" charset="0"/>
                <a:ea typeface="黑体" panose="02010609060101010101" pitchFamily="49" charset="-122"/>
              </a:rPr>
              <a:t>补码表示的整数</a:t>
            </a:r>
            <a:endParaRPr lang="zh-CN" altLang="en-US" sz="2000" dirty="0">
              <a:latin typeface="Arial" panose="020B0604020202020204" pitchFamily="34" charset="0"/>
              <a:ea typeface="黑体" panose="02010609060101010101" pitchFamily="49" charset="-122"/>
            </a:endParaRPr>
          </a:p>
          <a:p>
            <a:pPr lvl="2">
              <a:lnSpc>
                <a:spcPct val="100000"/>
              </a:lnSpc>
              <a:spcBef>
                <a:spcPct val="20000"/>
              </a:spcBef>
            </a:pPr>
            <a:r>
              <a:rPr lang="zh-CN" altLang="en-US" sz="2000" dirty="0">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18</a:t>
            </a:r>
            <a:r>
              <a:rPr lang="zh-CN" altLang="en-US" sz="2000" dirty="0">
                <a:latin typeface="Arial" panose="020B0604020202020204" pitchFamily="34" charset="0"/>
                <a:ea typeface="黑体" panose="02010609060101010101" pitchFamily="49" charset="-122"/>
              </a:rPr>
              <a:t>位压缩</a:t>
            </a:r>
            <a:r>
              <a:rPr lang="en-US" altLang="zh-CN" sz="2000" dirty="0">
                <a:latin typeface="Arial" panose="020B0604020202020204" pitchFamily="34" charset="0"/>
                <a:ea typeface="黑体" panose="02010609060101010101" pitchFamily="49" charset="-122"/>
              </a:rPr>
              <a:t>8421</a:t>
            </a:r>
            <a:r>
              <a:rPr lang="zh-CN" altLang="en-US" sz="2000" dirty="0">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BCD</a:t>
            </a:r>
            <a:r>
              <a:rPr lang="zh-CN" altLang="en-US" sz="2000" dirty="0">
                <a:latin typeface="Arial" panose="020B0604020202020204" pitchFamily="34" charset="0"/>
                <a:ea typeface="黑体" panose="02010609060101010101" pitchFamily="49" charset="-122"/>
              </a:rPr>
              <a:t>码表示的十进制整数</a:t>
            </a:r>
            <a:endParaRPr lang="zh-CN" altLang="en-US"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无符号整数（</a:t>
            </a:r>
            <a:r>
              <a:rPr lang="en-US" altLang="zh-CN" sz="2000" dirty="0">
                <a:latin typeface="Arial" panose="020B0604020202020204" pitchFamily="34" charset="0"/>
                <a:ea typeface="黑体" panose="02010609060101010101" pitchFamily="49" charset="-122"/>
              </a:rPr>
              <a:t>8</a:t>
            </a:r>
            <a:r>
              <a:rPr lang="zh-CN" altLang="en-US" sz="2000" dirty="0">
                <a:latin typeface="Arial" panose="020B0604020202020204" pitchFamily="34" charset="0"/>
                <a:ea typeface="黑体" panose="02010609060101010101" pitchFamily="49" charset="-122"/>
              </a:rPr>
              <a:t>、</a:t>
            </a:r>
            <a:r>
              <a:rPr lang="en-US" altLang="zh-CN" sz="2000" dirty="0">
                <a:latin typeface="Arial" panose="020B0604020202020204" pitchFamily="34" charset="0"/>
                <a:ea typeface="黑体" panose="02010609060101010101" pitchFamily="49" charset="-122"/>
              </a:rPr>
              <a:t>16</a:t>
            </a:r>
            <a:r>
              <a:rPr lang="zh-CN" altLang="en-US" sz="2000" dirty="0">
                <a:latin typeface="Arial" panose="020B0604020202020204" pitchFamily="34" charset="0"/>
                <a:ea typeface="黑体" panose="02010609060101010101" pitchFamily="49" charset="-122"/>
              </a:rPr>
              <a:t>或</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endParaRPr lang="zh-CN" altLang="en-US"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近指针：</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位段内偏移（有效地址）</a:t>
            </a:r>
            <a:endParaRPr lang="zh-CN" altLang="en-US"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浮点数</a:t>
            </a:r>
            <a:r>
              <a:rPr lang="zh-CN" altLang="en-US" sz="2000" dirty="0">
                <a:latin typeface="Arial" panose="020B0604020202020204" pitchFamily="34" charset="0"/>
                <a:ea typeface="黑体" panose="02010609060101010101" pitchFamily="49" charset="-122"/>
                <a:sym typeface="Wingdings" panose="05000000000000000000" pitchFamily="2" charset="2"/>
              </a:rPr>
              <a:t>：</a:t>
            </a:r>
            <a:r>
              <a:rPr lang="en-US" altLang="zh-CN" sz="2000" dirty="0">
                <a:latin typeface="Arial" panose="020B0604020202020204" pitchFamily="34" charset="0"/>
                <a:ea typeface="黑体" panose="02010609060101010101" pitchFamily="49" charset="-122"/>
                <a:sym typeface="Wingdings" panose="05000000000000000000" pitchFamily="2" charset="2"/>
              </a:rPr>
              <a:t>IEEE 754</a:t>
            </a:r>
            <a:r>
              <a:rPr lang="zh-CN" altLang="en-US" sz="2000" dirty="0">
                <a:latin typeface="Arial" panose="020B0604020202020204" pitchFamily="34" charset="0"/>
                <a:ea typeface="黑体" panose="02010609060101010101" pitchFamily="49" charset="-122"/>
                <a:sym typeface="Wingdings" panose="05000000000000000000" pitchFamily="2" charset="2"/>
              </a:rPr>
              <a:t>（</a:t>
            </a:r>
            <a:r>
              <a:rPr lang="en-US" altLang="zh-CN" sz="2000" dirty="0">
                <a:latin typeface="Arial" panose="020B0604020202020204" pitchFamily="34" charset="0"/>
                <a:ea typeface="黑体" panose="02010609060101010101" pitchFamily="49" charset="-122"/>
                <a:sym typeface="Wingdings" panose="05000000000000000000" pitchFamily="2" charset="2"/>
              </a:rPr>
              <a:t>80</a:t>
            </a:r>
            <a:r>
              <a:rPr lang="zh-CN" altLang="en-US" sz="2000" dirty="0">
                <a:latin typeface="Arial" panose="020B0604020202020204" pitchFamily="34" charset="0"/>
                <a:ea typeface="黑体" panose="02010609060101010101" pitchFamily="49" charset="-122"/>
                <a:sym typeface="Wingdings" panose="05000000000000000000" pitchFamily="2" charset="2"/>
              </a:rPr>
              <a:t>位扩展精度浮点数寄存器）</a:t>
            </a:r>
            <a:endParaRPr lang="zh-CN" altLang="en-US" sz="2000" dirty="0">
              <a:latin typeface="Arial" panose="020B0604020202020204" pitchFamily="34" charset="0"/>
              <a:ea typeface="黑体" panose="02010609060101010101" pitchFamily="49" charset="-122"/>
              <a:sym typeface="Wingdings" panose="05000000000000000000" pitchFamily="2" charset="2"/>
            </a:endParaRPr>
          </a:p>
          <a:p>
            <a:pPr marL="342900" indent="-342900">
              <a:lnSpc>
                <a:spcPct val="100000"/>
              </a:lnSpc>
              <a:spcBef>
                <a:spcPct val="20000"/>
              </a:spcBef>
            </a:pPr>
            <a:r>
              <a:rPr lang="en-US" altLang="zh-CN" dirty="0">
                <a:latin typeface="Arial" panose="020B0604020202020204" pitchFamily="34" charset="0"/>
                <a:sym typeface="Wingdings" panose="05000000000000000000" pitchFamily="2" charset="2"/>
              </a:rPr>
              <a:t>MIPS</a:t>
            </a:r>
            <a:endParaRPr lang="en-US" altLang="zh-CN" dirty="0">
              <a:latin typeface="Arial" panose="020B0604020202020204" pitchFamily="34" charset="0"/>
              <a:sym typeface="Wingdings" panose="05000000000000000000" pitchFamily="2" charset="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基本类型：</a:t>
            </a:r>
            <a:endParaRPr lang="zh-CN" altLang="en-US" sz="2000" dirty="0">
              <a:latin typeface="Arial" panose="020B0604020202020204" pitchFamily="34" charset="0"/>
              <a:ea typeface="黑体" panose="02010609060101010101" pitchFamily="49" charset="-122"/>
            </a:endParaRPr>
          </a:p>
          <a:p>
            <a:pPr lvl="2">
              <a:lnSpc>
                <a:spcPct val="100000"/>
              </a:lnSpc>
              <a:spcBef>
                <a:spcPct val="20000"/>
              </a:spcBef>
            </a:pPr>
            <a:r>
              <a:rPr lang="zh-CN" altLang="en-US" sz="2000" dirty="0">
                <a:latin typeface="Arial" panose="020B0604020202020204" pitchFamily="34" charset="0"/>
                <a:ea typeface="黑体" panose="02010609060101010101" pitchFamily="49" charset="-122"/>
              </a:rPr>
              <a:t>字节、半字</a:t>
            </a:r>
            <a:r>
              <a:rPr lang="en-US" altLang="zh-CN" sz="2000" dirty="0">
                <a:latin typeface="Arial" panose="020B0604020202020204" pitchFamily="34" charset="0"/>
                <a:ea typeface="黑体" panose="02010609060101010101" pitchFamily="49" charset="-122"/>
              </a:rPr>
              <a:t>(16</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、字</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、四字</a:t>
            </a:r>
            <a:r>
              <a:rPr lang="en-US" altLang="zh-CN" sz="2000" dirty="0">
                <a:latin typeface="Arial" panose="020B0604020202020204" pitchFamily="34" charset="0"/>
                <a:ea typeface="黑体" panose="02010609060101010101" pitchFamily="49" charset="-122"/>
              </a:rPr>
              <a:t>(64</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 </a:t>
            </a:r>
            <a:endParaRPr lang="en-US" altLang="zh-CN"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整数： </a:t>
            </a:r>
            <a:r>
              <a:rPr lang="en-US" altLang="zh-CN" sz="2000" dirty="0">
                <a:latin typeface="Arial" panose="020B0604020202020204" pitchFamily="34" charset="0"/>
                <a:ea typeface="黑体" panose="02010609060101010101" pitchFamily="49" charset="-122"/>
              </a:rPr>
              <a:t>16</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r>
              <a:rPr lang="en-US" altLang="zh-CN" sz="2000" dirty="0">
                <a:latin typeface="Arial" panose="020B0604020202020204" pitchFamily="34" charset="0"/>
                <a:ea typeface="黑体" panose="02010609060101010101" pitchFamily="49" charset="-122"/>
              </a:rPr>
              <a:t>64</a:t>
            </a:r>
            <a:r>
              <a:rPr lang="zh-CN" altLang="en-US" sz="2000" dirty="0">
                <a:latin typeface="Arial" panose="020B0604020202020204" pitchFamily="34" charset="0"/>
                <a:ea typeface="黑体" panose="02010609060101010101" pitchFamily="49" charset="-122"/>
              </a:rPr>
              <a:t>位三种</a:t>
            </a:r>
            <a:r>
              <a:rPr lang="en-US" altLang="zh-CN" sz="2000" dirty="0">
                <a:latin typeface="Arial" panose="020B0604020202020204" pitchFamily="34" charset="0"/>
                <a:ea typeface="黑体" panose="02010609060101010101" pitchFamily="49" charset="-122"/>
              </a:rPr>
              <a:t>2-</a:t>
            </a:r>
            <a:r>
              <a:rPr lang="zh-CN" altLang="en-US" sz="2000" dirty="0">
                <a:latin typeface="Arial" panose="020B0604020202020204" pitchFamily="34" charset="0"/>
                <a:ea typeface="黑体" panose="02010609060101010101" pitchFamily="49" charset="-122"/>
              </a:rPr>
              <a:t>补码表示的整数</a:t>
            </a:r>
            <a:endParaRPr lang="zh-CN" altLang="en-US"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无符号整数：（</a:t>
            </a:r>
            <a:r>
              <a:rPr lang="en-US" altLang="zh-CN" sz="2000" dirty="0">
                <a:latin typeface="Arial" panose="020B0604020202020204" pitchFamily="34" charset="0"/>
                <a:ea typeface="黑体" panose="02010609060101010101" pitchFamily="49" charset="-122"/>
              </a:rPr>
              <a:t>16</a:t>
            </a:r>
            <a:r>
              <a:rPr lang="zh-CN" altLang="en-US" sz="2000" dirty="0">
                <a:latin typeface="Arial" panose="020B0604020202020204" pitchFamily="34" charset="0"/>
                <a:ea typeface="黑体" panose="02010609060101010101" pitchFamily="49" charset="-122"/>
              </a:rPr>
              <a:t>、</a:t>
            </a:r>
            <a:r>
              <a:rPr lang="en-US" altLang="zh-CN" sz="2000" dirty="0">
                <a:latin typeface="Arial" panose="020B0604020202020204" pitchFamily="34" charset="0"/>
                <a:ea typeface="黑体" panose="02010609060101010101" pitchFamily="49" charset="-122"/>
              </a:rPr>
              <a:t>32</a:t>
            </a:r>
            <a:r>
              <a:rPr lang="zh-CN" altLang="en-US" sz="2000" dirty="0">
                <a:latin typeface="Arial" panose="020B0604020202020204" pitchFamily="34" charset="0"/>
                <a:ea typeface="黑体" panose="02010609060101010101" pitchFamily="49" charset="-122"/>
              </a:rPr>
              <a:t>位）</a:t>
            </a:r>
            <a:endParaRPr lang="zh-CN" altLang="en-US" sz="2000" dirty="0">
              <a:latin typeface="Arial" panose="020B0604020202020204" pitchFamily="34" charset="0"/>
              <a:ea typeface="黑体" panose="02010609060101010101" pitchFamily="49" charset="-122"/>
            </a:endParaRPr>
          </a:p>
          <a:p>
            <a:pPr marL="742950" lvl="1" indent="-285750">
              <a:lnSpc>
                <a:spcPct val="100000"/>
              </a:lnSpc>
              <a:spcBef>
                <a:spcPct val="20000"/>
              </a:spcBef>
            </a:pPr>
            <a:r>
              <a:rPr lang="zh-CN" altLang="en-US" sz="2000" dirty="0">
                <a:latin typeface="Arial" panose="020B0604020202020204" pitchFamily="34" charset="0"/>
                <a:ea typeface="黑体" panose="02010609060101010101" pitchFamily="49" charset="-122"/>
              </a:rPr>
              <a:t>浮点数</a:t>
            </a:r>
            <a:r>
              <a:rPr lang="zh-CN" altLang="en-US" sz="2000" dirty="0">
                <a:latin typeface="Arial" panose="020B0604020202020204" pitchFamily="34" charset="0"/>
                <a:ea typeface="黑体" panose="02010609060101010101" pitchFamily="49" charset="-122"/>
                <a:sym typeface="Wingdings" panose="05000000000000000000" pitchFamily="2" charset="2"/>
              </a:rPr>
              <a:t>：</a:t>
            </a:r>
            <a:r>
              <a:rPr lang="en-US" altLang="zh-CN" sz="2000" dirty="0">
                <a:latin typeface="Arial" panose="020B0604020202020204" pitchFamily="34" charset="0"/>
                <a:ea typeface="黑体" panose="02010609060101010101" pitchFamily="49" charset="-122"/>
                <a:sym typeface="Wingdings" panose="05000000000000000000" pitchFamily="2" charset="2"/>
              </a:rPr>
              <a:t>IEEE 754</a:t>
            </a:r>
            <a:r>
              <a:rPr lang="zh-CN" altLang="en-US" sz="2000" dirty="0">
                <a:latin typeface="Arial" panose="020B0604020202020204" pitchFamily="34" charset="0"/>
                <a:ea typeface="黑体" panose="02010609060101010101" pitchFamily="49" charset="-122"/>
                <a:sym typeface="Wingdings" panose="05000000000000000000" pitchFamily="2" charset="2"/>
              </a:rPr>
              <a:t>（</a:t>
            </a:r>
            <a:r>
              <a:rPr lang="en-US" altLang="zh-CN" sz="2000" dirty="0">
                <a:latin typeface="Arial" panose="020B0604020202020204" pitchFamily="34" charset="0"/>
                <a:ea typeface="黑体" panose="02010609060101010101" pitchFamily="49" charset="-122"/>
                <a:sym typeface="Wingdings" panose="05000000000000000000" pitchFamily="2" charset="2"/>
              </a:rPr>
              <a:t>32</a:t>
            </a:r>
            <a:r>
              <a:rPr lang="zh-CN" altLang="en-US" sz="2000" dirty="0">
                <a:latin typeface="Arial" panose="020B0604020202020204" pitchFamily="34" charset="0"/>
                <a:ea typeface="黑体" panose="02010609060101010101" pitchFamily="49" charset="-122"/>
                <a:sym typeface="Wingdings" panose="05000000000000000000" pitchFamily="2" charset="2"/>
              </a:rPr>
              <a:t>位</a:t>
            </a:r>
            <a:r>
              <a:rPr lang="en-US" altLang="zh-CN" sz="2000" dirty="0">
                <a:latin typeface="Arial" panose="020B0604020202020204" pitchFamily="34" charset="0"/>
                <a:ea typeface="黑体" panose="02010609060101010101" pitchFamily="49" charset="-122"/>
                <a:sym typeface="Wingdings" panose="05000000000000000000" pitchFamily="2" charset="2"/>
              </a:rPr>
              <a:t>/64</a:t>
            </a:r>
            <a:r>
              <a:rPr lang="zh-CN" altLang="en-US" sz="2000" dirty="0">
                <a:latin typeface="Arial" panose="020B0604020202020204" pitchFamily="34" charset="0"/>
                <a:ea typeface="黑体" panose="02010609060101010101" pitchFamily="49" charset="-122"/>
                <a:sym typeface="Wingdings" panose="05000000000000000000" pitchFamily="2" charset="2"/>
              </a:rPr>
              <a:t>位浮点数寄存器）</a:t>
            </a:r>
            <a:endParaRPr lang="zh-CN" altLang="en-US" sz="2000" dirty="0">
              <a:latin typeface="Arial" panose="020B0604020202020204" pitchFamily="34" charset="0"/>
              <a:ea typeface="黑体" panose="02010609060101010101" pitchFamily="49" charset="-122"/>
              <a:sym typeface="Wingdings" panose="05000000000000000000" pitchFamily="2" charset="2"/>
            </a:endParaRPr>
          </a:p>
          <a:p>
            <a:pPr marL="742950" lvl="1" indent="-285750">
              <a:lnSpc>
                <a:spcPct val="100000"/>
              </a:lnSpc>
              <a:spcBef>
                <a:spcPct val="20000"/>
              </a:spcBef>
              <a:buNone/>
            </a:pPr>
            <a:endParaRPr lang="zh-CN" altLang="en-US" sz="2000"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5331">
                                            <p:txEl>
                                              <p:pRg st="1" end="1"/>
                                            </p:txEl>
                                          </p:spTgt>
                                        </p:tgtEl>
                                        <p:attrNameLst>
                                          <p:attrName>style.visibility</p:attrName>
                                        </p:attrNameLst>
                                      </p:cBhvr>
                                      <p:to>
                                        <p:strVal val="visible"/>
                                      </p:to>
                                    </p:set>
                                    <p:animEffect transition="in" filter="blinds(horizontal)">
                                      <p:cBhvr>
                                        <p:cTn id="7" dur="500"/>
                                        <p:tgtEl>
                                          <p:spTgt spid="3553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5331">
                                            <p:txEl>
                                              <p:pRg st="0" end="0"/>
                                            </p:txEl>
                                          </p:spTgt>
                                        </p:tgtEl>
                                        <p:attrNameLst>
                                          <p:attrName>style.visibility</p:attrName>
                                        </p:attrNameLst>
                                      </p:cBhvr>
                                      <p:to>
                                        <p:strVal val="visible"/>
                                      </p:to>
                                    </p:set>
                                    <p:animEffect transition="in" filter="blinds(horizontal)">
                                      <p:cBhvr>
                                        <p:cTn id="12" dur="500"/>
                                        <p:tgtEl>
                                          <p:spTgt spid="35533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55331">
                                            <p:txEl>
                                              <p:pRg st="2" end="2"/>
                                            </p:txEl>
                                          </p:spTgt>
                                        </p:tgtEl>
                                        <p:attrNameLst>
                                          <p:attrName>style.visibility</p:attrName>
                                        </p:attrNameLst>
                                      </p:cBhvr>
                                      <p:to>
                                        <p:strVal val="visible"/>
                                      </p:to>
                                    </p:set>
                                    <p:animEffect transition="in" filter="blinds(horizontal)">
                                      <p:cBhvr>
                                        <p:cTn id="15" dur="500"/>
                                        <p:tgtEl>
                                          <p:spTgt spid="35533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55331">
                                            <p:txEl>
                                              <p:pRg st="3" end="3"/>
                                            </p:txEl>
                                          </p:spTgt>
                                        </p:tgtEl>
                                        <p:attrNameLst>
                                          <p:attrName>style.visibility</p:attrName>
                                        </p:attrNameLst>
                                      </p:cBhvr>
                                      <p:to>
                                        <p:strVal val="visible"/>
                                      </p:to>
                                    </p:set>
                                    <p:animEffect transition="in" filter="blinds(horizontal)">
                                      <p:cBhvr>
                                        <p:cTn id="20" dur="500"/>
                                        <p:tgtEl>
                                          <p:spTgt spid="355331">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55331">
                                            <p:txEl>
                                              <p:pRg st="4" end="4"/>
                                            </p:txEl>
                                          </p:spTgt>
                                        </p:tgtEl>
                                        <p:attrNameLst>
                                          <p:attrName>style.visibility</p:attrName>
                                        </p:attrNameLst>
                                      </p:cBhvr>
                                      <p:to>
                                        <p:strVal val="visible"/>
                                      </p:to>
                                    </p:set>
                                    <p:animEffect transition="in" filter="blinds(horizontal)">
                                      <p:cBhvr>
                                        <p:cTn id="23" dur="500"/>
                                        <p:tgtEl>
                                          <p:spTgt spid="355331">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55331">
                                            <p:txEl>
                                              <p:pRg st="5" end="5"/>
                                            </p:txEl>
                                          </p:spTgt>
                                        </p:tgtEl>
                                        <p:attrNameLst>
                                          <p:attrName>style.visibility</p:attrName>
                                        </p:attrNameLst>
                                      </p:cBhvr>
                                      <p:to>
                                        <p:strVal val="visible"/>
                                      </p:to>
                                    </p:set>
                                    <p:animEffect transition="in" filter="blinds(horizontal)">
                                      <p:cBhvr>
                                        <p:cTn id="26" dur="500"/>
                                        <p:tgtEl>
                                          <p:spTgt spid="35533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355331">
                                            <p:txEl>
                                              <p:pRg st="6" end="6"/>
                                            </p:txEl>
                                          </p:spTgt>
                                        </p:tgtEl>
                                        <p:attrNameLst>
                                          <p:attrName>style.visibility</p:attrName>
                                        </p:attrNameLst>
                                      </p:cBhvr>
                                      <p:to>
                                        <p:strVal val="visible"/>
                                      </p:to>
                                    </p:set>
                                    <p:animEffect transition="in" filter="blinds(horizontal)">
                                      <p:cBhvr>
                                        <p:cTn id="31" dur="500"/>
                                        <p:tgtEl>
                                          <p:spTgt spid="355331">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55331">
                                            <p:txEl>
                                              <p:pRg st="7" end="7"/>
                                            </p:txEl>
                                          </p:spTgt>
                                        </p:tgtEl>
                                        <p:attrNameLst>
                                          <p:attrName>style.visibility</p:attrName>
                                        </p:attrNameLst>
                                      </p:cBhvr>
                                      <p:to>
                                        <p:strVal val="visible"/>
                                      </p:to>
                                    </p:set>
                                    <p:animEffect transition="in" filter="blinds(horizontal)">
                                      <p:cBhvr>
                                        <p:cTn id="36" dur="500"/>
                                        <p:tgtEl>
                                          <p:spTgt spid="355331">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55331">
                                            <p:txEl>
                                              <p:pRg st="8" end="8"/>
                                            </p:txEl>
                                          </p:spTgt>
                                        </p:tgtEl>
                                        <p:attrNameLst>
                                          <p:attrName>style.visibility</p:attrName>
                                        </p:attrNameLst>
                                      </p:cBhvr>
                                      <p:to>
                                        <p:strVal val="visible"/>
                                      </p:to>
                                    </p:set>
                                    <p:animEffect transition="in" filter="blinds(horizontal)">
                                      <p:cBhvr>
                                        <p:cTn id="41" dur="500"/>
                                        <p:tgtEl>
                                          <p:spTgt spid="355331">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355331">
                                            <p:txEl>
                                              <p:pRg st="10" end="10"/>
                                            </p:txEl>
                                          </p:spTgt>
                                        </p:tgtEl>
                                        <p:attrNameLst>
                                          <p:attrName>style.visibility</p:attrName>
                                        </p:attrNameLst>
                                      </p:cBhvr>
                                      <p:to>
                                        <p:strVal val="visible"/>
                                      </p:to>
                                    </p:set>
                                    <p:animEffect transition="in" filter="blinds(horizontal)">
                                      <p:cBhvr>
                                        <p:cTn id="46" dur="500"/>
                                        <p:tgtEl>
                                          <p:spTgt spid="355331">
                                            <p:txEl>
                                              <p:pRg st="10" end="10"/>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355331">
                                            <p:txEl>
                                              <p:pRg st="11" end="11"/>
                                            </p:txEl>
                                          </p:spTgt>
                                        </p:tgtEl>
                                        <p:attrNameLst>
                                          <p:attrName>style.visibility</p:attrName>
                                        </p:attrNameLst>
                                      </p:cBhvr>
                                      <p:to>
                                        <p:strVal val="visible"/>
                                      </p:to>
                                    </p:set>
                                    <p:animEffect transition="in" filter="blinds(horizontal)">
                                      <p:cBhvr>
                                        <p:cTn id="49" dur="500"/>
                                        <p:tgtEl>
                                          <p:spTgt spid="355331">
                                            <p:txEl>
                                              <p:pRg st="11" end="1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355331">
                                            <p:txEl>
                                              <p:pRg st="12" end="12"/>
                                            </p:txEl>
                                          </p:spTgt>
                                        </p:tgtEl>
                                        <p:attrNameLst>
                                          <p:attrName>style.visibility</p:attrName>
                                        </p:attrNameLst>
                                      </p:cBhvr>
                                      <p:to>
                                        <p:strVal val="visible"/>
                                      </p:to>
                                    </p:set>
                                    <p:animEffect transition="in" filter="blinds(horizontal)">
                                      <p:cBhvr>
                                        <p:cTn id="54" dur="500"/>
                                        <p:tgtEl>
                                          <p:spTgt spid="355331">
                                            <p:txEl>
                                              <p:pRg st="12" end="1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355331">
                                            <p:txEl>
                                              <p:pRg st="13" end="13"/>
                                            </p:txEl>
                                          </p:spTgt>
                                        </p:tgtEl>
                                        <p:attrNameLst>
                                          <p:attrName>style.visibility</p:attrName>
                                        </p:attrNameLst>
                                      </p:cBhvr>
                                      <p:to>
                                        <p:strVal val="visible"/>
                                      </p:to>
                                    </p:set>
                                    <p:animEffect transition="in" filter="blinds(horizontal)">
                                      <p:cBhvr>
                                        <p:cTn id="59" dur="500"/>
                                        <p:tgtEl>
                                          <p:spTgt spid="355331">
                                            <p:txEl>
                                              <p:pRg st="13" end="13"/>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355331">
                                            <p:txEl>
                                              <p:pRg st="14" end="14"/>
                                            </p:txEl>
                                          </p:spTgt>
                                        </p:tgtEl>
                                        <p:attrNameLst>
                                          <p:attrName>style.visibility</p:attrName>
                                        </p:attrNameLst>
                                      </p:cBhvr>
                                      <p:to>
                                        <p:strVal val="visible"/>
                                      </p:to>
                                    </p:set>
                                    <p:animEffect transition="in" filter="blinds(horizontal)">
                                      <p:cBhvr>
                                        <p:cTn id="64" dur="500"/>
                                        <p:tgtEl>
                                          <p:spTgt spid="35533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609600" y="76200"/>
            <a:ext cx="6597650" cy="425450"/>
          </a:xfrm>
        </p:spPr>
        <p:txBody>
          <a:bodyPr vert="horz" wrap="square" lIns="63500" tIns="25400" rIns="63500" bIns="25400" anchor="t" anchorCtr="0">
            <a:spAutoFit/>
          </a:bodyPr>
          <a:lstStyle/>
          <a:p>
            <a:pPr>
              <a:buNone/>
            </a:pPr>
            <a:r>
              <a:rPr lang="en-US" altLang="zh-CN" dirty="0">
                <a:ea typeface="宋体" panose="02010600030101010101" pitchFamily="2" charset="-122"/>
              </a:rPr>
              <a:t>Addressing Modes</a:t>
            </a:r>
            <a:r>
              <a:rPr lang="zh-CN" altLang="en-US" sz="2800" dirty="0">
                <a:latin typeface="宋体" panose="02010600030101010101" pitchFamily="2" charset="-122"/>
                <a:ea typeface="宋体" panose="02010600030101010101" pitchFamily="2" charset="-122"/>
              </a:rPr>
              <a:t>（寻址方式）</a:t>
            </a:r>
            <a:endParaRPr lang="zh-CN" altLang="en-US" sz="2800" dirty="0">
              <a:latin typeface="宋体" panose="02010600030101010101" pitchFamily="2" charset="-122"/>
              <a:ea typeface="宋体" panose="02010600030101010101" pitchFamily="2" charset="-122"/>
            </a:endParaRPr>
          </a:p>
        </p:txBody>
      </p:sp>
      <p:sp>
        <p:nvSpPr>
          <p:cNvPr id="369667" name="Rectangle 3"/>
          <p:cNvSpPr>
            <a:spLocks noGrp="1"/>
          </p:cNvSpPr>
          <p:nvPr>
            <p:ph idx="1"/>
          </p:nvPr>
        </p:nvSpPr>
        <p:spPr>
          <a:xfrm>
            <a:off x="233363" y="606425"/>
            <a:ext cx="8788400" cy="3249613"/>
          </a:xfrm>
        </p:spPr>
        <p:txBody>
          <a:bodyPr vert="horz" wrap="square" lIns="91440" tIns="45720" rIns="91440" bIns="45720" anchor="t" anchorCtr="0"/>
          <a:lstStyle/>
          <a:p>
            <a:pPr marL="342900" indent="-342900">
              <a:lnSpc>
                <a:spcPct val="110000"/>
              </a:lnSpc>
              <a:spcBef>
                <a:spcPct val="20000"/>
              </a:spcBef>
            </a:pPr>
            <a:r>
              <a:rPr lang="zh-CN" altLang="en-US" dirty="0">
                <a:latin typeface="Arial" panose="020B0604020202020204" pitchFamily="34" charset="0"/>
                <a:ea typeface="黑体" panose="02010609060101010101" pitchFamily="49" charset="-122"/>
              </a:rPr>
              <a:t>什么是“寻址方式”？</a:t>
            </a:r>
            <a:endParaRPr lang="zh-CN" altLang="en-US" dirty="0">
              <a:latin typeface="Arial" panose="020B0604020202020204" pitchFamily="34" charset="0"/>
              <a:ea typeface="黑体" panose="02010609060101010101" pitchFamily="49" charset="-122"/>
            </a:endParaRPr>
          </a:p>
          <a:p>
            <a:pPr marL="342900" indent="-342900">
              <a:lnSpc>
                <a:spcPct val="110000"/>
              </a:lnSpc>
              <a:spcBef>
                <a:spcPct val="20000"/>
              </a:spcBef>
              <a:buNone/>
            </a:pPr>
            <a:r>
              <a:rPr lang="zh-CN" altLang="en-US" dirty="0">
                <a:solidFill>
                  <a:srgbClr val="0000FF"/>
                </a:solidFill>
                <a:latin typeface="Arial" panose="020B0604020202020204" pitchFamily="34" charset="0"/>
                <a:ea typeface="黑体" panose="02010609060101010101" pitchFamily="49" charset="-122"/>
              </a:rPr>
              <a:t>   指令或操作数地址的指定方式。即：根据地址找到指令或操作数的方法。</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0000"/>
              </a:lnSpc>
              <a:spcBef>
                <a:spcPct val="20000"/>
              </a:spcBef>
            </a:pPr>
            <a:r>
              <a:rPr lang="zh-CN" altLang="en-US" dirty="0">
                <a:latin typeface="Arial" panose="020B0604020202020204" pitchFamily="34" charset="0"/>
                <a:ea typeface="黑体" panose="02010609060101010101" pitchFamily="49" charset="-122"/>
              </a:rPr>
              <a:t>地址码编码由操作数的寻址方式决定</a:t>
            </a:r>
            <a:endParaRPr lang="zh-CN" altLang="en-US" dirty="0">
              <a:latin typeface="Arial" panose="020B0604020202020204" pitchFamily="34" charset="0"/>
              <a:ea typeface="黑体" panose="02010609060101010101" pitchFamily="49" charset="-122"/>
            </a:endParaRPr>
          </a:p>
          <a:p>
            <a:pPr marL="342900" indent="-342900">
              <a:lnSpc>
                <a:spcPct val="110000"/>
              </a:lnSpc>
              <a:spcBef>
                <a:spcPct val="20000"/>
              </a:spcBef>
            </a:pPr>
            <a:r>
              <a:rPr lang="zh-CN" altLang="en-US" dirty="0">
                <a:latin typeface="Arial" panose="020B0604020202020204" pitchFamily="34" charset="0"/>
                <a:ea typeface="黑体" panose="02010609060101010101" pitchFamily="49" charset="-122"/>
              </a:rPr>
              <a:t>地址码编码原则：</a:t>
            </a:r>
            <a:endParaRPr lang="zh-CN" altLang="en-US" dirty="0">
              <a:latin typeface="Arial" panose="020B0604020202020204" pitchFamily="34" charset="0"/>
              <a:ea typeface="黑体" panose="02010609060101010101" pitchFamily="49" charset="-122"/>
            </a:endParaRPr>
          </a:p>
          <a:p>
            <a:pPr marL="342900" indent="-342900">
              <a:lnSpc>
                <a:spcPct val="110000"/>
              </a:lnSpc>
              <a:spcBef>
                <a:spcPct val="20000"/>
              </a:spcBef>
              <a:buFont typeface="Monotype Sorts" pitchFamily="2" charset="2"/>
              <a:buNone/>
            </a:pPr>
            <a:r>
              <a:rPr lang="zh-CN" altLang="en-US" dirty="0">
                <a:latin typeface="Arial" panose="020B0604020202020204" pitchFamily="34" charset="0"/>
                <a:ea typeface="黑体" panose="02010609060101010101" pitchFamily="49" charset="-122"/>
              </a:rPr>
              <a:t>   </a:t>
            </a:r>
            <a:r>
              <a:rPr lang="zh-CN" altLang="en-US" dirty="0">
                <a:solidFill>
                  <a:srgbClr val="0000FF"/>
                </a:solidFill>
                <a:latin typeface="Arial" panose="020B0604020202020204" pitchFamily="34" charset="0"/>
                <a:ea typeface="黑体" panose="02010609060101010101" pitchFamily="49" charset="-122"/>
              </a:rPr>
              <a:t>指令地址码尽量短</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0000"/>
              </a:lnSpc>
              <a:spcBef>
                <a:spcPct val="20000"/>
              </a:spcBef>
              <a:buFont typeface="Monotype Sorts" pitchFamily="2" charset="2"/>
              <a:buNone/>
            </a:pPr>
            <a:r>
              <a:rPr lang="zh-CN" altLang="en-US" dirty="0">
                <a:solidFill>
                  <a:srgbClr val="0000FF"/>
                </a:solidFill>
                <a:latin typeface="Arial" panose="020B0604020202020204" pitchFamily="34" charset="0"/>
                <a:ea typeface="黑体" panose="02010609060101010101" pitchFamily="49" charset="-122"/>
              </a:rPr>
              <a:t>   操作数存放位置灵活，空间应尽量大</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0000"/>
              </a:lnSpc>
              <a:spcBef>
                <a:spcPct val="20000"/>
              </a:spcBef>
              <a:buFont typeface="Monotype Sorts" pitchFamily="2" charset="2"/>
              <a:buNone/>
            </a:pPr>
            <a:r>
              <a:rPr lang="zh-CN" altLang="en-US" dirty="0">
                <a:solidFill>
                  <a:srgbClr val="0000FF"/>
                </a:solidFill>
                <a:latin typeface="Arial" panose="020B0604020202020204" pitchFamily="34" charset="0"/>
                <a:ea typeface="黑体" panose="02010609060101010101" pitchFamily="49" charset="-122"/>
              </a:rPr>
              <a:t>   地址计算过程尽量简单</a:t>
            </a:r>
            <a:endParaRPr lang="zh-CN" altLang="en-US" dirty="0">
              <a:latin typeface="Arial" panose="020B0604020202020204" pitchFamily="34" charset="0"/>
              <a:ea typeface="黑体" panose="02010609060101010101" pitchFamily="49" charset="-122"/>
            </a:endParaRPr>
          </a:p>
        </p:txBody>
      </p:sp>
      <p:sp>
        <p:nvSpPr>
          <p:cNvPr id="369668" name="Rectangle 4"/>
          <p:cNvSpPr/>
          <p:nvPr/>
        </p:nvSpPr>
        <p:spPr>
          <a:xfrm>
            <a:off x="265113" y="3411538"/>
            <a:ext cx="8308975" cy="2403475"/>
          </a:xfrm>
          <a:prstGeom prst="rect">
            <a:avLst/>
          </a:prstGeom>
          <a:solidFill>
            <a:srgbClr val="FFFFFF"/>
          </a:solidFill>
          <a:ln w="9525">
            <a:noFill/>
          </a:ln>
        </p:spPr>
        <p:txBody>
          <a:bodyPr/>
          <a:lstStyle/>
          <a:p>
            <a:pPr marL="342900" indent="-342900">
              <a:spcBef>
                <a:spcPct val="30000"/>
              </a:spcBef>
              <a:buSzPct val="75000"/>
              <a:buFont typeface="Wingdings" panose="05000000000000000000" pitchFamily="2" charset="2"/>
              <a:buChar char="u"/>
            </a:pPr>
            <a:r>
              <a:rPr lang="zh-CN" altLang="en-US" sz="2000" dirty="0">
                <a:solidFill>
                  <a:schemeClr val="tx1"/>
                </a:solidFill>
                <a:latin typeface="Arial" panose="020B0604020202020204" pitchFamily="34" charset="0"/>
                <a:ea typeface="黑体" panose="02010609060101010101" pitchFamily="49" charset="-122"/>
              </a:rPr>
              <a:t>指令的寻址----简单</a:t>
            </a:r>
            <a:endParaRPr lang="en-US" altLang="zh-CN" sz="2000" dirty="0">
              <a:solidFill>
                <a:schemeClr val="tx1"/>
              </a:solidFill>
              <a:latin typeface="Arial" panose="020B0604020202020204" pitchFamily="34" charset="0"/>
              <a:ea typeface="黑体" panose="02010609060101010101" pitchFamily="49" charset="-122"/>
            </a:endParaRPr>
          </a:p>
          <a:p>
            <a:pPr marL="342900" indent="-342900">
              <a:spcBef>
                <a:spcPct val="30000"/>
              </a:spcBef>
              <a:buSzPct val="75000"/>
            </a:pPr>
            <a:r>
              <a:rPr lang="en-US" altLang="zh-CN" sz="2000" dirty="0">
                <a:solidFill>
                  <a:schemeClr val="tx1"/>
                </a:solidFill>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正常：</a:t>
            </a:r>
            <a:r>
              <a:rPr lang="en-US" altLang="en-US" sz="2000" dirty="0">
                <a:solidFill>
                  <a:srgbClr val="0000FF"/>
                </a:solidFill>
                <a:latin typeface="Arial" panose="020B0604020202020204" pitchFamily="34" charset="0"/>
                <a:ea typeface="黑体" panose="02010609060101010101" pitchFamily="49" charset="-122"/>
              </a:rPr>
              <a:t>PC</a:t>
            </a:r>
            <a:r>
              <a:rPr lang="zh-CN" altLang="en-US" sz="2000" dirty="0">
                <a:solidFill>
                  <a:srgbClr val="0000FF"/>
                </a:solidFill>
                <a:latin typeface="Arial" panose="020B0604020202020204" pitchFamily="34" charset="0"/>
                <a:ea typeface="黑体" panose="02010609060101010101" pitchFamily="49" charset="-122"/>
              </a:rPr>
              <a:t>增值</a:t>
            </a:r>
            <a:endParaRPr lang="en-US" altLang="zh-CN" sz="2000" dirty="0">
              <a:solidFill>
                <a:srgbClr val="0000FF"/>
              </a:solidFill>
              <a:latin typeface="Arial" panose="020B0604020202020204" pitchFamily="34" charset="0"/>
              <a:ea typeface="黑体" panose="02010609060101010101" pitchFamily="49" charset="-122"/>
            </a:endParaRPr>
          </a:p>
          <a:p>
            <a:pPr marL="342900" indent="-342900">
              <a:spcBef>
                <a:spcPct val="30000"/>
              </a:spcBef>
              <a:buSzPct val="75000"/>
            </a:pPr>
            <a:r>
              <a:rPr lang="en-US" altLang="zh-CN" sz="2000" dirty="0">
                <a:solidFill>
                  <a:srgbClr val="0000FF"/>
                </a:solidFill>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跳转 </a:t>
            </a:r>
            <a:r>
              <a:rPr lang="en-US" altLang="zh-CN" sz="2000" dirty="0">
                <a:solidFill>
                  <a:srgbClr val="0000FF"/>
                </a:solidFill>
                <a:latin typeface="Arial" panose="020B0604020202020204" pitchFamily="34" charset="0"/>
                <a:ea typeface="黑体" panose="02010609060101010101" pitchFamily="49" charset="-122"/>
              </a:rPr>
              <a:t>( jump / branch / call / return )</a:t>
            </a:r>
            <a:r>
              <a:rPr lang="zh-CN" altLang="en-US" sz="2000" dirty="0">
                <a:solidFill>
                  <a:srgbClr val="0000FF"/>
                </a:solidFill>
                <a:latin typeface="Arial" panose="020B0604020202020204" pitchFamily="34" charset="0"/>
                <a:ea typeface="黑体" panose="02010609060101010101" pitchFamily="49" charset="-122"/>
              </a:rPr>
              <a:t>：同操作数的寻址</a:t>
            </a:r>
            <a:endParaRPr lang="zh-CN" altLang="en-US" sz="2000" dirty="0">
              <a:solidFill>
                <a:srgbClr val="0000FF"/>
              </a:solidFill>
              <a:latin typeface="Arial" panose="020B0604020202020204" pitchFamily="34" charset="0"/>
              <a:ea typeface="黑体" panose="02010609060101010101" pitchFamily="49" charset="-122"/>
            </a:endParaRPr>
          </a:p>
          <a:p>
            <a:pPr marL="342900" indent="-342900">
              <a:spcBef>
                <a:spcPct val="30000"/>
              </a:spcBef>
              <a:buSzPct val="75000"/>
              <a:buFont typeface="Wingdings" panose="05000000000000000000" pitchFamily="2" charset="2"/>
              <a:buChar char="u"/>
            </a:pPr>
            <a:r>
              <a:rPr lang="zh-CN" altLang="en-US" sz="2000" dirty="0">
                <a:solidFill>
                  <a:schemeClr val="tx1"/>
                </a:solidFill>
                <a:latin typeface="Arial" panose="020B0604020202020204" pitchFamily="34" charset="0"/>
                <a:ea typeface="黑体" panose="02010609060101010101" pitchFamily="49" charset="-122"/>
              </a:rPr>
              <a:t>操作数的寻址----复杂（</a:t>
            </a:r>
            <a:r>
              <a:rPr lang="zh-CN" altLang="en-US" sz="2000" dirty="0">
                <a:solidFill>
                  <a:schemeClr val="accent1"/>
                </a:solidFill>
                <a:latin typeface="Arial" panose="020B0604020202020204" pitchFamily="34" charset="0"/>
                <a:ea typeface="黑体" panose="02010609060101010101" pitchFamily="49" charset="-122"/>
              </a:rPr>
              <a:t>想象一下高级语言程序中操作数情况多复杂</a:t>
            </a:r>
            <a:r>
              <a:rPr lang="zh-CN" altLang="en-US" sz="2000" dirty="0">
                <a:solidFill>
                  <a:schemeClr val="tx1"/>
                </a:solidFill>
                <a:latin typeface="Arial" panose="020B0604020202020204" pitchFamily="34" charset="0"/>
                <a:ea typeface="黑体" panose="02010609060101010101" pitchFamily="49" charset="-122"/>
              </a:rPr>
              <a:t>）</a:t>
            </a:r>
            <a:endParaRPr lang="en-US" altLang="zh-CN" sz="2000" dirty="0">
              <a:solidFill>
                <a:schemeClr val="tx1"/>
              </a:solidFill>
              <a:latin typeface="Arial" panose="020B0604020202020204" pitchFamily="34" charset="0"/>
              <a:ea typeface="黑体" panose="02010609060101010101" pitchFamily="49" charset="-122"/>
            </a:endParaRPr>
          </a:p>
          <a:p>
            <a:pPr marL="342900" indent="-342900">
              <a:spcBef>
                <a:spcPct val="30000"/>
              </a:spcBef>
              <a:buSzPct val="75000"/>
            </a:pPr>
            <a:r>
              <a:rPr lang="en-US" altLang="zh-CN" sz="2000" dirty="0">
                <a:solidFill>
                  <a:schemeClr val="tx1"/>
                </a:solidFill>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操作数来源：寄存器 / 外设端口 / 主(虚)存 / 栈顶</a:t>
            </a:r>
            <a:endParaRPr lang="en-US" altLang="zh-CN" sz="2000" dirty="0">
              <a:solidFill>
                <a:srgbClr val="0000FF"/>
              </a:solidFill>
              <a:latin typeface="Arial" panose="020B0604020202020204" pitchFamily="34" charset="0"/>
              <a:ea typeface="黑体" panose="02010609060101010101" pitchFamily="49" charset="-122"/>
            </a:endParaRPr>
          </a:p>
          <a:p>
            <a:pPr marL="342900" indent="-342900">
              <a:spcBef>
                <a:spcPct val="30000"/>
              </a:spcBef>
              <a:buSzPct val="75000"/>
            </a:pPr>
            <a:r>
              <a:rPr lang="en-US" altLang="zh-CN" sz="2000" dirty="0">
                <a:solidFill>
                  <a:srgbClr val="0000FF"/>
                </a:solidFill>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操作数结构：位 / 字节 / 半字 / 字 / 双字 / 一维表 / 二维表 /…</a:t>
            </a:r>
            <a:r>
              <a:rPr lang="zh-CN" altLang="en-US" sz="2000" dirty="0">
                <a:latin typeface="Arial" panose="020B0604020202020204" pitchFamily="34" charset="0"/>
                <a:ea typeface="黑体" panose="02010609060101010101" pitchFamily="49" charset="-122"/>
              </a:rPr>
              <a:t>   </a:t>
            </a:r>
            <a:endParaRPr lang="zh-CN" altLang="en-US" sz="2000" dirty="0">
              <a:latin typeface="Arial" panose="020B0604020202020204" pitchFamily="34" charset="0"/>
              <a:ea typeface="黑体" panose="02010609060101010101" pitchFamily="49" charset="-122"/>
            </a:endParaRPr>
          </a:p>
        </p:txBody>
      </p:sp>
      <p:sp>
        <p:nvSpPr>
          <p:cNvPr id="369669" name="Rectangle 5"/>
          <p:cNvSpPr/>
          <p:nvPr/>
        </p:nvSpPr>
        <p:spPr>
          <a:xfrm>
            <a:off x="908050" y="5989638"/>
            <a:ext cx="3959225" cy="325437"/>
          </a:xfrm>
          <a:prstGeom prst="rect">
            <a:avLst/>
          </a:prstGeom>
          <a:noFill/>
          <a:ln w="12700">
            <a:noFill/>
          </a:ln>
        </p:spPr>
        <p:txBody>
          <a:bodyPr wrap="none" lIns="63500" tIns="25400" rIns="63500" bIns="25400">
            <a:spAutoFit/>
          </a:bodyPr>
          <a:lstStyle/>
          <a:p>
            <a:pPr>
              <a:lnSpc>
                <a:spcPct val="90000"/>
              </a:lnSpc>
              <a:spcBef>
                <a:spcPct val="30000"/>
              </a:spcBef>
              <a:buSzPct val="100000"/>
            </a:pPr>
            <a:r>
              <a:rPr lang="zh-CN" altLang="en-US" sz="2000" dirty="0">
                <a:solidFill>
                  <a:schemeClr val="tx1"/>
                </a:solidFill>
                <a:latin typeface="Arial" panose="020B0604020202020204" pitchFamily="34" charset="0"/>
                <a:ea typeface="黑体" panose="02010609060101010101" pitchFamily="49" charset="-122"/>
              </a:rPr>
              <a:t>通常寻址方式特指</a:t>
            </a:r>
            <a:r>
              <a:rPr lang="zh-CN" altLang="en-US" sz="2000" dirty="0">
                <a:solidFill>
                  <a:srgbClr val="CC3300"/>
                </a:solidFill>
                <a:latin typeface="Arial" panose="020B0604020202020204" pitchFamily="34" charset="0"/>
                <a:ea typeface="黑体" panose="02010609060101010101" pitchFamily="49" charset="-122"/>
              </a:rPr>
              <a:t>“操作数的寻址”</a:t>
            </a:r>
            <a:endParaRPr lang="zh-CN" altLang="en-US" sz="2000" dirty="0">
              <a:solidFill>
                <a:srgbClr val="CC3300"/>
              </a:solidFill>
              <a:latin typeface="Arial" panose="020B0604020202020204" pitchFamily="34" charset="0"/>
              <a:ea typeface="黑体" panose="02010609060101010101" pitchFamily="49" charset="-122"/>
            </a:endParaRPr>
          </a:p>
        </p:txBody>
      </p:sp>
      <p:sp>
        <p:nvSpPr>
          <p:cNvPr id="369671" name="Text Box 7"/>
          <p:cNvSpPr txBox="1"/>
          <p:nvPr/>
        </p:nvSpPr>
        <p:spPr>
          <a:xfrm>
            <a:off x="3816350" y="2005013"/>
            <a:ext cx="1066800" cy="325437"/>
          </a:xfrm>
          <a:prstGeom prst="rect">
            <a:avLst/>
          </a:prstGeom>
          <a:noFill/>
          <a:ln w="12700">
            <a:noFill/>
          </a:ln>
        </p:spPr>
        <p:txBody>
          <a:bodyPr lIns="63500" tIns="25400" rIns="63500" bIns="25400">
            <a:spAutoFit/>
          </a:bodyPr>
          <a:lstStyle/>
          <a:p>
            <a:pPr>
              <a:spcBef>
                <a:spcPct val="50000"/>
              </a:spcBef>
            </a:pPr>
            <a:r>
              <a:rPr lang="zh-CN" altLang="en-US" sz="1800" dirty="0">
                <a:solidFill>
                  <a:schemeClr val="accent1"/>
                </a:solidFill>
                <a:latin typeface="Arial" panose="020B0604020202020204" pitchFamily="34" charset="0"/>
                <a:ea typeface="黑体" panose="02010609060101010101" pitchFamily="49" charset="-122"/>
              </a:rPr>
              <a:t>为什么？</a:t>
            </a:r>
            <a:endParaRPr lang="zh-CN" altLang="en-US" sz="1800" dirty="0">
              <a:solidFill>
                <a:schemeClr val="accent1"/>
              </a:solidFill>
              <a:latin typeface="Arial" panose="020B0604020202020204" pitchFamily="34" charset="0"/>
              <a:ea typeface="黑体" panose="02010609060101010101" pitchFamily="49" charset="-122"/>
            </a:endParaRPr>
          </a:p>
        </p:txBody>
      </p:sp>
      <p:sp>
        <p:nvSpPr>
          <p:cNvPr id="369672" name="Line 8"/>
          <p:cNvSpPr/>
          <p:nvPr/>
        </p:nvSpPr>
        <p:spPr>
          <a:xfrm>
            <a:off x="3190875" y="2459038"/>
            <a:ext cx="2084388" cy="0"/>
          </a:xfrm>
          <a:prstGeom prst="line">
            <a:avLst/>
          </a:prstGeom>
          <a:ln w="12700" cap="flat" cmpd="sng">
            <a:solidFill>
              <a:srgbClr val="0033CC"/>
            </a:solidFill>
            <a:prstDash val="solid"/>
            <a:headEnd type="none" w="med" len="med"/>
            <a:tailEnd type="triangle" w="med" len="med"/>
          </a:ln>
        </p:spPr>
      </p:sp>
      <p:sp>
        <p:nvSpPr>
          <p:cNvPr id="369673" name="Line 9"/>
          <p:cNvSpPr/>
          <p:nvPr/>
        </p:nvSpPr>
        <p:spPr>
          <a:xfrm flipV="1">
            <a:off x="4951413" y="2841625"/>
            <a:ext cx="327025" cy="0"/>
          </a:xfrm>
          <a:prstGeom prst="line">
            <a:avLst/>
          </a:prstGeom>
          <a:ln w="12700" cap="flat" cmpd="sng">
            <a:solidFill>
              <a:srgbClr val="0033CC"/>
            </a:solidFill>
            <a:prstDash val="solid"/>
            <a:headEnd type="none" w="med" len="med"/>
            <a:tailEnd type="triangle" w="med" len="med"/>
          </a:ln>
        </p:spPr>
      </p:sp>
      <p:sp>
        <p:nvSpPr>
          <p:cNvPr id="369674" name="Line 10"/>
          <p:cNvSpPr/>
          <p:nvPr/>
        </p:nvSpPr>
        <p:spPr>
          <a:xfrm>
            <a:off x="3960813" y="3190875"/>
            <a:ext cx="1352550" cy="0"/>
          </a:xfrm>
          <a:prstGeom prst="line">
            <a:avLst/>
          </a:prstGeom>
          <a:ln w="12700" cap="flat" cmpd="sng">
            <a:solidFill>
              <a:srgbClr val="0033CC"/>
            </a:solidFill>
            <a:prstDash val="solid"/>
            <a:headEnd type="none" w="med" len="med"/>
            <a:tailEnd type="triangle" w="med" len="med"/>
          </a:ln>
        </p:spPr>
      </p:sp>
      <p:sp>
        <p:nvSpPr>
          <p:cNvPr id="369675" name="Text Box 11"/>
          <p:cNvSpPr txBox="1"/>
          <p:nvPr/>
        </p:nvSpPr>
        <p:spPr>
          <a:xfrm>
            <a:off x="5272088" y="2208213"/>
            <a:ext cx="3722687" cy="1176337"/>
          </a:xfrm>
          <a:prstGeom prst="rect">
            <a:avLst/>
          </a:prstGeom>
          <a:noFill/>
          <a:ln w="12700">
            <a:noFill/>
          </a:ln>
        </p:spPr>
        <p:txBody>
          <a:bodyPr lIns="63500" tIns="25400" rIns="63500" bIns="25400">
            <a:spAutoFit/>
          </a:bodyPr>
          <a:lstStyle/>
          <a:p>
            <a:pPr>
              <a:lnSpc>
                <a:spcPct val="110000"/>
              </a:lnSpc>
              <a:spcBef>
                <a:spcPct val="20000"/>
              </a:spcBef>
            </a:pPr>
            <a:r>
              <a:rPr lang="zh-CN" altLang="en-US" sz="2000" dirty="0">
                <a:solidFill>
                  <a:schemeClr val="accent1"/>
                </a:solidFill>
                <a:latin typeface="Arial" panose="020B0604020202020204" pitchFamily="34" charset="0"/>
                <a:ea typeface="黑体" panose="02010609060101010101" pitchFamily="49" charset="-122"/>
              </a:rPr>
              <a:t>目标代码短，省空间</a:t>
            </a:r>
            <a:endParaRPr lang="zh-CN" altLang="en-US" sz="2000" dirty="0">
              <a:solidFill>
                <a:schemeClr val="accent1"/>
              </a:solidFill>
              <a:latin typeface="Arial" panose="020B0604020202020204" pitchFamily="34" charset="0"/>
              <a:ea typeface="黑体" panose="02010609060101010101" pitchFamily="49" charset="-122"/>
            </a:endParaRPr>
          </a:p>
          <a:p>
            <a:pPr>
              <a:lnSpc>
                <a:spcPct val="110000"/>
              </a:lnSpc>
              <a:spcBef>
                <a:spcPct val="20000"/>
              </a:spcBef>
            </a:pPr>
            <a:r>
              <a:rPr lang="zh-CN" altLang="en-US" sz="2000" dirty="0">
                <a:solidFill>
                  <a:schemeClr val="accent1"/>
                </a:solidFill>
                <a:latin typeface="Arial" panose="020B0604020202020204" pitchFamily="34" charset="0"/>
                <a:ea typeface="黑体" panose="02010609060101010101" pitchFamily="49" charset="-122"/>
              </a:rPr>
              <a:t>利于编译器优化产生高效代码</a:t>
            </a:r>
            <a:endParaRPr lang="zh-CN" altLang="en-US" sz="2000" dirty="0">
              <a:solidFill>
                <a:schemeClr val="accent1"/>
              </a:solidFill>
              <a:latin typeface="Arial" panose="020B0604020202020204" pitchFamily="34" charset="0"/>
              <a:ea typeface="黑体" panose="02010609060101010101" pitchFamily="49" charset="-122"/>
            </a:endParaRPr>
          </a:p>
          <a:p>
            <a:pPr>
              <a:lnSpc>
                <a:spcPct val="110000"/>
              </a:lnSpc>
              <a:spcBef>
                <a:spcPct val="20000"/>
              </a:spcBef>
            </a:pPr>
            <a:r>
              <a:rPr lang="zh-CN" altLang="en-US" sz="2000" dirty="0">
                <a:solidFill>
                  <a:schemeClr val="accent1"/>
                </a:solidFill>
                <a:latin typeface="Arial" panose="020B0604020202020204" pitchFamily="34" charset="0"/>
                <a:ea typeface="黑体" panose="02010609060101010101" pitchFamily="49" charset="-122"/>
              </a:rPr>
              <a:t>指令执行快</a:t>
            </a:r>
            <a:endParaRPr lang="zh-CN" altLang="en-US" sz="2000" dirty="0">
              <a:solidFill>
                <a:schemeClr val="accent1"/>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9667">
                                            <p:txEl>
                                              <p:pRg st="1" end="1"/>
                                            </p:txEl>
                                          </p:spTgt>
                                        </p:tgtEl>
                                        <p:attrNameLst>
                                          <p:attrName>style.visibility</p:attrName>
                                        </p:attrNameLst>
                                      </p:cBhvr>
                                      <p:to>
                                        <p:strVal val="visible"/>
                                      </p:to>
                                    </p:set>
                                    <p:animEffect transition="in" filter="blinds(horizontal)">
                                      <p:cBhvr>
                                        <p:cTn id="7" dur="500"/>
                                        <p:tgtEl>
                                          <p:spTgt spid="3696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9667">
                                            <p:txEl>
                                              <p:pRg st="2" end="2"/>
                                            </p:txEl>
                                          </p:spTgt>
                                        </p:tgtEl>
                                        <p:attrNameLst>
                                          <p:attrName>style.visibility</p:attrName>
                                        </p:attrNameLst>
                                      </p:cBhvr>
                                      <p:to>
                                        <p:strVal val="visible"/>
                                      </p:to>
                                    </p:set>
                                    <p:animEffect transition="in" filter="blinds(horizontal)">
                                      <p:cBhvr>
                                        <p:cTn id="12" dur="500"/>
                                        <p:tgtEl>
                                          <p:spTgt spid="3696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9667">
                                            <p:txEl>
                                              <p:pRg st="3" end="3"/>
                                            </p:txEl>
                                          </p:spTgt>
                                        </p:tgtEl>
                                        <p:attrNameLst>
                                          <p:attrName>style.visibility</p:attrName>
                                        </p:attrNameLst>
                                      </p:cBhvr>
                                      <p:to>
                                        <p:strVal val="visible"/>
                                      </p:to>
                                    </p:set>
                                    <p:animEffect transition="in" filter="blinds(horizontal)">
                                      <p:cBhvr>
                                        <p:cTn id="17" dur="500"/>
                                        <p:tgtEl>
                                          <p:spTgt spid="36966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69667">
                                            <p:txEl>
                                              <p:pRg st="4" end="4"/>
                                            </p:txEl>
                                          </p:spTgt>
                                        </p:tgtEl>
                                        <p:attrNameLst>
                                          <p:attrName>style.visibility</p:attrName>
                                        </p:attrNameLst>
                                      </p:cBhvr>
                                      <p:to>
                                        <p:strVal val="visible"/>
                                      </p:to>
                                    </p:set>
                                    <p:animEffect transition="in" filter="blinds(horizontal)">
                                      <p:cBhvr>
                                        <p:cTn id="22" dur="500"/>
                                        <p:tgtEl>
                                          <p:spTgt spid="36966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69667">
                                            <p:txEl>
                                              <p:pRg st="5" end="5"/>
                                            </p:txEl>
                                          </p:spTgt>
                                        </p:tgtEl>
                                        <p:attrNameLst>
                                          <p:attrName>style.visibility</p:attrName>
                                        </p:attrNameLst>
                                      </p:cBhvr>
                                      <p:to>
                                        <p:strVal val="visible"/>
                                      </p:to>
                                    </p:set>
                                    <p:animEffect transition="in" filter="blinds(horizontal)">
                                      <p:cBhvr>
                                        <p:cTn id="27" dur="500"/>
                                        <p:tgtEl>
                                          <p:spTgt spid="36966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69667">
                                            <p:txEl>
                                              <p:pRg st="6" end="6"/>
                                            </p:txEl>
                                          </p:spTgt>
                                        </p:tgtEl>
                                        <p:attrNameLst>
                                          <p:attrName>style.visibility</p:attrName>
                                        </p:attrNameLst>
                                      </p:cBhvr>
                                      <p:to>
                                        <p:strVal val="visible"/>
                                      </p:to>
                                    </p:set>
                                    <p:animEffect transition="in" filter="blinds(horizontal)">
                                      <p:cBhvr>
                                        <p:cTn id="32" dur="500"/>
                                        <p:tgtEl>
                                          <p:spTgt spid="36966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9671"/>
                                        </p:tgtEl>
                                        <p:attrNameLst>
                                          <p:attrName>style.visibility</p:attrName>
                                        </p:attrNameLst>
                                      </p:cBhvr>
                                      <p:to>
                                        <p:strVal val="visible"/>
                                      </p:to>
                                    </p:set>
                                    <p:animEffect transition="in" filter="blinds(horizontal)">
                                      <p:cBhvr>
                                        <p:cTn id="37" dur="500"/>
                                        <p:tgtEl>
                                          <p:spTgt spid="36967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69672"/>
                                        </p:tgtEl>
                                        <p:attrNameLst>
                                          <p:attrName>style.visibility</p:attrName>
                                        </p:attrNameLst>
                                      </p:cBhvr>
                                      <p:to>
                                        <p:strVal val="visible"/>
                                      </p:to>
                                    </p:set>
                                    <p:animEffect transition="in" filter="blinds(horizontal)">
                                      <p:cBhvr>
                                        <p:cTn id="42" dur="500"/>
                                        <p:tgtEl>
                                          <p:spTgt spid="369672"/>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69675">
                                            <p:txEl>
                                              <p:pRg st="0" end="0"/>
                                            </p:txEl>
                                          </p:spTgt>
                                        </p:tgtEl>
                                        <p:attrNameLst>
                                          <p:attrName>style.visibility</p:attrName>
                                        </p:attrNameLst>
                                      </p:cBhvr>
                                      <p:to>
                                        <p:strVal val="visible"/>
                                      </p:to>
                                    </p:set>
                                    <p:animEffect transition="in" filter="blinds(horizontal)">
                                      <p:cBhvr>
                                        <p:cTn id="47" dur="500"/>
                                        <p:tgtEl>
                                          <p:spTgt spid="369675">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69673"/>
                                        </p:tgtEl>
                                        <p:attrNameLst>
                                          <p:attrName>style.visibility</p:attrName>
                                        </p:attrNameLst>
                                      </p:cBhvr>
                                      <p:to>
                                        <p:strVal val="visible"/>
                                      </p:to>
                                    </p:set>
                                    <p:animEffect transition="in" filter="blinds(horizontal)">
                                      <p:cBhvr>
                                        <p:cTn id="52" dur="500"/>
                                        <p:tgtEl>
                                          <p:spTgt spid="369673"/>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69675">
                                            <p:txEl>
                                              <p:pRg st="1" end="1"/>
                                            </p:txEl>
                                          </p:spTgt>
                                        </p:tgtEl>
                                        <p:attrNameLst>
                                          <p:attrName>style.visibility</p:attrName>
                                        </p:attrNameLst>
                                      </p:cBhvr>
                                      <p:to>
                                        <p:strVal val="visible"/>
                                      </p:to>
                                    </p:set>
                                    <p:animEffect transition="in" filter="blinds(horizontal)">
                                      <p:cBhvr>
                                        <p:cTn id="57" dur="500"/>
                                        <p:tgtEl>
                                          <p:spTgt spid="369675">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69674"/>
                                        </p:tgtEl>
                                        <p:attrNameLst>
                                          <p:attrName>style.visibility</p:attrName>
                                        </p:attrNameLst>
                                      </p:cBhvr>
                                      <p:to>
                                        <p:strVal val="visible"/>
                                      </p:to>
                                    </p:set>
                                    <p:animEffect transition="in" filter="blinds(horizontal)">
                                      <p:cBhvr>
                                        <p:cTn id="62" dur="500"/>
                                        <p:tgtEl>
                                          <p:spTgt spid="36967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369675">
                                            <p:txEl>
                                              <p:pRg st="2" end="2"/>
                                            </p:txEl>
                                          </p:spTgt>
                                        </p:tgtEl>
                                        <p:attrNameLst>
                                          <p:attrName>style.visibility</p:attrName>
                                        </p:attrNameLst>
                                      </p:cBhvr>
                                      <p:to>
                                        <p:strVal val="visible"/>
                                      </p:to>
                                    </p:set>
                                    <p:animEffect transition="in" filter="blinds(horizontal)">
                                      <p:cBhvr>
                                        <p:cTn id="67" dur="500"/>
                                        <p:tgtEl>
                                          <p:spTgt spid="369675">
                                            <p:txEl>
                                              <p:pRg st="2" end="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369668">
                                            <p:txEl>
                                              <p:pRg st="0" end="0"/>
                                            </p:txEl>
                                          </p:spTgt>
                                        </p:tgtEl>
                                        <p:attrNameLst>
                                          <p:attrName>style.visibility</p:attrName>
                                        </p:attrNameLst>
                                      </p:cBhvr>
                                      <p:to>
                                        <p:strVal val="visible"/>
                                      </p:to>
                                    </p:set>
                                    <p:animEffect transition="in" filter="blinds(horizontal)">
                                      <p:cBhvr>
                                        <p:cTn id="72" dur="500"/>
                                        <p:tgtEl>
                                          <p:spTgt spid="369668">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369668">
                                            <p:txEl>
                                              <p:pRg st="1" end="1"/>
                                            </p:txEl>
                                          </p:spTgt>
                                        </p:tgtEl>
                                        <p:attrNameLst>
                                          <p:attrName>style.visibility</p:attrName>
                                        </p:attrNameLst>
                                      </p:cBhvr>
                                      <p:to>
                                        <p:strVal val="visible"/>
                                      </p:to>
                                    </p:set>
                                    <p:animEffect transition="in" filter="blinds(horizontal)">
                                      <p:cBhvr>
                                        <p:cTn id="77" dur="500"/>
                                        <p:tgtEl>
                                          <p:spTgt spid="369668">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369668">
                                            <p:txEl>
                                              <p:pRg st="2" end="2"/>
                                            </p:txEl>
                                          </p:spTgt>
                                        </p:tgtEl>
                                        <p:attrNameLst>
                                          <p:attrName>style.visibility</p:attrName>
                                        </p:attrNameLst>
                                      </p:cBhvr>
                                      <p:to>
                                        <p:strVal val="visible"/>
                                      </p:to>
                                    </p:set>
                                    <p:animEffect transition="in" filter="blinds(horizontal)">
                                      <p:cBhvr>
                                        <p:cTn id="82" dur="500"/>
                                        <p:tgtEl>
                                          <p:spTgt spid="369668">
                                            <p:txEl>
                                              <p:pRg st="2" end="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369668">
                                            <p:txEl>
                                              <p:pRg st="3" end="3"/>
                                            </p:txEl>
                                          </p:spTgt>
                                        </p:tgtEl>
                                        <p:attrNameLst>
                                          <p:attrName>style.visibility</p:attrName>
                                        </p:attrNameLst>
                                      </p:cBhvr>
                                      <p:to>
                                        <p:strVal val="visible"/>
                                      </p:to>
                                    </p:set>
                                    <p:animEffect transition="in" filter="blinds(horizontal)">
                                      <p:cBhvr>
                                        <p:cTn id="87" dur="500"/>
                                        <p:tgtEl>
                                          <p:spTgt spid="369668">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369668">
                                            <p:txEl>
                                              <p:pRg st="4" end="4"/>
                                            </p:txEl>
                                          </p:spTgt>
                                        </p:tgtEl>
                                        <p:attrNameLst>
                                          <p:attrName>style.visibility</p:attrName>
                                        </p:attrNameLst>
                                      </p:cBhvr>
                                      <p:to>
                                        <p:strVal val="visible"/>
                                      </p:to>
                                    </p:set>
                                    <p:animEffect transition="in" filter="blinds(horizontal)">
                                      <p:cBhvr>
                                        <p:cTn id="92" dur="500"/>
                                        <p:tgtEl>
                                          <p:spTgt spid="369668">
                                            <p:txEl>
                                              <p:pRg st="4" end="4"/>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369668">
                                            <p:txEl>
                                              <p:pRg st="5" end="5"/>
                                            </p:txEl>
                                          </p:spTgt>
                                        </p:tgtEl>
                                        <p:attrNameLst>
                                          <p:attrName>style.visibility</p:attrName>
                                        </p:attrNameLst>
                                      </p:cBhvr>
                                      <p:to>
                                        <p:strVal val="visible"/>
                                      </p:to>
                                    </p:set>
                                    <p:animEffect transition="in" filter="blinds(horizontal)">
                                      <p:cBhvr>
                                        <p:cTn id="97" dur="500"/>
                                        <p:tgtEl>
                                          <p:spTgt spid="369668">
                                            <p:txEl>
                                              <p:pRg st="5" end="5"/>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369669"/>
                                        </p:tgtEl>
                                        <p:attrNameLst>
                                          <p:attrName>style.visibility</p:attrName>
                                        </p:attrNameLst>
                                      </p:cBhvr>
                                      <p:to>
                                        <p:strVal val="visible"/>
                                      </p:to>
                                    </p:set>
                                    <p:animEffect transition="in" filter="blinds(horizontal)">
                                      <p:cBhvr>
                                        <p:cTn id="102" dur="500"/>
                                        <p:tgtEl>
                                          <p:spTgt spid="3696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9" grpId="0"/>
      <p:bldP spid="36967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p:cNvSpPr>
          <p:nvPr>
            <p:ph idx="1"/>
          </p:nvPr>
        </p:nvSpPr>
        <p:spPr>
          <a:xfrm>
            <a:off x="533400" y="550863"/>
            <a:ext cx="8310563" cy="6008687"/>
          </a:xfrm>
        </p:spPr>
        <p:txBody>
          <a:bodyPr vert="horz" wrap="square" lIns="91440" tIns="45720" rIns="91440" bIns="45720" anchor="t" anchorCtr="0"/>
          <a:lstStyle/>
          <a:p>
            <a:pPr marL="342900" indent="-342900">
              <a:lnSpc>
                <a:spcPct val="115000"/>
              </a:lnSpc>
              <a:spcBef>
                <a:spcPct val="20000"/>
              </a:spcBef>
            </a:pPr>
            <a:r>
              <a:rPr lang="zh-CN" altLang="en-US" dirty="0">
                <a:latin typeface="Arial" panose="020B0604020202020204" pitchFamily="34" charset="0"/>
                <a:ea typeface="黑体" panose="02010609060101010101" pitchFamily="49" charset="-122"/>
              </a:rPr>
              <a:t>寻址方式的确定</a:t>
            </a:r>
            <a:endParaRPr lang="zh-CN" altLang="en-US" dirty="0">
              <a:latin typeface="Arial" panose="020B0604020202020204" pitchFamily="34" charset="0"/>
              <a:ea typeface="黑体" panose="02010609060101010101" pitchFamily="49" charset="-122"/>
            </a:endParaRPr>
          </a:p>
          <a:p>
            <a:pPr marL="342900" indent="-342900">
              <a:lnSpc>
                <a:spcPct val="115000"/>
              </a:lnSpc>
              <a:spcBef>
                <a:spcPct val="20000"/>
              </a:spcBef>
              <a:buNone/>
            </a:pPr>
            <a:r>
              <a:rPr lang="zh-CN" altLang="en-US" dirty="0">
                <a:latin typeface="Arial" panose="020B0604020202020204" pitchFamily="34" charset="0"/>
                <a:ea typeface="黑体" panose="02010609060101010101" pitchFamily="49" charset="-122"/>
              </a:rPr>
              <a:t>   </a:t>
            </a:r>
            <a:r>
              <a:rPr lang="zh-CN" altLang="en-US" dirty="0">
                <a:solidFill>
                  <a:srgbClr val="0000FF"/>
                </a:solidFill>
                <a:latin typeface="Arial" panose="020B0604020202020204" pitchFamily="34" charset="0"/>
                <a:ea typeface="黑体" panose="02010609060101010101" pitchFamily="49" charset="-122"/>
              </a:rPr>
              <a:t>（1）没有专门的寻址方式位（由操作码确定寻址方式）</a:t>
            </a:r>
            <a:endParaRPr lang="zh-CN" altLang="en-US" dirty="0">
              <a:solidFill>
                <a:srgbClr val="0000FF"/>
              </a:solidFill>
              <a:latin typeface="Arial" panose="020B0604020202020204" pitchFamily="34" charset="0"/>
              <a:ea typeface="黑体" panose="02010609060101010101" pitchFamily="49" charset="-122"/>
            </a:endParaRPr>
          </a:p>
          <a:p>
            <a:pPr marL="742950" lvl="1" indent="-285750">
              <a:lnSpc>
                <a:spcPct val="115000"/>
              </a:lnSpc>
              <a:spcBef>
                <a:spcPct val="20000"/>
              </a:spcBef>
              <a:buNone/>
            </a:pPr>
            <a:r>
              <a:rPr lang="zh-CN" altLang="en-US" sz="2000" dirty="0">
                <a:solidFill>
                  <a:srgbClr val="A50021"/>
                </a:solidFill>
                <a:latin typeface="Arial" panose="020B0604020202020204" pitchFamily="34" charset="0"/>
                <a:ea typeface="黑体" panose="02010609060101010101" pitchFamily="49" charset="-122"/>
              </a:rPr>
              <a:t>    如：</a:t>
            </a:r>
            <a:r>
              <a:rPr lang="en-US" altLang="zh-CN" sz="2000" dirty="0">
                <a:solidFill>
                  <a:srgbClr val="A50021"/>
                </a:solidFill>
                <a:latin typeface="Arial" panose="020B0604020202020204" pitchFamily="34" charset="0"/>
                <a:ea typeface="黑体" panose="02010609060101010101" pitchFamily="49" charset="-122"/>
              </a:rPr>
              <a:t>MIPS</a:t>
            </a:r>
            <a:r>
              <a:rPr lang="zh-CN" altLang="en-US" sz="2000" dirty="0">
                <a:solidFill>
                  <a:srgbClr val="A50021"/>
                </a:solidFill>
                <a:latin typeface="Arial" panose="020B0604020202020204" pitchFamily="34" charset="0"/>
                <a:ea typeface="黑体" panose="02010609060101010101" pitchFamily="49" charset="-122"/>
              </a:rPr>
              <a:t>指令，一条指令中最多仅有一个主</a:t>
            </a:r>
            <a:r>
              <a:rPr lang="en-US" altLang="zh-CN" sz="2000" dirty="0">
                <a:solidFill>
                  <a:srgbClr val="A50021"/>
                </a:solidFill>
                <a:latin typeface="Arial" panose="020B0604020202020204" pitchFamily="34" charset="0"/>
                <a:ea typeface="黑体" panose="02010609060101010101" pitchFamily="49" charset="-122"/>
              </a:rPr>
              <a:t>(</a:t>
            </a:r>
            <a:r>
              <a:rPr lang="zh-CN" altLang="en-US" sz="2000" dirty="0">
                <a:solidFill>
                  <a:srgbClr val="A50021"/>
                </a:solidFill>
                <a:latin typeface="Arial" panose="020B0604020202020204" pitchFamily="34" charset="0"/>
                <a:ea typeface="黑体" panose="02010609060101010101" pitchFamily="49" charset="-122"/>
              </a:rPr>
              <a:t>虚</a:t>
            </a:r>
            <a:r>
              <a:rPr lang="en-US" altLang="zh-CN" sz="2000" dirty="0">
                <a:solidFill>
                  <a:srgbClr val="A50021"/>
                </a:solidFill>
                <a:latin typeface="Arial" panose="020B0604020202020204" pitchFamily="34" charset="0"/>
                <a:ea typeface="黑体" panose="02010609060101010101" pitchFamily="49" charset="-122"/>
              </a:rPr>
              <a:t>)</a:t>
            </a:r>
            <a:r>
              <a:rPr lang="zh-CN" altLang="en-US" sz="2000" dirty="0">
                <a:solidFill>
                  <a:srgbClr val="A50021"/>
                </a:solidFill>
                <a:latin typeface="Arial" panose="020B0604020202020204" pitchFamily="34" charset="0"/>
                <a:ea typeface="黑体" panose="02010609060101010101" pitchFamily="49" charset="-122"/>
              </a:rPr>
              <a:t>存地址，且仅有一到两种寻址方式，</a:t>
            </a:r>
            <a:r>
              <a:rPr lang="en-US" altLang="zh-CN" sz="2000" dirty="0">
                <a:solidFill>
                  <a:srgbClr val="A50021"/>
                </a:solidFill>
                <a:latin typeface="Arial" panose="020B0604020202020204" pitchFamily="34" charset="0"/>
                <a:ea typeface="黑体" panose="02010609060101010101" pitchFamily="49" charset="-122"/>
              </a:rPr>
              <a:t>Load/store</a:t>
            </a:r>
            <a:r>
              <a:rPr lang="zh-CN" altLang="en-US" sz="2000" dirty="0">
                <a:solidFill>
                  <a:srgbClr val="A50021"/>
                </a:solidFill>
                <a:latin typeface="Arial" panose="020B0604020202020204" pitchFamily="34" charset="0"/>
                <a:ea typeface="黑体" panose="02010609060101010101" pitchFamily="49" charset="-122"/>
              </a:rPr>
              <a:t>型机器指令属于这种情况。</a:t>
            </a:r>
            <a:endParaRPr lang="zh-CN" altLang="en-US" sz="2000" dirty="0">
              <a:solidFill>
                <a:srgbClr val="A50021"/>
              </a:solidFill>
              <a:latin typeface="Arial" panose="020B0604020202020204" pitchFamily="34" charset="0"/>
              <a:ea typeface="黑体" panose="02010609060101010101" pitchFamily="49" charset="-122"/>
            </a:endParaRPr>
          </a:p>
          <a:p>
            <a:pPr marL="342900" indent="-342900">
              <a:lnSpc>
                <a:spcPct val="115000"/>
              </a:lnSpc>
              <a:spcBef>
                <a:spcPct val="20000"/>
              </a:spcBef>
              <a:buNone/>
            </a:pPr>
            <a:r>
              <a:rPr lang="zh-CN" altLang="en-US" dirty="0">
                <a:solidFill>
                  <a:srgbClr val="0000FF"/>
                </a:solidFill>
                <a:latin typeface="Arial" panose="020B0604020202020204" pitchFamily="34" charset="0"/>
                <a:ea typeface="黑体" panose="02010609060101010101" pitchFamily="49" charset="-122"/>
              </a:rPr>
              <a:t>   （2）有专门的寻址方式位</a:t>
            </a:r>
            <a:endParaRPr lang="zh-CN" altLang="en-US" dirty="0">
              <a:solidFill>
                <a:srgbClr val="0000FF"/>
              </a:solidFill>
              <a:latin typeface="Arial" panose="020B0604020202020204" pitchFamily="34" charset="0"/>
              <a:ea typeface="黑体" panose="02010609060101010101" pitchFamily="49" charset="-122"/>
            </a:endParaRPr>
          </a:p>
          <a:p>
            <a:pPr marL="742950" lvl="1" indent="-285750">
              <a:lnSpc>
                <a:spcPct val="115000"/>
              </a:lnSpc>
              <a:spcBef>
                <a:spcPct val="20000"/>
              </a:spcBef>
              <a:buNone/>
            </a:pPr>
            <a:r>
              <a:rPr lang="zh-CN" altLang="en-US" sz="2000" dirty="0">
                <a:solidFill>
                  <a:srgbClr val="A50021"/>
                </a:solidFill>
                <a:latin typeface="Arial" panose="020B0604020202020204" pitchFamily="34" charset="0"/>
                <a:ea typeface="黑体" panose="02010609060101010101" pitchFamily="49" charset="-122"/>
              </a:rPr>
              <a:t>    如：</a:t>
            </a:r>
            <a:r>
              <a:rPr lang="en-US" altLang="zh-CN" sz="2000" dirty="0">
                <a:solidFill>
                  <a:srgbClr val="A50021"/>
                </a:solidFill>
                <a:latin typeface="Arial" panose="020B0604020202020204" pitchFamily="34" charset="0"/>
                <a:ea typeface="黑体" panose="02010609060101010101" pitchFamily="49" charset="-122"/>
              </a:rPr>
              <a:t>X86</a:t>
            </a:r>
            <a:r>
              <a:rPr lang="zh-CN" altLang="en-US" sz="2000" dirty="0">
                <a:solidFill>
                  <a:srgbClr val="A50021"/>
                </a:solidFill>
                <a:latin typeface="Arial" panose="020B0604020202020204" pitchFamily="34" charset="0"/>
                <a:ea typeface="黑体" panose="02010609060101010101" pitchFamily="49" charset="-122"/>
              </a:rPr>
              <a:t>指令，一条指令中有多个操作数，且寻址方式各不相同，需要各自说明寻址方式，因此每个操作数有专门的寻址方式位。</a:t>
            </a:r>
            <a:endParaRPr lang="zh-CN" altLang="en-US" sz="2000" dirty="0">
              <a:solidFill>
                <a:srgbClr val="0000FF"/>
              </a:solidFill>
              <a:latin typeface="Arial" panose="020B0604020202020204" pitchFamily="34" charset="0"/>
              <a:ea typeface="黑体" panose="02010609060101010101" pitchFamily="49" charset="-122"/>
            </a:endParaRPr>
          </a:p>
          <a:p>
            <a:pPr marL="342900" indent="-342900">
              <a:lnSpc>
                <a:spcPct val="115000"/>
              </a:lnSpc>
              <a:spcBef>
                <a:spcPct val="20000"/>
              </a:spcBef>
            </a:pPr>
            <a:r>
              <a:rPr lang="zh-CN" altLang="en-US" dirty="0">
                <a:latin typeface="Arial" panose="020B0604020202020204" pitchFamily="34" charset="0"/>
                <a:ea typeface="黑体" panose="02010609060101010101" pitchFamily="49" charset="-122"/>
              </a:rPr>
              <a:t>有效地址的含义</a:t>
            </a:r>
            <a:endParaRPr lang="zh-CN" altLang="en-US" dirty="0">
              <a:latin typeface="Arial" panose="020B0604020202020204" pitchFamily="34" charset="0"/>
              <a:ea typeface="黑体" panose="02010609060101010101" pitchFamily="49" charset="-122"/>
            </a:endParaRPr>
          </a:p>
          <a:p>
            <a:pPr marL="342900" indent="-342900">
              <a:lnSpc>
                <a:spcPct val="115000"/>
              </a:lnSpc>
              <a:spcBef>
                <a:spcPct val="20000"/>
              </a:spcBef>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操作数所在存储单元的地址（可能是逻辑地址或物理地址），可通过指令的寻址方式和地址码计算得到</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spcBef>
                <a:spcPct val="20000"/>
              </a:spcBef>
            </a:pPr>
            <a:r>
              <a:rPr lang="zh-CN" altLang="en-US" dirty="0">
                <a:latin typeface="Arial" panose="020B0604020202020204" pitchFamily="34" charset="0"/>
                <a:ea typeface="黑体" panose="02010609060101010101" pitchFamily="49" charset="-122"/>
              </a:rPr>
              <a:t>基本寻址方式</a:t>
            </a:r>
            <a:endParaRPr lang="zh-CN" altLang="en-US" dirty="0">
              <a:latin typeface="Arial" panose="020B0604020202020204" pitchFamily="34" charset="0"/>
              <a:ea typeface="黑体" panose="02010609060101010101" pitchFamily="49" charset="-122"/>
            </a:endParaRPr>
          </a:p>
          <a:p>
            <a:pPr marL="342900" indent="-342900">
              <a:lnSpc>
                <a:spcPct val="115000"/>
              </a:lnSpc>
              <a:spcBef>
                <a:spcPct val="20000"/>
              </a:spcBef>
              <a:buNone/>
            </a:pPr>
            <a:r>
              <a:rPr lang="zh-CN" altLang="en-US" dirty="0">
                <a:latin typeface="Arial" panose="020B0604020202020204" pitchFamily="34" charset="0"/>
                <a:ea typeface="黑体" panose="02010609060101010101" pitchFamily="49" charset="-122"/>
              </a:rPr>
              <a:t>    </a:t>
            </a:r>
            <a:r>
              <a:rPr lang="zh-CN" altLang="en-US" dirty="0">
                <a:solidFill>
                  <a:srgbClr val="0000FF"/>
                </a:solidFill>
                <a:latin typeface="Arial" panose="020B0604020202020204" pitchFamily="34" charset="0"/>
                <a:ea typeface="黑体" panose="02010609060101010101" pitchFamily="49" charset="-122"/>
              </a:rPr>
              <a:t>立即 / 直接 / 间接 / 寄存器 / 寄存器间接 / 偏移 / 堆栈</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spcBef>
                <a:spcPct val="20000"/>
              </a:spcBef>
            </a:pPr>
            <a:r>
              <a:rPr lang="zh-CN" altLang="en-US" dirty="0">
                <a:latin typeface="Arial" panose="020B0604020202020204" pitchFamily="34" charset="0"/>
                <a:ea typeface="黑体" panose="02010609060101010101" pitchFamily="49" charset="-122"/>
              </a:rPr>
              <a:t>基本寻址方式的</a:t>
            </a:r>
            <a:r>
              <a:rPr lang="zh-CN" altLang="en-US" dirty="0">
                <a:latin typeface="Arial" panose="020B0604020202020204" pitchFamily="34" charset="0"/>
                <a:ea typeface="黑体" panose="02010609060101010101" pitchFamily="49" charset="-122"/>
                <a:hlinkClick r:id="" action="ppaction://hlinkshowjump?jump=nextslide"/>
              </a:rPr>
              <a:t>算法及优缺点</a:t>
            </a:r>
            <a:endParaRPr lang="zh-CN" altLang="en-US" dirty="0">
              <a:latin typeface="Arial" panose="020B0604020202020204" pitchFamily="34" charset="0"/>
              <a:ea typeface="黑体" panose="02010609060101010101" pitchFamily="49" charset="-122"/>
            </a:endParaRPr>
          </a:p>
          <a:p>
            <a:pPr marL="342900" indent="-342900">
              <a:lnSpc>
                <a:spcPct val="115000"/>
              </a:lnSpc>
              <a:spcBef>
                <a:spcPct val="20000"/>
              </a:spcBef>
              <a:buFont typeface="Monotype Sorts" pitchFamily="2" charset="2"/>
              <a:buNone/>
            </a:pPr>
            <a:r>
              <a:rPr lang="zh-CN" altLang="en-US" dirty="0">
                <a:latin typeface="Arial" panose="020B0604020202020204" pitchFamily="34" charset="0"/>
                <a:ea typeface="黑体" panose="02010609060101010101" pitchFamily="49" charset="-122"/>
              </a:rPr>
              <a:t>     </a:t>
            </a:r>
            <a:r>
              <a:rPr lang="zh-CN" altLang="en-US" dirty="0">
                <a:solidFill>
                  <a:schemeClr val="accent2"/>
                </a:solidFill>
                <a:latin typeface="Arial" panose="020B0604020202020204" pitchFamily="34" charset="0"/>
                <a:ea typeface="黑体" panose="02010609060101010101" pitchFamily="49" charset="-122"/>
              </a:rPr>
              <a:t>（见下页）</a:t>
            </a:r>
            <a:endParaRPr lang="zh-CN" altLang="en-US" dirty="0">
              <a:solidFill>
                <a:schemeClr val="accent2"/>
              </a:solidFill>
              <a:latin typeface="Arial" panose="020B0604020202020204" pitchFamily="34" charset="0"/>
              <a:ea typeface="黑体" panose="02010609060101010101" pitchFamily="49" charset="-122"/>
              <a:hlinkClick r:id="" action="ppaction://hlinkshowjump?jump=nextslide"/>
            </a:endParaRPr>
          </a:p>
        </p:txBody>
      </p:sp>
      <p:sp>
        <p:nvSpPr>
          <p:cNvPr id="14339" name="Rectangle 3"/>
          <p:cNvSpPr>
            <a:spLocks noGrp="1"/>
          </p:cNvSpPr>
          <p:nvPr>
            <p:ph type="title"/>
          </p:nvPr>
        </p:nvSpPr>
        <p:spPr>
          <a:xfrm>
            <a:off x="685800" y="85725"/>
            <a:ext cx="2852738" cy="368300"/>
          </a:xfrm>
        </p:spPr>
        <p:txBody>
          <a:bodyPr vert="horz" wrap="square" lIns="63500" tIns="25400" rIns="63500" bIns="25400" anchor="t" anchorCtr="0">
            <a:spAutoFit/>
          </a:bodyPr>
          <a:lstStyle/>
          <a:p>
            <a:r>
              <a:rPr lang="en-US" altLang="zh-CN" dirty="0">
                <a:ea typeface="宋体" panose="02010600030101010101" pitchFamily="2" charset="-122"/>
              </a:rPr>
              <a:t>Addressing Modes</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0690">
                                            <p:txEl>
                                              <p:pRg st="1" end="1"/>
                                            </p:txEl>
                                          </p:spTgt>
                                        </p:tgtEl>
                                        <p:attrNameLst>
                                          <p:attrName>style.visibility</p:attrName>
                                        </p:attrNameLst>
                                      </p:cBhvr>
                                      <p:to>
                                        <p:strVal val="visible"/>
                                      </p:to>
                                    </p:set>
                                    <p:animEffect transition="in" filter="blinds(horizontal)">
                                      <p:cBhvr>
                                        <p:cTn id="7" dur="500"/>
                                        <p:tgtEl>
                                          <p:spTgt spid="37069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0690">
                                            <p:txEl>
                                              <p:pRg st="2" end="2"/>
                                            </p:txEl>
                                          </p:spTgt>
                                        </p:tgtEl>
                                        <p:attrNameLst>
                                          <p:attrName>style.visibility</p:attrName>
                                        </p:attrNameLst>
                                      </p:cBhvr>
                                      <p:to>
                                        <p:strVal val="visible"/>
                                      </p:to>
                                    </p:set>
                                    <p:animEffect transition="in" filter="blinds(horizontal)">
                                      <p:cBhvr>
                                        <p:cTn id="12" dur="500"/>
                                        <p:tgtEl>
                                          <p:spTgt spid="37069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0690">
                                            <p:txEl>
                                              <p:pRg st="3" end="3"/>
                                            </p:txEl>
                                          </p:spTgt>
                                        </p:tgtEl>
                                        <p:attrNameLst>
                                          <p:attrName>style.visibility</p:attrName>
                                        </p:attrNameLst>
                                      </p:cBhvr>
                                      <p:to>
                                        <p:strVal val="visible"/>
                                      </p:to>
                                    </p:set>
                                    <p:animEffect transition="in" filter="blinds(horizontal)">
                                      <p:cBhvr>
                                        <p:cTn id="17" dur="500"/>
                                        <p:tgtEl>
                                          <p:spTgt spid="37069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0690">
                                            <p:txEl>
                                              <p:pRg st="4" end="4"/>
                                            </p:txEl>
                                          </p:spTgt>
                                        </p:tgtEl>
                                        <p:attrNameLst>
                                          <p:attrName>style.visibility</p:attrName>
                                        </p:attrNameLst>
                                      </p:cBhvr>
                                      <p:to>
                                        <p:strVal val="visible"/>
                                      </p:to>
                                    </p:set>
                                    <p:animEffect transition="in" filter="blinds(horizontal)">
                                      <p:cBhvr>
                                        <p:cTn id="22" dur="500"/>
                                        <p:tgtEl>
                                          <p:spTgt spid="37069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0690">
                                            <p:txEl>
                                              <p:pRg st="6" end="6"/>
                                            </p:txEl>
                                          </p:spTgt>
                                        </p:tgtEl>
                                        <p:attrNameLst>
                                          <p:attrName>style.visibility</p:attrName>
                                        </p:attrNameLst>
                                      </p:cBhvr>
                                      <p:to>
                                        <p:strVal val="visible"/>
                                      </p:to>
                                    </p:set>
                                    <p:animEffect transition="in" filter="blinds(horizontal)">
                                      <p:cBhvr>
                                        <p:cTn id="27" dur="500"/>
                                        <p:tgtEl>
                                          <p:spTgt spid="370690">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0690">
                                            <p:txEl>
                                              <p:pRg st="8" end="8"/>
                                            </p:txEl>
                                          </p:spTgt>
                                        </p:tgtEl>
                                        <p:attrNameLst>
                                          <p:attrName>style.visibility</p:attrName>
                                        </p:attrNameLst>
                                      </p:cBhvr>
                                      <p:to>
                                        <p:strVal val="visible"/>
                                      </p:to>
                                    </p:set>
                                    <p:animEffect transition="in" filter="blinds(horizontal)">
                                      <p:cBhvr>
                                        <p:cTn id="32" dur="500"/>
                                        <p:tgtEl>
                                          <p:spTgt spid="370690">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0690">
                                            <p:txEl>
                                              <p:pRg st="10" end="10"/>
                                            </p:txEl>
                                          </p:spTgt>
                                        </p:tgtEl>
                                        <p:attrNameLst>
                                          <p:attrName>style.visibility</p:attrName>
                                        </p:attrNameLst>
                                      </p:cBhvr>
                                      <p:to>
                                        <p:strVal val="visible"/>
                                      </p:to>
                                    </p:set>
                                    <p:animEffect transition="in" filter="blinds(horizontal)">
                                      <p:cBhvr>
                                        <p:cTn id="37" dur="500"/>
                                        <p:tgtEl>
                                          <p:spTgt spid="37069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711200" y="-133350"/>
            <a:ext cx="5143500" cy="800100"/>
          </a:xfrm>
        </p:spPr>
        <p:txBody>
          <a:bodyPr vert="horz" wrap="square" lIns="63500" tIns="25400" rIns="63500" bIns="25400" anchor="ctr" anchorCtr="0">
            <a:spAutoFit/>
          </a:bodyPr>
          <a:lstStyle/>
          <a:p>
            <a:pPr>
              <a:buNone/>
            </a:pPr>
            <a:r>
              <a:rPr lang="zh-CN" altLang="en-US" sz="2800" dirty="0">
                <a:latin typeface="宋体" panose="02010600030101010101" pitchFamily="2" charset="-122"/>
                <a:ea typeface="宋体" panose="02010600030101010101" pitchFamily="2" charset="-122"/>
              </a:rPr>
              <a:t>基本寻址方式的算法和优缺点</a:t>
            </a:r>
            <a:endParaRPr lang="zh-CN" altLang="en-US" sz="2800" dirty="0">
              <a:latin typeface="宋体" panose="02010600030101010101" pitchFamily="2" charset="-122"/>
              <a:ea typeface="宋体" panose="02010600030101010101" pitchFamily="2" charset="-122"/>
            </a:endParaRPr>
          </a:p>
        </p:txBody>
      </p:sp>
      <p:sp>
        <p:nvSpPr>
          <p:cNvPr id="371715" name="Rectangle 3"/>
          <p:cNvSpPr>
            <a:spLocks noGrp="1"/>
          </p:cNvSpPr>
          <p:nvPr>
            <p:ph idx="1"/>
          </p:nvPr>
        </p:nvSpPr>
        <p:spPr>
          <a:xfrm>
            <a:off x="604838" y="1335088"/>
            <a:ext cx="8158162" cy="4700587"/>
          </a:xfrm>
        </p:spPr>
        <p:txBody>
          <a:bodyPr vert="horz" wrap="square" lIns="91440" tIns="45720" rIns="91440" bIns="45720" anchor="t" anchorCtr="0"/>
          <a:lstStyle/>
          <a:p>
            <a:pPr marL="342900" indent="-342900">
              <a:lnSpc>
                <a:spcPct val="120000"/>
              </a:lnSpc>
              <a:buNone/>
            </a:pPr>
            <a:r>
              <a:rPr lang="zh-CN" altLang="en-US" sz="1800" dirty="0">
                <a:solidFill>
                  <a:srgbClr val="0000FF"/>
                </a:solidFill>
                <a:latin typeface="Arial" panose="020B0604020202020204" pitchFamily="34" charset="0"/>
                <a:ea typeface="黑体" panose="02010609060101010101" pitchFamily="49" charset="-122"/>
              </a:rPr>
              <a:t>方式	     算法	            主要优点	                      主要缺点</a:t>
            </a:r>
            <a:endParaRPr lang="zh-CN" altLang="en-US" sz="1800" dirty="0">
              <a:solidFill>
                <a:srgbClr val="0000FF"/>
              </a:solidFill>
              <a:latin typeface="Arial" panose="020B0604020202020204" pitchFamily="34" charset="0"/>
              <a:ea typeface="黑体" panose="02010609060101010101" pitchFamily="49" charset="-122"/>
            </a:endParaRPr>
          </a:p>
          <a:p>
            <a:pPr marL="342900" indent="-342900">
              <a:lnSpc>
                <a:spcPct val="120000"/>
              </a:lnSpc>
              <a:buNone/>
            </a:pPr>
            <a:r>
              <a:rPr lang="zh-CN" altLang="en-US" sz="1800" dirty="0">
                <a:latin typeface="Arial" panose="020B0604020202020204" pitchFamily="34" charset="0"/>
                <a:ea typeface="黑体" panose="02010609060101010101" pitchFamily="49" charset="-122"/>
              </a:rPr>
              <a:t>立即	   操作数=</a:t>
            </a:r>
            <a:r>
              <a:rPr lang="en-US" altLang="en-US" sz="1800" dirty="0">
                <a:latin typeface="Arial" panose="020B0604020202020204" pitchFamily="34" charset="0"/>
                <a:ea typeface="黑体" panose="02010609060101010101" pitchFamily="49" charset="-122"/>
              </a:rPr>
              <a:t>A      </a:t>
            </a:r>
            <a:r>
              <a:rPr lang="en-US" altLang="zh-CN" sz="1800" dirty="0">
                <a:latin typeface="Arial" panose="020B0604020202020204" pitchFamily="34" charset="0"/>
                <a:ea typeface="黑体" panose="02010609060101010101" pitchFamily="49" charset="-122"/>
              </a:rPr>
              <a:t>   </a:t>
            </a:r>
            <a:r>
              <a:rPr lang="zh-CN" altLang="en-US" sz="1800" dirty="0">
                <a:latin typeface="Arial" panose="020B0604020202020204" pitchFamily="34" charset="0"/>
                <a:ea typeface="黑体" panose="02010609060101010101" pitchFamily="49" charset="-122"/>
              </a:rPr>
              <a:t>指令执行速度快            操作数幅值有限</a:t>
            </a:r>
            <a:endParaRPr lang="zh-CN" altLang="en-US" sz="1800" dirty="0">
              <a:latin typeface="Arial" panose="020B0604020202020204" pitchFamily="34" charset="0"/>
              <a:ea typeface="黑体" panose="02010609060101010101" pitchFamily="49" charset="-122"/>
            </a:endParaRPr>
          </a:p>
          <a:p>
            <a:pPr marL="342900" indent="-342900">
              <a:lnSpc>
                <a:spcPct val="120000"/>
              </a:lnSpc>
              <a:buNone/>
            </a:pPr>
            <a:r>
              <a:rPr lang="zh-CN" altLang="en-US" sz="1800" dirty="0">
                <a:latin typeface="Arial" panose="020B0604020202020204" pitchFamily="34" charset="0"/>
                <a:ea typeface="黑体" panose="02010609060101010101" pitchFamily="49" charset="-122"/>
              </a:rPr>
              <a:t>直接         </a:t>
            </a:r>
            <a:r>
              <a:rPr lang="en-US" altLang="en-US" sz="1800" dirty="0">
                <a:latin typeface="Arial" panose="020B0604020202020204" pitchFamily="34" charset="0"/>
                <a:ea typeface="黑体" panose="02010609060101010101" pitchFamily="49" charset="-122"/>
              </a:rPr>
              <a:t>EA=A                </a:t>
            </a:r>
            <a:r>
              <a:rPr lang="en-US" altLang="zh-CN" sz="1800" dirty="0">
                <a:latin typeface="Arial" panose="020B0604020202020204" pitchFamily="34" charset="0"/>
                <a:ea typeface="黑体" panose="02010609060101010101" pitchFamily="49" charset="-122"/>
              </a:rPr>
              <a:t>有效</a:t>
            </a:r>
            <a:r>
              <a:rPr lang="zh-CN" altLang="en-US" sz="1800" dirty="0">
                <a:latin typeface="Arial" panose="020B0604020202020204" pitchFamily="34" charset="0"/>
                <a:ea typeface="黑体" panose="02010609060101010101" pitchFamily="49" charset="-122"/>
              </a:rPr>
              <a:t>地址计算简单        地址范围有限</a:t>
            </a:r>
            <a:endParaRPr lang="zh-CN" altLang="en-US" sz="1800" dirty="0">
              <a:latin typeface="Arial" panose="020B0604020202020204" pitchFamily="34" charset="0"/>
              <a:ea typeface="黑体" panose="02010609060101010101" pitchFamily="49" charset="-122"/>
            </a:endParaRPr>
          </a:p>
          <a:p>
            <a:pPr marL="342900" indent="-342900">
              <a:lnSpc>
                <a:spcPct val="120000"/>
              </a:lnSpc>
              <a:buNone/>
            </a:pPr>
            <a:r>
              <a:rPr lang="zh-CN" altLang="en-US" sz="1800" dirty="0">
                <a:latin typeface="Arial" panose="020B0604020202020204" pitchFamily="34" charset="0"/>
                <a:ea typeface="黑体" panose="02010609060101010101" pitchFamily="49" charset="-122"/>
              </a:rPr>
              <a:t>间接         </a:t>
            </a:r>
            <a:r>
              <a:rPr lang="en-US" altLang="en-US" sz="1800" dirty="0">
                <a:latin typeface="Arial" panose="020B0604020202020204" pitchFamily="34" charset="0"/>
                <a:ea typeface="黑体" panose="02010609060101010101" pitchFamily="49" charset="-122"/>
              </a:rPr>
              <a:t>EA=</a:t>
            </a:r>
            <a:r>
              <a:rPr lang="en-US" altLang="zh-CN" sz="1800" dirty="0">
                <a:latin typeface="Arial" panose="020B0604020202020204" pitchFamily="34" charset="0"/>
                <a:ea typeface="黑体" panose="02010609060101010101" pitchFamily="49" charset="-122"/>
              </a:rPr>
              <a:t>(A)              </a:t>
            </a:r>
            <a:r>
              <a:rPr lang="zh-CN" altLang="en-US" sz="1800" dirty="0">
                <a:latin typeface="Arial" panose="020B0604020202020204" pitchFamily="34" charset="0"/>
                <a:ea typeface="黑体" panose="02010609060101010101" pitchFamily="49" charset="-122"/>
              </a:rPr>
              <a:t>有效地址范围大           多次存储器访问</a:t>
            </a:r>
            <a:endParaRPr lang="zh-CN" altLang="en-US" sz="1800" dirty="0">
              <a:latin typeface="Arial" panose="020B0604020202020204" pitchFamily="34" charset="0"/>
              <a:ea typeface="黑体" panose="02010609060101010101" pitchFamily="49" charset="-122"/>
            </a:endParaRPr>
          </a:p>
          <a:p>
            <a:pPr marL="342900" indent="-342900">
              <a:lnSpc>
                <a:spcPct val="120000"/>
              </a:lnSpc>
              <a:buNone/>
            </a:pPr>
            <a:r>
              <a:rPr lang="zh-CN" altLang="en-US" sz="1800" dirty="0">
                <a:latin typeface="Arial" panose="020B0604020202020204" pitchFamily="34" charset="0"/>
                <a:ea typeface="黑体" panose="02010609060101010101" pitchFamily="49" charset="-122"/>
              </a:rPr>
              <a:t>寄存器     操作数</a:t>
            </a:r>
            <a:r>
              <a:rPr lang="en-US" altLang="en-US" sz="1800" dirty="0">
                <a:latin typeface="Arial" panose="020B0604020202020204" pitchFamily="34" charset="0"/>
                <a:ea typeface="黑体" panose="02010609060101010101" pitchFamily="49" charset="-122"/>
              </a:rPr>
              <a:t>=</a:t>
            </a:r>
            <a:r>
              <a:rPr lang="en-US" altLang="zh-CN" sz="1800" dirty="0">
                <a:latin typeface="Arial" panose="020B0604020202020204" pitchFamily="34" charset="0"/>
                <a:ea typeface="黑体" panose="02010609060101010101" pitchFamily="49" charset="-122"/>
              </a:rPr>
              <a:t>(</a:t>
            </a:r>
            <a:r>
              <a:rPr lang="en-US" altLang="en-US" sz="1800" dirty="0">
                <a:latin typeface="Arial" panose="020B0604020202020204" pitchFamily="34" charset="0"/>
                <a:ea typeface="黑体" panose="02010609060101010101" pitchFamily="49" charset="-122"/>
              </a:rPr>
              <a:t>R</a:t>
            </a:r>
            <a:r>
              <a:rPr lang="en-US" altLang="zh-CN" sz="1800" dirty="0">
                <a:latin typeface="Arial" panose="020B0604020202020204" pitchFamily="34" charset="0"/>
                <a:ea typeface="黑体" panose="02010609060101010101" pitchFamily="49" charset="-122"/>
              </a:rPr>
              <a:t>)</a:t>
            </a:r>
            <a:r>
              <a:rPr lang="en-US" altLang="en-US" sz="1800" dirty="0">
                <a:latin typeface="Arial" panose="020B0604020202020204" pitchFamily="34" charset="0"/>
                <a:ea typeface="黑体" panose="02010609060101010101" pitchFamily="49" charset="-122"/>
              </a:rPr>
              <a:t>        </a:t>
            </a:r>
            <a:r>
              <a:rPr lang="en-US" altLang="zh-CN" sz="1800" dirty="0">
                <a:latin typeface="Arial" panose="020B0604020202020204" pitchFamily="34" charset="0"/>
                <a:ea typeface="黑体" panose="02010609060101010101" pitchFamily="49" charset="-122"/>
              </a:rPr>
              <a:t>指令</a:t>
            </a:r>
            <a:r>
              <a:rPr lang="zh-CN" altLang="en-US" sz="1800" dirty="0">
                <a:latin typeface="Arial" panose="020B0604020202020204" pitchFamily="34" charset="0"/>
                <a:ea typeface="黑体" panose="02010609060101010101" pitchFamily="49" charset="-122"/>
              </a:rPr>
              <a:t>执行快，指令短     地址范围有限 </a:t>
            </a:r>
            <a:endParaRPr lang="zh-CN" altLang="en-US" sz="1800" dirty="0">
              <a:latin typeface="Arial" panose="020B0604020202020204" pitchFamily="34" charset="0"/>
              <a:ea typeface="黑体" panose="02010609060101010101" pitchFamily="49" charset="-122"/>
            </a:endParaRPr>
          </a:p>
          <a:p>
            <a:pPr marL="342900" indent="-342900">
              <a:lnSpc>
                <a:spcPct val="120000"/>
              </a:lnSpc>
              <a:buNone/>
            </a:pPr>
            <a:r>
              <a:rPr lang="zh-CN" altLang="en-US" sz="1800" dirty="0">
                <a:latin typeface="Arial" panose="020B0604020202020204" pitchFamily="34" charset="0"/>
                <a:ea typeface="黑体" panose="02010609060101010101" pitchFamily="49" charset="-122"/>
              </a:rPr>
              <a:t>寄间接     </a:t>
            </a:r>
            <a:r>
              <a:rPr lang="en-US" altLang="en-US" sz="1800" dirty="0">
                <a:latin typeface="Arial" panose="020B0604020202020204" pitchFamily="34" charset="0"/>
                <a:ea typeface="黑体" panose="02010609060101010101" pitchFamily="49" charset="-122"/>
              </a:rPr>
              <a:t>EA=</a:t>
            </a:r>
            <a:r>
              <a:rPr lang="en-US" altLang="zh-CN" sz="1800" dirty="0">
                <a:latin typeface="Arial" panose="020B0604020202020204" pitchFamily="34" charset="0"/>
                <a:ea typeface="黑体" panose="02010609060101010101" pitchFamily="49" charset="-122"/>
              </a:rPr>
              <a:t>(R)              </a:t>
            </a:r>
            <a:r>
              <a:rPr lang="zh-CN" altLang="zh-CN" sz="1800" dirty="0">
                <a:latin typeface="Arial" panose="020B0604020202020204" pitchFamily="34" charset="0"/>
                <a:ea typeface="黑体" panose="02010609060101010101" pitchFamily="49" charset="-122"/>
              </a:rPr>
              <a:t>地址范围大          </a:t>
            </a:r>
            <a:r>
              <a:rPr lang="zh-CN" altLang="en-US" sz="1800" dirty="0">
                <a:latin typeface="Arial" panose="020B0604020202020204" pitchFamily="34" charset="0"/>
                <a:ea typeface="黑体" panose="02010609060101010101" pitchFamily="49" charset="-122"/>
              </a:rPr>
              <a:t>   </a:t>
            </a:r>
            <a:r>
              <a:rPr lang="zh-CN" altLang="zh-CN" sz="1800" dirty="0">
                <a:latin typeface="Arial" panose="020B0604020202020204" pitchFamily="34" charset="0"/>
                <a:ea typeface="黑体" panose="02010609060101010101" pitchFamily="49" charset="-122"/>
              </a:rPr>
              <a:t> </a:t>
            </a:r>
            <a:r>
              <a:rPr lang="zh-CN" altLang="en-US" sz="1800" dirty="0">
                <a:latin typeface="Arial" panose="020B0604020202020204" pitchFamily="34" charset="0"/>
                <a:ea typeface="黑体" panose="02010609060101010101" pitchFamily="49" charset="-122"/>
              </a:rPr>
              <a:t>      </a:t>
            </a:r>
            <a:r>
              <a:rPr lang="zh-CN" altLang="zh-CN" sz="1800" dirty="0">
                <a:latin typeface="Arial" panose="020B0604020202020204" pitchFamily="34" charset="0"/>
                <a:ea typeface="黑体" panose="02010609060101010101" pitchFamily="49" charset="-122"/>
              </a:rPr>
              <a:t>额外存储器访问</a:t>
            </a:r>
            <a:endParaRPr lang="zh-CN" altLang="zh-CN" sz="1800" dirty="0">
              <a:latin typeface="Arial" panose="020B0604020202020204" pitchFamily="34" charset="0"/>
              <a:ea typeface="黑体" panose="02010609060101010101" pitchFamily="49" charset="-122"/>
            </a:endParaRPr>
          </a:p>
          <a:p>
            <a:pPr marL="342900" indent="-342900">
              <a:lnSpc>
                <a:spcPct val="120000"/>
              </a:lnSpc>
              <a:buNone/>
            </a:pPr>
            <a:r>
              <a:rPr lang="zh-CN" altLang="zh-CN" sz="1800" dirty="0">
                <a:latin typeface="Arial" panose="020B0604020202020204" pitchFamily="34" charset="0"/>
                <a:ea typeface="黑体" panose="02010609060101010101" pitchFamily="49" charset="-122"/>
              </a:rPr>
              <a:t>偏移         </a:t>
            </a:r>
            <a:r>
              <a:rPr lang="en-US" altLang="zh-CN" sz="1800" dirty="0">
                <a:latin typeface="Arial" panose="020B0604020202020204" pitchFamily="34" charset="0"/>
                <a:ea typeface="黑体" panose="02010609060101010101" pitchFamily="49" charset="-122"/>
              </a:rPr>
              <a:t>EA=A+(R)         </a:t>
            </a:r>
            <a:r>
              <a:rPr lang="zh-CN" altLang="en-US" sz="1800" dirty="0">
                <a:latin typeface="Arial" panose="020B0604020202020204" pitchFamily="34" charset="0"/>
                <a:ea typeface="黑体" panose="02010609060101010101" pitchFamily="49" charset="-122"/>
              </a:rPr>
              <a:t>灵活                              复杂</a:t>
            </a:r>
            <a:endParaRPr lang="zh-CN" altLang="en-US" sz="1800" dirty="0">
              <a:latin typeface="Arial" panose="020B0604020202020204" pitchFamily="34" charset="0"/>
              <a:ea typeface="黑体" panose="02010609060101010101" pitchFamily="49" charset="-122"/>
            </a:endParaRPr>
          </a:p>
          <a:p>
            <a:pPr marL="342900" indent="-342900">
              <a:lnSpc>
                <a:spcPct val="120000"/>
              </a:lnSpc>
              <a:buNone/>
            </a:pPr>
            <a:r>
              <a:rPr lang="zh-CN" altLang="en-US" sz="1800" dirty="0">
                <a:latin typeface="Arial" panose="020B0604020202020204" pitchFamily="34" charset="0"/>
                <a:ea typeface="黑体" panose="02010609060101010101" pitchFamily="49" charset="-122"/>
              </a:rPr>
              <a:t>堆栈         </a:t>
            </a:r>
            <a:r>
              <a:rPr lang="en-US" altLang="en-US" sz="1800" dirty="0">
                <a:latin typeface="Arial" panose="020B0604020202020204" pitchFamily="34" charset="0"/>
                <a:ea typeface="黑体" panose="02010609060101010101" pitchFamily="49" charset="-122"/>
              </a:rPr>
              <a:t>EA=</a:t>
            </a:r>
            <a:r>
              <a:rPr lang="zh-CN" altLang="en-US" sz="1800" dirty="0">
                <a:latin typeface="Arial" panose="020B0604020202020204" pitchFamily="34" charset="0"/>
                <a:ea typeface="黑体" panose="02010609060101010101" pitchFamily="49" charset="-122"/>
              </a:rPr>
              <a:t>栈顶           指令短                           应用有限</a:t>
            </a:r>
            <a:endParaRPr lang="zh-CN" altLang="en-US" sz="1800" dirty="0">
              <a:latin typeface="Arial" panose="020B0604020202020204" pitchFamily="34" charset="0"/>
              <a:ea typeface="黑体" panose="02010609060101010101" pitchFamily="49" charset="-122"/>
            </a:endParaRPr>
          </a:p>
          <a:p>
            <a:pPr marL="342900" indent="-342900">
              <a:lnSpc>
                <a:spcPct val="70000"/>
              </a:lnSpc>
              <a:buNone/>
            </a:pPr>
            <a:endParaRPr lang="en-US" altLang="zh-CN" sz="1000" dirty="0">
              <a:latin typeface="Arial" panose="020B0604020202020204" pitchFamily="34" charset="0"/>
              <a:ea typeface="黑体" panose="02010609060101010101" pitchFamily="49" charset="-122"/>
              <a:hlinkClick r:id="" action="ppaction://hlinkshowjump?jump=nextslide"/>
            </a:endParaRPr>
          </a:p>
          <a:p>
            <a:pPr marL="342900" indent="-342900">
              <a:lnSpc>
                <a:spcPct val="70000"/>
              </a:lnSpc>
              <a:buNone/>
            </a:pPr>
            <a:r>
              <a:rPr lang="zh-CN" altLang="en-US" dirty="0">
                <a:latin typeface="Arial" panose="020B0604020202020204" pitchFamily="34" charset="0"/>
                <a:ea typeface="黑体" panose="02010609060101010101" pitchFamily="49" charset="-122"/>
              </a:rPr>
              <a:t>偏移方式：将直接方式和寄存器间接方式结合起来。</a:t>
            </a:r>
            <a:endParaRPr lang="zh-CN" altLang="en-US" dirty="0">
              <a:latin typeface="Arial" panose="020B0604020202020204" pitchFamily="34" charset="0"/>
              <a:ea typeface="黑体" panose="02010609060101010101" pitchFamily="49" charset="-122"/>
            </a:endParaRPr>
          </a:p>
          <a:p>
            <a:pPr marL="342900" indent="-342900">
              <a:lnSpc>
                <a:spcPct val="70000"/>
              </a:lnSpc>
              <a:buNone/>
            </a:pPr>
            <a:r>
              <a:rPr lang="zh-CN" altLang="en-US" dirty="0">
                <a:latin typeface="Arial" panose="020B0604020202020204" pitchFamily="34" charset="0"/>
                <a:ea typeface="黑体" panose="02010609060101010101" pitchFamily="49" charset="-122"/>
              </a:rPr>
              <a:t>          有：相对 </a:t>
            </a:r>
            <a:r>
              <a:rPr lang="zh-CN" altLang="zh-CN" dirty="0">
                <a:latin typeface="Arial" panose="020B0604020202020204" pitchFamily="34" charset="0"/>
                <a:ea typeface="黑体" panose="02010609060101010101" pitchFamily="49" charset="-122"/>
              </a:rPr>
              <a:t>/</a:t>
            </a:r>
            <a:r>
              <a:rPr lang="zh-CN" altLang="en-US" dirty="0">
                <a:latin typeface="Arial" panose="020B0604020202020204" pitchFamily="34" charset="0"/>
                <a:ea typeface="黑体" panose="02010609060101010101" pitchFamily="49" charset="-122"/>
              </a:rPr>
              <a:t> 基址 / 变址三种 </a:t>
            </a:r>
            <a:r>
              <a:rPr lang="zh-CN" altLang="en-US" dirty="0">
                <a:solidFill>
                  <a:schemeClr val="accent2"/>
                </a:solidFill>
                <a:latin typeface="Arial" panose="020B0604020202020204" pitchFamily="34" charset="0"/>
                <a:ea typeface="黑体" panose="02010609060101010101" pitchFamily="49" charset="-122"/>
              </a:rPr>
              <a:t>（见后面几页！）</a:t>
            </a:r>
            <a:endParaRPr lang="zh-CN" altLang="en-US" dirty="0">
              <a:solidFill>
                <a:schemeClr val="accent2"/>
              </a:solidFill>
              <a:latin typeface="Arial" panose="020B0604020202020204" pitchFamily="34" charset="0"/>
              <a:ea typeface="黑体" panose="02010609060101010101" pitchFamily="49" charset="-122"/>
            </a:endParaRPr>
          </a:p>
          <a:p>
            <a:pPr marL="342900" indent="-342900">
              <a:lnSpc>
                <a:spcPct val="70000"/>
              </a:lnSpc>
              <a:buNone/>
            </a:pPr>
            <a:r>
              <a:rPr lang="zh-CN" altLang="en-US" sz="1800" dirty="0">
                <a:latin typeface="Arial" panose="020B0604020202020204" pitchFamily="34" charset="0"/>
                <a:ea typeface="黑体" panose="02010609060101010101" pitchFamily="49" charset="-122"/>
              </a:rPr>
              <a:t>			       	</a:t>
            </a:r>
            <a:endParaRPr lang="zh-CN" altLang="en-US" sz="1800" dirty="0">
              <a:latin typeface="Arial" panose="020B0604020202020204" pitchFamily="34" charset="0"/>
              <a:ea typeface="黑体" panose="02010609060101010101" pitchFamily="49" charset="-122"/>
            </a:endParaRPr>
          </a:p>
        </p:txBody>
      </p:sp>
      <p:sp>
        <p:nvSpPr>
          <p:cNvPr id="15364" name="Line 4"/>
          <p:cNvSpPr/>
          <p:nvPr/>
        </p:nvSpPr>
        <p:spPr>
          <a:xfrm>
            <a:off x="530225" y="1730375"/>
            <a:ext cx="7696200" cy="0"/>
          </a:xfrm>
          <a:prstGeom prst="line">
            <a:avLst/>
          </a:prstGeom>
          <a:ln w="28575" cap="flat" cmpd="sng">
            <a:solidFill>
              <a:schemeClr val="tx1"/>
            </a:solidFill>
            <a:prstDash val="solid"/>
            <a:headEnd type="none" w="med" len="med"/>
            <a:tailEnd type="none" w="med" len="med"/>
          </a:ln>
        </p:spPr>
      </p:sp>
      <p:sp>
        <p:nvSpPr>
          <p:cNvPr id="15365" name="Line 5"/>
          <p:cNvSpPr/>
          <p:nvPr/>
        </p:nvSpPr>
        <p:spPr>
          <a:xfrm>
            <a:off x="530225" y="4608513"/>
            <a:ext cx="7696200" cy="0"/>
          </a:xfrm>
          <a:prstGeom prst="line">
            <a:avLst/>
          </a:prstGeom>
          <a:ln w="28575" cap="flat" cmpd="sng">
            <a:solidFill>
              <a:schemeClr val="tx1"/>
            </a:solidFill>
            <a:prstDash val="solid"/>
            <a:headEnd type="none" w="med" len="med"/>
            <a:tailEnd type="none" w="med" len="med"/>
          </a:ln>
        </p:spPr>
      </p:sp>
      <p:sp>
        <p:nvSpPr>
          <p:cNvPr id="15366" name="Rectangle 6"/>
          <p:cNvSpPr/>
          <p:nvPr/>
        </p:nvSpPr>
        <p:spPr>
          <a:xfrm>
            <a:off x="65088" y="630238"/>
            <a:ext cx="4516437" cy="600075"/>
          </a:xfrm>
          <a:prstGeom prst="rect">
            <a:avLst/>
          </a:prstGeom>
          <a:noFill/>
          <a:ln w="12700">
            <a:noFill/>
          </a:ln>
        </p:spPr>
        <p:txBody>
          <a:bodyPr lIns="63500" tIns="25400" rIns="63500" bIns="25400">
            <a:spAutoFit/>
          </a:bodyPr>
          <a:lstStyle/>
          <a:p>
            <a:r>
              <a:rPr lang="zh-CN" altLang="en-US" sz="1800" dirty="0">
                <a:solidFill>
                  <a:srgbClr val="A50021"/>
                </a:solidFill>
                <a:latin typeface="Arial" panose="020B0604020202020204" pitchFamily="34" charset="0"/>
                <a:ea typeface="黑体" panose="02010609060101010101" pitchFamily="49" charset="-122"/>
              </a:rPr>
              <a:t>假设：</a:t>
            </a:r>
            <a:r>
              <a:rPr lang="en-US" altLang="en-US" sz="1800" dirty="0">
                <a:solidFill>
                  <a:srgbClr val="A50021"/>
                </a:solidFill>
                <a:latin typeface="Arial" panose="020B0604020202020204" pitchFamily="34" charset="0"/>
                <a:ea typeface="黑体" panose="02010609060101010101" pitchFamily="49" charset="-122"/>
              </a:rPr>
              <a:t>A</a:t>
            </a:r>
            <a:r>
              <a:rPr lang="en-US" altLang="zh-CN" sz="1800" dirty="0">
                <a:solidFill>
                  <a:srgbClr val="A50021"/>
                </a:solidFill>
                <a:latin typeface="Arial" panose="020B0604020202020204" pitchFamily="34" charset="0"/>
                <a:ea typeface="黑体" panose="02010609060101010101" pitchFamily="49" charset="-122"/>
              </a:rPr>
              <a:t>=</a:t>
            </a:r>
            <a:r>
              <a:rPr lang="zh-CN" altLang="en-US" sz="1800" dirty="0">
                <a:solidFill>
                  <a:srgbClr val="A50021"/>
                </a:solidFill>
                <a:latin typeface="Arial" panose="020B0604020202020204" pitchFamily="34" charset="0"/>
                <a:ea typeface="黑体" panose="02010609060101010101" pitchFamily="49" charset="-122"/>
              </a:rPr>
              <a:t>地址字段值，</a:t>
            </a:r>
            <a:r>
              <a:rPr lang="en-US" altLang="zh-CN" sz="1800" dirty="0">
                <a:solidFill>
                  <a:srgbClr val="A50021"/>
                </a:solidFill>
                <a:latin typeface="Arial" panose="020B0604020202020204" pitchFamily="34" charset="0"/>
                <a:ea typeface="黑体" panose="02010609060101010101" pitchFamily="49" charset="-122"/>
              </a:rPr>
              <a:t>R=</a:t>
            </a:r>
            <a:r>
              <a:rPr lang="zh-CN" altLang="en-US" sz="1800" dirty="0">
                <a:solidFill>
                  <a:srgbClr val="A50021"/>
                </a:solidFill>
                <a:latin typeface="Arial" panose="020B0604020202020204" pitchFamily="34" charset="0"/>
                <a:ea typeface="黑体" panose="02010609060101010101" pitchFamily="49" charset="-122"/>
              </a:rPr>
              <a:t>寄存器编号，</a:t>
            </a:r>
            <a:endParaRPr lang="zh-CN" altLang="en-US" sz="1800" dirty="0">
              <a:solidFill>
                <a:srgbClr val="A50021"/>
              </a:solidFill>
              <a:latin typeface="Arial" panose="020B0604020202020204" pitchFamily="34" charset="0"/>
              <a:ea typeface="黑体" panose="02010609060101010101" pitchFamily="49" charset="-122"/>
            </a:endParaRPr>
          </a:p>
          <a:p>
            <a:r>
              <a:rPr lang="en-US" altLang="zh-CN" sz="1800" dirty="0">
                <a:solidFill>
                  <a:srgbClr val="A50021"/>
                </a:solidFill>
                <a:latin typeface="Arial" panose="020B0604020202020204" pitchFamily="34" charset="0"/>
                <a:ea typeface="黑体" panose="02010609060101010101" pitchFamily="49" charset="-122"/>
              </a:rPr>
              <a:t>           </a:t>
            </a:r>
            <a:r>
              <a:rPr lang="en-US" altLang="en-US" sz="1800" dirty="0">
                <a:solidFill>
                  <a:srgbClr val="A50021"/>
                </a:solidFill>
                <a:latin typeface="Arial" panose="020B0604020202020204" pitchFamily="34" charset="0"/>
                <a:ea typeface="黑体" panose="02010609060101010101" pitchFamily="49" charset="-122"/>
              </a:rPr>
              <a:t>EA=</a:t>
            </a:r>
            <a:r>
              <a:rPr lang="zh-CN" altLang="en-US" sz="1800" dirty="0">
                <a:solidFill>
                  <a:srgbClr val="A50021"/>
                </a:solidFill>
                <a:latin typeface="Arial" panose="020B0604020202020204" pitchFamily="34" charset="0"/>
                <a:ea typeface="黑体" panose="02010609060101010101" pitchFamily="49" charset="-122"/>
              </a:rPr>
              <a:t>有效地址， (</a:t>
            </a:r>
            <a:r>
              <a:rPr lang="en-US" altLang="zh-CN" sz="1800" dirty="0">
                <a:solidFill>
                  <a:srgbClr val="A50021"/>
                </a:solidFill>
                <a:latin typeface="Arial" panose="020B0604020202020204" pitchFamily="34" charset="0"/>
                <a:ea typeface="黑体" panose="02010609060101010101" pitchFamily="49" charset="-122"/>
              </a:rPr>
              <a:t>X)=</a:t>
            </a:r>
            <a:r>
              <a:rPr lang="en-US" altLang="en-US" sz="1800" dirty="0">
                <a:solidFill>
                  <a:srgbClr val="A50021"/>
                </a:solidFill>
                <a:latin typeface="Arial" panose="020B0604020202020204" pitchFamily="34" charset="0"/>
                <a:ea typeface="黑体" panose="02010609060101010101" pitchFamily="49" charset="-122"/>
              </a:rPr>
              <a:t>X</a:t>
            </a:r>
            <a:r>
              <a:rPr lang="zh-CN" altLang="en-US" sz="1800" dirty="0">
                <a:solidFill>
                  <a:srgbClr val="A50021"/>
                </a:solidFill>
                <a:latin typeface="Arial" panose="020B0604020202020204" pitchFamily="34" charset="0"/>
                <a:ea typeface="黑体" panose="02010609060101010101" pitchFamily="49" charset="-122"/>
              </a:rPr>
              <a:t>中的内容</a:t>
            </a:r>
            <a:endParaRPr lang="zh-CN" altLang="en-US" sz="1800" dirty="0">
              <a:solidFill>
                <a:srgbClr val="A50021"/>
              </a:solidFill>
              <a:latin typeface="Arial" panose="020B0604020202020204" pitchFamily="34" charset="0"/>
              <a:ea typeface="黑体" panose="02010609060101010101" pitchFamily="49" charset="-122"/>
            </a:endParaRPr>
          </a:p>
        </p:txBody>
      </p:sp>
      <p:sp>
        <p:nvSpPr>
          <p:cNvPr id="371720" name="Text Box 8"/>
          <p:cNvSpPr txBox="1"/>
          <p:nvPr/>
        </p:nvSpPr>
        <p:spPr>
          <a:xfrm>
            <a:off x="476250" y="5459413"/>
            <a:ext cx="8094663" cy="666750"/>
          </a:xfrm>
          <a:prstGeom prst="rect">
            <a:avLst/>
          </a:prstGeom>
          <a:noFill/>
          <a:ln w="12700">
            <a:noFill/>
          </a:ln>
        </p:spPr>
        <p:txBody>
          <a:bodyPr lIns="63500" tIns="25400" rIns="63500" bIns="25400">
            <a:spAutoFit/>
          </a:bodyPr>
          <a:lstStyle/>
          <a:p>
            <a:pPr>
              <a:spcBef>
                <a:spcPct val="50000"/>
              </a:spcBef>
            </a:pPr>
            <a:r>
              <a:rPr lang="zh-CN" altLang="en-US" sz="2000" dirty="0">
                <a:solidFill>
                  <a:srgbClr val="EE3900"/>
                </a:solidFill>
                <a:latin typeface="Arial" panose="020B0604020202020204" pitchFamily="34" charset="0"/>
                <a:ea typeface="黑体" panose="02010609060101010101" pitchFamily="49" charset="-122"/>
              </a:rPr>
              <a:t>问题：以上各种寻址方式下，操作数在寄存器中还是在存储器中？有没有可能在磁盘中？什么情况下，所取数据在磁盘中？</a:t>
            </a:r>
            <a:endParaRPr lang="zh-CN" altLang="en-US" sz="2000" dirty="0">
              <a:solidFill>
                <a:srgbClr val="EE3900"/>
              </a:solidFill>
              <a:latin typeface="Arial" panose="020B0604020202020204" pitchFamily="34" charset="0"/>
              <a:ea typeface="黑体" panose="02010609060101010101" pitchFamily="49" charset="-122"/>
            </a:endParaRPr>
          </a:p>
        </p:txBody>
      </p:sp>
      <p:sp>
        <p:nvSpPr>
          <p:cNvPr id="371721" name="Text Box 9"/>
          <p:cNvSpPr txBox="1"/>
          <p:nvPr/>
        </p:nvSpPr>
        <p:spPr>
          <a:xfrm>
            <a:off x="368300" y="6218238"/>
            <a:ext cx="8532813"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只有当操作数在存储器中时，才有可能“缺页”，此时操作数在磁盘中！</a:t>
            </a:r>
            <a:endParaRPr lang="zh-CN" altLang="en-US" sz="2000" dirty="0">
              <a:latin typeface="Arial" panose="020B0604020202020204" pitchFamily="34" charset="0"/>
              <a:ea typeface="黑体" panose="02010609060101010101" pitchFamily="49" charset="-122"/>
            </a:endParaRPr>
          </a:p>
        </p:txBody>
      </p:sp>
      <p:sp>
        <p:nvSpPr>
          <p:cNvPr id="15369" name="矩形 9"/>
          <p:cNvSpPr/>
          <p:nvPr/>
        </p:nvSpPr>
        <p:spPr>
          <a:xfrm>
            <a:off x="5186363" y="641350"/>
            <a:ext cx="3467100" cy="436563"/>
          </a:xfrm>
          <a:prstGeom prst="rect">
            <a:avLst/>
          </a:prstGeom>
          <a:noFill/>
          <a:ln w="25400" cap="flat" cmpd="sng">
            <a:solidFill>
              <a:schemeClr val="tx1"/>
            </a:solidFill>
            <a:prstDash val="solid"/>
            <a:round/>
            <a:headEnd type="none" w="med" len="med"/>
            <a:tailEnd type="none" w="med" len="med"/>
          </a:ln>
        </p:spPr>
        <p:txBody>
          <a:bodyPr lIns="63500" tIns="25400" rIns="63500" bIns="25400"/>
          <a:lstStyle/>
          <a:p>
            <a:endParaRPr lang="zh-CN" altLang="en-US" dirty="0">
              <a:latin typeface="Arial" panose="020B0604020202020204" pitchFamily="34" charset="0"/>
            </a:endParaRPr>
          </a:p>
        </p:txBody>
      </p:sp>
      <p:cxnSp>
        <p:nvCxnSpPr>
          <p:cNvPr id="15370" name="直接连接符 21"/>
          <p:cNvCxnSpPr/>
          <p:nvPr/>
        </p:nvCxnSpPr>
        <p:spPr>
          <a:xfrm>
            <a:off x="6953250" y="641350"/>
            <a:ext cx="0" cy="436563"/>
          </a:xfrm>
          <a:prstGeom prst="line">
            <a:avLst/>
          </a:prstGeom>
          <a:ln w="25400" cap="flat" cmpd="sng">
            <a:solidFill>
              <a:schemeClr val="tx1"/>
            </a:solidFill>
            <a:prstDash val="solid"/>
            <a:headEnd type="none" w="med" len="med"/>
            <a:tailEnd type="none" w="med" len="med"/>
          </a:ln>
        </p:spPr>
      </p:cxnSp>
      <p:cxnSp>
        <p:nvCxnSpPr>
          <p:cNvPr id="15371" name="直接连接符 25"/>
          <p:cNvCxnSpPr/>
          <p:nvPr/>
        </p:nvCxnSpPr>
        <p:spPr>
          <a:xfrm>
            <a:off x="6000750" y="642938"/>
            <a:ext cx="0" cy="438150"/>
          </a:xfrm>
          <a:prstGeom prst="line">
            <a:avLst/>
          </a:prstGeom>
          <a:ln w="25400" cap="flat" cmpd="sng">
            <a:solidFill>
              <a:schemeClr val="tx1"/>
            </a:solidFill>
            <a:prstDash val="solid"/>
            <a:headEnd type="none" w="med" len="med"/>
            <a:tailEnd type="none" w="med" len="med"/>
          </a:ln>
        </p:spPr>
      </p:cxnSp>
      <p:sp>
        <p:nvSpPr>
          <p:cNvPr id="15372" name="TextBox 26"/>
          <p:cNvSpPr txBox="1"/>
          <p:nvPr/>
        </p:nvSpPr>
        <p:spPr>
          <a:xfrm>
            <a:off x="5295900" y="655638"/>
            <a:ext cx="600075" cy="430212"/>
          </a:xfrm>
          <a:prstGeom prst="rect">
            <a:avLst/>
          </a:prstGeom>
          <a:noFill/>
          <a:ln w="9525">
            <a:noFill/>
          </a:ln>
        </p:spPr>
        <p:txBody>
          <a:bodyPr>
            <a:spAutoFit/>
          </a:bodyPr>
          <a:lstStyle/>
          <a:p>
            <a:r>
              <a:rPr lang="en-US" altLang="zh-CN" sz="2200" dirty="0">
                <a:latin typeface="Arial" panose="020B0604020202020204" pitchFamily="34" charset="0"/>
              </a:rPr>
              <a:t>OP</a:t>
            </a:r>
            <a:endParaRPr lang="zh-CN" altLang="en-US" sz="2200" dirty="0">
              <a:latin typeface="Arial" panose="020B0604020202020204" pitchFamily="34" charset="0"/>
            </a:endParaRPr>
          </a:p>
        </p:txBody>
      </p:sp>
      <p:sp>
        <p:nvSpPr>
          <p:cNvPr id="15373" name="TextBox 27"/>
          <p:cNvSpPr txBox="1"/>
          <p:nvPr/>
        </p:nvSpPr>
        <p:spPr>
          <a:xfrm>
            <a:off x="6226175" y="642938"/>
            <a:ext cx="600075" cy="431800"/>
          </a:xfrm>
          <a:prstGeom prst="rect">
            <a:avLst/>
          </a:prstGeom>
          <a:noFill/>
          <a:ln w="9525">
            <a:noFill/>
          </a:ln>
        </p:spPr>
        <p:txBody>
          <a:bodyPr>
            <a:spAutoFit/>
          </a:bodyPr>
          <a:lstStyle/>
          <a:p>
            <a:r>
              <a:rPr lang="en-US" altLang="zh-CN" sz="2200" dirty="0">
                <a:latin typeface="Arial" panose="020B0604020202020204" pitchFamily="34" charset="0"/>
              </a:rPr>
              <a:t>R</a:t>
            </a:r>
            <a:endParaRPr lang="zh-CN" altLang="en-US" sz="2200" dirty="0">
              <a:latin typeface="Arial" panose="020B0604020202020204" pitchFamily="34" charset="0"/>
            </a:endParaRPr>
          </a:p>
        </p:txBody>
      </p:sp>
      <p:sp>
        <p:nvSpPr>
          <p:cNvPr id="15374" name="TextBox 28"/>
          <p:cNvSpPr txBox="1"/>
          <p:nvPr/>
        </p:nvSpPr>
        <p:spPr>
          <a:xfrm>
            <a:off x="7319963" y="660400"/>
            <a:ext cx="600075" cy="430213"/>
          </a:xfrm>
          <a:prstGeom prst="rect">
            <a:avLst/>
          </a:prstGeom>
          <a:noFill/>
          <a:ln w="9525">
            <a:noFill/>
          </a:ln>
        </p:spPr>
        <p:txBody>
          <a:bodyPr>
            <a:spAutoFit/>
          </a:bodyPr>
          <a:lstStyle/>
          <a:p>
            <a:r>
              <a:rPr lang="en-US" altLang="zh-CN" sz="2200" dirty="0">
                <a:latin typeface="Arial" panose="020B0604020202020204" pitchFamily="34" charset="0"/>
              </a:rPr>
              <a:t>A</a:t>
            </a:r>
            <a:endParaRPr lang="zh-CN" altLang="en-US" sz="2200" dirty="0">
              <a:latin typeface="Arial" panose="020B0604020202020204" pitchFamily="34" charset="0"/>
            </a:endParaRPr>
          </a:p>
        </p:txBody>
      </p:sp>
      <p:cxnSp>
        <p:nvCxnSpPr>
          <p:cNvPr id="15375" name="直接连接符 29"/>
          <p:cNvCxnSpPr/>
          <p:nvPr/>
        </p:nvCxnSpPr>
        <p:spPr>
          <a:xfrm>
            <a:off x="7993063" y="642938"/>
            <a:ext cx="0" cy="438150"/>
          </a:xfrm>
          <a:prstGeom prst="line">
            <a:avLst/>
          </a:prstGeom>
          <a:ln w="25400" cap="flat" cmpd="sng">
            <a:solidFill>
              <a:schemeClr val="tx1"/>
            </a:solidFill>
            <a:prstDash val="solid"/>
            <a:headEnd type="none" w="med" len="med"/>
            <a:tailEnd type="none" w="med" len="med"/>
          </a:ln>
        </p:spPr>
      </p:cxnSp>
      <p:sp>
        <p:nvSpPr>
          <p:cNvPr id="15376" name="TextBox 30"/>
          <p:cNvSpPr txBox="1"/>
          <p:nvPr/>
        </p:nvSpPr>
        <p:spPr>
          <a:xfrm>
            <a:off x="8099425" y="566738"/>
            <a:ext cx="601663" cy="430212"/>
          </a:xfrm>
          <a:prstGeom prst="rect">
            <a:avLst/>
          </a:prstGeom>
          <a:noFill/>
          <a:ln w="9525">
            <a:noFill/>
          </a:ln>
        </p:spPr>
        <p:txBody>
          <a:bodyPr>
            <a:spAutoFit/>
          </a:bodyPr>
          <a:lstStyle/>
          <a:p>
            <a:r>
              <a:rPr lang="en-US" altLang="zh-CN" sz="2200" dirty="0">
                <a:latin typeface="Arial" panose="020B0604020202020204" pitchFamily="34" charset="0"/>
              </a:rPr>
              <a:t>…</a:t>
            </a:r>
            <a:endParaRPr lang="zh-CN" altLang="en-US" sz="22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1715">
                                            <p:txEl>
                                              <p:pRg st="1" end="1"/>
                                            </p:txEl>
                                          </p:spTgt>
                                        </p:tgtEl>
                                        <p:attrNameLst>
                                          <p:attrName>style.visibility</p:attrName>
                                        </p:attrNameLst>
                                      </p:cBhvr>
                                      <p:to>
                                        <p:strVal val="visible"/>
                                      </p:to>
                                    </p:set>
                                    <p:animEffect transition="in" filter="blinds(horizontal)">
                                      <p:cBhvr>
                                        <p:cTn id="7" dur="500"/>
                                        <p:tgtEl>
                                          <p:spTgt spid="37171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1715">
                                            <p:txEl>
                                              <p:pRg st="2" end="2"/>
                                            </p:txEl>
                                          </p:spTgt>
                                        </p:tgtEl>
                                        <p:attrNameLst>
                                          <p:attrName>style.visibility</p:attrName>
                                        </p:attrNameLst>
                                      </p:cBhvr>
                                      <p:to>
                                        <p:strVal val="visible"/>
                                      </p:to>
                                    </p:set>
                                    <p:animEffect transition="in" filter="blinds(horizontal)">
                                      <p:cBhvr>
                                        <p:cTn id="12" dur="500"/>
                                        <p:tgtEl>
                                          <p:spTgt spid="3717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1715">
                                            <p:txEl>
                                              <p:pRg st="3" end="3"/>
                                            </p:txEl>
                                          </p:spTgt>
                                        </p:tgtEl>
                                        <p:attrNameLst>
                                          <p:attrName>style.visibility</p:attrName>
                                        </p:attrNameLst>
                                      </p:cBhvr>
                                      <p:to>
                                        <p:strVal val="visible"/>
                                      </p:to>
                                    </p:set>
                                    <p:animEffect transition="in" filter="blinds(horizontal)">
                                      <p:cBhvr>
                                        <p:cTn id="17" dur="500"/>
                                        <p:tgtEl>
                                          <p:spTgt spid="37171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1715">
                                            <p:txEl>
                                              <p:pRg st="4" end="4"/>
                                            </p:txEl>
                                          </p:spTgt>
                                        </p:tgtEl>
                                        <p:attrNameLst>
                                          <p:attrName>style.visibility</p:attrName>
                                        </p:attrNameLst>
                                      </p:cBhvr>
                                      <p:to>
                                        <p:strVal val="visible"/>
                                      </p:to>
                                    </p:set>
                                    <p:animEffect transition="in" filter="blinds(horizontal)">
                                      <p:cBhvr>
                                        <p:cTn id="22" dur="500"/>
                                        <p:tgtEl>
                                          <p:spTgt spid="37171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1715">
                                            <p:txEl>
                                              <p:pRg st="5" end="5"/>
                                            </p:txEl>
                                          </p:spTgt>
                                        </p:tgtEl>
                                        <p:attrNameLst>
                                          <p:attrName>style.visibility</p:attrName>
                                        </p:attrNameLst>
                                      </p:cBhvr>
                                      <p:to>
                                        <p:strVal val="visible"/>
                                      </p:to>
                                    </p:set>
                                    <p:animEffect transition="in" filter="blinds(horizontal)">
                                      <p:cBhvr>
                                        <p:cTn id="27" dur="500"/>
                                        <p:tgtEl>
                                          <p:spTgt spid="37171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1715">
                                            <p:txEl>
                                              <p:pRg st="6" end="6"/>
                                            </p:txEl>
                                          </p:spTgt>
                                        </p:tgtEl>
                                        <p:attrNameLst>
                                          <p:attrName>style.visibility</p:attrName>
                                        </p:attrNameLst>
                                      </p:cBhvr>
                                      <p:to>
                                        <p:strVal val="visible"/>
                                      </p:to>
                                    </p:set>
                                    <p:animEffect transition="in" filter="blinds(horizontal)">
                                      <p:cBhvr>
                                        <p:cTn id="32" dur="500"/>
                                        <p:tgtEl>
                                          <p:spTgt spid="37171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1715">
                                            <p:txEl>
                                              <p:pRg st="7" end="7"/>
                                            </p:txEl>
                                          </p:spTgt>
                                        </p:tgtEl>
                                        <p:attrNameLst>
                                          <p:attrName>style.visibility</p:attrName>
                                        </p:attrNameLst>
                                      </p:cBhvr>
                                      <p:to>
                                        <p:strVal val="visible"/>
                                      </p:to>
                                    </p:set>
                                    <p:animEffect transition="in" filter="blinds(horizontal)">
                                      <p:cBhvr>
                                        <p:cTn id="37" dur="500"/>
                                        <p:tgtEl>
                                          <p:spTgt spid="371715">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1715">
                                            <p:txEl>
                                              <p:pRg st="9" end="9"/>
                                            </p:txEl>
                                          </p:spTgt>
                                        </p:tgtEl>
                                        <p:attrNameLst>
                                          <p:attrName>style.visibility</p:attrName>
                                        </p:attrNameLst>
                                      </p:cBhvr>
                                      <p:to>
                                        <p:strVal val="visible"/>
                                      </p:to>
                                    </p:set>
                                    <p:animEffect transition="in" filter="blinds(horizontal)">
                                      <p:cBhvr>
                                        <p:cTn id="42" dur="500"/>
                                        <p:tgtEl>
                                          <p:spTgt spid="371715">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71715">
                                            <p:txEl>
                                              <p:pRg st="10" end="10"/>
                                            </p:txEl>
                                          </p:spTgt>
                                        </p:tgtEl>
                                        <p:attrNameLst>
                                          <p:attrName>style.visibility</p:attrName>
                                        </p:attrNameLst>
                                      </p:cBhvr>
                                      <p:to>
                                        <p:strVal val="visible"/>
                                      </p:to>
                                    </p:set>
                                    <p:animEffect transition="in" filter="blinds(horizontal)">
                                      <p:cBhvr>
                                        <p:cTn id="47" dur="500"/>
                                        <p:tgtEl>
                                          <p:spTgt spid="371715">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371720"/>
                                        </p:tgtEl>
                                        <p:attrNameLst>
                                          <p:attrName>style.visibility</p:attrName>
                                        </p:attrNameLst>
                                      </p:cBhvr>
                                      <p:to>
                                        <p:strVal val="visible"/>
                                      </p:to>
                                    </p:set>
                                    <p:animEffect transition="in" filter="blinds(horizontal)">
                                      <p:cBhvr>
                                        <p:cTn id="52" dur="500"/>
                                        <p:tgtEl>
                                          <p:spTgt spid="37172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371721"/>
                                        </p:tgtEl>
                                        <p:attrNameLst>
                                          <p:attrName>style.visibility</p:attrName>
                                        </p:attrNameLst>
                                      </p:cBhvr>
                                      <p:to>
                                        <p:strVal val="visible"/>
                                      </p:to>
                                    </p:set>
                                    <p:animEffect transition="in" filter="blinds(horizontal)">
                                      <p:cBhvr>
                                        <p:cTn id="57" dur="500"/>
                                        <p:tgtEl>
                                          <p:spTgt spid="371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0" grpId="0"/>
      <p:bldP spid="37172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595313" y="53975"/>
            <a:ext cx="2290762" cy="425450"/>
          </a:xfrm>
        </p:spPr>
        <p:txBody>
          <a:bodyPr vert="horz" wrap="square" lIns="63500" tIns="25400" rIns="63500" bIns="25400" anchor="ctr" anchorCtr="0">
            <a:spAutoFit/>
          </a:bodyPr>
          <a:lstStyle/>
          <a:p>
            <a:r>
              <a:rPr lang="zh-CN" altLang="en-US" sz="2800" dirty="0">
                <a:ea typeface="宋体" panose="02010600030101010101" pitchFamily="2" charset="-122"/>
              </a:rPr>
              <a:t>偏移寻址方式</a:t>
            </a:r>
            <a:endParaRPr lang="zh-CN" altLang="en-US" sz="2800" dirty="0">
              <a:ea typeface="宋体" panose="02010600030101010101" pitchFamily="2" charset="-122"/>
            </a:endParaRPr>
          </a:p>
        </p:txBody>
      </p:sp>
      <p:sp>
        <p:nvSpPr>
          <p:cNvPr id="16387" name="Rectangle 3"/>
          <p:cNvSpPr/>
          <p:nvPr/>
        </p:nvSpPr>
        <p:spPr>
          <a:xfrm>
            <a:off x="2193925" y="820738"/>
            <a:ext cx="3081338" cy="577850"/>
          </a:xfrm>
          <a:prstGeom prst="rect">
            <a:avLst/>
          </a:prstGeom>
          <a:no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6388" name="Line 4"/>
          <p:cNvSpPr/>
          <p:nvPr/>
        </p:nvSpPr>
        <p:spPr>
          <a:xfrm>
            <a:off x="2867025" y="820738"/>
            <a:ext cx="0" cy="577850"/>
          </a:xfrm>
          <a:prstGeom prst="line">
            <a:avLst/>
          </a:prstGeom>
          <a:ln w="38100" cap="flat" cmpd="sng">
            <a:solidFill>
              <a:schemeClr val="tx1"/>
            </a:solidFill>
            <a:prstDash val="solid"/>
            <a:headEnd type="none" w="med" len="med"/>
            <a:tailEnd type="none" w="med" len="med"/>
          </a:ln>
        </p:spPr>
      </p:sp>
      <p:sp>
        <p:nvSpPr>
          <p:cNvPr id="16389" name="Text Box 5"/>
          <p:cNvSpPr txBox="1"/>
          <p:nvPr/>
        </p:nvSpPr>
        <p:spPr>
          <a:xfrm>
            <a:off x="3068638" y="846138"/>
            <a:ext cx="417512" cy="457200"/>
          </a:xfrm>
          <a:prstGeom prst="rect">
            <a:avLst/>
          </a:prstGeom>
          <a:noFill/>
          <a:ln w="38100">
            <a:noFill/>
          </a:ln>
        </p:spPr>
        <p:txBody>
          <a:bodyPr>
            <a:spAutoFit/>
          </a:bodyPr>
          <a:lstStyle/>
          <a:p>
            <a:pPr>
              <a:spcBef>
                <a:spcPct val="50000"/>
              </a:spcBef>
            </a:pPr>
            <a:r>
              <a:rPr lang="en-US" altLang="zh-CN" sz="2400" dirty="0">
                <a:solidFill>
                  <a:schemeClr val="tx1"/>
                </a:solidFill>
                <a:latin typeface="Arial" panose="020B0604020202020204" pitchFamily="34" charset="0"/>
              </a:rPr>
              <a:t>R</a:t>
            </a:r>
            <a:endParaRPr lang="en-US" altLang="zh-CN" sz="2400" dirty="0">
              <a:solidFill>
                <a:schemeClr val="tx1"/>
              </a:solidFill>
              <a:latin typeface="Arial" panose="020B0604020202020204" pitchFamily="34" charset="0"/>
            </a:endParaRPr>
          </a:p>
        </p:txBody>
      </p:sp>
      <p:sp>
        <p:nvSpPr>
          <p:cNvPr id="16390" name="Rectangle 6"/>
          <p:cNvSpPr/>
          <p:nvPr/>
        </p:nvSpPr>
        <p:spPr>
          <a:xfrm>
            <a:off x="5894388" y="863600"/>
            <a:ext cx="1584325" cy="2403475"/>
          </a:xfrm>
          <a:prstGeom prst="rect">
            <a:avLst/>
          </a:prstGeom>
          <a:no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6391" name="Text Box 7"/>
          <p:cNvSpPr txBox="1"/>
          <p:nvPr/>
        </p:nvSpPr>
        <p:spPr>
          <a:xfrm>
            <a:off x="6075363" y="457200"/>
            <a:ext cx="1377950" cy="396875"/>
          </a:xfrm>
          <a:prstGeom prst="rect">
            <a:avLst/>
          </a:prstGeom>
          <a:noFill/>
          <a:ln w="9525">
            <a:noFill/>
          </a:ln>
        </p:spPr>
        <p:txBody>
          <a:bodyPr>
            <a:spAutoFit/>
          </a:bodyPr>
          <a:lstStyle/>
          <a:p>
            <a:pPr>
              <a:spcBef>
                <a:spcPct val="50000"/>
              </a:spcBef>
            </a:pPr>
            <a:r>
              <a:rPr lang="zh-CN" altLang="en-US" sz="2000" dirty="0">
                <a:solidFill>
                  <a:srgbClr val="0000FF"/>
                </a:solidFill>
                <a:latin typeface="Times New Roman" panose="02020603050405020304" pitchFamily="18" charset="0"/>
                <a:ea typeface="黑体" panose="02010609060101010101" pitchFamily="49" charset="-122"/>
              </a:rPr>
              <a:t>存储器</a:t>
            </a:r>
            <a:endParaRPr lang="zh-CN" altLang="en-US" sz="2000" dirty="0">
              <a:solidFill>
                <a:srgbClr val="0000FF"/>
              </a:solidFill>
              <a:latin typeface="Times New Roman" panose="02020603050405020304" pitchFamily="18" charset="0"/>
              <a:ea typeface="黑体" panose="02010609060101010101" pitchFamily="49" charset="-122"/>
            </a:endParaRPr>
          </a:p>
        </p:txBody>
      </p:sp>
      <p:sp>
        <p:nvSpPr>
          <p:cNvPr id="16392" name="Line 8"/>
          <p:cNvSpPr/>
          <p:nvPr/>
        </p:nvSpPr>
        <p:spPr>
          <a:xfrm>
            <a:off x="5894388" y="2163763"/>
            <a:ext cx="1584325" cy="0"/>
          </a:xfrm>
          <a:prstGeom prst="line">
            <a:avLst/>
          </a:prstGeom>
          <a:ln w="38100" cap="flat" cmpd="sng">
            <a:solidFill>
              <a:schemeClr val="tx1"/>
            </a:solidFill>
            <a:prstDash val="solid"/>
            <a:headEnd type="none" w="med" len="med"/>
            <a:tailEnd type="none" w="med" len="med"/>
          </a:ln>
        </p:spPr>
      </p:sp>
      <p:sp>
        <p:nvSpPr>
          <p:cNvPr id="16393" name="Line 9"/>
          <p:cNvSpPr/>
          <p:nvPr/>
        </p:nvSpPr>
        <p:spPr>
          <a:xfrm>
            <a:off x="5889625" y="2576513"/>
            <a:ext cx="1584325" cy="0"/>
          </a:xfrm>
          <a:prstGeom prst="line">
            <a:avLst/>
          </a:prstGeom>
          <a:ln w="38100" cap="flat" cmpd="sng">
            <a:solidFill>
              <a:schemeClr val="tx1"/>
            </a:solidFill>
            <a:prstDash val="solid"/>
            <a:headEnd type="none" w="med" len="med"/>
            <a:tailEnd type="none" w="med" len="med"/>
          </a:ln>
        </p:spPr>
      </p:sp>
      <p:sp>
        <p:nvSpPr>
          <p:cNvPr id="16394" name="Text Box 10"/>
          <p:cNvSpPr txBox="1"/>
          <p:nvPr/>
        </p:nvSpPr>
        <p:spPr>
          <a:xfrm>
            <a:off x="6199188" y="2154238"/>
            <a:ext cx="1012825" cy="366712"/>
          </a:xfrm>
          <a:prstGeom prst="rect">
            <a:avLst/>
          </a:prstGeom>
          <a:noFill/>
          <a:ln w="38100">
            <a:noFill/>
          </a:ln>
        </p:spPr>
        <p:txBody>
          <a:bodyPr>
            <a:spAutoFit/>
          </a:bodyPr>
          <a:lstStyle/>
          <a:p>
            <a:pPr>
              <a:spcBef>
                <a:spcPct val="50000"/>
              </a:spcBef>
            </a:pPr>
            <a:r>
              <a:rPr lang="zh-CN" altLang="en-US" sz="1800" dirty="0">
                <a:solidFill>
                  <a:srgbClr val="A50021"/>
                </a:solidFill>
                <a:latin typeface="Times New Roman" panose="02020603050405020304" pitchFamily="18" charset="0"/>
                <a:ea typeface="黑体" panose="02010609060101010101" pitchFamily="49" charset="-122"/>
              </a:rPr>
              <a:t>操作数</a:t>
            </a:r>
            <a:endParaRPr lang="zh-CN" altLang="en-US" sz="1800" dirty="0">
              <a:solidFill>
                <a:srgbClr val="A50021"/>
              </a:solidFill>
              <a:latin typeface="Times New Roman" panose="02020603050405020304" pitchFamily="18" charset="0"/>
              <a:ea typeface="黑体" panose="02010609060101010101" pitchFamily="49" charset="-122"/>
            </a:endParaRPr>
          </a:p>
        </p:txBody>
      </p:sp>
      <p:sp>
        <p:nvSpPr>
          <p:cNvPr id="16395" name="Line 11"/>
          <p:cNvSpPr/>
          <p:nvPr/>
        </p:nvSpPr>
        <p:spPr>
          <a:xfrm>
            <a:off x="3602038" y="820738"/>
            <a:ext cx="0" cy="577850"/>
          </a:xfrm>
          <a:prstGeom prst="line">
            <a:avLst/>
          </a:prstGeom>
          <a:ln w="38100" cap="flat" cmpd="sng">
            <a:solidFill>
              <a:schemeClr val="tx1"/>
            </a:solidFill>
            <a:prstDash val="solid"/>
            <a:headEnd type="none" w="med" len="med"/>
            <a:tailEnd type="none" w="med" len="med"/>
          </a:ln>
        </p:spPr>
      </p:sp>
      <p:grpSp>
        <p:nvGrpSpPr>
          <p:cNvPr id="16396" name="Group 12"/>
          <p:cNvGrpSpPr/>
          <p:nvPr/>
        </p:nvGrpSpPr>
        <p:grpSpPr>
          <a:xfrm>
            <a:off x="1938338" y="1306513"/>
            <a:ext cx="1136650" cy="2482850"/>
            <a:chOff x="1544" y="1177"/>
            <a:chExt cx="716" cy="1564"/>
          </a:xfrm>
        </p:grpSpPr>
        <p:sp>
          <p:nvSpPr>
            <p:cNvPr id="16423" name="Line 13"/>
            <p:cNvSpPr/>
            <p:nvPr/>
          </p:nvSpPr>
          <p:spPr>
            <a:xfrm>
              <a:off x="2251" y="1177"/>
              <a:ext cx="0" cy="266"/>
            </a:xfrm>
            <a:prstGeom prst="line">
              <a:avLst/>
            </a:prstGeom>
            <a:ln w="38100" cap="flat" cmpd="sng">
              <a:solidFill>
                <a:schemeClr val="accent2"/>
              </a:solidFill>
              <a:prstDash val="solid"/>
              <a:headEnd type="none" w="med" len="med"/>
              <a:tailEnd type="none" w="med" len="med"/>
            </a:ln>
          </p:spPr>
        </p:sp>
        <p:sp>
          <p:nvSpPr>
            <p:cNvPr id="16424" name="Line 14"/>
            <p:cNvSpPr/>
            <p:nvPr/>
          </p:nvSpPr>
          <p:spPr>
            <a:xfrm>
              <a:off x="1544" y="2741"/>
              <a:ext cx="503" cy="0"/>
            </a:xfrm>
            <a:prstGeom prst="line">
              <a:avLst/>
            </a:prstGeom>
            <a:ln w="38100" cap="flat" cmpd="sng">
              <a:solidFill>
                <a:schemeClr val="accent2"/>
              </a:solidFill>
              <a:prstDash val="solid"/>
              <a:headEnd type="none" w="med" len="med"/>
              <a:tailEnd type="arrow" w="med" len="med"/>
            </a:ln>
          </p:spPr>
        </p:sp>
        <p:sp>
          <p:nvSpPr>
            <p:cNvPr id="16425" name="Line 15"/>
            <p:cNvSpPr/>
            <p:nvPr/>
          </p:nvSpPr>
          <p:spPr>
            <a:xfrm flipV="1">
              <a:off x="1554" y="1443"/>
              <a:ext cx="706" cy="10"/>
            </a:xfrm>
            <a:prstGeom prst="line">
              <a:avLst/>
            </a:prstGeom>
            <a:ln w="38100" cap="flat" cmpd="sng">
              <a:solidFill>
                <a:schemeClr val="accent2"/>
              </a:solidFill>
              <a:prstDash val="solid"/>
              <a:headEnd type="none" w="med" len="med"/>
              <a:tailEnd type="none" w="med" len="med"/>
            </a:ln>
          </p:spPr>
        </p:sp>
        <p:sp>
          <p:nvSpPr>
            <p:cNvPr id="16426" name="Line 16"/>
            <p:cNvSpPr/>
            <p:nvPr/>
          </p:nvSpPr>
          <p:spPr>
            <a:xfrm>
              <a:off x="1554" y="1443"/>
              <a:ext cx="0" cy="1294"/>
            </a:xfrm>
            <a:prstGeom prst="line">
              <a:avLst/>
            </a:prstGeom>
            <a:ln w="38100" cap="flat" cmpd="sng">
              <a:solidFill>
                <a:schemeClr val="accent2"/>
              </a:solidFill>
              <a:prstDash val="solid"/>
              <a:headEnd type="none" w="med" len="med"/>
              <a:tailEnd type="none" w="med" len="med"/>
            </a:ln>
          </p:spPr>
        </p:sp>
      </p:grpSp>
      <p:sp>
        <p:nvSpPr>
          <p:cNvPr id="16397" name="Rectangle 17"/>
          <p:cNvSpPr/>
          <p:nvPr/>
        </p:nvSpPr>
        <p:spPr>
          <a:xfrm>
            <a:off x="2698750" y="3022600"/>
            <a:ext cx="1584325" cy="1468438"/>
          </a:xfrm>
          <a:prstGeom prst="rect">
            <a:avLst/>
          </a:prstGeom>
          <a:noFill/>
          <a:ln w="38100"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6398" name="Text Box 18"/>
          <p:cNvSpPr txBox="1"/>
          <p:nvPr/>
        </p:nvSpPr>
        <p:spPr>
          <a:xfrm>
            <a:off x="2746375" y="2609850"/>
            <a:ext cx="1692275" cy="396875"/>
          </a:xfrm>
          <a:prstGeom prst="rect">
            <a:avLst/>
          </a:prstGeom>
          <a:noFill/>
          <a:ln w="38100">
            <a:noFill/>
          </a:ln>
        </p:spPr>
        <p:txBody>
          <a:bodyPr>
            <a:spAutoFit/>
          </a:bodyPr>
          <a:lstStyle/>
          <a:p>
            <a:pPr>
              <a:spcBef>
                <a:spcPct val="50000"/>
              </a:spcBef>
            </a:pPr>
            <a:r>
              <a:rPr lang="zh-CN" altLang="en-US" sz="2000" dirty="0">
                <a:solidFill>
                  <a:schemeClr val="tx1"/>
                </a:solidFill>
                <a:latin typeface="Times New Roman" panose="02020603050405020304" pitchFamily="18" charset="0"/>
                <a:ea typeface="黑体" panose="02010609060101010101" pitchFamily="49" charset="-122"/>
              </a:rPr>
              <a:t>寄存器堆</a:t>
            </a:r>
            <a:endParaRPr lang="en-US" altLang="zh-CN" sz="2000" dirty="0">
              <a:solidFill>
                <a:schemeClr val="tx1"/>
              </a:solidFill>
              <a:latin typeface="Times New Roman" panose="02020603050405020304" pitchFamily="18" charset="0"/>
              <a:ea typeface="黑体" panose="02010609060101010101" pitchFamily="49" charset="-122"/>
            </a:endParaRPr>
          </a:p>
        </p:txBody>
      </p:sp>
      <p:sp>
        <p:nvSpPr>
          <p:cNvPr id="16399" name="Line 19"/>
          <p:cNvSpPr/>
          <p:nvPr/>
        </p:nvSpPr>
        <p:spPr>
          <a:xfrm>
            <a:off x="2698750" y="3527425"/>
            <a:ext cx="1584325" cy="0"/>
          </a:xfrm>
          <a:prstGeom prst="line">
            <a:avLst/>
          </a:prstGeom>
          <a:ln w="38100" cap="flat" cmpd="sng">
            <a:solidFill>
              <a:schemeClr val="tx1"/>
            </a:solidFill>
            <a:prstDash val="solid"/>
            <a:headEnd type="none" w="med" len="med"/>
            <a:tailEnd type="none" w="med" len="med"/>
          </a:ln>
        </p:spPr>
      </p:sp>
      <p:sp>
        <p:nvSpPr>
          <p:cNvPr id="16400" name="Line 20"/>
          <p:cNvSpPr/>
          <p:nvPr/>
        </p:nvSpPr>
        <p:spPr>
          <a:xfrm>
            <a:off x="2692400" y="3940175"/>
            <a:ext cx="1584325" cy="0"/>
          </a:xfrm>
          <a:prstGeom prst="line">
            <a:avLst/>
          </a:prstGeom>
          <a:ln w="38100" cap="flat" cmpd="sng">
            <a:solidFill>
              <a:schemeClr val="tx1"/>
            </a:solidFill>
            <a:prstDash val="solid"/>
            <a:headEnd type="none" w="med" len="med"/>
            <a:tailEnd type="none" w="med" len="med"/>
          </a:ln>
        </p:spPr>
      </p:sp>
      <p:sp>
        <p:nvSpPr>
          <p:cNvPr id="16401" name="Line 21"/>
          <p:cNvSpPr/>
          <p:nvPr/>
        </p:nvSpPr>
        <p:spPr>
          <a:xfrm>
            <a:off x="4916488" y="2363788"/>
            <a:ext cx="973137" cy="0"/>
          </a:xfrm>
          <a:prstGeom prst="line">
            <a:avLst/>
          </a:prstGeom>
          <a:ln w="38100" cap="flat" cmpd="sng">
            <a:solidFill>
              <a:schemeClr val="tx2"/>
            </a:solidFill>
            <a:prstDash val="solid"/>
            <a:headEnd type="none" w="med" len="med"/>
            <a:tailEnd type="arrow" w="med" len="med"/>
          </a:ln>
        </p:spPr>
      </p:sp>
      <p:sp>
        <p:nvSpPr>
          <p:cNvPr id="16402" name="Text Box 22"/>
          <p:cNvSpPr txBox="1"/>
          <p:nvPr/>
        </p:nvSpPr>
        <p:spPr>
          <a:xfrm>
            <a:off x="3849688" y="820738"/>
            <a:ext cx="417512" cy="457200"/>
          </a:xfrm>
          <a:prstGeom prst="rect">
            <a:avLst/>
          </a:prstGeom>
          <a:noFill/>
          <a:ln w="38100">
            <a:noFill/>
          </a:ln>
        </p:spPr>
        <p:txBody>
          <a:bodyPr>
            <a:spAutoFit/>
          </a:bodyPr>
          <a:lstStyle/>
          <a:p>
            <a:pPr>
              <a:spcBef>
                <a:spcPct val="50000"/>
              </a:spcBef>
            </a:pPr>
            <a:r>
              <a:rPr lang="en-US" altLang="zh-CN" sz="2400" dirty="0">
                <a:solidFill>
                  <a:schemeClr val="tx1"/>
                </a:solidFill>
                <a:latin typeface="Arial" panose="020B0604020202020204" pitchFamily="34" charset="0"/>
              </a:rPr>
              <a:t>A</a:t>
            </a:r>
            <a:endParaRPr lang="en-US" altLang="zh-CN" sz="2400" dirty="0">
              <a:solidFill>
                <a:schemeClr val="tx1"/>
              </a:solidFill>
              <a:latin typeface="Arial" panose="020B0604020202020204" pitchFamily="34" charset="0"/>
            </a:endParaRPr>
          </a:p>
        </p:txBody>
      </p:sp>
      <p:sp>
        <p:nvSpPr>
          <p:cNvPr id="16403" name="Line 23"/>
          <p:cNvSpPr/>
          <p:nvPr/>
        </p:nvSpPr>
        <p:spPr>
          <a:xfrm flipH="1">
            <a:off x="4737100" y="2498725"/>
            <a:ext cx="0" cy="1300163"/>
          </a:xfrm>
          <a:prstGeom prst="line">
            <a:avLst/>
          </a:prstGeom>
          <a:ln w="38100" cap="flat" cmpd="sng">
            <a:solidFill>
              <a:schemeClr val="accent2"/>
            </a:solidFill>
            <a:prstDash val="solid"/>
            <a:headEnd type="arrow" w="med" len="med"/>
            <a:tailEnd type="none" w="med" len="med"/>
          </a:ln>
        </p:spPr>
      </p:sp>
      <p:sp>
        <p:nvSpPr>
          <p:cNvPr id="16404" name="Line 24"/>
          <p:cNvSpPr/>
          <p:nvPr/>
        </p:nvSpPr>
        <p:spPr>
          <a:xfrm>
            <a:off x="4248150" y="3789363"/>
            <a:ext cx="488950" cy="0"/>
          </a:xfrm>
          <a:prstGeom prst="line">
            <a:avLst/>
          </a:prstGeom>
          <a:ln w="38100" cap="flat" cmpd="sng">
            <a:solidFill>
              <a:schemeClr val="accent2"/>
            </a:solidFill>
            <a:prstDash val="solid"/>
            <a:headEnd type="none" w="med" len="med"/>
            <a:tailEnd type="none" w="med" len="med"/>
          </a:ln>
        </p:spPr>
      </p:sp>
      <p:sp>
        <p:nvSpPr>
          <p:cNvPr id="16405" name="Line 25"/>
          <p:cNvSpPr/>
          <p:nvPr/>
        </p:nvSpPr>
        <p:spPr>
          <a:xfrm>
            <a:off x="4035425" y="1355725"/>
            <a:ext cx="0" cy="303213"/>
          </a:xfrm>
          <a:prstGeom prst="line">
            <a:avLst/>
          </a:prstGeom>
          <a:ln w="38100" cap="flat" cmpd="sng">
            <a:solidFill>
              <a:schemeClr val="accent2"/>
            </a:solidFill>
            <a:prstDash val="solid"/>
            <a:headEnd type="none" w="med" len="med"/>
            <a:tailEnd type="none" w="med" len="med"/>
          </a:ln>
        </p:spPr>
      </p:sp>
      <p:sp>
        <p:nvSpPr>
          <p:cNvPr id="16406" name="Line 26"/>
          <p:cNvSpPr/>
          <p:nvPr/>
        </p:nvSpPr>
        <p:spPr>
          <a:xfrm>
            <a:off x="4035425" y="1658938"/>
            <a:ext cx="701675" cy="0"/>
          </a:xfrm>
          <a:prstGeom prst="line">
            <a:avLst/>
          </a:prstGeom>
          <a:ln w="38100" cap="flat" cmpd="sng">
            <a:solidFill>
              <a:schemeClr val="accent2"/>
            </a:solidFill>
            <a:prstDash val="solid"/>
            <a:headEnd type="none" w="med" len="med"/>
            <a:tailEnd type="none" w="med" len="med"/>
          </a:ln>
        </p:spPr>
      </p:sp>
      <p:sp>
        <p:nvSpPr>
          <p:cNvPr id="16407" name="Line 27"/>
          <p:cNvSpPr/>
          <p:nvPr/>
        </p:nvSpPr>
        <p:spPr>
          <a:xfrm>
            <a:off x="4721225" y="1658938"/>
            <a:ext cx="0" cy="447675"/>
          </a:xfrm>
          <a:prstGeom prst="line">
            <a:avLst/>
          </a:prstGeom>
          <a:ln w="38100" cap="flat" cmpd="sng">
            <a:solidFill>
              <a:schemeClr val="accent2"/>
            </a:solidFill>
            <a:prstDash val="solid"/>
            <a:headEnd type="none" w="med" len="med"/>
            <a:tailEnd type="arrow" w="med" len="med"/>
          </a:ln>
        </p:spPr>
      </p:sp>
      <p:sp>
        <p:nvSpPr>
          <p:cNvPr id="16408" name="Oval 28"/>
          <p:cNvSpPr/>
          <p:nvPr/>
        </p:nvSpPr>
        <p:spPr>
          <a:xfrm>
            <a:off x="4554538" y="2122488"/>
            <a:ext cx="361950" cy="396875"/>
          </a:xfrm>
          <a:prstGeom prst="ellipse">
            <a:avLst/>
          </a:prstGeom>
          <a:solidFill>
            <a:schemeClr val="hlink"/>
          </a:solidFill>
          <a:ln w="38100"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6409" name="Text Box 29"/>
          <p:cNvSpPr txBox="1"/>
          <p:nvPr/>
        </p:nvSpPr>
        <p:spPr>
          <a:xfrm>
            <a:off x="4554538" y="2070100"/>
            <a:ext cx="361950" cy="457200"/>
          </a:xfrm>
          <a:prstGeom prst="rect">
            <a:avLst/>
          </a:prstGeom>
          <a:noFill/>
          <a:ln w="38100">
            <a:noFill/>
          </a:ln>
        </p:spPr>
        <p:txBody>
          <a:bodyPr>
            <a:spAutoFit/>
          </a:bodyPr>
          <a:lstStyle/>
          <a:p>
            <a:pPr>
              <a:spcBef>
                <a:spcPct val="50000"/>
              </a:spcBef>
            </a:pPr>
            <a:r>
              <a:rPr lang="zh-CN" altLang="en-US" sz="2400" dirty="0">
                <a:solidFill>
                  <a:schemeClr val="tx1"/>
                </a:solidFill>
                <a:latin typeface="Arial" panose="020B0604020202020204" pitchFamily="34" charset="0"/>
              </a:rPr>
              <a:t>+</a:t>
            </a:r>
            <a:endParaRPr lang="zh-CN" altLang="en-US" sz="2400" dirty="0">
              <a:solidFill>
                <a:schemeClr val="tx1"/>
              </a:solidFill>
              <a:latin typeface="Arial" panose="020B0604020202020204" pitchFamily="34" charset="0"/>
            </a:endParaRPr>
          </a:p>
        </p:txBody>
      </p:sp>
      <p:sp>
        <p:nvSpPr>
          <p:cNvPr id="16410" name="Line 30"/>
          <p:cNvSpPr/>
          <p:nvPr/>
        </p:nvSpPr>
        <p:spPr>
          <a:xfrm>
            <a:off x="5889625" y="1306513"/>
            <a:ext cx="1584325" cy="0"/>
          </a:xfrm>
          <a:prstGeom prst="line">
            <a:avLst/>
          </a:prstGeom>
          <a:ln w="38100" cap="flat" cmpd="sng">
            <a:solidFill>
              <a:schemeClr val="tx1"/>
            </a:solidFill>
            <a:prstDash val="solid"/>
            <a:headEnd type="none" w="med" len="med"/>
            <a:tailEnd type="none" w="med" len="med"/>
          </a:ln>
        </p:spPr>
      </p:sp>
      <p:sp>
        <p:nvSpPr>
          <p:cNvPr id="16411" name="Line 31"/>
          <p:cNvSpPr/>
          <p:nvPr/>
        </p:nvSpPr>
        <p:spPr>
          <a:xfrm>
            <a:off x="4737100" y="3797300"/>
            <a:ext cx="3132138" cy="0"/>
          </a:xfrm>
          <a:prstGeom prst="line">
            <a:avLst/>
          </a:prstGeom>
          <a:ln w="38100" cap="flat" cmpd="sng">
            <a:solidFill>
              <a:schemeClr val="tx1"/>
            </a:solidFill>
            <a:prstDash val="sysDot"/>
            <a:headEnd type="none" w="med" len="med"/>
            <a:tailEnd type="none" w="med" len="med"/>
          </a:ln>
        </p:spPr>
      </p:sp>
      <p:sp>
        <p:nvSpPr>
          <p:cNvPr id="16412" name="Line 32"/>
          <p:cNvSpPr/>
          <p:nvPr/>
        </p:nvSpPr>
        <p:spPr>
          <a:xfrm>
            <a:off x="7869238" y="1306513"/>
            <a:ext cx="0" cy="2476500"/>
          </a:xfrm>
          <a:prstGeom prst="line">
            <a:avLst/>
          </a:prstGeom>
          <a:ln w="38100" cap="flat" cmpd="sng">
            <a:solidFill>
              <a:schemeClr val="tx1"/>
            </a:solidFill>
            <a:prstDash val="sysDot"/>
            <a:headEnd type="none" w="med" len="med"/>
            <a:tailEnd type="none" w="med" len="med"/>
          </a:ln>
        </p:spPr>
      </p:sp>
      <p:sp>
        <p:nvSpPr>
          <p:cNvPr id="16413" name="Line 33"/>
          <p:cNvSpPr/>
          <p:nvPr/>
        </p:nvSpPr>
        <p:spPr>
          <a:xfrm flipH="1">
            <a:off x="7478713" y="1306513"/>
            <a:ext cx="390525" cy="0"/>
          </a:xfrm>
          <a:prstGeom prst="line">
            <a:avLst/>
          </a:prstGeom>
          <a:ln w="38100" cap="flat" cmpd="sng">
            <a:solidFill>
              <a:schemeClr val="tx1"/>
            </a:solidFill>
            <a:prstDash val="sysDot"/>
            <a:headEnd type="none" w="med" len="med"/>
            <a:tailEnd type="triangle" w="med" len="med"/>
          </a:ln>
        </p:spPr>
      </p:sp>
      <p:sp>
        <p:nvSpPr>
          <p:cNvPr id="16414" name="Line 34"/>
          <p:cNvSpPr/>
          <p:nvPr/>
        </p:nvSpPr>
        <p:spPr>
          <a:xfrm>
            <a:off x="5484813" y="1306513"/>
            <a:ext cx="404812" cy="0"/>
          </a:xfrm>
          <a:prstGeom prst="line">
            <a:avLst/>
          </a:prstGeom>
          <a:ln w="38100" cap="flat" cmpd="sng">
            <a:solidFill>
              <a:schemeClr val="tx1"/>
            </a:solidFill>
            <a:prstDash val="sysDot"/>
            <a:headEnd type="none" w="med" len="med"/>
            <a:tailEnd type="none" w="med" len="med"/>
          </a:ln>
        </p:spPr>
      </p:sp>
      <p:sp>
        <p:nvSpPr>
          <p:cNvPr id="16415" name="Line 35"/>
          <p:cNvSpPr/>
          <p:nvPr/>
        </p:nvSpPr>
        <p:spPr>
          <a:xfrm>
            <a:off x="5699125" y="1306513"/>
            <a:ext cx="0" cy="422275"/>
          </a:xfrm>
          <a:prstGeom prst="line">
            <a:avLst/>
          </a:prstGeom>
          <a:ln w="38100" cap="flat" cmpd="sng">
            <a:solidFill>
              <a:schemeClr val="tx1"/>
            </a:solidFill>
            <a:prstDash val="sysDot"/>
            <a:headEnd type="triangle" w="med" len="med"/>
            <a:tailEnd type="none" w="med" len="med"/>
          </a:ln>
        </p:spPr>
      </p:sp>
      <p:sp>
        <p:nvSpPr>
          <p:cNvPr id="16416" name="Line 36"/>
          <p:cNvSpPr/>
          <p:nvPr/>
        </p:nvSpPr>
        <p:spPr>
          <a:xfrm>
            <a:off x="5699125" y="1658938"/>
            <a:ext cx="0" cy="704850"/>
          </a:xfrm>
          <a:prstGeom prst="line">
            <a:avLst/>
          </a:prstGeom>
          <a:ln w="38100" cap="flat" cmpd="sng">
            <a:solidFill>
              <a:schemeClr val="tx1"/>
            </a:solidFill>
            <a:prstDash val="sysDot"/>
            <a:headEnd type="none" w="med" len="med"/>
            <a:tailEnd type="triangle" w="med" len="med"/>
          </a:ln>
        </p:spPr>
      </p:sp>
      <p:sp>
        <p:nvSpPr>
          <p:cNvPr id="16417" name="Text Box 37"/>
          <p:cNvSpPr txBox="1"/>
          <p:nvPr/>
        </p:nvSpPr>
        <p:spPr>
          <a:xfrm>
            <a:off x="5307013" y="1487488"/>
            <a:ext cx="525462" cy="457200"/>
          </a:xfrm>
          <a:prstGeom prst="rect">
            <a:avLst/>
          </a:prstGeom>
          <a:noFill/>
          <a:ln w="38100">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A</a:t>
            </a:r>
            <a:endParaRPr lang="en-US" altLang="zh-CN" sz="2400" b="0" dirty="0">
              <a:solidFill>
                <a:schemeClr val="tx1"/>
              </a:solidFill>
              <a:latin typeface="Times New Roman" panose="02020603050405020304" pitchFamily="18" charset="0"/>
            </a:endParaRPr>
          </a:p>
        </p:txBody>
      </p:sp>
      <p:sp>
        <p:nvSpPr>
          <p:cNvPr id="16418" name="Text Box 38"/>
          <p:cNvSpPr txBox="1"/>
          <p:nvPr/>
        </p:nvSpPr>
        <p:spPr>
          <a:xfrm>
            <a:off x="2195513" y="858838"/>
            <a:ext cx="793750" cy="457200"/>
          </a:xfrm>
          <a:prstGeom prst="rect">
            <a:avLst/>
          </a:prstGeom>
          <a:noFill/>
          <a:ln w="38100">
            <a:noFill/>
          </a:ln>
        </p:spPr>
        <p:txBody>
          <a:bodyPr>
            <a:spAutoFit/>
          </a:bodyPr>
          <a:lstStyle/>
          <a:p>
            <a:pPr>
              <a:spcBef>
                <a:spcPct val="50000"/>
              </a:spcBef>
            </a:pPr>
            <a:r>
              <a:rPr lang="en-US" altLang="zh-CN" sz="2400" dirty="0">
                <a:solidFill>
                  <a:schemeClr val="tx1"/>
                </a:solidFill>
                <a:latin typeface="Arial" panose="020B0604020202020204" pitchFamily="34" charset="0"/>
              </a:rPr>
              <a:t>OP</a:t>
            </a:r>
            <a:endParaRPr lang="en-US" altLang="zh-CN" sz="2400" dirty="0">
              <a:solidFill>
                <a:schemeClr val="tx1"/>
              </a:solidFill>
              <a:latin typeface="Arial" panose="020B0604020202020204" pitchFamily="34" charset="0"/>
            </a:endParaRPr>
          </a:p>
        </p:txBody>
      </p:sp>
      <p:sp>
        <p:nvSpPr>
          <p:cNvPr id="372775" name="Rectangle 39"/>
          <p:cNvSpPr/>
          <p:nvPr/>
        </p:nvSpPr>
        <p:spPr>
          <a:xfrm>
            <a:off x="192088" y="4549775"/>
            <a:ext cx="8269287" cy="2117725"/>
          </a:xfrm>
          <a:prstGeom prst="rect">
            <a:avLst/>
          </a:prstGeom>
          <a:noFill/>
          <a:ln w="12700">
            <a:noFill/>
          </a:ln>
        </p:spPr>
        <p:txBody>
          <a:bodyPr lIns="63500" tIns="25400" rIns="63500" bIns="25400">
            <a:spAutoFit/>
          </a:bodyPr>
          <a:lstStyle/>
          <a:p>
            <a:pPr>
              <a:lnSpc>
                <a:spcPct val="120000"/>
              </a:lnSpc>
              <a:spcBef>
                <a:spcPct val="20000"/>
              </a:spcBef>
            </a:pPr>
            <a:r>
              <a:rPr lang="zh-CN" altLang="en-US" sz="2000" dirty="0">
                <a:solidFill>
                  <a:srgbClr val="A50021"/>
                </a:solidFill>
                <a:latin typeface="Arial" panose="020B0604020202020204" pitchFamily="34" charset="0"/>
                <a:ea typeface="黑体" panose="02010609060101010101" pitchFamily="49" charset="-122"/>
              </a:rPr>
              <a:t>偏移寻址：</a:t>
            </a:r>
            <a:r>
              <a:rPr lang="en-US" altLang="zh-CN" sz="2000" dirty="0">
                <a:solidFill>
                  <a:srgbClr val="A50021"/>
                </a:solidFill>
                <a:latin typeface="Arial" panose="020B0604020202020204" pitchFamily="34" charset="0"/>
                <a:ea typeface="黑体" panose="02010609060101010101" pitchFamily="49" charset="-122"/>
              </a:rPr>
              <a:t>EA=A+(R)   R</a:t>
            </a:r>
            <a:r>
              <a:rPr lang="zh-CN" altLang="en-US" sz="2000" dirty="0">
                <a:solidFill>
                  <a:srgbClr val="A50021"/>
                </a:solidFill>
                <a:latin typeface="Arial" panose="020B0604020202020204" pitchFamily="34" charset="0"/>
                <a:ea typeface="黑体" panose="02010609060101010101" pitchFamily="49" charset="-122"/>
              </a:rPr>
              <a:t>可以明显给出，也可以隐含给出</a:t>
            </a:r>
            <a:endParaRPr lang="zh-CN" altLang="en-US" sz="2000" dirty="0">
              <a:solidFill>
                <a:srgbClr val="A50021"/>
              </a:solidFill>
              <a:latin typeface="Arial" panose="020B0604020202020204" pitchFamily="34" charset="0"/>
              <a:ea typeface="黑体" panose="02010609060101010101" pitchFamily="49" charset="-122"/>
            </a:endParaRPr>
          </a:p>
          <a:p>
            <a:pPr>
              <a:lnSpc>
                <a:spcPct val="120000"/>
              </a:lnSpc>
              <a:spcBef>
                <a:spcPct val="20000"/>
              </a:spcBef>
            </a:pPr>
            <a:r>
              <a:rPr lang="zh-CN" altLang="en-US" sz="2000" dirty="0">
                <a:solidFill>
                  <a:srgbClr val="A50021"/>
                </a:solidFill>
                <a:latin typeface="Arial" panose="020B0604020202020204" pitchFamily="34" charset="0"/>
                <a:ea typeface="黑体" panose="02010609060101010101" pitchFamily="49" charset="-122"/>
              </a:rPr>
              <a:t>                                      </a:t>
            </a:r>
            <a:r>
              <a:rPr lang="en-US" altLang="zh-CN" sz="2000" dirty="0">
                <a:solidFill>
                  <a:srgbClr val="A50021"/>
                </a:solidFill>
                <a:latin typeface="Arial" panose="020B0604020202020204" pitchFamily="34" charset="0"/>
                <a:ea typeface="黑体" panose="02010609060101010101" pitchFamily="49" charset="-122"/>
              </a:rPr>
              <a:t>R</a:t>
            </a:r>
            <a:r>
              <a:rPr lang="zh-CN" altLang="en-US" sz="2000" dirty="0">
                <a:solidFill>
                  <a:srgbClr val="A50021"/>
                </a:solidFill>
                <a:latin typeface="Arial" panose="020B0604020202020204" pitchFamily="34" charset="0"/>
                <a:ea typeface="黑体" panose="02010609060101010101" pitchFamily="49" charset="-122"/>
              </a:rPr>
              <a:t>可以为</a:t>
            </a:r>
            <a:r>
              <a:rPr lang="en-US" altLang="zh-CN" sz="2000" dirty="0">
                <a:solidFill>
                  <a:srgbClr val="A50021"/>
                </a:solidFill>
                <a:latin typeface="Arial" panose="020B0604020202020204" pitchFamily="34" charset="0"/>
                <a:ea typeface="黑体" panose="02010609060101010101" pitchFamily="49" charset="-122"/>
              </a:rPr>
              <a:t>PC</a:t>
            </a:r>
            <a:r>
              <a:rPr lang="zh-CN" altLang="en-US" sz="2000" dirty="0">
                <a:solidFill>
                  <a:srgbClr val="A50021"/>
                </a:solidFill>
                <a:latin typeface="Arial" panose="020B0604020202020204" pitchFamily="34" charset="0"/>
                <a:ea typeface="黑体" panose="02010609060101010101" pitchFamily="49" charset="-122"/>
              </a:rPr>
              <a:t>、基址寄存器</a:t>
            </a:r>
            <a:r>
              <a:rPr lang="en-US" altLang="zh-CN" sz="2000" dirty="0">
                <a:solidFill>
                  <a:srgbClr val="A50021"/>
                </a:solidFill>
                <a:latin typeface="Arial" panose="020B0604020202020204" pitchFamily="34" charset="0"/>
                <a:ea typeface="黑体" panose="02010609060101010101" pitchFamily="49" charset="-122"/>
              </a:rPr>
              <a:t>B</a:t>
            </a:r>
            <a:r>
              <a:rPr lang="zh-CN" altLang="en-US" sz="2000" dirty="0">
                <a:solidFill>
                  <a:srgbClr val="A50021"/>
                </a:solidFill>
                <a:latin typeface="Arial" panose="020B0604020202020204" pitchFamily="34" charset="0"/>
                <a:ea typeface="黑体" panose="02010609060101010101" pitchFamily="49" charset="-122"/>
              </a:rPr>
              <a:t>、变址寄存器 </a:t>
            </a:r>
            <a:r>
              <a:rPr lang="en-US" altLang="zh-CN" sz="2000" dirty="0">
                <a:solidFill>
                  <a:srgbClr val="A50021"/>
                </a:solidFill>
                <a:latin typeface="Arial" panose="020B0604020202020204" pitchFamily="34" charset="0"/>
                <a:ea typeface="黑体" panose="02010609060101010101" pitchFamily="49" charset="-122"/>
              </a:rPr>
              <a:t>I</a:t>
            </a:r>
            <a:endParaRPr lang="en-US" altLang="zh-CN" sz="2000" dirty="0">
              <a:solidFill>
                <a:srgbClr val="A50021"/>
              </a:solidFill>
              <a:latin typeface="Arial" panose="020B0604020202020204" pitchFamily="34" charset="0"/>
              <a:ea typeface="黑体" panose="02010609060101010101" pitchFamily="49" charset="-122"/>
            </a:endParaRPr>
          </a:p>
          <a:p>
            <a:pPr lvl="1">
              <a:lnSpc>
                <a:spcPct val="120000"/>
              </a:lnSpc>
              <a:spcBef>
                <a:spcPct val="20000"/>
              </a:spcBef>
              <a:buChar char="•"/>
            </a:pPr>
            <a:r>
              <a:rPr lang="zh-CN" altLang="en-US" sz="2000" dirty="0">
                <a:solidFill>
                  <a:schemeClr val="tx1"/>
                </a:solidFill>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相对寻址： </a:t>
            </a:r>
            <a:r>
              <a:rPr lang="en-US" altLang="zh-CN" sz="2000" dirty="0">
                <a:latin typeface="Arial" panose="020B0604020202020204" pitchFamily="34" charset="0"/>
                <a:ea typeface="黑体" panose="02010609060101010101" pitchFamily="49" charset="-122"/>
              </a:rPr>
              <a:t>EA=A+(PC)    </a:t>
            </a:r>
            <a:r>
              <a:rPr lang="zh-CN" altLang="en-US" sz="2000" dirty="0">
                <a:latin typeface="Arial" panose="020B0604020202020204" pitchFamily="34" charset="0"/>
                <a:ea typeface="黑体" panose="02010609060101010101" pitchFamily="49" charset="-122"/>
              </a:rPr>
              <a:t>相对于</a:t>
            </a:r>
            <a:r>
              <a:rPr lang="zh-CN" altLang="en-US" sz="2000" dirty="0">
                <a:solidFill>
                  <a:schemeClr val="accent1"/>
                </a:solidFill>
                <a:latin typeface="Arial" panose="020B0604020202020204" pitchFamily="34" charset="0"/>
                <a:ea typeface="黑体" panose="02010609060101010101" pitchFamily="49" charset="-122"/>
              </a:rPr>
              <a:t>当前指令处</a:t>
            </a:r>
            <a:r>
              <a:rPr lang="zh-CN" altLang="en-US" sz="2000" dirty="0">
                <a:latin typeface="Arial" panose="020B0604020202020204" pitchFamily="34" charset="0"/>
                <a:ea typeface="黑体" panose="02010609060101010101" pitchFamily="49" charset="-122"/>
              </a:rPr>
              <a:t>位移量为</a:t>
            </a:r>
            <a:r>
              <a:rPr lang="en-US" altLang="zh-CN" sz="2000" dirty="0">
                <a:latin typeface="Arial" panose="020B0604020202020204" pitchFamily="34" charset="0"/>
                <a:ea typeface="黑体" panose="02010609060101010101" pitchFamily="49" charset="-122"/>
              </a:rPr>
              <a:t>A</a:t>
            </a:r>
            <a:r>
              <a:rPr lang="zh-CN" altLang="en-US" sz="2000" dirty="0">
                <a:latin typeface="Arial" panose="020B0604020202020204" pitchFamily="34" charset="0"/>
                <a:ea typeface="黑体" panose="02010609060101010101" pitchFamily="49" charset="-122"/>
              </a:rPr>
              <a:t>的单元</a:t>
            </a:r>
            <a:endParaRPr lang="zh-CN" altLang="en-US" sz="2000" dirty="0">
              <a:latin typeface="Arial" panose="020B0604020202020204" pitchFamily="34" charset="0"/>
              <a:ea typeface="黑体" panose="02010609060101010101" pitchFamily="49" charset="-122"/>
            </a:endParaRPr>
          </a:p>
          <a:p>
            <a:pPr lvl="1">
              <a:lnSpc>
                <a:spcPct val="120000"/>
              </a:lnSpc>
              <a:spcBef>
                <a:spcPct val="20000"/>
              </a:spcBef>
              <a:buChar char="•"/>
            </a:pPr>
            <a:r>
              <a:rPr lang="zh-CN" altLang="en-US" sz="2000" dirty="0">
                <a:solidFill>
                  <a:schemeClr val="tx1"/>
                </a:solidFill>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基址寻址： </a:t>
            </a:r>
            <a:r>
              <a:rPr lang="en-US" altLang="zh-CN" sz="2000" dirty="0">
                <a:latin typeface="Arial" panose="020B0604020202020204" pitchFamily="34" charset="0"/>
                <a:ea typeface="黑体" panose="02010609060101010101" pitchFamily="49" charset="-122"/>
              </a:rPr>
              <a:t>EA=A+(B)      </a:t>
            </a:r>
            <a:r>
              <a:rPr lang="zh-CN" altLang="en-US" sz="2000" dirty="0">
                <a:latin typeface="Arial" panose="020B0604020202020204" pitchFamily="34" charset="0"/>
                <a:ea typeface="黑体" panose="02010609060101010101" pitchFamily="49" charset="-122"/>
              </a:rPr>
              <a:t>相对于</a:t>
            </a:r>
            <a:r>
              <a:rPr lang="zh-CN" altLang="en-US" sz="2000" dirty="0">
                <a:solidFill>
                  <a:schemeClr val="accent1"/>
                </a:solidFill>
                <a:latin typeface="Arial" panose="020B0604020202020204" pitchFamily="34" charset="0"/>
                <a:ea typeface="黑体" panose="02010609060101010101" pitchFamily="49" charset="-122"/>
              </a:rPr>
              <a:t>基址</a:t>
            </a:r>
            <a:r>
              <a:rPr lang="en-US" altLang="zh-CN" sz="2000" dirty="0">
                <a:solidFill>
                  <a:schemeClr val="accent1"/>
                </a:solidFill>
                <a:latin typeface="Arial" panose="020B0604020202020204" pitchFamily="34" charset="0"/>
                <a:ea typeface="黑体" panose="02010609060101010101" pitchFamily="49" charset="-122"/>
              </a:rPr>
              <a:t>(B)</a:t>
            </a:r>
            <a:r>
              <a:rPr lang="zh-CN" altLang="en-US" sz="2000" dirty="0">
                <a:solidFill>
                  <a:schemeClr val="accent1"/>
                </a:solidFill>
                <a:latin typeface="Arial" panose="020B0604020202020204" pitchFamily="34" charset="0"/>
                <a:ea typeface="黑体" panose="02010609060101010101" pitchFamily="49" charset="-122"/>
              </a:rPr>
              <a:t>处</a:t>
            </a:r>
            <a:r>
              <a:rPr lang="zh-CN" altLang="en-US" sz="2000" dirty="0">
                <a:latin typeface="Arial" panose="020B0604020202020204" pitchFamily="34" charset="0"/>
                <a:ea typeface="黑体" panose="02010609060101010101" pitchFamily="49" charset="-122"/>
              </a:rPr>
              <a:t>位移量为</a:t>
            </a:r>
            <a:r>
              <a:rPr lang="en-US" altLang="zh-CN" sz="2000" dirty="0">
                <a:latin typeface="Arial" panose="020B0604020202020204" pitchFamily="34" charset="0"/>
                <a:ea typeface="黑体" panose="02010609060101010101" pitchFamily="49" charset="-122"/>
              </a:rPr>
              <a:t>A</a:t>
            </a:r>
            <a:r>
              <a:rPr lang="zh-CN" altLang="en-US" sz="2000" dirty="0">
                <a:latin typeface="Arial" panose="020B0604020202020204" pitchFamily="34" charset="0"/>
                <a:ea typeface="黑体" panose="02010609060101010101" pitchFamily="49" charset="-122"/>
              </a:rPr>
              <a:t>的单元</a:t>
            </a:r>
            <a:endParaRPr lang="zh-CN" altLang="en-US" sz="2000" dirty="0">
              <a:latin typeface="Arial" panose="020B0604020202020204" pitchFamily="34" charset="0"/>
              <a:ea typeface="黑体" panose="02010609060101010101" pitchFamily="49" charset="-122"/>
            </a:endParaRPr>
          </a:p>
          <a:p>
            <a:pPr lvl="1">
              <a:lnSpc>
                <a:spcPct val="120000"/>
              </a:lnSpc>
              <a:spcBef>
                <a:spcPct val="20000"/>
              </a:spcBef>
              <a:buChar char="•"/>
            </a:pPr>
            <a:r>
              <a:rPr lang="zh-CN" altLang="en-US" sz="2000" dirty="0">
                <a:solidFill>
                  <a:schemeClr val="tx1"/>
                </a:solidFill>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变址寻址： </a:t>
            </a:r>
            <a:r>
              <a:rPr lang="en-US" altLang="zh-CN" sz="2000" dirty="0">
                <a:latin typeface="Arial" panose="020B0604020202020204" pitchFamily="34" charset="0"/>
                <a:ea typeface="黑体" panose="02010609060101010101" pitchFamily="49" charset="-122"/>
              </a:rPr>
              <a:t>EA=A+(I)        </a:t>
            </a:r>
            <a:r>
              <a:rPr lang="zh-CN" altLang="en-US" sz="2000" dirty="0">
                <a:latin typeface="Arial" panose="020B0604020202020204" pitchFamily="34" charset="0"/>
                <a:ea typeface="黑体" panose="02010609060101010101" pitchFamily="49" charset="-122"/>
              </a:rPr>
              <a:t>相对于</a:t>
            </a:r>
            <a:r>
              <a:rPr lang="zh-CN" altLang="en-US" sz="2000" dirty="0">
                <a:solidFill>
                  <a:schemeClr val="accent1"/>
                </a:solidFill>
                <a:latin typeface="Arial" panose="020B0604020202020204" pitchFamily="34" charset="0"/>
                <a:ea typeface="黑体" panose="02010609060101010101" pitchFamily="49" charset="-122"/>
              </a:rPr>
              <a:t>首址</a:t>
            </a:r>
            <a:r>
              <a:rPr lang="en-US" altLang="zh-CN" sz="2000" dirty="0">
                <a:solidFill>
                  <a:schemeClr val="accent1"/>
                </a:solidFill>
                <a:latin typeface="Arial" panose="020B0604020202020204" pitchFamily="34" charset="0"/>
                <a:ea typeface="黑体" panose="02010609060101010101" pitchFamily="49" charset="-122"/>
              </a:rPr>
              <a:t>A</a:t>
            </a:r>
            <a:r>
              <a:rPr lang="zh-CN" altLang="en-US" sz="2000" dirty="0">
                <a:solidFill>
                  <a:schemeClr val="accent1"/>
                </a:solidFill>
                <a:latin typeface="Arial" panose="020B0604020202020204" pitchFamily="34" charset="0"/>
                <a:ea typeface="黑体" panose="02010609060101010101" pitchFamily="49" charset="-122"/>
              </a:rPr>
              <a:t>处</a:t>
            </a:r>
            <a:r>
              <a:rPr lang="zh-CN" altLang="en-US" sz="2000" dirty="0">
                <a:latin typeface="Arial" panose="020B0604020202020204" pitchFamily="34" charset="0"/>
                <a:ea typeface="黑体" panose="02010609060101010101" pitchFamily="49" charset="-122"/>
              </a:rPr>
              <a:t>位移量为</a:t>
            </a:r>
            <a:r>
              <a:rPr lang="en-US" altLang="zh-CN" sz="2000" dirty="0">
                <a:latin typeface="Arial" panose="020B0604020202020204" pitchFamily="34" charset="0"/>
                <a:ea typeface="黑体" panose="02010609060101010101" pitchFamily="49" charset="-122"/>
              </a:rPr>
              <a:t>(I)</a:t>
            </a:r>
            <a:r>
              <a:rPr lang="zh-CN" altLang="en-US" sz="2000" dirty="0">
                <a:latin typeface="Arial" panose="020B0604020202020204" pitchFamily="34" charset="0"/>
                <a:ea typeface="黑体" panose="02010609060101010101" pitchFamily="49" charset="-122"/>
              </a:rPr>
              <a:t>的单元</a:t>
            </a:r>
            <a:endParaRPr lang="zh-CN" altLang="en-US" sz="2000" dirty="0">
              <a:latin typeface="Arial" panose="020B0604020202020204" pitchFamily="34" charset="0"/>
              <a:ea typeface="黑体" panose="02010609060101010101" pitchFamily="49" charset="-122"/>
            </a:endParaRPr>
          </a:p>
        </p:txBody>
      </p:sp>
      <p:sp>
        <p:nvSpPr>
          <p:cNvPr id="16420" name="Line 40"/>
          <p:cNvSpPr/>
          <p:nvPr/>
        </p:nvSpPr>
        <p:spPr>
          <a:xfrm>
            <a:off x="4403725" y="815975"/>
            <a:ext cx="0" cy="577850"/>
          </a:xfrm>
          <a:prstGeom prst="line">
            <a:avLst/>
          </a:prstGeom>
          <a:ln w="38100" cap="flat" cmpd="sng">
            <a:solidFill>
              <a:schemeClr val="tx1"/>
            </a:solidFill>
            <a:prstDash val="solid"/>
            <a:headEnd type="none" w="med" len="med"/>
            <a:tailEnd type="none" w="med" len="med"/>
          </a:ln>
        </p:spPr>
      </p:sp>
      <p:sp>
        <p:nvSpPr>
          <p:cNvPr id="16421" name="Text Box 41"/>
          <p:cNvSpPr txBox="1"/>
          <p:nvPr/>
        </p:nvSpPr>
        <p:spPr>
          <a:xfrm>
            <a:off x="4516438" y="841375"/>
            <a:ext cx="766762" cy="355600"/>
          </a:xfrm>
          <a:prstGeom prst="rect">
            <a:avLst/>
          </a:prstGeom>
          <a:noFill/>
          <a:ln w="12700">
            <a:noFill/>
          </a:ln>
        </p:spPr>
        <p:txBody>
          <a:bodyPr lIns="63500" tIns="25400" rIns="63500" bIns="25400">
            <a:spAutoFit/>
          </a:bodyPr>
          <a:lstStyle/>
          <a:p>
            <a:pPr>
              <a:spcBef>
                <a:spcPct val="50000"/>
              </a:spcBef>
            </a:pPr>
            <a:r>
              <a:rPr lang="en-US" altLang="zh-CN" sz="2000" dirty="0">
                <a:solidFill>
                  <a:schemeClr val="tx1"/>
                </a:solidFill>
                <a:latin typeface="Arial" panose="020B0604020202020204" pitchFamily="34" charset="0"/>
              </a:rPr>
              <a:t>......</a:t>
            </a:r>
            <a:endParaRPr lang="en-US" altLang="zh-CN" sz="2000" dirty="0">
              <a:solidFill>
                <a:schemeClr val="tx1"/>
              </a:solidFill>
              <a:latin typeface="Arial" panose="020B0604020202020204" pitchFamily="34" charset="0"/>
            </a:endParaRPr>
          </a:p>
        </p:txBody>
      </p:sp>
      <p:sp>
        <p:nvSpPr>
          <p:cNvPr id="372778" name="Text Box 42"/>
          <p:cNvSpPr txBox="1"/>
          <p:nvPr/>
        </p:nvSpPr>
        <p:spPr>
          <a:xfrm>
            <a:off x="246063" y="1238250"/>
            <a:ext cx="1270000" cy="1511300"/>
          </a:xfrm>
          <a:prstGeom prst="rect">
            <a:avLst/>
          </a:prstGeom>
          <a:noFill/>
          <a:ln w="12700">
            <a:noFill/>
          </a:ln>
        </p:spPr>
        <p:txBody>
          <a:bodyPr lIns="63500" tIns="25400" rIns="63500" bIns="25400">
            <a:spAutoFit/>
          </a:bodyPr>
          <a:lstStyle/>
          <a:p>
            <a:pPr>
              <a:lnSpc>
                <a:spcPct val="120000"/>
              </a:lnSpc>
              <a:spcBef>
                <a:spcPct val="50000"/>
              </a:spcBef>
            </a:pPr>
            <a:r>
              <a:rPr lang="zh-CN" altLang="en-US" sz="2000" dirty="0">
                <a:latin typeface="Arial" panose="020B0604020202020204" pitchFamily="34" charset="0"/>
                <a:ea typeface="黑体" panose="02010609060101010101" pitchFamily="49" charset="-122"/>
              </a:rPr>
              <a:t>指令中给出的地址码</a:t>
            </a:r>
            <a:r>
              <a:rPr lang="en-US" altLang="zh-CN" sz="2000" dirty="0">
                <a:latin typeface="Arial" panose="020B0604020202020204" pitchFamily="34" charset="0"/>
                <a:ea typeface="黑体" panose="02010609060101010101" pitchFamily="49" charset="-122"/>
              </a:rPr>
              <a:t>A</a:t>
            </a:r>
            <a:r>
              <a:rPr lang="zh-CN" altLang="en-US" sz="2000" dirty="0">
                <a:latin typeface="Arial" panose="020B0604020202020204" pitchFamily="34" charset="0"/>
                <a:ea typeface="黑体" panose="02010609060101010101" pitchFamily="49" charset="-122"/>
              </a:rPr>
              <a:t>称为</a:t>
            </a:r>
            <a:r>
              <a:rPr lang="zh-CN" altLang="en-US" sz="2000" dirty="0">
                <a:solidFill>
                  <a:srgbClr val="A50021"/>
                </a:solidFill>
                <a:latin typeface="Arial" panose="020B0604020202020204" pitchFamily="34" charset="0"/>
                <a:ea typeface="黑体" panose="02010609060101010101" pitchFamily="49" charset="-122"/>
              </a:rPr>
              <a:t>形式地址</a:t>
            </a:r>
            <a:endParaRPr lang="zh-CN" altLang="en-US" sz="2000" dirty="0">
              <a:solidFill>
                <a:srgbClr val="A50021"/>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2775">
                                            <p:txEl>
                                              <p:pRg st="2" end="2"/>
                                            </p:txEl>
                                          </p:spTgt>
                                        </p:tgtEl>
                                        <p:attrNameLst>
                                          <p:attrName>style.visibility</p:attrName>
                                        </p:attrNameLst>
                                      </p:cBhvr>
                                      <p:to>
                                        <p:strVal val="visible"/>
                                      </p:to>
                                    </p:set>
                                    <p:animEffect transition="in" filter="blinds(horizontal)">
                                      <p:cBhvr>
                                        <p:cTn id="7" dur="500"/>
                                        <p:tgtEl>
                                          <p:spTgt spid="37277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2775">
                                            <p:txEl>
                                              <p:pRg st="3" end="3"/>
                                            </p:txEl>
                                          </p:spTgt>
                                        </p:tgtEl>
                                        <p:attrNameLst>
                                          <p:attrName>style.visibility</p:attrName>
                                        </p:attrNameLst>
                                      </p:cBhvr>
                                      <p:to>
                                        <p:strVal val="visible"/>
                                      </p:to>
                                    </p:set>
                                    <p:animEffect transition="in" filter="blinds(horizontal)">
                                      <p:cBhvr>
                                        <p:cTn id="12" dur="500"/>
                                        <p:tgtEl>
                                          <p:spTgt spid="37277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2775">
                                            <p:txEl>
                                              <p:pRg st="4" end="4"/>
                                            </p:txEl>
                                          </p:spTgt>
                                        </p:tgtEl>
                                        <p:attrNameLst>
                                          <p:attrName>style.visibility</p:attrName>
                                        </p:attrNameLst>
                                      </p:cBhvr>
                                      <p:to>
                                        <p:strVal val="visible"/>
                                      </p:to>
                                    </p:set>
                                    <p:animEffect transition="in" filter="blinds(horizontal)">
                                      <p:cBhvr>
                                        <p:cTn id="17" dur="500"/>
                                        <p:tgtEl>
                                          <p:spTgt spid="37277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2778"/>
                                        </p:tgtEl>
                                        <p:attrNameLst>
                                          <p:attrName>style.visibility</p:attrName>
                                        </p:attrNameLst>
                                      </p:cBhvr>
                                      <p:to>
                                        <p:strVal val="visible"/>
                                      </p:to>
                                    </p:set>
                                    <p:animEffect transition="in" filter="blinds(horizontal)">
                                      <p:cBhvr>
                                        <p:cTn id="22" dur="500"/>
                                        <p:tgtEl>
                                          <p:spTgt spid="372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7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711200" y="-153987"/>
            <a:ext cx="2809875" cy="800100"/>
          </a:xfrm>
        </p:spPr>
        <p:txBody>
          <a:bodyPr vert="horz" wrap="square" lIns="63500" tIns="25400" rIns="63500" bIns="25400" anchor="ctr" anchorCtr="0">
            <a:spAutoFit/>
          </a:bodyPr>
          <a:lstStyle/>
          <a:p>
            <a:r>
              <a:rPr lang="zh-CN" altLang="en-US" sz="2800" dirty="0">
                <a:ea typeface="宋体" panose="02010600030101010101" pitchFamily="2" charset="-122"/>
              </a:rPr>
              <a:t>偏移寻址方式 </a:t>
            </a:r>
            <a:endParaRPr lang="zh-CN" altLang="en-US" sz="2800" dirty="0">
              <a:ea typeface="宋体" panose="02010600030101010101" pitchFamily="2" charset="-122"/>
            </a:endParaRPr>
          </a:p>
        </p:txBody>
      </p:sp>
      <p:sp>
        <p:nvSpPr>
          <p:cNvPr id="373763" name="Rectangle 3"/>
          <p:cNvSpPr>
            <a:spLocks noGrp="1" noChangeArrowheads="1"/>
          </p:cNvSpPr>
          <p:nvPr>
            <p:ph idx="1"/>
          </p:nvPr>
        </p:nvSpPr>
        <p:spPr>
          <a:xfrm>
            <a:off x="182563" y="623888"/>
            <a:ext cx="8704263" cy="5715000"/>
          </a:xfrm>
        </p:spPr>
        <p:txBody>
          <a:bodyPr vert="horz" wrap="square" lIns="91440" tIns="45720" rIns="91440" bIns="45720" numCol="1" anchor="t" anchorCtr="0" compatLnSpc="1"/>
          <a:lstStyle/>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l"/>
              <a:defRPr/>
            </a:pPr>
            <a:r>
              <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hlinkClick r:id="rId1" action="ppaction://hlinksldjump"/>
              </a:rPr>
              <a:t>相对寻址</a:t>
            </a:r>
            <a:endPar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指令地址码给出一个偏移量(带符号数)，基准地址</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隐含</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由</a:t>
            </a:r>
            <a:r>
              <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PC</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给出。</a:t>
            </a:r>
            <a:endPar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即：</a:t>
            </a:r>
            <a:r>
              <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EA=(PC)+A</a:t>
            </a:r>
            <a:r>
              <a:rPr kumimoji="0" lang="en-US" altLang="zh-CN"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a:t>
            </a:r>
            <a:r>
              <a:rPr kumimoji="0" lang="en-US" altLang="zh-CN"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ex. MIPS’s instruction:  Beq</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a:t>
            </a:r>
            <a:endPar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rPr>
              <a:t>可用来实现程序(公共子程序)的浮动 或 指定转移目标地址</a:t>
            </a:r>
            <a:endPar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rgbClr val="4B9556"/>
                </a:solidFill>
                <a:effectLst/>
                <a:uLnTx/>
                <a:uFillTx/>
                <a:latin typeface="Arial" panose="020B0604020202020204" pitchFamily="34" charset="0"/>
                <a:ea typeface="黑体" panose="02010609060101010101" pitchFamily="49" charset="-122"/>
                <a:cs typeface="+mn-cs"/>
              </a:rPr>
              <a:t>注意：当前</a:t>
            </a:r>
            <a:r>
              <a:rPr kumimoji="0" lang="en-US" altLang="zh-CN" sz="2000" b="1" i="0" u="none" strike="noStrike" kern="0" cap="none" spc="0" normalizeH="0" baseline="0" noProof="0">
                <a:ln>
                  <a:noFill/>
                </a:ln>
                <a:solidFill>
                  <a:srgbClr val="4B9556"/>
                </a:solidFill>
                <a:effectLst/>
                <a:uLnTx/>
                <a:uFillTx/>
                <a:latin typeface="Arial" panose="020B0604020202020204" pitchFamily="34" charset="0"/>
                <a:ea typeface="黑体" panose="02010609060101010101" pitchFamily="49" charset="-122"/>
                <a:cs typeface="+mn-cs"/>
              </a:rPr>
              <a:t>PC</a:t>
            </a:r>
            <a:r>
              <a:rPr kumimoji="0" lang="zh-CN" altLang="en-US" sz="2000" b="1" i="0" u="none" strike="noStrike" kern="0" cap="none" spc="0" normalizeH="0" baseline="0" noProof="0">
                <a:ln>
                  <a:noFill/>
                </a:ln>
                <a:solidFill>
                  <a:srgbClr val="4B9556"/>
                </a:solidFill>
                <a:effectLst/>
                <a:uLnTx/>
                <a:uFillTx/>
                <a:latin typeface="Arial" panose="020B0604020202020204" pitchFamily="34" charset="0"/>
                <a:ea typeface="黑体" panose="02010609060101010101" pitchFamily="49" charset="-122"/>
                <a:cs typeface="+mn-cs"/>
              </a:rPr>
              <a:t>的值可以是正在执行指令的地址或下条指令的地址</a:t>
            </a:r>
            <a:endParaRPr kumimoji="0" lang="zh-CN" altLang="en-US" sz="2000" b="1" i="0" u="none" strike="noStrike" kern="0" cap="none" spc="0" normalizeH="0" baseline="0" noProof="0">
              <a:ln>
                <a:noFill/>
              </a:ln>
              <a:solidFill>
                <a:srgbClr val="4B9556"/>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l"/>
              <a:defRPr/>
            </a:pPr>
            <a:r>
              <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hlinkClick r:id="rId2" action="ppaction://hlinksldjump"/>
              </a:rPr>
              <a:t>基址寻址</a:t>
            </a:r>
            <a:endPar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指令地址码给出一个偏移量，基准地址</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明显或隐含</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由基址寄存器</a:t>
            </a:r>
            <a:r>
              <a:rPr kumimoji="0" lang="en-US" altLang="zh-CN"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B</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给出。即：</a:t>
            </a:r>
            <a:r>
              <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EA=(B)+A</a:t>
            </a:r>
            <a:r>
              <a:rPr kumimoji="0" lang="en-US" altLang="zh-CN"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a:t>
            </a:r>
            <a:r>
              <a:rPr kumimoji="0" lang="en-US" altLang="zh-CN"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ex. MIPS’s instructions:  lw / sw</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a:t>
            </a:r>
            <a:endPar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rPr>
              <a:t>可用来实现多道程序重定位 </a:t>
            </a:r>
            <a:r>
              <a:rPr kumimoji="0" lang="zh-CN" altLang="en-US" sz="2000" b="1" i="0" u="none" strike="noStrike" kern="0" cap="none" spc="0" normalizeH="0" baseline="0" noProof="0">
                <a:ln>
                  <a:noFill/>
                </a:ln>
                <a:solidFill>
                  <a:schemeClr val="accent2"/>
                </a:solidFill>
                <a:effectLst/>
                <a:uLnTx/>
                <a:uFillTx/>
                <a:latin typeface="Arial" panose="020B0604020202020204" pitchFamily="34" charset="0"/>
                <a:ea typeface="黑体" panose="02010609060101010101" pitchFamily="49" charset="-122"/>
                <a:cs typeface="+mn-cs"/>
              </a:rPr>
              <a:t>或 过程调用中参数的访问</a:t>
            </a:r>
            <a:endParaRPr kumimoji="0" lang="zh-CN" altLang="en-US" sz="2000" b="1" i="0" u="none" strike="noStrike" kern="0" cap="none" spc="0" normalizeH="0" baseline="0" noProof="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l"/>
              <a:defRPr/>
            </a:pPr>
            <a:r>
              <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hlinkClick r:id="rId3" action="ppaction://hlinksldjump"/>
              </a:rPr>
              <a:t>变址寻址</a:t>
            </a:r>
            <a:endPar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指令地址码给出一个基准地址，而偏移量(无符号数)</a:t>
            </a:r>
            <a:r>
              <a:rPr kumimoji="0" lang="zh-CN" altLang="en-US" sz="2000" b="1" i="0" u="none" strike="noStrike" kern="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明显或隐含</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由变址寄存器 </a:t>
            </a:r>
            <a:r>
              <a:rPr kumimoji="0" lang="en-US" altLang="zh-CN"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I </a:t>
            </a:r>
            <a:r>
              <a:rPr kumimoji="0" lang="zh-CN"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给出。即：</a:t>
            </a:r>
            <a:r>
              <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rPr>
              <a:t>EA=(I)+A</a:t>
            </a:r>
            <a:endParaRPr kumimoji="0" lang="en-US" altLang="en-US" sz="2000" b="1" i="0" u="none" strike="noStrike" kern="0" cap="none" spc="0" normalizeH="0" baseline="0" noProof="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0000"/>
              </a:lnSpc>
              <a:spcBef>
                <a:spcPct val="30000"/>
              </a:spcBef>
              <a:spcAft>
                <a:spcPct val="0"/>
              </a:spcAft>
              <a:buClrTx/>
              <a:buSzPct val="75000"/>
              <a:buFont typeface="Monotype Sorts" pitchFamily="2" charset="2"/>
              <a:buChar char=" "/>
              <a:defRPr/>
            </a:pPr>
            <a:r>
              <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rPr>
              <a:t>可为循环重复操作提供一种高效机制，如实现对线性表的方便操作</a:t>
            </a:r>
            <a:endParaRPr kumimoji="0" lang="zh-CN" altLang="en-US" sz="2000" b="1" i="0" u="none" strike="noStrike" kern="0" cap="none" spc="0" normalizeH="0" baseline="0" noProof="0">
              <a:ln>
                <a:noFill/>
              </a:ln>
              <a:solidFill>
                <a:srgbClr val="0000FF"/>
              </a:solidFill>
              <a:effectLst/>
              <a:uLnTx/>
              <a:uFillTx/>
              <a:latin typeface="Arial" panose="020B0604020202020204" pitchFamily="34" charset="0"/>
              <a:ea typeface="黑体" panose="02010609060101010101" pitchFamily="49" charset="-122"/>
              <a:cs typeface="+mn-cs"/>
            </a:endParaRPr>
          </a:p>
        </p:txBody>
      </p:sp>
      <p:sp>
        <p:nvSpPr>
          <p:cNvPr id="373764" name="Text Box 4"/>
          <p:cNvSpPr txBox="1"/>
          <p:nvPr/>
        </p:nvSpPr>
        <p:spPr>
          <a:xfrm>
            <a:off x="6170613" y="6251575"/>
            <a:ext cx="1930400" cy="325438"/>
          </a:xfrm>
          <a:prstGeom prst="rect">
            <a:avLst/>
          </a:prstGeom>
          <a:noFill/>
          <a:ln w="12700">
            <a:noFill/>
          </a:ln>
        </p:spPr>
        <p:txBody>
          <a:bodyPr lIns="63500" tIns="25400" rIns="63500" bIns="25400">
            <a:spAutoFit/>
          </a:bodyPr>
          <a:lstStyle/>
          <a:p>
            <a:pPr>
              <a:spcBef>
                <a:spcPct val="50000"/>
              </a:spcBef>
            </a:pPr>
            <a:r>
              <a:rPr lang="en-US" altLang="zh-CN" sz="1800" dirty="0">
                <a:latin typeface="Arial" panose="020B0604020202020204" pitchFamily="34" charset="0"/>
                <a:hlinkClick r:id="" action="ppaction://noaction"/>
              </a:rPr>
              <a:t>SKIP</a:t>
            </a:r>
            <a:endParaRPr lang="en-US" altLang="zh-CN" sz="18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3763">
                                            <p:txEl>
                                              <p:pRg st="1" end="1"/>
                                            </p:txEl>
                                          </p:spTgt>
                                        </p:tgtEl>
                                        <p:attrNameLst>
                                          <p:attrName>style.visibility</p:attrName>
                                        </p:attrNameLst>
                                      </p:cBhvr>
                                      <p:to>
                                        <p:strVal val="visible"/>
                                      </p:to>
                                    </p:set>
                                    <p:animEffect transition="in" filter="blinds(horizontal)">
                                      <p:cBhvr>
                                        <p:cTn id="7" dur="500"/>
                                        <p:tgtEl>
                                          <p:spTgt spid="3737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3763">
                                            <p:txEl>
                                              <p:pRg st="2" end="2"/>
                                            </p:txEl>
                                          </p:spTgt>
                                        </p:tgtEl>
                                        <p:attrNameLst>
                                          <p:attrName>style.visibility</p:attrName>
                                        </p:attrNameLst>
                                      </p:cBhvr>
                                      <p:to>
                                        <p:strVal val="visible"/>
                                      </p:to>
                                    </p:set>
                                    <p:animEffect transition="in" filter="blinds(horizontal)">
                                      <p:cBhvr>
                                        <p:cTn id="10" dur="500"/>
                                        <p:tgtEl>
                                          <p:spTgt spid="37376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73763">
                                            <p:txEl>
                                              <p:pRg st="3" end="3"/>
                                            </p:txEl>
                                          </p:spTgt>
                                        </p:tgtEl>
                                        <p:attrNameLst>
                                          <p:attrName>style.visibility</p:attrName>
                                        </p:attrNameLst>
                                      </p:cBhvr>
                                      <p:to>
                                        <p:strVal val="visible"/>
                                      </p:to>
                                    </p:set>
                                    <p:animEffect transition="in" filter="blinds(horizontal)">
                                      <p:cBhvr>
                                        <p:cTn id="15" dur="500"/>
                                        <p:tgtEl>
                                          <p:spTgt spid="37376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73763">
                                            <p:txEl>
                                              <p:pRg st="4" end="4"/>
                                            </p:txEl>
                                          </p:spTgt>
                                        </p:tgtEl>
                                        <p:attrNameLst>
                                          <p:attrName>style.visibility</p:attrName>
                                        </p:attrNameLst>
                                      </p:cBhvr>
                                      <p:to>
                                        <p:strVal val="visible"/>
                                      </p:to>
                                    </p:set>
                                    <p:animEffect transition="in" filter="blinds(horizontal)">
                                      <p:cBhvr>
                                        <p:cTn id="20" dur="500"/>
                                        <p:tgtEl>
                                          <p:spTgt spid="37376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73763">
                                            <p:txEl>
                                              <p:pRg st="6" end="6"/>
                                            </p:txEl>
                                          </p:spTgt>
                                        </p:tgtEl>
                                        <p:attrNameLst>
                                          <p:attrName>style.visibility</p:attrName>
                                        </p:attrNameLst>
                                      </p:cBhvr>
                                      <p:to>
                                        <p:strVal val="visible"/>
                                      </p:to>
                                    </p:set>
                                    <p:animEffect transition="in" filter="blinds(horizontal)">
                                      <p:cBhvr>
                                        <p:cTn id="25" dur="500"/>
                                        <p:tgtEl>
                                          <p:spTgt spid="37376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73763">
                                            <p:txEl>
                                              <p:pRg st="7" end="7"/>
                                            </p:txEl>
                                          </p:spTgt>
                                        </p:tgtEl>
                                        <p:attrNameLst>
                                          <p:attrName>style.visibility</p:attrName>
                                        </p:attrNameLst>
                                      </p:cBhvr>
                                      <p:to>
                                        <p:strVal val="visible"/>
                                      </p:to>
                                    </p:set>
                                    <p:animEffect transition="in" filter="blinds(horizontal)">
                                      <p:cBhvr>
                                        <p:cTn id="30" dur="500"/>
                                        <p:tgtEl>
                                          <p:spTgt spid="37376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73763">
                                            <p:txEl>
                                              <p:pRg st="9" end="9"/>
                                            </p:txEl>
                                          </p:spTgt>
                                        </p:tgtEl>
                                        <p:attrNameLst>
                                          <p:attrName>style.visibility</p:attrName>
                                        </p:attrNameLst>
                                      </p:cBhvr>
                                      <p:to>
                                        <p:strVal val="visible"/>
                                      </p:to>
                                    </p:set>
                                    <p:animEffect transition="in" filter="blinds(horizontal)">
                                      <p:cBhvr>
                                        <p:cTn id="35" dur="500"/>
                                        <p:tgtEl>
                                          <p:spTgt spid="373763">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73763">
                                            <p:txEl>
                                              <p:pRg st="10" end="10"/>
                                            </p:txEl>
                                          </p:spTgt>
                                        </p:tgtEl>
                                        <p:attrNameLst>
                                          <p:attrName>style.visibility</p:attrName>
                                        </p:attrNameLst>
                                      </p:cBhvr>
                                      <p:to>
                                        <p:strVal val="visible"/>
                                      </p:to>
                                    </p:set>
                                    <p:animEffect transition="in" filter="blinds(horizontal)">
                                      <p:cBhvr>
                                        <p:cTn id="40" dur="500"/>
                                        <p:tgtEl>
                                          <p:spTgt spid="373763">
                                            <p:txEl>
                                              <p:pRg st="10" end="1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73764"/>
                                        </p:tgtEl>
                                        <p:attrNameLst>
                                          <p:attrName>style.visibility</p:attrName>
                                        </p:attrNameLst>
                                      </p:cBhvr>
                                      <p:to>
                                        <p:strVal val="visible"/>
                                      </p:to>
                                    </p:set>
                                    <p:animEffect transition="in" filter="blinds(horizontal)">
                                      <p:cBhvr>
                                        <p:cTn id="45" dur="500"/>
                                        <p:tgtEl>
                                          <p:spTgt spid="373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457200" y="109538"/>
            <a:ext cx="7280275" cy="425450"/>
          </a:xfrm>
        </p:spPr>
        <p:txBody>
          <a:bodyPr vert="horz" wrap="square" lIns="63500" tIns="25400" rIns="63500" bIns="25400" anchor="t" anchorCtr="0">
            <a:spAutoFit/>
          </a:bodyPr>
          <a:lstStyle/>
          <a:p>
            <a:r>
              <a:rPr lang="zh-CN" altLang="en-US" sz="2800" dirty="0">
                <a:ea typeface="宋体" panose="02010600030101010101" pitchFamily="2" charset="-122"/>
              </a:rPr>
              <a:t>相对寻址实现公共子程序的浮动</a:t>
            </a:r>
            <a:endParaRPr lang="zh-CN" altLang="en-US" sz="2800" dirty="0">
              <a:ea typeface="宋体" panose="02010600030101010101" pitchFamily="2" charset="-122"/>
            </a:endParaRPr>
          </a:p>
        </p:txBody>
      </p:sp>
      <p:sp>
        <p:nvSpPr>
          <p:cNvPr id="374788" name="Text Box 4"/>
          <p:cNvSpPr txBox="1"/>
          <p:nvPr/>
        </p:nvSpPr>
        <p:spPr>
          <a:xfrm>
            <a:off x="366713" y="5580063"/>
            <a:ext cx="5907087" cy="914400"/>
          </a:xfrm>
          <a:prstGeom prst="rect">
            <a:avLst/>
          </a:prstGeom>
          <a:noFill/>
          <a:ln w="9525">
            <a:noFill/>
          </a:ln>
        </p:spPr>
        <p:txBody>
          <a:bodyPr>
            <a:spAutoFit/>
          </a:bodyPr>
          <a:lstStyle/>
          <a:p>
            <a:pPr>
              <a:lnSpc>
                <a:spcPct val="135000"/>
              </a:lnSpc>
              <a:spcBef>
                <a:spcPct val="50000"/>
              </a:spcBef>
            </a:pPr>
            <a:r>
              <a:rPr lang="zh-CN" altLang="en-US" sz="2000" dirty="0">
                <a:latin typeface="Arial" panose="020B0604020202020204" pitchFamily="34" charset="0"/>
                <a:ea typeface="黑体" panose="02010609060101010101" pitchFamily="49" charset="-122"/>
              </a:rPr>
              <a:t>子程序内地址关系相对独立，与用户程序的地址无关，不管浮动到哪里，总是实现</a:t>
            </a:r>
            <a:r>
              <a:rPr lang="en-US" altLang="zh-CN" sz="2000" dirty="0">
                <a:latin typeface="Arial" panose="020B0604020202020204" pitchFamily="34" charset="0"/>
                <a:ea typeface="黑体" panose="02010609060101010101" pitchFamily="49" charset="-122"/>
              </a:rPr>
              <a:t>AX</a:t>
            </a:r>
            <a:r>
              <a:rPr lang="zh-CN" altLang="en-US" sz="2000" dirty="0">
                <a:latin typeface="Arial" panose="020B0604020202020204" pitchFamily="34" charset="0"/>
                <a:ea typeface="黑体" panose="02010609060101010101" pitchFamily="49" charset="-122"/>
              </a:rPr>
              <a:t>和120相加</a:t>
            </a:r>
            <a:endParaRPr lang="zh-CN" altLang="en-US" sz="2000" dirty="0">
              <a:latin typeface="Arial" panose="020B0604020202020204" pitchFamily="34" charset="0"/>
              <a:ea typeface="黑体" panose="02010609060101010101" pitchFamily="49" charset="-122"/>
            </a:endParaRPr>
          </a:p>
        </p:txBody>
      </p:sp>
      <p:sp>
        <p:nvSpPr>
          <p:cNvPr id="374789" name="Text Box 5" descr="新闻纸"/>
          <p:cNvSpPr txBox="1">
            <a:spLocks noChangeArrowheads="1"/>
          </p:cNvSpPr>
          <p:nvPr/>
        </p:nvSpPr>
        <p:spPr bwMode="auto">
          <a:xfrm>
            <a:off x="866775" y="1828800"/>
            <a:ext cx="2284413" cy="1444625"/>
          </a:xfrm>
          <a:prstGeom prst="rect">
            <a:avLst/>
          </a:prstGeom>
          <a:blipFill dpi="0" rotWithShape="0">
            <a:blip r:embed="rId1" cstate="print"/>
            <a:srcRect/>
            <a:tile tx="0" ty="0" sx="100000" sy="100000" flip="none" algn="tl"/>
          </a:blipFill>
          <a:ln w="9525">
            <a:solidFill>
              <a:schemeClr val="tx1"/>
            </a:solidFill>
            <a:miter lim="800000"/>
          </a:ln>
          <a:effectLst/>
        </p:spPr>
        <p:txBody>
          <a:bodyPr tIns="190800" bIns="694800">
            <a:spAutoFit/>
          </a:bodyPr>
          <a:lstStyle/>
          <a:p>
            <a:pPr marR="0" defTabSz="914400">
              <a:spcBef>
                <a:spcPct val="50000"/>
              </a:spcBef>
              <a:buClrTx/>
              <a:buSzTx/>
              <a:buFontTx/>
              <a:buNone/>
              <a:defRPr/>
            </a:pPr>
            <a:r>
              <a:rPr kumimoji="0" lang="en-US" altLang="zh-CN" sz="2400"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ADD  AX, </a:t>
            </a:r>
            <a:r>
              <a:rPr kumimoji="0" lang="en-US" altLang="zh-CN" sz="4400" kern="1200" cap="none" spc="0" normalizeH="0" baseline="16000" noProof="0" dirty="0">
                <a:solidFill>
                  <a:srgbClr val="C2228D"/>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a:t>
            </a:r>
            <a:r>
              <a:rPr kumimoji="0" lang="en-US" altLang="zh-CN" sz="3600" kern="1200" cap="none" spc="0" normalizeH="0" baseline="16000" noProof="0" dirty="0">
                <a:solidFill>
                  <a:srgbClr val="C2228D"/>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 </a:t>
            </a:r>
            <a:r>
              <a:rPr kumimoji="0" lang="en-US" altLang="zh-CN" sz="3600"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dirty="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8437" name="Rectangle 6" descr="纸莎草纸"/>
          <p:cNvSpPr/>
          <p:nvPr/>
        </p:nvSpPr>
        <p:spPr>
          <a:xfrm>
            <a:off x="4994275" y="706438"/>
            <a:ext cx="2284413" cy="464185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18438" name="Line 11"/>
          <p:cNvSpPr/>
          <p:nvPr/>
        </p:nvSpPr>
        <p:spPr>
          <a:xfrm>
            <a:off x="6153150" y="4791075"/>
            <a:ext cx="0" cy="436563"/>
          </a:xfrm>
          <a:prstGeom prst="line">
            <a:avLst/>
          </a:prstGeom>
          <a:ln w="38100" cap="flat" cmpd="sng">
            <a:solidFill>
              <a:schemeClr val="tx1"/>
            </a:solidFill>
            <a:prstDash val="sysDot"/>
            <a:headEnd type="none" w="med" len="med"/>
            <a:tailEnd type="none" w="med" len="med"/>
          </a:ln>
        </p:spPr>
      </p:sp>
      <p:sp>
        <p:nvSpPr>
          <p:cNvPr id="18439" name="Line 12"/>
          <p:cNvSpPr/>
          <p:nvPr/>
        </p:nvSpPr>
        <p:spPr>
          <a:xfrm>
            <a:off x="6088063" y="2882900"/>
            <a:ext cx="0" cy="325438"/>
          </a:xfrm>
          <a:prstGeom prst="line">
            <a:avLst/>
          </a:prstGeom>
          <a:ln w="38100" cap="flat" cmpd="sng">
            <a:solidFill>
              <a:schemeClr val="tx1"/>
            </a:solidFill>
            <a:prstDash val="sysDot"/>
            <a:headEnd type="none" w="med" len="med"/>
            <a:tailEnd type="none" w="med" len="med"/>
          </a:ln>
        </p:spPr>
      </p:sp>
      <p:sp>
        <p:nvSpPr>
          <p:cNvPr id="18440" name="Line 13"/>
          <p:cNvSpPr/>
          <p:nvPr/>
        </p:nvSpPr>
        <p:spPr>
          <a:xfrm>
            <a:off x="6088063" y="830263"/>
            <a:ext cx="0" cy="384175"/>
          </a:xfrm>
          <a:prstGeom prst="line">
            <a:avLst/>
          </a:prstGeom>
          <a:ln w="38100" cap="flat" cmpd="sng">
            <a:solidFill>
              <a:schemeClr val="tx1"/>
            </a:solidFill>
            <a:prstDash val="sysDot"/>
            <a:headEnd type="none" w="med" len="med"/>
            <a:tailEnd type="none" w="med" len="med"/>
          </a:ln>
        </p:spPr>
      </p:sp>
      <p:sp>
        <p:nvSpPr>
          <p:cNvPr id="18441" name="Text Box 16"/>
          <p:cNvSpPr txBox="1"/>
          <p:nvPr/>
        </p:nvSpPr>
        <p:spPr>
          <a:xfrm>
            <a:off x="3122613" y="2143125"/>
            <a:ext cx="701675" cy="457200"/>
          </a:xfrm>
          <a:prstGeom prst="rect">
            <a:avLst/>
          </a:prstGeom>
          <a:noFill/>
          <a:ln w="9525">
            <a:noFill/>
          </a:ln>
        </p:spPr>
        <p:txBody>
          <a:bodyPr>
            <a:spAutoFit/>
          </a:bodyPr>
          <a:lstStyle/>
          <a:p>
            <a:pPr>
              <a:spcBef>
                <a:spcPct val="50000"/>
              </a:spcBef>
            </a:pPr>
            <a:r>
              <a:rPr lang="zh-CN" altLang="en-US" sz="2400" dirty="0">
                <a:solidFill>
                  <a:schemeClr val="tx1"/>
                </a:solidFill>
                <a:latin typeface="Times New Roman" panose="02020603050405020304" pitchFamily="18" charset="0"/>
              </a:rPr>
              <a:t>50</a:t>
            </a:r>
            <a:endParaRPr lang="zh-CN" altLang="en-US" sz="2400" dirty="0">
              <a:solidFill>
                <a:schemeClr val="tx1"/>
              </a:solidFill>
              <a:latin typeface="Times New Roman" panose="02020603050405020304" pitchFamily="18" charset="0"/>
            </a:endParaRPr>
          </a:p>
        </p:txBody>
      </p:sp>
      <p:sp>
        <p:nvSpPr>
          <p:cNvPr id="18442" name="Text Box 17"/>
          <p:cNvSpPr txBox="1"/>
          <p:nvPr/>
        </p:nvSpPr>
        <p:spPr>
          <a:xfrm>
            <a:off x="3092450" y="2782888"/>
            <a:ext cx="1308100" cy="457200"/>
          </a:xfrm>
          <a:prstGeom prst="rect">
            <a:avLst/>
          </a:prstGeom>
          <a:noFill/>
          <a:ln w="9525">
            <a:noFill/>
          </a:ln>
        </p:spPr>
        <p:txBody>
          <a:bodyPr>
            <a:spAutoFit/>
          </a:bodyPr>
          <a:lstStyle/>
          <a:p>
            <a:pPr>
              <a:spcBef>
                <a:spcPct val="50000"/>
              </a:spcBef>
            </a:pPr>
            <a:r>
              <a:rPr lang="zh-CN" altLang="en-US" sz="2400" dirty="0">
                <a:solidFill>
                  <a:schemeClr val="tx1"/>
                </a:solidFill>
                <a:latin typeface="Times New Roman" panose="02020603050405020304" pitchFamily="18" charset="0"/>
              </a:rPr>
              <a:t>5</a:t>
            </a:r>
            <a:r>
              <a:rPr lang="en-US" altLang="zh-CN" sz="2400" dirty="0">
                <a:solidFill>
                  <a:schemeClr val="tx1"/>
                </a:solidFill>
                <a:latin typeface="Times New Roman" panose="02020603050405020304" pitchFamily="18" charset="0"/>
              </a:rPr>
              <a:t>2</a:t>
            </a:r>
            <a:endParaRPr lang="en-US" altLang="zh-CN" sz="2400" dirty="0">
              <a:solidFill>
                <a:schemeClr val="tx1"/>
              </a:solidFill>
              <a:latin typeface="Times New Roman" panose="02020603050405020304" pitchFamily="18" charset="0"/>
            </a:endParaRPr>
          </a:p>
        </p:txBody>
      </p:sp>
      <p:sp>
        <p:nvSpPr>
          <p:cNvPr id="18443" name="Line 18"/>
          <p:cNvSpPr/>
          <p:nvPr/>
        </p:nvSpPr>
        <p:spPr>
          <a:xfrm>
            <a:off x="866775" y="2185988"/>
            <a:ext cx="2284413" cy="0"/>
          </a:xfrm>
          <a:prstGeom prst="line">
            <a:avLst/>
          </a:prstGeom>
          <a:ln w="9525" cap="flat" cmpd="sng">
            <a:solidFill>
              <a:schemeClr val="tx1"/>
            </a:solidFill>
            <a:prstDash val="solid"/>
            <a:headEnd type="none" w="med" len="med"/>
            <a:tailEnd type="none" w="med" len="med"/>
          </a:ln>
        </p:spPr>
      </p:sp>
      <p:sp>
        <p:nvSpPr>
          <p:cNvPr id="18444" name="Line 19"/>
          <p:cNvSpPr/>
          <p:nvPr/>
        </p:nvSpPr>
        <p:spPr>
          <a:xfrm>
            <a:off x="876300" y="2524125"/>
            <a:ext cx="2284413" cy="0"/>
          </a:xfrm>
          <a:prstGeom prst="line">
            <a:avLst/>
          </a:prstGeom>
          <a:ln w="9525" cap="flat" cmpd="sng">
            <a:solidFill>
              <a:schemeClr val="tx1"/>
            </a:solidFill>
            <a:prstDash val="solid"/>
            <a:headEnd type="none" w="med" len="med"/>
            <a:tailEnd type="none" w="med" len="med"/>
          </a:ln>
        </p:spPr>
      </p:sp>
      <p:sp>
        <p:nvSpPr>
          <p:cNvPr id="18445" name="Line 20"/>
          <p:cNvSpPr/>
          <p:nvPr/>
        </p:nvSpPr>
        <p:spPr>
          <a:xfrm>
            <a:off x="871538" y="2882900"/>
            <a:ext cx="2284412" cy="0"/>
          </a:xfrm>
          <a:prstGeom prst="line">
            <a:avLst/>
          </a:prstGeom>
          <a:ln w="9525" cap="flat" cmpd="sng">
            <a:solidFill>
              <a:schemeClr val="tx1"/>
            </a:solidFill>
            <a:prstDash val="solid"/>
            <a:headEnd type="none" w="med" len="med"/>
            <a:tailEnd type="none" w="med" len="med"/>
          </a:ln>
        </p:spPr>
      </p:sp>
      <p:sp>
        <p:nvSpPr>
          <p:cNvPr id="374805" name="Text Box 21"/>
          <p:cNvSpPr txBox="1">
            <a:spLocks noChangeArrowheads="1"/>
          </p:cNvSpPr>
          <p:nvPr/>
        </p:nvSpPr>
        <p:spPr bwMode="auto">
          <a:xfrm>
            <a:off x="931004" y="2449590"/>
            <a:ext cx="16700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dirty="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120</a:t>
            </a:r>
            <a:endParaRPr kumimoji="0" lang="zh-CN" altLang="en-US" sz="2400" kern="1200" cap="none" spc="0" normalizeH="0" baseline="0" noProof="0" dirty="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8447" name="Line 23"/>
          <p:cNvSpPr/>
          <p:nvPr/>
        </p:nvSpPr>
        <p:spPr>
          <a:xfrm>
            <a:off x="4994275" y="1692275"/>
            <a:ext cx="2284413" cy="0"/>
          </a:xfrm>
          <a:prstGeom prst="line">
            <a:avLst/>
          </a:prstGeom>
          <a:ln w="9525" cap="flat" cmpd="sng">
            <a:solidFill>
              <a:schemeClr val="tx1"/>
            </a:solidFill>
            <a:prstDash val="solid"/>
            <a:headEnd type="none" w="med" len="med"/>
            <a:tailEnd type="none" w="med" len="med"/>
          </a:ln>
        </p:spPr>
      </p:sp>
      <p:sp>
        <p:nvSpPr>
          <p:cNvPr id="18448" name="Line 24"/>
          <p:cNvSpPr/>
          <p:nvPr/>
        </p:nvSpPr>
        <p:spPr>
          <a:xfrm>
            <a:off x="5003800" y="2030413"/>
            <a:ext cx="2284413" cy="0"/>
          </a:xfrm>
          <a:prstGeom prst="line">
            <a:avLst/>
          </a:prstGeom>
          <a:ln w="9525" cap="flat" cmpd="sng">
            <a:solidFill>
              <a:schemeClr val="tx1"/>
            </a:solidFill>
            <a:prstDash val="solid"/>
            <a:headEnd type="none" w="med" len="med"/>
            <a:tailEnd type="none" w="med" len="med"/>
          </a:ln>
        </p:spPr>
      </p:sp>
      <p:sp>
        <p:nvSpPr>
          <p:cNvPr id="18449" name="Line 25"/>
          <p:cNvSpPr/>
          <p:nvPr/>
        </p:nvSpPr>
        <p:spPr>
          <a:xfrm>
            <a:off x="4999038" y="2389188"/>
            <a:ext cx="2284412" cy="0"/>
          </a:xfrm>
          <a:prstGeom prst="line">
            <a:avLst/>
          </a:prstGeom>
          <a:ln w="9525" cap="flat" cmpd="sng">
            <a:solidFill>
              <a:schemeClr val="tx1"/>
            </a:solidFill>
            <a:prstDash val="solid"/>
            <a:headEnd type="none" w="med" len="med"/>
            <a:tailEnd type="none" w="med" len="med"/>
          </a:ln>
        </p:spPr>
      </p:sp>
      <p:sp>
        <p:nvSpPr>
          <p:cNvPr id="18450" name="Line 7"/>
          <p:cNvSpPr/>
          <p:nvPr/>
        </p:nvSpPr>
        <p:spPr>
          <a:xfrm flipV="1">
            <a:off x="3151188" y="1335088"/>
            <a:ext cx="1843087" cy="493712"/>
          </a:xfrm>
          <a:prstGeom prst="line">
            <a:avLst/>
          </a:prstGeom>
          <a:ln w="28575" cap="flat" cmpd="sng">
            <a:solidFill>
              <a:schemeClr val="tx2"/>
            </a:solidFill>
            <a:prstDash val="solid"/>
            <a:headEnd type="none" w="med" len="med"/>
            <a:tailEnd type="triangle" w="med" len="med"/>
          </a:ln>
        </p:spPr>
      </p:sp>
      <p:sp>
        <p:nvSpPr>
          <p:cNvPr id="18451" name="Line 8"/>
          <p:cNvSpPr/>
          <p:nvPr/>
        </p:nvSpPr>
        <p:spPr>
          <a:xfrm flipV="1">
            <a:off x="3160713" y="2779713"/>
            <a:ext cx="1833562" cy="493712"/>
          </a:xfrm>
          <a:prstGeom prst="line">
            <a:avLst/>
          </a:prstGeom>
          <a:ln w="28575" cap="flat" cmpd="sng">
            <a:solidFill>
              <a:schemeClr val="tx2"/>
            </a:solidFill>
            <a:prstDash val="solid"/>
            <a:headEnd type="none" w="med" len="med"/>
            <a:tailEnd type="triangle" w="med" len="med"/>
          </a:ln>
        </p:spPr>
      </p:sp>
      <p:sp>
        <p:nvSpPr>
          <p:cNvPr id="18452" name="Text Box 14"/>
          <p:cNvSpPr txBox="1"/>
          <p:nvPr/>
        </p:nvSpPr>
        <p:spPr>
          <a:xfrm>
            <a:off x="7288213" y="1600200"/>
            <a:ext cx="1463675" cy="822325"/>
          </a:xfrm>
          <a:prstGeom prst="rect">
            <a:avLst/>
          </a:prstGeom>
          <a:noFill/>
          <a:ln w="9525">
            <a:noFill/>
          </a:ln>
        </p:spPr>
        <p:txBody>
          <a:bodyPr>
            <a:spAutoFit/>
          </a:bodyPr>
          <a:lstStyle/>
          <a:p>
            <a:pPr>
              <a:spcBef>
                <a:spcPct val="50000"/>
              </a:spcBef>
            </a:pPr>
            <a:r>
              <a:rPr lang="zh-CN" altLang="en-US" sz="2400" dirty="0">
                <a:solidFill>
                  <a:schemeClr val="tx1"/>
                </a:solidFill>
                <a:latin typeface="Times New Roman" panose="02020603050405020304" pitchFamily="18" charset="0"/>
              </a:rPr>
              <a:t>100</a:t>
            </a:r>
            <a:endParaRPr lang="zh-CN" altLang="en-US"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101=(PC)</a:t>
            </a:r>
            <a:endParaRPr lang="zh-CN" altLang="en-US" sz="2400" dirty="0">
              <a:solidFill>
                <a:schemeClr val="tx1"/>
              </a:solidFill>
              <a:latin typeface="Times New Roman" panose="02020603050405020304" pitchFamily="18" charset="0"/>
            </a:endParaRPr>
          </a:p>
        </p:txBody>
      </p:sp>
      <p:sp>
        <p:nvSpPr>
          <p:cNvPr id="374806" name="Text Box 22" descr="新闻纸"/>
          <p:cNvSpPr txBox="1">
            <a:spLocks noChangeArrowheads="1"/>
          </p:cNvSpPr>
          <p:nvPr/>
        </p:nvSpPr>
        <p:spPr bwMode="auto">
          <a:xfrm>
            <a:off x="4994275" y="1335088"/>
            <a:ext cx="2284413" cy="1444625"/>
          </a:xfrm>
          <a:prstGeom prst="rect">
            <a:avLst/>
          </a:prstGeom>
          <a:blipFill dpi="0" rotWithShape="0">
            <a:blip r:embed="rId1" cstate="print"/>
            <a:srcRect/>
            <a:tile tx="0" ty="0" sx="100000" sy="100000" flip="none" algn="tl"/>
          </a:blipFill>
          <a:ln w="9525">
            <a:solidFill>
              <a:schemeClr val="tx1"/>
            </a:solidFill>
            <a:miter lim="800000"/>
          </a:ln>
          <a:effectLst/>
        </p:spPr>
        <p:txBody>
          <a:bodyPr tIns="190800" bIns="694800">
            <a:spAutoFit/>
          </a:bodyPr>
          <a:lstStyle/>
          <a:p>
            <a:pPr marR="0" defTabSz="914400">
              <a:spcBef>
                <a:spcPct val="50000"/>
              </a:spcBef>
              <a:buClrTx/>
              <a:buSzTx/>
              <a:buFontTx/>
              <a:buNone/>
              <a:defRPr/>
            </a:pP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ADD  AX, </a:t>
            </a:r>
            <a:r>
              <a:rPr kumimoji="0" lang="en-US" altLang="zh-CN" sz="3600" kern="1200" cap="none" spc="0" normalizeH="0" baseline="16000" noProof="0">
                <a:solidFill>
                  <a:srgbClr val="C2228D"/>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 </a:t>
            </a:r>
            <a:r>
              <a:rPr kumimoji="0" lang="en-US" altLang="zh-CN" sz="36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74810" name="Text Box 26"/>
          <p:cNvSpPr txBox="1">
            <a:spLocks noChangeArrowheads="1"/>
          </p:cNvSpPr>
          <p:nvPr/>
        </p:nvSpPr>
        <p:spPr bwMode="auto">
          <a:xfrm>
            <a:off x="5117580" y="1986197"/>
            <a:ext cx="16700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120</a:t>
            </a:r>
            <a:endPar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8455" name="Text Box 27"/>
          <p:cNvSpPr txBox="1"/>
          <p:nvPr/>
        </p:nvSpPr>
        <p:spPr>
          <a:xfrm>
            <a:off x="7288213" y="1914525"/>
            <a:ext cx="1308100" cy="822325"/>
          </a:xfrm>
          <a:prstGeom prst="rect">
            <a:avLst/>
          </a:prstGeom>
          <a:noFill/>
          <a:ln w="9525">
            <a:noFill/>
          </a:ln>
        </p:spPr>
        <p:txBody>
          <a:bodyPr>
            <a:spAutoFit/>
          </a:bodyPr>
          <a:lstStyle/>
          <a:p>
            <a:pPr>
              <a:spcBef>
                <a:spcPct val="50000"/>
              </a:spcBef>
            </a:pPr>
            <a:endParaRPr lang="zh-CN" altLang="en-US" sz="2400" dirty="0">
              <a:solidFill>
                <a:schemeClr val="tx1"/>
              </a:solidFill>
              <a:latin typeface="Times New Roman" panose="02020603050405020304" pitchFamily="18" charset="0"/>
            </a:endParaRPr>
          </a:p>
          <a:p>
            <a:r>
              <a:rPr lang="zh-CN" altLang="en-US" sz="2400" dirty="0">
                <a:solidFill>
                  <a:schemeClr val="tx1"/>
                </a:solidFill>
                <a:latin typeface="Times New Roman" panose="02020603050405020304" pitchFamily="18" charset="0"/>
              </a:rPr>
              <a:t>10</a:t>
            </a:r>
            <a:r>
              <a:rPr lang="en-US" altLang="zh-CN" sz="2400" dirty="0">
                <a:solidFill>
                  <a:schemeClr val="tx1"/>
                </a:solidFill>
                <a:latin typeface="Times New Roman" panose="02020603050405020304" pitchFamily="18" charset="0"/>
              </a:rPr>
              <a:t>2</a:t>
            </a:r>
            <a:endParaRPr lang="en-US" altLang="zh-CN" sz="2400" dirty="0">
              <a:solidFill>
                <a:schemeClr val="tx1"/>
              </a:solidFill>
              <a:latin typeface="Times New Roman" panose="02020603050405020304" pitchFamily="18" charset="0"/>
            </a:endParaRPr>
          </a:p>
        </p:txBody>
      </p:sp>
      <p:sp>
        <p:nvSpPr>
          <p:cNvPr id="18456" name="Line 29"/>
          <p:cNvSpPr/>
          <p:nvPr/>
        </p:nvSpPr>
        <p:spPr>
          <a:xfrm>
            <a:off x="4994275" y="3695700"/>
            <a:ext cx="2284413" cy="0"/>
          </a:xfrm>
          <a:prstGeom prst="line">
            <a:avLst/>
          </a:prstGeom>
          <a:ln w="9525" cap="flat" cmpd="sng">
            <a:solidFill>
              <a:schemeClr val="tx1"/>
            </a:solidFill>
            <a:prstDash val="solid"/>
            <a:headEnd type="none" w="med" len="med"/>
            <a:tailEnd type="none" w="med" len="med"/>
          </a:ln>
        </p:spPr>
      </p:sp>
      <p:sp>
        <p:nvSpPr>
          <p:cNvPr id="18457" name="Line 30"/>
          <p:cNvSpPr/>
          <p:nvPr/>
        </p:nvSpPr>
        <p:spPr>
          <a:xfrm>
            <a:off x="5003800" y="4033838"/>
            <a:ext cx="2284413" cy="0"/>
          </a:xfrm>
          <a:prstGeom prst="line">
            <a:avLst/>
          </a:prstGeom>
          <a:ln w="9525" cap="flat" cmpd="sng">
            <a:solidFill>
              <a:schemeClr val="tx1"/>
            </a:solidFill>
            <a:prstDash val="solid"/>
            <a:headEnd type="none" w="med" len="med"/>
            <a:tailEnd type="none" w="med" len="med"/>
          </a:ln>
        </p:spPr>
      </p:sp>
      <p:sp>
        <p:nvSpPr>
          <p:cNvPr id="18458" name="Line 31"/>
          <p:cNvSpPr/>
          <p:nvPr/>
        </p:nvSpPr>
        <p:spPr>
          <a:xfrm>
            <a:off x="4999038" y="4392613"/>
            <a:ext cx="2284412" cy="0"/>
          </a:xfrm>
          <a:prstGeom prst="line">
            <a:avLst/>
          </a:prstGeom>
          <a:ln w="9525" cap="flat" cmpd="sng">
            <a:solidFill>
              <a:schemeClr val="tx1"/>
            </a:solidFill>
            <a:prstDash val="solid"/>
            <a:headEnd type="none" w="med" len="med"/>
            <a:tailEnd type="none" w="med" len="med"/>
          </a:ln>
        </p:spPr>
      </p:sp>
      <p:sp>
        <p:nvSpPr>
          <p:cNvPr id="18459" name="Text Box 15"/>
          <p:cNvSpPr txBox="1"/>
          <p:nvPr/>
        </p:nvSpPr>
        <p:spPr>
          <a:xfrm>
            <a:off x="7278688" y="3600450"/>
            <a:ext cx="1643062" cy="1187450"/>
          </a:xfrm>
          <a:prstGeom prst="rect">
            <a:avLst/>
          </a:prstGeom>
          <a:noFill/>
          <a:ln w="9525">
            <a:noFill/>
          </a:ln>
        </p:spPr>
        <p:txBody>
          <a:bodyPr>
            <a:spAutoFit/>
          </a:bodyPr>
          <a:lstStyle/>
          <a:p>
            <a:pPr>
              <a:spcBef>
                <a:spcPct val="50000"/>
              </a:spcBef>
            </a:pPr>
            <a:r>
              <a:rPr lang="zh-CN" altLang="en-US" sz="2400" dirty="0">
                <a:solidFill>
                  <a:schemeClr val="tx1"/>
                </a:solidFill>
                <a:latin typeface="Times New Roman" panose="02020603050405020304" pitchFamily="18" charset="0"/>
              </a:rPr>
              <a:t>250</a:t>
            </a:r>
            <a:endParaRPr lang="zh-CN" altLang="en-US"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251=(PC)</a:t>
            </a:r>
            <a:endParaRPr lang="en-US" altLang="zh-CN"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252</a:t>
            </a:r>
            <a:endParaRPr lang="en-US" altLang="zh-CN" sz="2400" dirty="0">
              <a:solidFill>
                <a:schemeClr val="tx1"/>
              </a:solidFill>
              <a:latin typeface="Times New Roman" panose="02020603050405020304" pitchFamily="18" charset="0"/>
            </a:endParaRPr>
          </a:p>
        </p:txBody>
      </p:sp>
      <p:sp>
        <p:nvSpPr>
          <p:cNvPr id="18460" name="Line 9"/>
          <p:cNvSpPr/>
          <p:nvPr/>
        </p:nvSpPr>
        <p:spPr>
          <a:xfrm>
            <a:off x="3151188" y="1795463"/>
            <a:ext cx="1843087" cy="1509712"/>
          </a:xfrm>
          <a:prstGeom prst="line">
            <a:avLst/>
          </a:prstGeom>
          <a:ln w="28575" cap="flat" cmpd="sng">
            <a:solidFill>
              <a:srgbClr val="C2228D"/>
            </a:solidFill>
            <a:prstDash val="solid"/>
            <a:headEnd type="none" w="med" len="med"/>
            <a:tailEnd type="triangle" w="med" len="med"/>
          </a:ln>
        </p:spPr>
      </p:sp>
      <p:sp>
        <p:nvSpPr>
          <p:cNvPr id="18461" name="Line 10"/>
          <p:cNvSpPr/>
          <p:nvPr/>
        </p:nvSpPr>
        <p:spPr>
          <a:xfrm>
            <a:off x="3151188" y="3240088"/>
            <a:ext cx="1843087" cy="1509712"/>
          </a:xfrm>
          <a:prstGeom prst="line">
            <a:avLst/>
          </a:prstGeom>
          <a:ln w="28575" cap="flat" cmpd="sng">
            <a:solidFill>
              <a:srgbClr val="C2228D"/>
            </a:solidFill>
            <a:prstDash val="solid"/>
            <a:headEnd type="none" w="med" len="med"/>
            <a:tailEnd type="triangle" w="med" len="med"/>
          </a:ln>
        </p:spPr>
      </p:sp>
      <p:grpSp>
        <p:nvGrpSpPr>
          <p:cNvPr id="18462" name="Group 41"/>
          <p:cNvGrpSpPr/>
          <p:nvPr/>
        </p:nvGrpSpPr>
        <p:grpSpPr>
          <a:xfrm>
            <a:off x="4994275" y="3305175"/>
            <a:ext cx="2284413" cy="1444625"/>
            <a:chOff x="3146" y="2103"/>
            <a:chExt cx="1439" cy="910"/>
          </a:xfrm>
        </p:grpSpPr>
        <p:sp>
          <p:nvSpPr>
            <p:cNvPr id="374812" name="Text Box 28" descr="新闻纸"/>
            <p:cNvSpPr txBox="1">
              <a:spLocks noChangeArrowheads="1"/>
            </p:cNvSpPr>
            <p:nvPr/>
          </p:nvSpPr>
          <p:spPr bwMode="auto">
            <a:xfrm>
              <a:off x="3146" y="2103"/>
              <a:ext cx="1439" cy="910"/>
            </a:xfrm>
            <a:prstGeom prst="rect">
              <a:avLst/>
            </a:prstGeom>
            <a:blipFill dpi="0" rotWithShape="0">
              <a:blip r:embed="rId1" cstate="print"/>
              <a:srcRect/>
              <a:tile tx="0" ty="0" sx="100000" sy="100000" flip="none" algn="tl"/>
            </a:blipFill>
            <a:ln w="9525">
              <a:solidFill>
                <a:schemeClr val="tx1"/>
              </a:solidFill>
              <a:miter lim="800000"/>
            </a:ln>
            <a:effectLst/>
          </p:spPr>
          <p:txBody>
            <a:bodyPr tIns="190800" bIns="694800">
              <a:spAutoFit/>
            </a:bodyPr>
            <a:lstStyle/>
            <a:p>
              <a:pPr marR="0" defTabSz="914400">
                <a:spcBef>
                  <a:spcPct val="50000"/>
                </a:spcBef>
                <a:buClrTx/>
                <a:buSzTx/>
                <a:buFontTx/>
                <a:buNone/>
                <a:defRPr/>
              </a:pP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ADD  AX, </a:t>
              </a:r>
              <a:r>
                <a:rPr kumimoji="0" lang="en-US" altLang="zh-CN" sz="3600" kern="1200" cap="none" spc="0" normalizeH="0" baseline="16000" noProof="0">
                  <a:solidFill>
                    <a:srgbClr val="C2228D"/>
                  </a:solidFill>
                  <a:effectLst>
                    <a:outerShdw blurRad="38100" dist="38100" dir="2700000" algn="tl">
                      <a:srgbClr val="C0C0C0"/>
                    </a:outerShdw>
                  </a:effectLst>
                  <a:latin typeface="Arial" panose="020B0604020202020204" pitchFamily="34" charset="0"/>
                  <a:ea typeface="宋体" panose="02010600030101010101" pitchFamily="2" charset="-122"/>
                  <a:cs typeface="+mn-cs"/>
                </a:rPr>
                <a:t>.</a:t>
              </a:r>
              <a:r>
                <a:rPr kumimoji="0" lang="en-US" altLang="zh-CN" sz="3600" kern="1200" cap="none" spc="0" normalizeH="0" baseline="1600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0" lang="en-US" altLang="zh-CN" sz="36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endPar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74816" name="Text Box 32"/>
            <p:cNvSpPr txBox="1">
              <a:spLocks noChangeArrowheads="1"/>
            </p:cNvSpPr>
            <p:nvPr/>
          </p:nvSpPr>
          <p:spPr bwMode="auto">
            <a:xfrm>
              <a:off x="3223" y="2253"/>
              <a:ext cx="1052" cy="518"/>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zh-CN" altLang="en-US" sz="2400" b="1" i="0" u="none" strike="noStrike" kern="1200" cap="none" spc="0" normalizeH="0" baseline="0" noProof="0" dirty="0">
                <a:ln>
                  <a:noFill/>
                </a:ln>
                <a:solidFill>
                  <a:srgbClr val="C2228D"/>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C2228D"/>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120</a:t>
              </a:r>
              <a:endParaRPr kumimoji="0" lang="zh-CN" altLang="en-US" sz="2400" b="1" i="0" u="none" strike="noStrike" kern="1200" cap="none" spc="0" normalizeH="0" baseline="0" noProof="0" dirty="0">
                <a:ln>
                  <a:noFill/>
                </a:ln>
                <a:solidFill>
                  <a:srgbClr val="C2228D"/>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grpSp>
      <p:sp>
        <p:nvSpPr>
          <p:cNvPr id="374818" name="Text Box 34"/>
          <p:cNvSpPr txBox="1">
            <a:spLocks noChangeArrowheads="1"/>
          </p:cNvSpPr>
          <p:nvPr/>
        </p:nvSpPr>
        <p:spPr bwMode="auto">
          <a:xfrm>
            <a:off x="957263" y="1336675"/>
            <a:ext cx="2255838"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accent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公共子程序</a:t>
            </a:r>
            <a:endParaRPr kumimoji="0" lang="zh-CN" altLang="en-US" sz="2400" kern="1200" cap="none" spc="0" normalizeH="0" baseline="0" noProof="0">
              <a:solidFill>
                <a:schemeClr val="accent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18464" name="Text Box 35"/>
          <p:cNvSpPr txBox="1"/>
          <p:nvPr/>
        </p:nvSpPr>
        <p:spPr>
          <a:xfrm>
            <a:off x="6299200" y="4951413"/>
            <a:ext cx="990600"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存储器</a:t>
            </a:r>
            <a:endParaRPr lang="zh-CN" altLang="en-US" sz="2000" dirty="0">
              <a:latin typeface="Arial" panose="020B0604020202020204" pitchFamily="34" charset="0"/>
              <a:ea typeface="黑体" panose="02010609060101010101" pitchFamily="49" charset="-122"/>
            </a:endParaRPr>
          </a:p>
        </p:txBody>
      </p:sp>
      <p:sp>
        <p:nvSpPr>
          <p:cNvPr id="374820" name="Text Box 36"/>
          <p:cNvSpPr txBox="1"/>
          <p:nvPr/>
        </p:nvSpPr>
        <p:spPr>
          <a:xfrm>
            <a:off x="377825" y="3405188"/>
            <a:ext cx="3092450" cy="790575"/>
          </a:xfrm>
          <a:prstGeom prst="rect">
            <a:avLst/>
          </a:prstGeom>
          <a:noFill/>
          <a:ln w="12700">
            <a:noFill/>
          </a:ln>
        </p:spPr>
        <p:txBody>
          <a:bodyPr lIns="63500" tIns="25400" rIns="63500" bIns="25400">
            <a:spAutoFit/>
          </a:bodyPr>
          <a:lstStyle/>
          <a:p>
            <a:r>
              <a:rPr lang="zh-CN" altLang="en-US" sz="2000" dirty="0">
                <a:solidFill>
                  <a:srgbClr val="A50021"/>
                </a:solidFill>
                <a:latin typeface="Arial" panose="020B0604020202020204" pitchFamily="34" charset="0"/>
                <a:ea typeface="黑体" panose="02010609060101010101" pitchFamily="49" charset="-122"/>
              </a:rPr>
              <a:t>“ </a:t>
            </a:r>
            <a:r>
              <a:rPr lang="en-US" altLang="zh-CN" sz="4800" dirty="0">
                <a:solidFill>
                  <a:srgbClr val="A50021"/>
                </a:solidFill>
                <a:latin typeface="Arial" panose="020B0604020202020204" pitchFamily="34" charset="0"/>
                <a:ea typeface="黑体" panose="02010609060101010101" pitchFamily="49" charset="-122"/>
              </a:rPr>
              <a:t>. </a:t>
            </a:r>
            <a:r>
              <a:rPr lang="en-US" altLang="zh-CN" sz="2000" dirty="0">
                <a:solidFill>
                  <a:srgbClr val="A50021"/>
                </a:solidFill>
                <a:latin typeface="Arial" panose="020B0604020202020204" pitchFamily="34" charset="0"/>
                <a:ea typeface="黑体" panose="02010609060101010101" pitchFamily="49" charset="-122"/>
              </a:rPr>
              <a:t>” </a:t>
            </a:r>
            <a:r>
              <a:rPr lang="zh-CN" altLang="en-US" sz="2000" dirty="0">
                <a:solidFill>
                  <a:srgbClr val="A50021"/>
                </a:solidFill>
                <a:latin typeface="Arial" panose="020B0604020202020204" pitchFamily="34" charset="0"/>
                <a:ea typeface="黑体" panose="02010609060101010101" pitchFamily="49" charset="-122"/>
              </a:rPr>
              <a:t>表示相对寻址方式</a:t>
            </a:r>
            <a:endParaRPr lang="en-US" altLang="zh-CN" sz="2000" dirty="0">
              <a:solidFill>
                <a:srgbClr val="A50021"/>
              </a:solidFill>
              <a:latin typeface="Arial" panose="020B0604020202020204" pitchFamily="34" charset="0"/>
              <a:ea typeface="黑体" panose="02010609060101010101" pitchFamily="49" charset="-122"/>
            </a:endParaRPr>
          </a:p>
        </p:txBody>
      </p:sp>
      <p:sp>
        <p:nvSpPr>
          <p:cNvPr id="374833" name="Text Box 49"/>
          <p:cNvSpPr txBox="1"/>
          <p:nvPr/>
        </p:nvSpPr>
        <p:spPr>
          <a:xfrm>
            <a:off x="568325" y="4271963"/>
            <a:ext cx="2776538" cy="1117600"/>
          </a:xfrm>
          <a:prstGeom prst="rect">
            <a:avLst/>
          </a:prstGeom>
          <a:noFill/>
          <a:ln w="12700">
            <a:noFill/>
          </a:ln>
        </p:spPr>
        <p:txBody>
          <a:bodyPr lIns="63500" tIns="25400" rIns="63500" bIns="25400">
            <a:spAutoFit/>
          </a:bodyPr>
          <a:lstStyle/>
          <a:p>
            <a:pPr>
              <a:spcBef>
                <a:spcPct val="50000"/>
              </a:spcBef>
            </a:pPr>
            <a:r>
              <a:rPr lang="zh-CN" altLang="en-US" sz="2000" dirty="0">
                <a:solidFill>
                  <a:schemeClr val="accent1"/>
                </a:solidFill>
                <a:latin typeface="Arial" panose="020B0604020202020204" pitchFamily="34" charset="0"/>
                <a:ea typeface="黑体" panose="02010609060101010101" pitchFamily="49" charset="-122"/>
              </a:rPr>
              <a:t>有效地址</a:t>
            </a:r>
            <a:r>
              <a:rPr lang="en-US" altLang="zh-CN" sz="2000" dirty="0">
                <a:solidFill>
                  <a:schemeClr val="accent1"/>
                </a:solidFill>
                <a:latin typeface="Arial" panose="020B0604020202020204" pitchFamily="34" charset="0"/>
                <a:ea typeface="黑体" panose="02010609060101010101" pitchFamily="49" charset="-122"/>
              </a:rPr>
              <a:t>EA=(PC)+1</a:t>
            </a:r>
            <a:endParaRPr lang="en-US" altLang="zh-CN" sz="2000" dirty="0">
              <a:solidFill>
                <a:schemeClr val="accent1"/>
              </a:solidFill>
              <a:latin typeface="Arial" panose="020B0604020202020204" pitchFamily="34" charset="0"/>
              <a:ea typeface="黑体" panose="02010609060101010101" pitchFamily="49" charset="-122"/>
            </a:endParaRPr>
          </a:p>
          <a:p>
            <a:pPr>
              <a:spcBef>
                <a:spcPct val="50000"/>
              </a:spcBef>
            </a:pPr>
            <a:r>
              <a:rPr lang="zh-CN" altLang="en-US" sz="2000" dirty="0">
                <a:solidFill>
                  <a:schemeClr val="accent1"/>
                </a:solidFill>
                <a:latin typeface="Arial" panose="020B0604020202020204" pitchFamily="34" charset="0"/>
                <a:ea typeface="黑体" panose="02010609060101010101" pitchFamily="49" charset="-122"/>
              </a:rPr>
              <a:t>即：操作数在当前指令随后的一条指令后！</a:t>
            </a:r>
            <a:endParaRPr lang="zh-CN" altLang="en-US" sz="2000" dirty="0">
              <a:solidFill>
                <a:schemeClr val="accent1"/>
              </a:solidFill>
              <a:latin typeface="Arial" panose="020B0604020202020204" pitchFamily="34" charset="0"/>
              <a:ea typeface="黑体" panose="02010609060101010101" pitchFamily="49" charset="-122"/>
            </a:endParaRPr>
          </a:p>
        </p:txBody>
      </p:sp>
      <p:sp>
        <p:nvSpPr>
          <p:cNvPr id="18467" name="Text Box 40"/>
          <p:cNvSpPr txBox="1"/>
          <p:nvPr/>
        </p:nvSpPr>
        <p:spPr>
          <a:xfrm>
            <a:off x="381000" y="796925"/>
            <a:ext cx="3406775" cy="401638"/>
          </a:xfrm>
          <a:prstGeom prst="rect">
            <a:avLst/>
          </a:prstGeom>
          <a:noFill/>
          <a:ln w="12700">
            <a:noFill/>
          </a:ln>
        </p:spPr>
        <p:txBody>
          <a:bodyPr lIns="63500" tIns="25400" rIns="63500" bIns="25400">
            <a:spAutoFit/>
          </a:bodyPr>
          <a:lstStyle/>
          <a:p>
            <a:pPr>
              <a:spcBef>
                <a:spcPct val="50000"/>
              </a:spcBef>
            </a:pPr>
            <a:r>
              <a:rPr lang="zh-CN" altLang="en-US" sz="2300" dirty="0">
                <a:latin typeface="Arial" panose="020B0604020202020204" pitchFamily="34" charset="0"/>
              </a:rPr>
              <a:t>假定每条指令占一个单元</a:t>
            </a:r>
            <a:endParaRPr lang="zh-CN" altLang="en-US" sz="2300" dirty="0">
              <a:latin typeface="Arial" panose="020B0604020202020204" pitchFamily="34" charset="0"/>
            </a:endParaRPr>
          </a:p>
        </p:txBody>
      </p:sp>
      <p:sp>
        <p:nvSpPr>
          <p:cNvPr id="23593" name="Text Box 41"/>
          <p:cNvSpPr txBox="1"/>
          <p:nvPr/>
        </p:nvSpPr>
        <p:spPr>
          <a:xfrm>
            <a:off x="6400800" y="5662613"/>
            <a:ext cx="2351088" cy="1066800"/>
          </a:xfrm>
          <a:prstGeom prst="rect">
            <a:avLst/>
          </a:prstGeom>
          <a:noFill/>
          <a:ln w="12700">
            <a:noFill/>
          </a:ln>
        </p:spPr>
        <p:txBody>
          <a:bodyPr lIns="63500" tIns="25400" rIns="63500" bIns="25400">
            <a:spAutoFit/>
          </a:bodyPr>
          <a:lstStyle/>
          <a:p>
            <a:pPr>
              <a:spcBef>
                <a:spcPct val="50000"/>
              </a:spcBef>
            </a:pPr>
            <a:r>
              <a:rPr lang="zh-CN" altLang="en-US" sz="2200" dirty="0">
                <a:solidFill>
                  <a:srgbClr val="C51915"/>
                </a:solidFill>
                <a:latin typeface="微软雅黑" panose="020B0503020204020204" pitchFamily="34" charset="-122"/>
                <a:ea typeface="微软雅黑" panose="020B0503020204020204" pitchFamily="34" charset="-122"/>
              </a:rPr>
              <a:t>通常计算有效地址时，</a:t>
            </a:r>
            <a:r>
              <a:rPr lang="en-US" altLang="zh-CN" sz="2200" dirty="0">
                <a:solidFill>
                  <a:srgbClr val="C51915"/>
                </a:solidFill>
                <a:latin typeface="微软雅黑" panose="020B0503020204020204" pitchFamily="34" charset="-122"/>
                <a:ea typeface="微软雅黑" panose="020B0503020204020204" pitchFamily="34" charset="-122"/>
              </a:rPr>
              <a:t>PC</a:t>
            </a:r>
            <a:r>
              <a:rPr lang="zh-CN" altLang="en-US" sz="2200" dirty="0">
                <a:solidFill>
                  <a:srgbClr val="C51915"/>
                </a:solidFill>
                <a:latin typeface="微软雅黑" panose="020B0503020204020204" pitchFamily="34" charset="-122"/>
                <a:ea typeface="微软雅黑" panose="020B0503020204020204" pitchFamily="34" charset="-122"/>
              </a:rPr>
              <a:t>已指向下条指令</a:t>
            </a:r>
            <a:r>
              <a:rPr lang="en-US" altLang="zh-CN" sz="2200" dirty="0">
                <a:solidFill>
                  <a:srgbClr val="C51915"/>
                </a:solidFill>
                <a:latin typeface="微软雅黑" panose="020B0503020204020204" pitchFamily="34" charset="-122"/>
                <a:ea typeface="微软雅黑" panose="020B0503020204020204" pitchFamily="34" charset="-122"/>
              </a:rPr>
              <a:t>!</a:t>
            </a:r>
            <a:endParaRPr lang="en-US" altLang="zh-CN" sz="2200" dirty="0">
              <a:solidFill>
                <a:srgbClr val="C51915"/>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4820"/>
                                        </p:tgtEl>
                                        <p:attrNameLst>
                                          <p:attrName>style.visibility</p:attrName>
                                        </p:attrNameLst>
                                      </p:cBhvr>
                                      <p:to>
                                        <p:strVal val="visible"/>
                                      </p:to>
                                    </p:set>
                                    <p:animEffect transition="in" filter="blinds(horizontal)">
                                      <p:cBhvr>
                                        <p:cTn id="7" dur="500"/>
                                        <p:tgtEl>
                                          <p:spTgt spid="3748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4833">
                                            <p:txEl>
                                              <p:pRg st="0" end="0"/>
                                            </p:txEl>
                                          </p:spTgt>
                                        </p:tgtEl>
                                        <p:attrNameLst>
                                          <p:attrName>style.visibility</p:attrName>
                                        </p:attrNameLst>
                                      </p:cBhvr>
                                      <p:to>
                                        <p:strVal val="visible"/>
                                      </p:to>
                                    </p:set>
                                    <p:animEffect transition="in" filter="blinds(horizontal)">
                                      <p:cBhvr>
                                        <p:cTn id="12" dur="500"/>
                                        <p:tgtEl>
                                          <p:spTgt spid="3748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593"/>
                                        </p:tgtEl>
                                        <p:attrNameLst>
                                          <p:attrName>style.visibility</p:attrName>
                                        </p:attrNameLst>
                                      </p:cBhvr>
                                      <p:to>
                                        <p:strVal val="visible"/>
                                      </p:to>
                                    </p:set>
                                    <p:animEffect transition="in" filter="blinds(horizontal)">
                                      <p:cBhvr>
                                        <p:cTn id="17" dur="500"/>
                                        <p:tgtEl>
                                          <p:spTgt spid="2359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4833">
                                            <p:txEl>
                                              <p:pRg st="1" end="1"/>
                                            </p:txEl>
                                          </p:spTgt>
                                        </p:tgtEl>
                                        <p:attrNameLst>
                                          <p:attrName>style.visibility</p:attrName>
                                        </p:attrNameLst>
                                      </p:cBhvr>
                                      <p:to>
                                        <p:strVal val="visible"/>
                                      </p:to>
                                    </p:set>
                                    <p:animEffect transition="in" filter="blinds(horizontal)">
                                      <p:cBhvr>
                                        <p:cTn id="22" dur="500"/>
                                        <p:tgtEl>
                                          <p:spTgt spid="37483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4788"/>
                                        </p:tgtEl>
                                        <p:attrNameLst>
                                          <p:attrName>style.visibility</p:attrName>
                                        </p:attrNameLst>
                                      </p:cBhvr>
                                      <p:to>
                                        <p:strVal val="visible"/>
                                      </p:to>
                                    </p:set>
                                    <p:animEffect transition="in" filter="blinds(horizontal)">
                                      <p:cBhvr>
                                        <p:cTn id="27" dur="500"/>
                                        <p:tgtEl>
                                          <p:spTgt spid="374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8" grpId="0"/>
      <p:bldP spid="374820" grpId="0"/>
      <p:bldP spid="2359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457200" y="109538"/>
            <a:ext cx="7280275" cy="425450"/>
          </a:xfrm>
        </p:spPr>
        <p:txBody>
          <a:bodyPr vert="horz" wrap="square" lIns="63500" tIns="25400" rIns="63500" bIns="25400" anchor="t" anchorCtr="0">
            <a:spAutoFit/>
          </a:bodyPr>
          <a:lstStyle/>
          <a:p>
            <a:r>
              <a:rPr lang="zh-CN" altLang="en-US" sz="2800" dirty="0">
                <a:ea typeface="宋体" panose="02010600030101010101" pitchFamily="2" charset="-122"/>
              </a:rPr>
              <a:t>相对寻址实现相对转移</a:t>
            </a:r>
            <a:endParaRPr lang="zh-CN" altLang="en-US" sz="2800" dirty="0">
              <a:ea typeface="宋体" panose="02010600030101010101" pitchFamily="2" charset="-122"/>
            </a:endParaRPr>
          </a:p>
        </p:txBody>
      </p:sp>
      <p:sp>
        <p:nvSpPr>
          <p:cNvPr id="435241" name="Text Box 41"/>
          <p:cNvSpPr txBox="1"/>
          <p:nvPr/>
        </p:nvSpPr>
        <p:spPr>
          <a:xfrm>
            <a:off x="5346700" y="6502400"/>
            <a:ext cx="1198563" cy="355600"/>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hlinkClick r:id="rId1" action="ppaction://hlinksldjump"/>
              </a:rPr>
              <a:t>BACK</a:t>
            </a:r>
            <a:endParaRPr lang="zh-CN" altLang="en-US" sz="2000" dirty="0">
              <a:latin typeface="Arial" panose="020B0604020202020204" pitchFamily="34" charset="0"/>
            </a:endParaRPr>
          </a:p>
        </p:txBody>
      </p:sp>
      <p:sp>
        <p:nvSpPr>
          <p:cNvPr id="435242" name="Text Box 42"/>
          <p:cNvSpPr txBox="1"/>
          <p:nvPr/>
        </p:nvSpPr>
        <p:spPr>
          <a:xfrm>
            <a:off x="268288" y="603250"/>
            <a:ext cx="8482012" cy="2314575"/>
          </a:xfrm>
          <a:prstGeom prst="rect">
            <a:avLst/>
          </a:prstGeom>
          <a:noFill/>
          <a:ln w="12700">
            <a:noFill/>
          </a:ln>
        </p:spPr>
        <p:txBody>
          <a:bodyPr lIns="63500" tIns="25400" rIns="63500" bIns="25400">
            <a:spAutoFit/>
          </a:bodyPr>
          <a:lstStyle/>
          <a:p>
            <a:pPr>
              <a:lnSpc>
                <a:spcPct val="125000"/>
              </a:lnSpc>
              <a:spcBef>
                <a:spcPct val="50000"/>
              </a:spcBef>
            </a:pPr>
            <a:r>
              <a:rPr lang="zh-CN" altLang="en-US" sz="2200" dirty="0">
                <a:solidFill>
                  <a:schemeClr val="tx1"/>
                </a:solidFill>
                <a:latin typeface="Arial" panose="020B0604020202020204" pitchFamily="34" charset="0"/>
                <a:ea typeface="黑体" panose="02010609060101010101" pitchFamily="49" charset="-122"/>
              </a:rPr>
              <a:t>举例：双字节定长指令字，其中转移指令的第一字节是操作码</a:t>
            </a:r>
            <a:r>
              <a:rPr lang="en-US" altLang="zh-CN" sz="2200" dirty="0">
                <a:solidFill>
                  <a:schemeClr val="tx1"/>
                </a:solidFill>
                <a:latin typeface="Arial" panose="020B0604020202020204" pitchFamily="34" charset="0"/>
                <a:ea typeface="黑体" panose="02010609060101010101" pitchFamily="49" charset="-122"/>
              </a:rPr>
              <a:t>Jxx</a:t>
            </a:r>
            <a:r>
              <a:rPr lang="zh-CN" altLang="en-US" sz="2200" dirty="0">
                <a:solidFill>
                  <a:schemeClr val="tx1"/>
                </a:solidFill>
                <a:latin typeface="Arial" panose="020B0604020202020204" pitchFamily="34" charset="0"/>
                <a:ea typeface="黑体" panose="02010609060101010101" pitchFamily="49" charset="-122"/>
              </a:rPr>
              <a:t>，第二字节是位移量</a:t>
            </a:r>
            <a:r>
              <a:rPr lang="en-US" altLang="zh-CN" sz="2200" dirty="0">
                <a:solidFill>
                  <a:schemeClr val="tx1"/>
                </a:solidFill>
                <a:latin typeface="Arial" panose="020B0604020202020204" pitchFamily="34" charset="0"/>
                <a:ea typeface="黑体" panose="02010609060101010101" pitchFamily="49" charset="-122"/>
              </a:rPr>
              <a:t>D</a:t>
            </a:r>
            <a:r>
              <a:rPr lang="zh-CN" altLang="en-US" sz="2200" dirty="0">
                <a:solidFill>
                  <a:schemeClr val="tx1"/>
                </a:solidFill>
                <a:latin typeface="Arial" panose="020B0604020202020204" pitchFamily="34" charset="0"/>
                <a:ea typeface="黑体" panose="02010609060101010101" pitchFamily="49" charset="-122"/>
              </a:rPr>
              <a:t>，用补码表示，则转移目标指令</a:t>
            </a:r>
            <a:r>
              <a:rPr lang="zh-CN" altLang="en-US" sz="2200" dirty="0">
                <a:solidFill>
                  <a:schemeClr val="accent1"/>
                </a:solidFill>
                <a:latin typeface="Arial" panose="020B0604020202020204" pitchFamily="34" charset="0"/>
                <a:ea typeface="黑体" panose="02010609060101010101" pitchFamily="49" charset="-122"/>
              </a:rPr>
              <a:t>相对于转移指令的范围</a:t>
            </a:r>
            <a:r>
              <a:rPr lang="zh-CN" altLang="en-US" sz="2200" dirty="0">
                <a:solidFill>
                  <a:schemeClr val="tx1"/>
                </a:solidFill>
                <a:latin typeface="Arial" panose="020B0604020202020204" pitchFamily="34" charset="0"/>
                <a:ea typeface="黑体" panose="02010609060101010101" pitchFamily="49" charset="-122"/>
              </a:rPr>
              <a:t>为多少？</a:t>
            </a:r>
            <a:endParaRPr lang="zh-CN" altLang="en-US" sz="2200" dirty="0">
              <a:solidFill>
                <a:schemeClr val="tx1"/>
              </a:solidFill>
              <a:latin typeface="Arial" panose="020B0604020202020204" pitchFamily="34" charset="0"/>
              <a:ea typeface="黑体" panose="02010609060101010101" pitchFamily="49" charset="-122"/>
            </a:endParaRPr>
          </a:p>
          <a:p>
            <a:pPr>
              <a:lnSpc>
                <a:spcPct val="125000"/>
              </a:lnSpc>
              <a:spcBef>
                <a:spcPct val="50000"/>
              </a:spcBef>
            </a:pPr>
            <a:r>
              <a:rPr lang="zh-CN" altLang="en-US" sz="2200" dirty="0">
                <a:solidFill>
                  <a:schemeClr val="tx1"/>
                </a:solidFill>
                <a:latin typeface="Arial" panose="020B0604020202020204" pitchFamily="34" charset="0"/>
                <a:ea typeface="黑体" panose="02010609060101010101" pitchFamily="49" charset="-122"/>
              </a:rPr>
              <a:t>若转移指令地址为</a:t>
            </a:r>
            <a:r>
              <a:rPr lang="en-US" altLang="zh-CN" sz="2200" dirty="0">
                <a:solidFill>
                  <a:schemeClr val="tx1"/>
                </a:solidFill>
                <a:latin typeface="Arial" panose="020B0604020202020204" pitchFamily="34" charset="0"/>
                <a:ea typeface="黑体" panose="02010609060101010101" pitchFamily="49" charset="-122"/>
              </a:rPr>
              <a:t>2000H</a:t>
            </a:r>
            <a:r>
              <a:rPr lang="zh-CN" altLang="en-US" sz="2200" dirty="0">
                <a:solidFill>
                  <a:schemeClr val="tx1"/>
                </a:solidFill>
                <a:latin typeface="Arial" panose="020B0604020202020204" pitchFamily="34" charset="0"/>
                <a:ea typeface="黑体" panose="02010609060101010101" pitchFamily="49" charset="-122"/>
              </a:rPr>
              <a:t>，转移目标地址为</a:t>
            </a:r>
            <a:r>
              <a:rPr lang="en-US" altLang="zh-CN" sz="2200" dirty="0">
                <a:solidFill>
                  <a:schemeClr val="tx1"/>
                </a:solidFill>
                <a:latin typeface="Arial" panose="020B0604020202020204" pitchFamily="34" charset="0"/>
                <a:ea typeface="黑体" panose="02010609060101010101" pitchFamily="49" charset="-122"/>
              </a:rPr>
              <a:t>1FF0H</a:t>
            </a:r>
            <a:r>
              <a:rPr lang="zh-CN" altLang="en-US" sz="2200" dirty="0">
                <a:solidFill>
                  <a:schemeClr val="tx1"/>
                </a:solidFill>
                <a:latin typeface="Arial" panose="020B0604020202020204" pitchFamily="34" charset="0"/>
                <a:ea typeface="黑体" panose="02010609060101010101" pitchFamily="49" charset="-122"/>
              </a:rPr>
              <a:t>，总是在取指令同时对</a:t>
            </a:r>
            <a:r>
              <a:rPr lang="en-US" altLang="zh-CN" sz="2200" dirty="0">
                <a:solidFill>
                  <a:schemeClr val="tx1"/>
                </a:solidFill>
                <a:latin typeface="Arial" panose="020B0604020202020204" pitchFamily="34" charset="0"/>
                <a:ea typeface="黑体" panose="02010609060101010101" pitchFamily="49" charset="-122"/>
              </a:rPr>
              <a:t>PC</a:t>
            </a:r>
            <a:r>
              <a:rPr lang="zh-CN" altLang="en-US" sz="2200" dirty="0">
                <a:solidFill>
                  <a:schemeClr val="tx1"/>
                </a:solidFill>
                <a:latin typeface="Arial" panose="020B0604020202020204" pitchFamily="34" charset="0"/>
                <a:ea typeface="黑体" panose="02010609060101010101" pitchFamily="49" charset="-122"/>
              </a:rPr>
              <a:t>增量，则转移指令第二字节位移量为多少？</a:t>
            </a:r>
            <a:endParaRPr lang="zh-CN" altLang="en-US" sz="2200" dirty="0">
              <a:solidFill>
                <a:schemeClr val="tx1"/>
              </a:solidFill>
              <a:latin typeface="Arial" panose="020B0604020202020204" pitchFamily="34" charset="0"/>
              <a:ea typeface="黑体" panose="02010609060101010101" pitchFamily="49" charset="-122"/>
            </a:endParaRPr>
          </a:p>
        </p:txBody>
      </p:sp>
      <p:sp>
        <p:nvSpPr>
          <p:cNvPr id="435243" name="Text Box 43"/>
          <p:cNvSpPr txBox="1"/>
          <p:nvPr/>
        </p:nvSpPr>
        <p:spPr>
          <a:xfrm>
            <a:off x="3257550" y="1573213"/>
            <a:ext cx="2198688" cy="415925"/>
          </a:xfrm>
          <a:prstGeom prst="rect">
            <a:avLst/>
          </a:prstGeom>
          <a:noFill/>
          <a:ln w="12700">
            <a:noFill/>
          </a:ln>
        </p:spPr>
        <p:txBody>
          <a:bodyPr lIns="63500" tIns="25400" rIns="63500" bIns="25400">
            <a:spAutoFit/>
          </a:bodyPr>
          <a:lstStyle/>
          <a:p>
            <a:pPr>
              <a:spcBef>
                <a:spcPct val="50000"/>
              </a:spcBef>
            </a:pPr>
            <a:r>
              <a:rPr lang="en-US" altLang="zh-CN" sz="2400" dirty="0">
                <a:latin typeface="Arial" panose="020B0604020202020204" pitchFamily="34" charset="0"/>
                <a:ea typeface="黑体" panose="02010609060101010101" pitchFamily="49" charset="-122"/>
              </a:rPr>
              <a:t>-128</a:t>
            </a:r>
            <a:r>
              <a:rPr lang="zh-CN" altLang="en-US" sz="2400" dirty="0">
                <a:latin typeface="Arial" panose="020B0604020202020204" pitchFamily="34" charset="0"/>
                <a:ea typeface="黑体" panose="02010609060101010101" pitchFamily="49" charset="-122"/>
              </a:rPr>
              <a:t>～</a:t>
            </a:r>
            <a:r>
              <a:rPr lang="en-US" altLang="zh-CN" sz="2400" dirty="0">
                <a:latin typeface="Arial" panose="020B0604020202020204" pitchFamily="34" charset="0"/>
                <a:ea typeface="黑体" panose="02010609060101010101" pitchFamily="49" charset="-122"/>
              </a:rPr>
              <a:t>+127 </a:t>
            </a:r>
            <a:r>
              <a:rPr lang="zh-CN" altLang="en-US" sz="2400" dirty="0">
                <a:latin typeface="Arial" panose="020B0604020202020204" pitchFamily="34" charset="0"/>
                <a:ea typeface="黑体" panose="02010609060101010101" pitchFamily="49" charset="-122"/>
              </a:rPr>
              <a:t>？</a:t>
            </a:r>
            <a:endParaRPr lang="zh-CN" altLang="en-US" sz="2400" dirty="0">
              <a:latin typeface="Arial" panose="020B0604020202020204" pitchFamily="34" charset="0"/>
              <a:ea typeface="黑体" panose="02010609060101010101" pitchFamily="49" charset="-122"/>
            </a:endParaRPr>
          </a:p>
        </p:txBody>
      </p:sp>
      <p:sp>
        <p:nvSpPr>
          <p:cNvPr id="435244" name="Text Box 44"/>
          <p:cNvSpPr txBox="1"/>
          <p:nvPr/>
        </p:nvSpPr>
        <p:spPr>
          <a:xfrm>
            <a:off x="234950" y="2992438"/>
            <a:ext cx="8493125" cy="1727200"/>
          </a:xfrm>
          <a:prstGeom prst="rect">
            <a:avLst/>
          </a:prstGeom>
          <a:solidFill>
            <a:schemeClr val="bg1"/>
          </a:solid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只有确定了是按字还是字节编址、位移量</a:t>
            </a:r>
            <a:r>
              <a:rPr lang="en-US" altLang="zh-CN" sz="2000" dirty="0">
                <a:latin typeface="Arial" panose="020B0604020202020204" pitchFamily="34" charset="0"/>
                <a:ea typeface="黑体" panose="02010609060101010101" pitchFamily="49" charset="-122"/>
              </a:rPr>
              <a:t>D</a:t>
            </a:r>
            <a:r>
              <a:rPr lang="zh-CN" altLang="en-US" sz="2000" dirty="0">
                <a:latin typeface="Arial" panose="020B0604020202020204" pitchFamily="34" charset="0"/>
                <a:ea typeface="黑体" panose="02010609060101010101" pitchFamily="49" charset="-122"/>
              </a:rPr>
              <a:t>是指指令条数还是单元数，才能确定目标地址范围</a:t>
            </a:r>
            <a:r>
              <a:rPr lang="zh-CN" altLang="en-US" sz="2000" dirty="0">
                <a:solidFill>
                  <a:srgbClr val="C51915"/>
                </a:solidFill>
                <a:latin typeface="Arial" panose="020B0604020202020204" pitchFamily="34" charset="0"/>
                <a:ea typeface="黑体" panose="02010609060101010101" pitchFamily="49" charset="-122"/>
              </a:rPr>
              <a:t>（目标地址范围不等于位移量</a:t>
            </a:r>
            <a:r>
              <a:rPr lang="en-US" altLang="zh-CN" sz="2000" dirty="0">
                <a:solidFill>
                  <a:srgbClr val="C51915"/>
                </a:solidFill>
                <a:latin typeface="Arial" panose="020B0604020202020204" pitchFamily="34" charset="0"/>
                <a:ea typeface="黑体" panose="02010609060101010101" pitchFamily="49" charset="-122"/>
              </a:rPr>
              <a:t>D</a:t>
            </a:r>
            <a:r>
              <a:rPr lang="zh-CN" altLang="en-US" sz="2000" dirty="0">
                <a:solidFill>
                  <a:srgbClr val="C51915"/>
                </a:solidFill>
                <a:latin typeface="Arial" panose="020B0604020202020204" pitchFamily="34" charset="0"/>
                <a:ea typeface="黑体" panose="02010609060101010101" pitchFamily="49" charset="-122"/>
              </a:rPr>
              <a:t>的表示范围！）</a:t>
            </a:r>
            <a:r>
              <a:rPr lang="zh-CN" altLang="en-US" sz="2000" dirty="0">
                <a:latin typeface="Arial" panose="020B0604020202020204" pitchFamily="34" charset="0"/>
                <a:ea typeface="黑体" panose="02010609060101010101" pitchFamily="49" charset="-122"/>
              </a:rPr>
              <a:t>。</a:t>
            </a:r>
            <a:endParaRPr lang="zh-CN" altLang="en-US" sz="2000" dirty="0">
              <a:latin typeface="Arial" panose="020B0604020202020204" pitchFamily="34" charset="0"/>
              <a:ea typeface="黑体" panose="02010609060101010101" pitchFamily="49" charset="-122"/>
            </a:endParaRPr>
          </a:p>
          <a:p>
            <a:pPr>
              <a:spcBef>
                <a:spcPct val="50000"/>
              </a:spcBef>
            </a:pPr>
            <a:r>
              <a:rPr lang="zh-CN" altLang="en-US" sz="2000" dirty="0">
                <a:latin typeface="Arial" panose="020B0604020202020204" pitchFamily="34" charset="0"/>
                <a:ea typeface="黑体" panose="02010609060101010101" pitchFamily="49" charset="-122"/>
              </a:rPr>
              <a:t>当按字节编址且</a:t>
            </a:r>
            <a:r>
              <a:rPr lang="en-US" altLang="zh-CN" sz="2000" dirty="0">
                <a:solidFill>
                  <a:srgbClr val="C51915"/>
                </a:solidFill>
                <a:latin typeface="Arial" panose="020B0604020202020204" pitchFamily="34" charset="0"/>
                <a:ea typeface="黑体" panose="02010609060101010101" pitchFamily="49" charset="-122"/>
              </a:rPr>
              <a:t>D</a:t>
            </a:r>
            <a:r>
              <a:rPr lang="zh-CN" altLang="en-US" sz="2000" dirty="0">
                <a:solidFill>
                  <a:srgbClr val="C51915"/>
                </a:solidFill>
                <a:latin typeface="Arial" panose="020B0604020202020204" pitchFamily="34" charset="0"/>
                <a:ea typeface="黑体" panose="02010609060101010101" pitchFamily="49" charset="-122"/>
              </a:rPr>
              <a:t>为单元数</a:t>
            </a:r>
            <a:r>
              <a:rPr lang="zh-CN" altLang="en-US" sz="2000" dirty="0">
                <a:latin typeface="Arial" panose="020B0604020202020204" pitchFamily="34" charset="0"/>
                <a:ea typeface="黑体" panose="02010609060101010101" pitchFamily="49" charset="-122"/>
              </a:rPr>
              <a:t>时，转移目标地址</a:t>
            </a:r>
            <a:r>
              <a:rPr lang="en-US" altLang="zh-CN" sz="2000" dirty="0">
                <a:latin typeface="Arial" panose="020B0604020202020204" pitchFamily="34" charset="0"/>
                <a:ea typeface="黑体" panose="02010609060101010101" pitchFamily="49" charset="-122"/>
              </a:rPr>
              <a:t>= (PC)+2+D</a:t>
            </a:r>
            <a:endParaRPr lang="en-US" altLang="zh-CN" sz="2000" dirty="0">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			        跳转范围：</a:t>
            </a:r>
            <a:r>
              <a:rPr lang="en-US" altLang="zh-CN" sz="2000" dirty="0">
                <a:latin typeface="Arial" panose="020B0604020202020204" pitchFamily="34" charset="0"/>
                <a:ea typeface="黑体" panose="02010609060101010101" pitchFamily="49" charset="-122"/>
              </a:rPr>
              <a:t>-126</a:t>
            </a:r>
            <a:r>
              <a:rPr lang="zh-CN" altLang="en-US" sz="2000" dirty="0">
                <a:latin typeface="Arial" panose="020B0604020202020204" pitchFamily="34" charset="0"/>
              </a:rPr>
              <a:t>～</a:t>
            </a:r>
            <a:r>
              <a:rPr lang="en-US" altLang="zh-CN" sz="2000" dirty="0">
                <a:latin typeface="Arial" panose="020B0604020202020204" pitchFamily="34" charset="0"/>
              </a:rPr>
              <a:t>128</a:t>
            </a:r>
            <a:r>
              <a:rPr lang="zh-CN" altLang="en-US" sz="2000" dirty="0">
                <a:latin typeface="Arial" panose="020B0604020202020204" pitchFamily="34" charset="0"/>
              </a:rPr>
              <a:t>单元</a:t>
            </a:r>
            <a:endParaRPr lang="zh-CN" altLang="en-US" sz="2000" dirty="0">
              <a:latin typeface="Arial" panose="020B0604020202020204" pitchFamily="34" charset="0"/>
            </a:endParaRPr>
          </a:p>
          <a:p>
            <a:r>
              <a:rPr lang="zh-CN" altLang="en-US" sz="2000" dirty="0">
                <a:latin typeface="Arial" panose="020B0604020202020204" pitchFamily="34" charset="0"/>
              </a:rPr>
              <a:t>                                                                 </a:t>
            </a:r>
            <a:r>
              <a:rPr lang="en-US" altLang="zh-CN" sz="2000" dirty="0">
                <a:latin typeface="Arial" panose="020B0604020202020204" pitchFamily="34" charset="0"/>
              </a:rPr>
              <a:t>- 63</a:t>
            </a:r>
            <a:r>
              <a:rPr lang="zh-CN" altLang="en-US" sz="2000" dirty="0">
                <a:latin typeface="Arial" panose="020B0604020202020204" pitchFamily="34" charset="0"/>
              </a:rPr>
              <a:t>～</a:t>
            </a:r>
            <a:r>
              <a:rPr lang="en-US" altLang="zh-CN" sz="2000" dirty="0">
                <a:latin typeface="Arial" panose="020B0604020202020204" pitchFamily="34" charset="0"/>
              </a:rPr>
              <a:t>64</a:t>
            </a:r>
            <a:r>
              <a:rPr lang="zh-CN" altLang="en-US" sz="2000" dirty="0">
                <a:latin typeface="Arial" panose="020B0604020202020204" pitchFamily="34" charset="0"/>
              </a:rPr>
              <a:t>条指令 </a:t>
            </a:r>
            <a:r>
              <a:rPr lang="zh-CN" altLang="en-US" sz="2000" dirty="0">
                <a:latin typeface="Arial" panose="020B0604020202020204" pitchFamily="34" charset="0"/>
                <a:ea typeface="黑体" panose="02010609060101010101" pitchFamily="49" charset="-122"/>
              </a:rPr>
              <a:t>	</a:t>
            </a:r>
            <a:endParaRPr lang="zh-CN" altLang="en-US" sz="2000" dirty="0">
              <a:latin typeface="Arial" panose="020B0604020202020204" pitchFamily="34" charset="0"/>
              <a:ea typeface="黑体" panose="02010609060101010101" pitchFamily="49" charset="-122"/>
            </a:endParaRPr>
          </a:p>
        </p:txBody>
      </p:sp>
      <p:sp>
        <p:nvSpPr>
          <p:cNvPr id="435245" name="Text Box 45"/>
          <p:cNvSpPr txBox="1"/>
          <p:nvPr/>
        </p:nvSpPr>
        <p:spPr>
          <a:xfrm>
            <a:off x="263525" y="4572000"/>
            <a:ext cx="4668239" cy="389850"/>
          </a:xfrm>
          <a:prstGeom prst="rect">
            <a:avLst/>
          </a:prstGeom>
          <a:solidFill>
            <a:schemeClr val="bg1"/>
          </a:solidFill>
          <a:ln w="12700">
            <a:noFill/>
          </a:ln>
        </p:spPr>
        <p:txBody>
          <a:bodyPr wrap="square" lIns="63500" tIns="25400" rIns="63500" bIns="25400">
            <a:spAutoFit/>
          </a:bodyPr>
          <a:lstStyle/>
          <a:p>
            <a:pPr>
              <a:spcBef>
                <a:spcPct val="50000"/>
              </a:spcBef>
            </a:pPr>
            <a:r>
              <a:rPr lang="en-US" altLang="zh-CN" sz="2200" dirty="0">
                <a:solidFill>
                  <a:srgbClr val="C51915"/>
                </a:solidFill>
                <a:latin typeface="Arial" panose="020B0604020202020204" pitchFamily="34" charset="0"/>
              </a:rPr>
              <a:t>D=1FF0H–2002H=FFEEH</a:t>
            </a:r>
            <a:r>
              <a:rPr lang="zh-CN" altLang="en-US" sz="2200" dirty="0">
                <a:solidFill>
                  <a:srgbClr val="C51915"/>
                </a:solidFill>
                <a:latin typeface="Arial" panose="020B0604020202020204" pitchFamily="34" charset="0"/>
              </a:rPr>
              <a:t>（</a:t>
            </a:r>
            <a:r>
              <a:rPr lang="en-US" altLang="zh-CN" sz="2200" dirty="0">
                <a:solidFill>
                  <a:srgbClr val="C51915"/>
                </a:solidFill>
                <a:latin typeface="Arial" panose="020B0604020202020204" pitchFamily="34" charset="0"/>
              </a:rPr>
              <a:t>–18</a:t>
            </a:r>
            <a:r>
              <a:rPr lang="zh-CN" altLang="en-US" sz="2200" dirty="0">
                <a:solidFill>
                  <a:srgbClr val="C51915"/>
                </a:solidFill>
                <a:latin typeface="Arial" panose="020B0604020202020204" pitchFamily="34" charset="0"/>
              </a:rPr>
              <a:t>）</a:t>
            </a:r>
            <a:endParaRPr lang="zh-CN" altLang="en-US" sz="2200" dirty="0">
              <a:solidFill>
                <a:srgbClr val="C51915"/>
              </a:solidFill>
              <a:latin typeface="Arial" panose="020B0604020202020204" pitchFamily="34" charset="0"/>
            </a:endParaRPr>
          </a:p>
        </p:txBody>
      </p:sp>
      <p:sp>
        <p:nvSpPr>
          <p:cNvPr id="435246" name="Text Box 46"/>
          <p:cNvSpPr txBox="1"/>
          <p:nvPr/>
        </p:nvSpPr>
        <p:spPr>
          <a:xfrm>
            <a:off x="5178425" y="1598613"/>
            <a:ext cx="1249363"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不一定！</a:t>
            </a:r>
            <a:endParaRPr lang="zh-CN" altLang="en-US" sz="2000" dirty="0">
              <a:latin typeface="Arial" panose="020B0604020202020204" pitchFamily="34" charset="0"/>
              <a:ea typeface="黑体" panose="02010609060101010101" pitchFamily="49" charset="-122"/>
            </a:endParaRPr>
          </a:p>
        </p:txBody>
      </p:sp>
      <p:sp>
        <p:nvSpPr>
          <p:cNvPr id="435248" name="Text Box 48"/>
          <p:cNvSpPr txBox="1"/>
          <p:nvPr/>
        </p:nvSpPr>
        <p:spPr>
          <a:xfrm>
            <a:off x="7339013" y="2557463"/>
            <a:ext cx="1249362"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不知道！</a:t>
            </a:r>
            <a:endParaRPr lang="zh-CN" altLang="en-US" sz="2000" dirty="0">
              <a:latin typeface="Arial" panose="020B0604020202020204" pitchFamily="34" charset="0"/>
              <a:ea typeface="黑体" panose="02010609060101010101" pitchFamily="49" charset="-122"/>
            </a:endParaRPr>
          </a:p>
        </p:txBody>
      </p:sp>
      <p:sp>
        <p:nvSpPr>
          <p:cNvPr id="435249" name="Text Box 49"/>
          <p:cNvSpPr txBox="1"/>
          <p:nvPr/>
        </p:nvSpPr>
        <p:spPr>
          <a:xfrm>
            <a:off x="265113" y="4146550"/>
            <a:ext cx="2901950" cy="385763"/>
          </a:xfrm>
          <a:prstGeom prst="rect">
            <a:avLst/>
          </a:prstGeom>
          <a:solidFill>
            <a:schemeClr val="bg1"/>
          </a:solidFill>
          <a:ln w="12700">
            <a:noFill/>
          </a:ln>
        </p:spPr>
        <p:txBody>
          <a:bodyPr lIns="63500" tIns="25400" rIns="63500" bIns="25400">
            <a:spAutoFit/>
          </a:bodyPr>
          <a:lstStyle/>
          <a:p>
            <a:pPr>
              <a:spcBef>
                <a:spcPct val="50000"/>
              </a:spcBef>
            </a:pPr>
            <a:r>
              <a:rPr lang="en-US" altLang="zh-CN" sz="2200" dirty="0">
                <a:solidFill>
                  <a:srgbClr val="C51915"/>
                </a:solidFill>
                <a:latin typeface="Arial" panose="020B0604020202020204" pitchFamily="34" charset="0"/>
              </a:rPr>
              <a:t>1FF0H = 2000H+2+D</a:t>
            </a:r>
            <a:endParaRPr lang="zh-CN" altLang="en-US" sz="2200" dirty="0">
              <a:solidFill>
                <a:srgbClr val="C51915"/>
              </a:solidFill>
              <a:latin typeface="Arial" panose="020B0604020202020204" pitchFamily="34" charset="0"/>
            </a:endParaRPr>
          </a:p>
        </p:txBody>
      </p:sp>
      <p:sp>
        <p:nvSpPr>
          <p:cNvPr id="435250" name="Rectangle 50"/>
          <p:cNvSpPr/>
          <p:nvPr/>
        </p:nvSpPr>
        <p:spPr>
          <a:xfrm>
            <a:off x="0" y="4979988"/>
            <a:ext cx="6207125" cy="1574800"/>
          </a:xfrm>
          <a:prstGeom prst="rect">
            <a:avLst/>
          </a:prstGeom>
          <a:noFill/>
          <a:ln w="12700">
            <a:noFill/>
          </a:ln>
        </p:spPr>
        <p:txBody>
          <a:bodyPr lIns="63500" tIns="25400" rIns="63500" bIns="25400">
            <a:spAutoFit/>
          </a:bodyPr>
          <a:lstStyle/>
          <a:p>
            <a:pPr>
              <a:lnSpc>
                <a:spcPct val="125000"/>
              </a:lnSpc>
            </a:pPr>
            <a:r>
              <a:rPr lang="zh-CN" altLang="en-US" sz="2000" dirty="0">
                <a:solidFill>
                  <a:srgbClr val="EE3900"/>
                </a:solidFill>
                <a:latin typeface="Arial" panose="020B0604020202020204" pitchFamily="34" charset="0"/>
                <a:ea typeface="黑体" panose="02010609060101010101" pitchFamily="49" charset="-122"/>
              </a:rPr>
              <a:t>举例：</a:t>
            </a:r>
            <a:r>
              <a:rPr lang="en-US" altLang="zh-CN" sz="2000" dirty="0">
                <a:solidFill>
                  <a:srgbClr val="EE3900"/>
                </a:solidFill>
                <a:latin typeface="Arial" panose="020B0604020202020204" pitchFamily="34" charset="0"/>
                <a:ea typeface="黑体" panose="02010609060101010101" pitchFamily="49" charset="-122"/>
              </a:rPr>
              <a:t>MIPS</a:t>
            </a:r>
            <a:r>
              <a:rPr lang="zh-CN" altLang="en-US" sz="2000" dirty="0">
                <a:solidFill>
                  <a:srgbClr val="EE3900"/>
                </a:solidFill>
                <a:latin typeface="Arial" panose="020B0604020202020204" pitchFamily="34" charset="0"/>
                <a:ea typeface="黑体" panose="02010609060101010101" pitchFamily="49" charset="-122"/>
              </a:rPr>
              <a:t>指令“</a:t>
            </a:r>
            <a:r>
              <a:rPr lang="en-US" altLang="zh-CN" sz="2000" dirty="0">
                <a:solidFill>
                  <a:srgbClr val="EE3900"/>
                </a:solidFill>
                <a:latin typeface="Arial" panose="020B0604020202020204" pitchFamily="34" charset="0"/>
                <a:ea typeface="黑体" panose="02010609060101010101" pitchFamily="49" charset="-122"/>
              </a:rPr>
              <a:t>beq  $1, $2, 25”</a:t>
            </a:r>
            <a:r>
              <a:rPr lang="zh-CN" altLang="en-US" sz="2000" dirty="0">
                <a:solidFill>
                  <a:srgbClr val="EE3900"/>
                </a:solidFill>
                <a:latin typeface="Arial" panose="020B0604020202020204" pitchFamily="34" charset="0"/>
                <a:ea typeface="黑体" panose="02010609060101010101" pitchFamily="49" charset="-122"/>
              </a:rPr>
              <a:t>的转移目标地址为</a:t>
            </a:r>
            <a:r>
              <a:rPr lang="en-US" altLang="zh-CN" sz="2000" dirty="0">
                <a:solidFill>
                  <a:srgbClr val="EE3900"/>
                </a:solidFill>
                <a:latin typeface="Arial" panose="020B0604020202020204" pitchFamily="34" charset="0"/>
                <a:ea typeface="黑体" panose="02010609060101010101" pitchFamily="49" charset="-122"/>
              </a:rPr>
              <a:t>(PC)+4+4*25</a:t>
            </a:r>
            <a:r>
              <a:rPr lang="zh-CN" altLang="en-US" sz="2000" dirty="0">
                <a:solidFill>
                  <a:srgbClr val="EE3900"/>
                </a:solidFill>
                <a:latin typeface="Arial" panose="020B0604020202020204" pitchFamily="34" charset="0"/>
                <a:ea typeface="黑体" panose="02010609060101010101" pitchFamily="49" charset="-122"/>
              </a:rPr>
              <a:t>，</a:t>
            </a:r>
            <a:r>
              <a:rPr lang="zh-CN" altLang="en-US" sz="2000" dirty="0">
                <a:solidFill>
                  <a:srgbClr val="0033CC"/>
                </a:solidFill>
                <a:latin typeface="Arial" panose="020B0604020202020204" pitchFamily="34" charset="0"/>
                <a:ea typeface="黑体" panose="02010609060101010101" pitchFamily="49" charset="-122"/>
              </a:rPr>
              <a:t>这里的</a:t>
            </a:r>
            <a:r>
              <a:rPr lang="en-US" altLang="zh-CN" sz="2000" dirty="0">
                <a:solidFill>
                  <a:srgbClr val="0033CC"/>
                </a:solidFill>
                <a:latin typeface="Arial" panose="020B0604020202020204" pitchFamily="34" charset="0"/>
                <a:ea typeface="黑体" panose="02010609060101010101" pitchFamily="49" charset="-122"/>
              </a:rPr>
              <a:t>25</a:t>
            </a:r>
            <a:r>
              <a:rPr lang="zh-CN" altLang="en-US" sz="2000" dirty="0">
                <a:solidFill>
                  <a:srgbClr val="0033CC"/>
                </a:solidFill>
                <a:latin typeface="Arial" panose="020B0604020202020204" pitchFamily="34" charset="0"/>
                <a:ea typeface="黑体" panose="02010609060101010101" pitchFamily="49" charset="-122"/>
              </a:rPr>
              <a:t>是指令条数而不是单元数</a:t>
            </a:r>
            <a:r>
              <a:rPr lang="zh-CN" altLang="en-US" sz="2000" dirty="0">
                <a:solidFill>
                  <a:srgbClr val="EE3900"/>
                </a:solidFill>
                <a:latin typeface="Arial" panose="020B0604020202020204" pitchFamily="34" charset="0"/>
                <a:ea typeface="黑体" panose="02010609060101010101" pitchFamily="49" charset="-122"/>
              </a:rPr>
              <a:t>，</a:t>
            </a:r>
            <a:r>
              <a:rPr lang="en-US" altLang="zh-CN" sz="2000" dirty="0">
                <a:solidFill>
                  <a:srgbClr val="EE3900"/>
                </a:solidFill>
                <a:latin typeface="Arial" panose="020B0604020202020204" pitchFamily="34" charset="0"/>
                <a:ea typeface="黑体" panose="02010609060101010101" pitchFamily="49" charset="-122"/>
              </a:rPr>
              <a:t>MIPS</a:t>
            </a:r>
            <a:r>
              <a:rPr lang="zh-CN" altLang="en-US" sz="2000" dirty="0">
                <a:solidFill>
                  <a:srgbClr val="EE3900"/>
                </a:solidFill>
                <a:latin typeface="Arial" panose="020B0604020202020204" pitchFamily="34" charset="0"/>
                <a:ea typeface="黑体" panose="02010609060101010101" pitchFamily="49" charset="-122"/>
              </a:rPr>
              <a:t>采用定长指令字，按字节编址， 所有指令的长度都是</a:t>
            </a:r>
            <a:r>
              <a:rPr lang="en-US" altLang="zh-CN" sz="2000" dirty="0">
                <a:solidFill>
                  <a:srgbClr val="EE3900"/>
                </a:solidFill>
                <a:latin typeface="Arial" panose="020B0604020202020204" pitchFamily="34" charset="0"/>
                <a:ea typeface="黑体" panose="02010609060101010101" pitchFamily="49" charset="-122"/>
              </a:rPr>
              <a:t>32</a:t>
            </a:r>
            <a:r>
              <a:rPr lang="zh-CN" altLang="en-US" sz="2000" dirty="0">
                <a:solidFill>
                  <a:srgbClr val="EE3900"/>
                </a:solidFill>
                <a:latin typeface="Arial" panose="020B0604020202020204" pitchFamily="34" charset="0"/>
                <a:ea typeface="黑体" panose="02010609060101010101" pitchFamily="49" charset="-122"/>
              </a:rPr>
              <a:t>位（</a:t>
            </a:r>
            <a:r>
              <a:rPr lang="en-US" altLang="zh-CN" sz="2000" dirty="0">
                <a:solidFill>
                  <a:srgbClr val="EE3900"/>
                </a:solidFill>
                <a:latin typeface="Arial" panose="020B0604020202020204" pitchFamily="34" charset="0"/>
                <a:ea typeface="黑体" panose="02010609060101010101" pitchFamily="49" charset="-122"/>
              </a:rPr>
              <a:t>4</a:t>
            </a:r>
            <a:r>
              <a:rPr lang="zh-CN" altLang="en-US" sz="2000" dirty="0">
                <a:solidFill>
                  <a:srgbClr val="EE3900"/>
                </a:solidFill>
                <a:latin typeface="Arial" panose="020B0604020202020204" pitchFamily="34" charset="0"/>
                <a:ea typeface="黑体" panose="02010609060101010101" pitchFamily="49" charset="-122"/>
              </a:rPr>
              <a:t>字节）。</a:t>
            </a:r>
            <a:endParaRPr lang="zh-CN" altLang="en-US" sz="2000" dirty="0">
              <a:solidFill>
                <a:srgbClr val="EE3900"/>
              </a:solidFill>
              <a:latin typeface="Arial" panose="020B0604020202020204" pitchFamily="34" charset="0"/>
              <a:ea typeface="黑体" panose="02010609060101010101" pitchFamily="49" charset="-122"/>
            </a:endParaRPr>
          </a:p>
        </p:txBody>
      </p:sp>
      <p:grpSp>
        <p:nvGrpSpPr>
          <p:cNvPr id="2" name="Group 55"/>
          <p:cNvGrpSpPr/>
          <p:nvPr/>
        </p:nvGrpSpPr>
        <p:grpSpPr>
          <a:xfrm>
            <a:off x="6407150" y="1538288"/>
            <a:ext cx="2419350" cy="434975"/>
            <a:chOff x="3864" y="969"/>
            <a:chExt cx="1524" cy="274"/>
          </a:xfrm>
        </p:grpSpPr>
        <p:sp>
          <p:nvSpPr>
            <p:cNvPr id="20519" name="Rectangle 51"/>
            <p:cNvSpPr/>
            <p:nvPr/>
          </p:nvSpPr>
          <p:spPr>
            <a:xfrm>
              <a:off x="3864" y="982"/>
              <a:ext cx="1524" cy="253"/>
            </a:xfrm>
            <a:prstGeom prst="rect">
              <a:avLst/>
            </a:prstGeom>
            <a:noFill/>
            <a:ln w="28575" cap="flat" cmpd="sng">
              <a:solidFill>
                <a:schemeClr val="tx1"/>
              </a:solidFill>
              <a:prstDash val="solid"/>
              <a:miter/>
              <a:headEnd type="none" w="med" len="med"/>
              <a:tailEnd type="none" w="med" len="med"/>
            </a:ln>
          </p:spPr>
          <p:txBody>
            <a:bodyPr lIns="63500" tIns="25400" rIns="63500" bIns="25400" anchor="ctr" anchorCtr="0">
              <a:spAutoFit/>
            </a:bodyPr>
            <a:lstStyle/>
            <a:p>
              <a:endParaRPr lang="zh-CN" altLang="en-US" dirty="0">
                <a:latin typeface="Arial" panose="020B0604020202020204" pitchFamily="34" charset="0"/>
              </a:endParaRPr>
            </a:p>
          </p:txBody>
        </p:sp>
        <p:sp>
          <p:nvSpPr>
            <p:cNvPr id="20520" name="Line 52"/>
            <p:cNvSpPr/>
            <p:nvPr/>
          </p:nvSpPr>
          <p:spPr>
            <a:xfrm>
              <a:off x="4622" y="969"/>
              <a:ext cx="0" cy="274"/>
            </a:xfrm>
            <a:prstGeom prst="line">
              <a:avLst/>
            </a:prstGeom>
            <a:ln w="28575" cap="flat" cmpd="sng">
              <a:solidFill>
                <a:schemeClr val="tx1"/>
              </a:solidFill>
              <a:prstDash val="solid"/>
              <a:headEnd type="none" w="med" len="med"/>
              <a:tailEnd type="none" w="med" len="med"/>
            </a:ln>
          </p:spPr>
        </p:sp>
        <p:sp>
          <p:nvSpPr>
            <p:cNvPr id="20521" name="Text Box 53"/>
            <p:cNvSpPr txBox="1"/>
            <p:nvPr/>
          </p:nvSpPr>
          <p:spPr>
            <a:xfrm>
              <a:off x="4067" y="977"/>
              <a:ext cx="449" cy="262"/>
            </a:xfrm>
            <a:prstGeom prst="rect">
              <a:avLst/>
            </a:prstGeom>
            <a:noFill/>
            <a:ln w="12700">
              <a:noFill/>
            </a:ln>
          </p:spPr>
          <p:txBody>
            <a:bodyPr lIns="63500" tIns="25400" rIns="63500" bIns="25400">
              <a:spAutoFit/>
            </a:bodyPr>
            <a:lstStyle/>
            <a:p>
              <a:pPr>
                <a:spcBef>
                  <a:spcPct val="50000"/>
                </a:spcBef>
              </a:pPr>
              <a:r>
                <a:rPr lang="en-US" altLang="zh-CN" sz="2400" dirty="0">
                  <a:latin typeface="Arial" panose="020B0604020202020204" pitchFamily="34" charset="0"/>
                </a:rPr>
                <a:t>Jxx</a:t>
              </a:r>
              <a:endParaRPr lang="en-US" altLang="zh-CN" sz="2400" dirty="0">
                <a:latin typeface="Arial" panose="020B0604020202020204" pitchFamily="34" charset="0"/>
              </a:endParaRPr>
            </a:p>
          </p:txBody>
        </p:sp>
        <p:sp>
          <p:nvSpPr>
            <p:cNvPr id="20522" name="Text Box 54"/>
            <p:cNvSpPr txBox="1"/>
            <p:nvPr/>
          </p:nvSpPr>
          <p:spPr>
            <a:xfrm>
              <a:off x="4905" y="979"/>
              <a:ext cx="266" cy="262"/>
            </a:xfrm>
            <a:prstGeom prst="rect">
              <a:avLst/>
            </a:prstGeom>
            <a:noFill/>
            <a:ln w="12700">
              <a:noFill/>
            </a:ln>
          </p:spPr>
          <p:txBody>
            <a:bodyPr lIns="63500" tIns="25400" rIns="63500" bIns="25400">
              <a:spAutoFit/>
            </a:bodyPr>
            <a:lstStyle/>
            <a:p>
              <a:pPr>
                <a:spcBef>
                  <a:spcPct val="50000"/>
                </a:spcBef>
              </a:pPr>
              <a:r>
                <a:rPr lang="en-US" altLang="zh-CN" sz="2400" dirty="0">
                  <a:latin typeface="Arial" panose="020B0604020202020204" pitchFamily="34" charset="0"/>
                </a:rPr>
                <a:t>D</a:t>
              </a:r>
              <a:endParaRPr lang="en-US" altLang="zh-CN" sz="2400" dirty="0">
                <a:latin typeface="Arial" panose="020B0604020202020204" pitchFamily="34" charset="0"/>
              </a:endParaRPr>
            </a:p>
          </p:txBody>
        </p:sp>
      </p:grpSp>
      <p:grpSp>
        <p:nvGrpSpPr>
          <p:cNvPr id="24644" name="Group 68"/>
          <p:cNvGrpSpPr/>
          <p:nvPr/>
        </p:nvGrpSpPr>
        <p:grpSpPr>
          <a:xfrm>
            <a:off x="6651625" y="3792538"/>
            <a:ext cx="2492375" cy="2851150"/>
            <a:chOff x="4190" y="2479"/>
            <a:chExt cx="1570" cy="1796"/>
          </a:xfrm>
        </p:grpSpPr>
        <p:grpSp>
          <p:nvGrpSpPr>
            <p:cNvPr id="20494" name="Group 41"/>
            <p:cNvGrpSpPr/>
            <p:nvPr/>
          </p:nvGrpSpPr>
          <p:grpSpPr>
            <a:xfrm flipV="1">
              <a:off x="4302" y="3272"/>
              <a:ext cx="148" cy="805"/>
              <a:chOff x="4643" y="2620"/>
              <a:chExt cx="183" cy="639"/>
            </a:xfrm>
          </p:grpSpPr>
          <p:sp>
            <p:nvSpPr>
              <p:cNvPr id="20517" name="Line 42"/>
              <p:cNvSpPr/>
              <p:nvPr/>
            </p:nvSpPr>
            <p:spPr>
              <a:xfrm>
                <a:off x="4650" y="2620"/>
                <a:ext cx="0" cy="639"/>
              </a:xfrm>
              <a:prstGeom prst="line">
                <a:avLst/>
              </a:prstGeom>
              <a:ln w="19050" cap="flat" cmpd="sng">
                <a:solidFill>
                  <a:schemeClr val="tx1"/>
                </a:solidFill>
                <a:prstDash val="solid"/>
                <a:headEnd type="none" w="med" len="med"/>
                <a:tailEnd type="none" w="med" len="med"/>
              </a:ln>
            </p:spPr>
          </p:sp>
          <p:sp>
            <p:nvSpPr>
              <p:cNvPr id="20518" name="Line 43"/>
              <p:cNvSpPr/>
              <p:nvPr/>
            </p:nvSpPr>
            <p:spPr>
              <a:xfrm>
                <a:off x="4643" y="2627"/>
                <a:ext cx="183" cy="0"/>
              </a:xfrm>
              <a:prstGeom prst="line">
                <a:avLst/>
              </a:prstGeom>
              <a:ln w="19050" cap="flat" cmpd="sng">
                <a:solidFill>
                  <a:schemeClr val="tx1"/>
                </a:solidFill>
                <a:prstDash val="solid"/>
                <a:headEnd type="none" w="med" len="med"/>
                <a:tailEnd type="triangle" w="med" len="med"/>
              </a:ln>
            </p:spPr>
          </p:sp>
        </p:grpSp>
        <p:grpSp>
          <p:nvGrpSpPr>
            <p:cNvPr id="20495" name="Group 44"/>
            <p:cNvGrpSpPr/>
            <p:nvPr/>
          </p:nvGrpSpPr>
          <p:grpSpPr>
            <a:xfrm>
              <a:off x="4486" y="2479"/>
              <a:ext cx="1274" cy="1796"/>
              <a:chOff x="4514" y="2473"/>
              <a:chExt cx="1274" cy="1685"/>
            </a:xfrm>
          </p:grpSpPr>
          <p:grpSp>
            <p:nvGrpSpPr>
              <p:cNvPr id="20509" name="Group 45"/>
              <p:cNvGrpSpPr/>
              <p:nvPr/>
            </p:nvGrpSpPr>
            <p:grpSpPr>
              <a:xfrm>
                <a:off x="4514" y="2473"/>
                <a:ext cx="763" cy="1685"/>
                <a:chOff x="4857" y="2473"/>
                <a:chExt cx="763" cy="1685"/>
              </a:xfrm>
            </p:grpSpPr>
            <p:sp>
              <p:nvSpPr>
                <p:cNvPr id="20511" name="Rectangle 46"/>
                <p:cNvSpPr/>
                <p:nvPr/>
              </p:nvSpPr>
              <p:spPr>
                <a:xfrm>
                  <a:off x="4861" y="2473"/>
                  <a:ext cx="759" cy="1685"/>
                </a:xfrm>
                <a:prstGeom prst="rect">
                  <a:avLst/>
                </a:prstGeom>
                <a:noFill/>
                <a:ln w="19050" cap="flat" cmpd="sng">
                  <a:solidFill>
                    <a:schemeClr val="tx1"/>
                  </a:solidFill>
                  <a:prstDash val="solid"/>
                  <a:miter/>
                  <a:headEnd type="none" w="med" len="med"/>
                  <a:tailEnd type="none" w="med" len="med"/>
                </a:ln>
              </p:spPr>
              <p:txBody>
                <a:bodyPr lIns="63500" tIns="25400" rIns="63500" bIns="25400" anchor="ctr" anchorCtr="0">
                  <a:spAutoFit/>
                </a:bodyPr>
                <a:lstStyle/>
                <a:p>
                  <a:endParaRPr lang="zh-CN" altLang="en-US" dirty="0">
                    <a:latin typeface="Arial" panose="020B0604020202020204" pitchFamily="34" charset="0"/>
                  </a:endParaRPr>
                </a:p>
              </p:txBody>
            </p:sp>
            <p:sp>
              <p:nvSpPr>
                <p:cNvPr id="20512" name="Line 47"/>
                <p:cNvSpPr/>
                <p:nvPr/>
              </p:nvSpPr>
              <p:spPr>
                <a:xfrm>
                  <a:off x="4861" y="3133"/>
                  <a:ext cx="751" cy="0"/>
                </a:xfrm>
                <a:prstGeom prst="line">
                  <a:avLst/>
                </a:prstGeom>
                <a:ln w="19050" cap="flat" cmpd="sng">
                  <a:solidFill>
                    <a:schemeClr val="tx1"/>
                  </a:solidFill>
                  <a:prstDash val="solid"/>
                  <a:headEnd type="none" w="med" len="med"/>
                  <a:tailEnd type="none" w="med" len="med"/>
                </a:ln>
              </p:spPr>
            </p:sp>
            <p:sp>
              <p:nvSpPr>
                <p:cNvPr id="20513" name="Line 48"/>
                <p:cNvSpPr/>
                <p:nvPr/>
              </p:nvSpPr>
              <p:spPr>
                <a:xfrm>
                  <a:off x="4857" y="3332"/>
                  <a:ext cx="751" cy="0"/>
                </a:xfrm>
                <a:prstGeom prst="line">
                  <a:avLst/>
                </a:prstGeom>
                <a:ln w="19050" cap="flat" cmpd="sng">
                  <a:solidFill>
                    <a:schemeClr val="tx1"/>
                  </a:solidFill>
                  <a:prstDash val="solid"/>
                  <a:headEnd type="none" w="med" len="med"/>
                  <a:tailEnd type="none" w="med" len="med"/>
                </a:ln>
              </p:spPr>
            </p:sp>
            <p:sp>
              <p:nvSpPr>
                <p:cNvPr id="20514" name="Text Box 49"/>
                <p:cNvSpPr txBox="1"/>
                <p:nvPr/>
              </p:nvSpPr>
              <p:spPr>
                <a:xfrm>
                  <a:off x="4861" y="3118"/>
                  <a:ext cx="491" cy="211"/>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rPr>
                    <a:t>转移</a:t>
                  </a:r>
                  <a:endParaRPr lang="zh-CN" altLang="en-US" sz="2000" dirty="0">
                    <a:latin typeface="Arial" panose="020B0604020202020204" pitchFamily="34" charset="0"/>
                  </a:endParaRPr>
                </a:p>
              </p:txBody>
            </p:sp>
            <p:sp>
              <p:nvSpPr>
                <p:cNvPr id="20515" name="Line 50"/>
                <p:cNvSpPr/>
                <p:nvPr/>
              </p:nvSpPr>
              <p:spPr>
                <a:xfrm>
                  <a:off x="5254" y="3133"/>
                  <a:ext cx="0" cy="204"/>
                </a:xfrm>
                <a:prstGeom prst="line">
                  <a:avLst/>
                </a:prstGeom>
                <a:ln w="19050" cap="flat" cmpd="sng">
                  <a:solidFill>
                    <a:schemeClr val="tx1"/>
                  </a:solidFill>
                  <a:prstDash val="solid"/>
                  <a:headEnd type="none" w="med" len="med"/>
                  <a:tailEnd type="none" w="med" len="med"/>
                </a:ln>
              </p:spPr>
            </p:sp>
            <p:sp>
              <p:nvSpPr>
                <p:cNvPr id="20516" name="Text Box 51"/>
                <p:cNvSpPr txBox="1"/>
                <p:nvPr/>
              </p:nvSpPr>
              <p:spPr>
                <a:xfrm>
                  <a:off x="5333" y="3114"/>
                  <a:ext cx="210" cy="211"/>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rPr>
                    <a:t>D</a:t>
                  </a:r>
                  <a:endParaRPr lang="en-US" altLang="zh-CN" sz="2000" dirty="0">
                    <a:latin typeface="Arial" panose="020B0604020202020204" pitchFamily="34" charset="0"/>
                  </a:endParaRPr>
                </a:p>
              </p:txBody>
            </p:sp>
          </p:grpSp>
          <p:sp>
            <p:nvSpPr>
              <p:cNvPr id="20510" name="Text Box 52"/>
              <p:cNvSpPr txBox="1"/>
              <p:nvPr/>
            </p:nvSpPr>
            <p:spPr>
              <a:xfrm>
                <a:off x="5261" y="3126"/>
                <a:ext cx="527" cy="193"/>
              </a:xfrm>
              <a:prstGeom prst="rect">
                <a:avLst/>
              </a:prstGeom>
              <a:noFill/>
              <a:ln w="12700">
                <a:noFill/>
              </a:ln>
            </p:spPr>
            <p:txBody>
              <a:bodyPr lIns="63500" tIns="25400" rIns="63500" bIns="25400">
                <a:spAutoFit/>
              </a:bodyPr>
              <a:lstStyle/>
              <a:p>
                <a:pPr>
                  <a:spcBef>
                    <a:spcPct val="50000"/>
                  </a:spcBef>
                </a:pPr>
                <a:r>
                  <a:rPr lang="en-US" altLang="zh-CN" sz="1800" dirty="0">
                    <a:latin typeface="Arial" panose="020B0604020202020204" pitchFamily="34" charset="0"/>
                  </a:rPr>
                  <a:t>2000H</a:t>
                </a:r>
                <a:endParaRPr lang="en-US" altLang="zh-CN" sz="1800" dirty="0">
                  <a:latin typeface="Arial" panose="020B0604020202020204" pitchFamily="34" charset="0"/>
                </a:endParaRPr>
              </a:p>
            </p:txBody>
          </p:sp>
        </p:grpSp>
        <p:grpSp>
          <p:nvGrpSpPr>
            <p:cNvPr id="20496" name="Group 53"/>
            <p:cNvGrpSpPr/>
            <p:nvPr/>
          </p:nvGrpSpPr>
          <p:grpSpPr>
            <a:xfrm>
              <a:off x="4299" y="2530"/>
              <a:ext cx="176" cy="756"/>
              <a:chOff x="4341" y="2620"/>
              <a:chExt cx="176" cy="639"/>
            </a:xfrm>
          </p:grpSpPr>
          <p:grpSp>
            <p:nvGrpSpPr>
              <p:cNvPr id="20505" name="Group 54"/>
              <p:cNvGrpSpPr/>
              <p:nvPr/>
            </p:nvGrpSpPr>
            <p:grpSpPr>
              <a:xfrm>
                <a:off x="4341" y="2620"/>
                <a:ext cx="146" cy="639"/>
                <a:chOff x="4643" y="2620"/>
                <a:chExt cx="183" cy="639"/>
              </a:xfrm>
            </p:grpSpPr>
            <p:sp>
              <p:nvSpPr>
                <p:cNvPr id="20507" name="Line 55"/>
                <p:cNvSpPr/>
                <p:nvPr/>
              </p:nvSpPr>
              <p:spPr>
                <a:xfrm>
                  <a:off x="4650" y="2620"/>
                  <a:ext cx="0" cy="639"/>
                </a:xfrm>
                <a:prstGeom prst="line">
                  <a:avLst/>
                </a:prstGeom>
                <a:ln w="19050" cap="flat" cmpd="sng">
                  <a:solidFill>
                    <a:schemeClr val="tx1"/>
                  </a:solidFill>
                  <a:prstDash val="solid"/>
                  <a:headEnd type="none" w="med" len="med"/>
                  <a:tailEnd type="none" w="med" len="med"/>
                </a:ln>
              </p:spPr>
            </p:sp>
            <p:sp>
              <p:nvSpPr>
                <p:cNvPr id="20508" name="Line 56"/>
                <p:cNvSpPr/>
                <p:nvPr/>
              </p:nvSpPr>
              <p:spPr>
                <a:xfrm>
                  <a:off x="4643" y="2627"/>
                  <a:ext cx="183" cy="0"/>
                </a:xfrm>
                <a:prstGeom prst="line">
                  <a:avLst/>
                </a:prstGeom>
                <a:ln w="19050" cap="flat" cmpd="sng">
                  <a:solidFill>
                    <a:schemeClr val="tx1"/>
                  </a:solidFill>
                  <a:prstDash val="solid"/>
                  <a:headEnd type="none" w="med" len="med"/>
                  <a:tailEnd type="triangle" w="med" len="med"/>
                </a:ln>
              </p:spPr>
            </p:sp>
          </p:grpSp>
          <p:sp>
            <p:nvSpPr>
              <p:cNvPr id="20506" name="Line 57"/>
              <p:cNvSpPr/>
              <p:nvPr/>
            </p:nvSpPr>
            <p:spPr>
              <a:xfrm>
                <a:off x="4341" y="3231"/>
                <a:ext cx="176" cy="0"/>
              </a:xfrm>
              <a:prstGeom prst="line">
                <a:avLst/>
              </a:prstGeom>
              <a:ln w="19050" cap="flat" cmpd="sng">
                <a:solidFill>
                  <a:schemeClr val="tx1"/>
                </a:solidFill>
                <a:prstDash val="solid"/>
                <a:headEnd type="none" w="med" len="med"/>
                <a:tailEnd type="none" w="med" len="med"/>
              </a:ln>
            </p:spPr>
          </p:sp>
        </p:grpSp>
        <p:sp>
          <p:nvSpPr>
            <p:cNvPr id="20497" name="Text Box 58"/>
            <p:cNvSpPr txBox="1"/>
            <p:nvPr/>
          </p:nvSpPr>
          <p:spPr>
            <a:xfrm>
              <a:off x="5269" y="2701"/>
              <a:ext cx="491" cy="225"/>
            </a:xfrm>
            <a:prstGeom prst="rect">
              <a:avLst/>
            </a:prstGeom>
            <a:noFill/>
            <a:ln w="12700">
              <a:noFill/>
            </a:ln>
          </p:spPr>
          <p:txBody>
            <a:bodyPr lIns="0" tIns="25400" rIns="0" bIns="25400">
              <a:spAutoFit/>
            </a:bodyPr>
            <a:lstStyle/>
            <a:p>
              <a:pPr>
                <a:spcBef>
                  <a:spcPct val="50000"/>
                </a:spcBef>
              </a:pPr>
              <a:r>
                <a:rPr lang="en-US" altLang="zh-CN" sz="2000" dirty="0">
                  <a:latin typeface="Arial" panose="020B0604020202020204" pitchFamily="34" charset="0"/>
                </a:rPr>
                <a:t>1FF0H</a:t>
              </a:r>
              <a:endParaRPr lang="en-US" altLang="zh-CN" sz="2000" dirty="0">
                <a:latin typeface="Arial" panose="020B0604020202020204" pitchFamily="34" charset="0"/>
              </a:endParaRPr>
            </a:p>
          </p:txBody>
        </p:sp>
        <p:sp>
          <p:nvSpPr>
            <p:cNvPr id="20498" name="Line 59"/>
            <p:cNvSpPr/>
            <p:nvPr/>
          </p:nvSpPr>
          <p:spPr>
            <a:xfrm>
              <a:off x="4475" y="2755"/>
              <a:ext cx="744" cy="0"/>
            </a:xfrm>
            <a:prstGeom prst="line">
              <a:avLst/>
            </a:prstGeom>
            <a:ln w="19050" cap="flat" cmpd="sng">
              <a:solidFill>
                <a:schemeClr val="tx1"/>
              </a:solidFill>
              <a:prstDash val="solid"/>
              <a:headEnd type="none" w="med" len="med"/>
              <a:tailEnd type="none" w="med" len="med"/>
            </a:ln>
          </p:spPr>
        </p:sp>
        <p:sp>
          <p:nvSpPr>
            <p:cNvPr id="20499" name="Line 60"/>
            <p:cNvSpPr/>
            <p:nvPr/>
          </p:nvSpPr>
          <p:spPr>
            <a:xfrm>
              <a:off x="4485" y="2907"/>
              <a:ext cx="744" cy="0"/>
            </a:xfrm>
            <a:prstGeom prst="line">
              <a:avLst/>
            </a:prstGeom>
            <a:ln w="19050" cap="flat" cmpd="sng">
              <a:solidFill>
                <a:schemeClr val="tx1"/>
              </a:solidFill>
              <a:prstDash val="solid"/>
              <a:headEnd type="none" w="med" len="med"/>
              <a:tailEnd type="none" w="med" len="med"/>
            </a:ln>
          </p:spPr>
        </p:sp>
        <p:sp>
          <p:nvSpPr>
            <p:cNvPr id="20500" name="Line 63"/>
            <p:cNvSpPr/>
            <p:nvPr/>
          </p:nvSpPr>
          <p:spPr>
            <a:xfrm>
              <a:off x="4199" y="3548"/>
              <a:ext cx="260" cy="0"/>
            </a:xfrm>
            <a:prstGeom prst="line">
              <a:avLst/>
            </a:prstGeom>
            <a:ln w="19050" cap="flat" cmpd="sng">
              <a:solidFill>
                <a:srgbClr val="C51915"/>
              </a:solidFill>
              <a:prstDash val="solid"/>
              <a:headEnd type="none" w="med" len="med"/>
              <a:tailEnd type="none" w="med" len="med"/>
            </a:ln>
          </p:spPr>
        </p:sp>
        <p:sp>
          <p:nvSpPr>
            <p:cNvPr id="20501" name="Line 64"/>
            <p:cNvSpPr/>
            <p:nvPr/>
          </p:nvSpPr>
          <p:spPr>
            <a:xfrm>
              <a:off x="4198" y="2723"/>
              <a:ext cx="0" cy="761"/>
            </a:xfrm>
            <a:prstGeom prst="line">
              <a:avLst/>
            </a:prstGeom>
            <a:ln w="19050" cap="flat" cmpd="sng">
              <a:solidFill>
                <a:srgbClr val="C51915"/>
              </a:solidFill>
              <a:prstDash val="solid"/>
              <a:headEnd type="none" w="med" len="med"/>
              <a:tailEnd type="none" w="med" len="med"/>
            </a:ln>
          </p:spPr>
        </p:sp>
        <p:sp>
          <p:nvSpPr>
            <p:cNvPr id="20502" name="Line 65"/>
            <p:cNvSpPr/>
            <p:nvPr/>
          </p:nvSpPr>
          <p:spPr>
            <a:xfrm>
              <a:off x="4190" y="2712"/>
              <a:ext cx="260" cy="0"/>
            </a:xfrm>
            <a:prstGeom prst="line">
              <a:avLst/>
            </a:prstGeom>
            <a:ln w="19050" cap="flat" cmpd="sng">
              <a:solidFill>
                <a:srgbClr val="C51915"/>
              </a:solidFill>
              <a:prstDash val="solid"/>
              <a:headEnd type="none" w="med" len="med"/>
              <a:tailEnd type="triangle" w="med" len="med"/>
            </a:ln>
          </p:spPr>
        </p:sp>
        <p:sp>
          <p:nvSpPr>
            <p:cNvPr id="20503" name="Line 66"/>
            <p:cNvSpPr/>
            <p:nvPr/>
          </p:nvSpPr>
          <p:spPr>
            <a:xfrm>
              <a:off x="4199" y="3462"/>
              <a:ext cx="0" cy="761"/>
            </a:xfrm>
            <a:prstGeom prst="line">
              <a:avLst/>
            </a:prstGeom>
            <a:ln w="19050" cap="flat" cmpd="sng">
              <a:solidFill>
                <a:srgbClr val="C51915"/>
              </a:solidFill>
              <a:prstDash val="solid"/>
              <a:headEnd type="none" w="med" len="med"/>
              <a:tailEnd type="none" w="med" len="med"/>
            </a:ln>
          </p:spPr>
        </p:sp>
        <p:sp>
          <p:nvSpPr>
            <p:cNvPr id="20504" name="Line 67"/>
            <p:cNvSpPr/>
            <p:nvPr/>
          </p:nvSpPr>
          <p:spPr>
            <a:xfrm>
              <a:off x="4191" y="4203"/>
              <a:ext cx="260" cy="0"/>
            </a:xfrm>
            <a:prstGeom prst="line">
              <a:avLst/>
            </a:prstGeom>
            <a:ln w="19050" cap="flat" cmpd="sng">
              <a:solidFill>
                <a:srgbClr val="C51915"/>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35242"/>
                                        </p:tgtEl>
                                        <p:attrNameLst>
                                          <p:attrName>style.visibility</p:attrName>
                                        </p:attrNameLst>
                                      </p:cBhvr>
                                      <p:to>
                                        <p:strVal val="visible"/>
                                      </p:to>
                                    </p:set>
                                    <p:animEffect transition="in" filter="blinds(horizontal)">
                                      <p:cBhvr>
                                        <p:cTn id="7" dur="500"/>
                                        <p:tgtEl>
                                          <p:spTgt spid="43524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5243"/>
                                        </p:tgtEl>
                                        <p:attrNameLst>
                                          <p:attrName>style.visibility</p:attrName>
                                        </p:attrNameLst>
                                      </p:cBhvr>
                                      <p:to>
                                        <p:strVal val="visible"/>
                                      </p:to>
                                    </p:set>
                                    <p:animEffect transition="in" filter="blinds(horizontal)">
                                      <p:cBhvr>
                                        <p:cTn id="17" dur="500"/>
                                        <p:tgtEl>
                                          <p:spTgt spid="43524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5246"/>
                                        </p:tgtEl>
                                        <p:attrNameLst>
                                          <p:attrName>style.visibility</p:attrName>
                                        </p:attrNameLst>
                                      </p:cBhvr>
                                      <p:to>
                                        <p:strVal val="visible"/>
                                      </p:to>
                                    </p:set>
                                    <p:animEffect transition="in" filter="blinds(horizontal)">
                                      <p:cBhvr>
                                        <p:cTn id="22" dur="500"/>
                                        <p:tgtEl>
                                          <p:spTgt spid="43524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5248"/>
                                        </p:tgtEl>
                                        <p:attrNameLst>
                                          <p:attrName>style.visibility</p:attrName>
                                        </p:attrNameLst>
                                      </p:cBhvr>
                                      <p:to>
                                        <p:strVal val="visible"/>
                                      </p:to>
                                    </p:set>
                                    <p:animEffect transition="in" filter="blinds(horizontal)">
                                      <p:cBhvr>
                                        <p:cTn id="27" dur="500"/>
                                        <p:tgtEl>
                                          <p:spTgt spid="43524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5244"/>
                                        </p:tgtEl>
                                        <p:attrNameLst>
                                          <p:attrName>style.visibility</p:attrName>
                                        </p:attrNameLst>
                                      </p:cBhvr>
                                      <p:to>
                                        <p:strVal val="visible"/>
                                      </p:to>
                                    </p:set>
                                    <p:animEffect transition="in" filter="blinds(horizontal)">
                                      <p:cBhvr>
                                        <p:cTn id="32" dur="500"/>
                                        <p:tgtEl>
                                          <p:spTgt spid="43524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4644"/>
                                        </p:tgtEl>
                                        <p:attrNameLst>
                                          <p:attrName>style.visibility</p:attrName>
                                        </p:attrNameLst>
                                      </p:cBhvr>
                                      <p:to>
                                        <p:strVal val="visible"/>
                                      </p:to>
                                    </p:set>
                                    <p:animEffect transition="in" filter="blinds(horizontal)">
                                      <p:cBhvr>
                                        <p:cTn id="37" dur="500"/>
                                        <p:tgtEl>
                                          <p:spTgt spid="2464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435249"/>
                                        </p:tgtEl>
                                        <p:attrNameLst>
                                          <p:attrName>style.visibility</p:attrName>
                                        </p:attrNameLst>
                                      </p:cBhvr>
                                      <p:to>
                                        <p:strVal val="visible"/>
                                      </p:to>
                                    </p:set>
                                    <p:animEffect transition="in" filter="blinds(horizontal)">
                                      <p:cBhvr>
                                        <p:cTn id="42" dur="500"/>
                                        <p:tgtEl>
                                          <p:spTgt spid="43524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35245"/>
                                        </p:tgtEl>
                                        <p:attrNameLst>
                                          <p:attrName>style.visibility</p:attrName>
                                        </p:attrNameLst>
                                      </p:cBhvr>
                                      <p:to>
                                        <p:strVal val="visible"/>
                                      </p:to>
                                    </p:set>
                                    <p:animEffect transition="in" filter="blinds(horizontal)">
                                      <p:cBhvr>
                                        <p:cTn id="47" dur="500"/>
                                        <p:tgtEl>
                                          <p:spTgt spid="435245"/>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35250"/>
                                        </p:tgtEl>
                                        <p:attrNameLst>
                                          <p:attrName>style.visibility</p:attrName>
                                        </p:attrNameLst>
                                      </p:cBhvr>
                                      <p:to>
                                        <p:strVal val="visible"/>
                                      </p:to>
                                    </p:set>
                                    <p:animEffect transition="in" filter="blinds(horizontal)">
                                      <p:cBhvr>
                                        <p:cTn id="52" dur="500"/>
                                        <p:tgtEl>
                                          <p:spTgt spid="43525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435241"/>
                                        </p:tgtEl>
                                        <p:attrNameLst>
                                          <p:attrName>style.visibility</p:attrName>
                                        </p:attrNameLst>
                                      </p:cBhvr>
                                      <p:to>
                                        <p:strVal val="visible"/>
                                      </p:to>
                                    </p:set>
                                    <p:animEffect transition="in" filter="blinds(horizontal)">
                                      <p:cBhvr>
                                        <p:cTn id="57" dur="500"/>
                                        <p:tgtEl>
                                          <p:spTgt spid="435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41" grpId="0"/>
      <p:bldP spid="435242" grpId="0"/>
      <p:bldP spid="435243" grpId="0"/>
      <p:bldP spid="435244" grpId="0" animBg="1"/>
      <p:bldP spid="435245" grpId="0" animBg="1"/>
      <p:bldP spid="435246" grpId="0"/>
      <p:bldP spid="435248" grpId="0"/>
      <p:bldP spid="435249" grpId="0" animBg="1"/>
      <p:bldP spid="4352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773113" y="47625"/>
            <a:ext cx="4933950" cy="800100"/>
          </a:xfrm>
        </p:spPr>
        <p:txBody>
          <a:bodyPr vert="horz" wrap="square" lIns="63500" tIns="25400" rIns="63500" bIns="25400" anchor="t" anchorCtr="0">
            <a:spAutoFit/>
          </a:bodyPr>
          <a:lstStyle/>
          <a:p>
            <a:r>
              <a:rPr lang="zh-CN" altLang="en-US" sz="2800" dirty="0">
                <a:ea typeface="宋体" panose="02010600030101010101" pitchFamily="2" charset="-122"/>
              </a:rPr>
              <a:t>基址寻址实现程序重定位</a:t>
            </a:r>
            <a:endParaRPr lang="zh-CN" altLang="en-US" sz="2800" dirty="0">
              <a:ea typeface="宋体" panose="02010600030101010101" pitchFamily="2" charset="-122"/>
            </a:endParaRPr>
          </a:p>
        </p:txBody>
      </p:sp>
      <p:sp>
        <p:nvSpPr>
          <p:cNvPr id="375811" name="Text Box 3"/>
          <p:cNvSpPr txBox="1"/>
          <p:nvPr/>
        </p:nvSpPr>
        <p:spPr>
          <a:xfrm>
            <a:off x="68263" y="5707063"/>
            <a:ext cx="5172075" cy="892175"/>
          </a:xfrm>
          <a:prstGeom prst="rect">
            <a:avLst/>
          </a:prstGeom>
          <a:noFill/>
          <a:ln w="9525">
            <a:noFill/>
          </a:ln>
        </p:spPr>
        <p:txBody>
          <a:bodyPr>
            <a:spAutoFit/>
          </a:bodyPr>
          <a:lstStyle/>
          <a:p>
            <a:pPr>
              <a:lnSpc>
                <a:spcPct val="130000"/>
              </a:lnSpc>
            </a:pPr>
            <a:r>
              <a:rPr lang="zh-CN" altLang="en-US" sz="2000" dirty="0">
                <a:latin typeface="Arial" panose="020B0604020202020204" pitchFamily="34" charset="0"/>
                <a:ea typeface="黑体" panose="02010609060101010101" pitchFamily="49" charset="-122"/>
              </a:rPr>
              <a:t>用户程序装入系统后有一个基址，虽然偏移量都为</a:t>
            </a:r>
            <a:r>
              <a:rPr lang="en-US" altLang="zh-CN" sz="2000" dirty="0">
                <a:latin typeface="Arial" panose="020B0604020202020204" pitchFamily="34" charset="0"/>
                <a:ea typeface="黑体" panose="02010609060101010101" pitchFamily="49" charset="-122"/>
              </a:rPr>
              <a:t>51</a:t>
            </a:r>
            <a:r>
              <a:rPr lang="zh-CN" altLang="en-US" sz="2000" dirty="0">
                <a:latin typeface="Arial" panose="020B0604020202020204" pitchFamily="34" charset="0"/>
                <a:ea typeface="黑体" panose="02010609060101010101" pitchFamily="49" charset="-122"/>
              </a:rPr>
              <a:t>，但因基址不同，故操作数不同。</a:t>
            </a:r>
            <a:endParaRPr lang="zh-CN" altLang="en-US" sz="2000" dirty="0">
              <a:latin typeface="Arial" panose="020B0604020202020204" pitchFamily="34" charset="0"/>
              <a:ea typeface="黑体" panose="02010609060101010101" pitchFamily="49" charset="-122"/>
            </a:endParaRPr>
          </a:p>
        </p:txBody>
      </p:sp>
      <p:sp>
        <p:nvSpPr>
          <p:cNvPr id="22532" name="Text Box 4" descr="羊皮纸"/>
          <p:cNvSpPr txBox="1"/>
          <p:nvPr/>
        </p:nvSpPr>
        <p:spPr>
          <a:xfrm>
            <a:off x="514350" y="1217613"/>
            <a:ext cx="2284413" cy="1260475"/>
          </a:xfrm>
          <a:prstGeom prst="rect">
            <a:avLst/>
          </a:prstGeom>
          <a:blipFill rotWithShape="0">
            <a:blip r:embed="rId1"/>
          </a:blipFill>
          <a:ln w="9525" cap="flat" cmpd="sng">
            <a:solidFill>
              <a:schemeClr val="tx1"/>
            </a:solidFill>
            <a:prstDash val="solid"/>
            <a:miter/>
            <a:headEnd type="none" w="med" len="med"/>
            <a:tailEnd type="none" w="med" len="med"/>
          </a:ln>
        </p:spPr>
        <p:txBody>
          <a:bodyPr tIns="190800" bIns="694800">
            <a:spAutoFit/>
          </a:bodyPr>
          <a:lstStyle/>
          <a:p>
            <a:pPr>
              <a:spcBef>
                <a:spcPct val="50000"/>
              </a:spcBef>
            </a:pPr>
            <a:r>
              <a:rPr lang="en-US" altLang="zh-CN" sz="2400" dirty="0">
                <a:solidFill>
                  <a:srgbClr val="0000FF"/>
                </a:solidFill>
                <a:latin typeface="Times New Roman" panose="02020603050405020304" pitchFamily="18" charset="0"/>
              </a:rPr>
              <a:t>ADD  AX,</a:t>
            </a:r>
            <a:r>
              <a:rPr lang="en-US" altLang="zh-CN" sz="3600" baseline="16000" dirty="0">
                <a:solidFill>
                  <a:srgbClr val="C2228D"/>
                </a:solidFill>
                <a:latin typeface="Times New Roman" panose="02020603050405020304" pitchFamily="18" charset="0"/>
              </a:rPr>
              <a:t> </a:t>
            </a:r>
            <a:r>
              <a:rPr lang="en-US" altLang="zh-CN" sz="3600" b="0" baseline="16000" dirty="0">
                <a:solidFill>
                  <a:srgbClr val="C2228D"/>
                </a:solidFill>
                <a:latin typeface="Times New Roman" panose="02020603050405020304" pitchFamily="18" charset="0"/>
              </a:rPr>
              <a:t>#</a:t>
            </a:r>
            <a:r>
              <a:rPr lang="en-US" altLang="zh-CN" sz="2400" dirty="0">
                <a:solidFill>
                  <a:srgbClr val="0000FF"/>
                </a:solidFill>
                <a:latin typeface="Times New Roman" panose="02020603050405020304" pitchFamily="18" charset="0"/>
              </a:rPr>
              <a:t>51</a:t>
            </a:r>
            <a:endParaRPr lang="en-US" altLang="zh-CN" sz="2400" dirty="0">
              <a:solidFill>
                <a:srgbClr val="0000FF"/>
              </a:solidFill>
              <a:latin typeface="Times New Roman" panose="02020603050405020304" pitchFamily="18" charset="0"/>
            </a:endParaRPr>
          </a:p>
        </p:txBody>
      </p:sp>
      <p:sp>
        <p:nvSpPr>
          <p:cNvPr id="22533" name="Rectangle 5" descr="纸莎草纸"/>
          <p:cNvSpPr/>
          <p:nvPr/>
        </p:nvSpPr>
        <p:spPr>
          <a:xfrm>
            <a:off x="5156200" y="903288"/>
            <a:ext cx="2284413" cy="498951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2534" name="Line 6"/>
          <p:cNvSpPr/>
          <p:nvPr/>
        </p:nvSpPr>
        <p:spPr>
          <a:xfrm>
            <a:off x="2770188" y="1217613"/>
            <a:ext cx="2386012" cy="314325"/>
          </a:xfrm>
          <a:prstGeom prst="line">
            <a:avLst/>
          </a:prstGeom>
          <a:ln w="28575" cap="flat" cmpd="sng">
            <a:solidFill>
              <a:schemeClr val="tx2"/>
            </a:solidFill>
            <a:prstDash val="solid"/>
            <a:headEnd type="none" w="med" len="med"/>
            <a:tailEnd type="triangle" w="med" len="med"/>
          </a:ln>
        </p:spPr>
      </p:sp>
      <p:sp>
        <p:nvSpPr>
          <p:cNvPr id="22535" name="Line 7"/>
          <p:cNvSpPr/>
          <p:nvPr/>
        </p:nvSpPr>
        <p:spPr>
          <a:xfrm>
            <a:off x="2814638" y="2471738"/>
            <a:ext cx="2341562" cy="320675"/>
          </a:xfrm>
          <a:prstGeom prst="line">
            <a:avLst/>
          </a:prstGeom>
          <a:ln w="28575" cap="flat" cmpd="sng">
            <a:solidFill>
              <a:schemeClr val="tx2"/>
            </a:solidFill>
            <a:prstDash val="solid"/>
            <a:headEnd type="none" w="med" len="med"/>
            <a:tailEnd type="triangle" w="med" len="med"/>
          </a:ln>
        </p:spPr>
      </p:sp>
      <p:sp>
        <p:nvSpPr>
          <p:cNvPr id="22536" name="Line 8"/>
          <p:cNvSpPr/>
          <p:nvPr/>
        </p:nvSpPr>
        <p:spPr>
          <a:xfrm>
            <a:off x="2803525" y="2976563"/>
            <a:ext cx="2352675" cy="330200"/>
          </a:xfrm>
          <a:prstGeom prst="line">
            <a:avLst/>
          </a:prstGeom>
          <a:ln w="28575" cap="flat" cmpd="sng">
            <a:solidFill>
              <a:srgbClr val="C2228D"/>
            </a:solidFill>
            <a:prstDash val="solid"/>
            <a:headEnd type="none" w="med" len="med"/>
            <a:tailEnd type="triangle" w="med" len="med"/>
          </a:ln>
        </p:spPr>
      </p:sp>
      <p:sp>
        <p:nvSpPr>
          <p:cNvPr id="22537" name="Line 9"/>
          <p:cNvSpPr/>
          <p:nvPr/>
        </p:nvSpPr>
        <p:spPr>
          <a:xfrm>
            <a:off x="2843213" y="4762500"/>
            <a:ext cx="2312987" cy="352425"/>
          </a:xfrm>
          <a:prstGeom prst="line">
            <a:avLst/>
          </a:prstGeom>
          <a:ln w="28575" cap="flat" cmpd="sng">
            <a:solidFill>
              <a:srgbClr val="C2228D"/>
            </a:solidFill>
            <a:prstDash val="solid"/>
            <a:headEnd type="none" w="med" len="med"/>
            <a:tailEnd type="triangle" w="med" len="med"/>
          </a:ln>
        </p:spPr>
      </p:sp>
      <p:sp>
        <p:nvSpPr>
          <p:cNvPr id="22538" name="Line 10"/>
          <p:cNvSpPr/>
          <p:nvPr/>
        </p:nvSpPr>
        <p:spPr>
          <a:xfrm>
            <a:off x="6315075" y="5222875"/>
            <a:ext cx="0" cy="436563"/>
          </a:xfrm>
          <a:prstGeom prst="line">
            <a:avLst/>
          </a:prstGeom>
          <a:ln w="38100" cap="flat" cmpd="sng">
            <a:solidFill>
              <a:schemeClr val="tx1"/>
            </a:solidFill>
            <a:prstDash val="sysDot"/>
            <a:headEnd type="none" w="med" len="med"/>
            <a:tailEnd type="none" w="med" len="med"/>
          </a:ln>
        </p:spPr>
      </p:sp>
      <p:sp>
        <p:nvSpPr>
          <p:cNvPr id="22539" name="Line 11"/>
          <p:cNvSpPr/>
          <p:nvPr/>
        </p:nvSpPr>
        <p:spPr>
          <a:xfrm>
            <a:off x="6249988" y="2908300"/>
            <a:ext cx="0" cy="325438"/>
          </a:xfrm>
          <a:prstGeom prst="line">
            <a:avLst/>
          </a:prstGeom>
          <a:ln w="38100" cap="flat" cmpd="sng">
            <a:solidFill>
              <a:schemeClr val="tx1"/>
            </a:solidFill>
            <a:prstDash val="sysDot"/>
            <a:headEnd type="none" w="med" len="med"/>
            <a:tailEnd type="none" w="med" len="med"/>
          </a:ln>
        </p:spPr>
      </p:sp>
      <p:sp>
        <p:nvSpPr>
          <p:cNvPr id="22540" name="Line 12"/>
          <p:cNvSpPr/>
          <p:nvPr/>
        </p:nvSpPr>
        <p:spPr>
          <a:xfrm>
            <a:off x="6249988" y="1027113"/>
            <a:ext cx="0" cy="384175"/>
          </a:xfrm>
          <a:prstGeom prst="line">
            <a:avLst/>
          </a:prstGeom>
          <a:ln w="38100" cap="flat" cmpd="sng">
            <a:solidFill>
              <a:schemeClr val="tx1"/>
            </a:solidFill>
            <a:prstDash val="sysDot"/>
            <a:headEnd type="none" w="med" len="med"/>
            <a:tailEnd type="none" w="med" len="med"/>
          </a:ln>
        </p:spPr>
      </p:sp>
      <p:sp>
        <p:nvSpPr>
          <p:cNvPr id="22541" name="Text Box 13"/>
          <p:cNvSpPr txBox="1"/>
          <p:nvPr/>
        </p:nvSpPr>
        <p:spPr>
          <a:xfrm>
            <a:off x="7407275" y="1754188"/>
            <a:ext cx="1308100"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150</a:t>
            </a:r>
            <a:endParaRPr lang="zh-CN" altLang="en-US" sz="2400" b="0" dirty="0">
              <a:solidFill>
                <a:schemeClr val="tx1"/>
              </a:solidFill>
              <a:latin typeface="Times New Roman" panose="02020603050405020304" pitchFamily="18" charset="0"/>
            </a:endParaRPr>
          </a:p>
        </p:txBody>
      </p:sp>
      <p:sp>
        <p:nvSpPr>
          <p:cNvPr id="22542" name="Text Box 14"/>
          <p:cNvSpPr txBox="1"/>
          <p:nvPr/>
        </p:nvSpPr>
        <p:spPr>
          <a:xfrm>
            <a:off x="2770188" y="1389063"/>
            <a:ext cx="701675"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50</a:t>
            </a:r>
            <a:endParaRPr lang="zh-CN" altLang="en-US" sz="2400" b="0" dirty="0">
              <a:solidFill>
                <a:schemeClr val="tx1"/>
              </a:solidFill>
              <a:latin typeface="Times New Roman" panose="02020603050405020304" pitchFamily="18" charset="0"/>
            </a:endParaRPr>
          </a:p>
        </p:txBody>
      </p:sp>
      <p:sp>
        <p:nvSpPr>
          <p:cNvPr id="22543" name="Text Box 15"/>
          <p:cNvSpPr txBox="1"/>
          <p:nvPr/>
        </p:nvSpPr>
        <p:spPr>
          <a:xfrm>
            <a:off x="2779713" y="1768475"/>
            <a:ext cx="701675"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51</a:t>
            </a:r>
            <a:endParaRPr lang="zh-CN" altLang="en-US" sz="2400" b="0" dirty="0">
              <a:solidFill>
                <a:schemeClr val="tx1"/>
              </a:solidFill>
              <a:latin typeface="Times New Roman" panose="02020603050405020304" pitchFamily="18" charset="0"/>
            </a:endParaRPr>
          </a:p>
        </p:txBody>
      </p:sp>
      <p:sp>
        <p:nvSpPr>
          <p:cNvPr id="22544" name="Line 16"/>
          <p:cNvSpPr/>
          <p:nvPr/>
        </p:nvSpPr>
        <p:spPr>
          <a:xfrm>
            <a:off x="514350" y="1431925"/>
            <a:ext cx="2284413" cy="0"/>
          </a:xfrm>
          <a:prstGeom prst="line">
            <a:avLst/>
          </a:prstGeom>
          <a:ln w="9525" cap="flat" cmpd="sng">
            <a:solidFill>
              <a:schemeClr val="tx1"/>
            </a:solidFill>
            <a:prstDash val="solid"/>
            <a:headEnd type="none" w="med" len="med"/>
            <a:tailEnd type="none" w="med" len="med"/>
          </a:ln>
        </p:spPr>
      </p:sp>
      <p:sp>
        <p:nvSpPr>
          <p:cNvPr id="22545" name="Line 17"/>
          <p:cNvSpPr/>
          <p:nvPr/>
        </p:nvSpPr>
        <p:spPr>
          <a:xfrm>
            <a:off x="523875" y="1812925"/>
            <a:ext cx="2284413" cy="0"/>
          </a:xfrm>
          <a:prstGeom prst="line">
            <a:avLst/>
          </a:prstGeom>
          <a:ln w="9525" cap="flat" cmpd="sng">
            <a:solidFill>
              <a:schemeClr val="tx1"/>
            </a:solidFill>
            <a:prstDash val="solid"/>
            <a:headEnd type="none" w="med" len="med"/>
            <a:tailEnd type="none" w="med" len="med"/>
          </a:ln>
        </p:spPr>
      </p:sp>
      <p:sp>
        <p:nvSpPr>
          <p:cNvPr id="22546" name="Line 18"/>
          <p:cNvSpPr/>
          <p:nvPr/>
        </p:nvSpPr>
        <p:spPr>
          <a:xfrm>
            <a:off x="519113" y="2185988"/>
            <a:ext cx="2284412" cy="0"/>
          </a:xfrm>
          <a:prstGeom prst="line">
            <a:avLst/>
          </a:prstGeom>
          <a:ln w="9525" cap="flat" cmpd="sng">
            <a:solidFill>
              <a:schemeClr val="tx1"/>
            </a:solidFill>
            <a:prstDash val="solid"/>
            <a:headEnd type="none" w="med" len="med"/>
            <a:tailEnd type="none" w="med" len="med"/>
          </a:ln>
        </p:spPr>
      </p:sp>
      <p:sp>
        <p:nvSpPr>
          <p:cNvPr id="375827" name="Text Box 19"/>
          <p:cNvSpPr txBox="1">
            <a:spLocks noChangeArrowheads="1"/>
          </p:cNvSpPr>
          <p:nvPr/>
        </p:nvSpPr>
        <p:spPr bwMode="auto">
          <a:xfrm>
            <a:off x="771525" y="1760538"/>
            <a:ext cx="16700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dirty="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120</a:t>
            </a:r>
            <a:endParaRPr kumimoji="0" lang="zh-CN" altLang="en-US" sz="2400" kern="1200" cap="none" spc="0" normalizeH="0" baseline="0" noProof="0" dirty="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2548" name="Text Box 20" descr="羊皮纸"/>
          <p:cNvSpPr txBox="1"/>
          <p:nvPr/>
        </p:nvSpPr>
        <p:spPr>
          <a:xfrm>
            <a:off x="5156200" y="1531938"/>
            <a:ext cx="2284413" cy="1260475"/>
          </a:xfrm>
          <a:prstGeom prst="rect">
            <a:avLst/>
          </a:prstGeom>
          <a:blipFill rotWithShape="0">
            <a:blip r:embed="rId1"/>
          </a:blipFill>
          <a:ln w="9525" cap="flat" cmpd="sng">
            <a:solidFill>
              <a:schemeClr val="tx1"/>
            </a:solidFill>
            <a:prstDash val="solid"/>
            <a:miter/>
            <a:headEnd type="none" w="med" len="med"/>
            <a:tailEnd type="none" w="med" len="med"/>
          </a:ln>
        </p:spPr>
        <p:txBody>
          <a:bodyPr tIns="190800" bIns="694800">
            <a:spAutoFit/>
          </a:bodyPr>
          <a:lstStyle/>
          <a:p>
            <a:pPr>
              <a:spcBef>
                <a:spcPct val="50000"/>
              </a:spcBef>
            </a:pPr>
            <a:r>
              <a:rPr lang="en-US" altLang="zh-CN" sz="2400" dirty="0">
                <a:solidFill>
                  <a:srgbClr val="0000FF"/>
                </a:solidFill>
                <a:latin typeface="Times New Roman" panose="02020603050405020304" pitchFamily="18" charset="0"/>
              </a:rPr>
              <a:t>ADD  AX, </a:t>
            </a:r>
            <a:r>
              <a:rPr lang="en-US" altLang="zh-CN" sz="3600" baseline="16000" dirty="0">
                <a:solidFill>
                  <a:srgbClr val="C2228D"/>
                </a:solidFill>
                <a:latin typeface="Times New Roman" panose="02020603050405020304" pitchFamily="18" charset="0"/>
              </a:rPr>
              <a:t>#</a:t>
            </a:r>
            <a:r>
              <a:rPr lang="en-US" altLang="zh-CN" sz="2400" dirty="0">
                <a:solidFill>
                  <a:srgbClr val="0000FF"/>
                </a:solidFill>
                <a:latin typeface="Times New Roman" panose="02020603050405020304" pitchFamily="18" charset="0"/>
              </a:rPr>
              <a:t>51</a:t>
            </a:r>
            <a:endParaRPr lang="en-US" altLang="zh-CN" sz="2400" dirty="0">
              <a:solidFill>
                <a:srgbClr val="0000FF"/>
              </a:solidFill>
              <a:latin typeface="Times New Roman" panose="02020603050405020304" pitchFamily="18" charset="0"/>
            </a:endParaRPr>
          </a:p>
        </p:txBody>
      </p:sp>
      <p:sp>
        <p:nvSpPr>
          <p:cNvPr id="22549" name="Line 21"/>
          <p:cNvSpPr/>
          <p:nvPr/>
        </p:nvSpPr>
        <p:spPr>
          <a:xfrm>
            <a:off x="5156200" y="1731963"/>
            <a:ext cx="2284413" cy="0"/>
          </a:xfrm>
          <a:prstGeom prst="line">
            <a:avLst/>
          </a:prstGeom>
          <a:ln w="9525" cap="flat" cmpd="sng">
            <a:solidFill>
              <a:schemeClr val="tx1"/>
            </a:solidFill>
            <a:prstDash val="solid"/>
            <a:headEnd type="none" w="med" len="med"/>
            <a:tailEnd type="none" w="med" len="med"/>
          </a:ln>
        </p:spPr>
      </p:sp>
      <p:sp>
        <p:nvSpPr>
          <p:cNvPr id="22550" name="Line 22"/>
          <p:cNvSpPr/>
          <p:nvPr/>
        </p:nvSpPr>
        <p:spPr>
          <a:xfrm>
            <a:off x="5165725" y="2112963"/>
            <a:ext cx="2284413" cy="0"/>
          </a:xfrm>
          <a:prstGeom prst="line">
            <a:avLst/>
          </a:prstGeom>
          <a:ln w="9525" cap="flat" cmpd="sng">
            <a:solidFill>
              <a:schemeClr val="tx1"/>
            </a:solidFill>
            <a:prstDash val="solid"/>
            <a:headEnd type="none" w="med" len="med"/>
            <a:tailEnd type="none" w="med" len="med"/>
          </a:ln>
        </p:spPr>
      </p:sp>
      <p:sp>
        <p:nvSpPr>
          <p:cNvPr id="22551" name="Line 23"/>
          <p:cNvSpPr/>
          <p:nvPr/>
        </p:nvSpPr>
        <p:spPr>
          <a:xfrm>
            <a:off x="5160963" y="2471738"/>
            <a:ext cx="2284412" cy="0"/>
          </a:xfrm>
          <a:prstGeom prst="line">
            <a:avLst/>
          </a:prstGeom>
          <a:ln w="9525" cap="flat" cmpd="sng">
            <a:solidFill>
              <a:schemeClr val="tx1"/>
            </a:solidFill>
            <a:prstDash val="solid"/>
            <a:headEnd type="none" w="med" len="med"/>
            <a:tailEnd type="none" w="med" len="med"/>
          </a:ln>
        </p:spPr>
      </p:sp>
      <p:sp>
        <p:nvSpPr>
          <p:cNvPr id="375832" name="Text Box 24"/>
          <p:cNvSpPr txBox="1">
            <a:spLocks noChangeArrowheads="1"/>
          </p:cNvSpPr>
          <p:nvPr/>
        </p:nvSpPr>
        <p:spPr bwMode="auto">
          <a:xfrm>
            <a:off x="5413375" y="2046288"/>
            <a:ext cx="16700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120</a:t>
            </a:r>
            <a:endPar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2553" name="Text Box 25"/>
          <p:cNvSpPr txBox="1"/>
          <p:nvPr/>
        </p:nvSpPr>
        <p:spPr>
          <a:xfrm>
            <a:off x="7407275" y="2068513"/>
            <a:ext cx="1308100"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151</a:t>
            </a:r>
            <a:endParaRPr lang="zh-CN" altLang="en-US" sz="2400" b="0" dirty="0">
              <a:solidFill>
                <a:schemeClr val="tx1"/>
              </a:solidFill>
              <a:latin typeface="Times New Roman" panose="02020603050405020304" pitchFamily="18" charset="0"/>
            </a:endParaRPr>
          </a:p>
        </p:txBody>
      </p:sp>
      <p:sp>
        <p:nvSpPr>
          <p:cNvPr id="375834" name="Text Box 26" descr="新闻纸"/>
          <p:cNvSpPr txBox="1">
            <a:spLocks noChangeArrowheads="1"/>
          </p:cNvSpPr>
          <p:nvPr/>
        </p:nvSpPr>
        <p:spPr bwMode="auto">
          <a:xfrm>
            <a:off x="549275" y="2954338"/>
            <a:ext cx="2284413" cy="1808163"/>
          </a:xfrm>
          <a:prstGeom prst="rect">
            <a:avLst/>
          </a:prstGeom>
          <a:blipFill dpi="0" rotWithShape="0">
            <a:blip r:embed="rId2" cstate="print"/>
            <a:srcRect/>
            <a:tile tx="0" ty="0" sx="100000" sy="100000" flip="none" algn="tl"/>
          </a:blipFill>
          <a:ln w="9525">
            <a:solidFill>
              <a:schemeClr val="tx1"/>
            </a:solidFill>
            <a:miter lim="800000"/>
          </a:ln>
          <a:effectLst/>
        </p:spPr>
        <p:txBody>
          <a:bodyPr tIns="190800" bIns="694800">
            <a:spAutoFit/>
          </a:bodyPr>
          <a:lstStyle/>
          <a:p>
            <a:pPr marR="0" defTabSz="914400">
              <a:spcBef>
                <a:spcPct val="50000"/>
              </a:spcBef>
              <a:buClrTx/>
              <a:buSzTx/>
              <a:buFontTx/>
              <a:buNone/>
              <a:defRPr/>
            </a:pP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SUB  AX,</a:t>
            </a:r>
            <a:r>
              <a:rPr kumimoji="0" lang="en-US" altLang="zh-CN" sz="3600" kern="1200" cap="none" spc="0" normalizeH="0" baseline="1600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51</a:t>
            </a:r>
            <a:endPar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defTabSz="914400">
              <a:spcBef>
                <a:spcPct val="50000"/>
              </a:spcBef>
              <a:buClrTx/>
              <a:buSzTx/>
              <a:buFontTx/>
              <a:buNone/>
              <a:defRPr/>
            </a:pPr>
            <a:endParaRPr kumimoji="0" lang="zh-CN" altLang="en-US"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2555" name="Text Box 27"/>
          <p:cNvSpPr txBox="1"/>
          <p:nvPr/>
        </p:nvSpPr>
        <p:spPr>
          <a:xfrm>
            <a:off x="2805113" y="3125788"/>
            <a:ext cx="701675"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40</a:t>
            </a:r>
            <a:endParaRPr lang="zh-CN" altLang="en-US" sz="2400" b="0" dirty="0">
              <a:solidFill>
                <a:schemeClr val="tx1"/>
              </a:solidFill>
              <a:latin typeface="Times New Roman" panose="02020603050405020304" pitchFamily="18" charset="0"/>
            </a:endParaRPr>
          </a:p>
        </p:txBody>
      </p:sp>
      <p:sp>
        <p:nvSpPr>
          <p:cNvPr id="22556" name="Text Box 28"/>
          <p:cNvSpPr txBox="1"/>
          <p:nvPr/>
        </p:nvSpPr>
        <p:spPr>
          <a:xfrm>
            <a:off x="2814638" y="3687763"/>
            <a:ext cx="701675"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51</a:t>
            </a:r>
            <a:endParaRPr lang="zh-CN" altLang="en-US" sz="2400" b="0" dirty="0">
              <a:solidFill>
                <a:schemeClr val="tx1"/>
              </a:solidFill>
              <a:latin typeface="Times New Roman" panose="02020603050405020304" pitchFamily="18" charset="0"/>
            </a:endParaRPr>
          </a:p>
        </p:txBody>
      </p:sp>
      <p:sp>
        <p:nvSpPr>
          <p:cNvPr id="22557" name="Line 29"/>
          <p:cNvSpPr/>
          <p:nvPr/>
        </p:nvSpPr>
        <p:spPr>
          <a:xfrm>
            <a:off x="549275" y="3168650"/>
            <a:ext cx="2284413" cy="0"/>
          </a:xfrm>
          <a:prstGeom prst="line">
            <a:avLst/>
          </a:prstGeom>
          <a:ln w="9525" cap="flat" cmpd="sng">
            <a:solidFill>
              <a:schemeClr val="tx1"/>
            </a:solidFill>
            <a:prstDash val="solid"/>
            <a:headEnd type="none" w="med" len="med"/>
            <a:tailEnd type="none" w="med" len="med"/>
          </a:ln>
        </p:spPr>
      </p:sp>
      <p:sp>
        <p:nvSpPr>
          <p:cNvPr id="22558" name="Line 30"/>
          <p:cNvSpPr/>
          <p:nvPr/>
        </p:nvSpPr>
        <p:spPr>
          <a:xfrm>
            <a:off x="558800" y="3492500"/>
            <a:ext cx="2284413" cy="0"/>
          </a:xfrm>
          <a:prstGeom prst="line">
            <a:avLst/>
          </a:prstGeom>
          <a:ln w="9525" cap="flat" cmpd="sng">
            <a:solidFill>
              <a:schemeClr val="tx1"/>
            </a:solidFill>
            <a:prstDash val="solid"/>
            <a:headEnd type="none" w="med" len="med"/>
            <a:tailEnd type="none" w="med" len="med"/>
          </a:ln>
        </p:spPr>
      </p:sp>
      <p:sp>
        <p:nvSpPr>
          <p:cNvPr id="22559" name="Line 31"/>
          <p:cNvSpPr/>
          <p:nvPr/>
        </p:nvSpPr>
        <p:spPr>
          <a:xfrm>
            <a:off x="554038" y="4079875"/>
            <a:ext cx="2284412" cy="0"/>
          </a:xfrm>
          <a:prstGeom prst="line">
            <a:avLst/>
          </a:prstGeom>
          <a:ln w="9525" cap="flat" cmpd="sng">
            <a:solidFill>
              <a:schemeClr val="tx1"/>
            </a:solidFill>
            <a:prstDash val="solid"/>
            <a:headEnd type="none" w="med" len="med"/>
            <a:tailEnd type="none" w="med" len="med"/>
          </a:ln>
        </p:spPr>
      </p:sp>
      <p:sp>
        <p:nvSpPr>
          <p:cNvPr id="375840" name="Text Box 32"/>
          <p:cNvSpPr txBox="1">
            <a:spLocks noChangeArrowheads="1"/>
          </p:cNvSpPr>
          <p:nvPr/>
        </p:nvSpPr>
        <p:spPr bwMode="auto">
          <a:xfrm>
            <a:off x="806450" y="3683000"/>
            <a:ext cx="16700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130</a:t>
            </a:r>
            <a:endPar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2561" name="Line 33"/>
          <p:cNvSpPr/>
          <p:nvPr/>
        </p:nvSpPr>
        <p:spPr>
          <a:xfrm>
            <a:off x="554038" y="3759200"/>
            <a:ext cx="2284412" cy="0"/>
          </a:xfrm>
          <a:prstGeom prst="line">
            <a:avLst/>
          </a:prstGeom>
          <a:ln w="9525" cap="flat" cmpd="sng">
            <a:solidFill>
              <a:schemeClr val="tx1"/>
            </a:solidFill>
            <a:prstDash val="solid"/>
            <a:headEnd type="none" w="med" len="med"/>
            <a:tailEnd type="none" w="med" len="med"/>
          </a:ln>
        </p:spPr>
      </p:sp>
      <p:sp>
        <p:nvSpPr>
          <p:cNvPr id="22562" name="Line 34"/>
          <p:cNvSpPr/>
          <p:nvPr/>
        </p:nvSpPr>
        <p:spPr>
          <a:xfrm>
            <a:off x="1152525" y="3640138"/>
            <a:ext cx="633413" cy="0"/>
          </a:xfrm>
          <a:prstGeom prst="line">
            <a:avLst/>
          </a:prstGeom>
          <a:ln w="38100" cap="flat" cmpd="sng">
            <a:solidFill>
              <a:schemeClr val="tx1"/>
            </a:solidFill>
            <a:prstDash val="sysDot"/>
            <a:headEnd type="none" w="med" len="med"/>
            <a:tailEnd type="none" w="med" len="med"/>
          </a:ln>
        </p:spPr>
      </p:sp>
      <p:sp>
        <p:nvSpPr>
          <p:cNvPr id="375843" name="Text Box 35" descr="新闻纸"/>
          <p:cNvSpPr txBox="1">
            <a:spLocks noChangeArrowheads="1"/>
          </p:cNvSpPr>
          <p:nvPr/>
        </p:nvSpPr>
        <p:spPr bwMode="auto">
          <a:xfrm>
            <a:off x="5156200" y="3306763"/>
            <a:ext cx="2284413" cy="1808163"/>
          </a:xfrm>
          <a:prstGeom prst="rect">
            <a:avLst/>
          </a:prstGeom>
          <a:blipFill dpi="0" rotWithShape="0">
            <a:blip r:embed="rId2" cstate="print"/>
            <a:srcRect/>
            <a:tile tx="0" ty="0" sx="100000" sy="100000" flip="none" algn="tl"/>
          </a:blipFill>
          <a:ln w="9525">
            <a:solidFill>
              <a:schemeClr val="tx1"/>
            </a:solidFill>
            <a:miter lim="800000"/>
          </a:ln>
          <a:effectLst/>
        </p:spPr>
        <p:txBody>
          <a:bodyPr tIns="190800" bIns="694800">
            <a:spAutoFit/>
          </a:bodyPr>
          <a:lstStyle/>
          <a:p>
            <a:pPr marR="0" defTabSz="914400">
              <a:spcBef>
                <a:spcPct val="50000"/>
              </a:spcBef>
              <a:buClrTx/>
              <a:buSzTx/>
              <a:buFontTx/>
              <a:buNone/>
              <a:defRPr/>
            </a:pP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SUB  AX,</a:t>
            </a:r>
            <a:r>
              <a:rPr kumimoji="0" lang="en-US" altLang="zh-CN" sz="3600" kern="1200" cap="none" spc="0" normalizeH="0" baseline="1600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a:t>
            </a:r>
            <a:r>
              <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51</a:t>
            </a:r>
            <a:endParaRPr kumimoji="0" lang="en-US" altLang="zh-CN"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a:p>
            <a:pPr marR="0" defTabSz="914400">
              <a:spcBef>
                <a:spcPct val="50000"/>
              </a:spcBef>
              <a:buClrTx/>
              <a:buSzTx/>
              <a:buFontTx/>
              <a:buNone/>
              <a:defRPr/>
            </a:pPr>
            <a:endParaRPr kumimoji="0" lang="zh-CN" altLang="en-US" sz="240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2564" name="Text Box 36"/>
          <p:cNvSpPr txBox="1"/>
          <p:nvPr/>
        </p:nvSpPr>
        <p:spPr>
          <a:xfrm>
            <a:off x="7412038" y="3478213"/>
            <a:ext cx="701675"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240</a:t>
            </a:r>
            <a:endParaRPr lang="zh-CN" altLang="en-US" sz="2400" b="0" dirty="0">
              <a:solidFill>
                <a:schemeClr val="tx1"/>
              </a:solidFill>
              <a:latin typeface="Times New Roman" panose="02020603050405020304" pitchFamily="18" charset="0"/>
            </a:endParaRPr>
          </a:p>
        </p:txBody>
      </p:sp>
      <p:sp>
        <p:nvSpPr>
          <p:cNvPr id="22565" name="Text Box 37"/>
          <p:cNvSpPr txBox="1"/>
          <p:nvPr/>
        </p:nvSpPr>
        <p:spPr>
          <a:xfrm>
            <a:off x="7421563" y="4040188"/>
            <a:ext cx="701675" cy="457200"/>
          </a:xfrm>
          <a:prstGeom prst="rect">
            <a:avLst/>
          </a:prstGeom>
          <a:noFill/>
          <a:ln w="9525">
            <a:noFill/>
          </a:ln>
        </p:spPr>
        <p:txBody>
          <a:bodyPr>
            <a:spAutoFit/>
          </a:bodyPr>
          <a:lstStyle/>
          <a:p>
            <a:pPr>
              <a:spcBef>
                <a:spcPct val="50000"/>
              </a:spcBef>
            </a:pPr>
            <a:r>
              <a:rPr lang="zh-CN" altLang="en-US" sz="2400" b="0" dirty="0">
                <a:solidFill>
                  <a:schemeClr val="tx1"/>
                </a:solidFill>
                <a:latin typeface="Times New Roman" panose="02020603050405020304" pitchFamily="18" charset="0"/>
              </a:rPr>
              <a:t>251</a:t>
            </a:r>
            <a:endParaRPr lang="zh-CN" altLang="en-US" sz="2400" b="0" dirty="0">
              <a:solidFill>
                <a:schemeClr val="tx1"/>
              </a:solidFill>
              <a:latin typeface="Times New Roman" panose="02020603050405020304" pitchFamily="18" charset="0"/>
            </a:endParaRPr>
          </a:p>
        </p:txBody>
      </p:sp>
      <p:sp>
        <p:nvSpPr>
          <p:cNvPr id="22566" name="Line 38"/>
          <p:cNvSpPr/>
          <p:nvPr/>
        </p:nvSpPr>
        <p:spPr>
          <a:xfrm>
            <a:off x="5156200" y="3535363"/>
            <a:ext cx="2284413" cy="0"/>
          </a:xfrm>
          <a:prstGeom prst="line">
            <a:avLst/>
          </a:prstGeom>
          <a:ln w="9525" cap="flat" cmpd="sng">
            <a:solidFill>
              <a:schemeClr val="tx1"/>
            </a:solidFill>
            <a:prstDash val="solid"/>
            <a:headEnd type="none" w="med" len="med"/>
            <a:tailEnd type="none" w="med" len="med"/>
          </a:ln>
        </p:spPr>
      </p:sp>
      <p:sp>
        <p:nvSpPr>
          <p:cNvPr id="22567" name="Line 39"/>
          <p:cNvSpPr/>
          <p:nvPr/>
        </p:nvSpPr>
        <p:spPr>
          <a:xfrm>
            <a:off x="5165725" y="3844925"/>
            <a:ext cx="2284413" cy="0"/>
          </a:xfrm>
          <a:prstGeom prst="line">
            <a:avLst/>
          </a:prstGeom>
          <a:ln w="9525" cap="flat" cmpd="sng">
            <a:solidFill>
              <a:schemeClr val="tx1"/>
            </a:solidFill>
            <a:prstDash val="solid"/>
            <a:headEnd type="none" w="med" len="med"/>
            <a:tailEnd type="none" w="med" len="med"/>
          </a:ln>
        </p:spPr>
      </p:sp>
      <p:sp>
        <p:nvSpPr>
          <p:cNvPr id="22568" name="Line 40"/>
          <p:cNvSpPr/>
          <p:nvPr/>
        </p:nvSpPr>
        <p:spPr>
          <a:xfrm>
            <a:off x="5160963" y="4432300"/>
            <a:ext cx="2284412" cy="0"/>
          </a:xfrm>
          <a:prstGeom prst="line">
            <a:avLst/>
          </a:prstGeom>
          <a:ln w="9525" cap="flat" cmpd="sng">
            <a:solidFill>
              <a:schemeClr val="tx1"/>
            </a:solidFill>
            <a:prstDash val="solid"/>
            <a:headEnd type="none" w="med" len="med"/>
            <a:tailEnd type="none" w="med" len="med"/>
          </a:ln>
        </p:spPr>
      </p:sp>
      <p:sp>
        <p:nvSpPr>
          <p:cNvPr id="375849" name="Text Box 41"/>
          <p:cNvSpPr txBox="1">
            <a:spLocks noChangeArrowheads="1"/>
          </p:cNvSpPr>
          <p:nvPr/>
        </p:nvSpPr>
        <p:spPr bwMode="auto">
          <a:xfrm>
            <a:off x="5413375" y="4035425"/>
            <a:ext cx="16700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130</a:t>
            </a:r>
            <a:endParaRPr kumimoji="0" lang="zh-CN" altLang="en-US"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22570" name="Line 42"/>
          <p:cNvSpPr/>
          <p:nvPr/>
        </p:nvSpPr>
        <p:spPr>
          <a:xfrm>
            <a:off x="5160963" y="4111625"/>
            <a:ext cx="2284412" cy="0"/>
          </a:xfrm>
          <a:prstGeom prst="line">
            <a:avLst/>
          </a:prstGeom>
          <a:ln w="9525" cap="flat" cmpd="sng">
            <a:solidFill>
              <a:schemeClr val="tx1"/>
            </a:solidFill>
            <a:prstDash val="solid"/>
            <a:headEnd type="none" w="med" len="med"/>
            <a:tailEnd type="none" w="med" len="med"/>
          </a:ln>
        </p:spPr>
      </p:sp>
      <p:sp>
        <p:nvSpPr>
          <p:cNvPr id="22571" name="Line 43"/>
          <p:cNvSpPr/>
          <p:nvPr/>
        </p:nvSpPr>
        <p:spPr>
          <a:xfrm>
            <a:off x="5759450" y="3992563"/>
            <a:ext cx="633413" cy="0"/>
          </a:xfrm>
          <a:prstGeom prst="line">
            <a:avLst/>
          </a:prstGeom>
          <a:ln w="38100" cap="flat" cmpd="sng">
            <a:solidFill>
              <a:schemeClr val="tx1"/>
            </a:solidFill>
            <a:prstDash val="sysDot"/>
            <a:headEnd type="none" w="med" len="med"/>
            <a:tailEnd type="none" w="med" len="med"/>
          </a:ln>
        </p:spPr>
      </p:sp>
      <p:sp>
        <p:nvSpPr>
          <p:cNvPr id="22572" name="Text Box 44"/>
          <p:cNvSpPr txBox="1"/>
          <p:nvPr/>
        </p:nvSpPr>
        <p:spPr>
          <a:xfrm>
            <a:off x="549275" y="795338"/>
            <a:ext cx="1892300" cy="396875"/>
          </a:xfrm>
          <a:prstGeom prst="rect">
            <a:avLst/>
          </a:prstGeom>
          <a:noFill/>
          <a:ln w="9525">
            <a:noFill/>
          </a:ln>
        </p:spPr>
        <p:txBody>
          <a:bodyPr>
            <a:spAutoFit/>
          </a:bodyPr>
          <a:lstStyle/>
          <a:p>
            <a:pPr>
              <a:spcBef>
                <a:spcPct val="50000"/>
              </a:spcBef>
            </a:pPr>
            <a:r>
              <a:rPr lang="zh-CN" altLang="en-US" sz="2000" dirty="0">
                <a:solidFill>
                  <a:schemeClr val="tx1"/>
                </a:solidFill>
                <a:latin typeface="Arial" panose="020B0604020202020204" pitchFamily="34" charset="0"/>
                <a:ea typeface="黑体" panose="02010609060101010101" pitchFamily="49" charset="-122"/>
              </a:rPr>
              <a:t>用户程序1</a:t>
            </a:r>
            <a:endParaRPr lang="zh-CN" altLang="en-US" sz="2000" dirty="0">
              <a:solidFill>
                <a:schemeClr val="tx1"/>
              </a:solidFill>
              <a:latin typeface="Arial" panose="020B0604020202020204" pitchFamily="34" charset="0"/>
              <a:ea typeface="黑体" panose="02010609060101010101" pitchFamily="49" charset="-122"/>
            </a:endParaRPr>
          </a:p>
        </p:txBody>
      </p:sp>
      <p:sp>
        <p:nvSpPr>
          <p:cNvPr id="22573" name="Text Box 45"/>
          <p:cNvSpPr txBox="1"/>
          <p:nvPr/>
        </p:nvSpPr>
        <p:spPr>
          <a:xfrm>
            <a:off x="514350" y="2571750"/>
            <a:ext cx="1892300" cy="396875"/>
          </a:xfrm>
          <a:prstGeom prst="rect">
            <a:avLst/>
          </a:prstGeom>
          <a:noFill/>
          <a:ln w="9525">
            <a:noFill/>
          </a:ln>
        </p:spPr>
        <p:txBody>
          <a:bodyPr>
            <a:spAutoFit/>
          </a:bodyPr>
          <a:lstStyle/>
          <a:p>
            <a:pPr>
              <a:spcBef>
                <a:spcPct val="50000"/>
              </a:spcBef>
            </a:pPr>
            <a:r>
              <a:rPr lang="zh-CN" altLang="en-US" sz="2000" dirty="0">
                <a:solidFill>
                  <a:schemeClr val="tx1"/>
                </a:solidFill>
                <a:latin typeface="Arial" panose="020B0604020202020204" pitchFamily="34" charset="0"/>
                <a:ea typeface="黑体" panose="02010609060101010101" pitchFamily="49" charset="-122"/>
              </a:rPr>
              <a:t>用户程序2</a:t>
            </a:r>
            <a:endParaRPr lang="zh-CN" altLang="en-US" sz="2000" dirty="0">
              <a:solidFill>
                <a:schemeClr val="tx1"/>
              </a:solidFill>
              <a:latin typeface="Arial" panose="020B0604020202020204" pitchFamily="34" charset="0"/>
              <a:ea typeface="黑体" panose="02010609060101010101" pitchFamily="49" charset="-122"/>
            </a:endParaRPr>
          </a:p>
        </p:txBody>
      </p:sp>
      <p:sp>
        <p:nvSpPr>
          <p:cNvPr id="375854" name="Text Box 46"/>
          <p:cNvSpPr txBox="1">
            <a:spLocks noChangeArrowheads="1"/>
          </p:cNvSpPr>
          <p:nvPr/>
        </p:nvSpPr>
        <p:spPr bwMode="auto">
          <a:xfrm>
            <a:off x="7412038" y="1338263"/>
            <a:ext cx="847725"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100</a:t>
            </a:r>
            <a:endParaRPr kumimoji="0" lang="zh-CN" altLang="en-US" sz="2400" kern="1200" cap="none" spc="0" normalizeH="0" baseline="0" noProof="0">
              <a:solidFill>
                <a:schemeClr val="hlink"/>
              </a:solidFill>
              <a:effectLst>
                <a:outerShdw blurRad="38100" dist="38100" dir="2700000" algn="tl">
                  <a:srgbClr val="C0C0C0"/>
                </a:outerShdw>
              </a:effectLst>
              <a:latin typeface="黑体" panose="02010609060101010101" pitchFamily="49" charset="-122"/>
              <a:ea typeface="黑体" panose="02010609060101010101" pitchFamily="49" charset="-122"/>
              <a:cs typeface="+mn-cs"/>
            </a:endParaRPr>
          </a:p>
        </p:txBody>
      </p:sp>
      <p:sp>
        <p:nvSpPr>
          <p:cNvPr id="375855" name="Text Box 47"/>
          <p:cNvSpPr txBox="1">
            <a:spLocks noChangeArrowheads="1"/>
          </p:cNvSpPr>
          <p:nvPr/>
        </p:nvSpPr>
        <p:spPr bwMode="auto">
          <a:xfrm>
            <a:off x="7412038" y="3125788"/>
            <a:ext cx="847725"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kern="1200" cap="none" spc="0" normalizeH="0" baseline="0" noProof="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200</a:t>
            </a:r>
            <a:endParaRPr kumimoji="0" lang="zh-CN" altLang="en-US" sz="2400" kern="1200" cap="none" spc="0" normalizeH="0" baseline="0" noProof="0">
              <a:solidFill>
                <a:schemeClr val="hlink"/>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75856" name="Text Box 48"/>
          <p:cNvSpPr txBox="1"/>
          <p:nvPr/>
        </p:nvSpPr>
        <p:spPr>
          <a:xfrm>
            <a:off x="376238" y="4924425"/>
            <a:ext cx="3092450" cy="660400"/>
          </a:xfrm>
          <a:prstGeom prst="rect">
            <a:avLst/>
          </a:prstGeom>
          <a:noFill/>
          <a:ln w="12700">
            <a:noFill/>
          </a:ln>
        </p:spPr>
        <p:txBody>
          <a:bodyPr lIns="63500" tIns="25400" rIns="63500" bIns="25400">
            <a:spAutoFit/>
          </a:bodyPr>
          <a:lstStyle/>
          <a:p>
            <a:r>
              <a:rPr lang="zh-CN" altLang="en-US" sz="2000" dirty="0">
                <a:solidFill>
                  <a:srgbClr val="A50021"/>
                </a:solidFill>
                <a:latin typeface="Arial" panose="020B0604020202020204" pitchFamily="34" charset="0"/>
                <a:ea typeface="黑体" panose="02010609060101010101" pitchFamily="49" charset="-122"/>
              </a:rPr>
              <a:t>“ </a:t>
            </a:r>
            <a:r>
              <a:rPr lang="en-US" altLang="zh-CN" sz="2000" dirty="0">
                <a:solidFill>
                  <a:srgbClr val="A50021"/>
                </a:solidFill>
                <a:latin typeface="Arial" panose="020B0604020202020204" pitchFamily="34" charset="0"/>
                <a:ea typeface="黑体" panose="02010609060101010101" pitchFamily="49" charset="-122"/>
              </a:rPr>
              <a:t># ” </a:t>
            </a:r>
            <a:r>
              <a:rPr lang="zh-CN" altLang="en-US" sz="2000" dirty="0">
                <a:solidFill>
                  <a:srgbClr val="A50021"/>
                </a:solidFill>
                <a:latin typeface="Arial" panose="020B0604020202020204" pitchFamily="34" charset="0"/>
                <a:ea typeface="黑体" panose="02010609060101010101" pitchFamily="49" charset="-122"/>
              </a:rPr>
              <a:t>表示基址寻址方式</a:t>
            </a:r>
            <a:endParaRPr lang="zh-CN" altLang="en-US" sz="2000" dirty="0">
              <a:solidFill>
                <a:srgbClr val="A50021"/>
              </a:solidFill>
              <a:latin typeface="Arial" panose="020B0604020202020204" pitchFamily="34" charset="0"/>
              <a:ea typeface="黑体" panose="02010609060101010101" pitchFamily="49" charset="-122"/>
            </a:endParaRPr>
          </a:p>
          <a:p>
            <a:r>
              <a:rPr lang="zh-CN" altLang="en-US" sz="2000" dirty="0">
                <a:solidFill>
                  <a:srgbClr val="A50021"/>
                </a:solidFill>
                <a:latin typeface="Arial" panose="020B0604020202020204" pitchFamily="34" charset="0"/>
                <a:ea typeface="黑体" panose="02010609060101010101" pitchFamily="49" charset="-122"/>
              </a:rPr>
              <a:t>有效地址</a:t>
            </a:r>
            <a:r>
              <a:rPr lang="en-US" altLang="zh-CN" sz="2000" dirty="0">
                <a:solidFill>
                  <a:srgbClr val="A50021"/>
                </a:solidFill>
                <a:latin typeface="Arial" panose="020B0604020202020204" pitchFamily="34" charset="0"/>
                <a:ea typeface="黑体" panose="02010609060101010101" pitchFamily="49" charset="-122"/>
              </a:rPr>
              <a:t>EA=</a:t>
            </a:r>
            <a:r>
              <a:rPr lang="zh-CN" altLang="en-US" sz="2000" dirty="0">
                <a:solidFill>
                  <a:srgbClr val="A50021"/>
                </a:solidFill>
                <a:latin typeface="Arial" panose="020B0604020202020204" pitchFamily="34" charset="0"/>
                <a:ea typeface="黑体" panose="02010609060101010101" pitchFamily="49" charset="-122"/>
              </a:rPr>
              <a:t>基址值</a:t>
            </a:r>
            <a:r>
              <a:rPr lang="en-US" altLang="zh-CN" sz="2000" dirty="0">
                <a:solidFill>
                  <a:srgbClr val="A50021"/>
                </a:solidFill>
                <a:latin typeface="Arial" panose="020B0604020202020204" pitchFamily="34" charset="0"/>
                <a:ea typeface="黑体" panose="02010609060101010101" pitchFamily="49" charset="-122"/>
              </a:rPr>
              <a:t>+51</a:t>
            </a:r>
            <a:endParaRPr lang="en-US" altLang="zh-CN" sz="2000" dirty="0">
              <a:solidFill>
                <a:srgbClr val="A50021"/>
              </a:solidFill>
              <a:latin typeface="Arial" panose="020B0604020202020204" pitchFamily="34" charset="0"/>
              <a:ea typeface="黑体" panose="02010609060101010101" pitchFamily="49" charset="-122"/>
            </a:endParaRPr>
          </a:p>
        </p:txBody>
      </p:sp>
      <p:sp>
        <p:nvSpPr>
          <p:cNvPr id="22577" name="Text Box 49"/>
          <p:cNvSpPr txBox="1"/>
          <p:nvPr/>
        </p:nvSpPr>
        <p:spPr>
          <a:xfrm>
            <a:off x="3771900" y="1519238"/>
            <a:ext cx="1479550"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基址为</a:t>
            </a:r>
            <a:r>
              <a:rPr lang="en-US" altLang="zh-CN" sz="2000" dirty="0">
                <a:latin typeface="Arial" panose="020B0604020202020204" pitchFamily="34" charset="0"/>
                <a:ea typeface="黑体" panose="02010609060101010101" pitchFamily="49" charset="-122"/>
              </a:rPr>
              <a:t>100</a:t>
            </a:r>
            <a:endParaRPr lang="en-US" altLang="zh-CN" sz="2000" dirty="0">
              <a:latin typeface="Arial" panose="020B0604020202020204" pitchFamily="34" charset="0"/>
              <a:ea typeface="黑体" panose="02010609060101010101" pitchFamily="49" charset="-122"/>
            </a:endParaRPr>
          </a:p>
        </p:txBody>
      </p:sp>
      <p:sp>
        <p:nvSpPr>
          <p:cNvPr id="22578" name="Text Box 50"/>
          <p:cNvSpPr txBox="1"/>
          <p:nvPr/>
        </p:nvSpPr>
        <p:spPr>
          <a:xfrm>
            <a:off x="3808413" y="3270250"/>
            <a:ext cx="1479550"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基址为</a:t>
            </a:r>
            <a:r>
              <a:rPr lang="en-US" altLang="zh-CN" sz="2000" dirty="0">
                <a:latin typeface="Arial" panose="020B0604020202020204" pitchFamily="34" charset="0"/>
                <a:ea typeface="黑体" panose="02010609060101010101" pitchFamily="49" charset="-122"/>
              </a:rPr>
              <a:t>200</a:t>
            </a:r>
            <a:endParaRPr lang="en-US" altLang="zh-CN" sz="2000" dirty="0">
              <a:latin typeface="Arial" panose="020B0604020202020204" pitchFamily="34" charset="0"/>
              <a:ea typeface="黑体" panose="02010609060101010101" pitchFamily="49" charset="-122"/>
            </a:endParaRPr>
          </a:p>
        </p:txBody>
      </p:sp>
      <p:sp>
        <p:nvSpPr>
          <p:cNvPr id="22579" name="Text Box 51"/>
          <p:cNvSpPr txBox="1"/>
          <p:nvPr/>
        </p:nvSpPr>
        <p:spPr>
          <a:xfrm>
            <a:off x="5861050" y="519113"/>
            <a:ext cx="1392238"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存储器</a:t>
            </a:r>
            <a:endParaRPr lang="zh-CN" altLang="en-US" sz="2000" dirty="0">
              <a:latin typeface="Arial" panose="020B0604020202020204" pitchFamily="34" charset="0"/>
              <a:ea typeface="黑体" panose="02010609060101010101" pitchFamily="49" charset="-122"/>
            </a:endParaRPr>
          </a:p>
        </p:txBody>
      </p:sp>
      <p:sp>
        <p:nvSpPr>
          <p:cNvPr id="375860" name="Text Box 52"/>
          <p:cNvSpPr txBox="1"/>
          <p:nvPr/>
        </p:nvSpPr>
        <p:spPr>
          <a:xfrm>
            <a:off x="7532688" y="6278563"/>
            <a:ext cx="1095375" cy="355600"/>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hlinkClick r:id="rId3" action="ppaction://hlinksldjump"/>
              </a:rPr>
              <a:t>BACK</a:t>
            </a:r>
            <a:endParaRPr lang="zh-CN" altLang="en-US" sz="20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5856"/>
                                        </p:tgtEl>
                                        <p:attrNameLst>
                                          <p:attrName>style.visibility</p:attrName>
                                        </p:attrNameLst>
                                      </p:cBhvr>
                                      <p:to>
                                        <p:strVal val="visible"/>
                                      </p:to>
                                    </p:set>
                                    <p:animEffect transition="in" filter="blinds(horizontal)">
                                      <p:cBhvr>
                                        <p:cTn id="7" dur="500"/>
                                        <p:tgtEl>
                                          <p:spTgt spid="37585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5811"/>
                                        </p:tgtEl>
                                        <p:attrNameLst>
                                          <p:attrName>style.visibility</p:attrName>
                                        </p:attrNameLst>
                                      </p:cBhvr>
                                      <p:to>
                                        <p:strVal val="visible"/>
                                      </p:to>
                                    </p:set>
                                    <p:animEffect transition="in" filter="blinds(horizontal)">
                                      <p:cBhvr>
                                        <p:cTn id="12" dur="500"/>
                                        <p:tgtEl>
                                          <p:spTgt spid="3758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5860"/>
                                        </p:tgtEl>
                                        <p:attrNameLst>
                                          <p:attrName>style.visibility</p:attrName>
                                        </p:attrNameLst>
                                      </p:cBhvr>
                                      <p:to>
                                        <p:strVal val="visible"/>
                                      </p:to>
                                    </p:set>
                                    <p:animEffect transition="in" filter="blinds(horizontal)">
                                      <p:cBhvr>
                                        <p:cTn id="17" dur="500"/>
                                        <p:tgtEl>
                                          <p:spTgt spid="375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1" grpId="0"/>
      <p:bldP spid="375856" grpId="0"/>
      <p:bldP spid="37586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711200" y="87313"/>
            <a:ext cx="5672138" cy="425450"/>
          </a:xfrm>
        </p:spPr>
        <p:txBody>
          <a:bodyPr vert="horz" wrap="square" lIns="63500" tIns="25400" rIns="63500" bIns="25400" anchor="t" anchorCtr="0">
            <a:spAutoFit/>
          </a:bodyPr>
          <a:lstStyle/>
          <a:p>
            <a:r>
              <a:rPr lang="zh-CN" altLang="en-US" sz="2800" dirty="0">
                <a:ea typeface="宋体" panose="02010600030101010101" pitchFamily="2" charset="-122"/>
              </a:rPr>
              <a:t>变址寻址实现线性表元素的存取</a:t>
            </a:r>
            <a:endParaRPr lang="zh-CN" altLang="en-US" sz="2800" dirty="0">
              <a:ea typeface="宋体" panose="02010600030101010101" pitchFamily="2" charset="-122"/>
            </a:endParaRPr>
          </a:p>
        </p:txBody>
      </p:sp>
      <p:sp>
        <p:nvSpPr>
          <p:cNvPr id="376835" name="Rectangle 3"/>
          <p:cNvSpPr>
            <a:spLocks noGrp="1"/>
          </p:cNvSpPr>
          <p:nvPr>
            <p:ph idx="1"/>
          </p:nvPr>
        </p:nvSpPr>
        <p:spPr>
          <a:xfrm>
            <a:off x="220663" y="688975"/>
            <a:ext cx="3938587" cy="5672138"/>
          </a:xfrm>
        </p:spPr>
        <p:txBody>
          <a:bodyPr vert="horz" wrap="square" lIns="91440" tIns="45720" rIns="91440" bIns="45720" anchor="t" anchorCtr="0"/>
          <a:lstStyle/>
          <a:p>
            <a:pPr marL="342900" indent="-342900">
              <a:lnSpc>
                <a:spcPct val="110000"/>
              </a:lnSpc>
            </a:pPr>
            <a:r>
              <a:rPr lang="zh-CN" altLang="en-US" dirty="0">
                <a:solidFill>
                  <a:srgbClr val="A50021"/>
                </a:solidFill>
                <a:latin typeface="Arial" panose="020B0604020202020204" pitchFamily="34" charset="0"/>
                <a:ea typeface="黑体" panose="02010609060101010101" pitchFamily="49" charset="-122"/>
              </a:rPr>
              <a:t>自动变址</a:t>
            </a:r>
            <a:endParaRPr lang="zh-CN" altLang="en-US" dirty="0">
              <a:solidFill>
                <a:srgbClr val="A50021"/>
              </a:solidFill>
              <a:latin typeface="Arial" panose="020B0604020202020204" pitchFamily="34" charset="0"/>
              <a:ea typeface="黑体" panose="02010609060101010101" pitchFamily="49" charset="-122"/>
            </a:endParaRPr>
          </a:p>
          <a:p>
            <a:pPr marL="342900" indent="-342900">
              <a:lnSpc>
                <a:spcPct val="110000"/>
              </a:lnSpc>
              <a:buNone/>
            </a:pPr>
            <a:r>
              <a:rPr lang="zh-CN" altLang="en-US" dirty="0">
                <a:solidFill>
                  <a:srgbClr val="A50021"/>
                </a:solidFill>
                <a:latin typeface="Arial" panose="020B0604020202020204" pitchFamily="34" charset="0"/>
                <a:ea typeface="黑体" panose="02010609060101010101" pitchFamily="49" charset="-122"/>
              </a:rPr>
              <a:t>     指令中的地址码</a:t>
            </a:r>
            <a:r>
              <a:rPr lang="en-US" altLang="zh-CN" dirty="0">
                <a:solidFill>
                  <a:srgbClr val="A50021"/>
                </a:solidFill>
                <a:latin typeface="Arial" panose="020B0604020202020204" pitchFamily="34" charset="0"/>
                <a:ea typeface="黑体" panose="02010609060101010101" pitchFamily="49" charset="-122"/>
              </a:rPr>
              <a:t>A</a:t>
            </a:r>
            <a:r>
              <a:rPr lang="zh-CN" altLang="en-US" dirty="0">
                <a:solidFill>
                  <a:srgbClr val="A50021"/>
                </a:solidFill>
                <a:latin typeface="Arial" panose="020B0604020202020204" pitchFamily="34" charset="0"/>
                <a:ea typeface="黑体" panose="02010609060101010101" pitchFamily="49" charset="-122"/>
              </a:rPr>
              <a:t>给定数组首址，变址器</a:t>
            </a:r>
            <a:r>
              <a:rPr lang="en-US" altLang="zh-CN" dirty="0">
                <a:solidFill>
                  <a:srgbClr val="A50021"/>
                </a:solidFill>
                <a:latin typeface="Arial" panose="020B0604020202020204" pitchFamily="34" charset="0"/>
                <a:ea typeface="黑体" panose="02010609060101010101" pitchFamily="49" charset="-122"/>
              </a:rPr>
              <a:t>I</a:t>
            </a:r>
            <a:r>
              <a:rPr lang="zh-CN" altLang="en-US" dirty="0">
                <a:solidFill>
                  <a:srgbClr val="A50021"/>
                </a:solidFill>
                <a:latin typeface="Arial" panose="020B0604020202020204" pitchFamily="34" charset="0"/>
                <a:ea typeface="黑体" panose="02010609060101010101" pitchFamily="49" charset="-122"/>
              </a:rPr>
              <a:t>每次</a:t>
            </a:r>
            <a:r>
              <a:rPr lang="zh-CN" altLang="en-US" dirty="0">
                <a:solidFill>
                  <a:schemeClr val="accent1"/>
                </a:solidFill>
                <a:latin typeface="Arial" panose="020B0604020202020204" pitchFamily="34" charset="0"/>
                <a:ea typeface="黑体" panose="02010609060101010101" pitchFamily="49" charset="-122"/>
              </a:rPr>
              <a:t>自动加</a:t>
            </a:r>
            <a:r>
              <a:rPr lang="en-US" altLang="zh-CN" dirty="0">
                <a:solidFill>
                  <a:schemeClr val="accent1"/>
                </a:solidFill>
                <a:latin typeface="Arial" panose="020B0604020202020204" pitchFamily="34" charset="0"/>
                <a:ea typeface="黑体" panose="02010609060101010101" pitchFamily="49" charset="-122"/>
              </a:rPr>
              <a:t>/</a:t>
            </a:r>
            <a:r>
              <a:rPr lang="zh-CN" altLang="en-US" dirty="0">
                <a:solidFill>
                  <a:schemeClr val="accent1"/>
                </a:solidFill>
                <a:latin typeface="Arial" panose="020B0604020202020204" pitchFamily="34" charset="0"/>
                <a:ea typeface="黑体" panose="02010609060101010101" pitchFamily="49" charset="-122"/>
              </a:rPr>
              <a:t>减</a:t>
            </a:r>
            <a:r>
              <a:rPr lang="zh-CN" altLang="en-US" dirty="0">
                <a:solidFill>
                  <a:srgbClr val="A50021"/>
                </a:solidFill>
                <a:latin typeface="Arial" panose="020B0604020202020204" pitchFamily="34" charset="0"/>
                <a:ea typeface="黑体" panose="02010609060101010101" pitchFamily="49" charset="-122"/>
              </a:rPr>
              <a:t>数组元素的长度</a:t>
            </a:r>
            <a:r>
              <a:rPr lang="en-US" altLang="zh-CN" dirty="0">
                <a:solidFill>
                  <a:srgbClr val="A50021"/>
                </a:solidFill>
                <a:latin typeface="Arial" panose="020B0604020202020204" pitchFamily="34" charset="0"/>
                <a:ea typeface="黑体" panose="02010609060101010101" pitchFamily="49" charset="-122"/>
              </a:rPr>
              <a:t>x</a:t>
            </a:r>
            <a:r>
              <a:rPr lang="zh-CN" altLang="en-US" dirty="0">
                <a:solidFill>
                  <a:srgbClr val="A50021"/>
                </a:solidFill>
                <a:latin typeface="Arial" panose="020B0604020202020204" pitchFamily="34" charset="0"/>
                <a:ea typeface="黑体" panose="02010609060101010101" pitchFamily="49" charset="-122"/>
              </a:rPr>
              <a:t>。</a:t>
            </a:r>
            <a:endParaRPr lang="zh-CN" altLang="en-US" dirty="0">
              <a:solidFill>
                <a:srgbClr val="A50021"/>
              </a:solidFill>
              <a:latin typeface="Arial" panose="020B0604020202020204" pitchFamily="34" charset="0"/>
              <a:ea typeface="黑体" panose="02010609060101010101" pitchFamily="49" charset="-122"/>
            </a:endParaRPr>
          </a:p>
          <a:p>
            <a:pPr marL="342900" indent="-342900">
              <a:lnSpc>
                <a:spcPct val="110000"/>
              </a:lnSpc>
              <a:buNone/>
            </a:pPr>
            <a:r>
              <a:rPr lang="zh-CN" altLang="en-US" dirty="0">
                <a:latin typeface="Arial" panose="020B0604020202020204" pitchFamily="34" charset="0"/>
                <a:ea typeface="黑体" panose="02010609060101010101" pitchFamily="49" charset="-122"/>
              </a:rPr>
              <a:t>      </a:t>
            </a:r>
            <a:r>
              <a:rPr lang="en-US" altLang="zh-CN" dirty="0">
                <a:latin typeface="Arial" panose="020B0604020202020204" pitchFamily="34" charset="0"/>
                <a:ea typeface="黑体" panose="02010609060101010101" pitchFamily="49" charset="-122"/>
              </a:rPr>
              <a:t>EA=( I )+A</a:t>
            </a:r>
            <a:endParaRPr lang="en-US" altLang="zh-CN" dirty="0">
              <a:latin typeface="Arial" panose="020B0604020202020204" pitchFamily="34" charset="0"/>
              <a:ea typeface="黑体" panose="02010609060101010101" pitchFamily="49" charset="-122"/>
            </a:endParaRPr>
          </a:p>
          <a:p>
            <a:pPr marL="342900" indent="-342900">
              <a:lnSpc>
                <a:spcPct val="110000"/>
              </a:lnSpc>
              <a:buNone/>
            </a:pPr>
            <a:r>
              <a:rPr lang="en-US" altLang="zh-CN" dirty="0">
                <a:latin typeface="Arial" panose="020B0604020202020204" pitchFamily="34" charset="0"/>
                <a:ea typeface="黑体" panose="02010609060101010101" pitchFamily="49" charset="-122"/>
              </a:rPr>
              <a:t>      I=( I ) ± x</a:t>
            </a:r>
            <a:endParaRPr lang="zh-CN" altLang="en-US" dirty="0">
              <a:latin typeface="Arial" panose="020B0604020202020204" pitchFamily="34" charset="0"/>
              <a:ea typeface="黑体" panose="02010609060101010101" pitchFamily="49" charset="-122"/>
            </a:endParaRPr>
          </a:p>
          <a:p>
            <a:pPr marL="342900" indent="-342900">
              <a:lnSpc>
                <a:spcPct val="110000"/>
              </a:lnSpc>
              <a:buNone/>
            </a:pP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例如，</a:t>
            </a:r>
            <a:r>
              <a:rPr lang="en-US" altLang="zh-CN" dirty="0">
                <a:latin typeface="Arial" panose="020B0604020202020204" pitchFamily="34" charset="0"/>
                <a:ea typeface="黑体" panose="02010609060101010101" pitchFamily="49" charset="-122"/>
              </a:rPr>
              <a:t>X86</a:t>
            </a:r>
            <a:r>
              <a:rPr lang="zh-CN" altLang="en-US" dirty="0">
                <a:latin typeface="Arial" panose="020B0604020202020204" pitchFamily="34" charset="0"/>
                <a:ea typeface="黑体" panose="02010609060101010101" pitchFamily="49" charset="-122"/>
              </a:rPr>
              <a:t>中的串操作指令</a:t>
            </a:r>
            <a:endParaRPr lang="zh-CN" altLang="en-US" dirty="0">
              <a:latin typeface="Arial" panose="020B0604020202020204" pitchFamily="34" charset="0"/>
              <a:ea typeface="黑体" panose="02010609060101010101" pitchFamily="49" charset="-122"/>
            </a:endParaRPr>
          </a:p>
          <a:p>
            <a:pPr marL="342900" indent="-342900">
              <a:lnSpc>
                <a:spcPct val="110000"/>
              </a:lnSpc>
              <a:spcBef>
                <a:spcPct val="10000"/>
              </a:spcBef>
              <a:buSzPct val="70000"/>
            </a:pPr>
            <a:r>
              <a:rPr lang="zh-CN" altLang="en-US" dirty="0">
                <a:solidFill>
                  <a:srgbClr val="0000FF"/>
                </a:solidFill>
                <a:latin typeface="Arial" panose="020B0604020202020204" pitchFamily="34" charset="0"/>
                <a:ea typeface="黑体" panose="02010609060101010101" pitchFamily="49" charset="-122"/>
              </a:rPr>
              <a:t>对于“</a:t>
            </a:r>
            <a:r>
              <a:rPr lang="en-US" altLang="zh-CN" dirty="0">
                <a:solidFill>
                  <a:srgbClr val="0000FF"/>
                </a:solidFill>
                <a:latin typeface="Arial" panose="020B0604020202020204" pitchFamily="34" charset="0"/>
                <a:ea typeface="黑体" panose="02010609060101010101" pitchFamily="49" charset="-122"/>
              </a:rPr>
              <a:t>for (i=0;i&lt;N;i++) ….”</a:t>
            </a:r>
            <a:r>
              <a:rPr lang="zh-CN" altLang="en-US" dirty="0">
                <a:solidFill>
                  <a:srgbClr val="0000FF"/>
                </a:solidFill>
                <a:latin typeface="Arial" panose="020B0604020202020204" pitchFamily="34" charset="0"/>
                <a:ea typeface="黑体" panose="02010609060101010101" pitchFamily="49" charset="-122"/>
              </a:rPr>
              <a:t>，即地址从低</a:t>
            </a:r>
            <a:r>
              <a:rPr lang="en-US" altLang="zh-CN" dirty="0">
                <a:solidFill>
                  <a:srgbClr val="0000FF"/>
                </a:solidFill>
                <a:latin typeface="Arial" panose="020B0604020202020204" pitchFamily="34" charset="0"/>
                <a:ea typeface="黑体" panose="02010609060101010101" pitchFamily="49" charset="-122"/>
              </a:rPr>
              <a:t>→</a:t>
            </a:r>
            <a:r>
              <a:rPr lang="zh-CN" altLang="en-US" dirty="0">
                <a:solidFill>
                  <a:srgbClr val="0000FF"/>
                </a:solidFill>
                <a:latin typeface="Arial" panose="020B0604020202020204" pitchFamily="34" charset="0"/>
                <a:ea typeface="黑体" panose="02010609060101010101" pitchFamily="49" charset="-122"/>
              </a:rPr>
              <a:t>高增长：加</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0000"/>
              </a:lnSpc>
              <a:spcBef>
                <a:spcPct val="10000"/>
              </a:spcBef>
              <a:buSzPct val="70000"/>
            </a:pPr>
            <a:r>
              <a:rPr lang="zh-CN" altLang="en-US" dirty="0">
                <a:solidFill>
                  <a:srgbClr val="0000FF"/>
                </a:solidFill>
                <a:latin typeface="Arial" panose="020B0604020202020204" pitchFamily="34" charset="0"/>
                <a:ea typeface="黑体" panose="02010609060101010101" pitchFamily="49" charset="-122"/>
              </a:rPr>
              <a:t>对于“</a:t>
            </a:r>
            <a:r>
              <a:rPr lang="en-US" altLang="zh-CN" dirty="0">
                <a:solidFill>
                  <a:srgbClr val="0000FF"/>
                </a:solidFill>
                <a:latin typeface="Arial" panose="020B0604020202020204" pitchFamily="34" charset="0"/>
                <a:ea typeface="黑体" panose="02010609060101010101" pitchFamily="49" charset="-122"/>
              </a:rPr>
              <a:t>for (i=N-1;i&gt;=0;i--) ….”,</a:t>
            </a:r>
            <a:r>
              <a:rPr lang="zh-CN" altLang="en-US" dirty="0">
                <a:solidFill>
                  <a:srgbClr val="0000FF"/>
                </a:solidFill>
                <a:latin typeface="Arial" panose="020B0604020202020204" pitchFamily="34" charset="0"/>
                <a:ea typeface="黑体" panose="02010609060101010101" pitchFamily="49" charset="-122"/>
              </a:rPr>
              <a:t>即地址从高</a:t>
            </a:r>
            <a:r>
              <a:rPr lang="en-US" altLang="zh-CN" dirty="0">
                <a:solidFill>
                  <a:srgbClr val="0000FF"/>
                </a:solidFill>
                <a:latin typeface="Arial" panose="020B0604020202020204" pitchFamily="34" charset="0"/>
                <a:ea typeface="黑体" panose="02010609060101010101" pitchFamily="49" charset="-122"/>
              </a:rPr>
              <a:t>→</a:t>
            </a:r>
            <a:r>
              <a:rPr lang="zh-CN" altLang="en-US" dirty="0">
                <a:solidFill>
                  <a:srgbClr val="0000FF"/>
                </a:solidFill>
                <a:latin typeface="Arial" panose="020B0604020202020204" pitchFamily="34" charset="0"/>
                <a:ea typeface="黑体" panose="02010609060101010101" pitchFamily="49" charset="-122"/>
              </a:rPr>
              <a:t>低增长：减</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0000"/>
              </a:lnSpc>
              <a:buSzPct val="70000"/>
            </a:pPr>
            <a:r>
              <a:rPr lang="zh-CN" altLang="en-US" dirty="0">
                <a:solidFill>
                  <a:srgbClr val="0000FF"/>
                </a:solidFill>
                <a:latin typeface="Arial" panose="020B0604020202020204" pitchFamily="34" charset="0"/>
                <a:ea typeface="黑体" panose="02010609060101010101" pitchFamily="49" charset="-122"/>
              </a:rPr>
              <a:t>可提供对线性表的方便访问</a:t>
            </a:r>
            <a:endParaRPr lang="zh-CN" altLang="en-US" dirty="0">
              <a:solidFill>
                <a:srgbClr val="0000FF"/>
              </a:solidFill>
              <a:latin typeface="Arial" panose="020B0604020202020204" pitchFamily="34" charset="0"/>
              <a:ea typeface="黑体" panose="02010609060101010101" pitchFamily="49" charset="-122"/>
            </a:endParaRPr>
          </a:p>
        </p:txBody>
      </p:sp>
      <p:sp>
        <p:nvSpPr>
          <p:cNvPr id="376842" name="Text Box 10"/>
          <p:cNvSpPr txBox="1"/>
          <p:nvPr/>
        </p:nvSpPr>
        <p:spPr>
          <a:xfrm>
            <a:off x="4414838" y="4660900"/>
            <a:ext cx="4525962" cy="812800"/>
          </a:xfrm>
          <a:prstGeom prst="rect">
            <a:avLst/>
          </a:prstGeom>
          <a:noFill/>
          <a:ln w="12700">
            <a:noFill/>
          </a:ln>
        </p:spPr>
        <p:txBody>
          <a:bodyPr lIns="63500" tIns="25400" rIns="63500" bIns="25400">
            <a:spAutoFit/>
          </a:bodyPr>
          <a:lstStyle/>
          <a:p>
            <a:pPr>
              <a:spcBef>
                <a:spcPct val="50000"/>
              </a:spcBef>
            </a:pPr>
            <a:r>
              <a:rPr lang="zh-CN" altLang="en-US" sz="2000" dirty="0">
                <a:solidFill>
                  <a:schemeClr val="accent1"/>
                </a:solidFill>
                <a:latin typeface="Arial" panose="020B0604020202020204" pitchFamily="34" charset="0"/>
                <a:ea typeface="黑体" panose="02010609060101010101" pitchFamily="49" charset="-122"/>
              </a:rPr>
              <a:t>若每个元素为一个字节，则 </a:t>
            </a:r>
            <a:r>
              <a:rPr lang="en-US" altLang="zh-CN" sz="2000" dirty="0">
                <a:solidFill>
                  <a:schemeClr val="accent1"/>
                </a:solidFill>
                <a:latin typeface="Arial" panose="020B0604020202020204" pitchFamily="34" charset="0"/>
                <a:ea typeface="黑体" panose="02010609060101010101" pitchFamily="49" charset="-122"/>
              </a:rPr>
              <a:t>I=(I) ± 1</a:t>
            </a:r>
            <a:endParaRPr lang="en-US" altLang="zh-CN" sz="2000" dirty="0">
              <a:solidFill>
                <a:schemeClr val="accent1"/>
              </a:solidFill>
              <a:latin typeface="Arial" panose="020B0604020202020204" pitchFamily="34" charset="0"/>
              <a:ea typeface="黑体" panose="02010609060101010101" pitchFamily="49" charset="-122"/>
            </a:endParaRPr>
          </a:p>
          <a:p>
            <a:pPr>
              <a:spcBef>
                <a:spcPct val="50000"/>
              </a:spcBef>
            </a:pPr>
            <a:r>
              <a:rPr lang="zh-CN" altLang="en-US" sz="2000" dirty="0">
                <a:solidFill>
                  <a:schemeClr val="accent1"/>
                </a:solidFill>
                <a:latin typeface="Arial" panose="020B0604020202020204" pitchFamily="34" charset="0"/>
                <a:ea typeface="黑体" panose="02010609060101010101" pitchFamily="49" charset="-122"/>
              </a:rPr>
              <a:t>若每个元素为</a:t>
            </a:r>
            <a:r>
              <a:rPr lang="en-US" altLang="zh-CN" sz="2000" dirty="0">
                <a:solidFill>
                  <a:schemeClr val="accent1"/>
                </a:solidFill>
                <a:latin typeface="Arial" panose="020B0604020202020204" pitchFamily="34" charset="0"/>
                <a:ea typeface="黑体" panose="02010609060101010101" pitchFamily="49" charset="-122"/>
              </a:rPr>
              <a:t>4</a:t>
            </a:r>
            <a:r>
              <a:rPr lang="zh-CN" altLang="en-US" sz="2000" dirty="0">
                <a:solidFill>
                  <a:schemeClr val="accent1"/>
                </a:solidFill>
                <a:latin typeface="Arial" panose="020B0604020202020204" pitchFamily="34" charset="0"/>
                <a:ea typeface="黑体" panose="02010609060101010101" pitchFamily="49" charset="-122"/>
              </a:rPr>
              <a:t>个字节，则 </a:t>
            </a:r>
            <a:r>
              <a:rPr lang="en-US" altLang="zh-CN" sz="2000" dirty="0">
                <a:solidFill>
                  <a:schemeClr val="accent1"/>
                </a:solidFill>
                <a:latin typeface="Arial" panose="020B0604020202020204" pitchFamily="34" charset="0"/>
                <a:ea typeface="黑体" panose="02010609060101010101" pitchFamily="49" charset="-122"/>
              </a:rPr>
              <a:t>I=(I) ± 4</a:t>
            </a:r>
            <a:endParaRPr lang="zh-CN" altLang="en-US" sz="2000" dirty="0">
              <a:solidFill>
                <a:schemeClr val="accent1"/>
              </a:solidFill>
              <a:latin typeface="Arial" panose="020B0604020202020204" pitchFamily="34" charset="0"/>
              <a:ea typeface="黑体" panose="02010609060101010101" pitchFamily="49" charset="-122"/>
            </a:endParaRPr>
          </a:p>
        </p:txBody>
      </p:sp>
      <p:grpSp>
        <p:nvGrpSpPr>
          <p:cNvPr id="2" name="Group 28"/>
          <p:cNvGrpSpPr/>
          <p:nvPr/>
        </p:nvGrpSpPr>
        <p:grpSpPr>
          <a:xfrm>
            <a:off x="4148138" y="1276350"/>
            <a:ext cx="4672012" cy="3071813"/>
            <a:chOff x="2725" y="804"/>
            <a:chExt cx="2859" cy="1935"/>
          </a:xfrm>
        </p:grpSpPr>
        <p:sp>
          <p:nvSpPr>
            <p:cNvPr id="376836" name="Text Box 4"/>
            <p:cNvSpPr txBox="1">
              <a:spLocks noChangeArrowheads="1"/>
            </p:cNvSpPr>
            <p:nvPr/>
          </p:nvSpPr>
          <p:spPr bwMode="auto">
            <a:xfrm>
              <a:off x="3813" y="1059"/>
              <a:ext cx="651" cy="288"/>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A=100</a:t>
              </a:r>
              <a:endParaRPr kumimoji="0" lang="en-US" altLang="zh-CN" sz="240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76837" name="Text Box 5"/>
            <p:cNvSpPr txBox="1">
              <a:spLocks noChangeArrowheads="1"/>
            </p:cNvSpPr>
            <p:nvPr/>
          </p:nvSpPr>
          <p:spPr bwMode="auto">
            <a:xfrm>
              <a:off x="2725" y="1308"/>
              <a:ext cx="768" cy="269"/>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200" kern="1200" cap="none" spc="0" normalizeH="0" baseline="0" noProof="0">
                  <a:solidFill>
                    <a:srgbClr val="C2228D"/>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变址器</a:t>
              </a:r>
              <a:r>
                <a:rPr kumimoji="0" lang="en-US" altLang="zh-CN" sz="2200" kern="1200" cap="none" spc="0" normalizeH="0" baseline="0" noProof="0">
                  <a:solidFill>
                    <a:srgbClr val="C2228D"/>
                  </a:solidFill>
                  <a:effectLst>
                    <a:outerShdw blurRad="38100" dist="38100" dir="2700000" algn="tl">
                      <a:srgbClr val="C0C0C0"/>
                    </a:outerShdw>
                  </a:effectLst>
                  <a:latin typeface="黑体" panose="02010609060101010101" pitchFamily="49" charset="-122"/>
                  <a:ea typeface="黑体" panose="02010609060101010101" pitchFamily="49" charset="-122"/>
                  <a:cs typeface="+mn-cs"/>
                </a:rPr>
                <a:t>I</a:t>
              </a:r>
              <a:endParaRPr kumimoji="0" lang="en-US" altLang="zh-CN" sz="2200" kern="1200" cap="none" spc="0" normalizeH="0" baseline="0" noProof="0">
                <a:solidFill>
                  <a:srgbClr val="C2228D"/>
                </a:solidFill>
                <a:effectLst>
                  <a:outerShdw blurRad="38100" dist="38100" dir="2700000" algn="tl">
                    <a:srgbClr val="C0C0C0"/>
                  </a:outerShdw>
                </a:effectLst>
                <a:latin typeface="黑体" panose="02010609060101010101" pitchFamily="49" charset="-122"/>
                <a:ea typeface="黑体" panose="02010609060101010101" pitchFamily="49" charset="-122"/>
                <a:cs typeface="+mn-cs"/>
              </a:endParaRPr>
            </a:p>
          </p:txBody>
        </p:sp>
        <p:sp>
          <p:nvSpPr>
            <p:cNvPr id="23562" name="Line 6"/>
            <p:cNvSpPr/>
            <p:nvPr/>
          </p:nvSpPr>
          <p:spPr>
            <a:xfrm flipV="1">
              <a:off x="3493" y="1524"/>
              <a:ext cx="971" cy="234"/>
            </a:xfrm>
            <a:prstGeom prst="line">
              <a:avLst/>
            </a:prstGeom>
            <a:ln w="28575" cap="flat" cmpd="sng">
              <a:solidFill>
                <a:schemeClr val="tx1"/>
              </a:solidFill>
              <a:prstDash val="solid"/>
              <a:headEnd type="none" w="med" len="med"/>
              <a:tailEnd type="triangle" w="med" len="med"/>
            </a:ln>
          </p:spPr>
        </p:sp>
        <p:sp>
          <p:nvSpPr>
            <p:cNvPr id="23563" name="Line 7"/>
            <p:cNvSpPr/>
            <p:nvPr/>
          </p:nvSpPr>
          <p:spPr>
            <a:xfrm flipV="1">
              <a:off x="3493" y="1228"/>
              <a:ext cx="971" cy="530"/>
            </a:xfrm>
            <a:prstGeom prst="line">
              <a:avLst/>
            </a:prstGeom>
            <a:ln w="28575" cap="flat" cmpd="sng">
              <a:solidFill>
                <a:schemeClr val="tx1"/>
              </a:solidFill>
              <a:prstDash val="solid"/>
              <a:headEnd type="none" w="med" len="med"/>
              <a:tailEnd type="triangle" w="med" len="med"/>
            </a:ln>
          </p:spPr>
        </p:sp>
        <p:sp>
          <p:nvSpPr>
            <p:cNvPr id="23564" name="Line 8"/>
            <p:cNvSpPr/>
            <p:nvPr/>
          </p:nvSpPr>
          <p:spPr>
            <a:xfrm>
              <a:off x="3493" y="1758"/>
              <a:ext cx="971" cy="0"/>
            </a:xfrm>
            <a:prstGeom prst="line">
              <a:avLst/>
            </a:prstGeom>
            <a:ln w="28575" cap="flat" cmpd="sng">
              <a:solidFill>
                <a:schemeClr val="tx1"/>
              </a:solidFill>
              <a:prstDash val="solid"/>
              <a:headEnd type="none" w="med" len="med"/>
              <a:tailEnd type="triangle" w="med" len="med"/>
            </a:ln>
          </p:spPr>
        </p:sp>
        <p:sp>
          <p:nvSpPr>
            <p:cNvPr id="23565" name="Line 9"/>
            <p:cNvSpPr/>
            <p:nvPr/>
          </p:nvSpPr>
          <p:spPr>
            <a:xfrm>
              <a:off x="4184" y="2022"/>
              <a:ext cx="0" cy="306"/>
            </a:xfrm>
            <a:prstGeom prst="line">
              <a:avLst/>
            </a:prstGeom>
            <a:ln w="38100" cap="flat" cmpd="sng">
              <a:solidFill>
                <a:schemeClr val="tx1"/>
              </a:solidFill>
              <a:prstDash val="sysDot"/>
              <a:headEnd type="none" w="med" len="med"/>
              <a:tailEnd type="none" w="med" len="med"/>
            </a:ln>
          </p:spPr>
        </p:sp>
        <p:sp>
          <p:nvSpPr>
            <p:cNvPr id="23566" name="Text Box 11"/>
            <p:cNvSpPr txBox="1"/>
            <p:nvPr/>
          </p:nvSpPr>
          <p:spPr>
            <a:xfrm>
              <a:off x="2843" y="1619"/>
              <a:ext cx="649" cy="294"/>
            </a:xfrm>
            <a:prstGeom prst="rect">
              <a:avLst/>
            </a:prstGeom>
            <a:solidFill>
              <a:schemeClr val="bg1"/>
            </a:solidFill>
            <a:ln w="9525" cap="flat" cmpd="sng">
              <a:solidFill>
                <a:schemeClr val="tx1"/>
              </a:solidFill>
              <a:prstDash val="solid"/>
              <a:miter/>
              <a:headEnd type="none" w="med" len="med"/>
              <a:tailEnd type="none" w="med" len="med"/>
            </a:ln>
          </p:spPr>
          <p:txBody>
            <a:bodyPr>
              <a:spAutoFit/>
            </a:bodyPr>
            <a:lstStyle/>
            <a:p>
              <a:pPr algn="ctr">
                <a:spcBef>
                  <a:spcPct val="50000"/>
                </a:spcBef>
              </a:pPr>
              <a:r>
                <a:rPr lang="zh-CN" altLang="en-US" sz="2400" b="0" dirty="0">
                  <a:solidFill>
                    <a:schemeClr val="tx1"/>
                  </a:solidFill>
                  <a:latin typeface="Times New Roman" panose="02020603050405020304" pitchFamily="18" charset="0"/>
                </a:rPr>
                <a:t>0</a:t>
              </a:r>
              <a:endParaRPr lang="zh-CN" altLang="en-US" sz="2400" b="0" dirty="0">
                <a:solidFill>
                  <a:schemeClr val="tx1"/>
                </a:solidFill>
                <a:latin typeface="Times New Roman" panose="02020603050405020304" pitchFamily="18" charset="0"/>
              </a:endParaRPr>
            </a:p>
          </p:txBody>
        </p:sp>
        <p:grpSp>
          <p:nvGrpSpPr>
            <p:cNvPr id="23567" name="Group 14"/>
            <p:cNvGrpSpPr/>
            <p:nvPr/>
          </p:nvGrpSpPr>
          <p:grpSpPr>
            <a:xfrm>
              <a:off x="4464" y="804"/>
              <a:ext cx="1120" cy="1935"/>
              <a:chOff x="4464" y="804"/>
              <a:chExt cx="1120" cy="1935"/>
            </a:xfrm>
          </p:grpSpPr>
          <p:sp>
            <p:nvSpPr>
              <p:cNvPr id="23568" name="Rectangle 15"/>
              <p:cNvSpPr/>
              <p:nvPr/>
            </p:nvSpPr>
            <p:spPr>
              <a:xfrm>
                <a:off x="4464" y="1059"/>
                <a:ext cx="1104" cy="168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3569" name="Line 16"/>
              <p:cNvSpPr/>
              <p:nvPr/>
            </p:nvSpPr>
            <p:spPr>
              <a:xfrm>
                <a:off x="4464" y="1347"/>
                <a:ext cx="1104" cy="0"/>
              </a:xfrm>
              <a:prstGeom prst="line">
                <a:avLst/>
              </a:prstGeom>
              <a:ln w="9525" cap="flat" cmpd="sng">
                <a:solidFill>
                  <a:schemeClr val="tx1"/>
                </a:solidFill>
                <a:prstDash val="solid"/>
                <a:headEnd type="none" w="med" len="med"/>
                <a:tailEnd type="none" w="med" len="med"/>
              </a:ln>
            </p:spPr>
          </p:sp>
          <p:sp>
            <p:nvSpPr>
              <p:cNvPr id="23570" name="Line 17"/>
              <p:cNvSpPr/>
              <p:nvPr/>
            </p:nvSpPr>
            <p:spPr>
              <a:xfrm>
                <a:off x="4464" y="1635"/>
                <a:ext cx="1104" cy="0"/>
              </a:xfrm>
              <a:prstGeom prst="line">
                <a:avLst/>
              </a:prstGeom>
              <a:ln w="9525" cap="flat" cmpd="sng">
                <a:solidFill>
                  <a:schemeClr val="tx1"/>
                </a:solidFill>
                <a:prstDash val="solid"/>
                <a:headEnd type="none" w="med" len="med"/>
                <a:tailEnd type="none" w="med" len="med"/>
              </a:ln>
            </p:spPr>
          </p:sp>
          <p:sp>
            <p:nvSpPr>
              <p:cNvPr id="23571" name="Line 18"/>
              <p:cNvSpPr/>
              <p:nvPr/>
            </p:nvSpPr>
            <p:spPr>
              <a:xfrm>
                <a:off x="4464" y="1875"/>
                <a:ext cx="1104" cy="0"/>
              </a:xfrm>
              <a:prstGeom prst="line">
                <a:avLst/>
              </a:prstGeom>
              <a:ln w="9525" cap="flat" cmpd="sng">
                <a:solidFill>
                  <a:schemeClr val="tx1"/>
                </a:solidFill>
                <a:prstDash val="solid"/>
                <a:headEnd type="none" w="med" len="med"/>
                <a:tailEnd type="none" w="med" len="med"/>
              </a:ln>
            </p:spPr>
          </p:sp>
          <p:sp>
            <p:nvSpPr>
              <p:cNvPr id="23572" name="Line 19"/>
              <p:cNvSpPr/>
              <p:nvPr/>
            </p:nvSpPr>
            <p:spPr>
              <a:xfrm>
                <a:off x="4464" y="2175"/>
                <a:ext cx="1104" cy="0"/>
              </a:xfrm>
              <a:prstGeom prst="line">
                <a:avLst/>
              </a:prstGeom>
              <a:ln w="9525" cap="flat" cmpd="sng">
                <a:solidFill>
                  <a:schemeClr val="tx1"/>
                </a:solidFill>
                <a:prstDash val="solid"/>
                <a:headEnd type="none" w="med" len="med"/>
                <a:tailEnd type="none" w="med" len="med"/>
              </a:ln>
            </p:spPr>
          </p:sp>
          <p:sp>
            <p:nvSpPr>
              <p:cNvPr id="23573" name="Text Box 20"/>
              <p:cNvSpPr txBox="1"/>
              <p:nvPr/>
            </p:nvSpPr>
            <p:spPr>
              <a:xfrm>
                <a:off x="4813" y="1056"/>
                <a:ext cx="665" cy="288"/>
              </a:xfrm>
              <a:prstGeom prst="rect">
                <a:avLst/>
              </a:prstGeom>
              <a:noFill/>
              <a:ln w="9525">
                <a:noFill/>
              </a:ln>
            </p:spPr>
            <p:txBody>
              <a:bodyPr>
                <a:spAutoFit/>
              </a:bodyPr>
              <a:lstStyle/>
              <a:p>
                <a:pPr>
                  <a:spcBef>
                    <a:spcPct val="50000"/>
                  </a:spcBef>
                </a:pPr>
                <a:r>
                  <a:rPr lang="en-US" altLang="zh-CN" sz="2400" dirty="0">
                    <a:solidFill>
                      <a:schemeClr val="tx1"/>
                    </a:solidFill>
                    <a:latin typeface="Times New Roman" panose="02020603050405020304" pitchFamily="18" charset="0"/>
                  </a:rPr>
                  <a:t>A[0]</a:t>
                </a:r>
                <a:endParaRPr lang="en-US" altLang="zh-CN" sz="2400" dirty="0">
                  <a:solidFill>
                    <a:schemeClr val="tx1"/>
                  </a:solidFill>
                  <a:latin typeface="Times New Roman" panose="02020603050405020304" pitchFamily="18" charset="0"/>
                </a:endParaRPr>
              </a:p>
            </p:txBody>
          </p:sp>
          <p:sp>
            <p:nvSpPr>
              <p:cNvPr id="23574" name="Text Box 21"/>
              <p:cNvSpPr txBox="1"/>
              <p:nvPr/>
            </p:nvSpPr>
            <p:spPr>
              <a:xfrm>
                <a:off x="4812" y="1344"/>
                <a:ext cx="633" cy="288"/>
              </a:xfrm>
              <a:prstGeom prst="rect">
                <a:avLst/>
              </a:prstGeom>
              <a:noFill/>
              <a:ln w="9525">
                <a:noFill/>
              </a:ln>
            </p:spPr>
            <p:txBody>
              <a:bodyPr>
                <a:spAutoFit/>
              </a:bodyPr>
              <a:lstStyle/>
              <a:p>
                <a:pPr>
                  <a:spcBef>
                    <a:spcPct val="50000"/>
                  </a:spcBef>
                </a:pPr>
                <a:r>
                  <a:rPr lang="en-US" altLang="zh-CN" sz="2400" dirty="0">
                    <a:solidFill>
                      <a:schemeClr val="tx1"/>
                    </a:solidFill>
                    <a:latin typeface="Times New Roman" panose="02020603050405020304" pitchFamily="18" charset="0"/>
                  </a:rPr>
                  <a:t>A[1]</a:t>
                </a:r>
                <a:endParaRPr lang="en-US" altLang="zh-CN" sz="2400" dirty="0">
                  <a:solidFill>
                    <a:schemeClr val="tx1"/>
                  </a:solidFill>
                  <a:latin typeface="Times New Roman" panose="02020603050405020304" pitchFamily="18" charset="0"/>
                </a:endParaRPr>
              </a:p>
            </p:txBody>
          </p:sp>
          <p:sp>
            <p:nvSpPr>
              <p:cNvPr id="23575" name="Text Box 22"/>
              <p:cNvSpPr txBox="1"/>
              <p:nvPr/>
            </p:nvSpPr>
            <p:spPr>
              <a:xfrm>
                <a:off x="4813" y="1596"/>
                <a:ext cx="665" cy="288"/>
              </a:xfrm>
              <a:prstGeom prst="rect">
                <a:avLst/>
              </a:prstGeom>
              <a:noFill/>
              <a:ln w="9525">
                <a:noFill/>
              </a:ln>
            </p:spPr>
            <p:txBody>
              <a:bodyPr>
                <a:spAutoFit/>
              </a:bodyPr>
              <a:lstStyle/>
              <a:p>
                <a:pPr>
                  <a:spcBef>
                    <a:spcPct val="50000"/>
                  </a:spcBef>
                </a:pPr>
                <a:r>
                  <a:rPr lang="en-US" altLang="zh-CN" sz="2400" dirty="0">
                    <a:solidFill>
                      <a:schemeClr val="tx1"/>
                    </a:solidFill>
                    <a:latin typeface="Times New Roman" panose="02020603050405020304" pitchFamily="18" charset="0"/>
                  </a:rPr>
                  <a:t>A[2]</a:t>
                </a:r>
                <a:endParaRPr lang="en-US" altLang="zh-CN" sz="2400" dirty="0">
                  <a:solidFill>
                    <a:schemeClr val="tx1"/>
                  </a:solidFill>
                  <a:latin typeface="Times New Roman" panose="02020603050405020304" pitchFamily="18" charset="0"/>
                </a:endParaRPr>
              </a:p>
            </p:txBody>
          </p:sp>
          <p:sp>
            <p:nvSpPr>
              <p:cNvPr id="23576" name="Text Box 23"/>
              <p:cNvSpPr txBox="1"/>
              <p:nvPr/>
            </p:nvSpPr>
            <p:spPr>
              <a:xfrm>
                <a:off x="4812" y="1884"/>
                <a:ext cx="633" cy="288"/>
              </a:xfrm>
              <a:prstGeom prst="rect">
                <a:avLst/>
              </a:prstGeom>
              <a:noFill/>
              <a:ln w="9525">
                <a:noFill/>
              </a:ln>
            </p:spPr>
            <p:txBody>
              <a:bodyPr>
                <a:spAutoFit/>
              </a:bodyPr>
              <a:lstStyle/>
              <a:p>
                <a:pPr>
                  <a:spcBef>
                    <a:spcPct val="50000"/>
                  </a:spcBef>
                </a:pPr>
                <a:r>
                  <a:rPr lang="en-US" altLang="zh-CN" sz="2400" dirty="0">
                    <a:solidFill>
                      <a:schemeClr val="tx1"/>
                    </a:solidFill>
                    <a:latin typeface="Times New Roman" panose="02020603050405020304" pitchFamily="18" charset="0"/>
                  </a:rPr>
                  <a:t>A[3]</a:t>
                </a:r>
                <a:endParaRPr lang="en-US" altLang="zh-CN" sz="2400" dirty="0">
                  <a:solidFill>
                    <a:schemeClr val="tx1"/>
                  </a:solidFill>
                  <a:latin typeface="Times New Roman" panose="02020603050405020304" pitchFamily="18" charset="0"/>
                </a:endParaRPr>
              </a:p>
            </p:txBody>
          </p:sp>
          <p:sp>
            <p:nvSpPr>
              <p:cNvPr id="23577" name="Line 24"/>
              <p:cNvSpPr/>
              <p:nvPr/>
            </p:nvSpPr>
            <p:spPr>
              <a:xfrm>
                <a:off x="5029" y="2256"/>
                <a:ext cx="0" cy="306"/>
              </a:xfrm>
              <a:prstGeom prst="line">
                <a:avLst/>
              </a:prstGeom>
              <a:ln w="38100" cap="flat" cmpd="sng">
                <a:solidFill>
                  <a:schemeClr val="tx1"/>
                </a:solidFill>
                <a:prstDash val="sysDot"/>
                <a:headEnd type="none" w="med" len="med"/>
                <a:tailEnd type="none" w="med" len="med"/>
              </a:ln>
            </p:spPr>
          </p:sp>
          <p:sp>
            <p:nvSpPr>
              <p:cNvPr id="23578" name="Text Box 25"/>
              <p:cNvSpPr txBox="1"/>
              <p:nvPr/>
            </p:nvSpPr>
            <p:spPr>
              <a:xfrm>
                <a:off x="4707" y="804"/>
                <a:ext cx="877" cy="224"/>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存储器</a:t>
                </a:r>
                <a:endParaRPr lang="zh-CN" altLang="en-US" sz="2000" dirty="0">
                  <a:latin typeface="Arial" panose="020B0604020202020204" pitchFamily="34" charset="0"/>
                  <a:ea typeface="黑体" panose="02010609060101010101" pitchFamily="49" charset="-122"/>
                </a:endParaRPr>
              </a:p>
            </p:txBody>
          </p:sp>
        </p:grpSp>
      </p:grpSp>
      <p:sp>
        <p:nvSpPr>
          <p:cNvPr id="376858" name="Text Box 26"/>
          <p:cNvSpPr txBox="1"/>
          <p:nvPr/>
        </p:nvSpPr>
        <p:spPr>
          <a:xfrm>
            <a:off x="4454525" y="782638"/>
            <a:ext cx="4456113"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假定一维数组</a:t>
            </a:r>
            <a:r>
              <a:rPr lang="en-US" altLang="zh-CN" sz="2000" dirty="0">
                <a:latin typeface="Arial" panose="020B0604020202020204" pitchFamily="34" charset="0"/>
                <a:ea typeface="黑体" panose="02010609060101010101" pitchFamily="49" charset="-122"/>
              </a:rPr>
              <a:t>A</a:t>
            </a:r>
            <a:r>
              <a:rPr lang="zh-CN" altLang="en-US" sz="2000" dirty="0">
                <a:latin typeface="Arial" panose="020B0604020202020204" pitchFamily="34" charset="0"/>
                <a:ea typeface="黑体" panose="02010609060101010101" pitchFamily="49" charset="-122"/>
              </a:rPr>
              <a:t>从内存</a:t>
            </a:r>
            <a:r>
              <a:rPr lang="en-US" altLang="zh-CN" sz="2000" dirty="0">
                <a:latin typeface="Arial" panose="020B0604020202020204" pitchFamily="34" charset="0"/>
                <a:ea typeface="黑体" panose="02010609060101010101" pitchFamily="49" charset="-122"/>
              </a:rPr>
              <a:t>100</a:t>
            </a:r>
            <a:r>
              <a:rPr lang="zh-CN" altLang="en-US" sz="2000" dirty="0">
                <a:latin typeface="Arial" panose="020B0604020202020204" pitchFamily="34" charset="0"/>
                <a:ea typeface="黑体" panose="02010609060101010101" pitchFamily="49" charset="-122"/>
              </a:rPr>
              <a:t>号单元开始</a:t>
            </a:r>
            <a:endParaRPr lang="zh-CN" altLang="en-US" sz="2000" dirty="0">
              <a:latin typeface="Arial" panose="020B0604020202020204" pitchFamily="34" charset="0"/>
              <a:ea typeface="黑体" panose="02010609060101010101" pitchFamily="49" charset="-122"/>
            </a:endParaRPr>
          </a:p>
        </p:txBody>
      </p:sp>
      <p:sp>
        <p:nvSpPr>
          <p:cNvPr id="26653" name="Text Box 29"/>
          <p:cNvSpPr txBox="1"/>
          <p:nvPr/>
        </p:nvSpPr>
        <p:spPr>
          <a:xfrm>
            <a:off x="323850" y="5840413"/>
            <a:ext cx="5603875" cy="728662"/>
          </a:xfrm>
          <a:prstGeom prst="rect">
            <a:avLst/>
          </a:prstGeom>
          <a:noFill/>
          <a:ln w="12700">
            <a:noFill/>
          </a:ln>
        </p:spPr>
        <p:txBody>
          <a:bodyPr lIns="63500" tIns="25400" rIns="63500" bIns="25400">
            <a:spAutoFit/>
          </a:bodyPr>
          <a:lstStyle/>
          <a:p>
            <a:pPr>
              <a:spcBef>
                <a:spcPct val="50000"/>
              </a:spcBef>
            </a:pPr>
            <a:r>
              <a:rPr lang="zh-CN" altLang="en-US" sz="2200" dirty="0">
                <a:latin typeface="黑体" panose="02010609060101010101" pitchFamily="49" charset="-122"/>
                <a:ea typeface="黑体" panose="02010609060101010101" pitchFamily="49" charset="-122"/>
              </a:rPr>
              <a:t>一般</a:t>
            </a:r>
            <a:r>
              <a:rPr lang="en-US" altLang="zh-CN" sz="2200" dirty="0">
                <a:latin typeface="Times New Roman" panose="02020603050405020304" pitchFamily="18" charset="0"/>
                <a:ea typeface="黑体" panose="02010609060101010101" pitchFamily="49" charset="-122"/>
              </a:rPr>
              <a:t>RISC</a:t>
            </a:r>
            <a:r>
              <a:rPr lang="zh-CN" altLang="en-US" sz="2200" dirty="0">
                <a:latin typeface="Times New Roman" panose="02020603050405020304" pitchFamily="18" charset="0"/>
                <a:ea typeface="黑体" panose="02010609060101010101" pitchFamily="49" charset="-122"/>
              </a:rPr>
              <a:t>机器不提供自动变址寻址，并将变</a:t>
            </a:r>
            <a:r>
              <a:rPr lang="zh-CN" altLang="en-US" sz="2200" dirty="0">
                <a:latin typeface="黑体" panose="02010609060101010101" pitchFamily="49" charset="-122"/>
                <a:ea typeface="黑体" panose="02010609060101010101" pitchFamily="49" charset="-122"/>
              </a:rPr>
              <a:t>址和基址寻址统一成一种偏移寻址方式</a:t>
            </a:r>
            <a:endParaRPr lang="zh-CN" altLang="en-US" sz="2200" dirty="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6835">
                                            <p:txEl>
                                              <p:pRg st="2" end="2"/>
                                            </p:txEl>
                                          </p:spTgt>
                                        </p:tgtEl>
                                        <p:attrNameLst>
                                          <p:attrName>style.visibility</p:attrName>
                                        </p:attrNameLst>
                                      </p:cBhvr>
                                      <p:to>
                                        <p:strVal val="visible"/>
                                      </p:to>
                                    </p:set>
                                    <p:animEffect transition="in" filter="blinds(horizontal)">
                                      <p:cBhvr>
                                        <p:cTn id="7" dur="500"/>
                                        <p:tgtEl>
                                          <p:spTgt spid="37683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6835">
                                            <p:txEl>
                                              <p:pRg st="3" end="3"/>
                                            </p:txEl>
                                          </p:spTgt>
                                        </p:tgtEl>
                                        <p:attrNameLst>
                                          <p:attrName>style.visibility</p:attrName>
                                        </p:attrNameLst>
                                      </p:cBhvr>
                                      <p:to>
                                        <p:strVal val="visible"/>
                                      </p:to>
                                    </p:set>
                                    <p:animEffect transition="in" filter="blinds(horizontal)">
                                      <p:cBhvr>
                                        <p:cTn id="12" dur="500"/>
                                        <p:tgtEl>
                                          <p:spTgt spid="37683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6835">
                                            <p:txEl>
                                              <p:pRg st="4" end="4"/>
                                            </p:txEl>
                                          </p:spTgt>
                                        </p:tgtEl>
                                        <p:attrNameLst>
                                          <p:attrName>style.visibility</p:attrName>
                                        </p:attrNameLst>
                                      </p:cBhvr>
                                      <p:to>
                                        <p:strVal val="visible"/>
                                      </p:to>
                                    </p:set>
                                    <p:animEffect transition="in" filter="blinds(horizontal)">
                                      <p:cBhvr>
                                        <p:cTn id="17" dur="500"/>
                                        <p:tgtEl>
                                          <p:spTgt spid="37683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6858"/>
                                        </p:tgtEl>
                                        <p:attrNameLst>
                                          <p:attrName>style.visibility</p:attrName>
                                        </p:attrNameLst>
                                      </p:cBhvr>
                                      <p:to>
                                        <p:strVal val="visible"/>
                                      </p:to>
                                    </p:set>
                                    <p:animEffect transition="in" filter="blinds(horizontal)">
                                      <p:cBhvr>
                                        <p:cTn id="22" dur="500"/>
                                        <p:tgtEl>
                                          <p:spTgt spid="37685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76842"/>
                                        </p:tgtEl>
                                        <p:attrNameLst>
                                          <p:attrName>style.visibility</p:attrName>
                                        </p:attrNameLst>
                                      </p:cBhvr>
                                      <p:to>
                                        <p:strVal val="visible"/>
                                      </p:to>
                                    </p:set>
                                    <p:animEffect transition="in" filter="blinds(horizontal)">
                                      <p:cBhvr>
                                        <p:cTn id="32" dur="500"/>
                                        <p:tgtEl>
                                          <p:spTgt spid="37684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6835">
                                            <p:txEl>
                                              <p:pRg st="5" end="5"/>
                                            </p:txEl>
                                          </p:spTgt>
                                        </p:tgtEl>
                                        <p:attrNameLst>
                                          <p:attrName>style.visibility</p:attrName>
                                        </p:attrNameLst>
                                      </p:cBhvr>
                                      <p:to>
                                        <p:strVal val="visible"/>
                                      </p:to>
                                    </p:set>
                                    <p:animEffect transition="in" filter="blinds(horizontal)">
                                      <p:cBhvr>
                                        <p:cTn id="37" dur="500"/>
                                        <p:tgtEl>
                                          <p:spTgt spid="37683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6835">
                                            <p:txEl>
                                              <p:pRg st="6" end="6"/>
                                            </p:txEl>
                                          </p:spTgt>
                                        </p:tgtEl>
                                        <p:attrNameLst>
                                          <p:attrName>style.visibility</p:attrName>
                                        </p:attrNameLst>
                                      </p:cBhvr>
                                      <p:to>
                                        <p:strVal val="visible"/>
                                      </p:to>
                                    </p:set>
                                    <p:animEffect transition="in" filter="blinds(horizontal)">
                                      <p:cBhvr>
                                        <p:cTn id="42" dur="500"/>
                                        <p:tgtEl>
                                          <p:spTgt spid="37683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76835">
                                            <p:txEl>
                                              <p:pRg st="7" end="7"/>
                                            </p:txEl>
                                          </p:spTgt>
                                        </p:tgtEl>
                                        <p:attrNameLst>
                                          <p:attrName>style.visibility</p:attrName>
                                        </p:attrNameLst>
                                      </p:cBhvr>
                                      <p:to>
                                        <p:strVal val="visible"/>
                                      </p:to>
                                    </p:set>
                                    <p:animEffect transition="in" filter="blinds(horizontal)">
                                      <p:cBhvr>
                                        <p:cTn id="47" dur="500"/>
                                        <p:tgtEl>
                                          <p:spTgt spid="37683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6653"/>
                                        </p:tgtEl>
                                        <p:attrNameLst>
                                          <p:attrName>style.visibility</p:attrName>
                                        </p:attrNameLst>
                                      </p:cBhvr>
                                      <p:to>
                                        <p:strVal val="visible"/>
                                      </p:to>
                                    </p:set>
                                    <p:animEffect transition="in" filter="blinds(horizontal)">
                                      <p:cBhvr>
                                        <p:cTn id="52" dur="500"/>
                                        <p:tgtEl>
                                          <p:spTgt spid="26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42" grpId="0"/>
      <p:bldP spid="376858" grpId="0"/>
      <p:bldP spid="266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a:xfrm>
            <a:off x="800100" y="114300"/>
            <a:ext cx="4716463" cy="425450"/>
          </a:xfrm>
        </p:spPr>
        <p:txBody>
          <a:bodyPr vert="horz" wrap="square" lIns="63500" tIns="25400" rIns="63500" bIns="25400" anchor="t" anchorCtr="0">
            <a:spAutoFit/>
          </a:bodyPr>
          <a:lstStyle/>
          <a:p>
            <a:r>
              <a:rPr lang="en-US" altLang="zh-CN" dirty="0">
                <a:ea typeface="宋体" panose="02010600030101010101" pitchFamily="2" charset="-122"/>
              </a:rPr>
              <a:t>Example</a:t>
            </a:r>
            <a:r>
              <a:rPr lang="zh-CN" altLang="en-US" dirty="0">
                <a:ea typeface="宋体" panose="02010600030101010101" pitchFamily="2" charset="-122"/>
              </a:rPr>
              <a:t>：</a:t>
            </a:r>
            <a:r>
              <a:rPr lang="en-US" altLang="zh-CN" dirty="0">
                <a:ea typeface="宋体" panose="02010600030101010101" pitchFamily="2" charset="-122"/>
              </a:rPr>
              <a:t>MIPS</a:t>
            </a:r>
            <a:r>
              <a:rPr lang="zh-CN" altLang="en-US" sz="2800" dirty="0">
                <a:ea typeface="宋体" panose="02010600030101010101" pitchFamily="2" charset="-122"/>
              </a:rPr>
              <a:t>中的循环处理 </a:t>
            </a:r>
            <a:endParaRPr lang="zh-CN" altLang="en-US" sz="2800" dirty="0">
              <a:ea typeface="宋体" panose="02010600030101010101" pitchFamily="2" charset="-122"/>
            </a:endParaRPr>
          </a:p>
        </p:txBody>
      </p:sp>
      <p:sp>
        <p:nvSpPr>
          <p:cNvPr id="24579" name="Text Box 3"/>
          <p:cNvSpPr txBox="1"/>
          <p:nvPr/>
        </p:nvSpPr>
        <p:spPr>
          <a:xfrm>
            <a:off x="574675" y="658813"/>
            <a:ext cx="6569075" cy="1917700"/>
          </a:xfrm>
          <a:prstGeom prst="rect">
            <a:avLst/>
          </a:prstGeom>
          <a:noFill/>
          <a:ln w="12700">
            <a:noFill/>
          </a:ln>
        </p:spPr>
        <p:txBody>
          <a:bodyPr wrap="none">
            <a:spAutoFit/>
          </a:bodyPr>
          <a:lstStyle/>
          <a:p>
            <a:r>
              <a:rPr lang="en-US" altLang="zh-CN" sz="2400" dirty="0">
                <a:solidFill>
                  <a:schemeClr val="tx1"/>
                </a:solidFill>
                <a:latin typeface="Times New Roman" panose="02020603050405020304" pitchFamily="18" charset="0"/>
              </a:rPr>
              <a:t>for  (i=0;i&lt;N,i++)	</a:t>
            </a:r>
            <a:endParaRPr lang="en-US" altLang="zh-CN"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        g = g +A[i];</a:t>
            </a:r>
            <a:endParaRPr lang="en-US" altLang="zh-CN"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	</a:t>
            </a:r>
            <a:endParaRPr lang="en-US" altLang="zh-CN"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Assuming variables i, g ~ $7, $8 and base address</a:t>
            </a:r>
            <a:endParaRPr lang="en-US" altLang="zh-CN" sz="2400" dirty="0">
              <a:solidFill>
                <a:schemeClr val="tx1"/>
              </a:solidFill>
              <a:latin typeface="Times New Roman" panose="02020603050405020304" pitchFamily="18" charset="0"/>
            </a:endParaRPr>
          </a:p>
          <a:p>
            <a:r>
              <a:rPr lang="en-US" altLang="zh-CN" sz="2400" dirty="0">
                <a:solidFill>
                  <a:schemeClr val="tx1"/>
                </a:solidFill>
                <a:latin typeface="Times New Roman" panose="02020603050405020304" pitchFamily="18" charset="0"/>
              </a:rPr>
              <a:t>of array is in $9</a:t>
            </a:r>
            <a:endParaRPr lang="en-US" altLang="zh-CN" sz="2400" dirty="0">
              <a:solidFill>
                <a:schemeClr val="tx1"/>
              </a:solidFill>
              <a:latin typeface="Times New Roman" panose="02020603050405020304" pitchFamily="18" charset="0"/>
            </a:endParaRPr>
          </a:p>
        </p:txBody>
      </p:sp>
      <p:sp>
        <p:nvSpPr>
          <p:cNvPr id="233476" name="Text Box 4"/>
          <p:cNvSpPr txBox="1"/>
          <p:nvPr/>
        </p:nvSpPr>
        <p:spPr>
          <a:xfrm>
            <a:off x="452438" y="2684463"/>
            <a:ext cx="5529262" cy="2647950"/>
          </a:xfrm>
          <a:prstGeom prst="rect">
            <a:avLst/>
          </a:prstGeom>
          <a:noFill/>
          <a:ln w="12700">
            <a:noFill/>
          </a:ln>
        </p:spPr>
        <p:txBody>
          <a:bodyPr>
            <a:spAutoFit/>
          </a:bodyPr>
          <a:lstStyle/>
          <a:p>
            <a:r>
              <a:rPr lang="en-US" altLang="zh-CN" sz="2400" dirty="0">
                <a:solidFill>
                  <a:srgbClr val="388A36"/>
                </a:solidFill>
                <a:latin typeface="Times New Roman" panose="02020603050405020304" pitchFamily="18" charset="0"/>
              </a:rPr>
              <a:t>            add $7, $0, $0          	; i=0          </a:t>
            </a:r>
            <a:endParaRPr lang="en-US" altLang="zh-CN" sz="2400" dirty="0">
              <a:solidFill>
                <a:srgbClr val="388A36"/>
              </a:solidFill>
              <a:latin typeface="Times New Roman" panose="02020603050405020304" pitchFamily="18" charset="0"/>
            </a:endParaRPr>
          </a:p>
          <a:p>
            <a:r>
              <a:rPr lang="en-US" altLang="zh-CN" sz="2400" dirty="0">
                <a:solidFill>
                  <a:srgbClr val="388A36"/>
                </a:solidFill>
                <a:latin typeface="Times New Roman" panose="02020603050405020304" pitchFamily="18" charset="0"/>
              </a:rPr>
              <a:t>Loop:	add $10, $7, $9	; $10=&amp;A[i]</a:t>
            </a:r>
            <a:endParaRPr lang="zh-CN" altLang="en-US" sz="2400" dirty="0">
              <a:solidFill>
                <a:srgbClr val="388A36"/>
              </a:solidFill>
              <a:latin typeface="Times New Roman" panose="02020603050405020304" pitchFamily="18" charset="0"/>
            </a:endParaRPr>
          </a:p>
          <a:p>
            <a:r>
              <a:rPr lang="en-US" altLang="zh-CN" sz="2400" dirty="0">
                <a:solidFill>
                  <a:srgbClr val="388A36"/>
                </a:solidFill>
                <a:latin typeface="Times New Roman" panose="02020603050405020304" pitchFamily="18" charset="0"/>
              </a:rPr>
              <a:t>	lw    $6, </a:t>
            </a:r>
            <a:r>
              <a:rPr lang="en-US" altLang="zh-CN" sz="2400" dirty="0">
                <a:solidFill>
                  <a:schemeClr val="accent1"/>
                </a:solidFill>
                <a:latin typeface="Times New Roman" panose="02020603050405020304" pitchFamily="18" charset="0"/>
              </a:rPr>
              <a:t>0($10)</a:t>
            </a:r>
            <a:r>
              <a:rPr lang="en-US" altLang="zh-CN" sz="2400" dirty="0">
                <a:solidFill>
                  <a:srgbClr val="388A36"/>
                </a:solidFill>
                <a:latin typeface="Times New Roman" panose="02020603050405020304" pitchFamily="18" charset="0"/>
              </a:rPr>
              <a:t>	; $6=A[i]</a:t>
            </a:r>
            <a:endParaRPr lang="en-US" altLang="zh-CN" sz="2400" dirty="0">
              <a:solidFill>
                <a:srgbClr val="388A36"/>
              </a:solidFill>
              <a:latin typeface="Times New Roman" panose="02020603050405020304" pitchFamily="18" charset="0"/>
            </a:endParaRPr>
          </a:p>
          <a:p>
            <a:r>
              <a:rPr lang="en-US" altLang="zh-CN" sz="2400" dirty="0">
                <a:solidFill>
                  <a:srgbClr val="388A36"/>
                </a:solidFill>
                <a:latin typeface="Times New Roman" panose="02020603050405020304" pitchFamily="18" charset="0"/>
              </a:rPr>
              <a:t>	add $8, $8, $6	           	; g= g+A[i]</a:t>
            </a:r>
            <a:endParaRPr lang="en-US" altLang="zh-CN" sz="2400" dirty="0">
              <a:solidFill>
                <a:srgbClr val="388A36"/>
              </a:solidFill>
              <a:latin typeface="Times New Roman" panose="02020603050405020304" pitchFamily="18" charset="0"/>
            </a:endParaRPr>
          </a:p>
          <a:p>
            <a:r>
              <a:rPr lang="en-US" altLang="zh-CN" sz="2400" dirty="0">
                <a:solidFill>
                  <a:srgbClr val="388A36"/>
                </a:solidFill>
                <a:latin typeface="Times New Roman" panose="02020603050405020304" pitchFamily="18" charset="0"/>
              </a:rPr>
              <a:t>	addi $7, $7, 4		; i=i+1</a:t>
            </a:r>
            <a:endParaRPr lang="en-US" altLang="zh-CN" sz="2400" dirty="0">
              <a:solidFill>
                <a:srgbClr val="388A36"/>
              </a:solidFill>
              <a:latin typeface="Times New Roman" panose="02020603050405020304" pitchFamily="18" charset="0"/>
            </a:endParaRPr>
          </a:p>
          <a:p>
            <a:r>
              <a:rPr lang="en-US" altLang="zh-CN" sz="2400" dirty="0">
                <a:solidFill>
                  <a:srgbClr val="388A36"/>
                </a:solidFill>
                <a:latin typeface="Times New Roman" panose="02020603050405020304" pitchFamily="18" charset="0"/>
              </a:rPr>
              <a:t>	bne  $7, $2, Loop</a:t>
            </a:r>
            <a:endParaRPr lang="en-US" altLang="zh-CN" sz="2400" dirty="0">
              <a:solidFill>
                <a:srgbClr val="388A36"/>
              </a:solidFill>
              <a:latin typeface="Times New Roman" panose="02020603050405020304" pitchFamily="18" charset="0"/>
            </a:endParaRPr>
          </a:p>
          <a:p>
            <a:endParaRPr lang="zh-CN" altLang="en-US" sz="2400" dirty="0">
              <a:solidFill>
                <a:srgbClr val="388A36"/>
              </a:solidFill>
              <a:latin typeface="Times New Roman" panose="02020603050405020304" pitchFamily="18" charset="0"/>
            </a:endParaRPr>
          </a:p>
        </p:txBody>
      </p:sp>
      <p:grpSp>
        <p:nvGrpSpPr>
          <p:cNvPr id="2" name="Group 13"/>
          <p:cNvGrpSpPr/>
          <p:nvPr/>
        </p:nvGrpSpPr>
        <p:grpSpPr>
          <a:xfrm>
            <a:off x="746125" y="4638675"/>
            <a:ext cx="5907088" cy="1520825"/>
            <a:chOff x="609" y="3208"/>
            <a:chExt cx="3721" cy="654"/>
          </a:xfrm>
        </p:grpSpPr>
        <p:grpSp>
          <p:nvGrpSpPr>
            <p:cNvPr id="24590" name="Group 11"/>
            <p:cNvGrpSpPr/>
            <p:nvPr/>
          </p:nvGrpSpPr>
          <p:grpSpPr>
            <a:xfrm>
              <a:off x="609" y="3282"/>
              <a:ext cx="3721" cy="580"/>
              <a:chOff x="1106" y="3273"/>
              <a:chExt cx="2697" cy="580"/>
            </a:xfrm>
          </p:grpSpPr>
          <p:sp>
            <p:nvSpPr>
              <p:cNvPr id="24592" name="Text Box 7"/>
              <p:cNvSpPr txBox="1"/>
              <p:nvPr/>
            </p:nvSpPr>
            <p:spPr>
              <a:xfrm>
                <a:off x="1106" y="3564"/>
                <a:ext cx="2697" cy="289"/>
              </a:xfrm>
              <a:prstGeom prst="rect">
                <a:avLst/>
              </a:prstGeom>
              <a:noFill/>
              <a:ln w="12700" cap="flat" cmpd="sng">
                <a:solidFill>
                  <a:schemeClr val="tx1"/>
                </a:solidFill>
                <a:prstDash val="solid"/>
                <a:miter/>
                <a:headEnd type="none" w="med" len="med"/>
                <a:tailEnd type="none" w="med" len="med"/>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编译器和汇编语言程序员不必计算分支指令的地址，而只要用标号即可！汇编器完成地址计算</a:t>
                </a:r>
                <a:endParaRPr lang="zh-CN" altLang="en-US" sz="2000" dirty="0">
                  <a:latin typeface="Arial" panose="020B0604020202020204" pitchFamily="34" charset="0"/>
                  <a:ea typeface="黑体" panose="02010609060101010101" pitchFamily="49" charset="-122"/>
                </a:endParaRPr>
              </a:p>
            </p:txBody>
          </p:sp>
          <p:sp>
            <p:nvSpPr>
              <p:cNvPr id="24593" name="Line 9"/>
              <p:cNvSpPr/>
              <p:nvPr/>
            </p:nvSpPr>
            <p:spPr>
              <a:xfrm flipH="1" flipV="1">
                <a:off x="2871" y="3282"/>
                <a:ext cx="165" cy="255"/>
              </a:xfrm>
              <a:prstGeom prst="line">
                <a:avLst/>
              </a:prstGeom>
              <a:ln w="38100" cap="flat" cmpd="sng">
                <a:solidFill>
                  <a:srgbClr val="A50021"/>
                </a:solidFill>
                <a:prstDash val="solid"/>
                <a:headEnd type="none" w="med" len="med"/>
                <a:tailEnd type="none" w="med" len="med"/>
              </a:ln>
            </p:spPr>
          </p:sp>
          <p:sp>
            <p:nvSpPr>
              <p:cNvPr id="24594" name="Line 10"/>
              <p:cNvSpPr/>
              <p:nvPr/>
            </p:nvSpPr>
            <p:spPr>
              <a:xfrm flipH="1">
                <a:off x="2496" y="3273"/>
                <a:ext cx="385" cy="9"/>
              </a:xfrm>
              <a:prstGeom prst="line">
                <a:avLst/>
              </a:prstGeom>
              <a:ln w="38100" cap="flat" cmpd="sng">
                <a:solidFill>
                  <a:srgbClr val="A50021"/>
                </a:solidFill>
                <a:prstDash val="solid"/>
                <a:headEnd type="none" w="med" len="med"/>
                <a:tailEnd type="arrow" w="med" len="med"/>
              </a:ln>
            </p:spPr>
          </p:sp>
        </p:grpSp>
        <p:sp>
          <p:nvSpPr>
            <p:cNvPr id="24591" name="Oval 12"/>
            <p:cNvSpPr/>
            <p:nvPr/>
          </p:nvSpPr>
          <p:spPr>
            <a:xfrm>
              <a:off x="1975" y="3208"/>
              <a:ext cx="558" cy="109"/>
            </a:xfrm>
            <a:prstGeom prst="ellipse">
              <a:avLst/>
            </a:prstGeom>
            <a:noFill/>
            <a:ln w="28575" cap="flat" cmpd="sng">
              <a:solidFill>
                <a:srgbClr val="A50021"/>
              </a:solidFill>
              <a:prstDash val="solid"/>
              <a:headEnd type="none" w="med" len="med"/>
              <a:tailEnd type="none" w="med" len="med"/>
            </a:ln>
          </p:spPr>
          <p:txBody>
            <a:bodyPr lIns="63500" tIns="25400" rIns="63500" bIns="25400" anchor="ctr" anchorCtr="0">
              <a:spAutoFit/>
            </a:bodyPr>
            <a:lstStyle/>
            <a:p>
              <a:endParaRPr lang="zh-CN" altLang="en-US" dirty="0">
                <a:latin typeface="Arial" panose="020B0604020202020204" pitchFamily="34" charset="0"/>
              </a:endParaRPr>
            </a:p>
          </p:txBody>
        </p:sp>
      </p:grpSp>
      <p:sp>
        <p:nvSpPr>
          <p:cNvPr id="24582" name="Text Box 14"/>
          <p:cNvSpPr txBox="1"/>
          <p:nvPr/>
        </p:nvSpPr>
        <p:spPr>
          <a:xfrm>
            <a:off x="5619750" y="649288"/>
            <a:ext cx="3036888" cy="781050"/>
          </a:xfrm>
          <a:prstGeom prst="rect">
            <a:avLst/>
          </a:prstGeom>
          <a:noFill/>
          <a:ln w="12700">
            <a:noFill/>
          </a:ln>
        </p:spPr>
        <p:txBody>
          <a:bodyPr lIns="63500" tIns="25400" rIns="63500" bIns="25400">
            <a:spAutoFit/>
          </a:bodyPr>
          <a:lstStyle/>
          <a:p>
            <a:pPr>
              <a:spcBef>
                <a:spcPct val="50000"/>
              </a:spcBef>
            </a:pPr>
            <a:r>
              <a:rPr lang="zh-CN" altLang="en-US" sz="2400" b="0" dirty="0">
                <a:latin typeface="Arial" panose="020B0604020202020204" pitchFamily="34" charset="0"/>
                <a:ea typeface="黑体" panose="02010609060101010101" pitchFamily="49" charset="-122"/>
              </a:rPr>
              <a:t>数组元素为</a:t>
            </a:r>
            <a:r>
              <a:rPr lang="en-US" altLang="zh-CN" sz="2400" b="0" dirty="0">
                <a:latin typeface="Arial" panose="020B0604020202020204" pitchFamily="34" charset="0"/>
                <a:ea typeface="黑体" panose="02010609060101010101" pitchFamily="49" charset="-122"/>
              </a:rPr>
              <a:t>int</a:t>
            </a:r>
            <a:r>
              <a:rPr lang="zh-CN" altLang="en-US" sz="2400" b="0" dirty="0">
                <a:latin typeface="Arial" panose="020B0604020202020204" pitchFamily="34" charset="0"/>
                <a:ea typeface="黑体" panose="02010609060101010101" pitchFamily="49" charset="-122"/>
              </a:rPr>
              <a:t>类型，即 </a:t>
            </a:r>
            <a:r>
              <a:rPr lang="en-US" altLang="zh-CN" sz="2400" b="0" dirty="0">
                <a:latin typeface="Arial" panose="020B0604020202020204" pitchFamily="34" charset="0"/>
                <a:ea typeface="黑体" panose="02010609060101010101" pitchFamily="49" charset="-122"/>
              </a:rPr>
              <a:t>sizeof(int)=4</a:t>
            </a:r>
            <a:r>
              <a:rPr lang="zh-CN" altLang="en-US" sz="2400" b="0" dirty="0">
                <a:latin typeface="Arial" panose="020B0604020202020204" pitchFamily="34" charset="0"/>
                <a:ea typeface="黑体" panose="02010609060101010101" pitchFamily="49" charset="-122"/>
              </a:rPr>
              <a:t>。</a:t>
            </a:r>
            <a:endParaRPr lang="zh-CN" altLang="en-US" sz="2400" b="0" dirty="0">
              <a:latin typeface="Arial" panose="020B0604020202020204" pitchFamily="34" charset="0"/>
              <a:ea typeface="黑体" panose="02010609060101010101" pitchFamily="49" charset="-122"/>
            </a:endParaRPr>
          </a:p>
        </p:txBody>
      </p:sp>
      <p:sp>
        <p:nvSpPr>
          <p:cNvPr id="376859" name="Text Box 27"/>
          <p:cNvSpPr txBox="1"/>
          <p:nvPr/>
        </p:nvSpPr>
        <p:spPr>
          <a:xfrm>
            <a:off x="7343775" y="6240463"/>
            <a:ext cx="1611313" cy="355600"/>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hlinkClick r:id="rId1" action="ppaction://hlinksldjump"/>
              </a:rPr>
              <a:t>BACK</a:t>
            </a:r>
            <a:endParaRPr lang="zh-CN" altLang="en-US" sz="2000" dirty="0">
              <a:latin typeface="Arial" panose="020B0604020202020204" pitchFamily="34" charset="0"/>
            </a:endParaRPr>
          </a:p>
        </p:txBody>
      </p:sp>
      <p:grpSp>
        <p:nvGrpSpPr>
          <p:cNvPr id="131090" name="Group 18"/>
          <p:cNvGrpSpPr/>
          <p:nvPr/>
        </p:nvGrpSpPr>
        <p:grpSpPr>
          <a:xfrm>
            <a:off x="3243263" y="4421188"/>
            <a:ext cx="5237162" cy="660400"/>
            <a:chOff x="2304" y="3028"/>
            <a:chExt cx="3299" cy="381"/>
          </a:xfrm>
        </p:grpSpPr>
        <p:sp>
          <p:nvSpPr>
            <p:cNvPr id="24588" name="Text Box 15"/>
            <p:cNvSpPr txBox="1"/>
            <p:nvPr/>
          </p:nvSpPr>
          <p:spPr>
            <a:xfrm>
              <a:off x="3643" y="3028"/>
              <a:ext cx="1960" cy="381"/>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ea typeface="黑体" panose="02010609060101010101" pitchFamily="49" charset="-122"/>
                </a:rPr>
                <a:t>MIPS</a:t>
              </a:r>
              <a:r>
                <a:rPr lang="zh-CN" altLang="en-US" sz="2000" dirty="0">
                  <a:latin typeface="Arial" panose="020B0604020202020204" pitchFamily="34" charset="0"/>
                  <a:ea typeface="黑体" panose="02010609060101010101" pitchFamily="49" charset="-122"/>
                </a:rPr>
                <a:t>不支持自动变址，需用专门指令进行下标增量</a:t>
              </a:r>
              <a:endParaRPr lang="zh-CN" altLang="en-US" sz="2000" dirty="0">
                <a:latin typeface="Arial" panose="020B0604020202020204" pitchFamily="34" charset="0"/>
                <a:ea typeface="黑体" panose="02010609060101010101" pitchFamily="49" charset="-122"/>
              </a:endParaRPr>
            </a:p>
          </p:txBody>
        </p:sp>
        <p:sp>
          <p:nvSpPr>
            <p:cNvPr id="24589" name="Line 17"/>
            <p:cNvSpPr/>
            <p:nvPr/>
          </p:nvSpPr>
          <p:spPr>
            <a:xfrm flipH="1" flipV="1">
              <a:off x="2304" y="3066"/>
              <a:ext cx="1356" cy="74"/>
            </a:xfrm>
            <a:prstGeom prst="line">
              <a:avLst/>
            </a:prstGeom>
            <a:ln w="28575" cap="flat" cmpd="sng">
              <a:solidFill>
                <a:schemeClr val="tx1"/>
              </a:solidFill>
              <a:prstDash val="solid"/>
              <a:headEnd type="none" w="med" len="med"/>
              <a:tailEnd type="triangle" w="med" len="med"/>
            </a:ln>
          </p:spPr>
        </p:sp>
      </p:grpSp>
      <p:grpSp>
        <p:nvGrpSpPr>
          <p:cNvPr id="131091" name="Group 19"/>
          <p:cNvGrpSpPr/>
          <p:nvPr/>
        </p:nvGrpSpPr>
        <p:grpSpPr>
          <a:xfrm>
            <a:off x="3421063" y="3635375"/>
            <a:ext cx="5722937" cy="660400"/>
            <a:chOff x="2304" y="3028"/>
            <a:chExt cx="3299" cy="381"/>
          </a:xfrm>
        </p:grpSpPr>
        <p:sp>
          <p:nvSpPr>
            <p:cNvPr id="24586" name="Text Box 15"/>
            <p:cNvSpPr txBox="1"/>
            <p:nvPr/>
          </p:nvSpPr>
          <p:spPr>
            <a:xfrm>
              <a:off x="3643" y="3028"/>
              <a:ext cx="1960" cy="381"/>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ea typeface="黑体" panose="02010609060101010101" pitchFamily="49" charset="-122"/>
                </a:rPr>
                <a:t> MIPS</a:t>
              </a:r>
              <a:r>
                <a:rPr lang="zh-CN" altLang="en-US" sz="2000" dirty="0">
                  <a:latin typeface="Arial" panose="020B0604020202020204" pitchFamily="34" charset="0"/>
                  <a:ea typeface="黑体" panose="02010609060101010101" pitchFamily="49" charset="-122"/>
                </a:rPr>
                <a:t>不区分变址还是基址     统一为偏移寻址方式</a:t>
              </a:r>
              <a:endParaRPr lang="zh-CN" altLang="en-US" sz="2000" dirty="0">
                <a:latin typeface="Arial" panose="020B0604020202020204" pitchFamily="34" charset="0"/>
                <a:ea typeface="黑体" panose="02010609060101010101" pitchFamily="49" charset="-122"/>
              </a:endParaRPr>
            </a:p>
          </p:txBody>
        </p:sp>
        <p:sp>
          <p:nvSpPr>
            <p:cNvPr id="24587" name="Line 21"/>
            <p:cNvSpPr/>
            <p:nvPr/>
          </p:nvSpPr>
          <p:spPr>
            <a:xfrm flipH="1" flipV="1">
              <a:off x="2304" y="3066"/>
              <a:ext cx="1356" cy="74"/>
            </a:xfrm>
            <a:prstGeom prst="line">
              <a:avLst/>
            </a:prstGeom>
            <a:ln w="28575" cap="flat" cmpd="sng">
              <a:solidFill>
                <a:schemeClr val="tx1"/>
              </a:solidFill>
              <a:prstDash val="solid"/>
              <a:headEnd type="none" w="med" len="med"/>
              <a:tailEnd type="triangl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3476"/>
                                        </p:tgtEl>
                                        <p:attrNameLst>
                                          <p:attrName>style.visibility</p:attrName>
                                        </p:attrNameLst>
                                      </p:cBhvr>
                                      <p:to>
                                        <p:strVal val="visible"/>
                                      </p:to>
                                    </p:set>
                                    <p:animEffect transition="in" filter="blinds(horizontal)">
                                      <p:cBhvr>
                                        <p:cTn id="7" dur="500"/>
                                        <p:tgtEl>
                                          <p:spTgt spid="2334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1091"/>
                                        </p:tgtEl>
                                        <p:attrNameLst>
                                          <p:attrName>style.visibility</p:attrName>
                                        </p:attrNameLst>
                                      </p:cBhvr>
                                      <p:to>
                                        <p:strVal val="visible"/>
                                      </p:to>
                                    </p:set>
                                    <p:animEffect transition="in" filter="blinds(horizontal)">
                                      <p:cBhvr>
                                        <p:cTn id="12" dur="500"/>
                                        <p:tgtEl>
                                          <p:spTgt spid="13109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1090"/>
                                        </p:tgtEl>
                                        <p:attrNameLst>
                                          <p:attrName>style.visibility</p:attrName>
                                        </p:attrNameLst>
                                      </p:cBhvr>
                                      <p:to>
                                        <p:strVal val="visible"/>
                                      </p:to>
                                    </p:set>
                                    <p:animEffect transition="in" filter="blinds(horizontal)">
                                      <p:cBhvr>
                                        <p:cTn id="17" dur="500"/>
                                        <p:tgtEl>
                                          <p:spTgt spid="1310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6859"/>
                                        </p:tgtEl>
                                        <p:attrNameLst>
                                          <p:attrName>style.visibility</p:attrName>
                                        </p:attrNameLst>
                                      </p:cBhvr>
                                      <p:to>
                                        <p:strVal val="visible"/>
                                      </p:to>
                                    </p:set>
                                    <p:animEffect transition="in" filter="blinds(horizontal)">
                                      <p:cBhvr>
                                        <p:cTn id="27" dur="500"/>
                                        <p:tgtEl>
                                          <p:spTgt spid="376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6" grpId="0"/>
      <p:bldP spid="37685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711200" y="114300"/>
            <a:ext cx="4492625" cy="425450"/>
          </a:xfrm>
        </p:spPr>
        <p:txBody>
          <a:bodyPr vert="horz" wrap="square" lIns="63500" tIns="25400" rIns="63500" bIns="25400" anchor="t" anchorCtr="0">
            <a:spAutoFit/>
          </a:bodyPr>
          <a:lstStyle/>
          <a:p>
            <a:r>
              <a:rPr lang="en-US" altLang="zh-CN" dirty="0">
                <a:ea typeface="宋体" panose="02010600030101010101" pitchFamily="2" charset="-122"/>
              </a:rPr>
              <a:t>Instruction Format(</a:t>
            </a:r>
            <a:r>
              <a:rPr lang="zh-CN" altLang="en-US" sz="2800" dirty="0">
                <a:ea typeface="宋体" panose="02010600030101010101" pitchFamily="2" charset="-122"/>
              </a:rPr>
              <a:t>指令格式</a:t>
            </a:r>
            <a:r>
              <a:rPr lang="en-US" altLang="zh-CN" dirty="0">
                <a:ea typeface="宋体" panose="02010600030101010101" pitchFamily="2" charset="-122"/>
              </a:rPr>
              <a:t>)</a:t>
            </a:r>
            <a:endParaRPr lang="en-US" altLang="zh-CN" dirty="0">
              <a:ea typeface="宋体" panose="02010600030101010101" pitchFamily="2" charset="-122"/>
            </a:endParaRPr>
          </a:p>
        </p:txBody>
      </p:sp>
      <p:sp>
        <p:nvSpPr>
          <p:cNvPr id="385027" name="Rectangle 3"/>
          <p:cNvSpPr/>
          <p:nvPr/>
        </p:nvSpPr>
        <p:spPr>
          <a:xfrm>
            <a:off x="450850" y="693738"/>
            <a:ext cx="7854950" cy="3168650"/>
          </a:xfrm>
          <a:prstGeom prst="rect">
            <a:avLst/>
          </a:prstGeom>
          <a:noFill/>
          <a:ln w="12700">
            <a:noFill/>
          </a:ln>
        </p:spPr>
        <p:txBody>
          <a:bodyPr lIns="90488" tIns="44450" rIns="90488" bIns="44450">
            <a:spAutoFit/>
          </a:bodyPr>
          <a:lstStyle/>
          <a:p>
            <a:pPr>
              <a:spcBef>
                <a:spcPct val="35000"/>
              </a:spcBef>
              <a:buSzPct val="60000"/>
              <a:buFont typeface="Wingdings" panose="05000000000000000000" pitchFamily="2" charset="2"/>
              <a:buChar char="u"/>
            </a:pPr>
            <a:r>
              <a:rPr lang="zh-CN" altLang="en-US" sz="2400" dirty="0">
                <a:solidFill>
                  <a:schemeClr val="tx1"/>
                </a:solidFill>
                <a:latin typeface="Arial" panose="020B0604020202020204" pitchFamily="34" charset="0"/>
              </a:rPr>
              <a:t> </a:t>
            </a:r>
            <a:r>
              <a:rPr lang="zh-CN" altLang="en-US" sz="2200" dirty="0">
                <a:solidFill>
                  <a:schemeClr val="tx1"/>
                </a:solidFill>
                <a:latin typeface="Arial" panose="020B0604020202020204" pitchFamily="34" charset="0"/>
                <a:ea typeface="黑体" panose="02010609060101010101" pitchFamily="49" charset="-122"/>
              </a:rPr>
              <a:t>操作码的编码有两种方式</a:t>
            </a:r>
            <a:endParaRPr lang="en-US" altLang="zh-CN" sz="2200" dirty="0">
              <a:solidFill>
                <a:schemeClr val="tx1"/>
              </a:solidFill>
              <a:latin typeface="Arial" panose="020B0604020202020204" pitchFamily="34" charset="0"/>
              <a:ea typeface="黑体" panose="02010609060101010101" pitchFamily="49" charset="-122"/>
            </a:endParaRPr>
          </a:p>
          <a:p>
            <a:pPr>
              <a:spcBef>
                <a:spcPct val="35000"/>
              </a:spcBef>
            </a:pPr>
            <a:r>
              <a:rPr lang="en-US" altLang="zh-CN" sz="2200" dirty="0">
                <a:latin typeface="Arial" panose="020B0604020202020204" pitchFamily="34" charset="0"/>
                <a:ea typeface="黑体" panose="02010609060101010101" pitchFamily="49" charset="-122"/>
              </a:rPr>
              <a:t>   </a:t>
            </a:r>
            <a:r>
              <a:rPr lang="en-US" altLang="zh-CN" sz="2200" b="0" dirty="0">
                <a:latin typeface="Arial" panose="020B0604020202020204" pitchFamily="34" charset="0"/>
                <a:ea typeface="黑体" panose="02010609060101010101" pitchFamily="49" charset="-122"/>
              </a:rPr>
              <a:t>- </a:t>
            </a:r>
            <a:r>
              <a:rPr lang="en-US" altLang="zh-CN" sz="2200" dirty="0">
                <a:latin typeface="Arial" panose="020B0604020202020204" pitchFamily="34" charset="0"/>
                <a:ea typeface="黑体" panose="02010609060101010101" pitchFamily="49" charset="-122"/>
              </a:rPr>
              <a:t>Fixed Length Opcodes </a:t>
            </a:r>
            <a:r>
              <a:rPr lang="en-US" altLang="zh-CN" sz="2200" dirty="0">
                <a:solidFill>
                  <a:schemeClr val="accent1"/>
                </a:solidFill>
                <a:latin typeface="Arial" panose="020B0604020202020204" pitchFamily="34" charset="0"/>
                <a:ea typeface="黑体" panose="02010609060101010101" pitchFamily="49" charset="-122"/>
              </a:rPr>
              <a:t>(</a:t>
            </a:r>
            <a:r>
              <a:rPr lang="zh-CN" altLang="en-US" sz="2200" dirty="0">
                <a:solidFill>
                  <a:schemeClr val="accent1"/>
                </a:solidFill>
                <a:latin typeface="Arial" panose="020B0604020202020204" pitchFamily="34" charset="0"/>
                <a:ea typeface="黑体" panose="02010609060101010101" pitchFamily="49" charset="-122"/>
              </a:rPr>
              <a:t>定长操作码法</a:t>
            </a:r>
            <a:r>
              <a:rPr lang="en-US" altLang="zh-CN" sz="2200" dirty="0">
                <a:solidFill>
                  <a:schemeClr val="accent1"/>
                </a:solidFill>
                <a:latin typeface="Arial" panose="020B0604020202020204" pitchFamily="34" charset="0"/>
                <a:ea typeface="黑体" panose="02010609060101010101" pitchFamily="49" charset="-122"/>
              </a:rPr>
              <a:t>)</a:t>
            </a:r>
            <a:endParaRPr lang="en-US" altLang="zh-CN" sz="2200" dirty="0">
              <a:solidFill>
                <a:schemeClr val="accent1"/>
              </a:solidFill>
              <a:latin typeface="Arial" panose="020B0604020202020204" pitchFamily="34" charset="0"/>
              <a:ea typeface="黑体" panose="02010609060101010101" pitchFamily="49" charset="-122"/>
            </a:endParaRPr>
          </a:p>
          <a:p>
            <a:pPr>
              <a:spcBef>
                <a:spcPct val="35000"/>
              </a:spcBef>
            </a:pPr>
            <a:r>
              <a:rPr lang="en-US" altLang="zh-CN" sz="2200" dirty="0">
                <a:latin typeface="Arial" panose="020B0604020202020204" pitchFamily="34" charset="0"/>
                <a:ea typeface="黑体" panose="02010609060101010101" pitchFamily="49" charset="-122"/>
              </a:rPr>
              <a:t>   - Expanding Opcodes </a:t>
            </a:r>
            <a:r>
              <a:rPr lang="en-US" altLang="zh-CN" sz="2200" dirty="0">
                <a:solidFill>
                  <a:schemeClr val="accent1"/>
                </a:solidFill>
                <a:latin typeface="Arial" panose="020B0604020202020204" pitchFamily="34" charset="0"/>
                <a:ea typeface="黑体" panose="02010609060101010101" pitchFamily="49" charset="-122"/>
              </a:rPr>
              <a:t>(</a:t>
            </a:r>
            <a:r>
              <a:rPr lang="zh-CN" altLang="en-US" sz="2200" dirty="0">
                <a:solidFill>
                  <a:schemeClr val="accent1"/>
                </a:solidFill>
                <a:latin typeface="Arial" panose="020B0604020202020204" pitchFamily="34" charset="0"/>
                <a:ea typeface="黑体" panose="02010609060101010101" pitchFamily="49" charset="-122"/>
              </a:rPr>
              <a:t>扩展操作码编法</a:t>
            </a:r>
            <a:r>
              <a:rPr lang="en-US" altLang="zh-CN" sz="2200" dirty="0">
                <a:solidFill>
                  <a:schemeClr val="accent1"/>
                </a:solidFill>
                <a:latin typeface="Arial" panose="020B0604020202020204" pitchFamily="34" charset="0"/>
                <a:ea typeface="黑体" panose="02010609060101010101" pitchFamily="49" charset="-122"/>
              </a:rPr>
              <a:t>)</a:t>
            </a:r>
            <a:endParaRPr lang="en-US" altLang="zh-CN" sz="2200" dirty="0">
              <a:latin typeface="Arial" panose="020B0604020202020204" pitchFamily="34" charset="0"/>
              <a:ea typeface="黑体" panose="02010609060101010101" pitchFamily="49" charset="-122"/>
            </a:endParaRPr>
          </a:p>
          <a:p>
            <a:pPr>
              <a:spcBef>
                <a:spcPct val="35000"/>
              </a:spcBef>
              <a:buSzPct val="60000"/>
              <a:buFont typeface="Wingdings" panose="05000000000000000000" pitchFamily="2" charset="2"/>
              <a:buChar char="u"/>
            </a:pPr>
            <a:r>
              <a:rPr lang="en-US" altLang="zh-CN" sz="2200" dirty="0">
                <a:solidFill>
                  <a:schemeClr val="tx1"/>
                </a:solidFill>
                <a:latin typeface="Arial" panose="020B0604020202020204" pitchFamily="34" charset="0"/>
                <a:ea typeface="黑体" panose="02010609060101010101" pitchFamily="49" charset="-122"/>
              </a:rPr>
              <a:t> instructions size</a:t>
            </a:r>
            <a:endParaRPr lang="en-US" altLang="zh-CN" sz="2200" dirty="0">
              <a:solidFill>
                <a:schemeClr val="tx1"/>
              </a:solidFill>
              <a:latin typeface="Arial" panose="020B0604020202020204" pitchFamily="34" charset="0"/>
              <a:ea typeface="黑体" panose="02010609060101010101" pitchFamily="49" charset="-122"/>
            </a:endParaRPr>
          </a:p>
          <a:p>
            <a:pPr lvl="1">
              <a:spcBef>
                <a:spcPct val="35000"/>
              </a:spcBef>
              <a:buChar char="•"/>
            </a:pPr>
            <a:r>
              <a:rPr lang="en-US" altLang="zh-CN" sz="2200" dirty="0">
                <a:solidFill>
                  <a:srgbClr val="0033CC"/>
                </a:solidFill>
                <a:latin typeface="Arial" panose="020B0604020202020204" pitchFamily="34" charset="0"/>
                <a:ea typeface="黑体" panose="02010609060101010101" pitchFamily="49" charset="-122"/>
              </a:rPr>
              <a:t> </a:t>
            </a:r>
            <a:r>
              <a:rPr lang="zh-CN" altLang="en-US" sz="2200" dirty="0">
                <a:latin typeface="Arial" panose="020B0604020202020204" pitchFamily="34" charset="0"/>
                <a:ea typeface="黑体" panose="02010609060101010101" pitchFamily="49" charset="-122"/>
              </a:rPr>
              <a:t>代码长度更重要时：采用变长指令字、变长操作码</a:t>
            </a:r>
            <a:endParaRPr lang="zh-CN" altLang="en-US" sz="2200" dirty="0">
              <a:latin typeface="Arial" panose="020B0604020202020204" pitchFamily="34" charset="0"/>
              <a:ea typeface="黑体" panose="02010609060101010101" pitchFamily="49" charset="-122"/>
            </a:endParaRPr>
          </a:p>
          <a:p>
            <a:pPr lvl="1">
              <a:spcBef>
                <a:spcPct val="35000"/>
              </a:spcBef>
              <a:buChar char="•"/>
            </a:pPr>
            <a:r>
              <a:rPr lang="zh-CN" altLang="en-US" sz="2200" dirty="0">
                <a:latin typeface="Arial" panose="020B0604020202020204" pitchFamily="34" charset="0"/>
                <a:ea typeface="黑体" panose="02010609060101010101" pitchFamily="49" charset="-122"/>
              </a:rPr>
              <a:t> 性能更重要时：采用定长指令字、定长操作码</a:t>
            </a:r>
            <a:endParaRPr lang="zh-CN" altLang="en-US" sz="2200" dirty="0">
              <a:latin typeface="Arial" panose="020B0604020202020204" pitchFamily="34" charset="0"/>
              <a:ea typeface="黑体" panose="02010609060101010101" pitchFamily="49" charset="-122"/>
            </a:endParaRPr>
          </a:p>
          <a:p>
            <a:pPr lvl="1">
              <a:spcBef>
                <a:spcPct val="35000"/>
              </a:spcBef>
            </a:pPr>
            <a:r>
              <a:rPr lang="zh-CN" altLang="en-US" sz="2200" dirty="0">
                <a:solidFill>
                  <a:srgbClr val="A50021"/>
                </a:solidFill>
                <a:latin typeface="Arial" panose="020B0604020202020204" pitchFamily="34" charset="0"/>
                <a:ea typeface="黑体" panose="02010609060101010101" pitchFamily="49" charset="-122"/>
              </a:rPr>
              <a:t>   为什么？</a:t>
            </a:r>
            <a:endParaRPr lang="en-US" altLang="zh-CN" sz="2200" dirty="0">
              <a:latin typeface="Arial" panose="020B0604020202020204" pitchFamily="34" charset="0"/>
              <a:ea typeface="黑体" panose="02010609060101010101" pitchFamily="49" charset="-122"/>
            </a:endParaRPr>
          </a:p>
        </p:txBody>
      </p:sp>
      <p:sp>
        <p:nvSpPr>
          <p:cNvPr id="385030" name="Text Box 6"/>
          <p:cNvSpPr txBox="1"/>
          <p:nvPr/>
        </p:nvSpPr>
        <p:spPr>
          <a:xfrm>
            <a:off x="301625" y="4700588"/>
            <a:ext cx="8589963" cy="355600"/>
          </a:xfrm>
          <a:prstGeom prst="rect">
            <a:avLst/>
          </a:prstGeom>
          <a:noFill/>
          <a:ln w="12700">
            <a:noFill/>
          </a:ln>
        </p:spPr>
        <p:txBody>
          <a:bodyPr lIns="63500" tIns="25400" rIns="63500" bIns="25400">
            <a:spAutoFit/>
          </a:bodyPr>
          <a:lstStyle/>
          <a:p>
            <a:pPr>
              <a:spcBef>
                <a:spcPct val="50000"/>
              </a:spcBef>
            </a:pPr>
            <a:r>
              <a:rPr lang="zh-CN" altLang="en-US" sz="2000" dirty="0">
                <a:solidFill>
                  <a:srgbClr val="EE3900"/>
                </a:solidFill>
                <a:latin typeface="Arial" panose="020B0604020202020204" pitchFamily="34" charset="0"/>
                <a:ea typeface="黑体" panose="02010609060101010101" pitchFamily="49" charset="-122"/>
              </a:rPr>
              <a:t>问题：是否可以有定长指令字、变长操作码？定长操作码、变长指令字呢？</a:t>
            </a:r>
            <a:endParaRPr lang="zh-CN" altLang="en-US" sz="2000" dirty="0">
              <a:solidFill>
                <a:srgbClr val="EE3900"/>
              </a:solidFill>
              <a:latin typeface="Arial" panose="020B0604020202020204" pitchFamily="34" charset="0"/>
              <a:ea typeface="黑体" panose="02010609060101010101" pitchFamily="49" charset="-122"/>
            </a:endParaRPr>
          </a:p>
        </p:txBody>
      </p:sp>
      <p:sp>
        <p:nvSpPr>
          <p:cNvPr id="385031" name="Text Box 7"/>
          <p:cNvSpPr txBox="1"/>
          <p:nvPr/>
        </p:nvSpPr>
        <p:spPr>
          <a:xfrm>
            <a:off x="482600" y="5081588"/>
            <a:ext cx="8116888" cy="1308100"/>
          </a:xfrm>
          <a:prstGeom prst="rect">
            <a:avLst/>
          </a:prstGeom>
          <a:noFill/>
          <a:ln w="12700">
            <a:noFill/>
          </a:ln>
        </p:spPr>
        <p:txBody>
          <a:bodyPr lIns="63500" tIns="25400" rIns="63500" bIns="25400">
            <a:spAutoFit/>
          </a:bodyPr>
          <a:lstStyle/>
          <a:p>
            <a:pPr>
              <a:lnSpc>
                <a:spcPct val="125000"/>
              </a:lnSpc>
              <a:spcBef>
                <a:spcPct val="50000"/>
              </a:spcBef>
            </a:pPr>
            <a:r>
              <a:rPr lang="zh-CN" altLang="en-US" sz="2200" dirty="0">
                <a:solidFill>
                  <a:srgbClr val="4B9556"/>
                </a:solidFill>
                <a:latin typeface="Arial" panose="020B0604020202020204" pitchFamily="34" charset="0"/>
                <a:ea typeface="黑体" panose="02010609060101010101" pitchFamily="49" charset="-122"/>
              </a:rPr>
              <a:t>指令长度是否可变与操作码长度是否可变没有绝对关系，但通常是 ：“定长操作码不一定是定长指令字”、 “变长操作码一般是变长指令字”。</a:t>
            </a:r>
            <a:endParaRPr lang="zh-CN" altLang="en-US" sz="2200" dirty="0">
              <a:solidFill>
                <a:srgbClr val="4B9556"/>
              </a:solidFill>
              <a:latin typeface="Arial" panose="020B0604020202020204" pitchFamily="34" charset="0"/>
              <a:ea typeface="黑体" panose="02010609060101010101" pitchFamily="49" charset="-122"/>
            </a:endParaRPr>
          </a:p>
        </p:txBody>
      </p:sp>
      <p:sp>
        <p:nvSpPr>
          <p:cNvPr id="385032" name="Text Box 8"/>
          <p:cNvSpPr txBox="1"/>
          <p:nvPr/>
        </p:nvSpPr>
        <p:spPr>
          <a:xfrm>
            <a:off x="412750" y="3778250"/>
            <a:ext cx="8150225" cy="850900"/>
          </a:xfrm>
          <a:prstGeom prst="rect">
            <a:avLst/>
          </a:prstGeom>
          <a:noFill/>
          <a:ln w="12700">
            <a:noFill/>
          </a:ln>
        </p:spPr>
        <p:txBody>
          <a:bodyPr lIns="63500" tIns="25400" rIns="63500" bIns="25400">
            <a:spAutoFit/>
          </a:bodyPr>
          <a:lstStyle/>
          <a:p>
            <a:pPr>
              <a:lnSpc>
                <a:spcPct val="130000"/>
              </a:lnSpc>
              <a:spcBef>
                <a:spcPct val="20000"/>
              </a:spcBef>
            </a:pPr>
            <a:r>
              <a:rPr lang="zh-CN" altLang="en-US" sz="2000" dirty="0">
                <a:solidFill>
                  <a:srgbClr val="388A36"/>
                </a:solidFill>
                <a:latin typeface="Arial" panose="020B0604020202020204" pitchFamily="34" charset="0"/>
                <a:ea typeface="黑体" panose="02010609060101010101" pitchFamily="49" charset="-122"/>
              </a:rPr>
              <a:t>变长指令字和变长操作码使机器代码更紧凑；定长指令字和定长操作码便于快速访问和译码。学了</a:t>
            </a:r>
            <a:r>
              <a:rPr lang="en-US" altLang="zh-CN" sz="2000" dirty="0">
                <a:solidFill>
                  <a:srgbClr val="388A36"/>
                </a:solidFill>
                <a:latin typeface="Arial" panose="020B0604020202020204" pitchFamily="34" charset="0"/>
                <a:ea typeface="黑体" panose="02010609060101010101" pitchFamily="49" charset="-122"/>
              </a:rPr>
              <a:t>CPU</a:t>
            </a:r>
            <a:r>
              <a:rPr lang="zh-CN" altLang="en-US" sz="2000" dirty="0">
                <a:solidFill>
                  <a:srgbClr val="388A36"/>
                </a:solidFill>
                <a:latin typeface="Arial" panose="020B0604020202020204" pitchFamily="34" charset="0"/>
                <a:ea typeface="黑体" panose="02010609060101010101" pitchFamily="49" charset="-122"/>
              </a:rPr>
              <a:t>设计就更明白了。</a:t>
            </a:r>
            <a:endParaRPr lang="zh-CN" altLang="en-US" sz="2000" dirty="0">
              <a:solidFill>
                <a:srgbClr val="388A36"/>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5027">
                                            <p:txEl>
                                              <p:pRg st="1" end="1"/>
                                            </p:txEl>
                                          </p:spTgt>
                                        </p:tgtEl>
                                        <p:attrNameLst>
                                          <p:attrName>style.visibility</p:attrName>
                                        </p:attrNameLst>
                                      </p:cBhvr>
                                      <p:to>
                                        <p:strVal val="visible"/>
                                      </p:to>
                                    </p:set>
                                    <p:animEffect transition="in" filter="blinds(horizontal)">
                                      <p:cBhvr>
                                        <p:cTn id="7" dur="500"/>
                                        <p:tgtEl>
                                          <p:spTgt spid="3850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5027">
                                            <p:txEl>
                                              <p:pRg st="2" end="2"/>
                                            </p:txEl>
                                          </p:spTgt>
                                        </p:tgtEl>
                                        <p:attrNameLst>
                                          <p:attrName>style.visibility</p:attrName>
                                        </p:attrNameLst>
                                      </p:cBhvr>
                                      <p:to>
                                        <p:strVal val="visible"/>
                                      </p:to>
                                    </p:set>
                                    <p:animEffect transition="in" filter="blinds(horizontal)">
                                      <p:cBhvr>
                                        <p:cTn id="12" dur="500"/>
                                        <p:tgtEl>
                                          <p:spTgt spid="3850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5027">
                                            <p:txEl>
                                              <p:pRg st="4" end="4"/>
                                            </p:txEl>
                                          </p:spTgt>
                                        </p:tgtEl>
                                        <p:attrNameLst>
                                          <p:attrName>style.visibility</p:attrName>
                                        </p:attrNameLst>
                                      </p:cBhvr>
                                      <p:to>
                                        <p:strVal val="visible"/>
                                      </p:to>
                                    </p:set>
                                    <p:animEffect transition="in" filter="blinds(horizontal)">
                                      <p:cBhvr>
                                        <p:cTn id="17" dur="500"/>
                                        <p:tgtEl>
                                          <p:spTgt spid="38502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5027">
                                            <p:txEl>
                                              <p:pRg st="5" end="5"/>
                                            </p:txEl>
                                          </p:spTgt>
                                        </p:tgtEl>
                                        <p:attrNameLst>
                                          <p:attrName>style.visibility</p:attrName>
                                        </p:attrNameLst>
                                      </p:cBhvr>
                                      <p:to>
                                        <p:strVal val="visible"/>
                                      </p:to>
                                    </p:set>
                                    <p:animEffect transition="in" filter="blinds(horizontal)">
                                      <p:cBhvr>
                                        <p:cTn id="22" dur="500"/>
                                        <p:tgtEl>
                                          <p:spTgt spid="38502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5027">
                                            <p:txEl>
                                              <p:pRg st="6" end="6"/>
                                            </p:txEl>
                                          </p:spTgt>
                                        </p:tgtEl>
                                        <p:attrNameLst>
                                          <p:attrName>style.visibility</p:attrName>
                                        </p:attrNameLst>
                                      </p:cBhvr>
                                      <p:to>
                                        <p:strVal val="visible"/>
                                      </p:to>
                                    </p:set>
                                    <p:animEffect transition="in" filter="blinds(horizontal)">
                                      <p:cBhvr>
                                        <p:cTn id="27" dur="500"/>
                                        <p:tgtEl>
                                          <p:spTgt spid="38502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85032"/>
                                        </p:tgtEl>
                                        <p:attrNameLst>
                                          <p:attrName>style.visibility</p:attrName>
                                        </p:attrNameLst>
                                      </p:cBhvr>
                                      <p:to>
                                        <p:strVal val="visible"/>
                                      </p:to>
                                    </p:set>
                                    <p:animEffect transition="in" filter="blinds(horizontal)">
                                      <p:cBhvr>
                                        <p:cTn id="32" dur="500"/>
                                        <p:tgtEl>
                                          <p:spTgt spid="38503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85030"/>
                                        </p:tgtEl>
                                        <p:attrNameLst>
                                          <p:attrName>style.visibility</p:attrName>
                                        </p:attrNameLst>
                                      </p:cBhvr>
                                      <p:to>
                                        <p:strVal val="visible"/>
                                      </p:to>
                                    </p:set>
                                    <p:animEffect transition="in" filter="blinds(horizontal)">
                                      <p:cBhvr>
                                        <p:cTn id="37" dur="500"/>
                                        <p:tgtEl>
                                          <p:spTgt spid="38503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385031"/>
                                        </p:tgtEl>
                                        <p:attrNameLst>
                                          <p:attrName>style.visibility</p:attrName>
                                        </p:attrNameLst>
                                      </p:cBhvr>
                                      <p:to>
                                        <p:strVal val="visible"/>
                                      </p:to>
                                    </p:set>
                                    <p:animEffect transition="in" filter="blinds(horizontal)">
                                      <p:cBhvr>
                                        <p:cTn id="42" dur="500"/>
                                        <p:tgtEl>
                                          <p:spTgt spid="385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30" grpId="0"/>
      <p:bldP spid="385031" grpId="0"/>
      <p:bldP spid="38503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654050" y="85725"/>
            <a:ext cx="8118475" cy="425450"/>
          </a:xfrm>
        </p:spPr>
        <p:txBody>
          <a:bodyPr vert="horz" wrap="square" lIns="63500" tIns="25400" rIns="63500" bIns="25400" anchor="t" anchorCtr="0">
            <a:spAutoFit/>
          </a:bodyPr>
          <a:lstStyle/>
          <a:p>
            <a:r>
              <a:rPr lang="zh-CN" altLang="en-US" sz="2800" dirty="0">
                <a:ea typeface="宋体" panose="02010600030101010101" pitchFamily="2" charset="-122"/>
              </a:rPr>
              <a:t>定长操作码编码 </a:t>
            </a:r>
            <a:r>
              <a:rPr lang="en-US" altLang="zh-CN" dirty="0">
                <a:ea typeface="宋体" panose="02010600030101010101" pitchFamily="2" charset="-122"/>
              </a:rPr>
              <a:t>Fixed Length Opcodes </a:t>
            </a:r>
            <a:endParaRPr lang="en-US" altLang="zh-CN" dirty="0">
              <a:ea typeface="宋体" panose="02010600030101010101" pitchFamily="2" charset="-122"/>
            </a:endParaRPr>
          </a:p>
        </p:txBody>
      </p:sp>
      <p:sp>
        <p:nvSpPr>
          <p:cNvPr id="386051" name="Rectangle 3"/>
          <p:cNvSpPr/>
          <p:nvPr/>
        </p:nvSpPr>
        <p:spPr>
          <a:xfrm>
            <a:off x="546100" y="825500"/>
            <a:ext cx="8039100" cy="5559425"/>
          </a:xfrm>
          <a:prstGeom prst="rect">
            <a:avLst/>
          </a:prstGeom>
          <a:noFill/>
          <a:ln w="12700">
            <a:noFill/>
          </a:ln>
        </p:spPr>
        <p:txBody>
          <a:bodyPr lIns="63500" tIns="25400" rIns="63500" bIns="25400">
            <a:spAutoFit/>
          </a:bodyPr>
          <a:lstStyle/>
          <a:p>
            <a:pPr eaLnBrk="1" hangingPunct="1">
              <a:lnSpc>
                <a:spcPct val="115000"/>
              </a:lnSpc>
              <a:spcBef>
                <a:spcPct val="50000"/>
              </a:spcBef>
              <a:buSzPct val="60000"/>
              <a:buFont typeface="Wingdings" panose="05000000000000000000" pitchFamily="2" charset="2"/>
            </a:pPr>
            <a:r>
              <a:rPr lang="zh-CN" altLang="en-US" sz="2400" dirty="0">
                <a:solidFill>
                  <a:schemeClr val="tx1"/>
                </a:solidFill>
                <a:latin typeface="Arial" panose="020B0604020202020204" pitchFamily="34" charset="0"/>
                <a:ea typeface="黑体" panose="02010609060101010101" pitchFamily="49" charset="-122"/>
              </a:rPr>
              <a:t>   基本思想</a:t>
            </a:r>
            <a:endParaRPr lang="zh-CN" altLang="en-US" sz="2400" dirty="0">
              <a:solidFill>
                <a:schemeClr val="tx1"/>
              </a:solidFill>
              <a:latin typeface="Arial" panose="020B0604020202020204" pitchFamily="34" charset="0"/>
              <a:ea typeface="黑体" panose="02010609060101010101" pitchFamily="49" charset="-122"/>
            </a:endParaRPr>
          </a:p>
          <a:p>
            <a:pPr eaLnBrk="1" hangingPunct="1">
              <a:lnSpc>
                <a:spcPct val="115000"/>
              </a:lnSpc>
              <a:spcBef>
                <a:spcPct val="50000"/>
              </a:spcBef>
              <a:buFont typeface="Monotype Sorts" pitchFamily="2" charset="2"/>
              <a:buChar char=" "/>
            </a:pPr>
            <a:r>
              <a:rPr lang="zh-CN" altLang="en-US" sz="2000" dirty="0">
                <a:solidFill>
                  <a:srgbClr val="0000FF"/>
                </a:solidFill>
                <a:latin typeface="Arial" panose="020B0604020202020204" pitchFamily="34" charset="0"/>
                <a:ea typeface="黑体" panose="02010609060101010101" pitchFamily="49" charset="-122"/>
              </a:rPr>
              <a:t>指令的操作码部分采用固定长度的编码</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5000"/>
              </a:lnSpc>
              <a:spcBef>
                <a:spcPct val="50000"/>
              </a:spcBef>
              <a:buFont typeface="Monotype Sorts" pitchFamily="2" charset="2"/>
              <a:buChar char=" "/>
            </a:pPr>
            <a:r>
              <a:rPr lang="zh-CN" altLang="en-US" sz="2000" dirty="0">
                <a:solidFill>
                  <a:srgbClr val="0000FF"/>
                </a:solidFill>
                <a:latin typeface="Arial" panose="020B0604020202020204" pitchFamily="34" charset="0"/>
                <a:ea typeface="黑体" panose="02010609060101010101" pitchFamily="49" charset="-122"/>
              </a:rPr>
              <a:t>如：假设操作码固定为</a:t>
            </a:r>
            <a:r>
              <a:rPr lang="en-US" altLang="zh-CN" sz="2000" dirty="0">
                <a:solidFill>
                  <a:srgbClr val="0000FF"/>
                </a:solidFill>
                <a:latin typeface="Arial" panose="020B0604020202020204" pitchFamily="34" charset="0"/>
                <a:ea typeface="黑体" panose="02010609060101010101" pitchFamily="49" charset="-122"/>
              </a:rPr>
              <a:t>6</a:t>
            </a:r>
            <a:r>
              <a:rPr lang="zh-CN" altLang="en-US" sz="2000" dirty="0">
                <a:solidFill>
                  <a:srgbClr val="0000FF"/>
                </a:solidFill>
                <a:latin typeface="Arial" panose="020B0604020202020204" pitchFamily="34" charset="0"/>
                <a:ea typeface="黑体" panose="02010609060101010101" pitchFamily="49" charset="-122"/>
              </a:rPr>
              <a:t>位，则系统最多可表示</a:t>
            </a:r>
            <a:r>
              <a:rPr lang="en-US" altLang="zh-CN" sz="2000" dirty="0">
                <a:solidFill>
                  <a:srgbClr val="0000FF"/>
                </a:solidFill>
                <a:latin typeface="Arial" panose="020B0604020202020204" pitchFamily="34" charset="0"/>
                <a:ea typeface="黑体" panose="02010609060101010101" pitchFamily="49" charset="-122"/>
              </a:rPr>
              <a:t>64</a:t>
            </a:r>
            <a:r>
              <a:rPr lang="zh-CN" altLang="en-US" sz="2000" dirty="0">
                <a:solidFill>
                  <a:srgbClr val="0000FF"/>
                </a:solidFill>
                <a:latin typeface="Arial" panose="020B0604020202020204" pitchFamily="34" charset="0"/>
                <a:ea typeface="黑体" panose="02010609060101010101" pitchFamily="49" charset="-122"/>
              </a:rPr>
              <a:t>种指令</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5000"/>
              </a:lnSpc>
              <a:spcBef>
                <a:spcPct val="50000"/>
              </a:spcBef>
              <a:buSzPct val="60000"/>
              <a:buFont typeface="Wingdings" panose="05000000000000000000" pitchFamily="2" charset="2"/>
            </a:pPr>
            <a:r>
              <a:rPr lang="zh-CN" altLang="en-US" sz="2400" dirty="0">
                <a:solidFill>
                  <a:schemeClr val="tx1"/>
                </a:solidFill>
                <a:latin typeface="Arial" panose="020B0604020202020204" pitchFamily="34" charset="0"/>
                <a:ea typeface="黑体" panose="02010609060101010101" pitchFamily="49" charset="-122"/>
              </a:rPr>
              <a:t>   特点</a:t>
            </a:r>
            <a:endParaRPr lang="zh-CN" altLang="en-US" sz="2400" dirty="0">
              <a:solidFill>
                <a:schemeClr val="tx1"/>
              </a:solidFill>
              <a:latin typeface="Arial" panose="020B0604020202020204" pitchFamily="34" charset="0"/>
              <a:ea typeface="黑体" panose="02010609060101010101" pitchFamily="49" charset="-122"/>
            </a:endParaRPr>
          </a:p>
          <a:p>
            <a:pPr eaLnBrk="1" hangingPunct="1">
              <a:lnSpc>
                <a:spcPct val="115000"/>
              </a:lnSpc>
              <a:spcBef>
                <a:spcPct val="50000"/>
              </a:spcBef>
              <a:buFont typeface="Monotype Sorts" pitchFamily="2" charset="2"/>
              <a:buChar char=" "/>
            </a:pPr>
            <a:r>
              <a:rPr lang="zh-CN" altLang="en-US" sz="2000" dirty="0">
                <a:solidFill>
                  <a:srgbClr val="0000FF"/>
                </a:solidFill>
                <a:latin typeface="Arial" panose="020B0604020202020204" pitchFamily="34" charset="0"/>
                <a:ea typeface="黑体" panose="02010609060101010101" pitchFamily="49" charset="-122"/>
              </a:rPr>
              <a:t>译码方便，但有信息冗余</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5000"/>
              </a:lnSpc>
              <a:spcBef>
                <a:spcPct val="50000"/>
              </a:spcBef>
              <a:buSzPct val="60000"/>
              <a:buFont typeface="Wingdings" panose="05000000000000000000" pitchFamily="2" charset="2"/>
            </a:pPr>
            <a:r>
              <a:rPr lang="zh-CN" altLang="en-US" sz="2400" dirty="0">
                <a:solidFill>
                  <a:schemeClr val="tx1"/>
                </a:solidFill>
                <a:latin typeface="Arial" panose="020B0604020202020204" pitchFamily="34" charset="0"/>
                <a:ea typeface="黑体" panose="02010609060101010101" pitchFamily="49" charset="-122"/>
              </a:rPr>
              <a:t>   举例</a:t>
            </a:r>
            <a:endParaRPr lang="zh-CN" altLang="en-US" sz="2400" dirty="0">
              <a:solidFill>
                <a:schemeClr val="tx1"/>
              </a:solidFill>
              <a:latin typeface="Arial" panose="020B0604020202020204" pitchFamily="34" charset="0"/>
              <a:ea typeface="黑体" panose="02010609060101010101" pitchFamily="49" charset="-122"/>
            </a:endParaRPr>
          </a:p>
          <a:p>
            <a:pPr eaLnBrk="1" hangingPunct="1">
              <a:lnSpc>
                <a:spcPct val="110000"/>
              </a:lnSpc>
              <a:spcBef>
                <a:spcPct val="20000"/>
              </a:spcBef>
              <a:buFont typeface="Monotype Sorts" pitchFamily="2" charset="2"/>
              <a:buChar char=" "/>
            </a:pPr>
            <a:r>
              <a:rPr lang="en-US" altLang="zh-CN" sz="2000" dirty="0">
                <a:solidFill>
                  <a:srgbClr val="0000FF"/>
                </a:solidFill>
                <a:latin typeface="Arial" panose="020B0604020202020204" pitchFamily="34" charset="0"/>
                <a:ea typeface="黑体" panose="02010609060101010101" pitchFamily="49" charset="-122"/>
                <a:hlinkClick r:id="" action="ppaction://hlinkshowjump?jump=nextslide"/>
              </a:rPr>
              <a:t>IBM360/370</a:t>
            </a:r>
            <a:r>
              <a:rPr lang="zh-CN" altLang="zh-CN" sz="2000" dirty="0">
                <a:solidFill>
                  <a:srgbClr val="0000FF"/>
                </a:solidFill>
                <a:latin typeface="Arial" panose="020B0604020202020204" pitchFamily="34" charset="0"/>
                <a:ea typeface="黑体" panose="02010609060101010101" pitchFamily="49" charset="-122"/>
              </a:rPr>
              <a:t>采用</a:t>
            </a:r>
            <a:r>
              <a:rPr lang="zh-CN" altLang="en-US" sz="2000" dirty="0">
                <a:solidFill>
                  <a:srgbClr val="0000FF"/>
                </a:solidFill>
                <a:latin typeface="Arial" panose="020B0604020202020204" pitchFamily="34" charset="0"/>
                <a:ea typeface="黑体" panose="02010609060101010101" pitchFamily="49" charset="-122"/>
              </a:rPr>
              <a:t>:</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0000"/>
              </a:lnSpc>
              <a:spcBef>
                <a:spcPct val="20000"/>
              </a:spcBef>
              <a:buFont typeface="Monotype Sorts" pitchFamily="2" charset="2"/>
              <a:buChar char=" "/>
            </a:pPr>
            <a:r>
              <a:rPr lang="zh-CN" altLang="zh-CN" sz="2000" dirty="0">
                <a:solidFill>
                  <a:srgbClr val="0000FF"/>
                </a:solidFill>
                <a:latin typeface="黑体" panose="02010609060101010101" pitchFamily="49" charset="-122"/>
                <a:ea typeface="黑体" panose="02010609060101010101" pitchFamily="49" charset="-122"/>
              </a:rPr>
              <a:t>８</a:t>
            </a:r>
            <a:r>
              <a:rPr lang="zh-CN" altLang="zh-CN" sz="2000" dirty="0">
                <a:solidFill>
                  <a:srgbClr val="0000FF"/>
                </a:solidFill>
                <a:latin typeface="Arial" panose="020B0604020202020204" pitchFamily="34" charset="0"/>
                <a:ea typeface="黑体" panose="02010609060101010101" pitchFamily="49" charset="-122"/>
              </a:rPr>
              <a:t>位定长操作码，最多可有256条指令</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0000"/>
              </a:lnSpc>
              <a:spcBef>
                <a:spcPct val="20000"/>
              </a:spcBef>
              <a:buFont typeface="Monotype Sorts" pitchFamily="2" charset="2"/>
              <a:buChar char=" "/>
            </a:pPr>
            <a:r>
              <a:rPr lang="zh-CN" altLang="zh-CN" sz="2000" dirty="0">
                <a:solidFill>
                  <a:srgbClr val="0000FF"/>
                </a:solidFill>
                <a:latin typeface="Arial" panose="020B0604020202020204" pitchFamily="34" charset="0"/>
                <a:ea typeface="黑体" panose="02010609060101010101" pitchFamily="49" charset="-122"/>
              </a:rPr>
              <a:t>只提供了</a:t>
            </a:r>
            <a:r>
              <a:rPr lang="zh-CN" altLang="en-US" sz="2000" dirty="0">
                <a:solidFill>
                  <a:srgbClr val="0000FF"/>
                </a:solidFill>
                <a:latin typeface="Arial" panose="020B0604020202020204" pitchFamily="34" charset="0"/>
                <a:ea typeface="黑体" panose="02010609060101010101" pitchFamily="49" charset="-122"/>
              </a:rPr>
              <a:t>183条指令，有73种编码为冗余信息</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0000"/>
              </a:lnSpc>
              <a:spcBef>
                <a:spcPct val="20000"/>
              </a:spcBef>
              <a:buFont typeface="Monotype Sorts" pitchFamily="2" charset="2"/>
              <a:buChar char=" "/>
            </a:pPr>
            <a:r>
              <a:rPr lang="zh-CN" altLang="en-US" sz="2000" dirty="0">
                <a:solidFill>
                  <a:srgbClr val="0000FF"/>
                </a:solidFill>
                <a:latin typeface="Arial" panose="020B0604020202020204" pitchFamily="34" charset="0"/>
                <a:ea typeface="黑体" panose="02010609060101010101" pitchFamily="49" charset="-122"/>
              </a:rPr>
              <a:t>机器字长32位，按字节编址</a:t>
            </a:r>
            <a:endParaRPr lang="zh-CN" altLang="en-US" sz="2000" dirty="0">
              <a:solidFill>
                <a:srgbClr val="0000FF"/>
              </a:solidFill>
              <a:latin typeface="Arial" panose="020B0604020202020204" pitchFamily="34" charset="0"/>
              <a:ea typeface="黑体" panose="02010609060101010101" pitchFamily="49" charset="-122"/>
            </a:endParaRPr>
          </a:p>
          <a:p>
            <a:pPr eaLnBrk="1" hangingPunct="1">
              <a:lnSpc>
                <a:spcPct val="110000"/>
              </a:lnSpc>
              <a:spcBef>
                <a:spcPct val="20000"/>
              </a:spcBef>
              <a:buFont typeface="Monotype Sorts" pitchFamily="2" charset="2"/>
              <a:buChar char=" "/>
            </a:pPr>
            <a:r>
              <a:rPr lang="zh-CN" altLang="en-US" sz="2000" dirty="0">
                <a:solidFill>
                  <a:srgbClr val="0000FF"/>
                </a:solidFill>
                <a:latin typeface="Arial" panose="020B0604020202020204" pitchFamily="34" charset="0"/>
                <a:ea typeface="黑体" panose="02010609060101010101" pitchFamily="49" charset="-122"/>
              </a:rPr>
              <a:t>有16个32位通用寄存器，基址器</a:t>
            </a:r>
            <a:r>
              <a:rPr lang="en-US" altLang="zh-CN" sz="2000" dirty="0">
                <a:solidFill>
                  <a:srgbClr val="0000FF"/>
                </a:solidFill>
                <a:latin typeface="Arial" panose="020B0604020202020204" pitchFamily="34" charset="0"/>
                <a:ea typeface="黑体" panose="02010609060101010101" pitchFamily="49" charset="-122"/>
              </a:rPr>
              <a:t>B</a:t>
            </a:r>
            <a:r>
              <a:rPr lang="zh-CN" altLang="en-US" sz="2000" dirty="0">
                <a:solidFill>
                  <a:srgbClr val="0000FF"/>
                </a:solidFill>
                <a:latin typeface="Arial" panose="020B0604020202020204" pitchFamily="34" charset="0"/>
                <a:ea typeface="黑体" panose="02010609060101010101" pitchFamily="49" charset="-122"/>
              </a:rPr>
              <a:t>和变址器</a:t>
            </a:r>
            <a:r>
              <a:rPr lang="en-US" altLang="zh-CN" sz="2000" dirty="0">
                <a:solidFill>
                  <a:srgbClr val="0000FF"/>
                </a:solidFill>
                <a:latin typeface="Arial" panose="020B0604020202020204" pitchFamily="34" charset="0"/>
                <a:ea typeface="黑体" panose="02010609060101010101" pitchFamily="49" charset="-122"/>
              </a:rPr>
              <a:t>X</a:t>
            </a:r>
            <a:r>
              <a:rPr lang="zh-CN" altLang="en-US" sz="2000" dirty="0">
                <a:solidFill>
                  <a:srgbClr val="0000FF"/>
                </a:solidFill>
                <a:latin typeface="Arial" panose="020B0604020202020204" pitchFamily="34" charset="0"/>
                <a:ea typeface="黑体" panose="02010609060101010101" pitchFamily="49" charset="-122"/>
              </a:rPr>
              <a:t>可用其中任意一个</a:t>
            </a:r>
            <a:endParaRPr lang="en-US" altLang="zh-CN" sz="2000" dirty="0">
              <a:solidFill>
                <a:srgbClr val="0000FF"/>
              </a:solidFill>
              <a:latin typeface="Arial" panose="020B0604020202020204" pitchFamily="34" charset="0"/>
              <a:ea typeface="黑体" panose="02010609060101010101" pitchFamily="49" charset="-122"/>
            </a:endParaRPr>
          </a:p>
          <a:p>
            <a:pPr eaLnBrk="1" hangingPunct="1">
              <a:lnSpc>
                <a:spcPct val="110000"/>
              </a:lnSpc>
              <a:spcBef>
                <a:spcPct val="20000"/>
              </a:spcBef>
              <a:buFont typeface="Monotype Sorts" pitchFamily="2" charset="2"/>
              <a:buChar char=" "/>
            </a:pPr>
            <a:r>
              <a:rPr lang="zh-CN" altLang="en-US" sz="2000" dirty="0">
                <a:solidFill>
                  <a:srgbClr val="FF0000"/>
                </a:solidFill>
                <a:latin typeface="Arial" panose="020B0604020202020204" pitchFamily="34" charset="0"/>
                <a:ea typeface="黑体" panose="02010609060101010101" pitchFamily="49" charset="-122"/>
              </a:rPr>
              <a:t>问题：通用寄存器编号有几位？</a:t>
            </a:r>
            <a:r>
              <a:rPr lang="en-US" altLang="zh-CN" sz="2000" dirty="0">
                <a:solidFill>
                  <a:srgbClr val="FF0000"/>
                </a:solidFill>
                <a:latin typeface="Arial" panose="020B0604020202020204" pitchFamily="34" charset="0"/>
                <a:ea typeface="黑体" panose="02010609060101010101" pitchFamily="49" charset="-122"/>
              </a:rPr>
              <a:t>B</a:t>
            </a:r>
            <a:r>
              <a:rPr lang="zh-CN" altLang="en-US" sz="2000" dirty="0">
                <a:solidFill>
                  <a:srgbClr val="FF0000"/>
                </a:solidFill>
                <a:latin typeface="Arial" panose="020B0604020202020204" pitchFamily="34" charset="0"/>
                <a:ea typeface="黑体" panose="02010609060101010101" pitchFamily="49" charset="-122"/>
              </a:rPr>
              <a:t>和</a:t>
            </a:r>
            <a:r>
              <a:rPr lang="en-US" altLang="zh-CN" sz="2000" dirty="0">
                <a:solidFill>
                  <a:srgbClr val="FF0000"/>
                </a:solidFill>
                <a:latin typeface="Arial" panose="020B0604020202020204" pitchFamily="34" charset="0"/>
                <a:ea typeface="黑体" panose="02010609060101010101" pitchFamily="49" charset="-122"/>
              </a:rPr>
              <a:t>X</a:t>
            </a:r>
            <a:r>
              <a:rPr lang="zh-CN" altLang="en-US" sz="2000" dirty="0">
                <a:solidFill>
                  <a:srgbClr val="FF0000"/>
                </a:solidFill>
                <a:latin typeface="Arial" panose="020B0604020202020204" pitchFamily="34" charset="0"/>
                <a:ea typeface="黑体" panose="02010609060101010101" pitchFamily="49" charset="-122"/>
              </a:rPr>
              <a:t>的编号占几位？</a:t>
            </a:r>
            <a:endParaRPr lang="en-US" altLang="zh-CN" sz="2000" dirty="0">
              <a:solidFill>
                <a:srgbClr val="FF0000"/>
              </a:solidFill>
              <a:latin typeface="Arial" panose="020B0604020202020204" pitchFamily="34" charset="0"/>
              <a:ea typeface="黑体" panose="02010609060101010101" pitchFamily="49" charset="-122"/>
            </a:endParaRPr>
          </a:p>
        </p:txBody>
      </p:sp>
      <p:sp>
        <p:nvSpPr>
          <p:cNvPr id="4" name="TextBox 3"/>
          <p:cNvSpPr txBox="1"/>
          <p:nvPr/>
        </p:nvSpPr>
        <p:spPr>
          <a:xfrm>
            <a:off x="7000875" y="6005513"/>
            <a:ext cx="1652588" cy="460375"/>
          </a:xfrm>
          <a:prstGeom prst="rect">
            <a:avLst/>
          </a:prstGeom>
          <a:noFill/>
          <a:ln w="9525">
            <a:noFill/>
          </a:ln>
        </p:spPr>
        <p:txBody>
          <a:bodyPr>
            <a:spAutoFit/>
          </a:bodyPr>
          <a:lstStyle/>
          <a:p>
            <a:r>
              <a:rPr lang="zh-CN" altLang="en-US" sz="2400" dirty="0">
                <a:solidFill>
                  <a:schemeClr val="tx1"/>
                </a:solidFill>
                <a:latin typeface="黑体" panose="02010609060101010101" pitchFamily="49" charset="-122"/>
                <a:ea typeface="黑体" panose="02010609060101010101" pitchFamily="49" charset="-122"/>
              </a:rPr>
              <a:t>都是</a:t>
            </a:r>
            <a:r>
              <a:rPr lang="en-US" altLang="zh-CN" sz="2400" dirty="0">
                <a:solidFill>
                  <a:schemeClr val="tx1"/>
                </a:solidFill>
                <a:latin typeface="黑体" panose="02010609060101010101" pitchFamily="49" charset="-122"/>
                <a:ea typeface="黑体" panose="02010609060101010101" pitchFamily="49" charset="-122"/>
              </a:rPr>
              <a:t>4</a:t>
            </a:r>
            <a:r>
              <a:rPr lang="zh-CN" altLang="en-US" sz="2400" dirty="0">
                <a:solidFill>
                  <a:schemeClr val="tx1"/>
                </a:solidFill>
                <a:latin typeface="黑体" panose="02010609060101010101" pitchFamily="49" charset="-122"/>
                <a:ea typeface="黑体" panose="02010609060101010101" pitchFamily="49" charset="-122"/>
              </a:rPr>
              <a:t>位！</a:t>
            </a:r>
            <a:endParaRPr lang="zh-CN" altLang="en-US" sz="2400"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6051">
                                            <p:txEl>
                                              <p:pRg st="1" end="1"/>
                                            </p:txEl>
                                          </p:spTgt>
                                        </p:tgtEl>
                                        <p:attrNameLst>
                                          <p:attrName>style.visibility</p:attrName>
                                        </p:attrNameLst>
                                      </p:cBhvr>
                                      <p:to>
                                        <p:strVal val="visible"/>
                                      </p:to>
                                    </p:set>
                                    <p:animEffect transition="in" filter="blinds(horizontal)">
                                      <p:cBhvr>
                                        <p:cTn id="7" dur="500"/>
                                        <p:tgtEl>
                                          <p:spTgt spid="3860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6051">
                                            <p:txEl>
                                              <p:pRg st="2" end="2"/>
                                            </p:txEl>
                                          </p:spTgt>
                                        </p:tgtEl>
                                        <p:attrNameLst>
                                          <p:attrName>style.visibility</p:attrName>
                                        </p:attrNameLst>
                                      </p:cBhvr>
                                      <p:to>
                                        <p:strVal val="visible"/>
                                      </p:to>
                                    </p:set>
                                    <p:animEffect transition="in" filter="blinds(horizontal)">
                                      <p:cBhvr>
                                        <p:cTn id="12" dur="500"/>
                                        <p:tgtEl>
                                          <p:spTgt spid="3860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6051">
                                            <p:txEl>
                                              <p:pRg st="4" end="4"/>
                                            </p:txEl>
                                          </p:spTgt>
                                        </p:tgtEl>
                                        <p:attrNameLst>
                                          <p:attrName>style.visibility</p:attrName>
                                        </p:attrNameLst>
                                      </p:cBhvr>
                                      <p:to>
                                        <p:strVal val="visible"/>
                                      </p:to>
                                    </p:set>
                                    <p:animEffect transition="in" filter="blinds(horizontal)">
                                      <p:cBhvr>
                                        <p:cTn id="17" dur="500"/>
                                        <p:tgtEl>
                                          <p:spTgt spid="38605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6051">
                                            <p:txEl>
                                              <p:pRg st="6" end="6"/>
                                            </p:txEl>
                                          </p:spTgt>
                                        </p:tgtEl>
                                        <p:attrNameLst>
                                          <p:attrName>style.visibility</p:attrName>
                                        </p:attrNameLst>
                                      </p:cBhvr>
                                      <p:to>
                                        <p:strVal val="visible"/>
                                      </p:to>
                                    </p:set>
                                    <p:animEffect transition="in" filter="blinds(horizontal)">
                                      <p:cBhvr>
                                        <p:cTn id="22" dur="500"/>
                                        <p:tgtEl>
                                          <p:spTgt spid="38605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6051">
                                            <p:txEl>
                                              <p:pRg st="7" end="7"/>
                                            </p:txEl>
                                          </p:spTgt>
                                        </p:tgtEl>
                                        <p:attrNameLst>
                                          <p:attrName>style.visibility</p:attrName>
                                        </p:attrNameLst>
                                      </p:cBhvr>
                                      <p:to>
                                        <p:strVal val="visible"/>
                                      </p:to>
                                    </p:set>
                                    <p:animEffect transition="in" filter="blinds(horizontal)">
                                      <p:cBhvr>
                                        <p:cTn id="27" dur="500"/>
                                        <p:tgtEl>
                                          <p:spTgt spid="386051">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86051">
                                            <p:txEl>
                                              <p:pRg st="8" end="8"/>
                                            </p:txEl>
                                          </p:spTgt>
                                        </p:tgtEl>
                                        <p:attrNameLst>
                                          <p:attrName>style.visibility</p:attrName>
                                        </p:attrNameLst>
                                      </p:cBhvr>
                                      <p:to>
                                        <p:strVal val="visible"/>
                                      </p:to>
                                    </p:set>
                                    <p:animEffect transition="in" filter="blinds(horizontal)">
                                      <p:cBhvr>
                                        <p:cTn id="32" dur="500"/>
                                        <p:tgtEl>
                                          <p:spTgt spid="386051">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86051">
                                            <p:txEl>
                                              <p:pRg st="9" end="9"/>
                                            </p:txEl>
                                          </p:spTgt>
                                        </p:tgtEl>
                                        <p:attrNameLst>
                                          <p:attrName>style.visibility</p:attrName>
                                        </p:attrNameLst>
                                      </p:cBhvr>
                                      <p:to>
                                        <p:strVal val="visible"/>
                                      </p:to>
                                    </p:set>
                                    <p:animEffect transition="in" filter="blinds(horizontal)">
                                      <p:cBhvr>
                                        <p:cTn id="37" dur="500"/>
                                        <p:tgtEl>
                                          <p:spTgt spid="386051">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6051">
                                            <p:txEl>
                                              <p:pRg st="10" end="10"/>
                                            </p:txEl>
                                          </p:spTgt>
                                        </p:tgtEl>
                                        <p:attrNameLst>
                                          <p:attrName>style.visibility</p:attrName>
                                        </p:attrNameLst>
                                      </p:cBhvr>
                                      <p:to>
                                        <p:strVal val="visible"/>
                                      </p:to>
                                    </p:set>
                                    <p:animEffect transition="in" filter="blinds(horizontal)">
                                      <p:cBhvr>
                                        <p:cTn id="42" dur="500"/>
                                        <p:tgtEl>
                                          <p:spTgt spid="386051">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86051">
                                            <p:txEl>
                                              <p:pRg st="11" end="11"/>
                                            </p:txEl>
                                          </p:spTgt>
                                        </p:tgtEl>
                                        <p:attrNameLst>
                                          <p:attrName>style.visibility</p:attrName>
                                        </p:attrNameLst>
                                      </p:cBhvr>
                                      <p:to>
                                        <p:strVal val="visible"/>
                                      </p:to>
                                    </p:set>
                                    <p:animEffect transition="in" filter="blinds(horizontal)">
                                      <p:cBhvr>
                                        <p:cTn id="47" dur="500"/>
                                        <p:tgtEl>
                                          <p:spTgt spid="386051">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blinds(horizontal)">
                                      <p:cBhvr>
                                        <p:cTn id="5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711200" y="114300"/>
            <a:ext cx="5434013" cy="425450"/>
          </a:xfrm>
        </p:spPr>
        <p:txBody>
          <a:bodyPr vert="horz" wrap="square" lIns="63500" tIns="25400" rIns="63500" bIns="25400" anchor="t" anchorCtr="0">
            <a:spAutoFit/>
          </a:bodyPr>
          <a:lstStyle/>
          <a:p>
            <a:r>
              <a:rPr lang="en-US" altLang="zh-CN" dirty="0">
                <a:ea typeface="宋体" panose="02010600030101010101" pitchFamily="2" charset="-122"/>
              </a:rPr>
              <a:t>IBM370</a:t>
            </a:r>
            <a:r>
              <a:rPr lang="zh-CN" altLang="en-US" sz="2800" dirty="0">
                <a:ea typeface="宋体" panose="02010600030101010101" pitchFamily="2" charset="-122"/>
              </a:rPr>
              <a:t>指令格式</a:t>
            </a:r>
            <a:endParaRPr lang="zh-CN" altLang="en-US" sz="2800" dirty="0">
              <a:ea typeface="宋体" panose="02010600030101010101" pitchFamily="2" charset="-122"/>
            </a:endParaRPr>
          </a:p>
        </p:txBody>
      </p:sp>
      <p:grpSp>
        <p:nvGrpSpPr>
          <p:cNvPr id="27651" name="Group 3"/>
          <p:cNvGrpSpPr/>
          <p:nvPr/>
        </p:nvGrpSpPr>
        <p:grpSpPr>
          <a:xfrm>
            <a:off x="300038" y="571500"/>
            <a:ext cx="8221662" cy="4570413"/>
            <a:chOff x="108" y="720"/>
            <a:chExt cx="5316" cy="3155"/>
          </a:xfrm>
        </p:grpSpPr>
        <p:sp>
          <p:nvSpPr>
            <p:cNvPr id="27654" name="Text Box 4"/>
            <p:cNvSpPr txBox="1"/>
            <p:nvPr/>
          </p:nvSpPr>
          <p:spPr>
            <a:xfrm>
              <a:off x="982" y="3292"/>
              <a:ext cx="270"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8</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55" name="Text Box 5"/>
            <p:cNvSpPr txBox="1"/>
            <p:nvPr/>
          </p:nvSpPr>
          <p:spPr>
            <a:xfrm>
              <a:off x="1630" y="3301"/>
              <a:ext cx="271"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8</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56" name="Text Box 6"/>
            <p:cNvSpPr txBox="1"/>
            <p:nvPr/>
          </p:nvSpPr>
          <p:spPr>
            <a:xfrm>
              <a:off x="2102" y="3295"/>
              <a:ext cx="271"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4</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57" name="Text Box 7"/>
            <p:cNvSpPr txBox="1"/>
            <p:nvPr/>
          </p:nvSpPr>
          <p:spPr>
            <a:xfrm>
              <a:off x="2793" y="3295"/>
              <a:ext cx="380"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12</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58" name="Text Box 8"/>
            <p:cNvSpPr txBox="1"/>
            <p:nvPr/>
          </p:nvSpPr>
          <p:spPr>
            <a:xfrm>
              <a:off x="3523" y="3295"/>
              <a:ext cx="271"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4</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59" name="Text Box 9"/>
            <p:cNvSpPr txBox="1"/>
            <p:nvPr/>
          </p:nvSpPr>
          <p:spPr>
            <a:xfrm>
              <a:off x="4185" y="3301"/>
              <a:ext cx="441"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12</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60" name="Line 10"/>
            <p:cNvSpPr/>
            <p:nvPr/>
          </p:nvSpPr>
          <p:spPr>
            <a:xfrm>
              <a:off x="720" y="3328"/>
              <a:ext cx="0" cy="475"/>
            </a:xfrm>
            <a:prstGeom prst="line">
              <a:avLst/>
            </a:prstGeom>
            <a:ln w="9525" cap="flat" cmpd="sng">
              <a:solidFill>
                <a:schemeClr val="tx1"/>
              </a:solidFill>
              <a:prstDash val="solid"/>
              <a:headEnd type="none" w="med" len="med"/>
              <a:tailEnd type="none" w="med" len="med"/>
            </a:ln>
          </p:spPr>
        </p:sp>
        <p:sp>
          <p:nvSpPr>
            <p:cNvPr id="27661" name="Line 11"/>
            <p:cNvSpPr/>
            <p:nvPr/>
          </p:nvSpPr>
          <p:spPr>
            <a:xfrm>
              <a:off x="2066" y="3447"/>
              <a:ext cx="0" cy="356"/>
            </a:xfrm>
            <a:prstGeom prst="line">
              <a:avLst/>
            </a:prstGeom>
            <a:ln w="9525" cap="flat" cmpd="sng">
              <a:solidFill>
                <a:schemeClr val="tx1"/>
              </a:solidFill>
              <a:prstDash val="solid"/>
              <a:headEnd type="none" w="med" len="med"/>
              <a:tailEnd type="none" w="med" len="med"/>
            </a:ln>
          </p:spPr>
        </p:sp>
        <p:sp>
          <p:nvSpPr>
            <p:cNvPr id="27662" name="Line 12"/>
            <p:cNvSpPr/>
            <p:nvPr/>
          </p:nvSpPr>
          <p:spPr>
            <a:xfrm>
              <a:off x="3487" y="3447"/>
              <a:ext cx="0" cy="356"/>
            </a:xfrm>
            <a:prstGeom prst="line">
              <a:avLst/>
            </a:prstGeom>
            <a:ln w="9525" cap="flat" cmpd="sng">
              <a:solidFill>
                <a:schemeClr val="tx1"/>
              </a:solidFill>
              <a:prstDash val="solid"/>
              <a:headEnd type="none" w="med" len="med"/>
              <a:tailEnd type="none" w="med" len="med"/>
            </a:ln>
          </p:spPr>
        </p:sp>
        <p:sp>
          <p:nvSpPr>
            <p:cNvPr id="27663" name="Line 13"/>
            <p:cNvSpPr/>
            <p:nvPr/>
          </p:nvSpPr>
          <p:spPr>
            <a:xfrm>
              <a:off x="4882" y="3447"/>
              <a:ext cx="0" cy="356"/>
            </a:xfrm>
            <a:prstGeom prst="line">
              <a:avLst/>
            </a:prstGeom>
            <a:ln w="9525" cap="flat" cmpd="sng">
              <a:solidFill>
                <a:schemeClr val="tx1"/>
              </a:solidFill>
              <a:prstDash val="solid"/>
              <a:headEnd type="none" w="med" len="med"/>
              <a:tailEnd type="none" w="med" len="med"/>
            </a:ln>
          </p:spPr>
        </p:sp>
        <p:sp>
          <p:nvSpPr>
            <p:cNvPr id="27664" name="Line 14"/>
            <p:cNvSpPr/>
            <p:nvPr/>
          </p:nvSpPr>
          <p:spPr>
            <a:xfrm flipH="1">
              <a:off x="723" y="3706"/>
              <a:ext cx="213" cy="0"/>
            </a:xfrm>
            <a:prstGeom prst="line">
              <a:avLst/>
            </a:prstGeom>
            <a:ln w="9525" cap="flat" cmpd="sng">
              <a:solidFill>
                <a:schemeClr val="tx1"/>
              </a:solidFill>
              <a:prstDash val="solid"/>
              <a:headEnd type="none" w="med" len="med"/>
              <a:tailEnd type="triangle" w="med" len="med"/>
            </a:ln>
          </p:spPr>
        </p:sp>
        <p:sp>
          <p:nvSpPr>
            <p:cNvPr id="27665" name="Line 15"/>
            <p:cNvSpPr/>
            <p:nvPr/>
          </p:nvSpPr>
          <p:spPr>
            <a:xfrm flipH="1">
              <a:off x="1822" y="3706"/>
              <a:ext cx="244" cy="0"/>
            </a:xfrm>
            <a:prstGeom prst="line">
              <a:avLst/>
            </a:prstGeom>
            <a:ln w="9525" cap="flat" cmpd="sng">
              <a:solidFill>
                <a:schemeClr val="tx1"/>
              </a:solidFill>
              <a:prstDash val="solid"/>
              <a:headEnd type="triangle" w="med" len="med"/>
              <a:tailEnd type="none" w="med" len="med"/>
            </a:ln>
          </p:spPr>
        </p:sp>
        <p:sp>
          <p:nvSpPr>
            <p:cNvPr id="27666" name="Text Box 16"/>
            <p:cNvSpPr txBox="1"/>
            <p:nvPr/>
          </p:nvSpPr>
          <p:spPr>
            <a:xfrm>
              <a:off x="918" y="3571"/>
              <a:ext cx="1098" cy="294"/>
            </a:xfrm>
            <a:prstGeom prst="rect">
              <a:avLst/>
            </a:prstGeom>
            <a:noFill/>
            <a:ln w="9525">
              <a:noFill/>
            </a:ln>
          </p:spPr>
          <p:txBody>
            <a:bodyPr>
              <a:spAutoFit/>
            </a:bodyPr>
            <a:lstStyle/>
            <a:p>
              <a:pPr>
                <a:spcBef>
                  <a:spcPct val="50000"/>
                </a:spcBef>
              </a:pPr>
              <a:r>
                <a:rPr lang="zh-CN" altLang="en-US" sz="2200" dirty="0">
                  <a:solidFill>
                    <a:srgbClr val="0033CC"/>
                  </a:solidFill>
                  <a:latin typeface="Arial" panose="020B0604020202020204" pitchFamily="34" charset="0"/>
                  <a:ea typeface="黑体" panose="02010609060101010101" pitchFamily="49" charset="-122"/>
                </a:rPr>
                <a:t>第</a:t>
              </a:r>
              <a:r>
                <a:rPr lang="en-US" altLang="zh-CN" sz="2200" dirty="0">
                  <a:solidFill>
                    <a:srgbClr val="0033CC"/>
                  </a:solidFill>
                  <a:latin typeface="Arial" panose="020B0604020202020204" pitchFamily="34" charset="0"/>
                  <a:ea typeface="黑体" panose="02010609060101010101" pitchFamily="49" charset="-122"/>
                </a:rPr>
                <a:t>1</a:t>
              </a:r>
              <a:r>
                <a:rPr lang="zh-CN" altLang="en-US" sz="2200" dirty="0">
                  <a:solidFill>
                    <a:srgbClr val="0033CC"/>
                  </a:solidFill>
                  <a:latin typeface="Arial" panose="020B0604020202020204" pitchFamily="34" charset="0"/>
                  <a:ea typeface="黑体" panose="02010609060101010101" pitchFamily="49" charset="-122"/>
                </a:rPr>
                <a:t>个半字</a:t>
              </a:r>
              <a:endParaRPr lang="zh-CN" altLang="en-US" sz="2200" dirty="0">
                <a:solidFill>
                  <a:srgbClr val="0033CC"/>
                </a:solidFill>
                <a:latin typeface="Arial" panose="020B0604020202020204" pitchFamily="34" charset="0"/>
                <a:ea typeface="黑体" panose="02010609060101010101" pitchFamily="49" charset="-122"/>
              </a:endParaRPr>
            </a:p>
          </p:txBody>
        </p:sp>
        <p:sp>
          <p:nvSpPr>
            <p:cNvPr id="27667" name="Line 17"/>
            <p:cNvSpPr/>
            <p:nvPr/>
          </p:nvSpPr>
          <p:spPr>
            <a:xfrm flipH="1">
              <a:off x="2075" y="3709"/>
              <a:ext cx="213" cy="0"/>
            </a:xfrm>
            <a:prstGeom prst="line">
              <a:avLst/>
            </a:prstGeom>
            <a:ln w="9525" cap="flat" cmpd="sng">
              <a:solidFill>
                <a:schemeClr val="tx1"/>
              </a:solidFill>
              <a:prstDash val="solid"/>
              <a:headEnd type="none" w="med" len="med"/>
              <a:tailEnd type="triangle" w="med" len="med"/>
            </a:ln>
          </p:spPr>
        </p:sp>
        <p:sp>
          <p:nvSpPr>
            <p:cNvPr id="27668" name="Line 18"/>
            <p:cNvSpPr/>
            <p:nvPr/>
          </p:nvSpPr>
          <p:spPr>
            <a:xfrm flipH="1">
              <a:off x="3237" y="3709"/>
              <a:ext cx="244" cy="0"/>
            </a:xfrm>
            <a:prstGeom prst="line">
              <a:avLst/>
            </a:prstGeom>
            <a:ln w="9525" cap="flat" cmpd="sng">
              <a:solidFill>
                <a:schemeClr val="tx1"/>
              </a:solidFill>
              <a:prstDash val="solid"/>
              <a:headEnd type="triangle" w="med" len="med"/>
              <a:tailEnd type="none" w="med" len="med"/>
            </a:ln>
          </p:spPr>
        </p:sp>
        <p:sp>
          <p:nvSpPr>
            <p:cNvPr id="27669" name="Text Box 19"/>
            <p:cNvSpPr txBox="1"/>
            <p:nvPr/>
          </p:nvSpPr>
          <p:spPr>
            <a:xfrm>
              <a:off x="2270" y="3574"/>
              <a:ext cx="1098" cy="295"/>
            </a:xfrm>
            <a:prstGeom prst="rect">
              <a:avLst/>
            </a:prstGeom>
            <a:noFill/>
            <a:ln w="9525">
              <a:noFill/>
            </a:ln>
          </p:spPr>
          <p:txBody>
            <a:bodyPr>
              <a:spAutoFit/>
            </a:bodyPr>
            <a:lstStyle/>
            <a:p>
              <a:pPr>
                <a:spcBef>
                  <a:spcPct val="50000"/>
                </a:spcBef>
              </a:pPr>
              <a:r>
                <a:rPr lang="zh-CN" altLang="en-US" sz="2200" dirty="0">
                  <a:solidFill>
                    <a:srgbClr val="0033CC"/>
                  </a:solidFill>
                  <a:latin typeface="Arial" panose="020B0604020202020204" pitchFamily="34" charset="0"/>
                  <a:ea typeface="黑体" panose="02010609060101010101" pitchFamily="49" charset="-122"/>
                </a:rPr>
                <a:t>第</a:t>
              </a:r>
              <a:r>
                <a:rPr lang="en-US" altLang="zh-CN" sz="2200" dirty="0">
                  <a:solidFill>
                    <a:srgbClr val="0033CC"/>
                  </a:solidFill>
                  <a:latin typeface="Arial" panose="020B0604020202020204" pitchFamily="34" charset="0"/>
                  <a:ea typeface="黑体" panose="02010609060101010101" pitchFamily="49" charset="-122"/>
                </a:rPr>
                <a:t>2</a:t>
              </a:r>
              <a:r>
                <a:rPr lang="zh-CN" altLang="en-US" sz="2200" dirty="0">
                  <a:solidFill>
                    <a:srgbClr val="0033CC"/>
                  </a:solidFill>
                  <a:latin typeface="Arial" panose="020B0604020202020204" pitchFamily="34" charset="0"/>
                  <a:ea typeface="黑体" panose="02010609060101010101" pitchFamily="49" charset="-122"/>
                </a:rPr>
                <a:t>个半字</a:t>
              </a:r>
              <a:endParaRPr lang="zh-CN" altLang="en-US" sz="2200" dirty="0">
                <a:solidFill>
                  <a:srgbClr val="0033CC"/>
                </a:solidFill>
                <a:latin typeface="Arial" panose="020B0604020202020204" pitchFamily="34" charset="0"/>
                <a:ea typeface="黑体" panose="02010609060101010101" pitchFamily="49" charset="-122"/>
              </a:endParaRPr>
            </a:p>
          </p:txBody>
        </p:sp>
        <p:sp>
          <p:nvSpPr>
            <p:cNvPr id="27670" name="Line 20"/>
            <p:cNvSpPr/>
            <p:nvPr/>
          </p:nvSpPr>
          <p:spPr>
            <a:xfrm flipH="1">
              <a:off x="3486" y="3715"/>
              <a:ext cx="213" cy="0"/>
            </a:xfrm>
            <a:prstGeom prst="line">
              <a:avLst/>
            </a:prstGeom>
            <a:ln w="9525" cap="flat" cmpd="sng">
              <a:solidFill>
                <a:schemeClr val="tx1"/>
              </a:solidFill>
              <a:prstDash val="solid"/>
              <a:headEnd type="none" w="med" len="med"/>
              <a:tailEnd type="triangle" w="med" len="med"/>
            </a:ln>
          </p:spPr>
        </p:sp>
        <p:sp>
          <p:nvSpPr>
            <p:cNvPr id="27671" name="Line 21"/>
            <p:cNvSpPr/>
            <p:nvPr/>
          </p:nvSpPr>
          <p:spPr>
            <a:xfrm flipH="1">
              <a:off x="4639" y="3715"/>
              <a:ext cx="244" cy="0"/>
            </a:xfrm>
            <a:prstGeom prst="line">
              <a:avLst/>
            </a:prstGeom>
            <a:ln w="9525" cap="flat" cmpd="sng">
              <a:solidFill>
                <a:schemeClr val="tx1"/>
              </a:solidFill>
              <a:prstDash val="solid"/>
              <a:headEnd type="triangle" w="med" len="med"/>
              <a:tailEnd type="none" w="med" len="med"/>
            </a:ln>
          </p:spPr>
        </p:sp>
        <p:sp>
          <p:nvSpPr>
            <p:cNvPr id="27672" name="Text Box 22"/>
            <p:cNvSpPr txBox="1"/>
            <p:nvPr/>
          </p:nvSpPr>
          <p:spPr>
            <a:xfrm>
              <a:off x="3699" y="3580"/>
              <a:ext cx="1098" cy="295"/>
            </a:xfrm>
            <a:prstGeom prst="rect">
              <a:avLst/>
            </a:prstGeom>
            <a:noFill/>
            <a:ln w="9525">
              <a:noFill/>
            </a:ln>
          </p:spPr>
          <p:txBody>
            <a:bodyPr>
              <a:spAutoFit/>
            </a:bodyPr>
            <a:lstStyle/>
            <a:p>
              <a:pPr>
                <a:spcBef>
                  <a:spcPct val="50000"/>
                </a:spcBef>
              </a:pPr>
              <a:r>
                <a:rPr lang="zh-CN" altLang="en-US" sz="2200" dirty="0">
                  <a:solidFill>
                    <a:srgbClr val="0033CC"/>
                  </a:solidFill>
                  <a:latin typeface="Arial" panose="020B0604020202020204" pitchFamily="34" charset="0"/>
                  <a:ea typeface="黑体" panose="02010609060101010101" pitchFamily="49" charset="-122"/>
                </a:rPr>
                <a:t>第</a:t>
              </a:r>
              <a:r>
                <a:rPr lang="en-US" altLang="zh-CN" sz="2200" dirty="0">
                  <a:solidFill>
                    <a:srgbClr val="0033CC"/>
                  </a:solidFill>
                  <a:latin typeface="Arial" panose="020B0604020202020204" pitchFamily="34" charset="0"/>
                  <a:ea typeface="黑体" panose="02010609060101010101" pitchFamily="49" charset="-122"/>
                </a:rPr>
                <a:t>3</a:t>
              </a:r>
              <a:r>
                <a:rPr lang="zh-CN" altLang="en-US" sz="2200" dirty="0">
                  <a:solidFill>
                    <a:srgbClr val="0033CC"/>
                  </a:solidFill>
                  <a:latin typeface="Arial" panose="020B0604020202020204" pitchFamily="34" charset="0"/>
                  <a:ea typeface="黑体" panose="02010609060101010101" pitchFamily="49" charset="-122"/>
                </a:rPr>
                <a:t>个半字</a:t>
              </a:r>
              <a:endParaRPr lang="zh-CN" altLang="en-US" sz="2200" dirty="0">
                <a:solidFill>
                  <a:srgbClr val="0033CC"/>
                </a:solidFill>
                <a:latin typeface="Arial" panose="020B0604020202020204" pitchFamily="34" charset="0"/>
                <a:ea typeface="黑体" panose="02010609060101010101" pitchFamily="49" charset="-122"/>
              </a:endParaRPr>
            </a:p>
          </p:txBody>
        </p:sp>
        <p:grpSp>
          <p:nvGrpSpPr>
            <p:cNvPr id="27673" name="Group 23"/>
            <p:cNvGrpSpPr/>
            <p:nvPr/>
          </p:nvGrpSpPr>
          <p:grpSpPr>
            <a:xfrm>
              <a:off x="108" y="720"/>
              <a:ext cx="5316" cy="2581"/>
              <a:chOff x="108" y="720"/>
              <a:chExt cx="5316" cy="2581"/>
            </a:xfrm>
          </p:grpSpPr>
          <p:grpSp>
            <p:nvGrpSpPr>
              <p:cNvPr id="27674" name="Group 24"/>
              <p:cNvGrpSpPr/>
              <p:nvPr/>
            </p:nvGrpSpPr>
            <p:grpSpPr>
              <a:xfrm>
                <a:off x="108" y="896"/>
                <a:ext cx="4774" cy="2405"/>
                <a:chOff x="108" y="896"/>
                <a:chExt cx="4774" cy="2405"/>
              </a:xfrm>
            </p:grpSpPr>
            <p:sp>
              <p:nvSpPr>
                <p:cNvPr id="27676" name="Rectangle 25" descr="新闻纸"/>
                <p:cNvSpPr/>
                <p:nvPr/>
              </p:nvSpPr>
              <p:spPr>
                <a:xfrm>
                  <a:off x="698" y="896"/>
                  <a:ext cx="1368" cy="366"/>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7677" name="Line 26"/>
                <p:cNvSpPr/>
                <p:nvPr/>
              </p:nvSpPr>
              <p:spPr>
                <a:xfrm>
                  <a:off x="1355" y="896"/>
                  <a:ext cx="0" cy="366"/>
                </a:xfrm>
                <a:prstGeom prst="line">
                  <a:avLst/>
                </a:prstGeom>
                <a:ln w="9525" cap="flat" cmpd="sng">
                  <a:solidFill>
                    <a:schemeClr val="tx1"/>
                  </a:solidFill>
                  <a:prstDash val="solid"/>
                  <a:headEnd type="none" w="med" len="med"/>
                  <a:tailEnd type="none" w="med" len="med"/>
                </a:ln>
              </p:spPr>
            </p:sp>
            <p:sp>
              <p:nvSpPr>
                <p:cNvPr id="27678" name="Text Box 27"/>
                <p:cNvSpPr txBox="1"/>
                <p:nvPr/>
              </p:nvSpPr>
              <p:spPr>
                <a:xfrm>
                  <a:off x="108" y="914"/>
                  <a:ext cx="696" cy="294"/>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RR</a:t>
                  </a:r>
                  <a:r>
                    <a:rPr lang="zh-CN" altLang="en-US" sz="2200" dirty="0">
                      <a:solidFill>
                        <a:schemeClr val="tx1"/>
                      </a:solidFill>
                      <a:latin typeface="Arial" panose="020B0604020202020204" pitchFamily="34" charset="0"/>
                      <a:ea typeface="黑体" panose="02010609060101010101" pitchFamily="49" charset="-122"/>
                    </a:rPr>
                    <a:t>型</a:t>
                  </a:r>
                  <a:endParaRPr lang="zh-CN" altLang="en-US" sz="2200" dirty="0">
                    <a:solidFill>
                      <a:schemeClr val="tx1"/>
                    </a:solidFill>
                    <a:latin typeface="Arial" panose="020B0604020202020204" pitchFamily="34" charset="0"/>
                    <a:ea typeface="黑体" panose="02010609060101010101" pitchFamily="49" charset="-122"/>
                  </a:endParaRPr>
                </a:p>
              </p:txBody>
            </p:sp>
            <p:sp>
              <p:nvSpPr>
                <p:cNvPr id="27679" name="Line 28"/>
                <p:cNvSpPr/>
                <p:nvPr/>
              </p:nvSpPr>
              <p:spPr>
                <a:xfrm>
                  <a:off x="1737" y="896"/>
                  <a:ext cx="0" cy="366"/>
                </a:xfrm>
                <a:prstGeom prst="line">
                  <a:avLst/>
                </a:prstGeom>
                <a:ln w="9525" cap="flat" cmpd="sng">
                  <a:solidFill>
                    <a:schemeClr val="tx1"/>
                  </a:solidFill>
                  <a:prstDash val="solid"/>
                  <a:headEnd type="none" w="med" len="med"/>
                  <a:tailEnd type="none" w="med" len="med"/>
                </a:ln>
              </p:spPr>
            </p:sp>
            <p:sp>
              <p:nvSpPr>
                <p:cNvPr id="27680" name="Text Box 29"/>
                <p:cNvSpPr txBox="1"/>
                <p:nvPr/>
              </p:nvSpPr>
              <p:spPr>
                <a:xfrm>
                  <a:off x="813" y="932"/>
                  <a:ext cx="439"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OP</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81" name="Text Box 30"/>
                <p:cNvSpPr txBox="1"/>
                <p:nvPr/>
              </p:nvSpPr>
              <p:spPr>
                <a:xfrm>
                  <a:off x="1370" y="920"/>
                  <a:ext cx="439"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R1</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682" name="Text Box 31"/>
                <p:cNvSpPr txBox="1"/>
                <p:nvPr/>
              </p:nvSpPr>
              <p:spPr>
                <a:xfrm>
                  <a:off x="1721" y="932"/>
                  <a:ext cx="439"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R2</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683" name="Rectangle 32" descr="新闻纸"/>
                <p:cNvSpPr/>
                <p:nvPr/>
              </p:nvSpPr>
              <p:spPr>
                <a:xfrm>
                  <a:off x="705" y="1387"/>
                  <a:ext cx="2782" cy="366"/>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7684" name="Line 33"/>
                <p:cNvSpPr/>
                <p:nvPr/>
              </p:nvSpPr>
              <p:spPr>
                <a:xfrm>
                  <a:off x="1362" y="1387"/>
                  <a:ext cx="0" cy="366"/>
                </a:xfrm>
                <a:prstGeom prst="line">
                  <a:avLst/>
                </a:prstGeom>
                <a:ln w="9525" cap="flat" cmpd="sng">
                  <a:solidFill>
                    <a:schemeClr val="tx1"/>
                  </a:solidFill>
                  <a:prstDash val="solid"/>
                  <a:headEnd type="none" w="med" len="med"/>
                  <a:tailEnd type="none" w="med" len="med"/>
                </a:ln>
              </p:spPr>
            </p:sp>
            <p:sp>
              <p:nvSpPr>
                <p:cNvPr id="27685" name="Text Box 34"/>
                <p:cNvSpPr txBox="1"/>
                <p:nvPr/>
              </p:nvSpPr>
              <p:spPr>
                <a:xfrm>
                  <a:off x="115" y="1405"/>
                  <a:ext cx="696" cy="294"/>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RX</a:t>
                  </a:r>
                  <a:r>
                    <a:rPr lang="zh-CN" altLang="en-US" sz="2200" dirty="0">
                      <a:solidFill>
                        <a:schemeClr val="tx1"/>
                      </a:solidFill>
                      <a:latin typeface="Arial" panose="020B0604020202020204" pitchFamily="34" charset="0"/>
                      <a:ea typeface="黑体" panose="02010609060101010101" pitchFamily="49" charset="-122"/>
                    </a:rPr>
                    <a:t>型</a:t>
                  </a:r>
                  <a:endParaRPr lang="zh-CN" altLang="en-US" sz="2200" dirty="0">
                    <a:solidFill>
                      <a:schemeClr val="tx1"/>
                    </a:solidFill>
                    <a:latin typeface="Arial" panose="020B0604020202020204" pitchFamily="34" charset="0"/>
                    <a:ea typeface="黑体" panose="02010609060101010101" pitchFamily="49" charset="-122"/>
                  </a:endParaRPr>
                </a:p>
              </p:txBody>
            </p:sp>
            <p:sp>
              <p:nvSpPr>
                <p:cNvPr id="27686" name="Line 35"/>
                <p:cNvSpPr/>
                <p:nvPr/>
              </p:nvSpPr>
              <p:spPr>
                <a:xfrm>
                  <a:off x="1744" y="1387"/>
                  <a:ext cx="0" cy="366"/>
                </a:xfrm>
                <a:prstGeom prst="line">
                  <a:avLst/>
                </a:prstGeom>
                <a:ln w="9525" cap="flat" cmpd="sng">
                  <a:solidFill>
                    <a:schemeClr val="tx1"/>
                  </a:solidFill>
                  <a:prstDash val="solid"/>
                  <a:headEnd type="none" w="med" len="med"/>
                  <a:tailEnd type="none" w="med" len="med"/>
                </a:ln>
              </p:spPr>
            </p:sp>
            <p:sp>
              <p:nvSpPr>
                <p:cNvPr id="27687" name="Text Box 36"/>
                <p:cNvSpPr txBox="1"/>
                <p:nvPr/>
              </p:nvSpPr>
              <p:spPr>
                <a:xfrm>
                  <a:off x="820" y="1424"/>
                  <a:ext cx="439"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OP</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88" name="Text Box 37"/>
                <p:cNvSpPr txBox="1"/>
                <p:nvPr/>
              </p:nvSpPr>
              <p:spPr>
                <a:xfrm>
                  <a:off x="1377" y="1411"/>
                  <a:ext cx="439"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R1</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689" name="Text Box 38"/>
                <p:cNvSpPr txBox="1"/>
                <p:nvPr/>
              </p:nvSpPr>
              <p:spPr>
                <a:xfrm>
                  <a:off x="1800" y="1424"/>
                  <a:ext cx="293"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X</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690" name="Rectangle 39" descr="新闻纸"/>
                <p:cNvSpPr/>
                <p:nvPr/>
              </p:nvSpPr>
              <p:spPr>
                <a:xfrm>
                  <a:off x="711" y="1887"/>
                  <a:ext cx="2776" cy="366"/>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7691" name="Line 40"/>
                <p:cNvSpPr/>
                <p:nvPr/>
              </p:nvSpPr>
              <p:spPr>
                <a:xfrm>
                  <a:off x="1368" y="1887"/>
                  <a:ext cx="1" cy="366"/>
                </a:xfrm>
                <a:prstGeom prst="line">
                  <a:avLst/>
                </a:prstGeom>
                <a:ln w="9525" cap="flat" cmpd="sng">
                  <a:solidFill>
                    <a:schemeClr val="tx1"/>
                  </a:solidFill>
                  <a:prstDash val="solid"/>
                  <a:headEnd type="none" w="med" len="med"/>
                  <a:tailEnd type="none" w="med" len="med"/>
                </a:ln>
              </p:spPr>
            </p:sp>
            <p:sp>
              <p:nvSpPr>
                <p:cNvPr id="27692" name="Text Box 41"/>
                <p:cNvSpPr txBox="1"/>
                <p:nvPr/>
              </p:nvSpPr>
              <p:spPr>
                <a:xfrm>
                  <a:off x="121" y="1904"/>
                  <a:ext cx="696"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RS</a:t>
                  </a:r>
                  <a:r>
                    <a:rPr lang="zh-CN" altLang="en-US" sz="2200" dirty="0">
                      <a:solidFill>
                        <a:schemeClr val="tx1"/>
                      </a:solidFill>
                      <a:latin typeface="Arial" panose="020B0604020202020204" pitchFamily="34" charset="0"/>
                      <a:ea typeface="黑体" panose="02010609060101010101" pitchFamily="49" charset="-122"/>
                    </a:rPr>
                    <a:t>型</a:t>
                  </a:r>
                  <a:endParaRPr lang="zh-CN" altLang="en-US" sz="2200" dirty="0">
                    <a:solidFill>
                      <a:schemeClr val="tx1"/>
                    </a:solidFill>
                    <a:latin typeface="Arial" panose="020B0604020202020204" pitchFamily="34" charset="0"/>
                    <a:ea typeface="黑体" panose="02010609060101010101" pitchFamily="49" charset="-122"/>
                  </a:endParaRPr>
                </a:p>
              </p:txBody>
            </p:sp>
            <p:sp>
              <p:nvSpPr>
                <p:cNvPr id="27693" name="Line 42"/>
                <p:cNvSpPr/>
                <p:nvPr/>
              </p:nvSpPr>
              <p:spPr>
                <a:xfrm flipH="1">
                  <a:off x="1746" y="1887"/>
                  <a:ext cx="4" cy="366"/>
                </a:xfrm>
                <a:prstGeom prst="line">
                  <a:avLst/>
                </a:prstGeom>
                <a:ln w="9525" cap="flat" cmpd="sng">
                  <a:solidFill>
                    <a:schemeClr val="tx1"/>
                  </a:solidFill>
                  <a:prstDash val="solid"/>
                  <a:headEnd type="none" w="med" len="med"/>
                  <a:tailEnd type="none" w="med" len="med"/>
                </a:ln>
              </p:spPr>
            </p:sp>
            <p:sp>
              <p:nvSpPr>
                <p:cNvPr id="27694" name="Text Box 43"/>
                <p:cNvSpPr txBox="1"/>
                <p:nvPr/>
              </p:nvSpPr>
              <p:spPr>
                <a:xfrm>
                  <a:off x="827" y="1923"/>
                  <a:ext cx="438"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OP</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695" name="Text Box 44"/>
                <p:cNvSpPr txBox="1"/>
                <p:nvPr/>
              </p:nvSpPr>
              <p:spPr>
                <a:xfrm>
                  <a:off x="1383" y="1911"/>
                  <a:ext cx="439"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R1</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696" name="Text Box 45"/>
                <p:cNvSpPr txBox="1"/>
                <p:nvPr/>
              </p:nvSpPr>
              <p:spPr>
                <a:xfrm>
                  <a:off x="1734" y="1923"/>
                  <a:ext cx="439"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R3</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697" name="Rectangle 46" descr="新闻纸"/>
                <p:cNvSpPr/>
                <p:nvPr/>
              </p:nvSpPr>
              <p:spPr>
                <a:xfrm>
                  <a:off x="723" y="2398"/>
                  <a:ext cx="2764" cy="366"/>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7698" name="Line 47"/>
                <p:cNvSpPr/>
                <p:nvPr/>
              </p:nvSpPr>
              <p:spPr>
                <a:xfrm>
                  <a:off x="1380" y="2398"/>
                  <a:ext cx="1" cy="366"/>
                </a:xfrm>
                <a:prstGeom prst="line">
                  <a:avLst/>
                </a:prstGeom>
                <a:ln w="9525" cap="flat" cmpd="sng">
                  <a:solidFill>
                    <a:schemeClr val="tx1"/>
                  </a:solidFill>
                  <a:prstDash val="solid"/>
                  <a:headEnd type="none" w="med" len="med"/>
                  <a:tailEnd type="none" w="med" len="med"/>
                </a:ln>
              </p:spPr>
            </p:sp>
            <p:sp>
              <p:nvSpPr>
                <p:cNvPr id="27699" name="Text Box 48"/>
                <p:cNvSpPr txBox="1"/>
                <p:nvPr/>
              </p:nvSpPr>
              <p:spPr>
                <a:xfrm>
                  <a:off x="133" y="2416"/>
                  <a:ext cx="696"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SI</a:t>
                  </a:r>
                  <a:r>
                    <a:rPr lang="zh-CN" altLang="en-US" sz="2200" dirty="0">
                      <a:solidFill>
                        <a:schemeClr val="tx1"/>
                      </a:solidFill>
                      <a:latin typeface="Arial" panose="020B0604020202020204" pitchFamily="34" charset="0"/>
                      <a:ea typeface="黑体" panose="02010609060101010101" pitchFamily="49" charset="-122"/>
                    </a:rPr>
                    <a:t>型</a:t>
                  </a:r>
                  <a:endParaRPr lang="zh-CN" altLang="en-US" sz="2200" dirty="0">
                    <a:solidFill>
                      <a:schemeClr val="tx1"/>
                    </a:solidFill>
                    <a:latin typeface="Arial" panose="020B0604020202020204" pitchFamily="34" charset="0"/>
                    <a:ea typeface="黑体" panose="02010609060101010101" pitchFamily="49" charset="-122"/>
                  </a:endParaRPr>
                </a:p>
              </p:txBody>
            </p:sp>
            <p:sp>
              <p:nvSpPr>
                <p:cNvPr id="27700" name="Text Box 49"/>
                <p:cNvSpPr txBox="1"/>
                <p:nvPr/>
              </p:nvSpPr>
              <p:spPr>
                <a:xfrm>
                  <a:off x="838" y="2434"/>
                  <a:ext cx="439"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OP</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701" name="Text Box 50"/>
                <p:cNvSpPr txBox="1"/>
                <p:nvPr/>
              </p:nvSpPr>
              <p:spPr>
                <a:xfrm>
                  <a:off x="1666" y="2441"/>
                  <a:ext cx="233" cy="294"/>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I</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02" name="Rectangle 51" descr="新闻纸"/>
                <p:cNvSpPr/>
                <p:nvPr/>
              </p:nvSpPr>
              <p:spPr>
                <a:xfrm>
                  <a:off x="720" y="2935"/>
                  <a:ext cx="4162" cy="366"/>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27703" name="Line 52"/>
                <p:cNvSpPr/>
                <p:nvPr/>
              </p:nvSpPr>
              <p:spPr>
                <a:xfrm>
                  <a:off x="1377" y="2935"/>
                  <a:ext cx="1" cy="366"/>
                </a:xfrm>
                <a:prstGeom prst="line">
                  <a:avLst/>
                </a:prstGeom>
                <a:ln w="9525" cap="flat" cmpd="sng">
                  <a:solidFill>
                    <a:schemeClr val="tx1"/>
                  </a:solidFill>
                  <a:prstDash val="solid"/>
                  <a:headEnd type="none" w="med" len="med"/>
                  <a:tailEnd type="none" w="med" len="med"/>
                </a:ln>
              </p:spPr>
            </p:sp>
            <p:sp>
              <p:nvSpPr>
                <p:cNvPr id="27704" name="Text Box 53"/>
                <p:cNvSpPr txBox="1"/>
                <p:nvPr/>
              </p:nvSpPr>
              <p:spPr>
                <a:xfrm>
                  <a:off x="130" y="2954"/>
                  <a:ext cx="697" cy="294"/>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SS</a:t>
                  </a:r>
                  <a:r>
                    <a:rPr lang="zh-CN" altLang="en-US" sz="2200" dirty="0">
                      <a:solidFill>
                        <a:schemeClr val="tx1"/>
                      </a:solidFill>
                      <a:latin typeface="Arial" panose="020B0604020202020204" pitchFamily="34" charset="0"/>
                      <a:ea typeface="黑体" panose="02010609060101010101" pitchFamily="49" charset="-122"/>
                    </a:rPr>
                    <a:t>型</a:t>
                  </a:r>
                  <a:endParaRPr lang="zh-CN" altLang="en-US" sz="2200" dirty="0">
                    <a:solidFill>
                      <a:schemeClr val="tx1"/>
                    </a:solidFill>
                    <a:latin typeface="Arial" panose="020B0604020202020204" pitchFamily="34" charset="0"/>
                    <a:ea typeface="黑体" panose="02010609060101010101" pitchFamily="49" charset="-122"/>
                  </a:endParaRPr>
                </a:p>
              </p:txBody>
            </p:sp>
            <p:sp>
              <p:nvSpPr>
                <p:cNvPr id="27705" name="Line 54"/>
                <p:cNvSpPr/>
                <p:nvPr/>
              </p:nvSpPr>
              <p:spPr>
                <a:xfrm>
                  <a:off x="2079" y="2935"/>
                  <a:ext cx="1" cy="366"/>
                </a:xfrm>
                <a:prstGeom prst="line">
                  <a:avLst/>
                </a:prstGeom>
                <a:ln w="9525" cap="flat" cmpd="sng">
                  <a:solidFill>
                    <a:schemeClr val="tx1"/>
                  </a:solidFill>
                  <a:prstDash val="solid"/>
                  <a:headEnd type="none" w="med" len="med"/>
                  <a:tailEnd type="none" w="med" len="med"/>
                </a:ln>
              </p:spPr>
            </p:sp>
            <p:sp>
              <p:nvSpPr>
                <p:cNvPr id="27706" name="Text Box 55"/>
                <p:cNvSpPr txBox="1"/>
                <p:nvPr/>
              </p:nvSpPr>
              <p:spPr>
                <a:xfrm>
                  <a:off x="835" y="2971"/>
                  <a:ext cx="439" cy="295"/>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OP</a:t>
                  </a:r>
                  <a:endParaRPr lang="en-US" altLang="zh-CN" sz="2200" dirty="0">
                    <a:solidFill>
                      <a:schemeClr val="tx1"/>
                    </a:solidFill>
                    <a:latin typeface="Arial" panose="020B0604020202020204" pitchFamily="34" charset="0"/>
                    <a:ea typeface="黑体" panose="02010609060101010101" pitchFamily="49" charset="-122"/>
                  </a:endParaRPr>
                </a:p>
              </p:txBody>
            </p:sp>
            <p:sp>
              <p:nvSpPr>
                <p:cNvPr id="27707" name="Line 56"/>
                <p:cNvSpPr/>
                <p:nvPr/>
              </p:nvSpPr>
              <p:spPr>
                <a:xfrm>
                  <a:off x="2079" y="1387"/>
                  <a:ext cx="0" cy="366"/>
                </a:xfrm>
                <a:prstGeom prst="line">
                  <a:avLst/>
                </a:prstGeom>
                <a:ln w="9525" cap="flat" cmpd="sng">
                  <a:solidFill>
                    <a:schemeClr val="tx1"/>
                  </a:solidFill>
                  <a:prstDash val="solid"/>
                  <a:headEnd type="none" w="med" len="med"/>
                  <a:tailEnd type="none" w="med" len="med"/>
                </a:ln>
              </p:spPr>
            </p:sp>
            <p:sp>
              <p:nvSpPr>
                <p:cNvPr id="27708" name="Line 57"/>
                <p:cNvSpPr/>
                <p:nvPr/>
              </p:nvSpPr>
              <p:spPr>
                <a:xfrm>
                  <a:off x="2408" y="1387"/>
                  <a:ext cx="0" cy="366"/>
                </a:xfrm>
                <a:prstGeom prst="line">
                  <a:avLst/>
                </a:prstGeom>
                <a:ln w="9525" cap="flat" cmpd="sng">
                  <a:solidFill>
                    <a:schemeClr val="tx1"/>
                  </a:solidFill>
                  <a:prstDash val="solid"/>
                  <a:headEnd type="none" w="med" len="med"/>
                  <a:tailEnd type="none" w="med" len="med"/>
                </a:ln>
              </p:spPr>
            </p:sp>
            <p:sp>
              <p:nvSpPr>
                <p:cNvPr id="27709" name="Line 58"/>
                <p:cNvSpPr/>
                <p:nvPr/>
              </p:nvSpPr>
              <p:spPr>
                <a:xfrm>
                  <a:off x="2079" y="1884"/>
                  <a:ext cx="0" cy="366"/>
                </a:xfrm>
                <a:prstGeom prst="line">
                  <a:avLst/>
                </a:prstGeom>
                <a:ln w="9525" cap="flat" cmpd="sng">
                  <a:solidFill>
                    <a:schemeClr val="tx1"/>
                  </a:solidFill>
                  <a:prstDash val="solid"/>
                  <a:headEnd type="none" w="med" len="med"/>
                  <a:tailEnd type="none" w="med" len="med"/>
                </a:ln>
              </p:spPr>
            </p:sp>
            <p:sp>
              <p:nvSpPr>
                <p:cNvPr id="27710" name="Line 59"/>
                <p:cNvSpPr/>
                <p:nvPr/>
              </p:nvSpPr>
              <p:spPr>
                <a:xfrm>
                  <a:off x="2408" y="1884"/>
                  <a:ext cx="0" cy="366"/>
                </a:xfrm>
                <a:prstGeom prst="line">
                  <a:avLst/>
                </a:prstGeom>
                <a:ln w="9525" cap="flat" cmpd="sng">
                  <a:solidFill>
                    <a:schemeClr val="tx1"/>
                  </a:solidFill>
                  <a:prstDash val="solid"/>
                  <a:headEnd type="none" w="med" len="med"/>
                  <a:tailEnd type="none" w="med" len="med"/>
                </a:ln>
              </p:spPr>
            </p:sp>
            <p:sp>
              <p:nvSpPr>
                <p:cNvPr id="27711" name="Line 60"/>
                <p:cNvSpPr/>
                <p:nvPr/>
              </p:nvSpPr>
              <p:spPr>
                <a:xfrm>
                  <a:off x="2408" y="2935"/>
                  <a:ext cx="0" cy="366"/>
                </a:xfrm>
                <a:prstGeom prst="line">
                  <a:avLst/>
                </a:prstGeom>
                <a:ln w="9525" cap="flat" cmpd="sng">
                  <a:solidFill>
                    <a:schemeClr val="tx1"/>
                  </a:solidFill>
                  <a:prstDash val="solid"/>
                  <a:headEnd type="none" w="med" len="med"/>
                  <a:tailEnd type="none" w="med" len="med"/>
                </a:ln>
              </p:spPr>
            </p:sp>
            <p:sp>
              <p:nvSpPr>
                <p:cNvPr id="27712" name="Line 61"/>
                <p:cNvSpPr/>
                <p:nvPr/>
              </p:nvSpPr>
              <p:spPr>
                <a:xfrm>
                  <a:off x="3487" y="2935"/>
                  <a:ext cx="0" cy="366"/>
                </a:xfrm>
                <a:prstGeom prst="line">
                  <a:avLst/>
                </a:prstGeom>
                <a:ln w="9525" cap="flat" cmpd="sng">
                  <a:solidFill>
                    <a:schemeClr val="tx1"/>
                  </a:solidFill>
                  <a:prstDash val="solid"/>
                  <a:headEnd type="none" w="med" len="med"/>
                  <a:tailEnd type="none" w="med" len="med"/>
                </a:ln>
              </p:spPr>
            </p:sp>
            <p:sp>
              <p:nvSpPr>
                <p:cNvPr id="27713" name="Text Box 62"/>
                <p:cNvSpPr txBox="1"/>
                <p:nvPr/>
              </p:nvSpPr>
              <p:spPr>
                <a:xfrm>
                  <a:off x="2130" y="1424"/>
                  <a:ext cx="293"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B</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14" name="Text Box 63"/>
                <p:cNvSpPr txBox="1"/>
                <p:nvPr/>
              </p:nvSpPr>
              <p:spPr>
                <a:xfrm>
                  <a:off x="2747" y="1420"/>
                  <a:ext cx="293"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D</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15" name="Text Box 64"/>
                <p:cNvSpPr txBox="1"/>
                <p:nvPr/>
              </p:nvSpPr>
              <p:spPr>
                <a:xfrm>
                  <a:off x="2124" y="1923"/>
                  <a:ext cx="294"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B</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16" name="Text Box 65"/>
                <p:cNvSpPr txBox="1"/>
                <p:nvPr/>
              </p:nvSpPr>
              <p:spPr>
                <a:xfrm>
                  <a:off x="2741" y="1920"/>
                  <a:ext cx="293"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D</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17" name="Line 66"/>
                <p:cNvSpPr/>
                <p:nvPr/>
              </p:nvSpPr>
              <p:spPr>
                <a:xfrm>
                  <a:off x="2079" y="2398"/>
                  <a:ext cx="0" cy="366"/>
                </a:xfrm>
                <a:prstGeom prst="line">
                  <a:avLst/>
                </a:prstGeom>
                <a:ln w="9525" cap="flat" cmpd="sng">
                  <a:solidFill>
                    <a:schemeClr val="tx1"/>
                  </a:solidFill>
                  <a:prstDash val="solid"/>
                  <a:headEnd type="none" w="med" len="med"/>
                  <a:tailEnd type="none" w="med" len="med"/>
                </a:ln>
              </p:spPr>
            </p:sp>
            <p:sp>
              <p:nvSpPr>
                <p:cNvPr id="27718" name="Line 67"/>
                <p:cNvSpPr/>
                <p:nvPr/>
              </p:nvSpPr>
              <p:spPr>
                <a:xfrm>
                  <a:off x="2408" y="2398"/>
                  <a:ext cx="0" cy="366"/>
                </a:xfrm>
                <a:prstGeom prst="line">
                  <a:avLst/>
                </a:prstGeom>
                <a:ln w="9525" cap="flat" cmpd="sng">
                  <a:solidFill>
                    <a:schemeClr val="tx1"/>
                  </a:solidFill>
                  <a:prstDash val="solid"/>
                  <a:headEnd type="none" w="med" len="med"/>
                  <a:tailEnd type="none" w="med" len="med"/>
                </a:ln>
              </p:spPr>
            </p:sp>
            <p:sp>
              <p:nvSpPr>
                <p:cNvPr id="27719" name="Text Box 68"/>
                <p:cNvSpPr txBox="1"/>
                <p:nvPr/>
              </p:nvSpPr>
              <p:spPr>
                <a:xfrm>
                  <a:off x="2124" y="2446"/>
                  <a:ext cx="294"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B</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20" name="Text Box 69"/>
                <p:cNvSpPr txBox="1"/>
                <p:nvPr/>
              </p:nvSpPr>
              <p:spPr>
                <a:xfrm>
                  <a:off x="2741" y="2443"/>
                  <a:ext cx="293"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D</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21" name="Line 70"/>
                <p:cNvSpPr/>
                <p:nvPr/>
              </p:nvSpPr>
              <p:spPr>
                <a:xfrm>
                  <a:off x="3840" y="2935"/>
                  <a:ext cx="0" cy="366"/>
                </a:xfrm>
                <a:prstGeom prst="line">
                  <a:avLst/>
                </a:prstGeom>
                <a:ln w="9525" cap="flat" cmpd="sng">
                  <a:solidFill>
                    <a:schemeClr val="tx1"/>
                  </a:solidFill>
                  <a:prstDash val="solid"/>
                  <a:headEnd type="none" w="med" len="med"/>
                  <a:tailEnd type="none" w="med" len="med"/>
                </a:ln>
              </p:spPr>
            </p:sp>
            <p:sp>
              <p:nvSpPr>
                <p:cNvPr id="27722" name="Text Box 71"/>
                <p:cNvSpPr txBox="1"/>
                <p:nvPr/>
              </p:nvSpPr>
              <p:spPr>
                <a:xfrm>
                  <a:off x="1666" y="2962"/>
                  <a:ext cx="233"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L</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23" name="Text Box 72"/>
                <p:cNvSpPr txBox="1"/>
                <p:nvPr/>
              </p:nvSpPr>
              <p:spPr>
                <a:xfrm>
                  <a:off x="2066" y="2968"/>
                  <a:ext cx="352"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B1</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24" name="Text Box 73"/>
                <p:cNvSpPr txBox="1"/>
                <p:nvPr/>
              </p:nvSpPr>
              <p:spPr>
                <a:xfrm>
                  <a:off x="2741" y="2964"/>
                  <a:ext cx="432"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D1</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25" name="Text Box 74"/>
                <p:cNvSpPr txBox="1"/>
                <p:nvPr/>
              </p:nvSpPr>
              <p:spPr>
                <a:xfrm>
                  <a:off x="3487" y="2980"/>
                  <a:ext cx="356" cy="295"/>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B2</a:t>
                  </a:r>
                  <a:endParaRPr lang="en-US" altLang="zh-CN" sz="2200" dirty="0">
                    <a:solidFill>
                      <a:srgbClr val="0033CC"/>
                    </a:solidFill>
                    <a:latin typeface="Arial" panose="020B0604020202020204" pitchFamily="34" charset="0"/>
                    <a:ea typeface="黑体" panose="02010609060101010101" pitchFamily="49" charset="-122"/>
                  </a:endParaRPr>
                </a:p>
              </p:txBody>
            </p:sp>
            <p:sp>
              <p:nvSpPr>
                <p:cNvPr id="27726" name="Text Box 75"/>
                <p:cNvSpPr txBox="1"/>
                <p:nvPr/>
              </p:nvSpPr>
              <p:spPr>
                <a:xfrm>
                  <a:off x="4185" y="2977"/>
                  <a:ext cx="441" cy="294"/>
                </a:xfrm>
                <a:prstGeom prst="rect">
                  <a:avLst/>
                </a:prstGeom>
                <a:noFill/>
                <a:ln w="9525">
                  <a:noFill/>
                </a:ln>
              </p:spPr>
              <p:txBody>
                <a:bodyPr>
                  <a:spAutoFit/>
                </a:bodyPr>
                <a:lstStyle/>
                <a:p>
                  <a:pPr>
                    <a:spcBef>
                      <a:spcPct val="50000"/>
                    </a:spcBef>
                  </a:pPr>
                  <a:r>
                    <a:rPr lang="en-US" altLang="zh-CN" sz="2200" dirty="0">
                      <a:solidFill>
                        <a:srgbClr val="0033CC"/>
                      </a:solidFill>
                      <a:latin typeface="Arial" panose="020B0604020202020204" pitchFamily="34" charset="0"/>
                      <a:ea typeface="黑体" panose="02010609060101010101" pitchFamily="49" charset="-122"/>
                    </a:rPr>
                    <a:t>D2</a:t>
                  </a:r>
                  <a:endParaRPr lang="en-US" altLang="zh-CN" sz="2200" dirty="0">
                    <a:solidFill>
                      <a:srgbClr val="0033CC"/>
                    </a:solidFill>
                    <a:latin typeface="Arial" panose="020B0604020202020204" pitchFamily="34" charset="0"/>
                    <a:ea typeface="黑体" panose="02010609060101010101" pitchFamily="49" charset="-122"/>
                  </a:endParaRPr>
                </a:p>
              </p:txBody>
            </p:sp>
          </p:grpSp>
          <p:sp>
            <p:nvSpPr>
              <p:cNvPr id="27675" name="Text Box 76"/>
              <p:cNvSpPr txBox="1"/>
              <p:nvPr/>
            </p:nvSpPr>
            <p:spPr>
              <a:xfrm>
                <a:off x="4004" y="720"/>
                <a:ext cx="1420" cy="2032"/>
              </a:xfrm>
              <a:prstGeom prst="rect">
                <a:avLst/>
              </a:prstGeom>
              <a:noFill/>
              <a:ln w="9525">
                <a:noFill/>
              </a:ln>
            </p:spPr>
            <p:txBody>
              <a:bodyPr>
                <a:spAutoFit/>
              </a:bodyPr>
              <a:lstStyle/>
              <a:p>
                <a:pPr>
                  <a:spcBef>
                    <a:spcPct val="50000"/>
                  </a:spcBef>
                </a:pPr>
                <a:r>
                  <a:rPr lang="en-US" altLang="zh-CN" sz="2200" dirty="0">
                    <a:solidFill>
                      <a:schemeClr val="tx1"/>
                    </a:solidFill>
                    <a:latin typeface="Arial" panose="020B0604020202020204" pitchFamily="34" charset="0"/>
                    <a:ea typeface="黑体" panose="02010609060101010101" pitchFamily="49" charset="-122"/>
                  </a:rPr>
                  <a:t>Ri</a:t>
                </a:r>
                <a:r>
                  <a:rPr lang="zh-CN" altLang="en-US" sz="2200" dirty="0">
                    <a:solidFill>
                      <a:schemeClr val="tx1"/>
                    </a:solidFill>
                    <a:latin typeface="Arial" panose="020B0604020202020204" pitchFamily="34" charset="0"/>
                    <a:ea typeface="黑体" panose="02010609060101010101" pitchFamily="49" charset="-122"/>
                  </a:rPr>
                  <a:t>：寄存器</a:t>
                </a:r>
                <a:endParaRPr lang="zh-CN" altLang="en-US" sz="22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200" dirty="0">
                    <a:solidFill>
                      <a:schemeClr val="tx1"/>
                    </a:solidFill>
                    <a:latin typeface="Arial" panose="020B0604020202020204" pitchFamily="34" charset="0"/>
                    <a:ea typeface="黑体" panose="02010609060101010101" pitchFamily="49" charset="-122"/>
                  </a:rPr>
                  <a:t>X</a:t>
                </a:r>
                <a:r>
                  <a:rPr lang="zh-CN" altLang="en-US" sz="2200" dirty="0">
                    <a:solidFill>
                      <a:schemeClr val="tx1"/>
                    </a:solidFill>
                    <a:latin typeface="Arial" panose="020B0604020202020204" pitchFamily="34" charset="0"/>
                    <a:ea typeface="黑体" panose="02010609060101010101" pitchFamily="49" charset="-122"/>
                  </a:rPr>
                  <a:t>：变址器</a:t>
                </a:r>
                <a:endParaRPr lang="zh-CN" altLang="en-US" sz="22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200" dirty="0">
                    <a:solidFill>
                      <a:schemeClr val="tx1"/>
                    </a:solidFill>
                    <a:latin typeface="Arial" panose="020B0604020202020204" pitchFamily="34" charset="0"/>
                    <a:ea typeface="黑体" panose="02010609060101010101" pitchFamily="49" charset="-122"/>
                  </a:rPr>
                  <a:t>Bi</a:t>
                </a:r>
                <a:r>
                  <a:rPr lang="zh-CN" altLang="en-US" sz="2200" dirty="0">
                    <a:solidFill>
                      <a:schemeClr val="tx1"/>
                    </a:solidFill>
                    <a:latin typeface="Arial" panose="020B0604020202020204" pitchFamily="34" charset="0"/>
                    <a:ea typeface="黑体" panose="02010609060101010101" pitchFamily="49" charset="-122"/>
                  </a:rPr>
                  <a:t>：基址器</a:t>
                </a:r>
                <a:endParaRPr lang="zh-CN" altLang="en-US" sz="22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200" dirty="0">
                    <a:solidFill>
                      <a:schemeClr val="tx1"/>
                    </a:solidFill>
                    <a:latin typeface="Arial" panose="020B0604020202020204" pitchFamily="34" charset="0"/>
                    <a:ea typeface="黑体" panose="02010609060101010101" pitchFamily="49" charset="-122"/>
                  </a:rPr>
                  <a:t>Di</a:t>
                </a:r>
                <a:r>
                  <a:rPr lang="zh-CN" altLang="en-US" sz="2200" dirty="0">
                    <a:solidFill>
                      <a:schemeClr val="tx1"/>
                    </a:solidFill>
                    <a:latin typeface="Arial" panose="020B0604020202020204" pitchFamily="34" charset="0"/>
                    <a:ea typeface="黑体" panose="02010609060101010101" pitchFamily="49" charset="-122"/>
                  </a:rPr>
                  <a:t>：位移量</a:t>
                </a:r>
                <a:endParaRPr lang="zh-CN" altLang="en-US" sz="22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200" dirty="0">
                    <a:solidFill>
                      <a:schemeClr val="tx1"/>
                    </a:solidFill>
                    <a:latin typeface="Arial" panose="020B0604020202020204" pitchFamily="34" charset="0"/>
                    <a:ea typeface="黑体" panose="02010609060101010101" pitchFamily="49" charset="-122"/>
                  </a:rPr>
                  <a:t>I</a:t>
                </a:r>
                <a:r>
                  <a:rPr lang="zh-CN" altLang="en-US" sz="2200" dirty="0">
                    <a:solidFill>
                      <a:schemeClr val="tx1"/>
                    </a:solidFill>
                    <a:latin typeface="Arial" panose="020B0604020202020204" pitchFamily="34" charset="0"/>
                    <a:ea typeface="黑体" panose="02010609060101010101" pitchFamily="49" charset="-122"/>
                  </a:rPr>
                  <a:t>：立即数</a:t>
                </a:r>
                <a:endParaRPr lang="zh-CN" altLang="en-US" sz="22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200" dirty="0">
                    <a:solidFill>
                      <a:schemeClr val="tx1"/>
                    </a:solidFill>
                    <a:latin typeface="Arial" panose="020B0604020202020204" pitchFamily="34" charset="0"/>
                    <a:ea typeface="黑体" panose="02010609060101010101" pitchFamily="49" charset="-122"/>
                  </a:rPr>
                  <a:t>L</a:t>
                </a:r>
                <a:r>
                  <a:rPr lang="zh-CN" altLang="en-US" sz="2200" dirty="0">
                    <a:solidFill>
                      <a:schemeClr val="tx1"/>
                    </a:solidFill>
                    <a:latin typeface="Arial" panose="020B0604020202020204" pitchFamily="34" charset="0"/>
                    <a:ea typeface="黑体" panose="02010609060101010101" pitchFamily="49" charset="-122"/>
                  </a:rPr>
                  <a:t>：数的长度</a:t>
                </a:r>
                <a:endParaRPr lang="zh-CN" altLang="en-US" sz="2200" dirty="0">
                  <a:solidFill>
                    <a:schemeClr val="tx1"/>
                  </a:solidFill>
                  <a:latin typeface="Arial" panose="020B0604020202020204" pitchFamily="34" charset="0"/>
                  <a:ea typeface="黑体" panose="02010609060101010101" pitchFamily="49" charset="-122"/>
                </a:endParaRPr>
              </a:p>
            </p:txBody>
          </p:sp>
        </p:grpSp>
      </p:grpSp>
      <p:sp>
        <p:nvSpPr>
          <p:cNvPr id="27652" name="Text Box 78"/>
          <p:cNvSpPr txBox="1"/>
          <p:nvPr/>
        </p:nvSpPr>
        <p:spPr>
          <a:xfrm>
            <a:off x="769938" y="5354638"/>
            <a:ext cx="7364412" cy="1117600"/>
          </a:xfrm>
          <a:prstGeom prst="rect">
            <a:avLst/>
          </a:prstGeom>
          <a:noFill/>
          <a:ln w="12700">
            <a:noFill/>
          </a:ln>
        </p:spPr>
        <p:txBody>
          <a:bodyPr lIns="63500" tIns="25400" rIns="63500" bIns="25400">
            <a:spAutoFit/>
          </a:bodyPr>
          <a:lstStyle/>
          <a:p>
            <a:pPr>
              <a:spcBef>
                <a:spcPct val="25000"/>
              </a:spcBef>
            </a:pPr>
            <a:r>
              <a:rPr lang="en-US" altLang="zh-CN" sz="2000" dirty="0">
                <a:solidFill>
                  <a:srgbClr val="388A36"/>
                </a:solidFill>
                <a:latin typeface="Arial" panose="020B0604020202020204" pitchFamily="34" charset="0"/>
                <a:ea typeface="黑体" panose="02010609060101010101" pitchFamily="49" charset="-122"/>
              </a:rPr>
              <a:t>RR</a:t>
            </a:r>
            <a:r>
              <a:rPr lang="zh-CN" altLang="en-US" sz="2000" dirty="0">
                <a:solidFill>
                  <a:srgbClr val="388A36"/>
                </a:solidFill>
                <a:latin typeface="Arial" panose="020B0604020202020204" pitchFamily="34" charset="0"/>
                <a:ea typeface="黑体" panose="02010609060101010101" pitchFamily="49" charset="-122"/>
              </a:rPr>
              <a:t>：寄存器 </a:t>
            </a:r>
            <a:r>
              <a:rPr lang="en-US" altLang="zh-CN" sz="2000" dirty="0">
                <a:solidFill>
                  <a:srgbClr val="388A36"/>
                </a:solidFill>
                <a:latin typeface="Arial" panose="020B0604020202020204" pitchFamily="34" charset="0"/>
                <a:ea typeface="黑体" panose="02010609060101010101" pitchFamily="49" charset="-122"/>
              </a:rPr>
              <a:t>- </a:t>
            </a:r>
            <a:r>
              <a:rPr lang="zh-CN" altLang="en-US" sz="2000" dirty="0">
                <a:solidFill>
                  <a:srgbClr val="388A36"/>
                </a:solidFill>
                <a:latin typeface="Arial" panose="020B0604020202020204" pitchFamily="34" charset="0"/>
                <a:ea typeface="黑体" panose="02010609060101010101" pitchFamily="49" charset="-122"/>
              </a:rPr>
              <a:t>寄存器 	       	</a:t>
            </a:r>
            <a:r>
              <a:rPr lang="en-US" altLang="zh-CN" sz="2000" dirty="0">
                <a:solidFill>
                  <a:srgbClr val="388A36"/>
                </a:solidFill>
                <a:latin typeface="Arial" panose="020B0604020202020204" pitchFamily="34" charset="0"/>
                <a:ea typeface="黑体" panose="02010609060101010101" pitchFamily="49" charset="-122"/>
              </a:rPr>
              <a:t>SS</a:t>
            </a:r>
            <a:r>
              <a:rPr lang="zh-CN" altLang="en-US" sz="2000" dirty="0">
                <a:solidFill>
                  <a:srgbClr val="388A36"/>
                </a:solidFill>
                <a:latin typeface="Arial" panose="020B0604020202020204" pitchFamily="34" charset="0"/>
                <a:ea typeface="黑体" panose="02010609060101010101" pitchFamily="49" charset="-122"/>
              </a:rPr>
              <a:t>：基址存储器 </a:t>
            </a:r>
            <a:r>
              <a:rPr lang="en-US" altLang="zh-CN" sz="2000" dirty="0">
                <a:solidFill>
                  <a:srgbClr val="388A36"/>
                </a:solidFill>
                <a:latin typeface="Arial" panose="020B0604020202020204" pitchFamily="34" charset="0"/>
                <a:ea typeface="黑体" panose="02010609060101010101" pitchFamily="49" charset="-122"/>
              </a:rPr>
              <a:t>- </a:t>
            </a:r>
            <a:r>
              <a:rPr lang="zh-CN" altLang="en-US" sz="2000" dirty="0">
                <a:solidFill>
                  <a:srgbClr val="388A36"/>
                </a:solidFill>
                <a:latin typeface="Arial" panose="020B0604020202020204" pitchFamily="34" charset="0"/>
                <a:ea typeface="黑体" panose="02010609060101010101" pitchFamily="49" charset="-122"/>
              </a:rPr>
              <a:t>基址存储器</a:t>
            </a:r>
            <a:endParaRPr lang="zh-CN" altLang="en-US" sz="2000" dirty="0">
              <a:solidFill>
                <a:srgbClr val="388A36"/>
              </a:solidFill>
              <a:latin typeface="Arial" panose="020B0604020202020204" pitchFamily="34" charset="0"/>
              <a:ea typeface="黑体" panose="02010609060101010101" pitchFamily="49" charset="-122"/>
            </a:endParaRPr>
          </a:p>
          <a:p>
            <a:pPr>
              <a:spcBef>
                <a:spcPct val="25000"/>
              </a:spcBef>
            </a:pPr>
            <a:r>
              <a:rPr lang="en-US" altLang="zh-CN" sz="2000" dirty="0">
                <a:solidFill>
                  <a:srgbClr val="388A36"/>
                </a:solidFill>
                <a:latin typeface="Arial" panose="020B0604020202020204" pitchFamily="34" charset="0"/>
                <a:ea typeface="黑体" panose="02010609060101010101" pitchFamily="49" charset="-122"/>
              </a:rPr>
              <a:t>RX</a:t>
            </a:r>
            <a:r>
              <a:rPr lang="zh-CN" altLang="en-US" sz="2000" dirty="0">
                <a:solidFill>
                  <a:srgbClr val="388A36"/>
                </a:solidFill>
                <a:latin typeface="Arial" panose="020B0604020202020204" pitchFamily="34" charset="0"/>
                <a:ea typeface="黑体" panose="02010609060101010101" pitchFamily="49" charset="-122"/>
              </a:rPr>
              <a:t>：寄存器 </a:t>
            </a:r>
            <a:r>
              <a:rPr lang="en-US" altLang="zh-CN" sz="2000" dirty="0">
                <a:solidFill>
                  <a:srgbClr val="388A36"/>
                </a:solidFill>
                <a:latin typeface="Arial" panose="020B0604020202020204" pitchFamily="34" charset="0"/>
                <a:ea typeface="黑体" panose="02010609060101010101" pitchFamily="49" charset="-122"/>
              </a:rPr>
              <a:t>- </a:t>
            </a:r>
            <a:r>
              <a:rPr lang="zh-CN" altLang="en-US" sz="2000" dirty="0">
                <a:solidFill>
                  <a:srgbClr val="388A36"/>
                </a:solidFill>
                <a:latin typeface="Arial" panose="020B0604020202020204" pitchFamily="34" charset="0"/>
                <a:ea typeface="黑体" panose="02010609060101010101" pitchFamily="49" charset="-122"/>
              </a:rPr>
              <a:t>变址存储器	</a:t>
            </a:r>
            <a:r>
              <a:rPr lang="en-US" altLang="zh-CN" sz="2000" dirty="0">
                <a:solidFill>
                  <a:srgbClr val="388A36"/>
                </a:solidFill>
                <a:latin typeface="Arial" panose="020B0604020202020204" pitchFamily="34" charset="0"/>
                <a:ea typeface="黑体" panose="02010609060101010101" pitchFamily="49" charset="-122"/>
              </a:rPr>
              <a:t>SI</a:t>
            </a:r>
            <a:r>
              <a:rPr lang="zh-CN" altLang="en-US" sz="2000" dirty="0">
                <a:solidFill>
                  <a:srgbClr val="388A36"/>
                </a:solidFill>
                <a:latin typeface="Arial" panose="020B0604020202020204" pitchFamily="34" charset="0"/>
                <a:ea typeface="黑体" panose="02010609060101010101" pitchFamily="49" charset="-122"/>
              </a:rPr>
              <a:t>：基址存储器 </a:t>
            </a:r>
            <a:r>
              <a:rPr lang="en-US" altLang="zh-CN" sz="2000" dirty="0">
                <a:solidFill>
                  <a:srgbClr val="388A36"/>
                </a:solidFill>
                <a:latin typeface="Arial" panose="020B0604020202020204" pitchFamily="34" charset="0"/>
                <a:ea typeface="黑体" panose="02010609060101010101" pitchFamily="49" charset="-122"/>
              </a:rPr>
              <a:t>- </a:t>
            </a:r>
            <a:r>
              <a:rPr lang="zh-CN" altLang="en-US" sz="2000" dirty="0">
                <a:solidFill>
                  <a:srgbClr val="388A36"/>
                </a:solidFill>
                <a:latin typeface="Arial" panose="020B0604020202020204" pitchFamily="34" charset="0"/>
                <a:ea typeface="黑体" panose="02010609060101010101" pitchFamily="49" charset="-122"/>
              </a:rPr>
              <a:t>立即数</a:t>
            </a:r>
            <a:endParaRPr lang="zh-CN" altLang="en-US" sz="2000" dirty="0">
              <a:solidFill>
                <a:srgbClr val="388A36"/>
              </a:solidFill>
              <a:latin typeface="Arial" panose="020B0604020202020204" pitchFamily="34" charset="0"/>
              <a:ea typeface="黑体" panose="02010609060101010101" pitchFamily="49" charset="-122"/>
            </a:endParaRPr>
          </a:p>
          <a:p>
            <a:pPr>
              <a:spcBef>
                <a:spcPct val="25000"/>
              </a:spcBef>
            </a:pPr>
            <a:r>
              <a:rPr lang="en-US" altLang="zh-CN" sz="2000" dirty="0">
                <a:solidFill>
                  <a:srgbClr val="388A36"/>
                </a:solidFill>
                <a:latin typeface="Arial" panose="020B0604020202020204" pitchFamily="34" charset="0"/>
                <a:ea typeface="黑体" panose="02010609060101010101" pitchFamily="49" charset="-122"/>
              </a:rPr>
              <a:t>RS</a:t>
            </a:r>
            <a:r>
              <a:rPr lang="zh-CN" altLang="en-US" sz="2000" dirty="0">
                <a:solidFill>
                  <a:srgbClr val="388A36"/>
                </a:solidFill>
                <a:latin typeface="Arial" panose="020B0604020202020204" pitchFamily="34" charset="0"/>
                <a:ea typeface="黑体" panose="02010609060101010101" pitchFamily="49" charset="-122"/>
              </a:rPr>
              <a:t>：寄存器 </a:t>
            </a:r>
            <a:r>
              <a:rPr lang="en-US" altLang="zh-CN" sz="2000" dirty="0">
                <a:solidFill>
                  <a:srgbClr val="388A36"/>
                </a:solidFill>
                <a:latin typeface="Arial" panose="020B0604020202020204" pitchFamily="34" charset="0"/>
                <a:ea typeface="黑体" panose="02010609060101010101" pitchFamily="49" charset="-122"/>
              </a:rPr>
              <a:t>– </a:t>
            </a:r>
            <a:r>
              <a:rPr lang="zh-CN" altLang="en-US" sz="2000" dirty="0">
                <a:solidFill>
                  <a:srgbClr val="388A36"/>
                </a:solidFill>
                <a:latin typeface="Arial" panose="020B0604020202020204" pitchFamily="34" charset="0"/>
                <a:ea typeface="黑体" panose="02010609060101010101" pitchFamily="49" charset="-122"/>
              </a:rPr>
              <a:t>基址存储器</a:t>
            </a:r>
            <a:endParaRPr lang="zh-CN" altLang="en-US" sz="2000" dirty="0">
              <a:solidFill>
                <a:srgbClr val="388A36"/>
              </a:solidFill>
              <a:latin typeface="Arial" panose="020B0604020202020204" pitchFamily="34" charset="0"/>
              <a:ea typeface="黑体" panose="02010609060101010101" pitchFamily="49" charset="-122"/>
            </a:endParaRPr>
          </a:p>
        </p:txBody>
      </p:sp>
      <p:sp>
        <p:nvSpPr>
          <p:cNvPr id="78" name="TextBox 77"/>
          <p:cNvSpPr txBox="1"/>
          <p:nvPr/>
        </p:nvSpPr>
        <p:spPr>
          <a:xfrm>
            <a:off x="4162425" y="6149975"/>
            <a:ext cx="4640263" cy="461963"/>
          </a:xfrm>
          <a:prstGeom prst="rect">
            <a:avLst/>
          </a:prstGeom>
          <a:noFill/>
          <a:ln w="9525">
            <a:noFill/>
          </a:ln>
        </p:spPr>
        <p:txBody>
          <a:bodyPr>
            <a:spAutoFit/>
          </a:bodyPr>
          <a:lstStyle/>
          <a:p>
            <a:r>
              <a:rPr lang="zh-CN" altLang="en-US" sz="2400" dirty="0">
                <a:solidFill>
                  <a:schemeClr val="tx1"/>
                </a:solidFill>
                <a:latin typeface="黑体" panose="02010609060101010101" pitchFamily="49" charset="-122"/>
                <a:ea typeface="黑体" panose="02010609060101010101" pitchFamily="49" charset="-122"/>
              </a:rPr>
              <a:t>格式：定长操作码、变长指令字</a:t>
            </a:r>
            <a:endParaRPr lang="zh-CN" altLang="en-US" sz="2400"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blinds(horizontal)">
                                      <p:cBhvr>
                                        <p:cTn id="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p:nvPr>
        </p:nvSpPr>
        <p:spPr>
          <a:xfrm>
            <a:off x="711200" y="114300"/>
            <a:ext cx="7772400" cy="747713"/>
          </a:xfrm>
        </p:spPr>
        <p:txBody>
          <a:bodyPr vert="horz" wrap="square" lIns="63500" tIns="25400" rIns="63500" bIns="25400" anchor="t" anchorCtr="0">
            <a:spAutoFit/>
          </a:bodyPr>
          <a:lstStyle/>
          <a:p>
            <a:r>
              <a:rPr lang="zh-CN" altLang="en-US" sz="2800" dirty="0">
                <a:ea typeface="宋体" panose="02010600030101010101" pitchFamily="2" charset="-122"/>
              </a:rPr>
              <a:t>扩展（变长）操作码编码 </a:t>
            </a:r>
            <a:r>
              <a:rPr lang="en-US" altLang="zh-CN" dirty="0">
                <a:ea typeface="宋体" panose="02010600030101010101" pitchFamily="2" charset="-122"/>
              </a:rPr>
              <a:t>Expanding Opcodes</a:t>
            </a:r>
            <a:endParaRPr lang="en-US" altLang="zh-CN" dirty="0">
              <a:ea typeface="宋体" panose="02010600030101010101" pitchFamily="2" charset="-122"/>
            </a:endParaRPr>
          </a:p>
        </p:txBody>
      </p:sp>
      <p:sp>
        <p:nvSpPr>
          <p:cNvPr id="388099" name="Rectangle 3"/>
          <p:cNvSpPr/>
          <p:nvPr/>
        </p:nvSpPr>
        <p:spPr>
          <a:xfrm>
            <a:off x="242888" y="660400"/>
            <a:ext cx="8683625" cy="5867400"/>
          </a:xfrm>
          <a:prstGeom prst="rect">
            <a:avLst/>
          </a:prstGeom>
          <a:noFill/>
          <a:ln w="9525">
            <a:noFill/>
          </a:ln>
        </p:spPr>
        <p:txBody>
          <a:bodyPr/>
          <a:lstStyle>
            <a:lvl1pPr marL="285750" indent="-285750" algn="l" rtl="0" eaLnBrk="0" fontAlgn="base" hangingPunct="0">
              <a:lnSpc>
                <a:spcPct val="90000"/>
              </a:lnSpc>
              <a:spcBef>
                <a:spcPct val="30000"/>
              </a:spcBef>
              <a:spcAft>
                <a:spcPct val="0"/>
              </a:spcAft>
              <a:buSzPct val="75000"/>
              <a:buFont typeface="Wingdings" panose="05000000000000000000" pitchFamily="2" charset="2"/>
              <a:buChar char="u"/>
              <a:defRPr sz="20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accent2"/>
                </a:solidFill>
                <a:latin typeface="+mn-lt"/>
                <a:ea typeface="+mn-ea"/>
                <a:cs typeface="+mn-cs"/>
              </a:defRPr>
            </a:lvl2pPr>
            <a:lvl3pPr marL="1143000" indent="-228600" algn="l" rtl="0" eaLnBrk="0" fontAlgn="base" hangingPunct="0">
              <a:lnSpc>
                <a:spcPct val="90000"/>
              </a:lnSpc>
              <a:spcBef>
                <a:spcPct val="30000"/>
              </a:spcBef>
              <a:spcAft>
                <a:spcPct val="0"/>
              </a:spcAft>
              <a:buSzPct val="100000"/>
              <a:buChar char="»"/>
              <a:defRPr b="1">
                <a:solidFill>
                  <a:srgbClr val="A50021"/>
                </a:solidFill>
                <a:latin typeface="+mn-lt"/>
                <a:ea typeface="+mn-ea"/>
                <a:cs typeface="+mn-cs"/>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4pPr>
            <a:lvl5pPr marL="20002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5pPr>
          </a:lstStyle>
          <a:p>
            <a:pPr marL="285750" lvl="0" indent="-285750">
              <a:lnSpc>
                <a:spcPct val="115000"/>
              </a:lnSpc>
              <a:spcBef>
                <a:spcPct val="35000"/>
              </a:spcBef>
              <a:buSzPct val="100000"/>
              <a:buNone/>
            </a:pPr>
            <a:r>
              <a:rPr lang="zh-CN" altLang="en-US" dirty="0">
                <a:latin typeface="Arial" panose="020B0604020202020204" pitchFamily="34" charset="0"/>
                <a:ea typeface="黑体" panose="02010609060101010101" pitchFamily="49" charset="-122"/>
              </a:rPr>
              <a:t>    基本思想</a:t>
            </a:r>
            <a:endParaRPr lang="zh-CN" altLang="en-US" dirty="0">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将操作码的编码长度分成几种固定长的格式。被大多数指令集采用。</a:t>
            </a:r>
            <a:r>
              <a:rPr lang="en-US" altLang="zh-CN" dirty="0">
                <a:solidFill>
                  <a:srgbClr val="0000FF"/>
                </a:solidFill>
                <a:latin typeface="Arial" panose="020B0604020202020204" pitchFamily="34" charset="0"/>
                <a:ea typeface="黑体" panose="02010609060101010101" pitchFamily="49" charset="-122"/>
              </a:rPr>
              <a:t>PDP-11</a:t>
            </a:r>
            <a:r>
              <a:rPr lang="zh-CN" altLang="en-US" dirty="0">
                <a:solidFill>
                  <a:srgbClr val="0000FF"/>
                </a:solidFill>
                <a:latin typeface="Arial" panose="020B0604020202020204" pitchFamily="34" charset="0"/>
                <a:ea typeface="黑体" panose="02010609060101010101" pitchFamily="49" charset="-122"/>
              </a:rPr>
              <a:t>是典型的变长操作码机器。</a:t>
            </a:r>
            <a:endParaRPr lang="zh-CN" altLang="en-US" dirty="0">
              <a:solidFill>
                <a:srgbClr val="0000FF"/>
              </a:solidFill>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None/>
            </a:pPr>
            <a:r>
              <a:rPr lang="zh-CN" altLang="en-US" dirty="0">
                <a:latin typeface="Arial" panose="020B0604020202020204" pitchFamily="34" charset="0"/>
                <a:ea typeface="黑体" panose="02010609060101010101" pitchFamily="49" charset="-122"/>
              </a:rPr>
              <a:t>    种类</a:t>
            </a:r>
            <a:endParaRPr lang="zh-CN" altLang="en-US" dirty="0">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等长扩展法：4-8-12；3-6-9；…... / 不等长扩展法</a:t>
            </a:r>
            <a:endParaRPr lang="zh-CN" altLang="en-US" dirty="0">
              <a:solidFill>
                <a:srgbClr val="0000FF"/>
              </a:solidFill>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None/>
            </a:pPr>
            <a:r>
              <a:rPr lang="zh-CN" altLang="en-US" dirty="0">
                <a:latin typeface="Arial" panose="020B0604020202020204" pitchFamily="34" charset="0"/>
                <a:ea typeface="黑体" panose="02010609060101010101" pitchFamily="49" charset="-122"/>
              </a:rPr>
              <a:t>    举例说明如何扩展</a:t>
            </a:r>
            <a:endParaRPr lang="zh-CN" altLang="en-US" dirty="0">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highlight>
                  <a:srgbClr val="FFFF00"/>
                </a:highlight>
                <a:latin typeface="Arial" panose="020B0604020202020204" pitchFamily="34" charset="0"/>
                <a:ea typeface="黑体" panose="02010609060101010101" pitchFamily="49" charset="-122"/>
              </a:rPr>
              <a:t>设某指令系统指令字是16位，每个地址码为6位。若二地址指令15条，一地址指令34条，则剩下零地址指令最多有多少条？</a:t>
            </a:r>
            <a:endParaRPr lang="zh-CN" altLang="en-US" dirty="0">
              <a:solidFill>
                <a:srgbClr val="0000FF"/>
              </a:solidFill>
              <a:highlight>
                <a:srgbClr val="FFFF00"/>
              </a:highlight>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highlight>
                  <a:srgbClr val="FFFF00"/>
                </a:highlight>
                <a:latin typeface="Arial" panose="020B0604020202020204" pitchFamily="34" charset="0"/>
                <a:ea typeface="黑体" panose="02010609060101010101" pitchFamily="49" charset="-122"/>
              </a:rPr>
              <a:t>解:操作码按短到长进行扩展编码</a:t>
            </a:r>
            <a:endParaRPr lang="zh-CN" altLang="en-US" dirty="0">
              <a:solidFill>
                <a:srgbClr val="0000FF"/>
              </a:solidFill>
              <a:highlight>
                <a:srgbClr val="FFFF00"/>
              </a:highlight>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highlight>
                  <a:srgbClr val="FFFF00"/>
                </a:highlight>
                <a:latin typeface="Arial" panose="020B0604020202020204" pitchFamily="34" charset="0"/>
                <a:ea typeface="黑体" panose="02010609060101010101" pitchFamily="49" charset="-122"/>
              </a:rPr>
              <a:t>     二地址指令</a:t>
            </a:r>
            <a:r>
              <a:rPr lang="en-US" altLang="zh-CN" dirty="0">
                <a:solidFill>
                  <a:srgbClr val="0000FF"/>
                </a:solidFill>
                <a:highlight>
                  <a:srgbClr val="FFFF00"/>
                </a:highlight>
                <a:latin typeface="Arial" panose="020B0604020202020204" pitchFamily="34" charset="0"/>
                <a:ea typeface="黑体" panose="02010609060101010101" pitchFamily="49" charset="-122"/>
                <a:sym typeface="Wingdings" panose="05000000000000000000" pitchFamily="2" charset="2"/>
              </a:rPr>
              <a:t>: (</a:t>
            </a:r>
            <a:r>
              <a:rPr lang="en-US" altLang="zh-CN" dirty="0">
                <a:solidFill>
                  <a:srgbClr val="0000FF"/>
                </a:solidFill>
                <a:highlight>
                  <a:srgbClr val="FFFF00"/>
                </a:highlight>
                <a:latin typeface="Arial" panose="020B0604020202020204" pitchFamily="34" charset="0"/>
                <a:ea typeface="黑体" panose="02010609060101010101" pitchFamily="49" charset="-122"/>
              </a:rPr>
              <a:t>0000 </a:t>
            </a:r>
            <a:r>
              <a:rPr lang="zh-CN" altLang="en-US" dirty="0">
                <a:solidFill>
                  <a:srgbClr val="0000FF"/>
                </a:solidFill>
                <a:highlight>
                  <a:srgbClr val="FFFF00"/>
                </a:highlight>
                <a:latin typeface="Arial" panose="020B0604020202020204" pitchFamily="34" charset="0"/>
                <a:ea typeface="黑体" panose="02010609060101010101" pitchFamily="49" charset="-122"/>
              </a:rPr>
              <a:t>～ </a:t>
            </a:r>
            <a:r>
              <a:rPr lang="en-US" altLang="zh-CN" dirty="0">
                <a:solidFill>
                  <a:srgbClr val="0000FF"/>
                </a:solidFill>
                <a:highlight>
                  <a:srgbClr val="FFFF00"/>
                </a:highlight>
                <a:latin typeface="Arial" panose="020B0604020202020204" pitchFamily="34" charset="0"/>
                <a:ea typeface="黑体" panose="02010609060101010101" pitchFamily="49" charset="-122"/>
              </a:rPr>
              <a:t>1110) </a:t>
            </a:r>
            <a:endParaRPr lang="en-US" altLang="zh-CN" dirty="0">
              <a:solidFill>
                <a:srgbClr val="0000FF"/>
              </a:solidFill>
              <a:highlight>
                <a:srgbClr val="FFFF00"/>
              </a:highlight>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highlight>
                  <a:srgbClr val="FFFF00"/>
                </a:highlight>
                <a:latin typeface="Arial" panose="020B0604020202020204" pitchFamily="34" charset="0"/>
                <a:ea typeface="黑体" panose="02010609060101010101" pitchFamily="49" charset="-122"/>
              </a:rPr>
              <a:t>     一地址指令: </a:t>
            </a:r>
            <a:r>
              <a:rPr lang="zh-CN" altLang="en-US" dirty="0">
                <a:solidFill>
                  <a:srgbClr val="C2228D"/>
                </a:solidFill>
                <a:highlight>
                  <a:srgbClr val="FFFF00"/>
                </a:highlight>
                <a:latin typeface="Arial" panose="020B0604020202020204" pitchFamily="34" charset="0"/>
                <a:ea typeface="黑体" panose="02010609060101010101" pitchFamily="49" charset="-122"/>
              </a:rPr>
              <a:t>11110</a:t>
            </a:r>
            <a:r>
              <a:rPr lang="zh-CN" altLang="en-US" dirty="0">
                <a:solidFill>
                  <a:srgbClr val="0000FF"/>
                </a:solidFill>
                <a:highlight>
                  <a:srgbClr val="FFFF00"/>
                </a:highlight>
                <a:latin typeface="Arial" panose="020B0604020202020204" pitchFamily="34" charset="0"/>
                <a:ea typeface="黑体" panose="02010609060101010101" pitchFamily="49" charset="-122"/>
              </a:rPr>
              <a:t> </a:t>
            </a:r>
            <a:r>
              <a:rPr lang="en-US" altLang="zh-CN" dirty="0">
                <a:solidFill>
                  <a:srgbClr val="0000FF"/>
                </a:solidFill>
                <a:highlight>
                  <a:srgbClr val="FFFF00"/>
                </a:highlight>
                <a:latin typeface="Arial" panose="020B0604020202020204" pitchFamily="34" charset="0"/>
                <a:ea typeface="黑体" panose="02010609060101010101" pitchFamily="49" charset="-122"/>
              </a:rPr>
              <a:t>(00000 </a:t>
            </a:r>
            <a:r>
              <a:rPr lang="zh-CN" altLang="en-US" dirty="0">
                <a:solidFill>
                  <a:srgbClr val="0000FF"/>
                </a:solidFill>
                <a:highlight>
                  <a:srgbClr val="FFFF00"/>
                </a:highlight>
                <a:latin typeface="Arial" panose="020B0604020202020204" pitchFamily="34" charset="0"/>
                <a:ea typeface="黑体" panose="02010609060101010101" pitchFamily="49" charset="-122"/>
              </a:rPr>
              <a:t>～</a:t>
            </a:r>
            <a:r>
              <a:rPr lang="en-US" altLang="zh-CN" dirty="0">
                <a:solidFill>
                  <a:srgbClr val="0000FF"/>
                </a:solidFill>
                <a:highlight>
                  <a:srgbClr val="FFFF00"/>
                </a:highlight>
                <a:latin typeface="Arial" panose="020B0604020202020204" pitchFamily="34" charset="0"/>
                <a:ea typeface="黑体" panose="02010609060101010101" pitchFamily="49" charset="-122"/>
              </a:rPr>
              <a:t> 11111); </a:t>
            </a:r>
            <a:r>
              <a:rPr lang="en-US" altLang="zh-CN" dirty="0">
                <a:solidFill>
                  <a:srgbClr val="C2228D"/>
                </a:solidFill>
                <a:highlight>
                  <a:srgbClr val="FFFF00"/>
                </a:highlight>
                <a:latin typeface="Arial" panose="020B0604020202020204" pitchFamily="34" charset="0"/>
                <a:ea typeface="黑体" panose="02010609060101010101" pitchFamily="49" charset="-122"/>
              </a:rPr>
              <a:t>11111</a:t>
            </a:r>
            <a:r>
              <a:rPr lang="en-US" altLang="zh-CN" dirty="0">
                <a:solidFill>
                  <a:srgbClr val="0000FF"/>
                </a:solidFill>
                <a:highlight>
                  <a:srgbClr val="FFFF00"/>
                </a:highlight>
                <a:latin typeface="Arial" panose="020B0604020202020204" pitchFamily="34" charset="0"/>
                <a:ea typeface="黑体" panose="02010609060101010101" pitchFamily="49" charset="-122"/>
              </a:rPr>
              <a:t> (00000 </a:t>
            </a:r>
            <a:r>
              <a:rPr lang="zh-CN" altLang="en-US" dirty="0">
                <a:solidFill>
                  <a:srgbClr val="0000FF"/>
                </a:solidFill>
                <a:highlight>
                  <a:srgbClr val="FFFF00"/>
                </a:highlight>
                <a:latin typeface="Arial" panose="020B0604020202020204" pitchFamily="34" charset="0"/>
                <a:ea typeface="黑体" panose="02010609060101010101" pitchFamily="49" charset="-122"/>
              </a:rPr>
              <a:t>～</a:t>
            </a:r>
            <a:r>
              <a:rPr lang="en-US" altLang="zh-CN" dirty="0">
                <a:solidFill>
                  <a:srgbClr val="0000FF"/>
                </a:solidFill>
                <a:highlight>
                  <a:srgbClr val="FFFF00"/>
                </a:highlight>
                <a:latin typeface="Arial" panose="020B0604020202020204" pitchFamily="34" charset="0"/>
                <a:ea typeface="黑体" panose="02010609060101010101" pitchFamily="49" charset="-122"/>
              </a:rPr>
              <a:t> 00001) </a:t>
            </a:r>
            <a:endParaRPr lang="en-US" altLang="zh-CN" dirty="0">
              <a:solidFill>
                <a:srgbClr val="0000FF"/>
              </a:solidFill>
              <a:highlight>
                <a:srgbClr val="FFFF00"/>
              </a:highlight>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dirty="0">
                <a:solidFill>
                  <a:srgbClr val="0000FF"/>
                </a:solidFill>
                <a:highlight>
                  <a:srgbClr val="FFFF00"/>
                </a:highlight>
                <a:latin typeface="Arial" panose="020B0604020202020204" pitchFamily="34" charset="0"/>
                <a:ea typeface="黑体" panose="02010609060101010101" pitchFamily="49" charset="-122"/>
              </a:rPr>
              <a:t>     零地址指令: </a:t>
            </a:r>
            <a:r>
              <a:rPr lang="zh-CN" altLang="en-US" dirty="0">
                <a:solidFill>
                  <a:srgbClr val="C2228D"/>
                </a:solidFill>
                <a:highlight>
                  <a:srgbClr val="FFFF00"/>
                </a:highlight>
                <a:latin typeface="Arial" panose="020B0604020202020204" pitchFamily="34" charset="0"/>
                <a:ea typeface="黑体" panose="02010609060101010101" pitchFamily="49" charset="-122"/>
              </a:rPr>
              <a:t>11111</a:t>
            </a:r>
            <a:r>
              <a:rPr lang="zh-CN" altLang="en-US" dirty="0">
                <a:solidFill>
                  <a:srgbClr val="0000FF"/>
                </a:solidFill>
                <a:highlight>
                  <a:srgbClr val="FFFF00"/>
                </a:highlight>
                <a:latin typeface="Arial" panose="020B0604020202020204" pitchFamily="34" charset="0"/>
                <a:ea typeface="黑体" panose="02010609060101010101" pitchFamily="49" charset="-122"/>
              </a:rPr>
              <a:t> </a:t>
            </a:r>
            <a:r>
              <a:rPr lang="en-US" altLang="zh-CN" dirty="0">
                <a:solidFill>
                  <a:srgbClr val="0000FF"/>
                </a:solidFill>
                <a:highlight>
                  <a:srgbClr val="FFFF00"/>
                </a:highlight>
                <a:latin typeface="Arial" panose="020B0604020202020204" pitchFamily="34" charset="0"/>
                <a:ea typeface="黑体" panose="02010609060101010101" pitchFamily="49" charset="-122"/>
              </a:rPr>
              <a:t>(00010 </a:t>
            </a:r>
            <a:r>
              <a:rPr lang="zh-CN" altLang="en-US" dirty="0">
                <a:solidFill>
                  <a:srgbClr val="0000FF"/>
                </a:solidFill>
                <a:highlight>
                  <a:srgbClr val="FFFF00"/>
                </a:highlight>
                <a:latin typeface="Arial" panose="020B0604020202020204" pitchFamily="34" charset="0"/>
                <a:ea typeface="黑体" panose="02010609060101010101" pitchFamily="49" charset="-122"/>
              </a:rPr>
              <a:t>～</a:t>
            </a:r>
            <a:r>
              <a:rPr lang="en-US" altLang="zh-CN" dirty="0">
                <a:solidFill>
                  <a:srgbClr val="0000FF"/>
                </a:solidFill>
                <a:highlight>
                  <a:srgbClr val="FFFF00"/>
                </a:highlight>
                <a:latin typeface="Arial" panose="020B0604020202020204" pitchFamily="34" charset="0"/>
                <a:ea typeface="黑体" panose="02010609060101010101" pitchFamily="49" charset="-122"/>
              </a:rPr>
              <a:t> 11111) (000000 </a:t>
            </a:r>
            <a:r>
              <a:rPr lang="zh-CN" altLang="en-US" dirty="0">
                <a:solidFill>
                  <a:srgbClr val="0000FF"/>
                </a:solidFill>
                <a:highlight>
                  <a:srgbClr val="FFFF00"/>
                </a:highlight>
                <a:latin typeface="Arial" panose="020B0604020202020204" pitchFamily="34" charset="0"/>
                <a:ea typeface="黑体" panose="02010609060101010101" pitchFamily="49" charset="-122"/>
              </a:rPr>
              <a:t>～</a:t>
            </a:r>
            <a:r>
              <a:rPr lang="en-US" altLang="zh-CN" dirty="0">
                <a:solidFill>
                  <a:srgbClr val="0000FF"/>
                </a:solidFill>
                <a:highlight>
                  <a:srgbClr val="FFFF00"/>
                </a:highlight>
                <a:latin typeface="Arial" panose="020B0604020202020204" pitchFamily="34" charset="0"/>
                <a:ea typeface="黑体" panose="02010609060101010101" pitchFamily="49" charset="-122"/>
              </a:rPr>
              <a:t> 111111)</a:t>
            </a:r>
            <a:endParaRPr lang="en-US" altLang="zh-CN" dirty="0">
              <a:solidFill>
                <a:srgbClr val="0000FF"/>
              </a:solidFill>
              <a:highlight>
                <a:srgbClr val="FFFF00"/>
              </a:highlight>
              <a:latin typeface="Arial" panose="020B0604020202020204" pitchFamily="34" charset="0"/>
              <a:ea typeface="黑体" panose="02010609060101010101" pitchFamily="49" charset="-122"/>
            </a:endParaRPr>
          </a:p>
          <a:p>
            <a:pPr marL="285750" lvl="0" indent="-285750">
              <a:lnSpc>
                <a:spcPct val="115000"/>
              </a:lnSpc>
              <a:spcBef>
                <a:spcPct val="35000"/>
              </a:spcBef>
              <a:buSzPct val="100000"/>
              <a:buFont typeface="Monotype Sorts" pitchFamily="2" charset="2"/>
              <a:buChar char=" "/>
            </a:pPr>
            <a:r>
              <a:rPr lang="zh-CN" altLang="en-US" b="0" dirty="0">
                <a:solidFill>
                  <a:srgbClr val="0000FF"/>
                </a:solidFill>
                <a:highlight>
                  <a:srgbClr val="FFFF00"/>
                </a:highlight>
                <a:latin typeface="Arial" panose="020B0604020202020204" pitchFamily="34" charset="0"/>
                <a:ea typeface="黑体" panose="02010609060101010101" pitchFamily="49" charset="-122"/>
              </a:rPr>
              <a:t>     </a:t>
            </a:r>
            <a:r>
              <a:rPr lang="zh-CN" altLang="en-US" dirty="0">
                <a:solidFill>
                  <a:srgbClr val="0000FF"/>
                </a:solidFill>
                <a:highlight>
                  <a:srgbClr val="FFFF00"/>
                </a:highlight>
                <a:latin typeface="Arial" panose="020B0604020202020204" pitchFamily="34" charset="0"/>
                <a:ea typeface="黑体" panose="02010609060101010101" pitchFamily="49" charset="-122"/>
              </a:rPr>
              <a:t>故零地址指令最多有 30</a:t>
            </a:r>
            <a:r>
              <a:rPr lang="en-US" altLang="zh-CN" dirty="0">
                <a:solidFill>
                  <a:srgbClr val="0000FF"/>
                </a:solidFill>
                <a:highlight>
                  <a:srgbClr val="FFFF00"/>
                </a:highlight>
                <a:latin typeface="Arial" panose="020B0604020202020204" pitchFamily="34" charset="0"/>
                <a:ea typeface="黑体" panose="02010609060101010101" pitchFamily="49" charset="-122"/>
              </a:rPr>
              <a:t>x2</a:t>
            </a:r>
            <a:r>
              <a:rPr lang="en-US" altLang="zh-CN" baseline="38000" dirty="0">
                <a:solidFill>
                  <a:srgbClr val="0000FF"/>
                </a:solidFill>
                <a:highlight>
                  <a:srgbClr val="FFFF00"/>
                </a:highlight>
                <a:latin typeface="Arial" panose="020B0604020202020204" pitchFamily="34" charset="0"/>
                <a:ea typeface="黑体" panose="02010609060101010101" pitchFamily="49" charset="-122"/>
              </a:rPr>
              <a:t>6</a:t>
            </a:r>
            <a:r>
              <a:rPr lang="en-US" altLang="zh-CN" dirty="0">
                <a:solidFill>
                  <a:srgbClr val="0000FF"/>
                </a:solidFill>
                <a:highlight>
                  <a:srgbClr val="FFFF00"/>
                </a:highlight>
                <a:latin typeface="Arial" panose="020B0604020202020204" pitchFamily="34" charset="0"/>
                <a:ea typeface="黑体" panose="02010609060101010101" pitchFamily="49" charset="-122"/>
              </a:rPr>
              <a:t>=15x2</a:t>
            </a:r>
            <a:r>
              <a:rPr lang="en-US" altLang="zh-CN" baseline="38000" dirty="0">
                <a:solidFill>
                  <a:srgbClr val="0000FF"/>
                </a:solidFill>
                <a:highlight>
                  <a:srgbClr val="FFFF00"/>
                </a:highlight>
                <a:latin typeface="Arial" panose="020B0604020202020204" pitchFamily="34" charset="0"/>
                <a:ea typeface="黑体" panose="02010609060101010101" pitchFamily="49" charset="-122"/>
              </a:rPr>
              <a:t>7</a:t>
            </a:r>
            <a:r>
              <a:rPr lang="en-US" altLang="zh-CN" dirty="0">
                <a:solidFill>
                  <a:srgbClr val="0000FF"/>
                </a:solidFill>
                <a:highlight>
                  <a:srgbClr val="FFFF00"/>
                </a:highlight>
                <a:latin typeface="Arial" panose="020B0604020202020204" pitchFamily="34" charset="0"/>
                <a:ea typeface="黑体" panose="02010609060101010101" pitchFamily="49" charset="-122"/>
              </a:rPr>
              <a:t> </a:t>
            </a:r>
            <a:r>
              <a:rPr lang="zh-CN" altLang="en-US" dirty="0">
                <a:solidFill>
                  <a:srgbClr val="0000FF"/>
                </a:solidFill>
                <a:highlight>
                  <a:srgbClr val="FFFF00"/>
                </a:highlight>
                <a:latin typeface="Arial" panose="020B0604020202020204" pitchFamily="34" charset="0"/>
                <a:ea typeface="黑体" panose="02010609060101010101" pitchFamily="49" charset="-122"/>
              </a:rPr>
              <a:t>种</a:t>
            </a:r>
            <a:endParaRPr lang="zh-CN" altLang="en-US" dirty="0">
              <a:solidFill>
                <a:srgbClr val="0000FF"/>
              </a:solidFill>
              <a:highlight>
                <a:srgbClr val="FFFF00"/>
              </a:highlight>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8099">
                                            <p:txEl>
                                              <p:pRg st="1" end="1"/>
                                            </p:txEl>
                                          </p:spTgt>
                                        </p:tgtEl>
                                        <p:attrNameLst>
                                          <p:attrName>style.visibility</p:attrName>
                                        </p:attrNameLst>
                                      </p:cBhvr>
                                      <p:to>
                                        <p:strVal val="visible"/>
                                      </p:to>
                                    </p:set>
                                    <p:animEffect transition="in" filter="blinds(horizontal)">
                                      <p:cBhvr>
                                        <p:cTn id="7" dur="500"/>
                                        <p:tgtEl>
                                          <p:spTgt spid="3880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8099">
                                            <p:txEl>
                                              <p:pRg st="3" end="3"/>
                                            </p:txEl>
                                          </p:spTgt>
                                        </p:tgtEl>
                                        <p:attrNameLst>
                                          <p:attrName>style.visibility</p:attrName>
                                        </p:attrNameLst>
                                      </p:cBhvr>
                                      <p:to>
                                        <p:strVal val="visible"/>
                                      </p:to>
                                    </p:set>
                                    <p:animEffect transition="in" filter="blinds(horizontal)">
                                      <p:cBhvr>
                                        <p:cTn id="12" dur="500"/>
                                        <p:tgtEl>
                                          <p:spTgt spid="388099">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88099">
                                            <p:txEl>
                                              <p:pRg st="5" end="5"/>
                                            </p:txEl>
                                          </p:spTgt>
                                        </p:tgtEl>
                                        <p:attrNameLst>
                                          <p:attrName>style.visibility</p:attrName>
                                        </p:attrNameLst>
                                      </p:cBhvr>
                                      <p:to>
                                        <p:strVal val="visible"/>
                                      </p:to>
                                    </p:set>
                                    <p:animEffect transition="in" filter="blinds(horizontal)">
                                      <p:cBhvr>
                                        <p:cTn id="17" dur="500"/>
                                        <p:tgtEl>
                                          <p:spTgt spid="388099">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88099">
                                            <p:txEl>
                                              <p:pRg st="6" end="6"/>
                                            </p:txEl>
                                          </p:spTgt>
                                        </p:tgtEl>
                                        <p:attrNameLst>
                                          <p:attrName>style.visibility</p:attrName>
                                        </p:attrNameLst>
                                      </p:cBhvr>
                                      <p:to>
                                        <p:strVal val="visible"/>
                                      </p:to>
                                    </p:set>
                                    <p:animEffect transition="in" filter="blinds(horizontal)">
                                      <p:cBhvr>
                                        <p:cTn id="22" dur="500"/>
                                        <p:tgtEl>
                                          <p:spTgt spid="388099">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88099">
                                            <p:txEl>
                                              <p:pRg st="7" end="7"/>
                                            </p:txEl>
                                          </p:spTgt>
                                        </p:tgtEl>
                                        <p:attrNameLst>
                                          <p:attrName>style.visibility</p:attrName>
                                        </p:attrNameLst>
                                      </p:cBhvr>
                                      <p:to>
                                        <p:strVal val="visible"/>
                                      </p:to>
                                    </p:set>
                                    <p:animEffect transition="in" filter="blinds(horizontal)">
                                      <p:cBhvr>
                                        <p:cTn id="27" dur="500"/>
                                        <p:tgtEl>
                                          <p:spTgt spid="388099">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88099">
                                            <p:txEl>
                                              <p:pRg st="8" end="8"/>
                                            </p:txEl>
                                          </p:spTgt>
                                        </p:tgtEl>
                                        <p:attrNameLst>
                                          <p:attrName>style.visibility</p:attrName>
                                        </p:attrNameLst>
                                      </p:cBhvr>
                                      <p:to>
                                        <p:strVal val="visible"/>
                                      </p:to>
                                    </p:set>
                                    <p:animEffect transition="in" filter="blinds(horizontal)">
                                      <p:cBhvr>
                                        <p:cTn id="32" dur="500"/>
                                        <p:tgtEl>
                                          <p:spTgt spid="38809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88099">
                                            <p:txEl>
                                              <p:pRg st="9" end="9"/>
                                            </p:txEl>
                                          </p:spTgt>
                                        </p:tgtEl>
                                        <p:attrNameLst>
                                          <p:attrName>style.visibility</p:attrName>
                                        </p:attrNameLst>
                                      </p:cBhvr>
                                      <p:to>
                                        <p:strVal val="visible"/>
                                      </p:to>
                                    </p:set>
                                    <p:animEffect transition="in" filter="blinds(horizontal)">
                                      <p:cBhvr>
                                        <p:cTn id="37" dur="500"/>
                                        <p:tgtEl>
                                          <p:spTgt spid="388099">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88099">
                                            <p:txEl>
                                              <p:pRg st="10" end="10"/>
                                            </p:txEl>
                                          </p:spTgt>
                                        </p:tgtEl>
                                        <p:attrNameLst>
                                          <p:attrName>style.visibility</p:attrName>
                                        </p:attrNameLst>
                                      </p:cBhvr>
                                      <p:to>
                                        <p:strVal val="visible"/>
                                      </p:to>
                                    </p:set>
                                    <p:animEffect transition="in" filter="blinds(horizontal)">
                                      <p:cBhvr>
                                        <p:cTn id="42" dur="500"/>
                                        <p:tgtEl>
                                          <p:spTgt spid="3880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a:xfrm>
            <a:off x="711200" y="114300"/>
            <a:ext cx="4940300" cy="425450"/>
          </a:xfrm>
        </p:spPr>
        <p:txBody>
          <a:bodyPr vert="horz" wrap="square" lIns="63500" tIns="25400" rIns="63500" bIns="25400" anchor="t" anchorCtr="0">
            <a:spAutoFit/>
          </a:bodyPr>
          <a:lstStyle/>
          <a:p>
            <a:r>
              <a:rPr lang="en-US" altLang="zh-CN" dirty="0">
                <a:ea typeface="宋体" panose="02010600030101010101" pitchFamily="2" charset="-122"/>
              </a:rPr>
              <a:t>PDP-11</a:t>
            </a:r>
            <a:r>
              <a:rPr lang="zh-CN" altLang="en-US" sz="2800" dirty="0">
                <a:ea typeface="宋体" panose="02010600030101010101" pitchFamily="2" charset="-122"/>
              </a:rPr>
              <a:t>中典型指令格式</a:t>
            </a:r>
            <a:endParaRPr lang="zh-CN" altLang="en-US" sz="2800" dirty="0">
              <a:ea typeface="宋体" panose="02010600030101010101" pitchFamily="2" charset="-122"/>
            </a:endParaRPr>
          </a:p>
        </p:txBody>
      </p:sp>
      <p:sp>
        <p:nvSpPr>
          <p:cNvPr id="30723" name="Rectangle 4" descr="新闻纸"/>
          <p:cNvSpPr/>
          <p:nvPr/>
        </p:nvSpPr>
        <p:spPr>
          <a:xfrm>
            <a:off x="476250" y="885825"/>
            <a:ext cx="2171700" cy="498475"/>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24" name="Line 5"/>
          <p:cNvSpPr/>
          <p:nvPr/>
        </p:nvSpPr>
        <p:spPr>
          <a:xfrm>
            <a:off x="1147763" y="885825"/>
            <a:ext cx="0" cy="498475"/>
          </a:xfrm>
          <a:prstGeom prst="line">
            <a:avLst/>
          </a:prstGeom>
          <a:ln w="9525" cap="flat" cmpd="sng">
            <a:solidFill>
              <a:schemeClr val="tx1"/>
            </a:solidFill>
            <a:prstDash val="solid"/>
            <a:headEnd type="none" w="med" len="med"/>
            <a:tailEnd type="none" w="med" len="med"/>
          </a:ln>
        </p:spPr>
      </p:sp>
      <p:sp>
        <p:nvSpPr>
          <p:cNvPr id="30725" name="Line 6"/>
          <p:cNvSpPr/>
          <p:nvPr/>
        </p:nvSpPr>
        <p:spPr>
          <a:xfrm>
            <a:off x="1882775" y="885825"/>
            <a:ext cx="0" cy="498475"/>
          </a:xfrm>
          <a:prstGeom prst="line">
            <a:avLst/>
          </a:prstGeom>
          <a:ln w="9525" cap="flat" cmpd="sng">
            <a:solidFill>
              <a:schemeClr val="tx1"/>
            </a:solidFill>
            <a:prstDash val="solid"/>
            <a:headEnd type="none" w="med" len="med"/>
            <a:tailEnd type="none" w="med" len="med"/>
          </a:ln>
        </p:spPr>
      </p:sp>
      <p:sp>
        <p:nvSpPr>
          <p:cNvPr id="389127" name="Text Box 7"/>
          <p:cNvSpPr txBox="1">
            <a:spLocks noChangeArrowheads="1"/>
          </p:cNvSpPr>
          <p:nvPr/>
        </p:nvSpPr>
        <p:spPr bwMode="auto">
          <a:xfrm>
            <a:off x="530225" y="935038"/>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28" name="Text Box 8"/>
          <p:cNvSpPr txBox="1">
            <a:spLocks noChangeArrowheads="1"/>
          </p:cNvSpPr>
          <p:nvPr/>
        </p:nvSpPr>
        <p:spPr bwMode="auto">
          <a:xfrm>
            <a:off x="1385888" y="930275"/>
            <a:ext cx="244475"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S</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89129" name="Text Box 9"/>
          <p:cNvSpPr txBox="1">
            <a:spLocks noChangeArrowheads="1"/>
          </p:cNvSpPr>
          <p:nvPr/>
        </p:nvSpPr>
        <p:spPr bwMode="auto">
          <a:xfrm>
            <a:off x="2087563" y="935038"/>
            <a:ext cx="452438"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0729" name="Rectangle 10"/>
          <p:cNvSpPr/>
          <p:nvPr/>
        </p:nvSpPr>
        <p:spPr>
          <a:xfrm>
            <a:off x="2647950" y="900113"/>
            <a:ext cx="1747838" cy="498475"/>
          </a:xfrm>
          <a:prstGeom prst="rect">
            <a:avLst/>
          </a:prstGeom>
          <a:noFill/>
          <a:ln w="28575" cap="flat" cmpd="sng">
            <a:solidFill>
              <a:schemeClr val="tx1"/>
            </a:solidFill>
            <a:prstDash val="sysDot"/>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30" name="Rectangle 11"/>
          <p:cNvSpPr/>
          <p:nvPr/>
        </p:nvSpPr>
        <p:spPr>
          <a:xfrm>
            <a:off x="4381500" y="900113"/>
            <a:ext cx="1747838" cy="498475"/>
          </a:xfrm>
          <a:prstGeom prst="rect">
            <a:avLst/>
          </a:prstGeom>
          <a:noFill/>
          <a:ln w="28575" cap="flat" cmpd="sng">
            <a:solidFill>
              <a:schemeClr val="tx1"/>
            </a:solidFill>
            <a:prstDash val="sysDot"/>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132" name="Text Box 12"/>
          <p:cNvSpPr txBox="1">
            <a:spLocks noChangeArrowheads="1"/>
          </p:cNvSpPr>
          <p:nvPr/>
        </p:nvSpPr>
        <p:spPr bwMode="auto">
          <a:xfrm>
            <a:off x="2779713" y="935038"/>
            <a:ext cx="16446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存储</a:t>
            </a: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地址</a:t>
            </a:r>
            <a:endPar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sp>
        <p:nvSpPr>
          <p:cNvPr id="389133" name="Text Box 13"/>
          <p:cNvSpPr txBox="1">
            <a:spLocks noChangeArrowheads="1"/>
          </p:cNvSpPr>
          <p:nvPr/>
        </p:nvSpPr>
        <p:spPr bwMode="auto">
          <a:xfrm>
            <a:off x="4610100" y="930275"/>
            <a:ext cx="1546225"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存储地址</a:t>
            </a:r>
            <a:endPar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sp>
        <p:nvSpPr>
          <p:cNvPr id="30733" name="Text Box 14"/>
          <p:cNvSpPr txBox="1"/>
          <p:nvPr/>
        </p:nvSpPr>
        <p:spPr>
          <a:xfrm>
            <a:off x="530225" y="1296988"/>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4</a:t>
            </a:r>
            <a:endParaRPr lang="en-US" altLang="zh-CN" sz="2400" b="0" dirty="0">
              <a:solidFill>
                <a:schemeClr val="tx1"/>
              </a:solidFill>
              <a:latin typeface="Times New Roman" panose="02020603050405020304" pitchFamily="18" charset="0"/>
            </a:endParaRPr>
          </a:p>
        </p:txBody>
      </p:sp>
      <p:sp>
        <p:nvSpPr>
          <p:cNvPr id="30734" name="Text Box 15"/>
          <p:cNvSpPr txBox="1"/>
          <p:nvPr/>
        </p:nvSpPr>
        <p:spPr>
          <a:xfrm>
            <a:off x="1385888" y="1296988"/>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30735" name="Text Box 16"/>
          <p:cNvSpPr txBox="1"/>
          <p:nvPr/>
        </p:nvSpPr>
        <p:spPr>
          <a:xfrm>
            <a:off x="2114550" y="1284288"/>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30736" name="Text Box 17"/>
          <p:cNvSpPr txBox="1"/>
          <p:nvPr/>
        </p:nvSpPr>
        <p:spPr>
          <a:xfrm>
            <a:off x="3167063" y="1289050"/>
            <a:ext cx="590550"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16</a:t>
            </a:r>
            <a:endParaRPr lang="en-US" altLang="zh-CN" sz="2400" b="0" dirty="0">
              <a:solidFill>
                <a:schemeClr val="tx1"/>
              </a:solidFill>
              <a:latin typeface="Times New Roman" panose="02020603050405020304" pitchFamily="18" charset="0"/>
            </a:endParaRPr>
          </a:p>
        </p:txBody>
      </p:sp>
      <p:sp>
        <p:nvSpPr>
          <p:cNvPr id="30737" name="Text Box 18"/>
          <p:cNvSpPr txBox="1"/>
          <p:nvPr/>
        </p:nvSpPr>
        <p:spPr>
          <a:xfrm>
            <a:off x="5030788" y="1311275"/>
            <a:ext cx="671512"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16</a:t>
            </a:r>
            <a:endParaRPr lang="en-US" altLang="zh-CN" sz="2400" b="0" dirty="0">
              <a:solidFill>
                <a:schemeClr val="tx1"/>
              </a:solidFill>
              <a:latin typeface="Times New Roman" panose="02020603050405020304" pitchFamily="18" charset="0"/>
            </a:endParaRPr>
          </a:p>
        </p:txBody>
      </p:sp>
      <p:sp>
        <p:nvSpPr>
          <p:cNvPr id="30738" name="Rectangle 19" descr="新闻纸"/>
          <p:cNvSpPr/>
          <p:nvPr/>
        </p:nvSpPr>
        <p:spPr>
          <a:xfrm>
            <a:off x="501650" y="1666875"/>
            <a:ext cx="2171700" cy="500063"/>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39" name="Line 20"/>
          <p:cNvSpPr/>
          <p:nvPr/>
        </p:nvSpPr>
        <p:spPr>
          <a:xfrm>
            <a:off x="1501775" y="1666875"/>
            <a:ext cx="0" cy="500063"/>
          </a:xfrm>
          <a:prstGeom prst="line">
            <a:avLst/>
          </a:prstGeom>
          <a:ln w="9525" cap="flat" cmpd="sng">
            <a:solidFill>
              <a:schemeClr val="tx1"/>
            </a:solidFill>
            <a:prstDash val="solid"/>
            <a:headEnd type="none" w="med" len="med"/>
            <a:tailEnd type="none" w="med" len="med"/>
          </a:ln>
        </p:spPr>
      </p:sp>
      <p:sp>
        <p:nvSpPr>
          <p:cNvPr id="30740" name="Line 21"/>
          <p:cNvSpPr/>
          <p:nvPr/>
        </p:nvSpPr>
        <p:spPr>
          <a:xfrm>
            <a:off x="1908175" y="1666875"/>
            <a:ext cx="0" cy="500063"/>
          </a:xfrm>
          <a:prstGeom prst="line">
            <a:avLst/>
          </a:prstGeom>
          <a:ln w="9525" cap="flat" cmpd="sng">
            <a:solidFill>
              <a:schemeClr val="tx1"/>
            </a:solidFill>
            <a:prstDash val="solid"/>
            <a:headEnd type="none" w="med" len="med"/>
            <a:tailEnd type="none" w="med" len="med"/>
          </a:ln>
        </p:spPr>
      </p:sp>
      <p:sp>
        <p:nvSpPr>
          <p:cNvPr id="389142" name="Text Box 22"/>
          <p:cNvSpPr txBox="1">
            <a:spLocks noChangeArrowheads="1"/>
          </p:cNvSpPr>
          <p:nvPr/>
        </p:nvSpPr>
        <p:spPr bwMode="auto">
          <a:xfrm>
            <a:off x="555625" y="1716088"/>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43" name="Text Box 23"/>
          <p:cNvSpPr txBox="1">
            <a:spLocks noChangeArrowheads="1"/>
          </p:cNvSpPr>
          <p:nvPr/>
        </p:nvSpPr>
        <p:spPr bwMode="auto">
          <a:xfrm>
            <a:off x="1539875" y="1712913"/>
            <a:ext cx="244475"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R</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89144" name="Text Box 24"/>
          <p:cNvSpPr txBox="1">
            <a:spLocks noChangeArrowheads="1"/>
          </p:cNvSpPr>
          <p:nvPr/>
        </p:nvSpPr>
        <p:spPr bwMode="auto">
          <a:xfrm>
            <a:off x="2112963" y="1716088"/>
            <a:ext cx="452438"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0744" name="Rectangle 25"/>
          <p:cNvSpPr/>
          <p:nvPr/>
        </p:nvSpPr>
        <p:spPr>
          <a:xfrm>
            <a:off x="2673350" y="1681163"/>
            <a:ext cx="1747838" cy="500062"/>
          </a:xfrm>
          <a:prstGeom prst="rect">
            <a:avLst/>
          </a:prstGeom>
          <a:noFill/>
          <a:ln w="28575" cap="flat" cmpd="sng">
            <a:solidFill>
              <a:schemeClr val="tx1"/>
            </a:solidFill>
            <a:prstDash val="sysDot"/>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146" name="Text Box 26"/>
          <p:cNvSpPr txBox="1">
            <a:spLocks noChangeArrowheads="1"/>
          </p:cNvSpPr>
          <p:nvPr/>
        </p:nvSpPr>
        <p:spPr bwMode="auto">
          <a:xfrm>
            <a:off x="2779713" y="1716088"/>
            <a:ext cx="1616075" cy="457200"/>
          </a:xfrm>
          <a:prstGeom prst="rect">
            <a:avLst/>
          </a:prstGeom>
          <a:solidFill>
            <a:schemeClr val="bg1"/>
          </a:solid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存储地址</a:t>
            </a:r>
            <a:endPar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sp>
        <p:nvSpPr>
          <p:cNvPr id="30746" name="Text Box 27"/>
          <p:cNvSpPr txBox="1"/>
          <p:nvPr/>
        </p:nvSpPr>
        <p:spPr>
          <a:xfrm>
            <a:off x="855663" y="2063750"/>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7</a:t>
            </a:r>
            <a:endParaRPr lang="en-US" altLang="zh-CN" sz="2400" b="0" dirty="0">
              <a:solidFill>
                <a:schemeClr val="tx1"/>
              </a:solidFill>
              <a:latin typeface="Times New Roman" panose="02020603050405020304" pitchFamily="18" charset="0"/>
            </a:endParaRPr>
          </a:p>
        </p:txBody>
      </p:sp>
      <p:sp>
        <p:nvSpPr>
          <p:cNvPr id="30747" name="Text Box 28"/>
          <p:cNvSpPr txBox="1"/>
          <p:nvPr/>
        </p:nvSpPr>
        <p:spPr>
          <a:xfrm>
            <a:off x="1539875" y="2063750"/>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sp>
        <p:nvSpPr>
          <p:cNvPr id="30748" name="Text Box 29"/>
          <p:cNvSpPr txBox="1"/>
          <p:nvPr/>
        </p:nvSpPr>
        <p:spPr>
          <a:xfrm>
            <a:off x="2139950" y="2052638"/>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30749" name="Text Box 30"/>
          <p:cNvSpPr txBox="1"/>
          <p:nvPr/>
        </p:nvSpPr>
        <p:spPr>
          <a:xfrm>
            <a:off x="3192463" y="2070100"/>
            <a:ext cx="590550"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16</a:t>
            </a:r>
            <a:endParaRPr lang="en-US" altLang="zh-CN" sz="2400" b="0" dirty="0">
              <a:solidFill>
                <a:schemeClr val="tx1"/>
              </a:solidFill>
              <a:latin typeface="Times New Roman" panose="02020603050405020304" pitchFamily="18" charset="0"/>
            </a:endParaRPr>
          </a:p>
        </p:txBody>
      </p:sp>
      <p:sp>
        <p:nvSpPr>
          <p:cNvPr id="30750" name="Rectangle 31" descr="新闻纸"/>
          <p:cNvSpPr/>
          <p:nvPr/>
        </p:nvSpPr>
        <p:spPr>
          <a:xfrm>
            <a:off x="501650" y="2436813"/>
            <a:ext cx="2171700" cy="498475"/>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51" name="Line 32"/>
          <p:cNvSpPr/>
          <p:nvPr/>
        </p:nvSpPr>
        <p:spPr>
          <a:xfrm>
            <a:off x="1587500" y="2436813"/>
            <a:ext cx="0" cy="498475"/>
          </a:xfrm>
          <a:prstGeom prst="line">
            <a:avLst/>
          </a:prstGeom>
          <a:ln w="9525" cap="flat" cmpd="sng">
            <a:solidFill>
              <a:schemeClr val="tx1"/>
            </a:solidFill>
            <a:prstDash val="solid"/>
            <a:headEnd type="none" w="med" len="med"/>
            <a:tailEnd type="none" w="med" len="med"/>
          </a:ln>
        </p:spPr>
      </p:sp>
      <p:sp>
        <p:nvSpPr>
          <p:cNvPr id="30752" name="Line 33"/>
          <p:cNvSpPr/>
          <p:nvPr/>
        </p:nvSpPr>
        <p:spPr>
          <a:xfrm>
            <a:off x="1908175" y="2436813"/>
            <a:ext cx="0" cy="498475"/>
          </a:xfrm>
          <a:prstGeom prst="line">
            <a:avLst/>
          </a:prstGeom>
          <a:ln w="9525" cap="flat" cmpd="sng">
            <a:solidFill>
              <a:schemeClr val="tx1"/>
            </a:solidFill>
            <a:prstDash val="solid"/>
            <a:headEnd type="none" w="med" len="med"/>
            <a:tailEnd type="none" w="med" len="med"/>
          </a:ln>
        </p:spPr>
      </p:sp>
      <p:sp>
        <p:nvSpPr>
          <p:cNvPr id="389154" name="Text Box 34"/>
          <p:cNvSpPr txBox="1">
            <a:spLocks noChangeArrowheads="1"/>
          </p:cNvSpPr>
          <p:nvPr/>
        </p:nvSpPr>
        <p:spPr bwMode="auto">
          <a:xfrm>
            <a:off x="555625" y="2486025"/>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55" name="Text Box 35"/>
          <p:cNvSpPr txBox="1">
            <a:spLocks noChangeArrowheads="1"/>
          </p:cNvSpPr>
          <p:nvPr/>
        </p:nvSpPr>
        <p:spPr bwMode="auto">
          <a:xfrm>
            <a:off x="1516063" y="2486025"/>
            <a:ext cx="735013" cy="396875"/>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0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FP</a:t>
            </a:r>
            <a:endParaRPr kumimoji="0" lang="en-US" altLang="zh-CN" sz="20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56" name="Text Box 36"/>
          <p:cNvSpPr txBox="1">
            <a:spLocks noChangeArrowheads="1"/>
          </p:cNvSpPr>
          <p:nvPr/>
        </p:nvSpPr>
        <p:spPr bwMode="auto">
          <a:xfrm>
            <a:off x="2112963" y="2471738"/>
            <a:ext cx="452438"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0756" name="Rectangle 37"/>
          <p:cNvSpPr/>
          <p:nvPr/>
        </p:nvSpPr>
        <p:spPr>
          <a:xfrm>
            <a:off x="2673350" y="2451100"/>
            <a:ext cx="1747838" cy="498475"/>
          </a:xfrm>
          <a:prstGeom prst="rect">
            <a:avLst/>
          </a:prstGeom>
          <a:noFill/>
          <a:ln w="28575" cap="flat" cmpd="sng">
            <a:solidFill>
              <a:schemeClr val="tx1"/>
            </a:solidFill>
            <a:prstDash val="sysDot"/>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57" name="Text Box 38"/>
          <p:cNvSpPr txBox="1"/>
          <p:nvPr/>
        </p:nvSpPr>
        <p:spPr>
          <a:xfrm>
            <a:off x="855663" y="2849563"/>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8</a:t>
            </a:r>
            <a:endParaRPr lang="en-US" altLang="zh-CN" sz="2400" b="0" dirty="0">
              <a:solidFill>
                <a:schemeClr val="tx1"/>
              </a:solidFill>
              <a:latin typeface="Times New Roman" panose="02020603050405020304" pitchFamily="18" charset="0"/>
            </a:endParaRPr>
          </a:p>
        </p:txBody>
      </p:sp>
      <p:sp>
        <p:nvSpPr>
          <p:cNvPr id="30758" name="Text Box 39"/>
          <p:cNvSpPr txBox="1"/>
          <p:nvPr/>
        </p:nvSpPr>
        <p:spPr>
          <a:xfrm>
            <a:off x="1539875" y="2849563"/>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2</a:t>
            </a:r>
            <a:endParaRPr lang="en-US" altLang="zh-CN" sz="2400" b="0" dirty="0">
              <a:solidFill>
                <a:schemeClr val="tx1"/>
              </a:solidFill>
              <a:latin typeface="Times New Roman" panose="02020603050405020304" pitchFamily="18" charset="0"/>
            </a:endParaRPr>
          </a:p>
        </p:txBody>
      </p:sp>
      <p:sp>
        <p:nvSpPr>
          <p:cNvPr id="30759" name="Text Box 40"/>
          <p:cNvSpPr txBox="1"/>
          <p:nvPr/>
        </p:nvSpPr>
        <p:spPr>
          <a:xfrm>
            <a:off x="2139950" y="2838450"/>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30760" name="Text Box 41"/>
          <p:cNvSpPr txBox="1"/>
          <p:nvPr/>
        </p:nvSpPr>
        <p:spPr>
          <a:xfrm>
            <a:off x="3192463" y="2870200"/>
            <a:ext cx="590550"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16</a:t>
            </a:r>
            <a:endParaRPr lang="en-US" altLang="zh-CN" sz="2400" b="0" dirty="0">
              <a:solidFill>
                <a:schemeClr val="tx1"/>
              </a:solidFill>
              <a:latin typeface="Times New Roman" panose="02020603050405020304" pitchFamily="18" charset="0"/>
            </a:endParaRPr>
          </a:p>
        </p:txBody>
      </p:sp>
      <p:sp>
        <p:nvSpPr>
          <p:cNvPr id="30761" name="Rectangle 42" descr="新闻纸"/>
          <p:cNvSpPr/>
          <p:nvPr/>
        </p:nvSpPr>
        <p:spPr>
          <a:xfrm>
            <a:off x="512763" y="3230563"/>
            <a:ext cx="2171700" cy="498475"/>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62" name="Line 43"/>
          <p:cNvSpPr/>
          <p:nvPr/>
        </p:nvSpPr>
        <p:spPr>
          <a:xfrm>
            <a:off x="1598613" y="3230563"/>
            <a:ext cx="0" cy="498475"/>
          </a:xfrm>
          <a:prstGeom prst="line">
            <a:avLst/>
          </a:prstGeom>
          <a:ln w="9525" cap="flat" cmpd="sng">
            <a:solidFill>
              <a:schemeClr val="tx1"/>
            </a:solidFill>
            <a:prstDash val="solid"/>
            <a:headEnd type="none" w="med" len="med"/>
            <a:tailEnd type="none" w="med" len="med"/>
          </a:ln>
        </p:spPr>
      </p:sp>
      <p:sp>
        <p:nvSpPr>
          <p:cNvPr id="389164" name="Text Box 44"/>
          <p:cNvSpPr txBox="1">
            <a:spLocks noChangeArrowheads="1"/>
          </p:cNvSpPr>
          <p:nvPr/>
        </p:nvSpPr>
        <p:spPr bwMode="auto">
          <a:xfrm>
            <a:off x="566738" y="3279775"/>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65" name="Text Box 45"/>
          <p:cNvSpPr txBox="1">
            <a:spLocks noChangeArrowheads="1"/>
          </p:cNvSpPr>
          <p:nvPr/>
        </p:nvSpPr>
        <p:spPr bwMode="auto">
          <a:xfrm>
            <a:off x="1954213" y="3275013"/>
            <a:ext cx="842963"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X</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0765" name="Text Box 46"/>
          <p:cNvSpPr txBox="1"/>
          <p:nvPr/>
        </p:nvSpPr>
        <p:spPr>
          <a:xfrm>
            <a:off x="866775" y="3613150"/>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8</a:t>
            </a:r>
            <a:endParaRPr lang="en-US" altLang="zh-CN" sz="2400" b="0" dirty="0">
              <a:solidFill>
                <a:schemeClr val="tx1"/>
              </a:solidFill>
              <a:latin typeface="Times New Roman" panose="02020603050405020304" pitchFamily="18" charset="0"/>
            </a:endParaRPr>
          </a:p>
        </p:txBody>
      </p:sp>
      <p:sp>
        <p:nvSpPr>
          <p:cNvPr id="30766" name="Text Box 47"/>
          <p:cNvSpPr txBox="1"/>
          <p:nvPr/>
        </p:nvSpPr>
        <p:spPr>
          <a:xfrm>
            <a:off x="1922463" y="3613150"/>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8</a:t>
            </a:r>
            <a:endParaRPr lang="en-US" altLang="zh-CN" sz="2400" b="0" dirty="0">
              <a:solidFill>
                <a:schemeClr val="tx1"/>
              </a:solidFill>
              <a:latin typeface="Times New Roman" panose="02020603050405020304" pitchFamily="18" charset="0"/>
            </a:endParaRPr>
          </a:p>
        </p:txBody>
      </p:sp>
      <p:sp>
        <p:nvSpPr>
          <p:cNvPr id="30767" name="Rectangle 48" descr="新闻纸"/>
          <p:cNvSpPr/>
          <p:nvPr/>
        </p:nvSpPr>
        <p:spPr>
          <a:xfrm>
            <a:off x="530225" y="3971925"/>
            <a:ext cx="2171700" cy="498475"/>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68" name="Line 49"/>
          <p:cNvSpPr/>
          <p:nvPr/>
        </p:nvSpPr>
        <p:spPr>
          <a:xfrm>
            <a:off x="1936750" y="3971925"/>
            <a:ext cx="0" cy="498475"/>
          </a:xfrm>
          <a:prstGeom prst="line">
            <a:avLst/>
          </a:prstGeom>
          <a:ln w="9525" cap="flat" cmpd="sng">
            <a:solidFill>
              <a:schemeClr val="tx1"/>
            </a:solidFill>
            <a:prstDash val="solid"/>
            <a:headEnd type="none" w="med" len="med"/>
            <a:tailEnd type="none" w="med" len="med"/>
          </a:ln>
        </p:spPr>
      </p:sp>
      <p:sp>
        <p:nvSpPr>
          <p:cNvPr id="389170" name="Text Box 50"/>
          <p:cNvSpPr txBox="1">
            <a:spLocks noChangeArrowheads="1"/>
          </p:cNvSpPr>
          <p:nvPr/>
        </p:nvSpPr>
        <p:spPr bwMode="auto">
          <a:xfrm>
            <a:off x="952500" y="4019550"/>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71" name="Text Box 51"/>
          <p:cNvSpPr txBox="1">
            <a:spLocks noChangeArrowheads="1"/>
          </p:cNvSpPr>
          <p:nvPr/>
        </p:nvSpPr>
        <p:spPr bwMode="auto">
          <a:xfrm>
            <a:off x="2141538" y="4019550"/>
            <a:ext cx="452438"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D</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0771" name="Rectangle 52"/>
          <p:cNvSpPr/>
          <p:nvPr/>
        </p:nvSpPr>
        <p:spPr>
          <a:xfrm>
            <a:off x="2701925" y="3986213"/>
            <a:ext cx="1747838" cy="498475"/>
          </a:xfrm>
          <a:prstGeom prst="rect">
            <a:avLst/>
          </a:prstGeom>
          <a:noFill/>
          <a:ln w="28575" cap="flat" cmpd="sng">
            <a:solidFill>
              <a:schemeClr val="tx1"/>
            </a:solidFill>
            <a:prstDash val="sysDot"/>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72" name="Text Box 53"/>
          <p:cNvSpPr txBox="1"/>
          <p:nvPr/>
        </p:nvSpPr>
        <p:spPr>
          <a:xfrm>
            <a:off x="1027113" y="4354513"/>
            <a:ext cx="655637"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10</a:t>
            </a:r>
            <a:endParaRPr lang="en-US" altLang="zh-CN" sz="2400" b="0" dirty="0">
              <a:solidFill>
                <a:schemeClr val="tx1"/>
              </a:solidFill>
              <a:latin typeface="Times New Roman" panose="02020603050405020304" pitchFamily="18" charset="0"/>
            </a:endParaRPr>
          </a:p>
        </p:txBody>
      </p:sp>
      <p:sp>
        <p:nvSpPr>
          <p:cNvPr id="30773" name="Text Box 54"/>
          <p:cNvSpPr txBox="1"/>
          <p:nvPr/>
        </p:nvSpPr>
        <p:spPr>
          <a:xfrm>
            <a:off x="2168525" y="4341813"/>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6</a:t>
            </a:r>
            <a:endParaRPr lang="en-US" altLang="zh-CN" sz="2400" b="0" dirty="0">
              <a:solidFill>
                <a:schemeClr val="tx1"/>
              </a:solidFill>
              <a:latin typeface="Times New Roman" panose="02020603050405020304" pitchFamily="18" charset="0"/>
            </a:endParaRPr>
          </a:p>
        </p:txBody>
      </p:sp>
      <p:sp>
        <p:nvSpPr>
          <p:cNvPr id="30774" name="Text Box 55"/>
          <p:cNvSpPr txBox="1"/>
          <p:nvPr/>
        </p:nvSpPr>
        <p:spPr>
          <a:xfrm>
            <a:off x="3221038" y="4375150"/>
            <a:ext cx="590550"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16</a:t>
            </a:r>
            <a:endParaRPr lang="en-US" altLang="zh-CN" sz="2400" b="0" dirty="0">
              <a:solidFill>
                <a:schemeClr val="tx1"/>
              </a:solidFill>
              <a:latin typeface="Times New Roman" panose="02020603050405020304" pitchFamily="18" charset="0"/>
            </a:endParaRPr>
          </a:p>
        </p:txBody>
      </p:sp>
      <p:sp>
        <p:nvSpPr>
          <p:cNvPr id="30775" name="Rectangle 56" descr="新闻纸"/>
          <p:cNvSpPr/>
          <p:nvPr/>
        </p:nvSpPr>
        <p:spPr>
          <a:xfrm>
            <a:off x="530225" y="4740275"/>
            <a:ext cx="2171700" cy="500063"/>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0776" name="Line 57"/>
          <p:cNvSpPr/>
          <p:nvPr/>
        </p:nvSpPr>
        <p:spPr>
          <a:xfrm>
            <a:off x="2279650" y="4740275"/>
            <a:ext cx="0" cy="500063"/>
          </a:xfrm>
          <a:prstGeom prst="line">
            <a:avLst/>
          </a:prstGeom>
          <a:ln w="9525" cap="flat" cmpd="sng">
            <a:solidFill>
              <a:schemeClr val="tx1"/>
            </a:solidFill>
            <a:prstDash val="solid"/>
            <a:headEnd type="none" w="med" len="med"/>
            <a:tailEnd type="none" w="med" len="med"/>
          </a:ln>
        </p:spPr>
      </p:sp>
      <p:sp>
        <p:nvSpPr>
          <p:cNvPr id="389178" name="Text Box 58"/>
          <p:cNvSpPr txBox="1">
            <a:spLocks noChangeArrowheads="1"/>
          </p:cNvSpPr>
          <p:nvPr/>
        </p:nvSpPr>
        <p:spPr bwMode="auto">
          <a:xfrm>
            <a:off x="1136650" y="4789488"/>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9179" name="Text Box 59"/>
          <p:cNvSpPr txBox="1">
            <a:spLocks noChangeArrowheads="1"/>
          </p:cNvSpPr>
          <p:nvPr/>
        </p:nvSpPr>
        <p:spPr bwMode="auto">
          <a:xfrm>
            <a:off x="2284413" y="4789488"/>
            <a:ext cx="452438" cy="457200"/>
          </a:xfrm>
          <a:prstGeom prst="rect">
            <a:avLst/>
          </a:prstGeom>
          <a:noFill/>
          <a:ln w="9525">
            <a:noFill/>
            <a:miter lim="800000"/>
          </a:ln>
          <a:effectLst/>
        </p:spPr>
        <p:txBody>
          <a:bodyPr>
            <a:spAutoFit/>
          </a:bodyPr>
          <a:lstStyle>
            <a:lvl1pPr>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R</a:t>
            </a:r>
            <a:endParaRPr kumimoji="0" lang="en-US" altLang="zh-CN" sz="2400" b="0"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30779" name="Text Box 60"/>
          <p:cNvSpPr txBox="1"/>
          <p:nvPr/>
        </p:nvSpPr>
        <p:spPr>
          <a:xfrm>
            <a:off x="1385888" y="5140325"/>
            <a:ext cx="579437"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13</a:t>
            </a:r>
            <a:endParaRPr lang="en-US" altLang="zh-CN" sz="2400" b="0" dirty="0">
              <a:solidFill>
                <a:schemeClr val="tx1"/>
              </a:solidFill>
              <a:latin typeface="Times New Roman" panose="02020603050405020304" pitchFamily="18" charset="0"/>
            </a:endParaRPr>
          </a:p>
        </p:txBody>
      </p:sp>
      <p:sp>
        <p:nvSpPr>
          <p:cNvPr id="30780" name="Text Box 61"/>
          <p:cNvSpPr txBox="1"/>
          <p:nvPr/>
        </p:nvSpPr>
        <p:spPr>
          <a:xfrm>
            <a:off x="2282825" y="5141913"/>
            <a:ext cx="396875"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3</a:t>
            </a:r>
            <a:endParaRPr lang="en-US" altLang="zh-CN" sz="2400" b="0" dirty="0">
              <a:solidFill>
                <a:schemeClr val="tx1"/>
              </a:solidFill>
              <a:latin typeface="Times New Roman" panose="02020603050405020304" pitchFamily="18" charset="0"/>
            </a:endParaRPr>
          </a:p>
        </p:txBody>
      </p:sp>
      <p:sp>
        <p:nvSpPr>
          <p:cNvPr id="30781" name="Rectangle 62" descr="新闻纸"/>
          <p:cNvSpPr/>
          <p:nvPr/>
        </p:nvSpPr>
        <p:spPr>
          <a:xfrm>
            <a:off x="541338" y="5534025"/>
            <a:ext cx="2171700" cy="500063"/>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9183" name="Text Box 63"/>
          <p:cNvSpPr txBox="1">
            <a:spLocks noChangeArrowheads="1"/>
          </p:cNvSpPr>
          <p:nvPr/>
        </p:nvSpPr>
        <p:spPr bwMode="auto">
          <a:xfrm>
            <a:off x="1438275" y="5583238"/>
            <a:ext cx="646113"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OP</a:t>
            </a:r>
            <a:endParaRPr kumimoji="0" lang="en-US" altLang="zh-CN" sz="2400" b="0" kern="1200" cap="none" spc="0" normalizeH="0" baseline="0" noProof="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0783" name="Text Box 64"/>
          <p:cNvSpPr txBox="1"/>
          <p:nvPr/>
        </p:nvSpPr>
        <p:spPr>
          <a:xfrm>
            <a:off x="1511300" y="5948363"/>
            <a:ext cx="544513"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16</a:t>
            </a:r>
            <a:endParaRPr lang="en-US" altLang="zh-CN" sz="2400" b="0" dirty="0">
              <a:solidFill>
                <a:schemeClr val="tx1"/>
              </a:solidFill>
              <a:latin typeface="Times New Roman" panose="02020603050405020304" pitchFamily="18" charset="0"/>
            </a:endParaRPr>
          </a:p>
        </p:txBody>
      </p:sp>
      <p:sp>
        <p:nvSpPr>
          <p:cNvPr id="30784" name="Text Box 65"/>
          <p:cNvSpPr txBox="1"/>
          <p:nvPr/>
        </p:nvSpPr>
        <p:spPr>
          <a:xfrm>
            <a:off x="4916488" y="2451100"/>
            <a:ext cx="3995737" cy="3046413"/>
          </a:xfrm>
          <a:prstGeom prst="rect">
            <a:avLst/>
          </a:prstGeom>
          <a:noFill/>
          <a:ln w="9525">
            <a:noFill/>
          </a:ln>
        </p:spPr>
        <p:txBody>
          <a:bodyPr>
            <a:spAutoFit/>
          </a:bodyPr>
          <a:lstStyle/>
          <a:p>
            <a:pPr>
              <a:spcBef>
                <a:spcPct val="50000"/>
              </a:spcBef>
            </a:pPr>
            <a:r>
              <a:rPr lang="en-US" altLang="zh-CN" sz="2400" dirty="0">
                <a:solidFill>
                  <a:srgbClr val="0000FF"/>
                </a:solidFill>
                <a:latin typeface="Arial" panose="020B0604020202020204" pitchFamily="34" charset="0"/>
                <a:ea typeface="黑体" panose="02010609060101010101" pitchFamily="49" charset="-122"/>
              </a:rPr>
              <a:t>S</a:t>
            </a:r>
            <a:r>
              <a:rPr lang="zh-CN" altLang="en-US" sz="2400" dirty="0">
                <a:solidFill>
                  <a:srgbClr val="0000FF"/>
                </a:solidFill>
                <a:latin typeface="Arial" panose="020B0604020202020204" pitchFamily="34" charset="0"/>
                <a:ea typeface="黑体" panose="02010609060101010101" pitchFamily="49" charset="-122"/>
              </a:rPr>
              <a:t>、</a:t>
            </a:r>
            <a:r>
              <a:rPr lang="en-US" altLang="zh-CN" sz="2400" dirty="0">
                <a:solidFill>
                  <a:srgbClr val="0000FF"/>
                </a:solidFill>
                <a:latin typeface="Arial" panose="020B0604020202020204" pitchFamily="34" charset="0"/>
                <a:ea typeface="黑体" panose="02010609060101010101" pitchFamily="49" charset="-122"/>
              </a:rPr>
              <a:t>D</a:t>
            </a:r>
            <a:r>
              <a:rPr lang="zh-CN" altLang="en-US" sz="2400" dirty="0">
                <a:solidFill>
                  <a:srgbClr val="0000FF"/>
                </a:solidFill>
                <a:latin typeface="Arial" panose="020B0604020202020204" pitchFamily="34" charset="0"/>
                <a:ea typeface="黑体" panose="02010609060101010101" pitchFamily="49" charset="-122"/>
              </a:rPr>
              <a:t>：</a:t>
            </a:r>
            <a:r>
              <a:rPr lang="en-US" altLang="zh-CN" sz="2400" dirty="0">
                <a:solidFill>
                  <a:schemeClr val="tx1"/>
                </a:solidFill>
                <a:latin typeface="Arial" panose="020B0604020202020204" pitchFamily="34" charset="0"/>
                <a:ea typeface="黑体" panose="02010609060101010101" pitchFamily="49" charset="-122"/>
              </a:rPr>
              <a:t>3</a:t>
            </a:r>
            <a:r>
              <a:rPr lang="zh-CN" altLang="en-US" sz="2400" dirty="0">
                <a:solidFill>
                  <a:schemeClr val="tx1"/>
                </a:solidFill>
                <a:latin typeface="Arial" panose="020B0604020202020204" pitchFamily="34" charset="0"/>
                <a:ea typeface="黑体" panose="02010609060101010101" pitchFamily="49" charset="-122"/>
              </a:rPr>
              <a:t>位指定寻址方式，</a:t>
            </a:r>
            <a:r>
              <a:rPr lang="en-US" altLang="zh-CN" sz="2400" dirty="0">
                <a:solidFill>
                  <a:schemeClr val="tx1"/>
                </a:solidFill>
                <a:latin typeface="Arial" panose="020B0604020202020204" pitchFamily="34" charset="0"/>
                <a:ea typeface="黑体" panose="02010609060101010101" pitchFamily="49" charset="-122"/>
              </a:rPr>
              <a:t>3</a:t>
            </a:r>
            <a:r>
              <a:rPr lang="zh-CN" altLang="en-US" sz="2400" dirty="0">
                <a:solidFill>
                  <a:schemeClr val="tx1"/>
                </a:solidFill>
                <a:latin typeface="Arial" panose="020B0604020202020204" pitchFamily="34" charset="0"/>
                <a:ea typeface="黑体" panose="02010609060101010101" pitchFamily="49" charset="-122"/>
              </a:rPr>
              <a:t>位为寄存器编号</a:t>
            </a:r>
            <a:endParaRPr lang="zh-CN" altLang="en-US" sz="24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400" dirty="0">
                <a:solidFill>
                  <a:srgbClr val="0000FF"/>
                </a:solidFill>
                <a:latin typeface="Arial" panose="020B0604020202020204" pitchFamily="34" charset="0"/>
                <a:ea typeface="黑体" panose="02010609060101010101" pitchFamily="49" charset="-122"/>
              </a:rPr>
              <a:t>R</a:t>
            </a:r>
            <a:r>
              <a:rPr lang="zh-CN" altLang="en-US" sz="2400" dirty="0">
                <a:solidFill>
                  <a:srgbClr val="0000FF"/>
                </a:solidFill>
                <a:latin typeface="Arial" panose="020B0604020202020204" pitchFamily="34" charset="0"/>
                <a:ea typeface="黑体" panose="02010609060101010101" pitchFamily="49" charset="-122"/>
              </a:rPr>
              <a:t>：</a:t>
            </a:r>
            <a:r>
              <a:rPr lang="en-US" altLang="zh-CN" sz="2400" dirty="0">
                <a:solidFill>
                  <a:schemeClr val="tx1"/>
                </a:solidFill>
                <a:latin typeface="Arial" panose="020B0604020202020204" pitchFamily="34" charset="0"/>
                <a:ea typeface="黑体" panose="02010609060101010101" pitchFamily="49" charset="-122"/>
              </a:rPr>
              <a:t>8</a:t>
            </a:r>
            <a:r>
              <a:rPr lang="zh-CN" altLang="en-US" sz="2400" dirty="0">
                <a:solidFill>
                  <a:schemeClr val="tx1"/>
                </a:solidFill>
                <a:latin typeface="Arial" panose="020B0604020202020204" pitchFamily="34" charset="0"/>
                <a:ea typeface="黑体" panose="02010609060101010101" pitchFamily="49" charset="-122"/>
              </a:rPr>
              <a:t>个通用寄存器之一</a:t>
            </a:r>
            <a:endParaRPr lang="zh-CN" altLang="en-US" sz="24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400" dirty="0">
                <a:solidFill>
                  <a:srgbClr val="0000FF"/>
                </a:solidFill>
                <a:latin typeface="Arial" panose="020B0604020202020204" pitchFamily="34" charset="0"/>
                <a:ea typeface="黑体" panose="02010609060101010101" pitchFamily="49" charset="-122"/>
              </a:rPr>
              <a:t>FR</a:t>
            </a:r>
            <a:r>
              <a:rPr lang="zh-CN" altLang="en-US" sz="2400" dirty="0">
                <a:solidFill>
                  <a:srgbClr val="0000FF"/>
                </a:solidFill>
                <a:latin typeface="Arial" panose="020B0604020202020204" pitchFamily="34" charset="0"/>
                <a:ea typeface="黑体" panose="02010609060101010101" pitchFamily="49" charset="-122"/>
              </a:rPr>
              <a:t>：</a:t>
            </a:r>
            <a:r>
              <a:rPr lang="en-US" altLang="zh-CN" sz="2400" dirty="0">
                <a:solidFill>
                  <a:schemeClr val="tx1"/>
                </a:solidFill>
                <a:latin typeface="Arial" panose="020B0604020202020204" pitchFamily="34" charset="0"/>
                <a:ea typeface="黑体" panose="02010609060101010101" pitchFamily="49" charset="-122"/>
              </a:rPr>
              <a:t>4</a:t>
            </a:r>
            <a:r>
              <a:rPr lang="zh-CN" altLang="en-US" sz="2400" dirty="0">
                <a:solidFill>
                  <a:schemeClr val="tx1"/>
                </a:solidFill>
                <a:latin typeface="Arial" panose="020B0604020202020204" pitchFamily="34" charset="0"/>
                <a:ea typeface="黑体" panose="02010609060101010101" pitchFamily="49" charset="-122"/>
              </a:rPr>
              <a:t>个浮点寄存器之一</a:t>
            </a:r>
            <a:endParaRPr lang="zh-CN" altLang="en-US" sz="24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400" dirty="0">
                <a:solidFill>
                  <a:srgbClr val="0000FF"/>
                </a:solidFill>
                <a:latin typeface="Arial" panose="020B0604020202020204" pitchFamily="34" charset="0"/>
                <a:ea typeface="黑体" panose="02010609060101010101" pitchFamily="49" charset="-122"/>
              </a:rPr>
              <a:t>X</a:t>
            </a:r>
            <a:r>
              <a:rPr lang="zh-CN" altLang="en-US" sz="2400" dirty="0">
                <a:solidFill>
                  <a:srgbClr val="0000FF"/>
                </a:solidFill>
                <a:latin typeface="Arial" panose="020B0604020202020204" pitchFamily="34" charset="0"/>
                <a:ea typeface="黑体" panose="02010609060101010101" pitchFamily="49" charset="-122"/>
              </a:rPr>
              <a:t>：</a:t>
            </a:r>
            <a:r>
              <a:rPr lang="zh-CN" altLang="en-US" sz="2400" dirty="0">
                <a:solidFill>
                  <a:schemeClr val="tx1"/>
                </a:solidFill>
                <a:latin typeface="Arial" panose="020B0604020202020204" pitchFamily="34" charset="0"/>
                <a:ea typeface="黑体" panose="02010609060101010101" pitchFamily="49" charset="-122"/>
              </a:rPr>
              <a:t>位移</a:t>
            </a:r>
            <a:endParaRPr lang="zh-CN" altLang="en-US" sz="2400" dirty="0">
              <a:solidFill>
                <a:schemeClr val="tx1"/>
              </a:solidFill>
              <a:latin typeface="Arial" panose="020B0604020202020204" pitchFamily="34" charset="0"/>
              <a:ea typeface="黑体" panose="02010609060101010101" pitchFamily="49" charset="-122"/>
            </a:endParaRPr>
          </a:p>
          <a:p>
            <a:pPr>
              <a:spcBef>
                <a:spcPct val="50000"/>
              </a:spcBef>
            </a:pPr>
            <a:endParaRPr lang="zh-CN" altLang="en-US" sz="2400" dirty="0">
              <a:solidFill>
                <a:schemeClr val="tx1"/>
              </a:solidFill>
              <a:latin typeface="Arial" panose="020B0604020202020204" pitchFamily="34" charset="0"/>
              <a:ea typeface="黑体" panose="02010609060101010101" pitchFamily="49" charset="-122"/>
            </a:endParaRPr>
          </a:p>
        </p:txBody>
      </p:sp>
      <p:sp>
        <p:nvSpPr>
          <p:cNvPr id="389186" name="Text Box 66"/>
          <p:cNvSpPr txBox="1">
            <a:spLocks noChangeArrowheads="1"/>
          </p:cNvSpPr>
          <p:nvPr/>
        </p:nvSpPr>
        <p:spPr bwMode="auto">
          <a:xfrm>
            <a:off x="2808288" y="2449513"/>
            <a:ext cx="1544638"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存储地址</a:t>
            </a:r>
            <a:endPar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sp>
        <p:nvSpPr>
          <p:cNvPr id="389187" name="Text Box 67"/>
          <p:cNvSpPr txBox="1">
            <a:spLocks noChangeArrowheads="1"/>
          </p:cNvSpPr>
          <p:nvPr/>
        </p:nvSpPr>
        <p:spPr bwMode="auto">
          <a:xfrm>
            <a:off x="2849563" y="3979863"/>
            <a:ext cx="151765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rPr>
              <a:t>存储地址</a:t>
            </a:r>
            <a:endPar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mn-cs"/>
            </a:endParaRPr>
          </a:p>
        </p:txBody>
      </p:sp>
      <p:sp>
        <p:nvSpPr>
          <p:cNvPr id="30787" name="Text Box 68"/>
          <p:cNvSpPr txBox="1"/>
          <p:nvPr/>
        </p:nvSpPr>
        <p:spPr>
          <a:xfrm>
            <a:off x="4926013" y="1884363"/>
            <a:ext cx="3663950" cy="415925"/>
          </a:xfrm>
          <a:prstGeom prst="rect">
            <a:avLst/>
          </a:prstGeom>
          <a:noFill/>
          <a:ln w="12700">
            <a:noFill/>
          </a:ln>
        </p:spPr>
        <p:txBody>
          <a:bodyPr lIns="63500" tIns="25400" rIns="63500" bIns="25400">
            <a:spAutoFit/>
          </a:bodyPr>
          <a:lstStyle/>
          <a:p>
            <a:pPr>
              <a:spcBef>
                <a:spcPct val="50000"/>
              </a:spcBef>
            </a:pPr>
            <a:r>
              <a:rPr lang="zh-CN" altLang="en-US" sz="2400" dirty="0">
                <a:latin typeface="Arial" panose="020B0604020202020204" pitchFamily="34" charset="0"/>
                <a:ea typeface="黑体" panose="02010609060101010101" pitchFamily="49" charset="-122"/>
              </a:rPr>
              <a:t>采用专门的寻址方式字段</a:t>
            </a:r>
            <a:endParaRPr lang="zh-CN" altLang="en-US" sz="2400" dirty="0">
              <a:latin typeface="Arial" panose="020B0604020202020204" pitchFamily="34" charset="0"/>
              <a:ea typeface="黑体" panose="02010609060101010101" pitchFamily="49" charset="-122"/>
            </a:endParaRPr>
          </a:p>
        </p:txBody>
      </p:sp>
      <p:sp>
        <p:nvSpPr>
          <p:cNvPr id="68" name="TextBox 67"/>
          <p:cNvSpPr txBox="1"/>
          <p:nvPr/>
        </p:nvSpPr>
        <p:spPr>
          <a:xfrm>
            <a:off x="3562350" y="5605463"/>
            <a:ext cx="4640263" cy="460375"/>
          </a:xfrm>
          <a:prstGeom prst="rect">
            <a:avLst/>
          </a:prstGeom>
          <a:noFill/>
          <a:ln w="9525">
            <a:noFill/>
          </a:ln>
        </p:spPr>
        <p:txBody>
          <a:bodyPr>
            <a:spAutoFit/>
          </a:bodyPr>
          <a:lstStyle/>
          <a:p>
            <a:r>
              <a:rPr lang="zh-CN" altLang="en-US" sz="2400" dirty="0">
                <a:solidFill>
                  <a:schemeClr val="tx1"/>
                </a:solidFill>
                <a:latin typeface="黑体" panose="02010609060101010101" pitchFamily="49" charset="-122"/>
                <a:ea typeface="黑体" panose="02010609060101010101" pitchFamily="49" charset="-122"/>
              </a:rPr>
              <a:t>格式：变长操作码、变长指令字</a:t>
            </a:r>
            <a:endParaRPr lang="zh-CN" altLang="en-US" sz="2400" dirty="0">
              <a:solidFill>
                <a:schemeClr val="tx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blinds(horizontal)">
                                      <p:cBhvr>
                                        <p:cTn id="7"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820738" y="139700"/>
            <a:ext cx="6924675" cy="425450"/>
          </a:xfrm>
        </p:spPr>
        <p:txBody>
          <a:bodyPr vert="horz" wrap="square" lIns="63500" tIns="25400" rIns="63500" bIns="25400" anchor="t" anchorCtr="0">
            <a:spAutoFit/>
          </a:bodyPr>
          <a:lstStyle/>
          <a:p>
            <a:r>
              <a:rPr lang="zh-CN" altLang="en-US" sz="2800" dirty="0">
                <a:ea typeface="宋体" panose="02010600030101010101" pitchFamily="2" charset="-122"/>
              </a:rPr>
              <a:t>条件测试方式</a:t>
            </a:r>
            <a:endParaRPr lang="en-US" altLang="zh-CN" sz="2800" dirty="0">
              <a:ea typeface="宋体" panose="02010600030101010101" pitchFamily="2" charset="-122"/>
            </a:endParaRPr>
          </a:p>
        </p:txBody>
      </p:sp>
      <p:sp>
        <p:nvSpPr>
          <p:cNvPr id="391171" name="Rectangle 3"/>
          <p:cNvSpPr>
            <a:spLocks noGrp="1" noChangeArrowheads="1"/>
          </p:cNvSpPr>
          <p:nvPr>
            <p:ph idx="1"/>
          </p:nvPr>
        </p:nvSpPr>
        <p:spPr>
          <a:xfrm>
            <a:off x="157163" y="708025"/>
            <a:ext cx="8986838" cy="5580063"/>
          </a:xfrm>
        </p:spPr>
        <p:txBody>
          <a:bodyPr vert="horz" wrap="square" lIns="63500" tIns="25400" rIns="63500" bIns="25400" numCol="1" anchor="t" anchorCtr="0" compatLnSpc="1">
            <a:spAutoFit/>
          </a:bodyPr>
          <a:lstStyle/>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zh-CN" altLang="en-US" sz="1600" b="1" i="0" u="none" strike="noStrike" kern="0" cap="none" spc="0" normalizeH="0" baseline="0" noProof="0" dirty="0">
                <a:ln>
                  <a:noFill/>
                </a:ln>
                <a:solidFill>
                  <a:schemeClr val="tx1"/>
                </a:solidFill>
                <a:effectLst/>
                <a:uLnTx/>
                <a:uFillTx/>
                <a:latin typeface="+mn-lt"/>
                <a:ea typeface="+mn-ea"/>
                <a:cs typeface="+mn-cs"/>
              </a:rPr>
              <a:t>° </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条件转移指令通常根据</a:t>
            </a:r>
            <a:r>
              <a:rPr kumimoji="0" lang="en-US" altLang="zh-CN"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Condition Codes (</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条件码 </a:t>
            </a:r>
            <a:r>
              <a:rPr kumimoji="0" lang="en-US" altLang="zh-CN"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CC/ </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状态位 </a:t>
            </a:r>
            <a:r>
              <a:rPr kumimoji="0" lang="en-US" altLang="zh-CN"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标志位</a:t>
            </a:r>
            <a:r>
              <a:rPr kumimoji="0" lang="en-US" altLang="zh-CN"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转移 </a:t>
            </a:r>
            <a:endParaRPr kumimoji="0" lang="en-US" altLang="zh-CN"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通过执行算术指令或显式地由比较和测试指令来设置</a:t>
            </a:r>
            <a:r>
              <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CC</a:t>
            </a:r>
            <a:endPar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ex: sub</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r1, r2, r3     ;r2</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和</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r3</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相减</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结果在</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r1</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中，并生成标志位</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ZF</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CF</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等</a:t>
            </a:r>
            <a:endPar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err="1">
                <a:ln>
                  <a:noFill/>
                </a:ln>
                <a:solidFill>
                  <a:srgbClr val="A50021"/>
                </a:solidFill>
                <a:effectLst/>
                <a:uLnTx/>
                <a:uFillTx/>
                <a:latin typeface="Arial" panose="020B0604020202020204" pitchFamily="34" charset="0"/>
                <a:ea typeface="黑体" panose="02010609060101010101" pitchFamily="49" charset="-122"/>
                <a:cs typeface="+mn-cs"/>
              </a:rPr>
              <a:t>bz</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label</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标志位</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ZF=1</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时转到</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label</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处执行；否则顺序执行</a:t>
            </a:r>
            <a:endPar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35000"/>
              </a:lnSpc>
              <a:spcBef>
                <a:spcPct val="20000"/>
              </a:spcBef>
              <a:spcAft>
                <a:spcPct val="0"/>
              </a:spcAft>
              <a:buClrTx/>
              <a:buSzPct val="75000"/>
              <a:buFont typeface="Wingdings" panose="05000000000000000000" pitchFamily="2" charset="2"/>
              <a:buNone/>
              <a:tabLst>
                <a:tab pos="965200" algn="l"/>
              </a:tabLst>
              <a:defRPr/>
            </a:pPr>
            <a:r>
              <a:rPr kumimoji="0" lang="zh-CN" altLang="en-US" sz="16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常用的标志（条件码）有四种（</a:t>
            </a:r>
            <a:r>
              <a:rPr kumimoji="0" lang="zh-CN" altLang="en-US" sz="1800" b="1" i="0" u="none" strike="noStrike" kern="0" cap="none" spc="0" normalizeH="0" baseline="0" noProof="0" dirty="0">
                <a:ln>
                  <a:noFill/>
                </a:ln>
                <a:solidFill>
                  <a:srgbClr val="C51915"/>
                </a:solidFill>
                <a:effectLst/>
                <a:uLnTx/>
                <a:uFillTx/>
                <a:latin typeface="Arial" panose="020B0604020202020204" pitchFamily="34" charset="0"/>
                <a:ea typeface="黑体" panose="02010609060101010101" pitchFamily="49" charset="-122"/>
                <a:cs typeface="+mn-cs"/>
              </a:rPr>
              <a:t>哪四种？</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endParaRPr kumimoji="0" lang="zh-CN" altLang="en-US" sz="1800" b="1" i="1"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SF – negative   OF</a:t>
            </a:r>
            <a:r>
              <a:rPr kumimoji="0" lang="zh-CN" altLang="en-US"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 overflow  </a:t>
            </a:r>
            <a:endPar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CF – </a:t>
            </a:r>
            <a:r>
              <a:rPr kumimoji="0" lang="zh-CN" altLang="en-US" sz="18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进位</a:t>
            </a:r>
            <a:r>
              <a:rPr kumimoji="0" lang="en-US" altLang="zh-CN" sz="18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chemeClr val="accent2"/>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借位</a:t>
            </a:r>
            <a:r>
              <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ZF – zero</a:t>
            </a:r>
            <a:endParaRPr kumimoji="0" lang="en-US" altLang="zh-CN"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借位如何生成？</a:t>
            </a: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CF=</a:t>
            </a:r>
            <a:r>
              <a:rPr kumimoji="0" lang="en-US" altLang="zh-CN" sz="1800" b="1" i="0" u="none" strike="noStrike" kern="0" cap="none" spc="0" normalizeH="0" baseline="0" noProof="0" dirty="0" err="1">
                <a:ln>
                  <a:noFill/>
                </a:ln>
                <a:solidFill>
                  <a:schemeClr val="tx1"/>
                </a:solidFill>
                <a:effectLst/>
                <a:uLnTx/>
                <a:uFillTx/>
                <a:latin typeface="Arial" panose="020B0604020202020204" pitchFamily="34" charset="0"/>
                <a:ea typeface="黑体" panose="02010609060101010101" pitchFamily="49" charset="-122"/>
                <a:cs typeface="+mn-cs"/>
              </a:rPr>
              <a:t>Cout</a:t>
            </a:r>
            <a:r>
              <a:rPr kumimoji="0" lang="en-US" altLang="zh-CN" sz="1800" b="1" i="0" u="none" strike="noStrike" kern="0" cap="none" spc="0" normalizeH="0" baseline="0" noProof="0" dirty="0" err="1">
                <a:ln>
                  <a:noFill/>
                </a:ln>
                <a:solidFill>
                  <a:schemeClr val="tx1"/>
                </a:solidFill>
                <a:effectLst/>
                <a:uLnTx/>
                <a:uFillTx/>
                <a:latin typeface="Arial" panose="020B0604020202020204" pitchFamily="34" charset="0"/>
                <a:ea typeface="+mn-ea"/>
                <a:cs typeface="+mn-cs"/>
              </a:rPr>
              <a:t>⊕sub</a:t>
            </a:r>
            <a:endPar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标志可存</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标志寄存器</a:t>
            </a: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条件码寄存器</a:t>
            </a:r>
            <a:endPar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状态寄存器</a:t>
            </a: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a:t>
            </a:r>
            <a:r>
              <a:rPr kumimoji="0" lang="zh-CN" altLang="en-US" sz="1800" b="1" i="0" u="none" strike="noStrike" kern="0" cap="none" spc="0" normalizeH="0" baseline="0" noProof="0" dirty="0">
                <a:ln>
                  <a:noFill/>
                </a:ln>
                <a:solidFill>
                  <a:schemeClr val="accent1"/>
                </a:solidFill>
                <a:effectLst/>
                <a:uLnTx/>
                <a:uFillTx/>
                <a:latin typeface="Arial" panose="020B0604020202020204" pitchFamily="34" charset="0"/>
                <a:ea typeface="黑体" panose="02010609060101010101" pitchFamily="49" charset="-122"/>
                <a:cs typeface="+mn-cs"/>
              </a:rPr>
              <a:t>程序状态字寄存器</a:t>
            </a:r>
            <a:endParaRPr kumimoji="0" lang="zh-CN" altLang="en-US"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zh-CN" altLang="en-US"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也可由指定的通用寄存器来存放状态位</a:t>
            </a:r>
            <a:endParaRPr kumimoji="0" lang="zh-CN" altLang="en-US" sz="18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Ex:	</a:t>
            </a:r>
            <a:r>
              <a:rPr kumimoji="0" lang="en-US" altLang="zh-CN" sz="1800" b="1" i="0" u="none" strike="noStrike" kern="0" cap="none" spc="0" normalizeH="0" baseline="0" noProof="0" dirty="0" err="1">
                <a:ln>
                  <a:noFill/>
                </a:ln>
                <a:solidFill>
                  <a:srgbClr val="A50021"/>
                </a:solidFill>
                <a:effectLst/>
                <a:uLnTx/>
                <a:uFillTx/>
                <a:latin typeface="Arial" panose="020B0604020202020204" pitchFamily="34" charset="0"/>
                <a:ea typeface="黑体" panose="02010609060101010101" pitchFamily="49" charset="-122"/>
                <a:cs typeface="+mn-cs"/>
              </a:rPr>
              <a:t>cmp</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r1, r2, r3    ;</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比较</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r2</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和</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r3, </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标志位存储在</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r1</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中</a:t>
            </a:r>
            <a:endPar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err="1">
                <a:ln>
                  <a:noFill/>
                </a:ln>
                <a:solidFill>
                  <a:srgbClr val="A50021"/>
                </a:solidFill>
                <a:effectLst/>
                <a:uLnTx/>
                <a:uFillTx/>
                <a:latin typeface="Arial" panose="020B0604020202020204" pitchFamily="34" charset="0"/>
                <a:ea typeface="黑体" panose="02010609060101010101" pitchFamily="49" charset="-122"/>
                <a:cs typeface="+mn-cs"/>
              </a:rPr>
              <a:t>bgt</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r1, label       ;</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判断</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r1</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是否大于</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0</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，是则转移到</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label</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处</a:t>
            </a:r>
            <a:endPar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可以将两条指令合成一条指令，即：计算并转移</a:t>
            </a:r>
            <a:endParaRPr kumimoji="0" lang="zh-CN" altLang="en-US"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20000"/>
              </a:lnSpc>
              <a:spcBef>
                <a:spcPct val="20000"/>
              </a:spcBef>
              <a:spcAft>
                <a:spcPct val="0"/>
              </a:spcAft>
              <a:buClrTx/>
              <a:buSzPct val="75000"/>
              <a:buFont typeface="Wingdings" panose="05000000000000000000" pitchFamily="2" charset="2"/>
              <a:buNone/>
              <a:tabLst>
                <a:tab pos="965200" algn="l"/>
              </a:tabLst>
              <a:defRPr/>
            </a:pPr>
            <a:r>
              <a:rPr kumimoji="0" lang="en-US" altLang="zh-CN" sz="18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Ex:	</a:t>
            </a:r>
            <a:r>
              <a:rPr kumimoji="0" lang="en-US" altLang="zh-CN" sz="1800" b="1" i="0" u="none" strike="noStrike" kern="0" cap="none" spc="0" normalizeH="0" baseline="0" noProof="0" dirty="0" err="1">
                <a:ln>
                  <a:noFill/>
                </a:ln>
                <a:solidFill>
                  <a:srgbClr val="A50021"/>
                </a:solidFill>
                <a:effectLst/>
                <a:uLnTx/>
                <a:uFillTx/>
                <a:latin typeface="Arial" panose="020B0604020202020204" pitchFamily="34" charset="0"/>
                <a:ea typeface="黑体" panose="02010609060101010101" pitchFamily="49" charset="-122"/>
                <a:cs typeface="+mn-cs"/>
              </a:rPr>
              <a:t>bgt</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 r1, r2, label   ;</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如果</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r1&gt;r2</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，则转移到</a:t>
            </a:r>
            <a:r>
              <a:rPr kumimoji="0" lang="en-US" altLang="zh-CN"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label</a:t>
            </a:r>
            <a:r>
              <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处执行；否则顺序执行</a:t>
            </a:r>
            <a:endParaRPr kumimoji="0" lang="zh-CN" altLang="en-US" sz="18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p:txBody>
      </p:sp>
      <p:sp>
        <p:nvSpPr>
          <p:cNvPr id="391172" name="Text Box 4"/>
          <p:cNvSpPr txBox="1"/>
          <p:nvPr/>
        </p:nvSpPr>
        <p:spPr>
          <a:xfrm>
            <a:off x="5559425" y="3648075"/>
            <a:ext cx="3370263" cy="1117600"/>
          </a:xfrm>
          <a:prstGeom prst="rect">
            <a:avLst/>
          </a:prstGeom>
          <a:solidFill>
            <a:schemeClr val="bg1">
              <a:alpha val="25098"/>
            </a:schemeClr>
          </a:solidFill>
          <a:ln w="12700">
            <a:noFill/>
          </a:ln>
        </p:spPr>
        <p:txBody>
          <a:bodyPr lIns="63500" tIns="25400" rIns="63500" bIns="25400">
            <a:spAutoFit/>
          </a:bodyPr>
          <a:lstStyle/>
          <a:p>
            <a:pPr>
              <a:spcBef>
                <a:spcPct val="25000"/>
              </a:spcBef>
            </a:pPr>
            <a:r>
              <a:rPr lang="en-US" altLang="zh-CN" sz="2000" dirty="0">
                <a:solidFill>
                  <a:schemeClr val="tx1"/>
                </a:solidFill>
                <a:latin typeface="Arial" panose="020B0604020202020204" pitchFamily="34" charset="0"/>
                <a:ea typeface="黑体" panose="02010609060101010101" pitchFamily="49" charset="-122"/>
              </a:rPr>
              <a:t>bgt</a:t>
            </a:r>
            <a:r>
              <a:rPr lang="zh-CN" altLang="en-US" sz="2000" dirty="0">
                <a:solidFill>
                  <a:schemeClr val="tx1"/>
                </a:solidFill>
                <a:latin typeface="Arial" panose="020B0604020202020204" pitchFamily="34" charset="0"/>
                <a:ea typeface="黑体" panose="02010609060101010101" pitchFamily="49" charset="-122"/>
              </a:rPr>
              <a:t>的条件？</a:t>
            </a:r>
            <a:endParaRPr lang="zh-CN" altLang="en-US" sz="2000" dirty="0">
              <a:solidFill>
                <a:schemeClr val="tx1"/>
              </a:solidFill>
              <a:latin typeface="Arial" panose="020B0604020202020204" pitchFamily="34" charset="0"/>
              <a:ea typeface="黑体" panose="02010609060101010101" pitchFamily="49" charset="-122"/>
            </a:endParaRPr>
          </a:p>
          <a:p>
            <a:pPr>
              <a:spcBef>
                <a:spcPct val="25000"/>
              </a:spcBef>
            </a:pPr>
            <a:r>
              <a:rPr lang="zh-CN" altLang="en-US" sz="2000" dirty="0">
                <a:solidFill>
                  <a:schemeClr val="tx1"/>
                </a:solidFill>
                <a:latin typeface="Arial" panose="020B0604020202020204" pitchFamily="34" charset="0"/>
                <a:ea typeface="黑体" panose="02010609060101010101" pitchFamily="49" charset="-122"/>
              </a:rPr>
              <a:t>无符号数：</a:t>
            </a:r>
            <a:r>
              <a:rPr lang="en-US" altLang="zh-CN" sz="2000" dirty="0">
                <a:solidFill>
                  <a:schemeClr val="tx1"/>
                </a:solidFill>
                <a:latin typeface="Arial" panose="020B0604020202020204" pitchFamily="34" charset="0"/>
                <a:ea typeface="黑体" panose="02010609060101010101" pitchFamily="49" charset="-122"/>
              </a:rPr>
              <a:t>ZF=0^CF=0</a:t>
            </a:r>
            <a:endParaRPr lang="en-US" altLang="zh-CN" sz="2000" dirty="0">
              <a:solidFill>
                <a:schemeClr val="tx1"/>
              </a:solidFill>
              <a:latin typeface="Arial" panose="020B0604020202020204" pitchFamily="34" charset="0"/>
              <a:ea typeface="黑体" panose="02010609060101010101" pitchFamily="49" charset="-122"/>
            </a:endParaRPr>
          </a:p>
          <a:p>
            <a:pPr>
              <a:spcBef>
                <a:spcPct val="25000"/>
              </a:spcBef>
            </a:pPr>
            <a:r>
              <a:rPr lang="zh-CN" altLang="en-US" sz="2000" dirty="0">
                <a:solidFill>
                  <a:schemeClr val="tx1"/>
                </a:solidFill>
                <a:latin typeface="Arial" panose="020B0604020202020204" pitchFamily="34" charset="0"/>
                <a:ea typeface="黑体" panose="02010609060101010101" pitchFamily="49" charset="-122"/>
              </a:rPr>
              <a:t>带符号整数：</a:t>
            </a:r>
            <a:r>
              <a:rPr lang="en-US" altLang="zh-CN" sz="2000" dirty="0">
                <a:solidFill>
                  <a:schemeClr val="tx1"/>
                </a:solidFill>
                <a:latin typeface="Arial" panose="020B0604020202020204" pitchFamily="34" charset="0"/>
                <a:ea typeface="黑体" panose="02010609060101010101" pitchFamily="49" charset="-122"/>
              </a:rPr>
              <a:t>ZF=0^SF</a:t>
            </a:r>
            <a:r>
              <a:rPr lang="zh-CN" altLang="en-US" sz="2000" dirty="0">
                <a:solidFill>
                  <a:schemeClr val="tx1"/>
                </a:solidFill>
                <a:latin typeface="Arial" panose="020B0604020202020204" pitchFamily="34" charset="0"/>
                <a:ea typeface="黑体" panose="02010609060101010101" pitchFamily="49" charset="-122"/>
              </a:rPr>
              <a:t>≡</a:t>
            </a:r>
            <a:r>
              <a:rPr lang="en-US" altLang="zh-CN" sz="2000" dirty="0">
                <a:solidFill>
                  <a:schemeClr val="tx1"/>
                </a:solidFill>
                <a:latin typeface="Arial" panose="020B0604020202020204" pitchFamily="34" charset="0"/>
                <a:ea typeface="黑体" panose="02010609060101010101" pitchFamily="49" charset="-122"/>
              </a:rPr>
              <a:t>OF</a:t>
            </a:r>
            <a:endParaRPr lang="en-US" altLang="zh-CN" sz="2000" dirty="0">
              <a:solidFill>
                <a:schemeClr val="tx1"/>
              </a:solidFill>
              <a:latin typeface="Arial" panose="020B0604020202020204" pitchFamily="34" charset="0"/>
              <a:ea typeface="黑体" panose="02010609060101010101" pitchFamily="49" charset="-122"/>
            </a:endParaRPr>
          </a:p>
        </p:txBody>
      </p:sp>
      <p:sp>
        <p:nvSpPr>
          <p:cNvPr id="2" name="Text Box 4"/>
          <p:cNvSpPr txBox="1"/>
          <p:nvPr/>
        </p:nvSpPr>
        <p:spPr>
          <a:xfrm>
            <a:off x="5494338" y="2238375"/>
            <a:ext cx="3209925" cy="1287463"/>
          </a:xfrm>
          <a:prstGeom prst="rect">
            <a:avLst/>
          </a:prstGeom>
          <a:noFill/>
          <a:ln w="12700">
            <a:noFill/>
          </a:ln>
        </p:spPr>
        <p:txBody>
          <a:bodyPr lIns="63500" tIns="25400" rIns="63500" bIns="25400">
            <a:spAutoFit/>
          </a:bodyPr>
          <a:lstStyle/>
          <a:p>
            <a:pPr>
              <a:spcBef>
                <a:spcPct val="50000"/>
              </a:spcBef>
            </a:pPr>
            <a:r>
              <a:rPr lang="zh-CN" altLang="en-US" sz="1800" dirty="0">
                <a:solidFill>
                  <a:srgbClr val="388A36"/>
                </a:solidFill>
                <a:latin typeface="Arial" panose="020B0604020202020204" pitchFamily="34" charset="0"/>
                <a:ea typeface="黑体" panose="02010609060101010101" pitchFamily="49" charset="-122"/>
              </a:rPr>
              <a:t>对于带符号和无符号运算，标志生成方式有没有不同？</a:t>
            </a:r>
            <a:endParaRPr lang="zh-CN" altLang="en-US" sz="1800" dirty="0">
              <a:solidFill>
                <a:srgbClr val="388A36"/>
              </a:solidFill>
              <a:latin typeface="Arial" panose="020B0604020202020204" pitchFamily="34" charset="0"/>
              <a:ea typeface="黑体" panose="02010609060101010101" pitchFamily="49" charset="-122"/>
            </a:endParaRPr>
          </a:p>
          <a:p>
            <a:pPr>
              <a:spcBef>
                <a:spcPct val="50000"/>
              </a:spcBef>
            </a:pPr>
            <a:r>
              <a:rPr lang="zh-CN" altLang="en-US" sz="1800" dirty="0">
                <a:solidFill>
                  <a:srgbClr val="388A36"/>
                </a:solidFill>
                <a:latin typeface="Arial" panose="020B0604020202020204" pitchFamily="34" charset="0"/>
                <a:ea typeface="黑体" panose="02010609060101010101" pitchFamily="49" charset="-122"/>
              </a:rPr>
              <a:t>没有，因为加法电路不知道是无符号数还是带符号整数！</a:t>
            </a:r>
            <a:endParaRPr lang="zh-CN" altLang="en-US" sz="1800" dirty="0">
              <a:solidFill>
                <a:srgbClr val="388A36"/>
              </a:solidFill>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1171">
                                            <p:txEl>
                                              <p:pRg st="2" end="2"/>
                                            </p:txEl>
                                          </p:spTgt>
                                        </p:tgtEl>
                                        <p:attrNameLst>
                                          <p:attrName>style.visibility</p:attrName>
                                        </p:attrNameLst>
                                      </p:cBhvr>
                                      <p:to>
                                        <p:strVal val="visible"/>
                                      </p:to>
                                    </p:set>
                                    <p:animEffect transition="in" filter="blinds(horizontal)">
                                      <p:cBhvr>
                                        <p:cTn id="7" dur="500"/>
                                        <p:tgtEl>
                                          <p:spTgt spid="39117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1171">
                                            <p:txEl>
                                              <p:pRg st="3" end="3"/>
                                            </p:txEl>
                                          </p:spTgt>
                                        </p:tgtEl>
                                        <p:attrNameLst>
                                          <p:attrName>style.visibility</p:attrName>
                                        </p:attrNameLst>
                                      </p:cBhvr>
                                      <p:to>
                                        <p:strVal val="visible"/>
                                      </p:to>
                                    </p:set>
                                    <p:animEffect transition="in" filter="blinds(horizontal)">
                                      <p:cBhvr>
                                        <p:cTn id="10" dur="500"/>
                                        <p:tgtEl>
                                          <p:spTgt spid="391171">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91171">
                                            <p:txEl>
                                              <p:pRg st="5" end="5"/>
                                            </p:txEl>
                                          </p:spTgt>
                                        </p:tgtEl>
                                        <p:attrNameLst>
                                          <p:attrName>style.visibility</p:attrName>
                                        </p:attrNameLst>
                                      </p:cBhvr>
                                      <p:to>
                                        <p:strVal val="visible"/>
                                      </p:to>
                                    </p:set>
                                    <p:animEffect transition="in" filter="blinds(horizontal)">
                                      <p:cBhvr>
                                        <p:cTn id="15" dur="500"/>
                                        <p:tgtEl>
                                          <p:spTgt spid="391171">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91171">
                                            <p:txEl>
                                              <p:pRg st="6" end="6"/>
                                            </p:txEl>
                                          </p:spTgt>
                                        </p:tgtEl>
                                        <p:attrNameLst>
                                          <p:attrName>style.visibility</p:attrName>
                                        </p:attrNameLst>
                                      </p:cBhvr>
                                      <p:to>
                                        <p:strVal val="visible"/>
                                      </p:to>
                                    </p:set>
                                    <p:animEffect transition="in" filter="blinds(horizontal)">
                                      <p:cBhvr>
                                        <p:cTn id="20" dur="500"/>
                                        <p:tgtEl>
                                          <p:spTgt spid="391171">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91171">
                                            <p:txEl>
                                              <p:pRg st="7" end="7"/>
                                            </p:txEl>
                                          </p:spTgt>
                                        </p:tgtEl>
                                        <p:attrNameLst>
                                          <p:attrName>style.visibility</p:attrName>
                                        </p:attrNameLst>
                                      </p:cBhvr>
                                      <p:to>
                                        <p:strVal val="visible"/>
                                      </p:to>
                                    </p:set>
                                    <p:animEffect transition="in" filter="blinds(horizontal)">
                                      <p:cBhvr>
                                        <p:cTn id="25" dur="500"/>
                                        <p:tgtEl>
                                          <p:spTgt spid="391171">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
                                            <p:txEl>
                                              <p:pRg st="0" end="0"/>
                                            </p:txEl>
                                          </p:spTgt>
                                        </p:tgtEl>
                                        <p:attrNameLst>
                                          <p:attrName>style.visibility</p:attrName>
                                        </p:attrNameLst>
                                      </p:cBhvr>
                                      <p:to>
                                        <p:strVal val="visible"/>
                                      </p:to>
                                    </p:set>
                                    <p:animEffect transition="in" filter="blinds(horizontal)">
                                      <p:cBhvr>
                                        <p:cTn id="30" dur="500"/>
                                        <p:tgtEl>
                                          <p:spTgt spid="2">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
                                            <p:txEl>
                                              <p:pRg st="1" end="1"/>
                                            </p:txEl>
                                          </p:spTgt>
                                        </p:tgtEl>
                                        <p:attrNameLst>
                                          <p:attrName>style.visibility</p:attrName>
                                        </p:attrNameLst>
                                      </p:cBhvr>
                                      <p:to>
                                        <p:strVal val="visible"/>
                                      </p:to>
                                    </p:set>
                                    <p:animEffect transition="in" filter="blinds(horizontal)">
                                      <p:cBhvr>
                                        <p:cTn id="35" dur="500"/>
                                        <p:tgtEl>
                                          <p:spTgt spid="2">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91171">
                                            <p:txEl>
                                              <p:pRg st="8" end="8"/>
                                            </p:txEl>
                                          </p:spTgt>
                                        </p:tgtEl>
                                        <p:attrNameLst>
                                          <p:attrName>style.visibility</p:attrName>
                                        </p:attrNameLst>
                                      </p:cBhvr>
                                      <p:to>
                                        <p:strVal val="visible"/>
                                      </p:to>
                                    </p:set>
                                    <p:animEffect transition="in" filter="blinds(horizontal)">
                                      <p:cBhvr>
                                        <p:cTn id="40" dur="500"/>
                                        <p:tgtEl>
                                          <p:spTgt spid="391171">
                                            <p:txEl>
                                              <p:pRg st="8" end="8"/>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391171">
                                            <p:txEl>
                                              <p:pRg st="9" end="9"/>
                                            </p:txEl>
                                          </p:spTgt>
                                        </p:tgtEl>
                                        <p:attrNameLst>
                                          <p:attrName>style.visibility</p:attrName>
                                        </p:attrNameLst>
                                      </p:cBhvr>
                                      <p:to>
                                        <p:strVal val="visible"/>
                                      </p:to>
                                    </p:set>
                                    <p:animEffect transition="in" filter="blinds(horizontal)">
                                      <p:cBhvr>
                                        <p:cTn id="43" dur="500"/>
                                        <p:tgtEl>
                                          <p:spTgt spid="391171">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91171">
                                            <p:txEl>
                                              <p:pRg st="10" end="10"/>
                                            </p:txEl>
                                          </p:spTgt>
                                        </p:tgtEl>
                                        <p:attrNameLst>
                                          <p:attrName>style.visibility</p:attrName>
                                        </p:attrNameLst>
                                      </p:cBhvr>
                                      <p:to>
                                        <p:strVal val="visible"/>
                                      </p:to>
                                    </p:set>
                                    <p:animEffect transition="in" filter="blinds(horizontal)">
                                      <p:cBhvr>
                                        <p:cTn id="48" dur="500"/>
                                        <p:tgtEl>
                                          <p:spTgt spid="391171">
                                            <p:txEl>
                                              <p:pRg st="10" end="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391171">
                                            <p:txEl>
                                              <p:pRg st="11" end="11"/>
                                            </p:txEl>
                                          </p:spTgt>
                                        </p:tgtEl>
                                        <p:attrNameLst>
                                          <p:attrName>style.visibility</p:attrName>
                                        </p:attrNameLst>
                                      </p:cBhvr>
                                      <p:to>
                                        <p:strVal val="visible"/>
                                      </p:to>
                                    </p:set>
                                    <p:animEffect transition="in" filter="blinds(horizontal)">
                                      <p:cBhvr>
                                        <p:cTn id="53" dur="500"/>
                                        <p:tgtEl>
                                          <p:spTgt spid="391171">
                                            <p:txEl>
                                              <p:pRg st="11" end="11"/>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391171">
                                            <p:txEl>
                                              <p:pRg st="12" end="12"/>
                                            </p:txEl>
                                          </p:spTgt>
                                        </p:tgtEl>
                                        <p:attrNameLst>
                                          <p:attrName>style.visibility</p:attrName>
                                        </p:attrNameLst>
                                      </p:cBhvr>
                                      <p:to>
                                        <p:strVal val="visible"/>
                                      </p:to>
                                    </p:set>
                                    <p:animEffect transition="in" filter="blinds(horizontal)">
                                      <p:cBhvr>
                                        <p:cTn id="56" dur="500"/>
                                        <p:tgtEl>
                                          <p:spTgt spid="391171">
                                            <p:txEl>
                                              <p:pRg st="12" end="1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391171">
                                            <p:txEl>
                                              <p:pRg st="13" end="13"/>
                                            </p:txEl>
                                          </p:spTgt>
                                        </p:tgtEl>
                                        <p:attrNameLst>
                                          <p:attrName>style.visibility</p:attrName>
                                        </p:attrNameLst>
                                      </p:cBhvr>
                                      <p:to>
                                        <p:strVal val="visible"/>
                                      </p:to>
                                    </p:set>
                                    <p:animEffect transition="in" filter="blinds(horizontal)">
                                      <p:cBhvr>
                                        <p:cTn id="61" dur="500"/>
                                        <p:tgtEl>
                                          <p:spTgt spid="391171">
                                            <p:txEl>
                                              <p:pRg st="13" end="13"/>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nodeType="clickEffect">
                                  <p:stCondLst>
                                    <p:cond delay="0"/>
                                  </p:stCondLst>
                                  <p:childTnLst>
                                    <p:set>
                                      <p:cBhvr>
                                        <p:cTn id="65" dur="1" fill="hold">
                                          <p:stCondLst>
                                            <p:cond delay="0"/>
                                          </p:stCondLst>
                                        </p:cTn>
                                        <p:tgtEl>
                                          <p:spTgt spid="391171">
                                            <p:txEl>
                                              <p:pRg st="14" end="14"/>
                                            </p:txEl>
                                          </p:spTgt>
                                        </p:tgtEl>
                                        <p:attrNameLst>
                                          <p:attrName>style.visibility</p:attrName>
                                        </p:attrNameLst>
                                      </p:cBhvr>
                                      <p:to>
                                        <p:strVal val="visible"/>
                                      </p:to>
                                    </p:set>
                                    <p:animEffect transition="in" filter="blinds(horizontal)">
                                      <p:cBhvr>
                                        <p:cTn id="66" dur="500"/>
                                        <p:tgtEl>
                                          <p:spTgt spid="391171">
                                            <p:txEl>
                                              <p:pRg st="14" end="14"/>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nodeType="clickEffect">
                                  <p:stCondLst>
                                    <p:cond delay="0"/>
                                  </p:stCondLst>
                                  <p:childTnLst>
                                    <p:set>
                                      <p:cBhvr>
                                        <p:cTn id="70" dur="1" fill="hold">
                                          <p:stCondLst>
                                            <p:cond delay="0"/>
                                          </p:stCondLst>
                                        </p:cTn>
                                        <p:tgtEl>
                                          <p:spTgt spid="391172">
                                            <p:txEl>
                                              <p:pRg st="0" end="0"/>
                                            </p:txEl>
                                          </p:spTgt>
                                        </p:tgtEl>
                                        <p:attrNameLst>
                                          <p:attrName>style.visibility</p:attrName>
                                        </p:attrNameLst>
                                      </p:cBhvr>
                                      <p:to>
                                        <p:strVal val="visible"/>
                                      </p:to>
                                    </p:set>
                                    <p:animEffect transition="in" filter="blinds(horizontal)">
                                      <p:cBhvr>
                                        <p:cTn id="71" dur="500"/>
                                        <p:tgtEl>
                                          <p:spTgt spid="391172">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nodeType="clickEffect">
                                  <p:stCondLst>
                                    <p:cond delay="0"/>
                                  </p:stCondLst>
                                  <p:childTnLst>
                                    <p:set>
                                      <p:cBhvr>
                                        <p:cTn id="75" dur="1" fill="hold">
                                          <p:stCondLst>
                                            <p:cond delay="0"/>
                                          </p:stCondLst>
                                        </p:cTn>
                                        <p:tgtEl>
                                          <p:spTgt spid="391172">
                                            <p:txEl>
                                              <p:pRg st="1" end="1"/>
                                            </p:txEl>
                                          </p:spTgt>
                                        </p:tgtEl>
                                        <p:attrNameLst>
                                          <p:attrName>style.visibility</p:attrName>
                                        </p:attrNameLst>
                                      </p:cBhvr>
                                      <p:to>
                                        <p:strVal val="visible"/>
                                      </p:to>
                                    </p:set>
                                    <p:animEffect transition="in" filter="blinds(horizontal)">
                                      <p:cBhvr>
                                        <p:cTn id="76" dur="500"/>
                                        <p:tgtEl>
                                          <p:spTgt spid="391172">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nodeType="clickEffect">
                                  <p:stCondLst>
                                    <p:cond delay="0"/>
                                  </p:stCondLst>
                                  <p:childTnLst>
                                    <p:set>
                                      <p:cBhvr>
                                        <p:cTn id="80" dur="1" fill="hold">
                                          <p:stCondLst>
                                            <p:cond delay="0"/>
                                          </p:stCondLst>
                                        </p:cTn>
                                        <p:tgtEl>
                                          <p:spTgt spid="391172">
                                            <p:txEl>
                                              <p:pRg st="2" end="2"/>
                                            </p:txEl>
                                          </p:spTgt>
                                        </p:tgtEl>
                                        <p:attrNameLst>
                                          <p:attrName>style.visibility</p:attrName>
                                        </p:attrNameLst>
                                      </p:cBhvr>
                                      <p:to>
                                        <p:strVal val="visible"/>
                                      </p:to>
                                    </p:set>
                                    <p:animEffect transition="in" filter="blinds(horizontal)">
                                      <p:cBhvr>
                                        <p:cTn id="81" dur="500"/>
                                        <p:tgtEl>
                                          <p:spTgt spid="3911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idx="4294967295"/>
          </p:nvPr>
        </p:nvSpPr>
        <p:spPr>
          <a:xfrm>
            <a:off x="522288" y="100013"/>
            <a:ext cx="8156575" cy="538162"/>
          </a:xfrm>
        </p:spPr>
        <p:txBody>
          <a:bodyPr vert="horz" wrap="square" lIns="63500" tIns="25400" rIns="63500" bIns="25400" anchor="t" anchorCtr="0">
            <a:spAutoFit/>
          </a:bodyPr>
          <a:lstStyle/>
          <a:p>
            <a:r>
              <a:rPr lang="zh-CN" altLang="en-US" sz="3200" dirty="0">
                <a:ea typeface="宋体" panose="02010600030101010101" pitchFamily="2" charset="-122"/>
              </a:rPr>
              <a:t>标志信息是干什么的？</a:t>
            </a:r>
            <a:endParaRPr lang="zh-CN" altLang="en-US" sz="3200" dirty="0">
              <a:ea typeface="宋体" panose="02010600030101010101" pitchFamily="2" charset="-122"/>
            </a:endParaRPr>
          </a:p>
        </p:txBody>
      </p:sp>
      <p:sp>
        <p:nvSpPr>
          <p:cNvPr id="742403" name="Rectangle 3"/>
          <p:cNvSpPr>
            <a:spLocks noGrp="1" noChangeArrowheads="1"/>
          </p:cNvSpPr>
          <p:nvPr>
            <p:ph type="body" idx="1"/>
          </p:nvPr>
        </p:nvSpPr>
        <p:spPr>
          <a:xfrm>
            <a:off x="296863" y="1089025"/>
            <a:ext cx="8574088" cy="811213"/>
          </a:xfrm>
        </p:spPr>
        <p:txBody>
          <a:bodyPr vert="horz" wrap="square" lIns="63500" tIns="25400" rIns="63500" bIns="25400" numCol="1" anchor="t" anchorCtr="0" compatLnSpc="1">
            <a:spAutoFit/>
          </a:bodyPr>
          <a:lstStyle/>
          <a:p>
            <a:pPr marL="285750" marR="0" lvl="0" indent="-285750" algn="l" defTabSz="914400" rtl="0" eaLnBrk="0" fontAlgn="base" latinLnBrk="0" hangingPunct="0">
              <a:lnSpc>
                <a:spcPct val="95000"/>
              </a:lnSpc>
              <a:spcBef>
                <a:spcPct val="0"/>
              </a:spcBef>
              <a:spcAft>
                <a:spcPct val="0"/>
              </a:spcAft>
              <a:buClrTx/>
              <a:buSzPct val="75000"/>
              <a:buFontTx/>
              <a:buNone/>
              <a:defRPr/>
            </a:pPr>
            <a:r>
              <a:rPr kumimoji="0" lang="en-US" altLang="zh-CN" sz="2500" b="1" i="0" u="none" strike="noStrike" kern="0" cap="none" spc="0" normalizeH="0" baseline="0" noProof="0" dirty="0">
                <a:ln>
                  <a:noFill/>
                </a:ln>
                <a:solidFill>
                  <a:schemeClr val="tx1"/>
                </a:solidFill>
                <a:effectLst/>
                <a:uLnTx/>
                <a:uFillTx/>
                <a:latin typeface="+mj-ea"/>
                <a:ea typeface="+mj-ea"/>
                <a:cs typeface="+mn-cs"/>
              </a:rPr>
              <a:t>Ex1:  -7- 6 = -7 + (-6) = +3              6 - (-7) = 6 + 7 = -3</a:t>
            </a:r>
            <a:endParaRPr kumimoji="0" lang="zh-CN" altLang="en-US" sz="2500" b="1" i="0" u="none" strike="noStrike" kern="0" cap="none" spc="0" normalizeH="0" baseline="0" noProof="0" dirty="0">
              <a:ln>
                <a:noFill/>
              </a:ln>
              <a:solidFill>
                <a:schemeClr val="tx1"/>
              </a:solidFill>
              <a:effectLst/>
              <a:uLnTx/>
              <a:uFillTx/>
              <a:latin typeface="+mj-ea"/>
              <a:ea typeface="+mj-ea"/>
              <a:cs typeface="+mn-cs"/>
            </a:endParaRPr>
          </a:p>
          <a:p>
            <a:pPr marL="285750" marR="0" lvl="0" indent="-285750" algn="l" defTabSz="914400" rtl="0" eaLnBrk="0" fontAlgn="base" latinLnBrk="0" hangingPunct="0">
              <a:lnSpc>
                <a:spcPct val="80000"/>
              </a:lnSpc>
              <a:spcBef>
                <a:spcPct val="0"/>
              </a:spcBef>
              <a:spcAft>
                <a:spcPct val="0"/>
              </a:spcAft>
              <a:buClrTx/>
              <a:buSzPct val="75000"/>
              <a:buFontTx/>
              <a:buNone/>
              <a:defRPr/>
            </a:pPr>
            <a:r>
              <a:rPr kumimoji="0" lang="en-US" altLang="zh-CN" sz="3200" b="1" i="0" u="none" strike="noStrike" kern="0" cap="none" spc="0" normalizeH="0" baseline="0" noProof="0" dirty="0">
                <a:ln>
                  <a:noFill/>
                </a:ln>
                <a:solidFill>
                  <a:schemeClr val="tx1"/>
                </a:solidFill>
                <a:effectLst/>
                <a:uLnTx/>
                <a:uFillTx/>
                <a:latin typeface="+mn-lt"/>
                <a:ea typeface="+mn-ea"/>
                <a:cs typeface="+mn-cs"/>
              </a:rPr>
              <a:t>    </a:t>
            </a:r>
            <a:r>
              <a:rPr kumimoji="0" lang="en-US" altLang="zh-CN" sz="2500" b="1" i="0" u="none" strike="noStrike" kern="0" cap="none" spc="0" normalizeH="0" baseline="0" noProof="0" dirty="0">
                <a:ln>
                  <a:noFill/>
                </a:ln>
                <a:solidFill>
                  <a:schemeClr val="tx1"/>
                </a:solidFill>
                <a:effectLst/>
                <a:uLnTx/>
                <a:uFillTx/>
                <a:latin typeface="+mj-lt"/>
                <a:ea typeface="+mn-ea"/>
                <a:cs typeface="+mn-cs"/>
              </a:rPr>
              <a:t>9 - 6 = 3 		               6 - 9 = 13</a:t>
            </a:r>
            <a:endParaRPr kumimoji="0" lang="en-US" altLang="zh-CN" sz="2500" b="1" i="0" u="none" strike="noStrike" kern="0" cap="none" spc="0" normalizeH="0" baseline="0" noProof="0" dirty="0">
              <a:ln>
                <a:noFill/>
              </a:ln>
              <a:solidFill>
                <a:schemeClr val="tx1"/>
              </a:solidFill>
              <a:effectLst/>
              <a:uLnTx/>
              <a:uFillTx/>
              <a:latin typeface="+mj-lt"/>
              <a:ea typeface="+mn-ea"/>
              <a:cs typeface="+mn-cs"/>
            </a:endParaRPr>
          </a:p>
        </p:txBody>
      </p:sp>
      <p:sp>
        <p:nvSpPr>
          <p:cNvPr id="34820" name="Rectangle 4"/>
          <p:cNvSpPr/>
          <p:nvPr/>
        </p:nvSpPr>
        <p:spPr>
          <a:xfrm>
            <a:off x="1935163" y="2468563"/>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21" name="Rectangle 8"/>
          <p:cNvSpPr/>
          <p:nvPr/>
        </p:nvSpPr>
        <p:spPr>
          <a:xfrm>
            <a:off x="1935163" y="2811463"/>
            <a:ext cx="325437"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22" name="Rectangle 12"/>
          <p:cNvSpPr/>
          <p:nvPr/>
        </p:nvSpPr>
        <p:spPr>
          <a:xfrm>
            <a:off x="1173163" y="2849563"/>
            <a:ext cx="328612" cy="393700"/>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a:t>
            </a:r>
            <a:endParaRPr lang="zh-CN" altLang="en-US" sz="2000" dirty="0">
              <a:solidFill>
                <a:schemeClr val="tx1"/>
              </a:solidFill>
              <a:latin typeface="Arial" panose="020B0604020202020204" pitchFamily="34" charset="0"/>
            </a:endParaRPr>
          </a:p>
        </p:txBody>
      </p:sp>
      <p:sp>
        <p:nvSpPr>
          <p:cNvPr id="34823" name="Line 13"/>
          <p:cNvSpPr/>
          <p:nvPr/>
        </p:nvSpPr>
        <p:spPr>
          <a:xfrm>
            <a:off x="1193800" y="3154363"/>
            <a:ext cx="2806700" cy="0"/>
          </a:xfrm>
          <a:prstGeom prst="line">
            <a:avLst/>
          </a:prstGeom>
          <a:ln w="28575" cap="flat" cmpd="sng">
            <a:solidFill>
              <a:schemeClr val="tx1"/>
            </a:solidFill>
            <a:prstDash val="solid"/>
            <a:headEnd type="none" w="med" len="med"/>
            <a:tailEnd type="none" w="med" len="med"/>
          </a:ln>
        </p:spPr>
      </p:sp>
      <p:sp>
        <p:nvSpPr>
          <p:cNvPr id="34824" name="Rectangle 38"/>
          <p:cNvSpPr/>
          <p:nvPr/>
        </p:nvSpPr>
        <p:spPr>
          <a:xfrm>
            <a:off x="1866900" y="2033588"/>
            <a:ext cx="325438" cy="398462"/>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25" name="Line 39"/>
          <p:cNvSpPr/>
          <p:nvPr/>
        </p:nvSpPr>
        <p:spPr>
          <a:xfrm flipH="1" flipV="1">
            <a:off x="2171700" y="2309813"/>
            <a:ext cx="393700" cy="698500"/>
          </a:xfrm>
          <a:prstGeom prst="line">
            <a:avLst/>
          </a:prstGeom>
          <a:ln w="12700" cap="flat" cmpd="sng">
            <a:solidFill>
              <a:schemeClr val="tx1"/>
            </a:solidFill>
            <a:prstDash val="solid"/>
            <a:headEnd type="none" w="med" len="med"/>
            <a:tailEnd type="triangle" w="med" len="med"/>
          </a:ln>
        </p:spPr>
      </p:sp>
      <p:sp>
        <p:nvSpPr>
          <p:cNvPr id="34826" name="Line 41"/>
          <p:cNvSpPr/>
          <p:nvPr/>
        </p:nvSpPr>
        <p:spPr>
          <a:xfrm flipH="1" flipV="1">
            <a:off x="1562100" y="2309813"/>
            <a:ext cx="393700" cy="698500"/>
          </a:xfrm>
          <a:prstGeom prst="line">
            <a:avLst/>
          </a:prstGeom>
          <a:ln w="12700" cap="flat" cmpd="sng">
            <a:solidFill>
              <a:schemeClr val="tx1"/>
            </a:solidFill>
            <a:prstDash val="solid"/>
            <a:headEnd type="none" w="med" len="med"/>
            <a:tailEnd type="triangle" w="med" len="med"/>
          </a:ln>
        </p:spPr>
      </p:sp>
      <p:sp>
        <p:nvSpPr>
          <p:cNvPr id="34827" name="Rectangle 87"/>
          <p:cNvSpPr/>
          <p:nvPr/>
        </p:nvSpPr>
        <p:spPr>
          <a:xfrm>
            <a:off x="2527300" y="2484438"/>
            <a:ext cx="325438"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28" name="Rectangle 88"/>
          <p:cNvSpPr/>
          <p:nvPr/>
        </p:nvSpPr>
        <p:spPr>
          <a:xfrm>
            <a:off x="3119438" y="2495550"/>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29" name="Rectangle 89"/>
          <p:cNvSpPr/>
          <p:nvPr/>
        </p:nvSpPr>
        <p:spPr>
          <a:xfrm>
            <a:off x="3138488" y="2816225"/>
            <a:ext cx="325437"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30" name="Rectangle 90"/>
          <p:cNvSpPr/>
          <p:nvPr/>
        </p:nvSpPr>
        <p:spPr>
          <a:xfrm>
            <a:off x="3743325" y="2486025"/>
            <a:ext cx="325438"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31" name="Rectangle 91"/>
          <p:cNvSpPr/>
          <p:nvPr/>
        </p:nvSpPr>
        <p:spPr>
          <a:xfrm>
            <a:off x="3743325" y="3243263"/>
            <a:ext cx="325438"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32" name="Rectangle 103"/>
          <p:cNvSpPr/>
          <p:nvPr/>
        </p:nvSpPr>
        <p:spPr>
          <a:xfrm>
            <a:off x="1354138" y="2047875"/>
            <a:ext cx="325437" cy="398463"/>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33" name="Rectangle 104"/>
          <p:cNvSpPr/>
          <p:nvPr/>
        </p:nvSpPr>
        <p:spPr>
          <a:xfrm>
            <a:off x="1936750" y="3213100"/>
            <a:ext cx="325438"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34" name="Rectangle 105"/>
          <p:cNvSpPr/>
          <p:nvPr/>
        </p:nvSpPr>
        <p:spPr>
          <a:xfrm>
            <a:off x="2524125" y="3228975"/>
            <a:ext cx="325438"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0</a:t>
            </a:r>
            <a:endParaRPr lang="zh-CN" altLang="en-US" sz="2000" dirty="0">
              <a:solidFill>
                <a:schemeClr val="tx1"/>
              </a:solidFill>
              <a:latin typeface="Arial" panose="020B0604020202020204" pitchFamily="34" charset="0"/>
            </a:endParaRPr>
          </a:p>
        </p:txBody>
      </p:sp>
      <p:sp>
        <p:nvSpPr>
          <p:cNvPr id="34835" name="Rectangle 106"/>
          <p:cNvSpPr/>
          <p:nvPr/>
        </p:nvSpPr>
        <p:spPr>
          <a:xfrm>
            <a:off x="2525713" y="2828925"/>
            <a:ext cx="325437"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0</a:t>
            </a:r>
            <a:endParaRPr lang="zh-CN" altLang="en-US" sz="2000" dirty="0">
              <a:solidFill>
                <a:schemeClr val="tx1"/>
              </a:solidFill>
              <a:latin typeface="Arial" panose="020B0604020202020204" pitchFamily="34" charset="0"/>
            </a:endParaRPr>
          </a:p>
        </p:txBody>
      </p:sp>
      <p:sp>
        <p:nvSpPr>
          <p:cNvPr id="34836" name="Rectangle 107"/>
          <p:cNvSpPr/>
          <p:nvPr/>
        </p:nvSpPr>
        <p:spPr>
          <a:xfrm>
            <a:off x="3125788" y="3230563"/>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37" name="Rectangle 108"/>
          <p:cNvSpPr/>
          <p:nvPr/>
        </p:nvSpPr>
        <p:spPr>
          <a:xfrm>
            <a:off x="3741738" y="2832100"/>
            <a:ext cx="325437"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0</a:t>
            </a:r>
            <a:endParaRPr lang="zh-CN" altLang="en-US" sz="2000" dirty="0">
              <a:solidFill>
                <a:schemeClr val="tx1"/>
              </a:solidFill>
              <a:latin typeface="Arial" panose="020B0604020202020204" pitchFamily="34" charset="0"/>
            </a:endParaRPr>
          </a:p>
        </p:txBody>
      </p:sp>
      <p:sp>
        <p:nvSpPr>
          <p:cNvPr id="34838" name="Rectangle 145"/>
          <p:cNvSpPr/>
          <p:nvPr/>
        </p:nvSpPr>
        <p:spPr>
          <a:xfrm>
            <a:off x="1930400" y="2447925"/>
            <a:ext cx="377825" cy="1089025"/>
          </a:xfrm>
          <a:prstGeom prst="rect">
            <a:avLst/>
          </a:prstGeom>
          <a:noFill/>
          <a:ln w="28575" cap="flat" cmpd="sng">
            <a:solidFill>
              <a:schemeClr val="accent2"/>
            </a:solidFill>
            <a:prstDash val="solid"/>
            <a:miter/>
            <a:headEnd type="none" w="med" len="med"/>
            <a:tailEnd type="none" w="med" len="med"/>
          </a:ln>
        </p:spPr>
        <p:txBody>
          <a:bodyPr wrap="none" anchor="ctr" anchorCtr="0"/>
          <a:lstStyle/>
          <a:p>
            <a:endParaRPr lang="zh-CN" altLang="en-US" sz="1600" dirty="0">
              <a:solidFill>
                <a:schemeClr val="tx1"/>
              </a:solidFill>
              <a:latin typeface="Times New Roman" panose="02020603050405020304" pitchFamily="18" charset="0"/>
            </a:endParaRPr>
          </a:p>
        </p:txBody>
      </p:sp>
      <p:sp>
        <p:nvSpPr>
          <p:cNvPr id="34839" name="Text Box 61"/>
          <p:cNvSpPr txBox="1"/>
          <p:nvPr/>
        </p:nvSpPr>
        <p:spPr>
          <a:xfrm>
            <a:off x="1150938" y="5003800"/>
            <a:ext cx="6165850" cy="1298575"/>
          </a:xfrm>
          <a:prstGeom prst="rect">
            <a:avLst/>
          </a:prstGeom>
          <a:noFill/>
          <a:ln w="9525">
            <a:noFill/>
          </a:ln>
        </p:spPr>
        <p:txBody>
          <a:bodyPr>
            <a:spAutoFit/>
          </a:bodyPr>
          <a:lstStyle/>
          <a:p>
            <a:pPr>
              <a:spcBef>
                <a:spcPct val="15000"/>
              </a:spcBef>
            </a:pPr>
            <a:r>
              <a:rPr lang="zh-CN" altLang="en-US" sz="2400" dirty="0">
                <a:solidFill>
                  <a:srgbClr val="3333CC"/>
                </a:solidFill>
                <a:latin typeface="微软雅黑" panose="020B0503020204020204" pitchFamily="34" charset="-122"/>
                <a:ea typeface="微软雅黑" panose="020B0503020204020204" pitchFamily="34" charset="-122"/>
              </a:rPr>
              <a:t>做减法以比较大小</a:t>
            </a:r>
            <a:r>
              <a:rPr lang="zh-CN" altLang="en-US" sz="2400" dirty="0">
                <a:solidFill>
                  <a:srgbClr val="008000"/>
                </a:solidFill>
                <a:latin typeface="微软雅黑" panose="020B0503020204020204" pitchFamily="34" charset="-122"/>
                <a:ea typeface="微软雅黑" panose="020B0503020204020204" pitchFamily="34" charset="-122"/>
              </a:rPr>
              <a:t>，规则：</a:t>
            </a:r>
            <a:endParaRPr lang="zh-CN" altLang="en-US" sz="2400" dirty="0">
              <a:solidFill>
                <a:srgbClr val="008000"/>
              </a:solidFill>
              <a:latin typeface="微软雅黑" panose="020B0503020204020204" pitchFamily="34" charset="-122"/>
              <a:ea typeface="微软雅黑" panose="020B0503020204020204" pitchFamily="34" charset="-122"/>
            </a:endParaRPr>
          </a:p>
          <a:p>
            <a:pPr>
              <a:spcBef>
                <a:spcPct val="15000"/>
              </a:spcBef>
            </a:pPr>
            <a:r>
              <a:rPr lang="en-US" altLang="zh-CN" sz="2400" dirty="0">
                <a:solidFill>
                  <a:srgbClr val="008000"/>
                </a:solidFill>
                <a:latin typeface="微软雅黑" panose="020B0503020204020204" pitchFamily="34" charset="-122"/>
                <a:ea typeface="微软雅黑" panose="020B0503020204020204" pitchFamily="34" charset="-122"/>
              </a:rPr>
              <a:t>Unsigned: CF=0</a:t>
            </a:r>
            <a:r>
              <a:rPr lang="zh-CN" altLang="en-US" sz="2400" dirty="0">
                <a:solidFill>
                  <a:srgbClr val="008000"/>
                </a:solidFill>
                <a:latin typeface="微软雅黑" panose="020B0503020204020204" pitchFamily="34" charset="-122"/>
                <a:ea typeface="微软雅黑" panose="020B0503020204020204" pitchFamily="34" charset="-122"/>
              </a:rPr>
              <a:t>时，大于</a:t>
            </a:r>
            <a:endParaRPr lang="zh-CN" altLang="en-US" sz="2400" dirty="0">
              <a:solidFill>
                <a:srgbClr val="008000"/>
              </a:solidFill>
              <a:latin typeface="微软雅黑" panose="020B0503020204020204" pitchFamily="34" charset="-122"/>
              <a:ea typeface="微软雅黑" panose="020B0503020204020204" pitchFamily="34" charset="-122"/>
            </a:endParaRPr>
          </a:p>
          <a:p>
            <a:pPr>
              <a:spcBef>
                <a:spcPct val="15000"/>
              </a:spcBef>
            </a:pPr>
            <a:r>
              <a:rPr lang="en-US" altLang="zh-CN" sz="2400" dirty="0">
                <a:solidFill>
                  <a:srgbClr val="008000"/>
                </a:solidFill>
                <a:latin typeface="微软雅黑" panose="020B0503020204020204" pitchFamily="34" charset="-122"/>
                <a:ea typeface="微软雅黑" panose="020B0503020204020204" pitchFamily="34" charset="-122"/>
              </a:rPr>
              <a:t>Signed</a:t>
            </a:r>
            <a:r>
              <a:rPr lang="zh-CN" altLang="en-US" sz="2400" dirty="0">
                <a:solidFill>
                  <a:srgbClr val="008000"/>
                </a:solidFill>
                <a:latin typeface="微软雅黑" panose="020B0503020204020204" pitchFamily="34" charset="-122"/>
                <a:ea typeface="微软雅黑" panose="020B0503020204020204" pitchFamily="34" charset="-122"/>
              </a:rPr>
              <a:t>：</a:t>
            </a:r>
            <a:r>
              <a:rPr lang="en-US" altLang="zh-CN" sz="2400" dirty="0">
                <a:solidFill>
                  <a:srgbClr val="008000"/>
                </a:solidFill>
                <a:latin typeface="微软雅黑" panose="020B0503020204020204" pitchFamily="34" charset="-122"/>
                <a:ea typeface="微软雅黑" panose="020B0503020204020204" pitchFamily="34" charset="-122"/>
              </a:rPr>
              <a:t>OF</a:t>
            </a:r>
            <a:r>
              <a:rPr lang="en-US" altLang="zh-CN" sz="2400" dirty="0">
                <a:solidFill>
                  <a:srgbClr val="008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dirty="0">
                <a:solidFill>
                  <a:srgbClr val="008000"/>
                </a:solidFill>
                <a:latin typeface="微软雅黑" panose="020B0503020204020204" pitchFamily="34" charset="-122"/>
                <a:ea typeface="微软雅黑" panose="020B0503020204020204" pitchFamily="34" charset="-122"/>
              </a:rPr>
              <a:t>SF</a:t>
            </a:r>
            <a:r>
              <a:rPr lang="zh-CN" altLang="en-US" sz="2400" dirty="0">
                <a:solidFill>
                  <a:srgbClr val="008000"/>
                </a:solidFill>
                <a:latin typeface="微软雅黑" panose="020B0503020204020204" pitchFamily="34" charset="-122"/>
                <a:ea typeface="微软雅黑" panose="020B0503020204020204" pitchFamily="34" charset="-122"/>
              </a:rPr>
              <a:t>时，大于</a:t>
            </a:r>
            <a:endParaRPr lang="zh-CN" altLang="en-US" sz="2400" dirty="0">
              <a:solidFill>
                <a:srgbClr val="008000"/>
              </a:solidFill>
              <a:latin typeface="微软雅黑" panose="020B0503020204020204" pitchFamily="34" charset="-122"/>
              <a:ea typeface="微软雅黑" panose="020B0503020204020204" pitchFamily="34" charset="-122"/>
            </a:endParaRPr>
          </a:p>
        </p:txBody>
      </p:sp>
      <p:sp>
        <p:nvSpPr>
          <p:cNvPr id="34840" name="Text Box 63"/>
          <p:cNvSpPr txBox="1"/>
          <p:nvPr/>
        </p:nvSpPr>
        <p:spPr>
          <a:xfrm>
            <a:off x="692150" y="3883025"/>
            <a:ext cx="4095750" cy="885825"/>
          </a:xfrm>
          <a:prstGeom prst="rect">
            <a:avLst/>
          </a:prstGeom>
          <a:noFill/>
          <a:ln w="9525">
            <a:noFill/>
          </a:ln>
        </p:spPr>
        <p:txBody>
          <a:bodyPr>
            <a:spAutoFit/>
          </a:bodyPr>
          <a:lstStyle/>
          <a:p>
            <a:pPr>
              <a:spcBef>
                <a:spcPct val="15000"/>
              </a:spcBef>
            </a:pPr>
            <a:r>
              <a:rPr lang="en-US" altLang="zh-CN" sz="2400" dirty="0">
                <a:solidFill>
                  <a:srgbClr val="FF3300"/>
                </a:solidFill>
                <a:latin typeface="微软雅黑" panose="020B0503020204020204" pitchFamily="34" charset="-122"/>
                <a:ea typeface="微软雅黑" panose="020B0503020204020204" pitchFamily="34" charset="-122"/>
              </a:rPr>
              <a:t>OF=1</a:t>
            </a:r>
            <a:r>
              <a:rPr lang="zh-CN" altLang="en-US" sz="2400" dirty="0">
                <a:solidFill>
                  <a:srgbClr val="FF3300"/>
                </a:solidFill>
                <a:latin typeface="微软雅黑" panose="020B0503020204020204" pitchFamily="34" charset="-122"/>
                <a:ea typeface="微软雅黑" panose="020B0503020204020204" pitchFamily="34" charset="-122"/>
              </a:rPr>
              <a:t>、</a:t>
            </a:r>
            <a:r>
              <a:rPr lang="en-US" altLang="zh-CN" sz="2400" dirty="0">
                <a:solidFill>
                  <a:srgbClr val="FF3300"/>
                </a:solidFill>
                <a:latin typeface="微软雅黑" panose="020B0503020204020204" pitchFamily="34" charset="-122"/>
                <a:ea typeface="微软雅黑" panose="020B0503020204020204" pitchFamily="34" charset="-122"/>
              </a:rPr>
              <a:t>ZF=0</a:t>
            </a:r>
            <a:endParaRPr lang="en-US" altLang="zh-CN" sz="2400" dirty="0">
              <a:solidFill>
                <a:srgbClr val="FF3300"/>
              </a:solidFill>
              <a:latin typeface="微软雅黑" panose="020B0503020204020204" pitchFamily="34" charset="-122"/>
              <a:ea typeface="微软雅黑" panose="020B0503020204020204" pitchFamily="34" charset="-122"/>
            </a:endParaRPr>
          </a:p>
          <a:p>
            <a:pPr>
              <a:spcBef>
                <a:spcPct val="15000"/>
              </a:spcBef>
            </a:pPr>
            <a:r>
              <a:rPr lang="en-US" altLang="zh-CN" sz="2400" dirty="0">
                <a:solidFill>
                  <a:srgbClr val="FF3300"/>
                </a:solidFill>
                <a:latin typeface="微软雅黑" panose="020B0503020204020204" pitchFamily="34" charset="-122"/>
                <a:ea typeface="微软雅黑" panose="020B0503020204020204" pitchFamily="34" charset="-122"/>
              </a:rPr>
              <a:t>SF=0</a:t>
            </a:r>
            <a:r>
              <a:rPr lang="zh-CN" altLang="en-US" sz="2400" dirty="0">
                <a:solidFill>
                  <a:srgbClr val="FF3300"/>
                </a:solidFill>
                <a:latin typeface="微软雅黑" panose="020B0503020204020204" pitchFamily="34" charset="-122"/>
                <a:ea typeface="微软雅黑" panose="020B0503020204020204" pitchFamily="34" charset="-122"/>
              </a:rPr>
              <a:t>、借位</a:t>
            </a:r>
            <a:r>
              <a:rPr lang="en-US" altLang="zh-CN" sz="2400" dirty="0">
                <a:solidFill>
                  <a:srgbClr val="FF3300"/>
                </a:solidFill>
                <a:latin typeface="微软雅黑" panose="020B0503020204020204" pitchFamily="34" charset="-122"/>
                <a:ea typeface="微软雅黑" panose="020B0503020204020204" pitchFamily="34" charset="-122"/>
              </a:rPr>
              <a:t>CF=0</a:t>
            </a:r>
            <a:endParaRPr lang="en-US" altLang="zh-CN" sz="2400" dirty="0">
              <a:solidFill>
                <a:srgbClr val="FF3300"/>
              </a:solidFill>
              <a:latin typeface="微软雅黑" panose="020B0503020204020204" pitchFamily="34" charset="-122"/>
              <a:ea typeface="微软雅黑" panose="020B0503020204020204" pitchFamily="34" charset="-122"/>
            </a:endParaRPr>
          </a:p>
        </p:txBody>
      </p:sp>
      <p:sp>
        <p:nvSpPr>
          <p:cNvPr id="34841" name="Rectangle 28"/>
          <p:cNvSpPr/>
          <p:nvPr/>
        </p:nvSpPr>
        <p:spPr>
          <a:xfrm>
            <a:off x="5211763" y="2849563"/>
            <a:ext cx="328612" cy="393700"/>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a:t>
            </a:r>
            <a:endParaRPr lang="zh-CN" altLang="en-US" sz="2000" dirty="0">
              <a:solidFill>
                <a:schemeClr val="tx1"/>
              </a:solidFill>
              <a:latin typeface="Arial" panose="020B0604020202020204" pitchFamily="34" charset="0"/>
            </a:endParaRPr>
          </a:p>
        </p:txBody>
      </p:sp>
      <p:sp>
        <p:nvSpPr>
          <p:cNvPr id="34842" name="Line 29"/>
          <p:cNvSpPr/>
          <p:nvPr/>
        </p:nvSpPr>
        <p:spPr>
          <a:xfrm>
            <a:off x="5232400" y="3154363"/>
            <a:ext cx="2730500" cy="0"/>
          </a:xfrm>
          <a:prstGeom prst="line">
            <a:avLst/>
          </a:prstGeom>
          <a:ln w="28575" cap="flat" cmpd="sng">
            <a:solidFill>
              <a:schemeClr val="tx1"/>
            </a:solidFill>
            <a:prstDash val="solid"/>
            <a:headEnd type="none" w="med" len="med"/>
            <a:tailEnd type="none" w="med" len="med"/>
          </a:ln>
        </p:spPr>
      </p:sp>
      <p:sp>
        <p:nvSpPr>
          <p:cNvPr id="34843" name="Rectangle 92"/>
          <p:cNvSpPr/>
          <p:nvPr/>
        </p:nvSpPr>
        <p:spPr>
          <a:xfrm>
            <a:off x="5937250" y="3159125"/>
            <a:ext cx="325438" cy="398463"/>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44" name="Rectangle 93"/>
          <p:cNvSpPr/>
          <p:nvPr/>
        </p:nvSpPr>
        <p:spPr>
          <a:xfrm>
            <a:off x="6532563" y="3144838"/>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45" name="Rectangle 94"/>
          <p:cNvSpPr/>
          <p:nvPr/>
        </p:nvSpPr>
        <p:spPr>
          <a:xfrm>
            <a:off x="7118350" y="3170238"/>
            <a:ext cx="325438"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46" name="Rectangle 95"/>
          <p:cNvSpPr/>
          <p:nvPr/>
        </p:nvSpPr>
        <p:spPr>
          <a:xfrm>
            <a:off x="7091363" y="2751138"/>
            <a:ext cx="325437" cy="398462"/>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47" name="Rectangle 96"/>
          <p:cNvSpPr/>
          <p:nvPr/>
        </p:nvSpPr>
        <p:spPr>
          <a:xfrm>
            <a:off x="7645400" y="2743200"/>
            <a:ext cx="325438" cy="396875"/>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48" name="Rectangle 97"/>
          <p:cNvSpPr/>
          <p:nvPr/>
        </p:nvSpPr>
        <p:spPr>
          <a:xfrm>
            <a:off x="7651750" y="2408238"/>
            <a:ext cx="325438"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49" name="Rectangle 98"/>
          <p:cNvSpPr/>
          <p:nvPr/>
        </p:nvSpPr>
        <p:spPr>
          <a:xfrm>
            <a:off x="7081838" y="2495550"/>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50" name="Rectangle 99"/>
          <p:cNvSpPr/>
          <p:nvPr/>
        </p:nvSpPr>
        <p:spPr>
          <a:xfrm>
            <a:off x="5930900" y="2805113"/>
            <a:ext cx="325438"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grpSp>
        <p:nvGrpSpPr>
          <p:cNvPr id="34851" name="Group 137"/>
          <p:cNvGrpSpPr/>
          <p:nvPr/>
        </p:nvGrpSpPr>
        <p:grpSpPr>
          <a:xfrm>
            <a:off x="6462713" y="2095500"/>
            <a:ext cx="1277937" cy="895350"/>
            <a:chOff x="4075" y="768"/>
            <a:chExt cx="805" cy="564"/>
          </a:xfrm>
        </p:grpSpPr>
        <p:sp>
          <p:nvSpPr>
            <p:cNvPr id="34862" name="Line 34"/>
            <p:cNvSpPr/>
            <p:nvPr/>
          </p:nvSpPr>
          <p:spPr>
            <a:xfrm flipH="1" flipV="1">
              <a:off x="4248" y="892"/>
              <a:ext cx="248" cy="440"/>
            </a:xfrm>
            <a:prstGeom prst="line">
              <a:avLst/>
            </a:prstGeom>
            <a:ln w="12700" cap="flat" cmpd="sng">
              <a:solidFill>
                <a:schemeClr val="tx1"/>
              </a:solidFill>
              <a:prstDash val="solid"/>
              <a:headEnd type="none" w="med" len="med"/>
              <a:tailEnd type="triangle" w="med" len="med"/>
            </a:ln>
          </p:spPr>
        </p:sp>
        <p:sp>
          <p:nvSpPr>
            <p:cNvPr id="34863" name="Line 37"/>
            <p:cNvSpPr/>
            <p:nvPr/>
          </p:nvSpPr>
          <p:spPr>
            <a:xfrm flipH="1" flipV="1">
              <a:off x="4632" y="892"/>
              <a:ext cx="248" cy="440"/>
            </a:xfrm>
            <a:prstGeom prst="line">
              <a:avLst/>
            </a:prstGeom>
            <a:ln w="12700" cap="flat" cmpd="sng">
              <a:solidFill>
                <a:schemeClr val="tx1"/>
              </a:solidFill>
              <a:prstDash val="solid"/>
              <a:headEnd type="none" w="med" len="med"/>
              <a:tailEnd type="triangle" w="med" len="med"/>
            </a:ln>
          </p:spPr>
        </p:sp>
        <p:sp>
          <p:nvSpPr>
            <p:cNvPr id="34864" name="Rectangle 100"/>
            <p:cNvSpPr/>
            <p:nvPr/>
          </p:nvSpPr>
          <p:spPr>
            <a:xfrm>
              <a:off x="4459" y="768"/>
              <a:ext cx="205" cy="250"/>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sp>
          <p:nvSpPr>
            <p:cNvPr id="34865" name="Rectangle 101"/>
            <p:cNvSpPr/>
            <p:nvPr/>
          </p:nvSpPr>
          <p:spPr>
            <a:xfrm>
              <a:off x="4075" y="798"/>
              <a:ext cx="205" cy="250"/>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grpSp>
      <p:sp>
        <p:nvSpPr>
          <p:cNvPr id="34852" name="Rectangle 109"/>
          <p:cNvSpPr/>
          <p:nvPr/>
        </p:nvSpPr>
        <p:spPr>
          <a:xfrm>
            <a:off x="7654925" y="3157538"/>
            <a:ext cx="325438" cy="398462"/>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53" name="Rectangle 110"/>
          <p:cNvSpPr/>
          <p:nvPr/>
        </p:nvSpPr>
        <p:spPr>
          <a:xfrm>
            <a:off x="6526213" y="2765425"/>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54" name="Rectangle 111"/>
          <p:cNvSpPr/>
          <p:nvPr/>
        </p:nvSpPr>
        <p:spPr>
          <a:xfrm>
            <a:off x="6519863" y="2490788"/>
            <a:ext cx="325437"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1</a:t>
            </a:r>
            <a:endParaRPr lang="en-US" altLang="zh-CN" sz="2000" dirty="0">
              <a:solidFill>
                <a:schemeClr val="tx1"/>
              </a:solidFill>
              <a:latin typeface="Arial" panose="020B0604020202020204" pitchFamily="34" charset="0"/>
            </a:endParaRPr>
          </a:p>
        </p:txBody>
      </p:sp>
      <p:sp>
        <p:nvSpPr>
          <p:cNvPr id="34855" name="Rectangle 112"/>
          <p:cNvSpPr/>
          <p:nvPr/>
        </p:nvSpPr>
        <p:spPr>
          <a:xfrm>
            <a:off x="5949950" y="2492375"/>
            <a:ext cx="325438" cy="396875"/>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grpSp>
        <p:nvGrpSpPr>
          <p:cNvPr id="34856" name="Group 138"/>
          <p:cNvGrpSpPr/>
          <p:nvPr/>
        </p:nvGrpSpPr>
        <p:grpSpPr>
          <a:xfrm>
            <a:off x="5256213" y="2146300"/>
            <a:ext cx="1277937" cy="849313"/>
            <a:chOff x="4075" y="797"/>
            <a:chExt cx="805" cy="535"/>
          </a:xfrm>
        </p:grpSpPr>
        <p:sp>
          <p:nvSpPr>
            <p:cNvPr id="34858" name="Line 139"/>
            <p:cNvSpPr/>
            <p:nvPr/>
          </p:nvSpPr>
          <p:spPr>
            <a:xfrm flipH="1" flipV="1">
              <a:off x="4248" y="892"/>
              <a:ext cx="248" cy="440"/>
            </a:xfrm>
            <a:prstGeom prst="line">
              <a:avLst/>
            </a:prstGeom>
            <a:ln w="12700" cap="flat" cmpd="sng">
              <a:solidFill>
                <a:schemeClr val="tx1"/>
              </a:solidFill>
              <a:prstDash val="solid"/>
              <a:headEnd type="none" w="med" len="med"/>
              <a:tailEnd type="triangle" w="med" len="med"/>
            </a:ln>
          </p:spPr>
        </p:sp>
        <p:sp>
          <p:nvSpPr>
            <p:cNvPr id="34859" name="Line 140"/>
            <p:cNvSpPr/>
            <p:nvPr/>
          </p:nvSpPr>
          <p:spPr>
            <a:xfrm flipH="1" flipV="1">
              <a:off x="4632" y="892"/>
              <a:ext cx="248" cy="440"/>
            </a:xfrm>
            <a:prstGeom prst="line">
              <a:avLst/>
            </a:prstGeom>
            <a:ln w="12700" cap="flat" cmpd="sng">
              <a:solidFill>
                <a:schemeClr val="tx1"/>
              </a:solidFill>
              <a:prstDash val="solid"/>
              <a:headEnd type="none" w="med" len="med"/>
              <a:tailEnd type="triangle" w="med" len="med"/>
            </a:ln>
          </p:spPr>
        </p:sp>
        <p:sp>
          <p:nvSpPr>
            <p:cNvPr id="34860" name="Rectangle 141"/>
            <p:cNvSpPr/>
            <p:nvPr/>
          </p:nvSpPr>
          <p:spPr>
            <a:xfrm>
              <a:off x="4470" y="797"/>
              <a:ext cx="205" cy="250"/>
            </a:xfrm>
            <a:prstGeom prst="rect">
              <a:avLst/>
            </a:prstGeom>
            <a:noFill/>
            <a:ln w="12700">
              <a:noFill/>
            </a:ln>
          </p:spPr>
          <p:txBody>
            <a:bodyPr wrap="none" lIns="90488" tIns="44450" rIns="90488" bIns="44450">
              <a:spAutoFit/>
            </a:bodyPr>
            <a:lstStyle/>
            <a:p>
              <a:r>
                <a:rPr lang="zh-CN" altLang="en-US" sz="2000" dirty="0">
                  <a:solidFill>
                    <a:schemeClr val="tx1"/>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34861" name="Rectangle 142"/>
            <p:cNvSpPr/>
            <p:nvPr/>
          </p:nvSpPr>
          <p:spPr>
            <a:xfrm>
              <a:off x="4075" y="798"/>
              <a:ext cx="205" cy="250"/>
            </a:xfrm>
            <a:prstGeom prst="rect">
              <a:avLst/>
            </a:prstGeom>
            <a:noFill/>
            <a:ln w="12700">
              <a:noFill/>
            </a:ln>
          </p:spPr>
          <p:txBody>
            <a:bodyPr wrap="none" lIns="90488" tIns="44450" rIns="90488" bIns="44450">
              <a:spAutoFit/>
            </a:bodyPr>
            <a:lstStyle/>
            <a:p>
              <a:r>
                <a:rPr lang="en-US" altLang="zh-CN" sz="2000" dirty="0">
                  <a:solidFill>
                    <a:schemeClr val="tx1"/>
                  </a:solidFill>
                  <a:latin typeface="Arial" panose="020B0604020202020204" pitchFamily="34" charset="0"/>
                </a:rPr>
                <a:t>0</a:t>
              </a:r>
              <a:endParaRPr lang="en-US" altLang="zh-CN" sz="2000" dirty="0">
                <a:solidFill>
                  <a:schemeClr val="tx1"/>
                </a:solidFill>
                <a:latin typeface="Arial" panose="020B0604020202020204" pitchFamily="34" charset="0"/>
              </a:endParaRPr>
            </a:p>
          </p:txBody>
        </p:sp>
      </p:grpSp>
      <p:sp>
        <p:nvSpPr>
          <p:cNvPr id="34857" name="Text Box 90"/>
          <p:cNvSpPr txBox="1"/>
          <p:nvPr/>
        </p:nvSpPr>
        <p:spPr>
          <a:xfrm>
            <a:off x="5446713" y="3819525"/>
            <a:ext cx="3367087" cy="885825"/>
          </a:xfrm>
          <a:prstGeom prst="rect">
            <a:avLst/>
          </a:prstGeom>
          <a:noFill/>
          <a:ln w="9525">
            <a:noFill/>
          </a:ln>
        </p:spPr>
        <p:txBody>
          <a:bodyPr>
            <a:spAutoFit/>
          </a:bodyPr>
          <a:lstStyle/>
          <a:p>
            <a:pPr>
              <a:spcBef>
                <a:spcPct val="15000"/>
              </a:spcBef>
            </a:pPr>
            <a:r>
              <a:rPr lang="en-US" altLang="zh-CN" sz="2400" dirty="0">
                <a:solidFill>
                  <a:srgbClr val="FF3300"/>
                </a:solidFill>
                <a:latin typeface="微软雅黑" panose="020B0503020204020204" pitchFamily="34" charset="-122"/>
                <a:ea typeface="微软雅黑" panose="020B0503020204020204" pitchFamily="34" charset="-122"/>
              </a:rPr>
              <a:t>OF=1</a:t>
            </a:r>
            <a:r>
              <a:rPr lang="zh-CN" altLang="en-US" sz="2400" dirty="0">
                <a:solidFill>
                  <a:srgbClr val="FF3300"/>
                </a:solidFill>
                <a:latin typeface="微软雅黑" panose="020B0503020204020204" pitchFamily="34" charset="-122"/>
                <a:ea typeface="微软雅黑" panose="020B0503020204020204" pitchFamily="34" charset="-122"/>
              </a:rPr>
              <a:t>、</a:t>
            </a:r>
            <a:r>
              <a:rPr lang="en-US" altLang="zh-CN" sz="2400" dirty="0">
                <a:solidFill>
                  <a:srgbClr val="FF3300"/>
                </a:solidFill>
                <a:latin typeface="微软雅黑" panose="020B0503020204020204" pitchFamily="34" charset="-122"/>
                <a:ea typeface="微软雅黑" panose="020B0503020204020204" pitchFamily="34" charset="-122"/>
              </a:rPr>
              <a:t>ZF=0</a:t>
            </a:r>
            <a:endParaRPr lang="en-US" altLang="zh-CN" sz="2400" dirty="0">
              <a:solidFill>
                <a:srgbClr val="FF3300"/>
              </a:solidFill>
              <a:latin typeface="微软雅黑" panose="020B0503020204020204" pitchFamily="34" charset="-122"/>
              <a:ea typeface="微软雅黑" panose="020B0503020204020204" pitchFamily="34" charset="-122"/>
            </a:endParaRPr>
          </a:p>
          <a:p>
            <a:pPr>
              <a:spcBef>
                <a:spcPct val="15000"/>
              </a:spcBef>
            </a:pPr>
            <a:r>
              <a:rPr lang="en-US" altLang="zh-CN" sz="2400" dirty="0">
                <a:solidFill>
                  <a:srgbClr val="FF3300"/>
                </a:solidFill>
                <a:latin typeface="微软雅黑" panose="020B0503020204020204" pitchFamily="34" charset="-122"/>
                <a:ea typeface="微软雅黑" panose="020B0503020204020204" pitchFamily="34" charset="-122"/>
              </a:rPr>
              <a:t>SF=1</a:t>
            </a:r>
            <a:r>
              <a:rPr lang="zh-CN" altLang="en-US" sz="2400" dirty="0">
                <a:solidFill>
                  <a:srgbClr val="FF3300"/>
                </a:solidFill>
                <a:latin typeface="微软雅黑" panose="020B0503020204020204" pitchFamily="34" charset="-122"/>
                <a:ea typeface="微软雅黑" panose="020B0503020204020204" pitchFamily="34" charset="-122"/>
              </a:rPr>
              <a:t>、借位</a:t>
            </a:r>
            <a:r>
              <a:rPr lang="en-US" altLang="zh-CN" sz="2400" dirty="0">
                <a:solidFill>
                  <a:srgbClr val="FF3300"/>
                </a:solidFill>
                <a:latin typeface="微软雅黑" panose="020B0503020204020204" pitchFamily="34" charset="-122"/>
                <a:ea typeface="微软雅黑" panose="020B0503020204020204" pitchFamily="34" charset="-122"/>
              </a:rPr>
              <a:t>CF=1</a:t>
            </a:r>
            <a:endParaRPr lang="en-US" altLang="zh-CN" sz="2400" dirty="0">
              <a:solidFill>
                <a:srgbClr val="FF33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a:xfrm>
            <a:off x="457200" y="98425"/>
            <a:ext cx="8229600" cy="425450"/>
          </a:xfrm>
        </p:spPr>
        <p:txBody>
          <a:bodyPr vert="horz" wrap="square" lIns="63500" tIns="25400" rIns="63500" bIns="25400" anchor="t" anchorCtr="0">
            <a:spAutoFit/>
          </a:bodyPr>
          <a:lstStyle/>
          <a:p>
            <a:r>
              <a:rPr lang="en-US" altLang="zh-CN" sz="2800" dirty="0">
                <a:ea typeface="宋体" panose="02010600030101010101" pitchFamily="2" charset="-122"/>
              </a:rPr>
              <a:t>IA-32</a:t>
            </a:r>
            <a:r>
              <a:rPr lang="zh-CN" altLang="en-US" sz="2800" dirty="0">
                <a:ea typeface="宋体" panose="02010600030101010101" pitchFamily="2" charset="-122"/>
              </a:rPr>
              <a:t>中的条件转移指令</a:t>
            </a:r>
            <a:endParaRPr lang="zh-CN" altLang="en-US" sz="2800" dirty="0">
              <a:ea typeface="宋体" panose="02010600030101010101" pitchFamily="2" charset="-122"/>
            </a:endParaRPr>
          </a:p>
        </p:txBody>
      </p:sp>
      <p:sp>
        <p:nvSpPr>
          <p:cNvPr id="633859" name="Rectangle 3"/>
          <p:cNvSpPr>
            <a:spLocks noGrp="1"/>
          </p:cNvSpPr>
          <p:nvPr>
            <p:ph idx="1"/>
          </p:nvPr>
        </p:nvSpPr>
        <p:spPr>
          <a:xfrm>
            <a:off x="115888" y="911225"/>
            <a:ext cx="1709737" cy="5218113"/>
          </a:xfrm>
        </p:spPr>
        <p:txBody>
          <a:bodyPr vert="horz" wrap="square" lIns="91440" tIns="45720" rIns="91440" bIns="45720" anchor="t" anchorCtr="0"/>
          <a:lstStyle/>
          <a:p>
            <a:pPr>
              <a:buFontTx/>
              <a:buNone/>
            </a:pPr>
            <a:r>
              <a:rPr lang="zh-CN" altLang="en-US" dirty="0">
                <a:ea typeface="微软雅黑" panose="020B0503020204020204" pitchFamily="34" charset="-122"/>
              </a:rPr>
              <a:t>分三类：</a:t>
            </a:r>
            <a:endParaRPr lang="zh-CN" altLang="en-US" dirty="0">
              <a:ea typeface="微软雅黑" panose="020B0503020204020204" pitchFamily="34" charset="-122"/>
            </a:endParaRPr>
          </a:p>
          <a:p>
            <a:pPr>
              <a:spcBef>
                <a:spcPct val="45000"/>
              </a:spcBef>
              <a:buFontTx/>
              <a:buNone/>
            </a:pPr>
            <a:r>
              <a:rPr lang="en-US" altLang="zh-CN" sz="2200" dirty="0">
                <a:solidFill>
                  <a:srgbClr val="3333CC"/>
                </a:solidFill>
                <a:latin typeface="微软雅黑" panose="020B0503020204020204" pitchFamily="34" charset="-122"/>
                <a:ea typeface="微软雅黑" panose="020B0503020204020204" pitchFamily="34" charset="-122"/>
              </a:rPr>
              <a:t>(1)</a:t>
            </a:r>
            <a:r>
              <a:rPr lang="zh-CN" altLang="en-US" sz="2200" dirty="0">
                <a:solidFill>
                  <a:srgbClr val="3333CC"/>
                </a:solidFill>
                <a:latin typeface="微软雅黑" panose="020B0503020204020204" pitchFamily="34" charset="-122"/>
                <a:ea typeface="微软雅黑" panose="020B0503020204020204" pitchFamily="34" charset="-122"/>
              </a:rPr>
              <a:t>根据单个标志的值转移</a:t>
            </a:r>
            <a:endParaRPr lang="zh-CN" altLang="en-US" sz="2200" dirty="0">
              <a:solidFill>
                <a:srgbClr val="3333CC"/>
              </a:solidFill>
              <a:latin typeface="微软雅黑" panose="020B0503020204020204" pitchFamily="34" charset="-122"/>
              <a:ea typeface="微软雅黑" panose="020B0503020204020204" pitchFamily="34" charset="-122"/>
            </a:endParaRPr>
          </a:p>
          <a:p>
            <a:pPr>
              <a:spcBef>
                <a:spcPct val="45000"/>
              </a:spcBef>
              <a:buFontTx/>
              <a:buNone/>
            </a:pPr>
            <a:r>
              <a:rPr lang="en-US" altLang="zh-CN" sz="2200" dirty="0">
                <a:solidFill>
                  <a:srgbClr val="3333CC"/>
                </a:solidFill>
                <a:latin typeface="微软雅黑" panose="020B0503020204020204" pitchFamily="34" charset="-122"/>
                <a:ea typeface="微软雅黑" panose="020B0503020204020204" pitchFamily="34" charset="-122"/>
              </a:rPr>
              <a:t>(2)</a:t>
            </a:r>
            <a:r>
              <a:rPr lang="zh-CN" altLang="en-US" sz="2200" dirty="0">
                <a:solidFill>
                  <a:srgbClr val="3333CC"/>
                </a:solidFill>
                <a:latin typeface="微软雅黑" panose="020B0503020204020204" pitchFamily="34" charset="-122"/>
                <a:ea typeface="微软雅黑" panose="020B0503020204020204" pitchFamily="34" charset="-122"/>
              </a:rPr>
              <a:t>按无符号整数比较转移</a:t>
            </a:r>
            <a:endParaRPr lang="zh-CN" altLang="en-US" sz="2200" dirty="0">
              <a:solidFill>
                <a:srgbClr val="3333CC"/>
              </a:solidFill>
              <a:latin typeface="微软雅黑" panose="020B0503020204020204" pitchFamily="34" charset="-122"/>
              <a:ea typeface="微软雅黑" panose="020B0503020204020204" pitchFamily="34" charset="-122"/>
            </a:endParaRPr>
          </a:p>
          <a:p>
            <a:pPr>
              <a:spcBef>
                <a:spcPct val="45000"/>
              </a:spcBef>
              <a:buFontTx/>
              <a:buNone/>
            </a:pPr>
            <a:r>
              <a:rPr lang="en-US" altLang="zh-CN" sz="2200" dirty="0">
                <a:solidFill>
                  <a:srgbClr val="3333CC"/>
                </a:solidFill>
                <a:latin typeface="微软雅黑" panose="020B0503020204020204" pitchFamily="34" charset="-122"/>
                <a:ea typeface="微软雅黑" panose="020B0503020204020204" pitchFamily="34" charset="-122"/>
              </a:rPr>
              <a:t>(3)</a:t>
            </a:r>
            <a:r>
              <a:rPr lang="zh-CN" altLang="en-US" sz="2200" dirty="0">
                <a:solidFill>
                  <a:srgbClr val="3333CC"/>
                </a:solidFill>
                <a:latin typeface="微软雅黑" panose="020B0503020204020204" pitchFamily="34" charset="-122"/>
                <a:ea typeface="微软雅黑" panose="020B0503020204020204" pitchFamily="34" charset="-122"/>
              </a:rPr>
              <a:t>按带符号整数比较转移</a:t>
            </a:r>
            <a:endParaRPr lang="zh-CN" altLang="en-US" sz="2200" dirty="0">
              <a:solidFill>
                <a:srgbClr val="3333CC"/>
              </a:solidFill>
              <a:latin typeface="微软雅黑" panose="020B0503020204020204" pitchFamily="34" charset="-122"/>
              <a:ea typeface="微软雅黑" panose="020B0503020204020204" pitchFamily="34" charset="-122"/>
            </a:endParaRPr>
          </a:p>
        </p:txBody>
      </p:sp>
      <p:grpSp>
        <p:nvGrpSpPr>
          <p:cNvPr id="633864" name="Group 8"/>
          <p:cNvGrpSpPr/>
          <p:nvPr/>
        </p:nvGrpSpPr>
        <p:grpSpPr>
          <a:xfrm>
            <a:off x="1916113" y="188913"/>
            <a:ext cx="7137400" cy="6480175"/>
            <a:chOff x="1207" y="516"/>
            <a:chExt cx="4496" cy="3685"/>
          </a:xfrm>
        </p:grpSpPr>
        <p:pic>
          <p:nvPicPr>
            <p:cNvPr id="36869" name="Picture 4"/>
            <p:cNvPicPr>
              <a:picLocks noChangeAspect="1"/>
            </p:cNvPicPr>
            <p:nvPr/>
          </p:nvPicPr>
          <p:blipFill>
            <a:blip r:embed="rId1"/>
            <a:stretch>
              <a:fillRect/>
            </a:stretch>
          </p:blipFill>
          <p:spPr>
            <a:xfrm>
              <a:off x="1207" y="516"/>
              <a:ext cx="4496" cy="3685"/>
            </a:xfrm>
            <a:prstGeom prst="rect">
              <a:avLst/>
            </a:prstGeom>
            <a:noFill/>
            <a:ln w="9525">
              <a:noFill/>
            </a:ln>
          </p:spPr>
        </p:pic>
        <p:sp>
          <p:nvSpPr>
            <p:cNvPr id="36870" name="Rectangle 5"/>
            <p:cNvSpPr/>
            <p:nvPr/>
          </p:nvSpPr>
          <p:spPr>
            <a:xfrm>
              <a:off x="1633" y="743"/>
              <a:ext cx="4025" cy="1700"/>
            </a:xfrm>
            <a:prstGeom prst="rect">
              <a:avLst/>
            </a:prstGeom>
            <a:solidFill>
              <a:schemeClr val="accent1">
                <a:alpha val="18039"/>
              </a:scheme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6871" name="Rectangle 6"/>
            <p:cNvSpPr/>
            <p:nvPr/>
          </p:nvSpPr>
          <p:spPr>
            <a:xfrm>
              <a:off x="1633" y="2443"/>
              <a:ext cx="4025" cy="851"/>
            </a:xfrm>
            <a:prstGeom prst="rect">
              <a:avLst/>
            </a:prstGeom>
            <a:solidFill>
              <a:srgbClr val="FF0000">
                <a:alpha val="18039"/>
              </a:srgb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6872" name="Rectangle 7"/>
            <p:cNvSpPr/>
            <p:nvPr/>
          </p:nvSpPr>
          <p:spPr>
            <a:xfrm>
              <a:off x="1633" y="3294"/>
              <a:ext cx="4025" cy="850"/>
            </a:xfrm>
            <a:prstGeom prst="rect">
              <a:avLst/>
            </a:prstGeom>
            <a:solidFill>
              <a:srgbClr val="FFFF00">
                <a:alpha val="18039"/>
              </a:srgb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3864"/>
                                        </p:tgtEl>
                                        <p:attrNameLst>
                                          <p:attrName>style.visibility</p:attrName>
                                        </p:attrNameLst>
                                      </p:cBhvr>
                                      <p:to>
                                        <p:strVal val="visible"/>
                                      </p:to>
                                    </p:set>
                                    <p:animEffect transition="in" filter="blinds(horizontal)">
                                      <p:cBhvr>
                                        <p:cTn id="7" dur="500"/>
                                        <p:tgtEl>
                                          <p:spTgt spid="6338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33859">
                                            <p:txEl>
                                              <p:pRg st="0" end="0"/>
                                            </p:txEl>
                                          </p:spTgt>
                                        </p:tgtEl>
                                        <p:attrNameLst>
                                          <p:attrName>style.visibility</p:attrName>
                                        </p:attrNameLst>
                                      </p:cBhvr>
                                      <p:to>
                                        <p:strVal val="visible"/>
                                      </p:to>
                                    </p:set>
                                    <p:animEffect transition="in" filter="blinds(horizontal)">
                                      <p:cBhvr>
                                        <p:cTn id="12" dur="500"/>
                                        <p:tgtEl>
                                          <p:spTgt spid="63385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3859">
                                            <p:txEl>
                                              <p:pRg st="1" end="1"/>
                                            </p:txEl>
                                          </p:spTgt>
                                        </p:tgtEl>
                                        <p:attrNameLst>
                                          <p:attrName>style.visibility</p:attrName>
                                        </p:attrNameLst>
                                      </p:cBhvr>
                                      <p:to>
                                        <p:strVal val="visible"/>
                                      </p:to>
                                    </p:set>
                                    <p:animEffect transition="in" filter="blinds(horizontal)">
                                      <p:cBhvr>
                                        <p:cTn id="17" dur="500"/>
                                        <p:tgtEl>
                                          <p:spTgt spid="63385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3859">
                                            <p:txEl>
                                              <p:pRg st="2" end="2"/>
                                            </p:txEl>
                                          </p:spTgt>
                                        </p:tgtEl>
                                        <p:attrNameLst>
                                          <p:attrName>style.visibility</p:attrName>
                                        </p:attrNameLst>
                                      </p:cBhvr>
                                      <p:to>
                                        <p:strVal val="visible"/>
                                      </p:to>
                                    </p:set>
                                    <p:animEffect transition="in" filter="blinds(horizontal)">
                                      <p:cBhvr>
                                        <p:cTn id="22" dur="500"/>
                                        <p:tgtEl>
                                          <p:spTgt spid="63385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33859">
                                            <p:txEl>
                                              <p:pRg st="3" end="3"/>
                                            </p:txEl>
                                          </p:spTgt>
                                        </p:tgtEl>
                                        <p:attrNameLst>
                                          <p:attrName>style.visibility</p:attrName>
                                        </p:attrNameLst>
                                      </p:cBhvr>
                                      <p:to>
                                        <p:strVal val="visible"/>
                                      </p:to>
                                    </p:set>
                                    <p:animEffect transition="in" filter="blinds(horizontal)">
                                      <p:cBhvr>
                                        <p:cTn id="27" dur="500"/>
                                        <p:tgtEl>
                                          <p:spTgt spid="6338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5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a:xfrm>
            <a:off x="711200" y="80963"/>
            <a:ext cx="7400925" cy="425450"/>
          </a:xfrm>
        </p:spPr>
        <p:txBody>
          <a:bodyPr vert="horz" wrap="square" lIns="63500" tIns="25400" rIns="63500" bIns="25400" anchor="t" anchorCtr="0">
            <a:spAutoFit/>
          </a:bodyPr>
          <a:lstStyle/>
          <a:p>
            <a:r>
              <a:rPr lang="zh-CN" altLang="en-US" sz="2800" dirty="0">
                <a:ea typeface="宋体" panose="02010600030101010101" pitchFamily="2" charset="-122"/>
              </a:rPr>
              <a:t>指令设计风格 </a:t>
            </a:r>
            <a:r>
              <a:rPr lang="en-US" altLang="zh-CN" sz="2800" dirty="0">
                <a:ea typeface="宋体" panose="02010600030101010101" pitchFamily="2" charset="-122"/>
              </a:rPr>
              <a:t>-- </a:t>
            </a:r>
            <a:r>
              <a:rPr lang="zh-CN" altLang="en-US" sz="2800" dirty="0">
                <a:ea typeface="宋体" panose="02010600030101010101" pitchFamily="2" charset="-122"/>
              </a:rPr>
              <a:t>按操作数位置指定风格来分</a:t>
            </a:r>
            <a:endParaRPr lang="zh-CN" altLang="en-US" sz="2800" dirty="0">
              <a:ea typeface="宋体" panose="02010600030101010101" pitchFamily="2" charset="-122"/>
            </a:endParaRPr>
          </a:p>
        </p:txBody>
      </p:sp>
      <p:sp>
        <p:nvSpPr>
          <p:cNvPr id="358403" name="Rectangle 3"/>
          <p:cNvSpPr>
            <a:spLocks noGrp="1"/>
          </p:cNvSpPr>
          <p:nvPr>
            <p:ph idx="1"/>
          </p:nvPr>
        </p:nvSpPr>
        <p:spPr>
          <a:xfrm>
            <a:off x="274638" y="630238"/>
            <a:ext cx="8585200" cy="5922962"/>
          </a:xfrm>
        </p:spPr>
        <p:txBody>
          <a:bodyPr vert="horz" wrap="square" lIns="63500" tIns="25400" rIns="63500" bIns="25400" anchor="t" anchorCtr="0">
            <a:spAutoFit/>
          </a:bodyPr>
          <a:lstStyle/>
          <a:p>
            <a:pPr marL="342900" indent="-342900" defTabSz="914400">
              <a:lnSpc>
                <a:spcPct val="100000"/>
              </a:lnSpc>
              <a:spcBef>
                <a:spcPct val="15000"/>
              </a:spcBef>
              <a:buNone/>
              <a:tabLst>
                <a:tab pos="1828800" algn="l"/>
                <a:tab pos="3657600" algn="l"/>
              </a:tabLst>
            </a:pPr>
            <a:r>
              <a:rPr lang="en-US" altLang="zh-CN" u="sng" dirty="0">
                <a:solidFill>
                  <a:schemeClr val="accent2"/>
                </a:solidFill>
                <a:latin typeface="Arial" panose="020B0604020202020204" pitchFamily="34" charset="0"/>
                <a:ea typeface="黑体" panose="02010609060101010101" pitchFamily="49" charset="-122"/>
              </a:rPr>
              <a:t>Accumulator: </a:t>
            </a:r>
            <a:r>
              <a:rPr lang="en-US" altLang="zh-CN" dirty="0">
                <a:solidFill>
                  <a:schemeClr val="accent2"/>
                </a:solidFill>
                <a:latin typeface="Arial" panose="020B0604020202020204" pitchFamily="34" charset="0"/>
                <a:ea typeface="黑体" panose="02010609060101010101" pitchFamily="49" charset="-122"/>
              </a:rPr>
              <a:t>(earliest machines</a:t>
            </a:r>
            <a:r>
              <a:rPr lang="en-US" altLang="zh-CN" u="sng" dirty="0">
                <a:solidFill>
                  <a:schemeClr val="accent2"/>
                </a:solidFill>
                <a:latin typeface="Arial" panose="020B0604020202020204" pitchFamily="34" charset="0"/>
                <a:ea typeface="黑体" panose="02010609060101010101" pitchFamily="49" charset="-122"/>
              </a:rPr>
              <a:t>) </a:t>
            </a:r>
            <a:r>
              <a:rPr lang="zh-CN" altLang="en-US" u="sng" dirty="0">
                <a:solidFill>
                  <a:schemeClr val="accent2"/>
                </a:solidFill>
                <a:latin typeface="Arial" panose="020B0604020202020204" pitchFamily="34" charset="0"/>
                <a:ea typeface="黑体" panose="02010609060101010101" pitchFamily="49" charset="-122"/>
              </a:rPr>
              <a:t>累加器型</a:t>
            </a:r>
            <a:endParaRPr lang="zh-CN" altLang="en-US" u="sng" dirty="0">
              <a:solidFill>
                <a:schemeClr val="accent2"/>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zh-CN" altLang="en-US" dirty="0">
                <a:solidFill>
                  <a:schemeClr val="accent1"/>
                </a:solidFill>
                <a:latin typeface="Arial" panose="020B0604020202020204" pitchFamily="34" charset="0"/>
                <a:ea typeface="黑体" panose="02010609060101010101" pitchFamily="49" charset="-122"/>
              </a:rPr>
              <a:t>特点：其中一个操作数（源操作数</a:t>
            </a:r>
            <a:r>
              <a:rPr lang="en-US" altLang="zh-CN" dirty="0">
                <a:solidFill>
                  <a:schemeClr val="accent1"/>
                </a:solidFill>
                <a:latin typeface="Arial" panose="020B0604020202020204" pitchFamily="34" charset="0"/>
                <a:ea typeface="黑体" panose="02010609060101010101" pitchFamily="49" charset="-122"/>
              </a:rPr>
              <a:t>1</a:t>
            </a:r>
            <a:r>
              <a:rPr lang="zh-CN" altLang="en-US" dirty="0">
                <a:solidFill>
                  <a:schemeClr val="accent1"/>
                </a:solidFill>
                <a:latin typeface="Arial" panose="020B0604020202020204" pitchFamily="34" charset="0"/>
                <a:ea typeface="黑体" panose="02010609060101010101" pitchFamily="49" charset="-122"/>
              </a:rPr>
              <a:t>）和目的操作数总在累加器中</a:t>
            </a:r>
            <a:endParaRPr lang="zh-CN" altLang="en-US" dirty="0">
              <a:solidFill>
                <a:schemeClr val="accent1"/>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1 address	          add A	    acc  </a:t>
            </a:r>
            <a:r>
              <a:rPr lang="en-US" altLang="zh-CN" dirty="0"/>
              <a:t>←</a:t>
            </a:r>
            <a:r>
              <a:rPr lang="en-US" altLang="zh-CN" dirty="0">
                <a:latin typeface="Arial" panose="020B0604020202020204" pitchFamily="34" charset="0"/>
                <a:ea typeface="黑体" panose="02010609060101010101" pitchFamily="49" charset="-122"/>
              </a:rPr>
              <a:t> acc + mem[A]</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1(+x) address        add x A	    acc </a:t>
            </a:r>
            <a:r>
              <a:rPr lang="en-US" altLang="zh-CN" dirty="0"/>
              <a:t>←</a:t>
            </a:r>
            <a:r>
              <a:rPr lang="en-US" altLang="zh-CN" dirty="0">
                <a:latin typeface="Arial" panose="020B0604020202020204" pitchFamily="34" charset="0"/>
                <a:ea typeface="黑体" panose="02010609060101010101" pitchFamily="49" charset="-122"/>
              </a:rPr>
              <a:t> acc + mem[A + x]</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u="sng" dirty="0">
                <a:solidFill>
                  <a:schemeClr val="accent2"/>
                </a:solidFill>
                <a:latin typeface="Arial" panose="020B0604020202020204" pitchFamily="34" charset="0"/>
                <a:ea typeface="黑体" panose="02010609060101010101" pitchFamily="49" charset="-122"/>
              </a:rPr>
              <a:t>Stack: </a:t>
            </a:r>
            <a:r>
              <a:rPr lang="en-US" altLang="zh-CN" dirty="0">
                <a:solidFill>
                  <a:schemeClr val="accent2"/>
                </a:solidFill>
                <a:latin typeface="Arial" panose="020B0604020202020204" pitchFamily="34" charset="0"/>
                <a:ea typeface="黑体" panose="02010609060101010101" pitchFamily="49" charset="-122"/>
              </a:rPr>
              <a:t>(e.g. HP calculator, Java virtual machines</a:t>
            </a:r>
            <a:r>
              <a:rPr lang="en-US" altLang="zh-CN" u="sng" dirty="0">
                <a:solidFill>
                  <a:schemeClr val="accent2"/>
                </a:solidFill>
                <a:latin typeface="Arial" panose="020B0604020202020204" pitchFamily="34" charset="0"/>
                <a:ea typeface="黑体" panose="02010609060101010101" pitchFamily="49" charset="-122"/>
              </a:rPr>
              <a:t>) </a:t>
            </a:r>
            <a:r>
              <a:rPr lang="zh-CN" altLang="en-US" u="sng" dirty="0">
                <a:solidFill>
                  <a:schemeClr val="accent2"/>
                </a:solidFill>
                <a:latin typeface="Arial" panose="020B0604020202020204" pitchFamily="34" charset="0"/>
                <a:ea typeface="黑体" panose="02010609060101010101" pitchFamily="49" charset="-122"/>
              </a:rPr>
              <a:t>堆栈型</a:t>
            </a:r>
            <a:endParaRPr lang="zh-CN" altLang="en-US" u="sng" dirty="0">
              <a:solidFill>
                <a:schemeClr val="accent2"/>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zh-CN" altLang="en-US" dirty="0">
                <a:solidFill>
                  <a:schemeClr val="accent1"/>
                </a:solidFill>
                <a:latin typeface="Arial" panose="020B0604020202020204" pitchFamily="34" charset="0"/>
                <a:ea typeface="黑体" panose="02010609060101010101" pitchFamily="49" charset="-122"/>
              </a:rPr>
              <a:t>特点：总是将栈顶两个操作数进行运算，指令无需指定操作数地址</a:t>
            </a:r>
            <a:endParaRPr lang="zh-CN" altLang="en-US" u="sng" dirty="0">
              <a:solidFill>
                <a:schemeClr val="accent1"/>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0 address	           add	    tos </a:t>
            </a:r>
            <a:r>
              <a:rPr lang="en-US" altLang="zh-CN" dirty="0"/>
              <a:t>←</a:t>
            </a:r>
            <a:r>
              <a:rPr lang="en-US" altLang="zh-CN" dirty="0">
                <a:latin typeface="Arial" panose="020B0604020202020204" pitchFamily="34" charset="0"/>
                <a:ea typeface="黑体" panose="02010609060101010101" pitchFamily="49" charset="-122"/>
              </a:rPr>
              <a:t> tos + next</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u="sng" dirty="0">
                <a:solidFill>
                  <a:schemeClr val="accent2"/>
                </a:solidFill>
                <a:latin typeface="Arial" panose="020B0604020202020204" pitchFamily="34" charset="0"/>
                <a:ea typeface="黑体" panose="02010609060101010101" pitchFamily="49" charset="-122"/>
              </a:rPr>
              <a:t>General Purpose Register: </a:t>
            </a:r>
            <a:r>
              <a:rPr lang="en-US" altLang="zh-CN" dirty="0">
                <a:solidFill>
                  <a:schemeClr val="accent2"/>
                </a:solidFill>
                <a:latin typeface="Arial" panose="020B0604020202020204" pitchFamily="34" charset="0"/>
                <a:ea typeface="黑体" panose="02010609060101010101" pitchFamily="49" charset="-122"/>
              </a:rPr>
              <a:t>(e.g. IA-32, Motorola 68xxx) </a:t>
            </a:r>
            <a:r>
              <a:rPr lang="zh-CN" altLang="en-US" dirty="0">
                <a:solidFill>
                  <a:schemeClr val="accent2"/>
                </a:solidFill>
                <a:latin typeface="Arial" panose="020B0604020202020204" pitchFamily="34" charset="0"/>
                <a:ea typeface="黑体" panose="02010609060101010101" pitchFamily="49" charset="-122"/>
              </a:rPr>
              <a:t> </a:t>
            </a:r>
            <a:r>
              <a:rPr lang="zh-CN" altLang="en-US" u="sng" dirty="0">
                <a:solidFill>
                  <a:schemeClr val="accent2"/>
                </a:solidFill>
                <a:latin typeface="Arial" panose="020B0604020202020204" pitchFamily="34" charset="0"/>
                <a:ea typeface="黑体" panose="02010609060101010101" pitchFamily="49" charset="-122"/>
              </a:rPr>
              <a:t>通用寄存器型</a:t>
            </a:r>
            <a:endParaRPr lang="zh-CN" altLang="en-US" u="sng" dirty="0">
              <a:solidFill>
                <a:schemeClr val="accent2"/>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zh-CN" altLang="en-US" dirty="0">
                <a:solidFill>
                  <a:schemeClr val="accent1"/>
                </a:solidFill>
                <a:latin typeface="Arial" panose="020B0604020202020204" pitchFamily="34" charset="0"/>
                <a:ea typeface="黑体" panose="02010609060101010101" pitchFamily="49" charset="-122"/>
              </a:rPr>
              <a:t>特点：操作数可以是寄存器或存储器数据（即</a:t>
            </a:r>
            <a:r>
              <a:rPr lang="en-US" altLang="zh-CN" dirty="0">
                <a:solidFill>
                  <a:schemeClr val="accent1"/>
                </a:solidFill>
                <a:latin typeface="Arial" panose="020B0604020202020204" pitchFamily="34" charset="0"/>
                <a:ea typeface="黑体" panose="02010609060101010101" pitchFamily="49" charset="-122"/>
              </a:rPr>
              <a:t>A</a:t>
            </a:r>
            <a:r>
              <a:rPr lang="zh-CN" altLang="en-US" dirty="0">
                <a:solidFill>
                  <a:schemeClr val="accent1"/>
                </a:solidFill>
                <a:latin typeface="Arial" panose="020B0604020202020204" pitchFamily="34" charset="0"/>
                <a:ea typeface="黑体" panose="02010609060101010101" pitchFamily="49" charset="-122"/>
              </a:rPr>
              <a:t>、</a:t>
            </a:r>
            <a:r>
              <a:rPr lang="en-US" altLang="zh-CN" dirty="0">
                <a:solidFill>
                  <a:schemeClr val="accent1"/>
                </a:solidFill>
                <a:latin typeface="Arial" panose="020B0604020202020204" pitchFamily="34" charset="0"/>
                <a:ea typeface="黑体" panose="02010609060101010101" pitchFamily="49" charset="-122"/>
              </a:rPr>
              <a:t>B</a:t>
            </a:r>
            <a:r>
              <a:rPr lang="zh-CN" altLang="en-US" dirty="0">
                <a:solidFill>
                  <a:schemeClr val="accent1"/>
                </a:solidFill>
                <a:latin typeface="Arial" panose="020B0604020202020204" pitchFamily="34" charset="0"/>
                <a:ea typeface="黑体" panose="02010609060101010101" pitchFamily="49" charset="-122"/>
              </a:rPr>
              <a:t>和</a:t>
            </a:r>
            <a:r>
              <a:rPr lang="en-US" altLang="zh-CN" dirty="0">
                <a:solidFill>
                  <a:schemeClr val="accent1"/>
                </a:solidFill>
                <a:latin typeface="Arial" panose="020B0604020202020204" pitchFamily="34" charset="0"/>
                <a:ea typeface="黑体" panose="02010609060101010101" pitchFamily="49" charset="-122"/>
              </a:rPr>
              <a:t>C</a:t>
            </a:r>
            <a:r>
              <a:rPr lang="zh-CN" altLang="en-US" dirty="0">
                <a:solidFill>
                  <a:schemeClr val="accent1"/>
                </a:solidFill>
                <a:latin typeface="Arial" panose="020B0604020202020204" pitchFamily="34" charset="0"/>
                <a:ea typeface="黑体" panose="02010609060101010101" pitchFamily="49" charset="-122"/>
              </a:rPr>
              <a:t>可以是寄存器或存储单元）</a:t>
            </a:r>
            <a:endParaRPr lang="en-US" altLang="zh-CN" u="sng" dirty="0">
              <a:solidFill>
                <a:schemeClr val="accent1"/>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2 address	          add A B	    EA(A) </a:t>
            </a:r>
            <a:r>
              <a:rPr lang="en-US" altLang="zh-CN" dirty="0"/>
              <a:t>←</a:t>
            </a:r>
            <a:r>
              <a:rPr lang="en-US" altLang="zh-CN" dirty="0">
                <a:latin typeface="Arial" panose="020B0604020202020204" pitchFamily="34" charset="0"/>
                <a:ea typeface="黑体" panose="02010609060101010101" pitchFamily="49" charset="-122"/>
              </a:rPr>
              <a:t> EA(A) + EA(B)</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3 address	          add A B C   EA(A) </a:t>
            </a:r>
            <a:r>
              <a:rPr lang="en-US" altLang="zh-CN" dirty="0"/>
              <a:t>←</a:t>
            </a:r>
            <a:r>
              <a:rPr lang="en-US" altLang="zh-CN" dirty="0">
                <a:latin typeface="Arial" panose="020B0604020202020204" pitchFamily="34" charset="0"/>
                <a:ea typeface="黑体" panose="02010609060101010101" pitchFamily="49" charset="-122"/>
              </a:rPr>
              <a:t> EA(B) + EA(C)</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u="sng" dirty="0">
                <a:solidFill>
                  <a:schemeClr val="accent2"/>
                </a:solidFill>
                <a:latin typeface="Arial" panose="020B0604020202020204" pitchFamily="34" charset="0"/>
                <a:ea typeface="黑体" panose="02010609060101010101" pitchFamily="49" charset="-122"/>
              </a:rPr>
              <a:t>Load/Store: </a:t>
            </a:r>
            <a:r>
              <a:rPr lang="en-US" altLang="zh-CN" dirty="0">
                <a:solidFill>
                  <a:schemeClr val="accent2"/>
                </a:solidFill>
                <a:latin typeface="Arial" panose="020B0604020202020204" pitchFamily="34" charset="0"/>
                <a:ea typeface="黑体" panose="02010609060101010101" pitchFamily="49" charset="-122"/>
              </a:rPr>
              <a:t>(e.g. SPARC, MIPS, PowerPC) </a:t>
            </a:r>
            <a:r>
              <a:rPr lang="zh-CN" altLang="en-US" u="sng" dirty="0">
                <a:solidFill>
                  <a:schemeClr val="accent2"/>
                </a:solidFill>
                <a:latin typeface="Arial" panose="020B0604020202020204" pitchFamily="34" charset="0"/>
                <a:ea typeface="黑体" panose="02010609060101010101" pitchFamily="49" charset="-122"/>
              </a:rPr>
              <a:t>装入</a:t>
            </a:r>
            <a:r>
              <a:rPr lang="en-US" altLang="zh-CN" u="sng" dirty="0">
                <a:solidFill>
                  <a:schemeClr val="accent2"/>
                </a:solidFill>
                <a:latin typeface="Arial" panose="020B0604020202020204" pitchFamily="34" charset="0"/>
                <a:ea typeface="黑体" panose="02010609060101010101" pitchFamily="49" charset="-122"/>
              </a:rPr>
              <a:t>/</a:t>
            </a:r>
            <a:r>
              <a:rPr lang="zh-CN" altLang="en-US" u="sng" dirty="0">
                <a:solidFill>
                  <a:schemeClr val="accent2"/>
                </a:solidFill>
                <a:latin typeface="Arial" panose="020B0604020202020204" pitchFamily="34" charset="0"/>
                <a:ea typeface="黑体" panose="02010609060101010101" pitchFamily="49" charset="-122"/>
              </a:rPr>
              <a:t>存储型</a:t>
            </a:r>
            <a:endParaRPr lang="zh-CN" altLang="en-US" u="sng" dirty="0">
              <a:solidFill>
                <a:schemeClr val="accent2"/>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zh-CN" altLang="en-US" dirty="0">
                <a:solidFill>
                  <a:schemeClr val="accent1"/>
                </a:solidFill>
                <a:latin typeface="Arial" panose="020B0604020202020204" pitchFamily="34" charset="0"/>
                <a:ea typeface="黑体" panose="02010609060101010101" pitchFamily="49" charset="-122"/>
              </a:rPr>
              <a:t>特点：运算操作数只能是寄存器数据，只有</a:t>
            </a:r>
            <a:r>
              <a:rPr lang="en-US" altLang="zh-CN" dirty="0">
                <a:solidFill>
                  <a:schemeClr val="accent1"/>
                </a:solidFill>
                <a:latin typeface="Arial" panose="020B0604020202020204" pitchFamily="34" charset="0"/>
                <a:ea typeface="黑体" panose="02010609060101010101" pitchFamily="49" charset="-122"/>
              </a:rPr>
              <a:t>load/store</a:t>
            </a:r>
            <a:r>
              <a:rPr lang="zh-CN" altLang="en-US" dirty="0">
                <a:solidFill>
                  <a:schemeClr val="accent1"/>
                </a:solidFill>
                <a:latin typeface="Arial" panose="020B0604020202020204" pitchFamily="34" charset="0"/>
                <a:ea typeface="黑体" panose="02010609060101010101" pitchFamily="49" charset="-122"/>
              </a:rPr>
              <a:t>能访问存储器</a:t>
            </a:r>
            <a:endParaRPr lang="zh-CN" altLang="en-US" u="sng" dirty="0">
              <a:solidFill>
                <a:schemeClr val="accent1"/>
              </a:solidFill>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3 address	add Ra Rb Rc	   Ra </a:t>
            </a:r>
            <a:r>
              <a:rPr lang="en-US" altLang="zh-CN" dirty="0"/>
              <a:t>←</a:t>
            </a:r>
            <a:r>
              <a:rPr lang="en-US" altLang="zh-CN" dirty="0">
                <a:latin typeface="Arial" panose="020B0604020202020204" pitchFamily="34" charset="0"/>
                <a:ea typeface="黑体" panose="02010609060101010101" pitchFamily="49" charset="-122"/>
              </a:rPr>
              <a:t> Rb + Rc</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load Ra Rb	   Ra </a:t>
            </a:r>
            <a:r>
              <a:rPr lang="en-US" altLang="zh-CN" dirty="0"/>
              <a:t>←</a:t>
            </a:r>
            <a:r>
              <a:rPr lang="en-US" altLang="zh-CN" dirty="0">
                <a:latin typeface="Arial" panose="020B0604020202020204" pitchFamily="34" charset="0"/>
                <a:ea typeface="黑体" panose="02010609060101010101" pitchFamily="49" charset="-122"/>
              </a:rPr>
              <a:t>mem[Rb]</a:t>
            </a:r>
            <a:endParaRPr lang="en-US" altLang="zh-CN" dirty="0">
              <a:latin typeface="Arial" panose="020B0604020202020204" pitchFamily="34" charset="0"/>
              <a:ea typeface="黑体" panose="02010609060101010101" pitchFamily="49" charset="-122"/>
            </a:endParaRPr>
          </a:p>
          <a:p>
            <a:pPr marL="342900" indent="-342900" defTabSz="914400">
              <a:lnSpc>
                <a:spcPct val="100000"/>
              </a:lnSpc>
              <a:spcBef>
                <a:spcPct val="15000"/>
              </a:spcBef>
              <a:buNone/>
              <a:tabLst>
                <a:tab pos="1828800" algn="l"/>
                <a:tab pos="3657600" algn="l"/>
              </a:tabLst>
            </a:pPr>
            <a:r>
              <a:rPr lang="en-US" altLang="zh-CN" dirty="0">
                <a:latin typeface="Arial" panose="020B0604020202020204" pitchFamily="34" charset="0"/>
                <a:ea typeface="黑体" panose="02010609060101010101" pitchFamily="49" charset="-122"/>
              </a:rPr>
              <a:t>		store Ra Rb	   mem[Rb] </a:t>
            </a:r>
            <a:r>
              <a:rPr lang="en-US" altLang="zh-CN" dirty="0"/>
              <a:t>←</a:t>
            </a:r>
            <a:r>
              <a:rPr lang="en-US" altLang="zh-CN" dirty="0">
                <a:latin typeface="Arial" panose="020B0604020202020204" pitchFamily="34" charset="0"/>
                <a:ea typeface="黑体" panose="02010609060101010101" pitchFamily="49" charset="-122"/>
              </a:rPr>
              <a:t> Ra</a:t>
            </a:r>
            <a:endParaRPr lang="en-US" altLang="zh-CN" dirty="0">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03">
                                            <p:txEl>
                                              <p:pRg st="1" end="1"/>
                                            </p:txEl>
                                          </p:spTgt>
                                        </p:tgtEl>
                                        <p:attrNameLst>
                                          <p:attrName>style.visibility</p:attrName>
                                        </p:attrNameLst>
                                      </p:cBhvr>
                                      <p:to>
                                        <p:strVal val="visible"/>
                                      </p:to>
                                    </p:set>
                                    <p:animEffect transition="in" filter="blinds(horizontal)">
                                      <p:cBhvr>
                                        <p:cTn id="7" dur="500"/>
                                        <p:tgtEl>
                                          <p:spTgt spid="3584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8403">
                                            <p:txEl>
                                              <p:pRg st="2" end="2"/>
                                            </p:txEl>
                                          </p:spTgt>
                                        </p:tgtEl>
                                        <p:attrNameLst>
                                          <p:attrName>style.visibility</p:attrName>
                                        </p:attrNameLst>
                                      </p:cBhvr>
                                      <p:to>
                                        <p:strVal val="visible"/>
                                      </p:to>
                                    </p:set>
                                    <p:animEffect transition="in" filter="blinds(horizontal)">
                                      <p:cBhvr>
                                        <p:cTn id="12" dur="500"/>
                                        <p:tgtEl>
                                          <p:spTgt spid="35840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8403">
                                            <p:txEl>
                                              <p:pRg st="3" end="3"/>
                                            </p:txEl>
                                          </p:spTgt>
                                        </p:tgtEl>
                                        <p:attrNameLst>
                                          <p:attrName>style.visibility</p:attrName>
                                        </p:attrNameLst>
                                      </p:cBhvr>
                                      <p:to>
                                        <p:strVal val="visible"/>
                                      </p:to>
                                    </p:set>
                                    <p:animEffect transition="in" filter="blinds(horizontal)">
                                      <p:cBhvr>
                                        <p:cTn id="17" dur="500"/>
                                        <p:tgtEl>
                                          <p:spTgt spid="3584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8403">
                                            <p:txEl>
                                              <p:pRg st="5" end="5"/>
                                            </p:txEl>
                                          </p:spTgt>
                                        </p:tgtEl>
                                        <p:attrNameLst>
                                          <p:attrName>style.visibility</p:attrName>
                                        </p:attrNameLst>
                                      </p:cBhvr>
                                      <p:to>
                                        <p:strVal val="visible"/>
                                      </p:to>
                                    </p:set>
                                    <p:animEffect transition="in" filter="blinds(horizontal)">
                                      <p:cBhvr>
                                        <p:cTn id="22" dur="500"/>
                                        <p:tgtEl>
                                          <p:spTgt spid="35840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8403">
                                            <p:txEl>
                                              <p:pRg st="6" end="6"/>
                                            </p:txEl>
                                          </p:spTgt>
                                        </p:tgtEl>
                                        <p:attrNameLst>
                                          <p:attrName>style.visibility</p:attrName>
                                        </p:attrNameLst>
                                      </p:cBhvr>
                                      <p:to>
                                        <p:strVal val="visible"/>
                                      </p:to>
                                    </p:set>
                                    <p:animEffect transition="in" filter="blinds(horizontal)">
                                      <p:cBhvr>
                                        <p:cTn id="27" dur="500"/>
                                        <p:tgtEl>
                                          <p:spTgt spid="35840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58403">
                                            <p:txEl>
                                              <p:pRg st="8" end="8"/>
                                            </p:txEl>
                                          </p:spTgt>
                                        </p:tgtEl>
                                        <p:attrNameLst>
                                          <p:attrName>style.visibility</p:attrName>
                                        </p:attrNameLst>
                                      </p:cBhvr>
                                      <p:to>
                                        <p:strVal val="visible"/>
                                      </p:to>
                                    </p:set>
                                    <p:animEffect transition="in" filter="blinds(horizontal)">
                                      <p:cBhvr>
                                        <p:cTn id="32" dur="500"/>
                                        <p:tgtEl>
                                          <p:spTgt spid="35840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58403">
                                            <p:txEl>
                                              <p:pRg st="9" end="9"/>
                                            </p:txEl>
                                          </p:spTgt>
                                        </p:tgtEl>
                                        <p:attrNameLst>
                                          <p:attrName>style.visibility</p:attrName>
                                        </p:attrNameLst>
                                      </p:cBhvr>
                                      <p:to>
                                        <p:strVal val="visible"/>
                                      </p:to>
                                    </p:set>
                                    <p:animEffect transition="in" filter="blinds(horizontal)">
                                      <p:cBhvr>
                                        <p:cTn id="37" dur="500"/>
                                        <p:tgtEl>
                                          <p:spTgt spid="35840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58403">
                                            <p:txEl>
                                              <p:pRg st="10" end="10"/>
                                            </p:txEl>
                                          </p:spTgt>
                                        </p:tgtEl>
                                        <p:attrNameLst>
                                          <p:attrName>style.visibility</p:attrName>
                                        </p:attrNameLst>
                                      </p:cBhvr>
                                      <p:to>
                                        <p:strVal val="visible"/>
                                      </p:to>
                                    </p:set>
                                    <p:animEffect transition="in" filter="blinds(horizontal)">
                                      <p:cBhvr>
                                        <p:cTn id="42" dur="500"/>
                                        <p:tgtEl>
                                          <p:spTgt spid="35840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58403">
                                            <p:txEl>
                                              <p:pRg st="12" end="12"/>
                                            </p:txEl>
                                          </p:spTgt>
                                        </p:tgtEl>
                                        <p:attrNameLst>
                                          <p:attrName>style.visibility</p:attrName>
                                        </p:attrNameLst>
                                      </p:cBhvr>
                                      <p:to>
                                        <p:strVal val="visible"/>
                                      </p:to>
                                    </p:set>
                                    <p:animEffect transition="in" filter="blinds(horizontal)">
                                      <p:cBhvr>
                                        <p:cTn id="47" dur="500"/>
                                        <p:tgtEl>
                                          <p:spTgt spid="35840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58403">
                                            <p:txEl>
                                              <p:pRg st="13" end="13"/>
                                            </p:txEl>
                                          </p:spTgt>
                                        </p:tgtEl>
                                        <p:attrNameLst>
                                          <p:attrName>style.visibility</p:attrName>
                                        </p:attrNameLst>
                                      </p:cBhvr>
                                      <p:to>
                                        <p:strVal val="visible"/>
                                      </p:to>
                                    </p:set>
                                    <p:animEffect transition="in" filter="blinds(horizontal)">
                                      <p:cBhvr>
                                        <p:cTn id="52" dur="500"/>
                                        <p:tgtEl>
                                          <p:spTgt spid="358403">
                                            <p:txEl>
                                              <p:pRg st="13" end="1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58403">
                                            <p:txEl>
                                              <p:pRg st="14" end="14"/>
                                            </p:txEl>
                                          </p:spTgt>
                                        </p:tgtEl>
                                        <p:attrNameLst>
                                          <p:attrName>style.visibility</p:attrName>
                                        </p:attrNameLst>
                                      </p:cBhvr>
                                      <p:to>
                                        <p:strVal val="visible"/>
                                      </p:to>
                                    </p:set>
                                    <p:animEffect transition="in" filter="blinds(horizontal)">
                                      <p:cBhvr>
                                        <p:cTn id="57" dur="500"/>
                                        <p:tgtEl>
                                          <p:spTgt spid="358403">
                                            <p:txEl>
                                              <p:pRg st="14" end="1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58403">
                                            <p:txEl>
                                              <p:pRg st="15" end="15"/>
                                            </p:txEl>
                                          </p:spTgt>
                                        </p:tgtEl>
                                        <p:attrNameLst>
                                          <p:attrName>style.visibility</p:attrName>
                                        </p:attrNameLst>
                                      </p:cBhvr>
                                      <p:to>
                                        <p:strVal val="visible"/>
                                      </p:to>
                                    </p:set>
                                    <p:animEffect transition="in" filter="blinds(horizontal)">
                                      <p:cBhvr>
                                        <p:cTn id="62" dur="500"/>
                                        <p:tgtEl>
                                          <p:spTgt spid="35840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525463" y="100013"/>
            <a:ext cx="2292350" cy="425450"/>
          </a:xfrm>
        </p:spPr>
        <p:txBody>
          <a:bodyPr vert="horz" wrap="none" lIns="63500" tIns="25400" rIns="63500" bIns="25400" anchor="t" anchorCtr="0">
            <a:spAutoFit/>
          </a:bodyPr>
          <a:lstStyle/>
          <a:p>
            <a:r>
              <a:rPr lang="zh-CN" altLang="en-US" sz="2800" dirty="0">
                <a:ea typeface="宋体" panose="02010600030101010101" pitchFamily="2" charset="-122"/>
              </a:rPr>
              <a:t>指令风格比较</a:t>
            </a:r>
            <a:endParaRPr lang="zh-CN" altLang="en-US" sz="2800" dirty="0">
              <a:ea typeface="宋体" panose="02010600030101010101" pitchFamily="2" charset="-122"/>
            </a:endParaRPr>
          </a:p>
        </p:txBody>
      </p:sp>
      <p:sp>
        <p:nvSpPr>
          <p:cNvPr id="39939" name="Rectangle 3"/>
          <p:cNvSpPr/>
          <p:nvPr/>
        </p:nvSpPr>
        <p:spPr>
          <a:xfrm>
            <a:off x="247650" y="635000"/>
            <a:ext cx="1536700" cy="284163"/>
          </a:xfrm>
          <a:prstGeom prst="rect">
            <a:avLst/>
          </a:prstGeom>
          <a:noFill/>
          <a:ln w="12700">
            <a:noFill/>
          </a:ln>
        </p:spPr>
        <p:txBody>
          <a:bodyPr wrap="none" lIns="63500" tIns="25400" rIns="63500" bIns="25400">
            <a:spAutoFit/>
          </a:bodyPr>
          <a:lstStyle/>
          <a:p>
            <a:pPr>
              <a:lnSpc>
                <a:spcPct val="85000"/>
              </a:lnSpc>
            </a:pPr>
            <a:r>
              <a:rPr lang="en-US" altLang="zh-CN" sz="1800" dirty="0">
                <a:latin typeface="Arial" panose="020B0604020202020204" pitchFamily="34" charset="0"/>
              </a:rPr>
              <a:t>Comparison:</a:t>
            </a:r>
            <a:endParaRPr lang="en-US" altLang="zh-CN" sz="1800" dirty="0">
              <a:latin typeface="Arial" panose="020B0604020202020204" pitchFamily="34" charset="0"/>
            </a:endParaRPr>
          </a:p>
        </p:txBody>
      </p:sp>
      <p:sp>
        <p:nvSpPr>
          <p:cNvPr id="39940" name="Rectangle 4"/>
          <p:cNvSpPr/>
          <p:nvPr/>
        </p:nvSpPr>
        <p:spPr>
          <a:xfrm>
            <a:off x="476250" y="944563"/>
            <a:ext cx="8001000" cy="284162"/>
          </a:xfrm>
          <a:prstGeom prst="rect">
            <a:avLst/>
          </a:prstGeom>
          <a:noFill/>
          <a:ln w="12700">
            <a:noFill/>
          </a:ln>
        </p:spPr>
        <p:txBody>
          <a:bodyPr wrap="none" lIns="63500" tIns="25400" rIns="63500" bIns="25400">
            <a:spAutoFit/>
          </a:bodyPr>
          <a:lstStyle/>
          <a:p>
            <a:pPr>
              <a:lnSpc>
                <a:spcPct val="85000"/>
              </a:lnSpc>
            </a:pPr>
            <a:r>
              <a:rPr lang="en-US" altLang="zh-CN" sz="1800" dirty="0">
                <a:latin typeface="Arial" panose="020B0604020202020204" pitchFamily="34" charset="0"/>
              </a:rPr>
              <a:t>Bytes per instruction?  Number of Instructions?  Cycles per instruction?</a:t>
            </a:r>
            <a:endParaRPr lang="en-US" altLang="zh-CN" sz="1800" dirty="0">
              <a:latin typeface="Arial" panose="020B0604020202020204" pitchFamily="34" charset="0"/>
            </a:endParaRPr>
          </a:p>
        </p:txBody>
      </p:sp>
      <p:sp>
        <p:nvSpPr>
          <p:cNvPr id="39941" name="AutoShape 6"/>
          <p:cNvSpPr>
            <a:spLocks noChangeAspect="1" noTextEdit="1"/>
          </p:cNvSpPr>
          <p:nvPr/>
        </p:nvSpPr>
        <p:spPr>
          <a:xfrm>
            <a:off x="346075" y="311150"/>
            <a:ext cx="8191500" cy="3632200"/>
          </a:xfrm>
          <a:prstGeom prst="rect">
            <a:avLst/>
          </a:prstGeom>
          <a:noFill/>
          <a:ln w="9525">
            <a:noFill/>
          </a:ln>
        </p:spPr>
        <p:txBody>
          <a:bodyPr/>
          <a:lstStyle/>
          <a:p>
            <a:endParaRPr lang="zh-CN" altLang="en-US"/>
          </a:p>
        </p:txBody>
      </p:sp>
      <p:sp>
        <p:nvSpPr>
          <p:cNvPr id="39942" name="Rectangle 7"/>
          <p:cNvSpPr/>
          <p:nvPr/>
        </p:nvSpPr>
        <p:spPr>
          <a:xfrm>
            <a:off x="714375" y="306388"/>
            <a:ext cx="1588" cy="122237"/>
          </a:xfrm>
          <a:prstGeom prst="rect">
            <a:avLst/>
          </a:prstGeom>
          <a:noFill/>
          <a:ln w="9525">
            <a:noFill/>
          </a:ln>
        </p:spPr>
        <p:txBody>
          <a:bodyPr wrap="none" lIns="0" tIns="0" rIns="0" bIns="0">
            <a:spAutoFit/>
          </a:bodyPr>
          <a:lstStyle/>
          <a:p>
            <a:endParaRPr lang="en-US" altLang="zh-CN" dirty="0">
              <a:latin typeface="Arial" panose="020B0604020202020204" pitchFamily="34" charset="0"/>
            </a:endParaRPr>
          </a:p>
        </p:txBody>
      </p:sp>
      <p:grpSp>
        <p:nvGrpSpPr>
          <p:cNvPr id="39943" name="Group 8"/>
          <p:cNvGrpSpPr/>
          <p:nvPr/>
        </p:nvGrpSpPr>
        <p:grpSpPr>
          <a:xfrm>
            <a:off x="409575" y="1265238"/>
            <a:ext cx="8029575" cy="2605087"/>
            <a:chOff x="328" y="1264"/>
            <a:chExt cx="5058" cy="1641"/>
          </a:xfrm>
        </p:grpSpPr>
        <p:sp>
          <p:nvSpPr>
            <p:cNvPr id="39952" name="Rectangle 9"/>
            <p:cNvSpPr/>
            <p:nvPr/>
          </p:nvSpPr>
          <p:spPr>
            <a:xfrm>
              <a:off x="328" y="1338"/>
              <a:ext cx="144" cy="173"/>
            </a:xfrm>
            <a:prstGeom prst="rect">
              <a:avLst/>
            </a:prstGeom>
            <a:noFill/>
            <a:ln w="9525">
              <a:noFill/>
            </a:ln>
          </p:spPr>
          <p:txBody>
            <a:bodyPr wrap="none" lIns="0" tIns="0" rIns="0" bIns="0">
              <a:spAutoFit/>
            </a:bodyPr>
            <a:lstStyle/>
            <a:p>
              <a:r>
                <a:rPr lang="en-US" altLang="zh-CN" sz="1800" b="0" dirty="0">
                  <a:solidFill>
                    <a:srgbClr val="000000"/>
                  </a:solidFill>
                  <a:latin typeface="Arial" panose="020B0604020202020204" pitchFamily="34" charset="0"/>
                </a:rPr>
                <a:t>°</a:t>
              </a:r>
              <a:endParaRPr lang="en-US" altLang="zh-CN" dirty="0">
                <a:latin typeface="Arial" panose="020B0604020202020204" pitchFamily="34" charset="0"/>
              </a:endParaRPr>
            </a:p>
          </p:txBody>
        </p:sp>
        <p:sp>
          <p:nvSpPr>
            <p:cNvPr id="39953" name="Rectangle 10"/>
            <p:cNvSpPr/>
            <p:nvPr/>
          </p:nvSpPr>
          <p:spPr>
            <a:xfrm>
              <a:off x="456" y="1264"/>
              <a:ext cx="4424"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Code sequence for C = A + B for four classes of instruction sets:</a:t>
              </a:r>
              <a:endParaRPr lang="en-US" altLang="zh-CN" dirty="0">
                <a:latin typeface="Arial" panose="020B0604020202020204" pitchFamily="34" charset="0"/>
              </a:endParaRPr>
            </a:p>
          </p:txBody>
        </p:sp>
        <p:sp>
          <p:nvSpPr>
            <p:cNvPr id="39954" name="Rectangle 11"/>
            <p:cNvSpPr/>
            <p:nvPr/>
          </p:nvSpPr>
          <p:spPr>
            <a:xfrm>
              <a:off x="328" y="1471"/>
              <a:ext cx="384" cy="173"/>
            </a:xfrm>
            <a:prstGeom prst="rect">
              <a:avLst/>
            </a:prstGeom>
            <a:noFill/>
            <a:ln w="9525">
              <a:noFill/>
            </a:ln>
          </p:spPr>
          <p:txBody>
            <a:bodyPr wrap="none" lIns="0" tIns="0" rIns="0" bIns="0">
              <a:spAutoFit/>
            </a:bodyPr>
            <a:lstStyle/>
            <a:p>
              <a:r>
                <a:rPr lang="en-US" altLang="zh-CN" sz="1800" dirty="0">
                  <a:solidFill>
                    <a:schemeClr val="accent1"/>
                  </a:solidFill>
                  <a:latin typeface="Arial" panose="020B0604020202020204" pitchFamily="34" charset="0"/>
                </a:rPr>
                <a:t>Stack</a:t>
              </a:r>
              <a:endParaRPr lang="en-US" altLang="zh-CN" dirty="0">
                <a:solidFill>
                  <a:schemeClr val="accent1"/>
                </a:solidFill>
                <a:latin typeface="Arial" panose="020B0604020202020204" pitchFamily="34" charset="0"/>
              </a:endParaRPr>
            </a:p>
          </p:txBody>
        </p:sp>
        <p:sp>
          <p:nvSpPr>
            <p:cNvPr id="39955" name="Rectangle 12"/>
            <p:cNvSpPr/>
            <p:nvPr/>
          </p:nvSpPr>
          <p:spPr>
            <a:xfrm>
              <a:off x="1478" y="1471"/>
              <a:ext cx="880" cy="173"/>
            </a:xfrm>
            <a:prstGeom prst="rect">
              <a:avLst/>
            </a:prstGeom>
            <a:noFill/>
            <a:ln w="9525">
              <a:noFill/>
            </a:ln>
          </p:spPr>
          <p:txBody>
            <a:bodyPr wrap="none" lIns="0" tIns="0" rIns="0" bIns="0">
              <a:spAutoFit/>
            </a:bodyPr>
            <a:lstStyle/>
            <a:p>
              <a:r>
                <a:rPr lang="en-US" altLang="zh-CN" sz="1800" dirty="0">
                  <a:solidFill>
                    <a:schemeClr val="accent1"/>
                  </a:solidFill>
                  <a:latin typeface="Arial" panose="020B0604020202020204" pitchFamily="34" charset="0"/>
                </a:rPr>
                <a:t>Accumulator</a:t>
              </a:r>
              <a:endParaRPr lang="en-US" altLang="zh-CN" dirty="0">
                <a:solidFill>
                  <a:schemeClr val="accent1"/>
                </a:solidFill>
                <a:latin typeface="Arial" panose="020B0604020202020204" pitchFamily="34" charset="0"/>
              </a:endParaRPr>
            </a:p>
          </p:txBody>
        </p:sp>
        <p:sp>
          <p:nvSpPr>
            <p:cNvPr id="39956" name="Rectangle 13"/>
            <p:cNvSpPr/>
            <p:nvPr/>
          </p:nvSpPr>
          <p:spPr>
            <a:xfrm>
              <a:off x="2628" y="1489"/>
              <a:ext cx="616" cy="173"/>
            </a:xfrm>
            <a:prstGeom prst="rect">
              <a:avLst/>
            </a:prstGeom>
            <a:noFill/>
            <a:ln w="9525">
              <a:noFill/>
            </a:ln>
          </p:spPr>
          <p:txBody>
            <a:bodyPr wrap="none" lIns="0" tIns="0" rIns="0" bIns="0">
              <a:spAutoFit/>
            </a:bodyPr>
            <a:lstStyle/>
            <a:p>
              <a:r>
                <a:rPr lang="en-US" altLang="zh-CN" sz="1800" dirty="0">
                  <a:solidFill>
                    <a:schemeClr val="accent1"/>
                  </a:solidFill>
                  <a:latin typeface="Arial" panose="020B0604020202020204" pitchFamily="34" charset="0"/>
                </a:rPr>
                <a:t>Register </a:t>
              </a:r>
              <a:endParaRPr lang="en-US" altLang="zh-CN" dirty="0">
                <a:solidFill>
                  <a:schemeClr val="accent1"/>
                </a:solidFill>
                <a:latin typeface="Arial" panose="020B0604020202020204" pitchFamily="34" charset="0"/>
              </a:endParaRPr>
            </a:p>
          </p:txBody>
        </p:sp>
        <p:sp>
          <p:nvSpPr>
            <p:cNvPr id="39957" name="Rectangle 14"/>
            <p:cNvSpPr/>
            <p:nvPr/>
          </p:nvSpPr>
          <p:spPr>
            <a:xfrm>
              <a:off x="4354" y="1489"/>
              <a:ext cx="616" cy="173"/>
            </a:xfrm>
            <a:prstGeom prst="rect">
              <a:avLst/>
            </a:prstGeom>
            <a:noFill/>
            <a:ln w="9525">
              <a:noFill/>
            </a:ln>
          </p:spPr>
          <p:txBody>
            <a:bodyPr wrap="none" lIns="0" tIns="0" rIns="0" bIns="0">
              <a:spAutoFit/>
            </a:bodyPr>
            <a:lstStyle/>
            <a:p>
              <a:r>
                <a:rPr lang="en-US" altLang="zh-CN" sz="1800" dirty="0">
                  <a:solidFill>
                    <a:schemeClr val="accent1"/>
                  </a:solidFill>
                  <a:latin typeface="Arial" panose="020B0604020202020204" pitchFamily="34" charset="0"/>
                </a:rPr>
                <a:t>Register</a:t>
              </a:r>
              <a:r>
                <a:rPr lang="en-US" altLang="zh-CN" sz="1800" dirty="0">
                  <a:solidFill>
                    <a:srgbClr val="000000"/>
                  </a:solidFill>
                  <a:latin typeface="Arial" panose="020B0604020202020204" pitchFamily="34" charset="0"/>
                </a:rPr>
                <a:t> </a:t>
              </a:r>
              <a:endParaRPr lang="en-US" altLang="zh-CN" dirty="0">
                <a:latin typeface="Arial" panose="020B0604020202020204" pitchFamily="34" charset="0"/>
              </a:endParaRPr>
            </a:p>
          </p:txBody>
        </p:sp>
        <p:sp>
          <p:nvSpPr>
            <p:cNvPr id="39958" name="Rectangle 15"/>
            <p:cNvSpPr/>
            <p:nvPr/>
          </p:nvSpPr>
          <p:spPr>
            <a:xfrm>
              <a:off x="2628" y="1723"/>
              <a:ext cx="1272" cy="173"/>
            </a:xfrm>
            <a:prstGeom prst="rect">
              <a:avLst/>
            </a:prstGeom>
            <a:noFill/>
            <a:ln w="9525">
              <a:noFill/>
            </a:ln>
          </p:spPr>
          <p:txBody>
            <a:bodyPr wrap="none" lIns="0" tIns="0" rIns="0" bIns="0">
              <a:spAutoFit/>
            </a:bodyPr>
            <a:lstStyle/>
            <a:p>
              <a:r>
                <a:rPr lang="en-US" altLang="zh-CN" sz="1800" dirty="0">
                  <a:solidFill>
                    <a:schemeClr val="accent1"/>
                  </a:solidFill>
                  <a:latin typeface="Arial" panose="020B0604020202020204" pitchFamily="34" charset="0"/>
                </a:rPr>
                <a:t>(register- memory)</a:t>
              </a:r>
              <a:endParaRPr lang="en-US" altLang="zh-CN" dirty="0">
                <a:solidFill>
                  <a:schemeClr val="accent1"/>
                </a:solidFill>
                <a:latin typeface="Arial" panose="020B0604020202020204" pitchFamily="34" charset="0"/>
              </a:endParaRPr>
            </a:p>
          </p:txBody>
        </p:sp>
        <p:sp>
          <p:nvSpPr>
            <p:cNvPr id="39959" name="Rectangle 16"/>
            <p:cNvSpPr/>
            <p:nvPr/>
          </p:nvSpPr>
          <p:spPr>
            <a:xfrm>
              <a:off x="4354" y="1723"/>
              <a:ext cx="872" cy="173"/>
            </a:xfrm>
            <a:prstGeom prst="rect">
              <a:avLst/>
            </a:prstGeom>
            <a:noFill/>
            <a:ln w="9525">
              <a:noFill/>
            </a:ln>
          </p:spPr>
          <p:txBody>
            <a:bodyPr wrap="none" lIns="0" tIns="0" rIns="0" bIns="0">
              <a:spAutoFit/>
            </a:bodyPr>
            <a:lstStyle/>
            <a:p>
              <a:r>
                <a:rPr lang="en-US" altLang="zh-CN" sz="1800" dirty="0">
                  <a:solidFill>
                    <a:schemeClr val="accent1"/>
                  </a:solidFill>
                  <a:latin typeface="Arial" panose="020B0604020202020204" pitchFamily="34" charset="0"/>
                </a:rPr>
                <a:t>(load - store)</a:t>
              </a:r>
              <a:endParaRPr lang="en-US" altLang="zh-CN" dirty="0">
                <a:solidFill>
                  <a:schemeClr val="accent1"/>
                </a:solidFill>
                <a:latin typeface="Arial" panose="020B0604020202020204" pitchFamily="34" charset="0"/>
              </a:endParaRPr>
            </a:p>
          </p:txBody>
        </p:sp>
        <p:sp>
          <p:nvSpPr>
            <p:cNvPr id="39960" name="Rectangle 17"/>
            <p:cNvSpPr/>
            <p:nvPr/>
          </p:nvSpPr>
          <p:spPr>
            <a:xfrm>
              <a:off x="328" y="2033"/>
              <a:ext cx="496"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Push A</a:t>
              </a:r>
              <a:endParaRPr lang="en-US" altLang="zh-CN" dirty="0">
                <a:latin typeface="Arial" panose="020B0604020202020204" pitchFamily="34" charset="0"/>
              </a:endParaRPr>
            </a:p>
          </p:txBody>
        </p:sp>
        <p:sp>
          <p:nvSpPr>
            <p:cNvPr id="39961" name="Rectangle 18"/>
            <p:cNvSpPr/>
            <p:nvPr/>
          </p:nvSpPr>
          <p:spPr>
            <a:xfrm>
              <a:off x="1478" y="2033"/>
              <a:ext cx="528"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Load  A</a:t>
              </a:r>
              <a:endParaRPr lang="en-US" altLang="zh-CN" dirty="0">
                <a:latin typeface="Arial" panose="020B0604020202020204" pitchFamily="34" charset="0"/>
              </a:endParaRPr>
            </a:p>
          </p:txBody>
        </p:sp>
        <p:sp>
          <p:nvSpPr>
            <p:cNvPr id="39962" name="Rectangle 19"/>
            <p:cNvSpPr/>
            <p:nvPr/>
          </p:nvSpPr>
          <p:spPr>
            <a:xfrm>
              <a:off x="2628" y="2033"/>
              <a:ext cx="752"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Load  R1,A</a:t>
              </a:r>
              <a:endParaRPr lang="en-US" altLang="zh-CN" dirty="0">
                <a:latin typeface="Arial" panose="020B0604020202020204" pitchFamily="34" charset="0"/>
              </a:endParaRPr>
            </a:p>
          </p:txBody>
        </p:sp>
        <p:sp>
          <p:nvSpPr>
            <p:cNvPr id="39963" name="Rectangle 20"/>
            <p:cNvSpPr/>
            <p:nvPr/>
          </p:nvSpPr>
          <p:spPr>
            <a:xfrm>
              <a:off x="4354" y="2033"/>
              <a:ext cx="752"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Load  R1,A</a:t>
              </a:r>
              <a:endParaRPr lang="en-US" altLang="zh-CN" dirty="0">
                <a:latin typeface="Arial" panose="020B0604020202020204" pitchFamily="34" charset="0"/>
              </a:endParaRPr>
            </a:p>
          </p:txBody>
        </p:sp>
        <p:sp>
          <p:nvSpPr>
            <p:cNvPr id="39964" name="Rectangle 21"/>
            <p:cNvSpPr/>
            <p:nvPr/>
          </p:nvSpPr>
          <p:spPr>
            <a:xfrm>
              <a:off x="328" y="2266"/>
              <a:ext cx="496"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Push B</a:t>
              </a:r>
              <a:endParaRPr lang="en-US" altLang="zh-CN" dirty="0">
                <a:latin typeface="Arial" panose="020B0604020202020204" pitchFamily="34" charset="0"/>
              </a:endParaRPr>
            </a:p>
          </p:txBody>
        </p:sp>
        <p:sp>
          <p:nvSpPr>
            <p:cNvPr id="39965" name="Rectangle 22"/>
            <p:cNvSpPr/>
            <p:nvPr/>
          </p:nvSpPr>
          <p:spPr>
            <a:xfrm>
              <a:off x="1478" y="2266"/>
              <a:ext cx="504"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Add   B</a:t>
              </a:r>
              <a:endParaRPr lang="en-US" altLang="zh-CN" dirty="0">
                <a:latin typeface="Arial" panose="020B0604020202020204" pitchFamily="34" charset="0"/>
              </a:endParaRPr>
            </a:p>
          </p:txBody>
        </p:sp>
        <p:sp>
          <p:nvSpPr>
            <p:cNvPr id="39966" name="Rectangle 23"/>
            <p:cNvSpPr/>
            <p:nvPr/>
          </p:nvSpPr>
          <p:spPr>
            <a:xfrm>
              <a:off x="2627" y="2266"/>
              <a:ext cx="728"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Add   R1,B</a:t>
              </a:r>
              <a:endParaRPr lang="en-US" altLang="zh-CN" dirty="0">
                <a:latin typeface="Arial" panose="020B0604020202020204" pitchFamily="34" charset="0"/>
              </a:endParaRPr>
            </a:p>
          </p:txBody>
        </p:sp>
        <p:sp>
          <p:nvSpPr>
            <p:cNvPr id="39967" name="Rectangle 24"/>
            <p:cNvSpPr/>
            <p:nvPr/>
          </p:nvSpPr>
          <p:spPr>
            <a:xfrm>
              <a:off x="4354" y="2266"/>
              <a:ext cx="752"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Load  R2,B</a:t>
              </a:r>
              <a:endParaRPr lang="en-US" altLang="zh-CN" dirty="0">
                <a:latin typeface="Arial" panose="020B0604020202020204" pitchFamily="34" charset="0"/>
              </a:endParaRPr>
            </a:p>
          </p:txBody>
        </p:sp>
        <p:sp>
          <p:nvSpPr>
            <p:cNvPr id="39968" name="Rectangle 25"/>
            <p:cNvSpPr/>
            <p:nvPr/>
          </p:nvSpPr>
          <p:spPr>
            <a:xfrm>
              <a:off x="328" y="2499"/>
              <a:ext cx="280"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Add</a:t>
              </a:r>
              <a:endParaRPr lang="en-US" altLang="zh-CN" dirty="0">
                <a:latin typeface="Arial" panose="020B0604020202020204" pitchFamily="34" charset="0"/>
              </a:endParaRPr>
            </a:p>
          </p:txBody>
        </p:sp>
        <p:sp>
          <p:nvSpPr>
            <p:cNvPr id="39969" name="Rectangle 26"/>
            <p:cNvSpPr/>
            <p:nvPr/>
          </p:nvSpPr>
          <p:spPr>
            <a:xfrm>
              <a:off x="1477" y="2499"/>
              <a:ext cx="512"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Store C</a:t>
              </a:r>
              <a:endParaRPr lang="en-US" altLang="zh-CN" dirty="0">
                <a:latin typeface="Arial" panose="020B0604020202020204" pitchFamily="34" charset="0"/>
              </a:endParaRPr>
            </a:p>
          </p:txBody>
        </p:sp>
        <p:sp>
          <p:nvSpPr>
            <p:cNvPr id="39970" name="Rectangle 27"/>
            <p:cNvSpPr/>
            <p:nvPr/>
          </p:nvSpPr>
          <p:spPr>
            <a:xfrm>
              <a:off x="2628" y="2499"/>
              <a:ext cx="776"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Store C, R1</a:t>
              </a:r>
              <a:endParaRPr lang="en-US" altLang="zh-CN" dirty="0">
                <a:latin typeface="Arial" panose="020B0604020202020204" pitchFamily="34" charset="0"/>
              </a:endParaRPr>
            </a:p>
          </p:txBody>
        </p:sp>
        <p:sp>
          <p:nvSpPr>
            <p:cNvPr id="39971" name="Rectangle 28"/>
            <p:cNvSpPr/>
            <p:nvPr/>
          </p:nvSpPr>
          <p:spPr>
            <a:xfrm>
              <a:off x="4354" y="2499"/>
              <a:ext cx="1032"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Add   R3,R1,R2</a:t>
              </a:r>
              <a:endParaRPr lang="en-US" altLang="zh-CN" dirty="0">
                <a:latin typeface="Arial" panose="020B0604020202020204" pitchFamily="34" charset="0"/>
              </a:endParaRPr>
            </a:p>
          </p:txBody>
        </p:sp>
        <p:sp>
          <p:nvSpPr>
            <p:cNvPr id="39972" name="Rectangle 29"/>
            <p:cNvSpPr/>
            <p:nvPr/>
          </p:nvSpPr>
          <p:spPr>
            <a:xfrm>
              <a:off x="328" y="2732"/>
              <a:ext cx="456"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Pop  C</a:t>
              </a:r>
              <a:endParaRPr lang="en-US" altLang="zh-CN" dirty="0">
                <a:latin typeface="Arial" panose="020B0604020202020204" pitchFamily="34" charset="0"/>
              </a:endParaRPr>
            </a:p>
          </p:txBody>
        </p:sp>
        <p:sp>
          <p:nvSpPr>
            <p:cNvPr id="39973" name="Rectangle 30"/>
            <p:cNvSpPr/>
            <p:nvPr/>
          </p:nvSpPr>
          <p:spPr>
            <a:xfrm>
              <a:off x="4353" y="2732"/>
              <a:ext cx="736" cy="173"/>
            </a:xfrm>
            <a:prstGeom prst="rect">
              <a:avLst/>
            </a:prstGeom>
            <a:noFill/>
            <a:ln w="9525">
              <a:noFill/>
            </a:ln>
          </p:spPr>
          <p:txBody>
            <a:bodyPr wrap="none" lIns="0" tIns="0" rIns="0" bIns="0">
              <a:spAutoFit/>
            </a:bodyPr>
            <a:lstStyle/>
            <a:p>
              <a:r>
                <a:rPr lang="en-US" altLang="zh-CN" sz="1800" dirty="0">
                  <a:solidFill>
                    <a:srgbClr val="000000"/>
                  </a:solidFill>
                  <a:latin typeface="Arial" panose="020B0604020202020204" pitchFamily="34" charset="0"/>
                </a:rPr>
                <a:t>Store C,R3</a:t>
              </a:r>
              <a:endParaRPr lang="en-US" altLang="zh-CN" dirty="0">
                <a:latin typeface="Arial" panose="020B0604020202020204" pitchFamily="34" charset="0"/>
              </a:endParaRPr>
            </a:p>
          </p:txBody>
        </p:sp>
      </p:grpSp>
      <p:sp>
        <p:nvSpPr>
          <p:cNvPr id="39944" name="Rectangle 34"/>
          <p:cNvSpPr/>
          <p:nvPr/>
        </p:nvSpPr>
        <p:spPr>
          <a:xfrm>
            <a:off x="293688" y="4260850"/>
            <a:ext cx="8294687" cy="6604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复杂表达式时，累加器型风格指令条数变多，因为所有运算都要用累加器，使得程序中多出许多移入 </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移出累加器的指令！</a:t>
            </a:r>
            <a:endParaRPr lang="zh-CN" altLang="en-US" sz="2000" dirty="0">
              <a:latin typeface="Arial" panose="020B0604020202020204" pitchFamily="34" charset="0"/>
              <a:ea typeface="黑体" panose="02010609060101010101" pitchFamily="49" charset="-122"/>
            </a:endParaRPr>
          </a:p>
        </p:txBody>
      </p:sp>
      <p:sp>
        <p:nvSpPr>
          <p:cNvPr id="360483" name="Rectangle 35"/>
          <p:cNvSpPr/>
          <p:nvPr/>
        </p:nvSpPr>
        <p:spPr>
          <a:xfrm>
            <a:off x="250825" y="5376863"/>
            <a:ext cx="8524875" cy="1066800"/>
          </a:xfrm>
          <a:prstGeom prst="rect">
            <a:avLst/>
          </a:prstGeom>
          <a:noFill/>
          <a:ln w="12700">
            <a:noFill/>
          </a:ln>
        </p:spPr>
        <p:txBody>
          <a:bodyPr lIns="63500" tIns="25400" rIns="63500" bIns="25400">
            <a:spAutoFit/>
          </a:bodyPr>
          <a:lstStyle/>
          <a:p>
            <a:pPr>
              <a:lnSpc>
                <a:spcPct val="110000"/>
              </a:lnSpc>
            </a:pPr>
            <a:r>
              <a:rPr lang="en-US" altLang="zh-CN" sz="2000" dirty="0">
                <a:solidFill>
                  <a:schemeClr val="accent1"/>
                </a:solidFill>
                <a:latin typeface="Arial" panose="020B0604020202020204" pitchFamily="34" charset="0"/>
              </a:rPr>
              <a:t> </a:t>
            </a:r>
            <a:r>
              <a:rPr lang="en-US" altLang="zh-CN" sz="2000" dirty="0">
                <a:solidFill>
                  <a:schemeClr val="accent1"/>
                </a:solidFill>
                <a:latin typeface="Arial" panose="020B0604020202020204" pitchFamily="34" charset="0"/>
                <a:ea typeface="黑体" panose="02010609060101010101" pitchFamily="49" charset="-122"/>
              </a:rPr>
              <a:t>75</a:t>
            </a:r>
            <a:r>
              <a:rPr lang="zh-CN" altLang="en-US" sz="2000" dirty="0">
                <a:solidFill>
                  <a:schemeClr val="accent1"/>
                </a:solidFill>
                <a:latin typeface="Arial" panose="020B0604020202020204" pitchFamily="34" charset="0"/>
                <a:ea typeface="黑体" panose="02010609060101010101" pitchFamily="49" charset="-122"/>
              </a:rPr>
              <a:t>年开始，寄存器型占主导地位，原因：</a:t>
            </a:r>
            <a:endParaRPr lang="en-US" altLang="zh-CN" sz="2000" dirty="0">
              <a:solidFill>
                <a:schemeClr val="tx1"/>
              </a:solidFill>
              <a:latin typeface="Arial" panose="020B0604020202020204" pitchFamily="34" charset="0"/>
              <a:ea typeface="黑体" panose="02010609060101010101" pitchFamily="49" charset="-122"/>
            </a:endParaRPr>
          </a:p>
          <a:p>
            <a:pPr lvl="1">
              <a:lnSpc>
                <a:spcPct val="110000"/>
              </a:lnSpc>
              <a:buChar char="•"/>
            </a:pPr>
            <a:r>
              <a:rPr lang="zh-CN" altLang="en-US" sz="2000" dirty="0">
                <a:solidFill>
                  <a:schemeClr val="tx1"/>
                </a:solidFill>
                <a:latin typeface="Arial" panose="020B0604020202020204" pitchFamily="34" charset="0"/>
                <a:ea typeface="黑体" panose="02010609060101010101" pitchFamily="49" charset="-122"/>
              </a:rPr>
              <a:t>  寄存器速度快，使用大量通用寄存器可减少访存操作</a:t>
            </a:r>
            <a:endParaRPr lang="zh-CN" altLang="en-US" sz="2000" dirty="0">
              <a:solidFill>
                <a:schemeClr val="tx1"/>
              </a:solidFill>
              <a:latin typeface="Arial" panose="020B0604020202020204" pitchFamily="34" charset="0"/>
              <a:ea typeface="黑体" panose="02010609060101010101" pitchFamily="49" charset="-122"/>
            </a:endParaRPr>
          </a:p>
          <a:p>
            <a:pPr lvl="1">
              <a:lnSpc>
                <a:spcPct val="110000"/>
              </a:lnSpc>
              <a:buChar char="•"/>
            </a:pPr>
            <a:r>
              <a:rPr lang="zh-CN" altLang="en-US" sz="2000" dirty="0">
                <a:solidFill>
                  <a:schemeClr val="tx1"/>
                </a:solidFill>
                <a:latin typeface="Arial" panose="020B0604020202020204" pitchFamily="34" charset="0"/>
                <a:ea typeface="黑体" panose="02010609060101010101" pitchFamily="49" charset="-122"/>
              </a:rPr>
              <a:t>  表达式编译时与顺序无关（相对于</a:t>
            </a:r>
            <a:r>
              <a:rPr lang="en-US" altLang="zh-CN" sz="2000" dirty="0">
                <a:solidFill>
                  <a:schemeClr val="tx1"/>
                </a:solidFill>
                <a:latin typeface="Arial" panose="020B0604020202020204" pitchFamily="34" charset="0"/>
                <a:ea typeface="黑体" panose="02010609060101010101" pitchFamily="49" charset="-122"/>
              </a:rPr>
              <a:t>Stack</a:t>
            </a:r>
            <a:r>
              <a:rPr lang="zh-CN" altLang="en-US" sz="2000" dirty="0">
                <a:solidFill>
                  <a:schemeClr val="tx1"/>
                </a:solidFill>
                <a:latin typeface="Arial" panose="020B0604020202020204" pitchFamily="34" charset="0"/>
                <a:ea typeface="黑体" panose="02010609060101010101" pitchFamily="49" charset="-122"/>
              </a:rPr>
              <a:t>）</a:t>
            </a:r>
            <a:endParaRPr lang="zh-CN" altLang="en-US" sz="2000" dirty="0">
              <a:solidFill>
                <a:schemeClr val="tx1"/>
              </a:solidFill>
              <a:latin typeface="Arial" panose="020B0604020202020204" pitchFamily="34" charset="0"/>
              <a:ea typeface="黑体" panose="02010609060101010101" pitchFamily="49" charset="-122"/>
            </a:endParaRPr>
          </a:p>
        </p:txBody>
      </p:sp>
      <p:sp>
        <p:nvSpPr>
          <p:cNvPr id="39946" name="Rectangle 36"/>
          <p:cNvSpPr/>
          <p:nvPr/>
        </p:nvSpPr>
        <p:spPr>
          <a:xfrm>
            <a:off x="3990975" y="1597025"/>
            <a:ext cx="4252913" cy="842963"/>
          </a:xfrm>
          <a:prstGeom prst="rect">
            <a:avLst/>
          </a:prstGeom>
          <a:noFill/>
          <a:ln w="12700" cap="flat" cmpd="sng">
            <a:solidFill>
              <a:schemeClr val="accent2"/>
            </a:solidFill>
            <a:prstDash val="solid"/>
            <a:miter/>
            <a:headEnd type="none" w="med" len="med"/>
            <a:tailEnd type="none" w="med" len="med"/>
          </a:ln>
        </p:spPr>
        <p:txBody>
          <a:bodyPr wrap="none" lIns="63500" tIns="25400" rIns="63500" bIns="25400" anchor="ctr" anchorCtr="0">
            <a:spAutoFit/>
          </a:bodyPr>
          <a:lstStyle/>
          <a:p>
            <a:endParaRPr lang="zh-CN" altLang="en-US" dirty="0">
              <a:latin typeface="Arial" panose="020B0604020202020204" pitchFamily="34" charset="0"/>
            </a:endParaRPr>
          </a:p>
        </p:txBody>
      </p:sp>
      <p:sp>
        <p:nvSpPr>
          <p:cNvPr id="37" name="矩形 36"/>
          <p:cNvSpPr/>
          <p:nvPr/>
        </p:nvSpPr>
        <p:spPr>
          <a:xfrm>
            <a:off x="1036638" y="6419850"/>
            <a:ext cx="6183312" cy="400050"/>
          </a:xfrm>
          <a:prstGeom prst="rect">
            <a:avLst/>
          </a:prstGeom>
          <a:noFill/>
          <a:ln w="9525">
            <a:noFill/>
          </a:ln>
        </p:spPr>
        <p:txBody>
          <a:bodyPr>
            <a:spAutoFit/>
          </a:bodyPr>
          <a:lstStyle/>
          <a:p>
            <a:r>
              <a:rPr lang="en-US" altLang="zh-CN" sz="2000" dirty="0">
                <a:solidFill>
                  <a:srgbClr val="C00000"/>
                </a:solidFill>
                <a:latin typeface="Arial" panose="020B0604020202020204" pitchFamily="34" charset="0"/>
                <a:ea typeface="黑体" panose="02010609060101010101" pitchFamily="49" charset="-122"/>
              </a:rPr>
              <a:t>( Java Virtual Machine </a:t>
            </a:r>
            <a:r>
              <a:rPr lang="zh-CN" altLang="en-US" sz="2000" dirty="0">
                <a:solidFill>
                  <a:srgbClr val="C00000"/>
                </a:solidFill>
                <a:latin typeface="Arial" panose="020B0604020202020204" pitchFamily="34" charset="0"/>
                <a:ea typeface="黑体" panose="02010609060101010101" pitchFamily="49" charset="-122"/>
              </a:rPr>
              <a:t>采用</a:t>
            </a:r>
            <a:r>
              <a:rPr lang="en-US" altLang="zh-CN" sz="2000" dirty="0">
                <a:solidFill>
                  <a:srgbClr val="C00000"/>
                </a:solidFill>
                <a:latin typeface="Arial" panose="020B0604020202020204" pitchFamily="34" charset="0"/>
                <a:ea typeface="黑体" panose="02010609060101010101" pitchFamily="49" charset="-122"/>
              </a:rPr>
              <a:t>Stack</a:t>
            </a:r>
            <a:r>
              <a:rPr lang="zh-CN" altLang="en-US" sz="2000" dirty="0">
                <a:solidFill>
                  <a:srgbClr val="C00000"/>
                </a:solidFill>
                <a:latin typeface="Arial" panose="020B0604020202020204" pitchFamily="34" charset="0"/>
                <a:ea typeface="黑体" panose="02010609060101010101" pitchFamily="49" charset="-122"/>
              </a:rPr>
              <a:t>型</a:t>
            </a:r>
            <a:r>
              <a:rPr lang="en-US" altLang="zh-CN" sz="2000" dirty="0">
                <a:solidFill>
                  <a:srgbClr val="C00000"/>
                </a:solidFill>
                <a:latin typeface="Arial" panose="020B0604020202020204" pitchFamily="34" charset="0"/>
                <a:ea typeface="黑体" panose="02010609060101010101" pitchFamily="49" charset="-122"/>
              </a:rPr>
              <a:t>)</a:t>
            </a:r>
            <a:endParaRPr lang="zh-CN" altLang="en-US" dirty="0">
              <a:solidFill>
                <a:srgbClr val="C00000"/>
              </a:solidFill>
              <a:latin typeface="Arial" panose="020B0604020202020204" pitchFamily="34" charset="0"/>
            </a:endParaRPr>
          </a:p>
        </p:txBody>
      </p:sp>
      <p:sp>
        <p:nvSpPr>
          <p:cNvPr id="38" name="矩形 37"/>
          <p:cNvSpPr/>
          <p:nvPr/>
        </p:nvSpPr>
        <p:spPr>
          <a:xfrm>
            <a:off x="315913" y="4933950"/>
            <a:ext cx="7189787" cy="400050"/>
          </a:xfrm>
          <a:prstGeom prst="rect">
            <a:avLst/>
          </a:prstGeom>
          <a:noFill/>
          <a:ln w="9525">
            <a:noFill/>
          </a:ln>
        </p:spPr>
        <p:txBody>
          <a:bodyPr>
            <a:spAutoFit/>
          </a:bodyPr>
          <a:lstStyle/>
          <a:p>
            <a:r>
              <a:rPr lang="zh-CN" altLang="en-US" sz="2000" dirty="0">
                <a:solidFill>
                  <a:srgbClr val="C00000"/>
                </a:solidFill>
                <a:latin typeface="Arial" panose="020B0604020202020204" pitchFamily="34" charset="0"/>
                <a:ea typeface="黑体" panose="02010609060101010101" pitchFamily="49" charset="-122"/>
              </a:rPr>
              <a:t>想象一下“</a:t>
            </a:r>
            <a:r>
              <a:rPr lang="en-US" altLang="zh-CN" sz="2000" dirty="0">
                <a:solidFill>
                  <a:srgbClr val="C00000"/>
                </a:solidFill>
                <a:latin typeface="Arial" panose="020B0604020202020204" pitchFamily="34" charset="0"/>
                <a:ea typeface="黑体" panose="02010609060101010101" pitchFamily="49" charset="-122"/>
              </a:rPr>
              <a:t>C=a</a:t>
            </a:r>
            <a:r>
              <a:rPr lang="zh-CN" altLang="en-US" sz="2000" dirty="0">
                <a:solidFill>
                  <a:srgbClr val="C00000"/>
                </a:solidFill>
                <a:latin typeface="Arial" panose="020B0604020202020204" pitchFamily="34" charset="0"/>
                <a:ea typeface="黑体" panose="02010609060101010101" pitchFamily="49" charset="-122"/>
              </a:rPr>
              <a:t>*</a:t>
            </a:r>
            <a:r>
              <a:rPr lang="en-US" altLang="zh-CN" sz="2000" dirty="0">
                <a:solidFill>
                  <a:srgbClr val="C00000"/>
                </a:solidFill>
                <a:latin typeface="Arial" panose="020B0604020202020204" pitchFamily="34" charset="0"/>
                <a:ea typeface="黑体" panose="02010609060101010101" pitchFamily="49" charset="-122"/>
              </a:rPr>
              <a:t>x+b*y+x*y</a:t>
            </a:r>
            <a:r>
              <a:rPr lang="zh-CN" altLang="en-US" sz="2000" dirty="0">
                <a:solidFill>
                  <a:srgbClr val="C00000"/>
                </a:solidFill>
                <a:latin typeface="Arial" panose="020B0604020202020204" pitchFamily="34" charset="0"/>
                <a:ea typeface="黑体" panose="02010609060101010101" pitchFamily="49" charset="-122"/>
              </a:rPr>
              <a:t>”用累加器型风格实现的情况！</a:t>
            </a:r>
            <a:endParaRPr lang="zh-CN" altLang="en-US" dirty="0">
              <a:solidFill>
                <a:srgbClr val="C00000"/>
              </a:solidFill>
              <a:latin typeface="Arial" panose="020B0604020202020204" pitchFamily="34" charset="0"/>
            </a:endParaRPr>
          </a:p>
        </p:txBody>
      </p:sp>
      <p:grpSp>
        <p:nvGrpSpPr>
          <p:cNvPr id="39949" name="Group 31"/>
          <p:cNvGrpSpPr/>
          <p:nvPr/>
        </p:nvGrpSpPr>
        <p:grpSpPr>
          <a:xfrm>
            <a:off x="2149475" y="3522663"/>
            <a:ext cx="3197225" cy="714375"/>
            <a:chOff x="1550" y="2437"/>
            <a:chExt cx="1782" cy="1148"/>
          </a:xfrm>
        </p:grpSpPr>
        <p:sp>
          <p:nvSpPr>
            <p:cNvPr id="39950" name="AutoShape 32"/>
            <p:cNvSpPr/>
            <p:nvPr/>
          </p:nvSpPr>
          <p:spPr>
            <a:xfrm rot="5400000">
              <a:off x="2177" y="1810"/>
              <a:ext cx="528" cy="1782"/>
            </a:xfrm>
            <a:prstGeom prst="rightBrace">
              <a:avLst>
                <a:gd name="adj1" fmla="val 49046"/>
                <a:gd name="adj2" fmla="val 50056"/>
              </a:avLst>
            </a:prstGeom>
            <a:noFill/>
            <a:ln w="12700" cap="flat" cmpd="sng">
              <a:solidFill>
                <a:schemeClr val="accent2"/>
              </a:solidFill>
              <a:prstDash val="solid"/>
              <a:headEnd type="none" w="med" len="med"/>
              <a:tailEnd type="none" w="med" len="med"/>
            </a:ln>
          </p:spPr>
          <p:txBody>
            <a:bodyPr rot="10800000" vert="eaVert" lIns="63500" tIns="25400" rIns="63500" bIns="25400" anchor="ctr" anchorCtr="0">
              <a:spAutoFit/>
            </a:bodyPr>
            <a:lstStyle/>
            <a:p>
              <a:pPr algn="ctr"/>
              <a:endParaRPr lang="zh-CN" altLang="en-US" dirty="0">
                <a:latin typeface="Arial" panose="020B0604020202020204" pitchFamily="34" charset="0"/>
              </a:endParaRPr>
            </a:p>
          </p:txBody>
        </p:sp>
        <p:sp>
          <p:nvSpPr>
            <p:cNvPr id="39951" name="Text Box 33"/>
            <p:cNvSpPr txBox="1"/>
            <p:nvPr/>
          </p:nvSpPr>
          <p:spPr>
            <a:xfrm>
              <a:off x="1857" y="3014"/>
              <a:ext cx="952" cy="571"/>
            </a:xfrm>
            <a:prstGeom prst="rect">
              <a:avLst/>
            </a:prstGeom>
            <a:noFill/>
            <a:ln w="12700">
              <a:noFill/>
            </a:ln>
          </p:spPr>
          <p:txBody>
            <a:bodyPr lIns="63500" tIns="25400" rIns="63500" bIns="25400">
              <a:spAutoFit/>
            </a:bodyPr>
            <a:lstStyle/>
            <a:p>
              <a:pPr>
                <a:spcBef>
                  <a:spcPct val="50000"/>
                </a:spcBef>
              </a:pPr>
              <a:r>
                <a:rPr lang="zh-CN" altLang="en-US" sz="2000" dirty="0">
                  <a:solidFill>
                    <a:srgbClr val="3C7845"/>
                  </a:solidFill>
                  <a:latin typeface="Arial" panose="020B0604020202020204" pitchFamily="34" charset="0"/>
                  <a:ea typeface="黑体" panose="02010609060101010101" pitchFamily="49" charset="-122"/>
                </a:rPr>
                <a:t>指令条数较少</a:t>
              </a:r>
              <a:endParaRPr lang="en-US" altLang="zh-CN" sz="2000" dirty="0">
                <a:solidFill>
                  <a:srgbClr val="3C7845"/>
                </a:solidFill>
                <a:latin typeface="Arial" panose="020B0604020202020204" pitchFamily="34" charset="0"/>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0483">
                                            <p:txEl>
                                              <p:pRg st="0" end="0"/>
                                            </p:txEl>
                                          </p:spTgt>
                                        </p:tgtEl>
                                        <p:attrNameLst>
                                          <p:attrName>style.visibility</p:attrName>
                                        </p:attrNameLst>
                                      </p:cBhvr>
                                      <p:to>
                                        <p:strVal val="visible"/>
                                      </p:to>
                                    </p:set>
                                    <p:animEffect transition="in" filter="blinds(horizontal)">
                                      <p:cBhvr>
                                        <p:cTn id="12" dur="500"/>
                                        <p:tgtEl>
                                          <p:spTgt spid="36048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0483">
                                            <p:txEl>
                                              <p:pRg st="1" end="1"/>
                                            </p:txEl>
                                          </p:spTgt>
                                        </p:tgtEl>
                                        <p:attrNameLst>
                                          <p:attrName>style.visibility</p:attrName>
                                        </p:attrNameLst>
                                      </p:cBhvr>
                                      <p:to>
                                        <p:strVal val="visible"/>
                                      </p:to>
                                    </p:set>
                                    <p:animEffect transition="in" filter="blinds(horizontal)">
                                      <p:cBhvr>
                                        <p:cTn id="17" dur="500"/>
                                        <p:tgtEl>
                                          <p:spTgt spid="36048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60483">
                                            <p:txEl>
                                              <p:pRg st="2" end="2"/>
                                            </p:txEl>
                                          </p:spTgt>
                                        </p:tgtEl>
                                        <p:attrNameLst>
                                          <p:attrName>style.visibility</p:attrName>
                                        </p:attrNameLst>
                                      </p:cBhvr>
                                      <p:to>
                                        <p:strVal val="visible"/>
                                      </p:to>
                                    </p:set>
                                    <p:animEffect transition="in" filter="blinds(horizontal)">
                                      <p:cBhvr>
                                        <p:cTn id="22" dur="500"/>
                                        <p:tgtEl>
                                          <p:spTgt spid="36048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blinds(horizontal)">
                                      <p:cBhvr>
                                        <p:cTn id="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p:cNvSpPr>
          <p:nvPr>
            <p:ph type="title"/>
          </p:nvPr>
        </p:nvSpPr>
        <p:spPr>
          <a:xfrm>
            <a:off x="711200" y="114300"/>
            <a:ext cx="4227513" cy="368300"/>
          </a:xfrm>
        </p:spPr>
        <p:txBody>
          <a:bodyPr vert="horz" wrap="none" lIns="63500" tIns="25400" rIns="63500" bIns="25400" anchor="t" anchorCtr="0">
            <a:spAutoFit/>
          </a:bodyPr>
          <a:lstStyle/>
          <a:p>
            <a:r>
              <a:rPr lang="en-US" altLang="zh-CN" dirty="0">
                <a:ea typeface="宋体" panose="02010600030101010101" pitchFamily="2" charset="-122"/>
              </a:rPr>
              <a:t>Examples of Register Usage</a:t>
            </a:r>
            <a:endParaRPr lang="en-US" altLang="zh-CN" dirty="0">
              <a:ea typeface="宋体" panose="02010600030101010101" pitchFamily="2" charset="-122"/>
            </a:endParaRPr>
          </a:p>
        </p:txBody>
      </p:sp>
      <p:sp>
        <p:nvSpPr>
          <p:cNvPr id="40963" name="Rectangle 3"/>
          <p:cNvSpPr/>
          <p:nvPr/>
        </p:nvSpPr>
        <p:spPr>
          <a:xfrm>
            <a:off x="360363" y="571500"/>
            <a:ext cx="4608512" cy="522288"/>
          </a:xfrm>
          <a:prstGeom prst="rect">
            <a:avLst/>
          </a:prstGeom>
          <a:noFill/>
          <a:ln w="9525">
            <a:noFill/>
          </a:ln>
        </p:spPr>
        <p:txBody>
          <a:bodyPr lIns="0" tIns="0" rIns="0" bIns="0">
            <a:spAutoFit/>
          </a:bodyPr>
          <a:lstStyle/>
          <a:p>
            <a:pPr>
              <a:lnSpc>
                <a:spcPct val="90000"/>
              </a:lnSpc>
            </a:pPr>
            <a:endParaRPr lang="en-US" altLang="zh-CN" sz="1800" dirty="0">
              <a:solidFill>
                <a:srgbClr val="000000"/>
              </a:solidFill>
              <a:latin typeface="Arial" panose="020B0604020202020204" pitchFamily="34" charset="0"/>
            </a:endParaRPr>
          </a:p>
          <a:p>
            <a:pPr>
              <a:lnSpc>
                <a:spcPct val="90000"/>
              </a:lnSpc>
            </a:pPr>
            <a:r>
              <a:rPr lang="zh-CN" altLang="en-US" sz="2000" dirty="0">
                <a:latin typeface="Arial" panose="020B0604020202020204" pitchFamily="34" charset="0"/>
                <a:ea typeface="黑体" panose="02010609060101010101" pitchFamily="49" charset="-122"/>
              </a:rPr>
              <a:t>每条典型</a:t>
            </a:r>
            <a:r>
              <a:rPr lang="en-US" altLang="zh-CN" sz="2000" dirty="0">
                <a:latin typeface="Arial" panose="020B0604020202020204" pitchFamily="34" charset="0"/>
                <a:ea typeface="黑体" panose="02010609060101010101" pitchFamily="49" charset="-122"/>
              </a:rPr>
              <a:t>ALU</a:t>
            </a:r>
            <a:r>
              <a:rPr lang="zh-CN" altLang="en-US" sz="2000" dirty="0">
                <a:latin typeface="Arial" panose="020B0604020202020204" pitchFamily="34" charset="0"/>
                <a:ea typeface="黑体" panose="02010609060101010101" pitchFamily="49" charset="-122"/>
              </a:rPr>
              <a:t>指令中的存储器地址个数</a:t>
            </a:r>
            <a:endParaRPr lang="en-US" altLang="zh-CN" sz="2000" dirty="0">
              <a:latin typeface="Arial" panose="020B0604020202020204" pitchFamily="34" charset="0"/>
              <a:ea typeface="黑体" panose="02010609060101010101" pitchFamily="49" charset="-122"/>
            </a:endParaRPr>
          </a:p>
        </p:txBody>
      </p:sp>
      <p:sp>
        <p:nvSpPr>
          <p:cNvPr id="40964" name="Rectangle 4"/>
          <p:cNvSpPr/>
          <p:nvPr/>
        </p:nvSpPr>
        <p:spPr>
          <a:xfrm>
            <a:off x="1331913" y="1063625"/>
            <a:ext cx="4875212" cy="522288"/>
          </a:xfrm>
          <a:prstGeom prst="rect">
            <a:avLst/>
          </a:prstGeom>
          <a:noFill/>
          <a:ln w="9525">
            <a:noFill/>
          </a:ln>
        </p:spPr>
        <p:txBody>
          <a:bodyPr lIns="0" tIns="0" rIns="0" bIns="0">
            <a:spAutoFit/>
          </a:bodyPr>
          <a:lstStyle/>
          <a:p>
            <a:pPr>
              <a:lnSpc>
                <a:spcPct val="90000"/>
              </a:lnSpc>
            </a:pPr>
            <a:endParaRPr lang="en-US" altLang="zh-CN" sz="1800" dirty="0">
              <a:solidFill>
                <a:srgbClr val="000000"/>
              </a:solidFill>
              <a:latin typeface="Arial" panose="020B0604020202020204" pitchFamily="34" charset="0"/>
            </a:endParaRPr>
          </a:p>
          <a:p>
            <a:pPr>
              <a:lnSpc>
                <a:spcPct val="90000"/>
              </a:lnSpc>
            </a:pPr>
            <a:r>
              <a:rPr lang="zh-CN" altLang="en-US" sz="2000" dirty="0">
                <a:latin typeface="Arial" panose="020B0604020202020204" pitchFamily="34" charset="0"/>
                <a:ea typeface="黑体" panose="02010609060101010101" pitchFamily="49" charset="-122"/>
              </a:rPr>
              <a:t>每条典型</a:t>
            </a:r>
            <a:r>
              <a:rPr lang="en-US" altLang="zh-CN" sz="2000" dirty="0">
                <a:latin typeface="Arial" panose="020B0604020202020204" pitchFamily="34" charset="0"/>
                <a:ea typeface="黑体" panose="02010609060101010101" pitchFamily="49" charset="-122"/>
              </a:rPr>
              <a:t>ALU</a:t>
            </a:r>
            <a:r>
              <a:rPr lang="zh-CN" altLang="en-US" sz="2000" dirty="0">
                <a:latin typeface="Arial" panose="020B0604020202020204" pitchFamily="34" charset="0"/>
                <a:ea typeface="黑体" panose="02010609060101010101" pitchFamily="49" charset="-122"/>
              </a:rPr>
              <a:t>指令中的最多操作数个数</a:t>
            </a:r>
            <a:endParaRPr lang="en-US" altLang="zh-CN" sz="2000" dirty="0">
              <a:latin typeface="Arial" panose="020B0604020202020204" pitchFamily="34" charset="0"/>
              <a:ea typeface="黑体" panose="02010609060101010101" pitchFamily="49" charset="-122"/>
            </a:endParaRPr>
          </a:p>
        </p:txBody>
      </p:sp>
      <p:sp>
        <p:nvSpPr>
          <p:cNvPr id="40965" name="Rectangle 5"/>
          <p:cNvSpPr/>
          <p:nvPr/>
        </p:nvSpPr>
        <p:spPr>
          <a:xfrm>
            <a:off x="2392363" y="1712913"/>
            <a:ext cx="1066800" cy="247650"/>
          </a:xfrm>
          <a:prstGeom prst="rect">
            <a:avLst/>
          </a:prstGeom>
          <a:noFill/>
          <a:ln w="9525">
            <a:noFill/>
          </a:ln>
        </p:spPr>
        <p:txBody>
          <a:bodyPr wrap="none" lIns="0" tIns="0" rIns="0" bIns="0">
            <a:spAutoFit/>
          </a:bodyPr>
          <a:lstStyle/>
          <a:p>
            <a:pPr>
              <a:lnSpc>
                <a:spcPct val="90000"/>
              </a:lnSpc>
            </a:pPr>
            <a:r>
              <a:rPr lang="en-US" altLang="zh-CN" sz="1800" dirty="0">
                <a:solidFill>
                  <a:srgbClr val="000000"/>
                </a:solidFill>
                <a:latin typeface="Arial" panose="020B0604020202020204" pitchFamily="34" charset="0"/>
              </a:rPr>
              <a:t>Examples</a:t>
            </a:r>
            <a:endParaRPr lang="en-US" altLang="zh-CN" sz="2000" dirty="0">
              <a:solidFill>
                <a:schemeClr val="tx1"/>
              </a:solidFill>
              <a:latin typeface="Arial" panose="020B0604020202020204" pitchFamily="34" charset="0"/>
            </a:endParaRPr>
          </a:p>
        </p:txBody>
      </p:sp>
      <p:sp>
        <p:nvSpPr>
          <p:cNvPr id="40966" name="Rectangle 6"/>
          <p:cNvSpPr/>
          <p:nvPr/>
        </p:nvSpPr>
        <p:spPr>
          <a:xfrm>
            <a:off x="533400" y="2174875"/>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0</a:t>
            </a:r>
            <a:endParaRPr lang="zh-CN" altLang="en-US" sz="2000" dirty="0">
              <a:solidFill>
                <a:schemeClr val="tx1"/>
              </a:solidFill>
              <a:latin typeface="Arial" panose="020B0604020202020204" pitchFamily="34" charset="0"/>
            </a:endParaRPr>
          </a:p>
        </p:txBody>
      </p:sp>
      <p:sp>
        <p:nvSpPr>
          <p:cNvPr id="40967" name="Rectangle 7"/>
          <p:cNvSpPr/>
          <p:nvPr/>
        </p:nvSpPr>
        <p:spPr>
          <a:xfrm>
            <a:off x="1446213" y="2174875"/>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3</a:t>
            </a:r>
            <a:endParaRPr lang="zh-CN" altLang="en-US" sz="2000" dirty="0">
              <a:solidFill>
                <a:schemeClr val="tx1"/>
              </a:solidFill>
              <a:latin typeface="Arial" panose="020B0604020202020204" pitchFamily="34" charset="0"/>
            </a:endParaRPr>
          </a:p>
        </p:txBody>
      </p:sp>
      <p:sp>
        <p:nvSpPr>
          <p:cNvPr id="40968" name="Rectangle 8"/>
          <p:cNvSpPr/>
          <p:nvPr/>
        </p:nvSpPr>
        <p:spPr>
          <a:xfrm>
            <a:off x="2359025" y="2174875"/>
            <a:ext cx="5245100" cy="247650"/>
          </a:xfrm>
          <a:prstGeom prst="rect">
            <a:avLst/>
          </a:prstGeom>
          <a:noFill/>
          <a:ln w="9525">
            <a:noFill/>
          </a:ln>
        </p:spPr>
        <p:txBody>
          <a:bodyPr wrap="none" lIns="0" tIns="0" rIns="0" bIns="0">
            <a:spAutoFit/>
          </a:bodyPr>
          <a:lstStyle/>
          <a:p>
            <a:pPr>
              <a:lnSpc>
                <a:spcPct val="90000"/>
              </a:lnSpc>
            </a:pPr>
            <a:r>
              <a:rPr lang="en-US" altLang="zh-CN" sz="1800" dirty="0">
                <a:solidFill>
                  <a:srgbClr val="000000"/>
                </a:solidFill>
                <a:latin typeface="Arial" panose="020B0604020202020204" pitchFamily="34" charset="0"/>
              </a:rPr>
              <a:t>SPARC, MIPS, Precision Architecture, Power PC</a:t>
            </a:r>
            <a:endParaRPr lang="en-US" altLang="zh-CN" sz="2000" dirty="0">
              <a:solidFill>
                <a:schemeClr val="tx1"/>
              </a:solidFill>
              <a:latin typeface="Arial" panose="020B0604020202020204" pitchFamily="34" charset="0"/>
            </a:endParaRPr>
          </a:p>
        </p:txBody>
      </p:sp>
      <p:sp>
        <p:nvSpPr>
          <p:cNvPr id="40969" name="Rectangle 9"/>
          <p:cNvSpPr/>
          <p:nvPr/>
        </p:nvSpPr>
        <p:spPr>
          <a:xfrm>
            <a:off x="533400" y="2509838"/>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1</a:t>
            </a:r>
            <a:endParaRPr lang="zh-CN" altLang="en-US" sz="2000" dirty="0">
              <a:solidFill>
                <a:schemeClr val="tx1"/>
              </a:solidFill>
              <a:latin typeface="Arial" panose="020B0604020202020204" pitchFamily="34" charset="0"/>
            </a:endParaRPr>
          </a:p>
        </p:txBody>
      </p:sp>
      <p:sp>
        <p:nvSpPr>
          <p:cNvPr id="40970" name="Rectangle 10"/>
          <p:cNvSpPr/>
          <p:nvPr/>
        </p:nvSpPr>
        <p:spPr>
          <a:xfrm>
            <a:off x="1446213" y="2509838"/>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2</a:t>
            </a:r>
            <a:endParaRPr lang="zh-CN" altLang="en-US" sz="2000" dirty="0">
              <a:solidFill>
                <a:schemeClr val="tx1"/>
              </a:solidFill>
              <a:latin typeface="Arial" panose="020B0604020202020204" pitchFamily="34" charset="0"/>
            </a:endParaRPr>
          </a:p>
        </p:txBody>
      </p:sp>
      <p:sp>
        <p:nvSpPr>
          <p:cNvPr id="40971" name="Rectangle 11"/>
          <p:cNvSpPr/>
          <p:nvPr/>
        </p:nvSpPr>
        <p:spPr>
          <a:xfrm>
            <a:off x="2359025" y="2509838"/>
            <a:ext cx="2959100" cy="247650"/>
          </a:xfrm>
          <a:prstGeom prst="rect">
            <a:avLst/>
          </a:prstGeom>
          <a:noFill/>
          <a:ln w="9525">
            <a:noFill/>
          </a:ln>
        </p:spPr>
        <p:txBody>
          <a:bodyPr wrap="none" lIns="0" tIns="0" rIns="0" bIns="0">
            <a:spAutoFit/>
          </a:bodyPr>
          <a:lstStyle/>
          <a:p>
            <a:pPr>
              <a:lnSpc>
                <a:spcPct val="90000"/>
              </a:lnSpc>
            </a:pPr>
            <a:r>
              <a:rPr lang="en-US" altLang="zh-CN" sz="1800" dirty="0">
                <a:solidFill>
                  <a:srgbClr val="000000"/>
                </a:solidFill>
                <a:latin typeface="Arial" panose="020B0604020202020204" pitchFamily="34" charset="0"/>
              </a:rPr>
              <a:t>Intel 80x86, Motorola 68000</a:t>
            </a:r>
            <a:endParaRPr lang="en-US" altLang="zh-CN" sz="2000" dirty="0">
              <a:solidFill>
                <a:schemeClr val="tx1"/>
              </a:solidFill>
              <a:latin typeface="Arial" panose="020B0604020202020204" pitchFamily="34" charset="0"/>
            </a:endParaRPr>
          </a:p>
        </p:txBody>
      </p:sp>
      <p:sp>
        <p:nvSpPr>
          <p:cNvPr id="40972" name="Rectangle 12"/>
          <p:cNvSpPr/>
          <p:nvPr/>
        </p:nvSpPr>
        <p:spPr>
          <a:xfrm>
            <a:off x="533400" y="2859088"/>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2</a:t>
            </a:r>
            <a:endParaRPr lang="zh-CN" altLang="en-US" sz="2000" dirty="0">
              <a:solidFill>
                <a:schemeClr val="tx1"/>
              </a:solidFill>
              <a:latin typeface="Arial" panose="020B0604020202020204" pitchFamily="34" charset="0"/>
            </a:endParaRPr>
          </a:p>
        </p:txBody>
      </p:sp>
      <p:sp>
        <p:nvSpPr>
          <p:cNvPr id="40973" name="Rectangle 13"/>
          <p:cNvSpPr/>
          <p:nvPr/>
        </p:nvSpPr>
        <p:spPr>
          <a:xfrm>
            <a:off x="1446213" y="2859088"/>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2</a:t>
            </a:r>
            <a:endParaRPr lang="zh-CN" altLang="en-US" sz="2000" dirty="0">
              <a:solidFill>
                <a:schemeClr val="tx1"/>
              </a:solidFill>
              <a:latin typeface="Arial" panose="020B0604020202020204" pitchFamily="34" charset="0"/>
            </a:endParaRPr>
          </a:p>
        </p:txBody>
      </p:sp>
      <p:sp>
        <p:nvSpPr>
          <p:cNvPr id="40974" name="Rectangle 14"/>
          <p:cNvSpPr/>
          <p:nvPr/>
        </p:nvSpPr>
        <p:spPr>
          <a:xfrm>
            <a:off x="2359025" y="2859088"/>
            <a:ext cx="3670300" cy="247650"/>
          </a:xfrm>
          <a:prstGeom prst="rect">
            <a:avLst/>
          </a:prstGeom>
          <a:noFill/>
          <a:ln w="9525">
            <a:noFill/>
          </a:ln>
        </p:spPr>
        <p:txBody>
          <a:bodyPr wrap="none" lIns="0" tIns="0" rIns="0" bIns="0">
            <a:spAutoFit/>
          </a:bodyPr>
          <a:lstStyle/>
          <a:p>
            <a:pPr>
              <a:lnSpc>
                <a:spcPct val="90000"/>
              </a:lnSpc>
            </a:pPr>
            <a:r>
              <a:rPr lang="en-US" altLang="zh-CN" sz="1800" dirty="0">
                <a:solidFill>
                  <a:srgbClr val="000000"/>
                </a:solidFill>
                <a:latin typeface="Arial" panose="020B0604020202020204" pitchFamily="34" charset="0"/>
              </a:rPr>
              <a:t>VAX (also has 3-operand formats)</a:t>
            </a:r>
            <a:endParaRPr lang="en-US" altLang="zh-CN" sz="2000" dirty="0">
              <a:solidFill>
                <a:schemeClr val="tx1"/>
              </a:solidFill>
              <a:latin typeface="Arial" panose="020B0604020202020204" pitchFamily="34" charset="0"/>
            </a:endParaRPr>
          </a:p>
        </p:txBody>
      </p:sp>
      <p:sp>
        <p:nvSpPr>
          <p:cNvPr id="40975" name="Rectangle 15"/>
          <p:cNvSpPr/>
          <p:nvPr/>
        </p:nvSpPr>
        <p:spPr>
          <a:xfrm>
            <a:off x="533400" y="3206750"/>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3</a:t>
            </a:r>
            <a:endParaRPr lang="zh-CN" altLang="en-US" sz="2000" dirty="0">
              <a:solidFill>
                <a:schemeClr val="tx1"/>
              </a:solidFill>
              <a:latin typeface="Arial" panose="020B0604020202020204" pitchFamily="34" charset="0"/>
            </a:endParaRPr>
          </a:p>
        </p:txBody>
      </p:sp>
      <p:sp>
        <p:nvSpPr>
          <p:cNvPr id="40976" name="Rectangle 16"/>
          <p:cNvSpPr/>
          <p:nvPr/>
        </p:nvSpPr>
        <p:spPr>
          <a:xfrm>
            <a:off x="1446213" y="3206750"/>
            <a:ext cx="127000" cy="247650"/>
          </a:xfrm>
          <a:prstGeom prst="rect">
            <a:avLst/>
          </a:prstGeom>
          <a:noFill/>
          <a:ln w="9525">
            <a:noFill/>
          </a:ln>
        </p:spPr>
        <p:txBody>
          <a:bodyPr wrap="none" lIns="0" tIns="0" rIns="0" bIns="0">
            <a:spAutoFit/>
          </a:bodyPr>
          <a:lstStyle/>
          <a:p>
            <a:pPr>
              <a:lnSpc>
                <a:spcPct val="90000"/>
              </a:lnSpc>
            </a:pPr>
            <a:r>
              <a:rPr lang="zh-CN" altLang="en-US" sz="1800" dirty="0">
                <a:solidFill>
                  <a:srgbClr val="000000"/>
                </a:solidFill>
                <a:latin typeface="Arial" panose="020B0604020202020204" pitchFamily="34" charset="0"/>
              </a:rPr>
              <a:t>3</a:t>
            </a:r>
            <a:endParaRPr lang="zh-CN" altLang="en-US" sz="2000" dirty="0">
              <a:solidFill>
                <a:schemeClr val="tx1"/>
              </a:solidFill>
              <a:latin typeface="Arial" panose="020B0604020202020204" pitchFamily="34" charset="0"/>
            </a:endParaRPr>
          </a:p>
        </p:txBody>
      </p:sp>
      <p:sp>
        <p:nvSpPr>
          <p:cNvPr id="40977" name="Rectangle 17"/>
          <p:cNvSpPr/>
          <p:nvPr/>
        </p:nvSpPr>
        <p:spPr>
          <a:xfrm>
            <a:off x="2359025" y="3206750"/>
            <a:ext cx="3670300" cy="247650"/>
          </a:xfrm>
          <a:prstGeom prst="rect">
            <a:avLst/>
          </a:prstGeom>
          <a:noFill/>
          <a:ln w="9525">
            <a:noFill/>
          </a:ln>
        </p:spPr>
        <p:txBody>
          <a:bodyPr wrap="none" lIns="0" tIns="0" rIns="0" bIns="0">
            <a:spAutoFit/>
          </a:bodyPr>
          <a:lstStyle/>
          <a:p>
            <a:pPr>
              <a:lnSpc>
                <a:spcPct val="90000"/>
              </a:lnSpc>
            </a:pPr>
            <a:r>
              <a:rPr lang="en-US" altLang="zh-CN" sz="1800" dirty="0">
                <a:solidFill>
                  <a:srgbClr val="000000"/>
                </a:solidFill>
                <a:latin typeface="Arial" panose="020B0604020202020204" pitchFamily="34" charset="0"/>
              </a:rPr>
              <a:t>VAX (also has 2-operand formats)</a:t>
            </a:r>
            <a:endParaRPr lang="en-US" altLang="zh-CN" sz="2000" dirty="0">
              <a:solidFill>
                <a:schemeClr val="tx1"/>
              </a:solidFill>
              <a:latin typeface="Arial" panose="020B0604020202020204" pitchFamily="34" charset="0"/>
            </a:endParaRPr>
          </a:p>
        </p:txBody>
      </p:sp>
      <p:sp>
        <p:nvSpPr>
          <p:cNvPr id="40978" name="Line 18"/>
          <p:cNvSpPr/>
          <p:nvPr/>
        </p:nvSpPr>
        <p:spPr>
          <a:xfrm flipH="1">
            <a:off x="590550" y="1143000"/>
            <a:ext cx="0" cy="989013"/>
          </a:xfrm>
          <a:prstGeom prst="line">
            <a:avLst/>
          </a:prstGeom>
          <a:ln w="12700" cap="flat" cmpd="sng">
            <a:solidFill>
              <a:schemeClr val="tx1"/>
            </a:solidFill>
            <a:prstDash val="solid"/>
            <a:headEnd type="none" w="med" len="med"/>
            <a:tailEnd type="triangle" w="med" len="med"/>
          </a:ln>
        </p:spPr>
      </p:sp>
      <p:sp>
        <p:nvSpPr>
          <p:cNvPr id="40979" name="Line 19"/>
          <p:cNvSpPr/>
          <p:nvPr/>
        </p:nvSpPr>
        <p:spPr>
          <a:xfrm flipH="1">
            <a:off x="1512888" y="1589088"/>
            <a:ext cx="0" cy="509587"/>
          </a:xfrm>
          <a:prstGeom prst="line">
            <a:avLst/>
          </a:prstGeom>
          <a:ln w="12700" cap="flat" cmpd="sng">
            <a:solidFill>
              <a:schemeClr val="tx1"/>
            </a:solidFill>
            <a:prstDash val="solid"/>
            <a:headEnd type="none" w="med" len="med"/>
            <a:tailEnd type="triangle" w="med" len="med"/>
          </a:ln>
        </p:spPr>
      </p:sp>
      <p:sp>
        <p:nvSpPr>
          <p:cNvPr id="363540" name="Text Box 20"/>
          <p:cNvSpPr txBox="1"/>
          <p:nvPr/>
        </p:nvSpPr>
        <p:spPr>
          <a:xfrm>
            <a:off x="550863" y="3575050"/>
            <a:ext cx="7943850" cy="815975"/>
          </a:xfrm>
          <a:prstGeom prst="rect">
            <a:avLst/>
          </a:prstGeom>
          <a:noFill/>
          <a:ln w="12700">
            <a:noFill/>
          </a:ln>
        </p:spPr>
        <p:txBody>
          <a:bodyPr>
            <a:spAutoFit/>
          </a:bodyPr>
          <a:lstStyle/>
          <a:p>
            <a:pPr>
              <a:lnSpc>
                <a:spcPct val="125000"/>
              </a:lnSpc>
            </a:pPr>
            <a:r>
              <a:rPr lang="en-US" altLang="zh-CN" sz="1800" dirty="0">
                <a:solidFill>
                  <a:schemeClr val="tx1"/>
                </a:solidFill>
                <a:latin typeface="Arial" panose="020B0604020202020204" pitchFamily="34" charset="0"/>
              </a:rPr>
              <a:t>In VAX</a:t>
            </a:r>
            <a:r>
              <a:rPr lang="en-US" altLang="zh-CN" sz="1800" dirty="0">
                <a:solidFill>
                  <a:srgbClr val="0033CC"/>
                </a:solidFill>
                <a:latin typeface="Arial" panose="020B0604020202020204" pitchFamily="34" charset="0"/>
              </a:rPr>
              <a:t>(CISC)</a:t>
            </a:r>
            <a:r>
              <a:rPr lang="en-US" altLang="zh-CN" sz="1800" dirty="0">
                <a:solidFill>
                  <a:schemeClr val="tx1"/>
                </a:solidFill>
                <a:latin typeface="Arial" panose="020B0604020202020204" pitchFamily="34" charset="0"/>
              </a:rPr>
              <a:t>:	</a:t>
            </a:r>
            <a:r>
              <a:rPr lang="en-US" altLang="zh-CN" sz="1800" dirty="0">
                <a:solidFill>
                  <a:schemeClr val="accent1"/>
                </a:solidFill>
                <a:latin typeface="Arial" panose="020B0604020202020204" pitchFamily="34" charset="0"/>
              </a:rPr>
              <a:t>ADDL (R9), (R10), (R11)</a:t>
            </a:r>
            <a:endParaRPr lang="en-US" altLang="zh-CN" sz="1800" dirty="0">
              <a:solidFill>
                <a:schemeClr val="tx1"/>
              </a:solidFill>
              <a:latin typeface="Arial" panose="020B0604020202020204" pitchFamily="34" charset="0"/>
            </a:endParaRPr>
          </a:p>
          <a:p>
            <a:pPr>
              <a:lnSpc>
                <a:spcPct val="125000"/>
              </a:lnSpc>
            </a:pPr>
            <a:r>
              <a:rPr lang="en-US" altLang="zh-CN" sz="1800" dirty="0">
                <a:solidFill>
                  <a:schemeClr val="tx1"/>
                </a:solidFill>
                <a:latin typeface="Arial" panose="020B0604020202020204" pitchFamily="34" charset="0"/>
              </a:rPr>
              <a:t>			</a:t>
            </a:r>
            <a:r>
              <a:rPr lang="zh-CN" altLang="en-US" sz="1800" dirty="0">
                <a:solidFill>
                  <a:schemeClr val="tx1"/>
                </a:solidFill>
                <a:latin typeface="Arial" panose="020B0604020202020204" pitchFamily="34" charset="0"/>
              </a:rPr>
              <a:t>；</a:t>
            </a:r>
            <a:r>
              <a:rPr lang="en-US" altLang="zh-CN" sz="2000" dirty="0">
                <a:solidFill>
                  <a:schemeClr val="tx1"/>
                </a:solidFill>
                <a:latin typeface="Arial" panose="020B0604020202020204" pitchFamily="34" charset="0"/>
              </a:rPr>
              <a:t>mem[R9] </a:t>
            </a:r>
            <a:r>
              <a:rPr lang="en-US" altLang="zh-CN" sz="2000" dirty="0">
                <a:solidFill>
                  <a:schemeClr val="tx1"/>
                </a:solidFill>
                <a:latin typeface="宋体" panose="02010600030101010101" pitchFamily="2" charset="-122"/>
              </a:rPr>
              <a:t>←</a:t>
            </a:r>
            <a:r>
              <a:rPr lang="en-US" altLang="zh-CN" sz="2000" dirty="0">
                <a:solidFill>
                  <a:schemeClr val="tx1"/>
                </a:solidFill>
                <a:latin typeface="Arial" panose="020B0604020202020204" pitchFamily="34" charset="0"/>
              </a:rPr>
              <a:t>mem[R10] + mem[R11]</a:t>
            </a:r>
            <a:endParaRPr lang="en-US" altLang="zh-CN" sz="2000" dirty="0">
              <a:solidFill>
                <a:schemeClr val="tx1"/>
              </a:solidFill>
              <a:latin typeface="Arial" panose="020B0604020202020204" pitchFamily="34" charset="0"/>
            </a:endParaRPr>
          </a:p>
        </p:txBody>
      </p:sp>
      <p:sp>
        <p:nvSpPr>
          <p:cNvPr id="363541" name="Text Box 21"/>
          <p:cNvSpPr txBox="1"/>
          <p:nvPr/>
        </p:nvSpPr>
        <p:spPr>
          <a:xfrm>
            <a:off x="479425" y="4270375"/>
            <a:ext cx="6391275" cy="1917700"/>
          </a:xfrm>
          <a:prstGeom prst="rect">
            <a:avLst/>
          </a:prstGeom>
          <a:noFill/>
          <a:ln w="12700">
            <a:noFill/>
          </a:ln>
        </p:spPr>
        <p:txBody>
          <a:bodyPr wrap="none">
            <a:spAutoFit/>
          </a:bodyPr>
          <a:lstStyle/>
          <a:p>
            <a:pPr>
              <a:lnSpc>
                <a:spcPct val="120000"/>
              </a:lnSpc>
            </a:pPr>
            <a:r>
              <a:rPr lang="zh-CN" altLang="en-US" sz="2000" dirty="0">
                <a:solidFill>
                  <a:schemeClr val="tx1"/>
                </a:solidFill>
                <a:latin typeface="Arial" panose="020B0604020202020204" pitchFamily="34" charset="0"/>
              </a:rPr>
              <a:t> </a:t>
            </a:r>
            <a:r>
              <a:rPr lang="en-US" altLang="zh-CN" sz="1800" dirty="0">
                <a:solidFill>
                  <a:schemeClr val="tx1"/>
                </a:solidFill>
                <a:latin typeface="Arial" panose="020B0604020202020204" pitchFamily="34" charset="0"/>
              </a:rPr>
              <a:t>In MIPS</a:t>
            </a:r>
            <a:r>
              <a:rPr lang="en-US" altLang="zh-CN" sz="1800" dirty="0">
                <a:solidFill>
                  <a:srgbClr val="0033CC"/>
                </a:solidFill>
                <a:latin typeface="Arial" panose="020B0604020202020204" pitchFamily="34" charset="0"/>
              </a:rPr>
              <a:t>(RISC)</a:t>
            </a:r>
            <a:r>
              <a:rPr lang="en-US" altLang="zh-CN" sz="1800" dirty="0">
                <a:solidFill>
                  <a:schemeClr val="tx1"/>
                </a:solidFill>
                <a:latin typeface="Arial" panose="020B0604020202020204" pitchFamily="34" charset="0"/>
              </a:rPr>
              <a:t>:</a:t>
            </a:r>
            <a:endParaRPr lang="en-US" altLang="zh-CN" sz="1800" dirty="0">
              <a:solidFill>
                <a:schemeClr val="tx1"/>
              </a:solidFill>
              <a:latin typeface="Arial" panose="020B0604020202020204" pitchFamily="34" charset="0"/>
            </a:endParaRPr>
          </a:p>
          <a:p>
            <a:pPr>
              <a:lnSpc>
                <a:spcPct val="120000"/>
              </a:lnSpc>
            </a:pPr>
            <a:r>
              <a:rPr lang="en-US" altLang="zh-CN" sz="1800" dirty="0">
                <a:solidFill>
                  <a:schemeClr val="tx1"/>
                </a:solidFill>
                <a:latin typeface="Arial" panose="020B0604020202020204" pitchFamily="34" charset="0"/>
              </a:rPr>
              <a:t>                             </a:t>
            </a:r>
            <a:r>
              <a:rPr lang="en-US" altLang="zh-CN" sz="2000" dirty="0">
                <a:solidFill>
                  <a:schemeClr val="tx1"/>
                </a:solidFill>
                <a:latin typeface="Arial" panose="020B0604020202020204" pitchFamily="34" charset="0"/>
              </a:rPr>
              <a:t>lw   R1, (R10)	   </a:t>
            </a:r>
            <a:r>
              <a:rPr lang="zh-CN" altLang="en-US" sz="2000" dirty="0">
                <a:solidFill>
                  <a:schemeClr val="tx1"/>
                </a:solidFill>
                <a:latin typeface="Arial" panose="020B0604020202020204" pitchFamily="34" charset="0"/>
              </a:rPr>
              <a:t>： </a:t>
            </a:r>
            <a:r>
              <a:rPr lang="en-US" altLang="zh-CN" sz="2000" dirty="0">
                <a:solidFill>
                  <a:schemeClr val="tx1"/>
                </a:solidFill>
                <a:latin typeface="Arial" panose="020B0604020202020204" pitchFamily="34" charset="0"/>
              </a:rPr>
              <a:t>R1 ← mem[R10]</a:t>
            </a:r>
            <a:r>
              <a:rPr lang="en-US" altLang="zh-CN" sz="2000" dirty="0">
                <a:latin typeface="Arial" panose="020B0604020202020204" pitchFamily="34" charset="0"/>
              </a:rPr>
              <a:t> </a:t>
            </a:r>
            <a:endParaRPr lang="en-US" altLang="zh-CN" sz="2000" dirty="0">
              <a:solidFill>
                <a:schemeClr val="tx1"/>
              </a:solidFill>
              <a:latin typeface="Arial" panose="020B0604020202020204" pitchFamily="34" charset="0"/>
            </a:endParaRPr>
          </a:p>
          <a:p>
            <a:pPr>
              <a:lnSpc>
                <a:spcPct val="120000"/>
              </a:lnSpc>
            </a:pPr>
            <a:r>
              <a:rPr lang="en-US" altLang="zh-CN" sz="2000" dirty="0">
                <a:solidFill>
                  <a:schemeClr val="tx1"/>
                </a:solidFill>
                <a:latin typeface="Arial" panose="020B0604020202020204" pitchFamily="34" charset="0"/>
              </a:rPr>
              <a:t>		lw   R2, (R11)       </a:t>
            </a:r>
            <a:r>
              <a:rPr lang="zh-CN" altLang="en-US" sz="2000" dirty="0">
                <a:solidFill>
                  <a:schemeClr val="tx1"/>
                </a:solidFill>
                <a:latin typeface="Arial" panose="020B0604020202020204" pitchFamily="34" charset="0"/>
              </a:rPr>
              <a:t>：</a:t>
            </a:r>
            <a:r>
              <a:rPr lang="en-US" altLang="zh-CN" sz="2000" dirty="0">
                <a:solidFill>
                  <a:schemeClr val="tx1"/>
                </a:solidFill>
                <a:latin typeface="Arial" panose="020B0604020202020204" pitchFamily="34" charset="0"/>
              </a:rPr>
              <a:t>R2 ← mem[R11]</a:t>
            </a:r>
            <a:r>
              <a:rPr lang="en-US" altLang="zh-CN" sz="2000" dirty="0">
                <a:latin typeface="Arial" panose="020B0604020202020204" pitchFamily="34" charset="0"/>
              </a:rPr>
              <a:t> </a:t>
            </a:r>
            <a:endParaRPr lang="en-US" altLang="zh-CN" sz="2000" dirty="0">
              <a:solidFill>
                <a:schemeClr val="tx1"/>
              </a:solidFill>
              <a:latin typeface="Arial" panose="020B0604020202020204" pitchFamily="34" charset="0"/>
            </a:endParaRPr>
          </a:p>
          <a:p>
            <a:pPr>
              <a:lnSpc>
                <a:spcPct val="120000"/>
              </a:lnSpc>
            </a:pPr>
            <a:r>
              <a:rPr lang="en-US" altLang="zh-CN" sz="2000" dirty="0">
                <a:solidFill>
                  <a:schemeClr val="tx1"/>
                </a:solidFill>
                <a:latin typeface="Arial" panose="020B0604020202020204" pitchFamily="34" charset="0"/>
              </a:rPr>
              <a:t>		</a:t>
            </a:r>
            <a:r>
              <a:rPr lang="en-US" altLang="zh-CN" sz="2000" dirty="0">
                <a:solidFill>
                  <a:schemeClr val="accent1"/>
                </a:solidFill>
                <a:latin typeface="Arial" panose="020B0604020202020204" pitchFamily="34" charset="0"/>
              </a:rPr>
              <a:t>add  R3, R1, R2 </a:t>
            </a:r>
            <a:r>
              <a:rPr lang="en-US" altLang="zh-CN" sz="2000" dirty="0">
                <a:solidFill>
                  <a:schemeClr val="tx1"/>
                </a:solidFill>
                <a:latin typeface="Arial" panose="020B0604020202020204" pitchFamily="34" charset="0"/>
              </a:rPr>
              <a:t>  </a:t>
            </a:r>
            <a:r>
              <a:rPr lang="zh-CN" altLang="en-US" sz="2000" dirty="0">
                <a:solidFill>
                  <a:schemeClr val="tx1"/>
                </a:solidFill>
                <a:latin typeface="Arial" panose="020B0604020202020204" pitchFamily="34" charset="0"/>
              </a:rPr>
              <a:t>：</a:t>
            </a:r>
            <a:r>
              <a:rPr lang="en-US" altLang="zh-CN" sz="2000" dirty="0">
                <a:solidFill>
                  <a:schemeClr val="tx1"/>
                </a:solidFill>
                <a:latin typeface="Arial" panose="020B0604020202020204" pitchFamily="34" charset="0"/>
              </a:rPr>
              <a:t>R3 ← R1+R2</a:t>
            </a:r>
            <a:endParaRPr lang="en-US" altLang="zh-CN" sz="2000" dirty="0">
              <a:solidFill>
                <a:schemeClr val="tx1"/>
              </a:solidFill>
              <a:latin typeface="Arial" panose="020B0604020202020204" pitchFamily="34" charset="0"/>
            </a:endParaRPr>
          </a:p>
          <a:p>
            <a:pPr>
              <a:lnSpc>
                <a:spcPct val="120000"/>
              </a:lnSpc>
            </a:pPr>
            <a:r>
              <a:rPr lang="en-US" altLang="zh-CN" sz="2000" dirty="0">
                <a:solidFill>
                  <a:schemeClr val="tx1"/>
                </a:solidFill>
                <a:latin typeface="Arial" panose="020B0604020202020204" pitchFamily="34" charset="0"/>
              </a:rPr>
              <a:t>		sw  R3, (R9)	   </a:t>
            </a:r>
            <a:r>
              <a:rPr lang="zh-CN" altLang="en-US" sz="2000" dirty="0">
                <a:solidFill>
                  <a:schemeClr val="tx1"/>
                </a:solidFill>
                <a:latin typeface="Arial" panose="020B0604020202020204" pitchFamily="34" charset="0"/>
              </a:rPr>
              <a:t>：</a:t>
            </a:r>
            <a:r>
              <a:rPr lang="en-US" altLang="zh-CN" sz="2000" dirty="0">
                <a:solidFill>
                  <a:schemeClr val="tx1"/>
                </a:solidFill>
                <a:latin typeface="Arial" panose="020B0604020202020204" pitchFamily="34" charset="0"/>
              </a:rPr>
              <a:t>mem[R9]</a:t>
            </a:r>
            <a:r>
              <a:rPr lang="en-US" altLang="zh-CN" sz="2000" dirty="0">
                <a:latin typeface="Arial" panose="020B0604020202020204" pitchFamily="34" charset="0"/>
              </a:rPr>
              <a:t> </a:t>
            </a:r>
            <a:r>
              <a:rPr lang="en-US" altLang="zh-CN" sz="2000" dirty="0">
                <a:solidFill>
                  <a:schemeClr val="tx1"/>
                </a:solidFill>
                <a:latin typeface="Arial" panose="020B0604020202020204" pitchFamily="34" charset="0"/>
              </a:rPr>
              <a:t>← R3</a:t>
            </a:r>
            <a:endParaRPr lang="en-US" altLang="zh-CN" sz="2000" dirty="0">
              <a:solidFill>
                <a:schemeClr val="tx1"/>
              </a:solidFill>
              <a:latin typeface="Arial" panose="020B0604020202020204" pitchFamily="34" charset="0"/>
            </a:endParaRPr>
          </a:p>
        </p:txBody>
      </p:sp>
      <p:sp>
        <p:nvSpPr>
          <p:cNvPr id="363542" name="Text Box 22"/>
          <p:cNvSpPr txBox="1"/>
          <p:nvPr/>
        </p:nvSpPr>
        <p:spPr>
          <a:xfrm>
            <a:off x="5759450" y="3656013"/>
            <a:ext cx="1708150" cy="3556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一条指令！</a:t>
            </a:r>
            <a:endParaRPr lang="zh-CN" altLang="en-US" sz="2000" dirty="0">
              <a:latin typeface="Arial" panose="020B0604020202020204" pitchFamily="34" charset="0"/>
              <a:ea typeface="黑体" panose="02010609060101010101" pitchFamily="49" charset="-122"/>
            </a:endParaRPr>
          </a:p>
        </p:txBody>
      </p:sp>
      <p:grpSp>
        <p:nvGrpSpPr>
          <p:cNvPr id="2" name="Group 23"/>
          <p:cNvGrpSpPr/>
          <p:nvPr/>
        </p:nvGrpSpPr>
        <p:grpSpPr>
          <a:xfrm>
            <a:off x="6721475" y="4851400"/>
            <a:ext cx="1957388" cy="1273175"/>
            <a:chOff x="3840" y="3182"/>
            <a:chExt cx="959" cy="676"/>
          </a:xfrm>
        </p:grpSpPr>
        <p:sp>
          <p:nvSpPr>
            <p:cNvPr id="40986" name="Text Box 24"/>
            <p:cNvSpPr txBox="1"/>
            <p:nvPr/>
          </p:nvSpPr>
          <p:spPr>
            <a:xfrm>
              <a:off x="4039" y="3408"/>
              <a:ext cx="760" cy="189"/>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四条指令！</a:t>
              </a:r>
              <a:endParaRPr lang="zh-CN" altLang="en-US" sz="2000" dirty="0">
                <a:latin typeface="Arial" panose="020B0604020202020204" pitchFamily="34" charset="0"/>
                <a:ea typeface="黑体" panose="02010609060101010101" pitchFamily="49" charset="-122"/>
              </a:endParaRPr>
            </a:p>
          </p:txBody>
        </p:sp>
        <p:sp>
          <p:nvSpPr>
            <p:cNvPr id="40987" name="AutoShape 25"/>
            <p:cNvSpPr/>
            <p:nvPr/>
          </p:nvSpPr>
          <p:spPr>
            <a:xfrm>
              <a:off x="3840" y="3182"/>
              <a:ext cx="119" cy="676"/>
            </a:xfrm>
            <a:prstGeom prst="rightBrace">
              <a:avLst>
                <a:gd name="adj1" fmla="val 47338"/>
                <a:gd name="adj2" fmla="val 50000"/>
              </a:avLst>
            </a:prstGeom>
            <a:noFill/>
            <a:ln w="28575" cap="flat" cmpd="sng">
              <a:solidFill>
                <a:schemeClr val="accent2"/>
              </a:solidFill>
              <a:prstDash val="solid"/>
              <a:headEnd type="none" w="med" len="med"/>
              <a:tailEnd type="none" w="med" len="med"/>
            </a:ln>
          </p:spPr>
          <p:txBody>
            <a:bodyPr wrap="none" lIns="63500" tIns="25400" rIns="63500" bIns="25400" anchor="ctr" anchorCtr="0">
              <a:spAutoFit/>
            </a:bodyPr>
            <a:lstStyle/>
            <a:p>
              <a:endParaRPr lang="zh-CN" altLang="en-US" dirty="0">
                <a:latin typeface="Arial" panose="020B0604020202020204" pitchFamily="34" charset="0"/>
              </a:endParaRPr>
            </a:p>
          </p:txBody>
        </p:sp>
      </p:grpSp>
      <p:sp>
        <p:nvSpPr>
          <p:cNvPr id="363546" name="Text Box 26"/>
          <p:cNvSpPr txBox="1"/>
          <p:nvPr/>
        </p:nvSpPr>
        <p:spPr>
          <a:xfrm>
            <a:off x="709613" y="6269038"/>
            <a:ext cx="7269162" cy="355600"/>
          </a:xfrm>
          <a:prstGeom prst="rect">
            <a:avLst/>
          </a:prstGeom>
          <a:noFill/>
          <a:ln w="12700">
            <a:noFill/>
          </a:ln>
        </p:spPr>
        <p:txBody>
          <a:bodyPr lIns="63500" tIns="25400" rIns="63500" bIns="25400">
            <a:spAutoFit/>
          </a:bodyPr>
          <a:lstStyle/>
          <a:p>
            <a:pPr>
              <a:spcBef>
                <a:spcPct val="50000"/>
              </a:spcBef>
            </a:pPr>
            <a:r>
              <a:rPr lang="zh-CN" altLang="en-US" sz="2000" dirty="0">
                <a:solidFill>
                  <a:srgbClr val="EE3900"/>
                </a:solidFill>
                <a:latin typeface="Arial" panose="020B0604020202020204" pitchFamily="34" charset="0"/>
                <a:ea typeface="黑体" panose="02010609060101010101" pitchFamily="49" charset="-122"/>
              </a:rPr>
              <a:t>哪一种风格更好呢？学了第</a:t>
            </a:r>
            <a:r>
              <a:rPr lang="en-US" altLang="zh-CN" sz="2000" dirty="0">
                <a:solidFill>
                  <a:srgbClr val="EE3900"/>
                </a:solidFill>
                <a:latin typeface="Arial" panose="020B0604020202020204" pitchFamily="34" charset="0"/>
                <a:ea typeface="黑体" panose="02010609060101010101" pitchFamily="49" charset="-122"/>
              </a:rPr>
              <a:t>6</a:t>
            </a:r>
            <a:r>
              <a:rPr lang="zh-CN" altLang="en-US" sz="2000" dirty="0">
                <a:solidFill>
                  <a:srgbClr val="EE3900"/>
                </a:solidFill>
                <a:latin typeface="Arial" panose="020B0604020202020204" pitchFamily="34" charset="0"/>
                <a:ea typeface="黑体" panose="02010609060101010101" pitchFamily="49" charset="-122"/>
              </a:rPr>
              <a:t>和第</a:t>
            </a:r>
            <a:r>
              <a:rPr lang="en-US" altLang="zh-CN" sz="2000" dirty="0">
                <a:solidFill>
                  <a:srgbClr val="EE3900"/>
                </a:solidFill>
                <a:latin typeface="Arial" panose="020B0604020202020204" pitchFamily="34" charset="0"/>
                <a:ea typeface="黑体" panose="02010609060101010101" pitchFamily="49" charset="-122"/>
              </a:rPr>
              <a:t>7</a:t>
            </a:r>
            <a:r>
              <a:rPr lang="zh-CN" altLang="en-US" sz="2000" dirty="0">
                <a:solidFill>
                  <a:srgbClr val="EE3900"/>
                </a:solidFill>
                <a:latin typeface="Arial" panose="020B0604020202020204" pitchFamily="34" charset="0"/>
                <a:ea typeface="黑体" panose="02010609060101010101" pitchFamily="49" charset="-122"/>
              </a:rPr>
              <a:t>章后会有更深的体会！</a:t>
            </a:r>
            <a:endParaRPr lang="zh-CN" altLang="en-US" sz="2000" dirty="0">
              <a:solidFill>
                <a:srgbClr val="EE3900"/>
              </a:solidFill>
              <a:latin typeface="Arial" panose="020B0604020202020204" pitchFamily="34" charset="0"/>
              <a:ea typeface="黑体" panose="02010609060101010101" pitchFamily="49" charset="-122"/>
            </a:endParaRPr>
          </a:p>
        </p:txBody>
      </p:sp>
      <p:sp>
        <p:nvSpPr>
          <p:cNvPr id="27" name="Text Box 22"/>
          <p:cNvSpPr txBox="1"/>
          <p:nvPr/>
        </p:nvSpPr>
        <p:spPr>
          <a:xfrm>
            <a:off x="234950" y="4913313"/>
            <a:ext cx="1708150" cy="820737"/>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哪种</a:t>
            </a:r>
            <a:r>
              <a:rPr lang="en-US" altLang="zh-CN" sz="2000" dirty="0">
                <a:latin typeface="Arial" panose="020B0604020202020204" pitchFamily="34" charset="0"/>
                <a:ea typeface="黑体" panose="02010609060101010101" pitchFamily="49" charset="-122"/>
              </a:rPr>
              <a:t>CPI</a:t>
            </a:r>
            <a:r>
              <a:rPr lang="zh-CN" altLang="en-US" sz="2000" dirty="0">
                <a:latin typeface="Arial" panose="020B0604020202020204" pitchFamily="34" charset="0"/>
                <a:ea typeface="黑体" panose="02010609060101010101" pitchFamily="49" charset="-122"/>
              </a:rPr>
              <a:t>小？</a:t>
            </a:r>
            <a:endParaRPr lang="zh-CN" altLang="en-US" sz="2000" dirty="0">
              <a:latin typeface="Arial" panose="020B0604020202020204" pitchFamily="34" charset="0"/>
              <a:ea typeface="黑体" panose="02010609060101010101" pitchFamily="49" charset="-122"/>
            </a:endParaRPr>
          </a:p>
          <a:p>
            <a:pPr>
              <a:spcBef>
                <a:spcPct val="50000"/>
              </a:spcBef>
            </a:pPr>
            <a:r>
              <a:rPr lang="en-US" altLang="zh-CN" sz="2000" dirty="0">
                <a:latin typeface="Arial" panose="020B0604020202020204" pitchFamily="34" charset="0"/>
                <a:ea typeface="黑体" panose="02010609060101010101" pitchFamily="49" charset="-122"/>
              </a:rPr>
              <a:t>MIPS</a:t>
            </a:r>
            <a:r>
              <a:rPr lang="zh-CN" altLang="en-US" sz="2000" dirty="0">
                <a:latin typeface="Arial" panose="020B0604020202020204" pitchFamily="34" charset="0"/>
                <a:ea typeface="黑体" panose="02010609060101010101" pitchFamily="49" charset="-122"/>
              </a:rPr>
              <a:t>！</a:t>
            </a:r>
            <a:endParaRPr lang="zh-CN" altLang="en-US" sz="2000" dirty="0">
              <a:latin typeface="Arial" panose="020B0604020202020204" pitchFamily="34" charset="0"/>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63540"/>
                                        </p:tgtEl>
                                        <p:attrNameLst>
                                          <p:attrName>style.visibility</p:attrName>
                                        </p:attrNameLst>
                                      </p:cBhvr>
                                      <p:to>
                                        <p:strVal val="visible"/>
                                      </p:to>
                                    </p:set>
                                    <p:animEffect transition="in" filter="blinds(horizontal)">
                                      <p:cBhvr>
                                        <p:cTn id="7" dur="500"/>
                                        <p:tgtEl>
                                          <p:spTgt spid="3635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63541"/>
                                        </p:tgtEl>
                                        <p:attrNameLst>
                                          <p:attrName>style.visibility</p:attrName>
                                        </p:attrNameLst>
                                      </p:cBhvr>
                                      <p:to>
                                        <p:strVal val="visible"/>
                                      </p:to>
                                    </p:set>
                                    <p:animEffect transition="in" filter="blinds(horizontal)">
                                      <p:cBhvr>
                                        <p:cTn id="12" dur="500"/>
                                        <p:tgtEl>
                                          <p:spTgt spid="36354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3542"/>
                                        </p:tgtEl>
                                        <p:attrNameLst>
                                          <p:attrName>style.visibility</p:attrName>
                                        </p:attrNameLst>
                                      </p:cBhvr>
                                      <p:to>
                                        <p:strVal val="visible"/>
                                      </p:to>
                                    </p:set>
                                    <p:animEffect transition="in" filter="blinds(horizontal)">
                                      <p:cBhvr>
                                        <p:cTn id="17" dur="500"/>
                                        <p:tgtEl>
                                          <p:spTgt spid="36354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
                                            <p:txEl>
                                              <p:pRg st="0" end="0"/>
                                            </p:txEl>
                                          </p:spTgt>
                                        </p:tgtEl>
                                        <p:attrNameLst>
                                          <p:attrName>style.visibility</p:attrName>
                                        </p:attrNameLst>
                                      </p:cBhvr>
                                      <p:to>
                                        <p:strVal val="visible"/>
                                      </p:to>
                                    </p:set>
                                    <p:animEffect transition="in" filter="blinds(horizontal)">
                                      <p:cBhvr>
                                        <p:cTn id="27" dur="500"/>
                                        <p:tgtEl>
                                          <p:spTgt spid="2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
                                            <p:txEl>
                                              <p:pRg st="1" end="1"/>
                                            </p:txEl>
                                          </p:spTgt>
                                        </p:tgtEl>
                                        <p:attrNameLst>
                                          <p:attrName>style.visibility</p:attrName>
                                        </p:attrNameLst>
                                      </p:cBhvr>
                                      <p:to>
                                        <p:strVal val="visible"/>
                                      </p:to>
                                    </p:set>
                                    <p:animEffect transition="in" filter="blinds(horizontal)">
                                      <p:cBhvr>
                                        <p:cTn id="32" dur="500"/>
                                        <p:tgtEl>
                                          <p:spTgt spid="2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63546"/>
                                        </p:tgtEl>
                                        <p:attrNameLst>
                                          <p:attrName>style.visibility</p:attrName>
                                        </p:attrNameLst>
                                      </p:cBhvr>
                                      <p:to>
                                        <p:strVal val="visible"/>
                                      </p:to>
                                    </p:set>
                                    <p:animEffect transition="in" filter="blinds(horizontal)">
                                      <p:cBhvr>
                                        <p:cTn id="37" dur="500"/>
                                        <p:tgtEl>
                                          <p:spTgt spid="363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40" grpId="0"/>
      <p:bldP spid="363541" grpId="0"/>
      <p:bldP spid="363542" grpId="0"/>
      <p:bldP spid="363546" grpId="0"/>
      <p:bldP spid="27" grpId="0" build="allAtOnce"/>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p:cNvSpPr>
          <p:nvPr>
            <p:ph type="title"/>
          </p:nvPr>
        </p:nvSpPr>
        <p:spPr>
          <a:xfrm>
            <a:off x="711200" y="-109537"/>
            <a:ext cx="6696075" cy="800100"/>
          </a:xfrm>
        </p:spPr>
        <p:txBody>
          <a:bodyPr vert="horz" wrap="square" lIns="63500" tIns="25400" rIns="63500" bIns="25400" anchor="ctr" anchorCtr="0">
            <a:spAutoFit/>
          </a:bodyPr>
          <a:lstStyle/>
          <a:p>
            <a:r>
              <a:rPr lang="zh-CN" altLang="en-US" sz="2800" dirty="0">
                <a:ea typeface="宋体" panose="02010600030101010101" pitchFamily="2" charset="-122"/>
              </a:rPr>
              <a:t>指令设计风格 </a:t>
            </a:r>
            <a:r>
              <a:rPr lang="en-US" altLang="zh-CN" sz="2800" dirty="0">
                <a:ea typeface="宋体" panose="02010600030101010101" pitchFamily="2" charset="-122"/>
              </a:rPr>
              <a:t>– </a:t>
            </a:r>
            <a:r>
              <a:rPr lang="zh-CN" altLang="en-US" sz="2800" dirty="0">
                <a:ea typeface="宋体" panose="02010600030101010101" pitchFamily="2" charset="-122"/>
              </a:rPr>
              <a:t>按指令格式的复杂度来分</a:t>
            </a:r>
            <a:endParaRPr lang="zh-CN" altLang="en-US" sz="2800" dirty="0">
              <a:ea typeface="宋体" panose="02010600030101010101" pitchFamily="2" charset="-122"/>
            </a:endParaRPr>
          </a:p>
        </p:txBody>
      </p:sp>
      <p:sp>
        <p:nvSpPr>
          <p:cNvPr id="410627" name="Rectangle 3"/>
          <p:cNvSpPr>
            <a:spLocks noGrp="1"/>
          </p:cNvSpPr>
          <p:nvPr>
            <p:ph idx="1"/>
          </p:nvPr>
        </p:nvSpPr>
        <p:spPr>
          <a:xfrm>
            <a:off x="233363" y="1630363"/>
            <a:ext cx="8385175" cy="3511550"/>
          </a:xfrm>
        </p:spPr>
        <p:txBody>
          <a:bodyPr vert="horz" wrap="square" lIns="91440" tIns="45720" rIns="91440" bIns="45720" anchor="t" anchorCtr="0"/>
          <a:lstStyle/>
          <a:p>
            <a:pPr>
              <a:lnSpc>
                <a:spcPct val="140000"/>
              </a:lnSpc>
              <a:buNone/>
            </a:pPr>
            <a:r>
              <a:rPr lang="zh-CN" altLang="en-US" sz="1800" dirty="0">
                <a:latin typeface="Arial" panose="020B0604020202020204" pitchFamily="34" charset="0"/>
                <a:ea typeface="黑体" panose="02010609060101010101" pitchFamily="49" charset="-122"/>
              </a:rPr>
              <a:t>早期</a:t>
            </a:r>
            <a:r>
              <a:rPr lang="en-US" altLang="en-US" sz="1800" dirty="0">
                <a:latin typeface="Arial" panose="020B0604020202020204" pitchFamily="34" charset="0"/>
                <a:ea typeface="黑体" panose="02010609060101010101" pitchFamily="49" charset="-122"/>
              </a:rPr>
              <a:t>CISC</a:t>
            </a:r>
            <a:r>
              <a:rPr lang="zh-CN" altLang="en-US" sz="1800" dirty="0">
                <a:latin typeface="Arial" panose="020B0604020202020204" pitchFamily="34" charset="0"/>
                <a:ea typeface="黑体" panose="02010609060101010101" pitchFamily="49" charset="-122"/>
              </a:rPr>
              <a:t>设计风格的主要特点</a:t>
            </a:r>
            <a:endParaRPr lang="zh-CN" altLang="en-US" sz="1800" dirty="0">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0033CC"/>
                </a:solidFill>
                <a:latin typeface="Arial" panose="020B0604020202020204" pitchFamily="34" charset="0"/>
                <a:ea typeface="黑体" panose="02010609060101010101" pitchFamily="49" charset="-122"/>
              </a:rPr>
              <a:t>(1) 指令系统复杂</a:t>
            </a:r>
            <a:endParaRPr lang="zh-CN" altLang="en-US" sz="1800" dirty="0">
              <a:solidFill>
                <a:srgbClr val="0033CC"/>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C2228D"/>
                </a:solidFill>
                <a:latin typeface="Arial" panose="020B0604020202020204" pitchFamily="34" charset="0"/>
                <a:ea typeface="黑体" panose="02010609060101010101" pitchFamily="49" charset="-122"/>
              </a:rPr>
              <a:t>     </a:t>
            </a:r>
            <a:r>
              <a:rPr lang="zh-CN" altLang="en-US" sz="1800" dirty="0">
                <a:solidFill>
                  <a:srgbClr val="A50021"/>
                </a:solidFill>
                <a:latin typeface="Arial" panose="020B0604020202020204" pitchFamily="34" charset="0"/>
                <a:ea typeface="黑体" panose="02010609060101010101" pitchFamily="49" charset="-122"/>
              </a:rPr>
              <a:t>变长操作码 </a:t>
            </a:r>
            <a:r>
              <a:rPr lang="en-US" altLang="zh-CN" sz="1800" dirty="0">
                <a:solidFill>
                  <a:srgbClr val="A50021"/>
                </a:solidFill>
                <a:latin typeface="Arial" panose="020B0604020202020204" pitchFamily="34" charset="0"/>
                <a:ea typeface="黑体" panose="02010609060101010101" pitchFamily="49" charset="-122"/>
              </a:rPr>
              <a:t>/ </a:t>
            </a:r>
            <a:r>
              <a:rPr lang="zh-CN" altLang="en-US" sz="1800" dirty="0">
                <a:solidFill>
                  <a:srgbClr val="A50021"/>
                </a:solidFill>
                <a:latin typeface="Arial" panose="020B0604020202020204" pitchFamily="34" charset="0"/>
                <a:ea typeface="黑体" panose="02010609060101010101" pitchFamily="49" charset="-122"/>
              </a:rPr>
              <a:t>变长指令字 </a:t>
            </a:r>
            <a:r>
              <a:rPr lang="en-US" altLang="zh-CN" sz="1800" dirty="0">
                <a:solidFill>
                  <a:srgbClr val="A50021"/>
                </a:solidFill>
                <a:latin typeface="Arial" panose="020B0604020202020204" pitchFamily="34" charset="0"/>
                <a:ea typeface="黑体" panose="02010609060101010101" pitchFamily="49" charset="-122"/>
              </a:rPr>
              <a:t>/ </a:t>
            </a:r>
            <a:r>
              <a:rPr lang="zh-CN" altLang="en-US" sz="1800" dirty="0">
                <a:solidFill>
                  <a:srgbClr val="A50021"/>
                </a:solidFill>
                <a:latin typeface="Arial" panose="020B0604020202020204" pitchFamily="34" charset="0"/>
                <a:ea typeface="黑体" panose="02010609060101010101" pitchFamily="49" charset="-122"/>
              </a:rPr>
              <a:t>指令多 / 寻址方式多 / 指令格式多 </a:t>
            </a:r>
            <a:endParaRPr lang="zh-CN" altLang="en-US" sz="1800" dirty="0">
              <a:solidFill>
                <a:srgbClr val="A50021"/>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0033CC"/>
                </a:solidFill>
                <a:latin typeface="Arial" panose="020B0604020202020204" pitchFamily="34" charset="0"/>
                <a:ea typeface="黑体" panose="02010609060101010101" pitchFamily="49" charset="-122"/>
              </a:rPr>
              <a:t>(2) 指令周期长</a:t>
            </a:r>
            <a:endParaRPr lang="zh-CN" altLang="en-US" sz="1800" dirty="0">
              <a:solidFill>
                <a:srgbClr val="0033CC"/>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C2228D"/>
                </a:solidFill>
                <a:latin typeface="Arial" panose="020B0604020202020204" pitchFamily="34" charset="0"/>
                <a:ea typeface="黑体" panose="02010609060101010101" pitchFamily="49" charset="-122"/>
              </a:rPr>
              <a:t>      </a:t>
            </a:r>
            <a:r>
              <a:rPr lang="zh-CN" altLang="en-US" sz="1800" dirty="0">
                <a:solidFill>
                  <a:srgbClr val="A50021"/>
                </a:solidFill>
                <a:latin typeface="Arial" panose="020B0604020202020204" pitchFamily="34" charset="0"/>
                <a:ea typeface="黑体" panose="02010609060101010101" pitchFamily="49" charset="-122"/>
              </a:rPr>
              <a:t>绝大多数指令需要多个时钟周期才能完成</a:t>
            </a:r>
            <a:endParaRPr lang="zh-CN" altLang="en-US" sz="1800" dirty="0">
              <a:solidFill>
                <a:srgbClr val="A50021"/>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0033CC"/>
                </a:solidFill>
                <a:latin typeface="Arial" panose="020B0604020202020204" pitchFamily="34" charset="0"/>
                <a:ea typeface="黑体" panose="02010609060101010101" pitchFamily="49" charset="-122"/>
              </a:rPr>
              <a:t>(3) 各种指令都能访问存储器</a:t>
            </a:r>
            <a:endParaRPr lang="zh-CN" altLang="en-US" sz="1800" dirty="0">
              <a:solidFill>
                <a:srgbClr val="0033CC"/>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C2228D"/>
                </a:solidFill>
                <a:latin typeface="Arial" panose="020B0604020202020204" pitchFamily="34" charset="0"/>
                <a:ea typeface="黑体" panose="02010609060101010101" pitchFamily="49" charset="-122"/>
              </a:rPr>
              <a:t>      </a:t>
            </a:r>
            <a:r>
              <a:rPr lang="zh-CN" altLang="en-US" sz="1800" dirty="0">
                <a:solidFill>
                  <a:srgbClr val="A50021"/>
                </a:solidFill>
                <a:latin typeface="Arial" panose="020B0604020202020204" pitchFamily="34" charset="0"/>
                <a:ea typeface="黑体" panose="02010609060101010101" pitchFamily="49" charset="-122"/>
              </a:rPr>
              <a:t>除了专门的存储器读写指令外，运算指令也能访问存储器</a:t>
            </a:r>
            <a:endParaRPr lang="zh-CN" altLang="en-US" sz="1800" dirty="0">
              <a:solidFill>
                <a:srgbClr val="A50021"/>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C2228D"/>
                </a:solidFill>
                <a:latin typeface="Arial" panose="020B0604020202020204" pitchFamily="34" charset="0"/>
                <a:ea typeface="黑体" panose="02010609060101010101" pitchFamily="49" charset="-122"/>
              </a:rPr>
              <a:t> </a:t>
            </a:r>
            <a:r>
              <a:rPr lang="zh-CN" altLang="en-US" sz="1800" dirty="0">
                <a:solidFill>
                  <a:srgbClr val="0033CC"/>
                </a:solidFill>
                <a:latin typeface="Arial" panose="020B0604020202020204" pitchFamily="34" charset="0"/>
                <a:ea typeface="黑体" panose="02010609060101010101" pitchFamily="49" charset="-122"/>
              </a:rPr>
              <a:t>(4) 采用微程序控制</a:t>
            </a:r>
            <a:endParaRPr lang="zh-CN" altLang="en-US" sz="1800" dirty="0">
              <a:solidFill>
                <a:srgbClr val="0033CC"/>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0033CC"/>
                </a:solidFill>
                <a:latin typeface="Arial" panose="020B0604020202020204" pitchFamily="34" charset="0"/>
                <a:ea typeface="黑体" panose="02010609060101010101" pitchFamily="49" charset="-122"/>
              </a:rPr>
              <a:t> (5) 有专用寄存器</a:t>
            </a:r>
            <a:endParaRPr lang="zh-CN" altLang="en-US" sz="1800" dirty="0">
              <a:solidFill>
                <a:srgbClr val="0033CC"/>
              </a:solidFill>
              <a:latin typeface="Arial" panose="020B0604020202020204" pitchFamily="34" charset="0"/>
              <a:ea typeface="黑体" panose="02010609060101010101" pitchFamily="49" charset="-122"/>
            </a:endParaRPr>
          </a:p>
          <a:p>
            <a:pPr>
              <a:lnSpc>
                <a:spcPct val="110000"/>
              </a:lnSpc>
              <a:spcBef>
                <a:spcPct val="10000"/>
              </a:spcBef>
              <a:buFont typeface="Monotype Sorts" pitchFamily="2" charset="2"/>
              <a:buChar char=" "/>
            </a:pPr>
            <a:r>
              <a:rPr lang="zh-CN" altLang="en-US" sz="1800" dirty="0">
                <a:solidFill>
                  <a:srgbClr val="0033CC"/>
                </a:solidFill>
                <a:latin typeface="Arial" panose="020B0604020202020204" pitchFamily="34" charset="0"/>
                <a:ea typeface="黑体" panose="02010609060101010101" pitchFamily="49" charset="-122"/>
              </a:rPr>
              <a:t> (6) 难以进行编译优化来生成高效目标代码</a:t>
            </a:r>
            <a:endParaRPr lang="zh-CN" altLang="en-US" sz="1800" dirty="0">
              <a:solidFill>
                <a:srgbClr val="0033CC"/>
              </a:solidFill>
              <a:latin typeface="Arial" panose="020B0604020202020204" pitchFamily="34" charset="0"/>
              <a:ea typeface="黑体" panose="02010609060101010101" pitchFamily="49" charset="-122"/>
            </a:endParaRPr>
          </a:p>
        </p:txBody>
      </p:sp>
      <p:sp>
        <p:nvSpPr>
          <p:cNvPr id="410628" name="Rectangle 4"/>
          <p:cNvSpPr/>
          <p:nvPr/>
        </p:nvSpPr>
        <p:spPr>
          <a:xfrm>
            <a:off x="962025" y="5157788"/>
            <a:ext cx="6900863" cy="1371600"/>
          </a:xfrm>
          <a:prstGeom prst="rect">
            <a:avLst/>
          </a:prstGeom>
          <a:noFill/>
          <a:ln w="12700">
            <a:noFill/>
          </a:ln>
        </p:spPr>
        <p:txBody>
          <a:bodyPr lIns="63500" tIns="25400" rIns="63500" bIns="25400">
            <a:spAutoFit/>
          </a:bodyPr>
          <a:lstStyle/>
          <a:p>
            <a:pPr>
              <a:lnSpc>
                <a:spcPct val="120000"/>
              </a:lnSpc>
            </a:pPr>
            <a:r>
              <a:rPr lang="zh-CN" altLang="en-US" sz="1800" dirty="0">
                <a:solidFill>
                  <a:schemeClr val="tx1"/>
                </a:solidFill>
                <a:latin typeface="Arial" panose="020B0604020202020204" pitchFamily="34" charset="0"/>
                <a:ea typeface="黑体" panose="02010609060101010101" pitchFamily="49" charset="-122"/>
              </a:rPr>
              <a:t>例如，</a:t>
            </a:r>
            <a:r>
              <a:rPr lang="en-US" altLang="zh-CN" sz="1800" dirty="0">
                <a:solidFill>
                  <a:schemeClr val="tx1"/>
                </a:solidFill>
                <a:latin typeface="Arial" panose="020B0604020202020204" pitchFamily="34" charset="0"/>
                <a:ea typeface="黑体" panose="02010609060101010101" pitchFamily="49" charset="-122"/>
              </a:rPr>
              <a:t>VAX-11/780</a:t>
            </a:r>
            <a:r>
              <a:rPr lang="zh-CN" altLang="en-US" sz="1800" dirty="0">
                <a:solidFill>
                  <a:schemeClr val="tx1"/>
                </a:solidFill>
                <a:latin typeface="Arial" panose="020B0604020202020204" pitchFamily="34" charset="0"/>
                <a:ea typeface="黑体" panose="02010609060101010101" pitchFamily="49" charset="-122"/>
              </a:rPr>
              <a:t>小型机</a:t>
            </a:r>
            <a:endParaRPr lang="zh-CN" altLang="en-US" sz="1800" dirty="0">
              <a:solidFill>
                <a:schemeClr val="tx1"/>
              </a:solidFill>
              <a:latin typeface="Arial" panose="020B0604020202020204" pitchFamily="34" charset="0"/>
              <a:ea typeface="黑体" panose="02010609060101010101" pitchFamily="49" charset="-122"/>
            </a:endParaRPr>
          </a:p>
          <a:p>
            <a:pPr lvl="1">
              <a:lnSpc>
                <a:spcPct val="120000"/>
              </a:lnSpc>
            </a:pPr>
            <a:r>
              <a:rPr lang="zh-CN" altLang="en-US" sz="1800" dirty="0">
                <a:latin typeface="Arial" panose="020B0604020202020204" pitchFamily="34" charset="0"/>
                <a:ea typeface="黑体" panose="02010609060101010101" pitchFamily="49" charset="-122"/>
              </a:rPr>
              <a:t>16种寻址方式；9种数据格式；303条指令；</a:t>
            </a:r>
            <a:endParaRPr lang="zh-CN" altLang="en-US" sz="1800" dirty="0">
              <a:latin typeface="Arial" panose="020B0604020202020204" pitchFamily="34" charset="0"/>
              <a:ea typeface="黑体" panose="02010609060101010101" pitchFamily="49" charset="-122"/>
            </a:endParaRPr>
          </a:p>
          <a:p>
            <a:pPr lvl="1">
              <a:lnSpc>
                <a:spcPct val="120000"/>
              </a:lnSpc>
            </a:pPr>
            <a:r>
              <a:rPr lang="zh-CN" altLang="en-US" sz="1800" dirty="0">
                <a:latin typeface="Arial" panose="020B0604020202020204" pitchFamily="34" charset="0"/>
                <a:ea typeface="黑体" panose="02010609060101010101" pitchFamily="49" charset="-122"/>
              </a:rPr>
              <a:t>一条指令包括1～2个字节的操作码和下续</a:t>
            </a:r>
            <a:r>
              <a:rPr lang="en-US" altLang="zh-CN" sz="1800" dirty="0">
                <a:latin typeface="Arial" panose="020B0604020202020204" pitchFamily="34" charset="0"/>
                <a:ea typeface="黑体" panose="02010609060101010101" pitchFamily="49" charset="-122"/>
              </a:rPr>
              <a:t>N</a:t>
            </a:r>
            <a:r>
              <a:rPr lang="zh-CN" altLang="en-US" sz="1800" dirty="0">
                <a:latin typeface="Arial" panose="020B0604020202020204" pitchFamily="34" charset="0"/>
                <a:ea typeface="黑体" panose="02010609060101010101" pitchFamily="49" charset="-122"/>
              </a:rPr>
              <a:t>个操作数说明符。一个说明符的长度达1 ～10个字节。</a:t>
            </a:r>
            <a:endParaRPr lang="zh-CN" altLang="en-US" sz="1800" b="0" dirty="0">
              <a:solidFill>
                <a:schemeClr val="tx1"/>
              </a:solidFill>
              <a:latin typeface="Arial" panose="020B0604020202020204" pitchFamily="34" charset="0"/>
              <a:ea typeface="黑体" panose="02010609060101010101" pitchFamily="49" charset="-122"/>
            </a:endParaRPr>
          </a:p>
        </p:txBody>
      </p:sp>
      <p:sp>
        <p:nvSpPr>
          <p:cNvPr id="41989" name="Rectangle 6"/>
          <p:cNvSpPr/>
          <p:nvPr/>
        </p:nvSpPr>
        <p:spPr>
          <a:xfrm>
            <a:off x="304800" y="614363"/>
            <a:ext cx="7813675" cy="1011237"/>
          </a:xfrm>
          <a:prstGeom prst="rect">
            <a:avLst/>
          </a:prstGeom>
          <a:noFill/>
          <a:ln w="12700">
            <a:noFill/>
          </a:ln>
        </p:spPr>
        <p:txBody>
          <a:bodyPr lIns="63500" tIns="25400" rIns="63500" bIns="25400">
            <a:spAutoFit/>
          </a:bodyPr>
          <a:lstStyle/>
          <a:p>
            <a:pPr>
              <a:spcBef>
                <a:spcPct val="25000"/>
              </a:spcBef>
            </a:pPr>
            <a:r>
              <a:rPr lang="zh-CN" altLang="en-US" sz="1800" dirty="0">
                <a:solidFill>
                  <a:schemeClr val="tx1"/>
                </a:solidFill>
                <a:latin typeface="Arial" panose="020B0604020202020204" pitchFamily="34" charset="0"/>
                <a:ea typeface="黑体" panose="02010609060101010101" pitchFamily="49" charset="-122"/>
              </a:rPr>
              <a:t>按指令格式的复杂度来分，有两种类型计算机：</a:t>
            </a:r>
            <a:endParaRPr lang="zh-CN" altLang="en-US" sz="1800" dirty="0">
              <a:solidFill>
                <a:schemeClr val="tx1"/>
              </a:solidFill>
              <a:latin typeface="Arial" panose="020B0604020202020204" pitchFamily="34" charset="0"/>
              <a:ea typeface="黑体" panose="02010609060101010101" pitchFamily="49" charset="-122"/>
            </a:endParaRPr>
          </a:p>
          <a:p>
            <a:pPr lvl="1">
              <a:spcBef>
                <a:spcPct val="25000"/>
              </a:spcBef>
            </a:pPr>
            <a:r>
              <a:rPr lang="zh-CN" altLang="en-US" sz="1800" dirty="0">
                <a:latin typeface="Arial" panose="020B0604020202020204" pitchFamily="34" charset="0"/>
                <a:ea typeface="黑体" panose="02010609060101010101" pitchFamily="49" charset="-122"/>
              </a:rPr>
              <a:t>复杂指令集计算机</a:t>
            </a:r>
            <a:r>
              <a:rPr lang="en-US" altLang="zh-CN" sz="1800" dirty="0">
                <a:latin typeface="Arial" panose="020B0604020202020204" pitchFamily="34" charset="0"/>
                <a:ea typeface="黑体" panose="02010609060101010101" pitchFamily="49" charset="-122"/>
              </a:rPr>
              <a:t>CISC (Complex Instruction Set Computer)</a:t>
            </a:r>
            <a:endParaRPr lang="en-US" altLang="zh-CN" sz="1800" dirty="0">
              <a:latin typeface="Arial" panose="020B0604020202020204" pitchFamily="34" charset="0"/>
              <a:ea typeface="黑体" panose="02010609060101010101" pitchFamily="49" charset="-122"/>
            </a:endParaRPr>
          </a:p>
          <a:p>
            <a:pPr lvl="1">
              <a:spcBef>
                <a:spcPct val="25000"/>
              </a:spcBef>
            </a:pPr>
            <a:r>
              <a:rPr lang="zh-CN" altLang="en-US" sz="1800" dirty="0">
                <a:latin typeface="Arial" panose="020B0604020202020204" pitchFamily="34" charset="0"/>
                <a:ea typeface="黑体" panose="02010609060101010101" pitchFamily="49" charset="-122"/>
              </a:rPr>
              <a:t>精简指令集计算机</a:t>
            </a:r>
            <a:r>
              <a:rPr lang="en-US" altLang="zh-CN" sz="1800" dirty="0">
                <a:latin typeface="Arial" panose="020B0604020202020204" pitchFamily="34" charset="0"/>
                <a:ea typeface="黑体" panose="02010609060101010101" pitchFamily="49" charset="-122"/>
              </a:rPr>
              <a:t>RISC (Reduce</a:t>
            </a:r>
            <a:r>
              <a:rPr lang="zh-CN" altLang="en-US" sz="1800" dirty="0">
                <a:latin typeface="Arial" panose="020B0604020202020204" pitchFamily="34" charset="0"/>
                <a:ea typeface="黑体" panose="02010609060101010101" pitchFamily="49" charset="-122"/>
              </a:rPr>
              <a:t> </a:t>
            </a:r>
            <a:r>
              <a:rPr lang="en-US" altLang="zh-CN" sz="1800" dirty="0">
                <a:latin typeface="Arial" panose="020B0604020202020204" pitchFamily="34" charset="0"/>
                <a:ea typeface="黑体" panose="02010609060101010101" pitchFamily="49" charset="-122"/>
              </a:rPr>
              <a:t>Instruction Set Computer)</a:t>
            </a:r>
            <a:endParaRPr lang="zh-CN" altLang="en-US" sz="1800"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627">
                                            <p:txEl>
                                              <p:pRg st="1" end="1"/>
                                            </p:txEl>
                                          </p:spTgt>
                                        </p:tgtEl>
                                        <p:attrNameLst>
                                          <p:attrName>style.visibility</p:attrName>
                                        </p:attrNameLst>
                                      </p:cBhvr>
                                      <p:to>
                                        <p:strVal val="visible"/>
                                      </p:to>
                                    </p:set>
                                    <p:animEffect transition="in" filter="blinds(horizontal)">
                                      <p:cBhvr>
                                        <p:cTn id="7" dur="500"/>
                                        <p:tgtEl>
                                          <p:spTgt spid="41062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627">
                                            <p:txEl>
                                              <p:pRg st="2" end="2"/>
                                            </p:txEl>
                                          </p:spTgt>
                                        </p:tgtEl>
                                        <p:attrNameLst>
                                          <p:attrName>style.visibility</p:attrName>
                                        </p:attrNameLst>
                                      </p:cBhvr>
                                      <p:to>
                                        <p:strVal val="visible"/>
                                      </p:to>
                                    </p:set>
                                    <p:animEffect transition="in" filter="blinds(horizontal)">
                                      <p:cBhvr>
                                        <p:cTn id="10" dur="500"/>
                                        <p:tgtEl>
                                          <p:spTgt spid="41062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10627">
                                            <p:txEl>
                                              <p:pRg st="3" end="3"/>
                                            </p:txEl>
                                          </p:spTgt>
                                        </p:tgtEl>
                                        <p:attrNameLst>
                                          <p:attrName>style.visibility</p:attrName>
                                        </p:attrNameLst>
                                      </p:cBhvr>
                                      <p:to>
                                        <p:strVal val="visible"/>
                                      </p:to>
                                    </p:set>
                                    <p:animEffect transition="in" filter="blinds(horizontal)">
                                      <p:cBhvr>
                                        <p:cTn id="15" dur="500"/>
                                        <p:tgtEl>
                                          <p:spTgt spid="41062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0627">
                                            <p:txEl>
                                              <p:pRg st="4" end="4"/>
                                            </p:txEl>
                                          </p:spTgt>
                                        </p:tgtEl>
                                        <p:attrNameLst>
                                          <p:attrName>style.visibility</p:attrName>
                                        </p:attrNameLst>
                                      </p:cBhvr>
                                      <p:to>
                                        <p:strVal val="visible"/>
                                      </p:to>
                                    </p:set>
                                    <p:animEffect transition="in" filter="blinds(horizontal)">
                                      <p:cBhvr>
                                        <p:cTn id="18" dur="500"/>
                                        <p:tgtEl>
                                          <p:spTgt spid="41062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0627">
                                            <p:txEl>
                                              <p:pRg st="5" end="5"/>
                                            </p:txEl>
                                          </p:spTgt>
                                        </p:tgtEl>
                                        <p:attrNameLst>
                                          <p:attrName>style.visibility</p:attrName>
                                        </p:attrNameLst>
                                      </p:cBhvr>
                                      <p:to>
                                        <p:strVal val="visible"/>
                                      </p:to>
                                    </p:set>
                                    <p:animEffect transition="in" filter="blinds(horizontal)">
                                      <p:cBhvr>
                                        <p:cTn id="23" dur="500"/>
                                        <p:tgtEl>
                                          <p:spTgt spid="410627">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0627">
                                            <p:txEl>
                                              <p:pRg st="6" end="6"/>
                                            </p:txEl>
                                          </p:spTgt>
                                        </p:tgtEl>
                                        <p:attrNameLst>
                                          <p:attrName>style.visibility</p:attrName>
                                        </p:attrNameLst>
                                      </p:cBhvr>
                                      <p:to>
                                        <p:strVal val="visible"/>
                                      </p:to>
                                    </p:set>
                                    <p:animEffect transition="in" filter="blinds(horizontal)">
                                      <p:cBhvr>
                                        <p:cTn id="26" dur="500"/>
                                        <p:tgtEl>
                                          <p:spTgt spid="410627">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10627">
                                            <p:txEl>
                                              <p:pRg st="7" end="7"/>
                                            </p:txEl>
                                          </p:spTgt>
                                        </p:tgtEl>
                                        <p:attrNameLst>
                                          <p:attrName>style.visibility</p:attrName>
                                        </p:attrNameLst>
                                      </p:cBhvr>
                                      <p:to>
                                        <p:strVal val="visible"/>
                                      </p:to>
                                    </p:set>
                                    <p:animEffect transition="in" filter="blinds(horizontal)">
                                      <p:cBhvr>
                                        <p:cTn id="31" dur="500"/>
                                        <p:tgtEl>
                                          <p:spTgt spid="410627">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10627">
                                            <p:txEl>
                                              <p:pRg st="8" end="8"/>
                                            </p:txEl>
                                          </p:spTgt>
                                        </p:tgtEl>
                                        <p:attrNameLst>
                                          <p:attrName>style.visibility</p:attrName>
                                        </p:attrNameLst>
                                      </p:cBhvr>
                                      <p:to>
                                        <p:strVal val="visible"/>
                                      </p:to>
                                    </p:set>
                                    <p:animEffect transition="in" filter="blinds(horizontal)">
                                      <p:cBhvr>
                                        <p:cTn id="36" dur="500"/>
                                        <p:tgtEl>
                                          <p:spTgt spid="410627">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10627">
                                            <p:txEl>
                                              <p:pRg st="9" end="9"/>
                                            </p:txEl>
                                          </p:spTgt>
                                        </p:tgtEl>
                                        <p:attrNameLst>
                                          <p:attrName>style.visibility</p:attrName>
                                        </p:attrNameLst>
                                      </p:cBhvr>
                                      <p:to>
                                        <p:strVal val="visible"/>
                                      </p:to>
                                    </p:set>
                                    <p:animEffect transition="in" filter="blinds(horizontal)">
                                      <p:cBhvr>
                                        <p:cTn id="41" dur="500"/>
                                        <p:tgtEl>
                                          <p:spTgt spid="410627">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10628"/>
                                        </p:tgtEl>
                                        <p:attrNameLst>
                                          <p:attrName>style.visibility</p:attrName>
                                        </p:attrNameLst>
                                      </p:cBhvr>
                                      <p:to>
                                        <p:strVal val="visible"/>
                                      </p:to>
                                    </p:set>
                                    <p:animEffect transition="in" filter="blinds(horizontal)">
                                      <p:cBhvr>
                                        <p:cTn id="46" dur="500"/>
                                        <p:tgtEl>
                                          <p:spTgt spid="410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p:cNvSpPr>
          <p:nvPr>
            <p:ph type="title"/>
          </p:nvPr>
        </p:nvSpPr>
        <p:spPr>
          <a:xfrm>
            <a:off x="711200" y="114300"/>
            <a:ext cx="4837113" cy="747713"/>
          </a:xfrm>
        </p:spPr>
        <p:txBody>
          <a:bodyPr vert="horz" wrap="square" lIns="63500" tIns="25400" rIns="63500" bIns="25400" anchor="t" anchorCtr="0">
            <a:spAutoFit/>
          </a:bodyPr>
          <a:lstStyle/>
          <a:p>
            <a:r>
              <a:rPr lang="zh-CN" altLang="en-US" sz="2800" dirty="0">
                <a:ea typeface="宋体" panose="02010600030101010101" pitchFamily="2" charset="-122"/>
              </a:rPr>
              <a:t>复杂指令集计算机</a:t>
            </a:r>
            <a:r>
              <a:rPr lang="en-US" altLang="zh-CN" dirty="0">
                <a:ea typeface="宋体" panose="02010600030101010101" pitchFamily="2" charset="-122"/>
              </a:rPr>
              <a:t>CISC</a:t>
            </a:r>
            <a:endParaRPr lang="en-US" altLang="zh-CN" dirty="0">
              <a:ea typeface="宋体" panose="02010600030101010101" pitchFamily="2" charset="-122"/>
            </a:endParaRPr>
          </a:p>
        </p:txBody>
      </p:sp>
      <p:sp>
        <p:nvSpPr>
          <p:cNvPr id="411651" name="Rectangle 3"/>
          <p:cNvSpPr>
            <a:spLocks noGrp="1"/>
          </p:cNvSpPr>
          <p:nvPr>
            <p:ph idx="1"/>
          </p:nvPr>
        </p:nvSpPr>
        <p:spPr>
          <a:xfrm>
            <a:off x="519113" y="3133725"/>
            <a:ext cx="8153400" cy="3443288"/>
          </a:xfrm>
        </p:spPr>
        <p:txBody>
          <a:bodyPr vert="horz" wrap="square" lIns="91440" tIns="45720" rIns="91440" bIns="45720" anchor="t" anchorCtr="0"/>
          <a:lstStyle/>
          <a:p>
            <a:pPr>
              <a:lnSpc>
                <a:spcPct val="140000"/>
              </a:lnSpc>
            </a:pPr>
            <a:r>
              <a:rPr lang="zh-CN" altLang="en-US" dirty="0">
                <a:latin typeface="Arial" panose="020B0604020202020204" pitchFamily="34" charset="0"/>
                <a:ea typeface="黑体" panose="02010609060101010101" pitchFamily="49" charset="-122"/>
              </a:rPr>
              <a:t>对</a:t>
            </a:r>
            <a:r>
              <a:rPr lang="en-US" altLang="zh-CN" dirty="0">
                <a:latin typeface="Arial" panose="020B0604020202020204" pitchFamily="34" charset="0"/>
                <a:ea typeface="黑体" panose="02010609060101010101" pitchFamily="49" charset="-122"/>
              </a:rPr>
              <a:t>CISC</a:t>
            </a:r>
            <a:r>
              <a:rPr lang="zh-CN" altLang="en-US" dirty="0">
                <a:latin typeface="Arial" panose="020B0604020202020204" pitchFamily="34" charset="0"/>
                <a:ea typeface="黑体" panose="02010609060101010101" pitchFamily="49" charset="-122"/>
              </a:rPr>
              <a:t>进行测试，发现一个</a:t>
            </a:r>
            <a:r>
              <a:rPr lang="zh-CN" altLang="en-US" dirty="0">
                <a:latin typeface="Arial" panose="020B0604020202020204" pitchFamily="34" charset="0"/>
                <a:ea typeface="黑体" panose="02010609060101010101" pitchFamily="49" charset="-122"/>
                <a:hlinkClick r:id="" action="ppaction://hlinkshowjump?jump=nextslide"/>
              </a:rPr>
              <a:t>事实</a:t>
            </a:r>
            <a:r>
              <a:rPr lang="zh-CN" altLang="en-US" dirty="0">
                <a:latin typeface="Arial" panose="020B0604020202020204" pitchFamily="34" charset="0"/>
                <a:ea typeface="黑体" panose="02010609060101010101" pitchFamily="49" charset="-122"/>
              </a:rPr>
              <a:t>：</a:t>
            </a:r>
            <a:endParaRPr lang="zh-CN" altLang="en-US" dirty="0">
              <a:latin typeface="Arial" panose="020B0604020202020204" pitchFamily="34" charset="0"/>
              <a:ea typeface="黑体" panose="02010609060101010101" pitchFamily="49" charset="-122"/>
            </a:endParaRPr>
          </a:p>
          <a:p>
            <a:pPr lvl="1">
              <a:lnSpc>
                <a:spcPct val="140000"/>
              </a:lnSpc>
            </a:pPr>
            <a:r>
              <a:rPr lang="zh-CN" altLang="en-US" sz="2000" dirty="0">
                <a:latin typeface="Arial" panose="020B0604020202020204" pitchFamily="34" charset="0"/>
                <a:ea typeface="黑体" panose="02010609060101010101" pitchFamily="49" charset="-122"/>
              </a:rPr>
              <a:t>在程序中各种指令出现的频率悬殊很大，最常使用的是一些简单指令，这些指令占程序的80%，但只占指令系统的20%。而且在微程序控制的计算机中，占指令总数20%的复杂指令占用了控制存储器容量的80%。</a:t>
            </a:r>
            <a:endParaRPr lang="zh-CN" altLang="en-US" sz="2000" dirty="0">
              <a:latin typeface="Arial" panose="020B0604020202020204" pitchFamily="34" charset="0"/>
              <a:ea typeface="黑体" panose="02010609060101010101" pitchFamily="49" charset="-122"/>
            </a:endParaRPr>
          </a:p>
          <a:p>
            <a:pPr>
              <a:lnSpc>
                <a:spcPct val="140000"/>
              </a:lnSpc>
            </a:pPr>
            <a:r>
              <a:rPr lang="zh-CN" altLang="en-US" dirty="0">
                <a:latin typeface="Arial" panose="020B0604020202020204" pitchFamily="34" charset="0"/>
                <a:ea typeface="黑体" panose="02010609060101010101" pitchFamily="49" charset="-122"/>
              </a:rPr>
              <a:t>1982年美国加州伯克利大学的</a:t>
            </a:r>
            <a:r>
              <a:rPr lang="en-US" altLang="zh-CN" dirty="0">
                <a:solidFill>
                  <a:srgbClr val="C2228D"/>
                </a:solidFill>
                <a:latin typeface="Arial" panose="020B0604020202020204" pitchFamily="34" charset="0"/>
                <a:ea typeface="黑体" panose="02010609060101010101" pitchFamily="49" charset="-122"/>
              </a:rPr>
              <a:t>RISCⅠ</a:t>
            </a:r>
            <a:r>
              <a:rPr lang="en-US" altLang="zh-CN" dirty="0">
                <a:latin typeface="Arial" panose="020B0604020202020204" pitchFamily="34" charset="0"/>
                <a:ea typeface="黑体" panose="02010609060101010101" pitchFamily="49" charset="-122"/>
              </a:rPr>
              <a:t>，</a:t>
            </a:r>
            <a:r>
              <a:rPr lang="zh-CN" altLang="en-US" dirty="0">
                <a:latin typeface="Arial" panose="020B0604020202020204" pitchFamily="34" charset="0"/>
                <a:ea typeface="黑体" panose="02010609060101010101" pitchFamily="49" charset="-122"/>
              </a:rPr>
              <a:t>斯坦福大学的</a:t>
            </a:r>
            <a:r>
              <a:rPr lang="en-US" altLang="zh-CN" dirty="0">
                <a:solidFill>
                  <a:srgbClr val="C2228D"/>
                </a:solidFill>
                <a:latin typeface="Arial" panose="020B0604020202020204" pitchFamily="34" charset="0"/>
                <a:ea typeface="黑体" panose="02010609060101010101" pitchFamily="49" charset="-122"/>
              </a:rPr>
              <a:t>MIPS</a:t>
            </a:r>
            <a:r>
              <a:rPr lang="en-US" altLang="zh-CN" dirty="0">
                <a:latin typeface="Arial" panose="020B0604020202020204" pitchFamily="34" charset="0"/>
                <a:ea typeface="黑体" panose="02010609060101010101" pitchFamily="49" charset="-122"/>
              </a:rPr>
              <a:t>，IBM</a:t>
            </a:r>
            <a:r>
              <a:rPr lang="zh-CN" altLang="en-US" dirty="0">
                <a:latin typeface="Arial" panose="020B0604020202020204" pitchFamily="34" charset="0"/>
                <a:ea typeface="黑体" panose="02010609060101010101" pitchFamily="49" charset="-122"/>
              </a:rPr>
              <a:t>公司的</a:t>
            </a:r>
            <a:r>
              <a:rPr lang="en-US" altLang="zh-CN" dirty="0">
                <a:solidFill>
                  <a:srgbClr val="C2228D"/>
                </a:solidFill>
                <a:latin typeface="Arial" panose="020B0604020202020204" pitchFamily="34" charset="0"/>
                <a:ea typeface="黑体" panose="02010609060101010101" pitchFamily="49" charset="-122"/>
              </a:rPr>
              <a:t>IBM801</a:t>
            </a:r>
            <a:r>
              <a:rPr lang="zh-CN" altLang="en-US" dirty="0">
                <a:latin typeface="Arial" panose="020B0604020202020204" pitchFamily="34" charset="0"/>
                <a:ea typeface="黑体" panose="02010609060101010101" pitchFamily="49" charset="-122"/>
              </a:rPr>
              <a:t>相继宣告完成，这些机器被称为</a:t>
            </a:r>
            <a:r>
              <a:rPr lang="zh-CN" altLang="en-US" dirty="0">
                <a:solidFill>
                  <a:srgbClr val="C2228D"/>
                </a:solidFill>
                <a:latin typeface="Arial" panose="020B0604020202020204" pitchFamily="34" charset="0"/>
                <a:ea typeface="黑体" panose="02010609060101010101" pitchFamily="49" charset="-122"/>
              </a:rPr>
              <a:t>第一代</a:t>
            </a:r>
            <a:r>
              <a:rPr lang="en-US" altLang="zh-CN" dirty="0">
                <a:solidFill>
                  <a:srgbClr val="C2228D"/>
                </a:solidFill>
                <a:latin typeface="Arial" panose="020B0604020202020204" pitchFamily="34" charset="0"/>
                <a:ea typeface="黑体" panose="02010609060101010101" pitchFamily="49" charset="-122"/>
              </a:rPr>
              <a:t>RISC</a:t>
            </a:r>
            <a:r>
              <a:rPr lang="zh-CN" altLang="en-US" dirty="0">
                <a:solidFill>
                  <a:srgbClr val="C2228D"/>
                </a:solidFill>
                <a:latin typeface="Arial" panose="020B0604020202020204" pitchFamily="34" charset="0"/>
                <a:ea typeface="黑体" panose="02010609060101010101" pitchFamily="49" charset="-122"/>
              </a:rPr>
              <a:t>机</a:t>
            </a:r>
            <a:r>
              <a:rPr lang="zh-CN" altLang="en-US" dirty="0">
                <a:latin typeface="Arial" panose="020B0604020202020204" pitchFamily="34" charset="0"/>
                <a:ea typeface="黑体" panose="02010609060101010101" pitchFamily="49" charset="-122"/>
              </a:rPr>
              <a:t>。</a:t>
            </a:r>
            <a:endParaRPr lang="zh-CN" altLang="en-US" dirty="0">
              <a:latin typeface="Arial" panose="020B0604020202020204" pitchFamily="34" charset="0"/>
              <a:ea typeface="黑体" panose="02010609060101010101" pitchFamily="49" charset="-122"/>
            </a:endParaRPr>
          </a:p>
        </p:txBody>
      </p:sp>
      <p:sp>
        <p:nvSpPr>
          <p:cNvPr id="411652" name="Rectangle 4"/>
          <p:cNvSpPr/>
          <p:nvPr/>
        </p:nvSpPr>
        <p:spPr>
          <a:xfrm>
            <a:off x="536575" y="661988"/>
            <a:ext cx="8434388" cy="2741612"/>
          </a:xfrm>
          <a:prstGeom prst="rect">
            <a:avLst/>
          </a:prstGeom>
          <a:noFill/>
          <a:ln w="9525">
            <a:noFill/>
          </a:ln>
        </p:spPr>
        <p:txBody>
          <a:bodyPr/>
          <a:lstStyle/>
          <a:p>
            <a:pPr marL="342900" indent="-342900">
              <a:lnSpc>
                <a:spcPct val="90000"/>
              </a:lnSpc>
              <a:spcBef>
                <a:spcPct val="30000"/>
              </a:spcBef>
              <a:buSzPct val="75000"/>
              <a:buFont typeface="Wingdings" panose="05000000000000000000" pitchFamily="2" charset="2"/>
              <a:buChar char="u"/>
            </a:pPr>
            <a:r>
              <a:rPr lang="en-US" altLang="zh-CN" sz="2000" dirty="0">
                <a:solidFill>
                  <a:schemeClr val="tx1"/>
                </a:solidFill>
                <a:latin typeface="Arial" panose="020B0604020202020204" pitchFamily="34" charset="0"/>
                <a:ea typeface="黑体" panose="02010609060101010101" pitchFamily="49" charset="-122"/>
              </a:rPr>
              <a:t>CISC</a:t>
            </a:r>
            <a:r>
              <a:rPr lang="zh-CN" altLang="en-US" sz="2000" dirty="0">
                <a:solidFill>
                  <a:schemeClr val="tx1"/>
                </a:solidFill>
                <a:latin typeface="Arial" panose="020B0604020202020204" pitchFamily="34" charset="0"/>
                <a:ea typeface="黑体" panose="02010609060101010101" pitchFamily="49" charset="-122"/>
              </a:rPr>
              <a:t>的缺陷</a:t>
            </a:r>
            <a:endParaRPr lang="zh-CN" altLang="en-US" sz="2000" dirty="0">
              <a:solidFill>
                <a:schemeClr val="tx1"/>
              </a:solidFill>
              <a:latin typeface="Arial" panose="020B0604020202020204" pitchFamily="34" charset="0"/>
              <a:ea typeface="黑体" panose="02010609060101010101" pitchFamily="49" charset="-122"/>
            </a:endParaRPr>
          </a:p>
          <a:p>
            <a:pPr marL="742950" lvl="1" indent="-285750">
              <a:lnSpc>
                <a:spcPct val="130000"/>
              </a:lnSpc>
              <a:spcBef>
                <a:spcPct val="30000"/>
              </a:spcBef>
              <a:buSzPct val="100000"/>
              <a:buChar char="–"/>
            </a:pPr>
            <a:r>
              <a:rPr lang="zh-CN" altLang="en-US" sz="2000" dirty="0">
                <a:solidFill>
                  <a:srgbClr val="0000FF"/>
                </a:solidFill>
                <a:latin typeface="Arial" panose="020B0604020202020204" pitchFamily="34" charset="0"/>
                <a:ea typeface="黑体" panose="02010609060101010101" pitchFamily="49" charset="-122"/>
              </a:rPr>
              <a:t>日趋庞大的指令系统不但使计算机的</a:t>
            </a:r>
            <a:r>
              <a:rPr lang="zh-CN" altLang="en-US" sz="2000" dirty="0">
                <a:solidFill>
                  <a:srgbClr val="C2228D"/>
                </a:solidFill>
                <a:latin typeface="Arial" panose="020B0604020202020204" pitchFamily="34" charset="0"/>
                <a:ea typeface="黑体" panose="02010609060101010101" pitchFamily="49" charset="-122"/>
              </a:rPr>
              <a:t>研制周期变长</a:t>
            </a:r>
            <a:r>
              <a:rPr lang="zh-CN" altLang="en-US" sz="2000" dirty="0">
                <a:solidFill>
                  <a:srgbClr val="0000FF"/>
                </a:solidFill>
                <a:latin typeface="Arial" panose="020B0604020202020204" pitchFamily="34" charset="0"/>
                <a:ea typeface="黑体" panose="02010609060101010101" pitchFamily="49" charset="-122"/>
              </a:rPr>
              <a:t>，而且</a:t>
            </a:r>
            <a:r>
              <a:rPr lang="zh-CN" altLang="en-US" sz="2000" dirty="0">
                <a:solidFill>
                  <a:srgbClr val="C2228D"/>
                </a:solidFill>
                <a:latin typeface="Arial" panose="020B0604020202020204" pitchFamily="34" charset="0"/>
                <a:ea typeface="黑体" panose="02010609060101010101" pitchFamily="49" charset="-122"/>
              </a:rPr>
              <a:t>难以保证设计的正确性，难以调试和维护，</a:t>
            </a:r>
            <a:r>
              <a:rPr lang="zh-CN" altLang="en-US" sz="2000" dirty="0">
                <a:solidFill>
                  <a:srgbClr val="0000FF"/>
                </a:solidFill>
                <a:latin typeface="Arial" panose="020B0604020202020204" pitchFamily="34" charset="0"/>
                <a:ea typeface="黑体" panose="02010609060101010101" pitchFamily="49" charset="-122"/>
              </a:rPr>
              <a:t>并且因指令操作复杂而</a:t>
            </a:r>
            <a:r>
              <a:rPr lang="zh-CN" altLang="en-US" sz="2000" dirty="0">
                <a:solidFill>
                  <a:srgbClr val="C2228D"/>
                </a:solidFill>
                <a:latin typeface="Arial" panose="020B0604020202020204" pitchFamily="34" charset="0"/>
                <a:ea typeface="黑体" panose="02010609060101010101" pitchFamily="49" charset="-122"/>
              </a:rPr>
              <a:t>增加机器周期</a:t>
            </a:r>
            <a:r>
              <a:rPr lang="zh-CN" altLang="en-US" sz="2000" dirty="0">
                <a:solidFill>
                  <a:srgbClr val="0000FF"/>
                </a:solidFill>
                <a:latin typeface="Arial" panose="020B0604020202020204" pitchFamily="34" charset="0"/>
                <a:ea typeface="黑体" panose="02010609060101010101" pitchFamily="49" charset="-122"/>
              </a:rPr>
              <a:t>，从而</a:t>
            </a:r>
            <a:r>
              <a:rPr lang="zh-CN" altLang="en-US" sz="2000" dirty="0">
                <a:solidFill>
                  <a:srgbClr val="C2228D"/>
                </a:solidFill>
                <a:latin typeface="Arial" panose="020B0604020202020204" pitchFamily="34" charset="0"/>
                <a:ea typeface="黑体" panose="02010609060101010101" pitchFamily="49" charset="-122"/>
              </a:rPr>
              <a:t>降低了系统性能。</a:t>
            </a:r>
            <a:endParaRPr lang="zh-CN" altLang="en-US" sz="2000" dirty="0">
              <a:solidFill>
                <a:srgbClr val="C2228D"/>
              </a:solidFill>
              <a:latin typeface="Arial" panose="020B0604020202020204" pitchFamily="34" charset="0"/>
              <a:ea typeface="黑体" panose="02010609060101010101" pitchFamily="49" charset="-122"/>
            </a:endParaRPr>
          </a:p>
          <a:p>
            <a:pPr marL="342900" indent="-342900">
              <a:lnSpc>
                <a:spcPct val="140000"/>
              </a:lnSpc>
              <a:spcBef>
                <a:spcPct val="30000"/>
              </a:spcBef>
              <a:buSzPct val="75000"/>
              <a:buFont typeface="Wingdings" panose="05000000000000000000" pitchFamily="2" charset="2"/>
              <a:buChar char="u"/>
            </a:pPr>
            <a:r>
              <a:rPr lang="zh-CN" altLang="en-US" sz="2000" dirty="0">
                <a:solidFill>
                  <a:schemeClr val="tx1"/>
                </a:solidFill>
                <a:latin typeface="Arial" panose="020B0604020202020204" pitchFamily="34" charset="0"/>
                <a:ea typeface="黑体" panose="02010609060101010101" pitchFamily="49" charset="-122"/>
              </a:rPr>
              <a:t>1975年</a:t>
            </a:r>
            <a:r>
              <a:rPr lang="en-US" altLang="zh-CN" sz="2000" dirty="0">
                <a:solidFill>
                  <a:schemeClr val="tx1"/>
                </a:solidFill>
                <a:latin typeface="Arial" panose="020B0604020202020204" pitchFamily="34" charset="0"/>
                <a:ea typeface="黑体" panose="02010609060101010101" pitchFamily="49" charset="-122"/>
              </a:rPr>
              <a:t>IBM</a:t>
            </a:r>
            <a:r>
              <a:rPr lang="zh-CN" altLang="en-US" sz="2000" dirty="0">
                <a:solidFill>
                  <a:schemeClr val="tx1"/>
                </a:solidFill>
                <a:latin typeface="Arial" panose="020B0604020202020204" pitchFamily="34" charset="0"/>
                <a:ea typeface="黑体" panose="02010609060101010101" pitchFamily="49" charset="-122"/>
              </a:rPr>
              <a:t>公司开始研究</a:t>
            </a:r>
            <a:r>
              <a:rPr lang="zh-CN" altLang="en-US" sz="2000" dirty="0">
                <a:solidFill>
                  <a:srgbClr val="C2228D"/>
                </a:solidFill>
                <a:latin typeface="Arial" panose="020B0604020202020204" pitchFamily="34" charset="0"/>
                <a:ea typeface="黑体" panose="02010609060101010101" pitchFamily="49" charset="-122"/>
              </a:rPr>
              <a:t>指令系统的合理性问题</a:t>
            </a:r>
            <a:r>
              <a:rPr lang="zh-CN" altLang="en-US" sz="2000" dirty="0">
                <a:solidFill>
                  <a:schemeClr val="tx1"/>
                </a:solidFill>
                <a:latin typeface="Arial" panose="020B0604020202020204" pitchFamily="34" charset="0"/>
                <a:ea typeface="黑体" panose="02010609060101010101" pitchFamily="49" charset="-122"/>
              </a:rPr>
              <a:t>，</a:t>
            </a:r>
            <a:r>
              <a:rPr lang="en-US" altLang="zh-CN" sz="2000" dirty="0">
                <a:solidFill>
                  <a:schemeClr val="tx1"/>
                </a:solidFill>
                <a:latin typeface="Arial" panose="020B0604020202020204" pitchFamily="34" charset="0"/>
                <a:ea typeface="黑体" panose="02010609060101010101" pitchFamily="49" charset="-122"/>
              </a:rPr>
              <a:t>John Cocks</a:t>
            </a:r>
            <a:r>
              <a:rPr lang="zh-CN" altLang="en-US" sz="2000" dirty="0">
                <a:solidFill>
                  <a:schemeClr val="tx1"/>
                </a:solidFill>
                <a:latin typeface="Arial" panose="020B0604020202020204" pitchFamily="34" charset="0"/>
                <a:ea typeface="黑体" panose="02010609060101010101" pitchFamily="49" charset="-122"/>
              </a:rPr>
              <a:t>提出精简指令系统计算机 </a:t>
            </a:r>
            <a:r>
              <a:rPr lang="en-US" altLang="zh-CN" sz="2000" dirty="0">
                <a:latin typeface="Arial" panose="020B0604020202020204" pitchFamily="34" charset="0"/>
                <a:ea typeface="黑体" panose="02010609060101010101" pitchFamily="49" charset="-122"/>
              </a:rPr>
              <a:t>RISC ( Reduce Instruction Set Computer )</a:t>
            </a:r>
            <a:r>
              <a:rPr lang="zh-CN" altLang="en-US" sz="2000" dirty="0">
                <a:solidFill>
                  <a:schemeClr val="tx1"/>
                </a:solidFill>
                <a:latin typeface="Arial" panose="020B0604020202020204" pitchFamily="34" charset="0"/>
                <a:ea typeface="黑体" panose="02010609060101010101" pitchFamily="49" charset="-122"/>
              </a:rPr>
              <a:t>。</a:t>
            </a:r>
            <a:endParaRPr lang="zh-CN" altLang="en-US" sz="2000" dirty="0">
              <a:solidFill>
                <a:schemeClr val="tx1"/>
              </a:solidFill>
              <a:latin typeface="Arial" panose="020B0604020202020204" pitchFamily="34" charset="0"/>
              <a:ea typeface="黑体" panose="02010609060101010101" pitchFamily="49" charset="-122"/>
            </a:endParaRPr>
          </a:p>
        </p:txBody>
      </p:sp>
      <p:sp>
        <p:nvSpPr>
          <p:cNvPr id="5" name="Text Box 6"/>
          <p:cNvSpPr txBox="1"/>
          <p:nvPr/>
        </p:nvSpPr>
        <p:spPr>
          <a:xfrm>
            <a:off x="8059738" y="6253163"/>
            <a:ext cx="895350" cy="325437"/>
          </a:xfrm>
          <a:prstGeom prst="rect">
            <a:avLst/>
          </a:prstGeom>
          <a:noFill/>
          <a:ln w="12700">
            <a:noFill/>
          </a:ln>
        </p:spPr>
        <p:txBody>
          <a:bodyPr lIns="63500" tIns="25400" rIns="63500" bIns="25400">
            <a:spAutoFit/>
          </a:bodyPr>
          <a:lstStyle/>
          <a:p>
            <a:pPr>
              <a:spcBef>
                <a:spcPct val="50000"/>
              </a:spcBef>
            </a:pPr>
            <a:r>
              <a:rPr lang="en-US" altLang="zh-CN" sz="1800" dirty="0">
                <a:latin typeface="Arial" panose="020B0604020202020204" pitchFamily="34" charset="0"/>
                <a:hlinkClick r:id="rId1" action="ppaction://hlinksldjump"/>
              </a:rPr>
              <a:t>SKIP</a:t>
            </a:r>
            <a:endParaRPr lang="en-US" altLang="zh-CN" sz="18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1652">
                                            <p:txEl>
                                              <p:pRg st="1" end="1"/>
                                            </p:txEl>
                                          </p:spTgt>
                                        </p:tgtEl>
                                        <p:attrNameLst>
                                          <p:attrName>style.visibility</p:attrName>
                                        </p:attrNameLst>
                                      </p:cBhvr>
                                      <p:to>
                                        <p:strVal val="visible"/>
                                      </p:to>
                                    </p:set>
                                    <p:animEffect transition="in" filter="blinds(horizontal)">
                                      <p:cBhvr>
                                        <p:cTn id="7" dur="500"/>
                                        <p:tgtEl>
                                          <p:spTgt spid="41165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1652">
                                            <p:txEl>
                                              <p:pRg st="2" end="2"/>
                                            </p:txEl>
                                          </p:spTgt>
                                        </p:tgtEl>
                                        <p:attrNameLst>
                                          <p:attrName>style.visibility</p:attrName>
                                        </p:attrNameLst>
                                      </p:cBhvr>
                                      <p:to>
                                        <p:strVal val="visible"/>
                                      </p:to>
                                    </p:set>
                                    <p:animEffect transition="in" filter="blinds(horizontal)">
                                      <p:cBhvr>
                                        <p:cTn id="12" dur="500"/>
                                        <p:tgtEl>
                                          <p:spTgt spid="41165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1651">
                                            <p:txEl>
                                              <p:pRg st="0" end="0"/>
                                            </p:txEl>
                                          </p:spTgt>
                                        </p:tgtEl>
                                        <p:attrNameLst>
                                          <p:attrName>style.visibility</p:attrName>
                                        </p:attrNameLst>
                                      </p:cBhvr>
                                      <p:to>
                                        <p:strVal val="visible"/>
                                      </p:to>
                                    </p:set>
                                    <p:animEffect transition="in" filter="blinds(horizontal)">
                                      <p:cBhvr>
                                        <p:cTn id="17" dur="500"/>
                                        <p:tgtEl>
                                          <p:spTgt spid="41165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1651">
                                            <p:txEl>
                                              <p:pRg st="1" end="1"/>
                                            </p:txEl>
                                          </p:spTgt>
                                        </p:tgtEl>
                                        <p:attrNameLst>
                                          <p:attrName>style.visibility</p:attrName>
                                        </p:attrNameLst>
                                      </p:cBhvr>
                                      <p:to>
                                        <p:strVal val="visible"/>
                                      </p:to>
                                    </p:set>
                                    <p:animEffect transition="in" filter="blinds(horizontal)">
                                      <p:cBhvr>
                                        <p:cTn id="22" dur="500"/>
                                        <p:tgtEl>
                                          <p:spTgt spid="41165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1651">
                                            <p:txEl>
                                              <p:pRg st="2" end="2"/>
                                            </p:txEl>
                                          </p:spTgt>
                                        </p:tgtEl>
                                        <p:attrNameLst>
                                          <p:attrName>style.visibility</p:attrName>
                                        </p:attrNameLst>
                                      </p:cBhvr>
                                      <p:to>
                                        <p:strVal val="visible"/>
                                      </p:to>
                                    </p:set>
                                    <p:animEffect transition="in" filter="blinds(horizontal)">
                                      <p:cBhvr>
                                        <p:cTn id="27" dur="500"/>
                                        <p:tgtEl>
                                          <p:spTgt spid="41165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p:cNvSpPr>
          <p:nvPr>
            <p:ph type="title"/>
          </p:nvPr>
        </p:nvSpPr>
        <p:spPr>
          <a:xfrm>
            <a:off x="711200" y="114300"/>
            <a:ext cx="3868738" cy="368300"/>
          </a:xfrm>
        </p:spPr>
        <p:txBody>
          <a:bodyPr vert="horz" wrap="none" lIns="63500" tIns="25400" rIns="63500" bIns="25400" anchor="t" anchorCtr="0">
            <a:spAutoFit/>
          </a:bodyPr>
          <a:lstStyle/>
          <a:p>
            <a:r>
              <a:rPr lang="en-US" altLang="zh-CN" dirty="0">
                <a:ea typeface="宋体" panose="02010600030101010101" pitchFamily="2" charset="-122"/>
              </a:rPr>
              <a:t>Top 10 80x86 Instructions</a:t>
            </a:r>
            <a:endParaRPr lang="en-US" altLang="zh-CN" dirty="0">
              <a:ea typeface="宋体" panose="02010600030101010101" pitchFamily="2" charset="-122"/>
            </a:endParaRPr>
          </a:p>
        </p:txBody>
      </p:sp>
      <p:pic>
        <p:nvPicPr>
          <p:cNvPr id="44035" name="Picture 3"/>
          <p:cNvPicPr/>
          <p:nvPr/>
        </p:nvPicPr>
        <p:blipFill>
          <a:blip r:embed="rId1"/>
          <a:stretch>
            <a:fillRect/>
          </a:stretch>
        </p:blipFill>
        <p:spPr>
          <a:xfrm>
            <a:off x="234950" y="735013"/>
            <a:ext cx="8772525" cy="5145087"/>
          </a:xfrm>
          <a:prstGeom prst="rect">
            <a:avLst/>
          </a:prstGeom>
          <a:noFill/>
          <a:ln w="12700">
            <a:noFill/>
          </a:ln>
        </p:spPr>
      </p:pic>
      <p:sp>
        <p:nvSpPr>
          <p:cNvPr id="44036" name="Text Box 4"/>
          <p:cNvSpPr txBox="1"/>
          <p:nvPr/>
        </p:nvSpPr>
        <p:spPr>
          <a:xfrm>
            <a:off x="747713" y="6067425"/>
            <a:ext cx="6153150" cy="355600"/>
          </a:xfrm>
          <a:prstGeom prst="rect">
            <a:avLst/>
          </a:prstGeom>
          <a:noFill/>
          <a:ln w="12700">
            <a:noFill/>
          </a:ln>
        </p:spPr>
        <p:txBody>
          <a:bodyPr lIns="63500" tIns="25400" rIns="63500" bIns="25400">
            <a:spAutoFit/>
          </a:bodyPr>
          <a:lstStyle/>
          <a:p>
            <a:pPr>
              <a:spcBef>
                <a:spcPct val="50000"/>
              </a:spcBef>
            </a:pP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简单指令占主要部分，使用频率高！</a:t>
            </a:r>
            <a:r>
              <a:rPr lang="en-US" altLang="zh-CN" sz="2000" dirty="0">
                <a:latin typeface="Arial" panose="020B0604020202020204" pitchFamily="34" charset="0"/>
                <a:ea typeface="黑体" panose="02010609060101010101" pitchFamily="49" charset="-122"/>
              </a:rPr>
              <a:t>)</a:t>
            </a:r>
            <a:endParaRPr lang="en-US" altLang="zh-CN" sz="2000" dirty="0">
              <a:latin typeface="Arial" panose="020B0604020202020204" pitchFamily="34" charset="0"/>
              <a:ea typeface="黑体" panose="02010609060101010101" pitchFamily="49" charset="-122"/>
            </a:endParaRPr>
          </a:p>
        </p:txBody>
      </p:sp>
      <p:sp>
        <p:nvSpPr>
          <p:cNvPr id="44037" name="Rectangle 5"/>
          <p:cNvSpPr>
            <a:spLocks noGrp="1"/>
          </p:cNvSpPr>
          <p:nvPr>
            <p:ph idx="1"/>
          </p:nvPr>
        </p:nvSpPr>
        <p:spPr/>
        <p:txBody>
          <a:bodyPr vert="horz" wrap="square" lIns="91440" tIns="45720" rIns="91440" bIns="45720" anchor="t" anchorCtr="0"/>
          <a:lstStyle/>
          <a:p>
            <a:pPr algn="just">
              <a:lnSpc>
                <a:spcPct val="86000"/>
              </a:lnSpc>
              <a:spcBef>
                <a:spcPct val="40000"/>
              </a:spcBef>
              <a:buNone/>
            </a:pPr>
            <a:r>
              <a:rPr lang="en-US" altLang="zh-CN" sz="1600" dirty="0"/>
              <a:t>   </a:t>
            </a:r>
            <a:endParaRPr lang="en-US" altLang="zh-CN" sz="1600" dirty="0"/>
          </a:p>
        </p:txBody>
      </p:sp>
      <p:sp>
        <p:nvSpPr>
          <p:cNvPr id="39942" name="Text Box 6"/>
          <p:cNvSpPr txBox="1"/>
          <p:nvPr/>
        </p:nvSpPr>
        <p:spPr>
          <a:xfrm>
            <a:off x="7094538" y="6046788"/>
            <a:ext cx="1146175" cy="325437"/>
          </a:xfrm>
          <a:prstGeom prst="rect">
            <a:avLst/>
          </a:prstGeom>
          <a:noFill/>
          <a:ln w="12700">
            <a:noFill/>
          </a:ln>
        </p:spPr>
        <p:txBody>
          <a:bodyPr lIns="63500" tIns="25400" rIns="63500" bIns="25400">
            <a:spAutoFit/>
          </a:bodyPr>
          <a:lstStyle/>
          <a:p>
            <a:pPr>
              <a:spcBef>
                <a:spcPct val="50000"/>
              </a:spcBef>
            </a:pPr>
            <a:r>
              <a:rPr lang="en-US" altLang="zh-CN" sz="1800" dirty="0">
                <a:latin typeface="Arial" panose="020B0604020202020204" pitchFamily="34" charset="0"/>
                <a:hlinkClick r:id="" action="ppaction://hlinkshowjump?jump=previousslide"/>
              </a:rPr>
              <a:t>BACK</a:t>
            </a:r>
            <a:endParaRPr lang="en-US" altLang="zh-CN" sz="180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blinds(horizontal)">
                                      <p:cBhvr>
                                        <p:cTn id="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p:cNvSpPr>
          <p:nvPr>
            <p:ph type="title"/>
          </p:nvPr>
        </p:nvSpPr>
        <p:spPr>
          <a:xfrm>
            <a:off x="711200" y="85725"/>
            <a:ext cx="4846638" cy="425450"/>
          </a:xfrm>
        </p:spPr>
        <p:txBody>
          <a:bodyPr vert="horz" wrap="square" lIns="63500" tIns="25400" rIns="63500" bIns="25400" anchor="ctr" anchorCtr="0">
            <a:spAutoFit/>
          </a:bodyPr>
          <a:lstStyle/>
          <a:p>
            <a:r>
              <a:rPr lang="en-US" altLang="zh-CN" dirty="0">
                <a:ea typeface="宋体" panose="02010600030101010101" pitchFamily="2" charset="-122"/>
              </a:rPr>
              <a:t>RISC</a:t>
            </a:r>
            <a:r>
              <a:rPr lang="zh-CN" altLang="en-US" sz="2800" dirty="0">
                <a:ea typeface="宋体" panose="02010600030101010101" pitchFamily="2" charset="-122"/>
              </a:rPr>
              <a:t>设计风格的主要特点</a:t>
            </a:r>
            <a:endParaRPr lang="zh-CN" altLang="en-US" sz="2800" dirty="0">
              <a:ea typeface="宋体" panose="02010600030101010101" pitchFamily="2" charset="-122"/>
            </a:endParaRPr>
          </a:p>
        </p:txBody>
      </p:sp>
      <p:sp>
        <p:nvSpPr>
          <p:cNvPr id="413699" name="Rectangle 3"/>
          <p:cNvSpPr>
            <a:spLocks noGrp="1"/>
          </p:cNvSpPr>
          <p:nvPr>
            <p:ph idx="1"/>
          </p:nvPr>
        </p:nvSpPr>
        <p:spPr>
          <a:xfrm>
            <a:off x="269875" y="638175"/>
            <a:ext cx="8607425" cy="4586288"/>
          </a:xfrm>
        </p:spPr>
        <p:txBody>
          <a:bodyPr vert="horz" wrap="square" lIns="91440" tIns="45720" rIns="91440" bIns="45720" anchor="t" anchorCtr="0"/>
          <a:lstStyle/>
          <a:p>
            <a:pPr marL="342900" indent="-342900">
              <a:lnSpc>
                <a:spcPct val="115000"/>
              </a:lnSpc>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(1) 简化的指令系统</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C2228D"/>
                </a:solidFill>
                <a:latin typeface="Arial" panose="020B0604020202020204" pitchFamily="34" charset="0"/>
                <a:ea typeface="黑体" panose="02010609060101010101" pitchFamily="49" charset="-122"/>
              </a:rPr>
              <a:t>     指令少 / 寻址方式少 / 指令格式少 / 指令长度一致</a:t>
            </a:r>
            <a:endParaRPr lang="zh-CN" altLang="en-US" dirty="0">
              <a:solidFill>
                <a:srgbClr val="C2228D"/>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(2) 以</a:t>
            </a:r>
            <a:r>
              <a:rPr lang="en-US" altLang="zh-CN" dirty="0">
                <a:solidFill>
                  <a:srgbClr val="0000FF"/>
                </a:solidFill>
                <a:latin typeface="Arial" panose="020B0604020202020204" pitchFamily="34" charset="0"/>
                <a:ea typeface="黑体" panose="02010609060101010101" pitchFamily="49" charset="-122"/>
              </a:rPr>
              <a:t>RR</a:t>
            </a:r>
            <a:r>
              <a:rPr lang="zh-CN" altLang="en-US" dirty="0">
                <a:solidFill>
                  <a:srgbClr val="0000FF"/>
                </a:solidFill>
                <a:latin typeface="Arial" panose="020B0604020202020204" pitchFamily="34" charset="0"/>
                <a:ea typeface="黑体" panose="02010609060101010101" pitchFamily="49" charset="-122"/>
              </a:rPr>
              <a:t>方式工作</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C2228D"/>
                </a:solidFill>
                <a:latin typeface="Arial" panose="020B0604020202020204" pitchFamily="34" charset="0"/>
                <a:ea typeface="黑体" panose="02010609060101010101" pitchFamily="49" charset="-122"/>
              </a:rPr>
              <a:t>      除</a:t>
            </a:r>
            <a:r>
              <a:rPr lang="en-US" altLang="zh-CN" dirty="0">
                <a:solidFill>
                  <a:srgbClr val="C2228D"/>
                </a:solidFill>
                <a:latin typeface="Arial" panose="020B0604020202020204" pitchFamily="34" charset="0"/>
                <a:ea typeface="黑体" panose="02010609060101010101" pitchFamily="49" charset="-122"/>
              </a:rPr>
              <a:t>Load/Store</a:t>
            </a:r>
            <a:r>
              <a:rPr lang="zh-CN" altLang="en-US" dirty="0">
                <a:solidFill>
                  <a:srgbClr val="C2228D"/>
                </a:solidFill>
                <a:latin typeface="Arial" panose="020B0604020202020204" pitchFamily="34" charset="0"/>
                <a:ea typeface="黑体" panose="02010609060101010101" pitchFamily="49" charset="-122"/>
              </a:rPr>
              <a:t>指令可访问存储器外，其余指令都只访问寄存器。</a:t>
            </a:r>
            <a:endParaRPr lang="zh-CN" altLang="en-US" dirty="0">
              <a:solidFill>
                <a:srgbClr val="C2228D"/>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(3) 指令周期短</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C2228D"/>
                </a:solidFill>
                <a:latin typeface="Arial" panose="020B0604020202020204" pitchFamily="34" charset="0"/>
                <a:ea typeface="黑体" panose="02010609060101010101" pitchFamily="49" charset="-122"/>
              </a:rPr>
              <a:t>      以流水线方式工作，</a:t>
            </a:r>
            <a:r>
              <a:rPr lang="zh-CN" altLang="en-US" dirty="0">
                <a:latin typeface="Arial" panose="020B0604020202020204" pitchFamily="34" charset="0"/>
                <a:ea typeface="黑体" panose="02010609060101010101" pitchFamily="49" charset="-122"/>
              </a:rPr>
              <a:t> </a:t>
            </a:r>
            <a:r>
              <a:rPr lang="zh-CN" altLang="en-US" dirty="0">
                <a:solidFill>
                  <a:srgbClr val="C2228D"/>
                </a:solidFill>
                <a:latin typeface="Arial" panose="020B0604020202020204" pitchFamily="34" charset="0"/>
                <a:ea typeface="黑体" panose="02010609060101010101" pitchFamily="49" charset="-122"/>
              </a:rPr>
              <a:t>因而除</a:t>
            </a:r>
            <a:r>
              <a:rPr lang="en-US" altLang="zh-CN" dirty="0">
                <a:solidFill>
                  <a:srgbClr val="C2228D"/>
                </a:solidFill>
                <a:latin typeface="Arial" panose="020B0604020202020204" pitchFamily="34" charset="0"/>
                <a:ea typeface="黑体" panose="02010609060101010101" pitchFamily="49" charset="-122"/>
              </a:rPr>
              <a:t>Load/Store</a:t>
            </a:r>
            <a:r>
              <a:rPr lang="zh-CN" altLang="en-US" dirty="0">
                <a:solidFill>
                  <a:srgbClr val="C2228D"/>
                </a:solidFill>
                <a:latin typeface="Arial" panose="020B0604020202020204" pitchFamily="34" charset="0"/>
                <a:ea typeface="黑体" panose="02010609060101010101" pitchFamily="49" charset="-122"/>
              </a:rPr>
              <a:t>指令外，其他简单指令都只需一个或一个不到的时钟周期就可完成。</a:t>
            </a:r>
            <a:endParaRPr lang="zh-CN" altLang="en-US" dirty="0">
              <a:solidFill>
                <a:srgbClr val="C2228D"/>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 (4) 采用大量通用寄存器，以减少访存次数</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 (5) 采用组合逻辑电路控制，不用或少用微程序控制</a:t>
            </a:r>
            <a:endParaRPr lang="zh-CN" altLang="en-US" dirty="0">
              <a:solidFill>
                <a:srgbClr val="0000FF"/>
              </a:solidFill>
              <a:latin typeface="Arial" panose="020B0604020202020204" pitchFamily="34" charset="0"/>
              <a:ea typeface="黑体" panose="02010609060101010101" pitchFamily="49" charset="-122"/>
            </a:endParaRPr>
          </a:p>
          <a:p>
            <a:pPr marL="342900" indent="-342900">
              <a:lnSpc>
                <a:spcPct val="115000"/>
              </a:lnSpc>
              <a:buFont typeface="Monotype Sorts" pitchFamily="2" charset="2"/>
              <a:buChar char=" "/>
            </a:pPr>
            <a:r>
              <a:rPr lang="zh-CN" altLang="en-US" dirty="0">
                <a:solidFill>
                  <a:srgbClr val="0000FF"/>
                </a:solidFill>
                <a:latin typeface="Arial" panose="020B0604020202020204" pitchFamily="34" charset="0"/>
                <a:ea typeface="黑体" panose="02010609060101010101" pitchFamily="49" charset="-122"/>
              </a:rPr>
              <a:t> (6)  采用优化的编译系统，力求有效地支持高级语言程序</a:t>
            </a:r>
            <a:endParaRPr lang="zh-CN" altLang="en-US" dirty="0">
              <a:solidFill>
                <a:srgbClr val="0000FF"/>
              </a:solidFill>
              <a:latin typeface="Arial" panose="020B0604020202020204" pitchFamily="34" charset="0"/>
              <a:ea typeface="黑体" panose="02010609060101010101" pitchFamily="49" charset="-122"/>
            </a:endParaRPr>
          </a:p>
        </p:txBody>
      </p:sp>
      <p:sp>
        <p:nvSpPr>
          <p:cNvPr id="413700" name="Text Box 4"/>
          <p:cNvSpPr txBox="1"/>
          <p:nvPr/>
        </p:nvSpPr>
        <p:spPr>
          <a:xfrm>
            <a:off x="376238" y="5265738"/>
            <a:ext cx="8526462" cy="820737"/>
          </a:xfrm>
          <a:prstGeom prst="rect">
            <a:avLst/>
          </a:prstGeom>
          <a:noFill/>
          <a:ln w="12700">
            <a:noFill/>
          </a:ln>
        </p:spPr>
        <p:txBody>
          <a:bodyPr lIns="63500" tIns="25400" rIns="63500" bIns="25400">
            <a:spAutoFit/>
          </a:bodyPr>
          <a:lstStyle/>
          <a:p>
            <a:pPr>
              <a:spcBef>
                <a:spcPct val="50000"/>
              </a:spcBef>
            </a:pPr>
            <a:r>
              <a:rPr lang="en-US" altLang="zh-CN" sz="2000" dirty="0">
                <a:solidFill>
                  <a:schemeClr val="tx1"/>
                </a:solidFill>
                <a:latin typeface="Arial" panose="020B0604020202020204" pitchFamily="34" charset="0"/>
                <a:ea typeface="黑体" panose="02010609060101010101" pitchFamily="49" charset="-122"/>
              </a:rPr>
              <a:t>MIPS</a:t>
            </a:r>
            <a:r>
              <a:rPr lang="zh-CN" altLang="en-US" sz="2000" dirty="0">
                <a:solidFill>
                  <a:schemeClr val="tx1"/>
                </a:solidFill>
                <a:latin typeface="Arial" panose="020B0604020202020204" pitchFamily="34" charset="0"/>
                <a:ea typeface="黑体" panose="02010609060101010101" pitchFamily="49" charset="-122"/>
              </a:rPr>
              <a:t>是典型的</a:t>
            </a:r>
            <a:r>
              <a:rPr lang="en-US" altLang="zh-CN" sz="2000" dirty="0">
                <a:solidFill>
                  <a:schemeClr val="tx1"/>
                </a:solidFill>
                <a:latin typeface="Arial" panose="020B0604020202020204" pitchFamily="34" charset="0"/>
                <a:ea typeface="黑体" panose="02010609060101010101" pitchFamily="49" charset="-122"/>
              </a:rPr>
              <a:t>RISC</a:t>
            </a:r>
            <a:r>
              <a:rPr lang="zh-CN" altLang="en-US" sz="2000" dirty="0">
                <a:solidFill>
                  <a:schemeClr val="tx1"/>
                </a:solidFill>
                <a:latin typeface="Arial" panose="020B0604020202020204" pitchFamily="34" charset="0"/>
                <a:ea typeface="黑体" panose="02010609060101010101" pitchFamily="49" charset="-122"/>
              </a:rPr>
              <a:t>处理器，</a:t>
            </a:r>
            <a:r>
              <a:rPr lang="en-US" altLang="zh-CN" sz="2000" dirty="0">
                <a:solidFill>
                  <a:schemeClr val="tx1"/>
                </a:solidFill>
                <a:latin typeface="Arial" panose="020B0604020202020204" pitchFamily="34" charset="0"/>
                <a:ea typeface="黑体" panose="02010609060101010101" pitchFamily="49" charset="-122"/>
              </a:rPr>
              <a:t>82</a:t>
            </a:r>
            <a:r>
              <a:rPr lang="zh-CN" altLang="en-US" sz="2000" dirty="0">
                <a:solidFill>
                  <a:schemeClr val="tx1"/>
                </a:solidFill>
                <a:latin typeface="Arial" panose="020B0604020202020204" pitchFamily="34" charset="0"/>
                <a:ea typeface="黑体" panose="02010609060101010101" pitchFamily="49" charset="-122"/>
              </a:rPr>
              <a:t>年以来新的指令集大多采用</a:t>
            </a:r>
            <a:r>
              <a:rPr lang="en-US" altLang="zh-CN" sz="2000" dirty="0">
                <a:solidFill>
                  <a:schemeClr val="tx1"/>
                </a:solidFill>
                <a:latin typeface="Arial" panose="020B0604020202020204" pitchFamily="34" charset="0"/>
                <a:ea typeface="黑体" panose="02010609060101010101" pitchFamily="49" charset="-122"/>
              </a:rPr>
              <a:t>RISC</a:t>
            </a:r>
            <a:r>
              <a:rPr lang="zh-CN" altLang="en-US" sz="2000" dirty="0">
                <a:solidFill>
                  <a:schemeClr val="tx1"/>
                </a:solidFill>
                <a:latin typeface="Arial" panose="020B0604020202020204" pitchFamily="34" charset="0"/>
                <a:ea typeface="黑体" panose="02010609060101010101" pitchFamily="49" charset="-122"/>
              </a:rPr>
              <a:t>体系结构</a:t>
            </a:r>
            <a:endParaRPr lang="zh-CN" altLang="en-US" sz="2000" dirty="0">
              <a:solidFill>
                <a:schemeClr val="tx1"/>
              </a:solidFill>
              <a:latin typeface="Arial" panose="020B0604020202020204" pitchFamily="34" charset="0"/>
              <a:ea typeface="黑体" panose="02010609060101010101" pitchFamily="49" charset="-122"/>
            </a:endParaRPr>
          </a:p>
          <a:p>
            <a:pPr>
              <a:spcBef>
                <a:spcPct val="50000"/>
              </a:spcBef>
            </a:pPr>
            <a:r>
              <a:rPr lang="en-US" altLang="zh-CN" sz="2000" dirty="0">
                <a:solidFill>
                  <a:schemeClr val="tx1"/>
                </a:solidFill>
                <a:latin typeface="Arial" panose="020B0604020202020204" pitchFamily="34" charset="0"/>
                <a:ea typeface="黑体" panose="02010609060101010101" pitchFamily="49" charset="-122"/>
              </a:rPr>
              <a:t>x86</a:t>
            </a:r>
            <a:r>
              <a:rPr lang="zh-CN" altLang="en-US" sz="2000" dirty="0">
                <a:solidFill>
                  <a:schemeClr val="tx1"/>
                </a:solidFill>
                <a:latin typeface="Arial" panose="020B0604020202020204" pitchFamily="34" charset="0"/>
                <a:ea typeface="黑体" panose="02010609060101010101" pitchFamily="49" charset="-122"/>
              </a:rPr>
              <a:t>因为“兼容”的需要，保留了</a:t>
            </a:r>
            <a:r>
              <a:rPr lang="en-US" altLang="zh-CN" sz="2000" dirty="0">
                <a:solidFill>
                  <a:schemeClr val="tx1"/>
                </a:solidFill>
                <a:latin typeface="Arial" panose="020B0604020202020204" pitchFamily="34" charset="0"/>
                <a:ea typeface="黑体" panose="02010609060101010101" pitchFamily="49" charset="-122"/>
              </a:rPr>
              <a:t>CISC</a:t>
            </a:r>
            <a:r>
              <a:rPr lang="zh-CN" altLang="en-US" sz="2000" dirty="0">
                <a:solidFill>
                  <a:schemeClr val="tx1"/>
                </a:solidFill>
                <a:latin typeface="Arial" panose="020B0604020202020204" pitchFamily="34" charset="0"/>
                <a:ea typeface="黑体" panose="02010609060101010101" pitchFamily="49" charset="-122"/>
              </a:rPr>
              <a:t>的风格，同时也借鉴了</a:t>
            </a:r>
            <a:r>
              <a:rPr lang="en-US" altLang="zh-CN" sz="2000" dirty="0">
                <a:solidFill>
                  <a:schemeClr val="tx1"/>
                </a:solidFill>
                <a:latin typeface="Arial" panose="020B0604020202020204" pitchFamily="34" charset="0"/>
                <a:ea typeface="黑体" panose="02010609060101010101" pitchFamily="49" charset="-122"/>
              </a:rPr>
              <a:t>RISC</a:t>
            </a:r>
            <a:r>
              <a:rPr lang="zh-CN" altLang="en-US" sz="2000" dirty="0">
                <a:solidFill>
                  <a:schemeClr val="tx1"/>
                </a:solidFill>
                <a:latin typeface="Arial" panose="020B0604020202020204" pitchFamily="34" charset="0"/>
                <a:ea typeface="黑体" panose="02010609060101010101" pitchFamily="49" charset="-122"/>
              </a:rPr>
              <a:t>思想</a:t>
            </a:r>
            <a:r>
              <a:rPr lang="zh-CN" altLang="en-US" sz="2000" dirty="0">
                <a:solidFill>
                  <a:schemeClr val="tx1"/>
                </a:solidFill>
                <a:latin typeface="Arial" panose="020B0604020202020204" pitchFamily="34" charset="0"/>
              </a:rPr>
              <a:t> </a:t>
            </a:r>
            <a:endParaRPr lang="zh-CN" altLang="en-US" sz="2000" dirty="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3699">
                                            <p:txEl>
                                              <p:pRg st="0" end="0"/>
                                            </p:txEl>
                                          </p:spTgt>
                                        </p:tgtEl>
                                        <p:attrNameLst>
                                          <p:attrName>style.visibility</p:attrName>
                                        </p:attrNameLst>
                                      </p:cBhvr>
                                      <p:to>
                                        <p:strVal val="visible"/>
                                      </p:to>
                                    </p:set>
                                    <p:animEffect transition="in" filter="blinds(horizontal)">
                                      <p:cBhvr>
                                        <p:cTn id="7" dur="500"/>
                                        <p:tgtEl>
                                          <p:spTgt spid="41369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3699">
                                            <p:txEl>
                                              <p:pRg st="1" end="1"/>
                                            </p:txEl>
                                          </p:spTgt>
                                        </p:tgtEl>
                                        <p:attrNameLst>
                                          <p:attrName>style.visibility</p:attrName>
                                        </p:attrNameLst>
                                      </p:cBhvr>
                                      <p:to>
                                        <p:strVal val="visible"/>
                                      </p:to>
                                    </p:set>
                                    <p:animEffect transition="in" filter="blinds(horizontal)">
                                      <p:cBhvr>
                                        <p:cTn id="10" dur="500"/>
                                        <p:tgtEl>
                                          <p:spTgt spid="413699">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413699">
                                            <p:txEl>
                                              <p:pRg st="2" end="2"/>
                                            </p:txEl>
                                          </p:spTgt>
                                        </p:tgtEl>
                                        <p:attrNameLst>
                                          <p:attrName>style.visibility</p:attrName>
                                        </p:attrNameLst>
                                      </p:cBhvr>
                                      <p:to>
                                        <p:strVal val="visible"/>
                                      </p:to>
                                    </p:set>
                                    <p:animEffect transition="in" filter="blinds(horizontal)">
                                      <p:cBhvr>
                                        <p:cTn id="15" dur="500"/>
                                        <p:tgtEl>
                                          <p:spTgt spid="41369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3699">
                                            <p:txEl>
                                              <p:pRg st="3" end="3"/>
                                            </p:txEl>
                                          </p:spTgt>
                                        </p:tgtEl>
                                        <p:attrNameLst>
                                          <p:attrName>style.visibility</p:attrName>
                                        </p:attrNameLst>
                                      </p:cBhvr>
                                      <p:to>
                                        <p:strVal val="visible"/>
                                      </p:to>
                                    </p:set>
                                    <p:animEffect transition="in" filter="blinds(horizontal)">
                                      <p:cBhvr>
                                        <p:cTn id="18" dur="500"/>
                                        <p:tgtEl>
                                          <p:spTgt spid="413699">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413699">
                                            <p:txEl>
                                              <p:pRg st="4" end="4"/>
                                            </p:txEl>
                                          </p:spTgt>
                                        </p:tgtEl>
                                        <p:attrNameLst>
                                          <p:attrName>style.visibility</p:attrName>
                                        </p:attrNameLst>
                                      </p:cBhvr>
                                      <p:to>
                                        <p:strVal val="visible"/>
                                      </p:to>
                                    </p:set>
                                    <p:animEffect transition="in" filter="blinds(horizontal)">
                                      <p:cBhvr>
                                        <p:cTn id="23" dur="500"/>
                                        <p:tgtEl>
                                          <p:spTgt spid="41369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13699">
                                            <p:txEl>
                                              <p:pRg st="5" end="5"/>
                                            </p:txEl>
                                          </p:spTgt>
                                        </p:tgtEl>
                                        <p:attrNameLst>
                                          <p:attrName>style.visibility</p:attrName>
                                        </p:attrNameLst>
                                      </p:cBhvr>
                                      <p:to>
                                        <p:strVal val="visible"/>
                                      </p:to>
                                    </p:set>
                                    <p:animEffect transition="in" filter="blinds(horizontal)">
                                      <p:cBhvr>
                                        <p:cTn id="26" dur="500"/>
                                        <p:tgtEl>
                                          <p:spTgt spid="41369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13699">
                                            <p:txEl>
                                              <p:pRg st="6" end="6"/>
                                            </p:txEl>
                                          </p:spTgt>
                                        </p:tgtEl>
                                        <p:attrNameLst>
                                          <p:attrName>style.visibility</p:attrName>
                                        </p:attrNameLst>
                                      </p:cBhvr>
                                      <p:to>
                                        <p:strVal val="visible"/>
                                      </p:to>
                                    </p:set>
                                    <p:animEffect transition="in" filter="blinds(horizontal)">
                                      <p:cBhvr>
                                        <p:cTn id="31" dur="500"/>
                                        <p:tgtEl>
                                          <p:spTgt spid="413699">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13699">
                                            <p:txEl>
                                              <p:pRg st="7" end="7"/>
                                            </p:txEl>
                                          </p:spTgt>
                                        </p:tgtEl>
                                        <p:attrNameLst>
                                          <p:attrName>style.visibility</p:attrName>
                                        </p:attrNameLst>
                                      </p:cBhvr>
                                      <p:to>
                                        <p:strVal val="visible"/>
                                      </p:to>
                                    </p:set>
                                    <p:animEffect transition="in" filter="blinds(horizontal)">
                                      <p:cBhvr>
                                        <p:cTn id="36" dur="500"/>
                                        <p:tgtEl>
                                          <p:spTgt spid="413699">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413699">
                                            <p:txEl>
                                              <p:pRg st="8" end="8"/>
                                            </p:txEl>
                                          </p:spTgt>
                                        </p:tgtEl>
                                        <p:attrNameLst>
                                          <p:attrName>style.visibility</p:attrName>
                                        </p:attrNameLst>
                                      </p:cBhvr>
                                      <p:to>
                                        <p:strVal val="visible"/>
                                      </p:to>
                                    </p:set>
                                    <p:animEffect transition="in" filter="blinds(horizontal)">
                                      <p:cBhvr>
                                        <p:cTn id="41" dur="500"/>
                                        <p:tgtEl>
                                          <p:spTgt spid="413699">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413700">
                                            <p:txEl>
                                              <p:pRg st="0" end="0"/>
                                            </p:txEl>
                                          </p:spTgt>
                                        </p:tgtEl>
                                        <p:attrNameLst>
                                          <p:attrName>style.visibility</p:attrName>
                                        </p:attrNameLst>
                                      </p:cBhvr>
                                      <p:to>
                                        <p:strVal val="visible"/>
                                      </p:to>
                                    </p:set>
                                    <p:animEffect transition="in" filter="blinds(horizontal)">
                                      <p:cBhvr>
                                        <p:cTn id="46" dur="500"/>
                                        <p:tgtEl>
                                          <p:spTgt spid="413700">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413700">
                                            <p:txEl>
                                              <p:pRg st="1" end="1"/>
                                            </p:txEl>
                                          </p:spTgt>
                                        </p:tgtEl>
                                        <p:attrNameLst>
                                          <p:attrName>style.visibility</p:attrName>
                                        </p:attrNameLst>
                                      </p:cBhvr>
                                      <p:to>
                                        <p:strVal val="visible"/>
                                      </p:to>
                                    </p:set>
                                    <p:animEffect transition="in" filter="blinds(horizontal)">
                                      <p:cBhvr>
                                        <p:cTn id="51" dur="500"/>
                                        <p:tgtEl>
                                          <p:spTgt spid="41370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p:cNvSpPr>
          <p:nvPr>
            <p:ph type="title"/>
          </p:nvPr>
        </p:nvSpPr>
        <p:spPr>
          <a:xfrm>
            <a:off x="711200" y="114300"/>
            <a:ext cx="6804025" cy="425450"/>
          </a:xfrm>
        </p:spPr>
        <p:txBody>
          <a:bodyPr vert="horz" wrap="square" lIns="63500" tIns="25400" rIns="63500" bIns="25400" anchor="t" anchorCtr="0">
            <a:spAutoFit/>
          </a:bodyPr>
          <a:lstStyle/>
          <a:p>
            <a:r>
              <a:rPr lang="zh-CN" altLang="en-US" sz="2800" dirty="0">
                <a:solidFill>
                  <a:srgbClr val="C00000"/>
                </a:solidFill>
                <a:ea typeface="宋体" panose="02010600030101010101" pitchFamily="2" charset="-122"/>
              </a:rPr>
              <a:t>指令系统举例</a:t>
            </a:r>
            <a:r>
              <a:rPr lang="en-US" altLang="zh-CN" sz="2800" dirty="0">
                <a:solidFill>
                  <a:srgbClr val="C00000"/>
                </a:solidFill>
                <a:ea typeface="宋体" panose="02010600030101010101" pitchFamily="2" charset="-122"/>
              </a:rPr>
              <a:t>: </a:t>
            </a:r>
            <a:r>
              <a:rPr lang="en-US" altLang="zh-CN" dirty="0">
                <a:ea typeface="宋体" panose="02010600030101010101" pitchFamily="2" charset="-122"/>
              </a:rPr>
              <a:t>Address &amp; Registers</a:t>
            </a:r>
            <a:endParaRPr lang="en-US" altLang="zh-CN" dirty="0">
              <a:ea typeface="宋体" panose="02010600030101010101" pitchFamily="2" charset="-122"/>
            </a:endParaRPr>
          </a:p>
        </p:txBody>
      </p:sp>
      <p:sp>
        <p:nvSpPr>
          <p:cNvPr id="46083" name="Rectangle 3"/>
          <p:cNvSpPr/>
          <p:nvPr/>
        </p:nvSpPr>
        <p:spPr>
          <a:xfrm>
            <a:off x="1649413" y="769938"/>
            <a:ext cx="1304925" cy="4718050"/>
          </a:xfrm>
          <a:prstGeom prst="rect">
            <a:avLst/>
          </a:prstGeom>
          <a:noFill/>
          <a:ln w="12700">
            <a:noFill/>
          </a:ln>
        </p:spPr>
        <p:txBody>
          <a:bodyPr lIns="63500" tIns="25400" rIns="63500" bIns="25400">
            <a:spAutoFit/>
          </a:bodyPr>
          <a:lstStyle/>
          <a:p>
            <a:pPr>
              <a:lnSpc>
                <a:spcPct val="85000"/>
              </a:lnSpc>
            </a:pPr>
            <a:r>
              <a:rPr lang="en-US" altLang="zh-CN" sz="1800" dirty="0">
                <a:solidFill>
                  <a:schemeClr val="tx1"/>
                </a:solidFill>
                <a:latin typeface="Arial" panose="020B0604020202020204" pitchFamily="34" charset="0"/>
              </a:rPr>
              <a:t>Intel 8086</a:t>
            </a: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r>
              <a:rPr lang="en-US" altLang="zh-CN" sz="1800" dirty="0">
                <a:solidFill>
                  <a:schemeClr val="tx1"/>
                </a:solidFill>
                <a:latin typeface="Arial" panose="020B0604020202020204" pitchFamily="34" charset="0"/>
              </a:rPr>
              <a:t>VAX 11</a:t>
            </a: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r>
              <a:rPr lang="en-US" altLang="zh-CN" sz="1800" dirty="0">
                <a:solidFill>
                  <a:schemeClr val="tx1"/>
                </a:solidFill>
                <a:latin typeface="Arial" panose="020B0604020202020204" pitchFamily="34" charset="0"/>
              </a:rPr>
              <a:t>MC 68000</a:t>
            </a: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r>
              <a:rPr lang="en-US" altLang="zh-CN" sz="1800" dirty="0">
                <a:solidFill>
                  <a:schemeClr val="tx1"/>
                </a:solidFill>
                <a:latin typeface="Arial" panose="020B0604020202020204" pitchFamily="34" charset="0"/>
              </a:rPr>
              <a:t>MIPS</a:t>
            </a:r>
            <a:endParaRPr lang="en-US" altLang="zh-CN" sz="1800" dirty="0">
              <a:solidFill>
                <a:schemeClr val="tx1"/>
              </a:solidFill>
              <a:latin typeface="Arial" panose="020B0604020202020204" pitchFamily="34" charset="0"/>
            </a:endParaRPr>
          </a:p>
        </p:txBody>
      </p:sp>
      <p:sp>
        <p:nvSpPr>
          <p:cNvPr id="46084" name="Rectangle 4"/>
          <p:cNvSpPr/>
          <p:nvPr/>
        </p:nvSpPr>
        <p:spPr>
          <a:xfrm>
            <a:off x="3479800" y="723900"/>
            <a:ext cx="2563813" cy="5484813"/>
          </a:xfrm>
          <a:prstGeom prst="rect">
            <a:avLst/>
          </a:prstGeom>
          <a:noFill/>
          <a:ln w="12700">
            <a:noFill/>
          </a:ln>
        </p:spPr>
        <p:txBody>
          <a:bodyPr lIns="63500" tIns="25400" rIns="63500" bIns="25400">
            <a:spAutoFit/>
          </a:bodyPr>
          <a:lstStyle/>
          <a:p>
            <a:pPr>
              <a:lnSpc>
                <a:spcPct val="85000"/>
              </a:lnSpc>
            </a:pPr>
            <a:r>
              <a:rPr lang="zh-CN" altLang="en-US" sz="2000" dirty="0">
                <a:solidFill>
                  <a:schemeClr val="tx1"/>
                </a:solidFill>
                <a:latin typeface="Arial" panose="020B0604020202020204" pitchFamily="34" charset="0"/>
              </a:rPr>
              <a:t>2     </a:t>
            </a:r>
            <a:r>
              <a:rPr lang="en-US" altLang="zh-CN" sz="2000" dirty="0">
                <a:solidFill>
                  <a:schemeClr val="tx1"/>
                </a:solidFill>
                <a:latin typeface="Arial" panose="020B0604020202020204" pitchFamily="34" charset="0"/>
              </a:rPr>
              <a:t>x 8 bit bytes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AX, BX, CX, DX</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SP, BP, SI, DI</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CS, SS, DS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rgbClr val="EE3900"/>
                </a:solidFill>
                <a:latin typeface="Arial" panose="020B0604020202020204" pitchFamily="34" charset="0"/>
              </a:rPr>
              <a:t>IP</a:t>
            </a:r>
            <a:r>
              <a:rPr lang="en-US" altLang="zh-CN" sz="2000" dirty="0">
                <a:solidFill>
                  <a:schemeClr val="tx1"/>
                </a:solidFill>
                <a:latin typeface="Arial" panose="020B0604020202020204" pitchFamily="34" charset="0"/>
              </a:rPr>
              <a:t>, Flags</a:t>
            </a: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2    x 8 bit bytes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16 x 32 bit GPRs</a:t>
            </a: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2    x 8 bit bytes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8 x 32 bit GPRs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7 x 32 bit addr reg</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1 x 32 bit SP</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1 x 32 bit </a:t>
            </a:r>
            <a:r>
              <a:rPr lang="en-US" altLang="zh-CN" sz="2000" dirty="0">
                <a:solidFill>
                  <a:srgbClr val="EE3900"/>
                </a:solidFill>
                <a:latin typeface="Arial" panose="020B0604020202020204" pitchFamily="34" charset="0"/>
              </a:rPr>
              <a:t>PC</a:t>
            </a:r>
            <a:endParaRPr lang="en-US" altLang="zh-CN" sz="2000" dirty="0">
              <a:solidFill>
                <a:srgbClr val="EE3900"/>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2    x 8 bit bytes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32 x 32 bit GPRs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32 x 32 bit FPRs</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HI, LO, </a:t>
            </a:r>
            <a:r>
              <a:rPr lang="en-US" altLang="zh-CN" sz="2000" dirty="0">
                <a:solidFill>
                  <a:srgbClr val="EE3900"/>
                </a:solidFill>
                <a:latin typeface="Arial" panose="020B0604020202020204" pitchFamily="34" charset="0"/>
              </a:rPr>
              <a:t>PC</a:t>
            </a:r>
            <a:endParaRPr lang="en-US" altLang="zh-CN" sz="2000" dirty="0">
              <a:solidFill>
                <a:srgbClr val="EE3900"/>
              </a:solidFill>
              <a:latin typeface="Arial" panose="020B0604020202020204" pitchFamily="34" charset="0"/>
            </a:endParaRPr>
          </a:p>
        </p:txBody>
      </p:sp>
      <p:sp>
        <p:nvSpPr>
          <p:cNvPr id="46085" name="Rectangle 5"/>
          <p:cNvSpPr/>
          <p:nvPr/>
        </p:nvSpPr>
        <p:spPr>
          <a:xfrm>
            <a:off x="5819775" y="788988"/>
            <a:ext cx="3170238" cy="4297362"/>
          </a:xfrm>
          <a:prstGeom prst="rect">
            <a:avLst/>
          </a:prstGeom>
          <a:noFill/>
          <a:ln w="12700">
            <a:noFill/>
          </a:ln>
        </p:spPr>
        <p:txBody>
          <a:bodyPr wrap="none" lIns="63500" tIns="25400" rIns="63500" bIns="25400">
            <a:spAutoFit/>
          </a:bodyPr>
          <a:lstStyle/>
          <a:p>
            <a:pPr>
              <a:lnSpc>
                <a:spcPct val="85000"/>
              </a:lnSpc>
            </a:pPr>
            <a:r>
              <a:rPr lang="en-US" altLang="zh-CN" sz="2000" dirty="0">
                <a:solidFill>
                  <a:schemeClr val="tx1"/>
                </a:solidFill>
                <a:latin typeface="Arial" panose="020B0604020202020204" pitchFamily="34" charset="0"/>
              </a:rPr>
              <a:t>acc, index, count, quot</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stack, stack frame, string</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code,stack,data segment</a:t>
            </a: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r>
              <a:rPr lang="en-US" altLang="zh-CN" sz="2000" dirty="0">
                <a:solidFill>
                  <a:srgbClr val="EE3900"/>
                </a:solidFill>
                <a:latin typeface="Arial" panose="020B0604020202020204" pitchFamily="34" charset="0"/>
              </a:rPr>
              <a:t>r15-- program counter</a:t>
            </a:r>
            <a:endParaRPr lang="en-US" altLang="zh-CN" sz="2000" dirty="0">
              <a:solidFill>
                <a:srgbClr val="EE3900"/>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r14-- stack pointer</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r13-- frame pointer</a:t>
            </a:r>
            <a:endParaRPr lang="en-US" altLang="zh-CN" sz="2000" dirty="0">
              <a:solidFill>
                <a:schemeClr val="tx1"/>
              </a:solidFill>
              <a:latin typeface="Arial" panose="020B0604020202020204" pitchFamily="34" charset="0"/>
            </a:endParaRPr>
          </a:p>
          <a:p>
            <a:pPr>
              <a:lnSpc>
                <a:spcPct val="85000"/>
              </a:lnSpc>
            </a:pPr>
            <a:r>
              <a:rPr lang="en-US" altLang="zh-CN" sz="2000" dirty="0">
                <a:solidFill>
                  <a:schemeClr val="tx1"/>
                </a:solidFill>
                <a:latin typeface="Arial" panose="020B0604020202020204" pitchFamily="34" charset="0"/>
              </a:rPr>
              <a:t>r12-- argument pointer</a:t>
            </a:r>
            <a:endParaRPr lang="en-US" altLang="zh-CN" sz="2000" dirty="0">
              <a:solidFill>
                <a:schemeClr val="tx1"/>
              </a:solidFill>
              <a:latin typeface="Arial" panose="020B0604020202020204" pitchFamily="34" charset="0"/>
            </a:endParaRPr>
          </a:p>
          <a:p>
            <a:pPr>
              <a:lnSpc>
                <a:spcPct val="85000"/>
              </a:lnSpc>
            </a:pPr>
            <a:endParaRPr lang="en-US" altLang="zh-CN" sz="20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a:lnSpc>
                <a:spcPct val="85000"/>
              </a:lnSpc>
            </a:pPr>
            <a:endParaRPr lang="en-US" altLang="zh-CN" sz="1800" dirty="0">
              <a:solidFill>
                <a:schemeClr val="tx1"/>
              </a:solidFill>
              <a:latin typeface="Arial" panose="020B0604020202020204" pitchFamily="34" charset="0"/>
            </a:endParaRPr>
          </a:p>
          <a:p>
            <a:pPr latinLnBrk="1">
              <a:lnSpc>
                <a:spcPct val="85000"/>
              </a:lnSpc>
            </a:pPr>
            <a:endParaRPr lang="zh-CN" altLang="en-US" sz="1800" dirty="0">
              <a:solidFill>
                <a:schemeClr val="tx1"/>
              </a:solidFill>
              <a:latin typeface="Arial" panose="020B0604020202020204" pitchFamily="34" charset="0"/>
            </a:endParaRPr>
          </a:p>
        </p:txBody>
      </p:sp>
      <p:sp>
        <p:nvSpPr>
          <p:cNvPr id="46086" name="Rectangle 6"/>
          <p:cNvSpPr/>
          <p:nvPr/>
        </p:nvSpPr>
        <p:spPr>
          <a:xfrm>
            <a:off x="3617913" y="2420938"/>
            <a:ext cx="381000" cy="284162"/>
          </a:xfrm>
          <a:prstGeom prst="rect">
            <a:avLst/>
          </a:prstGeom>
          <a:noFill/>
          <a:ln w="12700">
            <a:noFill/>
          </a:ln>
        </p:spPr>
        <p:txBody>
          <a:bodyPr lIns="63500" tIns="25400" rIns="63500" bIns="25400">
            <a:spAutoFit/>
          </a:bodyPr>
          <a:lstStyle/>
          <a:p>
            <a:pPr>
              <a:lnSpc>
                <a:spcPct val="85000"/>
              </a:lnSpc>
            </a:pPr>
            <a:r>
              <a:rPr lang="zh-CN" altLang="en-US" sz="1800" dirty="0">
                <a:solidFill>
                  <a:schemeClr val="tx1"/>
                </a:solidFill>
                <a:latin typeface="Arial" panose="020B0604020202020204" pitchFamily="34" charset="0"/>
              </a:rPr>
              <a:t>32</a:t>
            </a:r>
            <a:endParaRPr lang="zh-CN" altLang="en-US" sz="1800" dirty="0">
              <a:solidFill>
                <a:schemeClr val="tx1"/>
              </a:solidFill>
              <a:latin typeface="Arial" panose="020B0604020202020204" pitchFamily="34" charset="0"/>
            </a:endParaRPr>
          </a:p>
        </p:txBody>
      </p:sp>
      <p:sp>
        <p:nvSpPr>
          <p:cNvPr id="46087" name="Rectangle 7"/>
          <p:cNvSpPr/>
          <p:nvPr/>
        </p:nvSpPr>
        <p:spPr>
          <a:xfrm>
            <a:off x="3630613" y="5040313"/>
            <a:ext cx="381000" cy="284162"/>
          </a:xfrm>
          <a:prstGeom prst="rect">
            <a:avLst/>
          </a:prstGeom>
          <a:noFill/>
          <a:ln w="12700">
            <a:noFill/>
          </a:ln>
        </p:spPr>
        <p:txBody>
          <a:bodyPr wrap="none" lIns="63500" tIns="25400" rIns="63500" bIns="25400">
            <a:spAutoFit/>
          </a:bodyPr>
          <a:lstStyle/>
          <a:p>
            <a:pPr>
              <a:lnSpc>
                <a:spcPct val="85000"/>
              </a:lnSpc>
            </a:pPr>
            <a:r>
              <a:rPr lang="zh-CN" altLang="en-US" sz="1800" dirty="0">
                <a:solidFill>
                  <a:schemeClr val="tx1"/>
                </a:solidFill>
                <a:latin typeface="Arial" panose="020B0604020202020204" pitchFamily="34" charset="0"/>
              </a:rPr>
              <a:t>32</a:t>
            </a:r>
            <a:endParaRPr lang="zh-CN" altLang="en-US" sz="1800" dirty="0">
              <a:solidFill>
                <a:schemeClr val="tx1"/>
              </a:solidFill>
              <a:latin typeface="Arial" panose="020B0604020202020204" pitchFamily="34" charset="0"/>
            </a:endParaRPr>
          </a:p>
        </p:txBody>
      </p:sp>
      <p:sp>
        <p:nvSpPr>
          <p:cNvPr id="46088" name="Rectangle 8"/>
          <p:cNvSpPr/>
          <p:nvPr/>
        </p:nvSpPr>
        <p:spPr>
          <a:xfrm>
            <a:off x="3630613" y="3468688"/>
            <a:ext cx="381000" cy="284162"/>
          </a:xfrm>
          <a:prstGeom prst="rect">
            <a:avLst/>
          </a:prstGeom>
          <a:noFill/>
          <a:ln w="12700">
            <a:noFill/>
          </a:ln>
        </p:spPr>
        <p:txBody>
          <a:bodyPr lIns="63500" tIns="25400" rIns="63500" bIns="25400">
            <a:spAutoFit/>
          </a:bodyPr>
          <a:lstStyle/>
          <a:p>
            <a:pPr>
              <a:lnSpc>
                <a:spcPct val="85000"/>
              </a:lnSpc>
            </a:pPr>
            <a:r>
              <a:rPr lang="zh-CN" altLang="en-US" sz="1800" dirty="0">
                <a:solidFill>
                  <a:schemeClr val="tx1"/>
                </a:solidFill>
                <a:latin typeface="Arial" panose="020B0604020202020204" pitchFamily="34" charset="0"/>
              </a:rPr>
              <a:t>24</a:t>
            </a:r>
            <a:endParaRPr lang="zh-CN" altLang="en-US" sz="1800" dirty="0">
              <a:solidFill>
                <a:schemeClr val="tx1"/>
              </a:solidFill>
              <a:latin typeface="Arial" panose="020B0604020202020204" pitchFamily="34" charset="0"/>
            </a:endParaRPr>
          </a:p>
        </p:txBody>
      </p:sp>
      <p:sp>
        <p:nvSpPr>
          <p:cNvPr id="46089" name="Rectangle 9"/>
          <p:cNvSpPr/>
          <p:nvPr/>
        </p:nvSpPr>
        <p:spPr>
          <a:xfrm>
            <a:off x="3652838" y="609600"/>
            <a:ext cx="381000" cy="284163"/>
          </a:xfrm>
          <a:prstGeom prst="rect">
            <a:avLst/>
          </a:prstGeom>
          <a:noFill/>
          <a:ln w="12700">
            <a:noFill/>
          </a:ln>
        </p:spPr>
        <p:txBody>
          <a:bodyPr wrap="none" lIns="63500" tIns="25400" rIns="63500" bIns="25400">
            <a:spAutoFit/>
          </a:bodyPr>
          <a:lstStyle/>
          <a:p>
            <a:pPr>
              <a:lnSpc>
                <a:spcPct val="85000"/>
              </a:lnSpc>
            </a:pPr>
            <a:r>
              <a:rPr lang="zh-CN" altLang="en-US" sz="1800" dirty="0">
                <a:solidFill>
                  <a:schemeClr val="tx1"/>
                </a:solidFill>
                <a:latin typeface="Arial" panose="020B0604020202020204" pitchFamily="34" charset="0"/>
              </a:rPr>
              <a:t>20</a:t>
            </a:r>
            <a:endParaRPr lang="zh-CN" altLang="en-US" sz="1800" dirty="0">
              <a:solidFill>
                <a:schemeClr val="tx1"/>
              </a:solidFill>
              <a:latin typeface="Arial" panose="020B0604020202020204" pitchFamily="34" charset="0"/>
            </a:endParaRPr>
          </a:p>
        </p:txBody>
      </p:sp>
      <p:sp>
        <p:nvSpPr>
          <p:cNvPr id="417803" name="Text Box 11"/>
          <p:cNvSpPr txBox="1"/>
          <p:nvPr/>
        </p:nvSpPr>
        <p:spPr>
          <a:xfrm>
            <a:off x="301625" y="5778500"/>
            <a:ext cx="2660650" cy="660400"/>
          </a:xfrm>
          <a:prstGeom prst="rect">
            <a:avLst/>
          </a:prstGeom>
          <a:noFill/>
          <a:ln w="12700">
            <a:noFill/>
          </a:ln>
        </p:spPr>
        <p:txBody>
          <a:bodyPr lIns="63500" tIns="25400" rIns="63500" bIns="25400">
            <a:spAutoFit/>
          </a:bodyPr>
          <a:lstStyle/>
          <a:p>
            <a:pPr>
              <a:spcBef>
                <a:spcPct val="50000"/>
              </a:spcBef>
            </a:pPr>
            <a:r>
              <a:rPr lang="zh-CN" altLang="en-US" sz="2000" dirty="0">
                <a:latin typeface="Arial" panose="020B0604020202020204" pitchFamily="34" charset="0"/>
                <a:ea typeface="黑体" panose="02010609060101010101" pitchFamily="49" charset="-122"/>
              </a:rPr>
              <a:t>问题：</a:t>
            </a:r>
            <a:r>
              <a:rPr lang="en-US" altLang="zh-CN" sz="2000" dirty="0">
                <a:latin typeface="Arial" panose="020B0604020202020204" pitchFamily="34" charset="0"/>
                <a:ea typeface="黑体" panose="02010609060101010101" pitchFamily="49" charset="-122"/>
              </a:rPr>
              <a:t>GPR</a:t>
            </a:r>
            <a:r>
              <a:rPr lang="zh-CN" altLang="en-US" sz="2000" dirty="0">
                <a:latin typeface="Arial" panose="020B0604020202020204" pitchFamily="34" charset="0"/>
                <a:ea typeface="黑体" panose="02010609060101010101" pitchFamily="49" charset="-122"/>
              </a:rPr>
              <a:t>是什么？</a:t>
            </a:r>
            <a:r>
              <a:rPr lang="en-US" altLang="zh-CN" sz="2000" dirty="0">
                <a:latin typeface="Arial" panose="020B0604020202020204" pitchFamily="34" charset="0"/>
                <a:ea typeface="黑体" panose="02010609060101010101" pitchFamily="49" charset="-122"/>
              </a:rPr>
              <a:t>Flags</a:t>
            </a:r>
            <a:r>
              <a:rPr lang="zh-CN" altLang="en-US" sz="2000" dirty="0">
                <a:latin typeface="Arial" panose="020B0604020202020204" pitchFamily="34" charset="0"/>
                <a:ea typeface="黑体" panose="02010609060101010101" pitchFamily="49" charset="-122"/>
              </a:rPr>
              <a:t>是什么？</a:t>
            </a:r>
            <a:endParaRPr lang="zh-CN" altLang="en-US" sz="2000" dirty="0">
              <a:latin typeface="Arial" panose="020B0604020202020204" pitchFamily="34" charset="0"/>
              <a:ea typeface="黑体" panose="02010609060101010101" pitchFamily="49" charset="-122"/>
            </a:endParaRPr>
          </a:p>
        </p:txBody>
      </p:sp>
      <p:sp>
        <p:nvSpPr>
          <p:cNvPr id="417805" name="Text Box 13"/>
          <p:cNvSpPr txBox="1"/>
          <p:nvPr/>
        </p:nvSpPr>
        <p:spPr>
          <a:xfrm>
            <a:off x="5929313" y="5194300"/>
            <a:ext cx="2395537" cy="666750"/>
          </a:xfrm>
          <a:prstGeom prst="rect">
            <a:avLst/>
          </a:prstGeom>
          <a:noFill/>
          <a:ln w="12700">
            <a:noFill/>
          </a:ln>
        </p:spPr>
        <p:txBody>
          <a:bodyPr lIns="63500" tIns="25400" rIns="63500" bIns="25400">
            <a:spAutoFit/>
          </a:bodyPr>
          <a:lstStyle/>
          <a:p>
            <a:pPr>
              <a:spcBef>
                <a:spcPct val="50000"/>
              </a:spcBef>
            </a:pPr>
            <a:r>
              <a:rPr lang="en-US" altLang="zh-CN" sz="2000" dirty="0">
                <a:latin typeface="黑体" panose="02010609060101010101" pitchFamily="49" charset="-122"/>
                <a:ea typeface="黑体" panose="02010609060101010101" pitchFamily="49" charset="-122"/>
              </a:rPr>
              <a:t>HI</a:t>
            </a:r>
            <a:r>
              <a:rPr lang="zh-CN" altLang="en-US" sz="2000" dirty="0">
                <a:latin typeface="黑体" panose="02010609060101010101" pitchFamily="49" charset="-122"/>
                <a:ea typeface="黑体" panose="02010609060101010101" pitchFamily="49" charset="-122"/>
              </a:rPr>
              <a:t>和</a:t>
            </a:r>
            <a:r>
              <a:rPr lang="en-US" altLang="zh-CN" sz="2000" dirty="0">
                <a:latin typeface="黑体" panose="02010609060101010101" pitchFamily="49" charset="-122"/>
                <a:ea typeface="黑体" panose="02010609060101010101" pitchFamily="49" charset="-122"/>
              </a:rPr>
              <a:t>LO</a:t>
            </a:r>
            <a:r>
              <a:rPr lang="zh-CN" altLang="en-US" sz="2000" dirty="0">
                <a:latin typeface="黑体" panose="02010609060101010101" pitchFamily="49" charset="-122"/>
                <a:ea typeface="黑体" panose="02010609060101010101" pitchFamily="49" charset="-122"/>
              </a:rPr>
              <a:t>是</a:t>
            </a:r>
            <a:r>
              <a:rPr lang="en-US" altLang="zh-CN" sz="2000" dirty="0">
                <a:latin typeface="黑体" panose="02010609060101010101" pitchFamily="49" charset="-122"/>
                <a:ea typeface="黑体" panose="02010609060101010101" pitchFamily="49" charset="-122"/>
              </a:rPr>
              <a:t>MIPS</a:t>
            </a:r>
            <a:r>
              <a:rPr lang="zh-CN" altLang="en-US" sz="2000" dirty="0">
                <a:latin typeface="黑体" panose="02010609060101010101" pitchFamily="49" charset="-122"/>
                <a:ea typeface="黑体" panose="02010609060101010101" pitchFamily="49" charset="-122"/>
              </a:rPr>
              <a:t>内部的乘商寄存器</a:t>
            </a:r>
            <a:endParaRPr lang="zh-CN" altLang="en-US" sz="2000" dirty="0">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7803"/>
                                        </p:tgtEl>
                                        <p:attrNameLst>
                                          <p:attrName>style.visibility</p:attrName>
                                        </p:attrNameLst>
                                      </p:cBhvr>
                                      <p:to>
                                        <p:strVal val="visible"/>
                                      </p:to>
                                    </p:set>
                                    <p:animEffect transition="in" filter="blinds(horizontal)">
                                      <p:cBhvr>
                                        <p:cTn id="7" dur="500"/>
                                        <p:tgtEl>
                                          <p:spTgt spid="4178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17805"/>
                                        </p:tgtEl>
                                        <p:attrNameLst>
                                          <p:attrName>style.visibility</p:attrName>
                                        </p:attrNameLst>
                                      </p:cBhvr>
                                      <p:to>
                                        <p:strVal val="visible"/>
                                      </p:to>
                                    </p:set>
                                    <p:animEffect transition="in" filter="blinds(horizontal)">
                                      <p:cBhvr>
                                        <p:cTn id="12" dur="500"/>
                                        <p:tgtEl>
                                          <p:spTgt spid="4178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7803" grpId="0"/>
      <p:bldP spid="41780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p:nvPr/>
        </p:nvSpPr>
        <p:spPr>
          <a:xfrm>
            <a:off x="0" y="3219450"/>
            <a:ext cx="9144000" cy="0"/>
          </a:xfrm>
          <a:prstGeom prst="rect">
            <a:avLst/>
          </a:prstGeom>
          <a:noFill/>
          <a:ln w="12700">
            <a:noFill/>
          </a:ln>
        </p:spPr>
        <p:txBody>
          <a:bodyPr wrap="none" lIns="63500" tIns="25400" rIns="63500" bIns="25400" anchor="ctr" anchorCtr="0">
            <a:spAutoFit/>
          </a:bodyPr>
          <a:lstStyle/>
          <a:p>
            <a:endParaRPr lang="zh-CN" altLang="en-US" dirty="0">
              <a:latin typeface="Arial" panose="020B0604020202020204" pitchFamily="34" charset="0"/>
            </a:endParaRPr>
          </a:p>
        </p:txBody>
      </p:sp>
      <p:graphicFrame>
        <p:nvGraphicFramePr>
          <p:cNvPr id="422916" name="Object 4"/>
          <p:cNvGraphicFramePr>
            <a:graphicFrameLocks noChangeAspect="1"/>
          </p:cNvGraphicFramePr>
          <p:nvPr/>
        </p:nvGraphicFramePr>
        <p:xfrm>
          <a:off x="304800" y="981075"/>
          <a:ext cx="8275638" cy="760413"/>
        </p:xfrm>
        <a:graphic>
          <a:graphicData uri="http://schemas.openxmlformats.org/presentationml/2006/ole">
            <mc:AlternateContent xmlns:mc="http://schemas.openxmlformats.org/markup-compatibility/2006">
              <mc:Choice xmlns:v="urn:schemas-microsoft-com:vml" Requires="v">
                <p:oleObj spid="_x0000_s3111" name="" r:id="rId1" imgW="3816350" imgH="396240" progId="Visio.Drawing.5">
                  <p:embed/>
                </p:oleObj>
              </mc:Choice>
              <mc:Fallback>
                <p:oleObj name="" r:id="rId1" imgW="3816350" imgH="396240" progId="Visio.Drawing.5">
                  <p:embed/>
                  <p:pic>
                    <p:nvPicPr>
                      <p:cNvPr id="0" name="图片 3081"/>
                      <p:cNvPicPr/>
                      <p:nvPr/>
                    </p:nvPicPr>
                    <p:blipFill>
                      <a:blip r:embed="rId2"/>
                      <a:stretch>
                        <a:fillRect/>
                      </a:stretch>
                    </p:blipFill>
                    <p:spPr>
                      <a:xfrm>
                        <a:off x="304800" y="981075"/>
                        <a:ext cx="8275638" cy="760413"/>
                      </a:xfrm>
                      <a:prstGeom prst="rect">
                        <a:avLst/>
                      </a:prstGeom>
                      <a:noFill/>
                      <a:ln w="38100">
                        <a:noFill/>
                        <a:miter/>
                      </a:ln>
                    </p:spPr>
                  </p:pic>
                </p:oleObj>
              </mc:Fallback>
            </mc:AlternateContent>
          </a:graphicData>
        </a:graphic>
      </p:graphicFrame>
      <p:pic>
        <p:nvPicPr>
          <p:cNvPr id="422918" name="Picture 6"/>
          <p:cNvPicPr>
            <a:picLocks noChangeAspect="1"/>
          </p:cNvPicPr>
          <p:nvPr/>
        </p:nvPicPr>
        <p:blipFill>
          <a:blip r:embed="rId3"/>
          <a:stretch>
            <a:fillRect/>
          </a:stretch>
        </p:blipFill>
        <p:spPr>
          <a:xfrm>
            <a:off x="382588" y="3243263"/>
            <a:ext cx="8410575" cy="1597025"/>
          </a:xfrm>
          <a:prstGeom prst="rect">
            <a:avLst/>
          </a:prstGeom>
          <a:noFill/>
          <a:ln w="9525">
            <a:noFill/>
          </a:ln>
        </p:spPr>
      </p:pic>
      <p:sp>
        <p:nvSpPr>
          <p:cNvPr id="47109" name="Rectangle 7"/>
          <p:cNvSpPr/>
          <p:nvPr/>
        </p:nvSpPr>
        <p:spPr>
          <a:xfrm>
            <a:off x="1241425" y="106363"/>
            <a:ext cx="6080125" cy="425450"/>
          </a:xfrm>
          <a:prstGeom prst="rect">
            <a:avLst/>
          </a:prstGeom>
          <a:noFill/>
          <a:ln w="12700">
            <a:noFill/>
          </a:ln>
        </p:spPr>
        <p:txBody>
          <a:bodyPr lIns="63500" tIns="25400" rIns="63500" bIns="25400">
            <a:spAutoFit/>
          </a:bodyPr>
          <a:lstStyle/>
          <a:p>
            <a:pPr>
              <a:lnSpc>
                <a:spcPct val="87000"/>
              </a:lnSpc>
            </a:pPr>
            <a:r>
              <a:rPr lang="zh-CN" altLang="en-US" sz="2800" dirty="0">
                <a:solidFill>
                  <a:srgbClr val="C00000"/>
                </a:solidFill>
                <a:latin typeface="Arial" panose="020B0604020202020204" pitchFamily="34" charset="0"/>
              </a:rPr>
              <a:t>指令系统举例：</a:t>
            </a:r>
            <a:r>
              <a:rPr lang="en-US" altLang="zh-CN" sz="2400" dirty="0">
                <a:solidFill>
                  <a:srgbClr val="C00000"/>
                </a:solidFill>
                <a:latin typeface="Arial" panose="020B0604020202020204" pitchFamily="34" charset="0"/>
              </a:rPr>
              <a:t>Pentium</a:t>
            </a:r>
            <a:r>
              <a:rPr lang="zh-CN" altLang="en-US" sz="2800" dirty="0">
                <a:solidFill>
                  <a:srgbClr val="C00000"/>
                </a:solidFill>
                <a:latin typeface="Arial" panose="020B0604020202020204" pitchFamily="34" charset="0"/>
              </a:rPr>
              <a:t>指令格式</a:t>
            </a:r>
            <a:endParaRPr lang="zh-CN" altLang="en-US" sz="2800" dirty="0">
              <a:solidFill>
                <a:srgbClr val="C00000"/>
              </a:solidFill>
              <a:latin typeface="Arial" panose="020B0604020202020204" pitchFamily="34" charset="0"/>
            </a:endParaRPr>
          </a:p>
        </p:txBody>
      </p:sp>
      <p:sp>
        <p:nvSpPr>
          <p:cNvPr id="47110" name="Text Box 8"/>
          <p:cNvSpPr txBox="1"/>
          <p:nvPr/>
        </p:nvSpPr>
        <p:spPr>
          <a:xfrm>
            <a:off x="781050" y="800100"/>
            <a:ext cx="2009775" cy="173038"/>
          </a:xfrm>
          <a:prstGeom prst="rect">
            <a:avLst/>
          </a:prstGeom>
          <a:noFill/>
          <a:ln w="12700">
            <a:noFill/>
          </a:ln>
        </p:spPr>
        <p:txBody>
          <a:bodyPr lIns="63500" tIns="25400" rIns="63500" bIns="25400">
            <a:spAutoFit/>
          </a:bodyPr>
          <a:lstStyle/>
          <a:p>
            <a:pPr>
              <a:spcBef>
                <a:spcPct val="50000"/>
              </a:spcBef>
            </a:pPr>
            <a:endParaRPr lang="zh-CN" altLang="en-US" dirty="0">
              <a:latin typeface="Arial" panose="020B0604020202020204" pitchFamily="34" charset="0"/>
            </a:endParaRPr>
          </a:p>
        </p:txBody>
      </p:sp>
      <p:sp>
        <p:nvSpPr>
          <p:cNvPr id="47111" name="Text Box 10"/>
          <p:cNvSpPr txBox="1"/>
          <p:nvPr/>
        </p:nvSpPr>
        <p:spPr>
          <a:xfrm>
            <a:off x="212725" y="593725"/>
            <a:ext cx="6284913" cy="325438"/>
          </a:xfrm>
          <a:prstGeom prst="rect">
            <a:avLst/>
          </a:prstGeom>
          <a:noFill/>
          <a:ln w="12700">
            <a:noFill/>
          </a:ln>
        </p:spPr>
        <p:txBody>
          <a:bodyPr lIns="63500" tIns="25400" rIns="63500" bIns="25400">
            <a:spAutoFit/>
          </a:bodyPr>
          <a:lstStyle/>
          <a:p>
            <a:pPr>
              <a:spcBef>
                <a:spcPct val="20000"/>
              </a:spcBef>
            </a:pPr>
            <a:r>
              <a:rPr lang="zh-CN" altLang="en-US" sz="1800" dirty="0">
                <a:solidFill>
                  <a:srgbClr val="EE3900"/>
                </a:solidFill>
                <a:latin typeface="Arial" panose="020B0604020202020204" pitchFamily="34" charset="0"/>
                <a:ea typeface="黑体" panose="02010609060101010101" pitchFamily="49" charset="-122"/>
              </a:rPr>
              <a:t>前缀：</a:t>
            </a:r>
            <a:r>
              <a:rPr lang="zh-CN" altLang="en-US" sz="1800" dirty="0">
                <a:latin typeface="Arial" panose="020B0604020202020204" pitchFamily="34" charset="0"/>
                <a:ea typeface="黑体" panose="02010609060101010101" pitchFamily="49" charset="-122"/>
              </a:rPr>
              <a:t>包括指令、段、操作数长度、地址长度四种类型</a:t>
            </a:r>
            <a:endParaRPr lang="zh-CN" altLang="en-US" sz="1800" dirty="0">
              <a:latin typeface="Arial" panose="020B0604020202020204" pitchFamily="34" charset="0"/>
              <a:ea typeface="黑体" panose="02010609060101010101" pitchFamily="49" charset="-122"/>
            </a:endParaRPr>
          </a:p>
        </p:txBody>
      </p:sp>
      <p:sp>
        <p:nvSpPr>
          <p:cNvPr id="47112" name="Text Box 12"/>
          <p:cNvSpPr txBox="1"/>
          <p:nvPr/>
        </p:nvSpPr>
        <p:spPr>
          <a:xfrm>
            <a:off x="184150" y="1789113"/>
            <a:ext cx="8793163" cy="1423987"/>
          </a:xfrm>
          <a:prstGeom prst="rect">
            <a:avLst/>
          </a:prstGeom>
          <a:noFill/>
          <a:ln w="12700">
            <a:noFill/>
          </a:ln>
        </p:spPr>
        <p:txBody>
          <a:bodyPr lIns="63500" tIns="25400" rIns="63500" bIns="25400">
            <a:spAutoFit/>
          </a:bodyPr>
          <a:lstStyle/>
          <a:p>
            <a:pPr>
              <a:spcBef>
                <a:spcPct val="10000"/>
              </a:spcBef>
            </a:pPr>
            <a:r>
              <a:rPr lang="zh-CN" altLang="en-US" sz="1800" dirty="0">
                <a:solidFill>
                  <a:srgbClr val="EE3900"/>
                </a:solidFill>
                <a:latin typeface="Arial" panose="020B0604020202020204" pitchFamily="34" charset="0"/>
                <a:ea typeface="黑体" panose="02010609060101010101" pitchFamily="49" charset="-122"/>
              </a:rPr>
              <a:t>指令：</a:t>
            </a:r>
            <a:r>
              <a:rPr lang="zh-CN" altLang="en-US" sz="1800" dirty="0">
                <a:latin typeface="Arial" panose="020B0604020202020204" pitchFamily="34" charset="0"/>
                <a:ea typeface="黑体" panose="02010609060101010101" pitchFamily="49" charset="-122"/>
              </a:rPr>
              <a:t>含</a:t>
            </a:r>
            <a:r>
              <a:rPr lang="zh-CN" altLang="en-US" sz="1800" dirty="0">
                <a:solidFill>
                  <a:srgbClr val="EE3900"/>
                </a:solidFill>
                <a:latin typeface="Arial" panose="020B0604020202020204" pitchFamily="34" charset="0"/>
                <a:ea typeface="黑体" panose="02010609060101010101" pitchFamily="49" charset="-122"/>
              </a:rPr>
              <a:t>操作码、寻址方式、</a:t>
            </a:r>
            <a:r>
              <a:rPr lang="en-US" altLang="zh-CN" sz="1800" dirty="0">
                <a:solidFill>
                  <a:srgbClr val="EE3900"/>
                </a:solidFill>
                <a:latin typeface="Arial" panose="020B0604020202020204" pitchFamily="34" charset="0"/>
                <a:ea typeface="黑体" panose="02010609060101010101" pitchFamily="49" charset="-122"/>
              </a:rPr>
              <a:t>SIB</a:t>
            </a:r>
            <a:r>
              <a:rPr lang="zh-CN" altLang="en-US" sz="1800" dirty="0">
                <a:solidFill>
                  <a:srgbClr val="EE3900"/>
                </a:solidFill>
                <a:latin typeface="Arial" panose="020B0604020202020204" pitchFamily="34" charset="0"/>
                <a:ea typeface="黑体" panose="02010609060101010101" pitchFamily="49" charset="-122"/>
              </a:rPr>
              <a:t>、位移量和直接数据</a:t>
            </a:r>
            <a:r>
              <a:rPr lang="zh-CN" altLang="en-US" sz="1800" dirty="0">
                <a:latin typeface="Arial" panose="020B0604020202020204" pitchFamily="34" charset="0"/>
                <a:ea typeface="黑体" panose="02010609060101010101" pitchFamily="49" charset="-122"/>
              </a:rPr>
              <a:t>五部分，位移量和立即数都可是</a:t>
            </a:r>
            <a:r>
              <a:rPr lang="en-US" altLang="zh-CN" sz="1800" dirty="0">
                <a:latin typeface="Arial" panose="020B0604020202020204" pitchFamily="34" charset="0"/>
                <a:ea typeface="黑体" panose="02010609060101010101" pitchFamily="49" charset="-122"/>
              </a:rPr>
              <a:t>1/2/4B</a:t>
            </a:r>
            <a:r>
              <a:rPr lang="zh-CN" altLang="en-US" sz="1800" dirty="0">
                <a:latin typeface="Arial" panose="020B0604020202020204" pitchFamily="34" charset="0"/>
                <a:ea typeface="黑体" panose="02010609060101010101" pitchFamily="49" charset="-122"/>
              </a:rPr>
              <a:t>。</a:t>
            </a:r>
            <a:r>
              <a:rPr lang="en-US" altLang="zh-CN" sz="1800" dirty="0">
                <a:latin typeface="Arial" panose="020B0604020202020204" pitchFamily="34" charset="0"/>
                <a:ea typeface="黑体" panose="02010609060101010101" pitchFamily="49" charset="-122"/>
              </a:rPr>
              <a:t>SIB</a:t>
            </a:r>
            <a:r>
              <a:rPr lang="zh-CN" altLang="en-US" sz="1800" dirty="0">
                <a:latin typeface="Arial" panose="020B0604020202020204" pitchFamily="34" charset="0"/>
                <a:ea typeface="黑体" panose="02010609060101010101" pitchFamily="49" charset="-122"/>
              </a:rPr>
              <a:t>中基址</a:t>
            </a:r>
            <a:r>
              <a:rPr lang="en-US" altLang="zh-CN" sz="1800" dirty="0">
                <a:latin typeface="Arial" panose="020B0604020202020204" pitchFamily="34" charset="0"/>
                <a:ea typeface="黑体" panose="02010609060101010101" pitchFamily="49" charset="-122"/>
              </a:rPr>
              <a:t>B</a:t>
            </a:r>
            <a:r>
              <a:rPr lang="zh-CN" altLang="en-US" sz="1800" dirty="0">
                <a:latin typeface="Arial" panose="020B0604020202020204" pitchFamily="34" charset="0"/>
                <a:ea typeface="黑体" panose="02010609060101010101" pitchFamily="49" charset="-122"/>
              </a:rPr>
              <a:t>和变址</a:t>
            </a:r>
            <a:r>
              <a:rPr lang="en-US" altLang="zh-CN" sz="1800" dirty="0">
                <a:latin typeface="Arial" panose="020B0604020202020204" pitchFamily="34" charset="0"/>
                <a:ea typeface="黑体" panose="02010609060101010101" pitchFamily="49" charset="-122"/>
              </a:rPr>
              <a:t>I</a:t>
            </a:r>
            <a:r>
              <a:rPr lang="zh-CN" altLang="en-US" sz="1800" dirty="0">
                <a:latin typeface="Arial" panose="020B0604020202020204" pitchFamily="34" charset="0"/>
                <a:ea typeface="黑体" panose="02010609060101010101" pitchFamily="49" charset="-122"/>
              </a:rPr>
              <a:t>都可是</a:t>
            </a:r>
            <a:r>
              <a:rPr lang="en-US" altLang="zh-CN" sz="1800" dirty="0">
                <a:latin typeface="Arial" panose="020B0604020202020204" pitchFamily="34" charset="0"/>
                <a:ea typeface="黑体" panose="02010609060101010101" pitchFamily="49" charset="-122"/>
              </a:rPr>
              <a:t>8</a:t>
            </a:r>
            <a:r>
              <a:rPr lang="zh-CN" altLang="en-US" sz="1800" dirty="0">
                <a:latin typeface="Arial" panose="020B0604020202020204" pitchFamily="34" charset="0"/>
                <a:ea typeface="黑体" panose="02010609060101010101" pitchFamily="49" charset="-122"/>
              </a:rPr>
              <a:t>个</a:t>
            </a:r>
            <a:r>
              <a:rPr lang="en-US" altLang="zh-CN" sz="1800" dirty="0">
                <a:latin typeface="Arial" panose="020B0604020202020204" pitchFamily="34" charset="0"/>
                <a:ea typeface="黑体" panose="02010609060101010101" pitchFamily="49" charset="-122"/>
              </a:rPr>
              <a:t>GRS</a:t>
            </a:r>
            <a:r>
              <a:rPr lang="zh-CN" altLang="en-US" sz="1800" dirty="0">
                <a:latin typeface="Arial" panose="020B0604020202020204" pitchFamily="34" charset="0"/>
                <a:ea typeface="黑体" panose="02010609060101010101" pitchFamily="49" charset="-122"/>
              </a:rPr>
              <a:t>中任一个。</a:t>
            </a:r>
            <a:r>
              <a:rPr lang="en-US" altLang="zh-CN" sz="1800" dirty="0">
                <a:latin typeface="Arial" panose="020B0604020202020204" pitchFamily="34" charset="0"/>
                <a:ea typeface="黑体" panose="02010609060101010101" pitchFamily="49" charset="-122"/>
              </a:rPr>
              <a:t>SS</a:t>
            </a:r>
            <a:r>
              <a:rPr lang="zh-CN" altLang="en-US" sz="1800" dirty="0">
                <a:latin typeface="Arial" panose="020B0604020202020204" pitchFamily="34" charset="0"/>
                <a:ea typeface="黑体" panose="02010609060101010101" pitchFamily="49" charset="-122"/>
              </a:rPr>
              <a:t>给出比例因子。操作码：</a:t>
            </a:r>
            <a:r>
              <a:rPr lang="en-US" altLang="zh-CN" sz="1800" dirty="0">
                <a:solidFill>
                  <a:srgbClr val="A50021"/>
                </a:solidFill>
                <a:latin typeface="Arial" panose="020B0604020202020204" pitchFamily="34" charset="0"/>
                <a:ea typeface="黑体" panose="02010609060101010101" pitchFamily="49" charset="-122"/>
              </a:rPr>
              <a:t>opcode; w</a:t>
            </a:r>
            <a:r>
              <a:rPr lang="zh-CN" altLang="en-US" sz="1800" dirty="0">
                <a:solidFill>
                  <a:srgbClr val="A50021"/>
                </a:solidFill>
                <a:latin typeface="Arial" panose="020B0604020202020204" pitchFamily="34" charset="0"/>
                <a:ea typeface="黑体" panose="02010609060101010101" pitchFamily="49" charset="-122"/>
              </a:rPr>
              <a:t>：与机器模式（</a:t>
            </a:r>
            <a:r>
              <a:rPr lang="en-US" altLang="zh-CN" sz="1800" dirty="0">
                <a:solidFill>
                  <a:srgbClr val="A50021"/>
                </a:solidFill>
                <a:latin typeface="Arial" panose="020B0604020202020204" pitchFamily="34" charset="0"/>
                <a:ea typeface="黑体" panose="02010609060101010101" pitchFamily="49" charset="-122"/>
              </a:rPr>
              <a:t>16 / 32</a:t>
            </a:r>
            <a:r>
              <a:rPr lang="zh-CN" altLang="en-US" sz="1800" dirty="0">
                <a:solidFill>
                  <a:srgbClr val="A50021"/>
                </a:solidFill>
                <a:latin typeface="Arial" panose="020B0604020202020204" pitchFamily="34" charset="0"/>
                <a:ea typeface="黑体" panose="02010609060101010101" pitchFamily="49" charset="-122"/>
              </a:rPr>
              <a:t>位）一起确定寄存器位数（</a:t>
            </a:r>
            <a:r>
              <a:rPr lang="en-US" altLang="zh-CN" sz="1800" dirty="0">
                <a:solidFill>
                  <a:srgbClr val="A50021"/>
                </a:solidFill>
                <a:latin typeface="Arial" panose="020B0604020202020204" pitchFamily="34" charset="0"/>
                <a:ea typeface="黑体" panose="02010609060101010101" pitchFamily="49" charset="-122"/>
              </a:rPr>
              <a:t>AL / AX / EAX</a:t>
            </a:r>
            <a:r>
              <a:rPr lang="zh-CN" altLang="en-US" sz="1800" dirty="0">
                <a:solidFill>
                  <a:srgbClr val="A50021"/>
                </a:solidFill>
                <a:latin typeface="Arial" panose="020B0604020202020204" pitchFamily="34" charset="0"/>
                <a:ea typeface="黑体" panose="02010609060101010101" pitchFamily="49" charset="-122"/>
              </a:rPr>
              <a:t>）</a:t>
            </a:r>
            <a:r>
              <a:rPr lang="en-US" altLang="zh-CN" sz="1800" dirty="0">
                <a:solidFill>
                  <a:srgbClr val="A50021"/>
                </a:solidFill>
                <a:latin typeface="Arial" panose="020B0604020202020204" pitchFamily="34" charset="0"/>
                <a:ea typeface="黑体" panose="02010609060101010101" pitchFamily="49" charset="-122"/>
              </a:rPr>
              <a:t>; d</a:t>
            </a:r>
            <a:r>
              <a:rPr lang="zh-CN" altLang="en-US" sz="1800" dirty="0">
                <a:solidFill>
                  <a:srgbClr val="A50021"/>
                </a:solidFill>
                <a:latin typeface="Arial" panose="020B0604020202020204" pitchFamily="34" charset="0"/>
                <a:ea typeface="黑体" panose="02010609060101010101" pitchFamily="49" charset="-122"/>
              </a:rPr>
              <a:t>：操作方向；</a:t>
            </a:r>
            <a:r>
              <a:rPr lang="zh-CN" altLang="en-US" sz="1800" dirty="0">
                <a:latin typeface="Arial" panose="020B0604020202020204" pitchFamily="34" charset="0"/>
                <a:ea typeface="黑体" panose="02010609060101010101" pitchFamily="49" charset="-122"/>
              </a:rPr>
              <a:t>寻址方式：</a:t>
            </a:r>
            <a:r>
              <a:rPr lang="en-US" altLang="zh-CN" sz="1800" dirty="0">
                <a:solidFill>
                  <a:srgbClr val="A50021"/>
                </a:solidFill>
                <a:latin typeface="Arial" panose="020B0604020202020204" pitchFamily="34" charset="0"/>
                <a:ea typeface="黑体" panose="02010609060101010101" pitchFamily="49" charset="-122"/>
              </a:rPr>
              <a:t> mod</a:t>
            </a:r>
            <a:r>
              <a:rPr lang="zh-CN" altLang="en-US" sz="1800" dirty="0">
                <a:solidFill>
                  <a:srgbClr val="A50021"/>
                </a:solidFill>
                <a:latin typeface="Arial" panose="020B0604020202020204" pitchFamily="34" charset="0"/>
                <a:ea typeface="黑体" panose="02010609060101010101" pitchFamily="49" charset="-122"/>
              </a:rPr>
              <a:t>、</a:t>
            </a:r>
            <a:r>
              <a:rPr lang="en-US" altLang="zh-CN" sz="1800" dirty="0">
                <a:solidFill>
                  <a:srgbClr val="A50021"/>
                </a:solidFill>
                <a:latin typeface="Arial" panose="020B0604020202020204" pitchFamily="34" charset="0"/>
                <a:ea typeface="黑体" panose="02010609060101010101" pitchFamily="49" charset="-122"/>
              </a:rPr>
              <a:t>r/m</a:t>
            </a:r>
            <a:r>
              <a:rPr lang="zh-CN" altLang="en-US" sz="1800" dirty="0">
                <a:solidFill>
                  <a:srgbClr val="A50021"/>
                </a:solidFill>
                <a:latin typeface="Arial" panose="020B0604020202020204" pitchFamily="34" charset="0"/>
                <a:ea typeface="黑体" panose="02010609060101010101" pitchFamily="49" charset="-122"/>
              </a:rPr>
              <a:t>、 </a:t>
            </a:r>
            <a:r>
              <a:rPr lang="en-US" altLang="zh-CN" sz="1800" dirty="0">
                <a:solidFill>
                  <a:srgbClr val="A50021"/>
                </a:solidFill>
                <a:latin typeface="Arial" panose="020B0604020202020204" pitchFamily="34" charset="0"/>
                <a:ea typeface="黑体" panose="02010609060101010101" pitchFamily="49" charset="-122"/>
              </a:rPr>
              <a:t>reg/op</a:t>
            </a:r>
            <a:r>
              <a:rPr lang="zh-CN" altLang="en-US" sz="1800" dirty="0">
                <a:solidFill>
                  <a:srgbClr val="A50021"/>
                </a:solidFill>
                <a:latin typeface="Arial" panose="020B0604020202020204" pitchFamily="34" charset="0"/>
                <a:ea typeface="黑体" panose="02010609060101010101" pitchFamily="49" charset="-122"/>
              </a:rPr>
              <a:t>三个字段与</a:t>
            </a:r>
            <a:r>
              <a:rPr lang="en-US" altLang="zh-CN" sz="1800" dirty="0">
                <a:solidFill>
                  <a:srgbClr val="A50021"/>
                </a:solidFill>
                <a:latin typeface="Arial" panose="020B0604020202020204" pitchFamily="34" charset="0"/>
                <a:ea typeface="黑体" panose="02010609060101010101" pitchFamily="49" charset="-122"/>
              </a:rPr>
              <a:t>w</a:t>
            </a:r>
            <a:r>
              <a:rPr lang="zh-CN" altLang="en-US" sz="1800" dirty="0">
                <a:solidFill>
                  <a:srgbClr val="A50021"/>
                </a:solidFill>
                <a:latin typeface="Arial" panose="020B0604020202020204" pitchFamily="34" charset="0"/>
                <a:ea typeface="黑体" panose="02010609060101010101" pitchFamily="49" charset="-122"/>
              </a:rPr>
              <a:t>字段和机器模式一起确定操作数所在的寄存器编号或有效地址计算方式</a:t>
            </a:r>
            <a:endParaRPr lang="zh-CN" altLang="en-US" sz="1800" dirty="0">
              <a:solidFill>
                <a:srgbClr val="A50021"/>
              </a:solidFill>
              <a:latin typeface="Arial" panose="020B0604020202020204" pitchFamily="34" charset="0"/>
              <a:ea typeface="黑体" panose="02010609060101010101" pitchFamily="49" charset="-122"/>
            </a:endParaRPr>
          </a:p>
        </p:txBody>
      </p:sp>
      <p:sp>
        <p:nvSpPr>
          <p:cNvPr id="422926" name="Rectangle 14"/>
          <p:cNvSpPr>
            <a:spLocks noGrp="1"/>
          </p:cNvSpPr>
          <p:nvPr>
            <p:ph idx="1"/>
          </p:nvPr>
        </p:nvSpPr>
        <p:spPr>
          <a:xfrm>
            <a:off x="200025" y="4652963"/>
            <a:ext cx="4254500" cy="1363662"/>
          </a:xfrm>
        </p:spPr>
        <p:txBody>
          <a:bodyPr vert="horz" wrap="square" lIns="91440" tIns="45720" rIns="91440" bIns="45720" anchor="t" anchorCtr="0"/>
          <a:lstStyle/>
          <a:p>
            <a:pPr>
              <a:lnSpc>
                <a:spcPct val="70000"/>
              </a:lnSpc>
            </a:pPr>
            <a:endParaRPr lang="en-US" altLang="zh-CN" sz="800" dirty="0"/>
          </a:p>
          <a:p>
            <a:pPr>
              <a:lnSpc>
                <a:spcPct val="70000"/>
              </a:lnSpc>
              <a:buNone/>
            </a:pPr>
            <a:r>
              <a:rPr lang="zh-CN" altLang="en-US" sz="1800" dirty="0">
                <a:solidFill>
                  <a:schemeClr val="accent2"/>
                </a:solidFill>
                <a:latin typeface="Arial" panose="020B0604020202020204" pitchFamily="34" charset="0"/>
                <a:ea typeface="黑体" panose="02010609060101010101" pitchFamily="49" charset="-122"/>
              </a:rPr>
              <a:t>变长指令字：</a:t>
            </a:r>
            <a:r>
              <a:rPr lang="en-US" altLang="zh-CN" sz="1800" dirty="0">
                <a:solidFill>
                  <a:schemeClr val="accent2"/>
                </a:solidFill>
                <a:latin typeface="Arial" panose="020B0604020202020204" pitchFamily="34" charset="0"/>
                <a:ea typeface="黑体" panose="02010609060101010101" pitchFamily="49" charset="-122"/>
              </a:rPr>
              <a:t>1B~17B</a:t>
            </a:r>
            <a:endParaRPr lang="en-US" altLang="zh-CN" sz="1800" dirty="0">
              <a:solidFill>
                <a:schemeClr val="accent2"/>
              </a:solidFill>
              <a:latin typeface="Arial" panose="020B0604020202020204" pitchFamily="34" charset="0"/>
              <a:ea typeface="黑体" panose="02010609060101010101" pitchFamily="49" charset="-122"/>
            </a:endParaRPr>
          </a:p>
          <a:p>
            <a:pPr>
              <a:lnSpc>
                <a:spcPct val="70000"/>
              </a:lnSpc>
              <a:buNone/>
            </a:pPr>
            <a:r>
              <a:rPr lang="zh-CN" altLang="en-US" sz="1800" dirty="0">
                <a:solidFill>
                  <a:schemeClr val="accent2"/>
                </a:solidFill>
                <a:latin typeface="Arial" panose="020B0604020202020204" pitchFamily="34" charset="0"/>
                <a:ea typeface="黑体" panose="02010609060101010101" pitchFamily="49" charset="-122"/>
              </a:rPr>
              <a:t>变长操作码：</a:t>
            </a:r>
            <a:r>
              <a:rPr lang="en-US" altLang="zh-CN" sz="1800" dirty="0">
                <a:solidFill>
                  <a:schemeClr val="accent2"/>
                </a:solidFill>
                <a:latin typeface="Arial" panose="020B0604020202020204" pitchFamily="34" charset="0"/>
                <a:ea typeface="黑体" panose="02010609060101010101" pitchFamily="49" charset="-122"/>
              </a:rPr>
              <a:t>4b / 5b / 6b / 7b / 8b /……</a:t>
            </a:r>
            <a:endParaRPr lang="en-US" altLang="zh-CN" sz="1800" dirty="0">
              <a:solidFill>
                <a:schemeClr val="accent2"/>
              </a:solidFill>
              <a:latin typeface="Arial" panose="020B0604020202020204" pitchFamily="34" charset="0"/>
              <a:ea typeface="黑体" panose="02010609060101010101" pitchFamily="49" charset="-122"/>
            </a:endParaRPr>
          </a:p>
          <a:p>
            <a:pPr>
              <a:lnSpc>
                <a:spcPct val="70000"/>
              </a:lnSpc>
              <a:buNone/>
            </a:pPr>
            <a:r>
              <a:rPr lang="zh-CN" altLang="en-US" sz="1800" dirty="0">
                <a:solidFill>
                  <a:schemeClr val="accent2"/>
                </a:solidFill>
                <a:latin typeface="Arial" panose="020B0604020202020204" pitchFamily="34" charset="0"/>
                <a:ea typeface="黑体" panose="02010609060101010101" pitchFamily="49" charset="-122"/>
              </a:rPr>
              <a:t>变长操作数：</a:t>
            </a:r>
            <a:r>
              <a:rPr lang="en-US" altLang="zh-CN" sz="1800" dirty="0">
                <a:solidFill>
                  <a:schemeClr val="accent2"/>
                </a:solidFill>
                <a:latin typeface="Arial" panose="020B0604020202020204" pitchFamily="34" charset="0"/>
                <a:ea typeface="黑体" panose="02010609060101010101" pitchFamily="49" charset="-122"/>
              </a:rPr>
              <a:t>Byte / Word / DW / QW</a:t>
            </a:r>
            <a:endParaRPr lang="en-US" altLang="zh-CN" sz="1800" dirty="0">
              <a:solidFill>
                <a:schemeClr val="accent2"/>
              </a:solidFill>
              <a:latin typeface="Arial" panose="020B0604020202020204" pitchFamily="34" charset="0"/>
              <a:ea typeface="黑体" panose="02010609060101010101" pitchFamily="49" charset="-122"/>
            </a:endParaRPr>
          </a:p>
          <a:p>
            <a:pPr>
              <a:lnSpc>
                <a:spcPct val="70000"/>
              </a:lnSpc>
              <a:buNone/>
            </a:pPr>
            <a:r>
              <a:rPr lang="zh-CN" altLang="en-US" sz="1800" dirty="0">
                <a:solidFill>
                  <a:schemeClr val="accent2"/>
                </a:solidFill>
                <a:latin typeface="Arial" panose="020B0604020202020204" pitchFamily="34" charset="0"/>
                <a:ea typeface="黑体" panose="02010609060101010101" pitchFamily="49" charset="-122"/>
              </a:rPr>
              <a:t>变长寄存器：</a:t>
            </a:r>
            <a:r>
              <a:rPr lang="en-US" altLang="zh-CN" sz="1800" dirty="0">
                <a:solidFill>
                  <a:schemeClr val="accent2"/>
                </a:solidFill>
                <a:latin typeface="Arial" panose="020B0604020202020204" pitchFamily="34" charset="0"/>
                <a:ea typeface="黑体" panose="02010609060101010101" pitchFamily="49" charset="-122"/>
              </a:rPr>
              <a:t>8</a:t>
            </a:r>
            <a:r>
              <a:rPr lang="zh-CN" altLang="en-US" sz="1800" dirty="0">
                <a:solidFill>
                  <a:schemeClr val="accent2"/>
                </a:solidFill>
                <a:latin typeface="Arial" panose="020B0604020202020204" pitchFamily="34" charset="0"/>
                <a:ea typeface="黑体" panose="02010609060101010101" pitchFamily="49" charset="-122"/>
              </a:rPr>
              <a:t>位 </a:t>
            </a:r>
            <a:r>
              <a:rPr lang="en-US" altLang="zh-CN" sz="1800" dirty="0">
                <a:solidFill>
                  <a:schemeClr val="accent2"/>
                </a:solidFill>
                <a:latin typeface="Arial" panose="020B0604020202020204" pitchFamily="34" charset="0"/>
                <a:ea typeface="黑体" panose="02010609060101010101" pitchFamily="49" charset="-122"/>
              </a:rPr>
              <a:t>/ 16</a:t>
            </a:r>
            <a:r>
              <a:rPr lang="zh-CN" altLang="en-US" sz="1800" dirty="0">
                <a:solidFill>
                  <a:schemeClr val="accent2"/>
                </a:solidFill>
                <a:latin typeface="Arial" panose="020B0604020202020204" pitchFamily="34" charset="0"/>
                <a:ea typeface="黑体" panose="02010609060101010101" pitchFamily="49" charset="-122"/>
              </a:rPr>
              <a:t>位 </a:t>
            </a:r>
            <a:r>
              <a:rPr lang="en-US" altLang="zh-CN" sz="1800" dirty="0">
                <a:solidFill>
                  <a:schemeClr val="accent2"/>
                </a:solidFill>
                <a:latin typeface="Arial" panose="020B0604020202020204" pitchFamily="34" charset="0"/>
                <a:ea typeface="黑体" panose="02010609060101010101" pitchFamily="49" charset="-122"/>
              </a:rPr>
              <a:t>/32</a:t>
            </a:r>
            <a:r>
              <a:rPr lang="zh-CN" altLang="en-US" sz="1800" dirty="0">
                <a:solidFill>
                  <a:schemeClr val="accent2"/>
                </a:solidFill>
                <a:latin typeface="Arial" panose="020B0604020202020204" pitchFamily="34" charset="0"/>
                <a:ea typeface="黑体" panose="02010609060101010101" pitchFamily="49" charset="-122"/>
              </a:rPr>
              <a:t>位</a:t>
            </a:r>
            <a:endParaRPr lang="zh-CN" altLang="en-US" sz="1800" dirty="0">
              <a:solidFill>
                <a:schemeClr val="accent2"/>
              </a:solidFill>
              <a:latin typeface="Arial" panose="020B0604020202020204" pitchFamily="34" charset="0"/>
              <a:ea typeface="黑体" panose="02010609060101010101" pitchFamily="49" charset="-122"/>
            </a:endParaRPr>
          </a:p>
        </p:txBody>
      </p:sp>
      <p:sp>
        <p:nvSpPr>
          <p:cNvPr id="422927" name="Rectangle 15"/>
          <p:cNvSpPr/>
          <p:nvPr/>
        </p:nvSpPr>
        <p:spPr>
          <a:xfrm>
            <a:off x="4602163" y="4754563"/>
            <a:ext cx="4259262" cy="1831975"/>
          </a:xfrm>
          <a:prstGeom prst="rect">
            <a:avLst/>
          </a:prstGeom>
          <a:noFill/>
          <a:ln w="9525">
            <a:noFill/>
          </a:ln>
        </p:spPr>
        <p:txBody>
          <a:bodyPr/>
          <a:lstStyle>
            <a:lvl1pPr marL="285750" indent="-285750" algn="l" rtl="0" eaLnBrk="0" fontAlgn="base" hangingPunct="0">
              <a:lnSpc>
                <a:spcPct val="90000"/>
              </a:lnSpc>
              <a:spcBef>
                <a:spcPct val="30000"/>
              </a:spcBef>
              <a:spcAft>
                <a:spcPct val="0"/>
              </a:spcAft>
              <a:buSzPct val="75000"/>
              <a:buFont typeface="Wingdings" panose="05000000000000000000" pitchFamily="2" charset="2"/>
              <a:buChar char="u"/>
              <a:defRPr sz="2000">
                <a:solidFill>
                  <a:schemeClr val="tx1"/>
                </a:solidFill>
                <a:latin typeface="+mn-lt"/>
                <a:ea typeface="+mn-ea"/>
                <a:cs typeface="+mn-cs"/>
              </a:defRPr>
            </a:lvl1pPr>
            <a:lvl2pPr marL="685800" indent="-228600" algn="l" rtl="0" eaLnBrk="0" fontAlgn="base" hangingPunct="0">
              <a:lnSpc>
                <a:spcPct val="90000"/>
              </a:lnSpc>
              <a:spcBef>
                <a:spcPct val="30000"/>
              </a:spcBef>
              <a:spcAft>
                <a:spcPct val="0"/>
              </a:spcAft>
              <a:buSzPct val="100000"/>
              <a:buChar char="–"/>
              <a:defRPr b="1">
                <a:solidFill>
                  <a:schemeClr val="accent2"/>
                </a:solidFill>
                <a:latin typeface="+mn-lt"/>
                <a:ea typeface="+mn-ea"/>
                <a:cs typeface="+mn-cs"/>
              </a:defRPr>
            </a:lvl2pPr>
            <a:lvl3pPr marL="1143000" indent="-228600" algn="l" rtl="0" eaLnBrk="0" fontAlgn="base" hangingPunct="0">
              <a:lnSpc>
                <a:spcPct val="90000"/>
              </a:lnSpc>
              <a:spcBef>
                <a:spcPct val="30000"/>
              </a:spcBef>
              <a:spcAft>
                <a:spcPct val="0"/>
              </a:spcAft>
              <a:buSzPct val="100000"/>
              <a:buChar char="»"/>
              <a:defRPr b="1">
                <a:solidFill>
                  <a:srgbClr val="A50021"/>
                </a:solidFill>
                <a:latin typeface="+mn-lt"/>
                <a:ea typeface="+mn-ea"/>
                <a:cs typeface="+mn-cs"/>
              </a:defRPr>
            </a:lvl3pPr>
            <a:lvl4pPr marL="15430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4pPr>
            <a:lvl5pPr marL="2000250" indent="-171450" algn="l" rtl="0" eaLnBrk="0" fontAlgn="base" hangingPunct="0">
              <a:lnSpc>
                <a:spcPct val="90000"/>
              </a:lnSpc>
              <a:spcBef>
                <a:spcPct val="30000"/>
              </a:spcBef>
              <a:spcAft>
                <a:spcPct val="0"/>
              </a:spcAft>
              <a:buSzPct val="100000"/>
              <a:buChar char="–"/>
              <a:defRPr sz="1400" b="1">
                <a:solidFill>
                  <a:schemeClr val="tx1"/>
                </a:solidFill>
                <a:latin typeface="+mn-lt"/>
                <a:ea typeface="+mn-ea"/>
                <a:cs typeface="+mn-cs"/>
              </a:defRPr>
            </a:lvl5pPr>
          </a:lstStyle>
          <a:p>
            <a:pPr marL="285750" lvl="0" indent="-285750">
              <a:lnSpc>
                <a:spcPct val="115000"/>
              </a:lnSpc>
              <a:spcBef>
                <a:spcPct val="10000"/>
              </a:spcBef>
              <a:buNone/>
            </a:pPr>
            <a:r>
              <a:rPr lang="zh-CN" altLang="en-US" sz="1800" dirty="0">
                <a:solidFill>
                  <a:srgbClr val="C51915"/>
                </a:solidFill>
                <a:latin typeface="Arial" panose="020B0604020202020204" pitchFamily="34" charset="0"/>
                <a:ea typeface="黑体" panose="02010609060101010101" pitchFamily="49" charset="-122"/>
              </a:rPr>
              <a:t>调用指令自动把返回地址压栈</a:t>
            </a:r>
            <a:endParaRPr lang="zh-CN" altLang="en-US" sz="1800" dirty="0">
              <a:solidFill>
                <a:srgbClr val="C51915"/>
              </a:solidFill>
              <a:latin typeface="Arial" panose="020B0604020202020204" pitchFamily="34" charset="0"/>
              <a:ea typeface="黑体" panose="02010609060101010101" pitchFamily="49" charset="-122"/>
            </a:endParaRPr>
          </a:p>
          <a:p>
            <a:pPr marL="285750" lvl="0" indent="-285750">
              <a:lnSpc>
                <a:spcPct val="100000"/>
              </a:lnSpc>
              <a:spcBef>
                <a:spcPct val="10000"/>
              </a:spcBef>
              <a:buNone/>
            </a:pPr>
            <a:r>
              <a:rPr lang="zh-CN" altLang="en-US" sz="1800" dirty="0">
                <a:solidFill>
                  <a:srgbClr val="C51915"/>
                </a:solidFill>
                <a:latin typeface="Arial" panose="020B0604020202020204" pitchFamily="34" charset="0"/>
                <a:ea typeface="黑体" panose="02010609060101010101" pitchFamily="49" charset="-122"/>
              </a:rPr>
              <a:t>专门的</a:t>
            </a:r>
            <a:r>
              <a:rPr lang="en-US" altLang="zh-CN" sz="1800" dirty="0">
                <a:solidFill>
                  <a:srgbClr val="C51915"/>
                </a:solidFill>
                <a:latin typeface="Arial" panose="020B0604020202020204" pitchFamily="34" charset="0"/>
                <a:ea typeface="黑体" panose="02010609060101010101" pitchFamily="49" charset="-122"/>
              </a:rPr>
              <a:t>push/pop</a:t>
            </a:r>
            <a:r>
              <a:rPr lang="zh-CN" altLang="en-US" sz="1800" dirty="0">
                <a:solidFill>
                  <a:srgbClr val="C51915"/>
                </a:solidFill>
                <a:latin typeface="Arial" panose="020B0604020202020204" pitchFamily="34" charset="0"/>
                <a:ea typeface="黑体" panose="02010609060101010101" pitchFamily="49" charset="-122"/>
              </a:rPr>
              <a:t>指令，自动修改栈指针</a:t>
            </a:r>
            <a:endParaRPr lang="zh-CN" altLang="en-US" sz="1800" dirty="0">
              <a:solidFill>
                <a:srgbClr val="C51915"/>
              </a:solidFill>
              <a:latin typeface="Arial" panose="020B0604020202020204" pitchFamily="34" charset="0"/>
              <a:ea typeface="黑体" panose="02010609060101010101" pitchFamily="49" charset="-122"/>
            </a:endParaRPr>
          </a:p>
          <a:p>
            <a:pPr marL="285750" lvl="0" indent="-285750">
              <a:lnSpc>
                <a:spcPct val="100000"/>
              </a:lnSpc>
              <a:spcBef>
                <a:spcPct val="10000"/>
              </a:spcBef>
              <a:buNone/>
            </a:pPr>
            <a:r>
              <a:rPr lang="en-US" altLang="zh-CN" sz="1800" dirty="0">
                <a:solidFill>
                  <a:srgbClr val="C51915"/>
                </a:solidFill>
                <a:latin typeface="Arial" panose="020B0604020202020204" pitchFamily="34" charset="0"/>
                <a:ea typeface="黑体" panose="02010609060101010101" pitchFamily="49" charset="-122"/>
              </a:rPr>
              <a:t>ALU</a:t>
            </a:r>
            <a:r>
              <a:rPr lang="zh-CN" altLang="en-US" sz="1800" dirty="0">
                <a:solidFill>
                  <a:srgbClr val="C51915"/>
                </a:solidFill>
                <a:latin typeface="Arial" panose="020B0604020202020204" pitchFamily="34" charset="0"/>
                <a:ea typeface="黑体" panose="02010609060101010101" pitchFamily="49" charset="-122"/>
              </a:rPr>
              <a:t>指令在</a:t>
            </a:r>
            <a:r>
              <a:rPr lang="en-US" altLang="zh-CN" sz="1800" dirty="0">
                <a:solidFill>
                  <a:srgbClr val="C51915"/>
                </a:solidFill>
                <a:latin typeface="Arial" panose="020B0604020202020204" pitchFamily="34" charset="0"/>
                <a:ea typeface="黑体" panose="02010609060101010101" pitchFamily="49" charset="-122"/>
              </a:rPr>
              <a:t>Flags</a:t>
            </a:r>
            <a:r>
              <a:rPr lang="zh-CN" altLang="en-US" sz="1800" dirty="0">
                <a:solidFill>
                  <a:srgbClr val="C51915"/>
                </a:solidFill>
                <a:latin typeface="Arial" panose="020B0604020202020204" pitchFamily="34" charset="0"/>
                <a:ea typeface="黑体" panose="02010609060101010101" pitchFamily="49" charset="-122"/>
              </a:rPr>
              <a:t>中隐含生成条件码</a:t>
            </a:r>
            <a:endParaRPr lang="zh-CN" altLang="en-US" sz="1800" dirty="0">
              <a:solidFill>
                <a:srgbClr val="C51915"/>
              </a:solidFill>
              <a:latin typeface="Arial" panose="020B0604020202020204" pitchFamily="34" charset="0"/>
              <a:ea typeface="黑体" panose="02010609060101010101" pitchFamily="49" charset="-122"/>
            </a:endParaRPr>
          </a:p>
          <a:p>
            <a:pPr marL="285750" lvl="0" indent="-285750">
              <a:lnSpc>
                <a:spcPct val="100000"/>
              </a:lnSpc>
              <a:spcBef>
                <a:spcPct val="10000"/>
              </a:spcBef>
              <a:buNone/>
            </a:pPr>
            <a:r>
              <a:rPr lang="en-US" altLang="zh-CN" sz="1800" dirty="0">
                <a:solidFill>
                  <a:srgbClr val="C51915"/>
                </a:solidFill>
                <a:latin typeface="Arial" panose="020B0604020202020204" pitchFamily="34" charset="0"/>
                <a:ea typeface="黑体" panose="02010609060101010101" pitchFamily="49" charset="-122"/>
              </a:rPr>
              <a:t>ALU</a:t>
            </a:r>
            <a:r>
              <a:rPr lang="zh-CN" altLang="en-US" sz="1800" dirty="0">
                <a:solidFill>
                  <a:srgbClr val="C51915"/>
                </a:solidFill>
                <a:latin typeface="Arial" panose="020B0604020202020204" pitchFamily="34" charset="0"/>
                <a:ea typeface="黑体" panose="02010609060101010101" pitchFamily="49" charset="-122"/>
              </a:rPr>
              <a:t>指令中的一个操作数可来自存储器</a:t>
            </a:r>
            <a:endParaRPr lang="zh-CN" altLang="en-US" sz="1800" dirty="0">
              <a:solidFill>
                <a:srgbClr val="C51915"/>
              </a:solidFill>
              <a:latin typeface="Arial" panose="020B0604020202020204" pitchFamily="34" charset="0"/>
              <a:ea typeface="黑体" panose="02010609060101010101" pitchFamily="49" charset="-122"/>
            </a:endParaRPr>
          </a:p>
          <a:p>
            <a:pPr marL="285750" lvl="0" indent="-285750">
              <a:lnSpc>
                <a:spcPct val="100000"/>
              </a:lnSpc>
              <a:spcBef>
                <a:spcPct val="10000"/>
              </a:spcBef>
              <a:buNone/>
            </a:pPr>
            <a:r>
              <a:rPr lang="zh-CN" altLang="en-US" sz="1800" dirty="0">
                <a:solidFill>
                  <a:srgbClr val="C51915"/>
                </a:solidFill>
                <a:latin typeface="Arial" panose="020B0604020202020204" pitchFamily="34" charset="0"/>
                <a:ea typeface="黑体" panose="02010609060101010101" pitchFamily="49" charset="-122"/>
              </a:rPr>
              <a:t>提供基址加比例索引寻址</a:t>
            </a:r>
            <a:endParaRPr lang="zh-CN" altLang="en-US" sz="1800" dirty="0">
              <a:solidFill>
                <a:srgbClr val="C51915"/>
              </a:solidFill>
              <a:latin typeface="Arial" panose="020B0604020202020204" pitchFamily="34" charset="0"/>
              <a:ea typeface="黑体" panose="02010609060101010101" pitchFamily="49" charset="-122"/>
            </a:endParaRPr>
          </a:p>
          <a:p>
            <a:pPr marL="285750" lvl="0" indent="-285750">
              <a:lnSpc>
                <a:spcPct val="100000"/>
              </a:lnSpc>
              <a:spcBef>
                <a:spcPct val="10000"/>
              </a:spcBef>
              <a:buNone/>
            </a:pPr>
            <a:endParaRPr lang="zh-CN" altLang="en-US" sz="1600" dirty="0">
              <a:solidFill>
                <a:srgbClr val="C51915"/>
              </a:solidFill>
            </a:endParaRPr>
          </a:p>
        </p:txBody>
      </p:sp>
      <p:sp>
        <p:nvSpPr>
          <p:cNvPr id="422928" name="Text Box 16"/>
          <p:cNvSpPr txBox="1"/>
          <p:nvPr/>
        </p:nvSpPr>
        <p:spPr>
          <a:xfrm>
            <a:off x="222250" y="6037263"/>
            <a:ext cx="3879850" cy="600075"/>
          </a:xfrm>
          <a:prstGeom prst="rect">
            <a:avLst/>
          </a:prstGeom>
          <a:noFill/>
          <a:ln w="12700">
            <a:noFill/>
          </a:ln>
        </p:spPr>
        <p:txBody>
          <a:bodyPr lIns="63500" tIns="25400" rIns="63500" bIns="25400">
            <a:spAutoFit/>
          </a:bodyPr>
          <a:lstStyle/>
          <a:p>
            <a:pPr>
              <a:spcBef>
                <a:spcPct val="50000"/>
              </a:spcBef>
            </a:pPr>
            <a:r>
              <a:rPr lang="zh-CN" altLang="en-US" sz="1800" dirty="0">
                <a:solidFill>
                  <a:srgbClr val="EE3900"/>
                </a:solidFill>
                <a:latin typeface="Arial" panose="020B0604020202020204" pitchFamily="34" charset="0"/>
                <a:ea typeface="黑体" panose="02010609060101010101" pitchFamily="49" charset="-122"/>
              </a:rPr>
              <a:t>问题</a:t>
            </a:r>
            <a:r>
              <a:rPr lang="en-US" altLang="zh-CN" sz="1800" dirty="0">
                <a:solidFill>
                  <a:srgbClr val="EE3900"/>
                </a:solidFill>
                <a:latin typeface="Arial" panose="020B0604020202020204" pitchFamily="34" charset="0"/>
                <a:ea typeface="黑体" panose="02010609060101010101" pitchFamily="49" charset="-122"/>
              </a:rPr>
              <a:t>: </a:t>
            </a:r>
            <a:r>
              <a:rPr lang="zh-CN" altLang="en-US" sz="1800" dirty="0">
                <a:solidFill>
                  <a:srgbClr val="EE3900"/>
                </a:solidFill>
                <a:latin typeface="Arial" panose="020B0604020202020204" pitchFamily="34" charset="0"/>
                <a:ea typeface="黑体" panose="02010609060101010101" pitchFamily="49" charset="-122"/>
              </a:rPr>
              <a:t>是累加器型、通用寄存器型、</a:t>
            </a:r>
            <a:r>
              <a:rPr lang="en-US" altLang="zh-CN" sz="1800" dirty="0">
                <a:solidFill>
                  <a:srgbClr val="EE3900"/>
                </a:solidFill>
                <a:latin typeface="Arial" panose="020B0604020202020204" pitchFamily="34" charset="0"/>
                <a:ea typeface="黑体" panose="02010609060101010101" pitchFamily="49" charset="-122"/>
              </a:rPr>
              <a:t>ld/st</a:t>
            </a:r>
            <a:r>
              <a:rPr lang="zh-CN" altLang="en-US" sz="1800" dirty="0">
                <a:solidFill>
                  <a:srgbClr val="EE3900"/>
                </a:solidFill>
                <a:latin typeface="Arial" panose="020B0604020202020204" pitchFamily="34" charset="0"/>
                <a:ea typeface="黑体" panose="02010609060101010101" pitchFamily="49" charset="-122"/>
              </a:rPr>
              <a:t>型？是</a:t>
            </a:r>
            <a:r>
              <a:rPr lang="en-US" altLang="zh-CN" sz="1800" dirty="0">
                <a:solidFill>
                  <a:srgbClr val="EE3900"/>
                </a:solidFill>
                <a:latin typeface="Arial" panose="020B0604020202020204" pitchFamily="34" charset="0"/>
                <a:ea typeface="黑体" panose="02010609060101010101" pitchFamily="49" charset="-122"/>
              </a:rPr>
              <a:t>CISC</a:t>
            </a:r>
            <a:r>
              <a:rPr lang="zh-CN" altLang="en-US" sz="1800" dirty="0">
                <a:solidFill>
                  <a:srgbClr val="EE3900"/>
                </a:solidFill>
                <a:latin typeface="Arial" panose="020B0604020202020204" pitchFamily="34" charset="0"/>
                <a:ea typeface="黑体" panose="02010609060101010101" pitchFamily="49" charset="-122"/>
              </a:rPr>
              <a:t>型、</a:t>
            </a:r>
            <a:r>
              <a:rPr lang="en-US" altLang="zh-CN" sz="1800" dirty="0">
                <a:solidFill>
                  <a:srgbClr val="EE3900"/>
                </a:solidFill>
                <a:latin typeface="Arial" panose="020B0604020202020204" pitchFamily="34" charset="0"/>
                <a:ea typeface="黑体" panose="02010609060101010101" pitchFamily="49" charset="-122"/>
              </a:rPr>
              <a:t>RISC</a:t>
            </a:r>
            <a:r>
              <a:rPr lang="zh-CN" altLang="en-US" sz="1800" dirty="0">
                <a:solidFill>
                  <a:srgbClr val="EE3900"/>
                </a:solidFill>
                <a:latin typeface="Arial" panose="020B0604020202020204" pitchFamily="34" charset="0"/>
                <a:ea typeface="黑体" panose="02010609060101010101" pitchFamily="49" charset="-122"/>
              </a:rPr>
              <a:t>型？</a:t>
            </a:r>
            <a:endParaRPr lang="zh-CN" altLang="en-US" sz="1800" dirty="0">
              <a:solidFill>
                <a:srgbClr val="EE390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2916"/>
                                        </p:tgtEl>
                                        <p:attrNameLst>
                                          <p:attrName>style.visibility</p:attrName>
                                        </p:attrNameLst>
                                      </p:cBhvr>
                                      <p:to>
                                        <p:strVal val="visible"/>
                                      </p:to>
                                    </p:set>
                                    <p:animEffect transition="in" filter="blinds(horizontal)">
                                      <p:cBhvr>
                                        <p:cTn id="7" dur="500"/>
                                        <p:tgtEl>
                                          <p:spTgt spid="4229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2918"/>
                                        </p:tgtEl>
                                        <p:attrNameLst>
                                          <p:attrName>style.visibility</p:attrName>
                                        </p:attrNameLst>
                                      </p:cBhvr>
                                      <p:to>
                                        <p:strVal val="visible"/>
                                      </p:to>
                                    </p:set>
                                    <p:animEffect transition="in" filter="blinds(horizontal)">
                                      <p:cBhvr>
                                        <p:cTn id="12" dur="500"/>
                                        <p:tgtEl>
                                          <p:spTgt spid="4229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2926">
                                            <p:txEl>
                                              <p:pRg st="1" end="1"/>
                                            </p:txEl>
                                          </p:spTgt>
                                        </p:tgtEl>
                                        <p:attrNameLst>
                                          <p:attrName>style.visibility</p:attrName>
                                        </p:attrNameLst>
                                      </p:cBhvr>
                                      <p:to>
                                        <p:strVal val="visible"/>
                                      </p:to>
                                    </p:set>
                                    <p:animEffect transition="in" filter="blinds(horizontal)">
                                      <p:cBhvr>
                                        <p:cTn id="17" dur="500"/>
                                        <p:tgtEl>
                                          <p:spTgt spid="4229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2926">
                                            <p:txEl>
                                              <p:pRg st="2" end="2"/>
                                            </p:txEl>
                                          </p:spTgt>
                                        </p:tgtEl>
                                        <p:attrNameLst>
                                          <p:attrName>style.visibility</p:attrName>
                                        </p:attrNameLst>
                                      </p:cBhvr>
                                      <p:to>
                                        <p:strVal val="visible"/>
                                      </p:to>
                                    </p:set>
                                    <p:animEffect transition="in" filter="blinds(horizontal)">
                                      <p:cBhvr>
                                        <p:cTn id="22" dur="500"/>
                                        <p:tgtEl>
                                          <p:spTgt spid="42292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22926">
                                            <p:txEl>
                                              <p:pRg st="3" end="3"/>
                                            </p:txEl>
                                          </p:spTgt>
                                        </p:tgtEl>
                                        <p:attrNameLst>
                                          <p:attrName>style.visibility</p:attrName>
                                        </p:attrNameLst>
                                      </p:cBhvr>
                                      <p:to>
                                        <p:strVal val="visible"/>
                                      </p:to>
                                    </p:set>
                                    <p:animEffect transition="in" filter="blinds(horizontal)">
                                      <p:cBhvr>
                                        <p:cTn id="27" dur="500"/>
                                        <p:tgtEl>
                                          <p:spTgt spid="42292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22926">
                                            <p:txEl>
                                              <p:pRg st="4" end="4"/>
                                            </p:txEl>
                                          </p:spTgt>
                                        </p:tgtEl>
                                        <p:attrNameLst>
                                          <p:attrName>style.visibility</p:attrName>
                                        </p:attrNameLst>
                                      </p:cBhvr>
                                      <p:to>
                                        <p:strVal val="visible"/>
                                      </p:to>
                                    </p:set>
                                    <p:animEffect transition="in" filter="blinds(horizontal)">
                                      <p:cBhvr>
                                        <p:cTn id="32" dur="500"/>
                                        <p:tgtEl>
                                          <p:spTgt spid="42292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22927">
                                            <p:txEl>
                                              <p:pRg st="0" end="0"/>
                                            </p:txEl>
                                          </p:spTgt>
                                        </p:tgtEl>
                                        <p:attrNameLst>
                                          <p:attrName>style.visibility</p:attrName>
                                        </p:attrNameLst>
                                      </p:cBhvr>
                                      <p:to>
                                        <p:strVal val="visible"/>
                                      </p:to>
                                    </p:set>
                                    <p:animEffect transition="in" filter="blinds(horizontal)">
                                      <p:cBhvr>
                                        <p:cTn id="37" dur="500"/>
                                        <p:tgtEl>
                                          <p:spTgt spid="42292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22927">
                                            <p:txEl>
                                              <p:pRg st="1" end="1"/>
                                            </p:txEl>
                                          </p:spTgt>
                                        </p:tgtEl>
                                        <p:attrNameLst>
                                          <p:attrName>style.visibility</p:attrName>
                                        </p:attrNameLst>
                                      </p:cBhvr>
                                      <p:to>
                                        <p:strVal val="visible"/>
                                      </p:to>
                                    </p:set>
                                    <p:animEffect transition="in" filter="blinds(horizontal)">
                                      <p:cBhvr>
                                        <p:cTn id="42" dur="500"/>
                                        <p:tgtEl>
                                          <p:spTgt spid="42292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22927">
                                            <p:txEl>
                                              <p:pRg st="2" end="2"/>
                                            </p:txEl>
                                          </p:spTgt>
                                        </p:tgtEl>
                                        <p:attrNameLst>
                                          <p:attrName>style.visibility</p:attrName>
                                        </p:attrNameLst>
                                      </p:cBhvr>
                                      <p:to>
                                        <p:strVal val="visible"/>
                                      </p:to>
                                    </p:set>
                                    <p:animEffect transition="in" filter="blinds(horizontal)">
                                      <p:cBhvr>
                                        <p:cTn id="47" dur="500"/>
                                        <p:tgtEl>
                                          <p:spTgt spid="422927">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22927">
                                            <p:txEl>
                                              <p:pRg st="3" end="3"/>
                                            </p:txEl>
                                          </p:spTgt>
                                        </p:tgtEl>
                                        <p:attrNameLst>
                                          <p:attrName>style.visibility</p:attrName>
                                        </p:attrNameLst>
                                      </p:cBhvr>
                                      <p:to>
                                        <p:strVal val="visible"/>
                                      </p:to>
                                    </p:set>
                                    <p:animEffect transition="in" filter="blinds(horizontal)">
                                      <p:cBhvr>
                                        <p:cTn id="52" dur="500"/>
                                        <p:tgtEl>
                                          <p:spTgt spid="422927">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22927">
                                            <p:txEl>
                                              <p:pRg st="4" end="4"/>
                                            </p:txEl>
                                          </p:spTgt>
                                        </p:tgtEl>
                                        <p:attrNameLst>
                                          <p:attrName>style.visibility</p:attrName>
                                        </p:attrNameLst>
                                      </p:cBhvr>
                                      <p:to>
                                        <p:strVal val="visible"/>
                                      </p:to>
                                    </p:set>
                                    <p:animEffect transition="in" filter="blinds(horizontal)">
                                      <p:cBhvr>
                                        <p:cTn id="57" dur="500"/>
                                        <p:tgtEl>
                                          <p:spTgt spid="422927">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22928"/>
                                        </p:tgtEl>
                                        <p:attrNameLst>
                                          <p:attrName>style.visibility</p:attrName>
                                        </p:attrNameLst>
                                      </p:cBhvr>
                                      <p:to>
                                        <p:strVal val="visible"/>
                                      </p:to>
                                    </p:set>
                                    <p:animEffect transition="in" filter="blinds(horizontal)">
                                      <p:cBhvr>
                                        <p:cTn id="62" dur="500"/>
                                        <p:tgtEl>
                                          <p:spTgt spid="422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2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628650" y="33338"/>
            <a:ext cx="5827713" cy="425450"/>
          </a:xfrm>
        </p:spPr>
        <p:txBody>
          <a:bodyPr vert="horz" wrap="square" lIns="63500" tIns="25400" rIns="63500" bIns="25400" anchor="ctr" anchorCtr="0">
            <a:spAutoFit/>
          </a:bodyPr>
          <a:lstStyle/>
          <a:p>
            <a:r>
              <a:rPr lang="en-US" altLang="zh-CN" dirty="0">
                <a:ea typeface="宋体" panose="02010600030101010101" pitchFamily="2" charset="-122"/>
              </a:rPr>
              <a:t>Pentium</a:t>
            </a:r>
            <a:r>
              <a:rPr lang="zh-CN" altLang="en-US" sz="2800" dirty="0">
                <a:ea typeface="宋体" panose="02010600030101010101" pitchFamily="2" charset="-122"/>
              </a:rPr>
              <a:t>处理器的寻址方式</a:t>
            </a:r>
            <a:endParaRPr lang="zh-CN" altLang="en-US" sz="2800" dirty="0">
              <a:ea typeface="宋体" panose="02010600030101010101" pitchFamily="2" charset="-122"/>
            </a:endParaRPr>
          </a:p>
        </p:txBody>
      </p:sp>
      <p:sp>
        <p:nvSpPr>
          <p:cNvPr id="378883" name="Rectangle 3"/>
          <p:cNvSpPr>
            <a:spLocks noGrp="1" noChangeArrowheads="1"/>
          </p:cNvSpPr>
          <p:nvPr>
            <p:ph idx="1"/>
          </p:nvPr>
        </p:nvSpPr>
        <p:spPr>
          <a:xfrm>
            <a:off x="209550" y="561975"/>
            <a:ext cx="8763000" cy="5322888"/>
          </a:xfrm>
        </p:spPr>
        <p:txBody>
          <a:bodyPr vert="horz" wrap="square" lIns="91440" tIns="45720" rIns="91440" bIns="45720" numCol="1" anchor="t" anchorCtr="0" compatLnSpc="1"/>
          <a:lstStyle/>
          <a:p>
            <a:pPr marL="342900" marR="0" lvl="0" indent="-342900" algn="l" defTabSz="914400" rtl="0" eaLnBrk="0" fontAlgn="base" latinLnBrk="0" hangingPunct="0">
              <a:lnSpc>
                <a:spcPct val="115000"/>
              </a:lnSpc>
              <a:spcBef>
                <a:spcPct val="20000"/>
              </a:spcBef>
              <a:spcAft>
                <a:spcPct val="0"/>
              </a:spcAft>
              <a:buClrTx/>
              <a:buSzPct val="75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mn-ea"/>
                <a:cs typeface="+mn-cs"/>
              </a:rPr>
              <a:t>      </a:t>
            </a:r>
            <a:r>
              <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操作数的来源：</a:t>
            </a:r>
            <a:endPar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15000"/>
              </a:lnSpc>
              <a:spcBef>
                <a:spcPct val="20000"/>
              </a:spcBef>
              <a:spcAft>
                <a:spcPct val="0"/>
              </a:spcAft>
              <a:buClrTx/>
              <a:buSzPct val="100000"/>
              <a:buFont typeface="Wingdings" panose="05000000000000000000" pitchFamily="2" charset="2"/>
              <a:buNone/>
              <a:defRPr/>
            </a:pPr>
            <a:r>
              <a:rPr kumimoji="0" lang="zh-CN" altLang="en-US" sz="2000" b="1" i="0" u="none" strike="noStrike" kern="0" cap="none" spc="0" normalizeH="0" baseline="0" noProof="0" dirty="0">
                <a:ln>
                  <a:noFill/>
                </a:ln>
                <a:solidFill>
                  <a:srgbClr val="CC3300"/>
                </a:solidFill>
                <a:effectLst/>
                <a:uLnTx/>
                <a:uFillTx/>
                <a:latin typeface="Arial" panose="020B0604020202020204" pitchFamily="34" charset="0"/>
                <a:ea typeface="黑体" panose="02010609060101010101" pitchFamily="49" charset="-122"/>
                <a:cs typeface="+mn-cs"/>
              </a:rPr>
              <a:t>    立即数(立即寻址)</a:t>
            </a:r>
            <a:r>
              <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：直接来自指令</a:t>
            </a:r>
            <a:endPar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15000"/>
              </a:lnSpc>
              <a:spcBef>
                <a:spcPct val="20000"/>
              </a:spcBef>
              <a:spcAft>
                <a:spcPct val="0"/>
              </a:spcAft>
              <a:buClrTx/>
              <a:buSzPct val="100000"/>
              <a:buFont typeface="Wingdings" panose="05000000000000000000" pitchFamily="2" charset="2"/>
              <a:buNone/>
              <a:defRPr/>
            </a:pPr>
            <a:r>
              <a:rPr kumimoji="0" lang="zh-CN" altLang="en-US" sz="2000" b="1" i="0" u="none" strike="noStrike" kern="0" cap="none" spc="0" normalizeH="0" baseline="0" noProof="0" dirty="0">
                <a:ln>
                  <a:noFill/>
                </a:ln>
                <a:solidFill>
                  <a:srgbClr val="CC3300"/>
                </a:solidFill>
                <a:effectLst/>
                <a:uLnTx/>
                <a:uFillTx/>
                <a:latin typeface="Arial" panose="020B0604020202020204" pitchFamily="34" charset="0"/>
                <a:ea typeface="黑体" panose="02010609060101010101" pitchFamily="49" charset="-122"/>
                <a:cs typeface="+mn-cs"/>
              </a:rPr>
              <a:t>    寄存器(寄存器寻址)</a:t>
            </a:r>
            <a:r>
              <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：来自32位 / 16位 / 8位通用寄存器</a:t>
            </a:r>
            <a:endPar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15000"/>
              </a:lnSpc>
              <a:spcBef>
                <a:spcPct val="20000"/>
              </a:spcBef>
              <a:spcAft>
                <a:spcPct val="0"/>
              </a:spcAft>
              <a:buClrTx/>
              <a:buSzPct val="100000"/>
              <a:buFont typeface="Wingdings" panose="05000000000000000000" pitchFamily="2" charset="2"/>
              <a:buNone/>
              <a:defRPr/>
            </a:pPr>
            <a:r>
              <a:rPr kumimoji="0" lang="zh-CN" altLang="en-US" sz="2000" b="1" i="0" u="none" strike="noStrike" kern="0" cap="none" spc="0" normalizeH="0" baseline="0" noProof="0" dirty="0">
                <a:ln>
                  <a:noFill/>
                </a:ln>
                <a:solidFill>
                  <a:srgbClr val="CC3300"/>
                </a:solidFill>
                <a:effectLst/>
                <a:uLnTx/>
                <a:uFillTx/>
                <a:latin typeface="Arial" panose="020B0604020202020204" pitchFamily="34" charset="0"/>
                <a:ea typeface="黑体" panose="02010609060101010101" pitchFamily="49" charset="-122"/>
                <a:cs typeface="+mn-cs"/>
              </a:rPr>
              <a:t>    存储单元(其他寻址)</a:t>
            </a:r>
            <a:r>
              <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：需进行地址转换</a:t>
            </a:r>
            <a:endParaRPr kumimoji="0" lang="zh-CN" altLang="en-US" sz="2000" b="1" i="0" u="none" strike="noStrike" kern="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Tx/>
              <a:buSzPct val="75000"/>
              <a:buFont typeface="Monotype Sorts" pitchFamily="2" charset="2"/>
              <a:buNone/>
              <a:defRPr/>
            </a:pPr>
            <a:r>
              <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          </a:t>
            </a:r>
            <a:r>
              <a:rPr kumimoji="0" lang="zh-CN" altLang="en-US" sz="2000" b="1" i="0" u="none" strike="noStrike" kern="0" cap="none" spc="0" normalizeH="0" baseline="0" noProof="0" dirty="0">
                <a:ln>
                  <a:noFill/>
                </a:ln>
                <a:solidFill>
                  <a:srgbClr val="C2228D"/>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虚拟地址 =&gt; 线性地址</a:t>
            </a:r>
            <a:r>
              <a:rPr kumimoji="0" lang="en-US" altLang="zh-CN" sz="2000" b="1" i="0" u="none" strike="noStrike" kern="0" cap="none" spc="0" normalizeH="0" baseline="0" noProof="0" dirty="0">
                <a:ln>
                  <a:noFill/>
                </a:ln>
                <a:solidFill>
                  <a:srgbClr val="C2228D"/>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LA ( =&gt; </a:t>
            </a:r>
            <a:r>
              <a:rPr kumimoji="0" lang="zh-CN" altLang="en-US" sz="2000" b="1" i="0" u="none" strike="noStrike" kern="0" cap="none" spc="0" normalizeH="0" baseline="0" noProof="0" dirty="0">
                <a:ln>
                  <a:noFill/>
                </a:ln>
                <a:solidFill>
                  <a:srgbClr val="C2228D"/>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内存地址)</a:t>
            </a:r>
            <a:endPar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Tx/>
              <a:buSzPct val="75000"/>
              <a:buFont typeface="Monotype Sorts" pitchFamily="2" charset="2"/>
              <a:buNone/>
              <a:defRPr/>
            </a:pPr>
            <a:r>
              <a:rPr kumimoji="0" lang="zh-CN" altLang="en-US" sz="2000" b="1" i="0" u="none" strike="noStrike" kern="0" cap="none" spc="0" normalizeH="0" baseline="0" noProof="0" dirty="0">
                <a:ln>
                  <a:noFill/>
                </a:ln>
                <a:solidFill>
                  <a:srgbClr val="C2228D"/>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                        </a:t>
            </a:r>
            <a:r>
              <a:rPr kumimoji="0" lang="zh-CN" altLang="en-US" sz="2000" b="1" i="0" u="none" strike="noStrike" kern="0" cap="none" spc="0" normalizeH="0" baseline="0" noProof="0" dirty="0">
                <a:ln>
                  <a:noFill/>
                </a:ln>
                <a:solidFill>
                  <a:srgbClr val="0099FF"/>
                </a:solidFill>
                <a:effectLst/>
                <a:uLnTx/>
                <a:uFillTx/>
                <a:latin typeface="Arial" panose="020B0604020202020204" pitchFamily="34" charset="0"/>
                <a:ea typeface="黑体" panose="02010609060101010101" pitchFamily="49" charset="-122"/>
                <a:cs typeface="+mn-cs"/>
              </a:rPr>
              <a:t>分段                     分页</a:t>
            </a:r>
            <a:endParaRPr kumimoji="0" lang="zh-CN" altLang="en-US" sz="2000" b="1" i="0" u="none" strike="noStrike" kern="0" cap="none" spc="0" normalizeH="0" baseline="0" noProof="0" dirty="0">
              <a:ln>
                <a:noFill/>
              </a:ln>
              <a:solidFill>
                <a:srgbClr val="0099FF"/>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15000"/>
              </a:lnSpc>
              <a:spcBef>
                <a:spcPct val="20000"/>
              </a:spcBef>
              <a:spcAft>
                <a:spcPct val="0"/>
              </a:spcAft>
              <a:buClrTx/>
              <a:buSzPct val="100000"/>
              <a:buFont typeface="Wingdings" panose="05000000000000000000" pitchFamily="2" charset="2"/>
              <a:buNone/>
              <a:defRPr/>
            </a:pPr>
            <a:r>
              <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指令中的信息：</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 </a:t>
            </a:r>
            <a:endPar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15000"/>
              </a:lnSpc>
              <a:spcBef>
                <a:spcPct val="20000"/>
              </a:spcBef>
              <a:spcAft>
                <a:spcPct val="0"/>
              </a:spcAft>
              <a:buClrTx/>
              <a:buSzPct val="100000"/>
              <a:buFont typeface="Wingdings" panose="05000000000000000000" pitchFamily="2" charset="2"/>
              <a:buNone/>
              <a:defRP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 (1) </a:t>
            </a:r>
            <a:r>
              <a:rPr kumimoji="0" lang="zh-CN"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段寄存器</a:t>
            </a:r>
            <a:r>
              <a:rPr kumimoji="0" lang="en-US" altLang="zh-CN"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SR</a:t>
            </a:r>
            <a:r>
              <a:rPr kumimoji="0" lang="zh-CN" altLang="en-US" sz="2000" b="1" i="0" u="none" strike="noStrike" kern="0" cap="none" spc="0" normalizeH="0" baseline="0" noProof="0" dirty="0">
                <a:ln>
                  <a:noFill/>
                </a:ln>
                <a:solidFill>
                  <a:srgbClr val="0033CC"/>
                </a:solidFill>
                <a:effectLst/>
                <a:uLnTx/>
                <a:uFillTx/>
                <a:latin typeface="Arial" panose="020B0604020202020204" pitchFamily="34" charset="0"/>
                <a:ea typeface="黑体" panose="02010609060101010101" pitchFamily="49" charset="-122"/>
                <a:cs typeface="+mn-cs"/>
              </a:rPr>
              <a:t>（</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隐含或显式给出）</a:t>
            </a:r>
            <a:endPar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Tx/>
              <a:buSzPct val="75000"/>
              <a:buFont typeface="Wingdings" panose="05000000000000000000" pitchFamily="2" charset="2"/>
              <a:buNone/>
              <a:defRP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        (2) </a:t>
            </a:r>
            <a:r>
              <a:rPr kumimoji="0" lang="zh-CN" altLang="en-US" sz="2000" b="1" i="0" u="none" strike="noStrike" kern="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8/16/32位</a:t>
            </a:r>
            <a:r>
              <a:rPr kumimoji="0" lang="zh-CN"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偏移量</a:t>
            </a:r>
            <a:r>
              <a:rPr kumimoji="0" lang="en-US" altLang="zh-CN"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A </a:t>
            </a:r>
            <a:r>
              <a:rPr kumimoji="0" lang="zh-CN" altLang="en-US" sz="2000" b="1" i="0" u="none" strike="noStrike" kern="0" cap="none" spc="0" normalizeH="0" baseline="0" noProof="0" dirty="0">
                <a:ln>
                  <a:noFill/>
                </a:ln>
                <a:solidFill>
                  <a:srgbClr val="0033CC"/>
                </a:solidFill>
                <a:effectLst/>
                <a:uLnTx/>
                <a:uFillTx/>
                <a:latin typeface="Arial" panose="020B0604020202020204" pitchFamily="34" charset="0"/>
                <a:ea typeface="黑体" panose="02010609060101010101" pitchFamily="49" charset="-122"/>
                <a:cs typeface="+mn-cs"/>
              </a:rPr>
              <a:t>（</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显式给出）</a:t>
            </a:r>
            <a:endPar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Tx/>
              <a:buSzPct val="75000"/>
              <a:buFont typeface="Wingdings" panose="05000000000000000000" pitchFamily="2" charset="2"/>
              <a:buNone/>
              <a:defRP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        (2) </a:t>
            </a:r>
            <a:r>
              <a:rPr kumimoji="0" lang="zh-CN"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基址寄存器</a:t>
            </a:r>
            <a:r>
              <a:rPr kumimoji="0" lang="en-US"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B </a:t>
            </a:r>
            <a:r>
              <a:rPr kumimoji="0" lang="zh-CN" altLang="en-US" sz="2000" b="1" i="0" u="none" strike="noStrike" kern="0" cap="none" spc="0" normalizeH="0" baseline="0" noProof="0" dirty="0">
                <a:ln>
                  <a:noFill/>
                </a:ln>
                <a:solidFill>
                  <a:srgbClr val="0033CC"/>
                </a:solidFill>
                <a:effectLst/>
                <a:uLnTx/>
                <a:uFillTx/>
                <a:latin typeface="Arial" panose="020B0604020202020204" pitchFamily="34" charset="0"/>
                <a:ea typeface="黑体" panose="02010609060101010101" pitchFamily="49" charset="-122"/>
                <a:cs typeface="+mn-cs"/>
              </a:rPr>
              <a:t>（</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明显给出，任意通用寄存器皆可）</a:t>
            </a:r>
            <a:endPar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15000"/>
              </a:lnSpc>
              <a:spcBef>
                <a:spcPct val="20000"/>
              </a:spcBef>
              <a:spcAft>
                <a:spcPct val="0"/>
              </a:spcAft>
              <a:buClrTx/>
              <a:buSzPct val="75000"/>
              <a:buFont typeface="Wingdings" panose="05000000000000000000" pitchFamily="2" charset="2"/>
              <a:buNone/>
              <a:defRP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        (3) </a:t>
            </a:r>
            <a:r>
              <a:rPr kumimoji="0" lang="zh-CN"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变址寄存器</a:t>
            </a:r>
            <a:r>
              <a:rPr kumimoji="0" lang="en-US" altLang="zh-CN"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I </a:t>
            </a:r>
            <a:r>
              <a:rPr kumimoji="0" lang="zh-CN" altLang="en-US" sz="2000" b="1" i="0" u="none" strike="noStrike" kern="0" cap="none" spc="0" normalizeH="0" baseline="0" noProof="0" dirty="0">
                <a:ln>
                  <a:noFill/>
                </a:ln>
                <a:solidFill>
                  <a:srgbClr val="0033CC"/>
                </a:solidFill>
                <a:effectLst/>
                <a:uLnTx/>
                <a:uFillTx/>
                <a:latin typeface="Arial" panose="020B0604020202020204" pitchFamily="34" charset="0"/>
                <a:ea typeface="黑体" panose="02010609060101010101" pitchFamily="49" charset="-122"/>
                <a:cs typeface="+mn-cs"/>
              </a:rPr>
              <a:t>（</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明显给出，除</a:t>
            </a:r>
            <a:r>
              <a:rPr kumimoji="0" lang="en-US"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ESP</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外的任意通用寄存器皆可。）</a:t>
            </a:r>
            <a:endPar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1143000" marR="0" lvl="2" indent="-228600" algn="l" defTabSz="914400" rtl="0" eaLnBrk="0" fontAlgn="base" latinLnBrk="0" hangingPunct="0">
              <a:lnSpc>
                <a:spcPct val="115000"/>
              </a:lnSpc>
              <a:spcBef>
                <a:spcPct val="20000"/>
              </a:spcBef>
              <a:spcAft>
                <a:spcPct val="0"/>
              </a:spcAft>
              <a:buClrTx/>
              <a:buSzPct val="100000"/>
              <a:buFont typeface="Wingdings" panose="05000000000000000000" pitchFamily="2" charset="2"/>
              <a:buChar char="Ø"/>
              <a:defRP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有比例变址和非比例变址</a:t>
            </a:r>
            <a:endPar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1143000" marR="0" lvl="2" indent="-228600" algn="l" defTabSz="914400" rtl="0" eaLnBrk="0" fontAlgn="base" latinLnBrk="0" hangingPunct="0">
              <a:lnSpc>
                <a:spcPct val="115000"/>
              </a:lnSpc>
              <a:spcBef>
                <a:spcPct val="20000"/>
              </a:spcBef>
              <a:spcAft>
                <a:spcPct val="0"/>
              </a:spcAft>
              <a:buClrTx/>
              <a:buSzPct val="100000"/>
              <a:buFont typeface="Wingdings" panose="05000000000000000000" pitchFamily="2" charset="2"/>
              <a:buChar char="Ø"/>
              <a:defRPr/>
            </a:pP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比例变址时要乘以</a:t>
            </a:r>
            <a:r>
              <a:rPr kumimoji="0" lang="zh-CN"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比例因子</a:t>
            </a:r>
            <a:r>
              <a:rPr kumimoji="0" lang="en-US" altLang="zh-CN"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S</a:t>
            </a:r>
            <a:r>
              <a:rPr kumimoji="0" lang="zh-CN" altLang="en-US" sz="2000" b="1" i="0" u="none" strike="noStrike" kern="0" cap="none" spc="0" normalizeH="0" baseline="0" noProof="0" dirty="0">
                <a:ln>
                  <a:noFill/>
                </a:ln>
                <a:solidFill>
                  <a:srgbClr val="C2228D"/>
                </a:solidFill>
                <a:effectLst/>
                <a:uLnTx/>
                <a:uFillTx/>
                <a:latin typeface="Arial" panose="020B0604020202020204" pitchFamily="34" charset="0"/>
                <a:ea typeface="黑体" panose="02010609060101010101" pitchFamily="49" charset="-122"/>
                <a:cs typeface="+mn-cs"/>
              </a:rPr>
              <a:t> </a:t>
            </a:r>
            <a:r>
              <a:rPr kumimoji="0" lang="en-US" altLang="zh-CN" sz="2000" b="1" i="0" u="none" strike="noStrike" kern="0" cap="none" spc="0" normalizeH="0" baseline="0" noProof="0" dirty="0">
                <a:ln>
                  <a:noFill/>
                </a:ln>
                <a:solidFill>
                  <a:srgbClr val="0033CC"/>
                </a:solidFill>
                <a:effectLst/>
                <a:uLnTx/>
                <a:uFillTx/>
                <a:latin typeface="Arial" panose="020B0604020202020204" pitchFamily="34" charset="0"/>
                <a:ea typeface="黑体" panose="02010609060101010101" pitchFamily="49" charset="-122"/>
                <a:cs typeface="+mn-cs"/>
              </a:rPr>
              <a:t>(</a:t>
            </a:r>
            <a:r>
              <a:rPr kumimoji="0" lang="en-US" altLang="zh-CN"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1</a:t>
            </a:r>
            <a:r>
              <a:rPr kumimoji="0" lang="zh-CN" altLang="zh-CN"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a:t>
            </a:r>
            <a:r>
              <a:rPr kumimoji="0" lang="en-US" altLang="zh-CN"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8</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位 / 2</a:t>
            </a:r>
            <a:r>
              <a:rPr kumimoji="0" lang="zh-CN" altLang="zh-CN"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:16</a:t>
            </a:r>
            <a:r>
              <a:rPr kumimoji="0" lang="zh-CN" altLang="en-US"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位 / 4:32位 / 8:64位</a:t>
            </a:r>
            <a:r>
              <a:rPr kumimoji="0" lang="en-US" altLang="zh-CN"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 </a:t>
            </a:r>
            <a:endParaRPr kumimoji="0" lang="en-US" altLang="zh-CN" sz="2000" b="1" i="0" u="none" strike="noStrike" kern="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0000"/>
              </a:lnSpc>
              <a:spcBef>
                <a:spcPct val="30000"/>
              </a:spcBef>
              <a:spcAft>
                <a:spcPct val="0"/>
              </a:spcAft>
              <a:buClrTx/>
              <a:buSzPct val="75000"/>
              <a:buFont typeface="Monotype Sorts" pitchFamily="2" charset="2"/>
              <a:buNone/>
              <a:defRPr/>
            </a:pPr>
            <a:endParaRPr kumimoji="0" lang="zh-CN" altLang="en-US" sz="2000" b="1" i="0" u="none" strike="noStrike" kern="0" cap="none" spc="0" normalizeH="0" baseline="0" noProof="0" dirty="0">
              <a:ln>
                <a:noFill/>
              </a:ln>
              <a:solidFill>
                <a:schemeClr val="tx1"/>
              </a:solidFill>
              <a:effectLst/>
              <a:uLnTx/>
              <a:uFillTx/>
              <a:latin typeface="Arial" panose="020B0604020202020204" pitchFamily="34" charset="0"/>
              <a:ea typeface="+mn-ea"/>
              <a:cs typeface="+mn-cs"/>
            </a:endParaRPr>
          </a:p>
        </p:txBody>
      </p:sp>
      <p:sp>
        <p:nvSpPr>
          <p:cNvPr id="4" name="Text Box 11"/>
          <p:cNvSpPr txBox="1"/>
          <p:nvPr/>
        </p:nvSpPr>
        <p:spPr>
          <a:xfrm>
            <a:off x="301625" y="6029325"/>
            <a:ext cx="8621713" cy="358775"/>
          </a:xfrm>
          <a:prstGeom prst="rect">
            <a:avLst/>
          </a:prstGeom>
          <a:noFill/>
          <a:ln w="12700">
            <a:noFill/>
          </a:ln>
        </p:spPr>
        <p:txBody>
          <a:bodyPr lIns="63500" tIns="25400" rIns="63500" bIns="25400">
            <a:spAutoFit/>
          </a:bodyPr>
          <a:lstStyle/>
          <a:p>
            <a:pPr>
              <a:spcBef>
                <a:spcPct val="50000"/>
              </a:spcBef>
            </a:pPr>
            <a:r>
              <a:rPr lang="zh-CN" altLang="en-US" sz="2000" dirty="0">
                <a:solidFill>
                  <a:srgbClr val="FF0000"/>
                </a:solidFill>
                <a:latin typeface="Arial" panose="020B0604020202020204" pitchFamily="34" charset="0"/>
                <a:ea typeface="黑体" panose="02010609060101010101" pitchFamily="49" charset="-122"/>
              </a:rPr>
              <a:t>指令“ </a:t>
            </a:r>
            <a:r>
              <a:rPr lang="en-US" altLang="zh-CN" sz="2000" dirty="0">
                <a:solidFill>
                  <a:srgbClr val="FF0000"/>
                </a:solidFill>
                <a:latin typeface="Arial" panose="020B0604020202020204" pitchFamily="34" charset="0"/>
                <a:ea typeface="黑体" panose="02010609060101010101" pitchFamily="49" charset="-122"/>
              </a:rPr>
              <a:t>MOV EAX, ES: [EBP+ESI*8+100]</a:t>
            </a:r>
            <a:r>
              <a:rPr lang="zh-CN" altLang="en-US" sz="2000" dirty="0">
                <a:solidFill>
                  <a:srgbClr val="FF0000"/>
                </a:solidFill>
                <a:latin typeface="Arial" panose="020B0604020202020204" pitchFamily="34" charset="0"/>
                <a:ea typeface="黑体" panose="02010609060101010101" pitchFamily="49" charset="-122"/>
              </a:rPr>
              <a:t>”的含义是什么？</a:t>
            </a:r>
            <a:endParaRPr lang="zh-CN" altLang="en-US" sz="2000" dirty="0">
              <a:solidFill>
                <a:srgbClr val="FF0000"/>
              </a:solidFill>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883">
                                            <p:txEl>
                                              <p:pRg st="1" end="1"/>
                                            </p:txEl>
                                          </p:spTgt>
                                        </p:tgtEl>
                                        <p:attrNameLst>
                                          <p:attrName>style.visibility</p:attrName>
                                        </p:attrNameLst>
                                      </p:cBhvr>
                                      <p:to>
                                        <p:strVal val="visible"/>
                                      </p:to>
                                    </p:set>
                                    <p:animEffect transition="in" filter="blinds(horizontal)">
                                      <p:cBhvr>
                                        <p:cTn id="7" dur="500"/>
                                        <p:tgtEl>
                                          <p:spTgt spid="3788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883">
                                            <p:txEl>
                                              <p:pRg st="2" end="2"/>
                                            </p:txEl>
                                          </p:spTgt>
                                        </p:tgtEl>
                                        <p:attrNameLst>
                                          <p:attrName>style.visibility</p:attrName>
                                        </p:attrNameLst>
                                      </p:cBhvr>
                                      <p:to>
                                        <p:strVal val="visible"/>
                                      </p:to>
                                    </p:set>
                                    <p:animEffect transition="in" filter="blinds(horizontal)">
                                      <p:cBhvr>
                                        <p:cTn id="12" dur="500"/>
                                        <p:tgtEl>
                                          <p:spTgt spid="37888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883">
                                            <p:txEl>
                                              <p:pRg st="3" end="3"/>
                                            </p:txEl>
                                          </p:spTgt>
                                        </p:tgtEl>
                                        <p:attrNameLst>
                                          <p:attrName>style.visibility</p:attrName>
                                        </p:attrNameLst>
                                      </p:cBhvr>
                                      <p:to>
                                        <p:strVal val="visible"/>
                                      </p:to>
                                    </p:set>
                                    <p:animEffect transition="in" filter="blinds(horizontal)">
                                      <p:cBhvr>
                                        <p:cTn id="17" dur="500"/>
                                        <p:tgtEl>
                                          <p:spTgt spid="3788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883">
                                            <p:txEl>
                                              <p:pRg st="4" end="4"/>
                                            </p:txEl>
                                          </p:spTgt>
                                        </p:tgtEl>
                                        <p:attrNameLst>
                                          <p:attrName>style.visibility</p:attrName>
                                        </p:attrNameLst>
                                      </p:cBhvr>
                                      <p:to>
                                        <p:strVal val="visible"/>
                                      </p:to>
                                    </p:set>
                                    <p:animEffect transition="in" filter="blinds(horizontal)">
                                      <p:cBhvr>
                                        <p:cTn id="22" dur="500"/>
                                        <p:tgtEl>
                                          <p:spTgt spid="37888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78883">
                                            <p:txEl>
                                              <p:pRg st="5" end="5"/>
                                            </p:txEl>
                                          </p:spTgt>
                                        </p:tgtEl>
                                        <p:attrNameLst>
                                          <p:attrName>style.visibility</p:attrName>
                                        </p:attrNameLst>
                                      </p:cBhvr>
                                      <p:to>
                                        <p:strVal val="visible"/>
                                      </p:to>
                                    </p:set>
                                    <p:animEffect transition="in" filter="blinds(horizontal)">
                                      <p:cBhvr>
                                        <p:cTn id="27" dur="500"/>
                                        <p:tgtEl>
                                          <p:spTgt spid="37888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78883">
                                            <p:txEl>
                                              <p:pRg st="7" end="7"/>
                                            </p:txEl>
                                          </p:spTgt>
                                        </p:tgtEl>
                                        <p:attrNameLst>
                                          <p:attrName>style.visibility</p:attrName>
                                        </p:attrNameLst>
                                      </p:cBhvr>
                                      <p:to>
                                        <p:strVal val="visible"/>
                                      </p:to>
                                    </p:set>
                                    <p:animEffect transition="in" filter="blinds(horizontal)">
                                      <p:cBhvr>
                                        <p:cTn id="32" dur="500"/>
                                        <p:tgtEl>
                                          <p:spTgt spid="37888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78883">
                                            <p:txEl>
                                              <p:pRg st="8" end="8"/>
                                            </p:txEl>
                                          </p:spTgt>
                                        </p:tgtEl>
                                        <p:attrNameLst>
                                          <p:attrName>style.visibility</p:attrName>
                                        </p:attrNameLst>
                                      </p:cBhvr>
                                      <p:to>
                                        <p:strVal val="visible"/>
                                      </p:to>
                                    </p:set>
                                    <p:animEffect transition="in" filter="blinds(horizontal)">
                                      <p:cBhvr>
                                        <p:cTn id="37" dur="500"/>
                                        <p:tgtEl>
                                          <p:spTgt spid="37888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78883">
                                            <p:txEl>
                                              <p:pRg st="9" end="9"/>
                                            </p:txEl>
                                          </p:spTgt>
                                        </p:tgtEl>
                                        <p:attrNameLst>
                                          <p:attrName>style.visibility</p:attrName>
                                        </p:attrNameLst>
                                      </p:cBhvr>
                                      <p:to>
                                        <p:strVal val="visible"/>
                                      </p:to>
                                    </p:set>
                                    <p:animEffect transition="in" filter="blinds(horizontal)">
                                      <p:cBhvr>
                                        <p:cTn id="42" dur="500"/>
                                        <p:tgtEl>
                                          <p:spTgt spid="37888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78883">
                                            <p:txEl>
                                              <p:pRg st="10" end="10"/>
                                            </p:txEl>
                                          </p:spTgt>
                                        </p:tgtEl>
                                        <p:attrNameLst>
                                          <p:attrName>style.visibility</p:attrName>
                                        </p:attrNameLst>
                                      </p:cBhvr>
                                      <p:to>
                                        <p:strVal val="visible"/>
                                      </p:to>
                                    </p:set>
                                    <p:animEffect transition="in" filter="blinds(horizontal)">
                                      <p:cBhvr>
                                        <p:cTn id="47" dur="500"/>
                                        <p:tgtEl>
                                          <p:spTgt spid="37888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78883">
                                            <p:txEl>
                                              <p:pRg st="11" end="11"/>
                                            </p:txEl>
                                          </p:spTgt>
                                        </p:tgtEl>
                                        <p:attrNameLst>
                                          <p:attrName>style.visibility</p:attrName>
                                        </p:attrNameLst>
                                      </p:cBhvr>
                                      <p:to>
                                        <p:strVal val="visible"/>
                                      </p:to>
                                    </p:set>
                                    <p:animEffect transition="in" filter="blinds(horizontal)">
                                      <p:cBhvr>
                                        <p:cTn id="52" dur="500"/>
                                        <p:tgtEl>
                                          <p:spTgt spid="37888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78883">
                                            <p:txEl>
                                              <p:pRg st="12" end="12"/>
                                            </p:txEl>
                                          </p:spTgt>
                                        </p:tgtEl>
                                        <p:attrNameLst>
                                          <p:attrName>style.visibility</p:attrName>
                                        </p:attrNameLst>
                                      </p:cBhvr>
                                      <p:to>
                                        <p:strVal val="visible"/>
                                      </p:to>
                                    </p:set>
                                    <p:animEffect transition="in" filter="blinds(horizontal)">
                                      <p:cBhvr>
                                        <p:cTn id="57" dur="500"/>
                                        <p:tgtEl>
                                          <p:spTgt spid="37888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linds(horizontal)">
                                      <p:cBhvr>
                                        <p:cTn id="6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457200" y="98425"/>
            <a:ext cx="8229600" cy="425450"/>
          </a:xfrm>
        </p:spPr>
        <p:txBody>
          <a:bodyPr vert="horz" wrap="square" lIns="63500" tIns="25400" rIns="63500" bIns="25400" anchor="t" anchorCtr="0">
            <a:spAutoFit/>
          </a:bodyPr>
          <a:lstStyle/>
          <a:p>
            <a:r>
              <a:rPr lang="zh-CN" altLang="en-US" sz="2800" dirty="0">
                <a:ea typeface="宋体" panose="02010600030101010101" pitchFamily="2" charset="-122"/>
              </a:rPr>
              <a:t>保护模式下的寻址方式</a:t>
            </a:r>
            <a:endParaRPr lang="zh-CN" altLang="en-US" sz="2800" dirty="0">
              <a:ea typeface="宋体" panose="02010600030101010101" pitchFamily="2" charset="-122"/>
            </a:endParaRPr>
          </a:p>
        </p:txBody>
      </p:sp>
      <p:sp>
        <p:nvSpPr>
          <p:cNvPr id="612355" name="Rectangle 3"/>
          <p:cNvSpPr>
            <a:spLocks noGrp="1"/>
          </p:cNvSpPr>
          <p:nvPr>
            <p:ph idx="1"/>
          </p:nvPr>
        </p:nvSpPr>
        <p:spPr>
          <a:xfrm>
            <a:off x="250825" y="5543550"/>
            <a:ext cx="8408988" cy="1268413"/>
          </a:xfrm>
        </p:spPr>
        <p:txBody>
          <a:bodyPr vert="horz" wrap="square" lIns="91440" tIns="45720" rIns="91440" bIns="45720" anchor="t" anchorCtr="0"/>
          <a:lstStyle/>
          <a:p>
            <a:pPr>
              <a:lnSpc>
                <a:spcPct val="100000"/>
              </a:lnSpc>
            </a:pPr>
            <a:r>
              <a:rPr lang="en-US" altLang="zh-CN" dirty="0">
                <a:solidFill>
                  <a:srgbClr val="007635"/>
                </a:solidFill>
                <a:latin typeface="微软雅黑" panose="020B0503020204020204" pitchFamily="34" charset="-122"/>
                <a:ea typeface="微软雅黑" panose="020B0503020204020204" pitchFamily="34" charset="-122"/>
              </a:rPr>
              <a:t>SR</a:t>
            </a:r>
            <a:r>
              <a:rPr lang="zh-CN" altLang="en-US" dirty="0">
                <a:solidFill>
                  <a:srgbClr val="007635"/>
                </a:solidFill>
                <a:latin typeface="微软雅黑" panose="020B0503020204020204" pitchFamily="34" charset="-122"/>
                <a:ea typeface="微软雅黑" panose="020B0503020204020204" pitchFamily="34" charset="-122"/>
              </a:rPr>
              <a:t>段寄存器（间接）确定操作数所在段的</a:t>
            </a:r>
            <a:r>
              <a:rPr lang="zh-CN" altLang="en-US" dirty="0">
                <a:solidFill>
                  <a:srgbClr val="FF3300"/>
                </a:solidFill>
                <a:latin typeface="微软雅黑" panose="020B0503020204020204" pitchFamily="34" charset="-122"/>
                <a:ea typeface="微软雅黑" panose="020B0503020204020204" pitchFamily="34" charset="-122"/>
              </a:rPr>
              <a:t>段基址</a:t>
            </a:r>
            <a:endParaRPr lang="zh-CN" altLang="en-US" dirty="0">
              <a:solidFill>
                <a:srgbClr val="FF3300"/>
              </a:solidFill>
              <a:latin typeface="微软雅黑" panose="020B0503020204020204" pitchFamily="34" charset="-122"/>
              <a:ea typeface="微软雅黑" panose="020B0503020204020204" pitchFamily="34" charset="-122"/>
            </a:endParaRPr>
          </a:p>
          <a:p>
            <a:pPr>
              <a:lnSpc>
                <a:spcPct val="100000"/>
              </a:lnSpc>
            </a:pPr>
            <a:r>
              <a:rPr lang="zh-CN" altLang="en-US" dirty="0">
                <a:solidFill>
                  <a:srgbClr val="FF3300"/>
                </a:solidFill>
                <a:latin typeface="微软雅黑" panose="020B0503020204020204" pitchFamily="34" charset="-122"/>
                <a:ea typeface="微软雅黑" panose="020B0503020204020204" pitchFamily="34" charset="-122"/>
              </a:rPr>
              <a:t>有效地址</a:t>
            </a:r>
            <a:r>
              <a:rPr lang="zh-CN" altLang="en-US" dirty="0">
                <a:solidFill>
                  <a:srgbClr val="007635"/>
                </a:solidFill>
                <a:latin typeface="微软雅黑" panose="020B0503020204020204" pitchFamily="34" charset="-122"/>
                <a:ea typeface="微软雅黑" panose="020B0503020204020204" pitchFamily="34" charset="-122"/>
              </a:rPr>
              <a:t>给出操作数在所在段的偏移地址</a:t>
            </a:r>
            <a:endParaRPr lang="zh-CN" altLang="en-US" dirty="0">
              <a:solidFill>
                <a:srgbClr val="007635"/>
              </a:solidFill>
              <a:latin typeface="微软雅黑" panose="020B0503020204020204" pitchFamily="34" charset="-122"/>
              <a:ea typeface="微软雅黑" panose="020B0503020204020204" pitchFamily="34" charset="-122"/>
            </a:endParaRPr>
          </a:p>
          <a:p>
            <a:pPr>
              <a:lnSpc>
                <a:spcPct val="100000"/>
              </a:lnSpc>
            </a:pPr>
            <a:r>
              <a:rPr lang="zh-CN" altLang="en-US" dirty="0">
                <a:solidFill>
                  <a:srgbClr val="007635"/>
                </a:solidFill>
                <a:latin typeface="微软雅黑" panose="020B0503020204020204" pitchFamily="34" charset="-122"/>
                <a:ea typeface="微软雅黑" panose="020B0503020204020204" pitchFamily="34" charset="-122"/>
              </a:rPr>
              <a:t>寻址过程涉及到“</a:t>
            </a:r>
            <a:r>
              <a:rPr lang="zh-CN" altLang="en-US" dirty="0">
                <a:solidFill>
                  <a:srgbClr val="FF3300"/>
                </a:solidFill>
                <a:latin typeface="微软雅黑" panose="020B0503020204020204" pitchFamily="34" charset="-122"/>
                <a:ea typeface="微软雅黑" panose="020B0503020204020204" pitchFamily="34" charset="-122"/>
              </a:rPr>
              <a:t>分段虚拟管理方式</a:t>
            </a:r>
            <a:r>
              <a:rPr lang="zh-CN" altLang="en-US" dirty="0">
                <a:solidFill>
                  <a:srgbClr val="007635"/>
                </a:solidFill>
                <a:latin typeface="微软雅黑" panose="020B0503020204020204" pitchFamily="34" charset="-122"/>
                <a:ea typeface="微软雅黑" panose="020B0503020204020204" pitchFamily="34" charset="-122"/>
              </a:rPr>
              <a:t>”，将在第</a:t>
            </a:r>
            <a:r>
              <a:rPr lang="en-US" altLang="zh-CN" dirty="0">
                <a:solidFill>
                  <a:srgbClr val="007635"/>
                </a:solidFill>
                <a:latin typeface="微软雅黑" panose="020B0503020204020204" pitchFamily="34" charset="-122"/>
                <a:ea typeface="微软雅黑" panose="020B0503020204020204" pitchFamily="34" charset="-122"/>
              </a:rPr>
              <a:t>7</a:t>
            </a:r>
            <a:r>
              <a:rPr lang="zh-CN" altLang="en-US" dirty="0">
                <a:solidFill>
                  <a:srgbClr val="007635"/>
                </a:solidFill>
                <a:latin typeface="微软雅黑" panose="020B0503020204020204" pitchFamily="34" charset="-122"/>
                <a:ea typeface="微软雅黑" panose="020B0503020204020204" pitchFamily="34" charset="-122"/>
              </a:rPr>
              <a:t>章讨论</a:t>
            </a:r>
            <a:endParaRPr lang="zh-CN" altLang="en-US" sz="2200" dirty="0">
              <a:solidFill>
                <a:srgbClr val="007635"/>
              </a:solidFill>
              <a:latin typeface="微软雅黑" panose="020B0503020204020204" pitchFamily="34" charset="-122"/>
              <a:ea typeface="微软雅黑" panose="020B0503020204020204" pitchFamily="34" charset="-122"/>
            </a:endParaRPr>
          </a:p>
        </p:txBody>
      </p:sp>
      <p:pic>
        <p:nvPicPr>
          <p:cNvPr id="49156" name="Picture 4"/>
          <p:cNvPicPr>
            <a:picLocks noChangeAspect="1"/>
          </p:cNvPicPr>
          <p:nvPr/>
        </p:nvPicPr>
        <p:blipFill>
          <a:blip r:embed="rId1"/>
          <a:stretch>
            <a:fillRect/>
          </a:stretch>
        </p:blipFill>
        <p:spPr>
          <a:xfrm>
            <a:off x="90488" y="728663"/>
            <a:ext cx="8982075" cy="4816475"/>
          </a:xfrm>
          <a:prstGeom prst="rect">
            <a:avLst/>
          </a:prstGeom>
          <a:noFill/>
          <a:ln w="9525">
            <a:noFill/>
          </a:ln>
        </p:spPr>
      </p:pic>
      <p:sp>
        <p:nvSpPr>
          <p:cNvPr id="612357" name="Rectangle 5"/>
          <p:cNvSpPr/>
          <p:nvPr/>
        </p:nvSpPr>
        <p:spPr>
          <a:xfrm>
            <a:off x="161925" y="1943100"/>
            <a:ext cx="8596313" cy="2249488"/>
          </a:xfrm>
          <a:prstGeom prst="rect">
            <a:avLst/>
          </a:prstGeom>
          <a:solidFill>
            <a:schemeClr val="accent1">
              <a:alpha val="27058"/>
            </a:scheme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612358" name="Rectangle 6"/>
          <p:cNvSpPr/>
          <p:nvPr/>
        </p:nvSpPr>
        <p:spPr>
          <a:xfrm>
            <a:off x="161925" y="4194175"/>
            <a:ext cx="8596313" cy="360363"/>
          </a:xfrm>
          <a:prstGeom prst="rect">
            <a:avLst/>
          </a:prstGeom>
          <a:solidFill>
            <a:srgbClr val="FF3300">
              <a:alpha val="25098"/>
            </a:srgb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nvGrpSpPr>
          <p:cNvPr id="612362" name="Group 10"/>
          <p:cNvGrpSpPr/>
          <p:nvPr/>
        </p:nvGrpSpPr>
        <p:grpSpPr>
          <a:xfrm>
            <a:off x="1466850" y="1943100"/>
            <a:ext cx="6254750" cy="4005263"/>
            <a:chOff x="924" y="1224"/>
            <a:chExt cx="3940" cy="2523"/>
          </a:xfrm>
        </p:grpSpPr>
        <p:sp>
          <p:nvSpPr>
            <p:cNvPr id="49167" name="Rectangle 8"/>
            <p:cNvSpPr/>
            <p:nvPr/>
          </p:nvSpPr>
          <p:spPr>
            <a:xfrm>
              <a:off x="3447" y="1224"/>
              <a:ext cx="1417" cy="1417"/>
            </a:xfrm>
            <a:prstGeom prst="rect">
              <a:avLst/>
            </a:prstGeom>
            <a:solidFill>
              <a:srgbClr val="800080">
                <a:alpha val="16862"/>
              </a:srgb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49168" name="Line 9"/>
            <p:cNvSpPr/>
            <p:nvPr/>
          </p:nvSpPr>
          <p:spPr>
            <a:xfrm flipV="1">
              <a:off x="924" y="2641"/>
              <a:ext cx="2977" cy="1106"/>
            </a:xfrm>
            <a:prstGeom prst="line">
              <a:avLst/>
            </a:prstGeom>
            <a:ln w="38100" cap="flat" cmpd="sng">
              <a:solidFill>
                <a:srgbClr val="FF3300"/>
              </a:solidFill>
              <a:prstDash val="solid"/>
              <a:headEnd type="none" w="med" len="med"/>
              <a:tailEnd type="triangle" w="med" len="med"/>
            </a:ln>
          </p:spPr>
        </p:sp>
      </p:grpSp>
      <p:grpSp>
        <p:nvGrpSpPr>
          <p:cNvPr id="612365" name="Group 13"/>
          <p:cNvGrpSpPr/>
          <p:nvPr/>
        </p:nvGrpSpPr>
        <p:grpSpPr>
          <a:xfrm>
            <a:off x="4616450" y="1943100"/>
            <a:ext cx="1169988" cy="3735388"/>
            <a:chOff x="2908" y="1224"/>
            <a:chExt cx="737" cy="2297"/>
          </a:xfrm>
        </p:grpSpPr>
        <p:sp>
          <p:nvSpPr>
            <p:cNvPr id="49165" name="Line 11"/>
            <p:cNvSpPr/>
            <p:nvPr/>
          </p:nvSpPr>
          <p:spPr>
            <a:xfrm flipH="1" flipV="1">
              <a:off x="3249" y="2557"/>
              <a:ext cx="396" cy="964"/>
            </a:xfrm>
            <a:prstGeom prst="line">
              <a:avLst/>
            </a:prstGeom>
            <a:ln w="38100" cap="flat" cmpd="sng">
              <a:solidFill>
                <a:srgbClr val="FF3300"/>
              </a:solidFill>
              <a:prstDash val="solid"/>
              <a:headEnd type="none" w="med" len="med"/>
              <a:tailEnd type="triangle" w="med" len="med"/>
            </a:ln>
          </p:spPr>
        </p:sp>
        <p:sp>
          <p:nvSpPr>
            <p:cNvPr id="49166" name="Rectangle 12"/>
            <p:cNvSpPr/>
            <p:nvPr/>
          </p:nvSpPr>
          <p:spPr>
            <a:xfrm>
              <a:off x="2908" y="1224"/>
              <a:ext cx="426" cy="1361"/>
            </a:xfrm>
            <a:prstGeom prst="rect">
              <a:avLst/>
            </a:prstGeom>
            <a:solidFill>
              <a:srgbClr val="800080">
                <a:alpha val="25098"/>
              </a:srgbClr>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grpSp>
      <p:grpSp>
        <p:nvGrpSpPr>
          <p:cNvPr id="612369" name="Group 17"/>
          <p:cNvGrpSpPr/>
          <p:nvPr/>
        </p:nvGrpSpPr>
        <p:grpSpPr>
          <a:xfrm>
            <a:off x="7812088" y="2033588"/>
            <a:ext cx="765175" cy="2055812"/>
            <a:chOff x="4921" y="1281"/>
            <a:chExt cx="482" cy="1295"/>
          </a:xfrm>
        </p:grpSpPr>
        <p:sp>
          <p:nvSpPr>
            <p:cNvPr id="49163" name="AutoShape 14"/>
            <p:cNvSpPr/>
            <p:nvPr/>
          </p:nvSpPr>
          <p:spPr>
            <a:xfrm>
              <a:off x="4921" y="1281"/>
              <a:ext cx="114" cy="1276"/>
            </a:xfrm>
            <a:prstGeom prst="rightBrace">
              <a:avLst>
                <a:gd name="adj1" fmla="val 93274"/>
                <a:gd name="adj2" fmla="val 50000"/>
              </a:avLst>
            </a:prstGeom>
            <a:noFill/>
            <a:ln w="38100" cap="flat" cmpd="sng">
              <a:solidFill>
                <a:srgbClr val="FF3300"/>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49164" name="Text Box 15"/>
            <p:cNvSpPr txBox="1"/>
            <p:nvPr/>
          </p:nvSpPr>
          <p:spPr>
            <a:xfrm>
              <a:off x="5063" y="1366"/>
              <a:ext cx="340" cy="1210"/>
            </a:xfrm>
            <a:prstGeom prst="rect">
              <a:avLst/>
            </a:prstGeom>
            <a:solidFill>
              <a:schemeClr val="bg1"/>
            </a:solidFill>
            <a:ln w="9525">
              <a:noFill/>
            </a:ln>
          </p:spPr>
          <p:txBody>
            <a:bodyPr>
              <a:spAutoFit/>
            </a:bodyPr>
            <a:lstStyle/>
            <a:p>
              <a:pPr eaLnBrk="1" hangingPunct="1">
                <a:spcBef>
                  <a:spcPct val="50000"/>
                </a:spcBef>
              </a:pPr>
              <a:r>
                <a:rPr lang="zh-CN" altLang="en-US" sz="2000" dirty="0">
                  <a:latin typeface="微软雅黑" panose="020B0503020204020204" pitchFamily="34" charset="-122"/>
                  <a:ea typeface="微软雅黑" panose="020B0503020204020204" pitchFamily="34" charset="-122"/>
                </a:rPr>
                <a:t>存储器操作数</a:t>
              </a:r>
              <a:endParaRPr lang="zh-CN" altLang="en-US" sz="2000" dirty="0">
                <a:latin typeface="微软雅黑" panose="020B0503020204020204" pitchFamily="34" charset="-122"/>
                <a:ea typeface="微软雅黑" panose="020B0503020204020204" pitchFamily="34" charset="-122"/>
              </a:endParaRPr>
            </a:p>
          </p:txBody>
        </p:sp>
      </p:grpSp>
      <p:sp>
        <p:nvSpPr>
          <p:cNvPr id="612368" name="Text Box 16"/>
          <p:cNvSpPr txBox="1"/>
          <p:nvPr/>
        </p:nvSpPr>
        <p:spPr>
          <a:xfrm>
            <a:off x="6192838" y="4194175"/>
            <a:ext cx="2519362" cy="381000"/>
          </a:xfrm>
          <a:prstGeom prst="rect">
            <a:avLst/>
          </a:prstGeom>
          <a:noFill/>
          <a:ln w="9525">
            <a:noFill/>
          </a:ln>
        </p:spPr>
        <p:txBody>
          <a:bodyPr>
            <a:spAutoFit/>
          </a:bodyPr>
          <a:lstStyle/>
          <a:p>
            <a:pPr eaLnBrk="1" hangingPunct="1">
              <a:spcBef>
                <a:spcPct val="50000"/>
              </a:spcBef>
            </a:pPr>
            <a:r>
              <a:rPr lang="zh-CN" altLang="en-US" sz="1900" dirty="0">
                <a:solidFill>
                  <a:srgbClr val="007635"/>
                </a:solidFill>
                <a:latin typeface="Arial" panose="020B0604020202020204" pitchFamily="34" charset="0"/>
              </a:rPr>
              <a:t>跳转目标指令地址</a:t>
            </a:r>
            <a:endParaRPr lang="zh-CN" altLang="en-US" sz="1900" dirty="0">
              <a:solidFill>
                <a:srgbClr val="007635"/>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2357"/>
                                        </p:tgtEl>
                                        <p:attrNameLst>
                                          <p:attrName>style.visibility</p:attrName>
                                        </p:attrNameLst>
                                      </p:cBhvr>
                                      <p:to>
                                        <p:strVal val="visible"/>
                                      </p:to>
                                    </p:set>
                                    <p:animEffect transition="in" filter="blinds(horizontal)">
                                      <p:cBhvr>
                                        <p:cTn id="7" dur="500"/>
                                        <p:tgtEl>
                                          <p:spTgt spid="61235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2369"/>
                                        </p:tgtEl>
                                        <p:attrNameLst>
                                          <p:attrName>style.visibility</p:attrName>
                                        </p:attrNameLst>
                                      </p:cBhvr>
                                      <p:to>
                                        <p:strVal val="visible"/>
                                      </p:to>
                                    </p:set>
                                    <p:animEffect transition="in" filter="blinds(horizontal)">
                                      <p:cBhvr>
                                        <p:cTn id="12" dur="500"/>
                                        <p:tgtEl>
                                          <p:spTgt spid="61236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2355">
                                            <p:txEl>
                                              <p:pRg st="0" end="0"/>
                                            </p:txEl>
                                          </p:spTgt>
                                        </p:tgtEl>
                                        <p:attrNameLst>
                                          <p:attrName>style.visibility</p:attrName>
                                        </p:attrNameLst>
                                      </p:cBhvr>
                                      <p:to>
                                        <p:strVal val="visible"/>
                                      </p:to>
                                    </p:set>
                                    <p:animEffect transition="in" filter="blinds(horizontal)">
                                      <p:cBhvr>
                                        <p:cTn id="17" dur="500"/>
                                        <p:tgtEl>
                                          <p:spTgt spid="61235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2365"/>
                                        </p:tgtEl>
                                        <p:attrNameLst>
                                          <p:attrName>style.visibility</p:attrName>
                                        </p:attrNameLst>
                                      </p:cBhvr>
                                      <p:to>
                                        <p:strVal val="visible"/>
                                      </p:to>
                                    </p:set>
                                    <p:animEffect transition="in" filter="blinds(horizontal)">
                                      <p:cBhvr>
                                        <p:cTn id="22" dur="500"/>
                                        <p:tgtEl>
                                          <p:spTgt spid="61236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2355">
                                            <p:txEl>
                                              <p:pRg st="1" end="1"/>
                                            </p:txEl>
                                          </p:spTgt>
                                        </p:tgtEl>
                                        <p:attrNameLst>
                                          <p:attrName>style.visibility</p:attrName>
                                        </p:attrNameLst>
                                      </p:cBhvr>
                                      <p:to>
                                        <p:strVal val="visible"/>
                                      </p:to>
                                    </p:set>
                                    <p:animEffect transition="in" filter="blinds(horizontal)">
                                      <p:cBhvr>
                                        <p:cTn id="27" dur="500"/>
                                        <p:tgtEl>
                                          <p:spTgt spid="61235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2362"/>
                                        </p:tgtEl>
                                        <p:attrNameLst>
                                          <p:attrName>style.visibility</p:attrName>
                                        </p:attrNameLst>
                                      </p:cBhvr>
                                      <p:to>
                                        <p:strVal val="visible"/>
                                      </p:to>
                                    </p:set>
                                    <p:animEffect transition="in" filter="blinds(horizontal)">
                                      <p:cBhvr>
                                        <p:cTn id="32" dur="500"/>
                                        <p:tgtEl>
                                          <p:spTgt spid="61236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12355">
                                            <p:txEl>
                                              <p:pRg st="2" end="2"/>
                                            </p:txEl>
                                          </p:spTgt>
                                        </p:tgtEl>
                                        <p:attrNameLst>
                                          <p:attrName>style.visibility</p:attrName>
                                        </p:attrNameLst>
                                      </p:cBhvr>
                                      <p:to>
                                        <p:strVal val="visible"/>
                                      </p:to>
                                    </p:set>
                                    <p:animEffect transition="in" filter="blinds(horizontal)">
                                      <p:cBhvr>
                                        <p:cTn id="37" dur="500"/>
                                        <p:tgtEl>
                                          <p:spTgt spid="61235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2358"/>
                                        </p:tgtEl>
                                        <p:attrNameLst>
                                          <p:attrName>style.visibility</p:attrName>
                                        </p:attrNameLst>
                                      </p:cBhvr>
                                      <p:to>
                                        <p:strVal val="visible"/>
                                      </p:to>
                                    </p:set>
                                    <p:animEffect transition="in" filter="blinds(horizontal)">
                                      <p:cBhvr>
                                        <p:cTn id="42" dur="500"/>
                                        <p:tgtEl>
                                          <p:spTgt spid="612358"/>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612368"/>
                                        </p:tgtEl>
                                        <p:attrNameLst>
                                          <p:attrName>style.visibility</p:attrName>
                                        </p:attrNameLst>
                                      </p:cBhvr>
                                      <p:to>
                                        <p:strVal val="visible"/>
                                      </p:to>
                                    </p:set>
                                    <p:animEffect transition="in" filter="blinds(horizontal)">
                                      <p:cBhvr>
                                        <p:cTn id="47" dur="500"/>
                                        <p:tgtEl>
                                          <p:spTgt spid="612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357" grpId="0" animBg="1"/>
      <p:bldP spid="612358" grpId="0" animBg="1"/>
      <p:bldP spid="61236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p:cNvSpPr>
          <p:nvPr>
            <p:ph type="title"/>
          </p:nvPr>
        </p:nvSpPr>
        <p:spPr>
          <a:xfrm>
            <a:off x="457200" y="98425"/>
            <a:ext cx="8229600" cy="425450"/>
          </a:xfrm>
        </p:spPr>
        <p:txBody>
          <a:bodyPr vert="horz" wrap="square" lIns="63500" tIns="25400" rIns="63500" bIns="25400" anchor="t" anchorCtr="0">
            <a:spAutoFit/>
          </a:bodyPr>
          <a:lstStyle/>
          <a:p>
            <a:r>
              <a:rPr lang="zh-CN" altLang="en-US" sz="2800" dirty="0">
                <a:ea typeface="宋体" panose="02010600030101010101" pitchFamily="2" charset="-122"/>
              </a:rPr>
              <a:t>存储器操作数的寻址方式</a:t>
            </a:r>
            <a:endParaRPr lang="zh-CN" altLang="en-US" sz="2800" dirty="0">
              <a:ea typeface="宋体" panose="02010600030101010101" pitchFamily="2" charset="-122"/>
            </a:endParaRPr>
          </a:p>
        </p:txBody>
      </p:sp>
      <p:sp>
        <p:nvSpPr>
          <p:cNvPr id="615427" name="Rectangle 3"/>
          <p:cNvSpPr>
            <a:spLocks noGrp="1"/>
          </p:cNvSpPr>
          <p:nvPr>
            <p:ph idx="1"/>
          </p:nvPr>
        </p:nvSpPr>
        <p:spPr>
          <a:xfrm>
            <a:off x="468313" y="684213"/>
            <a:ext cx="3113087" cy="2278062"/>
          </a:xfrm>
        </p:spPr>
        <p:txBody>
          <a:bodyPr vert="horz" wrap="square" lIns="91440" tIns="45720" rIns="91440" bIns="45720" anchor="t" anchorCtr="0"/>
          <a:lstStyle/>
          <a:p>
            <a:pPr>
              <a:lnSpc>
                <a:spcPct val="100000"/>
              </a:lnSpc>
              <a:buFontTx/>
              <a:buNone/>
            </a:pPr>
            <a:r>
              <a:rPr lang="en-US" altLang="zh-CN" dirty="0">
                <a:latin typeface="微软雅黑" panose="020B0503020204020204" pitchFamily="34" charset="-122"/>
                <a:ea typeface="微软雅黑" panose="020B0503020204020204" pitchFamily="34" charset="-122"/>
              </a:rPr>
              <a:t>int x</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100000"/>
              </a:lnSpc>
              <a:buFontTx/>
              <a:buNone/>
            </a:pPr>
            <a:r>
              <a:rPr lang="en-US" altLang="zh-CN" dirty="0">
                <a:latin typeface="微软雅黑" panose="020B0503020204020204" pitchFamily="34" charset="-122"/>
                <a:ea typeface="微软雅黑" panose="020B0503020204020204" pitchFamily="34" charset="-122"/>
              </a:rPr>
              <a:t>float a[100];</a:t>
            </a:r>
            <a:endParaRPr lang="en-US" altLang="zh-CN" dirty="0">
              <a:latin typeface="微软雅黑" panose="020B0503020204020204" pitchFamily="34" charset="-122"/>
              <a:ea typeface="微软雅黑" panose="020B0503020204020204" pitchFamily="34" charset="-122"/>
            </a:endParaRPr>
          </a:p>
          <a:p>
            <a:pPr>
              <a:lnSpc>
                <a:spcPct val="100000"/>
              </a:lnSpc>
              <a:buFontTx/>
              <a:buNone/>
            </a:pPr>
            <a:r>
              <a:rPr lang="en-US" altLang="zh-CN" dirty="0">
                <a:latin typeface="微软雅黑" panose="020B0503020204020204" pitchFamily="34" charset="-122"/>
                <a:ea typeface="微软雅黑" panose="020B0503020204020204" pitchFamily="34" charset="-122"/>
              </a:rPr>
              <a:t>short b[4][4];</a:t>
            </a:r>
            <a:endParaRPr lang="en-US" altLang="zh-CN" dirty="0">
              <a:latin typeface="微软雅黑" panose="020B0503020204020204" pitchFamily="34" charset="-122"/>
              <a:ea typeface="微软雅黑" panose="020B0503020204020204" pitchFamily="34" charset="-122"/>
            </a:endParaRPr>
          </a:p>
          <a:p>
            <a:pPr>
              <a:lnSpc>
                <a:spcPct val="100000"/>
              </a:lnSpc>
              <a:buFontTx/>
              <a:buNone/>
            </a:pPr>
            <a:r>
              <a:rPr lang="en-US" altLang="zh-CN" dirty="0">
                <a:latin typeface="微软雅黑" panose="020B0503020204020204" pitchFamily="34" charset="-122"/>
                <a:ea typeface="微软雅黑" panose="020B0503020204020204" pitchFamily="34" charset="-122"/>
              </a:rPr>
              <a:t>char c;</a:t>
            </a:r>
            <a:endParaRPr lang="en-US" altLang="zh-CN" dirty="0">
              <a:latin typeface="微软雅黑" panose="020B0503020204020204" pitchFamily="34" charset="-122"/>
              <a:ea typeface="微软雅黑" panose="020B0503020204020204" pitchFamily="34" charset="-122"/>
            </a:endParaRPr>
          </a:p>
          <a:p>
            <a:pPr>
              <a:lnSpc>
                <a:spcPct val="100000"/>
              </a:lnSpc>
              <a:buFontTx/>
              <a:buNone/>
            </a:pPr>
            <a:r>
              <a:rPr lang="en-US" altLang="zh-CN" dirty="0">
                <a:latin typeface="微软雅黑" panose="020B0503020204020204" pitchFamily="34" charset="-122"/>
                <a:ea typeface="微软雅黑" panose="020B0503020204020204" pitchFamily="34" charset="-122"/>
              </a:rPr>
              <a:t>double d[10];</a:t>
            </a:r>
            <a:r>
              <a:rPr lang="en-US" altLang="zh-CN" dirty="0"/>
              <a:t> </a:t>
            </a:r>
            <a:endParaRPr lang="en-US" altLang="zh-CN" dirty="0"/>
          </a:p>
        </p:txBody>
      </p:sp>
      <p:sp>
        <p:nvSpPr>
          <p:cNvPr id="615428" name="Text Box 4"/>
          <p:cNvSpPr txBox="1"/>
          <p:nvPr/>
        </p:nvSpPr>
        <p:spPr>
          <a:xfrm>
            <a:off x="250825" y="3013075"/>
            <a:ext cx="4275138" cy="3444875"/>
          </a:xfrm>
          <a:prstGeom prst="rect">
            <a:avLst/>
          </a:prstGeom>
          <a:noFill/>
          <a:ln w="9525">
            <a:noFill/>
          </a:ln>
        </p:spPr>
        <p:txBody>
          <a:bodyPr>
            <a:spAutoFit/>
          </a:bodyPr>
          <a:lstStyle/>
          <a:p>
            <a:pPr eaLnBrk="1" hangingPunct="1">
              <a:spcBef>
                <a:spcPct val="5000"/>
              </a:spcBef>
            </a:pPr>
            <a:r>
              <a:rPr lang="en-US" altLang="zh-CN" sz="2200" dirty="0">
                <a:solidFill>
                  <a:srgbClr val="CC3300"/>
                </a:solidFill>
                <a:latin typeface="微软雅黑" panose="020B0503020204020204" pitchFamily="34" charset="-122"/>
                <a:ea typeface="微软雅黑" panose="020B0503020204020204" pitchFamily="34" charset="-122"/>
              </a:rPr>
              <a:t>a[i]</a:t>
            </a:r>
            <a:r>
              <a:rPr lang="zh-CN" altLang="en-US" sz="2200" dirty="0">
                <a:solidFill>
                  <a:srgbClr val="CC3300"/>
                </a:solidFill>
                <a:latin typeface="微软雅黑" panose="020B0503020204020204" pitchFamily="34" charset="-122"/>
                <a:ea typeface="微软雅黑" panose="020B0503020204020204" pitchFamily="34" charset="-122"/>
              </a:rPr>
              <a:t>的地址如何计算？</a:t>
            </a:r>
            <a:endParaRPr lang="zh-CN" altLang="en-US" sz="2200" dirty="0">
              <a:solidFill>
                <a:srgbClr val="CC3300"/>
              </a:solidFill>
              <a:latin typeface="微软雅黑" panose="020B0503020204020204" pitchFamily="34" charset="-122"/>
              <a:ea typeface="微软雅黑" panose="020B0503020204020204" pitchFamily="34" charset="-122"/>
            </a:endParaRPr>
          </a:p>
          <a:p>
            <a:pPr eaLnBrk="1" hangingPunct="1">
              <a:spcBef>
                <a:spcPct val="5000"/>
              </a:spcBef>
            </a:pPr>
            <a:r>
              <a:rPr lang="en-US" altLang="zh-CN" sz="2200" dirty="0">
                <a:solidFill>
                  <a:srgbClr val="008000"/>
                </a:solidFill>
                <a:latin typeface="微软雅黑" panose="020B0503020204020204" pitchFamily="34" charset="-122"/>
                <a:ea typeface="微软雅黑" panose="020B0503020204020204" pitchFamily="34" charset="-122"/>
              </a:rPr>
              <a:t>104</a:t>
            </a:r>
            <a:r>
              <a:rPr lang="en-US" altLang="zh-CN" sz="2200" dirty="0">
                <a:latin typeface="微软雅黑" panose="020B0503020204020204" pitchFamily="34" charset="-122"/>
                <a:ea typeface="微软雅黑" panose="020B0503020204020204" pitchFamily="34" charset="-122"/>
              </a:rPr>
              <a:t>+i×</a:t>
            </a:r>
            <a:r>
              <a:rPr lang="en-US" altLang="zh-CN" sz="2200" dirty="0">
                <a:solidFill>
                  <a:srgbClr val="FF3300"/>
                </a:solidFill>
                <a:latin typeface="微软雅黑" panose="020B0503020204020204" pitchFamily="34" charset="-122"/>
                <a:ea typeface="微软雅黑" panose="020B0503020204020204" pitchFamily="34" charset="-122"/>
              </a:rPr>
              <a:t>4</a:t>
            </a:r>
            <a:endParaRPr lang="en-US" altLang="zh-CN" sz="2200" dirty="0">
              <a:solidFill>
                <a:srgbClr val="FF3300"/>
              </a:solidFill>
              <a:latin typeface="微软雅黑" panose="020B0503020204020204" pitchFamily="34" charset="-122"/>
              <a:ea typeface="微软雅黑" panose="020B0503020204020204" pitchFamily="34" charset="-122"/>
            </a:endParaRPr>
          </a:p>
          <a:p>
            <a:pPr eaLnBrk="1" hangingPunct="1">
              <a:spcBef>
                <a:spcPct val="5000"/>
              </a:spcBef>
            </a:pPr>
            <a:r>
              <a:rPr lang="en-US" altLang="zh-CN" sz="2200" dirty="0">
                <a:latin typeface="微软雅黑" panose="020B0503020204020204" pitchFamily="34" charset="-122"/>
                <a:ea typeface="微软雅黑" panose="020B0503020204020204" pitchFamily="34" charset="-122"/>
              </a:rPr>
              <a:t>i=99</a:t>
            </a:r>
            <a:r>
              <a:rPr lang="zh-CN" altLang="en-US" sz="2200" dirty="0">
                <a:latin typeface="微软雅黑" panose="020B0503020204020204" pitchFamily="34" charset="-122"/>
                <a:ea typeface="微软雅黑" panose="020B0503020204020204" pitchFamily="34" charset="-122"/>
              </a:rPr>
              <a:t>时，</a:t>
            </a:r>
            <a:r>
              <a:rPr lang="en-US" altLang="zh-CN" sz="2200" dirty="0">
                <a:latin typeface="微软雅黑" panose="020B0503020204020204" pitchFamily="34" charset="-122"/>
                <a:ea typeface="微软雅黑" panose="020B0503020204020204" pitchFamily="34" charset="-122"/>
              </a:rPr>
              <a:t>104+99×4=500</a:t>
            </a:r>
            <a:endParaRPr lang="en-US" altLang="zh-CN" sz="2200" dirty="0">
              <a:latin typeface="微软雅黑" panose="020B0503020204020204" pitchFamily="34" charset="-122"/>
              <a:ea typeface="微软雅黑" panose="020B0503020204020204" pitchFamily="34" charset="-122"/>
            </a:endParaRPr>
          </a:p>
          <a:p>
            <a:pPr eaLnBrk="1" hangingPunct="1">
              <a:spcBef>
                <a:spcPct val="30000"/>
              </a:spcBef>
            </a:pPr>
            <a:r>
              <a:rPr lang="en-US" altLang="zh-CN" sz="2200" dirty="0">
                <a:solidFill>
                  <a:srgbClr val="CC3300"/>
                </a:solidFill>
                <a:latin typeface="微软雅黑" panose="020B0503020204020204" pitchFamily="34" charset="-122"/>
                <a:ea typeface="微软雅黑" panose="020B0503020204020204" pitchFamily="34" charset="-122"/>
              </a:rPr>
              <a:t>b[i][j]</a:t>
            </a:r>
            <a:r>
              <a:rPr lang="zh-CN" altLang="en-US" sz="2200" dirty="0">
                <a:solidFill>
                  <a:srgbClr val="CC3300"/>
                </a:solidFill>
                <a:latin typeface="微软雅黑" panose="020B0503020204020204" pitchFamily="34" charset="-122"/>
                <a:ea typeface="微软雅黑" panose="020B0503020204020204" pitchFamily="34" charset="-122"/>
              </a:rPr>
              <a:t>的地址如何计算？</a:t>
            </a:r>
            <a:endParaRPr lang="zh-CN" altLang="en-US" sz="2200" dirty="0">
              <a:solidFill>
                <a:srgbClr val="CC3300"/>
              </a:solidFill>
              <a:latin typeface="微软雅黑" panose="020B0503020204020204" pitchFamily="34" charset="-122"/>
              <a:ea typeface="微软雅黑" panose="020B0503020204020204" pitchFamily="34" charset="-122"/>
            </a:endParaRPr>
          </a:p>
          <a:p>
            <a:pPr eaLnBrk="1" hangingPunct="1">
              <a:spcBef>
                <a:spcPct val="5000"/>
              </a:spcBef>
            </a:pPr>
            <a:r>
              <a:rPr lang="en-US" altLang="zh-CN" sz="2200" dirty="0">
                <a:solidFill>
                  <a:srgbClr val="008000"/>
                </a:solidFill>
                <a:latin typeface="微软雅黑" panose="020B0503020204020204" pitchFamily="34" charset="-122"/>
                <a:ea typeface="微软雅黑" panose="020B0503020204020204" pitchFamily="34" charset="-122"/>
              </a:rPr>
              <a:t>504</a:t>
            </a:r>
            <a:r>
              <a:rPr lang="en-US" altLang="zh-CN" sz="2200" dirty="0">
                <a:latin typeface="微软雅黑" panose="020B0503020204020204" pitchFamily="34" charset="-122"/>
                <a:ea typeface="微软雅黑" panose="020B0503020204020204" pitchFamily="34" charset="-122"/>
              </a:rPr>
              <a:t>+</a:t>
            </a:r>
            <a:r>
              <a:rPr lang="en-US" altLang="zh-CN" sz="2200" dirty="0">
                <a:solidFill>
                  <a:srgbClr val="3333CC"/>
                </a:solidFill>
                <a:latin typeface="微软雅黑" panose="020B0503020204020204" pitchFamily="34" charset="-122"/>
                <a:ea typeface="微软雅黑" panose="020B0503020204020204" pitchFamily="34" charset="-122"/>
              </a:rPr>
              <a:t>i×8</a:t>
            </a:r>
            <a:r>
              <a:rPr lang="en-US" altLang="zh-CN" sz="2200" dirty="0">
                <a:latin typeface="微软雅黑" panose="020B0503020204020204" pitchFamily="34" charset="-122"/>
                <a:ea typeface="微软雅黑" panose="020B0503020204020204" pitchFamily="34" charset="-122"/>
              </a:rPr>
              <a:t>+j×</a:t>
            </a:r>
            <a:r>
              <a:rPr lang="en-US" altLang="zh-CN" sz="2200" dirty="0">
                <a:solidFill>
                  <a:srgbClr val="FF3300"/>
                </a:solidFill>
                <a:latin typeface="微软雅黑" panose="020B0503020204020204" pitchFamily="34" charset="-122"/>
                <a:ea typeface="微软雅黑" panose="020B0503020204020204" pitchFamily="34" charset="-122"/>
              </a:rPr>
              <a:t>2</a:t>
            </a:r>
            <a:endParaRPr lang="en-US" altLang="zh-CN" sz="2200" dirty="0">
              <a:solidFill>
                <a:srgbClr val="FF3300"/>
              </a:solidFill>
              <a:latin typeface="微软雅黑" panose="020B0503020204020204" pitchFamily="34" charset="-122"/>
              <a:ea typeface="微软雅黑" panose="020B0503020204020204" pitchFamily="34" charset="-122"/>
            </a:endParaRPr>
          </a:p>
          <a:p>
            <a:pPr eaLnBrk="1" hangingPunct="1">
              <a:spcBef>
                <a:spcPct val="5000"/>
              </a:spcBef>
            </a:pPr>
            <a:r>
              <a:rPr lang="en-US" altLang="zh-CN" sz="2200" dirty="0">
                <a:latin typeface="微软雅黑" panose="020B0503020204020204" pitchFamily="34" charset="-122"/>
                <a:ea typeface="微软雅黑" panose="020B0503020204020204" pitchFamily="34" charset="-122"/>
              </a:rPr>
              <a:t>i=3</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j=2</a:t>
            </a:r>
            <a:r>
              <a:rPr lang="zh-CN" altLang="en-US" sz="2200" dirty="0">
                <a:latin typeface="微软雅黑" panose="020B0503020204020204" pitchFamily="34" charset="-122"/>
                <a:ea typeface="微软雅黑" panose="020B0503020204020204" pitchFamily="34" charset="-122"/>
              </a:rPr>
              <a:t>时，</a:t>
            </a:r>
            <a:r>
              <a:rPr lang="en-US" altLang="zh-CN" sz="2200" dirty="0">
                <a:latin typeface="微软雅黑" panose="020B0503020204020204" pitchFamily="34" charset="-122"/>
                <a:ea typeface="微软雅黑" panose="020B0503020204020204" pitchFamily="34" charset="-122"/>
              </a:rPr>
              <a:t>504+24+4=532</a:t>
            </a:r>
            <a:endParaRPr lang="en-US" altLang="zh-CN" sz="2200" dirty="0">
              <a:latin typeface="微软雅黑" panose="020B0503020204020204" pitchFamily="34" charset="-122"/>
              <a:ea typeface="微软雅黑" panose="020B0503020204020204" pitchFamily="34" charset="-122"/>
            </a:endParaRPr>
          </a:p>
          <a:p>
            <a:pPr eaLnBrk="1" hangingPunct="1">
              <a:spcBef>
                <a:spcPct val="40000"/>
              </a:spcBef>
            </a:pPr>
            <a:r>
              <a:rPr lang="en-US" altLang="zh-CN" sz="2200" dirty="0">
                <a:solidFill>
                  <a:srgbClr val="CC3300"/>
                </a:solidFill>
                <a:latin typeface="微软雅黑" panose="020B0503020204020204" pitchFamily="34" charset="-122"/>
                <a:ea typeface="微软雅黑" panose="020B0503020204020204" pitchFamily="34" charset="-122"/>
              </a:rPr>
              <a:t>d[i]</a:t>
            </a:r>
            <a:r>
              <a:rPr lang="zh-CN" altLang="en-US" sz="2200" dirty="0">
                <a:solidFill>
                  <a:srgbClr val="CC3300"/>
                </a:solidFill>
                <a:latin typeface="微软雅黑" panose="020B0503020204020204" pitchFamily="34" charset="-122"/>
                <a:ea typeface="微软雅黑" panose="020B0503020204020204" pitchFamily="34" charset="-122"/>
              </a:rPr>
              <a:t>的地址如何计算？</a:t>
            </a:r>
            <a:endParaRPr lang="zh-CN" altLang="en-US" sz="2200" dirty="0">
              <a:solidFill>
                <a:srgbClr val="CC3300"/>
              </a:solidFill>
              <a:latin typeface="微软雅黑" panose="020B0503020204020204" pitchFamily="34" charset="-122"/>
              <a:ea typeface="微软雅黑" panose="020B0503020204020204" pitchFamily="34" charset="-122"/>
            </a:endParaRPr>
          </a:p>
          <a:p>
            <a:pPr eaLnBrk="1" hangingPunct="1"/>
            <a:r>
              <a:rPr lang="en-US" altLang="zh-CN" sz="2200" dirty="0">
                <a:solidFill>
                  <a:srgbClr val="008000"/>
                </a:solidFill>
                <a:latin typeface="微软雅黑" panose="020B0503020204020204" pitchFamily="34" charset="-122"/>
                <a:ea typeface="微软雅黑" panose="020B0503020204020204" pitchFamily="34" charset="-122"/>
              </a:rPr>
              <a:t>544</a:t>
            </a:r>
            <a:r>
              <a:rPr lang="en-US" altLang="zh-CN" sz="2200" dirty="0">
                <a:latin typeface="微软雅黑" panose="020B0503020204020204" pitchFamily="34" charset="-122"/>
                <a:ea typeface="微软雅黑" panose="020B0503020204020204" pitchFamily="34" charset="-122"/>
              </a:rPr>
              <a:t>+i×</a:t>
            </a:r>
            <a:r>
              <a:rPr lang="en-US" altLang="zh-CN" sz="2200" dirty="0">
                <a:solidFill>
                  <a:srgbClr val="FF3300"/>
                </a:solidFill>
                <a:latin typeface="微软雅黑" panose="020B0503020204020204" pitchFamily="34" charset="-122"/>
                <a:ea typeface="微软雅黑" panose="020B0503020204020204" pitchFamily="34" charset="-122"/>
              </a:rPr>
              <a:t>8</a:t>
            </a:r>
            <a:endParaRPr lang="en-US" altLang="zh-CN" sz="2200" dirty="0">
              <a:solidFill>
                <a:srgbClr val="FF3300"/>
              </a:solidFill>
              <a:latin typeface="微软雅黑" panose="020B0503020204020204" pitchFamily="34" charset="-122"/>
              <a:ea typeface="微软雅黑" panose="020B0503020204020204" pitchFamily="34" charset="-122"/>
            </a:endParaRPr>
          </a:p>
          <a:p>
            <a:pPr eaLnBrk="1" hangingPunct="1"/>
            <a:r>
              <a:rPr lang="en-US" altLang="zh-CN" sz="2200" dirty="0">
                <a:latin typeface="微软雅黑" panose="020B0503020204020204" pitchFamily="34" charset="-122"/>
                <a:ea typeface="微软雅黑" panose="020B0503020204020204" pitchFamily="34" charset="-122"/>
              </a:rPr>
              <a:t>i=9</a:t>
            </a:r>
            <a:r>
              <a:rPr lang="zh-CN" altLang="en-US" sz="2200" dirty="0">
                <a:latin typeface="微软雅黑" panose="020B0503020204020204" pitchFamily="34" charset="-122"/>
                <a:ea typeface="微软雅黑" panose="020B0503020204020204" pitchFamily="34" charset="-122"/>
              </a:rPr>
              <a:t>时，</a:t>
            </a:r>
            <a:r>
              <a:rPr lang="en-US" altLang="zh-CN" sz="2200" dirty="0">
                <a:latin typeface="微软雅黑" panose="020B0503020204020204" pitchFamily="34" charset="-122"/>
                <a:ea typeface="微软雅黑" panose="020B0503020204020204" pitchFamily="34" charset="-122"/>
              </a:rPr>
              <a:t>544+9×8=616</a:t>
            </a:r>
            <a:endParaRPr lang="en-US" altLang="zh-CN" sz="2200" dirty="0">
              <a:latin typeface="微软雅黑" panose="020B0503020204020204" pitchFamily="34" charset="-122"/>
              <a:ea typeface="微软雅黑" panose="020B0503020204020204" pitchFamily="34" charset="-122"/>
            </a:endParaRPr>
          </a:p>
        </p:txBody>
      </p:sp>
      <p:grpSp>
        <p:nvGrpSpPr>
          <p:cNvPr id="615429" name="Group 5"/>
          <p:cNvGrpSpPr/>
          <p:nvPr/>
        </p:nvGrpSpPr>
        <p:grpSpPr>
          <a:xfrm>
            <a:off x="4886325" y="684213"/>
            <a:ext cx="4195763" cy="6030912"/>
            <a:chOff x="3022" y="459"/>
            <a:chExt cx="2643" cy="3799"/>
          </a:xfrm>
        </p:grpSpPr>
        <p:sp>
          <p:nvSpPr>
            <p:cNvPr id="50182" name="Rectangle 6"/>
            <p:cNvSpPr/>
            <p:nvPr/>
          </p:nvSpPr>
          <p:spPr>
            <a:xfrm>
              <a:off x="3050" y="657"/>
              <a:ext cx="2155" cy="360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0183" name="Text Box 7"/>
            <p:cNvSpPr txBox="1"/>
            <p:nvPr/>
          </p:nvSpPr>
          <p:spPr>
            <a:xfrm>
              <a:off x="3022" y="459"/>
              <a:ext cx="2296" cy="252"/>
            </a:xfrm>
            <a:prstGeom prst="rect">
              <a:avLst/>
            </a:prstGeom>
            <a:noFill/>
            <a:ln w="9525">
              <a:noFill/>
            </a:ln>
          </p:spPr>
          <p:txBody>
            <a:bodyPr>
              <a:spAutoFit/>
            </a:bodyPr>
            <a:lstStyle/>
            <a:p>
              <a:pPr eaLnBrk="1" hangingPunct="1">
                <a:spcBef>
                  <a:spcPct val="50000"/>
                </a:spcBef>
              </a:pPr>
              <a:r>
                <a:rPr lang="en-US" altLang="zh-CN" sz="2000" dirty="0">
                  <a:solidFill>
                    <a:srgbClr val="3333CC"/>
                  </a:solidFill>
                  <a:latin typeface="Arial" panose="020B0604020202020204" pitchFamily="34" charset="0"/>
                </a:rPr>
                <a:t>b31			     b0</a:t>
              </a:r>
              <a:endParaRPr lang="en-US" altLang="zh-CN" sz="2000" dirty="0">
                <a:solidFill>
                  <a:srgbClr val="3333CC"/>
                </a:solidFill>
                <a:latin typeface="Arial" panose="020B0604020202020204" pitchFamily="34" charset="0"/>
              </a:endParaRPr>
            </a:p>
          </p:txBody>
        </p:sp>
        <p:sp>
          <p:nvSpPr>
            <p:cNvPr id="50184" name="Line 8"/>
            <p:cNvSpPr/>
            <p:nvPr/>
          </p:nvSpPr>
          <p:spPr>
            <a:xfrm flipV="1">
              <a:off x="3050" y="3975"/>
              <a:ext cx="2155" cy="0"/>
            </a:xfrm>
            <a:prstGeom prst="line">
              <a:avLst/>
            </a:prstGeom>
            <a:ln w="9525" cap="flat" cmpd="sng">
              <a:solidFill>
                <a:schemeClr val="tx1"/>
              </a:solidFill>
              <a:prstDash val="solid"/>
              <a:headEnd type="none" w="med" len="med"/>
              <a:tailEnd type="none" w="med" len="med"/>
            </a:ln>
          </p:spPr>
        </p:sp>
        <p:sp>
          <p:nvSpPr>
            <p:cNvPr id="50185" name="Line 9"/>
            <p:cNvSpPr/>
            <p:nvPr/>
          </p:nvSpPr>
          <p:spPr>
            <a:xfrm flipV="1">
              <a:off x="3050" y="3266"/>
              <a:ext cx="2155" cy="0"/>
            </a:xfrm>
            <a:prstGeom prst="line">
              <a:avLst/>
            </a:prstGeom>
            <a:ln w="9525" cap="flat" cmpd="sng">
              <a:solidFill>
                <a:schemeClr val="tx1"/>
              </a:solidFill>
              <a:prstDash val="solid"/>
              <a:headEnd type="none" w="med" len="med"/>
              <a:tailEnd type="none" w="med" len="med"/>
            </a:ln>
          </p:spPr>
        </p:sp>
        <p:sp>
          <p:nvSpPr>
            <p:cNvPr id="50186" name="Text Box 10"/>
            <p:cNvSpPr txBox="1"/>
            <p:nvPr/>
          </p:nvSpPr>
          <p:spPr>
            <a:xfrm>
              <a:off x="3929" y="3725"/>
              <a:ext cx="255"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x</a:t>
              </a:r>
              <a:endParaRPr lang="en-US" altLang="zh-CN" sz="2000" dirty="0">
                <a:latin typeface="Arial" panose="020B0604020202020204" pitchFamily="34" charset="0"/>
              </a:endParaRPr>
            </a:p>
          </p:txBody>
        </p:sp>
        <p:sp>
          <p:nvSpPr>
            <p:cNvPr id="50187" name="Line 11"/>
            <p:cNvSpPr/>
            <p:nvPr/>
          </p:nvSpPr>
          <p:spPr>
            <a:xfrm flipV="1">
              <a:off x="3050" y="3744"/>
              <a:ext cx="2155" cy="0"/>
            </a:xfrm>
            <a:prstGeom prst="line">
              <a:avLst/>
            </a:prstGeom>
            <a:ln w="9525" cap="flat" cmpd="sng">
              <a:solidFill>
                <a:schemeClr val="tx1"/>
              </a:solidFill>
              <a:prstDash val="solid"/>
              <a:headEnd type="none" w="med" len="med"/>
              <a:tailEnd type="none" w="med" len="med"/>
            </a:ln>
          </p:spPr>
        </p:sp>
        <p:sp>
          <p:nvSpPr>
            <p:cNvPr id="50188" name="Line 12"/>
            <p:cNvSpPr/>
            <p:nvPr/>
          </p:nvSpPr>
          <p:spPr>
            <a:xfrm flipV="1">
              <a:off x="3050" y="3489"/>
              <a:ext cx="2155" cy="0"/>
            </a:xfrm>
            <a:prstGeom prst="line">
              <a:avLst/>
            </a:prstGeom>
            <a:ln w="9525" cap="flat" cmpd="sng">
              <a:solidFill>
                <a:schemeClr val="tx1"/>
              </a:solidFill>
              <a:prstDash val="solid"/>
              <a:headEnd type="none" w="med" len="med"/>
              <a:tailEnd type="none" w="med" len="med"/>
            </a:ln>
          </p:spPr>
        </p:sp>
        <p:sp>
          <p:nvSpPr>
            <p:cNvPr id="50189" name="Text Box 13"/>
            <p:cNvSpPr txBox="1"/>
            <p:nvPr/>
          </p:nvSpPr>
          <p:spPr>
            <a:xfrm>
              <a:off x="3816" y="3489"/>
              <a:ext cx="510"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a[0]</a:t>
              </a:r>
              <a:endParaRPr lang="en-US" altLang="zh-CN" sz="2000" dirty="0">
                <a:latin typeface="Arial" panose="020B0604020202020204" pitchFamily="34" charset="0"/>
              </a:endParaRPr>
            </a:p>
          </p:txBody>
        </p:sp>
        <p:sp>
          <p:nvSpPr>
            <p:cNvPr id="50190" name="Line 14"/>
            <p:cNvSpPr/>
            <p:nvPr/>
          </p:nvSpPr>
          <p:spPr>
            <a:xfrm flipV="1">
              <a:off x="3050" y="2982"/>
              <a:ext cx="2155" cy="0"/>
            </a:xfrm>
            <a:prstGeom prst="line">
              <a:avLst/>
            </a:prstGeom>
            <a:ln w="9525" cap="flat" cmpd="sng">
              <a:solidFill>
                <a:schemeClr val="tx1"/>
              </a:solidFill>
              <a:prstDash val="solid"/>
              <a:headEnd type="none" w="med" len="med"/>
              <a:tailEnd type="none" w="med" len="med"/>
            </a:ln>
          </p:spPr>
        </p:sp>
        <p:sp>
          <p:nvSpPr>
            <p:cNvPr id="50191" name="Text Box 15"/>
            <p:cNvSpPr txBox="1"/>
            <p:nvPr/>
          </p:nvSpPr>
          <p:spPr>
            <a:xfrm>
              <a:off x="3787" y="3011"/>
              <a:ext cx="510"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a[99]</a:t>
              </a:r>
              <a:endParaRPr lang="en-US" altLang="zh-CN" sz="2000" dirty="0">
                <a:latin typeface="Arial" panose="020B0604020202020204" pitchFamily="34" charset="0"/>
              </a:endParaRPr>
            </a:p>
          </p:txBody>
        </p:sp>
        <p:sp>
          <p:nvSpPr>
            <p:cNvPr id="50192" name="Line 16"/>
            <p:cNvSpPr/>
            <p:nvPr/>
          </p:nvSpPr>
          <p:spPr>
            <a:xfrm>
              <a:off x="4071" y="3294"/>
              <a:ext cx="0" cy="170"/>
            </a:xfrm>
            <a:prstGeom prst="line">
              <a:avLst/>
            </a:prstGeom>
            <a:ln w="38100" cap="flat" cmpd="sng">
              <a:solidFill>
                <a:schemeClr val="tx1"/>
              </a:solidFill>
              <a:prstDash val="sysDot"/>
              <a:headEnd type="none" w="med" len="med"/>
              <a:tailEnd type="none" w="med" len="med"/>
            </a:ln>
          </p:spPr>
        </p:sp>
        <p:sp>
          <p:nvSpPr>
            <p:cNvPr id="50193" name="Line 17"/>
            <p:cNvSpPr/>
            <p:nvPr/>
          </p:nvSpPr>
          <p:spPr>
            <a:xfrm flipV="1">
              <a:off x="3050" y="2727"/>
              <a:ext cx="2155" cy="0"/>
            </a:xfrm>
            <a:prstGeom prst="line">
              <a:avLst/>
            </a:prstGeom>
            <a:ln w="9525" cap="flat" cmpd="sng">
              <a:solidFill>
                <a:schemeClr val="tx1"/>
              </a:solidFill>
              <a:prstDash val="solid"/>
              <a:headEnd type="none" w="med" len="med"/>
              <a:tailEnd type="none" w="med" len="med"/>
            </a:ln>
          </p:spPr>
        </p:sp>
        <p:sp>
          <p:nvSpPr>
            <p:cNvPr id="50194" name="Text Box 18"/>
            <p:cNvSpPr txBox="1"/>
            <p:nvPr/>
          </p:nvSpPr>
          <p:spPr>
            <a:xfrm>
              <a:off x="3220" y="2727"/>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b[0][1]</a:t>
              </a:r>
              <a:endParaRPr lang="en-US" altLang="zh-CN" sz="2000" dirty="0">
                <a:latin typeface="Arial" panose="020B0604020202020204" pitchFamily="34" charset="0"/>
              </a:endParaRPr>
            </a:p>
          </p:txBody>
        </p:sp>
        <p:sp>
          <p:nvSpPr>
            <p:cNvPr id="50195" name="Line 19"/>
            <p:cNvSpPr/>
            <p:nvPr/>
          </p:nvSpPr>
          <p:spPr>
            <a:xfrm>
              <a:off x="4099" y="2727"/>
              <a:ext cx="0" cy="255"/>
            </a:xfrm>
            <a:prstGeom prst="line">
              <a:avLst/>
            </a:prstGeom>
            <a:ln w="9525" cap="flat" cmpd="sng">
              <a:solidFill>
                <a:schemeClr val="tx1"/>
              </a:solidFill>
              <a:prstDash val="solid"/>
              <a:headEnd type="none" w="med" len="med"/>
              <a:tailEnd type="none" w="med" len="med"/>
            </a:ln>
          </p:spPr>
        </p:sp>
        <p:sp>
          <p:nvSpPr>
            <p:cNvPr id="50196" name="Text Box 20"/>
            <p:cNvSpPr txBox="1"/>
            <p:nvPr/>
          </p:nvSpPr>
          <p:spPr>
            <a:xfrm>
              <a:off x="5166" y="3744"/>
              <a:ext cx="499" cy="233"/>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100</a:t>
              </a:r>
              <a:endParaRPr lang="en-US" altLang="zh-CN" sz="1800" dirty="0">
                <a:latin typeface="Arial" panose="020B0604020202020204" pitchFamily="34" charset="0"/>
              </a:endParaRPr>
            </a:p>
          </p:txBody>
        </p:sp>
        <p:sp>
          <p:nvSpPr>
            <p:cNvPr id="50197" name="Text Box 21"/>
            <p:cNvSpPr txBox="1"/>
            <p:nvPr/>
          </p:nvSpPr>
          <p:spPr>
            <a:xfrm>
              <a:off x="5176" y="3517"/>
              <a:ext cx="407" cy="233"/>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104</a:t>
              </a:r>
              <a:endParaRPr lang="en-US" altLang="zh-CN" sz="1800" dirty="0">
                <a:latin typeface="Arial" panose="020B0604020202020204" pitchFamily="34" charset="0"/>
              </a:endParaRPr>
            </a:p>
          </p:txBody>
        </p:sp>
        <p:sp>
          <p:nvSpPr>
            <p:cNvPr id="50198" name="Text Box 22"/>
            <p:cNvSpPr txBox="1"/>
            <p:nvPr/>
          </p:nvSpPr>
          <p:spPr>
            <a:xfrm>
              <a:off x="4269" y="2727"/>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b[0][0]</a:t>
              </a:r>
              <a:endParaRPr lang="en-US" altLang="zh-CN" sz="2000" dirty="0">
                <a:latin typeface="Arial" panose="020B0604020202020204" pitchFamily="34" charset="0"/>
              </a:endParaRPr>
            </a:p>
          </p:txBody>
        </p:sp>
        <p:sp>
          <p:nvSpPr>
            <p:cNvPr id="50199" name="Line 23"/>
            <p:cNvSpPr/>
            <p:nvPr/>
          </p:nvSpPr>
          <p:spPr>
            <a:xfrm flipV="1">
              <a:off x="3050" y="2444"/>
              <a:ext cx="2155" cy="0"/>
            </a:xfrm>
            <a:prstGeom prst="line">
              <a:avLst/>
            </a:prstGeom>
            <a:ln w="9525" cap="flat" cmpd="sng">
              <a:solidFill>
                <a:schemeClr val="tx1"/>
              </a:solidFill>
              <a:prstDash val="solid"/>
              <a:headEnd type="none" w="med" len="med"/>
              <a:tailEnd type="none" w="med" len="med"/>
            </a:ln>
          </p:spPr>
        </p:sp>
        <p:sp>
          <p:nvSpPr>
            <p:cNvPr id="50200" name="Line 24"/>
            <p:cNvSpPr/>
            <p:nvPr/>
          </p:nvSpPr>
          <p:spPr>
            <a:xfrm flipV="1">
              <a:off x="3050" y="2189"/>
              <a:ext cx="2155" cy="0"/>
            </a:xfrm>
            <a:prstGeom prst="line">
              <a:avLst/>
            </a:prstGeom>
            <a:ln w="9525" cap="flat" cmpd="sng">
              <a:solidFill>
                <a:schemeClr val="tx1"/>
              </a:solidFill>
              <a:prstDash val="solid"/>
              <a:headEnd type="none" w="med" len="med"/>
              <a:tailEnd type="none" w="med" len="med"/>
            </a:ln>
          </p:spPr>
        </p:sp>
        <p:sp>
          <p:nvSpPr>
            <p:cNvPr id="50201" name="Text Box 25"/>
            <p:cNvSpPr txBox="1"/>
            <p:nvPr/>
          </p:nvSpPr>
          <p:spPr>
            <a:xfrm>
              <a:off x="3220" y="2189"/>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b[3][3]</a:t>
              </a:r>
              <a:endParaRPr lang="en-US" altLang="zh-CN" sz="2000" dirty="0">
                <a:latin typeface="Arial" panose="020B0604020202020204" pitchFamily="34" charset="0"/>
              </a:endParaRPr>
            </a:p>
          </p:txBody>
        </p:sp>
        <p:sp>
          <p:nvSpPr>
            <p:cNvPr id="50202" name="Line 26"/>
            <p:cNvSpPr/>
            <p:nvPr/>
          </p:nvSpPr>
          <p:spPr>
            <a:xfrm>
              <a:off x="4099" y="2189"/>
              <a:ext cx="0" cy="255"/>
            </a:xfrm>
            <a:prstGeom prst="line">
              <a:avLst/>
            </a:prstGeom>
            <a:ln w="9525" cap="flat" cmpd="sng">
              <a:solidFill>
                <a:schemeClr val="tx1"/>
              </a:solidFill>
              <a:prstDash val="solid"/>
              <a:headEnd type="none" w="med" len="med"/>
              <a:tailEnd type="none" w="med" len="med"/>
            </a:ln>
          </p:spPr>
        </p:sp>
        <p:sp>
          <p:nvSpPr>
            <p:cNvPr id="50203" name="Text Box 27"/>
            <p:cNvSpPr txBox="1"/>
            <p:nvPr/>
          </p:nvSpPr>
          <p:spPr>
            <a:xfrm>
              <a:off x="4269" y="2189"/>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b[3][2]</a:t>
              </a:r>
              <a:endParaRPr lang="en-US" altLang="zh-CN" sz="2000" dirty="0">
                <a:latin typeface="Arial" panose="020B0604020202020204" pitchFamily="34" charset="0"/>
              </a:endParaRPr>
            </a:p>
          </p:txBody>
        </p:sp>
        <p:sp>
          <p:nvSpPr>
            <p:cNvPr id="50204" name="Line 28"/>
            <p:cNvSpPr/>
            <p:nvPr/>
          </p:nvSpPr>
          <p:spPr>
            <a:xfrm>
              <a:off x="4099" y="2500"/>
              <a:ext cx="0" cy="170"/>
            </a:xfrm>
            <a:prstGeom prst="line">
              <a:avLst/>
            </a:prstGeom>
            <a:ln w="38100" cap="flat" cmpd="sng">
              <a:solidFill>
                <a:schemeClr val="tx1"/>
              </a:solidFill>
              <a:prstDash val="sysDot"/>
              <a:headEnd type="none" w="med" len="med"/>
              <a:tailEnd type="none" w="med" len="med"/>
            </a:ln>
          </p:spPr>
        </p:sp>
        <p:sp>
          <p:nvSpPr>
            <p:cNvPr id="50205" name="Line 29"/>
            <p:cNvSpPr/>
            <p:nvPr/>
          </p:nvSpPr>
          <p:spPr>
            <a:xfrm flipV="1">
              <a:off x="3050" y="1962"/>
              <a:ext cx="2155" cy="0"/>
            </a:xfrm>
            <a:prstGeom prst="line">
              <a:avLst/>
            </a:prstGeom>
            <a:ln w="9525" cap="flat" cmpd="sng">
              <a:solidFill>
                <a:schemeClr val="tx1"/>
              </a:solidFill>
              <a:prstDash val="solid"/>
              <a:headEnd type="none" w="med" len="med"/>
              <a:tailEnd type="none" w="med" len="med"/>
            </a:ln>
          </p:spPr>
        </p:sp>
        <p:sp>
          <p:nvSpPr>
            <p:cNvPr id="50206" name="Line 30"/>
            <p:cNvSpPr/>
            <p:nvPr/>
          </p:nvSpPr>
          <p:spPr>
            <a:xfrm>
              <a:off x="4638" y="1962"/>
              <a:ext cx="0" cy="227"/>
            </a:xfrm>
            <a:prstGeom prst="line">
              <a:avLst/>
            </a:prstGeom>
            <a:ln w="9525" cap="flat" cmpd="sng">
              <a:solidFill>
                <a:schemeClr val="tx1"/>
              </a:solidFill>
              <a:prstDash val="solid"/>
              <a:headEnd type="none" w="med" len="med"/>
              <a:tailEnd type="none" w="med" len="med"/>
            </a:ln>
          </p:spPr>
        </p:sp>
        <p:sp>
          <p:nvSpPr>
            <p:cNvPr id="50207" name="Text Box 31"/>
            <p:cNvSpPr txBox="1"/>
            <p:nvPr/>
          </p:nvSpPr>
          <p:spPr>
            <a:xfrm>
              <a:off x="4779" y="1934"/>
              <a:ext cx="255"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c</a:t>
              </a:r>
              <a:endParaRPr lang="en-US" altLang="zh-CN" sz="2000" dirty="0">
                <a:latin typeface="Arial" panose="020B0604020202020204" pitchFamily="34" charset="0"/>
              </a:endParaRPr>
            </a:p>
          </p:txBody>
        </p:sp>
        <p:sp>
          <p:nvSpPr>
            <p:cNvPr id="50208" name="Text Box 32"/>
            <p:cNvSpPr txBox="1"/>
            <p:nvPr/>
          </p:nvSpPr>
          <p:spPr>
            <a:xfrm>
              <a:off x="5176" y="3011"/>
              <a:ext cx="407" cy="252"/>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500</a:t>
              </a:r>
              <a:endParaRPr lang="en-US" altLang="zh-CN" sz="2000" dirty="0">
                <a:latin typeface="Arial" panose="020B0604020202020204" pitchFamily="34" charset="0"/>
              </a:endParaRPr>
            </a:p>
          </p:txBody>
        </p:sp>
        <p:sp>
          <p:nvSpPr>
            <p:cNvPr id="50209" name="Text Box 33"/>
            <p:cNvSpPr txBox="1"/>
            <p:nvPr/>
          </p:nvSpPr>
          <p:spPr>
            <a:xfrm>
              <a:off x="5176" y="2755"/>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504</a:t>
              </a:r>
              <a:endParaRPr lang="en-US" altLang="zh-CN" sz="1800" dirty="0">
                <a:latin typeface="Arial" panose="020B0604020202020204" pitchFamily="34" charset="0"/>
              </a:endParaRPr>
            </a:p>
          </p:txBody>
        </p:sp>
        <p:sp>
          <p:nvSpPr>
            <p:cNvPr id="50210" name="Text Box 34"/>
            <p:cNvSpPr txBox="1"/>
            <p:nvPr/>
          </p:nvSpPr>
          <p:spPr>
            <a:xfrm>
              <a:off x="5176" y="2213"/>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532</a:t>
              </a:r>
              <a:endParaRPr lang="en-US" altLang="zh-CN" sz="1800" dirty="0">
                <a:latin typeface="Arial" panose="020B0604020202020204" pitchFamily="34" charset="0"/>
              </a:endParaRPr>
            </a:p>
          </p:txBody>
        </p:sp>
        <p:sp>
          <p:nvSpPr>
            <p:cNvPr id="50211" name="Text Box 35"/>
            <p:cNvSpPr txBox="1"/>
            <p:nvPr/>
          </p:nvSpPr>
          <p:spPr>
            <a:xfrm>
              <a:off x="5176" y="1962"/>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536</a:t>
              </a:r>
              <a:endParaRPr lang="en-US" altLang="zh-CN" sz="1800" dirty="0">
                <a:latin typeface="Arial" panose="020B0604020202020204" pitchFamily="34" charset="0"/>
              </a:endParaRPr>
            </a:p>
          </p:txBody>
        </p:sp>
        <p:sp>
          <p:nvSpPr>
            <p:cNvPr id="50212" name="Line 36"/>
            <p:cNvSpPr/>
            <p:nvPr/>
          </p:nvSpPr>
          <p:spPr>
            <a:xfrm flipV="1">
              <a:off x="3050" y="1735"/>
              <a:ext cx="2155" cy="0"/>
            </a:xfrm>
            <a:prstGeom prst="line">
              <a:avLst/>
            </a:prstGeom>
            <a:ln w="9525" cap="flat" cmpd="sng">
              <a:solidFill>
                <a:schemeClr val="tx1"/>
              </a:solidFill>
              <a:prstDash val="solid"/>
              <a:headEnd type="none" w="med" len="med"/>
              <a:tailEnd type="none" w="med" len="med"/>
            </a:ln>
          </p:spPr>
        </p:sp>
        <p:sp>
          <p:nvSpPr>
            <p:cNvPr id="50213" name="Line 37"/>
            <p:cNvSpPr/>
            <p:nvPr/>
          </p:nvSpPr>
          <p:spPr>
            <a:xfrm flipV="1">
              <a:off x="3050" y="1367"/>
              <a:ext cx="2155" cy="0"/>
            </a:xfrm>
            <a:prstGeom prst="line">
              <a:avLst/>
            </a:prstGeom>
            <a:ln w="9525" cap="flat" cmpd="sng">
              <a:solidFill>
                <a:schemeClr val="tx1"/>
              </a:solidFill>
              <a:prstDash val="solid"/>
              <a:headEnd type="none" w="med" len="med"/>
              <a:tailEnd type="none" w="med" len="med"/>
            </a:ln>
          </p:spPr>
        </p:sp>
        <p:sp>
          <p:nvSpPr>
            <p:cNvPr id="50214" name="Text Box 38"/>
            <p:cNvSpPr txBox="1"/>
            <p:nvPr/>
          </p:nvSpPr>
          <p:spPr>
            <a:xfrm>
              <a:off x="5176" y="1537"/>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544</a:t>
              </a:r>
              <a:endParaRPr lang="en-US" altLang="zh-CN" sz="1800" dirty="0">
                <a:latin typeface="Arial" panose="020B0604020202020204" pitchFamily="34" charset="0"/>
              </a:endParaRPr>
            </a:p>
          </p:txBody>
        </p:sp>
        <p:sp>
          <p:nvSpPr>
            <p:cNvPr id="50215" name="Line 39"/>
            <p:cNvSpPr/>
            <p:nvPr/>
          </p:nvSpPr>
          <p:spPr>
            <a:xfrm flipV="1">
              <a:off x="3050" y="998"/>
              <a:ext cx="2155" cy="0"/>
            </a:xfrm>
            <a:prstGeom prst="line">
              <a:avLst/>
            </a:prstGeom>
            <a:ln w="9525" cap="flat" cmpd="sng">
              <a:solidFill>
                <a:schemeClr val="tx1"/>
              </a:solidFill>
              <a:prstDash val="solid"/>
              <a:headEnd type="none" w="med" len="med"/>
              <a:tailEnd type="none" w="med" len="med"/>
            </a:ln>
          </p:spPr>
        </p:sp>
        <p:sp>
          <p:nvSpPr>
            <p:cNvPr id="50216" name="Line 40"/>
            <p:cNvSpPr/>
            <p:nvPr/>
          </p:nvSpPr>
          <p:spPr>
            <a:xfrm>
              <a:off x="4071" y="4031"/>
              <a:ext cx="0" cy="170"/>
            </a:xfrm>
            <a:prstGeom prst="line">
              <a:avLst/>
            </a:prstGeom>
            <a:ln w="38100" cap="flat" cmpd="sng">
              <a:solidFill>
                <a:schemeClr val="tx1"/>
              </a:solidFill>
              <a:prstDash val="sysDot"/>
              <a:headEnd type="none" w="med" len="med"/>
              <a:tailEnd type="none" w="med" len="med"/>
            </a:ln>
          </p:spPr>
        </p:sp>
        <p:sp>
          <p:nvSpPr>
            <p:cNvPr id="50217" name="Line 41"/>
            <p:cNvSpPr/>
            <p:nvPr/>
          </p:nvSpPr>
          <p:spPr>
            <a:xfrm>
              <a:off x="3050" y="1565"/>
              <a:ext cx="2155" cy="0"/>
            </a:xfrm>
            <a:prstGeom prst="line">
              <a:avLst/>
            </a:prstGeom>
            <a:ln w="9525" cap="flat" cmpd="sng">
              <a:solidFill>
                <a:schemeClr val="tx1"/>
              </a:solidFill>
              <a:prstDash val="solid"/>
              <a:headEnd type="none" w="med" len="med"/>
              <a:tailEnd type="none" w="med" len="med"/>
            </a:ln>
          </p:spPr>
        </p:sp>
        <p:sp>
          <p:nvSpPr>
            <p:cNvPr id="50218" name="Text Box 42"/>
            <p:cNvSpPr txBox="1"/>
            <p:nvPr/>
          </p:nvSpPr>
          <p:spPr>
            <a:xfrm>
              <a:off x="3986" y="1423"/>
              <a:ext cx="311" cy="250"/>
            </a:xfrm>
            <a:prstGeom prst="rect">
              <a:avLst/>
            </a:prstGeom>
            <a:solidFill>
              <a:schemeClr val="bg1"/>
            </a:solidFill>
            <a:ln w="9525">
              <a:noFill/>
            </a:ln>
          </p:spPr>
          <p:txBody>
            <a:bodyPr lIns="0" rIns="0">
              <a:spAutoFit/>
            </a:bodyPr>
            <a:lstStyle/>
            <a:p>
              <a:pPr eaLnBrk="1" hangingPunct="1">
                <a:spcBef>
                  <a:spcPct val="50000"/>
                </a:spcBef>
              </a:pPr>
              <a:r>
                <a:rPr lang="en-US" altLang="zh-CN" sz="2000" dirty="0">
                  <a:latin typeface="Arial" panose="020B0604020202020204" pitchFamily="34" charset="0"/>
                </a:rPr>
                <a:t>d[0]</a:t>
              </a:r>
              <a:endParaRPr lang="en-US" altLang="zh-CN" sz="2000" dirty="0">
                <a:latin typeface="Arial" panose="020B0604020202020204" pitchFamily="34" charset="0"/>
              </a:endParaRPr>
            </a:p>
          </p:txBody>
        </p:sp>
        <p:sp>
          <p:nvSpPr>
            <p:cNvPr id="50219" name="Text Box 43"/>
            <p:cNvSpPr txBox="1"/>
            <p:nvPr/>
          </p:nvSpPr>
          <p:spPr>
            <a:xfrm>
              <a:off x="4042" y="828"/>
              <a:ext cx="311" cy="250"/>
            </a:xfrm>
            <a:prstGeom prst="rect">
              <a:avLst/>
            </a:prstGeom>
            <a:solidFill>
              <a:schemeClr val="bg1"/>
            </a:solidFill>
            <a:ln w="9525">
              <a:noFill/>
            </a:ln>
          </p:spPr>
          <p:txBody>
            <a:bodyPr lIns="0" rIns="0">
              <a:spAutoFit/>
            </a:bodyPr>
            <a:lstStyle/>
            <a:p>
              <a:pPr eaLnBrk="1" hangingPunct="1">
                <a:spcBef>
                  <a:spcPct val="50000"/>
                </a:spcBef>
              </a:pPr>
              <a:r>
                <a:rPr lang="en-US" altLang="zh-CN" sz="2000" dirty="0">
                  <a:latin typeface="Arial" panose="020B0604020202020204" pitchFamily="34" charset="0"/>
                </a:rPr>
                <a:t>d[9]</a:t>
              </a:r>
              <a:endParaRPr lang="en-US" altLang="zh-CN" sz="2000" dirty="0">
                <a:latin typeface="Arial" panose="020B0604020202020204" pitchFamily="34" charset="0"/>
              </a:endParaRPr>
            </a:p>
          </p:txBody>
        </p:sp>
        <p:sp>
          <p:nvSpPr>
            <p:cNvPr id="50220" name="Line 44"/>
            <p:cNvSpPr/>
            <p:nvPr/>
          </p:nvSpPr>
          <p:spPr>
            <a:xfrm flipV="1">
              <a:off x="3050" y="1140"/>
              <a:ext cx="2155" cy="0"/>
            </a:xfrm>
            <a:prstGeom prst="line">
              <a:avLst/>
            </a:prstGeom>
            <a:ln w="9525" cap="flat" cmpd="sng">
              <a:solidFill>
                <a:schemeClr val="tx1"/>
              </a:solidFill>
              <a:prstDash val="solid"/>
              <a:headEnd type="none" w="med" len="med"/>
              <a:tailEnd type="none" w="med" len="med"/>
            </a:ln>
          </p:spPr>
        </p:sp>
        <p:sp>
          <p:nvSpPr>
            <p:cNvPr id="50221" name="Line 45"/>
            <p:cNvSpPr/>
            <p:nvPr/>
          </p:nvSpPr>
          <p:spPr>
            <a:xfrm>
              <a:off x="4127" y="1168"/>
              <a:ext cx="0" cy="170"/>
            </a:xfrm>
            <a:prstGeom prst="line">
              <a:avLst/>
            </a:prstGeom>
            <a:ln w="38100" cap="flat" cmpd="sng">
              <a:solidFill>
                <a:schemeClr val="tx1"/>
              </a:solidFill>
              <a:prstDash val="sysDot"/>
              <a:headEnd type="none" w="med" len="med"/>
              <a:tailEnd type="none" w="med" len="med"/>
            </a:ln>
          </p:spPr>
        </p:sp>
        <p:sp>
          <p:nvSpPr>
            <p:cNvPr id="50222" name="Line 46"/>
            <p:cNvSpPr/>
            <p:nvPr/>
          </p:nvSpPr>
          <p:spPr>
            <a:xfrm flipV="1">
              <a:off x="3050" y="828"/>
              <a:ext cx="2155" cy="0"/>
            </a:xfrm>
            <a:prstGeom prst="line">
              <a:avLst/>
            </a:prstGeom>
            <a:ln w="9525" cap="flat" cmpd="sng">
              <a:solidFill>
                <a:schemeClr val="tx1"/>
              </a:solidFill>
              <a:prstDash val="solid"/>
              <a:headEnd type="none" w="med" len="med"/>
              <a:tailEnd type="none" w="med" len="med"/>
            </a:ln>
          </p:spPr>
        </p:sp>
        <p:sp>
          <p:nvSpPr>
            <p:cNvPr id="50223" name="Text Box 47"/>
            <p:cNvSpPr txBox="1"/>
            <p:nvPr/>
          </p:nvSpPr>
          <p:spPr>
            <a:xfrm>
              <a:off x="5176" y="941"/>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616</a:t>
              </a:r>
              <a:endParaRPr lang="en-US" altLang="zh-CN" sz="1800"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427">
                                            <p:txEl>
                                              <p:pRg st="0" end="0"/>
                                            </p:txEl>
                                          </p:spTgt>
                                        </p:tgtEl>
                                        <p:attrNameLst>
                                          <p:attrName>style.visibility</p:attrName>
                                        </p:attrNameLst>
                                      </p:cBhvr>
                                      <p:to>
                                        <p:strVal val="visible"/>
                                      </p:to>
                                    </p:set>
                                    <p:animEffect transition="in" filter="blinds(horizontal)">
                                      <p:cBhvr>
                                        <p:cTn id="7" dur="500"/>
                                        <p:tgtEl>
                                          <p:spTgt spid="615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5427">
                                            <p:txEl>
                                              <p:pRg st="1" end="1"/>
                                            </p:txEl>
                                          </p:spTgt>
                                        </p:tgtEl>
                                        <p:attrNameLst>
                                          <p:attrName>style.visibility</p:attrName>
                                        </p:attrNameLst>
                                      </p:cBhvr>
                                      <p:to>
                                        <p:strVal val="visible"/>
                                      </p:to>
                                    </p:set>
                                    <p:animEffect transition="in" filter="blinds(horizontal)">
                                      <p:cBhvr>
                                        <p:cTn id="12" dur="500"/>
                                        <p:tgtEl>
                                          <p:spTgt spid="6154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5427">
                                            <p:txEl>
                                              <p:pRg st="2" end="2"/>
                                            </p:txEl>
                                          </p:spTgt>
                                        </p:tgtEl>
                                        <p:attrNameLst>
                                          <p:attrName>style.visibility</p:attrName>
                                        </p:attrNameLst>
                                      </p:cBhvr>
                                      <p:to>
                                        <p:strVal val="visible"/>
                                      </p:to>
                                    </p:set>
                                    <p:animEffect transition="in" filter="blinds(horizontal)">
                                      <p:cBhvr>
                                        <p:cTn id="17" dur="500"/>
                                        <p:tgtEl>
                                          <p:spTgt spid="6154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5427">
                                            <p:txEl>
                                              <p:pRg st="3" end="3"/>
                                            </p:txEl>
                                          </p:spTgt>
                                        </p:tgtEl>
                                        <p:attrNameLst>
                                          <p:attrName>style.visibility</p:attrName>
                                        </p:attrNameLst>
                                      </p:cBhvr>
                                      <p:to>
                                        <p:strVal val="visible"/>
                                      </p:to>
                                    </p:set>
                                    <p:animEffect transition="in" filter="blinds(horizontal)">
                                      <p:cBhvr>
                                        <p:cTn id="22" dur="500"/>
                                        <p:tgtEl>
                                          <p:spTgt spid="6154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5427">
                                            <p:txEl>
                                              <p:pRg st="4" end="4"/>
                                            </p:txEl>
                                          </p:spTgt>
                                        </p:tgtEl>
                                        <p:attrNameLst>
                                          <p:attrName>style.visibility</p:attrName>
                                        </p:attrNameLst>
                                      </p:cBhvr>
                                      <p:to>
                                        <p:strVal val="visible"/>
                                      </p:to>
                                    </p:set>
                                    <p:animEffect transition="in" filter="blinds(horizontal)">
                                      <p:cBhvr>
                                        <p:cTn id="27" dur="500"/>
                                        <p:tgtEl>
                                          <p:spTgt spid="61542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5429"/>
                                        </p:tgtEl>
                                        <p:attrNameLst>
                                          <p:attrName>style.visibility</p:attrName>
                                        </p:attrNameLst>
                                      </p:cBhvr>
                                      <p:to>
                                        <p:strVal val="visible"/>
                                      </p:to>
                                    </p:set>
                                    <p:animEffect transition="in" filter="blinds(horizontal)">
                                      <p:cBhvr>
                                        <p:cTn id="32" dur="500"/>
                                        <p:tgtEl>
                                          <p:spTgt spid="61542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15428">
                                            <p:txEl>
                                              <p:pRg st="0" end="0"/>
                                            </p:txEl>
                                          </p:spTgt>
                                        </p:tgtEl>
                                        <p:attrNameLst>
                                          <p:attrName>style.visibility</p:attrName>
                                        </p:attrNameLst>
                                      </p:cBhvr>
                                      <p:to>
                                        <p:strVal val="visible"/>
                                      </p:to>
                                    </p:set>
                                    <p:animEffect transition="in" filter="blinds(horizontal)">
                                      <p:cBhvr>
                                        <p:cTn id="37" dur="500"/>
                                        <p:tgtEl>
                                          <p:spTgt spid="615428">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15428">
                                            <p:txEl>
                                              <p:pRg st="1" end="1"/>
                                            </p:txEl>
                                          </p:spTgt>
                                        </p:tgtEl>
                                        <p:attrNameLst>
                                          <p:attrName>style.visibility</p:attrName>
                                        </p:attrNameLst>
                                      </p:cBhvr>
                                      <p:to>
                                        <p:strVal val="visible"/>
                                      </p:to>
                                    </p:set>
                                    <p:animEffect transition="in" filter="blinds(horizontal)">
                                      <p:cBhvr>
                                        <p:cTn id="42" dur="500"/>
                                        <p:tgtEl>
                                          <p:spTgt spid="615428">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15428">
                                            <p:txEl>
                                              <p:pRg st="2" end="2"/>
                                            </p:txEl>
                                          </p:spTgt>
                                        </p:tgtEl>
                                        <p:attrNameLst>
                                          <p:attrName>style.visibility</p:attrName>
                                        </p:attrNameLst>
                                      </p:cBhvr>
                                      <p:to>
                                        <p:strVal val="visible"/>
                                      </p:to>
                                    </p:set>
                                    <p:animEffect transition="in" filter="blinds(horizontal)">
                                      <p:cBhvr>
                                        <p:cTn id="47" dur="500"/>
                                        <p:tgtEl>
                                          <p:spTgt spid="615428">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15428">
                                            <p:txEl>
                                              <p:pRg st="3" end="3"/>
                                            </p:txEl>
                                          </p:spTgt>
                                        </p:tgtEl>
                                        <p:attrNameLst>
                                          <p:attrName>style.visibility</p:attrName>
                                        </p:attrNameLst>
                                      </p:cBhvr>
                                      <p:to>
                                        <p:strVal val="visible"/>
                                      </p:to>
                                    </p:set>
                                    <p:animEffect transition="in" filter="blinds(horizontal)">
                                      <p:cBhvr>
                                        <p:cTn id="52" dur="500"/>
                                        <p:tgtEl>
                                          <p:spTgt spid="615428">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15428">
                                            <p:txEl>
                                              <p:pRg st="4" end="4"/>
                                            </p:txEl>
                                          </p:spTgt>
                                        </p:tgtEl>
                                        <p:attrNameLst>
                                          <p:attrName>style.visibility</p:attrName>
                                        </p:attrNameLst>
                                      </p:cBhvr>
                                      <p:to>
                                        <p:strVal val="visible"/>
                                      </p:to>
                                    </p:set>
                                    <p:animEffect transition="in" filter="blinds(horizontal)">
                                      <p:cBhvr>
                                        <p:cTn id="57" dur="500"/>
                                        <p:tgtEl>
                                          <p:spTgt spid="615428">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615428">
                                            <p:txEl>
                                              <p:pRg st="5" end="5"/>
                                            </p:txEl>
                                          </p:spTgt>
                                        </p:tgtEl>
                                        <p:attrNameLst>
                                          <p:attrName>style.visibility</p:attrName>
                                        </p:attrNameLst>
                                      </p:cBhvr>
                                      <p:to>
                                        <p:strVal val="visible"/>
                                      </p:to>
                                    </p:set>
                                    <p:animEffect transition="in" filter="blinds(horizontal)">
                                      <p:cBhvr>
                                        <p:cTn id="62" dur="500"/>
                                        <p:tgtEl>
                                          <p:spTgt spid="615428">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615428">
                                            <p:txEl>
                                              <p:pRg st="6" end="6"/>
                                            </p:txEl>
                                          </p:spTgt>
                                        </p:tgtEl>
                                        <p:attrNameLst>
                                          <p:attrName>style.visibility</p:attrName>
                                        </p:attrNameLst>
                                      </p:cBhvr>
                                      <p:to>
                                        <p:strVal val="visible"/>
                                      </p:to>
                                    </p:set>
                                    <p:animEffect transition="in" filter="blinds(horizontal)">
                                      <p:cBhvr>
                                        <p:cTn id="67" dur="500"/>
                                        <p:tgtEl>
                                          <p:spTgt spid="615428">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615428">
                                            <p:txEl>
                                              <p:pRg st="7" end="7"/>
                                            </p:txEl>
                                          </p:spTgt>
                                        </p:tgtEl>
                                        <p:attrNameLst>
                                          <p:attrName>style.visibility</p:attrName>
                                        </p:attrNameLst>
                                      </p:cBhvr>
                                      <p:to>
                                        <p:strVal val="visible"/>
                                      </p:to>
                                    </p:set>
                                    <p:animEffect transition="in" filter="blinds(horizontal)">
                                      <p:cBhvr>
                                        <p:cTn id="72" dur="500"/>
                                        <p:tgtEl>
                                          <p:spTgt spid="615428">
                                            <p:txEl>
                                              <p:pRg st="7" end="7"/>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15428">
                                            <p:txEl>
                                              <p:pRg st="8" end="8"/>
                                            </p:txEl>
                                          </p:spTgt>
                                        </p:tgtEl>
                                        <p:attrNameLst>
                                          <p:attrName>style.visibility</p:attrName>
                                        </p:attrNameLst>
                                      </p:cBhvr>
                                      <p:to>
                                        <p:strVal val="visible"/>
                                      </p:to>
                                    </p:set>
                                    <p:animEffect transition="in" filter="blinds(horizontal)">
                                      <p:cBhvr>
                                        <p:cTn id="77" dur="500"/>
                                        <p:tgtEl>
                                          <p:spTgt spid="61542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2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p:cNvSpPr>
          <p:nvPr>
            <p:ph type="title"/>
          </p:nvPr>
        </p:nvSpPr>
        <p:spPr>
          <a:xfrm>
            <a:off x="457200" y="98425"/>
            <a:ext cx="8229600" cy="425450"/>
          </a:xfrm>
        </p:spPr>
        <p:txBody>
          <a:bodyPr vert="horz" wrap="square" lIns="63500" tIns="25400" rIns="63500" bIns="25400" anchor="t" anchorCtr="0">
            <a:spAutoFit/>
          </a:bodyPr>
          <a:lstStyle/>
          <a:p>
            <a:r>
              <a:rPr lang="zh-CN" altLang="en-US" sz="2800" dirty="0">
                <a:ea typeface="宋体" panose="02010600030101010101" pitchFamily="2" charset="-122"/>
              </a:rPr>
              <a:t>存储器操作数的寻址方式</a:t>
            </a:r>
            <a:endParaRPr lang="zh-CN" altLang="en-US" sz="2800" dirty="0">
              <a:ea typeface="宋体" panose="02010600030101010101" pitchFamily="2" charset="-122"/>
            </a:endParaRPr>
          </a:p>
        </p:txBody>
      </p:sp>
      <p:sp>
        <p:nvSpPr>
          <p:cNvPr id="617475" name="Rectangle 3"/>
          <p:cNvSpPr>
            <a:spLocks noGrp="1"/>
          </p:cNvSpPr>
          <p:nvPr>
            <p:ph idx="1"/>
          </p:nvPr>
        </p:nvSpPr>
        <p:spPr>
          <a:xfrm>
            <a:off x="296863" y="2619375"/>
            <a:ext cx="4095750" cy="2565400"/>
          </a:xfrm>
        </p:spPr>
        <p:txBody>
          <a:bodyPr vert="horz" wrap="square" lIns="91440" tIns="45720" rIns="91440" bIns="45720" anchor="t" anchorCtr="0"/>
          <a:lstStyle/>
          <a:p>
            <a:pPr>
              <a:buFontTx/>
              <a:buNone/>
            </a:pPr>
            <a:r>
              <a:rPr lang="zh-CN" altLang="en-US" dirty="0">
                <a:solidFill>
                  <a:srgbClr val="CC3300"/>
                </a:solidFill>
                <a:latin typeface="微软雅黑" panose="020B0503020204020204" pitchFamily="34" charset="-122"/>
                <a:ea typeface="微软雅黑" panose="020B0503020204020204" pitchFamily="34" charset="-122"/>
              </a:rPr>
              <a:t>各变量应采用什么寻址方式？</a:t>
            </a:r>
            <a:endParaRPr lang="zh-CN" altLang="en-US" dirty="0">
              <a:solidFill>
                <a:srgbClr val="CC3300"/>
              </a:solidFill>
              <a:latin typeface="微软雅黑" panose="020B0503020204020204" pitchFamily="34" charset="-122"/>
              <a:ea typeface="微软雅黑" panose="020B0503020204020204" pitchFamily="34" charset="-122"/>
            </a:endParaRPr>
          </a:p>
          <a:p>
            <a:pPr>
              <a:buFontTx/>
              <a:buNone/>
            </a:pPr>
            <a:r>
              <a:rPr lang="en-US" altLang="zh-CN" dirty="0">
                <a:solidFill>
                  <a:srgbClr val="3333CC"/>
                </a:solidFill>
                <a:latin typeface="微软雅黑" panose="020B0503020204020204" pitchFamily="34" charset="-122"/>
                <a:ea typeface="微软雅黑" panose="020B0503020204020204" pitchFamily="34" charset="-122"/>
              </a:rPr>
              <a:t>x</a:t>
            </a:r>
            <a:r>
              <a:rPr lang="zh-CN" altLang="en-US" dirty="0">
                <a:solidFill>
                  <a:srgbClr val="3333CC"/>
                </a:solidFill>
                <a:latin typeface="微软雅黑" panose="020B0503020204020204" pitchFamily="34" charset="-122"/>
                <a:ea typeface="微软雅黑" panose="020B0503020204020204" pitchFamily="34" charset="-122"/>
              </a:rPr>
              <a:t>、</a:t>
            </a:r>
            <a:r>
              <a:rPr lang="en-US" altLang="zh-CN" dirty="0">
                <a:solidFill>
                  <a:srgbClr val="3333CC"/>
                </a:solidFill>
                <a:latin typeface="微软雅黑" panose="020B0503020204020204" pitchFamily="34" charset="-122"/>
                <a:ea typeface="微软雅黑" panose="020B0503020204020204" pitchFamily="34" charset="-122"/>
              </a:rPr>
              <a:t>c</a:t>
            </a:r>
            <a:r>
              <a:rPr lang="zh-CN" altLang="en-US" dirty="0">
                <a:solidFill>
                  <a:srgbClr val="3333CC"/>
                </a:solidFill>
                <a:latin typeface="微软雅黑" panose="020B0503020204020204" pitchFamily="34" charset="-122"/>
                <a:ea typeface="微软雅黑" panose="020B0503020204020204" pitchFamily="34" charset="-122"/>
              </a:rPr>
              <a:t>：位移 </a:t>
            </a:r>
            <a:r>
              <a:rPr lang="en-US" altLang="zh-CN" dirty="0">
                <a:solidFill>
                  <a:srgbClr val="3333CC"/>
                </a:solidFill>
                <a:latin typeface="微软雅黑" panose="020B0503020204020204" pitchFamily="34" charset="-122"/>
                <a:ea typeface="微软雅黑" panose="020B0503020204020204" pitchFamily="34" charset="-122"/>
              </a:rPr>
              <a:t>/ </a:t>
            </a:r>
            <a:r>
              <a:rPr lang="zh-CN" altLang="en-US" dirty="0">
                <a:solidFill>
                  <a:srgbClr val="3333CC"/>
                </a:solidFill>
                <a:latin typeface="微软雅黑" panose="020B0503020204020204" pitchFamily="34" charset="-122"/>
                <a:ea typeface="微软雅黑" panose="020B0503020204020204" pitchFamily="34" charset="-122"/>
              </a:rPr>
              <a:t>基址</a:t>
            </a:r>
            <a:endParaRPr lang="zh-CN" altLang="en-US" dirty="0">
              <a:solidFill>
                <a:srgbClr val="3333CC"/>
              </a:solidFill>
              <a:latin typeface="微软雅黑" panose="020B0503020204020204" pitchFamily="34" charset="-122"/>
              <a:ea typeface="微软雅黑" panose="020B0503020204020204" pitchFamily="34" charset="-122"/>
            </a:endParaRPr>
          </a:p>
          <a:p>
            <a:pPr>
              <a:buFontTx/>
              <a:buNone/>
            </a:pPr>
            <a:r>
              <a:rPr lang="en-US" altLang="zh-CN" dirty="0">
                <a:solidFill>
                  <a:srgbClr val="3333CC"/>
                </a:solidFill>
                <a:latin typeface="微软雅黑" panose="020B0503020204020204" pitchFamily="34" charset="-122"/>
                <a:ea typeface="微软雅黑" panose="020B0503020204020204" pitchFamily="34" charset="-122"/>
              </a:rPr>
              <a:t>a[i]</a:t>
            </a:r>
            <a:r>
              <a:rPr lang="zh-CN" altLang="en-US" dirty="0">
                <a:solidFill>
                  <a:srgbClr val="3333CC"/>
                </a:solidFill>
                <a:latin typeface="微软雅黑" panose="020B0503020204020204" pitchFamily="34" charset="-122"/>
                <a:ea typeface="微软雅黑" panose="020B0503020204020204" pitchFamily="34" charset="-122"/>
              </a:rPr>
              <a:t>：</a:t>
            </a:r>
            <a:r>
              <a:rPr lang="en-US" altLang="zh-CN" dirty="0">
                <a:solidFill>
                  <a:srgbClr val="008000"/>
                </a:solidFill>
                <a:latin typeface="微软雅黑" panose="020B0503020204020204" pitchFamily="34" charset="-122"/>
                <a:ea typeface="微软雅黑" panose="020B0503020204020204" pitchFamily="34" charset="-122"/>
              </a:rPr>
              <a:t>104</a:t>
            </a:r>
            <a:r>
              <a:rPr lang="en-US" altLang="zh-CN" dirty="0">
                <a:latin typeface="微软雅黑" panose="020B0503020204020204" pitchFamily="34" charset="-122"/>
                <a:ea typeface="微软雅黑" panose="020B0503020204020204" pitchFamily="34" charset="-122"/>
              </a:rPr>
              <a:t>+i×</a:t>
            </a:r>
            <a:r>
              <a:rPr lang="en-US" altLang="zh-CN" dirty="0">
                <a:solidFill>
                  <a:srgbClr val="FF3300"/>
                </a:solidFill>
                <a:latin typeface="微软雅黑" panose="020B0503020204020204" pitchFamily="34" charset="-122"/>
                <a:ea typeface="微软雅黑" panose="020B0503020204020204" pitchFamily="34" charset="-122"/>
              </a:rPr>
              <a:t>4</a:t>
            </a:r>
            <a:r>
              <a:rPr lang="zh-CN" altLang="en-US" dirty="0">
                <a:solidFill>
                  <a:srgbClr val="FF3300"/>
                </a:solidFill>
                <a:latin typeface="微软雅黑" panose="020B0503020204020204" pitchFamily="34" charset="-122"/>
                <a:ea typeface="微软雅黑" panose="020B0503020204020204" pitchFamily="34" charset="-122"/>
              </a:rPr>
              <a:t>，比例变址</a:t>
            </a:r>
            <a:r>
              <a:rPr lang="en-US" altLang="zh-CN" dirty="0">
                <a:solidFill>
                  <a:srgbClr val="3333CC"/>
                </a:solidFill>
                <a:latin typeface="微软雅黑" panose="020B0503020204020204" pitchFamily="34" charset="-122"/>
                <a:ea typeface="微软雅黑" panose="020B0503020204020204" pitchFamily="34" charset="-122"/>
              </a:rPr>
              <a:t>+</a:t>
            </a:r>
            <a:r>
              <a:rPr lang="zh-CN" altLang="en-US" dirty="0">
                <a:solidFill>
                  <a:srgbClr val="008000"/>
                </a:solidFill>
                <a:latin typeface="微软雅黑" panose="020B0503020204020204" pitchFamily="34" charset="-122"/>
                <a:ea typeface="微软雅黑" panose="020B0503020204020204" pitchFamily="34" charset="-122"/>
              </a:rPr>
              <a:t>位移</a:t>
            </a:r>
            <a:endParaRPr lang="zh-CN" altLang="en-US" dirty="0">
              <a:solidFill>
                <a:srgbClr val="008000"/>
              </a:solidFill>
              <a:latin typeface="微软雅黑" panose="020B0503020204020204" pitchFamily="34" charset="-122"/>
              <a:ea typeface="微软雅黑" panose="020B0503020204020204" pitchFamily="34" charset="-122"/>
            </a:endParaRPr>
          </a:p>
          <a:p>
            <a:pPr>
              <a:buFontTx/>
              <a:buNone/>
            </a:pPr>
            <a:r>
              <a:rPr lang="en-US" altLang="zh-CN" dirty="0">
                <a:solidFill>
                  <a:srgbClr val="3333CC"/>
                </a:solidFill>
                <a:latin typeface="微软雅黑" panose="020B0503020204020204" pitchFamily="34" charset="-122"/>
                <a:ea typeface="微软雅黑" panose="020B0503020204020204" pitchFamily="34" charset="-122"/>
              </a:rPr>
              <a:t>d[i]</a:t>
            </a:r>
            <a:r>
              <a:rPr lang="zh-CN" altLang="en-US" dirty="0">
                <a:solidFill>
                  <a:srgbClr val="3333CC"/>
                </a:solidFill>
                <a:latin typeface="微软雅黑" panose="020B0503020204020204" pitchFamily="34" charset="-122"/>
                <a:ea typeface="微软雅黑" panose="020B0503020204020204" pitchFamily="34" charset="-122"/>
              </a:rPr>
              <a:t>：</a:t>
            </a:r>
            <a:r>
              <a:rPr lang="en-US" altLang="zh-CN" dirty="0">
                <a:solidFill>
                  <a:srgbClr val="008000"/>
                </a:solidFill>
                <a:latin typeface="微软雅黑" panose="020B0503020204020204" pitchFamily="34" charset="-122"/>
                <a:ea typeface="微软雅黑" panose="020B0503020204020204" pitchFamily="34" charset="-122"/>
              </a:rPr>
              <a:t>544</a:t>
            </a:r>
            <a:r>
              <a:rPr lang="en-US" altLang="zh-CN" dirty="0">
                <a:latin typeface="微软雅黑" panose="020B0503020204020204" pitchFamily="34" charset="-122"/>
                <a:ea typeface="微软雅黑" panose="020B0503020204020204" pitchFamily="34" charset="-122"/>
              </a:rPr>
              <a:t>+i×</a:t>
            </a:r>
            <a:r>
              <a:rPr lang="en-US" altLang="zh-CN" dirty="0">
                <a:solidFill>
                  <a:srgbClr val="FF3300"/>
                </a:solidFill>
                <a:latin typeface="微软雅黑" panose="020B0503020204020204" pitchFamily="34" charset="-122"/>
                <a:ea typeface="微软雅黑" panose="020B0503020204020204" pitchFamily="34" charset="-122"/>
              </a:rPr>
              <a:t>8</a:t>
            </a:r>
            <a:r>
              <a:rPr lang="zh-CN" altLang="en-US" dirty="0">
                <a:solidFill>
                  <a:srgbClr val="FF3300"/>
                </a:solidFill>
                <a:latin typeface="微软雅黑" panose="020B0503020204020204" pitchFamily="34" charset="-122"/>
                <a:ea typeface="微软雅黑" panose="020B0503020204020204" pitchFamily="34" charset="-122"/>
              </a:rPr>
              <a:t>，比例变址</a:t>
            </a:r>
            <a:r>
              <a:rPr lang="en-US" altLang="zh-CN" dirty="0">
                <a:solidFill>
                  <a:srgbClr val="3333CC"/>
                </a:solidFill>
                <a:latin typeface="微软雅黑" panose="020B0503020204020204" pitchFamily="34" charset="-122"/>
                <a:ea typeface="微软雅黑" panose="020B0503020204020204" pitchFamily="34" charset="-122"/>
              </a:rPr>
              <a:t>+</a:t>
            </a:r>
            <a:r>
              <a:rPr lang="zh-CN" altLang="en-US" dirty="0">
                <a:solidFill>
                  <a:srgbClr val="008000"/>
                </a:solidFill>
                <a:latin typeface="微软雅黑" panose="020B0503020204020204" pitchFamily="34" charset="-122"/>
                <a:ea typeface="微软雅黑" panose="020B0503020204020204" pitchFamily="34" charset="-122"/>
              </a:rPr>
              <a:t>位移</a:t>
            </a:r>
            <a:endParaRPr lang="zh-CN" altLang="en-US" dirty="0">
              <a:solidFill>
                <a:srgbClr val="008000"/>
              </a:solidFill>
              <a:latin typeface="微软雅黑" panose="020B0503020204020204" pitchFamily="34" charset="-122"/>
              <a:ea typeface="微软雅黑" panose="020B0503020204020204" pitchFamily="34" charset="-122"/>
            </a:endParaRPr>
          </a:p>
          <a:p>
            <a:pPr>
              <a:buFontTx/>
              <a:buNone/>
            </a:pPr>
            <a:r>
              <a:rPr lang="en-US" altLang="zh-CN" dirty="0">
                <a:solidFill>
                  <a:srgbClr val="3333CC"/>
                </a:solidFill>
                <a:latin typeface="微软雅黑" panose="020B0503020204020204" pitchFamily="34" charset="-122"/>
                <a:ea typeface="微软雅黑" panose="020B0503020204020204" pitchFamily="34" charset="-122"/>
              </a:rPr>
              <a:t>b[i][j]</a:t>
            </a:r>
            <a:r>
              <a:rPr lang="zh-CN" altLang="en-US" dirty="0">
                <a:solidFill>
                  <a:srgbClr val="3333CC"/>
                </a:solidFill>
                <a:latin typeface="微软雅黑" panose="020B0503020204020204" pitchFamily="34" charset="-122"/>
                <a:ea typeface="微软雅黑" panose="020B0503020204020204" pitchFamily="34" charset="-122"/>
              </a:rPr>
              <a:t>： </a:t>
            </a:r>
            <a:r>
              <a:rPr lang="en-US" altLang="zh-CN" dirty="0">
                <a:solidFill>
                  <a:srgbClr val="008000"/>
                </a:solidFill>
                <a:latin typeface="微软雅黑" panose="020B0503020204020204" pitchFamily="34" charset="-122"/>
                <a:ea typeface="微软雅黑" panose="020B0503020204020204" pitchFamily="34" charset="-122"/>
              </a:rPr>
              <a:t>504</a:t>
            </a:r>
            <a:r>
              <a:rPr lang="en-US" altLang="zh-CN" dirty="0">
                <a:latin typeface="微软雅黑" panose="020B0503020204020204" pitchFamily="34" charset="-122"/>
                <a:ea typeface="微软雅黑" panose="020B0503020204020204" pitchFamily="34" charset="-122"/>
              </a:rPr>
              <a:t>+</a:t>
            </a:r>
            <a:r>
              <a:rPr lang="en-US" altLang="zh-CN" dirty="0">
                <a:solidFill>
                  <a:srgbClr val="3333CC"/>
                </a:solidFill>
                <a:latin typeface="微软雅黑" panose="020B0503020204020204" pitchFamily="34" charset="-122"/>
                <a:ea typeface="微软雅黑" panose="020B0503020204020204" pitchFamily="34" charset="-122"/>
              </a:rPr>
              <a:t>i×8</a:t>
            </a:r>
            <a:r>
              <a:rPr lang="en-US" altLang="zh-CN" dirty="0">
                <a:latin typeface="微软雅黑" panose="020B0503020204020204" pitchFamily="34" charset="-122"/>
                <a:ea typeface="微软雅黑" panose="020B0503020204020204" pitchFamily="34" charset="-122"/>
              </a:rPr>
              <a:t>+j×</a:t>
            </a:r>
            <a:r>
              <a:rPr lang="en-US" altLang="zh-CN" dirty="0">
                <a:solidFill>
                  <a:srgbClr val="FF3300"/>
                </a:solidFill>
                <a:latin typeface="微软雅黑" panose="020B0503020204020204" pitchFamily="34" charset="-122"/>
                <a:ea typeface="微软雅黑" panose="020B0503020204020204" pitchFamily="34" charset="-122"/>
              </a:rPr>
              <a:t>2</a:t>
            </a:r>
            <a:r>
              <a:rPr lang="zh-CN" altLang="en-US" dirty="0">
                <a:solidFill>
                  <a:srgbClr val="FF3300"/>
                </a:solidFill>
                <a:latin typeface="微软雅黑" panose="020B0503020204020204" pitchFamily="34" charset="-122"/>
                <a:ea typeface="微软雅黑" panose="020B0503020204020204" pitchFamily="34" charset="-122"/>
              </a:rPr>
              <a:t>，</a:t>
            </a:r>
            <a:endParaRPr lang="zh-CN" altLang="en-US" dirty="0">
              <a:solidFill>
                <a:srgbClr val="3333CC"/>
              </a:solidFill>
              <a:latin typeface="微软雅黑" panose="020B0503020204020204" pitchFamily="34" charset="-122"/>
              <a:ea typeface="微软雅黑" panose="020B0503020204020204" pitchFamily="34" charset="-122"/>
            </a:endParaRPr>
          </a:p>
          <a:p>
            <a:pPr>
              <a:buFontTx/>
              <a:buNone/>
            </a:pPr>
            <a:r>
              <a:rPr lang="zh-CN" altLang="en-US" dirty="0">
                <a:solidFill>
                  <a:srgbClr val="3333CC"/>
                </a:solidFill>
                <a:latin typeface="微软雅黑" panose="020B0503020204020204" pitchFamily="34" charset="-122"/>
                <a:ea typeface="微软雅黑" panose="020B0503020204020204" pitchFamily="34" charset="-122"/>
              </a:rPr>
              <a:t>              基址</a:t>
            </a:r>
            <a:r>
              <a:rPr lang="en-US" altLang="zh-CN" dirty="0">
                <a:solidFill>
                  <a:srgbClr val="3333CC"/>
                </a:solidFill>
                <a:latin typeface="微软雅黑" panose="020B0503020204020204" pitchFamily="34" charset="-122"/>
                <a:ea typeface="微软雅黑" panose="020B0503020204020204" pitchFamily="34" charset="-122"/>
              </a:rPr>
              <a:t>+</a:t>
            </a:r>
            <a:r>
              <a:rPr lang="zh-CN" altLang="en-US" dirty="0">
                <a:solidFill>
                  <a:srgbClr val="FF3300"/>
                </a:solidFill>
                <a:latin typeface="微软雅黑" panose="020B0503020204020204" pitchFamily="34" charset="-122"/>
                <a:ea typeface="微软雅黑" panose="020B0503020204020204" pitchFamily="34" charset="-122"/>
              </a:rPr>
              <a:t>比例变址</a:t>
            </a:r>
            <a:r>
              <a:rPr lang="en-US" altLang="zh-CN" dirty="0">
                <a:solidFill>
                  <a:srgbClr val="3333CC"/>
                </a:solidFill>
                <a:latin typeface="微软雅黑" panose="020B0503020204020204" pitchFamily="34" charset="-122"/>
                <a:ea typeface="微软雅黑" panose="020B0503020204020204" pitchFamily="34" charset="-122"/>
              </a:rPr>
              <a:t>+</a:t>
            </a:r>
            <a:r>
              <a:rPr lang="zh-CN" altLang="en-US" dirty="0">
                <a:solidFill>
                  <a:srgbClr val="008000"/>
                </a:solidFill>
                <a:latin typeface="微软雅黑" panose="020B0503020204020204" pitchFamily="34" charset="-122"/>
                <a:ea typeface="微软雅黑" panose="020B0503020204020204" pitchFamily="34" charset="-122"/>
              </a:rPr>
              <a:t>位移</a:t>
            </a:r>
            <a:endParaRPr lang="zh-CN" altLang="en-US" dirty="0">
              <a:solidFill>
                <a:srgbClr val="008000"/>
              </a:solidFill>
              <a:latin typeface="微软雅黑" panose="020B0503020204020204" pitchFamily="34" charset="-122"/>
              <a:ea typeface="微软雅黑" panose="020B0503020204020204" pitchFamily="34" charset="-122"/>
            </a:endParaRPr>
          </a:p>
          <a:p>
            <a:pPr>
              <a:buFontTx/>
              <a:buNone/>
            </a:pPr>
            <a:endParaRPr lang="en-US" altLang="zh-CN" dirty="0">
              <a:solidFill>
                <a:srgbClr val="3333CC"/>
              </a:solidFill>
              <a:latin typeface="微软雅黑" panose="020B0503020204020204" pitchFamily="34" charset="-122"/>
              <a:ea typeface="微软雅黑" panose="020B0503020204020204" pitchFamily="34" charset="-122"/>
            </a:endParaRPr>
          </a:p>
          <a:p>
            <a:pPr>
              <a:buFontTx/>
              <a:buNone/>
            </a:pPr>
            <a:endParaRPr lang="zh-CN" altLang="en-US" dirty="0">
              <a:solidFill>
                <a:srgbClr val="008000"/>
              </a:solidFill>
              <a:latin typeface="微软雅黑" panose="020B0503020204020204" pitchFamily="34" charset="-122"/>
              <a:ea typeface="微软雅黑" panose="020B0503020204020204" pitchFamily="34" charset="-122"/>
            </a:endParaRPr>
          </a:p>
        </p:txBody>
      </p:sp>
      <p:sp>
        <p:nvSpPr>
          <p:cNvPr id="617476" name="Rectangle 4"/>
          <p:cNvSpPr/>
          <p:nvPr/>
        </p:nvSpPr>
        <p:spPr>
          <a:xfrm>
            <a:off x="385763" y="684213"/>
            <a:ext cx="2295525" cy="1844675"/>
          </a:xfrm>
          <a:prstGeom prst="rect">
            <a:avLst/>
          </a:prstGeom>
          <a:noFill/>
          <a:ln w="9525">
            <a:noFill/>
          </a:ln>
        </p:spPr>
        <p:txBody>
          <a:bodyPr/>
          <a:lstStyle/>
          <a:p>
            <a:pPr marL="342900" indent="-342900">
              <a:spcBef>
                <a:spcPct val="10000"/>
              </a:spcBef>
            </a:pPr>
            <a:r>
              <a:rPr lang="en-US" altLang="zh-CN" sz="2200" dirty="0">
                <a:solidFill>
                  <a:schemeClr val="tx1"/>
                </a:solidFill>
                <a:latin typeface="Arial" panose="020B0604020202020204" pitchFamily="34" charset="0"/>
              </a:rPr>
              <a:t>int x</a:t>
            </a:r>
            <a:r>
              <a:rPr lang="zh-CN" altLang="en-US" sz="2200" dirty="0">
                <a:solidFill>
                  <a:schemeClr val="tx1"/>
                </a:solidFill>
                <a:latin typeface="Arial" panose="020B0604020202020204" pitchFamily="34" charset="0"/>
              </a:rPr>
              <a:t>；</a:t>
            </a:r>
            <a:endParaRPr lang="zh-CN" altLang="en-US" sz="2200" dirty="0">
              <a:solidFill>
                <a:schemeClr val="tx1"/>
              </a:solidFill>
              <a:latin typeface="Arial" panose="020B0604020202020204" pitchFamily="34" charset="0"/>
            </a:endParaRPr>
          </a:p>
          <a:p>
            <a:pPr marL="342900" indent="-342900">
              <a:spcBef>
                <a:spcPct val="10000"/>
              </a:spcBef>
            </a:pPr>
            <a:r>
              <a:rPr lang="en-US" altLang="zh-CN" sz="2200" dirty="0">
                <a:solidFill>
                  <a:schemeClr val="tx1"/>
                </a:solidFill>
                <a:latin typeface="Arial" panose="020B0604020202020204" pitchFamily="34" charset="0"/>
              </a:rPr>
              <a:t>float a[100];</a:t>
            </a:r>
            <a:endParaRPr lang="en-US" altLang="zh-CN" sz="2200" dirty="0">
              <a:solidFill>
                <a:schemeClr val="tx1"/>
              </a:solidFill>
              <a:latin typeface="Arial" panose="020B0604020202020204" pitchFamily="34" charset="0"/>
            </a:endParaRPr>
          </a:p>
          <a:p>
            <a:pPr marL="342900" indent="-342900">
              <a:spcBef>
                <a:spcPct val="10000"/>
              </a:spcBef>
            </a:pPr>
            <a:r>
              <a:rPr lang="en-US" altLang="zh-CN" sz="2200" dirty="0">
                <a:solidFill>
                  <a:schemeClr val="tx1"/>
                </a:solidFill>
                <a:latin typeface="Arial" panose="020B0604020202020204" pitchFamily="34" charset="0"/>
              </a:rPr>
              <a:t>short b[4][4];</a:t>
            </a:r>
            <a:endParaRPr lang="en-US" altLang="zh-CN" sz="2200" dirty="0">
              <a:solidFill>
                <a:schemeClr val="tx1"/>
              </a:solidFill>
              <a:latin typeface="Arial" panose="020B0604020202020204" pitchFamily="34" charset="0"/>
            </a:endParaRPr>
          </a:p>
          <a:p>
            <a:pPr marL="342900" indent="-342900">
              <a:spcBef>
                <a:spcPct val="10000"/>
              </a:spcBef>
            </a:pPr>
            <a:r>
              <a:rPr lang="en-US" altLang="zh-CN" sz="2200" dirty="0">
                <a:solidFill>
                  <a:schemeClr val="tx1"/>
                </a:solidFill>
                <a:latin typeface="Arial" panose="020B0604020202020204" pitchFamily="34" charset="0"/>
              </a:rPr>
              <a:t>char c;</a:t>
            </a:r>
            <a:endParaRPr lang="en-US" altLang="zh-CN" sz="2200" dirty="0">
              <a:solidFill>
                <a:schemeClr val="tx1"/>
              </a:solidFill>
              <a:latin typeface="Arial" panose="020B0604020202020204" pitchFamily="34" charset="0"/>
            </a:endParaRPr>
          </a:p>
          <a:p>
            <a:pPr marL="342900" indent="-342900">
              <a:spcBef>
                <a:spcPct val="10000"/>
              </a:spcBef>
            </a:pPr>
            <a:r>
              <a:rPr lang="en-US" altLang="zh-CN" sz="2200" dirty="0">
                <a:solidFill>
                  <a:schemeClr val="tx1"/>
                </a:solidFill>
                <a:latin typeface="Arial" panose="020B0604020202020204" pitchFamily="34" charset="0"/>
              </a:rPr>
              <a:t>double d[10];</a:t>
            </a:r>
            <a:r>
              <a:rPr lang="en-US" altLang="zh-CN" sz="2300" dirty="0">
                <a:solidFill>
                  <a:schemeClr val="tx1"/>
                </a:solidFill>
                <a:latin typeface="Arial" panose="020B0604020202020204" pitchFamily="34" charset="0"/>
              </a:rPr>
              <a:t> </a:t>
            </a:r>
            <a:endParaRPr lang="en-US" altLang="zh-CN" sz="2300" dirty="0">
              <a:solidFill>
                <a:schemeClr val="tx1"/>
              </a:solidFill>
              <a:latin typeface="Arial" panose="020B0604020202020204" pitchFamily="34" charset="0"/>
            </a:endParaRPr>
          </a:p>
        </p:txBody>
      </p:sp>
      <p:sp>
        <p:nvSpPr>
          <p:cNvPr id="617520" name="Rectangle 48"/>
          <p:cNvSpPr/>
          <p:nvPr/>
        </p:nvSpPr>
        <p:spPr>
          <a:xfrm>
            <a:off x="187325" y="5121275"/>
            <a:ext cx="4699000" cy="1646238"/>
          </a:xfrm>
          <a:prstGeom prst="rect">
            <a:avLst/>
          </a:prstGeom>
          <a:noFill/>
          <a:ln w="9525">
            <a:noFill/>
          </a:ln>
        </p:spPr>
        <p:txBody>
          <a:bodyPr anchor="ctr" anchorCtr="0">
            <a:spAutoFit/>
          </a:bodyPr>
          <a:lstStyle/>
          <a:p>
            <a:pPr>
              <a:spcBef>
                <a:spcPct val="35000"/>
              </a:spcBef>
            </a:pPr>
            <a:r>
              <a:rPr lang="zh-CN" altLang="en-US" sz="2000" dirty="0">
                <a:latin typeface="微软雅黑" panose="020B0503020204020204" pitchFamily="34" charset="-122"/>
                <a:ea typeface="微软雅黑" panose="020B0503020204020204" pitchFamily="34" charset="-122"/>
              </a:rPr>
              <a:t>将</a:t>
            </a:r>
            <a:r>
              <a:rPr lang="en-US" altLang="zh-CN" sz="2000" dirty="0">
                <a:latin typeface="微软雅黑" panose="020B0503020204020204" pitchFamily="34" charset="-122"/>
                <a:ea typeface="微软雅黑" panose="020B0503020204020204" pitchFamily="34" charset="-122"/>
              </a:rPr>
              <a:t>b[i][j]</a:t>
            </a:r>
            <a:r>
              <a:rPr lang="zh-CN" altLang="en-US" sz="2000" dirty="0">
                <a:latin typeface="微软雅黑" panose="020B0503020204020204" pitchFamily="34" charset="-122"/>
                <a:ea typeface="微软雅黑" panose="020B0503020204020204" pitchFamily="34" charset="-122"/>
              </a:rPr>
              <a:t>取到</a:t>
            </a:r>
            <a:r>
              <a:rPr lang="en-US" altLang="zh-CN" sz="2000" dirty="0">
                <a:latin typeface="微软雅黑" panose="020B0503020204020204" pitchFamily="34" charset="-122"/>
                <a:ea typeface="微软雅黑" panose="020B0503020204020204" pitchFamily="34" charset="-122"/>
              </a:rPr>
              <a:t>AX</a:t>
            </a:r>
            <a:r>
              <a:rPr lang="zh-CN" altLang="en-US" sz="2000" dirty="0">
                <a:latin typeface="微软雅黑" panose="020B0503020204020204" pitchFamily="34" charset="-122"/>
                <a:ea typeface="微软雅黑" panose="020B0503020204020204" pitchFamily="34" charset="-122"/>
              </a:rPr>
              <a:t>中的指令可以是：</a:t>
            </a:r>
            <a:endParaRPr lang="zh-CN" altLang="en-US" sz="2000" dirty="0">
              <a:latin typeface="微软雅黑" panose="020B0503020204020204" pitchFamily="34" charset="-122"/>
              <a:ea typeface="微软雅黑" panose="020B0503020204020204" pitchFamily="34" charset="-122"/>
            </a:endParaRPr>
          </a:p>
          <a:p>
            <a:pPr>
              <a:spcBef>
                <a:spcPct val="35000"/>
              </a:spcBef>
            </a:pPr>
            <a:r>
              <a:rPr lang="zh-CN" altLang="en-US" sz="2000" dirty="0">
                <a:solidFill>
                  <a:srgbClr val="3333CC"/>
                </a:solidFill>
                <a:latin typeface="微软雅黑" panose="020B0503020204020204" pitchFamily="34" charset="-122"/>
                <a:ea typeface="微软雅黑" panose="020B0503020204020204" pitchFamily="34" charset="-122"/>
              </a:rPr>
              <a:t>“</a:t>
            </a:r>
            <a:r>
              <a:rPr lang="en-US" altLang="zh-CN" sz="2000" dirty="0">
                <a:solidFill>
                  <a:srgbClr val="3333CC"/>
                </a:solidFill>
                <a:latin typeface="微软雅黑" panose="020B0503020204020204" pitchFamily="34" charset="-122"/>
                <a:ea typeface="微软雅黑" panose="020B0503020204020204" pitchFamily="34" charset="-122"/>
              </a:rPr>
              <a:t>movw </a:t>
            </a:r>
            <a:r>
              <a:rPr lang="en-US" altLang="zh-CN" sz="2000" dirty="0">
                <a:solidFill>
                  <a:srgbClr val="007635"/>
                </a:solidFill>
                <a:latin typeface="微软雅黑" panose="020B0503020204020204" pitchFamily="34" charset="-122"/>
                <a:ea typeface="微软雅黑" panose="020B0503020204020204" pitchFamily="34" charset="-122"/>
              </a:rPr>
              <a:t>504</a:t>
            </a:r>
            <a:r>
              <a:rPr lang="en-US" altLang="zh-CN" sz="2000" dirty="0">
                <a:solidFill>
                  <a:srgbClr val="3333CC"/>
                </a:solidFill>
                <a:latin typeface="微软雅黑" panose="020B0503020204020204" pitchFamily="34" charset="-122"/>
                <a:ea typeface="微软雅黑" panose="020B0503020204020204" pitchFamily="34" charset="-122"/>
              </a:rPr>
              <a:t>(%ebp</a:t>
            </a:r>
            <a:r>
              <a:rPr lang="en-US" altLang="zh-CN" sz="2000" dirty="0">
                <a:latin typeface="微软雅黑" panose="020B0503020204020204" pitchFamily="34" charset="-122"/>
                <a:ea typeface="微软雅黑" panose="020B0503020204020204" pitchFamily="34" charset="-122"/>
              </a:rPr>
              <a:t>,%esi</a:t>
            </a:r>
            <a:r>
              <a:rPr lang="en-US" altLang="zh-CN" sz="2000" dirty="0">
                <a:solidFill>
                  <a:srgbClr val="3333CC"/>
                </a:solidFill>
                <a:latin typeface="微软雅黑" panose="020B0503020204020204" pitchFamily="34" charset="-122"/>
                <a:ea typeface="微软雅黑" panose="020B0503020204020204" pitchFamily="34" charset="-122"/>
              </a:rPr>
              <a:t>,</a:t>
            </a:r>
            <a:r>
              <a:rPr lang="en-US" altLang="zh-CN" sz="2000" dirty="0">
                <a:solidFill>
                  <a:srgbClr val="FF3300"/>
                </a:solidFill>
                <a:latin typeface="微软雅黑" panose="020B0503020204020204" pitchFamily="34" charset="-122"/>
                <a:ea typeface="微软雅黑" panose="020B0503020204020204" pitchFamily="34" charset="-122"/>
              </a:rPr>
              <a:t>2</a:t>
            </a:r>
            <a:r>
              <a:rPr lang="en-US" altLang="zh-CN" sz="2000" dirty="0">
                <a:solidFill>
                  <a:srgbClr val="3333CC"/>
                </a:solidFill>
                <a:latin typeface="微软雅黑" panose="020B0503020204020204" pitchFamily="34" charset="-122"/>
                <a:ea typeface="微软雅黑" panose="020B0503020204020204" pitchFamily="34" charset="-122"/>
              </a:rPr>
              <a:t>), %ax”</a:t>
            </a:r>
            <a:endParaRPr lang="en-US" altLang="zh-CN" sz="2000" dirty="0">
              <a:solidFill>
                <a:srgbClr val="3333CC"/>
              </a:solidFill>
              <a:latin typeface="微软雅黑" panose="020B0503020204020204" pitchFamily="34" charset="-122"/>
              <a:ea typeface="微软雅黑" panose="020B0503020204020204" pitchFamily="34" charset="-122"/>
            </a:endParaRPr>
          </a:p>
          <a:p>
            <a:pPr>
              <a:spcBef>
                <a:spcPct val="35000"/>
              </a:spcBef>
            </a:pPr>
            <a:r>
              <a:rPr lang="zh-CN" altLang="en-US" sz="2000" dirty="0">
                <a:solidFill>
                  <a:srgbClr val="3333CC"/>
                </a:solidFill>
                <a:latin typeface="微软雅黑" panose="020B0503020204020204" pitchFamily="34" charset="-122"/>
                <a:ea typeface="微软雅黑" panose="020B0503020204020204" pitchFamily="34" charset="-122"/>
              </a:rPr>
              <a:t>其中，</a:t>
            </a:r>
            <a:r>
              <a:rPr lang="zh-CN" altLang="en-US" sz="2000" b="0" dirty="0">
                <a:latin typeface="微软雅黑" panose="020B0503020204020204" pitchFamily="34" charset="-122"/>
                <a:ea typeface="微软雅黑" panose="020B0503020204020204" pitchFamily="34" charset="-122"/>
              </a:rPr>
              <a:t> </a:t>
            </a:r>
            <a:r>
              <a:rPr lang="en-US" altLang="zh-CN" sz="2000" dirty="0">
                <a:solidFill>
                  <a:srgbClr val="3333CC"/>
                </a:solidFill>
                <a:latin typeface="微软雅黑" panose="020B0503020204020204" pitchFamily="34" charset="-122"/>
                <a:ea typeface="微软雅黑" panose="020B0503020204020204" pitchFamily="34" charset="-122"/>
              </a:rPr>
              <a:t>i×8</a:t>
            </a:r>
            <a:r>
              <a:rPr lang="zh-CN" altLang="en-US" sz="2000" dirty="0">
                <a:solidFill>
                  <a:srgbClr val="3333CC"/>
                </a:solidFill>
                <a:latin typeface="微软雅黑" panose="020B0503020204020204" pitchFamily="34" charset="-122"/>
                <a:ea typeface="微软雅黑" panose="020B0503020204020204" pitchFamily="34" charset="-122"/>
              </a:rPr>
              <a:t>在</a:t>
            </a:r>
            <a:r>
              <a:rPr lang="en-US" altLang="zh-CN" sz="2000" dirty="0">
                <a:solidFill>
                  <a:srgbClr val="3333CC"/>
                </a:solidFill>
                <a:latin typeface="微软雅黑" panose="020B0503020204020204" pitchFamily="34" charset="-122"/>
                <a:ea typeface="微软雅黑" panose="020B0503020204020204" pitchFamily="34" charset="-122"/>
              </a:rPr>
              <a:t>EBP</a:t>
            </a:r>
            <a:r>
              <a:rPr lang="zh-CN" altLang="en-US" sz="2000" dirty="0">
                <a:solidFill>
                  <a:srgbClr val="3333CC"/>
                </a:solidFill>
                <a:latin typeface="微软雅黑" panose="020B0503020204020204" pitchFamily="34" charset="-122"/>
                <a:ea typeface="微软雅黑" panose="020B0503020204020204" pitchFamily="34" charset="-122"/>
              </a:rPr>
              <a:t>中，</a:t>
            </a:r>
            <a:r>
              <a:rPr lang="en-US" altLang="zh-CN" sz="2000" dirty="0">
                <a:solidFill>
                  <a:srgbClr val="3333CC"/>
                </a:solidFill>
                <a:latin typeface="微软雅黑" panose="020B0503020204020204" pitchFamily="34" charset="-122"/>
                <a:ea typeface="微软雅黑" panose="020B0503020204020204" pitchFamily="34" charset="-122"/>
              </a:rPr>
              <a:t>j</a:t>
            </a:r>
            <a:r>
              <a:rPr lang="zh-CN" altLang="en-US" sz="2000" dirty="0">
                <a:solidFill>
                  <a:srgbClr val="3333CC"/>
                </a:solidFill>
                <a:latin typeface="微软雅黑" panose="020B0503020204020204" pitchFamily="34" charset="-122"/>
                <a:ea typeface="微软雅黑" panose="020B0503020204020204" pitchFamily="34" charset="-122"/>
              </a:rPr>
              <a:t>在</a:t>
            </a:r>
            <a:r>
              <a:rPr lang="en-US" altLang="zh-CN" sz="2000" dirty="0">
                <a:solidFill>
                  <a:srgbClr val="3333CC"/>
                </a:solidFill>
                <a:latin typeface="微软雅黑" panose="020B0503020204020204" pitchFamily="34" charset="-122"/>
                <a:ea typeface="微软雅黑" panose="020B0503020204020204" pitchFamily="34" charset="-122"/>
              </a:rPr>
              <a:t>ESI</a:t>
            </a:r>
            <a:r>
              <a:rPr lang="zh-CN" altLang="en-US" sz="2000" dirty="0">
                <a:solidFill>
                  <a:srgbClr val="3333CC"/>
                </a:solidFill>
                <a:latin typeface="微软雅黑" panose="020B0503020204020204" pitchFamily="34" charset="-122"/>
                <a:ea typeface="微软雅黑" panose="020B0503020204020204" pitchFamily="34" charset="-122"/>
              </a:rPr>
              <a:t>中，</a:t>
            </a:r>
            <a:endParaRPr lang="zh-CN" altLang="en-US" sz="2000" dirty="0">
              <a:solidFill>
                <a:srgbClr val="3333CC"/>
              </a:solidFill>
              <a:latin typeface="微软雅黑" panose="020B0503020204020204" pitchFamily="34" charset="-122"/>
              <a:ea typeface="微软雅黑" panose="020B0503020204020204" pitchFamily="34" charset="-122"/>
            </a:endParaRPr>
          </a:p>
          <a:p>
            <a:pPr>
              <a:spcBef>
                <a:spcPct val="35000"/>
              </a:spcBef>
            </a:pPr>
            <a:r>
              <a:rPr lang="en-US" altLang="zh-CN" sz="2000" dirty="0">
                <a:solidFill>
                  <a:srgbClr val="3333CC"/>
                </a:solidFill>
                <a:latin typeface="微软雅黑" panose="020B0503020204020204" pitchFamily="34" charset="-122"/>
                <a:ea typeface="微软雅黑" panose="020B0503020204020204" pitchFamily="34" charset="-122"/>
              </a:rPr>
              <a:t>           </a:t>
            </a:r>
            <a:r>
              <a:rPr lang="en-US" altLang="zh-CN" sz="2000" dirty="0">
                <a:solidFill>
                  <a:srgbClr val="FF3300"/>
                </a:solidFill>
                <a:latin typeface="微软雅黑" panose="020B0503020204020204" pitchFamily="34" charset="-122"/>
                <a:ea typeface="微软雅黑" panose="020B0503020204020204" pitchFamily="34" charset="-122"/>
              </a:rPr>
              <a:t>2</a:t>
            </a:r>
            <a:r>
              <a:rPr lang="zh-CN" altLang="en-US" sz="2000" dirty="0">
                <a:solidFill>
                  <a:srgbClr val="3333CC"/>
                </a:solidFill>
                <a:latin typeface="微软雅黑" panose="020B0503020204020204" pitchFamily="34" charset="-122"/>
                <a:ea typeface="微软雅黑" panose="020B0503020204020204" pitchFamily="34" charset="-122"/>
              </a:rPr>
              <a:t>为比例因子</a:t>
            </a:r>
            <a:endParaRPr lang="zh-CN" altLang="en-US" sz="2000" dirty="0">
              <a:solidFill>
                <a:srgbClr val="3333CC"/>
              </a:solidFill>
              <a:latin typeface="微软雅黑" panose="020B0503020204020204" pitchFamily="34" charset="-122"/>
              <a:ea typeface="微软雅黑" panose="020B0503020204020204" pitchFamily="34" charset="-122"/>
            </a:endParaRPr>
          </a:p>
        </p:txBody>
      </p:sp>
      <p:grpSp>
        <p:nvGrpSpPr>
          <p:cNvPr id="50" name="Group 5"/>
          <p:cNvGrpSpPr/>
          <p:nvPr/>
        </p:nvGrpSpPr>
        <p:grpSpPr>
          <a:xfrm>
            <a:off x="4886325" y="684213"/>
            <a:ext cx="4195763" cy="6030912"/>
            <a:chOff x="3022" y="459"/>
            <a:chExt cx="2643" cy="3799"/>
          </a:xfrm>
        </p:grpSpPr>
        <p:sp>
          <p:nvSpPr>
            <p:cNvPr id="51207" name="Rectangle 6"/>
            <p:cNvSpPr/>
            <p:nvPr/>
          </p:nvSpPr>
          <p:spPr>
            <a:xfrm>
              <a:off x="3050" y="657"/>
              <a:ext cx="2155" cy="3601"/>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1208" name="Text Box 7"/>
            <p:cNvSpPr txBox="1"/>
            <p:nvPr/>
          </p:nvSpPr>
          <p:spPr>
            <a:xfrm>
              <a:off x="3022" y="459"/>
              <a:ext cx="2296" cy="252"/>
            </a:xfrm>
            <a:prstGeom prst="rect">
              <a:avLst/>
            </a:prstGeom>
            <a:noFill/>
            <a:ln w="9525">
              <a:noFill/>
            </a:ln>
          </p:spPr>
          <p:txBody>
            <a:bodyPr>
              <a:spAutoFit/>
            </a:bodyPr>
            <a:lstStyle/>
            <a:p>
              <a:pPr eaLnBrk="1" hangingPunct="1">
                <a:spcBef>
                  <a:spcPct val="50000"/>
                </a:spcBef>
              </a:pPr>
              <a:r>
                <a:rPr lang="en-US" altLang="zh-CN" sz="2000" dirty="0">
                  <a:solidFill>
                    <a:srgbClr val="3333CC"/>
                  </a:solidFill>
                  <a:latin typeface="Arial" panose="020B0604020202020204" pitchFamily="34" charset="0"/>
                </a:rPr>
                <a:t>b31			     b0</a:t>
              </a:r>
              <a:endParaRPr lang="en-US" altLang="zh-CN" sz="2000" dirty="0">
                <a:solidFill>
                  <a:srgbClr val="3333CC"/>
                </a:solidFill>
                <a:latin typeface="Arial" panose="020B0604020202020204" pitchFamily="34" charset="0"/>
              </a:endParaRPr>
            </a:p>
          </p:txBody>
        </p:sp>
        <p:sp>
          <p:nvSpPr>
            <p:cNvPr id="51209" name="Line 8"/>
            <p:cNvSpPr/>
            <p:nvPr/>
          </p:nvSpPr>
          <p:spPr>
            <a:xfrm flipV="1">
              <a:off x="3050" y="3975"/>
              <a:ext cx="2155" cy="0"/>
            </a:xfrm>
            <a:prstGeom prst="line">
              <a:avLst/>
            </a:prstGeom>
            <a:ln w="9525" cap="flat" cmpd="sng">
              <a:solidFill>
                <a:schemeClr val="tx1"/>
              </a:solidFill>
              <a:prstDash val="solid"/>
              <a:headEnd type="none" w="med" len="med"/>
              <a:tailEnd type="none" w="med" len="med"/>
            </a:ln>
          </p:spPr>
        </p:sp>
        <p:sp>
          <p:nvSpPr>
            <p:cNvPr id="51210" name="Line 9"/>
            <p:cNvSpPr/>
            <p:nvPr/>
          </p:nvSpPr>
          <p:spPr>
            <a:xfrm flipV="1">
              <a:off x="3050" y="3266"/>
              <a:ext cx="2155" cy="0"/>
            </a:xfrm>
            <a:prstGeom prst="line">
              <a:avLst/>
            </a:prstGeom>
            <a:ln w="9525" cap="flat" cmpd="sng">
              <a:solidFill>
                <a:schemeClr val="tx1"/>
              </a:solidFill>
              <a:prstDash val="solid"/>
              <a:headEnd type="none" w="med" len="med"/>
              <a:tailEnd type="none" w="med" len="med"/>
            </a:ln>
          </p:spPr>
        </p:sp>
        <p:sp>
          <p:nvSpPr>
            <p:cNvPr id="51211" name="Text Box 10"/>
            <p:cNvSpPr txBox="1"/>
            <p:nvPr/>
          </p:nvSpPr>
          <p:spPr>
            <a:xfrm>
              <a:off x="3929" y="3725"/>
              <a:ext cx="255"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x</a:t>
              </a:r>
              <a:endParaRPr lang="en-US" altLang="zh-CN" sz="2000" dirty="0">
                <a:latin typeface="Arial" panose="020B0604020202020204" pitchFamily="34" charset="0"/>
              </a:endParaRPr>
            </a:p>
          </p:txBody>
        </p:sp>
        <p:sp>
          <p:nvSpPr>
            <p:cNvPr id="51212" name="Line 11"/>
            <p:cNvSpPr/>
            <p:nvPr/>
          </p:nvSpPr>
          <p:spPr>
            <a:xfrm flipV="1">
              <a:off x="3050" y="3744"/>
              <a:ext cx="2155" cy="0"/>
            </a:xfrm>
            <a:prstGeom prst="line">
              <a:avLst/>
            </a:prstGeom>
            <a:ln w="9525" cap="flat" cmpd="sng">
              <a:solidFill>
                <a:schemeClr val="tx1"/>
              </a:solidFill>
              <a:prstDash val="solid"/>
              <a:headEnd type="none" w="med" len="med"/>
              <a:tailEnd type="none" w="med" len="med"/>
            </a:ln>
          </p:spPr>
        </p:sp>
        <p:sp>
          <p:nvSpPr>
            <p:cNvPr id="51213" name="Line 12"/>
            <p:cNvSpPr/>
            <p:nvPr/>
          </p:nvSpPr>
          <p:spPr>
            <a:xfrm flipV="1">
              <a:off x="3050" y="3489"/>
              <a:ext cx="2155" cy="0"/>
            </a:xfrm>
            <a:prstGeom prst="line">
              <a:avLst/>
            </a:prstGeom>
            <a:ln w="9525" cap="flat" cmpd="sng">
              <a:solidFill>
                <a:schemeClr val="tx1"/>
              </a:solidFill>
              <a:prstDash val="solid"/>
              <a:headEnd type="none" w="med" len="med"/>
              <a:tailEnd type="none" w="med" len="med"/>
            </a:ln>
          </p:spPr>
        </p:sp>
        <p:sp>
          <p:nvSpPr>
            <p:cNvPr id="51214" name="Text Box 13"/>
            <p:cNvSpPr txBox="1"/>
            <p:nvPr/>
          </p:nvSpPr>
          <p:spPr>
            <a:xfrm>
              <a:off x="3816" y="3489"/>
              <a:ext cx="510"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a[0]</a:t>
              </a:r>
              <a:endParaRPr lang="en-US" altLang="zh-CN" sz="2000" dirty="0">
                <a:latin typeface="Arial" panose="020B0604020202020204" pitchFamily="34" charset="0"/>
              </a:endParaRPr>
            </a:p>
          </p:txBody>
        </p:sp>
        <p:sp>
          <p:nvSpPr>
            <p:cNvPr id="51215" name="Line 14"/>
            <p:cNvSpPr/>
            <p:nvPr/>
          </p:nvSpPr>
          <p:spPr>
            <a:xfrm flipV="1">
              <a:off x="3050" y="2982"/>
              <a:ext cx="2155" cy="0"/>
            </a:xfrm>
            <a:prstGeom prst="line">
              <a:avLst/>
            </a:prstGeom>
            <a:ln w="9525" cap="flat" cmpd="sng">
              <a:solidFill>
                <a:schemeClr val="tx1"/>
              </a:solidFill>
              <a:prstDash val="solid"/>
              <a:headEnd type="none" w="med" len="med"/>
              <a:tailEnd type="none" w="med" len="med"/>
            </a:ln>
          </p:spPr>
        </p:sp>
        <p:sp>
          <p:nvSpPr>
            <p:cNvPr id="51216" name="Text Box 15"/>
            <p:cNvSpPr txBox="1"/>
            <p:nvPr/>
          </p:nvSpPr>
          <p:spPr>
            <a:xfrm>
              <a:off x="3787" y="3011"/>
              <a:ext cx="510"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a[99]</a:t>
              </a:r>
              <a:endParaRPr lang="en-US" altLang="zh-CN" sz="2000" dirty="0">
                <a:latin typeface="Arial" panose="020B0604020202020204" pitchFamily="34" charset="0"/>
              </a:endParaRPr>
            </a:p>
          </p:txBody>
        </p:sp>
        <p:sp>
          <p:nvSpPr>
            <p:cNvPr id="51217" name="Line 16"/>
            <p:cNvSpPr/>
            <p:nvPr/>
          </p:nvSpPr>
          <p:spPr>
            <a:xfrm>
              <a:off x="4071" y="3294"/>
              <a:ext cx="0" cy="170"/>
            </a:xfrm>
            <a:prstGeom prst="line">
              <a:avLst/>
            </a:prstGeom>
            <a:ln w="38100" cap="flat" cmpd="sng">
              <a:solidFill>
                <a:schemeClr val="tx1"/>
              </a:solidFill>
              <a:prstDash val="sysDot"/>
              <a:headEnd type="none" w="med" len="med"/>
              <a:tailEnd type="none" w="med" len="med"/>
            </a:ln>
          </p:spPr>
        </p:sp>
        <p:sp>
          <p:nvSpPr>
            <p:cNvPr id="51218" name="Line 17"/>
            <p:cNvSpPr/>
            <p:nvPr/>
          </p:nvSpPr>
          <p:spPr>
            <a:xfrm flipV="1">
              <a:off x="3050" y="2727"/>
              <a:ext cx="2155" cy="0"/>
            </a:xfrm>
            <a:prstGeom prst="line">
              <a:avLst/>
            </a:prstGeom>
            <a:ln w="9525" cap="flat" cmpd="sng">
              <a:solidFill>
                <a:schemeClr val="tx1"/>
              </a:solidFill>
              <a:prstDash val="solid"/>
              <a:headEnd type="none" w="med" len="med"/>
              <a:tailEnd type="none" w="med" len="med"/>
            </a:ln>
          </p:spPr>
        </p:sp>
        <p:sp>
          <p:nvSpPr>
            <p:cNvPr id="51219" name="Text Box 18"/>
            <p:cNvSpPr txBox="1"/>
            <p:nvPr/>
          </p:nvSpPr>
          <p:spPr>
            <a:xfrm>
              <a:off x="3220" y="2727"/>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b[0][1]</a:t>
              </a:r>
              <a:endParaRPr lang="en-US" altLang="zh-CN" sz="2000" dirty="0">
                <a:latin typeface="Arial" panose="020B0604020202020204" pitchFamily="34" charset="0"/>
              </a:endParaRPr>
            </a:p>
          </p:txBody>
        </p:sp>
        <p:sp>
          <p:nvSpPr>
            <p:cNvPr id="51220" name="Line 19"/>
            <p:cNvSpPr/>
            <p:nvPr/>
          </p:nvSpPr>
          <p:spPr>
            <a:xfrm>
              <a:off x="4099" y="2727"/>
              <a:ext cx="0" cy="255"/>
            </a:xfrm>
            <a:prstGeom prst="line">
              <a:avLst/>
            </a:prstGeom>
            <a:ln w="9525" cap="flat" cmpd="sng">
              <a:solidFill>
                <a:schemeClr val="tx1"/>
              </a:solidFill>
              <a:prstDash val="solid"/>
              <a:headEnd type="none" w="med" len="med"/>
              <a:tailEnd type="none" w="med" len="med"/>
            </a:ln>
          </p:spPr>
        </p:sp>
        <p:sp>
          <p:nvSpPr>
            <p:cNvPr id="51221" name="Text Box 20"/>
            <p:cNvSpPr txBox="1"/>
            <p:nvPr/>
          </p:nvSpPr>
          <p:spPr>
            <a:xfrm>
              <a:off x="5166" y="3744"/>
              <a:ext cx="499" cy="233"/>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100</a:t>
              </a:r>
              <a:endParaRPr lang="en-US" altLang="zh-CN" sz="1800" dirty="0">
                <a:latin typeface="Arial" panose="020B0604020202020204" pitchFamily="34" charset="0"/>
              </a:endParaRPr>
            </a:p>
          </p:txBody>
        </p:sp>
        <p:sp>
          <p:nvSpPr>
            <p:cNvPr id="51222" name="Text Box 21"/>
            <p:cNvSpPr txBox="1"/>
            <p:nvPr/>
          </p:nvSpPr>
          <p:spPr>
            <a:xfrm>
              <a:off x="5176" y="3517"/>
              <a:ext cx="407" cy="233"/>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104</a:t>
              </a:r>
              <a:endParaRPr lang="en-US" altLang="zh-CN" sz="1800" dirty="0">
                <a:latin typeface="Arial" panose="020B0604020202020204" pitchFamily="34" charset="0"/>
              </a:endParaRPr>
            </a:p>
          </p:txBody>
        </p:sp>
        <p:sp>
          <p:nvSpPr>
            <p:cNvPr id="51223" name="Text Box 22"/>
            <p:cNvSpPr txBox="1"/>
            <p:nvPr/>
          </p:nvSpPr>
          <p:spPr>
            <a:xfrm>
              <a:off x="4269" y="2727"/>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b[0][0]</a:t>
              </a:r>
              <a:endParaRPr lang="en-US" altLang="zh-CN" sz="2000" dirty="0">
                <a:latin typeface="Arial" panose="020B0604020202020204" pitchFamily="34" charset="0"/>
              </a:endParaRPr>
            </a:p>
          </p:txBody>
        </p:sp>
        <p:sp>
          <p:nvSpPr>
            <p:cNvPr id="51224" name="Line 23"/>
            <p:cNvSpPr/>
            <p:nvPr/>
          </p:nvSpPr>
          <p:spPr>
            <a:xfrm flipV="1">
              <a:off x="3050" y="2444"/>
              <a:ext cx="2155" cy="0"/>
            </a:xfrm>
            <a:prstGeom prst="line">
              <a:avLst/>
            </a:prstGeom>
            <a:ln w="9525" cap="flat" cmpd="sng">
              <a:solidFill>
                <a:schemeClr val="tx1"/>
              </a:solidFill>
              <a:prstDash val="solid"/>
              <a:headEnd type="none" w="med" len="med"/>
              <a:tailEnd type="none" w="med" len="med"/>
            </a:ln>
          </p:spPr>
        </p:sp>
        <p:sp>
          <p:nvSpPr>
            <p:cNvPr id="51225" name="Line 24"/>
            <p:cNvSpPr/>
            <p:nvPr/>
          </p:nvSpPr>
          <p:spPr>
            <a:xfrm flipV="1">
              <a:off x="3050" y="2189"/>
              <a:ext cx="2155" cy="0"/>
            </a:xfrm>
            <a:prstGeom prst="line">
              <a:avLst/>
            </a:prstGeom>
            <a:ln w="9525" cap="flat" cmpd="sng">
              <a:solidFill>
                <a:schemeClr val="tx1"/>
              </a:solidFill>
              <a:prstDash val="solid"/>
              <a:headEnd type="none" w="med" len="med"/>
              <a:tailEnd type="none" w="med" len="med"/>
            </a:ln>
          </p:spPr>
        </p:sp>
        <p:sp>
          <p:nvSpPr>
            <p:cNvPr id="51226" name="Text Box 25"/>
            <p:cNvSpPr txBox="1"/>
            <p:nvPr/>
          </p:nvSpPr>
          <p:spPr>
            <a:xfrm>
              <a:off x="3220" y="2189"/>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b[3][3]</a:t>
              </a:r>
              <a:endParaRPr lang="en-US" altLang="zh-CN" sz="2000" dirty="0">
                <a:latin typeface="Arial" panose="020B0604020202020204" pitchFamily="34" charset="0"/>
              </a:endParaRPr>
            </a:p>
          </p:txBody>
        </p:sp>
        <p:sp>
          <p:nvSpPr>
            <p:cNvPr id="51227" name="Line 26"/>
            <p:cNvSpPr/>
            <p:nvPr/>
          </p:nvSpPr>
          <p:spPr>
            <a:xfrm>
              <a:off x="4099" y="2189"/>
              <a:ext cx="0" cy="255"/>
            </a:xfrm>
            <a:prstGeom prst="line">
              <a:avLst/>
            </a:prstGeom>
            <a:ln w="9525" cap="flat" cmpd="sng">
              <a:solidFill>
                <a:schemeClr val="tx1"/>
              </a:solidFill>
              <a:prstDash val="solid"/>
              <a:headEnd type="none" w="med" len="med"/>
              <a:tailEnd type="none" w="med" len="med"/>
            </a:ln>
          </p:spPr>
        </p:sp>
        <p:sp>
          <p:nvSpPr>
            <p:cNvPr id="51228" name="Text Box 27"/>
            <p:cNvSpPr txBox="1"/>
            <p:nvPr/>
          </p:nvSpPr>
          <p:spPr>
            <a:xfrm>
              <a:off x="4269" y="2189"/>
              <a:ext cx="709"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b[3][2]</a:t>
              </a:r>
              <a:endParaRPr lang="en-US" altLang="zh-CN" sz="2000" dirty="0">
                <a:latin typeface="Arial" panose="020B0604020202020204" pitchFamily="34" charset="0"/>
              </a:endParaRPr>
            </a:p>
          </p:txBody>
        </p:sp>
        <p:sp>
          <p:nvSpPr>
            <p:cNvPr id="51229" name="Line 28"/>
            <p:cNvSpPr/>
            <p:nvPr/>
          </p:nvSpPr>
          <p:spPr>
            <a:xfrm>
              <a:off x="4099" y="2500"/>
              <a:ext cx="0" cy="170"/>
            </a:xfrm>
            <a:prstGeom prst="line">
              <a:avLst/>
            </a:prstGeom>
            <a:ln w="38100" cap="flat" cmpd="sng">
              <a:solidFill>
                <a:schemeClr val="tx1"/>
              </a:solidFill>
              <a:prstDash val="sysDot"/>
              <a:headEnd type="none" w="med" len="med"/>
              <a:tailEnd type="none" w="med" len="med"/>
            </a:ln>
          </p:spPr>
        </p:sp>
        <p:sp>
          <p:nvSpPr>
            <p:cNvPr id="51230" name="Line 29"/>
            <p:cNvSpPr/>
            <p:nvPr/>
          </p:nvSpPr>
          <p:spPr>
            <a:xfrm flipV="1">
              <a:off x="3050" y="1962"/>
              <a:ext cx="2155" cy="0"/>
            </a:xfrm>
            <a:prstGeom prst="line">
              <a:avLst/>
            </a:prstGeom>
            <a:ln w="9525" cap="flat" cmpd="sng">
              <a:solidFill>
                <a:schemeClr val="tx1"/>
              </a:solidFill>
              <a:prstDash val="solid"/>
              <a:headEnd type="none" w="med" len="med"/>
              <a:tailEnd type="none" w="med" len="med"/>
            </a:ln>
          </p:spPr>
        </p:sp>
        <p:sp>
          <p:nvSpPr>
            <p:cNvPr id="51231" name="Line 30"/>
            <p:cNvSpPr/>
            <p:nvPr/>
          </p:nvSpPr>
          <p:spPr>
            <a:xfrm>
              <a:off x="4638" y="1962"/>
              <a:ext cx="0" cy="227"/>
            </a:xfrm>
            <a:prstGeom prst="line">
              <a:avLst/>
            </a:prstGeom>
            <a:ln w="9525" cap="flat" cmpd="sng">
              <a:solidFill>
                <a:schemeClr val="tx1"/>
              </a:solidFill>
              <a:prstDash val="solid"/>
              <a:headEnd type="none" w="med" len="med"/>
              <a:tailEnd type="none" w="med" len="med"/>
            </a:ln>
          </p:spPr>
        </p:sp>
        <p:sp>
          <p:nvSpPr>
            <p:cNvPr id="51232" name="Text Box 31"/>
            <p:cNvSpPr txBox="1"/>
            <p:nvPr/>
          </p:nvSpPr>
          <p:spPr>
            <a:xfrm>
              <a:off x="4779" y="1934"/>
              <a:ext cx="255" cy="250"/>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c</a:t>
              </a:r>
              <a:endParaRPr lang="en-US" altLang="zh-CN" sz="2000" dirty="0">
                <a:latin typeface="Arial" panose="020B0604020202020204" pitchFamily="34" charset="0"/>
              </a:endParaRPr>
            </a:p>
          </p:txBody>
        </p:sp>
        <p:sp>
          <p:nvSpPr>
            <p:cNvPr id="51233" name="Text Box 32"/>
            <p:cNvSpPr txBox="1"/>
            <p:nvPr/>
          </p:nvSpPr>
          <p:spPr>
            <a:xfrm>
              <a:off x="5176" y="3011"/>
              <a:ext cx="407" cy="252"/>
            </a:xfrm>
            <a:prstGeom prst="rect">
              <a:avLst/>
            </a:prstGeom>
            <a:noFill/>
            <a:ln w="9525">
              <a:noFill/>
            </a:ln>
          </p:spPr>
          <p:txBody>
            <a:bodyPr>
              <a:spAutoFit/>
            </a:bodyPr>
            <a:lstStyle/>
            <a:p>
              <a:pPr eaLnBrk="1" hangingPunct="1">
                <a:spcBef>
                  <a:spcPct val="50000"/>
                </a:spcBef>
              </a:pPr>
              <a:r>
                <a:rPr lang="en-US" altLang="zh-CN" sz="2000" dirty="0">
                  <a:latin typeface="Arial" panose="020B0604020202020204" pitchFamily="34" charset="0"/>
                </a:rPr>
                <a:t>500</a:t>
              </a:r>
              <a:endParaRPr lang="en-US" altLang="zh-CN" sz="2000" dirty="0">
                <a:latin typeface="Arial" panose="020B0604020202020204" pitchFamily="34" charset="0"/>
              </a:endParaRPr>
            </a:p>
          </p:txBody>
        </p:sp>
        <p:sp>
          <p:nvSpPr>
            <p:cNvPr id="51234" name="Text Box 33"/>
            <p:cNvSpPr txBox="1"/>
            <p:nvPr/>
          </p:nvSpPr>
          <p:spPr>
            <a:xfrm>
              <a:off x="5176" y="2755"/>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504</a:t>
              </a:r>
              <a:endParaRPr lang="en-US" altLang="zh-CN" sz="1800" dirty="0">
                <a:latin typeface="Arial" panose="020B0604020202020204" pitchFamily="34" charset="0"/>
              </a:endParaRPr>
            </a:p>
          </p:txBody>
        </p:sp>
        <p:sp>
          <p:nvSpPr>
            <p:cNvPr id="51235" name="Text Box 34"/>
            <p:cNvSpPr txBox="1"/>
            <p:nvPr/>
          </p:nvSpPr>
          <p:spPr>
            <a:xfrm>
              <a:off x="5176" y="2213"/>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532</a:t>
              </a:r>
              <a:endParaRPr lang="en-US" altLang="zh-CN" sz="1800" dirty="0">
                <a:latin typeface="Arial" panose="020B0604020202020204" pitchFamily="34" charset="0"/>
              </a:endParaRPr>
            </a:p>
          </p:txBody>
        </p:sp>
        <p:sp>
          <p:nvSpPr>
            <p:cNvPr id="51236" name="Text Box 35"/>
            <p:cNvSpPr txBox="1"/>
            <p:nvPr/>
          </p:nvSpPr>
          <p:spPr>
            <a:xfrm>
              <a:off x="5176" y="1962"/>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536</a:t>
              </a:r>
              <a:endParaRPr lang="en-US" altLang="zh-CN" sz="1800" dirty="0">
                <a:latin typeface="Arial" panose="020B0604020202020204" pitchFamily="34" charset="0"/>
              </a:endParaRPr>
            </a:p>
          </p:txBody>
        </p:sp>
        <p:sp>
          <p:nvSpPr>
            <p:cNvPr id="51237" name="Line 36"/>
            <p:cNvSpPr/>
            <p:nvPr/>
          </p:nvSpPr>
          <p:spPr>
            <a:xfrm flipV="1">
              <a:off x="3050" y="1735"/>
              <a:ext cx="2155" cy="0"/>
            </a:xfrm>
            <a:prstGeom prst="line">
              <a:avLst/>
            </a:prstGeom>
            <a:ln w="9525" cap="flat" cmpd="sng">
              <a:solidFill>
                <a:schemeClr val="tx1"/>
              </a:solidFill>
              <a:prstDash val="solid"/>
              <a:headEnd type="none" w="med" len="med"/>
              <a:tailEnd type="none" w="med" len="med"/>
            </a:ln>
          </p:spPr>
        </p:sp>
        <p:sp>
          <p:nvSpPr>
            <p:cNvPr id="51238" name="Line 37"/>
            <p:cNvSpPr/>
            <p:nvPr/>
          </p:nvSpPr>
          <p:spPr>
            <a:xfrm flipV="1">
              <a:off x="3050" y="1367"/>
              <a:ext cx="2155" cy="0"/>
            </a:xfrm>
            <a:prstGeom prst="line">
              <a:avLst/>
            </a:prstGeom>
            <a:ln w="9525" cap="flat" cmpd="sng">
              <a:solidFill>
                <a:schemeClr val="tx1"/>
              </a:solidFill>
              <a:prstDash val="solid"/>
              <a:headEnd type="none" w="med" len="med"/>
              <a:tailEnd type="none" w="med" len="med"/>
            </a:ln>
          </p:spPr>
        </p:sp>
        <p:sp>
          <p:nvSpPr>
            <p:cNvPr id="51239" name="Text Box 38"/>
            <p:cNvSpPr txBox="1"/>
            <p:nvPr/>
          </p:nvSpPr>
          <p:spPr>
            <a:xfrm>
              <a:off x="5176" y="1537"/>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544</a:t>
              </a:r>
              <a:endParaRPr lang="en-US" altLang="zh-CN" sz="1800" dirty="0">
                <a:latin typeface="Arial" panose="020B0604020202020204" pitchFamily="34" charset="0"/>
              </a:endParaRPr>
            </a:p>
          </p:txBody>
        </p:sp>
        <p:sp>
          <p:nvSpPr>
            <p:cNvPr id="51240" name="Line 39"/>
            <p:cNvSpPr/>
            <p:nvPr/>
          </p:nvSpPr>
          <p:spPr>
            <a:xfrm flipV="1">
              <a:off x="3050" y="998"/>
              <a:ext cx="2155" cy="0"/>
            </a:xfrm>
            <a:prstGeom prst="line">
              <a:avLst/>
            </a:prstGeom>
            <a:ln w="9525" cap="flat" cmpd="sng">
              <a:solidFill>
                <a:schemeClr val="tx1"/>
              </a:solidFill>
              <a:prstDash val="solid"/>
              <a:headEnd type="none" w="med" len="med"/>
              <a:tailEnd type="none" w="med" len="med"/>
            </a:ln>
          </p:spPr>
        </p:sp>
        <p:sp>
          <p:nvSpPr>
            <p:cNvPr id="51241" name="Line 40"/>
            <p:cNvSpPr/>
            <p:nvPr/>
          </p:nvSpPr>
          <p:spPr>
            <a:xfrm>
              <a:off x="4071" y="4031"/>
              <a:ext cx="0" cy="170"/>
            </a:xfrm>
            <a:prstGeom prst="line">
              <a:avLst/>
            </a:prstGeom>
            <a:ln w="38100" cap="flat" cmpd="sng">
              <a:solidFill>
                <a:schemeClr val="tx1"/>
              </a:solidFill>
              <a:prstDash val="sysDot"/>
              <a:headEnd type="none" w="med" len="med"/>
              <a:tailEnd type="none" w="med" len="med"/>
            </a:ln>
          </p:spPr>
        </p:sp>
        <p:sp>
          <p:nvSpPr>
            <p:cNvPr id="51242" name="Line 41"/>
            <p:cNvSpPr/>
            <p:nvPr/>
          </p:nvSpPr>
          <p:spPr>
            <a:xfrm>
              <a:off x="3050" y="1565"/>
              <a:ext cx="2155" cy="0"/>
            </a:xfrm>
            <a:prstGeom prst="line">
              <a:avLst/>
            </a:prstGeom>
            <a:ln w="9525" cap="flat" cmpd="sng">
              <a:solidFill>
                <a:schemeClr val="tx1"/>
              </a:solidFill>
              <a:prstDash val="solid"/>
              <a:headEnd type="none" w="med" len="med"/>
              <a:tailEnd type="none" w="med" len="med"/>
            </a:ln>
          </p:spPr>
        </p:sp>
        <p:sp>
          <p:nvSpPr>
            <p:cNvPr id="51243" name="Text Box 42"/>
            <p:cNvSpPr txBox="1"/>
            <p:nvPr/>
          </p:nvSpPr>
          <p:spPr>
            <a:xfrm>
              <a:off x="3986" y="1423"/>
              <a:ext cx="311" cy="250"/>
            </a:xfrm>
            <a:prstGeom prst="rect">
              <a:avLst/>
            </a:prstGeom>
            <a:solidFill>
              <a:schemeClr val="bg1"/>
            </a:solidFill>
            <a:ln w="9525">
              <a:noFill/>
            </a:ln>
          </p:spPr>
          <p:txBody>
            <a:bodyPr lIns="0" rIns="0">
              <a:spAutoFit/>
            </a:bodyPr>
            <a:lstStyle/>
            <a:p>
              <a:pPr eaLnBrk="1" hangingPunct="1">
                <a:spcBef>
                  <a:spcPct val="50000"/>
                </a:spcBef>
              </a:pPr>
              <a:r>
                <a:rPr lang="en-US" altLang="zh-CN" sz="2000" dirty="0">
                  <a:latin typeface="Arial" panose="020B0604020202020204" pitchFamily="34" charset="0"/>
                </a:rPr>
                <a:t>d[0]</a:t>
              </a:r>
              <a:endParaRPr lang="en-US" altLang="zh-CN" sz="2000" dirty="0">
                <a:latin typeface="Arial" panose="020B0604020202020204" pitchFamily="34" charset="0"/>
              </a:endParaRPr>
            </a:p>
          </p:txBody>
        </p:sp>
        <p:sp>
          <p:nvSpPr>
            <p:cNvPr id="51244" name="Text Box 43"/>
            <p:cNvSpPr txBox="1"/>
            <p:nvPr/>
          </p:nvSpPr>
          <p:spPr>
            <a:xfrm>
              <a:off x="4042" y="828"/>
              <a:ext cx="311" cy="250"/>
            </a:xfrm>
            <a:prstGeom prst="rect">
              <a:avLst/>
            </a:prstGeom>
            <a:solidFill>
              <a:schemeClr val="bg1"/>
            </a:solidFill>
            <a:ln w="9525">
              <a:noFill/>
            </a:ln>
          </p:spPr>
          <p:txBody>
            <a:bodyPr lIns="0" rIns="0">
              <a:spAutoFit/>
            </a:bodyPr>
            <a:lstStyle/>
            <a:p>
              <a:pPr eaLnBrk="1" hangingPunct="1">
                <a:spcBef>
                  <a:spcPct val="50000"/>
                </a:spcBef>
              </a:pPr>
              <a:r>
                <a:rPr lang="en-US" altLang="zh-CN" sz="2000" dirty="0">
                  <a:latin typeface="Arial" panose="020B0604020202020204" pitchFamily="34" charset="0"/>
                </a:rPr>
                <a:t>d[9]</a:t>
              </a:r>
              <a:endParaRPr lang="en-US" altLang="zh-CN" sz="2000" dirty="0">
                <a:latin typeface="Arial" panose="020B0604020202020204" pitchFamily="34" charset="0"/>
              </a:endParaRPr>
            </a:p>
          </p:txBody>
        </p:sp>
        <p:sp>
          <p:nvSpPr>
            <p:cNvPr id="51245" name="Line 44"/>
            <p:cNvSpPr/>
            <p:nvPr/>
          </p:nvSpPr>
          <p:spPr>
            <a:xfrm flipV="1">
              <a:off x="3050" y="1140"/>
              <a:ext cx="2155" cy="0"/>
            </a:xfrm>
            <a:prstGeom prst="line">
              <a:avLst/>
            </a:prstGeom>
            <a:ln w="9525" cap="flat" cmpd="sng">
              <a:solidFill>
                <a:schemeClr val="tx1"/>
              </a:solidFill>
              <a:prstDash val="solid"/>
              <a:headEnd type="none" w="med" len="med"/>
              <a:tailEnd type="none" w="med" len="med"/>
            </a:ln>
          </p:spPr>
        </p:sp>
        <p:sp>
          <p:nvSpPr>
            <p:cNvPr id="51246" name="Line 45"/>
            <p:cNvSpPr/>
            <p:nvPr/>
          </p:nvSpPr>
          <p:spPr>
            <a:xfrm>
              <a:off x="4127" y="1168"/>
              <a:ext cx="0" cy="170"/>
            </a:xfrm>
            <a:prstGeom prst="line">
              <a:avLst/>
            </a:prstGeom>
            <a:ln w="38100" cap="flat" cmpd="sng">
              <a:solidFill>
                <a:schemeClr val="tx1"/>
              </a:solidFill>
              <a:prstDash val="sysDot"/>
              <a:headEnd type="none" w="med" len="med"/>
              <a:tailEnd type="none" w="med" len="med"/>
            </a:ln>
          </p:spPr>
        </p:sp>
        <p:sp>
          <p:nvSpPr>
            <p:cNvPr id="51247" name="Line 46"/>
            <p:cNvSpPr/>
            <p:nvPr/>
          </p:nvSpPr>
          <p:spPr>
            <a:xfrm flipV="1">
              <a:off x="3050" y="828"/>
              <a:ext cx="2155" cy="0"/>
            </a:xfrm>
            <a:prstGeom prst="line">
              <a:avLst/>
            </a:prstGeom>
            <a:ln w="9525" cap="flat" cmpd="sng">
              <a:solidFill>
                <a:schemeClr val="tx1"/>
              </a:solidFill>
              <a:prstDash val="solid"/>
              <a:headEnd type="none" w="med" len="med"/>
              <a:tailEnd type="none" w="med" len="med"/>
            </a:ln>
          </p:spPr>
        </p:sp>
        <p:sp>
          <p:nvSpPr>
            <p:cNvPr id="51248" name="Text Box 47"/>
            <p:cNvSpPr txBox="1"/>
            <p:nvPr/>
          </p:nvSpPr>
          <p:spPr>
            <a:xfrm>
              <a:off x="5176" y="941"/>
              <a:ext cx="369" cy="231"/>
            </a:xfrm>
            <a:prstGeom prst="rect">
              <a:avLst/>
            </a:prstGeom>
            <a:noFill/>
            <a:ln w="9525">
              <a:noFill/>
            </a:ln>
          </p:spPr>
          <p:txBody>
            <a:bodyPr>
              <a:spAutoFit/>
            </a:bodyPr>
            <a:lstStyle/>
            <a:p>
              <a:pPr eaLnBrk="1" hangingPunct="1">
                <a:spcBef>
                  <a:spcPct val="50000"/>
                </a:spcBef>
              </a:pPr>
              <a:r>
                <a:rPr lang="en-US" altLang="zh-CN" sz="1800" dirty="0">
                  <a:latin typeface="Arial" panose="020B0604020202020204" pitchFamily="34" charset="0"/>
                </a:rPr>
                <a:t>616</a:t>
              </a:r>
              <a:endParaRPr lang="en-US" altLang="zh-CN" sz="1800" dirty="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7476"/>
                                        </p:tgtEl>
                                        <p:attrNameLst>
                                          <p:attrName>style.visibility</p:attrName>
                                        </p:attrNameLst>
                                      </p:cBhvr>
                                      <p:to>
                                        <p:strVal val="visible"/>
                                      </p:to>
                                    </p:set>
                                    <p:animEffect transition="in" filter="blinds(horizontal)">
                                      <p:cBhvr>
                                        <p:cTn id="7" dur="500"/>
                                        <p:tgtEl>
                                          <p:spTgt spid="6174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7475">
                                            <p:txEl>
                                              <p:pRg st="0" end="0"/>
                                            </p:txEl>
                                          </p:spTgt>
                                        </p:tgtEl>
                                        <p:attrNameLst>
                                          <p:attrName>style.visibility</p:attrName>
                                        </p:attrNameLst>
                                      </p:cBhvr>
                                      <p:to>
                                        <p:strVal val="visible"/>
                                      </p:to>
                                    </p:set>
                                    <p:animEffect transition="in" filter="blinds(horizontal)">
                                      <p:cBhvr>
                                        <p:cTn id="12" dur="500"/>
                                        <p:tgtEl>
                                          <p:spTgt spid="6174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7475">
                                            <p:txEl>
                                              <p:pRg st="1" end="1"/>
                                            </p:txEl>
                                          </p:spTgt>
                                        </p:tgtEl>
                                        <p:attrNameLst>
                                          <p:attrName>style.visibility</p:attrName>
                                        </p:attrNameLst>
                                      </p:cBhvr>
                                      <p:to>
                                        <p:strVal val="visible"/>
                                      </p:to>
                                    </p:set>
                                    <p:animEffect transition="in" filter="blinds(horizontal)">
                                      <p:cBhvr>
                                        <p:cTn id="17" dur="500"/>
                                        <p:tgtEl>
                                          <p:spTgt spid="61747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7475">
                                            <p:txEl>
                                              <p:pRg st="2" end="2"/>
                                            </p:txEl>
                                          </p:spTgt>
                                        </p:tgtEl>
                                        <p:attrNameLst>
                                          <p:attrName>style.visibility</p:attrName>
                                        </p:attrNameLst>
                                      </p:cBhvr>
                                      <p:to>
                                        <p:strVal val="visible"/>
                                      </p:to>
                                    </p:set>
                                    <p:animEffect transition="in" filter="blinds(horizontal)">
                                      <p:cBhvr>
                                        <p:cTn id="22" dur="500"/>
                                        <p:tgtEl>
                                          <p:spTgt spid="61747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17475">
                                            <p:txEl>
                                              <p:pRg st="3" end="3"/>
                                            </p:txEl>
                                          </p:spTgt>
                                        </p:tgtEl>
                                        <p:attrNameLst>
                                          <p:attrName>style.visibility</p:attrName>
                                        </p:attrNameLst>
                                      </p:cBhvr>
                                      <p:to>
                                        <p:strVal val="visible"/>
                                      </p:to>
                                    </p:set>
                                    <p:animEffect transition="in" filter="blinds(horizontal)">
                                      <p:cBhvr>
                                        <p:cTn id="27" dur="500"/>
                                        <p:tgtEl>
                                          <p:spTgt spid="61747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7475">
                                            <p:txEl>
                                              <p:pRg st="4" end="4"/>
                                            </p:txEl>
                                          </p:spTgt>
                                        </p:tgtEl>
                                        <p:attrNameLst>
                                          <p:attrName>style.visibility</p:attrName>
                                        </p:attrNameLst>
                                      </p:cBhvr>
                                      <p:to>
                                        <p:strVal val="visible"/>
                                      </p:to>
                                    </p:set>
                                    <p:animEffect transition="in" filter="blinds(horizontal)">
                                      <p:cBhvr>
                                        <p:cTn id="32" dur="500"/>
                                        <p:tgtEl>
                                          <p:spTgt spid="61747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17475">
                                            <p:txEl>
                                              <p:pRg st="5" end="5"/>
                                            </p:txEl>
                                          </p:spTgt>
                                        </p:tgtEl>
                                        <p:attrNameLst>
                                          <p:attrName>style.visibility</p:attrName>
                                        </p:attrNameLst>
                                      </p:cBhvr>
                                      <p:to>
                                        <p:strVal val="visible"/>
                                      </p:to>
                                    </p:set>
                                    <p:animEffect transition="in" filter="blinds(horizontal)">
                                      <p:cBhvr>
                                        <p:cTn id="37" dur="500"/>
                                        <p:tgtEl>
                                          <p:spTgt spid="61747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17520">
                                            <p:txEl>
                                              <p:pRg st="0" end="0"/>
                                            </p:txEl>
                                          </p:spTgt>
                                        </p:tgtEl>
                                        <p:attrNameLst>
                                          <p:attrName>style.visibility</p:attrName>
                                        </p:attrNameLst>
                                      </p:cBhvr>
                                      <p:to>
                                        <p:strVal val="visible"/>
                                      </p:to>
                                    </p:set>
                                    <p:animEffect transition="in" filter="blinds(horizontal)">
                                      <p:cBhvr>
                                        <p:cTn id="42" dur="500"/>
                                        <p:tgtEl>
                                          <p:spTgt spid="61752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17520">
                                            <p:txEl>
                                              <p:pRg st="1" end="1"/>
                                            </p:txEl>
                                          </p:spTgt>
                                        </p:tgtEl>
                                        <p:attrNameLst>
                                          <p:attrName>style.visibility</p:attrName>
                                        </p:attrNameLst>
                                      </p:cBhvr>
                                      <p:to>
                                        <p:strVal val="visible"/>
                                      </p:to>
                                    </p:set>
                                    <p:animEffect transition="in" filter="blinds(horizontal)">
                                      <p:cBhvr>
                                        <p:cTn id="47" dur="500"/>
                                        <p:tgtEl>
                                          <p:spTgt spid="617520">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617520">
                                            <p:txEl>
                                              <p:pRg st="2" end="2"/>
                                            </p:txEl>
                                          </p:spTgt>
                                        </p:tgtEl>
                                        <p:attrNameLst>
                                          <p:attrName>style.visibility</p:attrName>
                                        </p:attrNameLst>
                                      </p:cBhvr>
                                      <p:to>
                                        <p:strVal val="visible"/>
                                      </p:to>
                                    </p:set>
                                    <p:animEffect transition="in" filter="blinds(horizontal)">
                                      <p:cBhvr>
                                        <p:cTn id="52" dur="500"/>
                                        <p:tgtEl>
                                          <p:spTgt spid="617520">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17520">
                                            <p:txEl>
                                              <p:pRg st="3" end="3"/>
                                            </p:txEl>
                                          </p:spTgt>
                                        </p:tgtEl>
                                        <p:attrNameLst>
                                          <p:attrName>style.visibility</p:attrName>
                                        </p:attrNameLst>
                                      </p:cBhvr>
                                      <p:to>
                                        <p:strVal val="visible"/>
                                      </p:to>
                                    </p:set>
                                    <p:animEffect transition="in" filter="blinds(horizontal)">
                                      <p:cBhvr>
                                        <p:cTn id="57" dur="500"/>
                                        <p:tgtEl>
                                          <p:spTgt spid="617520">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blinds(horizontal)">
                                      <p:cBhvr>
                                        <p:cTn id="62"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a:xfrm>
            <a:off x="685800" y="100013"/>
            <a:ext cx="6457950" cy="425450"/>
          </a:xfrm>
        </p:spPr>
        <p:txBody>
          <a:bodyPr vert="horz" wrap="square" lIns="63500" tIns="25400" rIns="63500" bIns="25400" anchor="t" anchorCtr="0">
            <a:spAutoFit/>
          </a:bodyPr>
          <a:lstStyle/>
          <a:p>
            <a:r>
              <a:rPr lang="en-US" altLang="zh-CN" dirty="0">
                <a:ea typeface="宋体" panose="02010600030101010101" pitchFamily="2" charset="-122"/>
              </a:rPr>
              <a:t>Pentium</a:t>
            </a:r>
            <a:r>
              <a:rPr lang="zh-CN" altLang="en-US" sz="2800" dirty="0">
                <a:ea typeface="宋体" panose="02010600030101010101" pitchFamily="2" charset="-122"/>
              </a:rPr>
              <a:t>处理器的存储器寻址</a:t>
            </a:r>
            <a:endParaRPr lang="zh-CN" altLang="en-US" sz="2800" dirty="0">
              <a:ea typeface="宋体" panose="02010600030101010101" pitchFamily="2" charset="-122"/>
            </a:endParaRPr>
          </a:p>
        </p:txBody>
      </p:sp>
      <p:sp>
        <p:nvSpPr>
          <p:cNvPr id="52227" name="AutoShape 3"/>
          <p:cNvSpPr/>
          <p:nvPr/>
        </p:nvSpPr>
        <p:spPr>
          <a:xfrm>
            <a:off x="6858000" y="1706563"/>
            <a:ext cx="1600200" cy="3657600"/>
          </a:xfrm>
          <a:prstGeom prst="wave">
            <a:avLst>
              <a:gd name="adj1" fmla="val 4167"/>
              <a:gd name="adj2" fmla="val 0"/>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28" name="Rectangle 4" descr="宽下对角线"/>
          <p:cNvSpPr/>
          <p:nvPr/>
        </p:nvSpPr>
        <p:spPr>
          <a:xfrm>
            <a:off x="6858000" y="2849563"/>
            <a:ext cx="1600200" cy="609600"/>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29" name="Rectangle 5" descr="宽下对角线"/>
          <p:cNvSpPr/>
          <p:nvPr/>
        </p:nvSpPr>
        <p:spPr>
          <a:xfrm>
            <a:off x="6858000" y="3763963"/>
            <a:ext cx="1600200" cy="914400"/>
          </a:xfrm>
          <a:prstGeom prst="rect">
            <a:avLst/>
          </a:prstGeom>
          <a:blipFill rotWithShape="0">
            <a:blip r:embed="rId1"/>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30" name="Rectangle 6"/>
          <p:cNvSpPr/>
          <p:nvPr/>
        </p:nvSpPr>
        <p:spPr>
          <a:xfrm>
            <a:off x="762000" y="1325563"/>
            <a:ext cx="1905000" cy="838200"/>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380935" name="Text Box 7"/>
          <p:cNvSpPr txBox="1">
            <a:spLocks noChangeArrowheads="1"/>
          </p:cNvSpPr>
          <p:nvPr/>
        </p:nvSpPr>
        <p:spPr bwMode="auto">
          <a:xfrm>
            <a:off x="838200" y="868363"/>
            <a:ext cx="19050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段寄存器</a:t>
            </a:r>
            <a:endParaRPr kumimoji="0" lang="zh-CN" altLang="en-US" sz="24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52232" name="Rectangle 8"/>
          <p:cNvSpPr/>
          <p:nvPr/>
        </p:nvSpPr>
        <p:spPr>
          <a:xfrm>
            <a:off x="914400" y="1477963"/>
            <a:ext cx="1905000" cy="838200"/>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33" name="Rectangle 9"/>
          <p:cNvSpPr/>
          <p:nvPr/>
        </p:nvSpPr>
        <p:spPr>
          <a:xfrm>
            <a:off x="1066800" y="1630363"/>
            <a:ext cx="1905000" cy="838200"/>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34" name="Rectangle 10"/>
          <p:cNvSpPr/>
          <p:nvPr/>
        </p:nvSpPr>
        <p:spPr>
          <a:xfrm>
            <a:off x="1219200" y="1782763"/>
            <a:ext cx="1905000" cy="838200"/>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35" name="Rectangle 11"/>
          <p:cNvSpPr/>
          <p:nvPr/>
        </p:nvSpPr>
        <p:spPr>
          <a:xfrm>
            <a:off x="1371600" y="1935163"/>
            <a:ext cx="1905000" cy="838200"/>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36" name="Rectangle 12"/>
          <p:cNvSpPr/>
          <p:nvPr/>
        </p:nvSpPr>
        <p:spPr>
          <a:xfrm>
            <a:off x="1524000" y="2087563"/>
            <a:ext cx="1905000" cy="838200"/>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37" name="Text Box 13"/>
          <p:cNvSpPr txBox="1"/>
          <p:nvPr/>
        </p:nvSpPr>
        <p:spPr>
          <a:xfrm>
            <a:off x="152400" y="1630363"/>
            <a:ext cx="685800"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SS</a:t>
            </a:r>
            <a:endParaRPr lang="en-US" altLang="zh-CN" sz="2400" b="0" dirty="0">
              <a:solidFill>
                <a:schemeClr val="tx1"/>
              </a:solidFill>
              <a:latin typeface="Times New Roman" panose="02020603050405020304" pitchFamily="18" charset="0"/>
            </a:endParaRPr>
          </a:p>
        </p:txBody>
      </p:sp>
      <p:sp>
        <p:nvSpPr>
          <p:cNvPr id="52238" name="Text Box 14"/>
          <p:cNvSpPr txBox="1"/>
          <p:nvPr/>
        </p:nvSpPr>
        <p:spPr>
          <a:xfrm>
            <a:off x="838200" y="2544763"/>
            <a:ext cx="685800" cy="457200"/>
          </a:xfrm>
          <a:prstGeom prst="rect">
            <a:avLst/>
          </a:prstGeom>
          <a:noFill/>
          <a:ln w="9525">
            <a:noFill/>
          </a:ln>
        </p:spPr>
        <p:txBody>
          <a:bodyPr>
            <a:spAutoFit/>
          </a:bodyPr>
          <a:lstStyle/>
          <a:p>
            <a:pPr>
              <a:spcBef>
                <a:spcPct val="50000"/>
              </a:spcBef>
            </a:pPr>
            <a:r>
              <a:rPr lang="en-US" altLang="zh-CN" sz="2400" b="0" dirty="0">
                <a:solidFill>
                  <a:schemeClr val="tx1"/>
                </a:solidFill>
                <a:latin typeface="Times New Roman" panose="02020603050405020304" pitchFamily="18" charset="0"/>
              </a:rPr>
              <a:t>CS</a:t>
            </a:r>
            <a:endParaRPr lang="en-US" altLang="zh-CN" sz="2400" b="0" dirty="0">
              <a:solidFill>
                <a:schemeClr val="tx1"/>
              </a:solidFill>
              <a:latin typeface="Times New Roman" panose="02020603050405020304" pitchFamily="18" charset="0"/>
            </a:endParaRPr>
          </a:p>
        </p:txBody>
      </p:sp>
      <p:sp>
        <p:nvSpPr>
          <p:cNvPr id="380943" name="Text Box 15"/>
          <p:cNvSpPr txBox="1">
            <a:spLocks noChangeArrowheads="1"/>
          </p:cNvSpPr>
          <p:nvPr/>
        </p:nvSpPr>
        <p:spPr bwMode="auto">
          <a:xfrm>
            <a:off x="1828800" y="2163763"/>
            <a:ext cx="14478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段选择符</a:t>
            </a:r>
            <a:endParaRPr kumimoji="0" lang="zh-CN" altLang="en-US" sz="2400" b="0" kern="1200" cap="none" spc="0" normalizeH="0" baseline="0" noProof="0">
              <a:solidFill>
                <a:srgbClr val="0000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0944" name="Text Box 16"/>
          <p:cNvSpPr txBox="1">
            <a:spLocks noChangeArrowheads="1"/>
          </p:cNvSpPr>
          <p:nvPr/>
        </p:nvSpPr>
        <p:spPr bwMode="auto">
          <a:xfrm>
            <a:off x="762000" y="3502025"/>
            <a:ext cx="2705100" cy="457200"/>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4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段表项(段描述符 )</a:t>
            </a:r>
            <a:endParaRPr kumimoji="0" lang="zh-CN" altLang="en-US" sz="24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grpSp>
        <p:nvGrpSpPr>
          <p:cNvPr id="52241" name="Group 17"/>
          <p:cNvGrpSpPr/>
          <p:nvPr/>
        </p:nvGrpSpPr>
        <p:grpSpPr>
          <a:xfrm>
            <a:off x="457200" y="2925763"/>
            <a:ext cx="1905000" cy="3224212"/>
            <a:chOff x="288" y="1920"/>
            <a:chExt cx="1200" cy="2031"/>
          </a:xfrm>
        </p:grpSpPr>
        <p:sp>
          <p:nvSpPr>
            <p:cNvPr id="52293" name="Line 18"/>
            <p:cNvSpPr/>
            <p:nvPr/>
          </p:nvSpPr>
          <p:spPr>
            <a:xfrm>
              <a:off x="1488" y="1920"/>
              <a:ext cx="0" cy="336"/>
            </a:xfrm>
            <a:prstGeom prst="line">
              <a:avLst/>
            </a:prstGeom>
            <a:ln w="28575" cap="flat" cmpd="sng">
              <a:solidFill>
                <a:schemeClr val="accent2"/>
              </a:solidFill>
              <a:prstDash val="solid"/>
              <a:headEnd type="none" w="med" len="med"/>
              <a:tailEnd type="none" w="med" len="med"/>
            </a:ln>
          </p:spPr>
        </p:sp>
        <p:sp>
          <p:nvSpPr>
            <p:cNvPr id="52294" name="Line 19"/>
            <p:cNvSpPr/>
            <p:nvPr/>
          </p:nvSpPr>
          <p:spPr>
            <a:xfrm>
              <a:off x="288" y="2247"/>
              <a:ext cx="1200" cy="0"/>
            </a:xfrm>
            <a:prstGeom prst="line">
              <a:avLst/>
            </a:prstGeom>
            <a:ln w="28575" cap="flat" cmpd="sng">
              <a:solidFill>
                <a:schemeClr val="accent2"/>
              </a:solidFill>
              <a:prstDash val="solid"/>
              <a:headEnd type="none" w="med" len="med"/>
              <a:tailEnd type="none" w="med" len="med"/>
            </a:ln>
          </p:spPr>
        </p:sp>
        <p:sp>
          <p:nvSpPr>
            <p:cNvPr id="52295" name="Line 20"/>
            <p:cNvSpPr/>
            <p:nvPr/>
          </p:nvSpPr>
          <p:spPr>
            <a:xfrm>
              <a:off x="306" y="2256"/>
              <a:ext cx="0" cy="1695"/>
            </a:xfrm>
            <a:prstGeom prst="line">
              <a:avLst/>
            </a:prstGeom>
            <a:ln w="28575" cap="flat" cmpd="sng">
              <a:solidFill>
                <a:schemeClr val="accent2"/>
              </a:solidFill>
              <a:prstDash val="solid"/>
              <a:headEnd type="none" w="med" len="med"/>
              <a:tailEnd type="none" w="med" len="med"/>
            </a:ln>
          </p:spPr>
        </p:sp>
        <p:sp>
          <p:nvSpPr>
            <p:cNvPr id="52296" name="Line 21"/>
            <p:cNvSpPr/>
            <p:nvPr/>
          </p:nvSpPr>
          <p:spPr>
            <a:xfrm>
              <a:off x="306" y="3951"/>
              <a:ext cx="774" cy="0"/>
            </a:xfrm>
            <a:prstGeom prst="line">
              <a:avLst/>
            </a:prstGeom>
            <a:ln w="28575" cap="flat" cmpd="sng">
              <a:solidFill>
                <a:schemeClr val="accent2"/>
              </a:solidFill>
              <a:prstDash val="solid"/>
              <a:headEnd type="none" w="med" len="med"/>
              <a:tailEnd type="triangle" w="med" len="med"/>
            </a:ln>
          </p:spPr>
        </p:sp>
      </p:grpSp>
      <p:sp>
        <p:nvSpPr>
          <p:cNvPr id="52242" name="Rectangle 22"/>
          <p:cNvSpPr/>
          <p:nvPr/>
        </p:nvSpPr>
        <p:spPr>
          <a:xfrm>
            <a:off x="952500" y="4035425"/>
            <a:ext cx="1905000" cy="1165225"/>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43" name="Rectangle 23"/>
          <p:cNvSpPr/>
          <p:nvPr/>
        </p:nvSpPr>
        <p:spPr>
          <a:xfrm>
            <a:off x="1104900" y="4246563"/>
            <a:ext cx="1905000" cy="1165225"/>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44" name="Rectangle 24"/>
          <p:cNvSpPr/>
          <p:nvPr/>
        </p:nvSpPr>
        <p:spPr>
          <a:xfrm>
            <a:off x="1257300" y="4459288"/>
            <a:ext cx="1905000" cy="1163637"/>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45" name="Rectangle 25"/>
          <p:cNvSpPr/>
          <p:nvPr/>
        </p:nvSpPr>
        <p:spPr>
          <a:xfrm>
            <a:off x="1409700" y="4670425"/>
            <a:ext cx="1905000" cy="1165225"/>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46" name="Rectangle 26"/>
          <p:cNvSpPr/>
          <p:nvPr/>
        </p:nvSpPr>
        <p:spPr>
          <a:xfrm>
            <a:off x="1562100" y="4883150"/>
            <a:ext cx="1905000" cy="1163638"/>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47" name="Rectangle 27"/>
          <p:cNvSpPr/>
          <p:nvPr/>
        </p:nvSpPr>
        <p:spPr>
          <a:xfrm>
            <a:off x="1714500" y="5113338"/>
            <a:ext cx="1905000" cy="1165225"/>
          </a:xfrm>
          <a:prstGeom prst="rect">
            <a:avLst/>
          </a:prstGeom>
          <a:solidFill>
            <a:srgbClr val="DDFCFB"/>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48" name="Line 28"/>
          <p:cNvSpPr/>
          <p:nvPr/>
        </p:nvSpPr>
        <p:spPr>
          <a:xfrm>
            <a:off x="1714500" y="5495925"/>
            <a:ext cx="1905000" cy="0"/>
          </a:xfrm>
          <a:prstGeom prst="line">
            <a:avLst/>
          </a:prstGeom>
          <a:ln w="9525" cap="flat" cmpd="sng">
            <a:solidFill>
              <a:schemeClr val="tx1"/>
            </a:solidFill>
            <a:prstDash val="solid"/>
            <a:headEnd type="none" w="med" len="med"/>
            <a:tailEnd type="none" w="med" len="med"/>
          </a:ln>
        </p:spPr>
      </p:sp>
      <p:sp>
        <p:nvSpPr>
          <p:cNvPr id="52249" name="Line 29"/>
          <p:cNvSpPr/>
          <p:nvPr/>
        </p:nvSpPr>
        <p:spPr>
          <a:xfrm>
            <a:off x="1724025" y="5862638"/>
            <a:ext cx="1905000" cy="0"/>
          </a:xfrm>
          <a:prstGeom prst="line">
            <a:avLst/>
          </a:prstGeom>
          <a:ln w="9525" cap="flat" cmpd="sng">
            <a:solidFill>
              <a:schemeClr val="tx1"/>
            </a:solidFill>
            <a:prstDash val="solid"/>
            <a:headEnd type="none" w="med" len="med"/>
            <a:tailEnd type="none" w="med" len="med"/>
          </a:ln>
        </p:spPr>
      </p:sp>
      <p:sp>
        <p:nvSpPr>
          <p:cNvPr id="380958" name="Text Box 30"/>
          <p:cNvSpPr txBox="1">
            <a:spLocks noChangeArrowheads="1"/>
          </p:cNvSpPr>
          <p:nvPr/>
        </p:nvSpPr>
        <p:spPr bwMode="auto">
          <a:xfrm>
            <a:off x="2143125" y="5099050"/>
            <a:ext cx="1485900" cy="396875"/>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000" b="0" kern="1200" cap="none" spc="0" normalizeH="0" baseline="0" noProof="0">
                <a:solidFill>
                  <a:srgbClr val="A5002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存取权限</a:t>
            </a:r>
            <a:endParaRPr kumimoji="0" lang="zh-CN" altLang="en-US" sz="2000" b="0" kern="1200" cap="none" spc="0" normalizeH="0" baseline="0" noProof="0">
              <a:solidFill>
                <a:srgbClr val="A5002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0959" name="Text Box 31"/>
          <p:cNvSpPr txBox="1">
            <a:spLocks noChangeArrowheads="1"/>
          </p:cNvSpPr>
          <p:nvPr/>
        </p:nvSpPr>
        <p:spPr bwMode="auto">
          <a:xfrm>
            <a:off x="2152650" y="5480050"/>
            <a:ext cx="1147763" cy="396875"/>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000" b="0" kern="1200" cap="none" spc="0" normalizeH="0" baseline="0" noProof="0">
                <a:solidFill>
                  <a:srgbClr val="A5002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段限</a:t>
            </a:r>
            <a:endParaRPr kumimoji="0" lang="zh-CN" altLang="en-US" sz="2000" b="0" kern="1200" cap="none" spc="0" normalizeH="0" baseline="0" noProof="0">
              <a:solidFill>
                <a:srgbClr val="A5002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0960" name="Text Box 32"/>
          <p:cNvSpPr txBox="1">
            <a:spLocks noChangeArrowheads="1"/>
          </p:cNvSpPr>
          <p:nvPr/>
        </p:nvSpPr>
        <p:spPr bwMode="auto">
          <a:xfrm>
            <a:off x="2147888" y="5889625"/>
            <a:ext cx="1138238" cy="396875"/>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000" b="0" kern="1200" cap="none" spc="0" normalizeH="0" baseline="0" noProof="0">
                <a:solidFill>
                  <a:srgbClr val="A5002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基地址</a:t>
            </a:r>
            <a:endParaRPr kumimoji="0" lang="zh-CN" altLang="en-US" sz="2000" b="0" kern="1200" cap="none" spc="0" normalizeH="0" baseline="0" noProof="0">
              <a:solidFill>
                <a:srgbClr val="A5002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52253" name="Text Box 33" descr="新闻纸"/>
          <p:cNvSpPr txBox="1"/>
          <p:nvPr/>
        </p:nvSpPr>
        <p:spPr>
          <a:xfrm>
            <a:off x="4630738" y="925513"/>
            <a:ext cx="1770062" cy="466725"/>
          </a:xfrm>
          <a:prstGeom prst="rect">
            <a:avLst/>
          </a:prstGeom>
          <a:blipFill rotWithShape="0">
            <a:blip r:embed="rId2"/>
          </a:blip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400" dirty="0">
                <a:solidFill>
                  <a:srgbClr val="009900"/>
                </a:solidFill>
                <a:latin typeface="Times New Roman" panose="02020603050405020304" pitchFamily="18" charset="0"/>
              </a:rPr>
              <a:t>基址寄存器</a:t>
            </a:r>
            <a:endParaRPr lang="zh-CN" altLang="en-US" sz="2400" dirty="0">
              <a:solidFill>
                <a:srgbClr val="009900"/>
              </a:solidFill>
              <a:latin typeface="Times New Roman" panose="02020603050405020304" pitchFamily="18" charset="0"/>
            </a:endParaRPr>
          </a:p>
        </p:txBody>
      </p:sp>
      <p:sp>
        <p:nvSpPr>
          <p:cNvPr id="52254" name="Text Box 34" descr="粉色砂纸"/>
          <p:cNvSpPr txBox="1"/>
          <p:nvPr/>
        </p:nvSpPr>
        <p:spPr>
          <a:xfrm>
            <a:off x="4630738" y="1530350"/>
            <a:ext cx="1770062" cy="466725"/>
          </a:xfrm>
          <a:prstGeom prst="rect">
            <a:avLst/>
          </a:prstGeom>
          <a:blipFill rotWithShape="0">
            <a:blip r:embed="rId3"/>
          </a:blip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400" dirty="0">
                <a:solidFill>
                  <a:srgbClr val="009900"/>
                </a:solidFill>
                <a:latin typeface="Times New Roman" panose="02020603050405020304" pitchFamily="18" charset="0"/>
              </a:rPr>
              <a:t>变址寄存器</a:t>
            </a:r>
            <a:endParaRPr lang="zh-CN" altLang="en-US" sz="2400" dirty="0">
              <a:solidFill>
                <a:srgbClr val="009900"/>
              </a:solidFill>
              <a:latin typeface="Times New Roman" panose="02020603050405020304" pitchFamily="18" charset="0"/>
            </a:endParaRPr>
          </a:p>
        </p:txBody>
      </p:sp>
      <p:sp>
        <p:nvSpPr>
          <p:cNvPr id="52255" name="Text Box 35" descr="粉色砂纸"/>
          <p:cNvSpPr txBox="1"/>
          <p:nvPr/>
        </p:nvSpPr>
        <p:spPr>
          <a:xfrm>
            <a:off x="4787900" y="2835275"/>
            <a:ext cx="1481138" cy="762000"/>
          </a:xfrm>
          <a:prstGeom prst="rect">
            <a:avLst/>
          </a:prstGeom>
          <a:blipFill rotWithShape="0">
            <a:blip r:embed="rId3"/>
          </a:blipFill>
          <a:ln w="9525" cap="flat" cmpd="sng">
            <a:solidFill>
              <a:schemeClr val="tx1"/>
            </a:solidFill>
            <a:prstDash val="solid"/>
            <a:miter/>
            <a:headEnd type="none" w="med" len="med"/>
            <a:tailEnd type="none" w="med" len="med"/>
          </a:ln>
        </p:spPr>
        <p:txBody>
          <a:bodyPr tIns="10800" bIns="10800">
            <a:spAutoFit/>
          </a:bodyPr>
          <a:lstStyle/>
          <a:p>
            <a:pPr algn="ctr">
              <a:spcBef>
                <a:spcPct val="50000"/>
              </a:spcBef>
            </a:pPr>
            <a:r>
              <a:rPr lang="zh-CN" altLang="en-US" sz="2400" dirty="0">
                <a:solidFill>
                  <a:srgbClr val="009900"/>
                </a:solidFill>
                <a:latin typeface="Times New Roman" panose="02020603050405020304" pitchFamily="18" charset="0"/>
              </a:rPr>
              <a:t>比例因子1/2/4/8</a:t>
            </a:r>
            <a:endParaRPr lang="zh-CN" altLang="en-US" sz="2400" dirty="0">
              <a:solidFill>
                <a:srgbClr val="009900"/>
              </a:solidFill>
              <a:latin typeface="Times New Roman" panose="02020603050405020304" pitchFamily="18" charset="0"/>
            </a:endParaRPr>
          </a:p>
        </p:txBody>
      </p:sp>
      <p:sp>
        <p:nvSpPr>
          <p:cNvPr id="52256" name="Text Box 36" descr="花束"/>
          <p:cNvSpPr txBox="1"/>
          <p:nvPr/>
        </p:nvSpPr>
        <p:spPr>
          <a:xfrm>
            <a:off x="4787900" y="3811588"/>
            <a:ext cx="1481138" cy="831850"/>
          </a:xfrm>
          <a:prstGeom prst="rect">
            <a:avLst/>
          </a:prstGeom>
          <a:blipFill rotWithShape="0">
            <a:blip r:embed="rId4"/>
          </a:blipFill>
          <a:ln w="9525" cap="flat" cmpd="sng">
            <a:solidFill>
              <a:schemeClr val="tx1"/>
            </a:solidFill>
            <a:prstDash val="solid"/>
            <a:miter/>
            <a:headEnd type="none" w="med" len="med"/>
            <a:tailEnd type="none" w="med" len="med"/>
          </a:ln>
        </p:spPr>
        <p:txBody>
          <a:bodyPr>
            <a:spAutoFit/>
          </a:bodyPr>
          <a:lstStyle/>
          <a:p>
            <a:pPr algn="ctr">
              <a:spcBef>
                <a:spcPct val="50000"/>
              </a:spcBef>
            </a:pPr>
            <a:r>
              <a:rPr lang="zh-CN" altLang="en-US" sz="2400" dirty="0">
                <a:solidFill>
                  <a:schemeClr val="tx2"/>
                </a:solidFill>
                <a:latin typeface="Times New Roman" panose="02020603050405020304" pitchFamily="18" charset="0"/>
              </a:rPr>
              <a:t>偏移量8/16/32位</a:t>
            </a:r>
            <a:endParaRPr lang="zh-CN" altLang="en-US" sz="2400" dirty="0">
              <a:solidFill>
                <a:schemeClr val="tx2"/>
              </a:solidFill>
              <a:latin typeface="Times New Roman" panose="02020603050405020304" pitchFamily="18" charset="0"/>
            </a:endParaRPr>
          </a:p>
        </p:txBody>
      </p:sp>
      <p:sp>
        <p:nvSpPr>
          <p:cNvPr id="52257" name="Oval 37"/>
          <p:cNvSpPr/>
          <p:nvPr/>
        </p:nvSpPr>
        <p:spPr>
          <a:xfrm>
            <a:off x="5348288" y="2287588"/>
            <a:ext cx="385762" cy="3238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58" name="Text Box 38"/>
          <p:cNvSpPr txBox="1"/>
          <p:nvPr/>
        </p:nvSpPr>
        <p:spPr>
          <a:xfrm>
            <a:off x="5362575" y="2197100"/>
            <a:ext cx="276225" cy="457200"/>
          </a:xfrm>
          <a:prstGeom prst="rect">
            <a:avLst/>
          </a:prstGeom>
          <a:noFill/>
          <a:ln w="9525">
            <a:noFill/>
          </a:ln>
        </p:spPr>
        <p:txBody>
          <a:bodyPr>
            <a:spAutoFit/>
          </a:bodyPr>
          <a:lstStyle/>
          <a:p>
            <a:pPr>
              <a:spcBef>
                <a:spcPct val="50000"/>
              </a:spcBef>
            </a:pPr>
            <a:r>
              <a:rPr lang="en-US" altLang="zh-CN" sz="2400" dirty="0">
                <a:solidFill>
                  <a:schemeClr val="tx1"/>
                </a:solidFill>
                <a:latin typeface="Arial" panose="020B0604020202020204" pitchFamily="34" charset="0"/>
              </a:rPr>
              <a:t>x</a:t>
            </a:r>
            <a:endParaRPr lang="en-US" altLang="zh-CN" sz="2400" dirty="0">
              <a:solidFill>
                <a:schemeClr val="tx1"/>
              </a:solidFill>
              <a:latin typeface="Arial" panose="020B0604020202020204" pitchFamily="34" charset="0"/>
            </a:endParaRPr>
          </a:p>
        </p:txBody>
      </p:sp>
      <p:sp>
        <p:nvSpPr>
          <p:cNvPr id="52259" name="Oval 39"/>
          <p:cNvSpPr/>
          <p:nvPr/>
        </p:nvSpPr>
        <p:spPr>
          <a:xfrm>
            <a:off x="4033838" y="4106863"/>
            <a:ext cx="385762" cy="3238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60" name="Text Box 40"/>
          <p:cNvSpPr txBox="1"/>
          <p:nvPr/>
        </p:nvSpPr>
        <p:spPr>
          <a:xfrm>
            <a:off x="4049713" y="4044950"/>
            <a:ext cx="342900" cy="457200"/>
          </a:xfrm>
          <a:prstGeom prst="rect">
            <a:avLst/>
          </a:prstGeom>
          <a:noFill/>
          <a:ln w="9525">
            <a:noFill/>
          </a:ln>
        </p:spPr>
        <p:txBody>
          <a:bodyPr>
            <a:spAutoFit/>
          </a:bodyPr>
          <a:lstStyle/>
          <a:p>
            <a:pPr>
              <a:spcBef>
                <a:spcPct val="50000"/>
              </a:spcBef>
            </a:pPr>
            <a:r>
              <a:rPr lang="zh-CN" altLang="en-US" sz="2400" dirty="0">
                <a:solidFill>
                  <a:schemeClr val="tx1"/>
                </a:solidFill>
                <a:latin typeface="Arial" panose="020B0604020202020204" pitchFamily="34" charset="0"/>
              </a:rPr>
              <a:t>+</a:t>
            </a:r>
            <a:endParaRPr lang="zh-CN" altLang="en-US" sz="2400" dirty="0">
              <a:solidFill>
                <a:schemeClr val="tx1"/>
              </a:solidFill>
              <a:latin typeface="Arial" panose="020B0604020202020204" pitchFamily="34" charset="0"/>
            </a:endParaRPr>
          </a:p>
        </p:txBody>
      </p:sp>
      <p:grpSp>
        <p:nvGrpSpPr>
          <p:cNvPr id="52261" name="Group 41"/>
          <p:cNvGrpSpPr/>
          <p:nvPr/>
        </p:nvGrpSpPr>
        <p:grpSpPr>
          <a:xfrm>
            <a:off x="3678238" y="1139825"/>
            <a:ext cx="1846262" cy="3106738"/>
            <a:chOff x="2317" y="795"/>
            <a:chExt cx="1163" cy="1957"/>
          </a:xfrm>
        </p:grpSpPr>
        <p:sp>
          <p:nvSpPr>
            <p:cNvPr id="52284" name="Line 42"/>
            <p:cNvSpPr/>
            <p:nvPr/>
          </p:nvSpPr>
          <p:spPr>
            <a:xfrm>
              <a:off x="3474" y="1338"/>
              <a:ext cx="0" cy="180"/>
            </a:xfrm>
            <a:prstGeom prst="line">
              <a:avLst/>
            </a:prstGeom>
            <a:ln w="28575" cap="flat" cmpd="sng">
              <a:solidFill>
                <a:srgbClr val="A50021"/>
              </a:solidFill>
              <a:prstDash val="solid"/>
              <a:headEnd type="none" w="med" len="med"/>
              <a:tailEnd type="triangle" w="med" len="med"/>
            </a:ln>
          </p:spPr>
        </p:sp>
        <p:sp>
          <p:nvSpPr>
            <p:cNvPr id="52285" name="Line 43"/>
            <p:cNvSpPr/>
            <p:nvPr/>
          </p:nvSpPr>
          <p:spPr>
            <a:xfrm>
              <a:off x="3480" y="1695"/>
              <a:ext cx="0" cy="180"/>
            </a:xfrm>
            <a:prstGeom prst="line">
              <a:avLst/>
            </a:prstGeom>
            <a:ln w="28575" cap="flat" cmpd="sng">
              <a:solidFill>
                <a:srgbClr val="A50021"/>
              </a:solidFill>
              <a:prstDash val="solid"/>
              <a:headEnd type="triangle" w="med" len="med"/>
              <a:tailEnd type="none" w="med" len="med"/>
            </a:ln>
          </p:spPr>
        </p:sp>
        <p:grpSp>
          <p:nvGrpSpPr>
            <p:cNvPr id="52286" name="Group 44"/>
            <p:cNvGrpSpPr/>
            <p:nvPr/>
          </p:nvGrpSpPr>
          <p:grpSpPr>
            <a:xfrm>
              <a:off x="2317" y="795"/>
              <a:ext cx="1001" cy="1957"/>
              <a:chOff x="2317" y="795"/>
              <a:chExt cx="1001" cy="1957"/>
            </a:xfrm>
          </p:grpSpPr>
          <p:sp>
            <p:nvSpPr>
              <p:cNvPr id="52287" name="Line 45"/>
              <p:cNvSpPr/>
              <p:nvPr/>
            </p:nvSpPr>
            <p:spPr>
              <a:xfrm flipH="1">
                <a:off x="2326" y="795"/>
                <a:ext cx="591" cy="0"/>
              </a:xfrm>
              <a:prstGeom prst="line">
                <a:avLst/>
              </a:prstGeom>
              <a:ln w="28575" cap="flat" cmpd="sng">
                <a:solidFill>
                  <a:srgbClr val="A50021"/>
                </a:solidFill>
                <a:prstDash val="solid"/>
                <a:headEnd type="none" w="med" len="med"/>
                <a:tailEnd type="none" w="med" len="med"/>
              </a:ln>
            </p:spPr>
          </p:sp>
          <p:sp>
            <p:nvSpPr>
              <p:cNvPr id="52288" name="Line 46"/>
              <p:cNvSpPr/>
              <p:nvPr/>
            </p:nvSpPr>
            <p:spPr>
              <a:xfrm>
                <a:off x="2326" y="795"/>
                <a:ext cx="0" cy="1957"/>
              </a:xfrm>
              <a:prstGeom prst="line">
                <a:avLst/>
              </a:prstGeom>
              <a:ln w="28575" cap="flat" cmpd="sng">
                <a:solidFill>
                  <a:srgbClr val="A50021"/>
                </a:solidFill>
                <a:prstDash val="solid"/>
                <a:headEnd type="none" w="med" len="med"/>
                <a:tailEnd type="none" w="med" len="med"/>
              </a:ln>
            </p:spPr>
          </p:sp>
          <p:sp>
            <p:nvSpPr>
              <p:cNvPr id="52289" name="Line 47"/>
              <p:cNvSpPr/>
              <p:nvPr/>
            </p:nvSpPr>
            <p:spPr>
              <a:xfrm flipH="1">
                <a:off x="2661" y="1614"/>
                <a:ext cx="657" cy="0"/>
              </a:xfrm>
              <a:prstGeom prst="line">
                <a:avLst/>
              </a:prstGeom>
              <a:ln w="28575" cap="flat" cmpd="sng">
                <a:solidFill>
                  <a:srgbClr val="A50021"/>
                </a:solidFill>
                <a:prstDash val="solid"/>
                <a:headEnd type="none" w="med" len="med"/>
                <a:tailEnd type="none" w="med" len="med"/>
              </a:ln>
            </p:spPr>
          </p:sp>
          <p:sp>
            <p:nvSpPr>
              <p:cNvPr id="52290" name="Line 48"/>
              <p:cNvSpPr/>
              <p:nvPr/>
            </p:nvSpPr>
            <p:spPr>
              <a:xfrm flipH="1">
                <a:off x="2776" y="2752"/>
                <a:ext cx="240" cy="0"/>
              </a:xfrm>
              <a:prstGeom prst="line">
                <a:avLst/>
              </a:prstGeom>
              <a:ln w="28575" cap="flat" cmpd="sng">
                <a:solidFill>
                  <a:srgbClr val="A50021"/>
                </a:solidFill>
                <a:prstDash val="solid"/>
                <a:headEnd type="none" w="med" len="med"/>
                <a:tailEnd type="triangle" w="med" len="med"/>
              </a:ln>
            </p:spPr>
          </p:sp>
          <p:sp>
            <p:nvSpPr>
              <p:cNvPr id="52291" name="Line 49"/>
              <p:cNvSpPr/>
              <p:nvPr/>
            </p:nvSpPr>
            <p:spPr>
              <a:xfrm>
                <a:off x="2661" y="1614"/>
                <a:ext cx="0" cy="1050"/>
              </a:xfrm>
              <a:prstGeom prst="line">
                <a:avLst/>
              </a:prstGeom>
              <a:ln w="28575" cap="flat" cmpd="sng">
                <a:solidFill>
                  <a:srgbClr val="A50021"/>
                </a:solidFill>
                <a:prstDash val="solid"/>
                <a:headEnd type="none" w="med" len="med"/>
                <a:tailEnd type="triangle" w="med" len="med"/>
              </a:ln>
            </p:spPr>
          </p:sp>
          <p:sp>
            <p:nvSpPr>
              <p:cNvPr id="52292" name="Line 50"/>
              <p:cNvSpPr/>
              <p:nvPr/>
            </p:nvSpPr>
            <p:spPr>
              <a:xfrm>
                <a:off x="2317" y="2752"/>
                <a:ext cx="216" cy="0"/>
              </a:xfrm>
              <a:prstGeom prst="line">
                <a:avLst/>
              </a:prstGeom>
              <a:ln w="28575" cap="flat" cmpd="sng">
                <a:solidFill>
                  <a:srgbClr val="A50021"/>
                </a:solidFill>
                <a:prstDash val="solid"/>
                <a:headEnd type="none" w="med" len="med"/>
                <a:tailEnd type="triangle" w="med" len="med"/>
              </a:ln>
            </p:spPr>
          </p:sp>
        </p:grpSp>
      </p:grpSp>
      <p:sp>
        <p:nvSpPr>
          <p:cNvPr id="52262" name="Oval 51"/>
          <p:cNvSpPr/>
          <p:nvPr/>
        </p:nvSpPr>
        <p:spPr>
          <a:xfrm>
            <a:off x="5410200" y="5030788"/>
            <a:ext cx="385763" cy="323850"/>
          </a:xfrm>
          <a:prstGeom prst="ellipse">
            <a:avLst/>
          </a:prstGeom>
          <a:solidFill>
            <a:schemeClr val="hlink"/>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63" name="Text Box 52"/>
          <p:cNvSpPr txBox="1"/>
          <p:nvPr/>
        </p:nvSpPr>
        <p:spPr>
          <a:xfrm>
            <a:off x="5424488" y="4954588"/>
            <a:ext cx="342900" cy="457200"/>
          </a:xfrm>
          <a:prstGeom prst="rect">
            <a:avLst/>
          </a:prstGeom>
          <a:noFill/>
          <a:ln w="9525">
            <a:noFill/>
          </a:ln>
        </p:spPr>
        <p:txBody>
          <a:bodyPr>
            <a:spAutoFit/>
          </a:bodyPr>
          <a:lstStyle/>
          <a:p>
            <a:pPr>
              <a:spcBef>
                <a:spcPct val="50000"/>
              </a:spcBef>
            </a:pPr>
            <a:r>
              <a:rPr lang="zh-CN" altLang="en-US" sz="2400" dirty="0">
                <a:solidFill>
                  <a:schemeClr val="tx1"/>
                </a:solidFill>
                <a:latin typeface="Arial" panose="020B0604020202020204" pitchFamily="34" charset="0"/>
              </a:rPr>
              <a:t>+</a:t>
            </a:r>
            <a:endParaRPr lang="zh-CN" altLang="en-US" sz="2400" dirty="0">
              <a:solidFill>
                <a:schemeClr val="tx1"/>
              </a:solidFill>
              <a:latin typeface="Arial" panose="020B0604020202020204" pitchFamily="34" charset="0"/>
            </a:endParaRPr>
          </a:p>
        </p:txBody>
      </p:sp>
      <p:grpSp>
        <p:nvGrpSpPr>
          <p:cNvPr id="52264" name="Group 53"/>
          <p:cNvGrpSpPr/>
          <p:nvPr/>
        </p:nvGrpSpPr>
        <p:grpSpPr>
          <a:xfrm>
            <a:off x="3619500" y="4459288"/>
            <a:ext cx="2019300" cy="1647825"/>
            <a:chOff x="2280" y="2886"/>
            <a:chExt cx="1272" cy="1038"/>
          </a:xfrm>
        </p:grpSpPr>
        <p:sp>
          <p:nvSpPr>
            <p:cNvPr id="52280" name="Line 54"/>
            <p:cNvSpPr/>
            <p:nvPr/>
          </p:nvSpPr>
          <p:spPr>
            <a:xfrm>
              <a:off x="2661" y="2886"/>
              <a:ext cx="0" cy="467"/>
            </a:xfrm>
            <a:prstGeom prst="line">
              <a:avLst/>
            </a:prstGeom>
            <a:ln w="28575" cap="flat" cmpd="sng">
              <a:solidFill>
                <a:schemeClr val="hlink"/>
              </a:solidFill>
              <a:prstDash val="solid"/>
              <a:headEnd type="none" w="med" len="med"/>
              <a:tailEnd type="none" w="med" len="med"/>
            </a:ln>
          </p:spPr>
        </p:sp>
        <p:sp>
          <p:nvSpPr>
            <p:cNvPr id="52281" name="Line 55"/>
            <p:cNvSpPr/>
            <p:nvPr/>
          </p:nvSpPr>
          <p:spPr>
            <a:xfrm>
              <a:off x="2280" y="3924"/>
              <a:ext cx="1272" cy="0"/>
            </a:xfrm>
            <a:prstGeom prst="line">
              <a:avLst/>
            </a:prstGeom>
            <a:ln w="28575" cap="flat" cmpd="sng">
              <a:solidFill>
                <a:schemeClr val="hlink"/>
              </a:solidFill>
              <a:prstDash val="solid"/>
              <a:headEnd type="none" w="med" len="med"/>
              <a:tailEnd type="none" w="med" len="med"/>
            </a:ln>
          </p:spPr>
        </p:sp>
        <p:sp>
          <p:nvSpPr>
            <p:cNvPr id="52282" name="Line 56"/>
            <p:cNvSpPr/>
            <p:nvPr/>
          </p:nvSpPr>
          <p:spPr>
            <a:xfrm flipV="1">
              <a:off x="2659" y="3343"/>
              <a:ext cx="767" cy="0"/>
            </a:xfrm>
            <a:prstGeom prst="line">
              <a:avLst/>
            </a:prstGeom>
            <a:ln w="28575" cap="flat" cmpd="sng">
              <a:solidFill>
                <a:schemeClr val="hlink"/>
              </a:solidFill>
              <a:prstDash val="solid"/>
              <a:headEnd type="none" w="med" len="med"/>
              <a:tailEnd type="triangle" w="med" len="med"/>
            </a:ln>
          </p:spPr>
        </p:sp>
        <p:sp>
          <p:nvSpPr>
            <p:cNvPr id="52283" name="Line 57"/>
            <p:cNvSpPr/>
            <p:nvPr/>
          </p:nvSpPr>
          <p:spPr>
            <a:xfrm>
              <a:off x="3534" y="3441"/>
              <a:ext cx="0" cy="483"/>
            </a:xfrm>
            <a:prstGeom prst="line">
              <a:avLst/>
            </a:prstGeom>
            <a:ln w="28575" cap="flat" cmpd="sng">
              <a:solidFill>
                <a:schemeClr val="hlink"/>
              </a:solidFill>
              <a:prstDash val="solid"/>
              <a:headEnd type="triangle" w="med" len="med"/>
              <a:tailEnd type="none" w="med" len="med"/>
            </a:ln>
          </p:spPr>
        </p:sp>
      </p:grpSp>
      <p:grpSp>
        <p:nvGrpSpPr>
          <p:cNvPr id="52265" name="Group 58"/>
          <p:cNvGrpSpPr/>
          <p:nvPr/>
        </p:nvGrpSpPr>
        <p:grpSpPr>
          <a:xfrm>
            <a:off x="5795963" y="3611563"/>
            <a:ext cx="1062037" cy="1573212"/>
            <a:chOff x="3651" y="2352"/>
            <a:chExt cx="669" cy="991"/>
          </a:xfrm>
        </p:grpSpPr>
        <p:sp>
          <p:nvSpPr>
            <p:cNvPr id="52277" name="Line 59"/>
            <p:cNvSpPr/>
            <p:nvPr/>
          </p:nvSpPr>
          <p:spPr>
            <a:xfrm flipH="1">
              <a:off x="3651" y="3334"/>
              <a:ext cx="489" cy="0"/>
            </a:xfrm>
            <a:prstGeom prst="line">
              <a:avLst/>
            </a:prstGeom>
            <a:ln w="28575" cap="flat" cmpd="sng">
              <a:solidFill>
                <a:schemeClr val="tx1"/>
              </a:solidFill>
              <a:prstDash val="solid"/>
              <a:headEnd type="none" w="med" len="med"/>
              <a:tailEnd type="none" w="med" len="med"/>
            </a:ln>
          </p:spPr>
        </p:sp>
        <p:sp>
          <p:nvSpPr>
            <p:cNvPr id="52278" name="Line 60"/>
            <p:cNvSpPr/>
            <p:nvPr/>
          </p:nvSpPr>
          <p:spPr>
            <a:xfrm>
              <a:off x="4140" y="2352"/>
              <a:ext cx="0" cy="991"/>
            </a:xfrm>
            <a:prstGeom prst="line">
              <a:avLst/>
            </a:prstGeom>
            <a:ln w="28575" cap="flat" cmpd="sng">
              <a:solidFill>
                <a:schemeClr val="tx1"/>
              </a:solidFill>
              <a:prstDash val="solid"/>
              <a:headEnd type="none" w="med" len="med"/>
              <a:tailEnd type="none" w="med" len="med"/>
            </a:ln>
          </p:spPr>
        </p:sp>
        <p:sp>
          <p:nvSpPr>
            <p:cNvPr id="52279" name="Line 61"/>
            <p:cNvSpPr/>
            <p:nvPr/>
          </p:nvSpPr>
          <p:spPr>
            <a:xfrm>
              <a:off x="4140" y="2352"/>
              <a:ext cx="180" cy="0"/>
            </a:xfrm>
            <a:prstGeom prst="line">
              <a:avLst/>
            </a:prstGeom>
            <a:ln w="28575" cap="flat" cmpd="sng">
              <a:solidFill>
                <a:schemeClr val="tx1"/>
              </a:solidFill>
              <a:prstDash val="solid"/>
              <a:headEnd type="none" w="med" len="med"/>
              <a:tailEnd type="triangle" w="med" len="med"/>
            </a:ln>
          </p:spPr>
        </p:sp>
      </p:grpSp>
      <p:sp>
        <p:nvSpPr>
          <p:cNvPr id="52266" name="Text Box 62"/>
          <p:cNvSpPr txBox="1"/>
          <p:nvPr/>
        </p:nvSpPr>
        <p:spPr>
          <a:xfrm>
            <a:off x="5664200" y="5222875"/>
            <a:ext cx="1722438" cy="396875"/>
          </a:xfrm>
          <a:prstGeom prst="rect">
            <a:avLst/>
          </a:prstGeom>
          <a:noFill/>
          <a:ln w="9525">
            <a:noFill/>
          </a:ln>
        </p:spPr>
        <p:txBody>
          <a:bodyPr>
            <a:spAutoFit/>
          </a:bodyPr>
          <a:lstStyle/>
          <a:p>
            <a:pPr>
              <a:spcBef>
                <a:spcPct val="50000"/>
              </a:spcBef>
            </a:pPr>
            <a:r>
              <a:rPr lang="zh-CN" altLang="en-US" sz="2000" dirty="0">
                <a:solidFill>
                  <a:srgbClr val="0000FF"/>
                </a:solidFill>
                <a:latin typeface="Times New Roman" panose="02020603050405020304" pitchFamily="18" charset="0"/>
              </a:rPr>
              <a:t>线性地址</a:t>
            </a:r>
            <a:endParaRPr lang="zh-CN" altLang="en-US" sz="2000" dirty="0">
              <a:solidFill>
                <a:srgbClr val="0000FF"/>
              </a:solidFill>
              <a:latin typeface="Times New Roman" panose="02020603050405020304" pitchFamily="18" charset="0"/>
            </a:endParaRPr>
          </a:p>
        </p:txBody>
      </p:sp>
      <p:sp>
        <p:nvSpPr>
          <p:cNvPr id="52267" name="Text Box 63"/>
          <p:cNvSpPr txBox="1"/>
          <p:nvPr/>
        </p:nvSpPr>
        <p:spPr>
          <a:xfrm>
            <a:off x="4192588" y="4799013"/>
            <a:ext cx="1722437" cy="396875"/>
          </a:xfrm>
          <a:prstGeom prst="rect">
            <a:avLst/>
          </a:prstGeom>
          <a:noFill/>
          <a:ln w="9525">
            <a:noFill/>
          </a:ln>
        </p:spPr>
        <p:txBody>
          <a:bodyPr>
            <a:spAutoFit/>
          </a:bodyPr>
          <a:lstStyle/>
          <a:p>
            <a:pPr>
              <a:spcBef>
                <a:spcPct val="50000"/>
              </a:spcBef>
            </a:pPr>
            <a:r>
              <a:rPr lang="zh-CN" altLang="en-US" sz="2000" dirty="0">
                <a:solidFill>
                  <a:srgbClr val="0000FF"/>
                </a:solidFill>
                <a:latin typeface="Times New Roman" panose="02020603050405020304" pitchFamily="18" charset="0"/>
              </a:rPr>
              <a:t>有效地址</a:t>
            </a:r>
            <a:endParaRPr lang="zh-CN" altLang="en-US" sz="2000" dirty="0">
              <a:solidFill>
                <a:srgbClr val="0000FF"/>
              </a:solidFill>
              <a:latin typeface="Times New Roman" panose="02020603050405020304" pitchFamily="18" charset="0"/>
            </a:endParaRPr>
          </a:p>
        </p:txBody>
      </p:sp>
      <p:sp>
        <p:nvSpPr>
          <p:cNvPr id="52268" name="Rectangle 64"/>
          <p:cNvSpPr/>
          <p:nvPr/>
        </p:nvSpPr>
        <p:spPr>
          <a:xfrm>
            <a:off x="6858000" y="3459163"/>
            <a:ext cx="1600200" cy="304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ndParaRPr>
          </a:p>
        </p:txBody>
      </p:sp>
      <p:sp>
        <p:nvSpPr>
          <p:cNvPr id="52269" name="Line 65"/>
          <p:cNvSpPr/>
          <p:nvPr/>
        </p:nvSpPr>
        <p:spPr>
          <a:xfrm flipV="1">
            <a:off x="8458200" y="2854325"/>
            <a:ext cx="482600" cy="0"/>
          </a:xfrm>
          <a:prstGeom prst="line">
            <a:avLst/>
          </a:prstGeom>
          <a:ln w="9525" cap="flat" cmpd="sng">
            <a:solidFill>
              <a:srgbClr val="CC3300"/>
            </a:solidFill>
            <a:prstDash val="solid"/>
            <a:headEnd type="none" w="med" len="med"/>
            <a:tailEnd type="none" w="med" len="med"/>
          </a:ln>
        </p:spPr>
      </p:sp>
      <p:sp>
        <p:nvSpPr>
          <p:cNvPr id="52270" name="Line 66"/>
          <p:cNvSpPr/>
          <p:nvPr/>
        </p:nvSpPr>
        <p:spPr>
          <a:xfrm>
            <a:off x="8458200" y="4684713"/>
            <a:ext cx="482600" cy="0"/>
          </a:xfrm>
          <a:prstGeom prst="line">
            <a:avLst/>
          </a:prstGeom>
          <a:ln w="19050" cap="flat" cmpd="sng">
            <a:solidFill>
              <a:srgbClr val="CC3300"/>
            </a:solidFill>
            <a:prstDash val="solid"/>
            <a:headEnd type="none" w="med" len="med"/>
            <a:tailEnd type="none" w="med" len="med"/>
          </a:ln>
        </p:spPr>
      </p:sp>
      <p:sp>
        <p:nvSpPr>
          <p:cNvPr id="52271" name="Line 67"/>
          <p:cNvSpPr/>
          <p:nvPr/>
        </p:nvSpPr>
        <p:spPr>
          <a:xfrm>
            <a:off x="8709025" y="2854325"/>
            <a:ext cx="0" cy="742950"/>
          </a:xfrm>
          <a:prstGeom prst="line">
            <a:avLst/>
          </a:prstGeom>
          <a:ln w="19050" cap="flat" cmpd="sng">
            <a:solidFill>
              <a:srgbClr val="CC3300"/>
            </a:solidFill>
            <a:prstDash val="solid"/>
            <a:headEnd type="none" w="med" len="med"/>
            <a:tailEnd type="triangle" w="med" len="med"/>
          </a:ln>
        </p:spPr>
      </p:sp>
      <p:sp>
        <p:nvSpPr>
          <p:cNvPr id="52272" name="Line 68"/>
          <p:cNvSpPr/>
          <p:nvPr/>
        </p:nvSpPr>
        <p:spPr>
          <a:xfrm>
            <a:off x="8709025" y="3959225"/>
            <a:ext cx="0" cy="723900"/>
          </a:xfrm>
          <a:prstGeom prst="line">
            <a:avLst/>
          </a:prstGeom>
          <a:ln w="19050" cap="flat" cmpd="sng">
            <a:solidFill>
              <a:srgbClr val="CC3300"/>
            </a:solidFill>
            <a:prstDash val="solid"/>
            <a:headEnd type="triangle" w="med" len="med"/>
            <a:tailEnd type="none" w="med" len="med"/>
          </a:ln>
        </p:spPr>
      </p:sp>
      <p:sp>
        <p:nvSpPr>
          <p:cNvPr id="380997" name="Text Box 69"/>
          <p:cNvSpPr txBox="1">
            <a:spLocks noChangeArrowheads="1"/>
          </p:cNvSpPr>
          <p:nvPr/>
        </p:nvSpPr>
        <p:spPr bwMode="auto">
          <a:xfrm>
            <a:off x="8377238" y="3562350"/>
            <a:ext cx="806450" cy="396875"/>
          </a:xfrm>
          <a:prstGeom prst="rect">
            <a:avLst/>
          </a:prstGeom>
          <a:noFill/>
          <a:ln w="9525">
            <a:noFill/>
            <a:miter lim="800000"/>
          </a:ln>
          <a:effectLst/>
        </p:spPr>
        <p:txBody>
          <a:bodyPr>
            <a:spAutoFit/>
          </a:bodyPr>
          <a:lstStyle/>
          <a:p>
            <a:pPr marR="0" defTabSz="914400">
              <a:spcBef>
                <a:spcPct val="50000"/>
              </a:spcBef>
              <a:buClrTx/>
              <a:buSzTx/>
              <a:buFontTx/>
              <a:buNone/>
              <a:defRPr/>
            </a:pPr>
            <a:r>
              <a:rPr kumimoji="0" lang="zh-CN" altLang="en-US" sz="20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段限</a:t>
            </a:r>
            <a:endParaRPr kumimoji="0" lang="zh-CN" altLang="en-US" sz="20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380998" name="Text Box 70"/>
          <p:cNvSpPr txBox="1">
            <a:spLocks noChangeArrowheads="1"/>
          </p:cNvSpPr>
          <p:nvPr/>
        </p:nvSpPr>
        <p:spPr bwMode="auto">
          <a:xfrm>
            <a:off x="8440738" y="2797175"/>
            <a:ext cx="563563" cy="396875"/>
          </a:xfrm>
          <a:prstGeom prst="rect">
            <a:avLst/>
          </a:prstGeom>
          <a:noFill/>
          <a:ln w="9525">
            <a:noFill/>
            <a:miter lim="800000"/>
          </a:ln>
          <a:effectLst/>
        </p:spPr>
        <p:txBody>
          <a:bodyPr lIns="0" rIns="0">
            <a:spAutoFit/>
          </a:bodyPr>
          <a:lstStyle/>
          <a:p>
            <a:pPr marR="0" defTabSz="914400">
              <a:spcBef>
                <a:spcPct val="50000"/>
              </a:spcBef>
              <a:buClrTx/>
              <a:buSzTx/>
              <a:buFontTx/>
              <a:buNone/>
              <a:defRPr/>
            </a:pPr>
            <a:r>
              <a:rPr kumimoji="0" lang="zh-CN" altLang="en-US" sz="20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基址</a:t>
            </a:r>
            <a:endParaRPr kumimoji="0" lang="zh-CN" altLang="en-US" sz="2000" b="0" kern="1200" cap="none" spc="0" normalizeH="0" baseline="0" noProof="0">
              <a:solidFill>
                <a:srgbClr val="C2228D"/>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endParaRPr>
          </a:p>
        </p:txBody>
      </p:sp>
      <p:sp>
        <p:nvSpPr>
          <p:cNvPr id="52275" name="Text Box 71"/>
          <p:cNvSpPr txBox="1"/>
          <p:nvPr/>
        </p:nvSpPr>
        <p:spPr>
          <a:xfrm>
            <a:off x="6808788" y="1162050"/>
            <a:ext cx="1722437" cy="396875"/>
          </a:xfrm>
          <a:prstGeom prst="rect">
            <a:avLst/>
          </a:prstGeom>
          <a:noFill/>
          <a:ln w="9525">
            <a:noFill/>
          </a:ln>
        </p:spPr>
        <p:txBody>
          <a:bodyPr>
            <a:spAutoFit/>
          </a:bodyPr>
          <a:lstStyle/>
          <a:p>
            <a:pPr>
              <a:spcBef>
                <a:spcPct val="50000"/>
              </a:spcBef>
            </a:pPr>
            <a:r>
              <a:rPr lang="zh-CN" altLang="en-US" sz="2000" dirty="0">
                <a:solidFill>
                  <a:srgbClr val="0000FF"/>
                </a:solidFill>
                <a:latin typeface="Times New Roman" panose="02020603050405020304" pitchFamily="18" charset="0"/>
              </a:rPr>
              <a:t>线性地址空间</a:t>
            </a:r>
            <a:endParaRPr lang="zh-CN" altLang="en-US" sz="2000" dirty="0">
              <a:solidFill>
                <a:srgbClr val="0000FF"/>
              </a:solidFill>
              <a:latin typeface="Times New Roman" panose="02020603050405020304" pitchFamily="18" charset="0"/>
            </a:endParaRPr>
          </a:p>
        </p:txBody>
      </p:sp>
      <p:sp>
        <p:nvSpPr>
          <p:cNvPr id="52276" name="Text Box 72"/>
          <p:cNvSpPr txBox="1"/>
          <p:nvPr/>
        </p:nvSpPr>
        <p:spPr>
          <a:xfrm>
            <a:off x="6007100" y="5754688"/>
            <a:ext cx="3109913" cy="727075"/>
          </a:xfrm>
          <a:prstGeom prst="rect">
            <a:avLst/>
          </a:prstGeom>
          <a:noFill/>
          <a:ln w="12700">
            <a:noFill/>
          </a:ln>
        </p:spPr>
        <p:txBody>
          <a:bodyPr lIns="63500" tIns="25400" rIns="63500" bIns="25400">
            <a:spAutoFit/>
          </a:bodyPr>
          <a:lstStyle/>
          <a:p>
            <a:pPr>
              <a:spcBef>
                <a:spcPct val="50000"/>
              </a:spcBef>
            </a:pPr>
            <a:r>
              <a:rPr lang="zh-CN" altLang="en-US" sz="2200" dirty="0">
                <a:solidFill>
                  <a:srgbClr val="C00000"/>
                </a:solidFill>
                <a:latin typeface="黑体" panose="02010609060101010101" pitchFamily="49" charset="-122"/>
                <a:ea typeface="黑体" panose="02010609060101010101" pitchFamily="49" charset="-122"/>
              </a:rPr>
              <a:t>需要时再对线性地址空间进行分页处理。</a:t>
            </a:r>
            <a:endParaRPr lang="zh-CN" altLang="en-US" sz="2200" dirty="0">
              <a:solidFill>
                <a:srgbClr val="C00000"/>
              </a:solidFill>
              <a:latin typeface="黑体" panose="02010609060101010101" pitchFamily="49" charset="-122"/>
              <a:ea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0" y="114300"/>
            <a:ext cx="8637588" cy="400050"/>
          </a:xfrm>
        </p:spPr>
        <p:txBody>
          <a:bodyPr vert="horz" wrap="square" lIns="63500" tIns="25400" rIns="63500" bIns="25400" anchor="t" anchorCtr="0">
            <a:spAutoFit/>
          </a:bodyPr>
          <a:lstStyle/>
          <a:p>
            <a:r>
              <a:rPr lang="en-US" altLang="zh-CN" dirty="0">
                <a:latin typeface="Times New Roman" panose="02020603050405020304" pitchFamily="18" charset="0"/>
                <a:ea typeface="宋体" panose="02010600030101010101" pitchFamily="2" charset="-122"/>
              </a:rPr>
              <a:t>  </a:t>
            </a:r>
            <a:r>
              <a:rPr lang="en-US" altLang="zh-CN" sz="2600" dirty="0">
                <a:latin typeface="Times New Roman" panose="02020603050405020304" pitchFamily="18" charset="0"/>
                <a:ea typeface="宋体" panose="02010600030101010101" pitchFamily="2" charset="-122"/>
              </a:rPr>
              <a:t>MMX(Microprocessor Media Extension)</a:t>
            </a:r>
            <a:r>
              <a:rPr lang="zh-CN" altLang="en-US" sz="2600" dirty="0">
                <a:ea typeface="宋体" panose="02010600030101010101" pitchFamily="2" charset="-122"/>
              </a:rPr>
              <a:t>指令技术</a:t>
            </a:r>
            <a:endParaRPr lang="zh-CN" altLang="en-US" sz="2600" dirty="0">
              <a:ea typeface="宋体" panose="02010600030101010101" pitchFamily="2" charset="-122"/>
            </a:endParaRPr>
          </a:p>
        </p:txBody>
      </p:sp>
      <p:sp>
        <p:nvSpPr>
          <p:cNvPr id="424963" name="Rectangle 3"/>
          <p:cNvSpPr>
            <a:spLocks noGrp="1"/>
          </p:cNvSpPr>
          <p:nvPr>
            <p:ph idx="1"/>
          </p:nvPr>
        </p:nvSpPr>
        <p:spPr>
          <a:xfrm>
            <a:off x="304800" y="508000"/>
            <a:ext cx="8839200" cy="6272213"/>
          </a:xfrm>
        </p:spPr>
        <p:txBody>
          <a:bodyPr vert="horz" wrap="square" lIns="91440" tIns="45720" rIns="91440" bIns="45720" anchor="t" anchorCtr="0"/>
          <a:lstStyle/>
          <a:p>
            <a:pPr>
              <a:lnSpc>
                <a:spcPct val="100000"/>
              </a:lnSpc>
              <a:spcBef>
                <a:spcPct val="15000"/>
              </a:spcBef>
            </a:pPr>
            <a:r>
              <a:rPr lang="zh-CN" altLang="en-US" sz="1700" dirty="0">
                <a:latin typeface="Arial" panose="020B0604020202020204" pitchFamily="34" charset="0"/>
                <a:ea typeface="黑体" panose="02010609060101010101" pitchFamily="49" charset="-122"/>
              </a:rPr>
              <a:t>图形</a:t>
            </a:r>
            <a:r>
              <a:rPr lang="en-US" altLang="zh-CN" sz="1700" dirty="0">
                <a:latin typeface="Arial" panose="020B0604020202020204" pitchFamily="34" charset="0"/>
                <a:ea typeface="黑体" panose="02010609060101010101" pitchFamily="49" charset="-122"/>
              </a:rPr>
              <a:t>/</a:t>
            </a:r>
            <a:r>
              <a:rPr lang="zh-CN" altLang="en-US" sz="1700" dirty="0">
                <a:latin typeface="Arial" panose="020B0604020202020204" pitchFamily="34" charset="0"/>
                <a:ea typeface="黑体" panose="02010609060101010101" pitchFamily="49" charset="-122"/>
              </a:rPr>
              <a:t>像、音</a:t>
            </a:r>
            <a:r>
              <a:rPr lang="en-US" altLang="zh-CN" sz="1700" dirty="0">
                <a:latin typeface="Arial" panose="020B0604020202020204" pitchFamily="34" charset="0"/>
                <a:ea typeface="黑体" panose="02010609060101010101" pitchFamily="49" charset="-122"/>
              </a:rPr>
              <a:t>/</a:t>
            </a:r>
            <a:r>
              <a:rPr lang="zh-CN" altLang="en-US" sz="1700" dirty="0">
                <a:latin typeface="Arial" panose="020B0604020202020204" pitchFamily="34" charset="0"/>
                <a:ea typeface="黑体" panose="02010609060101010101" pitchFamily="49" charset="-122"/>
              </a:rPr>
              <a:t>视频多媒体信息处理特点</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多个短整数并行操作（如</a:t>
            </a:r>
            <a:r>
              <a:rPr lang="en-US" altLang="zh-CN" sz="1700" dirty="0">
                <a:latin typeface="Arial" panose="020B0604020202020204" pitchFamily="34" charset="0"/>
                <a:ea typeface="黑体" panose="02010609060101010101" pitchFamily="49" charset="-122"/>
              </a:rPr>
              <a:t>8</a:t>
            </a:r>
            <a:r>
              <a:rPr lang="zh-CN" altLang="en-US" sz="1700" dirty="0">
                <a:latin typeface="Arial" panose="020B0604020202020204" pitchFamily="34" charset="0"/>
                <a:ea typeface="黑体" panose="02010609060101010101" pitchFamily="49" charset="-122"/>
              </a:rPr>
              <a:t>位图形像素和</a:t>
            </a:r>
            <a:r>
              <a:rPr lang="en-US" altLang="zh-CN" sz="1700" dirty="0">
                <a:latin typeface="Arial" panose="020B0604020202020204" pitchFamily="34" charset="0"/>
                <a:ea typeface="黑体" panose="02010609060101010101" pitchFamily="49" charset="-122"/>
              </a:rPr>
              <a:t>16</a:t>
            </a:r>
            <a:r>
              <a:rPr lang="zh-CN" altLang="en-US" sz="1700" dirty="0">
                <a:latin typeface="Arial" panose="020B0604020202020204" pitchFamily="34" charset="0"/>
                <a:ea typeface="黑体" panose="02010609060101010101" pitchFamily="49" charset="-122"/>
              </a:rPr>
              <a:t>位音频信号）</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频繁的乘</a:t>
            </a:r>
            <a:r>
              <a:rPr lang="en-US" altLang="zh-CN" sz="1700" dirty="0">
                <a:latin typeface="Arial" panose="020B0604020202020204" pitchFamily="34" charset="0"/>
                <a:ea typeface="黑体" panose="02010609060101010101" pitchFamily="49" charset="-122"/>
              </a:rPr>
              <a:t>-</a:t>
            </a:r>
            <a:r>
              <a:rPr lang="zh-CN" altLang="en-US" sz="1700" dirty="0">
                <a:latin typeface="Arial" panose="020B0604020202020204" pitchFamily="34" charset="0"/>
                <a:ea typeface="黑体" panose="02010609060101010101" pitchFamily="49" charset="-122"/>
              </a:rPr>
              <a:t>累加（如</a:t>
            </a:r>
            <a:r>
              <a:rPr lang="en-US" altLang="zh-CN" sz="1700" dirty="0">
                <a:latin typeface="Arial" panose="020B0604020202020204" pitchFamily="34" charset="0"/>
                <a:ea typeface="黑体" panose="02010609060101010101" pitchFamily="49" charset="-122"/>
              </a:rPr>
              <a:t>FIR</a:t>
            </a:r>
            <a:r>
              <a:rPr lang="zh-CN" altLang="en-US" sz="1700" dirty="0">
                <a:latin typeface="Arial" panose="020B0604020202020204" pitchFamily="34" charset="0"/>
                <a:ea typeface="黑体" panose="02010609060101010101" pitchFamily="49" charset="-122"/>
              </a:rPr>
              <a:t>滤波，矩阵运算）</a:t>
            </a:r>
            <a:endParaRPr lang="zh-CN" altLang="en-US" sz="1700" dirty="0">
              <a:latin typeface="Arial" panose="020B0604020202020204" pitchFamily="34" charset="0"/>
              <a:ea typeface="黑体" panose="02010609060101010101" pitchFamily="49" charset="-122"/>
            </a:endParaRPr>
          </a:p>
          <a:p>
            <a:pPr>
              <a:lnSpc>
                <a:spcPct val="100000"/>
              </a:lnSpc>
              <a:spcBef>
                <a:spcPct val="15000"/>
              </a:spcBef>
            </a:pPr>
            <a:r>
              <a:rPr lang="en-US" altLang="zh-CN" sz="1700" dirty="0">
                <a:latin typeface="Arial" panose="020B0604020202020204" pitchFamily="34" charset="0"/>
                <a:ea typeface="黑体" panose="02010609060101010101" pitchFamily="49" charset="-122"/>
              </a:rPr>
              <a:t>MMX</a:t>
            </a:r>
            <a:r>
              <a:rPr lang="zh-CN" altLang="en-US" sz="1700" dirty="0">
                <a:latin typeface="Arial" panose="020B0604020202020204" pitchFamily="34" charset="0"/>
                <a:ea typeface="黑体" panose="02010609060101010101" pitchFamily="49" charset="-122"/>
              </a:rPr>
              <a:t>的出发点</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使用专门指令对大量数据进行并行、复杂处理</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处理的数据基本单位是</a:t>
            </a:r>
            <a:r>
              <a:rPr lang="en-US" altLang="zh-CN" sz="1700" dirty="0">
                <a:latin typeface="Arial" panose="020B0604020202020204" pitchFamily="34" charset="0"/>
                <a:ea typeface="黑体" panose="02010609060101010101" pitchFamily="49" charset="-122"/>
              </a:rPr>
              <a:t>8b</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16b</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32b</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64b</a:t>
            </a:r>
            <a:r>
              <a:rPr lang="zh-CN" altLang="en-US" sz="1700" dirty="0">
                <a:latin typeface="Arial" panose="020B0604020202020204" pitchFamily="34" charset="0"/>
                <a:ea typeface="黑体" panose="02010609060101010101" pitchFamily="49" charset="-122"/>
              </a:rPr>
              <a:t>等</a:t>
            </a:r>
            <a:endParaRPr lang="zh-CN" altLang="en-US" sz="1700" dirty="0">
              <a:latin typeface="Arial" panose="020B0604020202020204" pitchFamily="34" charset="0"/>
              <a:ea typeface="黑体" panose="02010609060101010101" pitchFamily="49" charset="-122"/>
            </a:endParaRPr>
          </a:p>
          <a:p>
            <a:pPr>
              <a:lnSpc>
                <a:spcPct val="100000"/>
              </a:lnSpc>
              <a:spcBef>
                <a:spcPct val="15000"/>
              </a:spcBef>
            </a:pPr>
            <a:r>
              <a:rPr lang="en-US" altLang="zh-CN" sz="1700" dirty="0">
                <a:latin typeface="Arial" panose="020B0604020202020204" pitchFamily="34" charset="0"/>
                <a:ea typeface="黑体" panose="02010609060101010101" pitchFamily="49" charset="-122"/>
              </a:rPr>
              <a:t>MMX</a:t>
            </a:r>
            <a:r>
              <a:rPr lang="zh-CN" altLang="en-US" sz="1700" dirty="0">
                <a:latin typeface="Arial" panose="020B0604020202020204" pitchFamily="34" charset="0"/>
                <a:ea typeface="黑体" panose="02010609060101010101" pitchFamily="49" charset="-122"/>
              </a:rPr>
              <a:t>指令集由</a:t>
            </a:r>
            <a:r>
              <a:rPr lang="en-US" altLang="zh-CN" sz="1700" dirty="0">
                <a:latin typeface="Arial" panose="020B0604020202020204" pitchFamily="34" charset="0"/>
                <a:ea typeface="黑体" panose="02010609060101010101" pitchFamily="49" charset="-122"/>
              </a:rPr>
              <a:t>Intel</a:t>
            </a:r>
            <a:r>
              <a:rPr lang="zh-CN" altLang="en-US" sz="1700" dirty="0">
                <a:latin typeface="Arial" panose="020B0604020202020204" pitchFamily="34" charset="0"/>
                <a:ea typeface="黑体" panose="02010609060101010101" pitchFamily="49" charset="-122"/>
              </a:rPr>
              <a:t>提出，</a:t>
            </a:r>
            <a:r>
              <a:rPr lang="en-US" altLang="zh-CN" sz="1700" dirty="0">
                <a:latin typeface="Arial" panose="020B0604020202020204" pitchFamily="34" charset="0"/>
                <a:ea typeface="黑体" panose="02010609060101010101" pitchFamily="49" charset="-122"/>
              </a:rPr>
              <a:t>1997</a:t>
            </a:r>
            <a:r>
              <a:rPr lang="zh-CN" altLang="en-US" sz="1700" dirty="0">
                <a:latin typeface="Arial" panose="020B0604020202020204" pitchFamily="34" charset="0"/>
                <a:ea typeface="黑体" panose="02010609060101010101" pitchFamily="49" charset="-122"/>
              </a:rPr>
              <a:t>年首次用于</a:t>
            </a:r>
            <a:r>
              <a:rPr lang="en-US" altLang="zh-CN" sz="1700" dirty="0">
                <a:latin typeface="Arial" panose="020B0604020202020204" pitchFamily="34" charset="0"/>
                <a:ea typeface="黑体" panose="02010609060101010101" pitchFamily="49" charset="-122"/>
              </a:rPr>
              <a:t>P54C Pentium</a:t>
            </a:r>
            <a:r>
              <a:rPr lang="zh-CN" altLang="en-US" sz="1700" dirty="0">
                <a:latin typeface="Arial" panose="020B0604020202020204" pitchFamily="34" charset="0"/>
                <a:ea typeface="黑体" panose="02010609060101010101" pitchFamily="49" charset="-122"/>
              </a:rPr>
              <a:t>处理器</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引入新的数据类型和通用寄存器 </a:t>
            </a:r>
            <a:endParaRPr lang="zh-CN" altLang="en-US" sz="1700" dirty="0">
              <a:latin typeface="Arial" panose="020B0604020202020204" pitchFamily="34" charset="0"/>
              <a:ea typeface="黑体" panose="02010609060101010101" pitchFamily="49" charset="-122"/>
            </a:endParaRPr>
          </a:p>
          <a:p>
            <a:pPr lvl="2">
              <a:lnSpc>
                <a:spcPct val="100000"/>
              </a:lnSpc>
              <a:spcBef>
                <a:spcPct val="15000"/>
              </a:spcBef>
            </a:pPr>
            <a:r>
              <a:rPr lang="zh-CN" altLang="en-US" sz="1700" dirty="0">
                <a:latin typeface="Arial" panose="020B0604020202020204" pitchFamily="34" charset="0"/>
                <a:ea typeface="黑体" panose="02010609060101010101" pitchFamily="49" charset="-122"/>
              </a:rPr>
              <a:t>四种</a:t>
            </a:r>
            <a:r>
              <a:rPr lang="en-US" altLang="zh-CN" sz="1700" dirty="0">
                <a:latin typeface="Arial" panose="020B0604020202020204" pitchFamily="34" charset="0"/>
                <a:ea typeface="黑体" panose="02010609060101010101" pitchFamily="49" charset="-122"/>
              </a:rPr>
              <a:t>64</a:t>
            </a:r>
            <a:r>
              <a:rPr lang="zh-CN" altLang="en-US" sz="1700" dirty="0">
                <a:latin typeface="Arial" panose="020B0604020202020204" pitchFamily="34" charset="0"/>
                <a:ea typeface="黑体" panose="02010609060101010101" pitchFamily="49" charset="-122"/>
              </a:rPr>
              <a:t>位紧缩定点整数类型（</a:t>
            </a:r>
            <a:r>
              <a:rPr lang="en-US" altLang="zh-CN" sz="1700" dirty="0">
                <a:latin typeface="Arial" panose="020B0604020202020204" pitchFamily="34" charset="0"/>
                <a:ea typeface="黑体" panose="02010609060101010101" pitchFamily="49" charset="-122"/>
              </a:rPr>
              <a:t>8 x 1B</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4 x 1W</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2 x 2W</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1 x 4W</a:t>
            </a:r>
            <a:r>
              <a:rPr lang="zh-CN" altLang="en-US" sz="1700" dirty="0">
                <a:latin typeface="Arial" panose="020B0604020202020204" pitchFamily="34" charset="0"/>
                <a:ea typeface="黑体" panose="02010609060101010101" pitchFamily="49" charset="-122"/>
              </a:rPr>
              <a:t>）</a:t>
            </a:r>
            <a:endParaRPr lang="zh-CN" altLang="en-US" sz="1700" dirty="0">
              <a:latin typeface="Arial" panose="020B0604020202020204" pitchFamily="34" charset="0"/>
              <a:ea typeface="黑体" panose="02010609060101010101" pitchFamily="49" charset="-122"/>
            </a:endParaRPr>
          </a:p>
          <a:p>
            <a:pPr lvl="2">
              <a:lnSpc>
                <a:spcPct val="100000"/>
              </a:lnSpc>
              <a:spcBef>
                <a:spcPct val="15000"/>
              </a:spcBef>
            </a:pPr>
            <a:r>
              <a:rPr lang="en-US" altLang="zh-CN" sz="1700" dirty="0">
                <a:latin typeface="Arial" panose="020B0604020202020204" pitchFamily="34" charset="0"/>
                <a:ea typeface="黑体" panose="02010609060101010101" pitchFamily="49" charset="-122"/>
              </a:rPr>
              <a:t>8</a:t>
            </a:r>
            <a:r>
              <a:rPr lang="zh-CN" altLang="en-US" sz="1700" dirty="0">
                <a:latin typeface="Arial" panose="020B0604020202020204" pitchFamily="34" charset="0"/>
                <a:ea typeface="黑体" panose="02010609060101010101" pitchFamily="49" charset="-122"/>
              </a:rPr>
              <a:t>个</a:t>
            </a:r>
            <a:r>
              <a:rPr lang="en-US" altLang="zh-CN" sz="1700" dirty="0">
                <a:latin typeface="Arial" panose="020B0604020202020204" pitchFamily="34" charset="0"/>
                <a:ea typeface="黑体" panose="02010609060101010101" pitchFamily="49" charset="-122"/>
              </a:rPr>
              <a:t>64</a:t>
            </a:r>
            <a:r>
              <a:rPr lang="zh-CN" altLang="en-US" sz="1700" dirty="0">
                <a:latin typeface="Arial" panose="020B0604020202020204" pitchFamily="34" charset="0"/>
                <a:ea typeface="黑体" panose="02010609060101010101" pitchFamily="49" charset="-122"/>
              </a:rPr>
              <a:t>位通用寄存器</a:t>
            </a:r>
            <a:r>
              <a:rPr lang="en-US" altLang="zh-CN" sz="1700" dirty="0">
                <a:latin typeface="Arial" panose="020B0604020202020204" pitchFamily="34" charset="0"/>
                <a:ea typeface="黑体" panose="02010609060101010101" pitchFamily="49" charset="-122"/>
              </a:rPr>
              <a:t>MX0</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MX7</a:t>
            </a:r>
            <a:r>
              <a:rPr lang="zh-CN" altLang="en-US" sz="1700" dirty="0">
                <a:latin typeface="Arial" panose="020B0604020202020204" pitchFamily="34" charset="0"/>
                <a:ea typeface="黑体" panose="02010609060101010101" pitchFamily="49" charset="-122"/>
              </a:rPr>
              <a:t>（借用</a:t>
            </a:r>
            <a:r>
              <a:rPr lang="en-US" altLang="zh-CN" sz="1700" dirty="0">
                <a:latin typeface="Arial" panose="020B0604020202020204" pitchFamily="34" charset="0"/>
                <a:ea typeface="黑体" panose="02010609060101010101" pitchFamily="49" charset="-122"/>
              </a:rPr>
              <a:t>8</a:t>
            </a:r>
            <a:r>
              <a:rPr lang="zh-CN" altLang="en-US" sz="1700" dirty="0">
                <a:latin typeface="Arial" panose="020B0604020202020204" pitchFamily="34" charset="0"/>
                <a:ea typeface="黑体" panose="02010609060101010101" pitchFamily="49" charset="-122"/>
              </a:rPr>
              <a:t>个</a:t>
            </a:r>
            <a:r>
              <a:rPr lang="en-US" altLang="zh-CN" sz="1700" dirty="0">
                <a:latin typeface="Arial" panose="020B0604020202020204" pitchFamily="34" charset="0"/>
                <a:ea typeface="黑体" panose="02010609060101010101" pitchFamily="49" charset="-122"/>
              </a:rPr>
              <a:t>80</a:t>
            </a:r>
            <a:r>
              <a:rPr lang="zh-CN" altLang="en-US" sz="1700" dirty="0">
                <a:latin typeface="Arial" panose="020B0604020202020204" pitchFamily="34" charset="0"/>
                <a:ea typeface="黑体" panose="02010609060101010101" pitchFamily="49" charset="-122"/>
              </a:rPr>
              <a:t>位浮点寄存器）</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采用</a:t>
            </a:r>
            <a:r>
              <a:rPr lang="en-US" altLang="zh-CN" sz="1700" dirty="0">
                <a:latin typeface="Arial" panose="020B0604020202020204" pitchFamily="34" charset="0"/>
                <a:ea typeface="黑体" panose="02010609060101010101" pitchFamily="49" charset="-122"/>
              </a:rPr>
              <a:t>SIMD</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Single Instruction Multi Data</a:t>
            </a:r>
            <a:r>
              <a:rPr lang="zh-CN" altLang="en-US" sz="1700" dirty="0">
                <a:latin typeface="Arial" panose="020B0604020202020204" pitchFamily="34" charset="0"/>
                <a:ea typeface="黑体" panose="02010609060101010101" pitchFamily="49" charset="-122"/>
              </a:rPr>
              <a:t>）技术 </a:t>
            </a:r>
            <a:endParaRPr lang="zh-CN" altLang="en-US" sz="1700" dirty="0">
              <a:latin typeface="Arial" panose="020B0604020202020204" pitchFamily="34" charset="0"/>
              <a:ea typeface="黑体" panose="02010609060101010101" pitchFamily="49" charset="-122"/>
            </a:endParaRPr>
          </a:p>
          <a:p>
            <a:pPr lvl="2">
              <a:lnSpc>
                <a:spcPct val="100000"/>
              </a:lnSpc>
              <a:spcBef>
                <a:spcPct val="15000"/>
              </a:spcBef>
            </a:pPr>
            <a:r>
              <a:rPr lang="zh-CN" altLang="en-US" sz="1700" dirty="0">
                <a:latin typeface="Arial" panose="020B0604020202020204" pitchFamily="34" charset="0"/>
                <a:ea typeface="黑体" panose="02010609060101010101" pitchFamily="49" charset="-122"/>
              </a:rPr>
              <a:t>单条指令同时并行处理多个数据元素 </a:t>
            </a:r>
            <a:endParaRPr lang="zh-CN" altLang="en-US" sz="1700" dirty="0">
              <a:latin typeface="Arial" panose="020B0604020202020204" pitchFamily="34" charset="0"/>
              <a:ea typeface="黑体" panose="02010609060101010101" pitchFamily="49" charset="-122"/>
            </a:endParaRPr>
          </a:p>
          <a:p>
            <a:pPr lvl="2">
              <a:lnSpc>
                <a:spcPct val="100000"/>
              </a:lnSpc>
              <a:spcBef>
                <a:spcPct val="15000"/>
              </a:spcBef>
              <a:buNone/>
            </a:pPr>
            <a:r>
              <a:rPr lang="zh-CN" altLang="en-US" sz="1700" dirty="0">
                <a:solidFill>
                  <a:srgbClr val="2E5C35"/>
                </a:solidFill>
                <a:latin typeface="Arial" panose="020B0604020202020204" pitchFamily="34" charset="0"/>
                <a:ea typeface="黑体" panose="02010609060101010101" pitchFamily="49" charset="-122"/>
              </a:rPr>
              <a:t>例如，一条指令完成图像中</a:t>
            </a:r>
            <a:r>
              <a:rPr lang="en-US" altLang="zh-CN" sz="1700" dirty="0">
                <a:solidFill>
                  <a:srgbClr val="2E5C35"/>
                </a:solidFill>
                <a:latin typeface="Arial" panose="020B0604020202020204" pitchFamily="34" charset="0"/>
                <a:ea typeface="黑体" panose="02010609060101010101" pitchFamily="49" charset="-122"/>
              </a:rPr>
              <a:t>8</a:t>
            </a:r>
            <a:r>
              <a:rPr lang="zh-CN" altLang="en-US" sz="1700" dirty="0">
                <a:solidFill>
                  <a:srgbClr val="2E5C35"/>
                </a:solidFill>
                <a:latin typeface="Arial" panose="020B0604020202020204" pitchFamily="34" charset="0"/>
                <a:ea typeface="黑体" panose="02010609060101010101" pitchFamily="49" charset="-122"/>
              </a:rPr>
              <a:t>个像素的并行操作 </a:t>
            </a:r>
            <a:endParaRPr lang="zh-CN" altLang="en-US" sz="1700" dirty="0">
              <a:solidFill>
                <a:srgbClr val="2E5C35"/>
              </a:solidFill>
              <a:latin typeface="Arial" panose="020B0604020202020204" pitchFamily="34" charset="0"/>
              <a:ea typeface="黑体" panose="02010609060101010101" pitchFamily="49" charset="-122"/>
            </a:endParaRPr>
          </a:p>
          <a:p>
            <a:pPr lvl="1">
              <a:lnSpc>
                <a:spcPct val="100000"/>
              </a:lnSpc>
              <a:spcBef>
                <a:spcPct val="15000"/>
              </a:spcBef>
            </a:pPr>
            <a:r>
              <a:rPr lang="zh-CN" altLang="en-US" sz="1700" dirty="0">
                <a:latin typeface="Arial" panose="020B0604020202020204" pitchFamily="34" charset="0"/>
                <a:ea typeface="黑体" panose="02010609060101010101" pitchFamily="49" charset="-122"/>
              </a:rPr>
              <a:t>引入饱和（</a:t>
            </a:r>
            <a:r>
              <a:rPr lang="en-US" altLang="zh-CN" sz="1700" dirty="0">
                <a:latin typeface="Arial" panose="020B0604020202020204" pitchFamily="34" charset="0"/>
                <a:ea typeface="黑体" panose="02010609060101010101" pitchFamily="49" charset="-122"/>
              </a:rPr>
              <a:t>Situration</a:t>
            </a:r>
            <a:r>
              <a:rPr lang="zh-CN" altLang="en-US" sz="1700" dirty="0">
                <a:latin typeface="Arial" panose="020B0604020202020204" pitchFamily="34" charset="0"/>
                <a:ea typeface="黑体" panose="02010609060101010101" pitchFamily="49" charset="-122"/>
              </a:rPr>
              <a:t>）运算 </a:t>
            </a:r>
            <a:endParaRPr lang="zh-CN" altLang="en-US" sz="1700" dirty="0">
              <a:latin typeface="Arial" panose="020B0604020202020204" pitchFamily="34" charset="0"/>
              <a:ea typeface="黑体" panose="02010609060101010101" pitchFamily="49" charset="-122"/>
            </a:endParaRPr>
          </a:p>
          <a:p>
            <a:pPr lvl="2">
              <a:lnSpc>
                <a:spcPct val="100000"/>
              </a:lnSpc>
              <a:spcBef>
                <a:spcPct val="15000"/>
              </a:spcBef>
              <a:buNone/>
            </a:pPr>
            <a:r>
              <a:rPr lang="zh-CN" altLang="en-US" sz="1700" dirty="0">
                <a:latin typeface="Arial" panose="020B0604020202020204" pitchFamily="34" charset="0"/>
                <a:ea typeface="黑体" panose="02010609060101010101" pitchFamily="49" charset="-122"/>
              </a:rPr>
              <a:t>非饱和</a:t>
            </a:r>
            <a:r>
              <a:rPr lang="en-US" altLang="zh-CN" sz="1700" dirty="0">
                <a:latin typeface="Arial" panose="020B0604020202020204" pitchFamily="34" charset="0"/>
                <a:ea typeface="黑体" panose="02010609060101010101" pitchFamily="49" charset="-122"/>
              </a:rPr>
              <a:t>(</a:t>
            </a:r>
            <a:r>
              <a:rPr lang="zh-CN" altLang="en-US" sz="1700" dirty="0">
                <a:latin typeface="Arial" panose="020B0604020202020204" pitchFamily="34" charset="0"/>
                <a:ea typeface="黑体" panose="02010609060101010101" pitchFamily="49" charset="-122"/>
              </a:rPr>
              <a:t>环绕</a:t>
            </a:r>
            <a:r>
              <a:rPr lang="en-US" altLang="zh-CN" sz="1700" dirty="0">
                <a:latin typeface="Arial" panose="020B0604020202020204" pitchFamily="34" charset="0"/>
                <a:ea typeface="黑体" panose="02010609060101010101" pitchFamily="49" charset="-122"/>
              </a:rPr>
              <a:t>)</a:t>
            </a:r>
            <a:r>
              <a:rPr lang="zh-CN" altLang="en-US" sz="1700" dirty="0">
                <a:latin typeface="Arial" panose="020B0604020202020204" pitchFamily="34" charset="0"/>
                <a:ea typeface="黑体" panose="02010609060101010101" pitchFamily="49" charset="-122"/>
              </a:rPr>
              <a:t>运算：上溢时高位数据被截去；饱和运算：上溢时结果取最大值</a:t>
            </a:r>
            <a:endParaRPr lang="zh-CN" altLang="en-US" sz="1700" dirty="0">
              <a:latin typeface="Arial" panose="020B0604020202020204" pitchFamily="34" charset="0"/>
              <a:ea typeface="黑体" panose="02010609060101010101" pitchFamily="49" charset="-122"/>
            </a:endParaRPr>
          </a:p>
          <a:p>
            <a:pPr lvl="2">
              <a:lnSpc>
                <a:spcPct val="100000"/>
              </a:lnSpc>
              <a:spcBef>
                <a:spcPct val="15000"/>
              </a:spcBef>
              <a:buNone/>
            </a:pPr>
            <a:r>
              <a:rPr lang="zh-CN" altLang="en-US" sz="1700" dirty="0">
                <a:solidFill>
                  <a:srgbClr val="2E5C35"/>
                </a:solidFill>
                <a:latin typeface="Arial" panose="020B0604020202020204" pitchFamily="34" charset="0"/>
                <a:ea typeface="黑体" panose="02010609060101010101" pitchFamily="49" charset="-122"/>
              </a:rPr>
              <a:t>例如，图像插值运算：若</a:t>
            </a:r>
            <a:r>
              <a:rPr lang="en-US" altLang="zh-CN" sz="1700" dirty="0">
                <a:solidFill>
                  <a:srgbClr val="2E5C35"/>
                </a:solidFill>
                <a:latin typeface="Arial" panose="020B0604020202020204" pitchFamily="34" charset="0"/>
                <a:ea typeface="黑体" panose="02010609060101010101" pitchFamily="49" charset="-122"/>
              </a:rPr>
              <a:t>a</a:t>
            </a:r>
            <a:r>
              <a:rPr lang="zh-CN" altLang="en-US" sz="1700" dirty="0">
                <a:solidFill>
                  <a:srgbClr val="2E5C35"/>
                </a:solidFill>
                <a:latin typeface="Arial" panose="020B0604020202020204" pitchFamily="34" charset="0"/>
                <a:ea typeface="黑体" panose="02010609060101010101" pitchFamily="49" charset="-122"/>
              </a:rPr>
              <a:t>点亮度</a:t>
            </a:r>
            <a:r>
              <a:rPr lang="en-US" altLang="zh-CN" sz="1700" dirty="0">
                <a:solidFill>
                  <a:srgbClr val="2E5C35"/>
                </a:solidFill>
                <a:latin typeface="Arial" panose="020B0604020202020204" pitchFamily="34" charset="0"/>
                <a:ea typeface="黑体" panose="02010609060101010101" pitchFamily="49" charset="-122"/>
              </a:rPr>
              <a:t>F3H</a:t>
            </a:r>
            <a:r>
              <a:rPr lang="zh-CN" altLang="en-US" sz="1700" dirty="0">
                <a:solidFill>
                  <a:srgbClr val="2E5C35"/>
                </a:solidFill>
                <a:latin typeface="Arial" panose="020B0604020202020204" pitchFamily="34" charset="0"/>
                <a:ea typeface="黑体" panose="02010609060101010101" pitchFamily="49" charset="-122"/>
              </a:rPr>
              <a:t>，</a:t>
            </a:r>
            <a:r>
              <a:rPr lang="en-US" altLang="zh-CN" sz="1700" dirty="0">
                <a:solidFill>
                  <a:srgbClr val="2E5C35"/>
                </a:solidFill>
                <a:latin typeface="Arial" panose="020B0604020202020204" pitchFamily="34" charset="0"/>
                <a:ea typeface="黑体" panose="02010609060101010101" pitchFamily="49" charset="-122"/>
              </a:rPr>
              <a:t>b</a:t>
            </a:r>
            <a:r>
              <a:rPr lang="zh-CN" altLang="en-US" sz="1700" dirty="0">
                <a:solidFill>
                  <a:srgbClr val="2E5C35"/>
                </a:solidFill>
                <a:latin typeface="Arial" panose="020B0604020202020204" pitchFamily="34" charset="0"/>
                <a:ea typeface="黑体" panose="02010609060101010101" pitchFamily="49" charset="-122"/>
              </a:rPr>
              <a:t>点亮度</a:t>
            </a:r>
            <a:r>
              <a:rPr lang="en-US" altLang="zh-CN" sz="1700" dirty="0">
                <a:solidFill>
                  <a:srgbClr val="2E5C35"/>
                </a:solidFill>
                <a:latin typeface="Arial" panose="020B0604020202020204" pitchFamily="34" charset="0"/>
                <a:ea typeface="黑体" panose="02010609060101010101" pitchFamily="49" charset="-122"/>
              </a:rPr>
              <a:t>1DH</a:t>
            </a:r>
            <a:r>
              <a:rPr lang="zh-CN" altLang="en-US" sz="1700" dirty="0">
                <a:solidFill>
                  <a:srgbClr val="2E5C35"/>
                </a:solidFill>
                <a:latin typeface="Arial" panose="020B0604020202020204" pitchFamily="34" charset="0"/>
                <a:ea typeface="黑体" panose="02010609060101010101" pitchFamily="49" charset="-122"/>
              </a:rPr>
              <a:t>，对</a:t>
            </a:r>
            <a:r>
              <a:rPr lang="en-US" altLang="zh-CN" sz="1700" dirty="0">
                <a:solidFill>
                  <a:srgbClr val="2E5C35"/>
                </a:solidFill>
                <a:latin typeface="Arial" panose="020B0604020202020204" pitchFamily="34" charset="0"/>
                <a:ea typeface="黑体" panose="02010609060101010101" pitchFamily="49" charset="-122"/>
              </a:rPr>
              <a:t>a</a:t>
            </a:r>
            <a:r>
              <a:rPr lang="zh-CN" altLang="en-US" sz="1700" dirty="0">
                <a:solidFill>
                  <a:srgbClr val="2E5C35"/>
                </a:solidFill>
                <a:latin typeface="Arial" panose="020B0604020202020204" pitchFamily="34" charset="0"/>
                <a:ea typeface="黑体" panose="02010609060101010101" pitchFamily="49" charset="-122"/>
              </a:rPr>
              <a:t>和</a:t>
            </a:r>
            <a:r>
              <a:rPr lang="en-US" altLang="zh-CN" sz="1700" dirty="0">
                <a:solidFill>
                  <a:srgbClr val="2E5C35"/>
                </a:solidFill>
                <a:latin typeface="Arial" panose="020B0604020202020204" pitchFamily="34" charset="0"/>
                <a:ea typeface="黑体" panose="02010609060101010101" pitchFamily="49" charset="-122"/>
              </a:rPr>
              <a:t>b</a:t>
            </a:r>
            <a:r>
              <a:rPr lang="zh-CN" altLang="en-US" sz="1700" dirty="0">
                <a:solidFill>
                  <a:srgbClr val="2E5C35"/>
                </a:solidFill>
                <a:latin typeface="Arial" panose="020B0604020202020204" pitchFamily="34" charset="0"/>
                <a:ea typeface="黑体" panose="02010609060101010101" pitchFamily="49" charset="-122"/>
              </a:rPr>
              <a:t>线性插值结果为：</a:t>
            </a:r>
            <a:endParaRPr lang="zh-CN" altLang="en-US" sz="1700" dirty="0">
              <a:solidFill>
                <a:srgbClr val="2E5C35"/>
              </a:solidFill>
              <a:latin typeface="Arial" panose="020B0604020202020204" pitchFamily="34" charset="0"/>
              <a:ea typeface="黑体" panose="02010609060101010101" pitchFamily="49" charset="-122"/>
            </a:endParaRPr>
          </a:p>
          <a:p>
            <a:pPr lvl="2">
              <a:lnSpc>
                <a:spcPct val="100000"/>
              </a:lnSpc>
              <a:spcBef>
                <a:spcPct val="15000"/>
              </a:spcBef>
              <a:buNone/>
            </a:pPr>
            <a:r>
              <a:rPr lang="zh-CN" altLang="en-US" sz="1700" dirty="0">
                <a:solidFill>
                  <a:srgbClr val="2E5C35"/>
                </a:solidFill>
                <a:latin typeface="Arial" panose="020B0604020202020204" pitchFamily="34" charset="0"/>
                <a:ea typeface="黑体" panose="02010609060101010101" pitchFamily="49" charset="-122"/>
              </a:rPr>
              <a:t>环绕运算：</a:t>
            </a:r>
            <a:r>
              <a:rPr lang="en-US" altLang="zh-CN" sz="1700" dirty="0">
                <a:solidFill>
                  <a:srgbClr val="2E5C35"/>
                </a:solidFill>
                <a:latin typeface="Arial" panose="020B0604020202020204" pitchFamily="34" charset="0"/>
                <a:ea typeface="黑体" panose="02010609060101010101" pitchFamily="49" charset="-122"/>
              </a:rPr>
              <a:t>(F3H+1DH)/2=10H/2=08H     </a:t>
            </a:r>
            <a:r>
              <a:rPr lang="zh-CN" altLang="en-US" sz="1700" dirty="0">
                <a:solidFill>
                  <a:srgbClr val="2E5C35"/>
                </a:solidFill>
                <a:latin typeface="Arial" panose="020B0604020202020204" pitchFamily="34" charset="0"/>
                <a:ea typeface="黑体" panose="02010609060101010101" pitchFamily="49" charset="-122"/>
              </a:rPr>
              <a:t>插值点的亮度比</a:t>
            </a:r>
            <a:r>
              <a:rPr lang="en-US" altLang="zh-CN" sz="1700" dirty="0">
                <a:solidFill>
                  <a:srgbClr val="2E5C35"/>
                </a:solidFill>
                <a:latin typeface="Arial" panose="020B0604020202020204" pitchFamily="34" charset="0"/>
                <a:ea typeface="黑体" panose="02010609060101010101" pitchFamily="49" charset="-122"/>
              </a:rPr>
              <a:t>1DH</a:t>
            </a:r>
            <a:r>
              <a:rPr lang="zh-CN" altLang="en-US" sz="1700" dirty="0">
                <a:solidFill>
                  <a:srgbClr val="2E5C35"/>
                </a:solidFill>
                <a:latin typeface="Arial" panose="020B0604020202020204" pitchFamily="34" charset="0"/>
                <a:ea typeface="黑体" panose="02010609060101010101" pitchFamily="49" charset="-122"/>
              </a:rPr>
              <a:t>还低，不合理！</a:t>
            </a:r>
            <a:endParaRPr lang="zh-CN" altLang="en-US" sz="1700" dirty="0">
              <a:solidFill>
                <a:srgbClr val="2E5C35"/>
              </a:solidFill>
              <a:latin typeface="Arial" panose="020B0604020202020204" pitchFamily="34" charset="0"/>
              <a:ea typeface="黑体" panose="02010609060101010101" pitchFamily="49" charset="-122"/>
            </a:endParaRPr>
          </a:p>
          <a:p>
            <a:pPr lvl="2">
              <a:lnSpc>
                <a:spcPct val="100000"/>
              </a:lnSpc>
              <a:spcBef>
                <a:spcPct val="15000"/>
              </a:spcBef>
              <a:buNone/>
            </a:pPr>
            <a:r>
              <a:rPr lang="zh-CN" altLang="en-US" sz="1700" dirty="0">
                <a:solidFill>
                  <a:srgbClr val="2E5C35"/>
                </a:solidFill>
                <a:latin typeface="Arial" panose="020B0604020202020204" pitchFamily="34" charset="0"/>
                <a:ea typeface="黑体" panose="02010609060101010101" pitchFamily="49" charset="-122"/>
              </a:rPr>
              <a:t>饱和运算： </a:t>
            </a:r>
            <a:r>
              <a:rPr lang="en-US" altLang="zh-CN" sz="1700" dirty="0">
                <a:solidFill>
                  <a:srgbClr val="2E5C35"/>
                </a:solidFill>
                <a:latin typeface="Arial" panose="020B0604020202020204" pitchFamily="34" charset="0"/>
                <a:ea typeface="黑体" panose="02010609060101010101" pitchFamily="49" charset="-122"/>
              </a:rPr>
              <a:t>(F3H+1DH)/2=FFH/2=7FH    </a:t>
            </a:r>
            <a:r>
              <a:rPr lang="zh-CN" altLang="en-US" sz="1700" dirty="0">
                <a:solidFill>
                  <a:srgbClr val="2E5C35"/>
                </a:solidFill>
                <a:latin typeface="Arial" panose="020B0604020202020204" pitchFamily="34" charset="0"/>
                <a:ea typeface="黑体" panose="02010609060101010101" pitchFamily="49" charset="-122"/>
              </a:rPr>
              <a:t>合理</a:t>
            </a:r>
            <a:endParaRPr lang="zh-CN" altLang="en-US" sz="1700" dirty="0">
              <a:solidFill>
                <a:srgbClr val="2E5C35"/>
              </a:solidFill>
              <a:latin typeface="Arial" panose="020B0604020202020204" pitchFamily="34" charset="0"/>
              <a:ea typeface="黑体" panose="02010609060101010101" pitchFamily="49" charset="-122"/>
            </a:endParaRPr>
          </a:p>
          <a:p>
            <a:pPr>
              <a:lnSpc>
                <a:spcPct val="100000"/>
              </a:lnSpc>
              <a:spcBef>
                <a:spcPct val="15000"/>
              </a:spcBef>
            </a:pPr>
            <a:r>
              <a:rPr lang="zh-CN" altLang="en-US" sz="1700" dirty="0">
                <a:latin typeface="Arial" panose="020B0604020202020204" pitchFamily="34" charset="0"/>
                <a:ea typeface="黑体" panose="02010609060101010101" pitchFamily="49" charset="-122"/>
              </a:rPr>
              <a:t>在</a:t>
            </a:r>
            <a:r>
              <a:rPr lang="en-US" altLang="zh-CN" sz="1700" dirty="0">
                <a:latin typeface="Arial" panose="020B0604020202020204" pitchFamily="34" charset="0"/>
                <a:ea typeface="黑体" panose="02010609060101010101" pitchFamily="49" charset="-122"/>
              </a:rPr>
              <a:t>Intel</a:t>
            </a:r>
            <a:r>
              <a:rPr lang="zh-CN" altLang="en-US" sz="1700" dirty="0">
                <a:latin typeface="Arial" panose="020B0604020202020204" pitchFamily="34" charset="0"/>
                <a:ea typeface="黑体" panose="02010609060101010101" pitchFamily="49" charset="-122"/>
              </a:rPr>
              <a:t>以后的处理器中又增加了</a:t>
            </a:r>
            <a:r>
              <a:rPr lang="en-US" altLang="zh-CN" sz="1700" dirty="0">
                <a:latin typeface="Arial" panose="020B0604020202020204" pitchFamily="34" charset="0"/>
                <a:ea typeface="黑体" panose="02010609060101010101" pitchFamily="49" charset="-122"/>
              </a:rPr>
              <a:t>SSE</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SSE2</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SSE3</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AVX</a:t>
            </a:r>
            <a:r>
              <a:rPr lang="zh-CN" altLang="en-US" sz="1700" dirty="0">
                <a:latin typeface="Arial" panose="020B0604020202020204" pitchFamily="34" charset="0"/>
                <a:ea typeface="黑体" panose="02010609060101010101" pitchFamily="49" charset="-122"/>
              </a:rPr>
              <a:t>等指令集</a:t>
            </a:r>
            <a:endParaRPr lang="zh-CN" altLang="en-US" sz="1700" dirty="0">
              <a:latin typeface="Arial" panose="020B0604020202020204" pitchFamily="34" charset="0"/>
              <a:ea typeface="黑体" panose="02010609060101010101" pitchFamily="49" charset="-122"/>
            </a:endParaRPr>
          </a:p>
          <a:p>
            <a:pPr lvl="1">
              <a:lnSpc>
                <a:spcPct val="100000"/>
              </a:lnSpc>
              <a:spcBef>
                <a:spcPct val="15000"/>
              </a:spcBef>
              <a:buNone/>
            </a:pPr>
            <a:r>
              <a:rPr lang="en-US" altLang="zh-CN" sz="1700" dirty="0">
                <a:latin typeface="Arial" panose="020B0604020202020204" pitchFamily="34" charset="0"/>
                <a:ea typeface="黑体" panose="02010609060101010101" pitchFamily="49" charset="-122"/>
              </a:rPr>
              <a:t>    SSE</a:t>
            </a:r>
            <a:r>
              <a:rPr lang="zh-CN" altLang="en-US" sz="1700" dirty="0">
                <a:latin typeface="Arial" panose="020B0604020202020204" pitchFamily="34" charset="0"/>
                <a:ea typeface="黑体" panose="02010609060101010101" pitchFamily="49" charset="-122"/>
              </a:rPr>
              <a:t>（</a:t>
            </a:r>
            <a:r>
              <a:rPr lang="en-US" altLang="zh-CN" sz="1700" dirty="0">
                <a:latin typeface="Arial" panose="020B0604020202020204" pitchFamily="34" charset="0"/>
                <a:ea typeface="黑体" panose="02010609060101010101" pitchFamily="49" charset="-122"/>
              </a:rPr>
              <a:t>Streaming SIMD extensions</a:t>
            </a:r>
            <a:r>
              <a:rPr lang="zh-CN" altLang="en-US" sz="1700" dirty="0">
                <a:latin typeface="Arial" panose="020B0604020202020204" pitchFamily="34" charset="0"/>
                <a:ea typeface="黑体" panose="02010609060101010101" pitchFamily="49" charset="-122"/>
              </a:rPr>
              <a:t>）</a:t>
            </a:r>
            <a:endParaRPr lang="zh-CN" altLang="en-US" sz="1700" dirty="0">
              <a:latin typeface="Arial" panose="020B0604020202020204" pitchFamily="34" charset="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4963">
                                            <p:txEl>
                                              <p:pRg st="1" end="1"/>
                                            </p:txEl>
                                          </p:spTgt>
                                        </p:tgtEl>
                                        <p:attrNameLst>
                                          <p:attrName>style.visibility</p:attrName>
                                        </p:attrNameLst>
                                      </p:cBhvr>
                                      <p:to>
                                        <p:strVal val="visible"/>
                                      </p:to>
                                    </p:set>
                                    <p:animEffect transition="in" filter="blinds(horizontal)">
                                      <p:cBhvr>
                                        <p:cTn id="7" dur="500"/>
                                        <p:tgtEl>
                                          <p:spTgt spid="42496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4963">
                                            <p:txEl>
                                              <p:pRg st="2" end="2"/>
                                            </p:txEl>
                                          </p:spTgt>
                                        </p:tgtEl>
                                        <p:attrNameLst>
                                          <p:attrName>style.visibility</p:attrName>
                                        </p:attrNameLst>
                                      </p:cBhvr>
                                      <p:to>
                                        <p:strVal val="visible"/>
                                      </p:to>
                                    </p:set>
                                    <p:animEffect transition="in" filter="blinds(horizontal)">
                                      <p:cBhvr>
                                        <p:cTn id="12" dur="500"/>
                                        <p:tgtEl>
                                          <p:spTgt spid="4249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4963">
                                            <p:txEl>
                                              <p:pRg st="4" end="4"/>
                                            </p:txEl>
                                          </p:spTgt>
                                        </p:tgtEl>
                                        <p:attrNameLst>
                                          <p:attrName>style.visibility</p:attrName>
                                        </p:attrNameLst>
                                      </p:cBhvr>
                                      <p:to>
                                        <p:strVal val="visible"/>
                                      </p:to>
                                    </p:set>
                                    <p:animEffect transition="in" filter="blinds(horizontal)">
                                      <p:cBhvr>
                                        <p:cTn id="17" dur="500"/>
                                        <p:tgtEl>
                                          <p:spTgt spid="42496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4963">
                                            <p:txEl>
                                              <p:pRg st="5" end="5"/>
                                            </p:txEl>
                                          </p:spTgt>
                                        </p:tgtEl>
                                        <p:attrNameLst>
                                          <p:attrName>style.visibility</p:attrName>
                                        </p:attrNameLst>
                                      </p:cBhvr>
                                      <p:to>
                                        <p:strVal val="visible"/>
                                      </p:to>
                                    </p:set>
                                    <p:animEffect transition="in" filter="blinds(horizontal)">
                                      <p:cBhvr>
                                        <p:cTn id="22" dur="500"/>
                                        <p:tgtEl>
                                          <p:spTgt spid="42496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24963">
                                            <p:txEl>
                                              <p:pRg st="8" end="8"/>
                                            </p:txEl>
                                          </p:spTgt>
                                        </p:tgtEl>
                                        <p:attrNameLst>
                                          <p:attrName>style.visibility</p:attrName>
                                        </p:attrNameLst>
                                      </p:cBhvr>
                                      <p:to>
                                        <p:strVal val="visible"/>
                                      </p:to>
                                    </p:set>
                                    <p:animEffect transition="in" filter="blinds(horizontal)">
                                      <p:cBhvr>
                                        <p:cTn id="27" dur="500"/>
                                        <p:tgtEl>
                                          <p:spTgt spid="42496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24963">
                                            <p:txEl>
                                              <p:pRg st="9" end="9"/>
                                            </p:txEl>
                                          </p:spTgt>
                                        </p:tgtEl>
                                        <p:attrNameLst>
                                          <p:attrName>style.visibility</p:attrName>
                                        </p:attrNameLst>
                                      </p:cBhvr>
                                      <p:to>
                                        <p:strVal val="visible"/>
                                      </p:to>
                                    </p:set>
                                    <p:animEffect transition="in" filter="blinds(horizontal)">
                                      <p:cBhvr>
                                        <p:cTn id="32" dur="500"/>
                                        <p:tgtEl>
                                          <p:spTgt spid="42496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24963">
                                            <p:txEl>
                                              <p:pRg st="11" end="11"/>
                                            </p:txEl>
                                          </p:spTgt>
                                        </p:tgtEl>
                                        <p:attrNameLst>
                                          <p:attrName>style.visibility</p:attrName>
                                        </p:attrNameLst>
                                      </p:cBhvr>
                                      <p:to>
                                        <p:strVal val="visible"/>
                                      </p:to>
                                    </p:set>
                                    <p:animEffect transition="in" filter="blinds(horizontal)">
                                      <p:cBhvr>
                                        <p:cTn id="37" dur="500"/>
                                        <p:tgtEl>
                                          <p:spTgt spid="424963">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24963">
                                            <p:txEl>
                                              <p:pRg st="12" end="12"/>
                                            </p:txEl>
                                          </p:spTgt>
                                        </p:tgtEl>
                                        <p:attrNameLst>
                                          <p:attrName>style.visibility</p:attrName>
                                        </p:attrNameLst>
                                      </p:cBhvr>
                                      <p:to>
                                        <p:strVal val="visible"/>
                                      </p:to>
                                    </p:set>
                                    <p:animEffect transition="in" filter="blinds(horizontal)">
                                      <p:cBhvr>
                                        <p:cTn id="42" dur="500"/>
                                        <p:tgtEl>
                                          <p:spTgt spid="424963">
                                            <p:txEl>
                                              <p:pRg st="12" end="1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24963">
                                            <p:txEl>
                                              <p:pRg st="14" end="14"/>
                                            </p:txEl>
                                          </p:spTgt>
                                        </p:tgtEl>
                                        <p:attrNameLst>
                                          <p:attrName>style.visibility</p:attrName>
                                        </p:attrNameLst>
                                      </p:cBhvr>
                                      <p:to>
                                        <p:strVal val="visible"/>
                                      </p:to>
                                    </p:set>
                                    <p:animEffect transition="in" filter="blinds(horizontal)">
                                      <p:cBhvr>
                                        <p:cTn id="47" dur="500"/>
                                        <p:tgtEl>
                                          <p:spTgt spid="424963">
                                            <p:txEl>
                                              <p:pRg st="14" end="1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24963">
                                            <p:txEl>
                                              <p:pRg st="15" end="15"/>
                                            </p:txEl>
                                          </p:spTgt>
                                        </p:tgtEl>
                                        <p:attrNameLst>
                                          <p:attrName>style.visibility</p:attrName>
                                        </p:attrNameLst>
                                      </p:cBhvr>
                                      <p:to>
                                        <p:strVal val="visible"/>
                                      </p:to>
                                    </p:set>
                                    <p:animEffect transition="in" filter="blinds(horizontal)">
                                      <p:cBhvr>
                                        <p:cTn id="52" dur="500"/>
                                        <p:tgtEl>
                                          <p:spTgt spid="424963">
                                            <p:txEl>
                                              <p:pRg st="15" end="15"/>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424963">
                                            <p:txEl>
                                              <p:pRg st="16" end="16"/>
                                            </p:txEl>
                                          </p:spTgt>
                                        </p:tgtEl>
                                        <p:attrNameLst>
                                          <p:attrName>style.visibility</p:attrName>
                                        </p:attrNameLst>
                                      </p:cBhvr>
                                      <p:to>
                                        <p:strVal val="visible"/>
                                      </p:to>
                                    </p:set>
                                    <p:animEffect transition="in" filter="blinds(horizontal)">
                                      <p:cBhvr>
                                        <p:cTn id="55" dur="500"/>
                                        <p:tgtEl>
                                          <p:spTgt spid="424963">
                                            <p:txEl>
                                              <p:pRg st="16" end="16"/>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424963">
                                            <p:txEl>
                                              <p:pRg st="17" end="17"/>
                                            </p:txEl>
                                          </p:spTgt>
                                        </p:tgtEl>
                                        <p:attrNameLst>
                                          <p:attrName>style.visibility</p:attrName>
                                        </p:attrNameLst>
                                      </p:cBhvr>
                                      <p:to>
                                        <p:strVal val="visible"/>
                                      </p:to>
                                    </p:set>
                                    <p:animEffect transition="in" filter="blinds(horizontal)">
                                      <p:cBhvr>
                                        <p:cTn id="58" dur="500"/>
                                        <p:tgtEl>
                                          <p:spTgt spid="424963">
                                            <p:txEl>
                                              <p:pRg st="17" end="1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nodeType="clickEffect">
                                  <p:stCondLst>
                                    <p:cond delay="0"/>
                                  </p:stCondLst>
                                  <p:childTnLst>
                                    <p:set>
                                      <p:cBhvr>
                                        <p:cTn id="62" dur="1" fill="hold">
                                          <p:stCondLst>
                                            <p:cond delay="0"/>
                                          </p:stCondLst>
                                        </p:cTn>
                                        <p:tgtEl>
                                          <p:spTgt spid="424963">
                                            <p:txEl>
                                              <p:pRg st="18" end="18"/>
                                            </p:txEl>
                                          </p:spTgt>
                                        </p:tgtEl>
                                        <p:attrNameLst>
                                          <p:attrName>style.visibility</p:attrName>
                                        </p:attrNameLst>
                                      </p:cBhvr>
                                      <p:to>
                                        <p:strVal val="visible"/>
                                      </p:to>
                                    </p:set>
                                    <p:animEffect transition="in" filter="blinds(horizontal)">
                                      <p:cBhvr>
                                        <p:cTn id="63" dur="500"/>
                                        <p:tgtEl>
                                          <p:spTgt spid="424963">
                                            <p:txEl>
                                              <p:pRg st="18" end="18"/>
                                            </p:txEl>
                                          </p:spTgt>
                                        </p:tgtEl>
                                      </p:cBhvr>
                                    </p:animEffect>
                                  </p:childTnLst>
                                </p:cTn>
                              </p:par>
                              <p:par>
                                <p:cTn id="64" presetID="3" presetClass="entr" presetSubtype="10" fill="hold" nodeType="withEffect">
                                  <p:stCondLst>
                                    <p:cond delay="0"/>
                                  </p:stCondLst>
                                  <p:childTnLst>
                                    <p:set>
                                      <p:cBhvr>
                                        <p:cTn id="65" dur="1" fill="hold">
                                          <p:stCondLst>
                                            <p:cond delay="0"/>
                                          </p:stCondLst>
                                        </p:cTn>
                                        <p:tgtEl>
                                          <p:spTgt spid="424963">
                                            <p:txEl>
                                              <p:pRg st="19" end="19"/>
                                            </p:txEl>
                                          </p:spTgt>
                                        </p:tgtEl>
                                        <p:attrNameLst>
                                          <p:attrName>style.visibility</p:attrName>
                                        </p:attrNameLst>
                                      </p:cBhvr>
                                      <p:to>
                                        <p:strVal val="visible"/>
                                      </p:to>
                                    </p:set>
                                    <p:animEffect transition="in" filter="blinds(horizontal)">
                                      <p:cBhvr>
                                        <p:cTn id="66" dur="500"/>
                                        <p:tgtEl>
                                          <p:spTgt spid="42496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711200" y="114300"/>
            <a:ext cx="7867650" cy="425450"/>
          </a:xfrm>
        </p:spPr>
        <p:txBody>
          <a:bodyPr vert="horz" wrap="square" lIns="63500" tIns="25400" rIns="63500" bIns="25400" anchor="t" anchorCtr="0">
            <a:spAutoFit/>
          </a:bodyPr>
          <a:lstStyle/>
          <a:p>
            <a:r>
              <a:rPr lang="zh-CN" altLang="en-US" sz="2800" dirty="0">
                <a:ea typeface="宋体" panose="02010600030101010101" pitchFamily="2" charset="-122"/>
              </a:rPr>
              <a:t>异常和中断</a:t>
            </a:r>
            <a:endParaRPr lang="zh-CN" altLang="en-US" sz="2800" dirty="0">
              <a:ea typeface="宋体" panose="02010600030101010101" pitchFamily="2" charset="-122"/>
            </a:endParaRPr>
          </a:p>
        </p:txBody>
      </p:sp>
      <p:sp>
        <p:nvSpPr>
          <p:cNvPr id="707587" name="Rectangle 3"/>
          <p:cNvSpPr>
            <a:spLocks noGrp="1" noChangeArrowheads="1"/>
          </p:cNvSpPr>
          <p:nvPr>
            <p:ph idx="1"/>
          </p:nvPr>
        </p:nvSpPr>
        <p:spPr>
          <a:xfrm>
            <a:off x="44450" y="623888"/>
            <a:ext cx="8759825" cy="6103938"/>
          </a:xfrm>
        </p:spPr>
        <p:txBody>
          <a:bodyPr vert="horz" wrap="square" lIns="91440" tIns="45720" rIns="91440" bIns="45720" numCol="1" anchor="t" anchorCtr="0" compatLnSpc="1"/>
          <a:lstStyle/>
          <a:p>
            <a:pPr marL="285750" marR="0" lvl="0" indent="-285750" algn="l" defTabSz="914400" rtl="0" eaLnBrk="0" fontAlgn="base" latinLnBrk="0" hangingPunct="0">
              <a:lnSpc>
                <a:spcPct val="114000"/>
              </a:lnSpc>
              <a:spcBef>
                <a:spcPts val="600"/>
              </a:spcBef>
              <a:spcAft>
                <a:spcPct val="0"/>
              </a:spcAft>
              <a:buClrTx/>
              <a:buSzPct val="75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程序执行过程中</a:t>
            </a:r>
            <a:r>
              <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CPU</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会遇到一些特殊情况，使正在执行的程序被“中断”</a:t>
            </a:r>
            <a:endPar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0" fontAlgn="base" latinLnBrk="0" hangingPunct="0">
              <a:lnSpc>
                <a:spcPct val="114000"/>
              </a:lnSpc>
              <a:spcBef>
                <a:spcPts val="600"/>
              </a:spcBef>
              <a:spcAft>
                <a:spcPct val="0"/>
              </a:spcAft>
              <a:buClrTx/>
              <a:buSzPct val="100000"/>
              <a:buFontTx/>
              <a:buChar char="–"/>
              <a:defRPr/>
            </a:pPr>
            <a:r>
              <a:rPr kumimoji="0" lang="en-US" altLang="zh-CN"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CPU</a:t>
            </a: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中止原来正在执行的程序，转到处理异常情况或特殊事件的程序去执行，结束后再返回到原被中止的程序处</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（断点）</a:t>
            </a: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继续执行。</a:t>
            </a:r>
            <a:endPar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914400" rtl="0" eaLnBrk="0" fontAlgn="base" latinLnBrk="0" hangingPunct="0">
              <a:lnSpc>
                <a:spcPct val="114000"/>
              </a:lnSpc>
              <a:spcBef>
                <a:spcPts val="600"/>
              </a:spcBef>
              <a:spcAft>
                <a:spcPct val="0"/>
              </a:spcAft>
              <a:buClrTx/>
              <a:buSzPct val="75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程序执行被 “中断” 的事件有两类</a:t>
            </a:r>
            <a:endPar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0" fontAlgn="base" latinLnBrk="0" hangingPunct="0">
              <a:lnSpc>
                <a:spcPct val="114000"/>
              </a:lnSpc>
              <a:spcBef>
                <a:spcPts val="600"/>
              </a:spcBef>
              <a:spcAft>
                <a:spcPct val="0"/>
              </a:spcAft>
              <a:buClrTx/>
              <a:buSzPct val="100000"/>
              <a:buFontTx/>
              <a:buChar char="–"/>
              <a:defRPr/>
            </a:pP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内部异常：在</a:t>
            </a:r>
            <a:r>
              <a:rPr kumimoji="0" lang="en-US" altLang="zh-CN"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CPU</a:t>
            </a: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执行某指令时内部发生的意外事件或特殊事件</a:t>
            </a:r>
            <a:endPar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1143000" marR="0" lvl="2" indent="-228600" algn="l" defTabSz="914400" rtl="0" eaLnBrk="0" fontAlgn="base" latinLnBrk="0" hangingPunct="0">
              <a:lnSpc>
                <a:spcPct val="114000"/>
              </a:lnSpc>
              <a:spcBef>
                <a:spcPts val="600"/>
              </a:spcBef>
              <a:spcAft>
                <a:spcPct val="0"/>
              </a:spcAft>
              <a:buClrTx/>
              <a:buSzPct val="100000"/>
              <a:buFontTx/>
              <a:buNone/>
              <a:defRPr/>
            </a:pP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故障</a:t>
            </a:r>
            <a:r>
              <a:rPr kumimoji="0" lang="en-US" altLang="zh-CN"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(fault)</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执行某条指令时发生的异常事件，如溢出、缺页、越界、越权、越级、非法指令、除数为</a:t>
            </a:r>
            <a:r>
              <a:rPr kumimoji="0" lang="en-US" altLang="zh-CN"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0</a:t>
            </a:r>
            <a:r>
              <a:rPr kumimoji="0" lang="zh-CN" altLang="en-US"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、堆</a:t>
            </a:r>
            <a:r>
              <a:rPr kumimoji="0" lang="en-US" altLang="zh-CN"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栈溢出、访问超时等。</a:t>
            </a:r>
            <a:endParaRPr kumimoji="0" lang="en-US" altLang="zh-CN"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endParaRPr>
          </a:p>
          <a:p>
            <a:pPr marL="1143000" marR="0" lvl="2" indent="-228600" algn="l" defTabSz="914400" rtl="0" eaLnBrk="0" fontAlgn="base" latinLnBrk="0" hangingPunct="0">
              <a:lnSpc>
                <a:spcPct val="114000"/>
              </a:lnSpc>
              <a:spcBef>
                <a:spcPts val="600"/>
              </a:spcBef>
              <a:spcAft>
                <a:spcPct val="0"/>
              </a:spcAft>
              <a:buClrTx/>
              <a:buSzPct val="100000"/>
              <a:buFontTx/>
              <a:buNone/>
              <a:defRPr/>
            </a:pP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自陷</a:t>
            </a:r>
            <a:r>
              <a:rPr kumimoji="0" lang="en-US" altLang="zh-CN"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(trap)</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执行预先设置的指令，如断点、单步、系统调用等。</a:t>
            </a:r>
            <a:endParaRPr kumimoji="0" lang="en-US" altLang="zh-CN"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endParaRPr>
          </a:p>
          <a:p>
            <a:pPr marL="1143000" marR="0" lvl="2" indent="-228600" algn="l" defTabSz="914400" rtl="0" eaLnBrk="0" fontAlgn="base" latinLnBrk="0" hangingPunct="0">
              <a:lnSpc>
                <a:spcPct val="114000"/>
              </a:lnSpc>
              <a:spcBef>
                <a:spcPts val="600"/>
              </a:spcBef>
              <a:spcAft>
                <a:spcPct val="0"/>
              </a:spcAft>
              <a:buClrTx/>
              <a:buSzPct val="100000"/>
              <a:buFontTx/>
              <a:buNone/>
              <a:defRPr/>
            </a:pPr>
            <a:r>
              <a:rPr kumimoji="0" lang="zh-CN" altLang="en-US" sz="20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终止</a:t>
            </a:r>
            <a:r>
              <a:rPr kumimoji="0" lang="en-US" altLang="zh-CN" sz="20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(abort)</a:t>
            </a:r>
            <a:r>
              <a:rPr kumimoji="0" lang="zh-CN" altLang="en-US" sz="2000" b="1" i="0" u="none" strike="noStrike" kern="0" cap="none" spc="0" normalizeH="0" baseline="0" noProof="0" dirty="0">
                <a:ln>
                  <a:noFill/>
                </a:ln>
                <a:solidFill>
                  <a:schemeClr val="accent1"/>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rPr>
              <a:t>指令执行过程中出现了硬件故障，如访存校验错等。</a:t>
            </a:r>
            <a:endParaRPr kumimoji="0" lang="zh-CN" altLang="en-US" sz="2000" b="1" i="0" u="none" strike="noStrike" kern="0" cap="none" spc="0" normalizeH="0" baseline="0" noProof="0" dirty="0">
              <a:ln>
                <a:noFill/>
              </a:ln>
              <a:solidFill>
                <a:srgbClr val="A50021"/>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0" fontAlgn="base" latinLnBrk="0" hangingPunct="0">
              <a:lnSpc>
                <a:spcPct val="114000"/>
              </a:lnSpc>
              <a:spcBef>
                <a:spcPts val="600"/>
              </a:spcBef>
              <a:spcAft>
                <a:spcPct val="0"/>
              </a:spcAft>
              <a:buClrTx/>
              <a:buSzPct val="100000"/>
              <a:buFontTx/>
              <a:buChar char="–"/>
              <a:defRPr/>
            </a:pP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外部中断：在</a:t>
            </a:r>
            <a:r>
              <a:rPr kumimoji="0" lang="en-US" altLang="zh-CN"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CPU</a:t>
            </a: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外部发生的特殊事件</a:t>
            </a:r>
            <a:r>
              <a:rPr kumimoji="0" lang="zh-CN" altLang="en-US" sz="2000" b="1" i="0" u="none" strike="noStrike" kern="0" cap="none" spc="0" normalizeH="0" baseline="0" noProof="0" dirty="0">
                <a:ln>
                  <a:noFill/>
                </a:ln>
                <a:solidFill>
                  <a:srgbClr val="009242"/>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通过“中断请求”信号</a:t>
            </a: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向</a:t>
            </a:r>
            <a:r>
              <a:rPr kumimoji="0" lang="en-US" altLang="zh-CN"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CPU</a:t>
            </a: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请求处理。</a:t>
            </a:r>
            <a:r>
              <a:rPr kumimoji="0" lang="zh-CN" altLang="en-US" sz="2000" b="1" i="0" u="none" strike="noStrike" kern="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如实时钟、控制台、打印机缺纸、外设准备好、采样计时到、</a:t>
            </a:r>
            <a:r>
              <a:rPr kumimoji="0" lang="en-US" altLang="zh-CN" sz="2000" b="1" i="0" u="none" strike="noStrike" kern="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DMA</a:t>
            </a:r>
            <a:r>
              <a:rPr kumimoji="0" lang="zh-CN" altLang="en-US" sz="2000" b="1" i="0" u="none" strike="noStrike" kern="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rPr>
              <a:t>传输结束等。</a:t>
            </a:r>
            <a:endParaRPr kumimoji="0" lang="en-US" altLang="zh-CN" sz="2000" b="1" i="0" u="none" strike="noStrike" kern="0" cap="none" spc="0" normalizeH="0" baseline="0" noProof="0" dirty="0">
              <a:ln>
                <a:noFill/>
              </a:ln>
              <a:solidFill>
                <a:srgbClr val="006600"/>
              </a:solidFill>
              <a:effectLst/>
              <a:uLnTx/>
              <a:uFillTx/>
              <a:latin typeface="微软雅黑" panose="020B0503020204020204" pitchFamily="34" charset="-122"/>
              <a:ea typeface="微软雅黑" panose="020B0503020204020204" pitchFamily="34" charset="-122"/>
              <a:cs typeface="+mn-cs"/>
            </a:endParaRPr>
          </a:p>
          <a:p>
            <a:pPr marL="285750" marR="0" lvl="2" indent="-285750" algn="l" defTabSz="914400" rtl="0" eaLnBrk="0" fontAlgn="base" latinLnBrk="0" hangingPunct="0">
              <a:lnSpc>
                <a:spcPct val="114000"/>
              </a:lnSpc>
              <a:spcBef>
                <a:spcPts val="600"/>
              </a:spcBef>
              <a:spcAft>
                <a:spcPct val="0"/>
              </a:spcAft>
              <a:buClrTx/>
              <a:buSzPct val="75000"/>
              <a:buFont typeface="Wingdings" panose="05000000000000000000" pitchFamily="2" charset="2"/>
              <a:buChar char="u"/>
              <a:defRPr/>
            </a:pP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异常</a:t>
            </a:r>
            <a:r>
              <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中断处理分两个阶段</a:t>
            </a:r>
            <a:endParaRPr kumimoji="0" lang="en-US" altLang="zh-CN" sz="20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0" fontAlgn="base" latinLnBrk="0" hangingPunct="0">
              <a:lnSpc>
                <a:spcPct val="114000"/>
              </a:lnSpc>
              <a:spcBef>
                <a:spcPts val="600"/>
              </a:spcBef>
              <a:spcAft>
                <a:spcPct val="0"/>
              </a:spcAft>
              <a:buClrTx/>
              <a:buSzPct val="100000"/>
              <a:buFont typeface="微软雅黑" panose="020B0503020204020204" pitchFamily="34" charset="-122"/>
              <a:buChar char="–"/>
              <a:defRPr/>
            </a:pP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检测和响应：由硬件完成</a:t>
            </a:r>
            <a:endParaRPr kumimoji="0" lang="en-US" altLang="zh-CN"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a:p>
            <a:pPr marL="685800" marR="0" lvl="1" indent="-228600" algn="l" defTabSz="914400" rtl="0" eaLnBrk="0" fontAlgn="base" latinLnBrk="0" hangingPunct="0">
              <a:lnSpc>
                <a:spcPct val="114000"/>
              </a:lnSpc>
              <a:spcBef>
                <a:spcPts val="600"/>
              </a:spcBef>
              <a:spcAft>
                <a:spcPct val="0"/>
              </a:spcAft>
              <a:buClrTx/>
              <a:buSzPct val="100000"/>
              <a:buFont typeface="微软雅黑" panose="020B0503020204020204" pitchFamily="34" charset="-122"/>
              <a:buChar char="–"/>
              <a:defRPr/>
            </a:pPr>
            <a:r>
              <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具体的处理过程由软件（操作系统）执行程序完成</a:t>
            </a:r>
            <a:endParaRPr kumimoji="0" lang="zh-CN" altLang="en-US" sz="2000" b="1" i="0" u="none" strike="noStrike" kern="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07587">
                                            <p:txEl>
                                              <p:pRg st="1" end="1"/>
                                            </p:txEl>
                                          </p:spTgt>
                                        </p:tgtEl>
                                        <p:attrNameLst>
                                          <p:attrName>style.visibility</p:attrName>
                                        </p:attrNameLst>
                                      </p:cBhvr>
                                      <p:to>
                                        <p:strVal val="visible"/>
                                      </p:to>
                                    </p:set>
                                    <p:animEffect transition="in" filter="blinds(horizontal)">
                                      <p:cBhvr>
                                        <p:cTn id="7" dur="500"/>
                                        <p:tgtEl>
                                          <p:spTgt spid="7075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07587">
                                            <p:txEl>
                                              <p:pRg st="3" end="3"/>
                                            </p:txEl>
                                          </p:spTgt>
                                        </p:tgtEl>
                                        <p:attrNameLst>
                                          <p:attrName>style.visibility</p:attrName>
                                        </p:attrNameLst>
                                      </p:cBhvr>
                                      <p:to>
                                        <p:strVal val="visible"/>
                                      </p:to>
                                    </p:set>
                                    <p:animEffect transition="in" filter="blinds(horizontal)">
                                      <p:cBhvr>
                                        <p:cTn id="12" dur="500"/>
                                        <p:tgtEl>
                                          <p:spTgt spid="70758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07587">
                                            <p:txEl>
                                              <p:pRg st="4" end="4"/>
                                            </p:txEl>
                                          </p:spTgt>
                                        </p:tgtEl>
                                        <p:attrNameLst>
                                          <p:attrName>style.visibility</p:attrName>
                                        </p:attrNameLst>
                                      </p:cBhvr>
                                      <p:to>
                                        <p:strVal val="visible"/>
                                      </p:to>
                                    </p:set>
                                    <p:animEffect transition="in" filter="blinds(horizontal)">
                                      <p:cBhvr>
                                        <p:cTn id="17" dur="500"/>
                                        <p:tgtEl>
                                          <p:spTgt spid="70758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07587">
                                            <p:txEl>
                                              <p:pRg st="5" end="5"/>
                                            </p:txEl>
                                          </p:spTgt>
                                        </p:tgtEl>
                                        <p:attrNameLst>
                                          <p:attrName>style.visibility</p:attrName>
                                        </p:attrNameLst>
                                      </p:cBhvr>
                                      <p:to>
                                        <p:strVal val="visible"/>
                                      </p:to>
                                    </p:set>
                                    <p:animEffect transition="in" filter="blinds(horizontal)">
                                      <p:cBhvr>
                                        <p:cTn id="22" dur="500"/>
                                        <p:tgtEl>
                                          <p:spTgt spid="70758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07587">
                                            <p:txEl>
                                              <p:pRg st="6" end="6"/>
                                            </p:txEl>
                                          </p:spTgt>
                                        </p:tgtEl>
                                        <p:attrNameLst>
                                          <p:attrName>style.visibility</p:attrName>
                                        </p:attrNameLst>
                                      </p:cBhvr>
                                      <p:to>
                                        <p:strVal val="visible"/>
                                      </p:to>
                                    </p:set>
                                    <p:animEffect transition="in" filter="blinds(horizontal)">
                                      <p:cBhvr>
                                        <p:cTn id="27" dur="500"/>
                                        <p:tgtEl>
                                          <p:spTgt spid="70758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07587">
                                            <p:txEl>
                                              <p:pRg st="7" end="7"/>
                                            </p:txEl>
                                          </p:spTgt>
                                        </p:tgtEl>
                                        <p:attrNameLst>
                                          <p:attrName>style.visibility</p:attrName>
                                        </p:attrNameLst>
                                      </p:cBhvr>
                                      <p:to>
                                        <p:strVal val="visible"/>
                                      </p:to>
                                    </p:set>
                                    <p:animEffect transition="in" filter="blinds(horizontal)">
                                      <p:cBhvr>
                                        <p:cTn id="32" dur="500"/>
                                        <p:tgtEl>
                                          <p:spTgt spid="70758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07587">
                                            <p:txEl>
                                              <p:pRg st="8" end="8"/>
                                            </p:txEl>
                                          </p:spTgt>
                                        </p:tgtEl>
                                        <p:attrNameLst>
                                          <p:attrName>style.visibility</p:attrName>
                                        </p:attrNameLst>
                                      </p:cBhvr>
                                      <p:to>
                                        <p:strVal val="visible"/>
                                      </p:to>
                                    </p:set>
                                    <p:animEffect transition="in" filter="blinds(horizontal)">
                                      <p:cBhvr>
                                        <p:cTn id="37" dur="500"/>
                                        <p:tgtEl>
                                          <p:spTgt spid="707587">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07587">
                                            <p:txEl>
                                              <p:pRg st="9" end="9"/>
                                            </p:txEl>
                                          </p:spTgt>
                                        </p:tgtEl>
                                        <p:attrNameLst>
                                          <p:attrName>style.visibility</p:attrName>
                                        </p:attrNameLst>
                                      </p:cBhvr>
                                      <p:to>
                                        <p:strVal val="visible"/>
                                      </p:to>
                                    </p:set>
                                    <p:animEffect transition="in" filter="blinds(horizontal)">
                                      <p:cBhvr>
                                        <p:cTn id="42" dur="500"/>
                                        <p:tgtEl>
                                          <p:spTgt spid="707587">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707587">
                                            <p:txEl>
                                              <p:pRg st="10" end="10"/>
                                            </p:txEl>
                                          </p:spTgt>
                                        </p:tgtEl>
                                        <p:attrNameLst>
                                          <p:attrName>style.visibility</p:attrName>
                                        </p:attrNameLst>
                                      </p:cBhvr>
                                      <p:to>
                                        <p:strVal val="visible"/>
                                      </p:to>
                                    </p:set>
                                    <p:animEffect transition="in" filter="blinds(horizontal)">
                                      <p:cBhvr>
                                        <p:cTn id="47" dur="500"/>
                                        <p:tgtEl>
                                          <p:spTgt spid="70758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7"/>
          <p:cNvSpPr/>
          <p:nvPr/>
        </p:nvSpPr>
        <p:spPr>
          <a:xfrm>
            <a:off x="825500" y="2273300"/>
            <a:ext cx="7570788" cy="2971800"/>
          </a:xfrm>
          <a:prstGeom prst="rect">
            <a:avLst/>
          </a:prstGeom>
          <a:solidFill>
            <a:srgbClr val="E9E1C9"/>
          </a:solidFill>
          <a:ln w="28575">
            <a:noFill/>
          </a:ln>
        </p:spPr>
        <p:txBody>
          <a:bodyPr anchor="ctr" anchorCtr="1"/>
          <a:lstStyle/>
          <a:p>
            <a:pPr algn="ctr"/>
            <a:endParaRPr lang="en-US" altLang="zh-CN" sz="2400" dirty="0">
              <a:solidFill>
                <a:srgbClr val="000000"/>
              </a:solidFill>
              <a:latin typeface="Calibri" panose="020F0502020204030204" pitchFamily="34" charset="0"/>
            </a:endParaRPr>
          </a:p>
        </p:txBody>
      </p:sp>
      <p:sp>
        <p:nvSpPr>
          <p:cNvPr id="56323" name="Rectangle 2"/>
          <p:cNvSpPr>
            <a:spLocks noGrp="1"/>
          </p:cNvSpPr>
          <p:nvPr>
            <p:ph type="title" idx="4294967295"/>
          </p:nvPr>
        </p:nvSpPr>
        <p:spPr>
          <a:xfrm>
            <a:off x="476250" y="88900"/>
            <a:ext cx="7740650" cy="466725"/>
          </a:xfrm>
        </p:spPr>
        <p:txBody>
          <a:bodyPr vert="horz" wrap="square" lIns="91294" tIns="45647" rIns="91294" bIns="45647" anchor="t" anchorCtr="0">
            <a:spAutoFit/>
          </a:bodyPr>
          <a:lstStyle/>
          <a:p>
            <a:r>
              <a:rPr lang="zh-CN" altLang="en-US" sz="2800" dirty="0">
                <a:ea typeface="宋体" panose="02010600030101010101" pitchFamily="2" charset="-122"/>
              </a:rPr>
              <a:t>异常和中断</a:t>
            </a:r>
            <a:endParaRPr lang="zh-CN" altLang="en-US" sz="2800" dirty="0">
              <a:ea typeface="宋体" panose="02010600030101010101" pitchFamily="2" charset="-122"/>
            </a:endParaRPr>
          </a:p>
        </p:txBody>
      </p:sp>
      <p:sp>
        <p:nvSpPr>
          <p:cNvPr id="476163" name="Rectangle 3"/>
          <p:cNvSpPr>
            <a:spLocks noGrp="1"/>
          </p:cNvSpPr>
          <p:nvPr>
            <p:ph type="body" idx="4294967295"/>
          </p:nvPr>
        </p:nvSpPr>
        <p:spPr>
          <a:xfrm>
            <a:off x="150813" y="730250"/>
            <a:ext cx="8893175" cy="1098550"/>
          </a:xfrm>
        </p:spPr>
        <p:txBody>
          <a:bodyPr vert="horz" wrap="square" lIns="91440" tIns="45720" rIns="91440" bIns="45720" anchor="t" anchorCtr="0"/>
          <a:lstStyle/>
          <a:p>
            <a:pPr>
              <a:lnSpc>
                <a:spcPct val="150000"/>
              </a:lnSpc>
            </a:pPr>
            <a:r>
              <a:rPr lang="zh-CN" altLang="en-US" sz="2200" dirty="0">
                <a:latin typeface="微软雅黑" panose="020B0503020204020204" pitchFamily="34" charset="-122"/>
                <a:ea typeface="微软雅黑" panose="020B0503020204020204" pitchFamily="34" charset="-122"/>
              </a:rPr>
              <a:t>发生</a:t>
            </a:r>
            <a:r>
              <a:rPr lang="zh-CN" altLang="en-US" sz="2200" dirty="0">
                <a:solidFill>
                  <a:srgbClr val="FF0000"/>
                </a:solidFill>
                <a:latin typeface="微软雅黑" panose="020B0503020204020204" pitchFamily="34" charset="-122"/>
                <a:ea typeface="微软雅黑" panose="020B0503020204020204" pitchFamily="34" charset="-122"/>
              </a:rPr>
              <a:t>异常</a:t>
            </a:r>
            <a:r>
              <a:rPr lang="en-US" altLang="zh-CN" sz="2200" dirty="0">
                <a:solidFill>
                  <a:srgbClr val="FF0000"/>
                </a:solidFill>
                <a:latin typeface="微软雅黑" panose="020B0503020204020204" pitchFamily="34" charset="-122"/>
                <a:ea typeface="微软雅黑" panose="020B0503020204020204" pitchFamily="34" charset="-122"/>
              </a:rPr>
              <a:t>(exception)</a:t>
            </a:r>
            <a:r>
              <a:rPr lang="zh-CN" altLang="en-US" sz="2200" dirty="0">
                <a:latin typeface="微软雅黑" panose="020B0503020204020204" pitchFamily="34" charset="-122"/>
                <a:ea typeface="微软雅黑" panose="020B0503020204020204" pitchFamily="34" charset="-122"/>
              </a:rPr>
              <a:t>和</a:t>
            </a:r>
            <a:r>
              <a:rPr lang="zh-CN" altLang="en-US" sz="2200" dirty="0">
                <a:solidFill>
                  <a:srgbClr val="FF0000"/>
                </a:solidFill>
                <a:latin typeface="微软雅黑" panose="020B0503020204020204" pitchFamily="34" charset="-122"/>
                <a:ea typeface="微软雅黑" panose="020B0503020204020204" pitchFamily="34" charset="-122"/>
              </a:rPr>
              <a:t>中断</a:t>
            </a:r>
            <a:r>
              <a:rPr lang="en-US" altLang="zh-CN" sz="2200" dirty="0">
                <a:solidFill>
                  <a:srgbClr val="FF0000"/>
                </a:solidFill>
                <a:latin typeface="微软雅黑" panose="020B0503020204020204" pitchFamily="34" charset="-122"/>
                <a:ea typeface="微软雅黑" panose="020B0503020204020204" pitchFamily="34" charset="-122"/>
              </a:rPr>
              <a:t>(interrupt)</a:t>
            </a:r>
            <a:r>
              <a:rPr lang="zh-CN" altLang="en-US" sz="2200" dirty="0">
                <a:latin typeface="微软雅黑" panose="020B0503020204020204" pitchFamily="34" charset="-122"/>
                <a:ea typeface="微软雅黑" panose="020B0503020204020204" pitchFamily="34" charset="-122"/>
              </a:rPr>
              <a:t>事件后，系统将进入</a:t>
            </a:r>
            <a:r>
              <a:rPr lang="en-US" altLang="zh-CN" sz="2200" dirty="0">
                <a:latin typeface="微软雅黑" panose="020B0503020204020204" pitchFamily="34" charset="-122"/>
                <a:ea typeface="微软雅黑" panose="020B0503020204020204" pitchFamily="34" charset="-122"/>
              </a:rPr>
              <a:t>OS</a:t>
            </a:r>
            <a:r>
              <a:rPr lang="zh-CN" altLang="en-US" sz="2200" dirty="0">
                <a:latin typeface="微软雅黑" panose="020B0503020204020204" pitchFamily="34" charset="-122"/>
                <a:ea typeface="微软雅黑" panose="020B0503020204020204" pitchFamily="34" charset="-122"/>
              </a:rPr>
              <a:t>内核态对相应事件进行处理，即改变处理器状态</a:t>
            </a:r>
            <a:r>
              <a:rPr lang="zh-CN" altLang="en-US" sz="2200" dirty="0">
                <a:solidFill>
                  <a:srgbClr val="FF0000"/>
                </a:solidFill>
                <a:latin typeface="微软雅黑" panose="020B0503020204020204" pitchFamily="34" charset="-122"/>
                <a:ea typeface="微软雅黑" panose="020B0503020204020204" pitchFamily="34" charset="-122"/>
              </a:rPr>
              <a:t>（用户态</a:t>
            </a:r>
            <a:r>
              <a:rPr lang="zh-CN" altLang="en-US" sz="2200" dirty="0">
                <a:solidFill>
                  <a:srgbClr val="FF0000"/>
                </a:solidFill>
                <a:ea typeface="微软雅黑" panose="020B0503020204020204" pitchFamily="34" charset="-122"/>
              </a:rPr>
              <a:t>→内核态</a:t>
            </a:r>
            <a:r>
              <a:rPr lang="zh-CN" altLang="en-US" sz="2200" dirty="0">
                <a:solidFill>
                  <a:srgbClr val="FF0000"/>
                </a:solidFill>
                <a:latin typeface="微软雅黑" panose="020B0503020204020204" pitchFamily="34" charset="-122"/>
                <a:ea typeface="微软雅黑" panose="020B0503020204020204" pitchFamily="34" charset="-122"/>
              </a:rPr>
              <a:t>）</a:t>
            </a:r>
            <a:endParaRPr lang="en-US" altLang="zh-CN" sz="2200" b="0" dirty="0">
              <a:solidFill>
                <a:srgbClr val="FF0000"/>
              </a:solidFill>
            </a:endParaRPr>
          </a:p>
        </p:txBody>
      </p:sp>
      <p:sp>
        <p:nvSpPr>
          <p:cNvPr id="476164" name="Rectangle 4"/>
          <p:cNvSpPr/>
          <p:nvPr/>
        </p:nvSpPr>
        <p:spPr>
          <a:xfrm>
            <a:off x="2419350" y="2344738"/>
            <a:ext cx="1400175" cy="454025"/>
          </a:xfrm>
          <a:prstGeom prst="rect">
            <a:avLst/>
          </a:prstGeom>
          <a:noFill/>
          <a:ln w="12700">
            <a:noFill/>
          </a:ln>
        </p:spPr>
        <p:txBody>
          <a:bodyPr wrap="none" lIns="90479" tIns="44446" rIns="90479" bIns="44446">
            <a:spAutoFit/>
          </a:bodyPr>
          <a:lstStyle/>
          <a:p>
            <a:r>
              <a:rPr lang="zh-CN" altLang="en-US" sz="2400" dirty="0">
                <a:solidFill>
                  <a:srgbClr val="CC3300"/>
                </a:solidFill>
                <a:latin typeface="Calibri" panose="020F0502020204030204" pitchFamily="34" charset="0"/>
                <a:ea typeface="微软雅黑" panose="020B0503020204020204" pitchFamily="34" charset="-122"/>
              </a:rPr>
              <a:t>用户进程</a:t>
            </a:r>
            <a:endParaRPr lang="zh-CN" altLang="en-US" sz="2400" dirty="0">
              <a:solidFill>
                <a:srgbClr val="CC3300"/>
              </a:solidFill>
              <a:latin typeface="Calibri" panose="020F0502020204030204" pitchFamily="34" charset="0"/>
              <a:ea typeface="微软雅黑" panose="020B0503020204020204" pitchFamily="34" charset="-122"/>
            </a:endParaRPr>
          </a:p>
        </p:txBody>
      </p:sp>
      <p:sp>
        <p:nvSpPr>
          <p:cNvPr id="476165" name="Rectangle 5"/>
          <p:cNvSpPr/>
          <p:nvPr/>
        </p:nvSpPr>
        <p:spPr>
          <a:xfrm>
            <a:off x="5651500" y="2474913"/>
            <a:ext cx="614363" cy="454025"/>
          </a:xfrm>
          <a:prstGeom prst="rect">
            <a:avLst/>
          </a:prstGeom>
          <a:noFill/>
          <a:ln w="12700">
            <a:noFill/>
          </a:ln>
        </p:spPr>
        <p:txBody>
          <a:bodyPr wrap="none" lIns="90479" tIns="44446" rIns="90479" bIns="44446">
            <a:spAutoFit/>
          </a:bodyPr>
          <a:lstStyle/>
          <a:p>
            <a:r>
              <a:rPr lang="en-US" altLang="zh-CN" sz="2400" dirty="0">
                <a:solidFill>
                  <a:srgbClr val="CC3300"/>
                </a:solidFill>
                <a:latin typeface="微软雅黑" panose="020B0503020204020204" pitchFamily="34" charset="-122"/>
                <a:ea typeface="微软雅黑" panose="020B0503020204020204" pitchFamily="34" charset="-122"/>
              </a:rPr>
              <a:t>OS</a:t>
            </a:r>
            <a:endParaRPr lang="en-US" altLang="zh-CN" sz="2400" dirty="0">
              <a:solidFill>
                <a:srgbClr val="CC3300"/>
              </a:solidFill>
              <a:latin typeface="微软雅黑" panose="020B0503020204020204" pitchFamily="34" charset="-122"/>
              <a:ea typeface="微软雅黑" panose="020B0503020204020204" pitchFamily="34" charset="-122"/>
            </a:endParaRPr>
          </a:p>
        </p:txBody>
      </p:sp>
      <p:sp>
        <p:nvSpPr>
          <p:cNvPr id="692231" name="Line 6"/>
          <p:cNvSpPr/>
          <p:nvPr/>
        </p:nvSpPr>
        <p:spPr>
          <a:xfrm>
            <a:off x="3233738" y="2867025"/>
            <a:ext cx="0" cy="598488"/>
          </a:xfrm>
          <a:prstGeom prst="line">
            <a:avLst/>
          </a:prstGeom>
          <a:ln w="38100" cap="flat" cmpd="sng">
            <a:solidFill>
              <a:srgbClr val="FF0000"/>
            </a:solidFill>
            <a:prstDash val="solid"/>
            <a:headEnd type="none" w="med" len="med"/>
            <a:tailEnd type="triangle" w="med" len="med"/>
          </a:ln>
        </p:spPr>
      </p:sp>
      <p:sp>
        <p:nvSpPr>
          <p:cNvPr id="476168" name="Line 8"/>
          <p:cNvSpPr/>
          <p:nvPr/>
        </p:nvSpPr>
        <p:spPr>
          <a:xfrm>
            <a:off x="6053138" y="3478213"/>
            <a:ext cx="0" cy="596900"/>
          </a:xfrm>
          <a:prstGeom prst="line">
            <a:avLst/>
          </a:prstGeom>
          <a:ln w="28575" cap="flat" cmpd="sng">
            <a:solidFill>
              <a:schemeClr val="tx1"/>
            </a:solidFill>
            <a:prstDash val="solid"/>
            <a:headEnd type="none" w="med" len="med"/>
            <a:tailEnd type="triangle" w="med" len="med"/>
          </a:ln>
        </p:spPr>
      </p:sp>
      <p:sp>
        <p:nvSpPr>
          <p:cNvPr id="476170" name="Line 10"/>
          <p:cNvSpPr/>
          <p:nvPr/>
        </p:nvSpPr>
        <p:spPr>
          <a:xfrm>
            <a:off x="3233738" y="3568700"/>
            <a:ext cx="0" cy="1512888"/>
          </a:xfrm>
          <a:prstGeom prst="line">
            <a:avLst/>
          </a:prstGeom>
          <a:ln w="38100" cap="flat" cmpd="sng">
            <a:solidFill>
              <a:srgbClr val="FF0000"/>
            </a:solidFill>
            <a:prstDash val="solid"/>
            <a:headEnd type="none" w="med" len="med"/>
            <a:tailEnd type="triangle" w="med" len="med"/>
          </a:ln>
        </p:spPr>
      </p:sp>
      <p:sp>
        <p:nvSpPr>
          <p:cNvPr id="476171" name="Rectangle 11"/>
          <p:cNvSpPr/>
          <p:nvPr/>
        </p:nvSpPr>
        <p:spPr>
          <a:xfrm>
            <a:off x="3587750" y="3068638"/>
            <a:ext cx="2225675" cy="393700"/>
          </a:xfrm>
          <a:prstGeom prst="rect">
            <a:avLst/>
          </a:prstGeom>
          <a:noFill/>
          <a:ln w="12700">
            <a:noFill/>
          </a:ln>
        </p:spPr>
        <p:txBody>
          <a:bodyPr lIns="90479" tIns="44446" rIns="90479" bIns="44446">
            <a:spAutoFit/>
          </a:bodyPr>
          <a:lstStyle/>
          <a:p>
            <a:r>
              <a:rPr lang="zh-CN" altLang="en-US" sz="2000" dirty="0">
                <a:solidFill>
                  <a:srgbClr val="063DE8"/>
                </a:solidFill>
                <a:latin typeface="微软雅黑" panose="020B0503020204020204" pitchFamily="34" charset="-122"/>
                <a:ea typeface="微软雅黑" panose="020B0503020204020204" pitchFamily="34" charset="-122"/>
              </a:rPr>
              <a:t>响应异常</a:t>
            </a:r>
            <a:r>
              <a:rPr lang="en-US" altLang="zh-CN" sz="2000" dirty="0">
                <a:solidFill>
                  <a:srgbClr val="063DE8"/>
                </a:solidFill>
                <a:latin typeface="微软雅黑" panose="020B0503020204020204" pitchFamily="34" charset="-122"/>
                <a:ea typeface="微软雅黑" panose="020B0503020204020204" pitchFamily="34" charset="-122"/>
              </a:rPr>
              <a:t>/</a:t>
            </a:r>
            <a:r>
              <a:rPr lang="zh-CN" altLang="en-US" sz="2000" dirty="0">
                <a:solidFill>
                  <a:srgbClr val="063DE8"/>
                </a:solidFill>
                <a:latin typeface="微软雅黑" panose="020B0503020204020204" pitchFamily="34" charset="-122"/>
                <a:ea typeface="微软雅黑" panose="020B0503020204020204" pitchFamily="34" charset="-122"/>
              </a:rPr>
              <a:t>中断</a:t>
            </a:r>
            <a:endParaRPr lang="zh-CN" altLang="en-US" sz="2000" dirty="0">
              <a:solidFill>
                <a:srgbClr val="063DE8"/>
              </a:solidFill>
              <a:latin typeface="微软雅黑" panose="020B0503020204020204" pitchFamily="34" charset="-122"/>
              <a:ea typeface="微软雅黑" panose="020B0503020204020204" pitchFamily="34" charset="-122"/>
            </a:endParaRPr>
          </a:p>
        </p:txBody>
      </p:sp>
      <p:sp>
        <p:nvSpPr>
          <p:cNvPr id="476172" name="Rectangle 12"/>
          <p:cNvSpPr/>
          <p:nvPr/>
        </p:nvSpPr>
        <p:spPr>
          <a:xfrm>
            <a:off x="6215063" y="3417888"/>
            <a:ext cx="1668462" cy="973137"/>
          </a:xfrm>
          <a:prstGeom prst="rect">
            <a:avLst/>
          </a:prstGeom>
          <a:noFill/>
          <a:ln w="12700">
            <a:noFill/>
          </a:ln>
        </p:spPr>
        <p:txBody>
          <a:bodyPr lIns="90479" tIns="44446" rIns="90479" bIns="44446">
            <a:spAutoFit/>
          </a:bodyPr>
          <a:lstStyle/>
          <a:p>
            <a:r>
              <a:rPr lang="zh-CN" altLang="en-US" sz="2000" dirty="0">
                <a:solidFill>
                  <a:srgbClr val="000000"/>
                </a:solidFill>
                <a:latin typeface="Calibri" panose="020F0502020204030204" pitchFamily="34" charset="0"/>
                <a:ea typeface="微软雅黑" panose="020B0503020204020204" pitchFamily="34" charset="-122"/>
              </a:rPr>
              <a:t>具体的异常或中断处理</a:t>
            </a:r>
            <a:endParaRPr lang="zh-CN" altLang="en-US" sz="2000" dirty="0">
              <a:solidFill>
                <a:srgbClr val="000000"/>
              </a:solidFill>
              <a:latin typeface="Calibri" panose="020F0502020204030204" pitchFamily="34" charset="0"/>
              <a:ea typeface="微软雅黑" panose="020B0503020204020204" pitchFamily="34" charset="-122"/>
            </a:endParaRPr>
          </a:p>
          <a:p>
            <a:endParaRPr lang="en-US" altLang="zh-CN" sz="1800" b="0" i="1" dirty="0">
              <a:solidFill>
                <a:srgbClr val="000000"/>
              </a:solidFill>
              <a:latin typeface="Calibri" panose="020F0502020204030204" pitchFamily="34" charset="0"/>
            </a:endParaRPr>
          </a:p>
        </p:txBody>
      </p:sp>
      <p:sp>
        <p:nvSpPr>
          <p:cNvPr id="476173" name="Rectangle 13"/>
          <p:cNvSpPr/>
          <p:nvPr/>
        </p:nvSpPr>
        <p:spPr>
          <a:xfrm>
            <a:off x="3471863" y="3883025"/>
            <a:ext cx="1870075" cy="1003300"/>
          </a:xfrm>
          <a:prstGeom prst="rect">
            <a:avLst/>
          </a:prstGeom>
          <a:noFill/>
          <a:ln w="12700">
            <a:noFill/>
          </a:ln>
        </p:spPr>
        <p:txBody>
          <a:bodyPr wrap="none" lIns="90479" tIns="44446" rIns="90479" bIns="44446">
            <a:spAutoFit/>
          </a:bodyPr>
          <a:lstStyle/>
          <a:p>
            <a:pPr>
              <a:buChar char="•"/>
            </a:pPr>
            <a:r>
              <a:rPr lang="zh-CN" altLang="en-US" sz="2000" dirty="0">
                <a:solidFill>
                  <a:srgbClr val="000000"/>
                </a:solidFill>
                <a:latin typeface="微软雅黑" panose="020B0503020204020204" pitchFamily="34" charset="-122"/>
                <a:ea typeface="微软雅黑" panose="020B0503020204020204" pitchFamily="34" charset="-122"/>
              </a:rPr>
              <a:t> </a:t>
            </a:r>
            <a:r>
              <a:rPr lang="zh-CN" altLang="en-US" sz="2000" dirty="0">
                <a:solidFill>
                  <a:srgbClr val="063DE8"/>
                </a:solidFill>
                <a:latin typeface="微软雅黑" panose="020B0503020204020204" pitchFamily="34" charset="-122"/>
                <a:ea typeface="微软雅黑" panose="020B0503020204020204" pitchFamily="34" charset="-122"/>
              </a:rPr>
              <a:t>返回当前指令</a:t>
            </a:r>
            <a:endParaRPr lang="zh-CN" altLang="en-US" sz="2000" dirty="0">
              <a:solidFill>
                <a:srgbClr val="063DE8"/>
              </a:solidFill>
              <a:latin typeface="微软雅黑" panose="020B0503020204020204" pitchFamily="34" charset="-122"/>
              <a:ea typeface="微软雅黑" panose="020B0503020204020204" pitchFamily="34" charset="-122"/>
            </a:endParaRPr>
          </a:p>
          <a:p>
            <a:pPr>
              <a:buChar char="•"/>
            </a:pPr>
            <a:r>
              <a:rPr lang="zh-CN" altLang="en-US" sz="2000" dirty="0">
                <a:solidFill>
                  <a:srgbClr val="063DE8"/>
                </a:solidFill>
                <a:latin typeface="微软雅黑" panose="020B0503020204020204" pitchFamily="34" charset="-122"/>
                <a:ea typeface="微软雅黑" panose="020B0503020204020204" pitchFamily="34" charset="-122"/>
              </a:rPr>
              <a:t> 返回下条指令</a:t>
            </a:r>
            <a:endParaRPr lang="zh-CN" altLang="en-US" sz="2000" dirty="0">
              <a:solidFill>
                <a:srgbClr val="063DE8"/>
              </a:solidFill>
              <a:latin typeface="微软雅黑" panose="020B0503020204020204" pitchFamily="34" charset="-122"/>
              <a:ea typeface="微软雅黑" panose="020B0503020204020204" pitchFamily="34" charset="-122"/>
            </a:endParaRPr>
          </a:p>
          <a:p>
            <a:pPr>
              <a:buChar char="•"/>
            </a:pPr>
            <a:r>
              <a:rPr lang="zh-CN" altLang="en-US" sz="2000" dirty="0">
                <a:solidFill>
                  <a:srgbClr val="063DE8"/>
                </a:solidFill>
                <a:latin typeface="微软雅黑" panose="020B0503020204020204" pitchFamily="34" charset="-122"/>
                <a:ea typeface="微软雅黑" panose="020B0503020204020204" pitchFamily="34" charset="-122"/>
              </a:rPr>
              <a:t> 终止</a:t>
            </a:r>
            <a:r>
              <a:rPr lang="en-US" altLang="zh-CN" sz="2000" dirty="0">
                <a:solidFill>
                  <a:srgbClr val="063DE8"/>
                </a:solidFill>
                <a:latin typeface="微软雅黑" panose="020B0503020204020204" pitchFamily="34" charset="-122"/>
                <a:ea typeface="微软雅黑" panose="020B0503020204020204" pitchFamily="34" charset="-122"/>
              </a:rPr>
              <a:t>(abort)</a:t>
            </a:r>
            <a:endParaRPr lang="en-US" altLang="zh-CN" sz="2000" dirty="0">
              <a:solidFill>
                <a:srgbClr val="063DE8"/>
              </a:solidFill>
              <a:latin typeface="微软雅黑" panose="020B0503020204020204" pitchFamily="34" charset="-122"/>
              <a:ea typeface="微软雅黑" panose="020B0503020204020204" pitchFamily="34" charset="-122"/>
            </a:endParaRPr>
          </a:p>
        </p:txBody>
      </p:sp>
      <p:sp>
        <p:nvSpPr>
          <p:cNvPr id="476174" name="Rectangle 14"/>
          <p:cNvSpPr/>
          <p:nvPr/>
        </p:nvSpPr>
        <p:spPr>
          <a:xfrm>
            <a:off x="909638" y="3217863"/>
            <a:ext cx="804862" cy="423862"/>
          </a:xfrm>
          <a:prstGeom prst="rect">
            <a:avLst/>
          </a:prstGeom>
          <a:noFill/>
          <a:ln w="12700">
            <a:noFill/>
          </a:ln>
        </p:spPr>
        <p:txBody>
          <a:bodyPr lIns="90479" tIns="44446" rIns="90479" bIns="44446">
            <a:spAutoFit/>
          </a:bodyPr>
          <a:lstStyle/>
          <a:p>
            <a:r>
              <a:rPr lang="zh-CN" altLang="en-US" sz="2200" dirty="0">
                <a:solidFill>
                  <a:srgbClr val="C00000"/>
                </a:solidFill>
                <a:latin typeface="Calibri" panose="020F0502020204030204" pitchFamily="34" charset="0"/>
                <a:ea typeface="微软雅黑" panose="020B0503020204020204" pitchFamily="34" charset="-122"/>
              </a:rPr>
              <a:t>事件</a:t>
            </a:r>
            <a:endParaRPr lang="zh-CN" altLang="en-US" sz="2200" dirty="0">
              <a:solidFill>
                <a:srgbClr val="C00000"/>
              </a:solidFill>
              <a:latin typeface="Calibri" panose="020F0502020204030204" pitchFamily="34" charset="0"/>
              <a:ea typeface="微软雅黑" panose="020B0503020204020204" pitchFamily="34" charset="-122"/>
            </a:endParaRPr>
          </a:p>
        </p:txBody>
      </p:sp>
      <p:sp>
        <p:nvSpPr>
          <p:cNvPr id="692240" name="Text Box 15"/>
          <p:cNvSpPr txBox="1"/>
          <p:nvPr/>
        </p:nvSpPr>
        <p:spPr>
          <a:xfrm>
            <a:off x="2009775" y="3182938"/>
            <a:ext cx="1384300" cy="396875"/>
          </a:xfrm>
          <a:prstGeom prst="rect">
            <a:avLst/>
          </a:prstGeom>
          <a:noFill/>
          <a:ln w="25400">
            <a:noFill/>
          </a:ln>
        </p:spPr>
        <p:txBody>
          <a:bodyPr>
            <a:spAutoFit/>
          </a:bodyPr>
          <a:lstStyle/>
          <a:p>
            <a:r>
              <a:rPr lang="zh-CN" altLang="en-US" sz="2000" dirty="0">
                <a:solidFill>
                  <a:srgbClr val="000000"/>
                </a:solidFill>
                <a:latin typeface="微软雅黑" panose="020B0503020204020204" pitchFamily="34" charset="-122"/>
                <a:ea typeface="微软雅黑" panose="020B0503020204020204" pitchFamily="34" charset="-122"/>
              </a:rPr>
              <a:t>当前指令</a:t>
            </a:r>
            <a:endParaRPr lang="zh-CN" altLang="en-US" sz="2000" dirty="0">
              <a:solidFill>
                <a:srgbClr val="000000"/>
              </a:solidFill>
              <a:latin typeface="微软雅黑" panose="020B0503020204020204" pitchFamily="34" charset="-122"/>
              <a:ea typeface="微软雅黑" panose="020B0503020204020204" pitchFamily="34" charset="-122"/>
            </a:endParaRPr>
          </a:p>
        </p:txBody>
      </p:sp>
      <p:sp>
        <p:nvSpPr>
          <p:cNvPr id="476176" name="Text Box 16"/>
          <p:cNvSpPr txBox="1"/>
          <p:nvPr/>
        </p:nvSpPr>
        <p:spPr>
          <a:xfrm>
            <a:off x="2019300" y="3589338"/>
            <a:ext cx="1200150" cy="396875"/>
          </a:xfrm>
          <a:prstGeom prst="rect">
            <a:avLst/>
          </a:prstGeom>
          <a:noFill/>
          <a:ln w="25400">
            <a:noFill/>
          </a:ln>
        </p:spPr>
        <p:txBody>
          <a:bodyPr wrap="none">
            <a:spAutoFit/>
          </a:bodyPr>
          <a:lstStyle/>
          <a:p>
            <a:r>
              <a:rPr lang="zh-CN" altLang="en-US" sz="2000" dirty="0">
                <a:solidFill>
                  <a:srgbClr val="000000"/>
                </a:solidFill>
                <a:latin typeface="Calibri" panose="020F0502020204030204" pitchFamily="34" charset="0"/>
                <a:ea typeface="微软雅黑" panose="020B0503020204020204" pitchFamily="34" charset="-122"/>
              </a:rPr>
              <a:t>下条指令</a:t>
            </a:r>
            <a:endParaRPr lang="zh-CN" altLang="en-US" sz="2000" dirty="0">
              <a:solidFill>
                <a:srgbClr val="000000"/>
              </a:solidFill>
              <a:latin typeface="Calibri" panose="020F0502020204030204" pitchFamily="34" charset="0"/>
              <a:ea typeface="微软雅黑" panose="020B0503020204020204" pitchFamily="34" charset="-122"/>
            </a:endParaRPr>
          </a:p>
        </p:txBody>
      </p:sp>
      <p:sp>
        <p:nvSpPr>
          <p:cNvPr id="476177" name="Line 17"/>
          <p:cNvSpPr/>
          <p:nvPr/>
        </p:nvSpPr>
        <p:spPr>
          <a:xfrm>
            <a:off x="1658938" y="3403600"/>
            <a:ext cx="409575" cy="0"/>
          </a:xfrm>
          <a:prstGeom prst="line">
            <a:avLst/>
          </a:prstGeom>
          <a:ln w="25400" cap="flat" cmpd="sng">
            <a:solidFill>
              <a:srgbClr val="C00000"/>
            </a:solidFill>
            <a:prstDash val="solid"/>
            <a:headEnd type="none" w="med" len="med"/>
            <a:tailEnd type="triangle" w="med" len="med"/>
          </a:ln>
        </p:spPr>
      </p:sp>
      <p:sp>
        <p:nvSpPr>
          <p:cNvPr id="692245" name="Line 21"/>
          <p:cNvSpPr/>
          <p:nvPr/>
        </p:nvSpPr>
        <p:spPr>
          <a:xfrm>
            <a:off x="3208338" y="3449638"/>
            <a:ext cx="2728912" cy="0"/>
          </a:xfrm>
          <a:prstGeom prst="line">
            <a:avLst/>
          </a:prstGeom>
          <a:ln w="57150" cap="flat" cmpd="sng">
            <a:solidFill>
              <a:srgbClr val="FF0000"/>
            </a:solidFill>
            <a:prstDash val="dash"/>
            <a:headEnd type="none" w="med" len="med"/>
            <a:tailEnd type="triangle" w="med" len="med"/>
          </a:ln>
        </p:spPr>
      </p:sp>
      <p:sp>
        <p:nvSpPr>
          <p:cNvPr id="692246" name="Line 22"/>
          <p:cNvSpPr/>
          <p:nvPr/>
        </p:nvSpPr>
        <p:spPr>
          <a:xfrm flipH="1" flipV="1">
            <a:off x="3249613" y="3552825"/>
            <a:ext cx="2700337" cy="493713"/>
          </a:xfrm>
          <a:prstGeom prst="line">
            <a:avLst/>
          </a:prstGeom>
          <a:ln w="57150" cap="flat" cmpd="sng">
            <a:solidFill>
              <a:srgbClr val="FF0000"/>
            </a:solidFill>
            <a:prstDash val="dash"/>
            <a:headEnd type="none" w="med" len="med"/>
            <a:tailEnd type="triangle" w="med" len="med"/>
          </a:ln>
        </p:spPr>
      </p:sp>
      <p:sp>
        <p:nvSpPr>
          <p:cNvPr id="692247" name="Line 23"/>
          <p:cNvSpPr/>
          <p:nvPr/>
        </p:nvSpPr>
        <p:spPr>
          <a:xfrm flipH="1" flipV="1">
            <a:off x="7227888" y="4105275"/>
            <a:ext cx="623887" cy="1438275"/>
          </a:xfrm>
          <a:prstGeom prst="line">
            <a:avLst/>
          </a:prstGeom>
          <a:ln w="9525" cap="flat" cmpd="sng">
            <a:solidFill>
              <a:schemeClr val="tx1"/>
            </a:solidFill>
            <a:prstDash val="solid"/>
            <a:headEnd type="none" w="med" len="med"/>
            <a:tailEnd type="triangle" w="med" len="med"/>
          </a:ln>
        </p:spPr>
      </p:sp>
      <p:sp>
        <p:nvSpPr>
          <p:cNvPr id="692248" name="Text Box 24"/>
          <p:cNvSpPr txBox="1"/>
          <p:nvPr/>
        </p:nvSpPr>
        <p:spPr>
          <a:xfrm>
            <a:off x="2619375" y="5535613"/>
            <a:ext cx="5975350" cy="400050"/>
          </a:xfrm>
          <a:prstGeom prst="rect">
            <a:avLst/>
          </a:prstGeom>
          <a:noFill/>
          <a:ln w="9525">
            <a:noFill/>
          </a:ln>
        </p:spPr>
        <p:txBody>
          <a:bodyPr>
            <a:spAutoFit/>
          </a:bodyPr>
          <a:lstStyle/>
          <a:p>
            <a:pPr eaLnBrk="1" hangingPunct="1">
              <a:spcBef>
                <a:spcPct val="50000"/>
              </a:spcBef>
            </a:pPr>
            <a:r>
              <a:rPr lang="zh-CN" altLang="en-US" sz="2000" dirty="0">
                <a:solidFill>
                  <a:srgbClr val="008000"/>
                </a:solidFill>
                <a:latin typeface="Arial" panose="020B0604020202020204" pitchFamily="34" charset="0"/>
                <a:ea typeface="微软雅黑" panose="020B0503020204020204" pitchFamily="34" charset="-122"/>
              </a:rPr>
              <a:t>用户进程的正常控制流中插入了一段</a:t>
            </a:r>
            <a:r>
              <a:rPr lang="zh-CN" altLang="en-US" sz="2000" dirty="0">
                <a:solidFill>
                  <a:srgbClr val="FF0000"/>
                </a:solidFill>
                <a:latin typeface="Arial" panose="020B0604020202020204" pitchFamily="34" charset="0"/>
                <a:ea typeface="微软雅黑" panose="020B0503020204020204" pitchFamily="34" charset="-122"/>
              </a:rPr>
              <a:t>内核控制路径</a:t>
            </a:r>
            <a:endParaRPr lang="zh-CN" altLang="en-US" sz="2000" dirty="0">
              <a:solidFill>
                <a:srgbClr val="FF0000"/>
              </a:solidFill>
              <a:latin typeface="Arial" panose="020B0604020202020204" pitchFamily="34" charset="0"/>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6163">
                                            <p:txEl>
                                              <p:pRg st="0" end="0"/>
                                            </p:txEl>
                                          </p:spTgt>
                                        </p:tgtEl>
                                        <p:attrNameLst>
                                          <p:attrName>style.visibility</p:attrName>
                                        </p:attrNameLst>
                                      </p:cBhvr>
                                      <p:to>
                                        <p:strVal val="visible"/>
                                      </p:to>
                                    </p:set>
                                    <p:animEffect transition="in" filter="blinds(horizontal)">
                                      <p:cBhvr>
                                        <p:cTn id="7" dur="500"/>
                                        <p:tgtEl>
                                          <p:spTgt spid="476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6164"/>
                                        </p:tgtEl>
                                        <p:attrNameLst>
                                          <p:attrName>style.visibility</p:attrName>
                                        </p:attrNameLst>
                                      </p:cBhvr>
                                      <p:to>
                                        <p:strVal val="visible"/>
                                      </p:to>
                                    </p:set>
                                    <p:animEffect transition="in" filter="blinds(horizontal)">
                                      <p:cBhvr>
                                        <p:cTn id="12" dur="500"/>
                                        <p:tgtEl>
                                          <p:spTgt spid="47616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92231"/>
                                        </p:tgtEl>
                                        <p:attrNameLst>
                                          <p:attrName>style.visibility</p:attrName>
                                        </p:attrNameLst>
                                      </p:cBhvr>
                                      <p:to>
                                        <p:strVal val="visible"/>
                                      </p:to>
                                    </p:set>
                                    <p:animEffect transition="in" filter="blinds(horizontal)">
                                      <p:cBhvr>
                                        <p:cTn id="17" dur="500"/>
                                        <p:tgtEl>
                                          <p:spTgt spid="69223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92240"/>
                                        </p:tgtEl>
                                        <p:attrNameLst>
                                          <p:attrName>style.visibility</p:attrName>
                                        </p:attrNameLst>
                                      </p:cBhvr>
                                      <p:to>
                                        <p:strVal val="visible"/>
                                      </p:to>
                                    </p:set>
                                    <p:animEffect transition="in" filter="blinds(horizontal)">
                                      <p:cBhvr>
                                        <p:cTn id="22" dur="500"/>
                                        <p:tgtEl>
                                          <p:spTgt spid="6922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76165"/>
                                        </p:tgtEl>
                                        <p:attrNameLst>
                                          <p:attrName>style.visibility</p:attrName>
                                        </p:attrNameLst>
                                      </p:cBhvr>
                                      <p:to>
                                        <p:strVal val="visible"/>
                                      </p:to>
                                    </p:set>
                                    <p:animEffect transition="in" filter="blinds(horizontal)">
                                      <p:cBhvr>
                                        <p:cTn id="27" dur="500"/>
                                        <p:tgtEl>
                                          <p:spTgt spid="47616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47617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476174"/>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7617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92245"/>
                                        </p:tgtEl>
                                        <p:attrNameLst>
                                          <p:attrName>style.visibility</p:attrName>
                                        </p:attrNameLst>
                                      </p:cBhvr>
                                      <p:to>
                                        <p:strVal val="visible"/>
                                      </p:to>
                                    </p:set>
                                    <p:animEffect transition="in" filter="blinds(horizontal)">
                                      <p:cBhvr>
                                        <p:cTn id="42" dur="500"/>
                                        <p:tgtEl>
                                          <p:spTgt spid="69224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616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7617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7617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692246"/>
                                        </p:tgtEl>
                                        <p:attrNameLst>
                                          <p:attrName>style.visibility</p:attrName>
                                        </p:attrNameLst>
                                      </p:cBhvr>
                                      <p:to>
                                        <p:strVal val="visible"/>
                                      </p:to>
                                    </p:set>
                                    <p:animEffect transition="in" filter="blinds(horizontal)">
                                      <p:cBhvr>
                                        <p:cTn id="57" dur="500"/>
                                        <p:tgtEl>
                                          <p:spTgt spid="692246"/>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76176"/>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7617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692247"/>
                                        </p:tgtEl>
                                        <p:attrNameLst>
                                          <p:attrName>style.visibility</p:attrName>
                                        </p:attrNameLst>
                                      </p:cBhvr>
                                      <p:to>
                                        <p:strVal val="visible"/>
                                      </p:to>
                                    </p:set>
                                    <p:animEffect transition="in" filter="blinds(horizontal)">
                                      <p:cBhvr>
                                        <p:cTn id="68" dur="500"/>
                                        <p:tgtEl>
                                          <p:spTgt spid="692247"/>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692248"/>
                                        </p:tgtEl>
                                        <p:attrNameLst>
                                          <p:attrName>style.visibility</p:attrName>
                                        </p:attrNameLst>
                                      </p:cBhvr>
                                      <p:to>
                                        <p:strVal val="visible"/>
                                      </p:to>
                                    </p:set>
                                    <p:animEffect transition="in" filter="blinds(horizontal)">
                                      <p:cBhvr>
                                        <p:cTn id="73" dur="500"/>
                                        <p:tgtEl>
                                          <p:spTgt spid="6922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p:bldP spid="476164" grpId="0"/>
      <p:bldP spid="476165" grpId="0"/>
      <p:bldP spid="476171" grpId="0"/>
      <p:bldP spid="476172" grpId="0"/>
      <p:bldP spid="476173" grpId="0"/>
      <p:bldP spid="476174" grpId="0"/>
      <p:bldP spid="692240" grpId="0"/>
      <p:bldP spid="476176" grpId="0"/>
      <p:bldP spid="69224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p:cNvSpPr>
          <p:nvPr>
            <p:ph type="title"/>
          </p:nvPr>
        </p:nvSpPr>
        <p:spPr>
          <a:xfrm>
            <a:off x="711200" y="114300"/>
            <a:ext cx="2093913" cy="425450"/>
          </a:xfrm>
        </p:spPr>
        <p:txBody>
          <a:bodyPr vert="horz" wrap="square" lIns="63500" tIns="25400" rIns="63500" bIns="25400" anchor="t" anchorCtr="0">
            <a:spAutoFit/>
          </a:bodyPr>
          <a:lstStyle/>
          <a:p>
            <a:r>
              <a:rPr lang="zh-CN" altLang="en-US" sz="2800" dirty="0">
                <a:ea typeface="宋体" panose="02010600030101010101" pitchFamily="2" charset="-122"/>
              </a:rPr>
              <a:t>第一讲小结</a:t>
            </a:r>
            <a:endParaRPr lang="zh-CN" altLang="en-US" sz="2800" dirty="0">
              <a:ea typeface="宋体" panose="02010600030101010101" pitchFamily="2" charset="-122"/>
            </a:endParaRPr>
          </a:p>
        </p:txBody>
      </p:sp>
      <p:sp>
        <p:nvSpPr>
          <p:cNvPr id="423939" name="Rectangle 3"/>
          <p:cNvSpPr>
            <a:spLocks noChangeArrowheads="1"/>
          </p:cNvSpPr>
          <p:nvPr/>
        </p:nvSpPr>
        <p:spPr bwMode="auto">
          <a:xfrm>
            <a:off x="423863" y="538163"/>
            <a:ext cx="8229600" cy="5861050"/>
          </a:xfrm>
          <a:prstGeom prst="rect">
            <a:avLst/>
          </a:prstGeom>
          <a:noFill/>
          <a:ln>
            <a:noFill/>
          </a:ln>
        </p:spPr>
        <p:txBody>
          <a:bodyPr/>
          <a:lstStyle>
            <a:lvl1pPr marL="342900" indent="-342900">
              <a:defRPr sz="800" b="1">
                <a:solidFill>
                  <a:schemeClr val="accent2"/>
                </a:solidFill>
                <a:latin typeface="Arial" panose="020B0604020202020204" pitchFamily="34" charset="0"/>
                <a:ea typeface="宋体" panose="02010600030101010101" pitchFamily="2" charset="-122"/>
              </a:defRPr>
            </a:lvl1pPr>
            <a:lvl2pPr marL="742950" indent="-285750">
              <a:defRPr sz="800" b="1">
                <a:solidFill>
                  <a:schemeClr val="accent2"/>
                </a:solidFill>
                <a:latin typeface="Arial" panose="020B0604020202020204" pitchFamily="34" charset="0"/>
                <a:ea typeface="宋体" panose="02010600030101010101" pitchFamily="2" charset="-122"/>
              </a:defRPr>
            </a:lvl2pPr>
            <a:lvl3pPr marL="1143000" indent="-228600">
              <a:defRPr sz="800" b="1">
                <a:solidFill>
                  <a:schemeClr val="accent2"/>
                </a:solidFill>
                <a:latin typeface="Arial" panose="020B0604020202020204" pitchFamily="34" charset="0"/>
                <a:ea typeface="宋体" panose="02010600030101010101" pitchFamily="2" charset="-122"/>
              </a:defRPr>
            </a:lvl3pPr>
            <a:lvl4pPr marL="1600200" indent="-228600">
              <a:defRPr sz="800" b="1">
                <a:solidFill>
                  <a:schemeClr val="accent2"/>
                </a:solidFill>
                <a:latin typeface="Arial" panose="020B0604020202020204" pitchFamily="34" charset="0"/>
                <a:ea typeface="宋体" panose="02010600030101010101" pitchFamily="2" charset="-122"/>
              </a:defRPr>
            </a:lvl4pPr>
            <a:lvl5pPr marL="2057400" indent="-228600">
              <a:defRPr sz="800" b="1">
                <a:solidFill>
                  <a:schemeClr val="accent2"/>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b="1">
                <a:solidFill>
                  <a:schemeClr val="accent2"/>
                </a:solidFill>
                <a:latin typeface="Arial" panose="020B0604020202020204" pitchFamily="34" charset="0"/>
                <a:ea typeface="宋体" panose="02010600030101010101" pitchFamily="2" charset="-122"/>
              </a:defRPr>
            </a:lvl9pPr>
          </a:lstStyle>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指令由“操作码”和“地址码”两部分组成。</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操作类型</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传送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算术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逻辑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移位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字符串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转移控制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调用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中断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信号同步</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操作数类型</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整数（带符号、无符号、十进制）、浮点数、位、位串</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地址码的编码要考虑：</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操作数的个数</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寻址方式：立即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寄存器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寄间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直接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间接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相对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基址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变址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堆栈</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操作码的编码要考虑：</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定长操作码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扩展操作码</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条件码的生成</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四种基本标志：</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NF</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SF</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VF</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OF</a:t>
            </a: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CF  /  ZF</a:t>
            </a:r>
            <a:endParaRPr kumimoji="0" lang="en-US" altLang="zh-CN"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指令设计风格：</a:t>
            </a:r>
            <a:endPar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按操作数地址指定方式来分：</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1143000" marR="0" lvl="2" indent="-22860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累加器型 、堆栈型 、通用寄存器型、</a:t>
            </a:r>
            <a:r>
              <a:rPr kumimoji="0" lang="en-US" altLang="zh-CN"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load/store</a:t>
            </a:r>
            <a:r>
              <a:rPr kumimoji="0" lang="zh-CN" altLang="en-US"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型</a:t>
            </a:r>
            <a:endParaRPr kumimoji="0" lang="zh-CN" altLang="en-US"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a:p>
            <a:pPr marL="742950" marR="0" lvl="1" indent="-28575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按指令格式的复杂度来分</a:t>
            </a:r>
            <a:endPar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endParaRPr>
          </a:p>
          <a:p>
            <a:pPr marL="1143000" marR="0" lvl="2" indent="-228600" algn="l" defTabSz="914400" rtl="0" eaLnBrk="0" fontAlgn="base" latinLnBrk="0" hangingPunct="0">
              <a:lnSpc>
                <a:spcPct val="105000"/>
              </a:lnSpc>
              <a:spcBef>
                <a:spcPct val="5000"/>
              </a:spcBef>
              <a:spcAft>
                <a:spcPct val="0"/>
              </a:spcAft>
              <a:buClrTx/>
              <a:buSzPct val="100000"/>
              <a:buFontTx/>
              <a:buChar char="»"/>
              <a:defRPr/>
            </a:pPr>
            <a:r>
              <a:rPr kumimoji="0" lang="zh-CN" altLang="en-US"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复杂指令集计算机</a:t>
            </a:r>
            <a:r>
              <a:rPr kumimoji="0" lang="en-US" altLang="zh-CN"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CISC</a:t>
            </a:r>
            <a:r>
              <a:rPr kumimoji="0" lang="zh-CN" altLang="en-US"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、精简指令集计算机</a:t>
            </a:r>
            <a:r>
              <a:rPr kumimoji="0" lang="en-US" altLang="zh-CN"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rPr>
              <a:t>RISC</a:t>
            </a:r>
            <a:endParaRPr kumimoji="0" lang="en-US" altLang="zh-CN" sz="1800" b="1" i="0" u="none" strike="noStrike" kern="1200" cap="none" spc="0" normalizeH="0" baseline="0" noProof="0" dirty="0">
              <a:ln>
                <a:noFill/>
              </a:ln>
              <a:solidFill>
                <a:srgbClr val="A50021"/>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0" fontAlgn="base" latinLnBrk="0" hangingPunct="0">
              <a:lnSpc>
                <a:spcPct val="105000"/>
              </a:lnSpc>
              <a:spcBef>
                <a:spcPct val="5000"/>
              </a:spcBef>
              <a:spcAft>
                <a:spcPct val="0"/>
              </a:spcAft>
              <a:buClrTx/>
              <a:buSzPct val="75000"/>
              <a:buFont typeface="Wingdings" panose="05000000000000000000" pitchFamily="2" charset="2"/>
              <a:buChar char="u"/>
              <a:defRPr/>
            </a:pPr>
            <a:r>
              <a:rPr kumimoji="0" lang="zh-CN" altLang="en-US"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rPr>
              <a:t>异常和中断</a:t>
            </a:r>
            <a:endParaRPr kumimoji="0" lang="en-US" altLang="zh-CN" sz="1800" b="1"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mn-cs"/>
            </a:endParaRPr>
          </a:p>
          <a:p>
            <a:pPr marL="0" marR="0" lvl="0" indent="0" algn="l" defTabSz="914400" rtl="0" eaLnBrk="0" fontAlgn="base" latinLnBrk="0" hangingPunct="0">
              <a:lnSpc>
                <a:spcPct val="105000"/>
              </a:lnSpc>
              <a:spcBef>
                <a:spcPct val="5000"/>
              </a:spcBef>
              <a:spcAft>
                <a:spcPct val="0"/>
              </a:spcAft>
              <a:buClrTx/>
              <a:buSzPct val="75000"/>
              <a:buFontTx/>
              <a:buNone/>
              <a:defRPr/>
            </a:pPr>
            <a:r>
              <a:rPr kumimoji="0" lang="zh-CN" altLang="en-US" sz="1800" b="1" i="0" u="none" strike="noStrike" kern="1200" cap="none" spc="0" normalizeH="0" baseline="0" noProof="0" dirty="0">
                <a:ln>
                  <a:noFill/>
                </a:ln>
                <a:solidFill>
                  <a:schemeClr val="accent2"/>
                </a:solidFill>
                <a:effectLst/>
                <a:uLnTx/>
                <a:uFillTx/>
                <a:latin typeface="Arial" panose="020B0604020202020204" pitchFamily="34" charset="0"/>
                <a:ea typeface="黑体" panose="02010609060101010101" pitchFamily="49" charset="-122"/>
                <a:cs typeface="+mn-cs"/>
              </a:rPr>
              <a:t>    </a:t>
            </a:r>
            <a:r>
              <a:rPr kumimoji="0" lang="zh-CN" altLang="en-US" sz="1800" b="1" i="0" u="none" strike="noStrike" kern="1200" cap="none" spc="0" normalizeH="0" baseline="0" noProof="0" dirty="0">
                <a:ln>
                  <a:noFill/>
                </a:ln>
                <a:solidFill>
                  <a:srgbClr val="EE3900"/>
                </a:solidFill>
                <a:effectLst/>
                <a:uLnTx/>
                <a:uFillTx/>
                <a:latin typeface="Arial" panose="020B0604020202020204" pitchFamily="34" charset="0"/>
                <a:ea typeface="黑体" panose="02010609060101010101" pitchFamily="49" charset="-122"/>
                <a:cs typeface="+mn-cs"/>
              </a:rPr>
              <a:t>以下通过</a:t>
            </a:r>
            <a:r>
              <a:rPr kumimoji="0" lang="en-US" altLang="zh-CN" sz="1800" b="1" i="0" u="none" strike="noStrike" kern="1200" cap="none" spc="0" normalizeH="0" baseline="0" noProof="0" dirty="0">
                <a:ln>
                  <a:noFill/>
                </a:ln>
                <a:solidFill>
                  <a:srgbClr val="EE3900"/>
                </a:solidFill>
                <a:effectLst/>
                <a:uLnTx/>
                <a:uFillTx/>
                <a:latin typeface="Arial" panose="020B0604020202020204" pitchFamily="34" charset="0"/>
                <a:ea typeface="黑体" panose="02010609060101010101" pitchFamily="49" charset="-122"/>
                <a:cs typeface="+mn-cs"/>
              </a:rPr>
              <a:t>MIPS</a:t>
            </a:r>
            <a:r>
              <a:rPr kumimoji="0" lang="zh-CN" altLang="en-US" sz="1800" b="1" i="0" u="none" strike="noStrike" kern="1200" cap="none" spc="0" normalizeH="0" baseline="0" noProof="0" dirty="0">
                <a:ln>
                  <a:noFill/>
                </a:ln>
                <a:solidFill>
                  <a:srgbClr val="EE3900"/>
                </a:solidFill>
                <a:effectLst/>
                <a:uLnTx/>
                <a:uFillTx/>
                <a:latin typeface="Arial" panose="020B0604020202020204" pitchFamily="34" charset="0"/>
                <a:ea typeface="黑体" panose="02010609060101010101" pitchFamily="49" charset="-122"/>
                <a:cs typeface="+mn-cs"/>
              </a:rPr>
              <a:t>指令系统，介绍如何在机器语言级表示程序</a:t>
            </a:r>
            <a:endParaRPr kumimoji="0" lang="en-US" altLang="zh-CN" sz="1800" b="1" i="0" u="none" strike="noStrike" kern="1200" cap="none" spc="0" normalizeH="0" baseline="0" noProof="0" dirty="0">
              <a:ln>
                <a:noFill/>
              </a:ln>
              <a:solidFill>
                <a:srgbClr val="EE3900"/>
              </a:solidFill>
              <a:effectLst/>
              <a:uLnTx/>
              <a:uFillTx/>
              <a:latin typeface="Arial" panose="020B0604020202020204" pitchFamily="34" charset="0"/>
              <a:ea typeface="黑体" panose="02010609060101010101" pitchFamily="49" charset="-122"/>
              <a:cs typeface="+mn-cs"/>
            </a:endParaRPr>
          </a:p>
        </p:txBody>
      </p:sp>
      <p:sp>
        <p:nvSpPr>
          <p:cNvPr id="58372" name="Text Box 4"/>
          <p:cNvSpPr txBox="1"/>
          <p:nvPr/>
        </p:nvSpPr>
        <p:spPr>
          <a:xfrm>
            <a:off x="3705225" y="6267450"/>
            <a:ext cx="3390900" cy="173038"/>
          </a:xfrm>
          <a:prstGeom prst="rect">
            <a:avLst/>
          </a:prstGeom>
          <a:noFill/>
          <a:ln w="12700">
            <a:noFill/>
          </a:ln>
        </p:spPr>
        <p:txBody>
          <a:bodyPr lIns="63500" tIns="25400" rIns="63500" bIns="25400">
            <a:spAutoFit/>
          </a:bodyPr>
          <a:lstStyle/>
          <a:p>
            <a:pPr>
              <a:spcBef>
                <a:spcPct val="50000"/>
              </a:spcBef>
            </a:pPr>
            <a:endParaRPr lang="zh-CN" altLang="en-US"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blinds(horizontal)">
                                      <p:cBhvr>
                                        <p:cTn id="7" dur="500"/>
                                        <p:tgtEl>
                                          <p:spTgt spid="4239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23939">
                                            <p:txEl>
                                              <p:pRg st="1" end="1"/>
                                            </p:txEl>
                                          </p:spTgt>
                                        </p:tgtEl>
                                        <p:attrNameLst>
                                          <p:attrName>style.visibility</p:attrName>
                                        </p:attrNameLst>
                                      </p:cBhvr>
                                      <p:to>
                                        <p:strVal val="visible"/>
                                      </p:to>
                                    </p:set>
                                    <p:animEffect transition="in" filter="blinds(horizontal)">
                                      <p:cBhvr>
                                        <p:cTn id="12" dur="500"/>
                                        <p:tgtEl>
                                          <p:spTgt spid="4239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23939">
                                            <p:txEl>
                                              <p:pRg st="2" end="2"/>
                                            </p:txEl>
                                          </p:spTgt>
                                        </p:tgtEl>
                                        <p:attrNameLst>
                                          <p:attrName>style.visibility</p:attrName>
                                        </p:attrNameLst>
                                      </p:cBhvr>
                                      <p:to>
                                        <p:strVal val="visible"/>
                                      </p:to>
                                    </p:set>
                                    <p:animEffect transition="in" filter="blinds(horizontal)">
                                      <p:cBhvr>
                                        <p:cTn id="17" dur="500"/>
                                        <p:tgtEl>
                                          <p:spTgt spid="4239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23939">
                                            <p:txEl>
                                              <p:pRg st="3" end="3"/>
                                            </p:txEl>
                                          </p:spTgt>
                                        </p:tgtEl>
                                        <p:attrNameLst>
                                          <p:attrName>style.visibility</p:attrName>
                                        </p:attrNameLst>
                                      </p:cBhvr>
                                      <p:to>
                                        <p:strVal val="visible"/>
                                      </p:to>
                                    </p:set>
                                    <p:animEffect transition="in" filter="blinds(horizontal)">
                                      <p:cBhvr>
                                        <p:cTn id="22" dur="500"/>
                                        <p:tgtEl>
                                          <p:spTgt spid="4239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23939">
                                            <p:txEl>
                                              <p:pRg st="4" end="4"/>
                                            </p:txEl>
                                          </p:spTgt>
                                        </p:tgtEl>
                                        <p:attrNameLst>
                                          <p:attrName>style.visibility</p:attrName>
                                        </p:attrNameLst>
                                      </p:cBhvr>
                                      <p:to>
                                        <p:strVal val="visible"/>
                                      </p:to>
                                    </p:set>
                                    <p:animEffect transition="in" filter="blinds(horizontal)">
                                      <p:cBhvr>
                                        <p:cTn id="27" dur="500"/>
                                        <p:tgtEl>
                                          <p:spTgt spid="42393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23939">
                                            <p:txEl>
                                              <p:pRg st="5" end="5"/>
                                            </p:txEl>
                                          </p:spTgt>
                                        </p:tgtEl>
                                        <p:attrNameLst>
                                          <p:attrName>style.visibility</p:attrName>
                                        </p:attrNameLst>
                                      </p:cBhvr>
                                      <p:to>
                                        <p:strVal val="visible"/>
                                      </p:to>
                                    </p:set>
                                    <p:animEffect transition="in" filter="blinds(horizontal)">
                                      <p:cBhvr>
                                        <p:cTn id="32" dur="500"/>
                                        <p:tgtEl>
                                          <p:spTgt spid="42393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23939">
                                            <p:txEl>
                                              <p:pRg st="6" end="6"/>
                                            </p:txEl>
                                          </p:spTgt>
                                        </p:tgtEl>
                                        <p:attrNameLst>
                                          <p:attrName>style.visibility</p:attrName>
                                        </p:attrNameLst>
                                      </p:cBhvr>
                                      <p:to>
                                        <p:strVal val="visible"/>
                                      </p:to>
                                    </p:set>
                                    <p:animEffect transition="in" filter="blinds(horizontal)">
                                      <p:cBhvr>
                                        <p:cTn id="37" dur="500"/>
                                        <p:tgtEl>
                                          <p:spTgt spid="42393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23939">
                                            <p:txEl>
                                              <p:pRg st="7" end="7"/>
                                            </p:txEl>
                                          </p:spTgt>
                                        </p:tgtEl>
                                        <p:attrNameLst>
                                          <p:attrName>style.visibility</p:attrName>
                                        </p:attrNameLst>
                                      </p:cBhvr>
                                      <p:to>
                                        <p:strVal val="visible"/>
                                      </p:to>
                                    </p:set>
                                    <p:animEffect transition="in" filter="blinds(horizontal)">
                                      <p:cBhvr>
                                        <p:cTn id="42" dur="500"/>
                                        <p:tgtEl>
                                          <p:spTgt spid="42393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423939">
                                            <p:txEl>
                                              <p:pRg st="8" end="8"/>
                                            </p:txEl>
                                          </p:spTgt>
                                        </p:tgtEl>
                                        <p:attrNameLst>
                                          <p:attrName>style.visibility</p:attrName>
                                        </p:attrNameLst>
                                      </p:cBhvr>
                                      <p:to>
                                        <p:strVal val="visible"/>
                                      </p:to>
                                    </p:set>
                                    <p:animEffect transition="in" filter="blinds(horizontal)">
                                      <p:cBhvr>
                                        <p:cTn id="47" dur="500"/>
                                        <p:tgtEl>
                                          <p:spTgt spid="42393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23939">
                                            <p:txEl>
                                              <p:pRg st="9" end="9"/>
                                            </p:txEl>
                                          </p:spTgt>
                                        </p:tgtEl>
                                        <p:attrNameLst>
                                          <p:attrName>style.visibility</p:attrName>
                                        </p:attrNameLst>
                                      </p:cBhvr>
                                      <p:to>
                                        <p:strVal val="visible"/>
                                      </p:to>
                                    </p:set>
                                    <p:animEffect transition="in" filter="blinds(horizontal)">
                                      <p:cBhvr>
                                        <p:cTn id="52" dur="500"/>
                                        <p:tgtEl>
                                          <p:spTgt spid="42393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423939">
                                            <p:txEl>
                                              <p:pRg st="10" end="10"/>
                                            </p:txEl>
                                          </p:spTgt>
                                        </p:tgtEl>
                                        <p:attrNameLst>
                                          <p:attrName>style.visibility</p:attrName>
                                        </p:attrNameLst>
                                      </p:cBhvr>
                                      <p:to>
                                        <p:strVal val="visible"/>
                                      </p:to>
                                    </p:set>
                                    <p:animEffect transition="in" filter="blinds(horizontal)">
                                      <p:cBhvr>
                                        <p:cTn id="57" dur="500"/>
                                        <p:tgtEl>
                                          <p:spTgt spid="42393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23939">
                                            <p:txEl>
                                              <p:pRg st="11" end="11"/>
                                            </p:txEl>
                                          </p:spTgt>
                                        </p:tgtEl>
                                        <p:attrNameLst>
                                          <p:attrName>style.visibility</p:attrName>
                                        </p:attrNameLst>
                                      </p:cBhvr>
                                      <p:to>
                                        <p:strVal val="visible"/>
                                      </p:to>
                                    </p:set>
                                    <p:animEffect transition="in" filter="blinds(horizontal)">
                                      <p:cBhvr>
                                        <p:cTn id="62" dur="500"/>
                                        <p:tgtEl>
                                          <p:spTgt spid="42393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423939">
                                            <p:txEl>
                                              <p:pRg st="12" end="12"/>
                                            </p:txEl>
                                          </p:spTgt>
                                        </p:tgtEl>
                                        <p:attrNameLst>
                                          <p:attrName>style.visibility</p:attrName>
                                        </p:attrNameLst>
                                      </p:cBhvr>
                                      <p:to>
                                        <p:strVal val="visible"/>
                                      </p:to>
                                    </p:set>
                                    <p:animEffect transition="in" filter="blinds(horizontal)">
                                      <p:cBhvr>
                                        <p:cTn id="67" dur="500"/>
                                        <p:tgtEl>
                                          <p:spTgt spid="42393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423939">
                                            <p:txEl>
                                              <p:pRg st="13" end="13"/>
                                            </p:txEl>
                                          </p:spTgt>
                                        </p:tgtEl>
                                        <p:attrNameLst>
                                          <p:attrName>style.visibility</p:attrName>
                                        </p:attrNameLst>
                                      </p:cBhvr>
                                      <p:to>
                                        <p:strVal val="visible"/>
                                      </p:to>
                                    </p:set>
                                    <p:animEffect transition="in" filter="blinds(horizontal)">
                                      <p:cBhvr>
                                        <p:cTn id="72" dur="500"/>
                                        <p:tgtEl>
                                          <p:spTgt spid="423939">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423939">
                                            <p:txEl>
                                              <p:pRg st="14" end="14"/>
                                            </p:txEl>
                                          </p:spTgt>
                                        </p:tgtEl>
                                        <p:attrNameLst>
                                          <p:attrName>style.visibility</p:attrName>
                                        </p:attrNameLst>
                                      </p:cBhvr>
                                      <p:to>
                                        <p:strVal val="visible"/>
                                      </p:to>
                                    </p:set>
                                    <p:animEffect transition="in" filter="blinds(horizontal)">
                                      <p:cBhvr>
                                        <p:cTn id="77" dur="500"/>
                                        <p:tgtEl>
                                          <p:spTgt spid="423939">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423939">
                                            <p:txEl>
                                              <p:pRg st="15" end="15"/>
                                            </p:txEl>
                                          </p:spTgt>
                                        </p:tgtEl>
                                        <p:attrNameLst>
                                          <p:attrName>style.visibility</p:attrName>
                                        </p:attrNameLst>
                                      </p:cBhvr>
                                      <p:to>
                                        <p:strVal val="visible"/>
                                      </p:to>
                                    </p:set>
                                    <p:animEffect transition="in" filter="blinds(horizontal)">
                                      <p:cBhvr>
                                        <p:cTn id="82" dur="500"/>
                                        <p:tgtEl>
                                          <p:spTgt spid="423939">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423939">
                                            <p:txEl>
                                              <p:pRg st="16" end="16"/>
                                            </p:txEl>
                                          </p:spTgt>
                                        </p:tgtEl>
                                        <p:attrNameLst>
                                          <p:attrName>style.visibility</p:attrName>
                                        </p:attrNameLst>
                                      </p:cBhvr>
                                      <p:to>
                                        <p:strVal val="visible"/>
                                      </p:to>
                                    </p:set>
                                    <p:animEffect transition="in" filter="blinds(horizontal)">
                                      <p:cBhvr>
                                        <p:cTn id="87" dur="500"/>
                                        <p:tgtEl>
                                          <p:spTgt spid="423939">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nodeType="clickEffect">
                                  <p:stCondLst>
                                    <p:cond delay="0"/>
                                  </p:stCondLst>
                                  <p:childTnLst>
                                    <p:set>
                                      <p:cBhvr>
                                        <p:cTn id="91" dur="1" fill="hold">
                                          <p:stCondLst>
                                            <p:cond delay="0"/>
                                          </p:stCondLst>
                                        </p:cTn>
                                        <p:tgtEl>
                                          <p:spTgt spid="423939">
                                            <p:txEl>
                                              <p:pRg st="17" end="17"/>
                                            </p:txEl>
                                          </p:spTgt>
                                        </p:tgtEl>
                                        <p:attrNameLst>
                                          <p:attrName>style.visibility</p:attrName>
                                        </p:attrNameLst>
                                      </p:cBhvr>
                                      <p:to>
                                        <p:strVal val="visible"/>
                                      </p:to>
                                    </p:set>
                                    <p:animEffect transition="in" filter="blinds(horizontal)">
                                      <p:cBhvr>
                                        <p:cTn id="92" dur="500"/>
                                        <p:tgtEl>
                                          <p:spTgt spid="423939">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423939">
                                            <p:txEl>
                                              <p:pRg st="18" end="18"/>
                                            </p:txEl>
                                          </p:spTgt>
                                        </p:tgtEl>
                                        <p:attrNameLst>
                                          <p:attrName>style.visibility</p:attrName>
                                        </p:attrNameLst>
                                      </p:cBhvr>
                                      <p:to>
                                        <p:strVal val="visible"/>
                                      </p:to>
                                    </p:set>
                                    <p:animEffect transition="in" filter="blinds(horizontal)">
                                      <p:cBhvr>
                                        <p:cTn id="97" dur="500"/>
                                        <p:tgtEl>
                                          <p:spTgt spid="42393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Web">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Web">
      <a:majorFont>
        <a:latin typeface="Arial"/>
        <a:ea typeface=""/>
        <a:cs typeface=""/>
      </a:majorFont>
      <a:minorFont>
        <a:latin typeface="宋体"/>
        <a:ea typeface="宋体"/>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63500" tIns="25400" rIns="63500" bIns="254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sz="800" b="1" i="0" u="none" strike="noStrike" cap="none" normalizeH="0" baseline="0" smtClean="0">
            <a:ln>
              <a:noFill/>
            </a:ln>
            <a:solidFill>
              <a:schemeClr val="accent2"/>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none" lIns="63500" tIns="25400" rIns="63500" bIns="254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sz="800" b="1" i="0" u="none" strike="noStrike" cap="none" normalizeH="0" baseline="0" smtClean="0">
            <a:ln>
              <a:noFill/>
            </a:ln>
            <a:solidFill>
              <a:schemeClr val="accent2"/>
            </a:solidFill>
            <a:effectLst/>
            <a:latin typeface="Arial" panose="020B0604020202020204" pitchFamily="34" charset="0"/>
            <a:ea typeface="宋体" panose="02010600030101010101" pitchFamily="2" charset="-122"/>
          </a:defRPr>
        </a:defPPr>
      </a:lstStyle>
    </a:lnDef>
  </a:objectDefaults>
  <a:extraClrSchemeLst>
    <a:extraClrScheme>
      <a:clrScheme name="Web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Web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Web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Web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Web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Web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Web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14632</Words>
  <Application>WPS 演示</Application>
  <PresentationFormat>信纸(8.5x11 英寸)</PresentationFormat>
  <Paragraphs>1405</Paragraphs>
  <Slides>45</Slides>
  <Notes>18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8" baseType="lpstr">
      <vt:lpstr>Arial</vt:lpstr>
      <vt:lpstr>宋体</vt:lpstr>
      <vt:lpstr>Wingdings</vt:lpstr>
      <vt:lpstr>黑体</vt:lpstr>
      <vt:lpstr>Monotype Sorts</vt:lpstr>
      <vt:lpstr>Wingdings</vt:lpstr>
      <vt:lpstr>Arial Unicode MS</vt:lpstr>
      <vt:lpstr>Times New Roman</vt:lpstr>
      <vt:lpstr>微软雅黑</vt:lpstr>
      <vt:lpstr>Symbol</vt:lpstr>
      <vt:lpstr>Calibri</vt:lpstr>
      <vt:lpstr>Web</vt:lpstr>
      <vt:lpstr>Visio.Drawing.5</vt:lpstr>
      <vt:lpstr>Ch4: Instruction Set 指令系统</vt:lpstr>
      <vt:lpstr>第一讲 指令系统设计</vt:lpstr>
      <vt:lpstr>Instruction Set Design</vt:lpstr>
      <vt:lpstr>一条指令须包含的信息</vt:lpstr>
      <vt:lpstr>一条指令中应该有几个地址码字段？</vt:lpstr>
      <vt:lpstr>从指令执行周期看指令设计涉及的问题</vt:lpstr>
      <vt:lpstr>指令格式的设计</vt:lpstr>
      <vt:lpstr>操作数类型和存储方式</vt:lpstr>
      <vt:lpstr>IA-32 &amp; MIPS Data Type</vt:lpstr>
      <vt:lpstr>Addressing Modes（寻址方式）</vt:lpstr>
      <vt:lpstr>Addressing Modes</vt:lpstr>
      <vt:lpstr>基本寻址方式的算法和优缺点</vt:lpstr>
      <vt:lpstr>偏移寻址方式</vt:lpstr>
      <vt:lpstr>偏移寻址方式 </vt:lpstr>
      <vt:lpstr>相对寻址实现公共子程序的浮动</vt:lpstr>
      <vt:lpstr>相对寻址实现相对转移</vt:lpstr>
      <vt:lpstr>基址寻址实现程序重定位</vt:lpstr>
      <vt:lpstr>变址寻址实现线性表元素的存取</vt:lpstr>
      <vt:lpstr>Example：MIPS中的循环处理 </vt:lpstr>
      <vt:lpstr>Instruction Format(指令格式)</vt:lpstr>
      <vt:lpstr>定长操作码编码 Fixed Length Opcodes </vt:lpstr>
      <vt:lpstr>IBM370指令格式</vt:lpstr>
      <vt:lpstr>扩展（变长）操作码编码 Expanding Opcodes</vt:lpstr>
      <vt:lpstr>PDP-11中典型指令格式</vt:lpstr>
      <vt:lpstr>条件测试方式</vt:lpstr>
      <vt:lpstr>标志信息是干什么的？</vt:lpstr>
      <vt:lpstr>IA-32中的条件转移指令</vt:lpstr>
      <vt:lpstr>指令设计风格 -- 按操作数位置指定风格来分</vt:lpstr>
      <vt:lpstr>指令风格比较</vt:lpstr>
      <vt:lpstr>Examples of Register Usage</vt:lpstr>
      <vt:lpstr>指令设计风格 – 按指令格式的复杂度来分</vt:lpstr>
      <vt:lpstr>复杂指令集计算机CISC</vt:lpstr>
      <vt:lpstr>Top 10 80x86 Instructions</vt:lpstr>
      <vt:lpstr>RISC设计风格的主要特点</vt:lpstr>
      <vt:lpstr>指令系统举例: Address &amp; Registers</vt:lpstr>
      <vt:lpstr>PowerPoint 演示文稿</vt:lpstr>
      <vt:lpstr>Pentium处理器的寻址方式</vt:lpstr>
      <vt:lpstr>保护模式下的寻址方式</vt:lpstr>
      <vt:lpstr>存储器操作数的寻址方式</vt:lpstr>
      <vt:lpstr>存储器操作数的寻址方式</vt:lpstr>
      <vt:lpstr>Pentium处理器的存储器寻址</vt:lpstr>
      <vt:lpstr>  MMX(Microprocessor Media Extension)指令技术</vt:lpstr>
      <vt:lpstr>异常和中断</vt:lpstr>
      <vt:lpstr>异常和中断</vt:lpstr>
      <vt:lpstr>第一讲小结</vt:lpstr>
    </vt:vector>
  </TitlesOfParts>
  <Company>Nanjing University</Company>
  <LinksUpToDate>false</LinksUpToDate>
  <SharedDoc>false</SharedDoc>
  <HyperlinksChanged>false</HyperlinksChanged>
  <AppVersion>14.0000</AppVersion>
  <Pages>39</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 Set Design Principles</dc:title>
  <dc:creator>CFYUAN</dc:creator>
  <cp:lastModifiedBy>陈一璟</cp:lastModifiedBy>
  <cp:revision>827</cp:revision>
  <cp:lastPrinted>2024-03-30T08:27:00Z</cp:lastPrinted>
  <dcterms:created xsi:type="dcterms:W3CDTF">2024-03-30T08:27:00Z</dcterms:created>
  <dcterms:modified xsi:type="dcterms:W3CDTF">2026-06-09T06:15:47Z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2</vt:i4>
  </property>
  <property fmtid="{D5CDD505-2E9C-101B-9397-08002B2CF9AE}" pid="3" name="GraphicType">
    <vt:i4>2</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vipin@eng.wayne.edu</vt:lpwstr>
  </property>
  <property fmtid="{D5CDD505-2E9C-101B-9397-08002B2CF9AE}" pid="8" name="HomePage">
    <vt:lpwstr>http://www.pdcl.eng.wayne.edu/~vipin</vt:lpwstr>
  </property>
  <property fmtid="{D5CDD505-2E9C-101B-9397-08002B2CF9AE}" pid="9" name="Other">
    <vt:lpwstr>Vipin Chaudhary_x000d_
Dept. of Electrical &amp; Computer Engineering_x000d_
Wayne State University</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true</vt:bool>
  </property>
  <property fmtid="{D5CDD505-2E9C-101B-9397-08002B2CF9AE}" pid="20" name="NavBtnPos">
    <vt:i4>1</vt:i4>
  </property>
  <property fmtid="{D5CDD505-2E9C-101B-9397-08002B2CF9AE}" pid="21" name="OutputDir">
    <vt:lpwstr>C:\WINDOWS\Desktop\VIPIN\WSU\ACADEMIC\COURSES\ECE468\SLIDES\web</vt:lpwstr>
  </property>
  <property fmtid="{D5CDD505-2E9C-101B-9397-08002B2CF9AE}" pid="22" name="ICV">
    <vt:lpwstr>032B59BA02548990EFCC07665E9F686D_43</vt:lpwstr>
  </property>
  <property fmtid="{D5CDD505-2E9C-101B-9397-08002B2CF9AE}" pid="23" name="KSOProductBuildVer">
    <vt:lpwstr>2052-12.1.0.23542</vt:lpwstr>
  </property>
</Properties>
</file>
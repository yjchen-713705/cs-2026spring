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1"/>
  </p:notesMasterIdLst>
  <p:handoutMasterIdLst>
    <p:handoutMasterId r:id="rId102"/>
  </p:handoutMasterIdLst>
  <p:sldIdLst>
    <p:sldId id="498" r:id="rId2"/>
    <p:sldId id="799" r:id="rId3"/>
    <p:sldId id="645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513" r:id="rId12"/>
    <p:sldId id="654" r:id="rId13"/>
    <p:sldId id="655" r:id="rId14"/>
    <p:sldId id="657" r:id="rId15"/>
    <p:sldId id="660" r:id="rId16"/>
    <p:sldId id="661" r:id="rId17"/>
    <p:sldId id="663" r:id="rId18"/>
    <p:sldId id="664" r:id="rId19"/>
    <p:sldId id="779" r:id="rId20"/>
    <p:sldId id="780" r:id="rId21"/>
    <p:sldId id="781" r:id="rId22"/>
    <p:sldId id="782" r:id="rId23"/>
    <p:sldId id="800" r:id="rId24"/>
    <p:sldId id="801" r:id="rId25"/>
    <p:sldId id="798" r:id="rId26"/>
    <p:sldId id="787" r:id="rId27"/>
    <p:sldId id="747" r:id="rId28"/>
    <p:sldId id="748" r:id="rId29"/>
    <p:sldId id="749" r:id="rId30"/>
    <p:sldId id="750" r:id="rId31"/>
    <p:sldId id="1089" r:id="rId32"/>
    <p:sldId id="776" r:id="rId33"/>
    <p:sldId id="777" r:id="rId34"/>
    <p:sldId id="769" r:id="rId35"/>
    <p:sldId id="768" r:id="rId36"/>
    <p:sldId id="770" r:id="rId37"/>
    <p:sldId id="665" r:id="rId38"/>
    <p:sldId id="522" r:id="rId39"/>
    <p:sldId id="521" r:id="rId40"/>
    <p:sldId id="763" r:id="rId41"/>
    <p:sldId id="764" r:id="rId42"/>
    <p:sldId id="863" r:id="rId43"/>
    <p:sldId id="864" r:id="rId44"/>
    <p:sldId id="865" r:id="rId45"/>
    <p:sldId id="866" r:id="rId46"/>
    <p:sldId id="867" r:id="rId47"/>
    <p:sldId id="868" r:id="rId48"/>
    <p:sldId id="803" r:id="rId49"/>
    <p:sldId id="804" r:id="rId50"/>
    <p:sldId id="805" r:id="rId51"/>
    <p:sldId id="806" r:id="rId52"/>
    <p:sldId id="807" r:id="rId53"/>
    <p:sldId id="808" r:id="rId54"/>
    <p:sldId id="809" r:id="rId55"/>
    <p:sldId id="810" r:id="rId56"/>
    <p:sldId id="811" r:id="rId57"/>
    <p:sldId id="812" r:id="rId58"/>
    <p:sldId id="813" r:id="rId59"/>
    <p:sldId id="814" r:id="rId60"/>
    <p:sldId id="815" r:id="rId61"/>
    <p:sldId id="816" r:id="rId62"/>
    <p:sldId id="817" r:id="rId63"/>
    <p:sldId id="818" r:id="rId64"/>
    <p:sldId id="819" r:id="rId65"/>
    <p:sldId id="820" r:id="rId66"/>
    <p:sldId id="821" r:id="rId67"/>
    <p:sldId id="822" r:id="rId68"/>
    <p:sldId id="823" r:id="rId69"/>
    <p:sldId id="824" r:id="rId70"/>
    <p:sldId id="825" r:id="rId71"/>
    <p:sldId id="826" r:id="rId72"/>
    <p:sldId id="827" r:id="rId73"/>
    <p:sldId id="828" r:id="rId74"/>
    <p:sldId id="829" r:id="rId75"/>
    <p:sldId id="854" r:id="rId76"/>
    <p:sldId id="831" r:id="rId77"/>
    <p:sldId id="832" r:id="rId78"/>
    <p:sldId id="833" r:id="rId79"/>
    <p:sldId id="834" r:id="rId80"/>
    <p:sldId id="835" r:id="rId81"/>
    <p:sldId id="836" r:id="rId82"/>
    <p:sldId id="837" r:id="rId83"/>
    <p:sldId id="838" r:id="rId84"/>
    <p:sldId id="839" r:id="rId85"/>
    <p:sldId id="840" r:id="rId86"/>
    <p:sldId id="841" r:id="rId87"/>
    <p:sldId id="842" r:id="rId88"/>
    <p:sldId id="843" r:id="rId89"/>
    <p:sldId id="844" r:id="rId90"/>
    <p:sldId id="845" r:id="rId91"/>
    <p:sldId id="846" r:id="rId92"/>
    <p:sldId id="847" r:id="rId93"/>
    <p:sldId id="848" r:id="rId94"/>
    <p:sldId id="849" r:id="rId95"/>
    <p:sldId id="850" r:id="rId96"/>
    <p:sldId id="851" r:id="rId97"/>
    <p:sldId id="852" r:id="rId98"/>
    <p:sldId id="853" r:id="rId99"/>
    <p:sldId id="1090" r:id="rId100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16" autoAdjust="0"/>
    <p:restoredTop sz="80990" autoAdjust="0"/>
  </p:normalViewPr>
  <p:slideViewPr>
    <p:cSldViewPr snapToGrid="0">
      <p:cViewPr varScale="1">
        <p:scale>
          <a:sx n="82" d="100"/>
          <a:sy n="82" d="100"/>
        </p:scale>
        <p:origin x="7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2358" y="-90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20EDEB-6225-3148-8A64-D6EB201A0E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8B36A8C-C8F0-0C42-B002-73F79BB2C8A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6986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4CA7C120-F83E-6844-8423-7351DB315A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4673049D-2A2D-5D41-8755-3214E207C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073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726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185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E19D86A1-7725-9747-95DF-BE53C3393B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126A6DA6-139A-5842-8341-24A2E5AB3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9311F331-B481-4449-A536-BDF4BAA689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3A1B8314-4465-6E48-8165-5D3382FD2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zhuanlan.zhihu.com</a:t>
            </a:r>
            <a:r>
              <a:rPr lang="en-US" altLang="zh-CN" dirty="0"/>
              <a:t>/p/618425267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F612FB14-8884-7843-8CA3-F3C4C4FFD3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8ED84749-4517-574D-8DC4-E8B9A5DBD685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15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E9789CA-DD98-314A-9315-35AAB2A24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C86D8DD-1025-564C-8ACC-C91580BED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marL="457200" lvl="1" indent="0" eaLnBrk="1" hangingPunct="1"/>
            <a:endParaRPr lang="zh-CN" altLang="en-US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1141DE8-CF96-1F49-B191-7A8C651D17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3BD0AFCB-1458-C64B-9AA5-D39F01E9483C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16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37EA834-D203-5049-BD48-6122A2D5F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2E7BD56-46A5-D04C-880E-221314352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023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3CE6349B-3910-E643-B69C-C15BCA3DEE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8721AFB-76CA-EC43-93C3-3E7BD2231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CA686F81-B416-7449-AE41-7E6E3A486A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417AEB37-90AD-4546-9880-2DFD22090CEA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29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40CE1BC-3F16-0046-874B-3C82AE35A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70C1859-6F7F-D540-A302-EB99DF0BD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859338"/>
            <a:ext cx="568325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r>
              <a:rPr lang="zh-CN" altLang="en-US" dirty="0"/>
              <a:t>参考阅读材料</a:t>
            </a:r>
            <a:r>
              <a:rPr lang="en-US" altLang="zh-CN" dirty="0"/>
              <a:t>2.3</a:t>
            </a:r>
            <a:r>
              <a:rPr lang="zh-CN" altLang="en-US" dirty="0"/>
              <a:t>中的介绍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C8D48CB-CC22-C142-9D35-9262ED4ABFE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14088423-FD38-C941-A7B0-003C0BE079EC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31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616FC47-4E50-364D-99BA-67F8EB6C6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A055459-E363-E440-83E7-483850F17C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E154F51-EAFB-5F48-BCF6-D8862F7157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87687397-E884-BE46-A7E7-276E00C568A9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32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8DCC192-1DE3-0445-8CDE-33AAA674B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BAC04AD-9606-BF42-BCA1-4A4B44A7D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251D1DB-C332-524B-A602-81ECBEAE399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7485FD42-2B1D-5A48-8404-ABC059CE72DE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33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8A15CFC-E2EC-2B41-B2BC-18894D776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7E3C81F-7BD0-3446-A7C0-1CDA7A9C5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0F9CEC22-459E-DF41-A26D-99FFEFA2C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1F50A4D1-4B82-CE4C-86EF-9E850D1A6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A9BCBB3-17BA-F948-9BEF-7FAAD9C039B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fld id="{476DF1F6-0D4E-0A4F-B3E4-D71FA5EBD486}" type="slidenum">
              <a:rPr kumimoji="1" lang="zh-CN" altLang="en-US" sz="1600">
                <a:latin typeface="Times New Roman" panose="02020603050405020304" pitchFamily="18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</a:pPr>
              <a:t>47</a:t>
            </a:fld>
            <a:endParaRPr kumimoji="1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FBB2C75-9DC4-1E4C-BA8B-4C91B314A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65663"/>
            <a:ext cx="6118225" cy="4802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85" tIns="46806" rIns="95285" bIns="46806"/>
          <a:lstStyle/>
          <a:p>
            <a:pPr eaLnBrk="1" hangingPunct="1"/>
            <a:endParaRPr lang="en-US" altLang="zh-CN" dirty="0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2A97063-BC04-6C4F-99E9-152A688CC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8063" y="660400"/>
            <a:ext cx="5092700" cy="3819525"/>
          </a:xfr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08AF438E-697C-FE4D-A1AA-67158783C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B5E3879B-EB0B-6D4E-9D33-2C3034CAF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4022853-A0B8-4046-AD72-CD2EBA514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1888" y="688975"/>
            <a:ext cx="4595812" cy="3446463"/>
          </a:xfrm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464C5EC-88C7-0A49-9351-94F03D8A9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364038"/>
            <a:ext cx="5489575" cy="4137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51BE7A1-AC15-A544-9BFB-E00FA71AE4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731838"/>
            <a:ext cx="5207000" cy="3905250"/>
          </a:xfrm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46E2272-727B-DC41-9E69-39EE3963E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4881563"/>
            <a:ext cx="5184775" cy="4554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836" tIns="46918" rIns="93836" bIns="46918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0A5BC82-208F-B945-8E99-B53B09914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731838"/>
            <a:ext cx="5207000" cy="3905250"/>
          </a:xfrm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FBE79C1-B96D-1C46-BFCE-F502C4AD7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4881563"/>
            <a:ext cx="5184775" cy="4554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836" tIns="46918" rIns="93836" bIns="46918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335C4F6-347F-DF46-8B10-C7A0A2612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731838"/>
            <a:ext cx="5207000" cy="3905250"/>
          </a:xfrm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D7AD1BE-CE36-854E-8AF0-30014B1CA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4881563"/>
            <a:ext cx="5184775" cy="4554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836" tIns="46918" rIns="93836" bIns="46918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>
            <a:extLst>
              <a:ext uri="{FF2B5EF4-FFF2-40B4-BE49-F238E27FC236}">
                <a16:creationId xmlns:a16="http://schemas.microsoft.com/office/drawing/2014/main" id="{00D9E0FC-8054-2443-ACFE-097822157E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备注占位符 2">
            <a:extLst>
              <a:ext uri="{FF2B5EF4-FFF2-40B4-BE49-F238E27FC236}">
                <a16:creationId xmlns:a16="http://schemas.microsoft.com/office/drawing/2014/main" id="{30A1C19C-8AED-BA4D-BDF5-E0EB0A753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6D276034-21C5-3647-ACDE-CE548559E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09622D56-1FEB-4B43-BE68-62C2EB043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>
            <a:extLst>
              <a:ext uri="{FF2B5EF4-FFF2-40B4-BE49-F238E27FC236}">
                <a16:creationId xmlns:a16="http://schemas.microsoft.com/office/drawing/2014/main" id="{3521AD8B-9A6C-3D42-9970-5D274C6BC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1" name="备注占位符 2">
            <a:extLst>
              <a:ext uri="{FF2B5EF4-FFF2-40B4-BE49-F238E27FC236}">
                <a16:creationId xmlns:a16="http://schemas.microsoft.com/office/drawing/2014/main" id="{5014E924-84B7-334E-8300-F5BA9AD14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>
            <a:extLst>
              <a:ext uri="{FF2B5EF4-FFF2-40B4-BE49-F238E27FC236}">
                <a16:creationId xmlns:a16="http://schemas.microsoft.com/office/drawing/2014/main" id="{78C8E40C-A48E-1B44-BD4F-7AB27F4DF3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备注占位符 2">
            <a:extLst>
              <a:ext uri="{FF2B5EF4-FFF2-40B4-BE49-F238E27FC236}">
                <a16:creationId xmlns:a16="http://schemas.microsoft.com/office/drawing/2014/main" id="{0722F7E9-4EDA-EE41-8E64-EF16220CF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116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8428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248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2717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117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0762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7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683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7144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7965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2125" y="128588"/>
            <a:ext cx="2201863" cy="33496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6538" y="128588"/>
            <a:ext cx="6453187" cy="33496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9655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40763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243388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00588" y="990600"/>
            <a:ext cx="4244975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65988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71450"/>
            <a:ext cx="834390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309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77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525713"/>
            <a:ext cx="4019550" cy="107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5302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930FD5-E805-C84A-86DE-514FF8DF0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6538" y="128588"/>
            <a:ext cx="8807450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E6B2775E-2090-A442-ABB8-66E403802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B4CC1008-D94F-D946-B180-D0CE5D6BAB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682625"/>
            <a:ext cx="8651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 kern="1200">
          <a:solidFill>
            <a:srgbClr val="CC3300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http://image2.sina.com.cn/IT/cr/2006/0430/2169264434.jpg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http://news.mydrivers.com/pages/images/20040311155720_14678.jpg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7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8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47256A-89B1-E947-8540-CFB4D780B03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93688" y="989013"/>
            <a:ext cx="8145462" cy="2982912"/>
          </a:xfrm>
        </p:spPr>
        <p:txBody>
          <a:bodyPr lIns="91440" tIns="45720" rIns="91440" bIns="45720" anchor="ctr"/>
          <a:lstStyle/>
          <a:p>
            <a:pPr eaLnBrk="1" hangingPunct="1">
              <a:lnSpc>
                <a:spcPct val="120000"/>
              </a:lnSpc>
            </a:pPr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Ch7: Memory Hierarchy </a:t>
            </a:r>
            <a:br>
              <a:rPr lang="zh-CN" altLang="en-US" sz="4000">
                <a:solidFill>
                  <a:srgbClr val="FF0000"/>
                </a:solidFill>
              </a:rPr>
            </a:br>
            <a:r>
              <a:rPr lang="zh-CN" altLang="en-US" sz="4000">
                <a:solidFill>
                  <a:schemeClr val="accent2"/>
                </a:solidFill>
                <a:ea typeface="宋体" panose="02010600030101010101" pitchFamily="2" charset="-122"/>
              </a:rPr>
              <a:t>存储器层次结构</a:t>
            </a:r>
            <a:br>
              <a:rPr lang="zh-CN" altLang="en-US" sz="4000">
                <a:solidFill>
                  <a:schemeClr val="accent2"/>
                </a:solidFill>
              </a:rPr>
            </a:br>
            <a:br>
              <a:rPr lang="zh-CN" altLang="en-US" sz="4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4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矩形 1">
            <a:extLst>
              <a:ext uri="{FF2B5EF4-FFF2-40B4-BE49-F238E27FC236}">
                <a16:creationId xmlns:a16="http://schemas.microsoft.com/office/drawing/2014/main" id="{F2CF6ECC-5F0A-8E46-9DF4-160D16710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5" y="2835275"/>
            <a:ext cx="6430963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1800"/>
              </a:spcBef>
            </a:pP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第一讲  存储器概述和</a:t>
            </a:r>
            <a:r>
              <a:rPr kumimoji="1"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RAM</a:t>
            </a: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芯片</a:t>
            </a:r>
            <a:b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第二讲  主存与</a:t>
            </a:r>
            <a:r>
              <a:rPr kumimoji="1"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的连接及其读写操作</a:t>
            </a:r>
            <a:endParaRPr kumimoji="1" lang="en-US" altLang="zh-CN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第三讲  外部辅助存储器</a:t>
            </a:r>
            <a:endParaRPr kumimoji="1" lang="en-US" altLang="zh-CN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第四讲  存储器的数据校验</a:t>
            </a:r>
            <a:b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第五讲  高速缓冲存储器</a:t>
            </a:r>
            <a:r>
              <a:rPr kumimoji="1"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(cache)</a:t>
            </a:r>
            <a:br>
              <a:rPr kumimoji="1"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第六讲  虚拟存储器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E9710DC-FEF8-5B40-8A9E-B701EE724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938" y="57150"/>
            <a:ext cx="7499350" cy="581025"/>
          </a:xfrm>
        </p:spPr>
        <p:txBody>
          <a:bodyPr/>
          <a:lstStyle/>
          <a:p>
            <a:r>
              <a:rPr lang="zh-CN" altLang="en-US" sz="4000"/>
              <a:t>层次结构存储系统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1051094-6CE4-274C-93E1-E84E8FBF1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895350"/>
            <a:ext cx="8229600" cy="5159375"/>
          </a:xfrm>
          <a:noFill/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分以下六个部分介绍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第一讲：存储器概述和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第二讲：主存与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的连接及其读写操作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主存模块的连接和读写操作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“装入”指令和“存储”指令操作过程 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第三讲：外部辅助存储器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第四讲：存储器的数据校验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第五讲：高速缓冲存储器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(cache)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程序访问的局部性、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行和主存块之间的映射方式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和程序性能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第六讲：虚拟存储器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虚拟地址空间、虚拟存储器的实现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294D604-15D8-1D4D-9551-DCF71AF6C0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7688" y="204788"/>
            <a:ext cx="7921625" cy="4524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latin typeface="方正舒体" pitchFamily="2" charset="-122"/>
              </a:rPr>
              <a:t>基本术语</a:t>
            </a:r>
            <a:endParaRPr lang="en-US" altLang="zh-CN">
              <a:latin typeface="方正舒体" pitchFamily="2" charset="-122"/>
            </a:endParaRP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B1CB5969-79A0-4346-80D9-A51F5E8475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823913"/>
            <a:ext cx="8458200" cy="5437187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记忆单元 （存储基元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存储元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位元） 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Cell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具有两种稳态的能够表示二进制数码0和1的物理器件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存储单元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编址单位（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Addressing Unit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具有相同地址的位构成一个存储单元，也称为一个编址单位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存储体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存储矩阵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存储阵列（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所有存储单元构成一个存储阵列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编址方式（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Addressing Mode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按字节编址、按字编址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存储器地址寄存器（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Memory Address Register - MAR）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用于存放主存单元地址的寄存器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存储器数据寄存器（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Memory Data Register-MDR (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MBR)  ）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用于存放主存单元中的数据的寄存器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5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5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5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5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5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3163561-CF3C-7D4E-903F-64F5C61FBB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71438"/>
            <a:ext cx="7772400" cy="569912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存储器分类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29A0588-2EA6-6D40-99AC-C9ECC163A5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8588" y="1425575"/>
            <a:ext cx="8821737" cy="4814888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按工作性质/存取方式分类</a:t>
            </a:r>
          </a:p>
          <a:p>
            <a:pPr lvl="1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随机存取存储器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andom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ccess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emory (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lvl="2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每个单元读写时间一样，且与各单元所在位置无关。如：内存。</a:t>
            </a:r>
          </a:p>
          <a:p>
            <a:pPr lvl="2" algn="just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（注：原意主要强调地址译码时间相同。现在的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芯片采用行缓冲，因而可能因为位置不同而使访问时间有所差别。）</a:t>
            </a:r>
          </a:p>
          <a:p>
            <a:pPr lvl="1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顺序存取存储器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equential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ccess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emory (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SAM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lvl="2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数据按顺序从存储载体的始端读出或写入，因而存取时间的长短与信息所在位置有关。例如：磁带。</a:t>
            </a:r>
          </a:p>
          <a:p>
            <a:pPr lvl="1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直接存取存储器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irect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ccess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emory(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lvl="2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直接定位到读写数据块，在读写数据块时按顺序进行。如磁盘。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相联存储器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ssociate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emory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ontent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ddressed 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emory (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CAM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2" algn="just">
              <a:lnSpc>
                <a:spcPct val="11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按内容检索到存储位置进行读写。例如：快表。</a:t>
            </a:r>
          </a:p>
        </p:txBody>
      </p:sp>
      <p:sp>
        <p:nvSpPr>
          <p:cNvPr id="7172" name="Text Box 6">
            <a:extLst>
              <a:ext uri="{FF2B5EF4-FFF2-40B4-BE49-F238E27FC236}">
                <a16:creationId xmlns:a16="http://schemas.microsoft.com/office/drawing/2014/main" id="{6E48C773-9A82-974E-8F08-6C5E562E4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854075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依据不同的特性有多种分类方法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CC47E0A-4C1F-B444-92C9-93A15350CB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53975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存储器分类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C92F573-C9AA-4C47-BC52-A0AA70AFF4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5113" y="774700"/>
            <a:ext cx="7381875" cy="427038"/>
          </a:xfrm>
        </p:spPr>
        <p:txBody>
          <a:bodyPr lIns="91440" tIns="45720" rIns="91440" bIns="45720"/>
          <a:lstStyle/>
          <a:p>
            <a:pPr eaLnBrk="1" hangingPunct="1"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（2）按存储介质分类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8F0D69D9-E32D-3B43-B20E-479EFBA248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1225550"/>
            <a:ext cx="7861300" cy="1331913"/>
          </a:xfrm>
          <a:noFill/>
        </p:spPr>
        <p:txBody>
          <a:bodyPr lIns="91440" tIns="45720" rIns="91440" bIns="45720"/>
          <a:lstStyle/>
          <a:p>
            <a:pPr eaLnBrk="1" hangingPunct="1">
              <a:buFontTx/>
              <a:buNone/>
            </a:pPr>
            <a:r>
              <a:rPr lang="zh-CN" altLang="en-US" sz="22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半导体存储器：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双极型，静态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型，动态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eaLnBrk="1" hangingPunct="1">
              <a:buFontTx/>
              <a:buNone/>
            </a:pPr>
            <a:r>
              <a:rPr lang="zh-CN" altLang="en-US" sz="22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磁表面存储器：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磁盘（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Disk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）、磁带 （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Tape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2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光存储器：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CD，CD-ROM，DVD</a:t>
            </a:r>
            <a:endParaRPr lang="zh-CN" altLang="en-US" sz="22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46DD98A2-1EF3-5E4D-B1A4-F2711F6D8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2708275"/>
            <a:ext cx="8262938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（3）按信息的可更改性分类</a:t>
            </a:r>
            <a:endParaRPr kumimoji="1" lang="zh-CN" altLang="en-US" sz="2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读写存储器（</a:t>
            </a:r>
            <a:r>
              <a:rPr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/ Write Memory)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可读可写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只读存储器（</a:t>
            </a:r>
            <a:r>
              <a:rPr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Only Memory)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只能读不能写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4BE4DCB6-065D-E948-99D4-761BB946F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8" y="4087813"/>
            <a:ext cx="811371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（4）按断电后信息的可保存性分类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非易失（不挥发）性存储器(</a:t>
            </a:r>
            <a:r>
              <a:rPr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Nonvolatile Memory)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 eaLnBrk="1" hangingPunct="1">
              <a:spcBef>
                <a:spcPct val="20000"/>
              </a:spcBef>
            </a:pPr>
            <a:r>
              <a:rPr lang="zh-CN" altLang="en-US" sz="22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信息可一直保留，  不需电源维持。</a:t>
            </a:r>
          </a:p>
          <a:p>
            <a:pPr lvl="1" eaLnBrk="1" hangingPunct="1">
              <a:spcBef>
                <a:spcPct val="20000"/>
              </a:spcBef>
            </a:pP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（如 ：</a:t>
            </a:r>
            <a:r>
              <a:rPr lang="en-US" altLang="zh-CN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、磁表面存储器、光存储器等）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易失（挥发）性存储器(</a:t>
            </a:r>
            <a:r>
              <a:rPr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Volatile Memory)</a:t>
            </a: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zh-CN" altLang="en-US" sz="22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电源关闭时信息自动丢失。（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232B298-B258-144D-9D00-4EA42CBE6A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95250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存储器分类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0058EE7-B177-264E-9AEB-AF650FFFD2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" y="998538"/>
            <a:ext cx="8610600" cy="5203825"/>
          </a:xfrm>
        </p:spPr>
        <p:txBody>
          <a:bodyPr lIns="91440" tIns="45720" rIns="91440" bIns="45720"/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（5）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按功能/容量/速度/所在位置分类</a:t>
            </a:r>
          </a:p>
          <a:p>
            <a:pPr lvl="1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Register)</a:t>
            </a:r>
          </a:p>
          <a:p>
            <a:pPr lvl="2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封装在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内，用于存放当前正在执行的指令和使用的数据</a:t>
            </a:r>
          </a:p>
          <a:p>
            <a:pPr lvl="2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用触发器实现，速度快，容量小（几</a:t>
            </a:r>
            <a:r>
              <a:rPr lang="en-US" altLang="zh-CN" sz="2000">
                <a:solidFill>
                  <a:srgbClr val="0066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几十个）</a:t>
            </a:r>
          </a:p>
          <a:p>
            <a:pPr lvl="1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高速缓存(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Cache)</a:t>
            </a:r>
          </a:p>
          <a:p>
            <a:pPr lvl="2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内部或附近，用来存放当前要执行的局部程序段和数据</a:t>
            </a:r>
          </a:p>
          <a:p>
            <a:pPr lvl="2"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SRAM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实现，速度可与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匹配，容量小（几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MB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  <a:p>
            <a:pPr lvl="1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MM（Main (Primary) Memory）</a:t>
            </a:r>
          </a:p>
          <a:p>
            <a:pPr lvl="2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之外，用来存放已被启动的程序及所用的数据</a:t>
            </a:r>
          </a:p>
          <a:p>
            <a:pPr lvl="2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实现，速度较快，容量较大（几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GB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  <a:p>
            <a:pPr lvl="1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外存储器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AM 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辅助存储器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Auxiliary / Secondary  Storage)</a:t>
            </a:r>
          </a:p>
          <a:p>
            <a:pPr lvl="2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位于主机之外，用来存放暂不运行的程序、数据或存档文件</a:t>
            </a:r>
          </a:p>
          <a:p>
            <a:pPr lvl="2"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用磁表面或光存储器实现，容量大而速度慢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345612B-7C9B-7644-9B9A-77A6B6E392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内存与外存的关系及比较</a:t>
            </a:r>
          </a:p>
        </p:txBody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EFCAF8D4-BA55-A749-BE53-A0CA47A2A0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49800" y="3568700"/>
            <a:ext cx="4265613" cy="2959100"/>
          </a:xfrm>
          <a:noFill/>
          <a:ln w="12700">
            <a:solidFill>
              <a:srgbClr val="0033CC"/>
            </a:solidFill>
            <a:miter lim="800000"/>
            <a:headEnd/>
            <a:tailEnd/>
          </a:ln>
        </p:spPr>
        <p:txBody>
          <a:bodyPr lIns="91440" tIns="45720" rIns="91440" bIns="45720"/>
          <a:lstStyle/>
          <a:p>
            <a:pPr marL="268288" indent="-268288" defTabSz="717550" eaLnBrk="1" hangingPunct="1">
              <a:buFont typeface="Wingdings" pitchFamily="2" charset="2"/>
              <a:buChar char="ü"/>
            </a:pPr>
            <a:r>
              <a:rPr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内存储器（简称内存或主存）</a:t>
            </a:r>
          </a:p>
          <a:p>
            <a:pPr marL="582613" lvl="1" indent="-223838" defTabSz="717550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存取速度快</a:t>
            </a:r>
          </a:p>
          <a:p>
            <a:pPr marL="582613" lvl="1" indent="-223838" defTabSz="717550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成本高、容量相对较小</a:t>
            </a:r>
          </a:p>
          <a:p>
            <a:pPr marL="582613" lvl="1" indent="-223838" defTabSz="717550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连接，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对内存中可直接进行读、写操作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2613" lvl="1" indent="-223838" defTabSz="717550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易失性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存储器(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volatile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)，用于临时存放正在运行的程序和数据</a:t>
            </a:r>
          </a:p>
        </p:txBody>
      </p:sp>
      <p:grpSp>
        <p:nvGrpSpPr>
          <p:cNvPr id="10244" name="Group 4">
            <a:extLst>
              <a:ext uri="{FF2B5EF4-FFF2-40B4-BE49-F238E27FC236}">
                <a16:creationId xmlns:a16="http://schemas.microsoft.com/office/drawing/2014/main" id="{F1F11D63-2270-5544-B5E9-74694A4E551C}"/>
              </a:ext>
            </a:extLst>
          </p:cNvPr>
          <p:cNvGrpSpPr>
            <a:grpSpLocks/>
          </p:cNvGrpSpPr>
          <p:nvPr/>
        </p:nvGrpSpPr>
        <p:grpSpPr bwMode="auto">
          <a:xfrm>
            <a:off x="3544888" y="868363"/>
            <a:ext cx="1784350" cy="2509837"/>
            <a:chOff x="2419" y="1680"/>
            <a:chExt cx="1045" cy="1360"/>
          </a:xfrm>
        </p:grpSpPr>
        <p:sp>
          <p:nvSpPr>
            <p:cNvPr id="10278" name="Rectangle 5">
              <a:extLst>
                <a:ext uri="{FF2B5EF4-FFF2-40B4-BE49-F238E27FC236}">
                  <a16:creationId xmlns:a16="http://schemas.microsoft.com/office/drawing/2014/main" id="{716DE49D-717C-E044-9111-2A1FFDCC4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1680"/>
              <a:ext cx="1014" cy="1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0279" name="Text Box 6">
              <a:extLst>
                <a:ext uri="{FF2B5EF4-FFF2-40B4-BE49-F238E27FC236}">
                  <a16:creationId xmlns:a16="http://schemas.microsoft.com/office/drawing/2014/main" id="{6E8C98D3-BC61-F14C-97E9-25194FB08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" y="2015"/>
              <a:ext cx="396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88950" tIns="44480" rIns="88950" bIns="4448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内存储器</a:t>
              </a:r>
            </a:p>
          </p:txBody>
        </p:sp>
      </p:grpSp>
      <p:grpSp>
        <p:nvGrpSpPr>
          <p:cNvPr id="10245" name="Group 7">
            <a:extLst>
              <a:ext uri="{FF2B5EF4-FFF2-40B4-BE49-F238E27FC236}">
                <a16:creationId xmlns:a16="http://schemas.microsoft.com/office/drawing/2014/main" id="{2780E59A-3865-4449-836D-D680E1C9DF36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1666875"/>
            <a:ext cx="1287463" cy="866775"/>
            <a:chOff x="480" y="2112"/>
            <a:chExt cx="754" cy="470"/>
          </a:xfrm>
        </p:grpSpPr>
        <p:sp>
          <p:nvSpPr>
            <p:cNvPr id="10276" name="AutoShape 8">
              <a:extLst>
                <a:ext uri="{FF2B5EF4-FFF2-40B4-BE49-F238E27FC236}">
                  <a16:creationId xmlns:a16="http://schemas.microsoft.com/office/drawing/2014/main" id="{03757BD1-AA43-1542-88BD-3FBF699E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" y="2112"/>
              <a:ext cx="693" cy="470"/>
            </a:xfrm>
            <a:prstGeom prst="can">
              <a:avLst>
                <a:gd name="adj" fmla="val 25000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0277" name="Text Box 9">
              <a:extLst>
                <a:ext uri="{FF2B5EF4-FFF2-40B4-BE49-F238E27FC236}">
                  <a16:creationId xmlns:a16="http://schemas.microsoft.com/office/drawing/2014/main" id="{2FD24CAC-E59E-FB48-B189-904731233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243"/>
              <a:ext cx="754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外存储器</a:t>
              </a:r>
            </a:p>
          </p:txBody>
        </p:sp>
      </p:grpSp>
      <p:sp>
        <p:nvSpPr>
          <p:cNvPr id="10246" name="Rectangle 10">
            <a:extLst>
              <a:ext uri="{FF2B5EF4-FFF2-40B4-BE49-F238E27FC236}">
                <a16:creationId xmlns:a16="http://schemas.microsoft.com/office/drawing/2014/main" id="{C7FB0D86-5024-AB43-ADF1-C763F80D6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4888" y="868363"/>
            <a:ext cx="1352550" cy="2509837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0247" name="Text Box 11">
            <a:extLst>
              <a:ext uri="{FF2B5EF4-FFF2-40B4-BE49-F238E27FC236}">
                <a16:creationId xmlns:a16="http://schemas.microsoft.com/office/drawing/2014/main" id="{583B0BE4-9929-5540-8AD7-E9414DCE6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475" y="963613"/>
            <a:ext cx="1287463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000" b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A0D761CE-8A18-824C-B963-32377571AC85}"/>
              </a:ext>
            </a:extLst>
          </p:cNvPr>
          <p:cNvGrpSpPr>
            <a:grpSpLocks/>
          </p:cNvGrpSpPr>
          <p:nvPr/>
        </p:nvGrpSpPr>
        <p:grpSpPr bwMode="auto">
          <a:xfrm>
            <a:off x="1465263" y="982663"/>
            <a:ext cx="3340100" cy="2476500"/>
            <a:chOff x="1201" y="1742"/>
            <a:chExt cx="2016" cy="1341"/>
          </a:xfrm>
        </p:grpSpPr>
        <p:grpSp>
          <p:nvGrpSpPr>
            <p:cNvPr id="10259" name="Group 13">
              <a:extLst>
                <a:ext uri="{FF2B5EF4-FFF2-40B4-BE49-F238E27FC236}">
                  <a16:creationId xmlns:a16="http://schemas.microsoft.com/office/drawing/2014/main" id="{6F7EC5EE-ECC3-4F47-B00D-7E6EABDF7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4" y="1742"/>
              <a:ext cx="743" cy="1341"/>
              <a:chOff x="2474" y="1742"/>
              <a:chExt cx="743" cy="1341"/>
            </a:xfrm>
          </p:grpSpPr>
          <p:sp>
            <p:nvSpPr>
              <p:cNvPr id="10262" name="Text Box 14">
                <a:extLst>
                  <a:ext uri="{FF2B5EF4-FFF2-40B4-BE49-F238E27FC236}">
                    <a16:creationId xmlns:a16="http://schemas.microsoft.com/office/drawing/2014/main" id="{D5A93851-8CAC-4043-A65D-2443E1878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1782"/>
                <a:ext cx="55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0" rIns="88950" bIns="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指令1</a:t>
                </a:r>
              </a:p>
            </p:txBody>
          </p:sp>
          <p:sp>
            <p:nvSpPr>
              <p:cNvPr id="10263" name="Text Box 15">
                <a:extLst>
                  <a:ext uri="{FF2B5EF4-FFF2-40B4-BE49-F238E27FC236}">
                    <a16:creationId xmlns:a16="http://schemas.microsoft.com/office/drawing/2014/main" id="{179F4CBA-42D4-1F49-9B47-AE21FDE2A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1911"/>
                <a:ext cx="550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0" rIns="88950" bIns="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指令2</a:t>
                </a:r>
              </a:p>
            </p:txBody>
          </p:sp>
          <p:sp>
            <p:nvSpPr>
              <p:cNvPr id="10264" name="Text Box 16">
                <a:extLst>
                  <a:ext uri="{FF2B5EF4-FFF2-40B4-BE49-F238E27FC236}">
                    <a16:creationId xmlns:a16="http://schemas.microsoft.com/office/drawing/2014/main" id="{001C529C-7336-6245-985D-42E88F7ED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2117"/>
                <a:ext cx="55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0" rIns="88950" bIns="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指令</a:t>
                </a:r>
                <a:r>
                  <a:rPr lang="en-US" altLang="zh-CN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</a:p>
              <a:p>
                <a:pPr algn="just"/>
                <a:endParaRPr lang="en-US" altLang="zh-CN" sz="12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5" name="Text Box 17">
                <a:extLst>
                  <a:ext uri="{FF2B5EF4-FFF2-40B4-BE49-F238E27FC236}">
                    <a16:creationId xmlns:a16="http://schemas.microsoft.com/office/drawing/2014/main" id="{95B6EAA8-28B8-7744-9102-514234850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2298"/>
                <a:ext cx="55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0" rIns="88950" bIns="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指令</a:t>
                </a:r>
                <a:r>
                  <a:rPr lang="en-US" altLang="zh-CN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</a:p>
              <a:p>
                <a:pPr algn="just"/>
                <a:endParaRPr lang="en-US" altLang="zh-CN" sz="12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6" name="Line 18">
                <a:extLst>
                  <a:ext uri="{FF2B5EF4-FFF2-40B4-BE49-F238E27FC236}">
                    <a16:creationId xmlns:a16="http://schemas.microsoft.com/office/drawing/2014/main" id="{E0A4DEEE-9081-8541-BEF2-BA573AC2B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2075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7" name="Line 19">
                <a:extLst>
                  <a:ext uri="{FF2B5EF4-FFF2-40B4-BE49-F238E27FC236}">
                    <a16:creationId xmlns:a16="http://schemas.microsoft.com/office/drawing/2014/main" id="{63438E07-F72E-434F-B7C4-435A09EA9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4" y="2266"/>
                <a:ext cx="13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8" name="Rectangle 20">
                <a:extLst>
                  <a:ext uri="{FF2B5EF4-FFF2-40B4-BE49-F238E27FC236}">
                    <a16:creationId xmlns:a16="http://schemas.microsoft.com/office/drawing/2014/main" id="{B0EE16C0-479E-164C-A8C8-14FCCE21D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4" y="1742"/>
                <a:ext cx="470" cy="693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0269" name="Text Box 21">
                <a:extLst>
                  <a:ext uri="{FF2B5EF4-FFF2-40B4-BE49-F238E27FC236}">
                    <a16:creationId xmlns:a16="http://schemas.microsoft.com/office/drawing/2014/main" id="{E616ACD1-09AD-0C44-BEFC-2E0DEF34A5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9" y="1742"/>
                <a:ext cx="408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88950" tIns="44480" rIns="88950" bIns="4448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程序</a:t>
                </a:r>
              </a:p>
            </p:txBody>
          </p:sp>
          <p:sp>
            <p:nvSpPr>
              <p:cNvPr id="10270" name="Text Box 22">
                <a:extLst>
                  <a:ext uri="{FF2B5EF4-FFF2-40B4-BE49-F238E27FC236}">
                    <a16:creationId xmlns:a16="http://schemas.microsoft.com/office/drawing/2014/main" id="{309584DD-2970-984C-A25C-B7742B961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2504"/>
                <a:ext cx="5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44480" rIns="88950" bIns="4448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数据1</a:t>
                </a:r>
              </a:p>
            </p:txBody>
          </p:sp>
          <p:sp>
            <p:nvSpPr>
              <p:cNvPr id="10271" name="Text Box 23">
                <a:extLst>
                  <a:ext uri="{FF2B5EF4-FFF2-40B4-BE49-F238E27FC236}">
                    <a16:creationId xmlns:a16="http://schemas.microsoft.com/office/drawing/2014/main" id="{C6345505-3A49-604C-96F4-72C8BEC59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4" y="2648"/>
                <a:ext cx="5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44480" rIns="88950" bIns="4448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数据2</a:t>
                </a:r>
              </a:p>
            </p:txBody>
          </p:sp>
          <p:sp>
            <p:nvSpPr>
              <p:cNvPr id="10272" name="Text Box 24">
                <a:extLst>
                  <a:ext uri="{FF2B5EF4-FFF2-40B4-BE49-F238E27FC236}">
                    <a16:creationId xmlns:a16="http://schemas.microsoft.com/office/drawing/2014/main" id="{66F35005-DB3E-4944-A302-B0D34E311B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8" y="2792"/>
                <a:ext cx="60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8950" tIns="44480" rIns="88950" bIns="4448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</a:t>
                </a:r>
                <a:r>
                  <a:rPr lang="en-US" altLang="zh-CN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</a:p>
            </p:txBody>
          </p:sp>
          <p:sp>
            <p:nvSpPr>
              <p:cNvPr id="10273" name="Line 25">
                <a:extLst>
                  <a:ext uri="{FF2B5EF4-FFF2-40B4-BE49-F238E27FC236}">
                    <a16:creationId xmlns:a16="http://schemas.microsoft.com/office/drawing/2014/main" id="{25ACC9AE-80A4-474D-9CE4-B4237293E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6" y="2799"/>
                <a:ext cx="13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4" name="Rectangle 26">
                <a:extLst>
                  <a:ext uri="{FF2B5EF4-FFF2-40B4-BE49-F238E27FC236}">
                    <a16:creationId xmlns:a16="http://schemas.microsoft.com/office/drawing/2014/main" id="{8121A9B6-673D-8D43-88BF-4ECD33F16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4" y="2514"/>
                <a:ext cx="470" cy="446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0275" name="Text Box 27">
                <a:extLst>
                  <a:ext uri="{FF2B5EF4-FFF2-40B4-BE49-F238E27FC236}">
                    <a16:creationId xmlns:a16="http://schemas.microsoft.com/office/drawing/2014/main" id="{C0615F52-B700-A840-A6D7-F885BDE5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9" y="2488"/>
                <a:ext cx="408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88950" tIns="44480" rIns="88950" bIns="4448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/>
                <a:r>
                  <a:rPr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数据</a:t>
                </a:r>
              </a:p>
            </p:txBody>
          </p:sp>
        </p:grpSp>
        <p:sp>
          <p:nvSpPr>
            <p:cNvPr id="10260" name="Line 28">
              <a:extLst>
                <a:ext uri="{FF2B5EF4-FFF2-40B4-BE49-F238E27FC236}">
                  <a16:creationId xmlns:a16="http://schemas.microsoft.com/office/drawing/2014/main" id="{298503F7-408C-DD40-A1E4-153400E47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5" y="2273"/>
              <a:ext cx="11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1" name="Text Box 29">
              <a:extLst>
                <a:ext uri="{FF2B5EF4-FFF2-40B4-BE49-F238E27FC236}">
                  <a16:creationId xmlns:a16="http://schemas.microsoft.com/office/drawing/2014/main" id="{0A598CFC-B5E9-544C-AF43-60DB4C839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1823"/>
              <a:ext cx="1226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0" rIns="8895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lnSpc>
                  <a:spcPct val="110000"/>
                </a:lnSpc>
              </a:pPr>
              <a:r>
                <a:rPr lang="zh-CN" altLang="en-US" sz="1800" b="1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①程序和数据从外存成批传送到内存</a:t>
              </a:r>
            </a:p>
          </p:txBody>
        </p:sp>
      </p:grpSp>
      <p:sp>
        <p:nvSpPr>
          <p:cNvPr id="10249" name="Line 31">
            <a:extLst>
              <a:ext uri="{FF2B5EF4-FFF2-40B4-BE49-F238E27FC236}">
                <a16:creationId xmlns:a16="http://schemas.microsoft.com/office/drawing/2014/main" id="{E1A67FE2-8B36-2145-96A5-7C54342C3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4788" y="1912938"/>
            <a:ext cx="2046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12" name="Text Box 32">
            <a:extLst>
              <a:ext uri="{FF2B5EF4-FFF2-40B4-BE49-F238E27FC236}">
                <a16:creationId xmlns:a16="http://schemas.microsoft.com/office/drawing/2014/main" id="{026DA8D6-FF53-CB4A-9787-0E28A2C89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475" y="942975"/>
            <a:ext cx="20764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从内存中逐条读取指令及相关数据</a:t>
            </a: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107E1B1C-9527-8B48-A787-ED2B4FE16693}"/>
              </a:ext>
            </a:extLst>
          </p:cNvPr>
          <p:cNvGrpSpPr>
            <a:grpSpLocks/>
          </p:cNvGrpSpPr>
          <p:nvPr/>
        </p:nvGrpSpPr>
        <p:grpSpPr bwMode="auto">
          <a:xfrm>
            <a:off x="5284788" y="2244725"/>
            <a:ext cx="2065337" cy="1036638"/>
            <a:chOff x="3439" y="2425"/>
            <a:chExt cx="1211" cy="562"/>
          </a:xfrm>
        </p:grpSpPr>
        <p:sp>
          <p:nvSpPr>
            <p:cNvPr id="10257" name="Line 34">
              <a:extLst>
                <a:ext uri="{FF2B5EF4-FFF2-40B4-BE49-F238E27FC236}">
                  <a16:creationId xmlns:a16="http://schemas.microsoft.com/office/drawing/2014/main" id="{2961BC5C-F433-2E47-A7B2-2C1D5EA48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9" y="2425"/>
              <a:ext cx="11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Text Box 35">
              <a:extLst>
                <a:ext uri="{FF2B5EF4-FFF2-40B4-BE49-F238E27FC236}">
                  <a16:creationId xmlns:a16="http://schemas.microsoft.com/office/drawing/2014/main" id="{8280BDD1-9220-7B41-A85F-D1FC014F2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2448"/>
              <a:ext cx="1193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lnSpc>
                  <a:spcPct val="110000"/>
                </a:lnSpc>
              </a:pPr>
              <a:r>
                <a:rPr lang="zh-CN" altLang="en-US" sz="1800" b="1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④将指令处理结果送回内存保存</a:t>
              </a:r>
            </a:p>
          </p:txBody>
        </p:sp>
      </p:grpSp>
      <p:grpSp>
        <p:nvGrpSpPr>
          <p:cNvPr id="7" name="Group 36">
            <a:extLst>
              <a:ext uri="{FF2B5EF4-FFF2-40B4-BE49-F238E27FC236}">
                <a16:creationId xmlns:a16="http://schemas.microsoft.com/office/drawing/2014/main" id="{E974C308-F0A4-534D-A7E9-23C8F5B4D8CE}"/>
              </a:ext>
            </a:extLst>
          </p:cNvPr>
          <p:cNvGrpSpPr>
            <a:grpSpLocks/>
          </p:cNvGrpSpPr>
          <p:nvPr/>
        </p:nvGrpSpPr>
        <p:grpSpPr bwMode="auto">
          <a:xfrm>
            <a:off x="1465263" y="2286000"/>
            <a:ext cx="2103437" cy="981075"/>
            <a:chOff x="1201" y="2447"/>
            <a:chExt cx="1232" cy="533"/>
          </a:xfrm>
        </p:grpSpPr>
        <p:sp>
          <p:nvSpPr>
            <p:cNvPr id="10255" name="Line 37">
              <a:extLst>
                <a:ext uri="{FF2B5EF4-FFF2-40B4-BE49-F238E27FC236}">
                  <a16:creationId xmlns:a16="http://schemas.microsoft.com/office/drawing/2014/main" id="{07C78C0D-40FB-8C44-92E0-9CE3EB4F4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5" y="2451"/>
              <a:ext cx="11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Text Box 38">
              <a:extLst>
                <a:ext uri="{FF2B5EF4-FFF2-40B4-BE49-F238E27FC236}">
                  <a16:creationId xmlns:a16="http://schemas.microsoft.com/office/drawing/2014/main" id="{851F2E79-5AD3-E548-AC45-8FA7C4B5A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2447"/>
              <a:ext cx="123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lnSpc>
                  <a:spcPct val="110000"/>
                </a:lnSpc>
              </a:pPr>
              <a:r>
                <a:rPr lang="zh-CN" altLang="en-US" sz="1800" b="1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⑤将处理结果成批传送到外存以长久保存</a:t>
              </a:r>
            </a:p>
          </p:txBody>
        </p:sp>
      </p:grpSp>
      <p:sp>
        <p:nvSpPr>
          <p:cNvPr id="558119" name="Text Box 39">
            <a:extLst>
              <a:ext uri="{FF2B5EF4-FFF2-40B4-BE49-F238E27FC236}">
                <a16:creationId xmlns:a16="http://schemas.microsoft.com/office/drawing/2014/main" id="{BDEAC5E2-B25A-0E45-ADF0-49118E72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963" y="1476375"/>
            <a:ext cx="1309687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③逐条执行指令，按指令要求完成对数据的运算和处理</a:t>
            </a:r>
          </a:p>
        </p:txBody>
      </p:sp>
      <p:sp>
        <p:nvSpPr>
          <p:cNvPr id="558120" name="Rectangle 40">
            <a:extLst>
              <a:ext uri="{FF2B5EF4-FFF2-40B4-BE49-F238E27FC236}">
                <a16:creationId xmlns:a16="http://schemas.microsoft.com/office/drawing/2014/main" id="{CEEE3D5F-87C0-A24B-88C5-AFD74CE2D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3567113"/>
            <a:ext cx="4267200" cy="29559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950" tIns="44480" rIns="88950" bIns="44480"/>
          <a:lstStyle>
            <a:lvl1pPr marL="90488" indent="-90488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55600" indent="-84138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kumimoji="1" lang="zh-CN" altLang="en-US" b="1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外存储器（简称</a:t>
            </a:r>
            <a:r>
              <a:rPr lang="zh-CN" altLang="pt-BR" sz="20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外存</a:t>
            </a:r>
            <a:r>
              <a:rPr lang="zh-CN" altLang="en-US" sz="20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或辅存）</a:t>
            </a:r>
          </a:p>
          <a:p>
            <a:pPr lvl="1" eaLnBrk="1" hangingPunct="1">
              <a:spcBef>
                <a:spcPct val="40000"/>
              </a:spcBef>
              <a:buFontTx/>
              <a:buChar char="–"/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存取速度慢</a:t>
            </a:r>
          </a:p>
          <a:p>
            <a:pPr lvl="1" eaLnBrk="1" hangingPunct="1">
              <a:spcBef>
                <a:spcPct val="40000"/>
              </a:spcBef>
              <a:buFontTx/>
              <a:buChar char="–"/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成本低、容量很大</a:t>
            </a:r>
          </a:p>
          <a:p>
            <a:pPr lvl="1" eaLnBrk="1" hangingPunct="1">
              <a:spcBef>
                <a:spcPct val="40000"/>
              </a:spcBef>
              <a:buFontTx/>
              <a:buChar char="–"/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不与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直接连接，先传送到内存，然后才能被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使用。</a:t>
            </a:r>
          </a:p>
          <a:p>
            <a:pPr lvl="1" eaLnBrk="1" hangingPunct="1">
              <a:spcBef>
                <a:spcPct val="40000"/>
              </a:spcBef>
              <a:buFontTx/>
              <a:buChar char="–"/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属于</a:t>
            </a:r>
            <a:r>
              <a:rPr kumimoji="1"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非易失性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存储器，用于长久存放系统中几乎所有的信息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81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5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5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580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58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58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build="p" bldLvl="2" autoUpdateAnimBg="0"/>
      <p:bldP spid="558083" grpId="1" build="p" animBg="1"/>
      <p:bldP spid="558112" grpId="0"/>
      <p:bldP spid="558119" grpId="0"/>
      <p:bldP spid="558120" grpId="0" build="p" bldLvl="2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96">
            <a:extLst>
              <a:ext uri="{FF2B5EF4-FFF2-40B4-BE49-F238E27FC236}">
                <a16:creationId xmlns:a16="http://schemas.microsoft.com/office/drawing/2014/main" id="{1A9E31EE-980F-9F40-9190-3EECC65FF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88" y="2493963"/>
            <a:ext cx="6300787" cy="3409950"/>
          </a:xfrm>
          <a:prstGeom prst="rect">
            <a:avLst/>
          </a:prstGeom>
          <a:solidFill>
            <a:srgbClr val="FC0128">
              <a:alpha val="1215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1267" name="Rectangle 97">
            <a:extLst>
              <a:ext uri="{FF2B5EF4-FFF2-40B4-BE49-F238E27FC236}">
                <a16:creationId xmlns:a16="http://schemas.microsoft.com/office/drawing/2014/main" id="{1DBCC928-1710-234F-9FD6-94156E06D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2438400"/>
            <a:ext cx="1755775" cy="3419475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1268" name="Text Box 98">
            <a:extLst>
              <a:ext uri="{FF2B5EF4-FFF2-40B4-BE49-F238E27FC236}">
                <a16:creationId xmlns:a16="http://schemas.microsoft.com/office/drawing/2014/main" id="{BC47D4C6-3BCD-C74E-82F8-911BFCEF9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530600"/>
            <a:ext cx="371475" cy="1287463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地址寄存器</a:t>
            </a:r>
          </a:p>
        </p:txBody>
      </p:sp>
      <p:sp>
        <p:nvSpPr>
          <p:cNvPr id="11269" name="Text Box 99">
            <a:extLst>
              <a:ext uri="{FF2B5EF4-FFF2-40B4-BE49-F238E27FC236}">
                <a16:creationId xmlns:a16="http://schemas.microsoft.com/office/drawing/2014/main" id="{5E55C0A8-202A-E64F-A492-7348E311A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513" y="3532188"/>
            <a:ext cx="360362" cy="1319212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kumimoji="1" lang="zh-CN" altLang="en-US" sz="1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地址译码器</a:t>
            </a:r>
            <a:endParaRPr kumimoji="1"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70" name="Line 100">
            <a:extLst>
              <a:ext uri="{FF2B5EF4-FFF2-40B4-BE49-F238E27FC236}">
                <a16:creationId xmlns:a16="http://schemas.microsoft.com/office/drawing/2014/main" id="{C0883D15-1269-5F41-A37D-BDA5A397A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5225" y="3394075"/>
            <a:ext cx="449263" cy="198438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1" name="Line 101">
            <a:extLst>
              <a:ext uri="{FF2B5EF4-FFF2-40B4-BE49-F238E27FC236}">
                <a16:creationId xmlns:a16="http://schemas.microsoft.com/office/drawing/2014/main" id="{B6965BE0-3CD5-CB4A-8FDB-B0B55AD564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2050" y="3492500"/>
            <a:ext cx="449263" cy="196850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2" name="Line 102">
            <a:extLst>
              <a:ext uri="{FF2B5EF4-FFF2-40B4-BE49-F238E27FC236}">
                <a16:creationId xmlns:a16="http://schemas.microsoft.com/office/drawing/2014/main" id="{AF629B76-813E-FE4D-9DBC-CD72DB203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5225" y="3592513"/>
            <a:ext cx="449263" cy="196850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3" name="Line 103">
            <a:extLst>
              <a:ext uri="{FF2B5EF4-FFF2-40B4-BE49-F238E27FC236}">
                <a16:creationId xmlns:a16="http://schemas.microsoft.com/office/drawing/2014/main" id="{F514573D-DCB4-0F41-BDC9-03C87F09D1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5225" y="3690938"/>
            <a:ext cx="449263" cy="198437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4" name="Line 104">
            <a:extLst>
              <a:ext uri="{FF2B5EF4-FFF2-40B4-BE49-F238E27FC236}">
                <a16:creationId xmlns:a16="http://schemas.microsoft.com/office/drawing/2014/main" id="{5EEE5A2C-3EB9-5143-9847-974CC2535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225" y="4651375"/>
            <a:ext cx="449263" cy="96838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5" name="Line 105">
            <a:extLst>
              <a:ext uri="{FF2B5EF4-FFF2-40B4-BE49-F238E27FC236}">
                <a16:creationId xmlns:a16="http://schemas.microsoft.com/office/drawing/2014/main" id="{AE823E29-2152-3446-9C08-1A9F01BE1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225" y="4716463"/>
            <a:ext cx="449263" cy="100012"/>
          </a:xfrm>
          <a:prstGeom prst="line">
            <a:avLst/>
          </a:prstGeom>
          <a:noFill/>
          <a:ln w="9525" cap="sq">
            <a:solidFill>
              <a:srgbClr val="000000"/>
            </a:solidFill>
            <a:round/>
            <a:headEnd type="none" w="sm" len="sm"/>
            <a:tailEnd type="triangle" w="sm" len="sm"/>
          </a:ln>
          <a:effectLst>
            <a:outerShdw dist="1796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2F80C189-37CB-8E48-BA37-EC417B661CA4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4908550"/>
            <a:ext cx="1555750" cy="587375"/>
            <a:chOff x="2249" y="1828"/>
            <a:chExt cx="980" cy="370"/>
          </a:xfrm>
        </p:grpSpPr>
        <p:sp>
          <p:nvSpPr>
            <p:cNvPr id="11362" name="Text Box 107">
              <a:extLst>
                <a:ext uri="{FF2B5EF4-FFF2-40B4-BE49-F238E27FC236}">
                  <a16:creationId xmlns:a16="http://schemas.microsoft.com/office/drawing/2014/main" id="{0BE8125B-9D9C-C34C-BAFD-47402BCFF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" y="1937"/>
              <a:ext cx="980" cy="261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kumimoji="1" lang="zh-CN" altLang="en-US" sz="1800">
                  <a:ea typeface="黑体" panose="02010609060101010101" pitchFamily="49" charset="-122"/>
                </a:rPr>
                <a:t>读写控制电路</a:t>
              </a:r>
            </a:p>
          </p:txBody>
        </p:sp>
        <p:sp>
          <p:nvSpPr>
            <p:cNvPr id="11363" name="Line 108">
              <a:extLst>
                <a:ext uri="{FF2B5EF4-FFF2-40B4-BE49-F238E27FC236}">
                  <a16:creationId xmlns:a16="http://schemas.microsoft.com/office/drawing/2014/main" id="{370FA62F-8BE7-D94A-AA9D-F2F518B43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2" y="1828"/>
              <a:ext cx="0" cy="1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>
              <a:outerShdw dist="17961" dir="2700000" algn="ctr" rotWithShape="0">
                <a:srgbClr val="FFFFFF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1277" name="Line 109">
            <a:extLst>
              <a:ext uri="{FF2B5EF4-FFF2-40B4-BE49-F238E27FC236}">
                <a16:creationId xmlns:a16="http://schemas.microsoft.com/office/drawing/2014/main" id="{E2DB0A43-484E-3D44-9D26-CE205A84CF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7213" y="5268913"/>
            <a:ext cx="1884362" cy="47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278" name="Text Box 110">
            <a:extLst>
              <a:ext uri="{FF2B5EF4-FFF2-40B4-BE49-F238E27FC236}">
                <a16:creationId xmlns:a16="http://schemas.microsoft.com/office/drawing/2014/main" id="{33C9008A-B6A4-3F48-B657-D6C5EB43B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4811713"/>
            <a:ext cx="123983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kumimoji="1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控制线</a:t>
            </a:r>
            <a:endParaRPr kumimoji="1" lang="zh-CN" altLang="en-US" sz="1800">
              <a:ea typeface="黑体" panose="02010609060101010101" pitchFamily="49" charset="-122"/>
            </a:endParaRPr>
          </a:p>
        </p:txBody>
      </p:sp>
      <p:sp>
        <p:nvSpPr>
          <p:cNvPr id="11279" name="Text Box 111">
            <a:extLst>
              <a:ext uri="{FF2B5EF4-FFF2-40B4-BE49-F238E27FC236}">
                <a16:creationId xmlns:a16="http://schemas.microsoft.com/office/drawing/2014/main" id="{D2B098D9-7800-B24C-BB51-B9FEB1A4C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4930775"/>
            <a:ext cx="18462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读</a:t>
            </a:r>
            <a:r>
              <a:rPr kumimoji="1" lang="en-US" altLang="zh-CN" sz="1800">
                <a:ea typeface="黑体" panose="02010609060101010101" pitchFamily="49" charset="-122"/>
              </a:rPr>
              <a:t>/</a:t>
            </a:r>
            <a:r>
              <a:rPr kumimoji="1" lang="zh-CN" altLang="en-US" sz="1800">
                <a:ea typeface="黑体" panose="02010609060101010101" pitchFamily="49" charset="-122"/>
              </a:rPr>
              <a:t>写控制信号</a:t>
            </a:r>
          </a:p>
        </p:txBody>
      </p:sp>
      <p:grpSp>
        <p:nvGrpSpPr>
          <p:cNvPr id="3" name="Group 112">
            <a:extLst>
              <a:ext uri="{FF2B5EF4-FFF2-40B4-BE49-F238E27FC236}">
                <a16:creationId xmlns:a16="http://schemas.microsoft.com/office/drawing/2014/main" id="{B6BFCBE3-5AB4-8D41-8AA2-2C8902AA91C8}"/>
              </a:ext>
            </a:extLst>
          </p:cNvPr>
          <p:cNvGrpSpPr>
            <a:grpSpLocks/>
          </p:cNvGrpSpPr>
          <p:nvPr/>
        </p:nvGrpSpPr>
        <p:grpSpPr bwMode="auto">
          <a:xfrm>
            <a:off x="4110038" y="3340100"/>
            <a:ext cx="1609725" cy="1558925"/>
            <a:chOff x="2589" y="854"/>
            <a:chExt cx="1014" cy="982"/>
          </a:xfrm>
        </p:grpSpPr>
        <p:sp>
          <p:nvSpPr>
            <p:cNvPr id="11333" name="Text Box 113">
              <a:extLst>
                <a:ext uri="{FF2B5EF4-FFF2-40B4-BE49-F238E27FC236}">
                  <a16:creationId xmlns:a16="http://schemas.microsoft.com/office/drawing/2014/main" id="{7666DA09-7FCA-664F-9986-986C434ED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7" y="992"/>
              <a:ext cx="426" cy="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lIns="116623" tIns="58311" rIns="116623" bIns="58311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kumimoji="1" lang="zh-CN" altLang="en-US" sz="1800">
                  <a:ea typeface="黑体" panose="02010609060101010101" pitchFamily="49" charset="-122"/>
                </a:rPr>
                <a:t>记忆单元</a:t>
              </a:r>
            </a:p>
          </p:txBody>
        </p:sp>
        <p:sp>
          <p:nvSpPr>
            <p:cNvPr id="11334" name="Rectangle 114">
              <a:extLst>
                <a:ext uri="{FF2B5EF4-FFF2-40B4-BE49-F238E27FC236}">
                  <a16:creationId xmlns:a16="http://schemas.microsoft.com/office/drawing/2014/main" id="{413F453D-354A-2A45-9FBA-3B942DDD2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9" y="857"/>
              <a:ext cx="622" cy="979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1335" name="Line 115">
              <a:extLst>
                <a:ext uri="{FF2B5EF4-FFF2-40B4-BE49-F238E27FC236}">
                  <a16:creationId xmlns:a16="http://schemas.microsoft.com/office/drawing/2014/main" id="{BBBA05C6-E478-1148-AB6A-488AB0E06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1776"/>
              <a:ext cx="622" cy="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336" name="Line 116">
              <a:extLst>
                <a:ext uri="{FF2B5EF4-FFF2-40B4-BE49-F238E27FC236}">
                  <a16:creationId xmlns:a16="http://schemas.microsoft.com/office/drawing/2014/main" id="{6568231B-C1A2-6F44-9BB8-FD684F60F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1713"/>
              <a:ext cx="622" cy="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61269" name="Text Box 117">
              <a:extLst>
                <a:ext uri="{FF2B5EF4-FFF2-40B4-BE49-F238E27FC236}">
                  <a16:creationId xmlns:a16="http://schemas.microsoft.com/office/drawing/2014/main" id="{CAC0A1E2-6D32-6743-AF5D-800E03A9C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" y="1140"/>
              <a:ext cx="498" cy="692"/>
            </a:xfrm>
            <a:prstGeom prst="rect">
              <a:avLst/>
            </a:prstGeom>
            <a:noFill/>
            <a:ln w="9525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vert="eaVert" lIns="116623" tIns="58311" rIns="116623" bIns="58311"/>
            <a:lstStyle/>
            <a:p>
              <a:pPr algn="ctr" eaLnBrk="1" hangingPunct="1">
                <a:lnSpc>
                  <a:spcPct val="120000"/>
                </a:lnSpc>
                <a:defRPr/>
              </a:pPr>
              <a:r>
                <a:rPr kumimoji="1" lang="zh-CN" altLang="en-US" sz="900">
                  <a:solidFill>
                    <a:srgbClr val="808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49" charset="-122"/>
                  <a:ea typeface="黑体" pitchFamily="49" charset="-122"/>
                  <a:sym typeface="Marlett" pitchFamily="2" charset="2"/>
                </a:rPr>
                <a:t></a:t>
              </a:r>
              <a:endParaRPr kumimoji="1" lang="zh-CN" altLang="en-US" sz="2300">
                <a:ea typeface="宋体" pitchFamily="2" charset="-122"/>
              </a:endParaRPr>
            </a:p>
          </p:txBody>
        </p:sp>
        <p:grpSp>
          <p:nvGrpSpPr>
            <p:cNvPr id="11338" name="Group 118">
              <a:extLst>
                <a:ext uri="{FF2B5EF4-FFF2-40B4-BE49-F238E27FC236}">
                  <a16:creationId xmlns:a16="http://schemas.microsoft.com/office/drawing/2014/main" id="{A878968F-0B66-3147-9E78-A80F1416E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9" y="854"/>
              <a:ext cx="622" cy="443"/>
              <a:chOff x="5628" y="10821"/>
              <a:chExt cx="936" cy="609"/>
            </a:xfrm>
          </p:grpSpPr>
          <p:sp>
            <p:nvSpPr>
              <p:cNvPr id="11348" name="Line 119">
                <a:extLst>
                  <a:ext uri="{FF2B5EF4-FFF2-40B4-BE49-F238E27FC236}">
                    <a16:creationId xmlns:a16="http://schemas.microsoft.com/office/drawing/2014/main" id="{6D72C95F-9878-AC4D-949C-B34BCEAF7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091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49" name="Line 120">
                <a:extLst>
                  <a:ext uri="{FF2B5EF4-FFF2-40B4-BE49-F238E27FC236}">
                    <a16:creationId xmlns:a16="http://schemas.microsoft.com/office/drawing/2014/main" id="{4EE6D39B-820C-3240-8890-3DAE2A265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001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0" name="Line 121">
                <a:extLst>
                  <a:ext uri="{FF2B5EF4-FFF2-40B4-BE49-F238E27FC236}">
                    <a16:creationId xmlns:a16="http://schemas.microsoft.com/office/drawing/2014/main" id="{B7557E08-1FFD-1E4E-B7EF-DFDD24710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086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1" name="Line 122">
                <a:extLst>
                  <a:ext uri="{FF2B5EF4-FFF2-40B4-BE49-F238E27FC236}">
                    <a16:creationId xmlns:a16="http://schemas.microsoft.com/office/drawing/2014/main" id="{B88D89E8-997F-2D46-A9D0-B4F40E18D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258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2" name="Line 123">
                <a:extLst>
                  <a:ext uri="{FF2B5EF4-FFF2-40B4-BE49-F238E27FC236}">
                    <a16:creationId xmlns:a16="http://schemas.microsoft.com/office/drawing/2014/main" id="{61C35FB2-9222-CD44-AE49-CA2C27178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17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3" name="Line 124">
                <a:extLst>
                  <a:ext uri="{FF2B5EF4-FFF2-40B4-BE49-F238E27FC236}">
                    <a16:creationId xmlns:a16="http://schemas.microsoft.com/office/drawing/2014/main" id="{116EF587-FB17-B545-82C8-65DF3D280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430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4" name="Line 125">
                <a:extLst>
                  <a:ext uri="{FF2B5EF4-FFF2-40B4-BE49-F238E27FC236}">
                    <a16:creationId xmlns:a16="http://schemas.microsoft.com/office/drawing/2014/main" id="{59C5B43B-2B73-E541-B28F-F3BAE032F2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8" y="1134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55" name="Line 126">
                <a:extLst>
                  <a:ext uri="{FF2B5EF4-FFF2-40B4-BE49-F238E27FC236}">
                    <a16:creationId xmlns:a16="http://schemas.microsoft.com/office/drawing/2014/main" id="{F02693D5-9C2B-714A-9151-54C88D43C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02" y="10827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6" name="Line 127">
                <a:extLst>
                  <a:ext uri="{FF2B5EF4-FFF2-40B4-BE49-F238E27FC236}">
                    <a16:creationId xmlns:a16="http://schemas.microsoft.com/office/drawing/2014/main" id="{AC4EDAA8-2191-A249-B67D-4B776C391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0" y="10827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7" name="Line 128">
                <a:extLst>
                  <a:ext uri="{FF2B5EF4-FFF2-40B4-BE49-F238E27FC236}">
                    <a16:creationId xmlns:a16="http://schemas.microsoft.com/office/drawing/2014/main" id="{F7A7169E-E65D-EB47-A4C9-C9D93E6B6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6" y="10836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8" name="Line 129">
                <a:extLst>
                  <a:ext uri="{FF2B5EF4-FFF2-40B4-BE49-F238E27FC236}">
                    <a16:creationId xmlns:a16="http://schemas.microsoft.com/office/drawing/2014/main" id="{511EDDC9-1776-124A-B225-338F58FAD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44" y="10836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9" name="Line 130">
                <a:extLst>
                  <a:ext uri="{FF2B5EF4-FFF2-40B4-BE49-F238E27FC236}">
                    <a16:creationId xmlns:a16="http://schemas.microsoft.com/office/drawing/2014/main" id="{B4CEFF93-CFE0-BB45-8DD5-F368BF6F9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4" y="10836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0" name="Line 131">
                <a:extLst>
                  <a:ext uri="{FF2B5EF4-FFF2-40B4-BE49-F238E27FC236}">
                    <a16:creationId xmlns:a16="http://schemas.microsoft.com/office/drawing/2014/main" id="{CA91CD76-21C0-CE49-9735-9881B9495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82" y="10839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1" name="Line 132">
                <a:extLst>
                  <a:ext uri="{FF2B5EF4-FFF2-40B4-BE49-F238E27FC236}">
                    <a16:creationId xmlns:a16="http://schemas.microsoft.com/office/drawing/2014/main" id="{50881C8F-15A9-134F-90AD-37A72D2AA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94" y="10821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9" name="Group 133">
              <a:extLst>
                <a:ext uri="{FF2B5EF4-FFF2-40B4-BE49-F238E27FC236}">
                  <a16:creationId xmlns:a16="http://schemas.microsoft.com/office/drawing/2014/main" id="{152E60AC-F307-264F-AECC-A49A47B26D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6" y="1720"/>
              <a:ext cx="458" cy="103"/>
              <a:chOff x="7470" y="11487"/>
              <a:chExt cx="690" cy="609"/>
            </a:xfrm>
          </p:grpSpPr>
          <p:sp>
            <p:nvSpPr>
              <p:cNvPr id="11341" name="Line 134">
                <a:extLst>
                  <a:ext uri="{FF2B5EF4-FFF2-40B4-BE49-F238E27FC236}">
                    <a16:creationId xmlns:a16="http://schemas.microsoft.com/office/drawing/2014/main" id="{426D358F-1707-4F4A-99AF-DE489CDCA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18" y="11493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2" name="Line 135">
                <a:extLst>
                  <a:ext uri="{FF2B5EF4-FFF2-40B4-BE49-F238E27FC236}">
                    <a16:creationId xmlns:a16="http://schemas.microsoft.com/office/drawing/2014/main" id="{59ED4EC6-56C9-9148-BAC9-FDEAEA97F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6" y="11493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3" name="Line 136">
                <a:extLst>
                  <a:ext uri="{FF2B5EF4-FFF2-40B4-BE49-F238E27FC236}">
                    <a16:creationId xmlns:a16="http://schemas.microsoft.com/office/drawing/2014/main" id="{CA079ED7-2380-1849-8A9E-E1E2DE4C8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52" y="11502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4" name="Line 137">
                <a:extLst>
                  <a:ext uri="{FF2B5EF4-FFF2-40B4-BE49-F238E27FC236}">
                    <a16:creationId xmlns:a16="http://schemas.microsoft.com/office/drawing/2014/main" id="{6B11D8D7-5BF4-964A-8815-7998F10A2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0" y="11502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5" name="Line 138">
                <a:extLst>
                  <a:ext uri="{FF2B5EF4-FFF2-40B4-BE49-F238E27FC236}">
                    <a16:creationId xmlns:a16="http://schemas.microsoft.com/office/drawing/2014/main" id="{3F274717-40CD-7645-882B-189743C20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70" y="11502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6" name="Line 139">
                <a:extLst>
                  <a:ext uri="{FF2B5EF4-FFF2-40B4-BE49-F238E27FC236}">
                    <a16:creationId xmlns:a16="http://schemas.microsoft.com/office/drawing/2014/main" id="{1C755AB4-1093-EF45-A854-200825D36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98" y="11505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7" name="Line 140">
                <a:extLst>
                  <a:ext uri="{FF2B5EF4-FFF2-40B4-BE49-F238E27FC236}">
                    <a16:creationId xmlns:a16="http://schemas.microsoft.com/office/drawing/2014/main" id="{A938C9E2-0487-0F47-82CF-EF4DD12B0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10" y="11487"/>
                <a:ext cx="0" cy="59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40" name="Line 141">
              <a:extLst>
                <a:ext uri="{FF2B5EF4-FFF2-40B4-BE49-F238E27FC236}">
                  <a16:creationId xmlns:a16="http://schemas.microsoft.com/office/drawing/2014/main" id="{69AD63F3-1AC2-5440-8011-2472BDF19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" y="948"/>
              <a:ext cx="147" cy="1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 type="none" w="sm" len="sm"/>
              <a:tailEnd type="arrow" w="sm" len="sm"/>
            </a:ln>
            <a:effectLst>
              <a:outerShdw dist="17961" dir="2700000" algn="ctr" rotWithShape="0">
                <a:srgbClr val="FFFFFF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1281" name="Text Box 142">
            <a:extLst>
              <a:ext uri="{FF2B5EF4-FFF2-40B4-BE49-F238E27FC236}">
                <a16:creationId xmlns:a16="http://schemas.microsoft.com/office/drawing/2014/main" id="{28DE6E96-9C8F-9845-ABF1-AF1FBA1BB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2643188"/>
            <a:ext cx="1217613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数据线</a:t>
            </a:r>
          </a:p>
        </p:txBody>
      </p:sp>
      <p:sp>
        <p:nvSpPr>
          <p:cNvPr id="11282" name="Freeform 143">
            <a:extLst>
              <a:ext uri="{FF2B5EF4-FFF2-40B4-BE49-F238E27FC236}">
                <a16:creationId xmlns:a16="http://schemas.microsoft.com/office/drawing/2014/main" id="{99CD1EF0-5FEB-314B-94A4-11D99C0C5F25}"/>
              </a:ext>
            </a:extLst>
          </p:cNvPr>
          <p:cNvSpPr>
            <a:spLocks/>
          </p:cNvSpPr>
          <p:nvPr/>
        </p:nvSpPr>
        <p:spPr bwMode="auto">
          <a:xfrm>
            <a:off x="1871663" y="3087688"/>
            <a:ext cx="2654300" cy="250825"/>
          </a:xfrm>
          <a:custGeom>
            <a:avLst/>
            <a:gdLst>
              <a:gd name="T0" fmla="*/ 2147483646 w 2688"/>
              <a:gd name="T1" fmla="*/ 2147483646 h 144"/>
              <a:gd name="T2" fmla="*/ 2147483646 w 2688"/>
              <a:gd name="T3" fmla="*/ 0 h 144"/>
              <a:gd name="T4" fmla="*/ 0 w 2688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88" h="144">
                <a:moveTo>
                  <a:pt x="2688" y="144"/>
                </a:moveTo>
                <a:lnTo>
                  <a:pt x="2688" y="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3" name="Text Box 144">
            <a:extLst>
              <a:ext uri="{FF2B5EF4-FFF2-40B4-BE49-F238E27FC236}">
                <a16:creationId xmlns:a16="http://schemas.microsoft.com/office/drawing/2014/main" id="{C6A8E842-82D3-3B4E-9814-A3C8235EB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2484438"/>
            <a:ext cx="152082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读</a:t>
            </a:r>
            <a:r>
              <a:rPr kumimoji="1" lang="en-US" altLang="zh-CN" sz="1800">
                <a:ea typeface="黑体" panose="02010609060101010101" pitchFamily="49" charset="-122"/>
              </a:rPr>
              <a:t>/</a:t>
            </a:r>
            <a:r>
              <a:rPr kumimoji="1" lang="zh-CN" altLang="en-US" sz="1800">
                <a:ea typeface="黑体" panose="02010609060101010101" pitchFamily="49" charset="-122"/>
              </a:rPr>
              <a:t>写的数据</a:t>
            </a:r>
          </a:p>
        </p:txBody>
      </p:sp>
      <p:sp>
        <p:nvSpPr>
          <p:cNvPr id="11284" name="Text Box 145">
            <a:extLst>
              <a:ext uri="{FF2B5EF4-FFF2-40B4-BE49-F238E27FC236}">
                <a16:creationId xmlns:a16="http://schemas.microsoft.com/office/drawing/2014/main" id="{B5E75E6D-6DD6-7E45-811E-72C2099B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3036888"/>
            <a:ext cx="963612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>
                <a:ea typeface="宋体" panose="02010600030101010101" pitchFamily="2" charset="-122"/>
              </a:rPr>
              <a:t>(64</a:t>
            </a:r>
            <a:r>
              <a:rPr kumimoji="1" lang="zh-CN" altLang="en-US" sz="1800" b="1">
                <a:ea typeface="宋体" panose="02010600030101010101" pitchFamily="2" charset="-122"/>
              </a:rPr>
              <a:t>位</a:t>
            </a:r>
            <a:r>
              <a:rPr kumimoji="1" lang="en-US" altLang="zh-CN" sz="1800" b="1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1285" name="Text Box 146">
            <a:extLst>
              <a:ext uri="{FF2B5EF4-FFF2-40B4-BE49-F238E27FC236}">
                <a16:creationId xmlns:a16="http://schemas.microsoft.com/office/drawing/2014/main" id="{3F2F47B2-7CFE-2845-AFDE-0A992E0C4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613150"/>
            <a:ext cx="13668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主存地址</a:t>
            </a:r>
          </a:p>
        </p:txBody>
      </p:sp>
      <p:sp>
        <p:nvSpPr>
          <p:cNvPr id="11286" name="Text Box 147">
            <a:extLst>
              <a:ext uri="{FF2B5EF4-FFF2-40B4-BE49-F238E27FC236}">
                <a16:creationId xmlns:a16="http://schemas.microsoft.com/office/drawing/2014/main" id="{34D726A3-60A4-1C47-AE0A-CC19A9C84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3792538"/>
            <a:ext cx="94456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1800">
                <a:ea typeface="黑体" panose="02010609060101010101" pitchFamily="49" charset="-122"/>
              </a:rPr>
              <a:t>地址线</a:t>
            </a:r>
          </a:p>
        </p:txBody>
      </p:sp>
      <p:sp>
        <p:nvSpPr>
          <p:cNvPr id="11287" name="Text Box 148">
            <a:extLst>
              <a:ext uri="{FF2B5EF4-FFF2-40B4-BE49-F238E27FC236}">
                <a16:creationId xmlns:a16="http://schemas.microsoft.com/office/drawing/2014/main" id="{73AE1C9F-BEEC-0F41-AD38-F98D05297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4162425"/>
            <a:ext cx="963613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>
                <a:ea typeface="宋体" panose="02010600030101010101" pitchFamily="2" charset="-122"/>
              </a:rPr>
              <a:t>(36</a:t>
            </a:r>
            <a:r>
              <a:rPr kumimoji="1" lang="zh-CN" altLang="en-US" sz="1800" b="1">
                <a:ea typeface="宋体" panose="02010600030101010101" pitchFamily="2" charset="-122"/>
              </a:rPr>
              <a:t>位</a:t>
            </a:r>
            <a:r>
              <a:rPr kumimoji="1" lang="en-US" altLang="zh-CN" sz="1800" b="1"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6" name="Group 149">
            <a:extLst>
              <a:ext uri="{FF2B5EF4-FFF2-40B4-BE49-F238E27FC236}">
                <a16:creationId xmlns:a16="http://schemas.microsoft.com/office/drawing/2014/main" id="{00154A0F-F9D0-3048-B408-C8CD1488FC8A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2908300"/>
            <a:ext cx="3216275" cy="2936875"/>
            <a:chOff x="3603" y="582"/>
            <a:chExt cx="2026" cy="1850"/>
          </a:xfrm>
        </p:grpSpPr>
        <p:grpSp>
          <p:nvGrpSpPr>
            <p:cNvPr id="11301" name="Group 150">
              <a:extLst>
                <a:ext uri="{FF2B5EF4-FFF2-40B4-BE49-F238E27FC236}">
                  <a16:creationId xmlns:a16="http://schemas.microsoft.com/office/drawing/2014/main" id="{20D0A9D6-0A59-A448-9516-EA60D7AFB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3" y="731"/>
              <a:ext cx="1836" cy="1601"/>
              <a:chOff x="2666" y="1073"/>
              <a:chExt cx="1439" cy="1256"/>
            </a:xfrm>
          </p:grpSpPr>
          <p:grpSp>
            <p:nvGrpSpPr>
              <p:cNvPr id="11303" name="Group 151">
                <a:extLst>
                  <a:ext uri="{FF2B5EF4-FFF2-40B4-BE49-F238E27FC236}">
                    <a16:creationId xmlns:a16="http://schemas.microsoft.com/office/drawing/2014/main" id="{A0D43143-24C5-9F4E-9AC2-D2995D490D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3" y="1076"/>
                <a:ext cx="595" cy="1192"/>
                <a:chOff x="4598" y="40"/>
                <a:chExt cx="829" cy="1508"/>
              </a:xfrm>
            </p:grpSpPr>
            <p:sp>
              <p:nvSpPr>
                <p:cNvPr id="11320" name="Rectangle 152">
                  <a:extLst>
                    <a:ext uri="{FF2B5EF4-FFF2-40B4-BE49-F238E27FC236}">
                      <a16:creationId xmlns:a16="http://schemas.microsoft.com/office/drawing/2014/main" id="{0BB14B30-07D6-FE42-A651-D81A7BEB75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0" y="40"/>
                  <a:ext cx="827" cy="1508"/>
                </a:xfrm>
                <a:prstGeom prst="rect">
                  <a:avLst/>
                </a:prstGeom>
                <a:noFill/>
                <a:ln w="12700" algn="ctr">
                  <a:solidFill>
                    <a:srgbClr val="00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kumimoji="1" lang="zh-CN" altLang="en-US" sz="1800" b="1" i="1">
                    <a:solidFill>
                      <a:srgbClr val="666699"/>
                    </a:solidFill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1321" name="Line 153">
                  <a:extLst>
                    <a:ext uri="{FF2B5EF4-FFF2-40B4-BE49-F238E27FC236}">
                      <a16:creationId xmlns:a16="http://schemas.microsoft.com/office/drawing/2014/main" id="{CC1B21C7-319F-2549-A406-FEE4A7F88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0" y="796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2" name="Line 154">
                  <a:extLst>
                    <a:ext uri="{FF2B5EF4-FFF2-40B4-BE49-F238E27FC236}">
                      <a16:creationId xmlns:a16="http://schemas.microsoft.com/office/drawing/2014/main" id="{E2A2B0AA-B975-6449-8830-74183850D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409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3" name="Line 155">
                  <a:extLst>
                    <a:ext uri="{FF2B5EF4-FFF2-40B4-BE49-F238E27FC236}">
                      <a16:creationId xmlns:a16="http://schemas.microsoft.com/office/drawing/2014/main" id="{26178F01-A1B0-704C-82A1-CB60644D37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9" y="606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4" name="Line 156">
                  <a:extLst>
                    <a:ext uri="{FF2B5EF4-FFF2-40B4-BE49-F238E27FC236}">
                      <a16:creationId xmlns:a16="http://schemas.microsoft.com/office/drawing/2014/main" id="{E98260A3-939A-DC4E-B3DF-D647C5EACA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9" y="227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5" name="Line 157">
                  <a:extLst>
                    <a:ext uri="{FF2B5EF4-FFF2-40B4-BE49-F238E27FC236}">
                      <a16:creationId xmlns:a16="http://schemas.microsoft.com/office/drawing/2014/main" id="{95A40530-A950-4B4B-92B1-311FA76217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7" y="698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6" name="Line 158">
                  <a:extLst>
                    <a:ext uri="{FF2B5EF4-FFF2-40B4-BE49-F238E27FC236}">
                      <a16:creationId xmlns:a16="http://schemas.microsoft.com/office/drawing/2014/main" id="{8CCF6435-743D-8E45-91EE-73229F611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9" y="311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7" name="Line 159">
                  <a:extLst>
                    <a:ext uri="{FF2B5EF4-FFF2-40B4-BE49-F238E27FC236}">
                      <a16:creationId xmlns:a16="http://schemas.microsoft.com/office/drawing/2014/main" id="{CD192969-D0F3-9B41-9514-7A1A5D66D7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508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8" name="Line 160">
                  <a:extLst>
                    <a:ext uri="{FF2B5EF4-FFF2-40B4-BE49-F238E27FC236}">
                      <a16:creationId xmlns:a16="http://schemas.microsoft.com/office/drawing/2014/main" id="{2A543F6A-6888-234E-AC93-3BEB21B50F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129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9" name="Line 161">
                  <a:extLst>
                    <a:ext uri="{FF2B5EF4-FFF2-40B4-BE49-F238E27FC236}">
                      <a16:creationId xmlns:a16="http://schemas.microsoft.com/office/drawing/2014/main" id="{D991BB08-41B2-0649-8857-45AAA6F38B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1433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0" name="Line 162">
                  <a:extLst>
                    <a:ext uri="{FF2B5EF4-FFF2-40B4-BE49-F238E27FC236}">
                      <a16:creationId xmlns:a16="http://schemas.microsoft.com/office/drawing/2014/main" id="{7737609F-60AC-E54F-82B5-FC1D31381F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0" y="887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1" name="Line 163">
                  <a:extLst>
                    <a:ext uri="{FF2B5EF4-FFF2-40B4-BE49-F238E27FC236}">
                      <a16:creationId xmlns:a16="http://schemas.microsoft.com/office/drawing/2014/main" id="{E35FB420-CCB4-5E44-A161-C69BF5D42F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7" y="1335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2" name="Line 164">
                  <a:extLst>
                    <a:ext uri="{FF2B5EF4-FFF2-40B4-BE49-F238E27FC236}">
                      <a16:creationId xmlns:a16="http://schemas.microsoft.com/office/drawing/2014/main" id="{B76CF8F3-860E-FD4F-A0B5-AE84ABFFF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8" y="986"/>
                  <a:ext cx="819" cy="0"/>
                </a:xfrm>
                <a:prstGeom prst="line">
                  <a:avLst/>
                </a:prstGeom>
                <a:noFill/>
                <a:ln w="952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04" name="Text Box 165">
                <a:extLst>
                  <a:ext uri="{FF2B5EF4-FFF2-40B4-BE49-F238E27FC236}">
                    <a16:creationId xmlns:a16="http://schemas.microsoft.com/office/drawing/2014/main" id="{F4281ABA-9E5A-6D41-B5A8-8E7EFD49C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2" y="1902"/>
                <a:ext cx="197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66475" tIns="33237" rIns="66475" bIns="33237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</a:pPr>
                <a:r>
                  <a:rPr kumimoji="1" lang="en-US" altLang="zh-CN" sz="13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·····		</a:t>
                </a:r>
                <a:endParaRPr kumimoji="1" lang="en-US" altLang="zh-CN" sz="2600">
                  <a:ea typeface="宋体" panose="02010600030101010101" pitchFamily="2" charset="-122"/>
                </a:endParaRPr>
              </a:p>
            </p:txBody>
          </p:sp>
          <p:sp>
            <p:nvSpPr>
              <p:cNvPr id="11305" name="Text Box 166">
                <a:extLst>
                  <a:ext uri="{FF2B5EF4-FFF2-40B4-BE49-F238E27FC236}">
                    <a16:creationId xmlns:a16="http://schemas.microsoft.com/office/drawing/2014/main" id="{299B7528-8621-1343-A009-C8E9713C42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1143"/>
                <a:ext cx="75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6475" tIns="33237" rIns="66475" bIns="33237"/>
              <a:lstStyle>
                <a:lvl1pPr marL="342900" indent="-3429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algn="just" eaLnBrk="1" hangingPunct="1">
                  <a:lnSpc>
                    <a:spcPct val="80000"/>
                  </a:lnSpc>
                </a:pPr>
                <a:r>
                  <a:rPr kumimoji="1" lang="en-US" altLang="zh-CN" sz="13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01101001</a:t>
                </a:r>
                <a:endParaRPr kumimoji="1" lang="en-US" altLang="zh-CN" sz="2600">
                  <a:ea typeface="宋体" panose="02010600030101010101" pitchFamily="2" charset="-122"/>
                </a:endParaRPr>
              </a:p>
            </p:txBody>
          </p:sp>
          <p:sp>
            <p:nvSpPr>
              <p:cNvPr id="11306" name="Text Box 167">
                <a:extLst>
                  <a:ext uri="{FF2B5EF4-FFF2-40B4-BE49-F238E27FC236}">
                    <a16:creationId xmlns:a16="http://schemas.microsoft.com/office/drawing/2014/main" id="{924D852F-7BF7-8E4F-B58E-75C8A05943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7" y="1361"/>
                <a:ext cx="75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6475" tIns="33237" rIns="66475" bIns="33237"/>
              <a:lstStyle>
                <a:lvl1pPr marL="342900" indent="-3429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algn="just" eaLnBrk="1" hangingPunct="1">
                  <a:lnSpc>
                    <a:spcPct val="80000"/>
                  </a:lnSpc>
                </a:pPr>
                <a:r>
                  <a:rPr kumimoji="1" lang="en-US" altLang="zh-CN" sz="13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10101010</a:t>
                </a:r>
                <a:endParaRPr kumimoji="1" lang="en-US" altLang="zh-CN" sz="2600">
                  <a:ea typeface="宋体" panose="02010600030101010101" pitchFamily="2" charset="-122"/>
                </a:endParaRPr>
              </a:p>
            </p:txBody>
          </p:sp>
          <p:sp>
            <p:nvSpPr>
              <p:cNvPr id="11307" name="Text Box 168">
                <a:extLst>
                  <a:ext uri="{FF2B5EF4-FFF2-40B4-BE49-F238E27FC236}">
                    <a16:creationId xmlns:a16="http://schemas.microsoft.com/office/drawing/2014/main" id="{0692584B-B595-0640-93B0-EB7C0966E9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8" y="1502"/>
                <a:ext cx="207" cy="4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6475" tIns="33237" rIns="66475" bIns="33237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</a:pPr>
                <a:r>
                  <a:rPr kumimoji="1" lang="zh-CN" altLang="en-US" sz="180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存储内容</a:t>
                </a:r>
                <a:endParaRPr kumimoji="1" lang="zh-CN" altLang="en-US" sz="1800">
                  <a:ea typeface="黑体" panose="02010609060101010101" pitchFamily="49" charset="-122"/>
                </a:endParaRPr>
              </a:p>
            </p:txBody>
          </p:sp>
          <p:sp>
            <p:nvSpPr>
              <p:cNvPr id="11308" name="Line 169">
                <a:extLst>
                  <a:ext uri="{FF2B5EF4-FFF2-40B4-BE49-F238E27FC236}">
                    <a16:creationId xmlns:a16="http://schemas.microsoft.com/office/drawing/2014/main" id="{34290E8E-88A6-7B4F-A7F7-04B770CB3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4" y="1411"/>
                <a:ext cx="148" cy="142"/>
              </a:xfrm>
              <a:prstGeom prst="line">
                <a:avLst/>
              </a:prstGeom>
              <a:noFill/>
              <a:ln w="12700">
                <a:solidFill>
                  <a:srgbClr val="0033CC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09" name="Group 170">
                <a:extLst>
                  <a:ext uri="{FF2B5EF4-FFF2-40B4-BE49-F238E27FC236}">
                    <a16:creationId xmlns:a16="http://schemas.microsoft.com/office/drawing/2014/main" id="{83D44EBA-9948-CB47-8727-BAF38F5885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6" y="1073"/>
                <a:ext cx="839" cy="1256"/>
                <a:chOff x="2666" y="1073"/>
                <a:chExt cx="839" cy="1256"/>
              </a:xfrm>
            </p:grpSpPr>
            <p:sp>
              <p:nvSpPr>
                <p:cNvPr id="11310" name="Text Box 171">
                  <a:extLst>
                    <a:ext uri="{FF2B5EF4-FFF2-40B4-BE49-F238E27FC236}">
                      <a16:creationId xmlns:a16="http://schemas.microsoft.com/office/drawing/2014/main" id="{36C9CBD1-650B-A24A-B1E4-C4850C0272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1143"/>
                  <a:ext cx="622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28600" indent="15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00001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1" name="Text Box 172">
                  <a:extLst>
                    <a:ext uri="{FF2B5EF4-FFF2-40B4-BE49-F238E27FC236}">
                      <a16:creationId xmlns:a16="http://schemas.microsoft.com/office/drawing/2014/main" id="{71D9FD4E-7B54-7547-919F-9E6F764F8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1073"/>
                  <a:ext cx="622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301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00000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2" name="Text Box 173">
                  <a:extLst>
                    <a:ext uri="{FF2B5EF4-FFF2-40B4-BE49-F238E27FC236}">
                      <a16:creationId xmlns:a16="http://schemas.microsoft.com/office/drawing/2014/main" id="{9D5F314B-CC5F-4C4A-A66C-3E4F5390BC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1221"/>
                  <a:ext cx="622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301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00010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3" name="Text Box 174">
                  <a:extLst>
                    <a:ext uri="{FF2B5EF4-FFF2-40B4-BE49-F238E27FC236}">
                      <a16:creationId xmlns:a16="http://schemas.microsoft.com/office/drawing/2014/main" id="{1AF1D6B2-8511-AD4F-95E2-19995F7ECE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1293"/>
                  <a:ext cx="622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301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00011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4" name="Text Box 175">
                  <a:extLst>
                    <a:ext uri="{FF2B5EF4-FFF2-40B4-BE49-F238E27FC236}">
                      <a16:creationId xmlns:a16="http://schemas.microsoft.com/office/drawing/2014/main" id="{A7553981-F57A-2843-8109-866F8C6EB3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2" y="1365"/>
                  <a:ext cx="623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28600" indent="15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00100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5" name="Text Box 176">
                  <a:extLst>
                    <a:ext uri="{FF2B5EF4-FFF2-40B4-BE49-F238E27FC236}">
                      <a16:creationId xmlns:a16="http://schemas.microsoft.com/office/drawing/2014/main" id="{F9E0CC36-8945-2B47-9B5A-9AB414E875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2" y="2097"/>
                  <a:ext cx="623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28600" indent="15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11110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6" name="Text Box 177">
                  <a:extLst>
                    <a:ext uri="{FF2B5EF4-FFF2-40B4-BE49-F238E27FC236}">
                      <a16:creationId xmlns:a16="http://schemas.microsoft.com/office/drawing/2014/main" id="{972D6BEB-A099-1944-9BC2-4F39B42AE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2" y="2184"/>
                  <a:ext cx="623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28600" indent="15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11111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7" name="Text Box 178">
                  <a:extLst>
                    <a:ext uri="{FF2B5EF4-FFF2-40B4-BE49-F238E27FC236}">
                      <a16:creationId xmlns:a16="http://schemas.microsoft.com/office/drawing/2014/main" id="{8A3AF8A6-BF65-8C4A-8E36-38FC65168B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31" y="1520"/>
                  <a:ext cx="159" cy="4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lIns="66475" tIns="33237" rIns="66475" bIns="33237"/>
                <a:lstStyle>
                  <a:lvl1pPr marL="342900" indent="-3429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228600" indent="1588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1" algn="just" eaLnBrk="1" hangingPunct="1">
                    <a:lnSpc>
                      <a:spcPct val="80000"/>
                    </a:lnSpc>
                  </a:pPr>
                  <a:r>
                    <a:rPr kumimoji="1" lang="en-US" altLang="zh-CN" sz="1300" b="1">
                      <a:solidFill>
                        <a:srgbClr val="990033"/>
                      </a:solidFill>
                      <a:ea typeface="宋体" panose="02010600030101010101" pitchFamily="2" charset="-122"/>
                    </a:rPr>
                    <a:t>·······</a:t>
                  </a:r>
                  <a:endParaRPr kumimoji="1" lang="en-US" altLang="zh-CN" sz="26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18" name="Text Box 179">
                  <a:extLst>
                    <a:ext uri="{FF2B5EF4-FFF2-40B4-BE49-F238E27FC236}">
                      <a16:creationId xmlns:a16="http://schemas.microsoft.com/office/drawing/2014/main" id="{688C728F-8BBB-A942-B0D7-D205EAA25C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6" y="1521"/>
                  <a:ext cx="318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6475" tIns="33237" rIns="66475" bIns="33237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 eaLnBrk="1" hangingPunct="1">
                    <a:lnSpc>
                      <a:spcPct val="80000"/>
                    </a:lnSpc>
                  </a:pPr>
                  <a:r>
                    <a:rPr kumimoji="1" lang="zh-CN" altLang="en-US" sz="1800">
                      <a:ea typeface="黑体" panose="02010609060101010101" pitchFamily="49" charset="-122"/>
                    </a:rPr>
                    <a:t>存储</a:t>
                  </a:r>
                </a:p>
                <a:p>
                  <a:pPr algn="just" eaLnBrk="1" hangingPunct="1">
                    <a:lnSpc>
                      <a:spcPct val="80000"/>
                    </a:lnSpc>
                  </a:pPr>
                  <a:r>
                    <a:rPr kumimoji="1" lang="zh-CN" altLang="en-US" sz="1800">
                      <a:ea typeface="黑体" panose="02010609060101010101" pitchFamily="49" charset="-122"/>
                    </a:rPr>
                    <a:t>单元</a:t>
                  </a:r>
                </a:p>
                <a:p>
                  <a:pPr algn="just" eaLnBrk="1" hangingPunct="1">
                    <a:lnSpc>
                      <a:spcPct val="80000"/>
                    </a:lnSpc>
                  </a:pPr>
                  <a:r>
                    <a:rPr kumimoji="1" lang="zh-CN" altLang="en-US" sz="1800">
                      <a:ea typeface="黑体" panose="02010609060101010101" pitchFamily="49" charset="-122"/>
                    </a:rPr>
                    <a:t>地址</a:t>
                  </a:r>
                </a:p>
              </p:txBody>
            </p:sp>
            <p:sp>
              <p:nvSpPr>
                <p:cNvPr id="11319" name="AutoShape 180">
                  <a:extLst>
                    <a:ext uri="{FF2B5EF4-FFF2-40B4-BE49-F238E27FC236}">
                      <a16:creationId xmlns:a16="http://schemas.microsoft.com/office/drawing/2014/main" id="{E21D9A85-936E-0841-B2D0-DAE21ECBC6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8" y="1119"/>
                  <a:ext cx="56" cy="1113"/>
                </a:xfrm>
                <a:prstGeom prst="leftBrace">
                  <a:avLst>
                    <a:gd name="adj1" fmla="val 165625"/>
                    <a:gd name="adj2" fmla="val 50000"/>
                  </a:avLst>
                </a:prstGeom>
                <a:noFill/>
                <a:ln w="1905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16623" tIns="58311" rIns="116623" bIns="58311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230000"/>
                    </a:lnSpc>
                  </a:pPr>
                  <a:endParaRPr kumimoji="1" lang="zh-CN" altLang="en-US" sz="2600"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1302" name="Oval 181">
              <a:extLst>
                <a:ext uri="{FF2B5EF4-FFF2-40B4-BE49-F238E27FC236}">
                  <a16:creationId xmlns:a16="http://schemas.microsoft.com/office/drawing/2014/main" id="{5C3DE785-89B3-BD40-A405-061572834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582"/>
              <a:ext cx="2026" cy="1850"/>
            </a:xfrm>
            <a:prstGeom prst="ellips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1289" name="Text Box 182">
            <a:extLst>
              <a:ext uri="{FF2B5EF4-FFF2-40B4-BE49-F238E27FC236}">
                <a16:creationId xmlns:a16="http://schemas.microsoft.com/office/drawing/2014/main" id="{79402D38-D038-F74B-B0AF-F31D7201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892425"/>
            <a:ext cx="1223962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MDR</a:t>
            </a:r>
          </a:p>
        </p:txBody>
      </p:sp>
      <p:sp>
        <p:nvSpPr>
          <p:cNvPr id="11290" name="Text Box 183">
            <a:extLst>
              <a:ext uri="{FF2B5EF4-FFF2-40B4-BE49-F238E27FC236}">
                <a16:creationId xmlns:a16="http://schemas.microsoft.com/office/drawing/2014/main" id="{17E37A7E-D3BD-F74B-9A06-C4E686A7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3992563"/>
            <a:ext cx="1223963" cy="3857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MAR</a:t>
            </a:r>
          </a:p>
        </p:txBody>
      </p:sp>
      <p:sp>
        <p:nvSpPr>
          <p:cNvPr id="11291" name="Line 184">
            <a:extLst>
              <a:ext uri="{FF2B5EF4-FFF2-40B4-BE49-F238E27FC236}">
                <a16:creationId xmlns:a16="http://schemas.microsoft.com/office/drawing/2014/main" id="{B54C6E27-D30A-BB46-B594-417826120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4198938"/>
            <a:ext cx="22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2" name="Text Box 185">
            <a:extLst>
              <a:ext uri="{FF2B5EF4-FFF2-40B4-BE49-F238E27FC236}">
                <a16:creationId xmlns:a16="http://schemas.microsoft.com/office/drawing/2014/main" id="{DB409A2D-F6E4-1741-AD2B-81B3975DB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6482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11293" name="Text Box 186">
            <a:extLst>
              <a:ext uri="{FF2B5EF4-FFF2-40B4-BE49-F238E27FC236}">
                <a16:creationId xmlns:a16="http://schemas.microsoft.com/office/drawing/2014/main" id="{B6636B2B-241D-0C4A-96DB-746420E2C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2578100"/>
            <a:ext cx="809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MM</a:t>
            </a:r>
          </a:p>
        </p:txBody>
      </p:sp>
      <p:sp>
        <p:nvSpPr>
          <p:cNvPr id="11294" name="Line 187">
            <a:extLst>
              <a:ext uri="{FF2B5EF4-FFF2-40B4-BE49-F238E27FC236}">
                <a16:creationId xmlns:a16="http://schemas.microsoft.com/office/drawing/2014/main" id="{D6471353-77FB-6E45-BE2C-E81BF1E06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7213" y="4194175"/>
            <a:ext cx="944562" cy="4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5" name="Rectangle 192">
            <a:extLst>
              <a:ext uri="{FF2B5EF4-FFF2-40B4-BE49-F238E27FC236}">
                <a16:creationId xmlns:a16="http://schemas.microsoft.com/office/drawing/2014/main" id="{A221CCE8-7D31-6148-9A54-0090EAE92B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150813"/>
            <a:ext cx="8639175" cy="569912"/>
          </a:xfrm>
          <a:noFill/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主存的结构</a:t>
            </a:r>
          </a:p>
        </p:txBody>
      </p:sp>
      <p:sp>
        <p:nvSpPr>
          <p:cNvPr id="561345" name="Text Box 193">
            <a:extLst>
              <a:ext uri="{FF2B5EF4-FFF2-40B4-BE49-F238E27FC236}">
                <a16:creationId xmlns:a16="http://schemas.microsoft.com/office/drawing/2014/main" id="{C1089837-2F46-9F49-9C06-C22B52CFE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728663"/>
            <a:ext cx="78755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问题：主存中存放的是什么信息？</a:t>
            </a:r>
            <a:r>
              <a:rPr kumimoji="1" lang="en-US" altLang="zh-CN" sz="2100" b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100" b="1">
                <a:latin typeface="微软雅黑" panose="020B0503020204020204" pitchFamily="34" charset="-122"/>
                <a:ea typeface="微软雅黑" panose="020B0503020204020204" pitchFamily="34" charset="-122"/>
              </a:rPr>
              <a:t>何时会访问主存？</a:t>
            </a:r>
          </a:p>
        </p:txBody>
      </p:sp>
      <p:sp>
        <p:nvSpPr>
          <p:cNvPr id="561346" name="Text Box 194">
            <a:extLst>
              <a:ext uri="{FF2B5EF4-FFF2-40B4-BE49-F238E27FC236}">
                <a16:creationId xmlns:a16="http://schemas.microsoft.com/office/drawing/2014/main" id="{749DB24C-AA07-EB49-AF1F-F443772D0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042988"/>
            <a:ext cx="80994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指令及其数据！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执行指令时需要取指令、取数据、存数据！</a:t>
            </a:r>
          </a:p>
        </p:txBody>
      </p:sp>
      <p:sp>
        <p:nvSpPr>
          <p:cNvPr id="4" name="Text Box 194">
            <a:extLst>
              <a:ext uri="{FF2B5EF4-FFF2-40B4-BE49-F238E27FC236}">
                <a16:creationId xmlns:a16="http://schemas.microsoft.com/office/drawing/2014/main" id="{156C1DC9-2421-4241-B1EE-8C39452FC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393825"/>
            <a:ext cx="832643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>
                <a:ea typeface="微软雅黑" panose="020B0503020204020204" pitchFamily="34" charset="-122"/>
              </a:rPr>
              <a:t>问题：地址译码器的输入是什么？输出是什么？可寻址范围多少？</a:t>
            </a:r>
            <a:endParaRPr kumimoji="1" lang="en-US" altLang="zh-CN" sz="2100" b="1">
              <a:ea typeface="微软雅黑" panose="020B0503020204020204" pitchFamily="34" charset="-122"/>
            </a:endParaRPr>
          </a:p>
        </p:txBody>
      </p:sp>
      <p:sp>
        <p:nvSpPr>
          <p:cNvPr id="5" name="Text Box 194">
            <a:extLst>
              <a:ext uri="{FF2B5EF4-FFF2-40B4-BE49-F238E27FC236}">
                <a16:creationId xmlns:a16="http://schemas.microsoft.com/office/drawing/2014/main" id="{7A764BB1-CFA2-BA46-8FC0-02E6C2F4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708150"/>
            <a:ext cx="8326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输入是地址，输出是地址驱动信号（只有一根地址驱动线被选中）。</a:t>
            </a:r>
          </a:p>
          <a:p>
            <a:pPr eaLnBrk="1" hangingPunct="1"/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可寻址范围为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2100" b="1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，即主存地址空间为</a:t>
            </a:r>
            <a:r>
              <a:rPr kumimoji="1" lang="en-US" altLang="zh-CN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64GB</a:t>
            </a:r>
            <a:r>
              <a:rPr kumimoji="1" lang="zh-CN" altLang="en-US" sz="21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（按字节编址时）。</a:t>
            </a:r>
          </a:p>
        </p:txBody>
      </p:sp>
      <p:sp>
        <p:nvSpPr>
          <p:cNvPr id="7" name="Text Box 194">
            <a:extLst>
              <a:ext uri="{FF2B5EF4-FFF2-40B4-BE49-F238E27FC236}">
                <a16:creationId xmlns:a16="http://schemas.microsoft.com/office/drawing/2014/main" id="{613C78EE-6DA3-1645-B3B4-B74D6A17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5994400"/>
            <a:ext cx="8081962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主存地址空间大小不等于主存容量（实际安装的主存大小）！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若是字节编址，则每次最多可读</a:t>
            </a:r>
            <a:r>
              <a:rPr kumimoji="1" lang="en-US" altLang="zh-CN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kumimoji="1" lang="en-US" altLang="zh-CN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个单元，给出的是首</a:t>
            </a:r>
            <a:r>
              <a:rPr kumimoji="1" lang="en-US" altLang="zh-CN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</a:t>
            </a:r>
            <a:r>
              <a:rPr kumimoji="1" lang="en-US" altLang="zh-CN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kumimoji="1" lang="en-US" altLang="zh-CN" sz="21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345" grpId="0"/>
      <p:bldP spid="561346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>
            <a:extLst>
              <a:ext uri="{FF2B5EF4-FFF2-40B4-BE49-F238E27FC236}">
                <a16:creationId xmlns:a16="http://schemas.microsoft.com/office/drawing/2014/main" id="{26E52675-02CC-4343-9E88-720A0628A03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819150"/>
            <a:ext cx="8551863" cy="5202238"/>
          </a:xfrm>
        </p:spPr>
        <p:txBody>
          <a:bodyPr lIns="91440" tIns="45720" rIns="91440" bIns="45720"/>
          <a:lstStyle/>
          <a:p>
            <a:pPr marL="268288" indent="-268288" algn="just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pt-BR" sz="220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性能指标：</a:t>
            </a:r>
          </a:p>
          <a:p>
            <a:pPr marL="582613" lvl="1" indent="-223838" algn="just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pt-BR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按字节</a:t>
            </a:r>
            <a:r>
              <a:rPr lang="zh-CN" altLang="pt-BR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连续编址</a:t>
            </a:r>
            <a:r>
              <a:rPr lang="zh-CN" altLang="pt-BR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，每个存储单元为</a:t>
            </a:r>
            <a:r>
              <a:rPr lang="pt-BR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pt-BR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个字节（</a:t>
            </a:r>
            <a:r>
              <a:rPr lang="pt-BR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pt-BR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个二进位）</a:t>
            </a:r>
            <a:endParaRPr lang="pt-BR" altLang="zh-CN" sz="22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82613" lvl="1" indent="-223838" algn="just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存储容量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：所包含的存储单元的总数（单位：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22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82613" lvl="1" indent="-223838" algn="just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存取时间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200" baseline="-300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送出内存单元的地址码开始，到主存读出数据并送到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（或者是把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数据写入主存）所需要的时间（单位：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ns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ns = 10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-9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），分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读取时间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写入时间</a:t>
            </a:r>
          </a:p>
          <a:p>
            <a:pPr marL="582613" lvl="1" indent="-223838" algn="just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存储周期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200" baseline="-300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：连读两次访问存储器所需的最小时间间隔，它应等于存取时间加上下一次存取开始前所要求的附加时间，因此，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200" baseline="-30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比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200" baseline="-30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 因为存储器由于读出放大器、驱动电路等都有一段稳定恢复时间，所以读出后不能立即进行下一次访问。 ）</a:t>
            </a:r>
            <a:endParaRPr lang="en-US" altLang="zh-CN" sz="22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82613" lvl="1" indent="-223838" algn="just" defTabSz="717550" eaLnBrk="1" hangingPunct="1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（就像一趟火车运行时间和发车周期是两个不同概念一样。）</a:t>
            </a:r>
            <a:endParaRPr lang="zh-CN" altLang="pt-BR" sz="2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291" name="Rectangle 97">
            <a:extLst>
              <a:ext uri="{FF2B5EF4-FFF2-40B4-BE49-F238E27FC236}">
                <a16:creationId xmlns:a16="http://schemas.microsoft.com/office/drawing/2014/main" id="{5DD57FFB-969A-BE49-A67A-DCDFB39E00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6863" y="68263"/>
            <a:ext cx="8639175" cy="569912"/>
          </a:xfrm>
          <a:noFill/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主存的主要性能指标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8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8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C6E07D7-495C-274D-9726-4EBA43DC04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时间、存储容量（或带宽）的单位</a:t>
            </a:r>
          </a:p>
        </p:txBody>
      </p:sp>
      <p:sp>
        <p:nvSpPr>
          <p:cNvPr id="13315" name="AutoShape 504">
            <a:extLst>
              <a:ext uri="{FF2B5EF4-FFF2-40B4-BE49-F238E27FC236}">
                <a16:creationId xmlns:a16="http://schemas.microsoft.com/office/drawing/2014/main" id="{BC3A8226-7B37-6048-9807-4E6BB9741FF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62013" y="971550"/>
            <a:ext cx="7504112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Rectangle 506">
            <a:extLst>
              <a:ext uri="{FF2B5EF4-FFF2-40B4-BE49-F238E27FC236}">
                <a16:creationId xmlns:a16="http://schemas.microsoft.com/office/drawing/2014/main" id="{046793FF-F069-624A-BA5C-A1F699429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969963"/>
            <a:ext cx="7504113" cy="56261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317" name="Group 555">
            <a:extLst>
              <a:ext uri="{FF2B5EF4-FFF2-40B4-BE49-F238E27FC236}">
                <a16:creationId xmlns:a16="http://schemas.microsoft.com/office/drawing/2014/main" id="{978D77EF-8BDA-DD4D-9766-FFE2130D0406}"/>
              </a:ext>
            </a:extLst>
          </p:cNvPr>
          <p:cNvGrpSpPr>
            <a:grpSpLocks/>
          </p:cNvGrpSpPr>
          <p:nvPr/>
        </p:nvGrpSpPr>
        <p:grpSpPr bwMode="auto">
          <a:xfrm>
            <a:off x="854075" y="4651375"/>
            <a:ext cx="4724400" cy="1946275"/>
            <a:chOff x="538" y="2930"/>
            <a:chExt cx="2976" cy="1226"/>
          </a:xfrm>
        </p:grpSpPr>
        <p:sp>
          <p:nvSpPr>
            <p:cNvPr id="13726" name="Rectangle 507">
              <a:extLst>
                <a:ext uri="{FF2B5EF4-FFF2-40B4-BE49-F238E27FC236}">
                  <a16:creationId xmlns:a16="http://schemas.microsoft.com/office/drawing/2014/main" id="{C2B3FB87-1E24-5045-B51F-56C0CC866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930"/>
              <a:ext cx="2976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7" name="Rectangle 508">
              <a:extLst>
                <a:ext uri="{FF2B5EF4-FFF2-40B4-BE49-F238E27FC236}">
                  <a16:creationId xmlns:a16="http://schemas.microsoft.com/office/drawing/2014/main" id="{AF8458FB-7F52-0941-9BB2-CE1F0889E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947"/>
              <a:ext cx="2976" cy="1"/>
            </a:xfrm>
            <a:prstGeom prst="rect">
              <a:avLst/>
            </a:prstGeom>
            <a:solidFill>
              <a:srgbClr val="00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8" name="Rectangle 509">
              <a:extLst>
                <a:ext uri="{FF2B5EF4-FFF2-40B4-BE49-F238E27FC236}">
                  <a16:creationId xmlns:a16="http://schemas.microsoft.com/office/drawing/2014/main" id="{C9478E8F-C4F5-1C43-81E6-D1157F30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948"/>
              <a:ext cx="2976" cy="2"/>
            </a:xfrm>
            <a:prstGeom prst="rect">
              <a:avLst/>
            </a:prstGeom>
            <a:solidFill>
              <a:srgbClr val="0000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9" name="Rectangle 510">
              <a:extLst>
                <a:ext uri="{FF2B5EF4-FFF2-40B4-BE49-F238E27FC236}">
                  <a16:creationId xmlns:a16="http://schemas.microsoft.com/office/drawing/2014/main" id="{3A289887-249F-FF4F-B38A-BB653DFF8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950"/>
              <a:ext cx="2976" cy="31"/>
            </a:xfrm>
            <a:prstGeom prst="rect">
              <a:avLst/>
            </a:prstGeom>
            <a:solidFill>
              <a:srgbClr val="0000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0" name="Rectangle 511">
              <a:extLst>
                <a:ext uri="{FF2B5EF4-FFF2-40B4-BE49-F238E27FC236}">
                  <a16:creationId xmlns:a16="http://schemas.microsoft.com/office/drawing/2014/main" id="{120C3913-28CE-2543-A0FC-D1DF1D6ED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981"/>
              <a:ext cx="2976" cy="27"/>
            </a:xfrm>
            <a:prstGeom prst="rect">
              <a:avLst/>
            </a:prstGeom>
            <a:solidFill>
              <a:srgbClr val="0000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1" name="Rectangle 512">
              <a:extLst>
                <a:ext uri="{FF2B5EF4-FFF2-40B4-BE49-F238E27FC236}">
                  <a16:creationId xmlns:a16="http://schemas.microsoft.com/office/drawing/2014/main" id="{1EDBFF56-F1E7-AD40-BC9A-1556443DC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008"/>
              <a:ext cx="2976" cy="3"/>
            </a:xfrm>
            <a:prstGeom prst="rect">
              <a:avLst/>
            </a:prstGeom>
            <a:solidFill>
              <a:srgbClr val="000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2" name="Rectangle 513">
              <a:extLst>
                <a:ext uri="{FF2B5EF4-FFF2-40B4-BE49-F238E27FC236}">
                  <a16:creationId xmlns:a16="http://schemas.microsoft.com/office/drawing/2014/main" id="{58266DB9-FCB1-5046-87C9-59AC747D0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011"/>
              <a:ext cx="2976" cy="18"/>
            </a:xfrm>
            <a:prstGeom prst="rect">
              <a:avLst/>
            </a:prstGeom>
            <a:solidFill>
              <a:srgbClr val="000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3" name="Rectangle 514">
              <a:extLst>
                <a:ext uri="{FF2B5EF4-FFF2-40B4-BE49-F238E27FC236}">
                  <a16:creationId xmlns:a16="http://schemas.microsoft.com/office/drawing/2014/main" id="{1B0CC6D7-CCA1-0B4D-98F9-F2A5CEF8A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029"/>
              <a:ext cx="2976" cy="24"/>
            </a:xfrm>
            <a:prstGeom prst="rect">
              <a:avLst/>
            </a:prstGeom>
            <a:solidFill>
              <a:srgbClr val="0000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4" name="Rectangle 515">
              <a:extLst>
                <a:ext uri="{FF2B5EF4-FFF2-40B4-BE49-F238E27FC236}">
                  <a16:creationId xmlns:a16="http://schemas.microsoft.com/office/drawing/2014/main" id="{4C58B1EF-DB8D-7944-AF6B-4D31AE8D9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053"/>
              <a:ext cx="2976" cy="20"/>
            </a:xfrm>
            <a:prstGeom prst="rect">
              <a:avLst/>
            </a:prstGeom>
            <a:solidFill>
              <a:srgbClr val="000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5" name="Rectangle 516">
              <a:extLst>
                <a:ext uri="{FF2B5EF4-FFF2-40B4-BE49-F238E27FC236}">
                  <a16:creationId xmlns:a16="http://schemas.microsoft.com/office/drawing/2014/main" id="{ADEAA2EC-61CD-3842-9135-5E84D1E50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073"/>
              <a:ext cx="2976" cy="30"/>
            </a:xfrm>
            <a:prstGeom prst="rect">
              <a:avLst/>
            </a:prstGeom>
            <a:solidFill>
              <a:srgbClr val="000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6" name="Rectangle 517">
              <a:extLst>
                <a:ext uri="{FF2B5EF4-FFF2-40B4-BE49-F238E27FC236}">
                  <a16:creationId xmlns:a16="http://schemas.microsoft.com/office/drawing/2014/main" id="{2A14EB8D-DBA0-F246-BAA1-28CF92DED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03"/>
              <a:ext cx="2976" cy="15"/>
            </a:xfrm>
            <a:prstGeom prst="rect">
              <a:avLst/>
            </a:prstGeom>
            <a:solidFill>
              <a:srgbClr val="0000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7" name="Rectangle 518">
              <a:extLst>
                <a:ext uri="{FF2B5EF4-FFF2-40B4-BE49-F238E27FC236}">
                  <a16:creationId xmlns:a16="http://schemas.microsoft.com/office/drawing/2014/main" id="{E2336406-E841-E645-86AE-685280C82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18"/>
              <a:ext cx="2976" cy="11"/>
            </a:xfrm>
            <a:prstGeom prst="rect">
              <a:avLst/>
            </a:prstGeom>
            <a:solidFill>
              <a:srgbClr val="0000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8" name="Rectangle 519">
              <a:extLst>
                <a:ext uri="{FF2B5EF4-FFF2-40B4-BE49-F238E27FC236}">
                  <a16:creationId xmlns:a16="http://schemas.microsoft.com/office/drawing/2014/main" id="{2B1F37D2-37B6-C14E-8FE2-998E9F821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29"/>
              <a:ext cx="2976" cy="27"/>
            </a:xfrm>
            <a:prstGeom prst="rect">
              <a:avLst/>
            </a:prstGeom>
            <a:solidFill>
              <a:srgbClr val="000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39" name="Rectangle 520">
              <a:extLst>
                <a:ext uri="{FF2B5EF4-FFF2-40B4-BE49-F238E27FC236}">
                  <a16:creationId xmlns:a16="http://schemas.microsoft.com/office/drawing/2014/main" id="{1A40AC16-5BBE-944A-8C42-49C2C0D3F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56"/>
              <a:ext cx="2976" cy="10"/>
            </a:xfrm>
            <a:prstGeom prst="rect">
              <a:avLst/>
            </a:prstGeom>
            <a:solidFill>
              <a:srgbClr val="0000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0" name="Rectangle 521">
              <a:extLst>
                <a:ext uri="{FF2B5EF4-FFF2-40B4-BE49-F238E27FC236}">
                  <a16:creationId xmlns:a16="http://schemas.microsoft.com/office/drawing/2014/main" id="{8E14878C-72E8-2244-AEF8-CE869307C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66"/>
              <a:ext cx="2976" cy="26"/>
            </a:xfrm>
            <a:prstGeom prst="rect">
              <a:avLst/>
            </a:prstGeom>
            <a:solidFill>
              <a:srgbClr val="0000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1" name="Rectangle 522">
              <a:extLst>
                <a:ext uri="{FF2B5EF4-FFF2-40B4-BE49-F238E27FC236}">
                  <a16:creationId xmlns:a16="http://schemas.microsoft.com/office/drawing/2014/main" id="{6F9EB8A2-848C-E842-9C47-A937DA34E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192"/>
              <a:ext cx="2976" cy="11"/>
            </a:xfrm>
            <a:prstGeom prst="rect">
              <a:avLst/>
            </a:prstGeom>
            <a:solidFill>
              <a:srgbClr val="000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2" name="Rectangle 523">
              <a:extLst>
                <a:ext uri="{FF2B5EF4-FFF2-40B4-BE49-F238E27FC236}">
                  <a16:creationId xmlns:a16="http://schemas.microsoft.com/office/drawing/2014/main" id="{2EFA9FE5-983D-2744-8F68-97244A981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03"/>
              <a:ext cx="2976" cy="18"/>
            </a:xfrm>
            <a:prstGeom prst="rect">
              <a:avLst/>
            </a:prstGeom>
            <a:solidFill>
              <a:srgbClr val="0000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3" name="Rectangle 524">
              <a:extLst>
                <a:ext uri="{FF2B5EF4-FFF2-40B4-BE49-F238E27FC236}">
                  <a16:creationId xmlns:a16="http://schemas.microsoft.com/office/drawing/2014/main" id="{07499926-CC63-8D46-BFB1-24D3ABCAD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21"/>
              <a:ext cx="2976" cy="18"/>
            </a:xfrm>
            <a:prstGeom prst="rect">
              <a:avLst/>
            </a:prstGeom>
            <a:solidFill>
              <a:srgbClr val="000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4" name="Rectangle 525">
              <a:extLst>
                <a:ext uri="{FF2B5EF4-FFF2-40B4-BE49-F238E27FC236}">
                  <a16:creationId xmlns:a16="http://schemas.microsoft.com/office/drawing/2014/main" id="{E52FD029-CC12-9749-9D53-0E8E50FD1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39"/>
              <a:ext cx="2976" cy="14"/>
            </a:xfrm>
            <a:prstGeom prst="rect">
              <a:avLst/>
            </a:prstGeom>
            <a:solidFill>
              <a:srgbClr val="00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5" name="Rectangle 526">
              <a:extLst>
                <a:ext uri="{FF2B5EF4-FFF2-40B4-BE49-F238E27FC236}">
                  <a16:creationId xmlns:a16="http://schemas.microsoft.com/office/drawing/2014/main" id="{037ABD56-2C09-AA41-ACAE-2B041A3D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53"/>
              <a:ext cx="2976" cy="23"/>
            </a:xfrm>
            <a:prstGeom prst="rect">
              <a:avLst/>
            </a:prstGeom>
            <a:solidFill>
              <a:srgbClr val="000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6" name="Rectangle 527">
              <a:extLst>
                <a:ext uri="{FF2B5EF4-FFF2-40B4-BE49-F238E27FC236}">
                  <a16:creationId xmlns:a16="http://schemas.microsoft.com/office/drawing/2014/main" id="{C9DBECF6-F72B-0D4B-950B-3B171C2E5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76"/>
              <a:ext cx="2976" cy="20"/>
            </a:xfrm>
            <a:prstGeom prst="rect">
              <a:avLst/>
            </a:prstGeom>
            <a:solidFill>
              <a:srgbClr val="000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7" name="Rectangle 528">
              <a:extLst>
                <a:ext uri="{FF2B5EF4-FFF2-40B4-BE49-F238E27FC236}">
                  <a16:creationId xmlns:a16="http://schemas.microsoft.com/office/drawing/2014/main" id="{F867E134-9F2C-2C47-A45A-A0E1E0D86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296"/>
              <a:ext cx="2976" cy="20"/>
            </a:xfrm>
            <a:prstGeom prst="rect">
              <a:avLst/>
            </a:prstGeom>
            <a:solidFill>
              <a:srgbClr val="000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8" name="Rectangle 529">
              <a:extLst>
                <a:ext uri="{FF2B5EF4-FFF2-40B4-BE49-F238E27FC236}">
                  <a16:creationId xmlns:a16="http://schemas.microsoft.com/office/drawing/2014/main" id="{80A747A4-9544-0044-BA89-D7BDD5C0D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316"/>
              <a:ext cx="2976" cy="15"/>
            </a:xfrm>
            <a:prstGeom prst="rect">
              <a:avLst/>
            </a:prstGeom>
            <a:solidFill>
              <a:srgbClr val="00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49" name="Rectangle 530">
              <a:extLst>
                <a:ext uri="{FF2B5EF4-FFF2-40B4-BE49-F238E27FC236}">
                  <a16:creationId xmlns:a16="http://schemas.microsoft.com/office/drawing/2014/main" id="{42A80E4D-DE86-6947-B21E-76576955C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331"/>
              <a:ext cx="2976" cy="18"/>
            </a:xfrm>
            <a:prstGeom prst="rect">
              <a:avLst/>
            </a:prstGeom>
            <a:solidFill>
              <a:srgbClr val="00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0" name="Rectangle 531">
              <a:extLst>
                <a:ext uri="{FF2B5EF4-FFF2-40B4-BE49-F238E27FC236}">
                  <a16:creationId xmlns:a16="http://schemas.microsoft.com/office/drawing/2014/main" id="{C029621E-36DF-5343-851B-5F95BEB54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349"/>
              <a:ext cx="2976" cy="19"/>
            </a:xfrm>
            <a:prstGeom prst="rect">
              <a:avLst/>
            </a:prstGeom>
            <a:solidFill>
              <a:srgbClr val="0000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1" name="Rectangle 532">
              <a:extLst>
                <a:ext uri="{FF2B5EF4-FFF2-40B4-BE49-F238E27FC236}">
                  <a16:creationId xmlns:a16="http://schemas.microsoft.com/office/drawing/2014/main" id="{A8506942-CF62-4047-8CE1-1CA712C06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368"/>
              <a:ext cx="2976" cy="18"/>
            </a:xfrm>
            <a:prstGeom prst="rect">
              <a:avLst/>
            </a:prstGeom>
            <a:solidFill>
              <a:srgbClr val="0000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2" name="Rectangle 533">
              <a:extLst>
                <a:ext uri="{FF2B5EF4-FFF2-40B4-BE49-F238E27FC236}">
                  <a16:creationId xmlns:a16="http://schemas.microsoft.com/office/drawing/2014/main" id="{DE203375-63E3-D249-998C-B12E08758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386"/>
              <a:ext cx="2976" cy="20"/>
            </a:xfrm>
            <a:prstGeom prst="rect">
              <a:avLst/>
            </a:prstGeom>
            <a:solidFill>
              <a:srgbClr val="000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3" name="Rectangle 534">
              <a:extLst>
                <a:ext uri="{FF2B5EF4-FFF2-40B4-BE49-F238E27FC236}">
                  <a16:creationId xmlns:a16="http://schemas.microsoft.com/office/drawing/2014/main" id="{CC0B6119-1BC2-1347-8725-0D2141617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406"/>
              <a:ext cx="2976" cy="20"/>
            </a:xfrm>
            <a:prstGeom prst="rect">
              <a:avLst/>
            </a:prstGeom>
            <a:solidFill>
              <a:srgbClr val="0000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4" name="Rectangle 535">
              <a:extLst>
                <a:ext uri="{FF2B5EF4-FFF2-40B4-BE49-F238E27FC236}">
                  <a16:creationId xmlns:a16="http://schemas.microsoft.com/office/drawing/2014/main" id="{A3494AA1-A1BF-4545-9A3B-4AC04A6B2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426"/>
              <a:ext cx="2976" cy="13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5" name="Rectangle 536">
              <a:extLst>
                <a:ext uri="{FF2B5EF4-FFF2-40B4-BE49-F238E27FC236}">
                  <a16:creationId xmlns:a16="http://schemas.microsoft.com/office/drawing/2014/main" id="{DA618DAC-D135-7642-B69D-4EB2BD41A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439"/>
              <a:ext cx="2976" cy="25"/>
            </a:xfrm>
            <a:prstGeom prst="rect">
              <a:avLst/>
            </a:prstGeom>
            <a:solidFill>
              <a:srgbClr val="00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6" name="Rectangle 537">
              <a:extLst>
                <a:ext uri="{FF2B5EF4-FFF2-40B4-BE49-F238E27FC236}">
                  <a16:creationId xmlns:a16="http://schemas.microsoft.com/office/drawing/2014/main" id="{2461DD19-F706-CD47-80E0-B7DF622D0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464"/>
              <a:ext cx="2976" cy="14"/>
            </a:xfrm>
            <a:prstGeom prst="rect">
              <a:avLst/>
            </a:prstGeom>
            <a:solidFill>
              <a:srgbClr val="0000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7" name="Rectangle 538">
              <a:extLst>
                <a:ext uri="{FF2B5EF4-FFF2-40B4-BE49-F238E27FC236}">
                  <a16:creationId xmlns:a16="http://schemas.microsoft.com/office/drawing/2014/main" id="{086E97D0-70A5-F448-8A91-2FBDDF057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478"/>
              <a:ext cx="2976" cy="24"/>
            </a:xfrm>
            <a:prstGeom prst="rect">
              <a:avLst/>
            </a:prstGeom>
            <a:solidFill>
              <a:srgbClr val="000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8" name="Rectangle 539">
              <a:extLst>
                <a:ext uri="{FF2B5EF4-FFF2-40B4-BE49-F238E27FC236}">
                  <a16:creationId xmlns:a16="http://schemas.microsoft.com/office/drawing/2014/main" id="{9DFCBFB3-1D88-274C-BBEB-582310491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502"/>
              <a:ext cx="2976" cy="20"/>
            </a:xfrm>
            <a:prstGeom prst="rect">
              <a:avLst/>
            </a:prstGeom>
            <a:solidFill>
              <a:srgbClr val="0000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59" name="Rectangle 540">
              <a:extLst>
                <a:ext uri="{FF2B5EF4-FFF2-40B4-BE49-F238E27FC236}">
                  <a16:creationId xmlns:a16="http://schemas.microsoft.com/office/drawing/2014/main" id="{A16C2411-8F57-6548-99F5-50176154B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522"/>
              <a:ext cx="2976" cy="23"/>
            </a:xfrm>
            <a:prstGeom prst="rect">
              <a:avLst/>
            </a:prstGeom>
            <a:solidFill>
              <a:srgbClr val="000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0" name="Rectangle 541">
              <a:extLst>
                <a:ext uri="{FF2B5EF4-FFF2-40B4-BE49-F238E27FC236}">
                  <a16:creationId xmlns:a16="http://schemas.microsoft.com/office/drawing/2014/main" id="{029230AD-193B-7F47-9138-0439EC4BE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545"/>
              <a:ext cx="2976" cy="18"/>
            </a:xfrm>
            <a:prstGeom prst="rect">
              <a:avLst/>
            </a:prstGeom>
            <a:solidFill>
              <a:srgbClr val="0000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1" name="Rectangle 542">
              <a:extLst>
                <a:ext uri="{FF2B5EF4-FFF2-40B4-BE49-F238E27FC236}">
                  <a16:creationId xmlns:a16="http://schemas.microsoft.com/office/drawing/2014/main" id="{7709B317-5594-9245-AA92-2602082ED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563"/>
              <a:ext cx="2976" cy="25"/>
            </a:xfrm>
            <a:prstGeom prst="rect">
              <a:avLst/>
            </a:prstGeom>
            <a:solidFill>
              <a:srgbClr val="0000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2" name="Rectangle 543">
              <a:extLst>
                <a:ext uri="{FF2B5EF4-FFF2-40B4-BE49-F238E27FC236}">
                  <a16:creationId xmlns:a16="http://schemas.microsoft.com/office/drawing/2014/main" id="{1123C0AB-7755-C940-B4DB-803E4C940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588"/>
              <a:ext cx="2976" cy="24"/>
            </a:xfrm>
            <a:prstGeom prst="rect">
              <a:avLst/>
            </a:prstGeom>
            <a:solidFill>
              <a:srgbClr val="000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3" name="Rectangle 544">
              <a:extLst>
                <a:ext uri="{FF2B5EF4-FFF2-40B4-BE49-F238E27FC236}">
                  <a16:creationId xmlns:a16="http://schemas.microsoft.com/office/drawing/2014/main" id="{3656FEA5-DD81-2E4F-BA2B-7EDA26E2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612"/>
              <a:ext cx="2976" cy="23"/>
            </a:xfrm>
            <a:prstGeom prst="rect">
              <a:avLst/>
            </a:prstGeom>
            <a:solidFill>
              <a:srgbClr val="000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4" name="Rectangle 545">
              <a:extLst>
                <a:ext uri="{FF2B5EF4-FFF2-40B4-BE49-F238E27FC236}">
                  <a16:creationId xmlns:a16="http://schemas.microsoft.com/office/drawing/2014/main" id="{9419EBD5-E8D9-7146-97E8-E2644155A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635"/>
              <a:ext cx="2976" cy="29"/>
            </a:xfrm>
            <a:prstGeom prst="rect">
              <a:avLst/>
            </a:prstGeom>
            <a:solidFill>
              <a:srgbClr val="000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5" name="Rectangle 546">
              <a:extLst>
                <a:ext uri="{FF2B5EF4-FFF2-40B4-BE49-F238E27FC236}">
                  <a16:creationId xmlns:a16="http://schemas.microsoft.com/office/drawing/2014/main" id="{97274461-CCCD-A145-B8F0-96C429048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664"/>
              <a:ext cx="2976" cy="23"/>
            </a:xfrm>
            <a:prstGeom prst="rect">
              <a:avLst/>
            </a:prstGeom>
            <a:solidFill>
              <a:srgbClr val="0000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6" name="Rectangle 547">
              <a:extLst>
                <a:ext uri="{FF2B5EF4-FFF2-40B4-BE49-F238E27FC236}">
                  <a16:creationId xmlns:a16="http://schemas.microsoft.com/office/drawing/2014/main" id="{0ADBFFD7-4C68-AC4C-BC65-7EC627DCB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687"/>
              <a:ext cx="2976" cy="35"/>
            </a:xfrm>
            <a:prstGeom prst="rect">
              <a:avLst/>
            </a:prstGeom>
            <a:solidFill>
              <a:srgbClr val="00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7" name="Rectangle 548">
              <a:extLst>
                <a:ext uri="{FF2B5EF4-FFF2-40B4-BE49-F238E27FC236}">
                  <a16:creationId xmlns:a16="http://schemas.microsoft.com/office/drawing/2014/main" id="{1A98AE4F-FCFC-9746-A402-65FB36B77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722"/>
              <a:ext cx="2976" cy="32"/>
            </a:xfrm>
            <a:prstGeom prst="rect">
              <a:avLst/>
            </a:prstGeom>
            <a:solidFill>
              <a:srgbClr val="000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8" name="Rectangle 549">
              <a:extLst>
                <a:ext uri="{FF2B5EF4-FFF2-40B4-BE49-F238E27FC236}">
                  <a16:creationId xmlns:a16="http://schemas.microsoft.com/office/drawing/2014/main" id="{39373EF1-D119-5543-AB77-0DC20E115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754"/>
              <a:ext cx="2976" cy="34"/>
            </a:xfrm>
            <a:prstGeom prst="rect">
              <a:avLst/>
            </a:prstGeom>
            <a:solidFill>
              <a:srgbClr val="000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69" name="Rectangle 550">
              <a:extLst>
                <a:ext uri="{FF2B5EF4-FFF2-40B4-BE49-F238E27FC236}">
                  <a16:creationId xmlns:a16="http://schemas.microsoft.com/office/drawing/2014/main" id="{3E632941-F8B5-A044-97D0-CC7DB7D9F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788"/>
              <a:ext cx="2976" cy="47"/>
            </a:xfrm>
            <a:prstGeom prst="rect">
              <a:avLst/>
            </a:prstGeom>
            <a:solidFill>
              <a:srgbClr val="000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70" name="Rectangle 551">
              <a:extLst>
                <a:ext uri="{FF2B5EF4-FFF2-40B4-BE49-F238E27FC236}">
                  <a16:creationId xmlns:a16="http://schemas.microsoft.com/office/drawing/2014/main" id="{76F25286-53F5-124E-8199-D957FC898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835"/>
              <a:ext cx="2976" cy="49"/>
            </a:xfrm>
            <a:prstGeom prst="rect">
              <a:avLst/>
            </a:prstGeom>
            <a:solidFill>
              <a:srgbClr val="00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71" name="Rectangle 552">
              <a:extLst>
                <a:ext uri="{FF2B5EF4-FFF2-40B4-BE49-F238E27FC236}">
                  <a16:creationId xmlns:a16="http://schemas.microsoft.com/office/drawing/2014/main" id="{F6E43922-53C0-1749-A38E-EE3DE9F37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884"/>
              <a:ext cx="2976" cy="67"/>
            </a:xfrm>
            <a:prstGeom prst="rect">
              <a:avLst/>
            </a:prstGeom>
            <a:solidFill>
              <a:srgbClr val="000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72" name="Rectangle 553">
              <a:extLst>
                <a:ext uri="{FF2B5EF4-FFF2-40B4-BE49-F238E27FC236}">
                  <a16:creationId xmlns:a16="http://schemas.microsoft.com/office/drawing/2014/main" id="{2CE6AFDA-D798-8748-9A1D-8DC684F42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3951"/>
              <a:ext cx="2976" cy="75"/>
            </a:xfrm>
            <a:prstGeom prst="rect">
              <a:avLst/>
            </a:prstGeom>
            <a:solidFill>
              <a:srgbClr val="0000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73" name="Rectangle 554">
              <a:extLst>
                <a:ext uri="{FF2B5EF4-FFF2-40B4-BE49-F238E27FC236}">
                  <a16:creationId xmlns:a16="http://schemas.microsoft.com/office/drawing/2014/main" id="{5AE8923B-A6AD-1F48-B691-5C8411D0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4026"/>
              <a:ext cx="2976" cy="130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13318" name="Group 574">
            <a:extLst>
              <a:ext uri="{FF2B5EF4-FFF2-40B4-BE49-F238E27FC236}">
                <a16:creationId xmlns:a16="http://schemas.microsoft.com/office/drawing/2014/main" id="{4DA31011-074A-9247-BD7E-A6D442AE8A97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2439988"/>
            <a:ext cx="7507287" cy="1265237"/>
            <a:chOff x="543" y="1537"/>
            <a:chExt cx="4729" cy="797"/>
          </a:xfrm>
        </p:grpSpPr>
        <p:sp>
          <p:nvSpPr>
            <p:cNvPr id="13708" name="Rectangle 556">
              <a:extLst>
                <a:ext uri="{FF2B5EF4-FFF2-40B4-BE49-F238E27FC236}">
                  <a16:creationId xmlns:a16="http://schemas.microsoft.com/office/drawing/2014/main" id="{123FF2C0-3D14-0148-BB1B-80E3AEFC6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537"/>
              <a:ext cx="471" cy="797"/>
            </a:xfrm>
            <a:prstGeom prst="rect">
              <a:avLst/>
            </a:prstGeom>
            <a:solidFill>
              <a:srgbClr val="00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9" name="Rectangle 557">
              <a:extLst>
                <a:ext uri="{FF2B5EF4-FFF2-40B4-BE49-F238E27FC236}">
                  <a16:creationId xmlns:a16="http://schemas.microsoft.com/office/drawing/2014/main" id="{ABC8DDFE-1778-8344-A646-6FC93965F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" y="1537"/>
              <a:ext cx="387" cy="797"/>
            </a:xfrm>
            <a:prstGeom prst="rect">
              <a:avLst/>
            </a:prstGeom>
            <a:solidFill>
              <a:srgbClr val="0000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0" name="Rectangle 558">
              <a:extLst>
                <a:ext uri="{FF2B5EF4-FFF2-40B4-BE49-F238E27FC236}">
                  <a16:creationId xmlns:a16="http://schemas.microsoft.com/office/drawing/2014/main" id="{37D2CB36-5FEC-084F-A625-FCA59D7F6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1537"/>
              <a:ext cx="276" cy="797"/>
            </a:xfrm>
            <a:prstGeom prst="rect">
              <a:avLst/>
            </a:prstGeom>
            <a:solidFill>
              <a:srgbClr val="0000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1" name="Rectangle 559">
              <a:extLst>
                <a:ext uri="{FF2B5EF4-FFF2-40B4-BE49-F238E27FC236}">
                  <a16:creationId xmlns:a16="http://schemas.microsoft.com/office/drawing/2014/main" id="{93DFC524-0285-104C-9D73-9F4B121D7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537"/>
              <a:ext cx="222" cy="797"/>
            </a:xfrm>
            <a:prstGeom prst="rect">
              <a:avLst/>
            </a:prstGeom>
            <a:solidFill>
              <a:srgbClr val="0000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2" name="Rectangle 560">
              <a:extLst>
                <a:ext uri="{FF2B5EF4-FFF2-40B4-BE49-F238E27FC236}">
                  <a16:creationId xmlns:a16="http://schemas.microsoft.com/office/drawing/2014/main" id="{B20296C3-51AC-8D45-8824-0823521B1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1537"/>
              <a:ext cx="185" cy="797"/>
            </a:xfrm>
            <a:prstGeom prst="rect">
              <a:avLst/>
            </a:prstGeom>
            <a:solidFill>
              <a:srgbClr val="0000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3" name="Rectangle 561">
              <a:extLst>
                <a:ext uri="{FF2B5EF4-FFF2-40B4-BE49-F238E27FC236}">
                  <a16:creationId xmlns:a16="http://schemas.microsoft.com/office/drawing/2014/main" id="{ECC0582C-722D-DD4E-96E0-4A4A57D05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1537"/>
              <a:ext cx="166" cy="797"/>
            </a:xfrm>
            <a:prstGeom prst="rect">
              <a:avLst/>
            </a:prstGeom>
            <a:solidFill>
              <a:srgbClr val="0000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4" name="Rectangle 562">
              <a:extLst>
                <a:ext uri="{FF2B5EF4-FFF2-40B4-BE49-F238E27FC236}">
                  <a16:creationId xmlns:a16="http://schemas.microsoft.com/office/drawing/2014/main" id="{C3B45821-443F-9444-86EE-A1D53D818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1537"/>
              <a:ext cx="202" cy="797"/>
            </a:xfrm>
            <a:prstGeom prst="rect">
              <a:avLst/>
            </a:prstGeom>
            <a:solidFill>
              <a:srgbClr val="00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5" name="Rectangle 563">
              <a:extLst>
                <a:ext uri="{FF2B5EF4-FFF2-40B4-BE49-F238E27FC236}">
                  <a16:creationId xmlns:a16="http://schemas.microsoft.com/office/drawing/2014/main" id="{C3BAE7B2-A2D5-0445-B98F-8A33D6460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537"/>
              <a:ext cx="148" cy="797"/>
            </a:xfrm>
            <a:prstGeom prst="rect">
              <a:avLst/>
            </a:prstGeom>
            <a:solidFill>
              <a:srgbClr val="000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6" name="Rectangle 564">
              <a:extLst>
                <a:ext uri="{FF2B5EF4-FFF2-40B4-BE49-F238E27FC236}">
                  <a16:creationId xmlns:a16="http://schemas.microsoft.com/office/drawing/2014/main" id="{4179C199-C6DF-2441-A332-EA8CA7BF2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1537"/>
              <a:ext cx="186" cy="797"/>
            </a:xfrm>
            <a:prstGeom prst="rect">
              <a:avLst/>
            </a:prstGeom>
            <a:solidFill>
              <a:srgbClr val="0000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7" name="Rectangle 565">
              <a:extLst>
                <a:ext uri="{FF2B5EF4-FFF2-40B4-BE49-F238E27FC236}">
                  <a16:creationId xmlns:a16="http://schemas.microsoft.com/office/drawing/2014/main" id="{FB1345C4-AEC2-FE4F-AC7E-048FA681B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537"/>
              <a:ext cx="166" cy="797"/>
            </a:xfrm>
            <a:prstGeom prst="rect">
              <a:avLst/>
            </a:prstGeom>
            <a:solidFill>
              <a:srgbClr val="0000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8" name="Rectangle 566">
              <a:extLst>
                <a:ext uri="{FF2B5EF4-FFF2-40B4-BE49-F238E27FC236}">
                  <a16:creationId xmlns:a16="http://schemas.microsoft.com/office/drawing/2014/main" id="{30C95AAE-D8CE-BC41-8909-F5BF3024A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1537"/>
              <a:ext cx="183" cy="797"/>
            </a:xfrm>
            <a:prstGeom prst="rect">
              <a:avLst/>
            </a:prstGeom>
            <a:solidFill>
              <a:srgbClr val="0000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19" name="Rectangle 567">
              <a:extLst>
                <a:ext uri="{FF2B5EF4-FFF2-40B4-BE49-F238E27FC236}">
                  <a16:creationId xmlns:a16="http://schemas.microsoft.com/office/drawing/2014/main" id="{7504934A-D6B2-724C-A2AB-62C6B2E3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1537"/>
              <a:ext cx="186" cy="797"/>
            </a:xfrm>
            <a:prstGeom prst="rect">
              <a:avLst/>
            </a:prstGeom>
            <a:solidFill>
              <a:srgbClr val="000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0" name="Rectangle 568">
              <a:extLst>
                <a:ext uri="{FF2B5EF4-FFF2-40B4-BE49-F238E27FC236}">
                  <a16:creationId xmlns:a16="http://schemas.microsoft.com/office/drawing/2014/main" id="{E2FCAED0-22C3-A54C-BD22-41268E7F5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" y="1537"/>
              <a:ext cx="184" cy="797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1" name="Rectangle 569">
              <a:extLst>
                <a:ext uri="{FF2B5EF4-FFF2-40B4-BE49-F238E27FC236}">
                  <a16:creationId xmlns:a16="http://schemas.microsoft.com/office/drawing/2014/main" id="{3595733A-BA82-6A48-88EB-B4DFD32A4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" y="1537"/>
              <a:ext cx="222" cy="797"/>
            </a:xfrm>
            <a:prstGeom prst="rect">
              <a:avLst/>
            </a:prstGeom>
            <a:solidFill>
              <a:srgbClr val="0000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2" name="Rectangle 570">
              <a:extLst>
                <a:ext uri="{FF2B5EF4-FFF2-40B4-BE49-F238E27FC236}">
                  <a16:creationId xmlns:a16="http://schemas.microsoft.com/office/drawing/2014/main" id="{39007D90-0D12-084F-86F6-8675C4777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1537"/>
              <a:ext cx="276" cy="797"/>
            </a:xfrm>
            <a:prstGeom prst="rect">
              <a:avLst/>
            </a:prstGeom>
            <a:solidFill>
              <a:srgbClr val="000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3" name="Rectangle 571">
              <a:extLst>
                <a:ext uri="{FF2B5EF4-FFF2-40B4-BE49-F238E27FC236}">
                  <a16:creationId xmlns:a16="http://schemas.microsoft.com/office/drawing/2014/main" id="{49DCAA89-75CE-8448-A7D0-466AFAC67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" y="1537"/>
              <a:ext cx="389" cy="797"/>
            </a:xfrm>
            <a:prstGeom prst="rect">
              <a:avLst/>
            </a:prstGeom>
            <a:solidFill>
              <a:srgbClr val="0000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4" name="Rectangle 572">
              <a:extLst>
                <a:ext uri="{FF2B5EF4-FFF2-40B4-BE49-F238E27FC236}">
                  <a16:creationId xmlns:a16="http://schemas.microsoft.com/office/drawing/2014/main" id="{9F0EF4AA-BC64-BC4A-990B-C7E443B84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1537"/>
              <a:ext cx="534" cy="797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25" name="Rectangle 573">
              <a:extLst>
                <a:ext uri="{FF2B5EF4-FFF2-40B4-BE49-F238E27FC236}">
                  <a16:creationId xmlns:a16="http://schemas.microsoft.com/office/drawing/2014/main" id="{AFED1F87-3174-E448-BC1D-07FD21648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6" y="1537"/>
              <a:ext cx="346" cy="797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13319" name="Group 593">
            <a:extLst>
              <a:ext uri="{FF2B5EF4-FFF2-40B4-BE49-F238E27FC236}">
                <a16:creationId xmlns:a16="http://schemas.microsoft.com/office/drawing/2014/main" id="{9182B0CA-22AC-6847-8358-0462F0F2A65E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954088"/>
            <a:ext cx="3760787" cy="374650"/>
            <a:chOff x="543" y="601"/>
            <a:chExt cx="2369" cy="236"/>
          </a:xfrm>
        </p:grpSpPr>
        <p:sp>
          <p:nvSpPr>
            <p:cNvPr id="13690" name="Rectangle 575">
              <a:extLst>
                <a:ext uri="{FF2B5EF4-FFF2-40B4-BE49-F238E27FC236}">
                  <a16:creationId xmlns:a16="http://schemas.microsoft.com/office/drawing/2014/main" id="{2F5FE37A-7349-2744-85FF-7CB319867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601"/>
              <a:ext cx="234" cy="236"/>
            </a:xfrm>
            <a:prstGeom prst="rect">
              <a:avLst/>
            </a:prstGeom>
            <a:solidFill>
              <a:srgbClr val="00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1" name="Rectangle 576">
              <a:extLst>
                <a:ext uri="{FF2B5EF4-FFF2-40B4-BE49-F238E27FC236}">
                  <a16:creationId xmlns:a16="http://schemas.microsoft.com/office/drawing/2014/main" id="{0BA25756-1AF0-0748-A3A5-5D4CD7709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" y="601"/>
              <a:ext cx="195" cy="236"/>
            </a:xfrm>
            <a:prstGeom prst="rect">
              <a:avLst/>
            </a:prstGeom>
            <a:solidFill>
              <a:srgbClr val="0000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2" name="Rectangle 577">
              <a:extLst>
                <a:ext uri="{FF2B5EF4-FFF2-40B4-BE49-F238E27FC236}">
                  <a16:creationId xmlns:a16="http://schemas.microsoft.com/office/drawing/2014/main" id="{709815AF-4268-F14B-9BA4-29E904B36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601"/>
              <a:ext cx="139" cy="236"/>
            </a:xfrm>
            <a:prstGeom prst="rect">
              <a:avLst/>
            </a:prstGeom>
            <a:solidFill>
              <a:srgbClr val="0000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3" name="Rectangle 578">
              <a:extLst>
                <a:ext uri="{FF2B5EF4-FFF2-40B4-BE49-F238E27FC236}">
                  <a16:creationId xmlns:a16="http://schemas.microsoft.com/office/drawing/2014/main" id="{E4BCB878-2CDF-EE49-8CBD-4727CFFE7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601"/>
              <a:ext cx="110" cy="236"/>
            </a:xfrm>
            <a:prstGeom prst="rect">
              <a:avLst/>
            </a:prstGeom>
            <a:solidFill>
              <a:srgbClr val="0000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4" name="Rectangle 579">
              <a:extLst>
                <a:ext uri="{FF2B5EF4-FFF2-40B4-BE49-F238E27FC236}">
                  <a16:creationId xmlns:a16="http://schemas.microsoft.com/office/drawing/2014/main" id="{A74E9295-EC81-1D48-8A67-2EA490B1A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1" y="601"/>
              <a:ext cx="94" cy="236"/>
            </a:xfrm>
            <a:prstGeom prst="rect">
              <a:avLst/>
            </a:prstGeom>
            <a:solidFill>
              <a:srgbClr val="0000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5" name="Rectangle 580">
              <a:extLst>
                <a:ext uri="{FF2B5EF4-FFF2-40B4-BE49-F238E27FC236}">
                  <a16:creationId xmlns:a16="http://schemas.microsoft.com/office/drawing/2014/main" id="{BFDD261E-9233-9C4A-9D29-48FE4DC76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601"/>
              <a:ext cx="83" cy="236"/>
            </a:xfrm>
            <a:prstGeom prst="rect">
              <a:avLst/>
            </a:prstGeom>
            <a:solidFill>
              <a:srgbClr val="0000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6" name="Rectangle 581">
              <a:extLst>
                <a:ext uri="{FF2B5EF4-FFF2-40B4-BE49-F238E27FC236}">
                  <a16:creationId xmlns:a16="http://schemas.microsoft.com/office/drawing/2014/main" id="{4A3D9ED4-823F-D64F-977E-9C7E63A82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601"/>
              <a:ext cx="100" cy="236"/>
            </a:xfrm>
            <a:prstGeom prst="rect">
              <a:avLst/>
            </a:prstGeom>
            <a:solidFill>
              <a:srgbClr val="00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7" name="Rectangle 582">
              <a:extLst>
                <a:ext uri="{FF2B5EF4-FFF2-40B4-BE49-F238E27FC236}">
                  <a16:creationId xmlns:a16="http://schemas.microsoft.com/office/drawing/2014/main" id="{31BF9FA6-5DF2-1F40-83DB-8BF14E6B3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601"/>
              <a:ext cx="74" cy="236"/>
            </a:xfrm>
            <a:prstGeom prst="rect">
              <a:avLst/>
            </a:prstGeom>
            <a:solidFill>
              <a:srgbClr val="000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8" name="Rectangle 583">
              <a:extLst>
                <a:ext uri="{FF2B5EF4-FFF2-40B4-BE49-F238E27FC236}">
                  <a16:creationId xmlns:a16="http://schemas.microsoft.com/office/drawing/2014/main" id="{7BD9C946-3ACF-254F-8E61-7F1EBB8DC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601"/>
              <a:ext cx="92" cy="236"/>
            </a:xfrm>
            <a:prstGeom prst="rect">
              <a:avLst/>
            </a:prstGeom>
            <a:solidFill>
              <a:srgbClr val="0000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99" name="Rectangle 584">
              <a:extLst>
                <a:ext uri="{FF2B5EF4-FFF2-40B4-BE49-F238E27FC236}">
                  <a16:creationId xmlns:a16="http://schemas.microsoft.com/office/drawing/2014/main" id="{30479255-A20D-944D-B6C6-34FFD0C87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601"/>
              <a:ext cx="83" cy="236"/>
            </a:xfrm>
            <a:prstGeom prst="rect">
              <a:avLst/>
            </a:prstGeom>
            <a:solidFill>
              <a:srgbClr val="0000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0" name="Rectangle 585">
              <a:extLst>
                <a:ext uri="{FF2B5EF4-FFF2-40B4-BE49-F238E27FC236}">
                  <a16:creationId xmlns:a16="http://schemas.microsoft.com/office/drawing/2014/main" id="{2997B619-B3A4-E14C-8E6D-2AFF2D48D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601"/>
              <a:ext cx="94" cy="236"/>
            </a:xfrm>
            <a:prstGeom prst="rect">
              <a:avLst/>
            </a:prstGeom>
            <a:solidFill>
              <a:srgbClr val="0000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1" name="Rectangle 586">
              <a:extLst>
                <a:ext uri="{FF2B5EF4-FFF2-40B4-BE49-F238E27FC236}">
                  <a16:creationId xmlns:a16="http://schemas.microsoft.com/office/drawing/2014/main" id="{F9F60FA1-89AB-9348-8CDA-3BCFF591D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" y="601"/>
              <a:ext cx="92" cy="236"/>
            </a:xfrm>
            <a:prstGeom prst="rect">
              <a:avLst/>
            </a:prstGeom>
            <a:solidFill>
              <a:srgbClr val="000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2" name="Rectangle 587">
              <a:extLst>
                <a:ext uri="{FF2B5EF4-FFF2-40B4-BE49-F238E27FC236}">
                  <a16:creationId xmlns:a16="http://schemas.microsoft.com/office/drawing/2014/main" id="{EEA51CD7-F545-6945-93B5-9C6009E0F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601"/>
              <a:ext cx="92" cy="236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3" name="Rectangle 588">
              <a:extLst>
                <a:ext uri="{FF2B5EF4-FFF2-40B4-BE49-F238E27FC236}">
                  <a16:creationId xmlns:a16="http://schemas.microsoft.com/office/drawing/2014/main" id="{370ACA23-940E-084A-AF1A-10C4F1649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" y="601"/>
              <a:ext cx="112" cy="236"/>
            </a:xfrm>
            <a:prstGeom prst="rect">
              <a:avLst/>
            </a:prstGeom>
            <a:solidFill>
              <a:srgbClr val="0000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4" name="Rectangle 589">
              <a:extLst>
                <a:ext uri="{FF2B5EF4-FFF2-40B4-BE49-F238E27FC236}">
                  <a16:creationId xmlns:a16="http://schemas.microsoft.com/office/drawing/2014/main" id="{80202866-2BBC-644D-9519-DF97AC5AB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601"/>
              <a:ext cx="139" cy="236"/>
            </a:xfrm>
            <a:prstGeom prst="rect">
              <a:avLst/>
            </a:prstGeom>
            <a:solidFill>
              <a:srgbClr val="000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5" name="Rectangle 590">
              <a:extLst>
                <a:ext uri="{FF2B5EF4-FFF2-40B4-BE49-F238E27FC236}">
                  <a16:creationId xmlns:a16="http://schemas.microsoft.com/office/drawing/2014/main" id="{1DA09D57-1FA2-C84A-90BF-454098D11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601"/>
              <a:ext cx="192" cy="236"/>
            </a:xfrm>
            <a:prstGeom prst="rect">
              <a:avLst/>
            </a:prstGeom>
            <a:solidFill>
              <a:srgbClr val="0000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6" name="Rectangle 591">
              <a:extLst>
                <a:ext uri="{FF2B5EF4-FFF2-40B4-BE49-F238E27FC236}">
                  <a16:creationId xmlns:a16="http://schemas.microsoft.com/office/drawing/2014/main" id="{F2BCF63A-6834-8E4F-8D0F-76A8212E6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601"/>
              <a:ext cx="269" cy="236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707" name="Rectangle 592">
              <a:extLst>
                <a:ext uri="{FF2B5EF4-FFF2-40B4-BE49-F238E27FC236}">
                  <a16:creationId xmlns:a16="http://schemas.microsoft.com/office/drawing/2014/main" id="{0CC7FF06-CF0F-B24D-B41F-026153A24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601"/>
              <a:ext cx="175" cy="236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pic>
        <p:nvPicPr>
          <p:cNvPr id="13320" name="Picture 595">
            <a:extLst>
              <a:ext uri="{FF2B5EF4-FFF2-40B4-BE49-F238E27FC236}">
                <a16:creationId xmlns:a16="http://schemas.microsoft.com/office/drawing/2014/main" id="{12605055-8CDC-FF4A-9145-9D18BCC6D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971550"/>
            <a:ext cx="377825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Rectangle 596">
            <a:extLst>
              <a:ext uri="{FF2B5EF4-FFF2-40B4-BE49-F238E27FC236}">
                <a16:creationId xmlns:a16="http://schemas.microsoft.com/office/drawing/2014/main" id="{70F8297F-6DA0-2E4D-9745-B846632A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1282700"/>
            <a:ext cx="346075" cy="2687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322" name="Group 600">
            <a:extLst>
              <a:ext uri="{FF2B5EF4-FFF2-40B4-BE49-F238E27FC236}">
                <a16:creationId xmlns:a16="http://schemas.microsoft.com/office/drawing/2014/main" id="{7A36AE50-7F99-3D48-B09C-CDDECB8E0CD7}"/>
              </a:ext>
            </a:extLst>
          </p:cNvPr>
          <p:cNvGrpSpPr>
            <a:grpSpLocks/>
          </p:cNvGrpSpPr>
          <p:nvPr/>
        </p:nvGrpSpPr>
        <p:grpSpPr bwMode="auto">
          <a:xfrm>
            <a:off x="860425" y="1655763"/>
            <a:ext cx="190500" cy="4940300"/>
            <a:chOff x="542" y="1043"/>
            <a:chExt cx="120" cy="3112"/>
          </a:xfrm>
        </p:grpSpPr>
        <p:sp>
          <p:nvSpPr>
            <p:cNvPr id="13687" name="Rectangle 597">
              <a:extLst>
                <a:ext uri="{FF2B5EF4-FFF2-40B4-BE49-F238E27FC236}">
                  <a16:creationId xmlns:a16="http://schemas.microsoft.com/office/drawing/2014/main" id="{DF2E32F5-5A87-CD4D-92C6-5F2D3D5D9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043"/>
              <a:ext cx="119" cy="3111"/>
            </a:xfrm>
            <a:prstGeom prst="rect">
              <a:avLst/>
            </a:prstGeom>
            <a:solidFill>
              <a:srgbClr val="A4A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pic>
          <p:nvPicPr>
            <p:cNvPr id="13688" name="Picture 598">
              <a:extLst>
                <a:ext uri="{FF2B5EF4-FFF2-40B4-BE49-F238E27FC236}">
                  <a16:creationId xmlns:a16="http://schemas.microsoft.com/office/drawing/2014/main" id="{EF1994E8-7AFF-6D4D-843A-3964203FE7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" y="1044"/>
              <a:ext cx="118" cy="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89" name="Rectangle 599">
              <a:extLst>
                <a:ext uri="{FF2B5EF4-FFF2-40B4-BE49-F238E27FC236}">
                  <a16:creationId xmlns:a16="http://schemas.microsoft.com/office/drawing/2014/main" id="{6A2F2CF5-8A11-B147-BAAB-1848437E5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043"/>
              <a:ext cx="119" cy="3111"/>
            </a:xfrm>
            <a:prstGeom prst="rect">
              <a:avLst/>
            </a:prstGeom>
            <a:solidFill>
              <a:srgbClr val="A4A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3323" name="Rectangle 601">
            <a:extLst>
              <a:ext uri="{FF2B5EF4-FFF2-40B4-BE49-F238E27FC236}">
                <a16:creationId xmlns:a16="http://schemas.microsoft.com/office/drawing/2014/main" id="{A63F09FE-59BB-1D4F-9F3A-C05EC6F81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532438"/>
            <a:ext cx="312738" cy="125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24" name="Rectangle 602">
            <a:extLst>
              <a:ext uri="{FF2B5EF4-FFF2-40B4-BE49-F238E27FC236}">
                <a16:creationId xmlns:a16="http://schemas.microsoft.com/office/drawing/2014/main" id="{2144DCF7-F6B0-224F-B9C2-615284EFB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845175"/>
            <a:ext cx="312738" cy="125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25" name="Rectangle 603">
            <a:extLst>
              <a:ext uri="{FF2B5EF4-FFF2-40B4-BE49-F238E27FC236}">
                <a16:creationId xmlns:a16="http://schemas.microsoft.com/office/drawing/2014/main" id="{6905B322-18C4-6D48-A787-B11C72F1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6157913"/>
            <a:ext cx="312738" cy="125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26" name="Oval 604">
            <a:extLst>
              <a:ext uri="{FF2B5EF4-FFF2-40B4-BE49-F238E27FC236}">
                <a16:creationId xmlns:a16="http://schemas.microsoft.com/office/drawing/2014/main" id="{68D800CF-88F7-2D44-AE92-9AEF11630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470400"/>
            <a:ext cx="374650" cy="750888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327" name="Group 675">
            <a:extLst>
              <a:ext uri="{FF2B5EF4-FFF2-40B4-BE49-F238E27FC236}">
                <a16:creationId xmlns:a16="http://schemas.microsoft.com/office/drawing/2014/main" id="{ADB115DE-5BE5-E045-B643-55A1A7D6CC60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971550"/>
            <a:ext cx="252412" cy="5626100"/>
            <a:chOff x="777" y="612"/>
            <a:chExt cx="159" cy="3544"/>
          </a:xfrm>
        </p:grpSpPr>
        <p:sp>
          <p:nvSpPr>
            <p:cNvPr id="13617" name="Rectangle 605">
              <a:extLst>
                <a:ext uri="{FF2B5EF4-FFF2-40B4-BE49-F238E27FC236}">
                  <a16:creationId xmlns:a16="http://schemas.microsoft.com/office/drawing/2014/main" id="{F0845263-B9FB-A24E-8F49-448598DF4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" y="612"/>
              <a:ext cx="2" cy="3544"/>
            </a:xfrm>
            <a:prstGeom prst="rect">
              <a:avLst/>
            </a:prstGeom>
            <a:solidFill>
              <a:srgbClr val="0000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8" name="Rectangle 606">
              <a:extLst>
                <a:ext uri="{FF2B5EF4-FFF2-40B4-BE49-F238E27FC236}">
                  <a16:creationId xmlns:a16="http://schemas.microsoft.com/office/drawing/2014/main" id="{22A4C994-2A90-B042-9FAB-B4EABFBD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" y="612"/>
              <a:ext cx="2" cy="3544"/>
            </a:xfrm>
            <a:prstGeom prst="rect">
              <a:avLst/>
            </a:prstGeom>
            <a:solidFill>
              <a:srgbClr val="0000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9" name="Rectangle 607">
              <a:extLst>
                <a:ext uri="{FF2B5EF4-FFF2-40B4-BE49-F238E27FC236}">
                  <a16:creationId xmlns:a16="http://schemas.microsoft.com/office/drawing/2014/main" id="{BCB8E47B-DB42-EF41-A612-8FA12C6B5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612"/>
              <a:ext cx="2" cy="3544"/>
            </a:xfrm>
            <a:prstGeom prst="rect">
              <a:avLst/>
            </a:prstGeom>
            <a:solidFill>
              <a:srgbClr val="0000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0" name="Rectangle 608">
              <a:extLst>
                <a:ext uri="{FF2B5EF4-FFF2-40B4-BE49-F238E27FC236}">
                  <a16:creationId xmlns:a16="http://schemas.microsoft.com/office/drawing/2014/main" id="{E5280698-A755-6147-981D-A221999DA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" y="612"/>
              <a:ext cx="2" cy="3544"/>
            </a:xfrm>
            <a:prstGeom prst="rect">
              <a:avLst/>
            </a:prstGeom>
            <a:solidFill>
              <a:srgbClr val="0000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1" name="Rectangle 609">
              <a:extLst>
                <a:ext uri="{FF2B5EF4-FFF2-40B4-BE49-F238E27FC236}">
                  <a16:creationId xmlns:a16="http://schemas.microsoft.com/office/drawing/2014/main" id="{B93AAB5C-AFA2-B74A-8456-325709831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" y="612"/>
              <a:ext cx="1" cy="3544"/>
            </a:xfrm>
            <a:prstGeom prst="rect">
              <a:avLst/>
            </a:prstGeom>
            <a:solidFill>
              <a:srgbClr val="0000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2" name="Rectangle 610">
              <a:extLst>
                <a:ext uri="{FF2B5EF4-FFF2-40B4-BE49-F238E27FC236}">
                  <a16:creationId xmlns:a16="http://schemas.microsoft.com/office/drawing/2014/main" id="{0B4CE5AE-872B-DC49-9152-0CA738E5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612"/>
              <a:ext cx="2" cy="3544"/>
            </a:xfrm>
            <a:prstGeom prst="rect">
              <a:avLst/>
            </a:prstGeom>
            <a:solidFill>
              <a:srgbClr val="000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3" name="Rectangle 611">
              <a:extLst>
                <a:ext uri="{FF2B5EF4-FFF2-40B4-BE49-F238E27FC236}">
                  <a16:creationId xmlns:a16="http://schemas.microsoft.com/office/drawing/2014/main" id="{9858F973-215D-174A-B760-DD898CB26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" y="612"/>
              <a:ext cx="2" cy="3544"/>
            </a:xfrm>
            <a:prstGeom prst="rect">
              <a:avLst/>
            </a:prstGeom>
            <a:solidFill>
              <a:srgbClr val="000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4" name="Rectangle 612">
              <a:extLst>
                <a:ext uri="{FF2B5EF4-FFF2-40B4-BE49-F238E27FC236}">
                  <a16:creationId xmlns:a16="http://schemas.microsoft.com/office/drawing/2014/main" id="{40CFFD77-1A69-9C48-8BCA-6FC4C9073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612"/>
              <a:ext cx="2" cy="3544"/>
            </a:xfrm>
            <a:prstGeom prst="rect">
              <a:avLst/>
            </a:prstGeom>
            <a:solidFill>
              <a:srgbClr val="000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5" name="Rectangle 613">
              <a:extLst>
                <a:ext uri="{FF2B5EF4-FFF2-40B4-BE49-F238E27FC236}">
                  <a16:creationId xmlns:a16="http://schemas.microsoft.com/office/drawing/2014/main" id="{EB72A3B1-8161-2541-937C-1545E22B9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612"/>
              <a:ext cx="2" cy="3544"/>
            </a:xfrm>
            <a:prstGeom prst="rect">
              <a:avLst/>
            </a:prstGeom>
            <a:solidFill>
              <a:srgbClr val="0000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6" name="Rectangle 614">
              <a:extLst>
                <a:ext uri="{FF2B5EF4-FFF2-40B4-BE49-F238E27FC236}">
                  <a16:creationId xmlns:a16="http://schemas.microsoft.com/office/drawing/2014/main" id="{1F5EB170-8107-3E49-8D43-E2A63AD9A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612"/>
              <a:ext cx="1" cy="3544"/>
            </a:xfrm>
            <a:prstGeom prst="rect">
              <a:avLst/>
            </a:prstGeom>
            <a:solidFill>
              <a:srgbClr val="0000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7" name="Rectangle 615">
              <a:extLst>
                <a:ext uri="{FF2B5EF4-FFF2-40B4-BE49-F238E27FC236}">
                  <a16:creationId xmlns:a16="http://schemas.microsoft.com/office/drawing/2014/main" id="{4DA26EC7-A9FA-EC44-BEFD-4DE8D8D31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612"/>
              <a:ext cx="2" cy="3544"/>
            </a:xfrm>
            <a:prstGeom prst="rect">
              <a:avLst/>
            </a:prstGeom>
            <a:solidFill>
              <a:srgbClr val="000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8" name="Rectangle 616">
              <a:extLst>
                <a:ext uri="{FF2B5EF4-FFF2-40B4-BE49-F238E27FC236}">
                  <a16:creationId xmlns:a16="http://schemas.microsoft.com/office/drawing/2014/main" id="{D4FEFE0A-3C81-844F-BF23-09CDD2E13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" y="612"/>
              <a:ext cx="2" cy="3544"/>
            </a:xfrm>
            <a:prstGeom prst="rect">
              <a:avLst/>
            </a:prstGeom>
            <a:solidFill>
              <a:srgbClr val="000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29" name="Rectangle 617">
              <a:extLst>
                <a:ext uri="{FF2B5EF4-FFF2-40B4-BE49-F238E27FC236}">
                  <a16:creationId xmlns:a16="http://schemas.microsoft.com/office/drawing/2014/main" id="{BBA616E5-9478-B145-939E-125EF3045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612"/>
              <a:ext cx="2" cy="3544"/>
            </a:xfrm>
            <a:prstGeom prst="rect">
              <a:avLst/>
            </a:prstGeom>
            <a:solidFill>
              <a:srgbClr val="000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0" name="Rectangle 618">
              <a:extLst>
                <a:ext uri="{FF2B5EF4-FFF2-40B4-BE49-F238E27FC236}">
                  <a16:creationId xmlns:a16="http://schemas.microsoft.com/office/drawing/2014/main" id="{25A1FDED-9E41-3349-9245-AEC02F2B1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" y="612"/>
              <a:ext cx="2" cy="3544"/>
            </a:xfrm>
            <a:prstGeom prst="rect">
              <a:avLst/>
            </a:prstGeom>
            <a:solidFill>
              <a:srgbClr val="0000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1" name="Rectangle 619">
              <a:extLst>
                <a:ext uri="{FF2B5EF4-FFF2-40B4-BE49-F238E27FC236}">
                  <a16:creationId xmlns:a16="http://schemas.microsoft.com/office/drawing/2014/main" id="{C8667EF8-7A6D-494C-AC0C-4CAACE89E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" y="612"/>
              <a:ext cx="1" cy="3544"/>
            </a:xfrm>
            <a:prstGeom prst="rect">
              <a:avLst/>
            </a:prstGeom>
            <a:solidFill>
              <a:srgbClr val="000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2" name="Rectangle 620">
              <a:extLst>
                <a:ext uri="{FF2B5EF4-FFF2-40B4-BE49-F238E27FC236}">
                  <a16:creationId xmlns:a16="http://schemas.microsoft.com/office/drawing/2014/main" id="{6DD80C88-B893-CA41-B67E-328636C58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612"/>
              <a:ext cx="2" cy="3544"/>
            </a:xfrm>
            <a:prstGeom prst="rect">
              <a:avLst/>
            </a:prstGeom>
            <a:solidFill>
              <a:srgbClr val="000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3" name="Rectangle 621">
              <a:extLst>
                <a:ext uri="{FF2B5EF4-FFF2-40B4-BE49-F238E27FC236}">
                  <a16:creationId xmlns:a16="http://schemas.microsoft.com/office/drawing/2014/main" id="{56D9D267-E2F9-6648-937A-9E3BC352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612"/>
              <a:ext cx="2" cy="3544"/>
            </a:xfrm>
            <a:prstGeom prst="rect">
              <a:avLst/>
            </a:prstGeom>
            <a:solidFill>
              <a:srgbClr val="0000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4" name="Rectangle 622">
              <a:extLst>
                <a:ext uri="{FF2B5EF4-FFF2-40B4-BE49-F238E27FC236}">
                  <a16:creationId xmlns:a16="http://schemas.microsoft.com/office/drawing/2014/main" id="{90725CFD-5205-0544-A370-C6790903D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612"/>
              <a:ext cx="2" cy="3544"/>
            </a:xfrm>
            <a:prstGeom prst="rect">
              <a:avLst/>
            </a:prstGeom>
            <a:solidFill>
              <a:srgbClr val="0000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5" name="Rectangle 623">
              <a:extLst>
                <a:ext uri="{FF2B5EF4-FFF2-40B4-BE49-F238E27FC236}">
                  <a16:creationId xmlns:a16="http://schemas.microsoft.com/office/drawing/2014/main" id="{D80FF438-E770-4D43-9F14-682479D40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612"/>
              <a:ext cx="2" cy="3544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6" name="Rectangle 624">
              <a:extLst>
                <a:ext uri="{FF2B5EF4-FFF2-40B4-BE49-F238E27FC236}">
                  <a16:creationId xmlns:a16="http://schemas.microsoft.com/office/drawing/2014/main" id="{12D3F811-BD07-0C45-98FF-F342EEEFB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" y="612"/>
              <a:ext cx="1" cy="3544"/>
            </a:xfrm>
            <a:prstGeom prst="rect">
              <a:avLst/>
            </a:prstGeom>
            <a:solidFill>
              <a:srgbClr val="000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7" name="Rectangle 625">
              <a:extLst>
                <a:ext uri="{FF2B5EF4-FFF2-40B4-BE49-F238E27FC236}">
                  <a16:creationId xmlns:a16="http://schemas.microsoft.com/office/drawing/2014/main" id="{9EC1AE6F-83CC-154E-9478-E0E763D48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612"/>
              <a:ext cx="2" cy="3544"/>
            </a:xfrm>
            <a:prstGeom prst="rect">
              <a:avLst/>
            </a:prstGeom>
            <a:solidFill>
              <a:srgbClr val="0000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8" name="Rectangle 626">
              <a:extLst>
                <a:ext uri="{FF2B5EF4-FFF2-40B4-BE49-F238E27FC236}">
                  <a16:creationId xmlns:a16="http://schemas.microsoft.com/office/drawing/2014/main" id="{2288F64E-E156-B044-996C-850FC2A86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" y="612"/>
              <a:ext cx="2" cy="3544"/>
            </a:xfrm>
            <a:prstGeom prst="rect">
              <a:avLst/>
            </a:prstGeom>
            <a:solidFill>
              <a:srgbClr val="000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39" name="Rectangle 627">
              <a:extLst>
                <a:ext uri="{FF2B5EF4-FFF2-40B4-BE49-F238E27FC236}">
                  <a16:creationId xmlns:a16="http://schemas.microsoft.com/office/drawing/2014/main" id="{CA8BFAA7-E17D-9C48-AC3A-70C97E006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612"/>
              <a:ext cx="2" cy="3544"/>
            </a:xfrm>
            <a:prstGeom prst="rect">
              <a:avLst/>
            </a:prstGeom>
            <a:solidFill>
              <a:srgbClr val="0000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0" name="Rectangle 628">
              <a:extLst>
                <a:ext uri="{FF2B5EF4-FFF2-40B4-BE49-F238E27FC236}">
                  <a16:creationId xmlns:a16="http://schemas.microsoft.com/office/drawing/2014/main" id="{D9B71CB9-43C4-9C46-B4F9-27BA28CC2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" y="612"/>
              <a:ext cx="2" cy="3544"/>
            </a:xfrm>
            <a:prstGeom prst="rect">
              <a:avLst/>
            </a:prstGeom>
            <a:solidFill>
              <a:srgbClr val="000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1" name="Rectangle 629">
              <a:extLst>
                <a:ext uri="{FF2B5EF4-FFF2-40B4-BE49-F238E27FC236}">
                  <a16:creationId xmlns:a16="http://schemas.microsoft.com/office/drawing/2014/main" id="{85D3A7B6-8A89-3044-9D7D-95F5F8E3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612"/>
              <a:ext cx="3" cy="3544"/>
            </a:xfrm>
            <a:prstGeom prst="rect">
              <a:avLst/>
            </a:prstGeom>
            <a:solidFill>
              <a:srgbClr val="00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2" name="Rectangle 630">
              <a:extLst>
                <a:ext uri="{FF2B5EF4-FFF2-40B4-BE49-F238E27FC236}">
                  <a16:creationId xmlns:a16="http://schemas.microsoft.com/office/drawing/2014/main" id="{8B447F43-3E88-4240-B1E1-443D23834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" y="612"/>
              <a:ext cx="2" cy="3544"/>
            </a:xfrm>
            <a:prstGeom prst="rect">
              <a:avLst/>
            </a:prstGeom>
            <a:solidFill>
              <a:srgbClr val="000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3" name="Rectangle 631">
              <a:extLst>
                <a:ext uri="{FF2B5EF4-FFF2-40B4-BE49-F238E27FC236}">
                  <a16:creationId xmlns:a16="http://schemas.microsoft.com/office/drawing/2014/main" id="{A1AAC367-04CB-194F-92A8-699C34668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612"/>
              <a:ext cx="2" cy="3544"/>
            </a:xfrm>
            <a:prstGeom prst="rect">
              <a:avLst/>
            </a:prstGeom>
            <a:solidFill>
              <a:srgbClr val="000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4" name="Rectangle 632">
              <a:extLst>
                <a:ext uri="{FF2B5EF4-FFF2-40B4-BE49-F238E27FC236}">
                  <a16:creationId xmlns:a16="http://schemas.microsoft.com/office/drawing/2014/main" id="{7A574CFA-3FA6-D841-AACB-490E08EEA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612"/>
              <a:ext cx="2" cy="3544"/>
            </a:xfrm>
            <a:prstGeom prst="rect">
              <a:avLst/>
            </a:prstGeom>
            <a:solidFill>
              <a:srgbClr val="00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5" name="Rectangle 633">
              <a:extLst>
                <a:ext uri="{FF2B5EF4-FFF2-40B4-BE49-F238E27FC236}">
                  <a16:creationId xmlns:a16="http://schemas.microsoft.com/office/drawing/2014/main" id="{E74F3DAC-C076-D64B-8458-4B4B08550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" y="612"/>
              <a:ext cx="1" cy="3544"/>
            </a:xfrm>
            <a:prstGeom prst="rect">
              <a:avLst/>
            </a:prstGeom>
            <a:solidFill>
              <a:srgbClr val="00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6" name="Rectangle 634">
              <a:extLst>
                <a:ext uri="{FF2B5EF4-FFF2-40B4-BE49-F238E27FC236}">
                  <a16:creationId xmlns:a16="http://schemas.microsoft.com/office/drawing/2014/main" id="{4512D8A4-1E63-5D41-A4F4-2763305D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" y="612"/>
              <a:ext cx="2" cy="3544"/>
            </a:xfrm>
            <a:prstGeom prst="rect">
              <a:avLst/>
            </a:prstGeom>
            <a:solidFill>
              <a:srgbClr val="0000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7" name="Rectangle 635">
              <a:extLst>
                <a:ext uri="{FF2B5EF4-FFF2-40B4-BE49-F238E27FC236}">
                  <a16:creationId xmlns:a16="http://schemas.microsoft.com/office/drawing/2014/main" id="{2315C996-B523-F14D-B4CE-0A1655812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" y="612"/>
              <a:ext cx="2" cy="3544"/>
            </a:xfrm>
            <a:prstGeom prst="rect">
              <a:avLst/>
            </a:prstGeom>
            <a:solidFill>
              <a:srgbClr val="000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8" name="Rectangle 636">
              <a:extLst>
                <a:ext uri="{FF2B5EF4-FFF2-40B4-BE49-F238E27FC236}">
                  <a16:creationId xmlns:a16="http://schemas.microsoft.com/office/drawing/2014/main" id="{BAC56DE1-5092-F347-8C6F-7C1149D3A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612"/>
              <a:ext cx="2" cy="3544"/>
            </a:xfrm>
            <a:prstGeom prst="rect">
              <a:avLst/>
            </a:prstGeom>
            <a:solidFill>
              <a:srgbClr val="000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49" name="Rectangle 637">
              <a:extLst>
                <a:ext uri="{FF2B5EF4-FFF2-40B4-BE49-F238E27FC236}">
                  <a16:creationId xmlns:a16="http://schemas.microsoft.com/office/drawing/2014/main" id="{E2A51276-18E9-E641-9489-7711D9832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" y="612"/>
              <a:ext cx="2" cy="3544"/>
            </a:xfrm>
            <a:prstGeom prst="rect">
              <a:avLst/>
            </a:prstGeom>
            <a:solidFill>
              <a:srgbClr val="000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0" name="Rectangle 638">
              <a:extLst>
                <a:ext uri="{FF2B5EF4-FFF2-40B4-BE49-F238E27FC236}">
                  <a16:creationId xmlns:a16="http://schemas.microsoft.com/office/drawing/2014/main" id="{318A484C-9B0D-874F-AC9B-4713C8D9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612"/>
              <a:ext cx="1" cy="3544"/>
            </a:xfrm>
            <a:prstGeom prst="rect">
              <a:avLst/>
            </a:prstGeom>
            <a:solidFill>
              <a:srgbClr val="0000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1" name="Rectangle 639">
              <a:extLst>
                <a:ext uri="{FF2B5EF4-FFF2-40B4-BE49-F238E27FC236}">
                  <a16:creationId xmlns:a16="http://schemas.microsoft.com/office/drawing/2014/main" id="{4C861DB8-6D13-A84D-8B31-5FB8D42D1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" y="612"/>
              <a:ext cx="2" cy="3544"/>
            </a:xfrm>
            <a:prstGeom prst="rect">
              <a:avLst/>
            </a:prstGeom>
            <a:solidFill>
              <a:srgbClr val="0000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2" name="Rectangle 640">
              <a:extLst>
                <a:ext uri="{FF2B5EF4-FFF2-40B4-BE49-F238E27FC236}">
                  <a16:creationId xmlns:a16="http://schemas.microsoft.com/office/drawing/2014/main" id="{2A488FEE-2BFD-014C-BC50-7B2D28E41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" y="612"/>
              <a:ext cx="2" cy="3544"/>
            </a:xfrm>
            <a:prstGeom prst="rect">
              <a:avLst/>
            </a:prstGeom>
            <a:solidFill>
              <a:srgbClr val="000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3" name="Rectangle 641">
              <a:extLst>
                <a:ext uri="{FF2B5EF4-FFF2-40B4-BE49-F238E27FC236}">
                  <a16:creationId xmlns:a16="http://schemas.microsoft.com/office/drawing/2014/main" id="{3A0A841E-BC72-A54C-AC0F-840E9140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612"/>
              <a:ext cx="2" cy="3544"/>
            </a:xfrm>
            <a:prstGeom prst="rect">
              <a:avLst/>
            </a:prstGeom>
            <a:solidFill>
              <a:srgbClr val="00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4" name="Rectangle 642">
              <a:extLst>
                <a:ext uri="{FF2B5EF4-FFF2-40B4-BE49-F238E27FC236}">
                  <a16:creationId xmlns:a16="http://schemas.microsoft.com/office/drawing/2014/main" id="{F6AFC8A2-198A-A445-A4F3-13EF491E1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612"/>
              <a:ext cx="2" cy="3544"/>
            </a:xfrm>
            <a:prstGeom prst="rect">
              <a:avLst/>
            </a:prstGeom>
            <a:solidFill>
              <a:srgbClr val="0000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5" name="Rectangle 643">
              <a:extLst>
                <a:ext uri="{FF2B5EF4-FFF2-40B4-BE49-F238E27FC236}">
                  <a16:creationId xmlns:a16="http://schemas.microsoft.com/office/drawing/2014/main" id="{16585D30-63DF-454D-8305-49F3B1220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" y="612"/>
              <a:ext cx="1" cy="3544"/>
            </a:xfrm>
            <a:prstGeom prst="rect">
              <a:avLst/>
            </a:prstGeom>
            <a:solidFill>
              <a:srgbClr val="00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6" name="Rectangle 644">
              <a:extLst>
                <a:ext uri="{FF2B5EF4-FFF2-40B4-BE49-F238E27FC236}">
                  <a16:creationId xmlns:a16="http://schemas.microsoft.com/office/drawing/2014/main" id="{9A2DD720-F2D0-1746-9DE1-687ABE8F2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612"/>
              <a:ext cx="2" cy="3544"/>
            </a:xfrm>
            <a:prstGeom prst="rect">
              <a:avLst/>
            </a:prstGeom>
            <a:solidFill>
              <a:srgbClr val="000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7" name="Rectangle 645">
              <a:extLst>
                <a:ext uri="{FF2B5EF4-FFF2-40B4-BE49-F238E27FC236}">
                  <a16:creationId xmlns:a16="http://schemas.microsoft.com/office/drawing/2014/main" id="{93AC7DF5-5897-FE4D-B0F8-52D743B61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" y="612"/>
              <a:ext cx="2" cy="3544"/>
            </a:xfrm>
            <a:prstGeom prst="rect">
              <a:avLst/>
            </a:prstGeom>
            <a:solidFill>
              <a:srgbClr val="0000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8" name="Rectangle 646">
              <a:extLst>
                <a:ext uri="{FF2B5EF4-FFF2-40B4-BE49-F238E27FC236}">
                  <a16:creationId xmlns:a16="http://schemas.microsoft.com/office/drawing/2014/main" id="{7D1A5CBE-2F65-2741-B0CF-AC68CA85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" y="612"/>
              <a:ext cx="2" cy="3544"/>
            </a:xfrm>
            <a:prstGeom prst="rect">
              <a:avLst/>
            </a:prstGeom>
            <a:solidFill>
              <a:srgbClr val="0000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59" name="Rectangle 647">
              <a:extLst>
                <a:ext uri="{FF2B5EF4-FFF2-40B4-BE49-F238E27FC236}">
                  <a16:creationId xmlns:a16="http://schemas.microsoft.com/office/drawing/2014/main" id="{7ABC078C-B90A-2043-805C-D7B44A273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612"/>
              <a:ext cx="2" cy="3544"/>
            </a:xfrm>
            <a:prstGeom prst="rect">
              <a:avLst/>
            </a:prstGeom>
            <a:solidFill>
              <a:srgbClr val="000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0" name="Rectangle 648">
              <a:extLst>
                <a:ext uri="{FF2B5EF4-FFF2-40B4-BE49-F238E27FC236}">
                  <a16:creationId xmlns:a16="http://schemas.microsoft.com/office/drawing/2014/main" id="{49281217-BD3F-5D48-82CA-740A76423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" y="612"/>
              <a:ext cx="1" cy="3544"/>
            </a:xfrm>
            <a:prstGeom prst="rect">
              <a:avLst/>
            </a:prstGeom>
            <a:solidFill>
              <a:srgbClr val="0000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1" name="Rectangle 649">
              <a:extLst>
                <a:ext uri="{FF2B5EF4-FFF2-40B4-BE49-F238E27FC236}">
                  <a16:creationId xmlns:a16="http://schemas.microsoft.com/office/drawing/2014/main" id="{754C1368-880F-004C-A769-C99C600F9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612"/>
              <a:ext cx="2" cy="3544"/>
            </a:xfrm>
            <a:prstGeom prst="rect">
              <a:avLst/>
            </a:prstGeom>
            <a:solidFill>
              <a:srgbClr val="0000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2" name="Rectangle 650">
              <a:extLst>
                <a:ext uri="{FF2B5EF4-FFF2-40B4-BE49-F238E27FC236}">
                  <a16:creationId xmlns:a16="http://schemas.microsoft.com/office/drawing/2014/main" id="{7149E427-05AE-8E41-9E52-7D52D927B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612"/>
              <a:ext cx="2" cy="3544"/>
            </a:xfrm>
            <a:prstGeom prst="rect">
              <a:avLst/>
            </a:prstGeom>
            <a:solidFill>
              <a:srgbClr val="0000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3" name="Rectangle 651">
              <a:extLst>
                <a:ext uri="{FF2B5EF4-FFF2-40B4-BE49-F238E27FC236}">
                  <a16:creationId xmlns:a16="http://schemas.microsoft.com/office/drawing/2014/main" id="{666B7490-0937-0341-8560-F81637C94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" y="612"/>
              <a:ext cx="2" cy="3544"/>
            </a:xfrm>
            <a:prstGeom prst="rect">
              <a:avLst/>
            </a:prstGeom>
            <a:solidFill>
              <a:srgbClr val="000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4" name="Rectangle 652">
              <a:extLst>
                <a:ext uri="{FF2B5EF4-FFF2-40B4-BE49-F238E27FC236}">
                  <a16:creationId xmlns:a16="http://schemas.microsoft.com/office/drawing/2014/main" id="{A0294CF3-842D-A247-91D6-B146C24BA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612"/>
              <a:ext cx="2" cy="3544"/>
            </a:xfrm>
            <a:prstGeom prst="rect">
              <a:avLst/>
            </a:prstGeom>
            <a:solidFill>
              <a:srgbClr val="00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5" name="Rectangle 653">
              <a:extLst>
                <a:ext uri="{FF2B5EF4-FFF2-40B4-BE49-F238E27FC236}">
                  <a16:creationId xmlns:a16="http://schemas.microsoft.com/office/drawing/2014/main" id="{1AEFFA08-1A54-614D-AF4F-30993E673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" y="612"/>
              <a:ext cx="2" cy="3544"/>
            </a:xfrm>
            <a:prstGeom prst="rect">
              <a:avLst/>
            </a:prstGeom>
            <a:solidFill>
              <a:srgbClr val="000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6" name="Rectangle 654">
              <a:extLst>
                <a:ext uri="{FF2B5EF4-FFF2-40B4-BE49-F238E27FC236}">
                  <a16:creationId xmlns:a16="http://schemas.microsoft.com/office/drawing/2014/main" id="{0FFCEA7A-44F2-5B4B-BF2F-7A946FB09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612"/>
              <a:ext cx="1" cy="3544"/>
            </a:xfrm>
            <a:prstGeom prst="rect">
              <a:avLst/>
            </a:prstGeom>
            <a:solidFill>
              <a:srgbClr val="000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7" name="Rectangle 655">
              <a:extLst>
                <a:ext uri="{FF2B5EF4-FFF2-40B4-BE49-F238E27FC236}">
                  <a16:creationId xmlns:a16="http://schemas.microsoft.com/office/drawing/2014/main" id="{1CFC5A73-DB2F-9841-BB41-43BE7BCBD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" y="612"/>
              <a:ext cx="2" cy="3544"/>
            </a:xfrm>
            <a:prstGeom prst="rect">
              <a:avLst/>
            </a:prstGeom>
            <a:solidFill>
              <a:srgbClr val="000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8" name="Rectangle 656">
              <a:extLst>
                <a:ext uri="{FF2B5EF4-FFF2-40B4-BE49-F238E27FC236}">
                  <a16:creationId xmlns:a16="http://schemas.microsoft.com/office/drawing/2014/main" id="{CA60DE8D-782D-1846-914D-1B8986CC0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" y="612"/>
              <a:ext cx="2" cy="3544"/>
            </a:xfrm>
            <a:prstGeom prst="rect">
              <a:avLst/>
            </a:prstGeom>
            <a:solidFill>
              <a:srgbClr val="0000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69" name="Rectangle 657">
              <a:extLst>
                <a:ext uri="{FF2B5EF4-FFF2-40B4-BE49-F238E27FC236}">
                  <a16:creationId xmlns:a16="http://schemas.microsoft.com/office/drawing/2014/main" id="{5C183144-B8C1-FD48-AF78-AB84AD050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612"/>
              <a:ext cx="2" cy="3544"/>
            </a:xfrm>
            <a:prstGeom prst="rect">
              <a:avLst/>
            </a:prstGeom>
            <a:solidFill>
              <a:srgbClr val="0000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0" name="Rectangle 658">
              <a:extLst>
                <a:ext uri="{FF2B5EF4-FFF2-40B4-BE49-F238E27FC236}">
                  <a16:creationId xmlns:a16="http://schemas.microsoft.com/office/drawing/2014/main" id="{D226B782-1941-BF46-ABAB-7DC05DF25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" y="612"/>
              <a:ext cx="2" cy="3544"/>
            </a:xfrm>
            <a:prstGeom prst="rect">
              <a:avLst/>
            </a:prstGeom>
            <a:solidFill>
              <a:srgbClr val="0000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1" name="Rectangle 659">
              <a:extLst>
                <a:ext uri="{FF2B5EF4-FFF2-40B4-BE49-F238E27FC236}">
                  <a16:creationId xmlns:a16="http://schemas.microsoft.com/office/drawing/2014/main" id="{A9FD3949-6838-CC42-A9DF-AC22FF204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612"/>
              <a:ext cx="1" cy="3544"/>
            </a:xfrm>
            <a:prstGeom prst="rect">
              <a:avLst/>
            </a:prstGeom>
            <a:solidFill>
              <a:srgbClr val="00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2" name="Rectangle 660">
              <a:extLst>
                <a:ext uri="{FF2B5EF4-FFF2-40B4-BE49-F238E27FC236}">
                  <a16:creationId xmlns:a16="http://schemas.microsoft.com/office/drawing/2014/main" id="{A008BDB0-EE15-194A-9364-A811F6A88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" y="612"/>
              <a:ext cx="2" cy="3544"/>
            </a:xfrm>
            <a:prstGeom prst="rect">
              <a:avLst/>
            </a:prstGeom>
            <a:solidFill>
              <a:srgbClr val="0000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3" name="Rectangle 661">
              <a:extLst>
                <a:ext uri="{FF2B5EF4-FFF2-40B4-BE49-F238E27FC236}">
                  <a16:creationId xmlns:a16="http://schemas.microsoft.com/office/drawing/2014/main" id="{144C046F-2B25-284C-8B7F-F3F63C6C7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" y="612"/>
              <a:ext cx="4" cy="3544"/>
            </a:xfrm>
            <a:prstGeom prst="rect">
              <a:avLst/>
            </a:prstGeom>
            <a:solidFill>
              <a:srgbClr val="000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4" name="Rectangle 662">
              <a:extLst>
                <a:ext uri="{FF2B5EF4-FFF2-40B4-BE49-F238E27FC236}">
                  <a16:creationId xmlns:a16="http://schemas.microsoft.com/office/drawing/2014/main" id="{8E949592-4C67-9D43-866B-03F440907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612"/>
              <a:ext cx="2" cy="3544"/>
            </a:xfrm>
            <a:prstGeom prst="rect">
              <a:avLst/>
            </a:prstGeom>
            <a:solidFill>
              <a:srgbClr val="000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5" name="Rectangle 663">
              <a:extLst>
                <a:ext uri="{FF2B5EF4-FFF2-40B4-BE49-F238E27FC236}">
                  <a16:creationId xmlns:a16="http://schemas.microsoft.com/office/drawing/2014/main" id="{31EDED85-ADC3-A84E-99DB-4545F560E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" y="612"/>
              <a:ext cx="1" cy="3544"/>
            </a:xfrm>
            <a:prstGeom prst="rect">
              <a:avLst/>
            </a:prstGeom>
            <a:solidFill>
              <a:srgbClr val="000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6" name="Rectangle 664">
              <a:extLst>
                <a:ext uri="{FF2B5EF4-FFF2-40B4-BE49-F238E27FC236}">
                  <a16:creationId xmlns:a16="http://schemas.microsoft.com/office/drawing/2014/main" id="{D164E62F-07D4-0A44-848B-3D952BDE5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612"/>
              <a:ext cx="2" cy="3544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7" name="Rectangle 665">
              <a:extLst>
                <a:ext uri="{FF2B5EF4-FFF2-40B4-BE49-F238E27FC236}">
                  <a16:creationId xmlns:a16="http://schemas.microsoft.com/office/drawing/2014/main" id="{DFE77C55-71B4-5544-AF87-E64FD8E8B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612"/>
              <a:ext cx="4" cy="3544"/>
            </a:xfrm>
            <a:prstGeom prst="rect">
              <a:avLst/>
            </a:prstGeom>
            <a:solidFill>
              <a:srgbClr val="000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8" name="Rectangle 666">
              <a:extLst>
                <a:ext uri="{FF2B5EF4-FFF2-40B4-BE49-F238E27FC236}">
                  <a16:creationId xmlns:a16="http://schemas.microsoft.com/office/drawing/2014/main" id="{7304CE56-DCD0-F94C-9F8D-FE33CAA54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" y="612"/>
              <a:ext cx="2" cy="3544"/>
            </a:xfrm>
            <a:prstGeom prst="rect">
              <a:avLst/>
            </a:prstGeom>
            <a:solidFill>
              <a:srgbClr val="0000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79" name="Rectangle 667">
              <a:extLst>
                <a:ext uri="{FF2B5EF4-FFF2-40B4-BE49-F238E27FC236}">
                  <a16:creationId xmlns:a16="http://schemas.microsoft.com/office/drawing/2014/main" id="{AEB76743-7A0B-924C-AEDE-85B708EF8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612"/>
              <a:ext cx="3" cy="3544"/>
            </a:xfrm>
            <a:prstGeom prst="rect">
              <a:avLst/>
            </a:prstGeom>
            <a:solidFill>
              <a:srgbClr val="00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0" name="Rectangle 668">
              <a:extLst>
                <a:ext uri="{FF2B5EF4-FFF2-40B4-BE49-F238E27FC236}">
                  <a16:creationId xmlns:a16="http://schemas.microsoft.com/office/drawing/2014/main" id="{5B775E1F-8DC5-3B40-940D-774B655C8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612"/>
              <a:ext cx="2" cy="3544"/>
            </a:xfrm>
            <a:prstGeom prst="rect">
              <a:avLst/>
            </a:prstGeom>
            <a:solidFill>
              <a:srgbClr val="000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1" name="Rectangle 669">
              <a:extLst>
                <a:ext uri="{FF2B5EF4-FFF2-40B4-BE49-F238E27FC236}">
                  <a16:creationId xmlns:a16="http://schemas.microsoft.com/office/drawing/2014/main" id="{478AD908-AA04-5643-B253-31A31C6CE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612"/>
              <a:ext cx="5" cy="3544"/>
            </a:xfrm>
            <a:prstGeom prst="rect">
              <a:avLst/>
            </a:prstGeom>
            <a:solidFill>
              <a:srgbClr val="000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2" name="Rectangle 670">
              <a:extLst>
                <a:ext uri="{FF2B5EF4-FFF2-40B4-BE49-F238E27FC236}">
                  <a16:creationId xmlns:a16="http://schemas.microsoft.com/office/drawing/2014/main" id="{0A7AC757-52AF-0245-9E3F-2FE0C61D7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" y="612"/>
              <a:ext cx="6" cy="3544"/>
            </a:xfrm>
            <a:prstGeom prst="rect">
              <a:avLst/>
            </a:prstGeom>
            <a:solidFill>
              <a:srgbClr val="0000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3" name="Rectangle 671">
              <a:extLst>
                <a:ext uri="{FF2B5EF4-FFF2-40B4-BE49-F238E27FC236}">
                  <a16:creationId xmlns:a16="http://schemas.microsoft.com/office/drawing/2014/main" id="{5E545990-2F7B-8140-AAA6-8FAA27D7E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612"/>
              <a:ext cx="3" cy="3544"/>
            </a:xfrm>
            <a:prstGeom prst="rect">
              <a:avLst/>
            </a:prstGeom>
            <a:solidFill>
              <a:srgbClr val="0000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4" name="Rectangle 672">
              <a:extLst>
                <a:ext uri="{FF2B5EF4-FFF2-40B4-BE49-F238E27FC236}">
                  <a16:creationId xmlns:a16="http://schemas.microsoft.com/office/drawing/2014/main" id="{5C3831AA-4076-CD41-98B4-1FF42CF34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612"/>
              <a:ext cx="6" cy="3544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5" name="Rectangle 673">
              <a:extLst>
                <a:ext uri="{FF2B5EF4-FFF2-40B4-BE49-F238E27FC236}">
                  <a16:creationId xmlns:a16="http://schemas.microsoft.com/office/drawing/2014/main" id="{FB067E0D-23F8-F54B-81C5-FD1F3E694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612"/>
              <a:ext cx="7" cy="3544"/>
            </a:xfrm>
            <a:prstGeom prst="rect">
              <a:avLst/>
            </a:prstGeom>
            <a:solidFill>
              <a:srgbClr val="0000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86" name="Rectangle 674">
              <a:extLst>
                <a:ext uri="{FF2B5EF4-FFF2-40B4-BE49-F238E27FC236}">
                  <a16:creationId xmlns:a16="http://schemas.microsoft.com/office/drawing/2014/main" id="{6863B237-64F7-8C49-9F59-E07D0268F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" y="612"/>
              <a:ext cx="9" cy="35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3328" name="Rectangle 676">
            <a:extLst>
              <a:ext uri="{FF2B5EF4-FFF2-40B4-BE49-F238E27FC236}">
                <a16:creationId xmlns:a16="http://schemas.microsoft.com/office/drawing/2014/main" id="{B04EE7E5-ABB8-6A4A-9379-0D715AE41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0287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H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29" name="Rectangle 677">
            <a:extLst>
              <a:ext uri="{FF2B5EF4-FFF2-40B4-BE49-F238E27FC236}">
                <a16:creationId xmlns:a16="http://schemas.microsoft.com/office/drawing/2014/main" id="{FA812BF2-7C75-D44C-885C-C53ADB40A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325563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P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0" name="Rectangle 678">
            <a:extLst>
              <a:ext uri="{FF2B5EF4-FFF2-40B4-BE49-F238E27FC236}">
                <a16:creationId xmlns:a16="http://schemas.microsoft.com/office/drawing/2014/main" id="{5D11E081-8FAB-B346-893F-2152BC340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6256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C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1" name="Rectangle 679">
            <a:extLst>
              <a:ext uri="{FF2B5EF4-FFF2-40B4-BE49-F238E27FC236}">
                <a16:creationId xmlns:a16="http://schemas.microsoft.com/office/drawing/2014/main" id="{D3C3E1D6-3076-C441-A486-5DA167768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927225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A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2" name="Rectangle 680">
            <a:extLst>
              <a:ext uri="{FF2B5EF4-FFF2-40B4-BE49-F238E27FC236}">
                <a16:creationId xmlns:a16="http://schemas.microsoft.com/office/drawing/2014/main" id="{6B36616D-A515-5340-8A47-D4C7370F3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2525713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2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3" name="Rectangle 681">
            <a:extLst>
              <a:ext uri="{FF2B5EF4-FFF2-40B4-BE49-F238E27FC236}">
                <a16:creationId xmlns:a16="http://schemas.microsoft.com/office/drawing/2014/main" id="{24CC52B3-9E2A-BC40-9EED-993397EB5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2825750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0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4" name="Rectangle 682">
            <a:extLst>
              <a:ext uri="{FF2B5EF4-FFF2-40B4-BE49-F238E27FC236}">
                <a16:creationId xmlns:a16="http://schemas.microsoft.com/office/drawing/2014/main" id="{75C6E8BD-3F24-B544-8E15-C69F41D14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3122613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0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5" name="Rectangle 683">
            <a:extLst>
              <a:ext uri="{FF2B5EF4-FFF2-40B4-BE49-F238E27FC236}">
                <a16:creationId xmlns:a16="http://schemas.microsoft.com/office/drawing/2014/main" id="{594788B9-B531-CE4C-B68B-1DA436A4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34242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FFFF"/>
                </a:solidFill>
                <a:latin typeface="Arial Black" panose="020B0604020202020204" pitchFamily="34" charset="0"/>
                <a:ea typeface="华文新魏" panose="02010800040101010101" pitchFamily="2" charset="-122"/>
              </a:rPr>
              <a:t>1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336" name="Group 794">
            <a:extLst>
              <a:ext uri="{FF2B5EF4-FFF2-40B4-BE49-F238E27FC236}">
                <a16:creationId xmlns:a16="http://schemas.microsoft.com/office/drawing/2014/main" id="{25686B1B-2115-3147-B851-0312CB49760E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2155825"/>
            <a:ext cx="6877050" cy="103188"/>
            <a:chOff x="936" y="1358"/>
            <a:chExt cx="4332" cy="65"/>
          </a:xfrm>
        </p:grpSpPr>
        <p:sp>
          <p:nvSpPr>
            <p:cNvPr id="13507" name="Rectangle 684">
              <a:extLst>
                <a:ext uri="{FF2B5EF4-FFF2-40B4-BE49-F238E27FC236}">
                  <a16:creationId xmlns:a16="http://schemas.microsoft.com/office/drawing/2014/main" id="{C08CA8B2-D87D-B643-99F8-B56E6BF48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58"/>
              <a:ext cx="4" cy="65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8" name="Rectangle 685">
              <a:extLst>
                <a:ext uri="{FF2B5EF4-FFF2-40B4-BE49-F238E27FC236}">
                  <a16:creationId xmlns:a16="http://schemas.microsoft.com/office/drawing/2014/main" id="{2B266619-C614-0F43-8086-90D8B721F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" y="1358"/>
              <a:ext cx="1" cy="65"/>
            </a:xfrm>
            <a:prstGeom prst="rect">
              <a:avLst/>
            </a:prstGeom>
            <a:solidFill>
              <a:srgbClr val="02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9" name="Rectangle 686">
              <a:extLst>
                <a:ext uri="{FF2B5EF4-FFF2-40B4-BE49-F238E27FC236}">
                  <a16:creationId xmlns:a16="http://schemas.microsoft.com/office/drawing/2014/main" id="{5A396268-FBD9-774E-B3E1-5DECF3DC5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1358"/>
              <a:ext cx="4" cy="65"/>
            </a:xfrm>
            <a:prstGeom prst="rect">
              <a:avLst/>
            </a:prstGeom>
            <a:solidFill>
              <a:srgbClr val="04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0" name="Rectangle 687">
              <a:extLst>
                <a:ext uri="{FF2B5EF4-FFF2-40B4-BE49-F238E27FC236}">
                  <a16:creationId xmlns:a16="http://schemas.microsoft.com/office/drawing/2014/main" id="{F8F6FF1C-581A-1148-BF07-8D880841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358"/>
              <a:ext cx="4" cy="65"/>
            </a:xfrm>
            <a:prstGeom prst="rect">
              <a:avLst/>
            </a:prstGeom>
            <a:solidFill>
              <a:srgbClr val="0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1" name="Rectangle 688">
              <a:extLst>
                <a:ext uri="{FF2B5EF4-FFF2-40B4-BE49-F238E27FC236}">
                  <a16:creationId xmlns:a16="http://schemas.microsoft.com/office/drawing/2014/main" id="{71152246-69C8-2E40-BEED-B98F983B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" y="1358"/>
              <a:ext cx="3" cy="65"/>
            </a:xfrm>
            <a:prstGeom prst="rect">
              <a:avLst/>
            </a:prstGeom>
            <a:solidFill>
              <a:srgbClr val="08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2" name="Rectangle 689">
              <a:extLst>
                <a:ext uri="{FF2B5EF4-FFF2-40B4-BE49-F238E27FC236}">
                  <a16:creationId xmlns:a16="http://schemas.microsoft.com/office/drawing/2014/main" id="{33296FDE-741A-1540-A14F-B02F805A4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1358"/>
              <a:ext cx="25" cy="65"/>
            </a:xfrm>
            <a:prstGeom prst="rect">
              <a:avLst/>
            </a:prstGeom>
            <a:solidFill>
              <a:srgbClr val="0B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3" name="Rectangle 690">
              <a:extLst>
                <a:ext uri="{FF2B5EF4-FFF2-40B4-BE49-F238E27FC236}">
                  <a16:creationId xmlns:a16="http://schemas.microsoft.com/office/drawing/2014/main" id="{CB30A3D6-377F-F347-8E14-3200B1565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1358"/>
              <a:ext cx="8" cy="65"/>
            </a:xfrm>
            <a:prstGeom prst="rect">
              <a:avLst/>
            </a:prstGeom>
            <a:solidFill>
              <a:srgbClr val="0D6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4" name="Rectangle 691">
              <a:extLst>
                <a:ext uri="{FF2B5EF4-FFF2-40B4-BE49-F238E27FC236}">
                  <a16:creationId xmlns:a16="http://schemas.microsoft.com/office/drawing/2014/main" id="{1E7C4377-5B8F-EA4A-86DF-31DF710C6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1358"/>
              <a:ext cx="29" cy="65"/>
            </a:xfrm>
            <a:prstGeom prst="rect">
              <a:avLst/>
            </a:prstGeom>
            <a:solidFill>
              <a:srgbClr val="0F6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5" name="Rectangle 692">
              <a:extLst>
                <a:ext uri="{FF2B5EF4-FFF2-40B4-BE49-F238E27FC236}">
                  <a16:creationId xmlns:a16="http://schemas.microsoft.com/office/drawing/2014/main" id="{99CDB924-DEB4-DE44-8B05-75A967D5D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" y="1358"/>
              <a:ext cx="10" cy="65"/>
            </a:xfrm>
            <a:prstGeom prst="rect">
              <a:avLst/>
            </a:prstGeom>
            <a:solidFill>
              <a:srgbClr val="116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6" name="Rectangle 693">
              <a:extLst>
                <a:ext uri="{FF2B5EF4-FFF2-40B4-BE49-F238E27FC236}">
                  <a16:creationId xmlns:a16="http://schemas.microsoft.com/office/drawing/2014/main" id="{E9C9E1CA-9E06-2F47-A7F7-16BEFC96D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358"/>
              <a:ext cx="11" cy="65"/>
            </a:xfrm>
            <a:prstGeom prst="rect">
              <a:avLst/>
            </a:prstGeom>
            <a:solidFill>
              <a:srgbClr val="136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7" name="Rectangle 694">
              <a:extLst>
                <a:ext uri="{FF2B5EF4-FFF2-40B4-BE49-F238E27FC236}">
                  <a16:creationId xmlns:a16="http://schemas.microsoft.com/office/drawing/2014/main" id="{7DBBED50-A8AB-1143-9F75-299972E3C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358"/>
              <a:ext cx="33" cy="65"/>
            </a:xfrm>
            <a:prstGeom prst="rect">
              <a:avLst/>
            </a:prstGeom>
            <a:solidFill>
              <a:srgbClr val="156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8" name="Rectangle 695">
              <a:extLst>
                <a:ext uri="{FF2B5EF4-FFF2-40B4-BE49-F238E27FC236}">
                  <a16:creationId xmlns:a16="http://schemas.microsoft.com/office/drawing/2014/main" id="{C131802B-9321-D34C-8E39-F72F770A2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1358"/>
              <a:ext cx="18" cy="65"/>
            </a:xfrm>
            <a:prstGeom prst="rect">
              <a:avLst/>
            </a:prstGeom>
            <a:solidFill>
              <a:srgbClr val="176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19" name="Rectangle 696">
              <a:extLst>
                <a:ext uri="{FF2B5EF4-FFF2-40B4-BE49-F238E27FC236}">
                  <a16:creationId xmlns:a16="http://schemas.microsoft.com/office/drawing/2014/main" id="{2497B7C8-E75E-8D4A-96AE-8AA3A36AC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" y="1358"/>
              <a:ext cx="41" cy="65"/>
            </a:xfrm>
            <a:prstGeom prst="rect">
              <a:avLst/>
            </a:prstGeom>
            <a:solidFill>
              <a:srgbClr val="196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0" name="Rectangle 697">
              <a:extLst>
                <a:ext uri="{FF2B5EF4-FFF2-40B4-BE49-F238E27FC236}">
                  <a16:creationId xmlns:a16="http://schemas.microsoft.com/office/drawing/2014/main" id="{189DAB84-FCBC-4B40-A8B3-5AEAE4F8E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" y="1358"/>
              <a:ext cx="16" cy="65"/>
            </a:xfrm>
            <a:prstGeom prst="rect">
              <a:avLst/>
            </a:prstGeom>
            <a:solidFill>
              <a:srgbClr val="1B6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1" name="Rectangle 698">
              <a:extLst>
                <a:ext uri="{FF2B5EF4-FFF2-40B4-BE49-F238E27FC236}">
                  <a16:creationId xmlns:a16="http://schemas.microsoft.com/office/drawing/2014/main" id="{7124B916-3E9E-794E-BE84-8530F50DA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1358"/>
              <a:ext cx="22" cy="65"/>
            </a:xfrm>
            <a:prstGeom prst="rect">
              <a:avLst/>
            </a:prstGeom>
            <a:solidFill>
              <a:srgbClr val="1D6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2" name="Rectangle 699">
              <a:extLst>
                <a:ext uri="{FF2B5EF4-FFF2-40B4-BE49-F238E27FC236}">
                  <a16:creationId xmlns:a16="http://schemas.microsoft.com/office/drawing/2014/main" id="{DCB09083-8F34-054C-915A-4EBEA9047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1358"/>
              <a:ext cx="47" cy="65"/>
            </a:xfrm>
            <a:prstGeom prst="rect">
              <a:avLst/>
            </a:prstGeom>
            <a:solidFill>
              <a:srgbClr val="1F6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3" name="Rectangle 700">
              <a:extLst>
                <a:ext uri="{FF2B5EF4-FFF2-40B4-BE49-F238E27FC236}">
                  <a16:creationId xmlns:a16="http://schemas.microsoft.com/office/drawing/2014/main" id="{B3874E43-245A-2042-9F1B-130E7D012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1358"/>
              <a:ext cx="21" cy="65"/>
            </a:xfrm>
            <a:prstGeom prst="rect">
              <a:avLst/>
            </a:prstGeom>
            <a:solidFill>
              <a:srgbClr val="216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4" name="Rectangle 701">
              <a:extLst>
                <a:ext uri="{FF2B5EF4-FFF2-40B4-BE49-F238E27FC236}">
                  <a16:creationId xmlns:a16="http://schemas.microsoft.com/office/drawing/2014/main" id="{2F8977AC-78A9-E04C-9391-FF22D1CF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1358"/>
              <a:ext cx="33" cy="65"/>
            </a:xfrm>
            <a:prstGeom prst="rect">
              <a:avLst/>
            </a:prstGeom>
            <a:solidFill>
              <a:srgbClr val="236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5" name="Rectangle 702">
              <a:extLst>
                <a:ext uri="{FF2B5EF4-FFF2-40B4-BE49-F238E27FC236}">
                  <a16:creationId xmlns:a16="http://schemas.microsoft.com/office/drawing/2014/main" id="{DFD41659-90ED-E440-B62F-FDE30004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6" y="1358"/>
              <a:ext cx="22" cy="65"/>
            </a:xfrm>
            <a:prstGeom prst="rect">
              <a:avLst/>
            </a:prstGeom>
            <a:solidFill>
              <a:srgbClr val="256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6" name="Rectangle 703">
              <a:extLst>
                <a:ext uri="{FF2B5EF4-FFF2-40B4-BE49-F238E27FC236}">
                  <a16:creationId xmlns:a16="http://schemas.microsoft.com/office/drawing/2014/main" id="{D2E8E265-0CA8-2F45-B48D-9DB61A044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1358"/>
              <a:ext cx="30" cy="65"/>
            </a:xfrm>
            <a:prstGeom prst="rect">
              <a:avLst/>
            </a:prstGeom>
            <a:solidFill>
              <a:srgbClr val="276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7" name="Rectangle 704">
              <a:extLst>
                <a:ext uri="{FF2B5EF4-FFF2-40B4-BE49-F238E27FC236}">
                  <a16:creationId xmlns:a16="http://schemas.microsoft.com/office/drawing/2014/main" id="{BB45E868-E3CB-FA4D-B30B-4E9B20D5E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1358"/>
              <a:ext cx="33" cy="65"/>
            </a:xfrm>
            <a:prstGeom prst="rect">
              <a:avLst/>
            </a:prstGeom>
            <a:solidFill>
              <a:srgbClr val="296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8" name="Rectangle 705">
              <a:extLst>
                <a:ext uri="{FF2B5EF4-FFF2-40B4-BE49-F238E27FC236}">
                  <a16:creationId xmlns:a16="http://schemas.microsoft.com/office/drawing/2014/main" id="{6F70FEB9-D1FF-624F-8204-F3CA11A2E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1358"/>
              <a:ext cx="34" cy="65"/>
            </a:xfrm>
            <a:prstGeom prst="rect">
              <a:avLst/>
            </a:prstGeom>
            <a:solidFill>
              <a:srgbClr val="2B6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29" name="Rectangle 706">
              <a:extLst>
                <a:ext uri="{FF2B5EF4-FFF2-40B4-BE49-F238E27FC236}">
                  <a16:creationId xmlns:a16="http://schemas.microsoft.com/office/drawing/2014/main" id="{85409D53-1DEC-B443-A5FD-F311FD13B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358"/>
              <a:ext cx="34" cy="65"/>
            </a:xfrm>
            <a:prstGeom prst="rect">
              <a:avLst/>
            </a:prstGeom>
            <a:solidFill>
              <a:srgbClr val="2D7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0" name="Rectangle 707">
              <a:extLst>
                <a:ext uri="{FF2B5EF4-FFF2-40B4-BE49-F238E27FC236}">
                  <a16:creationId xmlns:a16="http://schemas.microsoft.com/office/drawing/2014/main" id="{32B55EF9-F779-AC49-A5BA-B8F5633CA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1358"/>
              <a:ext cx="29" cy="65"/>
            </a:xfrm>
            <a:prstGeom prst="rect">
              <a:avLst/>
            </a:prstGeom>
            <a:solidFill>
              <a:srgbClr val="2F7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1" name="Rectangle 708">
              <a:extLst>
                <a:ext uri="{FF2B5EF4-FFF2-40B4-BE49-F238E27FC236}">
                  <a16:creationId xmlns:a16="http://schemas.microsoft.com/office/drawing/2014/main" id="{5B48B724-8BE1-2945-8C7C-A1F0C5B39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1358"/>
              <a:ext cx="40" cy="65"/>
            </a:xfrm>
            <a:prstGeom prst="rect">
              <a:avLst/>
            </a:prstGeom>
            <a:solidFill>
              <a:srgbClr val="317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2" name="Rectangle 709">
              <a:extLst>
                <a:ext uri="{FF2B5EF4-FFF2-40B4-BE49-F238E27FC236}">
                  <a16:creationId xmlns:a16="http://schemas.microsoft.com/office/drawing/2014/main" id="{783B3BCA-8595-524B-AB0B-0C4F408AC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358"/>
              <a:ext cx="20" cy="65"/>
            </a:xfrm>
            <a:prstGeom prst="rect">
              <a:avLst/>
            </a:prstGeom>
            <a:solidFill>
              <a:srgbClr val="337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3" name="Rectangle 710">
              <a:extLst>
                <a:ext uri="{FF2B5EF4-FFF2-40B4-BE49-F238E27FC236}">
                  <a16:creationId xmlns:a16="http://schemas.microsoft.com/office/drawing/2014/main" id="{DA663163-CF8F-5B40-A343-6E925E93F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1358"/>
              <a:ext cx="43" cy="65"/>
            </a:xfrm>
            <a:prstGeom prst="rect">
              <a:avLst/>
            </a:prstGeom>
            <a:solidFill>
              <a:srgbClr val="357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4" name="Rectangle 711">
              <a:extLst>
                <a:ext uri="{FF2B5EF4-FFF2-40B4-BE49-F238E27FC236}">
                  <a16:creationId xmlns:a16="http://schemas.microsoft.com/office/drawing/2014/main" id="{B912DC3B-D69B-7A46-A062-2B65CE66F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1358"/>
              <a:ext cx="32" cy="65"/>
            </a:xfrm>
            <a:prstGeom prst="rect">
              <a:avLst/>
            </a:prstGeom>
            <a:solidFill>
              <a:srgbClr val="377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5" name="Rectangle 712">
              <a:extLst>
                <a:ext uri="{FF2B5EF4-FFF2-40B4-BE49-F238E27FC236}">
                  <a16:creationId xmlns:a16="http://schemas.microsoft.com/office/drawing/2014/main" id="{31FB3CE8-EFA0-C54C-94FF-FB7429249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" y="1358"/>
              <a:ext cx="22" cy="65"/>
            </a:xfrm>
            <a:prstGeom prst="rect">
              <a:avLst/>
            </a:prstGeom>
            <a:solidFill>
              <a:srgbClr val="397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6" name="Rectangle 713">
              <a:extLst>
                <a:ext uri="{FF2B5EF4-FFF2-40B4-BE49-F238E27FC236}">
                  <a16:creationId xmlns:a16="http://schemas.microsoft.com/office/drawing/2014/main" id="{BCA9B0BB-0219-FB4B-9487-3578584DD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" y="1358"/>
              <a:ext cx="34" cy="65"/>
            </a:xfrm>
            <a:prstGeom prst="rect">
              <a:avLst/>
            </a:prstGeom>
            <a:solidFill>
              <a:srgbClr val="3B7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7" name="Rectangle 714">
              <a:extLst>
                <a:ext uri="{FF2B5EF4-FFF2-40B4-BE49-F238E27FC236}">
                  <a16:creationId xmlns:a16="http://schemas.microsoft.com/office/drawing/2014/main" id="{CCED87EE-33DE-7D43-BAE5-49548F92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1358"/>
              <a:ext cx="34" cy="65"/>
            </a:xfrm>
            <a:prstGeom prst="rect">
              <a:avLst/>
            </a:prstGeom>
            <a:solidFill>
              <a:srgbClr val="3D7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8" name="Rectangle 715">
              <a:extLst>
                <a:ext uri="{FF2B5EF4-FFF2-40B4-BE49-F238E27FC236}">
                  <a16:creationId xmlns:a16="http://schemas.microsoft.com/office/drawing/2014/main" id="{5E623141-3376-4F4E-95D3-E45E37FC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" y="1358"/>
              <a:ext cx="35" cy="65"/>
            </a:xfrm>
            <a:prstGeom prst="rect">
              <a:avLst/>
            </a:prstGeom>
            <a:solidFill>
              <a:srgbClr val="3F7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39" name="Rectangle 716">
              <a:extLst>
                <a:ext uri="{FF2B5EF4-FFF2-40B4-BE49-F238E27FC236}">
                  <a16:creationId xmlns:a16="http://schemas.microsoft.com/office/drawing/2014/main" id="{B6F2379A-9BC9-444F-AA5E-150089BE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" y="1358"/>
              <a:ext cx="32" cy="65"/>
            </a:xfrm>
            <a:prstGeom prst="rect">
              <a:avLst/>
            </a:prstGeom>
            <a:solidFill>
              <a:srgbClr val="417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0" name="Rectangle 717">
              <a:extLst>
                <a:ext uri="{FF2B5EF4-FFF2-40B4-BE49-F238E27FC236}">
                  <a16:creationId xmlns:a16="http://schemas.microsoft.com/office/drawing/2014/main" id="{E9FBE2EC-B457-FA47-9E3E-F2DE9D563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1358"/>
              <a:ext cx="34" cy="65"/>
            </a:xfrm>
            <a:prstGeom prst="rect">
              <a:avLst/>
            </a:prstGeom>
            <a:solidFill>
              <a:srgbClr val="437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1" name="Rectangle 718">
              <a:extLst>
                <a:ext uri="{FF2B5EF4-FFF2-40B4-BE49-F238E27FC236}">
                  <a16:creationId xmlns:a16="http://schemas.microsoft.com/office/drawing/2014/main" id="{A9CF6FA0-7703-D94A-927F-2D6136CC4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1358"/>
              <a:ext cx="35" cy="65"/>
            </a:xfrm>
            <a:prstGeom prst="rect">
              <a:avLst/>
            </a:prstGeom>
            <a:solidFill>
              <a:srgbClr val="45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2" name="Rectangle 719">
              <a:extLst>
                <a:ext uri="{FF2B5EF4-FFF2-40B4-BE49-F238E27FC236}">
                  <a16:creationId xmlns:a16="http://schemas.microsoft.com/office/drawing/2014/main" id="{E9E808EA-506C-C644-AA4B-87175831D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1358"/>
              <a:ext cx="34" cy="65"/>
            </a:xfrm>
            <a:prstGeom prst="rect">
              <a:avLst/>
            </a:prstGeom>
            <a:solidFill>
              <a:srgbClr val="478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3" name="Rectangle 720">
              <a:extLst>
                <a:ext uri="{FF2B5EF4-FFF2-40B4-BE49-F238E27FC236}">
                  <a16:creationId xmlns:a16="http://schemas.microsoft.com/office/drawing/2014/main" id="{918224E0-0597-814D-B6C2-0C476D58E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1358"/>
              <a:ext cx="29" cy="65"/>
            </a:xfrm>
            <a:prstGeom prst="rect">
              <a:avLst/>
            </a:prstGeom>
            <a:solidFill>
              <a:srgbClr val="498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4" name="Rectangle 721">
              <a:extLst>
                <a:ext uri="{FF2B5EF4-FFF2-40B4-BE49-F238E27FC236}">
                  <a16:creationId xmlns:a16="http://schemas.microsoft.com/office/drawing/2014/main" id="{0509122B-0A08-6E48-A27C-C3BD58916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358"/>
              <a:ext cx="21" cy="65"/>
            </a:xfrm>
            <a:prstGeom prst="rect">
              <a:avLst/>
            </a:prstGeom>
            <a:solidFill>
              <a:srgbClr val="4B8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5" name="Rectangle 722">
              <a:extLst>
                <a:ext uri="{FF2B5EF4-FFF2-40B4-BE49-F238E27FC236}">
                  <a16:creationId xmlns:a16="http://schemas.microsoft.com/office/drawing/2014/main" id="{502AE8D3-3ECD-F64E-B88B-B3B033B9F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1358"/>
              <a:ext cx="35" cy="65"/>
            </a:xfrm>
            <a:prstGeom prst="rect">
              <a:avLst/>
            </a:prstGeom>
            <a:solidFill>
              <a:srgbClr val="4D8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6" name="Rectangle 723">
              <a:extLst>
                <a:ext uri="{FF2B5EF4-FFF2-40B4-BE49-F238E27FC236}">
                  <a16:creationId xmlns:a16="http://schemas.microsoft.com/office/drawing/2014/main" id="{E1CC5348-706B-B249-8134-6CEFA0609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1358"/>
              <a:ext cx="32" cy="65"/>
            </a:xfrm>
            <a:prstGeom prst="rect">
              <a:avLst/>
            </a:prstGeom>
            <a:solidFill>
              <a:srgbClr val="4F8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7" name="Rectangle 724">
              <a:extLst>
                <a:ext uri="{FF2B5EF4-FFF2-40B4-BE49-F238E27FC236}">
                  <a16:creationId xmlns:a16="http://schemas.microsoft.com/office/drawing/2014/main" id="{05CE2B6C-7231-FD4A-8A0A-B2D0FC12A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358"/>
              <a:ext cx="34" cy="65"/>
            </a:xfrm>
            <a:prstGeom prst="rect">
              <a:avLst/>
            </a:prstGeom>
            <a:solidFill>
              <a:srgbClr val="518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8" name="Rectangle 725">
              <a:extLst>
                <a:ext uri="{FF2B5EF4-FFF2-40B4-BE49-F238E27FC236}">
                  <a16:creationId xmlns:a16="http://schemas.microsoft.com/office/drawing/2014/main" id="{D4446B83-56EB-BD40-AF9E-A44506AB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" y="1358"/>
              <a:ext cx="35" cy="65"/>
            </a:xfrm>
            <a:prstGeom prst="rect">
              <a:avLst/>
            </a:prstGeom>
            <a:solidFill>
              <a:srgbClr val="538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49" name="Rectangle 726">
              <a:extLst>
                <a:ext uri="{FF2B5EF4-FFF2-40B4-BE49-F238E27FC236}">
                  <a16:creationId xmlns:a16="http://schemas.microsoft.com/office/drawing/2014/main" id="{067E4339-4D4B-BD4B-ACC4-D239FAB72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9" y="1358"/>
              <a:ext cx="34" cy="65"/>
            </a:xfrm>
            <a:prstGeom prst="rect">
              <a:avLst/>
            </a:prstGeom>
            <a:solidFill>
              <a:srgbClr val="55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0" name="Rectangle 727">
              <a:extLst>
                <a:ext uri="{FF2B5EF4-FFF2-40B4-BE49-F238E27FC236}">
                  <a16:creationId xmlns:a16="http://schemas.microsoft.com/office/drawing/2014/main" id="{7562082F-F288-7143-9C71-D6361C716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1358"/>
              <a:ext cx="32" cy="65"/>
            </a:xfrm>
            <a:prstGeom prst="rect">
              <a:avLst/>
            </a:prstGeom>
            <a:solidFill>
              <a:srgbClr val="578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1" name="Rectangle 728">
              <a:extLst>
                <a:ext uri="{FF2B5EF4-FFF2-40B4-BE49-F238E27FC236}">
                  <a16:creationId xmlns:a16="http://schemas.microsoft.com/office/drawing/2014/main" id="{6D95C1DC-EE4E-D04F-BFF1-68C645E86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5" y="1358"/>
              <a:ext cx="22" cy="65"/>
            </a:xfrm>
            <a:prstGeom prst="rect">
              <a:avLst/>
            </a:prstGeom>
            <a:solidFill>
              <a:srgbClr val="59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2" name="Rectangle 729">
              <a:extLst>
                <a:ext uri="{FF2B5EF4-FFF2-40B4-BE49-F238E27FC236}">
                  <a16:creationId xmlns:a16="http://schemas.microsoft.com/office/drawing/2014/main" id="{C2C1C59B-BC77-2A49-B134-3086D3179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" y="1358"/>
              <a:ext cx="34" cy="65"/>
            </a:xfrm>
            <a:prstGeom prst="rect">
              <a:avLst/>
            </a:prstGeom>
            <a:solidFill>
              <a:srgbClr val="5B8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3" name="Rectangle 730">
              <a:extLst>
                <a:ext uri="{FF2B5EF4-FFF2-40B4-BE49-F238E27FC236}">
                  <a16:creationId xmlns:a16="http://schemas.microsoft.com/office/drawing/2014/main" id="{D4B86F21-8107-624A-9775-F81CDDB77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358"/>
              <a:ext cx="29" cy="65"/>
            </a:xfrm>
            <a:prstGeom prst="rect">
              <a:avLst/>
            </a:prstGeom>
            <a:solidFill>
              <a:srgbClr val="5D9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4" name="Rectangle 731">
              <a:extLst>
                <a:ext uri="{FF2B5EF4-FFF2-40B4-BE49-F238E27FC236}">
                  <a16:creationId xmlns:a16="http://schemas.microsoft.com/office/drawing/2014/main" id="{C09CC798-869B-1741-AC7F-5CC53B012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" y="1358"/>
              <a:ext cx="34" cy="65"/>
            </a:xfrm>
            <a:prstGeom prst="rect">
              <a:avLst/>
            </a:prstGeom>
            <a:solidFill>
              <a:srgbClr val="5F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5" name="Rectangle 732">
              <a:extLst>
                <a:ext uri="{FF2B5EF4-FFF2-40B4-BE49-F238E27FC236}">
                  <a16:creationId xmlns:a16="http://schemas.microsoft.com/office/drawing/2014/main" id="{E166112F-9CD8-804A-A6FC-C966537B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1358"/>
              <a:ext cx="34" cy="65"/>
            </a:xfrm>
            <a:prstGeom prst="rect">
              <a:avLst/>
            </a:prstGeom>
            <a:solidFill>
              <a:srgbClr val="619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6" name="Rectangle 733">
              <a:extLst>
                <a:ext uri="{FF2B5EF4-FFF2-40B4-BE49-F238E27FC236}">
                  <a16:creationId xmlns:a16="http://schemas.microsoft.com/office/drawing/2014/main" id="{F557F6A6-B853-0A4B-90C4-11C34504F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358"/>
              <a:ext cx="35" cy="65"/>
            </a:xfrm>
            <a:prstGeom prst="rect">
              <a:avLst/>
            </a:prstGeom>
            <a:solidFill>
              <a:srgbClr val="63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7" name="Rectangle 734">
              <a:extLst>
                <a:ext uri="{FF2B5EF4-FFF2-40B4-BE49-F238E27FC236}">
                  <a16:creationId xmlns:a16="http://schemas.microsoft.com/office/drawing/2014/main" id="{A9849EAA-D201-8646-8AC8-EB283E652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1358"/>
              <a:ext cx="32" cy="65"/>
            </a:xfrm>
            <a:prstGeom prst="rect">
              <a:avLst/>
            </a:prstGeom>
            <a:solidFill>
              <a:srgbClr val="659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8" name="Rectangle 735">
              <a:extLst>
                <a:ext uri="{FF2B5EF4-FFF2-40B4-BE49-F238E27FC236}">
                  <a16:creationId xmlns:a16="http://schemas.microsoft.com/office/drawing/2014/main" id="{46F8F059-A1C7-184C-A452-ED6F376F6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1358"/>
              <a:ext cx="34" cy="65"/>
            </a:xfrm>
            <a:prstGeom prst="rect">
              <a:avLst/>
            </a:prstGeom>
            <a:solidFill>
              <a:srgbClr val="67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59" name="Rectangle 736">
              <a:extLst>
                <a:ext uri="{FF2B5EF4-FFF2-40B4-BE49-F238E27FC236}">
                  <a16:creationId xmlns:a16="http://schemas.microsoft.com/office/drawing/2014/main" id="{F2999556-2DFE-5349-BFDB-22C242B0B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" y="1358"/>
              <a:ext cx="22" cy="65"/>
            </a:xfrm>
            <a:prstGeom prst="rect">
              <a:avLst/>
            </a:prstGeom>
            <a:solidFill>
              <a:srgbClr val="699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0" name="Rectangle 737">
              <a:extLst>
                <a:ext uri="{FF2B5EF4-FFF2-40B4-BE49-F238E27FC236}">
                  <a16:creationId xmlns:a16="http://schemas.microsoft.com/office/drawing/2014/main" id="{D726F0C3-14A9-4A48-9E52-E07626035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1358"/>
              <a:ext cx="29" cy="65"/>
            </a:xfrm>
            <a:prstGeom prst="rect">
              <a:avLst/>
            </a:prstGeom>
            <a:solidFill>
              <a:srgbClr val="6B9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1" name="Rectangle 738">
              <a:extLst>
                <a:ext uri="{FF2B5EF4-FFF2-40B4-BE49-F238E27FC236}">
                  <a16:creationId xmlns:a16="http://schemas.microsoft.com/office/drawing/2014/main" id="{5C575A4E-E228-0A40-834F-69ECA6931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358"/>
              <a:ext cx="22" cy="65"/>
            </a:xfrm>
            <a:prstGeom prst="rect">
              <a:avLst/>
            </a:prstGeom>
            <a:solidFill>
              <a:srgbClr val="6C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2" name="Rectangle 739">
              <a:extLst>
                <a:ext uri="{FF2B5EF4-FFF2-40B4-BE49-F238E27FC236}">
                  <a16:creationId xmlns:a16="http://schemas.microsoft.com/office/drawing/2014/main" id="{6E5E692B-13FA-6347-AD20-BEE7F6433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2" y="1358"/>
              <a:ext cx="30" cy="65"/>
            </a:xfrm>
            <a:prstGeom prst="rect">
              <a:avLst/>
            </a:prstGeom>
            <a:solidFill>
              <a:srgbClr val="6E9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3" name="Rectangle 740">
              <a:extLst>
                <a:ext uri="{FF2B5EF4-FFF2-40B4-BE49-F238E27FC236}">
                  <a16:creationId xmlns:a16="http://schemas.microsoft.com/office/drawing/2014/main" id="{18188556-DF41-404D-84EB-011AA397E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358"/>
              <a:ext cx="33" cy="65"/>
            </a:xfrm>
            <a:prstGeom prst="rect">
              <a:avLst/>
            </a:prstGeom>
            <a:solidFill>
              <a:srgbClr val="70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4" name="Rectangle 741">
              <a:extLst>
                <a:ext uri="{FF2B5EF4-FFF2-40B4-BE49-F238E27FC236}">
                  <a16:creationId xmlns:a16="http://schemas.microsoft.com/office/drawing/2014/main" id="{AFB122B2-300C-5843-B171-A6B34725B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1358"/>
              <a:ext cx="34" cy="65"/>
            </a:xfrm>
            <a:prstGeom prst="rect">
              <a:avLst/>
            </a:prstGeom>
            <a:solidFill>
              <a:srgbClr val="72A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5" name="Rectangle 742">
              <a:extLst>
                <a:ext uri="{FF2B5EF4-FFF2-40B4-BE49-F238E27FC236}">
                  <a16:creationId xmlns:a16="http://schemas.microsoft.com/office/drawing/2014/main" id="{BA384FCD-F3FE-5540-940D-6F63CACFE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1358"/>
              <a:ext cx="34" cy="65"/>
            </a:xfrm>
            <a:prstGeom prst="rect">
              <a:avLst/>
            </a:prstGeom>
            <a:solidFill>
              <a:srgbClr val="74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6" name="Rectangle 743">
              <a:extLst>
                <a:ext uri="{FF2B5EF4-FFF2-40B4-BE49-F238E27FC236}">
                  <a16:creationId xmlns:a16="http://schemas.microsoft.com/office/drawing/2014/main" id="{24CEA95B-1C5B-5F4E-8D45-28C551A14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358"/>
              <a:ext cx="34" cy="65"/>
            </a:xfrm>
            <a:prstGeom prst="rect">
              <a:avLst/>
            </a:prstGeom>
            <a:solidFill>
              <a:srgbClr val="76A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7" name="Rectangle 744">
              <a:extLst>
                <a:ext uri="{FF2B5EF4-FFF2-40B4-BE49-F238E27FC236}">
                  <a16:creationId xmlns:a16="http://schemas.microsoft.com/office/drawing/2014/main" id="{0C88571A-99E8-CF49-A9C0-3CE24BE67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7" y="1358"/>
              <a:ext cx="33" cy="65"/>
            </a:xfrm>
            <a:prstGeom prst="rect">
              <a:avLst/>
            </a:prstGeom>
            <a:solidFill>
              <a:srgbClr val="78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8" name="Rectangle 745">
              <a:extLst>
                <a:ext uri="{FF2B5EF4-FFF2-40B4-BE49-F238E27FC236}">
                  <a16:creationId xmlns:a16="http://schemas.microsoft.com/office/drawing/2014/main" id="{4183D7CF-FB42-E34A-A3FB-A14FFCDE8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1358"/>
              <a:ext cx="34" cy="65"/>
            </a:xfrm>
            <a:prstGeom prst="rect">
              <a:avLst/>
            </a:prstGeom>
            <a:solidFill>
              <a:srgbClr val="7AA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69" name="Rectangle 746">
              <a:extLst>
                <a:ext uri="{FF2B5EF4-FFF2-40B4-BE49-F238E27FC236}">
                  <a16:creationId xmlns:a16="http://schemas.microsoft.com/office/drawing/2014/main" id="{0A300622-F159-C540-A410-56D123F7A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" y="1358"/>
              <a:ext cx="34" cy="65"/>
            </a:xfrm>
            <a:prstGeom prst="rect">
              <a:avLst/>
            </a:prstGeom>
            <a:solidFill>
              <a:srgbClr val="7C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0" name="Rectangle 747">
              <a:extLst>
                <a:ext uri="{FF2B5EF4-FFF2-40B4-BE49-F238E27FC236}">
                  <a16:creationId xmlns:a16="http://schemas.microsoft.com/office/drawing/2014/main" id="{045DC33B-83B3-EF42-8AD2-27D92660F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358"/>
              <a:ext cx="35" cy="65"/>
            </a:xfrm>
            <a:prstGeom prst="rect">
              <a:avLst/>
            </a:prstGeom>
            <a:solidFill>
              <a:srgbClr val="7EA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1" name="Rectangle 748">
              <a:extLst>
                <a:ext uri="{FF2B5EF4-FFF2-40B4-BE49-F238E27FC236}">
                  <a16:creationId xmlns:a16="http://schemas.microsoft.com/office/drawing/2014/main" id="{B0743B64-42A8-C942-BA82-A2E39754D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1358"/>
              <a:ext cx="32" cy="65"/>
            </a:xfrm>
            <a:prstGeom prst="rect">
              <a:avLst/>
            </a:prstGeom>
            <a:solidFill>
              <a:srgbClr val="8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2" name="Rectangle 749">
              <a:extLst>
                <a:ext uri="{FF2B5EF4-FFF2-40B4-BE49-F238E27FC236}">
                  <a16:creationId xmlns:a16="http://schemas.microsoft.com/office/drawing/2014/main" id="{7E2F5C18-DE87-CF40-83CD-6AE0A4C40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1358"/>
              <a:ext cx="34" cy="65"/>
            </a:xfrm>
            <a:prstGeom prst="rect">
              <a:avLst/>
            </a:prstGeom>
            <a:solidFill>
              <a:srgbClr val="82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3" name="Rectangle 750">
              <a:extLst>
                <a:ext uri="{FF2B5EF4-FFF2-40B4-BE49-F238E27FC236}">
                  <a16:creationId xmlns:a16="http://schemas.microsoft.com/office/drawing/2014/main" id="{5199F6BD-DA79-4140-81DE-EF654A50E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358"/>
              <a:ext cx="35" cy="65"/>
            </a:xfrm>
            <a:prstGeom prst="rect">
              <a:avLst/>
            </a:prstGeom>
            <a:solidFill>
              <a:srgbClr val="8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4" name="Rectangle 751">
              <a:extLst>
                <a:ext uri="{FF2B5EF4-FFF2-40B4-BE49-F238E27FC236}">
                  <a16:creationId xmlns:a16="http://schemas.microsoft.com/office/drawing/2014/main" id="{0BF0E6F3-1A99-8A4A-8B78-553F66F3E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" y="1358"/>
              <a:ext cx="34" cy="65"/>
            </a:xfrm>
            <a:prstGeom prst="rect">
              <a:avLst/>
            </a:prstGeom>
            <a:solidFill>
              <a:srgbClr val="86B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5" name="Rectangle 752">
              <a:extLst>
                <a:ext uri="{FF2B5EF4-FFF2-40B4-BE49-F238E27FC236}">
                  <a16:creationId xmlns:a16="http://schemas.microsoft.com/office/drawing/2014/main" id="{1BE81F27-AC28-B745-9E30-9288C75ED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" y="1358"/>
              <a:ext cx="34" cy="65"/>
            </a:xfrm>
            <a:prstGeom prst="rect">
              <a:avLst/>
            </a:prstGeom>
            <a:solidFill>
              <a:srgbClr val="8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6" name="Rectangle 753">
              <a:extLst>
                <a:ext uri="{FF2B5EF4-FFF2-40B4-BE49-F238E27FC236}">
                  <a16:creationId xmlns:a16="http://schemas.microsoft.com/office/drawing/2014/main" id="{F2E01AA9-2CAF-A444-A0B7-6BD4AF3C8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2" y="1358"/>
              <a:ext cx="33" cy="65"/>
            </a:xfrm>
            <a:prstGeom prst="rect">
              <a:avLst/>
            </a:prstGeom>
            <a:solidFill>
              <a:srgbClr val="8A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7" name="Rectangle 754">
              <a:extLst>
                <a:ext uri="{FF2B5EF4-FFF2-40B4-BE49-F238E27FC236}">
                  <a16:creationId xmlns:a16="http://schemas.microsoft.com/office/drawing/2014/main" id="{E4CCB9A9-BCF3-B949-AE59-CD741886B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358"/>
              <a:ext cx="34" cy="65"/>
            </a:xfrm>
            <a:prstGeom prst="rect">
              <a:avLst/>
            </a:prstGeom>
            <a:solidFill>
              <a:srgbClr val="8CB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8" name="Rectangle 755">
              <a:extLst>
                <a:ext uri="{FF2B5EF4-FFF2-40B4-BE49-F238E27FC236}">
                  <a16:creationId xmlns:a16="http://schemas.microsoft.com/office/drawing/2014/main" id="{BAF7051A-D9DD-1145-911B-C1FFA7E86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1358"/>
              <a:ext cx="34" cy="65"/>
            </a:xfrm>
            <a:prstGeom prst="rect">
              <a:avLst/>
            </a:prstGeom>
            <a:solidFill>
              <a:srgbClr val="8EB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79" name="Rectangle 756">
              <a:extLst>
                <a:ext uri="{FF2B5EF4-FFF2-40B4-BE49-F238E27FC236}">
                  <a16:creationId xmlns:a16="http://schemas.microsoft.com/office/drawing/2014/main" id="{C07230C1-C9B3-8741-9DA9-46DAB91DA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" y="1358"/>
              <a:ext cx="34" cy="65"/>
            </a:xfrm>
            <a:prstGeom prst="rect">
              <a:avLst/>
            </a:prstGeom>
            <a:solidFill>
              <a:srgbClr val="8FC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0" name="Rectangle 757">
              <a:extLst>
                <a:ext uri="{FF2B5EF4-FFF2-40B4-BE49-F238E27FC236}">
                  <a16:creationId xmlns:a16="http://schemas.microsoft.com/office/drawing/2014/main" id="{164C62E0-726C-014D-AF40-B1E671456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7" y="1358"/>
              <a:ext cx="33" cy="65"/>
            </a:xfrm>
            <a:prstGeom prst="rect">
              <a:avLst/>
            </a:prstGeom>
            <a:solidFill>
              <a:srgbClr val="91C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1" name="Rectangle 758">
              <a:extLst>
                <a:ext uri="{FF2B5EF4-FFF2-40B4-BE49-F238E27FC236}">
                  <a16:creationId xmlns:a16="http://schemas.microsoft.com/office/drawing/2014/main" id="{1228FA8B-AD66-A046-9CA1-78F7C128B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1358"/>
              <a:ext cx="34" cy="65"/>
            </a:xfrm>
            <a:prstGeom prst="rect">
              <a:avLst/>
            </a:prstGeom>
            <a:solidFill>
              <a:srgbClr val="9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2" name="Rectangle 759">
              <a:extLst>
                <a:ext uri="{FF2B5EF4-FFF2-40B4-BE49-F238E27FC236}">
                  <a16:creationId xmlns:a16="http://schemas.microsoft.com/office/drawing/2014/main" id="{28B90EA3-FBB1-144F-9D3A-102CC02A1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1358"/>
              <a:ext cx="34" cy="65"/>
            </a:xfrm>
            <a:prstGeom prst="rect">
              <a:avLst/>
            </a:prstGeom>
            <a:solidFill>
              <a:srgbClr val="95C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3" name="Rectangle 760">
              <a:extLst>
                <a:ext uri="{FF2B5EF4-FFF2-40B4-BE49-F238E27FC236}">
                  <a16:creationId xmlns:a16="http://schemas.microsoft.com/office/drawing/2014/main" id="{563671E5-4DBA-F640-A02C-DFB03F782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1358"/>
              <a:ext cx="34" cy="65"/>
            </a:xfrm>
            <a:prstGeom prst="rect">
              <a:avLst/>
            </a:prstGeom>
            <a:solidFill>
              <a:srgbClr val="97C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4" name="Rectangle 761">
              <a:extLst>
                <a:ext uri="{FF2B5EF4-FFF2-40B4-BE49-F238E27FC236}">
                  <a16:creationId xmlns:a16="http://schemas.microsoft.com/office/drawing/2014/main" id="{B32BA388-35F6-C248-82FE-A66978A81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" y="1358"/>
              <a:ext cx="35" cy="65"/>
            </a:xfrm>
            <a:prstGeom prst="rect">
              <a:avLst/>
            </a:prstGeom>
            <a:solidFill>
              <a:srgbClr val="98C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5" name="Rectangle 762">
              <a:extLst>
                <a:ext uri="{FF2B5EF4-FFF2-40B4-BE49-F238E27FC236}">
                  <a16:creationId xmlns:a16="http://schemas.microsoft.com/office/drawing/2014/main" id="{F3E27C21-623D-0B47-B8C9-73DD6D6A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1358"/>
              <a:ext cx="32" cy="65"/>
            </a:xfrm>
            <a:prstGeom prst="rect">
              <a:avLst/>
            </a:prstGeom>
            <a:solidFill>
              <a:srgbClr val="9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6" name="Rectangle 763">
              <a:extLst>
                <a:ext uri="{FF2B5EF4-FFF2-40B4-BE49-F238E27FC236}">
                  <a16:creationId xmlns:a16="http://schemas.microsoft.com/office/drawing/2014/main" id="{DF30B8D9-7A21-DF45-8C9F-F348C012B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9" y="1358"/>
              <a:ext cx="34" cy="65"/>
            </a:xfrm>
            <a:prstGeom prst="rect">
              <a:avLst/>
            </a:prstGeom>
            <a:solidFill>
              <a:srgbClr val="9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7" name="Rectangle 764">
              <a:extLst>
                <a:ext uri="{FF2B5EF4-FFF2-40B4-BE49-F238E27FC236}">
                  <a16:creationId xmlns:a16="http://schemas.microsoft.com/office/drawing/2014/main" id="{77C1E104-D7E6-E24E-989E-1298E6C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" y="1358"/>
              <a:ext cx="35" cy="65"/>
            </a:xfrm>
            <a:prstGeom prst="rect">
              <a:avLst/>
            </a:prstGeom>
            <a:solidFill>
              <a:srgbClr val="9D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8" name="Rectangle 765">
              <a:extLst>
                <a:ext uri="{FF2B5EF4-FFF2-40B4-BE49-F238E27FC236}">
                  <a16:creationId xmlns:a16="http://schemas.microsoft.com/office/drawing/2014/main" id="{F0AA6D0D-EF50-2E44-ACF2-27D7A66CD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8" y="1358"/>
              <a:ext cx="34" cy="65"/>
            </a:xfrm>
            <a:prstGeom prst="rect">
              <a:avLst/>
            </a:prstGeom>
            <a:solidFill>
              <a:srgbClr val="9F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89" name="Rectangle 766">
              <a:extLst>
                <a:ext uri="{FF2B5EF4-FFF2-40B4-BE49-F238E27FC236}">
                  <a16:creationId xmlns:a16="http://schemas.microsoft.com/office/drawing/2014/main" id="{930CFB29-AD63-5448-9820-969717520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1358"/>
              <a:ext cx="32" cy="65"/>
            </a:xfrm>
            <a:prstGeom prst="rect">
              <a:avLst/>
            </a:prstGeom>
            <a:solidFill>
              <a:srgbClr val="A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0" name="Rectangle 767">
              <a:extLst>
                <a:ext uri="{FF2B5EF4-FFF2-40B4-BE49-F238E27FC236}">
                  <a16:creationId xmlns:a16="http://schemas.microsoft.com/office/drawing/2014/main" id="{E22F71B0-BEB9-674A-B195-39EA3BE76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358"/>
              <a:ext cx="35" cy="65"/>
            </a:xfrm>
            <a:prstGeom prst="rect">
              <a:avLst/>
            </a:prstGeom>
            <a:solidFill>
              <a:srgbClr val="A2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1" name="Rectangle 768">
              <a:extLst>
                <a:ext uri="{FF2B5EF4-FFF2-40B4-BE49-F238E27FC236}">
                  <a16:creationId xmlns:a16="http://schemas.microsoft.com/office/drawing/2014/main" id="{3E4D1A71-CB57-BA43-9E00-9142A38FA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1358"/>
              <a:ext cx="34" cy="65"/>
            </a:xfrm>
            <a:prstGeom prst="rect">
              <a:avLst/>
            </a:prstGeom>
            <a:solidFill>
              <a:srgbClr val="A4D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2" name="Rectangle 769">
              <a:extLst>
                <a:ext uri="{FF2B5EF4-FFF2-40B4-BE49-F238E27FC236}">
                  <a16:creationId xmlns:a16="http://schemas.microsoft.com/office/drawing/2014/main" id="{B8A2E84B-4E99-2744-AB60-276AE9D06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" y="1358"/>
              <a:ext cx="34" cy="65"/>
            </a:xfrm>
            <a:prstGeom prst="rect">
              <a:avLst/>
            </a:prstGeom>
            <a:solidFill>
              <a:srgbClr val="A5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3" name="Rectangle 770">
              <a:extLst>
                <a:ext uri="{FF2B5EF4-FFF2-40B4-BE49-F238E27FC236}">
                  <a16:creationId xmlns:a16="http://schemas.microsoft.com/office/drawing/2014/main" id="{F66598F5-4F9B-5B40-9B47-D7C69FDB7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" y="1358"/>
              <a:ext cx="33" cy="65"/>
            </a:xfrm>
            <a:prstGeom prst="rect">
              <a:avLst/>
            </a:prstGeom>
            <a:solidFill>
              <a:srgbClr val="A7D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4" name="Rectangle 771">
              <a:extLst>
                <a:ext uri="{FF2B5EF4-FFF2-40B4-BE49-F238E27FC236}">
                  <a16:creationId xmlns:a16="http://schemas.microsoft.com/office/drawing/2014/main" id="{82BE2FF9-A7F4-A743-A160-2823A0387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" y="1358"/>
              <a:ext cx="34" cy="65"/>
            </a:xfrm>
            <a:prstGeom prst="rect">
              <a:avLst/>
            </a:prstGeom>
            <a:solidFill>
              <a:srgbClr val="A8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5" name="Rectangle 772">
              <a:extLst>
                <a:ext uri="{FF2B5EF4-FFF2-40B4-BE49-F238E27FC236}">
                  <a16:creationId xmlns:a16="http://schemas.microsoft.com/office/drawing/2014/main" id="{BE7F03FF-9FE0-224A-A793-0936AF8C7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" y="1358"/>
              <a:ext cx="34" cy="65"/>
            </a:xfrm>
            <a:prstGeom prst="rect">
              <a:avLst/>
            </a:prstGeom>
            <a:solidFill>
              <a:srgbClr val="AAD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6" name="Rectangle 773">
              <a:extLst>
                <a:ext uri="{FF2B5EF4-FFF2-40B4-BE49-F238E27FC236}">
                  <a16:creationId xmlns:a16="http://schemas.microsoft.com/office/drawing/2014/main" id="{2D908572-7ED6-B946-AAD1-579C951D8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358"/>
              <a:ext cx="51" cy="65"/>
            </a:xfrm>
            <a:prstGeom prst="rect">
              <a:avLst/>
            </a:prstGeom>
            <a:solidFill>
              <a:srgbClr val="ABD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7" name="Rectangle 774">
              <a:extLst>
                <a:ext uri="{FF2B5EF4-FFF2-40B4-BE49-F238E27FC236}">
                  <a16:creationId xmlns:a16="http://schemas.microsoft.com/office/drawing/2014/main" id="{85C9AB6D-1BEA-3C4B-9337-06A572126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1358"/>
              <a:ext cx="50" cy="65"/>
            </a:xfrm>
            <a:prstGeom prst="rect">
              <a:avLst/>
            </a:prstGeom>
            <a:solidFill>
              <a:srgbClr val="ADD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8" name="Rectangle 775">
              <a:extLst>
                <a:ext uri="{FF2B5EF4-FFF2-40B4-BE49-F238E27FC236}">
                  <a16:creationId xmlns:a16="http://schemas.microsoft.com/office/drawing/2014/main" id="{9F7B6794-2864-394C-8885-271B95BE0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1358"/>
              <a:ext cx="52" cy="65"/>
            </a:xfrm>
            <a:prstGeom prst="rect">
              <a:avLst/>
            </a:prstGeom>
            <a:solidFill>
              <a:srgbClr val="AF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99" name="Rectangle 776">
              <a:extLst>
                <a:ext uri="{FF2B5EF4-FFF2-40B4-BE49-F238E27FC236}">
                  <a16:creationId xmlns:a16="http://schemas.microsoft.com/office/drawing/2014/main" id="{CB6D2B7E-7B80-E448-B8B1-E158F198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358"/>
              <a:ext cx="51" cy="65"/>
            </a:xfrm>
            <a:prstGeom prst="rect">
              <a:avLst/>
            </a:prstGeom>
            <a:solidFill>
              <a:srgbClr val="B1E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0" name="Rectangle 777">
              <a:extLst>
                <a:ext uri="{FF2B5EF4-FFF2-40B4-BE49-F238E27FC236}">
                  <a16:creationId xmlns:a16="http://schemas.microsoft.com/office/drawing/2014/main" id="{6FB746EA-5088-1640-8505-1872DFFF6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1358"/>
              <a:ext cx="67" cy="65"/>
            </a:xfrm>
            <a:prstGeom prst="rect">
              <a:avLst/>
            </a:prstGeom>
            <a:solidFill>
              <a:srgbClr val="B3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1" name="Rectangle 778">
              <a:extLst>
                <a:ext uri="{FF2B5EF4-FFF2-40B4-BE49-F238E27FC236}">
                  <a16:creationId xmlns:a16="http://schemas.microsoft.com/office/drawing/2014/main" id="{95682E21-2B59-CA40-9BCC-C8D3EF5DC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" y="1358"/>
              <a:ext cx="50" cy="65"/>
            </a:xfrm>
            <a:prstGeom prst="rect">
              <a:avLst/>
            </a:prstGeom>
            <a:solidFill>
              <a:srgbClr val="B5E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2" name="Rectangle 779">
              <a:extLst>
                <a:ext uri="{FF2B5EF4-FFF2-40B4-BE49-F238E27FC236}">
                  <a16:creationId xmlns:a16="http://schemas.microsoft.com/office/drawing/2014/main" id="{A0E60147-519C-014D-9232-5D380743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1358"/>
              <a:ext cx="52" cy="65"/>
            </a:xfrm>
            <a:prstGeom prst="rect">
              <a:avLst/>
            </a:prstGeom>
            <a:solidFill>
              <a:srgbClr val="B6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3" name="Rectangle 780">
              <a:extLst>
                <a:ext uri="{FF2B5EF4-FFF2-40B4-BE49-F238E27FC236}">
                  <a16:creationId xmlns:a16="http://schemas.microsoft.com/office/drawing/2014/main" id="{ADAA2436-D8DA-C448-B9C3-81F5B7D60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" y="1358"/>
              <a:ext cx="33" cy="65"/>
            </a:xfrm>
            <a:prstGeom prst="rect">
              <a:avLst/>
            </a:prstGeom>
            <a:solidFill>
              <a:srgbClr val="B8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4" name="Rectangle 781">
              <a:extLst>
                <a:ext uri="{FF2B5EF4-FFF2-40B4-BE49-F238E27FC236}">
                  <a16:creationId xmlns:a16="http://schemas.microsoft.com/office/drawing/2014/main" id="{C3371994-BB64-734B-9958-5096894F3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1358"/>
              <a:ext cx="68" cy="65"/>
            </a:xfrm>
            <a:prstGeom prst="rect">
              <a:avLst/>
            </a:prstGeom>
            <a:solidFill>
              <a:srgbClr val="B9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5" name="Rectangle 782">
              <a:extLst>
                <a:ext uri="{FF2B5EF4-FFF2-40B4-BE49-F238E27FC236}">
                  <a16:creationId xmlns:a16="http://schemas.microsoft.com/office/drawing/2014/main" id="{85F39F36-67BE-EE48-954F-13DCD4A34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1358"/>
              <a:ext cx="67" cy="65"/>
            </a:xfrm>
            <a:prstGeom prst="rect">
              <a:avLst/>
            </a:prstGeom>
            <a:solidFill>
              <a:srgbClr val="BBE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6" name="Rectangle 783">
              <a:extLst>
                <a:ext uri="{FF2B5EF4-FFF2-40B4-BE49-F238E27FC236}">
                  <a16:creationId xmlns:a16="http://schemas.microsoft.com/office/drawing/2014/main" id="{94968E66-5954-CC47-8927-7812B99A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1358"/>
              <a:ext cx="52" cy="65"/>
            </a:xfrm>
            <a:prstGeom prst="rect">
              <a:avLst/>
            </a:prstGeom>
            <a:solidFill>
              <a:srgbClr val="BDE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7" name="Rectangle 784">
              <a:extLst>
                <a:ext uri="{FF2B5EF4-FFF2-40B4-BE49-F238E27FC236}">
                  <a16:creationId xmlns:a16="http://schemas.microsoft.com/office/drawing/2014/main" id="{EC5BF2AB-7AF6-5242-8A00-5BCC6E93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" y="1358"/>
              <a:ext cx="83" cy="65"/>
            </a:xfrm>
            <a:prstGeom prst="rect">
              <a:avLst/>
            </a:prstGeom>
            <a:solidFill>
              <a:srgbClr val="BEF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8" name="Rectangle 785">
              <a:extLst>
                <a:ext uri="{FF2B5EF4-FFF2-40B4-BE49-F238E27FC236}">
                  <a16:creationId xmlns:a16="http://schemas.microsoft.com/office/drawing/2014/main" id="{B9640DF5-96CA-494B-8723-CE58BEAD4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" y="1358"/>
              <a:ext cx="85" cy="65"/>
            </a:xfrm>
            <a:prstGeom prst="rect">
              <a:avLst/>
            </a:prstGeom>
            <a:solidFill>
              <a:srgbClr val="C0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09" name="Rectangle 786">
              <a:extLst>
                <a:ext uri="{FF2B5EF4-FFF2-40B4-BE49-F238E27FC236}">
                  <a16:creationId xmlns:a16="http://schemas.microsoft.com/office/drawing/2014/main" id="{1363FB61-E37E-0A47-A785-71359B9CC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9" y="1358"/>
              <a:ext cx="103" cy="65"/>
            </a:xfrm>
            <a:prstGeom prst="rect">
              <a:avLst/>
            </a:prstGeom>
            <a:solidFill>
              <a:srgbClr val="C2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0" name="Rectangle 787">
              <a:extLst>
                <a:ext uri="{FF2B5EF4-FFF2-40B4-BE49-F238E27FC236}">
                  <a16:creationId xmlns:a16="http://schemas.microsoft.com/office/drawing/2014/main" id="{EE15A1BE-C7B4-5649-831A-380558692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358"/>
              <a:ext cx="66" cy="65"/>
            </a:xfrm>
            <a:prstGeom prst="rect">
              <a:avLst/>
            </a:prstGeom>
            <a:solidFill>
              <a:srgbClr val="C3F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1" name="Rectangle 788">
              <a:extLst>
                <a:ext uri="{FF2B5EF4-FFF2-40B4-BE49-F238E27FC236}">
                  <a16:creationId xmlns:a16="http://schemas.microsoft.com/office/drawing/2014/main" id="{1E204208-0714-6740-8E0B-7A609625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" y="1358"/>
              <a:ext cx="103" cy="65"/>
            </a:xfrm>
            <a:prstGeom prst="rect">
              <a:avLst/>
            </a:prstGeom>
            <a:solidFill>
              <a:srgbClr val="C5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2" name="Rectangle 789">
              <a:extLst>
                <a:ext uri="{FF2B5EF4-FFF2-40B4-BE49-F238E27FC236}">
                  <a16:creationId xmlns:a16="http://schemas.microsoft.com/office/drawing/2014/main" id="{D21A7950-9FD1-C145-84ED-2C14DCF9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" y="1358"/>
              <a:ext cx="117" cy="65"/>
            </a:xfrm>
            <a:prstGeom prst="rect">
              <a:avLst/>
            </a:prstGeom>
            <a:solidFill>
              <a:srgbClr val="C6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3" name="Rectangle 790">
              <a:extLst>
                <a:ext uri="{FF2B5EF4-FFF2-40B4-BE49-F238E27FC236}">
                  <a16:creationId xmlns:a16="http://schemas.microsoft.com/office/drawing/2014/main" id="{E128DE42-9BC0-2841-9851-22708295F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1358"/>
              <a:ext cx="103" cy="65"/>
            </a:xfrm>
            <a:prstGeom prst="rect">
              <a:avLst/>
            </a:prstGeom>
            <a:solidFill>
              <a:srgbClr val="C8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4" name="Rectangle 791">
              <a:extLst>
                <a:ext uri="{FF2B5EF4-FFF2-40B4-BE49-F238E27FC236}">
                  <a16:creationId xmlns:a16="http://schemas.microsoft.com/office/drawing/2014/main" id="{84CB2C60-84E6-2C4E-AED0-33A2FB52A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1" y="1358"/>
              <a:ext cx="202" cy="65"/>
            </a:xfrm>
            <a:prstGeom prst="rect">
              <a:avLst/>
            </a:prstGeom>
            <a:solidFill>
              <a:srgbClr val="C9F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5" name="Rectangle 792">
              <a:extLst>
                <a:ext uri="{FF2B5EF4-FFF2-40B4-BE49-F238E27FC236}">
                  <a16:creationId xmlns:a16="http://schemas.microsoft.com/office/drawing/2014/main" id="{B635D59B-AF42-3449-9EB0-BF50AF1CA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" y="1358"/>
              <a:ext cx="153" cy="65"/>
            </a:xfrm>
            <a:prstGeom prst="rect">
              <a:avLst/>
            </a:prstGeom>
            <a:solidFill>
              <a:srgbClr val="CB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616" name="Rectangle 793">
              <a:extLst>
                <a:ext uri="{FF2B5EF4-FFF2-40B4-BE49-F238E27FC236}">
                  <a16:creationId xmlns:a16="http://schemas.microsoft.com/office/drawing/2014/main" id="{D9480606-3789-4D42-B84A-7C56ED137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" y="1358"/>
              <a:ext cx="92" cy="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13337" name="Group 888">
            <a:extLst>
              <a:ext uri="{FF2B5EF4-FFF2-40B4-BE49-F238E27FC236}">
                <a16:creationId xmlns:a16="http://schemas.microsoft.com/office/drawing/2014/main" id="{A99A8693-B3C9-D348-A422-3C9D0D5E5842}"/>
              </a:ext>
            </a:extLst>
          </p:cNvPr>
          <p:cNvGrpSpPr>
            <a:grpSpLocks/>
          </p:cNvGrpSpPr>
          <p:nvPr/>
        </p:nvGrpSpPr>
        <p:grpSpPr bwMode="auto">
          <a:xfrm>
            <a:off x="8088313" y="971550"/>
            <a:ext cx="274637" cy="5626100"/>
            <a:chOff x="5095" y="612"/>
            <a:chExt cx="173" cy="3544"/>
          </a:xfrm>
        </p:grpSpPr>
        <p:sp>
          <p:nvSpPr>
            <p:cNvPr id="13414" name="Rectangle 795">
              <a:extLst>
                <a:ext uri="{FF2B5EF4-FFF2-40B4-BE49-F238E27FC236}">
                  <a16:creationId xmlns:a16="http://schemas.microsoft.com/office/drawing/2014/main" id="{E0F57E3B-8FFE-4B4B-BBF0-62CC337A6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" y="612"/>
              <a:ext cx="2" cy="3544"/>
            </a:xfrm>
            <a:prstGeom prst="rect">
              <a:avLst/>
            </a:prstGeom>
            <a:solidFill>
              <a:srgbClr val="00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15" name="Rectangle 796">
              <a:extLst>
                <a:ext uri="{FF2B5EF4-FFF2-40B4-BE49-F238E27FC236}">
                  <a16:creationId xmlns:a16="http://schemas.microsoft.com/office/drawing/2014/main" id="{DBE29E2C-1ED5-2441-824C-D93CC06F2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7" y="612"/>
              <a:ext cx="2" cy="3544"/>
            </a:xfrm>
            <a:prstGeom prst="rect">
              <a:avLst/>
            </a:prstGeom>
            <a:solidFill>
              <a:srgbClr val="0009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16" name="Rectangle 797">
              <a:extLst>
                <a:ext uri="{FF2B5EF4-FFF2-40B4-BE49-F238E27FC236}">
                  <a16:creationId xmlns:a16="http://schemas.microsoft.com/office/drawing/2014/main" id="{FCFFD3C9-EAE4-C64E-9BBC-E5190CC4F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9" y="612"/>
              <a:ext cx="2" cy="3544"/>
            </a:xfrm>
            <a:prstGeom prst="rect">
              <a:avLst/>
            </a:prstGeom>
            <a:solidFill>
              <a:srgbClr val="050D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17" name="Rectangle 798">
              <a:extLst>
                <a:ext uri="{FF2B5EF4-FFF2-40B4-BE49-F238E27FC236}">
                  <a16:creationId xmlns:a16="http://schemas.microsoft.com/office/drawing/2014/main" id="{DD9FF1D9-F849-D447-BC4A-E5DF97DE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1" y="612"/>
              <a:ext cx="1" cy="3544"/>
            </a:xfrm>
            <a:prstGeom prst="rect">
              <a:avLst/>
            </a:prstGeom>
            <a:solidFill>
              <a:srgbClr val="0B10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18" name="Rectangle 799">
              <a:extLst>
                <a:ext uri="{FF2B5EF4-FFF2-40B4-BE49-F238E27FC236}">
                  <a16:creationId xmlns:a16="http://schemas.microsoft.com/office/drawing/2014/main" id="{5BF617DA-2A67-4942-ACE8-3C85FFAB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2" y="612"/>
              <a:ext cx="2" cy="3544"/>
            </a:xfrm>
            <a:prstGeom prst="rect">
              <a:avLst/>
            </a:prstGeom>
            <a:solidFill>
              <a:srgbClr val="0B14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19" name="Rectangle 800">
              <a:extLst>
                <a:ext uri="{FF2B5EF4-FFF2-40B4-BE49-F238E27FC236}">
                  <a16:creationId xmlns:a16="http://schemas.microsoft.com/office/drawing/2014/main" id="{99A97D56-B224-6543-A292-AE65EA925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612"/>
              <a:ext cx="2" cy="3544"/>
            </a:xfrm>
            <a:prstGeom prst="rect">
              <a:avLst/>
            </a:prstGeom>
            <a:solidFill>
              <a:srgbClr val="0B1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0" name="Rectangle 801">
              <a:extLst>
                <a:ext uri="{FF2B5EF4-FFF2-40B4-BE49-F238E27FC236}">
                  <a16:creationId xmlns:a16="http://schemas.microsoft.com/office/drawing/2014/main" id="{2D2DDE92-849D-6E45-98FE-97EBEF529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" y="612"/>
              <a:ext cx="2" cy="3544"/>
            </a:xfrm>
            <a:prstGeom prst="rect">
              <a:avLst/>
            </a:prstGeom>
            <a:solidFill>
              <a:srgbClr val="0B1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1" name="Rectangle 802">
              <a:extLst>
                <a:ext uri="{FF2B5EF4-FFF2-40B4-BE49-F238E27FC236}">
                  <a16:creationId xmlns:a16="http://schemas.microsoft.com/office/drawing/2014/main" id="{075EC1E9-A3E9-AC4A-81F9-D85B1D8AD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" y="612"/>
              <a:ext cx="2" cy="3544"/>
            </a:xfrm>
            <a:prstGeom prst="rect">
              <a:avLst/>
            </a:prstGeom>
            <a:solidFill>
              <a:srgbClr val="0E1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2" name="Rectangle 803">
              <a:extLst>
                <a:ext uri="{FF2B5EF4-FFF2-40B4-BE49-F238E27FC236}">
                  <a16:creationId xmlns:a16="http://schemas.microsoft.com/office/drawing/2014/main" id="{FD14102E-1CB4-834F-A1C6-5413EC5F8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" y="612"/>
              <a:ext cx="1" cy="3544"/>
            </a:xfrm>
            <a:prstGeom prst="rect">
              <a:avLst/>
            </a:prstGeom>
            <a:solidFill>
              <a:srgbClr val="1020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3" name="Rectangle 804">
              <a:extLst>
                <a:ext uri="{FF2B5EF4-FFF2-40B4-BE49-F238E27FC236}">
                  <a16:creationId xmlns:a16="http://schemas.microsoft.com/office/drawing/2014/main" id="{FAB93604-BCAF-9A4F-A804-7BC0651A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612"/>
              <a:ext cx="2" cy="3544"/>
            </a:xfrm>
            <a:prstGeom prst="rect">
              <a:avLst/>
            </a:prstGeom>
            <a:solidFill>
              <a:srgbClr val="1222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4" name="Rectangle 805">
              <a:extLst>
                <a:ext uri="{FF2B5EF4-FFF2-40B4-BE49-F238E27FC236}">
                  <a16:creationId xmlns:a16="http://schemas.microsoft.com/office/drawing/2014/main" id="{7494B692-AAD3-6B4D-9A8D-023BF075D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3" y="612"/>
              <a:ext cx="2" cy="3544"/>
            </a:xfrm>
            <a:prstGeom prst="rect">
              <a:avLst/>
            </a:prstGeom>
            <a:solidFill>
              <a:srgbClr val="1224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5" name="Rectangle 806">
              <a:extLst>
                <a:ext uri="{FF2B5EF4-FFF2-40B4-BE49-F238E27FC236}">
                  <a16:creationId xmlns:a16="http://schemas.microsoft.com/office/drawing/2014/main" id="{99A35381-C548-8645-9DA6-9D8B64E53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" y="612"/>
              <a:ext cx="2" cy="3544"/>
            </a:xfrm>
            <a:prstGeom prst="rect">
              <a:avLst/>
            </a:prstGeom>
            <a:solidFill>
              <a:srgbClr val="132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6" name="Rectangle 807">
              <a:extLst>
                <a:ext uri="{FF2B5EF4-FFF2-40B4-BE49-F238E27FC236}">
                  <a16:creationId xmlns:a16="http://schemas.microsoft.com/office/drawing/2014/main" id="{E5009D2E-8D32-DF4F-94D1-E152726F3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7" y="612"/>
              <a:ext cx="2" cy="3544"/>
            </a:xfrm>
            <a:prstGeom prst="rect">
              <a:avLst/>
            </a:prstGeom>
            <a:solidFill>
              <a:srgbClr val="152A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7" name="Rectangle 808">
              <a:extLst>
                <a:ext uri="{FF2B5EF4-FFF2-40B4-BE49-F238E27FC236}">
                  <a16:creationId xmlns:a16="http://schemas.microsoft.com/office/drawing/2014/main" id="{2F94B1C3-7133-C141-8E80-1B53E9C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" y="612"/>
              <a:ext cx="1" cy="3544"/>
            </a:xfrm>
            <a:prstGeom prst="rect">
              <a:avLst/>
            </a:prstGeom>
            <a:solidFill>
              <a:srgbClr val="172D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8" name="Rectangle 809">
              <a:extLst>
                <a:ext uri="{FF2B5EF4-FFF2-40B4-BE49-F238E27FC236}">
                  <a16:creationId xmlns:a16="http://schemas.microsoft.com/office/drawing/2014/main" id="{A1E5CE15-AC3E-ED47-8137-1DF6EC84F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0" y="612"/>
              <a:ext cx="2" cy="3544"/>
            </a:xfrm>
            <a:prstGeom prst="rect">
              <a:avLst/>
            </a:prstGeom>
            <a:solidFill>
              <a:srgbClr val="1830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29" name="Rectangle 810">
              <a:extLst>
                <a:ext uri="{FF2B5EF4-FFF2-40B4-BE49-F238E27FC236}">
                  <a16:creationId xmlns:a16="http://schemas.microsoft.com/office/drawing/2014/main" id="{7305ADA2-153D-474A-B34E-1456396C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612"/>
              <a:ext cx="2" cy="3544"/>
            </a:xfrm>
            <a:prstGeom prst="rect">
              <a:avLst/>
            </a:prstGeom>
            <a:solidFill>
              <a:srgbClr val="193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0" name="Rectangle 811">
              <a:extLst>
                <a:ext uri="{FF2B5EF4-FFF2-40B4-BE49-F238E27FC236}">
                  <a16:creationId xmlns:a16="http://schemas.microsoft.com/office/drawing/2014/main" id="{5462D393-6610-0B42-8DE6-0C7E577B3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" y="612"/>
              <a:ext cx="2" cy="3544"/>
            </a:xfrm>
            <a:prstGeom prst="rect">
              <a:avLst/>
            </a:prstGeom>
            <a:solidFill>
              <a:srgbClr val="1B3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1" name="Rectangle 812">
              <a:extLst>
                <a:ext uri="{FF2B5EF4-FFF2-40B4-BE49-F238E27FC236}">
                  <a16:creationId xmlns:a16="http://schemas.microsoft.com/office/drawing/2014/main" id="{532C7F32-E3E9-AB44-929E-223FF681C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612"/>
              <a:ext cx="2" cy="3544"/>
            </a:xfrm>
            <a:prstGeom prst="rect">
              <a:avLst/>
            </a:prstGeom>
            <a:solidFill>
              <a:srgbClr val="1D3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2" name="Rectangle 813">
              <a:extLst>
                <a:ext uri="{FF2B5EF4-FFF2-40B4-BE49-F238E27FC236}">
                  <a16:creationId xmlns:a16="http://schemas.microsoft.com/office/drawing/2014/main" id="{452B328E-679E-0444-9CC1-EDF49E25A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8" y="612"/>
              <a:ext cx="1" cy="3544"/>
            </a:xfrm>
            <a:prstGeom prst="rect">
              <a:avLst/>
            </a:prstGeom>
            <a:solidFill>
              <a:srgbClr val="1E3B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3" name="Rectangle 814">
              <a:extLst>
                <a:ext uri="{FF2B5EF4-FFF2-40B4-BE49-F238E27FC236}">
                  <a16:creationId xmlns:a16="http://schemas.microsoft.com/office/drawing/2014/main" id="{4AE76C11-654C-F04D-B28A-2B76C58E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9" y="612"/>
              <a:ext cx="2" cy="3544"/>
            </a:xfrm>
            <a:prstGeom prst="rect">
              <a:avLst/>
            </a:prstGeom>
            <a:solidFill>
              <a:srgbClr val="1F3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4" name="Rectangle 815">
              <a:extLst>
                <a:ext uri="{FF2B5EF4-FFF2-40B4-BE49-F238E27FC236}">
                  <a16:creationId xmlns:a16="http://schemas.microsoft.com/office/drawing/2014/main" id="{C42C618B-2B08-254D-9C29-3EB58985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1" y="612"/>
              <a:ext cx="2" cy="3544"/>
            </a:xfrm>
            <a:prstGeom prst="rect">
              <a:avLst/>
            </a:prstGeom>
            <a:solidFill>
              <a:srgbClr val="2041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5" name="Rectangle 816">
              <a:extLst>
                <a:ext uri="{FF2B5EF4-FFF2-40B4-BE49-F238E27FC236}">
                  <a16:creationId xmlns:a16="http://schemas.microsoft.com/office/drawing/2014/main" id="{B9B3A6B0-1BFE-2348-9177-9D2216C5E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612"/>
              <a:ext cx="2" cy="3544"/>
            </a:xfrm>
            <a:prstGeom prst="rect">
              <a:avLst/>
            </a:prstGeom>
            <a:solidFill>
              <a:srgbClr val="224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6" name="Rectangle 817">
              <a:extLst>
                <a:ext uri="{FF2B5EF4-FFF2-40B4-BE49-F238E27FC236}">
                  <a16:creationId xmlns:a16="http://schemas.microsoft.com/office/drawing/2014/main" id="{9D65BA20-C687-2D4B-B4E4-C327C2D4A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" y="612"/>
              <a:ext cx="2" cy="3544"/>
            </a:xfrm>
            <a:prstGeom prst="rect">
              <a:avLst/>
            </a:prstGeom>
            <a:solidFill>
              <a:srgbClr val="234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7" name="Rectangle 818">
              <a:extLst>
                <a:ext uri="{FF2B5EF4-FFF2-40B4-BE49-F238E27FC236}">
                  <a16:creationId xmlns:a16="http://schemas.microsoft.com/office/drawing/2014/main" id="{04DE20AB-26EF-2441-AE44-F387041D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7" y="612"/>
              <a:ext cx="1" cy="3544"/>
            </a:xfrm>
            <a:prstGeom prst="rect">
              <a:avLst/>
            </a:prstGeom>
            <a:solidFill>
              <a:srgbClr val="2448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8" name="Rectangle 819">
              <a:extLst>
                <a:ext uri="{FF2B5EF4-FFF2-40B4-BE49-F238E27FC236}">
                  <a16:creationId xmlns:a16="http://schemas.microsoft.com/office/drawing/2014/main" id="{6A1160BE-5E7D-4D4F-801E-466194E6F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" y="612"/>
              <a:ext cx="2" cy="3544"/>
            </a:xfrm>
            <a:prstGeom prst="rect">
              <a:avLst/>
            </a:prstGeom>
            <a:solidFill>
              <a:srgbClr val="254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39" name="Rectangle 820">
              <a:extLst>
                <a:ext uri="{FF2B5EF4-FFF2-40B4-BE49-F238E27FC236}">
                  <a16:creationId xmlns:a16="http://schemas.microsoft.com/office/drawing/2014/main" id="{EF59F157-1304-FE44-B750-4F407EBE7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0" y="612"/>
              <a:ext cx="2" cy="3544"/>
            </a:xfrm>
            <a:prstGeom prst="rect">
              <a:avLst/>
            </a:prstGeom>
            <a:solidFill>
              <a:srgbClr val="274D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0" name="Rectangle 821">
              <a:extLst>
                <a:ext uri="{FF2B5EF4-FFF2-40B4-BE49-F238E27FC236}">
                  <a16:creationId xmlns:a16="http://schemas.microsoft.com/office/drawing/2014/main" id="{69C7C1D0-4A03-3D41-A14E-7560CD0A6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" y="612"/>
              <a:ext cx="2" cy="3544"/>
            </a:xfrm>
            <a:prstGeom prst="rect">
              <a:avLst/>
            </a:prstGeom>
            <a:solidFill>
              <a:srgbClr val="284F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1" name="Rectangle 822">
              <a:extLst>
                <a:ext uri="{FF2B5EF4-FFF2-40B4-BE49-F238E27FC236}">
                  <a16:creationId xmlns:a16="http://schemas.microsoft.com/office/drawing/2014/main" id="{5FDD4240-115D-0F4C-86A8-EDC2CFD44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612"/>
              <a:ext cx="2" cy="3544"/>
            </a:xfrm>
            <a:prstGeom prst="rect">
              <a:avLst/>
            </a:prstGeom>
            <a:solidFill>
              <a:srgbClr val="295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2" name="Rectangle 823">
              <a:extLst>
                <a:ext uri="{FF2B5EF4-FFF2-40B4-BE49-F238E27FC236}">
                  <a16:creationId xmlns:a16="http://schemas.microsoft.com/office/drawing/2014/main" id="{AE60DFBC-CAB9-AC48-851A-CD8C75383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" y="612"/>
              <a:ext cx="1" cy="3544"/>
            </a:xfrm>
            <a:prstGeom prst="rect">
              <a:avLst/>
            </a:prstGeom>
            <a:solidFill>
              <a:srgbClr val="2A5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3" name="Rectangle 824">
              <a:extLst>
                <a:ext uri="{FF2B5EF4-FFF2-40B4-BE49-F238E27FC236}">
                  <a16:creationId xmlns:a16="http://schemas.microsoft.com/office/drawing/2014/main" id="{F107BADB-CD02-7D4F-9176-0DB1A24DA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612"/>
              <a:ext cx="2" cy="3544"/>
            </a:xfrm>
            <a:prstGeom prst="rect">
              <a:avLst/>
            </a:prstGeom>
            <a:solidFill>
              <a:srgbClr val="2B55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4" name="Rectangle 825">
              <a:extLst>
                <a:ext uri="{FF2B5EF4-FFF2-40B4-BE49-F238E27FC236}">
                  <a16:creationId xmlns:a16="http://schemas.microsoft.com/office/drawing/2014/main" id="{88D860BC-CBEB-C74B-AED8-1366C6E46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" y="612"/>
              <a:ext cx="2" cy="3544"/>
            </a:xfrm>
            <a:prstGeom prst="rect">
              <a:avLst/>
            </a:prstGeom>
            <a:solidFill>
              <a:srgbClr val="2C57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5" name="Rectangle 826">
              <a:extLst>
                <a:ext uri="{FF2B5EF4-FFF2-40B4-BE49-F238E27FC236}">
                  <a16:creationId xmlns:a16="http://schemas.microsoft.com/office/drawing/2014/main" id="{C092A0EB-9ABF-F947-846E-B0B74852F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" y="612"/>
              <a:ext cx="2" cy="3544"/>
            </a:xfrm>
            <a:prstGeom prst="rect">
              <a:avLst/>
            </a:prstGeom>
            <a:solidFill>
              <a:srgbClr val="2D59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6" name="Rectangle 827">
              <a:extLst>
                <a:ext uri="{FF2B5EF4-FFF2-40B4-BE49-F238E27FC236}">
                  <a16:creationId xmlns:a16="http://schemas.microsoft.com/office/drawing/2014/main" id="{379C04BA-70EA-1549-B259-B82207032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" y="612"/>
              <a:ext cx="2" cy="3544"/>
            </a:xfrm>
            <a:prstGeom prst="rect">
              <a:avLst/>
            </a:prstGeom>
            <a:solidFill>
              <a:srgbClr val="2D5A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7" name="Rectangle 828">
              <a:extLst>
                <a:ext uri="{FF2B5EF4-FFF2-40B4-BE49-F238E27FC236}">
                  <a16:creationId xmlns:a16="http://schemas.microsoft.com/office/drawing/2014/main" id="{213D0F23-DD69-3144-86D5-1A901D1CA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5" y="612"/>
              <a:ext cx="1" cy="3544"/>
            </a:xfrm>
            <a:prstGeom prst="rect">
              <a:avLst/>
            </a:prstGeom>
            <a:solidFill>
              <a:srgbClr val="2D5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8" name="Rectangle 829">
              <a:extLst>
                <a:ext uri="{FF2B5EF4-FFF2-40B4-BE49-F238E27FC236}">
                  <a16:creationId xmlns:a16="http://schemas.microsoft.com/office/drawing/2014/main" id="{BCBCA8F5-863A-C743-9F39-7E198BBF5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" y="612"/>
              <a:ext cx="2" cy="3544"/>
            </a:xfrm>
            <a:prstGeom prst="rect">
              <a:avLst/>
            </a:prstGeom>
            <a:solidFill>
              <a:srgbClr val="2E5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49" name="Rectangle 830">
              <a:extLst>
                <a:ext uri="{FF2B5EF4-FFF2-40B4-BE49-F238E27FC236}">
                  <a16:creationId xmlns:a16="http://schemas.microsoft.com/office/drawing/2014/main" id="{ADB9428A-DD84-3C4A-85BD-B273A5C5A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" y="612"/>
              <a:ext cx="2" cy="3544"/>
            </a:xfrm>
            <a:prstGeom prst="rect">
              <a:avLst/>
            </a:prstGeom>
            <a:solidFill>
              <a:srgbClr val="2E5E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0" name="Rectangle 831">
              <a:extLst>
                <a:ext uri="{FF2B5EF4-FFF2-40B4-BE49-F238E27FC236}">
                  <a16:creationId xmlns:a16="http://schemas.microsoft.com/office/drawing/2014/main" id="{FB5A5CE6-4CBB-AC4A-A128-3A6555404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" y="612"/>
              <a:ext cx="2" cy="3544"/>
            </a:xfrm>
            <a:prstGeom prst="rect">
              <a:avLst/>
            </a:prstGeom>
            <a:solidFill>
              <a:srgbClr val="2F5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1" name="Rectangle 832">
              <a:extLst>
                <a:ext uri="{FF2B5EF4-FFF2-40B4-BE49-F238E27FC236}">
                  <a16:creationId xmlns:a16="http://schemas.microsoft.com/office/drawing/2014/main" id="{C1AA986A-2855-704B-9A16-37D2574BE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612"/>
              <a:ext cx="2" cy="3544"/>
            </a:xfrm>
            <a:prstGeom prst="rect">
              <a:avLst/>
            </a:prstGeom>
            <a:solidFill>
              <a:srgbClr val="306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2" name="Rectangle 833">
              <a:extLst>
                <a:ext uri="{FF2B5EF4-FFF2-40B4-BE49-F238E27FC236}">
                  <a16:creationId xmlns:a16="http://schemas.microsoft.com/office/drawing/2014/main" id="{0E5ED126-1A97-4048-B183-543B52EA4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" y="612"/>
              <a:ext cx="1" cy="3544"/>
            </a:xfrm>
            <a:prstGeom prst="rect">
              <a:avLst/>
            </a:prstGeom>
            <a:solidFill>
              <a:srgbClr val="306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3" name="Rectangle 834">
              <a:extLst>
                <a:ext uri="{FF2B5EF4-FFF2-40B4-BE49-F238E27FC236}">
                  <a16:creationId xmlns:a16="http://schemas.microsoft.com/office/drawing/2014/main" id="{AAF9F643-6621-6542-8D85-315086ACC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" y="612"/>
              <a:ext cx="2" cy="3544"/>
            </a:xfrm>
            <a:prstGeom prst="rect">
              <a:avLst/>
            </a:prstGeom>
            <a:solidFill>
              <a:srgbClr val="316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4" name="Rectangle 835">
              <a:extLst>
                <a:ext uri="{FF2B5EF4-FFF2-40B4-BE49-F238E27FC236}">
                  <a16:creationId xmlns:a16="http://schemas.microsoft.com/office/drawing/2014/main" id="{E70C0B69-1751-2847-AA47-10B27ABD5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" y="612"/>
              <a:ext cx="2" cy="3544"/>
            </a:xfrm>
            <a:prstGeom prst="rect">
              <a:avLst/>
            </a:prstGeom>
            <a:solidFill>
              <a:srgbClr val="326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5" name="Rectangle 836">
              <a:extLst>
                <a:ext uri="{FF2B5EF4-FFF2-40B4-BE49-F238E27FC236}">
                  <a16:creationId xmlns:a16="http://schemas.microsoft.com/office/drawing/2014/main" id="{5D57B7C3-37C7-9E4D-B8B0-13A7CB7D3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" y="612"/>
              <a:ext cx="2" cy="3544"/>
            </a:xfrm>
            <a:prstGeom prst="rect">
              <a:avLst/>
            </a:prstGeom>
            <a:solidFill>
              <a:srgbClr val="3263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6" name="Rectangle 837">
              <a:extLst>
                <a:ext uri="{FF2B5EF4-FFF2-40B4-BE49-F238E27FC236}">
                  <a16:creationId xmlns:a16="http://schemas.microsoft.com/office/drawing/2014/main" id="{474D54EF-53CF-E245-957F-3E39E9699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1" y="612"/>
              <a:ext cx="2" cy="3544"/>
            </a:xfrm>
            <a:prstGeom prst="rect">
              <a:avLst/>
            </a:prstGeom>
            <a:solidFill>
              <a:srgbClr val="326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7" name="Rectangle 838">
              <a:extLst>
                <a:ext uri="{FF2B5EF4-FFF2-40B4-BE49-F238E27FC236}">
                  <a16:creationId xmlns:a16="http://schemas.microsoft.com/office/drawing/2014/main" id="{AAA71A02-D213-1F49-8D3B-88FD7F632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3" y="612"/>
              <a:ext cx="3" cy="3544"/>
            </a:xfrm>
            <a:prstGeom prst="rect">
              <a:avLst/>
            </a:prstGeom>
            <a:solidFill>
              <a:srgbClr val="326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8" name="Rectangle 839">
              <a:extLst>
                <a:ext uri="{FF2B5EF4-FFF2-40B4-BE49-F238E27FC236}">
                  <a16:creationId xmlns:a16="http://schemas.microsoft.com/office/drawing/2014/main" id="{9FCBE7B4-7C49-B141-918B-58E0D9E29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" y="612"/>
              <a:ext cx="2" cy="3544"/>
            </a:xfrm>
            <a:prstGeom prst="rect">
              <a:avLst/>
            </a:prstGeom>
            <a:solidFill>
              <a:srgbClr val="3265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59" name="Rectangle 840">
              <a:extLst>
                <a:ext uri="{FF2B5EF4-FFF2-40B4-BE49-F238E27FC236}">
                  <a16:creationId xmlns:a16="http://schemas.microsoft.com/office/drawing/2014/main" id="{0E21D920-72DA-FF4E-93D9-0A7C58CED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" y="612"/>
              <a:ext cx="4" cy="3544"/>
            </a:xfrm>
            <a:prstGeom prst="rect">
              <a:avLst/>
            </a:prstGeom>
            <a:solidFill>
              <a:srgbClr val="3266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0" name="Rectangle 841">
              <a:extLst>
                <a:ext uri="{FF2B5EF4-FFF2-40B4-BE49-F238E27FC236}">
                  <a16:creationId xmlns:a16="http://schemas.microsoft.com/office/drawing/2014/main" id="{1C747531-F432-0342-B592-D62B68820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2" y="612"/>
              <a:ext cx="1" cy="3544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1" name="Rectangle 842">
              <a:extLst>
                <a:ext uri="{FF2B5EF4-FFF2-40B4-BE49-F238E27FC236}">
                  <a16:creationId xmlns:a16="http://schemas.microsoft.com/office/drawing/2014/main" id="{02DF38BB-0E76-0C4B-9AD7-624F6126E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" y="612"/>
              <a:ext cx="4" cy="3544"/>
            </a:xfrm>
            <a:prstGeom prst="rect">
              <a:avLst/>
            </a:prstGeom>
            <a:solidFill>
              <a:srgbClr val="3266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2" name="Rectangle 843">
              <a:extLst>
                <a:ext uri="{FF2B5EF4-FFF2-40B4-BE49-F238E27FC236}">
                  <a16:creationId xmlns:a16="http://schemas.microsoft.com/office/drawing/2014/main" id="{6D5C7CFE-FE48-324F-BCEB-BC15E6206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" y="612"/>
              <a:ext cx="2" cy="3544"/>
            </a:xfrm>
            <a:prstGeom prst="rect">
              <a:avLst/>
            </a:prstGeom>
            <a:solidFill>
              <a:srgbClr val="3265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3" name="Rectangle 844">
              <a:extLst>
                <a:ext uri="{FF2B5EF4-FFF2-40B4-BE49-F238E27FC236}">
                  <a16:creationId xmlns:a16="http://schemas.microsoft.com/office/drawing/2014/main" id="{9970CA8A-B4FD-8545-8887-3186779FB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612"/>
              <a:ext cx="2" cy="3544"/>
            </a:xfrm>
            <a:prstGeom prst="rect">
              <a:avLst/>
            </a:prstGeom>
            <a:solidFill>
              <a:srgbClr val="326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4" name="Rectangle 845">
              <a:extLst>
                <a:ext uri="{FF2B5EF4-FFF2-40B4-BE49-F238E27FC236}">
                  <a16:creationId xmlns:a16="http://schemas.microsoft.com/office/drawing/2014/main" id="{C344D27A-8B21-9840-89C7-13BE974E9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" y="612"/>
              <a:ext cx="1" cy="3544"/>
            </a:xfrm>
            <a:prstGeom prst="rect">
              <a:avLst/>
            </a:prstGeom>
            <a:solidFill>
              <a:srgbClr val="3265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5" name="Rectangle 846">
              <a:extLst>
                <a:ext uri="{FF2B5EF4-FFF2-40B4-BE49-F238E27FC236}">
                  <a16:creationId xmlns:a16="http://schemas.microsoft.com/office/drawing/2014/main" id="{F7BAD813-6BEF-FC4E-BDD4-46A1E0874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612"/>
              <a:ext cx="2" cy="3544"/>
            </a:xfrm>
            <a:prstGeom prst="rect">
              <a:avLst/>
            </a:prstGeom>
            <a:solidFill>
              <a:srgbClr val="326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6" name="Rectangle 847">
              <a:extLst>
                <a:ext uri="{FF2B5EF4-FFF2-40B4-BE49-F238E27FC236}">
                  <a16:creationId xmlns:a16="http://schemas.microsoft.com/office/drawing/2014/main" id="{A039FB74-3A0C-8448-B9A9-4A6C03EEB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" y="612"/>
              <a:ext cx="2" cy="3544"/>
            </a:xfrm>
            <a:prstGeom prst="rect">
              <a:avLst/>
            </a:prstGeom>
            <a:solidFill>
              <a:srgbClr val="326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7" name="Rectangle 848">
              <a:extLst>
                <a:ext uri="{FF2B5EF4-FFF2-40B4-BE49-F238E27FC236}">
                  <a16:creationId xmlns:a16="http://schemas.microsoft.com/office/drawing/2014/main" id="{E87328A1-24C1-7747-A4BB-B65246F74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612"/>
              <a:ext cx="2" cy="3544"/>
            </a:xfrm>
            <a:prstGeom prst="rect">
              <a:avLst/>
            </a:prstGeom>
            <a:solidFill>
              <a:srgbClr val="326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8" name="Rectangle 849">
              <a:extLst>
                <a:ext uri="{FF2B5EF4-FFF2-40B4-BE49-F238E27FC236}">
                  <a16:creationId xmlns:a16="http://schemas.microsoft.com/office/drawing/2014/main" id="{5763A437-4C01-0340-8D06-7C0B2947A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8" y="612"/>
              <a:ext cx="2" cy="3544"/>
            </a:xfrm>
            <a:prstGeom prst="rect">
              <a:avLst/>
            </a:prstGeom>
            <a:solidFill>
              <a:srgbClr val="316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69" name="Rectangle 850">
              <a:extLst>
                <a:ext uri="{FF2B5EF4-FFF2-40B4-BE49-F238E27FC236}">
                  <a16:creationId xmlns:a16="http://schemas.microsoft.com/office/drawing/2014/main" id="{01B9AAEB-B843-034F-B010-A22C98197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" y="612"/>
              <a:ext cx="1" cy="3544"/>
            </a:xfrm>
            <a:prstGeom prst="rect">
              <a:avLst/>
            </a:prstGeom>
            <a:solidFill>
              <a:srgbClr val="306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0" name="Rectangle 851">
              <a:extLst>
                <a:ext uri="{FF2B5EF4-FFF2-40B4-BE49-F238E27FC236}">
                  <a16:creationId xmlns:a16="http://schemas.microsoft.com/office/drawing/2014/main" id="{23C4C810-C45D-4B4D-806B-FD19D09C8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" y="612"/>
              <a:ext cx="2" cy="3544"/>
            </a:xfrm>
            <a:prstGeom prst="rect">
              <a:avLst/>
            </a:prstGeom>
            <a:solidFill>
              <a:srgbClr val="306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1" name="Rectangle 852">
              <a:extLst>
                <a:ext uri="{FF2B5EF4-FFF2-40B4-BE49-F238E27FC236}">
                  <a16:creationId xmlns:a16="http://schemas.microsoft.com/office/drawing/2014/main" id="{F1430F71-4BE9-3C4F-ABDB-8B2E46C8C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" y="612"/>
              <a:ext cx="2" cy="3544"/>
            </a:xfrm>
            <a:prstGeom prst="rect">
              <a:avLst/>
            </a:prstGeom>
            <a:solidFill>
              <a:srgbClr val="2F5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2" name="Rectangle 853">
              <a:extLst>
                <a:ext uri="{FF2B5EF4-FFF2-40B4-BE49-F238E27FC236}">
                  <a16:creationId xmlns:a16="http://schemas.microsoft.com/office/drawing/2014/main" id="{DFD4E712-1464-E543-98EF-6541531F0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" y="612"/>
              <a:ext cx="2" cy="3544"/>
            </a:xfrm>
            <a:prstGeom prst="rect">
              <a:avLst/>
            </a:prstGeom>
            <a:solidFill>
              <a:srgbClr val="2E5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3" name="Rectangle 854">
              <a:extLst>
                <a:ext uri="{FF2B5EF4-FFF2-40B4-BE49-F238E27FC236}">
                  <a16:creationId xmlns:a16="http://schemas.microsoft.com/office/drawing/2014/main" id="{2E457386-5BF6-4348-9042-65FB7E96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612"/>
              <a:ext cx="2" cy="3544"/>
            </a:xfrm>
            <a:prstGeom prst="rect">
              <a:avLst/>
            </a:prstGeom>
            <a:solidFill>
              <a:srgbClr val="2E5C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4" name="Rectangle 855">
              <a:extLst>
                <a:ext uri="{FF2B5EF4-FFF2-40B4-BE49-F238E27FC236}">
                  <a16:creationId xmlns:a16="http://schemas.microsoft.com/office/drawing/2014/main" id="{65AF5045-B36F-D741-8840-098CAC7FB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9" y="612"/>
              <a:ext cx="1" cy="3544"/>
            </a:xfrm>
            <a:prstGeom prst="rect">
              <a:avLst/>
            </a:prstGeom>
            <a:solidFill>
              <a:srgbClr val="2D5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5" name="Rectangle 856">
              <a:extLst>
                <a:ext uri="{FF2B5EF4-FFF2-40B4-BE49-F238E27FC236}">
                  <a16:creationId xmlns:a16="http://schemas.microsoft.com/office/drawing/2014/main" id="{0240A6EF-4B23-9A40-9F0A-0EE69322C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" y="612"/>
              <a:ext cx="2" cy="3544"/>
            </a:xfrm>
            <a:prstGeom prst="rect">
              <a:avLst/>
            </a:prstGeom>
            <a:solidFill>
              <a:srgbClr val="2D59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6" name="Rectangle 857">
              <a:extLst>
                <a:ext uri="{FF2B5EF4-FFF2-40B4-BE49-F238E27FC236}">
                  <a16:creationId xmlns:a16="http://schemas.microsoft.com/office/drawing/2014/main" id="{AB6DD9E9-EB3B-5849-A707-5E32458F1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2" y="612"/>
              <a:ext cx="2" cy="3544"/>
            </a:xfrm>
            <a:prstGeom prst="rect">
              <a:avLst/>
            </a:prstGeom>
            <a:solidFill>
              <a:srgbClr val="2D58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7" name="Rectangle 858">
              <a:extLst>
                <a:ext uri="{FF2B5EF4-FFF2-40B4-BE49-F238E27FC236}">
                  <a16:creationId xmlns:a16="http://schemas.microsoft.com/office/drawing/2014/main" id="{9C6564D9-E27E-D046-B830-59A71CCA4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" y="612"/>
              <a:ext cx="2" cy="3544"/>
            </a:xfrm>
            <a:prstGeom prst="rect">
              <a:avLst/>
            </a:prstGeom>
            <a:solidFill>
              <a:srgbClr val="2C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8" name="Rectangle 859">
              <a:extLst>
                <a:ext uri="{FF2B5EF4-FFF2-40B4-BE49-F238E27FC236}">
                  <a16:creationId xmlns:a16="http://schemas.microsoft.com/office/drawing/2014/main" id="{66F1ADFF-F904-294A-9FF1-463D0565D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612"/>
              <a:ext cx="2" cy="3544"/>
            </a:xfrm>
            <a:prstGeom prst="rect">
              <a:avLst/>
            </a:prstGeom>
            <a:solidFill>
              <a:srgbClr val="2A55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79" name="Rectangle 860">
              <a:extLst>
                <a:ext uri="{FF2B5EF4-FFF2-40B4-BE49-F238E27FC236}">
                  <a16:creationId xmlns:a16="http://schemas.microsoft.com/office/drawing/2014/main" id="{AE026E1E-506C-A146-B1D5-849F54BDF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" y="612"/>
              <a:ext cx="2" cy="3544"/>
            </a:xfrm>
            <a:prstGeom prst="rect">
              <a:avLst/>
            </a:prstGeom>
            <a:solidFill>
              <a:srgbClr val="2A53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0" name="Rectangle 861">
              <a:extLst>
                <a:ext uri="{FF2B5EF4-FFF2-40B4-BE49-F238E27FC236}">
                  <a16:creationId xmlns:a16="http://schemas.microsoft.com/office/drawing/2014/main" id="{162B4F5B-AC4E-B147-A9B4-BDC10051F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12"/>
              <a:ext cx="1" cy="3544"/>
            </a:xfrm>
            <a:prstGeom prst="rect">
              <a:avLst/>
            </a:prstGeom>
            <a:solidFill>
              <a:srgbClr val="2951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1" name="Rectangle 862">
              <a:extLst>
                <a:ext uri="{FF2B5EF4-FFF2-40B4-BE49-F238E27FC236}">
                  <a16:creationId xmlns:a16="http://schemas.microsoft.com/office/drawing/2014/main" id="{924C3939-BB7A-344C-A4CB-CBCEE43C9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" y="612"/>
              <a:ext cx="2" cy="3544"/>
            </a:xfrm>
            <a:prstGeom prst="rect">
              <a:avLst/>
            </a:prstGeom>
            <a:solidFill>
              <a:srgbClr val="274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2" name="Rectangle 863">
              <a:extLst>
                <a:ext uri="{FF2B5EF4-FFF2-40B4-BE49-F238E27FC236}">
                  <a16:creationId xmlns:a16="http://schemas.microsoft.com/office/drawing/2014/main" id="{1CA8481B-542E-5B46-A7DE-5617187E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612"/>
              <a:ext cx="2" cy="3544"/>
            </a:xfrm>
            <a:prstGeom prst="rect">
              <a:avLst/>
            </a:prstGeom>
            <a:solidFill>
              <a:srgbClr val="264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3" name="Rectangle 864">
              <a:extLst>
                <a:ext uri="{FF2B5EF4-FFF2-40B4-BE49-F238E27FC236}">
                  <a16:creationId xmlns:a16="http://schemas.microsoft.com/office/drawing/2014/main" id="{708EF136-EC7D-554C-8AE4-CAB708662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" y="612"/>
              <a:ext cx="2" cy="3544"/>
            </a:xfrm>
            <a:prstGeom prst="rect">
              <a:avLst/>
            </a:prstGeom>
            <a:solidFill>
              <a:srgbClr val="254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4" name="Rectangle 865">
              <a:extLst>
                <a:ext uri="{FF2B5EF4-FFF2-40B4-BE49-F238E27FC236}">
                  <a16:creationId xmlns:a16="http://schemas.microsoft.com/office/drawing/2014/main" id="{81F9F0BD-782C-1241-A2AB-0F9F03250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612"/>
              <a:ext cx="2" cy="3544"/>
            </a:xfrm>
            <a:prstGeom prst="rect">
              <a:avLst/>
            </a:prstGeom>
            <a:solidFill>
              <a:srgbClr val="234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5" name="Rectangle 866">
              <a:extLst>
                <a:ext uri="{FF2B5EF4-FFF2-40B4-BE49-F238E27FC236}">
                  <a16:creationId xmlns:a16="http://schemas.microsoft.com/office/drawing/2014/main" id="{49D83FBA-4D81-BA45-9FA4-4D89C491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" y="612"/>
              <a:ext cx="1" cy="3544"/>
            </a:xfrm>
            <a:prstGeom prst="rect">
              <a:avLst/>
            </a:prstGeom>
            <a:solidFill>
              <a:srgbClr val="234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6" name="Rectangle 867">
              <a:extLst>
                <a:ext uri="{FF2B5EF4-FFF2-40B4-BE49-F238E27FC236}">
                  <a16:creationId xmlns:a16="http://schemas.microsoft.com/office/drawing/2014/main" id="{9B708C78-7E62-4347-AC90-C8BBB274E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612"/>
              <a:ext cx="2" cy="3544"/>
            </a:xfrm>
            <a:prstGeom prst="rect">
              <a:avLst/>
            </a:prstGeom>
            <a:solidFill>
              <a:srgbClr val="2243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7" name="Rectangle 868">
              <a:extLst>
                <a:ext uri="{FF2B5EF4-FFF2-40B4-BE49-F238E27FC236}">
                  <a16:creationId xmlns:a16="http://schemas.microsoft.com/office/drawing/2014/main" id="{3D2B7156-1856-4541-A33B-882AE3E49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612"/>
              <a:ext cx="2" cy="3544"/>
            </a:xfrm>
            <a:prstGeom prst="rect">
              <a:avLst/>
            </a:prstGeom>
            <a:solidFill>
              <a:srgbClr val="2040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8" name="Rectangle 869">
              <a:extLst>
                <a:ext uri="{FF2B5EF4-FFF2-40B4-BE49-F238E27FC236}">
                  <a16:creationId xmlns:a16="http://schemas.microsoft.com/office/drawing/2014/main" id="{4BABB277-DB56-C849-9274-C1F5EBC99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" y="612"/>
              <a:ext cx="2" cy="3544"/>
            </a:xfrm>
            <a:prstGeom prst="rect">
              <a:avLst/>
            </a:prstGeom>
            <a:solidFill>
              <a:srgbClr val="1F3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89" name="Rectangle 870">
              <a:extLst>
                <a:ext uri="{FF2B5EF4-FFF2-40B4-BE49-F238E27FC236}">
                  <a16:creationId xmlns:a16="http://schemas.microsoft.com/office/drawing/2014/main" id="{658C7641-5DF6-494B-8C9E-4EEC5939A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6" y="612"/>
              <a:ext cx="2" cy="3544"/>
            </a:xfrm>
            <a:prstGeom prst="rect">
              <a:avLst/>
            </a:prstGeom>
            <a:solidFill>
              <a:srgbClr val="1E3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0" name="Rectangle 871">
              <a:extLst>
                <a:ext uri="{FF2B5EF4-FFF2-40B4-BE49-F238E27FC236}">
                  <a16:creationId xmlns:a16="http://schemas.microsoft.com/office/drawing/2014/main" id="{5DE081CE-0DA7-6846-A9F2-A0B52B905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" y="612"/>
              <a:ext cx="1" cy="3544"/>
            </a:xfrm>
            <a:prstGeom prst="rect">
              <a:avLst/>
            </a:prstGeom>
            <a:solidFill>
              <a:srgbClr val="1C38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1" name="Rectangle 872">
              <a:extLst>
                <a:ext uri="{FF2B5EF4-FFF2-40B4-BE49-F238E27FC236}">
                  <a16:creationId xmlns:a16="http://schemas.microsoft.com/office/drawing/2014/main" id="{072B76CC-45AE-C04D-B0E0-6091CE1BC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612"/>
              <a:ext cx="2" cy="3544"/>
            </a:xfrm>
            <a:prstGeom prst="rect">
              <a:avLst/>
            </a:prstGeom>
            <a:solidFill>
              <a:srgbClr val="1B3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2" name="Rectangle 873">
              <a:extLst>
                <a:ext uri="{FF2B5EF4-FFF2-40B4-BE49-F238E27FC236}">
                  <a16:creationId xmlns:a16="http://schemas.microsoft.com/office/drawing/2014/main" id="{26FB7B68-EB94-304F-8FB4-9C3971B0A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612"/>
              <a:ext cx="2" cy="3544"/>
            </a:xfrm>
            <a:prstGeom prst="rect">
              <a:avLst/>
            </a:prstGeom>
            <a:solidFill>
              <a:srgbClr val="1932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3" name="Rectangle 874">
              <a:extLst>
                <a:ext uri="{FF2B5EF4-FFF2-40B4-BE49-F238E27FC236}">
                  <a16:creationId xmlns:a16="http://schemas.microsoft.com/office/drawing/2014/main" id="{4E318BFD-3035-6349-9652-041494255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3" y="612"/>
              <a:ext cx="2" cy="3544"/>
            </a:xfrm>
            <a:prstGeom prst="rect">
              <a:avLst/>
            </a:prstGeom>
            <a:solidFill>
              <a:srgbClr val="172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4" name="Rectangle 875">
              <a:extLst>
                <a:ext uri="{FF2B5EF4-FFF2-40B4-BE49-F238E27FC236}">
                  <a16:creationId xmlns:a16="http://schemas.microsoft.com/office/drawing/2014/main" id="{1A4A1D1D-3B51-2D44-A110-1CF1086F7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" y="612"/>
              <a:ext cx="2" cy="3544"/>
            </a:xfrm>
            <a:prstGeom prst="rect">
              <a:avLst/>
            </a:prstGeom>
            <a:solidFill>
              <a:srgbClr val="162C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5" name="Rectangle 876">
              <a:extLst>
                <a:ext uri="{FF2B5EF4-FFF2-40B4-BE49-F238E27FC236}">
                  <a16:creationId xmlns:a16="http://schemas.microsoft.com/office/drawing/2014/main" id="{4DAD08BD-882D-6443-A83E-3A4502B0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612"/>
              <a:ext cx="1" cy="3544"/>
            </a:xfrm>
            <a:prstGeom prst="rect">
              <a:avLst/>
            </a:prstGeom>
            <a:solidFill>
              <a:srgbClr val="152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6" name="Rectangle 877">
              <a:extLst>
                <a:ext uri="{FF2B5EF4-FFF2-40B4-BE49-F238E27FC236}">
                  <a16:creationId xmlns:a16="http://schemas.microsoft.com/office/drawing/2014/main" id="{78C74B5C-E3A9-7C49-93B0-82A3D7D4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612"/>
              <a:ext cx="2" cy="3544"/>
            </a:xfrm>
            <a:prstGeom prst="rect">
              <a:avLst/>
            </a:prstGeom>
            <a:solidFill>
              <a:srgbClr val="1326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7" name="Rectangle 878">
              <a:extLst>
                <a:ext uri="{FF2B5EF4-FFF2-40B4-BE49-F238E27FC236}">
                  <a16:creationId xmlns:a16="http://schemas.microsoft.com/office/drawing/2014/main" id="{8A1A6C3E-6220-8747-B402-33705F875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612"/>
              <a:ext cx="2" cy="3544"/>
            </a:xfrm>
            <a:prstGeom prst="rect">
              <a:avLst/>
            </a:prstGeom>
            <a:solidFill>
              <a:srgbClr val="1224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8" name="Rectangle 879">
              <a:extLst>
                <a:ext uri="{FF2B5EF4-FFF2-40B4-BE49-F238E27FC236}">
                  <a16:creationId xmlns:a16="http://schemas.microsoft.com/office/drawing/2014/main" id="{0CE4C47B-6098-9140-9D00-F0CFBC534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612"/>
              <a:ext cx="2" cy="3544"/>
            </a:xfrm>
            <a:prstGeom prst="rect">
              <a:avLst/>
            </a:prstGeom>
            <a:solidFill>
              <a:srgbClr val="1222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499" name="Rectangle 880">
              <a:extLst>
                <a:ext uri="{FF2B5EF4-FFF2-40B4-BE49-F238E27FC236}">
                  <a16:creationId xmlns:a16="http://schemas.microsoft.com/office/drawing/2014/main" id="{AF06D836-F9C5-F949-AD8D-EB2AF20D0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" y="612"/>
              <a:ext cx="2" cy="3544"/>
            </a:xfrm>
            <a:prstGeom prst="rect">
              <a:avLst/>
            </a:prstGeom>
            <a:solidFill>
              <a:srgbClr val="101F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0" name="Rectangle 881">
              <a:extLst>
                <a:ext uri="{FF2B5EF4-FFF2-40B4-BE49-F238E27FC236}">
                  <a16:creationId xmlns:a16="http://schemas.microsoft.com/office/drawing/2014/main" id="{8250B752-5AB9-C94F-B4FF-AD9829469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6" y="612"/>
              <a:ext cx="1" cy="3544"/>
            </a:xfrm>
            <a:prstGeom prst="rect">
              <a:avLst/>
            </a:prstGeom>
            <a:solidFill>
              <a:srgbClr val="0D1C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1" name="Rectangle 882">
              <a:extLst>
                <a:ext uri="{FF2B5EF4-FFF2-40B4-BE49-F238E27FC236}">
                  <a16:creationId xmlns:a16="http://schemas.microsoft.com/office/drawing/2014/main" id="{F0E4C8AA-6DFF-F240-9ADA-FAE4494E2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" y="612"/>
              <a:ext cx="2" cy="3544"/>
            </a:xfrm>
            <a:prstGeom prst="rect">
              <a:avLst/>
            </a:prstGeom>
            <a:solidFill>
              <a:srgbClr val="0B1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2" name="Rectangle 883">
              <a:extLst>
                <a:ext uri="{FF2B5EF4-FFF2-40B4-BE49-F238E27FC236}">
                  <a16:creationId xmlns:a16="http://schemas.microsoft.com/office/drawing/2014/main" id="{0EB93802-92C1-064D-9C2F-5D7E758B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612"/>
              <a:ext cx="2" cy="3544"/>
            </a:xfrm>
            <a:prstGeom prst="rect">
              <a:avLst/>
            </a:prstGeom>
            <a:solidFill>
              <a:srgbClr val="0B1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3" name="Rectangle 884">
              <a:extLst>
                <a:ext uri="{FF2B5EF4-FFF2-40B4-BE49-F238E27FC236}">
                  <a16:creationId xmlns:a16="http://schemas.microsoft.com/office/drawing/2014/main" id="{1F765C5A-8E2D-8E40-8C5C-F3BE1B1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612"/>
              <a:ext cx="2" cy="3544"/>
            </a:xfrm>
            <a:prstGeom prst="rect">
              <a:avLst/>
            </a:prstGeom>
            <a:solidFill>
              <a:srgbClr val="0B13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4" name="Rectangle 885">
              <a:extLst>
                <a:ext uri="{FF2B5EF4-FFF2-40B4-BE49-F238E27FC236}">
                  <a16:creationId xmlns:a16="http://schemas.microsoft.com/office/drawing/2014/main" id="{8B1DA313-8DA2-0549-BDA1-C38E84574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3" y="612"/>
              <a:ext cx="2" cy="3544"/>
            </a:xfrm>
            <a:prstGeom prst="rect">
              <a:avLst/>
            </a:prstGeom>
            <a:solidFill>
              <a:srgbClr val="0A0F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5" name="Rectangle 886">
              <a:extLst>
                <a:ext uri="{FF2B5EF4-FFF2-40B4-BE49-F238E27FC236}">
                  <a16:creationId xmlns:a16="http://schemas.microsoft.com/office/drawing/2014/main" id="{70A857B8-82A4-004F-A32A-39173C512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5" y="612"/>
              <a:ext cx="1" cy="3544"/>
            </a:xfrm>
            <a:prstGeom prst="rect">
              <a:avLst/>
            </a:prstGeom>
            <a:solidFill>
              <a:srgbClr val="030C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506" name="Rectangle 887">
              <a:extLst>
                <a:ext uri="{FF2B5EF4-FFF2-40B4-BE49-F238E27FC236}">
                  <a16:creationId xmlns:a16="http://schemas.microsoft.com/office/drawing/2014/main" id="{3A46419F-5A18-B748-86CF-73B9AFE95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6" y="612"/>
              <a:ext cx="2" cy="3544"/>
            </a:xfrm>
            <a:prstGeom prst="rect">
              <a:avLst/>
            </a:prstGeom>
            <a:solidFill>
              <a:srgbClr val="0006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3338" name="Rectangle 889">
            <a:extLst>
              <a:ext uri="{FF2B5EF4-FFF2-40B4-BE49-F238E27FC236}">
                <a16:creationId xmlns:a16="http://schemas.microsoft.com/office/drawing/2014/main" id="{28FF86FF-4AAE-0142-ADF4-A695F77A8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1489075"/>
            <a:ext cx="6337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FFFF00"/>
                </a:solidFill>
                <a:ea typeface="华文新魏" panose="02010800040101010101" pitchFamily="2" charset="-122"/>
              </a:rPr>
              <a:t>Appendix1: Notations and Conventions for Numbers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39" name="Rectangle 890">
            <a:extLst>
              <a:ext uri="{FF2B5EF4-FFF2-40B4-BE49-F238E27FC236}">
                <a16:creationId xmlns:a16="http://schemas.microsoft.com/office/drawing/2014/main" id="{7084A8FB-DCBB-294B-9995-92E7CDAC5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863600"/>
            <a:ext cx="7572375" cy="5624513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340" name="Group 950">
            <a:extLst>
              <a:ext uri="{FF2B5EF4-FFF2-40B4-BE49-F238E27FC236}">
                <a16:creationId xmlns:a16="http://schemas.microsoft.com/office/drawing/2014/main" id="{C715B017-A650-FA47-8FF0-FD3542C1C8F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449388"/>
            <a:ext cx="7316787" cy="5014912"/>
            <a:chOff x="660" y="926"/>
            <a:chExt cx="4609" cy="3159"/>
          </a:xfrm>
        </p:grpSpPr>
        <p:sp>
          <p:nvSpPr>
            <p:cNvPr id="13355" name="Rectangle 891">
              <a:extLst>
                <a:ext uri="{FF2B5EF4-FFF2-40B4-BE49-F238E27FC236}">
                  <a16:creationId xmlns:a16="http://schemas.microsoft.com/office/drawing/2014/main" id="{1ACD78FA-2A47-8E4B-84DC-72EF9100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3878"/>
              <a:ext cx="73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Quintillion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56" name="Rectangle 892">
              <a:extLst>
                <a:ext uri="{FF2B5EF4-FFF2-40B4-BE49-F238E27FC236}">
                  <a16:creationId xmlns:a16="http://schemas.microsoft.com/office/drawing/2014/main" id="{22143B8D-211F-7F48-A9AE-79C524747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873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E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57" name="Rectangle 893">
              <a:extLst>
                <a:ext uri="{FF2B5EF4-FFF2-40B4-BE49-F238E27FC236}">
                  <a16:creationId xmlns:a16="http://schemas.microsoft.com/office/drawing/2014/main" id="{D376AA17-47CF-0B47-A1C4-0FDCFBEF8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3873"/>
              <a:ext cx="26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exa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58" name="Rectangle 894">
              <a:extLst>
                <a:ext uri="{FF2B5EF4-FFF2-40B4-BE49-F238E27FC236}">
                  <a16:creationId xmlns:a16="http://schemas.microsoft.com/office/drawing/2014/main" id="{FB410DDB-3A42-1143-A393-8A8FFFAE0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3635"/>
              <a:ext cx="80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Quadrillion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59" name="Rectangle 895">
              <a:extLst>
                <a:ext uri="{FF2B5EF4-FFF2-40B4-BE49-F238E27FC236}">
                  <a16:creationId xmlns:a16="http://schemas.microsoft.com/office/drawing/2014/main" id="{A0BC2F5D-34E4-6C40-BCA8-1BB1A481C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630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P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0" name="Rectangle 896">
              <a:extLst>
                <a:ext uri="{FF2B5EF4-FFF2-40B4-BE49-F238E27FC236}">
                  <a16:creationId xmlns:a16="http://schemas.microsoft.com/office/drawing/2014/main" id="{23A5E8D2-EBD9-6B41-8F45-FA76B0A07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3630"/>
              <a:ext cx="3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peta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1" name="Rectangle 897">
              <a:extLst>
                <a:ext uri="{FF2B5EF4-FFF2-40B4-BE49-F238E27FC236}">
                  <a16:creationId xmlns:a16="http://schemas.microsoft.com/office/drawing/2014/main" id="{93B54771-9B02-C847-ABD0-604B5DE4C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3392"/>
              <a:ext cx="4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Trillion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2" name="Rectangle 898">
              <a:extLst>
                <a:ext uri="{FF2B5EF4-FFF2-40B4-BE49-F238E27FC236}">
                  <a16:creationId xmlns:a16="http://schemas.microsoft.com/office/drawing/2014/main" id="{6005EF03-F55E-BC43-94F3-3EB8AE7EE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385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T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3" name="Rectangle 899">
              <a:extLst>
                <a:ext uri="{FF2B5EF4-FFF2-40B4-BE49-F238E27FC236}">
                  <a16:creationId xmlns:a16="http://schemas.microsoft.com/office/drawing/2014/main" id="{5AA0E9E3-8AE3-5D4E-A764-A2680669C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3385"/>
              <a:ext cx="2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tera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4" name="Rectangle 900">
              <a:extLst>
                <a:ext uri="{FF2B5EF4-FFF2-40B4-BE49-F238E27FC236}">
                  <a16:creationId xmlns:a16="http://schemas.microsoft.com/office/drawing/2014/main" id="{114F4422-5F03-8542-B07A-1C21BB19A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3148"/>
              <a:ext cx="44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Billion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5" name="Rectangle 901">
              <a:extLst>
                <a:ext uri="{FF2B5EF4-FFF2-40B4-BE49-F238E27FC236}">
                  <a16:creationId xmlns:a16="http://schemas.microsoft.com/office/drawing/2014/main" id="{8D048B6C-DF31-E145-9CD0-F3ADE30B8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141"/>
              <a:ext cx="1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G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6" name="Rectangle 902">
              <a:extLst>
                <a:ext uri="{FF2B5EF4-FFF2-40B4-BE49-F238E27FC236}">
                  <a16:creationId xmlns:a16="http://schemas.microsoft.com/office/drawing/2014/main" id="{2D96C8C4-667D-4E40-8C00-42E8A48AA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3141"/>
              <a:ext cx="3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giga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7" name="Rectangle 903">
              <a:extLst>
                <a:ext uri="{FF2B5EF4-FFF2-40B4-BE49-F238E27FC236}">
                  <a16:creationId xmlns:a16="http://schemas.microsoft.com/office/drawing/2014/main" id="{EB4E757B-D67A-8949-AABA-B2888DFD6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2905"/>
              <a:ext cx="47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Million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8" name="Rectangle 904">
              <a:extLst>
                <a:ext uri="{FF2B5EF4-FFF2-40B4-BE49-F238E27FC236}">
                  <a16:creationId xmlns:a16="http://schemas.microsoft.com/office/drawing/2014/main" id="{EC2B2043-322F-5946-864A-87F449253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898"/>
              <a:ext cx="1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69" name="Rectangle 905">
              <a:extLst>
                <a:ext uri="{FF2B5EF4-FFF2-40B4-BE49-F238E27FC236}">
                  <a16:creationId xmlns:a16="http://schemas.microsoft.com/office/drawing/2014/main" id="{E8E3A104-AC46-7444-A600-623D99296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2898"/>
              <a:ext cx="4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mega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0" name="Rectangle 906">
              <a:extLst>
                <a:ext uri="{FF2B5EF4-FFF2-40B4-BE49-F238E27FC236}">
                  <a16:creationId xmlns:a16="http://schemas.microsoft.com/office/drawing/2014/main" id="{CCCFBF12-BF59-9445-B091-81499BCCB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2662"/>
              <a:ext cx="74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Thousand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1" name="Rectangle 907">
              <a:extLst>
                <a:ext uri="{FF2B5EF4-FFF2-40B4-BE49-F238E27FC236}">
                  <a16:creationId xmlns:a16="http://schemas.microsoft.com/office/drawing/2014/main" id="{CC2A0524-2FFE-394F-9824-BC113BFA5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655"/>
              <a:ext cx="5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K (or k)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2" name="Rectangle 908">
              <a:extLst>
                <a:ext uri="{FF2B5EF4-FFF2-40B4-BE49-F238E27FC236}">
                  <a16:creationId xmlns:a16="http://schemas.microsoft.com/office/drawing/2014/main" id="{1029678B-8BB4-F44B-9704-8C730A81F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2655"/>
              <a:ext cx="2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kilo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3" name="Rectangle 909">
              <a:extLst>
                <a:ext uri="{FF2B5EF4-FFF2-40B4-BE49-F238E27FC236}">
                  <a16:creationId xmlns:a16="http://schemas.microsoft.com/office/drawing/2014/main" id="{A4DD0E66-EC88-3943-8968-C626C0FDB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2416"/>
              <a:ext cx="12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quintillionth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4" name="Rectangle 910">
              <a:extLst>
                <a:ext uri="{FF2B5EF4-FFF2-40B4-BE49-F238E27FC236}">
                  <a16:creationId xmlns:a16="http://schemas.microsoft.com/office/drawing/2014/main" id="{F7CA295B-4C08-0B46-BCB6-1D6D0D57B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4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5" name="Rectangle 911">
              <a:extLst>
                <a:ext uri="{FF2B5EF4-FFF2-40B4-BE49-F238E27FC236}">
                  <a16:creationId xmlns:a16="http://schemas.microsoft.com/office/drawing/2014/main" id="{EB79EBA4-0C17-4F4A-BD58-14270A796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2411"/>
              <a:ext cx="2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atta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6" name="Rectangle 912">
              <a:extLst>
                <a:ext uri="{FF2B5EF4-FFF2-40B4-BE49-F238E27FC236}">
                  <a16:creationId xmlns:a16="http://schemas.microsoft.com/office/drawing/2014/main" id="{FCBA3135-BF05-704F-AFFD-58A9A4E1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2173"/>
              <a:ext cx="12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quadrillionth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7" name="Rectangle 913">
              <a:extLst>
                <a:ext uri="{FF2B5EF4-FFF2-40B4-BE49-F238E27FC236}">
                  <a16:creationId xmlns:a16="http://schemas.microsoft.com/office/drawing/2014/main" id="{291AFFD8-66DB-4C4B-AC05-D11821B62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168"/>
              <a:ext cx="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f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8" name="Rectangle 914">
              <a:extLst>
                <a:ext uri="{FF2B5EF4-FFF2-40B4-BE49-F238E27FC236}">
                  <a16:creationId xmlns:a16="http://schemas.microsoft.com/office/drawing/2014/main" id="{C272AF09-7DAB-BA4C-A08E-470867FB5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2168"/>
              <a:ext cx="4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femto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79" name="Rectangle 915">
              <a:extLst>
                <a:ext uri="{FF2B5EF4-FFF2-40B4-BE49-F238E27FC236}">
                  <a16:creationId xmlns:a16="http://schemas.microsoft.com/office/drawing/2014/main" id="{3995A288-EF45-354C-B79A-4969898FD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930"/>
              <a:ext cx="94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trillionth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0" name="Rectangle 916">
              <a:extLst>
                <a:ext uri="{FF2B5EF4-FFF2-40B4-BE49-F238E27FC236}">
                  <a16:creationId xmlns:a16="http://schemas.microsoft.com/office/drawing/2014/main" id="{03F1F4E8-2321-2D4F-8686-0993ECA14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1924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p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1" name="Rectangle 917">
              <a:extLst>
                <a:ext uri="{FF2B5EF4-FFF2-40B4-BE49-F238E27FC236}">
                  <a16:creationId xmlns:a16="http://schemas.microsoft.com/office/drawing/2014/main" id="{BB4ABD98-56A8-604C-BCFE-F69C6BE43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924"/>
              <a:ext cx="3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pico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2" name="Rectangle 918">
              <a:extLst>
                <a:ext uri="{FF2B5EF4-FFF2-40B4-BE49-F238E27FC236}">
                  <a16:creationId xmlns:a16="http://schemas.microsoft.com/office/drawing/2014/main" id="{117F3F8F-83DE-F240-A7EB-57B8B8B1B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686"/>
              <a:ext cx="93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billionth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3" name="Rectangle 919">
              <a:extLst>
                <a:ext uri="{FF2B5EF4-FFF2-40B4-BE49-F238E27FC236}">
                  <a16:creationId xmlns:a16="http://schemas.microsoft.com/office/drawing/2014/main" id="{DD9B6C80-C52E-474A-BA87-B04387142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1679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4" name="Rectangle 920">
              <a:extLst>
                <a:ext uri="{FF2B5EF4-FFF2-40B4-BE49-F238E27FC236}">
                  <a16:creationId xmlns:a16="http://schemas.microsoft.com/office/drawing/2014/main" id="{B7D52D5E-5110-2644-B8FF-22D280CEB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679"/>
              <a:ext cx="3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nano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5" name="Rectangle 921">
              <a:extLst>
                <a:ext uri="{FF2B5EF4-FFF2-40B4-BE49-F238E27FC236}">
                  <a16:creationId xmlns:a16="http://schemas.microsoft.com/office/drawing/2014/main" id="{B2360823-7053-7E42-8D62-A4B0D3567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443"/>
              <a:ext cx="97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millionth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6" name="Rectangle 922">
              <a:extLst>
                <a:ext uri="{FF2B5EF4-FFF2-40B4-BE49-F238E27FC236}">
                  <a16:creationId xmlns:a16="http://schemas.microsoft.com/office/drawing/2014/main" id="{E90D9FB4-EEEA-5245-9F03-9AF390041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1436"/>
              <a:ext cx="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µ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7" name="Rectangle 923">
              <a:extLst>
                <a:ext uri="{FF2B5EF4-FFF2-40B4-BE49-F238E27FC236}">
                  <a16:creationId xmlns:a16="http://schemas.microsoft.com/office/drawing/2014/main" id="{4DF57FD7-20B6-224C-B724-5A3C9A445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436"/>
              <a:ext cx="4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micro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8" name="Rectangle 924">
              <a:extLst>
                <a:ext uri="{FF2B5EF4-FFF2-40B4-BE49-F238E27FC236}">
                  <a16:creationId xmlns:a16="http://schemas.microsoft.com/office/drawing/2014/main" id="{765FD1DB-1076-4443-86A8-1E97367AC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200"/>
              <a:ext cx="11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>
                  <a:solidFill>
                    <a:srgbClr val="FFFFFF"/>
                  </a:solidFill>
                  <a:ea typeface="华文新魏" panose="02010800040101010101" pitchFamily="2" charset="-122"/>
                </a:rPr>
                <a:t>One thousandth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89" name="Rectangle 925">
              <a:extLst>
                <a:ext uri="{FF2B5EF4-FFF2-40B4-BE49-F238E27FC236}">
                  <a16:creationId xmlns:a16="http://schemas.microsoft.com/office/drawing/2014/main" id="{C99F1B79-A359-4743-9720-BE9C45204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1193"/>
              <a:ext cx="1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0" name="Rectangle 926">
              <a:extLst>
                <a:ext uri="{FF2B5EF4-FFF2-40B4-BE49-F238E27FC236}">
                  <a16:creationId xmlns:a16="http://schemas.microsoft.com/office/drawing/2014/main" id="{355A996E-D303-274F-A026-CDADF24A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193"/>
              <a:ext cx="2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mill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1" name="Rectangle 927">
              <a:extLst>
                <a:ext uri="{FF2B5EF4-FFF2-40B4-BE49-F238E27FC236}">
                  <a16:creationId xmlns:a16="http://schemas.microsoft.com/office/drawing/2014/main" id="{85018B41-5186-BC4A-A988-C376A59AD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958"/>
              <a:ext cx="11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Numeric Value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2" name="Rectangle 928">
              <a:extLst>
                <a:ext uri="{FF2B5EF4-FFF2-40B4-BE49-F238E27FC236}">
                  <a16:creationId xmlns:a16="http://schemas.microsoft.com/office/drawing/2014/main" id="{84A8BC88-90EB-8940-A458-768FF4B4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958"/>
              <a:ext cx="64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Meaning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3" name="Rectangle 929">
              <a:extLst>
                <a:ext uri="{FF2B5EF4-FFF2-40B4-BE49-F238E27FC236}">
                  <a16:creationId xmlns:a16="http://schemas.microsoft.com/office/drawing/2014/main" id="{DA99A7BA-3C82-3F4F-B037-2933F8353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958"/>
              <a:ext cx="9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Abbreviation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4" name="Rectangle 930">
              <a:extLst>
                <a:ext uri="{FF2B5EF4-FFF2-40B4-BE49-F238E27FC236}">
                  <a16:creationId xmlns:a16="http://schemas.microsoft.com/office/drawing/2014/main" id="{25649EA8-45C3-3245-9449-C2E06507C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958"/>
              <a:ext cx="4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FFFFFF"/>
                  </a:solidFill>
                  <a:ea typeface="华文新魏" panose="02010800040101010101" pitchFamily="2" charset="-122"/>
                </a:rPr>
                <a:t>Prefix</a:t>
              </a:r>
              <a:endPara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395" name="Line 931">
              <a:extLst>
                <a:ext uri="{FF2B5EF4-FFF2-40B4-BE49-F238E27FC236}">
                  <a16:creationId xmlns:a16="http://schemas.microsoft.com/office/drawing/2014/main" id="{F5FCDF67-6F3C-BF4A-AD8D-8D9273C4F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926"/>
              <a:ext cx="4609" cy="0"/>
            </a:xfrm>
            <a:prstGeom prst="line">
              <a:avLst/>
            </a:prstGeom>
            <a:noFill/>
            <a:ln w="23813" cap="sq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6" name="Line 932">
              <a:extLst>
                <a:ext uri="{FF2B5EF4-FFF2-40B4-BE49-F238E27FC236}">
                  <a16:creationId xmlns:a16="http://schemas.microsoft.com/office/drawing/2014/main" id="{29A6CF0A-E627-FE46-8B86-D492F3E10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1162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7" name="Line 933">
              <a:extLst>
                <a:ext uri="{FF2B5EF4-FFF2-40B4-BE49-F238E27FC236}">
                  <a16:creationId xmlns:a16="http://schemas.microsoft.com/office/drawing/2014/main" id="{639F9EAA-6A27-E74D-8F8A-25AE0AAD3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1405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8" name="Line 934">
              <a:extLst>
                <a:ext uri="{FF2B5EF4-FFF2-40B4-BE49-F238E27FC236}">
                  <a16:creationId xmlns:a16="http://schemas.microsoft.com/office/drawing/2014/main" id="{FE9E74DE-6E56-6F48-9659-679BED4B6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1649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9" name="Line 935">
              <a:extLst>
                <a:ext uri="{FF2B5EF4-FFF2-40B4-BE49-F238E27FC236}">
                  <a16:creationId xmlns:a16="http://schemas.microsoft.com/office/drawing/2014/main" id="{A9B858B8-9443-D84F-86B7-C6031C45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1892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0" name="Line 936">
              <a:extLst>
                <a:ext uri="{FF2B5EF4-FFF2-40B4-BE49-F238E27FC236}">
                  <a16:creationId xmlns:a16="http://schemas.microsoft.com/office/drawing/2014/main" id="{884E5217-A64E-7D4D-B149-03B8826B2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2136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1" name="Line 937">
              <a:extLst>
                <a:ext uri="{FF2B5EF4-FFF2-40B4-BE49-F238E27FC236}">
                  <a16:creationId xmlns:a16="http://schemas.microsoft.com/office/drawing/2014/main" id="{192F626F-E393-9C4F-9C65-0356C787E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2380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2" name="Line 938">
              <a:extLst>
                <a:ext uri="{FF2B5EF4-FFF2-40B4-BE49-F238E27FC236}">
                  <a16:creationId xmlns:a16="http://schemas.microsoft.com/office/drawing/2014/main" id="{8672B141-B53F-8F49-BAD7-2198769FB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2623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3" name="Line 939">
              <a:extLst>
                <a:ext uri="{FF2B5EF4-FFF2-40B4-BE49-F238E27FC236}">
                  <a16:creationId xmlns:a16="http://schemas.microsoft.com/office/drawing/2014/main" id="{EA7F1E9E-1E16-D14F-B616-62FF1BEC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2867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4" name="Line 940">
              <a:extLst>
                <a:ext uri="{FF2B5EF4-FFF2-40B4-BE49-F238E27FC236}">
                  <a16:creationId xmlns:a16="http://schemas.microsoft.com/office/drawing/2014/main" id="{F6A2CCC5-CEE4-CD41-8281-372D09B0A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3111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5" name="Line 941">
              <a:extLst>
                <a:ext uri="{FF2B5EF4-FFF2-40B4-BE49-F238E27FC236}">
                  <a16:creationId xmlns:a16="http://schemas.microsoft.com/office/drawing/2014/main" id="{C11B6D29-AE07-6440-AF49-7E8E06F42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3354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6" name="Line 942">
              <a:extLst>
                <a:ext uri="{FF2B5EF4-FFF2-40B4-BE49-F238E27FC236}">
                  <a16:creationId xmlns:a16="http://schemas.microsoft.com/office/drawing/2014/main" id="{B939F785-78F0-674A-94F4-BC25DF67E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3598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7" name="Line 943">
              <a:extLst>
                <a:ext uri="{FF2B5EF4-FFF2-40B4-BE49-F238E27FC236}">
                  <a16:creationId xmlns:a16="http://schemas.microsoft.com/office/drawing/2014/main" id="{32E4FC72-45C2-6F4F-86E6-74F6F749D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3841"/>
              <a:ext cx="4609" cy="0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8" name="Line 944">
              <a:extLst>
                <a:ext uri="{FF2B5EF4-FFF2-40B4-BE49-F238E27FC236}">
                  <a16:creationId xmlns:a16="http://schemas.microsoft.com/office/drawing/2014/main" id="{E4E81C78-F588-1046-8FD8-6CCE30AD6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4085"/>
              <a:ext cx="4609" cy="0"/>
            </a:xfrm>
            <a:prstGeom prst="line">
              <a:avLst/>
            </a:prstGeom>
            <a:noFill/>
            <a:ln w="23813" cap="sq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9" name="Line 945">
              <a:extLst>
                <a:ext uri="{FF2B5EF4-FFF2-40B4-BE49-F238E27FC236}">
                  <a16:creationId xmlns:a16="http://schemas.microsoft.com/office/drawing/2014/main" id="{34EAA052-6F51-FE47-9EAD-C7AD29EF0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" y="926"/>
              <a:ext cx="0" cy="3159"/>
            </a:xfrm>
            <a:prstGeom prst="line">
              <a:avLst/>
            </a:prstGeom>
            <a:noFill/>
            <a:ln w="23813" cap="sq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0" name="Line 946">
              <a:extLst>
                <a:ext uri="{FF2B5EF4-FFF2-40B4-BE49-F238E27FC236}">
                  <a16:creationId xmlns:a16="http://schemas.microsoft.com/office/drawing/2014/main" id="{41595131-49C1-ED44-A0B3-33830B531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926"/>
              <a:ext cx="0" cy="3159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1" name="Line 947">
              <a:extLst>
                <a:ext uri="{FF2B5EF4-FFF2-40B4-BE49-F238E27FC236}">
                  <a16:creationId xmlns:a16="http://schemas.microsoft.com/office/drawing/2014/main" id="{9BC158EF-1136-C14C-836B-549AD0885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" y="926"/>
              <a:ext cx="0" cy="3159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2" name="Line 948">
              <a:extLst>
                <a:ext uri="{FF2B5EF4-FFF2-40B4-BE49-F238E27FC236}">
                  <a16:creationId xmlns:a16="http://schemas.microsoft.com/office/drawing/2014/main" id="{1A043777-B5B1-604C-96A9-9649B6516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926"/>
              <a:ext cx="0" cy="3159"/>
            </a:xfrm>
            <a:prstGeom prst="line">
              <a:avLst/>
            </a:prstGeom>
            <a:noFill/>
            <a:ln w="111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3" name="Line 949">
              <a:extLst>
                <a:ext uri="{FF2B5EF4-FFF2-40B4-BE49-F238E27FC236}">
                  <a16:creationId xmlns:a16="http://schemas.microsoft.com/office/drawing/2014/main" id="{051B3990-1DE6-C242-9498-68CF9AB1D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9" y="926"/>
              <a:ext cx="0" cy="3159"/>
            </a:xfrm>
            <a:prstGeom prst="line">
              <a:avLst/>
            </a:prstGeom>
            <a:noFill/>
            <a:ln w="23813" cap="sq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1" name="Rectangle 951">
            <a:extLst>
              <a:ext uri="{FF2B5EF4-FFF2-40B4-BE49-F238E27FC236}">
                <a16:creationId xmlns:a16="http://schemas.microsoft.com/office/drawing/2014/main" id="{CE175363-15DD-7A4E-8F7C-28FFB2B61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688" y="1038225"/>
            <a:ext cx="5881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600">
                <a:solidFill>
                  <a:srgbClr val="FFCC66"/>
                </a:solidFill>
                <a:ea typeface="华文新魏" panose="02010800040101010101" pitchFamily="2" charset="-122"/>
              </a:rPr>
              <a:t>Notations and Conventions for Numbers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342" name="Rectangle 1002">
            <a:extLst>
              <a:ext uri="{FF2B5EF4-FFF2-40B4-BE49-F238E27FC236}">
                <a16:creationId xmlns:a16="http://schemas.microsoft.com/office/drawing/2014/main" id="{8FB29767-5056-434C-8FEA-D9520D74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912938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</a:p>
        </p:txBody>
      </p:sp>
      <p:sp>
        <p:nvSpPr>
          <p:cNvPr id="378886" name="Line 6">
            <a:extLst>
              <a:ext uri="{FF2B5EF4-FFF2-40B4-BE49-F238E27FC236}">
                <a16:creationId xmlns:a16="http://schemas.microsoft.com/office/drawing/2014/main" id="{A9B570CC-9749-0F4C-B598-B7AC9046F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4149725"/>
            <a:ext cx="83820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344" name="Rectangle 1002">
            <a:extLst>
              <a:ext uri="{FF2B5EF4-FFF2-40B4-BE49-F238E27FC236}">
                <a16:creationId xmlns:a16="http://schemas.microsoft.com/office/drawing/2014/main" id="{D1AD9C08-D562-AC4E-9908-871982343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2266950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</a:p>
        </p:txBody>
      </p:sp>
      <p:sp>
        <p:nvSpPr>
          <p:cNvPr id="13345" name="Rectangle 1002">
            <a:extLst>
              <a:ext uri="{FF2B5EF4-FFF2-40B4-BE49-F238E27FC236}">
                <a16:creationId xmlns:a16="http://schemas.microsoft.com/office/drawing/2014/main" id="{6F558542-9BF0-2B4D-A4A4-757222D77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265906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</a:p>
        </p:txBody>
      </p:sp>
      <p:sp>
        <p:nvSpPr>
          <p:cNvPr id="13346" name="Rectangle 1002">
            <a:extLst>
              <a:ext uri="{FF2B5EF4-FFF2-40B4-BE49-F238E27FC236}">
                <a16:creationId xmlns:a16="http://schemas.microsoft.com/office/drawing/2014/main" id="{7DF57CFD-4E85-C140-B264-FFD10B36D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01307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</a:t>
            </a:r>
          </a:p>
        </p:txBody>
      </p:sp>
      <p:sp>
        <p:nvSpPr>
          <p:cNvPr id="13347" name="Rectangle 1002">
            <a:extLst>
              <a:ext uri="{FF2B5EF4-FFF2-40B4-BE49-F238E27FC236}">
                <a16:creationId xmlns:a16="http://schemas.microsoft.com/office/drawing/2014/main" id="{690F8B9A-0632-4D4D-9F2D-B854DA5C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342741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-15</a:t>
            </a:r>
          </a:p>
        </p:txBody>
      </p:sp>
      <p:sp>
        <p:nvSpPr>
          <p:cNvPr id="13348" name="Rectangle 1002">
            <a:extLst>
              <a:ext uri="{FF2B5EF4-FFF2-40B4-BE49-F238E27FC236}">
                <a16:creationId xmlns:a16="http://schemas.microsoft.com/office/drawing/2014/main" id="{9CEE8F9D-C3FE-0C41-8F72-FFFF5202A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78142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-18</a:t>
            </a:r>
          </a:p>
        </p:txBody>
      </p:sp>
      <p:sp>
        <p:nvSpPr>
          <p:cNvPr id="13349" name="Rectangle 1002">
            <a:extLst>
              <a:ext uri="{FF2B5EF4-FFF2-40B4-BE49-F238E27FC236}">
                <a16:creationId xmlns:a16="http://schemas.microsoft.com/office/drawing/2014/main" id="{77765D64-7A6B-3E43-BCC8-1F47C6F0C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4240213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13350" name="Rectangle 1002">
            <a:extLst>
              <a:ext uri="{FF2B5EF4-FFF2-40B4-BE49-F238E27FC236}">
                <a16:creationId xmlns:a16="http://schemas.microsoft.com/office/drawing/2014/main" id="{A37B28D6-B8DB-104D-BD8F-C5128FA9A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578350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</a:p>
        </p:txBody>
      </p:sp>
      <p:sp>
        <p:nvSpPr>
          <p:cNvPr id="13351" name="Rectangle 1002">
            <a:extLst>
              <a:ext uri="{FF2B5EF4-FFF2-40B4-BE49-F238E27FC236}">
                <a16:creationId xmlns:a16="http://schemas.microsoft.com/office/drawing/2014/main" id="{F6383A5B-5AF4-0146-AC81-1DF3F3332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4959350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</a:p>
        </p:txBody>
      </p:sp>
      <p:sp>
        <p:nvSpPr>
          <p:cNvPr id="13352" name="Rectangle 1002">
            <a:extLst>
              <a:ext uri="{FF2B5EF4-FFF2-40B4-BE49-F238E27FC236}">
                <a16:creationId xmlns:a16="http://schemas.microsoft.com/office/drawing/2014/main" id="{7BE8866C-58E6-944A-877B-416FD4513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5354638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</a:p>
        </p:txBody>
      </p:sp>
      <p:sp>
        <p:nvSpPr>
          <p:cNvPr id="13353" name="Rectangle 1002">
            <a:extLst>
              <a:ext uri="{FF2B5EF4-FFF2-40B4-BE49-F238E27FC236}">
                <a16:creationId xmlns:a16="http://schemas.microsoft.com/office/drawing/2014/main" id="{3626D173-3C44-7244-8A16-551B3767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5738813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</a:p>
        </p:txBody>
      </p:sp>
      <p:sp>
        <p:nvSpPr>
          <p:cNvPr id="13354" name="Rectangle 1002">
            <a:extLst>
              <a:ext uri="{FF2B5EF4-FFF2-40B4-BE49-F238E27FC236}">
                <a16:creationId xmlns:a16="http://schemas.microsoft.com/office/drawing/2014/main" id="{E711B408-CE44-6C42-8F86-22C12332E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6119813"/>
            <a:ext cx="146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  </a:t>
            </a:r>
            <a:r>
              <a:rPr kumimoji="1"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2</a:t>
            </a:r>
            <a:r>
              <a:rPr kumimoji="1" lang="en-US" altLang="zh-CN" sz="2000" b="1" baseline="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70CB6A8-EA69-EA48-8E6F-0D4EBF3E01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06363"/>
            <a:ext cx="8805863" cy="57308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内部存储器的分类及应用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D8DB17D-65A0-B640-AD05-AB6ECED380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1500" y="920750"/>
            <a:ext cx="7750175" cy="420688"/>
          </a:xfrm>
          <a:noFill/>
        </p:spPr>
        <p:txBody>
          <a:bodyPr lIns="91440" tIns="45720" rIns="91440" bIns="45720"/>
          <a:lstStyle/>
          <a:p>
            <a:pPr marL="268288" indent="-268288" defTabSz="717550" eaLnBrk="1" hangingPunct="1">
              <a:lnSpc>
                <a:spcPct val="90000"/>
              </a:lnSpc>
            </a:pPr>
            <a:r>
              <a:rPr lang="zh-CN" altLang="en-US" sz="2400">
                <a:ea typeface="微软雅黑" panose="020B0503020204020204" pitchFamily="34" charset="-122"/>
              </a:rPr>
              <a:t>内存由半导体存储器芯片组成，芯片有多种类型：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A418671D-CD60-1345-B0D3-5EEEA686B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3957638"/>
            <a:ext cx="1004888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30911" tIns="61788" rIns="30911" bIns="30911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8000"/>
              </a:lnSpc>
            </a:pPr>
            <a:r>
              <a:rPr lang="zh-CN" altLang="en-US" sz="2200" b="1">
                <a:solidFill>
                  <a:srgbClr val="006600"/>
                </a:solidFill>
                <a:ea typeface="微软雅黑" panose="020B0503020204020204" pitchFamily="34" charset="-122"/>
              </a:rPr>
              <a:t>半导体存储器</a:t>
            </a:r>
          </a:p>
        </p:txBody>
      </p:sp>
      <p:grpSp>
        <p:nvGrpSpPr>
          <p:cNvPr id="14341" name="Group 5">
            <a:extLst>
              <a:ext uri="{FF2B5EF4-FFF2-40B4-BE49-F238E27FC236}">
                <a16:creationId xmlns:a16="http://schemas.microsoft.com/office/drawing/2014/main" id="{DEA0245B-7708-FF48-9F8F-58E1C7DAAFD5}"/>
              </a:ext>
            </a:extLst>
          </p:cNvPr>
          <p:cNvGrpSpPr>
            <a:grpSpLocks/>
          </p:cNvGrpSpPr>
          <p:nvPr/>
        </p:nvGrpSpPr>
        <p:grpSpPr bwMode="auto">
          <a:xfrm>
            <a:off x="1566863" y="2954338"/>
            <a:ext cx="720725" cy="2927350"/>
            <a:chOff x="1164" y="1854"/>
            <a:chExt cx="437" cy="997"/>
          </a:xfrm>
        </p:grpSpPr>
        <p:sp>
          <p:nvSpPr>
            <p:cNvPr id="14365" name="Line 6">
              <a:extLst>
                <a:ext uri="{FF2B5EF4-FFF2-40B4-BE49-F238E27FC236}">
                  <a16:creationId xmlns:a16="http://schemas.microsoft.com/office/drawing/2014/main" id="{9935688A-9C9C-BB41-81C8-D1564E85F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2390"/>
              <a:ext cx="2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6" name="Line 7">
              <a:extLst>
                <a:ext uri="{FF2B5EF4-FFF2-40B4-BE49-F238E27FC236}">
                  <a16:creationId xmlns:a16="http://schemas.microsoft.com/office/drawing/2014/main" id="{82EE6DEB-8D17-7C43-A43C-8B7A5D387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9" y="1854"/>
              <a:ext cx="0" cy="9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7" name="Line 8">
              <a:extLst>
                <a:ext uri="{FF2B5EF4-FFF2-40B4-BE49-F238E27FC236}">
                  <a16:creationId xmlns:a16="http://schemas.microsoft.com/office/drawing/2014/main" id="{39530C8E-5689-DF45-A6EA-031120B7B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1854"/>
              <a:ext cx="2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8" name="Line 9">
              <a:extLst>
                <a:ext uri="{FF2B5EF4-FFF2-40B4-BE49-F238E27FC236}">
                  <a16:creationId xmlns:a16="http://schemas.microsoft.com/office/drawing/2014/main" id="{CCA6594D-85E8-704C-8D80-2A4EAC319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2851"/>
              <a:ext cx="2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4342" name="Text Box 10">
            <a:extLst>
              <a:ext uri="{FF2B5EF4-FFF2-40B4-BE49-F238E27FC236}">
                <a16:creationId xmlns:a16="http://schemas.microsoft.com/office/drawing/2014/main" id="{4E35C362-0E7A-CB4D-98F6-CE28D8C37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0" y="5307013"/>
            <a:ext cx="1038225" cy="12747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36970" rIns="61788" bIns="3697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只读</a:t>
            </a:r>
          </a:p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存储器(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ROM)</a:t>
            </a:r>
          </a:p>
        </p:txBody>
      </p:sp>
      <p:sp>
        <p:nvSpPr>
          <p:cNvPr id="14343" name="Text Box 11">
            <a:extLst>
              <a:ext uri="{FF2B5EF4-FFF2-40B4-BE49-F238E27FC236}">
                <a16:creationId xmlns:a16="http://schemas.microsoft.com/office/drawing/2014/main" id="{59D72FB5-218F-2943-AD4F-50EDE1ACC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3" y="2289175"/>
            <a:ext cx="1230312" cy="129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36970" rIns="61788" bIns="3697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随机存取存储器(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RAM)</a:t>
            </a:r>
          </a:p>
        </p:txBody>
      </p:sp>
      <p:sp>
        <p:nvSpPr>
          <p:cNvPr id="14344" name="Line 12">
            <a:extLst>
              <a:ext uri="{FF2B5EF4-FFF2-40B4-BE49-F238E27FC236}">
                <a16:creationId xmlns:a16="http://schemas.microsoft.com/office/drawing/2014/main" id="{49D999B3-3C54-4E43-9182-32E5908E6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865813"/>
            <a:ext cx="3032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4345" name="Group 13">
            <a:extLst>
              <a:ext uri="{FF2B5EF4-FFF2-40B4-BE49-F238E27FC236}">
                <a16:creationId xmlns:a16="http://schemas.microsoft.com/office/drawing/2014/main" id="{87716A23-98FD-424D-92ED-42B01FEFC5C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155825"/>
            <a:ext cx="577850" cy="1643063"/>
            <a:chOff x="3681" y="8878"/>
            <a:chExt cx="632" cy="512"/>
          </a:xfrm>
        </p:grpSpPr>
        <p:sp>
          <p:nvSpPr>
            <p:cNvPr id="14361" name="Line 14">
              <a:extLst>
                <a:ext uri="{FF2B5EF4-FFF2-40B4-BE49-F238E27FC236}">
                  <a16:creationId xmlns:a16="http://schemas.microsoft.com/office/drawing/2014/main" id="{5937787B-F87F-D44A-921B-ADB3F6FB4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9118"/>
              <a:ext cx="28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2" name="Line 15">
              <a:extLst>
                <a:ext uri="{FF2B5EF4-FFF2-40B4-BE49-F238E27FC236}">
                  <a16:creationId xmlns:a16="http://schemas.microsoft.com/office/drawing/2014/main" id="{DB75FEC9-C45D-B94E-8686-0E0A7A984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8878"/>
              <a:ext cx="3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3" name="Line 16">
              <a:extLst>
                <a:ext uri="{FF2B5EF4-FFF2-40B4-BE49-F238E27FC236}">
                  <a16:creationId xmlns:a16="http://schemas.microsoft.com/office/drawing/2014/main" id="{CC8F44AC-731A-0F46-BBDD-902249D96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9390"/>
              <a:ext cx="3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4" name="Line 17">
              <a:extLst>
                <a:ext uri="{FF2B5EF4-FFF2-40B4-BE49-F238E27FC236}">
                  <a16:creationId xmlns:a16="http://schemas.microsoft.com/office/drawing/2014/main" id="{C0AB6D1B-09B1-F740-A2FE-C8AF10F44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4" y="8884"/>
              <a:ext cx="0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4346" name="Text Box 18">
            <a:extLst>
              <a:ext uri="{FF2B5EF4-FFF2-40B4-BE49-F238E27FC236}">
                <a16:creationId xmlns:a16="http://schemas.microsoft.com/office/drawing/2014/main" id="{D01F8A0E-0CA7-A846-AF32-8642A4829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1574800"/>
            <a:ext cx="2530475" cy="7985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7200" rIns="61788" bIns="720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静态存储器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2000" b="1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7" name="Text Box 19">
            <a:extLst>
              <a:ext uri="{FF2B5EF4-FFF2-40B4-BE49-F238E27FC236}">
                <a16:creationId xmlns:a16="http://schemas.microsoft.com/office/drawing/2014/main" id="{ADB0AE3F-AA50-7B4C-8590-70CC92BE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3473450"/>
            <a:ext cx="2455863" cy="53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7200" rIns="61788" bIns="720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动态存储器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endParaRPr lang="zh-CN" altLang="en-US" sz="2000" b="1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8" name="Text Box 20">
            <a:extLst>
              <a:ext uri="{FF2B5EF4-FFF2-40B4-BE49-F238E27FC236}">
                <a16:creationId xmlns:a16="http://schemas.microsoft.com/office/drawing/2014/main" id="{9E1C117B-9AC4-2341-AEA7-464B26D1D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5303838"/>
            <a:ext cx="3367087" cy="6111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7200" rIns="61788" bIns="720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solidFill>
                  <a:schemeClr val="hlink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不可在线改写内容的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</a:p>
        </p:txBody>
      </p:sp>
      <p:sp>
        <p:nvSpPr>
          <p:cNvPr id="14349" name="Line 21">
            <a:extLst>
              <a:ext uri="{FF2B5EF4-FFF2-40B4-BE49-F238E27FC236}">
                <a16:creationId xmlns:a16="http://schemas.microsoft.com/office/drawing/2014/main" id="{5CA85B6F-259E-9B4B-9591-0EBB5D87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5516563"/>
            <a:ext cx="354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350" name="Line 22">
            <a:extLst>
              <a:ext uri="{FF2B5EF4-FFF2-40B4-BE49-F238E27FC236}">
                <a16:creationId xmlns:a16="http://schemas.microsoft.com/office/drawing/2014/main" id="{6FD856D8-E9C2-284B-9E55-A545836310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5522913"/>
            <a:ext cx="0" cy="7985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351" name="Line 23">
            <a:extLst>
              <a:ext uri="{FF2B5EF4-FFF2-40B4-BE49-F238E27FC236}">
                <a16:creationId xmlns:a16="http://schemas.microsoft.com/office/drawing/2014/main" id="{5926AC41-08EE-E840-AE6D-B0B83DA07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6326188"/>
            <a:ext cx="354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352" name="Text Box 24">
            <a:extLst>
              <a:ext uri="{FF2B5EF4-FFF2-40B4-BE49-F238E27FC236}">
                <a16:creationId xmlns:a16="http://schemas.microsoft.com/office/drawing/2014/main" id="{523C4500-1880-AC4B-A81C-5B946FF9F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6099175"/>
            <a:ext cx="3219450" cy="4159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1788" tIns="7200" rIns="61788" bIns="720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闪存（</a:t>
            </a: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 ROM）</a:t>
            </a:r>
          </a:p>
        </p:txBody>
      </p:sp>
      <p:sp>
        <p:nvSpPr>
          <p:cNvPr id="14353" name="Text Box 25">
            <a:extLst>
              <a:ext uri="{FF2B5EF4-FFF2-40B4-BE49-F238E27FC236}">
                <a16:creationId xmlns:a16="http://schemas.microsoft.com/office/drawing/2014/main" id="{2AA9119B-A62C-F244-9895-F472B4EB1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1700213"/>
            <a:ext cx="211613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0033CC"/>
                </a:solidFill>
                <a:ea typeface="黑体" panose="02010609060101010101" pitchFamily="49" charset="-122"/>
              </a:rPr>
              <a:t>（用作</a:t>
            </a:r>
            <a:r>
              <a:rPr lang="en-US" altLang="zh-CN" sz="2000" b="1">
                <a:solidFill>
                  <a:srgbClr val="0033CC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0033CC"/>
                </a:solidFill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4354" name="Text Box 26">
            <a:extLst>
              <a:ext uri="{FF2B5EF4-FFF2-40B4-BE49-F238E27FC236}">
                <a16:creationId xmlns:a16="http://schemas.microsoft.com/office/drawing/2014/main" id="{0ED9007B-ACC0-3A49-934D-606808A00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3478213"/>
            <a:ext cx="25368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（用作主存储器）</a:t>
            </a:r>
          </a:p>
        </p:txBody>
      </p:sp>
      <p:sp>
        <p:nvSpPr>
          <p:cNvPr id="14355" name="Rectangle 28">
            <a:extLst>
              <a:ext uri="{FF2B5EF4-FFF2-40B4-BE49-F238E27FC236}">
                <a16:creationId xmlns:a16="http://schemas.microsoft.com/office/drawing/2014/main" id="{161B3918-4A40-C94A-83A4-B08FD9399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2389188"/>
            <a:ext cx="42418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097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Tx/>
              <a:buChar char="•"/>
            </a:pP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每个存储单元(</a:t>
            </a:r>
            <a:r>
              <a:rPr kumimoji="1"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cell)</a:t>
            </a: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由6个晶体管组成</a:t>
            </a:r>
          </a:p>
          <a:p>
            <a:pPr lvl="1" eaLnBrk="1" hangingPunct="1">
              <a:buFontTx/>
              <a:buChar char="•"/>
            </a:pP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只要加上电源，信息就能一直保持</a:t>
            </a:r>
          </a:p>
          <a:p>
            <a:pPr lvl="1" eaLnBrk="1" hangingPunct="1">
              <a:buFontTx/>
              <a:buChar char="•"/>
            </a:pP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对电器干扰相对不很敏感</a:t>
            </a:r>
          </a:p>
          <a:p>
            <a:pPr lvl="1" eaLnBrk="1" hangingPunct="1">
              <a:buFontTx/>
              <a:buChar char="•"/>
            </a:pP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比</a:t>
            </a:r>
            <a:r>
              <a:rPr kumimoji="1"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更快，也更贵</a:t>
            </a:r>
          </a:p>
        </p:txBody>
      </p:sp>
      <p:sp>
        <p:nvSpPr>
          <p:cNvPr id="14356" name="AutoShape 29">
            <a:extLst>
              <a:ext uri="{FF2B5EF4-FFF2-40B4-BE49-F238E27FC236}">
                <a16:creationId xmlns:a16="http://schemas.microsoft.com/office/drawing/2014/main" id="{F1B2B489-DFEC-9747-88AB-4CC0C73DBAB1}"/>
              </a:ext>
            </a:extLst>
          </p:cNvPr>
          <p:cNvSpPr>
            <a:spLocks/>
          </p:cNvSpPr>
          <p:nvPr/>
        </p:nvSpPr>
        <p:spPr bwMode="auto">
          <a:xfrm flipH="1">
            <a:off x="4389438" y="2522538"/>
            <a:ext cx="85725" cy="842962"/>
          </a:xfrm>
          <a:prstGeom prst="rightBracket">
            <a:avLst>
              <a:gd name="adj" fmla="val 81944"/>
            </a:avLst>
          </a:prstGeom>
          <a:noFill/>
          <a:ln w="952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4357" name="Group 30">
            <a:extLst>
              <a:ext uri="{FF2B5EF4-FFF2-40B4-BE49-F238E27FC236}">
                <a16:creationId xmlns:a16="http://schemas.microsoft.com/office/drawing/2014/main" id="{5F4613EE-0B24-ED43-ADB4-774376584651}"/>
              </a:ext>
            </a:extLst>
          </p:cNvPr>
          <p:cNvGrpSpPr>
            <a:grpSpLocks/>
          </p:cNvGrpSpPr>
          <p:nvPr/>
        </p:nvGrpSpPr>
        <p:grpSpPr bwMode="auto">
          <a:xfrm>
            <a:off x="4360863" y="4087813"/>
            <a:ext cx="4602162" cy="1122362"/>
            <a:chOff x="2857" y="2273"/>
            <a:chExt cx="2269" cy="577"/>
          </a:xfrm>
        </p:grpSpPr>
        <p:sp>
          <p:nvSpPr>
            <p:cNvPr id="14359" name="Rectangle 31">
              <a:extLst>
                <a:ext uri="{FF2B5EF4-FFF2-40B4-BE49-F238E27FC236}">
                  <a16:creationId xmlns:a16="http://schemas.microsoft.com/office/drawing/2014/main" id="{8712DCD1-025E-F041-A2DA-639870ADC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" y="2273"/>
              <a:ext cx="22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 marL="342900" indent="-3429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180975" indent="85725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buFontTx/>
                <a:buChar char="•"/>
              </a:pPr>
              <a:r>
                <a:rPr kumimoji="1" lang="zh-CN" altLang="en-US" sz="1400" b="1">
                  <a:ea typeface="宋体" panose="02010600030101010101" pitchFamily="2" charset="-122"/>
                </a:rPr>
                <a:t> </a:t>
              </a:r>
              <a:r>
                <a:rPr kumimoji="1"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每个存储单元由1个电容和1个晶体管组成</a:t>
              </a:r>
            </a:p>
            <a:p>
              <a:pPr lvl="1" eaLnBrk="1" hangingPunct="1">
                <a:buFontTx/>
                <a:buChar char="•"/>
              </a:pPr>
              <a:r>
                <a:rPr kumimoji="1"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每隔一段时间必须刷新一次</a:t>
              </a:r>
            </a:p>
            <a:p>
              <a:pPr lvl="1" eaLnBrk="1" hangingPunct="1">
                <a:buFontTx/>
                <a:buChar char="•"/>
              </a:pPr>
              <a:r>
                <a:rPr kumimoji="1"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对电器干扰比较敏感</a:t>
              </a:r>
            </a:p>
            <a:p>
              <a:pPr lvl="1" eaLnBrk="1" hangingPunct="1">
                <a:buFontTx/>
                <a:buChar char="•"/>
              </a:pPr>
              <a:r>
                <a:rPr kumimoji="1"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比</a:t>
              </a:r>
              <a:r>
                <a:rPr kumimoji="1" lang="en-US" altLang="zh-CN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SRAM</a:t>
              </a:r>
              <a:r>
                <a:rPr kumimoji="1" lang="zh-CN" altLang="en-US" sz="17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慢，但便宜</a:t>
              </a:r>
            </a:p>
          </p:txBody>
        </p:sp>
        <p:sp>
          <p:nvSpPr>
            <p:cNvPr id="14360" name="AutoShape 32">
              <a:extLst>
                <a:ext uri="{FF2B5EF4-FFF2-40B4-BE49-F238E27FC236}">
                  <a16:creationId xmlns:a16="http://schemas.microsoft.com/office/drawing/2014/main" id="{8E780BB0-A286-7243-889B-B103E61E67E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857" y="2364"/>
              <a:ext cx="46" cy="431"/>
            </a:xfrm>
            <a:prstGeom prst="rightBracket">
              <a:avLst>
                <a:gd name="adj" fmla="val 78080"/>
              </a:avLst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4358" name="Text Box 34">
            <a:extLst>
              <a:ext uri="{FF2B5EF4-FFF2-40B4-BE49-F238E27FC236}">
                <a16:creationId xmlns:a16="http://schemas.microsoft.com/office/drawing/2014/main" id="{A6257C91-1F34-9C4D-BF41-4DEB42932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0238" y="6097588"/>
            <a:ext cx="18891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0033CC"/>
                </a:solidFill>
                <a:ea typeface="黑体" panose="02010609060101010101" pitchFamily="49" charset="-122"/>
              </a:rPr>
              <a:t>（用作</a:t>
            </a:r>
            <a:r>
              <a:rPr lang="en-US" altLang="zh-CN" sz="2000" b="1">
                <a:solidFill>
                  <a:srgbClr val="0033CC"/>
                </a:solidFill>
                <a:ea typeface="黑体" panose="02010609060101010101" pitchFamily="49" charset="-122"/>
              </a:rPr>
              <a:t>BIOS</a:t>
            </a:r>
            <a:r>
              <a:rPr lang="zh-CN" altLang="en-US" sz="2000" b="1">
                <a:solidFill>
                  <a:srgbClr val="0033CC"/>
                </a:solidFill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820AEB6-F280-1E4F-8632-5AA19EA2B0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>
                <a:solidFill>
                  <a:srgbClr val="CC0000"/>
                </a:solidFill>
              </a:rPr>
              <a:t>六管静态</a:t>
            </a:r>
            <a:r>
              <a:rPr lang="en-US" altLang="zh-CN">
                <a:solidFill>
                  <a:srgbClr val="CC0000"/>
                </a:solidFill>
              </a:rPr>
              <a:t>MOS</a:t>
            </a:r>
            <a:r>
              <a:rPr lang="zh-CN" altLang="en-US">
                <a:solidFill>
                  <a:srgbClr val="CC0000"/>
                </a:solidFill>
              </a:rPr>
              <a:t>管电路（不作要求）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70EED8F9-CAF7-B444-9563-1E02B03CB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908050"/>
            <a:ext cx="40687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ea typeface="黑体" panose="02010609060101010101" pitchFamily="49" charset="-122"/>
              </a:rPr>
              <a:t>6</a:t>
            </a:r>
            <a:r>
              <a:rPr kumimoji="1" lang="zh-CN" altLang="en-US" sz="2400" b="1">
                <a:solidFill>
                  <a:srgbClr val="0033CC"/>
                </a:solidFill>
                <a:ea typeface="黑体" panose="02010609060101010101" pitchFamily="49" charset="-122"/>
              </a:rPr>
              <a:t>管静态</a:t>
            </a:r>
            <a:r>
              <a:rPr kumimoji="1" lang="en-US" altLang="zh-CN" sz="2400" b="1">
                <a:solidFill>
                  <a:srgbClr val="0033CC"/>
                </a:solidFill>
                <a:ea typeface="黑体" panose="02010609060101010101" pitchFamily="49" charset="-122"/>
              </a:rPr>
              <a:t>NMOS</a:t>
            </a:r>
            <a:r>
              <a:rPr kumimoji="1" lang="zh-CN" altLang="en-US" sz="2400" b="1">
                <a:solidFill>
                  <a:srgbClr val="0033CC"/>
                </a:solidFill>
                <a:ea typeface="黑体" panose="02010609060101010101" pitchFamily="49" charset="-122"/>
              </a:rPr>
              <a:t>记忆单元</a:t>
            </a:r>
          </a:p>
        </p:txBody>
      </p:sp>
      <p:sp>
        <p:nvSpPr>
          <p:cNvPr id="567300" name="Rectangle 4">
            <a:extLst>
              <a:ext uri="{FF2B5EF4-FFF2-40B4-BE49-F238E27FC236}">
                <a16:creationId xmlns:a16="http://schemas.microsoft.com/office/drawing/2014/main" id="{F20252C2-2FAC-494F-93B9-328070B32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050" y="4879975"/>
            <a:ext cx="3311525" cy="192405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008" tIns="43211" rIns="88008" bIns="432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读出时：</a:t>
            </a:r>
          </a:p>
          <a:p>
            <a:pPr>
              <a:lnSpc>
                <a:spcPct val="120000"/>
              </a:lnSpc>
            </a:pPr>
            <a:r>
              <a:rPr lang="zh-TW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个位线为高电平</a:t>
            </a:r>
          </a:p>
          <a:p>
            <a:pPr>
              <a:lnSpc>
                <a:spcPct val="120000"/>
              </a:lnSpc>
            </a:pPr>
            <a:r>
              <a:rPr lang="zh-TW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置字线为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TW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存储单元状态不同，位线的输出不同</a:t>
            </a:r>
          </a:p>
        </p:txBody>
      </p:sp>
      <p:sp>
        <p:nvSpPr>
          <p:cNvPr id="567301" name="Rectangle 5">
            <a:extLst>
              <a:ext uri="{FF2B5EF4-FFF2-40B4-BE49-F238E27FC236}">
                <a16:creationId xmlns:a16="http://schemas.microsoft.com/office/drawing/2014/main" id="{EB544BBD-0DD7-8549-A504-140FA0D03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670175"/>
            <a:ext cx="3240088" cy="2108200"/>
          </a:xfrm>
          <a:prstGeom prst="rect">
            <a:avLst/>
          </a:prstGeom>
          <a:noFill/>
          <a:ln w="1270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008" tIns="43211" rIns="88008" bIns="432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写入时：</a:t>
            </a:r>
            <a:endParaRPr lang="zh-TW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TW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位线上是被写入的二进位信息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置字线为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按位线的状态设置成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B18E6F1B-D5E4-1D4D-AB42-C7C3A6B66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819150"/>
            <a:ext cx="2971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D10F0F"/>
                </a:solidFill>
                <a:ea typeface="黑体" panose="02010609060101010101" pitchFamily="49" charset="-122"/>
              </a:rPr>
              <a:t>信息存储原理： 看作带时钟的</a:t>
            </a:r>
            <a:r>
              <a:rPr kumimoji="1" lang="en-US" altLang="zh-CN" sz="2000" b="1">
                <a:solidFill>
                  <a:srgbClr val="D10F0F"/>
                </a:solidFill>
                <a:ea typeface="黑体" panose="02010609060101010101" pitchFamily="49" charset="-122"/>
              </a:rPr>
              <a:t>RS</a:t>
            </a:r>
            <a:r>
              <a:rPr kumimoji="1" lang="zh-CN" altLang="en-US" sz="2000" b="1">
                <a:solidFill>
                  <a:srgbClr val="D10F0F"/>
                </a:solidFill>
                <a:ea typeface="黑体" panose="02010609060101010101" pitchFamily="49" charset="-122"/>
              </a:rPr>
              <a:t>触发器</a:t>
            </a:r>
          </a:p>
        </p:txBody>
      </p:sp>
      <p:grpSp>
        <p:nvGrpSpPr>
          <p:cNvPr id="16391" name="Group 7">
            <a:extLst>
              <a:ext uri="{FF2B5EF4-FFF2-40B4-BE49-F238E27FC236}">
                <a16:creationId xmlns:a16="http://schemas.microsoft.com/office/drawing/2014/main" id="{31CF93FC-3F11-4640-A581-F564E6760E88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323975"/>
            <a:ext cx="5437188" cy="4068763"/>
            <a:chOff x="635" y="1207"/>
            <a:chExt cx="3425" cy="2563"/>
          </a:xfrm>
        </p:grpSpPr>
        <p:graphicFrame>
          <p:nvGraphicFramePr>
            <p:cNvPr id="16394" name="Object 8">
              <a:extLst>
                <a:ext uri="{FF2B5EF4-FFF2-40B4-BE49-F238E27FC236}">
                  <a16:creationId xmlns:a16="http://schemas.microsoft.com/office/drawing/2014/main" id="{B607CF43-C365-7C43-9B2A-0C4602299E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1315"/>
            <a:ext cx="3038" cy="2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1" name="VISIO" r:id="rId4" imgW="6261100" imgH="2882900" progId="Visio.Drawing.4">
                    <p:embed/>
                  </p:oleObj>
                </mc:Choice>
                <mc:Fallback>
                  <p:oleObj name="VISIO" r:id="rId4" imgW="6261100" imgH="2882900" progId="Visio.Drawing.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47256" b="7672"/>
                        <a:stretch>
                          <a:fillRect/>
                        </a:stretch>
                      </p:blipFill>
                      <p:spPr bwMode="auto">
                        <a:xfrm>
                          <a:off x="839" y="1315"/>
                          <a:ext cx="3038" cy="2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5" name="Text Box 9">
              <a:extLst>
                <a:ext uri="{FF2B5EF4-FFF2-40B4-BE49-F238E27FC236}">
                  <a16:creationId xmlns:a16="http://schemas.microsoft.com/office/drawing/2014/main" id="{FF1FC89F-45C0-EE48-8282-4BCBF7DC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729"/>
              <a:ext cx="454" cy="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ea typeface="宋体" panose="02010600030101010101" pitchFamily="2" charset="-122"/>
                </a:rPr>
                <a:t>存储单元</a:t>
              </a:r>
            </a:p>
          </p:txBody>
        </p:sp>
        <p:sp>
          <p:nvSpPr>
            <p:cNvPr id="16396" name="Text Box 10">
              <a:extLst>
                <a:ext uri="{FF2B5EF4-FFF2-40B4-BE49-F238E27FC236}">
                  <a16:creationId xmlns:a16="http://schemas.microsoft.com/office/drawing/2014/main" id="{5A378754-C369-934C-AD4C-5A18D83CF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" y="1430"/>
              <a:ext cx="614" cy="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ea typeface="宋体" panose="02010600030101010101" pitchFamily="2" charset="-122"/>
                </a:rPr>
                <a:t>字线</a:t>
              </a:r>
            </a:p>
          </p:txBody>
        </p:sp>
        <p:sp>
          <p:nvSpPr>
            <p:cNvPr id="16397" name="Rectangle 11">
              <a:extLst>
                <a:ext uri="{FF2B5EF4-FFF2-40B4-BE49-F238E27FC236}">
                  <a16:creationId xmlns:a16="http://schemas.microsoft.com/office/drawing/2014/main" id="{FD8FE727-0E1A-F64D-9A5C-2E9E42BE2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2319"/>
              <a:ext cx="181" cy="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6398" name="Rectangle 12">
              <a:extLst>
                <a:ext uri="{FF2B5EF4-FFF2-40B4-BE49-F238E27FC236}">
                  <a16:creationId xmlns:a16="http://schemas.microsoft.com/office/drawing/2014/main" id="{99A56575-ED47-E34F-BD0B-8C7F5C6C9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296"/>
              <a:ext cx="181" cy="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6399" name="Line 13">
              <a:extLst>
                <a:ext uri="{FF2B5EF4-FFF2-40B4-BE49-F238E27FC236}">
                  <a16:creationId xmlns:a16="http://schemas.microsoft.com/office/drawing/2014/main" id="{6873370B-7E5A-DA44-9059-2E0F46F50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2273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Text Box 14">
              <a:extLst>
                <a:ext uri="{FF2B5EF4-FFF2-40B4-BE49-F238E27FC236}">
                  <a16:creationId xmlns:a16="http://schemas.microsoft.com/office/drawing/2014/main" id="{0123086E-8B2B-334B-AE88-F2BED52C3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1207"/>
              <a:ext cx="61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ea typeface="宋体" panose="02010600030101010101" pitchFamily="2" charset="-122"/>
                </a:rPr>
                <a:t>位线</a:t>
              </a:r>
              <a:r>
                <a:rPr kumimoji="1" lang="en-US" altLang="zh-CN" sz="1800" b="1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6401" name="Text Box 15">
              <a:extLst>
                <a:ext uri="{FF2B5EF4-FFF2-40B4-BE49-F238E27FC236}">
                  <a16:creationId xmlns:a16="http://schemas.microsoft.com/office/drawing/2014/main" id="{992481EF-7DC2-964A-B1C5-335202709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1253"/>
              <a:ext cx="61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ea typeface="宋体" panose="02010600030101010101" pitchFamily="2" charset="-122"/>
                </a:rPr>
                <a:t>位线</a:t>
              </a:r>
              <a:r>
                <a:rPr kumimoji="1" lang="en-US" altLang="zh-CN" sz="1800" b="1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6402" name="Line 16">
              <a:extLst>
                <a:ext uri="{FF2B5EF4-FFF2-40B4-BE49-F238E27FC236}">
                  <a16:creationId xmlns:a16="http://schemas.microsoft.com/office/drawing/2014/main" id="{92B74445-97FF-6841-8BB8-056632A15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1230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Rectangle 17">
              <a:extLst>
                <a:ext uri="{FF2B5EF4-FFF2-40B4-BE49-F238E27FC236}">
                  <a16:creationId xmlns:a16="http://schemas.microsoft.com/office/drawing/2014/main" id="{40BF7711-8759-2B44-B076-151843A2E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638"/>
              <a:ext cx="1974" cy="1543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392" name="Text Box 18">
            <a:extLst>
              <a:ext uri="{FF2B5EF4-FFF2-40B4-BE49-F238E27FC236}">
                <a16:creationId xmlns:a16="http://schemas.microsoft.com/office/drawing/2014/main" id="{449E3305-E5B9-B149-850A-2E4D31641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5575300"/>
            <a:ext cx="53260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SRAM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中数据保存在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一对正负反馈门电路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中，只要供电，数据就一直保持，不是破环性读出，也无需重写，即无需刷新！</a:t>
            </a:r>
            <a:endParaRPr kumimoji="1" lang="en-US" altLang="zh-CN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D78E618-50B6-6347-8E1D-D615292DC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1719263"/>
            <a:ext cx="3240087" cy="768350"/>
          </a:xfrm>
          <a:prstGeom prst="rect">
            <a:avLst/>
          </a:prstGeom>
          <a:noFill/>
          <a:ln w="127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008" tIns="43211" rIns="88008" bIns="432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保持时：</a:t>
            </a:r>
            <a:endParaRPr lang="zh-TW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TW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TW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字线为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（低电平）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0" grpId="0" animBg="1"/>
      <p:bldP spid="567301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E14C73-EBCD-9941-835B-835F5A251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</p:spPr>
        <p:txBody>
          <a:bodyPr lIns="91440" tIns="45720" rIns="91440" bIns="45720" anchor="ctr"/>
          <a:lstStyle/>
          <a:p>
            <a:pPr algn="l" eaLnBrk="1" hangingPunct="1"/>
            <a:r>
              <a:rPr lang="zh-CN" altLang="en-US"/>
              <a:t>       动态单管记忆单元电路</a:t>
            </a:r>
            <a:r>
              <a:rPr lang="zh-CN" altLang="en-US">
                <a:solidFill>
                  <a:srgbClr val="CC0000"/>
                </a:solidFill>
              </a:rPr>
              <a:t>（不作要求）</a:t>
            </a:r>
          </a:p>
        </p:txBody>
      </p:sp>
      <p:sp>
        <p:nvSpPr>
          <p:cNvPr id="339972" name="Text Box 4">
            <a:extLst>
              <a:ext uri="{FF2B5EF4-FFF2-40B4-BE49-F238E27FC236}">
                <a16:creationId xmlns:a16="http://schemas.microsoft.com/office/drawing/2014/main" id="{AD146EE5-33E8-B941-AB09-E92C2C8DC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823913"/>
            <a:ext cx="5580063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ct val="10000"/>
              </a:spcBef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读写原理：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字线上加高电平，使</a:t>
            </a:r>
            <a:r>
              <a:rPr lang="en-US" altLang="zh-CN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2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管导通。</a:t>
            </a:r>
          </a:p>
          <a:p>
            <a:pPr lvl="1" algn="just">
              <a:lnSpc>
                <a:spcPct val="10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写“0”时，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数据线加低电平，使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200" b="1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上电荷对数据线放电；</a:t>
            </a:r>
          </a:p>
          <a:p>
            <a:pPr lvl="1" algn="just">
              <a:lnSpc>
                <a:spcPct val="10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写“1”时，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数据线加高电平，使数据线对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200" b="1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充电；</a:t>
            </a:r>
          </a:p>
          <a:p>
            <a:pPr lvl="1" algn="just">
              <a:lnSpc>
                <a:spcPct val="10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读出时，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数据线上有一读出电压。它与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200" b="1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上电荷量成正比。</a:t>
            </a:r>
            <a:endParaRPr lang="zh-CN" altLang="en-US" sz="22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436" name="Object 5">
            <a:extLst>
              <a:ext uri="{FF2B5EF4-FFF2-40B4-BE49-F238E27FC236}">
                <a16:creationId xmlns:a16="http://schemas.microsoft.com/office/drawing/2014/main" id="{00706225-66B0-4C47-BDE4-5D4F7CC0A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4000" y="31908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公式" r:id="rId3" imgW="2628900" imgH="4978400" progId="Equation.3">
                  <p:embed/>
                </p:oleObj>
              </mc:Choice>
              <mc:Fallback>
                <p:oleObj name="公式" r:id="rId3" imgW="2628900" imgH="497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319087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7" name="Group 11">
            <a:extLst>
              <a:ext uri="{FF2B5EF4-FFF2-40B4-BE49-F238E27FC236}">
                <a16:creationId xmlns:a16="http://schemas.microsoft.com/office/drawing/2014/main" id="{DDB32DFB-291A-9642-9376-21A6386A94CD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1319213"/>
            <a:ext cx="1035050" cy="731837"/>
            <a:chOff x="3120" y="1056"/>
            <a:chExt cx="672" cy="336"/>
          </a:xfrm>
        </p:grpSpPr>
        <p:sp>
          <p:nvSpPr>
            <p:cNvPr id="18452" name="Line 12">
              <a:extLst>
                <a:ext uri="{FF2B5EF4-FFF2-40B4-BE49-F238E27FC236}">
                  <a16:creationId xmlns:a16="http://schemas.microsoft.com/office/drawing/2014/main" id="{E5F7B92E-60B7-744B-AB23-C5B1ED1C5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3" name="Line 13">
              <a:extLst>
                <a:ext uri="{FF2B5EF4-FFF2-40B4-BE49-F238E27FC236}">
                  <a16:creationId xmlns:a16="http://schemas.microsoft.com/office/drawing/2014/main" id="{722B7152-A911-4A45-BD81-AF39D8304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3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14">
              <a:extLst>
                <a:ext uri="{FF2B5EF4-FFF2-40B4-BE49-F238E27FC236}">
                  <a16:creationId xmlns:a16="http://schemas.microsoft.com/office/drawing/2014/main" id="{FF6E4372-D672-DE48-8334-74A324D0D6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40" y="13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15">
              <a:extLst>
                <a:ext uri="{FF2B5EF4-FFF2-40B4-BE49-F238E27FC236}">
                  <a16:creationId xmlns:a16="http://schemas.microsoft.com/office/drawing/2014/main" id="{0821E3EA-77C2-7C43-99BC-699AFC6911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28" y="13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16">
              <a:extLst>
                <a:ext uri="{FF2B5EF4-FFF2-40B4-BE49-F238E27FC236}">
                  <a16:creationId xmlns:a16="http://schemas.microsoft.com/office/drawing/2014/main" id="{4B6ACC06-C361-5C48-96AA-8FA229228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4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17">
              <a:extLst>
                <a:ext uri="{FF2B5EF4-FFF2-40B4-BE49-F238E27FC236}">
                  <a16:creationId xmlns:a16="http://schemas.microsoft.com/office/drawing/2014/main" id="{3BC6348A-07AA-EA47-9461-C537B5BFD1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84" y="11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8" name="Line 18">
              <a:extLst>
                <a:ext uri="{FF2B5EF4-FFF2-40B4-BE49-F238E27FC236}">
                  <a16:creationId xmlns:a16="http://schemas.microsoft.com/office/drawing/2014/main" id="{33E8DFA1-4BC2-3E41-840B-0C50AE1AE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0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38" name="Line 19">
            <a:extLst>
              <a:ext uri="{FF2B5EF4-FFF2-40B4-BE49-F238E27FC236}">
                <a16:creationId xmlns:a16="http://schemas.microsoft.com/office/drawing/2014/main" id="{C20E2DEF-1ED2-714B-BA68-8E2A9FF95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7925" y="1311275"/>
            <a:ext cx="0" cy="165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Line 20">
            <a:extLst>
              <a:ext uri="{FF2B5EF4-FFF2-40B4-BE49-F238E27FC236}">
                <a16:creationId xmlns:a16="http://schemas.microsoft.com/office/drawing/2014/main" id="{1264B336-6438-D54F-A047-A02E94341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675" y="1319213"/>
            <a:ext cx="231298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Text Box 21">
            <a:extLst>
              <a:ext uri="{FF2B5EF4-FFF2-40B4-BE49-F238E27FC236}">
                <a16:creationId xmlns:a16="http://schemas.microsoft.com/office/drawing/2014/main" id="{0F7BFF0E-7DE7-E043-AAD5-5D657084C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823913"/>
            <a:ext cx="6858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950" tIns="44480" rIns="88950" bIns="4448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D10F0F"/>
                </a:solidFill>
                <a:latin typeface="Comic Sans MS" panose="030F0902030302020204" pitchFamily="66" charset="0"/>
                <a:ea typeface="微软雅黑" panose="020B0503020204020204" pitchFamily="34" charset="-122"/>
              </a:rPr>
              <a:t>字线</a:t>
            </a:r>
          </a:p>
        </p:txBody>
      </p:sp>
      <p:sp>
        <p:nvSpPr>
          <p:cNvPr id="18441" name="Line 22">
            <a:extLst>
              <a:ext uri="{FF2B5EF4-FFF2-40B4-BE49-F238E27FC236}">
                <a16:creationId xmlns:a16="http://schemas.microsoft.com/office/drawing/2014/main" id="{78AB54C8-BCDB-B244-AA61-4D36E34FC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6275" y="900113"/>
            <a:ext cx="0" cy="2443162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Text Box 23">
            <a:extLst>
              <a:ext uri="{FF2B5EF4-FFF2-40B4-BE49-F238E27FC236}">
                <a16:creationId xmlns:a16="http://schemas.microsoft.com/office/drawing/2014/main" id="{540F0324-7E06-CE41-B1BC-666DA1110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775" y="1768475"/>
            <a:ext cx="130492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位线</a:t>
            </a:r>
          </a:p>
          <a:p>
            <a:pPr algn="ctr"/>
            <a:r>
              <a:rPr lang="en-US" altLang="zh-CN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数据线</a:t>
            </a:r>
            <a:r>
              <a:rPr lang="en-US" altLang="zh-CN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8443" name="Line 24">
            <a:extLst>
              <a:ext uri="{FF2B5EF4-FFF2-40B4-BE49-F238E27FC236}">
                <a16:creationId xmlns:a16="http://schemas.microsoft.com/office/drawing/2014/main" id="{1FDD605E-3B6C-0B4F-A863-768B86495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3863" y="1724025"/>
            <a:ext cx="0" cy="6588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4" name="Line 25">
            <a:extLst>
              <a:ext uri="{FF2B5EF4-FFF2-40B4-BE49-F238E27FC236}">
                <a16:creationId xmlns:a16="http://schemas.microsoft.com/office/drawing/2014/main" id="{4773CDCC-073A-524C-BACC-CF031BA3E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6888" y="1724025"/>
            <a:ext cx="0" cy="6588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5" name="Line 26">
            <a:extLst>
              <a:ext uri="{FF2B5EF4-FFF2-40B4-BE49-F238E27FC236}">
                <a16:creationId xmlns:a16="http://schemas.microsoft.com/office/drawing/2014/main" id="{11B47C0E-A0D6-3948-8AF0-A81E1A8C0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6888" y="2051050"/>
            <a:ext cx="220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6" name="Line 27">
            <a:extLst>
              <a:ext uri="{FF2B5EF4-FFF2-40B4-BE49-F238E27FC236}">
                <a16:creationId xmlns:a16="http://schemas.microsoft.com/office/drawing/2014/main" id="{41B78FA8-DAF3-F24D-8DFA-8383170AB6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26438" y="2051050"/>
            <a:ext cx="11112" cy="798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Line 31">
            <a:extLst>
              <a:ext uri="{FF2B5EF4-FFF2-40B4-BE49-F238E27FC236}">
                <a16:creationId xmlns:a16="http://schemas.microsoft.com/office/drawing/2014/main" id="{3D168996-DDB7-3C4D-99E3-E2F4F973B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1500" y="2849563"/>
            <a:ext cx="314325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448" name="Text Box 32">
            <a:extLst>
              <a:ext uri="{FF2B5EF4-FFF2-40B4-BE49-F238E27FC236}">
                <a16:creationId xmlns:a16="http://schemas.microsoft.com/office/drawing/2014/main" id="{F84ECB6D-4815-6846-93EB-FD1C90F62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354263"/>
            <a:ext cx="450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ea typeface="华文新魏" panose="02010800040101010101" pitchFamily="2" charset="-122"/>
              </a:rPr>
              <a:t>Cs</a:t>
            </a:r>
          </a:p>
        </p:txBody>
      </p:sp>
      <p:sp>
        <p:nvSpPr>
          <p:cNvPr id="18449" name="Text Box 33">
            <a:extLst>
              <a:ext uri="{FF2B5EF4-FFF2-40B4-BE49-F238E27FC236}">
                <a16:creationId xmlns:a16="http://schemas.microsoft.com/office/drawing/2014/main" id="{11455FCD-7785-7B46-9A7E-D8A549A93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363663"/>
            <a:ext cx="450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ea typeface="华文新魏" panose="02010800040101010101" pitchFamily="2" charset="-122"/>
              </a:rPr>
              <a:t>T</a:t>
            </a:r>
          </a:p>
        </p:txBody>
      </p:sp>
      <p:sp>
        <p:nvSpPr>
          <p:cNvPr id="749572" name="Text Box 4">
            <a:extLst>
              <a:ext uri="{FF2B5EF4-FFF2-40B4-BE49-F238E27FC236}">
                <a16:creationId xmlns:a16="http://schemas.microsoft.com/office/drawing/2014/main" id="{BE99BB79-D7D9-114A-9D5D-8AD218F59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519488"/>
            <a:ext cx="82359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0000"/>
              </a:lnSpc>
              <a:spcBef>
                <a:spcPct val="10000"/>
              </a:spcBef>
            </a:pPr>
            <a:r>
              <a:rPr lang="zh-CN" altLang="en-US" sz="22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电路元件少，功耗小，集成度高，用于构建主存储器</a:t>
            </a:r>
          </a:p>
          <a:p>
            <a:pPr algn="just">
              <a:spcBef>
                <a:spcPct val="10000"/>
              </a:spcBef>
              <a:buClr>
                <a:srgbClr val="000099"/>
              </a:buClr>
            </a:pPr>
            <a:r>
              <a:rPr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缺点：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速度慢、是破坏性读出（需读后再生）、需定时刷新</a:t>
            </a:r>
          </a:p>
        </p:txBody>
      </p:sp>
      <p:sp>
        <p:nvSpPr>
          <p:cNvPr id="749574" name="Rectangle 6">
            <a:extLst>
              <a:ext uri="{FF2B5EF4-FFF2-40B4-BE49-F238E27FC236}">
                <a16:creationId xmlns:a16="http://schemas.microsoft.com/office/drawing/2014/main" id="{1673024F-5FC0-4446-BCC3-DD34CBAB8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4419600"/>
            <a:ext cx="8235950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刷新：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的一个重要特点是，</a:t>
            </a:r>
            <a:r>
              <a:rPr lang="zh-CN" altLang="en-US" sz="22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数据以电荷的形式保存在电容中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，电容的放电使得电荷通常只能维持几十个毫秒左右，相当于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1M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个时钟周期左右，因此要定期进行刷新（读出后重新写回），</a:t>
            </a:r>
            <a:r>
              <a:rPr lang="zh-CN" altLang="en-US" sz="22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按行进行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（所有芯片中的同一行一起进行），刷新操作所需时间通常只占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1%~2%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左右。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9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9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2" grpId="0"/>
      <p:bldP spid="7495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30494BA7-F449-FF43-9885-A21DF10711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半导体</a:t>
            </a:r>
            <a:r>
              <a:rPr lang="en-US" altLang="zh-CN"/>
              <a:t>RAM</a:t>
            </a:r>
            <a:r>
              <a:rPr lang="zh-CN" altLang="en-US"/>
              <a:t>的组织</a:t>
            </a:r>
          </a:p>
        </p:txBody>
      </p:sp>
      <p:sp>
        <p:nvSpPr>
          <p:cNvPr id="233492" name="Text Box 1044">
            <a:extLst>
              <a:ext uri="{FF2B5EF4-FFF2-40B4-BE49-F238E27FC236}">
                <a16:creationId xmlns:a16="http://schemas.microsoft.com/office/drawing/2014/main" id="{2B3BCEFE-A09D-4B42-96BE-F405A0D4D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303463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3300"/>
                </a:solidFill>
                <a:ea typeface="黑体" panose="02010609060101010101" pitchFamily="49" charset="-122"/>
              </a:rPr>
              <a:t>记忆单元的组织：</a:t>
            </a:r>
          </a:p>
        </p:txBody>
      </p:sp>
      <p:grpSp>
        <p:nvGrpSpPr>
          <p:cNvPr id="2" name="Group 1069">
            <a:extLst>
              <a:ext uri="{FF2B5EF4-FFF2-40B4-BE49-F238E27FC236}">
                <a16:creationId xmlns:a16="http://schemas.microsoft.com/office/drawing/2014/main" id="{E3670BF0-0FBB-244D-BDBB-AB8A1E6BD398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2843213"/>
            <a:ext cx="3429000" cy="3368675"/>
            <a:chOff x="432" y="1824"/>
            <a:chExt cx="2160" cy="2122"/>
          </a:xfrm>
        </p:grpSpPr>
        <p:sp>
          <p:nvSpPr>
            <p:cNvPr id="19482" name="Text Box 1034">
              <a:extLst>
                <a:ext uri="{FF2B5EF4-FFF2-40B4-BE49-F238E27FC236}">
                  <a16:creationId xmlns:a16="http://schemas.microsoft.com/office/drawing/2014/main" id="{64ADC1E1-7F12-8347-969C-8F7795D5C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18"/>
              <a:ext cx="768" cy="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0" tIns="180000" rIns="180000" bIns="1800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  位元</a:t>
              </a:r>
            </a:p>
          </p:txBody>
        </p:sp>
        <p:sp>
          <p:nvSpPr>
            <p:cNvPr id="19483" name="Line 1035">
              <a:extLst>
                <a:ext uri="{FF2B5EF4-FFF2-40B4-BE49-F238E27FC236}">
                  <a16:creationId xmlns:a16="http://schemas.microsoft.com/office/drawing/2014/main" id="{CB6696CB-836F-D64C-965A-977D347A7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7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4" name="Line 1036">
              <a:extLst>
                <a:ext uri="{FF2B5EF4-FFF2-40B4-BE49-F238E27FC236}">
                  <a16:creationId xmlns:a16="http://schemas.microsoft.com/office/drawing/2014/main" id="{8F337C79-E895-6D42-AAB8-C472B94E7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97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5" name="Line 1037">
              <a:extLst>
                <a:ext uri="{FF2B5EF4-FFF2-40B4-BE49-F238E27FC236}">
                  <a16:creationId xmlns:a16="http://schemas.microsoft.com/office/drawing/2014/main" id="{7E17B6FE-B7CC-B043-849B-98F6A5F7A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170"/>
              <a:ext cx="0" cy="1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6" name="Line 1038">
              <a:extLst>
                <a:ext uri="{FF2B5EF4-FFF2-40B4-BE49-F238E27FC236}">
                  <a16:creationId xmlns:a16="http://schemas.microsoft.com/office/drawing/2014/main" id="{B2138CAB-E6F5-C441-8824-612198586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170"/>
              <a:ext cx="0" cy="1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7" name="Line 1039">
              <a:extLst>
                <a:ext uri="{FF2B5EF4-FFF2-40B4-BE49-F238E27FC236}">
                  <a16:creationId xmlns:a16="http://schemas.microsoft.com/office/drawing/2014/main" id="{D6C95A9D-C63B-7042-A45A-9E1E3BF94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5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8" name="Line 1040">
              <a:extLst>
                <a:ext uri="{FF2B5EF4-FFF2-40B4-BE49-F238E27FC236}">
                  <a16:creationId xmlns:a16="http://schemas.microsoft.com/office/drawing/2014/main" id="{B8F618ED-FF47-C243-AA4C-0B7F4DC31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45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9" name="Text Box 1041">
              <a:extLst>
                <a:ext uri="{FF2B5EF4-FFF2-40B4-BE49-F238E27FC236}">
                  <a16:creationId xmlns:a16="http://schemas.microsoft.com/office/drawing/2014/main" id="{77BFC3A5-38B9-0242-AA78-0342A2C4C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6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字线</a:t>
              </a:r>
              <a:r>
                <a:rPr kumimoji="1" lang="en-US" altLang="zh-CN" sz="2000" b="1"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19490" name="Text Box 1042">
              <a:extLst>
                <a:ext uri="{FF2B5EF4-FFF2-40B4-BE49-F238E27FC236}">
                  <a16:creationId xmlns:a16="http://schemas.microsoft.com/office/drawing/2014/main" id="{B21E14C0-990E-4A48-8A82-4D2A7B421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5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位线</a:t>
              </a:r>
              <a:r>
                <a:rPr kumimoji="1" lang="en-US" altLang="zh-CN" sz="2000" b="1">
                  <a:ea typeface="黑体" panose="02010609060101010101" pitchFamily="49" charset="-122"/>
                </a:rPr>
                <a:t>S0</a:t>
              </a:r>
            </a:p>
          </p:txBody>
        </p:sp>
        <p:sp>
          <p:nvSpPr>
            <p:cNvPr id="19491" name="Text Box 1043">
              <a:extLst>
                <a:ext uri="{FF2B5EF4-FFF2-40B4-BE49-F238E27FC236}">
                  <a16:creationId xmlns:a16="http://schemas.microsoft.com/office/drawing/2014/main" id="{2517082D-4C6C-E24B-8CB1-6A1D1C438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697"/>
              <a:ext cx="5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位线</a:t>
              </a:r>
              <a:r>
                <a:rPr kumimoji="1" lang="en-US" altLang="zh-CN" sz="2000" b="1">
                  <a:ea typeface="黑体" panose="02010609060101010101" pitchFamily="49" charset="-122"/>
                </a:rPr>
                <a:t>S1</a:t>
              </a:r>
            </a:p>
          </p:txBody>
        </p:sp>
        <p:sp>
          <p:nvSpPr>
            <p:cNvPr id="19492" name="Text Box 1056">
              <a:extLst>
                <a:ext uri="{FF2B5EF4-FFF2-40B4-BE49-F238E27FC236}">
                  <a16:creationId xmlns:a16="http://schemas.microsoft.com/office/drawing/2014/main" id="{6F867B4B-35D2-7145-AB43-5025D3F39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16"/>
              <a:ext cx="15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kumimoji="1" lang="zh-CN" altLang="en-US" sz="2000" b="1">
                  <a:ea typeface="黑体" panose="02010609060101010101" pitchFamily="49" charset="-122"/>
                </a:rPr>
                <a:t>读写控制</a:t>
              </a:r>
            </a:p>
          </p:txBody>
        </p:sp>
        <p:sp>
          <p:nvSpPr>
            <p:cNvPr id="19493" name="Line 1057">
              <a:extLst>
                <a:ext uri="{FF2B5EF4-FFF2-40B4-BE49-F238E27FC236}">
                  <a16:creationId xmlns:a16="http://schemas.microsoft.com/office/drawing/2014/main" id="{86A601FF-7887-B348-A4C2-570444B77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4" name="Line 1058">
              <a:extLst>
                <a:ext uri="{FF2B5EF4-FFF2-40B4-BE49-F238E27FC236}">
                  <a16:creationId xmlns:a16="http://schemas.microsoft.com/office/drawing/2014/main" id="{FB5E51B2-C2BF-F047-B54D-62418FDA7A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5" name="Text Box 1059">
              <a:extLst>
                <a:ext uri="{FF2B5EF4-FFF2-40B4-BE49-F238E27FC236}">
                  <a16:creationId xmlns:a16="http://schemas.microsoft.com/office/drawing/2014/main" id="{12532F6D-DF88-A049-813C-90CDF57C1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696"/>
              <a:ext cx="10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49" charset="-122"/>
                </a:rPr>
                <a:t>Din </a:t>
              </a: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1" lang="en-US" altLang="zh-CN" sz="2000" b="1">
                  <a:ea typeface="黑体" panose="02010609060101010101" pitchFamily="49" charset="-122"/>
                </a:rPr>
                <a:t>Dout</a:t>
              </a:r>
            </a:p>
          </p:txBody>
        </p:sp>
        <p:sp>
          <p:nvSpPr>
            <p:cNvPr id="19496" name="Line 1060">
              <a:extLst>
                <a:ext uri="{FF2B5EF4-FFF2-40B4-BE49-F238E27FC236}">
                  <a16:creationId xmlns:a16="http://schemas.microsoft.com/office/drawing/2014/main" id="{D349FD5E-E6E8-AE42-B5AD-47BDA9B5B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33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7" name="Text Box 1061">
              <a:extLst>
                <a:ext uri="{FF2B5EF4-FFF2-40B4-BE49-F238E27FC236}">
                  <a16:creationId xmlns:a16="http://schemas.microsoft.com/office/drawing/2014/main" id="{18DFBA37-2953-584B-B42B-CD2B3CF3D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216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49" charset="-122"/>
                </a:rPr>
                <a:t>R/W</a:t>
              </a:r>
            </a:p>
          </p:txBody>
        </p:sp>
      </p:grpSp>
      <p:grpSp>
        <p:nvGrpSpPr>
          <p:cNvPr id="3" name="Group 1070">
            <a:extLst>
              <a:ext uri="{FF2B5EF4-FFF2-40B4-BE49-F238E27FC236}">
                <a16:creationId xmlns:a16="http://schemas.microsoft.com/office/drawing/2014/main" id="{951EF9D6-6227-FC41-A05C-19CFD42BE381}"/>
              </a:ext>
            </a:extLst>
          </p:cNvPr>
          <p:cNvGrpSpPr>
            <a:grpSpLocks/>
          </p:cNvGrpSpPr>
          <p:nvPr/>
        </p:nvGrpSpPr>
        <p:grpSpPr bwMode="auto">
          <a:xfrm>
            <a:off x="4841875" y="2933700"/>
            <a:ext cx="3916363" cy="3216275"/>
            <a:chOff x="2832" y="1872"/>
            <a:chExt cx="2352" cy="2026"/>
          </a:xfrm>
        </p:grpSpPr>
        <p:sp>
          <p:nvSpPr>
            <p:cNvPr id="19469" name="Text Box 1046">
              <a:extLst>
                <a:ext uri="{FF2B5EF4-FFF2-40B4-BE49-F238E27FC236}">
                  <a16:creationId xmlns:a16="http://schemas.microsoft.com/office/drawing/2014/main" id="{AC9C8C87-3E4A-6048-ABF7-FB051B58A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66"/>
              <a:ext cx="768" cy="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0" tIns="180000" rIns="180000" bIns="1800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zh-CN" altLang="en-US" sz="2000" b="1">
                  <a:ea typeface="黑体" panose="02010609060101010101" pitchFamily="49" charset="-122"/>
                </a:rPr>
                <a:t>位元</a:t>
              </a:r>
            </a:p>
          </p:txBody>
        </p:sp>
        <p:sp>
          <p:nvSpPr>
            <p:cNvPr id="19470" name="Line 1047">
              <a:extLst>
                <a:ext uri="{FF2B5EF4-FFF2-40B4-BE49-F238E27FC236}">
                  <a16:creationId xmlns:a16="http://schemas.microsoft.com/office/drawing/2014/main" id="{A265163B-8470-1146-8C09-B721044CE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2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1" name="Line 1048">
              <a:extLst>
                <a:ext uri="{FF2B5EF4-FFF2-40B4-BE49-F238E27FC236}">
                  <a16:creationId xmlns:a16="http://schemas.microsoft.com/office/drawing/2014/main" id="{2F8FBE72-625E-704F-8E3D-529E4A871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2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2" name="Line 1049">
              <a:extLst>
                <a:ext uri="{FF2B5EF4-FFF2-40B4-BE49-F238E27FC236}">
                  <a16:creationId xmlns:a16="http://schemas.microsoft.com/office/drawing/2014/main" id="{B25CC95B-2615-8A4B-B626-8DEA24A8F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18"/>
              <a:ext cx="0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3" name="Line 1051">
              <a:extLst>
                <a:ext uri="{FF2B5EF4-FFF2-40B4-BE49-F238E27FC236}">
                  <a16:creationId xmlns:a16="http://schemas.microsoft.com/office/drawing/2014/main" id="{26BB537C-B2A8-984A-A52B-6AE058805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50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4" name="Text Box 1053">
              <a:extLst>
                <a:ext uri="{FF2B5EF4-FFF2-40B4-BE49-F238E27FC236}">
                  <a16:creationId xmlns:a16="http://schemas.microsoft.com/office/drawing/2014/main" id="{55D394AB-AAC1-5749-ABFC-48E327DB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872"/>
              <a:ext cx="10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选择线(字线)</a:t>
              </a:r>
            </a:p>
          </p:txBody>
        </p:sp>
        <p:sp>
          <p:nvSpPr>
            <p:cNvPr id="19475" name="Text Box 1054">
              <a:extLst>
                <a:ext uri="{FF2B5EF4-FFF2-40B4-BE49-F238E27FC236}">
                  <a16:creationId xmlns:a16="http://schemas.microsoft.com/office/drawing/2014/main" id="{02E4CC01-01C7-7645-88A3-6F934747C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736"/>
              <a:ext cx="5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2000" b="1">
                  <a:ea typeface="黑体" panose="02010609060101010101" pitchFamily="49" charset="-122"/>
                </a:rPr>
                <a:t>数据线(位线</a:t>
              </a:r>
              <a:r>
                <a:rPr kumimoji="1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kumimoji="1" lang="en-US" altLang="zh-CN" sz="1800" b="1" baseline="-18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Text Box 1062">
              <a:extLst>
                <a:ext uri="{FF2B5EF4-FFF2-40B4-BE49-F238E27FC236}">
                  <a16:creationId xmlns:a16="http://schemas.microsoft.com/office/drawing/2014/main" id="{E9398C43-9D7A-6843-8BBA-6D985E07D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216"/>
              <a:ext cx="76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ea typeface="黑体" panose="02010609060101010101" pitchFamily="49" charset="-122"/>
                </a:rPr>
                <a:t>读写控制</a:t>
              </a:r>
            </a:p>
          </p:txBody>
        </p:sp>
        <p:sp>
          <p:nvSpPr>
            <p:cNvPr id="19477" name="Line 1063">
              <a:extLst>
                <a:ext uri="{FF2B5EF4-FFF2-40B4-BE49-F238E27FC236}">
                  <a16:creationId xmlns:a16="http://schemas.microsoft.com/office/drawing/2014/main" id="{0CFEA477-9EBD-9949-BB3A-0D57F7067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472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8" name="Line 1064">
              <a:extLst>
                <a:ext uri="{FF2B5EF4-FFF2-40B4-BE49-F238E27FC236}">
                  <a16:creationId xmlns:a16="http://schemas.microsoft.com/office/drawing/2014/main" id="{13D33C47-C3E3-7940-ABB3-3A79408F1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3464"/>
              <a:ext cx="1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9" name="Text Box 1065">
              <a:extLst>
                <a:ext uri="{FF2B5EF4-FFF2-40B4-BE49-F238E27FC236}">
                  <a16:creationId xmlns:a16="http://schemas.microsoft.com/office/drawing/2014/main" id="{A554D350-9A33-7E4C-AEE5-0E93D29C7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648"/>
              <a:ext cx="10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49" charset="-122"/>
                </a:rPr>
                <a:t>Din  </a:t>
              </a: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kumimoji="1" lang="en-US" altLang="zh-CN" sz="2000" b="1">
                  <a:ea typeface="黑体" panose="02010609060101010101" pitchFamily="49" charset="-122"/>
                </a:rPr>
                <a:t>Dout</a:t>
              </a:r>
            </a:p>
          </p:txBody>
        </p:sp>
        <p:sp>
          <p:nvSpPr>
            <p:cNvPr id="19480" name="Line 1066">
              <a:extLst>
                <a:ext uri="{FF2B5EF4-FFF2-40B4-BE49-F238E27FC236}">
                  <a16:creationId xmlns:a16="http://schemas.microsoft.com/office/drawing/2014/main" id="{6DDB141A-B0DD-844F-9226-1CEA385A0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9" y="3340"/>
              <a:ext cx="1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1" name="Text Box 1067">
              <a:extLst>
                <a:ext uri="{FF2B5EF4-FFF2-40B4-BE49-F238E27FC236}">
                  <a16:creationId xmlns:a16="http://schemas.microsoft.com/office/drawing/2014/main" id="{4D08900A-AAA7-C84B-BB22-EC2388E67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3196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49" charset="-122"/>
                </a:rPr>
                <a:t>R/W</a:t>
              </a:r>
            </a:p>
          </p:txBody>
        </p:sp>
      </p:grpSp>
      <p:sp>
        <p:nvSpPr>
          <p:cNvPr id="233519" name="Text Box 1071">
            <a:extLst>
              <a:ext uri="{FF2B5EF4-FFF2-40B4-BE49-F238E27FC236}">
                <a16:creationId xmlns:a16="http://schemas.microsoft.com/office/drawing/2014/main" id="{17E28FAB-6EB1-B246-B58A-5072AA22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1671638"/>
            <a:ext cx="857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存储体(</a:t>
            </a:r>
            <a:r>
              <a:rPr kumimoji="1" lang="en-US" altLang="zh-CN" sz="24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Memory Bank)： </a:t>
            </a: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由记忆单元(位元)构成的存储阵列</a:t>
            </a:r>
          </a:p>
        </p:txBody>
      </p:sp>
      <p:sp>
        <p:nvSpPr>
          <p:cNvPr id="19463" name="Text Box 1079">
            <a:extLst>
              <a:ext uri="{FF2B5EF4-FFF2-40B4-BE49-F238E27FC236}">
                <a16:creationId xmlns:a16="http://schemas.microsoft.com/office/drawing/2014/main" id="{1C65312A-23A3-804F-8BF4-E10DA3A77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73113"/>
            <a:ext cx="225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3300"/>
                </a:solidFill>
                <a:ea typeface="黑体" panose="02010609060101010101" pitchFamily="49" charset="-122"/>
              </a:rPr>
              <a:t>记忆单元(</a:t>
            </a:r>
            <a:r>
              <a:rPr kumimoji="1" lang="en-US" altLang="zh-CN" sz="2400" b="1">
                <a:solidFill>
                  <a:srgbClr val="663300"/>
                </a:solidFill>
                <a:ea typeface="黑体" panose="02010609060101010101" pitchFamily="49" charset="-122"/>
              </a:rPr>
              <a:t>Cell)</a:t>
            </a:r>
          </a:p>
        </p:txBody>
      </p:sp>
      <p:sp>
        <p:nvSpPr>
          <p:cNvPr id="19464" name="Line 1080">
            <a:extLst>
              <a:ext uri="{FF2B5EF4-FFF2-40B4-BE49-F238E27FC236}">
                <a16:creationId xmlns:a16="http://schemas.microsoft.com/office/drawing/2014/main" id="{525334D9-1AE6-6E4F-B49A-7BA886927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001713"/>
            <a:ext cx="3746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5" name="Text Box 1081">
            <a:extLst>
              <a:ext uri="{FF2B5EF4-FFF2-40B4-BE49-F238E27FC236}">
                <a16:creationId xmlns:a16="http://schemas.microsoft.com/office/drawing/2014/main" id="{4414DFD0-83F4-714B-A75E-5B3D1B5E9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77311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3300"/>
                </a:solidFill>
                <a:ea typeface="黑体" panose="02010609060101010101" pitchFamily="49" charset="-122"/>
              </a:rPr>
              <a:t>存储器芯片(</a:t>
            </a:r>
            <a:r>
              <a:rPr kumimoji="1" lang="en-US" altLang="zh-CN" sz="2400" b="1">
                <a:solidFill>
                  <a:srgbClr val="663300"/>
                </a:solidFill>
                <a:ea typeface="黑体" panose="02010609060101010101" pitchFamily="49" charset="-122"/>
              </a:rPr>
              <a:t>Chip)</a:t>
            </a:r>
          </a:p>
        </p:txBody>
      </p:sp>
      <p:sp>
        <p:nvSpPr>
          <p:cNvPr id="19466" name="Line 1082">
            <a:extLst>
              <a:ext uri="{FF2B5EF4-FFF2-40B4-BE49-F238E27FC236}">
                <a16:creationId xmlns:a16="http://schemas.microsoft.com/office/drawing/2014/main" id="{11C677E1-68B4-F140-AE49-C50874DB1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5413" y="1001713"/>
            <a:ext cx="44608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7" name="Text Box 1083">
            <a:extLst>
              <a:ext uri="{FF2B5EF4-FFF2-40B4-BE49-F238E27FC236}">
                <a16:creationId xmlns:a16="http://schemas.microsoft.com/office/drawing/2014/main" id="{484D1009-8D07-2D44-9CEE-6CC3B337F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773113"/>
            <a:ext cx="3379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3300"/>
                </a:solidFill>
                <a:ea typeface="黑体" panose="02010609060101010101" pitchFamily="49" charset="-122"/>
              </a:rPr>
              <a:t>内存条（存储器模块）</a:t>
            </a:r>
          </a:p>
        </p:txBody>
      </p:sp>
      <p:sp>
        <p:nvSpPr>
          <p:cNvPr id="233532" name="Text Box 1084">
            <a:extLst>
              <a:ext uri="{FF2B5EF4-FFF2-40B4-BE49-F238E27FC236}">
                <a16:creationId xmlns:a16="http://schemas.microsoft.com/office/drawing/2014/main" id="{BD07BC62-4613-7542-B22A-E8F8A5478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850" y="6264275"/>
            <a:ext cx="616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ea typeface="黑体" panose="02010609060101010101" pitchFamily="49" charset="-122"/>
              </a:rPr>
              <a:t>SRAM				       DRAM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92" grpId="0"/>
      <p:bldP spid="233519" grpId="0"/>
      <p:bldP spid="2335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028" descr="存储体阵列图">
            <a:extLst>
              <a:ext uri="{FF2B5EF4-FFF2-40B4-BE49-F238E27FC236}">
                <a16:creationId xmlns:a16="http://schemas.microsoft.com/office/drawing/2014/main" id="{F08961CF-3EB6-9848-9232-9443C5941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887413"/>
            <a:ext cx="7702550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1029">
            <a:extLst>
              <a:ext uri="{FF2B5EF4-FFF2-40B4-BE49-F238E27FC236}">
                <a16:creationId xmlns:a16="http://schemas.microsoft.com/office/drawing/2014/main" id="{2BC01024-CFC7-764F-97DF-666B04566C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latin typeface="方正舒体" pitchFamily="2" charset="-122"/>
              </a:rPr>
              <a:t>字片式存储体阵列组织</a:t>
            </a:r>
            <a:r>
              <a:rPr lang="zh-CN" altLang="en-US">
                <a:solidFill>
                  <a:srgbClr val="CC0000"/>
                </a:solidFill>
              </a:rPr>
              <a:t>（不作要求）</a:t>
            </a:r>
          </a:p>
        </p:txBody>
      </p:sp>
      <p:sp>
        <p:nvSpPr>
          <p:cNvPr id="20484" name="Text Box 1030">
            <a:extLst>
              <a:ext uri="{FF2B5EF4-FFF2-40B4-BE49-F238E27FC236}">
                <a16:creationId xmlns:a16="http://schemas.microsoft.com/office/drawing/2014/main" id="{A7AB7B47-4BA5-4740-B018-A7D61E060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1268413"/>
            <a:ext cx="457200" cy="335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en-US" altLang="zh-CN" sz="2400"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800000"/>
                </a:solidFill>
                <a:ea typeface="华文新魏" panose="02010800040101010101" pitchFamily="2" charset="-122"/>
              </a:rPr>
              <a:t>X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800000"/>
                </a:solidFill>
                <a:ea typeface="华文新魏" panose="02010800040101010101" pitchFamily="2" charset="-122"/>
              </a:rPr>
              <a:t>向译码器</a:t>
            </a:r>
          </a:p>
        </p:txBody>
      </p:sp>
      <p:sp>
        <p:nvSpPr>
          <p:cNvPr id="20485" name="Line 1031">
            <a:extLst>
              <a:ext uri="{FF2B5EF4-FFF2-40B4-BE49-F238E27FC236}">
                <a16:creationId xmlns:a16="http://schemas.microsoft.com/office/drawing/2014/main" id="{E96E92CD-B5BA-FA41-B9F7-2826BCCEF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1550" y="1719263"/>
            <a:ext cx="944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Line 1032">
            <a:extLst>
              <a:ext uri="{FF2B5EF4-FFF2-40B4-BE49-F238E27FC236}">
                <a16:creationId xmlns:a16="http://schemas.microsoft.com/office/drawing/2014/main" id="{7D4EEBCB-3DF3-8246-BA8C-F2AC9DEFB9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4250" y="2573338"/>
            <a:ext cx="931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Line 1033">
            <a:extLst>
              <a:ext uri="{FF2B5EF4-FFF2-40B4-BE49-F238E27FC236}">
                <a16:creationId xmlns:a16="http://schemas.microsoft.com/office/drawing/2014/main" id="{073BC48E-7FA9-A343-85FD-63F7E8E78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5363" y="3924300"/>
            <a:ext cx="920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Text Box 1034">
            <a:extLst>
              <a:ext uri="{FF2B5EF4-FFF2-40B4-BE49-F238E27FC236}">
                <a16:creationId xmlns:a16="http://schemas.microsoft.com/office/drawing/2014/main" id="{041F7F8E-AE3A-B046-95A0-23D20DD2C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830763"/>
            <a:ext cx="1692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000099"/>
                </a:solidFill>
                <a:ea typeface="华文新魏" panose="02010800040101010101" pitchFamily="2" charset="-122"/>
              </a:rPr>
              <a:t>一维地址译码系统</a:t>
            </a:r>
          </a:p>
        </p:txBody>
      </p:sp>
      <p:sp>
        <p:nvSpPr>
          <p:cNvPr id="237579" name="AutoShape 1035">
            <a:extLst>
              <a:ext uri="{FF2B5EF4-FFF2-40B4-BE49-F238E27FC236}">
                <a16:creationId xmlns:a16="http://schemas.microsoft.com/office/drawing/2014/main" id="{C9C553B7-6AA5-AA42-9A3A-B4B0B6883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8175"/>
            <a:ext cx="1682750" cy="488950"/>
          </a:xfrm>
          <a:prstGeom prst="wedgeRoundRectCallout">
            <a:avLst>
              <a:gd name="adj1" fmla="val 62546"/>
              <a:gd name="adj2" fmla="val 62014"/>
              <a:gd name="adj3" fmla="val 16667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zh-CN" altLang="en-US" sz="2000" b="1">
                <a:ea typeface="黑体" panose="02010609060101010101" pitchFamily="49" charset="-122"/>
              </a:rPr>
              <a:t>地址驱动线</a:t>
            </a:r>
          </a:p>
        </p:txBody>
      </p:sp>
      <p:sp>
        <p:nvSpPr>
          <p:cNvPr id="237583" name="Text Box 1039">
            <a:extLst>
              <a:ext uri="{FF2B5EF4-FFF2-40B4-BE49-F238E27FC236}">
                <a16:creationId xmlns:a16="http://schemas.microsoft.com/office/drawing/2014/main" id="{983EFB48-31E7-D84F-AB9A-FF869B61D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6075363"/>
            <a:ext cx="8235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一般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SRAM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为字片式芯片，只在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向上译码，同时读出字线上所有位！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9" grpId="0" animBg="1"/>
      <p:bldP spid="2375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098">
            <a:extLst>
              <a:ext uri="{FF2B5EF4-FFF2-40B4-BE49-F238E27FC236}">
                <a16:creationId xmlns:a16="http://schemas.microsoft.com/office/drawing/2014/main" id="{FAB391BE-0255-6B4E-AF71-BC8522B993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6863" y="98425"/>
            <a:ext cx="8640762" cy="5334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位片式存储体阵列组织</a:t>
            </a:r>
            <a:r>
              <a:rPr lang="zh-CN" altLang="en-US">
                <a:solidFill>
                  <a:srgbClr val="CC0000"/>
                </a:solidFill>
              </a:rPr>
              <a:t>（不作要求）</a:t>
            </a:r>
          </a:p>
        </p:txBody>
      </p:sp>
      <p:pic>
        <p:nvPicPr>
          <p:cNvPr id="22531" name="Picture 4100" descr="二维地址译码系统图">
            <a:extLst>
              <a:ext uri="{FF2B5EF4-FFF2-40B4-BE49-F238E27FC236}">
                <a16:creationId xmlns:a16="http://schemas.microsoft.com/office/drawing/2014/main" id="{225C765A-813C-AF4D-9DCB-F75A69EF1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857250"/>
            <a:ext cx="8785225" cy="500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8601" name="Text Box 4105">
            <a:extLst>
              <a:ext uri="{FF2B5EF4-FFF2-40B4-BE49-F238E27FC236}">
                <a16:creationId xmlns:a16="http://schemas.microsoft.com/office/drawing/2014/main" id="{EE871494-9D12-F24F-9A16-6021D3FEE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56313"/>
            <a:ext cx="6213475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位片式在字方向和位方向扩充，需要有片选信号</a:t>
            </a:r>
          </a:p>
          <a:p>
            <a:pPr eaLnBrk="1" hangingPunct="1">
              <a:spcBef>
                <a:spcPct val="5000"/>
              </a:spcBef>
            </a:pP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芯片都是位片式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>
            <a:extLst>
              <a:ext uri="{FF2B5EF4-FFF2-40B4-BE49-F238E27FC236}">
                <a16:creationId xmlns:a16="http://schemas.microsoft.com/office/drawing/2014/main" id="{5B05A3F5-4D93-D641-9EBF-EAB2A582EB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819150"/>
            <a:ext cx="8640763" cy="191770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 = 4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Mbx4 = 2048x2048x4 = 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x4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(1) 地址线：11根线分时复用，由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RAS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CAS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提供控制时序。</a:t>
            </a:r>
            <a:endParaRPr lang="zh-CN" altLang="en-US" sz="22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(2) 需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个位平面，对相同行、列交叉点的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位一起读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200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内部结构框图</a:t>
            </a:r>
            <a:endParaRPr lang="en-US" altLang="zh-CN" sz="2200">
              <a:solidFill>
                <a:srgbClr val="666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EFF18256-81F4-5D43-B6F2-06A05861E1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举例：典型的16</a:t>
            </a:r>
            <a:r>
              <a:rPr lang="en-US" altLang="zh-CN"/>
              <a:t>M</a:t>
            </a:r>
            <a:r>
              <a:rPr lang="zh-CN" altLang="en-US"/>
              <a:t>位</a:t>
            </a:r>
            <a:r>
              <a:rPr lang="en-US" altLang="zh-CN"/>
              <a:t>DRAM（4M</a:t>
            </a:r>
            <a:r>
              <a:rPr lang="en-US" altLang="zh-CN">
                <a:latin typeface="MS Gothic" panose="020B0609070205080204" pitchFamily="49" charset="-128"/>
                <a:ea typeface="MS Gothic" panose="020B0609070205080204" pitchFamily="49" charset="-128"/>
              </a:rPr>
              <a:t>x</a:t>
            </a:r>
            <a:r>
              <a:rPr lang="en-US" altLang="zh-CN"/>
              <a:t>4）</a:t>
            </a:r>
          </a:p>
        </p:txBody>
      </p: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9885E854-7073-6F45-BCEA-7AD48B9A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3294063"/>
            <a:ext cx="7678738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为什么每出现新一代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芯片，容量至少提高到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倍？</a:t>
            </a:r>
          </a:p>
        </p:txBody>
      </p:sp>
      <p:sp>
        <p:nvSpPr>
          <p:cNvPr id="250886" name="Text Box 6">
            <a:extLst>
              <a:ext uri="{FF2B5EF4-FFF2-40B4-BE49-F238E27FC236}">
                <a16:creationId xmlns:a16="http://schemas.microsoft.com/office/drawing/2014/main" id="{92BE80DA-70A4-D54C-8C3D-4301B7FA8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4427538"/>
            <a:ext cx="85153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行地址和列地址分时复用</a:t>
            </a:r>
            <a:r>
              <a:rPr kumimoji="1" lang="en-US" altLang="zh-CN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kumimoji="1" lang="zh-CN" altLang="en-US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每出现新一代</a:t>
            </a:r>
            <a:r>
              <a:rPr kumimoji="1" lang="en-US" altLang="zh-CN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DRAM</a:t>
            </a:r>
            <a:r>
              <a:rPr kumimoji="1" lang="zh-CN" altLang="en-US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芯片，至少要增加一根地址线。每加一根地址线，则行地址和列地址各增加一位，所以行数和列数各增加一倍。因而容量至少提高到</a:t>
            </a:r>
            <a:r>
              <a:rPr kumimoji="1" lang="en-US" altLang="zh-CN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1" lang="zh-CN" altLang="en-US" sz="24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倍。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3D2FA4F5-6F5C-C14C-ACAE-956DB29C8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400" y="5962650"/>
            <a:ext cx="11509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3" action="ppaction://hlinksldjump"/>
              </a:rPr>
              <a:t>SKIP</a:t>
            </a:r>
            <a:r>
              <a: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rPr>
              <a:t>、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250886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38FC3E5-4BD0-1D48-AEFF-A5353FD36C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举例：典型的16</a:t>
            </a:r>
            <a:r>
              <a:rPr lang="en-US" altLang="zh-CN" sz="3200"/>
              <a:t>M</a:t>
            </a:r>
            <a:r>
              <a:rPr lang="zh-CN" altLang="en-US" sz="3200"/>
              <a:t>位</a:t>
            </a:r>
            <a:r>
              <a:rPr lang="en-US" altLang="zh-CN" sz="3200"/>
              <a:t>DRAM（4M</a:t>
            </a:r>
            <a:r>
              <a:rPr lang="en-US" altLang="zh-CN">
                <a:latin typeface="MS Gothic" panose="020B0609070205080204" pitchFamily="49" charset="-128"/>
                <a:ea typeface="MS Gothic" panose="020B0609070205080204" pitchFamily="49" charset="-128"/>
              </a:rPr>
              <a:t>x</a:t>
            </a:r>
            <a:r>
              <a:rPr lang="en-US" altLang="zh-CN" sz="3200"/>
              <a:t>4）</a:t>
            </a:r>
          </a:p>
        </p:txBody>
      </p:sp>
      <p:pic>
        <p:nvPicPr>
          <p:cNvPr id="25603" name="Picture 4" descr="典型的16兆位DRAM图">
            <a:extLst>
              <a:ext uri="{FF2B5EF4-FFF2-40B4-BE49-F238E27FC236}">
                <a16:creationId xmlns:a16="http://schemas.microsoft.com/office/drawing/2014/main" id="{18A1148F-BEB3-634C-8EE1-8F7FA0FB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882650"/>
            <a:ext cx="8458200" cy="559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5">
            <a:extLst>
              <a:ext uri="{FF2B5EF4-FFF2-40B4-BE49-F238E27FC236}">
                <a16:creationId xmlns:a16="http://schemas.microsoft.com/office/drawing/2014/main" id="{0FC436A1-8809-EB4F-826F-7614AEF597C8}"/>
              </a:ext>
            </a:extLst>
          </p:cNvPr>
          <p:cNvGrpSpPr>
            <a:grpSpLocks/>
          </p:cNvGrpSpPr>
          <p:nvPr/>
        </p:nvGrpSpPr>
        <p:grpSpPr bwMode="auto">
          <a:xfrm>
            <a:off x="5732463" y="1196975"/>
            <a:ext cx="2844800" cy="2208213"/>
            <a:chOff x="3611" y="584"/>
            <a:chExt cx="1912" cy="1561"/>
          </a:xfrm>
        </p:grpSpPr>
        <p:sp>
          <p:nvSpPr>
            <p:cNvPr id="25613" name="Rectangle 6">
              <a:extLst>
                <a:ext uri="{FF2B5EF4-FFF2-40B4-BE49-F238E27FC236}">
                  <a16:creationId xmlns:a16="http://schemas.microsoft.com/office/drawing/2014/main" id="{D09BAB33-1EF3-4A49-B15E-AED418797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" y="1186"/>
              <a:ext cx="737" cy="618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14" name="Line 7">
              <a:extLst>
                <a:ext uri="{FF2B5EF4-FFF2-40B4-BE49-F238E27FC236}">
                  <a16:creationId xmlns:a16="http://schemas.microsoft.com/office/drawing/2014/main" id="{17DB8F63-1C2B-F643-8953-B354BEC99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" y="1262"/>
              <a:ext cx="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5" name="Line 8">
              <a:extLst>
                <a:ext uri="{FF2B5EF4-FFF2-40B4-BE49-F238E27FC236}">
                  <a16:creationId xmlns:a16="http://schemas.microsoft.com/office/drawing/2014/main" id="{80D15862-DBAF-2647-A640-CEAB0A074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358"/>
              <a:ext cx="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6" name="Line 9">
              <a:extLst>
                <a:ext uri="{FF2B5EF4-FFF2-40B4-BE49-F238E27FC236}">
                  <a16:creationId xmlns:a16="http://schemas.microsoft.com/office/drawing/2014/main" id="{6C0B1452-13BF-5B48-8DA9-1F8E84D08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" y="1454"/>
              <a:ext cx="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7" name="Line 10">
              <a:extLst>
                <a:ext uri="{FF2B5EF4-FFF2-40B4-BE49-F238E27FC236}">
                  <a16:creationId xmlns:a16="http://schemas.microsoft.com/office/drawing/2014/main" id="{FBE8D21B-467F-DF4A-8F75-A56846405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" y="1543"/>
              <a:ext cx="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8" name="Line 12">
              <a:extLst>
                <a:ext uri="{FF2B5EF4-FFF2-40B4-BE49-F238E27FC236}">
                  <a16:creationId xmlns:a16="http://schemas.microsoft.com/office/drawing/2014/main" id="{1CCAE504-ECC1-FE4D-9C5E-74DF9EBC2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8" y="1185"/>
              <a:ext cx="0" cy="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9" name="Line 13">
              <a:extLst>
                <a:ext uri="{FF2B5EF4-FFF2-40B4-BE49-F238E27FC236}">
                  <a16:creationId xmlns:a16="http://schemas.microsoft.com/office/drawing/2014/main" id="{4FA9120F-6BAE-DE43-9E30-55CBA6AB0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" y="1185"/>
              <a:ext cx="0" cy="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0" name="Line 14">
              <a:extLst>
                <a:ext uri="{FF2B5EF4-FFF2-40B4-BE49-F238E27FC236}">
                  <a16:creationId xmlns:a16="http://schemas.microsoft.com/office/drawing/2014/main" id="{BFB979DE-AB42-A348-9399-08893A7A7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2" y="1188"/>
              <a:ext cx="0" cy="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1" name="Line 16">
              <a:extLst>
                <a:ext uri="{FF2B5EF4-FFF2-40B4-BE49-F238E27FC236}">
                  <a16:creationId xmlns:a16="http://schemas.microsoft.com/office/drawing/2014/main" id="{2DC1F9D8-840F-2548-BD7F-5A3DEE2AA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958"/>
              <a:ext cx="0" cy="23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2" name="Line 17">
              <a:extLst>
                <a:ext uri="{FF2B5EF4-FFF2-40B4-BE49-F238E27FC236}">
                  <a16:creationId xmlns:a16="http://schemas.microsoft.com/office/drawing/2014/main" id="{89AC2F16-3CA8-094B-9373-4BA601A23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966"/>
              <a:ext cx="75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3" name="Line 18">
              <a:extLst>
                <a:ext uri="{FF2B5EF4-FFF2-40B4-BE49-F238E27FC236}">
                  <a16:creationId xmlns:a16="http://schemas.microsoft.com/office/drawing/2014/main" id="{427B1B87-79DF-4745-890C-C57F0BA3D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9" y="965"/>
              <a:ext cx="0" cy="63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4" name="Line 19">
              <a:extLst>
                <a:ext uri="{FF2B5EF4-FFF2-40B4-BE49-F238E27FC236}">
                  <a16:creationId xmlns:a16="http://schemas.microsoft.com/office/drawing/2014/main" id="{A91EB389-46D0-E24B-824B-75CAFD482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1591"/>
              <a:ext cx="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5" name="Line 20">
              <a:extLst>
                <a:ext uri="{FF2B5EF4-FFF2-40B4-BE49-F238E27FC236}">
                  <a16:creationId xmlns:a16="http://schemas.microsoft.com/office/drawing/2014/main" id="{278C8A1D-4192-9F45-8499-01160D9AD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" y="1036"/>
              <a:ext cx="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6" name="Line 21">
              <a:extLst>
                <a:ext uri="{FF2B5EF4-FFF2-40B4-BE49-F238E27FC236}">
                  <a16:creationId xmlns:a16="http://schemas.microsoft.com/office/drawing/2014/main" id="{03EF2C57-61D3-8644-831A-0263C0A0B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966"/>
              <a:ext cx="0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7" name="Oval 24">
              <a:extLst>
                <a:ext uri="{FF2B5EF4-FFF2-40B4-BE49-F238E27FC236}">
                  <a16:creationId xmlns:a16="http://schemas.microsoft.com/office/drawing/2014/main" id="{A34AA8CC-9A99-9B4E-9A4B-694B7672F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23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28" name="Oval 25">
              <a:extLst>
                <a:ext uri="{FF2B5EF4-FFF2-40B4-BE49-F238E27FC236}">
                  <a16:creationId xmlns:a16="http://schemas.microsoft.com/office/drawing/2014/main" id="{D53ED2B8-89E5-4149-8EF8-9739AE460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1005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29" name="Line 26">
              <a:extLst>
                <a:ext uri="{FF2B5EF4-FFF2-40B4-BE49-F238E27FC236}">
                  <a16:creationId xmlns:a16="http://schemas.microsoft.com/office/drawing/2014/main" id="{3BF194C7-EB90-1D44-BC2A-6EC559C47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762"/>
              <a:ext cx="0" cy="20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0" name="Line 27">
              <a:extLst>
                <a:ext uri="{FF2B5EF4-FFF2-40B4-BE49-F238E27FC236}">
                  <a16:creationId xmlns:a16="http://schemas.microsoft.com/office/drawing/2014/main" id="{23FCF4B9-0C71-7C40-B033-52C307378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754"/>
              <a:ext cx="77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1" name="Line 28">
              <a:extLst>
                <a:ext uri="{FF2B5EF4-FFF2-40B4-BE49-F238E27FC236}">
                  <a16:creationId xmlns:a16="http://schemas.microsoft.com/office/drawing/2014/main" id="{F1208A98-4724-4A4B-BDC8-D6B7C9982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754"/>
              <a:ext cx="0" cy="61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2" name="Line 29">
              <a:extLst>
                <a:ext uri="{FF2B5EF4-FFF2-40B4-BE49-F238E27FC236}">
                  <a16:creationId xmlns:a16="http://schemas.microsoft.com/office/drawing/2014/main" id="{561DB044-9D2F-ED4A-87F9-D724F59FE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9" y="1368"/>
              <a:ext cx="16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3" name="Oval 30">
              <a:extLst>
                <a:ext uri="{FF2B5EF4-FFF2-40B4-BE49-F238E27FC236}">
                  <a16:creationId xmlns:a16="http://schemas.microsoft.com/office/drawing/2014/main" id="{689DB102-0A87-F04F-B97A-BA6A0A59B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79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34" name="AutoShape 33">
              <a:extLst>
                <a:ext uri="{FF2B5EF4-FFF2-40B4-BE49-F238E27FC236}">
                  <a16:creationId xmlns:a16="http://schemas.microsoft.com/office/drawing/2014/main" id="{09C7EE49-E365-5F47-B222-527AF6ACFB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407925">
              <a:off x="3611" y="1764"/>
              <a:ext cx="398" cy="381"/>
            </a:xfrm>
            <a:prstGeom prst="leftArrow">
              <a:avLst>
                <a:gd name="adj1" fmla="val 39481"/>
                <a:gd name="adj2" fmla="val 48178"/>
              </a:avLst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35" name="Line 34">
              <a:extLst>
                <a:ext uri="{FF2B5EF4-FFF2-40B4-BE49-F238E27FC236}">
                  <a16:creationId xmlns:a16="http://schemas.microsoft.com/office/drawing/2014/main" id="{D1EACAD0-BB36-EA4C-86E5-A0F1E45E4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593"/>
              <a:ext cx="0" cy="16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6" name="Line 35">
              <a:extLst>
                <a:ext uri="{FF2B5EF4-FFF2-40B4-BE49-F238E27FC236}">
                  <a16:creationId xmlns:a16="http://schemas.microsoft.com/office/drawing/2014/main" id="{D4A8094F-DA36-C649-B7B4-ED1C87C8D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584"/>
              <a:ext cx="75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7" name="Line 36">
              <a:extLst>
                <a:ext uri="{FF2B5EF4-FFF2-40B4-BE49-F238E27FC236}">
                  <a16:creationId xmlns:a16="http://schemas.microsoft.com/office/drawing/2014/main" id="{BC713754-623D-FC4A-A548-6564E84B6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4" y="584"/>
              <a:ext cx="0" cy="61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8" name="Line 37">
              <a:extLst>
                <a:ext uri="{FF2B5EF4-FFF2-40B4-BE49-F238E27FC236}">
                  <a16:creationId xmlns:a16="http://schemas.microsoft.com/office/drawing/2014/main" id="{EBB2E7CA-CD2C-0142-8051-B6F36622F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1184"/>
              <a:ext cx="18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9" name="Oval 38">
              <a:extLst>
                <a:ext uri="{FF2B5EF4-FFF2-40B4-BE49-F238E27FC236}">
                  <a16:creationId xmlns:a16="http://schemas.microsoft.com/office/drawing/2014/main" id="{A6BB5A2D-9B1E-7B40-B856-7239390FD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3" y="61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25640" name="Text Box 39">
              <a:extLst>
                <a:ext uri="{FF2B5EF4-FFF2-40B4-BE49-F238E27FC236}">
                  <a16:creationId xmlns:a16="http://schemas.microsoft.com/office/drawing/2014/main" id="{D685FE6E-982F-734D-B2A2-1F56D6E1B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" y="1846"/>
              <a:ext cx="951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b="1">
                  <a:solidFill>
                    <a:srgbClr val="CC00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四个位平面</a:t>
              </a:r>
            </a:p>
          </p:txBody>
        </p:sp>
      </p:grpSp>
      <p:sp>
        <p:nvSpPr>
          <p:cNvPr id="54312" name="Rectangle 40">
            <a:extLst>
              <a:ext uri="{FF2B5EF4-FFF2-40B4-BE49-F238E27FC236}">
                <a16:creationId xmlns:a16="http://schemas.microsoft.com/office/drawing/2014/main" id="{F1F9BA63-F2EF-5B43-9771-3F34FAA1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117600"/>
            <a:ext cx="20447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各片同时按“行”进行刷新！</a:t>
            </a:r>
          </a:p>
        </p:txBody>
      </p:sp>
      <p:sp>
        <p:nvSpPr>
          <p:cNvPr id="54313" name="Line 41">
            <a:extLst>
              <a:ext uri="{FF2B5EF4-FFF2-40B4-BE49-F238E27FC236}">
                <a16:creationId xmlns:a16="http://schemas.microsoft.com/office/drawing/2014/main" id="{A387A461-2A7D-8148-91EC-8D5AE1030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808163"/>
            <a:ext cx="225425" cy="5000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314" name="Rectangle 42">
            <a:extLst>
              <a:ext uri="{FF2B5EF4-FFF2-40B4-BE49-F238E27FC236}">
                <a16:creationId xmlns:a16="http://schemas.microsoft.com/office/drawing/2014/main" id="{10DAE486-61E5-6745-90B9-425D6A94E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438400"/>
            <a:ext cx="1125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二选一</a:t>
            </a:r>
          </a:p>
        </p:txBody>
      </p:sp>
      <p:sp>
        <p:nvSpPr>
          <p:cNvPr id="54315" name="Line 43">
            <a:extLst>
              <a:ext uri="{FF2B5EF4-FFF2-40B4-BE49-F238E27FC236}">
                <a16:creationId xmlns:a16="http://schemas.microsoft.com/office/drawing/2014/main" id="{1B4D9BE8-D64D-9245-9933-201BE93F23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881313"/>
            <a:ext cx="269875" cy="323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316" name="Text Box 44">
            <a:extLst>
              <a:ext uri="{FF2B5EF4-FFF2-40B4-BE49-F238E27FC236}">
                <a16:creationId xmlns:a16="http://schemas.microsoft.com/office/drawing/2014/main" id="{3037D90A-CB09-AF41-9B3F-3882110BB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63" y="5903913"/>
            <a:ext cx="11509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" action="ppaction://hlinkshowjump?jump=previousslide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54318" name="Text Box 46">
            <a:extLst>
              <a:ext uri="{FF2B5EF4-FFF2-40B4-BE49-F238E27FC236}">
                <a16:creationId xmlns:a16="http://schemas.microsoft.com/office/drawing/2014/main" id="{22EDD372-8FCF-4549-B8A2-9CF5798B0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484438"/>
            <a:ext cx="6477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刷新计数器的位数是几位？</a:t>
            </a:r>
          </a:p>
        </p:txBody>
      </p:sp>
      <p:sp>
        <p:nvSpPr>
          <p:cNvPr id="39" name="Text Box 46">
            <a:extLst>
              <a:ext uri="{FF2B5EF4-FFF2-40B4-BE49-F238E27FC236}">
                <a16:creationId xmlns:a16="http://schemas.microsoft.com/office/drawing/2014/main" id="{403AFA4E-59C5-D442-9C22-2E37EEDBD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4006850"/>
            <a:ext cx="128905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为何刷新计数值不送列译码器？</a:t>
            </a:r>
          </a:p>
        </p:txBody>
      </p:sp>
      <p:pic>
        <p:nvPicPr>
          <p:cNvPr id="775208" name="Picture 40">
            <a:extLst>
              <a:ext uri="{FF2B5EF4-FFF2-40B4-BE49-F238E27FC236}">
                <a16:creationId xmlns:a16="http://schemas.microsoft.com/office/drawing/2014/main" id="{217C3738-C388-7E49-989C-BC980F729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325" y="1628775"/>
            <a:ext cx="3330575" cy="4905375"/>
          </a:xfrm>
          <a:prstGeom prst="rect">
            <a:avLst/>
          </a:prstGeom>
          <a:noFill/>
          <a:ln w="12700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7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12" grpId="0"/>
      <p:bldP spid="54314" grpId="0"/>
      <p:bldP spid="54316" grpId="0"/>
      <p:bldP spid="54318" grpId="0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499BC1A-6DF7-D345-92DC-3F73A99D7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DRAM</a:t>
            </a:r>
            <a:r>
              <a:rPr lang="zh-CN" altLang="en-US" sz="2800"/>
              <a:t>芯片的刷新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B49E9DE-7F86-874E-A3BC-856EDCBD0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613" y="954088"/>
            <a:ext cx="8953500" cy="5378450"/>
          </a:xfrm>
        </p:spPr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刷新周期：从上次对整个存储器刷新结束到下次对整个存储器全部</a:t>
            </a:r>
          </a:p>
          <a:p>
            <a:pPr eaLnBrk="1" hangingPunct="1"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刷新一遍为止的时间间隔，也就是相邻两次对某个特定行进行刷新</a:t>
            </a:r>
          </a:p>
          <a:p>
            <a:pPr eaLnBrk="1" hangingPunct="1"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的时间间隔。</a:t>
            </a:r>
          </a:p>
          <a:p>
            <a:pPr eaLnBrk="1" hangingPunct="1"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为电容数据有效保存期的上限</a:t>
            </a:r>
            <a:r>
              <a:rPr lang="en-US" altLang="zh-CN" sz="2200">
                <a:ea typeface="黑体" panose="02010609060101010101" pitchFamily="49" charset="-122"/>
              </a:rPr>
              <a:t>10ms</a:t>
            </a:r>
            <a:r>
              <a:rPr lang="zh-CN" altLang="en-US">
                <a:ea typeface="宋体" panose="02010600030101010101" pitchFamily="2" charset="-122"/>
              </a:rPr>
              <a:t>～</a:t>
            </a:r>
            <a:r>
              <a:rPr lang="en-US" altLang="zh-CN">
                <a:ea typeface="宋体" panose="02010600030101010101" pitchFamily="2" charset="-122"/>
              </a:rPr>
              <a:t>100ms</a:t>
            </a:r>
            <a:r>
              <a:rPr lang="zh-CN" altLang="en-US" sz="2200">
                <a:ea typeface="黑体" panose="02010609060101010101" pitchFamily="49" charset="-122"/>
              </a:rPr>
              <a:t>，目前公认是</a:t>
            </a:r>
            <a:r>
              <a:rPr lang="en-US" altLang="zh-CN" sz="2200">
                <a:ea typeface="黑体" panose="02010609060101010101" pitchFamily="49" charset="-122"/>
              </a:rPr>
              <a:t>64ms</a:t>
            </a:r>
            <a:r>
              <a:rPr lang="zh-CN" altLang="en-US" sz="2200">
                <a:ea typeface="黑体" panose="02010609060101010101" pitchFamily="49" charset="-122"/>
              </a:rPr>
              <a:t>。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多采用异步刷新方式：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将一个刷新周期分配给所有行，使得在一个刷新周期内每行至少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刷新一次，且仅刷新一次。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</a:t>
            </a: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例如</a:t>
            </a:r>
            <a:r>
              <a:rPr lang="en-US" altLang="zh-CN" sz="2200">
                <a:solidFill>
                  <a:srgbClr val="009242"/>
                </a:solidFill>
                <a:ea typeface="黑体" panose="02010609060101010101" pitchFamily="49" charset="-122"/>
              </a:rPr>
              <a:t>: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    以</a:t>
            </a:r>
            <a:r>
              <a:rPr lang="en-US" altLang="zh-CN" sz="2200">
                <a:solidFill>
                  <a:srgbClr val="009242"/>
                </a:solidFill>
                <a:ea typeface="黑体" panose="02010609060101010101" pitchFamily="49" charset="-122"/>
              </a:rPr>
              <a:t>4096</a:t>
            </a: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行为例，在</a:t>
            </a:r>
            <a:r>
              <a:rPr lang="en-US" altLang="zh-CN" sz="2200">
                <a:solidFill>
                  <a:srgbClr val="009242"/>
                </a:solidFill>
                <a:ea typeface="黑体" panose="02010609060101010101" pitchFamily="49" charset="-122"/>
              </a:rPr>
              <a:t>64ms</a:t>
            </a: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时间内必须轮流对每一行刷新一次，即</a:t>
            </a:r>
          </a:p>
          <a:p>
            <a:pPr lvl="1" eaLnBrk="1" hangingPunct="1">
              <a:spcBef>
                <a:spcPct val="55000"/>
              </a:spcBef>
              <a:buFontTx/>
              <a:buNone/>
            </a:pP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    每隔</a:t>
            </a:r>
            <a:r>
              <a:rPr lang="en-US" altLang="zh-CN" sz="2200">
                <a:solidFill>
                  <a:srgbClr val="009242"/>
                </a:solidFill>
                <a:ea typeface="黑体" panose="02010609060101010101" pitchFamily="49" charset="-122"/>
              </a:rPr>
              <a:t>64ms/4096=15.625μs</a:t>
            </a:r>
            <a:r>
              <a:rPr lang="zh-CN" altLang="en-US" sz="2200">
                <a:solidFill>
                  <a:srgbClr val="009242"/>
                </a:solidFill>
                <a:ea typeface="黑体" panose="02010609060101010101" pitchFamily="49" charset="-122"/>
              </a:rPr>
              <a:t>刷新一行。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D93B7B4-8F33-F543-95AD-4C61D218B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CPU</a:t>
            </a:r>
            <a:r>
              <a:rPr lang="zh-CN" altLang="en-US" sz="2800"/>
              <a:t>与存储器之间的通信方式</a:t>
            </a:r>
          </a:p>
        </p:txBody>
      </p:sp>
      <p:sp>
        <p:nvSpPr>
          <p:cNvPr id="714755" name="Rectangle 3">
            <a:extLst>
              <a:ext uri="{FF2B5EF4-FFF2-40B4-BE49-F238E27FC236}">
                <a16:creationId xmlns:a16="http://schemas.microsoft.com/office/drawing/2014/main" id="{39B49D18-3103-8C42-802A-697784257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8" y="773113"/>
            <a:ext cx="9001125" cy="57689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和主存之间有同步和异步两种通信方式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异步方式（读操作）过程（需握手信号）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送地址到地址线，主存进行地址译码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发读命令，然后等待存储器发回“完成”信号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主存收到读命令后开始读数，完成后发“完成”信号给</a:t>
            </a:r>
            <a:r>
              <a:rPr lang="en-US" altLang="zh-CN" sz="2200">
                <a:ea typeface="黑体" panose="02010609060101010101" pitchFamily="49" charset="-122"/>
              </a:rPr>
              <a:t>CPU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接收到“完成”信号，从数据线取数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</a:rPr>
              <a:t>写操作过程类似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同步方式的特点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和主存由统一时钟信号控制，无需应答信号（如“完成”）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主存总是在确定的时间内准备好数据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ea typeface="黑体" panose="02010609060101010101" pitchFamily="49" charset="-122"/>
              </a:rPr>
              <a:t>CPU</a:t>
            </a:r>
            <a:r>
              <a:rPr lang="zh-CN" altLang="en-US" sz="2200">
                <a:ea typeface="黑体" panose="02010609060101010101" pitchFamily="49" charset="-122"/>
              </a:rPr>
              <a:t>送出地址和读命令后，总是在确定的时间取数据 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存储器芯片必须支持同步方式</a:t>
            </a:r>
            <a:r>
              <a:rPr lang="en-US" altLang="zh-CN" sz="700">
                <a:ea typeface="宋体" panose="02010600030101010101" pitchFamily="2" charset="-122"/>
              </a:rPr>
              <a:t>   </a:t>
            </a:r>
            <a:endParaRPr lang="zh-CN" altLang="en-US" sz="7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4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DBEED59-6BA9-8040-85BA-52911C10A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150813"/>
            <a:ext cx="8640762" cy="533400"/>
          </a:xfrm>
        </p:spPr>
        <p:txBody>
          <a:bodyPr/>
          <a:lstStyle/>
          <a:p>
            <a:pPr eaLnBrk="1" hangingPunct="1"/>
            <a:r>
              <a:rPr lang="en-US" altLang="zh-CN" sz="2800"/>
              <a:t>SDRAM</a:t>
            </a:r>
            <a:r>
              <a:rPr lang="zh-CN" altLang="en-US" sz="2800"/>
              <a:t>芯片技术</a:t>
            </a:r>
          </a:p>
        </p:txBody>
      </p:sp>
      <p:sp>
        <p:nvSpPr>
          <p:cNvPr id="742420" name="Rectangle 20">
            <a:extLst>
              <a:ext uri="{FF2B5EF4-FFF2-40B4-BE49-F238E27FC236}">
                <a16:creationId xmlns:a16="http://schemas.microsoft.com/office/drawing/2014/main" id="{C367CEE8-5C55-6246-BCAE-EC04AA66F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990600"/>
            <a:ext cx="8650288" cy="4248150"/>
          </a:xfrm>
          <a:noFill/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sz="2400">
                <a:ea typeface="黑体" panose="02010609060101010101" pitchFamily="49" charset="-122"/>
              </a:rPr>
              <a:t>SDRAM</a:t>
            </a:r>
            <a:r>
              <a:rPr lang="zh-CN" altLang="en-US" sz="2400">
                <a:ea typeface="黑体" panose="02010609060101010101" pitchFamily="49" charset="-122"/>
              </a:rPr>
              <a:t>是同步存储芯片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>
                <a:ea typeface="黑体" panose="02010609060101010101" pitchFamily="49" charset="-122"/>
              </a:rPr>
              <a:t>每步操作都在系统时钟控制下进行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>
                <a:ea typeface="黑体" panose="02010609060101010101" pitchFamily="49" charset="-122"/>
              </a:rPr>
              <a:t>有确定的等待时间（读命令开始到数据线有效的时间</a:t>
            </a:r>
            <a:r>
              <a:rPr lang="en-US" altLang="zh-CN" sz="2400">
                <a:ea typeface="黑体" panose="02010609060101010101" pitchFamily="49" charset="-122"/>
              </a:rPr>
              <a:t>, </a:t>
            </a:r>
            <a:r>
              <a:rPr lang="zh-CN" altLang="en-US" sz="2400">
                <a:ea typeface="黑体" panose="02010609060101010101" pitchFamily="49" charset="-122"/>
              </a:rPr>
              <a:t>称为</a:t>
            </a:r>
            <a:r>
              <a:rPr lang="en-US" altLang="zh-CN" sz="2400">
                <a:ea typeface="黑体" panose="02010609060101010101" pitchFamily="49" charset="-122"/>
              </a:rPr>
              <a:t>CAS</a:t>
            </a:r>
            <a:r>
              <a:rPr lang="zh-CN" altLang="en-US" sz="2400">
                <a:ea typeface="黑体" panose="02010609060101010101" pitchFamily="49" charset="-122"/>
              </a:rPr>
              <a:t>潜伏期）</a:t>
            </a:r>
            <a:r>
              <a:rPr lang="en-US" altLang="zh-CN" sz="2400">
                <a:ea typeface="黑体" panose="02010609060101010101" pitchFamily="49" charset="-122"/>
              </a:rPr>
              <a:t>CL</a:t>
            </a:r>
            <a:r>
              <a:rPr lang="zh-CN" altLang="en-US" sz="2400">
                <a:ea typeface="黑体" panose="02010609060101010101" pitchFamily="49" charset="-122"/>
              </a:rPr>
              <a:t>，例如 </a:t>
            </a:r>
            <a:r>
              <a:rPr lang="en-US" altLang="zh-CN" sz="2400">
                <a:ea typeface="黑体" panose="02010609060101010101" pitchFamily="49" charset="-122"/>
              </a:rPr>
              <a:t>CL=2 clks</a:t>
            </a:r>
            <a:endParaRPr lang="zh-CN" altLang="en-US" sz="2400">
              <a:ea typeface="黑体" panose="02010609060101010101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>
                <a:ea typeface="黑体" panose="02010609060101010101" pitchFamily="49" charset="-122"/>
              </a:rPr>
              <a:t>连续传送（</a:t>
            </a:r>
            <a:r>
              <a:rPr lang="en-US" altLang="zh-CN" sz="2400">
                <a:ea typeface="黑体" panose="02010609060101010101" pitchFamily="49" charset="-122"/>
              </a:rPr>
              <a:t>Burst</a:t>
            </a:r>
            <a:r>
              <a:rPr lang="zh-CN" altLang="en-US" sz="2400">
                <a:ea typeface="黑体" panose="02010609060101010101" pitchFamily="49" charset="-122"/>
              </a:rPr>
              <a:t>）数据个数 </a:t>
            </a:r>
            <a:r>
              <a:rPr lang="en-US" altLang="zh-CN" sz="2400">
                <a:ea typeface="黑体" panose="02010609060101010101" pitchFamily="49" charset="-122"/>
              </a:rPr>
              <a:t>BL=1 / 2 / 4 / 8</a:t>
            </a:r>
            <a:endParaRPr lang="zh-CN" altLang="en-US" sz="2400">
              <a:ea typeface="黑体" panose="02010609060101010101" pitchFamily="49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>
                <a:ea typeface="黑体" panose="02010609060101010101" pitchFamily="49" charset="-122"/>
              </a:rPr>
              <a:t>多体</a:t>
            </a:r>
            <a:r>
              <a:rPr lang="en-US" altLang="zh-CN" sz="2400">
                <a:ea typeface="黑体" panose="02010609060101010101" pitchFamily="49" charset="-122"/>
              </a:rPr>
              <a:t>(</a:t>
            </a:r>
            <a:r>
              <a:rPr lang="zh-CN" altLang="en-US" sz="2400">
                <a:ea typeface="黑体" panose="02010609060101010101" pitchFamily="49" charset="-122"/>
              </a:rPr>
              <a:t>缓冲器</a:t>
            </a:r>
            <a:r>
              <a:rPr lang="en-US" altLang="zh-CN" sz="2400">
                <a:ea typeface="黑体" panose="02010609060101010101" pitchFamily="49" charset="-122"/>
              </a:rPr>
              <a:t>)</a:t>
            </a:r>
            <a:r>
              <a:rPr lang="zh-CN" altLang="en-US" sz="2400">
                <a:ea typeface="黑体" panose="02010609060101010101" pitchFamily="49" charset="-122"/>
              </a:rPr>
              <a:t>交叉存取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sz="2400">
                <a:ea typeface="黑体" panose="02010609060101010101" pitchFamily="49" charset="-122"/>
              </a:rPr>
              <a:t>利用总线时钟上升沿与下降沿同步传送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2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2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2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2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2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A930748-C312-A24F-AEF2-0D79F8C2F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084" name="Rectangle 18">
            <a:extLst>
              <a:ext uri="{FF2B5EF4-FFF2-40B4-BE49-F238E27FC236}">
                <a16:creationId xmlns:a16="http://schemas.microsoft.com/office/drawing/2014/main" id="{B58296D4-24B7-A647-A10F-F57E9133D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5859463"/>
            <a:ext cx="21605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ea typeface="黑体" panose="02010609060101010101" pitchFamily="49" charset="-122"/>
              </a:rPr>
              <a:t>DDR3</a:t>
            </a:r>
            <a:r>
              <a:rPr lang="zh-CN" altLang="en-US" sz="2000" b="1">
                <a:ea typeface="黑体" panose="02010609060101010101" pitchFamily="49" charset="-122"/>
              </a:rPr>
              <a:t>：一个时钟内传送</a:t>
            </a:r>
            <a:r>
              <a:rPr lang="en-US" altLang="zh-CN" sz="2000" b="1">
                <a:ea typeface="黑体" panose="02010609060101010101" pitchFamily="49" charset="-122"/>
              </a:rPr>
              <a:t>8</a:t>
            </a:r>
            <a:r>
              <a:rPr lang="zh-CN" altLang="en-US" sz="2000" b="1">
                <a:ea typeface="黑体" panose="02010609060101010101" pitchFamily="49" charset="-122"/>
              </a:rPr>
              <a:t>个数据</a:t>
            </a:r>
          </a:p>
        </p:txBody>
      </p:sp>
      <p:pic>
        <p:nvPicPr>
          <p:cNvPr id="29700" name="Picture 19">
            <a:extLst>
              <a:ext uri="{FF2B5EF4-FFF2-40B4-BE49-F238E27FC236}">
                <a16:creationId xmlns:a16="http://schemas.microsoft.com/office/drawing/2014/main" id="{D96EA5FE-66EE-364B-8827-9E6CB258B4A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1425" y="0"/>
            <a:ext cx="7902575" cy="5768975"/>
          </a:xfrm>
          <a:noFill/>
        </p:spPr>
      </p:pic>
      <p:sp>
        <p:nvSpPr>
          <p:cNvPr id="29701" name="Text Box 21">
            <a:extLst>
              <a:ext uri="{FF2B5EF4-FFF2-40B4-BE49-F238E27FC236}">
                <a16:creationId xmlns:a16="http://schemas.microsoft.com/office/drawing/2014/main" id="{A5195061-FAC9-E64B-9AC7-BD45441EE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1314450"/>
            <a:ext cx="12604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F"/>
                </a:solidFill>
                <a:ea typeface="黑体" panose="02010609060101010101" pitchFamily="49" charset="-122"/>
              </a:rPr>
              <a:t>SDRAM</a:t>
            </a: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</a:rPr>
              <a:t>芯片的内部结构</a:t>
            </a:r>
          </a:p>
        </p:txBody>
      </p:sp>
      <p:sp>
        <p:nvSpPr>
          <p:cNvPr id="29702" name="Text Box 22">
            <a:extLst>
              <a:ext uri="{FF2B5EF4-FFF2-40B4-BE49-F238E27FC236}">
                <a16:creationId xmlns:a16="http://schemas.microsoft.com/office/drawing/2014/main" id="{148A25BC-4277-E44E-828F-69E9706A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3159125"/>
            <a:ext cx="13065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</a:rPr>
              <a:t>同步方式</a:t>
            </a:r>
          </a:p>
        </p:txBody>
      </p:sp>
      <p:grpSp>
        <p:nvGrpSpPr>
          <p:cNvPr id="46083" name="Group 23">
            <a:extLst>
              <a:ext uri="{FF2B5EF4-FFF2-40B4-BE49-F238E27FC236}">
                <a16:creationId xmlns:a16="http://schemas.microsoft.com/office/drawing/2014/main" id="{2133A7A1-0F0D-764D-AB92-5A6638CE2E01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5454650"/>
            <a:ext cx="4645025" cy="1314450"/>
            <a:chOff x="243" y="3606"/>
            <a:chExt cx="2926" cy="551"/>
          </a:xfrm>
        </p:grpSpPr>
        <p:grpSp>
          <p:nvGrpSpPr>
            <p:cNvPr id="29704" name="Group 12">
              <a:extLst>
                <a:ext uri="{FF2B5EF4-FFF2-40B4-BE49-F238E27FC236}">
                  <a16:creationId xmlns:a16="http://schemas.microsoft.com/office/drawing/2014/main" id="{F808723A-A396-DD48-9A58-858A60FE5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" y="3606"/>
              <a:ext cx="2097" cy="551"/>
              <a:chOff x="5716" y="5397"/>
              <a:chExt cx="3784" cy="841"/>
            </a:xfrm>
          </p:grpSpPr>
          <p:pic>
            <p:nvPicPr>
              <p:cNvPr id="29706" name="Picture 13" descr="DDR2内存技术解析">
                <a:extLst>
                  <a:ext uri="{FF2B5EF4-FFF2-40B4-BE49-F238E27FC236}">
                    <a16:creationId xmlns:a16="http://schemas.microsoft.com/office/drawing/2014/main" id="{F700BD95-C280-1C4B-9217-4028E989AB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r:link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2942" r="4210" b="4349"/>
              <a:stretch>
                <a:fillRect/>
              </a:stretch>
            </p:blipFill>
            <p:spPr bwMode="auto">
              <a:xfrm>
                <a:off x="5716" y="5397"/>
                <a:ext cx="3784" cy="8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07" name="Text Box 14">
                <a:extLst>
                  <a:ext uri="{FF2B5EF4-FFF2-40B4-BE49-F238E27FC236}">
                    <a16:creationId xmlns:a16="http://schemas.microsoft.com/office/drawing/2014/main" id="{4305869E-5354-7841-AD73-2F65FC7C4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76" y="5526"/>
                <a:ext cx="1110" cy="5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26640" rIns="0" bIns="2664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25000"/>
                  </a:spcBef>
                </a:pPr>
                <a:r>
                  <a:rPr kumimoji="1"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存储单元</a:t>
                </a:r>
                <a:endParaRPr kumimoji="1"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黑体" panose="02010609060101010101" pitchFamily="49" charset="-122"/>
                </a:endParaRPr>
              </a:p>
              <a:p>
                <a:pPr algn="ctr" eaLnBrk="1" hangingPunct="1">
                  <a:spcBef>
                    <a:spcPct val="25000"/>
                  </a:spcBef>
                </a:pPr>
                <a:r>
                  <a:rPr kumimoji="1"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阵列</a:t>
                </a:r>
                <a:endParaRPr kumimoji="1" lang="zh-CN" altLang="en-US" b="1">
                  <a:solidFill>
                    <a:srgbClr val="6666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9708" name="Rectangle 15">
                <a:extLst>
                  <a:ext uri="{FF2B5EF4-FFF2-40B4-BE49-F238E27FC236}">
                    <a16:creationId xmlns:a16="http://schemas.microsoft.com/office/drawing/2014/main" id="{7F50D252-1567-5948-A63C-7CEDEB350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0" y="5601"/>
                <a:ext cx="710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29709" name="Text Box 16">
                <a:extLst>
                  <a:ext uri="{FF2B5EF4-FFF2-40B4-BE49-F238E27FC236}">
                    <a16:creationId xmlns:a16="http://schemas.microsoft.com/office/drawing/2014/main" id="{EDBACF56-5A3F-7041-BB2D-C5C422B89B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16" y="5490"/>
                <a:ext cx="111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26640" rIns="0" bIns="26640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数据总线</a:t>
                </a:r>
                <a:endParaRPr kumimoji="1" lang="zh-CN" altLang="en-US" b="1">
                  <a:solidFill>
                    <a:srgbClr val="666699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9705" name="Text Box 17">
              <a:extLst>
                <a:ext uri="{FF2B5EF4-FFF2-40B4-BE49-F238E27FC236}">
                  <a16:creationId xmlns:a16="http://schemas.microsoft.com/office/drawing/2014/main" id="{D828C68F-50AC-5B4A-8BEA-16B366FD3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" y="4003"/>
              <a:ext cx="111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ea typeface="华文新魏" panose="02010800040101010101" pitchFamily="2" charset="-122"/>
                </a:rPr>
                <a:t>DDR2 SDRAM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1C875C3-8A8A-A24B-B1B2-80B2D362F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98425"/>
            <a:ext cx="8512175" cy="627063"/>
          </a:xfrm>
        </p:spPr>
        <p:txBody>
          <a:bodyPr/>
          <a:lstStyle/>
          <a:p>
            <a:pPr eaLnBrk="1" hangingPunct="1"/>
            <a:r>
              <a:rPr lang="zh-CN" altLang="en-US"/>
              <a:t>只读存储器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D190BC9-96A2-B048-BADB-3E889C312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7025" y="855663"/>
            <a:ext cx="8385175" cy="5459412"/>
          </a:xfrm>
        </p:spPr>
        <p:txBody>
          <a:bodyPr/>
          <a:lstStyle/>
          <a:p>
            <a:pPr algn="just" eaLnBrk="1" hangingPunct="1"/>
            <a:r>
              <a:rPr lang="zh-CN" altLang="en-US" sz="2200">
                <a:ea typeface="黑体" panose="02010609060101010101" pitchFamily="49" charset="-122"/>
              </a:rPr>
              <a:t>特点：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信息只能读不能（在线）写。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非破坏性读出，无需再生。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也以随机存取方式工作。</a:t>
            </a:r>
            <a:endParaRPr lang="en-US" altLang="zh-CN" sz="2200">
              <a:ea typeface="黑体" panose="02010609060101010101" pitchFamily="49" charset="-122"/>
            </a:endParaRP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信息用特殊方式写入，一经写入，就可长久保存，不受断电影响。故是非易失性存储器。</a:t>
            </a:r>
            <a:endParaRPr lang="en-US" altLang="zh-CN" sz="2200">
              <a:ea typeface="黑体" panose="02010609060101010101" pitchFamily="49" charset="-122"/>
            </a:endParaRPr>
          </a:p>
          <a:p>
            <a:pPr algn="just" eaLnBrk="1" hangingPunct="1"/>
            <a:r>
              <a:rPr lang="zh-CN" altLang="en-US" sz="2200">
                <a:ea typeface="黑体" panose="02010609060101010101" pitchFamily="49" charset="-122"/>
              </a:rPr>
              <a:t>用途：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用来存放一些固定程序。如监控程序、启动程序等。只要一接通电源，这些程序就能自动地运行；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可作为控制存储器，存放微程序。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还可作为函数发生器和代码转换器。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在输入/出设备中，被用作字符发生器，汉字库等。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zh-CN" altLang="en-US" sz="2200">
                <a:ea typeface="黑体" panose="02010609060101010101" pitchFamily="49" charset="-122"/>
              </a:rPr>
              <a:t>在嵌入式设备中用来存放固化的程序。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0CE28800-6606-1542-9EF9-59150BD8A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425" y="76200"/>
            <a:ext cx="8512175" cy="627063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只读存储器(</a:t>
            </a:r>
            <a:r>
              <a:rPr lang="en-US" altLang="zh-CN"/>
              <a:t>Read Only Memory)</a:t>
            </a:r>
            <a:endParaRPr lang="zh-CN" altLang="en-US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4A0F9EC9-9FEA-A34D-BF25-050E12157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819150"/>
            <a:ext cx="8505825" cy="4564063"/>
          </a:xfrm>
          <a:noFill/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MROM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Mask ROM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）：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掩膜只读存储器</a:t>
            </a:r>
            <a:endParaRPr lang="en-US" altLang="zh-CN" sz="240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Programmable ROM）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可编程只读存储器</a:t>
            </a:r>
          </a:p>
          <a:p>
            <a:pPr algn="just"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EPROM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Erasable PROM ）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可擦除可编程只读存储器</a:t>
            </a:r>
            <a:endParaRPr lang="en-US" altLang="zh-CN" sz="240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EEPROM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400" baseline="30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PROM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Electrically EPROM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 ：</a:t>
            </a:r>
          </a:p>
          <a:p>
            <a:pPr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电可擦除可编程只读存储器</a:t>
            </a:r>
            <a:endParaRPr lang="en-US" altLang="zh-CN" sz="240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flash memory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：闪存（快擦存储器）：</a:t>
            </a:r>
          </a:p>
          <a:p>
            <a:pPr algn="just" eaLnBrk="1" hangingPunct="1">
              <a:lnSpc>
                <a:spcPct val="13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快擦型电可擦除重编程</a:t>
            </a:r>
            <a:r>
              <a:rPr lang="en-US" altLang="zh-CN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AD807DB-DE5B-C041-85D4-7F110F064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938" y="57150"/>
            <a:ext cx="7499350" cy="581025"/>
          </a:xfrm>
        </p:spPr>
        <p:txBody>
          <a:bodyPr/>
          <a:lstStyle/>
          <a:p>
            <a:r>
              <a:rPr lang="zh-CN" altLang="en-US" sz="4000"/>
              <a:t>层次结构存储系统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0A4103D-D287-654B-9FCE-09128FD58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895350"/>
            <a:ext cx="8229600" cy="5159375"/>
          </a:xfrm>
          <a:noFill/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分以下六个部分介绍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第一讲：存储器概述和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芯片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第二讲：主存与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的连接及其读写操作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主存模块的连接和读写操作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“装入”指令和“存储”指令操作过程 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第三讲：外部辅助存储器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第四讲：存储器的数据校验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第五讲：高速缓冲存储器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(cache)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程序访问的局部性、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行和主存块之间的映射方式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和程序性能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第六讲：虚拟存储器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虚拟地址空间、虚拟存储器的实现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114756E-AF38-864F-BC0A-F204E9923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存储器芯片的扩展</a:t>
            </a:r>
          </a:p>
        </p:txBody>
      </p:sp>
      <p:sp>
        <p:nvSpPr>
          <p:cNvPr id="715779" name="Rectangle 3">
            <a:extLst>
              <a:ext uri="{FF2B5EF4-FFF2-40B4-BE49-F238E27FC236}">
                <a16:creationId xmlns:a16="http://schemas.microsoft.com/office/drawing/2014/main" id="{89EB8D2E-DAEC-D841-BFA7-C1CFC75D9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925" y="773113"/>
            <a:ext cx="8677275" cy="5287962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字扩展（</a:t>
            </a:r>
            <a:r>
              <a:rPr lang="zh-CN" altLang="en-US" sz="2000">
                <a:ea typeface="黑体" panose="02010609060101010101" pitchFamily="49" charset="-122"/>
              </a:rPr>
              <a:t>位数不变、扩充容量）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     用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16K×8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位芯片扩成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64K×8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位存储器需几个芯片？地址范围各为什么？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     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字方向扩展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倍，即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个芯片。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0000-3FFFH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4000-7FFFH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8000-BFFFH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C000- FFFFH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地址共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16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位，高两位由外部译码器译码生成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个输出，分别连到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个片选信号，片内地址有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14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位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地址线、读</a:t>
            </a:r>
            <a:r>
              <a:rPr lang="en-US" altLang="zh-CN">
                <a:ea typeface="黑体" panose="02010609060101010101" pitchFamily="49" charset="-122"/>
              </a:rPr>
              <a:t>/</a:t>
            </a:r>
            <a:r>
              <a:rPr lang="zh-CN" altLang="en-US">
                <a:ea typeface="黑体" panose="02010609060101010101" pitchFamily="49" charset="-122"/>
              </a:rPr>
              <a:t>写控制线等对应相接，片选信号连译码输出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位扩展（</a:t>
            </a:r>
            <a:r>
              <a:rPr lang="zh-CN" altLang="en-US" sz="2000">
                <a:ea typeface="黑体" panose="02010609060101010101" pitchFamily="49" charset="-122"/>
              </a:rPr>
              <a:t>字数不变，位数扩展）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      用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4096×1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位芯片构成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4K×8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位存储器需几个芯片？地址范围各是多少？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      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位方向扩展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8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倍，字方向无需扩展。即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8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个芯片，地址范围都一样：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000-  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地址共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12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位，全部作为片内地址 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芯片的地址线及读</a:t>
            </a:r>
            <a:r>
              <a:rPr lang="en-US" altLang="zh-CN">
                <a:ea typeface="黑体" panose="02010609060101010101" pitchFamily="49" charset="-122"/>
              </a:rPr>
              <a:t>/</a:t>
            </a:r>
            <a:r>
              <a:rPr lang="zh-CN" altLang="en-US">
                <a:ea typeface="黑体" panose="02010609060101010101" pitchFamily="49" charset="-122"/>
              </a:rPr>
              <a:t>写控制线对应相接，而数据线单独引出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字位同时扩展（</a:t>
            </a:r>
            <a:r>
              <a:rPr lang="zh-CN" altLang="en-US" sz="2000">
                <a:ea typeface="黑体" panose="02010609060101010101" pitchFamily="49" charset="-122"/>
              </a:rPr>
              <a:t>字和位同时扩展）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     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用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16K×4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位芯片构成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64K×8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位存储器需几个芯片，地址范围各是多少？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     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字向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倍、位向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倍，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8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个芯片。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0000-3FFFH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4000-7FFFH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8000-BFFFH</a:t>
            </a:r>
            <a:r>
              <a:rPr lang="zh-CN" altLang="en-US">
                <a:solidFill>
                  <a:srgbClr val="663300"/>
                </a:solidFill>
                <a:ea typeface="黑体" panose="02010609060101010101" pitchFamily="49" charset="-122"/>
              </a:rPr>
              <a:t>， </a:t>
            </a:r>
            <a:r>
              <a:rPr lang="en-US" altLang="zh-CN">
                <a:solidFill>
                  <a:srgbClr val="663300"/>
                </a:solidFill>
                <a:ea typeface="黑体" panose="02010609060101010101" pitchFamily="49" charset="-122"/>
              </a:rPr>
              <a:t>C000- FFFFH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地址线、读</a:t>
            </a:r>
            <a:r>
              <a:rPr lang="en-US" altLang="zh-CN">
                <a:ea typeface="黑体" panose="02010609060101010101" pitchFamily="49" charset="-122"/>
              </a:rPr>
              <a:t>/</a:t>
            </a:r>
            <a:r>
              <a:rPr lang="zh-CN" altLang="en-US">
                <a:ea typeface="黑体" panose="02010609060101010101" pitchFamily="49" charset="-122"/>
              </a:rPr>
              <a:t>写控制线等对应相接，片选信号则分别与外部译码器各个译码输出端相连</a:t>
            </a:r>
            <a:endParaRPr lang="zh-CN" altLang="en-US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715781" name="Text Box 5">
            <a:extLst>
              <a:ext uri="{FF2B5EF4-FFF2-40B4-BE49-F238E27FC236}">
                <a16:creationId xmlns:a16="http://schemas.microsoft.com/office/drawing/2014/main" id="{27DAA3B8-1ABD-8E4A-895C-84AD7DDD0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918200"/>
            <a:ext cx="5940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有两种容量扩展方式：交叉编址和连续编址。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C0546-BE3A-9048-BBBF-77D73F40E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0" y="6318250"/>
            <a:ext cx="3644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99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上述例子都是何种编址方式？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E67EF-A685-B143-86A6-A28673BE4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00" y="6318250"/>
            <a:ext cx="168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99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连续编址！</a:t>
            </a:r>
          </a:p>
        </p:txBody>
      </p:sp>
      <p:sp>
        <p:nvSpPr>
          <p:cNvPr id="34823" name="Text Box 10">
            <a:extLst>
              <a:ext uri="{FF2B5EF4-FFF2-40B4-BE49-F238E27FC236}">
                <a16:creationId xmlns:a16="http://schemas.microsoft.com/office/drawing/2014/main" id="{BA5301D7-FD93-6B42-BBF2-A9FC18FA5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773113"/>
            <a:ext cx="18446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DRAM</a:t>
            </a:r>
            <a:r>
              <a:rPr kumimoji="1" lang="zh-CN" altLang="en-US" b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芯片引脚</a:t>
            </a:r>
            <a:endParaRPr kumimoji="1" lang="zh-CN" altLang="en-US" b="1">
              <a:solidFill>
                <a:srgbClr val="666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93B01B5-5008-DD4A-8CA4-E9B96693D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主存模块的连接和读写操作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80774CB-3F4E-8945-9446-3F8C1F938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963" y="874713"/>
            <a:ext cx="8191500" cy="415925"/>
          </a:xfrm>
        </p:spPr>
        <p:txBody>
          <a:bodyPr/>
          <a:lstStyle/>
          <a:p>
            <a:r>
              <a:rPr lang="zh-CN" altLang="en-US" sz="2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主存与</a:t>
            </a:r>
            <a:r>
              <a:rPr lang="en-US" altLang="zh-CN" sz="2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的连接</a:t>
            </a: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68E3C0D2-7B23-5C43-948F-5CF7B5C6D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7025"/>
            <a:ext cx="9144000" cy="435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6549" name="Rectangle 5">
            <a:extLst>
              <a:ext uri="{FF2B5EF4-FFF2-40B4-BE49-F238E27FC236}">
                <a16:creationId xmlns:a16="http://schemas.microsoft.com/office/drawing/2014/main" id="{BB18B487-DD6A-AF42-ABD8-100A1F9C7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1989138"/>
            <a:ext cx="3816350" cy="3773487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6550" name="Rectangle 6">
            <a:extLst>
              <a:ext uri="{FF2B5EF4-FFF2-40B4-BE49-F238E27FC236}">
                <a16:creationId xmlns:a16="http://schemas.microsoft.com/office/drawing/2014/main" id="{4FAA28AE-C596-0D48-A2DE-6B91E746F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4325938"/>
            <a:ext cx="1162050" cy="1436687"/>
          </a:xfrm>
          <a:prstGeom prst="rect">
            <a:avLst/>
          </a:prstGeom>
          <a:solidFill>
            <a:schemeClr val="accent2">
              <a:alpha val="1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6551" name="Text Box 7">
            <a:extLst>
              <a:ext uri="{FF2B5EF4-FFF2-40B4-BE49-F238E27FC236}">
                <a16:creationId xmlns:a16="http://schemas.microsoft.com/office/drawing/2014/main" id="{3F90A70E-EB99-AD42-9271-840A56A37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449388"/>
            <a:ext cx="4051300" cy="91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3300"/>
                </a:solidFill>
                <a:ea typeface="微软雅黑" panose="020B0503020204020204" pitchFamily="34" charset="-122"/>
              </a:rPr>
              <a:t>总线中有哪三种类型传输线？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9900"/>
                </a:solidFill>
                <a:ea typeface="微软雅黑" panose="020B0503020204020204" pitchFamily="34" charset="-122"/>
              </a:rPr>
              <a:t>数据线、地址线、控制线</a:t>
            </a:r>
          </a:p>
        </p:txBody>
      </p:sp>
      <p:sp>
        <p:nvSpPr>
          <p:cNvPr id="876552" name="Text Box 8">
            <a:extLst>
              <a:ext uri="{FF2B5EF4-FFF2-40B4-BE49-F238E27FC236}">
                <a16:creationId xmlns:a16="http://schemas.microsoft.com/office/drawing/2014/main" id="{DCD67CFF-9512-914E-9C39-9DFED0178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613150"/>
            <a:ext cx="1525587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存储器总线</a:t>
            </a:r>
          </a:p>
        </p:txBody>
      </p:sp>
      <p:sp>
        <p:nvSpPr>
          <p:cNvPr id="876553" name="Text Box 9">
            <a:extLst>
              <a:ext uri="{FF2B5EF4-FFF2-40B4-BE49-F238E27FC236}">
                <a16:creationId xmlns:a16="http://schemas.microsoft.com/office/drawing/2014/main" id="{DCDFF087-A4CA-A942-B793-2859FAD24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3662363"/>
            <a:ext cx="1525587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前端总线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6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76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49" grpId="0" animBg="1"/>
      <p:bldP spid="876550" grpId="0" animBg="1"/>
      <p:bldP spid="8765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5">
            <a:extLst>
              <a:ext uri="{FF2B5EF4-FFF2-40B4-BE49-F238E27FC236}">
                <a16:creationId xmlns:a16="http://schemas.microsoft.com/office/drawing/2014/main" id="{A05919C7-6B4C-8647-BB26-29F5E2F0FECD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1268413"/>
            <a:ext cx="3124200" cy="990600"/>
            <a:chOff x="3332" y="204"/>
            <a:chExt cx="1968" cy="624"/>
          </a:xfrm>
        </p:grpSpPr>
        <p:sp>
          <p:nvSpPr>
            <p:cNvPr id="36929" name="Rectangle 6">
              <a:extLst>
                <a:ext uri="{FF2B5EF4-FFF2-40B4-BE49-F238E27FC236}">
                  <a16:creationId xmlns:a16="http://schemas.microsoft.com/office/drawing/2014/main" id="{06EED588-778F-1F42-8605-BE6AA8708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516"/>
              <a:ext cx="1512" cy="2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30" name="Line 7">
              <a:extLst>
                <a:ext uri="{FF2B5EF4-FFF2-40B4-BE49-F238E27FC236}">
                  <a16:creationId xmlns:a16="http://schemas.microsoft.com/office/drawing/2014/main" id="{2838401B-E2D0-FE4E-B390-7B60C9CCF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2" y="204"/>
              <a:ext cx="968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1" name="Line 8">
              <a:extLst>
                <a:ext uri="{FF2B5EF4-FFF2-40B4-BE49-F238E27FC236}">
                  <a16:creationId xmlns:a16="http://schemas.microsoft.com/office/drawing/2014/main" id="{76A3FE1F-CA70-404D-A419-EE6DD89F3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208"/>
              <a:ext cx="9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2" name="Line 9">
              <a:extLst>
                <a:ext uri="{FF2B5EF4-FFF2-40B4-BE49-F238E27FC236}">
                  <a16:creationId xmlns:a16="http://schemas.microsoft.com/office/drawing/2014/main" id="{4B89D51F-E653-1547-AA68-150AA8571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8" y="212"/>
              <a:ext cx="472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3" name="Line 10">
              <a:extLst>
                <a:ext uri="{FF2B5EF4-FFF2-40B4-BE49-F238E27FC236}">
                  <a16:creationId xmlns:a16="http://schemas.microsoft.com/office/drawing/2014/main" id="{A75060DA-03B5-4846-BEE3-9EBF6D379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6" y="212"/>
              <a:ext cx="0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4" name="Line 11">
              <a:extLst>
                <a:ext uri="{FF2B5EF4-FFF2-40B4-BE49-F238E27FC236}">
                  <a16:creationId xmlns:a16="http://schemas.microsoft.com/office/drawing/2014/main" id="{6048DA30-2B90-4E48-9E7D-EAF76E5DEC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2" y="500"/>
              <a:ext cx="472" cy="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5" name="Line 12">
              <a:extLst>
                <a:ext uri="{FF2B5EF4-FFF2-40B4-BE49-F238E27FC236}">
                  <a16:creationId xmlns:a16="http://schemas.microsoft.com/office/drawing/2014/main" id="{6F87FAC1-DFE3-A049-BCBF-8A306A9E7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0" y="752"/>
              <a:ext cx="1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6" name="Line 13">
              <a:extLst>
                <a:ext uri="{FF2B5EF4-FFF2-40B4-BE49-F238E27FC236}">
                  <a16:creationId xmlns:a16="http://schemas.microsoft.com/office/drawing/2014/main" id="{FF056D76-5B69-D74C-AF6E-B8C36311B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760"/>
              <a:ext cx="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7" name="Rectangle 14">
              <a:extLst>
                <a:ext uri="{FF2B5EF4-FFF2-40B4-BE49-F238E27FC236}">
                  <a16:creationId xmlns:a16="http://schemas.microsoft.com/office/drawing/2014/main" id="{4E3955AA-EB1E-2643-8F28-8870CBE39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568"/>
              <a:ext cx="125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1">
                  <a:ea typeface="宋体" panose="02010600030101010101" pitchFamily="2" charset="-122"/>
                </a:rPr>
                <a:t>SPARCstation 20</a:t>
              </a:r>
            </a:p>
          </p:txBody>
        </p:sp>
      </p:grpSp>
      <p:sp>
        <p:nvSpPr>
          <p:cNvPr id="36867" name="Rectangle 15">
            <a:extLst>
              <a:ext uri="{FF2B5EF4-FFF2-40B4-BE49-F238E27FC236}">
                <a16:creationId xmlns:a16="http://schemas.microsoft.com/office/drawing/2014/main" id="{937CA92C-3BF8-D344-8FD4-C887F2F62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2936875"/>
            <a:ext cx="965200" cy="6985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6868" name="Line 16">
            <a:extLst>
              <a:ext uri="{FF2B5EF4-FFF2-40B4-BE49-F238E27FC236}">
                <a16:creationId xmlns:a16="http://schemas.microsoft.com/office/drawing/2014/main" id="{35B5340D-C399-3645-8347-50F75BA06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00" y="3305175"/>
            <a:ext cx="6477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9" name="Rectangle 17">
            <a:extLst>
              <a:ext uri="{FF2B5EF4-FFF2-40B4-BE49-F238E27FC236}">
                <a16:creationId xmlns:a16="http://schemas.microsoft.com/office/drawing/2014/main" id="{C7F6340D-D950-F64A-BC6A-2080CF86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24188"/>
            <a:ext cx="9810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</a:p>
          <a:p>
            <a:pPr algn="ctr"/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</a:p>
        </p:txBody>
      </p:sp>
      <p:sp>
        <p:nvSpPr>
          <p:cNvPr id="36870" name="Rectangle 18">
            <a:extLst>
              <a:ext uri="{FF2B5EF4-FFF2-40B4-BE49-F238E27FC236}">
                <a16:creationId xmlns:a16="http://schemas.microsoft.com/office/drawing/2014/main" id="{F654F55B-9B02-F64B-A0C0-A67256FFB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2917825"/>
            <a:ext cx="15843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Memory Bus</a:t>
            </a:r>
          </a:p>
        </p:txBody>
      </p:sp>
      <p:sp>
        <p:nvSpPr>
          <p:cNvPr id="36871" name="Rectangle 19">
            <a:extLst>
              <a:ext uri="{FF2B5EF4-FFF2-40B4-BE49-F238E27FC236}">
                <a16:creationId xmlns:a16="http://schemas.microsoft.com/office/drawing/2014/main" id="{5EC8D9D8-97DF-A044-A3DC-C01AAA2E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4765675"/>
            <a:ext cx="490855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36872" name="Group 20">
            <a:extLst>
              <a:ext uri="{FF2B5EF4-FFF2-40B4-BE49-F238E27FC236}">
                <a16:creationId xmlns:a16="http://schemas.microsoft.com/office/drawing/2014/main" id="{BDBD2F69-C596-2B44-9B1B-8AE3EEC167E5}"/>
              </a:ext>
            </a:extLst>
          </p:cNvPr>
          <p:cNvGrpSpPr>
            <a:grpSpLocks/>
          </p:cNvGrpSpPr>
          <p:nvPr/>
        </p:nvGrpSpPr>
        <p:grpSpPr bwMode="auto">
          <a:xfrm>
            <a:off x="2774950" y="2708275"/>
            <a:ext cx="336550" cy="1270000"/>
            <a:chOff x="1844" y="968"/>
            <a:chExt cx="212" cy="800"/>
          </a:xfrm>
        </p:grpSpPr>
        <p:sp>
          <p:nvSpPr>
            <p:cNvPr id="36927" name="Rectangle 21">
              <a:extLst>
                <a:ext uri="{FF2B5EF4-FFF2-40B4-BE49-F238E27FC236}">
                  <a16:creationId xmlns:a16="http://schemas.microsoft.com/office/drawing/2014/main" id="{37548C3E-433A-B64E-8051-55E9B524B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4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28" name="Rectangle 22">
              <a:extLst>
                <a:ext uri="{FF2B5EF4-FFF2-40B4-BE49-F238E27FC236}">
                  <a16:creationId xmlns:a16="http://schemas.microsoft.com/office/drawing/2014/main" id="{7F7BE069-32A2-594F-8AF1-8013EC32CE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574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0</a:t>
              </a:r>
            </a:p>
          </p:txBody>
        </p:sp>
      </p:grpSp>
      <p:grpSp>
        <p:nvGrpSpPr>
          <p:cNvPr id="36873" name="Group 23">
            <a:extLst>
              <a:ext uri="{FF2B5EF4-FFF2-40B4-BE49-F238E27FC236}">
                <a16:creationId xmlns:a16="http://schemas.microsoft.com/office/drawing/2014/main" id="{140CE20F-039A-7F44-97A2-0BCFD674B48D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2708275"/>
            <a:ext cx="336550" cy="1270000"/>
            <a:chOff x="2132" y="968"/>
            <a:chExt cx="212" cy="800"/>
          </a:xfrm>
        </p:grpSpPr>
        <p:sp>
          <p:nvSpPr>
            <p:cNvPr id="36925" name="Rectangle 24">
              <a:extLst>
                <a:ext uri="{FF2B5EF4-FFF2-40B4-BE49-F238E27FC236}">
                  <a16:creationId xmlns:a16="http://schemas.microsoft.com/office/drawing/2014/main" id="{77095472-701E-1043-B108-02402C516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26" name="Rectangle 25">
              <a:extLst>
                <a:ext uri="{FF2B5EF4-FFF2-40B4-BE49-F238E27FC236}">
                  <a16:creationId xmlns:a16="http://schemas.microsoft.com/office/drawing/2014/main" id="{4122158C-DA52-8143-92EA-4DF169705C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862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1</a:t>
              </a:r>
            </a:p>
          </p:txBody>
        </p:sp>
      </p:grpSp>
      <p:grpSp>
        <p:nvGrpSpPr>
          <p:cNvPr id="36874" name="Group 26">
            <a:extLst>
              <a:ext uri="{FF2B5EF4-FFF2-40B4-BE49-F238E27FC236}">
                <a16:creationId xmlns:a16="http://schemas.microsoft.com/office/drawing/2014/main" id="{4DB82F38-7193-5D43-8B5D-433EB3AB5B09}"/>
              </a:ext>
            </a:extLst>
          </p:cNvPr>
          <p:cNvGrpSpPr>
            <a:grpSpLocks/>
          </p:cNvGrpSpPr>
          <p:nvPr/>
        </p:nvGrpSpPr>
        <p:grpSpPr bwMode="auto">
          <a:xfrm>
            <a:off x="3689350" y="2708275"/>
            <a:ext cx="336550" cy="1270000"/>
            <a:chOff x="2420" y="968"/>
            <a:chExt cx="212" cy="800"/>
          </a:xfrm>
        </p:grpSpPr>
        <p:sp>
          <p:nvSpPr>
            <p:cNvPr id="36923" name="Rectangle 27">
              <a:extLst>
                <a:ext uri="{FF2B5EF4-FFF2-40B4-BE49-F238E27FC236}">
                  <a16:creationId xmlns:a16="http://schemas.microsoft.com/office/drawing/2014/main" id="{2583077C-0AC5-C947-8F9B-492AABEE4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24" name="Rectangle 28">
              <a:extLst>
                <a:ext uri="{FF2B5EF4-FFF2-40B4-BE49-F238E27FC236}">
                  <a16:creationId xmlns:a16="http://schemas.microsoft.com/office/drawing/2014/main" id="{15D9C136-35A6-4147-A2F1-679D2C933D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150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2</a:t>
              </a:r>
            </a:p>
          </p:txBody>
        </p:sp>
      </p:grpSp>
      <p:grpSp>
        <p:nvGrpSpPr>
          <p:cNvPr id="36875" name="Group 29">
            <a:extLst>
              <a:ext uri="{FF2B5EF4-FFF2-40B4-BE49-F238E27FC236}">
                <a16:creationId xmlns:a16="http://schemas.microsoft.com/office/drawing/2014/main" id="{640B6CB3-710E-5C47-B5C9-FEAC867BE741}"/>
              </a:ext>
            </a:extLst>
          </p:cNvPr>
          <p:cNvGrpSpPr>
            <a:grpSpLocks/>
          </p:cNvGrpSpPr>
          <p:nvPr/>
        </p:nvGrpSpPr>
        <p:grpSpPr bwMode="auto">
          <a:xfrm>
            <a:off x="4146550" y="2708275"/>
            <a:ext cx="336550" cy="1270000"/>
            <a:chOff x="2708" y="968"/>
            <a:chExt cx="212" cy="800"/>
          </a:xfrm>
        </p:grpSpPr>
        <p:sp>
          <p:nvSpPr>
            <p:cNvPr id="36921" name="Rectangle 30">
              <a:extLst>
                <a:ext uri="{FF2B5EF4-FFF2-40B4-BE49-F238E27FC236}">
                  <a16:creationId xmlns:a16="http://schemas.microsoft.com/office/drawing/2014/main" id="{14A0F4BC-0D1A-2046-8A2B-F5E9FAC4A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22" name="Rectangle 31">
              <a:extLst>
                <a:ext uri="{FF2B5EF4-FFF2-40B4-BE49-F238E27FC236}">
                  <a16:creationId xmlns:a16="http://schemas.microsoft.com/office/drawing/2014/main" id="{0CEB5BD5-59A4-6C42-AE5E-850B160B67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38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3</a:t>
              </a:r>
            </a:p>
          </p:txBody>
        </p:sp>
      </p:grpSp>
      <p:grpSp>
        <p:nvGrpSpPr>
          <p:cNvPr id="36876" name="Group 32">
            <a:extLst>
              <a:ext uri="{FF2B5EF4-FFF2-40B4-BE49-F238E27FC236}">
                <a16:creationId xmlns:a16="http://schemas.microsoft.com/office/drawing/2014/main" id="{058ED1C0-0B79-B644-A858-8CDB5329E963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2708275"/>
            <a:ext cx="336550" cy="1270000"/>
            <a:chOff x="2996" y="968"/>
            <a:chExt cx="212" cy="800"/>
          </a:xfrm>
        </p:grpSpPr>
        <p:sp>
          <p:nvSpPr>
            <p:cNvPr id="36919" name="Rectangle 33">
              <a:extLst>
                <a:ext uri="{FF2B5EF4-FFF2-40B4-BE49-F238E27FC236}">
                  <a16:creationId xmlns:a16="http://schemas.microsoft.com/office/drawing/2014/main" id="{21063C6C-3074-BD47-98B1-980A0EE2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20" name="Rectangle 34">
              <a:extLst>
                <a:ext uri="{FF2B5EF4-FFF2-40B4-BE49-F238E27FC236}">
                  <a16:creationId xmlns:a16="http://schemas.microsoft.com/office/drawing/2014/main" id="{55911C6B-2641-C943-87A5-AB1C22828E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727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4</a:t>
              </a:r>
            </a:p>
          </p:txBody>
        </p:sp>
      </p:grpSp>
      <p:grpSp>
        <p:nvGrpSpPr>
          <p:cNvPr id="36877" name="Group 35">
            <a:extLst>
              <a:ext uri="{FF2B5EF4-FFF2-40B4-BE49-F238E27FC236}">
                <a16:creationId xmlns:a16="http://schemas.microsoft.com/office/drawing/2014/main" id="{152FAA63-BBAB-934C-8A08-04C6BBDF9F43}"/>
              </a:ext>
            </a:extLst>
          </p:cNvPr>
          <p:cNvGrpSpPr>
            <a:grpSpLocks/>
          </p:cNvGrpSpPr>
          <p:nvPr/>
        </p:nvGrpSpPr>
        <p:grpSpPr bwMode="auto">
          <a:xfrm>
            <a:off x="5060950" y="2708275"/>
            <a:ext cx="336550" cy="1270000"/>
            <a:chOff x="3284" y="968"/>
            <a:chExt cx="212" cy="800"/>
          </a:xfrm>
        </p:grpSpPr>
        <p:sp>
          <p:nvSpPr>
            <p:cNvPr id="36917" name="Rectangle 36">
              <a:extLst>
                <a:ext uri="{FF2B5EF4-FFF2-40B4-BE49-F238E27FC236}">
                  <a16:creationId xmlns:a16="http://schemas.microsoft.com/office/drawing/2014/main" id="{2CF1D178-B1D4-D543-A81C-30BAC5FC6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18" name="Rectangle 37">
              <a:extLst>
                <a:ext uri="{FF2B5EF4-FFF2-40B4-BE49-F238E27FC236}">
                  <a16:creationId xmlns:a16="http://schemas.microsoft.com/office/drawing/2014/main" id="{63C1AE31-F6D4-6542-9757-FA67ACBAAA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014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5</a:t>
              </a:r>
            </a:p>
          </p:txBody>
        </p:sp>
      </p:grpSp>
      <p:grpSp>
        <p:nvGrpSpPr>
          <p:cNvPr id="36878" name="Group 38">
            <a:extLst>
              <a:ext uri="{FF2B5EF4-FFF2-40B4-BE49-F238E27FC236}">
                <a16:creationId xmlns:a16="http://schemas.microsoft.com/office/drawing/2014/main" id="{27924012-A720-524F-BD0D-7CE5BD9C0E4D}"/>
              </a:ext>
            </a:extLst>
          </p:cNvPr>
          <p:cNvGrpSpPr>
            <a:grpSpLocks/>
          </p:cNvGrpSpPr>
          <p:nvPr/>
        </p:nvGrpSpPr>
        <p:grpSpPr bwMode="auto">
          <a:xfrm>
            <a:off x="5518150" y="2708275"/>
            <a:ext cx="336550" cy="1270000"/>
            <a:chOff x="3572" y="968"/>
            <a:chExt cx="212" cy="800"/>
          </a:xfrm>
        </p:grpSpPr>
        <p:sp>
          <p:nvSpPr>
            <p:cNvPr id="36915" name="Rectangle 39">
              <a:extLst>
                <a:ext uri="{FF2B5EF4-FFF2-40B4-BE49-F238E27FC236}">
                  <a16:creationId xmlns:a16="http://schemas.microsoft.com/office/drawing/2014/main" id="{FBEB87BA-C9C1-254D-8508-4DFB7A81D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16" name="Rectangle 40">
              <a:extLst>
                <a:ext uri="{FF2B5EF4-FFF2-40B4-BE49-F238E27FC236}">
                  <a16:creationId xmlns:a16="http://schemas.microsoft.com/office/drawing/2014/main" id="{2C52934A-1BED-5848-97F6-16E1F8AD1B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02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6</a:t>
              </a:r>
            </a:p>
          </p:txBody>
        </p:sp>
      </p:grpSp>
      <p:grpSp>
        <p:nvGrpSpPr>
          <p:cNvPr id="36879" name="Group 41">
            <a:extLst>
              <a:ext uri="{FF2B5EF4-FFF2-40B4-BE49-F238E27FC236}">
                <a16:creationId xmlns:a16="http://schemas.microsoft.com/office/drawing/2014/main" id="{46F6B8D6-1BE1-D547-A44C-EBD29FBA48CA}"/>
              </a:ext>
            </a:extLst>
          </p:cNvPr>
          <p:cNvGrpSpPr>
            <a:grpSpLocks/>
          </p:cNvGrpSpPr>
          <p:nvPr/>
        </p:nvGrpSpPr>
        <p:grpSpPr bwMode="auto">
          <a:xfrm>
            <a:off x="5975350" y="2708275"/>
            <a:ext cx="336550" cy="1270000"/>
            <a:chOff x="3860" y="968"/>
            <a:chExt cx="212" cy="800"/>
          </a:xfrm>
        </p:grpSpPr>
        <p:sp>
          <p:nvSpPr>
            <p:cNvPr id="36913" name="Rectangle 42">
              <a:extLst>
                <a:ext uri="{FF2B5EF4-FFF2-40B4-BE49-F238E27FC236}">
                  <a16:creationId xmlns:a16="http://schemas.microsoft.com/office/drawing/2014/main" id="{F2BB74C9-55EB-F243-B393-BAA1A50F3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968"/>
              <a:ext cx="212" cy="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14" name="Rectangle 43">
              <a:extLst>
                <a:ext uri="{FF2B5EF4-FFF2-40B4-BE49-F238E27FC236}">
                  <a16:creationId xmlns:a16="http://schemas.microsoft.com/office/drawing/2014/main" id="{5BDED42E-9CF3-7445-A113-5731062F55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90" y="1262"/>
              <a:ext cx="73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SIMM Slot 7</a:t>
              </a:r>
            </a:p>
          </p:txBody>
        </p:sp>
      </p:grpSp>
      <p:sp>
        <p:nvSpPr>
          <p:cNvPr id="36880" name="Line 44">
            <a:extLst>
              <a:ext uri="{FF2B5EF4-FFF2-40B4-BE49-F238E27FC236}">
                <a16:creationId xmlns:a16="http://schemas.microsoft.com/office/drawing/2014/main" id="{E40C3E95-A9CE-8E44-A1E0-1A2380D93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5250" y="4073525"/>
            <a:ext cx="1308100" cy="596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1" name="Line 45">
            <a:extLst>
              <a:ext uri="{FF2B5EF4-FFF2-40B4-BE49-F238E27FC236}">
                <a16:creationId xmlns:a16="http://schemas.microsoft.com/office/drawing/2014/main" id="{5E53D0B1-FBAC-1D4C-B98D-7AF068528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4073525"/>
            <a:ext cx="3035300" cy="596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2" name="Rectangle 46">
            <a:extLst>
              <a:ext uri="{FF2B5EF4-FFF2-40B4-BE49-F238E27FC236}">
                <a16:creationId xmlns:a16="http://schemas.microsoft.com/office/drawing/2014/main" id="{4DC12871-235A-8344-81A7-DAE200591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4403725"/>
            <a:ext cx="175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DRAM SIMM</a:t>
            </a:r>
          </a:p>
        </p:txBody>
      </p:sp>
      <p:grpSp>
        <p:nvGrpSpPr>
          <p:cNvPr id="36883" name="Group 47">
            <a:extLst>
              <a:ext uri="{FF2B5EF4-FFF2-40B4-BE49-F238E27FC236}">
                <a16:creationId xmlns:a16="http://schemas.microsoft.com/office/drawing/2014/main" id="{05FB75C6-E759-8B4D-99A5-734129D31FC3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4905375"/>
            <a:ext cx="811213" cy="333375"/>
            <a:chOff x="952" y="2352"/>
            <a:chExt cx="511" cy="210"/>
          </a:xfrm>
        </p:grpSpPr>
        <p:sp>
          <p:nvSpPr>
            <p:cNvPr id="36911" name="Rectangle 48">
              <a:extLst>
                <a:ext uri="{FF2B5EF4-FFF2-40B4-BE49-F238E27FC236}">
                  <a16:creationId xmlns:a16="http://schemas.microsoft.com/office/drawing/2014/main" id="{7B50E931-E90A-594F-A606-568BF208C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235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12" name="Rectangle 49">
              <a:extLst>
                <a:ext uri="{FF2B5EF4-FFF2-40B4-BE49-F238E27FC236}">
                  <a16:creationId xmlns:a16="http://schemas.microsoft.com/office/drawing/2014/main" id="{2506EC20-0962-A646-8FF0-5F65A6A73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35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4" name="Group 50">
            <a:extLst>
              <a:ext uri="{FF2B5EF4-FFF2-40B4-BE49-F238E27FC236}">
                <a16:creationId xmlns:a16="http://schemas.microsoft.com/office/drawing/2014/main" id="{67A1DCFB-2A56-A044-8FAB-3D412062E7E0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5286375"/>
            <a:ext cx="811213" cy="333375"/>
            <a:chOff x="952" y="2592"/>
            <a:chExt cx="511" cy="210"/>
          </a:xfrm>
        </p:grpSpPr>
        <p:sp>
          <p:nvSpPr>
            <p:cNvPr id="36909" name="Rectangle 51">
              <a:extLst>
                <a:ext uri="{FF2B5EF4-FFF2-40B4-BE49-F238E27FC236}">
                  <a16:creationId xmlns:a16="http://schemas.microsoft.com/office/drawing/2014/main" id="{8BCA5D65-BF43-224D-AD82-77726C844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259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10" name="Rectangle 52">
              <a:extLst>
                <a:ext uri="{FF2B5EF4-FFF2-40B4-BE49-F238E27FC236}">
                  <a16:creationId xmlns:a16="http://schemas.microsoft.com/office/drawing/2014/main" id="{BB5E0032-B381-D94F-AFE4-0A27912AB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59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5" name="Group 53">
            <a:extLst>
              <a:ext uri="{FF2B5EF4-FFF2-40B4-BE49-F238E27FC236}">
                <a16:creationId xmlns:a16="http://schemas.microsoft.com/office/drawing/2014/main" id="{9D515E90-8BE6-C244-8EE4-AE180989C444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4905375"/>
            <a:ext cx="811213" cy="333375"/>
            <a:chOff x="3400" y="2352"/>
            <a:chExt cx="511" cy="210"/>
          </a:xfrm>
        </p:grpSpPr>
        <p:sp>
          <p:nvSpPr>
            <p:cNvPr id="36907" name="Rectangle 54">
              <a:extLst>
                <a:ext uri="{FF2B5EF4-FFF2-40B4-BE49-F238E27FC236}">
                  <a16:creationId xmlns:a16="http://schemas.microsoft.com/office/drawing/2014/main" id="{0CCD4A00-4091-D84F-96D8-F111B098E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235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08" name="Rectangle 55">
              <a:extLst>
                <a:ext uri="{FF2B5EF4-FFF2-40B4-BE49-F238E27FC236}">
                  <a16:creationId xmlns:a16="http://schemas.microsoft.com/office/drawing/2014/main" id="{6ED4DEAC-51A8-AF45-A1CA-DCB21CE4E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235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6" name="Group 56">
            <a:extLst>
              <a:ext uri="{FF2B5EF4-FFF2-40B4-BE49-F238E27FC236}">
                <a16:creationId xmlns:a16="http://schemas.microsoft.com/office/drawing/2014/main" id="{C6081A91-21AC-534E-A902-F637F474DB7A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5286375"/>
            <a:ext cx="811213" cy="333375"/>
            <a:chOff x="3400" y="2592"/>
            <a:chExt cx="511" cy="210"/>
          </a:xfrm>
        </p:grpSpPr>
        <p:sp>
          <p:nvSpPr>
            <p:cNvPr id="36905" name="Rectangle 57">
              <a:extLst>
                <a:ext uri="{FF2B5EF4-FFF2-40B4-BE49-F238E27FC236}">
                  <a16:creationId xmlns:a16="http://schemas.microsoft.com/office/drawing/2014/main" id="{65AACF15-B872-FC43-9011-40AF2B5B9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259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06" name="Rectangle 58">
              <a:extLst>
                <a:ext uri="{FF2B5EF4-FFF2-40B4-BE49-F238E27FC236}">
                  <a16:creationId xmlns:a16="http://schemas.microsoft.com/office/drawing/2014/main" id="{08577856-6E9C-2846-94D6-E0CD18399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259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7" name="Group 59">
            <a:extLst>
              <a:ext uri="{FF2B5EF4-FFF2-40B4-BE49-F238E27FC236}">
                <a16:creationId xmlns:a16="http://schemas.microsoft.com/office/drawing/2014/main" id="{70F3E407-81C6-7347-A56A-2B8A534317BF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5286375"/>
            <a:ext cx="811213" cy="333375"/>
            <a:chOff x="2776" y="2592"/>
            <a:chExt cx="511" cy="210"/>
          </a:xfrm>
        </p:grpSpPr>
        <p:sp>
          <p:nvSpPr>
            <p:cNvPr id="36903" name="Rectangle 60">
              <a:extLst>
                <a:ext uri="{FF2B5EF4-FFF2-40B4-BE49-F238E27FC236}">
                  <a16:creationId xmlns:a16="http://schemas.microsoft.com/office/drawing/2014/main" id="{E250E47E-135B-4741-B7AF-16883123E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59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04" name="Rectangle 61">
              <a:extLst>
                <a:ext uri="{FF2B5EF4-FFF2-40B4-BE49-F238E27FC236}">
                  <a16:creationId xmlns:a16="http://schemas.microsoft.com/office/drawing/2014/main" id="{83D7F62A-583B-3B41-BF3C-887D99CA6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259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8" name="Group 65">
            <a:extLst>
              <a:ext uri="{FF2B5EF4-FFF2-40B4-BE49-F238E27FC236}">
                <a16:creationId xmlns:a16="http://schemas.microsoft.com/office/drawing/2014/main" id="{1D2FD140-6BED-0F4B-9D39-0AA4CA07E771}"/>
              </a:ext>
            </a:extLst>
          </p:cNvPr>
          <p:cNvGrpSpPr>
            <a:grpSpLocks/>
          </p:cNvGrpSpPr>
          <p:nvPr/>
        </p:nvGrpSpPr>
        <p:grpSpPr bwMode="auto">
          <a:xfrm>
            <a:off x="2273300" y="5286375"/>
            <a:ext cx="811213" cy="333375"/>
            <a:chOff x="1528" y="2592"/>
            <a:chExt cx="511" cy="210"/>
          </a:xfrm>
        </p:grpSpPr>
        <p:sp>
          <p:nvSpPr>
            <p:cNvPr id="36901" name="Rectangle 66">
              <a:extLst>
                <a:ext uri="{FF2B5EF4-FFF2-40B4-BE49-F238E27FC236}">
                  <a16:creationId xmlns:a16="http://schemas.microsoft.com/office/drawing/2014/main" id="{E7552A4D-C9DC-FA44-A25F-B1A236DD1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59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02" name="Rectangle 67">
              <a:extLst>
                <a:ext uri="{FF2B5EF4-FFF2-40B4-BE49-F238E27FC236}">
                  <a16:creationId xmlns:a16="http://schemas.microsoft.com/office/drawing/2014/main" id="{906EF8E1-5F84-B047-B7AA-F3A3DD67D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259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89" name="Group 68">
            <a:extLst>
              <a:ext uri="{FF2B5EF4-FFF2-40B4-BE49-F238E27FC236}">
                <a16:creationId xmlns:a16="http://schemas.microsoft.com/office/drawing/2014/main" id="{C80BAD74-D498-6D4C-A3C8-42B63D064229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4905375"/>
            <a:ext cx="811213" cy="333375"/>
            <a:chOff x="2776" y="2352"/>
            <a:chExt cx="511" cy="210"/>
          </a:xfrm>
        </p:grpSpPr>
        <p:sp>
          <p:nvSpPr>
            <p:cNvPr id="36899" name="Rectangle 69">
              <a:extLst>
                <a:ext uri="{FF2B5EF4-FFF2-40B4-BE49-F238E27FC236}">
                  <a16:creationId xmlns:a16="http://schemas.microsoft.com/office/drawing/2014/main" id="{02749F78-1415-E945-89C5-7E1857301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35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900" name="Rectangle 70">
              <a:extLst>
                <a:ext uri="{FF2B5EF4-FFF2-40B4-BE49-F238E27FC236}">
                  <a16:creationId xmlns:a16="http://schemas.microsoft.com/office/drawing/2014/main" id="{E20D5C35-596F-BB40-9F05-4304D0832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235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grpSp>
        <p:nvGrpSpPr>
          <p:cNvPr id="36890" name="Group 74">
            <a:extLst>
              <a:ext uri="{FF2B5EF4-FFF2-40B4-BE49-F238E27FC236}">
                <a16:creationId xmlns:a16="http://schemas.microsoft.com/office/drawing/2014/main" id="{2710D003-DDF1-2641-BCE4-0EF363B6848D}"/>
              </a:ext>
            </a:extLst>
          </p:cNvPr>
          <p:cNvGrpSpPr>
            <a:grpSpLocks/>
          </p:cNvGrpSpPr>
          <p:nvPr/>
        </p:nvGrpSpPr>
        <p:grpSpPr bwMode="auto">
          <a:xfrm>
            <a:off x="2273300" y="4905375"/>
            <a:ext cx="811213" cy="333375"/>
            <a:chOff x="1528" y="2352"/>
            <a:chExt cx="511" cy="210"/>
          </a:xfrm>
        </p:grpSpPr>
        <p:sp>
          <p:nvSpPr>
            <p:cNvPr id="36897" name="Rectangle 75">
              <a:extLst>
                <a:ext uri="{FF2B5EF4-FFF2-40B4-BE49-F238E27FC236}">
                  <a16:creationId xmlns:a16="http://schemas.microsoft.com/office/drawing/2014/main" id="{A4D55FFD-38AD-5244-AF5F-F1C0084E2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356"/>
              <a:ext cx="47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36898" name="Rectangle 76">
              <a:extLst>
                <a:ext uri="{FF2B5EF4-FFF2-40B4-BE49-F238E27FC236}">
                  <a16:creationId xmlns:a16="http://schemas.microsoft.com/office/drawing/2014/main" id="{C59E2C7E-3DAD-EB41-8571-C0B9BB2C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2352"/>
              <a:ext cx="51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DRAM</a:t>
              </a:r>
            </a:p>
          </p:txBody>
        </p:sp>
      </p:grpSp>
      <p:sp>
        <p:nvSpPr>
          <p:cNvPr id="36891" name="Rectangle 78">
            <a:extLst>
              <a:ext uri="{FF2B5EF4-FFF2-40B4-BE49-F238E27FC236}">
                <a16:creationId xmlns:a16="http://schemas.microsoft.com/office/drawing/2014/main" id="{4DA0E4DD-AD9B-5E44-BFD1-5F9E9B1752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6938" y="142875"/>
            <a:ext cx="6740525" cy="477838"/>
          </a:xfrm>
          <a:noFill/>
        </p:spPr>
        <p:txBody>
          <a:bodyPr wrap="none"/>
          <a:lstStyle/>
          <a:p>
            <a:pPr eaLnBrk="1" hangingPunct="1"/>
            <a:r>
              <a:rPr lang="zh-CN" altLang="en-US" sz="3200"/>
              <a:t>举例：</a:t>
            </a:r>
            <a:r>
              <a:rPr lang="en-US" altLang="zh-CN" sz="3200"/>
              <a:t>SPARCstation 20’s Memory Module</a:t>
            </a:r>
          </a:p>
        </p:txBody>
      </p:sp>
      <p:sp>
        <p:nvSpPr>
          <p:cNvPr id="36892" name="Text Box 79">
            <a:extLst>
              <a:ext uri="{FF2B5EF4-FFF2-40B4-BE49-F238E27FC236}">
                <a16:creationId xmlns:a16="http://schemas.microsoft.com/office/drawing/2014/main" id="{54BD77D2-687D-4144-ACAF-AF143CED3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4789488"/>
            <a:ext cx="202247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内存条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最多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能同时读出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128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位数据</a:t>
            </a:r>
          </a:p>
        </p:txBody>
      </p:sp>
      <p:sp>
        <p:nvSpPr>
          <p:cNvPr id="36893" name="Text Box 80">
            <a:extLst>
              <a:ext uri="{FF2B5EF4-FFF2-40B4-BE49-F238E27FC236}">
                <a16:creationId xmlns:a16="http://schemas.microsoft.com/office/drawing/2014/main" id="{26549B20-1A1C-B84E-8E97-43E1BEA9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3438525"/>
            <a:ext cx="21447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存储器总线的总线宽度为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128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</a:t>
            </a:r>
          </a:p>
        </p:txBody>
      </p:sp>
      <p:sp>
        <p:nvSpPr>
          <p:cNvPr id="36894" name="Text Box 81">
            <a:extLst>
              <a:ext uri="{FF2B5EF4-FFF2-40B4-BE49-F238E27FC236}">
                <a16:creationId xmlns:a16="http://schemas.microsoft.com/office/drawing/2014/main" id="{078FB82F-29B6-4744-89FE-DC6DB6321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6084888"/>
            <a:ext cx="561657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0000FF"/>
                </a:solidFill>
                <a:ea typeface="微软雅黑" panose="020B0503020204020204" pitchFamily="34" charset="-122"/>
              </a:rPr>
              <a:t>每次访存操作总是在某一个内存条内进行！</a:t>
            </a:r>
          </a:p>
        </p:txBody>
      </p:sp>
      <p:sp>
        <p:nvSpPr>
          <p:cNvPr id="36895" name="Line 72">
            <a:extLst>
              <a:ext uri="{FF2B5EF4-FFF2-40B4-BE49-F238E27FC236}">
                <a16:creationId xmlns:a16="http://schemas.microsoft.com/office/drawing/2014/main" id="{1C9BB5D4-69B7-784B-8C30-C771B1BA5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5273675"/>
            <a:ext cx="765175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6896" name="Text Box 73">
            <a:extLst>
              <a:ext uri="{FF2B5EF4-FFF2-40B4-BE49-F238E27FC236}">
                <a16:creationId xmlns:a16="http://schemas.microsoft.com/office/drawing/2014/main" id="{6B5C82DB-803F-FA4C-AAB4-FD24CA983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1146175"/>
            <a:ext cx="2901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总线宽度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是指总线中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数据线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的条数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D9EF2E0-3044-5C4C-96FC-8894EFD208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en-US" altLang="zh-CN"/>
              <a:t>PC</a:t>
            </a:r>
            <a:r>
              <a:rPr lang="zh-CN" altLang="en-US"/>
              <a:t>机主存储器的物理结构</a:t>
            </a:r>
          </a:p>
        </p:txBody>
      </p:sp>
      <p:sp>
        <p:nvSpPr>
          <p:cNvPr id="562179" name="Rectangle 3">
            <a:extLst>
              <a:ext uri="{FF2B5EF4-FFF2-40B4-BE49-F238E27FC236}">
                <a16:creationId xmlns:a16="http://schemas.microsoft.com/office/drawing/2014/main" id="{A876DD5C-4245-3C4D-80A5-F6DF9CA0E1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5888" y="1177925"/>
            <a:ext cx="8189912" cy="1765300"/>
          </a:xfrm>
        </p:spPr>
        <p:txBody>
          <a:bodyPr lIns="91440" tIns="45720" rIns="91440" bIns="45720"/>
          <a:lstStyle/>
          <a:p>
            <a:pPr marL="268288" indent="-268288" algn="just" defTabSz="71755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由若干内存条组成</a:t>
            </a:r>
          </a:p>
          <a:p>
            <a:pPr marL="268288" indent="-268288" algn="just" defTabSz="71755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内存条的组成：</a:t>
            </a:r>
          </a:p>
          <a:p>
            <a:pPr marL="582613" lvl="1" indent="-223838" algn="just" defTabSz="717550" eaLnBrk="1" hangingPunct="1"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把若干片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芯片焊装在一小条印制电路板上制成</a:t>
            </a:r>
          </a:p>
          <a:p>
            <a:pPr marL="268288" indent="-268288" algn="just" defTabSz="717550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内存条必须插在主板上的内存条插槽中才能使用</a:t>
            </a:r>
          </a:p>
        </p:txBody>
      </p:sp>
      <p:sp>
        <p:nvSpPr>
          <p:cNvPr id="562180" name="Rectangle 4">
            <a:extLst>
              <a:ext uri="{FF2B5EF4-FFF2-40B4-BE49-F238E27FC236}">
                <a16:creationId xmlns:a16="http://schemas.microsoft.com/office/drawing/2014/main" id="{4859289D-6734-3E49-9105-C8C1CBCFF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4973638"/>
            <a:ext cx="7789862" cy="1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8" tIns="44483" rIns="88958" bIns="44483"/>
          <a:lstStyle>
            <a:lvl1pPr marL="268288" indent="-268288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82613" indent="-223838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175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175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5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2200" b="1">
                <a:ea typeface="黑体" panose="02010609060101010101" pitchFamily="49" charset="-122"/>
              </a:rPr>
              <a:t>  </a:t>
            </a:r>
            <a:r>
              <a:rPr kumimoji="1"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目前流行的是</a:t>
            </a:r>
            <a:r>
              <a:rPr kumimoji="1"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DDR2</a:t>
            </a:r>
            <a:r>
              <a:rPr kumimoji="1"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DDR3</a:t>
            </a:r>
            <a:r>
              <a:rPr kumimoji="1"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内存条：</a:t>
            </a:r>
          </a:p>
          <a:p>
            <a:pPr lvl="1" algn="just" eaLnBrk="1" hangingPunct="1">
              <a:lnSpc>
                <a:spcPct val="105000"/>
              </a:lnSpc>
              <a:spcBef>
                <a:spcPct val="5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采用双列直插式，其触点分布在内存条的两面</a:t>
            </a:r>
          </a:p>
          <a:p>
            <a:pPr lvl="1" algn="just" eaLnBrk="1" hangingPunct="1">
              <a:lnSpc>
                <a:spcPct val="105000"/>
              </a:lnSpc>
              <a:spcBef>
                <a:spcPct val="5000"/>
              </a:spcBef>
              <a:buFontTx/>
              <a:buChar char="–"/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条有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184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个引脚，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DDR2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个引脚</a:t>
            </a:r>
          </a:p>
          <a:p>
            <a:pPr lvl="1" algn="just" eaLnBrk="1" hangingPunct="1">
              <a:lnSpc>
                <a:spcPct val="105000"/>
              </a:lnSpc>
              <a:spcBef>
                <a:spcPct val="5000"/>
              </a:spcBef>
              <a:buFontTx/>
              <a:buChar char="–"/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机主板中一般都配备有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个或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DIMM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插槽 </a:t>
            </a:r>
          </a:p>
        </p:txBody>
      </p:sp>
      <p:pic>
        <p:nvPicPr>
          <p:cNvPr id="562181" name="Picture 5" descr="http://news.mydrivers.com/pages/images/20040311155720_14678.jpg">
            <a:extLst>
              <a:ext uri="{FF2B5EF4-FFF2-40B4-BE49-F238E27FC236}">
                <a16:creationId xmlns:a16="http://schemas.microsoft.com/office/drawing/2014/main" id="{A15ECC02-4379-B04E-B79A-C17ABA391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908050"/>
            <a:ext cx="558165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182" name="Picture 6" descr="2v623rmqs16m">
            <a:extLst>
              <a:ext uri="{FF2B5EF4-FFF2-40B4-BE49-F238E27FC236}">
                <a16:creationId xmlns:a16="http://schemas.microsoft.com/office/drawing/2014/main" id="{85DC1A99-1D02-3742-9599-17CF90181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9" b="23047"/>
          <a:stretch>
            <a:fillRect/>
          </a:stretch>
        </p:blipFill>
        <p:spPr bwMode="auto">
          <a:xfrm>
            <a:off x="1601788" y="3097213"/>
            <a:ext cx="6256337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2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2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2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6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62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2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62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82F9802A-69B8-9B46-BFBC-487F061297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60338"/>
            <a:ext cx="7315200" cy="474662"/>
          </a:xfrm>
          <a:noFill/>
        </p:spPr>
        <p:txBody>
          <a:bodyPr wrap="none"/>
          <a:lstStyle/>
          <a:p>
            <a:pPr eaLnBrk="1" hangingPunct="1"/>
            <a:r>
              <a:rPr lang="zh-CN" altLang="en-US" sz="3200"/>
              <a:t>举例：</a:t>
            </a:r>
            <a:r>
              <a:rPr lang="en-US" altLang="zh-CN" sz="3200"/>
              <a:t>SPARCstation 20’s</a:t>
            </a:r>
            <a:r>
              <a:rPr lang="zh-CN" altLang="en-US" sz="3200"/>
              <a:t>内存条</a:t>
            </a:r>
            <a:r>
              <a:rPr lang="en-US" altLang="zh-CN" sz="3200"/>
              <a:t>(</a:t>
            </a:r>
            <a:r>
              <a:rPr lang="zh-CN" altLang="en-US" sz="3200"/>
              <a:t>模块</a:t>
            </a:r>
            <a:r>
              <a:rPr lang="en-US" altLang="zh-CN" sz="3200"/>
              <a:t>)</a:t>
            </a: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23C259FE-80D2-D146-87B3-2DF27A9EE3F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7163" y="709613"/>
            <a:ext cx="8775700" cy="90487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one memory module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（内存条）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Smallest: 4 MB = 16x 2Mb DRAM chips, 8 KB of  Page SRAM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Biggest: 64 MB = 32x 16Mb chips, 16 KB of Page  SRAM</a:t>
            </a:r>
          </a:p>
        </p:txBody>
      </p:sp>
      <p:sp>
        <p:nvSpPr>
          <p:cNvPr id="39940" name="Text Box 63">
            <a:extLst>
              <a:ext uri="{FF2B5EF4-FFF2-40B4-BE49-F238E27FC236}">
                <a16:creationId xmlns:a16="http://schemas.microsoft.com/office/drawing/2014/main" id="{2BBECBFF-1E31-8F41-98CA-0064356EC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72088"/>
            <a:ext cx="827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41" name="Rectangle 6">
            <a:extLst>
              <a:ext uri="{FF2B5EF4-FFF2-40B4-BE49-F238E27FC236}">
                <a16:creationId xmlns:a16="http://schemas.microsoft.com/office/drawing/2014/main" id="{0A38003E-2B96-B34B-AE68-28E727A5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3289300"/>
            <a:ext cx="1651000" cy="1651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42" name="Line 7">
            <a:extLst>
              <a:ext uri="{FF2B5EF4-FFF2-40B4-BE49-F238E27FC236}">
                <a16:creationId xmlns:a16="http://schemas.microsoft.com/office/drawing/2014/main" id="{27DF371B-6428-0044-9618-C1F5137AA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32766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3" name="Line 8">
            <a:extLst>
              <a:ext uri="{FF2B5EF4-FFF2-40B4-BE49-F238E27FC236}">
                <a16:creationId xmlns:a16="http://schemas.microsoft.com/office/drawing/2014/main" id="{611E8092-D325-DA49-A0B1-D3D5D5EB4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4953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4" name="Line 9">
            <a:extLst>
              <a:ext uri="{FF2B5EF4-FFF2-40B4-BE49-F238E27FC236}">
                <a16:creationId xmlns:a16="http://schemas.microsoft.com/office/drawing/2014/main" id="{1D219B63-B5BD-5644-9A4E-0ECB79B76B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4559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5" name="Line 10">
            <a:extLst>
              <a:ext uri="{FF2B5EF4-FFF2-40B4-BE49-F238E27FC236}">
                <a16:creationId xmlns:a16="http://schemas.microsoft.com/office/drawing/2014/main" id="{472D9AD5-338F-1442-85DC-275B937A7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289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6" name="Rectangle 11">
            <a:extLst>
              <a:ext uri="{FF2B5EF4-FFF2-40B4-BE49-F238E27FC236}">
                <a16:creationId xmlns:a16="http://schemas.microsoft.com/office/drawing/2014/main" id="{C27CB261-4D2C-3A46-A686-72C830AE50C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840581" y="3912394"/>
            <a:ext cx="11588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512 </a:t>
            </a:r>
            <a:r>
              <a:rPr lang="en-US" altLang="zh-CN" sz="1800" b="1">
                <a:ea typeface="宋体" panose="02010600030101010101" pitchFamily="2" charset="-122"/>
              </a:rPr>
              <a:t>rows</a:t>
            </a:r>
          </a:p>
        </p:txBody>
      </p:sp>
      <p:sp>
        <p:nvSpPr>
          <p:cNvPr id="39947" name="Line 12">
            <a:extLst>
              <a:ext uri="{FF2B5EF4-FFF2-40B4-BE49-F238E27FC236}">
                <a16:creationId xmlns:a16="http://schemas.microsoft.com/office/drawing/2014/main" id="{E8DA46E8-BC43-6645-88F2-B4845507F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1250" y="26098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8" name="Line 13">
            <a:extLst>
              <a:ext uri="{FF2B5EF4-FFF2-40B4-BE49-F238E27FC236}">
                <a16:creationId xmlns:a16="http://schemas.microsoft.com/office/drawing/2014/main" id="{CB82FCAB-F307-C143-A5BC-B7CBD7734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26098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9" name="Line 14">
            <a:extLst>
              <a:ext uri="{FF2B5EF4-FFF2-40B4-BE49-F238E27FC236}">
                <a16:creationId xmlns:a16="http://schemas.microsoft.com/office/drawing/2014/main" id="{747B32DA-31DA-974A-8A56-C357EC982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3750" y="27495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0" name="Line 15">
            <a:extLst>
              <a:ext uri="{FF2B5EF4-FFF2-40B4-BE49-F238E27FC236}">
                <a16:creationId xmlns:a16="http://schemas.microsoft.com/office/drawing/2014/main" id="{AFD9E266-A1F0-1740-AFD0-0891D67F0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7550" y="274955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1" name="Rectangle 16">
            <a:extLst>
              <a:ext uri="{FF2B5EF4-FFF2-40B4-BE49-F238E27FC236}">
                <a16:creationId xmlns:a16="http://schemas.microsoft.com/office/drawing/2014/main" id="{93F33EED-80A9-484B-81A8-C25AA270F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2540000"/>
            <a:ext cx="10826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512 </a:t>
            </a:r>
            <a:r>
              <a:rPr lang="en-US" altLang="zh-CN" sz="1800" b="1">
                <a:ea typeface="宋体" panose="02010600030101010101" pitchFamily="2" charset="-122"/>
              </a:rPr>
              <a:t>cols</a:t>
            </a:r>
          </a:p>
        </p:txBody>
      </p:sp>
      <p:sp>
        <p:nvSpPr>
          <p:cNvPr id="39952" name="Line 17">
            <a:extLst>
              <a:ext uri="{FF2B5EF4-FFF2-40B4-BE49-F238E27FC236}">
                <a16:creationId xmlns:a16="http://schemas.microsoft.com/office/drawing/2014/main" id="{3039F12B-8587-1845-9CBA-0A9C44E84D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9100" y="2968625"/>
            <a:ext cx="312738" cy="320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3" name="Line 18">
            <a:extLst>
              <a:ext uri="{FF2B5EF4-FFF2-40B4-BE49-F238E27FC236}">
                <a16:creationId xmlns:a16="http://schemas.microsoft.com/office/drawing/2014/main" id="{B2B275AD-CF8B-4F4C-BA5C-9203E88B2F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2978150"/>
            <a:ext cx="327025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19">
            <a:extLst>
              <a:ext uri="{FF2B5EF4-FFF2-40B4-BE49-F238E27FC236}">
                <a16:creationId xmlns:a16="http://schemas.microsoft.com/office/drawing/2014/main" id="{BAEB7B35-D9CA-5845-B7EB-C80325562E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4619625"/>
            <a:ext cx="322263" cy="325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5" name="Line 20">
            <a:extLst>
              <a:ext uri="{FF2B5EF4-FFF2-40B4-BE49-F238E27FC236}">
                <a16:creationId xmlns:a16="http://schemas.microsoft.com/office/drawing/2014/main" id="{7BDA2FEE-55ED-5843-8B85-C8F66AB60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2971800"/>
            <a:ext cx="1665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6" name="Line 21">
            <a:extLst>
              <a:ext uri="{FF2B5EF4-FFF2-40B4-BE49-F238E27FC236}">
                <a16:creationId xmlns:a16="http://schemas.microsoft.com/office/drawing/2014/main" id="{D6176F16-C35D-4B4D-9464-3EE10B4782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965450"/>
            <a:ext cx="0" cy="167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7" name="Rectangle 22">
            <a:extLst>
              <a:ext uri="{FF2B5EF4-FFF2-40B4-BE49-F238E27FC236}">
                <a16:creationId xmlns:a16="http://schemas.microsoft.com/office/drawing/2014/main" id="{AF0F4943-B036-1640-8124-62168487A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3294063"/>
            <a:ext cx="17557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ea typeface="宋体" panose="02010600030101010101" pitchFamily="2" charset="-122"/>
              </a:rPr>
              <a:t>DRAM Chip 15</a:t>
            </a:r>
          </a:p>
        </p:txBody>
      </p:sp>
      <p:sp>
        <p:nvSpPr>
          <p:cNvPr id="39958" name="Rectangle 23">
            <a:extLst>
              <a:ext uri="{FF2B5EF4-FFF2-40B4-BE49-F238E27FC236}">
                <a16:creationId xmlns:a16="http://schemas.microsoft.com/office/drawing/2014/main" id="{60DB246A-7707-6C40-923C-9A1A555CC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5118100"/>
            <a:ext cx="1651000" cy="2794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59" name="Line 24">
            <a:extLst>
              <a:ext uri="{FF2B5EF4-FFF2-40B4-BE49-F238E27FC236}">
                <a16:creationId xmlns:a16="http://schemas.microsoft.com/office/drawing/2014/main" id="{D0201E04-6D7B-2D42-B421-BFD37F863F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4802188"/>
            <a:ext cx="322263" cy="32543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0" name="Line 25">
            <a:extLst>
              <a:ext uri="{FF2B5EF4-FFF2-40B4-BE49-F238E27FC236}">
                <a16:creationId xmlns:a16="http://schemas.microsoft.com/office/drawing/2014/main" id="{9EABDA1A-BE44-5E4F-9BC9-B3373D2CD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813300"/>
            <a:ext cx="0" cy="279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1" name="Line 26">
            <a:extLst>
              <a:ext uri="{FF2B5EF4-FFF2-40B4-BE49-F238E27FC236}">
                <a16:creationId xmlns:a16="http://schemas.microsoft.com/office/drawing/2014/main" id="{91A959F7-31D8-CB4A-872B-5ABE0CEE10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5083175"/>
            <a:ext cx="322263" cy="31591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2" name="Line 27">
            <a:extLst>
              <a:ext uri="{FF2B5EF4-FFF2-40B4-BE49-F238E27FC236}">
                <a16:creationId xmlns:a16="http://schemas.microsoft.com/office/drawing/2014/main" id="{30469CA9-CAEC-3A46-A6F4-BB791EA16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22900"/>
            <a:ext cx="0" cy="396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3" name="Rectangle 28">
            <a:extLst>
              <a:ext uri="{FF2B5EF4-FFF2-40B4-BE49-F238E27FC236}">
                <a16:creationId xmlns:a16="http://schemas.microsoft.com/office/drawing/2014/main" id="{1EF54B4E-C6ED-A145-9326-FD115128C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408613"/>
            <a:ext cx="167481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bits&lt;127:120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39964" name="Line 29">
            <a:extLst>
              <a:ext uri="{FF2B5EF4-FFF2-40B4-BE49-F238E27FC236}">
                <a16:creationId xmlns:a16="http://schemas.microsoft.com/office/drawing/2014/main" id="{4870CABF-D3B4-6F4D-B135-C0BAE790E3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9188" y="4545013"/>
            <a:ext cx="39370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5" name="Rectangle 30">
            <a:extLst>
              <a:ext uri="{FF2B5EF4-FFF2-40B4-BE49-F238E27FC236}">
                <a16:creationId xmlns:a16="http://schemas.microsoft.com/office/drawing/2014/main" id="{98064FF7-52C4-8A4A-A694-E5F01F074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4368800"/>
            <a:ext cx="7778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8 </a:t>
            </a:r>
            <a:r>
              <a:rPr lang="en-US" altLang="zh-CN" sz="1800" b="1">
                <a:ea typeface="宋体" panose="02010600030101010101" pitchFamily="2" charset="-122"/>
              </a:rPr>
              <a:t>bits</a:t>
            </a:r>
          </a:p>
        </p:txBody>
      </p:sp>
      <p:sp>
        <p:nvSpPr>
          <p:cNvPr id="39966" name="Line 31">
            <a:extLst>
              <a:ext uri="{FF2B5EF4-FFF2-40B4-BE49-F238E27FC236}">
                <a16:creationId xmlns:a16="http://schemas.microsoft.com/office/drawing/2014/main" id="{AD9635AE-4BB8-A642-B720-851D3353FD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9100" y="4940300"/>
            <a:ext cx="127000" cy="177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7" name="Line 32">
            <a:extLst>
              <a:ext uri="{FF2B5EF4-FFF2-40B4-BE49-F238E27FC236}">
                <a16:creationId xmlns:a16="http://schemas.microsoft.com/office/drawing/2014/main" id="{2C81C032-3B05-B545-B260-133D8685F1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8213" y="4800600"/>
            <a:ext cx="192087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8" name="Rectangle 33">
            <a:extLst>
              <a:ext uri="{FF2B5EF4-FFF2-40B4-BE49-F238E27FC236}">
                <a16:creationId xmlns:a16="http://schemas.microsoft.com/office/drawing/2014/main" id="{B26AB788-B433-054A-84B3-DF8F365CE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5094288"/>
            <a:ext cx="171926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512×</a:t>
            </a:r>
            <a:r>
              <a:rPr lang="en-US" altLang="zh-CN" sz="1800" b="1">
                <a:ea typeface="宋体" panose="02010600030101010101" pitchFamily="2" charset="-122"/>
              </a:rPr>
              <a:t>8  SRAM</a:t>
            </a:r>
          </a:p>
        </p:txBody>
      </p:sp>
      <p:sp>
        <p:nvSpPr>
          <p:cNvPr id="39969" name="Line 34">
            <a:extLst>
              <a:ext uri="{FF2B5EF4-FFF2-40B4-BE49-F238E27FC236}">
                <a16:creationId xmlns:a16="http://schemas.microsoft.com/office/drawing/2014/main" id="{C5082718-5FDF-6845-98E7-64435B33BB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5245100"/>
            <a:ext cx="34290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0" name="Rectangle 35">
            <a:extLst>
              <a:ext uri="{FF2B5EF4-FFF2-40B4-BE49-F238E27FC236}">
                <a16:creationId xmlns:a16="http://schemas.microsoft.com/office/drawing/2014/main" id="{BFEA0039-2B0B-4F44-BDCD-7AC877976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3962400"/>
            <a:ext cx="11080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 b="1">
                <a:ea typeface="宋体" panose="02010600030101010101" pitchFamily="2" charset="-122"/>
              </a:rPr>
              <a:t>256</a:t>
            </a:r>
            <a:r>
              <a:rPr lang="en-US" altLang="zh-CN" sz="1800" b="1">
                <a:ea typeface="宋体" panose="02010600030101010101" pitchFamily="2" charset="-122"/>
              </a:rPr>
              <a:t>K x 8</a:t>
            </a:r>
          </a:p>
          <a:p>
            <a:pPr algn="ctr"/>
            <a:r>
              <a:rPr lang="en-US" altLang="zh-CN" sz="1800" b="1">
                <a:ea typeface="宋体" panose="02010600030101010101" pitchFamily="2" charset="-122"/>
              </a:rPr>
              <a:t>= 2 Mb</a:t>
            </a:r>
          </a:p>
        </p:txBody>
      </p:sp>
      <p:sp>
        <p:nvSpPr>
          <p:cNvPr id="39971" name="Rectangle 36">
            <a:extLst>
              <a:ext uri="{FF2B5EF4-FFF2-40B4-BE49-F238E27FC236}">
                <a16:creationId xmlns:a16="http://schemas.microsoft.com/office/drawing/2014/main" id="{83A0AF0E-B9FE-854D-96FD-5D216A1F2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2222500"/>
            <a:ext cx="1651000" cy="1651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72" name="Line 37">
            <a:extLst>
              <a:ext uri="{FF2B5EF4-FFF2-40B4-BE49-F238E27FC236}">
                <a16:creationId xmlns:a16="http://schemas.microsoft.com/office/drawing/2014/main" id="{4F9282D5-6114-5A42-90AE-7979B9025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3900" y="1906588"/>
            <a:ext cx="312738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3" name="Line 38">
            <a:extLst>
              <a:ext uri="{FF2B5EF4-FFF2-40B4-BE49-F238E27FC236}">
                <a16:creationId xmlns:a16="http://schemas.microsoft.com/office/drawing/2014/main" id="{182E01A7-F024-244A-A791-137CE75C33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6963" y="1906588"/>
            <a:ext cx="322262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4" name="Line 39">
            <a:extLst>
              <a:ext uri="{FF2B5EF4-FFF2-40B4-BE49-F238E27FC236}">
                <a16:creationId xmlns:a16="http://schemas.microsoft.com/office/drawing/2014/main" id="{97EC8C68-3133-594E-8B61-9DF2798F60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6963" y="3559175"/>
            <a:ext cx="322262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5" name="Line 40">
            <a:extLst>
              <a:ext uri="{FF2B5EF4-FFF2-40B4-BE49-F238E27FC236}">
                <a16:creationId xmlns:a16="http://schemas.microsoft.com/office/drawing/2014/main" id="{DB77FACB-76F4-8E47-BE3B-89E9E6BA4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700" y="1905000"/>
            <a:ext cx="1674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6" name="Line 41">
            <a:extLst>
              <a:ext uri="{FF2B5EF4-FFF2-40B4-BE49-F238E27FC236}">
                <a16:creationId xmlns:a16="http://schemas.microsoft.com/office/drawing/2014/main" id="{052F0EC8-7C93-6442-95B8-D90E9BFD9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898650"/>
            <a:ext cx="0" cy="167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7" name="Rectangle 42">
            <a:extLst>
              <a:ext uri="{FF2B5EF4-FFF2-40B4-BE49-F238E27FC236}">
                <a16:creationId xmlns:a16="http://schemas.microsoft.com/office/drawing/2014/main" id="{9DA6FA0B-F58B-8545-850A-C30831E83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2209800"/>
            <a:ext cx="1616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ea typeface="宋体" panose="02010600030101010101" pitchFamily="2" charset="-122"/>
              </a:rPr>
              <a:t>DRAM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ea typeface="宋体" panose="02010600030101010101" pitchFamily="2" charset="-122"/>
              </a:rPr>
              <a:t>Chip 0</a:t>
            </a:r>
          </a:p>
        </p:txBody>
      </p:sp>
      <p:sp>
        <p:nvSpPr>
          <p:cNvPr id="39978" name="Rectangle 43">
            <a:extLst>
              <a:ext uri="{FF2B5EF4-FFF2-40B4-BE49-F238E27FC236}">
                <a16:creationId xmlns:a16="http://schemas.microsoft.com/office/drawing/2014/main" id="{A9647FC3-D3CE-9F4A-92C8-D7AB66A4B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4051300"/>
            <a:ext cx="1651000" cy="2794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79" name="Line 44">
            <a:extLst>
              <a:ext uri="{FF2B5EF4-FFF2-40B4-BE49-F238E27FC236}">
                <a16:creationId xmlns:a16="http://schemas.microsoft.com/office/drawing/2014/main" id="{F8F62744-7FA5-2A49-8C81-62832C2B55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1250" y="3749675"/>
            <a:ext cx="303213" cy="2968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0" name="Line 45">
            <a:extLst>
              <a:ext uri="{FF2B5EF4-FFF2-40B4-BE49-F238E27FC236}">
                <a16:creationId xmlns:a16="http://schemas.microsoft.com/office/drawing/2014/main" id="{334B7D4F-40BD-7D4C-BF48-D1C0D9510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746500"/>
            <a:ext cx="0" cy="279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1" name="Line 46">
            <a:extLst>
              <a:ext uri="{FF2B5EF4-FFF2-40B4-BE49-F238E27FC236}">
                <a16:creationId xmlns:a16="http://schemas.microsoft.com/office/drawing/2014/main" id="{3F861E94-131F-2E48-ACB8-3739EEC391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1725" y="4016375"/>
            <a:ext cx="327025" cy="3206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2" name="Line 47">
            <a:extLst>
              <a:ext uri="{FF2B5EF4-FFF2-40B4-BE49-F238E27FC236}">
                <a16:creationId xmlns:a16="http://schemas.microsoft.com/office/drawing/2014/main" id="{C247A258-2C58-D147-9BF6-219469ADC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3561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3" name="Rectangle 48">
            <a:extLst>
              <a:ext uri="{FF2B5EF4-FFF2-40B4-BE49-F238E27FC236}">
                <a16:creationId xmlns:a16="http://schemas.microsoft.com/office/drawing/2014/main" id="{3148F6C8-2C42-344E-825F-FA59D188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4419600"/>
            <a:ext cx="11668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bits&lt;7:0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39984" name="Line 49">
            <a:extLst>
              <a:ext uri="{FF2B5EF4-FFF2-40B4-BE49-F238E27FC236}">
                <a16:creationId xmlns:a16="http://schemas.microsoft.com/office/drawing/2014/main" id="{6AC18610-AAAC-E94F-9B03-FB175E3496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3900" y="3873500"/>
            <a:ext cx="127000" cy="177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5" name="Line 50">
            <a:extLst>
              <a:ext uri="{FF2B5EF4-FFF2-40B4-BE49-F238E27FC236}">
                <a16:creationId xmlns:a16="http://schemas.microsoft.com/office/drawing/2014/main" id="{BFF6E093-1746-2342-BBDF-A5D71F270E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07300" y="3733800"/>
            <a:ext cx="177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6" name="Rectangle 51">
            <a:extLst>
              <a:ext uri="{FF2B5EF4-FFF2-40B4-BE49-F238E27FC236}">
                <a16:creationId xmlns:a16="http://schemas.microsoft.com/office/drawing/2014/main" id="{A348870A-FDD3-2849-8960-5B9A73F3B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4010025"/>
            <a:ext cx="171926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512×</a:t>
            </a:r>
            <a:r>
              <a:rPr lang="en-US" altLang="zh-CN" sz="1800" b="1">
                <a:ea typeface="宋体" panose="02010600030101010101" pitchFamily="2" charset="-122"/>
              </a:rPr>
              <a:t>8  SRAM</a:t>
            </a:r>
          </a:p>
        </p:txBody>
      </p:sp>
      <p:sp>
        <p:nvSpPr>
          <p:cNvPr id="39987" name="Rectangle 52">
            <a:extLst>
              <a:ext uri="{FF2B5EF4-FFF2-40B4-BE49-F238E27FC236}">
                <a16:creationId xmlns:a16="http://schemas.microsoft.com/office/drawing/2014/main" id="{A76111AB-1A0D-D54C-9E05-6F2699C3E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2895600"/>
            <a:ext cx="11080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 b="1">
                <a:ea typeface="宋体" panose="02010600030101010101" pitchFamily="2" charset="-122"/>
              </a:rPr>
              <a:t>256</a:t>
            </a:r>
            <a:r>
              <a:rPr lang="en-US" altLang="zh-CN" sz="1800" b="1">
                <a:ea typeface="宋体" panose="02010600030101010101" pitchFamily="2" charset="-122"/>
              </a:rPr>
              <a:t>K x 8</a:t>
            </a:r>
          </a:p>
          <a:p>
            <a:pPr algn="ctr"/>
            <a:r>
              <a:rPr lang="en-US" altLang="zh-CN" sz="1800" b="1">
                <a:ea typeface="宋体" panose="02010600030101010101" pitchFamily="2" charset="-122"/>
              </a:rPr>
              <a:t>= 2 Mb</a:t>
            </a:r>
          </a:p>
        </p:txBody>
      </p:sp>
      <p:sp>
        <p:nvSpPr>
          <p:cNvPr id="39988" name="Oval 53">
            <a:extLst>
              <a:ext uri="{FF2B5EF4-FFF2-40B4-BE49-F238E27FC236}">
                <a16:creationId xmlns:a16="http://schemas.microsoft.com/office/drawing/2014/main" id="{354D7353-CF0B-1E40-B2BC-59E4F6906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3587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89" name="Oval 54">
            <a:extLst>
              <a:ext uri="{FF2B5EF4-FFF2-40B4-BE49-F238E27FC236}">
                <a16:creationId xmlns:a16="http://schemas.microsoft.com/office/drawing/2014/main" id="{DB789315-978F-EF4C-A4EF-9660ACDBF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3359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90" name="Oval 55">
            <a:extLst>
              <a:ext uri="{FF2B5EF4-FFF2-40B4-BE49-F238E27FC236}">
                <a16:creationId xmlns:a16="http://schemas.microsoft.com/office/drawing/2014/main" id="{29F19758-1DD5-6346-BD79-D55F27183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130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39991" name="Line 56">
            <a:extLst>
              <a:ext uri="{FF2B5EF4-FFF2-40B4-BE49-F238E27FC236}">
                <a16:creationId xmlns:a16="http://schemas.microsoft.com/office/drawing/2014/main" id="{64B3130E-83B9-154B-B0C9-5449D5CB91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0650" y="4540250"/>
            <a:ext cx="7029450" cy="16795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2" name="Rectangle 57">
            <a:extLst>
              <a:ext uri="{FF2B5EF4-FFF2-40B4-BE49-F238E27FC236}">
                <a16:creationId xmlns:a16="http://schemas.microsoft.com/office/drawing/2014/main" id="{E737EB43-1BA3-7F46-ADCC-44A864A37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5030788"/>
            <a:ext cx="23876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Memory Bus&lt;127:0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grpSp>
        <p:nvGrpSpPr>
          <p:cNvPr id="2" name="Group 58">
            <a:extLst>
              <a:ext uri="{FF2B5EF4-FFF2-40B4-BE49-F238E27FC236}">
                <a16:creationId xmlns:a16="http://schemas.microsoft.com/office/drawing/2014/main" id="{D78F5464-7D20-5646-85D0-B9A6CCCE3A1E}"/>
              </a:ext>
            </a:extLst>
          </p:cNvPr>
          <p:cNvGrpSpPr>
            <a:grpSpLocks/>
          </p:cNvGrpSpPr>
          <p:nvPr/>
        </p:nvGrpSpPr>
        <p:grpSpPr bwMode="auto">
          <a:xfrm>
            <a:off x="1503363" y="3249613"/>
            <a:ext cx="7640637" cy="2568575"/>
            <a:chOff x="876" y="1894"/>
            <a:chExt cx="5175" cy="1874"/>
          </a:xfrm>
        </p:grpSpPr>
        <p:sp>
          <p:nvSpPr>
            <p:cNvPr id="40004" name="Freeform 59">
              <a:extLst>
                <a:ext uri="{FF2B5EF4-FFF2-40B4-BE49-F238E27FC236}">
                  <a16:creationId xmlns:a16="http://schemas.microsoft.com/office/drawing/2014/main" id="{C7466EF6-B64E-9345-A479-629A1B7DD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2066"/>
              <a:ext cx="4343" cy="1702"/>
            </a:xfrm>
            <a:custGeom>
              <a:avLst/>
              <a:gdLst>
                <a:gd name="T0" fmla="*/ 596 w 4343"/>
                <a:gd name="T1" fmla="*/ 433 h 1784"/>
                <a:gd name="T2" fmla="*/ 495 w 4343"/>
                <a:gd name="T3" fmla="*/ 448 h 1784"/>
                <a:gd name="T4" fmla="*/ 404 w 4343"/>
                <a:gd name="T5" fmla="*/ 454 h 1784"/>
                <a:gd name="T6" fmla="*/ 358 w 4343"/>
                <a:gd name="T7" fmla="*/ 456 h 1784"/>
                <a:gd name="T8" fmla="*/ 157 w 4343"/>
                <a:gd name="T9" fmla="*/ 446 h 1784"/>
                <a:gd name="T10" fmla="*/ 102 w 4343"/>
                <a:gd name="T11" fmla="*/ 426 h 1784"/>
                <a:gd name="T12" fmla="*/ 84 w 4343"/>
                <a:gd name="T13" fmla="*/ 419 h 1784"/>
                <a:gd name="T14" fmla="*/ 29 w 4343"/>
                <a:gd name="T15" fmla="*/ 373 h 1784"/>
                <a:gd name="T16" fmla="*/ 11 w 4343"/>
                <a:gd name="T17" fmla="*/ 361 h 1784"/>
                <a:gd name="T18" fmla="*/ 57 w 4343"/>
                <a:gd name="T19" fmla="*/ 292 h 1784"/>
                <a:gd name="T20" fmla="*/ 93 w 4343"/>
                <a:gd name="T21" fmla="*/ 280 h 1784"/>
                <a:gd name="T22" fmla="*/ 194 w 4343"/>
                <a:gd name="T23" fmla="*/ 268 h 1784"/>
                <a:gd name="T24" fmla="*/ 3933 w 4343"/>
                <a:gd name="T25" fmla="*/ 10 h 1784"/>
                <a:gd name="T26" fmla="*/ 4061 w 4343"/>
                <a:gd name="T27" fmla="*/ 10 h 1784"/>
                <a:gd name="T28" fmla="*/ 4116 w 4343"/>
                <a:gd name="T29" fmla="*/ 10 h 1784"/>
                <a:gd name="T30" fmla="*/ 4143 w 4343"/>
                <a:gd name="T31" fmla="*/ 10 h 1784"/>
                <a:gd name="T32" fmla="*/ 4281 w 4343"/>
                <a:gd name="T33" fmla="*/ 53 h 1784"/>
                <a:gd name="T34" fmla="*/ 4308 w 4343"/>
                <a:gd name="T35" fmla="*/ 67 h 1784"/>
                <a:gd name="T36" fmla="*/ 4335 w 4343"/>
                <a:gd name="T37" fmla="*/ 96 h 1784"/>
                <a:gd name="T38" fmla="*/ 4253 w 4343"/>
                <a:gd name="T39" fmla="*/ 184 h 1784"/>
                <a:gd name="T40" fmla="*/ 441 w 4343"/>
                <a:gd name="T41" fmla="*/ 451 h 178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343"/>
                <a:gd name="T64" fmla="*/ 0 h 1784"/>
                <a:gd name="T65" fmla="*/ 4343 w 4343"/>
                <a:gd name="T66" fmla="*/ 1784 h 178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343" h="1784">
                  <a:moveTo>
                    <a:pt x="596" y="1692"/>
                  </a:moveTo>
                  <a:cubicBezTo>
                    <a:pt x="572" y="1708"/>
                    <a:pt x="526" y="1749"/>
                    <a:pt x="495" y="1756"/>
                  </a:cubicBezTo>
                  <a:cubicBezTo>
                    <a:pt x="465" y="1763"/>
                    <a:pt x="434" y="1768"/>
                    <a:pt x="404" y="1774"/>
                  </a:cubicBezTo>
                  <a:cubicBezTo>
                    <a:pt x="389" y="1777"/>
                    <a:pt x="358" y="1783"/>
                    <a:pt x="358" y="1783"/>
                  </a:cubicBezTo>
                  <a:cubicBezTo>
                    <a:pt x="251" y="1776"/>
                    <a:pt x="234" y="1784"/>
                    <a:pt x="157" y="1747"/>
                  </a:cubicBezTo>
                  <a:cubicBezTo>
                    <a:pt x="96" y="1654"/>
                    <a:pt x="143" y="1725"/>
                    <a:pt x="102" y="1664"/>
                  </a:cubicBezTo>
                  <a:cubicBezTo>
                    <a:pt x="96" y="1655"/>
                    <a:pt x="84" y="1637"/>
                    <a:pt x="84" y="1637"/>
                  </a:cubicBezTo>
                  <a:cubicBezTo>
                    <a:pt x="65" y="1579"/>
                    <a:pt x="48" y="1521"/>
                    <a:pt x="29" y="1463"/>
                  </a:cubicBezTo>
                  <a:cubicBezTo>
                    <a:pt x="23" y="1445"/>
                    <a:pt x="11" y="1408"/>
                    <a:pt x="11" y="1408"/>
                  </a:cubicBezTo>
                  <a:cubicBezTo>
                    <a:pt x="15" y="1324"/>
                    <a:pt x="0" y="1213"/>
                    <a:pt x="57" y="1143"/>
                  </a:cubicBezTo>
                  <a:cubicBezTo>
                    <a:pt x="65" y="1134"/>
                    <a:pt x="80" y="1104"/>
                    <a:pt x="93" y="1097"/>
                  </a:cubicBezTo>
                  <a:cubicBezTo>
                    <a:pt x="124" y="1081"/>
                    <a:pt x="162" y="1067"/>
                    <a:pt x="194" y="1052"/>
                  </a:cubicBezTo>
                  <a:lnTo>
                    <a:pt x="3933" y="28"/>
                  </a:lnTo>
                  <a:cubicBezTo>
                    <a:pt x="4028" y="8"/>
                    <a:pt x="3999" y="0"/>
                    <a:pt x="4061" y="19"/>
                  </a:cubicBezTo>
                  <a:cubicBezTo>
                    <a:pt x="4079" y="25"/>
                    <a:pt x="4098" y="31"/>
                    <a:pt x="4116" y="37"/>
                  </a:cubicBezTo>
                  <a:cubicBezTo>
                    <a:pt x="4125" y="40"/>
                    <a:pt x="4143" y="46"/>
                    <a:pt x="4143" y="46"/>
                  </a:cubicBezTo>
                  <a:cubicBezTo>
                    <a:pt x="4196" y="96"/>
                    <a:pt x="4230" y="160"/>
                    <a:pt x="4281" y="211"/>
                  </a:cubicBezTo>
                  <a:cubicBezTo>
                    <a:pt x="4305" y="282"/>
                    <a:pt x="4272" y="191"/>
                    <a:pt x="4308" y="265"/>
                  </a:cubicBezTo>
                  <a:cubicBezTo>
                    <a:pt x="4324" y="297"/>
                    <a:pt x="4328" y="340"/>
                    <a:pt x="4335" y="375"/>
                  </a:cubicBezTo>
                  <a:cubicBezTo>
                    <a:pt x="4329" y="504"/>
                    <a:pt x="4343" y="624"/>
                    <a:pt x="4253" y="723"/>
                  </a:cubicBezTo>
                  <a:lnTo>
                    <a:pt x="441" y="1765"/>
                  </a:lnTo>
                </a:path>
              </a:pathLst>
            </a:cu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5" name="Line 60">
              <a:extLst>
                <a:ext uri="{FF2B5EF4-FFF2-40B4-BE49-F238E27FC236}">
                  <a16:creationId xmlns:a16="http://schemas.microsoft.com/office/drawing/2014/main" id="{E0B2BD98-C56E-4C4E-929B-9F71A20F5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0" y="2139"/>
              <a:ext cx="119" cy="11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Text Box 61">
              <a:extLst>
                <a:ext uri="{FF2B5EF4-FFF2-40B4-BE49-F238E27FC236}">
                  <a16:creationId xmlns:a16="http://schemas.microsoft.com/office/drawing/2014/main" id="{4611E720-A58D-3743-916B-5C78CB68E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4" y="1894"/>
              <a:ext cx="917" cy="2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One page</a:t>
              </a:r>
            </a:p>
          </p:txBody>
        </p:sp>
      </p:grpSp>
      <p:grpSp>
        <p:nvGrpSpPr>
          <p:cNvPr id="3" name="Group 66">
            <a:extLst>
              <a:ext uri="{FF2B5EF4-FFF2-40B4-BE49-F238E27FC236}">
                <a16:creationId xmlns:a16="http://schemas.microsoft.com/office/drawing/2014/main" id="{BBEA2A54-E50E-7C4F-B9FF-59B283860284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5241925"/>
            <a:ext cx="1346200" cy="590550"/>
            <a:chOff x="216" y="3304"/>
            <a:chExt cx="848" cy="372"/>
          </a:xfrm>
        </p:grpSpPr>
        <p:sp>
          <p:nvSpPr>
            <p:cNvPr id="40002" name="Line 62">
              <a:extLst>
                <a:ext uri="{FF2B5EF4-FFF2-40B4-BE49-F238E27FC236}">
                  <a16:creationId xmlns:a16="http://schemas.microsoft.com/office/drawing/2014/main" id="{69E75E1F-83EE-E348-82EC-5B8006632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3304"/>
              <a:ext cx="543" cy="9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3" name="Text Box 64">
              <a:extLst>
                <a:ext uri="{FF2B5EF4-FFF2-40B4-BE49-F238E27FC236}">
                  <a16:creationId xmlns:a16="http://schemas.microsoft.com/office/drawing/2014/main" id="{4F6CC577-430C-074D-867C-24084421A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" y="3400"/>
              <a:ext cx="58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20000"/>
                </a:spcBef>
              </a:pPr>
              <a:r>
                <a:rPr kumimoji="1" lang="zh-CN" altLang="en-US" sz="2400" b="1">
                  <a:solidFill>
                    <a:srgbClr val="CC33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行缓冲</a:t>
              </a:r>
            </a:p>
          </p:txBody>
        </p:sp>
      </p:grpSp>
      <p:sp>
        <p:nvSpPr>
          <p:cNvPr id="384068" name="Text Box 68">
            <a:extLst>
              <a:ext uri="{FF2B5EF4-FFF2-40B4-BE49-F238E27FC236}">
                <a16:creationId xmlns:a16="http://schemas.microsoft.com/office/drawing/2014/main" id="{6A9DAA49-1F4E-C741-B2FC-DF51A3D97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1681163"/>
            <a:ext cx="571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每个芯片有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512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x512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列，并有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个位平面</a:t>
            </a:r>
          </a:p>
          <a:p>
            <a:pPr eaLnBrk="1" hangingPunct="1"/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每次读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写各芯片同行同列的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位，共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16x8=128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</a:t>
            </a:r>
          </a:p>
        </p:txBody>
      </p:sp>
      <p:sp>
        <p:nvSpPr>
          <p:cNvPr id="384071" name="Text Box 71">
            <a:extLst>
              <a:ext uri="{FF2B5EF4-FFF2-40B4-BE49-F238E27FC236}">
                <a16:creationId xmlns:a16="http://schemas.microsoft.com/office/drawing/2014/main" id="{905B87B0-4E32-724A-ACC7-18C6AA677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5949950"/>
            <a:ext cx="5670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访问一块连续区域（即行地址相同）时，可直接从行缓冲读取，它用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实现，速度极快！</a:t>
            </a:r>
          </a:p>
        </p:txBody>
      </p:sp>
      <p:grpSp>
        <p:nvGrpSpPr>
          <p:cNvPr id="4" name="Group 83">
            <a:extLst>
              <a:ext uri="{FF2B5EF4-FFF2-40B4-BE49-F238E27FC236}">
                <a16:creationId xmlns:a16="http://schemas.microsoft.com/office/drawing/2014/main" id="{3ADFFDC8-2397-8C41-B334-2CE5D93AF213}"/>
              </a:ext>
            </a:extLst>
          </p:cNvPr>
          <p:cNvGrpSpPr>
            <a:grpSpLocks/>
          </p:cNvGrpSpPr>
          <p:nvPr/>
        </p:nvGrpSpPr>
        <p:grpSpPr bwMode="auto">
          <a:xfrm>
            <a:off x="7927975" y="1168400"/>
            <a:ext cx="854075" cy="2081213"/>
            <a:chOff x="4680" y="822"/>
            <a:chExt cx="378" cy="450"/>
          </a:xfrm>
        </p:grpSpPr>
        <p:sp>
          <p:nvSpPr>
            <p:cNvPr id="40000" name="Line 80">
              <a:extLst>
                <a:ext uri="{FF2B5EF4-FFF2-40B4-BE49-F238E27FC236}">
                  <a16:creationId xmlns:a16="http://schemas.microsoft.com/office/drawing/2014/main" id="{144C18BD-4155-6145-B533-E56A43721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822"/>
              <a:ext cx="378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1" name="Line 82">
              <a:extLst>
                <a:ext uri="{FF2B5EF4-FFF2-40B4-BE49-F238E27FC236}">
                  <a16:creationId xmlns:a16="http://schemas.microsoft.com/office/drawing/2014/main" id="{D99E92C2-D604-FF44-825B-88CA9C615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0" y="822"/>
              <a:ext cx="162" cy="4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4084" name="Text Box 84">
            <a:extLst>
              <a:ext uri="{FF2B5EF4-FFF2-40B4-BE49-F238E27FC236}">
                <a16:creationId xmlns:a16="http://schemas.microsoft.com/office/drawing/2014/main" id="{B8DCEDE0-8B16-2F4A-9F2A-D16C8F789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2535238"/>
            <a:ext cx="1533525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问题：行缓冲数据的地址有何特点？</a:t>
            </a:r>
          </a:p>
        </p:txBody>
      </p:sp>
      <p:sp>
        <p:nvSpPr>
          <p:cNvPr id="384085" name="Text Box 85">
            <a:extLst>
              <a:ext uri="{FF2B5EF4-FFF2-40B4-BE49-F238E27FC236}">
                <a16:creationId xmlns:a16="http://schemas.microsoft.com/office/drawing/2014/main" id="{FD0F1A3A-8BF9-4344-843F-B433BAF2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3703638"/>
            <a:ext cx="11525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微软雅黑" panose="020B0503020204020204" pitchFamily="34" charset="-122"/>
              </a:rPr>
              <a:t>一定在同一行中！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68" grpId="0"/>
      <p:bldP spid="384071" grpId="0"/>
      <p:bldP spid="384084" grpId="0" animBg="1"/>
      <p:bldP spid="38408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7">
            <a:extLst>
              <a:ext uri="{FF2B5EF4-FFF2-40B4-BE49-F238E27FC236}">
                <a16:creationId xmlns:a16="http://schemas.microsoft.com/office/drawing/2014/main" id="{8DE66B10-1FE7-C04D-BB8B-F488F0A42442}"/>
              </a:ext>
            </a:extLst>
          </p:cNvPr>
          <p:cNvGrpSpPr>
            <a:grpSpLocks/>
          </p:cNvGrpSpPr>
          <p:nvPr/>
        </p:nvGrpSpPr>
        <p:grpSpPr bwMode="auto">
          <a:xfrm>
            <a:off x="0" y="908050"/>
            <a:ext cx="7670800" cy="5189538"/>
            <a:chOff x="430" y="872"/>
            <a:chExt cx="4384" cy="3064"/>
          </a:xfrm>
        </p:grpSpPr>
        <p:sp>
          <p:nvSpPr>
            <p:cNvPr id="40978" name="Text Box 8">
              <a:extLst>
                <a:ext uri="{FF2B5EF4-FFF2-40B4-BE49-F238E27FC236}">
                  <a16:creationId xmlns:a16="http://schemas.microsoft.com/office/drawing/2014/main" id="{1188DED8-8045-714F-9E2D-E26E4146CAC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60" y="3100"/>
              <a:ext cx="75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 b="1">
                  <a:latin typeface="Helvetica" pitchFamily="2" charset="0"/>
                  <a:ea typeface="微软雅黑" panose="020B0503020204020204" pitchFamily="34" charset="-122"/>
                </a:rPr>
                <a:t>存储控制器</a:t>
              </a:r>
            </a:p>
          </p:txBody>
        </p:sp>
        <p:sp>
          <p:nvSpPr>
            <p:cNvPr id="40979" name="Rectangle 9">
              <a:extLst>
                <a:ext uri="{FF2B5EF4-FFF2-40B4-BE49-F238E27FC236}">
                  <a16:creationId xmlns:a16="http://schemas.microsoft.com/office/drawing/2014/main" id="{AB7D8088-67D9-4B4C-9ED8-4DC9F0922D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0" y="887"/>
              <a:ext cx="2832" cy="15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0" name="Rectangle 10">
              <a:extLst>
                <a:ext uri="{FF2B5EF4-FFF2-40B4-BE49-F238E27FC236}">
                  <a16:creationId xmlns:a16="http://schemas.microsoft.com/office/drawing/2014/main" id="{A6E965D2-A0BC-6247-A95B-CFAD199A51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7" y="2779"/>
              <a:ext cx="2524" cy="7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1" name="Rectangle 11">
              <a:extLst>
                <a:ext uri="{FF2B5EF4-FFF2-40B4-BE49-F238E27FC236}">
                  <a16:creationId xmlns:a16="http://schemas.microsoft.com/office/drawing/2014/main" id="{7211AAC9-BC6E-3140-A95E-1EC486650C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6" y="1304"/>
              <a:ext cx="613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2" name="Rectangle 12">
              <a:extLst>
                <a:ext uri="{FF2B5EF4-FFF2-40B4-BE49-F238E27FC236}">
                  <a16:creationId xmlns:a16="http://schemas.microsoft.com/office/drawing/2014/main" id="{1AC7366E-4996-6742-87B1-D21919460B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63" y="1372"/>
              <a:ext cx="614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3" name="Rectangle 13">
              <a:extLst>
                <a:ext uri="{FF2B5EF4-FFF2-40B4-BE49-F238E27FC236}">
                  <a16:creationId xmlns:a16="http://schemas.microsoft.com/office/drawing/2014/main" id="{B7DF8BF3-20BC-1546-BB79-7CAF220468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90" y="1441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4" name="Rectangle 14">
              <a:extLst>
                <a:ext uri="{FF2B5EF4-FFF2-40B4-BE49-F238E27FC236}">
                  <a16:creationId xmlns:a16="http://schemas.microsoft.com/office/drawing/2014/main" id="{37908BBA-2CBA-C541-B44B-88C58237E3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18" y="1508"/>
              <a:ext cx="613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5" name="Rectangle 15">
              <a:extLst>
                <a:ext uri="{FF2B5EF4-FFF2-40B4-BE49-F238E27FC236}">
                  <a16:creationId xmlns:a16="http://schemas.microsoft.com/office/drawing/2014/main" id="{5E9B12F6-C5EE-7845-A1A2-B1E0E1B773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45" y="1577"/>
              <a:ext cx="614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6" name="Rectangle 16">
              <a:extLst>
                <a:ext uri="{FF2B5EF4-FFF2-40B4-BE49-F238E27FC236}">
                  <a16:creationId xmlns:a16="http://schemas.microsoft.com/office/drawing/2014/main" id="{9738464B-5957-2446-866D-8507640663F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2" y="1645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7" name="Rectangle 17">
              <a:extLst>
                <a:ext uri="{FF2B5EF4-FFF2-40B4-BE49-F238E27FC236}">
                  <a16:creationId xmlns:a16="http://schemas.microsoft.com/office/drawing/2014/main" id="{C4B6F8A8-3F13-D24B-B5A5-D50A764A8E5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9" y="1713"/>
              <a:ext cx="613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88" name="Rectangle 18">
              <a:extLst>
                <a:ext uri="{FF2B5EF4-FFF2-40B4-BE49-F238E27FC236}">
                  <a16:creationId xmlns:a16="http://schemas.microsoft.com/office/drawing/2014/main" id="{14DF040C-1F66-DF49-A736-4DE470E5FB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26" y="1782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8950" tIns="44480" rIns="88950" bIns="44480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Helvetica" pitchFamily="2" charset="0"/>
                <a:ea typeface="宋体" panose="02010600030101010101" pitchFamily="2" charset="-122"/>
              </a:endParaRPr>
            </a:p>
          </p:txBody>
        </p:sp>
        <p:grpSp>
          <p:nvGrpSpPr>
            <p:cNvPr id="40989" name="Group 19">
              <a:extLst>
                <a:ext uri="{FF2B5EF4-FFF2-40B4-BE49-F238E27FC236}">
                  <a16:creationId xmlns:a16="http://schemas.microsoft.com/office/drawing/2014/main" id="{963C2653-5CE4-7644-9899-4CC5EB1B68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5" y="872"/>
              <a:ext cx="2330" cy="2253"/>
              <a:chOff x="768" y="724"/>
              <a:chExt cx="2623" cy="2537"/>
            </a:xfrm>
          </p:grpSpPr>
          <p:sp>
            <p:nvSpPr>
              <p:cNvPr id="41081" name="Line 20">
                <a:extLst>
                  <a:ext uri="{FF2B5EF4-FFF2-40B4-BE49-F238E27FC236}">
                    <a16:creationId xmlns:a16="http://schemas.microsoft.com/office/drawing/2014/main" id="{980FBCC1-B4EA-1B48-BBDE-B1D2E3D0F62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68" y="913"/>
                <a:ext cx="2623" cy="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1082" name="Group 21">
                <a:extLst>
                  <a:ext uri="{FF2B5EF4-FFF2-40B4-BE49-F238E27FC236}">
                    <a16:creationId xmlns:a16="http://schemas.microsoft.com/office/drawing/2014/main" id="{067EDD72-45F2-8342-9751-79A95F0144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724"/>
                <a:ext cx="2610" cy="2537"/>
                <a:chOff x="768" y="724"/>
                <a:chExt cx="2610" cy="2537"/>
              </a:xfrm>
            </p:grpSpPr>
            <p:sp>
              <p:nvSpPr>
                <p:cNvPr id="41083" name="Text Box 22">
                  <a:extLst>
                    <a:ext uri="{FF2B5EF4-FFF2-40B4-BE49-F238E27FC236}">
                      <a16:creationId xmlns:a16="http://schemas.microsoft.com/office/drawing/2014/main" id="{C8860449-2EB6-F144-88AF-FFC69A3AFDAA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769" y="724"/>
                  <a:ext cx="121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CN" sz="1400" b="1"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行地址</a:t>
                  </a:r>
                  <a:r>
                    <a:rPr lang="en-US" altLang="zh-CN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i, </a:t>
                  </a:r>
                  <a:r>
                    <a:rPr lang="zh-CN" altLang="en-US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列地址</a:t>
                  </a:r>
                  <a:r>
                    <a:rPr lang="en-US" altLang="zh-CN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j)</a:t>
                  </a:r>
                </a:p>
              </p:txBody>
            </p:sp>
            <p:sp>
              <p:nvSpPr>
                <p:cNvPr id="41084" name="Line 23">
                  <a:extLst>
                    <a:ext uri="{FF2B5EF4-FFF2-40B4-BE49-F238E27FC236}">
                      <a16:creationId xmlns:a16="http://schemas.microsoft.com/office/drawing/2014/main" id="{1A52BD0F-E72E-284C-A0E9-27597EA6736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378" y="913"/>
                  <a:ext cx="0" cy="30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85" name="Line 24">
                  <a:extLst>
                    <a:ext uri="{FF2B5EF4-FFF2-40B4-BE49-F238E27FC236}">
                      <a16:creationId xmlns:a16="http://schemas.microsoft.com/office/drawing/2014/main" id="{A62AB6B7-9304-1649-A855-8B71D91FCBD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33" y="913"/>
                  <a:ext cx="0" cy="37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86" name="Line 25">
                  <a:extLst>
                    <a:ext uri="{FF2B5EF4-FFF2-40B4-BE49-F238E27FC236}">
                      <a16:creationId xmlns:a16="http://schemas.microsoft.com/office/drawing/2014/main" id="{A0453B39-B219-0743-9D7A-257020F7EAD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726" y="913"/>
                  <a:ext cx="0" cy="46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87" name="Line 26">
                  <a:extLst>
                    <a:ext uri="{FF2B5EF4-FFF2-40B4-BE49-F238E27FC236}">
                      <a16:creationId xmlns:a16="http://schemas.microsoft.com/office/drawing/2014/main" id="{8FB7611A-0B06-D44E-AD98-97650E22995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419" y="913"/>
                  <a:ext cx="0" cy="53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88" name="Line 27">
                  <a:extLst>
                    <a:ext uri="{FF2B5EF4-FFF2-40B4-BE49-F238E27FC236}">
                      <a16:creationId xmlns:a16="http://schemas.microsoft.com/office/drawing/2014/main" id="{EE31FA9A-F756-654B-A5EE-734D980E871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913"/>
                  <a:ext cx="0" cy="61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89" name="Line 28">
                  <a:extLst>
                    <a:ext uri="{FF2B5EF4-FFF2-40B4-BE49-F238E27FC236}">
                      <a16:creationId xmlns:a16="http://schemas.microsoft.com/office/drawing/2014/main" id="{D742B722-2BD8-9C4D-B5E0-FE84C4C6A8D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766" y="913"/>
                  <a:ext cx="0" cy="691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90" name="Line 29">
                  <a:extLst>
                    <a:ext uri="{FF2B5EF4-FFF2-40B4-BE49-F238E27FC236}">
                      <a16:creationId xmlns:a16="http://schemas.microsoft.com/office/drawing/2014/main" id="{28519BF0-4116-DA4B-A67F-958B55253F3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497" y="913"/>
                  <a:ext cx="0" cy="76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91" name="Line 30">
                  <a:extLst>
                    <a:ext uri="{FF2B5EF4-FFF2-40B4-BE49-F238E27FC236}">
                      <a16:creationId xmlns:a16="http://schemas.microsoft.com/office/drawing/2014/main" id="{2E5884AE-55D0-7941-A479-E6B33028CD8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190" y="913"/>
                  <a:ext cx="0" cy="84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92" name="Line 31">
                  <a:extLst>
                    <a:ext uri="{FF2B5EF4-FFF2-40B4-BE49-F238E27FC236}">
                      <a16:creationId xmlns:a16="http://schemas.microsoft.com/office/drawing/2014/main" id="{D98A4B17-F23A-4544-AE3B-21DAE6A6F9D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768" y="3255"/>
                  <a:ext cx="518" cy="6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93" name="Line 32">
                  <a:extLst>
                    <a:ext uri="{FF2B5EF4-FFF2-40B4-BE49-F238E27FC236}">
                      <a16:creationId xmlns:a16="http://schemas.microsoft.com/office/drawing/2014/main" id="{43F875B5-3DBE-9E44-8685-FF20E0F0A72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768" y="913"/>
                  <a:ext cx="0" cy="2342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0990" name="Rectangle 33">
              <a:extLst>
                <a:ext uri="{FF2B5EF4-FFF2-40B4-BE49-F238E27FC236}">
                  <a16:creationId xmlns:a16="http://schemas.microsoft.com/office/drawing/2014/main" id="{1A8CA34C-AC97-0C4D-A178-904D03B54C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5" y="1946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1" name="Rectangle 34">
              <a:extLst>
                <a:ext uri="{FF2B5EF4-FFF2-40B4-BE49-F238E27FC236}">
                  <a16:creationId xmlns:a16="http://schemas.microsoft.com/office/drawing/2014/main" id="{F9FB8D33-6D2F-7644-980B-A1FEBA7527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44" y="2012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2" name="Rectangle 35">
              <a:extLst>
                <a:ext uri="{FF2B5EF4-FFF2-40B4-BE49-F238E27FC236}">
                  <a16:creationId xmlns:a16="http://schemas.microsoft.com/office/drawing/2014/main" id="{0D17C09E-93C8-F14A-A18A-C8AC816944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8" y="1875"/>
              <a:ext cx="56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3" name="Rectangle 36">
              <a:extLst>
                <a:ext uri="{FF2B5EF4-FFF2-40B4-BE49-F238E27FC236}">
                  <a16:creationId xmlns:a16="http://schemas.microsoft.com/office/drawing/2014/main" id="{9A5DFB43-1808-D546-BBF4-84CF3714D7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3" y="1804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4" name="Rectangle 37">
              <a:extLst>
                <a:ext uri="{FF2B5EF4-FFF2-40B4-BE49-F238E27FC236}">
                  <a16:creationId xmlns:a16="http://schemas.microsoft.com/office/drawing/2014/main" id="{9FCE5DC8-9EC5-2146-BB12-A4BC462CC1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34" y="1730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5" name="Rectangle 38">
              <a:extLst>
                <a:ext uri="{FF2B5EF4-FFF2-40B4-BE49-F238E27FC236}">
                  <a16:creationId xmlns:a16="http://schemas.microsoft.com/office/drawing/2014/main" id="{5263E0D6-7B7C-9F4B-9127-3748D7030E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02" y="1668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6" name="Rectangle 39">
              <a:extLst>
                <a:ext uri="{FF2B5EF4-FFF2-40B4-BE49-F238E27FC236}">
                  <a16:creationId xmlns:a16="http://schemas.microsoft.com/office/drawing/2014/main" id="{3AEA34AA-4F61-A246-BE9C-7475C8650E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4" y="1593"/>
              <a:ext cx="57" cy="64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7" name="Rectangle 40">
              <a:extLst>
                <a:ext uri="{FF2B5EF4-FFF2-40B4-BE49-F238E27FC236}">
                  <a16:creationId xmlns:a16="http://schemas.microsoft.com/office/drawing/2014/main" id="{0DE5E4EA-5BCD-B644-98E0-C373DD7432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42" y="1526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98" name="Text Box 41">
              <a:extLst>
                <a:ext uri="{FF2B5EF4-FFF2-40B4-BE49-F238E27FC236}">
                  <a16:creationId xmlns:a16="http://schemas.microsoft.com/office/drawing/2014/main" id="{766F1387-A24A-6949-80E3-3DFD168B82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1" y="1758"/>
              <a:ext cx="380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000" b="1">
                  <a:solidFill>
                    <a:srgbClr val="0033CC"/>
                  </a:solidFill>
                  <a:latin typeface="Helvetica" pitchFamily="2" charset="0"/>
                  <a:ea typeface="宋体" panose="02010600030101010101" pitchFamily="2" charset="-122"/>
                </a:rPr>
                <a:t>DRAM 7</a:t>
              </a:r>
            </a:p>
          </p:txBody>
        </p:sp>
        <p:sp>
          <p:nvSpPr>
            <p:cNvPr id="40999" name="Text Box 42">
              <a:extLst>
                <a:ext uri="{FF2B5EF4-FFF2-40B4-BE49-F238E27FC236}">
                  <a16:creationId xmlns:a16="http://schemas.microsoft.com/office/drawing/2014/main" id="{44568A82-AEAA-EE4E-A9BC-E4C5B2EEC16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02" y="1264"/>
              <a:ext cx="381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000" b="1">
                  <a:solidFill>
                    <a:srgbClr val="0033CC"/>
                  </a:solidFill>
                  <a:latin typeface="Helvetica" pitchFamily="2" charset="0"/>
                  <a:ea typeface="宋体" panose="02010600030101010101" pitchFamily="2" charset="-122"/>
                </a:rPr>
                <a:t>DRAM 0</a:t>
              </a:r>
            </a:p>
          </p:txBody>
        </p:sp>
        <p:grpSp>
          <p:nvGrpSpPr>
            <p:cNvPr id="41000" name="Group 43">
              <a:extLst>
                <a:ext uri="{FF2B5EF4-FFF2-40B4-BE49-F238E27FC236}">
                  <a16:creationId xmlns:a16="http://schemas.microsoft.com/office/drawing/2014/main" id="{B3996455-6BFF-B14D-A1E5-6341BD6F2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9" y="2917"/>
              <a:ext cx="2286" cy="428"/>
              <a:chOff x="1471" y="3026"/>
              <a:chExt cx="2575" cy="482"/>
            </a:xfrm>
          </p:grpSpPr>
          <p:sp>
            <p:nvSpPr>
              <p:cNvPr id="41054" name="Text Box 44">
                <a:extLst>
                  <a:ext uri="{FF2B5EF4-FFF2-40B4-BE49-F238E27FC236}">
                    <a16:creationId xmlns:a16="http://schemas.microsoft.com/office/drawing/2014/main" id="{D5C6CFF6-C89A-F047-9EA2-76F4699775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891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055" name="Text Box 45">
                <a:extLst>
                  <a:ext uri="{FF2B5EF4-FFF2-40B4-BE49-F238E27FC236}">
                    <a16:creationId xmlns:a16="http://schemas.microsoft.com/office/drawing/2014/main" id="{6B61E3B0-79F2-1F43-88E8-8072D08E67F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69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41056" name="Text Box 46">
                <a:extLst>
                  <a:ext uri="{FF2B5EF4-FFF2-40B4-BE49-F238E27FC236}">
                    <a16:creationId xmlns:a16="http://schemas.microsoft.com/office/drawing/2014/main" id="{A8C3BD38-D11C-7747-8B41-360233D692D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46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41057" name="Text Box 47">
                <a:extLst>
                  <a:ext uri="{FF2B5EF4-FFF2-40B4-BE49-F238E27FC236}">
                    <a16:creationId xmlns:a16="http://schemas.microsoft.com/office/drawing/2014/main" id="{A21A6340-8A33-5B4C-B8BC-23D2B91049E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58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41058" name="Text Box 48">
                <a:extLst>
                  <a:ext uri="{FF2B5EF4-FFF2-40B4-BE49-F238E27FC236}">
                    <a16:creationId xmlns:a16="http://schemas.microsoft.com/office/drawing/2014/main" id="{13B4A8BB-6D37-CC48-9F6D-87434DF5C63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31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41059" name="Text Box 49">
                <a:extLst>
                  <a:ext uri="{FF2B5EF4-FFF2-40B4-BE49-F238E27FC236}">
                    <a16:creationId xmlns:a16="http://schemas.microsoft.com/office/drawing/2014/main" id="{C90024FB-EF48-F049-9FB1-13DFD90BFBF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9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41060" name="Text Box 50">
                <a:extLst>
                  <a:ext uri="{FF2B5EF4-FFF2-40B4-BE49-F238E27FC236}">
                    <a16:creationId xmlns:a16="http://schemas.microsoft.com/office/drawing/2014/main" id="{29277D5A-FB8F-0B43-898D-374640EA15F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034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23</a:t>
                </a:r>
              </a:p>
            </p:txBody>
          </p:sp>
          <p:sp>
            <p:nvSpPr>
              <p:cNvPr id="41061" name="Text Box 51">
                <a:extLst>
                  <a:ext uri="{FF2B5EF4-FFF2-40B4-BE49-F238E27FC236}">
                    <a16:creationId xmlns:a16="http://schemas.microsoft.com/office/drawing/2014/main" id="{8CCA5E9C-45DC-8F45-A4CE-7074A688F5F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92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24</a:t>
                </a:r>
              </a:p>
            </p:txBody>
          </p:sp>
          <p:sp>
            <p:nvSpPr>
              <p:cNvPr id="41062" name="Text Box 52">
                <a:extLst>
                  <a:ext uri="{FF2B5EF4-FFF2-40B4-BE49-F238E27FC236}">
                    <a16:creationId xmlns:a16="http://schemas.microsoft.com/office/drawing/2014/main" id="{81C1D207-FEF9-E54D-A1E8-D73CA429ABD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94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32</a:t>
                </a:r>
              </a:p>
            </p:txBody>
          </p:sp>
          <p:sp>
            <p:nvSpPr>
              <p:cNvPr id="41063" name="Text Box 53">
                <a:extLst>
                  <a:ext uri="{FF2B5EF4-FFF2-40B4-BE49-F238E27FC236}">
                    <a16:creationId xmlns:a16="http://schemas.microsoft.com/office/drawing/2014/main" id="{3BBDBFAC-486C-A045-B353-DFD352A1D01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7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63</a:t>
                </a:r>
              </a:p>
            </p:txBody>
          </p:sp>
          <p:sp>
            <p:nvSpPr>
              <p:cNvPr id="41064" name="Text Box 54">
                <a:extLst>
                  <a:ext uri="{FF2B5EF4-FFF2-40B4-BE49-F238E27FC236}">
                    <a16:creationId xmlns:a16="http://schemas.microsoft.com/office/drawing/2014/main" id="{3641F480-2193-B24C-9393-20288DC32FC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1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39</a:t>
                </a:r>
              </a:p>
            </p:txBody>
          </p:sp>
          <p:sp>
            <p:nvSpPr>
              <p:cNvPr id="41065" name="Text Box 55">
                <a:extLst>
                  <a:ext uri="{FF2B5EF4-FFF2-40B4-BE49-F238E27FC236}">
                    <a16:creationId xmlns:a16="http://schemas.microsoft.com/office/drawing/2014/main" id="{8B06C8C7-F480-BF47-AF51-292E66087B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86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41066" name="Text Box 56">
                <a:extLst>
                  <a:ext uri="{FF2B5EF4-FFF2-40B4-BE49-F238E27FC236}">
                    <a16:creationId xmlns:a16="http://schemas.microsoft.com/office/drawing/2014/main" id="{E2A6A1FD-9B2A-B14F-B08F-2CA4DB4F975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08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47</a:t>
                </a:r>
              </a:p>
            </p:txBody>
          </p:sp>
          <p:sp>
            <p:nvSpPr>
              <p:cNvPr id="41067" name="Text Box 57">
                <a:extLst>
                  <a:ext uri="{FF2B5EF4-FFF2-40B4-BE49-F238E27FC236}">
                    <a16:creationId xmlns:a16="http://schemas.microsoft.com/office/drawing/2014/main" id="{6DB321BB-AC2D-4649-B50C-F0164D6D24A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79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48</a:t>
                </a:r>
              </a:p>
            </p:txBody>
          </p:sp>
          <p:sp>
            <p:nvSpPr>
              <p:cNvPr id="41068" name="Text Box 58">
                <a:extLst>
                  <a:ext uri="{FF2B5EF4-FFF2-40B4-BE49-F238E27FC236}">
                    <a16:creationId xmlns:a16="http://schemas.microsoft.com/office/drawing/2014/main" id="{C773D902-22D0-E54C-8550-10EE4BA2C49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8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55</a:t>
                </a:r>
              </a:p>
            </p:txBody>
          </p:sp>
          <p:sp>
            <p:nvSpPr>
              <p:cNvPr id="41069" name="Text Box 59">
                <a:extLst>
                  <a:ext uri="{FF2B5EF4-FFF2-40B4-BE49-F238E27FC236}">
                    <a16:creationId xmlns:a16="http://schemas.microsoft.com/office/drawing/2014/main" id="{94434520-551A-D84D-B5D0-C6B7852D0D9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6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56</a:t>
                </a:r>
              </a:p>
            </p:txBody>
          </p:sp>
          <p:grpSp>
            <p:nvGrpSpPr>
              <p:cNvPr id="41070" name="Group 60">
                <a:extLst>
                  <a:ext uri="{FF2B5EF4-FFF2-40B4-BE49-F238E27FC236}">
                    <a16:creationId xmlns:a16="http://schemas.microsoft.com/office/drawing/2014/main" id="{87D1D065-7BFC-EC40-9241-E9F075CCED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355"/>
                <a:chOff x="1536" y="3153"/>
                <a:chExt cx="2446" cy="355"/>
              </a:xfrm>
            </p:grpSpPr>
            <p:grpSp>
              <p:nvGrpSpPr>
                <p:cNvPr id="41071" name="Group 61">
                  <a:extLst>
                    <a:ext uri="{FF2B5EF4-FFF2-40B4-BE49-F238E27FC236}">
                      <a16:creationId xmlns:a16="http://schemas.microsoft.com/office/drawing/2014/main" id="{F853CE26-9BB9-4B43-A75C-5A54914076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3153"/>
                  <a:ext cx="2446" cy="154"/>
                  <a:chOff x="1536" y="3153"/>
                  <a:chExt cx="2446" cy="154"/>
                </a:xfrm>
              </p:grpSpPr>
              <p:sp>
                <p:nvSpPr>
                  <p:cNvPr id="41073" name="Rectangle 62">
                    <a:extLst>
                      <a:ext uri="{FF2B5EF4-FFF2-40B4-BE49-F238E27FC236}">
                        <a16:creationId xmlns:a16="http://schemas.microsoft.com/office/drawing/2014/main" id="{A458B426-F1AD-0741-92D3-668D2811970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5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4" name="Rectangle 63">
                    <a:extLst>
                      <a:ext uri="{FF2B5EF4-FFF2-40B4-BE49-F238E27FC236}">
                        <a16:creationId xmlns:a16="http://schemas.microsoft.com/office/drawing/2014/main" id="{A7223F9A-4A5F-8B4A-8DF7-2AC837FCA62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06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5" name="Rectangle 64">
                    <a:extLst>
                      <a:ext uri="{FF2B5EF4-FFF2-40B4-BE49-F238E27FC236}">
                        <a16:creationId xmlns:a16="http://schemas.microsoft.com/office/drawing/2014/main" id="{FD54ECE0-BE27-1944-AB08-2382E859C9A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6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6" name="Rectangle 65">
                    <a:extLst>
                      <a:ext uri="{FF2B5EF4-FFF2-40B4-BE49-F238E27FC236}">
                        <a16:creationId xmlns:a16="http://schemas.microsoft.com/office/drawing/2014/main" id="{74F753DD-C374-DA4C-BDAF-F5B601BDC50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674" y="3153"/>
                    <a:ext cx="308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7" name="Rectangle 66">
                    <a:extLst>
                      <a:ext uri="{FF2B5EF4-FFF2-40B4-BE49-F238E27FC236}">
                        <a16:creationId xmlns:a16="http://schemas.microsoft.com/office/drawing/2014/main" id="{0CDE2601-891B-824C-A219-13509959264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36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8" name="Rectangle 67">
                    <a:extLst>
                      <a:ext uri="{FF2B5EF4-FFF2-40B4-BE49-F238E27FC236}">
                        <a16:creationId xmlns:a16="http://schemas.microsoft.com/office/drawing/2014/main" id="{594FF0BD-F8F4-5C45-9465-D9F6C207458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4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79" name="Rectangle 68">
                    <a:extLst>
                      <a:ext uri="{FF2B5EF4-FFF2-40B4-BE49-F238E27FC236}">
                        <a16:creationId xmlns:a16="http://schemas.microsoft.com/office/drawing/2014/main" id="{FDC94E6A-8148-FB4C-B79E-79E50467FA7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5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80" name="Rectangle 69">
                    <a:extLst>
                      <a:ext uri="{FF2B5EF4-FFF2-40B4-BE49-F238E27FC236}">
                        <a16:creationId xmlns:a16="http://schemas.microsoft.com/office/drawing/2014/main" id="{F2F255A3-2913-E74D-979C-B2AFAB5E435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45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41072" name="Text Box 70">
                  <a:extLst>
                    <a:ext uri="{FF2B5EF4-FFF2-40B4-BE49-F238E27FC236}">
                      <a16:creationId xmlns:a16="http://schemas.microsoft.com/office/drawing/2014/main" id="{68FEFDF2-8259-E248-AFF3-16D52B8FFE45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53" y="3307"/>
                  <a:ext cx="115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endParaRPr lang="zh-CN" altLang="en-US" sz="1400" b="1">
                    <a:latin typeface="Helvetica" pitchFamily="2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41001" name="Group 71">
              <a:extLst>
                <a:ext uri="{FF2B5EF4-FFF2-40B4-BE49-F238E27FC236}">
                  <a16:creationId xmlns:a16="http://schemas.microsoft.com/office/drawing/2014/main" id="{77AD077C-A275-EC4E-8892-393E87D1C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0" y="1585"/>
              <a:ext cx="2132" cy="1330"/>
              <a:chOff x="1652" y="1527"/>
              <a:chExt cx="2400" cy="1497"/>
            </a:xfrm>
          </p:grpSpPr>
          <p:grpSp>
            <p:nvGrpSpPr>
              <p:cNvPr id="41037" name="Group 72">
                <a:extLst>
                  <a:ext uri="{FF2B5EF4-FFF2-40B4-BE49-F238E27FC236}">
                    <a16:creationId xmlns:a16="http://schemas.microsoft.com/office/drawing/2014/main" id="{747C1218-724C-674B-8914-A96BF521A6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7" y="1527"/>
                <a:ext cx="2137" cy="1497"/>
                <a:chOff x="1677" y="1527"/>
                <a:chExt cx="2137" cy="1497"/>
              </a:xfrm>
            </p:grpSpPr>
            <p:sp>
              <p:nvSpPr>
                <p:cNvPr id="41046" name="Line 73">
                  <a:extLst>
                    <a:ext uri="{FF2B5EF4-FFF2-40B4-BE49-F238E27FC236}">
                      <a16:creationId xmlns:a16="http://schemas.microsoft.com/office/drawing/2014/main" id="{F27E6E48-BC8A-464B-81E8-08EE54903CF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814" y="1527"/>
                  <a:ext cx="0" cy="1497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47" name="Line 74">
                  <a:extLst>
                    <a:ext uri="{FF2B5EF4-FFF2-40B4-BE49-F238E27FC236}">
                      <a16:creationId xmlns:a16="http://schemas.microsoft.com/office/drawing/2014/main" id="{36047263-0F07-A044-B709-E374CD431E5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513" y="1604"/>
                  <a:ext cx="0" cy="141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48" name="Line 75">
                  <a:extLst>
                    <a:ext uri="{FF2B5EF4-FFF2-40B4-BE49-F238E27FC236}">
                      <a16:creationId xmlns:a16="http://schemas.microsoft.com/office/drawing/2014/main" id="{CDA13EA4-B298-B042-8CEE-F05CDFB221D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206" y="1680"/>
                  <a:ext cx="0" cy="134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49" name="Line 76">
                  <a:extLst>
                    <a:ext uri="{FF2B5EF4-FFF2-40B4-BE49-F238E27FC236}">
                      <a16:creationId xmlns:a16="http://schemas.microsoft.com/office/drawing/2014/main" id="{CFC6101A-7A5E-CE42-9A9C-F3793EB283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905" y="1757"/>
                  <a:ext cx="0" cy="1261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50" name="Line 77">
                  <a:extLst>
                    <a:ext uri="{FF2B5EF4-FFF2-40B4-BE49-F238E27FC236}">
                      <a16:creationId xmlns:a16="http://schemas.microsoft.com/office/drawing/2014/main" id="{ABCEAC30-3028-E94D-8187-D4D39C9B847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592" y="1834"/>
                  <a:ext cx="0" cy="1190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51" name="Line 78">
                  <a:extLst>
                    <a:ext uri="{FF2B5EF4-FFF2-40B4-BE49-F238E27FC236}">
                      <a16:creationId xmlns:a16="http://schemas.microsoft.com/office/drawing/2014/main" id="{36A1D369-8B07-E04C-BF22-535E80419BC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278" y="1911"/>
                  <a:ext cx="0" cy="1113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52" name="Line 79">
                  <a:extLst>
                    <a:ext uri="{FF2B5EF4-FFF2-40B4-BE49-F238E27FC236}">
                      <a16:creationId xmlns:a16="http://schemas.microsoft.com/office/drawing/2014/main" id="{D19B5987-0E28-B243-B9BE-30B1059B7FA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971" y="1988"/>
                  <a:ext cx="0" cy="1036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53" name="Line 80">
                  <a:extLst>
                    <a:ext uri="{FF2B5EF4-FFF2-40B4-BE49-F238E27FC236}">
                      <a16:creationId xmlns:a16="http://schemas.microsoft.com/office/drawing/2014/main" id="{60600566-9A3B-0946-B7B9-90FF00D0F63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677" y="2064"/>
                  <a:ext cx="0" cy="95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038" name="Text Box 81">
                <a:extLst>
                  <a:ext uri="{FF2B5EF4-FFF2-40B4-BE49-F238E27FC236}">
                    <a16:creationId xmlns:a16="http://schemas.microsoft.com/office/drawing/2014/main" id="{9FFC73D3-3995-BA4C-B227-B008097E955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792" y="2510"/>
                <a:ext cx="260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0-7</a:t>
                </a:r>
              </a:p>
            </p:txBody>
          </p:sp>
          <p:sp>
            <p:nvSpPr>
              <p:cNvPr id="41039" name="Text Box 82">
                <a:extLst>
                  <a:ext uri="{FF2B5EF4-FFF2-40B4-BE49-F238E27FC236}">
                    <a16:creationId xmlns:a16="http://schemas.microsoft.com/office/drawing/2014/main" id="{130EB2D5-851E-B042-BFB9-805639D4B09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4" y="2510"/>
                <a:ext cx="27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8-15</a:t>
                </a:r>
              </a:p>
            </p:txBody>
          </p:sp>
          <p:sp>
            <p:nvSpPr>
              <p:cNvPr id="41040" name="Text Box 83">
                <a:extLst>
                  <a:ext uri="{FF2B5EF4-FFF2-40B4-BE49-F238E27FC236}">
                    <a16:creationId xmlns:a16="http://schemas.microsoft.com/office/drawing/2014/main" id="{6BCE4A25-2742-4547-8563-C115DB4024B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86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16-23</a:t>
                </a:r>
              </a:p>
            </p:txBody>
          </p:sp>
          <p:sp>
            <p:nvSpPr>
              <p:cNvPr id="41041" name="Text Box 84">
                <a:extLst>
                  <a:ext uri="{FF2B5EF4-FFF2-40B4-BE49-F238E27FC236}">
                    <a16:creationId xmlns:a16="http://schemas.microsoft.com/office/drawing/2014/main" id="{671485BD-0FBD-8745-81C1-5C24C8C1573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79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24-31</a:t>
                </a:r>
              </a:p>
            </p:txBody>
          </p:sp>
          <p:sp>
            <p:nvSpPr>
              <p:cNvPr id="41042" name="Text Box 85">
                <a:extLst>
                  <a:ext uri="{FF2B5EF4-FFF2-40B4-BE49-F238E27FC236}">
                    <a16:creationId xmlns:a16="http://schemas.microsoft.com/office/drawing/2014/main" id="{8335CDF3-A5C0-E244-B80E-EAFF5C587DA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72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32-39</a:t>
                </a:r>
              </a:p>
            </p:txBody>
          </p:sp>
          <p:sp>
            <p:nvSpPr>
              <p:cNvPr id="41043" name="Text Box 86">
                <a:extLst>
                  <a:ext uri="{FF2B5EF4-FFF2-40B4-BE49-F238E27FC236}">
                    <a16:creationId xmlns:a16="http://schemas.microsoft.com/office/drawing/2014/main" id="{87665616-2819-744C-A032-F49308A04B7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48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40-47</a:t>
                </a:r>
              </a:p>
            </p:txBody>
          </p:sp>
          <p:sp>
            <p:nvSpPr>
              <p:cNvPr id="41044" name="Text Box 87">
                <a:extLst>
                  <a:ext uri="{FF2B5EF4-FFF2-40B4-BE49-F238E27FC236}">
                    <a16:creationId xmlns:a16="http://schemas.microsoft.com/office/drawing/2014/main" id="{13347F51-A412-7749-B51A-84334C358B3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39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48-55</a:t>
                </a:r>
              </a:p>
            </p:txBody>
          </p:sp>
          <p:sp>
            <p:nvSpPr>
              <p:cNvPr id="41045" name="Text Box 88">
                <a:extLst>
                  <a:ext uri="{FF2B5EF4-FFF2-40B4-BE49-F238E27FC236}">
                    <a16:creationId xmlns:a16="http://schemas.microsoft.com/office/drawing/2014/main" id="{63A76105-FE2C-ED4B-A9CC-8718B29DBFE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52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56-63</a:t>
                </a:r>
              </a:p>
            </p:txBody>
          </p:sp>
        </p:grpSp>
        <p:sp>
          <p:nvSpPr>
            <p:cNvPr id="41002" name="AutoShape 89">
              <a:extLst>
                <a:ext uri="{FF2B5EF4-FFF2-40B4-BE49-F238E27FC236}">
                  <a16:creationId xmlns:a16="http://schemas.microsoft.com/office/drawing/2014/main" id="{07285148-066B-E244-9335-9BDDA20AD3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3495"/>
              <a:ext cx="478" cy="44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99CC"/>
            </a:solidFill>
            <a:ln w="12700">
              <a:solidFill>
                <a:srgbClr val="000004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1003" name="Text Box 90">
              <a:extLst>
                <a:ext uri="{FF2B5EF4-FFF2-40B4-BE49-F238E27FC236}">
                  <a16:creationId xmlns:a16="http://schemas.microsoft.com/office/drawing/2014/main" id="{01D5B4EA-EBCE-D244-AB13-78F3908D5D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73" y="3646"/>
              <a:ext cx="88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000" b="1">
                  <a:ea typeface="黑体" panose="02010609060101010101" pitchFamily="49" charset="-122"/>
                </a:rPr>
                <a:t> 最多读64位</a:t>
              </a:r>
            </a:p>
          </p:txBody>
        </p:sp>
        <p:grpSp>
          <p:nvGrpSpPr>
            <p:cNvPr id="41004" name="Group 91">
              <a:extLst>
                <a:ext uri="{FF2B5EF4-FFF2-40B4-BE49-F238E27FC236}">
                  <a16:creationId xmlns:a16="http://schemas.microsoft.com/office/drawing/2014/main" id="{FE1351F8-F899-A043-865D-0E022FAFA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0" y="2917"/>
              <a:ext cx="2286" cy="447"/>
              <a:chOff x="1472" y="3026"/>
              <a:chExt cx="2575" cy="504"/>
            </a:xfrm>
          </p:grpSpPr>
          <p:sp>
            <p:nvSpPr>
              <p:cNvPr id="41010" name="Text Box 92">
                <a:extLst>
                  <a:ext uri="{FF2B5EF4-FFF2-40B4-BE49-F238E27FC236}">
                    <a16:creationId xmlns:a16="http://schemas.microsoft.com/office/drawing/2014/main" id="{C7991852-85C4-1241-AF8D-AF97793E19A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892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011" name="Text Box 93">
                <a:extLst>
                  <a:ext uri="{FF2B5EF4-FFF2-40B4-BE49-F238E27FC236}">
                    <a16:creationId xmlns:a16="http://schemas.microsoft.com/office/drawing/2014/main" id="{3862A37C-8FF2-5643-BCDA-3EC1F65243E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0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41012" name="Text Box 94">
                <a:extLst>
                  <a:ext uri="{FF2B5EF4-FFF2-40B4-BE49-F238E27FC236}">
                    <a16:creationId xmlns:a16="http://schemas.microsoft.com/office/drawing/2014/main" id="{2F7F26DB-ABEC-3441-BDAE-BA12B1C8D2E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46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41013" name="Text Box 95">
                <a:extLst>
                  <a:ext uri="{FF2B5EF4-FFF2-40B4-BE49-F238E27FC236}">
                    <a16:creationId xmlns:a16="http://schemas.microsoft.com/office/drawing/2014/main" id="{6C74943F-6416-324C-99DB-4DCADE3E7A5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55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41014" name="Text Box 96">
                <a:extLst>
                  <a:ext uri="{FF2B5EF4-FFF2-40B4-BE49-F238E27FC236}">
                    <a16:creationId xmlns:a16="http://schemas.microsoft.com/office/drawing/2014/main" id="{CFD1CF37-F00E-E342-B9A4-45486C25B78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312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41015" name="Text Box 97">
                <a:extLst>
                  <a:ext uri="{FF2B5EF4-FFF2-40B4-BE49-F238E27FC236}">
                    <a16:creationId xmlns:a16="http://schemas.microsoft.com/office/drawing/2014/main" id="{1C431FB2-FDC1-F648-8159-241B9ADBF90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99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41016" name="Text Box 98">
                <a:extLst>
                  <a:ext uri="{FF2B5EF4-FFF2-40B4-BE49-F238E27FC236}">
                    <a16:creationId xmlns:a16="http://schemas.microsoft.com/office/drawing/2014/main" id="{ECA48E74-E3E2-1140-B533-817313466AC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035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23</a:t>
                </a:r>
              </a:p>
            </p:txBody>
          </p:sp>
          <p:sp>
            <p:nvSpPr>
              <p:cNvPr id="41017" name="Text Box 99">
                <a:extLst>
                  <a:ext uri="{FF2B5EF4-FFF2-40B4-BE49-F238E27FC236}">
                    <a16:creationId xmlns:a16="http://schemas.microsoft.com/office/drawing/2014/main" id="{1A224787-9D93-5140-8919-4DE1C856B6B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92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24</a:t>
                </a:r>
              </a:p>
            </p:txBody>
          </p:sp>
          <p:sp>
            <p:nvSpPr>
              <p:cNvPr id="41018" name="Text Box 100">
                <a:extLst>
                  <a:ext uri="{FF2B5EF4-FFF2-40B4-BE49-F238E27FC236}">
                    <a16:creationId xmlns:a16="http://schemas.microsoft.com/office/drawing/2014/main" id="{3C3B9D57-9393-2F44-830C-AF68945BB54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95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32</a:t>
                </a:r>
              </a:p>
            </p:txBody>
          </p:sp>
          <p:sp>
            <p:nvSpPr>
              <p:cNvPr id="41019" name="Text Box 101">
                <a:extLst>
                  <a:ext uri="{FF2B5EF4-FFF2-40B4-BE49-F238E27FC236}">
                    <a16:creationId xmlns:a16="http://schemas.microsoft.com/office/drawing/2014/main" id="{0CFFF9EB-5C8E-8249-8D71-2673FC031E8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72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63</a:t>
                </a:r>
              </a:p>
            </p:txBody>
          </p:sp>
          <p:sp>
            <p:nvSpPr>
              <p:cNvPr id="41020" name="Text Box 102">
                <a:extLst>
                  <a:ext uri="{FF2B5EF4-FFF2-40B4-BE49-F238E27FC236}">
                    <a16:creationId xmlns:a16="http://schemas.microsoft.com/office/drawing/2014/main" id="{5144732B-9733-1947-ABF4-1CA977FAACF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1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39</a:t>
                </a:r>
              </a:p>
            </p:txBody>
          </p:sp>
          <p:sp>
            <p:nvSpPr>
              <p:cNvPr id="41021" name="Text Box 103">
                <a:extLst>
                  <a:ext uri="{FF2B5EF4-FFF2-40B4-BE49-F238E27FC236}">
                    <a16:creationId xmlns:a16="http://schemas.microsoft.com/office/drawing/2014/main" id="{B88B720B-4215-5445-ADF2-225CBB6B516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88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41022" name="Text Box 104">
                <a:extLst>
                  <a:ext uri="{FF2B5EF4-FFF2-40B4-BE49-F238E27FC236}">
                    <a16:creationId xmlns:a16="http://schemas.microsoft.com/office/drawing/2014/main" id="{E39F36F8-2CEB-2147-9DCD-C22215AEF51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08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47</a:t>
                </a:r>
              </a:p>
            </p:txBody>
          </p:sp>
          <p:sp>
            <p:nvSpPr>
              <p:cNvPr id="41023" name="Text Box 105">
                <a:extLst>
                  <a:ext uri="{FF2B5EF4-FFF2-40B4-BE49-F238E27FC236}">
                    <a16:creationId xmlns:a16="http://schemas.microsoft.com/office/drawing/2014/main" id="{B8F5FD39-9DC5-004A-84D5-A020962152B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8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48</a:t>
                </a:r>
              </a:p>
            </p:txBody>
          </p:sp>
          <p:sp>
            <p:nvSpPr>
              <p:cNvPr id="41024" name="Text Box 106">
                <a:extLst>
                  <a:ext uri="{FF2B5EF4-FFF2-40B4-BE49-F238E27FC236}">
                    <a16:creationId xmlns:a16="http://schemas.microsoft.com/office/drawing/2014/main" id="{9885F8FA-5B8E-9E47-BCE6-F68FB92F7C4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8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55</a:t>
                </a:r>
              </a:p>
            </p:txBody>
          </p:sp>
          <p:sp>
            <p:nvSpPr>
              <p:cNvPr id="41025" name="Text Box 107">
                <a:extLst>
                  <a:ext uri="{FF2B5EF4-FFF2-40B4-BE49-F238E27FC236}">
                    <a16:creationId xmlns:a16="http://schemas.microsoft.com/office/drawing/2014/main" id="{C6F5C128-AF59-9943-B0AB-C7FA0C6BB05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6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56</a:t>
                </a:r>
              </a:p>
            </p:txBody>
          </p:sp>
          <p:grpSp>
            <p:nvGrpSpPr>
              <p:cNvPr id="41026" name="Group 108">
                <a:extLst>
                  <a:ext uri="{FF2B5EF4-FFF2-40B4-BE49-F238E27FC236}">
                    <a16:creationId xmlns:a16="http://schemas.microsoft.com/office/drawing/2014/main" id="{827BF9C2-4859-2044-ADED-6D6AFA1D1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377"/>
                <a:chOff x="1536" y="3153"/>
                <a:chExt cx="2446" cy="377"/>
              </a:xfrm>
            </p:grpSpPr>
            <p:grpSp>
              <p:nvGrpSpPr>
                <p:cNvPr id="41027" name="Group 109">
                  <a:extLst>
                    <a:ext uri="{FF2B5EF4-FFF2-40B4-BE49-F238E27FC236}">
                      <a16:creationId xmlns:a16="http://schemas.microsoft.com/office/drawing/2014/main" id="{876DD4A3-98DC-0347-A135-29EA160628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3153"/>
                  <a:ext cx="2446" cy="154"/>
                  <a:chOff x="1536" y="3153"/>
                  <a:chExt cx="2446" cy="154"/>
                </a:xfrm>
              </p:grpSpPr>
              <p:sp>
                <p:nvSpPr>
                  <p:cNvPr id="41029" name="Rectangle 110">
                    <a:extLst>
                      <a:ext uri="{FF2B5EF4-FFF2-40B4-BE49-F238E27FC236}">
                        <a16:creationId xmlns:a16="http://schemas.microsoft.com/office/drawing/2014/main" id="{22D5C278-95B6-C742-A241-4AD01FA85AD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5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0" name="Rectangle 111">
                    <a:extLst>
                      <a:ext uri="{FF2B5EF4-FFF2-40B4-BE49-F238E27FC236}">
                        <a16:creationId xmlns:a16="http://schemas.microsoft.com/office/drawing/2014/main" id="{9D1290D6-EEAC-E840-AD92-C2CE35BACDF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06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1" name="Rectangle 112">
                    <a:extLst>
                      <a:ext uri="{FF2B5EF4-FFF2-40B4-BE49-F238E27FC236}">
                        <a16:creationId xmlns:a16="http://schemas.microsoft.com/office/drawing/2014/main" id="{92A97627-9F6D-9A4B-8FAA-CB917AD5069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6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2" name="Rectangle 113">
                    <a:extLst>
                      <a:ext uri="{FF2B5EF4-FFF2-40B4-BE49-F238E27FC236}">
                        <a16:creationId xmlns:a16="http://schemas.microsoft.com/office/drawing/2014/main" id="{B1224661-1E2D-544D-9BBD-8A185518BFA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674" y="3153"/>
                    <a:ext cx="308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3" name="Rectangle 114">
                    <a:extLst>
                      <a:ext uri="{FF2B5EF4-FFF2-40B4-BE49-F238E27FC236}">
                        <a16:creationId xmlns:a16="http://schemas.microsoft.com/office/drawing/2014/main" id="{6E9AE5FE-A1B9-D644-8443-3E1E839A4E2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36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4" name="Rectangle 115">
                    <a:extLst>
                      <a:ext uri="{FF2B5EF4-FFF2-40B4-BE49-F238E27FC236}">
                        <a16:creationId xmlns:a16="http://schemas.microsoft.com/office/drawing/2014/main" id="{93BBB4F8-7F6D-7949-998C-F3F5D7CEC49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4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5" name="Rectangle 116">
                    <a:extLst>
                      <a:ext uri="{FF2B5EF4-FFF2-40B4-BE49-F238E27FC236}">
                        <a16:creationId xmlns:a16="http://schemas.microsoft.com/office/drawing/2014/main" id="{4CFC7167-C056-F549-A7E4-A540A9276A4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5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1036" name="Rectangle 117">
                    <a:extLst>
                      <a:ext uri="{FF2B5EF4-FFF2-40B4-BE49-F238E27FC236}">
                        <a16:creationId xmlns:a16="http://schemas.microsoft.com/office/drawing/2014/main" id="{2D7BF234-277B-DB4B-88D7-B26728C6885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45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41028" name="Text Box 118">
                  <a:extLst>
                    <a:ext uri="{FF2B5EF4-FFF2-40B4-BE49-F238E27FC236}">
                      <a16:creationId xmlns:a16="http://schemas.microsoft.com/office/drawing/2014/main" id="{020C65F6-3D69-E04F-9BD1-F9055182F823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596" y="3288"/>
                  <a:ext cx="2236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主存储器地址 </a:t>
                  </a: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 </a:t>
                  </a: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处的64-</a:t>
                  </a: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bit</a:t>
                  </a: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endParaRPr lang="en-US" altLang="zh-CN" sz="18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1005" name="Text Box 119">
              <a:extLst>
                <a:ext uri="{FF2B5EF4-FFF2-40B4-BE49-F238E27FC236}">
                  <a16:creationId xmlns:a16="http://schemas.microsoft.com/office/drawing/2014/main" id="{27EC1C17-1C21-2447-957F-F32331B17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2047"/>
              <a:ext cx="59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solidFill>
                    <a:srgbClr val="3399FF"/>
                  </a:solidFill>
                  <a:ea typeface="宋体" panose="02010600030101010101" pitchFamily="2" charset="-122"/>
                </a:rPr>
                <a:t>地址</a:t>
              </a:r>
              <a:r>
                <a:rPr kumimoji="1" lang="en-US" altLang="zh-CN" sz="1800" b="1">
                  <a:solidFill>
                    <a:srgbClr val="3399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006" name="AutoShape 120">
              <a:extLst>
                <a:ext uri="{FF2B5EF4-FFF2-40B4-BE49-F238E27FC236}">
                  <a16:creationId xmlns:a16="http://schemas.microsoft.com/office/drawing/2014/main" id="{CF43435B-F210-5840-9C23-5C5B0790A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115"/>
              <a:ext cx="136" cy="6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3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1007" name="Line 121">
              <a:extLst>
                <a:ext uri="{FF2B5EF4-FFF2-40B4-BE49-F238E27FC236}">
                  <a16:creationId xmlns:a16="http://schemas.microsoft.com/office/drawing/2014/main" id="{BA96539D-CD3A-CD43-870E-3951D1A8B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33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Line 122">
              <a:extLst>
                <a:ext uri="{FF2B5EF4-FFF2-40B4-BE49-F238E27FC236}">
                  <a16:creationId xmlns:a16="http://schemas.microsoft.com/office/drawing/2014/main" id="{EB59B556-B725-AE4C-9364-67460784E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6" y="177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9" name="Text Box 123">
              <a:extLst>
                <a:ext uri="{FF2B5EF4-FFF2-40B4-BE49-F238E27FC236}">
                  <a16:creationId xmlns:a16="http://schemas.microsoft.com/office/drawing/2014/main" id="{D99FBE04-ADF9-6647-BCD8-EDB53D933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2068"/>
              <a:ext cx="45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100" b="1">
                  <a:ea typeface="宋体" panose="02010600030101010101" pitchFamily="2" charset="-122"/>
                </a:rPr>
                <a:t>4096</a:t>
              </a:r>
              <a:r>
                <a:rPr kumimoji="1" lang="zh-CN" altLang="en-US" sz="1100" b="1">
                  <a:ea typeface="宋体" panose="02010600030101010101" pitchFamily="2" charset="-122"/>
                </a:rPr>
                <a:t>行</a:t>
              </a:r>
            </a:p>
          </p:txBody>
        </p:sp>
      </p:grp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6FC308E-8DD7-9849-9B70-AF90A1D11D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 dirty="0"/>
              <a:t>举例：</a:t>
            </a:r>
            <a:r>
              <a:rPr lang="en-US" altLang="zh-CN" dirty="0"/>
              <a:t>128MB</a:t>
            </a:r>
            <a:r>
              <a:rPr lang="zh-CN" altLang="en-US" dirty="0"/>
              <a:t>的</a:t>
            </a:r>
            <a:r>
              <a:rPr lang="en-US" altLang="zh-CN" dirty="0"/>
              <a:t>DRAM</a:t>
            </a:r>
            <a:r>
              <a:rPr lang="zh-CN" altLang="en-US" dirty="0"/>
              <a:t>存储器</a:t>
            </a:r>
          </a:p>
        </p:txBody>
      </p:sp>
      <p:grpSp>
        <p:nvGrpSpPr>
          <p:cNvPr id="40964" name="Group 3">
            <a:extLst>
              <a:ext uri="{FF2B5EF4-FFF2-40B4-BE49-F238E27FC236}">
                <a16:creationId xmlns:a16="http://schemas.microsoft.com/office/drawing/2014/main" id="{39E6D5B8-7B54-8441-A893-B72A4F988430}"/>
              </a:ext>
            </a:extLst>
          </p:cNvPr>
          <p:cNvGrpSpPr>
            <a:grpSpLocks/>
          </p:cNvGrpSpPr>
          <p:nvPr/>
        </p:nvGrpSpPr>
        <p:grpSpPr bwMode="auto">
          <a:xfrm>
            <a:off x="6821488" y="5251450"/>
            <a:ext cx="1908175" cy="698500"/>
            <a:chOff x="4388" y="982"/>
            <a:chExt cx="987" cy="441"/>
          </a:xfrm>
        </p:grpSpPr>
        <p:sp>
          <p:nvSpPr>
            <p:cNvPr id="40976" name="Rectangle 4">
              <a:extLst>
                <a:ext uri="{FF2B5EF4-FFF2-40B4-BE49-F238E27FC236}">
                  <a16:creationId xmlns:a16="http://schemas.microsoft.com/office/drawing/2014/main" id="{CF2A9CC2-0031-9B41-BD32-E291EC18C6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8" y="1102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0977" name="Text Box 5">
              <a:extLst>
                <a:ext uri="{FF2B5EF4-FFF2-40B4-BE49-F238E27FC236}">
                  <a16:creationId xmlns:a16="http://schemas.microsoft.com/office/drawing/2014/main" id="{E08FB926-1CB0-8843-86EB-0ECB182C97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88" y="982"/>
              <a:ext cx="987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Helvetica" pitchFamily="2" charset="0"/>
                  <a:ea typeface="宋体" panose="02010600030101010101" pitchFamily="2" charset="-122"/>
                </a:rPr>
                <a:t>: 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行、列地址为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(i,j)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个单元</a:t>
              </a:r>
            </a:p>
          </p:txBody>
        </p:sp>
      </p:grpSp>
      <p:sp>
        <p:nvSpPr>
          <p:cNvPr id="40965" name="Text Box 6">
            <a:extLst>
              <a:ext uri="{FF2B5EF4-FFF2-40B4-BE49-F238E27FC236}">
                <a16:creationId xmlns:a16="http://schemas.microsoft.com/office/drawing/2014/main" id="{51F848CE-01CD-B344-A5A1-C2DA70CA213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16688" y="760413"/>
            <a:ext cx="25558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endParaRPr lang="zh-CN" altLang="en-US" b="1">
              <a:latin typeface="Helvetica" pitchFamily="2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Tx/>
              <a:buChar char="•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由8片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芯片构成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每片 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16Mx8 bits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行地址、列地址各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每行共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4096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30000"/>
              </a:lnSpc>
              <a:buFontTx/>
              <a:buChar char="•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选中某一行并读出之后再由列地址选择其中的一列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个二进位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送出</a:t>
            </a:r>
          </a:p>
        </p:txBody>
      </p:sp>
      <p:sp>
        <p:nvSpPr>
          <p:cNvPr id="570492" name="Text Box 124">
            <a:extLst>
              <a:ext uri="{FF2B5EF4-FFF2-40B4-BE49-F238E27FC236}">
                <a16:creationId xmlns:a16="http://schemas.microsoft.com/office/drawing/2014/main" id="{EAAADE85-67CE-9B45-8B3C-CCD2ABAFB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5086350"/>
            <a:ext cx="2116137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主存地址和片内地址有何关系？</a:t>
            </a:r>
            <a:endParaRPr kumimoji="1" lang="en-US" altLang="zh-CN" sz="2000" b="1">
              <a:solidFill>
                <a:srgbClr val="CC0000"/>
              </a:solidFill>
              <a:ea typeface="微软雅黑" panose="020B0503020204020204" pitchFamily="34" charset="-122"/>
            </a:endParaRPr>
          </a:p>
        </p:txBody>
      </p:sp>
      <p:sp>
        <p:nvSpPr>
          <p:cNvPr id="570493" name="Text Box 125">
            <a:extLst>
              <a:ext uri="{FF2B5EF4-FFF2-40B4-BE49-F238E27FC236}">
                <a16:creationId xmlns:a16="http://schemas.microsoft.com/office/drawing/2014/main" id="{EAFB1B6D-2047-1B46-8CAF-4FFBADDB0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5753100"/>
            <a:ext cx="363855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主存地址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位，片内地址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位，与高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位主存地址相同。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0494" name="Text Box 126">
            <a:extLst>
              <a:ext uri="{FF2B5EF4-FFF2-40B4-BE49-F238E27FC236}">
                <a16:creationId xmlns:a16="http://schemas.microsoft.com/office/drawing/2014/main" id="{041E9055-15D9-4749-911D-8E81849FA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410325"/>
            <a:ext cx="374332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主存低</a:t>
            </a:r>
            <a:r>
              <a:rPr kumimoji="1" lang="en-US" altLang="zh-CN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位地址的作用是什么？</a:t>
            </a:r>
          </a:p>
        </p:txBody>
      </p:sp>
      <p:sp>
        <p:nvSpPr>
          <p:cNvPr id="570495" name="Text Box 127">
            <a:extLst>
              <a:ext uri="{FF2B5EF4-FFF2-40B4-BE49-F238E27FC236}">
                <a16:creationId xmlns:a16="http://schemas.microsoft.com/office/drawing/2014/main" id="{4AE14BB0-AD01-2144-AE36-851556728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454775"/>
            <a:ext cx="41783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个字节中的哪个，即用来选片。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0499" name="Text Box 131">
            <a:extLst>
              <a:ext uri="{FF2B5EF4-FFF2-40B4-BE49-F238E27FC236}">
                <a16:creationId xmlns:a16="http://schemas.microsoft.com/office/drawing/2014/main" id="{69C7F418-7DC7-3846-9F42-23FB91607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163" y="3979863"/>
            <a:ext cx="2400300" cy="549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 b="1">
                <a:solidFill>
                  <a:srgbClr val="FF0000"/>
                </a:solidFill>
                <a:ea typeface="微软雅黑" panose="020B0503020204020204" pitchFamily="34" charset="-122"/>
              </a:rPr>
              <a:t>不连续，交叉编址，可同时读写所有芯片。</a:t>
            </a:r>
            <a:endParaRPr kumimoji="1" lang="en-US" altLang="zh-CN" sz="1800" b="1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570497" name="Text Box 129">
            <a:extLst>
              <a:ext uri="{FF2B5EF4-FFF2-40B4-BE49-F238E27FC236}">
                <a16:creationId xmlns:a16="http://schemas.microsoft.com/office/drawing/2014/main" id="{E3365FBF-5D67-1043-BB7C-803C4C658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3641725"/>
            <a:ext cx="2438400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CC0000"/>
                </a:solidFill>
                <a:ea typeface="微软雅黑" panose="020B0503020204020204" pitchFamily="34" charset="-122"/>
              </a:rPr>
              <a:t>芯片内地址是否连续？</a:t>
            </a:r>
            <a:endParaRPr kumimoji="1" lang="en-US" altLang="zh-CN" sz="1800" b="1">
              <a:solidFill>
                <a:srgbClr val="CC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182B98F-4361-2E4C-AA46-923F35D71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593725"/>
            <a:ext cx="5111750" cy="133826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从该存储器结构可理解为什么规定数据对齐存放。</a:t>
            </a:r>
            <a:endParaRPr kumimoji="1" lang="en-US" altLang="zh-CN" sz="1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例如，一个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型数据若存放在第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个单元，则需要访问几次内存？若存放在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kumimoji="1"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个单元，则需要访问几次内存？</a:t>
            </a:r>
          </a:p>
        </p:txBody>
      </p:sp>
      <p:sp>
        <p:nvSpPr>
          <p:cNvPr id="553091" name="Text Box 5">
            <a:extLst>
              <a:ext uri="{FF2B5EF4-FFF2-40B4-BE49-F238E27FC236}">
                <a16:creationId xmlns:a16="http://schemas.microsoft.com/office/drawing/2014/main" id="{CF4C59D2-201B-3145-ABBB-1800EE50EB4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94463" y="719138"/>
            <a:ext cx="24479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950" tIns="44480" rIns="88950" bIns="4448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分别访问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次和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次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74FF5D0-0325-3441-9F5A-BAB02FFB0AC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7870" y="1971177"/>
            <a:ext cx="984358" cy="889795"/>
          </a:xfrm>
          <a:prstGeom prst="rect">
            <a:avLst/>
          </a:prstGeom>
          <a:blipFill>
            <a:blip r:embed="rId3"/>
            <a:stretch>
              <a:fillRect r="-2454"/>
            </a:stretch>
          </a:blip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D43D5B1-D389-2A43-95D7-D9BB4419BC7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0345" y="3309936"/>
            <a:ext cx="984358" cy="916982"/>
          </a:xfrm>
          <a:prstGeom prst="rect">
            <a:avLst/>
          </a:prstGeom>
          <a:blipFill>
            <a:blip r:embed="rId4"/>
            <a:stretch>
              <a:fillRect l="-4908" t="-3947"/>
            </a:stretch>
          </a:blip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0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493" grpId="0" animBg="1"/>
      <p:bldP spid="570494" grpId="0" animBg="1"/>
      <p:bldP spid="570495" grpId="0" animBg="1"/>
      <p:bldP spid="570499" grpId="0" animBg="1"/>
      <p:bldP spid="130" grpId="0" animBg="1"/>
      <p:bldP spid="55309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7">
            <a:extLst>
              <a:ext uri="{FF2B5EF4-FFF2-40B4-BE49-F238E27FC236}">
                <a16:creationId xmlns:a16="http://schemas.microsoft.com/office/drawing/2014/main" id="{046AB082-5BB9-784A-86F4-023AE3D77E0B}"/>
              </a:ext>
            </a:extLst>
          </p:cNvPr>
          <p:cNvGrpSpPr>
            <a:grpSpLocks/>
          </p:cNvGrpSpPr>
          <p:nvPr/>
        </p:nvGrpSpPr>
        <p:grpSpPr bwMode="auto">
          <a:xfrm>
            <a:off x="0" y="908050"/>
            <a:ext cx="7670800" cy="5189538"/>
            <a:chOff x="430" y="872"/>
            <a:chExt cx="4384" cy="3064"/>
          </a:xfrm>
        </p:grpSpPr>
        <p:sp>
          <p:nvSpPr>
            <p:cNvPr id="43032" name="Text Box 8">
              <a:extLst>
                <a:ext uri="{FF2B5EF4-FFF2-40B4-BE49-F238E27FC236}">
                  <a16:creationId xmlns:a16="http://schemas.microsoft.com/office/drawing/2014/main" id="{599BC82E-1EA2-A14C-A68E-69BF13AF64B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60" y="3100"/>
              <a:ext cx="75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 b="1">
                  <a:latin typeface="Helvetica" pitchFamily="2" charset="0"/>
                  <a:ea typeface="微软雅黑" panose="020B0503020204020204" pitchFamily="34" charset="-122"/>
                </a:rPr>
                <a:t>存储控制器</a:t>
              </a:r>
            </a:p>
          </p:txBody>
        </p:sp>
        <p:sp>
          <p:nvSpPr>
            <p:cNvPr id="43033" name="Rectangle 9">
              <a:extLst>
                <a:ext uri="{FF2B5EF4-FFF2-40B4-BE49-F238E27FC236}">
                  <a16:creationId xmlns:a16="http://schemas.microsoft.com/office/drawing/2014/main" id="{EB9EEFF5-791E-E34C-991A-20F8CE88E0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0" y="887"/>
              <a:ext cx="2832" cy="15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4" name="Rectangle 10">
              <a:extLst>
                <a:ext uri="{FF2B5EF4-FFF2-40B4-BE49-F238E27FC236}">
                  <a16:creationId xmlns:a16="http://schemas.microsoft.com/office/drawing/2014/main" id="{0BEDB606-9756-1243-A594-C0C9CDFE56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7" y="2779"/>
              <a:ext cx="2524" cy="7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5" name="Rectangle 11">
              <a:extLst>
                <a:ext uri="{FF2B5EF4-FFF2-40B4-BE49-F238E27FC236}">
                  <a16:creationId xmlns:a16="http://schemas.microsoft.com/office/drawing/2014/main" id="{6A1E47C8-E197-9044-B2C4-026019FC21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6" y="1304"/>
              <a:ext cx="613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6" name="Rectangle 12">
              <a:extLst>
                <a:ext uri="{FF2B5EF4-FFF2-40B4-BE49-F238E27FC236}">
                  <a16:creationId xmlns:a16="http://schemas.microsoft.com/office/drawing/2014/main" id="{692F4314-7651-1146-9C62-B2DA0DBB58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63" y="1372"/>
              <a:ext cx="614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7" name="Rectangle 13">
              <a:extLst>
                <a:ext uri="{FF2B5EF4-FFF2-40B4-BE49-F238E27FC236}">
                  <a16:creationId xmlns:a16="http://schemas.microsoft.com/office/drawing/2014/main" id="{2D1782B9-0898-9C46-A436-774E712939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90" y="1441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8" name="Rectangle 14">
              <a:extLst>
                <a:ext uri="{FF2B5EF4-FFF2-40B4-BE49-F238E27FC236}">
                  <a16:creationId xmlns:a16="http://schemas.microsoft.com/office/drawing/2014/main" id="{5AB37D94-0205-934E-9122-3B897A7F0E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18" y="1508"/>
              <a:ext cx="613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9" name="Rectangle 15">
              <a:extLst>
                <a:ext uri="{FF2B5EF4-FFF2-40B4-BE49-F238E27FC236}">
                  <a16:creationId xmlns:a16="http://schemas.microsoft.com/office/drawing/2014/main" id="{4928F32D-A174-094C-B873-3F987D7ECB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45" y="1577"/>
              <a:ext cx="614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0" name="Rectangle 16">
              <a:extLst>
                <a:ext uri="{FF2B5EF4-FFF2-40B4-BE49-F238E27FC236}">
                  <a16:creationId xmlns:a16="http://schemas.microsoft.com/office/drawing/2014/main" id="{11F94DAA-076D-B345-80E0-B72C147170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2" y="1645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1" name="Rectangle 17">
              <a:extLst>
                <a:ext uri="{FF2B5EF4-FFF2-40B4-BE49-F238E27FC236}">
                  <a16:creationId xmlns:a16="http://schemas.microsoft.com/office/drawing/2014/main" id="{4A07260D-281A-0543-B25A-88A84DCAE5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9" y="1713"/>
              <a:ext cx="613" cy="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2" name="Rectangle 18">
              <a:extLst>
                <a:ext uri="{FF2B5EF4-FFF2-40B4-BE49-F238E27FC236}">
                  <a16:creationId xmlns:a16="http://schemas.microsoft.com/office/drawing/2014/main" id="{26E9FAF3-8E11-194B-ADAD-1D91C075F0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26" y="1782"/>
              <a:ext cx="614" cy="54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8950" tIns="44480" rIns="88950" bIns="44480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Helvetica" pitchFamily="2" charset="0"/>
                <a:ea typeface="宋体" panose="02010600030101010101" pitchFamily="2" charset="-122"/>
              </a:endParaRPr>
            </a:p>
          </p:txBody>
        </p:sp>
        <p:grpSp>
          <p:nvGrpSpPr>
            <p:cNvPr id="43043" name="Group 19">
              <a:extLst>
                <a:ext uri="{FF2B5EF4-FFF2-40B4-BE49-F238E27FC236}">
                  <a16:creationId xmlns:a16="http://schemas.microsoft.com/office/drawing/2014/main" id="{99D986F5-BD53-8D49-AE7A-93C3B2184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5" y="872"/>
              <a:ext cx="2330" cy="2253"/>
              <a:chOff x="768" y="724"/>
              <a:chExt cx="2623" cy="2537"/>
            </a:xfrm>
          </p:grpSpPr>
          <p:sp>
            <p:nvSpPr>
              <p:cNvPr id="43135" name="Line 20">
                <a:extLst>
                  <a:ext uri="{FF2B5EF4-FFF2-40B4-BE49-F238E27FC236}">
                    <a16:creationId xmlns:a16="http://schemas.microsoft.com/office/drawing/2014/main" id="{9A5395B9-2154-754C-8C6A-BBF15E84F1E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68" y="913"/>
                <a:ext cx="2623" cy="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136" name="Group 21">
                <a:extLst>
                  <a:ext uri="{FF2B5EF4-FFF2-40B4-BE49-F238E27FC236}">
                    <a16:creationId xmlns:a16="http://schemas.microsoft.com/office/drawing/2014/main" id="{451344C2-1640-854B-86EC-FC00459620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724"/>
                <a:ext cx="2610" cy="2537"/>
                <a:chOff x="768" y="724"/>
                <a:chExt cx="2610" cy="2537"/>
              </a:xfrm>
            </p:grpSpPr>
            <p:sp>
              <p:nvSpPr>
                <p:cNvPr id="43137" name="Text Box 22">
                  <a:extLst>
                    <a:ext uri="{FF2B5EF4-FFF2-40B4-BE49-F238E27FC236}">
                      <a16:creationId xmlns:a16="http://schemas.microsoft.com/office/drawing/2014/main" id="{7895CC94-6B2D-4E41-9DB5-09C37B737A09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769" y="724"/>
                  <a:ext cx="121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CN" sz="1400" b="1"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行地址</a:t>
                  </a:r>
                  <a:r>
                    <a:rPr lang="en-US" altLang="zh-CN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i, </a:t>
                  </a:r>
                  <a:r>
                    <a:rPr lang="zh-CN" altLang="en-US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列地址</a:t>
                  </a:r>
                  <a:r>
                    <a:rPr lang="en-US" altLang="zh-CN" sz="1400" b="1">
                      <a:solidFill>
                        <a:srgbClr val="0099FF"/>
                      </a:solidFill>
                      <a:latin typeface="Courier New" panose="02070309020205020404" pitchFamily="49" charset="0"/>
                      <a:ea typeface="宋体" panose="02010600030101010101" pitchFamily="2" charset="-122"/>
                    </a:rPr>
                    <a:t>j)</a:t>
                  </a:r>
                </a:p>
              </p:txBody>
            </p:sp>
            <p:sp>
              <p:nvSpPr>
                <p:cNvPr id="43138" name="Line 23">
                  <a:extLst>
                    <a:ext uri="{FF2B5EF4-FFF2-40B4-BE49-F238E27FC236}">
                      <a16:creationId xmlns:a16="http://schemas.microsoft.com/office/drawing/2014/main" id="{E2FD8D95-629E-DF44-892A-3390DAB9848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378" y="913"/>
                  <a:ext cx="0" cy="30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9" name="Line 24">
                  <a:extLst>
                    <a:ext uri="{FF2B5EF4-FFF2-40B4-BE49-F238E27FC236}">
                      <a16:creationId xmlns:a16="http://schemas.microsoft.com/office/drawing/2014/main" id="{6DC21D39-3739-D142-A860-5B4CEF82508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33" y="913"/>
                  <a:ext cx="0" cy="37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0" name="Line 25">
                  <a:extLst>
                    <a:ext uri="{FF2B5EF4-FFF2-40B4-BE49-F238E27FC236}">
                      <a16:creationId xmlns:a16="http://schemas.microsoft.com/office/drawing/2014/main" id="{AF7CF27F-0BE4-DE44-9FB8-838A1091CC6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726" y="913"/>
                  <a:ext cx="0" cy="46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1" name="Line 26">
                  <a:extLst>
                    <a:ext uri="{FF2B5EF4-FFF2-40B4-BE49-F238E27FC236}">
                      <a16:creationId xmlns:a16="http://schemas.microsoft.com/office/drawing/2014/main" id="{F85D0C31-EBCF-2449-84AB-856CA2DFE11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419" y="913"/>
                  <a:ext cx="0" cy="53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2" name="Line 27">
                  <a:extLst>
                    <a:ext uri="{FF2B5EF4-FFF2-40B4-BE49-F238E27FC236}">
                      <a16:creationId xmlns:a16="http://schemas.microsoft.com/office/drawing/2014/main" id="{5CD1DD5D-AD4B-3549-BD16-FFDA498D4A6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913"/>
                  <a:ext cx="0" cy="61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3" name="Line 28">
                  <a:extLst>
                    <a:ext uri="{FF2B5EF4-FFF2-40B4-BE49-F238E27FC236}">
                      <a16:creationId xmlns:a16="http://schemas.microsoft.com/office/drawing/2014/main" id="{959A1864-A44C-6244-82AD-7A1E6A0A8B3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766" y="913"/>
                  <a:ext cx="0" cy="691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4" name="Line 29">
                  <a:extLst>
                    <a:ext uri="{FF2B5EF4-FFF2-40B4-BE49-F238E27FC236}">
                      <a16:creationId xmlns:a16="http://schemas.microsoft.com/office/drawing/2014/main" id="{78064B26-FEFA-DF4D-8ECE-04FA5E09D31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497" y="913"/>
                  <a:ext cx="0" cy="767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5" name="Line 30">
                  <a:extLst>
                    <a:ext uri="{FF2B5EF4-FFF2-40B4-BE49-F238E27FC236}">
                      <a16:creationId xmlns:a16="http://schemas.microsoft.com/office/drawing/2014/main" id="{7A8238A6-3EF0-3243-927C-D72BBE25B92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190" y="913"/>
                  <a:ext cx="0" cy="844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6" name="Line 31">
                  <a:extLst>
                    <a:ext uri="{FF2B5EF4-FFF2-40B4-BE49-F238E27FC236}">
                      <a16:creationId xmlns:a16="http://schemas.microsoft.com/office/drawing/2014/main" id="{81E407FF-E163-0443-9CE8-4CF82AD474E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768" y="3255"/>
                  <a:ext cx="518" cy="6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47" name="Line 32">
                  <a:extLst>
                    <a:ext uri="{FF2B5EF4-FFF2-40B4-BE49-F238E27FC236}">
                      <a16:creationId xmlns:a16="http://schemas.microsoft.com/office/drawing/2014/main" id="{D84A8243-923A-9E45-B628-927BDE0FC23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768" y="913"/>
                  <a:ext cx="0" cy="2342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3044" name="Rectangle 33">
              <a:extLst>
                <a:ext uri="{FF2B5EF4-FFF2-40B4-BE49-F238E27FC236}">
                  <a16:creationId xmlns:a16="http://schemas.microsoft.com/office/drawing/2014/main" id="{977EB39D-CDAC-C248-A8DF-73DC08D5C4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5" y="1946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5" name="Rectangle 34">
              <a:extLst>
                <a:ext uri="{FF2B5EF4-FFF2-40B4-BE49-F238E27FC236}">
                  <a16:creationId xmlns:a16="http://schemas.microsoft.com/office/drawing/2014/main" id="{E24D8930-E95B-F34C-862A-BB96E0F898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44" y="2012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6" name="Rectangle 35">
              <a:extLst>
                <a:ext uri="{FF2B5EF4-FFF2-40B4-BE49-F238E27FC236}">
                  <a16:creationId xmlns:a16="http://schemas.microsoft.com/office/drawing/2014/main" id="{700D98FC-7917-3546-BFD6-15949E2C85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8" y="1875"/>
              <a:ext cx="56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7" name="Rectangle 36">
              <a:extLst>
                <a:ext uri="{FF2B5EF4-FFF2-40B4-BE49-F238E27FC236}">
                  <a16:creationId xmlns:a16="http://schemas.microsoft.com/office/drawing/2014/main" id="{3B8DC8FC-431F-7A49-92C7-934745A8EB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3" y="1804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8" name="Rectangle 37">
              <a:extLst>
                <a:ext uri="{FF2B5EF4-FFF2-40B4-BE49-F238E27FC236}">
                  <a16:creationId xmlns:a16="http://schemas.microsoft.com/office/drawing/2014/main" id="{152603A3-E1D8-4E48-97FD-A4542EAB95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34" y="1730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49" name="Rectangle 38">
              <a:extLst>
                <a:ext uri="{FF2B5EF4-FFF2-40B4-BE49-F238E27FC236}">
                  <a16:creationId xmlns:a16="http://schemas.microsoft.com/office/drawing/2014/main" id="{89935151-6994-0A4F-A144-728BD0C8AF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02" y="1668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50" name="Rectangle 39">
              <a:extLst>
                <a:ext uri="{FF2B5EF4-FFF2-40B4-BE49-F238E27FC236}">
                  <a16:creationId xmlns:a16="http://schemas.microsoft.com/office/drawing/2014/main" id="{3D8047E5-1AF6-1A41-AE27-47A5B5893F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4" y="1593"/>
              <a:ext cx="57" cy="64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51" name="Rectangle 40">
              <a:extLst>
                <a:ext uri="{FF2B5EF4-FFF2-40B4-BE49-F238E27FC236}">
                  <a16:creationId xmlns:a16="http://schemas.microsoft.com/office/drawing/2014/main" id="{C2EF3666-98D7-E74F-A3CE-17B58F58D5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42" y="1526"/>
              <a:ext cx="57" cy="6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52" name="Text Box 41">
              <a:extLst>
                <a:ext uri="{FF2B5EF4-FFF2-40B4-BE49-F238E27FC236}">
                  <a16:creationId xmlns:a16="http://schemas.microsoft.com/office/drawing/2014/main" id="{8D0F6934-4394-F24D-BC2B-DB0096FE9E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1" y="1758"/>
              <a:ext cx="380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000" b="1">
                  <a:solidFill>
                    <a:srgbClr val="0033CC"/>
                  </a:solidFill>
                  <a:latin typeface="Helvetica" pitchFamily="2" charset="0"/>
                  <a:ea typeface="宋体" panose="02010600030101010101" pitchFamily="2" charset="-122"/>
                </a:rPr>
                <a:t>DRAM 7</a:t>
              </a:r>
            </a:p>
          </p:txBody>
        </p:sp>
        <p:sp>
          <p:nvSpPr>
            <p:cNvPr id="43053" name="Text Box 42">
              <a:extLst>
                <a:ext uri="{FF2B5EF4-FFF2-40B4-BE49-F238E27FC236}">
                  <a16:creationId xmlns:a16="http://schemas.microsoft.com/office/drawing/2014/main" id="{CBC1D72D-DC18-6C4E-868A-71AAFA5E41B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02" y="1264"/>
              <a:ext cx="381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000" b="1">
                  <a:solidFill>
                    <a:srgbClr val="0033CC"/>
                  </a:solidFill>
                  <a:latin typeface="Helvetica" pitchFamily="2" charset="0"/>
                  <a:ea typeface="宋体" panose="02010600030101010101" pitchFamily="2" charset="-122"/>
                </a:rPr>
                <a:t>DRAM 0</a:t>
              </a:r>
            </a:p>
          </p:txBody>
        </p:sp>
        <p:grpSp>
          <p:nvGrpSpPr>
            <p:cNvPr id="43054" name="Group 43">
              <a:extLst>
                <a:ext uri="{FF2B5EF4-FFF2-40B4-BE49-F238E27FC236}">
                  <a16:creationId xmlns:a16="http://schemas.microsoft.com/office/drawing/2014/main" id="{74832328-919C-9440-A42B-1CE40E69FF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9" y="2917"/>
              <a:ext cx="2286" cy="428"/>
              <a:chOff x="1471" y="3026"/>
              <a:chExt cx="2575" cy="482"/>
            </a:xfrm>
          </p:grpSpPr>
          <p:sp>
            <p:nvSpPr>
              <p:cNvPr id="43108" name="Text Box 44">
                <a:extLst>
                  <a:ext uri="{FF2B5EF4-FFF2-40B4-BE49-F238E27FC236}">
                    <a16:creationId xmlns:a16="http://schemas.microsoft.com/office/drawing/2014/main" id="{E8948642-2384-D440-8050-E665A61B157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891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3109" name="Text Box 45">
                <a:extLst>
                  <a:ext uri="{FF2B5EF4-FFF2-40B4-BE49-F238E27FC236}">
                    <a16:creationId xmlns:a16="http://schemas.microsoft.com/office/drawing/2014/main" id="{34A49970-5293-6146-A2E9-BFC4B0EE9F3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69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43110" name="Text Box 46">
                <a:extLst>
                  <a:ext uri="{FF2B5EF4-FFF2-40B4-BE49-F238E27FC236}">
                    <a16:creationId xmlns:a16="http://schemas.microsoft.com/office/drawing/2014/main" id="{C06E9608-5B5B-6E46-A130-0CA97E41C09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46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43111" name="Text Box 47">
                <a:extLst>
                  <a:ext uri="{FF2B5EF4-FFF2-40B4-BE49-F238E27FC236}">
                    <a16:creationId xmlns:a16="http://schemas.microsoft.com/office/drawing/2014/main" id="{C519C8AA-FD99-5245-852C-4968C0C24EF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58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43112" name="Text Box 48">
                <a:extLst>
                  <a:ext uri="{FF2B5EF4-FFF2-40B4-BE49-F238E27FC236}">
                    <a16:creationId xmlns:a16="http://schemas.microsoft.com/office/drawing/2014/main" id="{1E841E56-6D1C-2541-81BD-C056EDD5873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31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43113" name="Text Box 49">
                <a:extLst>
                  <a:ext uri="{FF2B5EF4-FFF2-40B4-BE49-F238E27FC236}">
                    <a16:creationId xmlns:a16="http://schemas.microsoft.com/office/drawing/2014/main" id="{687C0676-0B2E-854E-BC63-71D0E3136B7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9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43114" name="Text Box 50">
                <a:extLst>
                  <a:ext uri="{FF2B5EF4-FFF2-40B4-BE49-F238E27FC236}">
                    <a16:creationId xmlns:a16="http://schemas.microsoft.com/office/drawing/2014/main" id="{253F28F6-923F-3A47-9165-1B8DED6FD5D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034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23</a:t>
                </a:r>
              </a:p>
            </p:txBody>
          </p:sp>
          <p:sp>
            <p:nvSpPr>
              <p:cNvPr id="43115" name="Text Box 51">
                <a:extLst>
                  <a:ext uri="{FF2B5EF4-FFF2-40B4-BE49-F238E27FC236}">
                    <a16:creationId xmlns:a16="http://schemas.microsoft.com/office/drawing/2014/main" id="{FB33C1CE-A909-364E-8B0D-D4FDE8F735F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92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24</a:t>
                </a:r>
              </a:p>
            </p:txBody>
          </p:sp>
          <p:sp>
            <p:nvSpPr>
              <p:cNvPr id="43116" name="Text Box 52">
                <a:extLst>
                  <a:ext uri="{FF2B5EF4-FFF2-40B4-BE49-F238E27FC236}">
                    <a16:creationId xmlns:a16="http://schemas.microsoft.com/office/drawing/2014/main" id="{6FA05F86-B92B-D54E-AC1A-2CCF2F9FD23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94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32</a:t>
                </a:r>
              </a:p>
            </p:txBody>
          </p:sp>
          <p:sp>
            <p:nvSpPr>
              <p:cNvPr id="43117" name="Text Box 53">
                <a:extLst>
                  <a:ext uri="{FF2B5EF4-FFF2-40B4-BE49-F238E27FC236}">
                    <a16:creationId xmlns:a16="http://schemas.microsoft.com/office/drawing/2014/main" id="{1A97F788-F81E-CB49-8564-80503927F4A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7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63</a:t>
                </a:r>
              </a:p>
            </p:txBody>
          </p:sp>
          <p:sp>
            <p:nvSpPr>
              <p:cNvPr id="43118" name="Text Box 54">
                <a:extLst>
                  <a:ext uri="{FF2B5EF4-FFF2-40B4-BE49-F238E27FC236}">
                    <a16:creationId xmlns:a16="http://schemas.microsoft.com/office/drawing/2014/main" id="{25F426C0-6B27-4C41-8FAF-F6C14625A64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1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39</a:t>
                </a:r>
              </a:p>
            </p:txBody>
          </p:sp>
          <p:sp>
            <p:nvSpPr>
              <p:cNvPr id="43119" name="Text Box 55">
                <a:extLst>
                  <a:ext uri="{FF2B5EF4-FFF2-40B4-BE49-F238E27FC236}">
                    <a16:creationId xmlns:a16="http://schemas.microsoft.com/office/drawing/2014/main" id="{3D9D621F-8317-714E-BA3C-4D3F76FCF5B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86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43120" name="Text Box 56">
                <a:extLst>
                  <a:ext uri="{FF2B5EF4-FFF2-40B4-BE49-F238E27FC236}">
                    <a16:creationId xmlns:a16="http://schemas.microsoft.com/office/drawing/2014/main" id="{2769B8AB-61E2-E445-BF2A-1CCE5B147D9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08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47</a:t>
                </a:r>
              </a:p>
            </p:txBody>
          </p:sp>
          <p:sp>
            <p:nvSpPr>
              <p:cNvPr id="43121" name="Text Box 57">
                <a:extLst>
                  <a:ext uri="{FF2B5EF4-FFF2-40B4-BE49-F238E27FC236}">
                    <a16:creationId xmlns:a16="http://schemas.microsoft.com/office/drawing/2014/main" id="{2DD32809-397B-3B4D-9915-08FBE0FC3A6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79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48</a:t>
                </a:r>
              </a:p>
            </p:txBody>
          </p:sp>
          <p:sp>
            <p:nvSpPr>
              <p:cNvPr id="43122" name="Text Box 58">
                <a:extLst>
                  <a:ext uri="{FF2B5EF4-FFF2-40B4-BE49-F238E27FC236}">
                    <a16:creationId xmlns:a16="http://schemas.microsoft.com/office/drawing/2014/main" id="{BAC5B8CC-853E-9240-ACD6-412F974ED16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8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55</a:t>
                </a:r>
              </a:p>
            </p:txBody>
          </p:sp>
          <p:sp>
            <p:nvSpPr>
              <p:cNvPr id="43123" name="Text Box 59">
                <a:extLst>
                  <a:ext uri="{FF2B5EF4-FFF2-40B4-BE49-F238E27FC236}">
                    <a16:creationId xmlns:a16="http://schemas.microsoft.com/office/drawing/2014/main" id="{9AAE2BBF-AADD-D443-96A9-D688F3C2143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6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56</a:t>
                </a:r>
              </a:p>
            </p:txBody>
          </p:sp>
          <p:grpSp>
            <p:nvGrpSpPr>
              <p:cNvPr id="43124" name="Group 60">
                <a:extLst>
                  <a:ext uri="{FF2B5EF4-FFF2-40B4-BE49-F238E27FC236}">
                    <a16:creationId xmlns:a16="http://schemas.microsoft.com/office/drawing/2014/main" id="{DCDFDEFC-1BFC-F740-BD7F-9B004FC9E9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355"/>
                <a:chOff x="1536" y="3153"/>
                <a:chExt cx="2446" cy="355"/>
              </a:xfrm>
            </p:grpSpPr>
            <p:grpSp>
              <p:nvGrpSpPr>
                <p:cNvPr id="43125" name="Group 61">
                  <a:extLst>
                    <a:ext uri="{FF2B5EF4-FFF2-40B4-BE49-F238E27FC236}">
                      <a16:creationId xmlns:a16="http://schemas.microsoft.com/office/drawing/2014/main" id="{601F416A-4A92-3C48-9C4F-F01EE0B6F2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3153"/>
                  <a:ext cx="2446" cy="154"/>
                  <a:chOff x="1536" y="3153"/>
                  <a:chExt cx="2446" cy="154"/>
                </a:xfrm>
              </p:grpSpPr>
              <p:sp>
                <p:nvSpPr>
                  <p:cNvPr id="43127" name="Rectangle 62">
                    <a:extLst>
                      <a:ext uri="{FF2B5EF4-FFF2-40B4-BE49-F238E27FC236}">
                        <a16:creationId xmlns:a16="http://schemas.microsoft.com/office/drawing/2014/main" id="{2CCB790A-5620-0C47-8D52-54AA79CADEB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5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28" name="Rectangle 63">
                    <a:extLst>
                      <a:ext uri="{FF2B5EF4-FFF2-40B4-BE49-F238E27FC236}">
                        <a16:creationId xmlns:a16="http://schemas.microsoft.com/office/drawing/2014/main" id="{15318CCA-55D0-5D4C-9A4D-6F1EA213284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06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29" name="Rectangle 64">
                    <a:extLst>
                      <a:ext uri="{FF2B5EF4-FFF2-40B4-BE49-F238E27FC236}">
                        <a16:creationId xmlns:a16="http://schemas.microsoft.com/office/drawing/2014/main" id="{9A8DB08A-51B8-1248-89B7-49A72CBF91B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6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30" name="Rectangle 65">
                    <a:extLst>
                      <a:ext uri="{FF2B5EF4-FFF2-40B4-BE49-F238E27FC236}">
                        <a16:creationId xmlns:a16="http://schemas.microsoft.com/office/drawing/2014/main" id="{C7A71A29-2D02-664F-B396-34BB1957B69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674" y="3153"/>
                    <a:ext cx="308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31" name="Rectangle 66">
                    <a:extLst>
                      <a:ext uri="{FF2B5EF4-FFF2-40B4-BE49-F238E27FC236}">
                        <a16:creationId xmlns:a16="http://schemas.microsoft.com/office/drawing/2014/main" id="{F3D32108-135E-6A4F-A88A-BB6CF7AE576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36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32" name="Rectangle 67">
                    <a:extLst>
                      <a:ext uri="{FF2B5EF4-FFF2-40B4-BE49-F238E27FC236}">
                        <a16:creationId xmlns:a16="http://schemas.microsoft.com/office/drawing/2014/main" id="{CEF2FF2B-9B85-0A49-B5DF-EEB5C871981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4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33" name="Rectangle 68">
                    <a:extLst>
                      <a:ext uri="{FF2B5EF4-FFF2-40B4-BE49-F238E27FC236}">
                        <a16:creationId xmlns:a16="http://schemas.microsoft.com/office/drawing/2014/main" id="{0C91148C-00B1-2249-BC26-70ECD2551ED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5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134" name="Rectangle 69">
                    <a:extLst>
                      <a:ext uri="{FF2B5EF4-FFF2-40B4-BE49-F238E27FC236}">
                        <a16:creationId xmlns:a16="http://schemas.microsoft.com/office/drawing/2014/main" id="{A1962983-F6F5-6440-9361-3C741D1E5CB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45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43126" name="Text Box 70">
                  <a:extLst>
                    <a:ext uri="{FF2B5EF4-FFF2-40B4-BE49-F238E27FC236}">
                      <a16:creationId xmlns:a16="http://schemas.microsoft.com/office/drawing/2014/main" id="{A189EAD8-5090-AA42-9D30-3A081BD06E69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53" y="3307"/>
                  <a:ext cx="115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endParaRPr lang="zh-CN" altLang="en-US" sz="1400" b="1">
                    <a:latin typeface="Helvetica" pitchFamily="2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43055" name="Group 71">
              <a:extLst>
                <a:ext uri="{FF2B5EF4-FFF2-40B4-BE49-F238E27FC236}">
                  <a16:creationId xmlns:a16="http://schemas.microsoft.com/office/drawing/2014/main" id="{314109EF-9A41-3C4F-BCED-D6D678734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0" y="1585"/>
              <a:ext cx="2132" cy="1330"/>
              <a:chOff x="1652" y="1527"/>
              <a:chExt cx="2400" cy="1497"/>
            </a:xfrm>
          </p:grpSpPr>
          <p:grpSp>
            <p:nvGrpSpPr>
              <p:cNvPr id="43091" name="Group 72">
                <a:extLst>
                  <a:ext uri="{FF2B5EF4-FFF2-40B4-BE49-F238E27FC236}">
                    <a16:creationId xmlns:a16="http://schemas.microsoft.com/office/drawing/2014/main" id="{4977F839-6073-B54E-8949-A29317C5A9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7" y="1527"/>
                <a:ext cx="2137" cy="1497"/>
                <a:chOff x="1677" y="1527"/>
                <a:chExt cx="2137" cy="1497"/>
              </a:xfrm>
            </p:grpSpPr>
            <p:sp>
              <p:nvSpPr>
                <p:cNvPr id="43100" name="Line 73">
                  <a:extLst>
                    <a:ext uri="{FF2B5EF4-FFF2-40B4-BE49-F238E27FC236}">
                      <a16:creationId xmlns:a16="http://schemas.microsoft.com/office/drawing/2014/main" id="{69752716-2D2A-CA49-8B0C-1447DBFCCAA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814" y="1527"/>
                  <a:ext cx="0" cy="1497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1" name="Line 74">
                  <a:extLst>
                    <a:ext uri="{FF2B5EF4-FFF2-40B4-BE49-F238E27FC236}">
                      <a16:creationId xmlns:a16="http://schemas.microsoft.com/office/drawing/2014/main" id="{E3E63479-853B-5F4D-A97F-E755CB0942F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513" y="1604"/>
                  <a:ext cx="0" cy="141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2" name="Line 75">
                  <a:extLst>
                    <a:ext uri="{FF2B5EF4-FFF2-40B4-BE49-F238E27FC236}">
                      <a16:creationId xmlns:a16="http://schemas.microsoft.com/office/drawing/2014/main" id="{07C8CA0C-FD7A-CE45-BD81-3707D115A2D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206" y="1680"/>
                  <a:ext cx="0" cy="134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3" name="Line 76">
                  <a:extLst>
                    <a:ext uri="{FF2B5EF4-FFF2-40B4-BE49-F238E27FC236}">
                      <a16:creationId xmlns:a16="http://schemas.microsoft.com/office/drawing/2014/main" id="{4823C316-A95F-1643-9C80-1D37EF127E4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905" y="1757"/>
                  <a:ext cx="0" cy="1261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4" name="Line 77">
                  <a:extLst>
                    <a:ext uri="{FF2B5EF4-FFF2-40B4-BE49-F238E27FC236}">
                      <a16:creationId xmlns:a16="http://schemas.microsoft.com/office/drawing/2014/main" id="{FA34E1A3-9CB6-844D-99DF-906353315EE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592" y="1834"/>
                  <a:ext cx="0" cy="1190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5" name="Line 78">
                  <a:extLst>
                    <a:ext uri="{FF2B5EF4-FFF2-40B4-BE49-F238E27FC236}">
                      <a16:creationId xmlns:a16="http://schemas.microsoft.com/office/drawing/2014/main" id="{A50F7886-F9B9-BC4F-89DA-26E8D1E1523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278" y="1911"/>
                  <a:ext cx="0" cy="1113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6" name="Line 79">
                  <a:extLst>
                    <a:ext uri="{FF2B5EF4-FFF2-40B4-BE49-F238E27FC236}">
                      <a16:creationId xmlns:a16="http://schemas.microsoft.com/office/drawing/2014/main" id="{785A8607-6062-D24A-AEFD-0022958CE0C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971" y="1988"/>
                  <a:ext cx="0" cy="1036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7" name="Line 80">
                  <a:extLst>
                    <a:ext uri="{FF2B5EF4-FFF2-40B4-BE49-F238E27FC236}">
                      <a16:creationId xmlns:a16="http://schemas.microsoft.com/office/drawing/2014/main" id="{792C1FF9-5423-BE40-B0FA-84592E5D06D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677" y="2064"/>
                  <a:ext cx="0" cy="954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3092" name="Text Box 81">
                <a:extLst>
                  <a:ext uri="{FF2B5EF4-FFF2-40B4-BE49-F238E27FC236}">
                    <a16:creationId xmlns:a16="http://schemas.microsoft.com/office/drawing/2014/main" id="{88D2896C-023E-D94C-8ED5-471AF52C0C7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792" y="2510"/>
                <a:ext cx="260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0-7</a:t>
                </a:r>
              </a:p>
            </p:txBody>
          </p:sp>
          <p:sp>
            <p:nvSpPr>
              <p:cNvPr id="43093" name="Text Box 82">
                <a:extLst>
                  <a:ext uri="{FF2B5EF4-FFF2-40B4-BE49-F238E27FC236}">
                    <a16:creationId xmlns:a16="http://schemas.microsoft.com/office/drawing/2014/main" id="{590E301F-F564-E146-88B4-6E8E114C094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4" y="2510"/>
                <a:ext cx="27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8-15</a:t>
                </a:r>
              </a:p>
            </p:txBody>
          </p:sp>
          <p:sp>
            <p:nvSpPr>
              <p:cNvPr id="43094" name="Text Box 83">
                <a:extLst>
                  <a:ext uri="{FF2B5EF4-FFF2-40B4-BE49-F238E27FC236}">
                    <a16:creationId xmlns:a16="http://schemas.microsoft.com/office/drawing/2014/main" id="{0B8CBA4A-95B5-B842-BA4A-A739182EADD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86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16-23</a:t>
                </a:r>
              </a:p>
            </p:txBody>
          </p:sp>
          <p:sp>
            <p:nvSpPr>
              <p:cNvPr id="43095" name="Text Box 84">
                <a:extLst>
                  <a:ext uri="{FF2B5EF4-FFF2-40B4-BE49-F238E27FC236}">
                    <a16:creationId xmlns:a16="http://schemas.microsoft.com/office/drawing/2014/main" id="{FF727279-B4E5-A94D-845F-DB0D21B2E7B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79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24-31</a:t>
                </a:r>
              </a:p>
            </p:txBody>
          </p:sp>
          <p:sp>
            <p:nvSpPr>
              <p:cNvPr id="43096" name="Text Box 85">
                <a:extLst>
                  <a:ext uri="{FF2B5EF4-FFF2-40B4-BE49-F238E27FC236}">
                    <a16:creationId xmlns:a16="http://schemas.microsoft.com/office/drawing/2014/main" id="{8FF27A7A-88BB-EB44-A03B-9BBD66BD50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72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32-39</a:t>
                </a:r>
              </a:p>
            </p:txBody>
          </p:sp>
          <p:sp>
            <p:nvSpPr>
              <p:cNvPr id="43097" name="Text Box 86">
                <a:extLst>
                  <a:ext uri="{FF2B5EF4-FFF2-40B4-BE49-F238E27FC236}">
                    <a16:creationId xmlns:a16="http://schemas.microsoft.com/office/drawing/2014/main" id="{EB877117-C439-E84E-83E3-396C3DF5044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48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40-47</a:t>
                </a:r>
              </a:p>
            </p:txBody>
          </p:sp>
          <p:sp>
            <p:nvSpPr>
              <p:cNvPr id="43098" name="Text Box 87">
                <a:extLst>
                  <a:ext uri="{FF2B5EF4-FFF2-40B4-BE49-F238E27FC236}">
                    <a16:creationId xmlns:a16="http://schemas.microsoft.com/office/drawing/2014/main" id="{1F521D90-3C83-654A-93BA-0C448C84AC9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39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48-55</a:t>
                </a:r>
              </a:p>
            </p:txBody>
          </p:sp>
          <p:sp>
            <p:nvSpPr>
              <p:cNvPr id="43099" name="Text Box 88">
                <a:extLst>
                  <a:ext uri="{FF2B5EF4-FFF2-40B4-BE49-F238E27FC236}">
                    <a16:creationId xmlns:a16="http://schemas.microsoft.com/office/drawing/2014/main" id="{37A0C876-9899-C44F-A1D0-AB05A079310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52" y="2510"/>
                <a:ext cx="32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bits</a:t>
                </a:r>
              </a:p>
              <a:p>
                <a:r>
                  <a:rPr lang="en-US" altLang="zh-CN" sz="1000" b="1">
                    <a:latin typeface="Helvetica" pitchFamily="2" charset="0"/>
                    <a:ea typeface="宋体" panose="02010600030101010101" pitchFamily="2" charset="-122"/>
                  </a:rPr>
                  <a:t>56-63</a:t>
                </a:r>
              </a:p>
            </p:txBody>
          </p:sp>
        </p:grpSp>
        <p:sp>
          <p:nvSpPr>
            <p:cNvPr id="43056" name="AutoShape 89">
              <a:extLst>
                <a:ext uri="{FF2B5EF4-FFF2-40B4-BE49-F238E27FC236}">
                  <a16:creationId xmlns:a16="http://schemas.microsoft.com/office/drawing/2014/main" id="{66C14525-5F9A-5D46-A08F-B9D2F97E98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3495"/>
              <a:ext cx="478" cy="44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99CC"/>
            </a:solidFill>
            <a:ln w="12700">
              <a:solidFill>
                <a:srgbClr val="000004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4"/>
              </a:outerShdw>
            </a:effec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57" name="Text Box 90">
              <a:extLst>
                <a:ext uri="{FF2B5EF4-FFF2-40B4-BE49-F238E27FC236}">
                  <a16:creationId xmlns:a16="http://schemas.microsoft.com/office/drawing/2014/main" id="{D58A9A4C-B26B-5B42-BB84-2A7FF5504B5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73" y="3646"/>
              <a:ext cx="88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000" b="1">
                  <a:ea typeface="黑体" panose="02010609060101010101" pitchFamily="49" charset="-122"/>
                </a:rPr>
                <a:t> 最多读64位</a:t>
              </a:r>
            </a:p>
          </p:txBody>
        </p:sp>
        <p:grpSp>
          <p:nvGrpSpPr>
            <p:cNvPr id="43058" name="Group 91">
              <a:extLst>
                <a:ext uri="{FF2B5EF4-FFF2-40B4-BE49-F238E27FC236}">
                  <a16:creationId xmlns:a16="http://schemas.microsoft.com/office/drawing/2014/main" id="{B5820065-D659-634C-B7B3-61495F322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0" y="2917"/>
              <a:ext cx="2286" cy="447"/>
              <a:chOff x="1472" y="3026"/>
              <a:chExt cx="2575" cy="504"/>
            </a:xfrm>
          </p:grpSpPr>
          <p:sp>
            <p:nvSpPr>
              <p:cNvPr id="43064" name="Text Box 92">
                <a:extLst>
                  <a:ext uri="{FF2B5EF4-FFF2-40B4-BE49-F238E27FC236}">
                    <a16:creationId xmlns:a16="http://schemas.microsoft.com/office/drawing/2014/main" id="{273A50DA-094A-D045-A4B0-935A8D35811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892" y="3026"/>
                <a:ext cx="155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3065" name="Text Box 93">
                <a:extLst>
                  <a:ext uri="{FF2B5EF4-FFF2-40B4-BE49-F238E27FC236}">
                    <a16:creationId xmlns:a16="http://schemas.microsoft.com/office/drawing/2014/main" id="{3EACF72A-E249-BF43-BAD1-7E4F94F3D0B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0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43066" name="Text Box 94">
                <a:extLst>
                  <a:ext uri="{FF2B5EF4-FFF2-40B4-BE49-F238E27FC236}">
                    <a16:creationId xmlns:a16="http://schemas.microsoft.com/office/drawing/2014/main" id="{47ED8E18-FF77-D748-B313-E2D5C6BE570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46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43067" name="Text Box 95">
                <a:extLst>
                  <a:ext uri="{FF2B5EF4-FFF2-40B4-BE49-F238E27FC236}">
                    <a16:creationId xmlns:a16="http://schemas.microsoft.com/office/drawing/2014/main" id="{7D908A33-94E0-3F47-A6AE-A30D830C704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55" y="3026"/>
                <a:ext cx="15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43068" name="Text Box 96">
                <a:extLst>
                  <a:ext uri="{FF2B5EF4-FFF2-40B4-BE49-F238E27FC236}">
                    <a16:creationId xmlns:a16="http://schemas.microsoft.com/office/drawing/2014/main" id="{B0D4E404-8DE6-104E-BD55-1E6F945342C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312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43069" name="Text Box 97">
                <a:extLst>
                  <a:ext uri="{FF2B5EF4-FFF2-40B4-BE49-F238E27FC236}">
                    <a16:creationId xmlns:a16="http://schemas.microsoft.com/office/drawing/2014/main" id="{5A3AF29E-2E90-6748-A0D0-92994CB1429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199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43070" name="Text Box 98">
                <a:extLst>
                  <a:ext uri="{FF2B5EF4-FFF2-40B4-BE49-F238E27FC236}">
                    <a16:creationId xmlns:a16="http://schemas.microsoft.com/office/drawing/2014/main" id="{49867CDD-8240-CB4C-8AE6-C226E773817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035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23</a:t>
                </a:r>
              </a:p>
            </p:txBody>
          </p:sp>
          <p:sp>
            <p:nvSpPr>
              <p:cNvPr id="43071" name="Text Box 99">
                <a:extLst>
                  <a:ext uri="{FF2B5EF4-FFF2-40B4-BE49-F238E27FC236}">
                    <a16:creationId xmlns:a16="http://schemas.microsoft.com/office/drawing/2014/main" id="{18D536F9-5BFA-8B4C-9CE8-F964AAD6500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927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24</a:t>
                </a:r>
              </a:p>
            </p:txBody>
          </p:sp>
          <p:sp>
            <p:nvSpPr>
              <p:cNvPr id="43072" name="Text Box 100">
                <a:extLst>
                  <a:ext uri="{FF2B5EF4-FFF2-40B4-BE49-F238E27FC236}">
                    <a16:creationId xmlns:a16="http://schemas.microsoft.com/office/drawing/2014/main" id="{C17703DF-CF5F-5146-930B-F708F0C36CA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95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32</a:t>
                </a:r>
              </a:p>
            </p:txBody>
          </p:sp>
          <p:sp>
            <p:nvSpPr>
              <p:cNvPr id="43073" name="Text Box 101">
                <a:extLst>
                  <a:ext uri="{FF2B5EF4-FFF2-40B4-BE49-F238E27FC236}">
                    <a16:creationId xmlns:a16="http://schemas.microsoft.com/office/drawing/2014/main" id="{7F635A55-0794-0C46-9F97-CEB890AC760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72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63</a:t>
                </a:r>
              </a:p>
            </p:txBody>
          </p:sp>
          <p:sp>
            <p:nvSpPr>
              <p:cNvPr id="43074" name="Text Box 102">
                <a:extLst>
                  <a:ext uri="{FF2B5EF4-FFF2-40B4-BE49-F238E27FC236}">
                    <a16:creationId xmlns:a16="http://schemas.microsoft.com/office/drawing/2014/main" id="{CF246AB1-DA99-BF4F-8008-1B3E2AF28BE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11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39</a:t>
                </a:r>
              </a:p>
            </p:txBody>
          </p:sp>
          <p:sp>
            <p:nvSpPr>
              <p:cNvPr id="43075" name="Text Box 103">
                <a:extLst>
                  <a:ext uri="{FF2B5EF4-FFF2-40B4-BE49-F238E27FC236}">
                    <a16:creationId xmlns:a16="http://schemas.microsoft.com/office/drawing/2014/main" id="{366EC1A8-D498-3444-936D-2C1BD2BC68E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88" y="3026"/>
                <a:ext cx="197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43076" name="Text Box 104">
                <a:extLst>
                  <a:ext uri="{FF2B5EF4-FFF2-40B4-BE49-F238E27FC236}">
                    <a16:creationId xmlns:a16="http://schemas.microsoft.com/office/drawing/2014/main" id="{013AF02D-C759-2645-93AD-F89E4311006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08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47</a:t>
                </a:r>
              </a:p>
            </p:txBody>
          </p:sp>
          <p:sp>
            <p:nvSpPr>
              <p:cNvPr id="43077" name="Text Box 105">
                <a:extLst>
                  <a:ext uri="{FF2B5EF4-FFF2-40B4-BE49-F238E27FC236}">
                    <a16:creationId xmlns:a16="http://schemas.microsoft.com/office/drawing/2014/main" id="{21885A40-0906-D84F-AC54-17B75742742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8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48</a:t>
                </a:r>
              </a:p>
            </p:txBody>
          </p:sp>
          <p:sp>
            <p:nvSpPr>
              <p:cNvPr id="43078" name="Text Box 106">
                <a:extLst>
                  <a:ext uri="{FF2B5EF4-FFF2-40B4-BE49-F238E27FC236}">
                    <a16:creationId xmlns:a16="http://schemas.microsoft.com/office/drawing/2014/main" id="{1F83DDC8-7FC9-B542-B07A-0E2B87FB8FA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88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55</a:t>
                </a:r>
              </a:p>
            </p:txBody>
          </p:sp>
          <p:sp>
            <p:nvSpPr>
              <p:cNvPr id="43079" name="Text Box 107">
                <a:extLst>
                  <a:ext uri="{FF2B5EF4-FFF2-40B4-BE49-F238E27FC236}">
                    <a16:creationId xmlns:a16="http://schemas.microsoft.com/office/drawing/2014/main" id="{D9D6E8AF-15FA-DD4C-940C-0A6B0C1BC24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60" y="3026"/>
                <a:ext cx="19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50" tIns="44480" rIns="88950" bIns="44480" anchor="ctr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b="1">
                    <a:latin typeface="Helvetica" pitchFamily="2" charset="0"/>
                    <a:ea typeface="宋体" panose="02010600030101010101" pitchFamily="2" charset="-122"/>
                  </a:rPr>
                  <a:t>56</a:t>
                </a:r>
              </a:p>
            </p:txBody>
          </p:sp>
          <p:grpSp>
            <p:nvGrpSpPr>
              <p:cNvPr id="43080" name="Group 108">
                <a:extLst>
                  <a:ext uri="{FF2B5EF4-FFF2-40B4-BE49-F238E27FC236}">
                    <a16:creationId xmlns:a16="http://schemas.microsoft.com/office/drawing/2014/main" id="{470EC1A8-6C2C-DC49-8A06-241BC160F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53"/>
                <a:ext cx="2446" cy="377"/>
                <a:chOff x="1536" y="3153"/>
                <a:chExt cx="2446" cy="377"/>
              </a:xfrm>
            </p:grpSpPr>
            <p:grpSp>
              <p:nvGrpSpPr>
                <p:cNvPr id="43081" name="Group 109">
                  <a:extLst>
                    <a:ext uri="{FF2B5EF4-FFF2-40B4-BE49-F238E27FC236}">
                      <a16:creationId xmlns:a16="http://schemas.microsoft.com/office/drawing/2014/main" id="{A34D11AB-C3F8-F643-BE19-3A29B845D3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3153"/>
                  <a:ext cx="2446" cy="154"/>
                  <a:chOff x="1536" y="3153"/>
                  <a:chExt cx="2446" cy="154"/>
                </a:xfrm>
              </p:grpSpPr>
              <p:sp>
                <p:nvSpPr>
                  <p:cNvPr id="43083" name="Rectangle 110">
                    <a:extLst>
                      <a:ext uri="{FF2B5EF4-FFF2-40B4-BE49-F238E27FC236}">
                        <a16:creationId xmlns:a16="http://schemas.microsoft.com/office/drawing/2014/main" id="{9F10FA0F-AEBD-1041-95B2-582C4BC61E4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5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4" name="Rectangle 111">
                    <a:extLst>
                      <a:ext uri="{FF2B5EF4-FFF2-40B4-BE49-F238E27FC236}">
                        <a16:creationId xmlns:a16="http://schemas.microsoft.com/office/drawing/2014/main" id="{2244F398-AC75-6C4E-A19D-5841DB2857F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06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5" name="Rectangle 112">
                    <a:extLst>
                      <a:ext uri="{FF2B5EF4-FFF2-40B4-BE49-F238E27FC236}">
                        <a16:creationId xmlns:a16="http://schemas.microsoft.com/office/drawing/2014/main" id="{B5923E63-B471-204F-8660-BE5EC062988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6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6" name="Rectangle 113">
                    <a:extLst>
                      <a:ext uri="{FF2B5EF4-FFF2-40B4-BE49-F238E27FC236}">
                        <a16:creationId xmlns:a16="http://schemas.microsoft.com/office/drawing/2014/main" id="{A5EC8C91-4978-9848-AD80-765B9E7AE56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674" y="3153"/>
                    <a:ext cx="308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7" name="Rectangle 114">
                    <a:extLst>
                      <a:ext uri="{FF2B5EF4-FFF2-40B4-BE49-F238E27FC236}">
                        <a16:creationId xmlns:a16="http://schemas.microsoft.com/office/drawing/2014/main" id="{7913F521-C1E6-5741-9176-1E7730F4868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36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8" name="Rectangle 115">
                    <a:extLst>
                      <a:ext uri="{FF2B5EF4-FFF2-40B4-BE49-F238E27FC236}">
                        <a16:creationId xmlns:a16="http://schemas.microsoft.com/office/drawing/2014/main" id="{6D60D4BD-435F-FC4B-B1CD-72A8A770571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43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89" name="Rectangle 116">
                    <a:extLst>
                      <a:ext uri="{FF2B5EF4-FFF2-40B4-BE49-F238E27FC236}">
                        <a16:creationId xmlns:a16="http://schemas.microsoft.com/office/drawing/2014/main" id="{3ED114C7-F59C-3445-BDE7-12813F7AF72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50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43090" name="Rectangle 117">
                    <a:extLst>
                      <a:ext uri="{FF2B5EF4-FFF2-40B4-BE49-F238E27FC236}">
                        <a16:creationId xmlns:a16="http://schemas.microsoft.com/office/drawing/2014/main" id="{C3CBA37E-46B8-DE4A-8455-AC76B2391F0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457" y="3153"/>
                    <a:ext cx="307" cy="154"/>
                  </a:xfrm>
                  <a:prstGeom prst="rect">
                    <a:avLst/>
                  </a:prstGeom>
                  <a:solidFill>
                    <a:srgbClr val="FF99CC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en-US" sz="1800" b="1" i="1">
                      <a:solidFill>
                        <a:srgbClr val="666699"/>
                      </a:solidFill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43082" name="Text Box 118">
                  <a:extLst>
                    <a:ext uri="{FF2B5EF4-FFF2-40B4-BE49-F238E27FC236}">
                      <a16:creationId xmlns:a16="http://schemas.microsoft.com/office/drawing/2014/main" id="{3F7F81C3-AE35-674E-90FC-94D5112181F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596" y="3288"/>
                  <a:ext cx="2236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8950" tIns="44480" rIns="88950" bIns="44480" anchor="ctr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主存储器地址 </a:t>
                  </a: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 </a:t>
                  </a: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处的64-</a:t>
                  </a:r>
                  <a:r>
                    <a:rPr lang="en-US" altLang="zh-CN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bit</a:t>
                  </a:r>
                  <a:r>
                    <a:rPr lang="zh-CN" altLang="en-US" sz="1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endParaRPr lang="en-US" altLang="zh-CN" sz="18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3059" name="Text Box 119">
              <a:extLst>
                <a:ext uri="{FF2B5EF4-FFF2-40B4-BE49-F238E27FC236}">
                  <a16:creationId xmlns:a16="http://schemas.microsoft.com/office/drawing/2014/main" id="{CC03A7DA-AE1E-F043-96EF-BCDEE64AB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2047"/>
              <a:ext cx="59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solidFill>
                    <a:srgbClr val="3399FF"/>
                  </a:solidFill>
                  <a:ea typeface="宋体" panose="02010600030101010101" pitchFamily="2" charset="-122"/>
                </a:rPr>
                <a:t>地址</a:t>
              </a:r>
              <a:r>
                <a:rPr kumimoji="1" lang="en-US" altLang="zh-CN" sz="1800" b="1">
                  <a:solidFill>
                    <a:srgbClr val="3399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3060" name="AutoShape 120">
              <a:extLst>
                <a:ext uri="{FF2B5EF4-FFF2-40B4-BE49-F238E27FC236}">
                  <a16:creationId xmlns:a16="http://schemas.microsoft.com/office/drawing/2014/main" id="{BACF17D0-D3C3-D44F-84E0-FE7209BFA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115"/>
              <a:ext cx="136" cy="6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3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61" name="Line 121">
              <a:extLst>
                <a:ext uri="{FF2B5EF4-FFF2-40B4-BE49-F238E27FC236}">
                  <a16:creationId xmlns:a16="http://schemas.microsoft.com/office/drawing/2014/main" id="{EC36A321-279E-524D-9010-FC2B7D07B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33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2" name="Line 122">
              <a:extLst>
                <a:ext uri="{FF2B5EF4-FFF2-40B4-BE49-F238E27FC236}">
                  <a16:creationId xmlns:a16="http://schemas.microsoft.com/office/drawing/2014/main" id="{6F358A83-35E2-8940-B119-4420C0A0A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6" y="177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Text Box 123">
              <a:extLst>
                <a:ext uri="{FF2B5EF4-FFF2-40B4-BE49-F238E27FC236}">
                  <a16:creationId xmlns:a16="http://schemas.microsoft.com/office/drawing/2014/main" id="{BCFC70B2-0058-AA48-8CB3-D5CE1017C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2068"/>
              <a:ext cx="45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100" b="1">
                  <a:ea typeface="宋体" panose="02010600030101010101" pitchFamily="2" charset="-122"/>
                </a:rPr>
                <a:t>4096</a:t>
              </a:r>
              <a:r>
                <a:rPr kumimoji="1" lang="zh-CN" altLang="en-US" sz="1100" b="1">
                  <a:ea typeface="宋体" panose="02010600030101010101" pitchFamily="2" charset="-122"/>
                </a:rPr>
                <a:t>行</a:t>
              </a:r>
            </a:p>
          </p:txBody>
        </p:sp>
      </p:grp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806964E-46E1-4345-8C2B-AD665510FA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07950"/>
            <a:ext cx="8805863" cy="569913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 dirty="0"/>
              <a:t>举例：</a:t>
            </a:r>
            <a:r>
              <a:rPr lang="en-US" altLang="zh-CN" dirty="0"/>
              <a:t>128MB</a:t>
            </a:r>
            <a:r>
              <a:rPr lang="zh-CN" altLang="en-US" dirty="0"/>
              <a:t>的</a:t>
            </a:r>
            <a:r>
              <a:rPr lang="en-US" altLang="zh-CN" dirty="0"/>
              <a:t>DRAM</a:t>
            </a:r>
            <a:r>
              <a:rPr lang="zh-CN" altLang="en-US" dirty="0"/>
              <a:t>存储器</a:t>
            </a:r>
          </a:p>
        </p:txBody>
      </p:sp>
      <p:grpSp>
        <p:nvGrpSpPr>
          <p:cNvPr id="43012" name="Group 3">
            <a:extLst>
              <a:ext uri="{FF2B5EF4-FFF2-40B4-BE49-F238E27FC236}">
                <a16:creationId xmlns:a16="http://schemas.microsoft.com/office/drawing/2014/main" id="{6084E5FD-FB52-8940-8F7E-8854E468667B}"/>
              </a:ext>
            </a:extLst>
          </p:cNvPr>
          <p:cNvGrpSpPr>
            <a:grpSpLocks/>
          </p:cNvGrpSpPr>
          <p:nvPr/>
        </p:nvGrpSpPr>
        <p:grpSpPr bwMode="auto">
          <a:xfrm>
            <a:off x="6691313" y="1346200"/>
            <a:ext cx="1908175" cy="698500"/>
            <a:chOff x="4388" y="982"/>
            <a:chExt cx="987" cy="441"/>
          </a:xfrm>
        </p:grpSpPr>
        <p:sp>
          <p:nvSpPr>
            <p:cNvPr id="43030" name="Rectangle 4">
              <a:extLst>
                <a:ext uri="{FF2B5EF4-FFF2-40B4-BE49-F238E27FC236}">
                  <a16:creationId xmlns:a16="http://schemas.microsoft.com/office/drawing/2014/main" id="{033B90EB-10DD-4D4B-8537-206D624EBA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8" y="1102"/>
              <a:ext cx="57" cy="63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43031" name="Text Box 5">
              <a:extLst>
                <a:ext uri="{FF2B5EF4-FFF2-40B4-BE49-F238E27FC236}">
                  <a16:creationId xmlns:a16="http://schemas.microsoft.com/office/drawing/2014/main" id="{1654FA28-A4C0-CE41-8A7C-0B80820497B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88" y="982"/>
              <a:ext cx="987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8950" tIns="44480" rIns="88950" bIns="4448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Helvetica" pitchFamily="2" charset="0"/>
                  <a:ea typeface="宋体" panose="02010600030101010101" pitchFamily="2" charset="-122"/>
                </a:rPr>
                <a:t>: 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行、列地址为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(i,j)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个单元</a:t>
              </a:r>
            </a:p>
          </p:txBody>
        </p:sp>
      </p:grpSp>
      <p:sp>
        <p:nvSpPr>
          <p:cNvPr id="570492" name="Text Box 124">
            <a:extLst>
              <a:ext uri="{FF2B5EF4-FFF2-40B4-BE49-F238E27FC236}">
                <a16:creationId xmlns:a16="http://schemas.microsoft.com/office/drawing/2014/main" id="{A651E103-485A-7349-B1AB-5F89D997C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00" y="2982913"/>
            <a:ext cx="2116138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地址</a:t>
            </a:r>
            <a:r>
              <a:rPr kumimoji="1" lang="en-US" altLang="zh-CN" sz="2000" b="1">
                <a:solidFill>
                  <a:srgbClr val="CC0000"/>
                </a:solidFill>
                <a:ea typeface="微软雅黑" panose="020B0503020204020204" pitchFamily="34" charset="-122"/>
              </a:rPr>
              <a:t>A</a:t>
            </a: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如何划分？</a:t>
            </a:r>
          </a:p>
        </p:txBody>
      </p:sp>
      <p:sp>
        <p:nvSpPr>
          <p:cNvPr id="570493" name="Text Box 125">
            <a:extLst>
              <a:ext uri="{FF2B5EF4-FFF2-40B4-BE49-F238E27FC236}">
                <a16:creationId xmlns:a16="http://schemas.microsoft.com/office/drawing/2014/main" id="{8D33B16F-6A17-7242-A74C-1E57B71DF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592763"/>
            <a:ext cx="2201862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有多少位？</a:t>
            </a:r>
          </a:p>
        </p:txBody>
      </p:sp>
      <p:sp>
        <p:nvSpPr>
          <p:cNvPr id="570494" name="Text Box 126">
            <a:extLst>
              <a:ext uri="{FF2B5EF4-FFF2-40B4-BE49-F238E27FC236}">
                <a16:creationId xmlns:a16="http://schemas.microsoft.com/office/drawing/2014/main" id="{FA2500A8-21D1-174D-A49A-7F0965C0D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6088063"/>
            <a:ext cx="2713038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行缓冲中数据的地址有何特点？</a:t>
            </a:r>
          </a:p>
        </p:txBody>
      </p:sp>
      <p:sp>
        <p:nvSpPr>
          <p:cNvPr id="570495" name="Text Box 127">
            <a:extLst>
              <a:ext uri="{FF2B5EF4-FFF2-40B4-BE49-F238E27FC236}">
                <a16:creationId xmlns:a16="http://schemas.microsoft.com/office/drawing/2014/main" id="{F4BC4D70-97CC-744D-A03C-9E82A5EC4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4319588"/>
            <a:ext cx="1754188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位用来选片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583" name="Text Box 127">
            <a:extLst>
              <a:ext uri="{FF2B5EF4-FFF2-40B4-BE49-F238E27FC236}">
                <a16:creationId xmlns:a16="http://schemas.microsoft.com/office/drawing/2014/main" id="{88B22B96-97EC-714B-974A-6E13A5018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5559425"/>
            <a:ext cx="1058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位！</a:t>
            </a:r>
          </a:p>
        </p:txBody>
      </p:sp>
      <p:grpSp>
        <p:nvGrpSpPr>
          <p:cNvPr id="915584" name="Group 128">
            <a:extLst>
              <a:ext uri="{FF2B5EF4-FFF2-40B4-BE49-F238E27FC236}">
                <a16:creationId xmlns:a16="http://schemas.microsoft.com/office/drawing/2014/main" id="{E55BF64D-ECBC-5B45-8854-B198E6D6E5C7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3451225"/>
            <a:ext cx="2481262" cy="730250"/>
            <a:chOff x="4105" y="2174"/>
            <a:chExt cx="1563" cy="460"/>
          </a:xfrm>
        </p:grpSpPr>
        <p:sp>
          <p:nvSpPr>
            <p:cNvPr id="43021" name="Text Box 129">
              <a:extLst>
                <a:ext uri="{FF2B5EF4-FFF2-40B4-BE49-F238E27FC236}">
                  <a16:creationId xmlns:a16="http://schemas.microsoft.com/office/drawing/2014/main" id="{E12F6B60-139D-D449-BDC9-240D81FF0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378"/>
              <a:ext cx="1563" cy="244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3022" name="Line 130">
              <a:extLst>
                <a:ext uri="{FF2B5EF4-FFF2-40B4-BE49-F238E27FC236}">
                  <a16:creationId xmlns:a16="http://schemas.microsoft.com/office/drawing/2014/main" id="{5431B7DD-FF74-A94D-BA94-A8FC15B9D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1" y="2387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31">
              <a:extLst>
                <a:ext uri="{FF2B5EF4-FFF2-40B4-BE49-F238E27FC236}">
                  <a16:creationId xmlns:a16="http://schemas.microsoft.com/office/drawing/2014/main" id="{44C48B74-ECB0-2A46-ADAD-05ABD51F2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381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Text Box 132">
              <a:extLst>
                <a:ext uri="{FF2B5EF4-FFF2-40B4-BE49-F238E27FC236}">
                  <a16:creationId xmlns:a16="http://schemas.microsoft.com/office/drawing/2014/main" id="{19C0F90D-05A7-F24B-B507-DD6712673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" y="2175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43025" name="Text Box 133">
              <a:extLst>
                <a:ext uri="{FF2B5EF4-FFF2-40B4-BE49-F238E27FC236}">
                  <a16:creationId xmlns:a16="http://schemas.microsoft.com/office/drawing/2014/main" id="{EFF88D53-A6B7-5842-8C29-AADCED8C1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179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3026" name="Text Box 134">
              <a:extLst>
                <a:ext uri="{FF2B5EF4-FFF2-40B4-BE49-F238E27FC236}">
                  <a16:creationId xmlns:a16="http://schemas.microsoft.com/office/drawing/2014/main" id="{9F1D5909-47DE-9D40-A8F1-9F408128E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0" y="2174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3027" name="Text Box 135">
              <a:extLst>
                <a:ext uri="{FF2B5EF4-FFF2-40B4-BE49-F238E27FC236}">
                  <a16:creationId xmlns:a16="http://schemas.microsoft.com/office/drawing/2014/main" id="{B8903EAA-3E3C-754F-92AE-BE21BCD7C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7" y="2397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行号</a:t>
              </a:r>
            </a:p>
          </p:txBody>
        </p:sp>
        <p:sp>
          <p:nvSpPr>
            <p:cNvPr id="43028" name="Text Box 136">
              <a:extLst>
                <a:ext uri="{FF2B5EF4-FFF2-40B4-BE49-F238E27FC236}">
                  <a16:creationId xmlns:a16="http://schemas.microsoft.com/office/drawing/2014/main" id="{F65F544B-7814-D94D-B75B-6AE7C81A1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" y="2392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列号</a:t>
              </a:r>
            </a:p>
          </p:txBody>
        </p:sp>
        <p:sp>
          <p:nvSpPr>
            <p:cNvPr id="43029" name="Text Box 137">
              <a:extLst>
                <a:ext uri="{FF2B5EF4-FFF2-40B4-BE49-F238E27FC236}">
                  <a16:creationId xmlns:a16="http://schemas.microsoft.com/office/drawing/2014/main" id="{0CA17991-6E50-7B48-A6AE-33A4B909C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" y="2396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片</a:t>
              </a:r>
            </a:p>
          </p:txBody>
        </p:sp>
      </p:grpSp>
      <p:sp>
        <p:nvSpPr>
          <p:cNvPr id="915594" name="Text Box 138">
            <a:extLst>
              <a:ext uri="{FF2B5EF4-FFF2-40B4-BE49-F238E27FC236}">
                <a16:creationId xmlns:a16="http://schemas.microsoft.com/office/drawing/2014/main" id="{85DE738D-A330-374D-B8B7-01A996A30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5283200"/>
            <a:ext cx="2308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假定首地址为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，则地址分布如下：</a:t>
            </a:r>
          </a:p>
        </p:txBody>
      </p:sp>
      <p:sp>
        <p:nvSpPr>
          <p:cNvPr id="915595" name="Text Box 139">
            <a:extLst>
              <a:ext uri="{FF2B5EF4-FFF2-40B4-BE49-F238E27FC236}">
                <a16:creationId xmlns:a16="http://schemas.microsoft.com/office/drawing/2014/main" id="{137F52F0-512B-4048-A3DD-7D46A1D37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088" y="6289675"/>
            <a:ext cx="5429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地址连续，共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8*4096=2</a:t>
            </a:r>
            <a:r>
              <a:rPr lang="en-US" altLang="zh-CN" sz="2000" b="1" baseline="30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=32768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1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493" grpId="0" animBg="1"/>
      <p:bldP spid="570494" grpId="0" animBg="1"/>
      <p:bldP spid="570495" grpId="0" animBg="1"/>
      <p:bldP spid="915583" grpId="0"/>
      <p:bldP spid="915594" grpId="0"/>
      <p:bldP spid="91559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A4A8358-F716-7C4F-ACF0-2A3B3DB7940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07950"/>
            <a:ext cx="8805863" cy="569913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举例：</a:t>
            </a:r>
            <a:r>
              <a:rPr lang="en-US" altLang="zh-CN" dirty="0"/>
              <a:t>128MB</a:t>
            </a:r>
            <a:r>
              <a:rPr lang="zh-CN" altLang="en-US" dirty="0"/>
              <a:t>的</a:t>
            </a:r>
            <a:r>
              <a:rPr lang="en-US" altLang="zh-CN" dirty="0"/>
              <a:t>DRAM</a:t>
            </a:r>
            <a:r>
              <a:rPr lang="zh-CN" altLang="en-US" dirty="0"/>
              <a:t>存储器</a:t>
            </a:r>
          </a:p>
        </p:txBody>
      </p:sp>
      <p:sp>
        <p:nvSpPr>
          <p:cNvPr id="570492" name="Text Box 124">
            <a:extLst>
              <a:ext uri="{FF2B5EF4-FFF2-40B4-BE49-F238E27FC236}">
                <a16:creationId xmlns:a16="http://schemas.microsoft.com/office/drawing/2014/main" id="{B2297C72-1646-1647-AC76-010C92665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906463"/>
            <a:ext cx="2116138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地址</a:t>
            </a:r>
            <a:r>
              <a:rPr kumimoji="1" lang="en-US" altLang="zh-CN" sz="2000" b="1">
                <a:solidFill>
                  <a:srgbClr val="CC0000"/>
                </a:solidFill>
                <a:ea typeface="微软雅黑" panose="020B0503020204020204" pitchFamily="34" charset="-122"/>
              </a:rPr>
              <a:t>A</a:t>
            </a: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如何划分？</a:t>
            </a:r>
          </a:p>
        </p:txBody>
      </p:sp>
      <p:sp>
        <p:nvSpPr>
          <p:cNvPr id="570495" name="Text Box 127">
            <a:extLst>
              <a:ext uri="{FF2B5EF4-FFF2-40B4-BE49-F238E27FC236}">
                <a16:creationId xmlns:a16="http://schemas.microsoft.com/office/drawing/2014/main" id="{E8BC0BE3-B6E7-724D-98BB-2BCC5BC8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908050"/>
            <a:ext cx="1754188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位用来选片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7509" name="Group 5">
            <a:extLst>
              <a:ext uri="{FF2B5EF4-FFF2-40B4-BE49-F238E27FC236}">
                <a16:creationId xmlns:a16="http://schemas.microsoft.com/office/drawing/2014/main" id="{0E3B4290-8BC2-B643-9FAD-E2E8DB5E5D7A}"/>
              </a:ext>
            </a:extLst>
          </p:cNvPr>
          <p:cNvGrpSpPr>
            <a:grpSpLocks/>
          </p:cNvGrpSpPr>
          <p:nvPr/>
        </p:nvGrpSpPr>
        <p:grpSpPr bwMode="auto">
          <a:xfrm>
            <a:off x="492125" y="1403350"/>
            <a:ext cx="2481263" cy="730250"/>
            <a:chOff x="4105" y="2174"/>
            <a:chExt cx="1563" cy="460"/>
          </a:xfrm>
        </p:grpSpPr>
        <p:sp>
          <p:nvSpPr>
            <p:cNvPr id="45081" name="Text Box 6">
              <a:extLst>
                <a:ext uri="{FF2B5EF4-FFF2-40B4-BE49-F238E27FC236}">
                  <a16:creationId xmlns:a16="http://schemas.microsoft.com/office/drawing/2014/main" id="{F75AC1F3-094E-AE40-9397-187DB44A7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378"/>
              <a:ext cx="1563" cy="244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5082" name="Line 7">
              <a:extLst>
                <a:ext uri="{FF2B5EF4-FFF2-40B4-BE49-F238E27FC236}">
                  <a16:creationId xmlns:a16="http://schemas.microsoft.com/office/drawing/2014/main" id="{BCB78E6C-49CA-0C40-8C0F-F25BBEF74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1" y="2387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Line 8">
              <a:extLst>
                <a:ext uri="{FF2B5EF4-FFF2-40B4-BE49-F238E27FC236}">
                  <a16:creationId xmlns:a16="http://schemas.microsoft.com/office/drawing/2014/main" id="{B413A793-F5AC-9246-8761-A91EE05A1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381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Text Box 9">
              <a:extLst>
                <a:ext uri="{FF2B5EF4-FFF2-40B4-BE49-F238E27FC236}">
                  <a16:creationId xmlns:a16="http://schemas.microsoft.com/office/drawing/2014/main" id="{B63D85E7-0954-4A43-91B4-524324B8F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" y="2175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45085" name="Text Box 10">
              <a:extLst>
                <a:ext uri="{FF2B5EF4-FFF2-40B4-BE49-F238E27FC236}">
                  <a16:creationId xmlns:a16="http://schemas.microsoft.com/office/drawing/2014/main" id="{A0572867-018C-7648-A07A-371F3661B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179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5086" name="Text Box 11">
              <a:extLst>
                <a:ext uri="{FF2B5EF4-FFF2-40B4-BE49-F238E27FC236}">
                  <a16:creationId xmlns:a16="http://schemas.microsoft.com/office/drawing/2014/main" id="{3AF780ED-0110-724A-A1CB-442ADD375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0" y="2174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5087" name="Text Box 12">
              <a:extLst>
                <a:ext uri="{FF2B5EF4-FFF2-40B4-BE49-F238E27FC236}">
                  <a16:creationId xmlns:a16="http://schemas.microsoft.com/office/drawing/2014/main" id="{C94D5A39-5B21-A249-8092-346B153D2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7" y="2397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行号</a:t>
              </a:r>
            </a:p>
          </p:txBody>
        </p:sp>
        <p:sp>
          <p:nvSpPr>
            <p:cNvPr id="45088" name="Text Box 13">
              <a:extLst>
                <a:ext uri="{FF2B5EF4-FFF2-40B4-BE49-F238E27FC236}">
                  <a16:creationId xmlns:a16="http://schemas.microsoft.com/office/drawing/2014/main" id="{57306745-CD30-3C4E-B3E6-9BDBF860D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" y="2392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列号</a:t>
              </a:r>
            </a:p>
          </p:txBody>
        </p:sp>
        <p:sp>
          <p:nvSpPr>
            <p:cNvPr id="45089" name="Text Box 14">
              <a:extLst>
                <a:ext uri="{FF2B5EF4-FFF2-40B4-BE49-F238E27FC236}">
                  <a16:creationId xmlns:a16="http://schemas.microsoft.com/office/drawing/2014/main" id="{49DAEC7D-6B61-984A-8916-89E9BC503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" y="2396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片</a:t>
              </a:r>
            </a:p>
          </p:txBody>
        </p:sp>
      </p:grpSp>
      <p:sp>
        <p:nvSpPr>
          <p:cNvPr id="917519" name="Text Box 15">
            <a:extLst>
              <a:ext uri="{FF2B5EF4-FFF2-40B4-BE49-F238E27FC236}">
                <a16:creationId xmlns:a16="http://schemas.microsoft.com/office/drawing/2014/main" id="{D2C089EA-0FF6-EA45-A841-B4267FBAF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324100"/>
            <a:ext cx="4297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假定首地址为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，则地址分布如下：</a:t>
            </a:r>
          </a:p>
        </p:txBody>
      </p:sp>
      <p:sp>
        <p:nvSpPr>
          <p:cNvPr id="917520" name="Text Box 16">
            <a:extLst>
              <a:ext uri="{FF2B5EF4-FFF2-40B4-BE49-F238E27FC236}">
                <a16:creationId xmlns:a16="http://schemas.microsoft.com/office/drawing/2014/main" id="{1DBB9C76-1F76-A443-A51A-93347EA35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5418138"/>
            <a:ext cx="5429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地址连续，共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8*4096=2</a:t>
            </a:r>
            <a:r>
              <a:rPr lang="en-US" altLang="zh-CN" sz="2000" b="1" baseline="30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=32768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</a:t>
            </a:r>
          </a:p>
        </p:txBody>
      </p:sp>
      <p:grpSp>
        <p:nvGrpSpPr>
          <p:cNvPr id="917521" name="Group 17">
            <a:extLst>
              <a:ext uri="{FF2B5EF4-FFF2-40B4-BE49-F238E27FC236}">
                <a16:creationId xmlns:a16="http://schemas.microsoft.com/office/drawing/2014/main" id="{200EF666-F0D3-6C44-B2A5-544679A39846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2870200"/>
            <a:ext cx="7458075" cy="2309813"/>
            <a:chOff x="54" y="2038"/>
            <a:chExt cx="4698" cy="1455"/>
          </a:xfrm>
        </p:grpSpPr>
        <p:sp>
          <p:nvSpPr>
            <p:cNvPr id="45078" name="Text Box 18">
              <a:extLst>
                <a:ext uri="{FF2B5EF4-FFF2-40B4-BE49-F238E27FC236}">
                  <a16:creationId xmlns:a16="http://schemas.microsoft.com/office/drawing/2014/main" id="{F729F2A6-5046-7146-987A-99AB43692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038"/>
              <a:ext cx="4608" cy="1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		Chip0       Chip1     …       Chip7</a:t>
              </a:r>
            </a:p>
            <a:p>
              <a:pPr>
                <a:lnSpc>
                  <a:spcPct val="130000"/>
                </a:lnSpc>
                <a:spcBef>
                  <a:spcPct val="15000"/>
                </a:spcBef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                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                i+1                    i+7</a:t>
              </a:r>
            </a:p>
            <a:p>
              <a:pPr>
                <a:spcBef>
                  <a:spcPct val="15000"/>
                </a:spcBef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		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i+8            i+9                    i+15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15000"/>
                </a:spcBef>
              </a:pP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15000"/>
                </a:spcBef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4095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	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i+8*4095  i+1+8*4095     i+7+8*4095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15000"/>
                </a:spcBef>
              </a:pP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079" name="Line 19">
              <a:extLst>
                <a:ext uri="{FF2B5EF4-FFF2-40B4-BE49-F238E27FC236}">
                  <a16:creationId xmlns:a16="http://schemas.microsoft.com/office/drawing/2014/main" id="{A1D411ED-93FF-8546-B747-6682DB78A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" y="2294"/>
              <a:ext cx="4114" cy="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Line 20">
              <a:extLst>
                <a:ext uri="{FF2B5EF4-FFF2-40B4-BE49-F238E27FC236}">
                  <a16:creationId xmlns:a16="http://schemas.microsoft.com/office/drawing/2014/main" id="{F6DFB22A-273F-CD47-92A2-4EA3A595E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2057"/>
              <a:ext cx="0" cy="1436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0494" name="Text Box 126">
            <a:extLst>
              <a:ext uri="{FF2B5EF4-FFF2-40B4-BE49-F238E27FC236}">
                <a16:creationId xmlns:a16="http://schemas.microsoft.com/office/drawing/2014/main" id="{0D2C22A7-14AB-D544-A015-EB234008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1720850"/>
            <a:ext cx="4687888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行缓冲中数据的地址有何特点？</a:t>
            </a:r>
          </a:p>
        </p:txBody>
      </p:sp>
      <p:sp>
        <p:nvSpPr>
          <p:cNvPr id="917526" name="Text Box 22">
            <a:extLst>
              <a:ext uri="{FF2B5EF4-FFF2-40B4-BE49-F238E27FC236}">
                <a16:creationId xmlns:a16="http://schemas.microsoft.com/office/drawing/2014/main" id="{D561F58B-3B1B-064C-A938-19355F0D0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949950"/>
            <a:ext cx="4397375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通常，一个主存块包含在行缓冲中</a:t>
            </a:r>
          </a:p>
          <a:p>
            <a:pPr>
              <a:spcBef>
                <a:spcPct val="1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可降低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缺失损失</a:t>
            </a:r>
          </a:p>
        </p:txBody>
      </p:sp>
      <p:sp>
        <p:nvSpPr>
          <p:cNvPr id="2" name="Text Box 124">
            <a:extLst>
              <a:ext uri="{FF2B5EF4-FFF2-40B4-BE49-F238E27FC236}">
                <a16:creationId xmlns:a16="http://schemas.microsoft.com/office/drawing/2014/main" id="{741208CA-4844-2747-80DC-D53AAE9E2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295900"/>
            <a:ext cx="2754313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如果</a:t>
            </a:r>
            <a:r>
              <a:rPr kumimoji="1" lang="zh-CN" altLang="en-US" sz="2000" b="1">
                <a:solidFill>
                  <a:schemeClr val="accent2"/>
                </a:solidFill>
                <a:ea typeface="微软雅黑" panose="020B0503020204020204" pitchFamily="34" charset="-122"/>
              </a:rPr>
              <a:t>片内地址连续</a:t>
            </a: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，则地址</a:t>
            </a:r>
            <a:r>
              <a:rPr kumimoji="1" lang="en-US" altLang="zh-CN" sz="2000" b="1">
                <a:solidFill>
                  <a:srgbClr val="CC0000"/>
                </a:solidFill>
                <a:ea typeface="微软雅黑" panose="020B0503020204020204" pitchFamily="34" charset="-122"/>
              </a:rPr>
              <a:t>A</a:t>
            </a: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如何划分？</a:t>
            </a:r>
          </a:p>
        </p:txBody>
      </p:sp>
      <p:grpSp>
        <p:nvGrpSpPr>
          <p:cNvPr id="917528" name="Group 24">
            <a:extLst>
              <a:ext uri="{FF2B5EF4-FFF2-40B4-BE49-F238E27FC236}">
                <a16:creationId xmlns:a16="http://schemas.microsoft.com/office/drawing/2014/main" id="{9F9BDA88-28E7-E446-B0EB-80E42DF3145A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5922963"/>
            <a:ext cx="2698750" cy="730250"/>
            <a:chOff x="3888" y="3731"/>
            <a:chExt cx="1700" cy="460"/>
          </a:xfrm>
        </p:grpSpPr>
        <p:sp>
          <p:nvSpPr>
            <p:cNvPr id="45069" name="Text Box 25">
              <a:extLst>
                <a:ext uri="{FF2B5EF4-FFF2-40B4-BE49-F238E27FC236}">
                  <a16:creationId xmlns:a16="http://schemas.microsoft.com/office/drawing/2014/main" id="{F9982998-0FD9-B34A-BE53-8E1FF9253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935"/>
              <a:ext cx="1700" cy="244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5070" name="Line 26">
              <a:extLst>
                <a:ext uri="{FF2B5EF4-FFF2-40B4-BE49-F238E27FC236}">
                  <a16:creationId xmlns:a16="http://schemas.microsoft.com/office/drawing/2014/main" id="{8C9B9A5F-E5B2-DC43-98C6-007190F47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6" y="3944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Line 27">
              <a:extLst>
                <a:ext uri="{FF2B5EF4-FFF2-40B4-BE49-F238E27FC236}">
                  <a16:creationId xmlns:a16="http://schemas.microsoft.com/office/drawing/2014/main" id="{F86A3D89-3C6B-A04C-BC7F-C3541AE59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3938"/>
              <a:ext cx="0" cy="24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Text Box 28">
              <a:extLst>
                <a:ext uri="{FF2B5EF4-FFF2-40B4-BE49-F238E27FC236}">
                  <a16:creationId xmlns:a16="http://schemas.microsoft.com/office/drawing/2014/main" id="{60349343-51BC-FE48-97F7-7FDE0D5F9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" y="3732"/>
              <a:ext cx="3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5073" name="Text Box 29">
              <a:extLst>
                <a:ext uri="{FF2B5EF4-FFF2-40B4-BE49-F238E27FC236}">
                  <a16:creationId xmlns:a16="http://schemas.microsoft.com/office/drawing/2014/main" id="{F67BF623-5E52-2F47-8916-E62A7CD83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3736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45074" name="Text Box 30">
              <a:extLst>
                <a:ext uri="{FF2B5EF4-FFF2-40B4-BE49-F238E27FC236}">
                  <a16:creationId xmlns:a16="http://schemas.microsoft.com/office/drawing/2014/main" id="{F9CB4EF9-A681-994F-ABCC-24B724DEB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" y="3731"/>
              <a:ext cx="3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45075" name="Text Box 31">
              <a:extLst>
                <a:ext uri="{FF2B5EF4-FFF2-40B4-BE49-F238E27FC236}">
                  <a16:creationId xmlns:a16="http://schemas.microsoft.com/office/drawing/2014/main" id="{993FD6CA-0167-0343-93BA-DF5C12E0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8" y="3953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行号</a:t>
              </a:r>
            </a:p>
          </p:txBody>
        </p:sp>
        <p:sp>
          <p:nvSpPr>
            <p:cNvPr id="45076" name="Text Box 32">
              <a:extLst>
                <a:ext uri="{FF2B5EF4-FFF2-40B4-BE49-F238E27FC236}">
                  <a16:creationId xmlns:a16="http://schemas.microsoft.com/office/drawing/2014/main" id="{BD84E202-EE17-6440-A8DF-EF03FCEA0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3949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列号</a:t>
              </a:r>
            </a:p>
          </p:txBody>
        </p:sp>
        <p:sp>
          <p:nvSpPr>
            <p:cNvPr id="45077" name="Text Box 33">
              <a:extLst>
                <a:ext uri="{FF2B5EF4-FFF2-40B4-BE49-F238E27FC236}">
                  <a16:creationId xmlns:a16="http://schemas.microsoft.com/office/drawing/2014/main" id="{BB1BC804-01BA-3D47-BE99-1A0A67165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" y="3935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片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17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1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1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495" grpId="0" animBg="1"/>
      <p:bldP spid="917519" grpId="0"/>
      <p:bldP spid="917520" grpId="0"/>
      <p:bldP spid="570494" grpId="0" animBg="1"/>
      <p:bldP spid="9175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598510C-CF27-1242-B3C0-9D4D02438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计算机系统互连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0D8724C-56AE-AB44-A1F8-B6851E247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3A567883-4ADC-C146-8562-161DC267E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890588"/>
            <a:ext cx="8374063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08295" name="Group 7">
            <a:extLst>
              <a:ext uri="{FF2B5EF4-FFF2-40B4-BE49-F238E27FC236}">
                <a16:creationId xmlns:a16="http://schemas.microsoft.com/office/drawing/2014/main" id="{19653D71-3817-D241-91FC-7F602951BC29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2162175"/>
            <a:ext cx="2292350" cy="831850"/>
            <a:chOff x="3795" y="1362"/>
            <a:chExt cx="1444" cy="524"/>
          </a:xfrm>
        </p:grpSpPr>
        <p:sp>
          <p:nvSpPr>
            <p:cNvPr id="47116" name="Text Box 5">
              <a:extLst>
                <a:ext uri="{FF2B5EF4-FFF2-40B4-BE49-F238E27FC236}">
                  <a16:creationId xmlns:a16="http://schemas.microsoft.com/office/drawing/2014/main" id="{59B66105-4BD0-7F4B-9B31-46D5868B2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" y="1636"/>
              <a:ext cx="14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三通道存储器总线</a:t>
              </a:r>
            </a:p>
          </p:txBody>
        </p:sp>
        <p:sp>
          <p:nvSpPr>
            <p:cNvPr id="47117" name="Line 6">
              <a:extLst>
                <a:ext uri="{FF2B5EF4-FFF2-40B4-BE49-F238E27FC236}">
                  <a16:creationId xmlns:a16="http://schemas.microsoft.com/office/drawing/2014/main" id="{7472AFD0-0C19-614E-AE1A-EB313C21E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4" y="1362"/>
              <a:ext cx="247" cy="29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8296" name="Text Box 8">
            <a:extLst>
              <a:ext uri="{FF2B5EF4-FFF2-40B4-BE49-F238E27FC236}">
                <a16:creationId xmlns:a16="http://schemas.microsoft.com/office/drawing/2014/main" id="{2DD547ED-9EC7-4943-B0CC-949C7C7A8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3092450"/>
            <a:ext cx="288925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三个内存条并行传输</a:t>
            </a:r>
          </a:p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同时传输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3x64b=192b</a:t>
            </a:r>
          </a:p>
        </p:txBody>
      </p:sp>
      <p:sp>
        <p:nvSpPr>
          <p:cNvPr id="908297" name="Rectangle 9">
            <a:extLst>
              <a:ext uri="{FF2B5EF4-FFF2-40B4-BE49-F238E27FC236}">
                <a16:creationId xmlns:a16="http://schemas.microsoft.com/office/drawing/2014/main" id="{A2A7A3D6-D97E-7743-9F8B-48095898F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825500"/>
            <a:ext cx="253523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ea typeface="微软雅黑" panose="020B0503020204020204" pitchFamily="34" charset="-122"/>
              </a:rPr>
              <a:t>只要将同色的三个内存插槽插上内存条，系统便会自动识别进入三通道模式</a:t>
            </a:r>
          </a:p>
        </p:txBody>
      </p:sp>
      <p:pic>
        <p:nvPicPr>
          <p:cNvPr id="908298" name="Picture 10">
            <a:extLst>
              <a:ext uri="{FF2B5EF4-FFF2-40B4-BE49-F238E27FC236}">
                <a16:creationId xmlns:a16="http://schemas.microsoft.com/office/drawing/2014/main" id="{7EFCE62A-A398-F54A-B015-4096521B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2540000"/>
            <a:ext cx="3543300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08301" name="Group 13">
            <a:extLst>
              <a:ext uri="{FF2B5EF4-FFF2-40B4-BE49-F238E27FC236}">
                <a16:creationId xmlns:a16="http://schemas.microsoft.com/office/drawing/2014/main" id="{3DCC6C1C-C9D0-3B4B-87FB-29B354F12686}"/>
              </a:ext>
            </a:extLst>
          </p:cNvPr>
          <p:cNvGrpSpPr>
            <a:grpSpLocks/>
          </p:cNvGrpSpPr>
          <p:nvPr/>
        </p:nvGrpSpPr>
        <p:grpSpPr bwMode="auto">
          <a:xfrm>
            <a:off x="3875088" y="4121150"/>
            <a:ext cx="4354512" cy="523875"/>
            <a:chOff x="2441" y="2596"/>
            <a:chExt cx="2743" cy="330"/>
          </a:xfrm>
        </p:grpSpPr>
        <p:sp>
          <p:nvSpPr>
            <p:cNvPr id="47114" name="Text Box 11">
              <a:extLst>
                <a:ext uri="{FF2B5EF4-FFF2-40B4-BE49-F238E27FC236}">
                  <a16:creationId xmlns:a16="http://schemas.microsoft.com/office/drawing/2014/main" id="{71762992-BFF0-884C-9EFC-B83C35A72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596"/>
              <a:ext cx="10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标配的</a:t>
              </a:r>
              <a:r>
                <a:rPr lang="en-US" altLang="zh-CN" sz="2000" b="1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插槽</a:t>
              </a:r>
            </a:p>
          </p:txBody>
        </p:sp>
        <p:sp>
          <p:nvSpPr>
            <p:cNvPr id="47115" name="Line 12">
              <a:extLst>
                <a:ext uri="{FF2B5EF4-FFF2-40B4-BE49-F238E27FC236}">
                  <a16:creationId xmlns:a16="http://schemas.microsoft.com/office/drawing/2014/main" id="{0C179DAF-0D2F-3744-9774-80BF3AB1C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1" y="2743"/>
              <a:ext cx="1682" cy="1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6" grpId="0"/>
      <p:bldP spid="90829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DB36A48-D80F-9942-BC33-4BA1549F5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DRAM</a:t>
            </a:r>
            <a:r>
              <a:rPr lang="zh-CN" altLang="en-US"/>
              <a:t>内存条结构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042A915-7A97-DF49-83D2-6680913E2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963" y="903288"/>
            <a:ext cx="8191500" cy="3556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存控给出的地址包括：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Channel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Coloum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046579C5-1838-3C45-A1DE-1E7FCF079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1419225"/>
            <a:ext cx="8313737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7269" name="Line 5">
            <a:extLst>
              <a:ext uri="{FF2B5EF4-FFF2-40B4-BE49-F238E27FC236}">
                <a16:creationId xmlns:a16="http://schemas.microsoft.com/office/drawing/2014/main" id="{5DDD77D2-5B2C-A045-918F-E087C37B07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8800" y="1204913"/>
            <a:ext cx="231775" cy="72548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7270" name="Line 6">
            <a:extLst>
              <a:ext uri="{FF2B5EF4-FFF2-40B4-BE49-F238E27FC236}">
                <a16:creationId xmlns:a16="http://schemas.microsoft.com/office/drawing/2014/main" id="{5707493A-C400-1A4F-BE4F-24A0B94ECF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9313" y="1219200"/>
            <a:ext cx="827087" cy="1306513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C615067-511A-F04B-BD43-DB64273F1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SDRAM</a:t>
            </a:r>
            <a:r>
              <a:rPr lang="zh-CN" altLang="en-US"/>
              <a:t>芯片的引脚</a:t>
            </a: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8E42A7E5-401C-2F4B-8F1C-9E825A113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1003300"/>
            <a:ext cx="6102350" cy="585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Rectangle 5">
            <a:extLst>
              <a:ext uri="{FF2B5EF4-FFF2-40B4-BE49-F238E27FC236}">
                <a16:creationId xmlns:a16="http://schemas.microsoft.com/office/drawing/2014/main" id="{6EBD9D75-6E18-D94E-8872-E2C5B27E7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025" y="1604963"/>
            <a:ext cx="206057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DQM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（数据掩码信号）：用于选择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Burst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传输中的哪个数据，比如，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burst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长度是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时，则表示需要传输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64-bit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DQM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选择需要传输哪几个</a:t>
            </a:r>
            <a:r>
              <a:rPr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64bit</a:t>
            </a:r>
            <a:r>
              <a:rPr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9157" name="Line 6">
            <a:extLst>
              <a:ext uri="{FF2B5EF4-FFF2-40B4-BE49-F238E27FC236}">
                <a16:creationId xmlns:a16="http://schemas.microsoft.com/office/drawing/2014/main" id="{58201B93-6DCA-6447-9290-9DA327D48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2338" y="4659313"/>
            <a:ext cx="1450975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155BF4C-4A04-3648-A961-F64592CDB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DRAM</a:t>
            </a:r>
            <a:r>
              <a:rPr lang="zh-CN" altLang="en-US"/>
              <a:t>芯片的规格</a:t>
            </a:r>
          </a:p>
        </p:txBody>
      </p:sp>
      <p:sp>
        <p:nvSpPr>
          <p:cNvPr id="776195" name="Rectangle 3">
            <a:extLst>
              <a:ext uri="{FF2B5EF4-FFF2-40B4-BE49-F238E27FC236}">
                <a16:creationId xmlns:a16="http://schemas.microsoft.com/office/drawing/2014/main" id="{9A302263-1D5F-2649-BC51-5D30927E1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788" y="990600"/>
            <a:ext cx="8713787" cy="51308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若一个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×b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芯片的存储阵列是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×c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列，则该芯片容量为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×b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位且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=r×c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16K×8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r=c=128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芯片内的地址位数为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，其中行地址位数为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，列地址位数为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16K×8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n=14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，行、列地址各占</a:t>
            </a:r>
            <a:r>
              <a:rPr lang="en-US" altLang="zh-CN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位地址中高位部分为行地址，低位部分为列地址</a:t>
            </a:r>
          </a:p>
          <a:p>
            <a:pPr>
              <a:lnSpc>
                <a:spcPct val="125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为提高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芯片的性价比，通常设置的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r≤c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|r-c|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最小。</a:t>
            </a:r>
          </a:p>
          <a:p>
            <a:pPr lvl="1">
              <a:lnSpc>
                <a:spcPct val="125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例如，对于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8K×8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芯片，其存储阵列设置为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×2</a:t>
            </a:r>
            <a:r>
              <a:rPr lang="en-US" altLang="zh-CN" sz="22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列，因此行地址和列地址的位数分别为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位芯片内地址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…A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中，行地址为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…A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，列地址为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…A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因按行刷新，为尽量减少刷新次数，故行数越少越好，但是，为了减少地址引脚，应尽量使行、列地址位数一致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C5BA4D3-B29D-384C-87F9-0B79E5029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主存模块的连接和读写操作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17B7D18-0A22-2D48-A2D6-8F58AF922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7975" y="815975"/>
            <a:ext cx="8191500" cy="415925"/>
          </a:xfrm>
        </p:spPr>
        <p:txBody>
          <a:bodyPr/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芯片内部结构示意图</a:t>
            </a:r>
          </a:p>
        </p:txBody>
      </p:sp>
      <p:pic>
        <p:nvPicPr>
          <p:cNvPr id="51204" name="Picture 5">
            <a:extLst>
              <a:ext uri="{FF2B5EF4-FFF2-40B4-BE49-F238E27FC236}">
                <a16:creationId xmlns:a16="http://schemas.microsoft.com/office/drawing/2014/main" id="{58CF7B7D-E43A-0E44-AC79-3CB6CC539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3013"/>
            <a:ext cx="887095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Rectangle 6">
            <a:extLst>
              <a:ext uri="{FF2B5EF4-FFF2-40B4-BE49-F238E27FC236}">
                <a16:creationId xmlns:a16="http://schemas.microsoft.com/office/drawing/2014/main" id="{3FF2DBFB-2E47-6F41-86D0-6B591788F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5505450"/>
            <a:ext cx="85359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SzPct val="100000"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图中芯片容量为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16×8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位，存储阵列为</a:t>
            </a:r>
            <a:r>
              <a:rPr lang="en-US" altLang="zh-CN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×4</a:t>
            </a:r>
            <a:r>
              <a:rPr lang="zh-CN" altLang="en-US" sz="2000" b="1">
                <a:solidFill>
                  <a:srgbClr val="D1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，地址引脚采用复用方式，因而仅需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根地址引脚，每个超元（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supercell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）有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位，需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根数据引脚，有一个内部的行缓冲（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 buffer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），通常用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元件实现。 </a:t>
            </a:r>
          </a:p>
        </p:txBody>
      </p:sp>
      <p:sp>
        <p:nvSpPr>
          <p:cNvPr id="51206" name="Text Box 7">
            <a:extLst>
              <a:ext uri="{FF2B5EF4-FFF2-40B4-BE49-F238E27FC236}">
                <a16:creationId xmlns:a16="http://schemas.microsoft.com/office/drawing/2014/main" id="{914DEE43-1B32-FF45-8749-18186790B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75" y="871538"/>
            <a:ext cx="299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同时有多个芯片进行读写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12F30CA-0F74-1047-99FD-1F54FE1E1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主存模块的连接和读写操作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6DDD690-4FA5-CF4D-BD0D-E39763A4A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563" y="831850"/>
            <a:ext cx="8191500" cy="415925"/>
          </a:xfrm>
        </p:spPr>
        <p:txBody>
          <a:bodyPr/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芯片读写原理示意图</a:t>
            </a:r>
            <a:r>
              <a:rPr lang="zh-CN" altLang="en-US" sz="2400"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52228" name="Picture 5">
            <a:extLst>
              <a:ext uri="{FF2B5EF4-FFF2-40B4-BE49-F238E27FC236}">
                <a16:creationId xmlns:a16="http://schemas.microsoft.com/office/drawing/2014/main" id="{EC2AC951-4068-8444-9E3A-08CCC15A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212850"/>
            <a:ext cx="9101137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Rectangle 6">
            <a:extLst>
              <a:ext uri="{FF2B5EF4-FFF2-40B4-BE49-F238E27FC236}">
                <a16:creationId xmlns:a16="http://schemas.microsoft.com/office/drawing/2014/main" id="{D94C3FAC-D5A1-4B43-8E60-4F45593A6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5146675"/>
            <a:ext cx="86518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首先，存储控制器将行地址“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2”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送行译码器，选中第“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2”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行，此时，整个一行数据被送行缓冲。然后，存储控制器将列地址“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送列译码器，选中第“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列，此时，将行缓冲第“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supercell(2,1)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读到数据线，并继续送往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99D84BF-B5E8-744F-AE53-13F8149AD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128588"/>
            <a:ext cx="8807450" cy="479425"/>
          </a:xfrm>
        </p:spPr>
        <p:txBody>
          <a:bodyPr/>
          <a:lstStyle/>
          <a:p>
            <a:r>
              <a:rPr lang="zh-CN" altLang="en-US" sz="3200"/>
              <a:t>指令</a:t>
            </a:r>
            <a:r>
              <a:rPr lang="zh-CN" altLang="en-US" sz="3200">
                <a:latin typeface="黑体" panose="02010609060101010101" pitchFamily="49" charset="-122"/>
              </a:rPr>
              <a:t>“</a:t>
            </a:r>
            <a:r>
              <a:rPr lang="en-US" altLang="zh-CN" sz="3200"/>
              <a:t>movl 8(%ebp), %eax</a:t>
            </a:r>
            <a:r>
              <a:rPr lang="en-US" altLang="zh-CN" sz="3200">
                <a:latin typeface="黑体" panose="02010609060101010101" pitchFamily="49" charset="-122"/>
              </a:rPr>
              <a:t>”</a:t>
            </a:r>
            <a:r>
              <a:rPr lang="zh-CN" altLang="en-US" sz="3200"/>
              <a:t>操作过程 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1873632-2306-744A-A79F-9BAB57A7B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901124" name="Picture 4">
            <a:extLst>
              <a:ext uri="{FF2B5EF4-FFF2-40B4-BE49-F238E27FC236}">
                <a16:creationId xmlns:a16="http://schemas.microsoft.com/office/drawing/2014/main" id="{D6590D1F-FD98-F241-BF75-EE7ECE4BE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065213"/>
            <a:ext cx="866140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25" name="Picture 5">
            <a:extLst>
              <a:ext uri="{FF2B5EF4-FFF2-40B4-BE49-F238E27FC236}">
                <a16:creationId xmlns:a16="http://schemas.microsoft.com/office/drawing/2014/main" id="{337D2DE8-283B-4347-9596-E4A644997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60713"/>
            <a:ext cx="8893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26" name="Picture 6">
            <a:extLst>
              <a:ext uri="{FF2B5EF4-FFF2-40B4-BE49-F238E27FC236}">
                <a16:creationId xmlns:a16="http://schemas.microsoft.com/office/drawing/2014/main" id="{DE9A02F2-4220-7049-844D-70EB5B1B2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5005388"/>
            <a:ext cx="8664575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27" name="Text Box 7">
            <a:extLst>
              <a:ext uri="{FF2B5EF4-FFF2-40B4-BE49-F238E27FC236}">
                <a16:creationId xmlns:a16="http://schemas.microsoft.com/office/drawing/2014/main" id="{462B2611-0D94-BA41-A9DE-1780CD450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5" y="1538288"/>
            <a:ext cx="508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先把地址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和“主存读”命令送到总线</a:t>
            </a:r>
          </a:p>
        </p:txBody>
      </p:sp>
      <p:sp>
        <p:nvSpPr>
          <p:cNvPr id="901128" name="Text Box 8">
            <a:extLst>
              <a:ext uri="{FF2B5EF4-FFF2-40B4-BE49-F238E27FC236}">
                <a16:creationId xmlns:a16="http://schemas.microsoft.com/office/drawing/2014/main" id="{E2F7BE54-8778-1646-A982-633EDDDCB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3603625"/>
            <a:ext cx="5167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主存经过一个取数时间，把数据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送到总线</a:t>
            </a:r>
          </a:p>
        </p:txBody>
      </p:sp>
      <p:sp>
        <p:nvSpPr>
          <p:cNvPr id="901129" name="Text Box 9">
            <a:extLst>
              <a:ext uri="{FF2B5EF4-FFF2-40B4-BE49-F238E27FC236}">
                <a16:creationId xmlns:a16="http://schemas.microsoft.com/office/drawing/2014/main" id="{70E5D421-33FF-B047-967B-B0F8F57C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454650"/>
            <a:ext cx="5476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等待一个确定的时间后，从总线取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</a:p>
        </p:txBody>
      </p:sp>
      <p:sp>
        <p:nvSpPr>
          <p:cNvPr id="901130" name="Text Box 10">
            <a:extLst>
              <a:ext uri="{FF2B5EF4-FFF2-40B4-BE49-F238E27FC236}">
                <a16:creationId xmlns:a16="http://schemas.microsoft.com/office/drawing/2014/main" id="{3768FD85-5CC4-724C-9B4D-CAD53AABF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796925"/>
            <a:ext cx="8955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8(%ebp)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得到地址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的过程较复杂，涉及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、页表等重要概念！</a:t>
            </a:r>
          </a:p>
        </p:txBody>
      </p:sp>
      <p:sp>
        <p:nvSpPr>
          <p:cNvPr id="53259" name="Line 11">
            <a:extLst>
              <a:ext uri="{FF2B5EF4-FFF2-40B4-BE49-F238E27FC236}">
                <a16:creationId xmlns:a16="http://schemas.microsoft.com/office/drawing/2014/main" id="{53141BA0-DAA0-CE48-B3CC-C652983C1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074988"/>
            <a:ext cx="91440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Line 12">
            <a:extLst>
              <a:ext uri="{FF2B5EF4-FFF2-40B4-BE49-F238E27FC236}">
                <a16:creationId xmlns:a16="http://schemas.microsoft.com/office/drawing/2014/main" id="{60AB8333-6615-474E-AF3C-44D3AC4CA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-12700" y="5024438"/>
            <a:ext cx="91440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7" grpId="0"/>
      <p:bldP spid="901128" grpId="0"/>
      <p:bldP spid="901129" grpId="0"/>
      <p:bldP spid="9011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146" name="Picture 2">
            <a:extLst>
              <a:ext uri="{FF2B5EF4-FFF2-40B4-BE49-F238E27FC236}">
                <a16:creationId xmlns:a16="http://schemas.microsoft.com/office/drawing/2014/main" id="{F1DA46D0-C47A-3140-A192-DAE5DFA75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5049838"/>
            <a:ext cx="8834437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2147" name="Picture 3">
            <a:extLst>
              <a:ext uri="{FF2B5EF4-FFF2-40B4-BE49-F238E27FC236}">
                <a16:creationId xmlns:a16="http://schemas.microsoft.com/office/drawing/2014/main" id="{C818CC25-667E-2446-B538-1DE3993B5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3155950"/>
            <a:ext cx="8599487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2148" name="Picture 4">
            <a:extLst>
              <a:ext uri="{FF2B5EF4-FFF2-40B4-BE49-F238E27FC236}">
                <a16:creationId xmlns:a16="http://schemas.microsoft.com/office/drawing/2014/main" id="{8BCA2F0C-5B85-324B-BD31-0DF97F00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1150938"/>
            <a:ext cx="8475662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Rectangle 5">
            <a:extLst>
              <a:ext uri="{FF2B5EF4-FFF2-40B4-BE49-F238E27FC236}">
                <a16:creationId xmlns:a16="http://schemas.microsoft.com/office/drawing/2014/main" id="{07D9DB61-C628-CB4D-9DE4-917802267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128588"/>
            <a:ext cx="8807450" cy="479425"/>
          </a:xfrm>
        </p:spPr>
        <p:txBody>
          <a:bodyPr/>
          <a:lstStyle/>
          <a:p>
            <a:r>
              <a:rPr lang="zh-CN" altLang="en-US" sz="3200"/>
              <a:t>指令</a:t>
            </a:r>
            <a:r>
              <a:rPr lang="zh-CN" altLang="en-US" sz="3200">
                <a:latin typeface="黑体" panose="02010609060101010101" pitchFamily="49" charset="-122"/>
              </a:rPr>
              <a:t>“</a:t>
            </a:r>
            <a:r>
              <a:rPr lang="en-US" altLang="zh-CN" sz="3200"/>
              <a:t>movl %eax,8(%ebp) </a:t>
            </a:r>
            <a:r>
              <a:rPr lang="en-US" altLang="zh-CN" sz="3200">
                <a:latin typeface="黑体" panose="02010609060101010101" pitchFamily="49" charset="-122"/>
              </a:rPr>
              <a:t>”</a:t>
            </a:r>
            <a:r>
              <a:rPr lang="zh-CN" altLang="en-US" sz="3200"/>
              <a:t>操作过程 </a:t>
            </a:r>
          </a:p>
        </p:txBody>
      </p:sp>
      <p:sp>
        <p:nvSpPr>
          <p:cNvPr id="902150" name="Text Box 6">
            <a:extLst>
              <a:ext uri="{FF2B5EF4-FFF2-40B4-BE49-F238E27FC236}">
                <a16:creationId xmlns:a16="http://schemas.microsoft.com/office/drawing/2014/main" id="{4B6540B2-47EB-5F4D-9E40-C59552B1D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5" y="1538288"/>
            <a:ext cx="484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先把地址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和“主存写”命令送总线</a:t>
            </a:r>
          </a:p>
        </p:txBody>
      </p:sp>
      <p:sp>
        <p:nvSpPr>
          <p:cNvPr id="902151" name="Text Box 7">
            <a:extLst>
              <a:ext uri="{FF2B5EF4-FFF2-40B4-BE49-F238E27FC236}">
                <a16:creationId xmlns:a16="http://schemas.microsoft.com/office/drawing/2014/main" id="{37ECED3F-5B8A-E14D-B89D-0AE9D58D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3489325"/>
            <a:ext cx="5226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把数据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送总线（若不复用数据和地址信号线，可同时送地址和数据）</a:t>
            </a:r>
          </a:p>
        </p:txBody>
      </p:sp>
      <p:sp>
        <p:nvSpPr>
          <p:cNvPr id="902152" name="Text Box 8">
            <a:extLst>
              <a:ext uri="{FF2B5EF4-FFF2-40B4-BE49-F238E27FC236}">
                <a16:creationId xmlns:a16="http://schemas.microsoft.com/office/drawing/2014/main" id="{227B8B8A-28B1-E446-A171-A4F6E8AAC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5526088"/>
            <a:ext cx="469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等待一个写入时间后，主存将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</p:txBody>
      </p:sp>
      <p:sp>
        <p:nvSpPr>
          <p:cNvPr id="902153" name="Text Box 9">
            <a:extLst>
              <a:ext uri="{FF2B5EF4-FFF2-40B4-BE49-F238E27FC236}">
                <a16:creationId xmlns:a16="http://schemas.microsoft.com/office/drawing/2014/main" id="{F205F40A-2543-484E-9987-9D61B6120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796925"/>
            <a:ext cx="8955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8(%ebp)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得到地址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的过程较复杂，涉及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、页表等重要概念！</a:t>
            </a:r>
          </a:p>
        </p:txBody>
      </p:sp>
      <p:sp>
        <p:nvSpPr>
          <p:cNvPr id="54282" name="Line 10">
            <a:extLst>
              <a:ext uri="{FF2B5EF4-FFF2-40B4-BE49-F238E27FC236}">
                <a16:creationId xmlns:a16="http://schemas.microsoft.com/office/drawing/2014/main" id="{0130503D-D9BB-D74F-99B0-9DC5104C2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074988"/>
            <a:ext cx="91440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3" name="Line 11">
            <a:extLst>
              <a:ext uri="{FF2B5EF4-FFF2-40B4-BE49-F238E27FC236}">
                <a16:creationId xmlns:a16="http://schemas.microsoft.com/office/drawing/2014/main" id="{E2242376-24A2-ED48-862D-30D02975A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981575"/>
            <a:ext cx="91440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50" grpId="0"/>
      <p:bldP spid="902151" grpId="0"/>
      <p:bldP spid="902152" grpId="0"/>
      <p:bldP spid="90215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815119C8-6148-E94D-A583-1CEDBA6EB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defTabSz="717550" eaLnBrk="1" hangingPunct="1"/>
            <a:r>
              <a:rPr lang="zh-CN" altLang="en-US"/>
              <a:t>多模块存储器</a:t>
            </a:r>
          </a:p>
        </p:txBody>
      </p:sp>
      <p:pic>
        <p:nvPicPr>
          <p:cNvPr id="743429" name="Picture 5">
            <a:extLst>
              <a:ext uri="{FF2B5EF4-FFF2-40B4-BE49-F238E27FC236}">
                <a16:creationId xmlns:a16="http://schemas.microsoft.com/office/drawing/2014/main" id="{77FE6BC5-8C19-B745-B1C9-20982995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3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1755775"/>
            <a:ext cx="87058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3430" name="Rectangle 6">
            <a:extLst>
              <a:ext uri="{FF2B5EF4-FFF2-40B4-BE49-F238E27FC236}">
                <a16:creationId xmlns:a16="http://schemas.microsoft.com/office/drawing/2014/main" id="{9149B48B-0BCE-C642-89B3-EAD6A2F82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871538"/>
            <a:ext cx="8191500" cy="846137"/>
          </a:xfrm>
          <a:noFill/>
        </p:spPr>
        <p:txBody>
          <a:bodyPr/>
          <a:lstStyle/>
          <a:p>
            <a:pPr marL="268288" indent="-268288" defTabSz="717550" eaLnBrk="1" hangingPunct="1"/>
            <a:r>
              <a:rPr lang="zh-CN" altLang="en-US" sz="2200">
                <a:solidFill>
                  <a:srgbClr val="CC0000"/>
                </a:solidFill>
                <a:ea typeface="宋体" panose="02010600030101010101" pitchFamily="2" charset="-122"/>
              </a:rPr>
              <a:t>多模块技术</a:t>
            </a:r>
          </a:p>
          <a:p>
            <a:pPr marL="268288" indent="-268288" defTabSz="717550" eaLnBrk="1" hangingPunct="1">
              <a:buFont typeface="Wingdings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    2</a:t>
            </a:r>
            <a:r>
              <a:rPr lang="zh-CN" altLang="en-US" sz="2200">
                <a:ea typeface="宋体" panose="02010600030101010101" pitchFamily="2" charset="-122"/>
              </a:rPr>
              <a:t>个、</a:t>
            </a:r>
            <a:r>
              <a:rPr lang="en-US" altLang="zh-CN" sz="2200">
                <a:ea typeface="宋体" panose="02010600030101010101" pitchFamily="2" charset="-122"/>
              </a:rPr>
              <a:t>4</a:t>
            </a:r>
            <a:r>
              <a:rPr lang="zh-CN" altLang="en-US" sz="2200">
                <a:ea typeface="宋体" panose="02010600030101010101" pitchFamily="2" charset="-122"/>
              </a:rPr>
              <a:t>个或多个存储器同时工作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34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7" name="Rectangle 3">
            <a:extLst>
              <a:ext uri="{FF2B5EF4-FFF2-40B4-BE49-F238E27FC236}">
                <a16:creationId xmlns:a16="http://schemas.microsoft.com/office/drawing/2014/main" id="{C2184D62-8EC0-1940-BB30-EB0DAACDC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" y="766763"/>
            <a:ext cx="8802688" cy="1222375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双口存储器（</a:t>
            </a: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能同时进行两个数据的读</a:t>
            </a:r>
            <a:r>
              <a:rPr lang="en-US" altLang="zh-CN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写）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 两套独立的读</a:t>
            </a:r>
            <a:r>
              <a:rPr lang="en-US" altLang="zh-CN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写控制电路、地址缓存、地址译码及地址线和数据线， 通常作为双口</a:t>
            </a:r>
            <a:r>
              <a:rPr lang="en-US" altLang="zh-CN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RAM</a:t>
            </a:r>
            <a:r>
              <a:rPr lang="zh-CN" altLang="en-US" sz="22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或指令预取部件</a:t>
            </a:r>
            <a:endParaRPr lang="en-US" altLang="zh-CN" sz="2200">
              <a:solidFill>
                <a:srgbClr val="0000FF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0D029E65-5A02-274B-85BB-0AEAAC88B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defTabSz="717550" eaLnBrk="1" hangingPunct="1"/>
            <a:r>
              <a:rPr lang="zh-CN" altLang="en-US"/>
              <a:t>多模块存储器</a:t>
            </a:r>
          </a:p>
        </p:txBody>
      </p:sp>
      <p:pic>
        <p:nvPicPr>
          <p:cNvPr id="56324" name="图片 2">
            <a:extLst>
              <a:ext uri="{FF2B5EF4-FFF2-40B4-BE49-F238E27FC236}">
                <a16:creationId xmlns:a16="http://schemas.microsoft.com/office/drawing/2014/main" id="{4ACEF5D6-3BD7-8149-BC5A-C1C62CFFA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384425"/>
            <a:ext cx="7904163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1" name="Rectangle 3">
            <a:extLst>
              <a:ext uri="{FF2B5EF4-FFF2-40B4-BE49-F238E27FC236}">
                <a16:creationId xmlns:a16="http://schemas.microsoft.com/office/drawing/2014/main" id="{610DD7AD-DFB8-8C4A-94CF-07B00E842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3" y="1116013"/>
            <a:ext cx="7339012" cy="4968875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多模块存储器（</a:t>
            </a: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能提高数据访问速度）</a:t>
            </a:r>
            <a:endParaRPr lang="zh-CN" altLang="en-US" sz="2400">
              <a:solidFill>
                <a:srgbClr val="800000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包含多个小体；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每个体有其自己的</a:t>
            </a:r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MAR、MDR</a:t>
            </a: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和读写电路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可独立组成一个存储模块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可同时对多个模块进行访问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根据不同的编址方式可分为：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连续编址、交叉编址</a:t>
            </a:r>
            <a:endParaRPr lang="en-US" altLang="zh-CN" sz="2400">
              <a:solidFill>
                <a:srgbClr val="CC0000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371" name="Rectangle 4">
            <a:extLst>
              <a:ext uri="{FF2B5EF4-FFF2-40B4-BE49-F238E27FC236}">
                <a16:creationId xmlns:a16="http://schemas.microsoft.com/office/drawing/2014/main" id="{790DE320-EBA1-4C4D-8CA1-784B90885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defTabSz="717550" eaLnBrk="1" hangingPunct="1"/>
            <a:r>
              <a:rPr lang="zh-CN" altLang="en-US"/>
              <a:t>多模块存储器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5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5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5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79499B5-F18E-8E4B-8001-A7F93348C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153988"/>
            <a:ext cx="8640763" cy="4191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连续编址</a:t>
            </a:r>
            <a:r>
              <a:rPr lang="zh-CN" altLang="en-US"/>
              <a:t>多模块存储器</a:t>
            </a:r>
          </a:p>
        </p:txBody>
      </p:sp>
      <p:pic>
        <p:nvPicPr>
          <p:cNvPr id="59395" name="Picture 4" descr="并行多模块存储器">
            <a:extLst>
              <a:ext uri="{FF2B5EF4-FFF2-40B4-BE49-F238E27FC236}">
                <a16:creationId xmlns:a16="http://schemas.microsoft.com/office/drawing/2014/main" id="{6C4A59F3-5E0A-474D-BC3E-D0B54370B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908050"/>
            <a:ext cx="83058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>
            <a:extLst>
              <a:ext uri="{FF2B5EF4-FFF2-40B4-BE49-F238E27FC236}">
                <a16:creationId xmlns:a16="http://schemas.microsoft.com/office/drawing/2014/main" id="{8F43F166-56F2-BC42-98BF-7E0563098CA0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993775"/>
            <a:ext cx="2609850" cy="409575"/>
            <a:chOff x="697" y="626"/>
            <a:chExt cx="1446" cy="258"/>
          </a:xfrm>
        </p:grpSpPr>
        <p:sp>
          <p:nvSpPr>
            <p:cNvPr id="59404" name="Text Box 5">
              <a:extLst>
                <a:ext uri="{FF2B5EF4-FFF2-40B4-BE49-F238E27FC236}">
                  <a16:creationId xmlns:a16="http://schemas.microsoft.com/office/drawing/2014/main" id="{B1BCB199-F2D6-5A47-B0AF-FA6BF4C11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" y="626"/>
              <a:ext cx="1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1" lang="zh-CN" altLang="en-US" sz="2000">
                  <a:solidFill>
                    <a:srgbClr val="FF0000"/>
                  </a:solidFill>
                  <a:ea typeface="黑体" panose="02010609060101010101" pitchFamily="49" charset="-122"/>
                </a:rPr>
                <a:t>按高位地址划分模块</a:t>
              </a:r>
            </a:p>
          </p:txBody>
        </p:sp>
        <p:sp>
          <p:nvSpPr>
            <p:cNvPr id="59405" name="Line 6">
              <a:extLst>
                <a:ext uri="{FF2B5EF4-FFF2-40B4-BE49-F238E27FC236}">
                  <a16:creationId xmlns:a16="http://schemas.microsoft.com/office/drawing/2014/main" id="{98E32AF6-10C0-5F4E-A629-514D5A8AE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716"/>
              <a:ext cx="134" cy="1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3496" name="Text Box 8">
            <a:extLst>
              <a:ext uri="{FF2B5EF4-FFF2-40B4-BE49-F238E27FC236}">
                <a16:creationId xmlns:a16="http://schemas.microsoft.com/office/drawing/2014/main" id="{80B1676B-A82B-CF4A-BECC-002A28B9A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5822950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3497" name="Text Box 9">
            <a:extLst>
              <a:ext uri="{FF2B5EF4-FFF2-40B4-BE49-F238E27FC236}">
                <a16:creationId xmlns:a16="http://schemas.microsoft.com/office/drawing/2014/main" id="{DDF1B034-613F-D149-A40A-A2203A8D6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5868988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3498" name="Text Box 10">
            <a:extLst>
              <a:ext uri="{FF2B5EF4-FFF2-40B4-BE49-F238E27FC236}">
                <a16:creationId xmlns:a16="http://schemas.microsoft.com/office/drawing/2014/main" id="{30D166E7-ABEC-0E41-B127-BA43AA65C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5868988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7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3500" name="Rectangle 12">
            <a:extLst>
              <a:ext uri="{FF2B5EF4-FFF2-40B4-BE49-F238E27FC236}">
                <a16:creationId xmlns:a16="http://schemas.microsoft.com/office/drawing/2014/main" id="{B5155B66-56C3-244E-ABF5-1D8582D99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225" y="1084263"/>
            <a:ext cx="2555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从某单元开始，连续在同一模块访问，然后才跳到下一个模块。</a:t>
            </a:r>
          </a:p>
        </p:txBody>
      </p:sp>
      <p:sp>
        <p:nvSpPr>
          <p:cNvPr id="63501" name="Rectangle 13">
            <a:extLst>
              <a:ext uri="{FF2B5EF4-FFF2-40B4-BE49-F238E27FC236}">
                <a16:creationId xmlns:a16="http://schemas.microsoft.com/office/drawing/2014/main" id="{972D563A-5100-1F4D-9BCE-90F7CB274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2168525"/>
            <a:ext cx="2889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如：一个模块执行程序，另一个实现</a:t>
            </a:r>
            <a:r>
              <a:rPr kumimoji="1" lang="en-US" altLang="zh-CN" sz="2000">
                <a:solidFill>
                  <a:srgbClr val="0000FF"/>
                </a:solidFill>
                <a:ea typeface="黑体" panose="02010609060101010101" pitchFamily="49" charset="-122"/>
              </a:rPr>
              <a:t>DMA</a:t>
            </a:r>
            <a:r>
              <a:rPr kumimoji="1"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访问。</a:t>
            </a:r>
          </a:p>
        </p:txBody>
      </p:sp>
      <p:sp>
        <p:nvSpPr>
          <p:cNvPr id="63502" name="Text Box 14">
            <a:extLst>
              <a:ext uri="{FF2B5EF4-FFF2-40B4-BE49-F238E27FC236}">
                <a16:creationId xmlns:a16="http://schemas.microsoft.com/office/drawing/2014/main" id="{CA79CAEE-5B96-5844-BCBA-F05F3DE16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2259013"/>
            <a:ext cx="2746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为什么能提高吞吐量？</a:t>
            </a:r>
          </a:p>
        </p:txBody>
      </p:sp>
      <p:sp>
        <p:nvSpPr>
          <p:cNvPr id="63503" name="Text Box 15">
            <a:extLst>
              <a:ext uri="{FF2B5EF4-FFF2-40B4-BE49-F238E27FC236}">
                <a16:creationId xmlns:a16="http://schemas.microsoft.com/office/drawing/2014/main" id="{890C3223-2132-4541-8427-18011CFCA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619375"/>
            <a:ext cx="2835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多个模块可并行存取！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6" grpId="0"/>
      <p:bldP spid="63497" grpId="0"/>
      <p:bldP spid="63498" grpId="0"/>
      <p:bldP spid="63500" grpId="0"/>
      <p:bldP spid="63501" grpId="0"/>
      <p:bldP spid="63502" grpId="0"/>
      <p:bldP spid="6350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FF4DDDF-357D-274E-83E2-F3151ADBD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42875"/>
            <a:ext cx="7848600" cy="66675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交叉编址</a:t>
            </a:r>
            <a:r>
              <a:rPr lang="zh-CN" altLang="en-US"/>
              <a:t>多模块存储器</a:t>
            </a:r>
          </a:p>
        </p:txBody>
      </p:sp>
      <p:pic>
        <p:nvPicPr>
          <p:cNvPr id="60419" name="Picture 5" descr="交叉编址多模块存储器_new">
            <a:extLst>
              <a:ext uri="{FF2B5EF4-FFF2-40B4-BE49-F238E27FC236}">
                <a16:creationId xmlns:a16="http://schemas.microsoft.com/office/drawing/2014/main" id="{C2885035-B3EC-E145-84C3-358FA67EB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819150"/>
            <a:ext cx="8601075" cy="548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8">
            <a:extLst>
              <a:ext uri="{FF2B5EF4-FFF2-40B4-BE49-F238E27FC236}">
                <a16:creationId xmlns:a16="http://schemas.microsoft.com/office/drawing/2014/main" id="{6CF0A7AE-B9A4-4247-A340-68E7297C1EEC}"/>
              </a:ext>
            </a:extLst>
          </p:cNvPr>
          <p:cNvGrpSpPr>
            <a:grpSpLocks/>
          </p:cNvGrpSpPr>
          <p:nvPr/>
        </p:nvGrpSpPr>
        <p:grpSpPr bwMode="auto">
          <a:xfrm>
            <a:off x="5697538" y="998538"/>
            <a:ext cx="2835275" cy="333375"/>
            <a:chOff x="3712" y="603"/>
            <a:chExt cx="1530" cy="210"/>
          </a:xfrm>
        </p:grpSpPr>
        <p:sp>
          <p:nvSpPr>
            <p:cNvPr id="60429" name="Text Box 7">
              <a:extLst>
                <a:ext uri="{FF2B5EF4-FFF2-40B4-BE49-F238E27FC236}">
                  <a16:creationId xmlns:a16="http://schemas.microsoft.com/office/drawing/2014/main" id="{587028F1-C0B9-B442-81C9-A86AED506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6" y="603"/>
              <a:ext cx="1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1" lang="zh-CN" altLang="en-US" sz="2000">
                  <a:solidFill>
                    <a:srgbClr val="FF0000"/>
                  </a:solidFill>
                  <a:ea typeface="黑体" panose="02010609060101010101" pitchFamily="49" charset="-122"/>
                </a:rPr>
                <a:t>按低位地址划分模块</a:t>
              </a:r>
            </a:p>
          </p:txBody>
        </p:sp>
        <p:sp>
          <p:nvSpPr>
            <p:cNvPr id="60430" name="Line 8">
              <a:extLst>
                <a:ext uri="{FF2B5EF4-FFF2-40B4-BE49-F238E27FC236}">
                  <a16:creationId xmlns:a16="http://schemas.microsoft.com/office/drawing/2014/main" id="{47F406A6-D7E9-234D-A33F-D8C210386E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2" y="693"/>
              <a:ext cx="178" cy="1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4521" name="Text Box 9">
            <a:extLst>
              <a:ext uri="{FF2B5EF4-FFF2-40B4-BE49-F238E27FC236}">
                <a16:creationId xmlns:a16="http://schemas.microsoft.com/office/drawing/2014/main" id="{2193DB18-68F8-104D-9ADE-07071E7B9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106988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4522" name="Text Box 10">
            <a:extLst>
              <a:ext uri="{FF2B5EF4-FFF2-40B4-BE49-F238E27FC236}">
                <a16:creationId xmlns:a16="http://schemas.microsoft.com/office/drawing/2014/main" id="{1A8DDB3E-0191-054C-BFC4-B861D704D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8" y="5049838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4523" name="Text Box 11">
            <a:extLst>
              <a:ext uri="{FF2B5EF4-FFF2-40B4-BE49-F238E27FC236}">
                <a16:creationId xmlns:a16="http://schemas.microsoft.com/office/drawing/2014/main" id="{7B3FA073-E434-174B-907C-8F88A5366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0" y="5094288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id="{D8864BFA-8482-D549-988D-53AC953A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846138"/>
            <a:ext cx="19335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从某个单元开始后，总是在所有模块间交替进行。</a:t>
            </a:r>
          </a:p>
        </p:txBody>
      </p:sp>
      <p:sp>
        <p:nvSpPr>
          <p:cNvPr id="64526" name="Text Box 14">
            <a:extLst>
              <a:ext uri="{FF2B5EF4-FFF2-40B4-BE49-F238E27FC236}">
                <a16:creationId xmlns:a16="http://schemas.microsoft.com/office/drawing/2014/main" id="{56FC6C3C-B040-964F-96AD-7434B7590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368425"/>
            <a:ext cx="2744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为什么能提高吞吐量？</a:t>
            </a:r>
          </a:p>
        </p:txBody>
      </p:sp>
      <p:sp>
        <p:nvSpPr>
          <p:cNvPr id="64527" name="Text Box 15">
            <a:extLst>
              <a:ext uri="{FF2B5EF4-FFF2-40B4-BE49-F238E27FC236}">
                <a16:creationId xmlns:a16="http://schemas.microsoft.com/office/drawing/2014/main" id="{8CFF3599-DB14-E44C-A65E-622D22C6A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1719263"/>
            <a:ext cx="238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多个模块交叉存取！</a:t>
            </a:r>
          </a:p>
        </p:txBody>
      </p:sp>
      <p:sp>
        <p:nvSpPr>
          <p:cNvPr id="64528" name="Text Box 16">
            <a:extLst>
              <a:ext uri="{FF2B5EF4-FFF2-40B4-BE49-F238E27FC236}">
                <a16:creationId xmlns:a16="http://schemas.microsoft.com/office/drawing/2014/main" id="{A944724A-32E2-5E48-8B89-A7A010C47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8" y="5086350"/>
            <a:ext cx="1079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模块</a:t>
            </a:r>
          </a:p>
        </p:txBody>
      </p:sp>
      <p:sp>
        <p:nvSpPr>
          <p:cNvPr id="64532" name="Rectangle 20">
            <a:extLst>
              <a:ext uri="{FF2B5EF4-FFF2-40B4-BE49-F238E27FC236}">
                <a16:creationId xmlns:a16="http://schemas.microsoft.com/office/drawing/2014/main" id="{B028C6C2-19B7-1741-99B2-DB364ABDF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6015038"/>
            <a:ext cx="33147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在存储地址“相关”或出现“转移”时，并行性被破坏。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1" grpId="0"/>
      <p:bldP spid="64522" grpId="0"/>
      <p:bldP spid="64523" grpId="0"/>
      <p:bldP spid="64525" grpId="0"/>
      <p:bldP spid="64526" grpId="0"/>
      <p:bldP spid="64527" grpId="0"/>
      <p:bldP spid="64528" grpId="0"/>
      <p:bldP spid="645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AB955E3-5F81-2E42-A0E8-8F548E181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152400"/>
            <a:ext cx="7751763" cy="538163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交叉编址：轮流启动</a:t>
            </a:r>
            <a:endParaRPr lang="en-US" altLang="zh-CN"/>
          </a:p>
        </p:txBody>
      </p:sp>
      <p:sp>
        <p:nvSpPr>
          <p:cNvPr id="61443" name="Rectangle 6">
            <a:extLst>
              <a:ext uri="{FF2B5EF4-FFF2-40B4-BE49-F238E27FC236}">
                <a16:creationId xmlns:a16="http://schemas.microsoft.com/office/drawing/2014/main" id="{2CD045E9-A8FB-904F-A166-26F4E2097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8" y="1016000"/>
            <a:ext cx="50196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Access Pattern without Interleaving:</a:t>
            </a:r>
          </a:p>
        </p:txBody>
      </p:sp>
      <p:grpSp>
        <p:nvGrpSpPr>
          <p:cNvPr id="61444" name="Group 63">
            <a:extLst>
              <a:ext uri="{FF2B5EF4-FFF2-40B4-BE49-F238E27FC236}">
                <a16:creationId xmlns:a16="http://schemas.microsoft.com/office/drawing/2014/main" id="{508D32B9-7E23-3747-BFB0-6BA8786042A8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1031875"/>
            <a:ext cx="2778125" cy="508000"/>
            <a:chOff x="3752" y="680"/>
            <a:chExt cx="1561" cy="320"/>
          </a:xfrm>
        </p:grpSpPr>
        <p:sp>
          <p:nvSpPr>
            <p:cNvPr id="61510" name="Rectangle 12">
              <a:extLst>
                <a:ext uri="{FF2B5EF4-FFF2-40B4-BE49-F238E27FC236}">
                  <a16:creationId xmlns:a16="http://schemas.microsoft.com/office/drawing/2014/main" id="{80AE2E23-60C4-9E44-B3C2-9F94E3702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680"/>
              <a:ext cx="416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511" name="Rectangle 13">
              <a:extLst>
                <a:ext uri="{FF2B5EF4-FFF2-40B4-BE49-F238E27FC236}">
                  <a16:creationId xmlns:a16="http://schemas.microsoft.com/office/drawing/2014/main" id="{60E0D907-8F34-6447-BBCC-035B9B913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680"/>
              <a:ext cx="56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512" name="Rectangle 14">
              <a:extLst>
                <a:ext uri="{FF2B5EF4-FFF2-40B4-BE49-F238E27FC236}">
                  <a16:creationId xmlns:a16="http://schemas.microsoft.com/office/drawing/2014/main" id="{9F3581D5-E546-EB48-ABB8-AC8AAB3DF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720"/>
              <a:ext cx="3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61513" name="Rectangle 15">
              <a:extLst>
                <a:ext uri="{FF2B5EF4-FFF2-40B4-BE49-F238E27FC236}">
                  <a16:creationId xmlns:a16="http://schemas.microsoft.com/office/drawing/2014/main" id="{C209EA13-650B-E74F-9D7E-11342BB29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720"/>
              <a:ext cx="66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61514" name="Line 16">
              <a:extLst>
                <a:ext uri="{FF2B5EF4-FFF2-40B4-BE49-F238E27FC236}">
                  <a16:creationId xmlns:a16="http://schemas.microsoft.com/office/drawing/2014/main" id="{23DC55B9-2E90-5543-96E5-921167AEE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816"/>
              <a:ext cx="4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445" name="Group 3">
            <a:extLst>
              <a:ext uri="{FF2B5EF4-FFF2-40B4-BE49-F238E27FC236}">
                <a16:creationId xmlns:a16="http://schemas.microsoft.com/office/drawing/2014/main" id="{87C99263-2E9A-8249-8D4B-CEDF66FEBAD8}"/>
              </a:ext>
            </a:extLst>
          </p:cNvPr>
          <p:cNvGrpSpPr>
            <a:grpSpLocks/>
          </p:cNvGrpSpPr>
          <p:nvPr/>
        </p:nvGrpSpPr>
        <p:grpSpPr bwMode="auto">
          <a:xfrm>
            <a:off x="420688" y="1616075"/>
            <a:ext cx="3340100" cy="139700"/>
            <a:chOff x="340" y="1108"/>
            <a:chExt cx="2104" cy="88"/>
          </a:xfrm>
        </p:grpSpPr>
        <p:sp>
          <p:nvSpPr>
            <p:cNvPr id="61508" name="Rectangle 4">
              <a:extLst>
                <a:ext uri="{FF2B5EF4-FFF2-40B4-BE49-F238E27FC236}">
                  <a16:creationId xmlns:a16="http://schemas.microsoft.com/office/drawing/2014/main" id="{1BCB8393-33B7-A247-BC00-383EE25C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108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509" name="Rectangle 5">
              <a:extLst>
                <a:ext uri="{FF2B5EF4-FFF2-40B4-BE49-F238E27FC236}">
                  <a16:creationId xmlns:a16="http://schemas.microsoft.com/office/drawing/2014/main" id="{92E1EA67-3E2B-5341-BEB1-C38BCC0C5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108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61446" name="Group 7">
            <a:extLst>
              <a:ext uri="{FF2B5EF4-FFF2-40B4-BE49-F238E27FC236}">
                <a16:creationId xmlns:a16="http://schemas.microsoft.com/office/drawing/2014/main" id="{1A89E20C-3E66-7D4A-AF50-91CF01EF8BBF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1768475"/>
            <a:ext cx="3340100" cy="139700"/>
            <a:chOff x="2452" y="1204"/>
            <a:chExt cx="2104" cy="88"/>
          </a:xfrm>
        </p:grpSpPr>
        <p:sp>
          <p:nvSpPr>
            <p:cNvPr id="61506" name="Rectangle 8">
              <a:extLst>
                <a:ext uri="{FF2B5EF4-FFF2-40B4-BE49-F238E27FC236}">
                  <a16:creationId xmlns:a16="http://schemas.microsoft.com/office/drawing/2014/main" id="{80F8F4ED-6495-6D48-BCF9-02D04FC93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204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507" name="Rectangle 9">
              <a:extLst>
                <a:ext uri="{FF2B5EF4-FFF2-40B4-BE49-F238E27FC236}">
                  <a16:creationId xmlns:a16="http://schemas.microsoft.com/office/drawing/2014/main" id="{1DD0D017-647D-664E-88A1-3CB094F67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204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5" name="Group 72">
            <a:extLst>
              <a:ext uri="{FF2B5EF4-FFF2-40B4-BE49-F238E27FC236}">
                <a16:creationId xmlns:a16="http://schemas.microsoft.com/office/drawing/2014/main" id="{78D201CF-3A71-A14F-9444-5168D29BFD59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1774825"/>
            <a:ext cx="2522538" cy="914400"/>
            <a:chOff x="408" y="1208"/>
            <a:chExt cx="1589" cy="576"/>
          </a:xfrm>
        </p:grpSpPr>
        <p:sp>
          <p:nvSpPr>
            <p:cNvPr id="61504" name="Line 10">
              <a:extLst>
                <a:ext uri="{FF2B5EF4-FFF2-40B4-BE49-F238E27FC236}">
                  <a16:creationId xmlns:a16="http://schemas.microsoft.com/office/drawing/2014/main" id="{6F6522F9-0F58-3D4F-A94D-8B2C23BCD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" y="1208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5" name="Rectangle 11">
              <a:extLst>
                <a:ext uri="{FF2B5EF4-FFF2-40B4-BE49-F238E27FC236}">
                  <a16:creationId xmlns:a16="http://schemas.microsoft.com/office/drawing/2014/main" id="{145CC74C-910F-B04C-9BCC-A50F5C21A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536"/>
              <a:ext cx="158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Start Access for D1</a:t>
              </a:r>
            </a:p>
          </p:txBody>
        </p:sp>
      </p:grpSp>
      <p:grpSp>
        <p:nvGrpSpPr>
          <p:cNvPr id="6" name="Group 74">
            <a:extLst>
              <a:ext uri="{FF2B5EF4-FFF2-40B4-BE49-F238E27FC236}">
                <a16:creationId xmlns:a16="http://schemas.microsoft.com/office/drawing/2014/main" id="{79FCF81D-2E4D-124D-AF6A-BDF571BC7610}"/>
              </a:ext>
            </a:extLst>
          </p:cNvPr>
          <p:cNvGrpSpPr>
            <a:grpSpLocks/>
          </p:cNvGrpSpPr>
          <p:nvPr/>
        </p:nvGrpSpPr>
        <p:grpSpPr bwMode="auto">
          <a:xfrm>
            <a:off x="3524250" y="1927225"/>
            <a:ext cx="2522538" cy="762000"/>
            <a:chOff x="2376" y="1304"/>
            <a:chExt cx="1589" cy="480"/>
          </a:xfrm>
        </p:grpSpPr>
        <p:sp>
          <p:nvSpPr>
            <p:cNvPr id="61502" name="Line 17">
              <a:extLst>
                <a:ext uri="{FF2B5EF4-FFF2-40B4-BE49-F238E27FC236}">
                  <a16:creationId xmlns:a16="http://schemas.microsoft.com/office/drawing/2014/main" id="{01162D54-B202-9948-81DF-B15F78417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130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3" name="Rectangle 18">
              <a:extLst>
                <a:ext uri="{FF2B5EF4-FFF2-40B4-BE49-F238E27FC236}">
                  <a16:creationId xmlns:a16="http://schemas.microsoft.com/office/drawing/2014/main" id="{A4D24FE4-AC76-8240-A8F8-505200450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536"/>
              <a:ext cx="158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Start Access for D2</a:t>
              </a:r>
            </a:p>
          </p:txBody>
        </p:sp>
      </p:grpSp>
      <p:grpSp>
        <p:nvGrpSpPr>
          <p:cNvPr id="7" name="Group 73">
            <a:extLst>
              <a:ext uri="{FF2B5EF4-FFF2-40B4-BE49-F238E27FC236}">
                <a16:creationId xmlns:a16="http://schemas.microsoft.com/office/drawing/2014/main" id="{A43A8368-467D-DA49-8D9F-84DD22F84C3D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1774825"/>
            <a:ext cx="1798638" cy="639763"/>
            <a:chOff x="936" y="1208"/>
            <a:chExt cx="1133" cy="403"/>
          </a:xfrm>
        </p:grpSpPr>
        <p:sp>
          <p:nvSpPr>
            <p:cNvPr id="61500" name="Line 19">
              <a:extLst>
                <a:ext uri="{FF2B5EF4-FFF2-40B4-BE49-F238E27FC236}">
                  <a16:creationId xmlns:a16="http://schemas.microsoft.com/office/drawing/2014/main" id="{43036C75-7C37-9246-A75E-C87779AC4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1208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1" name="Rectangle 20">
              <a:extLst>
                <a:ext uri="{FF2B5EF4-FFF2-40B4-BE49-F238E27FC236}">
                  <a16:creationId xmlns:a16="http://schemas.microsoft.com/office/drawing/2014/main" id="{57AF5DA8-AAD8-DD4A-BF28-D7EF114AD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44"/>
              <a:ext cx="113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200">
                  <a:ea typeface="宋体" panose="02010600030101010101" pitchFamily="2" charset="-122"/>
                </a:rPr>
                <a:t>D1 available</a:t>
              </a:r>
            </a:p>
          </p:txBody>
        </p:sp>
      </p:grpSp>
      <p:grpSp>
        <p:nvGrpSpPr>
          <p:cNvPr id="61450" name="Group 21">
            <a:extLst>
              <a:ext uri="{FF2B5EF4-FFF2-40B4-BE49-F238E27FC236}">
                <a16:creationId xmlns:a16="http://schemas.microsoft.com/office/drawing/2014/main" id="{E7955244-6F5E-2F46-AED4-22A354E1606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673475"/>
            <a:ext cx="3340100" cy="139700"/>
            <a:chOff x="436" y="2596"/>
            <a:chExt cx="2104" cy="88"/>
          </a:xfrm>
        </p:grpSpPr>
        <p:sp>
          <p:nvSpPr>
            <p:cNvPr id="61498" name="Rectangle 22">
              <a:extLst>
                <a:ext uri="{FF2B5EF4-FFF2-40B4-BE49-F238E27FC236}">
                  <a16:creationId xmlns:a16="http://schemas.microsoft.com/office/drawing/2014/main" id="{B085A6E1-7AA0-2D48-947B-62331DBC5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596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99" name="Rectangle 23">
              <a:extLst>
                <a:ext uri="{FF2B5EF4-FFF2-40B4-BE49-F238E27FC236}">
                  <a16:creationId xmlns:a16="http://schemas.microsoft.com/office/drawing/2014/main" id="{9B4C0EFA-0E2B-304A-BEB9-AB563E1A3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596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61451" name="Group 26">
            <a:extLst>
              <a:ext uri="{FF2B5EF4-FFF2-40B4-BE49-F238E27FC236}">
                <a16:creationId xmlns:a16="http://schemas.microsoft.com/office/drawing/2014/main" id="{4397D1B3-FC47-FE40-99B7-AE4C20870EFB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987800"/>
            <a:ext cx="3340100" cy="139700"/>
            <a:chOff x="964" y="2788"/>
            <a:chExt cx="2104" cy="88"/>
          </a:xfrm>
        </p:grpSpPr>
        <p:sp>
          <p:nvSpPr>
            <p:cNvPr id="61496" name="Rectangle 27">
              <a:extLst>
                <a:ext uri="{FF2B5EF4-FFF2-40B4-BE49-F238E27FC236}">
                  <a16:creationId xmlns:a16="http://schemas.microsoft.com/office/drawing/2014/main" id="{12A92EDC-8399-9B40-9B1C-948DE9C78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2788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97" name="Rectangle 28">
              <a:extLst>
                <a:ext uri="{FF2B5EF4-FFF2-40B4-BE49-F238E27FC236}">
                  <a16:creationId xmlns:a16="http://schemas.microsoft.com/office/drawing/2014/main" id="{3634BA6C-F1DE-C647-9B66-49467A845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2788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61452" name="Group 29">
            <a:extLst>
              <a:ext uri="{FF2B5EF4-FFF2-40B4-BE49-F238E27FC236}">
                <a16:creationId xmlns:a16="http://schemas.microsoft.com/office/drawing/2014/main" id="{63BDDCBA-4577-9544-A86B-D2622A237B37}"/>
              </a:ext>
            </a:extLst>
          </p:cNvPr>
          <p:cNvGrpSpPr>
            <a:grpSpLocks/>
          </p:cNvGrpSpPr>
          <p:nvPr/>
        </p:nvGrpSpPr>
        <p:grpSpPr bwMode="auto">
          <a:xfrm>
            <a:off x="2292350" y="4292600"/>
            <a:ext cx="3340100" cy="139700"/>
            <a:chOff x="1540" y="2980"/>
            <a:chExt cx="2104" cy="88"/>
          </a:xfrm>
        </p:grpSpPr>
        <p:sp>
          <p:nvSpPr>
            <p:cNvPr id="61494" name="Rectangle 30">
              <a:extLst>
                <a:ext uri="{FF2B5EF4-FFF2-40B4-BE49-F238E27FC236}">
                  <a16:creationId xmlns:a16="http://schemas.microsoft.com/office/drawing/2014/main" id="{DD2B95EF-7E08-CF41-A7A2-945C29130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980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95" name="Rectangle 31">
              <a:extLst>
                <a:ext uri="{FF2B5EF4-FFF2-40B4-BE49-F238E27FC236}">
                  <a16:creationId xmlns:a16="http://schemas.microsoft.com/office/drawing/2014/main" id="{105E1001-675B-1F48-9BC6-731873039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980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61453" name="Group 32">
            <a:extLst>
              <a:ext uri="{FF2B5EF4-FFF2-40B4-BE49-F238E27FC236}">
                <a16:creationId xmlns:a16="http://schemas.microsoft.com/office/drawing/2014/main" id="{A800364E-2BAB-7C41-BC3F-78C9F7189367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4597400"/>
            <a:ext cx="3340100" cy="139700"/>
            <a:chOff x="2068" y="3172"/>
            <a:chExt cx="2104" cy="88"/>
          </a:xfrm>
        </p:grpSpPr>
        <p:sp>
          <p:nvSpPr>
            <p:cNvPr id="61492" name="Rectangle 33">
              <a:extLst>
                <a:ext uri="{FF2B5EF4-FFF2-40B4-BE49-F238E27FC236}">
                  <a16:creationId xmlns:a16="http://schemas.microsoft.com/office/drawing/2014/main" id="{1DE6C4E6-F9B9-6041-9B87-B50D577B3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3172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93" name="Rectangle 34">
              <a:extLst>
                <a:ext uri="{FF2B5EF4-FFF2-40B4-BE49-F238E27FC236}">
                  <a16:creationId xmlns:a16="http://schemas.microsoft.com/office/drawing/2014/main" id="{A8285471-FF42-FD46-9A3C-00BA26B85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3172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61454" name="Group 35">
            <a:extLst>
              <a:ext uri="{FF2B5EF4-FFF2-40B4-BE49-F238E27FC236}">
                <a16:creationId xmlns:a16="http://schemas.microsoft.com/office/drawing/2014/main" id="{EBD8CB9D-18B0-004B-A83E-F6F9D984D9BF}"/>
              </a:ext>
            </a:extLst>
          </p:cNvPr>
          <p:cNvGrpSpPr>
            <a:grpSpLocks/>
          </p:cNvGrpSpPr>
          <p:nvPr/>
        </p:nvGrpSpPr>
        <p:grpSpPr bwMode="auto">
          <a:xfrm>
            <a:off x="3968750" y="4902200"/>
            <a:ext cx="3340100" cy="139700"/>
            <a:chOff x="2596" y="3364"/>
            <a:chExt cx="2104" cy="88"/>
          </a:xfrm>
        </p:grpSpPr>
        <p:sp>
          <p:nvSpPr>
            <p:cNvPr id="61490" name="Rectangle 36">
              <a:extLst>
                <a:ext uri="{FF2B5EF4-FFF2-40B4-BE49-F238E27FC236}">
                  <a16:creationId xmlns:a16="http://schemas.microsoft.com/office/drawing/2014/main" id="{7287E49F-AD61-8342-B5EA-CEC743992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3364"/>
              <a:ext cx="520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91" name="Rectangle 37">
              <a:extLst>
                <a:ext uri="{FF2B5EF4-FFF2-40B4-BE49-F238E27FC236}">
                  <a16:creationId xmlns:a16="http://schemas.microsoft.com/office/drawing/2014/main" id="{EC8A7667-B6E5-F447-93FE-D26A07982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3364"/>
              <a:ext cx="2104" cy="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13" name="Group 67">
            <a:extLst>
              <a:ext uri="{FF2B5EF4-FFF2-40B4-BE49-F238E27FC236}">
                <a16:creationId xmlns:a16="http://schemas.microsoft.com/office/drawing/2014/main" id="{78751738-E7D0-4343-AB24-37AD5363584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3841750"/>
            <a:ext cx="363537" cy="2006600"/>
            <a:chOff x="221" y="2696"/>
            <a:chExt cx="229" cy="1264"/>
          </a:xfrm>
        </p:grpSpPr>
        <p:sp>
          <p:nvSpPr>
            <p:cNvPr id="61488" name="Line 25">
              <a:extLst>
                <a:ext uri="{FF2B5EF4-FFF2-40B4-BE49-F238E27FC236}">
                  <a16:creationId xmlns:a16="http://schemas.microsoft.com/office/drawing/2014/main" id="{9963199B-A88F-604C-943A-52A57AA50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696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9" name="Rectangle 38">
              <a:extLst>
                <a:ext uri="{FF2B5EF4-FFF2-40B4-BE49-F238E27FC236}">
                  <a16:creationId xmlns:a16="http://schemas.microsoft.com/office/drawing/2014/main" id="{3ACA5136-0179-7447-9EA1-58AD265D7E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229" y="3280"/>
              <a:ext cx="113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Access Bank 0</a:t>
              </a:r>
            </a:p>
          </p:txBody>
        </p:sp>
      </p:grpSp>
      <p:grpSp>
        <p:nvGrpSpPr>
          <p:cNvPr id="14" name="Group 68">
            <a:extLst>
              <a:ext uri="{FF2B5EF4-FFF2-40B4-BE49-F238E27FC236}">
                <a16:creationId xmlns:a16="http://schemas.microsoft.com/office/drawing/2014/main" id="{45830214-8E7E-1848-9D40-FC4B36B2B512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4146550"/>
            <a:ext cx="1793875" cy="1036638"/>
            <a:chOff x="529" y="2888"/>
            <a:chExt cx="1130" cy="653"/>
          </a:xfrm>
        </p:grpSpPr>
        <p:sp>
          <p:nvSpPr>
            <p:cNvPr id="61486" name="Line 39">
              <a:extLst>
                <a:ext uri="{FF2B5EF4-FFF2-40B4-BE49-F238E27FC236}">
                  <a16:creationId xmlns:a16="http://schemas.microsoft.com/office/drawing/2014/main" id="{CC504580-45AA-C94E-9B89-C354946FB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0" y="2888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7" name="Rectangle 40">
              <a:extLst>
                <a:ext uri="{FF2B5EF4-FFF2-40B4-BE49-F238E27FC236}">
                  <a16:creationId xmlns:a16="http://schemas.microsoft.com/office/drawing/2014/main" id="{BBE921FA-9010-2E41-8FD4-54BC3778E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3312"/>
              <a:ext cx="113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Access Bank 1</a:t>
              </a:r>
            </a:p>
          </p:txBody>
        </p:sp>
      </p:grpSp>
      <p:grpSp>
        <p:nvGrpSpPr>
          <p:cNvPr id="15" name="Group 69">
            <a:extLst>
              <a:ext uri="{FF2B5EF4-FFF2-40B4-BE49-F238E27FC236}">
                <a16:creationId xmlns:a16="http://schemas.microsoft.com/office/drawing/2014/main" id="{9E5E41E2-8238-5247-8468-CA7104F15159}"/>
              </a:ext>
            </a:extLst>
          </p:cNvPr>
          <p:cNvGrpSpPr>
            <a:grpSpLocks/>
          </p:cNvGrpSpPr>
          <p:nvPr/>
        </p:nvGrpSpPr>
        <p:grpSpPr bwMode="auto">
          <a:xfrm>
            <a:off x="1557338" y="4464050"/>
            <a:ext cx="1793875" cy="1036638"/>
            <a:chOff x="1066" y="3080"/>
            <a:chExt cx="1130" cy="653"/>
          </a:xfrm>
        </p:grpSpPr>
        <p:sp>
          <p:nvSpPr>
            <p:cNvPr id="61484" name="Line 41">
              <a:extLst>
                <a:ext uri="{FF2B5EF4-FFF2-40B4-BE49-F238E27FC236}">
                  <a16:creationId xmlns:a16="http://schemas.microsoft.com/office/drawing/2014/main" id="{EA281C81-7486-4142-82A3-B0530FC07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3080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5" name="Rectangle 42">
              <a:extLst>
                <a:ext uri="{FF2B5EF4-FFF2-40B4-BE49-F238E27FC236}">
                  <a16:creationId xmlns:a16="http://schemas.microsoft.com/office/drawing/2014/main" id="{0BBD8BA9-8368-C242-945D-DA22B99DA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3504"/>
              <a:ext cx="113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Access Bank 2</a:t>
              </a:r>
            </a:p>
          </p:txBody>
        </p:sp>
      </p:grpSp>
      <p:grpSp>
        <p:nvGrpSpPr>
          <p:cNvPr id="16" name="Group 70">
            <a:extLst>
              <a:ext uri="{FF2B5EF4-FFF2-40B4-BE49-F238E27FC236}">
                <a16:creationId xmlns:a16="http://schemas.microsoft.com/office/drawing/2014/main" id="{70B25C0B-9395-BF4F-A239-1F15E1293E50}"/>
              </a:ext>
            </a:extLst>
          </p:cNvPr>
          <p:cNvGrpSpPr>
            <a:grpSpLocks/>
          </p:cNvGrpSpPr>
          <p:nvPr/>
        </p:nvGrpSpPr>
        <p:grpSpPr bwMode="auto">
          <a:xfrm>
            <a:off x="2403475" y="4756150"/>
            <a:ext cx="1793875" cy="1036638"/>
            <a:chOff x="1610" y="3272"/>
            <a:chExt cx="1130" cy="653"/>
          </a:xfrm>
        </p:grpSpPr>
        <p:sp>
          <p:nvSpPr>
            <p:cNvPr id="61482" name="Line 43">
              <a:extLst>
                <a:ext uri="{FF2B5EF4-FFF2-40B4-BE49-F238E27FC236}">
                  <a16:creationId xmlns:a16="http://schemas.microsoft.com/office/drawing/2014/main" id="{DADB35A1-2292-F542-BBBC-198E4367A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3272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3" name="Rectangle 44">
              <a:extLst>
                <a:ext uri="{FF2B5EF4-FFF2-40B4-BE49-F238E27FC236}">
                  <a16:creationId xmlns:a16="http://schemas.microsoft.com/office/drawing/2014/main" id="{9581BFA3-F043-9A4B-9DBB-1C5EFD5E4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696"/>
              <a:ext cx="113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Access Bank 3</a:t>
              </a:r>
            </a:p>
          </p:txBody>
        </p:sp>
      </p:grpSp>
      <p:grpSp>
        <p:nvGrpSpPr>
          <p:cNvPr id="17" name="Group 71">
            <a:extLst>
              <a:ext uri="{FF2B5EF4-FFF2-40B4-BE49-F238E27FC236}">
                <a16:creationId xmlns:a16="http://schemas.microsoft.com/office/drawing/2014/main" id="{2A25FA66-7CDC-C241-AB74-A62A5433D4F2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5060950"/>
            <a:ext cx="3317875" cy="1036638"/>
            <a:chOff x="2209" y="3464"/>
            <a:chExt cx="2090" cy="653"/>
          </a:xfrm>
        </p:grpSpPr>
        <p:sp>
          <p:nvSpPr>
            <p:cNvPr id="61480" name="Line 45">
              <a:extLst>
                <a:ext uri="{FF2B5EF4-FFF2-40B4-BE49-F238E27FC236}">
                  <a16:creationId xmlns:a16="http://schemas.microsoft.com/office/drawing/2014/main" id="{1013C330-7DD4-3A46-84DF-02129EE16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3464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1" name="Rectangle 46">
              <a:extLst>
                <a:ext uri="{FF2B5EF4-FFF2-40B4-BE49-F238E27FC236}">
                  <a16:creationId xmlns:a16="http://schemas.microsoft.com/office/drawing/2014/main" id="{21249D62-D430-5941-88CA-EAC76D9D0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" y="3888"/>
              <a:ext cx="209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We can Access Bank 0 again</a:t>
              </a:r>
            </a:p>
          </p:txBody>
        </p:sp>
      </p:grpSp>
      <p:grpSp>
        <p:nvGrpSpPr>
          <p:cNvPr id="61460" name="Group 65">
            <a:extLst>
              <a:ext uri="{FF2B5EF4-FFF2-40B4-BE49-F238E27FC236}">
                <a16:creationId xmlns:a16="http://schemas.microsoft.com/office/drawing/2014/main" id="{FE00E91A-643C-6849-8A92-2A2C00284712}"/>
              </a:ext>
            </a:extLst>
          </p:cNvPr>
          <p:cNvGrpSpPr>
            <a:grpSpLocks/>
          </p:cNvGrpSpPr>
          <p:nvPr/>
        </p:nvGrpSpPr>
        <p:grpSpPr bwMode="auto">
          <a:xfrm>
            <a:off x="5921375" y="2393950"/>
            <a:ext cx="2905125" cy="2349500"/>
            <a:chOff x="3656" y="1872"/>
            <a:chExt cx="1760" cy="1480"/>
          </a:xfrm>
        </p:grpSpPr>
        <p:sp>
          <p:nvSpPr>
            <p:cNvPr id="61464" name="Rectangle 47">
              <a:extLst>
                <a:ext uri="{FF2B5EF4-FFF2-40B4-BE49-F238E27FC236}">
                  <a16:creationId xmlns:a16="http://schemas.microsoft.com/office/drawing/2014/main" id="{BFBF75BC-51AD-2442-AF42-6B2A2842A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2456"/>
              <a:ext cx="416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65" name="Rectangle 48">
              <a:extLst>
                <a:ext uri="{FF2B5EF4-FFF2-40B4-BE49-F238E27FC236}">
                  <a16:creationId xmlns:a16="http://schemas.microsoft.com/office/drawing/2014/main" id="{C9E10D95-7426-F545-8E9C-8E0F53EFD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264"/>
              <a:ext cx="56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66" name="Rectangle 49">
              <a:extLst>
                <a:ext uri="{FF2B5EF4-FFF2-40B4-BE49-F238E27FC236}">
                  <a16:creationId xmlns:a16="http://schemas.microsoft.com/office/drawing/2014/main" id="{C135D332-0D37-844B-8232-4ACE65231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496"/>
              <a:ext cx="4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61467" name="Rectangle 50">
              <a:extLst>
                <a:ext uri="{FF2B5EF4-FFF2-40B4-BE49-F238E27FC236}">
                  <a16:creationId xmlns:a16="http://schemas.microsoft.com/office/drawing/2014/main" id="{B6E67ACE-9AA4-0E47-9FB0-73CF4A1AD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" y="2256"/>
              <a:ext cx="56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Bank 1</a:t>
              </a:r>
            </a:p>
          </p:txBody>
        </p:sp>
        <p:sp>
          <p:nvSpPr>
            <p:cNvPr id="61468" name="Rectangle 51">
              <a:extLst>
                <a:ext uri="{FF2B5EF4-FFF2-40B4-BE49-F238E27FC236}">
                  <a16:creationId xmlns:a16="http://schemas.microsoft.com/office/drawing/2014/main" id="{99257C48-9415-834A-B48F-4702F990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1880"/>
              <a:ext cx="56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69" name="Rectangle 52">
              <a:extLst>
                <a:ext uri="{FF2B5EF4-FFF2-40B4-BE49-F238E27FC236}">
                  <a16:creationId xmlns:a16="http://schemas.microsoft.com/office/drawing/2014/main" id="{39A435AB-6B30-6B4F-905B-4195240EF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" y="1872"/>
              <a:ext cx="563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2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Bank 0</a:t>
              </a:r>
            </a:p>
          </p:txBody>
        </p:sp>
        <p:sp>
          <p:nvSpPr>
            <p:cNvPr id="61470" name="Rectangle 53">
              <a:extLst>
                <a:ext uri="{FF2B5EF4-FFF2-40B4-BE49-F238E27FC236}">
                  <a16:creationId xmlns:a16="http://schemas.microsoft.com/office/drawing/2014/main" id="{B1A852A6-3848-B64D-A9D5-BA53CD014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3032"/>
              <a:ext cx="56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71" name="Rectangle 54">
              <a:extLst>
                <a:ext uri="{FF2B5EF4-FFF2-40B4-BE49-F238E27FC236}">
                  <a16:creationId xmlns:a16="http://schemas.microsoft.com/office/drawing/2014/main" id="{A2C96730-4D62-404C-8357-D4999439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024"/>
              <a:ext cx="56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Bank 3</a:t>
              </a:r>
            </a:p>
          </p:txBody>
        </p:sp>
        <p:sp>
          <p:nvSpPr>
            <p:cNvPr id="61472" name="Rectangle 55">
              <a:extLst>
                <a:ext uri="{FF2B5EF4-FFF2-40B4-BE49-F238E27FC236}">
                  <a16:creationId xmlns:a16="http://schemas.microsoft.com/office/drawing/2014/main" id="{64918E5C-83B6-C441-8703-9EF9725D4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648"/>
              <a:ext cx="56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kumimoji="1" lang="zh-CN" altLang="en-US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1473" name="Rectangle 56">
              <a:extLst>
                <a:ext uri="{FF2B5EF4-FFF2-40B4-BE49-F238E27FC236}">
                  <a16:creationId xmlns:a16="http://schemas.microsoft.com/office/drawing/2014/main" id="{4A90C9D0-17C3-0D4F-8D28-557C76823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" y="2640"/>
              <a:ext cx="56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35000"/>
                </a:spcBef>
                <a:buSzPct val="100000"/>
                <a:buChar char="°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SzPct val="100000"/>
                <a:buChar char="•"/>
                <a:defRPr b="1">
                  <a:solidFill>
                    <a:schemeClr val="accent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SzPct val="100000"/>
                <a:buChar char="-"/>
                <a:defRPr b="1">
                  <a:solidFill>
                    <a:srgbClr val="B7011F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Bank 2</a:t>
              </a:r>
            </a:p>
          </p:txBody>
        </p:sp>
        <p:sp>
          <p:nvSpPr>
            <p:cNvPr id="61474" name="Line 57">
              <a:extLst>
                <a:ext uri="{FF2B5EF4-FFF2-40B4-BE49-F238E27FC236}">
                  <a16:creationId xmlns:a16="http://schemas.microsoft.com/office/drawing/2014/main" id="{9169F939-13DC-9D4C-8508-23926C2C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20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5" name="Line 58">
              <a:extLst>
                <a:ext uri="{FF2B5EF4-FFF2-40B4-BE49-F238E27FC236}">
                  <a16:creationId xmlns:a16="http://schemas.microsoft.com/office/drawing/2014/main" id="{5D39DDE0-6505-E64B-918F-0BD482A3C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44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6" name="Line 59">
              <a:extLst>
                <a:ext uri="{FF2B5EF4-FFF2-40B4-BE49-F238E27FC236}">
                  <a16:creationId xmlns:a16="http://schemas.microsoft.com/office/drawing/2014/main" id="{C3AFC5A7-0529-5E4E-8D26-46CE718D5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83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7" name="Line 60">
              <a:extLst>
                <a:ext uri="{FF2B5EF4-FFF2-40B4-BE49-F238E27FC236}">
                  <a16:creationId xmlns:a16="http://schemas.microsoft.com/office/drawing/2014/main" id="{4DEFEC0B-375F-8F4D-A025-11F05904A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32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8" name="Line 61">
              <a:extLst>
                <a:ext uri="{FF2B5EF4-FFF2-40B4-BE49-F238E27FC236}">
                  <a16:creationId xmlns:a16="http://schemas.microsoft.com/office/drawing/2014/main" id="{1A902A21-7248-1B43-BE05-DB32F8C28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056"/>
              <a:ext cx="0" cy="1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9" name="Line 62">
              <a:extLst>
                <a:ext uri="{FF2B5EF4-FFF2-40B4-BE49-F238E27FC236}">
                  <a16:creationId xmlns:a16="http://schemas.microsoft.com/office/drawing/2014/main" id="{E8017BB9-A1BB-214B-9DFE-71D554A00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2" y="2640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61" name="Rectangle 75">
            <a:extLst>
              <a:ext uri="{FF2B5EF4-FFF2-40B4-BE49-F238E27FC236}">
                <a16:creationId xmlns:a16="http://schemas.microsoft.com/office/drawing/2014/main" id="{7FA333FF-E2BE-5942-A315-7D15696E2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3024188"/>
            <a:ext cx="458311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Access Pattern with Interleaving:</a:t>
            </a:r>
          </a:p>
        </p:txBody>
      </p:sp>
      <p:sp>
        <p:nvSpPr>
          <p:cNvPr id="392268" name="Rectangle 76">
            <a:extLst>
              <a:ext uri="{FF2B5EF4-FFF2-40B4-BE49-F238E27FC236}">
                <a16:creationId xmlns:a16="http://schemas.microsoft.com/office/drawing/2014/main" id="{D262B585-71F1-964E-BD60-0B191F01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6173788"/>
            <a:ext cx="7694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每隔1/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周期在数据线上得到一个信息，使主存吞吐量提高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倍</a:t>
            </a:r>
            <a:r>
              <a:rPr kumimoji="1" lang="en-US" altLang="zh-CN" sz="2000">
                <a:solidFill>
                  <a:srgbClr val="FF0000"/>
                </a:solidFill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392269" name="Text Box 77">
            <a:extLst>
              <a:ext uri="{FF2B5EF4-FFF2-40B4-BE49-F238E27FC236}">
                <a16:creationId xmlns:a16="http://schemas.microsoft.com/office/drawing/2014/main" id="{8758E040-313C-1147-BF56-C344C09BB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5229225"/>
            <a:ext cx="139382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2200">
                <a:solidFill>
                  <a:srgbClr val="0000FF"/>
                </a:solidFill>
                <a:ea typeface="黑体" panose="02010609060101010101" pitchFamily="49" charset="-122"/>
              </a:rPr>
              <a:t>轮流启动各</a:t>
            </a:r>
            <a:r>
              <a:rPr kumimoji="1" lang="en-US" altLang="zh-CN" sz="2200">
                <a:solidFill>
                  <a:srgbClr val="0000FF"/>
                </a:solidFill>
                <a:ea typeface="黑体" panose="02010609060101010101" pitchFamily="49" charset="-122"/>
              </a:rPr>
              <a:t>Bank</a:t>
            </a:r>
            <a:r>
              <a:rPr kumimoji="1" lang="zh-CN" altLang="en-US" sz="2200">
                <a:solidFill>
                  <a:srgbClr val="0000FF"/>
                </a:solidFill>
                <a:ea typeface="黑体" panose="02010609060101010101" pitchFamily="49" charset="-122"/>
              </a:rPr>
              <a:t>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268" grpId="0"/>
      <p:bldP spid="39226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B58469A-FC14-A243-B281-1637001CE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938" y="57150"/>
            <a:ext cx="7499350" cy="581025"/>
          </a:xfrm>
        </p:spPr>
        <p:txBody>
          <a:bodyPr/>
          <a:lstStyle/>
          <a:p>
            <a:r>
              <a:rPr lang="zh-CN" altLang="en-US" sz="4000"/>
              <a:t>层次结构存储系统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84573EF-5D04-E54C-8A54-EC70DA5B9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895350"/>
            <a:ext cx="8229600" cy="5159375"/>
          </a:xfrm>
          <a:noFill/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分以下六个部分介绍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第一讲：存储器概述和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芯片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第二讲：主存与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的连接及其读写操作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主存模块的连接和读写操作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“装入”指令和“存储”指令操作过程 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第三讲：外部辅助存储器</a:t>
            </a:r>
            <a:endParaRPr lang="en-US" altLang="zh-CN" sz="20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第四讲：存储器的数据校验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第五讲：高速缓冲存储器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(cache)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程序访问的局部性、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行和主存块之间的映射方式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和程序性能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第六讲：虚拟存储器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虚拟地址空间、虚拟存储器的实现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08D5485-CAF1-404E-B5A9-ECF2A20A5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73038"/>
            <a:ext cx="7199313" cy="422275"/>
          </a:xfrm>
        </p:spPr>
        <p:txBody>
          <a:bodyPr/>
          <a:lstStyle/>
          <a:p>
            <a:pPr defTabSz="7175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磁盘存储器的信息存储原理</a:t>
            </a:r>
          </a:p>
        </p:txBody>
      </p:sp>
      <p:grpSp>
        <p:nvGrpSpPr>
          <p:cNvPr id="65539" name="Group 3">
            <a:extLst>
              <a:ext uri="{FF2B5EF4-FFF2-40B4-BE49-F238E27FC236}">
                <a16:creationId xmlns:a16="http://schemas.microsoft.com/office/drawing/2014/main" id="{634DA97E-988B-CF4B-8730-142EF40100FE}"/>
              </a:ext>
            </a:extLst>
          </p:cNvPr>
          <p:cNvGrpSpPr>
            <a:grpSpLocks/>
          </p:cNvGrpSpPr>
          <p:nvPr/>
        </p:nvGrpSpPr>
        <p:grpSpPr bwMode="auto">
          <a:xfrm>
            <a:off x="3178175" y="781050"/>
            <a:ext cx="5780088" cy="3303588"/>
            <a:chOff x="452" y="340"/>
            <a:chExt cx="3938" cy="2918"/>
          </a:xfrm>
        </p:grpSpPr>
        <p:pic>
          <p:nvPicPr>
            <p:cNvPr id="65558" name="Picture 4">
              <a:extLst>
                <a:ext uri="{FF2B5EF4-FFF2-40B4-BE49-F238E27FC236}">
                  <a16:creationId xmlns:a16="http://schemas.microsoft.com/office/drawing/2014/main" id="{3CAD46FB-64B2-134D-93A4-C227769366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" y="666"/>
              <a:ext cx="3456" cy="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5559" name="Text Box 5">
              <a:extLst>
                <a:ext uri="{FF2B5EF4-FFF2-40B4-BE49-F238E27FC236}">
                  <a16:creationId xmlns:a16="http://schemas.microsoft.com/office/drawing/2014/main" id="{7A55F185-F20E-AB47-8E76-03B97154C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" y="340"/>
              <a:ext cx="1088" cy="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磁头：磁</a:t>
              </a:r>
              <a:r>
                <a:rPr kumimoji="1" lang="en-US" altLang="zh-CN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zh-CN" altLang="en-US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电和电</a:t>
              </a:r>
              <a:r>
                <a:rPr kumimoji="1" lang="en-US" altLang="zh-CN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zh-CN" altLang="en-US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磁转换，用于读</a:t>
              </a:r>
              <a:r>
                <a:rPr kumimoji="1" lang="en-US" altLang="zh-CN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kumimoji="1" lang="zh-CN" altLang="en-US" sz="19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写</a:t>
              </a:r>
            </a:p>
          </p:txBody>
        </p:sp>
        <p:sp>
          <p:nvSpPr>
            <p:cNvPr id="65560" name="Line 6">
              <a:extLst>
                <a:ext uri="{FF2B5EF4-FFF2-40B4-BE49-F238E27FC236}">
                  <a16:creationId xmlns:a16="http://schemas.microsoft.com/office/drawing/2014/main" id="{91EEB33F-8EC2-0243-8A3A-86A009D57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" y="946"/>
              <a:ext cx="288" cy="4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Text Box 7">
              <a:extLst>
                <a:ext uri="{FF2B5EF4-FFF2-40B4-BE49-F238E27FC236}">
                  <a16:creationId xmlns:a16="http://schemas.microsoft.com/office/drawing/2014/main" id="{E098F742-7F14-DD48-B4A3-81F87FFF9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0" y="2025"/>
              <a:ext cx="68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D1390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kumimoji="1" lang="en-US" altLang="zh-CN" sz="2000" b="1">
                  <a:solidFill>
                    <a:srgbClr val="D1390F"/>
                  </a:solidFill>
                  <a:ea typeface="宋体" panose="02010600030101010101" pitchFamily="2" charset="-122"/>
                </a:rPr>
                <a:t>0</a:t>
              </a:r>
              <a:r>
                <a:rPr kumimoji="1" lang="en-US" altLang="zh-CN" sz="2000" b="1">
                  <a:solidFill>
                    <a:srgbClr val="D1390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kumimoji="1" lang="en-US" altLang="zh-CN" sz="2000" b="1">
                <a:solidFill>
                  <a:srgbClr val="D1390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562" name="Text Box 8">
              <a:extLst>
                <a:ext uri="{FF2B5EF4-FFF2-40B4-BE49-F238E27FC236}">
                  <a16:creationId xmlns:a16="http://schemas.microsoft.com/office/drawing/2014/main" id="{75020DA5-C156-ED47-8F9A-BB1EA1F69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9" y="2457"/>
              <a:ext cx="793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D1390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kumimoji="1" lang="en-US" altLang="zh-CN" sz="2000" b="1">
                  <a:solidFill>
                    <a:srgbClr val="D1390F"/>
                  </a:solidFill>
                  <a:ea typeface="宋体" panose="02010600030101010101" pitchFamily="2" charset="-122"/>
                </a:rPr>
                <a:t>1</a:t>
              </a:r>
              <a:r>
                <a:rPr kumimoji="1" lang="en-US" altLang="zh-CN" sz="2000" b="1">
                  <a:solidFill>
                    <a:srgbClr val="D1390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kumimoji="1" lang="en-US" altLang="zh-CN" sz="2000" b="1">
                <a:solidFill>
                  <a:srgbClr val="D1390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563" name="Text Box 9">
              <a:extLst>
                <a:ext uri="{FF2B5EF4-FFF2-40B4-BE49-F238E27FC236}">
                  <a16:creationId xmlns:a16="http://schemas.microsoft.com/office/drawing/2014/main" id="{CAEA0766-84E2-1B48-8B17-4169195E6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2865"/>
              <a:ext cx="1089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盘片旋转方向</a:t>
              </a:r>
            </a:p>
          </p:txBody>
        </p:sp>
        <p:sp>
          <p:nvSpPr>
            <p:cNvPr id="65564" name="Text Box 10">
              <a:extLst>
                <a:ext uri="{FF2B5EF4-FFF2-40B4-BE49-F238E27FC236}">
                  <a16:creationId xmlns:a16="http://schemas.microsoft.com/office/drawing/2014/main" id="{919107A4-A0F4-C04C-90BB-E8B924A90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756"/>
              <a:ext cx="363" cy="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磁盘片</a:t>
              </a:r>
            </a:p>
          </p:txBody>
        </p:sp>
        <p:sp>
          <p:nvSpPr>
            <p:cNvPr id="65565" name="Line 11">
              <a:extLst>
                <a:ext uri="{FF2B5EF4-FFF2-40B4-BE49-F238E27FC236}">
                  <a16:creationId xmlns:a16="http://schemas.microsoft.com/office/drawing/2014/main" id="{431BEA5A-9303-B74E-8892-6A9727558D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1" y="1165"/>
              <a:ext cx="409" cy="2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Line 12">
              <a:extLst>
                <a:ext uri="{FF2B5EF4-FFF2-40B4-BE49-F238E27FC236}">
                  <a16:creationId xmlns:a16="http://schemas.microsoft.com/office/drawing/2014/main" id="{1A127EC3-8486-C043-AC4C-6BD05E292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6" y="2049"/>
              <a:ext cx="544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7" name="Line 13">
              <a:extLst>
                <a:ext uri="{FF2B5EF4-FFF2-40B4-BE49-F238E27FC236}">
                  <a16:creationId xmlns:a16="http://schemas.microsoft.com/office/drawing/2014/main" id="{E5F10699-9DDA-4A4C-9C14-7CFE598353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29" y="2230"/>
              <a:ext cx="34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540" name="Text Box 14">
            <a:extLst>
              <a:ext uri="{FF2B5EF4-FFF2-40B4-BE49-F238E27FC236}">
                <a16:creationId xmlns:a16="http://schemas.microsoft.com/office/drawing/2014/main" id="{F4272B74-59ED-BE4A-A4DE-849EA767F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914400"/>
            <a:ext cx="1046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线圈</a:t>
            </a:r>
          </a:p>
        </p:txBody>
      </p:sp>
      <p:sp>
        <p:nvSpPr>
          <p:cNvPr id="65541" name="Line 15">
            <a:extLst>
              <a:ext uri="{FF2B5EF4-FFF2-40B4-BE49-F238E27FC236}">
                <a16:creationId xmlns:a16="http://schemas.microsoft.com/office/drawing/2014/main" id="{BBB2E973-1EF2-FC4F-9978-8C84249F8A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13363" y="1279525"/>
            <a:ext cx="231775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1520" name="Rectangle 16">
            <a:extLst>
              <a:ext uri="{FF2B5EF4-FFF2-40B4-BE49-F238E27FC236}">
                <a16:creationId xmlns:a16="http://schemas.microsoft.com/office/drawing/2014/main" id="{FC4C94C7-BFBF-3646-8B3F-E67EEEB0A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4638675"/>
            <a:ext cx="8215312" cy="183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kumimoji="1" lang="zh-CN" altLang="en-US" sz="1900" b="1">
                <a:solidFill>
                  <a:srgbClr val="CC3300"/>
                </a:solidFill>
                <a:ea typeface="黑体" panose="02010609060101010101" pitchFamily="49" charset="-122"/>
              </a:rPr>
              <a:t>写1：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线圈通以正向电流，使呈</a:t>
            </a:r>
            <a:r>
              <a:rPr kumimoji="1" lang="en-US" altLang="zh-CN" sz="1900" b="1">
                <a:solidFill>
                  <a:srgbClr val="0000CC"/>
                </a:solidFill>
                <a:ea typeface="黑体" panose="02010609060101010101" pitchFamily="49" charset="-122"/>
              </a:rPr>
              <a:t>N-S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状态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kumimoji="1" lang="zh-CN" altLang="en-US" sz="1900" b="1">
                <a:solidFill>
                  <a:srgbClr val="CC3300"/>
                </a:solidFill>
                <a:ea typeface="黑体" panose="02010609060101010101" pitchFamily="49" charset="-122"/>
              </a:rPr>
              <a:t>写0：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线圈通以反向电流，使呈</a:t>
            </a:r>
            <a:r>
              <a:rPr kumimoji="1" lang="en-US" altLang="zh-CN" sz="1900" b="1">
                <a:solidFill>
                  <a:srgbClr val="0000CC"/>
                </a:solidFill>
                <a:ea typeface="黑体" panose="02010609060101010101" pitchFamily="49" charset="-122"/>
              </a:rPr>
              <a:t>S-N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状态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kumimoji="1" lang="zh-CN" altLang="en-US" sz="1900" b="1">
                <a:solidFill>
                  <a:srgbClr val="CC3300"/>
                </a:solidFill>
                <a:ea typeface="黑体" panose="02010609060101010101" pitchFamily="49" charset="-122"/>
              </a:rPr>
              <a:t>读时：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磁头固定不动，载体运动。因为载体上小的磁化单元外部的磁力线通过磁头铁芯形成闭合回路，在铁芯线圈两端得到感应电压。根据感应电压的不同的</a:t>
            </a:r>
            <a:r>
              <a:rPr kumimoji="1" lang="zh-CN" altLang="en-US" sz="1900" b="1">
                <a:solidFill>
                  <a:srgbClr val="0000FF"/>
                </a:solidFill>
                <a:ea typeface="黑体" panose="02010609060101010101" pitchFamily="49" charset="-122"/>
              </a:rPr>
              <a:t>极性</a:t>
            </a:r>
            <a:r>
              <a:rPr kumimoji="1" lang="zh-CN" altLang="en-US" sz="1900" b="1">
                <a:solidFill>
                  <a:srgbClr val="0000CC"/>
                </a:solidFill>
                <a:ea typeface="黑体" panose="02010609060101010101" pitchFamily="49" charset="-122"/>
              </a:rPr>
              <a:t>，可确定读出为0或1。</a:t>
            </a:r>
          </a:p>
        </p:txBody>
      </p:sp>
      <p:sp>
        <p:nvSpPr>
          <p:cNvPr id="661521" name="AutoShape 17">
            <a:extLst>
              <a:ext uri="{FF2B5EF4-FFF2-40B4-BE49-F238E27FC236}">
                <a16:creationId xmlns:a16="http://schemas.microsoft.com/office/drawing/2014/main" id="{39CF704A-7B0E-CD4A-B75C-38DDD2B776C5}"/>
              </a:ext>
            </a:extLst>
          </p:cNvPr>
          <p:cNvSpPr>
            <a:spLocks/>
          </p:cNvSpPr>
          <p:nvPr/>
        </p:nvSpPr>
        <p:spPr bwMode="auto">
          <a:xfrm>
            <a:off x="5297488" y="4775200"/>
            <a:ext cx="247650" cy="595313"/>
          </a:xfrm>
          <a:prstGeom prst="rightBrace">
            <a:avLst>
              <a:gd name="adj1" fmla="val 20032"/>
              <a:gd name="adj2" fmla="val 52532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1522" name="Text Box 18">
            <a:extLst>
              <a:ext uri="{FF2B5EF4-FFF2-40B4-BE49-F238E27FC236}">
                <a16:creationId xmlns:a16="http://schemas.microsoft.com/office/drawing/2014/main" id="{E1B54012-C9FA-9046-B00F-BA831CA85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4732338"/>
            <a:ext cx="2409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不同的磁化状态被记录在磁盘表面</a:t>
            </a:r>
          </a:p>
        </p:txBody>
      </p:sp>
      <p:pic>
        <p:nvPicPr>
          <p:cNvPr id="65545" name="Picture 2">
            <a:extLst>
              <a:ext uri="{FF2B5EF4-FFF2-40B4-BE49-F238E27FC236}">
                <a16:creationId xmlns:a16="http://schemas.microsoft.com/office/drawing/2014/main" id="{76ED4A16-2022-5F4F-AC71-9853EA1A6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6" r="4195"/>
          <a:stretch>
            <a:fillRect/>
          </a:stretch>
        </p:blipFill>
        <p:spPr bwMode="auto">
          <a:xfrm>
            <a:off x="61913" y="1322388"/>
            <a:ext cx="2776537" cy="22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6" name="Text Box 14">
            <a:extLst>
              <a:ext uri="{FF2B5EF4-FFF2-40B4-BE49-F238E27FC236}">
                <a16:creationId xmlns:a16="http://schemas.microsoft.com/office/drawing/2014/main" id="{8F1675D4-CFD5-C94B-B64A-256A3470E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2727325"/>
            <a:ext cx="755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柱面</a:t>
            </a:r>
          </a:p>
        </p:txBody>
      </p:sp>
      <p:sp>
        <p:nvSpPr>
          <p:cNvPr id="65547" name="Line 15">
            <a:extLst>
              <a:ext uri="{FF2B5EF4-FFF2-40B4-BE49-F238E27FC236}">
                <a16:creationId xmlns:a16="http://schemas.microsoft.com/office/drawing/2014/main" id="{E033568F-0A3D-3545-A973-FEF5CED1B1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90700" y="2117725"/>
            <a:ext cx="650875" cy="1223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8" name="Text Box 14">
            <a:extLst>
              <a:ext uri="{FF2B5EF4-FFF2-40B4-BE49-F238E27FC236}">
                <a16:creationId xmlns:a16="http://schemas.microsoft.com/office/drawing/2014/main" id="{D7A912D4-33FB-3D42-B8E0-F6AC30CE8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833438"/>
            <a:ext cx="755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磁道</a:t>
            </a:r>
          </a:p>
        </p:txBody>
      </p:sp>
      <p:sp>
        <p:nvSpPr>
          <p:cNvPr id="65549" name="Line 15">
            <a:extLst>
              <a:ext uri="{FF2B5EF4-FFF2-40B4-BE49-F238E27FC236}">
                <a16:creationId xmlns:a16="http://schemas.microsoft.com/office/drawing/2014/main" id="{97965518-E6AC-5E43-87ED-BEC6E9FD5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0250" y="1176338"/>
            <a:ext cx="231775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0" name="Text Box 14">
            <a:extLst>
              <a:ext uri="{FF2B5EF4-FFF2-40B4-BE49-F238E27FC236}">
                <a16:creationId xmlns:a16="http://schemas.microsoft.com/office/drawing/2014/main" id="{6F83808A-4380-4D4D-9845-3DF56513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3482975"/>
            <a:ext cx="1250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接口插座</a:t>
            </a:r>
          </a:p>
        </p:txBody>
      </p:sp>
      <p:sp>
        <p:nvSpPr>
          <p:cNvPr id="65551" name="Line 15">
            <a:extLst>
              <a:ext uri="{FF2B5EF4-FFF2-40B4-BE49-F238E27FC236}">
                <a16:creationId xmlns:a16="http://schemas.microsoft.com/office/drawing/2014/main" id="{9746AF8A-F29E-F34C-9BBC-278880F5AB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4238" y="2870200"/>
            <a:ext cx="515937" cy="703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2" name="Text Box 14">
            <a:extLst>
              <a:ext uri="{FF2B5EF4-FFF2-40B4-BE49-F238E27FC236}">
                <a16:creationId xmlns:a16="http://schemas.microsoft.com/office/drawing/2014/main" id="{3BDBB1A7-30A4-664B-9985-2668AD2B2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3376613"/>
            <a:ext cx="755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磁头</a:t>
            </a:r>
          </a:p>
        </p:txBody>
      </p:sp>
      <p:sp>
        <p:nvSpPr>
          <p:cNvPr id="65553" name="Line 15">
            <a:extLst>
              <a:ext uri="{FF2B5EF4-FFF2-40B4-BE49-F238E27FC236}">
                <a16:creationId xmlns:a16="http://schemas.microsoft.com/office/drawing/2014/main" id="{B9D2280E-B986-6949-B8D3-F259ADFE5E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00300" y="2008188"/>
            <a:ext cx="331788" cy="73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4" name="Text Box 14">
            <a:extLst>
              <a:ext uri="{FF2B5EF4-FFF2-40B4-BE49-F238E27FC236}">
                <a16:creationId xmlns:a16="http://schemas.microsoft.com/office/drawing/2014/main" id="{D53C6447-D56C-D449-8F18-313097BB7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50" y="3892550"/>
            <a:ext cx="1250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控制电路</a:t>
            </a:r>
          </a:p>
        </p:txBody>
      </p:sp>
      <p:sp>
        <p:nvSpPr>
          <p:cNvPr id="65555" name="Line 15">
            <a:extLst>
              <a:ext uri="{FF2B5EF4-FFF2-40B4-BE49-F238E27FC236}">
                <a16:creationId xmlns:a16="http://schemas.microsoft.com/office/drawing/2014/main" id="{26CAE721-BE59-524C-9C7D-F2D311333C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87538" y="2921000"/>
            <a:ext cx="80962" cy="95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6" name="Text Box 14">
            <a:extLst>
              <a:ext uri="{FF2B5EF4-FFF2-40B4-BE49-F238E27FC236}">
                <a16:creationId xmlns:a16="http://schemas.microsoft.com/office/drawing/2014/main" id="{6BD4655D-3FFC-B042-B8D6-65AA6A21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922338"/>
            <a:ext cx="10302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移动臂</a:t>
            </a:r>
          </a:p>
        </p:txBody>
      </p:sp>
      <p:sp>
        <p:nvSpPr>
          <p:cNvPr id="65557" name="Line 15">
            <a:extLst>
              <a:ext uri="{FF2B5EF4-FFF2-40B4-BE49-F238E27FC236}">
                <a16:creationId xmlns:a16="http://schemas.microsoft.com/office/drawing/2014/main" id="{B1598F66-D356-604C-9919-00CE49361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913" y="1322388"/>
            <a:ext cx="227012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1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1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1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21" grpId="0" animBg="1"/>
      <p:bldP spid="6615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5">
            <a:extLst>
              <a:ext uri="{FF2B5EF4-FFF2-40B4-BE49-F238E27FC236}">
                <a16:creationId xmlns:a16="http://schemas.microsoft.com/office/drawing/2014/main" id="{0525A62D-D891-3440-B44F-5D9184621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814388"/>
            <a:ext cx="5607050" cy="514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6563" name="Rectangle 6">
            <a:extLst>
              <a:ext uri="{FF2B5EF4-FFF2-40B4-BE49-F238E27FC236}">
                <a16:creationId xmlns:a16="http://schemas.microsoft.com/office/drawing/2014/main" id="{E432DDE9-139A-CE45-87F9-3E499B97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835025"/>
            <a:ext cx="779462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4" name="Rectangle 7">
            <a:extLst>
              <a:ext uri="{FF2B5EF4-FFF2-40B4-BE49-F238E27FC236}">
                <a16:creationId xmlns:a16="http://schemas.microsoft.com/office/drawing/2014/main" id="{4E85F08D-18D3-534F-85F2-B543EFD2E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1293813"/>
            <a:ext cx="779462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5" name="Rectangle 8">
            <a:extLst>
              <a:ext uri="{FF2B5EF4-FFF2-40B4-BE49-F238E27FC236}">
                <a16:creationId xmlns:a16="http://schemas.microsoft.com/office/drawing/2014/main" id="{6CBC7406-9DFF-8A4F-A533-D0ADB9C96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38" y="5702300"/>
            <a:ext cx="2066925" cy="2746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6" name="Rectangle 9">
            <a:extLst>
              <a:ext uri="{FF2B5EF4-FFF2-40B4-BE49-F238E27FC236}">
                <a16:creationId xmlns:a16="http://schemas.microsoft.com/office/drawing/2014/main" id="{2A4B4EF0-E415-FA43-9CAD-81F1E6375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5287963"/>
            <a:ext cx="1516062" cy="2762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7" name="Rectangle 10">
            <a:extLst>
              <a:ext uri="{FF2B5EF4-FFF2-40B4-BE49-F238E27FC236}">
                <a16:creationId xmlns:a16="http://schemas.microsoft.com/office/drawing/2014/main" id="{98EAA7F1-85DD-EA44-8711-93D9D1DD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675" y="4645025"/>
            <a:ext cx="64135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00076" name="Group 12">
            <a:extLst>
              <a:ext uri="{FF2B5EF4-FFF2-40B4-BE49-F238E27FC236}">
                <a16:creationId xmlns:a16="http://schemas.microsoft.com/office/drawing/2014/main" id="{BF31DC0C-977D-264F-9E35-8E97BD66D20C}"/>
              </a:ext>
            </a:extLst>
          </p:cNvPr>
          <p:cNvGrpSpPr>
            <a:grpSpLocks/>
          </p:cNvGrpSpPr>
          <p:nvPr/>
        </p:nvGrpSpPr>
        <p:grpSpPr bwMode="auto">
          <a:xfrm>
            <a:off x="2111375" y="742950"/>
            <a:ext cx="2801938" cy="514350"/>
            <a:chOff x="1169" y="696"/>
            <a:chExt cx="1384" cy="254"/>
          </a:xfrm>
        </p:grpSpPr>
        <p:sp>
          <p:nvSpPr>
            <p:cNvPr id="66576" name="Text Box 13">
              <a:extLst>
                <a:ext uri="{FF2B5EF4-FFF2-40B4-BE49-F238E27FC236}">
                  <a16:creationId xmlns:a16="http://schemas.microsoft.com/office/drawing/2014/main" id="{81929138-E308-C743-B9B9-3E3D9E92F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" y="696"/>
              <a:ext cx="57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t"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扇 区</a:t>
              </a:r>
              <a:endPara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7" name="Line 14">
              <a:extLst>
                <a:ext uri="{FF2B5EF4-FFF2-40B4-BE49-F238E27FC236}">
                  <a16:creationId xmlns:a16="http://schemas.microsoft.com/office/drawing/2014/main" id="{A24A7C9A-5AD0-0146-8720-759A22E16D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8" y="809"/>
              <a:ext cx="8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0084" name="Group 20">
            <a:extLst>
              <a:ext uri="{FF2B5EF4-FFF2-40B4-BE49-F238E27FC236}">
                <a16:creationId xmlns:a16="http://schemas.microsoft.com/office/drawing/2014/main" id="{E355BB7A-D9C8-6349-B78D-CE7AA2F75943}"/>
              </a:ext>
            </a:extLst>
          </p:cNvPr>
          <p:cNvGrpSpPr>
            <a:grpSpLocks/>
          </p:cNvGrpSpPr>
          <p:nvPr/>
        </p:nvGrpSpPr>
        <p:grpSpPr bwMode="auto">
          <a:xfrm>
            <a:off x="5260975" y="4645025"/>
            <a:ext cx="1979613" cy="735013"/>
            <a:chOff x="3314" y="2926"/>
            <a:chExt cx="1247" cy="463"/>
          </a:xfrm>
        </p:grpSpPr>
        <p:sp>
          <p:nvSpPr>
            <p:cNvPr id="66574" name="Text Box 11">
              <a:extLst>
                <a:ext uri="{FF2B5EF4-FFF2-40B4-BE49-F238E27FC236}">
                  <a16:creationId xmlns:a16="http://schemas.microsoft.com/office/drawing/2014/main" id="{84E6AC93-979E-4F4B-A683-A6EF6DE58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3" y="2955"/>
              <a:ext cx="858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t"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磁 道</a:t>
              </a:r>
              <a:endPara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5" name="Line 15">
              <a:extLst>
                <a:ext uri="{FF2B5EF4-FFF2-40B4-BE49-F238E27FC236}">
                  <a16:creationId xmlns:a16="http://schemas.microsoft.com/office/drawing/2014/main" id="{7E2D98B9-E27D-4B46-9BCB-FDD58FCDB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4" y="2926"/>
              <a:ext cx="376" cy="46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570" name="Rectangle 16">
            <a:extLst>
              <a:ext uri="{FF2B5EF4-FFF2-40B4-BE49-F238E27FC236}">
                <a16:creationId xmlns:a16="http://schemas.microsoft.com/office/drawing/2014/main" id="{993050B8-54C9-4B40-99F0-7A3C1D965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73038"/>
            <a:ext cx="8343900" cy="420687"/>
          </a:xfrm>
        </p:spPr>
        <p:txBody>
          <a:bodyPr/>
          <a:lstStyle/>
          <a:p>
            <a:pPr defTabSz="7175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磁盘的磁道和扇区</a:t>
            </a:r>
          </a:p>
        </p:txBody>
      </p:sp>
      <p:sp>
        <p:nvSpPr>
          <p:cNvPr id="600081" name="AutoShape 17">
            <a:extLst>
              <a:ext uri="{FF2B5EF4-FFF2-40B4-BE49-F238E27FC236}">
                <a16:creationId xmlns:a16="http://schemas.microsoft.com/office/drawing/2014/main" id="{6771B953-00CF-C649-9EC6-D81EA6307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971550"/>
            <a:ext cx="1517650" cy="3719513"/>
          </a:xfrm>
          <a:prstGeom prst="wedgeRoundRectCallout">
            <a:avLst>
              <a:gd name="adj1" fmla="val -109546"/>
              <a:gd name="adj2" fmla="val -32579"/>
              <a:gd name="adj3" fmla="val 16667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957" tIns="13774" rIns="22957" bIns="13774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磁盘表面被分为许多同心圆，每个同心圆称为一个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磁道</a:t>
            </a: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。每个磁道都有一个编号，最外面的是</a:t>
            </a:r>
            <a:r>
              <a:rPr kumimoji="1" lang="en-US" altLang="zh-CN" sz="2000" b="1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磁道 </a:t>
            </a:r>
          </a:p>
        </p:txBody>
      </p:sp>
      <p:sp>
        <p:nvSpPr>
          <p:cNvPr id="600082" name="AutoShape 18">
            <a:extLst>
              <a:ext uri="{FF2B5EF4-FFF2-40B4-BE49-F238E27FC236}">
                <a16:creationId xmlns:a16="http://schemas.microsoft.com/office/drawing/2014/main" id="{CC7852B5-A9A0-9444-8BBD-819FB96F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971550"/>
            <a:ext cx="1846262" cy="3046413"/>
          </a:xfrm>
          <a:prstGeom prst="wedgeRoundRectCallout">
            <a:avLst>
              <a:gd name="adj1" fmla="val 122741"/>
              <a:gd name="adj2" fmla="val -14931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957" tIns="13774" rIns="22957" bIns="13774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每个磁道被划分为若干段（段又叫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扇区</a:t>
            </a: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），每个扇区的存储容量为</a:t>
            </a:r>
            <a:r>
              <a:rPr kumimoji="1" lang="en-US" altLang="zh-CN" sz="2000" b="1">
                <a:solidFill>
                  <a:srgbClr val="0000CC"/>
                </a:solidFill>
                <a:ea typeface="宋体" panose="02010600030101010101" pitchFamily="2" charset="-122"/>
              </a:rPr>
              <a:t>512</a:t>
            </a:r>
            <a:r>
              <a:rPr kumimoji="1" lang="zh-CN" altLang="en-US" sz="2000" b="1">
                <a:solidFill>
                  <a:srgbClr val="0000CC"/>
                </a:solidFill>
                <a:ea typeface="宋体" panose="02010600030101010101" pitchFamily="2" charset="-122"/>
              </a:rPr>
              <a:t>字节。每个扇区都有一个编号 </a:t>
            </a:r>
          </a:p>
        </p:txBody>
      </p:sp>
      <p:sp>
        <p:nvSpPr>
          <p:cNvPr id="600085" name="Rectangle 21">
            <a:extLst>
              <a:ext uri="{FF2B5EF4-FFF2-40B4-BE49-F238E27FC236}">
                <a16:creationId xmlns:a16="http://schemas.microsoft.com/office/drawing/2014/main" id="{59791116-3AED-654D-A603-8E5C47C8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5230813"/>
            <a:ext cx="3784600" cy="1465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早期扇区大小是</a:t>
            </a:r>
            <a:r>
              <a:rPr lang="en-US" altLang="zh-CN" sz="1800" b="1">
                <a:solidFill>
                  <a:srgbClr val="000000"/>
                </a:solidFill>
                <a:ea typeface="黑体" panose="02010609060101010101" pitchFamily="49" charset="-122"/>
              </a:rPr>
              <a:t>512</a:t>
            </a:r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字节。但现在已经迁移到更大、更高效的</a:t>
            </a:r>
            <a:r>
              <a:rPr lang="en-US" altLang="zh-CN" sz="1800" b="1">
                <a:solidFill>
                  <a:srgbClr val="000000"/>
                </a:solidFill>
                <a:ea typeface="黑体" panose="02010609060101010101" pitchFamily="49" charset="-122"/>
              </a:rPr>
              <a:t>4096</a:t>
            </a:r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字节扇区，通常称为</a:t>
            </a:r>
            <a:r>
              <a:rPr lang="en-US" altLang="zh-CN" sz="1800" b="1">
                <a:solidFill>
                  <a:srgbClr val="000000"/>
                </a:solidFill>
                <a:ea typeface="黑体" panose="02010609060101010101" pitchFamily="49" charset="-122"/>
              </a:rPr>
              <a:t>4K</a:t>
            </a:r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扇区。国际硬盘设备与材料协会（</a:t>
            </a:r>
            <a:r>
              <a:rPr lang="en-US" altLang="zh-CN" sz="1800" b="1">
                <a:solidFill>
                  <a:srgbClr val="000000"/>
                </a:solidFill>
                <a:ea typeface="黑体" panose="02010609060101010101" pitchFamily="49" charset="-122"/>
              </a:rPr>
              <a:t>IDEMA</a:t>
            </a:r>
            <a:r>
              <a:rPr lang="zh-CN" altLang="en-US" sz="1800" b="1">
                <a:solidFill>
                  <a:srgbClr val="000000"/>
                </a:solidFill>
                <a:ea typeface="黑体" panose="02010609060101010101" pitchFamily="49" charset="-122"/>
              </a:rPr>
              <a:t>）将之称为高级格式化。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0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81" grpId="0" animBg="1"/>
      <p:bldP spid="600082" grpId="0" animBg="1"/>
      <p:bldP spid="60008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8626277-9668-D545-B351-666BA1572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73038"/>
            <a:ext cx="8343900" cy="420687"/>
          </a:xfrm>
        </p:spPr>
        <p:txBody>
          <a:bodyPr/>
          <a:lstStyle/>
          <a:p>
            <a:pPr defTabSz="7175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如何增大磁盘片的容量？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BC8FE6E-42BC-C94C-BF74-4AB75C8DB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4813" y="717550"/>
            <a:ext cx="8154987" cy="1085850"/>
          </a:xfrm>
        </p:spPr>
        <p:txBody>
          <a:bodyPr/>
          <a:lstStyle/>
          <a:p>
            <a:pPr marL="268288" indent="-268288" defTabSz="717550"/>
            <a:r>
              <a:rPr lang="zh-CN" altLang="en-US" sz="2000">
                <a:ea typeface="黑体" panose="02010609060101010101" pitchFamily="49" charset="-122"/>
              </a:rPr>
              <a:t>提高盘片上的信息记录密度！</a:t>
            </a:r>
          </a:p>
          <a:p>
            <a:pPr marL="582613" lvl="1" indent="-223838" defTabSz="717550"/>
            <a:r>
              <a:rPr lang="zh-CN" altLang="en-US" sz="2000">
                <a:ea typeface="黑体" panose="02010609060101010101" pitchFamily="49" charset="-122"/>
              </a:rPr>
              <a:t>增加磁道数目</a:t>
            </a:r>
            <a:r>
              <a:rPr lang="en-US" altLang="zh-CN" sz="2000">
                <a:ea typeface="黑体" panose="02010609060101010101" pitchFamily="49" charset="-122"/>
              </a:rPr>
              <a:t>——</a:t>
            </a:r>
            <a:r>
              <a:rPr lang="zh-CN" altLang="en-US" sz="2000">
                <a:ea typeface="黑体" panose="02010609060101010101" pitchFamily="49" charset="-122"/>
              </a:rPr>
              <a:t>提高磁道密度</a:t>
            </a:r>
          </a:p>
          <a:p>
            <a:pPr marL="582613" lvl="1" indent="-223838" defTabSz="717550"/>
            <a:r>
              <a:rPr lang="zh-CN" altLang="en-US" sz="2000">
                <a:ea typeface="黑体" panose="02010609060101010101" pitchFamily="49" charset="-122"/>
              </a:rPr>
              <a:t>增加扇区数目</a:t>
            </a:r>
            <a:r>
              <a:rPr lang="en-US" altLang="zh-CN" sz="2000">
                <a:ea typeface="黑体" panose="02010609060101010101" pitchFamily="49" charset="-122"/>
              </a:rPr>
              <a:t>——</a:t>
            </a:r>
            <a:r>
              <a:rPr lang="zh-CN" altLang="en-US" sz="2000">
                <a:ea typeface="黑体" panose="02010609060101010101" pitchFamily="49" charset="-122"/>
              </a:rPr>
              <a:t>提高位密度，并采用可变扇区数</a:t>
            </a:r>
          </a:p>
        </p:txBody>
      </p:sp>
      <p:grpSp>
        <p:nvGrpSpPr>
          <p:cNvPr id="67588" name="Group 5">
            <a:extLst>
              <a:ext uri="{FF2B5EF4-FFF2-40B4-BE49-F238E27FC236}">
                <a16:creationId xmlns:a16="http://schemas.microsoft.com/office/drawing/2014/main" id="{AEECB201-CB07-5248-B06A-CCB7B0BDEA9B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2044700"/>
            <a:ext cx="8699500" cy="3636963"/>
            <a:chOff x="103" y="1195"/>
            <a:chExt cx="4296" cy="1796"/>
          </a:xfrm>
        </p:grpSpPr>
        <p:pic>
          <p:nvPicPr>
            <p:cNvPr id="67599" name="Picture 6" descr="soft1">
              <a:extLst>
                <a:ext uri="{FF2B5EF4-FFF2-40B4-BE49-F238E27FC236}">
                  <a16:creationId xmlns:a16="http://schemas.microsoft.com/office/drawing/2014/main" id="{F9BB9ABF-742D-F845-AA54-C06D3304D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" y="1195"/>
              <a:ext cx="4296" cy="1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0" name="Text Box 7">
              <a:extLst>
                <a:ext uri="{FF2B5EF4-FFF2-40B4-BE49-F238E27FC236}">
                  <a16:creationId xmlns:a16="http://schemas.microsoft.com/office/drawing/2014/main" id="{388F05B4-1613-5948-B7EF-9B2519426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" y="2737"/>
              <a:ext cx="379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66813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66813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t"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00DFCA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zh-CN" altLang="en-US" sz="1900" b="1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低密度存储示意图                       高密度存储示意图</a:t>
              </a:r>
            </a:p>
          </p:txBody>
        </p:sp>
        <p:sp>
          <p:nvSpPr>
            <p:cNvPr id="67601" name="Rectangle 8">
              <a:extLst>
                <a:ext uri="{FF2B5EF4-FFF2-40B4-BE49-F238E27FC236}">
                  <a16:creationId xmlns:a16="http://schemas.microsoft.com/office/drawing/2014/main" id="{8C472610-ED54-6D4B-9944-622287697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" y="1762"/>
              <a:ext cx="295" cy="5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2" name="Rectangle 9">
              <a:extLst>
                <a:ext uri="{FF2B5EF4-FFF2-40B4-BE49-F238E27FC236}">
                  <a16:creationId xmlns:a16="http://schemas.microsoft.com/office/drawing/2014/main" id="{B1E6EE7D-F620-7C41-81A7-C769E7A2B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6" y="1739"/>
              <a:ext cx="295" cy="5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589" name="Rectangle 10">
            <a:extLst>
              <a:ext uri="{FF2B5EF4-FFF2-40B4-BE49-F238E27FC236}">
                <a16:creationId xmlns:a16="http://schemas.microsoft.com/office/drawing/2014/main" id="{2CF3D682-05B7-134D-9D89-17261B55A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2630488"/>
            <a:ext cx="782637" cy="412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0" name="Rectangle 11">
            <a:extLst>
              <a:ext uri="{FF2B5EF4-FFF2-40B4-BE49-F238E27FC236}">
                <a16:creationId xmlns:a16="http://schemas.microsoft.com/office/drawing/2014/main" id="{B71A265C-EB62-EF4E-8439-EF854B8F2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75" y="2584450"/>
            <a:ext cx="782638" cy="412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1" name="Rectangle 12">
            <a:extLst>
              <a:ext uri="{FF2B5EF4-FFF2-40B4-BE49-F238E27FC236}">
                <a16:creationId xmlns:a16="http://schemas.microsoft.com/office/drawing/2014/main" id="{DA763468-7273-754D-8960-B8CE943EA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0" y="2078038"/>
            <a:ext cx="1655763" cy="1841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623" tIns="58311" rIns="116623" bIns="58311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11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7592" name="Rectangle 13">
            <a:extLst>
              <a:ext uri="{FF2B5EF4-FFF2-40B4-BE49-F238E27FC236}">
                <a16:creationId xmlns:a16="http://schemas.microsoft.com/office/drawing/2014/main" id="{81F15C8E-C8C4-134C-BDCD-360EEF50C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2030413"/>
            <a:ext cx="1654175" cy="1857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623" tIns="58311" rIns="116623" bIns="58311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11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7593" name="Text Box 14">
            <a:extLst>
              <a:ext uri="{FF2B5EF4-FFF2-40B4-BE49-F238E27FC236}">
                <a16:creationId xmlns:a16="http://schemas.microsoft.com/office/drawing/2014/main" id="{6162E803-128B-444F-B4C7-EE4AC4149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2674938"/>
            <a:ext cx="1103312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黑体" panose="02010609060101010101" pitchFamily="49" charset="-122"/>
              </a:rPr>
              <a:t>位密度</a:t>
            </a:r>
          </a:p>
        </p:txBody>
      </p:sp>
      <p:sp>
        <p:nvSpPr>
          <p:cNvPr id="67594" name="Text Box 15">
            <a:extLst>
              <a:ext uri="{FF2B5EF4-FFF2-40B4-BE49-F238E27FC236}">
                <a16:creationId xmlns:a16="http://schemas.microsoft.com/office/drawing/2014/main" id="{A5720FE7-16B3-EC4A-A14B-EFA0B1A4F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1939925"/>
            <a:ext cx="1103312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黑体" panose="02010609060101010101" pitchFamily="49" charset="-122"/>
              </a:rPr>
              <a:t>道密度</a:t>
            </a:r>
          </a:p>
        </p:txBody>
      </p:sp>
      <p:sp>
        <p:nvSpPr>
          <p:cNvPr id="67595" name="Text Box 16">
            <a:extLst>
              <a:ext uri="{FF2B5EF4-FFF2-40B4-BE49-F238E27FC236}">
                <a16:creationId xmlns:a16="http://schemas.microsoft.com/office/drawing/2014/main" id="{953A9F3B-1E6E-404F-8C08-8BB35C9DC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2630488"/>
            <a:ext cx="939800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黑体" panose="02010609060101010101" pitchFamily="49" charset="-122"/>
              </a:rPr>
              <a:t>位密度</a:t>
            </a:r>
          </a:p>
        </p:txBody>
      </p:sp>
      <p:sp>
        <p:nvSpPr>
          <p:cNvPr id="67596" name="Text Box 17">
            <a:extLst>
              <a:ext uri="{FF2B5EF4-FFF2-40B4-BE49-F238E27FC236}">
                <a16:creationId xmlns:a16="http://schemas.microsoft.com/office/drawing/2014/main" id="{16B36B30-A163-9A4F-8821-B5D14AD08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1895475"/>
            <a:ext cx="1103313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黑体" panose="02010609060101010101" pitchFamily="49" charset="-122"/>
              </a:rPr>
              <a:t>道密度</a:t>
            </a:r>
          </a:p>
        </p:txBody>
      </p:sp>
      <p:sp>
        <p:nvSpPr>
          <p:cNvPr id="67597" name="Text Box 21">
            <a:extLst>
              <a:ext uri="{FF2B5EF4-FFF2-40B4-BE49-F238E27FC236}">
                <a16:creationId xmlns:a16="http://schemas.microsoft.com/office/drawing/2014/main" id="{8841FD4D-181B-5D4E-A46B-CDC15C4B3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5573713"/>
            <a:ext cx="3497262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早期磁盘所有磁道上的扇区数相同，所以位数相同，内道上的位密度比外道位密度高</a:t>
            </a:r>
          </a:p>
        </p:txBody>
      </p:sp>
      <p:sp>
        <p:nvSpPr>
          <p:cNvPr id="67598" name="Text Box 22">
            <a:extLst>
              <a:ext uri="{FF2B5EF4-FFF2-40B4-BE49-F238E27FC236}">
                <a16:creationId xmlns:a16="http://schemas.microsoft.com/office/drawing/2014/main" id="{AB26EF92-9FCF-F04E-82D0-65EDD9E1A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567363"/>
            <a:ext cx="41814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现代磁盘磁道上的位密度相同，所以，外道上的扇区数比内道上扇区数多，使整个磁盘的容量提高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温彻斯特磁盘磁道格式Scan">
            <a:extLst>
              <a:ext uri="{FF2B5EF4-FFF2-40B4-BE49-F238E27FC236}">
                <a16:creationId xmlns:a16="http://schemas.microsoft.com/office/drawing/2014/main" id="{EACF05B6-78E7-E549-83CC-9F02F0DBE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54063"/>
            <a:ext cx="8686800" cy="5570537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611" name="Text Box 3">
            <a:extLst>
              <a:ext uri="{FF2B5EF4-FFF2-40B4-BE49-F238E27FC236}">
                <a16:creationId xmlns:a16="http://schemas.microsoft.com/office/drawing/2014/main" id="{610D8794-6E20-B141-8A37-57CF2B46D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813" y="5653088"/>
            <a:ext cx="55340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在此例中，每个磁道包含30个固定长度的扇段，每个扇段有</a:t>
            </a:r>
            <a:r>
              <a:rPr kumimoji="1" lang="zh-CN" altLang="en-US" sz="2000" b="1">
                <a:solidFill>
                  <a:srgbClr val="000099"/>
                </a:solidFill>
                <a:ea typeface="宋体" panose="02010600030101010101" pitchFamily="2" charset="-122"/>
              </a:rPr>
              <a:t>600</a:t>
            </a:r>
            <a:r>
              <a:rPr kumimoji="1" lang="zh-CN" altLang="en-US" sz="20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个字节</a:t>
            </a:r>
            <a:r>
              <a:rPr kumimoji="1" lang="zh-CN" altLang="en-US" sz="2000" b="1">
                <a:solidFill>
                  <a:srgbClr val="000099"/>
                </a:solidFill>
                <a:ea typeface="宋体" panose="02010600030101010101" pitchFamily="2" charset="-122"/>
              </a:rPr>
              <a:t>(17+7+41+515+20=600)</a:t>
            </a:r>
            <a:r>
              <a:rPr kumimoji="1" lang="zh-CN" altLang="en-US" sz="20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en-US" altLang="zh-CN" sz="2000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FF374D10-5456-4C48-AC00-E1333F355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73038"/>
            <a:ext cx="8343900" cy="420687"/>
          </a:xfrm>
          <a:noFill/>
        </p:spPr>
        <p:txBody>
          <a:bodyPr/>
          <a:lstStyle/>
          <a:p>
            <a:pPr defTabSz="717550"/>
            <a:r>
              <a:rPr lang="zh-CN" altLang="en-US">
                <a:ea typeface="宋体" panose="02010600030101010101" pitchFamily="2" charset="-122"/>
              </a:rPr>
              <a:t>磁盘磁道的格式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03141" name="Text Box 5">
            <a:extLst>
              <a:ext uri="{FF2B5EF4-FFF2-40B4-BE49-F238E27FC236}">
                <a16:creationId xmlns:a16="http://schemas.microsoft.com/office/drawing/2014/main" id="{68F5CA00-7FAB-4E4E-BCD4-0C96CB700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5414963"/>
            <a:ext cx="3157538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623" tIns="58311" rIns="116623" bIns="58311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D1390F"/>
                </a:solidFill>
                <a:ea typeface="黑体" panose="02010609060101010101" pitchFamily="49" charset="-122"/>
              </a:rPr>
              <a:t>磁盘格式化操作指在盘面上划分磁道和扇区，并在扇区中填写</a:t>
            </a:r>
            <a:r>
              <a:rPr kumimoji="1" lang="en-US" altLang="zh-CN" sz="1900" b="1">
                <a:solidFill>
                  <a:srgbClr val="D1390F"/>
                </a:solidFill>
                <a:ea typeface="黑体" panose="02010609060101010101" pitchFamily="49" charset="-122"/>
              </a:rPr>
              <a:t>ID</a:t>
            </a:r>
            <a:r>
              <a:rPr kumimoji="1" lang="zh-CN" altLang="en-US" sz="1900" b="1">
                <a:solidFill>
                  <a:srgbClr val="D1390F"/>
                </a:solidFill>
                <a:ea typeface="黑体" panose="02010609060101010101" pitchFamily="49" charset="-122"/>
              </a:rPr>
              <a:t>域信息的过程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4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08280D6-746E-9C41-97FE-1FB4F7C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73038"/>
            <a:ext cx="8343900" cy="420687"/>
          </a:xfrm>
        </p:spPr>
        <p:txBody>
          <a:bodyPr/>
          <a:lstStyle/>
          <a:p>
            <a:pPr defTabSz="717550"/>
            <a:r>
              <a:rPr lang="zh-CN" altLang="en-US">
                <a:ea typeface="宋体" panose="02010600030101010101" pitchFamily="2" charset="-122"/>
              </a:rPr>
              <a:t>平均存取时间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07235" name="Rectangle 3">
            <a:extLst>
              <a:ext uri="{FF2B5EF4-FFF2-40B4-BE49-F238E27FC236}">
                <a16:creationId xmlns:a16="http://schemas.microsoft.com/office/drawing/2014/main" id="{0CF74882-882A-D443-8A76-448CEA207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275" y="4595813"/>
            <a:ext cx="8491538" cy="2111375"/>
          </a:xfrm>
        </p:spPr>
        <p:txBody>
          <a:bodyPr/>
          <a:lstStyle/>
          <a:p>
            <a:pPr marL="268288" indent="-268288" defTabSz="717550">
              <a:lnSpc>
                <a:spcPct val="115000"/>
              </a:lnSpc>
              <a:spcBef>
                <a:spcPct val="15000"/>
              </a:spcBef>
            </a:pPr>
            <a:r>
              <a:rPr lang="zh-CN" altLang="en-US">
                <a:ea typeface="黑体" panose="02010609060101010101" pitchFamily="49" charset="-122"/>
              </a:rPr>
              <a:t>磁盘上的信息以扇区为单位进行读写，平均存取时间为：</a:t>
            </a:r>
          </a:p>
          <a:p>
            <a:pPr marL="268288" indent="-268288" defTabSz="717550">
              <a:lnSpc>
                <a:spcPct val="115000"/>
              </a:lnSpc>
              <a:spcBef>
                <a:spcPct val="15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		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T = 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平均寻道时间 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+ 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平均旋转等待时间 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+ 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数据传输时间（忽略不计）</a:t>
            </a: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582613" lvl="1" indent="-223838" defTabSz="717550">
              <a:lnSpc>
                <a:spcPct val="115000"/>
              </a:lnSpc>
              <a:spcBef>
                <a:spcPct val="15000"/>
              </a:spcBef>
            </a:pP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平均寻道时间</a:t>
            </a:r>
            <a:r>
              <a:rPr lang="en-US" altLang="zh-CN">
                <a:ea typeface="黑体" panose="02010609060101010101" pitchFamily="49" charset="-122"/>
              </a:rPr>
              <a:t>——</a:t>
            </a:r>
            <a:r>
              <a:rPr lang="zh-CN" altLang="en-US">
                <a:ea typeface="黑体" panose="02010609060101010101" pitchFamily="49" charset="-122"/>
              </a:rPr>
              <a:t>磁头寻找到指定磁道所需平均时间 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大约</a:t>
            </a:r>
            <a:r>
              <a:rPr lang="en-US" altLang="zh-CN">
                <a:ea typeface="黑体" panose="02010609060101010101" pitchFamily="49" charset="-122"/>
              </a:rPr>
              <a:t>5ms)</a:t>
            </a:r>
            <a:endParaRPr lang="zh-CN" altLang="en-US">
              <a:ea typeface="黑体" panose="02010609060101010101" pitchFamily="49" charset="-122"/>
            </a:endParaRPr>
          </a:p>
          <a:p>
            <a:pPr marL="582613" lvl="1" indent="-223838" defTabSz="717550">
              <a:lnSpc>
                <a:spcPct val="115000"/>
              </a:lnSpc>
              <a:spcBef>
                <a:spcPct val="15000"/>
              </a:spcBef>
            </a:pP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平均旋转等待时间</a:t>
            </a:r>
            <a:r>
              <a:rPr lang="en-US" altLang="zh-CN">
                <a:ea typeface="黑体" panose="02010609060101010101" pitchFamily="49" charset="-122"/>
              </a:rPr>
              <a:t>——</a:t>
            </a:r>
            <a:r>
              <a:rPr lang="zh-CN" altLang="en-US">
                <a:ea typeface="黑体" panose="02010609060101010101" pitchFamily="49" charset="-122"/>
              </a:rPr>
              <a:t>指定扇区旋转到磁头下方所需平均时间 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大约</a:t>
            </a:r>
            <a:r>
              <a:rPr lang="en-US" altLang="zh-CN">
                <a:ea typeface="黑体" panose="02010609060101010101" pitchFamily="49" charset="-122"/>
              </a:rPr>
              <a:t>4</a:t>
            </a:r>
            <a:r>
              <a:rPr lang="zh-CN" altLang="en-US">
                <a:ea typeface="黑体" panose="02010609060101010101" pitchFamily="49" charset="-122"/>
              </a:rPr>
              <a:t>～</a:t>
            </a:r>
            <a:r>
              <a:rPr lang="en-US" altLang="zh-CN">
                <a:ea typeface="黑体" panose="02010609060101010101" pitchFamily="49" charset="-122"/>
              </a:rPr>
              <a:t>6ms)  ( </a:t>
            </a:r>
            <a:r>
              <a:rPr lang="zh-CN" altLang="en-US">
                <a:ea typeface="黑体" panose="02010609060101010101" pitchFamily="49" charset="-122"/>
              </a:rPr>
              <a:t>转速：</a:t>
            </a:r>
            <a:r>
              <a:rPr lang="en-US" altLang="zh-CN">
                <a:ea typeface="黑体" panose="02010609060101010101" pitchFamily="49" charset="-122"/>
              </a:rPr>
              <a:t> 4200 / 5400 / 7200 / 10000rpm )</a:t>
            </a:r>
          </a:p>
          <a:p>
            <a:pPr marL="582613" lvl="1" indent="-223838" defTabSz="717550">
              <a:lnSpc>
                <a:spcPct val="115000"/>
              </a:lnSpc>
              <a:spcBef>
                <a:spcPct val="15000"/>
              </a:spcBef>
            </a:pP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数据传输时间</a:t>
            </a:r>
            <a:r>
              <a:rPr lang="en-US" altLang="zh-CN">
                <a:ea typeface="黑体" panose="02010609060101010101" pitchFamily="49" charset="-122"/>
              </a:rPr>
              <a:t>——( </a:t>
            </a:r>
            <a:r>
              <a:rPr lang="zh-CN" altLang="en-US">
                <a:ea typeface="黑体" panose="02010609060101010101" pitchFamily="49" charset="-122"/>
              </a:rPr>
              <a:t>大约</a:t>
            </a:r>
            <a:r>
              <a:rPr lang="en-US" altLang="zh-CN">
                <a:ea typeface="黑体" panose="02010609060101010101" pitchFamily="49" charset="-122"/>
              </a:rPr>
              <a:t>0.01ms / </a:t>
            </a:r>
            <a:r>
              <a:rPr lang="zh-CN" altLang="en-US">
                <a:ea typeface="黑体" panose="02010609060101010101" pitchFamily="49" charset="-122"/>
              </a:rPr>
              <a:t>扇区 </a:t>
            </a:r>
            <a:r>
              <a:rPr lang="en-US" altLang="zh-CN">
                <a:ea typeface="黑体" panose="02010609060101010101" pitchFamily="49" charset="-122"/>
              </a:rPr>
              <a:t>)</a:t>
            </a: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69636" name="Group 4">
            <a:extLst>
              <a:ext uri="{FF2B5EF4-FFF2-40B4-BE49-F238E27FC236}">
                <a16:creationId xmlns:a16="http://schemas.microsoft.com/office/drawing/2014/main" id="{18D1EA3D-9A5C-E744-942B-3B03CF68AA3E}"/>
              </a:ext>
            </a:extLst>
          </p:cNvPr>
          <p:cNvGrpSpPr>
            <a:grpSpLocks/>
          </p:cNvGrpSpPr>
          <p:nvPr/>
        </p:nvGrpSpPr>
        <p:grpSpPr bwMode="auto">
          <a:xfrm>
            <a:off x="1125538" y="774700"/>
            <a:ext cx="7327900" cy="2925763"/>
            <a:chOff x="1144" y="1645"/>
            <a:chExt cx="4616" cy="1843"/>
          </a:xfrm>
        </p:grpSpPr>
        <p:sp>
          <p:nvSpPr>
            <p:cNvPr id="69638" name="AutoShape 5">
              <a:extLst>
                <a:ext uri="{FF2B5EF4-FFF2-40B4-BE49-F238E27FC236}">
                  <a16:creationId xmlns:a16="http://schemas.microsoft.com/office/drawing/2014/main" id="{1E2AF4C4-9482-7C4D-8A9A-C452F76FE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2864"/>
              <a:ext cx="288" cy="381"/>
            </a:xfrm>
            <a:prstGeom prst="can">
              <a:avLst>
                <a:gd name="adj" fmla="val 33073"/>
              </a:avLst>
            </a:prstGeom>
            <a:solidFill>
              <a:schemeClr val="accent2">
                <a:alpha val="3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39" name="Rectangle 6">
              <a:extLst>
                <a:ext uri="{FF2B5EF4-FFF2-40B4-BE49-F238E27FC236}">
                  <a16:creationId xmlns:a16="http://schemas.microsoft.com/office/drawing/2014/main" id="{671D6729-3DCE-9441-9CCD-0DD8B0767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864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0" name="Rectangle 7">
              <a:extLst>
                <a:ext uri="{FF2B5EF4-FFF2-40B4-BE49-F238E27FC236}">
                  <a16:creationId xmlns:a16="http://schemas.microsoft.com/office/drawing/2014/main" id="{F779C418-55A3-4B40-B4CE-85B7D5D96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624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1" name="Rectangle 8">
              <a:extLst>
                <a:ext uri="{FF2B5EF4-FFF2-40B4-BE49-F238E27FC236}">
                  <a16:creationId xmlns:a16="http://schemas.microsoft.com/office/drawing/2014/main" id="{F572B0CE-293A-7446-9C19-9DE0591FE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384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9642" name="Group 9">
              <a:extLst>
                <a:ext uri="{FF2B5EF4-FFF2-40B4-BE49-F238E27FC236}">
                  <a16:creationId xmlns:a16="http://schemas.microsoft.com/office/drawing/2014/main" id="{0BC98176-3295-C846-B2AA-422EB70DAF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0" y="2624"/>
              <a:ext cx="2112" cy="432"/>
              <a:chOff x="2688" y="1632"/>
              <a:chExt cx="2112" cy="432"/>
            </a:xfrm>
          </p:grpSpPr>
          <p:sp>
            <p:nvSpPr>
              <p:cNvPr id="69674" name="Oval 10">
                <a:extLst>
                  <a:ext uri="{FF2B5EF4-FFF2-40B4-BE49-F238E27FC236}">
                    <a16:creationId xmlns:a16="http://schemas.microsoft.com/office/drawing/2014/main" id="{FBAA302B-9839-A842-94F1-63C821EE4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632"/>
                <a:ext cx="2112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5" name="Oval 11">
                <a:extLst>
                  <a:ext uri="{FF2B5EF4-FFF2-40B4-BE49-F238E27FC236}">
                    <a16:creationId xmlns:a16="http://schemas.microsoft.com/office/drawing/2014/main" id="{D75C5107-B239-4042-8F23-4975595B46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62" y="1687"/>
                <a:ext cx="1745" cy="31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6" name="Oval 12">
                <a:extLst>
                  <a:ext uri="{FF2B5EF4-FFF2-40B4-BE49-F238E27FC236}">
                    <a16:creationId xmlns:a16="http://schemas.microsoft.com/office/drawing/2014/main" id="{5D7796C2-F5EF-3549-A4D7-D30BA56A33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35" y="1731"/>
                <a:ext cx="1203" cy="21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43" name="Group 13">
              <a:extLst>
                <a:ext uri="{FF2B5EF4-FFF2-40B4-BE49-F238E27FC236}">
                  <a16:creationId xmlns:a16="http://schemas.microsoft.com/office/drawing/2014/main" id="{96D6CB1F-D825-A04C-A8D1-668905050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0" y="2384"/>
              <a:ext cx="2112" cy="432"/>
              <a:chOff x="2688" y="1632"/>
              <a:chExt cx="2112" cy="432"/>
            </a:xfrm>
          </p:grpSpPr>
          <p:sp>
            <p:nvSpPr>
              <p:cNvPr id="69671" name="Oval 14">
                <a:extLst>
                  <a:ext uri="{FF2B5EF4-FFF2-40B4-BE49-F238E27FC236}">
                    <a16:creationId xmlns:a16="http://schemas.microsoft.com/office/drawing/2014/main" id="{9D7EB075-86D2-0A4D-AA4B-A6E2997CD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632"/>
                <a:ext cx="2112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2" name="Oval 15">
                <a:extLst>
                  <a:ext uri="{FF2B5EF4-FFF2-40B4-BE49-F238E27FC236}">
                    <a16:creationId xmlns:a16="http://schemas.microsoft.com/office/drawing/2014/main" id="{690D4BE5-EB90-514C-8A2A-1286EB962D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62" y="1687"/>
                <a:ext cx="1745" cy="31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3" name="Oval 16">
                <a:extLst>
                  <a:ext uri="{FF2B5EF4-FFF2-40B4-BE49-F238E27FC236}">
                    <a16:creationId xmlns:a16="http://schemas.microsoft.com/office/drawing/2014/main" id="{12C5CF09-4C72-EE42-83CD-2C3ACA138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35" y="1731"/>
                <a:ext cx="1203" cy="21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644" name="AutoShape 17">
              <a:extLst>
                <a:ext uri="{FF2B5EF4-FFF2-40B4-BE49-F238E27FC236}">
                  <a16:creationId xmlns:a16="http://schemas.microsoft.com/office/drawing/2014/main" id="{3900FCF6-BCEB-3F4D-99E5-7A9FDEB01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808"/>
              <a:ext cx="624" cy="1440"/>
            </a:xfrm>
            <a:prstGeom prst="can">
              <a:avLst>
                <a:gd name="adj" fmla="val 57692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9645" name="Group 18">
              <a:extLst>
                <a:ext uri="{FF2B5EF4-FFF2-40B4-BE49-F238E27FC236}">
                  <a16:creationId xmlns:a16="http://schemas.microsoft.com/office/drawing/2014/main" id="{01B4D44A-CBC0-FB43-98A4-7AAB2ED24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0" y="2144"/>
              <a:ext cx="2112" cy="432"/>
              <a:chOff x="2688" y="1632"/>
              <a:chExt cx="2112" cy="432"/>
            </a:xfrm>
          </p:grpSpPr>
          <p:sp>
            <p:nvSpPr>
              <p:cNvPr id="69668" name="Oval 19">
                <a:extLst>
                  <a:ext uri="{FF2B5EF4-FFF2-40B4-BE49-F238E27FC236}">
                    <a16:creationId xmlns:a16="http://schemas.microsoft.com/office/drawing/2014/main" id="{28D69E18-8CF5-7841-A914-1D7E217C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632"/>
                <a:ext cx="2112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9" name="Oval 20">
                <a:extLst>
                  <a:ext uri="{FF2B5EF4-FFF2-40B4-BE49-F238E27FC236}">
                    <a16:creationId xmlns:a16="http://schemas.microsoft.com/office/drawing/2014/main" id="{31F28FBC-0C18-784F-963F-F890FEEDD2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62" y="1687"/>
                <a:ext cx="1745" cy="31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0" name="Oval 21">
                <a:extLst>
                  <a:ext uri="{FF2B5EF4-FFF2-40B4-BE49-F238E27FC236}">
                    <a16:creationId xmlns:a16="http://schemas.microsoft.com/office/drawing/2014/main" id="{56E7B386-ADBC-664F-8C68-36A326854B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35" y="1731"/>
                <a:ext cx="1203" cy="21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646" name="Rectangle 22">
              <a:extLst>
                <a:ext uri="{FF2B5EF4-FFF2-40B4-BE49-F238E27FC236}">
                  <a16:creationId xmlns:a16="http://schemas.microsoft.com/office/drawing/2014/main" id="{427C0934-8EEC-C345-9198-A837B3C55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288"/>
              <a:ext cx="1104" cy="14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7" name="Rectangle 23">
              <a:extLst>
                <a:ext uri="{FF2B5EF4-FFF2-40B4-BE49-F238E27FC236}">
                  <a16:creationId xmlns:a16="http://schemas.microsoft.com/office/drawing/2014/main" id="{5C5D2B54-4D45-034C-8610-08D02CDA2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288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8" name="Rectangle 24">
              <a:extLst>
                <a:ext uri="{FF2B5EF4-FFF2-40B4-BE49-F238E27FC236}">
                  <a16:creationId xmlns:a16="http://schemas.microsoft.com/office/drawing/2014/main" id="{17B99786-C5CD-0547-A6C9-68211AAD2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2258"/>
              <a:ext cx="96" cy="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9" name="Rectangle 25">
              <a:extLst>
                <a:ext uri="{FF2B5EF4-FFF2-40B4-BE49-F238E27FC236}">
                  <a16:creationId xmlns:a16="http://schemas.microsoft.com/office/drawing/2014/main" id="{9049AE0A-239D-434C-961F-167C3FF25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528"/>
              <a:ext cx="1104" cy="14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0" name="Rectangle 26">
              <a:extLst>
                <a:ext uri="{FF2B5EF4-FFF2-40B4-BE49-F238E27FC236}">
                  <a16:creationId xmlns:a16="http://schemas.microsoft.com/office/drawing/2014/main" id="{B21882AF-A486-234A-B6F5-42BA57D4C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528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1" name="Rectangle 27">
              <a:extLst>
                <a:ext uri="{FF2B5EF4-FFF2-40B4-BE49-F238E27FC236}">
                  <a16:creationId xmlns:a16="http://schemas.microsoft.com/office/drawing/2014/main" id="{DF475781-9F1C-1543-8C60-13361C75C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2507"/>
              <a:ext cx="96" cy="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2" name="Rectangle 28">
              <a:extLst>
                <a:ext uri="{FF2B5EF4-FFF2-40B4-BE49-F238E27FC236}">
                  <a16:creationId xmlns:a16="http://schemas.microsoft.com/office/drawing/2014/main" id="{48DDE2BB-A6C0-A947-8982-36EF8D3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768"/>
              <a:ext cx="1104" cy="14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3" name="Rectangle 29">
              <a:extLst>
                <a:ext uri="{FF2B5EF4-FFF2-40B4-BE49-F238E27FC236}">
                  <a16:creationId xmlns:a16="http://schemas.microsoft.com/office/drawing/2014/main" id="{8B6A5556-89B5-1F40-BE57-62408E143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768"/>
              <a:ext cx="240" cy="4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4" name="Rectangle 30">
              <a:extLst>
                <a:ext uri="{FF2B5EF4-FFF2-40B4-BE49-F238E27FC236}">
                  <a16:creationId xmlns:a16="http://schemas.microsoft.com/office/drawing/2014/main" id="{5AEBA895-B51F-2147-8778-DC88CDC9C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2747"/>
              <a:ext cx="96" cy="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5" name="AutoShape 31">
              <a:extLst>
                <a:ext uri="{FF2B5EF4-FFF2-40B4-BE49-F238E27FC236}">
                  <a16:creationId xmlns:a16="http://schemas.microsoft.com/office/drawing/2014/main" id="{BFC53277-F881-694C-B2DF-8EB65E552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2000"/>
              <a:ext cx="288" cy="381"/>
            </a:xfrm>
            <a:prstGeom prst="can">
              <a:avLst>
                <a:gd name="adj" fmla="val 33073"/>
              </a:avLst>
            </a:prstGeom>
            <a:solidFill>
              <a:schemeClr val="accent2">
                <a:alpha val="3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6" name="Line 32">
              <a:extLst>
                <a:ext uri="{FF2B5EF4-FFF2-40B4-BE49-F238E27FC236}">
                  <a16:creationId xmlns:a16="http://schemas.microsoft.com/office/drawing/2014/main" id="{FA3EDFAD-DF96-7445-BCAA-250FA00AA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760"/>
              <a:ext cx="0" cy="172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7" name="Text Box 33">
              <a:extLst>
                <a:ext uri="{FF2B5EF4-FFF2-40B4-BE49-F238E27FC236}">
                  <a16:creationId xmlns:a16="http://schemas.microsoft.com/office/drawing/2014/main" id="{FA6ABE30-D59C-7444-AF9A-6B6DDF7C8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872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00" tIns="45650" rIns="91300" bIns="456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磁头</a:t>
              </a:r>
            </a:p>
          </p:txBody>
        </p:sp>
        <p:cxnSp>
          <p:nvCxnSpPr>
            <p:cNvPr id="69658" name="AutoShape 34">
              <a:extLst>
                <a:ext uri="{FF2B5EF4-FFF2-40B4-BE49-F238E27FC236}">
                  <a16:creationId xmlns:a16="http://schemas.microsoft.com/office/drawing/2014/main" id="{FFD283AD-A360-7F48-9623-617F54EB7A46}"/>
                </a:ext>
              </a:extLst>
            </p:cNvPr>
            <p:cNvCxnSpPr>
              <a:cxnSpLocks noChangeShapeType="1"/>
              <a:stCxn id="69657" idx="2"/>
              <a:endCxn id="69648" idx="0"/>
            </p:cNvCxnSpPr>
            <p:nvPr/>
          </p:nvCxnSpPr>
          <p:spPr bwMode="auto">
            <a:xfrm flipH="1">
              <a:off x="3142" y="2160"/>
              <a:ext cx="18" cy="98"/>
            </a:xfrm>
            <a:prstGeom prst="straightConnector1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59" name="AutoShape 35">
              <a:extLst>
                <a:ext uri="{FF2B5EF4-FFF2-40B4-BE49-F238E27FC236}">
                  <a16:creationId xmlns:a16="http://schemas.microsoft.com/office/drawing/2014/main" id="{D7FF2FBE-4E62-E34F-BB28-11E9E2B73089}"/>
                </a:ext>
              </a:extLst>
            </p:cNvPr>
            <p:cNvCxnSpPr>
              <a:cxnSpLocks noChangeShapeType="1"/>
              <a:endCxn id="69646" idx="0"/>
            </p:cNvCxnSpPr>
            <p:nvPr/>
          </p:nvCxnSpPr>
          <p:spPr bwMode="auto">
            <a:xfrm>
              <a:off x="2296" y="1952"/>
              <a:ext cx="24" cy="336"/>
            </a:xfrm>
            <a:prstGeom prst="straightConnector1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60" name="Text Box 36">
              <a:extLst>
                <a:ext uri="{FF2B5EF4-FFF2-40B4-BE49-F238E27FC236}">
                  <a16:creationId xmlns:a16="http://schemas.microsoft.com/office/drawing/2014/main" id="{A9A5CC0E-6ADC-BC40-8CA5-CC612CAE7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1752"/>
              <a:ext cx="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00" tIns="45650" rIns="91300" bIns="456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磁道</a:t>
              </a:r>
            </a:p>
          </p:txBody>
        </p:sp>
        <p:sp>
          <p:nvSpPr>
            <p:cNvPr id="69661" name="Text Box 37">
              <a:extLst>
                <a:ext uri="{FF2B5EF4-FFF2-40B4-BE49-F238E27FC236}">
                  <a16:creationId xmlns:a16="http://schemas.microsoft.com/office/drawing/2014/main" id="{00C7598E-E0CC-B447-AA18-4B143AEBC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6" y="1645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00" tIns="45650" rIns="91300" bIns="456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旋转轴</a:t>
              </a:r>
            </a:p>
          </p:txBody>
        </p:sp>
        <p:cxnSp>
          <p:nvCxnSpPr>
            <p:cNvPr id="69662" name="AutoShape 38">
              <a:extLst>
                <a:ext uri="{FF2B5EF4-FFF2-40B4-BE49-F238E27FC236}">
                  <a16:creationId xmlns:a16="http://schemas.microsoft.com/office/drawing/2014/main" id="{9C6E624A-32F7-6949-B6AC-677AC03D1057}"/>
                </a:ext>
              </a:extLst>
            </p:cNvPr>
            <p:cNvCxnSpPr>
              <a:cxnSpLocks noChangeShapeType="1"/>
              <a:stCxn id="69661" idx="2"/>
              <a:endCxn id="69655" idx="1"/>
            </p:cNvCxnSpPr>
            <p:nvPr/>
          </p:nvCxnSpPr>
          <p:spPr bwMode="auto">
            <a:xfrm>
              <a:off x="3976" y="1933"/>
              <a:ext cx="0" cy="67"/>
            </a:xfrm>
            <a:prstGeom prst="straightConnector1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63" name="Text Box 39">
              <a:extLst>
                <a:ext uri="{FF2B5EF4-FFF2-40B4-BE49-F238E27FC236}">
                  <a16:creationId xmlns:a16="http://schemas.microsoft.com/office/drawing/2014/main" id="{031537CD-62F8-7B42-9900-96994340C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954"/>
              <a:ext cx="7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00" tIns="45650" rIns="91300" bIns="456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碟片</a:t>
              </a:r>
            </a:p>
          </p:txBody>
        </p:sp>
        <p:cxnSp>
          <p:nvCxnSpPr>
            <p:cNvPr id="69664" name="AutoShape 40">
              <a:extLst>
                <a:ext uri="{FF2B5EF4-FFF2-40B4-BE49-F238E27FC236}">
                  <a16:creationId xmlns:a16="http://schemas.microsoft.com/office/drawing/2014/main" id="{6D6AFF60-C23D-D849-84B0-35C1BF30CE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967" y="3008"/>
              <a:ext cx="9" cy="453"/>
            </a:xfrm>
            <a:prstGeom prst="straightConnector1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65" name="Line 41">
              <a:extLst>
                <a:ext uri="{FF2B5EF4-FFF2-40B4-BE49-F238E27FC236}">
                  <a16:creationId xmlns:a16="http://schemas.microsoft.com/office/drawing/2014/main" id="{916DD290-69B6-0843-B1BE-D94B0F28A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12" y="2931"/>
              <a:ext cx="159" cy="11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6" name="Line 42">
              <a:extLst>
                <a:ext uri="{FF2B5EF4-FFF2-40B4-BE49-F238E27FC236}">
                  <a16:creationId xmlns:a16="http://schemas.microsoft.com/office/drawing/2014/main" id="{B82A825B-4277-9540-AB36-DDF3989DC0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" y="2001"/>
              <a:ext cx="204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7" name="Line 43">
              <a:extLst>
                <a:ext uri="{FF2B5EF4-FFF2-40B4-BE49-F238E27FC236}">
                  <a16:creationId xmlns:a16="http://schemas.microsoft.com/office/drawing/2014/main" id="{4A428329-615C-8E43-AE48-0820DE90A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183"/>
              <a:ext cx="8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37" name="Rectangle 44">
            <a:extLst>
              <a:ext uri="{FF2B5EF4-FFF2-40B4-BE49-F238E27FC236}">
                <a16:creationId xmlns:a16="http://schemas.microsoft.com/office/drawing/2014/main" id="{66E624FF-4BEC-9F44-9211-65719D207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3371850"/>
            <a:ext cx="8626475" cy="117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000000"/>
                </a:solidFill>
                <a:ea typeface="黑体" panose="02010609060101010101" pitchFamily="49" charset="-122"/>
              </a:rPr>
              <a:t>硬盘的操作流程如下： 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000000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</a:rPr>
              <a:t>所有磁头同步寻道（由柱面号控制）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  <a:sym typeface="Wingdings" pitchFamily="2" charset="2"/>
              </a:rPr>
              <a:t>→ 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</a:rPr>
              <a:t>选择磁头（由磁头号控制） 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  <a:sym typeface="Wingdings" pitchFamily="2" charset="2"/>
              </a:rPr>
              <a:t>→ </a:t>
            </a:r>
          </a:p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  <a:sym typeface="Wingdings" pitchFamily="2" charset="2"/>
              </a:rPr>
              <a:t>   被选中磁头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</a:rPr>
              <a:t>等待扇区到达磁头下方（由扇区号控制） 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  <a:sym typeface="Wingdings" pitchFamily="2" charset="2"/>
              </a:rPr>
              <a:t>→ </a:t>
            </a:r>
            <a:r>
              <a:rPr lang="zh-CN" altLang="en-US" sz="1900" b="1">
                <a:solidFill>
                  <a:srgbClr val="0000FF"/>
                </a:solidFill>
                <a:ea typeface="黑体" panose="02010609060101010101" pitchFamily="49" charset="-122"/>
              </a:rPr>
              <a:t>读写该扇区中数据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90C9050-F1B5-1042-8B84-3A7042773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磁盘响应时间计算举例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F26AFB4-B365-A44B-B8D3-D309EF7F2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088" y="741363"/>
            <a:ext cx="8437562" cy="1143000"/>
          </a:xfrm>
          <a:noFill/>
        </p:spPr>
        <p:txBody>
          <a:bodyPr lIns="91440" tIns="45720" rIns="91440" bIns="45720"/>
          <a:lstStyle/>
          <a:p>
            <a:pPr marL="342900" indent="-342900">
              <a:lnSpc>
                <a:spcPct val="110000"/>
              </a:lnSpc>
            </a:pP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假定每个扇区</a:t>
            </a:r>
            <a:r>
              <a:rPr lang="en-US" altLang="zh-CN" sz="1900">
                <a:solidFill>
                  <a:srgbClr val="0000CC"/>
                </a:solidFill>
                <a:ea typeface="黑体" panose="02010609060101010101" pitchFamily="49" charset="-122"/>
              </a:rPr>
              <a:t>512</a:t>
            </a: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字节， 磁盘转速为</a:t>
            </a:r>
            <a:r>
              <a:rPr lang="en-US" altLang="zh-CN" sz="1900">
                <a:solidFill>
                  <a:srgbClr val="0000CC"/>
                </a:solidFill>
                <a:ea typeface="黑体" panose="02010609060101010101" pitchFamily="49" charset="-122"/>
              </a:rPr>
              <a:t>5400 RPM</a:t>
            </a: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，声称寻道时间（最大寻道时间的一半）为</a:t>
            </a:r>
            <a:r>
              <a:rPr lang="en-US" altLang="zh-CN" sz="1900">
                <a:solidFill>
                  <a:srgbClr val="0000CC"/>
                </a:solidFill>
                <a:ea typeface="黑体" panose="02010609060101010101" pitchFamily="49" charset="-122"/>
              </a:rPr>
              <a:t>12 ms, </a:t>
            </a: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数据传输率为</a:t>
            </a:r>
            <a:r>
              <a:rPr lang="en-US" altLang="zh-CN" sz="1900">
                <a:solidFill>
                  <a:srgbClr val="0000CC"/>
                </a:solidFill>
                <a:ea typeface="黑体" panose="02010609060101010101" pitchFamily="49" charset="-122"/>
              </a:rPr>
              <a:t>4 MB/s, </a:t>
            </a: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磁盘控制器开销为</a:t>
            </a:r>
            <a:r>
              <a:rPr lang="en-US" altLang="zh-CN" sz="1900">
                <a:solidFill>
                  <a:srgbClr val="0000CC"/>
                </a:solidFill>
                <a:ea typeface="黑体" panose="02010609060101010101" pitchFamily="49" charset="-122"/>
              </a:rPr>
              <a:t>1 ms, </a:t>
            </a:r>
            <a:r>
              <a:rPr lang="zh-CN" altLang="en-US" sz="1900">
                <a:solidFill>
                  <a:srgbClr val="0000CC"/>
                </a:solidFill>
                <a:ea typeface="黑体" panose="02010609060101010101" pitchFamily="49" charset="-122"/>
              </a:rPr>
              <a:t>不考虑排队时间，则磁盘响应时间为多少？</a:t>
            </a:r>
          </a:p>
        </p:txBody>
      </p:sp>
      <p:sp>
        <p:nvSpPr>
          <p:cNvPr id="610308" name="Text Box 4">
            <a:extLst>
              <a:ext uri="{FF2B5EF4-FFF2-40B4-BE49-F238E27FC236}">
                <a16:creationId xmlns:a16="http://schemas.microsoft.com/office/drawing/2014/main" id="{2DEF0318-84A8-A540-81D5-B73353C06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513" y="4311650"/>
            <a:ext cx="32035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所以，磁盘转速非常重要！</a:t>
            </a:r>
          </a:p>
        </p:txBody>
      </p:sp>
      <p:sp>
        <p:nvSpPr>
          <p:cNvPr id="610309" name="Rectangle 5">
            <a:extLst>
              <a:ext uri="{FF2B5EF4-FFF2-40B4-BE49-F238E27FC236}">
                <a16:creationId xmlns:a16="http://schemas.microsoft.com/office/drawing/2014/main" id="{87C2DF7E-29A4-9B45-BA41-AFDB6DAE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814513"/>
            <a:ext cx="8701088" cy="264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Disk Response Time= Seek time  +  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Rotational Latency</a:t>
            </a: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 + Transfer time</a:t>
            </a:r>
          </a:p>
          <a:p>
            <a:pPr lvl="1" eaLnBrk="1" hangingPunct="1">
              <a:spcBef>
                <a:spcPct val="15000"/>
              </a:spcBef>
            </a:pPr>
            <a:r>
              <a:rPr kumimoji="1" lang="en-US" altLang="zh-CN" sz="1900" b="1">
                <a:solidFill>
                  <a:srgbClr val="0000CC"/>
                </a:solidFill>
                <a:ea typeface="宋体" panose="02010600030101010101" pitchFamily="2" charset="-122"/>
              </a:rPr>
              <a:t>   </a:t>
            </a:r>
            <a:r>
              <a:rPr kumimoji="1" lang="en-US" altLang="zh-CN" sz="1900" b="1">
                <a:solidFill>
                  <a:srgbClr val="009900"/>
                </a:solidFill>
                <a:ea typeface="宋体" panose="02010600030101010101" pitchFamily="2" charset="-122"/>
              </a:rPr>
              <a:t>                                                      + Controller Time  +  Queuing Delay</a:t>
            </a:r>
          </a:p>
          <a:p>
            <a:pPr eaLnBrk="1" hangingPunct="1">
              <a:spcBef>
                <a:spcPct val="15000"/>
              </a:spcBef>
            </a:pP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                       =  12 ms + 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0.5 / 5400 RPM</a:t>
            </a: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+ 0.5 KB / 4 MB/s </a:t>
            </a:r>
            <a:r>
              <a:rPr kumimoji="1" lang="en-US" altLang="zh-CN" sz="1900" b="1">
                <a:solidFill>
                  <a:srgbClr val="009900"/>
                </a:solidFill>
                <a:ea typeface="宋体" panose="02010600030101010101" pitchFamily="2" charset="-122"/>
              </a:rPr>
              <a:t>+ 1 ms +  0</a:t>
            </a:r>
          </a:p>
          <a:p>
            <a:pPr eaLnBrk="1" hangingPunct="1">
              <a:spcBef>
                <a:spcPct val="15000"/>
              </a:spcBef>
            </a:pP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                       =  12  ms +  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0.5 / 90 RPS</a:t>
            </a: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+ 0.125 / 1024 s </a:t>
            </a:r>
            <a:r>
              <a:rPr kumimoji="1" lang="en-US" altLang="zh-CN" sz="1900" b="1">
                <a:solidFill>
                  <a:srgbClr val="009900"/>
                </a:solidFill>
                <a:ea typeface="宋体" panose="02010600030101010101" pitchFamily="2" charset="-122"/>
              </a:rPr>
              <a:t>+ 1 ms +  0</a:t>
            </a:r>
          </a:p>
          <a:p>
            <a:pPr eaLnBrk="1" hangingPunct="1">
              <a:spcBef>
                <a:spcPct val="15000"/>
              </a:spcBef>
            </a:pP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                       =  12 ms +  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5.5 ms</a:t>
            </a: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+ 0.1 ms </a:t>
            </a:r>
            <a:r>
              <a:rPr kumimoji="1" lang="en-US" altLang="zh-CN" sz="1900" b="1">
                <a:solidFill>
                  <a:srgbClr val="009900"/>
                </a:solidFill>
                <a:ea typeface="宋体" panose="02010600030101010101" pitchFamily="2" charset="-122"/>
              </a:rPr>
              <a:t>+ 1 ms +  0 ms</a:t>
            </a:r>
          </a:p>
          <a:p>
            <a:pPr eaLnBrk="1" hangingPunct="1">
              <a:spcBef>
                <a:spcPct val="15000"/>
              </a:spcBef>
            </a:pPr>
            <a:r>
              <a:rPr kumimoji="1" lang="en-US" altLang="zh-CN" sz="1900" b="1">
                <a:solidFill>
                  <a:srgbClr val="000000"/>
                </a:solidFill>
                <a:ea typeface="宋体" panose="02010600030101010101" pitchFamily="2" charset="-122"/>
              </a:rPr>
              <a:t>                        = 18.6 ms</a:t>
            </a:r>
          </a:p>
          <a:p>
            <a:pPr eaLnBrk="1" hangingPunct="1">
              <a:spcBef>
                <a:spcPct val="15000"/>
              </a:spcBef>
            </a:pPr>
            <a:r>
              <a:rPr kumimoji="1" lang="zh-CN" altLang="en-US" sz="1800" b="1">
                <a:solidFill>
                  <a:srgbClr val="CC0000"/>
                </a:solidFill>
                <a:ea typeface="黑体" panose="02010609060101010101" pitchFamily="49" charset="-122"/>
              </a:rPr>
              <a:t>如果实际的寻道时间只有</a:t>
            </a:r>
            <a:r>
              <a:rPr kumimoji="1" lang="en-US" altLang="zh-CN" sz="1800" b="1">
                <a:solidFill>
                  <a:srgbClr val="CC0000"/>
                </a:solidFill>
                <a:ea typeface="黑体" panose="02010609060101010101" pitchFamily="49" charset="-122"/>
              </a:rPr>
              <a:t>1/3</a:t>
            </a:r>
            <a:r>
              <a:rPr kumimoji="1" lang="zh-CN" altLang="en-US" sz="1800" b="1">
                <a:solidFill>
                  <a:srgbClr val="CC0000"/>
                </a:solidFill>
                <a:ea typeface="黑体" panose="02010609060101010101" pitchFamily="49" charset="-122"/>
              </a:rPr>
              <a:t>的话，则总时间变为</a:t>
            </a:r>
            <a:r>
              <a:rPr kumimoji="1" lang="en-US" altLang="zh-CN" sz="1800" b="1">
                <a:solidFill>
                  <a:srgbClr val="CC0000"/>
                </a:solidFill>
                <a:ea typeface="黑体" panose="02010609060101010101" pitchFamily="49" charset="-122"/>
              </a:rPr>
              <a:t>10.6ms</a:t>
            </a:r>
            <a:r>
              <a:rPr kumimoji="1" lang="zh-CN" altLang="en-US" sz="1800" b="1">
                <a:solidFill>
                  <a:srgbClr val="CC0000"/>
                </a:solidFill>
                <a:ea typeface="黑体" panose="02010609060101010101" pitchFamily="49" charset="-122"/>
              </a:rPr>
              <a:t>，这样旋转等待时间就占了近</a:t>
            </a:r>
            <a:r>
              <a:rPr kumimoji="1" lang="en-US" altLang="zh-CN" sz="1800" b="1">
                <a:solidFill>
                  <a:srgbClr val="CC0000"/>
                </a:solidFill>
                <a:ea typeface="黑体" panose="02010609060101010101" pitchFamily="49" charset="-122"/>
              </a:rPr>
              <a:t>50%</a:t>
            </a:r>
            <a:r>
              <a:rPr kumimoji="1" lang="zh-CN" altLang="en-US" sz="1800" b="1">
                <a:solidFill>
                  <a:srgbClr val="CC0000"/>
                </a:solidFill>
                <a:ea typeface="黑体" panose="02010609060101010101" pitchFamily="49" charset="-122"/>
              </a:rPr>
              <a:t>！</a:t>
            </a:r>
            <a:endParaRPr kumimoji="1" lang="en-US" altLang="zh-CN" sz="1800" b="1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610310" name="Text Box 6">
            <a:extLst>
              <a:ext uri="{FF2B5EF4-FFF2-40B4-BE49-F238E27FC236}">
                <a16:creationId xmlns:a16="http://schemas.microsoft.com/office/drawing/2014/main" id="{083B77C5-E5CC-7F4B-AA37-3E613C2CB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435475"/>
            <a:ext cx="365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CC"/>
                </a:solidFill>
                <a:ea typeface="华文行楷" panose="02010800040101010101" pitchFamily="2" charset="-122"/>
              </a:rPr>
              <a:t>12/3+5.5+0.1+1=10.6ms</a:t>
            </a:r>
          </a:p>
        </p:txBody>
      </p:sp>
      <p:sp>
        <p:nvSpPr>
          <p:cNvPr id="610311" name="Line 7">
            <a:extLst>
              <a:ext uri="{FF2B5EF4-FFF2-40B4-BE49-F238E27FC236}">
                <a16:creationId xmlns:a16="http://schemas.microsoft.com/office/drawing/2014/main" id="{11362CE7-0E86-9F40-BB24-02DFAA54C8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73600" y="4154488"/>
            <a:ext cx="450850" cy="3476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0312" name="Text Box 8">
            <a:extLst>
              <a:ext uri="{FF2B5EF4-FFF2-40B4-BE49-F238E27FC236}">
                <a16:creationId xmlns:a16="http://schemas.microsoft.com/office/drawing/2014/main" id="{CFB9C50A-62F9-B74D-91FC-323F5BF09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4876800"/>
            <a:ext cx="4892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为什么实际的寻道时间可能只有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1/3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610313" name="Text Box 9">
            <a:extLst>
              <a:ext uri="{FF2B5EF4-FFF2-40B4-BE49-F238E27FC236}">
                <a16:creationId xmlns:a16="http://schemas.microsoft.com/office/drawing/2014/main" id="{B44C5972-B4B5-204D-A489-66D514247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5313363"/>
            <a:ext cx="8388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D1390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访问局部性使得每次磁盘访问大多在局部几个磁道，实际寻道时间变少！</a:t>
            </a:r>
          </a:p>
        </p:txBody>
      </p:sp>
      <p:sp>
        <p:nvSpPr>
          <p:cNvPr id="610314" name="Text Box 10">
            <a:extLst>
              <a:ext uri="{FF2B5EF4-FFF2-40B4-BE49-F238E27FC236}">
                <a16:creationId xmlns:a16="http://schemas.microsoft.com/office/drawing/2014/main" id="{776EFE84-B59E-0A46-8021-2A1ADED8D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880100"/>
            <a:ext cx="368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C012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能否算出每道有多少扇区？</a:t>
            </a:r>
          </a:p>
        </p:txBody>
      </p:sp>
      <p:sp>
        <p:nvSpPr>
          <p:cNvPr id="610315" name="Text Box 11">
            <a:extLst>
              <a:ext uri="{FF2B5EF4-FFF2-40B4-BE49-F238E27FC236}">
                <a16:creationId xmlns:a16="http://schemas.microsoft.com/office/drawing/2014/main" id="{6A6F76C7-9091-4448-8464-97C32CD23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5903913"/>
            <a:ext cx="4572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900" b="1">
                <a:solidFill>
                  <a:srgbClr val="000000"/>
                </a:solidFill>
                <a:ea typeface="黑体" panose="02010609060101010101" pitchFamily="49" charset="-122"/>
              </a:rPr>
              <a:t>4MBx60 / (512Bx5400) ≈ 87</a:t>
            </a:r>
            <a:r>
              <a:rPr lang="zh-CN" altLang="en-US" sz="1900" b="1">
                <a:solidFill>
                  <a:srgbClr val="000000"/>
                </a:solidFill>
                <a:ea typeface="黑体" panose="02010609060101010101" pitchFamily="49" charset="-122"/>
              </a:rPr>
              <a:t>个扇区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1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8" grpId="0"/>
      <p:bldP spid="610309" grpId="0"/>
      <p:bldP spid="610310" grpId="0"/>
      <p:bldP spid="610312" grpId="0"/>
      <p:bldP spid="610313" grpId="0"/>
      <p:bldP spid="610314" grpId="0"/>
      <p:bldP spid="6103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A3850AA-9F3B-164A-A29C-D3D6529B5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168275"/>
            <a:ext cx="7772400" cy="422275"/>
          </a:xfrm>
          <a:noFill/>
        </p:spPr>
        <p:txBody>
          <a:bodyPr anchor="ctr"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硬盘存储器的组成</a:t>
            </a:r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60A30AEE-0C4A-694A-B145-DABF22AA5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363" y="715963"/>
            <a:ext cx="8923337" cy="1903412"/>
          </a:xfrm>
          <a:noFill/>
        </p:spPr>
        <p:txBody>
          <a:bodyPr/>
          <a:lstStyle/>
          <a:p>
            <a:pPr marL="342900" indent="-342900" algn="just"/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硬盘存储器的基本组成</a:t>
            </a:r>
          </a:p>
          <a:p>
            <a:pPr marL="742950" lvl="1" indent="-285750" algn="just"/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磁记录介质：用来保存信息</a:t>
            </a:r>
          </a:p>
          <a:p>
            <a:pPr marL="742950" lvl="1" indent="-285750" algn="just"/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磁盘驱动器：包括读写电路、读\写转换开关、读写磁头与磁头定位伺服系统等</a:t>
            </a:r>
          </a:p>
          <a:p>
            <a:pPr marL="742950" lvl="1" indent="-285750" algn="just"/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磁盘控制器：包括控制逻辑、时序电路、“并→串”转换和“串→并”转换电路等。（用于连接主机与盘驱动器）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3BC33A8D-56EF-DF44-AE1B-00F4D4720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2376488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09" name="Object 5">
            <a:extLst>
              <a:ext uri="{FF2B5EF4-FFF2-40B4-BE49-F238E27FC236}">
                <a16:creationId xmlns:a16="http://schemas.microsoft.com/office/drawing/2014/main" id="{913618E8-7CAA-D748-9A4D-E3B0201AD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888" y="3116263"/>
          <a:ext cx="7545387" cy="337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2" r:id="rId3" imgW="20739100" imgH="12636500" progId="Visio.Drawing.5">
                  <p:embed/>
                </p:oleObj>
              </mc:Choice>
              <mc:Fallback>
                <p:oleObj r:id="rId3" imgW="20739100" imgH="12636500" progId="Visio.Drawing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3116263"/>
                        <a:ext cx="7545387" cy="337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Freeform 6">
            <a:extLst>
              <a:ext uri="{FF2B5EF4-FFF2-40B4-BE49-F238E27FC236}">
                <a16:creationId xmlns:a16="http://schemas.microsoft.com/office/drawing/2014/main" id="{826BFEE4-643B-9F4D-B0DB-C9E19118CB74}"/>
              </a:ext>
            </a:extLst>
          </p:cNvPr>
          <p:cNvSpPr>
            <a:spLocks/>
          </p:cNvSpPr>
          <p:nvPr/>
        </p:nvSpPr>
        <p:spPr bwMode="auto">
          <a:xfrm>
            <a:off x="147638" y="4083050"/>
            <a:ext cx="8837612" cy="768350"/>
          </a:xfrm>
          <a:custGeom>
            <a:avLst/>
            <a:gdLst>
              <a:gd name="T0" fmla="*/ 0 w 5186"/>
              <a:gd name="T1" fmla="*/ 2147483646 h 484"/>
              <a:gd name="T2" fmla="*/ 2147483646 w 5186"/>
              <a:gd name="T3" fmla="*/ 2147483646 h 484"/>
              <a:gd name="T4" fmla="*/ 2147483646 w 5186"/>
              <a:gd name="T5" fmla="*/ 2147483646 h 484"/>
              <a:gd name="T6" fmla="*/ 2147483646 w 5186"/>
              <a:gd name="T7" fmla="*/ 2147483646 h 484"/>
              <a:gd name="T8" fmla="*/ 2147483646 w 5186"/>
              <a:gd name="T9" fmla="*/ 2147483646 h 484"/>
              <a:gd name="T10" fmla="*/ 2147483646 w 5186"/>
              <a:gd name="T11" fmla="*/ 2147483646 h 484"/>
              <a:gd name="T12" fmla="*/ 2147483646 w 5186"/>
              <a:gd name="T13" fmla="*/ 2147483646 h 484"/>
              <a:gd name="T14" fmla="*/ 2147483646 w 5186"/>
              <a:gd name="T15" fmla="*/ 2147483646 h 484"/>
              <a:gd name="T16" fmla="*/ 2147483646 w 5186"/>
              <a:gd name="T17" fmla="*/ 2147483646 h 4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186" h="484">
                <a:moveTo>
                  <a:pt x="0" y="325"/>
                </a:moveTo>
                <a:cubicBezTo>
                  <a:pt x="207" y="324"/>
                  <a:pt x="414" y="323"/>
                  <a:pt x="661" y="308"/>
                </a:cubicBezTo>
                <a:cubicBezTo>
                  <a:pt x="908" y="293"/>
                  <a:pt x="1242" y="277"/>
                  <a:pt x="1483" y="232"/>
                </a:cubicBezTo>
                <a:cubicBezTo>
                  <a:pt x="1724" y="187"/>
                  <a:pt x="1900" y="74"/>
                  <a:pt x="2110" y="37"/>
                </a:cubicBezTo>
                <a:cubicBezTo>
                  <a:pt x="2320" y="0"/>
                  <a:pt x="2557" y="8"/>
                  <a:pt x="2745" y="12"/>
                </a:cubicBezTo>
                <a:cubicBezTo>
                  <a:pt x="2933" y="16"/>
                  <a:pt x="3085" y="1"/>
                  <a:pt x="3236" y="62"/>
                </a:cubicBezTo>
                <a:cubicBezTo>
                  <a:pt x="3387" y="123"/>
                  <a:pt x="3366" y="308"/>
                  <a:pt x="3651" y="376"/>
                </a:cubicBezTo>
                <a:cubicBezTo>
                  <a:pt x="3936" y="444"/>
                  <a:pt x="4708" y="454"/>
                  <a:pt x="4947" y="469"/>
                </a:cubicBezTo>
                <a:cubicBezTo>
                  <a:pt x="5186" y="484"/>
                  <a:pt x="5058" y="466"/>
                  <a:pt x="5083" y="469"/>
                </a:cubicBezTo>
              </a:path>
            </a:pathLst>
          </a:custGeom>
          <a:noFill/>
          <a:ln w="38100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3335" name="Text Box 7">
            <a:extLst>
              <a:ext uri="{FF2B5EF4-FFF2-40B4-BE49-F238E27FC236}">
                <a16:creationId xmlns:a16="http://schemas.microsoft.com/office/drawing/2014/main" id="{1FFFDC56-73A2-7E4E-A172-07A07E38C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5165725"/>
            <a:ext cx="1868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D1390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磁盘驱动器</a:t>
            </a:r>
          </a:p>
        </p:txBody>
      </p:sp>
      <p:sp>
        <p:nvSpPr>
          <p:cNvPr id="483336" name="Text Box 8">
            <a:extLst>
              <a:ext uri="{FF2B5EF4-FFF2-40B4-BE49-F238E27FC236}">
                <a16:creationId xmlns:a16="http://schemas.microsoft.com/office/drawing/2014/main" id="{BC34C250-C6B4-284C-92CA-5542EC266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8488" y="2997200"/>
            <a:ext cx="1868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D1390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磁盘控制器</a:t>
            </a:r>
          </a:p>
        </p:txBody>
      </p:sp>
      <p:sp>
        <p:nvSpPr>
          <p:cNvPr id="483337" name="Text Box 9">
            <a:extLst>
              <a:ext uri="{FF2B5EF4-FFF2-40B4-BE49-F238E27FC236}">
                <a16:creationId xmlns:a16="http://schemas.microsoft.com/office/drawing/2014/main" id="{7322A3BB-06C6-2A47-87A1-857DC8A66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6196013"/>
            <a:ext cx="50800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D1390F"/>
                </a:solidFill>
                <a:ea typeface="黑体" panose="02010609060101010101" pitchFamily="49" charset="-122"/>
              </a:rPr>
              <a:t>硬盘存储器的</a:t>
            </a:r>
            <a:r>
              <a:rPr lang="zh-CN" altLang="en-US" sz="200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简化</a:t>
            </a:r>
            <a:r>
              <a:rPr lang="zh-CN" altLang="en-US" sz="2000">
                <a:solidFill>
                  <a:srgbClr val="D1390F"/>
                </a:solidFill>
                <a:ea typeface="黑体" panose="02010609060101010101" pitchFamily="49" charset="-122"/>
              </a:rPr>
              <a:t>逻辑结构</a:t>
            </a:r>
          </a:p>
        </p:txBody>
      </p:sp>
      <p:sp>
        <p:nvSpPr>
          <p:cNvPr id="483338" name="Text Box 10">
            <a:extLst>
              <a:ext uri="{FF2B5EF4-FFF2-40B4-BE49-F238E27FC236}">
                <a16:creationId xmlns:a16="http://schemas.microsoft.com/office/drawing/2014/main" id="{1BC2CBA3-8482-D547-A4CC-3E115C855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5" y="2338388"/>
            <a:ext cx="4556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还包括数据缓存器、控制状态寄存器等。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5" grpId="0"/>
      <p:bldP spid="483336" grpId="0"/>
      <p:bldP spid="48333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FEC6CFBB-04F6-0A45-BBCC-89E8F4D11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71450"/>
            <a:ext cx="7226300" cy="422275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硬盘驱动器的逻辑结构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3CEF758-DD09-014D-9282-9FB80209B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2347913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963E7A4D-2970-6940-B628-4AF49F5536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613" y="820738"/>
          <a:ext cx="8653462" cy="532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4" r:id="rId3" imgW="25806400" imgH="12966700" progId="Visio.Drawing.5">
                  <p:embed/>
                </p:oleObj>
              </mc:Choice>
              <mc:Fallback>
                <p:oleObj r:id="rId3" imgW="25806400" imgH="12966700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820738"/>
                        <a:ext cx="8653462" cy="532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 Box 5">
            <a:extLst>
              <a:ext uri="{FF2B5EF4-FFF2-40B4-BE49-F238E27FC236}">
                <a16:creationId xmlns:a16="http://schemas.microsoft.com/office/drawing/2014/main" id="{6E53C133-FB0D-244B-A163-5A96384D0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" y="5719763"/>
            <a:ext cx="6094412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 b="1">
                <a:solidFill>
                  <a:srgbClr val="D1390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与磁盘控制器之间的接口</a:t>
            </a:r>
          </a:p>
        </p:txBody>
      </p:sp>
      <p:sp>
        <p:nvSpPr>
          <p:cNvPr id="73734" name="AutoShape 6">
            <a:extLst>
              <a:ext uri="{FF2B5EF4-FFF2-40B4-BE49-F238E27FC236}">
                <a16:creationId xmlns:a16="http://schemas.microsoft.com/office/drawing/2014/main" id="{449F3D7F-8CE2-EA43-AA38-25B289146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5181600"/>
            <a:ext cx="536575" cy="82708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6638 h 21600"/>
              <a:gd name="T20" fmla="*/ 18478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356" y="0"/>
                </a:moveTo>
                <a:lnTo>
                  <a:pt x="11111" y="9238"/>
                </a:lnTo>
                <a:lnTo>
                  <a:pt x="14233" y="9238"/>
                </a:lnTo>
                <a:lnTo>
                  <a:pt x="14233" y="16638"/>
                </a:lnTo>
                <a:lnTo>
                  <a:pt x="0" y="16638"/>
                </a:lnTo>
                <a:lnTo>
                  <a:pt x="0" y="21600"/>
                </a:lnTo>
                <a:lnTo>
                  <a:pt x="18478" y="21600"/>
                </a:lnTo>
                <a:lnTo>
                  <a:pt x="18478" y="9238"/>
                </a:lnTo>
                <a:lnTo>
                  <a:pt x="21600" y="9238"/>
                </a:lnTo>
                <a:lnTo>
                  <a:pt x="16356" y="0"/>
                </a:lnTo>
                <a:close/>
              </a:path>
            </a:pathLst>
          </a:custGeom>
          <a:noFill/>
          <a:ln w="12700">
            <a:solidFill>
              <a:srgbClr val="C9012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2359" name="Text Box 7">
            <a:extLst>
              <a:ext uri="{FF2B5EF4-FFF2-40B4-BE49-F238E27FC236}">
                <a16:creationId xmlns:a16="http://schemas.microsoft.com/office/drawing/2014/main" id="{A8DBDA77-0FC3-8B46-8F92-89617AE82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5338763"/>
            <a:ext cx="494823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5000"/>
              </a:spcBef>
            </a:pPr>
            <a:r>
              <a:rPr lang="zh-CN" altLang="en-US" sz="1900" b="1">
                <a:solidFill>
                  <a:srgbClr val="FC01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如何定位磁盘上的数据（磁盘地址格式）？</a:t>
            </a:r>
          </a:p>
          <a:p>
            <a:pPr>
              <a:lnSpc>
                <a:spcPct val="130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柱面</a:t>
            </a:r>
            <a:r>
              <a:rPr lang="en-US" altLang="zh-CN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磁道</a:t>
            </a:r>
            <a:r>
              <a:rPr lang="en-US" altLang="zh-CN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号、磁头（盘面）号、扇区号</a:t>
            </a:r>
          </a:p>
          <a:p>
            <a:pPr>
              <a:lnSpc>
                <a:spcPct val="130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FC01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操作过程？</a:t>
            </a:r>
          </a:p>
        </p:txBody>
      </p:sp>
      <p:sp>
        <p:nvSpPr>
          <p:cNvPr id="612360" name="Text Box 8">
            <a:extLst>
              <a:ext uri="{FF2B5EF4-FFF2-40B4-BE49-F238E27FC236}">
                <a16:creationId xmlns:a16="http://schemas.microsoft.com/office/drawing/2014/main" id="{5FAA7984-3DEF-314A-8A55-90FD5B245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863" y="6121400"/>
            <a:ext cx="2379662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15000"/>
              </a:spcBef>
            </a:pPr>
            <a:r>
              <a:rPr lang="zh-CN" altLang="en-US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寻道、旋转、读</a:t>
            </a:r>
            <a:r>
              <a:rPr lang="en-US" altLang="zh-CN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900" b="1">
                <a:solidFill>
                  <a:srgbClr val="063D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2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2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2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2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ADAF404-EF6F-924B-B43B-3835139D4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磁盘存储器的连接 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1F03E9B6-03D5-FA47-B00E-E67221652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74756" name="Picture 4">
            <a:extLst>
              <a:ext uri="{FF2B5EF4-FFF2-40B4-BE49-F238E27FC236}">
                <a16:creationId xmlns:a16="http://schemas.microsoft.com/office/drawing/2014/main" id="{4FD97EEF-993E-1B43-ACE1-1C2A7B784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777875"/>
            <a:ext cx="8386763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277" name="Rectangle 5">
            <a:extLst>
              <a:ext uri="{FF2B5EF4-FFF2-40B4-BE49-F238E27FC236}">
                <a16:creationId xmlns:a16="http://schemas.microsoft.com/office/drawing/2014/main" id="{D4865E65-D6E6-4E4A-95DC-0357F8A71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903288"/>
            <a:ext cx="554672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9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磁盘控制器连接在</a:t>
            </a:r>
            <a:r>
              <a:rPr lang="en-US" altLang="zh-CN" sz="19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9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总线上，</a:t>
            </a:r>
            <a:r>
              <a:rPr lang="en-US" altLang="zh-CN" sz="19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9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总线与其他总线（系统总线、存储器总线）之间用桥接器连接</a:t>
            </a:r>
            <a:endParaRPr lang="zh-CN" altLang="en-US" sz="1900" b="1">
              <a:solidFill>
                <a:srgbClr val="063DE8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278" name="Rectangle 6">
            <a:extLst>
              <a:ext uri="{FF2B5EF4-FFF2-40B4-BE49-F238E27FC236}">
                <a16:creationId xmlns:a16="http://schemas.microsoft.com/office/drawing/2014/main" id="{69D9F432-540B-6049-BAB6-B641325F4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5384800"/>
            <a:ext cx="8793162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磁盘的最小读写单位是扇区，因此，磁盘按</a:t>
            </a:r>
            <a:r>
              <a:rPr lang="zh-CN" altLang="en-US" sz="20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成批数据交换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方式进行读写，采用</a:t>
            </a:r>
            <a:r>
              <a:rPr lang="zh-CN" altLang="en-US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直接存储器存取（</a:t>
            </a:r>
            <a:r>
              <a:rPr lang="en-US" altLang="zh-CN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Memory Access</a:t>
            </a:r>
            <a:r>
              <a:rPr lang="zh-CN" altLang="en-US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）方式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进行数据输入输出，需用专门的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接口来控制外设与主存间直接数据交换，数据不通过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。通常把专门用来控制总线进行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传送的接口硬件称为</a:t>
            </a:r>
            <a:r>
              <a:rPr lang="en-US" altLang="zh-CN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>
                <a:solidFill>
                  <a:srgbClr val="FC0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endParaRPr lang="zh-CN" altLang="en-US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7" grpId="0"/>
      <p:bldP spid="82227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7">
            <a:extLst>
              <a:ext uri="{FF2B5EF4-FFF2-40B4-BE49-F238E27FC236}">
                <a16:creationId xmlns:a16="http://schemas.microsoft.com/office/drawing/2014/main" id="{8BA47C0D-0DF4-5249-A38D-41C71B41E1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1475" y="96838"/>
            <a:ext cx="7591425" cy="569912"/>
          </a:xfrm>
        </p:spPr>
        <p:txBody>
          <a:bodyPr lIns="91440" tIns="45720" rIns="91440" bIns="45720" anchor="ctr"/>
          <a:lstStyle/>
          <a:p>
            <a:r>
              <a:rPr lang="zh-CN" altLang="en-US">
                <a:latin typeface="黑体" panose="02010609060101010101" pitchFamily="49" charset="-122"/>
              </a:rPr>
              <a:t>读一个磁盘扇区</a:t>
            </a:r>
            <a:r>
              <a:rPr lang="en-US" altLang="zh-CN">
                <a:latin typeface="黑体" panose="02010609060101010101" pitchFamily="49" charset="-122"/>
              </a:rPr>
              <a:t>–</a:t>
            </a:r>
            <a:r>
              <a:rPr lang="zh-CN" altLang="en-US">
                <a:latin typeface="黑体" panose="02010609060101010101" pitchFamily="49" charset="-122"/>
              </a:rPr>
              <a:t>第一步</a:t>
            </a:r>
          </a:p>
        </p:txBody>
      </p:sp>
      <p:grpSp>
        <p:nvGrpSpPr>
          <p:cNvPr id="75779" name="Group 46">
            <a:extLst>
              <a:ext uri="{FF2B5EF4-FFF2-40B4-BE49-F238E27FC236}">
                <a16:creationId xmlns:a16="http://schemas.microsoft.com/office/drawing/2014/main" id="{845B56BE-D225-A743-9F63-4222C092004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000125"/>
            <a:ext cx="8489950" cy="5656263"/>
            <a:chOff x="144" y="630"/>
            <a:chExt cx="4416" cy="3563"/>
          </a:xfrm>
        </p:grpSpPr>
        <p:sp>
          <p:nvSpPr>
            <p:cNvPr id="75781" name="Rectangle 4">
              <a:extLst>
                <a:ext uri="{FF2B5EF4-FFF2-40B4-BE49-F238E27FC236}">
                  <a16:creationId xmlns:a16="http://schemas.microsoft.com/office/drawing/2014/main" id="{8BEE5E03-E0EC-BF4A-8EA0-D1D4389CB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793"/>
              <a:ext cx="573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75782" name="AutoShape 5">
              <a:extLst>
                <a:ext uri="{FF2B5EF4-FFF2-40B4-BE49-F238E27FC236}">
                  <a16:creationId xmlns:a16="http://schemas.microsoft.com/office/drawing/2014/main" id="{94CB9A13-487D-C947-A2E8-3F0618C7D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3" y="1878"/>
              <a:ext cx="940" cy="336"/>
            </a:xfrm>
            <a:prstGeom prst="leftRightArrow">
              <a:avLst>
                <a:gd name="adj1" fmla="val 50000"/>
                <a:gd name="adj2" fmla="val 5595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3" name="Rectangle 6">
              <a:extLst>
                <a:ext uri="{FF2B5EF4-FFF2-40B4-BE49-F238E27FC236}">
                  <a16:creationId xmlns:a16="http://schemas.microsoft.com/office/drawing/2014/main" id="{8020B6EB-13F0-BF4E-AF10-805245FFB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1898"/>
              <a:ext cx="573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4" name="AutoShape 7">
              <a:extLst>
                <a:ext uri="{FF2B5EF4-FFF2-40B4-BE49-F238E27FC236}">
                  <a16:creationId xmlns:a16="http://schemas.microsoft.com/office/drawing/2014/main" id="{0B56DC00-CC6A-0242-AA48-2FBD8A549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1878"/>
              <a:ext cx="915" cy="336"/>
            </a:xfrm>
            <a:prstGeom prst="leftRightArrow">
              <a:avLst>
                <a:gd name="adj1" fmla="val 50000"/>
                <a:gd name="adj2" fmla="val 5446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5" name="Rectangle 8">
              <a:extLst>
                <a:ext uri="{FF2B5EF4-FFF2-40B4-BE49-F238E27FC236}">
                  <a16:creationId xmlns:a16="http://schemas.microsoft.com/office/drawing/2014/main" id="{8650BB2A-750D-1844-8CA6-C657373E7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062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6" name="Rectangle 9">
              <a:extLst>
                <a:ext uri="{FF2B5EF4-FFF2-40B4-BE49-F238E27FC236}">
                  <a16:creationId xmlns:a16="http://schemas.microsoft.com/office/drawing/2014/main" id="{1923879E-C883-3442-821B-7FB8F267C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158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7" name="Rectangle 10">
              <a:extLst>
                <a:ext uri="{FF2B5EF4-FFF2-40B4-BE49-F238E27FC236}">
                  <a16:creationId xmlns:a16="http://schemas.microsoft.com/office/drawing/2014/main" id="{621BF767-033C-C84C-B1C5-D58BB17A7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254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8" name="Rectangle 11">
              <a:extLst>
                <a:ext uri="{FF2B5EF4-FFF2-40B4-BE49-F238E27FC236}">
                  <a16:creationId xmlns:a16="http://schemas.microsoft.com/office/drawing/2014/main" id="{156013CA-106A-9C4C-A674-6D6856EC3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50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9" name="Rectangle 12">
              <a:extLst>
                <a:ext uri="{FF2B5EF4-FFF2-40B4-BE49-F238E27FC236}">
                  <a16:creationId xmlns:a16="http://schemas.microsoft.com/office/drawing/2014/main" id="{9CBDAC53-75E2-3A41-BFCA-D81F5AEAB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446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0" name="AutoShape 13">
              <a:extLst>
                <a:ext uri="{FF2B5EF4-FFF2-40B4-BE49-F238E27FC236}">
                  <a16:creationId xmlns:a16="http://schemas.microsoft.com/office/drawing/2014/main" id="{57765F96-3019-0649-A2FD-9FFCDE51A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" y="1062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1" name="AutoShape 14">
              <a:extLst>
                <a:ext uri="{FF2B5EF4-FFF2-40B4-BE49-F238E27FC236}">
                  <a16:creationId xmlns:a16="http://schemas.microsoft.com/office/drawing/2014/main" id="{DD1F9648-8CB2-AB44-ACFF-9C1FFD8E4F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20" y="1302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2" name="Rectangle 15">
              <a:extLst>
                <a:ext uri="{FF2B5EF4-FFF2-40B4-BE49-F238E27FC236}">
                  <a16:creationId xmlns:a16="http://schemas.microsoft.com/office/drawing/2014/main" id="{5EECF513-4BFD-BB4F-8B1B-233DCCB47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977"/>
              <a:ext cx="336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75793" name="Text Box 16">
              <a:extLst>
                <a:ext uri="{FF2B5EF4-FFF2-40B4-BE49-F238E27FC236}">
                  <a16:creationId xmlns:a16="http://schemas.microsoft.com/office/drawing/2014/main" id="{E52CB6F3-9588-D34C-AFDB-53FD59733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" y="870"/>
              <a:ext cx="59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Register file</a:t>
              </a:r>
            </a:p>
          </p:txBody>
        </p:sp>
        <p:sp>
          <p:nvSpPr>
            <p:cNvPr id="75794" name="AutoShape 17">
              <a:extLst>
                <a:ext uri="{FF2B5EF4-FFF2-40B4-BE49-F238E27FC236}">
                  <a16:creationId xmlns:a16="http://schemas.microsoft.com/office/drawing/2014/main" id="{1AD3969A-44C1-A34F-B8EF-6FBF16FB7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590"/>
              <a:ext cx="384" cy="288"/>
            </a:xfrm>
            <a:prstGeom prst="upDownArrow">
              <a:avLst>
                <a:gd name="adj1" fmla="val 50000"/>
                <a:gd name="adj2" fmla="val 2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5" name="Rectangle 18">
              <a:extLst>
                <a:ext uri="{FF2B5EF4-FFF2-40B4-BE49-F238E27FC236}">
                  <a16:creationId xmlns:a16="http://schemas.microsoft.com/office/drawing/2014/main" id="{9DC34C33-E7AA-EC4F-A582-37B94B115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822"/>
              <a:ext cx="1872" cy="1536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6" name="Text Box 19">
              <a:extLst>
                <a:ext uri="{FF2B5EF4-FFF2-40B4-BE49-F238E27FC236}">
                  <a16:creationId xmlns:a16="http://schemas.microsoft.com/office/drawing/2014/main" id="{E7B2BBAE-885A-7042-80EB-FFA3E8FF6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630"/>
              <a:ext cx="4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CPU chip</a:t>
              </a:r>
            </a:p>
          </p:txBody>
        </p:sp>
        <p:sp>
          <p:nvSpPr>
            <p:cNvPr id="75797" name="AutoShape 20">
              <a:extLst>
                <a:ext uri="{FF2B5EF4-FFF2-40B4-BE49-F238E27FC236}">
                  <a16:creationId xmlns:a16="http://schemas.microsoft.com/office/drawing/2014/main" id="{3D0C6D89-5C05-6D42-80BF-0C3B3A4DB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8" y="2310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8" name="AutoShape 21">
              <a:extLst>
                <a:ext uri="{FF2B5EF4-FFF2-40B4-BE49-F238E27FC236}">
                  <a16:creationId xmlns:a16="http://schemas.microsoft.com/office/drawing/2014/main" id="{B4B6F782-FE56-E14D-A154-BA19CA77C3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64" y="2774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9" name="Rectangle 22">
              <a:extLst>
                <a:ext uri="{FF2B5EF4-FFF2-40B4-BE49-F238E27FC236}">
                  <a16:creationId xmlns:a16="http://schemas.microsoft.com/office/drawing/2014/main" id="{9A289EF9-1128-4E44-8118-E4BFC6CC4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3241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 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5800" name="AutoShape 23">
              <a:extLst>
                <a:ext uri="{FF2B5EF4-FFF2-40B4-BE49-F238E27FC236}">
                  <a16:creationId xmlns:a16="http://schemas.microsoft.com/office/drawing/2014/main" id="{29766AF7-9D8F-5142-ABC0-A93352BDDF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96" y="2774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01" name="Rectangle 24">
              <a:extLst>
                <a:ext uri="{FF2B5EF4-FFF2-40B4-BE49-F238E27FC236}">
                  <a16:creationId xmlns:a16="http://schemas.microsoft.com/office/drawing/2014/main" id="{02ED16C2-2B44-FC44-B005-EAF0FF56E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3241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Graphics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adapter</a:t>
              </a:r>
            </a:p>
          </p:txBody>
        </p:sp>
        <p:sp>
          <p:nvSpPr>
            <p:cNvPr id="75802" name="AutoShape 25">
              <a:extLst>
                <a:ext uri="{FF2B5EF4-FFF2-40B4-BE49-F238E27FC236}">
                  <a16:creationId xmlns:a16="http://schemas.microsoft.com/office/drawing/2014/main" id="{A3B27F21-2628-914F-BB3F-FD5E773CB0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0" y="2774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03" name="Rectangle 26">
              <a:extLst>
                <a:ext uri="{FF2B5EF4-FFF2-40B4-BE49-F238E27FC236}">
                  <a16:creationId xmlns:a16="http://schemas.microsoft.com/office/drawing/2014/main" id="{16ACD434-A886-3E46-AB09-BE25FE4C0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3185"/>
              <a:ext cx="720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USB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5804" name="Line 27">
              <a:extLst>
                <a:ext uri="{FF2B5EF4-FFF2-40B4-BE49-F238E27FC236}">
                  <a16:creationId xmlns:a16="http://schemas.microsoft.com/office/drawing/2014/main" id="{5B05CC3D-2F4D-C849-BFB7-B3628EE99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" y="355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05" name="Line 28">
              <a:extLst>
                <a:ext uri="{FF2B5EF4-FFF2-40B4-BE49-F238E27FC236}">
                  <a16:creationId xmlns:a16="http://schemas.microsoft.com/office/drawing/2014/main" id="{CCBF4641-6AB7-FE41-AEC4-D018AB950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8" y="355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06" name="Text Box 29">
              <a:extLst>
                <a:ext uri="{FF2B5EF4-FFF2-40B4-BE49-F238E27FC236}">
                  <a16:creationId xmlns:a16="http://schemas.microsoft.com/office/drawing/2014/main" id="{7C528017-1777-4E47-9679-D2AAAB041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3712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mouse</a:t>
              </a:r>
            </a:p>
          </p:txBody>
        </p:sp>
        <p:sp>
          <p:nvSpPr>
            <p:cNvPr id="75807" name="Text Box 30">
              <a:extLst>
                <a:ext uri="{FF2B5EF4-FFF2-40B4-BE49-F238E27FC236}">
                  <a16:creationId xmlns:a16="http://schemas.microsoft.com/office/drawing/2014/main" id="{ED010308-23A8-2644-B7D5-BB650DD37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" y="3664"/>
              <a:ext cx="4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keyboard</a:t>
              </a:r>
            </a:p>
          </p:txBody>
        </p:sp>
        <p:sp>
          <p:nvSpPr>
            <p:cNvPr id="75808" name="Line 31">
              <a:extLst>
                <a:ext uri="{FF2B5EF4-FFF2-40B4-BE49-F238E27FC236}">
                  <a16:creationId xmlns:a16="http://schemas.microsoft.com/office/drawing/2014/main" id="{57410608-01C8-884B-901B-A110CE6A1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355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09" name="Text Box 32">
              <a:extLst>
                <a:ext uri="{FF2B5EF4-FFF2-40B4-BE49-F238E27FC236}">
                  <a16:creationId xmlns:a16="http://schemas.microsoft.com/office/drawing/2014/main" id="{4C2EC6C5-ABCD-EA42-B5FB-4FC712B52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3712"/>
              <a:ext cx="4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Monitor</a:t>
              </a:r>
            </a:p>
          </p:txBody>
        </p:sp>
        <p:sp>
          <p:nvSpPr>
            <p:cNvPr id="75810" name="Line 33">
              <a:extLst>
                <a:ext uri="{FF2B5EF4-FFF2-40B4-BE49-F238E27FC236}">
                  <a16:creationId xmlns:a16="http://schemas.microsoft.com/office/drawing/2014/main" id="{6F4CD84B-ED22-EF47-9C16-305566D8F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" y="355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11" name="AutoShape 34">
              <a:extLst>
                <a:ext uri="{FF2B5EF4-FFF2-40B4-BE49-F238E27FC236}">
                  <a16:creationId xmlns:a16="http://schemas.microsoft.com/office/drawing/2014/main" id="{E6C1989F-0C1C-1C44-A550-5367DDBAF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" y="3809"/>
              <a:ext cx="384" cy="384"/>
            </a:xfrm>
            <a:prstGeom prst="can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</a:t>
              </a:r>
            </a:p>
          </p:txBody>
        </p:sp>
        <p:sp>
          <p:nvSpPr>
            <p:cNvPr id="75812" name="AutoShape 35">
              <a:extLst>
                <a:ext uri="{FF2B5EF4-FFF2-40B4-BE49-F238E27FC236}">
                  <a16:creationId xmlns:a16="http://schemas.microsoft.com/office/drawing/2014/main" id="{3F350909-AD63-A440-B843-5D0602E7B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" y="2638"/>
              <a:ext cx="4392" cy="248"/>
            </a:xfrm>
            <a:prstGeom prst="leftRightArrow">
              <a:avLst>
                <a:gd name="adj1" fmla="val 48611"/>
                <a:gd name="adj2" fmla="val 91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13" name="Rectangle 36">
              <a:extLst>
                <a:ext uri="{FF2B5EF4-FFF2-40B4-BE49-F238E27FC236}">
                  <a16:creationId xmlns:a16="http://schemas.microsoft.com/office/drawing/2014/main" id="{0C5E3CD7-377F-E64F-BEAC-8B1A80F1D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745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14" name="Rectangle 37">
              <a:extLst>
                <a:ext uri="{FF2B5EF4-FFF2-40B4-BE49-F238E27FC236}">
                  <a16:creationId xmlns:a16="http://schemas.microsoft.com/office/drawing/2014/main" id="{022B39F8-6F59-F646-A882-D8B59181D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2739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15" name="Rectangle 38">
              <a:extLst>
                <a:ext uri="{FF2B5EF4-FFF2-40B4-BE49-F238E27FC236}">
                  <a16:creationId xmlns:a16="http://schemas.microsoft.com/office/drawing/2014/main" id="{97839C22-3641-8E4A-92DB-661361852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2733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16" name="Text Box 39">
              <a:extLst>
                <a:ext uri="{FF2B5EF4-FFF2-40B4-BE49-F238E27FC236}">
                  <a16:creationId xmlns:a16="http://schemas.microsoft.com/office/drawing/2014/main" id="{92E305A8-D650-0C4E-AB33-1E6A08C9E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2510"/>
              <a:ext cx="3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I/O bus</a:t>
              </a:r>
            </a:p>
          </p:txBody>
        </p:sp>
        <p:sp>
          <p:nvSpPr>
            <p:cNvPr id="75817" name="Rectangle 40">
              <a:extLst>
                <a:ext uri="{FF2B5EF4-FFF2-40B4-BE49-F238E27FC236}">
                  <a16:creationId xmlns:a16="http://schemas.microsoft.com/office/drawing/2014/main" id="{864F491D-4DD1-D941-9935-ED936D4CF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3" y="2694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818" name="Line 41">
              <a:extLst>
                <a:ext uri="{FF2B5EF4-FFF2-40B4-BE49-F238E27FC236}">
                  <a16:creationId xmlns:a16="http://schemas.microsoft.com/office/drawing/2014/main" id="{88083A4B-31E0-804C-8331-A4F853689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2030"/>
              <a:ext cx="1268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19" name="Line 42">
              <a:extLst>
                <a:ext uri="{FF2B5EF4-FFF2-40B4-BE49-F238E27FC236}">
                  <a16:creationId xmlns:a16="http://schemas.microsoft.com/office/drawing/2014/main" id="{D4C812A9-E4E5-CA43-B99D-23DBFBC8C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2030"/>
              <a:ext cx="0" cy="715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20" name="Line 43">
              <a:extLst>
                <a:ext uri="{FF2B5EF4-FFF2-40B4-BE49-F238E27FC236}">
                  <a16:creationId xmlns:a16="http://schemas.microsoft.com/office/drawing/2014/main" id="{37F62F7F-C9BA-5342-9CF5-F93D8ABA0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5" y="2763"/>
              <a:ext cx="711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21" name="Line 44">
              <a:extLst>
                <a:ext uri="{FF2B5EF4-FFF2-40B4-BE49-F238E27FC236}">
                  <a16:creationId xmlns:a16="http://schemas.microsoft.com/office/drawing/2014/main" id="{840FD702-A0E1-B648-8EF7-D48B33067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2737"/>
              <a:ext cx="0" cy="493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22" name="Rectangle 45">
              <a:extLst>
                <a:ext uri="{FF2B5EF4-FFF2-40B4-BE49-F238E27FC236}">
                  <a16:creationId xmlns:a16="http://schemas.microsoft.com/office/drawing/2014/main" id="{78F518D0-6F1F-1F43-B6C9-A34D4D412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1909"/>
              <a:ext cx="1180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Bus interface</a:t>
              </a:r>
            </a:p>
          </p:txBody>
        </p:sp>
      </p:grpSp>
      <p:sp>
        <p:nvSpPr>
          <p:cNvPr id="75780" name="Text Box 46">
            <a:extLst>
              <a:ext uri="{FF2B5EF4-FFF2-40B4-BE49-F238E27FC236}">
                <a16:creationId xmlns:a16="http://schemas.microsoft.com/office/drawing/2014/main" id="{CD048294-2917-354A-93C8-47D31EF3B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950" y="731838"/>
            <a:ext cx="4035425" cy="196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磁盘控制器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</a:p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 sz="2000" b="1">
                <a:solidFill>
                  <a:srgbClr val="D139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读命令</a:t>
            </a:r>
          </a:p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 sz="2000" b="1">
                <a:solidFill>
                  <a:srgbClr val="D139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磁盘逻辑块号</a:t>
            </a:r>
          </a:p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 sz="2000" b="1">
                <a:solidFill>
                  <a:srgbClr val="D139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主存起始地址</a:t>
            </a:r>
          </a:p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然后启动</a:t>
            </a:r>
            <a:r>
              <a:rPr lang="zh-CN" altLang="en-US" sz="20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磁盘驱动器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7">
            <a:extLst>
              <a:ext uri="{FF2B5EF4-FFF2-40B4-BE49-F238E27FC236}">
                <a16:creationId xmlns:a16="http://schemas.microsoft.com/office/drawing/2014/main" id="{A58E8B65-8731-264A-8C17-4A384DFF09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131763"/>
            <a:ext cx="7591425" cy="569912"/>
          </a:xfrm>
        </p:spPr>
        <p:txBody>
          <a:bodyPr lIns="91440" tIns="45720" rIns="91440" bIns="45720" anchor="ctr"/>
          <a:lstStyle/>
          <a:p>
            <a:r>
              <a:rPr lang="zh-CN" altLang="en-US">
                <a:latin typeface="黑体" panose="02010609060101010101" pitchFamily="49" charset="-122"/>
              </a:rPr>
              <a:t>读一个磁盘扇区</a:t>
            </a:r>
            <a:r>
              <a:rPr lang="en-US" altLang="zh-CN">
                <a:latin typeface="黑体" panose="02010609060101010101" pitchFamily="49" charset="-122"/>
              </a:rPr>
              <a:t>–</a:t>
            </a:r>
            <a:r>
              <a:rPr lang="zh-CN" altLang="en-US">
                <a:latin typeface="黑体" panose="02010609060101010101" pitchFamily="49" charset="-122"/>
              </a:rPr>
              <a:t>第二步</a:t>
            </a:r>
            <a:endParaRPr lang="en-US" altLang="zh-CN">
              <a:latin typeface="黑体" panose="02010609060101010101" pitchFamily="49" charset="-122"/>
            </a:endParaRPr>
          </a:p>
        </p:txBody>
      </p:sp>
      <p:grpSp>
        <p:nvGrpSpPr>
          <p:cNvPr id="77827" name="Group 45">
            <a:extLst>
              <a:ext uri="{FF2B5EF4-FFF2-40B4-BE49-F238E27FC236}">
                <a16:creationId xmlns:a16="http://schemas.microsoft.com/office/drawing/2014/main" id="{8DA4B3AA-C295-A24F-9740-DD1B67F579D0}"/>
              </a:ext>
            </a:extLst>
          </p:cNvPr>
          <p:cNvGrpSpPr>
            <a:grpSpLocks/>
          </p:cNvGrpSpPr>
          <p:nvPr/>
        </p:nvGrpSpPr>
        <p:grpSpPr bwMode="auto">
          <a:xfrm>
            <a:off x="247650" y="971550"/>
            <a:ext cx="8343900" cy="5638800"/>
            <a:chOff x="156" y="612"/>
            <a:chExt cx="4406" cy="3552"/>
          </a:xfrm>
        </p:grpSpPr>
        <p:sp>
          <p:nvSpPr>
            <p:cNvPr id="77829" name="Rectangle 4">
              <a:extLst>
                <a:ext uri="{FF2B5EF4-FFF2-40B4-BE49-F238E27FC236}">
                  <a16:creationId xmlns:a16="http://schemas.microsoft.com/office/drawing/2014/main" id="{CD45FA85-E364-9D40-B8A2-3FBD57202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764"/>
              <a:ext cx="573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77830" name="AutoShape 5">
              <a:extLst>
                <a:ext uri="{FF2B5EF4-FFF2-40B4-BE49-F238E27FC236}">
                  <a16:creationId xmlns:a16="http://schemas.microsoft.com/office/drawing/2014/main" id="{2F8A166C-AAEC-7442-BF7A-586E91E8F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1860"/>
              <a:ext cx="940" cy="336"/>
            </a:xfrm>
            <a:prstGeom prst="leftRightArrow">
              <a:avLst>
                <a:gd name="adj1" fmla="val 50000"/>
                <a:gd name="adj2" fmla="val 5595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1" name="Rectangle 6">
              <a:extLst>
                <a:ext uri="{FF2B5EF4-FFF2-40B4-BE49-F238E27FC236}">
                  <a16:creationId xmlns:a16="http://schemas.microsoft.com/office/drawing/2014/main" id="{68314729-B4DB-5742-85B6-1D00D7B5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880"/>
              <a:ext cx="573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2" name="AutoShape 7">
              <a:extLst>
                <a:ext uri="{FF2B5EF4-FFF2-40B4-BE49-F238E27FC236}">
                  <a16:creationId xmlns:a16="http://schemas.microsoft.com/office/drawing/2014/main" id="{43ECCE54-4864-F54B-9292-105439CFE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1860"/>
              <a:ext cx="915" cy="336"/>
            </a:xfrm>
            <a:prstGeom prst="leftRightArrow">
              <a:avLst>
                <a:gd name="adj1" fmla="val 50000"/>
                <a:gd name="adj2" fmla="val 5446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3" name="Rectangle 8">
              <a:extLst>
                <a:ext uri="{FF2B5EF4-FFF2-40B4-BE49-F238E27FC236}">
                  <a16:creationId xmlns:a16="http://schemas.microsoft.com/office/drawing/2014/main" id="{6C600CB3-D1F8-F140-9EF9-A27BEFC64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044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4" name="Rectangle 9">
              <a:extLst>
                <a:ext uri="{FF2B5EF4-FFF2-40B4-BE49-F238E27FC236}">
                  <a16:creationId xmlns:a16="http://schemas.microsoft.com/office/drawing/2014/main" id="{29F2779A-D36A-A74C-A735-583BE3EAB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140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5" name="Rectangle 10">
              <a:extLst>
                <a:ext uri="{FF2B5EF4-FFF2-40B4-BE49-F238E27FC236}">
                  <a16:creationId xmlns:a16="http://schemas.microsoft.com/office/drawing/2014/main" id="{A7DA09E0-BFB8-8B4C-A575-32A2B8613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236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6" name="Rectangle 11">
              <a:extLst>
                <a:ext uri="{FF2B5EF4-FFF2-40B4-BE49-F238E27FC236}">
                  <a16:creationId xmlns:a16="http://schemas.microsoft.com/office/drawing/2014/main" id="{2B554D18-DF87-4244-81BA-26D9732F8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332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7" name="Rectangle 12">
              <a:extLst>
                <a:ext uri="{FF2B5EF4-FFF2-40B4-BE49-F238E27FC236}">
                  <a16:creationId xmlns:a16="http://schemas.microsoft.com/office/drawing/2014/main" id="{6B280F16-604C-4D43-AE44-2FF2F0811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428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8" name="AutoShape 13">
              <a:extLst>
                <a:ext uri="{FF2B5EF4-FFF2-40B4-BE49-F238E27FC236}">
                  <a16:creationId xmlns:a16="http://schemas.microsoft.com/office/drawing/2014/main" id="{7BF19843-2FF9-564C-B036-793D885B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8" y="1044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9" name="AutoShape 14">
              <a:extLst>
                <a:ext uri="{FF2B5EF4-FFF2-40B4-BE49-F238E27FC236}">
                  <a16:creationId xmlns:a16="http://schemas.microsoft.com/office/drawing/2014/main" id="{9C2D3D9D-DC29-6F4E-91CC-BE5341B6E3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22" y="1284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0" name="Rectangle 15">
              <a:extLst>
                <a:ext uri="{FF2B5EF4-FFF2-40B4-BE49-F238E27FC236}">
                  <a16:creationId xmlns:a16="http://schemas.microsoft.com/office/drawing/2014/main" id="{96B28120-5C50-2649-A2B1-BC76926FB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" y="948"/>
              <a:ext cx="336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77841" name="Text Box 16">
              <a:extLst>
                <a:ext uri="{FF2B5EF4-FFF2-40B4-BE49-F238E27FC236}">
                  <a16:creationId xmlns:a16="http://schemas.microsoft.com/office/drawing/2014/main" id="{EEF5A17F-7AC4-0D45-A9EF-6157A6C86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" y="842"/>
              <a:ext cx="5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Register file</a:t>
              </a:r>
            </a:p>
          </p:txBody>
        </p:sp>
        <p:sp>
          <p:nvSpPr>
            <p:cNvPr id="77842" name="AutoShape 17">
              <a:extLst>
                <a:ext uri="{FF2B5EF4-FFF2-40B4-BE49-F238E27FC236}">
                  <a16:creationId xmlns:a16="http://schemas.microsoft.com/office/drawing/2014/main" id="{5AFD9572-E4F7-E841-A02E-E4AEA0B01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" y="1572"/>
              <a:ext cx="384" cy="288"/>
            </a:xfrm>
            <a:prstGeom prst="upDownArrow">
              <a:avLst>
                <a:gd name="adj1" fmla="val 50000"/>
                <a:gd name="adj2" fmla="val 2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3" name="Rectangle 18">
              <a:extLst>
                <a:ext uri="{FF2B5EF4-FFF2-40B4-BE49-F238E27FC236}">
                  <a16:creationId xmlns:a16="http://schemas.microsoft.com/office/drawing/2014/main" id="{3DFA26BF-FA65-B54D-B764-88071188C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" y="804"/>
              <a:ext cx="1872" cy="1536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4" name="Text Box 19">
              <a:extLst>
                <a:ext uri="{FF2B5EF4-FFF2-40B4-BE49-F238E27FC236}">
                  <a16:creationId xmlns:a16="http://schemas.microsoft.com/office/drawing/2014/main" id="{E791E6EB-1822-4042-AF0B-2263792F3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" y="612"/>
              <a:ext cx="4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CPU chip</a:t>
              </a:r>
            </a:p>
          </p:txBody>
        </p:sp>
        <p:sp>
          <p:nvSpPr>
            <p:cNvPr id="77845" name="AutoShape 20">
              <a:extLst>
                <a:ext uri="{FF2B5EF4-FFF2-40B4-BE49-F238E27FC236}">
                  <a16:creationId xmlns:a16="http://schemas.microsoft.com/office/drawing/2014/main" id="{293D6777-B695-1D45-A254-C3D974A27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" y="2292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6" name="AutoShape 21">
              <a:extLst>
                <a:ext uri="{FF2B5EF4-FFF2-40B4-BE49-F238E27FC236}">
                  <a16:creationId xmlns:a16="http://schemas.microsoft.com/office/drawing/2014/main" id="{02914F89-5D68-2E48-B023-A36F9BAF03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66" y="2756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7" name="Rectangle 22">
              <a:extLst>
                <a:ext uri="{FF2B5EF4-FFF2-40B4-BE49-F238E27FC236}">
                  <a16:creationId xmlns:a16="http://schemas.microsoft.com/office/drawing/2014/main" id="{F6A4F0DA-278C-9940-96D6-748F05F31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212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 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7848" name="AutoShape 23">
              <a:extLst>
                <a:ext uri="{FF2B5EF4-FFF2-40B4-BE49-F238E27FC236}">
                  <a16:creationId xmlns:a16="http://schemas.microsoft.com/office/drawing/2014/main" id="{11F7CD88-84D2-744C-934B-7D765E46FE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98" y="2756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49" name="Rectangle 24">
              <a:extLst>
                <a:ext uri="{FF2B5EF4-FFF2-40B4-BE49-F238E27FC236}">
                  <a16:creationId xmlns:a16="http://schemas.microsoft.com/office/drawing/2014/main" id="{764191D9-290D-D343-A948-E455BE538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3212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Graphics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adapter</a:t>
              </a:r>
            </a:p>
          </p:txBody>
        </p:sp>
        <p:sp>
          <p:nvSpPr>
            <p:cNvPr id="77850" name="AutoShape 25">
              <a:extLst>
                <a:ext uri="{FF2B5EF4-FFF2-40B4-BE49-F238E27FC236}">
                  <a16:creationId xmlns:a16="http://schemas.microsoft.com/office/drawing/2014/main" id="{C143A5DB-E3E1-F541-9F91-BFB21A31F47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" y="2756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51" name="Rectangle 26">
              <a:extLst>
                <a:ext uri="{FF2B5EF4-FFF2-40B4-BE49-F238E27FC236}">
                  <a16:creationId xmlns:a16="http://schemas.microsoft.com/office/drawing/2014/main" id="{519161B8-0216-E84A-8963-B579ECB78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3204"/>
              <a:ext cx="720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USB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7852" name="Line 27">
              <a:extLst>
                <a:ext uri="{FF2B5EF4-FFF2-40B4-BE49-F238E27FC236}">
                  <a16:creationId xmlns:a16="http://schemas.microsoft.com/office/drawing/2014/main" id="{26DE0828-8E61-0142-B16D-17A0A34D5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" y="354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3" name="Line 28">
              <a:extLst>
                <a:ext uri="{FF2B5EF4-FFF2-40B4-BE49-F238E27FC236}">
                  <a16:creationId xmlns:a16="http://schemas.microsoft.com/office/drawing/2014/main" id="{59DF2DA7-B1A0-E74C-A8FE-E11EB515D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0" y="354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4" name="Text Box 29">
              <a:extLst>
                <a:ext uri="{FF2B5EF4-FFF2-40B4-BE49-F238E27FC236}">
                  <a16:creationId xmlns:a16="http://schemas.microsoft.com/office/drawing/2014/main" id="{F6B6E9CB-1AE3-1C4C-88DC-E2598227E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3684"/>
              <a:ext cx="3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Mouse</a:t>
              </a:r>
            </a:p>
          </p:txBody>
        </p:sp>
        <p:sp>
          <p:nvSpPr>
            <p:cNvPr id="77855" name="Text Box 30">
              <a:extLst>
                <a:ext uri="{FF2B5EF4-FFF2-40B4-BE49-F238E27FC236}">
                  <a16:creationId xmlns:a16="http://schemas.microsoft.com/office/drawing/2014/main" id="{13E53A0B-0FF4-E64A-BE86-C8DD97F09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" y="3684"/>
              <a:ext cx="5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Keyboard</a:t>
              </a:r>
            </a:p>
          </p:txBody>
        </p:sp>
        <p:sp>
          <p:nvSpPr>
            <p:cNvPr id="77856" name="Line 31">
              <a:extLst>
                <a:ext uri="{FF2B5EF4-FFF2-40B4-BE49-F238E27FC236}">
                  <a16:creationId xmlns:a16="http://schemas.microsoft.com/office/drawing/2014/main" id="{3F2590C6-F8E1-7B40-8CB4-80DE5351C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6" y="354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7" name="Text Box 32">
              <a:extLst>
                <a:ext uri="{FF2B5EF4-FFF2-40B4-BE49-F238E27FC236}">
                  <a16:creationId xmlns:a16="http://schemas.microsoft.com/office/drawing/2014/main" id="{9AC2A563-8A00-714E-B268-A6D19E21C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5" y="3684"/>
              <a:ext cx="41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Monitor</a:t>
              </a:r>
            </a:p>
          </p:txBody>
        </p:sp>
        <p:sp>
          <p:nvSpPr>
            <p:cNvPr id="77858" name="AutoShape 33">
              <a:extLst>
                <a:ext uri="{FF2B5EF4-FFF2-40B4-BE49-F238E27FC236}">
                  <a16:creationId xmlns:a16="http://schemas.microsoft.com/office/drawing/2014/main" id="{9B5EFBDA-B9B4-2F4E-8261-459BC5518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" y="3780"/>
              <a:ext cx="384" cy="384"/>
            </a:xfrm>
            <a:prstGeom prst="can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</a:t>
              </a:r>
            </a:p>
          </p:txBody>
        </p:sp>
        <p:sp>
          <p:nvSpPr>
            <p:cNvPr id="77859" name="AutoShape 34">
              <a:extLst>
                <a:ext uri="{FF2B5EF4-FFF2-40B4-BE49-F238E27FC236}">
                  <a16:creationId xmlns:a16="http://schemas.microsoft.com/office/drawing/2014/main" id="{61D86E11-B75A-3B4D-89FE-73554B2FB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" y="2620"/>
              <a:ext cx="4392" cy="248"/>
            </a:xfrm>
            <a:prstGeom prst="leftRightArrow">
              <a:avLst>
                <a:gd name="adj1" fmla="val 48611"/>
                <a:gd name="adj2" fmla="val 91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60" name="Rectangle 35">
              <a:extLst>
                <a:ext uri="{FF2B5EF4-FFF2-40B4-BE49-F238E27FC236}">
                  <a16:creationId xmlns:a16="http://schemas.microsoft.com/office/drawing/2014/main" id="{916FC10C-5FA9-8A48-928F-3BE59DB16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" y="2727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61" name="Rectangle 36">
              <a:extLst>
                <a:ext uri="{FF2B5EF4-FFF2-40B4-BE49-F238E27FC236}">
                  <a16:creationId xmlns:a16="http://schemas.microsoft.com/office/drawing/2014/main" id="{C9AE7534-E12D-7246-9982-9299E9C19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721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62" name="Rectangle 37">
              <a:extLst>
                <a:ext uri="{FF2B5EF4-FFF2-40B4-BE49-F238E27FC236}">
                  <a16:creationId xmlns:a16="http://schemas.microsoft.com/office/drawing/2014/main" id="{6F1557D6-EA59-534D-B1D4-9B884BE5D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" y="2715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63" name="Text Box 38">
              <a:extLst>
                <a:ext uri="{FF2B5EF4-FFF2-40B4-BE49-F238E27FC236}">
                  <a16:creationId xmlns:a16="http://schemas.microsoft.com/office/drawing/2014/main" id="{F5A9E3CA-CE2B-7D40-B07C-4E72A52BD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492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I/O bus</a:t>
              </a:r>
            </a:p>
          </p:txBody>
        </p:sp>
        <p:sp>
          <p:nvSpPr>
            <p:cNvPr id="77864" name="Rectangle 39">
              <a:extLst>
                <a:ext uri="{FF2B5EF4-FFF2-40B4-BE49-F238E27FC236}">
                  <a16:creationId xmlns:a16="http://schemas.microsoft.com/office/drawing/2014/main" id="{D2FE1C52-F5C4-E64D-9D6C-A20E73D2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2676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65" name="Line 40">
              <a:extLst>
                <a:ext uri="{FF2B5EF4-FFF2-40B4-BE49-F238E27FC236}">
                  <a16:creationId xmlns:a16="http://schemas.microsoft.com/office/drawing/2014/main" id="{19571230-EB96-3A4E-BC69-773553A0E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7" y="2012"/>
              <a:ext cx="1238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6" name="Line 41">
              <a:extLst>
                <a:ext uri="{FF2B5EF4-FFF2-40B4-BE49-F238E27FC236}">
                  <a16:creationId xmlns:a16="http://schemas.microsoft.com/office/drawing/2014/main" id="{01EF2396-2EA8-6C4F-BA27-F35CBE578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012"/>
              <a:ext cx="0" cy="715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7" name="Line 42">
              <a:extLst>
                <a:ext uri="{FF2B5EF4-FFF2-40B4-BE49-F238E27FC236}">
                  <a16:creationId xmlns:a16="http://schemas.microsoft.com/office/drawing/2014/main" id="{5D04CD25-6F6D-7B45-B51B-0C16B9E99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7" y="2745"/>
              <a:ext cx="711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8" name="Line 43">
              <a:extLst>
                <a:ext uri="{FF2B5EF4-FFF2-40B4-BE49-F238E27FC236}">
                  <a16:creationId xmlns:a16="http://schemas.microsoft.com/office/drawing/2014/main" id="{B9F33B01-AABF-3D44-B23C-B23B95C6B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2" y="2727"/>
              <a:ext cx="0" cy="1053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9" name="Rectangle 44">
              <a:extLst>
                <a:ext uri="{FF2B5EF4-FFF2-40B4-BE49-F238E27FC236}">
                  <a16:creationId xmlns:a16="http://schemas.microsoft.com/office/drawing/2014/main" id="{408938ED-577C-E74E-A5E8-1CA9F9616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" y="1880"/>
              <a:ext cx="1180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Bus interface</a:t>
              </a:r>
            </a:p>
          </p:txBody>
        </p:sp>
      </p:grpSp>
      <p:sp>
        <p:nvSpPr>
          <p:cNvPr id="77828" name="Text Box 46">
            <a:extLst>
              <a:ext uri="{FF2B5EF4-FFF2-40B4-BE49-F238E27FC236}">
                <a16:creationId xmlns:a16="http://schemas.microsoft.com/office/drawing/2014/main" id="{26F2041F-4453-F547-95D6-6759C1AD3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1095375"/>
            <a:ext cx="44973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磁盘控制器读相应的扇区，并按</a:t>
            </a:r>
            <a:r>
              <a:rPr lang="en-US" altLang="zh-CN" sz="22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2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把数据送主存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8">
            <a:extLst>
              <a:ext uri="{FF2B5EF4-FFF2-40B4-BE49-F238E27FC236}">
                <a16:creationId xmlns:a16="http://schemas.microsoft.com/office/drawing/2014/main" id="{6E19D7F9-8830-B54A-AD74-26380B10EC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1313" y="153988"/>
            <a:ext cx="7591425" cy="569912"/>
          </a:xfrm>
        </p:spPr>
        <p:txBody>
          <a:bodyPr lIns="91440" tIns="45720" rIns="91440" bIns="45720" anchor="ctr"/>
          <a:lstStyle/>
          <a:p>
            <a:r>
              <a:rPr lang="zh-CN" altLang="en-US">
                <a:latin typeface="黑体" panose="02010609060101010101" pitchFamily="49" charset="-122"/>
              </a:rPr>
              <a:t>读一个磁盘扇区</a:t>
            </a:r>
            <a:r>
              <a:rPr lang="en-US" altLang="zh-CN">
                <a:latin typeface="黑体" panose="02010609060101010101" pitchFamily="49" charset="-122"/>
              </a:rPr>
              <a:t>–</a:t>
            </a:r>
            <a:r>
              <a:rPr lang="zh-CN" altLang="en-US">
                <a:latin typeface="黑体" panose="02010609060101010101" pitchFamily="49" charset="-122"/>
              </a:rPr>
              <a:t>第三步</a:t>
            </a:r>
            <a:endParaRPr lang="en-US" altLang="zh-CN">
              <a:latin typeface="黑体" panose="02010609060101010101" pitchFamily="49" charset="-122"/>
            </a:endParaRPr>
          </a:p>
        </p:txBody>
      </p:sp>
      <p:grpSp>
        <p:nvGrpSpPr>
          <p:cNvPr id="79875" name="Group 46">
            <a:extLst>
              <a:ext uri="{FF2B5EF4-FFF2-40B4-BE49-F238E27FC236}">
                <a16:creationId xmlns:a16="http://schemas.microsoft.com/office/drawing/2014/main" id="{89BC150E-2542-DB48-82D4-0EB9156F8CD8}"/>
              </a:ext>
            </a:extLst>
          </p:cNvPr>
          <p:cNvGrpSpPr>
            <a:grpSpLocks/>
          </p:cNvGrpSpPr>
          <p:nvPr/>
        </p:nvGrpSpPr>
        <p:grpSpPr bwMode="auto">
          <a:xfrm>
            <a:off x="247650" y="985838"/>
            <a:ext cx="8142288" cy="5638800"/>
            <a:chOff x="156" y="621"/>
            <a:chExt cx="4406" cy="3552"/>
          </a:xfrm>
        </p:grpSpPr>
        <p:sp>
          <p:nvSpPr>
            <p:cNvPr id="79877" name="Rectangle 4">
              <a:extLst>
                <a:ext uri="{FF2B5EF4-FFF2-40B4-BE49-F238E27FC236}">
                  <a16:creationId xmlns:a16="http://schemas.microsoft.com/office/drawing/2014/main" id="{4E96981D-6F31-4242-8A9A-70BF84D2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773"/>
              <a:ext cx="573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79878" name="AutoShape 5">
              <a:extLst>
                <a:ext uri="{FF2B5EF4-FFF2-40B4-BE49-F238E27FC236}">
                  <a16:creationId xmlns:a16="http://schemas.microsoft.com/office/drawing/2014/main" id="{97234626-FB0C-1E40-9417-179D9864E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1869"/>
              <a:ext cx="940" cy="336"/>
            </a:xfrm>
            <a:prstGeom prst="leftRightArrow">
              <a:avLst>
                <a:gd name="adj1" fmla="val 50000"/>
                <a:gd name="adj2" fmla="val 5595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79" name="Rectangle 6">
              <a:extLst>
                <a:ext uri="{FF2B5EF4-FFF2-40B4-BE49-F238E27FC236}">
                  <a16:creationId xmlns:a16="http://schemas.microsoft.com/office/drawing/2014/main" id="{66084FC6-170E-514B-A611-C66173913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889"/>
              <a:ext cx="573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0" name="AutoShape 7">
              <a:extLst>
                <a:ext uri="{FF2B5EF4-FFF2-40B4-BE49-F238E27FC236}">
                  <a16:creationId xmlns:a16="http://schemas.microsoft.com/office/drawing/2014/main" id="{F8DCD279-BB7F-CA47-B358-CD54761CD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1869"/>
              <a:ext cx="915" cy="336"/>
            </a:xfrm>
            <a:prstGeom prst="leftRightArrow">
              <a:avLst>
                <a:gd name="adj1" fmla="val 50000"/>
                <a:gd name="adj2" fmla="val 5446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1" name="Rectangle 8">
              <a:extLst>
                <a:ext uri="{FF2B5EF4-FFF2-40B4-BE49-F238E27FC236}">
                  <a16:creationId xmlns:a16="http://schemas.microsoft.com/office/drawing/2014/main" id="{8EE1F1D2-48A4-F042-B47E-C8AC2352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053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2" name="Rectangle 9">
              <a:extLst>
                <a:ext uri="{FF2B5EF4-FFF2-40B4-BE49-F238E27FC236}">
                  <a16:creationId xmlns:a16="http://schemas.microsoft.com/office/drawing/2014/main" id="{E029CD4C-8893-BB45-B8B4-407500AB3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149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3" name="Rectangle 10">
              <a:extLst>
                <a:ext uri="{FF2B5EF4-FFF2-40B4-BE49-F238E27FC236}">
                  <a16:creationId xmlns:a16="http://schemas.microsoft.com/office/drawing/2014/main" id="{EB03A4F1-7F80-5349-A918-A8017CB9A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245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4" name="Rectangle 11">
              <a:extLst>
                <a:ext uri="{FF2B5EF4-FFF2-40B4-BE49-F238E27FC236}">
                  <a16:creationId xmlns:a16="http://schemas.microsoft.com/office/drawing/2014/main" id="{54F8EBBA-E755-3847-963A-F0F091BDC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341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5" name="Rectangle 12">
              <a:extLst>
                <a:ext uri="{FF2B5EF4-FFF2-40B4-BE49-F238E27FC236}">
                  <a16:creationId xmlns:a16="http://schemas.microsoft.com/office/drawing/2014/main" id="{B7B627D4-5ABF-E741-8E55-F3F1932F8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" y="1437"/>
              <a:ext cx="431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6" name="AutoShape 13">
              <a:extLst>
                <a:ext uri="{FF2B5EF4-FFF2-40B4-BE49-F238E27FC236}">
                  <a16:creationId xmlns:a16="http://schemas.microsoft.com/office/drawing/2014/main" id="{3C28520B-8E8D-BD49-B878-76D19DCA6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8" y="1053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7" name="AutoShape 14">
              <a:extLst>
                <a:ext uri="{FF2B5EF4-FFF2-40B4-BE49-F238E27FC236}">
                  <a16:creationId xmlns:a16="http://schemas.microsoft.com/office/drawing/2014/main" id="{F01245BF-4E23-DB45-B134-B10AD38696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22" y="1293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8" name="Rectangle 15">
              <a:extLst>
                <a:ext uri="{FF2B5EF4-FFF2-40B4-BE49-F238E27FC236}">
                  <a16:creationId xmlns:a16="http://schemas.microsoft.com/office/drawing/2014/main" id="{7C3E224A-E23F-3242-8CB9-4D88DDCB8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" y="957"/>
              <a:ext cx="336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79889" name="Text Box 16">
              <a:extLst>
                <a:ext uri="{FF2B5EF4-FFF2-40B4-BE49-F238E27FC236}">
                  <a16:creationId xmlns:a16="http://schemas.microsoft.com/office/drawing/2014/main" id="{522455DD-8661-6E4D-B681-B937AAA8A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" y="851"/>
              <a:ext cx="6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Register file</a:t>
              </a:r>
            </a:p>
          </p:txBody>
        </p:sp>
        <p:sp>
          <p:nvSpPr>
            <p:cNvPr id="79890" name="AutoShape 17">
              <a:extLst>
                <a:ext uri="{FF2B5EF4-FFF2-40B4-BE49-F238E27FC236}">
                  <a16:creationId xmlns:a16="http://schemas.microsoft.com/office/drawing/2014/main" id="{216906B7-81B0-524D-A4DC-0427451F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" y="1581"/>
              <a:ext cx="384" cy="288"/>
            </a:xfrm>
            <a:prstGeom prst="upDownArrow">
              <a:avLst>
                <a:gd name="adj1" fmla="val 50000"/>
                <a:gd name="adj2" fmla="val 2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1" name="Rectangle 18">
              <a:extLst>
                <a:ext uri="{FF2B5EF4-FFF2-40B4-BE49-F238E27FC236}">
                  <a16:creationId xmlns:a16="http://schemas.microsoft.com/office/drawing/2014/main" id="{54A131B5-9F16-6447-9C23-2DDBEFD00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" y="813"/>
              <a:ext cx="1872" cy="1536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2" name="Text Box 19">
              <a:extLst>
                <a:ext uri="{FF2B5EF4-FFF2-40B4-BE49-F238E27FC236}">
                  <a16:creationId xmlns:a16="http://schemas.microsoft.com/office/drawing/2014/main" id="{FDBDF3EC-41DF-B449-B99F-59FCAA848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" y="621"/>
              <a:ext cx="5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CPU chip</a:t>
              </a:r>
            </a:p>
          </p:txBody>
        </p:sp>
        <p:sp>
          <p:nvSpPr>
            <p:cNvPr id="79893" name="AutoShape 20">
              <a:extLst>
                <a:ext uri="{FF2B5EF4-FFF2-40B4-BE49-F238E27FC236}">
                  <a16:creationId xmlns:a16="http://schemas.microsoft.com/office/drawing/2014/main" id="{CDF75947-80F0-4F43-8073-C88B910E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" y="2301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4" name="AutoShape 21">
              <a:extLst>
                <a:ext uri="{FF2B5EF4-FFF2-40B4-BE49-F238E27FC236}">
                  <a16:creationId xmlns:a16="http://schemas.microsoft.com/office/drawing/2014/main" id="{29A03128-E043-F043-87B1-E45FB5B48B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66" y="2765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5" name="Rectangle 22">
              <a:extLst>
                <a:ext uri="{FF2B5EF4-FFF2-40B4-BE49-F238E27FC236}">
                  <a16:creationId xmlns:a16="http://schemas.microsoft.com/office/drawing/2014/main" id="{6BF35FCE-5AF6-3847-A395-8263064A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221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 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9896" name="AutoShape 23">
              <a:extLst>
                <a:ext uri="{FF2B5EF4-FFF2-40B4-BE49-F238E27FC236}">
                  <a16:creationId xmlns:a16="http://schemas.microsoft.com/office/drawing/2014/main" id="{33BC7497-F0C2-4841-B3AB-CFD0000B50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98" y="2765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7" name="Rectangle 24">
              <a:extLst>
                <a:ext uri="{FF2B5EF4-FFF2-40B4-BE49-F238E27FC236}">
                  <a16:creationId xmlns:a16="http://schemas.microsoft.com/office/drawing/2014/main" id="{D8CC75DF-EF22-A64F-88A8-2BEFDA08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3221"/>
              <a:ext cx="816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Graphics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adapter</a:t>
              </a:r>
            </a:p>
          </p:txBody>
        </p:sp>
        <p:sp>
          <p:nvSpPr>
            <p:cNvPr id="79898" name="AutoShape 25">
              <a:extLst>
                <a:ext uri="{FF2B5EF4-FFF2-40B4-BE49-F238E27FC236}">
                  <a16:creationId xmlns:a16="http://schemas.microsoft.com/office/drawing/2014/main" id="{EB6B322C-8AC8-844D-A4F7-995CA3D94F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" y="2765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99" name="Rectangle 26">
              <a:extLst>
                <a:ext uri="{FF2B5EF4-FFF2-40B4-BE49-F238E27FC236}">
                  <a16:creationId xmlns:a16="http://schemas.microsoft.com/office/drawing/2014/main" id="{E414C4D9-B945-F84A-BFA3-C3D9F8073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3213"/>
              <a:ext cx="720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USB</a:t>
              </a:r>
            </a:p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controller</a:t>
              </a:r>
            </a:p>
          </p:txBody>
        </p:sp>
        <p:sp>
          <p:nvSpPr>
            <p:cNvPr id="79900" name="Line 27">
              <a:extLst>
                <a:ext uri="{FF2B5EF4-FFF2-40B4-BE49-F238E27FC236}">
                  <a16:creationId xmlns:a16="http://schemas.microsoft.com/office/drawing/2014/main" id="{1E2CE913-CB8A-1440-8C21-0999071F7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" y="354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1" name="Line 28">
              <a:extLst>
                <a:ext uri="{FF2B5EF4-FFF2-40B4-BE49-F238E27FC236}">
                  <a16:creationId xmlns:a16="http://schemas.microsoft.com/office/drawing/2014/main" id="{22A37BA5-6116-5442-9669-CE549DE78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0" y="354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2" name="Text Box 29">
              <a:extLst>
                <a:ext uri="{FF2B5EF4-FFF2-40B4-BE49-F238E27FC236}">
                  <a16:creationId xmlns:a16="http://schemas.microsoft.com/office/drawing/2014/main" id="{BCDF5D9F-1762-2F49-BBAF-FC3EAF259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" y="3693"/>
              <a:ext cx="3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Mouse</a:t>
              </a:r>
            </a:p>
          </p:txBody>
        </p:sp>
        <p:sp>
          <p:nvSpPr>
            <p:cNvPr id="79903" name="Text Box 30">
              <a:extLst>
                <a:ext uri="{FF2B5EF4-FFF2-40B4-BE49-F238E27FC236}">
                  <a16:creationId xmlns:a16="http://schemas.microsoft.com/office/drawing/2014/main" id="{2C503947-6FD8-2449-BCE2-096A42FC9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693"/>
              <a:ext cx="5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Keyboard</a:t>
              </a:r>
            </a:p>
          </p:txBody>
        </p:sp>
        <p:sp>
          <p:nvSpPr>
            <p:cNvPr id="79904" name="Line 31">
              <a:extLst>
                <a:ext uri="{FF2B5EF4-FFF2-40B4-BE49-F238E27FC236}">
                  <a16:creationId xmlns:a16="http://schemas.microsoft.com/office/drawing/2014/main" id="{40CCFC49-2056-0845-ACDA-71B78F5DE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6" y="354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5" name="Text Box 32">
              <a:extLst>
                <a:ext uri="{FF2B5EF4-FFF2-40B4-BE49-F238E27FC236}">
                  <a16:creationId xmlns:a16="http://schemas.microsoft.com/office/drawing/2014/main" id="{9C6E5B62-4E13-BE45-8956-DFD81671A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3693"/>
              <a:ext cx="4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Monitor</a:t>
              </a:r>
            </a:p>
          </p:txBody>
        </p:sp>
        <p:sp>
          <p:nvSpPr>
            <p:cNvPr id="79906" name="Line 33">
              <a:extLst>
                <a:ext uri="{FF2B5EF4-FFF2-40B4-BE49-F238E27FC236}">
                  <a16:creationId xmlns:a16="http://schemas.microsoft.com/office/drawing/2014/main" id="{EDE6FDB0-9541-E84C-BB9B-3994271B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8" y="3549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7" name="AutoShape 34">
              <a:extLst>
                <a:ext uri="{FF2B5EF4-FFF2-40B4-BE49-F238E27FC236}">
                  <a16:creationId xmlns:a16="http://schemas.microsoft.com/office/drawing/2014/main" id="{25AF5C67-0ABC-3B43-A821-FE411A981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" y="3789"/>
              <a:ext cx="384" cy="384"/>
            </a:xfrm>
            <a:prstGeom prst="can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Disk</a:t>
              </a:r>
            </a:p>
          </p:txBody>
        </p:sp>
        <p:sp>
          <p:nvSpPr>
            <p:cNvPr id="79908" name="AutoShape 35">
              <a:extLst>
                <a:ext uri="{FF2B5EF4-FFF2-40B4-BE49-F238E27FC236}">
                  <a16:creationId xmlns:a16="http://schemas.microsoft.com/office/drawing/2014/main" id="{2E2490C6-973F-B94A-82AE-BEC6887AA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" y="2629"/>
              <a:ext cx="4392" cy="248"/>
            </a:xfrm>
            <a:prstGeom prst="leftRightArrow">
              <a:avLst>
                <a:gd name="adj1" fmla="val 48611"/>
                <a:gd name="adj2" fmla="val 91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909" name="Rectangle 36">
              <a:extLst>
                <a:ext uri="{FF2B5EF4-FFF2-40B4-BE49-F238E27FC236}">
                  <a16:creationId xmlns:a16="http://schemas.microsoft.com/office/drawing/2014/main" id="{DE931ED2-BF36-8345-B763-10164609C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" y="2736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910" name="Rectangle 37">
              <a:extLst>
                <a:ext uri="{FF2B5EF4-FFF2-40B4-BE49-F238E27FC236}">
                  <a16:creationId xmlns:a16="http://schemas.microsoft.com/office/drawing/2014/main" id="{16456A14-12B2-0C46-A080-96F8CB834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730"/>
              <a:ext cx="105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911" name="Rectangle 38">
              <a:extLst>
                <a:ext uri="{FF2B5EF4-FFF2-40B4-BE49-F238E27FC236}">
                  <a16:creationId xmlns:a16="http://schemas.microsoft.com/office/drawing/2014/main" id="{6A38C4EB-5599-F84E-B908-1CC5B7F72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" y="2724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912" name="Text Box 39">
              <a:extLst>
                <a:ext uri="{FF2B5EF4-FFF2-40B4-BE49-F238E27FC236}">
                  <a16:creationId xmlns:a16="http://schemas.microsoft.com/office/drawing/2014/main" id="{3EF2854F-F58C-934C-ABE3-7ACFF8DF5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501"/>
              <a:ext cx="4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I/O bus</a:t>
              </a:r>
            </a:p>
          </p:txBody>
        </p:sp>
        <p:sp>
          <p:nvSpPr>
            <p:cNvPr id="79913" name="Rectangle 40">
              <a:extLst>
                <a:ext uri="{FF2B5EF4-FFF2-40B4-BE49-F238E27FC236}">
                  <a16:creationId xmlns:a16="http://schemas.microsoft.com/office/drawing/2014/main" id="{F3BA5FF8-C5DB-3E45-940F-75ED8D627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2685"/>
              <a:ext cx="10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zh-CN" sz="2400" b="1">
                <a:solidFill>
                  <a:srgbClr val="000000"/>
                </a:solidFill>
                <a:latin typeface="Arial Narrow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914" name="Line 41">
              <a:extLst>
                <a:ext uri="{FF2B5EF4-FFF2-40B4-BE49-F238E27FC236}">
                  <a16:creationId xmlns:a16="http://schemas.microsoft.com/office/drawing/2014/main" id="{141E90DD-69E0-B54D-A62D-BAE3AC620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6" y="1589"/>
              <a:ext cx="641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15" name="Line 42">
              <a:extLst>
                <a:ext uri="{FF2B5EF4-FFF2-40B4-BE49-F238E27FC236}">
                  <a16:creationId xmlns:a16="http://schemas.microsoft.com/office/drawing/2014/main" id="{401D07AB-9C10-574A-B5F1-0C3353E74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1581"/>
              <a:ext cx="0" cy="1155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16" name="Line 43">
              <a:extLst>
                <a:ext uri="{FF2B5EF4-FFF2-40B4-BE49-F238E27FC236}">
                  <a16:creationId xmlns:a16="http://schemas.microsoft.com/office/drawing/2014/main" id="{19FB6A96-13FB-7941-8000-1871A7410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7" y="2754"/>
              <a:ext cx="711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17" name="Line 44">
              <a:extLst>
                <a:ext uri="{FF2B5EF4-FFF2-40B4-BE49-F238E27FC236}">
                  <a16:creationId xmlns:a16="http://schemas.microsoft.com/office/drawing/2014/main" id="{57909CA9-ABFC-E744-9860-65B76CE80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8" y="2736"/>
              <a:ext cx="4" cy="493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18" name="Rectangle 45">
              <a:extLst>
                <a:ext uri="{FF2B5EF4-FFF2-40B4-BE49-F238E27FC236}">
                  <a16:creationId xmlns:a16="http://schemas.microsoft.com/office/drawing/2014/main" id="{7832C4B3-3442-9344-92B3-8379C7CAD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" y="1889"/>
              <a:ext cx="1180" cy="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00"/>
                  </a:solidFill>
                  <a:latin typeface="Arial Narrow" panose="020B0604020202020204" pitchFamily="34" charset="0"/>
                  <a:ea typeface="宋体" panose="02010600030101010101" pitchFamily="2" charset="-122"/>
                </a:rPr>
                <a:t>Bus interface</a:t>
              </a:r>
            </a:p>
          </p:txBody>
        </p:sp>
      </p:grpSp>
      <p:sp>
        <p:nvSpPr>
          <p:cNvPr id="79876" name="Text Box 47">
            <a:extLst>
              <a:ext uri="{FF2B5EF4-FFF2-40B4-BE49-F238E27FC236}">
                <a16:creationId xmlns:a16="http://schemas.microsoft.com/office/drawing/2014/main" id="{D08F1C7E-6E52-7240-9ACC-36F9E8AAC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163" y="974725"/>
            <a:ext cx="4487862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传送结束，磁盘控制器向</a:t>
            </a:r>
            <a:r>
              <a:rPr lang="en-US" altLang="zh-CN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发出“</a:t>
            </a:r>
            <a:r>
              <a:rPr lang="en-US" altLang="zh-CN" sz="22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200" b="1">
                <a:solidFill>
                  <a:srgbClr val="063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结束中断请求</a:t>
            </a: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”，要求</a:t>
            </a:r>
            <a:r>
              <a:rPr lang="en-US" altLang="zh-CN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进行相应的后处理。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8561CF3-B32A-9F40-80EA-AAB5400B5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冗余磁盘阵列(</a:t>
            </a:r>
            <a:r>
              <a:rPr lang="en-US" altLang="zh-CN">
                <a:ea typeface="宋体" panose="02010600030101010101" pitchFamily="2" charset="-122"/>
              </a:rPr>
              <a:t>RAID)</a:t>
            </a:r>
          </a:p>
        </p:txBody>
      </p:sp>
      <p:sp>
        <p:nvSpPr>
          <p:cNvPr id="617475" name="Rectangle 3">
            <a:extLst>
              <a:ext uri="{FF2B5EF4-FFF2-40B4-BE49-F238E27FC236}">
                <a16:creationId xmlns:a16="http://schemas.microsoft.com/office/drawing/2014/main" id="{155CB63D-1B57-624B-A788-8264D0AC4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551863" cy="4638675"/>
          </a:xfrm>
        </p:spPr>
        <p:txBody>
          <a:bodyPr/>
          <a:lstStyle/>
          <a:p>
            <a:pPr marL="342900" indent="-342900">
              <a:lnSpc>
                <a:spcPct val="11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的基本思想：</a:t>
            </a:r>
          </a:p>
          <a:p>
            <a:pPr marL="742950" lvl="1" indent="-285750">
              <a:lnSpc>
                <a:spcPct val="110000"/>
              </a:lnSpc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 将多个独立操作的磁盘按某种方式组织成磁盘阵列(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Disk Array)，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增加容量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，利用类似于主存中的多体交叉技术，将数据存储在多个盘体上，通过使这些盘并行工作来</a:t>
            </a: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提高数据传输速度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，并用冗余(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redundancy)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磁盘技术来进行错误恢复(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error correction)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提高系统可靠性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特性：</a:t>
            </a:r>
          </a:p>
          <a:p>
            <a:pPr marL="742950" lvl="1" indent="-285750" algn="just">
              <a:lnSpc>
                <a:spcPct val="110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en-US" altLang="zh-CN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是一组物理磁盘驱动器，在操作系统下被视为一个单逻辑驱动器。</a:t>
            </a:r>
          </a:p>
          <a:p>
            <a:pPr marL="742950" lvl="1" indent="-285750" algn="just">
              <a:lnSpc>
                <a:spcPct val="110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（2）数据分布在一组物理磁盘上。</a:t>
            </a:r>
          </a:p>
          <a:p>
            <a:pPr marL="742950" lvl="1" indent="-285750" algn="just">
              <a:lnSpc>
                <a:spcPct val="110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（3）冗余磁盘用于存储奇偶校验信息，保证磁盘万一损坏时能恢复数据。</a:t>
            </a:r>
          </a:p>
          <a:p>
            <a:pPr marL="342900" indent="-342900" algn="just">
              <a:lnSpc>
                <a:spcPct val="11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级别</a:t>
            </a:r>
          </a:p>
          <a:p>
            <a:pPr marL="742950" lvl="1" indent="-285750" algn="just"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目前已知的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方案分为8级（0-7级），以及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RAID10（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结合0和1级）和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RAID30 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结合0和3级）和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RAID50 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结合0和5级）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但这些级别不是简单地表示层次关系，而是表示具有上述3个共同特性的不同设计结构。</a:t>
            </a:r>
          </a:p>
        </p:txBody>
      </p:sp>
      <p:sp>
        <p:nvSpPr>
          <p:cNvPr id="617476" name="Rectangle 4">
            <a:extLst>
              <a:ext uri="{FF2B5EF4-FFF2-40B4-BE49-F238E27FC236}">
                <a16:creationId xmlns:a16="http://schemas.microsoft.com/office/drawing/2014/main" id="{CF39876A-8706-8B49-A50C-BF5AE1412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19138"/>
            <a:ext cx="8732838" cy="141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系统总体性能的提高不匹配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处理器和主存性能改进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辅存性能性能改进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zh-CN" altLang="en-US" sz="1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*可靠性(</a:t>
            </a:r>
            <a:r>
              <a:rPr lang="en-US" altLang="zh-CN" sz="1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Reliability)</a:t>
            </a: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所用措施：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RAID-</a:t>
            </a:r>
            <a:r>
              <a:rPr lang="en-US" altLang="zh-CN" sz="18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edundant </a:t>
            </a:r>
            <a:r>
              <a:rPr lang="en-US" altLang="zh-CN" sz="18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rrays of </a:t>
            </a:r>
            <a:r>
              <a:rPr lang="en-US" altLang="zh-CN" sz="18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nexpensive </a:t>
            </a:r>
            <a:r>
              <a:rPr lang="en-US" altLang="zh-CN" sz="18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isk 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（磁盘冗余阵列）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7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7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7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7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7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7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7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7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49ABE7A-1D04-E643-B306-E709BFD41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213" y="142875"/>
            <a:ext cx="8640762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 冗余磁盘阵列 ( </a:t>
            </a:r>
            <a:r>
              <a:rPr lang="en-US" altLang="zh-CN">
                <a:ea typeface="宋体" panose="02010600030101010101" pitchFamily="2" charset="-122"/>
              </a:rPr>
              <a:t>RAID 0 )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8499" name="Rectangle 3">
            <a:extLst>
              <a:ext uri="{FF2B5EF4-FFF2-40B4-BE49-F238E27FC236}">
                <a16:creationId xmlns:a16="http://schemas.microsoft.com/office/drawing/2014/main" id="{E8FA2FB4-F1FB-084C-91FB-7828E65752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6213" y="820738"/>
            <a:ext cx="8786812" cy="2724150"/>
          </a:xfrm>
        </p:spPr>
        <p:txBody>
          <a:bodyPr/>
          <a:lstStyle/>
          <a:p>
            <a:pPr marL="342900" indent="-342900"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不遵循特性(3)，无冗余。适用于容量和速度要求高的非关键数据存储的场合</a:t>
            </a:r>
          </a:p>
          <a:p>
            <a:pPr marL="742950" lvl="1" indent="-285750"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与单个大容量磁盘相比有两个优点：</a:t>
            </a:r>
          </a:p>
          <a:p>
            <a:pPr marL="742950" lvl="1" indent="-285750">
              <a:spcBef>
                <a:spcPts val="600"/>
              </a:spcBef>
              <a:buFontTx/>
              <a:buNone/>
            </a:pPr>
            <a:r>
              <a:rPr lang="zh-CN" altLang="en-US" sz="1900">
                <a:ea typeface="黑体" panose="02010609060101010101" pitchFamily="49" charset="-122"/>
              </a:rPr>
              <a:t>  </a:t>
            </a: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 (1) 连续分布或大条区交叉分布时，如果两个</a:t>
            </a:r>
            <a:r>
              <a:rPr lang="en-US" altLang="zh-CN" sz="1900">
                <a:solidFill>
                  <a:srgbClr val="009900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请求访问不同盘上的数据，则可并行发送</a:t>
            </a:r>
            <a:r>
              <a:rPr lang="en-US" altLang="zh-CN" sz="1900">
                <a:solidFill>
                  <a:srgbClr val="009900"/>
                </a:solidFill>
                <a:ea typeface="黑体" panose="02010609060101010101" pitchFamily="49" charset="-122"/>
              </a:rPr>
              <a:t>。</a:t>
            </a: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减少了</a:t>
            </a:r>
            <a:r>
              <a:rPr lang="en-US" altLang="zh-CN" sz="1900">
                <a:solidFill>
                  <a:srgbClr val="009900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排队时间。</a:t>
            </a:r>
            <a:r>
              <a:rPr lang="zh-CN" altLang="en-US" sz="1900">
                <a:solidFill>
                  <a:srgbClr val="6600FF"/>
                </a:solidFill>
                <a:ea typeface="黑体" panose="02010609060101010101" pitchFamily="49" charset="-122"/>
              </a:rPr>
              <a:t>具有较快的</a:t>
            </a:r>
            <a:r>
              <a:rPr lang="en-US" altLang="zh-CN" sz="1900">
                <a:solidFill>
                  <a:srgbClr val="66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6600FF"/>
                </a:solidFill>
                <a:ea typeface="黑体" panose="02010609060101010101" pitchFamily="49" charset="-122"/>
              </a:rPr>
              <a:t>响应能力。</a:t>
            </a:r>
          </a:p>
          <a:p>
            <a:pPr marL="742950" lvl="1" indent="-285750">
              <a:spcBef>
                <a:spcPts val="600"/>
              </a:spcBef>
              <a:buFontTx/>
              <a:buNone/>
            </a:pP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   (2) 小条区交叉分布时，同一个</a:t>
            </a:r>
            <a:r>
              <a:rPr lang="en-US" altLang="zh-CN" sz="1900">
                <a:solidFill>
                  <a:srgbClr val="009900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9900"/>
                </a:solidFill>
                <a:ea typeface="黑体" panose="02010609060101010101" pitchFamily="49" charset="-122"/>
              </a:rPr>
              <a:t>请求有可能并行传送其不同的数据块(条区)，因而</a:t>
            </a:r>
            <a:r>
              <a:rPr lang="zh-CN" altLang="en-US" sz="1900">
                <a:solidFill>
                  <a:srgbClr val="6600FF"/>
                </a:solidFill>
                <a:ea typeface="黑体" panose="02010609060101010101" pitchFamily="49" charset="-122"/>
              </a:rPr>
              <a:t>可达较高的数据传输率</a:t>
            </a:r>
            <a:r>
              <a:rPr lang="en-US" altLang="zh-CN" sz="1900">
                <a:solidFill>
                  <a:srgbClr val="6600FF"/>
                </a:solidFill>
                <a:ea typeface="黑体" panose="02010609060101010101" pitchFamily="49" charset="-122"/>
              </a:rPr>
              <a:t>。</a:t>
            </a:r>
            <a:r>
              <a:rPr lang="zh-CN" altLang="en-US" sz="1900">
                <a:solidFill>
                  <a:srgbClr val="C90122"/>
                </a:solidFill>
                <a:ea typeface="黑体" panose="02010609060101010101" pitchFamily="49" charset="-122"/>
              </a:rPr>
              <a:t>例如，可以用在视频编辑和播放系统中，以快速传输视频流。</a:t>
            </a:r>
          </a:p>
          <a:p>
            <a:pPr marL="742950" lvl="1" indent="-285750"/>
            <a:endParaRPr lang="zh-CN" altLang="en-US" sz="1900">
              <a:solidFill>
                <a:srgbClr val="C90122"/>
              </a:solidFill>
              <a:ea typeface="黑体" panose="02010609060101010101" pitchFamily="49" charset="-122"/>
            </a:endParaRPr>
          </a:p>
        </p:txBody>
      </p:sp>
      <p:pic>
        <p:nvPicPr>
          <p:cNvPr id="82948" name="Picture 4" descr="RAID_0级阵列的数据映射">
            <a:extLst>
              <a:ext uri="{FF2B5EF4-FFF2-40B4-BE49-F238E27FC236}">
                <a16:creationId xmlns:a16="http://schemas.microsoft.com/office/drawing/2014/main" id="{878AB386-DA8A-3B45-A0AA-A40DE25E014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9625" y="3114675"/>
            <a:ext cx="7664450" cy="372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4BA0C19-C319-3C44-8385-AC6163A63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38" y="141288"/>
            <a:ext cx="8640762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1 )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2C081B17-95B0-BC43-87AC-0F85DE5872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4625" y="830263"/>
            <a:ext cx="8751888" cy="2351087"/>
          </a:xfrm>
        </p:spPr>
        <p:txBody>
          <a:bodyPr/>
          <a:lstStyle/>
          <a:p>
            <a:pPr marL="342900" indent="-342900">
              <a:lnSpc>
                <a:spcPct val="105000"/>
              </a:lnSpc>
            </a:pPr>
            <a:r>
              <a:rPr lang="zh-CN" altLang="en-US">
                <a:ea typeface="黑体" panose="02010609060101010101" pitchFamily="49" charset="-122"/>
              </a:rPr>
              <a:t>镜像盘实现1对1冗余(</a:t>
            </a:r>
            <a:r>
              <a:rPr lang="en-US" altLang="zh-CN">
                <a:ea typeface="黑体" panose="02010609060101010101" pitchFamily="49" charset="-122"/>
              </a:rPr>
              <a:t>100% redundancy</a:t>
            </a:r>
            <a:r>
              <a:rPr lang="zh-CN" altLang="en-US">
                <a:ea typeface="黑体" panose="02010609060101010101" pitchFamily="49" charset="-122"/>
              </a:rPr>
              <a:t>)</a:t>
            </a:r>
          </a:p>
          <a:p>
            <a:pPr marL="742950" lvl="1" indent="-285750" algn="just">
              <a:lnSpc>
                <a:spcPct val="105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ea typeface="黑体" panose="02010609060101010101" pitchFamily="49" charset="-122"/>
              </a:rPr>
              <a:t>（1）读：</a:t>
            </a: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一个读请求可由其中一个定位时间更少的磁盘提供数据。</a:t>
            </a:r>
          </a:p>
          <a:p>
            <a:pPr marL="742950" lvl="1" indent="-285750" algn="just">
              <a:lnSpc>
                <a:spcPct val="105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ea typeface="黑体" panose="02010609060101010101" pitchFamily="49" charset="-122"/>
              </a:rPr>
              <a:t>（2）写：</a:t>
            </a: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一个写请求对对应的两个磁盘并行更新。故写性能由两次中较慢的一次写来决定，即定位时间更长的那一次。</a:t>
            </a:r>
          </a:p>
          <a:p>
            <a:pPr marL="742950" lvl="1" indent="-285750">
              <a:lnSpc>
                <a:spcPct val="105000"/>
              </a:lnSpc>
              <a:buFontTx/>
              <a:buNone/>
            </a:pPr>
            <a:r>
              <a:rPr lang="zh-CN" altLang="en-US">
                <a:solidFill>
                  <a:srgbClr val="009900"/>
                </a:solidFill>
                <a:ea typeface="黑体" panose="02010609060101010101" pitchFamily="49" charset="-122"/>
              </a:rPr>
              <a:t>（3）检错：</a:t>
            </a:r>
            <a:r>
              <a:rPr lang="zh-CN" altLang="en-US">
                <a:solidFill>
                  <a:srgbClr val="D1390F"/>
                </a:solidFill>
                <a:ea typeface="黑体" panose="02010609060101010101" pitchFamily="49" charset="-122"/>
              </a:rPr>
              <a:t>数据恢复简单。当一个磁盘损坏时，数据仍能从另一个磁盘读取。</a:t>
            </a:r>
          </a:p>
          <a:p>
            <a:pPr marL="742950" lvl="1" indent="-285750" algn="just">
              <a:lnSpc>
                <a:spcPct val="105000"/>
              </a:lnSpc>
            </a:pPr>
            <a:r>
              <a:rPr lang="zh-CN" altLang="en-US">
                <a:ea typeface="黑体" panose="02010609060101010101" pitchFamily="49" charset="-122"/>
              </a:rPr>
              <a:t>特点；可靠性高，但价格昂贵。</a:t>
            </a:r>
          </a:p>
          <a:p>
            <a:pPr marL="742950" lvl="1" indent="-285750" algn="just">
              <a:lnSpc>
                <a:spcPct val="105000"/>
              </a:lnSpc>
              <a:buFontTx/>
              <a:buNone/>
            </a:pPr>
            <a:r>
              <a:rPr lang="zh-CN" altLang="en-US">
                <a:solidFill>
                  <a:srgbClr val="C90122"/>
                </a:solidFill>
                <a:ea typeface="黑体" panose="02010609060101010101" pitchFamily="49" charset="-122"/>
              </a:rPr>
              <a:t>常用于可靠性要求很高的场合，如系统软件的存储，金融、证券等系统。</a:t>
            </a:r>
          </a:p>
        </p:txBody>
      </p:sp>
      <p:pic>
        <p:nvPicPr>
          <p:cNvPr id="83972" name="Picture 4" descr="RAID1">
            <a:extLst>
              <a:ext uri="{FF2B5EF4-FFF2-40B4-BE49-F238E27FC236}">
                <a16:creationId xmlns:a16="http://schemas.microsoft.com/office/drawing/2014/main" id="{8C591742-D85E-E044-B082-26627854CA5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000" y="3482975"/>
            <a:ext cx="8699500" cy="2967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182EDEE-8492-574F-8C7F-F0895FFBC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47638"/>
            <a:ext cx="8640763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RAID2  )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3302585-9B7D-B445-9F7C-400B10D2259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47650" y="831850"/>
            <a:ext cx="8562975" cy="2195513"/>
          </a:xfrm>
        </p:spPr>
        <p:txBody>
          <a:bodyPr/>
          <a:lstStyle/>
          <a:p>
            <a:pPr marL="342900" indent="-342900" algn="just"/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用海明校验法生成多个冗余校验盘，实现纠正一位错误、检测两位错误的功能。 </a:t>
            </a:r>
          </a:p>
          <a:p>
            <a:pPr marL="342900" indent="-342900" algn="just"/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采用条区交叉分布方式，且条区非常小（有时为一个字或一个字节）。这样，可获得较高的数据传输率，但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响应时间差。</a:t>
            </a:r>
          </a:p>
          <a:p>
            <a:pPr marL="342900" indent="-342900" algn="just"/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采用海明码，虽然冗余盘的个数比</a:t>
            </a:r>
            <a:r>
              <a:rPr lang="en-US" altLang="zh-CN">
                <a:solidFill>
                  <a:srgbClr val="0000FF"/>
                </a:solidFill>
                <a:ea typeface="黑体" panose="02010609060101010101" pitchFamily="49" charset="-122"/>
              </a:rPr>
              <a:t>RAID1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少，但校验盘与数据盘成正比。所以冗余信息开销太大，价格贵。</a:t>
            </a:r>
            <a:endParaRPr lang="en-US" altLang="zh-CN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42900" indent="-342900" algn="just"/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读操作性能高（多盘并行）。</a:t>
            </a:r>
          </a:p>
          <a:p>
            <a:pPr marL="342900" indent="-342900" algn="just"/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写操作时要同时写数据盘和校验盘。</a:t>
            </a:r>
          </a:p>
        </p:txBody>
      </p:sp>
      <p:pic>
        <p:nvPicPr>
          <p:cNvPr id="84996" name="Picture 4" descr="RAID2">
            <a:extLst>
              <a:ext uri="{FF2B5EF4-FFF2-40B4-BE49-F238E27FC236}">
                <a16:creationId xmlns:a16="http://schemas.microsoft.com/office/drawing/2014/main" id="{8B5B3069-7066-9049-BD9F-46021D39B6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350" y="3252788"/>
            <a:ext cx="8374063" cy="3311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4997" name="Text Box 5">
            <a:extLst>
              <a:ext uri="{FF2B5EF4-FFF2-40B4-BE49-F238E27FC236}">
                <a16:creationId xmlns:a16="http://schemas.microsoft.com/office/drawing/2014/main" id="{EB4A9D33-3FC9-E441-B5A2-E940D2600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575" y="2527300"/>
            <a:ext cx="4084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C90122"/>
                </a:solidFill>
                <a:ea typeface="黑体" panose="02010609060101010101" pitchFamily="49" charset="-122"/>
              </a:rPr>
              <a:t>RAID2</a:t>
            </a:r>
            <a:r>
              <a:rPr lang="zh-CN" altLang="en-US" sz="2000" b="1">
                <a:solidFill>
                  <a:srgbClr val="C90122"/>
                </a:solidFill>
                <a:ea typeface="黑体" panose="02010609060101010101" pitchFamily="49" charset="-122"/>
              </a:rPr>
              <a:t>已不再使用！</a:t>
            </a:r>
          </a:p>
        </p:txBody>
      </p:sp>
      <p:sp>
        <p:nvSpPr>
          <p:cNvPr id="84998" name="Text Box 6">
            <a:extLst>
              <a:ext uri="{FF2B5EF4-FFF2-40B4-BE49-F238E27FC236}">
                <a16:creationId xmlns:a16="http://schemas.microsoft.com/office/drawing/2014/main" id="{899E10FF-6A37-FF45-828F-4B3A11D68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838" y="2533650"/>
            <a:ext cx="124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为什么？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CE5DDD5-331A-6E4F-B0A0-369AFA445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42875"/>
            <a:ext cx="8640763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3 )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4748C42-22EF-1E40-A357-EF876B11D0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34950" y="730250"/>
            <a:ext cx="8445500" cy="2405063"/>
          </a:xfrm>
        </p:spPr>
        <p:txBody>
          <a:bodyPr/>
          <a:lstStyle/>
          <a:p>
            <a:pPr marL="342900" indent="-342900"/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采用奇偶校验法生成单个冗余盘。</a:t>
            </a:r>
          </a:p>
          <a:p>
            <a:pPr marL="342900" indent="-342900"/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 2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相同，也采用</a:t>
            </a:r>
            <a:r>
              <a:rPr lang="zh-CN" altLang="en-US" sz="1900">
                <a:solidFill>
                  <a:schemeClr val="accent1"/>
                </a:solidFill>
                <a:ea typeface="黑体" panose="02010609060101010101" pitchFamily="49" charset="-122"/>
              </a:rPr>
              <a:t>条区交叉分布方式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，并使用</a:t>
            </a:r>
            <a:r>
              <a:rPr lang="zh-CN" altLang="en-US" sz="1900">
                <a:solidFill>
                  <a:srgbClr val="D1390F"/>
                </a:solidFill>
                <a:ea typeface="黑体" panose="02010609060101010101" pitchFamily="49" charset="-122"/>
              </a:rPr>
              <a:t>小条区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。这样，可获得较高的数据传输率，但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响应时间差。</a:t>
            </a:r>
            <a:r>
              <a:rPr lang="zh-CN" altLang="en-US" sz="1900">
                <a:solidFill>
                  <a:srgbClr val="D1390F"/>
                </a:solidFill>
                <a:ea typeface="黑体" panose="02010609060101010101" pitchFamily="49" charset="-122"/>
              </a:rPr>
              <a:t>为什么？</a:t>
            </a:r>
          </a:p>
          <a:p>
            <a:pPr marL="342900" indent="-342900"/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用于大容量的 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请求的场合，如：图像处理、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CAD 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系统中。</a:t>
            </a:r>
          </a:p>
          <a:p>
            <a:pPr marL="342900" indent="-342900"/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某个磁盘损坏但数据仍有效的情况，称为简化模式。此时损坏的磁盘数据可以通过其它磁盘重新生成。数据重新生成非常简单，这种数据恢复方式同时适用于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RAID3、4、5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级。</a:t>
            </a:r>
          </a:p>
        </p:txBody>
      </p:sp>
      <p:pic>
        <p:nvPicPr>
          <p:cNvPr id="86020" name="Picture 4" descr="RAID3">
            <a:extLst>
              <a:ext uri="{FF2B5EF4-FFF2-40B4-BE49-F238E27FC236}">
                <a16:creationId xmlns:a16="http://schemas.microsoft.com/office/drawing/2014/main" id="{3648F0F3-BD76-7447-8E46-D24091E5AD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350" y="3494088"/>
            <a:ext cx="8882063" cy="299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34CDCCD-C40E-4D44-AF91-B6DB3603D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23825"/>
            <a:ext cx="8640763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4 )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40DD2D0-8722-8E41-AB51-B114CE14EA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2875" y="719138"/>
            <a:ext cx="8650288" cy="3017837"/>
          </a:xfrm>
        </p:spPr>
        <p:txBody>
          <a:bodyPr/>
          <a:lstStyle/>
          <a:p>
            <a:pPr marL="342900" indent="-342900" algn="just">
              <a:lnSpc>
                <a:spcPct val="115000"/>
              </a:lnSpc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用一个冗余盘存放相应块（</a:t>
            </a:r>
            <a:r>
              <a:rPr lang="zh-CN" altLang="en-US" sz="1900">
                <a:solidFill>
                  <a:srgbClr val="D1390F"/>
                </a:solidFill>
                <a:ea typeface="黑体" panose="02010609060101010101" pitchFamily="49" charset="-122"/>
              </a:rPr>
              <a:t>块：较大的数据条区</a:t>
            </a:r>
            <a:r>
              <a:rPr lang="zh-CN" altLang="en-US" sz="1900">
                <a:ea typeface="黑体" panose="02010609060101010101" pitchFamily="49" charset="-122"/>
              </a:rPr>
              <a:t>）的奇偶校验位。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采用</a:t>
            </a:r>
            <a:r>
              <a:rPr lang="zh-CN" altLang="en-US" sz="1900">
                <a:solidFill>
                  <a:srgbClr val="D1390F"/>
                </a:solidFill>
                <a:ea typeface="黑体" panose="02010609060101010101" pitchFamily="49" charset="-122"/>
              </a:rPr>
              <a:t>独立存取</a:t>
            </a:r>
            <a:r>
              <a:rPr lang="zh-CN" altLang="en-US" sz="1900">
                <a:ea typeface="黑体" panose="02010609060101010101" pitchFamily="49" charset="-122"/>
              </a:rPr>
              <a:t>技术，每个磁盘的操作独立进行，所以，可同时响应多个</a:t>
            </a:r>
            <a:r>
              <a:rPr lang="en-US" altLang="zh-CN" sz="1900">
                <a:ea typeface="黑体" panose="02010609060101010101" pitchFamily="49" charset="-122"/>
              </a:rPr>
              <a:t>I/O</a:t>
            </a:r>
            <a:r>
              <a:rPr lang="zh-CN" altLang="en-US" sz="1900">
                <a:ea typeface="黑体" panose="02010609060101010101" pitchFamily="49" charset="-122"/>
              </a:rPr>
              <a:t>请求。因而它适合于要求</a:t>
            </a:r>
            <a:r>
              <a:rPr lang="en-US" altLang="zh-CN" sz="1900">
                <a:ea typeface="黑体" panose="02010609060101010101" pitchFamily="49" charset="-122"/>
              </a:rPr>
              <a:t>I/O</a:t>
            </a:r>
            <a:r>
              <a:rPr lang="zh-CN" altLang="en-US" sz="1900">
                <a:ea typeface="黑体" panose="02010609060101010101" pitchFamily="49" charset="-122"/>
              </a:rPr>
              <a:t>响应速度块的场合。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对于写操作，校验盘成为</a:t>
            </a:r>
            <a:r>
              <a:rPr lang="en-US" altLang="zh-CN" sz="1900">
                <a:ea typeface="黑体" panose="02010609060101010101" pitchFamily="49" charset="-122"/>
              </a:rPr>
              <a:t>I/O</a:t>
            </a:r>
            <a:r>
              <a:rPr lang="zh-CN" altLang="en-US" sz="1900">
                <a:ea typeface="黑体" panose="02010609060101010101" pitchFamily="49" charset="-122"/>
              </a:rPr>
              <a:t>瓶颈，因为每次写都要对校验盘进行。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少量写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（只涉及个别磁盘）</a:t>
            </a:r>
            <a:r>
              <a:rPr lang="zh-CN" altLang="en-US" sz="1900">
                <a:ea typeface="黑体" panose="02010609060101010101" pitchFamily="49" charset="-122"/>
              </a:rPr>
              <a:t>时，有“写损失”，因为一次写操作包含两次读和两次写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</a:pPr>
            <a:r>
              <a:rPr lang="zh-CN" altLang="en-US" sz="1900">
                <a:ea typeface="黑体" panose="02010609060101010101" pitchFamily="49" charset="-122"/>
              </a:rPr>
              <a:t>大量写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（涉及所有磁盘的数据条区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1900">
                <a:ea typeface="黑体" panose="02010609060101010101" pitchFamily="49" charset="-122"/>
              </a:rPr>
              <a:t>时，则只需直接写入奇偶校验盘和数据盘。因为奇偶校验位可全部用新数据计算得到。而无须读原数据</a:t>
            </a:r>
          </a:p>
        </p:txBody>
      </p:sp>
      <p:pic>
        <p:nvPicPr>
          <p:cNvPr id="87044" name="Picture 4" descr="RAID4">
            <a:extLst>
              <a:ext uri="{FF2B5EF4-FFF2-40B4-BE49-F238E27FC236}">
                <a16:creationId xmlns:a16="http://schemas.microsoft.com/office/drawing/2014/main" id="{C50FB183-E9A0-3146-B533-A61C51B65B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200" y="3946525"/>
            <a:ext cx="8610600" cy="266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4F8066C-66D3-9D49-9B89-805698164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133350"/>
            <a:ext cx="854710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RAID4</a:t>
            </a:r>
            <a:r>
              <a:rPr lang="zh-CN" altLang="en-US">
                <a:ea typeface="宋体" panose="02010600030101010101" pitchFamily="2" charset="-122"/>
              </a:rPr>
              <a:t>的少量写</a:t>
            </a:r>
          </a:p>
        </p:txBody>
      </p:sp>
      <p:sp>
        <p:nvSpPr>
          <p:cNvPr id="669701" name="Rectangle 5">
            <a:extLst>
              <a:ext uri="{FF2B5EF4-FFF2-40B4-BE49-F238E27FC236}">
                <a16:creationId xmlns:a16="http://schemas.microsoft.com/office/drawing/2014/main" id="{BF3A684E-48D2-4E42-9FD2-E957A4D8E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754063"/>
            <a:ext cx="832802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     假定考虑一个有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个磁盘的阵列，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到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保存数据，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是奇偶校验盘，初始时对每位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i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有下列关系式：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             p(i)=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      假定仅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改为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 ，其余不变，则新校验位为：  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           P’</a:t>
            </a:r>
            <a:r>
              <a:rPr lang="en-US" altLang="zh-CN" sz="1900" baseline="300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=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                    =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  <a:endParaRPr lang="zh-CN" altLang="en-US" sz="190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just"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      化简后得到：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  p’(i)= p(i) ⊕ 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 ⊕ X’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   由此可见，要更新一个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(i)，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必须先读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p(i)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(i)，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然后写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X’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p’</a:t>
            </a:r>
            <a:r>
              <a:rPr lang="en-US" altLang="zh-CN" sz="1900" baseline="-300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(i)</a:t>
            </a:r>
            <a:endParaRPr lang="zh-CN" altLang="en-US" sz="19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pic>
        <p:nvPicPr>
          <p:cNvPr id="669702" name="Picture 6">
            <a:extLst>
              <a:ext uri="{FF2B5EF4-FFF2-40B4-BE49-F238E27FC236}">
                <a16:creationId xmlns:a16="http://schemas.microsoft.com/office/drawing/2014/main" id="{01616C8C-6DA5-6D41-B348-0FEA0D1D6204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8075" y="3709988"/>
            <a:ext cx="7599363" cy="2733675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669705" name="Rectangle 9">
            <a:extLst>
              <a:ext uri="{FF2B5EF4-FFF2-40B4-BE49-F238E27FC236}">
                <a16:creationId xmlns:a16="http://schemas.microsoft.com/office/drawing/2014/main" id="{2E22E286-462F-AF41-8705-0B55EFFB3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8" y="5014913"/>
            <a:ext cx="1954212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20000"/>
              </a:spcBef>
              <a:buSzPct val="100000"/>
            </a:pPr>
            <a:r>
              <a:rPr lang="zh-CN" altLang="en-US" sz="1900" b="1">
                <a:solidFill>
                  <a:srgbClr val="D1390F"/>
                </a:solidFill>
                <a:ea typeface="黑体" panose="02010609060101010101" pitchFamily="49" charset="-122"/>
              </a:rPr>
              <a:t>一次写操作包含两次读和两次写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6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6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9B7F8C4-A693-3A4E-8DE4-9874E7EEF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71450"/>
            <a:ext cx="8640763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5 )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DAB572B-3850-0E44-9B50-F8AC0A2676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4788" y="730250"/>
            <a:ext cx="8461375" cy="2646363"/>
          </a:xfrm>
        </p:spPr>
        <p:txBody>
          <a:bodyPr/>
          <a:lstStyle/>
          <a:p>
            <a:pPr marL="342900" indent="-342900">
              <a:lnSpc>
                <a:spcPct val="11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 4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的组织方式类似，只是奇偶校验块分布在各个磁盘中，所以，所有磁盘的地位等价，这样可提高容错性，并且避免了使用专门校验盘时潜在的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瓶颈。</a:t>
            </a:r>
          </a:p>
          <a:p>
            <a:pPr marL="342900" indent="-342900">
              <a:lnSpc>
                <a:spcPct val="11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 4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一样，采用独立的存取技术，因而有较高的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I/O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响应速度。</a:t>
            </a:r>
          </a:p>
          <a:p>
            <a:pPr marL="342900" indent="-342900">
              <a:lnSpc>
                <a:spcPct val="11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小数据量的操作可以多个磁盘并行操作。</a:t>
            </a:r>
          </a:p>
          <a:p>
            <a:pPr marL="342900" indent="-342900">
              <a:lnSpc>
                <a:spcPct val="11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成本不高但效率高，所以，被广泛使用。</a:t>
            </a:r>
          </a:p>
          <a:p>
            <a:pPr marL="742950" lvl="1" indent="-285750">
              <a:lnSpc>
                <a:spcPct val="130000"/>
              </a:lnSpc>
            </a:pPr>
            <a:endParaRPr lang="zh-CN" altLang="en-US" sz="1900">
              <a:ea typeface="黑体" panose="02010609060101010101" pitchFamily="49" charset="-122"/>
            </a:endParaRPr>
          </a:p>
        </p:txBody>
      </p:sp>
      <p:pic>
        <p:nvPicPr>
          <p:cNvPr id="89092" name="Picture 4" descr="RAID5">
            <a:extLst>
              <a:ext uri="{FF2B5EF4-FFF2-40B4-BE49-F238E27FC236}">
                <a16:creationId xmlns:a16="http://schemas.microsoft.com/office/drawing/2014/main" id="{3BE7B2A4-E42E-2343-BF5C-9531750D43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638" y="3154363"/>
            <a:ext cx="8677275" cy="3119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9093" name="Text Box 5">
            <a:extLst>
              <a:ext uri="{FF2B5EF4-FFF2-40B4-BE49-F238E27FC236}">
                <a16:creationId xmlns:a16="http://schemas.microsoft.com/office/drawing/2014/main" id="{B89AADCF-FE90-F94A-92E0-AFB36C45E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6361113"/>
            <a:ext cx="4543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C90122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2000" b="1">
                <a:solidFill>
                  <a:srgbClr val="C90122"/>
                </a:solidFill>
                <a:ea typeface="黑体" panose="02010609060101010101" pitchFamily="49" charset="-122"/>
              </a:rPr>
              <a:t>块为校验块，分布在不同的磁盘中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F211E6D-8F59-5F40-9588-10955D48D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33350"/>
            <a:ext cx="8640763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6 )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4DB04DF7-2CE0-5544-B831-BC0F3A7542D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6725" y="735013"/>
            <a:ext cx="8388350" cy="2474912"/>
          </a:xfrm>
        </p:spPr>
        <p:txBody>
          <a:bodyPr/>
          <a:lstStyle/>
          <a:p>
            <a:pPr marL="342900" indent="-342900">
              <a:lnSpc>
                <a:spcPct val="110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冗余信息均匀分布在所有磁盘上，而数据仍以块交叉方式存放</a:t>
            </a:r>
          </a:p>
          <a:p>
            <a:pPr marL="342900" indent="-342900">
              <a:lnSpc>
                <a:spcPct val="110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双维块交叉奇偶校验独立存取盘阵列，容许双盘出错</a:t>
            </a:r>
          </a:p>
          <a:p>
            <a:pPr marL="342900" indent="-342900">
              <a:lnSpc>
                <a:spcPct val="110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它是对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 5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的扩展，主要是用于要求数据绝对不能出错的场合</a:t>
            </a:r>
          </a:p>
          <a:p>
            <a:pPr marL="342900" indent="-342900">
              <a:lnSpc>
                <a:spcPct val="110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由于引入了第二种奇偶校验值，对控制器的设计变得十分复杂，写入速度也比较慢，用于计算奇偶校验值和验证数据正确性所花费的时间比较多</a:t>
            </a:r>
          </a:p>
          <a:p>
            <a:pPr marL="342900" indent="-342900">
              <a:lnSpc>
                <a:spcPct val="110000"/>
              </a:lnSpc>
            </a:pP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 6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级以增大开销的代价保证了高度可靠性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6C694354-CA2D-5240-ACFC-736FE49D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6076950"/>
            <a:ext cx="6854825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SzPct val="100000"/>
            </a:pPr>
            <a:r>
              <a:rPr lang="en-US" altLang="zh-CN" sz="1900" b="1">
                <a:solidFill>
                  <a:srgbClr val="C90122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1900" b="1" baseline="-25000">
                <a:solidFill>
                  <a:srgbClr val="C90122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1900" b="1">
                <a:solidFill>
                  <a:srgbClr val="C90122"/>
                </a:solidFill>
                <a:ea typeface="黑体" panose="02010609060101010101" pitchFamily="49" charset="-122"/>
              </a:rPr>
              <a:t>代表第0条区的奇偶校验值，而</a:t>
            </a:r>
            <a:r>
              <a:rPr lang="en-US" altLang="zh-CN" sz="1900" b="1">
                <a:solidFill>
                  <a:srgbClr val="C90122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1900" b="1" baseline="-25000">
                <a:solidFill>
                  <a:srgbClr val="C90122"/>
                </a:solidFill>
                <a:ea typeface="黑体" panose="02010609060101010101" pitchFamily="49" charset="-122"/>
              </a:rPr>
              <a:t>A</a:t>
            </a:r>
            <a:r>
              <a:rPr lang="zh-CN" altLang="en-US" sz="1900" b="1">
                <a:solidFill>
                  <a:srgbClr val="C90122"/>
                </a:solidFill>
                <a:ea typeface="黑体" panose="02010609060101010101" pitchFamily="49" charset="-122"/>
              </a:rPr>
              <a:t>代表数据块</a:t>
            </a:r>
            <a:r>
              <a:rPr lang="en-US" altLang="zh-CN" sz="1900" b="1">
                <a:solidFill>
                  <a:srgbClr val="C90122"/>
                </a:solidFill>
                <a:ea typeface="黑体" panose="02010609060101010101" pitchFamily="49" charset="-122"/>
              </a:rPr>
              <a:t>A</a:t>
            </a:r>
            <a:r>
              <a:rPr lang="zh-CN" altLang="en-US" sz="1900" b="1">
                <a:solidFill>
                  <a:srgbClr val="C90122"/>
                </a:solidFill>
                <a:ea typeface="黑体" panose="02010609060101010101" pitchFamily="49" charset="-122"/>
              </a:rPr>
              <a:t>的奇偶校验值</a:t>
            </a:r>
          </a:p>
        </p:txBody>
      </p:sp>
      <p:pic>
        <p:nvPicPr>
          <p:cNvPr id="90117" name="Picture 5" descr="外存_RAIB_6级两维块交叉分布校验示意图">
            <a:extLst>
              <a:ext uri="{FF2B5EF4-FFF2-40B4-BE49-F238E27FC236}">
                <a16:creationId xmlns:a16="http://schemas.microsoft.com/office/drawing/2014/main" id="{714D19E3-FD48-5743-9156-1C0D6C6C58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775" y="3338513"/>
            <a:ext cx="8096250" cy="2738437"/>
          </a:xfr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2D89C05-CD20-F447-AD9B-812FB23FB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5250"/>
            <a:ext cx="77724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冗余磁盘阵列 ( </a:t>
            </a:r>
            <a:r>
              <a:rPr lang="en-US" altLang="zh-CN">
                <a:ea typeface="宋体" panose="02010600030101010101" pitchFamily="2" charset="-122"/>
              </a:rPr>
              <a:t>RAID 7 )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6691" name="Rectangle 3">
            <a:extLst>
              <a:ext uri="{FF2B5EF4-FFF2-40B4-BE49-F238E27FC236}">
                <a16:creationId xmlns:a16="http://schemas.microsoft.com/office/drawing/2014/main" id="{15255C3B-2CEC-3C48-8A0B-137DA2021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6713" y="706438"/>
            <a:ext cx="8458200" cy="3257550"/>
          </a:xfrm>
        </p:spPr>
        <p:txBody>
          <a:bodyPr/>
          <a:lstStyle/>
          <a:p>
            <a:pPr marL="342900" indent="-342900" algn="just"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带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的盘阵列</a:t>
            </a:r>
          </a:p>
          <a:p>
            <a:pPr marL="342900" indent="-342900" algn="just">
              <a:lnSpc>
                <a:spcPct val="12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在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RAID6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的基础上，采用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技术使传输率和响应速度都有较大提高</a:t>
            </a:r>
          </a:p>
          <a:p>
            <a:pPr marL="342900" indent="-342900" algn="just">
              <a:lnSpc>
                <a:spcPct val="125000"/>
              </a:lnSpc>
            </a:pP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分块大小和磁盘阵列中数据分块大小相同，一 一对应</a:t>
            </a:r>
          </a:p>
          <a:p>
            <a:pPr marL="342900" indent="-342900" algn="just">
              <a:lnSpc>
                <a:spcPct val="12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有两个独立的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Cache，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双工运行。在写入时将数据同时分别写入两个独立的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Cache，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这样即使其中有一个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出故障，数据也不会丢失</a:t>
            </a:r>
          </a:p>
          <a:p>
            <a:pPr marL="342900" indent="-342900" algn="just">
              <a:lnSpc>
                <a:spcPct val="12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写入磁盘阵列以前，先写入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中。同一磁道的信息在一次操作中完成</a:t>
            </a:r>
          </a:p>
          <a:p>
            <a:pPr marL="342900" indent="-342900" algn="just">
              <a:lnSpc>
                <a:spcPct val="125000"/>
              </a:lnSpc>
            </a:pP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读出时，先从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中读出，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中没有要读的信息时，才从</a:t>
            </a:r>
            <a:r>
              <a:rPr lang="en-US" altLang="zh-CN" sz="1900">
                <a:solidFill>
                  <a:srgbClr val="0000FF"/>
                </a:solidFill>
                <a:ea typeface="黑体" panose="02010609060101010101" pitchFamily="49" charset="-122"/>
              </a:rPr>
              <a:t>RAID</a:t>
            </a:r>
            <a:r>
              <a:rPr lang="zh-CN" altLang="en-US" sz="1900">
                <a:solidFill>
                  <a:srgbClr val="0000FF"/>
                </a:solidFill>
                <a:ea typeface="黑体" panose="02010609060101010101" pitchFamily="49" charset="-122"/>
              </a:rPr>
              <a:t>中读</a:t>
            </a:r>
          </a:p>
        </p:txBody>
      </p:sp>
      <p:sp>
        <p:nvSpPr>
          <p:cNvPr id="626692" name="Text Box 4">
            <a:extLst>
              <a:ext uri="{FF2B5EF4-FFF2-40B4-BE49-F238E27FC236}">
                <a16:creationId xmlns:a16="http://schemas.microsoft.com/office/drawing/2014/main" id="{FCDDDCCF-CD8B-7345-A6D1-2A623D596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4484688"/>
            <a:ext cx="7939087" cy="132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C90122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C90122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solidFill>
                  <a:srgbClr val="C90122"/>
                </a:solidFill>
                <a:ea typeface="黑体" panose="02010609060101010101" pitchFamily="49" charset="-122"/>
              </a:rPr>
              <a:t>RAID</a:t>
            </a:r>
            <a:r>
              <a:rPr lang="zh-CN" altLang="en-US" sz="2000" b="1">
                <a:solidFill>
                  <a:srgbClr val="C90122"/>
                </a:solidFill>
                <a:ea typeface="黑体" panose="02010609060101010101" pitchFamily="49" charset="-122"/>
              </a:rPr>
              <a:t>技术结合，弥补了</a:t>
            </a:r>
            <a:r>
              <a:rPr lang="en-US" altLang="zh-CN" sz="2000" b="1">
                <a:solidFill>
                  <a:srgbClr val="C90122"/>
                </a:solidFill>
                <a:ea typeface="黑体" panose="02010609060101010101" pitchFamily="49" charset="-122"/>
              </a:rPr>
              <a:t>RAID</a:t>
            </a:r>
            <a:r>
              <a:rPr lang="zh-CN" altLang="en-US" sz="2000" b="1">
                <a:solidFill>
                  <a:srgbClr val="C90122"/>
                </a:solidFill>
                <a:ea typeface="黑体" panose="02010609060101010101" pitchFamily="49" charset="-122"/>
              </a:rPr>
              <a:t>的不足（如：分块的写请求响应性能差等），从而以高效、快速、大容量、高可靠性，以及灵活方便的存储系统提供给用户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6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6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6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6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6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4F47B83-A6F1-EA48-B95E-F2B172083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128588"/>
            <a:ext cx="8807450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闪存（</a:t>
            </a:r>
            <a:r>
              <a:rPr lang="en-US" altLang="zh-CN">
                <a:ea typeface="宋体" panose="02010600030101010101" pitchFamily="2" charset="-122"/>
              </a:rPr>
              <a:t>Flash Memory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754692" name="Picture 4">
            <a:extLst>
              <a:ext uri="{FF2B5EF4-FFF2-40B4-BE49-F238E27FC236}">
                <a16:creationId xmlns:a16="http://schemas.microsoft.com/office/drawing/2014/main" id="{A9798726-4B13-974F-9962-F502D75C6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673225"/>
            <a:ext cx="5265738" cy="427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4695" name="Rectangle 7">
            <a:extLst>
              <a:ext uri="{FF2B5EF4-FFF2-40B4-BE49-F238E27FC236}">
                <a16:creationId xmlns:a16="http://schemas.microsoft.com/office/drawing/2014/main" id="{E425C92F-7F99-0243-8B8A-CCC27051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6138863"/>
            <a:ext cx="39766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solidFill>
                  <a:srgbClr val="666699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(a)“0”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状态                   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(b) “1”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状态 </a:t>
            </a:r>
            <a:endParaRPr lang="en-US" altLang="zh-CN" sz="2000" b="1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754696" name="Rectangle 8">
            <a:extLst>
              <a:ext uri="{FF2B5EF4-FFF2-40B4-BE49-F238E27FC236}">
                <a16:creationId xmlns:a16="http://schemas.microsoft.com/office/drawing/2014/main" id="{112B5834-7A00-2741-9062-0EEE16205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5" y="1670050"/>
            <a:ext cx="28368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控制栅加足够正电压时，浮空栅储存大量负电荷，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态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lnSpc>
                <a:spcPct val="125000"/>
              </a:lnSpc>
            </a:pPr>
            <a:endParaRPr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控制栅不加正电压时，浮空栅少带或不带负电荷，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态。</a:t>
            </a:r>
            <a:endParaRPr lang="en-US" altLang="zh-CN" sz="2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166" name="Text Box 12">
            <a:extLst>
              <a:ext uri="{FF2B5EF4-FFF2-40B4-BE49-F238E27FC236}">
                <a16:creationId xmlns:a16="http://schemas.microsoft.com/office/drawing/2014/main" id="{D3075E7E-1B2A-C94E-849C-EB7E481E1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98538"/>
            <a:ext cx="72453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99"/>
                </a:solidFill>
                <a:ea typeface="华文新魏" panose="02010800040101010101" pitchFamily="2" charset="-122"/>
              </a:rPr>
              <a:t>Flash </a:t>
            </a:r>
            <a:r>
              <a:rPr kumimoji="1" lang="zh-CN" altLang="en-US" sz="2800" b="1">
                <a:solidFill>
                  <a:srgbClr val="000099"/>
                </a:solidFill>
                <a:ea typeface="华文新魏" panose="02010800040101010101" pitchFamily="2" charset="-122"/>
              </a:rPr>
              <a:t>存储元：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5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5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5" grpId="0"/>
      <p:bldP spid="75469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9A5792AB-D231-D244-9336-E562C7D13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闪存（</a:t>
            </a:r>
            <a:r>
              <a:rPr lang="en-US" altLang="zh-CN">
                <a:ea typeface="宋体" panose="02010600030101010101" pitchFamily="2" charset="-122"/>
              </a:rPr>
              <a:t>Flash Memory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zh-CN" altLang="en-US"/>
          </a:p>
        </p:txBody>
      </p:sp>
      <p:pic>
        <p:nvPicPr>
          <p:cNvPr id="93187" name="Picture 4">
            <a:extLst>
              <a:ext uri="{FF2B5EF4-FFF2-40B4-BE49-F238E27FC236}">
                <a16:creationId xmlns:a16="http://schemas.microsoft.com/office/drawing/2014/main" id="{60197A18-1BD1-FF42-A2F7-A20D406C6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817563"/>
            <a:ext cx="4524375" cy="3678237"/>
          </a:xfrm>
          <a:prstGeom prst="rect">
            <a:avLst/>
          </a:prstGeom>
          <a:solidFill>
            <a:srgbClr val="00CC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3188" name="Picture 5">
            <a:extLst>
              <a:ext uri="{FF2B5EF4-FFF2-40B4-BE49-F238E27FC236}">
                <a16:creationId xmlns:a16="http://schemas.microsoft.com/office/drawing/2014/main" id="{955A29A7-1E82-094E-A96C-9C9AB5891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817563"/>
            <a:ext cx="3821113" cy="373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189" name="Rectangle 6">
            <a:extLst>
              <a:ext uri="{FF2B5EF4-FFF2-40B4-BE49-F238E27FC236}">
                <a16:creationId xmlns:a16="http://schemas.microsoft.com/office/drawing/2014/main" id="{C0E2ACEC-CBDC-B049-BC49-A60ED15D7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138738"/>
            <a:ext cx="53546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有三种操作：擦除、编程、读取</a:t>
            </a:r>
          </a:p>
        </p:txBody>
      </p:sp>
      <p:sp>
        <p:nvSpPr>
          <p:cNvPr id="93190" name="Text Box 7">
            <a:extLst>
              <a:ext uri="{FF2B5EF4-FFF2-40B4-BE49-F238E27FC236}">
                <a16:creationId xmlns:a16="http://schemas.microsoft.com/office/drawing/2014/main" id="{87CA449A-C140-A840-8930-103CA8951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5589588"/>
            <a:ext cx="7335837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写入：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快擦（所有单元为</a:t>
            </a:r>
            <a:r>
              <a:rPr kumimoji="1" lang="en-US" altLang="zh-CN" sz="2000">
                <a:solidFill>
                  <a:srgbClr val="BD011E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）</a:t>
            </a:r>
            <a:r>
              <a:rPr kumimoji="1" lang="en-US" altLang="zh-CN" sz="2000">
                <a:solidFill>
                  <a:srgbClr val="BD011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 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编程（需要之处写</a:t>
            </a:r>
            <a:r>
              <a:rPr kumimoji="1" lang="en-US" altLang="zh-CN" sz="2000">
                <a:solidFill>
                  <a:srgbClr val="BD011E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）</a:t>
            </a:r>
            <a:endParaRPr kumimoji="1" lang="en-US" altLang="zh-CN" sz="2000">
              <a:solidFill>
                <a:srgbClr val="BD011E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读出：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控制栅加正电压，若状态为</a:t>
            </a:r>
            <a:r>
              <a:rPr kumimoji="1" lang="en-US" altLang="zh-CN" sz="2000">
                <a:solidFill>
                  <a:srgbClr val="BD011E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，则读出电路检测不到电流；   </a:t>
            </a:r>
          </a:p>
          <a:p>
            <a:pPr eaLnBrk="1" hangingPunct="1">
              <a:spcBef>
                <a:spcPct val="20000"/>
              </a:spcBef>
              <a:buSzTx/>
              <a:buFontTx/>
              <a:buNone/>
            </a:pP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           若状态为</a:t>
            </a:r>
            <a:r>
              <a:rPr kumimoji="1" lang="en-US" altLang="zh-CN" sz="2000">
                <a:solidFill>
                  <a:srgbClr val="BD011E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>
                <a:solidFill>
                  <a:srgbClr val="BD011E"/>
                </a:solidFill>
                <a:ea typeface="黑体" panose="02010609060101010101" pitchFamily="49" charset="-122"/>
              </a:rPr>
              <a:t>，则能检测到电流。</a:t>
            </a:r>
          </a:p>
        </p:txBody>
      </p:sp>
      <p:sp>
        <p:nvSpPr>
          <p:cNvPr id="93191" name="AutoShape 8">
            <a:extLst>
              <a:ext uri="{FF2B5EF4-FFF2-40B4-BE49-F238E27FC236}">
                <a16:creationId xmlns:a16="http://schemas.microsoft.com/office/drawing/2014/main" id="{63685BAF-E5F4-2143-A477-26A7B716B332}"/>
              </a:ext>
            </a:extLst>
          </p:cNvPr>
          <p:cNvSpPr>
            <a:spLocks/>
          </p:cNvSpPr>
          <p:nvPr/>
        </p:nvSpPr>
        <p:spPr bwMode="auto">
          <a:xfrm>
            <a:off x="431800" y="5678488"/>
            <a:ext cx="225425" cy="695325"/>
          </a:xfrm>
          <a:prstGeom prst="leftBrace">
            <a:avLst>
              <a:gd name="adj1" fmla="val 25704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93192" name="Rectangle 9">
            <a:extLst>
              <a:ext uri="{FF2B5EF4-FFF2-40B4-BE49-F238E27FC236}">
                <a16:creationId xmlns:a16="http://schemas.microsoft.com/office/drawing/2014/main" id="{E2BF4E25-3F0E-974F-89B6-DBAD456E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4700588"/>
            <a:ext cx="85534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solidFill>
                  <a:srgbClr val="666699"/>
                </a:solidFill>
                <a:ea typeface="华文新魏" panose="02010800040101010101" pitchFamily="2" charset="-122"/>
              </a:rPr>
              <a:t> 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(a) 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编程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: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写“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0”      (b) 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擦除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: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写“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1”              (a) 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读“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0”         (b) 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读“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1” </a:t>
            </a:r>
          </a:p>
        </p:txBody>
      </p:sp>
      <p:sp>
        <p:nvSpPr>
          <p:cNvPr id="93193" name="Rectangle 11">
            <a:extLst>
              <a:ext uri="{FF2B5EF4-FFF2-40B4-BE49-F238E27FC236}">
                <a16:creationId xmlns:a16="http://schemas.microsoft.com/office/drawing/2014/main" id="{AA60AA8F-6429-A948-80A7-30E234A13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803275"/>
            <a:ext cx="3881438" cy="3841750"/>
          </a:xfrm>
          <a:prstGeom prst="rect">
            <a:avLst/>
          </a:prstGeom>
          <a:solidFill>
            <a:srgbClr val="CCFFFF">
              <a:alpha val="3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93194" name="Text Box 12">
            <a:extLst>
              <a:ext uri="{FF2B5EF4-FFF2-40B4-BE49-F238E27FC236}">
                <a16:creationId xmlns:a16="http://schemas.microsoft.com/office/drawing/2014/main" id="{98C96555-FB14-6740-AEB6-E7DFFDE63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413" y="5138738"/>
            <a:ext cx="197961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读快、写慢！</a:t>
            </a:r>
          </a:p>
        </p:txBody>
      </p:sp>
      <p:sp>
        <p:nvSpPr>
          <p:cNvPr id="93195" name="TextBox 11">
            <a:extLst>
              <a:ext uri="{FF2B5EF4-FFF2-40B4-BE49-F238E27FC236}">
                <a16:creationId xmlns:a16="http://schemas.microsoft.com/office/drawing/2014/main" id="{4F11A2A0-ED1B-E742-9B82-6A26D8D49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4073525"/>
            <a:ext cx="622300" cy="400050"/>
          </a:xfrm>
          <a:prstGeom prst="rect">
            <a:avLst/>
          </a:prstGeom>
          <a:solidFill>
            <a:srgbClr val="EB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+V</a:t>
            </a:r>
            <a:r>
              <a:rPr lang="en-US" altLang="zh-CN" sz="2000" baseline="-2500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endParaRPr lang="zh-CN" altLang="en-US" sz="2000" baseline="-25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3196" name="Rectangle 10">
            <a:extLst>
              <a:ext uri="{FF2B5EF4-FFF2-40B4-BE49-F238E27FC236}">
                <a16:creationId xmlns:a16="http://schemas.microsoft.com/office/drawing/2014/main" id="{1CE457A2-E3C6-1B42-B7F6-F34C74A6C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828675"/>
            <a:ext cx="4511675" cy="3629025"/>
          </a:xfrm>
          <a:prstGeom prst="rect">
            <a:avLst/>
          </a:prstGeom>
          <a:solidFill>
            <a:srgbClr val="CCFFFF">
              <a:alpha val="36862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905A5BE-16F3-6C40-A709-851709E8D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固态硬盘（</a:t>
            </a:r>
            <a:r>
              <a:rPr lang="en-US" altLang="zh-CN">
                <a:ea typeface="宋体" panose="02010600030101010101" pitchFamily="2" charset="-122"/>
              </a:rPr>
              <a:t>SSD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299" name="Rectangle 3">
            <a:extLst>
              <a:ext uri="{FF2B5EF4-FFF2-40B4-BE49-F238E27FC236}">
                <a16:creationId xmlns:a16="http://schemas.microsoft.com/office/drawing/2014/main" id="{65A07407-5C24-3C40-B0EC-E92E4F0F9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931863"/>
            <a:ext cx="8191500" cy="559593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固态硬盘（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Solid State Disk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）也被称为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电子硬盘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它并不是一种磁表面存储器，而是一种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NAND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闪存组成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的外部存储系统，与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盘并没有本质差别，只是容量更大，存取性能更好。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它用闪存颗粒代替了磁盘作为存储介质，利用闪存的特点，以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区块写入和抹除的方式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进行数据的读取和写入。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写操作比读操作慢得多。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电信号的控制使得固态硬盘的内部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传输速率远远高于常规硬盘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其接口规范和定义、功能及使用方法与传统硬盘完全相同，在产品外形和尺寸上也与普通硬盘一致。目前接口标准上使用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SATA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IDE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，因此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通过标准磁盘接口与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总线互连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中有一个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闪存翻译层，它将来自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的逻辑磁盘块读写请求翻译成对底层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物理设备的读写控制信号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。因此，这个闪存翻译层相当于磁盘控制器。 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闪存的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擦写次数有限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，所以频繁擦写会降低其写入使用寿命。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C9731B3B-3C32-C849-9AD4-4E88E4F36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固态硬盘（</a:t>
            </a:r>
            <a:r>
              <a:rPr lang="en-US" altLang="zh-CN">
                <a:ea typeface="宋体" panose="02010600030101010101" pitchFamily="2" charset="-122"/>
              </a:rPr>
              <a:t>SSD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299" name="Rectangle 3">
            <a:extLst>
              <a:ext uri="{FF2B5EF4-FFF2-40B4-BE49-F238E27FC236}">
                <a16:creationId xmlns:a16="http://schemas.microsoft.com/office/drawing/2014/main" id="{2F400AD5-FF87-CE4C-902D-7E74DA2CF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438" y="1184275"/>
            <a:ext cx="8747125" cy="448945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中一个闪存芯片由若干个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组成，每个区块由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若干页（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组成，通常，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页大小为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512B~4KiB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，每个区块由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32~128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个页组成，因而区块大小为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16KiB~512KiB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数据按页为单位进行读写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有三个限制：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写一个页的信息之前，必须先擦除该页所在的整个区块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擦除后区块内的页必须按顺序写入信息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只有有限的擦除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编程次数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某一区块进行了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几千到几万次重复写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之后，就会被磨损而变成坏区块，不能再被使用。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闪存翻译层中有一个专门的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均化磨损（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wear leveling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）逻辑电路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，试图将擦除操作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平均分布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在所有区块上，以最大限度地延长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的使用寿命。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EBB16914-3E98-FA44-BDA0-5053B34A2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938" y="57150"/>
            <a:ext cx="7499350" cy="581025"/>
          </a:xfrm>
        </p:spPr>
        <p:txBody>
          <a:bodyPr/>
          <a:lstStyle/>
          <a:p>
            <a:r>
              <a:rPr lang="zh-CN" altLang="en-US" sz="4000"/>
              <a:t>层次结构存储系统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C8D9BCA-0B59-A74D-AFBC-C05BB752C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895350"/>
            <a:ext cx="8229600" cy="5159375"/>
          </a:xfrm>
          <a:noFill/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分以下六个部分介绍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第一讲：存储器概述和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芯片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第二讲：主存与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的连接及其读写操作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主存模块的连接和读写操作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“装入”指令和“存储”指令操作过程 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第三讲：外部辅助存储器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第四讲：存储器的数据校验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第五讲：高速缓冲存储器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(cache)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程序访问的局部性、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行和主存块之间的映射方式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和程序性能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第六讲：虚拟存储器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虚拟地址空间、虚拟存储器的实现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2DBF1FA4-3773-9545-AFB8-51B900CC5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0500"/>
            <a:ext cx="7178675" cy="449263"/>
          </a:xfrm>
        </p:spPr>
        <p:txBody>
          <a:bodyPr/>
          <a:lstStyle/>
          <a:p>
            <a:r>
              <a:rPr lang="zh-CN" altLang="en-US" sz="3000">
                <a:ea typeface="宋体" panose="02010600030101010101" pitchFamily="2" charset="-122"/>
              </a:rPr>
              <a:t>数据的检/纠错（</a:t>
            </a:r>
            <a:r>
              <a:rPr lang="en-US" altLang="zh-CN" sz="3000">
                <a:ea typeface="宋体" panose="02010600030101010101" pitchFamily="2" charset="-122"/>
              </a:rPr>
              <a:t>Error Detect/Correct</a:t>
            </a:r>
            <a:r>
              <a:rPr lang="zh-CN" altLang="en-US" sz="300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14EF6504-AAD7-8447-8597-42F82ABC7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60413"/>
            <a:ext cx="8751888" cy="3086100"/>
          </a:xfrm>
        </p:spPr>
        <p:txBody>
          <a:bodyPr/>
          <a:lstStyle/>
          <a:p>
            <a:pPr marL="342900" indent="-342900">
              <a:lnSpc>
                <a:spcPct val="105000"/>
              </a:lnSpc>
              <a:spcBef>
                <a:spcPct val="3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为什么要进行数据的错误检测与校正？</a:t>
            </a:r>
          </a:p>
          <a:p>
            <a:pPr marL="342900" indent="-342900">
              <a:lnSpc>
                <a:spcPct val="10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存取和传送时，由于元器件故障或噪音干扰等原因会出现差错。措施：</a:t>
            </a:r>
          </a:p>
          <a:p>
            <a:pPr marL="342900" indent="-342900">
              <a:lnSpc>
                <a:spcPct val="10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    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(1) 从计算机硬件本身的可靠性入手，在电路、电源、布线等各方面采取必要的措施，提高计算机的抗干扰能力；</a:t>
            </a:r>
          </a:p>
          <a:p>
            <a:pPr marL="342900" indent="-342900">
              <a:lnSpc>
                <a:spcPct val="10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         (2) 采取相应的数据检错和校正措施，自动地发现并纠正错误。</a:t>
            </a:r>
          </a:p>
          <a:p>
            <a:pPr marL="342900" indent="-342900"/>
            <a:r>
              <a:rPr lang="zh-CN" altLang="en-US" sz="2000">
                <a:ea typeface="黑体" panose="02010609060101010101" pitchFamily="49" charset="-122"/>
              </a:rPr>
              <a:t>如何进行错误检测与校正？</a:t>
            </a:r>
          </a:p>
          <a:p>
            <a:pPr marL="742950" lvl="1" indent="-285750">
              <a:buClr>
                <a:srgbClr val="000099"/>
              </a:buClr>
            </a:pPr>
            <a:r>
              <a:rPr lang="zh-CN" altLang="en-US">
                <a:ea typeface="黑体" panose="02010609060101010101" pitchFamily="49" charset="-122"/>
              </a:rPr>
              <a:t>大多采用“冗余校验”思想，即除原数据信息外，还增加若干位编码，这些新增的代码被称为校验位。</a:t>
            </a:r>
            <a:endParaRPr lang="zh-CN" altLang="en-US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06D507BA-E752-0448-8638-858D098AFA65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3870325"/>
            <a:ext cx="6915150" cy="2616200"/>
            <a:chOff x="672" y="2399"/>
            <a:chExt cx="4356" cy="1648"/>
          </a:xfrm>
        </p:grpSpPr>
        <p:sp>
          <p:nvSpPr>
            <p:cNvPr id="98310" name="Text Box 5">
              <a:extLst>
                <a:ext uri="{FF2B5EF4-FFF2-40B4-BE49-F238E27FC236}">
                  <a16:creationId xmlns:a16="http://schemas.microsoft.com/office/drawing/2014/main" id="{5D099D85-3ADC-FF4A-AE23-A43E62548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4" y="3271"/>
              <a:ext cx="922" cy="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44000" rIns="0" bIns="14400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存储器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或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传输线路</a:t>
              </a:r>
            </a:p>
          </p:txBody>
        </p:sp>
        <p:sp>
          <p:nvSpPr>
            <p:cNvPr id="98311" name="Line 6">
              <a:extLst>
                <a:ext uri="{FF2B5EF4-FFF2-40B4-BE49-F238E27FC236}">
                  <a16:creationId xmlns:a16="http://schemas.microsoft.com/office/drawing/2014/main" id="{169AE0DE-0777-D04C-8D11-42C5EB36D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" y="3466"/>
              <a:ext cx="1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2" name="Text Box 7">
              <a:extLst>
                <a:ext uri="{FF2B5EF4-FFF2-40B4-BE49-F238E27FC236}">
                  <a16:creationId xmlns:a16="http://schemas.microsoft.com/office/drawing/2014/main" id="{09C5A7EC-113B-5A44-BCFB-44E9C658B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3729"/>
              <a:ext cx="388" cy="29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98313" name="Line 8">
              <a:extLst>
                <a:ext uri="{FF2B5EF4-FFF2-40B4-BE49-F238E27FC236}">
                  <a16:creationId xmlns:a16="http://schemas.microsoft.com/office/drawing/2014/main" id="{389AD938-0438-7E44-8E40-70C1BA636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466"/>
              <a:ext cx="1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4" name="Line 9">
              <a:extLst>
                <a:ext uri="{FF2B5EF4-FFF2-40B4-BE49-F238E27FC236}">
                  <a16:creationId xmlns:a16="http://schemas.microsoft.com/office/drawing/2014/main" id="{D52970AB-8632-B347-9DE4-3AAF326FF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3867"/>
              <a:ext cx="6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5" name="Line 10">
              <a:extLst>
                <a:ext uri="{FF2B5EF4-FFF2-40B4-BE49-F238E27FC236}">
                  <a16:creationId xmlns:a16="http://schemas.microsoft.com/office/drawing/2014/main" id="{17D68C3C-488D-E148-A2E8-9788B0812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" y="3475"/>
              <a:ext cx="729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6" name="Text Box 11">
              <a:extLst>
                <a:ext uri="{FF2B5EF4-FFF2-40B4-BE49-F238E27FC236}">
                  <a16:creationId xmlns:a16="http://schemas.microsoft.com/office/drawing/2014/main" id="{993D63F0-5B33-0D4C-A061-F47A3566C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3341"/>
              <a:ext cx="38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98317" name="Line 12">
              <a:extLst>
                <a:ext uri="{FF2B5EF4-FFF2-40B4-BE49-F238E27FC236}">
                  <a16:creationId xmlns:a16="http://schemas.microsoft.com/office/drawing/2014/main" id="{5ADAB000-9B13-0140-8392-35E52CAC8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3837"/>
              <a:ext cx="15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8" name="Line 13">
              <a:extLst>
                <a:ext uri="{FF2B5EF4-FFF2-40B4-BE49-F238E27FC236}">
                  <a16:creationId xmlns:a16="http://schemas.microsoft.com/office/drawing/2014/main" id="{F0C321A9-89AD-8040-B1B0-AF52DF460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0" y="3460"/>
              <a:ext cx="446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19" name="Text Box 14">
              <a:extLst>
                <a:ext uri="{FF2B5EF4-FFF2-40B4-BE49-F238E27FC236}">
                  <a16:creationId xmlns:a16="http://schemas.microsoft.com/office/drawing/2014/main" id="{C4B89D01-DC05-844E-9D0D-704E34F3A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3349"/>
              <a:ext cx="620" cy="59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比较</a:t>
              </a:r>
            </a:p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20" name="Text Box 15">
              <a:extLst>
                <a:ext uri="{FF2B5EF4-FFF2-40B4-BE49-F238E27FC236}">
                  <a16:creationId xmlns:a16="http://schemas.microsoft.com/office/drawing/2014/main" id="{C33CFB94-0EE5-A446-9ECD-008EC78C9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" y="2768"/>
              <a:ext cx="815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纠正器</a:t>
              </a:r>
            </a:p>
          </p:txBody>
        </p:sp>
        <p:sp>
          <p:nvSpPr>
            <p:cNvPr id="98321" name="Line 16">
              <a:extLst>
                <a:ext uri="{FF2B5EF4-FFF2-40B4-BE49-F238E27FC236}">
                  <a16:creationId xmlns:a16="http://schemas.microsoft.com/office/drawing/2014/main" id="{92B3E5D7-E6D6-FD43-85A3-6D2728766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21" y="3034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2" name="Line 17">
              <a:extLst>
                <a:ext uri="{FF2B5EF4-FFF2-40B4-BE49-F238E27FC236}">
                  <a16:creationId xmlns:a16="http://schemas.microsoft.com/office/drawing/2014/main" id="{AABC8762-34A4-EC4E-BDF4-18E2AA38D4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" y="2883"/>
              <a:ext cx="1" cy="4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3" name="Line 18">
              <a:extLst>
                <a:ext uri="{FF2B5EF4-FFF2-40B4-BE49-F238E27FC236}">
                  <a16:creationId xmlns:a16="http://schemas.microsoft.com/office/drawing/2014/main" id="{9EAD9E9C-E707-E544-98F0-BFE8FB0D7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9" y="2883"/>
              <a:ext cx="8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4" name="Line 19">
              <a:extLst>
                <a:ext uri="{FF2B5EF4-FFF2-40B4-BE49-F238E27FC236}">
                  <a16:creationId xmlns:a16="http://schemas.microsoft.com/office/drawing/2014/main" id="{7B8AB724-569F-6E4F-BCD3-0E4C378D6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883"/>
              <a:ext cx="22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5" name="Line 20">
              <a:extLst>
                <a:ext uri="{FF2B5EF4-FFF2-40B4-BE49-F238E27FC236}">
                  <a16:creationId xmlns:a16="http://schemas.microsoft.com/office/drawing/2014/main" id="{93174F9C-E8BC-624B-A5E6-8B871048B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2637"/>
              <a:ext cx="42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6" name="Line 21">
              <a:extLst>
                <a:ext uri="{FF2B5EF4-FFF2-40B4-BE49-F238E27FC236}">
                  <a16:creationId xmlns:a16="http://schemas.microsoft.com/office/drawing/2014/main" id="{B8589597-3CF0-F54E-A6F8-3F5109F1A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" y="2635"/>
              <a:ext cx="6" cy="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7" name="Text Box 22">
              <a:extLst>
                <a:ext uri="{FF2B5EF4-FFF2-40B4-BE49-F238E27FC236}">
                  <a16:creationId xmlns:a16="http://schemas.microsoft.com/office/drawing/2014/main" id="{C9BF033C-2C3C-7D43-AD9A-0F42A0BDE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3271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8328" name="Line 23">
              <a:extLst>
                <a:ext uri="{FF2B5EF4-FFF2-40B4-BE49-F238E27FC236}">
                  <a16:creationId xmlns:a16="http://schemas.microsoft.com/office/drawing/2014/main" id="{0EF88794-7CC3-6448-B55D-DE7266648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2" y="3416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29" name="Text Box 24">
              <a:extLst>
                <a:ext uri="{FF2B5EF4-FFF2-40B4-BE49-F238E27FC236}">
                  <a16:creationId xmlns:a16="http://schemas.microsoft.com/office/drawing/2014/main" id="{07B096DE-3DCE-7E44-809D-0EFA2490D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3667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8330" name="Line 25">
              <a:extLst>
                <a:ext uri="{FF2B5EF4-FFF2-40B4-BE49-F238E27FC236}">
                  <a16:creationId xmlns:a16="http://schemas.microsoft.com/office/drawing/2014/main" id="{5E4DF160-7FFC-474C-B14D-CB7AE5618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3812"/>
              <a:ext cx="78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31" name="Text Box 26">
              <a:extLst>
                <a:ext uri="{FF2B5EF4-FFF2-40B4-BE49-F238E27FC236}">
                  <a16:creationId xmlns:a16="http://schemas.microsoft.com/office/drawing/2014/main" id="{5FCBA465-2881-014D-8CC0-22BC25C50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7" y="3273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M’</a:t>
              </a:r>
            </a:p>
          </p:txBody>
        </p:sp>
        <p:sp>
          <p:nvSpPr>
            <p:cNvPr id="98332" name="Line 27">
              <a:extLst>
                <a:ext uri="{FF2B5EF4-FFF2-40B4-BE49-F238E27FC236}">
                  <a16:creationId xmlns:a16="http://schemas.microsoft.com/office/drawing/2014/main" id="{9F6837ED-45C6-074F-8EDD-703B23110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3418"/>
              <a:ext cx="78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33" name="Text Box 28">
              <a:extLst>
                <a:ext uri="{FF2B5EF4-FFF2-40B4-BE49-F238E27FC236}">
                  <a16:creationId xmlns:a16="http://schemas.microsoft.com/office/drawing/2014/main" id="{19CB3C2C-C20B-9345-8291-FA8F36E62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3644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P”</a:t>
              </a:r>
            </a:p>
          </p:txBody>
        </p:sp>
        <p:sp>
          <p:nvSpPr>
            <p:cNvPr id="98334" name="Line 29">
              <a:extLst>
                <a:ext uri="{FF2B5EF4-FFF2-40B4-BE49-F238E27FC236}">
                  <a16:creationId xmlns:a16="http://schemas.microsoft.com/office/drawing/2014/main" id="{82BA13B9-2E49-414E-A21E-612725B7F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9" y="3791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35" name="Text Box 30">
              <a:extLst>
                <a:ext uri="{FF2B5EF4-FFF2-40B4-BE49-F238E27FC236}">
                  <a16:creationId xmlns:a16="http://schemas.microsoft.com/office/drawing/2014/main" id="{D8C49709-0A8E-4F47-AA89-237C65EDE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3265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</a:p>
          </p:txBody>
        </p:sp>
        <p:sp>
          <p:nvSpPr>
            <p:cNvPr id="98336" name="Line 31">
              <a:extLst>
                <a:ext uri="{FF2B5EF4-FFF2-40B4-BE49-F238E27FC236}">
                  <a16:creationId xmlns:a16="http://schemas.microsoft.com/office/drawing/2014/main" id="{8F26B948-2802-E540-A30D-D8D033257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" y="3411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37" name="Text Box 32">
              <a:extLst>
                <a:ext uri="{FF2B5EF4-FFF2-40B4-BE49-F238E27FC236}">
                  <a16:creationId xmlns:a16="http://schemas.microsoft.com/office/drawing/2014/main" id="{3F7FC992-A128-2442-8D37-AED1B969F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2678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8338" name="Line 33">
              <a:extLst>
                <a:ext uri="{FF2B5EF4-FFF2-40B4-BE49-F238E27FC236}">
                  <a16:creationId xmlns:a16="http://schemas.microsoft.com/office/drawing/2014/main" id="{E235226C-D386-3F48-AEB8-CF1AF438E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2824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39" name="Text Box 34">
              <a:extLst>
                <a:ext uri="{FF2B5EF4-FFF2-40B4-BE49-F238E27FC236}">
                  <a16:creationId xmlns:a16="http://schemas.microsoft.com/office/drawing/2014/main" id="{4E59D83A-6C08-E94C-8919-F49CA23D8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399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出错信号</a:t>
              </a:r>
            </a:p>
          </p:txBody>
        </p:sp>
        <p:sp>
          <p:nvSpPr>
            <p:cNvPr id="98340" name="Text Box 35">
              <a:extLst>
                <a:ext uri="{FF2B5EF4-FFF2-40B4-BE49-F238E27FC236}">
                  <a16:creationId xmlns:a16="http://schemas.microsoft.com/office/drawing/2014/main" id="{0ED40B8E-25DD-F14E-AB0D-6F4FBE994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2648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数据输出</a:t>
              </a:r>
            </a:p>
          </p:txBody>
        </p:sp>
        <p:sp>
          <p:nvSpPr>
            <p:cNvPr id="98341" name="Text Box 36">
              <a:extLst>
                <a:ext uri="{FF2B5EF4-FFF2-40B4-BE49-F238E27FC236}">
                  <a16:creationId xmlns:a16="http://schemas.microsoft.com/office/drawing/2014/main" id="{B0DCAC85-3ED2-0D4A-B99A-97DA9841C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3271"/>
              <a:ext cx="7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数据输入</a:t>
              </a:r>
            </a:p>
          </p:txBody>
        </p:sp>
      </p:grpSp>
      <p:sp>
        <p:nvSpPr>
          <p:cNvPr id="62502" name="Text Box 38">
            <a:extLst>
              <a:ext uri="{FF2B5EF4-FFF2-40B4-BE49-F238E27FC236}">
                <a16:creationId xmlns:a16="http://schemas.microsoft.com/office/drawing/2014/main" id="{4FFEA86E-12F0-1B4C-87F5-C37A0812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1475" y="6461125"/>
            <a:ext cx="2074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为校验位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1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6F51E29-78F9-314A-803D-CFD7567B3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 数据的检/纠错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9AAC49E7-B708-3E41-A0CB-2097916AB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150" y="700088"/>
            <a:ext cx="8704263" cy="2882900"/>
          </a:xfrm>
        </p:spPr>
        <p:txBody>
          <a:bodyPr/>
          <a:lstStyle/>
          <a:p>
            <a:pPr marL="342900" indent="-342900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400">
                <a:ea typeface="黑体" panose="02010609060101010101" pitchFamily="49" charset="-122"/>
              </a:rPr>
              <a:t>比较的结果为以下三种情况之一：</a:t>
            </a:r>
          </a:p>
          <a:p>
            <a:pPr marL="342900" indent="-342900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400">
                <a:ea typeface="黑体" panose="02010609060101010101" pitchFamily="49" charset="-122"/>
              </a:rPr>
              <a:t>    </a:t>
            </a:r>
            <a:r>
              <a:rPr lang="zh-CN" altLang="en-US" sz="2400">
                <a:solidFill>
                  <a:schemeClr val="hlink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① 没有检测到错误，得到的数据位直接传送出去。</a:t>
            </a:r>
          </a:p>
          <a:p>
            <a:pPr marL="342900" indent="-342900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     ② 检测到差错，并可以纠错。数据位和比较结果一起送入纠错器，将正确数据位传送出去。</a:t>
            </a:r>
          </a:p>
          <a:p>
            <a:pPr marL="342900" indent="-342900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     ③ 检测到错误，但无法确认哪位出错，因而不能进行纠错处理，此时，报告出错情况。</a:t>
            </a:r>
          </a:p>
        </p:txBody>
      </p:sp>
      <p:sp>
        <p:nvSpPr>
          <p:cNvPr id="99332" name="Text Box 37">
            <a:extLst>
              <a:ext uri="{FF2B5EF4-FFF2-40B4-BE49-F238E27FC236}">
                <a16:creationId xmlns:a16="http://schemas.microsoft.com/office/drawing/2014/main" id="{E44AFE23-FA0E-D14D-BAE8-02A4BF435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6224588"/>
            <a:ext cx="8143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 action="ppaction://hlinksldjump"/>
              </a:rPr>
              <a:t>BACK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8">
            <a:extLst>
              <a:ext uri="{FF2B5EF4-FFF2-40B4-BE49-F238E27FC236}">
                <a16:creationId xmlns:a16="http://schemas.microsoft.com/office/drawing/2014/main" id="{FE921321-4E20-3A45-9796-E1ABADC98DE2}"/>
              </a:ext>
            </a:extLst>
          </p:cNvPr>
          <p:cNvGrpSpPr>
            <a:grpSpLocks/>
          </p:cNvGrpSpPr>
          <p:nvPr/>
        </p:nvGrpSpPr>
        <p:grpSpPr bwMode="auto">
          <a:xfrm>
            <a:off x="1044575" y="3732213"/>
            <a:ext cx="6915150" cy="2616200"/>
            <a:chOff x="672" y="2399"/>
            <a:chExt cx="4356" cy="1648"/>
          </a:xfrm>
        </p:grpSpPr>
        <p:sp>
          <p:nvSpPr>
            <p:cNvPr id="99334" name="Text Box 39">
              <a:extLst>
                <a:ext uri="{FF2B5EF4-FFF2-40B4-BE49-F238E27FC236}">
                  <a16:creationId xmlns:a16="http://schemas.microsoft.com/office/drawing/2014/main" id="{F20B27D7-B262-4B46-8E8C-AB78683D7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4" y="3271"/>
              <a:ext cx="922" cy="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44000" rIns="0" bIns="14400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存储器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或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传输线路</a:t>
              </a:r>
            </a:p>
          </p:txBody>
        </p:sp>
        <p:sp>
          <p:nvSpPr>
            <p:cNvPr id="99335" name="Line 40">
              <a:extLst>
                <a:ext uri="{FF2B5EF4-FFF2-40B4-BE49-F238E27FC236}">
                  <a16:creationId xmlns:a16="http://schemas.microsoft.com/office/drawing/2014/main" id="{917FDDB4-924C-764B-884B-31739FDE3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" y="3466"/>
              <a:ext cx="1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36" name="Text Box 41">
              <a:extLst>
                <a:ext uri="{FF2B5EF4-FFF2-40B4-BE49-F238E27FC236}">
                  <a16:creationId xmlns:a16="http://schemas.microsoft.com/office/drawing/2014/main" id="{105376D3-8A72-F54D-9A84-1FC5FF2D3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3721"/>
              <a:ext cx="388" cy="30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99337" name="Line 42">
              <a:extLst>
                <a:ext uri="{FF2B5EF4-FFF2-40B4-BE49-F238E27FC236}">
                  <a16:creationId xmlns:a16="http://schemas.microsoft.com/office/drawing/2014/main" id="{647DF19A-B5DE-724C-B3A7-5629FAB02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466"/>
              <a:ext cx="1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38" name="Line 43">
              <a:extLst>
                <a:ext uri="{FF2B5EF4-FFF2-40B4-BE49-F238E27FC236}">
                  <a16:creationId xmlns:a16="http://schemas.microsoft.com/office/drawing/2014/main" id="{B06C0CFD-F4B8-8B44-9911-57BBC9A32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3867"/>
              <a:ext cx="6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39" name="Line 44">
              <a:extLst>
                <a:ext uri="{FF2B5EF4-FFF2-40B4-BE49-F238E27FC236}">
                  <a16:creationId xmlns:a16="http://schemas.microsoft.com/office/drawing/2014/main" id="{D3B26ED0-3463-5049-9CE8-DB4568757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" y="3475"/>
              <a:ext cx="729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0" name="Text Box 45">
              <a:extLst>
                <a:ext uri="{FF2B5EF4-FFF2-40B4-BE49-F238E27FC236}">
                  <a16:creationId xmlns:a16="http://schemas.microsoft.com/office/drawing/2014/main" id="{3E360AE1-98F1-2C4B-B4D7-911890E58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3341"/>
              <a:ext cx="38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99341" name="Line 46">
              <a:extLst>
                <a:ext uri="{FF2B5EF4-FFF2-40B4-BE49-F238E27FC236}">
                  <a16:creationId xmlns:a16="http://schemas.microsoft.com/office/drawing/2014/main" id="{FE349205-0CD2-3048-87D9-5E573D1D6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3837"/>
              <a:ext cx="15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2" name="Line 47">
              <a:extLst>
                <a:ext uri="{FF2B5EF4-FFF2-40B4-BE49-F238E27FC236}">
                  <a16:creationId xmlns:a16="http://schemas.microsoft.com/office/drawing/2014/main" id="{A42641CC-438C-0344-B0EB-A2752589E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0" y="3460"/>
              <a:ext cx="446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3" name="Text Box 48">
              <a:extLst>
                <a:ext uri="{FF2B5EF4-FFF2-40B4-BE49-F238E27FC236}">
                  <a16:creationId xmlns:a16="http://schemas.microsoft.com/office/drawing/2014/main" id="{FE7A0DF3-E8E9-D24D-B724-4F7B9AA52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3349"/>
              <a:ext cx="620" cy="59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比较</a:t>
              </a:r>
            </a:p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44" name="Text Box 49">
              <a:extLst>
                <a:ext uri="{FF2B5EF4-FFF2-40B4-BE49-F238E27FC236}">
                  <a16:creationId xmlns:a16="http://schemas.microsoft.com/office/drawing/2014/main" id="{63EFCEB1-F0DD-2C42-AACC-8A49094FE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" y="2768"/>
              <a:ext cx="815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纠正器</a:t>
              </a:r>
            </a:p>
          </p:txBody>
        </p:sp>
        <p:sp>
          <p:nvSpPr>
            <p:cNvPr id="99345" name="Line 50">
              <a:extLst>
                <a:ext uri="{FF2B5EF4-FFF2-40B4-BE49-F238E27FC236}">
                  <a16:creationId xmlns:a16="http://schemas.microsoft.com/office/drawing/2014/main" id="{25648B15-B2B4-2543-80D0-BB8E66C03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21" y="3034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6" name="Line 51">
              <a:extLst>
                <a:ext uri="{FF2B5EF4-FFF2-40B4-BE49-F238E27FC236}">
                  <a16:creationId xmlns:a16="http://schemas.microsoft.com/office/drawing/2014/main" id="{ED472769-1C65-C945-8501-6C9830C8C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" y="2883"/>
              <a:ext cx="1" cy="4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7" name="Line 52">
              <a:extLst>
                <a:ext uri="{FF2B5EF4-FFF2-40B4-BE49-F238E27FC236}">
                  <a16:creationId xmlns:a16="http://schemas.microsoft.com/office/drawing/2014/main" id="{AD8EE3E0-B0D4-074A-A813-B8D6AC7FF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9" y="2883"/>
              <a:ext cx="8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8" name="Line 53">
              <a:extLst>
                <a:ext uri="{FF2B5EF4-FFF2-40B4-BE49-F238E27FC236}">
                  <a16:creationId xmlns:a16="http://schemas.microsoft.com/office/drawing/2014/main" id="{FAB88A8A-A8C9-8946-A4F4-9CC8E815B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883"/>
              <a:ext cx="22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49" name="Line 54">
              <a:extLst>
                <a:ext uri="{FF2B5EF4-FFF2-40B4-BE49-F238E27FC236}">
                  <a16:creationId xmlns:a16="http://schemas.microsoft.com/office/drawing/2014/main" id="{16F2850F-B88F-1F48-943F-DDDC7F476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2637"/>
              <a:ext cx="42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0" name="Line 55">
              <a:extLst>
                <a:ext uri="{FF2B5EF4-FFF2-40B4-BE49-F238E27FC236}">
                  <a16:creationId xmlns:a16="http://schemas.microsoft.com/office/drawing/2014/main" id="{7DEEF07C-5F15-F547-9F8E-05AC010C8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" y="2635"/>
              <a:ext cx="6" cy="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1" name="Text Box 56">
              <a:extLst>
                <a:ext uri="{FF2B5EF4-FFF2-40B4-BE49-F238E27FC236}">
                  <a16:creationId xmlns:a16="http://schemas.microsoft.com/office/drawing/2014/main" id="{FC8E5410-D2E9-3C49-A361-389FC7AF6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3271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9352" name="Line 57">
              <a:extLst>
                <a:ext uri="{FF2B5EF4-FFF2-40B4-BE49-F238E27FC236}">
                  <a16:creationId xmlns:a16="http://schemas.microsoft.com/office/drawing/2014/main" id="{5BADD90E-9252-3B4A-B254-E3AA00E1D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2" y="3416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3" name="Text Box 58">
              <a:extLst>
                <a:ext uri="{FF2B5EF4-FFF2-40B4-BE49-F238E27FC236}">
                  <a16:creationId xmlns:a16="http://schemas.microsoft.com/office/drawing/2014/main" id="{D3C5E5FE-9772-2849-98AF-BA15DF7BD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3667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9354" name="Line 59">
              <a:extLst>
                <a:ext uri="{FF2B5EF4-FFF2-40B4-BE49-F238E27FC236}">
                  <a16:creationId xmlns:a16="http://schemas.microsoft.com/office/drawing/2014/main" id="{D45EADED-C12F-9548-9D57-5A3E1E018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3812"/>
              <a:ext cx="78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5" name="Text Box 60">
              <a:extLst>
                <a:ext uri="{FF2B5EF4-FFF2-40B4-BE49-F238E27FC236}">
                  <a16:creationId xmlns:a16="http://schemas.microsoft.com/office/drawing/2014/main" id="{FA52997A-77D1-AC46-844D-2F61A993A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7" y="3273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M’</a:t>
              </a:r>
            </a:p>
          </p:txBody>
        </p:sp>
        <p:sp>
          <p:nvSpPr>
            <p:cNvPr id="99356" name="Line 61">
              <a:extLst>
                <a:ext uri="{FF2B5EF4-FFF2-40B4-BE49-F238E27FC236}">
                  <a16:creationId xmlns:a16="http://schemas.microsoft.com/office/drawing/2014/main" id="{ACD16998-09B8-FA43-8ED1-8C24D5D4A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3418"/>
              <a:ext cx="78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7" name="Text Box 62">
              <a:extLst>
                <a:ext uri="{FF2B5EF4-FFF2-40B4-BE49-F238E27FC236}">
                  <a16:creationId xmlns:a16="http://schemas.microsoft.com/office/drawing/2014/main" id="{571C732D-EEA4-004E-8F47-952DF901D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3644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P”</a:t>
              </a:r>
            </a:p>
          </p:txBody>
        </p:sp>
        <p:sp>
          <p:nvSpPr>
            <p:cNvPr id="99358" name="Line 63">
              <a:extLst>
                <a:ext uri="{FF2B5EF4-FFF2-40B4-BE49-F238E27FC236}">
                  <a16:creationId xmlns:a16="http://schemas.microsoft.com/office/drawing/2014/main" id="{06C04195-6CCA-B74B-9434-6A1B09A79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9" y="3791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59" name="Text Box 64">
              <a:extLst>
                <a:ext uri="{FF2B5EF4-FFF2-40B4-BE49-F238E27FC236}">
                  <a16:creationId xmlns:a16="http://schemas.microsoft.com/office/drawing/2014/main" id="{EAEB48BD-C221-C545-B524-37BDF0B78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3265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</a:p>
          </p:txBody>
        </p:sp>
        <p:sp>
          <p:nvSpPr>
            <p:cNvPr id="99360" name="Line 65">
              <a:extLst>
                <a:ext uri="{FF2B5EF4-FFF2-40B4-BE49-F238E27FC236}">
                  <a16:creationId xmlns:a16="http://schemas.microsoft.com/office/drawing/2014/main" id="{2AD757DE-A278-F641-B359-923C3CC52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" y="3411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61" name="Text Box 66">
              <a:extLst>
                <a:ext uri="{FF2B5EF4-FFF2-40B4-BE49-F238E27FC236}">
                  <a16:creationId xmlns:a16="http://schemas.microsoft.com/office/drawing/2014/main" id="{A398004C-0ACE-554D-AAAF-813BBA71C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2678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9362" name="Line 67">
              <a:extLst>
                <a:ext uri="{FF2B5EF4-FFF2-40B4-BE49-F238E27FC236}">
                  <a16:creationId xmlns:a16="http://schemas.microsoft.com/office/drawing/2014/main" id="{FF9A25EB-98DC-0D46-938D-D7DA8D684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2824"/>
              <a:ext cx="78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363" name="Text Box 68">
              <a:extLst>
                <a:ext uri="{FF2B5EF4-FFF2-40B4-BE49-F238E27FC236}">
                  <a16:creationId xmlns:a16="http://schemas.microsoft.com/office/drawing/2014/main" id="{2DBDA7E1-8EC4-8343-BC37-15D8FD87E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399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出错信号</a:t>
              </a:r>
            </a:p>
          </p:txBody>
        </p:sp>
        <p:sp>
          <p:nvSpPr>
            <p:cNvPr id="99364" name="Text Box 69">
              <a:extLst>
                <a:ext uri="{FF2B5EF4-FFF2-40B4-BE49-F238E27FC236}">
                  <a16:creationId xmlns:a16="http://schemas.microsoft.com/office/drawing/2014/main" id="{58103571-DD0E-2140-85D9-7B586B663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2648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数据输出</a:t>
              </a:r>
            </a:p>
          </p:txBody>
        </p:sp>
        <p:sp>
          <p:nvSpPr>
            <p:cNvPr id="99365" name="Text Box 70">
              <a:extLst>
                <a:ext uri="{FF2B5EF4-FFF2-40B4-BE49-F238E27FC236}">
                  <a16:creationId xmlns:a16="http://schemas.microsoft.com/office/drawing/2014/main" id="{99188974-A8F7-294E-8680-CA4D0F74F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3271"/>
              <a:ext cx="7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BAE1E1E6-995C-0E43-B485-37865A369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码字和码距</a:t>
            </a:r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566434AD-34B3-7B45-98DF-83FC1CFEC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" y="1000125"/>
            <a:ext cx="8826500" cy="5105400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什么叫码距？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由若干位代码组成的一个字叫“码字” 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码字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中具有不同代码的位的个数叫这两个码字间的“距离”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码制中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各码字间最小距离为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“码距”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，它就是这个码制的距离。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问题：“8421”码的码距是几？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2（0010）和3（0011）间距离为1，“8421”码制的码距为1。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数据校验中“码字”指数据位和校验位按某种规律排列得到的代码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码距与检错、纠错能力的关系（当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d≤4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若码距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为奇数，则能发现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d-1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位错，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能纠正(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d-1)/2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位错。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② 若码距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为偶数，则能发现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d/2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位错，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能纠正(</a:t>
            </a:r>
            <a:r>
              <a:rPr lang="en-US" altLang="zh-CN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d/2-1)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位错。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常用的数据校验码有：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zh-CN" altLang="en-US" sz="200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奇偶校验码、海明校验码、循环冗余校验码。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3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3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8CE76711-00E0-1E4A-ADF1-55289DAB5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奇偶校验码</a:t>
            </a:r>
          </a:p>
        </p:txBody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74DF2C25-C3BF-8249-8D08-8584406CA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488" y="742950"/>
            <a:ext cx="8513762" cy="5794375"/>
          </a:xfrm>
        </p:spPr>
        <p:txBody>
          <a:bodyPr/>
          <a:lstStyle/>
          <a:p>
            <a:pPr marL="342900" indent="-342900"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1600">
                <a:ea typeface="宋体" panose="02010600030101010101" pitchFamily="2" charset="-122"/>
              </a:rPr>
              <a:t>　</a:t>
            </a:r>
            <a:r>
              <a:rPr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基本思想：</a:t>
            </a:r>
            <a:r>
              <a:rPr lang="zh-CN" altLang="en-US" sz="2000">
                <a:solidFill>
                  <a:srgbClr val="3333FF"/>
                </a:solidFill>
                <a:ea typeface="黑体" panose="02010609060101010101" pitchFamily="49" charset="-122"/>
              </a:rPr>
              <a:t>增加一位奇（偶）校验位并一起存储或传送，根据终部件得到的相应数据和校验位，再求出新校验位，最后根据新校验位确定是否发生了错误。</a:t>
            </a:r>
          </a:p>
          <a:p>
            <a:pPr marL="342900" indent="-342900"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>
                <a:ea typeface="黑体" panose="02010609060101010101" pitchFamily="49" charset="-122"/>
              </a:rPr>
              <a:t>　</a:t>
            </a:r>
            <a:r>
              <a:rPr lang="zh-CN" altLang="en-US" sz="2000">
                <a:solidFill>
                  <a:srgbClr val="FF0000"/>
                </a:solidFill>
                <a:ea typeface="黑体" panose="02010609060101010101" pitchFamily="49" charset="-122"/>
              </a:rPr>
              <a:t>实现原理：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假设数据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B=b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...b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从源部件传送至终部件。在终部件接收到的数据为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B’=b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’...b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第一步：在源部件求出奇（偶）校验位</a:t>
            </a:r>
            <a:r>
              <a:rPr lang="en-US" altLang="zh-CN" sz="2000">
                <a:ea typeface="黑体" panose="02010609060101010101" pitchFamily="49" charset="-122"/>
              </a:rPr>
              <a:t>P。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　　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若采用奇校验，则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P=b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 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⊕...⊕b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⊕1。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　　　若采用偶校验，则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P=b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 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⊕...⊕b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第二步：在终部件求出奇（偶）校验位</a:t>
            </a:r>
            <a:r>
              <a:rPr lang="en-US" altLang="zh-CN" sz="2000">
                <a:ea typeface="黑体" panose="02010609060101010101" pitchFamily="49" charset="-122"/>
              </a:rPr>
              <a:t>P’。</a:t>
            </a:r>
          </a:p>
          <a:p>
            <a:pPr marL="742950" lvl="1" indent="-285750">
              <a:spcBef>
                <a:spcPct val="30000"/>
              </a:spcBef>
              <a:buClr>
                <a:srgbClr val="000099"/>
              </a:buClr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　　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若采用奇校验，则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P’= 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 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’⊕...⊕b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’⊕1。</a:t>
            </a:r>
          </a:p>
          <a:p>
            <a:pPr marL="742950" lvl="1" indent="-285750">
              <a:spcBef>
                <a:spcPct val="30000"/>
              </a:spcBef>
              <a:buClr>
                <a:srgbClr val="000099"/>
              </a:buClr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　　　若采用偶校验，则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P’=b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n-2 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’⊕...⊕b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’⊕b</a:t>
            </a:r>
            <a:r>
              <a:rPr lang="en-US" altLang="zh-CN" sz="2000" baseline="-30000">
                <a:solidFill>
                  <a:srgbClr val="006600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’。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第三步：计算最终的校验位</a:t>
            </a:r>
            <a:r>
              <a:rPr lang="en-US" altLang="zh-CN" sz="2000">
                <a:ea typeface="黑体" panose="02010609060101010101" pitchFamily="49" charset="-122"/>
              </a:rPr>
              <a:t>P*，</a:t>
            </a:r>
            <a:r>
              <a:rPr lang="zh-CN" altLang="en-US" sz="2000">
                <a:ea typeface="黑体" panose="02010609060101010101" pitchFamily="49" charset="-122"/>
              </a:rPr>
              <a:t>并根据其值判断有无奇偶错。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　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假定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在终部件接受到的值为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P’’，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则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P*= P’⊕P”</a:t>
            </a:r>
          </a:p>
          <a:p>
            <a:pPr marL="742950" lvl="1" indent="-285750">
              <a:spcBef>
                <a:spcPct val="30000"/>
              </a:spcBef>
              <a:buClr>
                <a:srgbClr val="000099"/>
              </a:buClr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　① 若</a:t>
            </a:r>
            <a:r>
              <a:rPr lang="en-US" altLang="zh-CN" sz="2000">
                <a:ea typeface="黑体" panose="02010609060101010101" pitchFamily="49" charset="-122"/>
              </a:rPr>
              <a:t>P*=1，</a:t>
            </a:r>
            <a:r>
              <a:rPr lang="zh-CN" altLang="en-US" sz="2000">
                <a:ea typeface="黑体" panose="02010609060101010101" pitchFamily="49" charset="-122"/>
              </a:rPr>
              <a:t>则表示终部件接受的数据有奇数位错。</a:t>
            </a:r>
          </a:p>
          <a:p>
            <a:pPr marL="742950" lvl="1" indent="-285750">
              <a:spcBef>
                <a:spcPct val="30000"/>
              </a:spcBef>
              <a:buClr>
                <a:srgbClr val="000099"/>
              </a:buClr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　　② 若</a:t>
            </a:r>
            <a:r>
              <a:rPr lang="en-US" altLang="zh-CN" sz="2000">
                <a:ea typeface="黑体" panose="02010609060101010101" pitchFamily="49" charset="-122"/>
              </a:rPr>
              <a:t>P*=0，</a:t>
            </a:r>
            <a:r>
              <a:rPr lang="zh-CN" altLang="en-US" sz="2000">
                <a:ea typeface="黑体" panose="02010609060101010101" pitchFamily="49" charset="-122"/>
              </a:rPr>
              <a:t>则表示终部件接受的数据正确</a:t>
            </a:r>
            <a:r>
              <a:rPr lang="zh-CN" altLang="en-US" sz="2000">
                <a:solidFill>
                  <a:schemeClr val="tx1"/>
                </a:solidFill>
                <a:ea typeface="黑体" panose="02010609060101010101" pitchFamily="49" charset="-122"/>
              </a:rPr>
              <a:t>或</a:t>
            </a:r>
            <a:r>
              <a:rPr lang="zh-CN" altLang="en-US" sz="2000">
                <a:ea typeface="黑体" panose="02010609060101010101" pitchFamily="49" charset="-122"/>
              </a:rPr>
              <a:t>有偶数个错。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4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4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34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4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6281434-2C7F-AC44-A399-4874FFDF6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奇偶校验法的特点</a:t>
            </a:r>
          </a:p>
        </p:txBody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225B6F61-96F6-A340-A028-47480B66B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100" y="654050"/>
            <a:ext cx="8483600" cy="6100763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5000"/>
              </a:spcBef>
            </a:pP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问题：奇偶校验码的码距是几？为什么？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码距</a:t>
            </a:r>
            <a:r>
              <a:rPr lang="en-US" altLang="zh-CN" sz="2200">
                <a:ea typeface="黑体" panose="02010609060101010101" pitchFamily="49" charset="-122"/>
              </a:rPr>
              <a:t>d=2</a:t>
            </a:r>
            <a:r>
              <a:rPr lang="zh-CN" altLang="en-US" sz="2200">
                <a:ea typeface="黑体" panose="02010609060101010101" pitchFamily="49" charset="-122"/>
              </a:rPr>
              <a:t>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在奇偶校验码中，若两个数中有奇数位不同，则它们相应的校验位就不同；若有偶数位不同，则虽校验位相同，但至少有两位数据位不同。因而任意两个码字之间至少有两位不同。</a:t>
            </a:r>
          </a:p>
          <a:p>
            <a:pPr marL="342900" indent="-342900">
              <a:lnSpc>
                <a:spcPct val="125000"/>
              </a:lnSpc>
              <a:spcBef>
                <a:spcPct val="25000"/>
              </a:spcBef>
            </a:pP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特点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根据码距和纠</a:t>
            </a:r>
            <a:r>
              <a:rPr lang="en-US" altLang="zh-CN" sz="2200">
                <a:ea typeface="黑体" panose="02010609060101010101" pitchFamily="49" charset="-122"/>
              </a:rPr>
              <a:t>/</a:t>
            </a:r>
            <a:r>
              <a:rPr lang="zh-CN" altLang="en-US" sz="2200">
                <a:ea typeface="黑体" panose="02010609060101010101" pitchFamily="49" charset="-122"/>
              </a:rPr>
              <a:t>检错能力的关系，它只能发现奇数位出错，不能发现偶数位出错，而且也不能确定发生错误的位置，不具有纠错能力。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开销小，适用于校验一字节长的代码，故常被用于存储器读写检查或按字节传输过程中的数据校验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     因为一字节长的代码发生错误时，1位出错的概率较大，两位以上出错则很少，所以可用奇偶校验。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92913E64-A6D8-F04A-8E23-F2E6DB3C6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汉明（海明）校验码</a:t>
            </a:r>
          </a:p>
        </p:txBody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B5BCFB02-D5CE-1247-8E7D-E6A09F230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525" y="460375"/>
            <a:ext cx="8596313" cy="5526088"/>
          </a:xfrm>
        </p:spPr>
        <p:txBody>
          <a:bodyPr/>
          <a:lstStyle/>
          <a:p>
            <a:pPr marL="342900" indent="-342900">
              <a:buFont typeface="Wingdings" pitchFamily="2" charset="2"/>
              <a:buNone/>
            </a:pPr>
            <a:endParaRPr lang="zh-CN" altLang="en-US" sz="20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rgbClr val="000099"/>
              </a:buClr>
            </a:pPr>
            <a:r>
              <a:rPr lang="zh-CN" altLang="en-US" sz="2200">
                <a:ea typeface="黑体" panose="02010609060101010101" pitchFamily="49" charset="-122"/>
              </a:rPr>
              <a:t>由</a:t>
            </a:r>
            <a:r>
              <a:rPr lang="en-US" altLang="zh-CN" sz="2200">
                <a:ea typeface="黑体" panose="02010609060101010101" pitchFamily="49" charset="-122"/>
              </a:rPr>
              <a:t>Richard Hamming</a:t>
            </a:r>
            <a:r>
              <a:rPr lang="zh-CN" altLang="en-US" sz="2200">
                <a:ea typeface="黑体" panose="02010609060101010101" pitchFamily="49" charset="-122"/>
              </a:rPr>
              <a:t>于1950年提出，目前还被广泛使用。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主要用于存储器中数据存取校验。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基本思想</a:t>
            </a: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200">
                <a:solidFill>
                  <a:schemeClr val="accent2"/>
                </a:solidFill>
                <a:ea typeface="黑体" panose="02010609060101010101" pitchFamily="49" charset="-122"/>
              </a:rPr>
              <a:t>奇偶校验码对整个数据编码生成一位校验位。因此这种校验码检错能力差，并且没有纠错能力。</a:t>
            </a:r>
            <a:r>
              <a:rPr lang="zh-CN" altLang="en-US" sz="2200">
                <a:solidFill>
                  <a:srgbClr val="FF0066"/>
                </a:solidFill>
                <a:ea typeface="黑体" panose="02010609060101010101" pitchFamily="49" charset="-122"/>
              </a:rPr>
              <a:t>如果将整个数据按某种规律分成若干组，对每组进行相应的奇偶检测，就能提供多位检错信息，从而对错误位置进行定位，并将其纠正。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海明校验码实质上就是一种多重奇偶校验码。</a:t>
            </a: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  <a:hlinkClick r:id="rId2" action="ppaction://hlinksldjump"/>
              </a:rPr>
              <a:t>处理过程</a:t>
            </a:r>
            <a:r>
              <a:rPr lang="zh-CN" altLang="en-US">
                <a:ea typeface="黑体" panose="02010609060101010101" pitchFamily="49" charset="-122"/>
              </a:rPr>
              <a:t>：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最终比较时按位进行异或，以确定是否有差错。</a:t>
            </a:r>
          </a:p>
          <a:p>
            <a:pPr marL="742950" lvl="1" indent="-285750"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这种异或操作所得到的结果称为故障字（</a:t>
            </a:r>
            <a:r>
              <a:rPr lang="en-US" altLang="zh-CN" sz="2200">
                <a:solidFill>
                  <a:srgbClr val="006600"/>
                </a:solidFill>
                <a:ea typeface="黑体" panose="02010609060101010101" pitchFamily="49" charset="-122"/>
              </a:rPr>
              <a:t>syndrome word）。</a:t>
            </a: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显然，校验码和故障字的位数是相同。</a:t>
            </a:r>
          </a:p>
          <a:p>
            <a:pPr marL="342900" indent="-342900">
              <a:spcBef>
                <a:spcPct val="30000"/>
              </a:spcBef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436228" name="Text Box 4">
            <a:extLst>
              <a:ext uri="{FF2B5EF4-FFF2-40B4-BE49-F238E27FC236}">
                <a16:creationId xmlns:a16="http://schemas.microsoft.com/office/drawing/2014/main" id="{BA33EEBD-AFA7-CA47-8CE3-DD64DA842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5722938"/>
            <a:ext cx="79629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2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每一组一个校验位，校验码位数等于组数！</a:t>
            </a:r>
          </a:p>
          <a:p>
            <a:pPr>
              <a:spcBef>
                <a:spcPct val="30000"/>
              </a:spcBef>
            </a:pPr>
            <a:r>
              <a:rPr lang="zh-CN" altLang="en-US" sz="22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每一组内采用一位奇偶校验！</a:t>
            </a:r>
            <a:endParaRPr lang="en-US" altLang="zh-CN" sz="22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0FFA02C-E2F2-1547-B66F-95304BB26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校验码位数的确定</a:t>
            </a:r>
          </a:p>
        </p:txBody>
      </p:sp>
      <p:sp>
        <p:nvSpPr>
          <p:cNvPr id="437251" name="Rectangle 3">
            <a:extLst>
              <a:ext uri="{FF2B5EF4-FFF2-40B4-BE49-F238E27FC236}">
                <a16:creationId xmlns:a16="http://schemas.microsoft.com/office/drawing/2014/main" id="{659086F8-BEC0-684C-977F-CF1C06D73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884238"/>
            <a:ext cx="8755062" cy="5295900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假定数据位数为</a:t>
            </a:r>
            <a:r>
              <a:rPr lang="en-US" altLang="zh-CN" sz="2200">
                <a:ea typeface="黑体" panose="02010609060101010101" pitchFamily="49" charset="-122"/>
              </a:rPr>
              <a:t>n，</a:t>
            </a:r>
            <a:r>
              <a:rPr lang="zh-CN" altLang="en-US" sz="2200">
                <a:ea typeface="黑体" panose="02010609060101010101" pitchFamily="49" charset="-122"/>
              </a:rPr>
              <a:t>校验码为</a:t>
            </a:r>
            <a:r>
              <a:rPr lang="en-US" altLang="zh-CN" sz="2200">
                <a:ea typeface="黑体" panose="02010609060101010101" pitchFamily="49" charset="-122"/>
              </a:rPr>
              <a:t>k</a:t>
            </a:r>
            <a:r>
              <a:rPr lang="zh-CN" altLang="en-US" sz="2200">
                <a:ea typeface="黑体" panose="02010609060101010101" pitchFamily="49" charset="-122"/>
              </a:rPr>
              <a:t>位，则故障字位数也为</a:t>
            </a:r>
            <a:r>
              <a:rPr lang="en-US" altLang="zh-CN" sz="2200">
                <a:ea typeface="黑体" panose="02010609060101010101" pitchFamily="49" charset="-122"/>
              </a:rPr>
              <a:t>k</a:t>
            </a:r>
            <a:r>
              <a:rPr lang="zh-CN" altLang="en-US" sz="2200">
                <a:ea typeface="黑体" panose="02010609060101010101" pitchFamily="49" charset="-122"/>
              </a:rPr>
              <a:t>位。</a:t>
            </a:r>
            <a:r>
              <a:rPr lang="en-US" altLang="zh-CN" sz="2200">
                <a:ea typeface="黑体" panose="02010609060101010101" pitchFamily="49" charset="-122"/>
              </a:rPr>
              <a:t>k</a:t>
            </a:r>
            <a:r>
              <a:rPr lang="zh-CN" altLang="en-US" sz="2200">
                <a:ea typeface="黑体" panose="02010609060101010101" pitchFamily="49" charset="-122"/>
              </a:rPr>
              <a:t>位故障字所能表示的状态最多是2</a:t>
            </a:r>
            <a:r>
              <a:rPr lang="en-US" altLang="zh-CN" sz="2200" baseline="30000">
                <a:ea typeface="黑体" panose="02010609060101010101" pitchFamily="49" charset="-122"/>
              </a:rPr>
              <a:t>K</a:t>
            </a:r>
            <a:r>
              <a:rPr lang="en-US" altLang="zh-CN" sz="2200">
                <a:ea typeface="黑体" panose="02010609060101010101" pitchFamily="49" charset="-122"/>
              </a:rPr>
              <a:t>，</a:t>
            </a:r>
            <a:r>
              <a:rPr lang="zh-CN" altLang="en-US" sz="2200">
                <a:ea typeface="黑体" panose="02010609060101010101" pitchFamily="49" charset="-122"/>
              </a:rPr>
              <a:t>每种状态可用来说明一种出错情况。</a:t>
            </a:r>
          </a:p>
          <a:p>
            <a:pPr marL="342900" indent="-34290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若只有一位错，则结果可能是：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数据中某一位错 (</a:t>
            </a:r>
            <a:r>
              <a:rPr lang="en-US" altLang="zh-CN" sz="2200">
                <a:ea typeface="黑体" panose="02010609060101010101" pitchFamily="49" charset="-122"/>
              </a:rPr>
              <a:t>n</a:t>
            </a:r>
            <a:r>
              <a:rPr lang="zh-CN" altLang="en-US" sz="2200">
                <a:ea typeface="黑体" panose="02010609060101010101" pitchFamily="49" charset="-122"/>
              </a:rPr>
              <a:t>种可能) 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校验码中有一位错 (</a:t>
            </a:r>
            <a:r>
              <a:rPr lang="en-US" altLang="zh-CN" sz="2200">
                <a:ea typeface="黑体" panose="02010609060101010101" pitchFamily="49" charset="-122"/>
              </a:rPr>
              <a:t>k</a:t>
            </a:r>
            <a:r>
              <a:rPr lang="zh-CN" altLang="en-US" sz="2200">
                <a:ea typeface="黑体" panose="02010609060101010101" pitchFamily="49" charset="-122"/>
              </a:rPr>
              <a:t>种可能) 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无错 </a:t>
            </a:r>
            <a:r>
              <a:rPr lang="en-US" altLang="zh-CN" sz="2200">
                <a:ea typeface="黑体" panose="02010609060101010101" pitchFamily="49" charset="-122"/>
              </a:rPr>
              <a:t>( 1 </a:t>
            </a:r>
            <a:r>
              <a:rPr lang="zh-CN" altLang="en-US" sz="2200">
                <a:ea typeface="黑体" panose="02010609060101010101" pitchFamily="49" charset="-122"/>
              </a:rPr>
              <a:t>种可能</a:t>
            </a:r>
            <a:r>
              <a:rPr lang="en-US" altLang="zh-CN" sz="2200">
                <a:ea typeface="黑体" panose="02010609060101010101" pitchFamily="49" charset="-122"/>
              </a:rPr>
              <a:t>)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假定最多有一位错，则</a:t>
            </a:r>
            <a:r>
              <a:rPr lang="en-US" altLang="zh-CN" sz="2200">
                <a:ea typeface="黑体" panose="02010609060101010101" pitchFamily="49" charset="-122"/>
              </a:rPr>
              <a:t>n</a:t>
            </a:r>
            <a:r>
              <a:rPr lang="zh-CN" altLang="en-US" sz="2200">
                <a:ea typeface="黑体" panose="02010609060101010101" pitchFamily="49" charset="-122"/>
              </a:rPr>
              <a:t>和</a:t>
            </a:r>
            <a:r>
              <a:rPr lang="en-US" altLang="zh-CN" sz="2200">
                <a:ea typeface="黑体" panose="02010609060101010101" pitchFamily="49" charset="-122"/>
              </a:rPr>
              <a:t>k</a:t>
            </a:r>
            <a:r>
              <a:rPr lang="zh-CN" altLang="en-US" sz="2200">
                <a:ea typeface="黑体" panose="02010609060101010101" pitchFamily="49" charset="-122"/>
              </a:rPr>
              <a:t>必须满足下列关系：</a:t>
            </a:r>
          </a:p>
          <a:p>
            <a:pPr marL="342900" indent="-342900">
              <a:lnSpc>
                <a:spcPct val="11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>
                <a:ea typeface="黑体" panose="02010609060101010101" pitchFamily="49" charset="-122"/>
              </a:rPr>
              <a:t>                          </a:t>
            </a:r>
            <a:r>
              <a:rPr lang="zh-CN" altLang="en-US" sz="2200">
                <a:ea typeface="黑体" panose="02010609060101010101" pitchFamily="49" charset="-122"/>
              </a:rPr>
              <a:t>2</a:t>
            </a:r>
            <a:r>
              <a:rPr lang="en-US" altLang="zh-CN" sz="2200" baseline="30000">
                <a:ea typeface="黑体" panose="02010609060101010101" pitchFamily="49" charset="-122"/>
              </a:rPr>
              <a:t>K</a:t>
            </a:r>
            <a:r>
              <a:rPr lang="en-US" altLang="zh-CN" sz="2200">
                <a:ea typeface="黑体" panose="02010609060101010101" pitchFamily="49" charset="-122"/>
              </a:rPr>
              <a:t>≥1+n+k，   </a:t>
            </a:r>
            <a:r>
              <a:rPr lang="zh-CN" altLang="en-US" sz="2200">
                <a:ea typeface="黑体" panose="02010609060101010101" pitchFamily="49" charset="-122"/>
              </a:rPr>
              <a:t>即：2</a:t>
            </a:r>
            <a:r>
              <a:rPr lang="en-US" altLang="zh-CN" sz="2200" baseline="30000">
                <a:ea typeface="黑体" panose="02010609060101010101" pitchFamily="49" charset="-122"/>
              </a:rPr>
              <a:t>K</a:t>
            </a:r>
            <a:r>
              <a:rPr lang="en-US" altLang="zh-CN" sz="2200">
                <a:ea typeface="黑体" panose="02010609060101010101" pitchFamily="49" charset="-122"/>
              </a:rPr>
              <a:t>-1≥n+k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  <a:hlinkClick r:id="" action="ppaction://hlinkshowjump?jump=nextslide"/>
              </a:rPr>
              <a:t>有效数据位数和校验码位数间的关系</a:t>
            </a:r>
            <a:endParaRPr lang="zh-CN" altLang="en-US" sz="220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当数据有8位时，校验码和故障字都应有4位。</a:t>
            </a:r>
          </a:p>
          <a:p>
            <a:pPr marL="742950" lvl="1" indent="-285750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200">
                <a:solidFill>
                  <a:srgbClr val="FF0066"/>
                </a:solidFill>
                <a:ea typeface="黑体" panose="02010609060101010101" pitchFamily="49" charset="-122"/>
              </a:rPr>
              <a:t>说明：4位故障字最多可表示16种状态，而单个位出错情况最多只有12种可能（8个数据位和4个校验位），再加上无错的情况，一共有13种。所以，用16种状态表示13种情况应是足够了</a:t>
            </a:r>
            <a:r>
              <a:rPr lang="zh-CN" altLang="en-US" sz="2200">
                <a:solidFill>
                  <a:srgbClr val="009900"/>
                </a:solidFill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4346F8C-F6F2-954B-B51F-16974DAF2517}"/>
              </a:ext>
            </a:extLst>
          </p:cNvPr>
          <p:cNvGrpSpPr>
            <a:grpSpLocks/>
          </p:cNvGrpSpPr>
          <p:nvPr/>
        </p:nvGrpSpPr>
        <p:grpSpPr bwMode="auto">
          <a:xfrm>
            <a:off x="4838700" y="2122488"/>
            <a:ext cx="2120900" cy="1117600"/>
            <a:chOff x="2459" y="1271"/>
            <a:chExt cx="1336" cy="704"/>
          </a:xfrm>
        </p:grpSpPr>
        <p:sp>
          <p:nvSpPr>
            <p:cNvPr id="105477" name="AutoShape 5">
              <a:extLst>
                <a:ext uri="{FF2B5EF4-FFF2-40B4-BE49-F238E27FC236}">
                  <a16:creationId xmlns:a16="http://schemas.microsoft.com/office/drawing/2014/main" id="{516D58FF-A88F-4F4E-B392-F1965D7CC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1271"/>
              <a:ext cx="110" cy="704"/>
            </a:xfrm>
            <a:prstGeom prst="rightBrace">
              <a:avLst>
                <a:gd name="adj1" fmla="val 53333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478" name="Rectangle 6">
              <a:extLst>
                <a:ext uri="{FF2B5EF4-FFF2-40B4-BE49-F238E27FC236}">
                  <a16:creationId xmlns:a16="http://schemas.microsoft.com/office/drawing/2014/main" id="{F903FBC7-567B-CC4F-B7F9-9EF6A9B95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451"/>
              <a:ext cx="11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4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1+</a:t>
              </a:r>
              <a:r>
                <a:rPr lang="en-US" altLang="zh-CN" sz="24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n+k</a:t>
              </a:r>
              <a:r>
                <a:rPr lang="zh-CN" altLang="en-US" sz="24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种情况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7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7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37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37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F44C7EE7-6DD3-7C48-B58F-FD01DD0C0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0500"/>
            <a:ext cx="8150225" cy="474663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有效数据位数和校验码位数间的关系</a:t>
            </a:r>
          </a:p>
        </p:txBody>
      </p:sp>
      <p:grpSp>
        <p:nvGrpSpPr>
          <p:cNvPr id="106499" name="Group 3">
            <a:extLst>
              <a:ext uri="{FF2B5EF4-FFF2-40B4-BE49-F238E27FC236}">
                <a16:creationId xmlns:a16="http://schemas.microsoft.com/office/drawing/2014/main" id="{5A26A80E-2A0E-534F-9217-5DA8A0639038}"/>
              </a:ext>
            </a:extLst>
          </p:cNvPr>
          <p:cNvGrpSpPr>
            <a:grpSpLocks/>
          </p:cNvGrpSpPr>
          <p:nvPr/>
        </p:nvGrpSpPr>
        <p:grpSpPr bwMode="auto">
          <a:xfrm>
            <a:off x="419100" y="1498600"/>
            <a:ext cx="8499475" cy="4886325"/>
            <a:chOff x="-3" y="419"/>
            <a:chExt cx="3846" cy="3078"/>
          </a:xfrm>
        </p:grpSpPr>
        <p:grpSp>
          <p:nvGrpSpPr>
            <p:cNvPr id="106501" name="Group 4">
              <a:extLst>
                <a:ext uri="{FF2B5EF4-FFF2-40B4-BE49-F238E27FC236}">
                  <a16:creationId xmlns:a16="http://schemas.microsoft.com/office/drawing/2014/main" id="{62F34498-915B-B54C-83F7-2D02B17D9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22"/>
              <a:ext cx="3840" cy="3072"/>
              <a:chOff x="0" y="422"/>
              <a:chExt cx="3840" cy="3072"/>
            </a:xfrm>
          </p:grpSpPr>
          <p:grpSp>
            <p:nvGrpSpPr>
              <p:cNvPr id="106503" name="Group 5">
                <a:extLst>
                  <a:ext uri="{FF2B5EF4-FFF2-40B4-BE49-F238E27FC236}">
                    <a16:creationId xmlns:a16="http://schemas.microsoft.com/office/drawing/2014/main" id="{5794AE42-82B8-AD4E-959F-615CAC3EF9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22"/>
                <a:ext cx="768" cy="384"/>
                <a:chOff x="0" y="422"/>
                <a:chExt cx="768" cy="384"/>
              </a:xfrm>
            </p:grpSpPr>
            <p:sp>
              <p:nvSpPr>
                <p:cNvPr id="106615" name="Rectangle 6">
                  <a:extLst>
                    <a:ext uri="{FF2B5EF4-FFF2-40B4-BE49-F238E27FC236}">
                      <a16:creationId xmlns:a16="http://schemas.microsoft.com/office/drawing/2014/main" id="{EFBC68FA-FE71-3E4F-BFB5-331AE0DF9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2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/>
                  <a:r>
                    <a:rPr lang="zh-CN" altLang="en-US"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 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16" name="Rectangle 7">
                  <a:extLst>
                    <a:ext uri="{FF2B5EF4-FFF2-40B4-BE49-F238E27FC236}">
                      <a16:creationId xmlns:a16="http://schemas.microsoft.com/office/drawing/2014/main" id="{5E2F28B1-3BA9-794E-BE03-092A07D203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2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4" name="Group 8">
                <a:extLst>
                  <a:ext uri="{FF2B5EF4-FFF2-40B4-BE49-F238E27FC236}">
                    <a16:creationId xmlns:a16="http://schemas.microsoft.com/office/drawing/2014/main" id="{DDE68DE1-CCF6-2F4B-A28C-8A33D5B166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422"/>
                <a:ext cx="1536" cy="384"/>
                <a:chOff x="768" y="422"/>
                <a:chExt cx="1536" cy="384"/>
              </a:xfrm>
            </p:grpSpPr>
            <p:sp>
              <p:nvSpPr>
                <p:cNvPr id="106613" name="Rectangle 9">
                  <a:extLst>
                    <a:ext uri="{FF2B5EF4-FFF2-40B4-BE49-F238E27FC236}">
                      <a16:creationId xmlns:a16="http://schemas.microsoft.com/office/drawing/2014/main" id="{2EC35292-5EA2-7341-BD18-164DA92D3C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422"/>
                  <a:ext cx="145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3333FF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单纠错</a:t>
                  </a:r>
                  <a:endParaRPr lang="zh-CN" altLang="en-US" sz="240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ctr"/>
                  <a:endParaRPr lang="zh-CN" altLang="en-US" sz="240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06614" name="Rectangle 10">
                  <a:extLst>
                    <a:ext uri="{FF2B5EF4-FFF2-40B4-BE49-F238E27FC236}">
                      <a16:creationId xmlns:a16="http://schemas.microsoft.com/office/drawing/2014/main" id="{C609A53A-4593-9F4F-B6E7-42B216B66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422"/>
                  <a:ext cx="153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5" name="Group 11">
                <a:extLst>
                  <a:ext uri="{FF2B5EF4-FFF2-40B4-BE49-F238E27FC236}">
                    <a16:creationId xmlns:a16="http://schemas.microsoft.com/office/drawing/2014/main" id="{C918F73E-0231-4048-A4C6-2DD846B37C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422"/>
                <a:ext cx="1536" cy="384"/>
                <a:chOff x="2304" y="422"/>
                <a:chExt cx="1536" cy="384"/>
              </a:xfrm>
            </p:grpSpPr>
            <p:sp>
              <p:nvSpPr>
                <p:cNvPr id="106611" name="Rectangle 12">
                  <a:extLst>
                    <a:ext uri="{FF2B5EF4-FFF2-40B4-BE49-F238E27FC236}">
                      <a16:creationId xmlns:a16="http://schemas.microsoft.com/office/drawing/2014/main" id="{B0576C7B-0A0F-0445-BE7E-004270357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422"/>
                  <a:ext cx="145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3333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单纠错/双检错</a:t>
                  </a:r>
                  <a:endParaRPr lang="zh-CN" altLang="en-US" sz="240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06612" name="Rectangle 13">
                  <a:extLst>
                    <a:ext uri="{FF2B5EF4-FFF2-40B4-BE49-F238E27FC236}">
                      <a16:creationId xmlns:a16="http://schemas.microsoft.com/office/drawing/2014/main" id="{705F38A1-BD51-FD4A-B695-42C121678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422"/>
                  <a:ext cx="153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6" name="Group 14">
                <a:extLst>
                  <a:ext uri="{FF2B5EF4-FFF2-40B4-BE49-F238E27FC236}">
                    <a16:creationId xmlns:a16="http://schemas.microsoft.com/office/drawing/2014/main" id="{9CE0AF4C-5216-3348-AD68-5E24730767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06"/>
                <a:ext cx="768" cy="384"/>
                <a:chOff x="0" y="806"/>
                <a:chExt cx="768" cy="384"/>
              </a:xfrm>
            </p:grpSpPr>
            <p:sp>
              <p:nvSpPr>
                <p:cNvPr id="106609" name="Rectangle 15">
                  <a:extLst>
                    <a:ext uri="{FF2B5EF4-FFF2-40B4-BE49-F238E27FC236}">
                      <a16:creationId xmlns:a16="http://schemas.microsoft.com/office/drawing/2014/main" id="{2E85AB1E-18C7-7B4C-8390-CCCE546BB2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80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数据位数</a:t>
                  </a:r>
                  <a:endPara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10" name="Rectangle 16">
                  <a:extLst>
                    <a:ext uri="{FF2B5EF4-FFF2-40B4-BE49-F238E27FC236}">
                      <a16:creationId xmlns:a16="http://schemas.microsoft.com/office/drawing/2014/main" id="{0499AC7C-5AD3-E844-9A79-4BDC0ED01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7" name="Group 17">
                <a:extLst>
                  <a:ext uri="{FF2B5EF4-FFF2-40B4-BE49-F238E27FC236}">
                    <a16:creationId xmlns:a16="http://schemas.microsoft.com/office/drawing/2014/main" id="{3BDB70F6-7023-CF48-BA7A-5CB3A3F689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806"/>
                <a:ext cx="768" cy="384"/>
                <a:chOff x="768" y="806"/>
                <a:chExt cx="768" cy="384"/>
              </a:xfrm>
            </p:grpSpPr>
            <p:sp>
              <p:nvSpPr>
                <p:cNvPr id="106607" name="Rectangle 18">
                  <a:extLst>
                    <a:ext uri="{FF2B5EF4-FFF2-40B4-BE49-F238E27FC236}">
                      <a16:creationId xmlns:a16="http://schemas.microsoft.com/office/drawing/2014/main" id="{F3F7E995-FFF2-A349-9825-C3A6ADAB2A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80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校验位数</a:t>
                  </a:r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just"/>
                  <a:endParaRPr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08" name="Rectangle 19">
                  <a:extLst>
                    <a:ext uri="{FF2B5EF4-FFF2-40B4-BE49-F238E27FC236}">
                      <a16:creationId xmlns:a16="http://schemas.microsoft.com/office/drawing/2014/main" id="{8ED84C7C-8C20-FB4F-A432-CB6CBC0966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0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8" name="Group 20">
                <a:extLst>
                  <a:ext uri="{FF2B5EF4-FFF2-40B4-BE49-F238E27FC236}">
                    <a16:creationId xmlns:a16="http://schemas.microsoft.com/office/drawing/2014/main" id="{FA47FF99-647F-2A4E-920A-2AA5F35072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806"/>
                <a:ext cx="768" cy="384"/>
                <a:chOff x="1536" y="806"/>
                <a:chExt cx="768" cy="384"/>
              </a:xfrm>
            </p:grpSpPr>
            <p:sp>
              <p:nvSpPr>
                <p:cNvPr id="106605" name="Rectangle 21">
                  <a:extLst>
                    <a:ext uri="{FF2B5EF4-FFF2-40B4-BE49-F238E27FC236}">
                      <a16:creationId xmlns:a16="http://schemas.microsoft.com/office/drawing/2014/main" id="{181C8CB9-FCBE-934A-9532-972F5A28F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80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/>
                  <a:r>
                    <a:rPr lang="zh-CN" altLang="en-US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增加率</a:t>
                  </a:r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just"/>
                  <a:endParaRPr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06" name="Rectangle 22">
                  <a:extLst>
                    <a:ext uri="{FF2B5EF4-FFF2-40B4-BE49-F238E27FC236}">
                      <a16:creationId xmlns:a16="http://schemas.microsoft.com/office/drawing/2014/main" id="{61F9DEBC-056D-8942-A207-68B94E0281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80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09" name="Group 23">
                <a:extLst>
                  <a:ext uri="{FF2B5EF4-FFF2-40B4-BE49-F238E27FC236}">
                    <a16:creationId xmlns:a16="http://schemas.microsoft.com/office/drawing/2014/main" id="{B18FD204-F3EC-4048-A815-2A109135E5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806"/>
                <a:ext cx="768" cy="384"/>
                <a:chOff x="2304" y="806"/>
                <a:chExt cx="768" cy="384"/>
              </a:xfrm>
            </p:grpSpPr>
            <p:sp>
              <p:nvSpPr>
                <p:cNvPr id="106603" name="Rectangle 24">
                  <a:extLst>
                    <a:ext uri="{FF2B5EF4-FFF2-40B4-BE49-F238E27FC236}">
                      <a16:creationId xmlns:a16="http://schemas.microsoft.com/office/drawing/2014/main" id="{9158E00A-1BC3-2746-94C9-DE05E7F80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80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校验位数</a:t>
                  </a:r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just"/>
                  <a:endParaRPr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04" name="Rectangle 25">
                  <a:extLst>
                    <a:ext uri="{FF2B5EF4-FFF2-40B4-BE49-F238E27FC236}">
                      <a16:creationId xmlns:a16="http://schemas.microsoft.com/office/drawing/2014/main" id="{9021FD8F-E9EC-6746-A74B-6D91B4550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80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0" name="Group 26">
                <a:extLst>
                  <a:ext uri="{FF2B5EF4-FFF2-40B4-BE49-F238E27FC236}">
                    <a16:creationId xmlns:a16="http://schemas.microsoft.com/office/drawing/2014/main" id="{F87A6E68-2E82-4340-B275-3E10D9A64B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806"/>
                <a:ext cx="768" cy="384"/>
                <a:chOff x="3072" y="806"/>
                <a:chExt cx="768" cy="384"/>
              </a:xfrm>
            </p:grpSpPr>
            <p:sp>
              <p:nvSpPr>
                <p:cNvPr id="106601" name="Rectangle 27">
                  <a:extLst>
                    <a:ext uri="{FF2B5EF4-FFF2-40B4-BE49-F238E27FC236}">
                      <a16:creationId xmlns:a16="http://schemas.microsoft.com/office/drawing/2014/main" id="{E57B43B4-308A-7449-ADFE-8FABD8BE2C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80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/>
                  <a:r>
                    <a:rPr lang="zh-CN" altLang="en-US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增加率</a:t>
                  </a:r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06602" name="Rectangle 28">
                  <a:extLst>
                    <a:ext uri="{FF2B5EF4-FFF2-40B4-BE49-F238E27FC236}">
                      <a16:creationId xmlns:a16="http://schemas.microsoft.com/office/drawing/2014/main" id="{3EC2F43B-22B5-FC4A-B90B-534D8C58C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80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1" name="Group 29">
                <a:extLst>
                  <a:ext uri="{FF2B5EF4-FFF2-40B4-BE49-F238E27FC236}">
                    <a16:creationId xmlns:a16="http://schemas.microsoft.com/office/drawing/2014/main" id="{ADF42743-C6B0-A04B-8C5A-4C1E90D02C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90"/>
                <a:ext cx="768" cy="384"/>
                <a:chOff x="0" y="1190"/>
                <a:chExt cx="768" cy="384"/>
              </a:xfrm>
            </p:grpSpPr>
            <p:sp>
              <p:nvSpPr>
                <p:cNvPr id="106599" name="Rectangle 30">
                  <a:extLst>
                    <a:ext uri="{FF2B5EF4-FFF2-40B4-BE49-F238E27FC236}">
                      <a16:creationId xmlns:a16="http://schemas.microsoft.com/office/drawing/2014/main" id="{697913B4-9328-4C4B-97C0-90E04DB6E5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19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8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600" name="Rectangle 31">
                  <a:extLst>
                    <a:ext uri="{FF2B5EF4-FFF2-40B4-BE49-F238E27FC236}">
                      <a16:creationId xmlns:a16="http://schemas.microsoft.com/office/drawing/2014/main" id="{41AAAEC6-95DA-1542-8FE1-A840B5E236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9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2" name="Group 32">
                <a:extLst>
                  <a:ext uri="{FF2B5EF4-FFF2-40B4-BE49-F238E27FC236}">
                    <a16:creationId xmlns:a16="http://schemas.microsoft.com/office/drawing/2014/main" id="{B7B9B471-D967-0A42-BE81-1475A8565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190"/>
                <a:ext cx="768" cy="384"/>
                <a:chOff x="768" y="1190"/>
                <a:chExt cx="768" cy="384"/>
              </a:xfrm>
            </p:grpSpPr>
            <p:sp>
              <p:nvSpPr>
                <p:cNvPr id="106597" name="Rectangle 33">
                  <a:extLst>
                    <a:ext uri="{FF2B5EF4-FFF2-40B4-BE49-F238E27FC236}">
                      <a16:creationId xmlns:a16="http://schemas.microsoft.com/office/drawing/2014/main" id="{AE2C59EF-644F-564E-99A5-FA26F4C3A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119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4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98" name="Rectangle 34">
                  <a:extLst>
                    <a:ext uri="{FF2B5EF4-FFF2-40B4-BE49-F238E27FC236}">
                      <a16:creationId xmlns:a16="http://schemas.microsoft.com/office/drawing/2014/main" id="{8F4D32E4-8D3A-A645-822A-51BEF1969E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19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3" name="Group 35">
                <a:extLst>
                  <a:ext uri="{FF2B5EF4-FFF2-40B4-BE49-F238E27FC236}">
                    <a16:creationId xmlns:a16="http://schemas.microsoft.com/office/drawing/2014/main" id="{83491245-897A-4E4D-8B8F-7E24F98226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190"/>
                <a:ext cx="768" cy="384"/>
                <a:chOff x="1536" y="1190"/>
                <a:chExt cx="768" cy="384"/>
              </a:xfrm>
            </p:grpSpPr>
            <p:sp>
              <p:nvSpPr>
                <p:cNvPr id="106595" name="Rectangle 36">
                  <a:extLst>
                    <a:ext uri="{FF2B5EF4-FFF2-40B4-BE49-F238E27FC236}">
                      <a16:creationId xmlns:a16="http://schemas.microsoft.com/office/drawing/2014/main" id="{704267D2-A1E3-A240-866F-98052986BD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119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50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96" name="Rectangle 37">
                  <a:extLst>
                    <a:ext uri="{FF2B5EF4-FFF2-40B4-BE49-F238E27FC236}">
                      <a16:creationId xmlns:a16="http://schemas.microsoft.com/office/drawing/2014/main" id="{5EFA1316-4A13-F84C-BEF2-799EF63E3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19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4" name="Group 38">
                <a:extLst>
                  <a:ext uri="{FF2B5EF4-FFF2-40B4-BE49-F238E27FC236}">
                    <a16:creationId xmlns:a16="http://schemas.microsoft.com/office/drawing/2014/main" id="{6E6D5657-262A-D146-8691-A513BE8209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1190"/>
                <a:ext cx="768" cy="384"/>
                <a:chOff x="2304" y="1190"/>
                <a:chExt cx="768" cy="384"/>
              </a:xfrm>
            </p:grpSpPr>
            <p:sp>
              <p:nvSpPr>
                <p:cNvPr id="106593" name="Rectangle 39">
                  <a:extLst>
                    <a:ext uri="{FF2B5EF4-FFF2-40B4-BE49-F238E27FC236}">
                      <a16:creationId xmlns:a16="http://schemas.microsoft.com/office/drawing/2014/main" id="{955345DA-AAC7-A840-AF47-63C8D8E7A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119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94" name="Rectangle 40">
                  <a:extLst>
                    <a:ext uri="{FF2B5EF4-FFF2-40B4-BE49-F238E27FC236}">
                      <a16:creationId xmlns:a16="http://schemas.microsoft.com/office/drawing/2014/main" id="{D9B7E54E-72FE-1A4B-B2F0-9C0870DF21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119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5" name="Group 41">
                <a:extLst>
                  <a:ext uri="{FF2B5EF4-FFF2-40B4-BE49-F238E27FC236}">
                    <a16:creationId xmlns:a16="http://schemas.microsoft.com/office/drawing/2014/main" id="{4CAFDA88-6D19-4941-B3BE-57379A8F25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190"/>
                <a:ext cx="768" cy="384"/>
                <a:chOff x="3072" y="1190"/>
                <a:chExt cx="768" cy="384"/>
              </a:xfrm>
            </p:grpSpPr>
            <p:sp>
              <p:nvSpPr>
                <p:cNvPr id="106591" name="Rectangle 42">
                  <a:extLst>
                    <a:ext uri="{FF2B5EF4-FFF2-40B4-BE49-F238E27FC236}">
                      <a16:creationId xmlns:a16="http://schemas.microsoft.com/office/drawing/2014/main" id="{784AAF10-8217-F74D-BB21-71F35AA3F2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119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62.5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92" name="Rectangle 43">
                  <a:extLst>
                    <a:ext uri="{FF2B5EF4-FFF2-40B4-BE49-F238E27FC236}">
                      <a16:creationId xmlns:a16="http://schemas.microsoft.com/office/drawing/2014/main" id="{54D66D5D-206E-884B-A7AC-254701CD72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119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6" name="Group 44">
                <a:extLst>
                  <a:ext uri="{FF2B5EF4-FFF2-40B4-BE49-F238E27FC236}">
                    <a16:creationId xmlns:a16="http://schemas.microsoft.com/office/drawing/2014/main" id="{7F76932F-8225-0D47-86CD-BECCEA062F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74"/>
                <a:ext cx="768" cy="384"/>
                <a:chOff x="0" y="1574"/>
                <a:chExt cx="768" cy="384"/>
              </a:xfrm>
            </p:grpSpPr>
            <p:sp>
              <p:nvSpPr>
                <p:cNvPr id="106589" name="Rectangle 45">
                  <a:extLst>
                    <a:ext uri="{FF2B5EF4-FFF2-40B4-BE49-F238E27FC236}">
                      <a16:creationId xmlns:a16="http://schemas.microsoft.com/office/drawing/2014/main" id="{E3FC6764-A09F-1545-9BF6-26CFE4314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74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16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90" name="Rectangle 46">
                  <a:extLst>
                    <a:ext uri="{FF2B5EF4-FFF2-40B4-BE49-F238E27FC236}">
                      <a16:creationId xmlns:a16="http://schemas.microsoft.com/office/drawing/2014/main" id="{0474612B-3570-C04E-A064-11D09F802D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74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7" name="Group 47">
                <a:extLst>
                  <a:ext uri="{FF2B5EF4-FFF2-40B4-BE49-F238E27FC236}">
                    <a16:creationId xmlns:a16="http://schemas.microsoft.com/office/drawing/2014/main" id="{E0341662-4BB5-F042-8FD1-3DBF8B28D4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574"/>
                <a:ext cx="768" cy="384"/>
                <a:chOff x="768" y="1574"/>
                <a:chExt cx="768" cy="384"/>
              </a:xfrm>
            </p:grpSpPr>
            <p:sp>
              <p:nvSpPr>
                <p:cNvPr id="106587" name="Rectangle 48">
                  <a:extLst>
                    <a:ext uri="{FF2B5EF4-FFF2-40B4-BE49-F238E27FC236}">
                      <a16:creationId xmlns:a16="http://schemas.microsoft.com/office/drawing/2014/main" id="{D5C35F64-E3CD-7E4C-8D52-35CC353F67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1574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88" name="Rectangle 49">
                  <a:extLst>
                    <a:ext uri="{FF2B5EF4-FFF2-40B4-BE49-F238E27FC236}">
                      <a16:creationId xmlns:a16="http://schemas.microsoft.com/office/drawing/2014/main" id="{9A9ED187-4AB7-8647-BC91-B9DB09A52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574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8" name="Group 50">
                <a:extLst>
                  <a:ext uri="{FF2B5EF4-FFF2-40B4-BE49-F238E27FC236}">
                    <a16:creationId xmlns:a16="http://schemas.microsoft.com/office/drawing/2014/main" id="{A09CDD3F-D761-6140-A73E-280506F927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574"/>
                <a:ext cx="768" cy="384"/>
                <a:chOff x="1536" y="1574"/>
                <a:chExt cx="768" cy="384"/>
              </a:xfrm>
            </p:grpSpPr>
            <p:sp>
              <p:nvSpPr>
                <p:cNvPr id="106585" name="Rectangle 51">
                  <a:extLst>
                    <a:ext uri="{FF2B5EF4-FFF2-40B4-BE49-F238E27FC236}">
                      <a16:creationId xmlns:a16="http://schemas.microsoft.com/office/drawing/2014/main" id="{B2ABC7D7-9CD6-E14E-9009-AE85E3717A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1574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31.25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86" name="Rectangle 52">
                  <a:extLst>
                    <a:ext uri="{FF2B5EF4-FFF2-40B4-BE49-F238E27FC236}">
                      <a16:creationId xmlns:a16="http://schemas.microsoft.com/office/drawing/2014/main" id="{89F487A4-D463-3B43-976F-292B6484FD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574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19" name="Group 53">
                <a:extLst>
                  <a:ext uri="{FF2B5EF4-FFF2-40B4-BE49-F238E27FC236}">
                    <a16:creationId xmlns:a16="http://schemas.microsoft.com/office/drawing/2014/main" id="{5E692560-235C-934B-84ED-633D3F6566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1574"/>
                <a:ext cx="768" cy="384"/>
                <a:chOff x="2304" y="1574"/>
                <a:chExt cx="768" cy="384"/>
              </a:xfrm>
            </p:grpSpPr>
            <p:sp>
              <p:nvSpPr>
                <p:cNvPr id="106583" name="Rectangle 54">
                  <a:extLst>
                    <a:ext uri="{FF2B5EF4-FFF2-40B4-BE49-F238E27FC236}">
                      <a16:creationId xmlns:a16="http://schemas.microsoft.com/office/drawing/2014/main" id="{3D1840A5-D0E6-8B4B-936C-CB7344D946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1574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</a:t>
                  </a:r>
                </a:p>
                <a:p>
                  <a:pPr algn="just"/>
                  <a:endParaRPr lang="zh-CN" altLang="en-US" sz="2400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84" name="Rectangle 55">
                  <a:extLst>
                    <a:ext uri="{FF2B5EF4-FFF2-40B4-BE49-F238E27FC236}">
                      <a16:creationId xmlns:a16="http://schemas.microsoft.com/office/drawing/2014/main" id="{AA5FDE6C-E1A6-FE46-937F-1D56DC881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1574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0" name="Group 56">
                <a:extLst>
                  <a:ext uri="{FF2B5EF4-FFF2-40B4-BE49-F238E27FC236}">
                    <a16:creationId xmlns:a16="http://schemas.microsoft.com/office/drawing/2014/main" id="{C0645ECF-EAB5-3D47-A6E9-1C9D62363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574"/>
                <a:ext cx="768" cy="384"/>
                <a:chOff x="3072" y="1574"/>
                <a:chExt cx="768" cy="384"/>
              </a:xfrm>
            </p:grpSpPr>
            <p:sp>
              <p:nvSpPr>
                <p:cNvPr id="106581" name="Rectangle 57">
                  <a:extLst>
                    <a:ext uri="{FF2B5EF4-FFF2-40B4-BE49-F238E27FC236}">
                      <a16:creationId xmlns:a16="http://schemas.microsoft.com/office/drawing/2014/main" id="{9A4EEBD2-F16A-C344-9A40-850018B74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1574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37.5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82" name="Rectangle 58">
                  <a:extLst>
                    <a:ext uri="{FF2B5EF4-FFF2-40B4-BE49-F238E27FC236}">
                      <a16:creationId xmlns:a16="http://schemas.microsoft.com/office/drawing/2014/main" id="{833DBDB6-2809-1046-9E25-8D27A53C56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1574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1" name="Group 59">
                <a:extLst>
                  <a:ext uri="{FF2B5EF4-FFF2-40B4-BE49-F238E27FC236}">
                    <a16:creationId xmlns:a16="http://schemas.microsoft.com/office/drawing/2014/main" id="{EC6C47BA-D37D-D54A-B7CF-1AD7AEDF5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58"/>
                <a:ext cx="768" cy="384"/>
                <a:chOff x="0" y="1958"/>
                <a:chExt cx="768" cy="384"/>
              </a:xfrm>
            </p:grpSpPr>
            <p:sp>
              <p:nvSpPr>
                <p:cNvPr id="106579" name="Rectangle 60">
                  <a:extLst>
                    <a:ext uri="{FF2B5EF4-FFF2-40B4-BE49-F238E27FC236}">
                      <a16:creationId xmlns:a16="http://schemas.microsoft.com/office/drawing/2014/main" id="{72E5DEE6-382A-D944-9E76-6008E99B57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958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32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80" name="Rectangle 61">
                  <a:extLst>
                    <a:ext uri="{FF2B5EF4-FFF2-40B4-BE49-F238E27FC236}">
                      <a16:creationId xmlns:a16="http://schemas.microsoft.com/office/drawing/2014/main" id="{1981B738-A70F-7140-AABE-B58A5F1C4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58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2" name="Group 62">
                <a:extLst>
                  <a:ext uri="{FF2B5EF4-FFF2-40B4-BE49-F238E27FC236}">
                    <a16:creationId xmlns:a16="http://schemas.microsoft.com/office/drawing/2014/main" id="{69AF8D83-FE21-B849-A52A-162BC0AE3E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958"/>
                <a:ext cx="768" cy="384"/>
                <a:chOff x="768" y="1958"/>
                <a:chExt cx="768" cy="384"/>
              </a:xfrm>
            </p:grpSpPr>
            <p:sp>
              <p:nvSpPr>
                <p:cNvPr id="106577" name="Rectangle 63">
                  <a:extLst>
                    <a:ext uri="{FF2B5EF4-FFF2-40B4-BE49-F238E27FC236}">
                      <a16:creationId xmlns:a16="http://schemas.microsoft.com/office/drawing/2014/main" id="{273D33BD-5E4A-0743-A195-BB9E17963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1958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</a:t>
                  </a:r>
                </a:p>
                <a:p>
                  <a:pPr algn="just"/>
                  <a:endParaRPr lang="zh-CN" altLang="en-US" sz="2400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78" name="Rectangle 64">
                  <a:extLst>
                    <a:ext uri="{FF2B5EF4-FFF2-40B4-BE49-F238E27FC236}">
                      <a16:creationId xmlns:a16="http://schemas.microsoft.com/office/drawing/2014/main" id="{05A62303-CE6F-8F4E-AF0F-22154BF9F7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958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3" name="Group 65">
                <a:extLst>
                  <a:ext uri="{FF2B5EF4-FFF2-40B4-BE49-F238E27FC236}">
                    <a16:creationId xmlns:a16="http://schemas.microsoft.com/office/drawing/2014/main" id="{7D09CA86-3C51-D040-934D-E7DDAAF4C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958"/>
                <a:ext cx="768" cy="384"/>
                <a:chOff x="1536" y="1958"/>
                <a:chExt cx="768" cy="384"/>
              </a:xfrm>
            </p:grpSpPr>
            <p:sp>
              <p:nvSpPr>
                <p:cNvPr id="106575" name="Rectangle 66">
                  <a:extLst>
                    <a:ext uri="{FF2B5EF4-FFF2-40B4-BE49-F238E27FC236}">
                      <a16:creationId xmlns:a16="http://schemas.microsoft.com/office/drawing/2014/main" id="{FBF31D01-A377-3F40-9EFE-F47398B3C2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1958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18.75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76" name="Rectangle 67">
                  <a:extLst>
                    <a:ext uri="{FF2B5EF4-FFF2-40B4-BE49-F238E27FC236}">
                      <a16:creationId xmlns:a16="http://schemas.microsoft.com/office/drawing/2014/main" id="{EB5C9D78-F890-014F-8576-4956E7A31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958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4" name="Group 68">
                <a:extLst>
                  <a:ext uri="{FF2B5EF4-FFF2-40B4-BE49-F238E27FC236}">
                    <a16:creationId xmlns:a16="http://schemas.microsoft.com/office/drawing/2014/main" id="{CD92D227-263B-3A4F-BFE0-C8FB5A42E8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1958"/>
                <a:ext cx="768" cy="384"/>
                <a:chOff x="2304" y="1958"/>
                <a:chExt cx="768" cy="384"/>
              </a:xfrm>
            </p:grpSpPr>
            <p:sp>
              <p:nvSpPr>
                <p:cNvPr id="106573" name="Rectangle 69">
                  <a:extLst>
                    <a:ext uri="{FF2B5EF4-FFF2-40B4-BE49-F238E27FC236}">
                      <a16:creationId xmlns:a16="http://schemas.microsoft.com/office/drawing/2014/main" id="{5C885A7D-2BC7-A64E-9B03-D883DD3A4D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1958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7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74" name="Rectangle 70">
                  <a:extLst>
                    <a:ext uri="{FF2B5EF4-FFF2-40B4-BE49-F238E27FC236}">
                      <a16:creationId xmlns:a16="http://schemas.microsoft.com/office/drawing/2014/main" id="{C801573A-675D-4A4E-8483-245B1763D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1958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5" name="Group 71">
                <a:extLst>
                  <a:ext uri="{FF2B5EF4-FFF2-40B4-BE49-F238E27FC236}">
                    <a16:creationId xmlns:a16="http://schemas.microsoft.com/office/drawing/2014/main" id="{DFF0086A-B532-5247-B087-2B8D4BACA9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958"/>
                <a:ext cx="768" cy="384"/>
                <a:chOff x="3072" y="1958"/>
                <a:chExt cx="768" cy="384"/>
              </a:xfrm>
            </p:grpSpPr>
            <p:sp>
              <p:nvSpPr>
                <p:cNvPr id="106571" name="Rectangle 72">
                  <a:extLst>
                    <a:ext uri="{FF2B5EF4-FFF2-40B4-BE49-F238E27FC236}">
                      <a16:creationId xmlns:a16="http://schemas.microsoft.com/office/drawing/2014/main" id="{1D9CC0BC-FD0B-C643-9DA0-DD1AE196F7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1958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21.875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72" name="Rectangle 73">
                  <a:extLst>
                    <a:ext uri="{FF2B5EF4-FFF2-40B4-BE49-F238E27FC236}">
                      <a16:creationId xmlns:a16="http://schemas.microsoft.com/office/drawing/2014/main" id="{649329F4-4FD5-FD4B-B40C-D2A553D7E8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1958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6" name="Group 74">
                <a:extLst>
                  <a:ext uri="{FF2B5EF4-FFF2-40B4-BE49-F238E27FC236}">
                    <a16:creationId xmlns:a16="http://schemas.microsoft.com/office/drawing/2014/main" id="{EE34E334-C862-F544-A0E4-2AA2B36059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42"/>
                <a:ext cx="768" cy="384"/>
                <a:chOff x="0" y="2342"/>
                <a:chExt cx="768" cy="384"/>
              </a:xfrm>
            </p:grpSpPr>
            <p:sp>
              <p:nvSpPr>
                <p:cNvPr id="106569" name="Rectangle 75">
                  <a:extLst>
                    <a:ext uri="{FF2B5EF4-FFF2-40B4-BE49-F238E27FC236}">
                      <a16:creationId xmlns:a16="http://schemas.microsoft.com/office/drawing/2014/main" id="{72DCEE16-B7BF-AE4D-AB2F-D2B6A6C86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34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64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70" name="Rectangle 76">
                  <a:extLst>
                    <a:ext uri="{FF2B5EF4-FFF2-40B4-BE49-F238E27FC236}">
                      <a16:creationId xmlns:a16="http://schemas.microsoft.com/office/drawing/2014/main" id="{CCD742B6-8232-574E-A665-9EDDF50C35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34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7" name="Group 77">
                <a:extLst>
                  <a:ext uri="{FF2B5EF4-FFF2-40B4-BE49-F238E27FC236}">
                    <a16:creationId xmlns:a16="http://schemas.microsoft.com/office/drawing/2014/main" id="{3FD92EAF-06B5-8245-B1CD-93E6A35E8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342"/>
                <a:ext cx="768" cy="384"/>
                <a:chOff x="768" y="2342"/>
                <a:chExt cx="768" cy="384"/>
              </a:xfrm>
            </p:grpSpPr>
            <p:sp>
              <p:nvSpPr>
                <p:cNvPr id="106567" name="Rectangle 78">
                  <a:extLst>
                    <a:ext uri="{FF2B5EF4-FFF2-40B4-BE49-F238E27FC236}">
                      <a16:creationId xmlns:a16="http://schemas.microsoft.com/office/drawing/2014/main" id="{65B28C67-C0BF-EB46-B1F0-60DB57041B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234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7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68" name="Rectangle 79">
                  <a:extLst>
                    <a:ext uri="{FF2B5EF4-FFF2-40B4-BE49-F238E27FC236}">
                      <a16:creationId xmlns:a16="http://schemas.microsoft.com/office/drawing/2014/main" id="{8877C4C4-EEDD-154F-B1F6-7C1395643D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34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8" name="Group 80">
                <a:extLst>
                  <a:ext uri="{FF2B5EF4-FFF2-40B4-BE49-F238E27FC236}">
                    <a16:creationId xmlns:a16="http://schemas.microsoft.com/office/drawing/2014/main" id="{59151E8A-D16B-0449-B406-4E8D4BF58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2342"/>
                <a:ext cx="768" cy="384"/>
                <a:chOff x="1536" y="2342"/>
                <a:chExt cx="768" cy="384"/>
              </a:xfrm>
            </p:grpSpPr>
            <p:sp>
              <p:nvSpPr>
                <p:cNvPr id="106565" name="Rectangle 81">
                  <a:extLst>
                    <a:ext uri="{FF2B5EF4-FFF2-40B4-BE49-F238E27FC236}">
                      <a16:creationId xmlns:a16="http://schemas.microsoft.com/office/drawing/2014/main" id="{54A027B5-11AF-5146-ACEE-741CBCD7DE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234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10.94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66" name="Rectangle 82">
                  <a:extLst>
                    <a:ext uri="{FF2B5EF4-FFF2-40B4-BE49-F238E27FC236}">
                      <a16:creationId xmlns:a16="http://schemas.microsoft.com/office/drawing/2014/main" id="{2E5306DA-B3CF-4E4F-877A-29D9A55EAE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34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29" name="Group 83">
                <a:extLst>
                  <a:ext uri="{FF2B5EF4-FFF2-40B4-BE49-F238E27FC236}">
                    <a16:creationId xmlns:a16="http://schemas.microsoft.com/office/drawing/2014/main" id="{C88CC9C6-42F5-7444-ABD6-0CD03ADB3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342"/>
                <a:ext cx="768" cy="384"/>
                <a:chOff x="2304" y="2342"/>
                <a:chExt cx="768" cy="384"/>
              </a:xfrm>
            </p:grpSpPr>
            <p:sp>
              <p:nvSpPr>
                <p:cNvPr id="106563" name="Rectangle 84">
                  <a:extLst>
                    <a:ext uri="{FF2B5EF4-FFF2-40B4-BE49-F238E27FC236}">
                      <a16:creationId xmlns:a16="http://schemas.microsoft.com/office/drawing/2014/main" id="{13E1337A-A492-2144-B7E4-247D6117E8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234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8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64" name="Rectangle 85">
                  <a:extLst>
                    <a:ext uri="{FF2B5EF4-FFF2-40B4-BE49-F238E27FC236}">
                      <a16:creationId xmlns:a16="http://schemas.microsoft.com/office/drawing/2014/main" id="{40FB8F62-C83E-2844-9F99-8A9ABA384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34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0" name="Group 86">
                <a:extLst>
                  <a:ext uri="{FF2B5EF4-FFF2-40B4-BE49-F238E27FC236}">
                    <a16:creationId xmlns:a16="http://schemas.microsoft.com/office/drawing/2014/main" id="{BF712C0C-F12E-C942-9F34-FAFDD784AC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2342"/>
                <a:ext cx="768" cy="384"/>
                <a:chOff x="3072" y="2342"/>
                <a:chExt cx="768" cy="384"/>
              </a:xfrm>
            </p:grpSpPr>
            <p:sp>
              <p:nvSpPr>
                <p:cNvPr id="106561" name="Rectangle 87">
                  <a:extLst>
                    <a:ext uri="{FF2B5EF4-FFF2-40B4-BE49-F238E27FC236}">
                      <a16:creationId xmlns:a16="http://schemas.microsoft.com/office/drawing/2014/main" id="{F265E340-8A7E-FF45-B0CC-E58C88781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2342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12.5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62" name="Rectangle 88">
                  <a:extLst>
                    <a:ext uri="{FF2B5EF4-FFF2-40B4-BE49-F238E27FC236}">
                      <a16:creationId xmlns:a16="http://schemas.microsoft.com/office/drawing/2014/main" id="{0878DA49-E934-EC48-B7E5-ADACF4970A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342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1" name="Group 89">
                <a:extLst>
                  <a:ext uri="{FF2B5EF4-FFF2-40B4-BE49-F238E27FC236}">
                    <a16:creationId xmlns:a16="http://schemas.microsoft.com/office/drawing/2014/main" id="{1CF83F70-32A5-A144-AAD0-7FA9996BB6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726"/>
                <a:ext cx="768" cy="384"/>
                <a:chOff x="0" y="2726"/>
                <a:chExt cx="768" cy="384"/>
              </a:xfrm>
            </p:grpSpPr>
            <p:sp>
              <p:nvSpPr>
                <p:cNvPr id="106559" name="Rectangle 90">
                  <a:extLst>
                    <a:ext uri="{FF2B5EF4-FFF2-40B4-BE49-F238E27FC236}">
                      <a16:creationId xmlns:a16="http://schemas.microsoft.com/office/drawing/2014/main" id="{E056EE2F-5F28-C94A-AE6E-F5E30A36C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72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128</a:t>
                  </a:r>
                </a:p>
                <a:p>
                  <a:pPr algn="just"/>
                  <a:endParaRPr lang="zh-CN" altLang="en-US" sz="2400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60" name="Rectangle 91">
                  <a:extLst>
                    <a:ext uri="{FF2B5EF4-FFF2-40B4-BE49-F238E27FC236}">
                      <a16:creationId xmlns:a16="http://schemas.microsoft.com/office/drawing/2014/main" id="{C44EC4B2-B8C6-9440-A817-C051FD6E6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72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2" name="Group 92">
                <a:extLst>
                  <a:ext uri="{FF2B5EF4-FFF2-40B4-BE49-F238E27FC236}">
                    <a16:creationId xmlns:a16="http://schemas.microsoft.com/office/drawing/2014/main" id="{B372EAB3-4C32-C342-B8FA-32C06D5DD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726"/>
                <a:ext cx="768" cy="384"/>
                <a:chOff x="768" y="2726"/>
                <a:chExt cx="768" cy="384"/>
              </a:xfrm>
            </p:grpSpPr>
            <p:sp>
              <p:nvSpPr>
                <p:cNvPr id="106557" name="Rectangle 93">
                  <a:extLst>
                    <a:ext uri="{FF2B5EF4-FFF2-40B4-BE49-F238E27FC236}">
                      <a16:creationId xmlns:a16="http://schemas.microsoft.com/office/drawing/2014/main" id="{6CF5497D-69F4-954C-8C0E-7297E491F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272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8</a:t>
                  </a:r>
                </a:p>
                <a:p>
                  <a:pPr algn="just"/>
                  <a:endParaRPr lang="zh-CN" altLang="en-US" sz="2400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58" name="Rectangle 94">
                  <a:extLst>
                    <a:ext uri="{FF2B5EF4-FFF2-40B4-BE49-F238E27FC236}">
                      <a16:creationId xmlns:a16="http://schemas.microsoft.com/office/drawing/2014/main" id="{E4891A4B-D420-DC4C-A8EA-EBE83EE818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72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3" name="Group 95">
                <a:extLst>
                  <a:ext uri="{FF2B5EF4-FFF2-40B4-BE49-F238E27FC236}">
                    <a16:creationId xmlns:a16="http://schemas.microsoft.com/office/drawing/2014/main" id="{F818BCEF-74FB-6346-9B11-9B31358F9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2726"/>
                <a:ext cx="768" cy="384"/>
                <a:chOff x="1536" y="2726"/>
                <a:chExt cx="768" cy="384"/>
              </a:xfrm>
            </p:grpSpPr>
            <p:sp>
              <p:nvSpPr>
                <p:cNvPr id="106555" name="Rectangle 96">
                  <a:extLst>
                    <a:ext uri="{FF2B5EF4-FFF2-40B4-BE49-F238E27FC236}">
                      <a16:creationId xmlns:a16="http://schemas.microsoft.com/office/drawing/2014/main" id="{897500A2-6E6C-254E-8012-B629BE1901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272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6.25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56" name="Rectangle 97">
                  <a:extLst>
                    <a:ext uri="{FF2B5EF4-FFF2-40B4-BE49-F238E27FC236}">
                      <a16:creationId xmlns:a16="http://schemas.microsoft.com/office/drawing/2014/main" id="{ADC2E6A9-F2F7-C349-9F64-1B32E728F5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72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4" name="Group 98">
                <a:extLst>
                  <a:ext uri="{FF2B5EF4-FFF2-40B4-BE49-F238E27FC236}">
                    <a16:creationId xmlns:a16="http://schemas.microsoft.com/office/drawing/2014/main" id="{73649069-1636-3E4D-BCA7-9EA22487F2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726"/>
                <a:ext cx="768" cy="384"/>
                <a:chOff x="2304" y="2726"/>
                <a:chExt cx="768" cy="384"/>
              </a:xfrm>
            </p:grpSpPr>
            <p:sp>
              <p:nvSpPr>
                <p:cNvPr id="106553" name="Rectangle 99">
                  <a:extLst>
                    <a:ext uri="{FF2B5EF4-FFF2-40B4-BE49-F238E27FC236}">
                      <a16:creationId xmlns:a16="http://schemas.microsoft.com/office/drawing/2014/main" id="{FE9DE9B3-5B8A-B64D-BED2-759948644B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272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9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54" name="Rectangle 100">
                  <a:extLst>
                    <a:ext uri="{FF2B5EF4-FFF2-40B4-BE49-F238E27FC236}">
                      <a16:creationId xmlns:a16="http://schemas.microsoft.com/office/drawing/2014/main" id="{9B828608-F59A-C74A-BAD9-C2B2E6D1A7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72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5" name="Group 101">
                <a:extLst>
                  <a:ext uri="{FF2B5EF4-FFF2-40B4-BE49-F238E27FC236}">
                    <a16:creationId xmlns:a16="http://schemas.microsoft.com/office/drawing/2014/main" id="{F838AECE-DC75-A547-9DEF-018DF172F9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2726"/>
                <a:ext cx="768" cy="384"/>
                <a:chOff x="3072" y="2726"/>
                <a:chExt cx="768" cy="384"/>
              </a:xfrm>
            </p:grpSpPr>
            <p:sp>
              <p:nvSpPr>
                <p:cNvPr id="106551" name="Rectangle 102">
                  <a:extLst>
                    <a:ext uri="{FF2B5EF4-FFF2-40B4-BE49-F238E27FC236}">
                      <a16:creationId xmlns:a16="http://schemas.microsoft.com/office/drawing/2014/main" id="{80EB2547-2646-2F44-B90C-B6DF719FA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2726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7.03</a:t>
                  </a:r>
                </a:p>
                <a:p>
                  <a:pPr algn="just"/>
                  <a:endParaRPr lang="zh-CN" altLang="en-US" sz="2400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52" name="Rectangle 103">
                  <a:extLst>
                    <a:ext uri="{FF2B5EF4-FFF2-40B4-BE49-F238E27FC236}">
                      <a16:creationId xmlns:a16="http://schemas.microsoft.com/office/drawing/2014/main" id="{AD40B1E7-1D57-7F44-9FBC-EC633200E7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726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6" name="Group 104">
                <a:extLst>
                  <a:ext uri="{FF2B5EF4-FFF2-40B4-BE49-F238E27FC236}">
                    <a16:creationId xmlns:a16="http://schemas.microsoft.com/office/drawing/2014/main" id="{EE2AE101-5142-8B40-A6DF-4CE4E5BDD4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10"/>
                <a:ext cx="768" cy="384"/>
                <a:chOff x="0" y="3110"/>
                <a:chExt cx="768" cy="384"/>
              </a:xfrm>
            </p:grpSpPr>
            <p:sp>
              <p:nvSpPr>
                <p:cNvPr id="106549" name="Rectangle 105">
                  <a:extLst>
                    <a:ext uri="{FF2B5EF4-FFF2-40B4-BE49-F238E27FC236}">
                      <a16:creationId xmlns:a16="http://schemas.microsoft.com/office/drawing/2014/main" id="{004146CF-B477-1144-AE9B-D53E6A356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1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256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50" name="Rectangle 106">
                  <a:extLst>
                    <a:ext uri="{FF2B5EF4-FFF2-40B4-BE49-F238E27FC236}">
                      <a16:creationId xmlns:a16="http://schemas.microsoft.com/office/drawing/2014/main" id="{695E8FA1-64B2-6341-AEE2-E8A92E61E7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1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7" name="Group 107">
                <a:extLst>
                  <a:ext uri="{FF2B5EF4-FFF2-40B4-BE49-F238E27FC236}">
                    <a16:creationId xmlns:a16="http://schemas.microsoft.com/office/drawing/2014/main" id="{8F10FE9B-8A94-3A4B-8686-4E3B9E78C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3110"/>
                <a:ext cx="768" cy="384"/>
                <a:chOff x="768" y="3110"/>
                <a:chExt cx="768" cy="384"/>
              </a:xfrm>
            </p:grpSpPr>
            <p:sp>
              <p:nvSpPr>
                <p:cNvPr id="106547" name="Rectangle 108">
                  <a:extLst>
                    <a:ext uri="{FF2B5EF4-FFF2-40B4-BE49-F238E27FC236}">
                      <a16:creationId xmlns:a16="http://schemas.microsoft.com/office/drawing/2014/main" id="{C01037E3-1E7D-204A-B377-E99DD17B5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1" y="311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9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48" name="Rectangle 109">
                  <a:extLst>
                    <a:ext uri="{FF2B5EF4-FFF2-40B4-BE49-F238E27FC236}">
                      <a16:creationId xmlns:a16="http://schemas.microsoft.com/office/drawing/2014/main" id="{BA9ACA55-D7C9-774F-BD19-80FF867302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311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8" name="Group 110">
                <a:extLst>
                  <a:ext uri="{FF2B5EF4-FFF2-40B4-BE49-F238E27FC236}">
                    <a16:creationId xmlns:a16="http://schemas.microsoft.com/office/drawing/2014/main" id="{470B528F-BB1C-C545-8376-3907FA7769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10"/>
                <a:ext cx="768" cy="384"/>
                <a:chOff x="1536" y="3110"/>
                <a:chExt cx="768" cy="384"/>
              </a:xfrm>
            </p:grpSpPr>
            <p:sp>
              <p:nvSpPr>
                <p:cNvPr id="106545" name="Rectangle 111">
                  <a:extLst>
                    <a:ext uri="{FF2B5EF4-FFF2-40B4-BE49-F238E27FC236}">
                      <a16:creationId xmlns:a16="http://schemas.microsoft.com/office/drawing/2014/main" id="{84560CA5-80DB-5E47-811E-9D0A31254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" y="311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3.52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46" name="Rectangle 112">
                  <a:extLst>
                    <a:ext uri="{FF2B5EF4-FFF2-40B4-BE49-F238E27FC236}">
                      <a16:creationId xmlns:a16="http://schemas.microsoft.com/office/drawing/2014/main" id="{3B927818-10CB-FF48-81AF-8F402A4B1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311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9" name="Group 113">
                <a:extLst>
                  <a:ext uri="{FF2B5EF4-FFF2-40B4-BE49-F238E27FC236}">
                    <a16:creationId xmlns:a16="http://schemas.microsoft.com/office/drawing/2014/main" id="{AFACF303-3F2F-4046-888E-DCDD6E592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3110"/>
                <a:ext cx="768" cy="384"/>
                <a:chOff x="2304" y="3110"/>
                <a:chExt cx="768" cy="384"/>
              </a:xfrm>
            </p:grpSpPr>
            <p:sp>
              <p:nvSpPr>
                <p:cNvPr id="106543" name="Rectangle 114">
                  <a:extLst>
                    <a:ext uri="{FF2B5EF4-FFF2-40B4-BE49-F238E27FC236}">
                      <a16:creationId xmlns:a16="http://schemas.microsoft.com/office/drawing/2014/main" id="{C87F9F7E-E483-CB46-9A73-0AE7267B8F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311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10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44" name="Rectangle 115">
                  <a:extLst>
                    <a:ext uri="{FF2B5EF4-FFF2-40B4-BE49-F238E27FC236}">
                      <a16:creationId xmlns:a16="http://schemas.microsoft.com/office/drawing/2014/main" id="{F935D655-ABFC-7F45-9E2C-DD58170B32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311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40" name="Group 116">
                <a:extLst>
                  <a:ext uri="{FF2B5EF4-FFF2-40B4-BE49-F238E27FC236}">
                    <a16:creationId xmlns:a16="http://schemas.microsoft.com/office/drawing/2014/main" id="{3FCB56D1-C5BC-9649-B89F-8E188B92F6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3110"/>
                <a:ext cx="768" cy="384"/>
                <a:chOff x="3072" y="3110"/>
                <a:chExt cx="768" cy="384"/>
              </a:xfrm>
            </p:grpSpPr>
            <p:sp>
              <p:nvSpPr>
                <p:cNvPr id="106541" name="Rectangle 117">
                  <a:extLst>
                    <a:ext uri="{FF2B5EF4-FFF2-40B4-BE49-F238E27FC236}">
                      <a16:creationId xmlns:a16="http://schemas.microsoft.com/office/drawing/2014/main" id="{F87C1E15-F0C8-B94F-A58C-3F4CF5F7D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5" y="3110"/>
                  <a:ext cx="6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zh-CN" altLang="en-US" sz="2400" b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3.91</a:t>
                  </a:r>
                </a:p>
                <a:p>
                  <a:pPr algn="just"/>
                  <a:endPara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42" name="Rectangle 118">
                  <a:extLst>
                    <a:ext uri="{FF2B5EF4-FFF2-40B4-BE49-F238E27FC236}">
                      <a16:creationId xmlns:a16="http://schemas.microsoft.com/office/drawing/2014/main" id="{56B012CA-C1F7-7D4B-8B86-78F1D0316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3110"/>
                  <a:ext cx="7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06502" name="Rectangle 119">
              <a:extLst>
                <a:ext uri="{FF2B5EF4-FFF2-40B4-BE49-F238E27FC236}">
                  <a16:creationId xmlns:a16="http://schemas.microsoft.com/office/drawing/2014/main" id="{D52BA8DC-8654-6244-B60B-B19250942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419"/>
              <a:ext cx="3846" cy="307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6500" name="Rectangle 122">
            <a:extLst>
              <a:ext uri="{FF2B5EF4-FFF2-40B4-BE49-F238E27FC236}">
                <a16:creationId xmlns:a16="http://schemas.microsoft.com/office/drawing/2014/main" id="{7509D0FE-B663-084F-AA1C-4171ECDFE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3" y="796925"/>
            <a:ext cx="868838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15000"/>
              </a:spcBef>
              <a:buClr>
                <a:srgbClr val="000000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的关系：</a:t>
            </a: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-1≥n+k </a:t>
            </a:r>
            <a:r>
              <a:rPr lang="zh-CN" altLang="en-US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>
                <a:solidFill>
                  <a:srgbClr val="009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分别为数据位数和校验位数）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2895A01-43A1-7946-A5FD-78CADE43A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汉明码的分组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id="{E41DEC71-42C4-5F4E-AFCD-2EEE78106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8275" y="876300"/>
            <a:ext cx="8672513" cy="5527675"/>
          </a:xfrm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基本思想:　</a:t>
            </a:r>
            <a:r>
              <a:rPr lang="en-US" altLang="zh-CN" sz="240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位</a:t>
            </a: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数据位和</a:t>
            </a:r>
            <a:r>
              <a:rPr lang="en-US" altLang="zh-CN" sz="2400">
                <a:solidFill>
                  <a:srgbClr val="FF0066"/>
                </a:solidFill>
                <a:ea typeface="黑体" panose="02010609060101010101" pitchFamily="49" charset="-122"/>
              </a:rPr>
              <a:t>k</a:t>
            </a: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位校验位按某种方式排列为一个（</a:t>
            </a:r>
            <a:r>
              <a:rPr lang="en-US" altLang="zh-CN" sz="2400">
                <a:solidFill>
                  <a:srgbClr val="FF0066"/>
                </a:solidFill>
                <a:ea typeface="黑体" panose="02010609060101010101" pitchFamily="49" charset="-122"/>
              </a:rPr>
              <a:t>n+k</a:t>
            </a:r>
            <a:r>
              <a:rPr lang="zh-CN" altLang="en-US" sz="2400">
                <a:solidFill>
                  <a:srgbClr val="FF0066"/>
                </a:solidFill>
                <a:ea typeface="黑体" panose="02010609060101010101" pitchFamily="49" charset="-122"/>
              </a:rPr>
              <a:t>）位的码字，将该码字中每个出错位的位置与故障字的数值建立关系，通过故障字的值确定该码字中哪一位发生了错误，并将其取反来纠正。</a:t>
            </a:r>
          </a:p>
          <a:p>
            <a:pPr marL="742950" lvl="1" indent="-285750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</a:rPr>
              <a:t>　 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根据上述基本思想，按以下规则来解释各故障字的值。</a:t>
            </a:r>
          </a:p>
          <a:p>
            <a:pPr marL="742950" lvl="1" indent="-285750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2400">
                <a:solidFill>
                  <a:srgbClr val="800000"/>
                </a:solidFill>
                <a:ea typeface="黑体" panose="02010609060101010101" pitchFamily="49" charset="-122"/>
              </a:rPr>
              <a:t>规则</a:t>
            </a:r>
            <a:r>
              <a:rPr lang="en-US" altLang="zh-CN" sz="2400">
                <a:solidFill>
                  <a:srgbClr val="80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800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  <a:r>
              <a:rPr lang="zh-CN" altLang="en-US" sz="2400">
                <a:ea typeface="黑体" panose="02010609060101010101" pitchFamily="49" charset="-122"/>
              </a:rPr>
              <a:t>若故障字每位全部是0，则表示没有发生错误。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	</a:t>
            </a:r>
            <a:r>
              <a:rPr lang="zh-CN" altLang="en-US" sz="2400">
                <a:solidFill>
                  <a:srgbClr val="800000"/>
                </a:solidFill>
                <a:ea typeface="黑体" panose="02010609060101010101" pitchFamily="49" charset="-122"/>
              </a:rPr>
              <a:t>规则2：</a:t>
            </a:r>
            <a:r>
              <a:rPr lang="zh-CN" altLang="en-US" sz="2400">
                <a:ea typeface="黑体" panose="02010609060101010101" pitchFamily="49" charset="-122"/>
              </a:rPr>
              <a:t>若故障字中有且仅有一位为1，则表示校验位中有一位出错，因而不需纠正。</a:t>
            </a:r>
          </a:p>
          <a:p>
            <a:pPr marL="742950" lvl="1" indent="-285750">
              <a:spcBef>
                <a:spcPct val="3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	</a:t>
            </a:r>
            <a:r>
              <a:rPr lang="zh-CN" altLang="en-US" sz="2400">
                <a:solidFill>
                  <a:srgbClr val="800000"/>
                </a:solidFill>
                <a:ea typeface="黑体" panose="02010609060101010101" pitchFamily="49" charset="-122"/>
              </a:rPr>
              <a:t>规则3：</a:t>
            </a:r>
            <a:r>
              <a:rPr lang="zh-CN" altLang="en-US" sz="2400">
                <a:ea typeface="黑体" panose="02010609060101010101" pitchFamily="49" charset="-122"/>
              </a:rPr>
              <a:t>若故障字中多位为1，则表示有一个数据位出错，其在码字中的出错位置由故障字的数值来确定。纠正时只要将出错位取反即可。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2D3A62E1-06C2-1D4B-BF21-5FE830A28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汉明码的分组</a:t>
            </a:r>
          </a:p>
        </p:txBody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AF6B713B-8B7E-1848-B55F-6A986CA4D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19150"/>
            <a:ext cx="8886825" cy="5857875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>
                <a:ea typeface="黑体" panose="02010609060101010101" pitchFamily="49" charset="-122"/>
              </a:rPr>
              <a:t>以8位数据进行单个位检错和纠错为例说明。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sz="2000">
                <a:ea typeface="黑体" panose="02010609060101010101" pitchFamily="49" charset="-122"/>
              </a:rPr>
              <a:t>    假定8位数据</a:t>
            </a:r>
            <a:r>
              <a:rPr lang="en-US" altLang="zh-CN" sz="2000">
                <a:ea typeface="黑体" panose="02010609060101010101" pitchFamily="49" charset="-122"/>
              </a:rPr>
              <a:t>M= M</a:t>
            </a:r>
            <a:r>
              <a:rPr lang="en-US" altLang="zh-CN" sz="2000" baseline="-30000">
                <a:ea typeface="黑体" panose="02010609060101010101" pitchFamily="49" charset="-122"/>
              </a:rPr>
              <a:t>8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7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6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5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4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3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2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，</a:t>
            </a:r>
            <a:r>
              <a:rPr lang="zh-CN" altLang="en-US" sz="2000">
                <a:ea typeface="黑体" panose="02010609060101010101" pitchFamily="49" charset="-122"/>
              </a:rPr>
              <a:t>4位校验位</a:t>
            </a:r>
            <a:r>
              <a:rPr lang="en-US" altLang="zh-CN" sz="2000">
                <a:ea typeface="黑体" panose="02010609060101010101" pitchFamily="49" charset="-122"/>
              </a:rPr>
              <a:t>P=P</a:t>
            </a:r>
            <a:r>
              <a:rPr lang="en-US" altLang="zh-CN" sz="2000" baseline="-30000">
                <a:ea typeface="黑体" panose="02010609060101010101" pitchFamily="49" charset="-122"/>
              </a:rPr>
              <a:t>4</a:t>
            </a:r>
            <a:r>
              <a:rPr lang="en-US" altLang="zh-CN" sz="2000"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ea typeface="黑体" panose="02010609060101010101" pitchFamily="49" charset="-122"/>
              </a:rPr>
              <a:t>3</a:t>
            </a:r>
            <a:r>
              <a:rPr lang="en-US" altLang="zh-CN" sz="2000"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ea typeface="黑体" panose="02010609060101010101" pitchFamily="49" charset="-122"/>
              </a:rPr>
              <a:t>2</a:t>
            </a:r>
            <a:r>
              <a:rPr lang="en-US" altLang="zh-CN" sz="2000"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。</a:t>
            </a:r>
            <a:r>
              <a:rPr lang="zh-CN" altLang="en-US" sz="2000">
                <a:ea typeface="黑体" panose="02010609060101010101" pitchFamily="49" charset="-122"/>
              </a:rPr>
              <a:t>根据规则将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zh-CN" altLang="en-US" sz="2000">
                <a:ea typeface="黑体" panose="02010609060101010101" pitchFamily="49" charset="-122"/>
              </a:rPr>
              <a:t>和</a:t>
            </a:r>
            <a:r>
              <a:rPr lang="en-US" altLang="zh-CN" sz="2000">
                <a:ea typeface="黑体" panose="02010609060101010101" pitchFamily="49" charset="-122"/>
              </a:rPr>
              <a:t>P</a:t>
            </a:r>
            <a:r>
              <a:rPr lang="zh-CN" altLang="en-US" sz="2000">
                <a:ea typeface="黑体" panose="02010609060101010101" pitchFamily="49" charset="-122"/>
              </a:rPr>
              <a:t>按一定的规律排到一个12位码字中。</a:t>
            </a: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</a:t>
            </a:r>
            <a:r>
              <a:rPr lang="zh-CN" altLang="en-US" sz="2000">
                <a:solidFill>
                  <a:srgbClr val="800000"/>
                </a:solidFill>
                <a:ea typeface="黑体" panose="02010609060101010101" pitchFamily="49" charset="-122"/>
              </a:rPr>
              <a:t>据规则1，</a:t>
            </a:r>
            <a:r>
              <a:rPr lang="zh-CN" altLang="en-US" sz="2000">
                <a:ea typeface="黑体" panose="02010609060101010101" pitchFamily="49" charset="-122"/>
              </a:rPr>
              <a:t>故障字为0000时，表示无错。</a:t>
            </a: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</a:t>
            </a:r>
            <a:r>
              <a:rPr lang="zh-CN" altLang="en-US" sz="2000">
                <a:solidFill>
                  <a:srgbClr val="800000"/>
                </a:solidFill>
                <a:ea typeface="黑体" panose="02010609060101010101" pitchFamily="49" charset="-122"/>
              </a:rPr>
              <a:t>据规则2，</a:t>
            </a:r>
            <a:r>
              <a:rPr lang="zh-CN" altLang="en-US" sz="2000">
                <a:ea typeface="黑体" panose="02010609060101010101" pitchFamily="49" charset="-122"/>
              </a:rPr>
              <a:t>故障字中有且仅有一位为1时，表示校验位中有一位出错。此时，故障字只可能是0001、0010、0100、1000，将这四种状态分别代表校验位中</a:t>
            </a:r>
            <a:r>
              <a:rPr lang="en-US" altLang="zh-CN" sz="2000"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、P</a:t>
            </a:r>
            <a:r>
              <a:rPr lang="en-US" altLang="zh-CN" sz="2000" baseline="-30000">
                <a:ea typeface="黑体" panose="02010609060101010101" pitchFamily="49" charset="-122"/>
              </a:rPr>
              <a:t>2</a:t>
            </a:r>
            <a:r>
              <a:rPr lang="en-US" altLang="zh-CN" sz="2000">
                <a:ea typeface="黑体" panose="02010609060101010101" pitchFamily="49" charset="-122"/>
              </a:rPr>
              <a:t>、P</a:t>
            </a:r>
            <a:r>
              <a:rPr lang="en-US" altLang="zh-CN" sz="2000" baseline="-30000">
                <a:ea typeface="黑体" panose="02010609060101010101" pitchFamily="49" charset="-122"/>
              </a:rPr>
              <a:t>3</a:t>
            </a:r>
            <a:r>
              <a:rPr lang="en-US" altLang="zh-CN" sz="2000">
                <a:ea typeface="黑体" panose="02010609060101010101" pitchFamily="49" charset="-122"/>
              </a:rPr>
              <a:t>、P</a:t>
            </a:r>
            <a:r>
              <a:rPr lang="en-US" altLang="zh-CN" sz="2000" baseline="-30000">
                <a:ea typeface="黑体" panose="02010609060101010101" pitchFamily="49" charset="-122"/>
              </a:rPr>
              <a:t>4</a:t>
            </a:r>
            <a:r>
              <a:rPr lang="zh-CN" altLang="en-US" sz="2000">
                <a:ea typeface="黑体" panose="02010609060101010101" pitchFamily="49" charset="-122"/>
              </a:rPr>
              <a:t>位发生错误，因此，它们分别位于码字的第1、2、4、8位。</a:t>
            </a: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Tx/>
              <a:buNone/>
            </a:pPr>
            <a:r>
              <a:rPr lang="zh-CN" altLang="en-US" sz="2000">
                <a:solidFill>
                  <a:srgbClr val="800000"/>
                </a:solidFill>
                <a:ea typeface="黑体" panose="02010609060101010101" pitchFamily="49" charset="-122"/>
              </a:rPr>
              <a:t>    据规则3，</a:t>
            </a:r>
            <a:r>
              <a:rPr lang="zh-CN" altLang="en-US" sz="2000">
                <a:ea typeface="黑体" panose="02010609060101010101" pitchFamily="49" charset="-122"/>
              </a:rPr>
              <a:t>将其他多位为1的故障字依次表示数据位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~M</a:t>
            </a:r>
            <a:r>
              <a:rPr lang="en-US" altLang="zh-CN" sz="2000" baseline="-30000">
                <a:ea typeface="黑体" panose="02010609060101010101" pitchFamily="49" charset="-122"/>
              </a:rPr>
              <a:t>8</a:t>
            </a:r>
            <a:r>
              <a:rPr lang="zh-CN" altLang="en-US" sz="2000">
                <a:ea typeface="黑体" panose="02010609060101010101" pitchFamily="49" charset="-122"/>
              </a:rPr>
              <a:t>发生错误的情况。因此，数据位</a:t>
            </a:r>
            <a:r>
              <a:rPr lang="en-US" altLang="zh-CN" sz="2000"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en-US" altLang="zh-CN" sz="2000">
                <a:ea typeface="黑体" panose="02010609060101010101" pitchFamily="49" charset="-122"/>
              </a:rPr>
              <a:t>~M</a:t>
            </a:r>
            <a:r>
              <a:rPr lang="en-US" altLang="zh-CN" sz="2000" baseline="-30000">
                <a:ea typeface="黑体" panose="02010609060101010101" pitchFamily="49" charset="-122"/>
              </a:rPr>
              <a:t>8</a:t>
            </a:r>
            <a:r>
              <a:rPr lang="zh-CN" altLang="en-US" sz="2000">
                <a:ea typeface="黑体" panose="02010609060101010101" pitchFamily="49" charset="-122"/>
              </a:rPr>
              <a:t>分别位于码字的第0011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(3)</a:t>
            </a:r>
            <a:r>
              <a:rPr lang="zh-CN" altLang="en-US" sz="2000">
                <a:ea typeface="黑体" panose="02010609060101010101" pitchFamily="49" charset="-122"/>
              </a:rPr>
              <a:t>、0101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(5)</a:t>
            </a:r>
            <a:r>
              <a:rPr lang="zh-CN" altLang="en-US" sz="2000">
                <a:ea typeface="黑体" panose="02010609060101010101" pitchFamily="49" charset="-122"/>
              </a:rPr>
              <a:t>、0110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(6)</a:t>
            </a:r>
            <a:r>
              <a:rPr lang="zh-CN" altLang="en-US" sz="2000">
                <a:ea typeface="黑体" panose="02010609060101010101" pitchFamily="49" charset="-122"/>
              </a:rPr>
              <a:t>、0111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(7)</a:t>
            </a:r>
            <a:r>
              <a:rPr lang="zh-CN" altLang="en-US" sz="2000">
                <a:ea typeface="黑体" panose="02010609060101010101" pitchFamily="49" charset="-122"/>
              </a:rPr>
              <a:t>、1001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(9)</a:t>
            </a:r>
            <a:r>
              <a:rPr lang="zh-CN" altLang="en-US" sz="2000">
                <a:ea typeface="黑体" panose="02010609060101010101" pitchFamily="49" charset="-122"/>
              </a:rPr>
              <a:t>、1010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(10)</a:t>
            </a:r>
            <a:r>
              <a:rPr lang="zh-CN" altLang="en-US" sz="2000">
                <a:ea typeface="黑体" panose="02010609060101010101" pitchFamily="49" charset="-122"/>
              </a:rPr>
              <a:t>、1011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(11)</a:t>
            </a:r>
            <a:r>
              <a:rPr lang="zh-CN" altLang="en-US" sz="2000">
                <a:ea typeface="黑体" panose="02010609060101010101" pitchFamily="49" charset="-122"/>
              </a:rPr>
              <a:t>、1100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(12)</a:t>
            </a:r>
            <a:r>
              <a:rPr lang="zh-CN" altLang="en-US" sz="2000">
                <a:ea typeface="黑体" panose="02010609060101010101" pitchFamily="49" charset="-122"/>
              </a:rPr>
              <a:t>位。即码字的排列为：</a:t>
            </a:r>
            <a:r>
              <a:rPr lang="en-US" altLang="zh-CN" sz="2000">
                <a:ea typeface="黑体" panose="02010609060101010101" pitchFamily="49" charset="-122"/>
              </a:rPr>
              <a:t>    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8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7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6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5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000" baseline="-30000">
                <a:solidFill>
                  <a:srgbClr val="CC0000"/>
                </a:solidFill>
                <a:ea typeface="黑体" panose="02010609060101010101" pitchFamily="49" charset="-122"/>
              </a:rPr>
              <a:t>1  </a:t>
            </a:r>
            <a:endParaRPr lang="zh-CN" altLang="en-US" sz="200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5000"/>
              </a:lnSpc>
              <a:spcBef>
                <a:spcPts val="6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  这样，得到故障字</a:t>
            </a:r>
            <a:r>
              <a:rPr lang="en-US" altLang="zh-CN" sz="2000">
                <a:ea typeface="黑体" panose="02010609060101010101" pitchFamily="49" charset="-122"/>
              </a:rPr>
              <a:t>S=S</a:t>
            </a:r>
            <a:r>
              <a:rPr lang="en-US" altLang="zh-CN" sz="2000" baseline="-30000">
                <a:ea typeface="黑体" panose="02010609060101010101" pitchFamily="49" charset="-122"/>
              </a:rPr>
              <a:t>4</a:t>
            </a:r>
            <a:r>
              <a:rPr lang="en-US" altLang="zh-CN" sz="2000">
                <a:ea typeface="黑体" panose="02010609060101010101" pitchFamily="49" charset="-122"/>
              </a:rPr>
              <a:t>S</a:t>
            </a:r>
            <a:r>
              <a:rPr lang="en-US" altLang="zh-CN" sz="2000" baseline="-30000">
                <a:ea typeface="黑体" panose="02010609060101010101" pitchFamily="49" charset="-122"/>
              </a:rPr>
              <a:t>3</a:t>
            </a:r>
            <a:r>
              <a:rPr lang="en-US" altLang="zh-CN" sz="2000">
                <a:ea typeface="黑体" panose="02010609060101010101" pitchFamily="49" charset="-122"/>
              </a:rPr>
              <a:t>S</a:t>
            </a:r>
            <a:r>
              <a:rPr lang="en-US" altLang="zh-CN" sz="2000" baseline="-30000">
                <a:ea typeface="黑体" panose="02010609060101010101" pitchFamily="49" charset="-122"/>
              </a:rPr>
              <a:t>2</a:t>
            </a:r>
            <a:r>
              <a:rPr lang="en-US" altLang="zh-CN" sz="2000">
                <a:ea typeface="黑体" panose="02010609060101010101" pitchFamily="49" charset="-122"/>
              </a:rPr>
              <a:t>S</a:t>
            </a:r>
            <a:r>
              <a:rPr lang="en-US" altLang="zh-CN" sz="2000" baseline="-30000">
                <a:ea typeface="黑体" panose="02010609060101010101" pitchFamily="49" charset="-122"/>
              </a:rPr>
              <a:t>1</a:t>
            </a:r>
            <a:r>
              <a:rPr lang="zh-CN" altLang="en-US" sz="2000">
                <a:ea typeface="黑体" panose="02010609060101010101" pitchFamily="49" charset="-122"/>
              </a:rPr>
              <a:t>的各个</a:t>
            </a:r>
            <a:r>
              <a:rPr lang="zh-CN" altLang="en-US" sz="2000">
                <a:ea typeface="黑体" panose="02010609060101010101" pitchFamily="49" charset="-122"/>
                <a:hlinkClick r:id="" action="ppaction://hlinkshowjump?jump=nextslide"/>
              </a:rPr>
              <a:t>状态和出错情况的对应关系表</a:t>
            </a:r>
            <a:r>
              <a:rPr lang="zh-CN" altLang="en-US" sz="2000">
                <a:ea typeface="黑体" panose="02010609060101010101" pitchFamily="49" charset="-122"/>
              </a:rPr>
              <a:t>，可根据这种对应关系对整个数据进行分组。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6D3124AA-0F38-084D-9774-6F25AE0C7FE8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4621213"/>
            <a:ext cx="3341687" cy="892175"/>
            <a:chOff x="3389" y="2887"/>
            <a:chExt cx="2105" cy="562"/>
          </a:xfrm>
        </p:grpSpPr>
        <p:sp>
          <p:nvSpPr>
            <p:cNvPr id="108549" name="Text Box 4">
              <a:extLst>
                <a:ext uri="{FF2B5EF4-FFF2-40B4-BE49-F238E27FC236}">
                  <a16:creationId xmlns:a16="http://schemas.microsoft.com/office/drawing/2014/main" id="{4F3C4527-3409-8F44-960D-05A63413B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2887"/>
              <a:ext cx="1823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b="1">
                  <a:solidFill>
                    <a:srgbClr val="000000"/>
                  </a:solidFill>
                  <a:ea typeface="黑体" panose="02010609060101010101" pitchFamily="49" charset="-122"/>
                </a:rPr>
                <a:t>是逻辑顺序，物理上</a:t>
              </a:r>
              <a:r>
                <a:rPr lang="en-US" altLang="zh-CN" sz="2200" b="1">
                  <a:solidFill>
                    <a:srgbClr val="000000"/>
                  </a:solidFill>
                  <a:ea typeface="黑体" panose="02010609060101010101" pitchFamily="49" charset="-122"/>
                </a:rPr>
                <a:t>M</a:t>
              </a:r>
              <a:r>
                <a:rPr lang="zh-CN" altLang="en-US" sz="2200" b="1">
                  <a:solidFill>
                    <a:srgbClr val="000000"/>
                  </a:solidFill>
                  <a:ea typeface="黑体" panose="02010609060101010101" pitchFamily="49" charset="-122"/>
                </a:rPr>
                <a:t>和</a:t>
              </a:r>
              <a:r>
                <a:rPr lang="en-US" altLang="zh-CN" sz="2200" b="1">
                  <a:solidFill>
                    <a:srgbClr val="000000"/>
                  </a:solidFill>
                  <a:ea typeface="黑体" panose="02010609060101010101" pitchFamily="49" charset="-122"/>
                </a:rPr>
                <a:t>P</a:t>
              </a:r>
              <a:r>
                <a:rPr lang="zh-CN" altLang="en-US" sz="2200" b="1">
                  <a:solidFill>
                    <a:srgbClr val="000000"/>
                  </a:solidFill>
                  <a:ea typeface="黑体" panose="02010609060101010101" pitchFamily="49" charset="-122"/>
                </a:rPr>
                <a:t>是分开的！</a:t>
              </a:r>
            </a:p>
          </p:txBody>
        </p:sp>
        <p:sp>
          <p:nvSpPr>
            <p:cNvPr id="108550" name="Line 5">
              <a:extLst>
                <a:ext uri="{FF2B5EF4-FFF2-40B4-BE49-F238E27FC236}">
                  <a16:creationId xmlns:a16="http://schemas.microsoft.com/office/drawing/2014/main" id="{C6096B62-C285-D344-AB12-9FD87D461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9" y="3295"/>
              <a:ext cx="322" cy="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1A107E8-27F6-814D-B27D-3423AE10E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汉明校验码分组情况</a:t>
            </a:r>
          </a:p>
        </p:txBody>
      </p:sp>
      <p:pic>
        <p:nvPicPr>
          <p:cNvPr id="110595" name="Picture 3" descr="故障字">
            <a:extLst>
              <a:ext uri="{FF2B5EF4-FFF2-40B4-BE49-F238E27FC236}">
                <a16:creationId xmlns:a16="http://schemas.microsoft.com/office/drawing/2014/main" id="{CE85FBE6-EA86-6846-AFBF-B28826DFE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1074738"/>
            <a:ext cx="8928100" cy="39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6" name="Rectangle 4">
            <a:extLst>
              <a:ext uri="{FF2B5EF4-FFF2-40B4-BE49-F238E27FC236}">
                <a16:creationId xmlns:a16="http://schemas.microsoft.com/office/drawing/2014/main" id="{E26B14EE-2DFB-5246-9EB0-7E371EDFC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936750"/>
            <a:ext cx="158750" cy="289718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882E9B93-0729-9D4A-A991-5A1238C58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1943100"/>
            <a:ext cx="285750" cy="288131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1351" name="Rectangle 7">
            <a:extLst>
              <a:ext uri="{FF2B5EF4-FFF2-40B4-BE49-F238E27FC236}">
                <a16:creationId xmlns:a16="http://schemas.microsoft.com/office/drawing/2014/main" id="{3992DFE3-7D67-E048-B901-897EBC148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4884738"/>
            <a:ext cx="859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SzPct val="100000"/>
            </a:pPr>
            <a:r>
              <a:rPr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数据位或校验位出错一定会影响所在组的奇偶性。</a:t>
            </a:r>
            <a:endParaRPr lang="en-US" altLang="zh-CN" sz="2000" b="1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10599" name="Rectangle 11">
            <a:extLst>
              <a:ext uri="{FF2B5EF4-FFF2-40B4-BE49-F238E27FC236}">
                <a16:creationId xmlns:a16="http://schemas.microsoft.com/office/drawing/2014/main" id="{A593965C-B13D-C342-8E29-1A58BAC1C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701675"/>
            <a:ext cx="511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SzPct val="100000"/>
            </a:pPr>
            <a:r>
              <a:rPr lang="zh-CN" altLang="en-US" sz="2000" b="1">
                <a:solidFill>
                  <a:srgbClr val="FF0066"/>
                </a:solidFill>
                <a:ea typeface="宋体" panose="02010600030101010101" pitchFamily="2" charset="-122"/>
              </a:rPr>
              <a:t>码字：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8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66"/>
                </a:solidFill>
                <a:ea typeface="宋体" panose="02010600030101010101" pitchFamily="2" charset="-122"/>
              </a:rPr>
              <a:t>7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6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5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 b="1">
                <a:solidFill>
                  <a:srgbClr val="009242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00924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FF0066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1" baseline="-25000">
                <a:solidFill>
                  <a:srgbClr val="FF0066"/>
                </a:solidFill>
                <a:ea typeface="宋体" panose="02010600030101010101" pitchFamily="2" charset="-122"/>
              </a:rPr>
              <a:t>1</a:t>
            </a:r>
            <a:endParaRPr lang="en-US" altLang="zh-CN" sz="2000" b="1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441356" name="Text Box 12">
            <a:extLst>
              <a:ext uri="{FF2B5EF4-FFF2-40B4-BE49-F238E27FC236}">
                <a16:creationId xmlns:a16="http://schemas.microsoft.com/office/drawing/2014/main" id="{940D1F9F-86B2-0E49-BD4F-9E60803D2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5267325"/>
            <a:ext cx="85677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例：若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M2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出错，则故障字为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0101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，因而会改变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所在分组的奇偶性。故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M2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同时被分到第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3(S</a:t>
            </a:r>
            <a:r>
              <a:rPr lang="en-US" altLang="zh-CN" sz="20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组和第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1(S</a:t>
            </a:r>
            <a:r>
              <a:rPr lang="en-US" altLang="zh-CN" sz="20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 组。</a:t>
            </a:r>
            <a:endParaRPr lang="en-US" altLang="zh-CN" sz="2000" b="1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441357" name="Text Box 13">
            <a:extLst>
              <a:ext uri="{FF2B5EF4-FFF2-40B4-BE49-F238E27FC236}">
                <a16:creationId xmlns:a16="http://schemas.microsoft.com/office/drawing/2014/main" id="{2692791C-E59C-4048-9973-FBBCB8C80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5929313"/>
            <a:ext cx="64452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b="1">
                <a:solidFill>
                  <a:srgbClr val="3333FF"/>
                </a:solidFill>
                <a:ea typeface="黑体" panose="02010609060101010101" pitchFamily="49" charset="-122"/>
              </a:rPr>
              <a:t>问题：若</a:t>
            </a:r>
            <a:r>
              <a:rPr lang="en-US" altLang="zh-CN" sz="2200" b="1">
                <a:solidFill>
                  <a:srgbClr val="3333FF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2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200" b="1">
                <a:solidFill>
                  <a:srgbClr val="3333FF"/>
                </a:solidFill>
                <a:ea typeface="黑体" panose="02010609060101010101" pitchFamily="49" charset="-122"/>
              </a:rPr>
              <a:t>出错，则如何？若</a:t>
            </a:r>
            <a:r>
              <a:rPr lang="en-US" altLang="zh-CN" sz="2200" b="1">
                <a:solidFill>
                  <a:srgbClr val="3333FF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2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8</a:t>
            </a:r>
            <a:r>
              <a:rPr lang="zh-CN" altLang="en-US" sz="2200" b="1">
                <a:solidFill>
                  <a:srgbClr val="3333FF"/>
                </a:solidFill>
                <a:ea typeface="黑体" panose="02010609060101010101" pitchFamily="49" charset="-122"/>
              </a:rPr>
              <a:t>出错，则如何？</a:t>
            </a:r>
          </a:p>
        </p:txBody>
      </p:sp>
      <p:sp>
        <p:nvSpPr>
          <p:cNvPr id="441358" name="Text Box 14">
            <a:extLst>
              <a:ext uri="{FF2B5EF4-FFF2-40B4-BE49-F238E27FC236}">
                <a16:creationId xmlns:a16="http://schemas.microsoft.com/office/drawing/2014/main" id="{ACB67536-9C4D-6D44-A4D5-602CD5913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6323013"/>
            <a:ext cx="72882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200" b="1" baseline="-25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~0001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，分在第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组；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200" b="1" baseline="-25000">
                <a:solidFill>
                  <a:srgbClr val="CC0000"/>
                </a:solidFill>
                <a:ea typeface="黑体" panose="02010609060101010101" pitchFamily="49" charset="-122"/>
              </a:rPr>
              <a:t>8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~1100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，分在第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组和第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</a:t>
            </a:r>
          </a:p>
        </p:txBody>
      </p:sp>
      <p:sp>
        <p:nvSpPr>
          <p:cNvPr id="110603" name="Text Box 17">
            <a:extLst>
              <a:ext uri="{FF2B5EF4-FFF2-40B4-BE49-F238E27FC236}">
                <a16:creationId xmlns:a16="http://schemas.microsoft.com/office/drawing/2014/main" id="{D90E0CAF-E16B-0A47-A1A8-CBDDEDB21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674688"/>
            <a:ext cx="3425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1362" name="Text Box 18">
            <a:extLst>
              <a:ext uri="{FF2B5EF4-FFF2-40B4-BE49-F238E27FC236}">
                <a16:creationId xmlns:a16="http://schemas.microsoft.com/office/drawing/2014/main" id="{0CC16200-D1B7-EA42-8A99-3B1398C55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3" y="342900"/>
            <a:ext cx="3635375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故障字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2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每一位的值反映所在组的奇偶性</a:t>
            </a:r>
          </a:p>
        </p:txBody>
      </p:sp>
      <p:sp>
        <p:nvSpPr>
          <p:cNvPr id="110605" name="TextBox 13">
            <a:extLst>
              <a:ext uri="{FF2B5EF4-FFF2-40B4-BE49-F238E27FC236}">
                <a16:creationId xmlns:a16="http://schemas.microsoft.com/office/drawing/2014/main" id="{37C575EC-D5FA-C84E-8608-1C24199F6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5892800"/>
            <a:ext cx="1044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SKIP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1" grpId="0"/>
      <p:bldP spid="441356" grpId="0"/>
      <p:bldP spid="441357" grpId="0"/>
      <p:bldP spid="441358" grpId="0"/>
      <p:bldP spid="44136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F72DA273-17FB-2C4A-AB8A-8CAB91E79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校验位的生成和检错、纠错</a:t>
            </a:r>
          </a:p>
        </p:txBody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BC50DB68-9725-B847-BCF1-98308B65E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088" y="993775"/>
            <a:ext cx="8710612" cy="5557838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分组完成后，就可对每组采用相应的奇（偶）校验，以得到相应的一个校验位。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假定采用偶校验 (取校验位</a:t>
            </a:r>
            <a:r>
              <a:rPr lang="en-US" altLang="zh-CN" sz="2600">
                <a:latin typeface="黑体" panose="02010609060101010101" pitchFamily="49" charset="-122"/>
                <a:ea typeface="黑体" panose="02010609060101010101" pitchFamily="49" charset="-122"/>
              </a:rPr>
              <a:t>Pi，</a:t>
            </a: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使对应组中有偶数个1)，则得到校验位与数据位之间存在如下关系：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　　　 </a:t>
            </a:r>
            <a:r>
              <a:rPr lang="en-US" altLang="zh-CN" sz="2400">
                <a:ea typeface="黑体" panose="02010609060101010101" pitchFamily="49" charset="-122"/>
              </a:rPr>
              <a:t>P</a:t>
            </a:r>
            <a:r>
              <a:rPr lang="en-US" altLang="zh-CN" sz="2400" baseline="-30000">
                <a:ea typeface="黑体" panose="02010609060101010101" pitchFamily="49" charset="-122"/>
              </a:rPr>
              <a:t>4 </a:t>
            </a:r>
            <a:r>
              <a:rPr lang="en-US" altLang="zh-CN" sz="2400">
                <a:ea typeface="黑体" panose="02010609060101010101" pitchFamily="49" charset="-122"/>
              </a:rPr>
              <a:t>= M</a:t>
            </a:r>
            <a:r>
              <a:rPr lang="en-US" altLang="zh-CN" sz="2400" baseline="-30000">
                <a:ea typeface="黑体" panose="02010609060101010101" pitchFamily="49" charset="-122"/>
              </a:rPr>
              <a:t>5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6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7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8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		      P</a:t>
            </a:r>
            <a:r>
              <a:rPr lang="en-US" altLang="zh-CN" sz="2400" baseline="-30000">
                <a:ea typeface="黑体" panose="02010609060101010101" pitchFamily="49" charset="-122"/>
              </a:rPr>
              <a:t>3 </a:t>
            </a:r>
            <a:r>
              <a:rPr lang="en-US" altLang="zh-CN" sz="2400">
                <a:ea typeface="黑体" panose="02010609060101010101" pitchFamily="49" charset="-122"/>
              </a:rPr>
              <a:t>= M</a:t>
            </a:r>
            <a:r>
              <a:rPr lang="en-US" altLang="zh-CN" sz="2400" baseline="-30000">
                <a:ea typeface="黑体" panose="02010609060101010101" pitchFamily="49" charset="-122"/>
              </a:rPr>
              <a:t>2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3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4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8</a:t>
            </a:r>
            <a:endParaRPr lang="en-US" altLang="zh-CN" sz="240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           P</a:t>
            </a:r>
            <a:r>
              <a:rPr lang="en-US" altLang="zh-CN" sz="2400" baseline="-30000">
                <a:ea typeface="黑体" panose="02010609060101010101" pitchFamily="49" charset="-122"/>
              </a:rPr>
              <a:t>2 </a:t>
            </a:r>
            <a:r>
              <a:rPr lang="en-US" altLang="zh-CN" sz="2400">
                <a:ea typeface="黑体" panose="02010609060101010101" pitchFamily="49" charset="-122"/>
              </a:rPr>
              <a:t>= M</a:t>
            </a:r>
            <a:r>
              <a:rPr lang="en-US" altLang="zh-CN" sz="2400" baseline="-30000">
                <a:ea typeface="黑体" panose="02010609060101010101" pitchFamily="49" charset="-122"/>
              </a:rPr>
              <a:t>1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3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4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6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7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           P</a:t>
            </a:r>
            <a:r>
              <a:rPr lang="en-US" altLang="zh-CN" sz="2400" baseline="-30000">
                <a:ea typeface="黑体" panose="02010609060101010101" pitchFamily="49" charset="-122"/>
              </a:rPr>
              <a:t>1 </a:t>
            </a:r>
            <a:r>
              <a:rPr lang="en-US" altLang="zh-CN" sz="2400">
                <a:ea typeface="黑体" panose="02010609060101010101" pitchFamily="49" charset="-122"/>
              </a:rPr>
              <a:t>= M</a:t>
            </a:r>
            <a:r>
              <a:rPr lang="en-US" altLang="zh-CN" sz="2400" baseline="-30000">
                <a:ea typeface="黑体" panose="02010609060101010101" pitchFamily="49" charset="-122"/>
              </a:rPr>
              <a:t>1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2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4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5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7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　　　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　　　　　　</a:t>
            </a:r>
          </a:p>
        </p:txBody>
      </p:sp>
      <p:sp>
        <p:nvSpPr>
          <p:cNvPr id="111620" name="Rectangle 11">
            <a:extLst>
              <a:ext uri="{FF2B5EF4-FFF2-40B4-BE49-F238E27FC236}">
                <a16:creationId xmlns:a16="http://schemas.microsoft.com/office/drawing/2014/main" id="{08D1B334-3AC5-6246-BE19-21BB75AD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608638"/>
            <a:ext cx="67405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SzPct val="100000"/>
            </a:pPr>
            <a:r>
              <a:rPr lang="zh-CN" altLang="en-US" sz="2400" b="1">
                <a:solidFill>
                  <a:srgbClr val="FF0066"/>
                </a:solidFill>
                <a:ea typeface="宋体" panose="02010600030101010101" pitchFamily="2" charset="-122"/>
              </a:rPr>
              <a:t>码字：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8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7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6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5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rgbClr val="FF0066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b="1" baseline="-25000">
                <a:solidFill>
                  <a:srgbClr val="FF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endParaRPr lang="en-US" altLang="zh-CN" sz="24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14808082-37DD-724D-ACD4-46081969C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汉明校验过程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A753E57E-739C-4340-9C90-8FA5C7555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411163"/>
            <a:ext cx="8572500" cy="3157537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30000"/>
              </a:spcBef>
              <a:buFont typeface="Wingdings" pitchFamily="2" charset="2"/>
              <a:buNone/>
            </a:pPr>
            <a:endParaRPr lang="zh-CN" altLang="en-US" sz="240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sz="2400">
                <a:ea typeface="黑体" panose="02010609060101010101" pitchFamily="49" charset="-122"/>
              </a:rPr>
              <a:t>根据公式求出每一组对应的校验位</a:t>
            </a:r>
            <a:r>
              <a:rPr lang="en-US" altLang="zh-CN" sz="2400">
                <a:ea typeface="黑体" panose="02010609060101010101" pitchFamily="49" charset="-122"/>
              </a:rPr>
              <a:t>Pi (i=1,2,3,4)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sz="2400">
                <a:ea typeface="黑体" panose="02010609060101010101" pitchFamily="49" charset="-122"/>
              </a:rPr>
              <a:t>数据</a:t>
            </a:r>
            <a:r>
              <a:rPr lang="en-US" altLang="zh-CN" sz="2400">
                <a:ea typeface="黑体" panose="02010609060101010101" pitchFamily="49" charset="-122"/>
              </a:rPr>
              <a:t>M</a:t>
            </a:r>
            <a:r>
              <a:rPr lang="zh-CN" altLang="en-US" sz="2400">
                <a:ea typeface="黑体" panose="02010609060101010101" pitchFamily="49" charset="-122"/>
              </a:rPr>
              <a:t>和校验位</a:t>
            </a:r>
            <a:r>
              <a:rPr lang="en-US" altLang="zh-CN" sz="2400">
                <a:ea typeface="黑体" panose="02010609060101010101" pitchFamily="49" charset="-122"/>
              </a:rPr>
              <a:t>P</a:t>
            </a:r>
            <a:r>
              <a:rPr lang="zh-CN" altLang="en-US" sz="2400">
                <a:ea typeface="黑体" panose="02010609060101010101" pitchFamily="49" charset="-122"/>
              </a:rPr>
              <a:t>一起被存储，根据读出数据</a:t>
            </a:r>
            <a:r>
              <a:rPr lang="en-US" altLang="zh-CN" sz="2400">
                <a:ea typeface="黑体" panose="02010609060101010101" pitchFamily="49" charset="-122"/>
              </a:rPr>
              <a:t>M’</a:t>
            </a:r>
            <a:r>
              <a:rPr lang="zh-CN" altLang="en-US" sz="2400">
                <a:ea typeface="黑体" panose="02010609060101010101" pitchFamily="49" charset="-122"/>
              </a:rPr>
              <a:t>得新校验位</a:t>
            </a:r>
            <a:r>
              <a:rPr lang="en-US" altLang="zh-CN" sz="2400">
                <a:ea typeface="黑体" panose="02010609060101010101" pitchFamily="49" charset="-122"/>
              </a:rPr>
              <a:t>P’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sz="2400">
                <a:ea typeface="黑体" panose="02010609060101010101" pitchFamily="49" charset="-122"/>
              </a:rPr>
              <a:t>读出校验位</a:t>
            </a:r>
            <a:r>
              <a:rPr lang="en-US" altLang="zh-CN" sz="2400">
                <a:ea typeface="黑体" panose="02010609060101010101" pitchFamily="49" charset="-122"/>
              </a:rPr>
              <a:t>P’’</a:t>
            </a:r>
            <a:r>
              <a:rPr lang="zh-CN" altLang="en-US" sz="2400">
                <a:ea typeface="黑体" panose="02010609060101010101" pitchFamily="49" charset="-122"/>
              </a:rPr>
              <a:t>与新校验位</a:t>
            </a:r>
            <a:r>
              <a:rPr lang="en-US" altLang="zh-CN" sz="2400">
                <a:ea typeface="黑体" panose="02010609060101010101" pitchFamily="49" charset="-122"/>
              </a:rPr>
              <a:t>P’ </a:t>
            </a:r>
            <a:r>
              <a:rPr lang="zh-CN" altLang="en-US" sz="2400">
                <a:ea typeface="黑体" panose="02010609060101010101" pitchFamily="49" charset="-122"/>
              </a:rPr>
              <a:t>按位进行异或操作，得故障字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2400">
                <a:ea typeface="黑体" panose="02010609060101010101" pitchFamily="49" charset="-122"/>
              </a:rPr>
              <a:t>      S = S</a:t>
            </a:r>
            <a:r>
              <a:rPr lang="en-US" altLang="zh-CN" sz="2400" baseline="-30000">
                <a:ea typeface="黑体" panose="02010609060101010101" pitchFamily="49" charset="-122"/>
              </a:rPr>
              <a:t>4</a:t>
            </a:r>
            <a:r>
              <a:rPr lang="en-US" altLang="zh-CN" sz="2400">
                <a:ea typeface="黑体" panose="02010609060101010101" pitchFamily="49" charset="-122"/>
              </a:rPr>
              <a:t>S</a:t>
            </a:r>
            <a:r>
              <a:rPr lang="en-US" altLang="zh-CN" sz="2400" baseline="-30000">
                <a:ea typeface="黑体" panose="02010609060101010101" pitchFamily="49" charset="-122"/>
              </a:rPr>
              <a:t>3</a:t>
            </a:r>
            <a:r>
              <a:rPr lang="en-US" altLang="zh-CN" sz="2400">
                <a:ea typeface="黑体" panose="02010609060101010101" pitchFamily="49" charset="-122"/>
              </a:rPr>
              <a:t>S</a:t>
            </a:r>
            <a:r>
              <a:rPr lang="en-US" altLang="zh-CN" sz="2400" baseline="-30000">
                <a:ea typeface="黑体" panose="02010609060101010101" pitchFamily="49" charset="-122"/>
              </a:rPr>
              <a:t>2</a:t>
            </a:r>
            <a:r>
              <a:rPr lang="en-US" altLang="zh-CN" sz="2400">
                <a:ea typeface="黑体" panose="02010609060101010101" pitchFamily="49" charset="-122"/>
              </a:rPr>
              <a:t>S</a:t>
            </a:r>
            <a:r>
              <a:rPr lang="en-US" altLang="zh-CN" sz="2400" baseline="-30000">
                <a:ea typeface="黑体" panose="02010609060101010101" pitchFamily="49" charset="-122"/>
              </a:rPr>
              <a:t>1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sz="2400">
                <a:ea typeface="黑体" panose="02010609060101010101" pitchFamily="49" charset="-122"/>
              </a:rPr>
              <a:t>根据</a:t>
            </a:r>
            <a:r>
              <a:rPr lang="en-US" altLang="zh-CN" sz="2400">
                <a:ea typeface="黑体" panose="02010609060101010101" pitchFamily="49" charset="-122"/>
              </a:rPr>
              <a:t>S</a:t>
            </a:r>
            <a:r>
              <a:rPr lang="zh-CN" altLang="en-US" sz="2400">
                <a:ea typeface="黑体" panose="02010609060101010101" pitchFamily="49" charset="-122"/>
              </a:rPr>
              <a:t>的值确定：无错、仅校验位错、某个数据位错</a:t>
            </a:r>
          </a:p>
        </p:txBody>
      </p:sp>
      <p:grpSp>
        <p:nvGrpSpPr>
          <p:cNvPr id="112644" name="Group 4">
            <a:extLst>
              <a:ext uri="{FF2B5EF4-FFF2-40B4-BE49-F238E27FC236}">
                <a16:creationId xmlns:a16="http://schemas.microsoft.com/office/drawing/2014/main" id="{93BD577E-F4EC-9A4F-9964-EEDE307FA03B}"/>
              </a:ext>
            </a:extLst>
          </p:cNvPr>
          <p:cNvGrpSpPr>
            <a:grpSpLocks/>
          </p:cNvGrpSpPr>
          <p:nvPr/>
        </p:nvGrpSpPr>
        <p:grpSpPr bwMode="auto">
          <a:xfrm>
            <a:off x="854075" y="3738563"/>
            <a:ext cx="6915150" cy="2787650"/>
            <a:chOff x="856" y="1857"/>
            <a:chExt cx="4420" cy="1979"/>
          </a:xfrm>
        </p:grpSpPr>
        <p:sp>
          <p:nvSpPr>
            <p:cNvPr id="112645" name="Text Box 5">
              <a:extLst>
                <a:ext uri="{FF2B5EF4-FFF2-40B4-BE49-F238E27FC236}">
                  <a16:creationId xmlns:a16="http://schemas.microsoft.com/office/drawing/2014/main" id="{911FB3AF-E972-2643-84B5-AC7934562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" y="2961"/>
              <a:ext cx="936" cy="8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44000" rIns="0" bIns="14400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存储器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或</a:t>
              </a:r>
            </a:p>
            <a:p>
              <a:pPr algn="ctr"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传输线路</a:t>
              </a:r>
            </a:p>
          </p:txBody>
        </p:sp>
        <p:sp>
          <p:nvSpPr>
            <p:cNvPr id="112646" name="Line 6">
              <a:extLst>
                <a:ext uri="{FF2B5EF4-FFF2-40B4-BE49-F238E27FC236}">
                  <a16:creationId xmlns:a16="http://schemas.microsoft.com/office/drawing/2014/main" id="{3E3B4EC9-3912-E149-99E8-04B8E9C24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" y="3164"/>
              <a:ext cx="1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47" name="Text Box 7">
              <a:extLst>
                <a:ext uri="{FF2B5EF4-FFF2-40B4-BE49-F238E27FC236}">
                  <a16:creationId xmlns:a16="http://schemas.microsoft.com/office/drawing/2014/main" id="{8F825EAA-0AB8-4D45-AA3B-58500B571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" y="3511"/>
              <a:ext cx="394" cy="30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12648" name="Line 8">
              <a:extLst>
                <a:ext uri="{FF2B5EF4-FFF2-40B4-BE49-F238E27FC236}">
                  <a16:creationId xmlns:a16="http://schemas.microsoft.com/office/drawing/2014/main" id="{90F1B95B-1AD2-704D-92FC-F59AA7C3C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9" y="3164"/>
              <a:ext cx="0" cy="3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49" name="Line 9">
              <a:extLst>
                <a:ext uri="{FF2B5EF4-FFF2-40B4-BE49-F238E27FC236}">
                  <a16:creationId xmlns:a16="http://schemas.microsoft.com/office/drawing/2014/main" id="{26BA04AA-3D98-A042-8492-B36E76DEF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3655"/>
              <a:ext cx="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0" name="Line 10">
              <a:extLst>
                <a:ext uri="{FF2B5EF4-FFF2-40B4-BE49-F238E27FC236}">
                  <a16:creationId xmlns:a16="http://schemas.microsoft.com/office/drawing/2014/main" id="{1B470F66-7457-4B4C-88DF-667823BCA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174"/>
              <a:ext cx="739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1" name="Text Box 11">
              <a:extLst>
                <a:ext uri="{FF2B5EF4-FFF2-40B4-BE49-F238E27FC236}">
                  <a16:creationId xmlns:a16="http://schemas.microsoft.com/office/drawing/2014/main" id="{0953C1C5-97E0-0740-BF85-EC0C302C0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002"/>
              <a:ext cx="394" cy="34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12652" name="Line 12">
              <a:extLst>
                <a:ext uri="{FF2B5EF4-FFF2-40B4-BE49-F238E27FC236}">
                  <a16:creationId xmlns:a16="http://schemas.microsoft.com/office/drawing/2014/main" id="{0C09CBC8-F918-7945-BE0C-CCD38D1BD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6" y="3618"/>
              <a:ext cx="16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3" name="Line 13">
              <a:extLst>
                <a:ext uri="{FF2B5EF4-FFF2-40B4-BE49-F238E27FC236}">
                  <a16:creationId xmlns:a16="http://schemas.microsoft.com/office/drawing/2014/main" id="{C891DD05-C49D-CA4C-B990-F3AA7C606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2" y="3156"/>
              <a:ext cx="453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4" name="Text Box 14">
              <a:extLst>
                <a:ext uri="{FF2B5EF4-FFF2-40B4-BE49-F238E27FC236}">
                  <a16:creationId xmlns:a16="http://schemas.microsoft.com/office/drawing/2014/main" id="{11021AB5-04C9-F34F-A75E-F19270AA1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" y="3048"/>
              <a:ext cx="629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比较</a:t>
              </a:r>
            </a:p>
            <a:p>
              <a:pPr eaLnBrk="1" hangingPunct="1"/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5" name="Text Box 15">
              <a:extLst>
                <a:ext uri="{FF2B5EF4-FFF2-40B4-BE49-F238E27FC236}">
                  <a16:creationId xmlns:a16="http://schemas.microsoft.com/office/drawing/2014/main" id="{71F2393C-7F1B-8E4D-87CE-2EA07E56B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0" y="2312"/>
              <a:ext cx="827" cy="3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纠正器</a:t>
              </a:r>
            </a:p>
          </p:txBody>
        </p:sp>
        <p:sp>
          <p:nvSpPr>
            <p:cNvPr id="112656" name="Line 16">
              <a:extLst>
                <a:ext uri="{FF2B5EF4-FFF2-40B4-BE49-F238E27FC236}">
                  <a16:creationId xmlns:a16="http://schemas.microsoft.com/office/drawing/2014/main" id="{2CA3492E-415A-7B47-BB52-78361B42E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2593"/>
              <a:ext cx="0" cy="5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7" name="Line 17">
              <a:extLst>
                <a:ext uri="{FF2B5EF4-FFF2-40B4-BE49-F238E27FC236}">
                  <a16:creationId xmlns:a16="http://schemas.microsoft.com/office/drawing/2014/main" id="{4C1D5A99-9CC9-1C4A-96E8-FE289BDABF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3" y="2449"/>
              <a:ext cx="1" cy="6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8" name="Line 18">
              <a:extLst>
                <a:ext uri="{FF2B5EF4-FFF2-40B4-BE49-F238E27FC236}">
                  <a16:creationId xmlns:a16="http://schemas.microsoft.com/office/drawing/2014/main" id="{B8F92F76-9081-9949-85E3-0087D1F62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8" y="2449"/>
              <a:ext cx="8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59" name="Line 19">
              <a:extLst>
                <a:ext uri="{FF2B5EF4-FFF2-40B4-BE49-F238E27FC236}">
                  <a16:creationId xmlns:a16="http://schemas.microsoft.com/office/drawing/2014/main" id="{2D90FDAD-3045-184A-A12D-911E2F258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6" y="2449"/>
              <a:ext cx="2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0" name="Line 20">
              <a:extLst>
                <a:ext uri="{FF2B5EF4-FFF2-40B4-BE49-F238E27FC236}">
                  <a16:creationId xmlns:a16="http://schemas.microsoft.com/office/drawing/2014/main" id="{A78C5B0C-1B9D-E949-BF48-016255441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9" y="2147"/>
              <a:ext cx="4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1" name="Line 21">
              <a:extLst>
                <a:ext uri="{FF2B5EF4-FFF2-40B4-BE49-F238E27FC236}">
                  <a16:creationId xmlns:a16="http://schemas.microsoft.com/office/drawing/2014/main" id="{14EC961D-0B97-3049-A960-7FF41303A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" y="2144"/>
              <a:ext cx="0" cy="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2" name="Text Box 22">
              <a:extLst>
                <a:ext uri="{FF2B5EF4-FFF2-40B4-BE49-F238E27FC236}">
                  <a16:creationId xmlns:a16="http://schemas.microsoft.com/office/drawing/2014/main" id="{68A017E9-CD89-3B47-8175-59E8C162C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" y="2933"/>
              <a:ext cx="29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112663" name="Line 23">
              <a:extLst>
                <a:ext uri="{FF2B5EF4-FFF2-40B4-BE49-F238E27FC236}">
                  <a16:creationId xmlns:a16="http://schemas.microsoft.com/office/drawing/2014/main" id="{FC4997E4-031B-8749-957C-AE5C51B27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3102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4" name="Text Box 24">
              <a:extLst>
                <a:ext uri="{FF2B5EF4-FFF2-40B4-BE49-F238E27FC236}">
                  <a16:creationId xmlns:a16="http://schemas.microsoft.com/office/drawing/2014/main" id="{A88F8AA2-8962-7946-BF2A-997AFBF1E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9" y="3419"/>
              <a:ext cx="29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12665" name="Line 25">
              <a:extLst>
                <a:ext uri="{FF2B5EF4-FFF2-40B4-BE49-F238E27FC236}">
                  <a16:creationId xmlns:a16="http://schemas.microsoft.com/office/drawing/2014/main" id="{53E816A8-372A-8E46-9206-1F7DDAE0C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3588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6" name="Text Box 26">
              <a:extLst>
                <a:ext uri="{FF2B5EF4-FFF2-40B4-BE49-F238E27FC236}">
                  <a16:creationId xmlns:a16="http://schemas.microsoft.com/office/drawing/2014/main" id="{6A56472C-C5AB-E44E-9C51-6B242416B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" y="2936"/>
              <a:ext cx="295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M’</a:t>
              </a:r>
            </a:p>
          </p:txBody>
        </p:sp>
        <p:sp>
          <p:nvSpPr>
            <p:cNvPr id="112667" name="Line 27">
              <a:extLst>
                <a:ext uri="{FF2B5EF4-FFF2-40B4-BE49-F238E27FC236}">
                  <a16:creationId xmlns:a16="http://schemas.microsoft.com/office/drawing/2014/main" id="{A5EBFEDB-89BC-5A4E-95C1-142CA1981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" y="3105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68" name="Text Box 28">
              <a:extLst>
                <a:ext uri="{FF2B5EF4-FFF2-40B4-BE49-F238E27FC236}">
                  <a16:creationId xmlns:a16="http://schemas.microsoft.com/office/drawing/2014/main" id="{74DF355C-52C8-A845-8235-292BF9EE9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3391"/>
              <a:ext cx="29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P”</a:t>
              </a:r>
            </a:p>
          </p:txBody>
        </p:sp>
        <p:sp>
          <p:nvSpPr>
            <p:cNvPr id="112669" name="Line 29">
              <a:extLst>
                <a:ext uri="{FF2B5EF4-FFF2-40B4-BE49-F238E27FC236}">
                  <a16:creationId xmlns:a16="http://schemas.microsoft.com/office/drawing/2014/main" id="{1C3B305A-9E74-7D4F-8CF4-6C8ECD9C5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3562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70" name="Text Box 30">
              <a:extLst>
                <a:ext uri="{FF2B5EF4-FFF2-40B4-BE49-F238E27FC236}">
                  <a16:creationId xmlns:a16="http://schemas.microsoft.com/office/drawing/2014/main" id="{1CA2D96A-9B2E-F94C-83A7-E2F9BFF79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2926"/>
              <a:ext cx="295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</a:p>
          </p:txBody>
        </p:sp>
        <p:sp>
          <p:nvSpPr>
            <p:cNvPr id="112671" name="Line 31">
              <a:extLst>
                <a:ext uri="{FF2B5EF4-FFF2-40B4-BE49-F238E27FC236}">
                  <a16:creationId xmlns:a16="http://schemas.microsoft.com/office/drawing/2014/main" id="{C8DF6056-A44E-BF42-8A9B-ED890917A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5" y="3096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72" name="Text Box 32">
              <a:extLst>
                <a:ext uri="{FF2B5EF4-FFF2-40B4-BE49-F238E27FC236}">
                  <a16:creationId xmlns:a16="http://schemas.microsoft.com/office/drawing/2014/main" id="{A1741CE6-D0B3-2E41-9790-72E6B264E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9" y="2207"/>
              <a:ext cx="295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112673" name="Line 33">
              <a:extLst>
                <a:ext uri="{FF2B5EF4-FFF2-40B4-BE49-F238E27FC236}">
                  <a16:creationId xmlns:a16="http://schemas.microsoft.com/office/drawing/2014/main" id="{3B2C2E00-F5CF-2844-A73C-AB1D37DF2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" y="2376"/>
              <a:ext cx="79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674" name="Text Box 34">
              <a:extLst>
                <a:ext uri="{FF2B5EF4-FFF2-40B4-BE49-F238E27FC236}">
                  <a16:creationId xmlns:a16="http://schemas.microsoft.com/office/drawing/2014/main" id="{DCA98BCC-307E-5040-A1FA-C52B236F1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1857"/>
              <a:ext cx="85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出错信号</a:t>
              </a:r>
            </a:p>
          </p:txBody>
        </p:sp>
        <p:sp>
          <p:nvSpPr>
            <p:cNvPr id="112675" name="Text Box 35">
              <a:extLst>
                <a:ext uri="{FF2B5EF4-FFF2-40B4-BE49-F238E27FC236}">
                  <a16:creationId xmlns:a16="http://schemas.microsoft.com/office/drawing/2014/main" id="{0307E80B-47FB-364C-BFA6-F8B88666B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6" y="2162"/>
              <a:ext cx="855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数据输出</a:t>
              </a:r>
            </a:p>
          </p:txBody>
        </p:sp>
        <p:sp>
          <p:nvSpPr>
            <p:cNvPr id="112676" name="Text Box 36">
              <a:extLst>
                <a:ext uri="{FF2B5EF4-FFF2-40B4-BE49-F238E27FC236}">
                  <a16:creationId xmlns:a16="http://schemas.microsoft.com/office/drawing/2014/main" id="{11562D6A-6169-FB4F-870B-7D1E3DC16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2924"/>
              <a:ext cx="78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数据输入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6D5C545C-BA9E-8342-84C7-A0684AC6D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汉明码举例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3395" name="Rectangle 3">
            <a:extLst>
              <a:ext uri="{FF2B5EF4-FFF2-40B4-BE49-F238E27FC236}">
                <a16:creationId xmlns:a16="http://schemas.microsoft.com/office/drawing/2014/main" id="{362F9EE1-BA90-DC48-9122-D1126750B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95325"/>
            <a:ext cx="8839200" cy="5299075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200">
                <a:ea typeface="黑体" panose="02010609060101010101" pitchFamily="49" charset="-122"/>
              </a:rPr>
              <a:t>假定一个8位数据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zh-CN" altLang="en-US" sz="2200">
                <a:ea typeface="黑体" panose="02010609060101010101" pitchFamily="49" charset="-122"/>
              </a:rPr>
              <a:t>为：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= 01101010，</a:t>
            </a:r>
            <a:r>
              <a:rPr lang="zh-CN" altLang="en-US" sz="2200">
                <a:ea typeface="黑体" panose="02010609060101010101" pitchFamily="49" charset="-122"/>
              </a:rPr>
              <a:t>根据上述公式求出相应的校验位为：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　　 P</a:t>
            </a:r>
            <a:r>
              <a:rPr lang="en-US" altLang="zh-CN" sz="2200" baseline="-30000">
                <a:ea typeface="黑体" panose="02010609060101010101" pitchFamily="49" charset="-122"/>
              </a:rPr>
              <a:t>4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=0⊕1⊕1⊕0=0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 	     P</a:t>
            </a:r>
            <a:r>
              <a:rPr lang="en-US" altLang="zh-CN" sz="2200" baseline="-30000">
                <a:ea typeface="黑体" panose="02010609060101010101" pitchFamily="49" charset="-122"/>
              </a:rPr>
              <a:t>3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=1⊕0⊕1⊕0=0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　　 P</a:t>
            </a:r>
            <a:r>
              <a:rPr lang="en-US" altLang="zh-CN" sz="2200" baseline="-30000">
                <a:ea typeface="黑体" panose="02010609060101010101" pitchFamily="49" charset="-122"/>
              </a:rPr>
              <a:t>2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 =0⊕0⊕1⊕1⊕1=1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　　 P</a:t>
            </a:r>
            <a:r>
              <a:rPr lang="en-US" altLang="zh-CN" sz="2200" baseline="-30000">
                <a:ea typeface="黑体" panose="02010609060101010101" pitchFamily="49" charset="-122"/>
              </a:rPr>
              <a:t>1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 =0⊕1⊕1⊕0⊕1=1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　假定12位码字 (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zh-CN" altLang="en-US" sz="2200">
                <a:ea typeface="黑体" panose="02010609060101010101" pitchFamily="49" charset="-122"/>
              </a:rPr>
              <a:t>) 读出后为：</a:t>
            </a:r>
            <a:endParaRPr lang="en-US" altLang="zh-CN" sz="2200"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 (1) 数据位</a:t>
            </a:r>
            <a:r>
              <a:rPr lang="en-US" altLang="zh-CN" sz="2200">
                <a:ea typeface="黑体" panose="02010609060101010101" pitchFamily="49" charset="-122"/>
              </a:rPr>
              <a:t>M’=M=01101010，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P’’=P=0011</a:t>
            </a:r>
            <a:r>
              <a:rPr lang="zh-CN" altLang="en-US" sz="2200">
                <a:ea typeface="黑体" panose="02010609060101010101" pitchFamily="49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 (2) 数据位</a:t>
            </a:r>
            <a:r>
              <a:rPr lang="en-US" altLang="zh-CN" sz="2200">
                <a:ea typeface="黑体" panose="02010609060101010101" pitchFamily="49" charset="-122"/>
              </a:rPr>
              <a:t>M’= 011</a:t>
            </a:r>
            <a:r>
              <a:rPr lang="en-US" altLang="zh-CN" sz="2200">
                <a:solidFill>
                  <a:srgbClr val="FF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P’’=P=0011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 (3) 数据位</a:t>
            </a:r>
            <a:r>
              <a:rPr lang="en-US" altLang="zh-CN" sz="2200">
                <a:ea typeface="黑体" panose="02010609060101010101" pitchFamily="49" charset="-122"/>
              </a:rPr>
              <a:t>M’=M=01101010，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</a:t>
            </a:r>
            <a:r>
              <a:rPr lang="en-US" altLang="zh-CN" sz="2200">
                <a:solidFill>
                  <a:srgbClr val="80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200">
                <a:solidFill>
                  <a:srgbClr val="FF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011</a:t>
            </a:r>
            <a:r>
              <a:rPr lang="zh-CN" altLang="en-US" sz="2200">
                <a:ea typeface="黑体" panose="02010609060101010101" pitchFamily="49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　要求分别考察每种情况的故障字。</a:t>
            </a:r>
          </a:p>
          <a:p>
            <a:pPr marL="342900" indent="-342900"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      (1) 数据位</a:t>
            </a:r>
            <a:r>
              <a:rPr lang="en-US" altLang="zh-CN" sz="2200">
                <a:ea typeface="黑体" panose="02010609060101010101" pitchFamily="49" charset="-122"/>
              </a:rPr>
              <a:t>M’=M=01101010，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P’’=P=0011，</a:t>
            </a:r>
            <a:r>
              <a:rPr lang="zh-CN" altLang="en-US" sz="2200">
                <a:ea typeface="黑体" panose="02010609060101010101" pitchFamily="49" charset="-122"/>
              </a:rPr>
              <a:t>即无错。</a:t>
            </a:r>
          </a:p>
          <a:p>
            <a:pPr marL="742950" lvl="1" indent="-285750"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因为</a:t>
            </a:r>
            <a:r>
              <a:rPr lang="en-US" altLang="zh-CN" sz="2200">
                <a:ea typeface="黑体" panose="02010609060101010101" pitchFamily="49" charset="-122"/>
              </a:rPr>
              <a:t>M’=M，</a:t>
            </a:r>
            <a:r>
              <a:rPr lang="zh-CN" altLang="en-US" sz="2200">
                <a:ea typeface="黑体" panose="02010609060101010101" pitchFamily="49" charset="-122"/>
              </a:rPr>
              <a:t>所以</a:t>
            </a:r>
            <a:r>
              <a:rPr lang="en-US" altLang="zh-CN" sz="2200">
                <a:ea typeface="黑体" panose="02010609060101010101" pitchFamily="49" charset="-122"/>
              </a:rPr>
              <a:t>P’= P，</a:t>
            </a:r>
            <a:r>
              <a:rPr lang="zh-CN" altLang="en-US" sz="2200">
                <a:ea typeface="黑体" panose="02010609060101010101" pitchFamily="49" charset="-122"/>
              </a:rPr>
              <a:t> 因此 </a:t>
            </a:r>
            <a:r>
              <a:rPr lang="en-US" altLang="zh-CN" sz="2200">
                <a:ea typeface="黑体" panose="02010609060101010101" pitchFamily="49" charset="-122"/>
              </a:rPr>
              <a:t>S = P’’⊕P’=P⊕P=0000。</a:t>
            </a:r>
            <a:endParaRPr lang="zh-CN" altLang="en-US" sz="220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3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3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94211B6-B0E2-8A48-9001-9D693E53D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0500"/>
            <a:ext cx="6073775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汉明码举例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FBC8E96-6ED6-304B-8B1B-67E52D2B6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76313"/>
            <a:ext cx="8686800" cy="5265737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200">
                <a:ea typeface="黑体" panose="02010609060101010101" pitchFamily="49" charset="-122"/>
              </a:rPr>
              <a:t>(2) </a:t>
            </a:r>
            <a:r>
              <a:rPr lang="zh-CN" altLang="en-US" sz="2200">
                <a:ea typeface="黑体" panose="02010609060101010101" pitchFamily="49" charset="-122"/>
              </a:rPr>
              <a:t>数据位</a:t>
            </a:r>
            <a:r>
              <a:rPr lang="en-US" altLang="zh-CN" sz="2200">
                <a:ea typeface="黑体" panose="02010609060101010101" pitchFamily="49" charset="-122"/>
              </a:rPr>
              <a:t>M’= 011</a:t>
            </a:r>
            <a:r>
              <a:rPr lang="en-US" altLang="zh-CN" sz="2200">
                <a:solidFill>
                  <a:srgbClr val="FF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P’’=P=0011，</a:t>
            </a:r>
            <a:r>
              <a:rPr lang="zh-CN" altLang="en-US" sz="2200">
                <a:ea typeface="黑体" panose="02010609060101010101" pitchFamily="49" charset="-122"/>
              </a:rPr>
              <a:t>即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zh-CN" altLang="en-US" sz="2200">
                <a:ea typeface="黑体" panose="02010609060101010101" pitchFamily="49" charset="-122"/>
              </a:rPr>
              <a:t>错。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对</a:t>
            </a:r>
            <a:r>
              <a:rPr lang="en-US" altLang="zh-CN" sz="2200">
                <a:ea typeface="黑体" panose="02010609060101010101" pitchFamily="49" charset="-122"/>
              </a:rPr>
              <a:t>M’</a:t>
            </a:r>
            <a:r>
              <a:rPr lang="zh-CN" altLang="en-US" sz="2200">
                <a:ea typeface="黑体" panose="02010609060101010101" pitchFamily="49" charset="-122"/>
              </a:rPr>
              <a:t>生成新的校验位</a:t>
            </a:r>
            <a:r>
              <a:rPr lang="en-US" altLang="zh-CN" sz="2200">
                <a:ea typeface="黑体" panose="02010609060101010101" pitchFamily="49" charset="-122"/>
              </a:rPr>
              <a:t>P’</a:t>
            </a:r>
            <a:r>
              <a:rPr lang="zh-CN" altLang="en-US" sz="2200">
                <a:ea typeface="黑体" panose="02010609060101010101" pitchFamily="49" charset="-122"/>
              </a:rPr>
              <a:t>为：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  		 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</a:t>
            </a:r>
            <a:r>
              <a:rPr lang="en-US" altLang="zh-CN" sz="2200" baseline="-30000">
                <a:ea typeface="黑体" panose="02010609060101010101" pitchFamily="49" charset="-122"/>
              </a:rPr>
              <a:t>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’=1⊕1⊕1⊕0=1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  		 P</a:t>
            </a:r>
            <a:r>
              <a:rPr lang="en-US" altLang="zh-CN" sz="2200" baseline="-30000">
                <a:ea typeface="黑体" panose="02010609060101010101" pitchFamily="49" charset="-122"/>
              </a:rPr>
              <a:t>3 </a:t>
            </a:r>
            <a:r>
              <a:rPr lang="en-US" altLang="zh-CN" sz="2200">
                <a:ea typeface="黑体" panose="02010609060101010101" pitchFamily="49" charset="-122"/>
              </a:rPr>
              <a:t>’= 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’=1⊕0⊕1⊕0=0 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       P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’</a:t>
            </a:r>
            <a:r>
              <a:rPr lang="en-US" altLang="zh-CN" sz="2200" baseline="-30000">
                <a:ea typeface="黑体" panose="02010609060101010101" pitchFamily="49" charset="-122"/>
              </a:rPr>
              <a:t> </a:t>
            </a:r>
            <a:r>
              <a:rPr lang="en-US" altLang="zh-CN" sz="2200">
                <a:ea typeface="黑体" panose="02010609060101010101" pitchFamily="49" charset="-122"/>
              </a:rPr>
              <a:t>= 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’ =0⊕0⊕1⊕1⊕1=1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  		 P</a:t>
            </a:r>
            <a:r>
              <a:rPr lang="en-US" altLang="zh-CN" sz="2200" baseline="-30000">
                <a:ea typeface="黑体" panose="02010609060101010101" pitchFamily="49" charset="-122"/>
              </a:rPr>
              <a:t>1 </a:t>
            </a:r>
            <a:r>
              <a:rPr lang="en-US" altLang="zh-CN" sz="2200">
                <a:ea typeface="黑体" panose="02010609060101010101" pitchFamily="49" charset="-122"/>
              </a:rPr>
              <a:t>’= 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’⊕M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’=0⊕1⊕1⊕1⊕1=0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故障字</a:t>
            </a: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zh-CN" altLang="en-US" sz="2200">
                <a:ea typeface="黑体" panose="02010609060101010101" pitchFamily="49" charset="-122"/>
              </a:rPr>
              <a:t>为：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 </a:t>
            </a: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4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’’=1⊕0=1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	    </a:t>
            </a: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3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’’=0⊕0=0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	    S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2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’’=1⊕1=0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		 S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1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’’=</a:t>
            </a:r>
            <a:r>
              <a:rPr lang="en-US" altLang="zh-CN" sz="2200" baseline="-30000">
                <a:ea typeface="黑体" panose="02010609060101010101" pitchFamily="49" charset="-122"/>
              </a:rPr>
              <a:t> </a:t>
            </a:r>
            <a:r>
              <a:rPr lang="en-US" altLang="zh-CN" sz="2200">
                <a:ea typeface="黑体" panose="02010609060101010101" pitchFamily="49" charset="-122"/>
              </a:rPr>
              <a:t>0⊕1=1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因此，错误位是第9位，排列的是数据位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，</a:t>
            </a:r>
            <a:r>
              <a:rPr lang="zh-CN" altLang="en-US" sz="2200">
                <a:ea typeface="黑体" panose="02010609060101010101" pitchFamily="49" charset="-122"/>
              </a:rPr>
              <a:t>所以检错正确,</a:t>
            </a:r>
          </a:p>
          <a:p>
            <a:pPr marL="742950" lvl="1" indent="-285750">
              <a:spcBef>
                <a:spcPct val="2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纠错时，只要将码字的第9位（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zh-CN" altLang="en-US" sz="2200">
                <a:ea typeface="黑体" panose="02010609060101010101" pitchFamily="49" charset="-122"/>
              </a:rPr>
              <a:t>）取反即可。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29485B3E-DCCF-D84D-B65A-516F7E743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71450"/>
            <a:ext cx="6073775" cy="533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汉明码举例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C101FB5-1877-F743-A49B-40519BA49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388" y="976313"/>
            <a:ext cx="8331200" cy="4448175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(3) 数据位</a:t>
            </a:r>
            <a:r>
              <a:rPr lang="en-US" altLang="zh-CN" sz="2200">
                <a:ea typeface="黑体" panose="02010609060101010101" pitchFamily="49" charset="-122"/>
              </a:rPr>
              <a:t>M’=M=01101010，</a:t>
            </a:r>
            <a:r>
              <a:rPr lang="zh-CN" altLang="en-US" sz="2200">
                <a:ea typeface="黑体" panose="02010609060101010101" pitchFamily="49" charset="-122"/>
              </a:rPr>
              <a:t>校验位</a:t>
            </a:r>
            <a:r>
              <a:rPr lang="en-US" altLang="zh-CN" sz="2200">
                <a:ea typeface="黑体" panose="02010609060101010101" pitchFamily="49" charset="-122"/>
              </a:rPr>
              <a:t>P’’= </a:t>
            </a:r>
            <a:r>
              <a:rPr lang="en-US" altLang="zh-CN" sz="2200">
                <a:solidFill>
                  <a:srgbClr val="FF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011，</a:t>
            </a:r>
          </a:p>
          <a:p>
            <a:pPr marL="342900" indent="-342900"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即：校验码第4位(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)</a:t>
            </a:r>
            <a:r>
              <a:rPr lang="zh-CN" altLang="en-US" sz="2200">
                <a:ea typeface="黑体" panose="02010609060101010101" pitchFamily="49" charset="-122"/>
              </a:rPr>
              <a:t>错。</a:t>
            </a:r>
          </a:p>
          <a:p>
            <a:pPr marL="742950" lvl="1" indent="-285750">
              <a:spcBef>
                <a:spcPts val="12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因为</a:t>
            </a:r>
            <a:r>
              <a:rPr lang="en-US" altLang="zh-CN" sz="2200">
                <a:ea typeface="黑体" panose="02010609060101010101" pitchFamily="49" charset="-122"/>
              </a:rPr>
              <a:t>M’=M，</a:t>
            </a:r>
            <a:r>
              <a:rPr lang="zh-CN" altLang="en-US" sz="2200">
                <a:ea typeface="黑体" panose="02010609060101010101" pitchFamily="49" charset="-122"/>
              </a:rPr>
              <a:t>所以</a:t>
            </a:r>
            <a:r>
              <a:rPr lang="en-US" altLang="zh-CN" sz="2200">
                <a:ea typeface="黑体" panose="02010609060101010101" pitchFamily="49" charset="-122"/>
              </a:rPr>
              <a:t>P’= P，</a:t>
            </a:r>
            <a:r>
              <a:rPr lang="zh-CN" altLang="en-US" sz="2200">
                <a:ea typeface="黑体" panose="02010609060101010101" pitchFamily="49" charset="-122"/>
              </a:rPr>
              <a:t>因此故障位</a:t>
            </a: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zh-CN" altLang="en-US" sz="2200">
                <a:ea typeface="黑体" panose="02010609060101010101" pitchFamily="49" charset="-122"/>
              </a:rPr>
              <a:t>为：</a:t>
            </a:r>
          </a:p>
          <a:p>
            <a:pPr marL="742950" lvl="1" indent="-285750">
              <a:spcBef>
                <a:spcPts val="12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4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’’=0⊕1=1</a:t>
            </a:r>
          </a:p>
          <a:p>
            <a:pPr marL="742950" lvl="1" indent="-285750">
              <a:spcBef>
                <a:spcPts val="12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3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’’=0⊕0=0</a:t>
            </a:r>
          </a:p>
          <a:p>
            <a:pPr marL="742950" lvl="1" indent="-285750">
              <a:spcBef>
                <a:spcPts val="12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2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’’=1⊕1=0</a:t>
            </a:r>
          </a:p>
          <a:p>
            <a:pPr marL="742950" lvl="1" indent="-285750">
              <a:spcBef>
                <a:spcPts val="1200"/>
              </a:spcBef>
              <a:buFontTx/>
              <a:buNone/>
            </a:pPr>
            <a:r>
              <a:rPr lang="en-US" altLang="zh-CN" sz="2200">
                <a:ea typeface="黑体" panose="02010609060101010101" pitchFamily="49" charset="-122"/>
              </a:rPr>
              <a:t>S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= P</a:t>
            </a:r>
            <a:r>
              <a:rPr lang="en-US" altLang="zh-CN" sz="2200" baseline="-30000">
                <a:ea typeface="黑体" panose="02010609060101010101" pitchFamily="49" charset="-122"/>
              </a:rPr>
              <a:t>1 </a:t>
            </a:r>
            <a:r>
              <a:rPr lang="en-US" altLang="zh-CN" sz="2200">
                <a:ea typeface="黑体" panose="02010609060101010101" pitchFamily="49" charset="-122"/>
              </a:rPr>
              <a:t>’⊕ P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’’=</a:t>
            </a:r>
            <a:r>
              <a:rPr lang="en-US" altLang="zh-CN" sz="2200" baseline="-30000">
                <a:ea typeface="黑体" panose="02010609060101010101" pitchFamily="49" charset="-122"/>
              </a:rPr>
              <a:t> </a:t>
            </a:r>
            <a:r>
              <a:rPr lang="en-US" altLang="zh-CN" sz="2200">
                <a:ea typeface="黑体" panose="02010609060101010101" pitchFamily="49" charset="-122"/>
              </a:rPr>
              <a:t>1⊕1=0</a:t>
            </a:r>
          </a:p>
          <a:p>
            <a:pPr marL="742950" lvl="1" indent="-285750">
              <a:lnSpc>
                <a:spcPct val="150000"/>
              </a:lnSpc>
              <a:spcBef>
                <a:spcPts val="12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错误位是第1000位(即第8位)，这位上排列的是校验位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，</a:t>
            </a:r>
            <a:r>
              <a:rPr lang="zh-CN" altLang="en-US" sz="2200">
                <a:ea typeface="黑体" panose="02010609060101010101" pitchFamily="49" charset="-122"/>
              </a:rPr>
              <a:t>所以检错时发现数据正确，不需纠错。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16B8162-FAD2-3648-A7A9-A7135858A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单纠错和双检错码</a:t>
            </a:r>
          </a:p>
        </p:txBody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57B3CEED-6061-694C-91B0-18A6DE597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9563" y="1071563"/>
            <a:ext cx="8428037" cy="4740275"/>
          </a:xfrm>
        </p:spPr>
        <p:txBody>
          <a:bodyPr/>
          <a:lstStyle/>
          <a:p>
            <a:pPr marL="342900" indent="-342900">
              <a:lnSpc>
                <a:spcPct val="114000"/>
              </a:lnSpc>
            </a:pPr>
            <a:r>
              <a:rPr lang="zh-CN" altLang="en-US" sz="2400">
                <a:ea typeface="黑体" panose="02010609060101010101" pitchFamily="49" charset="-122"/>
              </a:rPr>
              <a:t>单纠错码（</a:t>
            </a:r>
            <a:r>
              <a:rPr lang="en-US" altLang="zh-CN" sz="2400">
                <a:ea typeface="黑体" panose="02010609060101010101" pitchFamily="49" charset="-122"/>
              </a:rPr>
              <a:t>SEC）</a:t>
            </a:r>
          </a:p>
          <a:p>
            <a:pPr marL="742950" lvl="1" indent="-285750">
              <a:lnSpc>
                <a:spcPct val="114000"/>
              </a:lnSpc>
            </a:pPr>
            <a:r>
              <a:rPr lang="zh-CN" altLang="en-US" sz="2400">
                <a:ea typeface="黑体" panose="02010609060101010101" pitchFamily="49" charset="-122"/>
              </a:rPr>
              <a:t>问题：上述(</a:t>
            </a:r>
            <a:r>
              <a:rPr lang="en-US" altLang="zh-CN" sz="2400">
                <a:ea typeface="黑体" panose="02010609060101010101" pitchFamily="49" charset="-122"/>
              </a:rPr>
              <a:t>n=8/k=4)</a:t>
            </a:r>
            <a:r>
              <a:rPr lang="zh-CN" altLang="en-US" sz="2400">
                <a:ea typeface="黑体" panose="02010609060101010101" pitchFamily="49" charset="-122"/>
              </a:rPr>
              <a:t>汉明码的码距是几？</a:t>
            </a:r>
          </a:p>
          <a:p>
            <a:pPr marL="742950" lvl="1" indent="-285750">
              <a:lnSpc>
                <a:spcPct val="114000"/>
              </a:lnSpc>
            </a:pPr>
            <a:r>
              <a:rPr lang="zh-CN" altLang="en-US" sz="2400">
                <a:ea typeface="黑体" panose="02010609060101010101" pitchFamily="49" charset="-122"/>
              </a:rPr>
              <a:t>码距</a:t>
            </a:r>
            <a:r>
              <a:rPr lang="en-US" altLang="zh-CN" sz="2400">
                <a:ea typeface="黑体" panose="02010609060101010101" pitchFamily="49" charset="-122"/>
              </a:rPr>
              <a:t>d=3</a:t>
            </a:r>
            <a:r>
              <a:rPr lang="zh-CN" altLang="en-US" sz="2400">
                <a:ea typeface="黑体" panose="02010609060101010101" pitchFamily="49" charset="-122"/>
              </a:rPr>
              <a:t>。因为，若有一位出错</a:t>
            </a:r>
            <a:r>
              <a:rPr lang="en-US" altLang="zh-CN" sz="2400">
                <a:ea typeface="黑体" panose="02010609060101010101" pitchFamily="49" charset="-122"/>
              </a:rPr>
              <a:t>，</a:t>
            </a:r>
            <a:r>
              <a:rPr lang="zh-CN" altLang="en-US" sz="2400">
                <a:ea typeface="黑体" panose="02010609060101010101" pitchFamily="49" charset="-122"/>
              </a:rPr>
              <a:t>则因该位至少要参与两组校验位的生成，因而至少引起两个校验位的不同。两个校验位加一个数据位等于</a:t>
            </a:r>
            <a:r>
              <a:rPr lang="en-US" altLang="zh-CN" sz="2400">
                <a:ea typeface="黑体" panose="02010609060101010101" pitchFamily="49" charset="-122"/>
              </a:rPr>
              <a:t>3</a:t>
            </a:r>
            <a:r>
              <a:rPr lang="zh-CN" altLang="en-US" sz="2400">
                <a:ea typeface="黑体" panose="02010609060101010101" pitchFamily="49" charset="-122"/>
              </a:rPr>
              <a:t>。</a:t>
            </a:r>
          </a:p>
          <a:p>
            <a:pPr marL="742950" lvl="1" indent="-285750">
              <a:lnSpc>
                <a:spcPct val="114000"/>
              </a:lnSpc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   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例如，若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出错，则故障字为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0011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，即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两个校验位发生改变，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12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位码字中有三位（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aseline="-250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）不同。</a:t>
            </a:r>
          </a:p>
          <a:p>
            <a:pPr marL="742950" lvl="1" indent="-285750">
              <a:lnSpc>
                <a:spcPct val="114000"/>
              </a:lnSpc>
            </a:pPr>
            <a:r>
              <a:rPr lang="zh-CN" altLang="en-US" sz="2400">
                <a:ea typeface="黑体" panose="02010609060101010101" pitchFamily="49" charset="-122"/>
              </a:rPr>
              <a:t>根据码距与检错、纠错能力的关系，知：这种码制能发现两位错，</a:t>
            </a:r>
            <a:r>
              <a:rPr lang="zh-CN" altLang="en-US" sz="2400">
                <a:solidFill>
                  <a:srgbClr val="009242"/>
                </a:solidFill>
                <a:ea typeface="黑体" panose="02010609060101010101" pitchFamily="49" charset="-122"/>
              </a:rPr>
              <a:t>或</a:t>
            </a:r>
            <a:r>
              <a:rPr lang="zh-CN" altLang="en-US" sz="2400">
                <a:ea typeface="黑体" panose="02010609060101010101" pitchFamily="49" charset="-122"/>
              </a:rPr>
              <a:t>对单个位出错进行定位和纠错。这种码称为单纠错码（</a:t>
            </a:r>
            <a:r>
              <a:rPr lang="en-US" altLang="zh-CN" sz="2400">
                <a:ea typeface="黑体" panose="02010609060101010101" pitchFamily="49" charset="-122"/>
              </a:rPr>
              <a:t>SEC）。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ED3AFFB5-173A-6E42-992E-91A425277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单纠错和双检错码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1ED04A95-9836-F848-89D6-E916815DA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338" y="922338"/>
            <a:ext cx="8247062" cy="5146675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单纠错和双检错码（</a:t>
            </a:r>
            <a:r>
              <a:rPr lang="en-US" altLang="zh-CN" sz="2400">
                <a:ea typeface="黑体" panose="02010609060101010101" pitchFamily="49" charset="-122"/>
              </a:rPr>
              <a:t>SEC-DED）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具有发现两位错和纠正一位错的能力，称为单纠错和双检错码（</a:t>
            </a:r>
            <a:r>
              <a:rPr lang="en-US" altLang="zh-CN" sz="2200">
                <a:ea typeface="黑体" panose="02010609060101010101" pitchFamily="49" charset="-122"/>
              </a:rPr>
              <a:t>SEC-DED）。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若要成为</a:t>
            </a:r>
            <a:r>
              <a:rPr lang="en-US" altLang="zh-CN" sz="2200">
                <a:ea typeface="黑体" panose="02010609060101010101" pitchFamily="49" charset="-122"/>
              </a:rPr>
              <a:t>SEC-DED</a:t>
            </a:r>
            <a:r>
              <a:rPr lang="zh-CN" altLang="en-US" sz="2200">
                <a:ea typeface="黑体" panose="02010609060101010101" pitchFamily="49" charset="-122"/>
              </a:rPr>
              <a:t> ，则码距需扩大到</a:t>
            </a:r>
            <a:r>
              <a:rPr lang="en-US" altLang="zh-CN" sz="2200">
                <a:ea typeface="黑体" panose="02010609060101010101" pitchFamily="49" charset="-122"/>
              </a:rPr>
              <a:t>d= 4。</a:t>
            </a:r>
            <a:r>
              <a:rPr lang="zh-CN" altLang="en-US" sz="2200">
                <a:ea typeface="黑体" panose="02010609060101010101" pitchFamily="49" charset="-122"/>
              </a:rPr>
              <a:t>为此，还需增加一位校验位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，</a:t>
            </a:r>
            <a:r>
              <a:rPr lang="zh-CN" altLang="en-US" sz="2200">
                <a:ea typeface="黑体" panose="02010609060101010101" pitchFamily="49" charset="-122"/>
              </a:rPr>
              <a:t>将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zh-CN" altLang="en-US" sz="2200">
                <a:ea typeface="黑体" panose="02010609060101010101" pitchFamily="49" charset="-122"/>
              </a:rPr>
              <a:t>排列在码字的最前面，即：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8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6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3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2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1</a:t>
            </a:r>
            <a:r>
              <a:rPr lang="en-US" altLang="zh-CN" sz="2200">
                <a:ea typeface="黑体" panose="02010609060101010101" pitchFamily="49" charset="-122"/>
              </a:rPr>
              <a:t>，</a:t>
            </a:r>
            <a:r>
              <a:rPr lang="zh-CN" altLang="en-US" sz="2200">
                <a:ea typeface="黑体" panose="02010609060101010101" pitchFamily="49" charset="-122"/>
              </a:rPr>
              <a:t>并使得数据中的每一位都参与三个校验位的生成。从</a:t>
            </a:r>
            <a:r>
              <a:rPr lang="zh-CN" altLang="en-US" sz="2200">
                <a:ea typeface="黑体" panose="02010609060101010101" pitchFamily="49" charset="-122"/>
                <a:hlinkClick r:id="rId2" action="ppaction://hlinksldjump"/>
              </a:rPr>
              <a:t>表中</a:t>
            </a:r>
            <a:r>
              <a:rPr lang="zh-CN" altLang="en-US" sz="2200">
                <a:ea typeface="黑体" panose="02010609060101010101" pitchFamily="49" charset="-122"/>
              </a:rPr>
              <a:t>可看出除了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4</a:t>
            </a:r>
            <a:r>
              <a:rPr lang="zh-CN" altLang="en-US" sz="2200">
                <a:ea typeface="黑体" panose="02010609060101010101" pitchFamily="49" charset="-122"/>
              </a:rPr>
              <a:t>和</a:t>
            </a:r>
            <a:r>
              <a:rPr lang="en-US" altLang="zh-CN" sz="2200">
                <a:ea typeface="黑体" panose="02010609060101010101" pitchFamily="49" charset="-122"/>
              </a:rPr>
              <a:t>M</a:t>
            </a:r>
            <a:r>
              <a:rPr lang="en-US" altLang="zh-CN" sz="2200" baseline="-30000">
                <a:ea typeface="黑体" panose="02010609060101010101" pitchFamily="49" charset="-122"/>
              </a:rPr>
              <a:t>7</a:t>
            </a:r>
            <a:r>
              <a:rPr lang="zh-CN" altLang="en-US" sz="2200">
                <a:ea typeface="黑体" panose="02010609060101010101" pitchFamily="49" charset="-122"/>
              </a:rPr>
              <a:t>外，其余位都只参与了两个校验位的生成。因此</a:t>
            </a:r>
            <a:r>
              <a:rPr lang="en-US" altLang="zh-CN" sz="2200">
                <a:ea typeface="黑体" panose="02010609060101010101" pitchFamily="49" charset="-122"/>
              </a:rPr>
              <a:t>P</a:t>
            </a:r>
            <a:r>
              <a:rPr lang="en-US" altLang="zh-CN" sz="2200" baseline="-30000">
                <a:ea typeface="黑体" panose="02010609060101010101" pitchFamily="49" charset="-122"/>
              </a:rPr>
              <a:t>5</a:t>
            </a:r>
            <a:r>
              <a:rPr lang="zh-CN" altLang="en-US" sz="2200">
                <a:ea typeface="黑体" panose="02010609060101010101" pitchFamily="49" charset="-122"/>
              </a:rPr>
              <a:t>按下式求值：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>
                <a:ea typeface="黑体" panose="02010609060101010101" pitchFamily="49" charset="-122"/>
              </a:rPr>
              <a:t>　　　                        P</a:t>
            </a:r>
            <a:r>
              <a:rPr lang="en-US" altLang="zh-CN" sz="2400" baseline="-30000">
                <a:ea typeface="黑体" panose="02010609060101010101" pitchFamily="49" charset="-122"/>
              </a:rPr>
              <a:t>5</a:t>
            </a:r>
            <a:r>
              <a:rPr lang="en-US" altLang="zh-CN" sz="2400">
                <a:ea typeface="黑体" panose="02010609060101010101" pitchFamily="49" charset="-122"/>
              </a:rPr>
              <a:t>= M</a:t>
            </a:r>
            <a:r>
              <a:rPr lang="en-US" altLang="zh-CN" sz="2400" baseline="-30000">
                <a:ea typeface="黑体" panose="02010609060101010101" pitchFamily="49" charset="-122"/>
              </a:rPr>
              <a:t>1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2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3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5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6</a:t>
            </a:r>
            <a:r>
              <a:rPr lang="en-US" altLang="zh-CN" sz="2400">
                <a:ea typeface="黑体" panose="02010609060101010101" pitchFamily="49" charset="-122"/>
              </a:rPr>
              <a:t>⊕M</a:t>
            </a:r>
            <a:r>
              <a:rPr lang="en-US" altLang="zh-CN" sz="2400" baseline="-30000">
                <a:ea typeface="黑体" panose="02010609060101010101" pitchFamily="49" charset="-122"/>
              </a:rPr>
              <a:t>8</a:t>
            </a:r>
          </a:p>
          <a:p>
            <a:pPr marL="742950" lvl="1" indent="-285750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当任意一个数据位发生错误时，必将引起三个校验位发生变化，所以码距为4。</a:t>
            </a:r>
          </a:p>
        </p:txBody>
      </p:sp>
      <p:sp>
        <p:nvSpPr>
          <p:cNvPr id="117764" name="TextBox 3">
            <a:extLst>
              <a:ext uri="{FF2B5EF4-FFF2-40B4-BE49-F238E27FC236}">
                <a16:creationId xmlns:a16="http://schemas.microsoft.com/office/drawing/2014/main" id="{2205840C-CE91-AF45-8FA5-F4A0E4C2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6156325"/>
            <a:ext cx="10461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 action="ppaction://hlinksldjump"/>
              </a:rPr>
              <a:t>SKIP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0FB547D-0B5B-AB41-BB2F-EE4C57A21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固态硬盘（</a:t>
            </a:r>
            <a:r>
              <a:rPr lang="en-US" altLang="zh-CN">
                <a:ea typeface="宋体" panose="02010600030101010101" pitchFamily="2" charset="-122"/>
              </a:rPr>
              <a:t>SSD</a:t>
            </a:r>
            <a:r>
              <a:rPr lang="zh-CN" altLang="en-US">
                <a:ea typeface="宋体" panose="02010600030101010101" pitchFamily="2" charset="-122"/>
              </a:rPr>
              <a:t>）的数据校验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B87FFDF0-3E31-CE44-B7AB-B4FC7EC8C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8275" y="765175"/>
            <a:ext cx="8807450" cy="6016625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早期采用简单的汉明码进行检错和纠错。</a:t>
            </a:r>
            <a:endParaRPr lang="en-US" altLang="zh-CN" sz="2200"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每页数据分成两组，各自进行检错和纠错。例如，对于</a:t>
            </a:r>
            <a:r>
              <a:rPr lang="en-US" altLang="zh-CN" sz="2200">
                <a:ea typeface="黑体" panose="02010609060101010101" pitchFamily="49" charset="-122"/>
              </a:rPr>
              <a:t>512B</a:t>
            </a:r>
            <a:r>
              <a:rPr lang="zh-CN" altLang="en-US" sz="2200">
                <a:ea typeface="黑体" panose="02010609060101010101" pitchFamily="49" charset="-122"/>
              </a:rPr>
              <a:t>大小的页，每组数据都是</a:t>
            </a:r>
            <a:r>
              <a:rPr lang="en-US" altLang="zh-CN" sz="2200">
                <a:ea typeface="黑体" panose="02010609060101010101" pitchFamily="49" charset="-122"/>
              </a:rPr>
              <a:t>256</a:t>
            </a:r>
            <a:r>
              <a:rPr lang="zh-CN" altLang="en-US" sz="2200">
                <a:ea typeface="黑体" panose="02010609060101010101" pitchFamily="49" charset="-122"/>
              </a:rPr>
              <a:t>行</a:t>
            </a:r>
            <a:r>
              <a:rPr lang="en-US" altLang="zh-CN" sz="2200">
                <a:ea typeface="黑体" panose="02010609060101010101" pitchFamily="49" charset="-122"/>
              </a:rPr>
              <a:t>x8</a:t>
            </a:r>
            <a:r>
              <a:rPr lang="zh-CN" altLang="en-US" sz="2200">
                <a:ea typeface="黑体" panose="02010609060101010101" pitchFamily="49" charset="-122"/>
              </a:rPr>
              <a:t>列的矩阵，分别对矩阵中的行</a:t>
            </a:r>
            <a:r>
              <a:rPr lang="en-US" altLang="zh-CN" sz="2200">
                <a:ea typeface="黑体" panose="02010609060101010101" pitchFamily="49" charset="-122"/>
              </a:rPr>
              <a:t>R</a:t>
            </a:r>
            <a:r>
              <a:rPr lang="en-US" altLang="zh-CN" sz="2200" baseline="-25000">
                <a:ea typeface="黑体" panose="02010609060101010101" pitchFamily="49" charset="-122"/>
              </a:rPr>
              <a:t>0</a:t>
            </a:r>
            <a:r>
              <a:rPr lang="en-US" altLang="zh-CN" sz="2200">
                <a:ea typeface="黑体" panose="02010609060101010101" pitchFamily="49" charset="-122"/>
              </a:rPr>
              <a:t>~R</a:t>
            </a:r>
            <a:r>
              <a:rPr lang="en-US" altLang="zh-CN" sz="2200" baseline="-25000">
                <a:ea typeface="黑体" panose="02010609060101010101" pitchFamily="49" charset="-122"/>
              </a:rPr>
              <a:t>255</a:t>
            </a:r>
            <a:r>
              <a:rPr lang="zh-CN" altLang="en-US" sz="2200">
                <a:ea typeface="黑体" panose="02010609060101010101" pitchFamily="49" charset="-122"/>
              </a:rPr>
              <a:t>和列</a:t>
            </a:r>
            <a:r>
              <a:rPr lang="en-US" altLang="zh-CN" sz="2200">
                <a:ea typeface="黑体" panose="02010609060101010101" pitchFamily="49" charset="-122"/>
              </a:rPr>
              <a:t>C</a:t>
            </a:r>
            <a:r>
              <a:rPr lang="en-US" altLang="zh-CN" sz="2200" baseline="-25000">
                <a:ea typeface="黑体" panose="02010609060101010101" pitchFamily="49" charset="-122"/>
              </a:rPr>
              <a:t>0</a:t>
            </a:r>
            <a:r>
              <a:rPr lang="en-US" altLang="zh-CN" sz="2200">
                <a:ea typeface="黑体" panose="02010609060101010101" pitchFamily="49" charset="-122"/>
              </a:rPr>
              <a:t>~C</a:t>
            </a:r>
            <a:r>
              <a:rPr lang="en-US" altLang="zh-CN" sz="2200" baseline="-25000">
                <a:ea typeface="黑体" panose="02010609060101010101" pitchFamily="49" charset="-122"/>
              </a:rPr>
              <a:t>7</a:t>
            </a:r>
            <a:r>
              <a:rPr lang="zh-CN" altLang="en-US" sz="2200">
                <a:ea typeface="黑体" panose="02010609060101010101" pitchFamily="49" charset="-122"/>
              </a:rPr>
              <a:t>计算出</a:t>
            </a:r>
            <a:r>
              <a:rPr lang="en-US" altLang="zh-CN" sz="2200">
                <a:ea typeface="黑体" panose="02010609060101010101" pitchFamily="49" charset="-122"/>
              </a:rPr>
              <a:t>16</a:t>
            </a:r>
            <a:r>
              <a:rPr lang="zh-CN" altLang="en-US" sz="2200">
                <a:ea typeface="黑体" panose="02010609060101010101" pitchFamily="49" charset="-122"/>
              </a:rPr>
              <a:t>位行校验位</a:t>
            </a:r>
            <a:r>
              <a:rPr lang="en-US" altLang="zh-CN" sz="2200">
                <a:ea typeface="黑体" panose="02010609060101010101" pitchFamily="49" charset="-122"/>
              </a:rPr>
              <a:t>RP</a:t>
            </a:r>
            <a:r>
              <a:rPr lang="en-US" altLang="zh-CN" sz="2200" baseline="-25000">
                <a:ea typeface="黑体" panose="02010609060101010101" pitchFamily="49" charset="-122"/>
              </a:rPr>
              <a:t>0</a:t>
            </a:r>
            <a:r>
              <a:rPr lang="en-US" altLang="zh-CN" sz="2200">
                <a:ea typeface="黑体" panose="02010609060101010101" pitchFamily="49" charset="-122"/>
              </a:rPr>
              <a:t>~RP</a:t>
            </a:r>
            <a:r>
              <a:rPr lang="en-US" altLang="zh-CN" sz="2200" baseline="-25000">
                <a:ea typeface="黑体" panose="02010609060101010101" pitchFamily="49" charset="-122"/>
              </a:rPr>
              <a:t>15</a:t>
            </a:r>
            <a:r>
              <a:rPr lang="zh-CN" altLang="en-US" sz="2200">
                <a:ea typeface="黑体" panose="02010609060101010101" pitchFamily="49" charset="-122"/>
              </a:rPr>
              <a:t>和</a:t>
            </a:r>
            <a:r>
              <a:rPr lang="en-US" altLang="zh-CN" sz="2200">
                <a:ea typeface="黑体" panose="02010609060101010101" pitchFamily="49" charset="-122"/>
              </a:rPr>
              <a:t>6</a:t>
            </a:r>
            <a:r>
              <a:rPr lang="zh-CN" altLang="en-US" sz="2200">
                <a:ea typeface="黑体" panose="02010609060101010101" pitchFamily="49" charset="-122"/>
              </a:rPr>
              <a:t>位列校验位</a:t>
            </a:r>
            <a:r>
              <a:rPr lang="en-US" altLang="zh-CN" sz="2200">
                <a:ea typeface="黑体" panose="02010609060101010101" pitchFamily="49" charset="-122"/>
              </a:rPr>
              <a:t>CP</a:t>
            </a:r>
            <a:r>
              <a:rPr lang="en-US" altLang="zh-CN" sz="2200" baseline="-25000">
                <a:ea typeface="黑体" panose="02010609060101010101" pitchFamily="49" charset="-122"/>
              </a:rPr>
              <a:t>0</a:t>
            </a:r>
            <a:r>
              <a:rPr lang="en-US" altLang="zh-CN" sz="2200">
                <a:ea typeface="黑体" panose="02010609060101010101" pitchFamily="49" charset="-122"/>
              </a:rPr>
              <a:t>~CP</a:t>
            </a:r>
            <a:r>
              <a:rPr lang="en-US" altLang="zh-CN" sz="2200" baseline="-25000">
                <a:ea typeface="黑体" panose="02010609060101010101" pitchFamily="49" charset="-122"/>
              </a:rPr>
              <a:t>5</a:t>
            </a:r>
            <a:r>
              <a:rPr lang="zh-CN" altLang="en-US" sz="2200">
                <a:ea typeface="黑体" panose="02010609060101010101" pitchFamily="49" charset="-122"/>
              </a:rPr>
              <a:t>。</a:t>
            </a:r>
            <a:endParaRPr lang="en-US" altLang="zh-CN" sz="2200" baseline="-25000"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en-US" altLang="zh-CN" sz="2200">
                <a:ea typeface="黑体" panose="02010609060101010101" pitchFamily="49" charset="-122"/>
              </a:rPr>
              <a:t>16</a:t>
            </a:r>
            <a:r>
              <a:rPr lang="zh-CN" altLang="en-US" sz="2200">
                <a:ea typeface="黑体" panose="02010609060101010101" pitchFamily="49" charset="-122"/>
              </a:rPr>
              <a:t>个行校验位占两个字节，</a:t>
            </a:r>
            <a:r>
              <a:rPr lang="en-US" altLang="zh-CN" sz="2200">
                <a:ea typeface="黑体" panose="02010609060101010101" pitchFamily="49" charset="-122"/>
              </a:rPr>
              <a:t>6</a:t>
            </a:r>
            <a:r>
              <a:rPr lang="zh-CN" altLang="en-US" sz="2200">
                <a:ea typeface="黑体" panose="02010609060101010101" pitchFamily="49" charset="-122"/>
              </a:rPr>
              <a:t>个列校验位再加两位</a:t>
            </a:r>
            <a:r>
              <a:rPr lang="en-US" altLang="zh-CN" sz="2200">
                <a:ea typeface="黑体" panose="02010609060101010101" pitchFamily="49" charset="-122"/>
              </a:rPr>
              <a:t>1</a:t>
            </a:r>
            <a:r>
              <a:rPr lang="zh-CN" altLang="en-US" sz="2200">
                <a:ea typeface="黑体" panose="02010609060101010101" pitchFamily="49" charset="-122"/>
              </a:rPr>
              <a:t>构成一个字节，三个字节组成</a:t>
            </a:r>
            <a:r>
              <a:rPr lang="en-US" altLang="zh-CN" sz="2200">
                <a:ea typeface="黑体" panose="02010609060101010101" pitchFamily="49" charset="-122"/>
              </a:rPr>
              <a:t>ECC</a:t>
            </a:r>
            <a:r>
              <a:rPr lang="zh-CN" altLang="en-US" sz="2200">
                <a:ea typeface="黑体" panose="02010609060101010101" pitchFamily="49" charset="-122"/>
              </a:rPr>
              <a:t>（错误检测和纠正）信息。</a:t>
            </a:r>
            <a:endParaRPr lang="en-US" altLang="zh-CN" sz="2200"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每页除数据区外，还有</a:t>
            </a:r>
            <a:r>
              <a:rPr lang="en-US" altLang="zh-CN" sz="2200">
                <a:ea typeface="黑体" panose="02010609060101010101" pitchFamily="49" charset="-122"/>
              </a:rPr>
              <a:t>OOB</a:t>
            </a:r>
            <a:r>
              <a:rPr lang="zh-CN" altLang="en-US" sz="2200">
                <a:ea typeface="黑体" panose="02010609060101010101" pitchFamily="49" charset="-122"/>
              </a:rPr>
              <a:t>（</a:t>
            </a:r>
            <a:r>
              <a:rPr lang="en-US" altLang="zh-CN" sz="2200">
                <a:ea typeface="黑体" panose="02010609060101010101" pitchFamily="49" charset="-122"/>
              </a:rPr>
              <a:t>out of-band</a:t>
            </a:r>
            <a:r>
              <a:rPr lang="zh-CN" altLang="en-US" sz="2200">
                <a:ea typeface="黑体" panose="02010609060101010101" pitchFamily="49" charset="-122"/>
              </a:rPr>
              <a:t>）区，</a:t>
            </a:r>
            <a:r>
              <a:rPr lang="en-US" altLang="zh-CN" sz="2200">
                <a:ea typeface="黑体" panose="02010609060101010101" pitchFamily="49" charset="-122"/>
              </a:rPr>
              <a:t>ECC</a:t>
            </a:r>
            <a:r>
              <a:rPr lang="zh-CN" altLang="en-US" sz="2200">
                <a:ea typeface="黑体" panose="02010609060101010101" pitchFamily="49" charset="-122"/>
              </a:rPr>
              <a:t>记录其中。</a:t>
            </a:r>
            <a:endParaRPr lang="en-US" altLang="zh-CN" sz="2200"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写某页时，会将该页数据对应</a:t>
            </a:r>
            <a:r>
              <a:rPr lang="en-US" altLang="zh-CN" sz="2200">
                <a:ea typeface="黑体" panose="02010609060101010101" pitchFamily="49" charset="-122"/>
              </a:rPr>
              <a:t>ECC</a:t>
            </a:r>
            <a:r>
              <a:rPr lang="zh-CN" altLang="en-US" sz="2200">
                <a:ea typeface="黑体" panose="02010609060101010101" pitchFamily="49" charset="-122"/>
              </a:rPr>
              <a:t>信息计算出来，并写入</a:t>
            </a:r>
            <a:r>
              <a:rPr lang="en-US" altLang="zh-CN" sz="2200">
                <a:ea typeface="黑体" panose="02010609060101010101" pitchFamily="49" charset="-122"/>
              </a:rPr>
              <a:t>OOB</a:t>
            </a:r>
            <a:r>
              <a:rPr lang="zh-CN" altLang="en-US" sz="2200">
                <a:ea typeface="黑体" panose="02010609060101010101" pitchFamily="49" charset="-122"/>
              </a:rPr>
              <a:t>区。在读该页时，重新计算数据对应的</a:t>
            </a:r>
            <a:r>
              <a:rPr lang="en-US" altLang="zh-CN" sz="2200">
                <a:ea typeface="黑体" panose="02010609060101010101" pitchFamily="49" charset="-122"/>
              </a:rPr>
              <a:t>ECC</a:t>
            </a:r>
            <a:r>
              <a:rPr lang="zh-CN" altLang="en-US" sz="2200">
                <a:ea typeface="黑体" panose="02010609060101010101" pitchFamily="49" charset="-122"/>
              </a:rPr>
              <a:t>信息，并和记录在</a:t>
            </a:r>
            <a:r>
              <a:rPr lang="en-US" altLang="zh-CN" sz="2200">
                <a:ea typeface="黑体" panose="02010609060101010101" pitchFamily="49" charset="-122"/>
              </a:rPr>
              <a:t>OOB</a:t>
            </a:r>
            <a:r>
              <a:rPr lang="zh-CN" altLang="en-US" sz="2200">
                <a:ea typeface="黑体" panose="02010609060101010101" pitchFamily="49" charset="-122"/>
              </a:rPr>
              <a:t>区中的原</a:t>
            </a:r>
            <a:r>
              <a:rPr lang="en-US" altLang="zh-CN" sz="2200">
                <a:ea typeface="黑体" panose="02010609060101010101" pitchFamily="49" charset="-122"/>
              </a:rPr>
              <a:t>ECC</a:t>
            </a:r>
            <a:r>
              <a:rPr lang="zh-CN" altLang="en-US" sz="2200">
                <a:ea typeface="黑体" panose="02010609060101010101" pitchFamily="49" charset="-122"/>
              </a:rPr>
              <a:t>信息进行比较运算，根据运算结果进行数据检</a:t>
            </a:r>
            <a:r>
              <a:rPr lang="en-US" altLang="zh-CN" sz="2200">
                <a:ea typeface="黑体" panose="02010609060101010101" pitchFamily="49" charset="-122"/>
              </a:rPr>
              <a:t>/</a:t>
            </a:r>
            <a:r>
              <a:rPr lang="zh-CN" altLang="en-US" sz="2200">
                <a:ea typeface="黑体" panose="02010609060101010101" pitchFamily="49" charset="-122"/>
              </a:rPr>
              <a:t>纠错。</a:t>
            </a:r>
            <a:endParaRPr lang="en-US" altLang="zh-CN" sz="2200"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汉明码只能纠正</a:t>
            </a:r>
            <a:r>
              <a:rPr lang="en-US" altLang="zh-CN" sz="2200">
                <a:ea typeface="黑体" panose="02010609060101010101" pitchFamily="49" charset="-122"/>
              </a:rPr>
              <a:t>1</a:t>
            </a:r>
            <a:r>
              <a:rPr lang="zh-CN" altLang="en-US" sz="2200">
                <a:ea typeface="黑体" panose="02010609060101010101" pitchFamily="49" charset="-122"/>
              </a:rPr>
              <a:t>位错或检测</a:t>
            </a:r>
            <a:r>
              <a:rPr lang="en-US" altLang="zh-CN" sz="2200">
                <a:ea typeface="黑体" panose="02010609060101010101" pitchFamily="49" charset="-122"/>
              </a:rPr>
              <a:t>2</a:t>
            </a:r>
            <a:r>
              <a:rPr lang="zh-CN" altLang="en-US" sz="2200">
                <a:ea typeface="黑体" panose="02010609060101010101" pitchFamily="49" charset="-122"/>
              </a:rPr>
              <a:t>位错，已不能满足</a:t>
            </a:r>
            <a:r>
              <a:rPr lang="en-US" altLang="zh-CN" sz="2200">
                <a:ea typeface="黑体" panose="02010609060101010101" pitchFamily="49" charset="-122"/>
              </a:rPr>
              <a:t>SDD</a:t>
            </a:r>
            <a:r>
              <a:rPr lang="zh-CN" altLang="en-US" sz="2200">
                <a:ea typeface="黑体" panose="02010609060101010101" pitchFamily="49" charset="-122"/>
              </a:rPr>
              <a:t>要求，</a:t>
            </a:r>
            <a:r>
              <a:rPr lang="zh-CN" altLang="zh-CN" sz="2200">
                <a:ea typeface="黑体" panose="02010609060101010101" pitchFamily="49" charset="-122"/>
              </a:rPr>
              <a:t>需要采用纠错能力更高的</a:t>
            </a:r>
            <a:r>
              <a:rPr lang="en-US" altLang="zh-CN" sz="2200">
                <a:ea typeface="黑体" panose="02010609060101010101" pitchFamily="49" charset="-122"/>
              </a:rPr>
              <a:t>BCH</a:t>
            </a:r>
            <a:r>
              <a:rPr lang="zh-CN" altLang="zh-CN" sz="2200">
                <a:ea typeface="黑体" panose="02010609060101010101" pitchFamily="49" charset="-122"/>
              </a:rPr>
              <a:t>码，甚至开始由</a:t>
            </a:r>
            <a:r>
              <a:rPr lang="en-US" altLang="zh-CN" sz="2200">
                <a:ea typeface="黑体" panose="02010609060101010101" pitchFamily="49" charset="-122"/>
              </a:rPr>
              <a:t>BCH</a:t>
            </a:r>
            <a:r>
              <a:rPr lang="zh-CN" altLang="zh-CN" sz="2200">
                <a:ea typeface="黑体" panose="02010609060101010101" pitchFamily="49" charset="-122"/>
              </a:rPr>
              <a:t>码向低密度奇偶校验码</a:t>
            </a:r>
            <a:r>
              <a:rPr lang="en-US" altLang="zh-CN" sz="2200">
                <a:ea typeface="黑体" panose="02010609060101010101" pitchFamily="49" charset="-122"/>
              </a:rPr>
              <a:t>LDPC</a:t>
            </a:r>
            <a:r>
              <a:rPr lang="zh-CN" altLang="zh-CN" sz="2200">
                <a:ea typeface="黑体" panose="02010609060101010101" pitchFamily="49" charset="-122"/>
              </a:rPr>
              <a:t>过渡来增加使用寿命。</a:t>
            </a:r>
            <a:endParaRPr lang="en-US" altLang="zh-CN" sz="220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1921056F-365A-734F-9F23-AAF308CDC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循环冗余码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00772F42-3D69-9643-BF6A-A7849FB78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3050" y="1066800"/>
            <a:ext cx="8455025" cy="4327525"/>
          </a:xfrm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140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200">
                <a:ea typeface="黑体" panose="02010609060101010101" pitchFamily="49" charset="-122"/>
              </a:rPr>
              <a:t>循环冗余校验码（</a:t>
            </a:r>
            <a:r>
              <a:rPr lang="en-US" altLang="zh-CN" sz="2200">
                <a:ea typeface="黑体" panose="02010609060101010101" pitchFamily="49" charset="-122"/>
              </a:rPr>
              <a:t>Cyclic Redundancy Check），</a:t>
            </a:r>
            <a:r>
              <a:rPr lang="zh-CN" altLang="en-US" sz="2200">
                <a:ea typeface="黑体" panose="02010609060101010101" pitchFamily="49" charset="-122"/>
              </a:rPr>
              <a:t>简称</a:t>
            </a:r>
            <a:r>
              <a:rPr lang="en-US" altLang="zh-CN" sz="2200">
                <a:ea typeface="黑体" panose="02010609060101010101" pitchFamily="49" charset="-122"/>
              </a:rPr>
              <a:t>CRC</a:t>
            </a:r>
            <a:r>
              <a:rPr lang="zh-CN" altLang="en-US" sz="2200">
                <a:ea typeface="黑体" panose="02010609060101010101" pitchFamily="49" charset="-122"/>
              </a:rPr>
              <a:t>码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Clr>
                <a:srgbClr val="000099"/>
              </a:buClr>
            </a:pPr>
            <a:r>
              <a:rPr lang="zh-CN" altLang="en-US" sz="2200">
                <a:ea typeface="黑体" panose="02010609060101010101" pitchFamily="49" charset="-122"/>
              </a:rPr>
              <a:t>具很强的检错、纠错能力。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Clr>
                <a:srgbClr val="000099"/>
              </a:buClr>
            </a:pPr>
            <a:r>
              <a:rPr lang="zh-CN" altLang="en-US" sz="2200">
                <a:ea typeface="黑体" panose="02010609060101010101" pitchFamily="49" charset="-122"/>
              </a:rPr>
              <a:t>用于大批量数据存储和传送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(如：外存和通信)</a:t>
            </a:r>
            <a:r>
              <a:rPr lang="zh-CN" altLang="en-US" sz="2200">
                <a:ea typeface="黑体" panose="02010609060101010101" pitchFamily="49" charset="-122"/>
              </a:rPr>
              <a:t>中的数据校验。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为什么大批量数据不用奇偶校验？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    在每个字符后增加一位校验位会增加大量的额外开销；尤其在网络通信中，对传输的二进制比特流没有必要再分解成一个个字符，因而无法采用奇偶校验码。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Clr>
                <a:srgbClr val="000099"/>
              </a:buClr>
            </a:pPr>
            <a:r>
              <a:rPr lang="zh-CN" altLang="en-US" sz="2200">
                <a:ea typeface="黑体" panose="02010609060101010101" pitchFamily="49" charset="-122"/>
              </a:rPr>
              <a:t>通过某种数学运算来建立数据和校验位之间的约定关系。</a:t>
            </a:r>
          </a:p>
          <a:p>
            <a:pPr marL="742950" lvl="1" indent="-285750">
              <a:lnSpc>
                <a:spcPct val="125000"/>
              </a:lnSpc>
              <a:spcBef>
                <a:spcPct val="25000"/>
              </a:spcBef>
              <a:buFontTx/>
              <a:buNone/>
            </a:pPr>
            <a:r>
              <a:rPr lang="zh-CN" altLang="en-US" sz="2200">
                <a:ea typeface="黑体" panose="02010609060101010101" pitchFamily="49" charset="-122"/>
              </a:rPr>
              <a:t>      </a:t>
            </a:r>
            <a:r>
              <a:rPr lang="zh-CN" altLang="en-US" sz="2200">
                <a:solidFill>
                  <a:srgbClr val="006600"/>
                </a:solidFill>
                <a:ea typeface="黑体" panose="02010609060101010101" pitchFamily="49" charset="-122"/>
              </a:rPr>
              <a:t>奇偶校验码和海明校验码都是以奇偶检测为手段的。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8EF4C6EC-89DC-E74E-9364-D93E9F722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5719763"/>
            <a:ext cx="4624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网络或通信课程中会学到。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F4964A6-A40E-0D4E-BCFE-6DCBA7278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码的检错方法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BBBA1B0-737E-164F-875D-37069C3A9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04863"/>
            <a:ext cx="8847138" cy="4040187"/>
          </a:xfrm>
        </p:spPr>
        <p:txBody>
          <a:bodyPr/>
          <a:lstStyle/>
          <a:p>
            <a:pPr marL="342900" indent="-342900">
              <a:lnSpc>
                <a:spcPct val="135000"/>
              </a:lnSpc>
              <a:buFont typeface="Wingdings" pitchFamily="2" charset="2"/>
              <a:buNone/>
            </a:pPr>
            <a:r>
              <a:rPr lang="en-US" altLang="zh-CN" sz="22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基本思想：</a:t>
            </a:r>
          </a:p>
          <a:p>
            <a:pPr marL="742950" lvl="1" indent="-285750">
              <a:lnSpc>
                <a:spcPct val="135000"/>
              </a:lnSpc>
            </a:pPr>
            <a:r>
              <a:rPr lang="zh-CN" altLang="en-US" sz="2000">
                <a:ea typeface="黑体" panose="02010609060101010101" pitchFamily="49" charset="-122"/>
              </a:rPr>
              <a:t>数据信息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M(x)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为一个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位的二进制数据</a:t>
            </a:r>
            <a:r>
              <a:rPr lang="zh-CN" altLang="en-US" sz="2000">
                <a:ea typeface="黑体" panose="02010609060101010101" pitchFamily="49" charset="-122"/>
              </a:rPr>
              <a:t>，将</a:t>
            </a:r>
            <a:r>
              <a:rPr lang="en-US" altLang="zh-CN" sz="2000">
                <a:ea typeface="黑体" panose="02010609060101010101" pitchFamily="49" charset="-122"/>
              </a:rPr>
              <a:t>M(x)</a:t>
            </a:r>
            <a:r>
              <a:rPr lang="zh-CN" altLang="en-US" sz="2000">
                <a:ea typeface="黑体" panose="02010609060101010101" pitchFamily="49" charset="-122"/>
              </a:rPr>
              <a:t>左移</a:t>
            </a:r>
            <a:r>
              <a:rPr lang="en-US" altLang="zh-CN" sz="2000">
                <a:ea typeface="黑体" panose="02010609060101010101" pitchFamily="49" charset="-122"/>
              </a:rPr>
              <a:t>k</a:t>
            </a:r>
            <a:r>
              <a:rPr lang="zh-CN" altLang="en-US" sz="2000">
                <a:ea typeface="黑体" panose="02010609060101010101" pitchFamily="49" charset="-122"/>
              </a:rPr>
              <a:t>位后，用一个约定的“生成多项式”</a:t>
            </a:r>
            <a:r>
              <a:rPr lang="en-US" altLang="zh-CN" sz="2000">
                <a:ea typeface="黑体" panose="02010609060101010101" pitchFamily="49" charset="-122"/>
              </a:rPr>
              <a:t>G(x)</a:t>
            </a:r>
            <a:r>
              <a:rPr lang="zh-CN" altLang="en-US" sz="2000">
                <a:ea typeface="黑体" panose="02010609060101010101" pitchFamily="49" charset="-122"/>
              </a:rPr>
              <a:t>相除，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G(x)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是一个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k+1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位的二进制数</a:t>
            </a:r>
            <a:r>
              <a:rPr lang="zh-CN" altLang="en-US" sz="2000">
                <a:ea typeface="黑体" panose="02010609060101010101" pitchFamily="49" charset="-122"/>
              </a:rPr>
              <a:t>，相除后得到的</a:t>
            </a:r>
            <a:r>
              <a:rPr lang="en-US" altLang="zh-CN" sz="2000">
                <a:ea typeface="黑体" panose="02010609060101010101" pitchFamily="49" charset="-122"/>
              </a:rPr>
              <a:t>k</a:t>
            </a:r>
            <a:r>
              <a:rPr lang="zh-CN" altLang="en-US" sz="2000">
                <a:ea typeface="黑体" panose="02010609060101010101" pitchFamily="49" charset="-122"/>
              </a:rPr>
              <a:t>位余数就是校验位。校验位拼接到</a:t>
            </a:r>
            <a:r>
              <a:rPr lang="en-US" altLang="zh-CN" sz="2000">
                <a:ea typeface="黑体" panose="02010609060101010101" pitchFamily="49" charset="-122"/>
              </a:rPr>
              <a:t>M(x)</a:t>
            </a:r>
            <a:r>
              <a:rPr lang="zh-CN" altLang="en-US" sz="2000">
                <a:ea typeface="黑体" panose="02010609060101010101" pitchFamily="49" charset="-122"/>
              </a:rPr>
              <a:t>后，形成一个</a:t>
            </a:r>
            <a:r>
              <a:rPr lang="en-US" altLang="zh-CN" sz="2000">
                <a:ea typeface="黑体" panose="02010609060101010101" pitchFamily="49" charset="-122"/>
              </a:rPr>
              <a:t>n+k</a:t>
            </a:r>
            <a:r>
              <a:rPr lang="zh-CN" altLang="en-US" sz="2000">
                <a:ea typeface="黑体" panose="02010609060101010101" pitchFamily="49" charset="-122"/>
              </a:rPr>
              <a:t>位的代码，称该代码为循环冗余校验 </a:t>
            </a:r>
            <a:r>
              <a:rPr lang="en-US" altLang="zh-CN" sz="2000">
                <a:ea typeface="黑体" panose="02010609060101010101" pitchFamily="49" charset="-122"/>
              </a:rPr>
              <a:t>( CRC ) </a:t>
            </a:r>
            <a:r>
              <a:rPr lang="zh-CN" altLang="en-US" sz="2000">
                <a:ea typeface="黑体" panose="02010609060101010101" pitchFamily="49" charset="-122"/>
              </a:rPr>
              <a:t>码，也称（</a:t>
            </a:r>
            <a:r>
              <a:rPr lang="en-US" altLang="zh-CN" sz="2000">
                <a:ea typeface="黑体" panose="02010609060101010101" pitchFamily="49" charset="-122"/>
              </a:rPr>
              <a:t>n+k,n）</a:t>
            </a:r>
            <a:r>
              <a:rPr lang="zh-CN" altLang="en-US" sz="2000">
                <a:ea typeface="黑体" panose="02010609060101010101" pitchFamily="49" charset="-122"/>
              </a:rPr>
              <a:t>码。</a:t>
            </a:r>
          </a:p>
          <a:p>
            <a:pPr marL="742950" lvl="1" indent="-285750">
              <a:lnSpc>
                <a:spcPct val="135000"/>
              </a:lnSpc>
            </a:pPr>
            <a:r>
              <a:rPr lang="zh-CN" altLang="en-US" sz="2000">
                <a:ea typeface="黑体" panose="02010609060101010101" pitchFamily="49" charset="-122"/>
              </a:rPr>
              <a:t>一个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码一定能被生成多项式整除</a:t>
            </a:r>
            <a:r>
              <a:rPr lang="zh-CN" altLang="en-US" sz="2000">
                <a:ea typeface="黑体" panose="02010609060101010101" pitchFamily="49" charset="-122"/>
              </a:rPr>
              <a:t>，当数据和校验位一起送到接受端后，只要将接受到的数据和校验位用同样的生成多项式相除，如果正好除尽，表明没有发生错误；若除不尽，则表明某些数据位发生了错误。通常要求重传一次。</a:t>
            </a:r>
            <a:endParaRPr lang="en-US" altLang="zh-CN" sz="2000">
              <a:ea typeface="黑体" panose="02010609060101010101" pitchFamily="49" charset="-122"/>
            </a:endParaRP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F52562F9-8A62-EE4F-85C9-39B4A6036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4908550"/>
            <a:ext cx="6604000" cy="58261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7" name="Line 5">
            <a:extLst>
              <a:ext uri="{FF2B5EF4-FFF2-40B4-BE49-F238E27FC236}">
                <a16:creationId xmlns:a16="http://schemas.microsoft.com/office/drawing/2014/main" id="{3EA28C5C-66BF-F74E-BD62-B2724A8AD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0338" y="4908550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8" name="Line 6">
            <a:extLst>
              <a:ext uri="{FF2B5EF4-FFF2-40B4-BE49-F238E27FC236}">
                <a16:creationId xmlns:a16="http://schemas.microsoft.com/office/drawing/2014/main" id="{24B8BAE5-DB1C-F040-AC41-80D6E1093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4908550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9" name="Line 7">
            <a:extLst>
              <a:ext uri="{FF2B5EF4-FFF2-40B4-BE49-F238E27FC236}">
                <a16:creationId xmlns:a16="http://schemas.microsoft.com/office/drawing/2014/main" id="{86E3D525-2FCA-0A4E-B698-985183D8C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4908550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0" name="Line 8">
            <a:extLst>
              <a:ext uri="{FF2B5EF4-FFF2-40B4-BE49-F238E27FC236}">
                <a16:creationId xmlns:a16="http://schemas.microsoft.com/office/drawing/2014/main" id="{0C62E035-3830-AE42-B38F-7C01B01C9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4902200"/>
            <a:ext cx="0" cy="58261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1" name="Line 9">
            <a:extLst>
              <a:ext uri="{FF2B5EF4-FFF2-40B4-BE49-F238E27FC236}">
                <a16:creationId xmlns:a16="http://schemas.microsoft.com/office/drawing/2014/main" id="{C0BF13F0-9E45-FF46-9890-0CE5A3E1C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6675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2" name="Line 10">
            <a:extLst>
              <a:ext uri="{FF2B5EF4-FFF2-40B4-BE49-F238E27FC236}">
                <a16:creationId xmlns:a16="http://schemas.microsoft.com/office/drawing/2014/main" id="{4194D9CF-0942-534D-843C-98D0D5F71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3" name="Line 11">
            <a:extLst>
              <a:ext uri="{FF2B5EF4-FFF2-40B4-BE49-F238E27FC236}">
                <a16:creationId xmlns:a16="http://schemas.microsoft.com/office/drawing/2014/main" id="{234FBE3E-08FD-BB47-9DB1-746F0E97C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0138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4" name="Line 12">
            <a:extLst>
              <a:ext uri="{FF2B5EF4-FFF2-40B4-BE49-F238E27FC236}">
                <a16:creationId xmlns:a16="http://schemas.microsoft.com/office/drawing/2014/main" id="{FE969CBF-FB0A-E04E-B0D2-58E078FDA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5" name="Line 13">
            <a:extLst>
              <a:ext uri="{FF2B5EF4-FFF2-40B4-BE49-F238E27FC236}">
                <a16:creationId xmlns:a16="http://schemas.microsoft.com/office/drawing/2014/main" id="{8A0337A8-626E-8440-9C26-89A1D98BA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6" name="Line 14">
            <a:extLst>
              <a:ext uri="{FF2B5EF4-FFF2-40B4-BE49-F238E27FC236}">
                <a16:creationId xmlns:a16="http://schemas.microsoft.com/office/drawing/2014/main" id="{074D86A2-D9BB-DE40-BF0A-31DD51DF2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7" name="Line 15">
            <a:extLst>
              <a:ext uri="{FF2B5EF4-FFF2-40B4-BE49-F238E27FC236}">
                <a16:creationId xmlns:a16="http://schemas.microsoft.com/office/drawing/2014/main" id="{63AB969F-1D70-6547-8D60-63C5E11B8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3713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8" name="Line 16">
            <a:extLst>
              <a:ext uri="{FF2B5EF4-FFF2-40B4-BE49-F238E27FC236}">
                <a16:creationId xmlns:a16="http://schemas.microsoft.com/office/drawing/2014/main" id="{293D8EC1-41AE-A44D-8CCF-5625CEE44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6450" y="4930775"/>
            <a:ext cx="0" cy="582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9" name="Line 17">
            <a:extLst>
              <a:ext uri="{FF2B5EF4-FFF2-40B4-BE49-F238E27FC236}">
                <a16:creationId xmlns:a16="http://schemas.microsoft.com/office/drawing/2014/main" id="{4812C9E0-6EA2-574F-9CCB-14555F20D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7600" y="5602288"/>
            <a:ext cx="0" cy="9636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0" name="Line 18">
            <a:extLst>
              <a:ext uri="{FF2B5EF4-FFF2-40B4-BE49-F238E27FC236}">
                <a16:creationId xmlns:a16="http://schemas.microsoft.com/office/drawing/2014/main" id="{68EBE9EC-0A61-1F4E-9029-96997B077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5580063"/>
            <a:ext cx="0" cy="4254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1" name="Line 19">
            <a:extLst>
              <a:ext uri="{FF2B5EF4-FFF2-40B4-BE49-F238E27FC236}">
                <a16:creationId xmlns:a16="http://schemas.microsoft.com/office/drawing/2014/main" id="{F929D5BF-FF61-584E-8A76-02ACD11F6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1600" y="5580063"/>
            <a:ext cx="0" cy="9413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2" name="Line 20">
            <a:extLst>
              <a:ext uri="{FF2B5EF4-FFF2-40B4-BE49-F238E27FC236}">
                <a16:creationId xmlns:a16="http://schemas.microsoft.com/office/drawing/2014/main" id="{66D0317E-BC1D-394F-B8D9-2C86E14EE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7600" y="5803900"/>
            <a:ext cx="1108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3" name="Line 21">
            <a:extLst>
              <a:ext uri="{FF2B5EF4-FFF2-40B4-BE49-F238E27FC236}">
                <a16:creationId xmlns:a16="http://schemas.microsoft.com/office/drawing/2014/main" id="{45E2D656-BA03-1740-A349-BB0E36E5E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5850" y="5826125"/>
            <a:ext cx="11493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4" name="Text Box 22">
            <a:extLst>
              <a:ext uri="{FF2B5EF4-FFF2-40B4-BE49-F238E27FC236}">
                <a16:creationId xmlns:a16="http://schemas.microsoft.com/office/drawing/2014/main" id="{6784D988-1DDE-A24B-8F74-D696B81A8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648325"/>
            <a:ext cx="11493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数据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(n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位)</a:t>
            </a:r>
          </a:p>
        </p:txBody>
      </p:sp>
      <p:sp>
        <p:nvSpPr>
          <p:cNvPr id="120855" name="Line 23">
            <a:extLst>
              <a:ext uri="{FF2B5EF4-FFF2-40B4-BE49-F238E27FC236}">
                <a16:creationId xmlns:a16="http://schemas.microsoft.com/office/drawing/2014/main" id="{A1C2975D-BE58-044F-A938-2DE0C5A63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5826125"/>
            <a:ext cx="647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6" name="Line 24">
            <a:extLst>
              <a:ext uri="{FF2B5EF4-FFF2-40B4-BE49-F238E27FC236}">
                <a16:creationId xmlns:a16="http://schemas.microsoft.com/office/drawing/2014/main" id="{0D641B8F-0746-5B48-80F5-868F409530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5848350"/>
            <a:ext cx="7318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7" name="Text Box 25">
            <a:extLst>
              <a:ext uri="{FF2B5EF4-FFF2-40B4-BE49-F238E27FC236}">
                <a16:creationId xmlns:a16="http://schemas.microsoft.com/office/drawing/2014/main" id="{C84714BF-6E1D-5F42-B927-FA066E080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624513"/>
            <a:ext cx="13589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校验位(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k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位)</a:t>
            </a:r>
          </a:p>
        </p:txBody>
      </p:sp>
      <p:sp>
        <p:nvSpPr>
          <p:cNvPr id="120858" name="Line 26">
            <a:extLst>
              <a:ext uri="{FF2B5EF4-FFF2-40B4-BE49-F238E27FC236}">
                <a16:creationId xmlns:a16="http://schemas.microsoft.com/office/drawing/2014/main" id="{012C11A5-4234-C947-9C0C-D29EBDD89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8238" y="6467475"/>
            <a:ext cx="22780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9" name="Line 27">
            <a:extLst>
              <a:ext uri="{FF2B5EF4-FFF2-40B4-BE49-F238E27FC236}">
                <a16:creationId xmlns:a16="http://schemas.microsoft.com/office/drawing/2014/main" id="{8CF92239-E365-264B-923C-3F5F1B0BB2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3350" y="6489700"/>
            <a:ext cx="24876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0" name="Text Box 28">
            <a:extLst>
              <a:ext uri="{FF2B5EF4-FFF2-40B4-BE49-F238E27FC236}">
                <a16:creationId xmlns:a16="http://schemas.microsoft.com/office/drawing/2014/main" id="{D130A392-B6C6-E846-BFD2-725749BA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50" y="6324600"/>
            <a:ext cx="181768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码(</a:t>
            </a:r>
            <a:r>
              <a:rPr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n+k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位)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0FF439F-92E9-3E45-89BE-4E1BF522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循环冗余码举例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918B22FD-4A80-6C45-A5AF-649EF5C91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889000"/>
            <a:ext cx="8705850" cy="5205413"/>
          </a:xfrm>
        </p:spPr>
        <p:txBody>
          <a:bodyPr/>
          <a:lstStyle/>
          <a:p>
            <a:pPr marL="342900" indent="-342900">
              <a:buFont typeface="Wingdings" pitchFamily="2" charset="2"/>
              <a:buNone/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400">
                <a:ea typeface="黑体" panose="02010609060101010101" pitchFamily="49" charset="-122"/>
              </a:rPr>
              <a:t>校验位的生成：用一个例子来说明校验位的生成过程。</a:t>
            </a:r>
          </a:p>
          <a:p>
            <a:pPr marL="742950" lvl="1" indent="-285750">
              <a:spcBef>
                <a:spcPct val="5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假设要传送的数据信息为：100011，即报文多项式为：</a:t>
            </a:r>
          </a:p>
          <a:p>
            <a:pPr marL="742950" lvl="1" indent="-285750">
              <a:spcBef>
                <a:spcPct val="50000"/>
              </a:spcBef>
              <a:buFontTx/>
              <a:buNone/>
            </a:pPr>
            <a:r>
              <a:rPr lang="en-US" altLang="zh-CN" sz="2400">
                <a:ea typeface="黑体" panose="02010609060101010101" pitchFamily="49" charset="-122"/>
              </a:rPr>
              <a:t>               M(x)= x</a:t>
            </a:r>
            <a:r>
              <a:rPr lang="en-US" altLang="zh-CN" sz="2400" baseline="30000">
                <a:ea typeface="黑体" panose="02010609060101010101" pitchFamily="49" charset="-122"/>
              </a:rPr>
              <a:t>5</a:t>
            </a:r>
            <a:r>
              <a:rPr lang="en-US" altLang="zh-CN" sz="2400">
                <a:ea typeface="黑体" panose="02010609060101010101" pitchFamily="49" charset="-122"/>
              </a:rPr>
              <a:t> + x + 1。</a:t>
            </a:r>
            <a:r>
              <a:rPr lang="zh-CN" altLang="en-US" sz="2400">
                <a:ea typeface="黑体" panose="02010609060101010101" pitchFamily="49" charset="-122"/>
              </a:rPr>
              <a:t>数据信息位数</a:t>
            </a:r>
            <a:r>
              <a:rPr lang="en-US" altLang="zh-CN" sz="2400">
                <a:ea typeface="黑体" panose="02010609060101010101" pitchFamily="49" charset="-122"/>
              </a:rPr>
              <a:t>n=6。</a:t>
            </a:r>
          </a:p>
          <a:p>
            <a:pPr marL="742950" lvl="1" indent="-28575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若约定的生成多项式为：</a:t>
            </a:r>
            <a:r>
              <a:rPr lang="en-US" altLang="zh-CN" sz="2400">
                <a:ea typeface="黑体" panose="02010609060101010101" pitchFamily="49" charset="-122"/>
              </a:rPr>
              <a:t>G(x)= x</a:t>
            </a:r>
            <a:r>
              <a:rPr lang="en-US" altLang="zh-CN" sz="2400" baseline="30000">
                <a:ea typeface="黑体" panose="02010609060101010101" pitchFamily="49" charset="-122"/>
              </a:rPr>
              <a:t>3</a:t>
            </a:r>
            <a:r>
              <a:rPr lang="en-US" altLang="zh-CN" sz="2400">
                <a:ea typeface="黑体" panose="02010609060101010101" pitchFamily="49" charset="-122"/>
              </a:rPr>
              <a:t>+ 1，</a:t>
            </a:r>
            <a:r>
              <a:rPr lang="zh-CN" altLang="en-US" sz="2400">
                <a:ea typeface="黑体" panose="02010609060101010101" pitchFamily="49" charset="-122"/>
              </a:rPr>
              <a:t>则生成多项式位数为4位，所以校验位位数</a:t>
            </a:r>
            <a:r>
              <a:rPr lang="en-US" altLang="zh-CN" sz="2400">
                <a:ea typeface="黑体" panose="02010609060101010101" pitchFamily="49" charset="-122"/>
              </a:rPr>
              <a:t>k=3</a:t>
            </a:r>
            <a:r>
              <a:rPr lang="zh-CN" altLang="en-US" sz="2400">
                <a:ea typeface="黑体" panose="02010609060101010101" pitchFamily="49" charset="-122"/>
              </a:rPr>
              <a:t>，除数为</a:t>
            </a:r>
            <a:r>
              <a:rPr lang="en-US" altLang="zh-CN" sz="2400">
                <a:ea typeface="黑体" panose="02010609060101010101" pitchFamily="49" charset="-122"/>
              </a:rPr>
              <a:t>1001</a:t>
            </a:r>
            <a:r>
              <a:rPr lang="zh-CN" altLang="en-US" sz="2400">
                <a:ea typeface="黑体" panose="02010609060101010101" pitchFamily="49" charset="-122"/>
              </a:rPr>
              <a:t>。</a:t>
            </a:r>
          </a:p>
          <a:p>
            <a:pPr marL="742950" lvl="1" indent="-285750">
              <a:spcBef>
                <a:spcPct val="5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生成校验位时，用</a:t>
            </a:r>
            <a:r>
              <a:rPr lang="en-US" altLang="zh-CN" sz="2400">
                <a:ea typeface="黑体" panose="02010609060101010101" pitchFamily="49" charset="-122"/>
              </a:rPr>
              <a:t>x</a:t>
            </a:r>
            <a:r>
              <a:rPr lang="en-US" altLang="zh-CN" sz="2400" baseline="30000">
                <a:ea typeface="黑体" panose="02010609060101010101" pitchFamily="49" charset="-122"/>
              </a:rPr>
              <a:t>3</a:t>
            </a:r>
            <a:r>
              <a:rPr lang="en-US" altLang="zh-CN" sz="2400" b="0" baseline="30000">
                <a:ea typeface="黑体" panose="02010609060101010101" pitchFamily="49" charset="-122"/>
              </a:rPr>
              <a:t>.</a:t>
            </a:r>
            <a:r>
              <a:rPr lang="en-US" altLang="zh-CN" sz="2400">
                <a:ea typeface="黑体" panose="02010609060101010101" pitchFamily="49" charset="-122"/>
              </a:rPr>
              <a:t>M(x)</a:t>
            </a:r>
            <a:r>
              <a:rPr lang="zh-CN" altLang="en-US" sz="2400">
                <a:ea typeface="黑体" panose="02010609060101010101" pitchFamily="49" charset="-122"/>
              </a:rPr>
              <a:t>去除以</a:t>
            </a:r>
            <a:r>
              <a:rPr lang="en-US" altLang="zh-CN" sz="2400">
                <a:ea typeface="黑体" panose="02010609060101010101" pitchFamily="49" charset="-122"/>
              </a:rPr>
              <a:t>G(x)</a:t>
            </a:r>
            <a:r>
              <a:rPr lang="zh-CN" altLang="en-US" sz="2400">
                <a:ea typeface="黑体" panose="02010609060101010101" pitchFamily="49" charset="-122"/>
              </a:rPr>
              <a:t>，即：</a:t>
            </a:r>
            <a:r>
              <a:rPr lang="en-US" altLang="zh-CN" sz="2400">
                <a:ea typeface="黑体" panose="02010609060101010101" pitchFamily="49" charset="-122"/>
              </a:rPr>
              <a:t>100011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000</a:t>
            </a:r>
            <a:r>
              <a:rPr lang="en-US" altLang="zh-CN" sz="2400">
                <a:solidFill>
                  <a:srgbClr val="000099"/>
                </a:solidFill>
                <a:ea typeface="黑体" panose="02010609060101010101" pitchFamily="49" charset="-122"/>
              </a:rPr>
              <a:t>÷</a:t>
            </a:r>
            <a:r>
              <a:rPr lang="en-US" altLang="zh-CN" sz="2400">
                <a:ea typeface="黑体" panose="02010609060101010101" pitchFamily="49" charset="-122"/>
              </a:rPr>
              <a:t>1001</a:t>
            </a:r>
            <a:r>
              <a:rPr lang="zh-CN" altLang="en-US" sz="2400">
                <a:ea typeface="黑体" panose="02010609060101010101" pitchFamily="49" charset="-122"/>
              </a:rPr>
              <a:t>。</a:t>
            </a:r>
          </a:p>
          <a:p>
            <a:pPr marL="742950" lvl="1" indent="-285750">
              <a:spcBef>
                <a:spcPct val="50000"/>
              </a:spcBef>
            </a:pPr>
            <a:r>
              <a:rPr lang="zh-CN" altLang="en-US" sz="2400">
                <a:ea typeface="黑体" panose="02010609060101010101" pitchFamily="49" charset="-122"/>
              </a:rPr>
              <a:t>相除时采用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“模</a:t>
            </a:r>
            <a:r>
              <a:rPr lang="en-US" altLang="zh-CN" sz="24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CC0000"/>
                </a:solidFill>
                <a:ea typeface="黑体" panose="02010609060101010101" pitchFamily="49" charset="-122"/>
              </a:rPr>
              <a:t>运算”</a:t>
            </a:r>
            <a:r>
              <a:rPr lang="zh-CN" altLang="en-US" sz="2400">
                <a:ea typeface="黑体" panose="02010609060101010101" pitchFamily="49" charset="-122"/>
              </a:rPr>
              <a:t>的多项式除法。</a:t>
            </a:r>
          </a:p>
          <a:p>
            <a:pPr marL="742950" lvl="1" indent="-285750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7E8381BC-0770-714D-9D1B-910478169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循环冗余码举例</a:t>
            </a:r>
          </a:p>
        </p:txBody>
      </p:sp>
      <p:grpSp>
        <p:nvGrpSpPr>
          <p:cNvPr id="123907" name="Group 3">
            <a:extLst>
              <a:ext uri="{FF2B5EF4-FFF2-40B4-BE49-F238E27FC236}">
                <a16:creationId xmlns:a16="http://schemas.microsoft.com/office/drawing/2014/main" id="{CF4854D7-C8FD-EF4A-AF45-DFB9A0B8C8AB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1357313"/>
            <a:ext cx="2247900" cy="4954587"/>
            <a:chOff x="152" y="855"/>
            <a:chExt cx="1416" cy="3121"/>
          </a:xfrm>
        </p:grpSpPr>
        <p:sp>
          <p:nvSpPr>
            <p:cNvPr id="123912" name="Line 4">
              <a:extLst>
                <a:ext uri="{FF2B5EF4-FFF2-40B4-BE49-F238E27FC236}">
                  <a16:creationId xmlns:a16="http://schemas.microsoft.com/office/drawing/2014/main" id="{BBA9425C-8AC2-724F-9886-76172756C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" y="1074"/>
              <a:ext cx="72" cy="3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3" name="Line 5">
              <a:extLst>
                <a:ext uri="{FF2B5EF4-FFF2-40B4-BE49-F238E27FC236}">
                  <a16:creationId xmlns:a16="http://schemas.microsoft.com/office/drawing/2014/main" id="{A8C71A29-EBDF-EB48-81D8-B74E7282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" y="1074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4" name="Text Box 6">
              <a:extLst>
                <a:ext uri="{FF2B5EF4-FFF2-40B4-BE49-F238E27FC236}">
                  <a16:creationId xmlns:a16="http://schemas.microsoft.com/office/drawing/2014/main" id="{BF75E7DD-0AC0-3144-B623-A9CE4BB57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" y="1112"/>
              <a:ext cx="87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100011000</a:t>
              </a:r>
            </a:p>
          </p:txBody>
        </p:sp>
        <p:sp>
          <p:nvSpPr>
            <p:cNvPr id="123915" name="Text Box 7">
              <a:extLst>
                <a:ext uri="{FF2B5EF4-FFF2-40B4-BE49-F238E27FC236}">
                  <a16:creationId xmlns:a16="http://schemas.microsoft.com/office/drawing/2014/main" id="{03AD3F70-643A-2A4F-BE3A-A9E4B787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" y="855"/>
              <a:ext cx="52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100111</a:t>
              </a:r>
            </a:p>
          </p:txBody>
        </p:sp>
        <p:sp>
          <p:nvSpPr>
            <p:cNvPr id="123916" name="Text Box 8">
              <a:extLst>
                <a:ext uri="{FF2B5EF4-FFF2-40B4-BE49-F238E27FC236}">
                  <a16:creationId xmlns:a16="http://schemas.microsoft.com/office/drawing/2014/main" id="{2E8EBB90-AD0F-C14F-B451-C093477CF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302"/>
              <a:ext cx="496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123917" name="Line 9">
              <a:extLst>
                <a:ext uri="{FF2B5EF4-FFF2-40B4-BE49-F238E27FC236}">
                  <a16:creationId xmlns:a16="http://schemas.microsoft.com/office/drawing/2014/main" id="{89684640-455D-EE4B-8795-88862C06D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" y="1543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8" name="Text Box 10">
              <a:extLst>
                <a:ext uri="{FF2B5EF4-FFF2-40B4-BE49-F238E27FC236}">
                  <a16:creationId xmlns:a16="http://schemas.microsoft.com/office/drawing/2014/main" id="{CED4BA08-DCCF-B349-9BFE-EF78E293C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556"/>
              <a:ext cx="5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0011</a:t>
              </a:r>
            </a:p>
          </p:txBody>
        </p:sp>
        <p:sp>
          <p:nvSpPr>
            <p:cNvPr id="123919" name="Text Box 11">
              <a:extLst>
                <a:ext uri="{FF2B5EF4-FFF2-40B4-BE49-F238E27FC236}">
                  <a16:creationId xmlns:a16="http://schemas.microsoft.com/office/drawing/2014/main" id="{1044332B-9486-A54A-B406-D73A82BF5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746"/>
              <a:ext cx="51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</a:t>
              </a:r>
            </a:p>
          </p:txBody>
        </p:sp>
        <p:sp>
          <p:nvSpPr>
            <p:cNvPr id="123920" name="Line 12">
              <a:extLst>
                <a:ext uri="{FF2B5EF4-FFF2-40B4-BE49-F238E27FC236}">
                  <a16:creationId xmlns:a16="http://schemas.microsoft.com/office/drawing/2014/main" id="{05AFABFE-5F60-3F4C-A22A-11E4A46FC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" y="1961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1" name="Text Box 13">
              <a:extLst>
                <a:ext uri="{FF2B5EF4-FFF2-40B4-BE49-F238E27FC236}">
                  <a16:creationId xmlns:a16="http://schemas.microsoft.com/office/drawing/2014/main" id="{4D4A9418-3537-464B-8DAE-F49B42A39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987"/>
              <a:ext cx="46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0111</a:t>
              </a:r>
            </a:p>
          </p:txBody>
        </p:sp>
        <p:sp>
          <p:nvSpPr>
            <p:cNvPr id="123922" name="Text Box 14">
              <a:extLst>
                <a:ext uri="{FF2B5EF4-FFF2-40B4-BE49-F238E27FC236}">
                  <a16:creationId xmlns:a16="http://schemas.microsoft.com/office/drawing/2014/main" id="{2FD41A32-3171-8D4E-9A70-72B0D2AA9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189"/>
              <a:ext cx="38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</a:t>
              </a:r>
            </a:p>
          </p:txBody>
        </p:sp>
        <p:sp>
          <p:nvSpPr>
            <p:cNvPr id="123923" name="Text Box 15">
              <a:extLst>
                <a:ext uri="{FF2B5EF4-FFF2-40B4-BE49-F238E27FC236}">
                  <a16:creationId xmlns:a16="http://schemas.microsoft.com/office/drawing/2014/main" id="{582F54E1-CD1D-A940-B958-6067D875C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2430"/>
              <a:ext cx="43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1110</a:t>
              </a:r>
            </a:p>
          </p:txBody>
        </p:sp>
        <p:sp>
          <p:nvSpPr>
            <p:cNvPr id="123924" name="Line 16">
              <a:extLst>
                <a:ext uri="{FF2B5EF4-FFF2-40B4-BE49-F238E27FC236}">
                  <a16:creationId xmlns:a16="http://schemas.microsoft.com/office/drawing/2014/main" id="{813A8F99-B961-4942-846A-26A56AEE5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" y="2417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5" name="Text Box 17">
              <a:extLst>
                <a:ext uri="{FF2B5EF4-FFF2-40B4-BE49-F238E27FC236}">
                  <a16:creationId xmlns:a16="http://schemas.microsoft.com/office/drawing/2014/main" id="{F2AA732E-3BEE-6A41-BAEE-0EC8F62E2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2620"/>
              <a:ext cx="52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123926" name="Line 18">
              <a:extLst>
                <a:ext uri="{FF2B5EF4-FFF2-40B4-BE49-F238E27FC236}">
                  <a16:creationId xmlns:a16="http://schemas.microsoft.com/office/drawing/2014/main" id="{6BF99214-C781-0149-B671-0201CD985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" y="2861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7" name="Text Box 19">
              <a:extLst>
                <a:ext uri="{FF2B5EF4-FFF2-40B4-BE49-F238E27FC236}">
                  <a16:creationId xmlns:a16="http://schemas.microsoft.com/office/drawing/2014/main" id="{E67611CF-63E2-D943-8452-DE7728F67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2874"/>
              <a:ext cx="45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1110</a:t>
              </a:r>
            </a:p>
          </p:txBody>
        </p:sp>
        <p:sp>
          <p:nvSpPr>
            <p:cNvPr id="123928" name="Text Box 20">
              <a:extLst>
                <a:ext uri="{FF2B5EF4-FFF2-40B4-BE49-F238E27FC236}">
                  <a16:creationId xmlns:a16="http://schemas.microsoft.com/office/drawing/2014/main" id="{1904232F-0AAD-B14D-B8D7-9F8ACF43B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9" y="3064"/>
              <a:ext cx="69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123929" name="Line 21">
              <a:extLst>
                <a:ext uri="{FF2B5EF4-FFF2-40B4-BE49-F238E27FC236}">
                  <a16:creationId xmlns:a16="http://schemas.microsoft.com/office/drawing/2014/main" id="{03221178-43C2-054D-800A-169CF0345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3292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0" name="Text Box 22">
              <a:extLst>
                <a:ext uri="{FF2B5EF4-FFF2-40B4-BE49-F238E27FC236}">
                  <a16:creationId xmlns:a16="http://schemas.microsoft.com/office/drawing/2014/main" id="{43AB7F2A-6087-A74A-A10A-AF066A9C7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" y="3304"/>
              <a:ext cx="44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1110</a:t>
              </a:r>
            </a:p>
          </p:txBody>
        </p:sp>
        <p:sp>
          <p:nvSpPr>
            <p:cNvPr id="123931" name="Text Box 23">
              <a:extLst>
                <a:ext uri="{FF2B5EF4-FFF2-40B4-BE49-F238E27FC236}">
                  <a16:creationId xmlns:a16="http://schemas.microsoft.com/office/drawing/2014/main" id="{1C1A0706-B4D1-4048-A83A-6ABEFD163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" y="3494"/>
              <a:ext cx="51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123932" name="Line 24">
              <a:extLst>
                <a:ext uri="{FF2B5EF4-FFF2-40B4-BE49-F238E27FC236}">
                  <a16:creationId xmlns:a16="http://schemas.microsoft.com/office/drawing/2014/main" id="{A35BFEBA-D2C4-9449-8D16-1B08E8183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3710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3" name="Text Box 25">
              <a:extLst>
                <a:ext uri="{FF2B5EF4-FFF2-40B4-BE49-F238E27FC236}">
                  <a16:creationId xmlns:a16="http://schemas.microsoft.com/office/drawing/2014/main" id="{DC19B836-4330-F540-B0FD-6623E0045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3735"/>
              <a:ext cx="27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</a:t>
              </a:r>
            </a:p>
          </p:txBody>
        </p:sp>
        <p:sp>
          <p:nvSpPr>
            <p:cNvPr id="123934" name="Text Box 26">
              <a:extLst>
                <a:ext uri="{FF2B5EF4-FFF2-40B4-BE49-F238E27FC236}">
                  <a16:creationId xmlns:a16="http://schemas.microsoft.com/office/drawing/2014/main" id="{2E07EEDA-FE84-E548-A48C-1F69D04CB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" y="1121"/>
              <a:ext cx="359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123935" name="Line 27">
              <a:extLst>
                <a:ext uri="{FF2B5EF4-FFF2-40B4-BE49-F238E27FC236}">
                  <a16:creationId xmlns:a16="http://schemas.microsoft.com/office/drawing/2014/main" id="{785FF9D2-29EE-0841-90F0-652783EC2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" y="3857"/>
              <a:ext cx="270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908" name="Rectangle 28">
            <a:extLst>
              <a:ext uri="{FF2B5EF4-FFF2-40B4-BE49-F238E27FC236}">
                <a16:creationId xmlns:a16="http://schemas.microsoft.com/office/drawing/2014/main" id="{FB5A1401-AB20-3A45-A70C-52277F85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822325"/>
            <a:ext cx="60102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200" b="1" baseline="30000">
                <a:solidFill>
                  <a:srgbClr val="000099"/>
                </a:solidFill>
                <a:ea typeface="宋体" panose="02010600030101010101" pitchFamily="2" charset="-122"/>
              </a:rPr>
              <a:t>3.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M(x</a:t>
            </a:r>
            <a:r>
              <a:rPr lang="en-US" altLang="zh-CN" sz="2200" b="1">
                <a:solidFill>
                  <a:srgbClr val="000000"/>
                </a:solidFill>
                <a:ea typeface="宋体" panose="02010600030101010101" pitchFamily="2" charset="-122"/>
              </a:rPr>
              <a:t>)÷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G(x)＝(x</a:t>
            </a:r>
            <a:r>
              <a:rPr lang="en-US" altLang="zh-CN" sz="2200" b="1" baseline="30000">
                <a:solidFill>
                  <a:srgbClr val="000099"/>
                </a:solidFill>
                <a:ea typeface="宋体" panose="02010600030101010101" pitchFamily="2" charset="-122"/>
              </a:rPr>
              <a:t>8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+ x</a:t>
            </a:r>
            <a:r>
              <a:rPr lang="en-US" altLang="zh-CN" sz="2200" b="1" baseline="30000">
                <a:solidFill>
                  <a:srgbClr val="000099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 + x</a:t>
            </a:r>
            <a:r>
              <a:rPr lang="en-US" altLang="zh-CN" sz="2200" b="1" baseline="30000">
                <a:solidFill>
                  <a:srgbClr val="000099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)÷(x</a:t>
            </a:r>
            <a:r>
              <a:rPr lang="en-US" altLang="zh-CN" sz="2200" b="1" baseline="30000">
                <a:solidFill>
                  <a:srgbClr val="000099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 + 1)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1613" name="Rectangle 29">
            <a:extLst>
              <a:ext uri="{FF2B5EF4-FFF2-40B4-BE49-F238E27FC236}">
                <a16:creationId xmlns:a16="http://schemas.microsoft.com/office/drawing/2014/main" id="{E20C38A4-1DC1-AA44-86BE-D7F507DE1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3949700"/>
            <a:ext cx="5957888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校验位为111，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码为100011 111。如果要校验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码，可将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码用同一个多项式相除，若余数为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，则说明无错；否则说明有错。例如，若在接收方的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码也为100011 111时，用同一个多项式相除后余数为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。若接收方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CRC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码不为100011 111时，余数则不为</a:t>
            </a:r>
            <a:r>
              <a:rPr lang="en-US" altLang="zh-CN" sz="2200" b="1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200" b="1">
                <a:solidFill>
                  <a:srgbClr val="000000"/>
                </a:solidFill>
                <a:ea typeface="黑体" panose="02010609060101010101" pitchFamily="49" charset="-122"/>
              </a:rPr>
              <a:t>。</a:t>
            </a:r>
            <a:r>
              <a:rPr lang="zh-CN" altLang="en-US" sz="1800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1614" name="Rectangle 30">
            <a:extLst>
              <a:ext uri="{FF2B5EF4-FFF2-40B4-BE49-F238E27FC236}">
                <a16:creationId xmlns:a16="http://schemas.microsoft.com/office/drawing/2014/main" id="{042707DE-F7BF-6B4D-9722-1E1FBEF25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1316038"/>
            <a:ext cx="6346825" cy="253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kumimoji="1" lang="zh-CN" altLang="en-US" sz="2200" b="1">
                <a:solidFill>
                  <a:srgbClr val="006600"/>
                </a:solidFill>
                <a:ea typeface="黑体" panose="02010609060101010101" pitchFamily="49" charset="-122"/>
              </a:rPr>
              <a:t>(模</a:t>
            </a:r>
            <a:r>
              <a:rPr kumimoji="1" lang="en-US" altLang="zh-CN" sz="2200" b="1">
                <a:solidFill>
                  <a:srgbClr val="006600"/>
                </a:solidFill>
                <a:ea typeface="黑体" panose="02010609060101010101" pitchFamily="49" charset="-122"/>
              </a:rPr>
              <a:t>2</a:t>
            </a:r>
            <a:r>
              <a:rPr kumimoji="1" lang="zh-CN" altLang="en-US" sz="2200" b="1">
                <a:solidFill>
                  <a:srgbClr val="006600"/>
                </a:solidFill>
                <a:ea typeface="黑体" panose="02010609060101010101" pitchFamily="49" charset="-122"/>
              </a:rPr>
              <a:t>运算不考虑加法进位和减法借位，上商的原则是当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部分余数首位是１时商取１，反之商取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200" b="1">
                <a:solidFill>
                  <a:srgbClr val="006600"/>
                </a:solidFill>
                <a:ea typeface="黑体" panose="02010609060101010101" pitchFamily="49" charset="-122"/>
              </a:rPr>
              <a:t>。然后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按模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相减</a:t>
            </a:r>
            <a:r>
              <a:rPr kumimoji="1" lang="zh-CN" altLang="en-US" sz="2200" b="1">
                <a:solidFill>
                  <a:srgbClr val="006600"/>
                </a:solidFill>
                <a:ea typeface="黑体" panose="02010609060101010101" pitchFamily="49" charset="-122"/>
              </a:rPr>
              <a:t>原则求得最高位后面几位的余数。这样当被除数逐步除完时，最后的余数位数比除数少一位。这样得到的余数就是校验位，此例中最终的余数有3位。) </a:t>
            </a:r>
          </a:p>
        </p:txBody>
      </p:sp>
      <p:sp>
        <p:nvSpPr>
          <p:cNvPr id="123911" name="TextBox 30">
            <a:extLst>
              <a:ext uri="{FF2B5EF4-FFF2-40B4-BE49-F238E27FC236}">
                <a16:creationId xmlns:a16="http://schemas.microsoft.com/office/drawing/2014/main" id="{67CF29BB-2289-1D4E-85D5-F87746DF5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5935663"/>
            <a:ext cx="739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余数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613" grpId="0"/>
      <p:bldP spid="451614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DEFB6BAD-A8F7-C44D-9F80-FF895267F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循环冗余码举例</a:t>
            </a:r>
          </a:p>
        </p:txBody>
      </p:sp>
      <p:sp>
        <p:nvSpPr>
          <p:cNvPr id="124931" name="Rectangle 28">
            <a:extLst>
              <a:ext uri="{FF2B5EF4-FFF2-40B4-BE49-F238E27FC236}">
                <a16:creationId xmlns:a16="http://schemas.microsoft.com/office/drawing/2014/main" id="{3D6BF733-FCD4-2F4B-862A-7A9451455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822325"/>
            <a:ext cx="60102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200" b="1">
                <a:solidFill>
                  <a:srgbClr val="000099"/>
                </a:solidFill>
                <a:ea typeface="宋体" panose="02010600030101010101" pitchFamily="2" charset="-122"/>
              </a:rPr>
              <a:t>表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7.2                              G(x)＝1011</a:t>
            </a:r>
            <a:endParaRPr lang="en-US" altLang="zh-CN" sz="24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2" name="文本框 33">
            <a:extLst>
              <a:ext uri="{FF2B5EF4-FFF2-40B4-BE49-F238E27FC236}">
                <a16:creationId xmlns:a16="http://schemas.microsoft.com/office/drawing/2014/main" id="{CE87B6FA-DA79-9C47-AE8C-AE0071359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25" y="1727200"/>
            <a:ext cx="327501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200" b="1">
                <a:latin typeface="Times New Roman" panose="02020603050405020304" pitchFamily="18" charset="0"/>
                <a:ea typeface="宋体" panose="02010600030101010101" pitchFamily="2" charset="-122"/>
              </a:rPr>
              <a:t>补充材料：</a:t>
            </a:r>
            <a:endParaRPr lang="en-US" altLang="zh-CN" sz="2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200" b="1">
                <a:latin typeface="Times New Roman" panose="02020603050405020304" pitchFamily="18" charset="0"/>
                <a:ea typeface="宋体" panose="02010600030101010101" pitchFamily="2" charset="-122"/>
              </a:rPr>
              <a:t>https://www.cnblogs.com/wlyperfect/p/12552503.html</a:t>
            </a:r>
          </a:p>
        </p:txBody>
      </p:sp>
      <p:pic>
        <p:nvPicPr>
          <p:cNvPr id="124933" name="图片 2">
            <a:extLst>
              <a:ext uri="{FF2B5EF4-FFF2-40B4-BE49-F238E27FC236}">
                <a16:creationId xmlns:a16="http://schemas.microsoft.com/office/drawing/2014/main" id="{0616D764-6341-6546-8E61-9B4FBCF6F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527175"/>
            <a:ext cx="3711575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2184133641</TotalTime>
  <Pages>40</Pages>
  <Words>11954</Words>
  <Application>Microsoft Macintosh PowerPoint</Application>
  <PresentationFormat>全屏显示(4:3)</PresentationFormat>
  <Paragraphs>1316</Paragraphs>
  <Slides>99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99</vt:i4>
      </vt:variant>
    </vt:vector>
  </HeadingPairs>
  <TitlesOfParts>
    <vt:vector size="117" baseType="lpstr">
      <vt:lpstr>方正舒体</vt:lpstr>
      <vt:lpstr>黑体</vt:lpstr>
      <vt:lpstr>华文新魏</vt:lpstr>
      <vt:lpstr>宋体</vt:lpstr>
      <vt:lpstr>微软雅黑</vt:lpstr>
      <vt:lpstr>MS Gothic</vt:lpstr>
      <vt:lpstr>Arial</vt:lpstr>
      <vt:lpstr>Arial Black</vt:lpstr>
      <vt:lpstr>Arial Narrow</vt:lpstr>
      <vt:lpstr>Comic Sans MS</vt:lpstr>
      <vt:lpstr>Courier New</vt:lpstr>
      <vt:lpstr>Helvetica</vt:lpstr>
      <vt:lpstr>Times New Roman</vt:lpstr>
      <vt:lpstr>Wingdings</vt:lpstr>
      <vt:lpstr>lecture1</vt:lpstr>
      <vt:lpstr>VISIO</vt:lpstr>
      <vt:lpstr>公式</vt:lpstr>
      <vt:lpstr>Visio.Drawing.5</vt:lpstr>
      <vt:lpstr>Ch7: Memory Hierarchy  存储器层次结构  </vt:lpstr>
      <vt:lpstr>层次结构存储系统</vt:lpstr>
      <vt:lpstr>基本术语</vt:lpstr>
      <vt:lpstr>存储器分类</vt:lpstr>
      <vt:lpstr>存储器分类</vt:lpstr>
      <vt:lpstr>存储器分类</vt:lpstr>
      <vt:lpstr>内存与外存的关系及比较</vt:lpstr>
      <vt:lpstr>主存的结构</vt:lpstr>
      <vt:lpstr>主存的主要性能指标</vt:lpstr>
      <vt:lpstr>时间、存储容量（或带宽）的单位</vt:lpstr>
      <vt:lpstr>内部存储器的分类及应用</vt:lpstr>
      <vt:lpstr>六管静态MOS管电路（不作要求）</vt:lpstr>
      <vt:lpstr>       动态单管记忆单元电路（不作要求）</vt:lpstr>
      <vt:lpstr>半导体RAM的组织</vt:lpstr>
      <vt:lpstr>字片式存储体阵列组织（不作要求）</vt:lpstr>
      <vt:lpstr>位片式存储体阵列组织（不作要求）</vt:lpstr>
      <vt:lpstr>举例：典型的16M位DRAM（4Mx4）</vt:lpstr>
      <vt:lpstr>举例：典型的16M位DRAM（4Mx4）</vt:lpstr>
      <vt:lpstr>DRAM芯片的刷新</vt:lpstr>
      <vt:lpstr>CPU与存储器之间的通信方式</vt:lpstr>
      <vt:lpstr>SDRAM芯片技术</vt:lpstr>
      <vt:lpstr>PowerPoint 演示文稿</vt:lpstr>
      <vt:lpstr>只读存储器</vt:lpstr>
      <vt:lpstr>只读存储器(Read Only Memory)</vt:lpstr>
      <vt:lpstr>层次结构存储系统</vt:lpstr>
      <vt:lpstr>存储器芯片的扩展</vt:lpstr>
      <vt:lpstr>主存模块的连接和读写操作 </vt:lpstr>
      <vt:lpstr>举例：SPARCstation 20’s Memory Module</vt:lpstr>
      <vt:lpstr>PC机主存储器的物理结构</vt:lpstr>
      <vt:lpstr>举例：SPARCstation 20’s内存条(模块)</vt:lpstr>
      <vt:lpstr>举例：128MB的DRAM存储器</vt:lpstr>
      <vt:lpstr>举例：128MB的DRAM存储器</vt:lpstr>
      <vt:lpstr>举例：128MB的DRAM存储器</vt:lpstr>
      <vt:lpstr>计算机系统互连</vt:lpstr>
      <vt:lpstr>DRAM内存条结构</vt:lpstr>
      <vt:lpstr>SDRAM芯片的引脚</vt:lpstr>
      <vt:lpstr>DRAM芯片的规格</vt:lpstr>
      <vt:lpstr>主存模块的连接和读写操作</vt:lpstr>
      <vt:lpstr>主存模块的连接和读写操作</vt:lpstr>
      <vt:lpstr>指令“movl 8(%ebp), %eax”操作过程 </vt:lpstr>
      <vt:lpstr>指令“movl %eax,8(%ebp) ”操作过程 </vt:lpstr>
      <vt:lpstr>多模块存储器</vt:lpstr>
      <vt:lpstr>多模块存储器</vt:lpstr>
      <vt:lpstr>多模块存储器</vt:lpstr>
      <vt:lpstr>连续编址多模块存储器</vt:lpstr>
      <vt:lpstr>交叉编址多模块存储器</vt:lpstr>
      <vt:lpstr>交叉编址：轮流启动</vt:lpstr>
      <vt:lpstr>层次结构存储系统</vt:lpstr>
      <vt:lpstr>磁盘存储器的信息存储原理</vt:lpstr>
      <vt:lpstr>磁盘的磁道和扇区</vt:lpstr>
      <vt:lpstr>如何增大磁盘片的容量？</vt:lpstr>
      <vt:lpstr>磁盘磁道的格式</vt:lpstr>
      <vt:lpstr>平均存取时间</vt:lpstr>
      <vt:lpstr>磁盘响应时间计算举例</vt:lpstr>
      <vt:lpstr>硬盘存储器的组成</vt:lpstr>
      <vt:lpstr>硬盘驱动器的逻辑结构</vt:lpstr>
      <vt:lpstr>磁盘存储器的连接 </vt:lpstr>
      <vt:lpstr>读一个磁盘扇区–第一步</vt:lpstr>
      <vt:lpstr>读一个磁盘扇区–第二步</vt:lpstr>
      <vt:lpstr>读一个磁盘扇区–第三步</vt:lpstr>
      <vt:lpstr>冗余磁盘阵列(RAID)</vt:lpstr>
      <vt:lpstr> 冗余磁盘阵列 ( RAID 0 )</vt:lpstr>
      <vt:lpstr>冗余磁盘阵列 ( RAID 1 )</vt:lpstr>
      <vt:lpstr>冗余磁盘阵列 ( RAID2  )</vt:lpstr>
      <vt:lpstr>冗余磁盘阵列 ( RAID 3 )</vt:lpstr>
      <vt:lpstr>冗余磁盘阵列 ( RAID 4 )</vt:lpstr>
      <vt:lpstr>RAID4的少量写</vt:lpstr>
      <vt:lpstr>冗余磁盘阵列 ( RAID 5 )</vt:lpstr>
      <vt:lpstr>冗余磁盘阵列 ( RAID 6 )</vt:lpstr>
      <vt:lpstr>冗余磁盘阵列 ( RAID 7 )</vt:lpstr>
      <vt:lpstr>闪存（Flash Memory）</vt:lpstr>
      <vt:lpstr>闪存（Flash Memory）</vt:lpstr>
      <vt:lpstr>固态硬盘（SSD）</vt:lpstr>
      <vt:lpstr>固态硬盘（SSD）</vt:lpstr>
      <vt:lpstr>层次结构存储系统</vt:lpstr>
      <vt:lpstr>数据的检/纠错（Error Detect/Correct）</vt:lpstr>
      <vt:lpstr> 数据的检/纠错</vt:lpstr>
      <vt:lpstr>码字和码距</vt:lpstr>
      <vt:lpstr>奇偶校验码</vt:lpstr>
      <vt:lpstr>奇偶校验法的特点</vt:lpstr>
      <vt:lpstr>汉明（海明）校验码</vt:lpstr>
      <vt:lpstr>校验码位数的确定</vt:lpstr>
      <vt:lpstr>有效数据位数和校验码位数间的关系</vt:lpstr>
      <vt:lpstr>汉明码的分组</vt:lpstr>
      <vt:lpstr>汉明码的分组</vt:lpstr>
      <vt:lpstr>汉明校验码分组情况</vt:lpstr>
      <vt:lpstr>校验位的生成和检错、纠错</vt:lpstr>
      <vt:lpstr>汉明校验过程</vt:lpstr>
      <vt:lpstr>汉明码举例</vt:lpstr>
      <vt:lpstr>汉明码举例</vt:lpstr>
      <vt:lpstr>汉明码举例</vt:lpstr>
      <vt:lpstr>单纠错和双检错码</vt:lpstr>
      <vt:lpstr>单纠错和双检错码</vt:lpstr>
      <vt:lpstr>固态硬盘（SSD）的数据校验</vt:lpstr>
      <vt:lpstr>循环冗余码</vt:lpstr>
      <vt:lpstr>CRC码的检错方法</vt:lpstr>
      <vt:lpstr>循环冗余码举例</vt:lpstr>
      <vt:lpstr>循环冗余码举例</vt:lpstr>
      <vt:lpstr>循环冗余码举例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Ch7: Memory Hierarchy  存储器层次结构  </dc:title>
  <dc:subject>Designing a Multiple Cycle Processor</dc:subject>
  <dc:creator>CFYUAN</dc:creator>
  <cp:keywords/>
  <dc:description/>
  <cp:lastModifiedBy>Sen Liu</cp:lastModifiedBy>
  <cp:revision>1816</cp:revision>
  <cp:lastPrinted>1998-02-02T13:15:44Z</cp:lastPrinted>
  <dcterms:created xsi:type="dcterms:W3CDTF">1996-09-09T11:33:30Z</dcterms:created>
  <dcterms:modified xsi:type="dcterms:W3CDTF">2024-05-22T09:03:26Z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
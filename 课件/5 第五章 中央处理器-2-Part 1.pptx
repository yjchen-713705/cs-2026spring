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256" r:id="rId2"/>
    <p:sldId id="399" r:id="rId3"/>
    <p:sldId id="400" r:id="rId4"/>
    <p:sldId id="461" r:id="rId5"/>
    <p:sldId id="462" r:id="rId6"/>
    <p:sldId id="339" r:id="rId7"/>
    <p:sldId id="463" r:id="rId8"/>
    <p:sldId id="344" r:id="rId9"/>
    <p:sldId id="402" r:id="rId10"/>
    <p:sldId id="346" r:id="rId11"/>
    <p:sldId id="345" r:id="rId12"/>
    <p:sldId id="401" r:id="rId13"/>
    <p:sldId id="347" r:id="rId14"/>
    <p:sldId id="465" r:id="rId15"/>
    <p:sldId id="480" r:id="rId16"/>
    <p:sldId id="403" r:id="rId17"/>
    <p:sldId id="468" r:id="rId18"/>
    <p:sldId id="467" r:id="rId19"/>
    <p:sldId id="466" r:id="rId20"/>
    <p:sldId id="502" r:id="rId21"/>
    <p:sldId id="503" r:id="rId22"/>
  </p:sldIdLst>
  <p:sldSz cx="9144000" cy="6858000" type="screen4x3"/>
  <p:notesSz cx="7099300" cy="10234613"/>
  <p:kinsoku lang="zh-CN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6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16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16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16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302" autoAdjust="0"/>
    <p:restoredTop sz="81470" autoAdjust="0"/>
  </p:normalViewPr>
  <p:slideViewPr>
    <p:cSldViewPr snapToGrid="0">
      <p:cViewPr varScale="1">
        <p:scale>
          <a:sx n="82" d="100"/>
          <a:sy n="82" d="100"/>
        </p:scale>
        <p:origin x="752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61775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3" d="100"/>
          <a:sy n="53" d="100"/>
        </p:scale>
        <p:origin x="-1530" y="-72"/>
      </p:cViewPr>
      <p:guideLst>
        <p:guide orient="horz" pos="3224"/>
        <p:guide pos="2236"/>
      </p:guideLst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85A4F5BA-9A5E-6D40-9DF3-AE09CA8F7EAD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644525"/>
            <a:ext cx="5135563" cy="385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D63A2F36-25E0-D64C-AACC-6C17C7F4CB2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533400" y="4860925"/>
            <a:ext cx="6118225" cy="46069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00269" tIns="49255" rIns="100269" bIns="4925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We want this to be in font 11 and justify.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just" rtl="0" eaLnBrk="0" fontAlgn="base" hangingPunct="0">
      <a:lnSpc>
        <a:spcPct val="90000"/>
      </a:lnSpc>
      <a:spcBef>
        <a:spcPct val="40000"/>
      </a:spcBef>
      <a:spcAft>
        <a:spcPct val="0"/>
      </a:spcAft>
      <a:defRPr sz="11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D279F282-72F9-2F45-AD9E-514FFF2443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zh-CN" dirty="0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8AFC47A9-8D04-E84B-A1CF-2C31EF0F0A9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6BE29005-0A7D-A44B-AAB2-BFD99B003A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D82B8D90-460B-BC43-9E22-C139AA8DF9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385AE747-1A8D-9A41-AE44-45DFC2CD7A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4094163"/>
            <a:ext cx="6118225" cy="53736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0753" tIns="49493" rIns="100753" bIns="49493"/>
          <a:lstStyle/>
          <a:p>
            <a:endParaRPr lang="en-US" altLang="zh-CN" dirty="0"/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4333828C-50B1-2741-88FE-A83E89BB8BD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27163" y="644525"/>
            <a:ext cx="4259262" cy="3194050"/>
          </a:xfr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666402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84F39222-3DBD-2041-9A93-B0AB5F7A38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4094163"/>
            <a:ext cx="6118225" cy="53736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0753" tIns="49493" rIns="100753" bIns="49493"/>
          <a:lstStyle/>
          <a:p>
            <a:endParaRPr lang="en-US" altLang="zh-CN" dirty="0"/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04A7F818-D013-F643-B59F-D6C0CBA1713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27163" y="644525"/>
            <a:ext cx="4259262" cy="3194050"/>
          </a:xfr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234635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963667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38D30067-CD76-3F4C-A447-A2769F1380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4094163"/>
            <a:ext cx="6118225" cy="53736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0753" tIns="49493" rIns="100753" bIns="49493"/>
          <a:lstStyle/>
          <a:p>
            <a:endParaRPr lang="en-US" altLang="zh-CN" dirty="0"/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AA371409-B1AF-0A48-B937-0012CE12625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27163" y="644525"/>
            <a:ext cx="4259262" cy="3194050"/>
          </a:xfr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AD7735F6-79B3-AB4D-8DAF-791A49BBD2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4094163"/>
            <a:ext cx="6118225" cy="53736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0753" tIns="49493" rIns="100753" bIns="49493"/>
          <a:lstStyle/>
          <a:p>
            <a:endParaRPr lang="en-US" altLang="zh-CN" dirty="0"/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71CE230B-49DD-F24F-A1C1-FE5B0169384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27163" y="644525"/>
            <a:ext cx="4259262" cy="3194050"/>
          </a:xfr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幻灯片图像占位符 1">
            <a:extLst>
              <a:ext uri="{FF2B5EF4-FFF2-40B4-BE49-F238E27FC236}">
                <a16:creationId xmlns:a16="http://schemas.microsoft.com/office/drawing/2014/main" id="{2DA32780-AF58-F047-BECF-CD175BFC9F1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3555" name="备注占位符 2">
            <a:extLst>
              <a:ext uri="{FF2B5EF4-FFF2-40B4-BE49-F238E27FC236}">
                <a16:creationId xmlns:a16="http://schemas.microsoft.com/office/drawing/2014/main" id="{DBE5644F-1B5C-9E4D-B461-08E1DC00C6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幻灯片图像占位符 1">
            <a:extLst>
              <a:ext uri="{FF2B5EF4-FFF2-40B4-BE49-F238E27FC236}">
                <a16:creationId xmlns:a16="http://schemas.microsoft.com/office/drawing/2014/main" id="{649716CF-C1A5-6246-B43F-965EAEA069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5603" name="备注占位符 2">
            <a:extLst>
              <a:ext uri="{FF2B5EF4-FFF2-40B4-BE49-F238E27FC236}">
                <a16:creationId xmlns:a16="http://schemas.microsoft.com/office/drawing/2014/main" id="{F55D2E97-F719-8642-AA26-90894D6650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51F309CA-F05A-5749-98A3-E403B5DB57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4094163"/>
            <a:ext cx="6118225" cy="53736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0753" tIns="49493" rIns="100753" bIns="49493"/>
          <a:lstStyle/>
          <a:p>
            <a:endParaRPr lang="en-US" altLang="zh-CN" dirty="0"/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6A97142B-8C7F-C74F-A7F7-CF755D24A03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27163" y="644525"/>
            <a:ext cx="4259262" cy="3194050"/>
          </a:xfr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621784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996133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727246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203674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25158088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418923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29496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95300" y="1295400"/>
            <a:ext cx="4019550" cy="21828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67250" y="1295400"/>
            <a:ext cx="4019550" cy="21828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530466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432703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320386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79451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7464543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195614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8653782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6225" y="203200"/>
            <a:ext cx="2060575" cy="327501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44500" y="203200"/>
            <a:ext cx="6029325" cy="32750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8112801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4500" y="203200"/>
            <a:ext cx="7499350" cy="4222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95300" y="1295400"/>
            <a:ext cx="4019550" cy="21828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67250" y="1295400"/>
            <a:ext cx="4019550" cy="10144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67250" y="2462213"/>
            <a:ext cx="4019550" cy="1016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2331240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4500" y="203200"/>
            <a:ext cx="7499350" cy="4222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95300" y="1295400"/>
            <a:ext cx="8191500" cy="2182813"/>
          </a:xfrm>
        </p:spPr>
        <p:txBody>
          <a:bodyPr/>
          <a:lstStyle/>
          <a:p>
            <a:pPr lvl="0"/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40066779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668D1772-028C-7F4F-AF0D-622CE6ED9E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44500" y="203200"/>
            <a:ext cx="7499350" cy="422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3500" tIns="25400" rIns="63500" bIns="2540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zh-CN"/>
              <a:t>Title</a:t>
            </a:r>
          </a:p>
        </p:txBody>
      </p:sp>
      <p:sp>
        <p:nvSpPr>
          <p:cNvPr id="1027" name="Rectangle 5">
            <a:extLst>
              <a:ext uri="{FF2B5EF4-FFF2-40B4-BE49-F238E27FC236}">
                <a16:creationId xmlns:a16="http://schemas.microsoft.com/office/drawing/2014/main" id="{F6EA149F-8210-1F42-A477-DF33EAA0D2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1295400"/>
            <a:ext cx="8191500" cy="2182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3500" tIns="25400" rIns="63500" bIns="2540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zh-CN"/>
              <a:t>This is our 1st Level Bullet</a:t>
            </a:r>
          </a:p>
          <a:p>
            <a:pPr lvl="1"/>
            <a:r>
              <a:rPr lang="en-US" altLang="zh-CN"/>
              <a:t>This is our 2nd level bullet</a:t>
            </a:r>
          </a:p>
          <a:p>
            <a:pPr lvl="2"/>
            <a:r>
              <a:rPr lang="en-US" altLang="zh-CN"/>
              <a:t>This is our 3rd level bullet</a:t>
            </a:r>
          </a:p>
          <a:p>
            <a:pPr lvl="0"/>
            <a:r>
              <a:rPr lang="en-US" altLang="zh-CN"/>
              <a:t>This is our next 1st Level Bullet</a:t>
            </a:r>
          </a:p>
          <a:p>
            <a:pPr lvl="1"/>
            <a:r>
              <a:rPr lang="en-US" altLang="zh-CN"/>
              <a:t>This is our 2nd level bullet</a:t>
            </a:r>
          </a:p>
          <a:p>
            <a:pPr lvl="2"/>
            <a:r>
              <a:rPr lang="en-US" altLang="zh-CN"/>
              <a:t>This is our 3rd level bullet</a:t>
            </a:r>
          </a:p>
        </p:txBody>
      </p:sp>
      <p:sp>
        <p:nvSpPr>
          <p:cNvPr id="1028" name="Line 6">
            <a:extLst>
              <a:ext uri="{FF2B5EF4-FFF2-40B4-BE49-F238E27FC236}">
                <a16:creationId xmlns:a16="http://schemas.microsoft.com/office/drawing/2014/main" id="{7CA66598-929D-E048-97EC-97BDE98A566C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246063" y="596900"/>
            <a:ext cx="8651875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2800" b="1" kern="1200">
          <a:solidFill>
            <a:srgbClr val="A5002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2800" b="1">
          <a:solidFill>
            <a:srgbClr val="A50021"/>
          </a:solidFill>
          <a:latin typeface="Arial" panose="020B0604020202020204" pitchFamily="34" charset="0"/>
        </a:defRPr>
      </a:lvl2pPr>
      <a:lvl3pPr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2800" b="1">
          <a:solidFill>
            <a:srgbClr val="A50021"/>
          </a:solidFill>
          <a:latin typeface="Arial" panose="020B0604020202020204" pitchFamily="34" charset="0"/>
        </a:defRPr>
      </a:lvl3pPr>
      <a:lvl4pPr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2800" b="1">
          <a:solidFill>
            <a:srgbClr val="A50021"/>
          </a:solidFill>
          <a:latin typeface="Arial" panose="020B0604020202020204" pitchFamily="34" charset="0"/>
        </a:defRPr>
      </a:lvl4pPr>
      <a:lvl5pPr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2800" b="1">
          <a:solidFill>
            <a:srgbClr val="A50021"/>
          </a:solidFill>
          <a:latin typeface="Arial" panose="020B0604020202020204" pitchFamily="34" charset="0"/>
        </a:defRPr>
      </a:lvl5pPr>
      <a:lvl6pPr marL="457200"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2800" b="1">
          <a:solidFill>
            <a:srgbClr val="A50021"/>
          </a:solidFill>
          <a:latin typeface="Arial" panose="020B0604020202020204" pitchFamily="34" charset="0"/>
        </a:defRPr>
      </a:lvl6pPr>
      <a:lvl7pPr marL="914400"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2800" b="1">
          <a:solidFill>
            <a:srgbClr val="A50021"/>
          </a:solidFill>
          <a:latin typeface="Arial" panose="020B0604020202020204" pitchFamily="34" charset="0"/>
        </a:defRPr>
      </a:lvl7pPr>
      <a:lvl8pPr marL="1371600"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2800" b="1">
          <a:solidFill>
            <a:srgbClr val="A50021"/>
          </a:solidFill>
          <a:latin typeface="Arial" panose="020B0604020202020204" pitchFamily="34" charset="0"/>
        </a:defRPr>
      </a:lvl8pPr>
      <a:lvl9pPr marL="1828800"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2800" b="1">
          <a:solidFill>
            <a:srgbClr val="A50021"/>
          </a:solidFill>
          <a:latin typeface="Arial" panose="020B0604020202020204" pitchFamily="34" charset="0"/>
        </a:defRPr>
      </a:lvl9pPr>
    </p:titleStyle>
    <p:bodyStyle>
      <a:lvl1pPr marL="203200" indent="-203200" algn="l" rtl="0" eaLnBrk="0" fontAlgn="base" hangingPunct="0">
        <a:spcBef>
          <a:spcPct val="35000"/>
        </a:spcBef>
        <a:spcAft>
          <a:spcPct val="0"/>
        </a:spcAft>
        <a:buSzPct val="100000"/>
        <a:buChar char="°"/>
        <a:defRPr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190500" algn="l" rtl="0" eaLnBrk="0" fontAlgn="base" hangingPunct="0">
        <a:spcBef>
          <a:spcPct val="35000"/>
        </a:spcBef>
        <a:spcAft>
          <a:spcPct val="0"/>
        </a:spcAft>
        <a:buSzPct val="100000"/>
        <a:buChar char="•"/>
        <a:defRPr b="1" kern="1200">
          <a:solidFill>
            <a:schemeClr val="accent2"/>
          </a:solidFill>
          <a:latin typeface="+mn-lt"/>
          <a:ea typeface="+mn-ea"/>
          <a:cs typeface="+mn-cs"/>
        </a:defRPr>
      </a:lvl2pPr>
      <a:lvl3pPr marL="1257300" indent="-342900" algn="l" rtl="0" eaLnBrk="0" fontAlgn="base" hangingPunct="0">
        <a:spcBef>
          <a:spcPct val="35000"/>
        </a:spcBef>
        <a:spcAft>
          <a:spcPct val="0"/>
        </a:spcAft>
        <a:buSzPct val="100000"/>
        <a:buChar char="-"/>
        <a:defRPr b="1" kern="1200">
          <a:solidFill>
            <a:srgbClr val="B7011F"/>
          </a:solidFill>
          <a:latin typeface="+mn-lt"/>
          <a:ea typeface="+mn-ea"/>
          <a:cs typeface="+mn-cs"/>
        </a:defRPr>
      </a:lvl3pPr>
      <a:lvl4pPr marL="1714500" indent="-3429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4pPr>
      <a:lvl5pPr marL="2171700" indent="-3429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5">
            <a:extLst>
              <a:ext uri="{FF2B5EF4-FFF2-40B4-BE49-F238E27FC236}">
                <a16:creationId xmlns:a16="http://schemas.microsoft.com/office/drawing/2014/main" id="{85AC4661-3CB3-3A44-AE58-CD1F667961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4688" y="3463925"/>
            <a:ext cx="5716587" cy="2733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40000"/>
              </a:spcBef>
            </a:pPr>
            <a:r>
              <a:rPr lang="zh-CN" altLang="en-US" sz="2600">
                <a:latin typeface="黑体" panose="02010609060101010101" pitchFamily="49" charset="-122"/>
                <a:ea typeface="黑体" panose="02010609060101010101" pitchFamily="49" charset="-122"/>
              </a:rPr>
              <a:t>第一讲 数据通路概述和</a:t>
            </a:r>
            <a:r>
              <a:rPr lang="en-US" altLang="zh-CN" sz="2600">
                <a:latin typeface="黑体" panose="02010609060101010101" pitchFamily="49" charset="-122"/>
                <a:ea typeface="黑体" panose="02010609060101010101" pitchFamily="49" charset="-122"/>
              </a:rPr>
              <a:t>MIPS</a:t>
            </a:r>
            <a:r>
              <a:rPr lang="zh-CN" altLang="en-US" sz="2600">
                <a:latin typeface="黑体" panose="02010609060101010101" pitchFamily="49" charset="-122"/>
                <a:ea typeface="黑体" panose="02010609060101010101" pitchFamily="49" charset="-122"/>
              </a:rPr>
              <a:t>指令系统</a:t>
            </a:r>
            <a:endParaRPr lang="en-US" altLang="zh-CN" sz="26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spcBef>
                <a:spcPct val="40000"/>
              </a:spcBef>
            </a:pPr>
            <a:r>
              <a:rPr lang="zh-CN" altLang="en-US" sz="2600">
                <a:latin typeface="黑体" panose="02010609060101010101" pitchFamily="49" charset="-122"/>
                <a:ea typeface="黑体" panose="02010609060101010101" pitchFamily="49" charset="-122"/>
              </a:rPr>
              <a:t>第二讲 单周期数据通路的设计</a:t>
            </a:r>
          </a:p>
          <a:p>
            <a:pPr>
              <a:spcBef>
                <a:spcPct val="40000"/>
              </a:spcBef>
            </a:pPr>
            <a:r>
              <a:rPr lang="zh-CN" altLang="en-US" sz="2600">
                <a:latin typeface="黑体" panose="02010609060101010101" pitchFamily="49" charset="-122"/>
                <a:ea typeface="黑体" panose="02010609060101010101" pitchFamily="49" charset="-122"/>
              </a:rPr>
              <a:t>第三讲 单周期控制器的设计</a:t>
            </a:r>
          </a:p>
          <a:p>
            <a:pPr>
              <a:spcBef>
                <a:spcPct val="40000"/>
              </a:spcBef>
            </a:pPr>
            <a:r>
              <a:rPr lang="zh-CN" altLang="en-US" sz="2600">
                <a:latin typeface="黑体" panose="02010609060101010101" pitchFamily="49" charset="-122"/>
                <a:ea typeface="黑体" panose="02010609060101010101" pitchFamily="49" charset="-122"/>
              </a:rPr>
              <a:t>第四讲 多周期处理器的设计</a:t>
            </a:r>
          </a:p>
          <a:p>
            <a:pPr>
              <a:spcBef>
                <a:spcPct val="40000"/>
              </a:spcBef>
            </a:pPr>
            <a:r>
              <a:rPr lang="zh-CN" altLang="en-US" sz="2600">
                <a:latin typeface="黑体" panose="02010609060101010101" pitchFamily="49" charset="-122"/>
                <a:ea typeface="黑体" panose="02010609060101010101" pitchFamily="49" charset="-122"/>
              </a:rPr>
              <a:t>第五讲 微程序控制器设计与异常处理</a:t>
            </a:r>
          </a:p>
        </p:txBody>
      </p:sp>
      <p:sp>
        <p:nvSpPr>
          <p:cNvPr id="3075" name="Rectangle 6">
            <a:extLst>
              <a:ext uri="{FF2B5EF4-FFF2-40B4-BE49-F238E27FC236}">
                <a16:creationId xmlns:a16="http://schemas.microsoft.com/office/drawing/2014/main" id="{F4AF5B55-3532-7F4F-9B5B-45D5F10252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350" y="1741488"/>
            <a:ext cx="8839200" cy="1852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7000"/>
              </a:lnSpc>
              <a:spcBef>
                <a:spcPct val="50000"/>
              </a:spcBef>
            </a:pPr>
            <a:r>
              <a:rPr lang="en-US" altLang="zh-CN" sz="3200">
                <a:solidFill>
                  <a:srgbClr val="FF0000"/>
                </a:solidFill>
                <a:ea typeface="宋体" panose="02010600030101010101" pitchFamily="2" charset="-122"/>
              </a:rPr>
              <a:t>Ch 5: CPU -</a:t>
            </a:r>
            <a:r>
              <a:rPr lang="en-US" altLang="zh-CN" sz="3200">
                <a:solidFill>
                  <a:schemeClr val="accent1"/>
                </a:solidFill>
                <a:ea typeface="宋体" panose="02010600030101010101" pitchFamily="2" charset="-122"/>
              </a:rPr>
              <a:t> Datapath and Control</a:t>
            </a:r>
          </a:p>
          <a:p>
            <a:pPr algn="ctr">
              <a:lnSpc>
                <a:spcPct val="87000"/>
              </a:lnSpc>
              <a:spcBef>
                <a:spcPct val="50000"/>
              </a:spcBef>
            </a:pPr>
            <a:r>
              <a:rPr lang="zh-CN" altLang="en-US" sz="3200">
                <a:solidFill>
                  <a:schemeClr val="accent2"/>
                </a:solidFill>
                <a:ea typeface="宋体" panose="02010600030101010101" pitchFamily="2" charset="-122"/>
              </a:rPr>
              <a:t>中央处理器：数据通路和控制器</a:t>
            </a:r>
          </a:p>
          <a:p>
            <a:pPr algn="ctr">
              <a:lnSpc>
                <a:spcPct val="87000"/>
              </a:lnSpc>
              <a:spcBef>
                <a:spcPct val="50000"/>
              </a:spcBef>
            </a:pPr>
            <a:endParaRPr lang="zh-CN" altLang="en-US" sz="320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03086572-63B8-3040-8568-EB744394B3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85875" y="203200"/>
            <a:ext cx="6884988" cy="425450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第一讲 数据通路概述与</a:t>
            </a:r>
            <a:r>
              <a:rPr lang="en-US" altLang="zh-CN">
                <a:ea typeface="宋体" panose="02010600030101010101" pitchFamily="2" charset="-122"/>
              </a:rPr>
              <a:t>MIPS</a:t>
            </a:r>
            <a:r>
              <a:rPr lang="zh-CN" altLang="en-US">
                <a:ea typeface="宋体" panose="02010600030101010101" pitchFamily="2" charset="-122"/>
              </a:rPr>
              <a:t>指令系统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3C403392-39C6-EA4E-8915-CB1386A5B4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0100" y="1252538"/>
            <a:ext cx="7597775" cy="4606925"/>
          </a:xfrm>
        </p:spPr>
        <p:txBody>
          <a:bodyPr/>
          <a:lstStyle/>
          <a:p>
            <a:pPr>
              <a:lnSpc>
                <a:spcPct val="105000"/>
              </a:lnSpc>
              <a:spcBef>
                <a:spcPct val="20000"/>
              </a:spcBef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的功能及其与计算机性能的关系</a:t>
            </a:r>
          </a:p>
          <a:p>
            <a:pPr>
              <a:lnSpc>
                <a:spcPct val="105000"/>
              </a:lnSpc>
              <a:spcBef>
                <a:spcPct val="20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数据通路的位置</a:t>
            </a:r>
          </a:p>
          <a:p>
            <a:pPr>
              <a:lnSpc>
                <a:spcPct val="105000"/>
              </a:lnSpc>
              <a:spcBef>
                <a:spcPct val="20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数据通路设计概述</a:t>
            </a:r>
          </a:p>
          <a:p>
            <a:pPr lvl="1">
              <a:lnSpc>
                <a:spcPct val="105000"/>
              </a:lnSpc>
              <a:spcBef>
                <a:spcPct val="20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数据通路的功能和实现</a:t>
            </a:r>
          </a:p>
          <a:p>
            <a:pPr lvl="2">
              <a:lnSpc>
                <a:spcPct val="105000"/>
              </a:lnSpc>
              <a:spcBef>
                <a:spcPct val="20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操作元件（组合逻辑部件）</a:t>
            </a:r>
          </a:p>
          <a:p>
            <a:pPr lvl="2">
              <a:lnSpc>
                <a:spcPct val="105000"/>
              </a:lnSpc>
              <a:spcBef>
                <a:spcPct val="20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状态 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存储元件（时序逻辑部件）</a:t>
            </a:r>
          </a:p>
          <a:p>
            <a:pPr lvl="1">
              <a:lnSpc>
                <a:spcPct val="105000"/>
              </a:lnSpc>
              <a:spcBef>
                <a:spcPct val="20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数据通路的定时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5000"/>
              </a:lnSpc>
              <a:spcBef>
                <a:spcPct val="20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总线型数据通路</a:t>
            </a:r>
          </a:p>
          <a:p>
            <a:pPr>
              <a:lnSpc>
                <a:spcPct val="105000"/>
              </a:lnSpc>
              <a:spcBef>
                <a:spcPct val="20000"/>
              </a:spcBef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MIPS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指令指令系统简介</a:t>
            </a:r>
          </a:p>
          <a:p>
            <a:pPr lvl="1">
              <a:lnSpc>
                <a:spcPct val="105000"/>
              </a:lnSpc>
              <a:spcBef>
                <a:spcPct val="20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指令格式：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型、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型、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J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型</a:t>
            </a:r>
          </a:p>
          <a:p>
            <a:pPr lvl="1">
              <a:lnSpc>
                <a:spcPct val="105000"/>
              </a:lnSpc>
              <a:spcBef>
                <a:spcPct val="20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通用寄存器组</a:t>
            </a:r>
          </a:p>
          <a:p>
            <a:pPr lvl="1">
              <a:lnSpc>
                <a:spcPct val="105000"/>
              </a:lnSpc>
              <a:spcBef>
                <a:spcPct val="20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指令类型：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ALU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运算、访存、分支、跳转、调用和返回</a:t>
            </a:r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1F32A218-B72C-8841-A8A1-3778354520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1900" y="636588"/>
            <a:ext cx="3289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>
                <a:solidFill>
                  <a:schemeClr val="accent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主 要 内 容</a:t>
            </a: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872E72CF-2EE6-A541-B785-7FC00E3ACE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2600" y="203200"/>
            <a:ext cx="6367463" cy="422275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CPU</a:t>
            </a:r>
            <a:r>
              <a:rPr lang="zh-CN" altLang="en-US">
                <a:ea typeface="宋体" panose="02010600030101010101" pitchFamily="2" charset="-122"/>
              </a:rPr>
              <a:t>功能及其与计算机性能的关系</a:t>
            </a:r>
          </a:p>
        </p:txBody>
      </p:sp>
      <p:sp>
        <p:nvSpPr>
          <p:cNvPr id="299011" name="Rectangle 3">
            <a:extLst>
              <a:ext uri="{FF2B5EF4-FFF2-40B4-BE49-F238E27FC236}">
                <a16:creationId xmlns:a16="http://schemas.microsoft.com/office/drawing/2014/main" id="{647ED03D-E809-384E-BFD2-681CCCF072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5738" y="749300"/>
            <a:ext cx="8191500" cy="5775325"/>
          </a:xfrm>
        </p:spPr>
        <p:txBody>
          <a:bodyPr/>
          <a:lstStyle/>
          <a:p>
            <a:pPr>
              <a:spcBef>
                <a:spcPct val="10000"/>
              </a:spcBef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执行指令的过程（回顾）</a:t>
            </a:r>
          </a:p>
          <a:p>
            <a:pPr lvl="2">
              <a:spcBef>
                <a:spcPct val="10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取指令</a:t>
            </a:r>
          </a:p>
          <a:p>
            <a:pPr lvl="2">
              <a:spcBef>
                <a:spcPct val="10000"/>
              </a:spcBef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PC+“1”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送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spcBef>
                <a:spcPct val="10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指令译码</a:t>
            </a:r>
          </a:p>
          <a:p>
            <a:pPr lvl="2">
              <a:spcBef>
                <a:spcPct val="10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进行主存地址运算</a:t>
            </a:r>
          </a:p>
          <a:p>
            <a:pPr lvl="2">
              <a:spcBef>
                <a:spcPct val="10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取操作数</a:t>
            </a:r>
          </a:p>
          <a:p>
            <a:pPr lvl="2">
              <a:spcBef>
                <a:spcPct val="10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进行算术 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逻辑运算</a:t>
            </a:r>
          </a:p>
          <a:p>
            <a:pPr lvl="2">
              <a:spcBef>
                <a:spcPct val="10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存结果</a:t>
            </a:r>
          </a:p>
          <a:p>
            <a:pPr lvl="2">
              <a:spcBef>
                <a:spcPct val="10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以上每步都需检测“异常”</a:t>
            </a:r>
          </a:p>
          <a:p>
            <a:pPr lvl="2">
              <a:spcBef>
                <a:spcPct val="10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若有异常，则自动切换到异常处理程序</a:t>
            </a:r>
          </a:p>
          <a:p>
            <a:pPr lvl="2">
              <a:spcBef>
                <a:spcPct val="10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检测是否有“中断”请求，有则转中断处理</a:t>
            </a:r>
          </a:p>
          <a:p>
            <a:pPr>
              <a:spcBef>
                <a:spcPct val="10000"/>
              </a:spcBef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的实现与计算机性能的关系</a:t>
            </a:r>
          </a:p>
          <a:p>
            <a:pPr lvl="1">
              <a:spcBef>
                <a:spcPct val="10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计算机性能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程序执行快慢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由三个关键因素决定（回顾）</a:t>
            </a:r>
          </a:p>
          <a:p>
            <a:pPr lvl="2">
              <a:spcBef>
                <a:spcPct val="10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指令数目、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CPI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、时钟周期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spcBef>
                <a:spcPct val="10000"/>
              </a:spcBef>
            </a:pPr>
            <a:r>
              <a:rPr lang="zh-CN" altLang="en-US" b="1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指令数目由编译器和</a:t>
            </a:r>
            <a:r>
              <a:rPr lang="en-US" altLang="zh-CN" b="1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ISA</a:t>
            </a:r>
            <a:r>
              <a:rPr lang="zh-CN" altLang="en-US" b="1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决定</a:t>
            </a:r>
          </a:p>
          <a:p>
            <a:pPr lvl="3">
              <a:spcBef>
                <a:spcPct val="10000"/>
              </a:spcBef>
            </a:pPr>
            <a:r>
              <a:rPr lang="zh-CN" altLang="en-US" b="1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时钟周期和</a:t>
            </a:r>
            <a:r>
              <a:rPr lang="en-US" altLang="zh-CN" b="1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CPI</a:t>
            </a:r>
            <a:r>
              <a:rPr lang="zh-CN" altLang="en-US" b="1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主要由</a:t>
            </a:r>
            <a:r>
              <a:rPr lang="en-US" altLang="zh-CN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CPU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的设计与实现</a:t>
            </a:r>
            <a:r>
              <a:rPr lang="zh-CN" altLang="en-US" b="1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决定</a:t>
            </a:r>
          </a:p>
          <a:p>
            <a:pPr lvl="2">
              <a:spcBef>
                <a:spcPct val="10000"/>
              </a:spcBef>
            </a:pPr>
            <a:endParaRPr lang="zh-CN" altLang="en-US" sz="2000">
              <a:solidFill>
                <a:srgbClr val="0066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99012" name="Text Box 4">
            <a:extLst>
              <a:ext uri="{FF2B5EF4-FFF2-40B4-BE49-F238E27FC236}">
                <a16:creationId xmlns:a16="http://schemas.microsoft.com/office/drawing/2014/main" id="{9275C07A-304E-D34C-8508-DDBA9B906A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050" y="6175375"/>
            <a:ext cx="74723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因此，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的设计与实现非常重要！它直接影响计算机的性能。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99023" name="Group 15">
            <a:extLst>
              <a:ext uri="{FF2B5EF4-FFF2-40B4-BE49-F238E27FC236}">
                <a16:creationId xmlns:a16="http://schemas.microsoft.com/office/drawing/2014/main" id="{1B75C2D5-075D-BF42-B375-4C6E3F4AD109}"/>
              </a:ext>
            </a:extLst>
          </p:cNvPr>
          <p:cNvGrpSpPr>
            <a:grpSpLocks/>
          </p:cNvGrpSpPr>
          <p:nvPr/>
        </p:nvGrpSpPr>
        <p:grpSpPr bwMode="auto">
          <a:xfrm>
            <a:off x="4816475" y="1247775"/>
            <a:ext cx="912813" cy="2890838"/>
            <a:chOff x="2994" y="936"/>
            <a:chExt cx="300" cy="1875"/>
          </a:xfrm>
        </p:grpSpPr>
        <p:sp>
          <p:nvSpPr>
            <p:cNvPr id="7181" name="AutoShape 5">
              <a:extLst>
                <a:ext uri="{FF2B5EF4-FFF2-40B4-BE49-F238E27FC236}">
                  <a16:creationId xmlns:a16="http://schemas.microsoft.com/office/drawing/2014/main" id="{71C0FEC9-7B98-7945-8FEF-2230851C93B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4" y="936"/>
              <a:ext cx="168" cy="1875"/>
            </a:xfrm>
            <a:prstGeom prst="rightBrace">
              <a:avLst>
                <a:gd name="adj1" fmla="val 93006"/>
                <a:gd name="adj2" fmla="val 50000"/>
              </a:avLst>
            </a:prstGeom>
            <a:noFill/>
            <a:ln w="50800">
              <a:solidFill>
                <a:srgbClr val="00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7182" name="Text Box 7">
              <a:extLst>
                <a:ext uri="{FF2B5EF4-FFF2-40B4-BE49-F238E27FC236}">
                  <a16:creationId xmlns:a16="http://schemas.microsoft.com/office/drawing/2014/main" id="{9027FC08-8626-584A-AD7B-95ADCADB84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56" y="1289"/>
              <a:ext cx="138" cy="11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0800">
                  <a:solidFill>
                    <a:srgbClr val="FE9AAB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zh-CN" altLang="en-US" sz="1800">
                  <a:solidFill>
                    <a:srgbClr val="0066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指令执行过程</a:t>
              </a:r>
            </a:p>
          </p:txBody>
        </p:sp>
      </p:grpSp>
      <p:sp>
        <p:nvSpPr>
          <p:cNvPr id="299016" name="Text Box 8">
            <a:extLst>
              <a:ext uri="{FF2B5EF4-FFF2-40B4-BE49-F238E27FC236}">
                <a16:creationId xmlns:a16="http://schemas.microsoft.com/office/drawing/2014/main" id="{122E586F-1044-E444-B7A6-7204B4B0C3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2300" y="720725"/>
            <a:ext cx="3441700" cy="2751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问题：</a:t>
            </a:r>
          </a:p>
          <a:p>
            <a:pPr>
              <a:lnSpc>
                <a:spcPct val="120000"/>
              </a:lnSpc>
            </a:pPr>
            <a:r>
              <a:rPr lang="zh-CN" altLang="en-US"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“取指令”一定在最开始做吗？</a:t>
            </a:r>
          </a:p>
          <a:p>
            <a:pPr>
              <a:lnSpc>
                <a:spcPct val="120000"/>
              </a:lnSpc>
            </a:pPr>
            <a:r>
              <a:rPr lang="en-US" altLang="zh-CN"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“PC+1</a:t>
            </a:r>
            <a:r>
              <a:rPr lang="zh-CN" altLang="en-US"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”一定在译码前做吗？</a:t>
            </a:r>
          </a:p>
          <a:p>
            <a:pPr>
              <a:lnSpc>
                <a:spcPct val="120000"/>
              </a:lnSpc>
            </a:pPr>
            <a:r>
              <a:rPr lang="zh-CN" altLang="en-US"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“译码”须在指令执行前做吗？</a:t>
            </a:r>
          </a:p>
          <a:p>
            <a:pPr>
              <a:lnSpc>
                <a:spcPct val="120000"/>
              </a:lnSpc>
            </a:pPr>
            <a:r>
              <a:rPr lang="zh-CN" altLang="en-US"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你能说出哪几种“异常”事件？</a:t>
            </a:r>
          </a:p>
          <a:p>
            <a:pPr>
              <a:lnSpc>
                <a:spcPct val="120000"/>
              </a:lnSpc>
            </a:pPr>
            <a:r>
              <a:rPr lang="zh-CN" altLang="en-US"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异常和中断的差别是什么？</a:t>
            </a:r>
          </a:p>
          <a:p>
            <a:pPr lvl="1">
              <a:lnSpc>
                <a:spcPct val="120000"/>
              </a:lnSpc>
            </a:pPr>
            <a:r>
              <a:rPr lang="zh-CN" altLang="en-US" sz="18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异常是在</a:t>
            </a:r>
            <a:r>
              <a:rPr lang="en-US" altLang="zh-CN" sz="18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18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内部发生的</a:t>
            </a:r>
          </a:p>
          <a:p>
            <a:pPr lvl="1">
              <a:lnSpc>
                <a:spcPct val="120000"/>
              </a:lnSpc>
            </a:pPr>
            <a:r>
              <a:rPr lang="zh-CN" altLang="en-US" sz="18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中断是由外部事件引起的</a:t>
            </a:r>
          </a:p>
        </p:txBody>
      </p:sp>
      <p:grpSp>
        <p:nvGrpSpPr>
          <p:cNvPr id="299021" name="Group 13">
            <a:extLst>
              <a:ext uri="{FF2B5EF4-FFF2-40B4-BE49-F238E27FC236}">
                <a16:creationId xmlns:a16="http://schemas.microsoft.com/office/drawing/2014/main" id="{4F7D23FE-8E19-384C-BF8C-E2C054E8D908}"/>
              </a:ext>
            </a:extLst>
          </p:cNvPr>
          <p:cNvGrpSpPr>
            <a:grpSpLocks/>
          </p:cNvGrpSpPr>
          <p:nvPr/>
        </p:nvGrpSpPr>
        <p:grpSpPr bwMode="auto">
          <a:xfrm>
            <a:off x="3370263" y="1116013"/>
            <a:ext cx="942975" cy="641350"/>
            <a:chOff x="2133" y="899"/>
            <a:chExt cx="594" cy="440"/>
          </a:xfrm>
        </p:grpSpPr>
        <p:sp>
          <p:nvSpPr>
            <p:cNvPr id="7179" name="AutoShape 9">
              <a:extLst>
                <a:ext uri="{FF2B5EF4-FFF2-40B4-BE49-F238E27FC236}">
                  <a16:creationId xmlns:a16="http://schemas.microsoft.com/office/drawing/2014/main" id="{465A7CF0-B7E0-8040-B15E-9C24B2E27A2F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3" y="903"/>
              <a:ext cx="186" cy="366"/>
            </a:xfrm>
            <a:prstGeom prst="rightBrace">
              <a:avLst>
                <a:gd name="adj1" fmla="val 16398"/>
                <a:gd name="adj2" fmla="val 50000"/>
              </a:avLst>
            </a:prstGeom>
            <a:noFill/>
            <a:ln w="50800">
              <a:solidFill>
                <a:srgbClr val="FE9AA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7180" name="Text Box 10">
              <a:extLst>
                <a:ext uri="{FF2B5EF4-FFF2-40B4-BE49-F238E27FC236}">
                  <a16:creationId xmlns:a16="http://schemas.microsoft.com/office/drawing/2014/main" id="{1AAC724B-37DF-3342-89FA-E12F7BE63D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93" y="899"/>
              <a:ext cx="434" cy="4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0800">
                  <a:solidFill>
                    <a:srgbClr val="FE9AAB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zh-CN" altLang="en-US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取指阶段</a:t>
              </a:r>
            </a:p>
          </p:txBody>
        </p:sp>
      </p:grpSp>
      <p:grpSp>
        <p:nvGrpSpPr>
          <p:cNvPr id="299022" name="Group 14">
            <a:extLst>
              <a:ext uri="{FF2B5EF4-FFF2-40B4-BE49-F238E27FC236}">
                <a16:creationId xmlns:a16="http://schemas.microsoft.com/office/drawing/2014/main" id="{C08238C8-E0F6-EA4D-BE36-64BA0766168B}"/>
              </a:ext>
            </a:extLst>
          </p:cNvPr>
          <p:cNvGrpSpPr>
            <a:grpSpLocks/>
          </p:cNvGrpSpPr>
          <p:nvPr/>
        </p:nvGrpSpPr>
        <p:grpSpPr bwMode="auto">
          <a:xfrm>
            <a:off x="4013200" y="1771650"/>
            <a:ext cx="938213" cy="2257425"/>
            <a:chOff x="2386" y="1390"/>
            <a:chExt cx="591" cy="1428"/>
          </a:xfrm>
        </p:grpSpPr>
        <p:sp>
          <p:nvSpPr>
            <p:cNvPr id="7177" name="AutoShape 11">
              <a:extLst>
                <a:ext uri="{FF2B5EF4-FFF2-40B4-BE49-F238E27FC236}">
                  <a16:creationId xmlns:a16="http://schemas.microsoft.com/office/drawing/2014/main" id="{2A85E1C6-F755-B344-942B-96D67EF35D65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6" y="1390"/>
              <a:ext cx="216" cy="1428"/>
            </a:xfrm>
            <a:prstGeom prst="rightBrace">
              <a:avLst>
                <a:gd name="adj1" fmla="val 55093"/>
                <a:gd name="adj2" fmla="val 50000"/>
              </a:avLst>
            </a:prstGeom>
            <a:noFill/>
            <a:ln w="50800">
              <a:solidFill>
                <a:srgbClr val="FE9AA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7178" name="Text Box 12">
              <a:extLst>
                <a:ext uri="{FF2B5EF4-FFF2-40B4-BE49-F238E27FC236}">
                  <a16:creationId xmlns:a16="http://schemas.microsoft.com/office/drawing/2014/main" id="{D88950DC-5196-144F-9FF0-77404B9E3B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3" y="1727"/>
              <a:ext cx="434" cy="7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0800">
                  <a:solidFill>
                    <a:srgbClr val="FE9AAB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zh-CN" altLang="en-US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译码和</a:t>
              </a:r>
            </a:p>
            <a:p>
              <a:pPr algn="ctr"/>
              <a:r>
                <a:rPr lang="zh-CN" altLang="en-US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执行阶段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99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99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99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99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990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990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990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990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990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990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99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299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299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2990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2990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2990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2990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2990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2990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0" dur="500"/>
                                        <p:tgtEl>
                                          <p:spTgt spid="2990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5" dur="500"/>
                                        <p:tgtEl>
                                          <p:spTgt spid="2990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0" dur="500"/>
                                        <p:tgtEl>
                                          <p:spTgt spid="29901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5" dur="500"/>
                                        <p:tgtEl>
                                          <p:spTgt spid="29901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0" dur="500"/>
                                        <p:tgtEl>
                                          <p:spTgt spid="29901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5" dur="500"/>
                                        <p:tgtEl>
                                          <p:spTgt spid="2990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A4AE0DC0-D456-CD40-A725-EE861D4822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组成指令功能的四种基本操作</a:t>
            </a:r>
          </a:p>
        </p:txBody>
      </p:sp>
      <p:sp>
        <p:nvSpPr>
          <p:cNvPr id="392195" name="Rectangle 3">
            <a:extLst>
              <a:ext uri="{FF2B5EF4-FFF2-40B4-BE49-F238E27FC236}">
                <a16:creationId xmlns:a16="http://schemas.microsoft.com/office/drawing/2014/main" id="{8FBE6285-D26D-D249-9032-B6B8E2EF33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42900" y="739775"/>
            <a:ext cx="8559800" cy="5864225"/>
          </a:xfrm>
        </p:spPr>
        <p:txBody>
          <a:bodyPr/>
          <a:lstStyle/>
          <a:p>
            <a:pPr>
              <a:lnSpc>
                <a:spcPct val="115000"/>
              </a:lnSpc>
              <a:spcBef>
                <a:spcPct val="25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每条指令的功能总是由以下</a:t>
            </a:r>
            <a:r>
              <a:rPr lang="zh-CN" altLang="en-US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四种基本操作的组合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来实现：</a:t>
            </a:r>
          </a:p>
          <a:p>
            <a:pPr lvl="1">
              <a:lnSpc>
                <a:spcPct val="115000"/>
              </a:lnSpc>
              <a:spcBef>
                <a:spcPct val="25000"/>
              </a:spcBef>
              <a:buFontTx/>
              <a:buNone/>
            </a:pP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读取某一主存单元的内容，并将其装入某个寄存器</a:t>
            </a:r>
            <a:r>
              <a:rPr lang="zh-CN" altLang="en-US" sz="1900">
                <a:solidFill>
                  <a:srgbClr val="99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（取指， 取数）</a:t>
            </a:r>
          </a:p>
          <a:p>
            <a:pPr lvl="1">
              <a:lnSpc>
                <a:spcPct val="115000"/>
              </a:lnSpc>
              <a:spcBef>
                <a:spcPct val="25000"/>
              </a:spcBef>
              <a:buFontTx/>
              <a:buNone/>
            </a:pP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把一个数据从某个寄存器存入给定的主存单元中</a:t>
            </a:r>
            <a:r>
              <a:rPr lang="zh-CN" altLang="en-US" sz="1900">
                <a:solidFill>
                  <a:srgbClr val="99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（存结果）</a:t>
            </a:r>
          </a:p>
          <a:p>
            <a:pPr lvl="1">
              <a:lnSpc>
                <a:spcPct val="115000"/>
              </a:lnSpc>
              <a:spcBef>
                <a:spcPct val="25000"/>
              </a:spcBef>
              <a:buFontTx/>
              <a:buNone/>
            </a:pP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把一个数据从某个寄存器送到另一个寄存器或者</a:t>
            </a:r>
            <a:r>
              <a:rPr lang="en-US" altLang="zh-CN" sz="1900">
                <a:latin typeface="微软雅黑" panose="020B0503020204020204" pitchFamily="34" charset="-122"/>
                <a:ea typeface="微软雅黑" panose="020B0503020204020204" pitchFamily="34" charset="-122"/>
              </a:rPr>
              <a:t>ALU</a:t>
            </a:r>
            <a:r>
              <a:rPr lang="zh-CN" altLang="en-US" sz="1900">
                <a:solidFill>
                  <a:srgbClr val="99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（取数，存结果）</a:t>
            </a:r>
          </a:p>
          <a:p>
            <a:pPr lvl="1">
              <a:lnSpc>
                <a:spcPct val="115000"/>
              </a:lnSpc>
              <a:spcBef>
                <a:spcPct val="25000"/>
              </a:spcBef>
              <a:buFontTx/>
              <a:buNone/>
            </a:pP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进行算术或逻辑运算</a:t>
            </a:r>
            <a:r>
              <a:rPr lang="zh-CN" altLang="en-US" sz="1900">
                <a:solidFill>
                  <a:srgbClr val="99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900">
                <a:solidFill>
                  <a:srgbClr val="99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PC+1</a:t>
            </a:r>
            <a:r>
              <a:rPr lang="zh-CN" altLang="en-US" sz="1900">
                <a:solidFill>
                  <a:srgbClr val="99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，计算地址，运算）</a:t>
            </a:r>
          </a:p>
          <a:p>
            <a:pPr>
              <a:lnSpc>
                <a:spcPct val="115000"/>
              </a:lnSpc>
              <a:spcBef>
                <a:spcPct val="25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操作功能可形式化描述</a:t>
            </a:r>
          </a:p>
          <a:p>
            <a:pPr lvl="1">
              <a:lnSpc>
                <a:spcPct val="115000"/>
              </a:lnSpc>
              <a:spcBef>
                <a:spcPct val="25000"/>
              </a:spcBef>
              <a:buFontTx/>
              <a:buNone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描述语言称为寄存器传送语言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RTL (Register Transfer Language)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15000"/>
              </a:lnSpc>
              <a:spcBef>
                <a:spcPct val="25000"/>
              </a:spcBef>
              <a:buFontTx/>
              <a:buNone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本章所用的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RTL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规定如下：</a:t>
            </a:r>
          </a:p>
          <a:p>
            <a:pPr lvl="2">
              <a:lnSpc>
                <a:spcPct val="115000"/>
              </a:lnSpc>
              <a:spcBef>
                <a:spcPct val="25000"/>
              </a:spcBef>
              <a:buFontTx/>
              <a:buNone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）用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R[r]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表示寄存器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的内容；</a:t>
            </a:r>
          </a:p>
          <a:p>
            <a:pPr lvl="2">
              <a:lnSpc>
                <a:spcPct val="115000"/>
              </a:lnSpc>
              <a:spcBef>
                <a:spcPct val="25000"/>
              </a:spcBef>
              <a:buFontTx/>
              <a:buNone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）用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M[addr]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表示主存单元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addr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的内容；</a:t>
            </a:r>
          </a:p>
          <a:p>
            <a:pPr lvl="2">
              <a:lnSpc>
                <a:spcPct val="115000"/>
              </a:lnSpc>
              <a:spcBef>
                <a:spcPct val="25000"/>
              </a:spcBef>
              <a:buFontTx/>
              <a:buNone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）传送方向用“←”表示，传送源在右，传送目的在左；</a:t>
            </a:r>
          </a:p>
          <a:p>
            <a:pPr lvl="2">
              <a:lnSpc>
                <a:spcPct val="115000"/>
              </a:lnSpc>
              <a:spcBef>
                <a:spcPct val="25000"/>
              </a:spcBef>
              <a:buFontTx/>
              <a:buNone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）程序计数器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直接用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表示其内容。</a:t>
            </a:r>
          </a:p>
          <a:p>
            <a:pPr lvl="2">
              <a:lnSpc>
                <a:spcPct val="115000"/>
              </a:lnSpc>
              <a:spcBef>
                <a:spcPct val="25000"/>
              </a:spcBef>
              <a:buFontTx/>
              <a:buNone/>
            </a:pPr>
            <a:r>
              <a:rPr lang="zh-CN" altLang="en-US" sz="200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例如，</a:t>
            </a:r>
            <a:r>
              <a:rPr lang="en-US" altLang="zh-CN" sz="200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R[$8] </a:t>
            </a:r>
            <a:r>
              <a:rPr lang="zh-CN" altLang="en-US" sz="200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← </a:t>
            </a:r>
            <a:r>
              <a:rPr lang="en-US" altLang="zh-CN" sz="200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M[R[$9]+4]</a:t>
            </a:r>
            <a:r>
              <a:rPr lang="zh-CN" altLang="en-US" sz="200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的含义是：</a:t>
            </a:r>
          </a:p>
          <a:p>
            <a:pPr lvl="2">
              <a:lnSpc>
                <a:spcPct val="115000"/>
              </a:lnSpc>
              <a:spcBef>
                <a:spcPct val="25000"/>
              </a:spcBef>
              <a:buFontTx/>
              <a:buNone/>
            </a:pPr>
            <a:r>
              <a:rPr lang="zh-CN" altLang="en-US" sz="200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将寄存器</a:t>
            </a:r>
            <a:r>
              <a:rPr lang="en-US" altLang="zh-CN" sz="200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$9</a:t>
            </a:r>
            <a:r>
              <a:rPr lang="zh-CN" altLang="en-US" sz="200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的内容加</a:t>
            </a:r>
            <a:r>
              <a:rPr lang="en-US" altLang="zh-CN" sz="200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00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得到的内存地址中的内容送寄存器</a:t>
            </a:r>
            <a:r>
              <a:rPr lang="en-US" altLang="zh-CN" sz="200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$8</a:t>
            </a:r>
            <a:r>
              <a:rPr lang="zh-CN" altLang="en-US" sz="200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92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92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92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92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92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92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92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921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921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921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9219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9219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686CAEBD-1D0E-1040-B7A1-425E6C3B3A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4500" y="88900"/>
            <a:ext cx="7499350" cy="422275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CPU</a:t>
            </a:r>
            <a:r>
              <a:rPr lang="zh-CN" altLang="en-US">
                <a:ea typeface="宋体" panose="02010600030101010101" pitchFamily="2" charset="-122"/>
              </a:rPr>
              <a:t>基本组成原理图</a:t>
            </a:r>
          </a:p>
        </p:txBody>
      </p:sp>
      <p:pic>
        <p:nvPicPr>
          <p:cNvPr id="9219" name="Picture 4">
            <a:extLst>
              <a:ext uri="{FF2B5EF4-FFF2-40B4-BE49-F238E27FC236}">
                <a16:creationId xmlns:a16="http://schemas.microsoft.com/office/drawing/2014/main" id="{4E15B2FD-F567-194E-ACA0-CA44B80F4E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075" y="819150"/>
            <a:ext cx="8047038" cy="445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93225" name="Group 9">
            <a:extLst>
              <a:ext uri="{FF2B5EF4-FFF2-40B4-BE49-F238E27FC236}">
                <a16:creationId xmlns:a16="http://schemas.microsoft.com/office/drawing/2014/main" id="{155C4522-2971-5A4E-8A7C-247BCCA971F3}"/>
              </a:ext>
            </a:extLst>
          </p:cNvPr>
          <p:cNvGrpSpPr>
            <a:grpSpLocks/>
          </p:cNvGrpSpPr>
          <p:nvPr/>
        </p:nvGrpSpPr>
        <p:grpSpPr bwMode="auto">
          <a:xfrm>
            <a:off x="127000" y="1397000"/>
            <a:ext cx="2695575" cy="4492625"/>
            <a:chOff x="90" y="960"/>
            <a:chExt cx="1698" cy="2830"/>
          </a:xfrm>
        </p:grpSpPr>
        <p:sp>
          <p:nvSpPr>
            <p:cNvPr id="9228" name="Oval 5">
              <a:extLst>
                <a:ext uri="{FF2B5EF4-FFF2-40B4-BE49-F238E27FC236}">
                  <a16:creationId xmlns:a16="http://schemas.microsoft.com/office/drawing/2014/main" id="{5441EB8C-5532-E94E-B253-988BA53878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" y="960"/>
              <a:ext cx="1698" cy="2214"/>
            </a:xfrm>
            <a:prstGeom prst="ellipse">
              <a:avLst/>
            </a:prstGeom>
            <a:noFill/>
            <a:ln w="50800">
              <a:solidFill>
                <a:srgbClr val="FE9AA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9229" name="Text Box 7">
              <a:extLst>
                <a:ext uri="{FF2B5EF4-FFF2-40B4-BE49-F238E27FC236}">
                  <a16:creationId xmlns:a16="http://schemas.microsoft.com/office/drawing/2014/main" id="{5340D1F4-9702-594D-98B7-C8F6E0B752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4" y="3540"/>
              <a:ext cx="82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0800">
                  <a:solidFill>
                    <a:srgbClr val="FE9AAB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00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执行部件</a:t>
              </a:r>
            </a:p>
          </p:txBody>
        </p:sp>
        <p:sp>
          <p:nvSpPr>
            <p:cNvPr id="9230" name="Line 8">
              <a:extLst>
                <a:ext uri="{FF2B5EF4-FFF2-40B4-BE49-F238E27FC236}">
                  <a16:creationId xmlns:a16="http://schemas.microsoft.com/office/drawing/2014/main" id="{287B01FC-F28C-9346-A367-3654ACEDC1E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032" y="3186"/>
              <a:ext cx="54" cy="360"/>
            </a:xfrm>
            <a:prstGeom prst="line">
              <a:avLst/>
            </a:prstGeom>
            <a:noFill/>
            <a:ln w="50800">
              <a:solidFill>
                <a:srgbClr val="FE9AAB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93228" name="Group 12">
            <a:extLst>
              <a:ext uri="{FF2B5EF4-FFF2-40B4-BE49-F238E27FC236}">
                <a16:creationId xmlns:a16="http://schemas.microsoft.com/office/drawing/2014/main" id="{5466907B-CA36-2C45-8F12-18A17ECC5F69}"/>
              </a:ext>
            </a:extLst>
          </p:cNvPr>
          <p:cNvGrpSpPr>
            <a:grpSpLocks/>
          </p:cNvGrpSpPr>
          <p:nvPr/>
        </p:nvGrpSpPr>
        <p:grpSpPr bwMode="auto">
          <a:xfrm>
            <a:off x="3057525" y="904875"/>
            <a:ext cx="4679950" cy="4775200"/>
            <a:chOff x="1926" y="528"/>
            <a:chExt cx="2532" cy="3422"/>
          </a:xfrm>
        </p:grpSpPr>
        <p:sp>
          <p:nvSpPr>
            <p:cNvPr id="9225" name="Oval 6">
              <a:extLst>
                <a:ext uri="{FF2B5EF4-FFF2-40B4-BE49-F238E27FC236}">
                  <a16:creationId xmlns:a16="http://schemas.microsoft.com/office/drawing/2014/main" id="{CC7B8176-2FF1-CC4D-BCD3-606752B6E0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6" y="528"/>
              <a:ext cx="2532" cy="2604"/>
            </a:xfrm>
            <a:prstGeom prst="ellipse">
              <a:avLst/>
            </a:prstGeom>
            <a:noFill/>
            <a:ln w="50800">
              <a:solidFill>
                <a:srgbClr val="FE9AA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9226" name="Line 10">
              <a:extLst>
                <a:ext uri="{FF2B5EF4-FFF2-40B4-BE49-F238E27FC236}">
                  <a16:creationId xmlns:a16="http://schemas.microsoft.com/office/drawing/2014/main" id="{408012D5-E461-C346-9517-A900B448847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474" y="3102"/>
              <a:ext cx="180" cy="540"/>
            </a:xfrm>
            <a:prstGeom prst="line">
              <a:avLst/>
            </a:prstGeom>
            <a:noFill/>
            <a:ln w="50800">
              <a:solidFill>
                <a:srgbClr val="FE9AAB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7" name="Text Box 11">
              <a:extLst>
                <a:ext uri="{FF2B5EF4-FFF2-40B4-BE49-F238E27FC236}">
                  <a16:creationId xmlns:a16="http://schemas.microsoft.com/office/drawing/2014/main" id="{CADF5AB3-F656-CA4E-A0EA-17D3C6CE5C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24" y="3666"/>
              <a:ext cx="702" cy="2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0800">
                  <a:solidFill>
                    <a:srgbClr val="FE9AAB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00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控制部件</a:t>
              </a:r>
            </a:p>
          </p:txBody>
        </p:sp>
      </p:grpSp>
      <p:sp>
        <p:nvSpPr>
          <p:cNvPr id="393229" name="Text Box 13">
            <a:extLst>
              <a:ext uri="{FF2B5EF4-FFF2-40B4-BE49-F238E27FC236}">
                <a16:creationId xmlns:a16="http://schemas.microsoft.com/office/drawing/2014/main" id="{7C665975-5E90-8A40-9923-24C0A88409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175" y="5984875"/>
            <a:ext cx="6935788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 </a:t>
            </a:r>
            <a:r>
              <a:rPr lang="zh-CN" altLang="en-US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 </a:t>
            </a:r>
            <a:r>
              <a:rPr lang="zh-CN" altLang="en-US" sz="2000">
                <a:solidFill>
                  <a:srgbClr val="0099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执行部件</a:t>
            </a:r>
            <a:r>
              <a:rPr lang="zh-CN" altLang="en-US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和 </a:t>
            </a:r>
            <a:r>
              <a:rPr lang="zh-CN" altLang="en-US" sz="2000">
                <a:solidFill>
                  <a:srgbClr val="0099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控制部件</a:t>
            </a:r>
            <a:r>
              <a:rPr lang="zh-CN" altLang="en-US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组成</a:t>
            </a:r>
          </a:p>
          <a:p>
            <a:pPr>
              <a:spcBef>
                <a:spcPct val="20000"/>
              </a:spcBef>
            </a:pPr>
            <a:r>
              <a:rPr lang="en-US" altLang="zh-CN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 </a:t>
            </a:r>
            <a:r>
              <a:rPr lang="zh-CN" altLang="en-US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包含 </a:t>
            </a:r>
            <a:r>
              <a:rPr lang="zh-CN" altLang="en-US" sz="2000">
                <a:solidFill>
                  <a:srgbClr val="0099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数据通路</a:t>
            </a:r>
            <a:r>
              <a:rPr lang="en-US" altLang="zh-CN" sz="2000">
                <a:solidFill>
                  <a:srgbClr val="0099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>
                <a:solidFill>
                  <a:srgbClr val="0099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执行部件</a:t>
            </a:r>
            <a:r>
              <a:rPr lang="en-US" altLang="zh-CN" sz="2000">
                <a:solidFill>
                  <a:srgbClr val="0099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en-US" altLang="zh-CN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 </a:t>
            </a:r>
            <a:r>
              <a:rPr lang="zh-CN" altLang="en-US" sz="2000">
                <a:solidFill>
                  <a:srgbClr val="0099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控制器（控制部件）</a:t>
            </a:r>
          </a:p>
        </p:txBody>
      </p:sp>
      <p:sp>
        <p:nvSpPr>
          <p:cNvPr id="393230" name="Text Box 14">
            <a:extLst>
              <a:ext uri="{FF2B5EF4-FFF2-40B4-BE49-F238E27FC236}">
                <a16:creationId xmlns:a16="http://schemas.microsoft.com/office/drawing/2014/main" id="{E847335B-8057-8243-9DEF-976DAB9051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2663" y="5622925"/>
            <a:ext cx="315277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控制器 由 </a:t>
            </a: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指令译码器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 和 </a:t>
            </a: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控制信号形成部件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 组成</a:t>
            </a:r>
          </a:p>
        </p:txBody>
      </p:sp>
      <p:sp>
        <p:nvSpPr>
          <p:cNvPr id="9224" name="Text Box 15">
            <a:extLst>
              <a:ext uri="{FF2B5EF4-FFF2-40B4-BE49-F238E27FC236}">
                <a16:creationId xmlns:a16="http://schemas.microsoft.com/office/drawing/2014/main" id="{537068D7-0D50-334D-BAA6-1018AD5536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228600"/>
            <a:ext cx="2171700" cy="7016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指令寄存器</a:t>
            </a:r>
            <a:r>
              <a:rPr lang="en-US" altLang="zh-CN" sz="20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----IR</a:t>
            </a:r>
          </a:p>
          <a:p>
            <a:r>
              <a:rPr lang="zh-CN" altLang="en-US" sz="20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程序计数器</a:t>
            </a:r>
            <a:r>
              <a:rPr lang="en-US" altLang="zh-CN" sz="20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---PC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93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93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93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93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3229" grpId="0"/>
      <p:bldP spid="39323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0CE35FDA-097D-2044-9552-EB465AE5EB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4500" y="203200"/>
            <a:ext cx="7416800" cy="422275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数据通路的位置</a:t>
            </a:r>
          </a:p>
        </p:txBody>
      </p:sp>
      <p:sp>
        <p:nvSpPr>
          <p:cNvPr id="177155" name="Rectangle 3">
            <a:extLst>
              <a:ext uri="{FF2B5EF4-FFF2-40B4-BE49-F238E27FC236}">
                <a16:creationId xmlns:a16="http://schemas.microsoft.com/office/drawing/2014/main" id="{F2747577-DEDB-9D40-BEB3-96B911BB49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06400" y="762000"/>
            <a:ext cx="8483600" cy="5699125"/>
          </a:xfrm>
        </p:spPr>
        <p:txBody>
          <a:bodyPr/>
          <a:lstStyle/>
          <a:p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计算机的五大组成部分：</a:t>
            </a:r>
          </a:p>
          <a:p>
            <a:pPr>
              <a:buFontTx/>
              <a:buNone/>
            </a:pPr>
            <a:endParaRPr lang="en-US" altLang="zh-CN" sz="2000">
              <a:ea typeface="黑体" panose="02010609060101010101" pitchFamily="49" charset="-122"/>
            </a:endParaRPr>
          </a:p>
          <a:p>
            <a:pPr>
              <a:buFontTx/>
              <a:buNone/>
            </a:pPr>
            <a:endParaRPr lang="en-US" altLang="zh-CN" sz="2000">
              <a:ea typeface="黑体" panose="02010609060101010101" pitchFamily="49" charset="-122"/>
            </a:endParaRPr>
          </a:p>
          <a:p>
            <a:pPr>
              <a:buFontTx/>
              <a:buNone/>
            </a:pPr>
            <a:endParaRPr lang="en-US" altLang="zh-CN" sz="2000">
              <a:ea typeface="黑体" panose="02010609060101010101" pitchFamily="49" charset="-122"/>
            </a:endParaRPr>
          </a:p>
          <a:p>
            <a:pPr>
              <a:buFontTx/>
              <a:buNone/>
            </a:pPr>
            <a:endParaRPr lang="en-US" altLang="zh-CN" sz="2000">
              <a:ea typeface="黑体" panose="02010609060101010101" pitchFamily="49" charset="-122"/>
            </a:endParaRPr>
          </a:p>
          <a:p>
            <a:pPr>
              <a:buFontTx/>
              <a:buNone/>
            </a:pPr>
            <a:endParaRPr lang="en-US" altLang="zh-CN" sz="2000">
              <a:ea typeface="黑体" panose="02010609060101010101" pitchFamily="49" charset="-122"/>
            </a:endParaRPr>
          </a:p>
          <a:p>
            <a:pPr>
              <a:buFontTx/>
              <a:buNone/>
            </a:pPr>
            <a:endParaRPr lang="en-US" altLang="zh-CN" sz="2000">
              <a:ea typeface="黑体" panose="02010609060101010101" pitchFamily="49" charset="-122"/>
            </a:endParaRPr>
          </a:p>
          <a:p>
            <a:pPr>
              <a:buFontTx/>
              <a:buNone/>
            </a:pPr>
            <a:endParaRPr lang="en-US" altLang="zh-CN" sz="2000">
              <a:ea typeface="黑体" panose="02010609060101010101" pitchFamily="49" charset="-122"/>
            </a:endParaRPr>
          </a:p>
          <a:p>
            <a:pPr>
              <a:lnSpc>
                <a:spcPct val="115000"/>
              </a:lnSpc>
              <a:spcBef>
                <a:spcPct val="25000"/>
              </a:spcBef>
            </a:pPr>
            <a:r>
              <a:rPr lang="zh-CN" altLang="en-US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什么是数据通路（</a:t>
            </a:r>
            <a:r>
              <a:rPr lang="en-US" altLang="zh-CN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DataPath</a:t>
            </a:r>
            <a:r>
              <a:rPr lang="zh-CN" altLang="en-US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?</a:t>
            </a:r>
          </a:p>
          <a:p>
            <a:pPr lvl="1">
              <a:lnSpc>
                <a:spcPct val="115000"/>
              </a:lnSpc>
              <a:spcBef>
                <a:spcPct val="25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指令执行过程中，数据所经过的路径，包括路径中的部件。它是</a:t>
            </a:r>
            <a:r>
              <a:rPr lang="zh-CN" altLang="en-US" sz="20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指令的执行部件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ct val="115000"/>
              </a:lnSpc>
              <a:spcBef>
                <a:spcPct val="25000"/>
              </a:spcBef>
            </a:pPr>
            <a:r>
              <a:rPr lang="zh-CN" altLang="en-US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控制器（</a:t>
            </a:r>
            <a:r>
              <a:rPr lang="en-US" altLang="zh-CN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Control</a:t>
            </a:r>
            <a:r>
              <a:rPr lang="zh-CN" altLang="en-US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）的功能是什么？</a:t>
            </a:r>
          </a:p>
          <a:p>
            <a:pPr lvl="1">
              <a:lnSpc>
                <a:spcPct val="115000"/>
              </a:lnSpc>
              <a:spcBef>
                <a:spcPct val="25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对指令进行译码，生成指令对应的控制信号，控制数据通路的动作。能对执行部件发出控制信号，是</a:t>
            </a:r>
            <a:r>
              <a:rPr lang="zh-CN" altLang="en-US" sz="20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指令的控制部件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grpSp>
        <p:nvGrpSpPr>
          <p:cNvPr id="10244" name="Group 5">
            <a:extLst>
              <a:ext uri="{FF2B5EF4-FFF2-40B4-BE49-F238E27FC236}">
                <a16:creationId xmlns:a16="http://schemas.microsoft.com/office/drawing/2014/main" id="{7DED4E8A-A8D1-3A45-BCCB-57FBAF17FE88}"/>
              </a:ext>
            </a:extLst>
          </p:cNvPr>
          <p:cNvGrpSpPr>
            <a:grpSpLocks/>
          </p:cNvGrpSpPr>
          <p:nvPr/>
        </p:nvGrpSpPr>
        <p:grpSpPr bwMode="auto">
          <a:xfrm>
            <a:off x="1647825" y="1773238"/>
            <a:ext cx="1558925" cy="736600"/>
            <a:chOff x="1016" y="1496"/>
            <a:chExt cx="800" cy="464"/>
          </a:xfrm>
        </p:grpSpPr>
        <p:sp>
          <p:nvSpPr>
            <p:cNvPr id="10258" name="Rectangle 6">
              <a:extLst>
                <a:ext uri="{FF2B5EF4-FFF2-40B4-BE49-F238E27FC236}">
                  <a16:creationId xmlns:a16="http://schemas.microsoft.com/office/drawing/2014/main" id="{28CF3EFC-6BF0-EB4E-A734-12509227CC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6" y="1496"/>
              <a:ext cx="800" cy="46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0259" name="Rectangle 7">
              <a:extLst>
                <a:ext uri="{FF2B5EF4-FFF2-40B4-BE49-F238E27FC236}">
                  <a16:creationId xmlns:a16="http://schemas.microsoft.com/office/drawing/2014/main" id="{83AD9AA8-6FC2-BC43-A840-830594AB57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" y="1643"/>
              <a:ext cx="484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Control</a:t>
              </a:r>
            </a:p>
          </p:txBody>
        </p:sp>
      </p:grpSp>
      <p:sp>
        <p:nvSpPr>
          <p:cNvPr id="10245" name="Rectangle 11">
            <a:extLst>
              <a:ext uri="{FF2B5EF4-FFF2-40B4-BE49-F238E27FC236}">
                <a16:creationId xmlns:a16="http://schemas.microsoft.com/office/drawing/2014/main" id="{0C24087E-E18A-394D-80EE-29744FB063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3150" y="1392238"/>
            <a:ext cx="1277938" cy="21844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0246" name="Rectangle 12">
            <a:extLst>
              <a:ext uri="{FF2B5EF4-FFF2-40B4-BE49-F238E27FC236}">
                <a16:creationId xmlns:a16="http://schemas.microsoft.com/office/drawing/2014/main" id="{42E420D2-7FDF-314F-8A3B-A9545486BD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0463" y="2244725"/>
            <a:ext cx="10191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Memory</a:t>
            </a:r>
          </a:p>
        </p:txBody>
      </p:sp>
      <p:sp>
        <p:nvSpPr>
          <p:cNvPr id="10247" name="Rectangle 13">
            <a:extLst>
              <a:ext uri="{FF2B5EF4-FFF2-40B4-BE49-F238E27FC236}">
                <a16:creationId xmlns:a16="http://schemas.microsoft.com/office/drawing/2014/main" id="{B06777DE-CC2E-0E49-9E3D-499EF4DD21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0500" y="1392238"/>
            <a:ext cx="1933575" cy="2184400"/>
          </a:xfrm>
          <a:prstGeom prst="rect">
            <a:avLst/>
          </a:prstGeom>
          <a:noFill/>
          <a:ln w="25400">
            <a:solidFill>
              <a:srgbClr val="A5002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0248" name="Rectangle 14">
            <a:extLst>
              <a:ext uri="{FF2B5EF4-FFF2-40B4-BE49-F238E27FC236}">
                <a16:creationId xmlns:a16="http://schemas.microsoft.com/office/drawing/2014/main" id="{20131241-566F-5547-9434-BD38C2FAFA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1813" y="1379538"/>
            <a:ext cx="704850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CPU</a:t>
            </a:r>
          </a:p>
        </p:txBody>
      </p:sp>
      <p:sp>
        <p:nvSpPr>
          <p:cNvPr id="10249" name="Rectangle 15">
            <a:extLst>
              <a:ext uri="{FF2B5EF4-FFF2-40B4-BE49-F238E27FC236}">
                <a16:creationId xmlns:a16="http://schemas.microsoft.com/office/drawing/2014/main" id="{1F68EBEE-6A6C-E843-BEC8-5BA8E78E3C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0163" y="1392238"/>
            <a:ext cx="1277937" cy="8890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0250" name="Rectangle 16">
            <a:extLst>
              <a:ext uri="{FF2B5EF4-FFF2-40B4-BE49-F238E27FC236}">
                <a16:creationId xmlns:a16="http://schemas.microsoft.com/office/drawing/2014/main" id="{14D18079-D13E-3940-AEF0-3E793B052E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6863" y="1684338"/>
            <a:ext cx="7270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Input</a:t>
            </a:r>
          </a:p>
        </p:txBody>
      </p:sp>
      <p:sp>
        <p:nvSpPr>
          <p:cNvPr id="10251" name="Rectangle 17">
            <a:extLst>
              <a:ext uri="{FF2B5EF4-FFF2-40B4-BE49-F238E27FC236}">
                <a16:creationId xmlns:a16="http://schemas.microsoft.com/office/drawing/2014/main" id="{C02D59BD-B206-5347-86AC-5237ACD3D5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0163" y="2687638"/>
            <a:ext cx="1277937" cy="8890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0252" name="Rectangle 18">
            <a:extLst>
              <a:ext uri="{FF2B5EF4-FFF2-40B4-BE49-F238E27FC236}">
                <a16:creationId xmlns:a16="http://schemas.microsoft.com/office/drawing/2014/main" id="{2E491497-DB23-D94E-86BA-27437F7DE0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5900" y="2979738"/>
            <a:ext cx="8921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Output</a:t>
            </a:r>
          </a:p>
        </p:txBody>
      </p:sp>
      <p:grpSp>
        <p:nvGrpSpPr>
          <p:cNvPr id="10253" name="Group 20">
            <a:extLst>
              <a:ext uri="{FF2B5EF4-FFF2-40B4-BE49-F238E27FC236}">
                <a16:creationId xmlns:a16="http://schemas.microsoft.com/office/drawing/2014/main" id="{4BD19654-C206-394B-B155-18CAD1147D14}"/>
              </a:ext>
            </a:extLst>
          </p:cNvPr>
          <p:cNvGrpSpPr>
            <a:grpSpLocks/>
          </p:cNvGrpSpPr>
          <p:nvPr/>
        </p:nvGrpSpPr>
        <p:grpSpPr bwMode="auto">
          <a:xfrm>
            <a:off x="1641475" y="2709863"/>
            <a:ext cx="1589088" cy="736600"/>
            <a:chOff x="1016" y="2072"/>
            <a:chExt cx="800" cy="464"/>
          </a:xfrm>
        </p:grpSpPr>
        <p:sp>
          <p:nvSpPr>
            <p:cNvPr id="10256" name="Rectangle 21">
              <a:extLst>
                <a:ext uri="{FF2B5EF4-FFF2-40B4-BE49-F238E27FC236}">
                  <a16:creationId xmlns:a16="http://schemas.microsoft.com/office/drawing/2014/main" id="{031D0787-3498-A84F-994A-29255E18F3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6" y="2072"/>
              <a:ext cx="800" cy="46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0257" name="Rectangle 22">
              <a:extLst>
                <a:ext uri="{FF2B5EF4-FFF2-40B4-BE49-F238E27FC236}">
                  <a16:creationId xmlns:a16="http://schemas.microsoft.com/office/drawing/2014/main" id="{FAD4C49D-8B49-314C-A162-B0B2E0083B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5" y="2193"/>
              <a:ext cx="510" cy="2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solidFill>
                    <a:srgbClr val="CC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Datapath</a:t>
              </a:r>
            </a:p>
          </p:txBody>
        </p:sp>
      </p:grpSp>
      <p:sp>
        <p:nvSpPr>
          <p:cNvPr id="10254" name="Rectangle 9">
            <a:extLst>
              <a:ext uri="{FF2B5EF4-FFF2-40B4-BE49-F238E27FC236}">
                <a16:creationId xmlns:a16="http://schemas.microsoft.com/office/drawing/2014/main" id="{8B61719A-BE47-A644-B0F2-C0E7DA65FB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1475" y="2716213"/>
            <a:ext cx="1589088" cy="736600"/>
          </a:xfrm>
          <a:prstGeom prst="rect">
            <a:avLst/>
          </a:prstGeom>
          <a:solidFill>
            <a:srgbClr val="91B3F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0255" name="Rectangle 10">
            <a:extLst>
              <a:ext uri="{FF2B5EF4-FFF2-40B4-BE49-F238E27FC236}">
                <a16:creationId xmlns:a16="http://schemas.microsoft.com/office/drawing/2014/main" id="{17C9903B-8003-CD41-9362-1808299226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7538" y="2908300"/>
            <a:ext cx="1203325" cy="363538"/>
          </a:xfrm>
          <a:prstGeom prst="rect">
            <a:avLst/>
          </a:prstGeom>
          <a:solidFill>
            <a:srgbClr val="91B3F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Datapath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71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771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771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7715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8EA1008E-9F3D-7D48-8DB1-BE6B82B3DE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数据通路的基本结构</a:t>
            </a:r>
          </a:p>
        </p:txBody>
      </p:sp>
      <p:sp>
        <p:nvSpPr>
          <p:cNvPr id="394243" name="Rectangle 3">
            <a:extLst>
              <a:ext uri="{FF2B5EF4-FFF2-40B4-BE49-F238E27FC236}">
                <a16:creationId xmlns:a16="http://schemas.microsoft.com/office/drawing/2014/main" id="{C2556B42-B86E-A34E-9BD6-69B1873FD7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73075" y="819150"/>
            <a:ext cx="5935663" cy="4232275"/>
          </a:xfrm>
        </p:spPr>
        <p:txBody>
          <a:bodyPr/>
          <a:lstStyle/>
          <a:p>
            <a:pPr>
              <a:spcBef>
                <a:spcPct val="30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数据通路由两类元件组成</a:t>
            </a:r>
          </a:p>
          <a:p>
            <a:pPr lvl="1">
              <a:spcBef>
                <a:spcPct val="30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组合逻辑元件（也称操作元件）</a:t>
            </a:r>
          </a:p>
          <a:p>
            <a:pPr lvl="1">
              <a:spcBef>
                <a:spcPct val="30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时序逻辑元件（也称状态元件，存储元件）</a:t>
            </a:r>
          </a:p>
          <a:p>
            <a:pPr>
              <a:spcBef>
                <a:spcPct val="30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元件间的连接方式</a:t>
            </a:r>
          </a:p>
          <a:p>
            <a:pPr lvl="1">
              <a:spcBef>
                <a:spcPct val="30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总线连接方式</a:t>
            </a:r>
          </a:p>
          <a:p>
            <a:pPr lvl="1">
              <a:spcBef>
                <a:spcPct val="30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分散连接方式</a:t>
            </a:r>
          </a:p>
          <a:p>
            <a:pPr>
              <a:spcBef>
                <a:spcPct val="30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数据通路如何构成？</a:t>
            </a:r>
          </a:p>
          <a:p>
            <a:pPr lvl="1">
              <a:spcBef>
                <a:spcPct val="30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由“操作元件”和“存储元件”通过总线方式或分散方式连接而成</a:t>
            </a:r>
          </a:p>
          <a:p>
            <a:pPr>
              <a:spcBef>
                <a:spcPct val="30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数据通路的功能是什么？</a:t>
            </a:r>
          </a:p>
          <a:p>
            <a:pPr lvl="1">
              <a:spcBef>
                <a:spcPct val="30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进行数据存储、处理、传送</a:t>
            </a:r>
          </a:p>
        </p:txBody>
      </p:sp>
      <p:sp>
        <p:nvSpPr>
          <p:cNvPr id="394244" name="Rectangle 4">
            <a:extLst>
              <a:ext uri="{FF2B5EF4-FFF2-40B4-BE49-F238E27FC236}">
                <a16:creationId xmlns:a16="http://schemas.microsoft.com/office/drawing/2014/main" id="{E30297AD-5462-104F-A144-37D994145E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825" y="5041900"/>
            <a:ext cx="7413625" cy="971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30000"/>
              </a:lnSpc>
              <a:spcBef>
                <a:spcPct val="25000"/>
              </a:spcBef>
            </a:pPr>
            <a:r>
              <a:rPr lang="zh-CN" altLang="en-US" sz="2200">
                <a:solidFill>
                  <a:srgbClr val="0099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因此，数据通路是由</a:t>
            </a:r>
            <a:r>
              <a:rPr lang="zh-CN" altLang="en-US" sz="22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操作元件</a:t>
            </a:r>
            <a:r>
              <a:rPr lang="zh-CN" altLang="en-US" sz="2200">
                <a:solidFill>
                  <a:srgbClr val="0099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2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存储元件</a:t>
            </a:r>
            <a:r>
              <a:rPr lang="zh-CN" altLang="en-US" sz="2200">
                <a:solidFill>
                  <a:srgbClr val="0099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通过总线方式或分散方式连接而成的进行数据存储、处理、传送的路径。 </a:t>
            </a:r>
          </a:p>
        </p:txBody>
      </p:sp>
      <p:grpSp>
        <p:nvGrpSpPr>
          <p:cNvPr id="394246" name="Group 6">
            <a:extLst>
              <a:ext uri="{FF2B5EF4-FFF2-40B4-BE49-F238E27FC236}">
                <a16:creationId xmlns:a16="http://schemas.microsoft.com/office/drawing/2014/main" id="{FCF18AE3-DBC2-9148-9621-37F1F6F3256B}"/>
              </a:ext>
            </a:extLst>
          </p:cNvPr>
          <p:cNvGrpSpPr>
            <a:grpSpLocks/>
          </p:cNvGrpSpPr>
          <p:nvPr/>
        </p:nvGrpSpPr>
        <p:grpSpPr bwMode="auto">
          <a:xfrm>
            <a:off x="7054850" y="1836738"/>
            <a:ext cx="1720850" cy="2728912"/>
            <a:chOff x="4599" y="1561"/>
            <a:chExt cx="1084" cy="1719"/>
          </a:xfrm>
        </p:grpSpPr>
        <p:sp>
          <p:nvSpPr>
            <p:cNvPr id="12294" name="Text Box 7">
              <a:extLst>
                <a:ext uri="{FF2B5EF4-FFF2-40B4-BE49-F238E27FC236}">
                  <a16:creationId xmlns:a16="http://schemas.microsoft.com/office/drawing/2014/main" id="{DFB15479-FD3C-A04B-84F9-586D2A3C72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44" y="1781"/>
              <a:ext cx="77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zh-CN" altLang="en-US" sz="2400">
                  <a:latin typeface="Times New Roman" panose="02020603050405020304" pitchFamily="18" charset="0"/>
                  <a:ea typeface="微软雅黑" panose="020B0503020204020204" pitchFamily="34" charset="-122"/>
                </a:rPr>
                <a:t>搬数据</a:t>
              </a:r>
            </a:p>
          </p:txBody>
        </p:sp>
        <p:sp>
          <p:nvSpPr>
            <p:cNvPr id="12295" name="Text Box 8">
              <a:extLst>
                <a:ext uri="{FF2B5EF4-FFF2-40B4-BE49-F238E27FC236}">
                  <a16:creationId xmlns:a16="http://schemas.microsoft.com/office/drawing/2014/main" id="{1B7C6043-33A4-D84B-B2F0-56212B0CDE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61" y="2292"/>
              <a:ext cx="90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zh-CN" altLang="en-US" sz="2400">
                  <a:latin typeface="Times New Roman" panose="02020603050405020304" pitchFamily="18" charset="0"/>
                  <a:ea typeface="微软雅黑" panose="020B0503020204020204" pitchFamily="34" charset="-122"/>
                </a:rPr>
                <a:t>数据运算</a:t>
              </a:r>
            </a:p>
          </p:txBody>
        </p:sp>
        <p:sp>
          <p:nvSpPr>
            <p:cNvPr id="12296" name="Text Box 9">
              <a:extLst>
                <a:ext uri="{FF2B5EF4-FFF2-40B4-BE49-F238E27FC236}">
                  <a16:creationId xmlns:a16="http://schemas.microsoft.com/office/drawing/2014/main" id="{7F6009C2-3402-2A46-A85F-64A817961D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78" y="2766"/>
              <a:ext cx="90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zh-CN" altLang="en-US" sz="2400">
                  <a:latin typeface="Times New Roman" panose="02020603050405020304" pitchFamily="18" charset="0"/>
                  <a:ea typeface="微软雅黑" panose="020B0503020204020204" pitchFamily="34" charset="-122"/>
                </a:rPr>
                <a:t>存数据</a:t>
              </a:r>
            </a:p>
          </p:txBody>
        </p:sp>
        <p:sp>
          <p:nvSpPr>
            <p:cNvPr id="12297" name="Line 10">
              <a:extLst>
                <a:ext uri="{FF2B5EF4-FFF2-40B4-BE49-F238E27FC236}">
                  <a16:creationId xmlns:a16="http://schemas.microsoft.com/office/drawing/2014/main" id="{E5240C22-C493-FA42-898B-0C9BE0E348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21" y="2064"/>
              <a:ext cx="0" cy="22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2298" name="Line 11">
              <a:extLst>
                <a:ext uri="{FF2B5EF4-FFF2-40B4-BE49-F238E27FC236}">
                  <a16:creationId xmlns:a16="http://schemas.microsoft.com/office/drawing/2014/main" id="{C441ED5E-D637-9E4D-AE16-B673F54DEE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31" y="2560"/>
              <a:ext cx="0" cy="22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2299" name="Line 12">
              <a:extLst>
                <a:ext uri="{FF2B5EF4-FFF2-40B4-BE49-F238E27FC236}">
                  <a16:creationId xmlns:a16="http://schemas.microsoft.com/office/drawing/2014/main" id="{320617A3-801E-EF49-A606-480CE082D1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31" y="3046"/>
              <a:ext cx="0" cy="22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2300" name="Line 13">
              <a:extLst>
                <a:ext uri="{FF2B5EF4-FFF2-40B4-BE49-F238E27FC236}">
                  <a16:creationId xmlns:a16="http://schemas.microsoft.com/office/drawing/2014/main" id="{773ECB22-4A2C-FB45-8C1A-E067622EC29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99" y="3280"/>
              <a:ext cx="63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2301" name="Line 14">
              <a:extLst>
                <a:ext uri="{FF2B5EF4-FFF2-40B4-BE49-F238E27FC236}">
                  <a16:creationId xmlns:a16="http://schemas.microsoft.com/office/drawing/2014/main" id="{BABF7CA8-9E10-AB48-959C-66343FBA0F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7" y="1570"/>
              <a:ext cx="0" cy="171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2302" name="Line 15">
              <a:extLst>
                <a:ext uri="{FF2B5EF4-FFF2-40B4-BE49-F238E27FC236}">
                  <a16:creationId xmlns:a16="http://schemas.microsoft.com/office/drawing/2014/main" id="{D789D605-165A-2C45-A9D6-045E3A67CB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8" y="1572"/>
              <a:ext cx="58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2303" name="Line 16">
              <a:extLst>
                <a:ext uri="{FF2B5EF4-FFF2-40B4-BE49-F238E27FC236}">
                  <a16:creationId xmlns:a16="http://schemas.microsoft.com/office/drawing/2014/main" id="{477E10ED-396C-9048-99D5-E1511A8A1D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04" y="1561"/>
              <a:ext cx="0" cy="22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94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94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94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94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94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942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394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394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424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4D563D08-2E02-C346-9D23-E12B50B38F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4500" y="203200"/>
            <a:ext cx="5857875" cy="422275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操作元件：组合逻辑电路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34777D1F-4056-F440-B017-B70894F7B5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2250" y="914400"/>
            <a:ext cx="1708150" cy="4606925"/>
          </a:xfrm>
        </p:spPr>
        <p:txBody>
          <a:bodyPr/>
          <a:lstStyle/>
          <a:p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加法器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(Adder)</a:t>
            </a:r>
          </a:p>
          <a:p>
            <a:pPr>
              <a:buFontTx/>
              <a:buNone/>
            </a:pP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FontTx/>
              <a:buNone/>
            </a:pP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FontTx/>
              <a:buNone/>
            </a:pP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FontTx/>
              <a:buNone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多路选择器     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(MUX)</a:t>
            </a:r>
          </a:p>
          <a:p>
            <a:pPr>
              <a:buFontTx/>
              <a:buNone/>
            </a:pP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FontTx/>
              <a:buNone/>
            </a:pP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FontTx/>
              <a:buNone/>
            </a:pP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FontTx/>
              <a:buNone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算逻部件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(ALU)</a:t>
            </a:r>
          </a:p>
        </p:txBody>
      </p:sp>
      <p:grpSp>
        <p:nvGrpSpPr>
          <p:cNvPr id="187488" name="Group 96">
            <a:extLst>
              <a:ext uri="{FF2B5EF4-FFF2-40B4-BE49-F238E27FC236}">
                <a16:creationId xmlns:a16="http://schemas.microsoft.com/office/drawing/2014/main" id="{33BA6F80-7849-8E44-8E62-D0C5B889EE0B}"/>
              </a:ext>
            </a:extLst>
          </p:cNvPr>
          <p:cNvGrpSpPr>
            <a:grpSpLocks/>
          </p:cNvGrpSpPr>
          <p:nvPr/>
        </p:nvGrpSpPr>
        <p:grpSpPr bwMode="auto">
          <a:xfrm>
            <a:off x="1614488" y="2667000"/>
            <a:ext cx="2466975" cy="1735138"/>
            <a:chOff x="1431" y="1680"/>
            <a:chExt cx="1554" cy="1093"/>
          </a:xfrm>
        </p:grpSpPr>
        <p:sp>
          <p:nvSpPr>
            <p:cNvPr id="13394" name="Line 51">
              <a:extLst>
                <a:ext uri="{FF2B5EF4-FFF2-40B4-BE49-F238E27FC236}">
                  <a16:creationId xmlns:a16="http://schemas.microsoft.com/office/drawing/2014/main" id="{CA884B90-EA0F-5243-A84F-374B6503F6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2" y="1976"/>
              <a:ext cx="0" cy="7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95" name="Line 52">
              <a:extLst>
                <a:ext uri="{FF2B5EF4-FFF2-40B4-BE49-F238E27FC236}">
                  <a16:creationId xmlns:a16="http://schemas.microsoft.com/office/drawing/2014/main" id="{2DFD2C73-3A1B-7543-A193-2D9E606F5F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20" y="1976"/>
              <a:ext cx="194" cy="10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96" name="Line 53">
              <a:extLst>
                <a:ext uri="{FF2B5EF4-FFF2-40B4-BE49-F238E27FC236}">
                  <a16:creationId xmlns:a16="http://schemas.microsoft.com/office/drawing/2014/main" id="{63138AB8-FCAC-1949-9A77-38004962BD2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02" y="2566"/>
              <a:ext cx="194" cy="12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97" name="Line 54">
              <a:extLst>
                <a:ext uri="{FF2B5EF4-FFF2-40B4-BE49-F238E27FC236}">
                  <a16:creationId xmlns:a16="http://schemas.microsoft.com/office/drawing/2014/main" id="{279D0349-027A-2342-A6F3-EA389EDB34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4" y="2072"/>
              <a:ext cx="0" cy="5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98" name="Line 55">
              <a:extLst>
                <a:ext uri="{FF2B5EF4-FFF2-40B4-BE49-F238E27FC236}">
                  <a16:creationId xmlns:a16="http://schemas.microsoft.com/office/drawing/2014/main" id="{6E3C545C-009A-654D-8D21-960EBD57CE8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24" y="2112"/>
              <a:ext cx="4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99" name="Line 56">
              <a:extLst>
                <a:ext uri="{FF2B5EF4-FFF2-40B4-BE49-F238E27FC236}">
                  <a16:creationId xmlns:a16="http://schemas.microsoft.com/office/drawing/2014/main" id="{AAE87A49-5200-6840-809E-E6D6EFBF12A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68" y="2068"/>
              <a:ext cx="56" cy="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400" name="Rectangle 57">
              <a:extLst>
                <a:ext uri="{FF2B5EF4-FFF2-40B4-BE49-F238E27FC236}">
                  <a16:creationId xmlns:a16="http://schemas.microsoft.com/office/drawing/2014/main" id="{B1F95388-448C-D54A-93BD-3020C37DED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1" y="2112"/>
              <a:ext cx="274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32</a:t>
              </a:r>
            </a:p>
          </p:txBody>
        </p:sp>
        <p:sp>
          <p:nvSpPr>
            <p:cNvPr id="13401" name="Line 58">
              <a:extLst>
                <a:ext uri="{FF2B5EF4-FFF2-40B4-BE49-F238E27FC236}">
                  <a16:creationId xmlns:a16="http://schemas.microsoft.com/office/drawing/2014/main" id="{25156B02-D183-7442-A5EB-72D0DCD101A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24" y="2544"/>
              <a:ext cx="4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402" name="Line 59">
              <a:extLst>
                <a:ext uri="{FF2B5EF4-FFF2-40B4-BE49-F238E27FC236}">
                  <a16:creationId xmlns:a16="http://schemas.microsoft.com/office/drawing/2014/main" id="{A02752CA-5FE8-2146-BE03-4BE5FCB5190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68" y="2500"/>
              <a:ext cx="56" cy="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403" name="Rectangle 60">
              <a:extLst>
                <a:ext uri="{FF2B5EF4-FFF2-40B4-BE49-F238E27FC236}">
                  <a16:creationId xmlns:a16="http://schemas.microsoft.com/office/drawing/2014/main" id="{E057008B-007C-E94F-90A2-C3D4C1A5F8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1" y="2016"/>
              <a:ext cx="218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13404" name="Rectangle 61">
              <a:extLst>
                <a:ext uri="{FF2B5EF4-FFF2-40B4-BE49-F238E27FC236}">
                  <a16:creationId xmlns:a16="http://schemas.microsoft.com/office/drawing/2014/main" id="{2B94EA33-5B1D-4443-87C4-F9B92984F5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1" y="2448"/>
              <a:ext cx="218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13405" name="Rectangle 62">
              <a:extLst>
                <a:ext uri="{FF2B5EF4-FFF2-40B4-BE49-F238E27FC236}">
                  <a16:creationId xmlns:a16="http://schemas.microsoft.com/office/drawing/2014/main" id="{6C00CE80-6BA7-7A48-9CDF-F264BD081F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1" y="2544"/>
              <a:ext cx="274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32</a:t>
              </a:r>
            </a:p>
          </p:txBody>
        </p:sp>
        <p:sp>
          <p:nvSpPr>
            <p:cNvPr id="13406" name="Line 63">
              <a:extLst>
                <a:ext uri="{FF2B5EF4-FFF2-40B4-BE49-F238E27FC236}">
                  <a16:creationId xmlns:a16="http://schemas.microsoft.com/office/drawing/2014/main" id="{B43D51B6-3178-544B-ABDA-991D1268237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96" y="2352"/>
              <a:ext cx="4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407" name="Line 64">
              <a:extLst>
                <a:ext uri="{FF2B5EF4-FFF2-40B4-BE49-F238E27FC236}">
                  <a16:creationId xmlns:a16="http://schemas.microsoft.com/office/drawing/2014/main" id="{B11FF9CC-1B0F-454E-87CB-2DE9D0577B0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40" y="2308"/>
              <a:ext cx="56" cy="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408" name="Rectangle 65">
              <a:extLst>
                <a:ext uri="{FF2B5EF4-FFF2-40B4-BE49-F238E27FC236}">
                  <a16:creationId xmlns:a16="http://schemas.microsoft.com/office/drawing/2014/main" id="{2D49BD74-FD87-6543-83E3-1DEAAC5624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5" y="2256"/>
              <a:ext cx="210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宋体" panose="02010600030101010101" pitchFamily="2" charset="-122"/>
                </a:rPr>
                <a:t>Y</a:t>
              </a:r>
            </a:p>
          </p:txBody>
        </p:sp>
        <p:sp>
          <p:nvSpPr>
            <p:cNvPr id="13409" name="Rectangle 66">
              <a:extLst>
                <a:ext uri="{FF2B5EF4-FFF2-40B4-BE49-F238E27FC236}">
                  <a16:creationId xmlns:a16="http://schemas.microsoft.com/office/drawing/2014/main" id="{1D5DC559-DBED-E546-9473-94CBD1B13E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3" y="2352"/>
              <a:ext cx="274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32</a:t>
              </a:r>
            </a:p>
          </p:txBody>
        </p:sp>
        <p:sp>
          <p:nvSpPr>
            <p:cNvPr id="13410" name="Line 67">
              <a:extLst>
                <a:ext uri="{FF2B5EF4-FFF2-40B4-BE49-F238E27FC236}">
                  <a16:creationId xmlns:a16="http://schemas.microsoft.com/office/drawing/2014/main" id="{F1D4E2B4-17B9-8849-8D8F-FC53EDCFB1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1736"/>
              <a:ext cx="0" cy="272"/>
            </a:xfrm>
            <a:prstGeom prst="line">
              <a:avLst/>
            </a:prstGeom>
            <a:noFill/>
            <a:ln w="38100">
              <a:solidFill>
                <a:srgbClr val="D90125"/>
              </a:solidFill>
              <a:prstDash val="sysDot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411" name="Rectangle 68">
              <a:extLst>
                <a:ext uri="{FF2B5EF4-FFF2-40B4-BE49-F238E27FC236}">
                  <a16:creationId xmlns:a16="http://schemas.microsoft.com/office/drawing/2014/main" id="{8FDE057B-3AE3-8547-A056-F39E6FDFB7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97" y="1680"/>
              <a:ext cx="543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宋体" panose="02010600030101010101" pitchFamily="2" charset="-122"/>
                  <a:cs typeface="Arial" panose="020B0604020202020204" pitchFamily="34" charset="0"/>
                </a:rPr>
                <a:t>Select</a:t>
              </a:r>
            </a:p>
          </p:txBody>
        </p:sp>
        <p:sp>
          <p:nvSpPr>
            <p:cNvPr id="13412" name="Rectangle 70">
              <a:extLst>
                <a:ext uri="{FF2B5EF4-FFF2-40B4-BE49-F238E27FC236}">
                  <a16:creationId xmlns:a16="http://schemas.microsoft.com/office/drawing/2014/main" id="{14EEACB1-B1AE-3242-80F4-6A2E2C1B4CD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968" y="2238"/>
              <a:ext cx="434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宋体" panose="02010600030101010101" pitchFamily="2" charset="-122"/>
                </a:rPr>
                <a:t>MUX</a:t>
              </a:r>
            </a:p>
          </p:txBody>
        </p:sp>
      </p:grpSp>
      <p:grpSp>
        <p:nvGrpSpPr>
          <p:cNvPr id="187489" name="Group 97">
            <a:extLst>
              <a:ext uri="{FF2B5EF4-FFF2-40B4-BE49-F238E27FC236}">
                <a16:creationId xmlns:a16="http://schemas.microsoft.com/office/drawing/2014/main" id="{CE551BEE-7B04-D045-B62E-E287519AF0D5}"/>
              </a:ext>
            </a:extLst>
          </p:cNvPr>
          <p:cNvGrpSpPr>
            <a:grpSpLocks/>
          </p:cNvGrpSpPr>
          <p:nvPr/>
        </p:nvGrpSpPr>
        <p:grpSpPr bwMode="auto">
          <a:xfrm>
            <a:off x="1595438" y="4738688"/>
            <a:ext cx="3165475" cy="1797050"/>
            <a:chOff x="1383" y="2985"/>
            <a:chExt cx="1994" cy="1132"/>
          </a:xfrm>
        </p:grpSpPr>
        <p:sp>
          <p:nvSpPr>
            <p:cNvPr id="13368" name="Rectangle 40">
              <a:extLst>
                <a:ext uri="{FF2B5EF4-FFF2-40B4-BE49-F238E27FC236}">
                  <a16:creationId xmlns:a16="http://schemas.microsoft.com/office/drawing/2014/main" id="{DF77858D-50C7-FD43-B360-929AB0B173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3" y="3888"/>
              <a:ext cx="274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32</a:t>
              </a:r>
            </a:p>
          </p:txBody>
        </p:sp>
        <p:sp>
          <p:nvSpPr>
            <p:cNvPr id="13369" name="Line 26">
              <a:extLst>
                <a:ext uri="{FF2B5EF4-FFF2-40B4-BE49-F238E27FC236}">
                  <a16:creationId xmlns:a16="http://schemas.microsoft.com/office/drawing/2014/main" id="{49E74571-761D-714A-BC92-A1897494003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76" y="3312"/>
              <a:ext cx="4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3370" name="Group 27">
              <a:extLst>
                <a:ext uri="{FF2B5EF4-FFF2-40B4-BE49-F238E27FC236}">
                  <a16:creationId xmlns:a16="http://schemas.microsoft.com/office/drawing/2014/main" id="{C770FF99-2B3A-F94C-A5F5-B1A164AF695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64" y="3224"/>
              <a:ext cx="288" cy="768"/>
              <a:chOff x="2064" y="3224"/>
              <a:chExt cx="288" cy="768"/>
            </a:xfrm>
          </p:grpSpPr>
          <p:sp>
            <p:nvSpPr>
              <p:cNvPr id="13386" name="Line 28">
                <a:extLst>
                  <a:ext uri="{FF2B5EF4-FFF2-40B4-BE49-F238E27FC236}">
                    <a16:creationId xmlns:a16="http://schemas.microsoft.com/office/drawing/2014/main" id="{738E7C8D-8F68-6344-BC1F-6A5345BD07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64" y="3224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87" name="Line 29">
                <a:extLst>
                  <a:ext uri="{FF2B5EF4-FFF2-40B4-BE49-F238E27FC236}">
                    <a16:creationId xmlns:a16="http://schemas.microsoft.com/office/drawing/2014/main" id="{1706B7A3-361C-2D47-82EF-B3E92B0F35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72" y="3224"/>
                <a:ext cx="272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88" name="Line 30">
                <a:extLst>
                  <a:ext uri="{FF2B5EF4-FFF2-40B4-BE49-F238E27FC236}">
                    <a16:creationId xmlns:a16="http://schemas.microsoft.com/office/drawing/2014/main" id="{9E64785A-3B8B-3741-8E74-4AC33C7795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72" y="3416"/>
                <a:ext cx="128" cy="8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89" name="Line 31">
                <a:extLst>
                  <a:ext uri="{FF2B5EF4-FFF2-40B4-BE49-F238E27FC236}">
                    <a16:creationId xmlns:a16="http://schemas.microsoft.com/office/drawing/2014/main" id="{BC721201-BA1C-FE44-A8CB-19A8A75AFA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08" y="3512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90" name="Line 32">
                <a:extLst>
                  <a:ext uri="{FF2B5EF4-FFF2-40B4-BE49-F238E27FC236}">
                    <a16:creationId xmlns:a16="http://schemas.microsoft.com/office/drawing/2014/main" id="{D120AE6D-64B6-3243-975C-EBF9293697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2" y="3416"/>
                <a:ext cx="0" cy="36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91" name="Line 33">
                <a:extLst>
                  <a:ext uri="{FF2B5EF4-FFF2-40B4-BE49-F238E27FC236}">
                    <a16:creationId xmlns:a16="http://schemas.microsoft.com/office/drawing/2014/main" id="{4897FE42-BEC8-AF40-8B79-2B3EE89952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072" y="3688"/>
                <a:ext cx="128" cy="11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92" name="Line 34">
                <a:extLst>
                  <a:ext uri="{FF2B5EF4-FFF2-40B4-BE49-F238E27FC236}">
                    <a16:creationId xmlns:a16="http://schemas.microsoft.com/office/drawing/2014/main" id="{CB949B06-858B-A340-B0CC-8DCC7CAA14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64" y="3800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93" name="Line 35">
                <a:extLst>
                  <a:ext uri="{FF2B5EF4-FFF2-40B4-BE49-F238E27FC236}">
                    <a16:creationId xmlns:a16="http://schemas.microsoft.com/office/drawing/2014/main" id="{AD4AF729-1AF1-EC41-A278-6C59455736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072" y="3784"/>
                <a:ext cx="272" cy="20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3371" name="Line 36">
              <a:extLst>
                <a:ext uri="{FF2B5EF4-FFF2-40B4-BE49-F238E27FC236}">
                  <a16:creationId xmlns:a16="http://schemas.microsoft.com/office/drawing/2014/main" id="{F1DDFC00-94C9-504B-96C9-65E2AF9F0A7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20" y="3268"/>
              <a:ext cx="56" cy="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72" name="Rectangle 37">
              <a:extLst>
                <a:ext uri="{FF2B5EF4-FFF2-40B4-BE49-F238E27FC236}">
                  <a16:creationId xmlns:a16="http://schemas.microsoft.com/office/drawing/2014/main" id="{5D59EDCE-E1D6-DC40-894C-100074FBD4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3" y="3312"/>
              <a:ext cx="274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32</a:t>
              </a:r>
            </a:p>
          </p:txBody>
        </p:sp>
        <p:sp>
          <p:nvSpPr>
            <p:cNvPr id="13373" name="Line 38">
              <a:extLst>
                <a:ext uri="{FF2B5EF4-FFF2-40B4-BE49-F238E27FC236}">
                  <a16:creationId xmlns:a16="http://schemas.microsoft.com/office/drawing/2014/main" id="{EDA9341A-8A3E-DC41-9D77-CCD87413EC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76" y="3888"/>
              <a:ext cx="4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74" name="Line 39">
              <a:extLst>
                <a:ext uri="{FF2B5EF4-FFF2-40B4-BE49-F238E27FC236}">
                  <a16:creationId xmlns:a16="http://schemas.microsoft.com/office/drawing/2014/main" id="{213460C3-5754-104A-8EE9-0CF5C7B22C1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20" y="3844"/>
              <a:ext cx="56" cy="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75" name="Rectangle 41">
              <a:extLst>
                <a:ext uri="{FF2B5EF4-FFF2-40B4-BE49-F238E27FC236}">
                  <a16:creationId xmlns:a16="http://schemas.microsoft.com/office/drawing/2014/main" id="{1CC3D4AA-A8C3-D244-A578-CAA574949B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3" y="3216"/>
              <a:ext cx="218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13376" name="Rectangle 42">
              <a:extLst>
                <a:ext uri="{FF2B5EF4-FFF2-40B4-BE49-F238E27FC236}">
                  <a16:creationId xmlns:a16="http://schemas.microsoft.com/office/drawing/2014/main" id="{05D9B00C-5EF3-6740-A389-9EAAC47DF9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3" y="3792"/>
              <a:ext cx="218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13377" name="Line 43">
              <a:extLst>
                <a:ext uri="{FF2B5EF4-FFF2-40B4-BE49-F238E27FC236}">
                  <a16:creationId xmlns:a16="http://schemas.microsoft.com/office/drawing/2014/main" id="{E682DC1D-FC7D-DC4C-BFC9-4AD856CFC61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44" y="3600"/>
              <a:ext cx="4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78" name="Line 44">
              <a:extLst>
                <a:ext uri="{FF2B5EF4-FFF2-40B4-BE49-F238E27FC236}">
                  <a16:creationId xmlns:a16="http://schemas.microsoft.com/office/drawing/2014/main" id="{E575E911-2512-F144-B5DC-3304B548C2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88" y="3556"/>
              <a:ext cx="56" cy="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79" name="Rectangle 45">
              <a:extLst>
                <a:ext uri="{FF2B5EF4-FFF2-40B4-BE49-F238E27FC236}">
                  <a16:creationId xmlns:a16="http://schemas.microsoft.com/office/drawing/2014/main" id="{53713581-4BB0-3442-8537-5D513944E9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91" y="3600"/>
              <a:ext cx="274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32</a:t>
              </a:r>
            </a:p>
          </p:txBody>
        </p:sp>
        <p:sp>
          <p:nvSpPr>
            <p:cNvPr id="13380" name="Rectangle 46">
              <a:extLst>
                <a:ext uri="{FF2B5EF4-FFF2-40B4-BE49-F238E27FC236}">
                  <a16:creationId xmlns:a16="http://schemas.microsoft.com/office/drawing/2014/main" id="{CF727433-52D9-D844-8D50-B4103F29C4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504"/>
              <a:ext cx="554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宋体" panose="02010600030101010101" pitchFamily="2" charset="-122"/>
                </a:rPr>
                <a:t>Result</a:t>
              </a:r>
            </a:p>
          </p:txBody>
        </p:sp>
        <p:sp>
          <p:nvSpPr>
            <p:cNvPr id="13381" name="Line 47">
              <a:extLst>
                <a:ext uri="{FF2B5EF4-FFF2-40B4-BE49-F238E27FC236}">
                  <a16:creationId xmlns:a16="http://schemas.microsoft.com/office/drawing/2014/main" id="{3A90D643-C053-2A41-971A-4C8C18E32C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16" y="3888"/>
              <a:ext cx="6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82" name="Rectangle 48">
              <a:extLst>
                <a:ext uri="{FF2B5EF4-FFF2-40B4-BE49-F238E27FC236}">
                  <a16:creationId xmlns:a16="http://schemas.microsoft.com/office/drawing/2014/main" id="{F66033BD-AF19-EC47-B061-4310F8E461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792"/>
              <a:ext cx="426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宋体" panose="02010600030101010101" pitchFamily="2" charset="-122"/>
                </a:rPr>
                <a:t>Zero</a:t>
              </a:r>
            </a:p>
          </p:txBody>
        </p:sp>
        <p:sp>
          <p:nvSpPr>
            <p:cNvPr id="13383" name="Line 49">
              <a:extLst>
                <a:ext uri="{FF2B5EF4-FFF2-40B4-BE49-F238E27FC236}">
                  <a16:creationId xmlns:a16="http://schemas.microsoft.com/office/drawing/2014/main" id="{995B8EFF-AC0D-754C-A352-0974A891F9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3032"/>
              <a:ext cx="0" cy="272"/>
            </a:xfrm>
            <a:prstGeom prst="line">
              <a:avLst/>
            </a:prstGeom>
            <a:noFill/>
            <a:ln w="38100">
              <a:solidFill>
                <a:srgbClr val="D90125"/>
              </a:solidFill>
              <a:prstDash val="sysDot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84" name="Rectangle 50">
              <a:extLst>
                <a:ext uri="{FF2B5EF4-FFF2-40B4-BE49-F238E27FC236}">
                  <a16:creationId xmlns:a16="http://schemas.microsoft.com/office/drawing/2014/main" id="{E5D8699F-8CF1-324C-AA90-FBCEE5F737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9" y="2985"/>
              <a:ext cx="442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solidFill>
                    <a:srgbClr val="B7011F"/>
                  </a:solidFill>
                  <a:ea typeface="宋体" panose="02010600030101010101" pitchFamily="2" charset="-122"/>
                  <a:cs typeface="Arial" panose="020B0604020202020204" pitchFamily="34" charset="0"/>
                </a:rPr>
                <a:t>OP</a:t>
              </a:r>
            </a:p>
          </p:txBody>
        </p:sp>
        <p:sp>
          <p:nvSpPr>
            <p:cNvPr id="13385" name="Rectangle 71">
              <a:extLst>
                <a:ext uri="{FF2B5EF4-FFF2-40B4-BE49-F238E27FC236}">
                  <a16:creationId xmlns:a16="http://schemas.microsoft.com/office/drawing/2014/main" id="{FB92CB2F-8B42-194B-A580-4B0A6563C8E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054" y="3502"/>
              <a:ext cx="410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宋体" panose="02010600030101010101" pitchFamily="2" charset="-122"/>
                </a:rPr>
                <a:t>ALU</a:t>
              </a:r>
            </a:p>
          </p:txBody>
        </p:sp>
      </p:grpSp>
      <p:grpSp>
        <p:nvGrpSpPr>
          <p:cNvPr id="187485" name="Group 93">
            <a:extLst>
              <a:ext uri="{FF2B5EF4-FFF2-40B4-BE49-F238E27FC236}">
                <a16:creationId xmlns:a16="http://schemas.microsoft.com/office/drawing/2014/main" id="{FDC3AD6D-6031-6F4B-BDB3-23BFD09EDAC1}"/>
              </a:ext>
            </a:extLst>
          </p:cNvPr>
          <p:cNvGrpSpPr>
            <a:grpSpLocks/>
          </p:cNvGrpSpPr>
          <p:nvPr/>
        </p:nvGrpSpPr>
        <p:grpSpPr bwMode="auto">
          <a:xfrm>
            <a:off x="1546225" y="600075"/>
            <a:ext cx="3063875" cy="1735138"/>
            <a:chOff x="1431" y="432"/>
            <a:chExt cx="1930" cy="1093"/>
          </a:xfrm>
        </p:grpSpPr>
        <p:sp>
          <p:nvSpPr>
            <p:cNvPr id="13343" name="Line 4">
              <a:extLst>
                <a:ext uri="{FF2B5EF4-FFF2-40B4-BE49-F238E27FC236}">
                  <a16:creationId xmlns:a16="http://schemas.microsoft.com/office/drawing/2014/main" id="{77762BA2-A7CE-864E-9230-84EAAE7E098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24" y="720"/>
              <a:ext cx="4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44" name="Line 5">
              <a:extLst>
                <a:ext uri="{FF2B5EF4-FFF2-40B4-BE49-F238E27FC236}">
                  <a16:creationId xmlns:a16="http://schemas.microsoft.com/office/drawing/2014/main" id="{115850C6-613B-744E-939D-01F286CDD7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2" y="632"/>
              <a:ext cx="0" cy="2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45" name="Line 6">
              <a:extLst>
                <a:ext uri="{FF2B5EF4-FFF2-40B4-BE49-F238E27FC236}">
                  <a16:creationId xmlns:a16="http://schemas.microsoft.com/office/drawing/2014/main" id="{E09038C2-EA52-C944-A2BC-1EAE9EE323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20" y="632"/>
              <a:ext cx="282" cy="19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46" name="Line 7">
              <a:extLst>
                <a:ext uri="{FF2B5EF4-FFF2-40B4-BE49-F238E27FC236}">
                  <a16:creationId xmlns:a16="http://schemas.microsoft.com/office/drawing/2014/main" id="{70400D64-1D05-8245-BC7C-4A59BFAAC8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2" y="815"/>
              <a:ext cx="164" cy="10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47" name="Line 8">
              <a:extLst>
                <a:ext uri="{FF2B5EF4-FFF2-40B4-BE49-F238E27FC236}">
                  <a16:creationId xmlns:a16="http://schemas.microsoft.com/office/drawing/2014/main" id="{D543D475-862D-EB4E-B321-3FEF1BCF8E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6" y="920"/>
              <a:ext cx="0" cy="1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48" name="Line 9">
              <a:extLst>
                <a:ext uri="{FF2B5EF4-FFF2-40B4-BE49-F238E27FC236}">
                  <a16:creationId xmlns:a16="http://schemas.microsoft.com/office/drawing/2014/main" id="{E39B62E5-E3CF-5748-8F6F-80237182BD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0" y="824"/>
              <a:ext cx="0" cy="36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49" name="Line 10">
              <a:extLst>
                <a:ext uri="{FF2B5EF4-FFF2-40B4-BE49-F238E27FC236}">
                  <a16:creationId xmlns:a16="http://schemas.microsoft.com/office/drawing/2014/main" id="{C50142F8-1ACE-044E-AC1D-6C32CE2730E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20" y="1096"/>
              <a:ext cx="128" cy="1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50" name="Line 11">
              <a:extLst>
                <a:ext uri="{FF2B5EF4-FFF2-40B4-BE49-F238E27FC236}">
                  <a16:creationId xmlns:a16="http://schemas.microsoft.com/office/drawing/2014/main" id="{0864DAA5-83FC-4641-83B9-2BAC85C449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03" y="1208"/>
              <a:ext cx="9" cy="19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51" name="Line 12">
              <a:extLst>
                <a:ext uri="{FF2B5EF4-FFF2-40B4-BE49-F238E27FC236}">
                  <a16:creationId xmlns:a16="http://schemas.microsoft.com/office/drawing/2014/main" id="{12D86429-8566-6347-9935-F0365D7620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20" y="1192"/>
              <a:ext cx="272" cy="20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52" name="Line 13">
              <a:extLst>
                <a:ext uri="{FF2B5EF4-FFF2-40B4-BE49-F238E27FC236}">
                  <a16:creationId xmlns:a16="http://schemas.microsoft.com/office/drawing/2014/main" id="{C9D1A921-34F6-584C-8121-B7A679BF375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68" y="676"/>
              <a:ext cx="56" cy="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53" name="Rectangle 14">
              <a:extLst>
                <a:ext uri="{FF2B5EF4-FFF2-40B4-BE49-F238E27FC236}">
                  <a16:creationId xmlns:a16="http://schemas.microsoft.com/office/drawing/2014/main" id="{594BA516-8D48-FC46-AA40-1379C80A68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1" y="720"/>
              <a:ext cx="274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32</a:t>
              </a:r>
            </a:p>
          </p:txBody>
        </p:sp>
        <p:sp>
          <p:nvSpPr>
            <p:cNvPr id="13354" name="Line 15">
              <a:extLst>
                <a:ext uri="{FF2B5EF4-FFF2-40B4-BE49-F238E27FC236}">
                  <a16:creationId xmlns:a16="http://schemas.microsoft.com/office/drawing/2014/main" id="{D1966789-6247-5A4D-B174-749B404905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24" y="1296"/>
              <a:ext cx="4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55" name="Line 16">
              <a:extLst>
                <a:ext uri="{FF2B5EF4-FFF2-40B4-BE49-F238E27FC236}">
                  <a16:creationId xmlns:a16="http://schemas.microsoft.com/office/drawing/2014/main" id="{86ECD2F5-D28F-2544-9C01-1369F2D069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68" y="1252"/>
              <a:ext cx="56" cy="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56" name="Rectangle 17">
              <a:extLst>
                <a:ext uri="{FF2B5EF4-FFF2-40B4-BE49-F238E27FC236}">
                  <a16:creationId xmlns:a16="http://schemas.microsoft.com/office/drawing/2014/main" id="{228B0535-38D2-894C-A69A-7BFAEB729C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1" y="1296"/>
              <a:ext cx="274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32</a:t>
              </a:r>
            </a:p>
          </p:txBody>
        </p:sp>
        <p:sp>
          <p:nvSpPr>
            <p:cNvPr id="13357" name="Rectangle 18">
              <a:extLst>
                <a:ext uri="{FF2B5EF4-FFF2-40B4-BE49-F238E27FC236}">
                  <a16:creationId xmlns:a16="http://schemas.microsoft.com/office/drawing/2014/main" id="{5A3F8FEA-C547-A348-8F69-906E78C94D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1" y="624"/>
              <a:ext cx="218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13358" name="Rectangle 19">
              <a:extLst>
                <a:ext uri="{FF2B5EF4-FFF2-40B4-BE49-F238E27FC236}">
                  <a16:creationId xmlns:a16="http://schemas.microsoft.com/office/drawing/2014/main" id="{181E9C80-1A5D-2140-8B22-8876DB8A77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1" y="1200"/>
              <a:ext cx="218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13359" name="Line 20">
              <a:extLst>
                <a:ext uri="{FF2B5EF4-FFF2-40B4-BE49-F238E27FC236}">
                  <a16:creationId xmlns:a16="http://schemas.microsoft.com/office/drawing/2014/main" id="{E5C9B3B1-467C-B040-85EB-01A0725024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92" y="1008"/>
              <a:ext cx="4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60" name="Line 21">
              <a:extLst>
                <a:ext uri="{FF2B5EF4-FFF2-40B4-BE49-F238E27FC236}">
                  <a16:creationId xmlns:a16="http://schemas.microsoft.com/office/drawing/2014/main" id="{DA52DC11-79E0-4444-B8FB-84564433E3C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36" y="964"/>
              <a:ext cx="56" cy="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61" name="Rectangle 22">
              <a:extLst>
                <a:ext uri="{FF2B5EF4-FFF2-40B4-BE49-F238E27FC236}">
                  <a16:creationId xmlns:a16="http://schemas.microsoft.com/office/drawing/2014/main" id="{8405B3EC-67AA-CF4A-97C1-93D88CE5A1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9" y="1008"/>
              <a:ext cx="242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b="0">
                  <a:latin typeface="Times New Roman" panose="02020603050405020304" pitchFamily="18" charset="0"/>
                  <a:ea typeface="宋体" panose="02010600030101010101" pitchFamily="2" charset="-122"/>
                </a:rPr>
                <a:t>32</a:t>
              </a:r>
            </a:p>
          </p:txBody>
        </p:sp>
        <p:sp>
          <p:nvSpPr>
            <p:cNvPr id="13362" name="Rectangle 23">
              <a:extLst>
                <a:ext uri="{FF2B5EF4-FFF2-40B4-BE49-F238E27FC236}">
                  <a16:creationId xmlns:a16="http://schemas.microsoft.com/office/drawing/2014/main" id="{3F7009A2-4E93-7B44-BC07-4C519A899F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1" y="912"/>
              <a:ext cx="426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宋体" panose="02010600030101010101" pitchFamily="2" charset="-122"/>
                </a:rPr>
                <a:t>Sum</a:t>
              </a:r>
            </a:p>
          </p:txBody>
        </p:sp>
        <p:sp>
          <p:nvSpPr>
            <p:cNvPr id="13363" name="Line 24">
              <a:extLst>
                <a:ext uri="{FF2B5EF4-FFF2-40B4-BE49-F238E27FC236}">
                  <a16:creationId xmlns:a16="http://schemas.microsoft.com/office/drawing/2014/main" id="{845CAB8A-6C2D-154E-8868-EB1505AA60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64" y="1296"/>
              <a:ext cx="6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64" name="Rectangle 25">
              <a:extLst>
                <a:ext uri="{FF2B5EF4-FFF2-40B4-BE49-F238E27FC236}">
                  <a16:creationId xmlns:a16="http://schemas.microsoft.com/office/drawing/2014/main" id="{6529D473-E877-1D48-A1B9-9746090445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1" y="1200"/>
              <a:ext cx="490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宋体" panose="02010600030101010101" pitchFamily="2" charset="-122"/>
                </a:rPr>
                <a:t>Carry</a:t>
              </a:r>
            </a:p>
          </p:txBody>
        </p:sp>
        <p:sp>
          <p:nvSpPr>
            <p:cNvPr id="13365" name="Rectangle 69">
              <a:extLst>
                <a:ext uri="{FF2B5EF4-FFF2-40B4-BE49-F238E27FC236}">
                  <a16:creationId xmlns:a16="http://schemas.microsoft.com/office/drawing/2014/main" id="{C93B4620-55E2-614D-A9AF-62DDE9C5850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064" y="935"/>
              <a:ext cx="530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宋体" panose="02010600030101010101" pitchFamily="2" charset="-122"/>
                </a:rPr>
                <a:t>Adder</a:t>
              </a:r>
            </a:p>
          </p:txBody>
        </p:sp>
        <p:sp>
          <p:nvSpPr>
            <p:cNvPr id="13366" name="Line 72">
              <a:extLst>
                <a:ext uri="{FF2B5EF4-FFF2-40B4-BE49-F238E27FC236}">
                  <a16:creationId xmlns:a16="http://schemas.microsoft.com/office/drawing/2014/main" id="{AD0840F8-9A4C-CA49-AE1B-0235A97C2E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4" y="488"/>
              <a:ext cx="0" cy="27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67" name="Rectangle 73">
              <a:extLst>
                <a:ext uri="{FF2B5EF4-FFF2-40B4-BE49-F238E27FC236}">
                  <a16:creationId xmlns:a16="http://schemas.microsoft.com/office/drawing/2014/main" id="{70445129-2F63-EB4B-B37E-BA759796AF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5" y="432"/>
              <a:ext cx="618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宋体" panose="02010600030101010101" pitchFamily="2" charset="-122"/>
                </a:rPr>
                <a:t>CarryIn</a:t>
              </a:r>
            </a:p>
          </p:txBody>
        </p:sp>
      </p:grpSp>
      <p:grpSp>
        <p:nvGrpSpPr>
          <p:cNvPr id="187493" name="Group 101">
            <a:extLst>
              <a:ext uri="{FF2B5EF4-FFF2-40B4-BE49-F238E27FC236}">
                <a16:creationId xmlns:a16="http://schemas.microsoft.com/office/drawing/2014/main" id="{85B2D8F7-9129-3C40-918D-B9F64EAA946D}"/>
              </a:ext>
            </a:extLst>
          </p:cNvPr>
          <p:cNvGrpSpPr>
            <a:grpSpLocks/>
          </p:cNvGrpSpPr>
          <p:nvPr/>
        </p:nvGrpSpPr>
        <p:grpSpPr bwMode="auto">
          <a:xfrm>
            <a:off x="6305550" y="993775"/>
            <a:ext cx="2451100" cy="1676400"/>
            <a:chOff x="3843" y="1056"/>
            <a:chExt cx="1544" cy="864"/>
          </a:xfrm>
        </p:grpSpPr>
        <p:sp>
          <p:nvSpPr>
            <p:cNvPr id="13327" name="Line 74">
              <a:extLst>
                <a:ext uri="{FF2B5EF4-FFF2-40B4-BE49-F238E27FC236}">
                  <a16:creationId xmlns:a16="http://schemas.microsoft.com/office/drawing/2014/main" id="{E15612C1-6A93-404E-B4D6-3D20CA0731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59" y="1115"/>
              <a:ext cx="0" cy="7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28" name="Line 75">
              <a:extLst>
                <a:ext uri="{FF2B5EF4-FFF2-40B4-BE49-F238E27FC236}">
                  <a16:creationId xmlns:a16="http://schemas.microsoft.com/office/drawing/2014/main" id="{8BD856D8-ED01-EA40-B06A-F32B83388B7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67" y="1112"/>
              <a:ext cx="167" cy="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29" name="Line 76">
              <a:extLst>
                <a:ext uri="{FF2B5EF4-FFF2-40B4-BE49-F238E27FC236}">
                  <a16:creationId xmlns:a16="http://schemas.microsoft.com/office/drawing/2014/main" id="{C2EFCB81-503C-384A-B408-BFF280F633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40" y="1835"/>
              <a:ext cx="212" cy="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30" name="Line 77">
              <a:extLst>
                <a:ext uri="{FF2B5EF4-FFF2-40B4-BE49-F238E27FC236}">
                  <a16:creationId xmlns:a16="http://schemas.microsoft.com/office/drawing/2014/main" id="{63D0D6F6-6D85-A14F-BA0E-9BC440C762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51" y="1119"/>
              <a:ext cx="0" cy="72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31" name="Line 78">
              <a:extLst>
                <a:ext uri="{FF2B5EF4-FFF2-40B4-BE49-F238E27FC236}">
                  <a16:creationId xmlns:a16="http://schemas.microsoft.com/office/drawing/2014/main" id="{AF7F64D1-808D-9741-B9C7-324FFAD5538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43" y="1427"/>
              <a:ext cx="496" cy="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32" name="Line 79">
              <a:extLst>
                <a:ext uri="{FF2B5EF4-FFF2-40B4-BE49-F238E27FC236}">
                  <a16:creationId xmlns:a16="http://schemas.microsoft.com/office/drawing/2014/main" id="{F99CC514-C05A-8042-AF6C-DD1B995DCC2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96" y="1392"/>
              <a:ext cx="56" cy="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33" name="Rectangle 80">
              <a:extLst>
                <a:ext uri="{FF2B5EF4-FFF2-40B4-BE49-F238E27FC236}">
                  <a16:creationId xmlns:a16="http://schemas.microsoft.com/office/drawing/2014/main" id="{35726C5B-3D9C-F147-A5EA-7A7F0E7F96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" y="1427"/>
              <a:ext cx="178" cy="1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b="0"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13334" name="Line 81">
              <a:extLst>
                <a:ext uri="{FF2B5EF4-FFF2-40B4-BE49-F238E27FC236}">
                  <a16:creationId xmlns:a16="http://schemas.microsoft.com/office/drawing/2014/main" id="{D3483258-D8FA-4F4B-A781-5895D7E0DC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42" y="1171"/>
              <a:ext cx="496" cy="1"/>
            </a:xfrm>
            <a:prstGeom prst="line">
              <a:avLst/>
            </a:prstGeom>
            <a:noFill/>
            <a:ln w="38100">
              <a:solidFill>
                <a:srgbClr val="D90125"/>
              </a:solidFill>
              <a:prstDash val="sysDot"/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35" name="Rectangle 82">
              <a:extLst>
                <a:ext uri="{FF2B5EF4-FFF2-40B4-BE49-F238E27FC236}">
                  <a16:creationId xmlns:a16="http://schemas.microsoft.com/office/drawing/2014/main" id="{1C672EED-09E4-B949-8AFF-DE991087FB8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104" y="1460"/>
              <a:ext cx="690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宋体" panose="02010600030101010101" pitchFamily="2" charset="-122"/>
                </a:rPr>
                <a:t>Decoder</a:t>
              </a:r>
            </a:p>
          </p:txBody>
        </p:sp>
        <p:sp>
          <p:nvSpPr>
            <p:cNvPr id="13336" name="Line 83">
              <a:extLst>
                <a:ext uri="{FF2B5EF4-FFF2-40B4-BE49-F238E27FC236}">
                  <a16:creationId xmlns:a16="http://schemas.microsoft.com/office/drawing/2014/main" id="{71963D1E-4C83-2049-9839-68CE350851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46" y="1331"/>
              <a:ext cx="496" cy="1"/>
            </a:xfrm>
            <a:prstGeom prst="line">
              <a:avLst/>
            </a:prstGeom>
            <a:noFill/>
            <a:ln w="38100">
              <a:solidFill>
                <a:srgbClr val="D90125"/>
              </a:solidFill>
              <a:prstDash val="sysDot"/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37" name="Line 84">
              <a:extLst>
                <a:ext uri="{FF2B5EF4-FFF2-40B4-BE49-F238E27FC236}">
                  <a16:creationId xmlns:a16="http://schemas.microsoft.com/office/drawing/2014/main" id="{1FB9DC6C-03B1-1045-8642-B7B9857E00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42" y="1473"/>
              <a:ext cx="496" cy="1"/>
            </a:xfrm>
            <a:prstGeom prst="line">
              <a:avLst/>
            </a:prstGeom>
            <a:noFill/>
            <a:ln w="38100">
              <a:solidFill>
                <a:srgbClr val="D90125"/>
              </a:solidFill>
              <a:prstDash val="sysDot"/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38" name="Line 85">
              <a:extLst>
                <a:ext uri="{FF2B5EF4-FFF2-40B4-BE49-F238E27FC236}">
                  <a16:creationId xmlns:a16="http://schemas.microsoft.com/office/drawing/2014/main" id="{897747F3-0A7C-364B-9D2B-5C0D1E7A41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46" y="1788"/>
              <a:ext cx="496" cy="1"/>
            </a:xfrm>
            <a:prstGeom prst="line">
              <a:avLst/>
            </a:prstGeom>
            <a:noFill/>
            <a:ln w="38100">
              <a:solidFill>
                <a:srgbClr val="D90125"/>
              </a:solidFill>
              <a:prstDash val="sysDot"/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39" name="Text Box 86">
              <a:extLst>
                <a:ext uri="{FF2B5EF4-FFF2-40B4-BE49-F238E27FC236}">
                  <a16:creationId xmlns:a16="http://schemas.microsoft.com/office/drawing/2014/main" id="{29EB122E-A0C3-6540-B72E-54D033BD40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28" y="1056"/>
              <a:ext cx="358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solidFill>
                    <a:srgbClr val="B7011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out0</a:t>
              </a:r>
            </a:p>
          </p:txBody>
        </p:sp>
        <p:sp>
          <p:nvSpPr>
            <p:cNvPr id="13340" name="Text Box 87">
              <a:extLst>
                <a:ext uri="{FF2B5EF4-FFF2-40B4-BE49-F238E27FC236}">
                  <a16:creationId xmlns:a16="http://schemas.microsoft.com/office/drawing/2014/main" id="{D715B92B-B4D3-C746-9202-003D0F45A1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25" y="1197"/>
              <a:ext cx="358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solidFill>
                    <a:srgbClr val="B7011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out1</a:t>
              </a:r>
            </a:p>
          </p:txBody>
        </p:sp>
        <p:sp>
          <p:nvSpPr>
            <p:cNvPr id="13341" name="Text Box 88">
              <a:extLst>
                <a:ext uri="{FF2B5EF4-FFF2-40B4-BE49-F238E27FC236}">
                  <a16:creationId xmlns:a16="http://schemas.microsoft.com/office/drawing/2014/main" id="{8138771A-4578-0C4C-B317-EC3A8A14A5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29" y="1669"/>
              <a:ext cx="358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solidFill>
                    <a:srgbClr val="B7011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out7</a:t>
              </a:r>
            </a:p>
          </p:txBody>
        </p:sp>
        <p:sp>
          <p:nvSpPr>
            <p:cNvPr id="13342" name="Text Box 89">
              <a:extLst>
                <a:ext uri="{FF2B5EF4-FFF2-40B4-BE49-F238E27FC236}">
                  <a16:creationId xmlns:a16="http://schemas.microsoft.com/office/drawing/2014/main" id="{B6169DC8-CFF7-B847-BCD2-6228060A09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29" y="1356"/>
              <a:ext cx="358" cy="1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solidFill>
                    <a:srgbClr val="B7011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out2</a:t>
              </a:r>
            </a:p>
          </p:txBody>
        </p:sp>
      </p:grpSp>
      <p:sp>
        <p:nvSpPr>
          <p:cNvPr id="13320" name="Rectangle 90">
            <a:extLst>
              <a:ext uri="{FF2B5EF4-FFF2-40B4-BE49-F238E27FC236}">
                <a16:creationId xmlns:a16="http://schemas.microsoft.com/office/drawing/2014/main" id="{4AE57A47-89E3-954D-BF1D-AC79FE0902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0663" y="766763"/>
            <a:ext cx="2027237" cy="547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3500" tIns="25400" rIns="63500" bIns="25400">
            <a:spAutoFit/>
          </a:bodyPr>
          <a:lstStyle>
            <a:lvl1pPr marL="203200" indent="-203200">
              <a:spcBef>
                <a:spcPct val="35000"/>
              </a:spcBef>
              <a:buSzPct val="100000"/>
              <a:buChar char="°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85800" indent="-190500">
              <a:spcBef>
                <a:spcPct val="35000"/>
              </a:spcBef>
              <a:buSzPct val="100000"/>
              <a:buChar char="•"/>
              <a:defRPr b="1">
                <a:solidFill>
                  <a:schemeClr val="accent2"/>
                </a:solidFill>
                <a:latin typeface="Arial" panose="020B0604020202020204" pitchFamily="34" charset="0"/>
              </a:defRPr>
            </a:lvl2pPr>
            <a:lvl3pPr marL="1257300" indent="-342900">
              <a:spcBef>
                <a:spcPct val="35000"/>
              </a:spcBef>
              <a:buSzPct val="100000"/>
              <a:buChar char="-"/>
              <a:defRPr b="1">
                <a:solidFill>
                  <a:srgbClr val="B7011F"/>
                </a:solidFill>
                <a:latin typeface="Arial" panose="020B0604020202020204" pitchFamily="34" charset="0"/>
              </a:defRPr>
            </a:lvl3pPr>
            <a:lvl4pPr marL="1714500" indent="-3429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171700" indent="-3429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628900" indent="-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86100" indent="-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543300" indent="-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000500" indent="-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85000"/>
              </a:lnSpc>
              <a:spcBef>
                <a:spcPct val="100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译码器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(Decoder)</a:t>
            </a:r>
          </a:p>
        </p:txBody>
      </p:sp>
      <p:sp>
        <p:nvSpPr>
          <p:cNvPr id="187483" name="AutoShape 91">
            <a:extLst>
              <a:ext uri="{FF2B5EF4-FFF2-40B4-BE49-F238E27FC236}">
                <a16:creationId xmlns:a16="http://schemas.microsoft.com/office/drawing/2014/main" id="{8332AE8E-C66F-114E-82A4-EADF23CC56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8125" y="3081338"/>
            <a:ext cx="3571875" cy="1168400"/>
          </a:xfrm>
          <a:prstGeom prst="cloudCallout">
            <a:avLst>
              <a:gd name="adj1" fmla="val 52981"/>
              <a:gd name="adj2" fmla="val 38722"/>
            </a:avLst>
          </a:prstGeom>
          <a:noFill/>
          <a:ln w="1270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zh-CN" altLang="en-US" sz="20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何时要用到</a:t>
            </a:r>
            <a:r>
              <a:rPr lang="en-US" altLang="zh-CN" sz="20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adder, ALU, MUX or Decoder?</a:t>
            </a:r>
          </a:p>
        </p:txBody>
      </p:sp>
      <p:grpSp>
        <p:nvGrpSpPr>
          <p:cNvPr id="187492" name="Group 100">
            <a:extLst>
              <a:ext uri="{FF2B5EF4-FFF2-40B4-BE49-F238E27FC236}">
                <a16:creationId xmlns:a16="http://schemas.microsoft.com/office/drawing/2014/main" id="{41753618-F6DB-9943-BA64-8D1D2D3539FC}"/>
              </a:ext>
            </a:extLst>
          </p:cNvPr>
          <p:cNvGrpSpPr>
            <a:grpSpLocks/>
          </p:cNvGrpSpPr>
          <p:nvPr/>
        </p:nvGrpSpPr>
        <p:grpSpPr bwMode="auto">
          <a:xfrm>
            <a:off x="6788150" y="273050"/>
            <a:ext cx="2001838" cy="396875"/>
            <a:chOff x="3273" y="2076"/>
            <a:chExt cx="1261" cy="250"/>
          </a:xfrm>
        </p:grpSpPr>
        <p:sp>
          <p:nvSpPr>
            <p:cNvPr id="13325" name="Line 98">
              <a:extLst>
                <a:ext uri="{FF2B5EF4-FFF2-40B4-BE49-F238E27FC236}">
                  <a16:creationId xmlns:a16="http://schemas.microsoft.com/office/drawing/2014/main" id="{6B864FD7-8737-014E-8DC2-88EBBABF7A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73" y="2194"/>
              <a:ext cx="357" cy="0"/>
            </a:xfrm>
            <a:prstGeom prst="line">
              <a:avLst/>
            </a:prstGeom>
            <a:noFill/>
            <a:ln w="50800">
              <a:solidFill>
                <a:srgbClr val="D90125"/>
              </a:solidFill>
              <a:prstDash val="sysDot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6" name="Text Box 99">
              <a:extLst>
                <a:ext uri="{FF2B5EF4-FFF2-40B4-BE49-F238E27FC236}">
                  <a16:creationId xmlns:a16="http://schemas.microsoft.com/office/drawing/2014/main" id="{A34A1337-E7F4-EE4D-B6DE-3ED6A245BC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6" y="2076"/>
              <a:ext cx="87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0800">
                  <a:solidFill>
                    <a:srgbClr val="D90125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000">
                  <a:solidFill>
                    <a:srgbClr val="B7011F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控制信号</a:t>
              </a:r>
            </a:p>
          </p:txBody>
        </p:sp>
      </p:grpSp>
      <p:sp>
        <p:nvSpPr>
          <p:cNvPr id="187494" name="Text Box 102">
            <a:extLst>
              <a:ext uri="{FF2B5EF4-FFF2-40B4-BE49-F238E27FC236}">
                <a16:creationId xmlns:a16="http://schemas.microsoft.com/office/drawing/2014/main" id="{0A1C9D27-04F4-F745-8953-E495F65986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38700" y="4457700"/>
            <a:ext cx="4051300" cy="2016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组合逻辑元件的特点：</a:t>
            </a:r>
          </a:p>
          <a:p>
            <a:pPr>
              <a:spcBef>
                <a:spcPct val="50000"/>
              </a:spcBef>
            </a:pPr>
            <a:r>
              <a:rPr lang="zh-CN" altLang="en-US" sz="1800">
                <a:solidFill>
                  <a:srgbClr val="B701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其输出只取决于当前的输入。即：若输入一样，则其输出也一样</a:t>
            </a:r>
          </a:p>
          <a:p>
            <a:pPr>
              <a:spcBef>
                <a:spcPct val="50000"/>
              </a:spcBef>
            </a:pPr>
            <a:r>
              <a:rPr lang="zh-CN" altLang="en-US" sz="1800">
                <a:solidFill>
                  <a:srgbClr val="B701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定时：所有输入到达后，经过一定的逻辑门延时，输出端改变，并保持到下次改变，不需要时钟信号来定时</a:t>
            </a:r>
          </a:p>
        </p:txBody>
      </p:sp>
      <p:sp>
        <p:nvSpPr>
          <p:cNvPr id="187497" name="AutoShape 105">
            <a:extLst>
              <a:ext uri="{FF2B5EF4-FFF2-40B4-BE49-F238E27FC236}">
                <a16:creationId xmlns:a16="http://schemas.microsoft.com/office/drawing/2014/main" id="{8EDA463D-C776-E144-A5B3-82AD42B295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4388" y="2185988"/>
            <a:ext cx="2901950" cy="1112837"/>
          </a:xfrm>
          <a:prstGeom prst="cloudCallout">
            <a:avLst>
              <a:gd name="adj1" fmla="val 37690"/>
              <a:gd name="adj2" fmla="val -2352"/>
            </a:avLst>
          </a:prstGeom>
          <a:noFill/>
          <a:ln w="1270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zh-CN" altLang="en-US" sz="20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加法器需要什么控制信号</a:t>
            </a:r>
            <a:r>
              <a:rPr lang="en-US" altLang="zh-CN" sz="20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?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7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87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87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87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87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87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87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874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874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874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7483" grpId="0" animBg="1"/>
      <p:bldP spid="18749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D602DB37-0072-0D4A-B0BF-B8BF4FB498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9800" y="165100"/>
            <a:ext cx="6557963" cy="422275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状态元件：时序逻辑电路</a:t>
            </a:r>
          </a:p>
        </p:txBody>
      </p:sp>
      <p:sp>
        <p:nvSpPr>
          <p:cNvPr id="301059" name="Rectangle 3">
            <a:extLst>
              <a:ext uri="{FF2B5EF4-FFF2-40B4-BE49-F238E27FC236}">
                <a16:creationId xmlns:a16="http://schemas.microsoft.com/office/drawing/2014/main" id="{A24AEC48-45A9-214B-861A-4DADE4E021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3838" y="673100"/>
            <a:ext cx="8567737" cy="5691188"/>
          </a:xfrm>
        </p:spPr>
        <p:txBody>
          <a:bodyPr/>
          <a:lstStyle/>
          <a:p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状态（存储）元件的特点：</a:t>
            </a:r>
          </a:p>
          <a:p>
            <a:pPr lvl="1"/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具有存储功能，在</a:t>
            </a:r>
            <a:r>
              <a:rPr lang="zh-CN" altLang="en-US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时钟控制下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输入被写到电路中，直到下个时钟到达</a:t>
            </a:r>
          </a:p>
          <a:p>
            <a:pPr lvl="1"/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输入端状态由时钟决定何时被写入，输出端状态随时可以读出</a:t>
            </a:r>
          </a:p>
          <a:p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定时方式：规定信号何时写入状态元件或何时从状态元件读出</a:t>
            </a:r>
          </a:p>
          <a:p>
            <a:pPr lvl="1"/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边沿触发（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edge-triggered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）方式：</a:t>
            </a:r>
          </a:p>
          <a:p>
            <a:pPr lvl="2"/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状态单元中的值只在时钟边沿改变。每个时钟周期改变一次。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buFontTx/>
              <a:buChar char="•"/>
            </a:pPr>
            <a:r>
              <a:rPr lang="zh-CN" altLang="en-US" b="1">
                <a:solidFill>
                  <a:srgbClr val="3399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上升沿（</a:t>
            </a:r>
            <a:r>
              <a:rPr lang="en-US" altLang="zh-CN" b="1">
                <a:solidFill>
                  <a:srgbClr val="3399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rising edge</a:t>
            </a:r>
            <a:r>
              <a:rPr lang="zh-CN" altLang="en-US" b="1">
                <a:solidFill>
                  <a:srgbClr val="3399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 触发：在时钟正跳变时进行读</a:t>
            </a:r>
            <a:r>
              <a:rPr lang="en-US" altLang="zh-CN" b="1">
                <a:solidFill>
                  <a:srgbClr val="3399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b="1">
                <a:solidFill>
                  <a:srgbClr val="3399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写。</a:t>
            </a:r>
          </a:p>
          <a:p>
            <a:pPr lvl="3">
              <a:buFontTx/>
              <a:buChar char="•"/>
            </a:pPr>
            <a:r>
              <a:rPr lang="zh-CN" altLang="en-US" b="1">
                <a:solidFill>
                  <a:srgbClr val="3399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下降沿（</a:t>
            </a:r>
            <a:r>
              <a:rPr lang="en-US" altLang="zh-CN" b="1">
                <a:solidFill>
                  <a:srgbClr val="3399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falling edge</a:t>
            </a:r>
            <a:r>
              <a:rPr lang="zh-CN" altLang="en-US" b="1">
                <a:solidFill>
                  <a:srgbClr val="3399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）触发：在时钟负跳变时进行读</a:t>
            </a:r>
            <a:r>
              <a:rPr lang="en-US" altLang="zh-CN" b="1">
                <a:solidFill>
                  <a:srgbClr val="3399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b="1">
                <a:solidFill>
                  <a:srgbClr val="3399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写。</a:t>
            </a:r>
          </a:p>
          <a:p>
            <a:pPr lvl="3">
              <a:buFontTx/>
              <a:buChar char="•"/>
            </a:pPr>
            <a:endParaRPr lang="zh-CN" altLang="en-US" b="1">
              <a:solidFill>
                <a:srgbClr val="3399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buFontTx/>
              <a:buChar char="•"/>
            </a:pPr>
            <a:endParaRPr lang="zh-CN" altLang="en-US" sz="1800" b="1">
              <a:solidFill>
                <a:srgbClr val="3399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buFontTx/>
              <a:buChar char="•"/>
            </a:pPr>
            <a:endParaRPr lang="zh-CN" altLang="en-US" sz="1800" b="1">
              <a:solidFill>
                <a:srgbClr val="3399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buFontTx/>
              <a:buChar char="•"/>
            </a:pPr>
            <a:endParaRPr lang="zh-CN" altLang="en-US" sz="1800" b="1">
              <a:solidFill>
                <a:srgbClr val="3399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最简单的状态单元（回顾：数字逻辑电路课程内容）：</a:t>
            </a:r>
          </a:p>
          <a:p>
            <a:pPr lvl="1"/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触发器：一个时钟输入、一个状态输入、一个状态输出</a:t>
            </a:r>
          </a:p>
        </p:txBody>
      </p:sp>
      <p:grpSp>
        <p:nvGrpSpPr>
          <p:cNvPr id="301086" name="Group 30">
            <a:extLst>
              <a:ext uri="{FF2B5EF4-FFF2-40B4-BE49-F238E27FC236}">
                <a16:creationId xmlns:a16="http://schemas.microsoft.com/office/drawing/2014/main" id="{802CD33C-BD9E-004D-AD98-FE4909BE90F1}"/>
              </a:ext>
            </a:extLst>
          </p:cNvPr>
          <p:cNvGrpSpPr>
            <a:grpSpLocks/>
          </p:cNvGrpSpPr>
          <p:nvPr/>
        </p:nvGrpSpPr>
        <p:grpSpPr bwMode="auto">
          <a:xfrm>
            <a:off x="1423988" y="3822700"/>
            <a:ext cx="6283325" cy="1577975"/>
            <a:chOff x="897" y="2384"/>
            <a:chExt cx="3958" cy="994"/>
          </a:xfrm>
        </p:grpSpPr>
        <p:sp>
          <p:nvSpPr>
            <p:cNvPr id="15365" name="Line 5">
              <a:extLst>
                <a:ext uri="{FF2B5EF4-FFF2-40B4-BE49-F238E27FC236}">
                  <a16:creationId xmlns:a16="http://schemas.microsoft.com/office/drawing/2014/main" id="{C6F1B0F1-A21D-254C-AC0F-B10E35579A7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55" y="2717"/>
              <a:ext cx="0" cy="293"/>
            </a:xfrm>
            <a:prstGeom prst="line">
              <a:avLst/>
            </a:prstGeom>
            <a:noFill/>
            <a:ln w="508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66" name="Line 6">
              <a:extLst>
                <a:ext uri="{FF2B5EF4-FFF2-40B4-BE49-F238E27FC236}">
                  <a16:creationId xmlns:a16="http://schemas.microsoft.com/office/drawing/2014/main" id="{24CD7CFC-6E0E-9A43-87FE-D68C3FF3FD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45" y="2730"/>
              <a:ext cx="660" cy="0"/>
            </a:xfrm>
            <a:prstGeom prst="line">
              <a:avLst/>
            </a:prstGeom>
            <a:noFill/>
            <a:ln w="508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67" name="Line 7">
              <a:extLst>
                <a:ext uri="{FF2B5EF4-FFF2-40B4-BE49-F238E27FC236}">
                  <a16:creationId xmlns:a16="http://schemas.microsoft.com/office/drawing/2014/main" id="{CADC191F-49BF-E64E-8549-82D2D3E183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94" y="2721"/>
              <a:ext cx="0" cy="285"/>
            </a:xfrm>
            <a:prstGeom prst="line">
              <a:avLst/>
            </a:prstGeom>
            <a:noFill/>
            <a:ln w="508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68" name="Line 8">
              <a:extLst>
                <a:ext uri="{FF2B5EF4-FFF2-40B4-BE49-F238E27FC236}">
                  <a16:creationId xmlns:a16="http://schemas.microsoft.com/office/drawing/2014/main" id="{8C4EE9DA-5B87-F04C-8FAA-C555DFD0DF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84" y="2995"/>
              <a:ext cx="305" cy="0"/>
            </a:xfrm>
            <a:prstGeom prst="line">
              <a:avLst/>
            </a:prstGeom>
            <a:noFill/>
            <a:ln w="508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69" name="Line 9">
              <a:extLst>
                <a:ext uri="{FF2B5EF4-FFF2-40B4-BE49-F238E27FC236}">
                  <a16:creationId xmlns:a16="http://schemas.microsoft.com/office/drawing/2014/main" id="{A220CDD5-DB93-314B-B59B-036C206B14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97" y="2995"/>
              <a:ext cx="269" cy="0"/>
            </a:xfrm>
            <a:prstGeom prst="line">
              <a:avLst/>
            </a:prstGeom>
            <a:noFill/>
            <a:ln w="508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0" name="Line 10">
              <a:extLst>
                <a:ext uri="{FF2B5EF4-FFF2-40B4-BE49-F238E27FC236}">
                  <a16:creationId xmlns:a16="http://schemas.microsoft.com/office/drawing/2014/main" id="{D2AAFC8E-7E79-444A-8DF8-3B8C71EFDA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3108"/>
              <a:ext cx="914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1" name="Rectangle 11">
              <a:extLst>
                <a:ext uri="{FF2B5EF4-FFF2-40B4-BE49-F238E27FC236}">
                  <a16:creationId xmlns:a16="http://schemas.microsoft.com/office/drawing/2014/main" id="{CFF55D79-C496-BF4E-8CB0-8F85E9447F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5" y="3118"/>
              <a:ext cx="687" cy="2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9050" tIns="26988" rIns="19050" bIns="26988"/>
            <a:lstStyle>
              <a:lvl1pPr defTabSz="904875">
                <a:tabLst>
                  <a:tab pos="452438" algn="l"/>
                  <a:tab pos="904875" algn="l"/>
                  <a:tab pos="1357313" algn="l"/>
                </a:tabLs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904875">
                <a:tabLst>
                  <a:tab pos="452438" algn="l"/>
                  <a:tab pos="904875" algn="l"/>
                  <a:tab pos="1357313" algn="l"/>
                </a:tabLs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904875">
                <a:tabLst>
                  <a:tab pos="452438" algn="l"/>
                  <a:tab pos="904875" algn="l"/>
                  <a:tab pos="1357313" algn="l"/>
                </a:tabLs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904875">
                <a:tabLst>
                  <a:tab pos="452438" algn="l"/>
                  <a:tab pos="904875" algn="l"/>
                  <a:tab pos="1357313" algn="l"/>
                </a:tabLs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904875">
                <a:tabLst>
                  <a:tab pos="452438" algn="l"/>
                  <a:tab pos="904875" algn="l"/>
                  <a:tab pos="1357313" algn="l"/>
                </a:tabLs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90487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2438" algn="l"/>
                  <a:tab pos="904875" algn="l"/>
                  <a:tab pos="1357313" algn="l"/>
                </a:tabLs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90487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2438" algn="l"/>
                  <a:tab pos="904875" algn="l"/>
                  <a:tab pos="1357313" algn="l"/>
                </a:tabLs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90487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2438" algn="l"/>
                  <a:tab pos="904875" algn="l"/>
                  <a:tab pos="1357313" algn="l"/>
                </a:tabLs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90487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2438" algn="l"/>
                  <a:tab pos="904875" algn="l"/>
                  <a:tab pos="1357313" algn="l"/>
                </a:tabLs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ts val="2100"/>
                </a:lnSpc>
              </a:pPr>
              <a:r>
                <a:rPr kumimoji="1" lang="en-US" altLang="zh-CN" sz="18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cycle time</a:t>
              </a:r>
            </a:p>
          </p:txBody>
        </p:sp>
        <p:sp>
          <p:nvSpPr>
            <p:cNvPr id="15372" name="Line 12">
              <a:extLst>
                <a:ext uri="{FF2B5EF4-FFF2-40B4-BE49-F238E27FC236}">
                  <a16:creationId xmlns:a16="http://schemas.microsoft.com/office/drawing/2014/main" id="{712C128D-2A57-6F48-AC03-B524AD191A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7" y="2868"/>
              <a:ext cx="692" cy="37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3" name="Rectangle 13">
              <a:extLst>
                <a:ext uri="{FF2B5EF4-FFF2-40B4-BE49-F238E27FC236}">
                  <a16:creationId xmlns:a16="http://schemas.microsoft.com/office/drawing/2014/main" id="{F807FA63-7261-4844-ADE1-B609C910DA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9" y="3149"/>
              <a:ext cx="971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9050" tIns="26988" rIns="19050" bIns="26988"/>
            <a:lstStyle>
              <a:lvl1pPr defTabSz="904875">
                <a:tabLst>
                  <a:tab pos="452438" algn="l"/>
                  <a:tab pos="904875" algn="l"/>
                  <a:tab pos="1357313" algn="l"/>
                </a:tabLs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904875">
                <a:tabLst>
                  <a:tab pos="452438" algn="l"/>
                  <a:tab pos="904875" algn="l"/>
                  <a:tab pos="1357313" algn="l"/>
                </a:tabLs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904875">
                <a:tabLst>
                  <a:tab pos="452438" algn="l"/>
                  <a:tab pos="904875" algn="l"/>
                  <a:tab pos="1357313" algn="l"/>
                </a:tabLs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904875">
                <a:tabLst>
                  <a:tab pos="452438" algn="l"/>
                  <a:tab pos="904875" algn="l"/>
                  <a:tab pos="1357313" algn="l"/>
                </a:tabLs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904875">
                <a:tabLst>
                  <a:tab pos="452438" algn="l"/>
                  <a:tab pos="904875" algn="l"/>
                  <a:tab pos="1357313" algn="l"/>
                </a:tabLs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90487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2438" algn="l"/>
                  <a:tab pos="904875" algn="l"/>
                  <a:tab pos="1357313" algn="l"/>
                </a:tabLs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90487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2438" algn="l"/>
                  <a:tab pos="904875" algn="l"/>
                  <a:tab pos="1357313" algn="l"/>
                </a:tabLs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90487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2438" algn="l"/>
                  <a:tab pos="904875" algn="l"/>
                  <a:tab pos="1357313" algn="l"/>
                </a:tabLs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90487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2438" algn="l"/>
                  <a:tab pos="904875" algn="l"/>
                  <a:tab pos="1357313" algn="l"/>
                </a:tabLs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ts val="2100"/>
                </a:lnSpc>
              </a:pPr>
              <a:r>
                <a:rPr kumimoji="1" lang="en-US" altLang="zh-CN" sz="18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rising edge</a:t>
              </a:r>
            </a:p>
          </p:txBody>
        </p:sp>
        <p:sp>
          <p:nvSpPr>
            <p:cNvPr id="15374" name="Line 14">
              <a:extLst>
                <a:ext uri="{FF2B5EF4-FFF2-40B4-BE49-F238E27FC236}">
                  <a16:creationId xmlns:a16="http://schemas.microsoft.com/office/drawing/2014/main" id="{E521580E-CEB3-FF45-B884-4921AD9B9E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49" y="2462"/>
              <a:ext cx="462" cy="39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5" name="Rectangle 15">
              <a:extLst>
                <a:ext uri="{FF2B5EF4-FFF2-40B4-BE49-F238E27FC236}">
                  <a16:creationId xmlns:a16="http://schemas.microsoft.com/office/drawing/2014/main" id="{EDB0EC20-51E3-9B40-9DBB-5F53A750A6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22" y="2384"/>
              <a:ext cx="963" cy="2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9050" tIns="26988" rIns="19050" bIns="26988"/>
            <a:lstStyle>
              <a:lvl1pPr defTabSz="904875">
                <a:tabLst>
                  <a:tab pos="452438" algn="l"/>
                  <a:tab pos="904875" algn="l"/>
                  <a:tab pos="1357313" algn="l"/>
                </a:tabLs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904875">
                <a:tabLst>
                  <a:tab pos="452438" algn="l"/>
                  <a:tab pos="904875" algn="l"/>
                  <a:tab pos="1357313" algn="l"/>
                </a:tabLs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904875">
                <a:tabLst>
                  <a:tab pos="452438" algn="l"/>
                  <a:tab pos="904875" algn="l"/>
                  <a:tab pos="1357313" algn="l"/>
                </a:tabLs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904875">
                <a:tabLst>
                  <a:tab pos="452438" algn="l"/>
                  <a:tab pos="904875" algn="l"/>
                  <a:tab pos="1357313" algn="l"/>
                </a:tabLs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904875">
                <a:tabLst>
                  <a:tab pos="452438" algn="l"/>
                  <a:tab pos="904875" algn="l"/>
                  <a:tab pos="1357313" algn="l"/>
                </a:tabLs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90487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2438" algn="l"/>
                  <a:tab pos="904875" algn="l"/>
                  <a:tab pos="1357313" algn="l"/>
                </a:tabLs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90487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2438" algn="l"/>
                  <a:tab pos="904875" algn="l"/>
                  <a:tab pos="1357313" algn="l"/>
                </a:tabLs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90487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2438" algn="l"/>
                  <a:tab pos="904875" algn="l"/>
                  <a:tab pos="1357313" algn="l"/>
                </a:tabLs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90487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2438" algn="l"/>
                  <a:tab pos="904875" algn="l"/>
                  <a:tab pos="1357313" algn="l"/>
                </a:tabLs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ts val="2100"/>
                </a:lnSpc>
              </a:pPr>
              <a:r>
                <a:rPr kumimoji="1" lang="en-US" altLang="zh-CN" sz="18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falling edge</a:t>
              </a:r>
            </a:p>
          </p:txBody>
        </p:sp>
        <p:sp>
          <p:nvSpPr>
            <p:cNvPr id="15376" name="Line 16">
              <a:extLst>
                <a:ext uri="{FF2B5EF4-FFF2-40B4-BE49-F238E27FC236}">
                  <a16:creationId xmlns:a16="http://schemas.microsoft.com/office/drawing/2014/main" id="{3313C1F7-AE27-C04B-BDB7-BEACCC056AD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79" y="2732"/>
              <a:ext cx="0" cy="276"/>
            </a:xfrm>
            <a:prstGeom prst="line">
              <a:avLst/>
            </a:prstGeom>
            <a:noFill/>
            <a:ln w="508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7" name="Line 17">
              <a:extLst>
                <a:ext uri="{FF2B5EF4-FFF2-40B4-BE49-F238E27FC236}">
                  <a16:creationId xmlns:a16="http://schemas.microsoft.com/office/drawing/2014/main" id="{2731233E-F7FA-BB40-9DD5-F015AA8724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9" y="2728"/>
              <a:ext cx="660" cy="0"/>
            </a:xfrm>
            <a:prstGeom prst="line">
              <a:avLst/>
            </a:prstGeom>
            <a:noFill/>
            <a:ln w="508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8" name="Line 18">
              <a:extLst>
                <a:ext uri="{FF2B5EF4-FFF2-40B4-BE49-F238E27FC236}">
                  <a16:creationId xmlns:a16="http://schemas.microsoft.com/office/drawing/2014/main" id="{E8012590-C852-C242-B47E-5015C730ED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18" y="2718"/>
              <a:ext cx="0" cy="285"/>
            </a:xfrm>
            <a:prstGeom prst="line">
              <a:avLst/>
            </a:prstGeom>
            <a:noFill/>
            <a:ln w="508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9" name="Line 19">
              <a:extLst>
                <a:ext uri="{FF2B5EF4-FFF2-40B4-BE49-F238E27FC236}">
                  <a16:creationId xmlns:a16="http://schemas.microsoft.com/office/drawing/2014/main" id="{4DC1FC13-33AC-5343-9C39-7CB09FBF0D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08" y="2993"/>
              <a:ext cx="305" cy="0"/>
            </a:xfrm>
            <a:prstGeom prst="line">
              <a:avLst/>
            </a:prstGeom>
            <a:noFill/>
            <a:ln w="508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0" name="Line 20">
              <a:extLst>
                <a:ext uri="{FF2B5EF4-FFF2-40B4-BE49-F238E27FC236}">
                  <a16:creationId xmlns:a16="http://schemas.microsoft.com/office/drawing/2014/main" id="{9289545D-1861-DB42-91C7-4D6ED20E257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03" y="2712"/>
              <a:ext cx="0" cy="293"/>
            </a:xfrm>
            <a:prstGeom prst="line">
              <a:avLst/>
            </a:prstGeom>
            <a:noFill/>
            <a:ln w="508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1" name="Line 21">
              <a:extLst>
                <a:ext uri="{FF2B5EF4-FFF2-40B4-BE49-F238E27FC236}">
                  <a16:creationId xmlns:a16="http://schemas.microsoft.com/office/drawing/2014/main" id="{6F60BA25-8EA1-2B41-8A35-A0C5573557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93" y="2725"/>
              <a:ext cx="660" cy="0"/>
            </a:xfrm>
            <a:prstGeom prst="line">
              <a:avLst/>
            </a:prstGeom>
            <a:noFill/>
            <a:ln w="508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2" name="Line 22">
              <a:extLst>
                <a:ext uri="{FF2B5EF4-FFF2-40B4-BE49-F238E27FC236}">
                  <a16:creationId xmlns:a16="http://schemas.microsoft.com/office/drawing/2014/main" id="{AF25F4DC-9187-0349-8464-2ADFFF58D0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2" y="2715"/>
              <a:ext cx="0" cy="285"/>
            </a:xfrm>
            <a:prstGeom prst="line">
              <a:avLst/>
            </a:prstGeom>
            <a:noFill/>
            <a:ln w="508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3" name="Line 23">
              <a:extLst>
                <a:ext uri="{FF2B5EF4-FFF2-40B4-BE49-F238E27FC236}">
                  <a16:creationId xmlns:a16="http://schemas.microsoft.com/office/drawing/2014/main" id="{87641CB6-4489-9E48-92E6-F784172F06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32" y="2990"/>
              <a:ext cx="305" cy="0"/>
            </a:xfrm>
            <a:prstGeom prst="line">
              <a:avLst/>
            </a:prstGeom>
            <a:noFill/>
            <a:ln w="508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4" name="Line 24">
              <a:extLst>
                <a:ext uri="{FF2B5EF4-FFF2-40B4-BE49-F238E27FC236}">
                  <a16:creationId xmlns:a16="http://schemas.microsoft.com/office/drawing/2014/main" id="{BF8E4F58-BBAD-DB4B-934A-6F3CB5A6030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21" y="2712"/>
              <a:ext cx="0" cy="293"/>
            </a:xfrm>
            <a:prstGeom prst="line">
              <a:avLst/>
            </a:prstGeom>
            <a:noFill/>
            <a:ln w="508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5" name="Line 25">
              <a:extLst>
                <a:ext uri="{FF2B5EF4-FFF2-40B4-BE49-F238E27FC236}">
                  <a16:creationId xmlns:a16="http://schemas.microsoft.com/office/drawing/2014/main" id="{ACA11834-853A-ED46-A537-E54E2D2ABC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11" y="2725"/>
              <a:ext cx="660" cy="0"/>
            </a:xfrm>
            <a:prstGeom prst="line">
              <a:avLst/>
            </a:prstGeom>
            <a:noFill/>
            <a:ln w="508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6" name="Line 26">
              <a:extLst>
                <a:ext uri="{FF2B5EF4-FFF2-40B4-BE49-F238E27FC236}">
                  <a16:creationId xmlns:a16="http://schemas.microsoft.com/office/drawing/2014/main" id="{76340D2E-15CD-9E4A-8609-089DF7EDD4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60" y="2715"/>
              <a:ext cx="0" cy="285"/>
            </a:xfrm>
            <a:prstGeom prst="line">
              <a:avLst/>
            </a:prstGeom>
            <a:noFill/>
            <a:ln w="508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7" name="Line 27">
              <a:extLst>
                <a:ext uri="{FF2B5EF4-FFF2-40B4-BE49-F238E27FC236}">
                  <a16:creationId xmlns:a16="http://schemas.microsoft.com/office/drawing/2014/main" id="{8C54BAAA-D3BE-A743-947C-5CA39E1603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50" y="2990"/>
              <a:ext cx="305" cy="0"/>
            </a:xfrm>
            <a:prstGeom prst="line">
              <a:avLst/>
            </a:prstGeom>
            <a:noFill/>
            <a:ln w="508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1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01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01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01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010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010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01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5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0105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5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0105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FF059C2F-613C-BA48-8757-293A96AFC0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58925" y="161925"/>
            <a:ext cx="6319838" cy="422275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存储元件中何时状态被改变？</a:t>
            </a:r>
            <a:endParaRPr lang="en-US" altLang="zh-CN">
              <a:ea typeface="宋体" panose="02010600030101010101" pitchFamily="2" charset="-122"/>
            </a:endParaRPr>
          </a:p>
        </p:txBody>
      </p:sp>
      <p:grpSp>
        <p:nvGrpSpPr>
          <p:cNvPr id="16387" name="Group 6">
            <a:extLst>
              <a:ext uri="{FF2B5EF4-FFF2-40B4-BE49-F238E27FC236}">
                <a16:creationId xmlns:a16="http://schemas.microsoft.com/office/drawing/2014/main" id="{45F93A06-9CF8-AB40-82EA-08507636DFC5}"/>
              </a:ext>
            </a:extLst>
          </p:cNvPr>
          <p:cNvGrpSpPr>
            <a:grpSpLocks/>
          </p:cNvGrpSpPr>
          <p:nvPr/>
        </p:nvGrpSpPr>
        <p:grpSpPr bwMode="auto">
          <a:xfrm>
            <a:off x="511175" y="620713"/>
            <a:ext cx="8197850" cy="4237037"/>
            <a:chOff x="259" y="1440"/>
            <a:chExt cx="5347" cy="2577"/>
          </a:xfrm>
        </p:grpSpPr>
        <p:pic>
          <p:nvPicPr>
            <p:cNvPr id="16400" name="Picture 3">
              <a:extLst>
                <a:ext uri="{FF2B5EF4-FFF2-40B4-BE49-F238E27FC236}">
                  <a16:creationId xmlns:a16="http://schemas.microsoft.com/office/drawing/2014/main" id="{D1B52D3F-A91E-1C49-B99C-D4F5A402BDC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9" y="1440"/>
              <a:ext cx="5347" cy="25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16401" name="Text Box 4">
              <a:extLst>
                <a:ext uri="{FF2B5EF4-FFF2-40B4-BE49-F238E27FC236}">
                  <a16:creationId xmlns:a16="http://schemas.microsoft.com/office/drawing/2014/main" id="{4600DCDB-D697-1A4D-951C-E9D43AC7AC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1" y="1491"/>
              <a:ext cx="2880" cy="20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0800">
                  <a:solidFill>
                    <a:srgbClr val="FE9AAB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91496" name="Text Box 8">
            <a:extLst>
              <a:ext uri="{FF2B5EF4-FFF2-40B4-BE49-F238E27FC236}">
                <a16:creationId xmlns:a16="http://schemas.microsoft.com/office/drawing/2014/main" id="{BE7D8751-85FE-FA4E-B838-91511AC441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2288" y="5060950"/>
            <a:ext cx="8621712" cy="708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zh-CN" altLang="en-US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切记：状态单元的输入信息总是在一个时钟边沿到达后的</a:t>
            </a:r>
            <a:r>
              <a:rPr lang="zh-CN" altLang="en-US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“</a:t>
            </a:r>
            <a:r>
              <a:rPr lang="en-US" altLang="zh-CN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Clk-to-Q</a:t>
            </a:r>
            <a:r>
              <a:rPr lang="zh-CN" altLang="en-US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”</a:t>
            </a:r>
            <a:r>
              <a:rPr lang="zh-CN" altLang="en-US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时才被写入到单元中，此时的输出才反映新的状态值</a:t>
            </a:r>
          </a:p>
        </p:txBody>
      </p:sp>
      <p:sp>
        <p:nvSpPr>
          <p:cNvPr id="191497" name="Text Box 9">
            <a:extLst>
              <a:ext uri="{FF2B5EF4-FFF2-40B4-BE49-F238E27FC236}">
                <a16:creationId xmlns:a16="http://schemas.microsoft.com/office/drawing/2014/main" id="{E395C65E-DD42-F740-8F65-CF3A3A7E2B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3613" y="5949950"/>
            <a:ext cx="732155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数据通路中的状态元件有两种：寄存器</a:t>
            </a:r>
            <a:r>
              <a:rPr lang="en-US" altLang="zh-CN" sz="20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</a:t>
            </a:r>
            <a:r>
              <a:rPr lang="en-US" altLang="zh-CN" sz="20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+ </a:t>
            </a:r>
            <a:r>
              <a:rPr lang="zh-CN" altLang="en-US" sz="20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存储器</a:t>
            </a:r>
          </a:p>
        </p:txBody>
      </p:sp>
      <p:sp>
        <p:nvSpPr>
          <p:cNvPr id="16390" name="Text Box 10">
            <a:extLst>
              <a:ext uri="{FF2B5EF4-FFF2-40B4-BE49-F238E27FC236}">
                <a16:creationId xmlns:a16="http://schemas.microsoft.com/office/drawing/2014/main" id="{D445F3A9-663A-9140-A5C0-0C7CACAC3E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3025" y="4164013"/>
            <a:ext cx="382746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800">
                <a:ea typeface="宋体" panose="02010600030101010101" pitchFamily="2" charset="-122"/>
                <a:cs typeface="Arial" panose="020B0604020202020204" pitchFamily="34" charset="0"/>
              </a:rPr>
              <a:t> ( Latch Prop - </a:t>
            </a:r>
            <a:r>
              <a:rPr lang="zh-CN" altLang="en-US" sz="1800">
                <a:ea typeface="宋体" panose="02010600030101010101" pitchFamily="2" charset="-122"/>
                <a:cs typeface="Arial" panose="020B0604020202020204" pitchFamily="34" charset="0"/>
              </a:rPr>
              <a:t>锁存延迟 </a:t>
            </a:r>
            <a:r>
              <a:rPr lang="en-US" altLang="zh-CN" sz="1800"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91499" name="Line 11">
            <a:extLst>
              <a:ext uri="{FF2B5EF4-FFF2-40B4-BE49-F238E27FC236}">
                <a16:creationId xmlns:a16="http://schemas.microsoft.com/office/drawing/2014/main" id="{44ACD161-82F0-D249-9320-0D9584CE3D40}"/>
              </a:ext>
            </a:extLst>
          </p:cNvPr>
          <p:cNvSpPr>
            <a:spLocks noChangeShapeType="1"/>
          </p:cNvSpPr>
          <p:nvPr/>
        </p:nvSpPr>
        <p:spPr bwMode="auto">
          <a:xfrm>
            <a:off x="4208463" y="1928813"/>
            <a:ext cx="1060450" cy="1587"/>
          </a:xfrm>
          <a:prstGeom prst="line">
            <a:avLst/>
          </a:prstGeom>
          <a:noFill/>
          <a:ln w="50800">
            <a:solidFill>
              <a:srgbClr val="FE9AAB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1500" name="Line 12">
            <a:extLst>
              <a:ext uri="{FF2B5EF4-FFF2-40B4-BE49-F238E27FC236}">
                <a16:creationId xmlns:a16="http://schemas.microsoft.com/office/drawing/2014/main" id="{36E56381-1D09-F241-8259-5A863F804D4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04063" y="1689100"/>
            <a:ext cx="1073150" cy="14288"/>
          </a:xfrm>
          <a:prstGeom prst="line">
            <a:avLst/>
          </a:prstGeom>
          <a:noFill/>
          <a:ln w="50800">
            <a:solidFill>
              <a:srgbClr val="FE9AAB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1501" name="Line 13">
            <a:extLst>
              <a:ext uri="{FF2B5EF4-FFF2-40B4-BE49-F238E27FC236}">
                <a16:creationId xmlns:a16="http://schemas.microsoft.com/office/drawing/2014/main" id="{4671753A-66DB-F54B-9036-F0584603AC9C}"/>
              </a:ext>
            </a:extLst>
          </p:cNvPr>
          <p:cNvSpPr>
            <a:spLocks noChangeShapeType="1"/>
          </p:cNvSpPr>
          <p:nvPr/>
        </p:nvSpPr>
        <p:spPr bwMode="auto">
          <a:xfrm>
            <a:off x="4983163" y="2573338"/>
            <a:ext cx="2903537" cy="1587"/>
          </a:xfrm>
          <a:prstGeom prst="line">
            <a:avLst/>
          </a:prstGeom>
          <a:noFill/>
          <a:ln w="508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1502" name="Line 14">
            <a:extLst>
              <a:ext uri="{FF2B5EF4-FFF2-40B4-BE49-F238E27FC236}">
                <a16:creationId xmlns:a16="http://schemas.microsoft.com/office/drawing/2014/main" id="{C0036958-9D3C-D444-9545-0D5A030A5056}"/>
              </a:ext>
            </a:extLst>
          </p:cNvPr>
          <p:cNvSpPr>
            <a:spLocks noChangeShapeType="1"/>
          </p:cNvSpPr>
          <p:nvPr/>
        </p:nvSpPr>
        <p:spPr bwMode="auto">
          <a:xfrm>
            <a:off x="7910513" y="2308225"/>
            <a:ext cx="681037" cy="0"/>
          </a:xfrm>
          <a:prstGeom prst="line">
            <a:avLst/>
          </a:prstGeom>
          <a:noFill/>
          <a:ln w="508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1503" name="Text Box 15">
            <a:extLst>
              <a:ext uri="{FF2B5EF4-FFF2-40B4-BE49-F238E27FC236}">
                <a16:creationId xmlns:a16="http://schemas.microsoft.com/office/drawing/2014/main" id="{FFC1267E-816A-F84F-8E54-52217E6D5C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06925" y="2647950"/>
            <a:ext cx="40417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</a:t>
            </a:r>
            <a:r>
              <a:rPr lang="zh-CN" altLang="en-US" sz="20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总是在</a:t>
            </a:r>
            <a:r>
              <a:rPr lang="en-US" altLang="zh-CN" sz="20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clock-to-Q</a:t>
            </a:r>
            <a:r>
              <a:rPr lang="zh-CN" altLang="en-US" sz="20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后跟着</a:t>
            </a:r>
            <a:r>
              <a:rPr lang="en-US" altLang="zh-CN" sz="20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zh-CN" altLang="en-US" sz="20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变化</a:t>
            </a:r>
          </a:p>
        </p:txBody>
      </p:sp>
      <p:grpSp>
        <p:nvGrpSpPr>
          <p:cNvPr id="191507" name="Group 19">
            <a:extLst>
              <a:ext uri="{FF2B5EF4-FFF2-40B4-BE49-F238E27FC236}">
                <a16:creationId xmlns:a16="http://schemas.microsoft.com/office/drawing/2014/main" id="{44530EE4-BA01-2E4A-BD14-711FB8C3D914}"/>
              </a:ext>
            </a:extLst>
          </p:cNvPr>
          <p:cNvGrpSpPr>
            <a:grpSpLocks/>
          </p:cNvGrpSpPr>
          <p:nvPr/>
        </p:nvGrpSpPr>
        <p:grpSpPr bwMode="auto">
          <a:xfrm>
            <a:off x="3749675" y="676275"/>
            <a:ext cx="4127500" cy="962025"/>
            <a:chOff x="2394" y="426"/>
            <a:chExt cx="2274" cy="606"/>
          </a:xfrm>
        </p:grpSpPr>
        <p:sp>
          <p:nvSpPr>
            <p:cNvPr id="16397" name="Text Box 16">
              <a:extLst>
                <a:ext uri="{FF2B5EF4-FFF2-40B4-BE49-F238E27FC236}">
                  <a16:creationId xmlns:a16="http://schemas.microsoft.com/office/drawing/2014/main" id="{68A399C8-1C7B-4642-B8B0-9B063897FE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2" y="426"/>
              <a:ext cx="15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0800">
                  <a:solidFill>
                    <a:srgbClr val="FE9AAB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00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这期间</a:t>
              </a:r>
              <a:r>
                <a:rPr lang="en-US" altLang="zh-CN" sz="200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</a:t>
              </a:r>
              <a:r>
                <a:rPr lang="zh-CN" altLang="en-US" sz="200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的变化不影响</a:t>
              </a:r>
              <a:r>
                <a:rPr lang="en-US" altLang="zh-CN" sz="200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Q</a:t>
              </a:r>
            </a:p>
          </p:txBody>
        </p:sp>
        <p:sp>
          <p:nvSpPr>
            <p:cNvPr id="16398" name="Line 17">
              <a:extLst>
                <a:ext uri="{FF2B5EF4-FFF2-40B4-BE49-F238E27FC236}">
                  <a16:creationId xmlns:a16="http://schemas.microsoft.com/office/drawing/2014/main" id="{3D32305B-6389-714D-86C6-A7D5DEBA4AD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94" y="624"/>
              <a:ext cx="876" cy="408"/>
            </a:xfrm>
            <a:prstGeom prst="line">
              <a:avLst/>
            </a:prstGeom>
            <a:noFill/>
            <a:ln w="50800">
              <a:solidFill>
                <a:srgbClr val="FE9AAB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99" name="Line 18">
              <a:extLst>
                <a:ext uri="{FF2B5EF4-FFF2-40B4-BE49-F238E27FC236}">
                  <a16:creationId xmlns:a16="http://schemas.microsoft.com/office/drawing/2014/main" id="{75CE8232-5ACD-3949-A147-1CF7BA5944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6" y="624"/>
              <a:ext cx="252" cy="384"/>
            </a:xfrm>
            <a:prstGeom prst="line">
              <a:avLst/>
            </a:prstGeom>
            <a:noFill/>
            <a:ln w="50800">
              <a:solidFill>
                <a:srgbClr val="FE9AAB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1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91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91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91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91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91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91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914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1496" grpId="0"/>
      <p:bldP spid="19150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1E49851B-AE88-FE4C-AF9C-8FD07580DA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4500" y="203200"/>
            <a:ext cx="6989763" cy="422275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存储元件</a:t>
            </a:r>
            <a:r>
              <a:rPr lang="en-US" altLang="zh-CN">
                <a:ea typeface="宋体" panose="02010600030101010101" pitchFamily="2" charset="-122"/>
              </a:rPr>
              <a:t>: </a:t>
            </a:r>
            <a:r>
              <a:rPr lang="zh-CN" altLang="en-US">
                <a:ea typeface="宋体" panose="02010600030101010101" pitchFamily="2" charset="-122"/>
              </a:rPr>
              <a:t>寄存器和寄存器组</a:t>
            </a:r>
            <a:endParaRPr lang="en-US" altLang="zh-CN" sz="1800">
              <a:ea typeface="宋体" panose="02010600030101010101" pitchFamily="2" charset="-122"/>
            </a:endParaRPr>
          </a:p>
        </p:txBody>
      </p:sp>
      <p:sp>
        <p:nvSpPr>
          <p:cNvPr id="189443" name="Rectangle 3">
            <a:extLst>
              <a:ext uri="{FF2B5EF4-FFF2-40B4-BE49-F238E27FC236}">
                <a16:creationId xmlns:a16="http://schemas.microsoft.com/office/drawing/2014/main" id="{01BA4ECD-44F3-EB43-8263-FE92F4C12A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3500" y="758825"/>
            <a:ext cx="5427663" cy="5551488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ct val="20000"/>
              </a:spcBef>
            </a:pPr>
            <a:r>
              <a:rPr lang="zh-CN" altLang="en-US" sz="19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寄存器（</a:t>
            </a:r>
            <a:r>
              <a:rPr lang="en-US" altLang="zh-CN" sz="19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Register</a:t>
            </a:r>
            <a:r>
              <a:rPr lang="zh-CN" altLang="en-US" sz="19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  <a:p>
            <a:pPr lvl="1">
              <a:lnSpc>
                <a:spcPct val="135000"/>
              </a:lnSpc>
              <a:spcBef>
                <a:spcPct val="20000"/>
              </a:spcBef>
            </a:pP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有一个写使能（</a:t>
            </a:r>
            <a:r>
              <a:rPr lang="en-US" altLang="zh-CN" sz="1900">
                <a:latin typeface="微软雅黑" panose="020B0503020204020204" pitchFamily="34" charset="-122"/>
                <a:ea typeface="微软雅黑" panose="020B0503020204020204" pitchFamily="34" charset="-122"/>
              </a:rPr>
              <a:t>Write Enable-WE</a:t>
            </a: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）信号</a:t>
            </a:r>
          </a:p>
          <a:p>
            <a:pPr lvl="1">
              <a:lnSpc>
                <a:spcPct val="135000"/>
              </a:lnSpc>
              <a:spcBef>
                <a:spcPct val="20000"/>
              </a:spcBef>
              <a:buFontTx/>
              <a:buNone/>
            </a:pPr>
            <a:r>
              <a:rPr lang="en-US" altLang="zh-CN" sz="19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 0: </a:t>
            </a:r>
            <a:r>
              <a:rPr lang="zh-CN" altLang="en-US" sz="19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时钟边沿到来时，输出不变</a:t>
            </a:r>
          </a:p>
          <a:p>
            <a:pPr lvl="1">
              <a:lnSpc>
                <a:spcPct val="135000"/>
              </a:lnSpc>
              <a:spcBef>
                <a:spcPct val="20000"/>
              </a:spcBef>
              <a:buFontTx/>
              <a:buNone/>
            </a:pPr>
            <a:r>
              <a:rPr lang="en-US" altLang="zh-CN" sz="1900">
                <a:solidFill>
                  <a:srgbClr val="3399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 </a:t>
            </a:r>
            <a:r>
              <a:rPr lang="en-US" altLang="zh-CN" sz="19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1: </a:t>
            </a:r>
            <a:r>
              <a:rPr lang="zh-CN" altLang="en-US" sz="19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时钟边沿到来时，输出开始变为输入</a:t>
            </a:r>
          </a:p>
          <a:p>
            <a:pPr lvl="1">
              <a:lnSpc>
                <a:spcPct val="135000"/>
              </a:lnSpc>
              <a:spcBef>
                <a:spcPct val="20000"/>
              </a:spcBef>
            </a:pP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若每个时钟边沿都写入，则不需</a:t>
            </a:r>
            <a:r>
              <a:rPr lang="en-US" altLang="zh-CN" sz="1900">
                <a:latin typeface="微软雅黑" panose="020B0503020204020204" pitchFamily="34" charset="-122"/>
                <a:ea typeface="微软雅黑" panose="020B0503020204020204" pitchFamily="34" charset="-122"/>
              </a:rPr>
              <a:t>WE</a:t>
            </a: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信号</a:t>
            </a:r>
          </a:p>
          <a:p>
            <a:pPr>
              <a:lnSpc>
                <a:spcPct val="135000"/>
              </a:lnSpc>
              <a:spcBef>
                <a:spcPct val="20000"/>
              </a:spcBef>
            </a:pPr>
            <a:r>
              <a:rPr lang="zh-CN" altLang="en-US" sz="19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寄存器组（</a:t>
            </a:r>
            <a:r>
              <a:rPr lang="en-US" altLang="zh-CN" sz="19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Register File</a:t>
            </a:r>
            <a:r>
              <a:rPr lang="zh-CN" altLang="en-US" sz="19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  <a:p>
            <a:pPr lvl="1">
              <a:lnSpc>
                <a:spcPct val="135000"/>
              </a:lnSpc>
              <a:spcBef>
                <a:spcPct val="20000"/>
              </a:spcBef>
            </a:pPr>
            <a:r>
              <a:rPr lang="zh-CN" altLang="en-US" sz="19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两个读口（</a:t>
            </a:r>
            <a:r>
              <a:rPr lang="zh-CN" altLang="en-US" sz="19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组合逻辑操作</a:t>
            </a:r>
            <a:r>
              <a:rPr lang="zh-CN" altLang="en-US" sz="19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）：</a:t>
            </a:r>
            <a:r>
              <a:rPr lang="en-US" altLang="zh-CN" sz="1900">
                <a:latin typeface="微软雅黑" panose="020B0503020204020204" pitchFamily="34" charset="-122"/>
                <a:ea typeface="微软雅黑" panose="020B0503020204020204" pitchFamily="34" charset="-122"/>
              </a:rPr>
              <a:t>busA</a:t>
            </a: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900">
                <a:latin typeface="微软雅黑" panose="020B0503020204020204" pitchFamily="34" charset="-122"/>
                <a:ea typeface="微软雅黑" panose="020B0503020204020204" pitchFamily="34" charset="-122"/>
              </a:rPr>
              <a:t>busB</a:t>
            </a: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分别由</a:t>
            </a:r>
            <a:r>
              <a:rPr lang="en-US" altLang="zh-CN" sz="1900">
                <a:latin typeface="微软雅黑" panose="020B0503020204020204" pitchFamily="34" charset="-122"/>
                <a:ea typeface="微软雅黑" panose="020B0503020204020204" pitchFamily="34" charset="-122"/>
              </a:rPr>
              <a:t>RA</a:t>
            </a: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900">
                <a:latin typeface="微软雅黑" panose="020B0503020204020204" pitchFamily="34" charset="-122"/>
                <a:ea typeface="微软雅黑" panose="020B0503020204020204" pitchFamily="34" charset="-122"/>
              </a:rPr>
              <a:t>RB</a:t>
            </a: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给出地址。地址</a:t>
            </a:r>
            <a:r>
              <a:rPr lang="en-US" altLang="zh-CN" sz="1900">
                <a:latin typeface="微软雅黑" panose="020B0503020204020204" pitchFamily="34" charset="-122"/>
                <a:ea typeface="微软雅黑" panose="020B0503020204020204" pitchFamily="34" charset="-122"/>
              </a:rPr>
              <a:t>RA</a:t>
            </a: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sz="1900">
                <a:latin typeface="微软雅黑" panose="020B0503020204020204" pitchFamily="34" charset="-122"/>
                <a:ea typeface="微软雅黑" panose="020B0503020204020204" pitchFamily="34" charset="-122"/>
              </a:rPr>
              <a:t>RB</a:t>
            </a: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有效后，经一个</a:t>
            </a:r>
            <a:r>
              <a:rPr lang="en-US" altLang="zh-CN" sz="190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取数时间</a:t>
            </a:r>
            <a:r>
              <a:rPr lang="en-US" altLang="zh-CN" sz="1900">
                <a:latin typeface="微软雅黑" panose="020B0503020204020204" pitchFamily="34" charset="-122"/>
                <a:ea typeface="微软雅黑" panose="020B0503020204020204" pitchFamily="34" charset="-122"/>
              </a:rPr>
              <a:t>(AccessTime)”</a:t>
            </a: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900">
                <a:latin typeface="微软雅黑" panose="020B0503020204020204" pitchFamily="34" charset="-122"/>
                <a:ea typeface="微软雅黑" panose="020B0503020204020204" pitchFamily="34" charset="-122"/>
              </a:rPr>
              <a:t>busA</a:t>
            </a: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900">
                <a:latin typeface="微软雅黑" panose="020B0503020204020204" pitchFamily="34" charset="-122"/>
                <a:ea typeface="微软雅黑" panose="020B0503020204020204" pitchFamily="34" charset="-122"/>
              </a:rPr>
              <a:t>busB</a:t>
            </a: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有效。</a:t>
            </a:r>
          </a:p>
          <a:p>
            <a:pPr lvl="1">
              <a:lnSpc>
                <a:spcPct val="135000"/>
              </a:lnSpc>
              <a:spcBef>
                <a:spcPct val="20000"/>
              </a:spcBef>
            </a:pPr>
            <a:r>
              <a:rPr lang="zh-CN" altLang="en-US" sz="19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一个写口（</a:t>
            </a:r>
            <a:r>
              <a:rPr lang="zh-CN" altLang="en-US" sz="19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时序逻辑操作</a:t>
            </a:r>
            <a:r>
              <a:rPr lang="zh-CN" altLang="en-US" sz="19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）：</a:t>
            </a: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写使能为</a:t>
            </a:r>
            <a:r>
              <a:rPr lang="en-US" altLang="zh-CN" sz="190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的情况下，时钟边沿到来时，</a:t>
            </a:r>
            <a:r>
              <a:rPr lang="en-US" altLang="zh-CN" sz="1900">
                <a:latin typeface="微软雅黑" panose="020B0503020204020204" pitchFamily="34" charset="-122"/>
                <a:ea typeface="微软雅黑" panose="020B0503020204020204" pitchFamily="34" charset="-122"/>
              </a:rPr>
              <a:t>busW</a:t>
            </a: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传来的值开始被写入</a:t>
            </a:r>
            <a:r>
              <a:rPr lang="en-US" altLang="zh-CN" sz="1900">
                <a:latin typeface="微软雅黑" panose="020B0503020204020204" pitchFamily="34" charset="-122"/>
                <a:ea typeface="微软雅黑" panose="020B0503020204020204" pitchFamily="34" charset="-122"/>
              </a:rPr>
              <a:t>RW</a:t>
            </a: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指定的寄存器中。</a:t>
            </a:r>
          </a:p>
        </p:txBody>
      </p:sp>
      <p:sp>
        <p:nvSpPr>
          <p:cNvPr id="17412" name="Rectangle 5">
            <a:extLst>
              <a:ext uri="{FF2B5EF4-FFF2-40B4-BE49-F238E27FC236}">
                <a16:creationId xmlns:a16="http://schemas.microsoft.com/office/drawing/2014/main" id="{2590416F-225D-434C-9DB1-8A00F2D605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8963" y="2890838"/>
            <a:ext cx="5365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chemeClr val="accent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Clk</a:t>
            </a:r>
          </a:p>
        </p:txBody>
      </p:sp>
      <p:sp>
        <p:nvSpPr>
          <p:cNvPr id="17413" name="Rectangle 6">
            <a:extLst>
              <a:ext uri="{FF2B5EF4-FFF2-40B4-BE49-F238E27FC236}">
                <a16:creationId xmlns:a16="http://schemas.microsoft.com/office/drawing/2014/main" id="{A7680CD0-81B7-EA43-A0B5-27EBB3B1DD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9138" y="1662113"/>
            <a:ext cx="1116012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Data In</a:t>
            </a:r>
          </a:p>
        </p:txBody>
      </p:sp>
      <p:sp>
        <p:nvSpPr>
          <p:cNvPr id="17414" name="Rectangle 7">
            <a:extLst>
              <a:ext uri="{FF2B5EF4-FFF2-40B4-BE49-F238E27FC236}">
                <a16:creationId xmlns:a16="http://schemas.microsoft.com/office/drawing/2014/main" id="{83067B29-CF22-6643-AC19-06283427B9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64400" y="1458913"/>
            <a:ext cx="263525" cy="1187450"/>
          </a:xfrm>
          <a:prstGeom prst="rect">
            <a:avLst/>
          </a:prstGeom>
          <a:noFill/>
          <a:ln w="508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7415" name="Line 8">
            <a:extLst>
              <a:ext uri="{FF2B5EF4-FFF2-40B4-BE49-F238E27FC236}">
                <a16:creationId xmlns:a16="http://schemas.microsoft.com/office/drawing/2014/main" id="{2EC98289-74A4-B345-9FD3-902660D5E8C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27900" y="2430463"/>
            <a:ext cx="66675" cy="25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16" name="Line 9">
            <a:extLst>
              <a:ext uri="{FF2B5EF4-FFF2-40B4-BE49-F238E27FC236}">
                <a16:creationId xmlns:a16="http://schemas.microsoft.com/office/drawing/2014/main" id="{34B69EDA-5C17-FD4A-B470-75DD27DFA9BF}"/>
              </a:ext>
            </a:extLst>
          </p:cNvPr>
          <p:cNvSpPr>
            <a:spLocks noChangeShapeType="1"/>
          </p:cNvSpPr>
          <p:nvPr/>
        </p:nvSpPr>
        <p:spPr bwMode="auto">
          <a:xfrm>
            <a:off x="7391400" y="2455863"/>
            <a:ext cx="63500" cy="203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17" name="Oval 10">
            <a:extLst>
              <a:ext uri="{FF2B5EF4-FFF2-40B4-BE49-F238E27FC236}">
                <a16:creationId xmlns:a16="http://schemas.microsoft.com/office/drawing/2014/main" id="{A6753195-011E-6F4F-8C4B-1DC8338373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27900" y="2684463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7418" name="Rectangle 12">
            <a:extLst>
              <a:ext uri="{FF2B5EF4-FFF2-40B4-BE49-F238E27FC236}">
                <a16:creationId xmlns:a16="http://schemas.microsoft.com/office/drawing/2014/main" id="{F40499A8-0A44-D040-BFEC-2D8A05B814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9038" y="809625"/>
            <a:ext cx="155892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Write</a:t>
            </a:r>
            <a:r>
              <a:rPr lang="en-US" altLang="zh-CN" sz="180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>
                <a:ea typeface="宋体" panose="02010600030101010101" pitchFamily="2" charset="-122"/>
              </a:rPr>
              <a:t>Enable</a:t>
            </a:r>
          </a:p>
        </p:txBody>
      </p:sp>
      <p:sp>
        <p:nvSpPr>
          <p:cNvPr id="17419" name="Line 13">
            <a:extLst>
              <a:ext uri="{FF2B5EF4-FFF2-40B4-BE49-F238E27FC236}">
                <a16:creationId xmlns:a16="http://schemas.microsoft.com/office/drawing/2014/main" id="{DE72D801-EEB4-214B-96F9-82145ADE853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92825" y="2043113"/>
            <a:ext cx="1168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20" name="Line 14">
            <a:extLst>
              <a:ext uri="{FF2B5EF4-FFF2-40B4-BE49-F238E27FC236}">
                <a16:creationId xmlns:a16="http://schemas.microsoft.com/office/drawing/2014/main" id="{37D041FD-433D-EE48-AAE3-21B30EE7675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32575" y="1973263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21" name="Rectangle 15">
            <a:extLst>
              <a:ext uri="{FF2B5EF4-FFF2-40B4-BE49-F238E27FC236}">
                <a16:creationId xmlns:a16="http://schemas.microsoft.com/office/drawing/2014/main" id="{46859103-4B49-A546-A6EA-E3E036D70A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9838" y="2043113"/>
            <a:ext cx="3460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N</a:t>
            </a:r>
          </a:p>
        </p:txBody>
      </p:sp>
      <p:sp>
        <p:nvSpPr>
          <p:cNvPr id="17422" name="Line 16">
            <a:extLst>
              <a:ext uri="{FF2B5EF4-FFF2-40B4-BE49-F238E27FC236}">
                <a16:creationId xmlns:a16="http://schemas.microsoft.com/office/drawing/2014/main" id="{8D9B05E2-7578-0345-9C8A-13048DF3CF8F}"/>
              </a:ext>
            </a:extLst>
          </p:cNvPr>
          <p:cNvSpPr>
            <a:spLocks noChangeShapeType="1"/>
          </p:cNvSpPr>
          <p:nvPr/>
        </p:nvSpPr>
        <p:spPr bwMode="auto">
          <a:xfrm>
            <a:off x="7566025" y="2043113"/>
            <a:ext cx="1117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23" name="Line 17">
            <a:extLst>
              <a:ext uri="{FF2B5EF4-FFF2-40B4-BE49-F238E27FC236}">
                <a16:creationId xmlns:a16="http://schemas.microsoft.com/office/drawing/2014/main" id="{D8539F1A-0504-2041-AE00-D5341843E0A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080375" y="1973263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24" name="Rectangle 18">
            <a:extLst>
              <a:ext uri="{FF2B5EF4-FFF2-40B4-BE49-F238E27FC236}">
                <a16:creationId xmlns:a16="http://schemas.microsoft.com/office/drawing/2014/main" id="{30D86100-AF94-9A49-98F0-2CBBFBCE57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67638" y="2043113"/>
            <a:ext cx="3460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N</a:t>
            </a:r>
          </a:p>
        </p:txBody>
      </p:sp>
      <p:sp>
        <p:nvSpPr>
          <p:cNvPr id="17425" name="Rectangle 19">
            <a:extLst>
              <a:ext uri="{FF2B5EF4-FFF2-40B4-BE49-F238E27FC236}">
                <a16:creationId xmlns:a16="http://schemas.microsoft.com/office/drawing/2014/main" id="{DBA7CAAF-9ADF-B94B-B374-ED9A248454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15238" y="1662113"/>
            <a:ext cx="1528762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Data Out</a:t>
            </a:r>
          </a:p>
        </p:txBody>
      </p:sp>
      <p:sp>
        <p:nvSpPr>
          <p:cNvPr id="17426" name="Line 20">
            <a:extLst>
              <a:ext uri="{FF2B5EF4-FFF2-40B4-BE49-F238E27FC236}">
                <a16:creationId xmlns:a16="http://schemas.microsoft.com/office/drawing/2014/main" id="{F47DDC0A-063E-FF4D-94F8-3EF10FEAB0A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00925" y="1125538"/>
            <a:ext cx="0" cy="3206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27" name="Rectangle 22">
            <a:extLst>
              <a:ext uri="{FF2B5EF4-FFF2-40B4-BE49-F238E27FC236}">
                <a16:creationId xmlns:a16="http://schemas.microsoft.com/office/drawing/2014/main" id="{B3DDD0C3-1D8F-834B-BEDC-E092281AB9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1225" y="5591175"/>
            <a:ext cx="5365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chemeClr val="accent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Clk</a:t>
            </a:r>
          </a:p>
        </p:txBody>
      </p:sp>
      <p:sp>
        <p:nvSpPr>
          <p:cNvPr id="17428" name="Rectangle 23">
            <a:extLst>
              <a:ext uri="{FF2B5EF4-FFF2-40B4-BE49-F238E27FC236}">
                <a16:creationId xmlns:a16="http://schemas.microsoft.com/office/drawing/2014/main" id="{722AF3E3-CA9C-D946-A340-9D6D90F2E1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00700" y="4972050"/>
            <a:ext cx="7524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busW</a:t>
            </a:r>
          </a:p>
        </p:txBody>
      </p:sp>
      <p:sp>
        <p:nvSpPr>
          <p:cNvPr id="17429" name="Rectangle 24">
            <a:extLst>
              <a:ext uri="{FF2B5EF4-FFF2-40B4-BE49-F238E27FC236}">
                <a16:creationId xmlns:a16="http://schemas.microsoft.com/office/drawing/2014/main" id="{2C8586E1-E280-BA4B-AF4A-FDD89BD080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7663" y="4845050"/>
            <a:ext cx="1406525" cy="1187450"/>
          </a:xfrm>
          <a:prstGeom prst="rect">
            <a:avLst/>
          </a:prstGeom>
          <a:noFill/>
          <a:ln w="508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7430" name="Line 25">
            <a:extLst>
              <a:ext uri="{FF2B5EF4-FFF2-40B4-BE49-F238E27FC236}">
                <a16:creationId xmlns:a16="http://schemas.microsoft.com/office/drawing/2014/main" id="{B5A3822A-7B28-1940-899B-7FB37F58DB40}"/>
              </a:ext>
            </a:extLst>
          </p:cNvPr>
          <p:cNvSpPr>
            <a:spLocks noChangeShapeType="1"/>
          </p:cNvSpPr>
          <p:nvPr/>
        </p:nvSpPr>
        <p:spPr bwMode="auto">
          <a:xfrm>
            <a:off x="6708775" y="5818188"/>
            <a:ext cx="192088" cy="698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31" name="Line 26">
            <a:extLst>
              <a:ext uri="{FF2B5EF4-FFF2-40B4-BE49-F238E27FC236}">
                <a16:creationId xmlns:a16="http://schemas.microsoft.com/office/drawing/2014/main" id="{7B7CF601-757E-4E4F-A07B-6BE4F067AF9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97663" y="5884863"/>
            <a:ext cx="242887" cy="12223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32" name="Oval 27">
            <a:extLst>
              <a:ext uri="{FF2B5EF4-FFF2-40B4-BE49-F238E27FC236}">
                <a16:creationId xmlns:a16="http://schemas.microsoft.com/office/drawing/2014/main" id="{91F40DE2-D18C-8D4F-8D51-3B87225A50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2563" y="5842000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7433" name="Rectangle 28">
            <a:extLst>
              <a:ext uri="{FF2B5EF4-FFF2-40B4-BE49-F238E27FC236}">
                <a16:creationId xmlns:a16="http://schemas.microsoft.com/office/drawing/2014/main" id="{1BD7A911-ABE2-3547-8CC0-A31848068C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9275" y="3794125"/>
            <a:ext cx="155892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Write</a:t>
            </a:r>
            <a:r>
              <a:rPr lang="en-US" altLang="zh-CN" sz="180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>
                <a:ea typeface="宋体" panose="02010600030101010101" pitchFamily="2" charset="-122"/>
              </a:rPr>
              <a:t>Enable</a:t>
            </a:r>
          </a:p>
        </p:txBody>
      </p:sp>
      <p:sp>
        <p:nvSpPr>
          <p:cNvPr id="17434" name="Line 29">
            <a:extLst>
              <a:ext uri="{FF2B5EF4-FFF2-40B4-BE49-F238E27FC236}">
                <a16:creationId xmlns:a16="http://schemas.microsoft.com/office/drawing/2014/main" id="{8FE3A1C1-FD69-4A42-A60C-99767541A1C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78488" y="5353050"/>
            <a:ext cx="1016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35" name="Line 30">
            <a:extLst>
              <a:ext uri="{FF2B5EF4-FFF2-40B4-BE49-F238E27FC236}">
                <a16:creationId xmlns:a16="http://schemas.microsoft.com/office/drawing/2014/main" id="{6B77638D-E2D8-F44F-8F04-B7E76717B04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18238" y="528320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36" name="Rectangle 31">
            <a:extLst>
              <a:ext uri="{FF2B5EF4-FFF2-40B4-BE49-F238E27FC236}">
                <a16:creationId xmlns:a16="http://schemas.microsoft.com/office/drawing/2014/main" id="{3D2C9443-0ECD-CF47-A904-E3EA2E9BA2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5500" y="5353050"/>
            <a:ext cx="434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17437" name="Line 32">
            <a:extLst>
              <a:ext uri="{FF2B5EF4-FFF2-40B4-BE49-F238E27FC236}">
                <a16:creationId xmlns:a16="http://schemas.microsoft.com/office/drawing/2014/main" id="{DA990D71-E608-1348-A53E-6B6118CB43A3}"/>
              </a:ext>
            </a:extLst>
          </p:cNvPr>
          <p:cNvSpPr>
            <a:spLocks noChangeShapeType="1"/>
          </p:cNvSpPr>
          <p:nvPr/>
        </p:nvSpPr>
        <p:spPr bwMode="auto">
          <a:xfrm>
            <a:off x="8083550" y="5033963"/>
            <a:ext cx="1023938" cy="142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38" name="Line 33">
            <a:extLst>
              <a:ext uri="{FF2B5EF4-FFF2-40B4-BE49-F238E27FC236}">
                <a16:creationId xmlns:a16="http://schemas.microsoft.com/office/drawing/2014/main" id="{B0E418F6-F326-084F-89CF-847180F4A35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732838" y="497840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39" name="Rectangle 34">
            <a:extLst>
              <a:ext uri="{FF2B5EF4-FFF2-40B4-BE49-F238E27FC236}">
                <a16:creationId xmlns:a16="http://schemas.microsoft.com/office/drawing/2014/main" id="{158BF4F7-8F3F-3E4F-AC87-E7142A711C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20100" y="5048250"/>
            <a:ext cx="434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17440" name="Rectangle 35">
            <a:extLst>
              <a:ext uri="{FF2B5EF4-FFF2-40B4-BE49-F238E27FC236}">
                <a16:creationId xmlns:a16="http://schemas.microsoft.com/office/drawing/2014/main" id="{EEEA2672-A597-2542-8C8B-FB0D2493B5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15300" y="4705350"/>
            <a:ext cx="688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busA</a:t>
            </a:r>
          </a:p>
        </p:txBody>
      </p:sp>
      <p:sp>
        <p:nvSpPr>
          <p:cNvPr id="17441" name="Line 36">
            <a:extLst>
              <a:ext uri="{FF2B5EF4-FFF2-40B4-BE49-F238E27FC236}">
                <a16:creationId xmlns:a16="http://schemas.microsoft.com/office/drawing/2014/main" id="{8B78EC53-D4B8-AC44-9363-C19EBCADA5D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34188" y="4133850"/>
            <a:ext cx="0" cy="6985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42" name="Line 37">
            <a:extLst>
              <a:ext uri="{FF2B5EF4-FFF2-40B4-BE49-F238E27FC236}">
                <a16:creationId xmlns:a16="http://schemas.microsoft.com/office/drawing/2014/main" id="{B77346FF-2362-DF4E-B0DB-5B19D7E347C8}"/>
              </a:ext>
            </a:extLst>
          </p:cNvPr>
          <p:cNvSpPr>
            <a:spLocks noChangeShapeType="1"/>
          </p:cNvSpPr>
          <p:nvPr/>
        </p:nvSpPr>
        <p:spPr bwMode="auto">
          <a:xfrm>
            <a:off x="8099425" y="5810250"/>
            <a:ext cx="100806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43" name="Line 38">
            <a:extLst>
              <a:ext uri="{FF2B5EF4-FFF2-40B4-BE49-F238E27FC236}">
                <a16:creationId xmlns:a16="http://schemas.microsoft.com/office/drawing/2014/main" id="{320AB2D7-2C3B-6A40-8DE0-AB65F7E8ECA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732838" y="574040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44" name="Rectangle 39">
            <a:extLst>
              <a:ext uri="{FF2B5EF4-FFF2-40B4-BE49-F238E27FC236}">
                <a16:creationId xmlns:a16="http://schemas.microsoft.com/office/drawing/2014/main" id="{E441E68D-66B2-464C-8781-6AB00EDA71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20100" y="5810250"/>
            <a:ext cx="434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17445" name="Rectangle 40">
            <a:extLst>
              <a:ext uri="{FF2B5EF4-FFF2-40B4-BE49-F238E27FC236}">
                <a16:creationId xmlns:a16="http://schemas.microsoft.com/office/drawing/2014/main" id="{A1117F5D-AD0C-EE45-A7DF-85599B24B4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15300" y="5480050"/>
            <a:ext cx="6762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busB</a:t>
            </a:r>
          </a:p>
        </p:txBody>
      </p:sp>
      <p:sp>
        <p:nvSpPr>
          <p:cNvPr id="17446" name="Line 41">
            <a:extLst>
              <a:ext uri="{FF2B5EF4-FFF2-40B4-BE49-F238E27FC236}">
                <a16:creationId xmlns:a16="http://schemas.microsoft.com/office/drawing/2014/main" id="{6315DC43-546A-ED48-8BD8-7DAC688E3A4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45200" y="5915025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47" name="Line 42">
            <a:extLst>
              <a:ext uri="{FF2B5EF4-FFF2-40B4-BE49-F238E27FC236}">
                <a16:creationId xmlns:a16="http://schemas.microsoft.com/office/drawing/2014/main" id="{20CDB035-BE17-DE4A-A394-A8E39E36255D}"/>
              </a:ext>
            </a:extLst>
          </p:cNvPr>
          <p:cNvSpPr>
            <a:spLocks noChangeShapeType="1"/>
          </p:cNvSpPr>
          <p:nvPr/>
        </p:nvSpPr>
        <p:spPr bwMode="auto">
          <a:xfrm>
            <a:off x="7138988" y="4375150"/>
            <a:ext cx="0" cy="4762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48" name="Line 43">
            <a:extLst>
              <a:ext uri="{FF2B5EF4-FFF2-40B4-BE49-F238E27FC236}">
                <a16:creationId xmlns:a16="http://schemas.microsoft.com/office/drawing/2014/main" id="{0306B7BA-00FF-2F45-921F-8AD991EB194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69138" y="4508500"/>
            <a:ext cx="139700" cy="165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49" name="Rectangle 44">
            <a:extLst>
              <a:ext uri="{FF2B5EF4-FFF2-40B4-BE49-F238E27FC236}">
                <a16:creationId xmlns:a16="http://schemas.microsoft.com/office/drawing/2014/main" id="{F15CC20F-B61C-384B-8F96-BCCB07A1A7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6100" y="4362450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17450" name="Line 45">
            <a:extLst>
              <a:ext uri="{FF2B5EF4-FFF2-40B4-BE49-F238E27FC236}">
                <a16:creationId xmlns:a16="http://schemas.microsoft.com/office/drawing/2014/main" id="{5D4A33A3-E631-8643-8671-7B2596BAAEF1}"/>
              </a:ext>
            </a:extLst>
          </p:cNvPr>
          <p:cNvSpPr>
            <a:spLocks noChangeShapeType="1"/>
          </p:cNvSpPr>
          <p:nvPr/>
        </p:nvSpPr>
        <p:spPr bwMode="auto">
          <a:xfrm>
            <a:off x="7519988" y="4375150"/>
            <a:ext cx="0" cy="4619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51" name="Line 46">
            <a:extLst>
              <a:ext uri="{FF2B5EF4-FFF2-40B4-BE49-F238E27FC236}">
                <a16:creationId xmlns:a16="http://schemas.microsoft.com/office/drawing/2014/main" id="{6AA8F8D6-2126-934A-A1F4-D23AFC8547B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50138" y="4508500"/>
            <a:ext cx="139700" cy="165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52" name="Rectangle 47">
            <a:extLst>
              <a:ext uri="{FF2B5EF4-FFF2-40B4-BE49-F238E27FC236}">
                <a16:creationId xmlns:a16="http://schemas.microsoft.com/office/drawing/2014/main" id="{749B142F-5CA7-CB4A-B8A6-52C66A790A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7100" y="4362450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17453" name="Line 48">
            <a:extLst>
              <a:ext uri="{FF2B5EF4-FFF2-40B4-BE49-F238E27FC236}">
                <a16:creationId xmlns:a16="http://schemas.microsoft.com/office/drawing/2014/main" id="{C38C7885-CB59-3A40-BA5D-7C3D8378D68E}"/>
              </a:ext>
            </a:extLst>
          </p:cNvPr>
          <p:cNvSpPr>
            <a:spLocks noChangeShapeType="1"/>
          </p:cNvSpPr>
          <p:nvPr/>
        </p:nvSpPr>
        <p:spPr bwMode="auto">
          <a:xfrm>
            <a:off x="7977188" y="4375150"/>
            <a:ext cx="0" cy="4603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54" name="Line 49">
            <a:extLst>
              <a:ext uri="{FF2B5EF4-FFF2-40B4-BE49-F238E27FC236}">
                <a16:creationId xmlns:a16="http://schemas.microsoft.com/office/drawing/2014/main" id="{F6F6083C-F4C0-A648-B975-1884A7831E7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907338" y="4508500"/>
            <a:ext cx="139700" cy="165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55" name="Rectangle 50">
            <a:extLst>
              <a:ext uri="{FF2B5EF4-FFF2-40B4-BE49-F238E27FC236}">
                <a16:creationId xmlns:a16="http://schemas.microsoft.com/office/drawing/2014/main" id="{27915198-E9FC-A144-98D2-87729E9426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34300" y="4362450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17456" name="Rectangle 51">
            <a:extLst>
              <a:ext uri="{FF2B5EF4-FFF2-40B4-BE49-F238E27FC236}">
                <a16:creationId xmlns:a16="http://schemas.microsoft.com/office/drawing/2014/main" id="{457D75DF-3A5E-E54C-8774-B0BE40AC2A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6100" y="4057650"/>
            <a:ext cx="561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RW</a:t>
            </a:r>
          </a:p>
        </p:txBody>
      </p:sp>
      <p:sp>
        <p:nvSpPr>
          <p:cNvPr id="17457" name="Rectangle 52">
            <a:extLst>
              <a:ext uri="{FF2B5EF4-FFF2-40B4-BE49-F238E27FC236}">
                <a16:creationId xmlns:a16="http://schemas.microsoft.com/office/drawing/2014/main" id="{F666B930-1D63-C24A-81EC-9E9B046C6F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3300" y="4057650"/>
            <a:ext cx="5111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RA</a:t>
            </a:r>
          </a:p>
        </p:txBody>
      </p:sp>
      <p:sp>
        <p:nvSpPr>
          <p:cNvPr id="17458" name="Rectangle 53">
            <a:extLst>
              <a:ext uri="{FF2B5EF4-FFF2-40B4-BE49-F238E27FC236}">
                <a16:creationId xmlns:a16="http://schemas.microsoft.com/office/drawing/2014/main" id="{BC44BD05-91E7-2E41-B655-B6FDEAC66F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34300" y="4057650"/>
            <a:ext cx="5111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RB</a:t>
            </a:r>
          </a:p>
        </p:txBody>
      </p:sp>
      <p:sp>
        <p:nvSpPr>
          <p:cNvPr id="17459" name="Rectangle 54">
            <a:extLst>
              <a:ext uri="{FF2B5EF4-FFF2-40B4-BE49-F238E27FC236}">
                <a16:creationId xmlns:a16="http://schemas.microsoft.com/office/drawing/2014/main" id="{44580FF0-D289-7544-A173-8192A70852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6100" y="5124450"/>
            <a:ext cx="1222375" cy="638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32 32-</a:t>
            </a:r>
            <a:r>
              <a:rPr lang="en-US" altLang="zh-CN" sz="1800">
                <a:ea typeface="宋体" panose="02010600030101010101" pitchFamily="2" charset="-122"/>
              </a:rPr>
              <a:t>bit</a:t>
            </a:r>
          </a:p>
          <a:p>
            <a:r>
              <a:rPr lang="en-US" altLang="zh-CN" sz="1800">
                <a:ea typeface="宋体" panose="02010600030101010101" pitchFamily="2" charset="-122"/>
              </a:rPr>
              <a:t>Registers</a:t>
            </a:r>
          </a:p>
        </p:txBody>
      </p:sp>
      <p:sp>
        <p:nvSpPr>
          <p:cNvPr id="17460" name="Line 55">
            <a:extLst>
              <a:ext uri="{FF2B5EF4-FFF2-40B4-BE49-F238E27FC236}">
                <a16:creationId xmlns:a16="http://schemas.microsoft.com/office/drawing/2014/main" id="{029D0B4A-33DD-9B43-AC7C-D6F403120ED9}"/>
              </a:ext>
            </a:extLst>
          </p:cNvPr>
          <p:cNvSpPr>
            <a:spLocks noChangeShapeType="1"/>
          </p:cNvSpPr>
          <p:nvPr/>
        </p:nvSpPr>
        <p:spPr bwMode="auto">
          <a:xfrm>
            <a:off x="7402513" y="2801938"/>
            <a:ext cx="0" cy="2317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9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89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89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89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894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894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47DA0220-98B9-064D-8AE4-402832C8DF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46300" y="165100"/>
            <a:ext cx="4637088" cy="422275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寄存器组的内部结构</a:t>
            </a:r>
          </a:p>
        </p:txBody>
      </p:sp>
      <p:sp>
        <p:nvSpPr>
          <p:cNvPr id="19459" name="Text Box 87">
            <a:extLst>
              <a:ext uri="{FF2B5EF4-FFF2-40B4-BE49-F238E27FC236}">
                <a16:creationId xmlns:a16="http://schemas.microsoft.com/office/drawing/2014/main" id="{6F26B8CF-4236-7F4D-9A54-977704CC88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" y="3551238"/>
            <a:ext cx="7556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busW</a:t>
            </a:r>
          </a:p>
        </p:txBody>
      </p:sp>
      <p:sp>
        <p:nvSpPr>
          <p:cNvPr id="19460" name="Freeform 5">
            <a:extLst>
              <a:ext uri="{FF2B5EF4-FFF2-40B4-BE49-F238E27FC236}">
                <a16:creationId xmlns:a16="http://schemas.microsoft.com/office/drawing/2014/main" id="{E572211B-6A66-6445-80DF-61169D8EDE20}"/>
              </a:ext>
            </a:extLst>
          </p:cNvPr>
          <p:cNvSpPr>
            <a:spLocks/>
          </p:cNvSpPr>
          <p:nvPr/>
        </p:nvSpPr>
        <p:spPr bwMode="auto">
          <a:xfrm>
            <a:off x="1316038" y="1238250"/>
            <a:ext cx="6581775" cy="5300663"/>
          </a:xfrm>
          <a:custGeom>
            <a:avLst/>
            <a:gdLst>
              <a:gd name="T0" fmla="*/ 2147483646 w 1739"/>
              <a:gd name="T1" fmla="*/ 2147483646 h 1276"/>
              <a:gd name="T2" fmla="*/ 2147483646 w 1739"/>
              <a:gd name="T3" fmla="*/ 0 h 1276"/>
              <a:gd name="T4" fmla="*/ 0 w 1739"/>
              <a:gd name="T5" fmla="*/ 0 h 1276"/>
              <a:gd name="T6" fmla="*/ 0 w 1739"/>
              <a:gd name="T7" fmla="*/ 2147483646 h 1276"/>
              <a:gd name="T8" fmla="*/ 2147483646 w 1739"/>
              <a:gd name="T9" fmla="*/ 2147483646 h 1276"/>
              <a:gd name="T10" fmla="*/ 2147483646 w 1739"/>
              <a:gd name="T11" fmla="*/ 2147483646 h 127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739" h="1276">
                <a:moveTo>
                  <a:pt x="1737" y="1275"/>
                </a:moveTo>
                <a:lnTo>
                  <a:pt x="1739" y="0"/>
                </a:lnTo>
                <a:lnTo>
                  <a:pt x="0" y="0"/>
                </a:lnTo>
                <a:lnTo>
                  <a:pt x="0" y="1276"/>
                </a:lnTo>
                <a:lnTo>
                  <a:pt x="1739" y="1276"/>
                </a:lnTo>
              </a:path>
            </a:pathLst>
          </a:custGeom>
          <a:noFill/>
          <a:ln w="6350">
            <a:solidFill>
              <a:srgbClr val="D90125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61" name="Freeform 6">
            <a:extLst>
              <a:ext uri="{FF2B5EF4-FFF2-40B4-BE49-F238E27FC236}">
                <a16:creationId xmlns:a16="http://schemas.microsoft.com/office/drawing/2014/main" id="{DEE2FC85-CB65-B041-8A57-1DA11E9EAAE3}"/>
              </a:ext>
            </a:extLst>
          </p:cNvPr>
          <p:cNvSpPr>
            <a:spLocks/>
          </p:cNvSpPr>
          <p:nvPr/>
        </p:nvSpPr>
        <p:spPr bwMode="auto">
          <a:xfrm>
            <a:off x="1644650" y="1547813"/>
            <a:ext cx="915988" cy="1171575"/>
          </a:xfrm>
          <a:custGeom>
            <a:avLst/>
            <a:gdLst>
              <a:gd name="T0" fmla="*/ 0 w 320"/>
              <a:gd name="T1" fmla="*/ 2147483646 h 559"/>
              <a:gd name="T2" fmla="*/ 0 w 320"/>
              <a:gd name="T3" fmla="*/ 0 h 559"/>
              <a:gd name="T4" fmla="*/ 2147483646 w 320"/>
              <a:gd name="T5" fmla="*/ 0 h 559"/>
              <a:gd name="T6" fmla="*/ 2147483646 w 320"/>
              <a:gd name="T7" fmla="*/ 2147483646 h 559"/>
              <a:gd name="T8" fmla="*/ 0 w 320"/>
              <a:gd name="T9" fmla="*/ 2147483646 h 559"/>
              <a:gd name="T10" fmla="*/ 0 w 320"/>
              <a:gd name="T11" fmla="*/ 2147483646 h 55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320" h="559">
                <a:moveTo>
                  <a:pt x="0" y="557"/>
                </a:moveTo>
                <a:lnTo>
                  <a:pt x="0" y="0"/>
                </a:lnTo>
                <a:lnTo>
                  <a:pt x="320" y="0"/>
                </a:lnTo>
                <a:lnTo>
                  <a:pt x="320" y="559"/>
                </a:lnTo>
                <a:lnTo>
                  <a:pt x="0" y="559"/>
                </a:lnTo>
              </a:path>
            </a:pathLst>
          </a:custGeom>
          <a:noFill/>
          <a:ln w="28575" cmpd="sng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62" name="Freeform 7">
            <a:extLst>
              <a:ext uri="{FF2B5EF4-FFF2-40B4-BE49-F238E27FC236}">
                <a16:creationId xmlns:a16="http://schemas.microsoft.com/office/drawing/2014/main" id="{990BBAC3-FE9D-824B-BADB-508257A14725}"/>
              </a:ext>
            </a:extLst>
          </p:cNvPr>
          <p:cNvSpPr>
            <a:spLocks/>
          </p:cNvSpPr>
          <p:nvPr/>
        </p:nvSpPr>
        <p:spPr bwMode="auto">
          <a:xfrm>
            <a:off x="4592638" y="1509713"/>
            <a:ext cx="1225550" cy="457200"/>
          </a:xfrm>
          <a:custGeom>
            <a:avLst/>
            <a:gdLst>
              <a:gd name="T0" fmla="*/ 0 w 480"/>
              <a:gd name="T1" fmla="*/ 2147483646 h 218"/>
              <a:gd name="T2" fmla="*/ 2147483646 w 480"/>
              <a:gd name="T3" fmla="*/ 0 h 218"/>
              <a:gd name="T4" fmla="*/ 2147483646 w 480"/>
              <a:gd name="T5" fmla="*/ 0 h 218"/>
              <a:gd name="T6" fmla="*/ 2147483646 w 480"/>
              <a:gd name="T7" fmla="*/ 2147483646 h 218"/>
              <a:gd name="T8" fmla="*/ 2147483646 w 480"/>
              <a:gd name="T9" fmla="*/ 2147483646 h 218"/>
              <a:gd name="T10" fmla="*/ 2147483646 w 480"/>
              <a:gd name="T11" fmla="*/ 2147483646 h 21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480" h="218">
                <a:moveTo>
                  <a:pt x="0" y="217"/>
                </a:moveTo>
                <a:lnTo>
                  <a:pt x="2" y="0"/>
                </a:lnTo>
                <a:lnTo>
                  <a:pt x="480" y="0"/>
                </a:lnTo>
                <a:lnTo>
                  <a:pt x="480" y="218"/>
                </a:lnTo>
                <a:lnTo>
                  <a:pt x="2" y="218"/>
                </a:lnTo>
              </a:path>
            </a:pathLst>
          </a:custGeom>
          <a:noFill/>
          <a:ln w="28575" cmpd="sng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63" name="Freeform 8">
            <a:extLst>
              <a:ext uri="{FF2B5EF4-FFF2-40B4-BE49-F238E27FC236}">
                <a16:creationId xmlns:a16="http://schemas.microsoft.com/office/drawing/2014/main" id="{A928AB60-B76D-2A47-8354-4A99D46E1379}"/>
              </a:ext>
            </a:extLst>
          </p:cNvPr>
          <p:cNvSpPr>
            <a:spLocks/>
          </p:cNvSpPr>
          <p:nvPr/>
        </p:nvSpPr>
        <p:spPr bwMode="auto">
          <a:xfrm>
            <a:off x="4592638" y="1966913"/>
            <a:ext cx="1225550" cy="455612"/>
          </a:xfrm>
          <a:custGeom>
            <a:avLst/>
            <a:gdLst>
              <a:gd name="T0" fmla="*/ 0 w 480"/>
              <a:gd name="T1" fmla="*/ 2147483646 h 217"/>
              <a:gd name="T2" fmla="*/ 2147483646 w 480"/>
              <a:gd name="T3" fmla="*/ 0 h 217"/>
              <a:gd name="T4" fmla="*/ 2147483646 w 480"/>
              <a:gd name="T5" fmla="*/ 0 h 217"/>
              <a:gd name="T6" fmla="*/ 2147483646 w 480"/>
              <a:gd name="T7" fmla="*/ 2147483646 h 217"/>
              <a:gd name="T8" fmla="*/ 2147483646 w 480"/>
              <a:gd name="T9" fmla="*/ 2147483646 h 217"/>
              <a:gd name="T10" fmla="*/ 2147483646 w 480"/>
              <a:gd name="T11" fmla="*/ 2147483646 h 21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480" h="217">
                <a:moveTo>
                  <a:pt x="0" y="217"/>
                </a:moveTo>
                <a:lnTo>
                  <a:pt x="2" y="0"/>
                </a:lnTo>
                <a:lnTo>
                  <a:pt x="480" y="0"/>
                </a:lnTo>
                <a:lnTo>
                  <a:pt x="480" y="217"/>
                </a:lnTo>
                <a:lnTo>
                  <a:pt x="2" y="217"/>
                </a:lnTo>
              </a:path>
            </a:pathLst>
          </a:custGeom>
          <a:noFill/>
          <a:ln w="28575" cmpd="sng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64" name="Freeform 9">
            <a:extLst>
              <a:ext uri="{FF2B5EF4-FFF2-40B4-BE49-F238E27FC236}">
                <a16:creationId xmlns:a16="http://schemas.microsoft.com/office/drawing/2014/main" id="{121359DE-D023-A44A-8EEF-7E37AB9F620B}"/>
              </a:ext>
            </a:extLst>
          </p:cNvPr>
          <p:cNvSpPr>
            <a:spLocks/>
          </p:cNvSpPr>
          <p:nvPr/>
        </p:nvSpPr>
        <p:spPr bwMode="auto">
          <a:xfrm>
            <a:off x="4592638" y="2422525"/>
            <a:ext cx="1225550" cy="455613"/>
          </a:xfrm>
          <a:custGeom>
            <a:avLst/>
            <a:gdLst>
              <a:gd name="T0" fmla="*/ 0 w 480"/>
              <a:gd name="T1" fmla="*/ 2147483646 h 218"/>
              <a:gd name="T2" fmla="*/ 2147483646 w 480"/>
              <a:gd name="T3" fmla="*/ 0 h 218"/>
              <a:gd name="T4" fmla="*/ 2147483646 w 480"/>
              <a:gd name="T5" fmla="*/ 0 h 218"/>
              <a:gd name="T6" fmla="*/ 2147483646 w 480"/>
              <a:gd name="T7" fmla="*/ 2147483646 h 218"/>
              <a:gd name="T8" fmla="*/ 2147483646 w 480"/>
              <a:gd name="T9" fmla="*/ 2147483646 h 218"/>
              <a:gd name="T10" fmla="*/ 2147483646 w 480"/>
              <a:gd name="T11" fmla="*/ 2147483646 h 21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480" h="218">
                <a:moveTo>
                  <a:pt x="0" y="218"/>
                </a:moveTo>
                <a:lnTo>
                  <a:pt x="2" y="0"/>
                </a:lnTo>
                <a:lnTo>
                  <a:pt x="480" y="0"/>
                </a:lnTo>
                <a:lnTo>
                  <a:pt x="480" y="218"/>
                </a:lnTo>
                <a:lnTo>
                  <a:pt x="2" y="218"/>
                </a:lnTo>
              </a:path>
            </a:pathLst>
          </a:custGeom>
          <a:noFill/>
          <a:ln w="28575" cmpd="sng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65" name="Freeform 10">
            <a:extLst>
              <a:ext uri="{FF2B5EF4-FFF2-40B4-BE49-F238E27FC236}">
                <a16:creationId xmlns:a16="http://schemas.microsoft.com/office/drawing/2014/main" id="{261D41CB-A323-5849-BBC4-BF061F01C8CE}"/>
              </a:ext>
            </a:extLst>
          </p:cNvPr>
          <p:cNvSpPr>
            <a:spLocks/>
          </p:cNvSpPr>
          <p:nvPr/>
        </p:nvSpPr>
        <p:spPr bwMode="auto">
          <a:xfrm>
            <a:off x="4592638" y="2878138"/>
            <a:ext cx="1225550" cy="455612"/>
          </a:xfrm>
          <a:custGeom>
            <a:avLst/>
            <a:gdLst>
              <a:gd name="T0" fmla="*/ 0 w 480"/>
              <a:gd name="T1" fmla="*/ 2147483646 h 218"/>
              <a:gd name="T2" fmla="*/ 2147483646 w 480"/>
              <a:gd name="T3" fmla="*/ 0 h 218"/>
              <a:gd name="T4" fmla="*/ 2147483646 w 480"/>
              <a:gd name="T5" fmla="*/ 0 h 218"/>
              <a:gd name="T6" fmla="*/ 2147483646 w 480"/>
              <a:gd name="T7" fmla="*/ 2147483646 h 218"/>
              <a:gd name="T8" fmla="*/ 2147483646 w 480"/>
              <a:gd name="T9" fmla="*/ 2147483646 h 218"/>
              <a:gd name="T10" fmla="*/ 2147483646 w 480"/>
              <a:gd name="T11" fmla="*/ 2147483646 h 21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480" h="218">
                <a:moveTo>
                  <a:pt x="0" y="216"/>
                </a:moveTo>
                <a:lnTo>
                  <a:pt x="2" y="0"/>
                </a:lnTo>
                <a:lnTo>
                  <a:pt x="480" y="0"/>
                </a:lnTo>
                <a:lnTo>
                  <a:pt x="480" y="218"/>
                </a:lnTo>
                <a:lnTo>
                  <a:pt x="2" y="218"/>
                </a:lnTo>
              </a:path>
            </a:pathLst>
          </a:custGeom>
          <a:noFill/>
          <a:ln w="28575" cmpd="sng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66" name="Freeform 11">
            <a:extLst>
              <a:ext uri="{FF2B5EF4-FFF2-40B4-BE49-F238E27FC236}">
                <a16:creationId xmlns:a16="http://schemas.microsoft.com/office/drawing/2014/main" id="{6CDBA5AE-46F0-9B47-90DD-E7101366E725}"/>
              </a:ext>
            </a:extLst>
          </p:cNvPr>
          <p:cNvSpPr>
            <a:spLocks/>
          </p:cNvSpPr>
          <p:nvPr/>
        </p:nvSpPr>
        <p:spPr bwMode="auto">
          <a:xfrm>
            <a:off x="3890963" y="2865438"/>
            <a:ext cx="385762" cy="214312"/>
          </a:xfrm>
          <a:custGeom>
            <a:avLst/>
            <a:gdLst>
              <a:gd name="T0" fmla="*/ 2147483646 w 151"/>
              <a:gd name="T1" fmla="*/ 2147483646 h 102"/>
              <a:gd name="T2" fmla="*/ 2147483646 w 151"/>
              <a:gd name="T3" fmla="*/ 2147483646 h 102"/>
              <a:gd name="T4" fmla="*/ 2147483646 w 151"/>
              <a:gd name="T5" fmla="*/ 2147483646 h 102"/>
              <a:gd name="T6" fmla="*/ 2147483646 w 151"/>
              <a:gd name="T7" fmla="*/ 2147483646 h 102"/>
              <a:gd name="T8" fmla="*/ 2147483646 w 151"/>
              <a:gd name="T9" fmla="*/ 2147483646 h 102"/>
              <a:gd name="T10" fmla="*/ 2147483646 w 151"/>
              <a:gd name="T11" fmla="*/ 2147483646 h 102"/>
              <a:gd name="T12" fmla="*/ 2147483646 w 151"/>
              <a:gd name="T13" fmla="*/ 2147483646 h 102"/>
              <a:gd name="T14" fmla="*/ 2147483646 w 151"/>
              <a:gd name="T15" fmla="*/ 2147483646 h 102"/>
              <a:gd name="T16" fmla="*/ 2147483646 w 151"/>
              <a:gd name="T17" fmla="*/ 2147483646 h 102"/>
              <a:gd name="T18" fmla="*/ 2147483646 w 151"/>
              <a:gd name="T19" fmla="*/ 2147483646 h 102"/>
              <a:gd name="T20" fmla="*/ 2147483646 w 151"/>
              <a:gd name="T21" fmla="*/ 2147483646 h 102"/>
              <a:gd name="T22" fmla="*/ 2147483646 w 151"/>
              <a:gd name="T23" fmla="*/ 2147483646 h 102"/>
              <a:gd name="T24" fmla="*/ 2147483646 w 151"/>
              <a:gd name="T25" fmla="*/ 2147483646 h 102"/>
              <a:gd name="T26" fmla="*/ 2147483646 w 151"/>
              <a:gd name="T27" fmla="*/ 2147483646 h 102"/>
              <a:gd name="T28" fmla="*/ 2147483646 w 151"/>
              <a:gd name="T29" fmla="*/ 2147483646 h 102"/>
              <a:gd name="T30" fmla="*/ 2147483646 w 151"/>
              <a:gd name="T31" fmla="*/ 2147483646 h 102"/>
              <a:gd name="T32" fmla="*/ 2147483646 w 151"/>
              <a:gd name="T33" fmla="*/ 2147483646 h 102"/>
              <a:gd name="T34" fmla="*/ 2147483646 w 151"/>
              <a:gd name="T35" fmla="*/ 2147483646 h 102"/>
              <a:gd name="T36" fmla="*/ 2147483646 w 151"/>
              <a:gd name="T37" fmla="*/ 2147483646 h 102"/>
              <a:gd name="T38" fmla="*/ 2147483646 w 151"/>
              <a:gd name="T39" fmla="*/ 2147483646 h 102"/>
              <a:gd name="T40" fmla="*/ 2147483646 w 151"/>
              <a:gd name="T41" fmla="*/ 0 h 102"/>
              <a:gd name="T42" fmla="*/ 0 w 151"/>
              <a:gd name="T43" fmla="*/ 0 h 102"/>
              <a:gd name="T44" fmla="*/ 0 w 151"/>
              <a:gd name="T45" fmla="*/ 2147483646 h 102"/>
              <a:gd name="T46" fmla="*/ 2147483646 w 151"/>
              <a:gd name="T47" fmla="*/ 2147483646 h 102"/>
              <a:gd name="T48" fmla="*/ 2147483646 w 151"/>
              <a:gd name="T49" fmla="*/ 2147483646 h 10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0" t="0" r="r" b="b"/>
            <a:pathLst>
              <a:path w="151" h="102">
                <a:moveTo>
                  <a:pt x="90" y="100"/>
                </a:moveTo>
                <a:lnTo>
                  <a:pt x="101" y="100"/>
                </a:lnTo>
                <a:lnTo>
                  <a:pt x="111" y="99"/>
                </a:lnTo>
                <a:lnTo>
                  <a:pt x="119" y="96"/>
                </a:lnTo>
                <a:lnTo>
                  <a:pt x="126" y="91"/>
                </a:lnTo>
                <a:lnTo>
                  <a:pt x="134" y="86"/>
                </a:lnTo>
                <a:lnTo>
                  <a:pt x="140" y="80"/>
                </a:lnTo>
                <a:lnTo>
                  <a:pt x="145" y="74"/>
                </a:lnTo>
                <a:lnTo>
                  <a:pt x="149" y="66"/>
                </a:lnTo>
                <a:lnTo>
                  <a:pt x="151" y="58"/>
                </a:lnTo>
                <a:lnTo>
                  <a:pt x="151" y="51"/>
                </a:lnTo>
                <a:lnTo>
                  <a:pt x="151" y="43"/>
                </a:lnTo>
                <a:lnTo>
                  <a:pt x="149" y="35"/>
                </a:lnTo>
                <a:lnTo>
                  <a:pt x="145" y="28"/>
                </a:lnTo>
                <a:lnTo>
                  <a:pt x="140" y="21"/>
                </a:lnTo>
                <a:lnTo>
                  <a:pt x="134" y="15"/>
                </a:lnTo>
                <a:lnTo>
                  <a:pt x="126" y="10"/>
                </a:lnTo>
                <a:lnTo>
                  <a:pt x="119" y="6"/>
                </a:lnTo>
                <a:lnTo>
                  <a:pt x="111" y="3"/>
                </a:lnTo>
                <a:lnTo>
                  <a:pt x="101" y="1"/>
                </a:lnTo>
                <a:lnTo>
                  <a:pt x="90" y="0"/>
                </a:lnTo>
                <a:lnTo>
                  <a:pt x="0" y="0"/>
                </a:lnTo>
                <a:lnTo>
                  <a:pt x="0" y="102"/>
                </a:lnTo>
                <a:lnTo>
                  <a:pt x="90" y="102"/>
                </a:lnTo>
              </a:path>
            </a:pathLst>
          </a:custGeom>
          <a:noFill/>
          <a:ln w="28575" cmpd="sng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67" name="Line 12">
            <a:extLst>
              <a:ext uri="{FF2B5EF4-FFF2-40B4-BE49-F238E27FC236}">
                <a16:creationId xmlns:a16="http://schemas.microsoft.com/office/drawing/2014/main" id="{7D70E700-1120-6E4B-8525-CE079F5F28D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281488" y="2971800"/>
            <a:ext cx="3111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68" name="Line 14">
            <a:extLst>
              <a:ext uri="{FF2B5EF4-FFF2-40B4-BE49-F238E27FC236}">
                <a16:creationId xmlns:a16="http://schemas.microsoft.com/office/drawing/2014/main" id="{324CF174-FD43-FE42-926B-783F15AFDF7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11575" y="2903538"/>
            <a:ext cx="179388" cy="1587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69" name="Freeform 15">
            <a:extLst>
              <a:ext uri="{FF2B5EF4-FFF2-40B4-BE49-F238E27FC236}">
                <a16:creationId xmlns:a16="http://schemas.microsoft.com/office/drawing/2014/main" id="{A5559A23-8B25-1044-908D-191CEC0FA562}"/>
              </a:ext>
            </a:extLst>
          </p:cNvPr>
          <p:cNvSpPr>
            <a:spLocks/>
          </p:cNvSpPr>
          <p:nvPr/>
        </p:nvSpPr>
        <p:spPr bwMode="auto">
          <a:xfrm>
            <a:off x="3890963" y="3317875"/>
            <a:ext cx="385762" cy="212725"/>
          </a:xfrm>
          <a:custGeom>
            <a:avLst/>
            <a:gdLst>
              <a:gd name="T0" fmla="*/ 2147483646 w 151"/>
              <a:gd name="T1" fmla="*/ 2147483646 h 102"/>
              <a:gd name="T2" fmla="*/ 2147483646 w 151"/>
              <a:gd name="T3" fmla="*/ 2147483646 h 102"/>
              <a:gd name="T4" fmla="*/ 2147483646 w 151"/>
              <a:gd name="T5" fmla="*/ 2147483646 h 102"/>
              <a:gd name="T6" fmla="*/ 2147483646 w 151"/>
              <a:gd name="T7" fmla="*/ 2147483646 h 102"/>
              <a:gd name="T8" fmla="*/ 2147483646 w 151"/>
              <a:gd name="T9" fmla="*/ 2147483646 h 102"/>
              <a:gd name="T10" fmla="*/ 2147483646 w 151"/>
              <a:gd name="T11" fmla="*/ 2147483646 h 102"/>
              <a:gd name="T12" fmla="*/ 2147483646 w 151"/>
              <a:gd name="T13" fmla="*/ 2147483646 h 102"/>
              <a:gd name="T14" fmla="*/ 2147483646 w 151"/>
              <a:gd name="T15" fmla="*/ 2147483646 h 102"/>
              <a:gd name="T16" fmla="*/ 2147483646 w 151"/>
              <a:gd name="T17" fmla="*/ 2147483646 h 102"/>
              <a:gd name="T18" fmla="*/ 2147483646 w 151"/>
              <a:gd name="T19" fmla="*/ 2147483646 h 102"/>
              <a:gd name="T20" fmla="*/ 2147483646 w 151"/>
              <a:gd name="T21" fmla="*/ 2147483646 h 102"/>
              <a:gd name="T22" fmla="*/ 2147483646 w 151"/>
              <a:gd name="T23" fmla="*/ 2147483646 h 102"/>
              <a:gd name="T24" fmla="*/ 2147483646 w 151"/>
              <a:gd name="T25" fmla="*/ 2147483646 h 102"/>
              <a:gd name="T26" fmla="*/ 2147483646 w 151"/>
              <a:gd name="T27" fmla="*/ 2147483646 h 102"/>
              <a:gd name="T28" fmla="*/ 2147483646 w 151"/>
              <a:gd name="T29" fmla="*/ 2147483646 h 102"/>
              <a:gd name="T30" fmla="*/ 2147483646 w 151"/>
              <a:gd name="T31" fmla="*/ 2147483646 h 102"/>
              <a:gd name="T32" fmla="*/ 2147483646 w 151"/>
              <a:gd name="T33" fmla="*/ 2147483646 h 102"/>
              <a:gd name="T34" fmla="*/ 2147483646 w 151"/>
              <a:gd name="T35" fmla="*/ 2147483646 h 102"/>
              <a:gd name="T36" fmla="*/ 2147483646 w 151"/>
              <a:gd name="T37" fmla="*/ 2147483646 h 102"/>
              <a:gd name="T38" fmla="*/ 2147483646 w 151"/>
              <a:gd name="T39" fmla="*/ 2147483646 h 102"/>
              <a:gd name="T40" fmla="*/ 2147483646 w 151"/>
              <a:gd name="T41" fmla="*/ 0 h 102"/>
              <a:gd name="T42" fmla="*/ 0 w 151"/>
              <a:gd name="T43" fmla="*/ 0 h 102"/>
              <a:gd name="T44" fmla="*/ 0 w 151"/>
              <a:gd name="T45" fmla="*/ 2147483646 h 102"/>
              <a:gd name="T46" fmla="*/ 2147483646 w 151"/>
              <a:gd name="T47" fmla="*/ 2147483646 h 102"/>
              <a:gd name="T48" fmla="*/ 2147483646 w 151"/>
              <a:gd name="T49" fmla="*/ 2147483646 h 10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0" t="0" r="r" b="b"/>
            <a:pathLst>
              <a:path w="151" h="102">
                <a:moveTo>
                  <a:pt x="90" y="102"/>
                </a:moveTo>
                <a:lnTo>
                  <a:pt x="101" y="101"/>
                </a:lnTo>
                <a:lnTo>
                  <a:pt x="111" y="99"/>
                </a:lnTo>
                <a:lnTo>
                  <a:pt x="119" y="96"/>
                </a:lnTo>
                <a:lnTo>
                  <a:pt x="126" y="93"/>
                </a:lnTo>
                <a:lnTo>
                  <a:pt x="134" y="87"/>
                </a:lnTo>
                <a:lnTo>
                  <a:pt x="140" y="82"/>
                </a:lnTo>
                <a:lnTo>
                  <a:pt x="145" y="74"/>
                </a:lnTo>
                <a:lnTo>
                  <a:pt x="149" y="68"/>
                </a:lnTo>
                <a:lnTo>
                  <a:pt x="151" y="59"/>
                </a:lnTo>
                <a:lnTo>
                  <a:pt x="151" y="51"/>
                </a:lnTo>
                <a:lnTo>
                  <a:pt x="151" y="44"/>
                </a:lnTo>
                <a:lnTo>
                  <a:pt x="149" y="36"/>
                </a:lnTo>
                <a:lnTo>
                  <a:pt x="145" y="28"/>
                </a:lnTo>
                <a:lnTo>
                  <a:pt x="140" y="22"/>
                </a:lnTo>
                <a:lnTo>
                  <a:pt x="134" y="16"/>
                </a:lnTo>
                <a:lnTo>
                  <a:pt x="126" y="11"/>
                </a:lnTo>
                <a:lnTo>
                  <a:pt x="119" y="6"/>
                </a:lnTo>
                <a:lnTo>
                  <a:pt x="111" y="3"/>
                </a:lnTo>
                <a:lnTo>
                  <a:pt x="101" y="2"/>
                </a:lnTo>
                <a:lnTo>
                  <a:pt x="90" y="0"/>
                </a:lnTo>
                <a:lnTo>
                  <a:pt x="0" y="0"/>
                </a:lnTo>
                <a:lnTo>
                  <a:pt x="0" y="102"/>
                </a:lnTo>
                <a:lnTo>
                  <a:pt x="90" y="102"/>
                </a:lnTo>
              </a:path>
            </a:pathLst>
          </a:custGeom>
          <a:noFill/>
          <a:ln w="28575" cmpd="sng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70" name="Line 16">
            <a:extLst>
              <a:ext uri="{FF2B5EF4-FFF2-40B4-BE49-F238E27FC236}">
                <a16:creationId xmlns:a16="http://schemas.microsoft.com/office/drawing/2014/main" id="{A29BF0EE-50E0-A84B-8063-92AAA545C74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281488" y="3425825"/>
            <a:ext cx="311150" cy="158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71" name="Freeform 20">
            <a:extLst>
              <a:ext uri="{FF2B5EF4-FFF2-40B4-BE49-F238E27FC236}">
                <a16:creationId xmlns:a16="http://schemas.microsoft.com/office/drawing/2014/main" id="{8D9E45F9-8F58-7543-91A3-321FDB56545B}"/>
              </a:ext>
            </a:extLst>
          </p:cNvPr>
          <p:cNvSpPr>
            <a:spLocks/>
          </p:cNvSpPr>
          <p:nvPr/>
        </p:nvSpPr>
        <p:spPr bwMode="auto">
          <a:xfrm>
            <a:off x="4592638" y="3333750"/>
            <a:ext cx="1225550" cy="452438"/>
          </a:xfrm>
          <a:custGeom>
            <a:avLst/>
            <a:gdLst>
              <a:gd name="T0" fmla="*/ 0 w 480"/>
              <a:gd name="T1" fmla="*/ 2147483646 h 216"/>
              <a:gd name="T2" fmla="*/ 2147483646 w 480"/>
              <a:gd name="T3" fmla="*/ 0 h 216"/>
              <a:gd name="T4" fmla="*/ 2147483646 w 480"/>
              <a:gd name="T5" fmla="*/ 0 h 216"/>
              <a:gd name="T6" fmla="*/ 2147483646 w 480"/>
              <a:gd name="T7" fmla="*/ 2147483646 h 216"/>
              <a:gd name="T8" fmla="*/ 2147483646 w 480"/>
              <a:gd name="T9" fmla="*/ 2147483646 h 216"/>
              <a:gd name="T10" fmla="*/ 2147483646 w 480"/>
              <a:gd name="T11" fmla="*/ 2147483646 h 21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480" h="216">
                <a:moveTo>
                  <a:pt x="0" y="216"/>
                </a:moveTo>
                <a:lnTo>
                  <a:pt x="2" y="0"/>
                </a:lnTo>
                <a:lnTo>
                  <a:pt x="480" y="0"/>
                </a:lnTo>
                <a:lnTo>
                  <a:pt x="480" y="216"/>
                </a:lnTo>
                <a:lnTo>
                  <a:pt x="2" y="216"/>
                </a:lnTo>
              </a:path>
            </a:pathLst>
          </a:custGeom>
          <a:noFill/>
          <a:ln w="28575" cmpd="sng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72" name="Freeform 21">
            <a:extLst>
              <a:ext uri="{FF2B5EF4-FFF2-40B4-BE49-F238E27FC236}">
                <a16:creationId xmlns:a16="http://schemas.microsoft.com/office/drawing/2014/main" id="{793D869A-5FFB-F945-A647-02A524EA580E}"/>
              </a:ext>
            </a:extLst>
          </p:cNvPr>
          <p:cNvSpPr>
            <a:spLocks/>
          </p:cNvSpPr>
          <p:nvPr/>
        </p:nvSpPr>
        <p:spPr bwMode="auto">
          <a:xfrm>
            <a:off x="5186363" y="2640013"/>
            <a:ext cx="36512" cy="20637"/>
          </a:xfrm>
          <a:custGeom>
            <a:avLst/>
            <a:gdLst>
              <a:gd name="T0" fmla="*/ 2147483646 w 14"/>
              <a:gd name="T1" fmla="*/ 2147483646 h 9"/>
              <a:gd name="T2" fmla="*/ 2147483646 w 14"/>
              <a:gd name="T3" fmla="*/ 2147483646 h 9"/>
              <a:gd name="T4" fmla="*/ 2147483646 w 14"/>
              <a:gd name="T5" fmla="*/ 2147483646 h 9"/>
              <a:gd name="T6" fmla="*/ 2147483646 w 14"/>
              <a:gd name="T7" fmla="*/ 2147483646 h 9"/>
              <a:gd name="T8" fmla="*/ 2147483646 w 14"/>
              <a:gd name="T9" fmla="*/ 2147483646 h 9"/>
              <a:gd name="T10" fmla="*/ 2147483646 w 14"/>
              <a:gd name="T11" fmla="*/ 2147483646 h 9"/>
              <a:gd name="T12" fmla="*/ 2147483646 w 14"/>
              <a:gd name="T13" fmla="*/ 2147483646 h 9"/>
              <a:gd name="T14" fmla="*/ 2147483646 w 14"/>
              <a:gd name="T15" fmla="*/ 0 h 9"/>
              <a:gd name="T16" fmla="*/ 2147483646 w 14"/>
              <a:gd name="T17" fmla="*/ 0 h 9"/>
              <a:gd name="T18" fmla="*/ 2147483646 w 14"/>
              <a:gd name="T19" fmla="*/ 0 h 9"/>
              <a:gd name="T20" fmla="*/ 2147483646 w 14"/>
              <a:gd name="T21" fmla="*/ 0 h 9"/>
              <a:gd name="T22" fmla="*/ 2147483646 w 14"/>
              <a:gd name="T23" fmla="*/ 0 h 9"/>
              <a:gd name="T24" fmla="*/ 2147483646 w 14"/>
              <a:gd name="T25" fmla="*/ 0 h 9"/>
              <a:gd name="T26" fmla="*/ 2147483646 w 14"/>
              <a:gd name="T27" fmla="*/ 0 h 9"/>
              <a:gd name="T28" fmla="*/ 2147483646 w 14"/>
              <a:gd name="T29" fmla="*/ 2147483646 h 9"/>
              <a:gd name="T30" fmla="*/ 2147483646 w 14"/>
              <a:gd name="T31" fmla="*/ 2147483646 h 9"/>
              <a:gd name="T32" fmla="*/ 2147483646 w 14"/>
              <a:gd name="T33" fmla="*/ 2147483646 h 9"/>
              <a:gd name="T34" fmla="*/ 2147483646 w 14"/>
              <a:gd name="T35" fmla="*/ 2147483646 h 9"/>
              <a:gd name="T36" fmla="*/ 0 w 14"/>
              <a:gd name="T37" fmla="*/ 2147483646 h 9"/>
              <a:gd name="T38" fmla="*/ 0 w 14"/>
              <a:gd name="T39" fmla="*/ 2147483646 h 9"/>
              <a:gd name="T40" fmla="*/ 0 w 14"/>
              <a:gd name="T41" fmla="*/ 2147483646 h 9"/>
              <a:gd name="T42" fmla="*/ 0 w 14"/>
              <a:gd name="T43" fmla="*/ 2147483646 h 9"/>
              <a:gd name="T44" fmla="*/ 0 w 14"/>
              <a:gd name="T45" fmla="*/ 2147483646 h 9"/>
              <a:gd name="T46" fmla="*/ 2147483646 w 14"/>
              <a:gd name="T47" fmla="*/ 2147483646 h 9"/>
              <a:gd name="T48" fmla="*/ 2147483646 w 14"/>
              <a:gd name="T49" fmla="*/ 2147483646 h 9"/>
              <a:gd name="T50" fmla="*/ 2147483646 w 14"/>
              <a:gd name="T51" fmla="*/ 2147483646 h 9"/>
              <a:gd name="T52" fmla="*/ 2147483646 w 14"/>
              <a:gd name="T53" fmla="*/ 2147483646 h 9"/>
              <a:gd name="T54" fmla="*/ 2147483646 w 14"/>
              <a:gd name="T55" fmla="*/ 2147483646 h 9"/>
              <a:gd name="T56" fmla="*/ 2147483646 w 14"/>
              <a:gd name="T57" fmla="*/ 2147483646 h 9"/>
              <a:gd name="T58" fmla="*/ 2147483646 w 14"/>
              <a:gd name="T59" fmla="*/ 2147483646 h 9"/>
              <a:gd name="T60" fmla="*/ 2147483646 w 14"/>
              <a:gd name="T61" fmla="*/ 2147483646 h 9"/>
              <a:gd name="T62" fmla="*/ 2147483646 w 14"/>
              <a:gd name="T63" fmla="*/ 2147483646 h 9"/>
              <a:gd name="T64" fmla="*/ 2147483646 w 14"/>
              <a:gd name="T65" fmla="*/ 2147483646 h 9"/>
              <a:gd name="T66" fmla="*/ 2147483646 w 14"/>
              <a:gd name="T67" fmla="*/ 2147483646 h 9"/>
              <a:gd name="T68" fmla="*/ 2147483646 w 14"/>
              <a:gd name="T69" fmla="*/ 2147483646 h 9"/>
              <a:gd name="T70" fmla="*/ 2147483646 w 14"/>
              <a:gd name="T71" fmla="*/ 2147483646 h 9"/>
              <a:gd name="T72" fmla="*/ 2147483646 w 14"/>
              <a:gd name="T73" fmla="*/ 2147483646 h 9"/>
              <a:gd name="T74" fmla="*/ 2147483646 w 14"/>
              <a:gd name="T75" fmla="*/ 2147483646 h 9"/>
              <a:gd name="T76" fmla="*/ 2147483646 w 14"/>
              <a:gd name="T77" fmla="*/ 2147483646 h 9"/>
              <a:gd name="T78" fmla="*/ 2147483646 w 14"/>
              <a:gd name="T79" fmla="*/ 2147483646 h 9"/>
              <a:gd name="T80" fmla="*/ 2147483646 w 14"/>
              <a:gd name="T81" fmla="*/ 2147483646 h 9"/>
              <a:gd name="T82" fmla="*/ 2147483646 w 14"/>
              <a:gd name="T83" fmla="*/ 2147483646 h 9"/>
              <a:gd name="T84" fmla="*/ 2147483646 w 14"/>
              <a:gd name="T85" fmla="*/ 2147483646 h 9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0" t="0" r="r" b="b"/>
            <a:pathLst>
              <a:path w="14" h="9">
                <a:moveTo>
                  <a:pt x="12" y="5"/>
                </a:moveTo>
                <a:lnTo>
                  <a:pt x="12" y="5"/>
                </a:lnTo>
                <a:lnTo>
                  <a:pt x="12" y="3"/>
                </a:lnTo>
                <a:lnTo>
                  <a:pt x="12" y="1"/>
                </a:lnTo>
                <a:lnTo>
                  <a:pt x="10" y="1"/>
                </a:lnTo>
                <a:lnTo>
                  <a:pt x="10" y="0"/>
                </a:lnTo>
                <a:lnTo>
                  <a:pt x="8" y="0"/>
                </a:lnTo>
                <a:lnTo>
                  <a:pt x="6" y="0"/>
                </a:lnTo>
                <a:lnTo>
                  <a:pt x="4" y="0"/>
                </a:lnTo>
                <a:lnTo>
                  <a:pt x="4" y="1"/>
                </a:lnTo>
                <a:lnTo>
                  <a:pt x="2" y="1"/>
                </a:lnTo>
                <a:lnTo>
                  <a:pt x="2" y="3"/>
                </a:lnTo>
                <a:lnTo>
                  <a:pt x="0" y="3"/>
                </a:lnTo>
                <a:lnTo>
                  <a:pt x="0" y="5"/>
                </a:lnTo>
                <a:lnTo>
                  <a:pt x="0" y="6"/>
                </a:lnTo>
                <a:lnTo>
                  <a:pt x="2" y="8"/>
                </a:lnTo>
                <a:lnTo>
                  <a:pt x="4" y="9"/>
                </a:lnTo>
                <a:lnTo>
                  <a:pt x="6" y="9"/>
                </a:lnTo>
                <a:lnTo>
                  <a:pt x="8" y="9"/>
                </a:lnTo>
                <a:lnTo>
                  <a:pt x="10" y="9"/>
                </a:lnTo>
                <a:lnTo>
                  <a:pt x="12" y="8"/>
                </a:lnTo>
                <a:lnTo>
                  <a:pt x="12" y="6"/>
                </a:lnTo>
                <a:lnTo>
                  <a:pt x="14" y="5"/>
                </a:lnTo>
                <a:lnTo>
                  <a:pt x="12" y="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73" name="Freeform 22">
            <a:extLst>
              <a:ext uri="{FF2B5EF4-FFF2-40B4-BE49-F238E27FC236}">
                <a16:creationId xmlns:a16="http://schemas.microsoft.com/office/drawing/2014/main" id="{E45302EB-3EEB-4742-BE80-B6C72D170682}"/>
              </a:ext>
            </a:extLst>
          </p:cNvPr>
          <p:cNvSpPr>
            <a:spLocks/>
          </p:cNvSpPr>
          <p:nvPr/>
        </p:nvSpPr>
        <p:spPr bwMode="auto">
          <a:xfrm>
            <a:off x="5186363" y="2571750"/>
            <a:ext cx="36512" cy="22225"/>
          </a:xfrm>
          <a:custGeom>
            <a:avLst/>
            <a:gdLst>
              <a:gd name="T0" fmla="*/ 2147483646 w 14"/>
              <a:gd name="T1" fmla="*/ 2147483646 h 10"/>
              <a:gd name="T2" fmla="*/ 2147483646 w 14"/>
              <a:gd name="T3" fmla="*/ 2147483646 h 10"/>
              <a:gd name="T4" fmla="*/ 2147483646 w 14"/>
              <a:gd name="T5" fmla="*/ 2147483646 h 10"/>
              <a:gd name="T6" fmla="*/ 2147483646 w 14"/>
              <a:gd name="T7" fmla="*/ 2147483646 h 10"/>
              <a:gd name="T8" fmla="*/ 2147483646 w 14"/>
              <a:gd name="T9" fmla="*/ 2147483646 h 10"/>
              <a:gd name="T10" fmla="*/ 2147483646 w 14"/>
              <a:gd name="T11" fmla="*/ 2147483646 h 10"/>
              <a:gd name="T12" fmla="*/ 2147483646 w 14"/>
              <a:gd name="T13" fmla="*/ 2147483646 h 10"/>
              <a:gd name="T14" fmla="*/ 2147483646 w 14"/>
              <a:gd name="T15" fmla="*/ 2147483646 h 10"/>
              <a:gd name="T16" fmla="*/ 2147483646 w 14"/>
              <a:gd name="T17" fmla="*/ 0 h 10"/>
              <a:gd name="T18" fmla="*/ 2147483646 w 14"/>
              <a:gd name="T19" fmla="*/ 0 h 10"/>
              <a:gd name="T20" fmla="*/ 2147483646 w 14"/>
              <a:gd name="T21" fmla="*/ 0 h 10"/>
              <a:gd name="T22" fmla="*/ 2147483646 w 14"/>
              <a:gd name="T23" fmla="*/ 0 h 10"/>
              <a:gd name="T24" fmla="*/ 2147483646 w 14"/>
              <a:gd name="T25" fmla="*/ 0 h 10"/>
              <a:gd name="T26" fmla="*/ 2147483646 w 14"/>
              <a:gd name="T27" fmla="*/ 2147483646 h 10"/>
              <a:gd name="T28" fmla="*/ 2147483646 w 14"/>
              <a:gd name="T29" fmla="*/ 2147483646 h 10"/>
              <a:gd name="T30" fmla="*/ 2147483646 w 14"/>
              <a:gd name="T31" fmla="*/ 2147483646 h 10"/>
              <a:gd name="T32" fmla="*/ 2147483646 w 14"/>
              <a:gd name="T33" fmla="*/ 2147483646 h 10"/>
              <a:gd name="T34" fmla="*/ 2147483646 w 14"/>
              <a:gd name="T35" fmla="*/ 2147483646 h 10"/>
              <a:gd name="T36" fmla="*/ 0 w 14"/>
              <a:gd name="T37" fmla="*/ 2147483646 h 10"/>
              <a:gd name="T38" fmla="*/ 0 w 14"/>
              <a:gd name="T39" fmla="*/ 2147483646 h 10"/>
              <a:gd name="T40" fmla="*/ 0 w 14"/>
              <a:gd name="T41" fmla="*/ 2147483646 h 10"/>
              <a:gd name="T42" fmla="*/ 0 w 14"/>
              <a:gd name="T43" fmla="*/ 2147483646 h 10"/>
              <a:gd name="T44" fmla="*/ 0 w 14"/>
              <a:gd name="T45" fmla="*/ 2147483646 h 10"/>
              <a:gd name="T46" fmla="*/ 2147483646 w 14"/>
              <a:gd name="T47" fmla="*/ 2147483646 h 10"/>
              <a:gd name="T48" fmla="*/ 2147483646 w 14"/>
              <a:gd name="T49" fmla="*/ 2147483646 h 10"/>
              <a:gd name="T50" fmla="*/ 2147483646 w 14"/>
              <a:gd name="T51" fmla="*/ 2147483646 h 10"/>
              <a:gd name="T52" fmla="*/ 2147483646 w 14"/>
              <a:gd name="T53" fmla="*/ 2147483646 h 10"/>
              <a:gd name="T54" fmla="*/ 2147483646 w 14"/>
              <a:gd name="T55" fmla="*/ 2147483646 h 10"/>
              <a:gd name="T56" fmla="*/ 2147483646 w 14"/>
              <a:gd name="T57" fmla="*/ 2147483646 h 10"/>
              <a:gd name="T58" fmla="*/ 2147483646 w 14"/>
              <a:gd name="T59" fmla="*/ 2147483646 h 10"/>
              <a:gd name="T60" fmla="*/ 2147483646 w 14"/>
              <a:gd name="T61" fmla="*/ 2147483646 h 10"/>
              <a:gd name="T62" fmla="*/ 2147483646 w 14"/>
              <a:gd name="T63" fmla="*/ 2147483646 h 10"/>
              <a:gd name="T64" fmla="*/ 2147483646 w 14"/>
              <a:gd name="T65" fmla="*/ 2147483646 h 10"/>
              <a:gd name="T66" fmla="*/ 2147483646 w 14"/>
              <a:gd name="T67" fmla="*/ 2147483646 h 10"/>
              <a:gd name="T68" fmla="*/ 2147483646 w 14"/>
              <a:gd name="T69" fmla="*/ 2147483646 h 10"/>
              <a:gd name="T70" fmla="*/ 2147483646 w 14"/>
              <a:gd name="T71" fmla="*/ 2147483646 h 10"/>
              <a:gd name="T72" fmla="*/ 2147483646 w 14"/>
              <a:gd name="T73" fmla="*/ 2147483646 h 10"/>
              <a:gd name="T74" fmla="*/ 2147483646 w 14"/>
              <a:gd name="T75" fmla="*/ 2147483646 h 10"/>
              <a:gd name="T76" fmla="*/ 2147483646 w 14"/>
              <a:gd name="T77" fmla="*/ 2147483646 h 10"/>
              <a:gd name="T78" fmla="*/ 2147483646 w 14"/>
              <a:gd name="T79" fmla="*/ 2147483646 h 10"/>
              <a:gd name="T80" fmla="*/ 2147483646 w 14"/>
              <a:gd name="T81" fmla="*/ 2147483646 h 10"/>
              <a:gd name="T82" fmla="*/ 2147483646 w 14"/>
              <a:gd name="T83" fmla="*/ 2147483646 h 10"/>
              <a:gd name="T84" fmla="*/ 2147483646 w 14"/>
              <a:gd name="T85" fmla="*/ 2147483646 h 10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0" t="0" r="r" b="b"/>
            <a:pathLst>
              <a:path w="14" h="10">
                <a:moveTo>
                  <a:pt x="12" y="5"/>
                </a:moveTo>
                <a:lnTo>
                  <a:pt x="12" y="5"/>
                </a:lnTo>
                <a:lnTo>
                  <a:pt x="12" y="4"/>
                </a:lnTo>
                <a:lnTo>
                  <a:pt x="12" y="2"/>
                </a:lnTo>
                <a:lnTo>
                  <a:pt x="10" y="2"/>
                </a:lnTo>
                <a:lnTo>
                  <a:pt x="8" y="0"/>
                </a:lnTo>
                <a:lnTo>
                  <a:pt x="6" y="0"/>
                </a:lnTo>
                <a:lnTo>
                  <a:pt x="4" y="0"/>
                </a:lnTo>
                <a:lnTo>
                  <a:pt x="4" y="2"/>
                </a:lnTo>
                <a:lnTo>
                  <a:pt x="2" y="2"/>
                </a:lnTo>
                <a:lnTo>
                  <a:pt x="2" y="4"/>
                </a:lnTo>
                <a:lnTo>
                  <a:pt x="0" y="4"/>
                </a:lnTo>
                <a:lnTo>
                  <a:pt x="0" y="5"/>
                </a:lnTo>
                <a:lnTo>
                  <a:pt x="0" y="7"/>
                </a:lnTo>
                <a:lnTo>
                  <a:pt x="2" y="8"/>
                </a:lnTo>
                <a:lnTo>
                  <a:pt x="2" y="10"/>
                </a:lnTo>
                <a:lnTo>
                  <a:pt x="4" y="10"/>
                </a:lnTo>
                <a:lnTo>
                  <a:pt x="6" y="10"/>
                </a:lnTo>
                <a:lnTo>
                  <a:pt x="8" y="10"/>
                </a:lnTo>
                <a:lnTo>
                  <a:pt x="10" y="10"/>
                </a:lnTo>
                <a:lnTo>
                  <a:pt x="12" y="10"/>
                </a:lnTo>
                <a:lnTo>
                  <a:pt x="12" y="8"/>
                </a:lnTo>
                <a:lnTo>
                  <a:pt x="12" y="7"/>
                </a:lnTo>
                <a:lnTo>
                  <a:pt x="14" y="5"/>
                </a:lnTo>
                <a:lnTo>
                  <a:pt x="12" y="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74" name="Freeform 23">
            <a:extLst>
              <a:ext uri="{FF2B5EF4-FFF2-40B4-BE49-F238E27FC236}">
                <a16:creationId xmlns:a16="http://schemas.microsoft.com/office/drawing/2014/main" id="{EE10CF87-46DD-7A42-A4E8-90EAA520F6B3}"/>
              </a:ext>
            </a:extLst>
          </p:cNvPr>
          <p:cNvSpPr>
            <a:spLocks/>
          </p:cNvSpPr>
          <p:nvPr/>
        </p:nvSpPr>
        <p:spPr bwMode="auto">
          <a:xfrm>
            <a:off x="5186363" y="2708275"/>
            <a:ext cx="36512" cy="22225"/>
          </a:xfrm>
          <a:custGeom>
            <a:avLst/>
            <a:gdLst>
              <a:gd name="T0" fmla="*/ 2147483646 w 14"/>
              <a:gd name="T1" fmla="*/ 2147483646 h 10"/>
              <a:gd name="T2" fmla="*/ 2147483646 w 14"/>
              <a:gd name="T3" fmla="*/ 2147483646 h 10"/>
              <a:gd name="T4" fmla="*/ 2147483646 w 14"/>
              <a:gd name="T5" fmla="*/ 2147483646 h 10"/>
              <a:gd name="T6" fmla="*/ 2147483646 w 14"/>
              <a:gd name="T7" fmla="*/ 2147483646 h 10"/>
              <a:gd name="T8" fmla="*/ 2147483646 w 14"/>
              <a:gd name="T9" fmla="*/ 2147483646 h 10"/>
              <a:gd name="T10" fmla="*/ 2147483646 w 14"/>
              <a:gd name="T11" fmla="*/ 2147483646 h 10"/>
              <a:gd name="T12" fmla="*/ 2147483646 w 14"/>
              <a:gd name="T13" fmla="*/ 2147483646 h 10"/>
              <a:gd name="T14" fmla="*/ 2147483646 w 14"/>
              <a:gd name="T15" fmla="*/ 0 h 10"/>
              <a:gd name="T16" fmla="*/ 2147483646 w 14"/>
              <a:gd name="T17" fmla="*/ 0 h 10"/>
              <a:gd name="T18" fmla="*/ 2147483646 w 14"/>
              <a:gd name="T19" fmla="*/ 0 h 10"/>
              <a:gd name="T20" fmla="*/ 2147483646 w 14"/>
              <a:gd name="T21" fmla="*/ 0 h 10"/>
              <a:gd name="T22" fmla="*/ 2147483646 w 14"/>
              <a:gd name="T23" fmla="*/ 0 h 10"/>
              <a:gd name="T24" fmla="*/ 2147483646 w 14"/>
              <a:gd name="T25" fmla="*/ 0 h 10"/>
              <a:gd name="T26" fmla="*/ 2147483646 w 14"/>
              <a:gd name="T27" fmla="*/ 0 h 10"/>
              <a:gd name="T28" fmla="*/ 2147483646 w 14"/>
              <a:gd name="T29" fmla="*/ 2147483646 h 10"/>
              <a:gd name="T30" fmla="*/ 2147483646 w 14"/>
              <a:gd name="T31" fmla="*/ 2147483646 h 10"/>
              <a:gd name="T32" fmla="*/ 2147483646 w 14"/>
              <a:gd name="T33" fmla="*/ 2147483646 h 10"/>
              <a:gd name="T34" fmla="*/ 2147483646 w 14"/>
              <a:gd name="T35" fmla="*/ 2147483646 h 10"/>
              <a:gd name="T36" fmla="*/ 0 w 14"/>
              <a:gd name="T37" fmla="*/ 2147483646 h 10"/>
              <a:gd name="T38" fmla="*/ 0 w 14"/>
              <a:gd name="T39" fmla="*/ 2147483646 h 10"/>
              <a:gd name="T40" fmla="*/ 0 w 14"/>
              <a:gd name="T41" fmla="*/ 2147483646 h 10"/>
              <a:gd name="T42" fmla="*/ 0 w 14"/>
              <a:gd name="T43" fmla="*/ 2147483646 h 10"/>
              <a:gd name="T44" fmla="*/ 0 w 14"/>
              <a:gd name="T45" fmla="*/ 2147483646 h 10"/>
              <a:gd name="T46" fmla="*/ 2147483646 w 14"/>
              <a:gd name="T47" fmla="*/ 2147483646 h 10"/>
              <a:gd name="T48" fmla="*/ 2147483646 w 14"/>
              <a:gd name="T49" fmla="*/ 2147483646 h 10"/>
              <a:gd name="T50" fmla="*/ 2147483646 w 14"/>
              <a:gd name="T51" fmla="*/ 2147483646 h 10"/>
              <a:gd name="T52" fmla="*/ 2147483646 w 14"/>
              <a:gd name="T53" fmla="*/ 2147483646 h 10"/>
              <a:gd name="T54" fmla="*/ 2147483646 w 14"/>
              <a:gd name="T55" fmla="*/ 2147483646 h 10"/>
              <a:gd name="T56" fmla="*/ 2147483646 w 14"/>
              <a:gd name="T57" fmla="*/ 2147483646 h 10"/>
              <a:gd name="T58" fmla="*/ 2147483646 w 14"/>
              <a:gd name="T59" fmla="*/ 2147483646 h 10"/>
              <a:gd name="T60" fmla="*/ 2147483646 w 14"/>
              <a:gd name="T61" fmla="*/ 2147483646 h 10"/>
              <a:gd name="T62" fmla="*/ 2147483646 w 14"/>
              <a:gd name="T63" fmla="*/ 2147483646 h 10"/>
              <a:gd name="T64" fmla="*/ 2147483646 w 14"/>
              <a:gd name="T65" fmla="*/ 2147483646 h 10"/>
              <a:gd name="T66" fmla="*/ 2147483646 w 14"/>
              <a:gd name="T67" fmla="*/ 2147483646 h 10"/>
              <a:gd name="T68" fmla="*/ 2147483646 w 14"/>
              <a:gd name="T69" fmla="*/ 2147483646 h 10"/>
              <a:gd name="T70" fmla="*/ 2147483646 w 14"/>
              <a:gd name="T71" fmla="*/ 2147483646 h 10"/>
              <a:gd name="T72" fmla="*/ 2147483646 w 14"/>
              <a:gd name="T73" fmla="*/ 2147483646 h 10"/>
              <a:gd name="T74" fmla="*/ 2147483646 w 14"/>
              <a:gd name="T75" fmla="*/ 2147483646 h 10"/>
              <a:gd name="T76" fmla="*/ 2147483646 w 14"/>
              <a:gd name="T77" fmla="*/ 2147483646 h 10"/>
              <a:gd name="T78" fmla="*/ 2147483646 w 14"/>
              <a:gd name="T79" fmla="*/ 2147483646 h 10"/>
              <a:gd name="T80" fmla="*/ 2147483646 w 14"/>
              <a:gd name="T81" fmla="*/ 2147483646 h 10"/>
              <a:gd name="T82" fmla="*/ 2147483646 w 14"/>
              <a:gd name="T83" fmla="*/ 2147483646 h 10"/>
              <a:gd name="T84" fmla="*/ 2147483646 w 14"/>
              <a:gd name="T85" fmla="*/ 2147483646 h 10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0" t="0" r="r" b="b"/>
            <a:pathLst>
              <a:path w="14" h="10">
                <a:moveTo>
                  <a:pt x="12" y="5"/>
                </a:moveTo>
                <a:lnTo>
                  <a:pt x="12" y="5"/>
                </a:lnTo>
                <a:lnTo>
                  <a:pt x="12" y="4"/>
                </a:lnTo>
                <a:lnTo>
                  <a:pt x="12" y="2"/>
                </a:lnTo>
                <a:lnTo>
                  <a:pt x="10" y="2"/>
                </a:lnTo>
                <a:lnTo>
                  <a:pt x="10" y="0"/>
                </a:lnTo>
                <a:lnTo>
                  <a:pt x="8" y="0"/>
                </a:lnTo>
                <a:lnTo>
                  <a:pt x="6" y="0"/>
                </a:lnTo>
                <a:lnTo>
                  <a:pt x="4" y="0"/>
                </a:lnTo>
                <a:lnTo>
                  <a:pt x="4" y="2"/>
                </a:lnTo>
                <a:lnTo>
                  <a:pt x="2" y="2"/>
                </a:lnTo>
                <a:lnTo>
                  <a:pt x="2" y="4"/>
                </a:lnTo>
                <a:lnTo>
                  <a:pt x="0" y="4"/>
                </a:lnTo>
                <a:lnTo>
                  <a:pt x="0" y="5"/>
                </a:lnTo>
                <a:lnTo>
                  <a:pt x="0" y="7"/>
                </a:lnTo>
                <a:lnTo>
                  <a:pt x="2" y="7"/>
                </a:lnTo>
                <a:lnTo>
                  <a:pt x="2" y="8"/>
                </a:lnTo>
                <a:lnTo>
                  <a:pt x="4" y="10"/>
                </a:lnTo>
                <a:lnTo>
                  <a:pt x="6" y="10"/>
                </a:lnTo>
                <a:lnTo>
                  <a:pt x="8" y="10"/>
                </a:lnTo>
                <a:lnTo>
                  <a:pt x="10" y="10"/>
                </a:lnTo>
                <a:lnTo>
                  <a:pt x="12" y="8"/>
                </a:lnTo>
                <a:lnTo>
                  <a:pt x="12" y="7"/>
                </a:lnTo>
                <a:lnTo>
                  <a:pt x="14" y="5"/>
                </a:lnTo>
                <a:lnTo>
                  <a:pt x="12" y="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75" name="Line 24">
            <a:extLst>
              <a:ext uri="{FF2B5EF4-FFF2-40B4-BE49-F238E27FC236}">
                <a16:creationId xmlns:a16="http://schemas.microsoft.com/office/drawing/2014/main" id="{DE985AD6-9898-3348-85F9-E905C82F85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24250" y="3240088"/>
            <a:ext cx="1090613" cy="1587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76" name="Freeform 25">
            <a:extLst>
              <a:ext uri="{FF2B5EF4-FFF2-40B4-BE49-F238E27FC236}">
                <a16:creationId xmlns:a16="http://schemas.microsoft.com/office/drawing/2014/main" id="{B89CEA46-97F2-FE4E-9143-0617751479DE}"/>
              </a:ext>
            </a:extLst>
          </p:cNvPr>
          <p:cNvSpPr>
            <a:spLocks/>
          </p:cNvSpPr>
          <p:nvPr/>
        </p:nvSpPr>
        <p:spPr bwMode="auto">
          <a:xfrm>
            <a:off x="3524250" y="1855788"/>
            <a:ext cx="1074738" cy="1838325"/>
          </a:xfrm>
          <a:custGeom>
            <a:avLst/>
            <a:gdLst>
              <a:gd name="T0" fmla="*/ 0 w 389"/>
              <a:gd name="T1" fmla="*/ 2147483646 h 870"/>
              <a:gd name="T2" fmla="*/ 0 w 389"/>
              <a:gd name="T3" fmla="*/ 0 h 870"/>
              <a:gd name="T4" fmla="*/ 2147483646 w 389"/>
              <a:gd name="T5" fmla="*/ 0 h 87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89" h="870">
                <a:moveTo>
                  <a:pt x="0" y="870"/>
                </a:moveTo>
                <a:lnTo>
                  <a:pt x="0" y="0"/>
                </a:lnTo>
                <a:lnTo>
                  <a:pt x="389" y="0"/>
                </a:lnTo>
              </a:path>
            </a:pathLst>
          </a:custGeom>
          <a:noFill/>
          <a:ln w="25400">
            <a:solidFill>
              <a:srgbClr val="000000"/>
            </a:solidFill>
            <a:prstDash val="solid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77" name="Freeform 26">
            <a:extLst>
              <a:ext uri="{FF2B5EF4-FFF2-40B4-BE49-F238E27FC236}">
                <a16:creationId xmlns:a16="http://schemas.microsoft.com/office/drawing/2014/main" id="{CD5225F1-230D-204C-9CF1-A880E473C58D}"/>
              </a:ext>
            </a:extLst>
          </p:cNvPr>
          <p:cNvSpPr>
            <a:spLocks/>
          </p:cNvSpPr>
          <p:nvPr/>
        </p:nvSpPr>
        <p:spPr bwMode="auto">
          <a:xfrm>
            <a:off x="3890963" y="1498600"/>
            <a:ext cx="385762" cy="212725"/>
          </a:xfrm>
          <a:custGeom>
            <a:avLst/>
            <a:gdLst>
              <a:gd name="T0" fmla="*/ 2147483646 w 151"/>
              <a:gd name="T1" fmla="*/ 2147483646 h 102"/>
              <a:gd name="T2" fmla="*/ 2147483646 w 151"/>
              <a:gd name="T3" fmla="*/ 2147483646 h 102"/>
              <a:gd name="T4" fmla="*/ 2147483646 w 151"/>
              <a:gd name="T5" fmla="*/ 2147483646 h 102"/>
              <a:gd name="T6" fmla="*/ 2147483646 w 151"/>
              <a:gd name="T7" fmla="*/ 2147483646 h 102"/>
              <a:gd name="T8" fmla="*/ 2147483646 w 151"/>
              <a:gd name="T9" fmla="*/ 2147483646 h 102"/>
              <a:gd name="T10" fmla="*/ 2147483646 w 151"/>
              <a:gd name="T11" fmla="*/ 2147483646 h 102"/>
              <a:gd name="T12" fmla="*/ 2147483646 w 151"/>
              <a:gd name="T13" fmla="*/ 2147483646 h 102"/>
              <a:gd name="T14" fmla="*/ 2147483646 w 151"/>
              <a:gd name="T15" fmla="*/ 2147483646 h 102"/>
              <a:gd name="T16" fmla="*/ 2147483646 w 151"/>
              <a:gd name="T17" fmla="*/ 2147483646 h 102"/>
              <a:gd name="T18" fmla="*/ 2147483646 w 151"/>
              <a:gd name="T19" fmla="*/ 2147483646 h 102"/>
              <a:gd name="T20" fmla="*/ 2147483646 w 151"/>
              <a:gd name="T21" fmla="*/ 2147483646 h 102"/>
              <a:gd name="T22" fmla="*/ 2147483646 w 151"/>
              <a:gd name="T23" fmla="*/ 2147483646 h 102"/>
              <a:gd name="T24" fmla="*/ 2147483646 w 151"/>
              <a:gd name="T25" fmla="*/ 2147483646 h 102"/>
              <a:gd name="T26" fmla="*/ 2147483646 w 151"/>
              <a:gd name="T27" fmla="*/ 2147483646 h 102"/>
              <a:gd name="T28" fmla="*/ 2147483646 w 151"/>
              <a:gd name="T29" fmla="*/ 2147483646 h 102"/>
              <a:gd name="T30" fmla="*/ 2147483646 w 151"/>
              <a:gd name="T31" fmla="*/ 2147483646 h 102"/>
              <a:gd name="T32" fmla="*/ 2147483646 w 151"/>
              <a:gd name="T33" fmla="*/ 2147483646 h 102"/>
              <a:gd name="T34" fmla="*/ 2147483646 w 151"/>
              <a:gd name="T35" fmla="*/ 2147483646 h 102"/>
              <a:gd name="T36" fmla="*/ 2147483646 w 151"/>
              <a:gd name="T37" fmla="*/ 2147483646 h 102"/>
              <a:gd name="T38" fmla="*/ 2147483646 w 151"/>
              <a:gd name="T39" fmla="*/ 2147483646 h 102"/>
              <a:gd name="T40" fmla="*/ 2147483646 w 151"/>
              <a:gd name="T41" fmla="*/ 0 h 102"/>
              <a:gd name="T42" fmla="*/ 0 w 151"/>
              <a:gd name="T43" fmla="*/ 0 h 102"/>
              <a:gd name="T44" fmla="*/ 0 w 151"/>
              <a:gd name="T45" fmla="*/ 2147483646 h 102"/>
              <a:gd name="T46" fmla="*/ 2147483646 w 151"/>
              <a:gd name="T47" fmla="*/ 2147483646 h 102"/>
              <a:gd name="T48" fmla="*/ 2147483646 w 151"/>
              <a:gd name="T49" fmla="*/ 2147483646 h 10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0" t="0" r="r" b="b"/>
            <a:pathLst>
              <a:path w="151" h="102">
                <a:moveTo>
                  <a:pt x="90" y="102"/>
                </a:moveTo>
                <a:lnTo>
                  <a:pt x="101" y="100"/>
                </a:lnTo>
                <a:lnTo>
                  <a:pt x="111" y="99"/>
                </a:lnTo>
                <a:lnTo>
                  <a:pt x="119" y="96"/>
                </a:lnTo>
                <a:lnTo>
                  <a:pt x="126" y="93"/>
                </a:lnTo>
                <a:lnTo>
                  <a:pt x="134" y="87"/>
                </a:lnTo>
                <a:lnTo>
                  <a:pt x="140" y="82"/>
                </a:lnTo>
                <a:lnTo>
                  <a:pt x="145" y="74"/>
                </a:lnTo>
                <a:lnTo>
                  <a:pt x="149" y="68"/>
                </a:lnTo>
                <a:lnTo>
                  <a:pt x="151" y="60"/>
                </a:lnTo>
                <a:lnTo>
                  <a:pt x="151" y="51"/>
                </a:lnTo>
                <a:lnTo>
                  <a:pt x="151" y="43"/>
                </a:lnTo>
                <a:lnTo>
                  <a:pt x="149" y="36"/>
                </a:lnTo>
                <a:lnTo>
                  <a:pt x="145" y="28"/>
                </a:lnTo>
                <a:lnTo>
                  <a:pt x="140" y="22"/>
                </a:lnTo>
                <a:lnTo>
                  <a:pt x="134" y="15"/>
                </a:lnTo>
                <a:lnTo>
                  <a:pt x="126" y="11"/>
                </a:lnTo>
                <a:lnTo>
                  <a:pt x="119" y="6"/>
                </a:lnTo>
                <a:lnTo>
                  <a:pt x="111" y="3"/>
                </a:lnTo>
                <a:lnTo>
                  <a:pt x="101" y="1"/>
                </a:lnTo>
                <a:lnTo>
                  <a:pt x="90" y="0"/>
                </a:lnTo>
                <a:lnTo>
                  <a:pt x="0" y="0"/>
                </a:lnTo>
                <a:lnTo>
                  <a:pt x="0" y="102"/>
                </a:lnTo>
                <a:lnTo>
                  <a:pt x="90" y="102"/>
                </a:lnTo>
              </a:path>
            </a:pathLst>
          </a:custGeom>
          <a:noFill/>
          <a:ln w="28575" cmpd="sng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78" name="Line 27">
            <a:extLst>
              <a:ext uri="{FF2B5EF4-FFF2-40B4-BE49-F238E27FC236}">
                <a16:creationId xmlns:a16="http://schemas.microsoft.com/office/drawing/2014/main" id="{97EE96BD-93C9-B043-B461-B4661AC52AD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281488" y="1604963"/>
            <a:ext cx="3111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79" name="Rectangle 28">
            <a:extLst>
              <a:ext uri="{FF2B5EF4-FFF2-40B4-BE49-F238E27FC236}">
                <a16:creationId xmlns:a16="http://schemas.microsoft.com/office/drawing/2014/main" id="{D7444FBE-8F8A-3E4F-97BB-A41E9573B5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0100" y="1512888"/>
            <a:ext cx="93663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000" b="0">
                <a:solidFill>
                  <a:srgbClr val="000000"/>
                </a:solidFill>
                <a:ea typeface="宋体" panose="02010600030101010101" pitchFamily="2" charset="-122"/>
              </a:rPr>
              <a:t>C</a:t>
            </a:r>
            <a:endParaRPr lang="en-US" altLang="zh-CN" sz="1000" b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480" name="Freeform 29">
            <a:extLst>
              <a:ext uri="{FF2B5EF4-FFF2-40B4-BE49-F238E27FC236}">
                <a16:creationId xmlns:a16="http://schemas.microsoft.com/office/drawing/2014/main" id="{51F034EC-B2E7-3E40-B3D4-9F70F9CFADF7}"/>
              </a:ext>
            </a:extLst>
          </p:cNvPr>
          <p:cNvSpPr>
            <a:spLocks/>
          </p:cNvSpPr>
          <p:nvPr/>
        </p:nvSpPr>
        <p:spPr bwMode="auto">
          <a:xfrm>
            <a:off x="3890963" y="1955800"/>
            <a:ext cx="385762" cy="209550"/>
          </a:xfrm>
          <a:custGeom>
            <a:avLst/>
            <a:gdLst>
              <a:gd name="T0" fmla="*/ 2147483646 w 151"/>
              <a:gd name="T1" fmla="*/ 2147483646 h 101"/>
              <a:gd name="T2" fmla="*/ 2147483646 w 151"/>
              <a:gd name="T3" fmla="*/ 2147483646 h 101"/>
              <a:gd name="T4" fmla="*/ 2147483646 w 151"/>
              <a:gd name="T5" fmla="*/ 2147483646 h 101"/>
              <a:gd name="T6" fmla="*/ 2147483646 w 151"/>
              <a:gd name="T7" fmla="*/ 2147483646 h 101"/>
              <a:gd name="T8" fmla="*/ 2147483646 w 151"/>
              <a:gd name="T9" fmla="*/ 2147483646 h 101"/>
              <a:gd name="T10" fmla="*/ 2147483646 w 151"/>
              <a:gd name="T11" fmla="*/ 2147483646 h 101"/>
              <a:gd name="T12" fmla="*/ 2147483646 w 151"/>
              <a:gd name="T13" fmla="*/ 2147483646 h 101"/>
              <a:gd name="T14" fmla="*/ 2147483646 w 151"/>
              <a:gd name="T15" fmla="*/ 2147483646 h 101"/>
              <a:gd name="T16" fmla="*/ 2147483646 w 151"/>
              <a:gd name="T17" fmla="*/ 2147483646 h 101"/>
              <a:gd name="T18" fmla="*/ 2147483646 w 151"/>
              <a:gd name="T19" fmla="*/ 2147483646 h 101"/>
              <a:gd name="T20" fmla="*/ 2147483646 w 151"/>
              <a:gd name="T21" fmla="*/ 2147483646 h 101"/>
              <a:gd name="T22" fmla="*/ 2147483646 w 151"/>
              <a:gd name="T23" fmla="*/ 2147483646 h 101"/>
              <a:gd name="T24" fmla="*/ 2147483646 w 151"/>
              <a:gd name="T25" fmla="*/ 2147483646 h 101"/>
              <a:gd name="T26" fmla="*/ 2147483646 w 151"/>
              <a:gd name="T27" fmla="*/ 2147483646 h 101"/>
              <a:gd name="T28" fmla="*/ 2147483646 w 151"/>
              <a:gd name="T29" fmla="*/ 2147483646 h 101"/>
              <a:gd name="T30" fmla="*/ 2147483646 w 151"/>
              <a:gd name="T31" fmla="*/ 2147483646 h 101"/>
              <a:gd name="T32" fmla="*/ 2147483646 w 151"/>
              <a:gd name="T33" fmla="*/ 2147483646 h 101"/>
              <a:gd name="T34" fmla="*/ 2147483646 w 151"/>
              <a:gd name="T35" fmla="*/ 2147483646 h 101"/>
              <a:gd name="T36" fmla="*/ 2147483646 w 151"/>
              <a:gd name="T37" fmla="*/ 2147483646 h 101"/>
              <a:gd name="T38" fmla="*/ 2147483646 w 151"/>
              <a:gd name="T39" fmla="*/ 0 h 101"/>
              <a:gd name="T40" fmla="*/ 2147483646 w 151"/>
              <a:gd name="T41" fmla="*/ 0 h 101"/>
              <a:gd name="T42" fmla="*/ 0 w 151"/>
              <a:gd name="T43" fmla="*/ 0 h 101"/>
              <a:gd name="T44" fmla="*/ 0 w 151"/>
              <a:gd name="T45" fmla="*/ 2147483646 h 101"/>
              <a:gd name="T46" fmla="*/ 2147483646 w 151"/>
              <a:gd name="T47" fmla="*/ 2147483646 h 101"/>
              <a:gd name="T48" fmla="*/ 2147483646 w 151"/>
              <a:gd name="T49" fmla="*/ 2147483646 h 101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0" t="0" r="r" b="b"/>
            <a:pathLst>
              <a:path w="151" h="101">
                <a:moveTo>
                  <a:pt x="90" y="101"/>
                </a:moveTo>
                <a:lnTo>
                  <a:pt x="101" y="101"/>
                </a:lnTo>
                <a:lnTo>
                  <a:pt x="111" y="97"/>
                </a:lnTo>
                <a:lnTo>
                  <a:pt x="119" y="94"/>
                </a:lnTo>
                <a:lnTo>
                  <a:pt x="126" y="91"/>
                </a:lnTo>
                <a:lnTo>
                  <a:pt x="134" y="85"/>
                </a:lnTo>
                <a:lnTo>
                  <a:pt x="140" y="80"/>
                </a:lnTo>
                <a:lnTo>
                  <a:pt x="145" y="73"/>
                </a:lnTo>
                <a:lnTo>
                  <a:pt x="149" y="67"/>
                </a:lnTo>
                <a:lnTo>
                  <a:pt x="151" y="59"/>
                </a:lnTo>
                <a:lnTo>
                  <a:pt x="151" y="50"/>
                </a:lnTo>
                <a:lnTo>
                  <a:pt x="151" y="42"/>
                </a:lnTo>
                <a:lnTo>
                  <a:pt x="149" y="34"/>
                </a:lnTo>
                <a:lnTo>
                  <a:pt x="145" y="26"/>
                </a:lnTo>
                <a:lnTo>
                  <a:pt x="140" y="20"/>
                </a:lnTo>
                <a:lnTo>
                  <a:pt x="134" y="14"/>
                </a:lnTo>
                <a:lnTo>
                  <a:pt x="126" y="9"/>
                </a:lnTo>
                <a:lnTo>
                  <a:pt x="119" y="5"/>
                </a:lnTo>
                <a:lnTo>
                  <a:pt x="111" y="2"/>
                </a:lnTo>
                <a:lnTo>
                  <a:pt x="101" y="0"/>
                </a:lnTo>
                <a:lnTo>
                  <a:pt x="90" y="0"/>
                </a:lnTo>
                <a:lnTo>
                  <a:pt x="0" y="0"/>
                </a:lnTo>
                <a:lnTo>
                  <a:pt x="0" y="101"/>
                </a:lnTo>
                <a:lnTo>
                  <a:pt x="90" y="101"/>
                </a:lnTo>
              </a:path>
            </a:pathLst>
          </a:custGeom>
          <a:noFill/>
          <a:ln w="28575" cmpd="sng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81" name="Line 30">
            <a:extLst>
              <a:ext uri="{FF2B5EF4-FFF2-40B4-BE49-F238E27FC236}">
                <a16:creationId xmlns:a16="http://schemas.microsoft.com/office/drawing/2014/main" id="{8E8C38C7-4ED2-7E4A-A6CE-3B7B01EAEB8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281488" y="2058988"/>
            <a:ext cx="300037" cy="1587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82" name="Rectangle 32">
            <a:extLst>
              <a:ext uri="{FF2B5EF4-FFF2-40B4-BE49-F238E27FC236}">
                <a16:creationId xmlns:a16="http://schemas.microsoft.com/office/drawing/2014/main" id="{3E4805BB-D133-A943-B668-FC28196EF6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8513" y="1792288"/>
            <a:ext cx="92075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000">
                <a:solidFill>
                  <a:srgbClr val="000000"/>
                </a:solidFill>
                <a:ea typeface="宋体" panose="02010600030101010101" pitchFamily="2" charset="-122"/>
              </a:rPr>
              <a:t>D</a:t>
            </a:r>
            <a:endParaRPr lang="en-US" altLang="zh-CN" sz="10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483" name="Line 34">
            <a:extLst>
              <a:ext uri="{FF2B5EF4-FFF2-40B4-BE49-F238E27FC236}">
                <a16:creationId xmlns:a16="http://schemas.microsoft.com/office/drawing/2014/main" id="{23CDD747-0821-1746-A40E-D61FA9C73D8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44888" y="2327275"/>
            <a:ext cx="1049337" cy="317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84" name="Line 35">
            <a:extLst>
              <a:ext uri="{FF2B5EF4-FFF2-40B4-BE49-F238E27FC236}">
                <a16:creationId xmlns:a16="http://schemas.microsoft.com/office/drawing/2014/main" id="{F2716BF2-3583-A346-A1B8-7D05CCC3BBE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711575" y="1538288"/>
            <a:ext cx="179388" cy="4762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85" name="Line 36">
            <a:extLst>
              <a:ext uri="{FF2B5EF4-FFF2-40B4-BE49-F238E27FC236}">
                <a16:creationId xmlns:a16="http://schemas.microsoft.com/office/drawing/2014/main" id="{069DAAAC-5163-D54A-9BF2-98BCA224FA0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11575" y="1990725"/>
            <a:ext cx="179388" cy="158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86" name="Freeform 37">
            <a:extLst>
              <a:ext uri="{FF2B5EF4-FFF2-40B4-BE49-F238E27FC236}">
                <a16:creationId xmlns:a16="http://schemas.microsoft.com/office/drawing/2014/main" id="{E038C82D-F3C8-8146-A051-4322F354F15C}"/>
              </a:ext>
            </a:extLst>
          </p:cNvPr>
          <p:cNvSpPr>
            <a:spLocks/>
          </p:cNvSpPr>
          <p:nvPr/>
        </p:nvSpPr>
        <p:spPr bwMode="auto">
          <a:xfrm>
            <a:off x="2560638" y="1841500"/>
            <a:ext cx="1330325" cy="285750"/>
          </a:xfrm>
          <a:custGeom>
            <a:avLst/>
            <a:gdLst>
              <a:gd name="T0" fmla="*/ 2147483646 w 521"/>
              <a:gd name="T1" fmla="*/ 2147483646 h 136"/>
              <a:gd name="T2" fmla="*/ 2147483646 w 521"/>
              <a:gd name="T3" fmla="*/ 2147483646 h 136"/>
              <a:gd name="T4" fmla="*/ 2147483646 w 521"/>
              <a:gd name="T5" fmla="*/ 0 h 136"/>
              <a:gd name="T6" fmla="*/ 0 w 521"/>
              <a:gd name="T7" fmla="*/ 0 h 136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521" h="136">
                <a:moveTo>
                  <a:pt x="521" y="134"/>
                </a:moveTo>
                <a:lnTo>
                  <a:pt x="235" y="136"/>
                </a:lnTo>
                <a:lnTo>
                  <a:pt x="235" y="0"/>
                </a:lnTo>
                <a:lnTo>
                  <a:pt x="0" y="0"/>
                </a:lnTo>
              </a:path>
            </a:pathLst>
          </a:custGeom>
          <a:noFill/>
          <a:ln w="28575" cmpd="sng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87" name="Freeform 38">
            <a:extLst>
              <a:ext uri="{FF2B5EF4-FFF2-40B4-BE49-F238E27FC236}">
                <a16:creationId xmlns:a16="http://schemas.microsoft.com/office/drawing/2014/main" id="{22DC3C21-F989-4D4D-A07E-A838EF1D4A8C}"/>
              </a:ext>
            </a:extLst>
          </p:cNvPr>
          <p:cNvSpPr>
            <a:spLocks/>
          </p:cNvSpPr>
          <p:nvPr/>
        </p:nvSpPr>
        <p:spPr bwMode="auto">
          <a:xfrm>
            <a:off x="3660775" y="1484313"/>
            <a:ext cx="76200" cy="79375"/>
          </a:xfrm>
          <a:custGeom>
            <a:avLst/>
            <a:gdLst>
              <a:gd name="T0" fmla="*/ 2147483646 w 30"/>
              <a:gd name="T1" fmla="*/ 2147483646 h 25"/>
              <a:gd name="T2" fmla="*/ 2147483646 w 30"/>
              <a:gd name="T3" fmla="*/ 2147483646 h 25"/>
              <a:gd name="T4" fmla="*/ 2147483646 w 30"/>
              <a:gd name="T5" fmla="*/ 2147483646 h 25"/>
              <a:gd name="T6" fmla="*/ 2147483646 w 30"/>
              <a:gd name="T7" fmla="*/ 2147483646 h 25"/>
              <a:gd name="T8" fmla="*/ 2147483646 w 30"/>
              <a:gd name="T9" fmla="*/ 2147483646 h 25"/>
              <a:gd name="T10" fmla="*/ 2147483646 w 30"/>
              <a:gd name="T11" fmla="*/ 2147483646 h 25"/>
              <a:gd name="T12" fmla="*/ 2147483646 w 30"/>
              <a:gd name="T13" fmla="*/ 2147483646 h 25"/>
              <a:gd name="T14" fmla="*/ 2147483646 w 30"/>
              <a:gd name="T15" fmla="*/ 2147483646 h 25"/>
              <a:gd name="T16" fmla="*/ 2147483646 w 30"/>
              <a:gd name="T17" fmla="*/ 2147483646 h 25"/>
              <a:gd name="T18" fmla="*/ 2147483646 w 30"/>
              <a:gd name="T19" fmla="*/ 2147483646 h 25"/>
              <a:gd name="T20" fmla="*/ 2147483646 w 30"/>
              <a:gd name="T21" fmla="*/ 2147483646 h 25"/>
              <a:gd name="T22" fmla="*/ 2147483646 w 30"/>
              <a:gd name="T23" fmla="*/ 2147483646 h 25"/>
              <a:gd name="T24" fmla="*/ 2147483646 w 30"/>
              <a:gd name="T25" fmla="*/ 2147483646 h 25"/>
              <a:gd name="T26" fmla="*/ 2147483646 w 30"/>
              <a:gd name="T27" fmla="*/ 2147483646 h 25"/>
              <a:gd name="T28" fmla="*/ 2147483646 w 30"/>
              <a:gd name="T29" fmla="*/ 2147483646 h 25"/>
              <a:gd name="T30" fmla="*/ 2147483646 w 30"/>
              <a:gd name="T31" fmla="*/ 2147483646 h 25"/>
              <a:gd name="T32" fmla="*/ 2147483646 w 30"/>
              <a:gd name="T33" fmla="*/ 2147483646 h 25"/>
              <a:gd name="T34" fmla="*/ 2147483646 w 30"/>
              <a:gd name="T35" fmla="*/ 2147483646 h 25"/>
              <a:gd name="T36" fmla="*/ 2147483646 w 30"/>
              <a:gd name="T37" fmla="*/ 0 h 25"/>
              <a:gd name="T38" fmla="*/ 2147483646 w 30"/>
              <a:gd name="T39" fmla="*/ 0 h 25"/>
              <a:gd name="T40" fmla="*/ 2147483646 w 30"/>
              <a:gd name="T41" fmla="*/ 0 h 25"/>
              <a:gd name="T42" fmla="*/ 2147483646 w 30"/>
              <a:gd name="T43" fmla="*/ 0 h 25"/>
              <a:gd name="T44" fmla="*/ 2147483646 w 30"/>
              <a:gd name="T45" fmla="*/ 0 h 25"/>
              <a:gd name="T46" fmla="*/ 2147483646 w 30"/>
              <a:gd name="T47" fmla="*/ 2147483646 h 25"/>
              <a:gd name="T48" fmla="*/ 2147483646 w 30"/>
              <a:gd name="T49" fmla="*/ 2147483646 h 25"/>
              <a:gd name="T50" fmla="*/ 2147483646 w 30"/>
              <a:gd name="T51" fmla="*/ 2147483646 h 25"/>
              <a:gd name="T52" fmla="*/ 2147483646 w 30"/>
              <a:gd name="T53" fmla="*/ 2147483646 h 25"/>
              <a:gd name="T54" fmla="*/ 2147483646 w 30"/>
              <a:gd name="T55" fmla="*/ 2147483646 h 25"/>
              <a:gd name="T56" fmla="*/ 0 w 30"/>
              <a:gd name="T57" fmla="*/ 2147483646 h 25"/>
              <a:gd name="T58" fmla="*/ 0 w 30"/>
              <a:gd name="T59" fmla="*/ 2147483646 h 25"/>
              <a:gd name="T60" fmla="*/ 0 w 30"/>
              <a:gd name="T61" fmla="*/ 2147483646 h 25"/>
              <a:gd name="T62" fmla="*/ 0 w 30"/>
              <a:gd name="T63" fmla="*/ 2147483646 h 25"/>
              <a:gd name="T64" fmla="*/ 0 w 30"/>
              <a:gd name="T65" fmla="*/ 2147483646 h 25"/>
              <a:gd name="T66" fmla="*/ 2147483646 w 30"/>
              <a:gd name="T67" fmla="*/ 2147483646 h 25"/>
              <a:gd name="T68" fmla="*/ 2147483646 w 30"/>
              <a:gd name="T69" fmla="*/ 2147483646 h 25"/>
              <a:gd name="T70" fmla="*/ 2147483646 w 30"/>
              <a:gd name="T71" fmla="*/ 2147483646 h 25"/>
              <a:gd name="T72" fmla="*/ 2147483646 w 30"/>
              <a:gd name="T73" fmla="*/ 2147483646 h 25"/>
              <a:gd name="T74" fmla="*/ 2147483646 w 30"/>
              <a:gd name="T75" fmla="*/ 2147483646 h 25"/>
              <a:gd name="T76" fmla="*/ 2147483646 w 30"/>
              <a:gd name="T77" fmla="*/ 2147483646 h 25"/>
              <a:gd name="T78" fmla="*/ 2147483646 w 30"/>
              <a:gd name="T79" fmla="*/ 2147483646 h 25"/>
              <a:gd name="T80" fmla="*/ 2147483646 w 30"/>
              <a:gd name="T81" fmla="*/ 2147483646 h 25"/>
              <a:gd name="T82" fmla="*/ 2147483646 w 30"/>
              <a:gd name="T83" fmla="*/ 2147483646 h 25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0" t="0" r="r" b="b"/>
            <a:pathLst>
              <a:path w="30" h="25">
                <a:moveTo>
                  <a:pt x="15" y="25"/>
                </a:moveTo>
                <a:lnTo>
                  <a:pt x="19" y="25"/>
                </a:lnTo>
                <a:lnTo>
                  <a:pt x="21" y="25"/>
                </a:lnTo>
                <a:lnTo>
                  <a:pt x="23" y="25"/>
                </a:lnTo>
                <a:lnTo>
                  <a:pt x="25" y="23"/>
                </a:lnTo>
                <a:lnTo>
                  <a:pt x="26" y="22"/>
                </a:lnTo>
                <a:lnTo>
                  <a:pt x="28" y="20"/>
                </a:lnTo>
                <a:lnTo>
                  <a:pt x="30" y="19"/>
                </a:lnTo>
                <a:lnTo>
                  <a:pt x="30" y="17"/>
                </a:lnTo>
                <a:lnTo>
                  <a:pt x="30" y="16"/>
                </a:lnTo>
                <a:lnTo>
                  <a:pt x="30" y="12"/>
                </a:lnTo>
                <a:lnTo>
                  <a:pt x="30" y="11"/>
                </a:lnTo>
                <a:lnTo>
                  <a:pt x="30" y="9"/>
                </a:lnTo>
                <a:lnTo>
                  <a:pt x="30" y="6"/>
                </a:lnTo>
                <a:lnTo>
                  <a:pt x="28" y="5"/>
                </a:lnTo>
                <a:lnTo>
                  <a:pt x="26" y="3"/>
                </a:lnTo>
                <a:lnTo>
                  <a:pt x="25" y="2"/>
                </a:lnTo>
                <a:lnTo>
                  <a:pt x="23" y="2"/>
                </a:lnTo>
                <a:lnTo>
                  <a:pt x="21" y="0"/>
                </a:lnTo>
                <a:lnTo>
                  <a:pt x="19" y="0"/>
                </a:lnTo>
                <a:lnTo>
                  <a:pt x="15" y="0"/>
                </a:lnTo>
                <a:lnTo>
                  <a:pt x="13" y="0"/>
                </a:lnTo>
                <a:lnTo>
                  <a:pt x="11" y="0"/>
                </a:lnTo>
                <a:lnTo>
                  <a:pt x="7" y="2"/>
                </a:lnTo>
                <a:lnTo>
                  <a:pt x="5" y="2"/>
                </a:lnTo>
                <a:lnTo>
                  <a:pt x="3" y="3"/>
                </a:lnTo>
                <a:lnTo>
                  <a:pt x="2" y="5"/>
                </a:lnTo>
                <a:lnTo>
                  <a:pt x="2" y="6"/>
                </a:lnTo>
                <a:lnTo>
                  <a:pt x="0" y="9"/>
                </a:lnTo>
                <a:lnTo>
                  <a:pt x="0" y="11"/>
                </a:lnTo>
                <a:lnTo>
                  <a:pt x="0" y="12"/>
                </a:lnTo>
                <a:lnTo>
                  <a:pt x="0" y="16"/>
                </a:lnTo>
                <a:lnTo>
                  <a:pt x="0" y="17"/>
                </a:lnTo>
                <a:lnTo>
                  <a:pt x="2" y="19"/>
                </a:lnTo>
                <a:lnTo>
                  <a:pt x="2" y="20"/>
                </a:lnTo>
                <a:lnTo>
                  <a:pt x="3" y="22"/>
                </a:lnTo>
                <a:lnTo>
                  <a:pt x="5" y="23"/>
                </a:lnTo>
                <a:lnTo>
                  <a:pt x="7" y="25"/>
                </a:lnTo>
                <a:lnTo>
                  <a:pt x="11" y="25"/>
                </a:lnTo>
                <a:lnTo>
                  <a:pt x="13" y="25"/>
                </a:lnTo>
                <a:lnTo>
                  <a:pt x="15" y="25"/>
                </a:lnTo>
                <a:close/>
              </a:path>
            </a:pathLst>
          </a:custGeom>
          <a:solidFill>
            <a:srgbClr val="000000"/>
          </a:solidFill>
          <a:ln w="28575" cmpd="sng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488" name="Freeform 39">
            <a:extLst>
              <a:ext uri="{FF2B5EF4-FFF2-40B4-BE49-F238E27FC236}">
                <a16:creationId xmlns:a16="http://schemas.microsoft.com/office/drawing/2014/main" id="{70427699-8B50-914A-A990-FC31EC81AE9F}"/>
              </a:ext>
            </a:extLst>
          </p:cNvPr>
          <p:cNvSpPr>
            <a:spLocks/>
          </p:cNvSpPr>
          <p:nvPr/>
        </p:nvSpPr>
        <p:spPr bwMode="auto">
          <a:xfrm>
            <a:off x="3673475" y="2865438"/>
            <a:ext cx="63500" cy="63500"/>
          </a:xfrm>
          <a:custGeom>
            <a:avLst/>
            <a:gdLst>
              <a:gd name="T0" fmla="*/ 2147483646 w 30"/>
              <a:gd name="T1" fmla="*/ 2147483646 h 25"/>
              <a:gd name="T2" fmla="*/ 2147483646 w 30"/>
              <a:gd name="T3" fmla="*/ 2147483646 h 25"/>
              <a:gd name="T4" fmla="*/ 2147483646 w 30"/>
              <a:gd name="T5" fmla="*/ 2147483646 h 25"/>
              <a:gd name="T6" fmla="*/ 2147483646 w 30"/>
              <a:gd name="T7" fmla="*/ 2147483646 h 25"/>
              <a:gd name="T8" fmla="*/ 2147483646 w 30"/>
              <a:gd name="T9" fmla="*/ 2147483646 h 25"/>
              <a:gd name="T10" fmla="*/ 2147483646 w 30"/>
              <a:gd name="T11" fmla="*/ 2147483646 h 25"/>
              <a:gd name="T12" fmla="*/ 2147483646 w 30"/>
              <a:gd name="T13" fmla="*/ 2147483646 h 25"/>
              <a:gd name="T14" fmla="*/ 2147483646 w 30"/>
              <a:gd name="T15" fmla="*/ 2147483646 h 25"/>
              <a:gd name="T16" fmla="*/ 2147483646 w 30"/>
              <a:gd name="T17" fmla="*/ 2147483646 h 25"/>
              <a:gd name="T18" fmla="*/ 2147483646 w 30"/>
              <a:gd name="T19" fmla="*/ 2147483646 h 25"/>
              <a:gd name="T20" fmla="*/ 2147483646 w 30"/>
              <a:gd name="T21" fmla="*/ 2147483646 h 25"/>
              <a:gd name="T22" fmla="*/ 2147483646 w 30"/>
              <a:gd name="T23" fmla="*/ 2147483646 h 25"/>
              <a:gd name="T24" fmla="*/ 2147483646 w 30"/>
              <a:gd name="T25" fmla="*/ 2147483646 h 25"/>
              <a:gd name="T26" fmla="*/ 2147483646 w 30"/>
              <a:gd name="T27" fmla="*/ 2147483646 h 25"/>
              <a:gd name="T28" fmla="*/ 2147483646 w 30"/>
              <a:gd name="T29" fmla="*/ 2147483646 h 25"/>
              <a:gd name="T30" fmla="*/ 2147483646 w 30"/>
              <a:gd name="T31" fmla="*/ 2147483646 h 25"/>
              <a:gd name="T32" fmla="*/ 2147483646 w 30"/>
              <a:gd name="T33" fmla="*/ 2147483646 h 25"/>
              <a:gd name="T34" fmla="*/ 2147483646 w 30"/>
              <a:gd name="T35" fmla="*/ 2147483646 h 25"/>
              <a:gd name="T36" fmla="*/ 2147483646 w 30"/>
              <a:gd name="T37" fmla="*/ 0 h 25"/>
              <a:gd name="T38" fmla="*/ 2147483646 w 30"/>
              <a:gd name="T39" fmla="*/ 0 h 25"/>
              <a:gd name="T40" fmla="*/ 2147483646 w 30"/>
              <a:gd name="T41" fmla="*/ 0 h 25"/>
              <a:gd name="T42" fmla="*/ 2147483646 w 30"/>
              <a:gd name="T43" fmla="*/ 0 h 25"/>
              <a:gd name="T44" fmla="*/ 2147483646 w 30"/>
              <a:gd name="T45" fmla="*/ 0 h 25"/>
              <a:gd name="T46" fmla="*/ 2147483646 w 30"/>
              <a:gd name="T47" fmla="*/ 2147483646 h 25"/>
              <a:gd name="T48" fmla="*/ 2147483646 w 30"/>
              <a:gd name="T49" fmla="*/ 2147483646 h 25"/>
              <a:gd name="T50" fmla="*/ 2147483646 w 30"/>
              <a:gd name="T51" fmla="*/ 2147483646 h 25"/>
              <a:gd name="T52" fmla="*/ 2147483646 w 30"/>
              <a:gd name="T53" fmla="*/ 2147483646 h 25"/>
              <a:gd name="T54" fmla="*/ 2147483646 w 30"/>
              <a:gd name="T55" fmla="*/ 2147483646 h 25"/>
              <a:gd name="T56" fmla="*/ 0 w 30"/>
              <a:gd name="T57" fmla="*/ 2147483646 h 25"/>
              <a:gd name="T58" fmla="*/ 0 w 30"/>
              <a:gd name="T59" fmla="*/ 2147483646 h 25"/>
              <a:gd name="T60" fmla="*/ 0 w 30"/>
              <a:gd name="T61" fmla="*/ 2147483646 h 25"/>
              <a:gd name="T62" fmla="*/ 0 w 30"/>
              <a:gd name="T63" fmla="*/ 2147483646 h 25"/>
              <a:gd name="T64" fmla="*/ 0 w 30"/>
              <a:gd name="T65" fmla="*/ 2147483646 h 25"/>
              <a:gd name="T66" fmla="*/ 2147483646 w 30"/>
              <a:gd name="T67" fmla="*/ 2147483646 h 25"/>
              <a:gd name="T68" fmla="*/ 2147483646 w 30"/>
              <a:gd name="T69" fmla="*/ 2147483646 h 25"/>
              <a:gd name="T70" fmla="*/ 2147483646 w 30"/>
              <a:gd name="T71" fmla="*/ 2147483646 h 25"/>
              <a:gd name="T72" fmla="*/ 2147483646 w 30"/>
              <a:gd name="T73" fmla="*/ 2147483646 h 25"/>
              <a:gd name="T74" fmla="*/ 2147483646 w 30"/>
              <a:gd name="T75" fmla="*/ 2147483646 h 25"/>
              <a:gd name="T76" fmla="*/ 2147483646 w 30"/>
              <a:gd name="T77" fmla="*/ 2147483646 h 25"/>
              <a:gd name="T78" fmla="*/ 2147483646 w 30"/>
              <a:gd name="T79" fmla="*/ 2147483646 h 25"/>
              <a:gd name="T80" fmla="*/ 2147483646 w 30"/>
              <a:gd name="T81" fmla="*/ 2147483646 h 25"/>
              <a:gd name="T82" fmla="*/ 2147483646 w 30"/>
              <a:gd name="T83" fmla="*/ 2147483646 h 25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0" t="0" r="r" b="b"/>
            <a:pathLst>
              <a:path w="30" h="25">
                <a:moveTo>
                  <a:pt x="15" y="25"/>
                </a:moveTo>
                <a:lnTo>
                  <a:pt x="19" y="25"/>
                </a:lnTo>
                <a:lnTo>
                  <a:pt x="21" y="25"/>
                </a:lnTo>
                <a:lnTo>
                  <a:pt x="23" y="23"/>
                </a:lnTo>
                <a:lnTo>
                  <a:pt x="25" y="23"/>
                </a:lnTo>
                <a:lnTo>
                  <a:pt x="26" y="22"/>
                </a:lnTo>
                <a:lnTo>
                  <a:pt x="28" y="20"/>
                </a:lnTo>
                <a:lnTo>
                  <a:pt x="30" y="18"/>
                </a:lnTo>
                <a:lnTo>
                  <a:pt x="30" y="17"/>
                </a:lnTo>
                <a:lnTo>
                  <a:pt x="30" y="14"/>
                </a:lnTo>
                <a:lnTo>
                  <a:pt x="30" y="12"/>
                </a:lnTo>
                <a:lnTo>
                  <a:pt x="30" y="11"/>
                </a:lnTo>
                <a:lnTo>
                  <a:pt x="30" y="8"/>
                </a:lnTo>
                <a:lnTo>
                  <a:pt x="30" y="6"/>
                </a:lnTo>
                <a:lnTo>
                  <a:pt x="28" y="4"/>
                </a:lnTo>
                <a:lnTo>
                  <a:pt x="26" y="3"/>
                </a:lnTo>
                <a:lnTo>
                  <a:pt x="25" y="1"/>
                </a:lnTo>
                <a:lnTo>
                  <a:pt x="23" y="1"/>
                </a:lnTo>
                <a:lnTo>
                  <a:pt x="21" y="0"/>
                </a:lnTo>
                <a:lnTo>
                  <a:pt x="19" y="0"/>
                </a:lnTo>
                <a:lnTo>
                  <a:pt x="15" y="0"/>
                </a:lnTo>
                <a:lnTo>
                  <a:pt x="13" y="0"/>
                </a:lnTo>
                <a:lnTo>
                  <a:pt x="11" y="0"/>
                </a:lnTo>
                <a:lnTo>
                  <a:pt x="7" y="1"/>
                </a:lnTo>
                <a:lnTo>
                  <a:pt x="5" y="1"/>
                </a:lnTo>
                <a:lnTo>
                  <a:pt x="3" y="3"/>
                </a:lnTo>
                <a:lnTo>
                  <a:pt x="2" y="4"/>
                </a:lnTo>
                <a:lnTo>
                  <a:pt x="2" y="6"/>
                </a:lnTo>
                <a:lnTo>
                  <a:pt x="0" y="8"/>
                </a:lnTo>
                <a:lnTo>
                  <a:pt x="0" y="11"/>
                </a:lnTo>
                <a:lnTo>
                  <a:pt x="0" y="12"/>
                </a:lnTo>
                <a:lnTo>
                  <a:pt x="0" y="14"/>
                </a:lnTo>
                <a:lnTo>
                  <a:pt x="0" y="17"/>
                </a:lnTo>
                <a:lnTo>
                  <a:pt x="2" y="18"/>
                </a:lnTo>
                <a:lnTo>
                  <a:pt x="2" y="20"/>
                </a:lnTo>
                <a:lnTo>
                  <a:pt x="3" y="22"/>
                </a:lnTo>
                <a:lnTo>
                  <a:pt x="5" y="23"/>
                </a:lnTo>
                <a:lnTo>
                  <a:pt x="7" y="23"/>
                </a:lnTo>
                <a:lnTo>
                  <a:pt x="11" y="25"/>
                </a:lnTo>
                <a:lnTo>
                  <a:pt x="13" y="25"/>
                </a:lnTo>
                <a:lnTo>
                  <a:pt x="15" y="25"/>
                </a:lnTo>
                <a:close/>
              </a:path>
            </a:pathLst>
          </a:custGeom>
          <a:solidFill>
            <a:srgbClr val="000000"/>
          </a:solidFill>
          <a:ln w="28575" cmpd="sng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489" name="Line 40">
            <a:extLst>
              <a:ext uri="{FF2B5EF4-FFF2-40B4-BE49-F238E27FC236}">
                <a16:creationId xmlns:a16="http://schemas.microsoft.com/office/drawing/2014/main" id="{F57CAF00-BC47-284A-AC76-04BF449C823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93788" y="3709988"/>
            <a:ext cx="3479800" cy="635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90" name="Freeform 41">
            <a:extLst>
              <a:ext uri="{FF2B5EF4-FFF2-40B4-BE49-F238E27FC236}">
                <a16:creationId xmlns:a16="http://schemas.microsoft.com/office/drawing/2014/main" id="{E1260DDA-C77E-244A-A713-7CEB671C8169}"/>
              </a:ext>
            </a:extLst>
          </p:cNvPr>
          <p:cNvSpPr>
            <a:spLocks/>
          </p:cNvSpPr>
          <p:nvPr/>
        </p:nvSpPr>
        <p:spPr bwMode="auto">
          <a:xfrm>
            <a:off x="2560638" y="2400300"/>
            <a:ext cx="1330325" cy="638175"/>
          </a:xfrm>
          <a:custGeom>
            <a:avLst/>
            <a:gdLst>
              <a:gd name="T0" fmla="*/ 2147483646 w 521"/>
              <a:gd name="T1" fmla="*/ 2147483646 h 305"/>
              <a:gd name="T2" fmla="*/ 2147483646 w 521"/>
              <a:gd name="T3" fmla="*/ 2147483646 h 305"/>
              <a:gd name="T4" fmla="*/ 2147483646 w 521"/>
              <a:gd name="T5" fmla="*/ 0 h 305"/>
              <a:gd name="T6" fmla="*/ 0 w 521"/>
              <a:gd name="T7" fmla="*/ 0 h 305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521" h="305">
                <a:moveTo>
                  <a:pt x="521" y="304"/>
                </a:moveTo>
                <a:lnTo>
                  <a:pt x="306" y="305"/>
                </a:lnTo>
                <a:lnTo>
                  <a:pt x="306" y="0"/>
                </a:lnTo>
                <a:lnTo>
                  <a:pt x="0" y="0"/>
                </a:lnTo>
              </a:path>
            </a:pathLst>
          </a:custGeom>
          <a:noFill/>
          <a:ln w="28575" cmpd="sng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91" name="Freeform 42">
            <a:extLst>
              <a:ext uri="{FF2B5EF4-FFF2-40B4-BE49-F238E27FC236}">
                <a16:creationId xmlns:a16="http://schemas.microsoft.com/office/drawing/2014/main" id="{B4E7BFAE-C288-7243-B9FC-E9E44FBEE113}"/>
              </a:ext>
            </a:extLst>
          </p:cNvPr>
          <p:cNvSpPr>
            <a:spLocks/>
          </p:cNvSpPr>
          <p:nvPr/>
        </p:nvSpPr>
        <p:spPr bwMode="auto">
          <a:xfrm>
            <a:off x="2560638" y="2570163"/>
            <a:ext cx="1330325" cy="936625"/>
          </a:xfrm>
          <a:custGeom>
            <a:avLst/>
            <a:gdLst>
              <a:gd name="T0" fmla="*/ 2147483646 w 521"/>
              <a:gd name="T1" fmla="*/ 2147483646 h 441"/>
              <a:gd name="T2" fmla="*/ 2147483646 w 521"/>
              <a:gd name="T3" fmla="*/ 2147483646 h 441"/>
              <a:gd name="T4" fmla="*/ 2147483646 w 521"/>
              <a:gd name="T5" fmla="*/ 0 h 441"/>
              <a:gd name="T6" fmla="*/ 0 w 521"/>
              <a:gd name="T7" fmla="*/ 0 h 441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521" h="441">
                <a:moveTo>
                  <a:pt x="521" y="439"/>
                </a:moveTo>
                <a:lnTo>
                  <a:pt x="235" y="441"/>
                </a:lnTo>
                <a:lnTo>
                  <a:pt x="235" y="0"/>
                </a:lnTo>
                <a:lnTo>
                  <a:pt x="0" y="0"/>
                </a:lnTo>
              </a:path>
            </a:pathLst>
          </a:custGeom>
          <a:noFill/>
          <a:ln w="28575" cmpd="sng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92" name="Rectangle 43">
            <a:extLst>
              <a:ext uri="{FF2B5EF4-FFF2-40B4-BE49-F238E27FC236}">
                <a16:creationId xmlns:a16="http://schemas.microsoft.com/office/drawing/2014/main" id="{810DCF2A-4629-134E-95AF-88AA8F0EB6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5538" y="1547813"/>
            <a:ext cx="112712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9493" name="Rectangle 48">
            <a:extLst>
              <a:ext uri="{FF2B5EF4-FFF2-40B4-BE49-F238E27FC236}">
                <a16:creationId xmlns:a16="http://schemas.microsoft.com/office/drawing/2014/main" id="{BDE1DC20-CBEB-8146-B1AF-E055B88F59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1400" y="2463800"/>
            <a:ext cx="22542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31</a:t>
            </a:r>
          </a:p>
        </p:txBody>
      </p:sp>
      <p:grpSp>
        <p:nvGrpSpPr>
          <p:cNvPr id="19494" name="Group 49">
            <a:extLst>
              <a:ext uri="{FF2B5EF4-FFF2-40B4-BE49-F238E27FC236}">
                <a16:creationId xmlns:a16="http://schemas.microsoft.com/office/drawing/2014/main" id="{06FBBC8E-372B-EB4D-BC46-A21E9E02AB34}"/>
              </a:ext>
            </a:extLst>
          </p:cNvPr>
          <p:cNvGrpSpPr>
            <a:grpSpLocks/>
          </p:cNvGrpSpPr>
          <p:nvPr/>
        </p:nvGrpSpPr>
        <p:grpSpPr bwMode="auto">
          <a:xfrm>
            <a:off x="2695575" y="2044700"/>
            <a:ext cx="26988" cy="157163"/>
            <a:chOff x="1238" y="2071"/>
            <a:chExt cx="11" cy="75"/>
          </a:xfrm>
        </p:grpSpPr>
        <p:sp>
          <p:nvSpPr>
            <p:cNvPr id="19567" name="Freeform 50">
              <a:extLst>
                <a:ext uri="{FF2B5EF4-FFF2-40B4-BE49-F238E27FC236}">
                  <a16:creationId xmlns:a16="http://schemas.microsoft.com/office/drawing/2014/main" id="{E1853BAE-D8CF-BA4E-85E3-B20BA112F38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8" y="2104"/>
              <a:ext cx="11" cy="9"/>
            </a:xfrm>
            <a:custGeom>
              <a:avLst/>
              <a:gdLst>
                <a:gd name="T0" fmla="*/ 11 w 11"/>
                <a:gd name="T1" fmla="*/ 3 h 9"/>
                <a:gd name="T2" fmla="*/ 11 w 11"/>
                <a:gd name="T3" fmla="*/ 3 h 9"/>
                <a:gd name="T4" fmla="*/ 11 w 11"/>
                <a:gd name="T5" fmla="*/ 3 h 9"/>
                <a:gd name="T6" fmla="*/ 11 w 11"/>
                <a:gd name="T7" fmla="*/ 1 h 9"/>
                <a:gd name="T8" fmla="*/ 9 w 11"/>
                <a:gd name="T9" fmla="*/ 1 h 9"/>
                <a:gd name="T10" fmla="*/ 9 w 11"/>
                <a:gd name="T11" fmla="*/ 0 h 9"/>
                <a:gd name="T12" fmla="*/ 9 w 11"/>
                <a:gd name="T13" fmla="*/ 0 h 9"/>
                <a:gd name="T14" fmla="*/ 7 w 11"/>
                <a:gd name="T15" fmla="*/ 0 h 9"/>
                <a:gd name="T16" fmla="*/ 7 w 11"/>
                <a:gd name="T17" fmla="*/ 0 h 9"/>
                <a:gd name="T18" fmla="*/ 5 w 11"/>
                <a:gd name="T19" fmla="*/ 0 h 9"/>
                <a:gd name="T20" fmla="*/ 5 w 11"/>
                <a:gd name="T21" fmla="*/ 0 h 9"/>
                <a:gd name="T22" fmla="*/ 3 w 11"/>
                <a:gd name="T23" fmla="*/ 0 h 9"/>
                <a:gd name="T24" fmla="*/ 3 w 11"/>
                <a:gd name="T25" fmla="*/ 0 h 9"/>
                <a:gd name="T26" fmla="*/ 3 w 11"/>
                <a:gd name="T27" fmla="*/ 0 h 9"/>
                <a:gd name="T28" fmla="*/ 1 w 11"/>
                <a:gd name="T29" fmla="*/ 0 h 9"/>
                <a:gd name="T30" fmla="*/ 1 w 11"/>
                <a:gd name="T31" fmla="*/ 0 h 9"/>
                <a:gd name="T32" fmla="*/ 0 w 11"/>
                <a:gd name="T33" fmla="*/ 1 h 9"/>
                <a:gd name="T34" fmla="*/ 0 w 11"/>
                <a:gd name="T35" fmla="*/ 1 h 9"/>
                <a:gd name="T36" fmla="*/ 0 w 11"/>
                <a:gd name="T37" fmla="*/ 3 h 9"/>
                <a:gd name="T38" fmla="*/ 0 w 11"/>
                <a:gd name="T39" fmla="*/ 3 h 9"/>
                <a:gd name="T40" fmla="*/ 0 w 11"/>
                <a:gd name="T41" fmla="*/ 4 h 9"/>
                <a:gd name="T42" fmla="*/ 0 w 11"/>
                <a:gd name="T43" fmla="*/ 4 h 9"/>
                <a:gd name="T44" fmla="*/ 0 w 11"/>
                <a:gd name="T45" fmla="*/ 6 h 9"/>
                <a:gd name="T46" fmla="*/ 0 w 11"/>
                <a:gd name="T47" fmla="*/ 6 h 9"/>
                <a:gd name="T48" fmla="*/ 0 w 11"/>
                <a:gd name="T49" fmla="*/ 6 h 9"/>
                <a:gd name="T50" fmla="*/ 1 w 11"/>
                <a:gd name="T51" fmla="*/ 8 h 9"/>
                <a:gd name="T52" fmla="*/ 1 w 11"/>
                <a:gd name="T53" fmla="*/ 8 h 9"/>
                <a:gd name="T54" fmla="*/ 3 w 11"/>
                <a:gd name="T55" fmla="*/ 8 h 9"/>
                <a:gd name="T56" fmla="*/ 3 w 11"/>
                <a:gd name="T57" fmla="*/ 9 h 9"/>
                <a:gd name="T58" fmla="*/ 3 w 11"/>
                <a:gd name="T59" fmla="*/ 9 h 9"/>
                <a:gd name="T60" fmla="*/ 5 w 11"/>
                <a:gd name="T61" fmla="*/ 9 h 9"/>
                <a:gd name="T62" fmla="*/ 5 w 11"/>
                <a:gd name="T63" fmla="*/ 9 h 9"/>
                <a:gd name="T64" fmla="*/ 7 w 11"/>
                <a:gd name="T65" fmla="*/ 9 h 9"/>
                <a:gd name="T66" fmla="*/ 7 w 11"/>
                <a:gd name="T67" fmla="*/ 8 h 9"/>
                <a:gd name="T68" fmla="*/ 9 w 11"/>
                <a:gd name="T69" fmla="*/ 8 h 9"/>
                <a:gd name="T70" fmla="*/ 9 w 11"/>
                <a:gd name="T71" fmla="*/ 8 h 9"/>
                <a:gd name="T72" fmla="*/ 9 w 11"/>
                <a:gd name="T73" fmla="*/ 6 h 9"/>
                <a:gd name="T74" fmla="*/ 11 w 11"/>
                <a:gd name="T75" fmla="*/ 6 h 9"/>
                <a:gd name="T76" fmla="*/ 11 w 11"/>
                <a:gd name="T77" fmla="*/ 6 h 9"/>
                <a:gd name="T78" fmla="*/ 11 w 11"/>
                <a:gd name="T79" fmla="*/ 4 h 9"/>
                <a:gd name="T80" fmla="*/ 11 w 11"/>
                <a:gd name="T81" fmla="*/ 4 h 9"/>
                <a:gd name="T82" fmla="*/ 11 w 11"/>
                <a:gd name="T83" fmla="*/ 4 h 9"/>
                <a:gd name="T84" fmla="*/ 11 w 11"/>
                <a:gd name="T85" fmla="*/ 3 h 9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11" h="9">
                  <a:moveTo>
                    <a:pt x="11" y="3"/>
                  </a:moveTo>
                  <a:lnTo>
                    <a:pt x="11" y="3"/>
                  </a:lnTo>
                  <a:lnTo>
                    <a:pt x="11" y="1"/>
                  </a:lnTo>
                  <a:lnTo>
                    <a:pt x="9" y="1"/>
                  </a:lnTo>
                  <a:lnTo>
                    <a:pt x="9" y="0"/>
                  </a:lnTo>
                  <a:lnTo>
                    <a:pt x="7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1" y="0"/>
                  </a:lnTo>
                  <a:lnTo>
                    <a:pt x="0" y="1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6"/>
                  </a:lnTo>
                  <a:lnTo>
                    <a:pt x="1" y="8"/>
                  </a:lnTo>
                  <a:lnTo>
                    <a:pt x="3" y="8"/>
                  </a:lnTo>
                  <a:lnTo>
                    <a:pt x="3" y="9"/>
                  </a:lnTo>
                  <a:lnTo>
                    <a:pt x="5" y="9"/>
                  </a:lnTo>
                  <a:lnTo>
                    <a:pt x="7" y="9"/>
                  </a:lnTo>
                  <a:lnTo>
                    <a:pt x="7" y="8"/>
                  </a:lnTo>
                  <a:lnTo>
                    <a:pt x="9" y="8"/>
                  </a:lnTo>
                  <a:lnTo>
                    <a:pt x="9" y="6"/>
                  </a:lnTo>
                  <a:lnTo>
                    <a:pt x="11" y="6"/>
                  </a:lnTo>
                  <a:lnTo>
                    <a:pt x="11" y="4"/>
                  </a:lnTo>
                  <a:lnTo>
                    <a:pt x="11" y="3"/>
                  </a:lnTo>
                  <a:close/>
                </a:path>
              </a:pathLst>
            </a:custGeom>
            <a:solidFill>
              <a:srgbClr val="000000"/>
            </a:solidFill>
            <a:ln w="28575" cmpd="sng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68" name="Freeform 51">
              <a:extLst>
                <a:ext uri="{FF2B5EF4-FFF2-40B4-BE49-F238E27FC236}">
                  <a16:creationId xmlns:a16="http://schemas.microsoft.com/office/drawing/2014/main" id="{7BE079C5-A64D-EF4B-9A02-960E605EFEB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8" y="2071"/>
              <a:ext cx="11" cy="10"/>
            </a:xfrm>
            <a:custGeom>
              <a:avLst/>
              <a:gdLst>
                <a:gd name="T0" fmla="*/ 11 w 11"/>
                <a:gd name="T1" fmla="*/ 3 h 10"/>
                <a:gd name="T2" fmla="*/ 11 w 11"/>
                <a:gd name="T3" fmla="*/ 3 h 10"/>
                <a:gd name="T4" fmla="*/ 11 w 11"/>
                <a:gd name="T5" fmla="*/ 3 h 10"/>
                <a:gd name="T6" fmla="*/ 11 w 11"/>
                <a:gd name="T7" fmla="*/ 2 h 10"/>
                <a:gd name="T8" fmla="*/ 9 w 11"/>
                <a:gd name="T9" fmla="*/ 2 h 10"/>
                <a:gd name="T10" fmla="*/ 9 w 11"/>
                <a:gd name="T11" fmla="*/ 2 h 10"/>
                <a:gd name="T12" fmla="*/ 9 w 11"/>
                <a:gd name="T13" fmla="*/ 0 h 10"/>
                <a:gd name="T14" fmla="*/ 7 w 11"/>
                <a:gd name="T15" fmla="*/ 0 h 10"/>
                <a:gd name="T16" fmla="*/ 7 w 11"/>
                <a:gd name="T17" fmla="*/ 0 h 10"/>
                <a:gd name="T18" fmla="*/ 5 w 11"/>
                <a:gd name="T19" fmla="*/ 0 h 10"/>
                <a:gd name="T20" fmla="*/ 5 w 11"/>
                <a:gd name="T21" fmla="*/ 0 h 10"/>
                <a:gd name="T22" fmla="*/ 3 w 11"/>
                <a:gd name="T23" fmla="*/ 0 h 10"/>
                <a:gd name="T24" fmla="*/ 3 w 11"/>
                <a:gd name="T25" fmla="*/ 0 h 10"/>
                <a:gd name="T26" fmla="*/ 3 w 11"/>
                <a:gd name="T27" fmla="*/ 0 h 10"/>
                <a:gd name="T28" fmla="*/ 1 w 11"/>
                <a:gd name="T29" fmla="*/ 0 h 10"/>
                <a:gd name="T30" fmla="*/ 1 w 11"/>
                <a:gd name="T31" fmla="*/ 2 h 10"/>
                <a:gd name="T32" fmla="*/ 0 w 11"/>
                <a:gd name="T33" fmla="*/ 2 h 10"/>
                <a:gd name="T34" fmla="*/ 0 w 11"/>
                <a:gd name="T35" fmla="*/ 2 h 10"/>
                <a:gd name="T36" fmla="*/ 0 w 11"/>
                <a:gd name="T37" fmla="*/ 3 h 10"/>
                <a:gd name="T38" fmla="*/ 0 w 11"/>
                <a:gd name="T39" fmla="*/ 3 h 10"/>
                <a:gd name="T40" fmla="*/ 0 w 11"/>
                <a:gd name="T41" fmla="*/ 5 h 10"/>
                <a:gd name="T42" fmla="*/ 0 w 11"/>
                <a:gd name="T43" fmla="*/ 5 h 10"/>
                <a:gd name="T44" fmla="*/ 0 w 11"/>
                <a:gd name="T45" fmla="*/ 7 h 10"/>
                <a:gd name="T46" fmla="*/ 0 w 11"/>
                <a:gd name="T47" fmla="*/ 7 h 10"/>
                <a:gd name="T48" fmla="*/ 0 w 11"/>
                <a:gd name="T49" fmla="*/ 8 h 10"/>
                <a:gd name="T50" fmla="*/ 1 w 11"/>
                <a:gd name="T51" fmla="*/ 8 h 10"/>
                <a:gd name="T52" fmla="*/ 1 w 11"/>
                <a:gd name="T53" fmla="*/ 8 h 10"/>
                <a:gd name="T54" fmla="*/ 3 w 11"/>
                <a:gd name="T55" fmla="*/ 10 h 10"/>
                <a:gd name="T56" fmla="*/ 3 w 11"/>
                <a:gd name="T57" fmla="*/ 10 h 10"/>
                <a:gd name="T58" fmla="*/ 3 w 11"/>
                <a:gd name="T59" fmla="*/ 10 h 10"/>
                <a:gd name="T60" fmla="*/ 5 w 11"/>
                <a:gd name="T61" fmla="*/ 10 h 10"/>
                <a:gd name="T62" fmla="*/ 5 w 11"/>
                <a:gd name="T63" fmla="*/ 10 h 10"/>
                <a:gd name="T64" fmla="*/ 7 w 11"/>
                <a:gd name="T65" fmla="*/ 10 h 10"/>
                <a:gd name="T66" fmla="*/ 7 w 11"/>
                <a:gd name="T67" fmla="*/ 10 h 10"/>
                <a:gd name="T68" fmla="*/ 9 w 11"/>
                <a:gd name="T69" fmla="*/ 8 h 10"/>
                <a:gd name="T70" fmla="*/ 9 w 11"/>
                <a:gd name="T71" fmla="*/ 8 h 10"/>
                <a:gd name="T72" fmla="*/ 9 w 11"/>
                <a:gd name="T73" fmla="*/ 8 h 10"/>
                <a:gd name="T74" fmla="*/ 11 w 11"/>
                <a:gd name="T75" fmla="*/ 7 h 10"/>
                <a:gd name="T76" fmla="*/ 11 w 11"/>
                <a:gd name="T77" fmla="*/ 7 h 10"/>
                <a:gd name="T78" fmla="*/ 11 w 11"/>
                <a:gd name="T79" fmla="*/ 5 h 10"/>
                <a:gd name="T80" fmla="*/ 11 w 11"/>
                <a:gd name="T81" fmla="*/ 5 h 10"/>
                <a:gd name="T82" fmla="*/ 11 w 11"/>
                <a:gd name="T83" fmla="*/ 5 h 10"/>
                <a:gd name="T84" fmla="*/ 11 w 11"/>
                <a:gd name="T85" fmla="*/ 3 h 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11" h="10">
                  <a:moveTo>
                    <a:pt x="11" y="3"/>
                  </a:moveTo>
                  <a:lnTo>
                    <a:pt x="11" y="3"/>
                  </a:lnTo>
                  <a:lnTo>
                    <a:pt x="11" y="2"/>
                  </a:lnTo>
                  <a:lnTo>
                    <a:pt x="9" y="2"/>
                  </a:lnTo>
                  <a:lnTo>
                    <a:pt x="9" y="0"/>
                  </a:lnTo>
                  <a:lnTo>
                    <a:pt x="7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1" y="0"/>
                  </a:lnTo>
                  <a:lnTo>
                    <a:pt x="1" y="2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7"/>
                  </a:lnTo>
                  <a:lnTo>
                    <a:pt x="0" y="8"/>
                  </a:lnTo>
                  <a:lnTo>
                    <a:pt x="1" y="8"/>
                  </a:lnTo>
                  <a:lnTo>
                    <a:pt x="3" y="10"/>
                  </a:lnTo>
                  <a:lnTo>
                    <a:pt x="5" y="10"/>
                  </a:lnTo>
                  <a:lnTo>
                    <a:pt x="7" y="10"/>
                  </a:lnTo>
                  <a:lnTo>
                    <a:pt x="9" y="8"/>
                  </a:lnTo>
                  <a:lnTo>
                    <a:pt x="11" y="7"/>
                  </a:lnTo>
                  <a:lnTo>
                    <a:pt x="11" y="5"/>
                  </a:lnTo>
                  <a:lnTo>
                    <a:pt x="11" y="3"/>
                  </a:lnTo>
                  <a:close/>
                </a:path>
              </a:pathLst>
            </a:custGeom>
            <a:solidFill>
              <a:srgbClr val="000000"/>
            </a:solidFill>
            <a:ln w="28575" cmpd="sng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69" name="Freeform 52">
              <a:extLst>
                <a:ext uri="{FF2B5EF4-FFF2-40B4-BE49-F238E27FC236}">
                  <a16:creationId xmlns:a16="http://schemas.microsoft.com/office/drawing/2014/main" id="{19A79428-7B5F-6A45-BE25-45940143D51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8" y="2135"/>
              <a:ext cx="11" cy="11"/>
            </a:xfrm>
            <a:custGeom>
              <a:avLst/>
              <a:gdLst>
                <a:gd name="T0" fmla="*/ 11 w 11"/>
                <a:gd name="T1" fmla="*/ 4 h 11"/>
                <a:gd name="T2" fmla="*/ 11 w 11"/>
                <a:gd name="T3" fmla="*/ 4 h 11"/>
                <a:gd name="T4" fmla="*/ 11 w 11"/>
                <a:gd name="T5" fmla="*/ 3 h 11"/>
                <a:gd name="T6" fmla="*/ 11 w 11"/>
                <a:gd name="T7" fmla="*/ 3 h 11"/>
                <a:gd name="T8" fmla="*/ 9 w 11"/>
                <a:gd name="T9" fmla="*/ 3 h 11"/>
                <a:gd name="T10" fmla="*/ 9 w 11"/>
                <a:gd name="T11" fmla="*/ 1 h 11"/>
                <a:gd name="T12" fmla="*/ 9 w 11"/>
                <a:gd name="T13" fmla="*/ 1 h 11"/>
                <a:gd name="T14" fmla="*/ 7 w 11"/>
                <a:gd name="T15" fmla="*/ 1 h 11"/>
                <a:gd name="T16" fmla="*/ 7 w 11"/>
                <a:gd name="T17" fmla="*/ 1 h 11"/>
                <a:gd name="T18" fmla="*/ 5 w 11"/>
                <a:gd name="T19" fmla="*/ 0 h 11"/>
                <a:gd name="T20" fmla="*/ 5 w 11"/>
                <a:gd name="T21" fmla="*/ 0 h 11"/>
                <a:gd name="T22" fmla="*/ 3 w 11"/>
                <a:gd name="T23" fmla="*/ 0 h 11"/>
                <a:gd name="T24" fmla="*/ 3 w 11"/>
                <a:gd name="T25" fmla="*/ 1 h 11"/>
                <a:gd name="T26" fmla="*/ 3 w 11"/>
                <a:gd name="T27" fmla="*/ 1 h 11"/>
                <a:gd name="T28" fmla="*/ 1 w 11"/>
                <a:gd name="T29" fmla="*/ 1 h 11"/>
                <a:gd name="T30" fmla="*/ 1 w 11"/>
                <a:gd name="T31" fmla="*/ 1 h 11"/>
                <a:gd name="T32" fmla="*/ 0 w 11"/>
                <a:gd name="T33" fmla="*/ 3 h 11"/>
                <a:gd name="T34" fmla="*/ 0 w 11"/>
                <a:gd name="T35" fmla="*/ 3 h 11"/>
                <a:gd name="T36" fmla="*/ 0 w 11"/>
                <a:gd name="T37" fmla="*/ 3 h 11"/>
                <a:gd name="T38" fmla="*/ 0 w 11"/>
                <a:gd name="T39" fmla="*/ 4 h 11"/>
                <a:gd name="T40" fmla="*/ 0 w 11"/>
                <a:gd name="T41" fmla="*/ 4 h 11"/>
                <a:gd name="T42" fmla="*/ 0 w 11"/>
                <a:gd name="T43" fmla="*/ 6 h 11"/>
                <a:gd name="T44" fmla="*/ 0 w 11"/>
                <a:gd name="T45" fmla="*/ 6 h 11"/>
                <a:gd name="T46" fmla="*/ 0 w 11"/>
                <a:gd name="T47" fmla="*/ 7 h 11"/>
                <a:gd name="T48" fmla="*/ 0 w 11"/>
                <a:gd name="T49" fmla="*/ 7 h 11"/>
                <a:gd name="T50" fmla="*/ 1 w 11"/>
                <a:gd name="T51" fmla="*/ 9 h 11"/>
                <a:gd name="T52" fmla="*/ 1 w 11"/>
                <a:gd name="T53" fmla="*/ 9 h 11"/>
                <a:gd name="T54" fmla="*/ 3 w 11"/>
                <a:gd name="T55" fmla="*/ 9 h 11"/>
                <a:gd name="T56" fmla="*/ 3 w 11"/>
                <a:gd name="T57" fmla="*/ 9 h 11"/>
                <a:gd name="T58" fmla="*/ 3 w 11"/>
                <a:gd name="T59" fmla="*/ 11 h 11"/>
                <a:gd name="T60" fmla="*/ 5 w 11"/>
                <a:gd name="T61" fmla="*/ 11 h 11"/>
                <a:gd name="T62" fmla="*/ 5 w 11"/>
                <a:gd name="T63" fmla="*/ 11 h 11"/>
                <a:gd name="T64" fmla="*/ 7 w 11"/>
                <a:gd name="T65" fmla="*/ 9 h 11"/>
                <a:gd name="T66" fmla="*/ 7 w 11"/>
                <a:gd name="T67" fmla="*/ 9 h 11"/>
                <a:gd name="T68" fmla="*/ 9 w 11"/>
                <a:gd name="T69" fmla="*/ 9 h 11"/>
                <a:gd name="T70" fmla="*/ 9 w 11"/>
                <a:gd name="T71" fmla="*/ 9 h 11"/>
                <a:gd name="T72" fmla="*/ 9 w 11"/>
                <a:gd name="T73" fmla="*/ 7 h 11"/>
                <a:gd name="T74" fmla="*/ 11 w 11"/>
                <a:gd name="T75" fmla="*/ 7 h 11"/>
                <a:gd name="T76" fmla="*/ 11 w 11"/>
                <a:gd name="T77" fmla="*/ 6 h 11"/>
                <a:gd name="T78" fmla="*/ 11 w 11"/>
                <a:gd name="T79" fmla="*/ 6 h 11"/>
                <a:gd name="T80" fmla="*/ 11 w 11"/>
                <a:gd name="T81" fmla="*/ 4 h 11"/>
                <a:gd name="T82" fmla="*/ 11 w 11"/>
                <a:gd name="T83" fmla="*/ 4 h 11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11" h="11">
                  <a:moveTo>
                    <a:pt x="11" y="4"/>
                  </a:moveTo>
                  <a:lnTo>
                    <a:pt x="11" y="4"/>
                  </a:lnTo>
                  <a:lnTo>
                    <a:pt x="11" y="3"/>
                  </a:lnTo>
                  <a:lnTo>
                    <a:pt x="9" y="3"/>
                  </a:lnTo>
                  <a:lnTo>
                    <a:pt x="9" y="1"/>
                  </a:lnTo>
                  <a:lnTo>
                    <a:pt x="7" y="1"/>
                  </a:lnTo>
                  <a:lnTo>
                    <a:pt x="5" y="0"/>
                  </a:lnTo>
                  <a:lnTo>
                    <a:pt x="3" y="0"/>
                  </a:lnTo>
                  <a:lnTo>
                    <a:pt x="3" y="1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6"/>
                  </a:lnTo>
                  <a:lnTo>
                    <a:pt x="0" y="7"/>
                  </a:lnTo>
                  <a:lnTo>
                    <a:pt x="1" y="9"/>
                  </a:lnTo>
                  <a:lnTo>
                    <a:pt x="3" y="9"/>
                  </a:lnTo>
                  <a:lnTo>
                    <a:pt x="3" y="11"/>
                  </a:lnTo>
                  <a:lnTo>
                    <a:pt x="5" y="11"/>
                  </a:lnTo>
                  <a:lnTo>
                    <a:pt x="7" y="9"/>
                  </a:lnTo>
                  <a:lnTo>
                    <a:pt x="9" y="9"/>
                  </a:lnTo>
                  <a:lnTo>
                    <a:pt x="9" y="7"/>
                  </a:lnTo>
                  <a:lnTo>
                    <a:pt x="11" y="7"/>
                  </a:lnTo>
                  <a:lnTo>
                    <a:pt x="11" y="6"/>
                  </a:lnTo>
                  <a:lnTo>
                    <a:pt x="11" y="4"/>
                  </a:lnTo>
                  <a:close/>
                </a:path>
              </a:pathLst>
            </a:custGeom>
            <a:solidFill>
              <a:srgbClr val="000000"/>
            </a:solidFill>
            <a:ln w="28575" cmpd="sng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9495" name="Freeform 53">
            <a:extLst>
              <a:ext uri="{FF2B5EF4-FFF2-40B4-BE49-F238E27FC236}">
                <a16:creationId xmlns:a16="http://schemas.microsoft.com/office/drawing/2014/main" id="{8C88485C-9740-DF4A-A594-BD9A2257D9EB}"/>
              </a:ext>
            </a:extLst>
          </p:cNvPr>
          <p:cNvSpPr>
            <a:spLocks/>
          </p:cNvSpPr>
          <p:nvPr/>
        </p:nvSpPr>
        <p:spPr bwMode="auto">
          <a:xfrm>
            <a:off x="3486150" y="3679825"/>
            <a:ext cx="69850" cy="69850"/>
          </a:xfrm>
          <a:custGeom>
            <a:avLst/>
            <a:gdLst>
              <a:gd name="T0" fmla="*/ 2147483646 w 32"/>
              <a:gd name="T1" fmla="*/ 2147483646 h 27"/>
              <a:gd name="T2" fmla="*/ 2147483646 w 32"/>
              <a:gd name="T3" fmla="*/ 2147483646 h 27"/>
              <a:gd name="T4" fmla="*/ 2147483646 w 32"/>
              <a:gd name="T5" fmla="*/ 2147483646 h 27"/>
              <a:gd name="T6" fmla="*/ 2147483646 w 32"/>
              <a:gd name="T7" fmla="*/ 2147483646 h 27"/>
              <a:gd name="T8" fmla="*/ 2147483646 w 32"/>
              <a:gd name="T9" fmla="*/ 2147483646 h 27"/>
              <a:gd name="T10" fmla="*/ 2147483646 w 32"/>
              <a:gd name="T11" fmla="*/ 2147483646 h 27"/>
              <a:gd name="T12" fmla="*/ 2147483646 w 32"/>
              <a:gd name="T13" fmla="*/ 2147483646 h 27"/>
              <a:gd name="T14" fmla="*/ 2147483646 w 32"/>
              <a:gd name="T15" fmla="*/ 2147483646 h 27"/>
              <a:gd name="T16" fmla="*/ 2147483646 w 32"/>
              <a:gd name="T17" fmla="*/ 2147483646 h 27"/>
              <a:gd name="T18" fmla="*/ 2147483646 w 32"/>
              <a:gd name="T19" fmla="*/ 2147483646 h 27"/>
              <a:gd name="T20" fmla="*/ 2147483646 w 32"/>
              <a:gd name="T21" fmla="*/ 2147483646 h 27"/>
              <a:gd name="T22" fmla="*/ 2147483646 w 32"/>
              <a:gd name="T23" fmla="*/ 2147483646 h 27"/>
              <a:gd name="T24" fmla="*/ 2147483646 w 32"/>
              <a:gd name="T25" fmla="*/ 2147483646 h 27"/>
              <a:gd name="T26" fmla="*/ 2147483646 w 32"/>
              <a:gd name="T27" fmla="*/ 2147483646 h 27"/>
              <a:gd name="T28" fmla="*/ 2147483646 w 32"/>
              <a:gd name="T29" fmla="*/ 2147483646 h 27"/>
              <a:gd name="T30" fmla="*/ 2147483646 w 32"/>
              <a:gd name="T31" fmla="*/ 2147483646 h 27"/>
              <a:gd name="T32" fmla="*/ 2147483646 w 32"/>
              <a:gd name="T33" fmla="*/ 2147483646 h 27"/>
              <a:gd name="T34" fmla="*/ 2147483646 w 32"/>
              <a:gd name="T35" fmla="*/ 2147483646 h 27"/>
              <a:gd name="T36" fmla="*/ 2147483646 w 32"/>
              <a:gd name="T37" fmla="*/ 0 h 27"/>
              <a:gd name="T38" fmla="*/ 2147483646 w 32"/>
              <a:gd name="T39" fmla="*/ 0 h 27"/>
              <a:gd name="T40" fmla="*/ 2147483646 w 32"/>
              <a:gd name="T41" fmla="*/ 0 h 27"/>
              <a:gd name="T42" fmla="*/ 2147483646 w 32"/>
              <a:gd name="T43" fmla="*/ 0 h 27"/>
              <a:gd name="T44" fmla="*/ 2147483646 w 32"/>
              <a:gd name="T45" fmla="*/ 0 h 27"/>
              <a:gd name="T46" fmla="*/ 2147483646 w 32"/>
              <a:gd name="T47" fmla="*/ 2147483646 h 27"/>
              <a:gd name="T48" fmla="*/ 2147483646 w 32"/>
              <a:gd name="T49" fmla="*/ 2147483646 h 27"/>
              <a:gd name="T50" fmla="*/ 2147483646 w 32"/>
              <a:gd name="T51" fmla="*/ 2147483646 h 27"/>
              <a:gd name="T52" fmla="*/ 2147483646 w 32"/>
              <a:gd name="T53" fmla="*/ 2147483646 h 27"/>
              <a:gd name="T54" fmla="*/ 2147483646 w 32"/>
              <a:gd name="T55" fmla="*/ 2147483646 h 27"/>
              <a:gd name="T56" fmla="*/ 2147483646 w 32"/>
              <a:gd name="T57" fmla="*/ 2147483646 h 27"/>
              <a:gd name="T58" fmla="*/ 0 w 32"/>
              <a:gd name="T59" fmla="*/ 2147483646 h 27"/>
              <a:gd name="T60" fmla="*/ 0 w 32"/>
              <a:gd name="T61" fmla="*/ 2147483646 h 27"/>
              <a:gd name="T62" fmla="*/ 0 w 32"/>
              <a:gd name="T63" fmla="*/ 2147483646 h 27"/>
              <a:gd name="T64" fmla="*/ 2147483646 w 32"/>
              <a:gd name="T65" fmla="*/ 2147483646 h 27"/>
              <a:gd name="T66" fmla="*/ 2147483646 w 32"/>
              <a:gd name="T67" fmla="*/ 2147483646 h 27"/>
              <a:gd name="T68" fmla="*/ 2147483646 w 32"/>
              <a:gd name="T69" fmla="*/ 2147483646 h 27"/>
              <a:gd name="T70" fmla="*/ 2147483646 w 32"/>
              <a:gd name="T71" fmla="*/ 2147483646 h 27"/>
              <a:gd name="T72" fmla="*/ 2147483646 w 32"/>
              <a:gd name="T73" fmla="*/ 2147483646 h 27"/>
              <a:gd name="T74" fmla="*/ 2147483646 w 32"/>
              <a:gd name="T75" fmla="*/ 2147483646 h 27"/>
              <a:gd name="T76" fmla="*/ 2147483646 w 32"/>
              <a:gd name="T77" fmla="*/ 2147483646 h 27"/>
              <a:gd name="T78" fmla="*/ 2147483646 w 32"/>
              <a:gd name="T79" fmla="*/ 2147483646 h 27"/>
              <a:gd name="T80" fmla="*/ 2147483646 w 32"/>
              <a:gd name="T81" fmla="*/ 2147483646 h 27"/>
              <a:gd name="T82" fmla="*/ 2147483646 w 32"/>
              <a:gd name="T83" fmla="*/ 2147483646 h 27"/>
              <a:gd name="T84" fmla="*/ 2147483646 w 32"/>
              <a:gd name="T85" fmla="*/ 2147483646 h 27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0" t="0" r="r" b="b"/>
            <a:pathLst>
              <a:path w="32" h="27">
                <a:moveTo>
                  <a:pt x="15" y="25"/>
                </a:moveTo>
                <a:lnTo>
                  <a:pt x="19" y="27"/>
                </a:lnTo>
                <a:lnTo>
                  <a:pt x="21" y="25"/>
                </a:lnTo>
                <a:lnTo>
                  <a:pt x="23" y="25"/>
                </a:lnTo>
                <a:lnTo>
                  <a:pt x="25" y="23"/>
                </a:lnTo>
                <a:lnTo>
                  <a:pt x="27" y="22"/>
                </a:lnTo>
                <a:lnTo>
                  <a:pt x="29" y="20"/>
                </a:lnTo>
                <a:lnTo>
                  <a:pt x="30" y="19"/>
                </a:lnTo>
                <a:lnTo>
                  <a:pt x="30" y="17"/>
                </a:lnTo>
                <a:lnTo>
                  <a:pt x="32" y="16"/>
                </a:lnTo>
                <a:lnTo>
                  <a:pt x="32" y="13"/>
                </a:lnTo>
                <a:lnTo>
                  <a:pt x="32" y="11"/>
                </a:lnTo>
                <a:lnTo>
                  <a:pt x="30" y="10"/>
                </a:lnTo>
                <a:lnTo>
                  <a:pt x="30" y="8"/>
                </a:lnTo>
                <a:lnTo>
                  <a:pt x="29" y="5"/>
                </a:lnTo>
                <a:lnTo>
                  <a:pt x="27" y="3"/>
                </a:lnTo>
                <a:lnTo>
                  <a:pt x="25" y="3"/>
                </a:lnTo>
                <a:lnTo>
                  <a:pt x="23" y="2"/>
                </a:lnTo>
                <a:lnTo>
                  <a:pt x="21" y="0"/>
                </a:lnTo>
                <a:lnTo>
                  <a:pt x="19" y="0"/>
                </a:lnTo>
                <a:lnTo>
                  <a:pt x="15" y="0"/>
                </a:lnTo>
                <a:lnTo>
                  <a:pt x="13" y="0"/>
                </a:lnTo>
                <a:lnTo>
                  <a:pt x="11" y="0"/>
                </a:lnTo>
                <a:lnTo>
                  <a:pt x="9" y="2"/>
                </a:lnTo>
                <a:lnTo>
                  <a:pt x="8" y="3"/>
                </a:lnTo>
                <a:lnTo>
                  <a:pt x="6" y="3"/>
                </a:lnTo>
                <a:lnTo>
                  <a:pt x="4" y="5"/>
                </a:lnTo>
                <a:lnTo>
                  <a:pt x="2" y="8"/>
                </a:lnTo>
                <a:lnTo>
                  <a:pt x="2" y="10"/>
                </a:lnTo>
                <a:lnTo>
                  <a:pt x="0" y="11"/>
                </a:lnTo>
                <a:lnTo>
                  <a:pt x="0" y="13"/>
                </a:lnTo>
                <a:lnTo>
                  <a:pt x="0" y="16"/>
                </a:lnTo>
                <a:lnTo>
                  <a:pt x="2" y="17"/>
                </a:lnTo>
                <a:lnTo>
                  <a:pt x="2" y="19"/>
                </a:lnTo>
                <a:lnTo>
                  <a:pt x="4" y="20"/>
                </a:lnTo>
                <a:lnTo>
                  <a:pt x="6" y="22"/>
                </a:lnTo>
                <a:lnTo>
                  <a:pt x="8" y="23"/>
                </a:lnTo>
                <a:lnTo>
                  <a:pt x="9" y="25"/>
                </a:lnTo>
                <a:lnTo>
                  <a:pt x="11" y="25"/>
                </a:lnTo>
                <a:lnTo>
                  <a:pt x="13" y="27"/>
                </a:lnTo>
                <a:lnTo>
                  <a:pt x="15" y="27"/>
                </a:lnTo>
                <a:lnTo>
                  <a:pt x="15" y="25"/>
                </a:lnTo>
                <a:close/>
              </a:path>
            </a:pathLst>
          </a:custGeom>
          <a:solidFill>
            <a:srgbClr val="000000"/>
          </a:solidFill>
          <a:ln w="28575" cmpd="sng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496" name="Line 54">
            <a:extLst>
              <a:ext uri="{FF2B5EF4-FFF2-40B4-BE49-F238E27FC236}">
                <a16:creationId xmlns:a16="http://schemas.microsoft.com/office/drawing/2014/main" id="{C42F5ABD-EE36-324E-A0FD-737F7743BB7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60638" y="1657350"/>
            <a:ext cx="1330325" cy="158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97" name="Freeform 55">
            <a:extLst>
              <a:ext uri="{FF2B5EF4-FFF2-40B4-BE49-F238E27FC236}">
                <a16:creationId xmlns:a16="http://schemas.microsoft.com/office/drawing/2014/main" id="{F74A5149-AAB8-B045-A9B7-16A254C42283}"/>
              </a:ext>
            </a:extLst>
          </p:cNvPr>
          <p:cNvSpPr>
            <a:spLocks/>
          </p:cNvSpPr>
          <p:nvPr/>
        </p:nvSpPr>
        <p:spPr bwMode="auto">
          <a:xfrm>
            <a:off x="3660775" y="1952625"/>
            <a:ext cx="76200" cy="66675"/>
          </a:xfrm>
          <a:custGeom>
            <a:avLst/>
            <a:gdLst>
              <a:gd name="T0" fmla="*/ 2147483646 w 30"/>
              <a:gd name="T1" fmla="*/ 2147483646 h 26"/>
              <a:gd name="T2" fmla="*/ 2147483646 w 30"/>
              <a:gd name="T3" fmla="*/ 2147483646 h 26"/>
              <a:gd name="T4" fmla="*/ 2147483646 w 30"/>
              <a:gd name="T5" fmla="*/ 2147483646 h 26"/>
              <a:gd name="T6" fmla="*/ 2147483646 w 30"/>
              <a:gd name="T7" fmla="*/ 2147483646 h 26"/>
              <a:gd name="T8" fmla="*/ 2147483646 w 30"/>
              <a:gd name="T9" fmla="*/ 2147483646 h 26"/>
              <a:gd name="T10" fmla="*/ 2147483646 w 30"/>
              <a:gd name="T11" fmla="*/ 2147483646 h 26"/>
              <a:gd name="T12" fmla="*/ 2147483646 w 30"/>
              <a:gd name="T13" fmla="*/ 2147483646 h 26"/>
              <a:gd name="T14" fmla="*/ 2147483646 w 30"/>
              <a:gd name="T15" fmla="*/ 2147483646 h 26"/>
              <a:gd name="T16" fmla="*/ 2147483646 w 30"/>
              <a:gd name="T17" fmla="*/ 2147483646 h 26"/>
              <a:gd name="T18" fmla="*/ 2147483646 w 30"/>
              <a:gd name="T19" fmla="*/ 2147483646 h 26"/>
              <a:gd name="T20" fmla="*/ 2147483646 w 30"/>
              <a:gd name="T21" fmla="*/ 2147483646 h 26"/>
              <a:gd name="T22" fmla="*/ 2147483646 w 30"/>
              <a:gd name="T23" fmla="*/ 2147483646 h 26"/>
              <a:gd name="T24" fmla="*/ 2147483646 w 30"/>
              <a:gd name="T25" fmla="*/ 2147483646 h 26"/>
              <a:gd name="T26" fmla="*/ 2147483646 w 30"/>
              <a:gd name="T27" fmla="*/ 2147483646 h 26"/>
              <a:gd name="T28" fmla="*/ 2147483646 w 30"/>
              <a:gd name="T29" fmla="*/ 2147483646 h 26"/>
              <a:gd name="T30" fmla="*/ 2147483646 w 30"/>
              <a:gd name="T31" fmla="*/ 2147483646 h 26"/>
              <a:gd name="T32" fmla="*/ 2147483646 w 30"/>
              <a:gd name="T33" fmla="*/ 2147483646 h 26"/>
              <a:gd name="T34" fmla="*/ 2147483646 w 30"/>
              <a:gd name="T35" fmla="*/ 2147483646 h 26"/>
              <a:gd name="T36" fmla="*/ 2147483646 w 30"/>
              <a:gd name="T37" fmla="*/ 2147483646 h 26"/>
              <a:gd name="T38" fmla="*/ 2147483646 w 30"/>
              <a:gd name="T39" fmla="*/ 0 h 26"/>
              <a:gd name="T40" fmla="*/ 2147483646 w 30"/>
              <a:gd name="T41" fmla="*/ 0 h 26"/>
              <a:gd name="T42" fmla="*/ 2147483646 w 30"/>
              <a:gd name="T43" fmla="*/ 0 h 26"/>
              <a:gd name="T44" fmla="*/ 2147483646 w 30"/>
              <a:gd name="T45" fmla="*/ 2147483646 h 26"/>
              <a:gd name="T46" fmla="*/ 2147483646 w 30"/>
              <a:gd name="T47" fmla="*/ 2147483646 h 26"/>
              <a:gd name="T48" fmla="*/ 2147483646 w 30"/>
              <a:gd name="T49" fmla="*/ 2147483646 h 26"/>
              <a:gd name="T50" fmla="*/ 2147483646 w 30"/>
              <a:gd name="T51" fmla="*/ 2147483646 h 26"/>
              <a:gd name="T52" fmla="*/ 2147483646 w 30"/>
              <a:gd name="T53" fmla="*/ 2147483646 h 26"/>
              <a:gd name="T54" fmla="*/ 2147483646 w 30"/>
              <a:gd name="T55" fmla="*/ 2147483646 h 26"/>
              <a:gd name="T56" fmla="*/ 0 w 30"/>
              <a:gd name="T57" fmla="*/ 2147483646 h 26"/>
              <a:gd name="T58" fmla="*/ 0 w 30"/>
              <a:gd name="T59" fmla="*/ 2147483646 h 26"/>
              <a:gd name="T60" fmla="*/ 0 w 30"/>
              <a:gd name="T61" fmla="*/ 2147483646 h 26"/>
              <a:gd name="T62" fmla="*/ 0 w 30"/>
              <a:gd name="T63" fmla="*/ 2147483646 h 26"/>
              <a:gd name="T64" fmla="*/ 0 w 30"/>
              <a:gd name="T65" fmla="*/ 2147483646 h 26"/>
              <a:gd name="T66" fmla="*/ 2147483646 w 30"/>
              <a:gd name="T67" fmla="*/ 2147483646 h 26"/>
              <a:gd name="T68" fmla="*/ 2147483646 w 30"/>
              <a:gd name="T69" fmla="*/ 2147483646 h 26"/>
              <a:gd name="T70" fmla="*/ 2147483646 w 30"/>
              <a:gd name="T71" fmla="*/ 2147483646 h 26"/>
              <a:gd name="T72" fmla="*/ 2147483646 w 30"/>
              <a:gd name="T73" fmla="*/ 2147483646 h 26"/>
              <a:gd name="T74" fmla="*/ 2147483646 w 30"/>
              <a:gd name="T75" fmla="*/ 2147483646 h 26"/>
              <a:gd name="T76" fmla="*/ 2147483646 w 30"/>
              <a:gd name="T77" fmla="*/ 2147483646 h 26"/>
              <a:gd name="T78" fmla="*/ 2147483646 w 30"/>
              <a:gd name="T79" fmla="*/ 2147483646 h 26"/>
              <a:gd name="T80" fmla="*/ 2147483646 w 30"/>
              <a:gd name="T81" fmla="*/ 2147483646 h 26"/>
              <a:gd name="T82" fmla="*/ 2147483646 w 30"/>
              <a:gd name="T83" fmla="*/ 2147483646 h 26"/>
              <a:gd name="T84" fmla="*/ 2147483646 w 30"/>
              <a:gd name="T85" fmla="*/ 2147483646 h 2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0" t="0" r="r" b="b"/>
            <a:pathLst>
              <a:path w="30" h="26">
                <a:moveTo>
                  <a:pt x="15" y="24"/>
                </a:moveTo>
                <a:lnTo>
                  <a:pt x="19" y="26"/>
                </a:lnTo>
                <a:lnTo>
                  <a:pt x="21" y="24"/>
                </a:lnTo>
                <a:lnTo>
                  <a:pt x="23" y="24"/>
                </a:lnTo>
                <a:lnTo>
                  <a:pt x="25" y="23"/>
                </a:lnTo>
                <a:lnTo>
                  <a:pt x="26" y="21"/>
                </a:lnTo>
                <a:lnTo>
                  <a:pt x="28" y="20"/>
                </a:lnTo>
                <a:lnTo>
                  <a:pt x="30" y="18"/>
                </a:lnTo>
                <a:lnTo>
                  <a:pt x="30" y="17"/>
                </a:lnTo>
                <a:lnTo>
                  <a:pt x="30" y="15"/>
                </a:lnTo>
                <a:lnTo>
                  <a:pt x="30" y="14"/>
                </a:lnTo>
                <a:lnTo>
                  <a:pt x="30" y="10"/>
                </a:lnTo>
                <a:lnTo>
                  <a:pt x="30" y="9"/>
                </a:lnTo>
                <a:lnTo>
                  <a:pt x="30" y="7"/>
                </a:lnTo>
                <a:lnTo>
                  <a:pt x="28" y="6"/>
                </a:lnTo>
                <a:lnTo>
                  <a:pt x="26" y="4"/>
                </a:lnTo>
                <a:lnTo>
                  <a:pt x="25" y="3"/>
                </a:lnTo>
                <a:lnTo>
                  <a:pt x="23" y="1"/>
                </a:lnTo>
                <a:lnTo>
                  <a:pt x="21" y="1"/>
                </a:lnTo>
                <a:lnTo>
                  <a:pt x="19" y="0"/>
                </a:lnTo>
                <a:lnTo>
                  <a:pt x="15" y="0"/>
                </a:lnTo>
                <a:lnTo>
                  <a:pt x="13" y="0"/>
                </a:lnTo>
                <a:lnTo>
                  <a:pt x="11" y="1"/>
                </a:lnTo>
                <a:lnTo>
                  <a:pt x="7" y="1"/>
                </a:lnTo>
                <a:lnTo>
                  <a:pt x="5" y="3"/>
                </a:lnTo>
                <a:lnTo>
                  <a:pt x="3" y="4"/>
                </a:lnTo>
                <a:lnTo>
                  <a:pt x="2" y="6"/>
                </a:lnTo>
                <a:lnTo>
                  <a:pt x="2" y="7"/>
                </a:lnTo>
                <a:lnTo>
                  <a:pt x="0" y="9"/>
                </a:lnTo>
                <a:lnTo>
                  <a:pt x="0" y="10"/>
                </a:lnTo>
                <a:lnTo>
                  <a:pt x="0" y="14"/>
                </a:lnTo>
                <a:lnTo>
                  <a:pt x="0" y="15"/>
                </a:lnTo>
                <a:lnTo>
                  <a:pt x="0" y="17"/>
                </a:lnTo>
                <a:lnTo>
                  <a:pt x="2" y="18"/>
                </a:lnTo>
                <a:lnTo>
                  <a:pt x="2" y="20"/>
                </a:lnTo>
                <a:lnTo>
                  <a:pt x="3" y="21"/>
                </a:lnTo>
                <a:lnTo>
                  <a:pt x="5" y="23"/>
                </a:lnTo>
                <a:lnTo>
                  <a:pt x="7" y="24"/>
                </a:lnTo>
                <a:lnTo>
                  <a:pt x="11" y="24"/>
                </a:lnTo>
                <a:lnTo>
                  <a:pt x="13" y="26"/>
                </a:lnTo>
                <a:lnTo>
                  <a:pt x="15" y="26"/>
                </a:lnTo>
                <a:lnTo>
                  <a:pt x="15" y="24"/>
                </a:lnTo>
                <a:close/>
              </a:path>
            </a:pathLst>
          </a:custGeom>
          <a:solidFill>
            <a:srgbClr val="000000"/>
          </a:solidFill>
          <a:ln w="28575" cmpd="sng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498" name="Rectangle 56">
            <a:extLst>
              <a:ext uri="{FF2B5EF4-FFF2-40B4-BE49-F238E27FC236}">
                <a16:creationId xmlns:a16="http://schemas.microsoft.com/office/drawing/2014/main" id="{554E0D53-BB45-7848-B8A6-B692DDC68B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0713" y="2130425"/>
            <a:ext cx="1905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rgbClr val="000000"/>
                </a:solidFill>
                <a:ea typeface="宋体" panose="02010600030101010101" pitchFamily="2" charset="-122"/>
              </a:rPr>
              <a:t>M</a:t>
            </a:r>
            <a:endParaRPr lang="en-US" altLang="zh-CN" sz="1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499" name="Rectangle 57">
            <a:extLst>
              <a:ext uri="{FF2B5EF4-FFF2-40B4-BE49-F238E27FC236}">
                <a16:creationId xmlns:a16="http://schemas.microsoft.com/office/drawing/2014/main" id="{6E6D02A9-9C35-1E4A-AEB0-FB824C218C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5475" y="2520950"/>
            <a:ext cx="1651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rgbClr val="000000"/>
                </a:solidFill>
                <a:ea typeface="宋体" panose="02010600030101010101" pitchFamily="2" charset="-122"/>
              </a:rPr>
              <a:t>U</a:t>
            </a:r>
            <a:endParaRPr lang="en-US" altLang="zh-CN" sz="1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500" name="Rectangle 58">
            <a:extLst>
              <a:ext uri="{FF2B5EF4-FFF2-40B4-BE49-F238E27FC236}">
                <a16:creationId xmlns:a16="http://schemas.microsoft.com/office/drawing/2014/main" id="{F975F17E-53D6-4448-9A90-02067F027B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3413" y="2992438"/>
            <a:ext cx="1524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endParaRPr lang="en-US" altLang="zh-CN" sz="1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501" name="Freeform 59">
            <a:extLst>
              <a:ext uri="{FF2B5EF4-FFF2-40B4-BE49-F238E27FC236}">
                <a16:creationId xmlns:a16="http://schemas.microsoft.com/office/drawing/2014/main" id="{5D18F60E-9AE1-CF42-9A2F-D9AA956E015C}"/>
              </a:ext>
            </a:extLst>
          </p:cNvPr>
          <p:cNvSpPr>
            <a:spLocks/>
          </p:cNvSpPr>
          <p:nvPr/>
        </p:nvSpPr>
        <p:spPr bwMode="auto">
          <a:xfrm>
            <a:off x="6602413" y="1700213"/>
            <a:ext cx="82550" cy="93662"/>
          </a:xfrm>
          <a:custGeom>
            <a:avLst/>
            <a:gdLst>
              <a:gd name="T0" fmla="*/ 2147483646 w 32"/>
              <a:gd name="T1" fmla="*/ 2147483646 h 45"/>
              <a:gd name="T2" fmla="*/ 2147483646 w 32"/>
              <a:gd name="T3" fmla="*/ 2147483646 h 45"/>
              <a:gd name="T4" fmla="*/ 2147483646 w 32"/>
              <a:gd name="T5" fmla="*/ 2147483646 h 45"/>
              <a:gd name="T6" fmla="*/ 2147483646 w 32"/>
              <a:gd name="T7" fmla="*/ 2147483646 h 45"/>
              <a:gd name="T8" fmla="*/ 2147483646 w 32"/>
              <a:gd name="T9" fmla="*/ 2147483646 h 45"/>
              <a:gd name="T10" fmla="*/ 2147483646 w 32"/>
              <a:gd name="T11" fmla="*/ 2147483646 h 45"/>
              <a:gd name="T12" fmla="*/ 2147483646 w 32"/>
              <a:gd name="T13" fmla="*/ 2147483646 h 45"/>
              <a:gd name="T14" fmla="*/ 2147483646 w 32"/>
              <a:gd name="T15" fmla="*/ 2147483646 h 45"/>
              <a:gd name="T16" fmla="*/ 2147483646 w 32"/>
              <a:gd name="T17" fmla="*/ 2147483646 h 45"/>
              <a:gd name="T18" fmla="*/ 2147483646 w 32"/>
              <a:gd name="T19" fmla="*/ 2147483646 h 45"/>
              <a:gd name="T20" fmla="*/ 2147483646 w 32"/>
              <a:gd name="T21" fmla="*/ 2147483646 h 45"/>
              <a:gd name="T22" fmla="*/ 2147483646 w 32"/>
              <a:gd name="T23" fmla="*/ 2147483646 h 45"/>
              <a:gd name="T24" fmla="*/ 2147483646 w 32"/>
              <a:gd name="T25" fmla="*/ 2147483646 h 45"/>
              <a:gd name="T26" fmla="*/ 2147483646 w 32"/>
              <a:gd name="T27" fmla="*/ 2147483646 h 45"/>
              <a:gd name="T28" fmla="*/ 2147483646 w 32"/>
              <a:gd name="T29" fmla="*/ 2147483646 h 45"/>
              <a:gd name="T30" fmla="*/ 2147483646 w 32"/>
              <a:gd name="T31" fmla="*/ 2147483646 h 45"/>
              <a:gd name="T32" fmla="*/ 2147483646 w 32"/>
              <a:gd name="T33" fmla="*/ 2147483646 h 45"/>
              <a:gd name="T34" fmla="*/ 2147483646 w 32"/>
              <a:gd name="T35" fmla="*/ 2147483646 h 45"/>
              <a:gd name="T36" fmla="*/ 2147483646 w 32"/>
              <a:gd name="T37" fmla="*/ 2147483646 h 45"/>
              <a:gd name="T38" fmla="*/ 2147483646 w 32"/>
              <a:gd name="T39" fmla="*/ 0 h 45"/>
              <a:gd name="T40" fmla="*/ 2147483646 w 32"/>
              <a:gd name="T41" fmla="*/ 0 h 45"/>
              <a:gd name="T42" fmla="*/ 2147483646 w 32"/>
              <a:gd name="T43" fmla="*/ 0 h 45"/>
              <a:gd name="T44" fmla="*/ 2147483646 w 32"/>
              <a:gd name="T45" fmla="*/ 2147483646 h 45"/>
              <a:gd name="T46" fmla="*/ 2147483646 w 32"/>
              <a:gd name="T47" fmla="*/ 2147483646 h 45"/>
              <a:gd name="T48" fmla="*/ 2147483646 w 32"/>
              <a:gd name="T49" fmla="*/ 2147483646 h 45"/>
              <a:gd name="T50" fmla="*/ 2147483646 w 32"/>
              <a:gd name="T51" fmla="*/ 2147483646 h 45"/>
              <a:gd name="T52" fmla="*/ 2147483646 w 32"/>
              <a:gd name="T53" fmla="*/ 2147483646 h 45"/>
              <a:gd name="T54" fmla="*/ 2147483646 w 32"/>
              <a:gd name="T55" fmla="*/ 2147483646 h 45"/>
              <a:gd name="T56" fmla="*/ 0 w 32"/>
              <a:gd name="T57" fmla="*/ 2147483646 h 45"/>
              <a:gd name="T58" fmla="*/ 0 w 32"/>
              <a:gd name="T59" fmla="*/ 2147483646 h 45"/>
              <a:gd name="T60" fmla="*/ 0 w 32"/>
              <a:gd name="T61" fmla="*/ 2147483646 h 45"/>
              <a:gd name="T62" fmla="*/ 0 w 32"/>
              <a:gd name="T63" fmla="*/ 2147483646 h 45"/>
              <a:gd name="T64" fmla="*/ 0 w 32"/>
              <a:gd name="T65" fmla="*/ 2147483646 h 45"/>
              <a:gd name="T66" fmla="*/ 2147483646 w 32"/>
              <a:gd name="T67" fmla="*/ 2147483646 h 45"/>
              <a:gd name="T68" fmla="*/ 2147483646 w 32"/>
              <a:gd name="T69" fmla="*/ 2147483646 h 45"/>
              <a:gd name="T70" fmla="*/ 2147483646 w 32"/>
              <a:gd name="T71" fmla="*/ 2147483646 h 45"/>
              <a:gd name="T72" fmla="*/ 2147483646 w 32"/>
              <a:gd name="T73" fmla="*/ 2147483646 h 45"/>
              <a:gd name="T74" fmla="*/ 2147483646 w 32"/>
              <a:gd name="T75" fmla="*/ 2147483646 h 45"/>
              <a:gd name="T76" fmla="*/ 2147483646 w 32"/>
              <a:gd name="T77" fmla="*/ 2147483646 h 45"/>
              <a:gd name="T78" fmla="*/ 2147483646 w 32"/>
              <a:gd name="T79" fmla="*/ 2147483646 h 45"/>
              <a:gd name="T80" fmla="*/ 2147483646 w 32"/>
              <a:gd name="T81" fmla="*/ 2147483646 h 45"/>
              <a:gd name="T82" fmla="*/ 2147483646 w 32"/>
              <a:gd name="T83" fmla="*/ 2147483646 h 45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0" t="0" r="r" b="b"/>
            <a:pathLst>
              <a:path w="32" h="45">
                <a:moveTo>
                  <a:pt x="15" y="45"/>
                </a:moveTo>
                <a:lnTo>
                  <a:pt x="19" y="45"/>
                </a:lnTo>
                <a:lnTo>
                  <a:pt x="21" y="45"/>
                </a:lnTo>
                <a:lnTo>
                  <a:pt x="23" y="42"/>
                </a:lnTo>
                <a:lnTo>
                  <a:pt x="24" y="40"/>
                </a:lnTo>
                <a:lnTo>
                  <a:pt x="26" y="40"/>
                </a:lnTo>
                <a:lnTo>
                  <a:pt x="28" y="37"/>
                </a:lnTo>
                <a:lnTo>
                  <a:pt x="30" y="34"/>
                </a:lnTo>
                <a:lnTo>
                  <a:pt x="30" y="29"/>
                </a:lnTo>
                <a:lnTo>
                  <a:pt x="30" y="26"/>
                </a:lnTo>
                <a:lnTo>
                  <a:pt x="32" y="24"/>
                </a:lnTo>
                <a:lnTo>
                  <a:pt x="30" y="18"/>
                </a:lnTo>
                <a:lnTo>
                  <a:pt x="30" y="16"/>
                </a:lnTo>
                <a:lnTo>
                  <a:pt x="30" y="13"/>
                </a:lnTo>
                <a:lnTo>
                  <a:pt x="28" y="10"/>
                </a:lnTo>
                <a:lnTo>
                  <a:pt x="26" y="8"/>
                </a:lnTo>
                <a:lnTo>
                  <a:pt x="24" y="5"/>
                </a:lnTo>
                <a:lnTo>
                  <a:pt x="23" y="2"/>
                </a:lnTo>
                <a:lnTo>
                  <a:pt x="21" y="2"/>
                </a:lnTo>
                <a:lnTo>
                  <a:pt x="19" y="0"/>
                </a:lnTo>
                <a:lnTo>
                  <a:pt x="15" y="0"/>
                </a:lnTo>
                <a:lnTo>
                  <a:pt x="13" y="0"/>
                </a:lnTo>
                <a:lnTo>
                  <a:pt x="11" y="2"/>
                </a:lnTo>
                <a:lnTo>
                  <a:pt x="7" y="2"/>
                </a:lnTo>
                <a:lnTo>
                  <a:pt x="5" y="5"/>
                </a:lnTo>
                <a:lnTo>
                  <a:pt x="3" y="8"/>
                </a:lnTo>
                <a:lnTo>
                  <a:pt x="1" y="10"/>
                </a:lnTo>
                <a:lnTo>
                  <a:pt x="1" y="13"/>
                </a:lnTo>
                <a:lnTo>
                  <a:pt x="0" y="16"/>
                </a:lnTo>
                <a:lnTo>
                  <a:pt x="0" y="18"/>
                </a:lnTo>
                <a:lnTo>
                  <a:pt x="0" y="24"/>
                </a:lnTo>
                <a:lnTo>
                  <a:pt x="0" y="26"/>
                </a:lnTo>
                <a:lnTo>
                  <a:pt x="0" y="29"/>
                </a:lnTo>
                <a:lnTo>
                  <a:pt x="1" y="34"/>
                </a:lnTo>
                <a:lnTo>
                  <a:pt x="1" y="37"/>
                </a:lnTo>
                <a:lnTo>
                  <a:pt x="3" y="40"/>
                </a:lnTo>
                <a:lnTo>
                  <a:pt x="5" y="40"/>
                </a:lnTo>
                <a:lnTo>
                  <a:pt x="7" y="42"/>
                </a:lnTo>
                <a:lnTo>
                  <a:pt x="11" y="45"/>
                </a:lnTo>
                <a:lnTo>
                  <a:pt x="13" y="45"/>
                </a:lnTo>
                <a:lnTo>
                  <a:pt x="15" y="4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502" name="Freeform 60">
            <a:extLst>
              <a:ext uri="{FF2B5EF4-FFF2-40B4-BE49-F238E27FC236}">
                <a16:creationId xmlns:a16="http://schemas.microsoft.com/office/drawing/2014/main" id="{26B88175-4CCF-2846-BABB-82BECF81514A}"/>
              </a:ext>
            </a:extLst>
          </p:cNvPr>
          <p:cNvSpPr>
            <a:spLocks/>
          </p:cNvSpPr>
          <p:nvPr/>
        </p:nvSpPr>
        <p:spPr bwMode="auto">
          <a:xfrm>
            <a:off x="6411913" y="2184400"/>
            <a:ext cx="82550" cy="93663"/>
          </a:xfrm>
          <a:custGeom>
            <a:avLst/>
            <a:gdLst>
              <a:gd name="T0" fmla="*/ 2147483646 w 32"/>
              <a:gd name="T1" fmla="*/ 2147483646 h 45"/>
              <a:gd name="T2" fmla="*/ 2147483646 w 32"/>
              <a:gd name="T3" fmla="*/ 2147483646 h 45"/>
              <a:gd name="T4" fmla="*/ 2147483646 w 32"/>
              <a:gd name="T5" fmla="*/ 2147483646 h 45"/>
              <a:gd name="T6" fmla="*/ 2147483646 w 32"/>
              <a:gd name="T7" fmla="*/ 2147483646 h 45"/>
              <a:gd name="T8" fmla="*/ 2147483646 w 32"/>
              <a:gd name="T9" fmla="*/ 2147483646 h 45"/>
              <a:gd name="T10" fmla="*/ 2147483646 w 32"/>
              <a:gd name="T11" fmla="*/ 2147483646 h 45"/>
              <a:gd name="T12" fmla="*/ 2147483646 w 32"/>
              <a:gd name="T13" fmla="*/ 2147483646 h 45"/>
              <a:gd name="T14" fmla="*/ 2147483646 w 32"/>
              <a:gd name="T15" fmla="*/ 2147483646 h 45"/>
              <a:gd name="T16" fmla="*/ 2147483646 w 32"/>
              <a:gd name="T17" fmla="*/ 2147483646 h 45"/>
              <a:gd name="T18" fmla="*/ 2147483646 w 32"/>
              <a:gd name="T19" fmla="*/ 2147483646 h 45"/>
              <a:gd name="T20" fmla="*/ 2147483646 w 32"/>
              <a:gd name="T21" fmla="*/ 2147483646 h 45"/>
              <a:gd name="T22" fmla="*/ 2147483646 w 32"/>
              <a:gd name="T23" fmla="*/ 2147483646 h 45"/>
              <a:gd name="T24" fmla="*/ 2147483646 w 32"/>
              <a:gd name="T25" fmla="*/ 2147483646 h 45"/>
              <a:gd name="T26" fmla="*/ 2147483646 w 32"/>
              <a:gd name="T27" fmla="*/ 2147483646 h 45"/>
              <a:gd name="T28" fmla="*/ 2147483646 w 32"/>
              <a:gd name="T29" fmla="*/ 2147483646 h 45"/>
              <a:gd name="T30" fmla="*/ 2147483646 w 32"/>
              <a:gd name="T31" fmla="*/ 2147483646 h 45"/>
              <a:gd name="T32" fmla="*/ 2147483646 w 32"/>
              <a:gd name="T33" fmla="*/ 2147483646 h 45"/>
              <a:gd name="T34" fmla="*/ 2147483646 w 32"/>
              <a:gd name="T35" fmla="*/ 2147483646 h 45"/>
              <a:gd name="T36" fmla="*/ 2147483646 w 32"/>
              <a:gd name="T37" fmla="*/ 2147483646 h 45"/>
              <a:gd name="T38" fmla="*/ 2147483646 w 32"/>
              <a:gd name="T39" fmla="*/ 0 h 45"/>
              <a:gd name="T40" fmla="*/ 2147483646 w 32"/>
              <a:gd name="T41" fmla="*/ 0 h 45"/>
              <a:gd name="T42" fmla="*/ 2147483646 w 32"/>
              <a:gd name="T43" fmla="*/ 0 h 45"/>
              <a:gd name="T44" fmla="*/ 2147483646 w 32"/>
              <a:gd name="T45" fmla="*/ 2147483646 h 45"/>
              <a:gd name="T46" fmla="*/ 2147483646 w 32"/>
              <a:gd name="T47" fmla="*/ 2147483646 h 45"/>
              <a:gd name="T48" fmla="*/ 2147483646 w 32"/>
              <a:gd name="T49" fmla="*/ 2147483646 h 45"/>
              <a:gd name="T50" fmla="*/ 2147483646 w 32"/>
              <a:gd name="T51" fmla="*/ 2147483646 h 45"/>
              <a:gd name="T52" fmla="*/ 2147483646 w 32"/>
              <a:gd name="T53" fmla="*/ 2147483646 h 45"/>
              <a:gd name="T54" fmla="*/ 2147483646 w 32"/>
              <a:gd name="T55" fmla="*/ 2147483646 h 45"/>
              <a:gd name="T56" fmla="*/ 2147483646 w 32"/>
              <a:gd name="T57" fmla="*/ 2147483646 h 45"/>
              <a:gd name="T58" fmla="*/ 0 w 32"/>
              <a:gd name="T59" fmla="*/ 2147483646 h 45"/>
              <a:gd name="T60" fmla="*/ 0 w 32"/>
              <a:gd name="T61" fmla="*/ 2147483646 h 45"/>
              <a:gd name="T62" fmla="*/ 0 w 32"/>
              <a:gd name="T63" fmla="*/ 2147483646 h 45"/>
              <a:gd name="T64" fmla="*/ 2147483646 w 32"/>
              <a:gd name="T65" fmla="*/ 2147483646 h 45"/>
              <a:gd name="T66" fmla="*/ 2147483646 w 32"/>
              <a:gd name="T67" fmla="*/ 2147483646 h 45"/>
              <a:gd name="T68" fmla="*/ 2147483646 w 32"/>
              <a:gd name="T69" fmla="*/ 2147483646 h 45"/>
              <a:gd name="T70" fmla="*/ 2147483646 w 32"/>
              <a:gd name="T71" fmla="*/ 2147483646 h 45"/>
              <a:gd name="T72" fmla="*/ 2147483646 w 32"/>
              <a:gd name="T73" fmla="*/ 2147483646 h 45"/>
              <a:gd name="T74" fmla="*/ 2147483646 w 32"/>
              <a:gd name="T75" fmla="*/ 2147483646 h 45"/>
              <a:gd name="T76" fmla="*/ 2147483646 w 32"/>
              <a:gd name="T77" fmla="*/ 2147483646 h 45"/>
              <a:gd name="T78" fmla="*/ 2147483646 w 32"/>
              <a:gd name="T79" fmla="*/ 2147483646 h 45"/>
              <a:gd name="T80" fmla="*/ 2147483646 w 32"/>
              <a:gd name="T81" fmla="*/ 2147483646 h 45"/>
              <a:gd name="T82" fmla="*/ 2147483646 w 32"/>
              <a:gd name="T83" fmla="*/ 2147483646 h 45"/>
              <a:gd name="T84" fmla="*/ 2147483646 w 32"/>
              <a:gd name="T85" fmla="*/ 2147483646 h 45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0" t="0" r="r" b="b"/>
            <a:pathLst>
              <a:path w="32" h="45">
                <a:moveTo>
                  <a:pt x="15" y="45"/>
                </a:moveTo>
                <a:lnTo>
                  <a:pt x="19" y="45"/>
                </a:lnTo>
                <a:lnTo>
                  <a:pt x="21" y="45"/>
                </a:lnTo>
                <a:lnTo>
                  <a:pt x="23" y="42"/>
                </a:lnTo>
                <a:lnTo>
                  <a:pt x="27" y="40"/>
                </a:lnTo>
                <a:lnTo>
                  <a:pt x="29" y="37"/>
                </a:lnTo>
                <a:lnTo>
                  <a:pt x="30" y="34"/>
                </a:lnTo>
                <a:lnTo>
                  <a:pt x="32" y="29"/>
                </a:lnTo>
                <a:lnTo>
                  <a:pt x="32" y="26"/>
                </a:lnTo>
                <a:lnTo>
                  <a:pt x="32" y="24"/>
                </a:lnTo>
                <a:lnTo>
                  <a:pt x="32" y="18"/>
                </a:lnTo>
                <a:lnTo>
                  <a:pt x="32" y="16"/>
                </a:lnTo>
                <a:lnTo>
                  <a:pt x="30" y="13"/>
                </a:lnTo>
                <a:lnTo>
                  <a:pt x="29" y="10"/>
                </a:lnTo>
                <a:lnTo>
                  <a:pt x="27" y="8"/>
                </a:lnTo>
                <a:lnTo>
                  <a:pt x="27" y="5"/>
                </a:lnTo>
                <a:lnTo>
                  <a:pt x="23" y="2"/>
                </a:lnTo>
                <a:lnTo>
                  <a:pt x="21" y="2"/>
                </a:lnTo>
                <a:lnTo>
                  <a:pt x="19" y="0"/>
                </a:lnTo>
                <a:lnTo>
                  <a:pt x="17" y="0"/>
                </a:lnTo>
                <a:lnTo>
                  <a:pt x="13" y="0"/>
                </a:lnTo>
                <a:lnTo>
                  <a:pt x="11" y="2"/>
                </a:lnTo>
                <a:lnTo>
                  <a:pt x="9" y="2"/>
                </a:lnTo>
                <a:lnTo>
                  <a:pt x="7" y="5"/>
                </a:lnTo>
                <a:lnTo>
                  <a:pt x="6" y="8"/>
                </a:lnTo>
                <a:lnTo>
                  <a:pt x="4" y="10"/>
                </a:lnTo>
                <a:lnTo>
                  <a:pt x="2" y="13"/>
                </a:lnTo>
                <a:lnTo>
                  <a:pt x="2" y="16"/>
                </a:lnTo>
                <a:lnTo>
                  <a:pt x="0" y="18"/>
                </a:lnTo>
                <a:lnTo>
                  <a:pt x="0" y="24"/>
                </a:lnTo>
                <a:lnTo>
                  <a:pt x="0" y="26"/>
                </a:lnTo>
                <a:lnTo>
                  <a:pt x="2" y="29"/>
                </a:lnTo>
                <a:lnTo>
                  <a:pt x="2" y="34"/>
                </a:lnTo>
                <a:lnTo>
                  <a:pt x="4" y="37"/>
                </a:lnTo>
                <a:lnTo>
                  <a:pt x="6" y="40"/>
                </a:lnTo>
                <a:lnTo>
                  <a:pt x="7" y="40"/>
                </a:lnTo>
                <a:lnTo>
                  <a:pt x="9" y="42"/>
                </a:lnTo>
                <a:lnTo>
                  <a:pt x="11" y="45"/>
                </a:lnTo>
                <a:lnTo>
                  <a:pt x="13" y="45"/>
                </a:lnTo>
                <a:lnTo>
                  <a:pt x="17" y="45"/>
                </a:lnTo>
                <a:lnTo>
                  <a:pt x="15" y="4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503" name="Freeform 61">
            <a:extLst>
              <a:ext uri="{FF2B5EF4-FFF2-40B4-BE49-F238E27FC236}">
                <a16:creationId xmlns:a16="http://schemas.microsoft.com/office/drawing/2014/main" id="{D58BBA65-2949-684F-92C9-7D0BD4E5BA15}"/>
              </a:ext>
            </a:extLst>
          </p:cNvPr>
          <p:cNvSpPr>
            <a:spLocks/>
          </p:cNvSpPr>
          <p:nvPr/>
        </p:nvSpPr>
        <p:spPr bwMode="auto">
          <a:xfrm>
            <a:off x="6051550" y="3097213"/>
            <a:ext cx="79375" cy="93662"/>
          </a:xfrm>
          <a:custGeom>
            <a:avLst/>
            <a:gdLst>
              <a:gd name="T0" fmla="*/ 2147483646 w 31"/>
              <a:gd name="T1" fmla="*/ 2147483646 h 45"/>
              <a:gd name="T2" fmla="*/ 2147483646 w 31"/>
              <a:gd name="T3" fmla="*/ 2147483646 h 45"/>
              <a:gd name="T4" fmla="*/ 2147483646 w 31"/>
              <a:gd name="T5" fmla="*/ 2147483646 h 45"/>
              <a:gd name="T6" fmla="*/ 2147483646 w 31"/>
              <a:gd name="T7" fmla="*/ 2147483646 h 45"/>
              <a:gd name="T8" fmla="*/ 2147483646 w 31"/>
              <a:gd name="T9" fmla="*/ 2147483646 h 45"/>
              <a:gd name="T10" fmla="*/ 2147483646 w 31"/>
              <a:gd name="T11" fmla="*/ 2147483646 h 45"/>
              <a:gd name="T12" fmla="*/ 2147483646 w 31"/>
              <a:gd name="T13" fmla="*/ 2147483646 h 45"/>
              <a:gd name="T14" fmla="*/ 2147483646 w 31"/>
              <a:gd name="T15" fmla="*/ 2147483646 h 45"/>
              <a:gd name="T16" fmla="*/ 2147483646 w 31"/>
              <a:gd name="T17" fmla="*/ 2147483646 h 45"/>
              <a:gd name="T18" fmla="*/ 2147483646 w 31"/>
              <a:gd name="T19" fmla="*/ 2147483646 h 45"/>
              <a:gd name="T20" fmla="*/ 2147483646 w 31"/>
              <a:gd name="T21" fmla="*/ 2147483646 h 45"/>
              <a:gd name="T22" fmla="*/ 2147483646 w 31"/>
              <a:gd name="T23" fmla="*/ 2147483646 h 45"/>
              <a:gd name="T24" fmla="*/ 2147483646 w 31"/>
              <a:gd name="T25" fmla="*/ 2147483646 h 45"/>
              <a:gd name="T26" fmla="*/ 2147483646 w 31"/>
              <a:gd name="T27" fmla="*/ 2147483646 h 45"/>
              <a:gd name="T28" fmla="*/ 2147483646 w 31"/>
              <a:gd name="T29" fmla="*/ 2147483646 h 45"/>
              <a:gd name="T30" fmla="*/ 2147483646 w 31"/>
              <a:gd name="T31" fmla="*/ 2147483646 h 45"/>
              <a:gd name="T32" fmla="*/ 2147483646 w 31"/>
              <a:gd name="T33" fmla="*/ 2147483646 h 45"/>
              <a:gd name="T34" fmla="*/ 2147483646 w 31"/>
              <a:gd name="T35" fmla="*/ 2147483646 h 45"/>
              <a:gd name="T36" fmla="*/ 2147483646 w 31"/>
              <a:gd name="T37" fmla="*/ 2147483646 h 45"/>
              <a:gd name="T38" fmla="*/ 2147483646 w 31"/>
              <a:gd name="T39" fmla="*/ 0 h 45"/>
              <a:gd name="T40" fmla="*/ 2147483646 w 31"/>
              <a:gd name="T41" fmla="*/ 0 h 45"/>
              <a:gd name="T42" fmla="*/ 2147483646 w 31"/>
              <a:gd name="T43" fmla="*/ 0 h 45"/>
              <a:gd name="T44" fmla="*/ 2147483646 w 31"/>
              <a:gd name="T45" fmla="*/ 2147483646 h 45"/>
              <a:gd name="T46" fmla="*/ 2147483646 w 31"/>
              <a:gd name="T47" fmla="*/ 2147483646 h 45"/>
              <a:gd name="T48" fmla="*/ 2147483646 w 31"/>
              <a:gd name="T49" fmla="*/ 2147483646 h 45"/>
              <a:gd name="T50" fmla="*/ 2147483646 w 31"/>
              <a:gd name="T51" fmla="*/ 2147483646 h 45"/>
              <a:gd name="T52" fmla="*/ 2147483646 w 31"/>
              <a:gd name="T53" fmla="*/ 2147483646 h 45"/>
              <a:gd name="T54" fmla="*/ 2147483646 w 31"/>
              <a:gd name="T55" fmla="*/ 2147483646 h 45"/>
              <a:gd name="T56" fmla="*/ 0 w 31"/>
              <a:gd name="T57" fmla="*/ 2147483646 h 45"/>
              <a:gd name="T58" fmla="*/ 0 w 31"/>
              <a:gd name="T59" fmla="*/ 2147483646 h 45"/>
              <a:gd name="T60" fmla="*/ 0 w 31"/>
              <a:gd name="T61" fmla="*/ 2147483646 h 45"/>
              <a:gd name="T62" fmla="*/ 0 w 31"/>
              <a:gd name="T63" fmla="*/ 2147483646 h 45"/>
              <a:gd name="T64" fmla="*/ 0 w 31"/>
              <a:gd name="T65" fmla="*/ 2147483646 h 45"/>
              <a:gd name="T66" fmla="*/ 2147483646 w 31"/>
              <a:gd name="T67" fmla="*/ 2147483646 h 45"/>
              <a:gd name="T68" fmla="*/ 2147483646 w 31"/>
              <a:gd name="T69" fmla="*/ 2147483646 h 45"/>
              <a:gd name="T70" fmla="*/ 2147483646 w 31"/>
              <a:gd name="T71" fmla="*/ 2147483646 h 45"/>
              <a:gd name="T72" fmla="*/ 2147483646 w 31"/>
              <a:gd name="T73" fmla="*/ 2147483646 h 45"/>
              <a:gd name="T74" fmla="*/ 2147483646 w 31"/>
              <a:gd name="T75" fmla="*/ 2147483646 h 45"/>
              <a:gd name="T76" fmla="*/ 2147483646 w 31"/>
              <a:gd name="T77" fmla="*/ 2147483646 h 45"/>
              <a:gd name="T78" fmla="*/ 2147483646 w 31"/>
              <a:gd name="T79" fmla="*/ 2147483646 h 45"/>
              <a:gd name="T80" fmla="*/ 2147483646 w 31"/>
              <a:gd name="T81" fmla="*/ 2147483646 h 45"/>
              <a:gd name="T82" fmla="*/ 2147483646 w 31"/>
              <a:gd name="T83" fmla="*/ 2147483646 h 45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0" t="0" r="r" b="b"/>
            <a:pathLst>
              <a:path w="31" h="45">
                <a:moveTo>
                  <a:pt x="15" y="45"/>
                </a:moveTo>
                <a:lnTo>
                  <a:pt x="17" y="45"/>
                </a:lnTo>
                <a:lnTo>
                  <a:pt x="21" y="45"/>
                </a:lnTo>
                <a:lnTo>
                  <a:pt x="23" y="42"/>
                </a:lnTo>
                <a:lnTo>
                  <a:pt x="25" y="40"/>
                </a:lnTo>
                <a:lnTo>
                  <a:pt x="27" y="40"/>
                </a:lnTo>
                <a:lnTo>
                  <a:pt x="29" y="37"/>
                </a:lnTo>
                <a:lnTo>
                  <a:pt x="31" y="34"/>
                </a:lnTo>
                <a:lnTo>
                  <a:pt x="31" y="29"/>
                </a:lnTo>
                <a:lnTo>
                  <a:pt x="31" y="26"/>
                </a:lnTo>
                <a:lnTo>
                  <a:pt x="31" y="24"/>
                </a:lnTo>
                <a:lnTo>
                  <a:pt x="31" y="18"/>
                </a:lnTo>
                <a:lnTo>
                  <a:pt x="31" y="16"/>
                </a:lnTo>
                <a:lnTo>
                  <a:pt x="31" y="13"/>
                </a:lnTo>
                <a:lnTo>
                  <a:pt x="29" y="10"/>
                </a:lnTo>
                <a:lnTo>
                  <a:pt x="27" y="8"/>
                </a:lnTo>
                <a:lnTo>
                  <a:pt x="25" y="5"/>
                </a:lnTo>
                <a:lnTo>
                  <a:pt x="23" y="2"/>
                </a:lnTo>
                <a:lnTo>
                  <a:pt x="21" y="2"/>
                </a:lnTo>
                <a:lnTo>
                  <a:pt x="17" y="0"/>
                </a:lnTo>
                <a:lnTo>
                  <a:pt x="15" y="0"/>
                </a:lnTo>
                <a:lnTo>
                  <a:pt x="13" y="0"/>
                </a:lnTo>
                <a:lnTo>
                  <a:pt x="10" y="2"/>
                </a:lnTo>
                <a:lnTo>
                  <a:pt x="8" y="2"/>
                </a:lnTo>
                <a:lnTo>
                  <a:pt x="6" y="5"/>
                </a:lnTo>
                <a:lnTo>
                  <a:pt x="4" y="8"/>
                </a:lnTo>
                <a:lnTo>
                  <a:pt x="2" y="10"/>
                </a:lnTo>
                <a:lnTo>
                  <a:pt x="2" y="13"/>
                </a:lnTo>
                <a:lnTo>
                  <a:pt x="0" y="16"/>
                </a:lnTo>
                <a:lnTo>
                  <a:pt x="0" y="18"/>
                </a:lnTo>
                <a:lnTo>
                  <a:pt x="0" y="24"/>
                </a:lnTo>
                <a:lnTo>
                  <a:pt x="0" y="26"/>
                </a:lnTo>
                <a:lnTo>
                  <a:pt x="0" y="29"/>
                </a:lnTo>
                <a:lnTo>
                  <a:pt x="2" y="34"/>
                </a:lnTo>
                <a:lnTo>
                  <a:pt x="2" y="37"/>
                </a:lnTo>
                <a:lnTo>
                  <a:pt x="4" y="40"/>
                </a:lnTo>
                <a:lnTo>
                  <a:pt x="6" y="40"/>
                </a:lnTo>
                <a:lnTo>
                  <a:pt x="8" y="42"/>
                </a:lnTo>
                <a:lnTo>
                  <a:pt x="10" y="45"/>
                </a:lnTo>
                <a:lnTo>
                  <a:pt x="13" y="45"/>
                </a:lnTo>
                <a:lnTo>
                  <a:pt x="15" y="4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504" name="Freeform 62">
            <a:extLst>
              <a:ext uri="{FF2B5EF4-FFF2-40B4-BE49-F238E27FC236}">
                <a16:creationId xmlns:a16="http://schemas.microsoft.com/office/drawing/2014/main" id="{F6F83F11-1025-D543-8CB6-906FC7553120}"/>
              </a:ext>
            </a:extLst>
          </p:cNvPr>
          <p:cNvSpPr>
            <a:spLocks/>
          </p:cNvSpPr>
          <p:nvPr/>
        </p:nvSpPr>
        <p:spPr bwMode="auto">
          <a:xfrm>
            <a:off x="5876925" y="3481388"/>
            <a:ext cx="79375" cy="95250"/>
          </a:xfrm>
          <a:custGeom>
            <a:avLst/>
            <a:gdLst>
              <a:gd name="T0" fmla="*/ 2147483646 w 31"/>
              <a:gd name="T1" fmla="*/ 2147483646 h 45"/>
              <a:gd name="T2" fmla="*/ 2147483646 w 31"/>
              <a:gd name="T3" fmla="*/ 2147483646 h 45"/>
              <a:gd name="T4" fmla="*/ 2147483646 w 31"/>
              <a:gd name="T5" fmla="*/ 2147483646 h 45"/>
              <a:gd name="T6" fmla="*/ 2147483646 w 31"/>
              <a:gd name="T7" fmla="*/ 2147483646 h 45"/>
              <a:gd name="T8" fmla="*/ 2147483646 w 31"/>
              <a:gd name="T9" fmla="*/ 2147483646 h 45"/>
              <a:gd name="T10" fmla="*/ 2147483646 w 31"/>
              <a:gd name="T11" fmla="*/ 2147483646 h 45"/>
              <a:gd name="T12" fmla="*/ 2147483646 w 31"/>
              <a:gd name="T13" fmla="*/ 2147483646 h 45"/>
              <a:gd name="T14" fmla="*/ 2147483646 w 31"/>
              <a:gd name="T15" fmla="*/ 2147483646 h 45"/>
              <a:gd name="T16" fmla="*/ 2147483646 w 31"/>
              <a:gd name="T17" fmla="*/ 2147483646 h 45"/>
              <a:gd name="T18" fmla="*/ 2147483646 w 31"/>
              <a:gd name="T19" fmla="*/ 2147483646 h 45"/>
              <a:gd name="T20" fmla="*/ 2147483646 w 31"/>
              <a:gd name="T21" fmla="*/ 2147483646 h 45"/>
              <a:gd name="T22" fmla="*/ 2147483646 w 31"/>
              <a:gd name="T23" fmla="*/ 2147483646 h 45"/>
              <a:gd name="T24" fmla="*/ 2147483646 w 31"/>
              <a:gd name="T25" fmla="*/ 2147483646 h 45"/>
              <a:gd name="T26" fmla="*/ 2147483646 w 31"/>
              <a:gd name="T27" fmla="*/ 2147483646 h 45"/>
              <a:gd name="T28" fmla="*/ 2147483646 w 31"/>
              <a:gd name="T29" fmla="*/ 2147483646 h 45"/>
              <a:gd name="T30" fmla="*/ 2147483646 w 31"/>
              <a:gd name="T31" fmla="*/ 2147483646 h 45"/>
              <a:gd name="T32" fmla="*/ 2147483646 w 31"/>
              <a:gd name="T33" fmla="*/ 2147483646 h 45"/>
              <a:gd name="T34" fmla="*/ 2147483646 w 31"/>
              <a:gd name="T35" fmla="*/ 2147483646 h 45"/>
              <a:gd name="T36" fmla="*/ 2147483646 w 31"/>
              <a:gd name="T37" fmla="*/ 2147483646 h 45"/>
              <a:gd name="T38" fmla="*/ 2147483646 w 31"/>
              <a:gd name="T39" fmla="*/ 0 h 45"/>
              <a:gd name="T40" fmla="*/ 2147483646 w 31"/>
              <a:gd name="T41" fmla="*/ 0 h 45"/>
              <a:gd name="T42" fmla="*/ 2147483646 w 31"/>
              <a:gd name="T43" fmla="*/ 0 h 45"/>
              <a:gd name="T44" fmla="*/ 2147483646 w 31"/>
              <a:gd name="T45" fmla="*/ 2147483646 h 45"/>
              <a:gd name="T46" fmla="*/ 2147483646 w 31"/>
              <a:gd name="T47" fmla="*/ 2147483646 h 45"/>
              <a:gd name="T48" fmla="*/ 2147483646 w 31"/>
              <a:gd name="T49" fmla="*/ 2147483646 h 45"/>
              <a:gd name="T50" fmla="*/ 2147483646 w 31"/>
              <a:gd name="T51" fmla="*/ 2147483646 h 45"/>
              <a:gd name="T52" fmla="*/ 2147483646 w 31"/>
              <a:gd name="T53" fmla="*/ 2147483646 h 45"/>
              <a:gd name="T54" fmla="*/ 2147483646 w 31"/>
              <a:gd name="T55" fmla="*/ 2147483646 h 45"/>
              <a:gd name="T56" fmla="*/ 0 w 31"/>
              <a:gd name="T57" fmla="*/ 2147483646 h 45"/>
              <a:gd name="T58" fmla="*/ 0 w 31"/>
              <a:gd name="T59" fmla="*/ 2147483646 h 45"/>
              <a:gd name="T60" fmla="*/ 0 w 31"/>
              <a:gd name="T61" fmla="*/ 2147483646 h 45"/>
              <a:gd name="T62" fmla="*/ 0 w 31"/>
              <a:gd name="T63" fmla="*/ 2147483646 h 45"/>
              <a:gd name="T64" fmla="*/ 0 w 31"/>
              <a:gd name="T65" fmla="*/ 2147483646 h 45"/>
              <a:gd name="T66" fmla="*/ 2147483646 w 31"/>
              <a:gd name="T67" fmla="*/ 2147483646 h 45"/>
              <a:gd name="T68" fmla="*/ 2147483646 w 31"/>
              <a:gd name="T69" fmla="*/ 2147483646 h 45"/>
              <a:gd name="T70" fmla="*/ 2147483646 w 31"/>
              <a:gd name="T71" fmla="*/ 2147483646 h 45"/>
              <a:gd name="T72" fmla="*/ 2147483646 w 31"/>
              <a:gd name="T73" fmla="*/ 2147483646 h 45"/>
              <a:gd name="T74" fmla="*/ 2147483646 w 31"/>
              <a:gd name="T75" fmla="*/ 2147483646 h 45"/>
              <a:gd name="T76" fmla="*/ 2147483646 w 31"/>
              <a:gd name="T77" fmla="*/ 2147483646 h 45"/>
              <a:gd name="T78" fmla="*/ 2147483646 w 31"/>
              <a:gd name="T79" fmla="*/ 2147483646 h 45"/>
              <a:gd name="T80" fmla="*/ 2147483646 w 31"/>
              <a:gd name="T81" fmla="*/ 2147483646 h 45"/>
              <a:gd name="T82" fmla="*/ 2147483646 w 31"/>
              <a:gd name="T83" fmla="*/ 2147483646 h 45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0" t="0" r="r" b="b"/>
            <a:pathLst>
              <a:path w="31" h="45">
                <a:moveTo>
                  <a:pt x="16" y="45"/>
                </a:moveTo>
                <a:lnTo>
                  <a:pt x="18" y="45"/>
                </a:lnTo>
                <a:lnTo>
                  <a:pt x="21" y="45"/>
                </a:lnTo>
                <a:lnTo>
                  <a:pt x="23" y="42"/>
                </a:lnTo>
                <a:lnTo>
                  <a:pt x="25" y="40"/>
                </a:lnTo>
                <a:lnTo>
                  <a:pt x="27" y="40"/>
                </a:lnTo>
                <a:lnTo>
                  <a:pt x="29" y="37"/>
                </a:lnTo>
                <a:lnTo>
                  <a:pt x="31" y="34"/>
                </a:lnTo>
                <a:lnTo>
                  <a:pt x="31" y="29"/>
                </a:lnTo>
                <a:lnTo>
                  <a:pt x="31" y="26"/>
                </a:lnTo>
                <a:lnTo>
                  <a:pt x="31" y="24"/>
                </a:lnTo>
                <a:lnTo>
                  <a:pt x="31" y="18"/>
                </a:lnTo>
                <a:lnTo>
                  <a:pt x="31" y="16"/>
                </a:lnTo>
                <a:lnTo>
                  <a:pt x="31" y="13"/>
                </a:lnTo>
                <a:lnTo>
                  <a:pt x="29" y="10"/>
                </a:lnTo>
                <a:lnTo>
                  <a:pt x="27" y="8"/>
                </a:lnTo>
                <a:lnTo>
                  <a:pt x="25" y="5"/>
                </a:lnTo>
                <a:lnTo>
                  <a:pt x="23" y="2"/>
                </a:lnTo>
                <a:lnTo>
                  <a:pt x="21" y="2"/>
                </a:lnTo>
                <a:lnTo>
                  <a:pt x="18" y="0"/>
                </a:lnTo>
                <a:lnTo>
                  <a:pt x="16" y="0"/>
                </a:lnTo>
                <a:lnTo>
                  <a:pt x="14" y="0"/>
                </a:lnTo>
                <a:lnTo>
                  <a:pt x="10" y="2"/>
                </a:lnTo>
                <a:lnTo>
                  <a:pt x="8" y="2"/>
                </a:lnTo>
                <a:lnTo>
                  <a:pt x="6" y="5"/>
                </a:lnTo>
                <a:lnTo>
                  <a:pt x="4" y="8"/>
                </a:lnTo>
                <a:lnTo>
                  <a:pt x="2" y="10"/>
                </a:lnTo>
                <a:lnTo>
                  <a:pt x="2" y="13"/>
                </a:lnTo>
                <a:lnTo>
                  <a:pt x="0" y="16"/>
                </a:lnTo>
                <a:lnTo>
                  <a:pt x="0" y="18"/>
                </a:lnTo>
                <a:lnTo>
                  <a:pt x="0" y="24"/>
                </a:lnTo>
                <a:lnTo>
                  <a:pt x="0" y="26"/>
                </a:lnTo>
                <a:lnTo>
                  <a:pt x="0" y="29"/>
                </a:lnTo>
                <a:lnTo>
                  <a:pt x="2" y="34"/>
                </a:lnTo>
                <a:lnTo>
                  <a:pt x="2" y="37"/>
                </a:lnTo>
                <a:lnTo>
                  <a:pt x="4" y="40"/>
                </a:lnTo>
                <a:lnTo>
                  <a:pt x="6" y="40"/>
                </a:lnTo>
                <a:lnTo>
                  <a:pt x="8" y="42"/>
                </a:lnTo>
                <a:lnTo>
                  <a:pt x="10" y="45"/>
                </a:lnTo>
                <a:lnTo>
                  <a:pt x="14" y="45"/>
                </a:lnTo>
                <a:lnTo>
                  <a:pt x="16" y="4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505" name="Freeform 63">
            <a:extLst>
              <a:ext uri="{FF2B5EF4-FFF2-40B4-BE49-F238E27FC236}">
                <a16:creationId xmlns:a16="http://schemas.microsoft.com/office/drawing/2014/main" id="{24C55AB4-9DBD-564D-9CA7-8439C4A166FA}"/>
              </a:ext>
            </a:extLst>
          </p:cNvPr>
          <p:cNvSpPr>
            <a:spLocks/>
          </p:cNvSpPr>
          <p:nvPr/>
        </p:nvSpPr>
        <p:spPr bwMode="auto">
          <a:xfrm>
            <a:off x="6888163" y="1428750"/>
            <a:ext cx="365125" cy="2409825"/>
          </a:xfrm>
          <a:custGeom>
            <a:avLst/>
            <a:gdLst>
              <a:gd name="T0" fmla="*/ 0 w 146"/>
              <a:gd name="T1" fmla="*/ 2147483646 h 804"/>
              <a:gd name="T2" fmla="*/ 2147483646 w 146"/>
              <a:gd name="T3" fmla="*/ 2147483646 h 804"/>
              <a:gd name="T4" fmla="*/ 2147483646 w 146"/>
              <a:gd name="T5" fmla="*/ 2147483646 h 804"/>
              <a:gd name="T6" fmla="*/ 2147483646 w 146"/>
              <a:gd name="T7" fmla="*/ 2147483646 h 804"/>
              <a:gd name="T8" fmla="*/ 2147483646 w 146"/>
              <a:gd name="T9" fmla="*/ 2147483646 h 804"/>
              <a:gd name="T10" fmla="*/ 2147483646 w 146"/>
              <a:gd name="T11" fmla="*/ 2147483646 h 804"/>
              <a:gd name="T12" fmla="*/ 2147483646 w 146"/>
              <a:gd name="T13" fmla="*/ 2147483646 h 804"/>
              <a:gd name="T14" fmla="*/ 2147483646 w 146"/>
              <a:gd name="T15" fmla="*/ 2147483646 h 804"/>
              <a:gd name="T16" fmla="*/ 2147483646 w 146"/>
              <a:gd name="T17" fmla="*/ 2147483646 h 804"/>
              <a:gd name="T18" fmla="*/ 2147483646 w 146"/>
              <a:gd name="T19" fmla="*/ 0 h 804"/>
              <a:gd name="T20" fmla="*/ 2147483646 w 146"/>
              <a:gd name="T21" fmla="*/ 0 h 804"/>
              <a:gd name="T22" fmla="*/ 2147483646 w 146"/>
              <a:gd name="T23" fmla="*/ 0 h 804"/>
              <a:gd name="T24" fmla="*/ 2147483646 w 146"/>
              <a:gd name="T25" fmla="*/ 2147483646 h 804"/>
              <a:gd name="T26" fmla="*/ 2147483646 w 146"/>
              <a:gd name="T27" fmla="*/ 2147483646 h 804"/>
              <a:gd name="T28" fmla="*/ 2147483646 w 146"/>
              <a:gd name="T29" fmla="*/ 2147483646 h 804"/>
              <a:gd name="T30" fmla="*/ 2147483646 w 146"/>
              <a:gd name="T31" fmla="*/ 2147483646 h 804"/>
              <a:gd name="T32" fmla="*/ 2147483646 w 146"/>
              <a:gd name="T33" fmla="*/ 2147483646 h 804"/>
              <a:gd name="T34" fmla="*/ 2147483646 w 146"/>
              <a:gd name="T35" fmla="*/ 2147483646 h 804"/>
              <a:gd name="T36" fmla="*/ 2147483646 w 146"/>
              <a:gd name="T37" fmla="*/ 2147483646 h 804"/>
              <a:gd name="T38" fmla="*/ 2147483646 w 146"/>
              <a:gd name="T39" fmla="*/ 2147483646 h 804"/>
              <a:gd name="T40" fmla="*/ 2147483646 w 146"/>
              <a:gd name="T41" fmla="*/ 2147483646 h 804"/>
              <a:gd name="T42" fmla="*/ 2147483646 w 146"/>
              <a:gd name="T43" fmla="*/ 2147483646 h 804"/>
              <a:gd name="T44" fmla="*/ 2147483646 w 146"/>
              <a:gd name="T45" fmla="*/ 2147483646 h 804"/>
              <a:gd name="T46" fmla="*/ 2147483646 w 146"/>
              <a:gd name="T47" fmla="*/ 2147483646 h 804"/>
              <a:gd name="T48" fmla="*/ 2147483646 w 146"/>
              <a:gd name="T49" fmla="*/ 2147483646 h 804"/>
              <a:gd name="T50" fmla="*/ 2147483646 w 146"/>
              <a:gd name="T51" fmla="*/ 2147483646 h 804"/>
              <a:gd name="T52" fmla="*/ 2147483646 w 146"/>
              <a:gd name="T53" fmla="*/ 2147483646 h 804"/>
              <a:gd name="T54" fmla="*/ 2147483646 w 146"/>
              <a:gd name="T55" fmla="*/ 2147483646 h 804"/>
              <a:gd name="T56" fmla="*/ 2147483646 w 146"/>
              <a:gd name="T57" fmla="*/ 2147483646 h 804"/>
              <a:gd name="T58" fmla="*/ 2147483646 w 146"/>
              <a:gd name="T59" fmla="*/ 2147483646 h 804"/>
              <a:gd name="T60" fmla="*/ 2147483646 w 146"/>
              <a:gd name="T61" fmla="*/ 2147483646 h 804"/>
              <a:gd name="T62" fmla="*/ 2147483646 w 146"/>
              <a:gd name="T63" fmla="*/ 2147483646 h 804"/>
              <a:gd name="T64" fmla="*/ 2147483646 w 146"/>
              <a:gd name="T65" fmla="*/ 2147483646 h 804"/>
              <a:gd name="T66" fmla="*/ 2147483646 w 146"/>
              <a:gd name="T67" fmla="*/ 2147483646 h 804"/>
              <a:gd name="T68" fmla="*/ 2147483646 w 146"/>
              <a:gd name="T69" fmla="*/ 2147483646 h 804"/>
              <a:gd name="T70" fmla="*/ 2147483646 w 146"/>
              <a:gd name="T71" fmla="*/ 2147483646 h 804"/>
              <a:gd name="T72" fmla="*/ 2147483646 w 146"/>
              <a:gd name="T73" fmla="*/ 2147483646 h 804"/>
              <a:gd name="T74" fmla="*/ 2147483646 w 146"/>
              <a:gd name="T75" fmla="*/ 2147483646 h 804"/>
              <a:gd name="T76" fmla="*/ 2147483646 w 146"/>
              <a:gd name="T77" fmla="*/ 2147483646 h 804"/>
              <a:gd name="T78" fmla="*/ 2147483646 w 146"/>
              <a:gd name="T79" fmla="*/ 2147483646 h 804"/>
              <a:gd name="T80" fmla="*/ 2147483646 w 146"/>
              <a:gd name="T81" fmla="*/ 2147483646 h 804"/>
              <a:gd name="T82" fmla="*/ 2147483646 w 146"/>
              <a:gd name="T83" fmla="*/ 2147483646 h 804"/>
              <a:gd name="T84" fmla="*/ 2147483646 w 146"/>
              <a:gd name="T85" fmla="*/ 2147483646 h 804"/>
              <a:gd name="T86" fmla="*/ 2147483646 w 146"/>
              <a:gd name="T87" fmla="*/ 2147483646 h 804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146" h="804">
                <a:moveTo>
                  <a:pt x="0" y="99"/>
                </a:moveTo>
                <a:lnTo>
                  <a:pt x="2" y="83"/>
                </a:lnTo>
                <a:lnTo>
                  <a:pt x="6" y="67"/>
                </a:lnTo>
                <a:lnTo>
                  <a:pt x="10" y="53"/>
                </a:lnTo>
                <a:lnTo>
                  <a:pt x="15" y="40"/>
                </a:lnTo>
                <a:lnTo>
                  <a:pt x="23" y="29"/>
                </a:lnTo>
                <a:lnTo>
                  <a:pt x="31" y="18"/>
                </a:lnTo>
                <a:lnTo>
                  <a:pt x="40" y="10"/>
                </a:lnTo>
                <a:lnTo>
                  <a:pt x="50" y="5"/>
                </a:lnTo>
                <a:lnTo>
                  <a:pt x="61" y="0"/>
                </a:lnTo>
                <a:lnTo>
                  <a:pt x="73" y="0"/>
                </a:lnTo>
                <a:lnTo>
                  <a:pt x="84" y="0"/>
                </a:lnTo>
                <a:lnTo>
                  <a:pt x="96" y="5"/>
                </a:lnTo>
                <a:lnTo>
                  <a:pt x="107" y="10"/>
                </a:lnTo>
                <a:lnTo>
                  <a:pt x="115" y="18"/>
                </a:lnTo>
                <a:lnTo>
                  <a:pt x="125" y="29"/>
                </a:lnTo>
                <a:lnTo>
                  <a:pt x="132" y="40"/>
                </a:lnTo>
                <a:lnTo>
                  <a:pt x="138" y="53"/>
                </a:lnTo>
                <a:lnTo>
                  <a:pt x="142" y="67"/>
                </a:lnTo>
                <a:lnTo>
                  <a:pt x="144" y="83"/>
                </a:lnTo>
                <a:lnTo>
                  <a:pt x="146" y="99"/>
                </a:lnTo>
                <a:lnTo>
                  <a:pt x="146" y="702"/>
                </a:lnTo>
                <a:lnTo>
                  <a:pt x="144" y="718"/>
                </a:lnTo>
                <a:lnTo>
                  <a:pt x="142" y="734"/>
                </a:lnTo>
                <a:lnTo>
                  <a:pt x="138" y="747"/>
                </a:lnTo>
                <a:lnTo>
                  <a:pt x="132" y="761"/>
                </a:lnTo>
                <a:lnTo>
                  <a:pt x="125" y="774"/>
                </a:lnTo>
                <a:lnTo>
                  <a:pt x="115" y="785"/>
                </a:lnTo>
                <a:lnTo>
                  <a:pt x="107" y="793"/>
                </a:lnTo>
                <a:lnTo>
                  <a:pt x="96" y="798"/>
                </a:lnTo>
                <a:lnTo>
                  <a:pt x="84" y="801"/>
                </a:lnTo>
                <a:lnTo>
                  <a:pt x="73" y="804"/>
                </a:lnTo>
                <a:lnTo>
                  <a:pt x="61" y="801"/>
                </a:lnTo>
                <a:lnTo>
                  <a:pt x="50" y="798"/>
                </a:lnTo>
                <a:lnTo>
                  <a:pt x="40" y="793"/>
                </a:lnTo>
                <a:lnTo>
                  <a:pt x="31" y="785"/>
                </a:lnTo>
                <a:lnTo>
                  <a:pt x="23" y="774"/>
                </a:lnTo>
                <a:lnTo>
                  <a:pt x="15" y="761"/>
                </a:lnTo>
                <a:lnTo>
                  <a:pt x="10" y="747"/>
                </a:lnTo>
                <a:lnTo>
                  <a:pt x="6" y="734"/>
                </a:lnTo>
                <a:lnTo>
                  <a:pt x="2" y="718"/>
                </a:lnTo>
                <a:lnTo>
                  <a:pt x="2" y="702"/>
                </a:lnTo>
                <a:lnTo>
                  <a:pt x="2" y="99"/>
                </a:lnTo>
              </a:path>
            </a:pathLst>
          </a:cu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506" name="Freeform 64">
            <a:extLst>
              <a:ext uri="{FF2B5EF4-FFF2-40B4-BE49-F238E27FC236}">
                <a16:creationId xmlns:a16="http://schemas.microsoft.com/office/drawing/2014/main" id="{1AB2543C-14C0-D840-BD29-AA00776A55AE}"/>
              </a:ext>
            </a:extLst>
          </p:cNvPr>
          <p:cNvSpPr>
            <a:spLocks/>
          </p:cNvSpPr>
          <p:nvPr/>
        </p:nvSpPr>
        <p:spPr bwMode="auto">
          <a:xfrm>
            <a:off x="6888163" y="4040188"/>
            <a:ext cx="365125" cy="2411412"/>
          </a:xfrm>
          <a:custGeom>
            <a:avLst/>
            <a:gdLst>
              <a:gd name="T0" fmla="*/ 0 w 146"/>
              <a:gd name="T1" fmla="*/ 2147483646 h 804"/>
              <a:gd name="T2" fmla="*/ 2147483646 w 146"/>
              <a:gd name="T3" fmla="*/ 2147483646 h 804"/>
              <a:gd name="T4" fmla="*/ 2147483646 w 146"/>
              <a:gd name="T5" fmla="*/ 2147483646 h 804"/>
              <a:gd name="T6" fmla="*/ 2147483646 w 146"/>
              <a:gd name="T7" fmla="*/ 2147483646 h 804"/>
              <a:gd name="T8" fmla="*/ 2147483646 w 146"/>
              <a:gd name="T9" fmla="*/ 2147483646 h 804"/>
              <a:gd name="T10" fmla="*/ 2147483646 w 146"/>
              <a:gd name="T11" fmla="*/ 2147483646 h 804"/>
              <a:gd name="T12" fmla="*/ 2147483646 w 146"/>
              <a:gd name="T13" fmla="*/ 2147483646 h 804"/>
              <a:gd name="T14" fmla="*/ 2147483646 w 146"/>
              <a:gd name="T15" fmla="*/ 2147483646 h 804"/>
              <a:gd name="T16" fmla="*/ 2147483646 w 146"/>
              <a:gd name="T17" fmla="*/ 2147483646 h 804"/>
              <a:gd name="T18" fmla="*/ 2147483646 w 146"/>
              <a:gd name="T19" fmla="*/ 0 h 804"/>
              <a:gd name="T20" fmla="*/ 2147483646 w 146"/>
              <a:gd name="T21" fmla="*/ 0 h 804"/>
              <a:gd name="T22" fmla="*/ 2147483646 w 146"/>
              <a:gd name="T23" fmla="*/ 0 h 804"/>
              <a:gd name="T24" fmla="*/ 2147483646 w 146"/>
              <a:gd name="T25" fmla="*/ 2147483646 h 804"/>
              <a:gd name="T26" fmla="*/ 2147483646 w 146"/>
              <a:gd name="T27" fmla="*/ 2147483646 h 804"/>
              <a:gd name="T28" fmla="*/ 2147483646 w 146"/>
              <a:gd name="T29" fmla="*/ 2147483646 h 804"/>
              <a:gd name="T30" fmla="*/ 2147483646 w 146"/>
              <a:gd name="T31" fmla="*/ 2147483646 h 804"/>
              <a:gd name="T32" fmla="*/ 2147483646 w 146"/>
              <a:gd name="T33" fmla="*/ 2147483646 h 804"/>
              <a:gd name="T34" fmla="*/ 2147483646 w 146"/>
              <a:gd name="T35" fmla="*/ 2147483646 h 804"/>
              <a:gd name="T36" fmla="*/ 2147483646 w 146"/>
              <a:gd name="T37" fmla="*/ 2147483646 h 804"/>
              <a:gd name="T38" fmla="*/ 2147483646 w 146"/>
              <a:gd name="T39" fmla="*/ 2147483646 h 804"/>
              <a:gd name="T40" fmla="*/ 2147483646 w 146"/>
              <a:gd name="T41" fmla="*/ 2147483646 h 804"/>
              <a:gd name="T42" fmla="*/ 2147483646 w 146"/>
              <a:gd name="T43" fmla="*/ 2147483646 h 804"/>
              <a:gd name="T44" fmla="*/ 2147483646 w 146"/>
              <a:gd name="T45" fmla="*/ 2147483646 h 804"/>
              <a:gd name="T46" fmla="*/ 2147483646 w 146"/>
              <a:gd name="T47" fmla="*/ 2147483646 h 804"/>
              <a:gd name="T48" fmla="*/ 2147483646 w 146"/>
              <a:gd name="T49" fmla="*/ 2147483646 h 804"/>
              <a:gd name="T50" fmla="*/ 2147483646 w 146"/>
              <a:gd name="T51" fmla="*/ 2147483646 h 804"/>
              <a:gd name="T52" fmla="*/ 2147483646 w 146"/>
              <a:gd name="T53" fmla="*/ 2147483646 h 804"/>
              <a:gd name="T54" fmla="*/ 2147483646 w 146"/>
              <a:gd name="T55" fmla="*/ 2147483646 h 804"/>
              <a:gd name="T56" fmla="*/ 2147483646 w 146"/>
              <a:gd name="T57" fmla="*/ 2147483646 h 804"/>
              <a:gd name="T58" fmla="*/ 2147483646 w 146"/>
              <a:gd name="T59" fmla="*/ 2147483646 h 804"/>
              <a:gd name="T60" fmla="*/ 2147483646 w 146"/>
              <a:gd name="T61" fmla="*/ 2147483646 h 804"/>
              <a:gd name="T62" fmla="*/ 2147483646 w 146"/>
              <a:gd name="T63" fmla="*/ 2147483646 h 804"/>
              <a:gd name="T64" fmla="*/ 2147483646 w 146"/>
              <a:gd name="T65" fmla="*/ 2147483646 h 804"/>
              <a:gd name="T66" fmla="*/ 2147483646 w 146"/>
              <a:gd name="T67" fmla="*/ 2147483646 h 804"/>
              <a:gd name="T68" fmla="*/ 2147483646 w 146"/>
              <a:gd name="T69" fmla="*/ 2147483646 h 804"/>
              <a:gd name="T70" fmla="*/ 2147483646 w 146"/>
              <a:gd name="T71" fmla="*/ 2147483646 h 804"/>
              <a:gd name="T72" fmla="*/ 2147483646 w 146"/>
              <a:gd name="T73" fmla="*/ 2147483646 h 804"/>
              <a:gd name="T74" fmla="*/ 2147483646 w 146"/>
              <a:gd name="T75" fmla="*/ 2147483646 h 804"/>
              <a:gd name="T76" fmla="*/ 2147483646 w 146"/>
              <a:gd name="T77" fmla="*/ 2147483646 h 804"/>
              <a:gd name="T78" fmla="*/ 2147483646 w 146"/>
              <a:gd name="T79" fmla="*/ 2147483646 h 804"/>
              <a:gd name="T80" fmla="*/ 2147483646 w 146"/>
              <a:gd name="T81" fmla="*/ 2147483646 h 804"/>
              <a:gd name="T82" fmla="*/ 2147483646 w 146"/>
              <a:gd name="T83" fmla="*/ 2147483646 h 804"/>
              <a:gd name="T84" fmla="*/ 2147483646 w 146"/>
              <a:gd name="T85" fmla="*/ 2147483646 h 804"/>
              <a:gd name="T86" fmla="*/ 2147483646 w 146"/>
              <a:gd name="T87" fmla="*/ 2147483646 h 804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146" h="804">
                <a:moveTo>
                  <a:pt x="0" y="99"/>
                </a:moveTo>
                <a:lnTo>
                  <a:pt x="2" y="83"/>
                </a:lnTo>
                <a:lnTo>
                  <a:pt x="6" y="67"/>
                </a:lnTo>
                <a:lnTo>
                  <a:pt x="10" y="53"/>
                </a:lnTo>
                <a:lnTo>
                  <a:pt x="15" y="40"/>
                </a:lnTo>
                <a:lnTo>
                  <a:pt x="23" y="29"/>
                </a:lnTo>
                <a:lnTo>
                  <a:pt x="31" y="18"/>
                </a:lnTo>
                <a:lnTo>
                  <a:pt x="40" y="10"/>
                </a:lnTo>
                <a:lnTo>
                  <a:pt x="50" y="5"/>
                </a:lnTo>
                <a:lnTo>
                  <a:pt x="61" y="0"/>
                </a:lnTo>
                <a:lnTo>
                  <a:pt x="73" y="0"/>
                </a:lnTo>
                <a:lnTo>
                  <a:pt x="84" y="0"/>
                </a:lnTo>
                <a:lnTo>
                  <a:pt x="96" y="5"/>
                </a:lnTo>
                <a:lnTo>
                  <a:pt x="107" y="10"/>
                </a:lnTo>
                <a:lnTo>
                  <a:pt x="115" y="18"/>
                </a:lnTo>
                <a:lnTo>
                  <a:pt x="125" y="29"/>
                </a:lnTo>
                <a:lnTo>
                  <a:pt x="132" y="40"/>
                </a:lnTo>
                <a:lnTo>
                  <a:pt x="138" y="53"/>
                </a:lnTo>
                <a:lnTo>
                  <a:pt x="142" y="67"/>
                </a:lnTo>
                <a:lnTo>
                  <a:pt x="144" y="83"/>
                </a:lnTo>
                <a:lnTo>
                  <a:pt x="146" y="99"/>
                </a:lnTo>
                <a:lnTo>
                  <a:pt x="146" y="702"/>
                </a:lnTo>
                <a:lnTo>
                  <a:pt x="144" y="718"/>
                </a:lnTo>
                <a:lnTo>
                  <a:pt x="142" y="734"/>
                </a:lnTo>
                <a:lnTo>
                  <a:pt x="138" y="747"/>
                </a:lnTo>
                <a:lnTo>
                  <a:pt x="132" y="761"/>
                </a:lnTo>
                <a:lnTo>
                  <a:pt x="125" y="774"/>
                </a:lnTo>
                <a:lnTo>
                  <a:pt x="115" y="785"/>
                </a:lnTo>
                <a:lnTo>
                  <a:pt x="107" y="793"/>
                </a:lnTo>
                <a:lnTo>
                  <a:pt x="96" y="798"/>
                </a:lnTo>
                <a:lnTo>
                  <a:pt x="84" y="801"/>
                </a:lnTo>
                <a:lnTo>
                  <a:pt x="73" y="804"/>
                </a:lnTo>
                <a:lnTo>
                  <a:pt x="61" y="801"/>
                </a:lnTo>
                <a:lnTo>
                  <a:pt x="50" y="798"/>
                </a:lnTo>
                <a:lnTo>
                  <a:pt x="40" y="793"/>
                </a:lnTo>
                <a:lnTo>
                  <a:pt x="31" y="785"/>
                </a:lnTo>
                <a:lnTo>
                  <a:pt x="23" y="774"/>
                </a:lnTo>
                <a:lnTo>
                  <a:pt x="15" y="761"/>
                </a:lnTo>
                <a:lnTo>
                  <a:pt x="10" y="747"/>
                </a:lnTo>
                <a:lnTo>
                  <a:pt x="6" y="734"/>
                </a:lnTo>
                <a:lnTo>
                  <a:pt x="2" y="718"/>
                </a:lnTo>
                <a:lnTo>
                  <a:pt x="2" y="702"/>
                </a:lnTo>
                <a:lnTo>
                  <a:pt x="2" y="99"/>
                </a:lnTo>
              </a:path>
            </a:pathLst>
          </a:cu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507" name="Line 65">
            <a:extLst>
              <a:ext uri="{FF2B5EF4-FFF2-40B4-BE49-F238E27FC236}">
                <a16:creationId xmlns:a16="http://schemas.microsoft.com/office/drawing/2014/main" id="{216DDCFD-C506-644A-BACC-83146A8C8D07}"/>
              </a:ext>
            </a:extLst>
          </p:cNvPr>
          <p:cNvSpPr>
            <a:spLocks noChangeShapeType="1"/>
          </p:cNvSpPr>
          <p:nvPr/>
        </p:nvSpPr>
        <p:spPr bwMode="auto">
          <a:xfrm>
            <a:off x="5824538" y="1728788"/>
            <a:ext cx="10636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508" name="Line 66">
            <a:extLst>
              <a:ext uri="{FF2B5EF4-FFF2-40B4-BE49-F238E27FC236}">
                <a16:creationId xmlns:a16="http://schemas.microsoft.com/office/drawing/2014/main" id="{35DE3B41-F71F-EA4E-868D-FC132C9B538B}"/>
              </a:ext>
            </a:extLst>
          </p:cNvPr>
          <p:cNvSpPr>
            <a:spLocks noChangeShapeType="1"/>
          </p:cNvSpPr>
          <p:nvPr/>
        </p:nvSpPr>
        <p:spPr bwMode="auto">
          <a:xfrm>
            <a:off x="5824538" y="2230438"/>
            <a:ext cx="1041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509" name="Line 67">
            <a:extLst>
              <a:ext uri="{FF2B5EF4-FFF2-40B4-BE49-F238E27FC236}">
                <a16:creationId xmlns:a16="http://schemas.microsoft.com/office/drawing/2014/main" id="{ABA56ABB-7B14-1F4A-9182-E08237E57697}"/>
              </a:ext>
            </a:extLst>
          </p:cNvPr>
          <p:cNvSpPr>
            <a:spLocks noChangeShapeType="1"/>
          </p:cNvSpPr>
          <p:nvPr/>
        </p:nvSpPr>
        <p:spPr bwMode="auto">
          <a:xfrm>
            <a:off x="5824538" y="3136900"/>
            <a:ext cx="1041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510" name="Line 68">
            <a:extLst>
              <a:ext uri="{FF2B5EF4-FFF2-40B4-BE49-F238E27FC236}">
                <a16:creationId xmlns:a16="http://schemas.microsoft.com/office/drawing/2014/main" id="{7EE3D6D3-B37F-C44F-A65F-8D0557443D02}"/>
              </a:ext>
            </a:extLst>
          </p:cNvPr>
          <p:cNvSpPr>
            <a:spLocks noChangeShapeType="1"/>
          </p:cNvSpPr>
          <p:nvPr/>
        </p:nvSpPr>
        <p:spPr bwMode="auto">
          <a:xfrm>
            <a:off x="5845175" y="3536950"/>
            <a:ext cx="104298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511" name="Line 69">
            <a:extLst>
              <a:ext uri="{FF2B5EF4-FFF2-40B4-BE49-F238E27FC236}">
                <a16:creationId xmlns:a16="http://schemas.microsoft.com/office/drawing/2014/main" id="{36C45567-0F2C-DF4F-AE5D-526CD4FDA45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42100" y="1728788"/>
            <a:ext cx="0" cy="267811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512" name="Line 70">
            <a:extLst>
              <a:ext uri="{FF2B5EF4-FFF2-40B4-BE49-F238E27FC236}">
                <a16:creationId xmlns:a16="http://schemas.microsoft.com/office/drawing/2014/main" id="{663874FC-C95D-6C4A-B1D8-0E410FF0C296}"/>
              </a:ext>
            </a:extLst>
          </p:cNvPr>
          <p:cNvSpPr>
            <a:spLocks noChangeShapeType="1"/>
          </p:cNvSpPr>
          <p:nvPr/>
        </p:nvSpPr>
        <p:spPr bwMode="auto">
          <a:xfrm>
            <a:off x="6459538" y="2230438"/>
            <a:ext cx="0" cy="26352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513" name="Line 71">
            <a:extLst>
              <a:ext uri="{FF2B5EF4-FFF2-40B4-BE49-F238E27FC236}">
                <a16:creationId xmlns:a16="http://schemas.microsoft.com/office/drawing/2014/main" id="{710AEBD9-10C3-FA4A-816B-EC83E2790127}"/>
              </a:ext>
            </a:extLst>
          </p:cNvPr>
          <p:cNvSpPr>
            <a:spLocks noChangeShapeType="1"/>
          </p:cNvSpPr>
          <p:nvPr/>
        </p:nvSpPr>
        <p:spPr bwMode="auto">
          <a:xfrm>
            <a:off x="5907088" y="3536950"/>
            <a:ext cx="0" cy="266223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514" name="Line 72">
            <a:extLst>
              <a:ext uri="{FF2B5EF4-FFF2-40B4-BE49-F238E27FC236}">
                <a16:creationId xmlns:a16="http://schemas.microsoft.com/office/drawing/2014/main" id="{0FACF82A-6872-C94E-9455-C6F5B231B09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91238" y="3136900"/>
            <a:ext cx="0" cy="26447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515" name="Line 73">
            <a:extLst>
              <a:ext uri="{FF2B5EF4-FFF2-40B4-BE49-F238E27FC236}">
                <a16:creationId xmlns:a16="http://schemas.microsoft.com/office/drawing/2014/main" id="{B817EEC2-91B5-3349-9854-E52DA836E67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42100" y="4391025"/>
            <a:ext cx="265113" cy="47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516" name="Line 74">
            <a:extLst>
              <a:ext uri="{FF2B5EF4-FFF2-40B4-BE49-F238E27FC236}">
                <a16:creationId xmlns:a16="http://schemas.microsoft.com/office/drawing/2014/main" id="{18802936-ADD9-8449-8A34-7FC5363EA50B}"/>
              </a:ext>
            </a:extLst>
          </p:cNvPr>
          <p:cNvSpPr>
            <a:spLocks noChangeShapeType="1"/>
          </p:cNvSpPr>
          <p:nvPr/>
        </p:nvSpPr>
        <p:spPr bwMode="auto">
          <a:xfrm>
            <a:off x="6454775" y="4859338"/>
            <a:ext cx="4524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517" name="Line 75">
            <a:extLst>
              <a:ext uri="{FF2B5EF4-FFF2-40B4-BE49-F238E27FC236}">
                <a16:creationId xmlns:a16="http://schemas.microsoft.com/office/drawing/2014/main" id="{E79BFF10-13BB-A44D-9AB7-24C61BDBA1B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07088" y="6199188"/>
            <a:ext cx="9969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518" name="Line 76">
            <a:extLst>
              <a:ext uri="{FF2B5EF4-FFF2-40B4-BE49-F238E27FC236}">
                <a16:creationId xmlns:a16="http://schemas.microsoft.com/office/drawing/2014/main" id="{DD65D8A1-B6D3-BB4E-9240-BD8879157A3F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1238" y="5781675"/>
            <a:ext cx="8159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519" name="Rectangle 77">
            <a:extLst>
              <a:ext uri="{FF2B5EF4-FFF2-40B4-BE49-F238E27FC236}">
                <a16:creationId xmlns:a16="http://schemas.microsoft.com/office/drawing/2014/main" id="{02A82296-C9B9-A64D-BDD5-1145922A00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0075" y="4659313"/>
            <a:ext cx="1905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rgbClr val="000000"/>
                </a:solidFill>
                <a:ea typeface="宋体" panose="02010600030101010101" pitchFamily="2" charset="-122"/>
              </a:rPr>
              <a:t>M</a:t>
            </a:r>
            <a:endParaRPr lang="en-US" altLang="zh-CN" sz="1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520" name="Rectangle 78">
            <a:extLst>
              <a:ext uri="{FF2B5EF4-FFF2-40B4-BE49-F238E27FC236}">
                <a16:creationId xmlns:a16="http://schemas.microsoft.com/office/drawing/2014/main" id="{A7268A94-6253-9F42-90A9-56E1E04C3A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0713" y="5646738"/>
            <a:ext cx="1524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endParaRPr lang="en-US" altLang="zh-CN" sz="1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521" name="Rectangle 79">
            <a:extLst>
              <a:ext uri="{FF2B5EF4-FFF2-40B4-BE49-F238E27FC236}">
                <a16:creationId xmlns:a16="http://schemas.microsoft.com/office/drawing/2014/main" id="{E1254774-E47E-5F4A-AED6-91A692DF11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0713" y="5160963"/>
            <a:ext cx="1651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rgbClr val="000000"/>
                </a:solidFill>
                <a:ea typeface="宋体" panose="02010600030101010101" pitchFamily="2" charset="-122"/>
              </a:rPr>
              <a:t>U</a:t>
            </a:r>
            <a:endParaRPr lang="en-US" altLang="zh-CN" sz="1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522" name="Text Box 80">
            <a:extLst>
              <a:ext uri="{FF2B5EF4-FFF2-40B4-BE49-F238E27FC236}">
                <a16:creationId xmlns:a16="http://schemas.microsoft.com/office/drawing/2014/main" id="{227F2DB8-8738-A64A-8316-2791458665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6138" y="1476375"/>
            <a:ext cx="116681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Register 0</a:t>
            </a:r>
          </a:p>
        </p:txBody>
      </p:sp>
      <p:sp>
        <p:nvSpPr>
          <p:cNvPr id="19523" name="Text Box 81">
            <a:extLst>
              <a:ext uri="{FF2B5EF4-FFF2-40B4-BE49-F238E27FC236}">
                <a16:creationId xmlns:a16="http://schemas.microsoft.com/office/drawing/2014/main" id="{6CA414F5-8245-6C4D-A23C-2DB6117E04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4550" y="1955800"/>
            <a:ext cx="116681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Register 1</a:t>
            </a:r>
          </a:p>
        </p:txBody>
      </p:sp>
      <p:sp>
        <p:nvSpPr>
          <p:cNvPr id="19524" name="Text Box 82">
            <a:extLst>
              <a:ext uri="{FF2B5EF4-FFF2-40B4-BE49-F238E27FC236}">
                <a16:creationId xmlns:a16="http://schemas.microsoft.com/office/drawing/2014/main" id="{0FF55CC0-1718-5940-8A9B-8BBBDAD311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91050" y="2963863"/>
            <a:ext cx="12731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Register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>
                <a:ea typeface="宋体" panose="02010600030101010101" pitchFamily="2" charset="-122"/>
              </a:rPr>
              <a:t>30</a:t>
            </a:r>
          </a:p>
        </p:txBody>
      </p:sp>
      <p:sp>
        <p:nvSpPr>
          <p:cNvPr id="19525" name="Text Box 83">
            <a:extLst>
              <a:ext uri="{FF2B5EF4-FFF2-40B4-BE49-F238E27FC236}">
                <a16:creationId xmlns:a16="http://schemas.microsoft.com/office/drawing/2014/main" id="{62D316B2-5BAD-184A-90B1-03FB11B115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21213" y="3387725"/>
            <a:ext cx="12731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Register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>
                <a:ea typeface="宋体" panose="02010600030101010101" pitchFamily="2" charset="-122"/>
              </a:rPr>
              <a:t>31</a:t>
            </a:r>
          </a:p>
        </p:txBody>
      </p:sp>
      <p:sp>
        <p:nvSpPr>
          <p:cNvPr id="19526" name="Text Box 84">
            <a:extLst>
              <a:ext uri="{FF2B5EF4-FFF2-40B4-BE49-F238E27FC236}">
                <a16:creationId xmlns:a16="http://schemas.microsoft.com/office/drawing/2014/main" id="{A6877234-107C-B344-9F47-26AEB29F25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6325" y="801688"/>
            <a:ext cx="14986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Write Enable</a:t>
            </a:r>
          </a:p>
        </p:txBody>
      </p:sp>
      <p:sp>
        <p:nvSpPr>
          <p:cNvPr id="19527" name="Line 85">
            <a:extLst>
              <a:ext uri="{FF2B5EF4-FFF2-40B4-BE49-F238E27FC236}">
                <a16:creationId xmlns:a16="http://schemas.microsoft.com/office/drawing/2014/main" id="{E24F92AA-928D-3C49-B216-E5C8B7D5204A}"/>
              </a:ext>
            </a:extLst>
          </p:cNvPr>
          <p:cNvSpPr>
            <a:spLocks noChangeShapeType="1"/>
          </p:cNvSpPr>
          <p:nvPr/>
        </p:nvSpPr>
        <p:spPr bwMode="auto">
          <a:xfrm>
            <a:off x="3700463" y="995363"/>
            <a:ext cx="0" cy="23653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528" name="Line 86">
            <a:extLst>
              <a:ext uri="{FF2B5EF4-FFF2-40B4-BE49-F238E27FC236}">
                <a16:creationId xmlns:a16="http://schemas.microsoft.com/office/drawing/2014/main" id="{AEC0D3A3-C0C1-D646-9473-BC6567408D9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00463" y="3360738"/>
            <a:ext cx="1841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529" name="Text Box 88">
            <a:extLst>
              <a:ext uri="{FF2B5EF4-FFF2-40B4-BE49-F238E27FC236}">
                <a16:creationId xmlns:a16="http://schemas.microsoft.com/office/drawing/2014/main" id="{C29D7F71-3F47-9E41-B346-588F23C690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874838"/>
            <a:ext cx="5778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RW</a:t>
            </a:r>
          </a:p>
        </p:txBody>
      </p:sp>
      <p:sp>
        <p:nvSpPr>
          <p:cNvPr id="19530" name="Text Box 89">
            <a:extLst>
              <a:ext uri="{FF2B5EF4-FFF2-40B4-BE49-F238E27FC236}">
                <a16:creationId xmlns:a16="http://schemas.microsoft.com/office/drawing/2014/main" id="{CFF03E3F-3EF8-5C4C-8213-E9BE506507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8613" y="1749425"/>
            <a:ext cx="9969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latin typeface="Times New Roman" panose="02020603050405020304" pitchFamily="18" charset="0"/>
                <a:ea typeface="宋体" panose="02010600030101010101" pitchFamily="2" charset="-122"/>
              </a:rPr>
              <a:t>32-</a:t>
            </a:r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to-1</a:t>
            </a:r>
          </a:p>
          <a:p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Decoder</a:t>
            </a:r>
          </a:p>
        </p:txBody>
      </p:sp>
      <p:sp>
        <p:nvSpPr>
          <p:cNvPr id="19531" name="Line 90">
            <a:extLst>
              <a:ext uri="{FF2B5EF4-FFF2-40B4-BE49-F238E27FC236}">
                <a16:creationId xmlns:a16="http://schemas.microsoft.com/office/drawing/2014/main" id="{71826080-3DB2-1948-8F18-BD3A967BFEF1}"/>
              </a:ext>
            </a:extLst>
          </p:cNvPr>
          <p:cNvSpPr>
            <a:spLocks noChangeShapeType="1"/>
          </p:cNvSpPr>
          <p:nvPr/>
        </p:nvSpPr>
        <p:spPr bwMode="auto">
          <a:xfrm>
            <a:off x="1012825" y="2085975"/>
            <a:ext cx="635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9532" name="Group 91">
            <a:extLst>
              <a:ext uri="{FF2B5EF4-FFF2-40B4-BE49-F238E27FC236}">
                <a16:creationId xmlns:a16="http://schemas.microsoft.com/office/drawing/2014/main" id="{0001D53F-885F-4A46-865E-2BD44B245475}"/>
              </a:ext>
            </a:extLst>
          </p:cNvPr>
          <p:cNvGrpSpPr>
            <a:grpSpLocks/>
          </p:cNvGrpSpPr>
          <p:nvPr/>
        </p:nvGrpSpPr>
        <p:grpSpPr bwMode="auto">
          <a:xfrm>
            <a:off x="6119813" y="2578100"/>
            <a:ext cx="26987" cy="157163"/>
            <a:chOff x="1238" y="2071"/>
            <a:chExt cx="11" cy="75"/>
          </a:xfrm>
        </p:grpSpPr>
        <p:sp>
          <p:nvSpPr>
            <p:cNvPr id="19564" name="Freeform 92">
              <a:extLst>
                <a:ext uri="{FF2B5EF4-FFF2-40B4-BE49-F238E27FC236}">
                  <a16:creationId xmlns:a16="http://schemas.microsoft.com/office/drawing/2014/main" id="{B411208C-25D4-054B-B39B-838181954D3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8" y="2104"/>
              <a:ext cx="11" cy="9"/>
            </a:xfrm>
            <a:custGeom>
              <a:avLst/>
              <a:gdLst>
                <a:gd name="T0" fmla="*/ 11 w 11"/>
                <a:gd name="T1" fmla="*/ 3 h 9"/>
                <a:gd name="T2" fmla="*/ 11 w 11"/>
                <a:gd name="T3" fmla="*/ 3 h 9"/>
                <a:gd name="T4" fmla="*/ 11 w 11"/>
                <a:gd name="T5" fmla="*/ 3 h 9"/>
                <a:gd name="T6" fmla="*/ 11 w 11"/>
                <a:gd name="T7" fmla="*/ 1 h 9"/>
                <a:gd name="T8" fmla="*/ 9 w 11"/>
                <a:gd name="T9" fmla="*/ 1 h 9"/>
                <a:gd name="T10" fmla="*/ 9 w 11"/>
                <a:gd name="T11" fmla="*/ 0 h 9"/>
                <a:gd name="T12" fmla="*/ 9 w 11"/>
                <a:gd name="T13" fmla="*/ 0 h 9"/>
                <a:gd name="T14" fmla="*/ 7 w 11"/>
                <a:gd name="T15" fmla="*/ 0 h 9"/>
                <a:gd name="T16" fmla="*/ 7 w 11"/>
                <a:gd name="T17" fmla="*/ 0 h 9"/>
                <a:gd name="T18" fmla="*/ 5 w 11"/>
                <a:gd name="T19" fmla="*/ 0 h 9"/>
                <a:gd name="T20" fmla="*/ 5 w 11"/>
                <a:gd name="T21" fmla="*/ 0 h 9"/>
                <a:gd name="T22" fmla="*/ 3 w 11"/>
                <a:gd name="T23" fmla="*/ 0 h 9"/>
                <a:gd name="T24" fmla="*/ 3 w 11"/>
                <a:gd name="T25" fmla="*/ 0 h 9"/>
                <a:gd name="T26" fmla="*/ 3 w 11"/>
                <a:gd name="T27" fmla="*/ 0 h 9"/>
                <a:gd name="T28" fmla="*/ 1 w 11"/>
                <a:gd name="T29" fmla="*/ 0 h 9"/>
                <a:gd name="T30" fmla="*/ 1 w 11"/>
                <a:gd name="T31" fmla="*/ 0 h 9"/>
                <a:gd name="T32" fmla="*/ 0 w 11"/>
                <a:gd name="T33" fmla="*/ 1 h 9"/>
                <a:gd name="T34" fmla="*/ 0 w 11"/>
                <a:gd name="T35" fmla="*/ 1 h 9"/>
                <a:gd name="T36" fmla="*/ 0 w 11"/>
                <a:gd name="T37" fmla="*/ 3 h 9"/>
                <a:gd name="T38" fmla="*/ 0 w 11"/>
                <a:gd name="T39" fmla="*/ 3 h 9"/>
                <a:gd name="T40" fmla="*/ 0 w 11"/>
                <a:gd name="T41" fmla="*/ 4 h 9"/>
                <a:gd name="T42" fmla="*/ 0 w 11"/>
                <a:gd name="T43" fmla="*/ 4 h 9"/>
                <a:gd name="T44" fmla="*/ 0 w 11"/>
                <a:gd name="T45" fmla="*/ 6 h 9"/>
                <a:gd name="T46" fmla="*/ 0 w 11"/>
                <a:gd name="T47" fmla="*/ 6 h 9"/>
                <a:gd name="T48" fmla="*/ 0 w 11"/>
                <a:gd name="T49" fmla="*/ 6 h 9"/>
                <a:gd name="T50" fmla="*/ 1 w 11"/>
                <a:gd name="T51" fmla="*/ 8 h 9"/>
                <a:gd name="T52" fmla="*/ 1 w 11"/>
                <a:gd name="T53" fmla="*/ 8 h 9"/>
                <a:gd name="T54" fmla="*/ 3 w 11"/>
                <a:gd name="T55" fmla="*/ 8 h 9"/>
                <a:gd name="T56" fmla="*/ 3 w 11"/>
                <a:gd name="T57" fmla="*/ 9 h 9"/>
                <a:gd name="T58" fmla="*/ 3 w 11"/>
                <a:gd name="T59" fmla="*/ 9 h 9"/>
                <a:gd name="T60" fmla="*/ 5 w 11"/>
                <a:gd name="T61" fmla="*/ 9 h 9"/>
                <a:gd name="T62" fmla="*/ 5 w 11"/>
                <a:gd name="T63" fmla="*/ 9 h 9"/>
                <a:gd name="T64" fmla="*/ 7 w 11"/>
                <a:gd name="T65" fmla="*/ 9 h 9"/>
                <a:gd name="T66" fmla="*/ 7 w 11"/>
                <a:gd name="T67" fmla="*/ 8 h 9"/>
                <a:gd name="T68" fmla="*/ 9 w 11"/>
                <a:gd name="T69" fmla="*/ 8 h 9"/>
                <a:gd name="T70" fmla="*/ 9 w 11"/>
                <a:gd name="T71" fmla="*/ 8 h 9"/>
                <a:gd name="T72" fmla="*/ 9 w 11"/>
                <a:gd name="T73" fmla="*/ 6 h 9"/>
                <a:gd name="T74" fmla="*/ 11 w 11"/>
                <a:gd name="T75" fmla="*/ 6 h 9"/>
                <a:gd name="T76" fmla="*/ 11 w 11"/>
                <a:gd name="T77" fmla="*/ 6 h 9"/>
                <a:gd name="T78" fmla="*/ 11 w 11"/>
                <a:gd name="T79" fmla="*/ 4 h 9"/>
                <a:gd name="T80" fmla="*/ 11 w 11"/>
                <a:gd name="T81" fmla="*/ 4 h 9"/>
                <a:gd name="T82" fmla="*/ 11 w 11"/>
                <a:gd name="T83" fmla="*/ 4 h 9"/>
                <a:gd name="T84" fmla="*/ 11 w 11"/>
                <a:gd name="T85" fmla="*/ 3 h 9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11" h="9">
                  <a:moveTo>
                    <a:pt x="11" y="3"/>
                  </a:moveTo>
                  <a:lnTo>
                    <a:pt x="11" y="3"/>
                  </a:lnTo>
                  <a:lnTo>
                    <a:pt x="11" y="1"/>
                  </a:lnTo>
                  <a:lnTo>
                    <a:pt x="9" y="1"/>
                  </a:lnTo>
                  <a:lnTo>
                    <a:pt x="9" y="0"/>
                  </a:lnTo>
                  <a:lnTo>
                    <a:pt x="7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1" y="0"/>
                  </a:lnTo>
                  <a:lnTo>
                    <a:pt x="0" y="1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6"/>
                  </a:lnTo>
                  <a:lnTo>
                    <a:pt x="1" y="8"/>
                  </a:lnTo>
                  <a:lnTo>
                    <a:pt x="3" y="8"/>
                  </a:lnTo>
                  <a:lnTo>
                    <a:pt x="3" y="9"/>
                  </a:lnTo>
                  <a:lnTo>
                    <a:pt x="5" y="9"/>
                  </a:lnTo>
                  <a:lnTo>
                    <a:pt x="7" y="9"/>
                  </a:lnTo>
                  <a:lnTo>
                    <a:pt x="7" y="8"/>
                  </a:lnTo>
                  <a:lnTo>
                    <a:pt x="9" y="8"/>
                  </a:lnTo>
                  <a:lnTo>
                    <a:pt x="9" y="6"/>
                  </a:lnTo>
                  <a:lnTo>
                    <a:pt x="11" y="6"/>
                  </a:lnTo>
                  <a:lnTo>
                    <a:pt x="11" y="4"/>
                  </a:lnTo>
                  <a:lnTo>
                    <a:pt x="11" y="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65" name="Freeform 93">
              <a:extLst>
                <a:ext uri="{FF2B5EF4-FFF2-40B4-BE49-F238E27FC236}">
                  <a16:creationId xmlns:a16="http://schemas.microsoft.com/office/drawing/2014/main" id="{9F012BFE-6D3A-624D-99D1-F33B757F172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8" y="2071"/>
              <a:ext cx="11" cy="10"/>
            </a:xfrm>
            <a:custGeom>
              <a:avLst/>
              <a:gdLst>
                <a:gd name="T0" fmla="*/ 11 w 11"/>
                <a:gd name="T1" fmla="*/ 3 h 10"/>
                <a:gd name="T2" fmla="*/ 11 w 11"/>
                <a:gd name="T3" fmla="*/ 3 h 10"/>
                <a:gd name="T4" fmla="*/ 11 w 11"/>
                <a:gd name="T5" fmla="*/ 3 h 10"/>
                <a:gd name="T6" fmla="*/ 11 w 11"/>
                <a:gd name="T7" fmla="*/ 2 h 10"/>
                <a:gd name="T8" fmla="*/ 9 w 11"/>
                <a:gd name="T9" fmla="*/ 2 h 10"/>
                <a:gd name="T10" fmla="*/ 9 w 11"/>
                <a:gd name="T11" fmla="*/ 2 h 10"/>
                <a:gd name="T12" fmla="*/ 9 w 11"/>
                <a:gd name="T13" fmla="*/ 0 h 10"/>
                <a:gd name="T14" fmla="*/ 7 w 11"/>
                <a:gd name="T15" fmla="*/ 0 h 10"/>
                <a:gd name="T16" fmla="*/ 7 w 11"/>
                <a:gd name="T17" fmla="*/ 0 h 10"/>
                <a:gd name="T18" fmla="*/ 5 w 11"/>
                <a:gd name="T19" fmla="*/ 0 h 10"/>
                <a:gd name="T20" fmla="*/ 5 w 11"/>
                <a:gd name="T21" fmla="*/ 0 h 10"/>
                <a:gd name="T22" fmla="*/ 3 w 11"/>
                <a:gd name="T23" fmla="*/ 0 h 10"/>
                <a:gd name="T24" fmla="*/ 3 w 11"/>
                <a:gd name="T25" fmla="*/ 0 h 10"/>
                <a:gd name="T26" fmla="*/ 3 w 11"/>
                <a:gd name="T27" fmla="*/ 0 h 10"/>
                <a:gd name="T28" fmla="*/ 1 w 11"/>
                <a:gd name="T29" fmla="*/ 0 h 10"/>
                <a:gd name="T30" fmla="*/ 1 w 11"/>
                <a:gd name="T31" fmla="*/ 2 h 10"/>
                <a:gd name="T32" fmla="*/ 0 w 11"/>
                <a:gd name="T33" fmla="*/ 2 h 10"/>
                <a:gd name="T34" fmla="*/ 0 w 11"/>
                <a:gd name="T35" fmla="*/ 2 h 10"/>
                <a:gd name="T36" fmla="*/ 0 w 11"/>
                <a:gd name="T37" fmla="*/ 3 h 10"/>
                <a:gd name="T38" fmla="*/ 0 w 11"/>
                <a:gd name="T39" fmla="*/ 3 h 10"/>
                <a:gd name="T40" fmla="*/ 0 w 11"/>
                <a:gd name="T41" fmla="*/ 5 h 10"/>
                <a:gd name="T42" fmla="*/ 0 w 11"/>
                <a:gd name="T43" fmla="*/ 5 h 10"/>
                <a:gd name="T44" fmla="*/ 0 w 11"/>
                <a:gd name="T45" fmla="*/ 7 h 10"/>
                <a:gd name="T46" fmla="*/ 0 w 11"/>
                <a:gd name="T47" fmla="*/ 7 h 10"/>
                <a:gd name="T48" fmla="*/ 0 w 11"/>
                <a:gd name="T49" fmla="*/ 8 h 10"/>
                <a:gd name="T50" fmla="*/ 1 w 11"/>
                <a:gd name="T51" fmla="*/ 8 h 10"/>
                <a:gd name="T52" fmla="*/ 1 w 11"/>
                <a:gd name="T53" fmla="*/ 8 h 10"/>
                <a:gd name="T54" fmla="*/ 3 w 11"/>
                <a:gd name="T55" fmla="*/ 10 h 10"/>
                <a:gd name="T56" fmla="*/ 3 w 11"/>
                <a:gd name="T57" fmla="*/ 10 h 10"/>
                <a:gd name="T58" fmla="*/ 3 w 11"/>
                <a:gd name="T59" fmla="*/ 10 h 10"/>
                <a:gd name="T60" fmla="*/ 5 w 11"/>
                <a:gd name="T61" fmla="*/ 10 h 10"/>
                <a:gd name="T62" fmla="*/ 5 w 11"/>
                <a:gd name="T63" fmla="*/ 10 h 10"/>
                <a:gd name="T64" fmla="*/ 7 w 11"/>
                <a:gd name="T65" fmla="*/ 10 h 10"/>
                <a:gd name="T66" fmla="*/ 7 w 11"/>
                <a:gd name="T67" fmla="*/ 10 h 10"/>
                <a:gd name="T68" fmla="*/ 9 w 11"/>
                <a:gd name="T69" fmla="*/ 8 h 10"/>
                <a:gd name="T70" fmla="*/ 9 w 11"/>
                <a:gd name="T71" fmla="*/ 8 h 10"/>
                <a:gd name="T72" fmla="*/ 9 w 11"/>
                <a:gd name="T73" fmla="*/ 8 h 10"/>
                <a:gd name="T74" fmla="*/ 11 w 11"/>
                <a:gd name="T75" fmla="*/ 7 h 10"/>
                <a:gd name="T76" fmla="*/ 11 w 11"/>
                <a:gd name="T77" fmla="*/ 7 h 10"/>
                <a:gd name="T78" fmla="*/ 11 w 11"/>
                <a:gd name="T79" fmla="*/ 5 h 10"/>
                <a:gd name="T80" fmla="*/ 11 w 11"/>
                <a:gd name="T81" fmla="*/ 5 h 10"/>
                <a:gd name="T82" fmla="*/ 11 w 11"/>
                <a:gd name="T83" fmla="*/ 5 h 10"/>
                <a:gd name="T84" fmla="*/ 11 w 11"/>
                <a:gd name="T85" fmla="*/ 3 h 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11" h="10">
                  <a:moveTo>
                    <a:pt x="11" y="3"/>
                  </a:moveTo>
                  <a:lnTo>
                    <a:pt x="11" y="3"/>
                  </a:lnTo>
                  <a:lnTo>
                    <a:pt x="11" y="2"/>
                  </a:lnTo>
                  <a:lnTo>
                    <a:pt x="9" y="2"/>
                  </a:lnTo>
                  <a:lnTo>
                    <a:pt x="9" y="0"/>
                  </a:lnTo>
                  <a:lnTo>
                    <a:pt x="7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1" y="0"/>
                  </a:lnTo>
                  <a:lnTo>
                    <a:pt x="1" y="2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7"/>
                  </a:lnTo>
                  <a:lnTo>
                    <a:pt x="0" y="8"/>
                  </a:lnTo>
                  <a:lnTo>
                    <a:pt x="1" y="8"/>
                  </a:lnTo>
                  <a:lnTo>
                    <a:pt x="3" y="10"/>
                  </a:lnTo>
                  <a:lnTo>
                    <a:pt x="5" y="10"/>
                  </a:lnTo>
                  <a:lnTo>
                    <a:pt x="7" y="10"/>
                  </a:lnTo>
                  <a:lnTo>
                    <a:pt x="9" y="8"/>
                  </a:lnTo>
                  <a:lnTo>
                    <a:pt x="11" y="7"/>
                  </a:lnTo>
                  <a:lnTo>
                    <a:pt x="11" y="5"/>
                  </a:lnTo>
                  <a:lnTo>
                    <a:pt x="11" y="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66" name="Freeform 94">
              <a:extLst>
                <a:ext uri="{FF2B5EF4-FFF2-40B4-BE49-F238E27FC236}">
                  <a16:creationId xmlns:a16="http://schemas.microsoft.com/office/drawing/2014/main" id="{857A172F-66FD-724C-AEF8-8578460DA87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8" y="2135"/>
              <a:ext cx="11" cy="11"/>
            </a:xfrm>
            <a:custGeom>
              <a:avLst/>
              <a:gdLst>
                <a:gd name="T0" fmla="*/ 11 w 11"/>
                <a:gd name="T1" fmla="*/ 4 h 11"/>
                <a:gd name="T2" fmla="*/ 11 w 11"/>
                <a:gd name="T3" fmla="*/ 4 h 11"/>
                <a:gd name="T4" fmla="*/ 11 w 11"/>
                <a:gd name="T5" fmla="*/ 3 h 11"/>
                <a:gd name="T6" fmla="*/ 11 w 11"/>
                <a:gd name="T7" fmla="*/ 3 h 11"/>
                <a:gd name="T8" fmla="*/ 9 w 11"/>
                <a:gd name="T9" fmla="*/ 3 h 11"/>
                <a:gd name="T10" fmla="*/ 9 w 11"/>
                <a:gd name="T11" fmla="*/ 1 h 11"/>
                <a:gd name="T12" fmla="*/ 9 w 11"/>
                <a:gd name="T13" fmla="*/ 1 h 11"/>
                <a:gd name="T14" fmla="*/ 7 w 11"/>
                <a:gd name="T15" fmla="*/ 1 h 11"/>
                <a:gd name="T16" fmla="*/ 7 w 11"/>
                <a:gd name="T17" fmla="*/ 1 h 11"/>
                <a:gd name="T18" fmla="*/ 5 w 11"/>
                <a:gd name="T19" fmla="*/ 0 h 11"/>
                <a:gd name="T20" fmla="*/ 5 w 11"/>
                <a:gd name="T21" fmla="*/ 0 h 11"/>
                <a:gd name="T22" fmla="*/ 3 w 11"/>
                <a:gd name="T23" fmla="*/ 0 h 11"/>
                <a:gd name="T24" fmla="*/ 3 w 11"/>
                <a:gd name="T25" fmla="*/ 1 h 11"/>
                <a:gd name="T26" fmla="*/ 3 w 11"/>
                <a:gd name="T27" fmla="*/ 1 h 11"/>
                <a:gd name="T28" fmla="*/ 1 w 11"/>
                <a:gd name="T29" fmla="*/ 1 h 11"/>
                <a:gd name="T30" fmla="*/ 1 w 11"/>
                <a:gd name="T31" fmla="*/ 1 h 11"/>
                <a:gd name="T32" fmla="*/ 0 w 11"/>
                <a:gd name="T33" fmla="*/ 3 h 11"/>
                <a:gd name="T34" fmla="*/ 0 w 11"/>
                <a:gd name="T35" fmla="*/ 3 h 11"/>
                <a:gd name="T36" fmla="*/ 0 w 11"/>
                <a:gd name="T37" fmla="*/ 3 h 11"/>
                <a:gd name="T38" fmla="*/ 0 w 11"/>
                <a:gd name="T39" fmla="*/ 4 h 11"/>
                <a:gd name="T40" fmla="*/ 0 w 11"/>
                <a:gd name="T41" fmla="*/ 4 h 11"/>
                <a:gd name="T42" fmla="*/ 0 w 11"/>
                <a:gd name="T43" fmla="*/ 6 h 11"/>
                <a:gd name="T44" fmla="*/ 0 w 11"/>
                <a:gd name="T45" fmla="*/ 6 h 11"/>
                <a:gd name="T46" fmla="*/ 0 w 11"/>
                <a:gd name="T47" fmla="*/ 7 h 11"/>
                <a:gd name="T48" fmla="*/ 0 w 11"/>
                <a:gd name="T49" fmla="*/ 7 h 11"/>
                <a:gd name="T50" fmla="*/ 1 w 11"/>
                <a:gd name="T51" fmla="*/ 9 h 11"/>
                <a:gd name="T52" fmla="*/ 1 w 11"/>
                <a:gd name="T53" fmla="*/ 9 h 11"/>
                <a:gd name="T54" fmla="*/ 3 w 11"/>
                <a:gd name="T55" fmla="*/ 9 h 11"/>
                <a:gd name="T56" fmla="*/ 3 w 11"/>
                <a:gd name="T57" fmla="*/ 9 h 11"/>
                <a:gd name="T58" fmla="*/ 3 w 11"/>
                <a:gd name="T59" fmla="*/ 11 h 11"/>
                <a:gd name="T60" fmla="*/ 5 w 11"/>
                <a:gd name="T61" fmla="*/ 11 h 11"/>
                <a:gd name="T62" fmla="*/ 5 w 11"/>
                <a:gd name="T63" fmla="*/ 11 h 11"/>
                <a:gd name="T64" fmla="*/ 7 w 11"/>
                <a:gd name="T65" fmla="*/ 9 h 11"/>
                <a:gd name="T66" fmla="*/ 7 w 11"/>
                <a:gd name="T67" fmla="*/ 9 h 11"/>
                <a:gd name="T68" fmla="*/ 9 w 11"/>
                <a:gd name="T69" fmla="*/ 9 h 11"/>
                <a:gd name="T70" fmla="*/ 9 w 11"/>
                <a:gd name="T71" fmla="*/ 9 h 11"/>
                <a:gd name="T72" fmla="*/ 9 w 11"/>
                <a:gd name="T73" fmla="*/ 7 h 11"/>
                <a:gd name="T74" fmla="*/ 11 w 11"/>
                <a:gd name="T75" fmla="*/ 7 h 11"/>
                <a:gd name="T76" fmla="*/ 11 w 11"/>
                <a:gd name="T77" fmla="*/ 6 h 11"/>
                <a:gd name="T78" fmla="*/ 11 w 11"/>
                <a:gd name="T79" fmla="*/ 6 h 11"/>
                <a:gd name="T80" fmla="*/ 11 w 11"/>
                <a:gd name="T81" fmla="*/ 4 h 11"/>
                <a:gd name="T82" fmla="*/ 11 w 11"/>
                <a:gd name="T83" fmla="*/ 4 h 11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11" h="11">
                  <a:moveTo>
                    <a:pt x="11" y="4"/>
                  </a:moveTo>
                  <a:lnTo>
                    <a:pt x="11" y="4"/>
                  </a:lnTo>
                  <a:lnTo>
                    <a:pt x="11" y="3"/>
                  </a:lnTo>
                  <a:lnTo>
                    <a:pt x="9" y="3"/>
                  </a:lnTo>
                  <a:lnTo>
                    <a:pt x="9" y="1"/>
                  </a:lnTo>
                  <a:lnTo>
                    <a:pt x="7" y="1"/>
                  </a:lnTo>
                  <a:lnTo>
                    <a:pt x="5" y="0"/>
                  </a:lnTo>
                  <a:lnTo>
                    <a:pt x="3" y="0"/>
                  </a:lnTo>
                  <a:lnTo>
                    <a:pt x="3" y="1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6"/>
                  </a:lnTo>
                  <a:lnTo>
                    <a:pt x="0" y="7"/>
                  </a:lnTo>
                  <a:lnTo>
                    <a:pt x="1" y="9"/>
                  </a:lnTo>
                  <a:lnTo>
                    <a:pt x="3" y="9"/>
                  </a:lnTo>
                  <a:lnTo>
                    <a:pt x="3" y="11"/>
                  </a:lnTo>
                  <a:lnTo>
                    <a:pt x="5" y="11"/>
                  </a:lnTo>
                  <a:lnTo>
                    <a:pt x="7" y="9"/>
                  </a:lnTo>
                  <a:lnTo>
                    <a:pt x="9" y="9"/>
                  </a:lnTo>
                  <a:lnTo>
                    <a:pt x="9" y="7"/>
                  </a:lnTo>
                  <a:lnTo>
                    <a:pt x="11" y="7"/>
                  </a:lnTo>
                  <a:lnTo>
                    <a:pt x="11" y="6"/>
                  </a:lnTo>
                  <a:lnTo>
                    <a:pt x="11" y="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9533" name="Group 95">
            <a:extLst>
              <a:ext uri="{FF2B5EF4-FFF2-40B4-BE49-F238E27FC236}">
                <a16:creationId xmlns:a16="http://schemas.microsoft.com/office/drawing/2014/main" id="{82973109-6D0D-8244-955C-4AA94F8C288D}"/>
              </a:ext>
            </a:extLst>
          </p:cNvPr>
          <p:cNvGrpSpPr>
            <a:grpSpLocks/>
          </p:cNvGrpSpPr>
          <p:nvPr/>
        </p:nvGrpSpPr>
        <p:grpSpPr bwMode="auto">
          <a:xfrm>
            <a:off x="4049713" y="2516188"/>
            <a:ext cx="28575" cy="157162"/>
            <a:chOff x="1238" y="2071"/>
            <a:chExt cx="11" cy="75"/>
          </a:xfrm>
        </p:grpSpPr>
        <p:sp>
          <p:nvSpPr>
            <p:cNvPr id="19561" name="Freeform 96">
              <a:extLst>
                <a:ext uri="{FF2B5EF4-FFF2-40B4-BE49-F238E27FC236}">
                  <a16:creationId xmlns:a16="http://schemas.microsoft.com/office/drawing/2014/main" id="{D88F0A91-E6B7-CE49-BF51-5432FABE5FB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8" y="2104"/>
              <a:ext cx="11" cy="9"/>
            </a:xfrm>
            <a:custGeom>
              <a:avLst/>
              <a:gdLst>
                <a:gd name="T0" fmla="*/ 11 w 11"/>
                <a:gd name="T1" fmla="*/ 3 h 9"/>
                <a:gd name="T2" fmla="*/ 11 w 11"/>
                <a:gd name="T3" fmla="*/ 3 h 9"/>
                <a:gd name="T4" fmla="*/ 11 w 11"/>
                <a:gd name="T5" fmla="*/ 3 h 9"/>
                <a:gd name="T6" fmla="*/ 11 w 11"/>
                <a:gd name="T7" fmla="*/ 1 h 9"/>
                <a:gd name="T8" fmla="*/ 9 w 11"/>
                <a:gd name="T9" fmla="*/ 1 h 9"/>
                <a:gd name="T10" fmla="*/ 9 w 11"/>
                <a:gd name="T11" fmla="*/ 0 h 9"/>
                <a:gd name="T12" fmla="*/ 9 w 11"/>
                <a:gd name="T13" fmla="*/ 0 h 9"/>
                <a:gd name="T14" fmla="*/ 7 w 11"/>
                <a:gd name="T15" fmla="*/ 0 h 9"/>
                <a:gd name="T16" fmla="*/ 7 w 11"/>
                <a:gd name="T17" fmla="*/ 0 h 9"/>
                <a:gd name="T18" fmla="*/ 5 w 11"/>
                <a:gd name="T19" fmla="*/ 0 h 9"/>
                <a:gd name="T20" fmla="*/ 5 w 11"/>
                <a:gd name="T21" fmla="*/ 0 h 9"/>
                <a:gd name="T22" fmla="*/ 3 w 11"/>
                <a:gd name="T23" fmla="*/ 0 h 9"/>
                <a:gd name="T24" fmla="*/ 3 w 11"/>
                <a:gd name="T25" fmla="*/ 0 h 9"/>
                <a:gd name="T26" fmla="*/ 3 w 11"/>
                <a:gd name="T27" fmla="*/ 0 h 9"/>
                <a:gd name="T28" fmla="*/ 1 w 11"/>
                <a:gd name="T29" fmla="*/ 0 h 9"/>
                <a:gd name="T30" fmla="*/ 1 w 11"/>
                <a:gd name="T31" fmla="*/ 0 h 9"/>
                <a:gd name="T32" fmla="*/ 0 w 11"/>
                <a:gd name="T33" fmla="*/ 1 h 9"/>
                <a:gd name="T34" fmla="*/ 0 w 11"/>
                <a:gd name="T35" fmla="*/ 1 h 9"/>
                <a:gd name="T36" fmla="*/ 0 w 11"/>
                <a:gd name="T37" fmla="*/ 3 h 9"/>
                <a:gd name="T38" fmla="*/ 0 w 11"/>
                <a:gd name="T39" fmla="*/ 3 h 9"/>
                <a:gd name="T40" fmla="*/ 0 w 11"/>
                <a:gd name="T41" fmla="*/ 4 h 9"/>
                <a:gd name="T42" fmla="*/ 0 w 11"/>
                <a:gd name="T43" fmla="*/ 4 h 9"/>
                <a:gd name="T44" fmla="*/ 0 w 11"/>
                <a:gd name="T45" fmla="*/ 6 h 9"/>
                <a:gd name="T46" fmla="*/ 0 w 11"/>
                <a:gd name="T47" fmla="*/ 6 h 9"/>
                <a:gd name="T48" fmla="*/ 0 w 11"/>
                <a:gd name="T49" fmla="*/ 6 h 9"/>
                <a:gd name="T50" fmla="*/ 1 w 11"/>
                <a:gd name="T51" fmla="*/ 8 h 9"/>
                <a:gd name="T52" fmla="*/ 1 w 11"/>
                <a:gd name="T53" fmla="*/ 8 h 9"/>
                <a:gd name="T54" fmla="*/ 3 w 11"/>
                <a:gd name="T55" fmla="*/ 8 h 9"/>
                <a:gd name="T56" fmla="*/ 3 w 11"/>
                <a:gd name="T57" fmla="*/ 9 h 9"/>
                <a:gd name="T58" fmla="*/ 3 w 11"/>
                <a:gd name="T59" fmla="*/ 9 h 9"/>
                <a:gd name="T60" fmla="*/ 5 w 11"/>
                <a:gd name="T61" fmla="*/ 9 h 9"/>
                <a:gd name="T62" fmla="*/ 5 w 11"/>
                <a:gd name="T63" fmla="*/ 9 h 9"/>
                <a:gd name="T64" fmla="*/ 7 w 11"/>
                <a:gd name="T65" fmla="*/ 9 h 9"/>
                <a:gd name="T66" fmla="*/ 7 w 11"/>
                <a:gd name="T67" fmla="*/ 8 h 9"/>
                <a:gd name="T68" fmla="*/ 9 w 11"/>
                <a:gd name="T69" fmla="*/ 8 h 9"/>
                <a:gd name="T70" fmla="*/ 9 w 11"/>
                <a:gd name="T71" fmla="*/ 8 h 9"/>
                <a:gd name="T72" fmla="*/ 9 w 11"/>
                <a:gd name="T73" fmla="*/ 6 h 9"/>
                <a:gd name="T74" fmla="*/ 11 w 11"/>
                <a:gd name="T75" fmla="*/ 6 h 9"/>
                <a:gd name="T76" fmla="*/ 11 w 11"/>
                <a:gd name="T77" fmla="*/ 6 h 9"/>
                <a:gd name="T78" fmla="*/ 11 w 11"/>
                <a:gd name="T79" fmla="*/ 4 h 9"/>
                <a:gd name="T80" fmla="*/ 11 w 11"/>
                <a:gd name="T81" fmla="*/ 4 h 9"/>
                <a:gd name="T82" fmla="*/ 11 w 11"/>
                <a:gd name="T83" fmla="*/ 4 h 9"/>
                <a:gd name="T84" fmla="*/ 11 w 11"/>
                <a:gd name="T85" fmla="*/ 3 h 9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11" h="9">
                  <a:moveTo>
                    <a:pt x="11" y="3"/>
                  </a:moveTo>
                  <a:lnTo>
                    <a:pt x="11" y="3"/>
                  </a:lnTo>
                  <a:lnTo>
                    <a:pt x="11" y="1"/>
                  </a:lnTo>
                  <a:lnTo>
                    <a:pt x="9" y="1"/>
                  </a:lnTo>
                  <a:lnTo>
                    <a:pt x="9" y="0"/>
                  </a:lnTo>
                  <a:lnTo>
                    <a:pt x="7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1" y="0"/>
                  </a:lnTo>
                  <a:lnTo>
                    <a:pt x="0" y="1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6"/>
                  </a:lnTo>
                  <a:lnTo>
                    <a:pt x="1" y="8"/>
                  </a:lnTo>
                  <a:lnTo>
                    <a:pt x="3" y="8"/>
                  </a:lnTo>
                  <a:lnTo>
                    <a:pt x="3" y="9"/>
                  </a:lnTo>
                  <a:lnTo>
                    <a:pt x="5" y="9"/>
                  </a:lnTo>
                  <a:lnTo>
                    <a:pt x="7" y="9"/>
                  </a:lnTo>
                  <a:lnTo>
                    <a:pt x="7" y="8"/>
                  </a:lnTo>
                  <a:lnTo>
                    <a:pt x="9" y="8"/>
                  </a:lnTo>
                  <a:lnTo>
                    <a:pt x="9" y="6"/>
                  </a:lnTo>
                  <a:lnTo>
                    <a:pt x="11" y="6"/>
                  </a:lnTo>
                  <a:lnTo>
                    <a:pt x="11" y="4"/>
                  </a:lnTo>
                  <a:lnTo>
                    <a:pt x="11" y="3"/>
                  </a:lnTo>
                  <a:close/>
                </a:path>
              </a:pathLst>
            </a:custGeom>
            <a:solidFill>
              <a:srgbClr val="000000"/>
            </a:solidFill>
            <a:ln w="28575" cmpd="sng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62" name="Freeform 97">
              <a:extLst>
                <a:ext uri="{FF2B5EF4-FFF2-40B4-BE49-F238E27FC236}">
                  <a16:creationId xmlns:a16="http://schemas.microsoft.com/office/drawing/2014/main" id="{EA0A16D6-1330-054E-B03A-C0C23B80F7B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8" y="2071"/>
              <a:ext cx="11" cy="10"/>
            </a:xfrm>
            <a:custGeom>
              <a:avLst/>
              <a:gdLst>
                <a:gd name="T0" fmla="*/ 11 w 11"/>
                <a:gd name="T1" fmla="*/ 3 h 10"/>
                <a:gd name="T2" fmla="*/ 11 w 11"/>
                <a:gd name="T3" fmla="*/ 3 h 10"/>
                <a:gd name="T4" fmla="*/ 11 w 11"/>
                <a:gd name="T5" fmla="*/ 3 h 10"/>
                <a:gd name="T6" fmla="*/ 11 w 11"/>
                <a:gd name="T7" fmla="*/ 2 h 10"/>
                <a:gd name="T8" fmla="*/ 9 w 11"/>
                <a:gd name="T9" fmla="*/ 2 h 10"/>
                <a:gd name="T10" fmla="*/ 9 w 11"/>
                <a:gd name="T11" fmla="*/ 2 h 10"/>
                <a:gd name="T12" fmla="*/ 9 w 11"/>
                <a:gd name="T13" fmla="*/ 0 h 10"/>
                <a:gd name="T14" fmla="*/ 7 w 11"/>
                <a:gd name="T15" fmla="*/ 0 h 10"/>
                <a:gd name="T16" fmla="*/ 7 w 11"/>
                <a:gd name="T17" fmla="*/ 0 h 10"/>
                <a:gd name="T18" fmla="*/ 5 w 11"/>
                <a:gd name="T19" fmla="*/ 0 h 10"/>
                <a:gd name="T20" fmla="*/ 5 w 11"/>
                <a:gd name="T21" fmla="*/ 0 h 10"/>
                <a:gd name="T22" fmla="*/ 3 w 11"/>
                <a:gd name="T23" fmla="*/ 0 h 10"/>
                <a:gd name="T24" fmla="*/ 3 w 11"/>
                <a:gd name="T25" fmla="*/ 0 h 10"/>
                <a:gd name="T26" fmla="*/ 3 w 11"/>
                <a:gd name="T27" fmla="*/ 0 h 10"/>
                <a:gd name="T28" fmla="*/ 1 w 11"/>
                <a:gd name="T29" fmla="*/ 0 h 10"/>
                <a:gd name="T30" fmla="*/ 1 w 11"/>
                <a:gd name="T31" fmla="*/ 2 h 10"/>
                <a:gd name="T32" fmla="*/ 0 w 11"/>
                <a:gd name="T33" fmla="*/ 2 h 10"/>
                <a:gd name="T34" fmla="*/ 0 w 11"/>
                <a:gd name="T35" fmla="*/ 2 h 10"/>
                <a:gd name="T36" fmla="*/ 0 w 11"/>
                <a:gd name="T37" fmla="*/ 3 h 10"/>
                <a:gd name="T38" fmla="*/ 0 w 11"/>
                <a:gd name="T39" fmla="*/ 3 h 10"/>
                <a:gd name="T40" fmla="*/ 0 w 11"/>
                <a:gd name="T41" fmla="*/ 5 h 10"/>
                <a:gd name="T42" fmla="*/ 0 w 11"/>
                <a:gd name="T43" fmla="*/ 5 h 10"/>
                <a:gd name="T44" fmla="*/ 0 w 11"/>
                <a:gd name="T45" fmla="*/ 7 h 10"/>
                <a:gd name="T46" fmla="*/ 0 w 11"/>
                <a:gd name="T47" fmla="*/ 7 h 10"/>
                <a:gd name="T48" fmla="*/ 0 w 11"/>
                <a:gd name="T49" fmla="*/ 8 h 10"/>
                <a:gd name="T50" fmla="*/ 1 w 11"/>
                <a:gd name="T51" fmla="*/ 8 h 10"/>
                <a:gd name="T52" fmla="*/ 1 w 11"/>
                <a:gd name="T53" fmla="*/ 8 h 10"/>
                <a:gd name="T54" fmla="*/ 3 w 11"/>
                <a:gd name="T55" fmla="*/ 10 h 10"/>
                <a:gd name="T56" fmla="*/ 3 w 11"/>
                <a:gd name="T57" fmla="*/ 10 h 10"/>
                <a:gd name="T58" fmla="*/ 3 w 11"/>
                <a:gd name="T59" fmla="*/ 10 h 10"/>
                <a:gd name="T60" fmla="*/ 5 w 11"/>
                <a:gd name="T61" fmla="*/ 10 h 10"/>
                <a:gd name="T62" fmla="*/ 5 w 11"/>
                <a:gd name="T63" fmla="*/ 10 h 10"/>
                <a:gd name="T64" fmla="*/ 7 w 11"/>
                <a:gd name="T65" fmla="*/ 10 h 10"/>
                <a:gd name="T66" fmla="*/ 7 w 11"/>
                <a:gd name="T67" fmla="*/ 10 h 10"/>
                <a:gd name="T68" fmla="*/ 9 w 11"/>
                <a:gd name="T69" fmla="*/ 8 h 10"/>
                <a:gd name="T70" fmla="*/ 9 w 11"/>
                <a:gd name="T71" fmla="*/ 8 h 10"/>
                <a:gd name="T72" fmla="*/ 9 w 11"/>
                <a:gd name="T73" fmla="*/ 8 h 10"/>
                <a:gd name="T74" fmla="*/ 11 w 11"/>
                <a:gd name="T75" fmla="*/ 7 h 10"/>
                <a:gd name="T76" fmla="*/ 11 w 11"/>
                <a:gd name="T77" fmla="*/ 7 h 10"/>
                <a:gd name="T78" fmla="*/ 11 w 11"/>
                <a:gd name="T79" fmla="*/ 5 h 10"/>
                <a:gd name="T80" fmla="*/ 11 w 11"/>
                <a:gd name="T81" fmla="*/ 5 h 10"/>
                <a:gd name="T82" fmla="*/ 11 w 11"/>
                <a:gd name="T83" fmla="*/ 5 h 10"/>
                <a:gd name="T84" fmla="*/ 11 w 11"/>
                <a:gd name="T85" fmla="*/ 3 h 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11" h="10">
                  <a:moveTo>
                    <a:pt x="11" y="3"/>
                  </a:moveTo>
                  <a:lnTo>
                    <a:pt x="11" y="3"/>
                  </a:lnTo>
                  <a:lnTo>
                    <a:pt x="11" y="2"/>
                  </a:lnTo>
                  <a:lnTo>
                    <a:pt x="9" y="2"/>
                  </a:lnTo>
                  <a:lnTo>
                    <a:pt x="9" y="0"/>
                  </a:lnTo>
                  <a:lnTo>
                    <a:pt x="7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1" y="0"/>
                  </a:lnTo>
                  <a:lnTo>
                    <a:pt x="1" y="2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7"/>
                  </a:lnTo>
                  <a:lnTo>
                    <a:pt x="0" y="8"/>
                  </a:lnTo>
                  <a:lnTo>
                    <a:pt x="1" y="8"/>
                  </a:lnTo>
                  <a:lnTo>
                    <a:pt x="3" y="10"/>
                  </a:lnTo>
                  <a:lnTo>
                    <a:pt x="5" y="10"/>
                  </a:lnTo>
                  <a:lnTo>
                    <a:pt x="7" y="10"/>
                  </a:lnTo>
                  <a:lnTo>
                    <a:pt x="9" y="8"/>
                  </a:lnTo>
                  <a:lnTo>
                    <a:pt x="11" y="7"/>
                  </a:lnTo>
                  <a:lnTo>
                    <a:pt x="11" y="5"/>
                  </a:lnTo>
                  <a:lnTo>
                    <a:pt x="11" y="3"/>
                  </a:lnTo>
                  <a:close/>
                </a:path>
              </a:pathLst>
            </a:custGeom>
            <a:solidFill>
              <a:srgbClr val="000000"/>
            </a:solidFill>
            <a:ln w="28575" cmpd="sng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63" name="Freeform 98">
              <a:extLst>
                <a:ext uri="{FF2B5EF4-FFF2-40B4-BE49-F238E27FC236}">
                  <a16:creationId xmlns:a16="http://schemas.microsoft.com/office/drawing/2014/main" id="{BCD117DE-5094-3E43-BF00-ACB7BB05C3F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8" y="2135"/>
              <a:ext cx="11" cy="11"/>
            </a:xfrm>
            <a:custGeom>
              <a:avLst/>
              <a:gdLst>
                <a:gd name="T0" fmla="*/ 11 w 11"/>
                <a:gd name="T1" fmla="*/ 4 h 11"/>
                <a:gd name="T2" fmla="*/ 11 w 11"/>
                <a:gd name="T3" fmla="*/ 4 h 11"/>
                <a:gd name="T4" fmla="*/ 11 w 11"/>
                <a:gd name="T5" fmla="*/ 3 h 11"/>
                <a:gd name="T6" fmla="*/ 11 w 11"/>
                <a:gd name="T7" fmla="*/ 3 h 11"/>
                <a:gd name="T8" fmla="*/ 9 w 11"/>
                <a:gd name="T9" fmla="*/ 3 h 11"/>
                <a:gd name="T10" fmla="*/ 9 w 11"/>
                <a:gd name="T11" fmla="*/ 1 h 11"/>
                <a:gd name="T12" fmla="*/ 9 w 11"/>
                <a:gd name="T13" fmla="*/ 1 h 11"/>
                <a:gd name="T14" fmla="*/ 7 w 11"/>
                <a:gd name="T15" fmla="*/ 1 h 11"/>
                <a:gd name="T16" fmla="*/ 7 w 11"/>
                <a:gd name="T17" fmla="*/ 1 h 11"/>
                <a:gd name="T18" fmla="*/ 5 w 11"/>
                <a:gd name="T19" fmla="*/ 0 h 11"/>
                <a:gd name="T20" fmla="*/ 5 w 11"/>
                <a:gd name="T21" fmla="*/ 0 h 11"/>
                <a:gd name="T22" fmla="*/ 3 w 11"/>
                <a:gd name="T23" fmla="*/ 0 h 11"/>
                <a:gd name="T24" fmla="*/ 3 w 11"/>
                <a:gd name="T25" fmla="*/ 1 h 11"/>
                <a:gd name="T26" fmla="*/ 3 w 11"/>
                <a:gd name="T27" fmla="*/ 1 h 11"/>
                <a:gd name="T28" fmla="*/ 1 w 11"/>
                <a:gd name="T29" fmla="*/ 1 h 11"/>
                <a:gd name="T30" fmla="*/ 1 w 11"/>
                <a:gd name="T31" fmla="*/ 1 h 11"/>
                <a:gd name="T32" fmla="*/ 0 w 11"/>
                <a:gd name="T33" fmla="*/ 3 h 11"/>
                <a:gd name="T34" fmla="*/ 0 w 11"/>
                <a:gd name="T35" fmla="*/ 3 h 11"/>
                <a:gd name="T36" fmla="*/ 0 w 11"/>
                <a:gd name="T37" fmla="*/ 3 h 11"/>
                <a:gd name="T38" fmla="*/ 0 w 11"/>
                <a:gd name="T39" fmla="*/ 4 h 11"/>
                <a:gd name="T40" fmla="*/ 0 w 11"/>
                <a:gd name="T41" fmla="*/ 4 h 11"/>
                <a:gd name="T42" fmla="*/ 0 w 11"/>
                <a:gd name="T43" fmla="*/ 6 h 11"/>
                <a:gd name="T44" fmla="*/ 0 w 11"/>
                <a:gd name="T45" fmla="*/ 6 h 11"/>
                <a:gd name="T46" fmla="*/ 0 w 11"/>
                <a:gd name="T47" fmla="*/ 7 h 11"/>
                <a:gd name="T48" fmla="*/ 0 w 11"/>
                <a:gd name="T49" fmla="*/ 7 h 11"/>
                <a:gd name="T50" fmla="*/ 1 w 11"/>
                <a:gd name="T51" fmla="*/ 9 h 11"/>
                <a:gd name="T52" fmla="*/ 1 w 11"/>
                <a:gd name="T53" fmla="*/ 9 h 11"/>
                <a:gd name="T54" fmla="*/ 3 w 11"/>
                <a:gd name="T55" fmla="*/ 9 h 11"/>
                <a:gd name="T56" fmla="*/ 3 w 11"/>
                <a:gd name="T57" fmla="*/ 9 h 11"/>
                <a:gd name="T58" fmla="*/ 3 w 11"/>
                <a:gd name="T59" fmla="*/ 11 h 11"/>
                <a:gd name="T60" fmla="*/ 5 w 11"/>
                <a:gd name="T61" fmla="*/ 11 h 11"/>
                <a:gd name="T62" fmla="*/ 5 w 11"/>
                <a:gd name="T63" fmla="*/ 11 h 11"/>
                <a:gd name="T64" fmla="*/ 7 w 11"/>
                <a:gd name="T65" fmla="*/ 9 h 11"/>
                <a:gd name="T66" fmla="*/ 7 w 11"/>
                <a:gd name="T67" fmla="*/ 9 h 11"/>
                <a:gd name="T68" fmla="*/ 9 w 11"/>
                <a:gd name="T69" fmla="*/ 9 h 11"/>
                <a:gd name="T70" fmla="*/ 9 w 11"/>
                <a:gd name="T71" fmla="*/ 9 h 11"/>
                <a:gd name="T72" fmla="*/ 9 w 11"/>
                <a:gd name="T73" fmla="*/ 7 h 11"/>
                <a:gd name="T74" fmla="*/ 11 w 11"/>
                <a:gd name="T75" fmla="*/ 7 h 11"/>
                <a:gd name="T76" fmla="*/ 11 w 11"/>
                <a:gd name="T77" fmla="*/ 6 h 11"/>
                <a:gd name="T78" fmla="*/ 11 w 11"/>
                <a:gd name="T79" fmla="*/ 6 h 11"/>
                <a:gd name="T80" fmla="*/ 11 w 11"/>
                <a:gd name="T81" fmla="*/ 4 h 11"/>
                <a:gd name="T82" fmla="*/ 11 w 11"/>
                <a:gd name="T83" fmla="*/ 4 h 11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11" h="11">
                  <a:moveTo>
                    <a:pt x="11" y="4"/>
                  </a:moveTo>
                  <a:lnTo>
                    <a:pt x="11" y="4"/>
                  </a:lnTo>
                  <a:lnTo>
                    <a:pt x="11" y="3"/>
                  </a:lnTo>
                  <a:lnTo>
                    <a:pt x="9" y="3"/>
                  </a:lnTo>
                  <a:lnTo>
                    <a:pt x="9" y="1"/>
                  </a:lnTo>
                  <a:lnTo>
                    <a:pt x="7" y="1"/>
                  </a:lnTo>
                  <a:lnTo>
                    <a:pt x="5" y="0"/>
                  </a:lnTo>
                  <a:lnTo>
                    <a:pt x="3" y="0"/>
                  </a:lnTo>
                  <a:lnTo>
                    <a:pt x="3" y="1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6"/>
                  </a:lnTo>
                  <a:lnTo>
                    <a:pt x="0" y="7"/>
                  </a:lnTo>
                  <a:lnTo>
                    <a:pt x="1" y="9"/>
                  </a:lnTo>
                  <a:lnTo>
                    <a:pt x="3" y="9"/>
                  </a:lnTo>
                  <a:lnTo>
                    <a:pt x="3" y="11"/>
                  </a:lnTo>
                  <a:lnTo>
                    <a:pt x="5" y="11"/>
                  </a:lnTo>
                  <a:lnTo>
                    <a:pt x="7" y="9"/>
                  </a:lnTo>
                  <a:lnTo>
                    <a:pt x="9" y="9"/>
                  </a:lnTo>
                  <a:lnTo>
                    <a:pt x="9" y="7"/>
                  </a:lnTo>
                  <a:lnTo>
                    <a:pt x="11" y="7"/>
                  </a:lnTo>
                  <a:lnTo>
                    <a:pt x="11" y="6"/>
                  </a:lnTo>
                  <a:lnTo>
                    <a:pt x="11" y="4"/>
                  </a:lnTo>
                  <a:close/>
                </a:path>
              </a:pathLst>
            </a:custGeom>
            <a:solidFill>
              <a:srgbClr val="000000"/>
            </a:solidFill>
            <a:ln w="28575" cmpd="sng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9534" name="Line 99">
            <a:extLst>
              <a:ext uri="{FF2B5EF4-FFF2-40B4-BE49-F238E27FC236}">
                <a16:creationId xmlns:a16="http://schemas.microsoft.com/office/drawing/2014/main" id="{A5E4BE79-40E6-8346-BFCB-C0110E6DDA85}"/>
              </a:ext>
            </a:extLst>
          </p:cNvPr>
          <p:cNvSpPr>
            <a:spLocks noChangeShapeType="1"/>
          </p:cNvSpPr>
          <p:nvPr/>
        </p:nvSpPr>
        <p:spPr bwMode="auto">
          <a:xfrm>
            <a:off x="7253288" y="2632075"/>
            <a:ext cx="104298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535" name="Line 100">
            <a:extLst>
              <a:ext uri="{FF2B5EF4-FFF2-40B4-BE49-F238E27FC236}">
                <a16:creationId xmlns:a16="http://schemas.microsoft.com/office/drawing/2014/main" id="{75ACFE2B-B551-5B4F-8C38-0F2A189C5227}"/>
              </a:ext>
            </a:extLst>
          </p:cNvPr>
          <p:cNvSpPr>
            <a:spLocks noChangeShapeType="1"/>
          </p:cNvSpPr>
          <p:nvPr/>
        </p:nvSpPr>
        <p:spPr bwMode="auto">
          <a:xfrm>
            <a:off x="7253288" y="5280025"/>
            <a:ext cx="10033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536" name="Line 101">
            <a:extLst>
              <a:ext uri="{FF2B5EF4-FFF2-40B4-BE49-F238E27FC236}">
                <a16:creationId xmlns:a16="http://schemas.microsoft.com/office/drawing/2014/main" id="{EBCF8C2A-FFB1-084F-B864-87C9F5A8B22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072313" y="1109663"/>
            <a:ext cx="0" cy="334962"/>
          </a:xfrm>
          <a:prstGeom prst="line">
            <a:avLst/>
          </a:prstGeom>
          <a:noFill/>
          <a:ln w="28575">
            <a:solidFill>
              <a:srgbClr val="3399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537" name="Line 102">
            <a:extLst>
              <a:ext uri="{FF2B5EF4-FFF2-40B4-BE49-F238E27FC236}">
                <a16:creationId xmlns:a16="http://schemas.microsoft.com/office/drawing/2014/main" id="{C7695E2E-B6EE-0849-8134-0707BD48E332}"/>
              </a:ext>
            </a:extLst>
          </p:cNvPr>
          <p:cNvSpPr>
            <a:spLocks noChangeShapeType="1"/>
          </p:cNvSpPr>
          <p:nvPr/>
        </p:nvSpPr>
        <p:spPr bwMode="auto">
          <a:xfrm>
            <a:off x="7621588" y="1109663"/>
            <a:ext cx="0" cy="2862262"/>
          </a:xfrm>
          <a:prstGeom prst="line">
            <a:avLst/>
          </a:prstGeom>
          <a:noFill/>
          <a:ln w="28575">
            <a:solidFill>
              <a:srgbClr val="3399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538" name="Line 103">
            <a:extLst>
              <a:ext uri="{FF2B5EF4-FFF2-40B4-BE49-F238E27FC236}">
                <a16:creationId xmlns:a16="http://schemas.microsoft.com/office/drawing/2014/main" id="{090E8E6A-55A8-AC49-BE5A-787AC5B6203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72313" y="3956050"/>
            <a:ext cx="0" cy="84138"/>
          </a:xfrm>
          <a:prstGeom prst="line">
            <a:avLst/>
          </a:prstGeom>
          <a:noFill/>
          <a:ln w="28575">
            <a:solidFill>
              <a:srgbClr val="3399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539" name="Line 104">
            <a:extLst>
              <a:ext uri="{FF2B5EF4-FFF2-40B4-BE49-F238E27FC236}">
                <a16:creationId xmlns:a16="http://schemas.microsoft.com/office/drawing/2014/main" id="{7568EC46-AB43-9345-B069-259120CB3CBE}"/>
              </a:ext>
            </a:extLst>
          </p:cNvPr>
          <p:cNvSpPr>
            <a:spLocks noChangeShapeType="1"/>
          </p:cNvSpPr>
          <p:nvPr/>
        </p:nvSpPr>
        <p:spPr bwMode="auto">
          <a:xfrm>
            <a:off x="7072313" y="3956050"/>
            <a:ext cx="549275" cy="0"/>
          </a:xfrm>
          <a:prstGeom prst="line">
            <a:avLst/>
          </a:prstGeom>
          <a:noFill/>
          <a:ln w="28575">
            <a:solidFill>
              <a:srgbClr val="3399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540" name="Text Box 105">
            <a:extLst>
              <a:ext uri="{FF2B5EF4-FFF2-40B4-BE49-F238E27FC236}">
                <a16:creationId xmlns:a16="http://schemas.microsoft.com/office/drawing/2014/main" id="{77895B8A-943E-6242-BF85-15BECCCCA9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8300" y="719138"/>
            <a:ext cx="5143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RA</a:t>
            </a:r>
          </a:p>
        </p:txBody>
      </p:sp>
      <p:sp>
        <p:nvSpPr>
          <p:cNvPr id="19541" name="Text Box 106">
            <a:extLst>
              <a:ext uri="{FF2B5EF4-FFF2-40B4-BE49-F238E27FC236}">
                <a16:creationId xmlns:a16="http://schemas.microsoft.com/office/drawing/2014/main" id="{2AA14B9E-3397-EC42-8315-20DBA20F7A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66000" y="723900"/>
            <a:ext cx="5016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RB</a:t>
            </a:r>
          </a:p>
        </p:txBody>
      </p:sp>
      <p:sp>
        <p:nvSpPr>
          <p:cNvPr id="19542" name="Text Box 107">
            <a:extLst>
              <a:ext uri="{FF2B5EF4-FFF2-40B4-BE49-F238E27FC236}">
                <a16:creationId xmlns:a16="http://schemas.microsoft.com/office/drawing/2014/main" id="{44BC2E9E-A7B5-234C-9098-588BC40363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5163" y="2360613"/>
            <a:ext cx="692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busA</a:t>
            </a:r>
          </a:p>
        </p:txBody>
      </p:sp>
      <p:sp>
        <p:nvSpPr>
          <p:cNvPr id="19543" name="Text Box 108">
            <a:extLst>
              <a:ext uri="{FF2B5EF4-FFF2-40B4-BE49-F238E27FC236}">
                <a16:creationId xmlns:a16="http://schemas.microsoft.com/office/drawing/2014/main" id="{2FFC9FC6-C6C7-D64C-959D-8D80EE7BA0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45475" y="5013325"/>
            <a:ext cx="679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busB</a:t>
            </a:r>
          </a:p>
        </p:txBody>
      </p:sp>
      <p:sp>
        <p:nvSpPr>
          <p:cNvPr id="19544" name="Line 111">
            <a:extLst>
              <a:ext uri="{FF2B5EF4-FFF2-40B4-BE49-F238E27FC236}">
                <a16:creationId xmlns:a16="http://schemas.microsoft.com/office/drawing/2014/main" id="{7EF22C8D-31FF-9A49-891F-DC9A786CF98E}"/>
              </a:ext>
            </a:extLst>
          </p:cNvPr>
          <p:cNvSpPr>
            <a:spLocks noChangeShapeType="1"/>
          </p:cNvSpPr>
          <p:nvPr/>
        </p:nvSpPr>
        <p:spPr bwMode="auto">
          <a:xfrm>
            <a:off x="3805238" y="1611313"/>
            <a:ext cx="0" cy="2841625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545" name="Line 112">
            <a:extLst>
              <a:ext uri="{FF2B5EF4-FFF2-40B4-BE49-F238E27FC236}">
                <a16:creationId xmlns:a16="http://schemas.microsoft.com/office/drawing/2014/main" id="{81EBC80E-0A0E-F14F-8857-86EDCFEB0776}"/>
              </a:ext>
            </a:extLst>
          </p:cNvPr>
          <p:cNvSpPr>
            <a:spLocks noChangeShapeType="1"/>
          </p:cNvSpPr>
          <p:nvPr/>
        </p:nvSpPr>
        <p:spPr bwMode="auto">
          <a:xfrm>
            <a:off x="3802063" y="1611313"/>
            <a:ext cx="92075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546" name="Line 113">
            <a:extLst>
              <a:ext uri="{FF2B5EF4-FFF2-40B4-BE49-F238E27FC236}">
                <a16:creationId xmlns:a16="http://schemas.microsoft.com/office/drawing/2014/main" id="{5D9E0D5A-767D-2A48-977F-306E8E0C1588}"/>
              </a:ext>
            </a:extLst>
          </p:cNvPr>
          <p:cNvSpPr>
            <a:spLocks noChangeShapeType="1"/>
          </p:cNvSpPr>
          <p:nvPr/>
        </p:nvSpPr>
        <p:spPr bwMode="auto">
          <a:xfrm>
            <a:off x="3802063" y="2054225"/>
            <a:ext cx="82550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547" name="Line 114">
            <a:extLst>
              <a:ext uri="{FF2B5EF4-FFF2-40B4-BE49-F238E27FC236}">
                <a16:creationId xmlns:a16="http://schemas.microsoft.com/office/drawing/2014/main" id="{FDDC3B01-E226-6947-BD60-39C8F2B40F04}"/>
              </a:ext>
            </a:extLst>
          </p:cNvPr>
          <p:cNvSpPr>
            <a:spLocks noChangeShapeType="1"/>
          </p:cNvSpPr>
          <p:nvPr/>
        </p:nvSpPr>
        <p:spPr bwMode="auto">
          <a:xfrm>
            <a:off x="3806825" y="2974975"/>
            <a:ext cx="77788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548" name="Line 115">
            <a:extLst>
              <a:ext uri="{FF2B5EF4-FFF2-40B4-BE49-F238E27FC236}">
                <a16:creationId xmlns:a16="http://schemas.microsoft.com/office/drawing/2014/main" id="{35A4DC75-963A-2E43-A070-19899F0847E7}"/>
              </a:ext>
            </a:extLst>
          </p:cNvPr>
          <p:cNvSpPr>
            <a:spLocks noChangeShapeType="1"/>
          </p:cNvSpPr>
          <p:nvPr/>
        </p:nvSpPr>
        <p:spPr bwMode="auto">
          <a:xfrm>
            <a:off x="3802063" y="3436938"/>
            <a:ext cx="92075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549" name="Line 116">
            <a:extLst>
              <a:ext uri="{FF2B5EF4-FFF2-40B4-BE49-F238E27FC236}">
                <a16:creationId xmlns:a16="http://schemas.microsoft.com/office/drawing/2014/main" id="{28F30838-66F5-D341-AC9C-2B88EBDE9DB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79500" y="4414838"/>
            <a:ext cx="2736850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550" name="Text Box 117">
            <a:extLst>
              <a:ext uri="{FF2B5EF4-FFF2-40B4-BE49-F238E27FC236}">
                <a16:creationId xmlns:a16="http://schemas.microsoft.com/office/drawing/2014/main" id="{A81FC302-CED5-B041-BEE9-839FD9E714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888" y="4262438"/>
            <a:ext cx="79851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chemeClr val="accent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Clk</a:t>
            </a:r>
          </a:p>
        </p:txBody>
      </p:sp>
      <p:sp>
        <p:nvSpPr>
          <p:cNvPr id="19551" name="Rectangle 118">
            <a:extLst>
              <a:ext uri="{FF2B5EF4-FFF2-40B4-BE49-F238E27FC236}">
                <a16:creationId xmlns:a16="http://schemas.microsoft.com/office/drawing/2014/main" id="{F8FD51DA-6604-D149-8E78-33123F0F70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7563" y="1997075"/>
            <a:ext cx="92075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000">
                <a:solidFill>
                  <a:srgbClr val="000000"/>
                </a:solidFill>
                <a:ea typeface="宋体" panose="02010600030101010101" pitchFamily="2" charset="-122"/>
              </a:rPr>
              <a:t>C</a:t>
            </a:r>
            <a:endParaRPr lang="en-US" altLang="zh-CN" sz="10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552" name="Rectangle 119">
            <a:extLst>
              <a:ext uri="{FF2B5EF4-FFF2-40B4-BE49-F238E27FC236}">
                <a16:creationId xmlns:a16="http://schemas.microsoft.com/office/drawing/2014/main" id="{AEFF9EFF-5A53-E040-AB67-6C1FEFE48E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0263" y="2262188"/>
            <a:ext cx="92075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000">
                <a:solidFill>
                  <a:srgbClr val="000000"/>
                </a:solidFill>
                <a:ea typeface="宋体" panose="02010600030101010101" pitchFamily="2" charset="-122"/>
              </a:rPr>
              <a:t>D</a:t>
            </a:r>
            <a:endParaRPr lang="en-US" altLang="zh-CN" sz="10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553" name="Rectangle 120">
            <a:extLst>
              <a:ext uri="{FF2B5EF4-FFF2-40B4-BE49-F238E27FC236}">
                <a16:creationId xmlns:a16="http://schemas.microsoft.com/office/drawing/2014/main" id="{1763DC1E-1176-3641-90AE-18AFE0361F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9150" y="2919413"/>
            <a:ext cx="92075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000">
                <a:solidFill>
                  <a:srgbClr val="000000"/>
                </a:solidFill>
                <a:ea typeface="宋体" panose="02010600030101010101" pitchFamily="2" charset="-122"/>
              </a:rPr>
              <a:t>C</a:t>
            </a:r>
          </a:p>
        </p:txBody>
      </p:sp>
      <p:sp>
        <p:nvSpPr>
          <p:cNvPr id="19554" name="Rectangle 121">
            <a:extLst>
              <a:ext uri="{FF2B5EF4-FFF2-40B4-BE49-F238E27FC236}">
                <a16:creationId xmlns:a16="http://schemas.microsoft.com/office/drawing/2014/main" id="{FE2A74CF-76F7-B143-87AD-245247F5D0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7563" y="3171825"/>
            <a:ext cx="90487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000">
                <a:solidFill>
                  <a:srgbClr val="000000"/>
                </a:solidFill>
                <a:ea typeface="宋体" panose="02010600030101010101" pitchFamily="2" charset="-122"/>
              </a:rPr>
              <a:t>D</a:t>
            </a:r>
          </a:p>
        </p:txBody>
      </p:sp>
      <p:sp>
        <p:nvSpPr>
          <p:cNvPr id="19555" name="Rectangle 122">
            <a:extLst>
              <a:ext uri="{FF2B5EF4-FFF2-40B4-BE49-F238E27FC236}">
                <a16:creationId xmlns:a16="http://schemas.microsoft.com/office/drawing/2014/main" id="{A2558CE4-ACEB-9C4E-96C6-C6B6C701A3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0738" y="3359150"/>
            <a:ext cx="92075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000">
                <a:solidFill>
                  <a:srgbClr val="000000"/>
                </a:solidFill>
                <a:ea typeface="宋体" panose="02010600030101010101" pitchFamily="2" charset="-122"/>
              </a:rPr>
              <a:t>C</a:t>
            </a:r>
          </a:p>
        </p:txBody>
      </p:sp>
      <p:sp>
        <p:nvSpPr>
          <p:cNvPr id="19556" name="Rectangle 123">
            <a:extLst>
              <a:ext uri="{FF2B5EF4-FFF2-40B4-BE49-F238E27FC236}">
                <a16:creationId xmlns:a16="http://schemas.microsoft.com/office/drawing/2014/main" id="{50659A6A-5F14-2E41-9538-96DA0BFC59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9150" y="3611563"/>
            <a:ext cx="92075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000">
                <a:solidFill>
                  <a:srgbClr val="000000"/>
                </a:solidFill>
                <a:ea typeface="宋体" panose="02010600030101010101" pitchFamily="2" charset="-122"/>
              </a:rPr>
              <a:t>D</a:t>
            </a:r>
          </a:p>
        </p:txBody>
      </p:sp>
      <p:sp>
        <p:nvSpPr>
          <p:cNvPr id="300156" name="Text Box 124">
            <a:extLst>
              <a:ext uri="{FF2B5EF4-FFF2-40B4-BE49-F238E27FC236}">
                <a16:creationId xmlns:a16="http://schemas.microsoft.com/office/drawing/2014/main" id="{4707750F-363B-EC43-BCEA-EC803E8950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2550" y="4832350"/>
            <a:ext cx="4808538" cy="1495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30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每个寄存器由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个触发器组成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</a:p>
          <a:p>
            <a:pPr>
              <a:spcBef>
                <a:spcPct val="30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输入数据来自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busW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，读出数据分别送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busA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busB;</a:t>
            </a:r>
          </a:p>
          <a:p>
            <a:pPr>
              <a:spcBef>
                <a:spcPct val="30000"/>
              </a:spcBef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WriteEnable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信号控制是否写入新值。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558" name="Freeform 126">
            <a:extLst>
              <a:ext uri="{FF2B5EF4-FFF2-40B4-BE49-F238E27FC236}">
                <a16:creationId xmlns:a16="http://schemas.microsoft.com/office/drawing/2014/main" id="{4A37A1BA-8532-D847-A7F1-C879C9A38466}"/>
              </a:ext>
            </a:extLst>
          </p:cNvPr>
          <p:cNvSpPr>
            <a:spLocks/>
          </p:cNvSpPr>
          <p:nvPr/>
        </p:nvSpPr>
        <p:spPr bwMode="auto">
          <a:xfrm>
            <a:off x="3487738" y="3186113"/>
            <a:ext cx="69850" cy="69850"/>
          </a:xfrm>
          <a:custGeom>
            <a:avLst/>
            <a:gdLst>
              <a:gd name="T0" fmla="*/ 2147483646 w 32"/>
              <a:gd name="T1" fmla="*/ 2147483646 h 27"/>
              <a:gd name="T2" fmla="*/ 2147483646 w 32"/>
              <a:gd name="T3" fmla="*/ 2147483646 h 27"/>
              <a:gd name="T4" fmla="*/ 2147483646 w 32"/>
              <a:gd name="T5" fmla="*/ 2147483646 h 27"/>
              <a:gd name="T6" fmla="*/ 2147483646 w 32"/>
              <a:gd name="T7" fmla="*/ 2147483646 h 27"/>
              <a:gd name="T8" fmla="*/ 2147483646 w 32"/>
              <a:gd name="T9" fmla="*/ 2147483646 h 27"/>
              <a:gd name="T10" fmla="*/ 2147483646 w 32"/>
              <a:gd name="T11" fmla="*/ 2147483646 h 27"/>
              <a:gd name="T12" fmla="*/ 2147483646 w 32"/>
              <a:gd name="T13" fmla="*/ 2147483646 h 27"/>
              <a:gd name="T14" fmla="*/ 2147483646 w 32"/>
              <a:gd name="T15" fmla="*/ 2147483646 h 27"/>
              <a:gd name="T16" fmla="*/ 2147483646 w 32"/>
              <a:gd name="T17" fmla="*/ 2147483646 h 27"/>
              <a:gd name="T18" fmla="*/ 2147483646 w 32"/>
              <a:gd name="T19" fmla="*/ 2147483646 h 27"/>
              <a:gd name="T20" fmla="*/ 2147483646 w 32"/>
              <a:gd name="T21" fmla="*/ 2147483646 h 27"/>
              <a:gd name="T22" fmla="*/ 2147483646 w 32"/>
              <a:gd name="T23" fmla="*/ 2147483646 h 27"/>
              <a:gd name="T24" fmla="*/ 2147483646 w 32"/>
              <a:gd name="T25" fmla="*/ 2147483646 h 27"/>
              <a:gd name="T26" fmla="*/ 2147483646 w 32"/>
              <a:gd name="T27" fmla="*/ 2147483646 h 27"/>
              <a:gd name="T28" fmla="*/ 2147483646 w 32"/>
              <a:gd name="T29" fmla="*/ 2147483646 h 27"/>
              <a:gd name="T30" fmla="*/ 2147483646 w 32"/>
              <a:gd name="T31" fmla="*/ 2147483646 h 27"/>
              <a:gd name="T32" fmla="*/ 2147483646 w 32"/>
              <a:gd name="T33" fmla="*/ 2147483646 h 27"/>
              <a:gd name="T34" fmla="*/ 2147483646 w 32"/>
              <a:gd name="T35" fmla="*/ 2147483646 h 27"/>
              <a:gd name="T36" fmla="*/ 2147483646 w 32"/>
              <a:gd name="T37" fmla="*/ 0 h 27"/>
              <a:gd name="T38" fmla="*/ 2147483646 w 32"/>
              <a:gd name="T39" fmla="*/ 0 h 27"/>
              <a:gd name="T40" fmla="*/ 2147483646 w 32"/>
              <a:gd name="T41" fmla="*/ 0 h 27"/>
              <a:gd name="T42" fmla="*/ 2147483646 w 32"/>
              <a:gd name="T43" fmla="*/ 0 h 27"/>
              <a:gd name="T44" fmla="*/ 2147483646 w 32"/>
              <a:gd name="T45" fmla="*/ 0 h 27"/>
              <a:gd name="T46" fmla="*/ 2147483646 w 32"/>
              <a:gd name="T47" fmla="*/ 2147483646 h 27"/>
              <a:gd name="T48" fmla="*/ 2147483646 w 32"/>
              <a:gd name="T49" fmla="*/ 2147483646 h 27"/>
              <a:gd name="T50" fmla="*/ 2147483646 w 32"/>
              <a:gd name="T51" fmla="*/ 2147483646 h 27"/>
              <a:gd name="T52" fmla="*/ 2147483646 w 32"/>
              <a:gd name="T53" fmla="*/ 2147483646 h 27"/>
              <a:gd name="T54" fmla="*/ 2147483646 w 32"/>
              <a:gd name="T55" fmla="*/ 2147483646 h 27"/>
              <a:gd name="T56" fmla="*/ 2147483646 w 32"/>
              <a:gd name="T57" fmla="*/ 2147483646 h 27"/>
              <a:gd name="T58" fmla="*/ 0 w 32"/>
              <a:gd name="T59" fmla="*/ 2147483646 h 27"/>
              <a:gd name="T60" fmla="*/ 0 w 32"/>
              <a:gd name="T61" fmla="*/ 2147483646 h 27"/>
              <a:gd name="T62" fmla="*/ 0 w 32"/>
              <a:gd name="T63" fmla="*/ 2147483646 h 27"/>
              <a:gd name="T64" fmla="*/ 2147483646 w 32"/>
              <a:gd name="T65" fmla="*/ 2147483646 h 27"/>
              <a:gd name="T66" fmla="*/ 2147483646 w 32"/>
              <a:gd name="T67" fmla="*/ 2147483646 h 27"/>
              <a:gd name="T68" fmla="*/ 2147483646 w 32"/>
              <a:gd name="T69" fmla="*/ 2147483646 h 27"/>
              <a:gd name="T70" fmla="*/ 2147483646 w 32"/>
              <a:gd name="T71" fmla="*/ 2147483646 h 27"/>
              <a:gd name="T72" fmla="*/ 2147483646 w 32"/>
              <a:gd name="T73" fmla="*/ 2147483646 h 27"/>
              <a:gd name="T74" fmla="*/ 2147483646 w 32"/>
              <a:gd name="T75" fmla="*/ 2147483646 h 27"/>
              <a:gd name="T76" fmla="*/ 2147483646 w 32"/>
              <a:gd name="T77" fmla="*/ 2147483646 h 27"/>
              <a:gd name="T78" fmla="*/ 2147483646 w 32"/>
              <a:gd name="T79" fmla="*/ 2147483646 h 27"/>
              <a:gd name="T80" fmla="*/ 2147483646 w 32"/>
              <a:gd name="T81" fmla="*/ 2147483646 h 27"/>
              <a:gd name="T82" fmla="*/ 2147483646 w 32"/>
              <a:gd name="T83" fmla="*/ 2147483646 h 27"/>
              <a:gd name="T84" fmla="*/ 2147483646 w 32"/>
              <a:gd name="T85" fmla="*/ 2147483646 h 27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0" t="0" r="r" b="b"/>
            <a:pathLst>
              <a:path w="32" h="27">
                <a:moveTo>
                  <a:pt x="15" y="25"/>
                </a:moveTo>
                <a:lnTo>
                  <a:pt x="19" y="27"/>
                </a:lnTo>
                <a:lnTo>
                  <a:pt x="21" y="25"/>
                </a:lnTo>
                <a:lnTo>
                  <a:pt x="23" y="25"/>
                </a:lnTo>
                <a:lnTo>
                  <a:pt x="25" y="23"/>
                </a:lnTo>
                <a:lnTo>
                  <a:pt x="27" y="22"/>
                </a:lnTo>
                <a:lnTo>
                  <a:pt x="29" y="20"/>
                </a:lnTo>
                <a:lnTo>
                  <a:pt x="30" y="19"/>
                </a:lnTo>
                <a:lnTo>
                  <a:pt x="30" y="17"/>
                </a:lnTo>
                <a:lnTo>
                  <a:pt x="32" y="16"/>
                </a:lnTo>
                <a:lnTo>
                  <a:pt x="32" y="13"/>
                </a:lnTo>
                <a:lnTo>
                  <a:pt x="32" y="11"/>
                </a:lnTo>
                <a:lnTo>
                  <a:pt x="30" y="10"/>
                </a:lnTo>
                <a:lnTo>
                  <a:pt x="30" y="8"/>
                </a:lnTo>
                <a:lnTo>
                  <a:pt x="29" y="5"/>
                </a:lnTo>
                <a:lnTo>
                  <a:pt x="27" y="3"/>
                </a:lnTo>
                <a:lnTo>
                  <a:pt x="25" y="3"/>
                </a:lnTo>
                <a:lnTo>
                  <a:pt x="23" y="2"/>
                </a:lnTo>
                <a:lnTo>
                  <a:pt x="21" y="0"/>
                </a:lnTo>
                <a:lnTo>
                  <a:pt x="19" y="0"/>
                </a:lnTo>
                <a:lnTo>
                  <a:pt x="15" y="0"/>
                </a:lnTo>
                <a:lnTo>
                  <a:pt x="13" y="0"/>
                </a:lnTo>
                <a:lnTo>
                  <a:pt x="11" y="0"/>
                </a:lnTo>
                <a:lnTo>
                  <a:pt x="9" y="2"/>
                </a:lnTo>
                <a:lnTo>
                  <a:pt x="8" y="3"/>
                </a:lnTo>
                <a:lnTo>
                  <a:pt x="6" y="3"/>
                </a:lnTo>
                <a:lnTo>
                  <a:pt x="4" y="5"/>
                </a:lnTo>
                <a:lnTo>
                  <a:pt x="2" y="8"/>
                </a:lnTo>
                <a:lnTo>
                  <a:pt x="2" y="10"/>
                </a:lnTo>
                <a:lnTo>
                  <a:pt x="0" y="11"/>
                </a:lnTo>
                <a:lnTo>
                  <a:pt x="0" y="13"/>
                </a:lnTo>
                <a:lnTo>
                  <a:pt x="0" y="16"/>
                </a:lnTo>
                <a:lnTo>
                  <a:pt x="2" y="17"/>
                </a:lnTo>
                <a:lnTo>
                  <a:pt x="2" y="19"/>
                </a:lnTo>
                <a:lnTo>
                  <a:pt x="4" y="20"/>
                </a:lnTo>
                <a:lnTo>
                  <a:pt x="6" y="22"/>
                </a:lnTo>
                <a:lnTo>
                  <a:pt x="8" y="23"/>
                </a:lnTo>
                <a:lnTo>
                  <a:pt x="9" y="25"/>
                </a:lnTo>
                <a:lnTo>
                  <a:pt x="11" y="25"/>
                </a:lnTo>
                <a:lnTo>
                  <a:pt x="13" y="27"/>
                </a:lnTo>
                <a:lnTo>
                  <a:pt x="15" y="27"/>
                </a:lnTo>
                <a:lnTo>
                  <a:pt x="15" y="25"/>
                </a:lnTo>
                <a:close/>
              </a:path>
            </a:pathLst>
          </a:custGeom>
          <a:solidFill>
            <a:srgbClr val="000000"/>
          </a:solidFill>
          <a:ln w="28575" cmpd="sng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559" name="Freeform 127">
            <a:extLst>
              <a:ext uri="{FF2B5EF4-FFF2-40B4-BE49-F238E27FC236}">
                <a16:creationId xmlns:a16="http://schemas.microsoft.com/office/drawing/2014/main" id="{1B975BCE-3454-DE4F-81CA-3DEEDDF20D20}"/>
              </a:ext>
            </a:extLst>
          </p:cNvPr>
          <p:cNvSpPr>
            <a:spLocks/>
          </p:cNvSpPr>
          <p:nvPr/>
        </p:nvSpPr>
        <p:spPr bwMode="auto">
          <a:xfrm>
            <a:off x="3487738" y="2284413"/>
            <a:ext cx="69850" cy="82550"/>
          </a:xfrm>
          <a:custGeom>
            <a:avLst/>
            <a:gdLst>
              <a:gd name="T0" fmla="*/ 2147483646 w 32"/>
              <a:gd name="T1" fmla="*/ 2147483646 h 27"/>
              <a:gd name="T2" fmla="*/ 2147483646 w 32"/>
              <a:gd name="T3" fmla="*/ 2147483646 h 27"/>
              <a:gd name="T4" fmla="*/ 2147483646 w 32"/>
              <a:gd name="T5" fmla="*/ 2147483646 h 27"/>
              <a:gd name="T6" fmla="*/ 2147483646 w 32"/>
              <a:gd name="T7" fmla="*/ 2147483646 h 27"/>
              <a:gd name="T8" fmla="*/ 2147483646 w 32"/>
              <a:gd name="T9" fmla="*/ 2147483646 h 27"/>
              <a:gd name="T10" fmla="*/ 2147483646 w 32"/>
              <a:gd name="T11" fmla="*/ 2147483646 h 27"/>
              <a:gd name="T12" fmla="*/ 2147483646 w 32"/>
              <a:gd name="T13" fmla="*/ 2147483646 h 27"/>
              <a:gd name="T14" fmla="*/ 2147483646 w 32"/>
              <a:gd name="T15" fmla="*/ 2147483646 h 27"/>
              <a:gd name="T16" fmla="*/ 2147483646 w 32"/>
              <a:gd name="T17" fmla="*/ 2147483646 h 27"/>
              <a:gd name="T18" fmla="*/ 2147483646 w 32"/>
              <a:gd name="T19" fmla="*/ 2147483646 h 27"/>
              <a:gd name="T20" fmla="*/ 2147483646 w 32"/>
              <a:gd name="T21" fmla="*/ 2147483646 h 27"/>
              <a:gd name="T22" fmla="*/ 2147483646 w 32"/>
              <a:gd name="T23" fmla="*/ 2147483646 h 27"/>
              <a:gd name="T24" fmla="*/ 2147483646 w 32"/>
              <a:gd name="T25" fmla="*/ 2147483646 h 27"/>
              <a:gd name="T26" fmla="*/ 2147483646 w 32"/>
              <a:gd name="T27" fmla="*/ 2147483646 h 27"/>
              <a:gd name="T28" fmla="*/ 2147483646 w 32"/>
              <a:gd name="T29" fmla="*/ 2147483646 h 27"/>
              <a:gd name="T30" fmla="*/ 2147483646 w 32"/>
              <a:gd name="T31" fmla="*/ 2147483646 h 27"/>
              <a:gd name="T32" fmla="*/ 2147483646 w 32"/>
              <a:gd name="T33" fmla="*/ 2147483646 h 27"/>
              <a:gd name="T34" fmla="*/ 2147483646 w 32"/>
              <a:gd name="T35" fmla="*/ 2147483646 h 27"/>
              <a:gd name="T36" fmla="*/ 2147483646 w 32"/>
              <a:gd name="T37" fmla="*/ 0 h 27"/>
              <a:gd name="T38" fmla="*/ 2147483646 w 32"/>
              <a:gd name="T39" fmla="*/ 0 h 27"/>
              <a:gd name="T40" fmla="*/ 2147483646 w 32"/>
              <a:gd name="T41" fmla="*/ 0 h 27"/>
              <a:gd name="T42" fmla="*/ 2147483646 w 32"/>
              <a:gd name="T43" fmla="*/ 0 h 27"/>
              <a:gd name="T44" fmla="*/ 2147483646 w 32"/>
              <a:gd name="T45" fmla="*/ 0 h 27"/>
              <a:gd name="T46" fmla="*/ 2147483646 w 32"/>
              <a:gd name="T47" fmla="*/ 2147483646 h 27"/>
              <a:gd name="T48" fmla="*/ 2147483646 w 32"/>
              <a:gd name="T49" fmla="*/ 2147483646 h 27"/>
              <a:gd name="T50" fmla="*/ 2147483646 w 32"/>
              <a:gd name="T51" fmla="*/ 2147483646 h 27"/>
              <a:gd name="T52" fmla="*/ 2147483646 w 32"/>
              <a:gd name="T53" fmla="*/ 2147483646 h 27"/>
              <a:gd name="T54" fmla="*/ 2147483646 w 32"/>
              <a:gd name="T55" fmla="*/ 2147483646 h 27"/>
              <a:gd name="T56" fmla="*/ 2147483646 w 32"/>
              <a:gd name="T57" fmla="*/ 2147483646 h 27"/>
              <a:gd name="T58" fmla="*/ 0 w 32"/>
              <a:gd name="T59" fmla="*/ 2147483646 h 27"/>
              <a:gd name="T60" fmla="*/ 0 w 32"/>
              <a:gd name="T61" fmla="*/ 2147483646 h 27"/>
              <a:gd name="T62" fmla="*/ 0 w 32"/>
              <a:gd name="T63" fmla="*/ 2147483646 h 27"/>
              <a:gd name="T64" fmla="*/ 2147483646 w 32"/>
              <a:gd name="T65" fmla="*/ 2147483646 h 27"/>
              <a:gd name="T66" fmla="*/ 2147483646 w 32"/>
              <a:gd name="T67" fmla="*/ 2147483646 h 27"/>
              <a:gd name="T68" fmla="*/ 2147483646 w 32"/>
              <a:gd name="T69" fmla="*/ 2147483646 h 27"/>
              <a:gd name="T70" fmla="*/ 2147483646 w 32"/>
              <a:gd name="T71" fmla="*/ 2147483646 h 27"/>
              <a:gd name="T72" fmla="*/ 2147483646 w 32"/>
              <a:gd name="T73" fmla="*/ 2147483646 h 27"/>
              <a:gd name="T74" fmla="*/ 2147483646 w 32"/>
              <a:gd name="T75" fmla="*/ 2147483646 h 27"/>
              <a:gd name="T76" fmla="*/ 2147483646 w 32"/>
              <a:gd name="T77" fmla="*/ 2147483646 h 27"/>
              <a:gd name="T78" fmla="*/ 2147483646 w 32"/>
              <a:gd name="T79" fmla="*/ 2147483646 h 27"/>
              <a:gd name="T80" fmla="*/ 2147483646 w 32"/>
              <a:gd name="T81" fmla="*/ 2147483646 h 27"/>
              <a:gd name="T82" fmla="*/ 2147483646 w 32"/>
              <a:gd name="T83" fmla="*/ 2147483646 h 27"/>
              <a:gd name="T84" fmla="*/ 2147483646 w 32"/>
              <a:gd name="T85" fmla="*/ 2147483646 h 27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0" t="0" r="r" b="b"/>
            <a:pathLst>
              <a:path w="32" h="27">
                <a:moveTo>
                  <a:pt x="15" y="25"/>
                </a:moveTo>
                <a:lnTo>
                  <a:pt x="19" y="27"/>
                </a:lnTo>
                <a:lnTo>
                  <a:pt x="21" y="25"/>
                </a:lnTo>
                <a:lnTo>
                  <a:pt x="23" y="25"/>
                </a:lnTo>
                <a:lnTo>
                  <a:pt x="25" y="23"/>
                </a:lnTo>
                <a:lnTo>
                  <a:pt x="27" y="22"/>
                </a:lnTo>
                <a:lnTo>
                  <a:pt x="29" y="20"/>
                </a:lnTo>
                <a:lnTo>
                  <a:pt x="30" y="19"/>
                </a:lnTo>
                <a:lnTo>
                  <a:pt x="30" y="17"/>
                </a:lnTo>
                <a:lnTo>
                  <a:pt x="32" y="16"/>
                </a:lnTo>
                <a:lnTo>
                  <a:pt x="32" y="13"/>
                </a:lnTo>
                <a:lnTo>
                  <a:pt x="32" y="11"/>
                </a:lnTo>
                <a:lnTo>
                  <a:pt x="30" y="10"/>
                </a:lnTo>
                <a:lnTo>
                  <a:pt x="30" y="8"/>
                </a:lnTo>
                <a:lnTo>
                  <a:pt x="29" y="5"/>
                </a:lnTo>
                <a:lnTo>
                  <a:pt x="27" y="3"/>
                </a:lnTo>
                <a:lnTo>
                  <a:pt x="25" y="3"/>
                </a:lnTo>
                <a:lnTo>
                  <a:pt x="23" y="2"/>
                </a:lnTo>
                <a:lnTo>
                  <a:pt x="21" y="0"/>
                </a:lnTo>
                <a:lnTo>
                  <a:pt x="19" y="0"/>
                </a:lnTo>
                <a:lnTo>
                  <a:pt x="15" y="0"/>
                </a:lnTo>
                <a:lnTo>
                  <a:pt x="13" y="0"/>
                </a:lnTo>
                <a:lnTo>
                  <a:pt x="11" y="0"/>
                </a:lnTo>
                <a:lnTo>
                  <a:pt x="9" y="2"/>
                </a:lnTo>
                <a:lnTo>
                  <a:pt x="8" y="3"/>
                </a:lnTo>
                <a:lnTo>
                  <a:pt x="6" y="3"/>
                </a:lnTo>
                <a:lnTo>
                  <a:pt x="4" y="5"/>
                </a:lnTo>
                <a:lnTo>
                  <a:pt x="2" y="8"/>
                </a:lnTo>
                <a:lnTo>
                  <a:pt x="2" y="10"/>
                </a:lnTo>
                <a:lnTo>
                  <a:pt x="0" y="11"/>
                </a:lnTo>
                <a:lnTo>
                  <a:pt x="0" y="13"/>
                </a:lnTo>
                <a:lnTo>
                  <a:pt x="0" y="16"/>
                </a:lnTo>
                <a:lnTo>
                  <a:pt x="2" y="17"/>
                </a:lnTo>
                <a:lnTo>
                  <a:pt x="2" y="19"/>
                </a:lnTo>
                <a:lnTo>
                  <a:pt x="4" y="20"/>
                </a:lnTo>
                <a:lnTo>
                  <a:pt x="6" y="22"/>
                </a:lnTo>
                <a:lnTo>
                  <a:pt x="8" y="23"/>
                </a:lnTo>
                <a:lnTo>
                  <a:pt x="9" y="25"/>
                </a:lnTo>
                <a:lnTo>
                  <a:pt x="11" y="25"/>
                </a:lnTo>
                <a:lnTo>
                  <a:pt x="13" y="27"/>
                </a:lnTo>
                <a:lnTo>
                  <a:pt x="15" y="27"/>
                </a:lnTo>
                <a:lnTo>
                  <a:pt x="15" y="25"/>
                </a:lnTo>
                <a:close/>
              </a:path>
            </a:pathLst>
          </a:custGeom>
          <a:solidFill>
            <a:srgbClr val="000000"/>
          </a:solidFill>
          <a:ln w="28575" cmpd="sng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560" name="Text Box 128">
            <a:extLst>
              <a:ext uri="{FF2B5EF4-FFF2-40B4-BE49-F238E27FC236}">
                <a16:creationId xmlns:a16="http://schemas.microsoft.com/office/drawing/2014/main" id="{0497828C-8601-F747-87F4-6A961C501D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248400"/>
            <a:ext cx="14732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  <a:hlinkClick r:id="" action="ppaction://noaction"/>
              </a:rPr>
              <a:t>Back to add</a:t>
            </a:r>
            <a:endParaRPr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0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1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001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1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001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2">
            <a:extLst>
              <a:ext uri="{FF2B5EF4-FFF2-40B4-BE49-F238E27FC236}">
                <a16:creationId xmlns:a16="http://schemas.microsoft.com/office/drawing/2014/main" id="{18A8776C-7285-8B49-9F39-B742812804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2388" y="1497013"/>
            <a:ext cx="8121650" cy="3675062"/>
          </a:xfrm>
        </p:spPr>
        <p:txBody>
          <a:bodyPr/>
          <a:lstStyle/>
          <a:p>
            <a:pPr>
              <a:lnSpc>
                <a:spcPct val="120000"/>
              </a:lnSpc>
              <a:spcBef>
                <a:spcPct val="15000"/>
              </a:spcBef>
            </a:pPr>
            <a:r>
              <a:rPr lang="zh-CN" altLang="en-US" sz="20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理想存储器（ </a:t>
            </a:r>
            <a:r>
              <a:rPr lang="en-US" altLang="zh-CN" sz="20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idealized memory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  <a:p>
            <a:pPr lvl="1">
              <a:lnSpc>
                <a:spcPct val="130000"/>
              </a:lnSpc>
              <a:spcBef>
                <a:spcPct val="15000"/>
              </a:spcBef>
            </a:pPr>
            <a:r>
              <a:rPr lang="en-US" altLang="zh-CN" sz="20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Data Out</a:t>
            </a:r>
            <a:r>
              <a:rPr lang="zh-CN" altLang="en-US" sz="20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位读出数据</a:t>
            </a:r>
          </a:p>
          <a:p>
            <a:pPr lvl="1">
              <a:lnSpc>
                <a:spcPct val="130000"/>
              </a:lnSpc>
              <a:spcBef>
                <a:spcPct val="15000"/>
              </a:spcBef>
            </a:pPr>
            <a:r>
              <a:rPr lang="en-US" altLang="zh-CN" sz="20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Data In</a:t>
            </a:r>
            <a:r>
              <a:rPr lang="zh-CN" altLang="en-US" sz="20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位写入数据</a:t>
            </a:r>
          </a:p>
          <a:p>
            <a:pPr lvl="1">
              <a:lnSpc>
                <a:spcPct val="130000"/>
              </a:lnSpc>
              <a:spcBef>
                <a:spcPct val="15000"/>
              </a:spcBef>
            </a:pPr>
            <a:r>
              <a:rPr lang="en-US" altLang="zh-CN" sz="20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Address</a:t>
            </a:r>
            <a:r>
              <a:rPr lang="zh-CN" altLang="en-US" sz="20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读写公用一个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位地址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30000"/>
              </a:lnSpc>
              <a:spcBef>
                <a:spcPct val="15000"/>
              </a:spcBef>
            </a:pPr>
            <a:endParaRPr lang="zh-CN" altLang="en-US" sz="1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30000"/>
              </a:lnSpc>
              <a:spcBef>
                <a:spcPct val="15000"/>
              </a:spcBef>
            </a:pPr>
            <a:r>
              <a:rPr lang="zh-CN" altLang="en-US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读操作</a:t>
            </a:r>
            <a:r>
              <a:rPr lang="zh-CN" altLang="en-US" sz="20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组合逻辑操作</a:t>
            </a:r>
            <a:r>
              <a:rPr lang="zh-CN" altLang="en-US" sz="2000">
                <a:solidFill>
                  <a:srgbClr val="3399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：地址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Address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有效后，经一个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取数时间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AccessTime”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Data Out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上数据有效。</a:t>
            </a:r>
          </a:p>
          <a:p>
            <a:pPr lvl="1">
              <a:lnSpc>
                <a:spcPct val="130000"/>
              </a:lnSpc>
              <a:spcBef>
                <a:spcPct val="15000"/>
              </a:spcBef>
            </a:pPr>
            <a:r>
              <a:rPr lang="zh-CN" altLang="en-US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写操作</a:t>
            </a:r>
            <a:r>
              <a:rPr lang="zh-CN" altLang="en-US" sz="20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时序逻辑操作</a:t>
            </a:r>
            <a:r>
              <a:rPr lang="zh-CN" altLang="en-US" sz="2000">
                <a:solidFill>
                  <a:srgbClr val="3399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20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：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写使能为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的情况下，时钟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Clk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边沿到来时，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Data In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传来的值开始被写入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Address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指定的存储单元中。</a:t>
            </a:r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FCB00234-3CE7-434C-90BF-6F510FCBEB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4500" y="203200"/>
            <a:ext cx="7046913" cy="422275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存储元件</a:t>
            </a:r>
            <a:r>
              <a:rPr lang="en-US" altLang="zh-CN">
                <a:ea typeface="宋体" panose="02010600030101010101" pitchFamily="2" charset="-122"/>
              </a:rPr>
              <a:t>: </a:t>
            </a:r>
            <a:r>
              <a:rPr lang="zh-CN" altLang="en-US">
                <a:ea typeface="宋体" panose="02010600030101010101" pitchFamily="2" charset="-122"/>
              </a:rPr>
              <a:t>理想存储器</a:t>
            </a:r>
          </a:p>
        </p:txBody>
      </p:sp>
      <p:sp>
        <p:nvSpPr>
          <p:cNvPr id="20484" name="Rectangle 4">
            <a:extLst>
              <a:ext uri="{FF2B5EF4-FFF2-40B4-BE49-F238E27FC236}">
                <a16:creationId xmlns:a16="http://schemas.microsoft.com/office/drawing/2014/main" id="{6E03461C-B57C-F842-953A-DC287FCE71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5288" y="2274888"/>
            <a:ext cx="5365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chemeClr val="accent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Clk</a:t>
            </a:r>
          </a:p>
        </p:txBody>
      </p:sp>
      <p:sp>
        <p:nvSpPr>
          <p:cNvPr id="20485" name="Rectangle 5">
            <a:extLst>
              <a:ext uri="{FF2B5EF4-FFF2-40B4-BE49-F238E27FC236}">
                <a16:creationId xmlns:a16="http://schemas.microsoft.com/office/drawing/2014/main" id="{52620E41-298E-3A46-BA37-505B603C23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4763" y="1630363"/>
            <a:ext cx="92392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Data In</a:t>
            </a:r>
          </a:p>
        </p:txBody>
      </p:sp>
      <p:sp>
        <p:nvSpPr>
          <p:cNvPr id="20486" name="Rectangle 6">
            <a:extLst>
              <a:ext uri="{FF2B5EF4-FFF2-40B4-BE49-F238E27FC236}">
                <a16:creationId xmlns:a16="http://schemas.microsoft.com/office/drawing/2014/main" id="{B832494F-DE9B-D748-9AEC-79A4A56BD2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9025" y="1516063"/>
            <a:ext cx="1431925" cy="12128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0487" name="Line 7">
            <a:extLst>
              <a:ext uri="{FF2B5EF4-FFF2-40B4-BE49-F238E27FC236}">
                <a16:creationId xmlns:a16="http://schemas.microsoft.com/office/drawing/2014/main" id="{6FFDB8F4-AA0C-0F4E-8F52-DFBDA9253AAE}"/>
              </a:ext>
            </a:extLst>
          </p:cNvPr>
          <p:cNvSpPr>
            <a:spLocks noChangeShapeType="1"/>
          </p:cNvSpPr>
          <p:nvPr/>
        </p:nvSpPr>
        <p:spPr bwMode="auto">
          <a:xfrm>
            <a:off x="6164263" y="2487613"/>
            <a:ext cx="166687" cy="952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88" name="Line 8">
            <a:extLst>
              <a:ext uri="{FF2B5EF4-FFF2-40B4-BE49-F238E27FC236}">
                <a16:creationId xmlns:a16="http://schemas.microsoft.com/office/drawing/2014/main" id="{26B64170-4A01-FE4B-B2BD-985D4550E30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81725" y="2578100"/>
            <a:ext cx="149225" cy="698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89" name="Oval 9">
            <a:extLst>
              <a:ext uri="{FF2B5EF4-FFF2-40B4-BE49-F238E27FC236}">
                <a16:creationId xmlns:a16="http://schemas.microsoft.com/office/drawing/2014/main" id="{09E991B2-4203-5C43-BAE5-C2D858EAF5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6625" y="2511425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0490" name="Rectangle 10">
            <a:extLst>
              <a:ext uri="{FF2B5EF4-FFF2-40B4-BE49-F238E27FC236}">
                <a16:creationId xmlns:a16="http://schemas.microsoft.com/office/drawing/2014/main" id="{ECDF99A6-645F-5844-885D-698775DE97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1475" y="917575"/>
            <a:ext cx="149542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Write Enable</a:t>
            </a:r>
          </a:p>
        </p:txBody>
      </p:sp>
      <p:sp>
        <p:nvSpPr>
          <p:cNvPr id="20491" name="Line 11">
            <a:extLst>
              <a:ext uri="{FF2B5EF4-FFF2-40B4-BE49-F238E27FC236}">
                <a16:creationId xmlns:a16="http://schemas.microsoft.com/office/drawing/2014/main" id="{4B7D1ED6-D480-9A4E-9EFA-4B45E5310DD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68900" y="2036763"/>
            <a:ext cx="10033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92" name="Line 12">
            <a:extLst>
              <a:ext uri="{FF2B5EF4-FFF2-40B4-BE49-F238E27FC236}">
                <a16:creationId xmlns:a16="http://schemas.microsoft.com/office/drawing/2014/main" id="{13B994F5-7031-1E4A-B5CF-A38C166F34E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02300" y="1966913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93" name="Rectangle 13">
            <a:extLst>
              <a:ext uri="{FF2B5EF4-FFF2-40B4-BE49-F238E27FC236}">
                <a16:creationId xmlns:a16="http://schemas.microsoft.com/office/drawing/2014/main" id="{C6E412C7-8F3D-1C44-BFFE-06798408D5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9563" y="2036763"/>
            <a:ext cx="3841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0494" name="Line 14">
            <a:extLst>
              <a:ext uri="{FF2B5EF4-FFF2-40B4-BE49-F238E27FC236}">
                <a16:creationId xmlns:a16="http://schemas.microsoft.com/office/drawing/2014/main" id="{DF7A00E2-3BFC-B040-B065-4D6B1D514FD3}"/>
              </a:ext>
            </a:extLst>
          </p:cNvPr>
          <p:cNvSpPr>
            <a:spLocks noChangeShapeType="1"/>
          </p:cNvSpPr>
          <p:nvPr/>
        </p:nvSpPr>
        <p:spPr bwMode="auto">
          <a:xfrm>
            <a:off x="7620000" y="2036763"/>
            <a:ext cx="12827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95" name="Line 15">
            <a:extLst>
              <a:ext uri="{FF2B5EF4-FFF2-40B4-BE49-F238E27FC236}">
                <a16:creationId xmlns:a16="http://schemas.microsoft.com/office/drawing/2014/main" id="{1813FC16-0306-7645-8675-5C68D49607E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445500" y="1966913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96" name="Rectangle 16">
            <a:extLst>
              <a:ext uri="{FF2B5EF4-FFF2-40B4-BE49-F238E27FC236}">
                <a16:creationId xmlns:a16="http://schemas.microsoft.com/office/drawing/2014/main" id="{8E872A2C-2152-8A47-8B33-807C043DE6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56563" y="2036763"/>
            <a:ext cx="3841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0497" name="Rectangle 17">
            <a:extLst>
              <a:ext uri="{FF2B5EF4-FFF2-40B4-BE49-F238E27FC236}">
                <a16:creationId xmlns:a16="http://schemas.microsoft.com/office/drawing/2014/main" id="{E08EBBD3-6C90-9948-BA6A-9F14CE83DE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9363" y="1617663"/>
            <a:ext cx="10318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DataOut</a:t>
            </a:r>
          </a:p>
        </p:txBody>
      </p:sp>
      <p:sp>
        <p:nvSpPr>
          <p:cNvPr id="20498" name="Line 18">
            <a:extLst>
              <a:ext uri="{FF2B5EF4-FFF2-40B4-BE49-F238E27FC236}">
                <a16:creationId xmlns:a16="http://schemas.microsoft.com/office/drawing/2014/main" id="{8285B2CF-C3F4-9B4F-91B1-BF342F64761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70650" y="1268413"/>
            <a:ext cx="0" cy="2413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99" name="Line 19">
            <a:extLst>
              <a:ext uri="{FF2B5EF4-FFF2-40B4-BE49-F238E27FC236}">
                <a16:creationId xmlns:a16="http://schemas.microsoft.com/office/drawing/2014/main" id="{47228730-D53E-394D-BADC-E2320C2046C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49900" y="2570163"/>
            <a:ext cx="4699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500" name="Line 20">
            <a:extLst>
              <a:ext uri="{FF2B5EF4-FFF2-40B4-BE49-F238E27FC236}">
                <a16:creationId xmlns:a16="http://schemas.microsoft.com/office/drawing/2014/main" id="{4EAE9A7B-DCFC-D048-B6ED-60C16BA3BB5E}"/>
              </a:ext>
            </a:extLst>
          </p:cNvPr>
          <p:cNvSpPr>
            <a:spLocks noChangeShapeType="1"/>
          </p:cNvSpPr>
          <p:nvPr/>
        </p:nvSpPr>
        <p:spPr bwMode="auto">
          <a:xfrm>
            <a:off x="7004050" y="1052513"/>
            <a:ext cx="0" cy="4445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501" name="Rectangle 21">
            <a:extLst>
              <a:ext uri="{FF2B5EF4-FFF2-40B4-BE49-F238E27FC236}">
                <a16:creationId xmlns:a16="http://schemas.microsoft.com/office/drawing/2014/main" id="{6C4E277A-613E-D74F-923D-CBFBFE66F4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1963" y="728663"/>
            <a:ext cx="9810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Address</a:t>
            </a:r>
          </a:p>
        </p:txBody>
      </p:sp>
      <p:sp>
        <p:nvSpPr>
          <p:cNvPr id="192536" name="Text Box 24">
            <a:extLst>
              <a:ext uri="{FF2B5EF4-FFF2-40B4-BE49-F238E27FC236}">
                <a16:creationId xmlns:a16="http://schemas.microsoft.com/office/drawing/2014/main" id="{71F0C1DF-6B44-9145-B5D5-66ED76F944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500" y="5551488"/>
            <a:ext cx="8199438" cy="49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30000"/>
              </a:lnSpc>
              <a:spcBef>
                <a:spcPct val="50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为简化数据通路操作说明，把存储器简化为带时钟信号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Clk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的理想模型。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2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04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04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253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D4924D22-320A-E448-ABFB-7F723820C8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数据通路与时序控制</a:t>
            </a:r>
          </a:p>
        </p:txBody>
      </p:sp>
      <p:sp>
        <p:nvSpPr>
          <p:cNvPr id="396291" name="Rectangle 3">
            <a:extLst>
              <a:ext uri="{FF2B5EF4-FFF2-40B4-BE49-F238E27FC236}">
                <a16:creationId xmlns:a16="http://schemas.microsoft.com/office/drawing/2014/main" id="{0AF85B60-D899-6D44-A547-11452D7668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4300" y="730250"/>
            <a:ext cx="8693150" cy="6151563"/>
          </a:xfrm>
        </p:spPr>
        <p:txBody>
          <a:bodyPr/>
          <a:lstStyle/>
          <a:p>
            <a:pPr>
              <a:lnSpc>
                <a:spcPts val="2800"/>
              </a:lnSpc>
              <a:spcBef>
                <a:spcPct val="15000"/>
              </a:spcBef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同步系统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(Synchronous system)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ts val="2800"/>
              </a:lnSpc>
              <a:spcBef>
                <a:spcPct val="15000"/>
              </a:spcBef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所有动作有专门时序信号来定时</a:t>
            </a:r>
          </a:p>
          <a:p>
            <a:pPr lvl="1">
              <a:lnSpc>
                <a:spcPts val="2800"/>
              </a:lnSpc>
              <a:spcBef>
                <a:spcPct val="15000"/>
              </a:spcBef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由时序信号规定何时发出什么动作</a:t>
            </a:r>
          </a:p>
          <a:p>
            <a:pPr lvl="1">
              <a:lnSpc>
                <a:spcPts val="2800"/>
              </a:lnSpc>
              <a:spcBef>
                <a:spcPct val="15000"/>
              </a:spcBef>
              <a:buFontTx/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2000" dirty="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例如，指令执行过程每一步都有控制信号控制，由定时信号确定控制信号何时发出、作用时间多长</a:t>
            </a:r>
          </a:p>
          <a:p>
            <a:pPr>
              <a:lnSpc>
                <a:spcPts val="2800"/>
              </a:lnSpc>
              <a:spcBef>
                <a:spcPct val="15000"/>
              </a:spcBef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什么是时序信号？</a:t>
            </a:r>
          </a:p>
          <a:p>
            <a:pPr lvl="1">
              <a:lnSpc>
                <a:spcPts val="2800"/>
              </a:lnSpc>
              <a:spcBef>
                <a:spcPct val="15000"/>
              </a:spcBef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同步系统中用于进行同步控制的定时信号，如时钟信号</a:t>
            </a:r>
          </a:p>
          <a:p>
            <a:pPr>
              <a:lnSpc>
                <a:spcPts val="2800"/>
              </a:lnSpc>
              <a:spcBef>
                <a:spcPct val="15000"/>
              </a:spcBef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什么叫指令周期？</a:t>
            </a:r>
          </a:p>
          <a:p>
            <a:pPr lvl="1">
              <a:lnSpc>
                <a:spcPts val="2800"/>
              </a:lnSpc>
              <a:spcBef>
                <a:spcPct val="15000"/>
              </a:spcBef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取并执行一条指令的时间</a:t>
            </a:r>
          </a:p>
          <a:p>
            <a:pPr lvl="1">
              <a:lnSpc>
                <a:spcPts val="2800"/>
              </a:lnSpc>
              <a:spcBef>
                <a:spcPct val="15000"/>
              </a:spcBef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每条指令的指令周期肯定一样吗？</a:t>
            </a:r>
          </a:p>
          <a:p>
            <a:pPr>
              <a:lnSpc>
                <a:spcPts val="2800"/>
              </a:lnSpc>
              <a:spcBef>
                <a:spcPct val="15000"/>
              </a:spcBef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早期计算机的三级时序系统</a:t>
            </a:r>
          </a:p>
          <a:p>
            <a:pPr lvl="1">
              <a:lnSpc>
                <a:spcPts val="2800"/>
              </a:lnSpc>
              <a:spcBef>
                <a:spcPct val="15000"/>
              </a:spcBef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机器周期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节拍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脉冲</a:t>
            </a:r>
          </a:p>
          <a:p>
            <a:pPr lvl="1">
              <a:lnSpc>
                <a:spcPts val="2800"/>
              </a:lnSpc>
              <a:spcBef>
                <a:spcPct val="15000"/>
              </a:spcBef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指令周期可分为取指令、读操作数、执行并写结果等多个基本工作周期（或称为机器周期）。</a:t>
            </a:r>
          </a:p>
          <a:p>
            <a:pPr lvl="1">
              <a:lnSpc>
                <a:spcPts val="2800"/>
              </a:lnSpc>
              <a:spcBef>
                <a:spcPct val="15000"/>
              </a:spcBef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机器周期有取指令、存储器读、存储器写、中断响应等不同类型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96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96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96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96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96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96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962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962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9629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4722" name="Picture 2">
            <a:extLst>
              <a:ext uri="{FF2B5EF4-FFF2-40B4-BE49-F238E27FC236}">
                <a16:creationId xmlns:a16="http://schemas.microsoft.com/office/drawing/2014/main" id="{2BDD9183-52C1-5145-B1C5-9A86B713A9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263" y="774700"/>
            <a:ext cx="8770937" cy="4662488"/>
          </a:xfrm>
          <a:prstGeom prst="rect">
            <a:avLst/>
          </a:prstGeom>
          <a:solidFill>
            <a:srgbClr val="008080">
              <a:alpha val="1803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79" name="Rectangle 3">
            <a:extLst>
              <a:ext uri="{FF2B5EF4-FFF2-40B4-BE49-F238E27FC236}">
                <a16:creationId xmlns:a16="http://schemas.microsoft.com/office/drawing/2014/main" id="{4D2516AF-BC9C-024B-B587-B6886D746C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4500" y="203200"/>
            <a:ext cx="8194675" cy="422275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数据通路与时序控制（早期计算机的三级时序）</a:t>
            </a:r>
          </a:p>
        </p:txBody>
      </p:sp>
      <p:sp>
        <p:nvSpPr>
          <p:cNvPr id="414725" name="Text Box 5">
            <a:extLst>
              <a:ext uri="{FF2B5EF4-FFF2-40B4-BE49-F238E27FC236}">
                <a16:creationId xmlns:a16="http://schemas.microsoft.com/office/drawing/2014/main" id="{92E87AD2-5BA8-F444-8935-408F1728E7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050" y="5699125"/>
            <a:ext cx="8693150" cy="769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zh-CN" altLang="en-US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现代计算机已不再采用三级时序系统，机器周期的概念已逐渐消失。</a:t>
            </a:r>
          </a:p>
          <a:p>
            <a:pPr>
              <a:spcBef>
                <a:spcPct val="20000"/>
              </a:spcBef>
            </a:pPr>
            <a:r>
              <a:rPr lang="zh-CN" altLang="en-US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整个数据通路中的定时信号就是时钟，一个时钟周期就是一个节拍。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14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14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472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468BC44B-9DF9-5F47-8214-FC5E31951C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4500" y="203200"/>
            <a:ext cx="6961188" cy="422275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数据通路与时序控制</a:t>
            </a:r>
            <a:endParaRPr lang="zh-CN" altLang="en-US" sz="1800" b="0">
              <a:ea typeface="宋体" panose="02010600030101010101" pitchFamily="2" charset="-122"/>
            </a:endParaRPr>
          </a:p>
        </p:txBody>
      </p:sp>
      <p:sp>
        <p:nvSpPr>
          <p:cNvPr id="302083" name="Rectangle 3">
            <a:extLst>
              <a:ext uri="{FF2B5EF4-FFF2-40B4-BE49-F238E27FC236}">
                <a16:creationId xmlns:a16="http://schemas.microsoft.com/office/drawing/2014/main" id="{81E3616A-9282-DC43-83C4-F0149445DC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3500" y="5219700"/>
            <a:ext cx="8991600" cy="1273175"/>
          </a:xfrm>
        </p:spPr>
        <p:txBody>
          <a:bodyPr/>
          <a:lstStyle/>
          <a:p>
            <a:pPr>
              <a:spcBef>
                <a:spcPct val="15000"/>
              </a:spcBef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假定采用下降沿触发（负跳变）方式（也可以是上升沿方式）</a:t>
            </a:r>
          </a:p>
          <a:p>
            <a:pPr lvl="1">
              <a:spcBef>
                <a:spcPct val="15000"/>
              </a:spcBef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所有状态单元在下降沿写入信息，经过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Latch Prop (clk-to-Q)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后输出有效</a:t>
            </a:r>
          </a:p>
          <a:p>
            <a:pPr lvl="1">
              <a:spcBef>
                <a:spcPct val="15000"/>
              </a:spcBef>
            </a:pPr>
            <a:r>
              <a:rPr lang="en-US" altLang="zh-CN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Cycle Time = Latch Prop + Longest Delay Path + Setup + Clock Skew</a:t>
            </a:r>
          </a:p>
          <a:p>
            <a:pPr>
              <a:spcBef>
                <a:spcPct val="15000"/>
              </a:spcBef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约束条件：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(Latch Prop + Shortest Delay Path - Clock Skew)  &gt;  Hold Time  </a:t>
            </a:r>
            <a:endParaRPr lang="en-US" altLang="zh-CN">
              <a:solidFill>
                <a:srgbClr val="469CD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6628" name="Group 4">
            <a:extLst>
              <a:ext uri="{FF2B5EF4-FFF2-40B4-BE49-F238E27FC236}">
                <a16:creationId xmlns:a16="http://schemas.microsoft.com/office/drawing/2014/main" id="{185637CB-C673-264D-BE52-FD40AE10B9FF}"/>
              </a:ext>
            </a:extLst>
          </p:cNvPr>
          <p:cNvGrpSpPr>
            <a:grpSpLocks/>
          </p:cNvGrpSpPr>
          <p:nvPr/>
        </p:nvGrpSpPr>
        <p:grpSpPr bwMode="auto">
          <a:xfrm>
            <a:off x="539750" y="892175"/>
            <a:ext cx="7835900" cy="342900"/>
            <a:chOff x="340" y="524"/>
            <a:chExt cx="4936" cy="200"/>
          </a:xfrm>
        </p:grpSpPr>
        <p:sp>
          <p:nvSpPr>
            <p:cNvPr id="26742" name="Line 5">
              <a:extLst>
                <a:ext uri="{FF2B5EF4-FFF2-40B4-BE49-F238E27FC236}">
                  <a16:creationId xmlns:a16="http://schemas.microsoft.com/office/drawing/2014/main" id="{2055315D-A455-4B45-85B0-B28F1D5353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" y="528"/>
              <a:ext cx="69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743" name="Line 6">
              <a:extLst>
                <a:ext uri="{FF2B5EF4-FFF2-40B4-BE49-F238E27FC236}">
                  <a16:creationId xmlns:a16="http://schemas.microsoft.com/office/drawing/2014/main" id="{0BF86DC9-78E3-D24E-B9DB-499A60A32D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2" y="532"/>
              <a:ext cx="0" cy="1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744" name="Line 7">
              <a:extLst>
                <a:ext uri="{FF2B5EF4-FFF2-40B4-BE49-F238E27FC236}">
                  <a16:creationId xmlns:a16="http://schemas.microsoft.com/office/drawing/2014/main" id="{FAFF14BD-4216-494C-B23A-BE1AB228CC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6" y="720"/>
              <a:ext cx="175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745" name="Line 8">
              <a:extLst>
                <a:ext uri="{FF2B5EF4-FFF2-40B4-BE49-F238E27FC236}">
                  <a16:creationId xmlns:a16="http://schemas.microsoft.com/office/drawing/2014/main" id="{4EFFF6E0-77B5-EF49-B0F0-E8B65DBF74B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08" y="524"/>
              <a:ext cx="0" cy="2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746" name="Line 9">
              <a:extLst>
                <a:ext uri="{FF2B5EF4-FFF2-40B4-BE49-F238E27FC236}">
                  <a16:creationId xmlns:a16="http://schemas.microsoft.com/office/drawing/2014/main" id="{7D12C31E-7170-8D45-9C6C-06B51907A5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2" y="528"/>
              <a:ext cx="175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747" name="Line 10">
              <a:extLst>
                <a:ext uri="{FF2B5EF4-FFF2-40B4-BE49-F238E27FC236}">
                  <a16:creationId xmlns:a16="http://schemas.microsoft.com/office/drawing/2014/main" id="{FC8195BE-C603-F345-84D3-E50C8AC982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74" y="532"/>
              <a:ext cx="0" cy="1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748" name="Line 11">
              <a:extLst>
                <a:ext uri="{FF2B5EF4-FFF2-40B4-BE49-F238E27FC236}">
                  <a16:creationId xmlns:a16="http://schemas.microsoft.com/office/drawing/2014/main" id="{166C163B-A399-4A41-8905-595614A8E2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78" y="720"/>
              <a:ext cx="69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6629" name="Rectangle 12">
            <a:extLst>
              <a:ext uri="{FF2B5EF4-FFF2-40B4-BE49-F238E27FC236}">
                <a16:creationId xmlns:a16="http://schemas.microsoft.com/office/drawing/2014/main" id="{8727F7EB-7AE8-5D4C-9DC6-4AB6238E0C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3" y="987425"/>
            <a:ext cx="6286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Clk</a:t>
            </a:r>
          </a:p>
        </p:txBody>
      </p:sp>
      <p:sp>
        <p:nvSpPr>
          <p:cNvPr id="26630" name="Rectangle 13">
            <a:extLst>
              <a:ext uri="{FF2B5EF4-FFF2-40B4-BE49-F238E27FC236}">
                <a16:creationId xmlns:a16="http://schemas.microsoft.com/office/drawing/2014/main" id="{5E1B8736-5814-824A-B85C-305B56A84D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050" y="1590675"/>
            <a:ext cx="520700" cy="292100"/>
          </a:xfrm>
          <a:prstGeom prst="rect">
            <a:avLst/>
          </a:prstGeom>
          <a:solidFill>
            <a:schemeClr val="bg2">
              <a:alpha val="27843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6631" name="Line 14">
            <a:extLst>
              <a:ext uri="{FF2B5EF4-FFF2-40B4-BE49-F238E27FC236}">
                <a16:creationId xmlns:a16="http://schemas.microsoft.com/office/drawing/2014/main" id="{DFF30792-2298-1C42-BD8C-B0E4DEF2E3C8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0450" y="1889125"/>
            <a:ext cx="11303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632" name="Line 15">
            <a:extLst>
              <a:ext uri="{FF2B5EF4-FFF2-40B4-BE49-F238E27FC236}">
                <a16:creationId xmlns:a16="http://schemas.microsoft.com/office/drawing/2014/main" id="{DD74A897-9DE5-494C-AD2C-056A80663107}"/>
              </a:ext>
            </a:extLst>
          </p:cNvPr>
          <p:cNvSpPr>
            <a:spLocks noChangeShapeType="1"/>
          </p:cNvSpPr>
          <p:nvPr/>
        </p:nvSpPr>
        <p:spPr bwMode="auto">
          <a:xfrm>
            <a:off x="6623050" y="1597025"/>
            <a:ext cx="11303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633" name="Rectangle 16">
            <a:extLst>
              <a:ext uri="{FF2B5EF4-FFF2-40B4-BE49-F238E27FC236}">
                <a16:creationId xmlns:a16="http://schemas.microsoft.com/office/drawing/2014/main" id="{AD1CD6AA-013B-5D4F-82D4-EAAA2C06B7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3450" y="1590675"/>
            <a:ext cx="4406900" cy="292100"/>
          </a:xfrm>
          <a:prstGeom prst="rect">
            <a:avLst/>
          </a:prstGeom>
          <a:solidFill>
            <a:schemeClr val="bg2">
              <a:alpha val="27843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6634" name="Rectangle 17">
            <a:extLst>
              <a:ext uri="{FF2B5EF4-FFF2-40B4-BE49-F238E27FC236}">
                <a16:creationId xmlns:a16="http://schemas.microsoft.com/office/drawing/2014/main" id="{44EF56B3-B18E-2D48-8A39-C8F23DFB15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7213" y="1558925"/>
            <a:ext cx="26574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寄存器的输入可变化</a:t>
            </a:r>
          </a:p>
        </p:txBody>
      </p:sp>
      <p:sp>
        <p:nvSpPr>
          <p:cNvPr id="26635" name="Rectangle 18">
            <a:extLst>
              <a:ext uri="{FF2B5EF4-FFF2-40B4-BE49-F238E27FC236}">
                <a16:creationId xmlns:a16="http://schemas.microsoft.com/office/drawing/2014/main" id="{A5134403-A057-864A-AECB-D8BDD4F5A6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66050" y="1590675"/>
            <a:ext cx="673100" cy="292100"/>
          </a:xfrm>
          <a:prstGeom prst="rect">
            <a:avLst/>
          </a:prstGeom>
          <a:solidFill>
            <a:schemeClr val="bg2">
              <a:alpha val="27843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6636" name="Line 19">
            <a:extLst>
              <a:ext uri="{FF2B5EF4-FFF2-40B4-BE49-F238E27FC236}">
                <a16:creationId xmlns:a16="http://schemas.microsoft.com/office/drawing/2014/main" id="{BD6E17C5-D9DB-DE4E-9088-2DBD119D964B}"/>
              </a:ext>
            </a:extLst>
          </p:cNvPr>
          <p:cNvSpPr>
            <a:spLocks noChangeShapeType="1"/>
          </p:cNvSpPr>
          <p:nvPr/>
        </p:nvSpPr>
        <p:spPr bwMode="auto">
          <a:xfrm>
            <a:off x="6623050" y="1698625"/>
            <a:ext cx="5969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637" name="Line 20">
            <a:extLst>
              <a:ext uri="{FF2B5EF4-FFF2-40B4-BE49-F238E27FC236}">
                <a16:creationId xmlns:a16="http://schemas.microsoft.com/office/drawing/2014/main" id="{79FB05E2-1C66-E741-8681-1EDD4E962D90}"/>
              </a:ext>
            </a:extLst>
          </p:cNvPr>
          <p:cNvSpPr>
            <a:spLocks noChangeShapeType="1"/>
          </p:cNvSpPr>
          <p:nvPr/>
        </p:nvSpPr>
        <p:spPr bwMode="auto">
          <a:xfrm>
            <a:off x="7232650" y="1698625"/>
            <a:ext cx="5207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638" name="Rectangle 21">
            <a:extLst>
              <a:ext uri="{FF2B5EF4-FFF2-40B4-BE49-F238E27FC236}">
                <a16:creationId xmlns:a16="http://schemas.microsoft.com/office/drawing/2014/main" id="{FA579365-4808-7149-B3EF-752917E0B9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0813" y="1254125"/>
            <a:ext cx="7445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Setup</a:t>
            </a:r>
          </a:p>
        </p:txBody>
      </p:sp>
      <p:sp>
        <p:nvSpPr>
          <p:cNvPr id="26639" name="Rectangle 22">
            <a:extLst>
              <a:ext uri="{FF2B5EF4-FFF2-40B4-BE49-F238E27FC236}">
                <a16:creationId xmlns:a16="http://schemas.microsoft.com/office/drawing/2014/main" id="{5933D690-65D5-3C42-849E-36BA47BF98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4713" y="1279525"/>
            <a:ext cx="6318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Hold</a:t>
            </a:r>
          </a:p>
        </p:txBody>
      </p:sp>
      <p:grpSp>
        <p:nvGrpSpPr>
          <p:cNvPr id="26640" name="Group 121">
            <a:extLst>
              <a:ext uri="{FF2B5EF4-FFF2-40B4-BE49-F238E27FC236}">
                <a16:creationId xmlns:a16="http://schemas.microsoft.com/office/drawing/2014/main" id="{C80F31C5-9A88-3243-A940-38083617890D}"/>
              </a:ext>
            </a:extLst>
          </p:cNvPr>
          <p:cNvGrpSpPr>
            <a:grpSpLocks/>
          </p:cNvGrpSpPr>
          <p:nvPr/>
        </p:nvGrpSpPr>
        <p:grpSpPr bwMode="auto">
          <a:xfrm>
            <a:off x="1047750" y="2197100"/>
            <a:ext cx="6794500" cy="1809750"/>
            <a:chOff x="668" y="1544"/>
            <a:chExt cx="4280" cy="1140"/>
          </a:xfrm>
        </p:grpSpPr>
        <p:grpSp>
          <p:nvGrpSpPr>
            <p:cNvPr id="26652" name="Group 23">
              <a:extLst>
                <a:ext uri="{FF2B5EF4-FFF2-40B4-BE49-F238E27FC236}">
                  <a16:creationId xmlns:a16="http://schemas.microsoft.com/office/drawing/2014/main" id="{CBC0488E-6DE2-C44F-8D31-908F8D7CF40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68" y="1544"/>
              <a:ext cx="776" cy="1140"/>
              <a:chOff x="668" y="1544"/>
              <a:chExt cx="776" cy="1140"/>
            </a:xfrm>
          </p:grpSpPr>
          <p:sp>
            <p:nvSpPr>
              <p:cNvPr id="26731" name="Rectangle 24">
                <a:extLst>
                  <a:ext uri="{FF2B5EF4-FFF2-40B4-BE49-F238E27FC236}">
                    <a16:creationId xmlns:a16="http://schemas.microsoft.com/office/drawing/2014/main" id="{8774B5C1-3694-2A48-B25A-4B9C49E529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8" y="1544"/>
                <a:ext cx="176" cy="89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26732" name="Line 25">
                <a:extLst>
                  <a:ext uri="{FF2B5EF4-FFF2-40B4-BE49-F238E27FC236}">
                    <a16:creationId xmlns:a16="http://schemas.microsoft.com/office/drawing/2014/main" id="{55CECC10-70AF-2F47-8B23-4A8DCCBDE7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56" y="2548"/>
                <a:ext cx="0" cy="13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733" name="Line 26">
                <a:extLst>
                  <a:ext uri="{FF2B5EF4-FFF2-40B4-BE49-F238E27FC236}">
                    <a16:creationId xmlns:a16="http://schemas.microsoft.com/office/drawing/2014/main" id="{C303FD26-682E-D94D-AAF0-EFF94977FB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16" y="2296"/>
                <a:ext cx="32" cy="16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734" name="Line 27">
                <a:extLst>
                  <a:ext uri="{FF2B5EF4-FFF2-40B4-BE49-F238E27FC236}">
                    <a16:creationId xmlns:a16="http://schemas.microsoft.com/office/drawing/2014/main" id="{3C544BA6-DEE6-C041-87D8-A3F025D60F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64" y="2312"/>
                <a:ext cx="32" cy="1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735" name="Oval 28">
                <a:extLst>
                  <a:ext uri="{FF2B5EF4-FFF2-40B4-BE49-F238E27FC236}">
                    <a16:creationId xmlns:a16="http://schemas.microsoft.com/office/drawing/2014/main" id="{F7E603FB-2F3A-FA42-9562-71D9B8728F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16" y="2456"/>
                <a:ext cx="80" cy="80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26736" name="Line 29">
                <a:extLst>
                  <a:ext uri="{FF2B5EF4-FFF2-40B4-BE49-F238E27FC236}">
                    <a16:creationId xmlns:a16="http://schemas.microsoft.com/office/drawing/2014/main" id="{6E37BDC4-DEB4-5743-B509-CA14AB8545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68" y="1680"/>
                <a:ext cx="29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737" name="Rectangle 30">
                <a:extLst>
                  <a:ext uri="{FF2B5EF4-FFF2-40B4-BE49-F238E27FC236}">
                    <a16:creationId xmlns:a16="http://schemas.microsoft.com/office/drawing/2014/main" id="{C61DD6AA-D9DD-B54E-9207-12EAB3F6A6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9" y="1728"/>
                <a:ext cx="146" cy="5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>
                    <a:latin typeface="Times New Roman" panose="02020603050405020304" pitchFamily="18" charset="0"/>
                    <a:ea typeface="宋体" panose="02010600030101010101" pitchFamily="2" charset="-122"/>
                  </a:rPr>
                  <a:t>.</a:t>
                </a:r>
              </a:p>
              <a:p>
                <a:r>
                  <a:rPr lang="zh-CN" altLang="en-US">
                    <a:latin typeface="Times New Roman" panose="02020603050405020304" pitchFamily="18" charset="0"/>
                    <a:ea typeface="宋体" panose="02010600030101010101" pitchFamily="2" charset="-122"/>
                  </a:rPr>
                  <a:t>.</a:t>
                </a:r>
              </a:p>
              <a:p>
                <a:r>
                  <a:rPr lang="zh-CN" altLang="en-US">
                    <a:latin typeface="Times New Roman" panose="02020603050405020304" pitchFamily="18" charset="0"/>
                    <a:ea typeface="宋体" panose="02010600030101010101" pitchFamily="2" charset="-122"/>
                  </a:rPr>
                  <a:t>.</a:t>
                </a:r>
              </a:p>
            </p:txBody>
          </p:sp>
          <p:sp>
            <p:nvSpPr>
              <p:cNvPr id="26738" name="Line 31">
                <a:extLst>
                  <a:ext uri="{FF2B5EF4-FFF2-40B4-BE49-F238E27FC236}">
                    <a16:creationId xmlns:a16="http://schemas.microsoft.com/office/drawing/2014/main" id="{1E20AC0A-7D92-F541-B0B6-420AA9BA71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68" y="2304"/>
                <a:ext cx="29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739" name="Line 32">
                <a:extLst>
                  <a:ext uri="{FF2B5EF4-FFF2-40B4-BE49-F238E27FC236}">
                    <a16:creationId xmlns:a16="http://schemas.microsoft.com/office/drawing/2014/main" id="{68970565-6AB9-884F-A4EF-02B0D14BAD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148" y="1680"/>
                <a:ext cx="29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740" name="Rectangle 33">
                <a:extLst>
                  <a:ext uri="{FF2B5EF4-FFF2-40B4-BE49-F238E27FC236}">
                    <a16:creationId xmlns:a16="http://schemas.microsoft.com/office/drawing/2014/main" id="{A08CF943-B891-AF4E-8BAE-936E281CF5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39" y="1728"/>
                <a:ext cx="146" cy="5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>
                    <a:latin typeface="Times New Roman" panose="02020603050405020304" pitchFamily="18" charset="0"/>
                    <a:ea typeface="宋体" panose="02010600030101010101" pitchFamily="2" charset="-122"/>
                  </a:rPr>
                  <a:t>.</a:t>
                </a:r>
              </a:p>
              <a:p>
                <a:r>
                  <a:rPr lang="zh-CN" altLang="en-US">
                    <a:latin typeface="Times New Roman" panose="02020603050405020304" pitchFamily="18" charset="0"/>
                    <a:ea typeface="宋体" panose="02010600030101010101" pitchFamily="2" charset="-122"/>
                  </a:rPr>
                  <a:t>.</a:t>
                </a:r>
              </a:p>
              <a:p>
                <a:r>
                  <a:rPr lang="zh-CN" altLang="en-US">
                    <a:latin typeface="Times New Roman" panose="02020603050405020304" pitchFamily="18" charset="0"/>
                    <a:ea typeface="宋体" panose="02010600030101010101" pitchFamily="2" charset="-122"/>
                  </a:rPr>
                  <a:t>.</a:t>
                </a:r>
              </a:p>
            </p:txBody>
          </p:sp>
          <p:sp>
            <p:nvSpPr>
              <p:cNvPr id="26741" name="Line 34">
                <a:extLst>
                  <a:ext uri="{FF2B5EF4-FFF2-40B4-BE49-F238E27FC236}">
                    <a16:creationId xmlns:a16="http://schemas.microsoft.com/office/drawing/2014/main" id="{88BF53DF-D83B-9841-91CA-B926517606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148" y="2304"/>
                <a:ext cx="29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6653" name="Group 35">
              <a:extLst>
                <a:ext uri="{FF2B5EF4-FFF2-40B4-BE49-F238E27FC236}">
                  <a16:creationId xmlns:a16="http://schemas.microsoft.com/office/drawing/2014/main" id="{A66E02B9-0902-B541-99BC-E0EC50B4052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72" y="1544"/>
              <a:ext cx="776" cy="1140"/>
              <a:chOff x="4172" y="1544"/>
              <a:chExt cx="776" cy="1140"/>
            </a:xfrm>
          </p:grpSpPr>
          <p:sp>
            <p:nvSpPr>
              <p:cNvPr id="26720" name="Rectangle 36">
                <a:extLst>
                  <a:ext uri="{FF2B5EF4-FFF2-40B4-BE49-F238E27FC236}">
                    <a16:creationId xmlns:a16="http://schemas.microsoft.com/office/drawing/2014/main" id="{158E9248-DCCF-6342-80D7-773885FE8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72" y="1544"/>
                <a:ext cx="176" cy="89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26721" name="Line 37">
                <a:extLst>
                  <a:ext uri="{FF2B5EF4-FFF2-40B4-BE49-F238E27FC236}">
                    <a16:creationId xmlns:a16="http://schemas.microsoft.com/office/drawing/2014/main" id="{57EB6AC9-8DCE-0B46-A8BF-4E9ECD0A4B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60" y="2548"/>
                <a:ext cx="0" cy="13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722" name="Line 38">
                <a:extLst>
                  <a:ext uri="{FF2B5EF4-FFF2-40B4-BE49-F238E27FC236}">
                    <a16:creationId xmlns:a16="http://schemas.microsoft.com/office/drawing/2014/main" id="{08E46977-36BF-6B41-976D-5243438A1C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520" y="2296"/>
                <a:ext cx="32" cy="16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723" name="Line 39">
                <a:extLst>
                  <a:ext uri="{FF2B5EF4-FFF2-40B4-BE49-F238E27FC236}">
                    <a16:creationId xmlns:a16="http://schemas.microsoft.com/office/drawing/2014/main" id="{B361AD1B-5ED1-F945-BF92-52E6539AD9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68" y="2312"/>
                <a:ext cx="32" cy="1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724" name="Oval 40">
                <a:extLst>
                  <a:ext uri="{FF2B5EF4-FFF2-40B4-BE49-F238E27FC236}">
                    <a16:creationId xmlns:a16="http://schemas.microsoft.com/office/drawing/2014/main" id="{9ACD6D82-52AB-9643-B386-C2EBBDDD42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20" y="2456"/>
                <a:ext cx="80" cy="80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26725" name="Line 41">
                <a:extLst>
                  <a:ext uri="{FF2B5EF4-FFF2-40B4-BE49-F238E27FC236}">
                    <a16:creationId xmlns:a16="http://schemas.microsoft.com/office/drawing/2014/main" id="{C0B01514-64E8-8144-89F9-89D3862397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172" y="1680"/>
                <a:ext cx="29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726" name="Rectangle 42">
                <a:extLst>
                  <a:ext uri="{FF2B5EF4-FFF2-40B4-BE49-F238E27FC236}">
                    <a16:creationId xmlns:a16="http://schemas.microsoft.com/office/drawing/2014/main" id="{347EC11B-AC3E-2043-AA54-7921572A02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63" y="1728"/>
                <a:ext cx="146" cy="5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>
                    <a:latin typeface="Times New Roman" panose="02020603050405020304" pitchFamily="18" charset="0"/>
                    <a:ea typeface="宋体" panose="02010600030101010101" pitchFamily="2" charset="-122"/>
                  </a:rPr>
                  <a:t>.</a:t>
                </a:r>
              </a:p>
              <a:p>
                <a:r>
                  <a:rPr lang="zh-CN" altLang="en-US">
                    <a:latin typeface="Times New Roman" panose="02020603050405020304" pitchFamily="18" charset="0"/>
                    <a:ea typeface="宋体" panose="02010600030101010101" pitchFamily="2" charset="-122"/>
                  </a:rPr>
                  <a:t>.</a:t>
                </a:r>
              </a:p>
              <a:p>
                <a:r>
                  <a:rPr lang="zh-CN" altLang="en-US">
                    <a:latin typeface="Times New Roman" panose="02020603050405020304" pitchFamily="18" charset="0"/>
                    <a:ea typeface="宋体" panose="02010600030101010101" pitchFamily="2" charset="-122"/>
                  </a:rPr>
                  <a:t>.</a:t>
                </a:r>
              </a:p>
            </p:txBody>
          </p:sp>
          <p:sp>
            <p:nvSpPr>
              <p:cNvPr id="26727" name="Line 43">
                <a:extLst>
                  <a:ext uri="{FF2B5EF4-FFF2-40B4-BE49-F238E27FC236}">
                    <a16:creationId xmlns:a16="http://schemas.microsoft.com/office/drawing/2014/main" id="{929C8347-FE95-0940-ADF7-35D5694B70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172" y="2304"/>
                <a:ext cx="29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728" name="Line 44">
                <a:extLst>
                  <a:ext uri="{FF2B5EF4-FFF2-40B4-BE49-F238E27FC236}">
                    <a16:creationId xmlns:a16="http://schemas.microsoft.com/office/drawing/2014/main" id="{6DFBD732-F868-6D4C-9D7A-2B9CE5DA5A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652" y="1680"/>
                <a:ext cx="29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729" name="Rectangle 45">
                <a:extLst>
                  <a:ext uri="{FF2B5EF4-FFF2-40B4-BE49-F238E27FC236}">
                    <a16:creationId xmlns:a16="http://schemas.microsoft.com/office/drawing/2014/main" id="{A4C45731-4E70-CE4C-B6A1-1FF34FE225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43" y="1728"/>
                <a:ext cx="146" cy="5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>
                    <a:latin typeface="Times New Roman" panose="02020603050405020304" pitchFamily="18" charset="0"/>
                    <a:ea typeface="宋体" panose="02010600030101010101" pitchFamily="2" charset="-122"/>
                  </a:rPr>
                  <a:t>.</a:t>
                </a:r>
              </a:p>
              <a:p>
                <a:r>
                  <a:rPr lang="zh-CN" altLang="en-US">
                    <a:latin typeface="Times New Roman" panose="02020603050405020304" pitchFamily="18" charset="0"/>
                    <a:ea typeface="宋体" panose="02010600030101010101" pitchFamily="2" charset="-122"/>
                  </a:rPr>
                  <a:t>.</a:t>
                </a:r>
              </a:p>
              <a:p>
                <a:r>
                  <a:rPr lang="zh-CN" altLang="en-US">
                    <a:latin typeface="Times New Roman" panose="02020603050405020304" pitchFamily="18" charset="0"/>
                    <a:ea typeface="宋体" panose="02010600030101010101" pitchFamily="2" charset="-122"/>
                  </a:rPr>
                  <a:t>.</a:t>
                </a:r>
              </a:p>
            </p:txBody>
          </p:sp>
          <p:sp>
            <p:nvSpPr>
              <p:cNvPr id="26730" name="Line 46">
                <a:extLst>
                  <a:ext uri="{FF2B5EF4-FFF2-40B4-BE49-F238E27FC236}">
                    <a16:creationId xmlns:a16="http://schemas.microsoft.com/office/drawing/2014/main" id="{38D2F425-F8EA-AA4C-9951-250801E3AC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652" y="2304"/>
                <a:ext cx="29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6654" name="Rectangle 47">
              <a:extLst>
                <a:ext uri="{FF2B5EF4-FFF2-40B4-BE49-F238E27FC236}">
                  <a16:creationId xmlns:a16="http://schemas.microsoft.com/office/drawing/2014/main" id="{E52496F2-4C40-CD45-8252-6561567367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8" y="1544"/>
              <a:ext cx="2720" cy="896"/>
            </a:xfrm>
            <a:prstGeom prst="rect">
              <a:avLst/>
            </a:prstGeom>
            <a:noFill/>
            <a:ln w="28575">
              <a:solidFill>
                <a:srgbClr val="339933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6655" name="Oval 48">
              <a:extLst>
                <a:ext uri="{FF2B5EF4-FFF2-40B4-BE49-F238E27FC236}">
                  <a16:creationId xmlns:a16="http://schemas.microsoft.com/office/drawing/2014/main" id="{E6E7B815-DF0B-9644-B7B9-121A9910A8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1" y="1864"/>
              <a:ext cx="51" cy="52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grpSp>
          <p:nvGrpSpPr>
            <p:cNvPr id="26656" name="Group 49">
              <a:extLst>
                <a:ext uri="{FF2B5EF4-FFF2-40B4-BE49-F238E27FC236}">
                  <a16:creationId xmlns:a16="http://schemas.microsoft.com/office/drawing/2014/main" id="{5585E265-F8B9-BF45-B7CC-FC11FEDB96D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00" y="1755"/>
              <a:ext cx="344" cy="272"/>
              <a:chOff x="1600" y="1755"/>
              <a:chExt cx="344" cy="272"/>
            </a:xfrm>
          </p:grpSpPr>
          <p:sp>
            <p:nvSpPr>
              <p:cNvPr id="26715" name="Arc 50">
                <a:extLst>
                  <a:ext uri="{FF2B5EF4-FFF2-40B4-BE49-F238E27FC236}">
                    <a16:creationId xmlns:a16="http://schemas.microsoft.com/office/drawing/2014/main" id="{05A89AE0-AE84-DE4C-8B88-85166DF5E5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4" y="1764"/>
                <a:ext cx="132" cy="128"/>
              </a:xfrm>
              <a:custGeom>
                <a:avLst/>
                <a:gdLst>
                  <a:gd name="T0" fmla="*/ 0 w 21764"/>
                  <a:gd name="T1" fmla="*/ 0 h 21600"/>
                  <a:gd name="T2" fmla="*/ 0 w 21764"/>
                  <a:gd name="T3" fmla="*/ 0 h 21600"/>
                  <a:gd name="T4" fmla="*/ 0 w 21764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764" h="21600" fill="none" extrusionOk="0">
                    <a:moveTo>
                      <a:pt x="-1" y="0"/>
                    </a:moveTo>
                    <a:cubicBezTo>
                      <a:pt x="54" y="0"/>
                      <a:pt x="109" y="-1"/>
                      <a:pt x="164" y="0"/>
                    </a:cubicBezTo>
                    <a:cubicBezTo>
                      <a:pt x="12093" y="0"/>
                      <a:pt x="21764" y="9670"/>
                      <a:pt x="21764" y="21600"/>
                    </a:cubicBezTo>
                  </a:path>
                  <a:path w="21764" h="21600" stroke="0" extrusionOk="0">
                    <a:moveTo>
                      <a:pt x="-1" y="0"/>
                    </a:moveTo>
                    <a:cubicBezTo>
                      <a:pt x="54" y="0"/>
                      <a:pt x="109" y="-1"/>
                      <a:pt x="164" y="0"/>
                    </a:cubicBezTo>
                    <a:cubicBezTo>
                      <a:pt x="12093" y="0"/>
                      <a:pt x="21764" y="9670"/>
                      <a:pt x="21764" y="21600"/>
                    </a:cubicBezTo>
                    <a:lnTo>
                      <a:pt x="164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5400" cap="rnd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716" name="Arc 51">
                <a:extLst>
                  <a:ext uri="{FF2B5EF4-FFF2-40B4-BE49-F238E27FC236}">
                    <a16:creationId xmlns:a16="http://schemas.microsoft.com/office/drawing/2014/main" id="{F1A5A85F-775E-4A46-AFE7-CD2D2169A78A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1813" y="1900"/>
                <a:ext cx="131" cy="127"/>
              </a:xfrm>
              <a:custGeom>
                <a:avLst/>
                <a:gdLst>
                  <a:gd name="T0" fmla="*/ 0 w 21599"/>
                  <a:gd name="T1" fmla="*/ 0 h 21599"/>
                  <a:gd name="T2" fmla="*/ 0 w 21599"/>
                  <a:gd name="T3" fmla="*/ 0 h 21599"/>
                  <a:gd name="T4" fmla="*/ 0 w 21599"/>
                  <a:gd name="T5" fmla="*/ 0 h 2159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599" h="21599" fill="none" extrusionOk="0">
                    <a:moveTo>
                      <a:pt x="-1" y="21429"/>
                    </a:moveTo>
                    <a:cubicBezTo>
                      <a:pt x="91" y="9630"/>
                      <a:pt x="9635" y="89"/>
                      <a:pt x="21434" y="-1"/>
                    </a:cubicBezTo>
                  </a:path>
                  <a:path w="21599" h="21599" stroke="0" extrusionOk="0">
                    <a:moveTo>
                      <a:pt x="-1" y="21429"/>
                    </a:moveTo>
                    <a:cubicBezTo>
                      <a:pt x="91" y="9630"/>
                      <a:pt x="9635" y="89"/>
                      <a:pt x="21434" y="-1"/>
                    </a:cubicBezTo>
                    <a:lnTo>
                      <a:pt x="21599" y="21599"/>
                    </a:lnTo>
                    <a:lnTo>
                      <a:pt x="-1" y="21429"/>
                    </a:lnTo>
                    <a:close/>
                  </a:path>
                </a:pathLst>
              </a:custGeom>
              <a:noFill/>
              <a:ln w="25400" cap="rnd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717" name="Line 52">
                <a:extLst>
                  <a:ext uri="{FF2B5EF4-FFF2-40B4-BE49-F238E27FC236}">
                    <a16:creationId xmlns:a16="http://schemas.microsoft.com/office/drawing/2014/main" id="{F05AE46D-9F28-0A43-805A-BACBF25320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600" y="1755"/>
                <a:ext cx="21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718" name="Line 53">
                <a:extLst>
                  <a:ext uri="{FF2B5EF4-FFF2-40B4-BE49-F238E27FC236}">
                    <a16:creationId xmlns:a16="http://schemas.microsoft.com/office/drawing/2014/main" id="{547CF7E1-0BC8-6D4F-A735-F603115138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08" y="1763"/>
                <a:ext cx="0" cy="25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719" name="Line 54">
                <a:extLst>
                  <a:ext uri="{FF2B5EF4-FFF2-40B4-BE49-F238E27FC236}">
                    <a16:creationId xmlns:a16="http://schemas.microsoft.com/office/drawing/2014/main" id="{CE639377-88D2-C146-8E8D-D477B089D2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600" y="2027"/>
                <a:ext cx="21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6657" name="Line 55">
              <a:extLst>
                <a:ext uri="{FF2B5EF4-FFF2-40B4-BE49-F238E27FC236}">
                  <a16:creationId xmlns:a16="http://schemas.microsoft.com/office/drawing/2014/main" id="{42280D9E-2335-8E40-AFCB-A7B47C16007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38" y="1823"/>
              <a:ext cx="174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58" name="Line 56">
              <a:extLst>
                <a:ext uri="{FF2B5EF4-FFF2-40B4-BE49-F238E27FC236}">
                  <a16:creationId xmlns:a16="http://schemas.microsoft.com/office/drawing/2014/main" id="{ADB2A944-E942-A646-BC9B-CB8F02DB076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38" y="1959"/>
              <a:ext cx="17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59" name="Line 57">
              <a:extLst>
                <a:ext uri="{FF2B5EF4-FFF2-40B4-BE49-F238E27FC236}">
                  <a16:creationId xmlns:a16="http://schemas.microsoft.com/office/drawing/2014/main" id="{04745DAA-88A2-3B4D-8A2E-8FAFE7295D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4" y="1890"/>
              <a:ext cx="19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6660" name="Group 58">
              <a:extLst>
                <a:ext uri="{FF2B5EF4-FFF2-40B4-BE49-F238E27FC236}">
                  <a16:creationId xmlns:a16="http://schemas.microsoft.com/office/drawing/2014/main" id="{12A1BD6A-A45F-7B41-80C1-69AA449FFA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45" y="2131"/>
              <a:ext cx="736" cy="253"/>
              <a:chOff x="1445" y="2131"/>
              <a:chExt cx="736" cy="253"/>
            </a:xfrm>
          </p:grpSpPr>
          <p:grpSp>
            <p:nvGrpSpPr>
              <p:cNvPr id="26706" name="Group 59">
                <a:extLst>
                  <a:ext uri="{FF2B5EF4-FFF2-40B4-BE49-F238E27FC236}">
                    <a16:creationId xmlns:a16="http://schemas.microsoft.com/office/drawing/2014/main" id="{355D5314-8B02-8147-994B-F9473B5742F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83" y="2131"/>
                <a:ext cx="361" cy="253"/>
                <a:chOff x="1583" y="2131"/>
                <a:chExt cx="361" cy="253"/>
              </a:xfrm>
            </p:grpSpPr>
            <p:sp>
              <p:nvSpPr>
                <p:cNvPr id="26710" name="Arc 60">
                  <a:extLst>
                    <a:ext uri="{FF2B5EF4-FFF2-40B4-BE49-F238E27FC236}">
                      <a16:creationId xmlns:a16="http://schemas.microsoft.com/office/drawing/2014/main" id="{A6A68994-3912-2749-88FC-980033A07DE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11" y="2131"/>
                  <a:ext cx="276" cy="122"/>
                </a:xfrm>
                <a:custGeom>
                  <a:avLst/>
                  <a:gdLst>
                    <a:gd name="T0" fmla="*/ 0 w 21679"/>
                    <a:gd name="T1" fmla="*/ 0 h 21600"/>
                    <a:gd name="T2" fmla="*/ 0 w 21679"/>
                    <a:gd name="T3" fmla="*/ 0 h 21600"/>
                    <a:gd name="T4" fmla="*/ 0 w 21679"/>
                    <a:gd name="T5" fmla="*/ 0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79" h="21600" fill="none" extrusionOk="0">
                      <a:moveTo>
                        <a:pt x="0" y="0"/>
                      </a:moveTo>
                      <a:cubicBezTo>
                        <a:pt x="26" y="0"/>
                        <a:pt x="52" y="-1"/>
                        <a:pt x="79" y="0"/>
                      </a:cubicBezTo>
                      <a:cubicBezTo>
                        <a:pt x="12008" y="0"/>
                        <a:pt x="21679" y="9670"/>
                        <a:pt x="21679" y="21600"/>
                      </a:cubicBezTo>
                    </a:path>
                    <a:path w="21679" h="21600" stroke="0" extrusionOk="0">
                      <a:moveTo>
                        <a:pt x="0" y="0"/>
                      </a:moveTo>
                      <a:cubicBezTo>
                        <a:pt x="26" y="0"/>
                        <a:pt x="52" y="-1"/>
                        <a:pt x="79" y="0"/>
                      </a:cubicBezTo>
                      <a:cubicBezTo>
                        <a:pt x="12008" y="0"/>
                        <a:pt x="21679" y="9670"/>
                        <a:pt x="21679" y="21600"/>
                      </a:cubicBezTo>
                      <a:lnTo>
                        <a:pt x="79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25400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6711" name="Arc 61">
                  <a:extLst>
                    <a:ext uri="{FF2B5EF4-FFF2-40B4-BE49-F238E27FC236}">
                      <a16:creationId xmlns:a16="http://schemas.microsoft.com/office/drawing/2014/main" id="{7E824F2D-F5A1-994C-822C-9EE58DD0A13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10800000">
                  <a:off x="1620" y="2262"/>
                  <a:ext cx="275" cy="122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21599"/>
                      </a:moveTo>
                      <a:cubicBezTo>
                        <a:pt x="0" y="9701"/>
                        <a:pt x="9622" y="43"/>
                        <a:pt x="21521" y="0"/>
                      </a:cubicBezTo>
                    </a:path>
                    <a:path w="21600" h="21600" stroke="0" extrusionOk="0">
                      <a:moveTo>
                        <a:pt x="0" y="21599"/>
                      </a:moveTo>
                      <a:cubicBezTo>
                        <a:pt x="0" y="9701"/>
                        <a:pt x="9622" y="43"/>
                        <a:pt x="21521" y="0"/>
                      </a:cubicBezTo>
                      <a:lnTo>
                        <a:pt x="21600" y="21600"/>
                      </a:lnTo>
                      <a:lnTo>
                        <a:pt x="0" y="21599"/>
                      </a:lnTo>
                      <a:close/>
                    </a:path>
                  </a:pathLst>
                </a:custGeom>
                <a:noFill/>
                <a:ln w="25400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6712" name="Oval 62">
                  <a:extLst>
                    <a:ext uri="{FF2B5EF4-FFF2-40B4-BE49-F238E27FC236}">
                      <a16:creationId xmlns:a16="http://schemas.microsoft.com/office/drawing/2014/main" id="{A0E3888C-383E-F140-ADBD-566475329C7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02" y="2235"/>
                  <a:ext cx="42" cy="35"/>
                </a:xfrm>
                <a:prstGeom prst="ellips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zh-CN" altLang="en-US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6713" name="Arc 63">
                  <a:extLst>
                    <a:ext uri="{FF2B5EF4-FFF2-40B4-BE49-F238E27FC236}">
                      <a16:creationId xmlns:a16="http://schemas.microsoft.com/office/drawing/2014/main" id="{31BD2836-AD85-1D48-896C-515A87182B8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83" y="2131"/>
                  <a:ext cx="79" cy="122"/>
                </a:xfrm>
                <a:custGeom>
                  <a:avLst/>
                  <a:gdLst>
                    <a:gd name="T0" fmla="*/ 0 w 21879"/>
                    <a:gd name="T1" fmla="*/ 0 h 21600"/>
                    <a:gd name="T2" fmla="*/ 0 w 21879"/>
                    <a:gd name="T3" fmla="*/ 0 h 21600"/>
                    <a:gd name="T4" fmla="*/ 0 w 21879"/>
                    <a:gd name="T5" fmla="*/ 0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879" h="21600" fill="none" extrusionOk="0">
                      <a:moveTo>
                        <a:pt x="-1" y="1"/>
                      </a:moveTo>
                      <a:cubicBezTo>
                        <a:pt x="92" y="0"/>
                        <a:pt x="185" y="-1"/>
                        <a:pt x="279" y="0"/>
                      </a:cubicBezTo>
                      <a:cubicBezTo>
                        <a:pt x="12208" y="0"/>
                        <a:pt x="21879" y="9670"/>
                        <a:pt x="21879" y="21600"/>
                      </a:cubicBezTo>
                    </a:path>
                    <a:path w="21879" h="21600" stroke="0" extrusionOk="0">
                      <a:moveTo>
                        <a:pt x="-1" y="1"/>
                      </a:moveTo>
                      <a:cubicBezTo>
                        <a:pt x="92" y="0"/>
                        <a:pt x="185" y="-1"/>
                        <a:pt x="279" y="0"/>
                      </a:cubicBezTo>
                      <a:cubicBezTo>
                        <a:pt x="12208" y="0"/>
                        <a:pt x="21879" y="9670"/>
                        <a:pt x="21879" y="21600"/>
                      </a:cubicBezTo>
                      <a:lnTo>
                        <a:pt x="279" y="21600"/>
                      </a:lnTo>
                      <a:lnTo>
                        <a:pt x="-1" y="1"/>
                      </a:lnTo>
                      <a:close/>
                    </a:path>
                  </a:pathLst>
                </a:custGeom>
                <a:noFill/>
                <a:ln w="25400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6714" name="Arc 64">
                  <a:extLst>
                    <a:ext uri="{FF2B5EF4-FFF2-40B4-BE49-F238E27FC236}">
                      <a16:creationId xmlns:a16="http://schemas.microsoft.com/office/drawing/2014/main" id="{5A41ADD2-C259-C847-9D88-04EE01F346E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10800000">
                  <a:off x="1592" y="2262"/>
                  <a:ext cx="78" cy="122"/>
                </a:xfrm>
                <a:custGeom>
                  <a:avLst/>
                  <a:gdLst>
                    <a:gd name="T0" fmla="*/ 0 w 21600"/>
                    <a:gd name="T1" fmla="*/ 0 h 21598"/>
                    <a:gd name="T2" fmla="*/ 0 w 21600"/>
                    <a:gd name="T3" fmla="*/ 0 h 21598"/>
                    <a:gd name="T4" fmla="*/ 0 w 21600"/>
                    <a:gd name="T5" fmla="*/ 0 h 2159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598" fill="none" extrusionOk="0">
                      <a:moveTo>
                        <a:pt x="0" y="21597"/>
                      </a:moveTo>
                      <a:cubicBezTo>
                        <a:pt x="0" y="9777"/>
                        <a:pt x="9501" y="152"/>
                        <a:pt x="21320" y="-1"/>
                      </a:cubicBezTo>
                    </a:path>
                    <a:path w="21600" h="21598" stroke="0" extrusionOk="0">
                      <a:moveTo>
                        <a:pt x="0" y="21597"/>
                      </a:moveTo>
                      <a:cubicBezTo>
                        <a:pt x="0" y="9777"/>
                        <a:pt x="9501" y="152"/>
                        <a:pt x="21320" y="-1"/>
                      </a:cubicBezTo>
                      <a:lnTo>
                        <a:pt x="21600" y="21598"/>
                      </a:lnTo>
                      <a:lnTo>
                        <a:pt x="0" y="21597"/>
                      </a:lnTo>
                      <a:close/>
                    </a:path>
                  </a:pathLst>
                </a:custGeom>
                <a:noFill/>
                <a:ln w="25400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26707" name="Line 65">
                <a:extLst>
                  <a:ext uri="{FF2B5EF4-FFF2-40B4-BE49-F238E27FC236}">
                    <a16:creationId xmlns:a16="http://schemas.microsoft.com/office/drawing/2014/main" id="{B6AA1A98-75BC-DE41-BA84-6D79B240B5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56" y="2253"/>
                <a:ext cx="22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708" name="Line 66">
                <a:extLst>
                  <a:ext uri="{FF2B5EF4-FFF2-40B4-BE49-F238E27FC236}">
                    <a16:creationId xmlns:a16="http://schemas.microsoft.com/office/drawing/2014/main" id="{799A9C4D-7591-BE40-9661-90FEF8465A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445" y="2187"/>
                <a:ext cx="21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709" name="Line 67">
                <a:extLst>
                  <a:ext uri="{FF2B5EF4-FFF2-40B4-BE49-F238E27FC236}">
                    <a16:creationId xmlns:a16="http://schemas.microsoft.com/office/drawing/2014/main" id="{C29F52B0-8DCE-B540-8347-B00B1FF2D1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445" y="2318"/>
                <a:ext cx="21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6661" name="Group 68">
              <a:extLst>
                <a:ext uri="{FF2B5EF4-FFF2-40B4-BE49-F238E27FC236}">
                  <a16:creationId xmlns:a16="http://schemas.microsoft.com/office/drawing/2014/main" id="{87B27B65-9C15-9848-9D30-D47D845D42E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65" y="1620"/>
              <a:ext cx="201" cy="212"/>
              <a:chOff x="3765" y="1620"/>
              <a:chExt cx="201" cy="212"/>
            </a:xfrm>
          </p:grpSpPr>
          <p:sp>
            <p:nvSpPr>
              <p:cNvPr id="26702" name="Oval 69">
                <a:extLst>
                  <a:ext uri="{FF2B5EF4-FFF2-40B4-BE49-F238E27FC236}">
                    <a16:creationId xmlns:a16="http://schemas.microsoft.com/office/drawing/2014/main" id="{628A1766-110D-D34B-8087-D55E14223F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14" y="1701"/>
                <a:ext cx="52" cy="50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26703" name="Line 70">
                <a:extLst>
                  <a:ext uri="{FF2B5EF4-FFF2-40B4-BE49-F238E27FC236}">
                    <a16:creationId xmlns:a16="http://schemas.microsoft.com/office/drawing/2014/main" id="{9D75E9A2-A4D4-7147-B3F1-926298817C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765" y="1620"/>
                <a:ext cx="149" cy="115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704" name="Line 71">
                <a:extLst>
                  <a:ext uri="{FF2B5EF4-FFF2-40B4-BE49-F238E27FC236}">
                    <a16:creationId xmlns:a16="http://schemas.microsoft.com/office/drawing/2014/main" id="{80509F18-2AF0-C64F-8BA4-D99A8EBB3B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765" y="1735"/>
                <a:ext cx="149" cy="8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705" name="Line 72">
                <a:extLst>
                  <a:ext uri="{FF2B5EF4-FFF2-40B4-BE49-F238E27FC236}">
                    <a16:creationId xmlns:a16="http://schemas.microsoft.com/office/drawing/2014/main" id="{9111BA6D-1E1C-D24B-A34B-56BE6F175C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773" y="1620"/>
                <a:ext cx="0" cy="21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6662" name="Line 73">
              <a:extLst>
                <a:ext uri="{FF2B5EF4-FFF2-40B4-BE49-F238E27FC236}">
                  <a16:creationId xmlns:a16="http://schemas.microsoft.com/office/drawing/2014/main" id="{2AA8C77B-2180-2546-9750-422697E5F5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01" y="1727"/>
              <a:ext cx="1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63" name="Line 74">
              <a:extLst>
                <a:ext uri="{FF2B5EF4-FFF2-40B4-BE49-F238E27FC236}">
                  <a16:creationId xmlns:a16="http://schemas.microsoft.com/office/drawing/2014/main" id="{15D5B3E5-984A-C443-8E23-2D641AA9AC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78" y="1727"/>
              <a:ext cx="192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6664" name="Group 75">
              <a:extLst>
                <a:ext uri="{FF2B5EF4-FFF2-40B4-BE49-F238E27FC236}">
                  <a16:creationId xmlns:a16="http://schemas.microsoft.com/office/drawing/2014/main" id="{DF7883FE-8EA0-4E4D-8DB2-57D024260C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96" y="1779"/>
              <a:ext cx="201" cy="212"/>
              <a:chOff x="2196" y="1779"/>
              <a:chExt cx="201" cy="212"/>
            </a:xfrm>
          </p:grpSpPr>
          <p:sp>
            <p:nvSpPr>
              <p:cNvPr id="26698" name="Oval 76">
                <a:extLst>
                  <a:ext uri="{FF2B5EF4-FFF2-40B4-BE49-F238E27FC236}">
                    <a16:creationId xmlns:a16="http://schemas.microsoft.com/office/drawing/2014/main" id="{F34A791F-F24E-664A-9A35-6EF845EE2C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45" y="1860"/>
                <a:ext cx="52" cy="50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26699" name="Line 77">
                <a:extLst>
                  <a:ext uri="{FF2B5EF4-FFF2-40B4-BE49-F238E27FC236}">
                    <a16:creationId xmlns:a16="http://schemas.microsoft.com/office/drawing/2014/main" id="{EB818BF4-EB89-324D-BE6E-856F34BBDB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196" y="1779"/>
                <a:ext cx="149" cy="115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700" name="Line 78">
                <a:extLst>
                  <a:ext uri="{FF2B5EF4-FFF2-40B4-BE49-F238E27FC236}">
                    <a16:creationId xmlns:a16="http://schemas.microsoft.com/office/drawing/2014/main" id="{D1F0BD4D-CB60-9D42-BA0E-9F6BCF308D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196" y="1894"/>
                <a:ext cx="149" cy="8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701" name="Line 79">
                <a:extLst>
                  <a:ext uri="{FF2B5EF4-FFF2-40B4-BE49-F238E27FC236}">
                    <a16:creationId xmlns:a16="http://schemas.microsoft.com/office/drawing/2014/main" id="{D9D4BCBF-288A-DE45-881D-A5FEADC738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204" y="1779"/>
                <a:ext cx="0" cy="21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6665" name="Line 80">
              <a:extLst>
                <a:ext uri="{FF2B5EF4-FFF2-40B4-BE49-F238E27FC236}">
                  <a16:creationId xmlns:a16="http://schemas.microsoft.com/office/drawing/2014/main" id="{A5C22090-8FFE-1046-AEBB-2EC37525117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32" y="1886"/>
              <a:ext cx="176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66" name="Line 81">
              <a:extLst>
                <a:ext uri="{FF2B5EF4-FFF2-40B4-BE49-F238E27FC236}">
                  <a16:creationId xmlns:a16="http://schemas.microsoft.com/office/drawing/2014/main" id="{99769AC3-0477-ED42-9CFA-C88A5CB9C8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8" y="1886"/>
              <a:ext cx="202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6667" name="Group 82">
              <a:extLst>
                <a:ext uri="{FF2B5EF4-FFF2-40B4-BE49-F238E27FC236}">
                  <a16:creationId xmlns:a16="http://schemas.microsoft.com/office/drawing/2014/main" id="{94DDA69B-04FD-244E-9D8B-79AE353FFE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06" y="1605"/>
              <a:ext cx="361" cy="253"/>
              <a:chOff x="3106" y="1605"/>
              <a:chExt cx="361" cy="253"/>
            </a:xfrm>
          </p:grpSpPr>
          <p:sp>
            <p:nvSpPr>
              <p:cNvPr id="26693" name="Arc 83">
                <a:extLst>
                  <a:ext uri="{FF2B5EF4-FFF2-40B4-BE49-F238E27FC236}">
                    <a16:creationId xmlns:a16="http://schemas.microsoft.com/office/drawing/2014/main" id="{852390CB-CE86-F74E-A0F2-53EDDF7C2A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34" y="1605"/>
                <a:ext cx="276" cy="122"/>
              </a:xfrm>
              <a:custGeom>
                <a:avLst/>
                <a:gdLst>
                  <a:gd name="T0" fmla="*/ 0 w 21679"/>
                  <a:gd name="T1" fmla="*/ 0 h 21600"/>
                  <a:gd name="T2" fmla="*/ 0 w 21679"/>
                  <a:gd name="T3" fmla="*/ 0 h 21600"/>
                  <a:gd name="T4" fmla="*/ 0 w 21679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79" h="21600" fill="none" extrusionOk="0">
                    <a:moveTo>
                      <a:pt x="0" y="0"/>
                    </a:moveTo>
                    <a:cubicBezTo>
                      <a:pt x="26" y="0"/>
                      <a:pt x="52" y="-1"/>
                      <a:pt x="79" y="0"/>
                    </a:cubicBezTo>
                    <a:cubicBezTo>
                      <a:pt x="12008" y="0"/>
                      <a:pt x="21679" y="9670"/>
                      <a:pt x="21679" y="21600"/>
                    </a:cubicBezTo>
                  </a:path>
                  <a:path w="21679" h="21600" stroke="0" extrusionOk="0">
                    <a:moveTo>
                      <a:pt x="0" y="0"/>
                    </a:moveTo>
                    <a:cubicBezTo>
                      <a:pt x="26" y="0"/>
                      <a:pt x="52" y="-1"/>
                      <a:pt x="79" y="0"/>
                    </a:cubicBezTo>
                    <a:cubicBezTo>
                      <a:pt x="12008" y="0"/>
                      <a:pt x="21679" y="9670"/>
                      <a:pt x="21679" y="21600"/>
                    </a:cubicBezTo>
                    <a:lnTo>
                      <a:pt x="79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25400" cap="rnd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694" name="Arc 84">
                <a:extLst>
                  <a:ext uri="{FF2B5EF4-FFF2-40B4-BE49-F238E27FC236}">
                    <a16:creationId xmlns:a16="http://schemas.microsoft.com/office/drawing/2014/main" id="{0497CBC9-C221-504F-BE6A-164353C5A6DF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3143" y="1736"/>
                <a:ext cx="275" cy="122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21599"/>
                    </a:moveTo>
                    <a:cubicBezTo>
                      <a:pt x="0" y="9701"/>
                      <a:pt x="9622" y="43"/>
                      <a:pt x="21521" y="0"/>
                    </a:cubicBezTo>
                  </a:path>
                  <a:path w="21600" h="21600" stroke="0" extrusionOk="0">
                    <a:moveTo>
                      <a:pt x="0" y="21599"/>
                    </a:moveTo>
                    <a:cubicBezTo>
                      <a:pt x="0" y="9701"/>
                      <a:pt x="9622" y="43"/>
                      <a:pt x="21521" y="0"/>
                    </a:cubicBezTo>
                    <a:lnTo>
                      <a:pt x="21600" y="21600"/>
                    </a:lnTo>
                    <a:lnTo>
                      <a:pt x="0" y="21599"/>
                    </a:lnTo>
                    <a:close/>
                  </a:path>
                </a:pathLst>
              </a:custGeom>
              <a:noFill/>
              <a:ln w="25400" cap="rnd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695" name="Oval 85">
                <a:extLst>
                  <a:ext uri="{FF2B5EF4-FFF2-40B4-BE49-F238E27FC236}">
                    <a16:creationId xmlns:a16="http://schemas.microsoft.com/office/drawing/2014/main" id="{B3316DC1-4809-514C-97DB-5DB03A5654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5" y="1709"/>
                <a:ext cx="42" cy="35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26696" name="Arc 86">
                <a:extLst>
                  <a:ext uri="{FF2B5EF4-FFF2-40B4-BE49-F238E27FC236}">
                    <a16:creationId xmlns:a16="http://schemas.microsoft.com/office/drawing/2014/main" id="{40789944-F519-7643-973B-38F8E948BA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06" y="1605"/>
                <a:ext cx="79" cy="122"/>
              </a:xfrm>
              <a:custGeom>
                <a:avLst/>
                <a:gdLst>
                  <a:gd name="T0" fmla="*/ 0 w 21879"/>
                  <a:gd name="T1" fmla="*/ 0 h 21600"/>
                  <a:gd name="T2" fmla="*/ 0 w 21879"/>
                  <a:gd name="T3" fmla="*/ 0 h 21600"/>
                  <a:gd name="T4" fmla="*/ 0 w 21879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879" h="21600" fill="none" extrusionOk="0">
                    <a:moveTo>
                      <a:pt x="-1" y="1"/>
                    </a:moveTo>
                    <a:cubicBezTo>
                      <a:pt x="92" y="0"/>
                      <a:pt x="185" y="-1"/>
                      <a:pt x="279" y="0"/>
                    </a:cubicBezTo>
                    <a:cubicBezTo>
                      <a:pt x="12208" y="0"/>
                      <a:pt x="21879" y="9670"/>
                      <a:pt x="21879" y="21600"/>
                    </a:cubicBezTo>
                  </a:path>
                  <a:path w="21879" h="21600" stroke="0" extrusionOk="0">
                    <a:moveTo>
                      <a:pt x="-1" y="1"/>
                    </a:moveTo>
                    <a:cubicBezTo>
                      <a:pt x="92" y="0"/>
                      <a:pt x="185" y="-1"/>
                      <a:pt x="279" y="0"/>
                    </a:cubicBezTo>
                    <a:cubicBezTo>
                      <a:pt x="12208" y="0"/>
                      <a:pt x="21879" y="9670"/>
                      <a:pt x="21879" y="21600"/>
                    </a:cubicBezTo>
                    <a:lnTo>
                      <a:pt x="279" y="21600"/>
                    </a:lnTo>
                    <a:lnTo>
                      <a:pt x="-1" y="1"/>
                    </a:lnTo>
                    <a:close/>
                  </a:path>
                </a:pathLst>
              </a:custGeom>
              <a:noFill/>
              <a:ln w="25400" cap="rnd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697" name="Arc 87">
                <a:extLst>
                  <a:ext uri="{FF2B5EF4-FFF2-40B4-BE49-F238E27FC236}">
                    <a16:creationId xmlns:a16="http://schemas.microsoft.com/office/drawing/2014/main" id="{EAC804D0-FC84-6F42-8A65-E27114CE57E0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3115" y="1736"/>
                <a:ext cx="78" cy="122"/>
              </a:xfrm>
              <a:custGeom>
                <a:avLst/>
                <a:gdLst>
                  <a:gd name="T0" fmla="*/ 0 w 21600"/>
                  <a:gd name="T1" fmla="*/ 0 h 21598"/>
                  <a:gd name="T2" fmla="*/ 0 w 21600"/>
                  <a:gd name="T3" fmla="*/ 0 h 21598"/>
                  <a:gd name="T4" fmla="*/ 0 w 21600"/>
                  <a:gd name="T5" fmla="*/ 0 h 2159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598" fill="none" extrusionOk="0">
                    <a:moveTo>
                      <a:pt x="0" y="21597"/>
                    </a:moveTo>
                    <a:cubicBezTo>
                      <a:pt x="0" y="9777"/>
                      <a:pt x="9501" y="152"/>
                      <a:pt x="21320" y="-1"/>
                    </a:cubicBezTo>
                  </a:path>
                  <a:path w="21600" h="21598" stroke="0" extrusionOk="0">
                    <a:moveTo>
                      <a:pt x="0" y="21597"/>
                    </a:moveTo>
                    <a:cubicBezTo>
                      <a:pt x="0" y="9777"/>
                      <a:pt x="9501" y="152"/>
                      <a:pt x="21320" y="-1"/>
                    </a:cubicBezTo>
                    <a:lnTo>
                      <a:pt x="21600" y="21598"/>
                    </a:lnTo>
                    <a:lnTo>
                      <a:pt x="0" y="21597"/>
                    </a:lnTo>
                    <a:close/>
                  </a:path>
                </a:pathLst>
              </a:custGeom>
              <a:noFill/>
              <a:ln w="25400" cap="rnd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6668" name="Line 88">
              <a:extLst>
                <a:ext uri="{FF2B5EF4-FFF2-40B4-BE49-F238E27FC236}">
                  <a16:creationId xmlns:a16="http://schemas.microsoft.com/office/drawing/2014/main" id="{753D7FD5-0712-6D49-B0A4-74C1112A8C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79" y="1727"/>
              <a:ext cx="225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69" name="Line 89">
              <a:extLst>
                <a:ext uri="{FF2B5EF4-FFF2-40B4-BE49-F238E27FC236}">
                  <a16:creationId xmlns:a16="http://schemas.microsoft.com/office/drawing/2014/main" id="{FF053896-EBCD-C84E-99E2-EEBE4AA51CE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68" y="1661"/>
              <a:ext cx="21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70" name="Line 90">
              <a:extLst>
                <a:ext uri="{FF2B5EF4-FFF2-40B4-BE49-F238E27FC236}">
                  <a16:creationId xmlns:a16="http://schemas.microsoft.com/office/drawing/2014/main" id="{268C8DDA-9480-DD42-A513-B9D92064BF3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68" y="1792"/>
              <a:ext cx="210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71" name="Oval 91">
              <a:extLst>
                <a:ext uri="{FF2B5EF4-FFF2-40B4-BE49-F238E27FC236}">
                  <a16:creationId xmlns:a16="http://schemas.microsoft.com/office/drawing/2014/main" id="{819D661D-425E-A847-8EB4-0FA56642E3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7" y="2161"/>
              <a:ext cx="51" cy="49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grpSp>
          <p:nvGrpSpPr>
            <p:cNvPr id="26672" name="Group 92">
              <a:extLst>
                <a:ext uri="{FF2B5EF4-FFF2-40B4-BE49-F238E27FC236}">
                  <a16:creationId xmlns:a16="http://schemas.microsoft.com/office/drawing/2014/main" id="{045CDC82-6C5B-2C47-B210-7C64298BEB2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56" y="2056"/>
              <a:ext cx="344" cy="261"/>
              <a:chOff x="2756" y="2056"/>
              <a:chExt cx="344" cy="261"/>
            </a:xfrm>
          </p:grpSpPr>
          <p:sp>
            <p:nvSpPr>
              <p:cNvPr id="26688" name="Arc 93">
                <a:extLst>
                  <a:ext uri="{FF2B5EF4-FFF2-40B4-BE49-F238E27FC236}">
                    <a16:creationId xmlns:a16="http://schemas.microsoft.com/office/drawing/2014/main" id="{394AA9D3-5128-9B46-9B46-58D72DBC7E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60" y="2065"/>
                <a:ext cx="132" cy="123"/>
              </a:xfrm>
              <a:custGeom>
                <a:avLst/>
                <a:gdLst>
                  <a:gd name="T0" fmla="*/ 0 w 21763"/>
                  <a:gd name="T1" fmla="*/ 0 h 21600"/>
                  <a:gd name="T2" fmla="*/ 0 w 21763"/>
                  <a:gd name="T3" fmla="*/ 0 h 21600"/>
                  <a:gd name="T4" fmla="*/ 0 w 21763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763" h="21600" fill="none" extrusionOk="0">
                    <a:moveTo>
                      <a:pt x="-1" y="0"/>
                    </a:moveTo>
                    <a:cubicBezTo>
                      <a:pt x="54" y="0"/>
                      <a:pt x="109" y="-1"/>
                      <a:pt x="164" y="0"/>
                    </a:cubicBezTo>
                    <a:cubicBezTo>
                      <a:pt x="12024" y="0"/>
                      <a:pt x="21666" y="9563"/>
                      <a:pt x="21763" y="21422"/>
                    </a:cubicBezTo>
                  </a:path>
                  <a:path w="21763" h="21600" stroke="0" extrusionOk="0">
                    <a:moveTo>
                      <a:pt x="-1" y="0"/>
                    </a:moveTo>
                    <a:cubicBezTo>
                      <a:pt x="54" y="0"/>
                      <a:pt x="109" y="-1"/>
                      <a:pt x="164" y="0"/>
                    </a:cubicBezTo>
                    <a:cubicBezTo>
                      <a:pt x="12024" y="0"/>
                      <a:pt x="21666" y="9563"/>
                      <a:pt x="21763" y="21422"/>
                    </a:cubicBezTo>
                    <a:lnTo>
                      <a:pt x="164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5400" cap="rnd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689" name="Arc 94">
                <a:extLst>
                  <a:ext uri="{FF2B5EF4-FFF2-40B4-BE49-F238E27FC236}">
                    <a16:creationId xmlns:a16="http://schemas.microsoft.com/office/drawing/2014/main" id="{E342419C-2BC9-4940-BCE7-798D1E7E7FE5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2969" y="2195"/>
                <a:ext cx="131" cy="122"/>
              </a:xfrm>
              <a:custGeom>
                <a:avLst/>
                <a:gdLst>
                  <a:gd name="T0" fmla="*/ 0 w 21600"/>
                  <a:gd name="T1" fmla="*/ 0 h 21599"/>
                  <a:gd name="T2" fmla="*/ 0 w 21600"/>
                  <a:gd name="T3" fmla="*/ 0 h 21599"/>
                  <a:gd name="T4" fmla="*/ 0 w 21600"/>
                  <a:gd name="T5" fmla="*/ 0 h 2159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599" fill="none" extrusionOk="0">
                    <a:moveTo>
                      <a:pt x="0" y="21598"/>
                    </a:moveTo>
                    <a:cubicBezTo>
                      <a:pt x="0" y="9734"/>
                      <a:pt x="9570" y="90"/>
                      <a:pt x="21434" y="-1"/>
                    </a:cubicBezTo>
                  </a:path>
                  <a:path w="21600" h="21599" stroke="0" extrusionOk="0">
                    <a:moveTo>
                      <a:pt x="0" y="21598"/>
                    </a:moveTo>
                    <a:cubicBezTo>
                      <a:pt x="0" y="9734"/>
                      <a:pt x="9570" y="90"/>
                      <a:pt x="21434" y="-1"/>
                    </a:cubicBezTo>
                    <a:lnTo>
                      <a:pt x="21600" y="21599"/>
                    </a:lnTo>
                    <a:lnTo>
                      <a:pt x="0" y="21598"/>
                    </a:lnTo>
                    <a:close/>
                  </a:path>
                </a:pathLst>
              </a:custGeom>
              <a:noFill/>
              <a:ln w="25400" cap="rnd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690" name="Line 95">
                <a:extLst>
                  <a:ext uri="{FF2B5EF4-FFF2-40B4-BE49-F238E27FC236}">
                    <a16:creationId xmlns:a16="http://schemas.microsoft.com/office/drawing/2014/main" id="{7DCAF3BB-4F67-4443-9584-37FAF35C11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756" y="2056"/>
                <a:ext cx="21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691" name="Line 96">
                <a:extLst>
                  <a:ext uri="{FF2B5EF4-FFF2-40B4-BE49-F238E27FC236}">
                    <a16:creationId xmlns:a16="http://schemas.microsoft.com/office/drawing/2014/main" id="{6F7FB399-3267-4B45-8E80-CF1E20ECF0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64" y="2064"/>
                <a:ext cx="0" cy="245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692" name="Line 97">
                <a:extLst>
                  <a:ext uri="{FF2B5EF4-FFF2-40B4-BE49-F238E27FC236}">
                    <a16:creationId xmlns:a16="http://schemas.microsoft.com/office/drawing/2014/main" id="{E416090A-C776-7049-8CEA-B16E5A5EFA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756" y="2317"/>
                <a:ext cx="21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6673" name="Line 98">
              <a:extLst>
                <a:ext uri="{FF2B5EF4-FFF2-40B4-BE49-F238E27FC236}">
                  <a16:creationId xmlns:a16="http://schemas.microsoft.com/office/drawing/2014/main" id="{07D553FF-B60A-124B-9291-31A1F265A6E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03" y="2121"/>
              <a:ext cx="174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74" name="Line 99">
              <a:extLst>
                <a:ext uri="{FF2B5EF4-FFF2-40B4-BE49-F238E27FC236}">
                  <a16:creationId xmlns:a16="http://schemas.microsoft.com/office/drawing/2014/main" id="{F5E9DF39-EAD5-6846-A883-3C2ABCB6255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94" y="2252"/>
              <a:ext cx="17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75" name="Line 100">
              <a:extLst>
                <a:ext uri="{FF2B5EF4-FFF2-40B4-BE49-F238E27FC236}">
                  <a16:creationId xmlns:a16="http://schemas.microsoft.com/office/drawing/2014/main" id="{7128B42C-8CB9-844B-836E-E971B8D3FE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0" y="2186"/>
              <a:ext cx="192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76" name="Line 101">
              <a:extLst>
                <a:ext uri="{FF2B5EF4-FFF2-40B4-BE49-F238E27FC236}">
                  <a16:creationId xmlns:a16="http://schemas.microsoft.com/office/drawing/2014/main" id="{1638E4F5-1AE3-A841-9906-8A1F5BF288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02" y="1887"/>
              <a:ext cx="0" cy="232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77" name="Line 102">
              <a:extLst>
                <a:ext uri="{FF2B5EF4-FFF2-40B4-BE49-F238E27FC236}">
                  <a16:creationId xmlns:a16="http://schemas.microsoft.com/office/drawing/2014/main" id="{096019A0-9026-E244-B958-B1CB63AE14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90" y="2250"/>
              <a:ext cx="43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78" name="Line 103">
              <a:extLst>
                <a:ext uri="{FF2B5EF4-FFF2-40B4-BE49-F238E27FC236}">
                  <a16:creationId xmlns:a16="http://schemas.microsoft.com/office/drawing/2014/main" id="{070B9DF5-A6D8-B948-889E-2327B345220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72" y="1792"/>
              <a:ext cx="0" cy="184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79" name="Line 104">
              <a:extLst>
                <a:ext uri="{FF2B5EF4-FFF2-40B4-BE49-F238E27FC236}">
                  <a16:creationId xmlns:a16="http://schemas.microsoft.com/office/drawing/2014/main" id="{112A0DA0-F1E8-854B-9F02-E3DFA09A13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5" y="1963"/>
              <a:ext cx="392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80" name="Line 105">
              <a:extLst>
                <a:ext uri="{FF2B5EF4-FFF2-40B4-BE49-F238E27FC236}">
                  <a16:creationId xmlns:a16="http://schemas.microsoft.com/office/drawing/2014/main" id="{3C90A1B9-33C5-1443-8336-640B04EDB6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5" y="1966"/>
              <a:ext cx="0" cy="217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81" name="Line 106">
              <a:extLst>
                <a:ext uri="{FF2B5EF4-FFF2-40B4-BE49-F238E27FC236}">
                  <a16:creationId xmlns:a16="http://schemas.microsoft.com/office/drawing/2014/main" id="{63529073-F360-DC48-A95D-9EB993EEFC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5" y="1663"/>
              <a:ext cx="151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82" name="Line 107">
              <a:extLst>
                <a:ext uri="{FF2B5EF4-FFF2-40B4-BE49-F238E27FC236}">
                  <a16:creationId xmlns:a16="http://schemas.microsoft.com/office/drawing/2014/main" id="{8D85243A-26F3-4D4E-846F-3021BF2460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59" y="2187"/>
              <a:ext cx="80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83" name="Line 108">
              <a:extLst>
                <a:ext uri="{FF2B5EF4-FFF2-40B4-BE49-F238E27FC236}">
                  <a16:creationId xmlns:a16="http://schemas.microsoft.com/office/drawing/2014/main" id="{536380F6-16DD-7148-9E9A-FD1F041DE2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92" y="1832"/>
              <a:ext cx="368" cy="32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84" name="Line 109">
              <a:extLst>
                <a:ext uri="{FF2B5EF4-FFF2-40B4-BE49-F238E27FC236}">
                  <a16:creationId xmlns:a16="http://schemas.microsoft.com/office/drawing/2014/main" id="{740FB519-206E-094D-A1F5-FCF51F0D34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16" y="1884"/>
              <a:ext cx="128" cy="0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85" name="Line 110">
              <a:extLst>
                <a:ext uri="{FF2B5EF4-FFF2-40B4-BE49-F238E27FC236}">
                  <a16:creationId xmlns:a16="http://schemas.microsoft.com/office/drawing/2014/main" id="{0066C224-52C0-964B-B762-8A19295C81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68" y="2132"/>
              <a:ext cx="332" cy="44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86" name="Line 111">
              <a:extLst>
                <a:ext uri="{FF2B5EF4-FFF2-40B4-BE49-F238E27FC236}">
                  <a16:creationId xmlns:a16="http://schemas.microsoft.com/office/drawing/2014/main" id="{D7452BA7-F8CD-9847-B6CC-F1C5E0D89DE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76" y="1720"/>
              <a:ext cx="248" cy="88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87" name="Line 112">
              <a:extLst>
                <a:ext uri="{FF2B5EF4-FFF2-40B4-BE49-F238E27FC236}">
                  <a16:creationId xmlns:a16="http://schemas.microsoft.com/office/drawing/2014/main" id="{553F35BB-3E0B-6141-8C26-1AC962DA4C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76" y="1728"/>
              <a:ext cx="128" cy="0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6641" name="Line 113">
            <a:extLst>
              <a:ext uri="{FF2B5EF4-FFF2-40B4-BE49-F238E27FC236}">
                <a16:creationId xmlns:a16="http://schemas.microsoft.com/office/drawing/2014/main" id="{6AA0E69A-1BB3-E84C-877D-7712B157E67A}"/>
              </a:ext>
            </a:extLst>
          </p:cNvPr>
          <p:cNvSpPr>
            <a:spLocks noChangeShapeType="1"/>
          </p:cNvSpPr>
          <p:nvPr/>
        </p:nvSpPr>
        <p:spPr bwMode="auto">
          <a:xfrm>
            <a:off x="7226300" y="1285875"/>
            <a:ext cx="0" cy="8255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642" name="Line 114">
            <a:extLst>
              <a:ext uri="{FF2B5EF4-FFF2-40B4-BE49-F238E27FC236}">
                <a16:creationId xmlns:a16="http://schemas.microsoft.com/office/drawing/2014/main" id="{EB6B0BA1-F4FA-7841-8036-64634EF8E545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0450" y="1660525"/>
            <a:ext cx="5969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643" name="Line 115">
            <a:extLst>
              <a:ext uri="{FF2B5EF4-FFF2-40B4-BE49-F238E27FC236}">
                <a16:creationId xmlns:a16="http://schemas.microsoft.com/office/drawing/2014/main" id="{E8F0EBB4-A878-D246-B77F-BB840286936B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0050" y="1660525"/>
            <a:ext cx="5207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644" name="Rectangle 116">
            <a:extLst>
              <a:ext uri="{FF2B5EF4-FFF2-40B4-BE49-F238E27FC236}">
                <a16:creationId xmlns:a16="http://schemas.microsoft.com/office/drawing/2014/main" id="{C300EBFC-47A0-8449-9F89-9C5B2D8211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6313" y="1279525"/>
            <a:ext cx="7445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Setup</a:t>
            </a:r>
          </a:p>
        </p:txBody>
      </p:sp>
      <p:sp>
        <p:nvSpPr>
          <p:cNvPr id="26645" name="Rectangle 117">
            <a:extLst>
              <a:ext uri="{FF2B5EF4-FFF2-40B4-BE49-F238E27FC236}">
                <a16:creationId xmlns:a16="http://schemas.microsoft.com/office/drawing/2014/main" id="{B58E1AED-2841-1644-B52B-419C2DA6EB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4013" y="1292225"/>
            <a:ext cx="6318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Hold</a:t>
            </a:r>
          </a:p>
        </p:txBody>
      </p:sp>
      <p:sp>
        <p:nvSpPr>
          <p:cNvPr id="26646" name="Line 118">
            <a:extLst>
              <a:ext uri="{FF2B5EF4-FFF2-40B4-BE49-F238E27FC236}">
                <a16:creationId xmlns:a16="http://schemas.microsoft.com/office/drawing/2014/main" id="{710ED5EC-CAFF-3F45-AED3-81A4AA165CCF}"/>
              </a:ext>
            </a:extLst>
          </p:cNvPr>
          <p:cNvSpPr>
            <a:spLocks noChangeShapeType="1"/>
          </p:cNvSpPr>
          <p:nvPr/>
        </p:nvSpPr>
        <p:spPr bwMode="auto">
          <a:xfrm>
            <a:off x="1663700" y="1285875"/>
            <a:ext cx="0" cy="8255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2199" name="Text Box 119">
            <a:extLst>
              <a:ext uri="{FF2B5EF4-FFF2-40B4-BE49-F238E27FC236}">
                <a16:creationId xmlns:a16="http://schemas.microsoft.com/office/drawing/2014/main" id="{9B293501-DE6A-5245-AB94-1F074E3659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075" y="4075113"/>
            <a:ext cx="8281988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数据通路由 “ </a:t>
            </a:r>
            <a:r>
              <a:rPr lang="en-US" altLang="zh-CN"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 + 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状态元件</a:t>
            </a:r>
            <a:r>
              <a:rPr lang="zh-CN" altLang="en-US"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 </a:t>
            </a:r>
            <a:r>
              <a:rPr lang="zh-CN" altLang="en-US" sz="1800">
                <a:solidFill>
                  <a:srgbClr val="3399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操作元件</a:t>
            </a:r>
            <a:r>
              <a:rPr lang="en-US" altLang="zh-CN" sz="1800">
                <a:solidFill>
                  <a:srgbClr val="3399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 </a:t>
            </a:r>
            <a:r>
              <a:rPr lang="zh-CN" altLang="en-US" sz="1800">
                <a:solidFill>
                  <a:srgbClr val="3399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组合电路</a:t>
            </a:r>
            <a:r>
              <a:rPr lang="en-US" altLang="zh-CN" sz="1800">
                <a:solidFill>
                  <a:srgbClr val="3399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en-US" altLang="zh-CN"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+ 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状态元件</a:t>
            </a:r>
            <a:r>
              <a:rPr lang="zh-CN" altLang="en-US"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 …</a:t>
            </a:r>
            <a:r>
              <a:rPr lang="zh-CN" altLang="en-US"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 组成</a:t>
            </a:r>
          </a:p>
        </p:txBody>
      </p:sp>
      <p:sp>
        <p:nvSpPr>
          <p:cNvPr id="302200" name="Text Box 120">
            <a:extLst>
              <a:ext uri="{FF2B5EF4-FFF2-40B4-BE49-F238E27FC236}">
                <a16:creationId xmlns:a16="http://schemas.microsoft.com/office/drawing/2014/main" id="{6184BFA5-4459-7049-A998-BBAE8627F3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075" y="4527550"/>
            <a:ext cx="84455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8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只有状态元件能存储信息，所有操作元件都须从状态单元接收输入，并将输出写入状态单元中。其输入为前一时钟生成的数据，输出为当前时钟所用的数据</a:t>
            </a:r>
          </a:p>
        </p:txBody>
      </p:sp>
      <p:sp>
        <p:nvSpPr>
          <p:cNvPr id="26649" name="Text Box 122">
            <a:extLst>
              <a:ext uri="{FF2B5EF4-FFF2-40B4-BE49-F238E27FC236}">
                <a16:creationId xmlns:a16="http://schemas.microsoft.com/office/drawing/2014/main" id="{7354DC3E-BFA3-F743-A81E-00638312E7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184150"/>
            <a:ext cx="464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 typeface="Times New Roman" panose="02020603050405020304" pitchFamily="18" charset="0"/>
              <a:buNone/>
            </a:pPr>
            <a:r>
              <a:rPr lang="zh-CN" altLang="en-US" sz="2400">
                <a:solidFill>
                  <a:schemeClr val="accent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现代计算机的时钟周期</a:t>
            </a:r>
          </a:p>
        </p:txBody>
      </p:sp>
      <p:sp>
        <p:nvSpPr>
          <p:cNvPr id="26650" name="Text Box 123">
            <a:extLst>
              <a:ext uri="{FF2B5EF4-FFF2-40B4-BE49-F238E27FC236}">
                <a16:creationId xmlns:a16="http://schemas.microsoft.com/office/drawing/2014/main" id="{889C71DC-D00C-3041-B8C7-F4DF36EAE7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5125" y="3736975"/>
            <a:ext cx="5715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Clk</a:t>
            </a:r>
          </a:p>
        </p:txBody>
      </p:sp>
      <p:sp>
        <p:nvSpPr>
          <p:cNvPr id="26651" name="Text Box 124">
            <a:extLst>
              <a:ext uri="{FF2B5EF4-FFF2-40B4-BE49-F238E27FC236}">
                <a16:creationId xmlns:a16="http://schemas.microsoft.com/office/drawing/2014/main" id="{A115301C-F741-D941-9698-96B5A2E25E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86613" y="3716338"/>
            <a:ext cx="5715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Clk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2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2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022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02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02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02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02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2199" grpId="0"/>
      <p:bldP spid="302200" grpId="0" build="allAtOnce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1CFC20EF-2EA2-F94B-BE56-98CA213174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早期累加器型指令系统数据通路</a:t>
            </a:r>
          </a:p>
        </p:txBody>
      </p:sp>
      <p:sp>
        <p:nvSpPr>
          <p:cNvPr id="399363" name="Rectangle 3">
            <a:extLst>
              <a:ext uri="{FF2B5EF4-FFF2-40B4-BE49-F238E27FC236}">
                <a16:creationId xmlns:a16="http://schemas.microsoft.com/office/drawing/2014/main" id="{6A23B229-0086-5C46-9600-FA74E6839E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2250" y="895350"/>
            <a:ext cx="3286125" cy="5468938"/>
          </a:xfrm>
        </p:spPr>
        <p:txBody>
          <a:bodyPr/>
          <a:lstStyle/>
          <a:p>
            <a:pPr>
              <a:spcBef>
                <a:spcPct val="20000"/>
              </a:spcBef>
            </a:pPr>
            <a:r>
              <a:rPr lang="zh-CN" altLang="en-US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最简单的数据通路结构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>
              <a:spcBef>
                <a:spcPct val="20000"/>
              </a:spcBef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取指令数据路径为：</a:t>
            </a:r>
          </a:p>
          <a:p>
            <a:pPr>
              <a:spcBef>
                <a:spcPct val="20000"/>
              </a:spcBef>
              <a:buFontTx/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en-US" altLang="zh-CN" sz="20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PC→MAR,</a:t>
            </a:r>
          </a:p>
          <a:p>
            <a:pPr>
              <a:spcBef>
                <a:spcPct val="20000"/>
              </a:spcBef>
              <a:buFontTx/>
              <a:buNone/>
            </a:pPr>
            <a:r>
              <a:rPr lang="en-US" altLang="zh-CN" sz="20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Read M,</a:t>
            </a:r>
          </a:p>
          <a:p>
            <a:pPr>
              <a:spcBef>
                <a:spcPct val="20000"/>
              </a:spcBef>
              <a:buFontTx/>
              <a:buNone/>
            </a:pPr>
            <a:r>
              <a:rPr lang="en-US" altLang="zh-CN" sz="20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M→MBR→IBR→IR</a:t>
            </a:r>
            <a:endParaRPr lang="zh-CN" altLang="en-US" sz="20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20000"/>
              </a:spcBef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取操作数、运算、送结果的数据路径为：</a:t>
            </a:r>
          </a:p>
          <a:p>
            <a:pPr>
              <a:spcBef>
                <a:spcPct val="20000"/>
              </a:spcBef>
              <a:buFontTx/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20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操作数地址→</a:t>
            </a:r>
            <a:r>
              <a:rPr lang="en-US" altLang="zh-CN" sz="20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MAR, </a:t>
            </a:r>
          </a:p>
          <a:p>
            <a:pPr>
              <a:spcBef>
                <a:spcPct val="20000"/>
              </a:spcBef>
              <a:buFontTx/>
              <a:buNone/>
            </a:pPr>
            <a:r>
              <a:rPr lang="en-US" altLang="zh-CN" sz="20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Read M, </a:t>
            </a:r>
          </a:p>
          <a:p>
            <a:pPr>
              <a:spcBef>
                <a:spcPct val="20000"/>
              </a:spcBef>
              <a:buFontTx/>
              <a:buNone/>
            </a:pPr>
            <a:r>
              <a:rPr lang="en-US" altLang="zh-CN" sz="20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M→MBR→ALU</a:t>
            </a:r>
            <a:r>
              <a:rPr lang="zh-CN" altLang="en-US" sz="20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输入端</a:t>
            </a:r>
            <a:r>
              <a:rPr lang="en-US" altLang="zh-CN" sz="20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</a:p>
          <a:p>
            <a:pPr>
              <a:spcBef>
                <a:spcPct val="20000"/>
              </a:spcBef>
              <a:buFontTx/>
              <a:buNone/>
            </a:pPr>
            <a:r>
              <a:rPr lang="en-US" altLang="zh-CN" sz="20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AC→ALU</a:t>
            </a:r>
            <a:r>
              <a:rPr lang="zh-CN" altLang="en-US" sz="20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输入端</a:t>
            </a:r>
            <a:r>
              <a:rPr lang="en-US" altLang="zh-CN" sz="20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</a:p>
          <a:p>
            <a:pPr>
              <a:spcBef>
                <a:spcPct val="20000"/>
              </a:spcBef>
              <a:buFontTx/>
              <a:buNone/>
            </a:pPr>
            <a:r>
              <a:rPr lang="en-US" altLang="zh-CN" sz="20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ALU</a:t>
            </a:r>
            <a:r>
              <a:rPr lang="zh-CN" altLang="en-US" sz="20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</a:t>
            </a:r>
            <a:r>
              <a:rPr lang="en-US" altLang="zh-CN" sz="20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</a:p>
          <a:p>
            <a:pPr>
              <a:spcBef>
                <a:spcPct val="20000"/>
              </a:spcBef>
              <a:buFontTx/>
              <a:buNone/>
            </a:pPr>
            <a:r>
              <a:rPr lang="en-US" altLang="zh-CN" sz="20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ALU</a:t>
            </a:r>
            <a:r>
              <a:rPr lang="zh-CN" altLang="en-US" sz="20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结果→</a:t>
            </a:r>
            <a:r>
              <a:rPr lang="en-US" altLang="zh-CN" sz="20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</a:t>
            </a:r>
            <a:r>
              <a:rPr lang="zh-CN" altLang="en-US" sz="20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</a:p>
          <a:p>
            <a:pPr>
              <a:spcBef>
                <a:spcPct val="20000"/>
              </a:spcBef>
              <a:buFontTx/>
              <a:buNone/>
            </a:pPr>
            <a:r>
              <a:rPr lang="en-US" altLang="zh-CN" sz="20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ALU</a:t>
            </a:r>
            <a:r>
              <a:rPr lang="zh-CN" altLang="en-US" sz="20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</a:t>
            </a:r>
            <a:r>
              <a:rPr lang="en-US" altLang="zh-CN" sz="20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</a:t>
            </a:r>
            <a:r>
              <a:rPr lang="en-US" altLang="zh-CN" sz="20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MBR,</a:t>
            </a:r>
          </a:p>
          <a:p>
            <a:pPr>
              <a:spcBef>
                <a:spcPct val="20000"/>
              </a:spcBef>
              <a:buFontTx/>
              <a:buNone/>
            </a:pPr>
            <a:r>
              <a:rPr lang="en-US" altLang="zh-CN" sz="20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Write M</a:t>
            </a:r>
            <a:endParaRPr lang="zh-CN" altLang="en-US" sz="20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8676" name="Picture 4">
            <a:extLst>
              <a:ext uri="{FF2B5EF4-FFF2-40B4-BE49-F238E27FC236}">
                <a16:creationId xmlns:a16="http://schemas.microsoft.com/office/drawing/2014/main" id="{6F83855D-426C-4845-B493-33E53DF562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7413" y="850900"/>
            <a:ext cx="5716587" cy="560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7" name="Text Box 6">
            <a:extLst>
              <a:ext uri="{FF2B5EF4-FFF2-40B4-BE49-F238E27FC236}">
                <a16:creationId xmlns:a16="http://schemas.microsoft.com/office/drawing/2014/main" id="{CD3E0994-2FFE-6943-8C35-3A216925CD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8625" y="6402388"/>
            <a:ext cx="3395663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IAS</a:t>
            </a:r>
            <a:r>
              <a:rPr lang="zh-CN" altLang="en-US" sz="1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</a:t>
            </a:r>
            <a:r>
              <a:rPr lang="zh-CN" altLang="en-US" sz="18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是现代计算机的原型</a:t>
            </a:r>
          </a:p>
        </p:txBody>
      </p:sp>
      <p:sp>
        <p:nvSpPr>
          <p:cNvPr id="399368" name="Text Box 8">
            <a:extLst>
              <a:ext uri="{FF2B5EF4-FFF2-40B4-BE49-F238E27FC236}">
                <a16:creationId xmlns:a16="http://schemas.microsoft.com/office/drawing/2014/main" id="{639C0566-4B72-F540-A52F-09AAD5785C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46863" y="76200"/>
            <a:ext cx="2293937" cy="13239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</a:t>
            </a:r>
            <a:r>
              <a:rPr lang="zh-CN" altLang="en-US" sz="20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：累加器</a:t>
            </a:r>
          </a:p>
          <a:p>
            <a:r>
              <a:rPr lang="en-US" altLang="zh-CN" sz="20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MQ</a:t>
            </a:r>
            <a:r>
              <a:rPr lang="zh-CN" altLang="en-US" sz="20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：乘商寄存器</a:t>
            </a:r>
          </a:p>
          <a:p>
            <a:r>
              <a:rPr lang="en-US" altLang="zh-CN" sz="20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  <a:r>
              <a:rPr lang="zh-CN" altLang="en-US" sz="20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IR</a:t>
            </a:r>
            <a:r>
              <a:rPr lang="zh-CN" altLang="en-US" sz="20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ALU</a:t>
            </a:r>
            <a:r>
              <a:rPr lang="zh-CN" altLang="en-US" sz="20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IBR</a:t>
            </a:r>
            <a:r>
              <a:rPr lang="zh-CN" altLang="en-US" sz="20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MBR</a:t>
            </a:r>
            <a:r>
              <a:rPr lang="zh-CN" altLang="en-US" sz="20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：？</a:t>
            </a:r>
          </a:p>
        </p:txBody>
      </p:sp>
      <p:sp>
        <p:nvSpPr>
          <p:cNvPr id="28679" name="Text Box 9">
            <a:extLst>
              <a:ext uri="{FF2B5EF4-FFF2-40B4-BE49-F238E27FC236}">
                <a16:creationId xmlns:a16="http://schemas.microsoft.com/office/drawing/2014/main" id="{5539BD09-0135-8441-A628-E6CA56BEBB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46863" y="5759450"/>
            <a:ext cx="2238375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2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分散连接方式！</a:t>
            </a:r>
          </a:p>
        </p:txBody>
      </p:sp>
      <p:sp>
        <p:nvSpPr>
          <p:cNvPr id="28680" name="矩形 1">
            <a:extLst>
              <a:ext uri="{FF2B5EF4-FFF2-40B4-BE49-F238E27FC236}">
                <a16:creationId xmlns:a16="http://schemas.microsoft.com/office/drawing/2014/main" id="{750BB1BE-90E7-5446-924B-6B1C3E0631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888" y="6380163"/>
            <a:ext cx="53705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the Institute for Advance Study at Princeton</a:t>
            </a:r>
            <a:endParaRPr lang="zh-CN" altLang="en-US" sz="180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99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99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99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99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99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993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993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9936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39936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39936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39936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399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6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30">
            <a:extLst>
              <a:ext uri="{FF2B5EF4-FFF2-40B4-BE49-F238E27FC236}">
                <a16:creationId xmlns:a16="http://schemas.microsoft.com/office/drawing/2014/main" id="{5B9AC74F-9EAB-944C-9A5D-B3BCED3EF7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3463" y="0"/>
            <a:ext cx="5570537" cy="431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699" name="Rectangle 2">
            <a:extLst>
              <a:ext uri="{FF2B5EF4-FFF2-40B4-BE49-F238E27FC236}">
                <a16:creationId xmlns:a16="http://schemas.microsoft.com/office/drawing/2014/main" id="{23831F27-9BDF-FC49-8977-CA96C9E0CD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单总线数据通路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398339" name="Rectangle 3">
            <a:extLst>
              <a:ext uri="{FF2B5EF4-FFF2-40B4-BE49-F238E27FC236}">
                <a16:creationId xmlns:a16="http://schemas.microsoft.com/office/drawing/2014/main" id="{9EA725D9-7934-D747-B878-7BF298A95E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-116046" y="703263"/>
            <a:ext cx="4010025" cy="4592637"/>
          </a:xfrm>
        </p:spPr>
        <p:txBody>
          <a:bodyPr/>
          <a:lstStyle/>
          <a:p>
            <a:pPr>
              <a:spcBef>
                <a:spcPct val="10000"/>
              </a:spcBef>
              <a:buFontTx/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四种基本操作的时序</a:t>
            </a:r>
          </a:p>
          <a:p>
            <a:pPr lvl="1">
              <a:spcBef>
                <a:spcPct val="10000"/>
              </a:spcBef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在寄存器之间传送数据 </a:t>
            </a:r>
          </a:p>
          <a:p>
            <a:pPr lvl="2">
              <a:spcBef>
                <a:spcPct val="10000"/>
              </a:spcBef>
              <a:buFontTx/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R0out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Yin </a:t>
            </a:r>
          </a:p>
          <a:p>
            <a:pPr lvl="1">
              <a:spcBef>
                <a:spcPct val="10000"/>
              </a:spcBef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完成算术、逻辑运算</a:t>
            </a:r>
          </a:p>
          <a:p>
            <a:pPr lvl="2">
              <a:spcBef>
                <a:spcPct val="10000"/>
              </a:spcBef>
              <a:buFontTx/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R1out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Yin</a:t>
            </a:r>
          </a:p>
          <a:p>
            <a:pPr lvl="2">
              <a:spcBef>
                <a:spcPct val="10000"/>
              </a:spcBef>
              <a:buFontTx/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R2out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Add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Zin</a:t>
            </a:r>
          </a:p>
          <a:p>
            <a:pPr lvl="2">
              <a:spcBef>
                <a:spcPct val="10000"/>
              </a:spcBef>
              <a:buFontTx/>
              <a:buNone/>
            </a:pP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Zout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R3in</a:t>
            </a:r>
          </a:p>
          <a:p>
            <a:pPr lvl="1">
              <a:spcBef>
                <a:spcPct val="10000"/>
              </a:spcBef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从主存取字 </a:t>
            </a:r>
          </a:p>
          <a:p>
            <a:pPr lvl="2">
              <a:spcBef>
                <a:spcPct val="10000"/>
              </a:spcBef>
              <a:buFontTx/>
              <a:buNone/>
            </a:pPr>
            <a:r>
              <a:rPr lang="pt-BR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R1out</a:t>
            </a:r>
            <a:r>
              <a:rPr lang="zh-CN" altLang="pt-BR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pt-BR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MARin</a:t>
            </a:r>
            <a:endParaRPr lang="pt-BR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spcBef>
                <a:spcPct val="10000"/>
              </a:spcBef>
              <a:buFontTx/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Read, </a:t>
            </a:r>
            <a:r>
              <a:rPr lang="en-US" altLang="zh-CN" dirty="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WMFC</a:t>
            </a:r>
            <a:r>
              <a:rPr lang="zh-CN" altLang="en-US" dirty="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等待</a:t>
            </a:r>
            <a:r>
              <a:rPr lang="en-US" altLang="zh-CN" dirty="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MFC)</a:t>
            </a:r>
            <a:endParaRPr lang="zh-CN" altLang="en-US" dirty="0">
              <a:solidFill>
                <a:srgbClr val="0066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spcBef>
                <a:spcPct val="10000"/>
              </a:spcBef>
              <a:buFontTx/>
              <a:buNone/>
            </a:pP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MDRout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R2in </a:t>
            </a:r>
          </a:p>
          <a:p>
            <a:pPr lvl="1">
              <a:spcBef>
                <a:spcPct val="10000"/>
              </a:spcBef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写字到主存</a:t>
            </a:r>
          </a:p>
          <a:p>
            <a:pPr lvl="2">
              <a:spcBef>
                <a:spcPct val="10000"/>
              </a:spcBef>
              <a:buFontTx/>
              <a:buNone/>
            </a:pPr>
            <a:r>
              <a:rPr lang="pt-BR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R1out</a:t>
            </a:r>
            <a:r>
              <a:rPr lang="zh-CN" altLang="pt-BR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pt-BR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MARin</a:t>
            </a:r>
            <a:endParaRPr lang="pt-BR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spcBef>
                <a:spcPct val="10000"/>
              </a:spcBef>
              <a:buFontTx/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R2out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MDRin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spcBef>
                <a:spcPct val="10000"/>
              </a:spcBef>
              <a:buFontTx/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Write,</a:t>
            </a:r>
            <a:r>
              <a:rPr lang="en-US" altLang="zh-CN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WMFC</a:t>
            </a:r>
            <a:endParaRPr lang="zh-CN" altLang="en-US" dirty="0">
              <a:solidFill>
                <a:srgbClr val="0066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9701" name="Picture 4">
            <a:extLst>
              <a:ext uri="{FF2B5EF4-FFF2-40B4-BE49-F238E27FC236}">
                <a16:creationId xmlns:a16="http://schemas.microsoft.com/office/drawing/2014/main" id="{EB6FC3A0-FED8-3640-826F-443B0FC7D3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3463" y="0"/>
            <a:ext cx="5570537" cy="431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02" name="Picture 6">
            <a:extLst>
              <a:ext uri="{FF2B5EF4-FFF2-40B4-BE49-F238E27FC236}">
                <a16:creationId xmlns:a16="http://schemas.microsoft.com/office/drawing/2014/main" id="{B2769F8E-0D84-D64A-8AB9-AEB8D7AB2A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7088" y="4408488"/>
            <a:ext cx="4506912" cy="2449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3" name="Text Box 7">
            <a:extLst>
              <a:ext uri="{FF2B5EF4-FFF2-40B4-BE49-F238E27FC236}">
                <a16:creationId xmlns:a16="http://schemas.microsoft.com/office/drawing/2014/main" id="{AE35822D-CB90-E648-AA56-7B3C662FF2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8050" y="1381125"/>
            <a:ext cx="10572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9704" name="Rectangle 8">
            <a:extLst>
              <a:ext uri="{FF2B5EF4-FFF2-40B4-BE49-F238E27FC236}">
                <a16:creationId xmlns:a16="http://schemas.microsoft.com/office/drawing/2014/main" id="{98477ECD-3908-074C-BA1B-A8B9421B08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3250" y="2790825"/>
            <a:ext cx="2185988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R[R2]←M[R[R1]]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29705" name="Rectangle 9">
            <a:extLst>
              <a:ext uri="{FF2B5EF4-FFF2-40B4-BE49-F238E27FC236}">
                <a16:creationId xmlns:a16="http://schemas.microsoft.com/office/drawing/2014/main" id="{FA1E8257-0626-744A-AC0D-27EACA1857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6425" y="4013200"/>
            <a:ext cx="2324100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M[R[R1]] ← R[R2]</a:t>
            </a:r>
          </a:p>
        </p:txBody>
      </p:sp>
      <p:sp>
        <p:nvSpPr>
          <p:cNvPr id="398346" name="Text Box 10">
            <a:extLst>
              <a:ext uri="{FF2B5EF4-FFF2-40B4-BE49-F238E27FC236}">
                <a16:creationId xmlns:a16="http://schemas.microsoft.com/office/drawing/2014/main" id="{25CD1611-A983-3B4D-9769-24262C7E04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663" y="5257800"/>
            <a:ext cx="4241800" cy="158908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1800">
                <a:solidFill>
                  <a:srgbClr val="0099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1800">
                <a:solidFill>
                  <a:srgbClr val="0099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访存有两种通信方式</a:t>
            </a:r>
          </a:p>
          <a:p>
            <a:pPr>
              <a:spcBef>
                <a:spcPct val="20000"/>
              </a:spcBef>
            </a:pPr>
            <a:r>
              <a:rPr lang="zh-CN" altLang="en-US" sz="1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早期：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直接访问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MM,  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“异步”方式，用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MFC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应答信号；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20000"/>
              </a:spcBef>
            </a:pPr>
            <a:r>
              <a:rPr lang="zh-CN" altLang="en-US" sz="1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现在：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先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后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MM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，“同步”方式，无需应答信号。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8347" name="Text Box 11">
            <a:extLst>
              <a:ext uri="{FF2B5EF4-FFF2-40B4-BE49-F238E27FC236}">
                <a16:creationId xmlns:a16="http://schemas.microsoft.com/office/drawing/2014/main" id="{A2DE392C-35FC-4040-A014-CA40290FA0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62463" y="5454650"/>
            <a:ext cx="4579937" cy="12906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10000"/>
              </a:spcBef>
            </a:pPr>
            <a:r>
              <a:rPr lang="zh-CN" altLang="en-US" sz="19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问题：时钟周期的宽度如何确定？</a:t>
            </a:r>
          </a:p>
          <a:p>
            <a:pPr>
              <a:spcBef>
                <a:spcPct val="10000"/>
              </a:spcBef>
            </a:pPr>
            <a:r>
              <a:rPr lang="zh-CN" altLang="en-US" sz="19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以</a:t>
            </a:r>
            <a:r>
              <a:rPr lang="en-US" altLang="zh-CN" sz="19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“Riout,OP,Zin”</a:t>
            </a:r>
            <a:r>
              <a:rPr lang="zh-CN" altLang="en-US" sz="19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所花时间来确定还是以 “</a:t>
            </a:r>
            <a:r>
              <a:rPr lang="en-US" altLang="zh-CN" sz="19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Read/Write</a:t>
            </a:r>
            <a:r>
              <a:rPr lang="zh-CN" altLang="en-US" sz="19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”所花时间来确定？ 以上四种操作各需要几个时钟周期？</a:t>
            </a:r>
          </a:p>
        </p:txBody>
      </p:sp>
      <p:sp>
        <p:nvSpPr>
          <p:cNvPr id="398348" name="Text Box 12">
            <a:extLst>
              <a:ext uri="{FF2B5EF4-FFF2-40B4-BE49-F238E27FC236}">
                <a16:creationId xmlns:a16="http://schemas.microsoft.com/office/drawing/2014/main" id="{3A5A28C7-3004-0A48-B24B-A061196344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98875" y="981075"/>
            <a:ext cx="1047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1Cycle?</a:t>
            </a:r>
          </a:p>
        </p:txBody>
      </p:sp>
      <p:sp>
        <p:nvSpPr>
          <p:cNvPr id="398349" name="Text Box 13">
            <a:extLst>
              <a:ext uri="{FF2B5EF4-FFF2-40B4-BE49-F238E27FC236}">
                <a16:creationId xmlns:a16="http://schemas.microsoft.com/office/drawing/2014/main" id="{DD1809CE-A7C1-9E41-9E29-45E9FBED3E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3863" y="1636713"/>
            <a:ext cx="1201737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3Cycles?</a:t>
            </a:r>
          </a:p>
        </p:txBody>
      </p:sp>
      <p:sp>
        <p:nvSpPr>
          <p:cNvPr id="398351" name="Text Box 15">
            <a:extLst>
              <a:ext uri="{FF2B5EF4-FFF2-40B4-BE49-F238E27FC236}">
                <a16:creationId xmlns:a16="http://schemas.microsoft.com/office/drawing/2014/main" id="{A62B1BF6-00AF-7945-9A44-5BD58607D7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3133725"/>
            <a:ext cx="1270000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3Cycles?</a:t>
            </a:r>
          </a:p>
        </p:txBody>
      </p:sp>
      <p:sp>
        <p:nvSpPr>
          <p:cNvPr id="398352" name="Text Box 16">
            <a:extLst>
              <a:ext uri="{FF2B5EF4-FFF2-40B4-BE49-F238E27FC236}">
                <a16:creationId xmlns:a16="http://schemas.microsoft.com/office/drawing/2014/main" id="{3A285499-9FD6-4548-A9A4-6359D5E4C8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9588" y="4314825"/>
            <a:ext cx="1150937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3Cycles?</a:t>
            </a:r>
          </a:p>
        </p:txBody>
      </p:sp>
      <p:grpSp>
        <p:nvGrpSpPr>
          <p:cNvPr id="398355" name="Group 19">
            <a:extLst>
              <a:ext uri="{FF2B5EF4-FFF2-40B4-BE49-F238E27FC236}">
                <a16:creationId xmlns:a16="http://schemas.microsoft.com/office/drawing/2014/main" id="{8B027318-BA54-1A49-9E7A-3FB9B2136C75}"/>
              </a:ext>
            </a:extLst>
          </p:cNvPr>
          <p:cNvGrpSpPr>
            <a:grpSpLocks/>
          </p:cNvGrpSpPr>
          <p:nvPr/>
        </p:nvGrpSpPr>
        <p:grpSpPr bwMode="auto">
          <a:xfrm>
            <a:off x="2554288" y="3686175"/>
            <a:ext cx="990600" cy="1912938"/>
            <a:chOff x="1440" y="2187"/>
            <a:chExt cx="721" cy="939"/>
          </a:xfrm>
        </p:grpSpPr>
        <p:sp>
          <p:nvSpPr>
            <p:cNvPr id="29725" name="Line 17">
              <a:extLst>
                <a:ext uri="{FF2B5EF4-FFF2-40B4-BE49-F238E27FC236}">
                  <a16:creationId xmlns:a16="http://schemas.microsoft.com/office/drawing/2014/main" id="{9B536F79-0975-5E48-8C0B-E2D7C41097D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440" y="2886"/>
              <a:ext cx="556" cy="240"/>
            </a:xfrm>
            <a:prstGeom prst="line">
              <a:avLst/>
            </a:prstGeom>
            <a:noFill/>
            <a:ln w="50800">
              <a:solidFill>
                <a:srgbClr val="FE9AAB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26" name="Line 18">
              <a:extLst>
                <a:ext uri="{FF2B5EF4-FFF2-40B4-BE49-F238E27FC236}">
                  <a16:creationId xmlns:a16="http://schemas.microsoft.com/office/drawing/2014/main" id="{1CE07396-F730-D148-AF19-52835284359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864" y="2187"/>
              <a:ext cx="297" cy="939"/>
            </a:xfrm>
            <a:prstGeom prst="line">
              <a:avLst/>
            </a:prstGeom>
            <a:noFill/>
            <a:ln w="50800">
              <a:solidFill>
                <a:srgbClr val="FE9AAB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98356" name="Text Box 20">
            <a:extLst>
              <a:ext uri="{FF2B5EF4-FFF2-40B4-BE49-F238E27FC236}">
                <a16:creationId xmlns:a16="http://schemas.microsoft.com/office/drawing/2014/main" id="{95EB150D-F9E4-9F49-B161-1C626E2C17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59238" y="3554413"/>
            <a:ext cx="2201862" cy="646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8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Read/Write</a:t>
            </a:r>
            <a:r>
              <a:rPr lang="zh-CN" altLang="en-US" sz="18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时间更长，故以此为准！</a:t>
            </a:r>
          </a:p>
        </p:txBody>
      </p:sp>
      <p:sp>
        <p:nvSpPr>
          <p:cNvPr id="29714" name="Rectangle 21">
            <a:extLst>
              <a:ext uri="{FF2B5EF4-FFF2-40B4-BE49-F238E27FC236}">
                <a16:creationId xmlns:a16="http://schemas.microsoft.com/office/drawing/2014/main" id="{5C3813DC-B16D-954F-9F33-2358BF7428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0200" y="2362200"/>
            <a:ext cx="101600" cy="889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9715" name="Rectangle 22">
            <a:extLst>
              <a:ext uri="{FF2B5EF4-FFF2-40B4-BE49-F238E27FC236}">
                <a16:creationId xmlns:a16="http://schemas.microsoft.com/office/drawing/2014/main" id="{9D213D2B-EA43-0E44-8B89-F9F27D73E0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1788" y="2516188"/>
            <a:ext cx="101600" cy="889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98359" name="Text Box 23">
            <a:extLst>
              <a:ext uri="{FF2B5EF4-FFF2-40B4-BE49-F238E27FC236}">
                <a16:creationId xmlns:a16="http://schemas.microsoft.com/office/drawing/2014/main" id="{3DA92E09-12BC-E74B-83C3-D73696A6CE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0188" y="4900613"/>
            <a:ext cx="3398837" cy="36988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OP: </a:t>
            </a:r>
            <a:r>
              <a:rPr lang="en-US" altLang="zh-CN" sz="18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Add</a:t>
            </a:r>
            <a:r>
              <a:rPr lang="zh-CN" altLang="en-US" sz="18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8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Sub</a:t>
            </a:r>
            <a:r>
              <a:rPr lang="zh-CN" altLang="en-US" sz="18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8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And</a:t>
            </a:r>
            <a:r>
              <a:rPr lang="zh-CN" altLang="en-US" sz="18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8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Or </a:t>
            </a:r>
            <a:r>
              <a:rPr lang="zh-CN" altLang="en-US" sz="18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</a:t>
            </a:r>
          </a:p>
        </p:txBody>
      </p:sp>
      <p:sp>
        <p:nvSpPr>
          <p:cNvPr id="29717" name="Rectangle 24">
            <a:extLst>
              <a:ext uri="{FF2B5EF4-FFF2-40B4-BE49-F238E27FC236}">
                <a16:creationId xmlns:a16="http://schemas.microsoft.com/office/drawing/2014/main" id="{7435F2F4-B989-334C-B9DA-F0C52C8908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5000" y="1892300"/>
            <a:ext cx="977900" cy="406400"/>
          </a:xfrm>
          <a:prstGeom prst="rect">
            <a:avLst/>
          </a:prstGeom>
          <a:solidFill>
            <a:schemeClr val="accent1">
              <a:alpha val="12941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9718" name="Rectangle 25">
            <a:extLst>
              <a:ext uri="{FF2B5EF4-FFF2-40B4-BE49-F238E27FC236}">
                <a16:creationId xmlns:a16="http://schemas.microsoft.com/office/drawing/2014/main" id="{95B24A3A-3C5E-7D42-BE5E-4044A22F32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9288" y="3684588"/>
            <a:ext cx="977900" cy="406400"/>
          </a:xfrm>
          <a:prstGeom prst="rect">
            <a:avLst/>
          </a:prstGeom>
          <a:solidFill>
            <a:schemeClr val="accent1">
              <a:alpha val="12941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9719" name="AutoShape 26">
            <a:extLst>
              <a:ext uri="{FF2B5EF4-FFF2-40B4-BE49-F238E27FC236}">
                <a16:creationId xmlns:a16="http://schemas.microsoft.com/office/drawing/2014/main" id="{B1531D28-6C97-9747-ACDC-E185B424AEB7}"/>
              </a:ext>
            </a:extLst>
          </p:cNvPr>
          <p:cNvSpPr>
            <a:spLocks/>
          </p:cNvSpPr>
          <p:nvPr/>
        </p:nvSpPr>
        <p:spPr bwMode="auto">
          <a:xfrm>
            <a:off x="8064500" y="355600"/>
            <a:ext cx="177800" cy="1016000"/>
          </a:xfrm>
          <a:prstGeom prst="rightBrace">
            <a:avLst>
              <a:gd name="adj1" fmla="val 47619"/>
              <a:gd name="adj2" fmla="val 50000"/>
            </a:avLst>
          </a:prstGeom>
          <a:noFill/>
          <a:ln w="19050">
            <a:solidFill>
              <a:srgbClr val="00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9720" name="Text Box 27">
            <a:extLst>
              <a:ext uri="{FF2B5EF4-FFF2-40B4-BE49-F238E27FC236}">
                <a16:creationId xmlns:a16="http://schemas.microsoft.com/office/drawing/2014/main" id="{98C9ECFA-0C25-C44D-A221-F56A55CF1C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4838" y="234950"/>
            <a:ext cx="546100" cy="1314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通用寄存器</a:t>
            </a:r>
          </a:p>
        </p:txBody>
      </p:sp>
      <p:sp>
        <p:nvSpPr>
          <p:cNvPr id="29721" name="Text Box 28">
            <a:extLst>
              <a:ext uri="{FF2B5EF4-FFF2-40B4-BE49-F238E27FC236}">
                <a16:creationId xmlns:a16="http://schemas.microsoft.com/office/drawing/2014/main" id="{2D900405-98F9-3743-9DAA-DAEEBC52F8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30600" y="306388"/>
            <a:ext cx="1717675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总线连接方式</a:t>
            </a:r>
          </a:p>
        </p:txBody>
      </p:sp>
      <p:sp>
        <p:nvSpPr>
          <p:cNvPr id="29722" name="Text Box 29">
            <a:extLst>
              <a:ext uri="{FF2B5EF4-FFF2-40B4-BE49-F238E27FC236}">
                <a16:creationId xmlns:a16="http://schemas.microsoft.com/office/drawing/2014/main" id="{CCC8F98F-E8C7-CD4B-84C3-0785B433EE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6500" y="4313238"/>
            <a:ext cx="1063625" cy="3365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内总线</a:t>
            </a:r>
          </a:p>
        </p:txBody>
      </p:sp>
      <p:sp>
        <p:nvSpPr>
          <p:cNvPr id="398367" name="Text Box 31">
            <a:extLst>
              <a:ext uri="{FF2B5EF4-FFF2-40B4-BE49-F238E27FC236}">
                <a16:creationId xmlns:a16="http://schemas.microsoft.com/office/drawing/2014/main" id="{4DD8C9B0-2A77-564F-8DA4-F31F713DED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7925" y="4270375"/>
            <a:ext cx="1444733" cy="33855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chemeClr val="accent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内总线</a:t>
            </a:r>
            <a:r>
              <a:rPr lang="en-US" altLang="zh-CN" dirty="0">
                <a:solidFill>
                  <a:schemeClr val="accent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(CPU)</a:t>
            </a:r>
            <a:endParaRPr lang="zh-CN" altLang="en-US" dirty="0">
              <a:solidFill>
                <a:schemeClr val="accent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98370" name="Text Box 34">
            <a:extLst>
              <a:ext uri="{FF2B5EF4-FFF2-40B4-BE49-F238E27FC236}">
                <a16:creationId xmlns:a16="http://schemas.microsoft.com/office/drawing/2014/main" id="{5A4FCB09-4D74-1848-93FC-3335658B4D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30600" y="2266950"/>
            <a:ext cx="817563" cy="3365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>
                <a:solidFill>
                  <a:schemeClr val="accent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外总线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98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98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98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98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983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983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3983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3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39833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3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9833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3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39833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398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398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398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398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398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398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398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398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398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8346" grpId="0" animBg="1"/>
      <p:bldP spid="398347" grpId="0" animBg="1"/>
      <p:bldP spid="398348" grpId="0"/>
      <p:bldP spid="398349" grpId="0"/>
      <p:bldP spid="398351" grpId="0"/>
      <p:bldP spid="398352" grpId="0"/>
      <p:bldP spid="398356" grpId="0"/>
      <p:bldP spid="39835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ECEA8CA5-0E67-E241-8EAC-0F8E35912E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三总线数据通路</a:t>
            </a:r>
          </a:p>
        </p:txBody>
      </p:sp>
      <p:sp>
        <p:nvSpPr>
          <p:cNvPr id="397315" name="Rectangle 3">
            <a:extLst>
              <a:ext uri="{FF2B5EF4-FFF2-40B4-BE49-F238E27FC236}">
                <a16:creationId xmlns:a16="http://schemas.microsoft.com/office/drawing/2014/main" id="{2C44BFBE-6C11-B54C-9C96-162D1219D3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03200" y="679450"/>
            <a:ext cx="5027613" cy="4691063"/>
          </a:xfrm>
        </p:spPr>
        <p:txBody>
          <a:bodyPr/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单总线中一个时钟内只允许传一个数据，因而指令执行效率很低</a:t>
            </a:r>
          </a:p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可采用多总线方式，同时在多个总线上传送不同数据，提高效率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例如：三总线数据通路</a:t>
            </a:r>
          </a:p>
          <a:p>
            <a:pPr lvl="1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总线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分别传送两个源操作数，总线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传送结果</a:t>
            </a:r>
          </a:p>
          <a:p>
            <a:pPr lvl="1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单总线中的暂存器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Z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在此可取消，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Why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采用双口通用寄存器组</a:t>
            </a:r>
          </a:p>
          <a:p>
            <a:pPr lvl="1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如何实现： 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R[R3] 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←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R[R1] op R[R2]</a:t>
            </a:r>
          </a:p>
          <a:p>
            <a:pPr lvl="2">
              <a:spcBef>
                <a:spcPct val="15000"/>
              </a:spcBef>
              <a:buFontTx/>
              <a:buNone/>
            </a:pPr>
            <a:r>
              <a:rPr lang="pt-BR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R1outA</a:t>
            </a:r>
            <a:r>
              <a:rPr lang="zh-CN" altLang="pt-BR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pt-BR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R2outB</a:t>
            </a:r>
            <a:r>
              <a:rPr lang="zh-CN" altLang="pt-BR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pt-BR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op</a:t>
            </a:r>
            <a:r>
              <a:rPr lang="zh-CN" altLang="pt-BR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pt-BR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R3inC</a:t>
            </a:r>
          </a:p>
          <a:p>
            <a:pPr lvl="2">
              <a:spcBef>
                <a:spcPct val="15000"/>
              </a:spcBef>
              <a:buFontTx/>
              <a:buNone/>
            </a:pPr>
            <a:r>
              <a:rPr lang="zh-CN" altLang="pt-BR">
                <a:latin typeface="微软雅黑" panose="020B0503020204020204" pitchFamily="34" charset="-122"/>
                <a:ea typeface="微软雅黑" panose="020B0503020204020204" pitchFamily="34" charset="-122"/>
              </a:rPr>
              <a:t>只要一个时钟周期（节拍）即可！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0724" name="Picture 4">
            <a:extLst>
              <a:ext uri="{FF2B5EF4-FFF2-40B4-BE49-F238E27FC236}">
                <a16:creationId xmlns:a16="http://schemas.microsoft.com/office/drawing/2014/main" id="{0CCC64F8-E9E6-0A49-8F02-8FA5394DAB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9100" y="242888"/>
            <a:ext cx="3644900" cy="5967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7317" name="Rectangle 5">
            <a:extLst>
              <a:ext uri="{FF2B5EF4-FFF2-40B4-BE49-F238E27FC236}">
                <a16:creationId xmlns:a16="http://schemas.microsoft.com/office/drawing/2014/main" id="{0C33B7D6-1D73-8542-AE2A-34BB3B53DF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75" y="5546725"/>
            <a:ext cx="5573713" cy="892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目前大都采用流水线方式执行指令，单总线或三总线的总线式数据通路很难实现指令流水执行。</a:t>
            </a:r>
          </a:p>
          <a:p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en-US">
              <a:solidFill>
                <a:schemeClr val="accent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97318" name="Text Box 6">
            <a:extLst>
              <a:ext uri="{FF2B5EF4-FFF2-40B4-BE49-F238E27FC236}">
                <a16:creationId xmlns:a16="http://schemas.microsoft.com/office/drawing/2014/main" id="{9263EB3A-4111-804A-AF50-CFA8779BAE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78800" y="3638550"/>
            <a:ext cx="333375" cy="385763"/>
          </a:xfrm>
          <a:prstGeom prst="rect">
            <a:avLst/>
          </a:prstGeom>
          <a:solidFill>
            <a:srgbClr val="FF0000"/>
          </a:solidFill>
          <a:ln w="19050">
            <a:solidFill>
              <a:srgbClr val="00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8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Z</a:t>
            </a:r>
          </a:p>
        </p:txBody>
      </p:sp>
      <p:sp>
        <p:nvSpPr>
          <p:cNvPr id="397319" name="Text Box 7">
            <a:extLst>
              <a:ext uri="{FF2B5EF4-FFF2-40B4-BE49-F238E27FC236}">
                <a16:creationId xmlns:a16="http://schemas.microsoft.com/office/drawing/2014/main" id="{62647C9E-7ECF-9847-8D21-A2DD13CCE0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6713" y="3246438"/>
            <a:ext cx="333375" cy="385762"/>
          </a:xfrm>
          <a:prstGeom prst="rect">
            <a:avLst/>
          </a:prstGeom>
          <a:solidFill>
            <a:schemeClr val="accent1"/>
          </a:solidFill>
          <a:ln w="19050">
            <a:solidFill>
              <a:srgbClr val="00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8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Y</a:t>
            </a:r>
          </a:p>
        </p:txBody>
      </p:sp>
      <p:sp>
        <p:nvSpPr>
          <p:cNvPr id="397321" name="Text Box 9">
            <a:extLst>
              <a:ext uri="{FF2B5EF4-FFF2-40B4-BE49-F238E27FC236}">
                <a16:creationId xmlns:a16="http://schemas.microsoft.com/office/drawing/2014/main" id="{7B86BCA8-2D74-A94A-B96C-FF0E0FE4FD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3550" y="6302375"/>
            <a:ext cx="6915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以下以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MIPS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指令系统为例介绍非总线式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的设计。</a:t>
            </a:r>
          </a:p>
        </p:txBody>
      </p:sp>
      <p:sp>
        <p:nvSpPr>
          <p:cNvPr id="397322" name="Text Box 10">
            <a:extLst>
              <a:ext uri="{FF2B5EF4-FFF2-40B4-BE49-F238E27FC236}">
                <a16:creationId xmlns:a16="http://schemas.microsoft.com/office/drawing/2014/main" id="{7AE26281-FE11-504E-B94B-170F76F47E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4075" y="3317875"/>
            <a:ext cx="33750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三个总线各自传不同的数据，不会发生冲突，故无需</a:t>
            </a:r>
            <a:r>
              <a:rPr lang="en-US" altLang="zh-CN"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</a:t>
            </a:r>
          </a:p>
        </p:txBody>
      </p:sp>
      <p:sp>
        <p:nvSpPr>
          <p:cNvPr id="30730" name="Text Box 11">
            <a:extLst>
              <a:ext uri="{FF2B5EF4-FFF2-40B4-BE49-F238E27FC236}">
                <a16:creationId xmlns:a16="http://schemas.microsoft.com/office/drawing/2014/main" id="{A2ADB246-E38B-4549-A51E-26454670EE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48500" y="2133600"/>
            <a:ext cx="1168400" cy="3206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5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通用寄存器组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97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97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973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1" dur="500"/>
                                        <p:tgtEl>
                                          <p:spTgt spid="3973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7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3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4" dur="500"/>
                                        <p:tgtEl>
                                          <p:spTgt spid="3973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7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97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97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3973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3973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397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397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7317" grpId="0"/>
      <p:bldP spid="397318" grpId="0" animBg="1"/>
      <p:bldP spid="397319" grpId="0" animBg="1"/>
      <p:bldP spid="39732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DE034555-E808-0746-B346-DBFB8E2745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54050" y="71438"/>
            <a:ext cx="5518150" cy="3683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MIPS</a:t>
            </a:r>
            <a:r>
              <a:rPr lang="zh-CN" altLang="en-US">
                <a:ea typeface="宋体" panose="02010600030101010101" pitchFamily="2" charset="-122"/>
              </a:rPr>
              <a:t>指令格式</a:t>
            </a:r>
          </a:p>
        </p:txBody>
      </p:sp>
      <p:sp>
        <p:nvSpPr>
          <p:cNvPr id="266245" name="Rectangle 5">
            <a:extLst>
              <a:ext uri="{FF2B5EF4-FFF2-40B4-BE49-F238E27FC236}">
                <a16:creationId xmlns:a16="http://schemas.microsoft.com/office/drawing/2014/main" id="{E6DE5661-1E6A-3E48-ADCC-0931BECDA6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938" y="1068388"/>
            <a:ext cx="8483600" cy="4630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marL="342900" indent="-3429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Char char="u"/>
            </a:pPr>
            <a:endParaRPr lang="zh-CN" altLang="en-US" sz="200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Char char="u"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有三种指令格式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90000"/>
              </a:lnSpc>
              <a:spcBef>
                <a:spcPct val="30000"/>
              </a:spcBef>
              <a:buSzPct val="100000"/>
              <a:buFontTx/>
              <a:buChar char="–"/>
            </a:pPr>
            <a:r>
              <a:rPr lang="en-US" altLang="zh-CN" sz="18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R-Type</a:t>
            </a:r>
          </a:p>
          <a:p>
            <a:pPr lvl="2">
              <a:lnSpc>
                <a:spcPct val="90000"/>
              </a:lnSpc>
              <a:spcBef>
                <a:spcPct val="30000"/>
              </a:spcBef>
              <a:buSzPct val="100000"/>
            </a:pPr>
            <a:r>
              <a:rPr lang="zh-CN" altLang="en-US" sz="20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两个操作数和结果都在寄存器的运算指令。如：</a:t>
            </a:r>
            <a:r>
              <a:rPr lang="en-US" altLang="zh-CN" sz="20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sub rd, rs, rt</a:t>
            </a:r>
          </a:p>
          <a:p>
            <a:pPr lvl="2">
              <a:lnSpc>
                <a:spcPct val="90000"/>
              </a:lnSpc>
              <a:spcBef>
                <a:spcPct val="30000"/>
              </a:spcBef>
              <a:buSzPct val="100000"/>
            </a:pPr>
            <a:endParaRPr lang="en-US" altLang="zh-CN" sz="90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90000"/>
              </a:lnSpc>
              <a:spcBef>
                <a:spcPct val="30000"/>
              </a:spcBef>
              <a:buSzPct val="100000"/>
              <a:buFontTx/>
              <a:buChar char="–"/>
            </a:pPr>
            <a:r>
              <a:rPr lang="en-US" altLang="zh-CN" sz="18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I-Type</a:t>
            </a:r>
          </a:p>
          <a:p>
            <a:pPr lvl="2">
              <a:lnSpc>
                <a:spcPct val="90000"/>
              </a:lnSpc>
              <a:spcBef>
                <a:spcPct val="30000"/>
              </a:spcBef>
              <a:buSzPct val="100000"/>
              <a:buFontTx/>
              <a:buChar char="•"/>
            </a:pPr>
            <a:r>
              <a:rPr lang="zh-CN" altLang="en-US" sz="20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运算指令：一个寄存器、一个立即数。如：</a:t>
            </a:r>
            <a:r>
              <a:rPr lang="en-US" altLang="zh-CN" sz="20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ori  rt, rs, imm16</a:t>
            </a:r>
          </a:p>
          <a:p>
            <a:pPr lvl="2">
              <a:lnSpc>
                <a:spcPct val="90000"/>
              </a:lnSpc>
              <a:spcBef>
                <a:spcPct val="30000"/>
              </a:spcBef>
              <a:buSzPct val="100000"/>
              <a:buFontTx/>
              <a:buChar char="•"/>
            </a:pPr>
            <a:r>
              <a:rPr lang="en-US" altLang="zh-CN" sz="20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LOAD</a:t>
            </a:r>
            <a:r>
              <a:rPr lang="zh-CN" altLang="en-US" sz="20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STORE</a:t>
            </a:r>
            <a:r>
              <a:rPr lang="zh-CN" altLang="en-US" sz="20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指令。如：</a:t>
            </a:r>
            <a:r>
              <a:rPr lang="en-US" altLang="zh-CN" sz="20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lw rt, rs, imm16</a:t>
            </a:r>
          </a:p>
          <a:p>
            <a:pPr lvl="2">
              <a:lnSpc>
                <a:spcPct val="90000"/>
              </a:lnSpc>
              <a:spcBef>
                <a:spcPct val="30000"/>
              </a:spcBef>
              <a:buSzPct val="100000"/>
              <a:buFontTx/>
              <a:buChar char="•"/>
            </a:pPr>
            <a:r>
              <a:rPr lang="zh-CN" altLang="en-US" sz="20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条件分支指令。如：</a:t>
            </a:r>
            <a:r>
              <a:rPr lang="en-US" altLang="zh-CN" sz="20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beq rs, rt, imm16</a:t>
            </a:r>
          </a:p>
          <a:p>
            <a:pPr lvl="2">
              <a:lnSpc>
                <a:spcPct val="90000"/>
              </a:lnSpc>
              <a:spcBef>
                <a:spcPct val="30000"/>
              </a:spcBef>
              <a:buSzPct val="100000"/>
            </a:pPr>
            <a:endParaRPr lang="en-US" altLang="zh-CN" sz="1800">
              <a:solidFill>
                <a:srgbClr val="A5002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90000"/>
              </a:lnSpc>
              <a:spcBef>
                <a:spcPct val="30000"/>
              </a:spcBef>
              <a:buSzPct val="100000"/>
            </a:pPr>
            <a:endParaRPr lang="en-US" altLang="zh-CN" sz="1800">
              <a:solidFill>
                <a:srgbClr val="A5002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90000"/>
              </a:lnSpc>
              <a:spcBef>
                <a:spcPct val="30000"/>
              </a:spcBef>
              <a:buSzPct val="100000"/>
              <a:buFontTx/>
              <a:buChar char="–"/>
            </a:pPr>
            <a:endParaRPr lang="en-US" altLang="zh-CN" sz="180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90000"/>
              </a:lnSpc>
              <a:spcBef>
                <a:spcPct val="30000"/>
              </a:spcBef>
              <a:buSzPct val="100000"/>
              <a:buFontTx/>
              <a:buChar char="–"/>
            </a:pPr>
            <a:r>
              <a:rPr lang="en-US" altLang="zh-CN" sz="18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J-Type</a:t>
            </a:r>
          </a:p>
          <a:p>
            <a:pPr lvl="2">
              <a:lnSpc>
                <a:spcPct val="90000"/>
              </a:lnSpc>
              <a:spcBef>
                <a:spcPct val="30000"/>
              </a:spcBef>
              <a:buSzPct val="100000"/>
            </a:pPr>
            <a:r>
              <a:rPr lang="zh-CN" altLang="en-US" sz="18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无条件跳转指令。如：</a:t>
            </a:r>
            <a:r>
              <a:rPr lang="en-US" altLang="zh-CN" sz="18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  target</a:t>
            </a:r>
          </a:p>
        </p:txBody>
      </p:sp>
      <p:grpSp>
        <p:nvGrpSpPr>
          <p:cNvPr id="2" name="Group 80">
            <a:extLst>
              <a:ext uri="{FF2B5EF4-FFF2-40B4-BE49-F238E27FC236}">
                <a16:creationId xmlns:a16="http://schemas.microsoft.com/office/drawing/2014/main" id="{6FD7EF2A-2532-8141-B5B8-B357926C437E}"/>
              </a:ext>
            </a:extLst>
          </p:cNvPr>
          <p:cNvGrpSpPr>
            <a:grpSpLocks/>
          </p:cNvGrpSpPr>
          <p:nvPr/>
        </p:nvGrpSpPr>
        <p:grpSpPr bwMode="auto">
          <a:xfrm>
            <a:off x="2854325" y="727075"/>
            <a:ext cx="5962650" cy="1370013"/>
            <a:chOff x="1931" y="458"/>
            <a:chExt cx="3756" cy="863"/>
          </a:xfrm>
        </p:grpSpPr>
        <p:grpSp>
          <p:nvGrpSpPr>
            <p:cNvPr id="35884" name="Group 18">
              <a:extLst>
                <a:ext uri="{FF2B5EF4-FFF2-40B4-BE49-F238E27FC236}">
                  <a16:creationId xmlns:a16="http://schemas.microsoft.com/office/drawing/2014/main" id="{3E911E50-C06B-5441-B800-299F4B6D3DF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31" y="708"/>
              <a:ext cx="3756" cy="613"/>
              <a:chOff x="1918" y="672"/>
              <a:chExt cx="3756" cy="613"/>
            </a:xfrm>
          </p:grpSpPr>
          <p:grpSp>
            <p:nvGrpSpPr>
              <p:cNvPr id="35886" name="Group 19">
                <a:extLst>
                  <a:ext uri="{FF2B5EF4-FFF2-40B4-BE49-F238E27FC236}">
                    <a16:creationId xmlns:a16="http://schemas.microsoft.com/office/drawing/2014/main" id="{CFA331E4-9A64-084E-B8A0-D46ADEBC3D8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18" y="672"/>
                <a:ext cx="3756" cy="402"/>
                <a:chOff x="1918" y="672"/>
                <a:chExt cx="3756" cy="402"/>
              </a:xfrm>
            </p:grpSpPr>
            <p:grpSp>
              <p:nvGrpSpPr>
                <p:cNvPr id="35893" name="Group 20">
                  <a:extLst>
                    <a:ext uri="{FF2B5EF4-FFF2-40B4-BE49-F238E27FC236}">
                      <a16:creationId xmlns:a16="http://schemas.microsoft.com/office/drawing/2014/main" id="{880E77CE-20EB-994F-A014-3D36263193B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979" y="836"/>
                  <a:ext cx="3607" cy="238"/>
                  <a:chOff x="1979" y="836"/>
                  <a:chExt cx="3607" cy="238"/>
                </a:xfrm>
              </p:grpSpPr>
              <p:sp>
                <p:nvSpPr>
                  <p:cNvPr id="35901" name="Rectangle 21">
                    <a:extLst>
                      <a:ext uri="{FF2B5EF4-FFF2-40B4-BE49-F238E27FC236}">
                        <a16:creationId xmlns:a16="http://schemas.microsoft.com/office/drawing/2014/main" id="{34D2D865-7C05-1645-9ADE-E317FC3A06E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983" y="872"/>
                    <a:ext cx="3599" cy="176"/>
                  </a:xfrm>
                  <a:prstGeom prst="rect">
                    <a:avLst/>
                  </a:prstGeom>
                  <a:noFill/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endParaRPr lang="zh-CN" altLang="en-US" sz="800">
                      <a:solidFill>
                        <a:schemeClr val="accent2"/>
                      </a:solidFill>
                      <a:ea typeface="宋体" panose="02010600030101010101" pitchFamily="2" charset="-122"/>
                    </a:endParaRPr>
                  </a:p>
                </p:txBody>
              </p:sp>
              <p:grpSp>
                <p:nvGrpSpPr>
                  <p:cNvPr id="35902" name="Group 22">
                    <a:extLst>
                      <a:ext uri="{FF2B5EF4-FFF2-40B4-BE49-F238E27FC236}">
                        <a16:creationId xmlns:a16="http://schemas.microsoft.com/office/drawing/2014/main" id="{972C73F2-9A5F-9742-BF3E-E27F51B8B09F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979" y="836"/>
                    <a:ext cx="3607" cy="238"/>
                    <a:chOff x="1979" y="836"/>
                    <a:chExt cx="3607" cy="238"/>
                  </a:xfrm>
                </p:grpSpPr>
                <p:grpSp>
                  <p:nvGrpSpPr>
                    <p:cNvPr id="35903" name="Group 23">
                      <a:extLst>
                        <a:ext uri="{FF2B5EF4-FFF2-40B4-BE49-F238E27FC236}">
                          <a16:creationId xmlns:a16="http://schemas.microsoft.com/office/drawing/2014/main" id="{F22B8866-9E08-2148-8151-3ACD3D26C313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979" y="836"/>
                      <a:ext cx="624" cy="229"/>
                      <a:chOff x="1979" y="836"/>
                      <a:chExt cx="624" cy="229"/>
                    </a:xfrm>
                  </p:grpSpPr>
                  <p:sp>
                    <p:nvSpPr>
                      <p:cNvPr id="35919" name="Rectangle 24">
                        <a:extLst>
                          <a:ext uri="{FF2B5EF4-FFF2-40B4-BE49-F238E27FC236}">
                            <a16:creationId xmlns:a16="http://schemas.microsoft.com/office/drawing/2014/main" id="{3FCE18D9-2E5A-014E-B252-A56328AD01D1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979" y="868"/>
                        <a:ext cx="624" cy="184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1pPr>
                        <a:lvl2pPr marL="742950" indent="-285750"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2pPr>
                        <a:lvl3pPr marL="1143000" indent="-228600"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3pPr>
                        <a:lvl4pPr marL="1600200" indent="-228600"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4pPr>
                        <a:lvl5pPr marL="2057400" indent="-228600"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9pPr>
                      </a:lstStyle>
                      <a:p>
                        <a:endParaRPr lang="zh-CN" altLang="en-US" sz="800">
                          <a:solidFill>
                            <a:schemeClr val="accent2"/>
                          </a:solidFill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35920" name="Rectangle 25">
                        <a:extLst>
                          <a:ext uri="{FF2B5EF4-FFF2-40B4-BE49-F238E27FC236}">
                            <a16:creationId xmlns:a16="http://schemas.microsoft.com/office/drawing/2014/main" id="{EA5E786D-24D8-334D-9D98-AE3E07712C47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161" y="836"/>
                        <a:ext cx="266" cy="2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lIns="90488" tIns="44450" rIns="90488" bIns="44450">
                        <a:spAutoFit/>
                      </a:bodyPr>
                      <a:lstStyle>
                        <a:lvl1pPr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1pPr>
                        <a:lvl2pPr marL="742950" indent="-285750"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2pPr>
                        <a:lvl3pPr marL="1143000" indent="-228600"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3pPr>
                        <a:lvl4pPr marL="1600200" indent="-228600"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4pPr>
                        <a:lvl5pPr marL="2057400" indent="-228600"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9pPr>
                      </a:lstStyle>
                      <a:p>
                        <a:r>
                          <a:rPr lang="en-US" altLang="zh-CN" sz="1800">
                            <a:latin typeface="Times New Roman" panose="02020603050405020304" pitchFamily="18" charset="0"/>
                            <a:ea typeface="宋体" panose="02010600030101010101" pitchFamily="2" charset="-122"/>
                          </a:rPr>
                          <a:t>op</a:t>
                        </a:r>
                      </a:p>
                    </p:txBody>
                  </p:sp>
                </p:grpSp>
                <p:grpSp>
                  <p:nvGrpSpPr>
                    <p:cNvPr id="35904" name="Group 26">
                      <a:extLst>
                        <a:ext uri="{FF2B5EF4-FFF2-40B4-BE49-F238E27FC236}">
                          <a16:creationId xmlns:a16="http://schemas.microsoft.com/office/drawing/2014/main" id="{F13DF5DD-CAC8-444D-AFDF-741E74E444A6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611" y="836"/>
                      <a:ext cx="580" cy="229"/>
                      <a:chOff x="2611" y="836"/>
                      <a:chExt cx="580" cy="229"/>
                    </a:xfrm>
                  </p:grpSpPr>
                  <p:sp>
                    <p:nvSpPr>
                      <p:cNvPr id="35917" name="Rectangle 27">
                        <a:extLst>
                          <a:ext uri="{FF2B5EF4-FFF2-40B4-BE49-F238E27FC236}">
                            <a16:creationId xmlns:a16="http://schemas.microsoft.com/office/drawing/2014/main" id="{84FB7016-E053-5046-8350-4572DD899764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611" y="868"/>
                        <a:ext cx="580" cy="184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1pPr>
                        <a:lvl2pPr marL="742950" indent="-285750"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2pPr>
                        <a:lvl3pPr marL="1143000" indent="-228600"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3pPr>
                        <a:lvl4pPr marL="1600200" indent="-228600"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4pPr>
                        <a:lvl5pPr marL="2057400" indent="-228600"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9pPr>
                      </a:lstStyle>
                      <a:p>
                        <a:endParaRPr lang="zh-CN" altLang="en-US" sz="800">
                          <a:solidFill>
                            <a:schemeClr val="accent2"/>
                          </a:solidFill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35918" name="Rectangle 28">
                        <a:extLst>
                          <a:ext uri="{FF2B5EF4-FFF2-40B4-BE49-F238E27FC236}">
                            <a16:creationId xmlns:a16="http://schemas.microsoft.com/office/drawing/2014/main" id="{40B24840-DF94-FC44-96AE-8F1FB82E9A13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776" y="836"/>
                        <a:ext cx="234" cy="2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lIns="90488" tIns="44450" rIns="90488" bIns="44450">
                        <a:spAutoFit/>
                      </a:bodyPr>
                      <a:lstStyle>
                        <a:lvl1pPr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1pPr>
                        <a:lvl2pPr marL="742950" indent="-285750"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2pPr>
                        <a:lvl3pPr marL="1143000" indent="-228600"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3pPr>
                        <a:lvl4pPr marL="1600200" indent="-228600"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4pPr>
                        <a:lvl5pPr marL="2057400" indent="-228600"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9pPr>
                      </a:lstStyle>
                      <a:p>
                        <a:r>
                          <a:rPr lang="en-US" altLang="zh-CN" sz="1800">
                            <a:latin typeface="Times New Roman" panose="02020603050405020304" pitchFamily="18" charset="0"/>
                            <a:ea typeface="宋体" panose="02010600030101010101" pitchFamily="2" charset="-122"/>
                          </a:rPr>
                          <a:t>rs</a:t>
                        </a:r>
                      </a:p>
                    </p:txBody>
                  </p:sp>
                </p:grpSp>
                <p:grpSp>
                  <p:nvGrpSpPr>
                    <p:cNvPr id="35905" name="Group 29">
                      <a:extLst>
                        <a:ext uri="{FF2B5EF4-FFF2-40B4-BE49-F238E27FC236}">
                          <a16:creationId xmlns:a16="http://schemas.microsoft.com/office/drawing/2014/main" id="{98088235-DD8E-DE40-80FD-187D445AAE61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3199" y="836"/>
                      <a:ext cx="579" cy="229"/>
                      <a:chOff x="3199" y="836"/>
                      <a:chExt cx="579" cy="229"/>
                    </a:xfrm>
                  </p:grpSpPr>
                  <p:sp>
                    <p:nvSpPr>
                      <p:cNvPr id="35915" name="Rectangle 30">
                        <a:extLst>
                          <a:ext uri="{FF2B5EF4-FFF2-40B4-BE49-F238E27FC236}">
                            <a16:creationId xmlns:a16="http://schemas.microsoft.com/office/drawing/2014/main" id="{E2BE961E-3E00-A546-A5D8-8B0F64452791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199" y="868"/>
                        <a:ext cx="579" cy="184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1pPr>
                        <a:lvl2pPr marL="742950" indent="-285750"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2pPr>
                        <a:lvl3pPr marL="1143000" indent="-228600"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3pPr>
                        <a:lvl4pPr marL="1600200" indent="-228600"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4pPr>
                        <a:lvl5pPr marL="2057400" indent="-228600"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9pPr>
                      </a:lstStyle>
                      <a:p>
                        <a:endParaRPr lang="zh-CN" altLang="en-US" sz="800">
                          <a:solidFill>
                            <a:schemeClr val="accent2"/>
                          </a:solidFill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35916" name="Rectangle 31">
                        <a:extLst>
                          <a:ext uri="{FF2B5EF4-FFF2-40B4-BE49-F238E27FC236}">
                            <a16:creationId xmlns:a16="http://schemas.microsoft.com/office/drawing/2014/main" id="{05F06F32-8C08-4647-A7F9-C9B644F27016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363" y="836"/>
                        <a:ext cx="226" cy="2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lIns="90488" tIns="44450" rIns="90488" bIns="44450">
                        <a:spAutoFit/>
                      </a:bodyPr>
                      <a:lstStyle>
                        <a:lvl1pPr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1pPr>
                        <a:lvl2pPr marL="742950" indent="-285750"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2pPr>
                        <a:lvl3pPr marL="1143000" indent="-228600"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3pPr>
                        <a:lvl4pPr marL="1600200" indent="-228600"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4pPr>
                        <a:lvl5pPr marL="2057400" indent="-228600"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9pPr>
                      </a:lstStyle>
                      <a:p>
                        <a:r>
                          <a:rPr lang="en-US" altLang="zh-CN" sz="1800">
                            <a:latin typeface="Times New Roman" panose="02020603050405020304" pitchFamily="18" charset="0"/>
                            <a:ea typeface="宋体" panose="02010600030101010101" pitchFamily="2" charset="-122"/>
                          </a:rPr>
                          <a:t>rt</a:t>
                        </a:r>
                      </a:p>
                    </p:txBody>
                  </p:sp>
                </p:grpSp>
                <p:grpSp>
                  <p:nvGrpSpPr>
                    <p:cNvPr id="35906" name="Group 32">
                      <a:extLst>
                        <a:ext uri="{FF2B5EF4-FFF2-40B4-BE49-F238E27FC236}">
                          <a16:creationId xmlns:a16="http://schemas.microsoft.com/office/drawing/2014/main" id="{56C687C7-0572-CE4F-B491-53401F800FDC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3786" y="836"/>
                      <a:ext cx="579" cy="229"/>
                      <a:chOff x="3786" y="836"/>
                      <a:chExt cx="579" cy="229"/>
                    </a:xfrm>
                  </p:grpSpPr>
                  <p:sp>
                    <p:nvSpPr>
                      <p:cNvPr id="35913" name="Rectangle 33">
                        <a:extLst>
                          <a:ext uri="{FF2B5EF4-FFF2-40B4-BE49-F238E27FC236}">
                            <a16:creationId xmlns:a16="http://schemas.microsoft.com/office/drawing/2014/main" id="{F1867A13-6A59-6E4B-8261-8BED149AB27F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786" y="868"/>
                        <a:ext cx="579" cy="184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1pPr>
                        <a:lvl2pPr marL="742950" indent="-285750"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2pPr>
                        <a:lvl3pPr marL="1143000" indent="-228600"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3pPr>
                        <a:lvl4pPr marL="1600200" indent="-228600"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4pPr>
                        <a:lvl5pPr marL="2057400" indent="-228600"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9pPr>
                      </a:lstStyle>
                      <a:p>
                        <a:endParaRPr lang="zh-CN" altLang="en-US" sz="800">
                          <a:solidFill>
                            <a:schemeClr val="accent2"/>
                          </a:solidFill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35914" name="Rectangle 34">
                        <a:extLst>
                          <a:ext uri="{FF2B5EF4-FFF2-40B4-BE49-F238E27FC236}">
                            <a16:creationId xmlns:a16="http://schemas.microsoft.com/office/drawing/2014/main" id="{A3044D14-1DD5-EB4C-B29D-182C1991BAEF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951" y="836"/>
                        <a:ext cx="258" cy="2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lIns="90488" tIns="44450" rIns="90488" bIns="44450">
                        <a:spAutoFit/>
                      </a:bodyPr>
                      <a:lstStyle>
                        <a:lvl1pPr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1pPr>
                        <a:lvl2pPr marL="742950" indent="-285750"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2pPr>
                        <a:lvl3pPr marL="1143000" indent="-228600"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3pPr>
                        <a:lvl4pPr marL="1600200" indent="-228600"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4pPr>
                        <a:lvl5pPr marL="2057400" indent="-228600"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9pPr>
                      </a:lstStyle>
                      <a:p>
                        <a:r>
                          <a:rPr lang="en-US" altLang="zh-CN" sz="1800">
                            <a:latin typeface="Times New Roman" panose="02020603050405020304" pitchFamily="18" charset="0"/>
                            <a:ea typeface="宋体" panose="02010600030101010101" pitchFamily="2" charset="-122"/>
                          </a:rPr>
                          <a:t>rd</a:t>
                        </a:r>
                      </a:p>
                    </p:txBody>
                  </p:sp>
                </p:grpSp>
                <p:grpSp>
                  <p:nvGrpSpPr>
                    <p:cNvPr id="35907" name="Group 35">
                      <a:extLst>
                        <a:ext uri="{FF2B5EF4-FFF2-40B4-BE49-F238E27FC236}">
                          <a16:creationId xmlns:a16="http://schemas.microsoft.com/office/drawing/2014/main" id="{830CBCC8-EA8A-0745-9A38-C4E6F1AC8A88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373" y="845"/>
                      <a:ext cx="580" cy="229"/>
                      <a:chOff x="4373" y="845"/>
                      <a:chExt cx="580" cy="229"/>
                    </a:xfrm>
                  </p:grpSpPr>
                  <p:sp>
                    <p:nvSpPr>
                      <p:cNvPr id="35911" name="Rectangle 36">
                        <a:extLst>
                          <a:ext uri="{FF2B5EF4-FFF2-40B4-BE49-F238E27FC236}">
                            <a16:creationId xmlns:a16="http://schemas.microsoft.com/office/drawing/2014/main" id="{66529819-E4E8-2143-A210-DA6116B22A81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373" y="868"/>
                        <a:ext cx="580" cy="184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1pPr>
                        <a:lvl2pPr marL="742950" indent="-285750"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2pPr>
                        <a:lvl3pPr marL="1143000" indent="-228600"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3pPr>
                        <a:lvl4pPr marL="1600200" indent="-228600"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4pPr>
                        <a:lvl5pPr marL="2057400" indent="-228600"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9pPr>
                      </a:lstStyle>
                      <a:p>
                        <a:endParaRPr lang="zh-CN" altLang="en-US" sz="800">
                          <a:solidFill>
                            <a:schemeClr val="accent2"/>
                          </a:solidFill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35912" name="Rectangle 37">
                        <a:extLst>
                          <a:ext uri="{FF2B5EF4-FFF2-40B4-BE49-F238E27FC236}">
                            <a16:creationId xmlns:a16="http://schemas.microsoft.com/office/drawing/2014/main" id="{DC751DAD-7823-E340-A1F2-B7D3D40344B1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448" y="845"/>
                        <a:ext cx="490" cy="2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lIns="90488" tIns="44450" rIns="90488" bIns="44450">
                        <a:spAutoFit/>
                      </a:bodyPr>
                      <a:lstStyle>
                        <a:lvl1pPr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1pPr>
                        <a:lvl2pPr marL="742950" indent="-285750"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2pPr>
                        <a:lvl3pPr marL="1143000" indent="-228600"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3pPr>
                        <a:lvl4pPr marL="1600200" indent="-228600"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4pPr>
                        <a:lvl5pPr marL="2057400" indent="-228600"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9pPr>
                      </a:lstStyle>
                      <a:p>
                        <a:r>
                          <a:rPr lang="en-US" altLang="zh-CN" sz="1800">
                            <a:latin typeface="Times New Roman" panose="02020603050405020304" pitchFamily="18" charset="0"/>
                            <a:ea typeface="宋体" panose="02010600030101010101" pitchFamily="2" charset="-122"/>
                          </a:rPr>
                          <a:t>shamt</a:t>
                        </a:r>
                      </a:p>
                    </p:txBody>
                  </p:sp>
                </p:grpSp>
                <p:grpSp>
                  <p:nvGrpSpPr>
                    <p:cNvPr id="35908" name="Group 38">
                      <a:extLst>
                        <a:ext uri="{FF2B5EF4-FFF2-40B4-BE49-F238E27FC236}">
                          <a16:creationId xmlns:a16="http://schemas.microsoft.com/office/drawing/2014/main" id="{74B91877-51DC-2347-9BDF-8B844F90DE9B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961" y="845"/>
                      <a:ext cx="625" cy="229"/>
                      <a:chOff x="4961" y="845"/>
                      <a:chExt cx="625" cy="229"/>
                    </a:xfrm>
                  </p:grpSpPr>
                  <p:sp>
                    <p:nvSpPr>
                      <p:cNvPr id="35909" name="Rectangle 39">
                        <a:extLst>
                          <a:ext uri="{FF2B5EF4-FFF2-40B4-BE49-F238E27FC236}">
                            <a16:creationId xmlns:a16="http://schemas.microsoft.com/office/drawing/2014/main" id="{332BFDE9-3167-7444-A36E-FC99EF3F447A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961" y="868"/>
                        <a:ext cx="625" cy="184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1pPr>
                        <a:lvl2pPr marL="742950" indent="-285750"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2pPr>
                        <a:lvl3pPr marL="1143000" indent="-228600"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3pPr>
                        <a:lvl4pPr marL="1600200" indent="-228600"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4pPr>
                        <a:lvl5pPr marL="2057400" indent="-228600"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9pPr>
                      </a:lstStyle>
                      <a:p>
                        <a:endParaRPr lang="zh-CN" altLang="en-US" sz="800">
                          <a:solidFill>
                            <a:schemeClr val="accent2"/>
                          </a:solidFill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35910" name="Rectangle 40">
                        <a:extLst>
                          <a:ext uri="{FF2B5EF4-FFF2-40B4-BE49-F238E27FC236}">
                            <a16:creationId xmlns:a16="http://schemas.microsoft.com/office/drawing/2014/main" id="{13C71841-C59B-0C4E-BF7C-9214EF9246EF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5143" y="845"/>
                        <a:ext cx="386" cy="2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lIns="90488" tIns="44450" rIns="90488" bIns="44450">
                        <a:spAutoFit/>
                      </a:bodyPr>
                      <a:lstStyle>
                        <a:lvl1pPr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1pPr>
                        <a:lvl2pPr marL="742950" indent="-285750"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2pPr>
                        <a:lvl3pPr marL="1143000" indent="-228600"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3pPr>
                        <a:lvl4pPr marL="1600200" indent="-228600"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4pPr>
                        <a:lvl5pPr marL="2057400" indent="-228600"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9pPr>
                      </a:lstStyle>
                      <a:p>
                        <a:r>
                          <a:rPr lang="en-US" altLang="zh-CN" sz="1800">
                            <a:latin typeface="Times New Roman" panose="02020603050405020304" pitchFamily="18" charset="0"/>
                            <a:ea typeface="宋体" panose="02010600030101010101" pitchFamily="2" charset="-122"/>
                          </a:rPr>
                          <a:t>func</a:t>
                        </a:r>
                      </a:p>
                    </p:txBody>
                  </p:sp>
                </p:grpSp>
              </p:grpSp>
            </p:grpSp>
            <p:sp>
              <p:nvSpPr>
                <p:cNvPr id="35894" name="Rectangle 41">
                  <a:extLst>
                    <a:ext uri="{FF2B5EF4-FFF2-40B4-BE49-F238E27FC236}">
                      <a16:creationId xmlns:a16="http://schemas.microsoft.com/office/drawing/2014/main" id="{D81E6A2D-6912-8349-A34C-794625B2C90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488" y="672"/>
                  <a:ext cx="186" cy="22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r>
                    <a:rPr lang="zh-CN" altLang="en-US" sz="180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0</a:t>
                  </a:r>
                </a:p>
              </p:txBody>
            </p:sp>
            <p:sp>
              <p:nvSpPr>
                <p:cNvPr id="35895" name="Rectangle 42">
                  <a:extLst>
                    <a:ext uri="{FF2B5EF4-FFF2-40B4-BE49-F238E27FC236}">
                      <a16:creationId xmlns:a16="http://schemas.microsoft.com/office/drawing/2014/main" id="{711329A5-D88F-8748-B548-EC908B59FCC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810" y="672"/>
                  <a:ext cx="186" cy="22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r>
                    <a:rPr lang="zh-CN" altLang="en-US" sz="180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6</a:t>
                  </a:r>
                </a:p>
              </p:txBody>
            </p:sp>
            <p:sp>
              <p:nvSpPr>
                <p:cNvPr id="35896" name="Rectangle 43">
                  <a:extLst>
                    <a:ext uri="{FF2B5EF4-FFF2-40B4-BE49-F238E27FC236}">
                      <a16:creationId xmlns:a16="http://schemas.microsoft.com/office/drawing/2014/main" id="{846657A4-3379-D34F-A389-672A9B066FF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77" y="672"/>
                  <a:ext cx="258" cy="22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r>
                    <a:rPr lang="zh-CN" altLang="en-US" sz="180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11</a:t>
                  </a:r>
                </a:p>
              </p:txBody>
            </p:sp>
            <p:sp>
              <p:nvSpPr>
                <p:cNvPr id="35897" name="Rectangle 44">
                  <a:extLst>
                    <a:ext uri="{FF2B5EF4-FFF2-40B4-BE49-F238E27FC236}">
                      <a16:creationId xmlns:a16="http://schemas.microsoft.com/office/drawing/2014/main" id="{EB4E9AB8-008A-664D-B80A-5051E263B68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90" y="672"/>
                  <a:ext cx="258" cy="22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r>
                    <a:rPr lang="zh-CN" altLang="en-US" sz="180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16</a:t>
                  </a:r>
                </a:p>
              </p:txBody>
            </p:sp>
            <p:sp>
              <p:nvSpPr>
                <p:cNvPr id="35898" name="Rectangle 45">
                  <a:extLst>
                    <a:ext uri="{FF2B5EF4-FFF2-40B4-BE49-F238E27FC236}">
                      <a16:creationId xmlns:a16="http://schemas.microsoft.com/office/drawing/2014/main" id="{CB87CB06-1D90-C54B-8455-608AE0750AB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02" y="672"/>
                  <a:ext cx="258" cy="22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r>
                    <a:rPr lang="zh-CN" altLang="en-US" sz="180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21</a:t>
                  </a:r>
                </a:p>
              </p:txBody>
            </p:sp>
            <p:sp>
              <p:nvSpPr>
                <p:cNvPr id="35899" name="Rectangle 46">
                  <a:extLst>
                    <a:ext uri="{FF2B5EF4-FFF2-40B4-BE49-F238E27FC236}">
                      <a16:creationId xmlns:a16="http://schemas.microsoft.com/office/drawing/2014/main" id="{D1DB643E-3DE4-6F4C-8DCA-38510EB99E2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14" y="672"/>
                  <a:ext cx="258" cy="22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r>
                    <a:rPr lang="zh-CN" altLang="en-US" sz="180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26</a:t>
                  </a:r>
                </a:p>
              </p:txBody>
            </p:sp>
            <p:sp>
              <p:nvSpPr>
                <p:cNvPr id="35900" name="Rectangle 47">
                  <a:extLst>
                    <a:ext uri="{FF2B5EF4-FFF2-40B4-BE49-F238E27FC236}">
                      <a16:creationId xmlns:a16="http://schemas.microsoft.com/office/drawing/2014/main" id="{C3361B35-8740-1D41-9B27-A80387E74FC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18" y="672"/>
                  <a:ext cx="258" cy="22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r>
                    <a:rPr lang="zh-CN" altLang="en-US" sz="180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31</a:t>
                  </a:r>
                </a:p>
              </p:txBody>
            </p:sp>
          </p:grpSp>
          <p:sp>
            <p:nvSpPr>
              <p:cNvPr id="35887" name="Rectangle 48">
                <a:extLst>
                  <a:ext uri="{FF2B5EF4-FFF2-40B4-BE49-F238E27FC236}">
                    <a16:creationId xmlns:a16="http://schemas.microsoft.com/office/drawing/2014/main" id="{457F44C6-4FE9-DE48-98B3-D36AAB6065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43" y="1056"/>
                <a:ext cx="446" cy="2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1800">
                    <a:latin typeface="Times New Roman" panose="02020603050405020304" pitchFamily="18" charset="0"/>
                    <a:ea typeface="宋体" panose="02010600030101010101" pitchFamily="2" charset="-122"/>
                  </a:rPr>
                  <a:t>6 </a:t>
                </a:r>
                <a:r>
                  <a:rPr lang="en-US" altLang="zh-CN" sz="1800">
                    <a:latin typeface="Times New Roman" panose="02020603050405020304" pitchFamily="18" charset="0"/>
                    <a:ea typeface="宋体" panose="02010600030101010101" pitchFamily="2" charset="-122"/>
                  </a:rPr>
                  <a:t>bits</a:t>
                </a:r>
              </a:p>
            </p:txBody>
          </p:sp>
          <p:sp>
            <p:nvSpPr>
              <p:cNvPr id="35888" name="Rectangle 49">
                <a:extLst>
                  <a:ext uri="{FF2B5EF4-FFF2-40B4-BE49-F238E27FC236}">
                    <a16:creationId xmlns:a16="http://schemas.microsoft.com/office/drawing/2014/main" id="{F5B0C6A7-97E2-724A-A8EB-9B04643FA2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26" y="1056"/>
                <a:ext cx="446" cy="2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1800">
                    <a:latin typeface="Times New Roman" panose="02020603050405020304" pitchFamily="18" charset="0"/>
                    <a:ea typeface="宋体" panose="02010600030101010101" pitchFamily="2" charset="-122"/>
                  </a:rPr>
                  <a:t>6 </a:t>
                </a:r>
                <a:r>
                  <a:rPr lang="en-US" altLang="zh-CN" sz="1800">
                    <a:latin typeface="Times New Roman" panose="02020603050405020304" pitchFamily="18" charset="0"/>
                    <a:ea typeface="宋体" panose="02010600030101010101" pitchFamily="2" charset="-122"/>
                  </a:rPr>
                  <a:t>bits</a:t>
                </a:r>
              </a:p>
            </p:txBody>
          </p:sp>
          <p:sp>
            <p:nvSpPr>
              <p:cNvPr id="35889" name="Rectangle 50">
                <a:extLst>
                  <a:ext uri="{FF2B5EF4-FFF2-40B4-BE49-F238E27FC236}">
                    <a16:creationId xmlns:a16="http://schemas.microsoft.com/office/drawing/2014/main" id="{88520ADC-1067-D243-B9E8-BD2B807320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93" y="1056"/>
                <a:ext cx="446" cy="2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1800">
                    <a:latin typeface="Times New Roman" panose="02020603050405020304" pitchFamily="18" charset="0"/>
                    <a:ea typeface="宋体" panose="02010600030101010101" pitchFamily="2" charset="-122"/>
                  </a:rPr>
                  <a:t>5 </a:t>
                </a:r>
                <a:r>
                  <a:rPr lang="en-US" altLang="zh-CN" sz="1800">
                    <a:latin typeface="Times New Roman" panose="02020603050405020304" pitchFamily="18" charset="0"/>
                    <a:ea typeface="宋体" panose="02010600030101010101" pitchFamily="2" charset="-122"/>
                  </a:rPr>
                  <a:t>bits</a:t>
                </a:r>
              </a:p>
            </p:txBody>
          </p:sp>
          <p:sp>
            <p:nvSpPr>
              <p:cNvPr id="35890" name="Rectangle 51">
                <a:extLst>
                  <a:ext uri="{FF2B5EF4-FFF2-40B4-BE49-F238E27FC236}">
                    <a16:creationId xmlns:a16="http://schemas.microsoft.com/office/drawing/2014/main" id="{EEE6B60D-1F21-C14F-9ECC-845097FD63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06" y="1056"/>
                <a:ext cx="442" cy="2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1800">
                    <a:latin typeface="Times New Roman" panose="02020603050405020304" pitchFamily="18" charset="0"/>
                    <a:ea typeface="宋体" panose="02010600030101010101" pitchFamily="2" charset="-122"/>
                  </a:rPr>
                  <a:t>5</a:t>
                </a:r>
                <a:r>
                  <a:rPr lang="zh-CN" altLang="en-US" b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 </a:t>
                </a:r>
                <a:r>
                  <a:rPr lang="en-US" altLang="zh-CN" sz="1800">
                    <a:latin typeface="Times New Roman" panose="02020603050405020304" pitchFamily="18" charset="0"/>
                    <a:ea typeface="宋体" panose="02010600030101010101" pitchFamily="2" charset="-122"/>
                  </a:rPr>
                  <a:t>bits</a:t>
                </a:r>
              </a:p>
            </p:txBody>
          </p:sp>
          <p:sp>
            <p:nvSpPr>
              <p:cNvPr id="35891" name="Rectangle 52">
                <a:extLst>
                  <a:ext uri="{FF2B5EF4-FFF2-40B4-BE49-F238E27FC236}">
                    <a16:creationId xmlns:a16="http://schemas.microsoft.com/office/drawing/2014/main" id="{C6E4400A-B991-694D-AB34-DE6223B805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18" y="1056"/>
                <a:ext cx="446" cy="2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1800">
                    <a:latin typeface="Times New Roman" panose="02020603050405020304" pitchFamily="18" charset="0"/>
                    <a:ea typeface="宋体" panose="02010600030101010101" pitchFamily="2" charset="-122"/>
                  </a:rPr>
                  <a:t>5 </a:t>
                </a:r>
                <a:r>
                  <a:rPr lang="en-US" altLang="zh-CN" sz="1800">
                    <a:latin typeface="Times New Roman" panose="02020603050405020304" pitchFamily="18" charset="0"/>
                    <a:ea typeface="宋体" panose="02010600030101010101" pitchFamily="2" charset="-122"/>
                  </a:rPr>
                  <a:t>bits</a:t>
                </a:r>
              </a:p>
            </p:txBody>
          </p:sp>
          <p:sp>
            <p:nvSpPr>
              <p:cNvPr id="35892" name="Rectangle 53">
                <a:extLst>
                  <a:ext uri="{FF2B5EF4-FFF2-40B4-BE49-F238E27FC236}">
                    <a16:creationId xmlns:a16="http://schemas.microsoft.com/office/drawing/2014/main" id="{D61A9044-9A32-7C4E-9C48-98D363DF90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31" y="1056"/>
                <a:ext cx="446" cy="2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1800">
                    <a:latin typeface="Times New Roman" panose="02020603050405020304" pitchFamily="18" charset="0"/>
                    <a:ea typeface="宋体" panose="02010600030101010101" pitchFamily="2" charset="-122"/>
                  </a:rPr>
                  <a:t>5 </a:t>
                </a:r>
                <a:r>
                  <a:rPr lang="en-US" altLang="zh-CN" sz="1800">
                    <a:latin typeface="Times New Roman" panose="02020603050405020304" pitchFamily="18" charset="0"/>
                    <a:ea typeface="宋体" panose="02010600030101010101" pitchFamily="2" charset="-122"/>
                  </a:rPr>
                  <a:t>bits</a:t>
                </a:r>
              </a:p>
            </p:txBody>
          </p:sp>
        </p:grpSp>
        <p:sp>
          <p:nvSpPr>
            <p:cNvPr id="35885" name="Text Box 77">
              <a:extLst>
                <a:ext uri="{FF2B5EF4-FFF2-40B4-BE49-F238E27FC236}">
                  <a16:creationId xmlns:a16="http://schemas.microsoft.com/office/drawing/2014/main" id="{DCC146A8-F4CF-9C49-8DEE-78D24B2DD4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76" y="458"/>
              <a:ext cx="1243" cy="2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3500" tIns="25400" rIns="63500" bIns="2540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80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R-Type</a:t>
              </a:r>
              <a:r>
                <a:rPr lang="zh-CN" altLang="en-US" sz="180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指令</a:t>
              </a:r>
            </a:p>
          </p:txBody>
        </p:sp>
      </p:grpSp>
      <p:grpSp>
        <p:nvGrpSpPr>
          <p:cNvPr id="13" name="Group 81">
            <a:extLst>
              <a:ext uri="{FF2B5EF4-FFF2-40B4-BE49-F238E27FC236}">
                <a16:creationId xmlns:a16="http://schemas.microsoft.com/office/drawing/2014/main" id="{E87AD81C-B874-BE4F-B3E7-05E85675B128}"/>
              </a:ext>
            </a:extLst>
          </p:cNvPr>
          <p:cNvGrpSpPr>
            <a:grpSpLocks/>
          </p:cNvGrpSpPr>
          <p:nvPr/>
        </p:nvGrpSpPr>
        <p:grpSpPr bwMode="auto">
          <a:xfrm>
            <a:off x="3013075" y="3856038"/>
            <a:ext cx="5962650" cy="1271587"/>
            <a:chOff x="1889" y="2529"/>
            <a:chExt cx="3756" cy="801"/>
          </a:xfrm>
        </p:grpSpPr>
        <p:grpSp>
          <p:nvGrpSpPr>
            <p:cNvPr id="35861" name="Group 54">
              <a:extLst>
                <a:ext uri="{FF2B5EF4-FFF2-40B4-BE49-F238E27FC236}">
                  <a16:creationId xmlns:a16="http://schemas.microsoft.com/office/drawing/2014/main" id="{847EE2ED-DA15-CB46-953F-A71E7023D07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89" y="2717"/>
              <a:ext cx="3756" cy="613"/>
              <a:chOff x="1918" y="1392"/>
              <a:chExt cx="3756" cy="613"/>
            </a:xfrm>
          </p:grpSpPr>
          <p:sp>
            <p:nvSpPr>
              <p:cNvPr id="35863" name="Rectangle 55">
                <a:extLst>
                  <a:ext uri="{FF2B5EF4-FFF2-40B4-BE49-F238E27FC236}">
                    <a16:creationId xmlns:a16="http://schemas.microsoft.com/office/drawing/2014/main" id="{B280E9F7-3039-9C40-95A5-9EF4483C83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83" y="1592"/>
                <a:ext cx="3599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 sz="800">
                  <a:solidFill>
                    <a:schemeClr val="accent2"/>
                  </a:solidFill>
                  <a:ea typeface="宋体" panose="02010600030101010101" pitchFamily="2" charset="-122"/>
                </a:endParaRPr>
              </a:p>
            </p:txBody>
          </p:sp>
          <p:grpSp>
            <p:nvGrpSpPr>
              <p:cNvPr id="35864" name="Group 56">
                <a:extLst>
                  <a:ext uri="{FF2B5EF4-FFF2-40B4-BE49-F238E27FC236}">
                    <a16:creationId xmlns:a16="http://schemas.microsoft.com/office/drawing/2014/main" id="{4E6F0456-2A0F-9142-A346-2E6A4A146FA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79" y="1556"/>
                <a:ext cx="624" cy="229"/>
                <a:chOff x="1979" y="1556"/>
                <a:chExt cx="624" cy="229"/>
              </a:xfrm>
            </p:grpSpPr>
            <p:sp>
              <p:nvSpPr>
                <p:cNvPr id="35882" name="Rectangle 57">
                  <a:extLst>
                    <a:ext uri="{FF2B5EF4-FFF2-40B4-BE49-F238E27FC236}">
                      <a16:creationId xmlns:a16="http://schemas.microsoft.com/office/drawing/2014/main" id="{BA8DCEF9-62C1-DD4E-9D56-53C4F6C4EB2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79" y="1588"/>
                  <a:ext cx="624" cy="184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zh-CN" altLang="en-US" sz="800">
                    <a:solidFill>
                      <a:schemeClr val="accent2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5883" name="Rectangle 58">
                  <a:extLst>
                    <a:ext uri="{FF2B5EF4-FFF2-40B4-BE49-F238E27FC236}">
                      <a16:creationId xmlns:a16="http://schemas.microsoft.com/office/drawing/2014/main" id="{72A7914D-1124-E047-87D8-F05D9928A41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61" y="1556"/>
                  <a:ext cx="266" cy="22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r>
                    <a:rPr lang="en-US" altLang="zh-CN" sz="180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op</a:t>
                  </a:r>
                </a:p>
              </p:txBody>
            </p:sp>
          </p:grpSp>
          <p:grpSp>
            <p:nvGrpSpPr>
              <p:cNvPr id="35865" name="Group 59">
                <a:extLst>
                  <a:ext uri="{FF2B5EF4-FFF2-40B4-BE49-F238E27FC236}">
                    <a16:creationId xmlns:a16="http://schemas.microsoft.com/office/drawing/2014/main" id="{719C737F-CE63-AD4D-92EF-47AC5F9B7AA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611" y="1565"/>
                <a:ext cx="580" cy="229"/>
                <a:chOff x="2611" y="1565"/>
                <a:chExt cx="580" cy="229"/>
              </a:xfrm>
            </p:grpSpPr>
            <p:sp>
              <p:nvSpPr>
                <p:cNvPr id="35880" name="Rectangle 60">
                  <a:extLst>
                    <a:ext uri="{FF2B5EF4-FFF2-40B4-BE49-F238E27FC236}">
                      <a16:creationId xmlns:a16="http://schemas.microsoft.com/office/drawing/2014/main" id="{B3A7280D-F50F-DB43-B541-1F6CE92A9A3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11" y="1588"/>
                  <a:ext cx="580" cy="184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zh-CN" altLang="en-US" sz="800">
                    <a:solidFill>
                      <a:schemeClr val="accent2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5881" name="Rectangle 61">
                  <a:extLst>
                    <a:ext uri="{FF2B5EF4-FFF2-40B4-BE49-F238E27FC236}">
                      <a16:creationId xmlns:a16="http://schemas.microsoft.com/office/drawing/2014/main" id="{D7490A5F-A243-A241-B6AF-A4BCE25C424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76" y="1565"/>
                  <a:ext cx="234" cy="22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r>
                    <a:rPr lang="en-US" altLang="zh-CN" sz="180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rs</a:t>
                  </a:r>
                </a:p>
              </p:txBody>
            </p:sp>
          </p:grpSp>
          <p:grpSp>
            <p:nvGrpSpPr>
              <p:cNvPr id="35866" name="Group 62">
                <a:extLst>
                  <a:ext uri="{FF2B5EF4-FFF2-40B4-BE49-F238E27FC236}">
                    <a16:creationId xmlns:a16="http://schemas.microsoft.com/office/drawing/2014/main" id="{499A94A9-D4F8-D04D-9951-B0EEFB24D4B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99" y="1565"/>
                <a:ext cx="579" cy="229"/>
                <a:chOff x="3199" y="1565"/>
                <a:chExt cx="579" cy="229"/>
              </a:xfrm>
            </p:grpSpPr>
            <p:sp>
              <p:nvSpPr>
                <p:cNvPr id="35878" name="Rectangle 63">
                  <a:extLst>
                    <a:ext uri="{FF2B5EF4-FFF2-40B4-BE49-F238E27FC236}">
                      <a16:creationId xmlns:a16="http://schemas.microsoft.com/office/drawing/2014/main" id="{4320AC4C-9F9B-A64F-8E48-BA09B893BEF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99" y="1588"/>
                  <a:ext cx="579" cy="184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zh-CN" altLang="en-US" sz="800">
                    <a:solidFill>
                      <a:schemeClr val="accent2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5879" name="Rectangle 64">
                  <a:extLst>
                    <a:ext uri="{FF2B5EF4-FFF2-40B4-BE49-F238E27FC236}">
                      <a16:creationId xmlns:a16="http://schemas.microsoft.com/office/drawing/2014/main" id="{2AEA7170-3F0E-8741-847B-7C0B2D14C3C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63" y="1565"/>
                  <a:ext cx="226" cy="22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r>
                    <a:rPr lang="en-US" altLang="zh-CN" sz="180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rt</a:t>
                  </a:r>
                </a:p>
              </p:txBody>
            </p:sp>
          </p:grpSp>
          <p:sp>
            <p:nvSpPr>
              <p:cNvPr id="35867" name="Rectangle 65">
                <a:extLst>
                  <a:ext uri="{FF2B5EF4-FFF2-40B4-BE49-F238E27FC236}">
                    <a16:creationId xmlns:a16="http://schemas.microsoft.com/office/drawing/2014/main" id="{B8A34556-0F60-8446-A172-DE84658678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86" y="1588"/>
                <a:ext cx="1800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 sz="800">
                  <a:solidFill>
                    <a:schemeClr val="accent2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35868" name="Rectangle 66">
                <a:extLst>
                  <a:ext uri="{FF2B5EF4-FFF2-40B4-BE49-F238E27FC236}">
                    <a16:creationId xmlns:a16="http://schemas.microsoft.com/office/drawing/2014/main" id="{0E493A13-4DE1-7A40-A2C9-23806D209C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89" y="1556"/>
                <a:ext cx="762" cy="2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800">
                    <a:latin typeface="Times New Roman" panose="02020603050405020304" pitchFamily="18" charset="0"/>
                    <a:ea typeface="宋体" panose="02010600030101010101" pitchFamily="2" charset="-122"/>
                  </a:rPr>
                  <a:t>immediate</a:t>
                </a:r>
              </a:p>
            </p:txBody>
          </p:sp>
          <p:sp>
            <p:nvSpPr>
              <p:cNvPr id="35869" name="Rectangle 67">
                <a:extLst>
                  <a:ext uri="{FF2B5EF4-FFF2-40B4-BE49-F238E27FC236}">
                    <a16:creationId xmlns:a16="http://schemas.microsoft.com/office/drawing/2014/main" id="{E4243E7B-A843-9744-93E5-37641703AC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88" y="1392"/>
                <a:ext cx="186" cy="2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1800">
                    <a:latin typeface="Times New Roman" panose="02020603050405020304" pitchFamily="18" charset="0"/>
                    <a:ea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35870" name="Rectangle 68">
                <a:extLst>
                  <a:ext uri="{FF2B5EF4-FFF2-40B4-BE49-F238E27FC236}">
                    <a16:creationId xmlns:a16="http://schemas.microsoft.com/office/drawing/2014/main" id="{DD500F5A-DAE4-8246-95B5-E647BEEB75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90" y="1392"/>
                <a:ext cx="258" cy="2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1800">
                    <a:latin typeface="Times New Roman" panose="02020603050405020304" pitchFamily="18" charset="0"/>
                    <a:ea typeface="宋体" panose="02010600030101010101" pitchFamily="2" charset="-122"/>
                  </a:rPr>
                  <a:t>16</a:t>
                </a:r>
              </a:p>
            </p:txBody>
          </p:sp>
          <p:sp>
            <p:nvSpPr>
              <p:cNvPr id="35871" name="Rectangle 69">
                <a:extLst>
                  <a:ext uri="{FF2B5EF4-FFF2-40B4-BE49-F238E27FC236}">
                    <a16:creationId xmlns:a16="http://schemas.microsoft.com/office/drawing/2014/main" id="{9D28162B-2976-5545-8CE6-7EAC173C47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02" y="1392"/>
                <a:ext cx="258" cy="2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1800">
                    <a:latin typeface="Times New Roman" panose="02020603050405020304" pitchFamily="18" charset="0"/>
                    <a:ea typeface="宋体" panose="02010600030101010101" pitchFamily="2" charset="-122"/>
                  </a:rPr>
                  <a:t>21</a:t>
                </a:r>
              </a:p>
            </p:txBody>
          </p:sp>
          <p:sp>
            <p:nvSpPr>
              <p:cNvPr id="35872" name="Rectangle 70">
                <a:extLst>
                  <a:ext uri="{FF2B5EF4-FFF2-40B4-BE49-F238E27FC236}">
                    <a16:creationId xmlns:a16="http://schemas.microsoft.com/office/drawing/2014/main" id="{1173D2E4-9695-4F45-BF38-8DA755769C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14" y="1392"/>
                <a:ext cx="258" cy="2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1800">
                    <a:latin typeface="Times New Roman" panose="02020603050405020304" pitchFamily="18" charset="0"/>
                    <a:ea typeface="宋体" panose="02010600030101010101" pitchFamily="2" charset="-122"/>
                  </a:rPr>
                  <a:t>26</a:t>
                </a:r>
              </a:p>
            </p:txBody>
          </p:sp>
          <p:sp>
            <p:nvSpPr>
              <p:cNvPr id="35873" name="Rectangle 71">
                <a:extLst>
                  <a:ext uri="{FF2B5EF4-FFF2-40B4-BE49-F238E27FC236}">
                    <a16:creationId xmlns:a16="http://schemas.microsoft.com/office/drawing/2014/main" id="{9243D944-15F6-3A43-B179-041F23946A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18" y="1392"/>
                <a:ext cx="258" cy="2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1800">
                    <a:latin typeface="Times New Roman" panose="02020603050405020304" pitchFamily="18" charset="0"/>
                    <a:ea typeface="宋体" panose="02010600030101010101" pitchFamily="2" charset="-122"/>
                  </a:rPr>
                  <a:t>31</a:t>
                </a:r>
              </a:p>
            </p:txBody>
          </p:sp>
          <p:sp>
            <p:nvSpPr>
              <p:cNvPr id="35874" name="Rectangle 72">
                <a:extLst>
                  <a:ext uri="{FF2B5EF4-FFF2-40B4-BE49-F238E27FC236}">
                    <a16:creationId xmlns:a16="http://schemas.microsoft.com/office/drawing/2014/main" id="{C0BB3C25-275F-A94C-9EDC-BEF57EAA14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43" y="1776"/>
                <a:ext cx="446" cy="2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1800">
                    <a:latin typeface="Times New Roman" panose="02020603050405020304" pitchFamily="18" charset="0"/>
                    <a:ea typeface="宋体" panose="02010600030101010101" pitchFamily="2" charset="-122"/>
                  </a:rPr>
                  <a:t>6 </a:t>
                </a:r>
                <a:r>
                  <a:rPr lang="en-US" altLang="zh-CN" sz="1800">
                    <a:latin typeface="Times New Roman" panose="02020603050405020304" pitchFamily="18" charset="0"/>
                    <a:ea typeface="宋体" panose="02010600030101010101" pitchFamily="2" charset="-122"/>
                  </a:rPr>
                  <a:t>bits</a:t>
                </a:r>
              </a:p>
            </p:txBody>
          </p:sp>
          <p:sp>
            <p:nvSpPr>
              <p:cNvPr id="35875" name="Rectangle 73">
                <a:extLst>
                  <a:ext uri="{FF2B5EF4-FFF2-40B4-BE49-F238E27FC236}">
                    <a16:creationId xmlns:a16="http://schemas.microsoft.com/office/drawing/2014/main" id="{F42EE2C0-AF7C-6B4B-9E55-664C572432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" y="1776"/>
                <a:ext cx="518" cy="2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1800">
                    <a:latin typeface="Times New Roman" panose="02020603050405020304" pitchFamily="18" charset="0"/>
                    <a:ea typeface="宋体" panose="02010600030101010101" pitchFamily="2" charset="-122"/>
                  </a:rPr>
                  <a:t>16 </a:t>
                </a:r>
                <a:r>
                  <a:rPr lang="en-US" altLang="zh-CN" sz="1800">
                    <a:latin typeface="Times New Roman" panose="02020603050405020304" pitchFamily="18" charset="0"/>
                    <a:ea typeface="宋体" panose="02010600030101010101" pitchFamily="2" charset="-122"/>
                  </a:rPr>
                  <a:t>bits</a:t>
                </a:r>
              </a:p>
            </p:txBody>
          </p:sp>
          <p:sp>
            <p:nvSpPr>
              <p:cNvPr id="35876" name="Rectangle 74">
                <a:extLst>
                  <a:ext uri="{FF2B5EF4-FFF2-40B4-BE49-F238E27FC236}">
                    <a16:creationId xmlns:a16="http://schemas.microsoft.com/office/drawing/2014/main" id="{36115752-328B-EA45-8EE7-A4562A9FAE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18" y="1776"/>
                <a:ext cx="446" cy="2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1800">
                    <a:latin typeface="Times New Roman" panose="02020603050405020304" pitchFamily="18" charset="0"/>
                    <a:ea typeface="宋体" panose="02010600030101010101" pitchFamily="2" charset="-122"/>
                  </a:rPr>
                  <a:t>5 </a:t>
                </a:r>
                <a:r>
                  <a:rPr lang="en-US" altLang="zh-CN" sz="1800">
                    <a:latin typeface="Times New Roman" panose="02020603050405020304" pitchFamily="18" charset="0"/>
                    <a:ea typeface="宋体" panose="02010600030101010101" pitchFamily="2" charset="-122"/>
                  </a:rPr>
                  <a:t>bits</a:t>
                </a:r>
              </a:p>
            </p:txBody>
          </p:sp>
          <p:sp>
            <p:nvSpPr>
              <p:cNvPr id="35877" name="Rectangle 75">
                <a:extLst>
                  <a:ext uri="{FF2B5EF4-FFF2-40B4-BE49-F238E27FC236}">
                    <a16:creationId xmlns:a16="http://schemas.microsoft.com/office/drawing/2014/main" id="{3CFC12F6-DE16-3C46-B511-3DDC3BACFA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31" y="1776"/>
                <a:ext cx="446" cy="2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1800">
                    <a:latin typeface="Times New Roman" panose="02020603050405020304" pitchFamily="18" charset="0"/>
                    <a:ea typeface="宋体" panose="02010600030101010101" pitchFamily="2" charset="-122"/>
                  </a:rPr>
                  <a:t>5 </a:t>
                </a:r>
                <a:r>
                  <a:rPr lang="en-US" altLang="zh-CN" sz="1800">
                    <a:latin typeface="Times New Roman" panose="02020603050405020304" pitchFamily="18" charset="0"/>
                    <a:ea typeface="宋体" panose="02010600030101010101" pitchFamily="2" charset="-122"/>
                  </a:rPr>
                  <a:t>bits</a:t>
                </a:r>
              </a:p>
            </p:txBody>
          </p:sp>
        </p:grpSp>
        <p:sp>
          <p:nvSpPr>
            <p:cNvPr id="35862" name="Text Box 78">
              <a:extLst>
                <a:ext uri="{FF2B5EF4-FFF2-40B4-BE49-F238E27FC236}">
                  <a16:creationId xmlns:a16="http://schemas.microsoft.com/office/drawing/2014/main" id="{FFE27B51-8C6C-3944-A26E-E7CB623B89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56" y="2529"/>
              <a:ext cx="1243" cy="2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3500" tIns="25400" rIns="63500" bIns="2540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80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I-Type</a:t>
              </a:r>
              <a:r>
                <a:rPr lang="zh-CN" altLang="en-US" sz="180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指令</a:t>
              </a:r>
            </a:p>
          </p:txBody>
        </p:sp>
      </p:grpSp>
      <p:grpSp>
        <p:nvGrpSpPr>
          <p:cNvPr id="18" name="Group 82">
            <a:extLst>
              <a:ext uri="{FF2B5EF4-FFF2-40B4-BE49-F238E27FC236}">
                <a16:creationId xmlns:a16="http://schemas.microsoft.com/office/drawing/2014/main" id="{FD7AE094-350A-D848-9CB6-71F89A9869AC}"/>
              </a:ext>
            </a:extLst>
          </p:cNvPr>
          <p:cNvGrpSpPr>
            <a:grpSpLocks/>
          </p:cNvGrpSpPr>
          <p:nvPr/>
        </p:nvGrpSpPr>
        <p:grpSpPr bwMode="auto">
          <a:xfrm>
            <a:off x="3008313" y="5629275"/>
            <a:ext cx="5962650" cy="1044575"/>
            <a:chOff x="1886" y="3544"/>
            <a:chExt cx="3756" cy="658"/>
          </a:xfrm>
        </p:grpSpPr>
        <p:grpSp>
          <p:nvGrpSpPr>
            <p:cNvPr id="35848" name="Group 6">
              <a:extLst>
                <a:ext uri="{FF2B5EF4-FFF2-40B4-BE49-F238E27FC236}">
                  <a16:creationId xmlns:a16="http://schemas.microsoft.com/office/drawing/2014/main" id="{AF7D3ED1-A131-ED47-9139-65774164816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86" y="3589"/>
              <a:ext cx="3756" cy="613"/>
              <a:chOff x="1918" y="3360"/>
              <a:chExt cx="3756" cy="613"/>
            </a:xfrm>
          </p:grpSpPr>
          <p:sp>
            <p:nvSpPr>
              <p:cNvPr id="35850" name="Rectangle 7">
                <a:extLst>
                  <a:ext uri="{FF2B5EF4-FFF2-40B4-BE49-F238E27FC236}">
                    <a16:creationId xmlns:a16="http://schemas.microsoft.com/office/drawing/2014/main" id="{4F3F4A76-6275-D340-B6E4-2862332899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83" y="3560"/>
                <a:ext cx="3599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 sz="800">
                  <a:solidFill>
                    <a:schemeClr val="accent2"/>
                  </a:solidFill>
                  <a:ea typeface="宋体" panose="02010600030101010101" pitchFamily="2" charset="-122"/>
                </a:endParaRPr>
              </a:p>
            </p:txBody>
          </p:sp>
          <p:grpSp>
            <p:nvGrpSpPr>
              <p:cNvPr id="35851" name="Group 8">
                <a:extLst>
                  <a:ext uri="{FF2B5EF4-FFF2-40B4-BE49-F238E27FC236}">
                    <a16:creationId xmlns:a16="http://schemas.microsoft.com/office/drawing/2014/main" id="{C37548BE-0C2F-1247-9084-E21055A6741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79" y="3524"/>
                <a:ext cx="624" cy="229"/>
                <a:chOff x="1979" y="3524"/>
                <a:chExt cx="624" cy="229"/>
              </a:xfrm>
            </p:grpSpPr>
            <p:sp>
              <p:nvSpPr>
                <p:cNvPr id="35859" name="Rectangle 9">
                  <a:extLst>
                    <a:ext uri="{FF2B5EF4-FFF2-40B4-BE49-F238E27FC236}">
                      <a16:creationId xmlns:a16="http://schemas.microsoft.com/office/drawing/2014/main" id="{F36A1EDF-DCEE-1F46-9B64-2F32BE6FB4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79" y="3556"/>
                  <a:ext cx="624" cy="184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zh-CN" altLang="en-US" sz="800">
                    <a:solidFill>
                      <a:schemeClr val="accent2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5860" name="Rectangle 10">
                  <a:extLst>
                    <a:ext uri="{FF2B5EF4-FFF2-40B4-BE49-F238E27FC236}">
                      <a16:creationId xmlns:a16="http://schemas.microsoft.com/office/drawing/2014/main" id="{00C3CF10-42DD-2A41-8BD9-7C3AABEAF0E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61" y="3524"/>
                  <a:ext cx="266" cy="22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r>
                    <a:rPr lang="en-US" altLang="zh-CN" sz="180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op</a:t>
                  </a:r>
                </a:p>
              </p:txBody>
            </p:sp>
          </p:grpSp>
          <p:sp>
            <p:nvSpPr>
              <p:cNvPr id="35852" name="Rectangle 11">
                <a:extLst>
                  <a:ext uri="{FF2B5EF4-FFF2-40B4-BE49-F238E27FC236}">
                    <a16:creationId xmlns:a16="http://schemas.microsoft.com/office/drawing/2014/main" id="{E87DF4F5-A21C-984F-95BE-A3F171C8C6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11" y="3556"/>
                <a:ext cx="2975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 sz="800">
                  <a:solidFill>
                    <a:schemeClr val="accent2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35853" name="Rectangle 12">
                <a:extLst>
                  <a:ext uri="{FF2B5EF4-FFF2-40B4-BE49-F238E27FC236}">
                    <a16:creationId xmlns:a16="http://schemas.microsoft.com/office/drawing/2014/main" id="{D85296A0-7D1F-E844-AE52-61F65083FC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4" y="3533"/>
                <a:ext cx="990" cy="2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800">
                    <a:latin typeface="Times New Roman" panose="02020603050405020304" pitchFamily="18" charset="0"/>
                    <a:ea typeface="宋体" panose="02010600030101010101" pitchFamily="2" charset="-122"/>
                  </a:rPr>
                  <a:t>target address</a:t>
                </a:r>
              </a:p>
            </p:txBody>
          </p:sp>
          <p:sp>
            <p:nvSpPr>
              <p:cNvPr id="35854" name="Rectangle 13">
                <a:extLst>
                  <a:ext uri="{FF2B5EF4-FFF2-40B4-BE49-F238E27FC236}">
                    <a16:creationId xmlns:a16="http://schemas.microsoft.com/office/drawing/2014/main" id="{7F90DFBE-A4CA-FE45-B548-9F6DF4EEA7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88" y="3360"/>
                <a:ext cx="186" cy="2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1800">
                    <a:latin typeface="Times New Roman" panose="02020603050405020304" pitchFamily="18" charset="0"/>
                    <a:ea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35855" name="Rectangle 14">
                <a:extLst>
                  <a:ext uri="{FF2B5EF4-FFF2-40B4-BE49-F238E27FC236}">
                    <a16:creationId xmlns:a16="http://schemas.microsoft.com/office/drawing/2014/main" id="{AD062DA6-A342-AA4B-9294-5CCCFB1DA5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14" y="3360"/>
                <a:ext cx="258" cy="2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1800">
                    <a:latin typeface="Times New Roman" panose="02020603050405020304" pitchFamily="18" charset="0"/>
                    <a:ea typeface="宋体" panose="02010600030101010101" pitchFamily="2" charset="-122"/>
                  </a:rPr>
                  <a:t>26</a:t>
                </a:r>
              </a:p>
            </p:txBody>
          </p:sp>
          <p:sp>
            <p:nvSpPr>
              <p:cNvPr id="35856" name="Rectangle 15">
                <a:extLst>
                  <a:ext uri="{FF2B5EF4-FFF2-40B4-BE49-F238E27FC236}">
                    <a16:creationId xmlns:a16="http://schemas.microsoft.com/office/drawing/2014/main" id="{E59CDED1-7B64-9248-991F-294FEC405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18" y="3360"/>
                <a:ext cx="258" cy="2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1800">
                    <a:latin typeface="Times New Roman" panose="02020603050405020304" pitchFamily="18" charset="0"/>
                    <a:ea typeface="宋体" panose="02010600030101010101" pitchFamily="2" charset="-122"/>
                  </a:rPr>
                  <a:t>31</a:t>
                </a:r>
              </a:p>
            </p:txBody>
          </p:sp>
          <p:sp>
            <p:nvSpPr>
              <p:cNvPr id="35857" name="Rectangle 16">
                <a:extLst>
                  <a:ext uri="{FF2B5EF4-FFF2-40B4-BE49-F238E27FC236}">
                    <a16:creationId xmlns:a16="http://schemas.microsoft.com/office/drawing/2014/main" id="{F7DEEEFA-8881-3F4D-AB50-2BAD5D48EC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43" y="3744"/>
                <a:ext cx="446" cy="2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1800">
                    <a:latin typeface="Times New Roman" panose="02020603050405020304" pitchFamily="18" charset="0"/>
                    <a:ea typeface="宋体" panose="02010600030101010101" pitchFamily="2" charset="-122"/>
                  </a:rPr>
                  <a:t>6 </a:t>
                </a:r>
                <a:r>
                  <a:rPr lang="en-US" altLang="zh-CN" sz="1800">
                    <a:latin typeface="Times New Roman" panose="02020603050405020304" pitchFamily="18" charset="0"/>
                    <a:ea typeface="宋体" panose="02010600030101010101" pitchFamily="2" charset="-122"/>
                  </a:rPr>
                  <a:t>bits</a:t>
                </a:r>
              </a:p>
            </p:txBody>
          </p:sp>
          <p:sp>
            <p:nvSpPr>
              <p:cNvPr id="35858" name="Rectangle 17">
                <a:extLst>
                  <a:ext uri="{FF2B5EF4-FFF2-40B4-BE49-F238E27FC236}">
                    <a16:creationId xmlns:a16="http://schemas.microsoft.com/office/drawing/2014/main" id="{F907DB41-B172-D744-8A49-DA3CBADE73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16" y="3744"/>
                <a:ext cx="514" cy="2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1800">
                    <a:latin typeface="Times New Roman" panose="02020603050405020304" pitchFamily="18" charset="0"/>
                    <a:ea typeface="宋体" panose="02010600030101010101" pitchFamily="2" charset="-122"/>
                  </a:rPr>
                  <a:t>26</a:t>
                </a:r>
                <a:r>
                  <a:rPr lang="zh-CN" altLang="en-US" b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 </a:t>
                </a:r>
                <a:r>
                  <a:rPr lang="en-US" altLang="zh-CN" sz="1800">
                    <a:latin typeface="Times New Roman" panose="02020603050405020304" pitchFamily="18" charset="0"/>
                    <a:ea typeface="宋体" panose="02010600030101010101" pitchFamily="2" charset="-122"/>
                  </a:rPr>
                  <a:t>bits</a:t>
                </a:r>
              </a:p>
            </p:txBody>
          </p:sp>
        </p:grpSp>
        <p:sp>
          <p:nvSpPr>
            <p:cNvPr id="35849" name="Text Box 79">
              <a:extLst>
                <a:ext uri="{FF2B5EF4-FFF2-40B4-BE49-F238E27FC236}">
                  <a16:creationId xmlns:a16="http://schemas.microsoft.com/office/drawing/2014/main" id="{DEC9A1B4-D0DB-6B48-86C3-766FF619D2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38" y="3544"/>
              <a:ext cx="1243" cy="2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3500" tIns="25400" rIns="63500" bIns="2540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80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J-Type</a:t>
              </a:r>
              <a:r>
                <a:rPr lang="zh-CN" altLang="en-US" sz="180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指令</a:t>
              </a:r>
            </a:p>
          </p:txBody>
        </p:sp>
      </p:grpSp>
      <p:sp>
        <p:nvSpPr>
          <p:cNvPr id="35847" name="Rectangle 83">
            <a:extLst>
              <a:ext uri="{FF2B5EF4-FFF2-40B4-BE49-F238E27FC236}">
                <a16:creationId xmlns:a16="http://schemas.microsoft.com/office/drawing/2014/main" id="{408EED6A-8C95-0B46-B08E-0318E2CF15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038" y="655638"/>
            <a:ext cx="6148387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marL="342900" indent="-3429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Char char="u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所有指令都是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位宽，须按字地址对齐</a:t>
            </a:r>
          </a:p>
          <a:p>
            <a:pPr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字地址为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的倍数！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62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662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662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662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6624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6624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6624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6624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26624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9B86CCD8-53D9-9948-A575-662763E20A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11200" y="114300"/>
            <a:ext cx="3494088" cy="3683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MIPS</a:t>
            </a:r>
            <a:r>
              <a:rPr lang="zh-CN" altLang="en-US">
                <a:ea typeface="宋体" panose="02010600030101010101" pitchFamily="2" charset="-122"/>
              </a:rPr>
              <a:t>指令字段含义</a:t>
            </a:r>
          </a:p>
        </p:txBody>
      </p:sp>
      <p:sp>
        <p:nvSpPr>
          <p:cNvPr id="267267" name="Rectangle 3">
            <a:extLst>
              <a:ext uri="{FF2B5EF4-FFF2-40B4-BE49-F238E27FC236}">
                <a16:creationId xmlns:a16="http://schemas.microsoft.com/office/drawing/2014/main" id="{A9406E3B-83E8-6148-BB6D-E230D13B31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12738" y="1003300"/>
            <a:ext cx="8497887" cy="5480050"/>
          </a:xfrm>
        </p:spPr>
        <p:txBody>
          <a:bodyPr/>
          <a:lstStyle/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</a:t>
            </a:r>
            <a:r>
              <a:rPr lang="zh-CN" altLang="en-US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：操作码</a:t>
            </a:r>
          </a:p>
          <a:p>
            <a:pPr>
              <a:spcBef>
                <a:spcPct val="60000"/>
              </a:spcBef>
              <a:buFont typeface="Wingdings" pitchFamily="2" charset="2"/>
              <a:buNone/>
            </a:pPr>
            <a:r>
              <a:rPr lang="en-US" altLang="zh-CN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rs</a:t>
            </a:r>
            <a:r>
              <a:rPr lang="zh-CN" altLang="en-US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：第一个源操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作数寄存器</a:t>
            </a:r>
          </a:p>
          <a:p>
            <a:pPr>
              <a:spcBef>
                <a:spcPct val="60000"/>
              </a:spcBef>
              <a:buFont typeface="Wingdings" pitchFamily="2" charset="2"/>
              <a:buNone/>
            </a:pPr>
            <a:r>
              <a:rPr lang="en-US" altLang="zh-CN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rt</a:t>
            </a:r>
            <a:r>
              <a:rPr lang="zh-CN" altLang="en-US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：第二个源操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作数寄存器</a:t>
            </a:r>
          </a:p>
          <a:p>
            <a:pPr>
              <a:spcBef>
                <a:spcPct val="60000"/>
              </a:spcBef>
              <a:buFont typeface="Wingdings" pitchFamily="2" charset="2"/>
              <a:buNone/>
            </a:pPr>
            <a:r>
              <a:rPr lang="en-US" altLang="zh-CN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rd</a:t>
            </a:r>
            <a:r>
              <a:rPr lang="zh-CN" altLang="en-US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：结果寄存器</a:t>
            </a:r>
          </a:p>
          <a:p>
            <a:pPr>
              <a:spcBef>
                <a:spcPct val="60000"/>
              </a:spcBef>
              <a:buFont typeface="Wingdings" pitchFamily="2" charset="2"/>
              <a:buNone/>
            </a:pPr>
            <a:r>
              <a:rPr lang="en-US" altLang="zh-CN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shamt</a:t>
            </a:r>
            <a:r>
              <a:rPr lang="zh-CN" altLang="en-US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：移位指令</a:t>
            </a:r>
          </a:p>
          <a:p>
            <a:pPr>
              <a:spcBef>
                <a:spcPct val="20000"/>
              </a:spcBef>
              <a:buFont typeface="Wingdings" pitchFamily="2" charset="2"/>
              <a:buNone/>
            </a:pPr>
            <a:r>
              <a:rPr lang="zh-CN" altLang="en-US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的位移量</a:t>
            </a:r>
          </a:p>
          <a:p>
            <a:pPr>
              <a:spcBef>
                <a:spcPct val="40000"/>
              </a:spcBef>
              <a:buFont typeface="Wingdings" pitchFamily="2" charset="2"/>
              <a:buNone/>
            </a:pPr>
            <a:r>
              <a:rPr lang="en-US" altLang="zh-CN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func</a:t>
            </a:r>
            <a:r>
              <a:rPr lang="zh-CN" altLang="en-US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R-Type</a:t>
            </a:r>
            <a:r>
              <a:rPr lang="zh-CN" altLang="en-US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指令的</a:t>
            </a:r>
            <a:r>
              <a:rPr lang="en-US" altLang="zh-CN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</a:t>
            </a:r>
            <a:r>
              <a:rPr lang="zh-CN" altLang="en-US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字段是特定的“</a:t>
            </a:r>
            <a:r>
              <a:rPr lang="en-US" altLang="zh-CN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000000”</a:t>
            </a:r>
            <a:r>
              <a:rPr lang="zh-CN" altLang="en-US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，具体操作由</a:t>
            </a:r>
            <a:r>
              <a:rPr lang="en-US" altLang="zh-CN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func</a:t>
            </a:r>
            <a:r>
              <a:rPr lang="zh-CN" altLang="en-US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字段给定。例如：</a:t>
            </a:r>
            <a:r>
              <a:rPr lang="en-US" altLang="zh-CN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func=“100000”</a:t>
            </a:r>
            <a:r>
              <a:rPr lang="zh-CN" altLang="en-US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时，表示“加法”运算。</a:t>
            </a:r>
          </a:p>
          <a:p>
            <a:pPr>
              <a:spcBef>
                <a:spcPct val="40000"/>
              </a:spcBef>
              <a:buFont typeface="Wingdings" pitchFamily="2" charset="2"/>
              <a:buNone/>
            </a:pPr>
            <a:endParaRPr lang="zh-CN" altLang="en-US">
              <a:solidFill>
                <a:srgbClr val="A5002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45000"/>
              </a:spcBef>
              <a:buFont typeface="Wingdings" pitchFamily="2" charset="2"/>
              <a:buNone/>
            </a:pPr>
            <a:r>
              <a:rPr lang="en-US" altLang="zh-CN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immediate</a:t>
            </a:r>
            <a:r>
              <a:rPr lang="zh-CN" altLang="en-US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：立即数或</a:t>
            </a:r>
            <a:r>
              <a:rPr lang="en-US" altLang="zh-CN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load/store</a:t>
            </a:r>
            <a:r>
              <a:rPr lang="zh-CN" altLang="en-US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指令和分支指令的偏移地址</a:t>
            </a:r>
          </a:p>
          <a:p>
            <a:pPr>
              <a:spcBef>
                <a:spcPct val="45000"/>
              </a:spcBef>
              <a:buFont typeface="Wingdings" pitchFamily="2" charset="2"/>
              <a:buNone/>
            </a:pPr>
            <a:r>
              <a:rPr lang="en-US" altLang="zh-CN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target address</a:t>
            </a:r>
            <a:r>
              <a:rPr lang="zh-CN" altLang="en-US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：无条件转移地址的低</a:t>
            </a:r>
            <a:r>
              <a:rPr lang="en-US" altLang="zh-CN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26</a:t>
            </a:r>
            <a:r>
              <a:rPr lang="zh-CN" altLang="en-US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位。将</a:t>
            </a:r>
            <a:r>
              <a:rPr lang="en-US" altLang="zh-CN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  <a:r>
              <a:rPr lang="zh-CN" altLang="en-US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</a:t>
            </a:r>
            <a:r>
              <a:rPr lang="en-US" altLang="zh-CN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位拼上</a:t>
            </a:r>
            <a:r>
              <a:rPr lang="en-US" altLang="zh-CN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26</a:t>
            </a:r>
            <a:r>
              <a:rPr lang="zh-CN" altLang="en-US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位直接地址，最后添</a:t>
            </a:r>
            <a:r>
              <a:rPr lang="en-US" altLang="zh-CN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个“</a:t>
            </a:r>
            <a:r>
              <a:rPr lang="en-US" altLang="zh-CN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0”</a:t>
            </a:r>
            <a:r>
              <a:rPr lang="zh-CN" altLang="en-US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就是</a:t>
            </a:r>
            <a:r>
              <a:rPr lang="en-US" altLang="zh-CN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r>
            <a:r>
              <a:rPr lang="zh-CN" altLang="en-US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位目标地址。为何最后两位要添“</a:t>
            </a:r>
            <a:r>
              <a:rPr lang="en-US" altLang="zh-CN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0”</a:t>
            </a:r>
            <a:r>
              <a:rPr lang="zh-CN" altLang="en-US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</a:p>
          <a:p>
            <a:pPr>
              <a:spcBef>
                <a:spcPct val="20000"/>
              </a:spcBef>
              <a:buFont typeface="Wingdings" pitchFamily="2" charset="2"/>
              <a:buNone/>
            </a:pPr>
            <a:endParaRPr lang="en-US" altLang="zh-CN">
              <a:solidFill>
                <a:srgbClr val="A50021"/>
              </a:solidFill>
              <a:ea typeface="黑体" panose="02010609060101010101" pitchFamily="49" charset="-122"/>
            </a:endParaRPr>
          </a:p>
        </p:txBody>
      </p:sp>
      <p:sp>
        <p:nvSpPr>
          <p:cNvPr id="267344" name="Rectangle 80">
            <a:extLst>
              <a:ext uri="{FF2B5EF4-FFF2-40B4-BE49-F238E27FC236}">
                <a16:creationId xmlns:a16="http://schemas.microsoft.com/office/drawing/2014/main" id="{2DC38235-9EBA-0E4E-9A6E-63099B8E88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575" y="4676775"/>
            <a:ext cx="857885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30000"/>
              </a:spcBef>
              <a:buSzPct val="100000"/>
              <a:buFont typeface="Monotype Sorts" pitchFamily="2" charset="2"/>
              <a:buNone/>
            </a:pPr>
            <a:r>
              <a:rPr lang="zh-CN" altLang="en-US" sz="1800">
                <a:solidFill>
                  <a:srgbClr val="3C784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操作码的不同编码定义不同的含义，操作码相同时，再由功能码定义不同的含义</a:t>
            </a:r>
            <a:r>
              <a:rPr lang="en-US" altLang="zh-CN" sz="1800">
                <a:solidFill>
                  <a:srgbClr val="3C784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!</a:t>
            </a:r>
          </a:p>
        </p:txBody>
      </p:sp>
      <p:sp>
        <p:nvSpPr>
          <p:cNvPr id="267345" name="Text Box 81">
            <a:extLst>
              <a:ext uri="{FF2B5EF4-FFF2-40B4-BE49-F238E27FC236}">
                <a16:creationId xmlns:a16="http://schemas.microsoft.com/office/drawing/2014/main" id="{5D4504AE-D096-B64C-9283-55B28B83D2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3388" y="6221413"/>
            <a:ext cx="7627937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8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指令按字地址对齐，所以每条指令的地址都是</a:t>
            </a:r>
            <a:r>
              <a:rPr lang="en-US" altLang="zh-CN" sz="18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8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的倍数（最后两位为</a:t>
            </a:r>
            <a:r>
              <a:rPr lang="en-US" altLang="zh-CN" sz="18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18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）。</a:t>
            </a:r>
          </a:p>
        </p:txBody>
      </p:sp>
      <p:grpSp>
        <p:nvGrpSpPr>
          <p:cNvPr id="2" name="Group 82">
            <a:extLst>
              <a:ext uri="{FF2B5EF4-FFF2-40B4-BE49-F238E27FC236}">
                <a16:creationId xmlns:a16="http://schemas.microsoft.com/office/drawing/2014/main" id="{DABD45D3-597C-1E48-97B4-2AC9875BA9A9}"/>
              </a:ext>
            </a:extLst>
          </p:cNvPr>
          <p:cNvGrpSpPr>
            <a:grpSpLocks/>
          </p:cNvGrpSpPr>
          <p:nvPr/>
        </p:nvGrpSpPr>
        <p:grpSpPr bwMode="auto">
          <a:xfrm>
            <a:off x="2809875" y="608013"/>
            <a:ext cx="5962650" cy="1266825"/>
            <a:chOff x="1931" y="523"/>
            <a:chExt cx="3756" cy="798"/>
          </a:xfrm>
        </p:grpSpPr>
        <p:grpSp>
          <p:nvGrpSpPr>
            <p:cNvPr id="36909" name="Group 83">
              <a:extLst>
                <a:ext uri="{FF2B5EF4-FFF2-40B4-BE49-F238E27FC236}">
                  <a16:creationId xmlns:a16="http://schemas.microsoft.com/office/drawing/2014/main" id="{58E521C6-DEA3-A448-A238-9E40BDDCA2F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31" y="708"/>
              <a:ext cx="3756" cy="613"/>
              <a:chOff x="1918" y="672"/>
              <a:chExt cx="3756" cy="613"/>
            </a:xfrm>
          </p:grpSpPr>
          <p:grpSp>
            <p:nvGrpSpPr>
              <p:cNvPr id="36911" name="Group 84">
                <a:extLst>
                  <a:ext uri="{FF2B5EF4-FFF2-40B4-BE49-F238E27FC236}">
                    <a16:creationId xmlns:a16="http://schemas.microsoft.com/office/drawing/2014/main" id="{A01E00AA-3EEE-0943-8081-C812E9F3C16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18" y="672"/>
                <a:ext cx="3756" cy="393"/>
                <a:chOff x="1918" y="672"/>
                <a:chExt cx="3756" cy="393"/>
              </a:xfrm>
            </p:grpSpPr>
            <p:grpSp>
              <p:nvGrpSpPr>
                <p:cNvPr id="36918" name="Group 85">
                  <a:extLst>
                    <a:ext uri="{FF2B5EF4-FFF2-40B4-BE49-F238E27FC236}">
                      <a16:creationId xmlns:a16="http://schemas.microsoft.com/office/drawing/2014/main" id="{D1289EF6-E915-F345-ACF5-F6166555B4D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979" y="836"/>
                  <a:ext cx="3607" cy="229"/>
                  <a:chOff x="1979" y="836"/>
                  <a:chExt cx="3607" cy="229"/>
                </a:xfrm>
              </p:grpSpPr>
              <p:sp>
                <p:nvSpPr>
                  <p:cNvPr id="36926" name="Rectangle 86">
                    <a:extLst>
                      <a:ext uri="{FF2B5EF4-FFF2-40B4-BE49-F238E27FC236}">
                        <a16:creationId xmlns:a16="http://schemas.microsoft.com/office/drawing/2014/main" id="{8F0D863E-4044-1646-85E3-23DB4C28D12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983" y="872"/>
                    <a:ext cx="3599" cy="176"/>
                  </a:xfrm>
                  <a:prstGeom prst="rect">
                    <a:avLst/>
                  </a:prstGeom>
                  <a:noFill/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endParaRPr lang="zh-CN" altLang="en-US" sz="800">
                      <a:solidFill>
                        <a:schemeClr val="accent2"/>
                      </a:solidFill>
                      <a:ea typeface="宋体" panose="02010600030101010101" pitchFamily="2" charset="-122"/>
                    </a:endParaRPr>
                  </a:p>
                </p:txBody>
              </p:sp>
              <p:grpSp>
                <p:nvGrpSpPr>
                  <p:cNvPr id="36927" name="Group 87">
                    <a:extLst>
                      <a:ext uri="{FF2B5EF4-FFF2-40B4-BE49-F238E27FC236}">
                        <a16:creationId xmlns:a16="http://schemas.microsoft.com/office/drawing/2014/main" id="{90FC98B3-99FC-CB44-8A08-44311D412536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979" y="836"/>
                    <a:ext cx="3607" cy="229"/>
                    <a:chOff x="1979" y="836"/>
                    <a:chExt cx="3607" cy="229"/>
                  </a:xfrm>
                </p:grpSpPr>
                <p:grpSp>
                  <p:nvGrpSpPr>
                    <p:cNvPr id="36928" name="Group 88">
                      <a:extLst>
                        <a:ext uri="{FF2B5EF4-FFF2-40B4-BE49-F238E27FC236}">
                          <a16:creationId xmlns:a16="http://schemas.microsoft.com/office/drawing/2014/main" id="{8D6AFF2D-BE7A-574F-904C-938CE0C63FA8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979" y="836"/>
                      <a:ext cx="624" cy="229"/>
                      <a:chOff x="1979" y="836"/>
                      <a:chExt cx="624" cy="229"/>
                    </a:xfrm>
                  </p:grpSpPr>
                  <p:sp>
                    <p:nvSpPr>
                      <p:cNvPr id="36944" name="Rectangle 89">
                        <a:extLst>
                          <a:ext uri="{FF2B5EF4-FFF2-40B4-BE49-F238E27FC236}">
                            <a16:creationId xmlns:a16="http://schemas.microsoft.com/office/drawing/2014/main" id="{D5AD18CE-B47F-1743-A70C-C9C3240CEA77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979" y="868"/>
                        <a:ext cx="624" cy="184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1pPr>
                        <a:lvl2pPr marL="742950" indent="-285750"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2pPr>
                        <a:lvl3pPr marL="1143000" indent="-228600"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3pPr>
                        <a:lvl4pPr marL="1600200" indent="-228600"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4pPr>
                        <a:lvl5pPr marL="2057400" indent="-228600"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9pPr>
                      </a:lstStyle>
                      <a:p>
                        <a:endParaRPr lang="zh-CN" altLang="en-US" sz="800">
                          <a:solidFill>
                            <a:schemeClr val="accent2"/>
                          </a:solidFill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36945" name="Rectangle 90">
                        <a:extLst>
                          <a:ext uri="{FF2B5EF4-FFF2-40B4-BE49-F238E27FC236}">
                            <a16:creationId xmlns:a16="http://schemas.microsoft.com/office/drawing/2014/main" id="{E61D921C-19FA-F146-ADD5-12FFEF452EED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189" y="836"/>
                        <a:ext cx="266" cy="2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lIns="90488" tIns="44450" rIns="90488" bIns="44450">
                        <a:spAutoFit/>
                      </a:bodyPr>
                      <a:lstStyle>
                        <a:lvl1pPr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1pPr>
                        <a:lvl2pPr marL="742950" indent="-285750"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2pPr>
                        <a:lvl3pPr marL="1143000" indent="-228600"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3pPr>
                        <a:lvl4pPr marL="1600200" indent="-228600"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4pPr>
                        <a:lvl5pPr marL="2057400" indent="-228600"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9pPr>
                      </a:lstStyle>
                      <a:p>
                        <a:r>
                          <a:rPr lang="en-US" altLang="zh-CN" sz="1800">
                            <a:latin typeface="Times New Roman" panose="02020603050405020304" pitchFamily="18" charset="0"/>
                            <a:ea typeface="宋体" panose="02010600030101010101" pitchFamily="2" charset="-122"/>
                          </a:rPr>
                          <a:t>op</a:t>
                        </a:r>
                      </a:p>
                    </p:txBody>
                  </p:sp>
                </p:grpSp>
                <p:grpSp>
                  <p:nvGrpSpPr>
                    <p:cNvPr id="36929" name="Group 91">
                      <a:extLst>
                        <a:ext uri="{FF2B5EF4-FFF2-40B4-BE49-F238E27FC236}">
                          <a16:creationId xmlns:a16="http://schemas.microsoft.com/office/drawing/2014/main" id="{EFB63588-F9B7-944E-A934-9AFDFC076EFA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611" y="836"/>
                      <a:ext cx="580" cy="229"/>
                      <a:chOff x="2611" y="836"/>
                      <a:chExt cx="580" cy="229"/>
                    </a:xfrm>
                  </p:grpSpPr>
                  <p:sp>
                    <p:nvSpPr>
                      <p:cNvPr id="36942" name="Rectangle 92">
                        <a:extLst>
                          <a:ext uri="{FF2B5EF4-FFF2-40B4-BE49-F238E27FC236}">
                            <a16:creationId xmlns:a16="http://schemas.microsoft.com/office/drawing/2014/main" id="{B9BE0BA6-B365-B04F-9F4A-E7071A5584D5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611" y="868"/>
                        <a:ext cx="580" cy="184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1pPr>
                        <a:lvl2pPr marL="742950" indent="-285750"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2pPr>
                        <a:lvl3pPr marL="1143000" indent="-228600"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3pPr>
                        <a:lvl4pPr marL="1600200" indent="-228600"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4pPr>
                        <a:lvl5pPr marL="2057400" indent="-228600"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9pPr>
                      </a:lstStyle>
                      <a:p>
                        <a:endParaRPr lang="zh-CN" altLang="en-US" sz="800">
                          <a:solidFill>
                            <a:schemeClr val="accent2"/>
                          </a:solidFill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36943" name="Rectangle 93">
                        <a:extLst>
                          <a:ext uri="{FF2B5EF4-FFF2-40B4-BE49-F238E27FC236}">
                            <a16:creationId xmlns:a16="http://schemas.microsoft.com/office/drawing/2014/main" id="{68BC2B8B-FEC9-1249-9804-74401725E458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804" y="836"/>
                        <a:ext cx="234" cy="2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lIns="90488" tIns="44450" rIns="90488" bIns="44450">
                        <a:spAutoFit/>
                      </a:bodyPr>
                      <a:lstStyle>
                        <a:lvl1pPr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1pPr>
                        <a:lvl2pPr marL="742950" indent="-285750"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2pPr>
                        <a:lvl3pPr marL="1143000" indent="-228600"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3pPr>
                        <a:lvl4pPr marL="1600200" indent="-228600"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4pPr>
                        <a:lvl5pPr marL="2057400" indent="-228600"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9pPr>
                      </a:lstStyle>
                      <a:p>
                        <a:r>
                          <a:rPr lang="en-US" altLang="zh-CN" sz="1800">
                            <a:latin typeface="Times New Roman" panose="02020603050405020304" pitchFamily="18" charset="0"/>
                            <a:ea typeface="宋体" panose="02010600030101010101" pitchFamily="2" charset="-122"/>
                          </a:rPr>
                          <a:t>rs</a:t>
                        </a:r>
                      </a:p>
                    </p:txBody>
                  </p:sp>
                </p:grpSp>
                <p:grpSp>
                  <p:nvGrpSpPr>
                    <p:cNvPr id="36930" name="Group 94">
                      <a:extLst>
                        <a:ext uri="{FF2B5EF4-FFF2-40B4-BE49-F238E27FC236}">
                          <a16:creationId xmlns:a16="http://schemas.microsoft.com/office/drawing/2014/main" id="{6AF8888D-1F3F-E649-A30E-9F27AE129510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3199" y="836"/>
                      <a:ext cx="579" cy="229"/>
                      <a:chOff x="3199" y="836"/>
                      <a:chExt cx="579" cy="229"/>
                    </a:xfrm>
                  </p:grpSpPr>
                  <p:sp>
                    <p:nvSpPr>
                      <p:cNvPr id="36940" name="Rectangle 95">
                        <a:extLst>
                          <a:ext uri="{FF2B5EF4-FFF2-40B4-BE49-F238E27FC236}">
                            <a16:creationId xmlns:a16="http://schemas.microsoft.com/office/drawing/2014/main" id="{A9F9D558-728D-C14D-A575-546EDFF9595D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199" y="868"/>
                        <a:ext cx="579" cy="184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1pPr>
                        <a:lvl2pPr marL="742950" indent="-285750"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2pPr>
                        <a:lvl3pPr marL="1143000" indent="-228600"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3pPr>
                        <a:lvl4pPr marL="1600200" indent="-228600"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4pPr>
                        <a:lvl5pPr marL="2057400" indent="-228600"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9pPr>
                      </a:lstStyle>
                      <a:p>
                        <a:endParaRPr lang="zh-CN" altLang="en-US" sz="800">
                          <a:solidFill>
                            <a:schemeClr val="accent2"/>
                          </a:solidFill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36941" name="Rectangle 96">
                        <a:extLst>
                          <a:ext uri="{FF2B5EF4-FFF2-40B4-BE49-F238E27FC236}">
                            <a16:creationId xmlns:a16="http://schemas.microsoft.com/office/drawing/2014/main" id="{EE53CA99-DE1A-7248-A2A2-B954875F5C0D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391" y="836"/>
                        <a:ext cx="226" cy="2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lIns="90488" tIns="44450" rIns="90488" bIns="44450">
                        <a:spAutoFit/>
                      </a:bodyPr>
                      <a:lstStyle>
                        <a:lvl1pPr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1pPr>
                        <a:lvl2pPr marL="742950" indent="-285750"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2pPr>
                        <a:lvl3pPr marL="1143000" indent="-228600"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3pPr>
                        <a:lvl4pPr marL="1600200" indent="-228600"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4pPr>
                        <a:lvl5pPr marL="2057400" indent="-228600"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9pPr>
                      </a:lstStyle>
                      <a:p>
                        <a:r>
                          <a:rPr lang="en-US" altLang="zh-CN" sz="1800">
                            <a:latin typeface="Times New Roman" panose="02020603050405020304" pitchFamily="18" charset="0"/>
                            <a:ea typeface="宋体" panose="02010600030101010101" pitchFamily="2" charset="-122"/>
                          </a:rPr>
                          <a:t>rt</a:t>
                        </a:r>
                      </a:p>
                    </p:txBody>
                  </p:sp>
                </p:grpSp>
                <p:grpSp>
                  <p:nvGrpSpPr>
                    <p:cNvPr id="36931" name="Group 97">
                      <a:extLst>
                        <a:ext uri="{FF2B5EF4-FFF2-40B4-BE49-F238E27FC236}">
                          <a16:creationId xmlns:a16="http://schemas.microsoft.com/office/drawing/2014/main" id="{E40D2CC2-6E04-1C45-95BD-A93E2CDB442C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3786" y="836"/>
                      <a:ext cx="579" cy="229"/>
                      <a:chOff x="3786" y="836"/>
                      <a:chExt cx="579" cy="229"/>
                    </a:xfrm>
                  </p:grpSpPr>
                  <p:sp>
                    <p:nvSpPr>
                      <p:cNvPr id="36938" name="Rectangle 98">
                        <a:extLst>
                          <a:ext uri="{FF2B5EF4-FFF2-40B4-BE49-F238E27FC236}">
                            <a16:creationId xmlns:a16="http://schemas.microsoft.com/office/drawing/2014/main" id="{58565F8B-2868-EB4F-AA8D-ABA7923E7382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786" y="868"/>
                        <a:ext cx="579" cy="184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1pPr>
                        <a:lvl2pPr marL="742950" indent="-285750"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2pPr>
                        <a:lvl3pPr marL="1143000" indent="-228600"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3pPr>
                        <a:lvl4pPr marL="1600200" indent="-228600"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4pPr>
                        <a:lvl5pPr marL="2057400" indent="-228600"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9pPr>
                      </a:lstStyle>
                      <a:p>
                        <a:endParaRPr lang="zh-CN" altLang="en-US" sz="800">
                          <a:solidFill>
                            <a:schemeClr val="accent2"/>
                          </a:solidFill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36939" name="Rectangle 99">
                        <a:extLst>
                          <a:ext uri="{FF2B5EF4-FFF2-40B4-BE49-F238E27FC236}">
                            <a16:creationId xmlns:a16="http://schemas.microsoft.com/office/drawing/2014/main" id="{F442DD2D-026C-0048-AD0B-2AA24EECA793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979" y="836"/>
                        <a:ext cx="258" cy="2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lIns="90488" tIns="44450" rIns="90488" bIns="44450">
                        <a:spAutoFit/>
                      </a:bodyPr>
                      <a:lstStyle>
                        <a:lvl1pPr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1pPr>
                        <a:lvl2pPr marL="742950" indent="-285750"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2pPr>
                        <a:lvl3pPr marL="1143000" indent="-228600"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3pPr>
                        <a:lvl4pPr marL="1600200" indent="-228600"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4pPr>
                        <a:lvl5pPr marL="2057400" indent="-228600"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9pPr>
                      </a:lstStyle>
                      <a:p>
                        <a:r>
                          <a:rPr lang="en-US" altLang="zh-CN" sz="1800">
                            <a:latin typeface="Times New Roman" panose="02020603050405020304" pitchFamily="18" charset="0"/>
                            <a:ea typeface="宋体" panose="02010600030101010101" pitchFamily="2" charset="-122"/>
                          </a:rPr>
                          <a:t>rd</a:t>
                        </a:r>
                      </a:p>
                    </p:txBody>
                  </p:sp>
                </p:grpSp>
                <p:grpSp>
                  <p:nvGrpSpPr>
                    <p:cNvPr id="36932" name="Group 100">
                      <a:extLst>
                        <a:ext uri="{FF2B5EF4-FFF2-40B4-BE49-F238E27FC236}">
                          <a16:creationId xmlns:a16="http://schemas.microsoft.com/office/drawing/2014/main" id="{B1C3AA29-D5AD-544F-83DC-21E9FF595BC1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373" y="836"/>
                      <a:ext cx="580" cy="229"/>
                      <a:chOff x="4373" y="836"/>
                      <a:chExt cx="580" cy="229"/>
                    </a:xfrm>
                  </p:grpSpPr>
                  <p:sp>
                    <p:nvSpPr>
                      <p:cNvPr id="36936" name="Rectangle 101">
                        <a:extLst>
                          <a:ext uri="{FF2B5EF4-FFF2-40B4-BE49-F238E27FC236}">
                            <a16:creationId xmlns:a16="http://schemas.microsoft.com/office/drawing/2014/main" id="{95F901FB-DF9A-BA45-8587-2A36F257EB5B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373" y="868"/>
                        <a:ext cx="580" cy="184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1pPr>
                        <a:lvl2pPr marL="742950" indent="-285750"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2pPr>
                        <a:lvl3pPr marL="1143000" indent="-228600"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3pPr>
                        <a:lvl4pPr marL="1600200" indent="-228600"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4pPr>
                        <a:lvl5pPr marL="2057400" indent="-228600"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9pPr>
                      </a:lstStyle>
                      <a:p>
                        <a:endParaRPr lang="zh-CN" altLang="en-US" sz="800">
                          <a:solidFill>
                            <a:schemeClr val="accent2"/>
                          </a:solidFill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36937" name="Rectangle 102">
                        <a:extLst>
                          <a:ext uri="{FF2B5EF4-FFF2-40B4-BE49-F238E27FC236}">
                            <a16:creationId xmlns:a16="http://schemas.microsoft.com/office/drawing/2014/main" id="{0F7B1E82-A7B4-9143-9029-096BD89043A9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448" y="836"/>
                        <a:ext cx="490" cy="2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lIns="90488" tIns="44450" rIns="90488" bIns="44450">
                        <a:spAutoFit/>
                      </a:bodyPr>
                      <a:lstStyle>
                        <a:lvl1pPr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1pPr>
                        <a:lvl2pPr marL="742950" indent="-285750"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2pPr>
                        <a:lvl3pPr marL="1143000" indent="-228600"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3pPr>
                        <a:lvl4pPr marL="1600200" indent="-228600"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4pPr>
                        <a:lvl5pPr marL="2057400" indent="-228600"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9pPr>
                      </a:lstStyle>
                      <a:p>
                        <a:r>
                          <a:rPr lang="en-US" altLang="zh-CN" sz="1800">
                            <a:latin typeface="Times New Roman" panose="02020603050405020304" pitchFamily="18" charset="0"/>
                            <a:ea typeface="宋体" panose="02010600030101010101" pitchFamily="2" charset="-122"/>
                          </a:rPr>
                          <a:t>shamt</a:t>
                        </a:r>
                      </a:p>
                    </p:txBody>
                  </p:sp>
                </p:grpSp>
                <p:grpSp>
                  <p:nvGrpSpPr>
                    <p:cNvPr id="36933" name="Group 103">
                      <a:extLst>
                        <a:ext uri="{FF2B5EF4-FFF2-40B4-BE49-F238E27FC236}">
                          <a16:creationId xmlns:a16="http://schemas.microsoft.com/office/drawing/2014/main" id="{4C1FBA08-3073-8644-A239-416DFC545485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961" y="836"/>
                      <a:ext cx="625" cy="229"/>
                      <a:chOff x="4961" y="836"/>
                      <a:chExt cx="625" cy="229"/>
                    </a:xfrm>
                  </p:grpSpPr>
                  <p:sp>
                    <p:nvSpPr>
                      <p:cNvPr id="36934" name="Rectangle 104">
                        <a:extLst>
                          <a:ext uri="{FF2B5EF4-FFF2-40B4-BE49-F238E27FC236}">
                            <a16:creationId xmlns:a16="http://schemas.microsoft.com/office/drawing/2014/main" id="{7607127B-2D68-2640-A983-D2A1E2CC8DA8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961" y="868"/>
                        <a:ext cx="625" cy="184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1pPr>
                        <a:lvl2pPr marL="742950" indent="-285750"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2pPr>
                        <a:lvl3pPr marL="1143000" indent="-228600"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3pPr>
                        <a:lvl4pPr marL="1600200" indent="-228600"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4pPr>
                        <a:lvl5pPr marL="2057400" indent="-228600"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9pPr>
                      </a:lstStyle>
                      <a:p>
                        <a:endParaRPr lang="zh-CN" altLang="en-US" sz="800">
                          <a:solidFill>
                            <a:schemeClr val="accent2"/>
                          </a:solidFill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36935" name="Rectangle 105">
                        <a:extLst>
                          <a:ext uri="{FF2B5EF4-FFF2-40B4-BE49-F238E27FC236}">
                            <a16:creationId xmlns:a16="http://schemas.microsoft.com/office/drawing/2014/main" id="{5F565738-3E36-BD4F-98E8-4058BE28D976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5143" y="836"/>
                        <a:ext cx="386" cy="2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lIns="90488" tIns="44450" rIns="90488" bIns="44450">
                        <a:spAutoFit/>
                      </a:bodyPr>
                      <a:lstStyle>
                        <a:lvl1pPr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1pPr>
                        <a:lvl2pPr marL="742950" indent="-285750"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2pPr>
                        <a:lvl3pPr marL="1143000" indent="-228600"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3pPr>
                        <a:lvl4pPr marL="1600200" indent="-228600"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4pPr>
                        <a:lvl5pPr marL="2057400" indent="-228600"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6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9pPr>
                      </a:lstStyle>
                      <a:p>
                        <a:r>
                          <a:rPr lang="en-US" altLang="zh-CN" sz="1800">
                            <a:latin typeface="Times New Roman" panose="02020603050405020304" pitchFamily="18" charset="0"/>
                            <a:ea typeface="宋体" panose="02010600030101010101" pitchFamily="2" charset="-122"/>
                          </a:rPr>
                          <a:t>func</a:t>
                        </a:r>
                      </a:p>
                    </p:txBody>
                  </p:sp>
                </p:grpSp>
              </p:grpSp>
            </p:grpSp>
            <p:sp>
              <p:nvSpPr>
                <p:cNvPr id="36919" name="Rectangle 106">
                  <a:extLst>
                    <a:ext uri="{FF2B5EF4-FFF2-40B4-BE49-F238E27FC236}">
                      <a16:creationId xmlns:a16="http://schemas.microsoft.com/office/drawing/2014/main" id="{B0610003-1596-6448-AFF4-FB2E7A332AC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488" y="672"/>
                  <a:ext cx="186" cy="22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r>
                    <a:rPr lang="zh-CN" altLang="en-US" sz="180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0</a:t>
                  </a:r>
                </a:p>
              </p:txBody>
            </p:sp>
            <p:sp>
              <p:nvSpPr>
                <p:cNvPr id="36920" name="Rectangle 107">
                  <a:extLst>
                    <a:ext uri="{FF2B5EF4-FFF2-40B4-BE49-F238E27FC236}">
                      <a16:creationId xmlns:a16="http://schemas.microsoft.com/office/drawing/2014/main" id="{AFE7516B-7699-4447-8AA5-31AD3D2C543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810" y="672"/>
                  <a:ext cx="186" cy="22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r>
                    <a:rPr lang="zh-CN" altLang="en-US" sz="180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6</a:t>
                  </a:r>
                </a:p>
              </p:txBody>
            </p:sp>
            <p:sp>
              <p:nvSpPr>
                <p:cNvPr id="36921" name="Rectangle 108">
                  <a:extLst>
                    <a:ext uri="{FF2B5EF4-FFF2-40B4-BE49-F238E27FC236}">
                      <a16:creationId xmlns:a16="http://schemas.microsoft.com/office/drawing/2014/main" id="{3B5AA7F8-07A1-D54C-BFE3-602B1746DF0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77" y="672"/>
                  <a:ext cx="258" cy="22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r>
                    <a:rPr lang="zh-CN" altLang="en-US" sz="180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11</a:t>
                  </a:r>
                </a:p>
              </p:txBody>
            </p:sp>
            <p:sp>
              <p:nvSpPr>
                <p:cNvPr id="36922" name="Rectangle 109">
                  <a:extLst>
                    <a:ext uri="{FF2B5EF4-FFF2-40B4-BE49-F238E27FC236}">
                      <a16:creationId xmlns:a16="http://schemas.microsoft.com/office/drawing/2014/main" id="{F01DD6DA-5965-2445-AF8F-77F3509BEF9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90" y="672"/>
                  <a:ext cx="258" cy="22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r>
                    <a:rPr lang="zh-CN" altLang="en-US" sz="180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16</a:t>
                  </a:r>
                </a:p>
              </p:txBody>
            </p:sp>
            <p:sp>
              <p:nvSpPr>
                <p:cNvPr id="36923" name="Rectangle 110">
                  <a:extLst>
                    <a:ext uri="{FF2B5EF4-FFF2-40B4-BE49-F238E27FC236}">
                      <a16:creationId xmlns:a16="http://schemas.microsoft.com/office/drawing/2014/main" id="{7492A7C3-F020-7C40-BD0A-C917D8617C3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02" y="672"/>
                  <a:ext cx="258" cy="22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r>
                    <a:rPr lang="zh-CN" altLang="en-US" sz="180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21</a:t>
                  </a:r>
                </a:p>
              </p:txBody>
            </p:sp>
            <p:sp>
              <p:nvSpPr>
                <p:cNvPr id="36924" name="Rectangle 111">
                  <a:extLst>
                    <a:ext uri="{FF2B5EF4-FFF2-40B4-BE49-F238E27FC236}">
                      <a16:creationId xmlns:a16="http://schemas.microsoft.com/office/drawing/2014/main" id="{AAFA441F-4D6C-D54A-8016-4A0BEFB7798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14" y="672"/>
                  <a:ext cx="258" cy="22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r>
                    <a:rPr lang="zh-CN" altLang="en-US" sz="180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26</a:t>
                  </a:r>
                </a:p>
              </p:txBody>
            </p:sp>
            <p:sp>
              <p:nvSpPr>
                <p:cNvPr id="36925" name="Rectangle 112">
                  <a:extLst>
                    <a:ext uri="{FF2B5EF4-FFF2-40B4-BE49-F238E27FC236}">
                      <a16:creationId xmlns:a16="http://schemas.microsoft.com/office/drawing/2014/main" id="{2B24D0BE-01A0-4741-805C-5766D59009A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18" y="672"/>
                  <a:ext cx="258" cy="22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r>
                    <a:rPr lang="zh-CN" altLang="en-US" sz="180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31</a:t>
                  </a:r>
                </a:p>
              </p:txBody>
            </p:sp>
          </p:grpSp>
          <p:sp>
            <p:nvSpPr>
              <p:cNvPr id="36912" name="Rectangle 113">
                <a:extLst>
                  <a:ext uri="{FF2B5EF4-FFF2-40B4-BE49-F238E27FC236}">
                    <a16:creationId xmlns:a16="http://schemas.microsoft.com/office/drawing/2014/main" id="{536FF703-9EE8-FA4E-B4B1-F83B1E439B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43" y="1056"/>
                <a:ext cx="446" cy="2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1800">
                    <a:latin typeface="Times New Roman" panose="02020603050405020304" pitchFamily="18" charset="0"/>
                    <a:ea typeface="宋体" panose="02010600030101010101" pitchFamily="2" charset="-122"/>
                  </a:rPr>
                  <a:t>6 </a:t>
                </a:r>
                <a:r>
                  <a:rPr lang="en-US" altLang="zh-CN" sz="1800">
                    <a:latin typeface="Times New Roman" panose="02020603050405020304" pitchFamily="18" charset="0"/>
                    <a:ea typeface="宋体" panose="02010600030101010101" pitchFamily="2" charset="-122"/>
                  </a:rPr>
                  <a:t>bits</a:t>
                </a:r>
              </a:p>
            </p:txBody>
          </p:sp>
          <p:sp>
            <p:nvSpPr>
              <p:cNvPr id="36913" name="Rectangle 114">
                <a:extLst>
                  <a:ext uri="{FF2B5EF4-FFF2-40B4-BE49-F238E27FC236}">
                    <a16:creationId xmlns:a16="http://schemas.microsoft.com/office/drawing/2014/main" id="{2211D91B-5FA2-4041-8A85-07882D597E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26" y="1056"/>
                <a:ext cx="446" cy="2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1800">
                    <a:latin typeface="Times New Roman" panose="02020603050405020304" pitchFamily="18" charset="0"/>
                    <a:ea typeface="宋体" panose="02010600030101010101" pitchFamily="2" charset="-122"/>
                  </a:rPr>
                  <a:t>6 </a:t>
                </a:r>
                <a:r>
                  <a:rPr lang="en-US" altLang="zh-CN" sz="1800">
                    <a:latin typeface="Times New Roman" panose="02020603050405020304" pitchFamily="18" charset="0"/>
                    <a:ea typeface="宋体" panose="02010600030101010101" pitchFamily="2" charset="-122"/>
                  </a:rPr>
                  <a:t>bits</a:t>
                </a:r>
              </a:p>
            </p:txBody>
          </p:sp>
          <p:sp>
            <p:nvSpPr>
              <p:cNvPr id="36914" name="Rectangle 115">
                <a:extLst>
                  <a:ext uri="{FF2B5EF4-FFF2-40B4-BE49-F238E27FC236}">
                    <a16:creationId xmlns:a16="http://schemas.microsoft.com/office/drawing/2014/main" id="{464631E7-2170-6C4A-95FB-85EE1FF557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93" y="1056"/>
                <a:ext cx="446" cy="2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1800">
                    <a:latin typeface="Times New Roman" panose="02020603050405020304" pitchFamily="18" charset="0"/>
                    <a:ea typeface="宋体" panose="02010600030101010101" pitchFamily="2" charset="-122"/>
                  </a:rPr>
                  <a:t>5 </a:t>
                </a:r>
                <a:r>
                  <a:rPr lang="en-US" altLang="zh-CN" sz="1800">
                    <a:latin typeface="Times New Roman" panose="02020603050405020304" pitchFamily="18" charset="0"/>
                    <a:ea typeface="宋体" panose="02010600030101010101" pitchFamily="2" charset="-122"/>
                  </a:rPr>
                  <a:t>bits</a:t>
                </a:r>
              </a:p>
            </p:txBody>
          </p:sp>
          <p:sp>
            <p:nvSpPr>
              <p:cNvPr id="36915" name="Rectangle 116">
                <a:extLst>
                  <a:ext uri="{FF2B5EF4-FFF2-40B4-BE49-F238E27FC236}">
                    <a16:creationId xmlns:a16="http://schemas.microsoft.com/office/drawing/2014/main" id="{79752402-FBA5-BB47-8F9F-72D04FC7A4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06" y="1056"/>
                <a:ext cx="442" cy="2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1800">
                    <a:latin typeface="Times New Roman" panose="02020603050405020304" pitchFamily="18" charset="0"/>
                    <a:ea typeface="宋体" panose="02010600030101010101" pitchFamily="2" charset="-122"/>
                  </a:rPr>
                  <a:t>5</a:t>
                </a:r>
                <a:r>
                  <a:rPr lang="zh-CN" altLang="en-US" b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 </a:t>
                </a:r>
                <a:r>
                  <a:rPr lang="en-US" altLang="zh-CN" sz="1800">
                    <a:latin typeface="Times New Roman" panose="02020603050405020304" pitchFamily="18" charset="0"/>
                    <a:ea typeface="宋体" panose="02010600030101010101" pitchFamily="2" charset="-122"/>
                  </a:rPr>
                  <a:t>bits</a:t>
                </a:r>
              </a:p>
            </p:txBody>
          </p:sp>
          <p:sp>
            <p:nvSpPr>
              <p:cNvPr id="36916" name="Rectangle 117">
                <a:extLst>
                  <a:ext uri="{FF2B5EF4-FFF2-40B4-BE49-F238E27FC236}">
                    <a16:creationId xmlns:a16="http://schemas.microsoft.com/office/drawing/2014/main" id="{64DD72E2-F778-7547-8098-5766622DA1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18" y="1056"/>
                <a:ext cx="446" cy="2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1800">
                    <a:latin typeface="Times New Roman" panose="02020603050405020304" pitchFamily="18" charset="0"/>
                    <a:ea typeface="宋体" panose="02010600030101010101" pitchFamily="2" charset="-122"/>
                  </a:rPr>
                  <a:t>5 </a:t>
                </a:r>
                <a:r>
                  <a:rPr lang="en-US" altLang="zh-CN" sz="1800">
                    <a:latin typeface="Times New Roman" panose="02020603050405020304" pitchFamily="18" charset="0"/>
                    <a:ea typeface="宋体" panose="02010600030101010101" pitchFamily="2" charset="-122"/>
                  </a:rPr>
                  <a:t>bits</a:t>
                </a:r>
              </a:p>
            </p:txBody>
          </p:sp>
          <p:sp>
            <p:nvSpPr>
              <p:cNvPr id="36917" name="Rectangle 118">
                <a:extLst>
                  <a:ext uri="{FF2B5EF4-FFF2-40B4-BE49-F238E27FC236}">
                    <a16:creationId xmlns:a16="http://schemas.microsoft.com/office/drawing/2014/main" id="{B119A59E-2585-2047-B576-A6F6A48E86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31" y="1056"/>
                <a:ext cx="446" cy="2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1800">
                    <a:latin typeface="Times New Roman" panose="02020603050405020304" pitchFamily="18" charset="0"/>
                    <a:ea typeface="宋体" panose="02010600030101010101" pitchFamily="2" charset="-122"/>
                  </a:rPr>
                  <a:t>5 </a:t>
                </a:r>
                <a:r>
                  <a:rPr lang="en-US" altLang="zh-CN" sz="1800">
                    <a:latin typeface="Times New Roman" panose="02020603050405020304" pitchFamily="18" charset="0"/>
                    <a:ea typeface="宋体" panose="02010600030101010101" pitchFamily="2" charset="-122"/>
                  </a:rPr>
                  <a:t>bits</a:t>
                </a:r>
              </a:p>
            </p:txBody>
          </p:sp>
        </p:grpSp>
        <p:sp>
          <p:nvSpPr>
            <p:cNvPr id="36910" name="Text Box 119">
              <a:extLst>
                <a:ext uri="{FF2B5EF4-FFF2-40B4-BE49-F238E27FC236}">
                  <a16:creationId xmlns:a16="http://schemas.microsoft.com/office/drawing/2014/main" id="{F1A6C112-C969-9441-8271-AF25B922B1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76" y="523"/>
              <a:ext cx="1243" cy="2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3500" tIns="25400" rIns="63500" bIns="2540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80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R-Type</a:t>
              </a:r>
              <a:r>
                <a:rPr lang="zh-CN" altLang="en-US" sz="180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指令</a:t>
              </a:r>
            </a:p>
          </p:txBody>
        </p:sp>
      </p:grpSp>
      <p:grpSp>
        <p:nvGrpSpPr>
          <p:cNvPr id="13" name="Group 120">
            <a:extLst>
              <a:ext uri="{FF2B5EF4-FFF2-40B4-BE49-F238E27FC236}">
                <a16:creationId xmlns:a16="http://schemas.microsoft.com/office/drawing/2014/main" id="{7C388353-5816-7144-98C7-D676967B333A}"/>
              </a:ext>
            </a:extLst>
          </p:cNvPr>
          <p:cNvGrpSpPr>
            <a:grpSpLocks/>
          </p:cNvGrpSpPr>
          <p:nvPr/>
        </p:nvGrpSpPr>
        <p:grpSpPr bwMode="auto">
          <a:xfrm>
            <a:off x="2813050" y="1951038"/>
            <a:ext cx="5962650" cy="1147762"/>
            <a:chOff x="1889" y="2607"/>
            <a:chExt cx="3756" cy="723"/>
          </a:xfrm>
        </p:grpSpPr>
        <p:grpSp>
          <p:nvGrpSpPr>
            <p:cNvPr id="36886" name="Group 121">
              <a:extLst>
                <a:ext uri="{FF2B5EF4-FFF2-40B4-BE49-F238E27FC236}">
                  <a16:creationId xmlns:a16="http://schemas.microsoft.com/office/drawing/2014/main" id="{44F07833-FB64-A244-84FE-7F333E731B1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89" y="2717"/>
              <a:ext cx="3756" cy="613"/>
              <a:chOff x="1918" y="1392"/>
              <a:chExt cx="3756" cy="613"/>
            </a:xfrm>
          </p:grpSpPr>
          <p:sp>
            <p:nvSpPr>
              <p:cNvPr id="36888" name="Rectangle 122">
                <a:extLst>
                  <a:ext uri="{FF2B5EF4-FFF2-40B4-BE49-F238E27FC236}">
                    <a16:creationId xmlns:a16="http://schemas.microsoft.com/office/drawing/2014/main" id="{44FB1862-A308-C94B-AA63-A589FB7964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83" y="1592"/>
                <a:ext cx="3599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 sz="800">
                  <a:solidFill>
                    <a:schemeClr val="accent2"/>
                  </a:solidFill>
                  <a:ea typeface="宋体" panose="02010600030101010101" pitchFamily="2" charset="-122"/>
                </a:endParaRPr>
              </a:p>
            </p:txBody>
          </p:sp>
          <p:grpSp>
            <p:nvGrpSpPr>
              <p:cNvPr id="36889" name="Group 123">
                <a:extLst>
                  <a:ext uri="{FF2B5EF4-FFF2-40B4-BE49-F238E27FC236}">
                    <a16:creationId xmlns:a16="http://schemas.microsoft.com/office/drawing/2014/main" id="{AB6540CF-6012-374B-A15C-C8112FFDE32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79" y="1556"/>
                <a:ext cx="624" cy="229"/>
                <a:chOff x="1979" y="1556"/>
                <a:chExt cx="624" cy="229"/>
              </a:xfrm>
            </p:grpSpPr>
            <p:sp>
              <p:nvSpPr>
                <p:cNvPr id="36907" name="Rectangle 124">
                  <a:extLst>
                    <a:ext uri="{FF2B5EF4-FFF2-40B4-BE49-F238E27FC236}">
                      <a16:creationId xmlns:a16="http://schemas.microsoft.com/office/drawing/2014/main" id="{3FFC07E4-7625-414C-BC08-3CB573C098E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79" y="1588"/>
                  <a:ext cx="624" cy="184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zh-CN" altLang="en-US" sz="800">
                    <a:solidFill>
                      <a:schemeClr val="accent2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6908" name="Rectangle 125">
                  <a:extLst>
                    <a:ext uri="{FF2B5EF4-FFF2-40B4-BE49-F238E27FC236}">
                      <a16:creationId xmlns:a16="http://schemas.microsoft.com/office/drawing/2014/main" id="{C7B7BF92-77D2-EE43-806B-409EB293880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80" y="1556"/>
                  <a:ext cx="266" cy="22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r>
                    <a:rPr lang="en-US" altLang="zh-CN" sz="180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op</a:t>
                  </a:r>
                </a:p>
              </p:txBody>
            </p:sp>
          </p:grpSp>
          <p:grpSp>
            <p:nvGrpSpPr>
              <p:cNvPr id="36890" name="Group 126">
                <a:extLst>
                  <a:ext uri="{FF2B5EF4-FFF2-40B4-BE49-F238E27FC236}">
                    <a16:creationId xmlns:a16="http://schemas.microsoft.com/office/drawing/2014/main" id="{76F0592D-3324-7E45-A90B-B5EC0A6CFC0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611" y="1556"/>
                <a:ext cx="580" cy="229"/>
                <a:chOff x="2611" y="1556"/>
                <a:chExt cx="580" cy="229"/>
              </a:xfrm>
            </p:grpSpPr>
            <p:sp>
              <p:nvSpPr>
                <p:cNvPr id="36905" name="Rectangle 127">
                  <a:extLst>
                    <a:ext uri="{FF2B5EF4-FFF2-40B4-BE49-F238E27FC236}">
                      <a16:creationId xmlns:a16="http://schemas.microsoft.com/office/drawing/2014/main" id="{EE7F6865-50DF-1048-87B4-DB0FF70A29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11" y="1588"/>
                  <a:ext cx="580" cy="184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zh-CN" altLang="en-US" sz="800">
                    <a:solidFill>
                      <a:schemeClr val="accent2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6906" name="Rectangle 128">
                  <a:extLst>
                    <a:ext uri="{FF2B5EF4-FFF2-40B4-BE49-F238E27FC236}">
                      <a16:creationId xmlns:a16="http://schemas.microsoft.com/office/drawing/2014/main" id="{DA93F049-5529-8E46-8162-B47564E8E8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95" y="1556"/>
                  <a:ext cx="234" cy="22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r>
                    <a:rPr lang="en-US" altLang="zh-CN" sz="180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rs</a:t>
                  </a:r>
                </a:p>
              </p:txBody>
            </p:sp>
          </p:grpSp>
          <p:grpSp>
            <p:nvGrpSpPr>
              <p:cNvPr id="36891" name="Group 129">
                <a:extLst>
                  <a:ext uri="{FF2B5EF4-FFF2-40B4-BE49-F238E27FC236}">
                    <a16:creationId xmlns:a16="http://schemas.microsoft.com/office/drawing/2014/main" id="{C554BC84-8CD5-A247-B8E9-8A247B23BC5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99" y="1556"/>
                <a:ext cx="579" cy="229"/>
                <a:chOff x="3199" y="1556"/>
                <a:chExt cx="579" cy="229"/>
              </a:xfrm>
            </p:grpSpPr>
            <p:sp>
              <p:nvSpPr>
                <p:cNvPr id="36903" name="Rectangle 130">
                  <a:extLst>
                    <a:ext uri="{FF2B5EF4-FFF2-40B4-BE49-F238E27FC236}">
                      <a16:creationId xmlns:a16="http://schemas.microsoft.com/office/drawing/2014/main" id="{24E5495A-6234-F444-82CD-C65B6ACAAE0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99" y="1588"/>
                  <a:ext cx="579" cy="184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zh-CN" altLang="en-US" sz="800">
                    <a:solidFill>
                      <a:schemeClr val="accent2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6904" name="Rectangle 131">
                  <a:extLst>
                    <a:ext uri="{FF2B5EF4-FFF2-40B4-BE49-F238E27FC236}">
                      <a16:creationId xmlns:a16="http://schemas.microsoft.com/office/drawing/2014/main" id="{210D9A9F-D7F8-074E-AAA0-011843349DC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82" y="1556"/>
                  <a:ext cx="226" cy="22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r>
                    <a:rPr lang="en-US" altLang="zh-CN" sz="180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rt</a:t>
                  </a:r>
                </a:p>
              </p:txBody>
            </p:sp>
          </p:grpSp>
          <p:sp>
            <p:nvSpPr>
              <p:cNvPr id="36892" name="Rectangle 132">
                <a:extLst>
                  <a:ext uri="{FF2B5EF4-FFF2-40B4-BE49-F238E27FC236}">
                    <a16:creationId xmlns:a16="http://schemas.microsoft.com/office/drawing/2014/main" id="{5F63D7A4-5BA9-6040-BFD8-AD07AE1AF0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86" y="1588"/>
                <a:ext cx="1800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 sz="800">
                  <a:solidFill>
                    <a:schemeClr val="accent2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36893" name="Rectangle 133">
                <a:extLst>
                  <a:ext uri="{FF2B5EF4-FFF2-40B4-BE49-F238E27FC236}">
                    <a16:creationId xmlns:a16="http://schemas.microsoft.com/office/drawing/2014/main" id="{B1F46FDC-109B-E047-A3E0-C18651A787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8" y="1556"/>
                <a:ext cx="762" cy="2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800">
                    <a:latin typeface="Times New Roman" panose="02020603050405020304" pitchFamily="18" charset="0"/>
                    <a:ea typeface="宋体" panose="02010600030101010101" pitchFamily="2" charset="-122"/>
                  </a:rPr>
                  <a:t>immediate</a:t>
                </a:r>
              </a:p>
            </p:txBody>
          </p:sp>
          <p:sp>
            <p:nvSpPr>
              <p:cNvPr id="36894" name="Rectangle 134">
                <a:extLst>
                  <a:ext uri="{FF2B5EF4-FFF2-40B4-BE49-F238E27FC236}">
                    <a16:creationId xmlns:a16="http://schemas.microsoft.com/office/drawing/2014/main" id="{32D4F3A2-01B5-684D-9580-2D25522B91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88" y="1392"/>
                <a:ext cx="186" cy="2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1800">
                    <a:latin typeface="Times New Roman" panose="02020603050405020304" pitchFamily="18" charset="0"/>
                    <a:ea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36895" name="Rectangle 135">
                <a:extLst>
                  <a:ext uri="{FF2B5EF4-FFF2-40B4-BE49-F238E27FC236}">
                    <a16:creationId xmlns:a16="http://schemas.microsoft.com/office/drawing/2014/main" id="{C6D02055-F571-6B40-B4D3-FD152D83DC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90" y="1392"/>
                <a:ext cx="258" cy="2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1800">
                    <a:latin typeface="Times New Roman" panose="02020603050405020304" pitchFamily="18" charset="0"/>
                    <a:ea typeface="宋体" panose="02010600030101010101" pitchFamily="2" charset="-122"/>
                  </a:rPr>
                  <a:t>16</a:t>
                </a:r>
              </a:p>
            </p:txBody>
          </p:sp>
          <p:sp>
            <p:nvSpPr>
              <p:cNvPr id="36896" name="Rectangle 136">
                <a:extLst>
                  <a:ext uri="{FF2B5EF4-FFF2-40B4-BE49-F238E27FC236}">
                    <a16:creationId xmlns:a16="http://schemas.microsoft.com/office/drawing/2014/main" id="{E6AA3024-9CDA-864C-AE66-54D2F42C37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02" y="1392"/>
                <a:ext cx="258" cy="2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1800">
                    <a:latin typeface="Times New Roman" panose="02020603050405020304" pitchFamily="18" charset="0"/>
                    <a:ea typeface="宋体" panose="02010600030101010101" pitchFamily="2" charset="-122"/>
                  </a:rPr>
                  <a:t>21</a:t>
                </a:r>
              </a:p>
            </p:txBody>
          </p:sp>
          <p:sp>
            <p:nvSpPr>
              <p:cNvPr id="36897" name="Rectangle 137">
                <a:extLst>
                  <a:ext uri="{FF2B5EF4-FFF2-40B4-BE49-F238E27FC236}">
                    <a16:creationId xmlns:a16="http://schemas.microsoft.com/office/drawing/2014/main" id="{BCCE74D6-F460-1C4F-A7D4-BCC480DFF5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14" y="1392"/>
                <a:ext cx="258" cy="2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1800">
                    <a:latin typeface="Times New Roman" panose="02020603050405020304" pitchFamily="18" charset="0"/>
                    <a:ea typeface="宋体" panose="02010600030101010101" pitchFamily="2" charset="-122"/>
                  </a:rPr>
                  <a:t>26</a:t>
                </a:r>
              </a:p>
            </p:txBody>
          </p:sp>
          <p:sp>
            <p:nvSpPr>
              <p:cNvPr id="36898" name="Rectangle 138">
                <a:extLst>
                  <a:ext uri="{FF2B5EF4-FFF2-40B4-BE49-F238E27FC236}">
                    <a16:creationId xmlns:a16="http://schemas.microsoft.com/office/drawing/2014/main" id="{E154BEA5-A2C2-C34C-84A7-BE563874DB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18" y="1392"/>
                <a:ext cx="258" cy="2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1800">
                    <a:latin typeface="Times New Roman" panose="02020603050405020304" pitchFamily="18" charset="0"/>
                    <a:ea typeface="宋体" panose="02010600030101010101" pitchFamily="2" charset="-122"/>
                  </a:rPr>
                  <a:t>31</a:t>
                </a:r>
              </a:p>
            </p:txBody>
          </p:sp>
          <p:sp>
            <p:nvSpPr>
              <p:cNvPr id="36899" name="Rectangle 139">
                <a:extLst>
                  <a:ext uri="{FF2B5EF4-FFF2-40B4-BE49-F238E27FC236}">
                    <a16:creationId xmlns:a16="http://schemas.microsoft.com/office/drawing/2014/main" id="{03082C67-2181-2F4D-BE12-A87D98263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43" y="1776"/>
                <a:ext cx="446" cy="2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1800">
                    <a:latin typeface="Times New Roman" panose="02020603050405020304" pitchFamily="18" charset="0"/>
                    <a:ea typeface="宋体" panose="02010600030101010101" pitchFamily="2" charset="-122"/>
                  </a:rPr>
                  <a:t>6 </a:t>
                </a:r>
                <a:r>
                  <a:rPr lang="en-US" altLang="zh-CN" sz="1800">
                    <a:latin typeface="Times New Roman" panose="02020603050405020304" pitchFamily="18" charset="0"/>
                    <a:ea typeface="宋体" panose="02010600030101010101" pitchFamily="2" charset="-122"/>
                  </a:rPr>
                  <a:t>bits</a:t>
                </a:r>
              </a:p>
            </p:txBody>
          </p:sp>
          <p:sp>
            <p:nvSpPr>
              <p:cNvPr id="36900" name="Rectangle 140">
                <a:extLst>
                  <a:ext uri="{FF2B5EF4-FFF2-40B4-BE49-F238E27FC236}">
                    <a16:creationId xmlns:a16="http://schemas.microsoft.com/office/drawing/2014/main" id="{F1EABC81-A157-294B-98F3-22C0AA5EBA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" y="1776"/>
                <a:ext cx="518" cy="2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1800">
                    <a:latin typeface="Times New Roman" panose="02020603050405020304" pitchFamily="18" charset="0"/>
                    <a:ea typeface="宋体" panose="02010600030101010101" pitchFamily="2" charset="-122"/>
                  </a:rPr>
                  <a:t>16 </a:t>
                </a:r>
                <a:r>
                  <a:rPr lang="en-US" altLang="zh-CN" sz="1800">
                    <a:latin typeface="Times New Roman" panose="02020603050405020304" pitchFamily="18" charset="0"/>
                    <a:ea typeface="宋体" panose="02010600030101010101" pitchFamily="2" charset="-122"/>
                  </a:rPr>
                  <a:t>bits</a:t>
                </a:r>
              </a:p>
            </p:txBody>
          </p:sp>
          <p:sp>
            <p:nvSpPr>
              <p:cNvPr id="36901" name="Rectangle 141">
                <a:extLst>
                  <a:ext uri="{FF2B5EF4-FFF2-40B4-BE49-F238E27FC236}">
                    <a16:creationId xmlns:a16="http://schemas.microsoft.com/office/drawing/2014/main" id="{22712480-0679-2140-A242-81731102FD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18" y="1776"/>
                <a:ext cx="446" cy="2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1800">
                    <a:latin typeface="Times New Roman" panose="02020603050405020304" pitchFamily="18" charset="0"/>
                    <a:ea typeface="宋体" panose="02010600030101010101" pitchFamily="2" charset="-122"/>
                  </a:rPr>
                  <a:t>5 </a:t>
                </a:r>
                <a:r>
                  <a:rPr lang="en-US" altLang="zh-CN" sz="1800">
                    <a:latin typeface="Times New Roman" panose="02020603050405020304" pitchFamily="18" charset="0"/>
                    <a:ea typeface="宋体" panose="02010600030101010101" pitchFamily="2" charset="-122"/>
                  </a:rPr>
                  <a:t>bits</a:t>
                </a:r>
              </a:p>
            </p:txBody>
          </p:sp>
          <p:sp>
            <p:nvSpPr>
              <p:cNvPr id="36902" name="Rectangle 142">
                <a:extLst>
                  <a:ext uri="{FF2B5EF4-FFF2-40B4-BE49-F238E27FC236}">
                    <a16:creationId xmlns:a16="http://schemas.microsoft.com/office/drawing/2014/main" id="{F47BE660-9BD5-3B40-9012-45AA5503D4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31" y="1776"/>
                <a:ext cx="446" cy="2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1800">
                    <a:latin typeface="Times New Roman" panose="02020603050405020304" pitchFamily="18" charset="0"/>
                    <a:ea typeface="宋体" panose="02010600030101010101" pitchFamily="2" charset="-122"/>
                  </a:rPr>
                  <a:t>5 </a:t>
                </a:r>
                <a:r>
                  <a:rPr lang="en-US" altLang="zh-CN" sz="1800">
                    <a:latin typeface="Times New Roman" panose="02020603050405020304" pitchFamily="18" charset="0"/>
                    <a:ea typeface="宋体" panose="02010600030101010101" pitchFamily="2" charset="-122"/>
                  </a:rPr>
                  <a:t>bits</a:t>
                </a:r>
              </a:p>
            </p:txBody>
          </p:sp>
        </p:grpSp>
        <p:sp>
          <p:nvSpPr>
            <p:cNvPr id="36887" name="Text Box 143">
              <a:extLst>
                <a:ext uri="{FF2B5EF4-FFF2-40B4-BE49-F238E27FC236}">
                  <a16:creationId xmlns:a16="http://schemas.microsoft.com/office/drawing/2014/main" id="{C387C753-D0FE-5947-ABC7-6A17B51D53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12" y="2607"/>
              <a:ext cx="1243" cy="2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3500" tIns="25400" rIns="63500" bIns="2540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80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I-Type</a:t>
              </a:r>
              <a:r>
                <a:rPr lang="zh-CN" altLang="en-US" sz="180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指令</a:t>
              </a:r>
            </a:p>
          </p:txBody>
        </p:sp>
      </p:grpSp>
      <p:grpSp>
        <p:nvGrpSpPr>
          <p:cNvPr id="18" name="Group 144">
            <a:extLst>
              <a:ext uri="{FF2B5EF4-FFF2-40B4-BE49-F238E27FC236}">
                <a16:creationId xmlns:a16="http://schemas.microsoft.com/office/drawing/2014/main" id="{D1F15F48-9554-224D-A57B-E9301FEEC261}"/>
              </a:ext>
            </a:extLst>
          </p:cNvPr>
          <p:cNvGrpSpPr>
            <a:grpSpLocks/>
          </p:cNvGrpSpPr>
          <p:nvPr/>
        </p:nvGrpSpPr>
        <p:grpSpPr bwMode="auto">
          <a:xfrm>
            <a:off x="2774950" y="3036888"/>
            <a:ext cx="5962650" cy="1044575"/>
            <a:chOff x="1886" y="3544"/>
            <a:chExt cx="3756" cy="658"/>
          </a:xfrm>
        </p:grpSpPr>
        <p:grpSp>
          <p:nvGrpSpPr>
            <p:cNvPr id="36873" name="Group 145">
              <a:extLst>
                <a:ext uri="{FF2B5EF4-FFF2-40B4-BE49-F238E27FC236}">
                  <a16:creationId xmlns:a16="http://schemas.microsoft.com/office/drawing/2014/main" id="{440B0F41-800F-1E47-BAC8-5DCCC87539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86" y="3589"/>
              <a:ext cx="3756" cy="613"/>
              <a:chOff x="1918" y="3360"/>
              <a:chExt cx="3756" cy="613"/>
            </a:xfrm>
          </p:grpSpPr>
          <p:sp>
            <p:nvSpPr>
              <p:cNvPr id="36875" name="Rectangle 146">
                <a:extLst>
                  <a:ext uri="{FF2B5EF4-FFF2-40B4-BE49-F238E27FC236}">
                    <a16:creationId xmlns:a16="http://schemas.microsoft.com/office/drawing/2014/main" id="{869247C6-7001-8F42-83DC-2EF9E2B70E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83" y="3560"/>
                <a:ext cx="3599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 sz="800">
                  <a:solidFill>
                    <a:schemeClr val="accent2"/>
                  </a:solidFill>
                  <a:ea typeface="宋体" panose="02010600030101010101" pitchFamily="2" charset="-122"/>
                </a:endParaRPr>
              </a:p>
            </p:txBody>
          </p:sp>
          <p:grpSp>
            <p:nvGrpSpPr>
              <p:cNvPr id="36876" name="Group 147">
                <a:extLst>
                  <a:ext uri="{FF2B5EF4-FFF2-40B4-BE49-F238E27FC236}">
                    <a16:creationId xmlns:a16="http://schemas.microsoft.com/office/drawing/2014/main" id="{68CBC377-9D8F-194E-B7D9-7C50738642A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79" y="3524"/>
                <a:ext cx="624" cy="229"/>
                <a:chOff x="1979" y="3524"/>
                <a:chExt cx="624" cy="229"/>
              </a:xfrm>
            </p:grpSpPr>
            <p:sp>
              <p:nvSpPr>
                <p:cNvPr id="36884" name="Rectangle 148">
                  <a:extLst>
                    <a:ext uri="{FF2B5EF4-FFF2-40B4-BE49-F238E27FC236}">
                      <a16:creationId xmlns:a16="http://schemas.microsoft.com/office/drawing/2014/main" id="{3C45F051-A587-E941-8D39-C6313B81E5A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79" y="3556"/>
                  <a:ext cx="624" cy="184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zh-CN" altLang="en-US" sz="800">
                    <a:solidFill>
                      <a:schemeClr val="accent2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6885" name="Rectangle 149">
                  <a:extLst>
                    <a:ext uri="{FF2B5EF4-FFF2-40B4-BE49-F238E27FC236}">
                      <a16:creationId xmlns:a16="http://schemas.microsoft.com/office/drawing/2014/main" id="{89DD17E7-4C90-1943-BFC5-0391922B43D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61" y="3524"/>
                  <a:ext cx="266" cy="22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r>
                    <a:rPr lang="en-US" altLang="zh-CN" sz="180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op</a:t>
                  </a:r>
                </a:p>
              </p:txBody>
            </p:sp>
          </p:grpSp>
          <p:sp>
            <p:nvSpPr>
              <p:cNvPr id="36877" name="Rectangle 150">
                <a:extLst>
                  <a:ext uri="{FF2B5EF4-FFF2-40B4-BE49-F238E27FC236}">
                    <a16:creationId xmlns:a16="http://schemas.microsoft.com/office/drawing/2014/main" id="{7AC34C73-7EE1-064B-A499-3AE12BCDA9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11" y="3556"/>
                <a:ext cx="2975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 sz="800">
                  <a:solidFill>
                    <a:schemeClr val="accent2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36878" name="Rectangle 151">
                <a:extLst>
                  <a:ext uri="{FF2B5EF4-FFF2-40B4-BE49-F238E27FC236}">
                    <a16:creationId xmlns:a16="http://schemas.microsoft.com/office/drawing/2014/main" id="{4F9A5272-FA55-4642-B8F2-39B70D5916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4" y="3524"/>
                <a:ext cx="990" cy="2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800">
                    <a:latin typeface="Times New Roman" panose="02020603050405020304" pitchFamily="18" charset="0"/>
                    <a:ea typeface="宋体" panose="02010600030101010101" pitchFamily="2" charset="-122"/>
                  </a:rPr>
                  <a:t>target address</a:t>
                </a:r>
              </a:p>
            </p:txBody>
          </p:sp>
          <p:sp>
            <p:nvSpPr>
              <p:cNvPr id="36879" name="Rectangle 152">
                <a:extLst>
                  <a:ext uri="{FF2B5EF4-FFF2-40B4-BE49-F238E27FC236}">
                    <a16:creationId xmlns:a16="http://schemas.microsoft.com/office/drawing/2014/main" id="{A6F566D1-76BF-EA46-BE8C-A53AF15374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88" y="3360"/>
                <a:ext cx="186" cy="2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1800">
                    <a:latin typeface="Times New Roman" panose="02020603050405020304" pitchFamily="18" charset="0"/>
                    <a:ea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36880" name="Rectangle 153">
                <a:extLst>
                  <a:ext uri="{FF2B5EF4-FFF2-40B4-BE49-F238E27FC236}">
                    <a16:creationId xmlns:a16="http://schemas.microsoft.com/office/drawing/2014/main" id="{3E3485C5-47A3-F441-B278-9A765F9A86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14" y="3360"/>
                <a:ext cx="258" cy="2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1800">
                    <a:latin typeface="Times New Roman" panose="02020603050405020304" pitchFamily="18" charset="0"/>
                    <a:ea typeface="宋体" panose="02010600030101010101" pitchFamily="2" charset="-122"/>
                  </a:rPr>
                  <a:t>26</a:t>
                </a:r>
              </a:p>
            </p:txBody>
          </p:sp>
          <p:sp>
            <p:nvSpPr>
              <p:cNvPr id="36881" name="Rectangle 154">
                <a:extLst>
                  <a:ext uri="{FF2B5EF4-FFF2-40B4-BE49-F238E27FC236}">
                    <a16:creationId xmlns:a16="http://schemas.microsoft.com/office/drawing/2014/main" id="{8AC4179E-3D04-9444-8D14-467FCE370F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18" y="3360"/>
                <a:ext cx="258" cy="2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1800">
                    <a:latin typeface="Times New Roman" panose="02020603050405020304" pitchFamily="18" charset="0"/>
                    <a:ea typeface="宋体" panose="02010600030101010101" pitchFamily="2" charset="-122"/>
                  </a:rPr>
                  <a:t>31</a:t>
                </a:r>
              </a:p>
            </p:txBody>
          </p:sp>
          <p:sp>
            <p:nvSpPr>
              <p:cNvPr id="36882" name="Rectangle 155">
                <a:extLst>
                  <a:ext uri="{FF2B5EF4-FFF2-40B4-BE49-F238E27FC236}">
                    <a16:creationId xmlns:a16="http://schemas.microsoft.com/office/drawing/2014/main" id="{8890DF9B-A5A1-8743-8190-E383F3001A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43" y="3744"/>
                <a:ext cx="446" cy="2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1800">
                    <a:latin typeface="Times New Roman" panose="02020603050405020304" pitchFamily="18" charset="0"/>
                    <a:ea typeface="宋体" panose="02010600030101010101" pitchFamily="2" charset="-122"/>
                  </a:rPr>
                  <a:t>6 </a:t>
                </a:r>
                <a:r>
                  <a:rPr lang="en-US" altLang="zh-CN" sz="1800">
                    <a:latin typeface="Times New Roman" panose="02020603050405020304" pitchFamily="18" charset="0"/>
                    <a:ea typeface="宋体" panose="02010600030101010101" pitchFamily="2" charset="-122"/>
                  </a:rPr>
                  <a:t>bits</a:t>
                </a:r>
              </a:p>
            </p:txBody>
          </p:sp>
          <p:sp>
            <p:nvSpPr>
              <p:cNvPr id="36883" name="Rectangle 156">
                <a:extLst>
                  <a:ext uri="{FF2B5EF4-FFF2-40B4-BE49-F238E27FC236}">
                    <a16:creationId xmlns:a16="http://schemas.microsoft.com/office/drawing/2014/main" id="{A7876108-828B-7F4F-B127-E8064F8CEC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16" y="3744"/>
                <a:ext cx="514" cy="2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1800">
                    <a:latin typeface="Times New Roman" panose="02020603050405020304" pitchFamily="18" charset="0"/>
                    <a:ea typeface="宋体" panose="02010600030101010101" pitchFamily="2" charset="-122"/>
                  </a:rPr>
                  <a:t>26</a:t>
                </a:r>
                <a:r>
                  <a:rPr lang="zh-CN" altLang="en-US" b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 </a:t>
                </a:r>
                <a:r>
                  <a:rPr lang="en-US" altLang="zh-CN" sz="1800">
                    <a:latin typeface="Times New Roman" panose="02020603050405020304" pitchFamily="18" charset="0"/>
                    <a:ea typeface="宋体" panose="02010600030101010101" pitchFamily="2" charset="-122"/>
                  </a:rPr>
                  <a:t>bits</a:t>
                </a:r>
              </a:p>
            </p:txBody>
          </p:sp>
        </p:grpSp>
        <p:sp>
          <p:nvSpPr>
            <p:cNvPr id="36874" name="Text Box 157">
              <a:extLst>
                <a:ext uri="{FF2B5EF4-FFF2-40B4-BE49-F238E27FC236}">
                  <a16:creationId xmlns:a16="http://schemas.microsoft.com/office/drawing/2014/main" id="{F58A0B0A-7352-8248-8623-D725E5F141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38" y="3544"/>
              <a:ext cx="1243" cy="2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3500" tIns="25400" rIns="63500" bIns="2540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80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J-Type</a:t>
              </a:r>
              <a:r>
                <a:rPr lang="zh-CN" altLang="en-US" sz="180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指令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67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7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26BFFC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67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7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26BFFC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67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7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26BFFC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67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7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26BFFC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3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267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7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26BFFC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267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7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26BFFC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267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7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26BFFC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4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267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7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26BFFC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2672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72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26BFFC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267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2672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72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26BFFC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26726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726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26BFFC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267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7344" grpId="0"/>
      <p:bldP spid="267345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5"/>
</p:tagLst>
</file>

<file path=ppt/theme/theme1.xml><?xml version="1.0" encoding="utf-8"?>
<a:theme xmlns:a="http://schemas.openxmlformats.org/drawingml/2006/main" name="lecture1">
  <a:themeElements>
    <a:clrScheme name="">
      <a:dk1>
        <a:srgbClr val="000000"/>
      </a:dk1>
      <a:lt1>
        <a:srgbClr val="FFFFFF"/>
      </a:lt1>
      <a:dk2>
        <a:srgbClr val="081D58"/>
      </a:dk2>
      <a:lt2>
        <a:srgbClr val="919191"/>
      </a:lt2>
      <a:accent1>
        <a:srgbClr val="FC0128"/>
      </a:accent1>
      <a:accent2>
        <a:srgbClr val="063DE8"/>
      </a:accent2>
      <a:accent3>
        <a:srgbClr val="FFFFFF"/>
      </a:accent3>
      <a:accent4>
        <a:srgbClr val="000000"/>
      </a:accent4>
      <a:accent5>
        <a:srgbClr val="FDAAAC"/>
      </a:accent5>
      <a:accent6>
        <a:srgbClr val="0536D2"/>
      </a:accent6>
      <a:hlink>
        <a:srgbClr val="00DFCA"/>
      </a:hlink>
      <a:folHlink>
        <a:srgbClr val="EAEC5E"/>
      </a:folHlink>
    </a:clrScheme>
    <a:fontScheme name="lecture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50800" cap="flat" cmpd="sng" algn="ctr">
          <a:solidFill>
            <a:srgbClr val="FE9AAB"/>
          </a:solidFill>
          <a:prstDash val="solid"/>
          <a:round/>
          <a:headEnd type="triangl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50800" cap="flat" cmpd="sng" algn="ctr">
          <a:solidFill>
            <a:srgbClr val="FE9AAB"/>
          </a:solidFill>
          <a:prstDash val="solid"/>
          <a:round/>
          <a:headEnd type="triangl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lecture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1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1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1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1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1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1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81D58"/>
      </a:dk2>
      <a:lt2>
        <a:srgbClr val="919191"/>
      </a:lt2>
      <a:accent1>
        <a:srgbClr val="FC0128"/>
      </a:accent1>
      <a:accent2>
        <a:srgbClr val="063DE8"/>
      </a:accent2>
      <a:accent3>
        <a:srgbClr val="FFFFFF"/>
      </a:accent3>
      <a:accent4>
        <a:srgbClr val="000000"/>
      </a:accent4>
      <a:accent5>
        <a:srgbClr val="FDAAAC"/>
      </a:accent5>
      <a:accent6>
        <a:srgbClr val="0536D2"/>
      </a:accent6>
      <a:hlink>
        <a:srgbClr val="00DFCA"/>
      </a:hlink>
      <a:folHlink>
        <a:srgbClr val="EAEC5E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81D58"/>
      </a:dk2>
      <a:lt2>
        <a:srgbClr val="919191"/>
      </a:lt2>
      <a:accent1>
        <a:srgbClr val="FC0128"/>
      </a:accent1>
      <a:accent2>
        <a:srgbClr val="063DE8"/>
      </a:accent2>
      <a:accent3>
        <a:srgbClr val="FFFFFF"/>
      </a:accent3>
      <a:accent4>
        <a:srgbClr val="000000"/>
      </a:accent4>
      <a:accent5>
        <a:srgbClr val="FDAAAC"/>
      </a:accent5>
      <a:accent6>
        <a:srgbClr val="0536D2"/>
      </a:accent6>
      <a:hlink>
        <a:srgbClr val="00DFCA"/>
      </a:hlink>
      <a:folHlink>
        <a:srgbClr val="EAEC5E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Macintosh HD:User Folder:C152 Spring95:lecture1</Template>
  <TotalTime>2184127909</TotalTime>
  <Pages>40</Pages>
  <Words>2732</Words>
  <Application>Microsoft Macintosh PowerPoint</Application>
  <PresentationFormat>全屏显示(4:3)</PresentationFormat>
  <Paragraphs>499</Paragraphs>
  <Slides>21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8" baseType="lpstr">
      <vt:lpstr>黑体</vt:lpstr>
      <vt:lpstr>微软雅黑</vt:lpstr>
      <vt:lpstr>Arial</vt:lpstr>
      <vt:lpstr>Monotype Sorts</vt:lpstr>
      <vt:lpstr>Times New Roman</vt:lpstr>
      <vt:lpstr>Wingdings</vt:lpstr>
      <vt:lpstr>lecture1</vt:lpstr>
      <vt:lpstr>PowerPoint 演示文稿</vt:lpstr>
      <vt:lpstr>第一讲 数据通路概述与MIPS指令系统</vt:lpstr>
      <vt:lpstr>CPU功能及其与计算机性能的关系</vt:lpstr>
      <vt:lpstr>组成指令功能的四种基本操作</vt:lpstr>
      <vt:lpstr>CPU基本组成原理图</vt:lpstr>
      <vt:lpstr>数据通路的位置</vt:lpstr>
      <vt:lpstr>数据通路的基本结构</vt:lpstr>
      <vt:lpstr>操作元件：组合逻辑电路</vt:lpstr>
      <vt:lpstr>状态元件：时序逻辑电路</vt:lpstr>
      <vt:lpstr>存储元件中何时状态被改变？</vt:lpstr>
      <vt:lpstr>存储元件: 寄存器和寄存器组</vt:lpstr>
      <vt:lpstr>寄存器组的内部结构</vt:lpstr>
      <vt:lpstr>存储元件: 理想存储器</vt:lpstr>
      <vt:lpstr>数据通路与时序控制</vt:lpstr>
      <vt:lpstr>数据通路与时序控制（早期计算机的三级时序）</vt:lpstr>
      <vt:lpstr>数据通路与时序控制</vt:lpstr>
      <vt:lpstr>早期累加器型指令系统数据通路</vt:lpstr>
      <vt:lpstr>单总线数据通路</vt:lpstr>
      <vt:lpstr>三总线数据通路</vt:lpstr>
      <vt:lpstr>MIPS指令格式</vt:lpstr>
      <vt:lpstr>MIPS指令字段含义</vt:lpstr>
    </vt:vector>
  </TitlesOfParts>
  <Company>Nanjing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>Designing a Multiple Cycle Processor</dc:subject>
  <dc:creator>CFYUAN</dc:creator>
  <cp:keywords/>
  <dc:description/>
  <cp:lastModifiedBy>Sen Liu</cp:lastModifiedBy>
  <cp:revision>1281</cp:revision>
  <cp:lastPrinted>1998-02-02T13:15:44Z</cp:lastPrinted>
  <dcterms:created xsi:type="dcterms:W3CDTF">1996-09-09T11:33:30Z</dcterms:created>
  <dcterms:modified xsi:type="dcterms:W3CDTF">2024-04-17T10:14:18Z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2</vt:i4>
  </property>
  <property fmtid="{D5CDD505-2E9C-101B-9397-08002B2CF9AE}" pid="3" name="GraphicType">
    <vt:i4>2</vt:i4>
  </property>
  <property fmtid="{D5CDD505-2E9C-101B-9397-08002B2CF9AE}" pid="4" name="Compression">
    <vt:i4>100</vt:i4>
  </property>
  <property fmtid="{D5CDD505-2E9C-101B-9397-08002B2CF9AE}" pid="5" name="ScreenSize">
    <vt:i4>2</vt:i4>
  </property>
  <property fmtid="{D5CDD505-2E9C-101B-9397-08002B2CF9AE}" pid="6" name="ScreenUsage">
    <vt:i4>2</vt:i4>
  </property>
  <property fmtid="{D5CDD505-2E9C-101B-9397-08002B2CF9AE}" pid="7" name="MailAddress">
    <vt:lpwstr>vipin@eng.wayne.edu</vt:lpwstr>
  </property>
  <property fmtid="{D5CDD505-2E9C-101B-9397-08002B2CF9AE}" pid="8" name="HomePage">
    <vt:lpwstr>http://www.pdcl.eng.wayne.edu/~vipin</vt:lpwstr>
  </property>
  <property fmtid="{D5CDD505-2E9C-101B-9397-08002B2CF9AE}" pid="9" name="Other">
    <vt:lpwstr>Vipin Chaudhary_x000d_
Dept. of Electrical &amp; Computer Engineering_x000d_
Wayne State University</vt:lpwstr>
  </property>
  <property fmtid="{D5CDD505-2E9C-101B-9397-08002B2CF9AE}" pid="10" name="DownloadOriginal">
    <vt:bool>true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15132390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0</vt:i4>
  </property>
  <property fmtid="{D5CDD505-2E9C-101B-9397-08002B2CF9AE}" pid="18" name="ButtonType">
    <vt:i4>3</vt:i4>
  </property>
  <property fmtid="{D5CDD505-2E9C-101B-9397-08002B2CF9AE}" pid="19" name="ShowNotes">
    <vt:bool>true</vt:bool>
  </property>
  <property fmtid="{D5CDD505-2E9C-101B-9397-08002B2CF9AE}" pid="20" name="NavBtnPos">
    <vt:i4>1</vt:i4>
  </property>
  <property fmtid="{D5CDD505-2E9C-101B-9397-08002B2CF9AE}" pid="21" name="OutputDir">
    <vt:lpwstr>C:\WINDOWS\Desktop\VIPIN\WSU\ACADEMIC\COURSES\ECE468\SLIDES\web</vt:lpwstr>
  </property>
</Properties>
</file>
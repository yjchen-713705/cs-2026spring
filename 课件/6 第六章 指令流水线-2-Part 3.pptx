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335" r:id="rId2"/>
    <p:sldId id="361" r:id="rId3"/>
    <p:sldId id="427" r:id="rId4"/>
    <p:sldId id="426" r:id="rId5"/>
    <p:sldId id="364" r:id="rId6"/>
    <p:sldId id="365" r:id="rId7"/>
    <p:sldId id="428" r:id="rId8"/>
    <p:sldId id="429" r:id="rId9"/>
    <p:sldId id="431" r:id="rId10"/>
    <p:sldId id="461" r:id="rId11"/>
    <p:sldId id="465" r:id="rId12"/>
    <p:sldId id="366" r:id="rId13"/>
    <p:sldId id="462" r:id="rId14"/>
    <p:sldId id="430" r:id="rId15"/>
    <p:sldId id="367" r:id="rId16"/>
    <p:sldId id="459" r:id="rId17"/>
    <p:sldId id="368" r:id="rId18"/>
    <p:sldId id="406" r:id="rId19"/>
    <p:sldId id="407" r:id="rId20"/>
    <p:sldId id="408" r:id="rId21"/>
    <p:sldId id="409" r:id="rId22"/>
    <p:sldId id="418" r:id="rId23"/>
    <p:sldId id="417" r:id="rId24"/>
    <p:sldId id="369" r:id="rId25"/>
    <p:sldId id="403" r:id="rId26"/>
    <p:sldId id="388" r:id="rId27"/>
    <p:sldId id="296" r:id="rId28"/>
    <p:sldId id="391" r:id="rId29"/>
    <p:sldId id="389" r:id="rId30"/>
    <p:sldId id="447" r:id="rId31"/>
    <p:sldId id="1088" r:id="rId32"/>
  </p:sldIdLst>
  <p:sldSz cx="9144000" cy="6858000" type="screen4x3"/>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6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6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6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6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600" b="1" kern="1200">
        <a:solidFill>
          <a:schemeClr val="tx1"/>
        </a:solidFill>
        <a:latin typeface="Times New Roman" panose="02020603050405020304" pitchFamily="18" charset="0"/>
        <a:ea typeface="+mn-ea"/>
        <a:cs typeface="+mn-cs"/>
      </a:defRPr>
    </a:lvl5pPr>
    <a:lvl6pPr marL="2286000" algn="l" defTabSz="914400" rtl="0" eaLnBrk="1" latinLnBrk="0" hangingPunct="1">
      <a:defRPr sz="1600" b="1" kern="1200">
        <a:solidFill>
          <a:schemeClr val="tx1"/>
        </a:solidFill>
        <a:latin typeface="Times New Roman" panose="02020603050405020304" pitchFamily="18" charset="0"/>
        <a:ea typeface="+mn-ea"/>
        <a:cs typeface="+mn-cs"/>
      </a:defRPr>
    </a:lvl6pPr>
    <a:lvl7pPr marL="2743200" algn="l" defTabSz="914400" rtl="0" eaLnBrk="1" latinLnBrk="0" hangingPunct="1">
      <a:defRPr sz="1600" b="1" kern="1200">
        <a:solidFill>
          <a:schemeClr val="tx1"/>
        </a:solidFill>
        <a:latin typeface="Times New Roman" panose="02020603050405020304" pitchFamily="18" charset="0"/>
        <a:ea typeface="+mn-ea"/>
        <a:cs typeface="+mn-cs"/>
      </a:defRPr>
    </a:lvl7pPr>
    <a:lvl8pPr marL="3200400" algn="l" defTabSz="914400" rtl="0" eaLnBrk="1" latinLnBrk="0" hangingPunct="1">
      <a:defRPr sz="1600" b="1" kern="1200">
        <a:solidFill>
          <a:schemeClr val="tx1"/>
        </a:solidFill>
        <a:latin typeface="Times New Roman" panose="02020603050405020304" pitchFamily="18" charset="0"/>
        <a:ea typeface="+mn-ea"/>
        <a:cs typeface="+mn-cs"/>
      </a:defRPr>
    </a:lvl8pPr>
    <a:lvl9pPr marL="3657600" algn="l" defTabSz="914400" rtl="0" eaLnBrk="1" latinLnBrk="0" hangingPunct="1">
      <a:defRPr sz="16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8" autoAdjust="0"/>
    <p:restoredTop sz="87700" autoAdjust="0"/>
  </p:normalViewPr>
  <p:slideViewPr>
    <p:cSldViewPr snapToGrid="0">
      <p:cViewPr varScale="1">
        <p:scale>
          <a:sx n="89" d="100"/>
          <a:sy n="89" d="100"/>
        </p:scale>
        <p:origin x="97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25296"/>
    </p:cViewPr>
  </p:sorterViewPr>
  <p:notesViewPr>
    <p:cSldViewPr snapToGrid="0">
      <p:cViewPr>
        <p:scale>
          <a:sx n="66" d="100"/>
          <a:sy n="66" d="100"/>
        </p:scale>
        <p:origin x="-1590" y="-6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EF22A29-CCD9-3140-B43D-9C2F0544400B}"/>
              </a:ext>
            </a:extLst>
          </p:cNvPr>
          <p:cNvSpPr>
            <a:spLocks noGrp="1" noRot="1" noChangeAspect="1" noChangeArrowheads="1" noTextEdit="1"/>
          </p:cNvSpPr>
          <p:nvPr>
            <p:ph type="sldImg" idx="2"/>
          </p:nvPr>
        </p:nvSpPr>
        <p:spPr bwMode="auto">
          <a:xfrm>
            <a:off x="990600" y="644525"/>
            <a:ext cx="5135563" cy="385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a:extLst>
              <a:ext uri="{FF2B5EF4-FFF2-40B4-BE49-F238E27FC236}">
                <a16:creationId xmlns:a16="http://schemas.microsoft.com/office/drawing/2014/main" id="{96C1B477-A1A6-E24B-8F97-B1F463B923DF}"/>
              </a:ext>
            </a:extLst>
          </p:cNvPr>
          <p:cNvSpPr>
            <a:spLocks noGrp="1" noChangeArrowheads="1"/>
          </p:cNvSpPr>
          <p:nvPr>
            <p:ph type="body" sz="quarter" idx="3"/>
          </p:nvPr>
        </p:nvSpPr>
        <p:spPr bwMode="auto">
          <a:xfrm>
            <a:off x="533400" y="4651375"/>
            <a:ext cx="6118225" cy="4816475"/>
          </a:xfrm>
          <a:prstGeom prst="rect">
            <a:avLst/>
          </a:prstGeom>
          <a:noFill/>
          <a:ln>
            <a:noFill/>
          </a:ln>
          <a:effectLst/>
        </p:spPr>
        <p:txBody>
          <a:bodyPr vert="horz" wrap="square" lIns="100277" tIns="49259" rIns="100277" bIns="49259" numCol="1" anchor="t" anchorCtr="0" compatLnSpc="1">
            <a:prstTxWarp prst="textNoShape">
              <a:avLst/>
            </a:prstTxWarp>
          </a:bodyPr>
          <a:lstStyle/>
          <a:p>
            <a:pPr lvl="0"/>
            <a:r>
              <a:rPr lang="en-US" altLang="zh-CN" noProof="0"/>
              <a:t>We want this to be in font 11 and justify.</a:t>
            </a:r>
          </a:p>
        </p:txBody>
      </p:sp>
    </p:spTree>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B4FE7E65-6E7D-8D4B-8453-B2D062AF05B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dirty="0"/>
          </a:p>
        </p:txBody>
      </p:sp>
      <p:sp>
        <p:nvSpPr>
          <p:cNvPr id="133123" name="Rectangle 3">
            <a:extLst>
              <a:ext uri="{FF2B5EF4-FFF2-40B4-BE49-F238E27FC236}">
                <a16:creationId xmlns:a16="http://schemas.microsoft.com/office/drawing/2014/main" id="{0C3D05DF-FA04-0943-943F-E366907FB680}"/>
              </a:ext>
            </a:extLst>
          </p:cNvPr>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560815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104874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290593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512778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87142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7B74A62A-B5EE-A146-ADF4-DBBB1AB824D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dirty="0"/>
          </a:p>
        </p:txBody>
      </p:sp>
      <p:sp>
        <p:nvSpPr>
          <p:cNvPr id="158723" name="Rectangle 3">
            <a:extLst>
              <a:ext uri="{FF2B5EF4-FFF2-40B4-BE49-F238E27FC236}">
                <a16:creationId xmlns:a16="http://schemas.microsoft.com/office/drawing/2014/main" id="{AA18643A-4F47-1048-B6AC-984C710BD045}"/>
              </a:ext>
            </a:extLst>
          </p:cNvPr>
          <p:cNvSpPr>
            <a:spLocks noGrp="1" noRot="1" noChangeAspect="1" noChangeArrowheads="1"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274897072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394627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336360861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8163" y="919163"/>
            <a:ext cx="4019550" cy="2054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2602685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96758799"/>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78877501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35787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4084310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59210685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361057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1788" y="228600"/>
            <a:ext cx="2047875" cy="2744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8163" y="228600"/>
            <a:ext cx="5991225" cy="27447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8963645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68300"/>
          </a:xfrm>
        </p:spPr>
        <p:txBody>
          <a:bodyPr/>
          <a:lstStyle/>
          <a:p>
            <a:r>
              <a:rPr lang="zh-CN" altLang="en-US"/>
              <a:t>单击此处编辑母版标题样式</a:t>
            </a:r>
          </a:p>
        </p:txBody>
      </p:sp>
      <p:sp>
        <p:nvSpPr>
          <p:cNvPr id="3" name="文本占位符 2"/>
          <p:cNvSpPr>
            <a:spLocks noGrp="1"/>
          </p:cNvSpPr>
          <p:nvPr>
            <p:ph type="body" sz="half" idx="1"/>
          </p:nvPr>
        </p:nvSpPr>
        <p:spPr>
          <a:xfrm>
            <a:off x="538163" y="919163"/>
            <a:ext cx="4019550" cy="2054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9664258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BD4A571-8234-8D4F-9017-33D4FCFB132C}"/>
              </a:ext>
            </a:extLst>
          </p:cNvPr>
          <p:cNvSpPr>
            <a:spLocks noGrp="1" noChangeArrowheads="1"/>
          </p:cNvSpPr>
          <p:nvPr>
            <p:ph type="title"/>
          </p:nvPr>
        </p:nvSpPr>
        <p:spPr bwMode="auto">
          <a:xfrm>
            <a:off x="800100" y="228600"/>
            <a:ext cx="68627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1027" name="Rectangle 5">
            <a:extLst>
              <a:ext uri="{FF2B5EF4-FFF2-40B4-BE49-F238E27FC236}">
                <a16:creationId xmlns:a16="http://schemas.microsoft.com/office/drawing/2014/main" id="{07C2AE3D-DCC8-E44E-AD16-FD6B04F2CB0E}"/>
              </a:ext>
            </a:extLst>
          </p:cNvPr>
          <p:cNvSpPr>
            <a:spLocks noGrp="1" noChangeArrowheads="1"/>
          </p:cNvSpPr>
          <p:nvPr>
            <p:ph type="body" idx="1"/>
          </p:nvPr>
        </p:nvSpPr>
        <p:spPr bwMode="auto">
          <a:xfrm>
            <a:off x="538163" y="919163"/>
            <a:ext cx="8191500" cy="205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28" name="Line 6">
            <a:extLst>
              <a:ext uri="{FF2B5EF4-FFF2-40B4-BE49-F238E27FC236}">
                <a16:creationId xmlns:a16="http://schemas.microsoft.com/office/drawing/2014/main" id="{4D9C580A-0394-694F-92F1-A349F35EADC7}"/>
              </a:ext>
            </a:extLst>
          </p:cNvPr>
          <p:cNvSpPr>
            <a:spLocks noChangeShapeType="1"/>
          </p:cNvSpPr>
          <p:nvPr/>
        </p:nvSpPr>
        <p:spPr bwMode="auto">
          <a:xfrm flipV="1">
            <a:off x="363538" y="566738"/>
            <a:ext cx="8577262" cy="0"/>
          </a:xfrm>
          <a:prstGeom prst="line">
            <a:avLst/>
          </a:prstGeom>
          <a:noFill/>
          <a:ln w="127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algn="l" rtl="0" eaLnBrk="0" fontAlgn="base" hangingPunct="0">
        <a:lnSpc>
          <a:spcPct val="87000"/>
        </a:lnSpc>
        <a:spcBef>
          <a:spcPct val="0"/>
        </a:spcBef>
        <a:spcAft>
          <a:spcPct val="0"/>
        </a:spcAft>
        <a:defRPr sz="2400" b="1" kern="1200">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03200" indent="-203200" algn="l" rtl="0" eaLnBrk="0" fontAlgn="base" hangingPunct="0">
        <a:spcBef>
          <a:spcPct val="30000"/>
        </a:spcBef>
        <a:spcAft>
          <a:spcPct val="0"/>
        </a:spcAft>
        <a:buSzPct val="100000"/>
        <a:buFont typeface="Times New Roman" panose="02020603050405020304" pitchFamily="18" charset="0"/>
        <a:buChar char="°"/>
        <a:defRPr b="1" kern="1200">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b="1" kern="1200">
          <a:solidFill>
            <a:schemeClr val="accent2"/>
          </a:solidFill>
          <a:latin typeface="+mn-lt"/>
          <a:ea typeface="+mn-ea"/>
          <a:cs typeface="+mn-cs"/>
        </a:defRPr>
      </a:lvl2pPr>
      <a:lvl3pPr marL="1257300" indent="-342900" algn="l" rtl="0" eaLnBrk="0" fontAlgn="base" hangingPunct="0">
        <a:lnSpc>
          <a:spcPct val="85000"/>
        </a:lnSpc>
        <a:spcBef>
          <a:spcPct val="40000"/>
        </a:spcBef>
        <a:spcAft>
          <a:spcPct val="0"/>
        </a:spcAft>
        <a:buSzPct val="100000"/>
        <a:buChar char="-"/>
        <a:defRPr b="1" kern="1200">
          <a:solidFill>
            <a:srgbClr val="990000"/>
          </a:solidFill>
          <a:latin typeface="+mn-lt"/>
          <a:ea typeface="+mn-ea"/>
          <a:cs typeface="+mn-cs"/>
        </a:defRPr>
      </a:lvl3pPr>
      <a:lvl4pPr marL="1714500" indent="-3429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171700" indent="-3429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6.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6.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474D4509-F6BD-844B-8EFE-A0B67B0923C3}"/>
              </a:ext>
            </a:extLst>
          </p:cNvPr>
          <p:cNvSpPr>
            <a:spLocks noGrp="1" noChangeArrowheads="1"/>
          </p:cNvSpPr>
          <p:nvPr>
            <p:ph type="title"/>
          </p:nvPr>
        </p:nvSpPr>
        <p:spPr/>
        <p:txBody>
          <a:bodyPr/>
          <a:lstStyle/>
          <a:p>
            <a:r>
              <a:rPr lang="en-US" altLang="zh-CN">
                <a:ea typeface="宋体" panose="02010600030101010101" pitchFamily="2" charset="-122"/>
              </a:rPr>
              <a:t>Control Hazard</a:t>
            </a:r>
            <a:r>
              <a:rPr lang="zh-CN" altLang="en-US">
                <a:ea typeface="宋体" panose="02010600030101010101" pitchFamily="2" charset="-122"/>
              </a:rPr>
              <a:t>的解决方法</a:t>
            </a:r>
          </a:p>
        </p:txBody>
      </p:sp>
      <p:sp>
        <p:nvSpPr>
          <p:cNvPr id="182275" name="Rectangle 3">
            <a:extLst>
              <a:ext uri="{FF2B5EF4-FFF2-40B4-BE49-F238E27FC236}">
                <a16:creationId xmlns:a16="http://schemas.microsoft.com/office/drawing/2014/main" id="{A844EE34-33E9-B14F-B252-DD6FDA8A15E3}"/>
              </a:ext>
            </a:extLst>
          </p:cNvPr>
          <p:cNvSpPr>
            <a:spLocks noGrp="1" noChangeArrowheads="1"/>
          </p:cNvSpPr>
          <p:nvPr>
            <p:ph type="body" idx="1"/>
          </p:nvPr>
        </p:nvSpPr>
        <p:spPr>
          <a:xfrm>
            <a:off x="125413" y="671513"/>
            <a:ext cx="8961437" cy="5416550"/>
          </a:xfrm>
        </p:spPr>
        <p:txBody>
          <a:bodyPr/>
          <a:lstStyle/>
          <a:p>
            <a:pPr>
              <a:spcBef>
                <a:spcPct val="20000"/>
              </a:spcBef>
            </a:pPr>
            <a:r>
              <a:rPr lang="zh-CN" altLang="en-US" sz="1900">
                <a:ea typeface="黑体" panose="02010609060101010101" pitchFamily="49" charset="-122"/>
              </a:rPr>
              <a:t>方法</a:t>
            </a:r>
            <a:r>
              <a:rPr lang="en-US" altLang="zh-CN" sz="1900">
                <a:ea typeface="黑体" panose="02010609060101010101" pitchFamily="49" charset="-122"/>
              </a:rPr>
              <a:t>1</a:t>
            </a:r>
            <a:r>
              <a:rPr lang="zh-CN" altLang="en-US" sz="1900">
                <a:ea typeface="黑体" panose="02010609060101010101" pitchFamily="49" charset="-122"/>
              </a:rPr>
              <a:t>：硬件上阻塞（</a:t>
            </a:r>
            <a:r>
              <a:rPr lang="en-US" altLang="zh-CN" sz="1900">
                <a:ea typeface="黑体" panose="02010609060101010101" pitchFamily="49" charset="-122"/>
              </a:rPr>
              <a:t>stall</a:t>
            </a:r>
            <a:r>
              <a:rPr lang="zh-CN" altLang="en-US" sz="1900">
                <a:ea typeface="黑体" panose="02010609060101010101" pitchFamily="49" charset="-122"/>
              </a:rPr>
              <a:t>）分支指令后三条指令的执行</a:t>
            </a:r>
          </a:p>
          <a:p>
            <a:pPr lvl="1">
              <a:lnSpc>
                <a:spcPct val="100000"/>
              </a:lnSpc>
              <a:spcBef>
                <a:spcPct val="20000"/>
              </a:spcBef>
            </a:pPr>
            <a:r>
              <a:rPr lang="zh-CN" altLang="en-US" sz="1900">
                <a:ea typeface="黑体" panose="02010609060101010101" pitchFamily="49" charset="-122"/>
              </a:rPr>
              <a:t>使后面三条指令清</a:t>
            </a:r>
            <a:r>
              <a:rPr lang="en-US" altLang="zh-CN" sz="1900">
                <a:ea typeface="黑体" panose="02010609060101010101" pitchFamily="49" charset="-122"/>
              </a:rPr>
              <a:t>0</a:t>
            </a:r>
            <a:r>
              <a:rPr lang="zh-CN" altLang="en-US" sz="1900">
                <a:ea typeface="黑体" panose="02010609060101010101" pitchFamily="49" charset="-122"/>
              </a:rPr>
              <a:t>或 其操作信号清</a:t>
            </a:r>
            <a:r>
              <a:rPr lang="en-US" altLang="zh-CN" sz="1900">
                <a:ea typeface="黑体" panose="02010609060101010101" pitchFamily="49" charset="-122"/>
              </a:rPr>
              <a:t>0</a:t>
            </a:r>
            <a:r>
              <a:rPr lang="zh-CN" altLang="en-US" sz="1900">
                <a:ea typeface="黑体" panose="02010609060101010101" pitchFamily="49" charset="-122"/>
              </a:rPr>
              <a:t>，以插入三条</a:t>
            </a:r>
            <a:r>
              <a:rPr lang="en-US" altLang="zh-CN" sz="1900">
                <a:ea typeface="黑体" panose="02010609060101010101" pitchFamily="49" charset="-122"/>
              </a:rPr>
              <a:t>NOP</a:t>
            </a:r>
            <a:r>
              <a:rPr lang="zh-CN" altLang="en-US" sz="1900">
                <a:ea typeface="黑体" panose="02010609060101010101" pitchFamily="49" charset="-122"/>
              </a:rPr>
              <a:t>指令</a:t>
            </a:r>
          </a:p>
          <a:p>
            <a:pPr>
              <a:spcBef>
                <a:spcPct val="20000"/>
              </a:spcBef>
            </a:pPr>
            <a:r>
              <a:rPr lang="zh-CN" altLang="en-US" sz="1900">
                <a:ea typeface="黑体" panose="02010609060101010101" pitchFamily="49" charset="-122"/>
              </a:rPr>
              <a:t>方法</a:t>
            </a:r>
            <a:r>
              <a:rPr lang="en-US" altLang="zh-CN" sz="1900">
                <a:ea typeface="黑体" panose="02010609060101010101" pitchFamily="49" charset="-122"/>
              </a:rPr>
              <a:t>2</a:t>
            </a:r>
            <a:r>
              <a:rPr lang="zh-CN" altLang="en-US" sz="1900">
                <a:ea typeface="黑体" panose="02010609060101010101" pitchFamily="49" charset="-122"/>
              </a:rPr>
              <a:t>：软件上插入三条“</a:t>
            </a:r>
            <a:r>
              <a:rPr lang="en-US" altLang="zh-CN" sz="1900">
                <a:ea typeface="黑体" panose="02010609060101010101" pitchFamily="49" charset="-122"/>
              </a:rPr>
              <a:t>NOP”</a:t>
            </a:r>
            <a:r>
              <a:rPr lang="zh-CN" altLang="en-US" sz="1900">
                <a:ea typeface="黑体" panose="02010609060101010101" pitchFamily="49" charset="-122"/>
              </a:rPr>
              <a:t>指令</a:t>
            </a:r>
          </a:p>
          <a:p>
            <a:pPr>
              <a:spcBef>
                <a:spcPct val="20000"/>
              </a:spcBef>
              <a:buFont typeface="Times New Roman" panose="02020603050405020304" pitchFamily="18" charset="0"/>
              <a:buNone/>
            </a:pPr>
            <a:r>
              <a:rPr lang="zh-CN" altLang="en-US" sz="1900">
                <a:ea typeface="黑体" panose="02010609060101010101" pitchFamily="49" charset="-122"/>
              </a:rPr>
              <a:t>    </a:t>
            </a:r>
            <a:r>
              <a:rPr lang="zh-CN" altLang="en-US" sz="1900">
                <a:solidFill>
                  <a:srgbClr val="008000"/>
                </a:solidFill>
                <a:ea typeface="黑体" panose="02010609060101010101" pitchFamily="49" charset="-122"/>
              </a:rPr>
              <a:t>（以上两种方法的效率太低，需结合分支预测进行）</a:t>
            </a:r>
          </a:p>
          <a:p>
            <a:pPr>
              <a:spcBef>
                <a:spcPct val="20000"/>
              </a:spcBef>
            </a:pPr>
            <a:r>
              <a:rPr lang="zh-CN" altLang="en-US" sz="1900">
                <a:ea typeface="黑体" panose="02010609060101010101" pitchFamily="49" charset="-122"/>
              </a:rPr>
              <a:t>方法</a:t>
            </a:r>
            <a:r>
              <a:rPr lang="en-US" altLang="zh-CN" sz="1900">
                <a:ea typeface="黑体" panose="02010609060101010101" pitchFamily="49" charset="-122"/>
              </a:rPr>
              <a:t>3</a:t>
            </a:r>
            <a:r>
              <a:rPr lang="zh-CN" altLang="en-US" sz="1900">
                <a:ea typeface="黑体" panose="02010609060101010101" pitchFamily="49" charset="-122"/>
              </a:rPr>
              <a:t>：分支预测（</a:t>
            </a:r>
            <a:r>
              <a:rPr lang="en-US" altLang="zh-CN" sz="1900">
                <a:ea typeface="黑体" panose="02010609060101010101" pitchFamily="49" charset="-122"/>
              </a:rPr>
              <a:t>Predict</a:t>
            </a:r>
            <a:r>
              <a:rPr lang="zh-CN" altLang="en-US" sz="1900">
                <a:ea typeface="黑体" panose="02010609060101010101" pitchFamily="49" charset="-122"/>
              </a:rPr>
              <a:t>）</a:t>
            </a:r>
            <a:endParaRPr lang="en-US" altLang="zh-CN" sz="1900">
              <a:ea typeface="黑体" panose="02010609060101010101" pitchFamily="49" charset="-122"/>
            </a:endParaRPr>
          </a:p>
          <a:p>
            <a:pPr lvl="1">
              <a:lnSpc>
                <a:spcPct val="100000"/>
              </a:lnSpc>
              <a:spcBef>
                <a:spcPct val="20000"/>
              </a:spcBef>
            </a:pPr>
            <a:r>
              <a:rPr lang="zh-CN" altLang="en-US" sz="1900">
                <a:ea typeface="黑体" panose="02010609060101010101" pitchFamily="49" charset="-122"/>
                <a:hlinkClick r:id="" action="ppaction://hlinkshowjump?jump=nextslide"/>
              </a:rPr>
              <a:t>简单（静态）预测</a:t>
            </a:r>
            <a:r>
              <a:rPr lang="zh-CN" altLang="en-US" sz="1900">
                <a:ea typeface="黑体" panose="02010609060101010101" pitchFamily="49" charset="-122"/>
              </a:rPr>
              <a:t>：</a:t>
            </a:r>
          </a:p>
          <a:p>
            <a:pPr lvl="2">
              <a:lnSpc>
                <a:spcPct val="100000"/>
              </a:lnSpc>
              <a:spcBef>
                <a:spcPct val="20000"/>
              </a:spcBef>
            </a:pPr>
            <a:r>
              <a:rPr lang="zh-CN" altLang="en-US" sz="1900">
                <a:ea typeface="黑体" panose="02010609060101010101" pitchFamily="49" charset="-122"/>
              </a:rPr>
              <a:t>总是预测条件不满足</a:t>
            </a:r>
            <a:r>
              <a:rPr lang="en-US" altLang="zh-CN" sz="1900">
                <a:ea typeface="黑体" panose="02010609060101010101" pitchFamily="49" charset="-122"/>
              </a:rPr>
              <a:t>(not taken)</a:t>
            </a:r>
            <a:r>
              <a:rPr lang="zh-CN" altLang="en-US" sz="1900">
                <a:ea typeface="黑体" panose="02010609060101010101" pitchFamily="49" charset="-122"/>
              </a:rPr>
              <a:t>，即：继续执行分支指令的后续指令</a:t>
            </a:r>
          </a:p>
          <a:p>
            <a:pPr lvl="2">
              <a:lnSpc>
                <a:spcPct val="100000"/>
              </a:lnSpc>
              <a:spcBef>
                <a:spcPct val="20000"/>
              </a:spcBef>
              <a:buFontTx/>
              <a:buNone/>
            </a:pPr>
            <a:r>
              <a:rPr lang="zh-CN" altLang="en-US" sz="1900">
                <a:solidFill>
                  <a:srgbClr val="008000"/>
                </a:solidFill>
                <a:ea typeface="黑体" panose="02010609060101010101" pitchFamily="49" charset="-122"/>
              </a:rPr>
              <a:t>      可加启发式规则：在特定情况下总是预测满足</a:t>
            </a:r>
            <a:r>
              <a:rPr lang="en-US" altLang="zh-CN" sz="1900">
                <a:solidFill>
                  <a:srgbClr val="008000"/>
                </a:solidFill>
                <a:ea typeface="黑体" panose="02010609060101010101" pitchFamily="49" charset="-122"/>
              </a:rPr>
              <a:t>(taken)</a:t>
            </a:r>
            <a:r>
              <a:rPr lang="zh-CN" altLang="en-US" sz="1900">
                <a:solidFill>
                  <a:srgbClr val="008000"/>
                </a:solidFill>
                <a:ea typeface="黑体" panose="02010609060101010101" pitchFamily="49" charset="-122"/>
              </a:rPr>
              <a:t>，其他情况总是预测不满足。如：循环顶部（底部）分支总是预测为不满足（满足）。能达</a:t>
            </a:r>
            <a:r>
              <a:rPr lang="en-US" altLang="zh-CN" sz="1900">
                <a:solidFill>
                  <a:srgbClr val="008000"/>
                </a:solidFill>
                <a:ea typeface="黑体" panose="02010609060101010101" pitchFamily="49" charset="-122"/>
              </a:rPr>
              <a:t>65%-85%</a:t>
            </a:r>
            <a:r>
              <a:rPr lang="zh-CN" altLang="en-US" sz="1900">
                <a:solidFill>
                  <a:srgbClr val="008000"/>
                </a:solidFill>
                <a:ea typeface="黑体" panose="02010609060101010101" pitchFamily="49" charset="-122"/>
              </a:rPr>
              <a:t>的预测准确率</a:t>
            </a:r>
            <a:endParaRPr lang="zh-CN" altLang="en-US" sz="1900" b="0">
              <a:solidFill>
                <a:srgbClr val="008000"/>
              </a:solidFill>
              <a:ea typeface="黑体" panose="02010609060101010101" pitchFamily="49" charset="-122"/>
            </a:endParaRPr>
          </a:p>
          <a:p>
            <a:pPr lvl="1">
              <a:lnSpc>
                <a:spcPct val="100000"/>
              </a:lnSpc>
              <a:spcBef>
                <a:spcPct val="20000"/>
              </a:spcBef>
            </a:pPr>
            <a:r>
              <a:rPr lang="zh-CN" altLang="en-US" sz="1900">
                <a:ea typeface="黑体" panose="02010609060101010101" pitchFamily="49" charset="-122"/>
                <a:hlinkClick r:id="rId2" action="ppaction://hlinksldjump"/>
              </a:rPr>
              <a:t>动态预测</a:t>
            </a:r>
            <a:r>
              <a:rPr lang="zh-CN" altLang="en-US" sz="1900">
                <a:ea typeface="黑体" panose="02010609060101010101" pitchFamily="49" charset="-122"/>
              </a:rPr>
              <a:t>：</a:t>
            </a:r>
          </a:p>
          <a:p>
            <a:pPr lvl="2">
              <a:lnSpc>
                <a:spcPct val="100000"/>
              </a:lnSpc>
              <a:spcBef>
                <a:spcPct val="20000"/>
              </a:spcBef>
            </a:pPr>
            <a:r>
              <a:rPr lang="zh-CN" altLang="en-US" sz="1900">
                <a:ea typeface="黑体" panose="02010609060101010101" pitchFamily="49" charset="-122"/>
              </a:rPr>
              <a:t>根据程序执行的历史情况进行动态预测调整，能达</a:t>
            </a:r>
            <a:r>
              <a:rPr lang="en-US" altLang="zh-CN" sz="1900">
                <a:ea typeface="黑体" panose="02010609060101010101" pitchFamily="49" charset="-122"/>
              </a:rPr>
              <a:t>90%</a:t>
            </a:r>
            <a:r>
              <a:rPr lang="zh-CN" altLang="en-US" sz="1900">
                <a:ea typeface="黑体" panose="02010609060101010101" pitchFamily="49" charset="-122"/>
              </a:rPr>
              <a:t>的预测准确率</a:t>
            </a:r>
          </a:p>
          <a:p>
            <a:pPr>
              <a:spcBef>
                <a:spcPct val="20000"/>
              </a:spcBef>
              <a:buFont typeface="Times New Roman" panose="02020603050405020304" pitchFamily="18" charset="0"/>
              <a:buNone/>
            </a:pPr>
            <a:r>
              <a:rPr lang="zh-CN" altLang="en-US" sz="1900">
                <a:solidFill>
                  <a:srgbClr val="008000"/>
                </a:solidFill>
                <a:ea typeface="黑体" panose="02010609060101010101" pitchFamily="49" charset="-122"/>
              </a:rPr>
              <a:t>        注：流水线控制必须确保被错误预测指令的执行结果不能生效，而且要能从正</a:t>
            </a:r>
          </a:p>
          <a:p>
            <a:pPr>
              <a:spcBef>
                <a:spcPct val="20000"/>
              </a:spcBef>
              <a:buFont typeface="Times New Roman" panose="02020603050405020304" pitchFamily="18" charset="0"/>
              <a:buNone/>
            </a:pPr>
            <a:r>
              <a:rPr lang="zh-CN" altLang="en-US" sz="1900">
                <a:solidFill>
                  <a:srgbClr val="008000"/>
                </a:solidFill>
                <a:ea typeface="黑体" panose="02010609060101010101" pitchFamily="49" charset="-122"/>
              </a:rPr>
              <a:t>               确的分支地址处重新启动流水线工作</a:t>
            </a:r>
          </a:p>
          <a:p>
            <a:pPr>
              <a:spcBef>
                <a:spcPct val="20000"/>
              </a:spcBef>
            </a:pPr>
            <a:r>
              <a:rPr lang="zh-CN" altLang="en-US" sz="1900">
                <a:ea typeface="黑体" panose="02010609060101010101" pitchFamily="49" charset="-122"/>
              </a:rPr>
              <a:t>方法</a:t>
            </a:r>
            <a:r>
              <a:rPr lang="en-US" altLang="zh-CN" sz="1900">
                <a:ea typeface="黑体" panose="02010609060101010101" pitchFamily="49" charset="-122"/>
              </a:rPr>
              <a:t>4</a:t>
            </a:r>
            <a:r>
              <a:rPr lang="zh-CN" altLang="en-US" sz="1900">
                <a:ea typeface="黑体" panose="02010609060101010101" pitchFamily="49" charset="-122"/>
              </a:rPr>
              <a:t>：</a:t>
            </a:r>
            <a:r>
              <a:rPr lang="zh-CN" altLang="en-US" sz="1900">
                <a:ea typeface="黑体" panose="02010609060101010101" pitchFamily="49" charset="-122"/>
                <a:hlinkClick r:id="rId3" action="ppaction://hlinksldjump"/>
              </a:rPr>
              <a:t>延迟分支</a:t>
            </a:r>
            <a:r>
              <a:rPr lang="zh-CN" altLang="en-US" sz="1900">
                <a:ea typeface="黑体" panose="02010609060101010101" pitchFamily="49" charset="-122"/>
              </a:rPr>
              <a:t>（</a:t>
            </a:r>
            <a:r>
              <a:rPr lang="en-US" altLang="zh-CN" sz="1900">
                <a:ea typeface="黑体" panose="02010609060101010101" pitchFamily="49" charset="-122"/>
              </a:rPr>
              <a:t>Delayed branch</a:t>
            </a:r>
            <a:r>
              <a:rPr lang="zh-CN" altLang="en-US" sz="1900">
                <a:ea typeface="黑体" panose="02010609060101010101" pitchFamily="49" charset="-122"/>
              </a:rPr>
              <a:t>）（通过编译程序优化指令顺序！）</a:t>
            </a:r>
          </a:p>
          <a:p>
            <a:pPr lvl="1">
              <a:lnSpc>
                <a:spcPct val="100000"/>
              </a:lnSpc>
              <a:spcBef>
                <a:spcPct val="20000"/>
              </a:spcBef>
            </a:pPr>
            <a:r>
              <a:rPr lang="zh-CN" altLang="en-US" sz="1900">
                <a:ea typeface="黑体" panose="02010609060101010101" pitchFamily="49" charset="-122"/>
              </a:rPr>
              <a:t>把分支指令前面与分支指令无关的指令调到分支指令后执行，也称</a:t>
            </a:r>
            <a:r>
              <a:rPr lang="zh-CN" altLang="en-US" sz="1900">
                <a:solidFill>
                  <a:srgbClr val="008000"/>
                </a:solidFill>
                <a:ea typeface="黑体" panose="02010609060101010101" pitchFamily="49" charset="-122"/>
              </a:rPr>
              <a:t>延迟转移</a:t>
            </a:r>
          </a:p>
        </p:txBody>
      </p:sp>
      <p:sp>
        <p:nvSpPr>
          <p:cNvPr id="182278" name="Rectangle 6">
            <a:extLst>
              <a:ext uri="{FF2B5EF4-FFF2-40B4-BE49-F238E27FC236}">
                <a16:creationId xmlns:a16="http://schemas.microsoft.com/office/drawing/2014/main" id="{1877212E-AC5C-114C-927D-5BE3A26DA560}"/>
              </a:ext>
            </a:extLst>
          </p:cNvPr>
          <p:cNvSpPr>
            <a:spLocks noChangeArrowheads="1"/>
          </p:cNvSpPr>
          <p:nvPr/>
        </p:nvSpPr>
        <p:spPr bwMode="auto">
          <a:xfrm>
            <a:off x="788988" y="6224588"/>
            <a:ext cx="55753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latin typeface="Arial" panose="020B0604020202020204" pitchFamily="34" charset="0"/>
                <a:ea typeface="黑体" panose="02010609060101010101" pitchFamily="49" charset="-122"/>
              </a:rPr>
              <a:t>另一种控制冒险：</a:t>
            </a:r>
            <a:r>
              <a:rPr lang="zh-CN" altLang="en-US" sz="1900">
                <a:latin typeface="Arial" panose="020B0604020202020204" pitchFamily="34" charset="0"/>
                <a:ea typeface="黑体" panose="02010609060101010101" pitchFamily="49" charset="-122"/>
                <a:hlinkClick r:id="rId4" action="ppaction://hlinksldjump"/>
              </a:rPr>
              <a:t>异常或中断控制冒险的处理</a:t>
            </a:r>
            <a:endParaRPr lang="en-US" altLang="zh-CN" sz="1900">
              <a:latin typeface="Arial" panose="020B0604020202020204" pitchFamily="34" charset="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2275">
                                            <p:txEl>
                                              <p:pRg st="1" end="1"/>
                                            </p:txEl>
                                          </p:spTgt>
                                        </p:tgtEl>
                                        <p:attrNameLst>
                                          <p:attrName>style.visibility</p:attrName>
                                        </p:attrNameLst>
                                      </p:cBhvr>
                                      <p:to>
                                        <p:strVal val="visible"/>
                                      </p:to>
                                    </p:set>
                                    <p:animEffect transition="in" filter="blinds(horizontal)">
                                      <p:cBhvr>
                                        <p:cTn id="7" dur="500"/>
                                        <p:tgtEl>
                                          <p:spTgt spid="1822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2275">
                                            <p:txEl>
                                              <p:pRg st="3" end="3"/>
                                            </p:txEl>
                                          </p:spTgt>
                                        </p:tgtEl>
                                        <p:attrNameLst>
                                          <p:attrName>style.visibility</p:attrName>
                                        </p:attrNameLst>
                                      </p:cBhvr>
                                      <p:to>
                                        <p:strVal val="visible"/>
                                      </p:to>
                                    </p:set>
                                    <p:animEffect transition="in" filter="blinds(horizontal)">
                                      <p:cBhvr>
                                        <p:cTn id="12" dur="500"/>
                                        <p:tgtEl>
                                          <p:spTgt spid="18227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2275">
                                            <p:txEl>
                                              <p:pRg st="6" end="6"/>
                                            </p:txEl>
                                          </p:spTgt>
                                        </p:tgtEl>
                                        <p:attrNameLst>
                                          <p:attrName>style.visibility</p:attrName>
                                        </p:attrNameLst>
                                      </p:cBhvr>
                                      <p:to>
                                        <p:strVal val="visible"/>
                                      </p:to>
                                    </p:set>
                                    <p:animEffect transition="in" filter="blinds(horizontal)">
                                      <p:cBhvr>
                                        <p:cTn id="17" dur="500"/>
                                        <p:tgtEl>
                                          <p:spTgt spid="182275">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2275">
                                            <p:txEl>
                                              <p:pRg st="7" end="7"/>
                                            </p:txEl>
                                          </p:spTgt>
                                        </p:tgtEl>
                                        <p:attrNameLst>
                                          <p:attrName>style.visibility</p:attrName>
                                        </p:attrNameLst>
                                      </p:cBhvr>
                                      <p:to>
                                        <p:strVal val="visible"/>
                                      </p:to>
                                    </p:set>
                                    <p:animEffect transition="in" filter="blinds(horizontal)">
                                      <p:cBhvr>
                                        <p:cTn id="22" dur="500"/>
                                        <p:tgtEl>
                                          <p:spTgt spid="182275">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2275">
                                            <p:txEl>
                                              <p:pRg st="9" end="9"/>
                                            </p:txEl>
                                          </p:spTgt>
                                        </p:tgtEl>
                                        <p:attrNameLst>
                                          <p:attrName>style.visibility</p:attrName>
                                        </p:attrNameLst>
                                      </p:cBhvr>
                                      <p:to>
                                        <p:strVal val="visible"/>
                                      </p:to>
                                    </p:set>
                                    <p:animEffect transition="in" filter="blinds(horizontal)">
                                      <p:cBhvr>
                                        <p:cTn id="27" dur="500"/>
                                        <p:tgtEl>
                                          <p:spTgt spid="182275">
                                            <p:txEl>
                                              <p:pRg st="9" end="9"/>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82275">
                                            <p:txEl>
                                              <p:pRg st="10" end="10"/>
                                            </p:txEl>
                                          </p:spTgt>
                                        </p:tgtEl>
                                        <p:attrNameLst>
                                          <p:attrName>style.visibility</p:attrName>
                                        </p:attrNameLst>
                                      </p:cBhvr>
                                      <p:to>
                                        <p:strVal val="visible"/>
                                      </p:to>
                                    </p:set>
                                    <p:animEffect transition="in" filter="blinds(horizontal)">
                                      <p:cBhvr>
                                        <p:cTn id="32" dur="500"/>
                                        <p:tgtEl>
                                          <p:spTgt spid="182275">
                                            <p:txEl>
                                              <p:pRg st="10" end="1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82275">
                                            <p:txEl>
                                              <p:pRg st="11" end="11"/>
                                            </p:txEl>
                                          </p:spTgt>
                                        </p:tgtEl>
                                        <p:attrNameLst>
                                          <p:attrName>style.visibility</p:attrName>
                                        </p:attrNameLst>
                                      </p:cBhvr>
                                      <p:to>
                                        <p:strVal val="visible"/>
                                      </p:to>
                                    </p:set>
                                    <p:animEffect transition="in" filter="blinds(horizontal)">
                                      <p:cBhvr>
                                        <p:cTn id="35" dur="500"/>
                                        <p:tgtEl>
                                          <p:spTgt spid="182275">
                                            <p:txEl>
                                              <p:pRg st="11" end="1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82275">
                                            <p:txEl>
                                              <p:pRg st="13" end="13"/>
                                            </p:txEl>
                                          </p:spTgt>
                                        </p:tgtEl>
                                        <p:attrNameLst>
                                          <p:attrName>style.visibility</p:attrName>
                                        </p:attrNameLst>
                                      </p:cBhvr>
                                      <p:to>
                                        <p:strVal val="visible"/>
                                      </p:to>
                                    </p:set>
                                    <p:animEffect transition="in" filter="blinds(horizontal)">
                                      <p:cBhvr>
                                        <p:cTn id="40" dur="500"/>
                                        <p:tgtEl>
                                          <p:spTgt spid="182275">
                                            <p:txEl>
                                              <p:pRg st="13" end="13"/>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82278"/>
                                        </p:tgtEl>
                                        <p:attrNameLst>
                                          <p:attrName>style.visibility</p:attrName>
                                        </p:attrNameLst>
                                      </p:cBhvr>
                                      <p:to>
                                        <p:strVal val="visible"/>
                                      </p:to>
                                    </p:set>
                                    <p:animEffect transition="in" filter="blinds(horizontal)">
                                      <p:cBhvr>
                                        <p:cTn id="45" dur="500"/>
                                        <p:tgtEl>
                                          <p:spTgt spid="182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C2395490-A569-A94E-ABD3-F833E45C7606}"/>
              </a:ext>
            </a:extLst>
          </p:cNvPr>
          <p:cNvSpPr>
            <a:spLocks noGrp="1" noChangeArrowheads="1"/>
          </p:cNvSpPr>
          <p:nvPr>
            <p:ph type="title"/>
          </p:nvPr>
        </p:nvSpPr>
        <p:spPr>
          <a:xfrm>
            <a:off x="800100" y="190500"/>
            <a:ext cx="6862763" cy="368300"/>
          </a:xfrm>
        </p:spPr>
        <p:txBody>
          <a:bodyPr/>
          <a:lstStyle/>
          <a:p>
            <a:r>
              <a:rPr lang="zh-CN" altLang="en-US">
                <a:ea typeface="宋体" panose="02010600030101010101" pitchFamily="2" charset="-122"/>
              </a:rPr>
              <a:t>简单（静态）分支预测方法</a:t>
            </a:r>
          </a:p>
        </p:txBody>
      </p:sp>
      <p:sp>
        <p:nvSpPr>
          <p:cNvPr id="224259" name="Rectangle 3">
            <a:extLst>
              <a:ext uri="{FF2B5EF4-FFF2-40B4-BE49-F238E27FC236}">
                <a16:creationId xmlns:a16="http://schemas.microsoft.com/office/drawing/2014/main" id="{E3887456-D80E-7D40-A8B6-F004149ACC3B}"/>
              </a:ext>
            </a:extLst>
          </p:cNvPr>
          <p:cNvSpPr>
            <a:spLocks noGrp="1" noChangeArrowheads="1"/>
          </p:cNvSpPr>
          <p:nvPr>
            <p:ph type="body" idx="1"/>
          </p:nvPr>
        </p:nvSpPr>
        <p:spPr>
          <a:xfrm>
            <a:off x="220663" y="885825"/>
            <a:ext cx="8602662" cy="4975225"/>
          </a:xfrm>
        </p:spPr>
        <p:txBody>
          <a:bodyPr/>
          <a:lstStyle/>
          <a:p>
            <a:pPr>
              <a:spcBef>
                <a:spcPct val="25000"/>
              </a:spcBef>
            </a:pPr>
            <a:r>
              <a:rPr lang="zh-CN" altLang="en-US" sz="2000">
                <a:ea typeface="黑体" panose="02010609060101010101" pitchFamily="49" charset="-122"/>
              </a:rPr>
              <a:t>基本做法</a:t>
            </a:r>
          </a:p>
          <a:p>
            <a:pPr lvl="1">
              <a:lnSpc>
                <a:spcPct val="100000"/>
              </a:lnSpc>
              <a:spcBef>
                <a:spcPct val="25000"/>
              </a:spcBef>
            </a:pPr>
            <a:r>
              <a:rPr lang="zh-CN" altLang="en-US" sz="2000">
                <a:ea typeface="黑体" panose="02010609060101010101" pitchFamily="49" charset="-122"/>
              </a:rPr>
              <a:t>总预测条件不满足</a:t>
            </a:r>
            <a:r>
              <a:rPr lang="en-US" altLang="zh-CN" sz="2000">
                <a:ea typeface="黑体" panose="02010609060101010101" pitchFamily="49" charset="-122"/>
              </a:rPr>
              <a:t>(not taken)</a:t>
            </a:r>
            <a:r>
              <a:rPr lang="zh-CN" altLang="en-US" sz="2000">
                <a:ea typeface="黑体" panose="02010609060101010101" pitchFamily="49" charset="-122"/>
              </a:rPr>
              <a:t>，即：继续执行分支指令的后续指令</a:t>
            </a:r>
          </a:p>
          <a:p>
            <a:pPr lvl="2">
              <a:lnSpc>
                <a:spcPct val="100000"/>
              </a:lnSpc>
              <a:spcBef>
                <a:spcPct val="25000"/>
              </a:spcBef>
              <a:buFontTx/>
              <a:buNone/>
            </a:pPr>
            <a:r>
              <a:rPr lang="zh-CN" altLang="en-US" sz="2000">
                <a:solidFill>
                  <a:srgbClr val="008000"/>
                </a:solidFill>
                <a:ea typeface="黑体" panose="02010609060101010101" pitchFamily="49" charset="-122"/>
              </a:rPr>
              <a:t>可加启发式规则：</a:t>
            </a:r>
          </a:p>
          <a:p>
            <a:pPr lvl="2">
              <a:lnSpc>
                <a:spcPct val="100000"/>
              </a:lnSpc>
              <a:spcBef>
                <a:spcPct val="25000"/>
              </a:spcBef>
              <a:buFontTx/>
              <a:buNone/>
            </a:pPr>
            <a:r>
              <a:rPr lang="zh-CN" altLang="en-US" sz="2000">
                <a:solidFill>
                  <a:srgbClr val="008000"/>
                </a:solidFill>
                <a:ea typeface="黑体" panose="02010609060101010101" pitchFamily="49" charset="-122"/>
              </a:rPr>
              <a:t>在特定情况下总是预测满足</a:t>
            </a:r>
            <a:r>
              <a:rPr lang="en-US" altLang="zh-CN" sz="2000">
                <a:solidFill>
                  <a:srgbClr val="008000"/>
                </a:solidFill>
                <a:ea typeface="黑体" panose="02010609060101010101" pitchFamily="49" charset="-122"/>
              </a:rPr>
              <a:t>(taken)</a:t>
            </a:r>
            <a:r>
              <a:rPr lang="zh-CN" altLang="en-US" sz="2000">
                <a:solidFill>
                  <a:srgbClr val="008000"/>
                </a:solidFill>
                <a:ea typeface="黑体" panose="02010609060101010101" pitchFamily="49" charset="-122"/>
              </a:rPr>
              <a:t>，其他情况总是预测不满足</a:t>
            </a:r>
          </a:p>
          <a:p>
            <a:pPr lvl="1">
              <a:lnSpc>
                <a:spcPct val="100000"/>
              </a:lnSpc>
              <a:spcBef>
                <a:spcPct val="25000"/>
              </a:spcBef>
            </a:pPr>
            <a:r>
              <a:rPr lang="zh-CN" altLang="en-US" sz="2000">
                <a:ea typeface="黑体" panose="02010609060101010101" pitchFamily="49" charset="-122"/>
              </a:rPr>
              <a:t>预测失败时，需把流水线中</a:t>
            </a:r>
            <a:r>
              <a:rPr lang="zh-CN" altLang="en-US" sz="2000">
                <a:ea typeface="黑体" panose="02010609060101010101" pitchFamily="49" charset="-122"/>
                <a:hlinkClick r:id="" action="ppaction://hlinkshowjump?jump=nextslide"/>
              </a:rPr>
              <a:t>三条错误预测指令</a:t>
            </a:r>
            <a:r>
              <a:rPr lang="zh-CN" altLang="en-US" sz="2000">
                <a:ea typeface="黑体" panose="02010609060101010101" pitchFamily="49" charset="-122"/>
              </a:rPr>
              <a:t>丢弃掉 </a:t>
            </a:r>
          </a:p>
          <a:p>
            <a:pPr lvl="2">
              <a:lnSpc>
                <a:spcPct val="100000"/>
              </a:lnSpc>
              <a:spcBef>
                <a:spcPct val="25000"/>
              </a:spcBef>
            </a:pPr>
            <a:r>
              <a:rPr lang="zh-CN" altLang="en-US" sz="2000">
                <a:ea typeface="黑体" panose="02010609060101010101" pitchFamily="49" charset="-122"/>
              </a:rPr>
              <a:t>将被丢弃指令的控制信号值或指令设置为</a:t>
            </a:r>
            <a:r>
              <a:rPr lang="en-US" altLang="zh-CN" sz="2000">
                <a:ea typeface="黑体" panose="02010609060101010101" pitchFamily="49" charset="-122"/>
              </a:rPr>
              <a:t>0</a:t>
            </a:r>
            <a:endParaRPr lang="zh-CN" altLang="en-US" sz="2000">
              <a:ea typeface="黑体" panose="02010609060101010101" pitchFamily="49" charset="-122"/>
            </a:endParaRPr>
          </a:p>
          <a:p>
            <a:pPr lvl="2">
              <a:lnSpc>
                <a:spcPct val="100000"/>
              </a:lnSpc>
              <a:spcBef>
                <a:spcPct val="25000"/>
              </a:spcBef>
              <a:buFontTx/>
              <a:buNone/>
            </a:pPr>
            <a:r>
              <a:rPr lang="zh-CN" altLang="en-US" sz="2000">
                <a:solidFill>
                  <a:srgbClr val="008000"/>
                </a:solidFill>
                <a:ea typeface="黑体" panose="02010609060101010101" pitchFamily="49" charset="-122"/>
              </a:rPr>
              <a:t>   （注：涉及到当时在</a:t>
            </a:r>
            <a:r>
              <a:rPr lang="en-US" altLang="zh-CN" sz="2000">
                <a:solidFill>
                  <a:srgbClr val="008000"/>
                </a:solidFill>
                <a:ea typeface="黑体" panose="02010609060101010101" pitchFamily="49" charset="-122"/>
              </a:rPr>
              <a:t>IF</a:t>
            </a:r>
            <a:r>
              <a:rPr lang="zh-CN" altLang="en-US" sz="2000">
                <a:solidFill>
                  <a:srgbClr val="008000"/>
                </a:solidFill>
                <a:ea typeface="黑体" panose="02010609060101010101" pitchFamily="49" charset="-122"/>
              </a:rPr>
              <a:t>、</a:t>
            </a:r>
            <a:r>
              <a:rPr lang="en-US" altLang="zh-CN" sz="2000">
                <a:solidFill>
                  <a:srgbClr val="008000"/>
                </a:solidFill>
                <a:ea typeface="黑体" panose="02010609060101010101" pitchFamily="49" charset="-122"/>
              </a:rPr>
              <a:t>ID</a:t>
            </a:r>
            <a:r>
              <a:rPr lang="zh-CN" altLang="en-US" sz="2000">
                <a:solidFill>
                  <a:srgbClr val="008000"/>
                </a:solidFill>
                <a:ea typeface="黑体" panose="02010609060101010101" pitchFamily="49" charset="-122"/>
              </a:rPr>
              <a:t>和</a:t>
            </a:r>
            <a:r>
              <a:rPr lang="en-US" altLang="zh-CN" sz="2000">
                <a:solidFill>
                  <a:srgbClr val="008000"/>
                </a:solidFill>
                <a:ea typeface="黑体" panose="02010609060101010101" pitchFamily="49" charset="-122"/>
              </a:rPr>
              <a:t>EX</a:t>
            </a:r>
            <a:r>
              <a:rPr lang="zh-CN" altLang="en-US" sz="2000">
                <a:solidFill>
                  <a:srgbClr val="008000"/>
                </a:solidFill>
                <a:ea typeface="黑体" panose="02010609060101010101" pitchFamily="49" charset="-122"/>
              </a:rPr>
              <a:t>三个阶段的指令）</a:t>
            </a:r>
          </a:p>
          <a:p>
            <a:pPr>
              <a:spcBef>
                <a:spcPct val="25000"/>
              </a:spcBef>
            </a:pPr>
            <a:r>
              <a:rPr lang="zh-CN" altLang="en-US" sz="2000">
                <a:ea typeface="黑体" panose="02010609060101010101" pitchFamily="49" charset="-122"/>
              </a:rPr>
              <a:t>性能</a:t>
            </a:r>
          </a:p>
          <a:p>
            <a:pPr lvl="1">
              <a:lnSpc>
                <a:spcPct val="100000"/>
              </a:lnSpc>
              <a:spcBef>
                <a:spcPct val="25000"/>
              </a:spcBef>
            </a:pPr>
            <a:r>
              <a:rPr lang="zh-CN" altLang="en-US" sz="2000">
                <a:ea typeface="黑体" panose="02010609060101010101" pitchFamily="49" charset="-122"/>
              </a:rPr>
              <a:t>如果转移概率是</a:t>
            </a:r>
            <a:r>
              <a:rPr lang="en-US" altLang="zh-CN" sz="2000">
                <a:ea typeface="黑体" panose="02010609060101010101" pitchFamily="49" charset="-122"/>
              </a:rPr>
              <a:t>50%</a:t>
            </a:r>
            <a:r>
              <a:rPr lang="zh-CN" altLang="en-US" sz="2000">
                <a:ea typeface="黑体" panose="02010609060101010101" pitchFamily="49" charset="-122"/>
              </a:rPr>
              <a:t>，则预测正确率仅有</a:t>
            </a:r>
            <a:r>
              <a:rPr lang="en-US" altLang="zh-CN" sz="2000">
                <a:ea typeface="黑体" panose="02010609060101010101" pitchFamily="49" charset="-122"/>
              </a:rPr>
              <a:t>50%</a:t>
            </a:r>
            <a:endParaRPr lang="zh-CN" altLang="en-US" sz="2000">
              <a:ea typeface="黑体" panose="02010609060101010101" pitchFamily="49" charset="-122"/>
            </a:endParaRPr>
          </a:p>
          <a:p>
            <a:pPr>
              <a:spcBef>
                <a:spcPct val="25000"/>
              </a:spcBef>
            </a:pPr>
            <a:r>
              <a:rPr lang="zh-CN" altLang="en-US" sz="2000">
                <a:ea typeface="黑体" panose="02010609060101010101" pitchFamily="49" charset="-122"/>
              </a:rPr>
              <a:t>预测错误的代价</a:t>
            </a:r>
          </a:p>
          <a:p>
            <a:pPr lvl="1">
              <a:lnSpc>
                <a:spcPct val="100000"/>
              </a:lnSpc>
              <a:spcBef>
                <a:spcPct val="25000"/>
              </a:spcBef>
            </a:pPr>
            <a:r>
              <a:rPr lang="zh-CN" altLang="en-US" sz="2000">
                <a:ea typeface="黑体" panose="02010609060101010101" pitchFamily="49" charset="-122"/>
              </a:rPr>
              <a:t>预测错误的代价与何时能确定是否转移有关。越早确定代价越少</a:t>
            </a:r>
          </a:p>
          <a:p>
            <a:pPr lvl="1">
              <a:lnSpc>
                <a:spcPct val="100000"/>
              </a:lnSpc>
              <a:spcBef>
                <a:spcPct val="25000"/>
              </a:spcBef>
            </a:pPr>
            <a:r>
              <a:rPr lang="zh-CN" altLang="en-US" sz="2000">
                <a:ea typeface="黑体" panose="02010609060101010101" pitchFamily="49" charset="-122"/>
              </a:rPr>
              <a:t>是否可把判断转移的工作提前，而不等到</a:t>
            </a:r>
            <a:r>
              <a:rPr lang="en-US" altLang="zh-CN" sz="2000">
                <a:ea typeface="黑体" panose="02010609060101010101" pitchFamily="49" charset="-122"/>
              </a:rPr>
              <a:t>MEM</a:t>
            </a:r>
            <a:r>
              <a:rPr lang="zh-CN" altLang="en-US" sz="2000">
                <a:ea typeface="黑体" panose="02010609060101010101" pitchFamily="49" charset="-122"/>
              </a:rPr>
              <a:t>阶段才确定？</a:t>
            </a:r>
          </a:p>
          <a:p>
            <a:pPr lvl="1">
              <a:lnSpc>
                <a:spcPct val="100000"/>
              </a:lnSpc>
              <a:spcBef>
                <a:spcPct val="25000"/>
              </a:spcBef>
              <a:buFontTx/>
              <a:buNone/>
            </a:pPr>
            <a:r>
              <a:rPr lang="zh-CN" altLang="en-US" sz="2000">
                <a:ea typeface="黑体" panose="02010609060101010101" pitchFamily="49" charset="-122"/>
              </a:rPr>
              <a:t>   </a:t>
            </a:r>
          </a:p>
        </p:txBody>
      </p:sp>
      <p:sp>
        <p:nvSpPr>
          <p:cNvPr id="224261" name="Text Box 5">
            <a:extLst>
              <a:ext uri="{FF2B5EF4-FFF2-40B4-BE49-F238E27FC236}">
                <a16:creationId xmlns:a16="http://schemas.microsoft.com/office/drawing/2014/main" id="{AEC71F5B-387E-9343-863A-412E8E0AA5EA}"/>
              </a:ext>
            </a:extLst>
          </p:cNvPr>
          <p:cNvSpPr txBox="1">
            <a:spLocks noChangeArrowheads="1"/>
          </p:cNvSpPr>
          <p:nvPr/>
        </p:nvSpPr>
        <p:spPr bwMode="auto">
          <a:xfrm>
            <a:off x="6083300" y="5969000"/>
            <a:ext cx="1104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2" action="ppaction://hlinksldjump"/>
              </a:rPr>
              <a:t>SKIP</a:t>
            </a:r>
            <a:endParaRPr lang="en-US" altLang="zh-CN">
              <a:ea typeface="宋体" panose="02010600030101010101" pitchFamily="2" charset="-122"/>
            </a:endParaRPr>
          </a:p>
        </p:txBody>
      </p:sp>
      <p:sp>
        <p:nvSpPr>
          <p:cNvPr id="224262" name="Text Box 6">
            <a:extLst>
              <a:ext uri="{FF2B5EF4-FFF2-40B4-BE49-F238E27FC236}">
                <a16:creationId xmlns:a16="http://schemas.microsoft.com/office/drawing/2014/main" id="{0F1C0871-B248-194E-98A9-61C7E22DFA67}"/>
              </a:ext>
            </a:extLst>
          </p:cNvPr>
          <p:cNvSpPr txBox="1">
            <a:spLocks noChangeArrowheads="1"/>
          </p:cNvSpPr>
          <p:nvPr/>
        </p:nvSpPr>
        <p:spPr bwMode="auto">
          <a:xfrm>
            <a:off x="593725" y="5953125"/>
            <a:ext cx="4400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2000">
                <a:solidFill>
                  <a:srgbClr val="008000"/>
                </a:solidFill>
                <a:latin typeface="Arial" panose="020B0604020202020204" pitchFamily="34" charset="0"/>
                <a:ea typeface="黑体" panose="02010609060101010101" pitchFamily="49" charset="-122"/>
              </a:rPr>
              <a:t>那最早可以提前到哪个阶段呢？</a:t>
            </a:r>
            <a:endParaRPr lang="en-US" altLang="zh-CN" sz="2000">
              <a:solidFill>
                <a:srgbClr val="CC0000"/>
              </a:solidFill>
              <a:latin typeface="Arial" panose="020B0604020202020204" pitchFamily="34" charset="0"/>
              <a:ea typeface="黑体" panose="02010609060101010101" pitchFamily="49" charset="-122"/>
            </a:endParaRPr>
          </a:p>
        </p:txBody>
      </p:sp>
      <p:sp>
        <p:nvSpPr>
          <p:cNvPr id="224263" name="Text Box 7">
            <a:extLst>
              <a:ext uri="{FF2B5EF4-FFF2-40B4-BE49-F238E27FC236}">
                <a16:creationId xmlns:a16="http://schemas.microsoft.com/office/drawing/2014/main" id="{B65B1106-EDB7-A143-8339-B58E92541149}"/>
              </a:ext>
            </a:extLst>
          </p:cNvPr>
          <p:cNvSpPr txBox="1">
            <a:spLocks noChangeArrowheads="1"/>
          </p:cNvSpPr>
          <p:nvPr/>
        </p:nvSpPr>
        <p:spPr bwMode="auto">
          <a:xfrm>
            <a:off x="714375" y="5500688"/>
            <a:ext cx="233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可以！</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4259">
                                            <p:txEl>
                                              <p:pRg st="2" end="2"/>
                                            </p:txEl>
                                          </p:spTgt>
                                        </p:tgtEl>
                                        <p:attrNameLst>
                                          <p:attrName>style.visibility</p:attrName>
                                        </p:attrNameLst>
                                      </p:cBhvr>
                                      <p:to>
                                        <p:strVal val="visible"/>
                                      </p:to>
                                    </p:set>
                                    <p:animEffect transition="in" filter="blinds(horizontal)">
                                      <p:cBhvr>
                                        <p:cTn id="7" dur="500"/>
                                        <p:tgtEl>
                                          <p:spTgt spid="22425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4259">
                                            <p:txEl>
                                              <p:pRg st="3" end="3"/>
                                            </p:txEl>
                                          </p:spTgt>
                                        </p:tgtEl>
                                        <p:attrNameLst>
                                          <p:attrName>style.visibility</p:attrName>
                                        </p:attrNameLst>
                                      </p:cBhvr>
                                      <p:to>
                                        <p:strVal val="visible"/>
                                      </p:to>
                                    </p:set>
                                    <p:animEffect transition="in" filter="blinds(horizontal)">
                                      <p:cBhvr>
                                        <p:cTn id="10" dur="500"/>
                                        <p:tgtEl>
                                          <p:spTgt spid="224259">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24259">
                                            <p:txEl>
                                              <p:pRg st="5" end="5"/>
                                            </p:txEl>
                                          </p:spTgt>
                                        </p:tgtEl>
                                        <p:attrNameLst>
                                          <p:attrName>style.visibility</p:attrName>
                                        </p:attrNameLst>
                                      </p:cBhvr>
                                      <p:to>
                                        <p:strVal val="visible"/>
                                      </p:to>
                                    </p:set>
                                    <p:animEffect transition="in" filter="blinds(horizontal)">
                                      <p:cBhvr>
                                        <p:cTn id="15" dur="500"/>
                                        <p:tgtEl>
                                          <p:spTgt spid="224259">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24259">
                                            <p:txEl>
                                              <p:pRg st="6" end="6"/>
                                            </p:txEl>
                                          </p:spTgt>
                                        </p:tgtEl>
                                        <p:attrNameLst>
                                          <p:attrName>style.visibility</p:attrName>
                                        </p:attrNameLst>
                                      </p:cBhvr>
                                      <p:to>
                                        <p:strVal val="visible"/>
                                      </p:to>
                                    </p:set>
                                    <p:animEffect transition="in" filter="blinds(horizontal)">
                                      <p:cBhvr>
                                        <p:cTn id="18" dur="500"/>
                                        <p:tgtEl>
                                          <p:spTgt spid="224259">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24259">
                                            <p:txEl>
                                              <p:pRg st="8" end="8"/>
                                            </p:txEl>
                                          </p:spTgt>
                                        </p:tgtEl>
                                        <p:attrNameLst>
                                          <p:attrName>style.visibility</p:attrName>
                                        </p:attrNameLst>
                                      </p:cBhvr>
                                      <p:to>
                                        <p:strVal val="visible"/>
                                      </p:to>
                                    </p:set>
                                    <p:animEffect transition="in" filter="blinds(horizontal)">
                                      <p:cBhvr>
                                        <p:cTn id="23" dur="500"/>
                                        <p:tgtEl>
                                          <p:spTgt spid="224259">
                                            <p:txEl>
                                              <p:pRg st="8" end="8"/>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24259">
                                            <p:txEl>
                                              <p:pRg st="10" end="10"/>
                                            </p:txEl>
                                          </p:spTgt>
                                        </p:tgtEl>
                                        <p:attrNameLst>
                                          <p:attrName>style.visibility</p:attrName>
                                        </p:attrNameLst>
                                      </p:cBhvr>
                                      <p:to>
                                        <p:strVal val="visible"/>
                                      </p:to>
                                    </p:set>
                                    <p:animEffect transition="in" filter="blinds(horizontal)">
                                      <p:cBhvr>
                                        <p:cTn id="28" dur="500"/>
                                        <p:tgtEl>
                                          <p:spTgt spid="224259">
                                            <p:txEl>
                                              <p:pRg st="10" end="1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224259">
                                            <p:txEl>
                                              <p:pRg st="11" end="11"/>
                                            </p:txEl>
                                          </p:spTgt>
                                        </p:tgtEl>
                                        <p:attrNameLst>
                                          <p:attrName>style.visibility</p:attrName>
                                        </p:attrNameLst>
                                      </p:cBhvr>
                                      <p:to>
                                        <p:strVal val="visible"/>
                                      </p:to>
                                    </p:set>
                                    <p:animEffect transition="in" filter="blinds(horizontal)">
                                      <p:cBhvr>
                                        <p:cTn id="33" dur="500"/>
                                        <p:tgtEl>
                                          <p:spTgt spid="224259">
                                            <p:txEl>
                                              <p:pRg st="11" end="1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224259">
                                            <p:txEl>
                                              <p:pRg st="12" end="12"/>
                                            </p:txEl>
                                          </p:spTgt>
                                        </p:tgtEl>
                                        <p:attrNameLst>
                                          <p:attrName>style.visibility</p:attrName>
                                        </p:attrNameLst>
                                      </p:cBhvr>
                                      <p:to>
                                        <p:strVal val="visible"/>
                                      </p:to>
                                    </p:set>
                                    <p:animEffect transition="in" filter="blinds(horizontal)">
                                      <p:cBhvr>
                                        <p:cTn id="38" dur="500"/>
                                        <p:tgtEl>
                                          <p:spTgt spid="224259">
                                            <p:txEl>
                                              <p:pRg st="12" end="1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24263"/>
                                        </p:tgtEl>
                                        <p:attrNameLst>
                                          <p:attrName>style.visibility</p:attrName>
                                        </p:attrNameLst>
                                      </p:cBhvr>
                                      <p:to>
                                        <p:strVal val="visible"/>
                                      </p:to>
                                    </p:set>
                                    <p:animEffect transition="in" filter="blinds(horizontal)">
                                      <p:cBhvr>
                                        <p:cTn id="43" dur="500"/>
                                        <p:tgtEl>
                                          <p:spTgt spid="22426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24262"/>
                                        </p:tgtEl>
                                        <p:attrNameLst>
                                          <p:attrName>style.visibility</p:attrName>
                                        </p:attrNameLst>
                                      </p:cBhvr>
                                      <p:to>
                                        <p:strVal val="visible"/>
                                      </p:to>
                                    </p:set>
                                    <p:animEffect transition="in" filter="blinds(horizontal)">
                                      <p:cBhvr>
                                        <p:cTn id="48" dur="500"/>
                                        <p:tgtEl>
                                          <p:spTgt spid="22426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24261"/>
                                        </p:tgtEl>
                                        <p:attrNameLst>
                                          <p:attrName>style.visibility</p:attrName>
                                        </p:attrNameLst>
                                      </p:cBhvr>
                                      <p:to>
                                        <p:strVal val="visible"/>
                                      </p:to>
                                    </p:set>
                                    <p:animEffect transition="in" filter="blinds(horizontal)">
                                      <p:cBhvr>
                                        <p:cTn id="53" dur="500"/>
                                        <p:tgtEl>
                                          <p:spTgt spid="224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1" grpId="0"/>
      <p:bldP spid="224262" grpId="0"/>
      <p:bldP spid="22426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21DE0554-C351-A342-B5F5-B585447B0851}"/>
              </a:ext>
            </a:extLst>
          </p:cNvPr>
          <p:cNvSpPr>
            <a:spLocks noGrp="1" noChangeArrowheads="1"/>
          </p:cNvSpPr>
          <p:nvPr>
            <p:ph type="title"/>
          </p:nvPr>
        </p:nvSpPr>
        <p:spPr>
          <a:xfrm>
            <a:off x="800100" y="228600"/>
            <a:ext cx="5716588" cy="368300"/>
          </a:xfrm>
          <a:noFill/>
        </p:spPr>
        <p:txBody>
          <a:bodyPr/>
          <a:lstStyle/>
          <a:p>
            <a:r>
              <a:rPr lang="zh-CN" altLang="en-US">
                <a:ea typeface="宋体" panose="02010600030101010101" pitchFamily="2" charset="-122"/>
              </a:rPr>
              <a:t>复习</a:t>
            </a:r>
            <a:r>
              <a:rPr lang="en-US" altLang="zh-CN">
                <a:ea typeface="宋体" panose="02010600030101010101" pitchFamily="2" charset="-122"/>
              </a:rPr>
              <a:t>:</a:t>
            </a:r>
            <a:r>
              <a:rPr lang="zh-CN" altLang="en-US">
                <a:ea typeface="宋体" panose="02010600030101010101" pitchFamily="2" charset="-122"/>
              </a:rPr>
              <a:t> </a:t>
            </a:r>
            <a:r>
              <a:rPr lang="en-US" altLang="zh-CN">
                <a:ea typeface="宋体" panose="02010600030101010101" pitchFamily="2" charset="-122"/>
              </a:rPr>
              <a:t>Control Hazard</a:t>
            </a:r>
            <a:r>
              <a:rPr lang="zh-CN" altLang="en-US">
                <a:ea typeface="宋体" panose="02010600030101010101" pitchFamily="2" charset="-122"/>
              </a:rPr>
              <a:t>现象</a:t>
            </a:r>
          </a:p>
        </p:txBody>
      </p:sp>
      <p:sp>
        <p:nvSpPr>
          <p:cNvPr id="323587" name="Rectangle 3">
            <a:extLst>
              <a:ext uri="{FF2B5EF4-FFF2-40B4-BE49-F238E27FC236}">
                <a16:creationId xmlns:a16="http://schemas.microsoft.com/office/drawing/2014/main" id="{755D7A92-74F8-9B43-97C6-83590B658BB3}"/>
              </a:ext>
            </a:extLst>
          </p:cNvPr>
          <p:cNvSpPr>
            <a:spLocks noGrp="1" noChangeArrowheads="1"/>
          </p:cNvSpPr>
          <p:nvPr>
            <p:ph type="body" idx="1"/>
          </p:nvPr>
        </p:nvSpPr>
        <p:spPr>
          <a:xfrm>
            <a:off x="0" y="4094163"/>
            <a:ext cx="8961438" cy="2068512"/>
          </a:xfrm>
          <a:noFill/>
        </p:spPr>
        <p:txBody>
          <a:bodyPr/>
          <a:lstStyle/>
          <a:p>
            <a:r>
              <a:rPr lang="zh-CN" altLang="en-US">
                <a:ea typeface="黑体" panose="02010609060101010101" pitchFamily="49" charset="-122"/>
              </a:rPr>
              <a:t>虽然</a:t>
            </a:r>
            <a:r>
              <a:rPr lang="en-US" altLang="zh-CN">
                <a:ea typeface="黑体" panose="02010609060101010101" pitchFamily="49" charset="-122"/>
              </a:rPr>
              <a:t>Beq</a:t>
            </a:r>
            <a:r>
              <a:rPr lang="zh-CN" altLang="en-US">
                <a:ea typeface="黑体" panose="02010609060101010101" pitchFamily="49" charset="-122"/>
              </a:rPr>
              <a:t>指令在第四周期取出，但</a:t>
            </a:r>
            <a:r>
              <a:rPr lang="en-US" altLang="zh-CN">
                <a:ea typeface="黑体" panose="02010609060101010101" pitchFamily="49" charset="-122"/>
              </a:rPr>
              <a:t>:</a:t>
            </a:r>
          </a:p>
          <a:p>
            <a:pPr lvl="1"/>
            <a:r>
              <a:rPr lang="zh-CN" altLang="en-US">
                <a:ea typeface="黑体" panose="02010609060101010101" pitchFamily="49" charset="-122"/>
              </a:rPr>
              <a:t>“是否转移”在</a:t>
            </a:r>
            <a:r>
              <a:rPr lang="en-US" altLang="zh-CN">
                <a:ea typeface="黑体" panose="02010609060101010101" pitchFamily="49" charset="-122"/>
              </a:rPr>
              <a:t>Mem</a:t>
            </a:r>
            <a:r>
              <a:rPr lang="zh-CN" altLang="en-US">
                <a:ea typeface="黑体" panose="02010609060101010101" pitchFamily="49" charset="-122"/>
              </a:rPr>
              <a:t>阶段确定，目标地址在第七周期才被送到</a:t>
            </a:r>
            <a:r>
              <a:rPr lang="en-US" altLang="zh-CN">
                <a:ea typeface="黑体" panose="02010609060101010101" pitchFamily="49" charset="-122"/>
              </a:rPr>
              <a:t>PC</a:t>
            </a:r>
            <a:r>
              <a:rPr lang="zh-CN" altLang="en-US">
                <a:ea typeface="黑体" panose="02010609060101010101" pitchFamily="49" charset="-122"/>
              </a:rPr>
              <a:t>输入端</a:t>
            </a:r>
          </a:p>
          <a:p>
            <a:pPr lvl="1"/>
            <a:r>
              <a:rPr lang="zh-CN" altLang="en-US">
                <a:ea typeface="黑体" panose="02010609060101010101" pitchFamily="49" charset="-122"/>
              </a:rPr>
              <a:t>第八周期才取出目标地址处的指令执行</a:t>
            </a:r>
          </a:p>
          <a:p>
            <a:pPr lvl="1">
              <a:buFontTx/>
              <a:buNone/>
            </a:pPr>
            <a:r>
              <a:rPr lang="zh-CN" altLang="en-US">
                <a:solidFill>
                  <a:srgbClr val="CC0000"/>
                </a:solidFill>
                <a:ea typeface="黑体" panose="02010609060101010101" pitchFamily="49" charset="-122"/>
              </a:rPr>
              <a:t>结果：在取目标指令之前，已有三条指令被取出，取错了三条指令！</a:t>
            </a:r>
          </a:p>
          <a:p>
            <a:r>
              <a:rPr lang="zh-CN" altLang="en-US">
                <a:ea typeface="黑体" panose="02010609060101010101" pitchFamily="49" charset="-122"/>
              </a:rPr>
              <a:t>发生转移时，要在流水线中清除</a:t>
            </a:r>
            <a:r>
              <a:rPr lang="en-US" altLang="zh-CN">
                <a:ea typeface="黑体" panose="02010609060101010101" pitchFamily="49" charset="-122"/>
              </a:rPr>
              <a:t>Beq</a:t>
            </a:r>
            <a:r>
              <a:rPr lang="zh-CN" altLang="en-US">
                <a:ea typeface="黑体" panose="02010609060101010101" pitchFamily="49" charset="-122"/>
              </a:rPr>
              <a:t>后面的三条指令，分别在</a:t>
            </a:r>
            <a:r>
              <a:rPr lang="en-US" altLang="zh-CN">
                <a:ea typeface="黑体" panose="02010609060101010101" pitchFamily="49" charset="-122"/>
              </a:rPr>
              <a:t>EXE </a:t>
            </a:r>
            <a:r>
              <a:rPr lang="zh-CN" altLang="en-US">
                <a:ea typeface="黑体" panose="02010609060101010101" pitchFamily="49" charset="-122"/>
              </a:rPr>
              <a:t>、</a:t>
            </a:r>
            <a:r>
              <a:rPr lang="en-US" altLang="zh-CN">
                <a:ea typeface="黑体" panose="02010609060101010101" pitchFamily="49" charset="-122"/>
              </a:rPr>
              <a:t>ID</a:t>
            </a:r>
            <a:r>
              <a:rPr lang="zh-CN" altLang="en-US">
                <a:ea typeface="黑体" panose="02010609060101010101" pitchFamily="49" charset="-122"/>
              </a:rPr>
              <a:t>、 </a:t>
            </a:r>
            <a:r>
              <a:rPr lang="en-US" altLang="zh-CN">
                <a:ea typeface="黑体" panose="02010609060101010101" pitchFamily="49" charset="-122"/>
              </a:rPr>
              <a:t>IF</a:t>
            </a:r>
            <a:r>
              <a:rPr lang="zh-CN" altLang="en-US">
                <a:ea typeface="黑体" panose="02010609060101010101" pitchFamily="49" charset="-122"/>
              </a:rPr>
              <a:t>段中</a:t>
            </a:r>
          </a:p>
          <a:p>
            <a:r>
              <a:rPr lang="zh-CN" altLang="en-US">
                <a:solidFill>
                  <a:srgbClr val="008000"/>
                </a:solidFill>
                <a:ea typeface="黑体" panose="02010609060101010101" pitchFamily="49" charset="-122"/>
              </a:rPr>
              <a:t>延迟损失时间片</a:t>
            </a:r>
            <a:r>
              <a:rPr lang="en-US" altLang="zh-CN">
                <a:solidFill>
                  <a:srgbClr val="008000"/>
                </a:solidFill>
                <a:ea typeface="黑体" panose="02010609060101010101" pitchFamily="49" charset="-122"/>
              </a:rPr>
              <a:t>C</a:t>
            </a:r>
            <a:r>
              <a:rPr lang="zh-CN" altLang="en-US">
                <a:solidFill>
                  <a:srgbClr val="008000"/>
                </a:solidFill>
                <a:ea typeface="黑体" panose="02010609060101010101" pitchFamily="49" charset="-122"/>
              </a:rPr>
              <a:t>：</a:t>
            </a:r>
            <a:r>
              <a:rPr lang="zh-CN" altLang="en-US">
                <a:ea typeface="黑体" panose="02010609060101010101" pitchFamily="49" charset="-122"/>
              </a:rPr>
              <a:t>发生转移时，给流水线带来的延迟损失</a:t>
            </a:r>
            <a:endParaRPr lang="en-US" altLang="zh-CN">
              <a:ea typeface="黑体" panose="02010609060101010101" pitchFamily="49" charset="-122"/>
            </a:endParaRPr>
          </a:p>
        </p:txBody>
      </p:sp>
      <p:grpSp>
        <p:nvGrpSpPr>
          <p:cNvPr id="132100" name="Group 4">
            <a:extLst>
              <a:ext uri="{FF2B5EF4-FFF2-40B4-BE49-F238E27FC236}">
                <a16:creationId xmlns:a16="http://schemas.microsoft.com/office/drawing/2014/main" id="{D4E52D92-23DE-0F4E-A813-C721DA562FAD}"/>
              </a:ext>
            </a:extLst>
          </p:cNvPr>
          <p:cNvGrpSpPr>
            <a:grpSpLocks/>
          </p:cNvGrpSpPr>
          <p:nvPr/>
        </p:nvGrpSpPr>
        <p:grpSpPr bwMode="auto">
          <a:xfrm>
            <a:off x="990600" y="1358900"/>
            <a:ext cx="825500" cy="254000"/>
            <a:chOff x="624" y="664"/>
            <a:chExt cx="520" cy="160"/>
          </a:xfrm>
        </p:grpSpPr>
        <p:sp>
          <p:nvSpPr>
            <p:cNvPr id="132251" name="Line 5">
              <a:extLst>
                <a:ext uri="{FF2B5EF4-FFF2-40B4-BE49-F238E27FC236}">
                  <a16:creationId xmlns:a16="http://schemas.microsoft.com/office/drawing/2014/main" id="{0B7B9A1C-55C9-204A-A277-738F2DAAEA66}"/>
                </a:ext>
              </a:extLst>
            </p:cNvPr>
            <p:cNvSpPr>
              <a:spLocks noChangeShapeType="1"/>
            </p:cNvSpPr>
            <p:nvPr/>
          </p:nvSpPr>
          <p:spPr bwMode="auto">
            <a:xfrm>
              <a:off x="632"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2" name="Line 6">
              <a:extLst>
                <a:ext uri="{FF2B5EF4-FFF2-40B4-BE49-F238E27FC236}">
                  <a16:creationId xmlns:a16="http://schemas.microsoft.com/office/drawing/2014/main" id="{9A3980A5-EF5A-2C4E-9CB0-B21EB2F02D5D}"/>
                </a:ext>
              </a:extLst>
            </p:cNvPr>
            <p:cNvSpPr>
              <a:spLocks noChangeShapeType="1"/>
            </p:cNvSpPr>
            <p:nvPr/>
          </p:nvSpPr>
          <p:spPr bwMode="auto">
            <a:xfrm>
              <a:off x="624"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3" name="Line 7">
              <a:extLst>
                <a:ext uri="{FF2B5EF4-FFF2-40B4-BE49-F238E27FC236}">
                  <a16:creationId xmlns:a16="http://schemas.microsoft.com/office/drawing/2014/main" id="{228C8017-2F6A-884C-981B-CBB7C9A71701}"/>
                </a:ext>
              </a:extLst>
            </p:cNvPr>
            <p:cNvSpPr>
              <a:spLocks noChangeShapeType="1"/>
            </p:cNvSpPr>
            <p:nvPr/>
          </p:nvSpPr>
          <p:spPr bwMode="auto">
            <a:xfrm flipV="1">
              <a:off x="912"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4" name="Line 8">
              <a:extLst>
                <a:ext uri="{FF2B5EF4-FFF2-40B4-BE49-F238E27FC236}">
                  <a16:creationId xmlns:a16="http://schemas.microsoft.com/office/drawing/2014/main" id="{B907E1E4-E57E-1948-BA52-8CC4EE45186F}"/>
                </a:ext>
              </a:extLst>
            </p:cNvPr>
            <p:cNvSpPr>
              <a:spLocks noChangeShapeType="1"/>
            </p:cNvSpPr>
            <p:nvPr/>
          </p:nvSpPr>
          <p:spPr bwMode="auto">
            <a:xfrm>
              <a:off x="920"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1" name="Group 9">
            <a:extLst>
              <a:ext uri="{FF2B5EF4-FFF2-40B4-BE49-F238E27FC236}">
                <a16:creationId xmlns:a16="http://schemas.microsoft.com/office/drawing/2014/main" id="{16435F04-AE63-2846-BC1A-EC1C36EEE1BB}"/>
              </a:ext>
            </a:extLst>
          </p:cNvPr>
          <p:cNvGrpSpPr>
            <a:grpSpLocks/>
          </p:cNvGrpSpPr>
          <p:nvPr/>
        </p:nvGrpSpPr>
        <p:grpSpPr bwMode="auto">
          <a:xfrm>
            <a:off x="1828800" y="1358900"/>
            <a:ext cx="825500" cy="254000"/>
            <a:chOff x="1152" y="664"/>
            <a:chExt cx="520" cy="160"/>
          </a:xfrm>
        </p:grpSpPr>
        <p:sp>
          <p:nvSpPr>
            <p:cNvPr id="132247" name="Line 10">
              <a:extLst>
                <a:ext uri="{FF2B5EF4-FFF2-40B4-BE49-F238E27FC236}">
                  <a16:creationId xmlns:a16="http://schemas.microsoft.com/office/drawing/2014/main" id="{D12820AB-FD36-744E-8CCB-59B1BDE14392}"/>
                </a:ext>
              </a:extLst>
            </p:cNvPr>
            <p:cNvSpPr>
              <a:spLocks noChangeShapeType="1"/>
            </p:cNvSpPr>
            <p:nvPr/>
          </p:nvSpPr>
          <p:spPr bwMode="auto">
            <a:xfrm>
              <a:off x="1160"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8" name="Line 11">
              <a:extLst>
                <a:ext uri="{FF2B5EF4-FFF2-40B4-BE49-F238E27FC236}">
                  <a16:creationId xmlns:a16="http://schemas.microsoft.com/office/drawing/2014/main" id="{CCEC41E4-A180-1149-A7AA-4D779E880B26}"/>
                </a:ext>
              </a:extLst>
            </p:cNvPr>
            <p:cNvSpPr>
              <a:spLocks noChangeShapeType="1"/>
            </p:cNvSpPr>
            <p:nvPr/>
          </p:nvSpPr>
          <p:spPr bwMode="auto">
            <a:xfrm>
              <a:off x="1152"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9" name="Line 12">
              <a:extLst>
                <a:ext uri="{FF2B5EF4-FFF2-40B4-BE49-F238E27FC236}">
                  <a16:creationId xmlns:a16="http://schemas.microsoft.com/office/drawing/2014/main" id="{5B1E9BBB-8400-8F4B-937F-542ABEDFCBD2}"/>
                </a:ext>
              </a:extLst>
            </p:cNvPr>
            <p:cNvSpPr>
              <a:spLocks noChangeShapeType="1"/>
            </p:cNvSpPr>
            <p:nvPr/>
          </p:nvSpPr>
          <p:spPr bwMode="auto">
            <a:xfrm flipV="1">
              <a:off x="1440"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0" name="Line 13">
              <a:extLst>
                <a:ext uri="{FF2B5EF4-FFF2-40B4-BE49-F238E27FC236}">
                  <a16:creationId xmlns:a16="http://schemas.microsoft.com/office/drawing/2014/main" id="{7E0F481F-215C-5C40-81FC-79DEC14901F5}"/>
                </a:ext>
              </a:extLst>
            </p:cNvPr>
            <p:cNvSpPr>
              <a:spLocks noChangeShapeType="1"/>
            </p:cNvSpPr>
            <p:nvPr/>
          </p:nvSpPr>
          <p:spPr bwMode="auto">
            <a:xfrm>
              <a:off x="1448"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2" name="Group 14">
            <a:extLst>
              <a:ext uri="{FF2B5EF4-FFF2-40B4-BE49-F238E27FC236}">
                <a16:creationId xmlns:a16="http://schemas.microsoft.com/office/drawing/2014/main" id="{E8EA74A4-0802-F944-A4A7-AECB95A18C1D}"/>
              </a:ext>
            </a:extLst>
          </p:cNvPr>
          <p:cNvGrpSpPr>
            <a:grpSpLocks/>
          </p:cNvGrpSpPr>
          <p:nvPr/>
        </p:nvGrpSpPr>
        <p:grpSpPr bwMode="auto">
          <a:xfrm>
            <a:off x="2667000" y="1358900"/>
            <a:ext cx="825500" cy="254000"/>
            <a:chOff x="1680" y="664"/>
            <a:chExt cx="520" cy="160"/>
          </a:xfrm>
        </p:grpSpPr>
        <p:sp>
          <p:nvSpPr>
            <p:cNvPr id="132243" name="Line 15">
              <a:extLst>
                <a:ext uri="{FF2B5EF4-FFF2-40B4-BE49-F238E27FC236}">
                  <a16:creationId xmlns:a16="http://schemas.microsoft.com/office/drawing/2014/main" id="{6B068D70-219E-A342-B669-6F11600EAA2F}"/>
                </a:ext>
              </a:extLst>
            </p:cNvPr>
            <p:cNvSpPr>
              <a:spLocks noChangeShapeType="1"/>
            </p:cNvSpPr>
            <p:nvPr/>
          </p:nvSpPr>
          <p:spPr bwMode="auto">
            <a:xfrm>
              <a:off x="1688"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4" name="Line 16">
              <a:extLst>
                <a:ext uri="{FF2B5EF4-FFF2-40B4-BE49-F238E27FC236}">
                  <a16:creationId xmlns:a16="http://schemas.microsoft.com/office/drawing/2014/main" id="{85F251FC-7B11-B04C-BCA8-6F87AA3F90C1}"/>
                </a:ext>
              </a:extLst>
            </p:cNvPr>
            <p:cNvSpPr>
              <a:spLocks noChangeShapeType="1"/>
            </p:cNvSpPr>
            <p:nvPr/>
          </p:nvSpPr>
          <p:spPr bwMode="auto">
            <a:xfrm>
              <a:off x="1680"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5" name="Line 17">
              <a:extLst>
                <a:ext uri="{FF2B5EF4-FFF2-40B4-BE49-F238E27FC236}">
                  <a16:creationId xmlns:a16="http://schemas.microsoft.com/office/drawing/2014/main" id="{A3F85266-8D1E-9949-92A8-6559AE76ECF0}"/>
                </a:ext>
              </a:extLst>
            </p:cNvPr>
            <p:cNvSpPr>
              <a:spLocks noChangeShapeType="1"/>
            </p:cNvSpPr>
            <p:nvPr/>
          </p:nvSpPr>
          <p:spPr bwMode="auto">
            <a:xfrm flipV="1">
              <a:off x="1968"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6" name="Line 18">
              <a:extLst>
                <a:ext uri="{FF2B5EF4-FFF2-40B4-BE49-F238E27FC236}">
                  <a16:creationId xmlns:a16="http://schemas.microsoft.com/office/drawing/2014/main" id="{9836738C-FCF1-E04C-87E1-631DEAE24229}"/>
                </a:ext>
              </a:extLst>
            </p:cNvPr>
            <p:cNvSpPr>
              <a:spLocks noChangeShapeType="1"/>
            </p:cNvSpPr>
            <p:nvPr/>
          </p:nvSpPr>
          <p:spPr bwMode="auto">
            <a:xfrm>
              <a:off x="1976"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3" name="Group 19">
            <a:extLst>
              <a:ext uri="{FF2B5EF4-FFF2-40B4-BE49-F238E27FC236}">
                <a16:creationId xmlns:a16="http://schemas.microsoft.com/office/drawing/2014/main" id="{F573A163-71CA-AD45-A5B9-C31881F7BC90}"/>
              </a:ext>
            </a:extLst>
          </p:cNvPr>
          <p:cNvGrpSpPr>
            <a:grpSpLocks/>
          </p:cNvGrpSpPr>
          <p:nvPr/>
        </p:nvGrpSpPr>
        <p:grpSpPr bwMode="auto">
          <a:xfrm>
            <a:off x="3505200" y="1358900"/>
            <a:ext cx="825500" cy="254000"/>
            <a:chOff x="2208" y="664"/>
            <a:chExt cx="520" cy="160"/>
          </a:xfrm>
        </p:grpSpPr>
        <p:sp>
          <p:nvSpPr>
            <p:cNvPr id="132239" name="Line 20">
              <a:extLst>
                <a:ext uri="{FF2B5EF4-FFF2-40B4-BE49-F238E27FC236}">
                  <a16:creationId xmlns:a16="http://schemas.microsoft.com/office/drawing/2014/main" id="{B79AEBFF-4447-9D41-9BB1-6D0E50C0E145}"/>
                </a:ext>
              </a:extLst>
            </p:cNvPr>
            <p:cNvSpPr>
              <a:spLocks noChangeShapeType="1"/>
            </p:cNvSpPr>
            <p:nvPr/>
          </p:nvSpPr>
          <p:spPr bwMode="auto">
            <a:xfrm>
              <a:off x="2216"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0" name="Line 21">
              <a:extLst>
                <a:ext uri="{FF2B5EF4-FFF2-40B4-BE49-F238E27FC236}">
                  <a16:creationId xmlns:a16="http://schemas.microsoft.com/office/drawing/2014/main" id="{D1529442-C740-7E4D-9E31-170A6B477D1C}"/>
                </a:ext>
              </a:extLst>
            </p:cNvPr>
            <p:cNvSpPr>
              <a:spLocks noChangeShapeType="1"/>
            </p:cNvSpPr>
            <p:nvPr/>
          </p:nvSpPr>
          <p:spPr bwMode="auto">
            <a:xfrm>
              <a:off x="2208"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1" name="Line 22">
              <a:extLst>
                <a:ext uri="{FF2B5EF4-FFF2-40B4-BE49-F238E27FC236}">
                  <a16:creationId xmlns:a16="http://schemas.microsoft.com/office/drawing/2014/main" id="{E6A6FB85-7E9C-864F-9932-8232929FF1C8}"/>
                </a:ext>
              </a:extLst>
            </p:cNvPr>
            <p:cNvSpPr>
              <a:spLocks noChangeShapeType="1"/>
            </p:cNvSpPr>
            <p:nvPr/>
          </p:nvSpPr>
          <p:spPr bwMode="auto">
            <a:xfrm flipV="1">
              <a:off x="2496"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2" name="Line 23">
              <a:extLst>
                <a:ext uri="{FF2B5EF4-FFF2-40B4-BE49-F238E27FC236}">
                  <a16:creationId xmlns:a16="http://schemas.microsoft.com/office/drawing/2014/main" id="{AED58FB9-AE88-DC43-B5FC-A5E855C4EE5D}"/>
                </a:ext>
              </a:extLst>
            </p:cNvPr>
            <p:cNvSpPr>
              <a:spLocks noChangeShapeType="1"/>
            </p:cNvSpPr>
            <p:nvPr/>
          </p:nvSpPr>
          <p:spPr bwMode="auto">
            <a:xfrm>
              <a:off x="2504"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4" name="Group 24">
            <a:extLst>
              <a:ext uri="{FF2B5EF4-FFF2-40B4-BE49-F238E27FC236}">
                <a16:creationId xmlns:a16="http://schemas.microsoft.com/office/drawing/2014/main" id="{4AB04A5F-DDC8-5F4D-A8B5-EAECBCBA4601}"/>
              </a:ext>
            </a:extLst>
          </p:cNvPr>
          <p:cNvGrpSpPr>
            <a:grpSpLocks/>
          </p:cNvGrpSpPr>
          <p:nvPr/>
        </p:nvGrpSpPr>
        <p:grpSpPr bwMode="auto">
          <a:xfrm>
            <a:off x="4343400" y="1358900"/>
            <a:ext cx="825500" cy="254000"/>
            <a:chOff x="2736" y="664"/>
            <a:chExt cx="520" cy="160"/>
          </a:xfrm>
        </p:grpSpPr>
        <p:sp>
          <p:nvSpPr>
            <p:cNvPr id="132235" name="Line 25">
              <a:extLst>
                <a:ext uri="{FF2B5EF4-FFF2-40B4-BE49-F238E27FC236}">
                  <a16:creationId xmlns:a16="http://schemas.microsoft.com/office/drawing/2014/main" id="{31A09E7E-C8E4-1B41-88D0-18F91FF2240E}"/>
                </a:ext>
              </a:extLst>
            </p:cNvPr>
            <p:cNvSpPr>
              <a:spLocks noChangeShapeType="1"/>
            </p:cNvSpPr>
            <p:nvPr/>
          </p:nvSpPr>
          <p:spPr bwMode="auto">
            <a:xfrm>
              <a:off x="2744"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6" name="Line 26">
              <a:extLst>
                <a:ext uri="{FF2B5EF4-FFF2-40B4-BE49-F238E27FC236}">
                  <a16:creationId xmlns:a16="http://schemas.microsoft.com/office/drawing/2014/main" id="{20F3C37E-7DAD-974D-A35B-46CDD4C113B7}"/>
                </a:ext>
              </a:extLst>
            </p:cNvPr>
            <p:cNvSpPr>
              <a:spLocks noChangeShapeType="1"/>
            </p:cNvSpPr>
            <p:nvPr/>
          </p:nvSpPr>
          <p:spPr bwMode="auto">
            <a:xfrm>
              <a:off x="2736"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7" name="Line 27">
              <a:extLst>
                <a:ext uri="{FF2B5EF4-FFF2-40B4-BE49-F238E27FC236}">
                  <a16:creationId xmlns:a16="http://schemas.microsoft.com/office/drawing/2014/main" id="{EEECF3A6-061A-CB41-B8E0-43CDFC5BEC78}"/>
                </a:ext>
              </a:extLst>
            </p:cNvPr>
            <p:cNvSpPr>
              <a:spLocks noChangeShapeType="1"/>
            </p:cNvSpPr>
            <p:nvPr/>
          </p:nvSpPr>
          <p:spPr bwMode="auto">
            <a:xfrm flipV="1">
              <a:off x="3024"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8" name="Line 28">
              <a:extLst>
                <a:ext uri="{FF2B5EF4-FFF2-40B4-BE49-F238E27FC236}">
                  <a16:creationId xmlns:a16="http://schemas.microsoft.com/office/drawing/2014/main" id="{708B22AF-4D0F-764F-B730-05C34ED231CB}"/>
                </a:ext>
              </a:extLst>
            </p:cNvPr>
            <p:cNvSpPr>
              <a:spLocks noChangeShapeType="1"/>
            </p:cNvSpPr>
            <p:nvPr/>
          </p:nvSpPr>
          <p:spPr bwMode="auto">
            <a:xfrm>
              <a:off x="3032"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5" name="Group 29">
            <a:extLst>
              <a:ext uri="{FF2B5EF4-FFF2-40B4-BE49-F238E27FC236}">
                <a16:creationId xmlns:a16="http://schemas.microsoft.com/office/drawing/2014/main" id="{DC75C9AD-990D-8C44-A6B7-F974F677559D}"/>
              </a:ext>
            </a:extLst>
          </p:cNvPr>
          <p:cNvGrpSpPr>
            <a:grpSpLocks/>
          </p:cNvGrpSpPr>
          <p:nvPr/>
        </p:nvGrpSpPr>
        <p:grpSpPr bwMode="auto">
          <a:xfrm>
            <a:off x="5181600" y="1358900"/>
            <a:ext cx="825500" cy="254000"/>
            <a:chOff x="3264" y="664"/>
            <a:chExt cx="520" cy="160"/>
          </a:xfrm>
        </p:grpSpPr>
        <p:sp>
          <p:nvSpPr>
            <p:cNvPr id="132231" name="Line 30">
              <a:extLst>
                <a:ext uri="{FF2B5EF4-FFF2-40B4-BE49-F238E27FC236}">
                  <a16:creationId xmlns:a16="http://schemas.microsoft.com/office/drawing/2014/main" id="{2E78A06B-5960-8F4A-8B51-0556F96051FE}"/>
                </a:ext>
              </a:extLst>
            </p:cNvPr>
            <p:cNvSpPr>
              <a:spLocks noChangeShapeType="1"/>
            </p:cNvSpPr>
            <p:nvPr/>
          </p:nvSpPr>
          <p:spPr bwMode="auto">
            <a:xfrm>
              <a:off x="3272"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2" name="Line 31">
              <a:extLst>
                <a:ext uri="{FF2B5EF4-FFF2-40B4-BE49-F238E27FC236}">
                  <a16:creationId xmlns:a16="http://schemas.microsoft.com/office/drawing/2014/main" id="{0872A8C9-C9CE-CC43-ACFE-483FA93EEBB1}"/>
                </a:ext>
              </a:extLst>
            </p:cNvPr>
            <p:cNvSpPr>
              <a:spLocks noChangeShapeType="1"/>
            </p:cNvSpPr>
            <p:nvPr/>
          </p:nvSpPr>
          <p:spPr bwMode="auto">
            <a:xfrm>
              <a:off x="3264"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3" name="Line 32">
              <a:extLst>
                <a:ext uri="{FF2B5EF4-FFF2-40B4-BE49-F238E27FC236}">
                  <a16:creationId xmlns:a16="http://schemas.microsoft.com/office/drawing/2014/main" id="{87D51181-5F10-8544-929E-90D587DBAB23}"/>
                </a:ext>
              </a:extLst>
            </p:cNvPr>
            <p:cNvSpPr>
              <a:spLocks noChangeShapeType="1"/>
            </p:cNvSpPr>
            <p:nvPr/>
          </p:nvSpPr>
          <p:spPr bwMode="auto">
            <a:xfrm flipV="1">
              <a:off x="3552"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4" name="Line 33">
              <a:extLst>
                <a:ext uri="{FF2B5EF4-FFF2-40B4-BE49-F238E27FC236}">
                  <a16:creationId xmlns:a16="http://schemas.microsoft.com/office/drawing/2014/main" id="{A4B6D188-456D-EF48-8022-CCA4CE1F3F68}"/>
                </a:ext>
              </a:extLst>
            </p:cNvPr>
            <p:cNvSpPr>
              <a:spLocks noChangeShapeType="1"/>
            </p:cNvSpPr>
            <p:nvPr/>
          </p:nvSpPr>
          <p:spPr bwMode="auto">
            <a:xfrm>
              <a:off x="3560"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6" name="Group 34">
            <a:extLst>
              <a:ext uri="{FF2B5EF4-FFF2-40B4-BE49-F238E27FC236}">
                <a16:creationId xmlns:a16="http://schemas.microsoft.com/office/drawing/2014/main" id="{C644F5A1-F650-6847-B0AB-8C7C1B0506C1}"/>
              </a:ext>
            </a:extLst>
          </p:cNvPr>
          <p:cNvGrpSpPr>
            <a:grpSpLocks/>
          </p:cNvGrpSpPr>
          <p:nvPr/>
        </p:nvGrpSpPr>
        <p:grpSpPr bwMode="auto">
          <a:xfrm>
            <a:off x="6019800" y="1358900"/>
            <a:ext cx="825500" cy="254000"/>
            <a:chOff x="3792" y="664"/>
            <a:chExt cx="520" cy="160"/>
          </a:xfrm>
        </p:grpSpPr>
        <p:sp>
          <p:nvSpPr>
            <p:cNvPr id="132227" name="Line 35">
              <a:extLst>
                <a:ext uri="{FF2B5EF4-FFF2-40B4-BE49-F238E27FC236}">
                  <a16:creationId xmlns:a16="http://schemas.microsoft.com/office/drawing/2014/main" id="{8B94A704-85ED-AA41-BF93-CA3150725553}"/>
                </a:ext>
              </a:extLst>
            </p:cNvPr>
            <p:cNvSpPr>
              <a:spLocks noChangeShapeType="1"/>
            </p:cNvSpPr>
            <p:nvPr/>
          </p:nvSpPr>
          <p:spPr bwMode="auto">
            <a:xfrm>
              <a:off x="3800"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8" name="Line 36">
              <a:extLst>
                <a:ext uri="{FF2B5EF4-FFF2-40B4-BE49-F238E27FC236}">
                  <a16:creationId xmlns:a16="http://schemas.microsoft.com/office/drawing/2014/main" id="{46D60004-0954-3947-87B9-E245F12FF532}"/>
                </a:ext>
              </a:extLst>
            </p:cNvPr>
            <p:cNvSpPr>
              <a:spLocks noChangeShapeType="1"/>
            </p:cNvSpPr>
            <p:nvPr/>
          </p:nvSpPr>
          <p:spPr bwMode="auto">
            <a:xfrm>
              <a:off x="3792"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9" name="Line 37">
              <a:extLst>
                <a:ext uri="{FF2B5EF4-FFF2-40B4-BE49-F238E27FC236}">
                  <a16:creationId xmlns:a16="http://schemas.microsoft.com/office/drawing/2014/main" id="{B746D3E2-D03A-EA45-83AC-AFFF5A23C1FA}"/>
                </a:ext>
              </a:extLst>
            </p:cNvPr>
            <p:cNvSpPr>
              <a:spLocks noChangeShapeType="1"/>
            </p:cNvSpPr>
            <p:nvPr/>
          </p:nvSpPr>
          <p:spPr bwMode="auto">
            <a:xfrm flipV="1">
              <a:off x="4080"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0" name="Line 38">
              <a:extLst>
                <a:ext uri="{FF2B5EF4-FFF2-40B4-BE49-F238E27FC236}">
                  <a16:creationId xmlns:a16="http://schemas.microsoft.com/office/drawing/2014/main" id="{040A98D5-E083-934C-B16E-E1EF5B4665E7}"/>
                </a:ext>
              </a:extLst>
            </p:cNvPr>
            <p:cNvSpPr>
              <a:spLocks noChangeShapeType="1"/>
            </p:cNvSpPr>
            <p:nvPr/>
          </p:nvSpPr>
          <p:spPr bwMode="auto">
            <a:xfrm>
              <a:off x="4088"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07" name="Group 39">
            <a:extLst>
              <a:ext uri="{FF2B5EF4-FFF2-40B4-BE49-F238E27FC236}">
                <a16:creationId xmlns:a16="http://schemas.microsoft.com/office/drawing/2014/main" id="{D25A9FF8-7D18-D24D-8410-7521063042BA}"/>
              </a:ext>
            </a:extLst>
          </p:cNvPr>
          <p:cNvGrpSpPr>
            <a:grpSpLocks/>
          </p:cNvGrpSpPr>
          <p:nvPr/>
        </p:nvGrpSpPr>
        <p:grpSpPr bwMode="auto">
          <a:xfrm>
            <a:off x="6858000" y="1358900"/>
            <a:ext cx="825500" cy="254000"/>
            <a:chOff x="4320" y="664"/>
            <a:chExt cx="520" cy="160"/>
          </a:xfrm>
        </p:grpSpPr>
        <p:sp>
          <p:nvSpPr>
            <p:cNvPr id="132223" name="Line 40">
              <a:extLst>
                <a:ext uri="{FF2B5EF4-FFF2-40B4-BE49-F238E27FC236}">
                  <a16:creationId xmlns:a16="http://schemas.microsoft.com/office/drawing/2014/main" id="{ABE371C0-6EA2-D94F-BC14-B1573384F7A0}"/>
                </a:ext>
              </a:extLst>
            </p:cNvPr>
            <p:cNvSpPr>
              <a:spLocks noChangeShapeType="1"/>
            </p:cNvSpPr>
            <p:nvPr/>
          </p:nvSpPr>
          <p:spPr bwMode="auto">
            <a:xfrm>
              <a:off x="4328" y="816"/>
              <a:ext cx="27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4" name="Line 41">
              <a:extLst>
                <a:ext uri="{FF2B5EF4-FFF2-40B4-BE49-F238E27FC236}">
                  <a16:creationId xmlns:a16="http://schemas.microsoft.com/office/drawing/2014/main" id="{AA3135DB-1C75-0B48-85BC-D75CD0206EB3}"/>
                </a:ext>
              </a:extLst>
            </p:cNvPr>
            <p:cNvSpPr>
              <a:spLocks noChangeShapeType="1"/>
            </p:cNvSpPr>
            <p:nvPr/>
          </p:nvSpPr>
          <p:spPr bwMode="auto">
            <a:xfrm>
              <a:off x="4320" y="680"/>
              <a:ext cx="0"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5" name="Line 42">
              <a:extLst>
                <a:ext uri="{FF2B5EF4-FFF2-40B4-BE49-F238E27FC236}">
                  <a16:creationId xmlns:a16="http://schemas.microsoft.com/office/drawing/2014/main" id="{E92AB1C1-33BE-6642-BA7D-333219C04C03}"/>
                </a:ext>
              </a:extLst>
            </p:cNvPr>
            <p:cNvSpPr>
              <a:spLocks noChangeShapeType="1"/>
            </p:cNvSpPr>
            <p:nvPr/>
          </p:nvSpPr>
          <p:spPr bwMode="auto">
            <a:xfrm flipV="1">
              <a:off x="4608" y="664"/>
              <a:ext cx="0"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6" name="Line 43">
              <a:extLst>
                <a:ext uri="{FF2B5EF4-FFF2-40B4-BE49-F238E27FC236}">
                  <a16:creationId xmlns:a16="http://schemas.microsoft.com/office/drawing/2014/main" id="{9BEDB29D-894C-1B4F-9C51-D483F225F7DA}"/>
                </a:ext>
              </a:extLst>
            </p:cNvPr>
            <p:cNvSpPr>
              <a:spLocks noChangeShapeType="1"/>
            </p:cNvSpPr>
            <p:nvPr/>
          </p:nvSpPr>
          <p:spPr bwMode="auto">
            <a:xfrm>
              <a:off x="4616" y="672"/>
              <a:ext cx="2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2108" name="Line 44">
            <a:extLst>
              <a:ext uri="{FF2B5EF4-FFF2-40B4-BE49-F238E27FC236}">
                <a16:creationId xmlns:a16="http://schemas.microsoft.com/office/drawing/2014/main" id="{BB3E7457-41E3-DA4D-AC48-78C7AE747A7D}"/>
              </a:ext>
            </a:extLst>
          </p:cNvPr>
          <p:cNvSpPr>
            <a:spLocks noChangeShapeType="1"/>
          </p:cNvSpPr>
          <p:nvPr/>
        </p:nvSpPr>
        <p:spPr bwMode="auto">
          <a:xfrm>
            <a:off x="622300" y="1371600"/>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9" name="Line 45">
            <a:extLst>
              <a:ext uri="{FF2B5EF4-FFF2-40B4-BE49-F238E27FC236}">
                <a16:creationId xmlns:a16="http://schemas.microsoft.com/office/drawing/2014/main" id="{837BB03B-A2C8-094E-9653-1A0A3BEAB7E2}"/>
              </a:ext>
            </a:extLst>
          </p:cNvPr>
          <p:cNvSpPr>
            <a:spLocks noChangeShapeType="1"/>
          </p:cNvSpPr>
          <p:nvPr/>
        </p:nvSpPr>
        <p:spPr bwMode="auto">
          <a:xfrm>
            <a:off x="7708900" y="1600200"/>
            <a:ext cx="431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0" name="Line 46">
            <a:extLst>
              <a:ext uri="{FF2B5EF4-FFF2-40B4-BE49-F238E27FC236}">
                <a16:creationId xmlns:a16="http://schemas.microsoft.com/office/drawing/2014/main" id="{0D09A085-E56B-454E-981B-60042A1B6358}"/>
              </a:ext>
            </a:extLst>
          </p:cNvPr>
          <p:cNvSpPr>
            <a:spLocks noChangeShapeType="1"/>
          </p:cNvSpPr>
          <p:nvPr/>
        </p:nvSpPr>
        <p:spPr bwMode="auto">
          <a:xfrm>
            <a:off x="7696200" y="1384300"/>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1" name="Line 47">
            <a:extLst>
              <a:ext uri="{FF2B5EF4-FFF2-40B4-BE49-F238E27FC236}">
                <a16:creationId xmlns:a16="http://schemas.microsoft.com/office/drawing/2014/main" id="{77E0D76F-5E5D-D245-8735-AAAEC159E8EB}"/>
              </a:ext>
            </a:extLst>
          </p:cNvPr>
          <p:cNvSpPr>
            <a:spLocks noChangeShapeType="1"/>
          </p:cNvSpPr>
          <p:nvPr/>
        </p:nvSpPr>
        <p:spPr bwMode="auto">
          <a:xfrm flipV="1">
            <a:off x="9906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2" name="Line 48">
            <a:extLst>
              <a:ext uri="{FF2B5EF4-FFF2-40B4-BE49-F238E27FC236}">
                <a16:creationId xmlns:a16="http://schemas.microsoft.com/office/drawing/2014/main" id="{F7044FF5-EB4E-FA4C-86DD-D6B9FB73DD97}"/>
              </a:ext>
            </a:extLst>
          </p:cNvPr>
          <p:cNvSpPr>
            <a:spLocks noChangeShapeType="1"/>
          </p:cNvSpPr>
          <p:nvPr/>
        </p:nvSpPr>
        <p:spPr bwMode="auto">
          <a:xfrm flipV="1">
            <a:off x="18288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3" name="Rectangle 49">
            <a:extLst>
              <a:ext uri="{FF2B5EF4-FFF2-40B4-BE49-F238E27FC236}">
                <a16:creationId xmlns:a16="http://schemas.microsoft.com/office/drawing/2014/main" id="{23DDC348-D140-C444-9A3E-3D318208CFE3}"/>
              </a:ext>
            </a:extLst>
          </p:cNvPr>
          <p:cNvSpPr>
            <a:spLocks noChangeArrowheads="1"/>
          </p:cNvSpPr>
          <p:nvPr/>
        </p:nvSpPr>
        <p:spPr bwMode="auto">
          <a:xfrm>
            <a:off x="10525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4</a:t>
            </a:r>
          </a:p>
        </p:txBody>
      </p:sp>
      <p:sp>
        <p:nvSpPr>
          <p:cNvPr id="132114" name="Rectangle 50">
            <a:extLst>
              <a:ext uri="{FF2B5EF4-FFF2-40B4-BE49-F238E27FC236}">
                <a16:creationId xmlns:a16="http://schemas.microsoft.com/office/drawing/2014/main" id="{BE304ECA-E8EA-B346-B88E-7D799F332D54}"/>
              </a:ext>
            </a:extLst>
          </p:cNvPr>
          <p:cNvSpPr>
            <a:spLocks noChangeArrowheads="1"/>
          </p:cNvSpPr>
          <p:nvPr/>
        </p:nvSpPr>
        <p:spPr bwMode="auto">
          <a:xfrm>
            <a:off x="18145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5</a:t>
            </a:r>
          </a:p>
        </p:txBody>
      </p:sp>
      <p:sp>
        <p:nvSpPr>
          <p:cNvPr id="132115" name="Line 51">
            <a:extLst>
              <a:ext uri="{FF2B5EF4-FFF2-40B4-BE49-F238E27FC236}">
                <a16:creationId xmlns:a16="http://schemas.microsoft.com/office/drawing/2014/main" id="{0BCD0B1A-09F8-1744-8141-6E1EBB64F616}"/>
              </a:ext>
            </a:extLst>
          </p:cNvPr>
          <p:cNvSpPr>
            <a:spLocks noChangeShapeType="1"/>
          </p:cNvSpPr>
          <p:nvPr/>
        </p:nvSpPr>
        <p:spPr bwMode="auto">
          <a:xfrm flipV="1">
            <a:off x="26670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6" name="Line 52">
            <a:extLst>
              <a:ext uri="{FF2B5EF4-FFF2-40B4-BE49-F238E27FC236}">
                <a16:creationId xmlns:a16="http://schemas.microsoft.com/office/drawing/2014/main" id="{1A1C368F-D770-C043-8071-FEF977DE1BA6}"/>
              </a:ext>
            </a:extLst>
          </p:cNvPr>
          <p:cNvSpPr>
            <a:spLocks noChangeShapeType="1"/>
          </p:cNvSpPr>
          <p:nvPr/>
        </p:nvSpPr>
        <p:spPr bwMode="auto">
          <a:xfrm flipV="1">
            <a:off x="35052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7" name="Line 53">
            <a:extLst>
              <a:ext uri="{FF2B5EF4-FFF2-40B4-BE49-F238E27FC236}">
                <a16:creationId xmlns:a16="http://schemas.microsoft.com/office/drawing/2014/main" id="{810ACB64-9C77-BC43-8B9D-1E00CAD28A8B}"/>
              </a:ext>
            </a:extLst>
          </p:cNvPr>
          <p:cNvSpPr>
            <a:spLocks noChangeShapeType="1"/>
          </p:cNvSpPr>
          <p:nvPr/>
        </p:nvSpPr>
        <p:spPr bwMode="auto">
          <a:xfrm flipV="1">
            <a:off x="43434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8" name="Line 54">
            <a:extLst>
              <a:ext uri="{FF2B5EF4-FFF2-40B4-BE49-F238E27FC236}">
                <a16:creationId xmlns:a16="http://schemas.microsoft.com/office/drawing/2014/main" id="{896BABFC-D97C-4548-9A8A-57741A28A769}"/>
              </a:ext>
            </a:extLst>
          </p:cNvPr>
          <p:cNvSpPr>
            <a:spLocks noChangeShapeType="1"/>
          </p:cNvSpPr>
          <p:nvPr/>
        </p:nvSpPr>
        <p:spPr bwMode="auto">
          <a:xfrm flipV="1">
            <a:off x="51816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9" name="Line 55">
            <a:extLst>
              <a:ext uri="{FF2B5EF4-FFF2-40B4-BE49-F238E27FC236}">
                <a16:creationId xmlns:a16="http://schemas.microsoft.com/office/drawing/2014/main" id="{3221546A-B05D-924B-A3D9-D8B9C8441108}"/>
              </a:ext>
            </a:extLst>
          </p:cNvPr>
          <p:cNvSpPr>
            <a:spLocks noChangeShapeType="1"/>
          </p:cNvSpPr>
          <p:nvPr/>
        </p:nvSpPr>
        <p:spPr bwMode="auto">
          <a:xfrm flipV="1">
            <a:off x="60198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0" name="Line 56">
            <a:extLst>
              <a:ext uri="{FF2B5EF4-FFF2-40B4-BE49-F238E27FC236}">
                <a16:creationId xmlns:a16="http://schemas.microsoft.com/office/drawing/2014/main" id="{AC96D023-BD33-9349-ABAF-4B0E04E49C85}"/>
              </a:ext>
            </a:extLst>
          </p:cNvPr>
          <p:cNvSpPr>
            <a:spLocks noChangeShapeType="1"/>
          </p:cNvSpPr>
          <p:nvPr/>
        </p:nvSpPr>
        <p:spPr bwMode="auto">
          <a:xfrm flipV="1">
            <a:off x="68580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1" name="Line 57">
            <a:extLst>
              <a:ext uri="{FF2B5EF4-FFF2-40B4-BE49-F238E27FC236}">
                <a16:creationId xmlns:a16="http://schemas.microsoft.com/office/drawing/2014/main" id="{0E05F329-00C5-0D4E-9407-013C63497E51}"/>
              </a:ext>
            </a:extLst>
          </p:cNvPr>
          <p:cNvSpPr>
            <a:spLocks noChangeShapeType="1"/>
          </p:cNvSpPr>
          <p:nvPr/>
        </p:nvSpPr>
        <p:spPr bwMode="auto">
          <a:xfrm flipV="1">
            <a:off x="7696200" y="977900"/>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2" name="Rectangle 58">
            <a:extLst>
              <a:ext uri="{FF2B5EF4-FFF2-40B4-BE49-F238E27FC236}">
                <a16:creationId xmlns:a16="http://schemas.microsoft.com/office/drawing/2014/main" id="{AA31786F-DF45-7044-9CFD-DE5850538242}"/>
              </a:ext>
            </a:extLst>
          </p:cNvPr>
          <p:cNvSpPr>
            <a:spLocks noChangeArrowheads="1"/>
          </p:cNvSpPr>
          <p:nvPr/>
        </p:nvSpPr>
        <p:spPr bwMode="auto">
          <a:xfrm>
            <a:off x="27289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6</a:t>
            </a:r>
          </a:p>
        </p:txBody>
      </p:sp>
      <p:sp>
        <p:nvSpPr>
          <p:cNvPr id="132123" name="Rectangle 59">
            <a:extLst>
              <a:ext uri="{FF2B5EF4-FFF2-40B4-BE49-F238E27FC236}">
                <a16:creationId xmlns:a16="http://schemas.microsoft.com/office/drawing/2014/main" id="{BEE0F5A7-0294-854F-BDB7-FD642A30B301}"/>
              </a:ext>
            </a:extLst>
          </p:cNvPr>
          <p:cNvSpPr>
            <a:spLocks noChangeArrowheads="1"/>
          </p:cNvSpPr>
          <p:nvPr/>
        </p:nvSpPr>
        <p:spPr bwMode="auto">
          <a:xfrm>
            <a:off x="34909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7</a:t>
            </a:r>
          </a:p>
        </p:txBody>
      </p:sp>
      <p:sp>
        <p:nvSpPr>
          <p:cNvPr id="132124" name="Rectangle 60">
            <a:extLst>
              <a:ext uri="{FF2B5EF4-FFF2-40B4-BE49-F238E27FC236}">
                <a16:creationId xmlns:a16="http://schemas.microsoft.com/office/drawing/2014/main" id="{1BE97182-21E7-5546-8A3E-A18CEE94700C}"/>
              </a:ext>
            </a:extLst>
          </p:cNvPr>
          <p:cNvSpPr>
            <a:spLocks noChangeArrowheads="1"/>
          </p:cNvSpPr>
          <p:nvPr/>
        </p:nvSpPr>
        <p:spPr bwMode="auto">
          <a:xfrm>
            <a:off x="43291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8</a:t>
            </a:r>
          </a:p>
        </p:txBody>
      </p:sp>
      <p:sp>
        <p:nvSpPr>
          <p:cNvPr id="132125" name="Rectangle 61">
            <a:extLst>
              <a:ext uri="{FF2B5EF4-FFF2-40B4-BE49-F238E27FC236}">
                <a16:creationId xmlns:a16="http://schemas.microsoft.com/office/drawing/2014/main" id="{948785D9-D79A-1043-AC0C-AA8D14AEB2A8}"/>
              </a:ext>
            </a:extLst>
          </p:cNvPr>
          <p:cNvSpPr>
            <a:spLocks noChangeArrowheads="1"/>
          </p:cNvSpPr>
          <p:nvPr/>
        </p:nvSpPr>
        <p:spPr bwMode="auto">
          <a:xfrm>
            <a:off x="5167313" y="990600"/>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9</a:t>
            </a:r>
          </a:p>
        </p:txBody>
      </p:sp>
      <p:sp>
        <p:nvSpPr>
          <p:cNvPr id="132126" name="Rectangle 62">
            <a:extLst>
              <a:ext uri="{FF2B5EF4-FFF2-40B4-BE49-F238E27FC236}">
                <a16:creationId xmlns:a16="http://schemas.microsoft.com/office/drawing/2014/main" id="{A0B95D26-90D5-DB4B-8771-F3DF39A9EDA1}"/>
              </a:ext>
            </a:extLst>
          </p:cNvPr>
          <p:cNvSpPr>
            <a:spLocks noChangeArrowheads="1"/>
          </p:cNvSpPr>
          <p:nvPr/>
        </p:nvSpPr>
        <p:spPr bwMode="auto">
          <a:xfrm>
            <a:off x="6005513" y="990600"/>
            <a:ext cx="9207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10</a:t>
            </a:r>
          </a:p>
        </p:txBody>
      </p:sp>
      <p:sp>
        <p:nvSpPr>
          <p:cNvPr id="132127" name="Rectangle 63">
            <a:extLst>
              <a:ext uri="{FF2B5EF4-FFF2-40B4-BE49-F238E27FC236}">
                <a16:creationId xmlns:a16="http://schemas.microsoft.com/office/drawing/2014/main" id="{6A867157-99B7-3349-AF5A-6AE4221B0038}"/>
              </a:ext>
            </a:extLst>
          </p:cNvPr>
          <p:cNvSpPr>
            <a:spLocks noChangeArrowheads="1"/>
          </p:cNvSpPr>
          <p:nvPr/>
        </p:nvSpPr>
        <p:spPr bwMode="auto">
          <a:xfrm>
            <a:off x="6843713" y="990600"/>
            <a:ext cx="9207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11</a:t>
            </a:r>
          </a:p>
        </p:txBody>
      </p:sp>
      <p:grpSp>
        <p:nvGrpSpPr>
          <p:cNvPr id="132128" name="Group 64">
            <a:extLst>
              <a:ext uri="{FF2B5EF4-FFF2-40B4-BE49-F238E27FC236}">
                <a16:creationId xmlns:a16="http://schemas.microsoft.com/office/drawing/2014/main" id="{195A43F1-DD87-C74F-821E-245A9768F5FE}"/>
              </a:ext>
            </a:extLst>
          </p:cNvPr>
          <p:cNvGrpSpPr>
            <a:grpSpLocks/>
          </p:cNvGrpSpPr>
          <p:nvPr/>
        </p:nvGrpSpPr>
        <p:grpSpPr bwMode="auto">
          <a:xfrm>
            <a:off x="1003300" y="1828800"/>
            <a:ext cx="4165600" cy="333375"/>
            <a:chOff x="632" y="960"/>
            <a:chExt cx="2624" cy="210"/>
          </a:xfrm>
        </p:grpSpPr>
        <p:grpSp>
          <p:nvGrpSpPr>
            <p:cNvPr id="132208" name="Group 65">
              <a:extLst>
                <a:ext uri="{FF2B5EF4-FFF2-40B4-BE49-F238E27FC236}">
                  <a16:creationId xmlns:a16="http://schemas.microsoft.com/office/drawing/2014/main" id="{3EC05F29-1C0E-184D-8E5C-9A8DA4E9E4A1}"/>
                </a:ext>
              </a:extLst>
            </p:cNvPr>
            <p:cNvGrpSpPr>
              <a:grpSpLocks/>
            </p:cNvGrpSpPr>
            <p:nvPr/>
          </p:nvGrpSpPr>
          <p:grpSpPr bwMode="auto">
            <a:xfrm>
              <a:off x="632" y="960"/>
              <a:ext cx="512" cy="210"/>
              <a:chOff x="632" y="960"/>
              <a:chExt cx="512" cy="210"/>
            </a:xfrm>
          </p:grpSpPr>
          <p:sp>
            <p:nvSpPr>
              <p:cNvPr id="132221" name="Rectangle 66">
                <a:extLst>
                  <a:ext uri="{FF2B5EF4-FFF2-40B4-BE49-F238E27FC236}">
                    <a16:creationId xmlns:a16="http://schemas.microsoft.com/office/drawing/2014/main" id="{9D0B3EC2-646B-DA40-A45E-153D0FC77569}"/>
                  </a:ext>
                </a:extLst>
              </p:cNvPr>
              <p:cNvSpPr>
                <a:spLocks noChangeArrowheads="1"/>
              </p:cNvSpPr>
              <p:nvPr/>
            </p:nvSpPr>
            <p:spPr bwMode="auto">
              <a:xfrm>
                <a:off x="632" y="968"/>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22" name="Rectangle 67">
                <a:extLst>
                  <a:ext uri="{FF2B5EF4-FFF2-40B4-BE49-F238E27FC236}">
                    <a16:creationId xmlns:a16="http://schemas.microsoft.com/office/drawing/2014/main" id="{1081CC4F-D5D4-F048-862D-3683570AB74D}"/>
                  </a:ext>
                </a:extLst>
              </p:cNvPr>
              <p:cNvSpPr>
                <a:spLocks noChangeArrowheads="1"/>
              </p:cNvSpPr>
              <p:nvPr/>
            </p:nvSpPr>
            <p:spPr bwMode="auto">
              <a:xfrm>
                <a:off x="673" y="960"/>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32209" name="Group 68">
              <a:extLst>
                <a:ext uri="{FF2B5EF4-FFF2-40B4-BE49-F238E27FC236}">
                  <a16:creationId xmlns:a16="http://schemas.microsoft.com/office/drawing/2014/main" id="{E8F78D74-9CD6-0940-B399-5B5FFE0B25B5}"/>
                </a:ext>
              </a:extLst>
            </p:cNvPr>
            <p:cNvGrpSpPr>
              <a:grpSpLocks/>
            </p:cNvGrpSpPr>
            <p:nvPr/>
          </p:nvGrpSpPr>
          <p:grpSpPr bwMode="auto">
            <a:xfrm>
              <a:off x="1143" y="960"/>
              <a:ext cx="569" cy="210"/>
              <a:chOff x="1143" y="960"/>
              <a:chExt cx="569" cy="210"/>
            </a:xfrm>
          </p:grpSpPr>
          <p:sp>
            <p:nvSpPr>
              <p:cNvPr id="132219" name="Rectangle 69">
                <a:extLst>
                  <a:ext uri="{FF2B5EF4-FFF2-40B4-BE49-F238E27FC236}">
                    <a16:creationId xmlns:a16="http://schemas.microsoft.com/office/drawing/2014/main" id="{C303C055-FB5F-5B4B-9371-27DCEC8678A4}"/>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20" name="Rectangle 70">
                <a:extLst>
                  <a:ext uri="{FF2B5EF4-FFF2-40B4-BE49-F238E27FC236}">
                    <a16:creationId xmlns:a16="http://schemas.microsoft.com/office/drawing/2014/main" id="{9F9D6E69-0BF6-B64E-B92F-C0835A2CD2D1}"/>
                  </a:ext>
                </a:extLst>
              </p:cNvPr>
              <p:cNvSpPr>
                <a:spLocks noChangeArrowheads="1"/>
              </p:cNvSpPr>
              <p:nvPr/>
            </p:nvSpPr>
            <p:spPr bwMode="auto">
              <a:xfrm>
                <a:off x="1143" y="960"/>
                <a:ext cx="5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Reg/Dec</a:t>
                </a:r>
              </a:p>
            </p:txBody>
          </p:sp>
        </p:grpSp>
        <p:grpSp>
          <p:nvGrpSpPr>
            <p:cNvPr id="132210" name="Group 71">
              <a:extLst>
                <a:ext uri="{FF2B5EF4-FFF2-40B4-BE49-F238E27FC236}">
                  <a16:creationId xmlns:a16="http://schemas.microsoft.com/office/drawing/2014/main" id="{B0259FE2-87C4-394D-AA00-EFADE5C8B51B}"/>
                </a:ext>
              </a:extLst>
            </p:cNvPr>
            <p:cNvGrpSpPr>
              <a:grpSpLocks/>
            </p:cNvGrpSpPr>
            <p:nvPr/>
          </p:nvGrpSpPr>
          <p:grpSpPr bwMode="auto">
            <a:xfrm>
              <a:off x="1688" y="960"/>
              <a:ext cx="512" cy="210"/>
              <a:chOff x="1688" y="960"/>
              <a:chExt cx="512" cy="210"/>
            </a:xfrm>
          </p:grpSpPr>
          <p:sp>
            <p:nvSpPr>
              <p:cNvPr id="132217" name="Rectangle 72">
                <a:extLst>
                  <a:ext uri="{FF2B5EF4-FFF2-40B4-BE49-F238E27FC236}">
                    <a16:creationId xmlns:a16="http://schemas.microsoft.com/office/drawing/2014/main" id="{DDF9EDF0-B8F8-BB4A-971B-B8D9D2CA5172}"/>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18" name="Rectangle 73">
                <a:extLst>
                  <a:ext uri="{FF2B5EF4-FFF2-40B4-BE49-F238E27FC236}">
                    <a16:creationId xmlns:a16="http://schemas.microsoft.com/office/drawing/2014/main" id="{6CC20DB7-037C-6B47-95F6-4F38CAFDA102}"/>
                  </a:ext>
                </a:extLst>
              </p:cNvPr>
              <p:cNvSpPr>
                <a:spLocks noChangeArrowheads="1"/>
              </p:cNvSpPr>
              <p:nvPr/>
            </p:nvSpPr>
            <p:spPr bwMode="auto">
              <a:xfrm>
                <a:off x="1767" y="960"/>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32211" name="Group 74">
              <a:extLst>
                <a:ext uri="{FF2B5EF4-FFF2-40B4-BE49-F238E27FC236}">
                  <a16:creationId xmlns:a16="http://schemas.microsoft.com/office/drawing/2014/main" id="{918D861C-F225-EA4F-8EB1-F3614AE598F0}"/>
                </a:ext>
              </a:extLst>
            </p:cNvPr>
            <p:cNvGrpSpPr>
              <a:grpSpLocks/>
            </p:cNvGrpSpPr>
            <p:nvPr/>
          </p:nvGrpSpPr>
          <p:grpSpPr bwMode="auto">
            <a:xfrm>
              <a:off x="2216" y="960"/>
              <a:ext cx="512" cy="210"/>
              <a:chOff x="2216" y="960"/>
              <a:chExt cx="512" cy="210"/>
            </a:xfrm>
          </p:grpSpPr>
          <p:sp>
            <p:nvSpPr>
              <p:cNvPr id="132215" name="Rectangle 75">
                <a:extLst>
                  <a:ext uri="{FF2B5EF4-FFF2-40B4-BE49-F238E27FC236}">
                    <a16:creationId xmlns:a16="http://schemas.microsoft.com/office/drawing/2014/main" id="{AE3BDE8F-E975-F844-8C81-34FE2C1985C8}"/>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16" name="Rectangle 76">
                <a:extLst>
                  <a:ext uri="{FF2B5EF4-FFF2-40B4-BE49-F238E27FC236}">
                    <a16:creationId xmlns:a16="http://schemas.microsoft.com/office/drawing/2014/main" id="{765026BE-902E-F244-9074-7092EFCA57E7}"/>
                  </a:ext>
                </a:extLst>
              </p:cNvPr>
              <p:cNvSpPr>
                <a:spLocks noChangeArrowheads="1"/>
              </p:cNvSpPr>
              <p:nvPr/>
            </p:nvSpPr>
            <p:spPr bwMode="auto">
              <a:xfrm>
                <a:off x="2295" y="960"/>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32212" name="Group 77">
              <a:extLst>
                <a:ext uri="{FF2B5EF4-FFF2-40B4-BE49-F238E27FC236}">
                  <a16:creationId xmlns:a16="http://schemas.microsoft.com/office/drawing/2014/main" id="{BB0B4194-1341-7F45-B428-75951275FC58}"/>
                </a:ext>
              </a:extLst>
            </p:cNvPr>
            <p:cNvGrpSpPr>
              <a:grpSpLocks/>
            </p:cNvGrpSpPr>
            <p:nvPr/>
          </p:nvGrpSpPr>
          <p:grpSpPr bwMode="auto">
            <a:xfrm>
              <a:off x="2744" y="960"/>
              <a:ext cx="512" cy="210"/>
              <a:chOff x="2744" y="960"/>
              <a:chExt cx="512" cy="210"/>
            </a:xfrm>
          </p:grpSpPr>
          <p:sp>
            <p:nvSpPr>
              <p:cNvPr id="132213" name="Rectangle 78">
                <a:extLst>
                  <a:ext uri="{FF2B5EF4-FFF2-40B4-BE49-F238E27FC236}">
                    <a16:creationId xmlns:a16="http://schemas.microsoft.com/office/drawing/2014/main" id="{192565EE-E435-3D4F-B751-F4D2FAD95D96}"/>
                  </a:ext>
                </a:extLst>
              </p:cNvPr>
              <p:cNvSpPr>
                <a:spLocks noChangeArrowheads="1"/>
              </p:cNvSpPr>
              <p:nvPr/>
            </p:nvSpPr>
            <p:spPr bwMode="auto">
              <a:xfrm>
                <a:off x="2744" y="968"/>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14" name="Rectangle 79">
                <a:extLst>
                  <a:ext uri="{FF2B5EF4-FFF2-40B4-BE49-F238E27FC236}">
                    <a16:creationId xmlns:a16="http://schemas.microsoft.com/office/drawing/2014/main" id="{7ED48C36-AE1F-1849-AC01-ED376C1825B1}"/>
                  </a:ext>
                </a:extLst>
              </p:cNvPr>
              <p:cNvSpPr>
                <a:spLocks noChangeArrowheads="1"/>
              </p:cNvSpPr>
              <p:nvPr/>
            </p:nvSpPr>
            <p:spPr bwMode="auto">
              <a:xfrm>
                <a:off x="2823" y="960"/>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grpSp>
        <p:nvGrpSpPr>
          <p:cNvPr id="132129" name="Group 80">
            <a:extLst>
              <a:ext uri="{FF2B5EF4-FFF2-40B4-BE49-F238E27FC236}">
                <a16:creationId xmlns:a16="http://schemas.microsoft.com/office/drawing/2014/main" id="{C66DD2F5-2C9B-524B-B5C2-A8D4B008CB47}"/>
              </a:ext>
            </a:extLst>
          </p:cNvPr>
          <p:cNvGrpSpPr>
            <a:grpSpLocks/>
          </p:cNvGrpSpPr>
          <p:nvPr/>
        </p:nvGrpSpPr>
        <p:grpSpPr bwMode="auto">
          <a:xfrm>
            <a:off x="1841500" y="2286000"/>
            <a:ext cx="4165600" cy="333375"/>
            <a:chOff x="1160" y="1248"/>
            <a:chExt cx="2624" cy="210"/>
          </a:xfrm>
        </p:grpSpPr>
        <p:grpSp>
          <p:nvGrpSpPr>
            <p:cNvPr id="132193" name="Group 81">
              <a:extLst>
                <a:ext uri="{FF2B5EF4-FFF2-40B4-BE49-F238E27FC236}">
                  <a16:creationId xmlns:a16="http://schemas.microsoft.com/office/drawing/2014/main" id="{814922D7-BCA9-AF48-AB69-6C08AA75C844}"/>
                </a:ext>
              </a:extLst>
            </p:cNvPr>
            <p:cNvGrpSpPr>
              <a:grpSpLocks/>
            </p:cNvGrpSpPr>
            <p:nvPr/>
          </p:nvGrpSpPr>
          <p:grpSpPr bwMode="auto">
            <a:xfrm>
              <a:off x="1160" y="1248"/>
              <a:ext cx="512" cy="210"/>
              <a:chOff x="1160" y="1248"/>
              <a:chExt cx="512" cy="210"/>
            </a:xfrm>
          </p:grpSpPr>
          <p:sp>
            <p:nvSpPr>
              <p:cNvPr id="132206" name="Rectangle 82">
                <a:extLst>
                  <a:ext uri="{FF2B5EF4-FFF2-40B4-BE49-F238E27FC236}">
                    <a16:creationId xmlns:a16="http://schemas.microsoft.com/office/drawing/2014/main" id="{254DDE09-1FF7-DE40-891F-0F082F15A8E0}"/>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07" name="Rectangle 83">
                <a:extLst>
                  <a:ext uri="{FF2B5EF4-FFF2-40B4-BE49-F238E27FC236}">
                    <a16:creationId xmlns:a16="http://schemas.microsoft.com/office/drawing/2014/main" id="{10D596C2-0F62-C14F-AC50-BB8BE604B3EC}"/>
                  </a:ext>
                </a:extLst>
              </p:cNvPr>
              <p:cNvSpPr>
                <a:spLocks noChangeArrowheads="1"/>
              </p:cNvSpPr>
              <p:nvPr/>
            </p:nvSpPr>
            <p:spPr bwMode="auto">
              <a:xfrm>
                <a:off x="1201" y="1248"/>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32194" name="Group 84">
              <a:extLst>
                <a:ext uri="{FF2B5EF4-FFF2-40B4-BE49-F238E27FC236}">
                  <a16:creationId xmlns:a16="http://schemas.microsoft.com/office/drawing/2014/main" id="{F37F7F41-525E-CC44-A958-43EF64FCBDDE}"/>
                </a:ext>
              </a:extLst>
            </p:cNvPr>
            <p:cNvGrpSpPr>
              <a:grpSpLocks/>
            </p:cNvGrpSpPr>
            <p:nvPr/>
          </p:nvGrpSpPr>
          <p:grpSpPr bwMode="auto">
            <a:xfrm>
              <a:off x="1671" y="1248"/>
              <a:ext cx="569" cy="210"/>
              <a:chOff x="1671" y="1248"/>
              <a:chExt cx="569" cy="210"/>
            </a:xfrm>
          </p:grpSpPr>
          <p:sp>
            <p:nvSpPr>
              <p:cNvPr id="132204" name="Rectangle 85">
                <a:extLst>
                  <a:ext uri="{FF2B5EF4-FFF2-40B4-BE49-F238E27FC236}">
                    <a16:creationId xmlns:a16="http://schemas.microsoft.com/office/drawing/2014/main" id="{B52C6D27-61EE-C84B-AF6F-34D820DD91AE}"/>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05" name="Rectangle 86">
                <a:extLst>
                  <a:ext uri="{FF2B5EF4-FFF2-40B4-BE49-F238E27FC236}">
                    <a16:creationId xmlns:a16="http://schemas.microsoft.com/office/drawing/2014/main" id="{2BDC9434-D2FF-8D47-97CC-1B8F5706B8B1}"/>
                  </a:ext>
                </a:extLst>
              </p:cNvPr>
              <p:cNvSpPr>
                <a:spLocks noChangeArrowheads="1"/>
              </p:cNvSpPr>
              <p:nvPr/>
            </p:nvSpPr>
            <p:spPr bwMode="auto">
              <a:xfrm>
                <a:off x="1671" y="1248"/>
                <a:ext cx="5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Reg/Dec</a:t>
                </a:r>
              </a:p>
            </p:txBody>
          </p:sp>
        </p:grpSp>
        <p:grpSp>
          <p:nvGrpSpPr>
            <p:cNvPr id="132195" name="Group 87">
              <a:extLst>
                <a:ext uri="{FF2B5EF4-FFF2-40B4-BE49-F238E27FC236}">
                  <a16:creationId xmlns:a16="http://schemas.microsoft.com/office/drawing/2014/main" id="{63D58C47-F710-FE41-A146-C35FD9C37686}"/>
                </a:ext>
              </a:extLst>
            </p:cNvPr>
            <p:cNvGrpSpPr>
              <a:grpSpLocks/>
            </p:cNvGrpSpPr>
            <p:nvPr/>
          </p:nvGrpSpPr>
          <p:grpSpPr bwMode="auto">
            <a:xfrm>
              <a:off x="2216" y="1248"/>
              <a:ext cx="512" cy="210"/>
              <a:chOff x="2216" y="1248"/>
              <a:chExt cx="512" cy="210"/>
            </a:xfrm>
          </p:grpSpPr>
          <p:sp>
            <p:nvSpPr>
              <p:cNvPr id="132202" name="Rectangle 88">
                <a:extLst>
                  <a:ext uri="{FF2B5EF4-FFF2-40B4-BE49-F238E27FC236}">
                    <a16:creationId xmlns:a16="http://schemas.microsoft.com/office/drawing/2014/main" id="{3B8E4BA2-3FB2-3042-B4ED-B0310301DBC9}"/>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03" name="Rectangle 89">
                <a:extLst>
                  <a:ext uri="{FF2B5EF4-FFF2-40B4-BE49-F238E27FC236}">
                    <a16:creationId xmlns:a16="http://schemas.microsoft.com/office/drawing/2014/main" id="{641DD0E3-35FD-9147-8629-4A6AAE42A0E9}"/>
                  </a:ext>
                </a:extLst>
              </p:cNvPr>
              <p:cNvSpPr>
                <a:spLocks noChangeArrowheads="1"/>
              </p:cNvSpPr>
              <p:nvPr/>
            </p:nvSpPr>
            <p:spPr bwMode="auto">
              <a:xfrm>
                <a:off x="2295" y="1248"/>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32196" name="Group 90">
              <a:extLst>
                <a:ext uri="{FF2B5EF4-FFF2-40B4-BE49-F238E27FC236}">
                  <a16:creationId xmlns:a16="http://schemas.microsoft.com/office/drawing/2014/main" id="{F76F8BF3-6C0F-9047-A2B2-827D61560BA7}"/>
                </a:ext>
              </a:extLst>
            </p:cNvPr>
            <p:cNvGrpSpPr>
              <a:grpSpLocks/>
            </p:cNvGrpSpPr>
            <p:nvPr/>
          </p:nvGrpSpPr>
          <p:grpSpPr bwMode="auto">
            <a:xfrm>
              <a:off x="2744" y="1248"/>
              <a:ext cx="512" cy="210"/>
              <a:chOff x="2744" y="1248"/>
              <a:chExt cx="512" cy="210"/>
            </a:xfrm>
          </p:grpSpPr>
          <p:sp>
            <p:nvSpPr>
              <p:cNvPr id="132200" name="Rectangle 91">
                <a:extLst>
                  <a:ext uri="{FF2B5EF4-FFF2-40B4-BE49-F238E27FC236}">
                    <a16:creationId xmlns:a16="http://schemas.microsoft.com/office/drawing/2014/main" id="{EF3E0385-1494-9D49-BBEA-083589D80602}"/>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201" name="Rectangle 92">
                <a:extLst>
                  <a:ext uri="{FF2B5EF4-FFF2-40B4-BE49-F238E27FC236}">
                    <a16:creationId xmlns:a16="http://schemas.microsoft.com/office/drawing/2014/main" id="{D3A7F39C-0A4E-BF44-A4C1-712D2A92945C}"/>
                  </a:ext>
                </a:extLst>
              </p:cNvPr>
              <p:cNvSpPr>
                <a:spLocks noChangeArrowheads="1"/>
              </p:cNvSpPr>
              <p:nvPr/>
            </p:nvSpPr>
            <p:spPr bwMode="auto">
              <a:xfrm>
                <a:off x="2823" y="1248"/>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32197" name="Group 93">
              <a:extLst>
                <a:ext uri="{FF2B5EF4-FFF2-40B4-BE49-F238E27FC236}">
                  <a16:creationId xmlns:a16="http://schemas.microsoft.com/office/drawing/2014/main" id="{6CC7DB8D-1660-0B48-9331-BF807A12E368}"/>
                </a:ext>
              </a:extLst>
            </p:cNvPr>
            <p:cNvGrpSpPr>
              <a:grpSpLocks/>
            </p:cNvGrpSpPr>
            <p:nvPr/>
          </p:nvGrpSpPr>
          <p:grpSpPr bwMode="auto">
            <a:xfrm>
              <a:off x="3272" y="1248"/>
              <a:ext cx="512" cy="210"/>
              <a:chOff x="3272" y="1248"/>
              <a:chExt cx="512" cy="210"/>
            </a:xfrm>
          </p:grpSpPr>
          <p:sp>
            <p:nvSpPr>
              <p:cNvPr id="132198" name="Rectangle 94">
                <a:extLst>
                  <a:ext uri="{FF2B5EF4-FFF2-40B4-BE49-F238E27FC236}">
                    <a16:creationId xmlns:a16="http://schemas.microsoft.com/office/drawing/2014/main" id="{A8A31315-086D-D840-B4A1-49EF8BF21727}"/>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99" name="Rectangle 95">
                <a:extLst>
                  <a:ext uri="{FF2B5EF4-FFF2-40B4-BE49-F238E27FC236}">
                    <a16:creationId xmlns:a16="http://schemas.microsoft.com/office/drawing/2014/main" id="{96D019EA-C615-9244-AD44-8E0603A05EE9}"/>
                  </a:ext>
                </a:extLst>
              </p:cNvPr>
              <p:cNvSpPr>
                <a:spLocks noChangeArrowheads="1"/>
              </p:cNvSpPr>
              <p:nvPr/>
            </p:nvSpPr>
            <p:spPr bwMode="auto">
              <a:xfrm>
                <a:off x="3351" y="1248"/>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32130" name="Rectangle 96">
            <a:extLst>
              <a:ext uri="{FF2B5EF4-FFF2-40B4-BE49-F238E27FC236}">
                <a16:creationId xmlns:a16="http://schemas.microsoft.com/office/drawing/2014/main" id="{1C1234FF-F5AC-A147-9D0D-25F8ACC8F156}"/>
              </a:ext>
            </a:extLst>
          </p:cNvPr>
          <p:cNvSpPr>
            <a:spLocks noChangeArrowheads="1"/>
          </p:cNvSpPr>
          <p:nvPr/>
        </p:nvSpPr>
        <p:spPr bwMode="auto">
          <a:xfrm>
            <a:off x="823913" y="2362200"/>
            <a:ext cx="1090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a:ea typeface="宋体" panose="02010600030101010101" pitchFamily="2" charset="-122"/>
              </a:rPr>
              <a:t>16: </a:t>
            </a:r>
            <a:r>
              <a:rPr lang="en-US" altLang="zh-CN">
                <a:ea typeface="宋体" panose="02010600030101010101" pitchFamily="2" charset="-122"/>
              </a:rPr>
              <a:t>R-type</a:t>
            </a:r>
          </a:p>
        </p:txBody>
      </p:sp>
      <p:grpSp>
        <p:nvGrpSpPr>
          <p:cNvPr id="132131" name="Group 97">
            <a:extLst>
              <a:ext uri="{FF2B5EF4-FFF2-40B4-BE49-F238E27FC236}">
                <a16:creationId xmlns:a16="http://schemas.microsoft.com/office/drawing/2014/main" id="{121897BF-87AE-9740-B30E-27AA6738C07C}"/>
              </a:ext>
            </a:extLst>
          </p:cNvPr>
          <p:cNvGrpSpPr>
            <a:grpSpLocks/>
          </p:cNvGrpSpPr>
          <p:nvPr/>
        </p:nvGrpSpPr>
        <p:grpSpPr bwMode="auto">
          <a:xfrm>
            <a:off x="2679700" y="2743200"/>
            <a:ext cx="4165600" cy="333375"/>
            <a:chOff x="1688" y="1536"/>
            <a:chExt cx="2624" cy="210"/>
          </a:xfrm>
        </p:grpSpPr>
        <p:grpSp>
          <p:nvGrpSpPr>
            <p:cNvPr id="132178" name="Group 98">
              <a:extLst>
                <a:ext uri="{FF2B5EF4-FFF2-40B4-BE49-F238E27FC236}">
                  <a16:creationId xmlns:a16="http://schemas.microsoft.com/office/drawing/2014/main" id="{6D67369E-EEA3-154C-94E0-58A14405CF20}"/>
                </a:ext>
              </a:extLst>
            </p:cNvPr>
            <p:cNvGrpSpPr>
              <a:grpSpLocks/>
            </p:cNvGrpSpPr>
            <p:nvPr/>
          </p:nvGrpSpPr>
          <p:grpSpPr bwMode="auto">
            <a:xfrm>
              <a:off x="1688" y="1536"/>
              <a:ext cx="512" cy="210"/>
              <a:chOff x="1688" y="1536"/>
              <a:chExt cx="512" cy="210"/>
            </a:xfrm>
          </p:grpSpPr>
          <p:sp>
            <p:nvSpPr>
              <p:cNvPr id="132191" name="Rectangle 99">
                <a:extLst>
                  <a:ext uri="{FF2B5EF4-FFF2-40B4-BE49-F238E27FC236}">
                    <a16:creationId xmlns:a16="http://schemas.microsoft.com/office/drawing/2014/main" id="{1CD05E5D-D89B-F543-B60C-6263BE1271EB}"/>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92" name="Rectangle 100">
                <a:extLst>
                  <a:ext uri="{FF2B5EF4-FFF2-40B4-BE49-F238E27FC236}">
                    <a16:creationId xmlns:a16="http://schemas.microsoft.com/office/drawing/2014/main" id="{FCCA955C-2DEE-B74A-B2A5-FF76C9810951}"/>
                  </a:ext>
                </a:extLst>
              </p:cNvPr>
              <p:cNvSpPr>
                <a:spLocks noChangeArrowheads="1"/>
              </p:cNvSpPr>
              <p:nvPr/>
            </p:nvSpPr>
            <p:spPr bwMode="auto">
              <a:xfrm>
                <a:off x="1729" y="1536"/>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32179" name="Group 101">
              <a:extLst>
                <a:ext uri="{FF2B5EF4-FFF2-40B4-BE49-F238E27FC236}">
                  <a16:creationId xmlns:a16="http://schemas.microsoft.com/office/drawing/2014/main" id="{DA27C8C1-73DB-9C49-9C97-6A3A0E309A1D}"/>
                </a:ext>
              </a:extLst>
            </p:cNvPr>
            <p:cNvGrpSpPr>
              <a:grpSpLocks/>
            </p:cNvGrpSpPr>
            <p:nvPr/>
          </p:nvGrpSpPr>
          <p:grpSpPr bwMode="auto">
            <a:xfrm>
              <a:off x="2199" y="1536"/>
              <a:ext cx="569" cy="210"/>
              <a:chOff x="2199" y="1536"/>
              <a:chExt cx="569" cy="210"/>
            </a:xfrm>
          </p:grpSpPr>
          <p:sp>
            <p:nvSpPr>
              <p:cNvPr id="132189" name="Rectangle 102">
                <a:extLst>
                  <a:ext uri="{FF2B5EF4-FFF2-40B4-BE49-F238E27FC236}">
                    <a16:creationId xmlns:a16="http://schemas.microsoft.com/office/drawing/2014/main" id="{A34D33F7-984F-4445-94EF-30DB1F9BD949}"/>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90" name="Rectangle 103">
                <a:extLst>
                  <a:ext uri="{FF2B5EF4-FFF2-40B4-BE49-F238E27FC236}">
                    <a16:creationId xmlns:a16="http://schemas.microsoft.com/office/drawing/2014/main" id="{749A73F3-C9D4-C54F-8BEB-60A90C0CE5ED}"/>
                  </a:ext>
                </a:extLst>
              </p:cNvPr>
              <p:cNvSpPr>
                <a:spLocks noChangeArrowheads="1"/>
              </p:cNvSpPr>
              <p:nvPr/>
            </p:nvSpPr>
            <p:spPr bwMode="auto">
              <a:xfrm>
                <a:off x="2199" y="1536"/>
                <a:ext cx="5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Reg/Dec</a:t>
                </a:r>
              </a:p>
            </p:txBody>
          </p:sp>
        </p:grpSp>
        <p:grpSp>
          <p:nvGrpSpPr>
            <p:cNvPr id="132180" name="Group 104">
              <a:extLst>
                <a:ext uri="{FF2B5EF4-FFF2-40B4-BE49-F238E27FC236}">
                  <a16:creationId xmlns:a16="http://schemas.microsoft.com/office/drawing/2014/main" id="{2226ECE5-BE0B-C44B-A56D-035FC636418E}"/>
                </a:ext>
              </a:extLst>
            </p:cNvPr>
            <p:cNvGrpSpPr>
              <a:grpSpLocks/>
            </p:cNvGrpSpPr>
            <p:nvPr/>
          </p:nvGrpSpPr>
          <p:grpSpPr bwMode="auto">
            <a:xfrm>
              <a:off x="2744" y="1536"/>
              <a:ext cx="512" cy="210"/>
              <a:chOff x="2744" y="1536"/>
              <a:chExt cx="512" cy="210"/>
            </a:xfrm>
          </p:grpSpPr>
          <p:sp>
            <p:nvSpPr>
              <p:cNvPr id="132187" name="Rectangle 105">
                <a:extLst>
                  <a:ext uri="{FF2B5EF4-FFF2-40B4-BE49-F238E27FC236}">
                    <a16:creationId xmlns:a16="http://schemas.microsoft.com/office/drawing/2014/main" id="{D7F2825B-89FB-9644-91C3-5C8B7C898AE8}"/>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88" name="Rectangle 106">
                <a:extLst>
                  <a:ext uri="{FF2B5EF4-FFF2-40B4-BE49-F238E27FC236}">
                    <a16:creationId xmlns:a16="http://schemas.microsoft.com/office/drawing/2014/main" id="{1CFF32F5-231B-3945-B20C-BF14076830AC}"/>
                  </a:ext>
                </a:extLst>
              </p:cNvPr>
              <p:cNvSpPr>
                <a:spLocks noChangeArrowheads="1"/>
              </p:cNvSpPr>
              <p:nvPr/>
            </p:nvSpPr>
            <p:spPr bwMode="auto">
              <a:xfrm>
                <a:off x="2823" y="1536"/>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32181" name="Group 107">
              <a:extLst>
                <a:ext uri="{FF2B5EF4-FFF2-40B4-BE49-F238E27FC236}">
                  <a16:creationId xmlns:a16="http://schemas.microsoft.com/office/drawing/2014/main" id="{B1235C3A-820E-574D-BCD1-9B31DA910C9E}"/>
                </a:ext>
              </a:extLst>
            </p:cNvPr>
            <p:cNvGrpSpPr>
              <a:grpSpLocks/>
            </p:cNvGrpSpPr>
            <p:nvPr/>
          </p:nvGrpSpPr>
          <p:grpSpPr bwMode="auto">
            <a:xfrm>
              <a:off x="3272" y="1536"/>
              <a:ext cx="512" cy="210"/>
              <a:chOff x="3272" y="1536"/>
              <a:chExt cx="512" cy="210"/>
            </a:xfrm>
          </p:grpSpPr>
          <p:sp>
            <p:nvSpPr>
              <p:cNvPr id="132185" name="Rectangle 108">
                <a:extLst>
                  <a:ext uri="{FF2B5EF4-FFF2-40B4-BE49-F238E27FC236}">
                    <a16:creationId xmlns:a16="http://schemas.microsoft.com/office/drawing/2014/main" id="{51279285-6948-0A4C-A7BF-7A69AEDEB6EF}"/>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86" name="Rectangle 109">
                <a:extLst>
                  <a:ext uri="{FF2B5EF4-FFF2-40B4-BE49-F238E27FC236}">
                    <a16:creationId xmlns:a16="http://schemas.microsoft.com/office/drawing/2014/main" id="{F1158CA0-F5EC-D143-B1F1-4E8CF6B1AF31}"/>
                  </a:ext>
                </a:extLst>
              </p:cNvPr>
              <p:cNvSpPr>
                <a:spLocks noChangeArrowheads="1"/>
              </p:cNvSpPr>
              <p:nvPr/>
            </p:nvSpPr>
            <p:spPr bwMode="auto">
              <a:xfrm>
                <a:off x="3351" y="1536"/>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32182" name="Group 110">
              <a:extLst>
                <a:ext uri="{FF2B5EF4-FFF2-40B4-BE49-F238E27FC236}">
                  <a16:creationId xmlns:a16="http://schemas.microsoft.com/office/drawing/2014/main" id="{A69BC3D1-9779-024A-BD61-5B93F6DDC9C4}"/>
                </a:ext>
              </a:extLst>
            </p:cNvPr>
            <p:cNvGrpSpPr>
              <a:grpSpLocks/>
            </p:cNvGrpSpPr>
            <p:nvPr/>
          </p:nvGrpSpPr>
          <p:grpSpPr bwMode="auto">
            <a:xfrm>
              <a:off x="3800" y="1536"/>
              <a:ext cx="512" cy="210"/>
              <a:chOff x="3800" y="1536"/>
              <a:chExt cx="512" cy="210"/>
            </a:xfrm>
          </p:grpSpPr>
          <p:sp>
            <p:nvSpPr>
              <p:cNvPr id="132183" name="Rectangle 111">
                <a:extLst>
                  <a:ext uri="{FF2B5EF4-FFF2-40B4-BE49-F238E27FC236}">
                    <a16:creationId xmlns:a16="http://schemas.microsoft.com/office/drawing/2014/main" id="{34ED3CC4-B4D4-9D49-9292-B2D449B8152D}"/>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84" name="Rectangle 112">
                <a:extLst>
                  <a:ext uri="{FF2B5EF4-FFF2-40B4-BE49-F238E27FC236}">
                    <a16:creationId xmlns:a16="http://schemas.microsoft.com/office/drawing/2014/main" id="{8EBE05A2-6C0A-BE40-8379-1A8713717CE3}"/>
                  </a:ext>
                </a:extLst>
              </p:cNvPr>
              <p:cNvSpPr>
                <a:spLocks noChangeArrowheads="1"/>
              </p:cNvSpPr>
              <p:nvPr/>
            </p:nvSpPr>
            <p:spPr bwMode="auto">
              <a:xfrm>
                <a:off x="3879" y="1536"/>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grpSp>
        <p:nvGrpSpPr>
          <p:cNvPr id="132132" name="Group 113">
            <a:extLst>
              <a:ext uri="{FF2B5EF4-FFF2-40B4-BE49-F238E27FC236}">
                <a16:creationId xmlns:a16="http://schemas.microsoft.com/office/drawing/2014/main" id="{C9EE72B4-BCB4-D543-84CE-383FF981206C}"/>
              </a:ext>
            </a:extLst>
          </p:cNvPr>
          <p:cNvGrpSpPr>
            <a:grpSpLocks/>
          </p:cNvGrpSpPr>
          <p:nvPr/>
        </p:nvGrpSpPr>
        <p:grpSpPr bwMode="auto">
          <a:xfrm>
            <a:off x="3517900" y="3200400"/>
            <a:ext cx="4165600" cy="333375"/>
            <a:chOff x="2216" y="1824"/>
            <a:chExt cx="2624" cy="210"/>
          </a:xfrm>
        </p:grpSpPr>
        <p:grpSp>
          <p:nvGrpSpPr>
            <p:cNvPr id="132163" name="Group 114">
              <a:extLst>
                <a:ext uri="{FF2B5EF4-FFF2-40B4-BE49-F238E27FC236}">
                  <a16:creationId xmlns:a16="http://schemas.microsoft.com/office/drawing/2014/main" id="{9D87B90F-50B2-2C49-9F80-D4F443E43A4A}"/>
                </a:ext>
              </a:extLst>
            </p:cNvPr>
            <p:cNvGrpSpPr>
              <a:grpSpLocks/>
            </p:cNvGrpSpPr>
            <p:nvPr/>
          </p:nvGrpSpPr>
          <p:grpSpPr bwMode="auto">
            <a:xfrm>
              <a:off x="2216" y="1824"/>
              <a:ext cx="512" cy="210"/>
              <a:chOff x="2216" y="1824"/>
              <a:chExt cx="512" cy="210"/>
            </a:xfrm>
          </p:grpSpPr>
          <p:sp>
            <p:nvSpPr>
              <p:cNvPr id="132176" name="Rectangle 115">
                <a:extLst>
                  <a:ext uri="{FF2B5EF4-FFF2-40B4-BE49-F238E27FC236}">
                    <a16:creationId xmlns:a16="http://schemas.microsoft.com/office/drawing/2014/main" id="{A6A3FC69-5224-9E47-A437-D57599C4AADF}"/>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77" name="Rectangle 116">
                <a:extLst>
                  <a:ext uri="{FF2B5EF4-FFF2-40B4-BE49-F238E27FC236}">
                    <a16:creationId xmlns:a16="http://schemas.microsoft.com/office/drawing/2014/main" id="{E9B9510B-1216-9D4C-9D33-17ABF865B5CA}"/>
                  </a:ext>
                </a:extLst>
              </p:cNvPr>
              <p:cNvSpPr>
                <a:spLocks noChangeArrowheads="1"/>
              </p:cNvSpPr>
              <p:nvPr/>
            </p:nvSpPr>
            <p:spPr bwMode="auto">
              <a:xfrm>
                <a:off x="2257" y="1824"/>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32164" name="Group 117">
              <a:extLst>
                <a:ext uri="{FF2B5EF4-FFF2-40B4-BE49-F238E27FC236}">
                  <a16:creationId xmlns:a16="http://schemas.microsoft.com/office/drawing/2014/main" id="{F1C534F0-4AAD-7844-9FB2-1FB23C7124A2}"/>
                </a:ext>
              </a:extLst>
            </p:cNvPr>
            <p:cNvGrpSpPr>
              <a:grpSpLocks/>
            </p:cNvGrpSpPr>
            <p:nvPr/>
          </p:nvGrpSpPr>
          <p:grpSpPr bwMode="auto">
            <a:xfrm>
              <a:off x="2727" y="1824"/>
              <a:ext cx="569" cy="210"/>
              <a:chOff x="2727" y="1824"/>
              <a:chExt cx="569" cy="210"/>
            </a:xfrm>
          </p:grpSpPr>
          <p:sp>
            <p:nvSpPr>
              <p:cNvPr id="132174" name="Rectangle 118">
                <a:extLst>
                  <a:ext uri="{FF2B5EF4-FFF2-40B4-BE49-F238E27FC236}">
                    <a16:creationId xmlns:a16="http://schemas.microsoft.com/office/drawing/2014/main" id="{7617C2DF-876E-1346-AF8F-EDFD3DCD6BFB}"/>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75" name="Rectangle 119">
                <a:extLst>
                  <a:ext uri="{FF2B5EF4-FFF2-40B4-BE49-F238E27FC236}">
                    <a16:creationId xmlns:a16="http://schemas.microsoft.com/office/drawing/2014/main" id="{10C92929-9CF2-F649-B2F9-D1769CC8F243}"/>
                  </a:ext>
                </a:extLst>
              </p:cNvPr>
              <p:cNvSpPr>
                <a:spLocks noChangeArrowheads="1"/>
              </p:cNvSpPr>
              <p:nvPr/>
            </p:nvSpPr>
            <p:spPr bwMode="auto">
              <a:xfrm>
                <a:off x="2727" y="1824"/>
                <a:ext cx="5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Reg/Dec</a:t>
                </a:r>
              </a:p>
            </p:txBody>
          </p:sp>
        </p:grpSp>
        <p:grpSp>
          <p:nvGrpSpPr>
            <p:cNvPr id="132165" name="Group 120">
              <a:extLst>
                <a:ext uri="{FF2B5EF4-FFF2-40B4-BE49-F238E27FC236}">
                  <a16:creationId xmlns:a16="http://schemas.microsoft.com/office/drawing/2014/main" id="{259A1447-7DF0-DB4F-A32E-A16ED9717DC4}"/>
                </a:ext>
              </a:extLst>
            </p:cNvPr>
            <p:cNvGrpSpPr>
              <a:grpSpLocks/>
            </p:cNvGrpSpPr>
            <p:nvPr/>
          </p:nvGrpSpPr>
          <p:grpSpPr bwMode="auto">
            <a:xfrm>
              <a:off x="3272" y="1824"/>
              <a:ext cx="512" cy="210"/>
              <a:chOff x="3272" y="1824"/>
              <a:chExt cx="512" cy="210"/>
            </a:xfrm>
          </p:grpSpPr>
          <p:sp>
            <p:nvSpPr>
              <p:cNvPr id="132172" name="Rectangle 121">
                <a:extLst>
                  <a:ext uri="{FF2B5EF4-FFF2-40B4-BE49-F238E27FC236}">
                    <a16:creationId xmlns:a16="http://schemas.microsoft.com/office/drawing/2014/main" id="{E05A90D0-1110-FA48-87EE-9E3377705812}"/>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73" name="Rectangle 122">
                <a:extLst>
                  <a:ext uri="{FF2B5EF4-FFF2-40B4-BE49-F238E27FC236}">
                    <a16:creationId xmlns:a16="http://schemas.microsoft.com/office/drawing/2014/main" id="{AF41BC1B-779F-F140-A0BE-2124A6732AC7}"/>
                  </a:ext>
                </a:extLst>
              </p:cNvPr>
              <p:cNvSpPr>
                <a:spLocks noChangeArrowheads="1"/>
              </p:cNvSpPr>
              <p:nvPr/>
            </p:nvSpPr>
            <p:spPr bwMode="auto">
              <a:xfrm>
                <a:off x="3351" y="1824"/>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32166" name="Group 123">
              <a:extLst>
                <a:ext uri="{FF2B5EF4-FFF2-40B4-BE49-F238E27FC236}">
                  <a16:creationId xmlns:a16="http://schemas.microsoft.com/office/drawing/2014/main" id="{79572198-44AE-2E40-9C57-06E0F446F9D3}"/>
                </a:ext>
              </a:extLst>
            </p:cNvPr>
            <p:cNvGrpSpPr>
              <a:grpSpLocks/>
            </p:cNvGrpSpPr>
            <p:nvPr/>
          </p:nvGrpSpPr>
          <p:grpSpPr bwMode="auto">
            <a:xfrm>
              <a:off x="3800" y="1824"/>
              <a:ext cx="512" cy="210"/>
              <a:chOff x="3800" y="1824"/>
              <a:chExt cx="512" cy="210"/>
            </a:xfrm>
          </p:grpSpPr>
          <p:sp>
            <p:nvSpPr>
              <p:cNvPr id="132170" name="Rectangle 124">
                <a:extLst>
                  <a:ext uri="{FF2B5EF4-FFF2-40B4-BE49-F238E27FC236}">
                    <a16:creationId xmlns:a16="http://schemas.microsoft.com/office/drawing/2014/main" id="{3A22D617-821B-BF4A-9608-E55ED9CDF024}"/>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71" name="Rectangle 125">
                <a:extLst>
                  <a:ext uri="{FF2B5EF4-FFF2-40B4-BE49-F238E27FC236}">
                    <a16:creationId xmlns:a16="http://schemas.microsoft.com/office/drawing/2014/main" id="{61B8D6E3-C4EC-6A4F-AE3F-49445946D4C7}"/>
                  </a:ext>
                </a:extLst>
              </p:cNvPr>
              <p:cNvSpPr>
                <a:spLocks noChangeArrowheads="1"/>
              </p:cNvSpPr>
              <p:nvPr/>
            </p:nvSpPr>
            <p:spPr bwMode="auto">
              <a:xfrm>
                <a:off x="3879" y="1824"/>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32167" name="Group 126">
              <a:extLst>
                <a:ext uri="{FF2B5EF4-FFF2-40B4-BE49-F238E27FC236}">
                  <a16:creationId xmlns:a16="http://schemas.microsoft.com/office/drawing/2014/main" id="{63CDF284-430B-FB44-8303-7FDC95D62C37}"/>
                </a:ext>
              </a:extLst>
            </p:cNvPr>
            <p:cNvGrpSpPr>
              <a:grpSpLocks/>
            </p:cNvGrpSpPr>
            <p:nvPr/>
          </p:nvGrpSpPr>
          <p:grpSpPr bwMode="auto">
            <a:xfrm>
              <a:off x="4328" y="1824"/>
              <a:ext cx="512" cy="210"/>
              <a:chOff x="4328" y="1824"/>
              <a:chExt cx="512" cy="210"/>
            </a:xfrm>
          </p:grpSpPr>
          <p:sp>
            <p:nvSpPr>
              <p:cNvPr id="132168" name="Rectangle 127">
                <a:extLst>
                  <a:ext uri="{FF2B5EF4-FFF2-40B4-BE49-F238E27FC236}">
                    <a16:creationId xmlns:a16="http://schemas.microsoft.com/office/drawing/2014/main" id="{6ABA6E88-F712-F647-8BDB-260D2F7FC88E}"/>
                  </a:ext>
                </a:extLst>
              </p:cNvPr>
              <p:cNvSpPr>
                <a:spLocks noChangeArrowheads="1"/>
              </p:cNvSpPr>
              <p:nvPr/>
            </p:nvSpPr>
            <p:spPr bwMode="auto">
              <a:xfrm>
                <a:off x="4328" y="1832"/>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69" name="Rectangle 128">
                <a:extLst>
                  <a:ext uri="{FF2B5EF4-FFF2-40B4-BE49-F238E27FC236}">
                    <a16:creationId xmlns:a16="http://schemas.microsoft.com/office/drawing/2014/main" id="{60D7F50A-57A6-7645-8F1F-E7B1688126E8}"/>
                  </a:ext>
                </a:extLst>
              </p:cNvPr>
              <p:cNvSpPr>
                <a:spLocks noChangeArrowheads="1"/>
              </p:cNvSpPr>
              <p:nvPr/>
            </p:nvSpPr>
            <p:spPr bwMode="auto">
              <a:xfrm>
                <a:off x="4407" y="1824"/>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32133" name="Rectangle 129">
            <a:extLst>
              <a:ext uri="{FF2B5EF4-FFF2-40B4-BE49-F238E27FC236}">
                <a16:creationId xmlns:a16="http://schemas.microsoft.com/office/drawing/2014/main" id="{299906C3-382A-EF42-B945-F2FDB6B2FED2}"/>
              </a:ext>
            </a:extLst>
          </p:cNvPr>
          <p:cNvSpPr>
            <a:spLocks noChangeArrowheads="1"/>
          </p:cNvSpPr>
          <p:nvPr/>
        </p:nvSpPr>
        <p:spPr bwMode="auto">
          <a:xfrm>
            <a:off x="2424113" y="3200400"/>
            <a:ext cx="1090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a:ea typeface="宋体" panose="02010600030101010101" pitchFamily="2" charset="-122"/>
              </a:rPr>
              <a:t>24: </a:t>
            </a:r>
            <a:r>
              <a:rPr lang="en-US" altLang="zh-CN">
                <a:ea typeface="宋体" panose="02010600030101010101" pitchFamily="2" charset="-122"/>
              </a:rPr>
              <a:t>R-type</a:t>
            </a:r>
          </a:p>
        </p:txBody>
      </p:sp>
      <p:sp>
        <p:nvSpPr>
          <p:cNvPr id="132134" name="Line 130">
            <a:extLst>
              <a:ext uri="{FF2B5EF4-FFF2-40B4-BE49-F238E27FC236}">
                <a16:creationId xmlns:a16="http://schemas.microsoft.com/office/drawing/2014/main" id="{1562D359-22C8-2946-BC27-E53E57EEA8A6}"/>
              </a:ext>
            </a:extLst>
          </p:cNvPr>
          <p:cNvSpPr>
            <a:spLocks noChangeShapeType="1"/>
          </p:cNvSpPr>
          <p:nvPr/>
        </p:nvSpPr>
        <p:spPr bwMode="auto">
          <a:xfrm flipV="1">
            <a:off x="6019800" y="1663700"/>
            <a:ext cx="0" cy="5588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5" name="Line 131">
            <a:extLst>
              <a:ext uri="{FF2B5EF4-FFF2-40B4-BE49-F238E27FC236}">
                <a16:creationId xmlns:a16="http://schemas.microsoft.com/office/drawing/2014/main" id="{BEB53CC7-FDEE-F74E-B211-FEECB5801129}"/>
              </a:ext>
            </a:extLst>
          </p:cNvPr>
          <p:cNvSpPr>
            <a:spLocks noChangeShapeType="1"/>
          </p:cNvSpPr>
          <p:nvPr/>
        </p:nvSpPr>
        <p:spPr bwMode="auto">
          <a:xfrm flipV="1">
            <a:off x="6858000" y="1663700"/>
            <a:ext cx="0" cy="10160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6" name="Line 132">
            <a:extLst>
              <a:ext uri="{FF2B5EF4-FFF2-40B4-BE49-F238E27FC236}">
                <a16:creationId xmlns:a16="http://schemas.microsoft.com/office/drawing/2014/main" id="{6008E6A6-9D93-624F-8A6F-D7E5DB242D1C}"/>
              </a:ext>
            </a:extLst>
          </p:cNvPr>
          <p:cNvSpPr>
            <a:spLocks noChangeShapeType="1"/>
          </p:cNvSpPr>
          <p:nvPr/>
        </p:nvSpPr>
        <p:spPr bwMode="auto">
          <a:xfrm flipV="1">
            <a:off x="7696200" y="1663700"/>
            <a:ext cx="0" cy="1473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7" name="Oval 133">
            <a:extLst>
              <a:ext uri="{FF2B5EF4-FFF2-40B4-BE49-F238E27FC236}">
                <a16:creationId xmlns:a16="http://schemas.microsoft.com/office/drawing/2014/main" id="{26168332-3902-6043-819D-D8C5EF6AC037}"/>
              </a:ext>
            </a:extLst>
          </p:cNvPr>
          <p:cNvSpPr>
            <a:spLocks noChangeArrowheads="1"/>
          </p:cNvSpPr>
          <p:nvPr/>
        </p:nvSpPr>
        <p:spPr bwMode="auto">
          <a:xfrm>
            <a:off x="4273550" y="1301750"/>
            <a:ext cx="139700" cy="28067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38" name="Rectangle 134">
            <a:extLst>
              <a:ext uri="{FF2B5EF4-FFF2-40B4-BE49-F238E27FC236}">
                <a16:creationId xmlns:a16="http://schemas.microsoft.com/office/drawing/2014/main" id="{8AEE2224-5547-E24E-BDE6-EAC93BE4EBA8}"/>
              </a:ext>
            </a:extLst>
          </p:cNvPr>
          <p:cNvSpPr>
            <a:spLocks noChangeArrowheads="1"/>
          </p:cNvSpPr>
          <p:nvPr/>
        </p:nvSpPr>
        <p:spPr bwMode="auto">
          <a:xfrm>
            <a:off x="214313" y="1828800"/>
            <a:ext cx="14827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a:ea typeface="宋体" panose="02010600030101010101" pitchFamily="2" charset="-122"/>
              </a:rPr>
              <a:t>12: </a:t>
            </a:r>
            <a:r>
              <a:rPr lang="en-US" altLang="zh-CN">
                <a:ea typeface="宋体" panose="02010600030101010101" pitchFamily="2" charset="-122"/>
              </a:rPr>
              <a:t>Beq</a:t>
            </a:r>
          </a:p>
          <a:p>
            <a:r>
              <a:rPr lang="en-US" altLang="zh-CN">
                <a:ea typeface="宋体" panose="02010600030101010101" pitchFamily="2" charset="-122"/>
              </a:rPr>
              <a:t>(target is 1000)</a:t>
            </a:r>
          </a:p>
        </p:txBody>
      </p:sp>
      <p:sp>
        <p:nvSpPr>
          <p:cNvPr id="132139" name="Rectangle 135">
            <a:extLst>
              <a:ext uri="{FF2B5EF4-FFF2-40B4-BE49-F238E27FC236}">
                <a16:creationId xmlns:a16="http://schemas.microsoft.com/office/drawing/2014/main" id="{69F30185-EFC0-8843-8B25-1747ABC427AD}"/>
              </a:ext>
            </a:extLst>
          </p:cNvPr>
          <p:cNvSpPr>
            <a:spLocks noChangeArrowheads="1"/>
          </p:cNvSpPr>
          <p:nvPr/>
        </p:nvSpPr>
        <p:spPr bwMode="auto">
          <a:xfrm>
            <a:off x="1585913" y="2743200"/>
            <a:ext cx="1090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a:ea typeface="宋体" panose="02010600030101010101" pitchFamily="2" charset="-122"/>
              </a:rPr>
              <a:t>20: </a:t>
            </a:r>
            <a:r>
              <a:rPr lang="en-US" altLang="zh-CN">
                <a:ea typeface="宋体" panose="02010600030101010101" pitchFamily="2" charset="-122"/>
              </a:rPr>
              <a:t>R-type</a:t>
            </a:r>
          </a:p>
        </p:txBody>
      </p:sp>
      <p:sp>
        <p:nvSpPr>
          <p:cNvPr id="132140" name="Rectangle 136">
            <a:extLst>
              <a:ext uri="{FF2B5EF4-FFF2-40B4-BE49-F238E27FC236}">
                <a16:creationId xmlns:a16="http://schemas.microsoft.com/office/drawing/2014/main" id="{B4661629-CA4B-7740-93FD-134552EABBB6}"/>
              </a:ext>
            </a:extLst>
          </p:cNvPr>
          <p:cNvSpPr>
            <a:spLocks noChangeArrowheads="1"/>
          </p:cNvSpPr>
          <p:nvPr/>
        </p:nvSpPr>
        <p:spPr bwMode="auto">
          <a:xfrm>
            <a:off x="442913" y="1371600"/>
            <a:ext cx="4968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Clk</a:t>
            </a:r>
          </a:p>
        </p:txBody>
      </p:sp>
      <p:grpSp>
        <p:nvGrpSpPr>
          <p:cNvPr id="132141" name="Group 137">
            <a:extLst>
              <a:ext uri="{FF2B5EF4-FFF2-40B4-BE49-F238E27FC236}">
                <a16:creationId xmlns:a16="http://schemas.microsoft.com/office/drawing/2014/main" id="{96745C62-CFFF-0A46-8D03-358301E97505}"/>
              </a:ext>
            </a:extLst>
          </p:cNvPr>
          <p:cNvGrpSpPr>
            <a:grpSpLocks/>
          </p:cNvGrpSpPr>
          <p:nvPr/>
        </p:nvGrpSpPr>
        <p:grpSpPr bwMode="auto">
          <a:xfrm>
            <a:off x="4356100" y="3657600"/>
            <a:ext cx="4165600" cy="333375"/>
            <a:chOff x="2744" y="2112"/>
            <a:chExt cx="2624" cy="210"/>
          </a:xfrm>
        </p:grpSpPr>
        <p:grpSp>
          <p:nvGrpSpPr>
            <p:cNvPr id="132148" name="Group 138">
              <a:extLst>
                <a:ext uri="{FF2B5EF4-FFF2-40B4-BE49-F238E27FC236}">
                  <a16:creationId xmlns:a16="http://schemas.microsoft.com/office/drawing/2014/main" id="{CADCC472-A694-2C4E-B4D9-82A460C4B8AF}"/>
                </a:ext>
              </a:extLst>
            </p:cNvPr>
            <p:cNvGrpSpPr>
              <a:grpSpLocks/>
            </p:cNvGrpSpPr>
            <p:nvPr/>
          </p:nvGrpSpPr>
          <p:grpSpPr bwMode="auto">
            <a:xfrm>
              <a:off x="2744" y="2112"/>
              <a:ext cx="512" cy="210"/>
              <a:chOff x="2744" y="2112"/>
              <a:chExt cx="512" cy="210"/>
            </a:xfrm>
          </p:grpSpPr>
          <p:sp>
            <p:nvSpPr>
              <p:cNvPr id="132161" name="Rectangle 139">
                <a:extLst>
                  <a:ext uri="{FF2B5EF4-FFF2-40B4-BE49-F238E27FC236}">
                    <a16:creationId xmlns:a16="http://schemas.microsoft.com/office/drawing/2014/main" id="{1E68FB00-06DC-A845-9C9D-498AC3A429F2}"/>
                  </a:ext>
                </a:extLst>
              </p:cNvPr>
              <p:cNvSpPr>
                <a:spLocks noChangeArrowheads="1"/>
              </p:cNvSpPr>
              <p:nvPr/>
            </p:nvSpPr>
            <p:spPr bwMode="auto">
              <a:xfrm>
                <a:off x="2744" y="2120"/>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62" name="Rectangle 140">
                <a:extLst>
                  <a:ext uri="{FF2B5EF4-FFF2-40B4-BE49-F238E27FC236}">
                    <a16:creationId xmlns:a16="http://schemas.microsoft.com/office/drawing/2014/main" id="{5D9EE168-D65D-1E42-96FF-DF57B29FC095}"/>
                  </a:ext>
                </a:extLst>
              </p:cNvPr>
              <p:cNvSpPr>
                <a:spLocks noChangeArrowheads="1"/>
              </p:cNvSpPr>
              <p:nvPr/>
            </p:nvSpPr>
            <p:spPr bwMode="auto">
              <a:xfrm>
                <a:off x="2785" y="2112"/>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32149" name="Group 141">
              <a:extLst>
                <a:ext uri="{FF2B5EF4-FFF2-40B4-BE49-F238E27FC236}">
                  <a16:creationId xmlns:a16="http://schemas.microsoft.com/office/drawing/2014/main" id="{4AD8C498-E97E-5F4E-B7C1-1C9564E50AAF}"/>
                </a:ext>
              </a:extLst>
            </p:cNvPr>
            <p:cNvGrpSpPr>
              <a:grpSpLocks/>
            </p:cNvGrpSpPr>
            <p:nvPr/>
          </p:nvGrpSpPr>
          <p:grpSpPr bwMode="auto">
            <a:xfrm>
              <a:off x="3255" y="2112"/>
              <a:ext cx="569" cy="210"/>
              <a:chOff x="3255" y="2112"/>
              <a:chExt cx="569" cy="210"/>
            </a:xfrm>
          </p:grpSpPr>
          <p:sp>
            <p:nvSpPr>
              <p:cNvPr id="132159" name="Rectangle 142">
                <a:extLst>
                  <a:ext uri="{FF2B5EF4-FFF2-40B4-BE49-F238E27FC236}">
                    <a16:creationId xmlns:a16="http://schemas.microsoft.com/office/drawing/2014/main" id="{6337BE79-3933-D540-8FE5-D42542BE19F5}"/>
                  </a:ext>
                </a:extLst>
              </p:cNvPr>
              <p:cNvSpPr>
                <a:spLocks noChangeArrowheads="1"/>
              </p:cNvSpPr>
              <p:nvPr/>
            </p:nvSpPr>
            <p:spPr bwMode="auto">
              <a:xfrm>
                <a:off x="3272" y="2120"/>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60" name="Rectangle 143">
                <a:extLst>
                  <a:ext uri="{FF2B5EF4-FFF2-40B4-BE49-F238E27FC236}">
                    <a16:creationId xmlns:a16="http://schemas.microsoft.com/office/drawing/2014/main" id="{280D64FB-CA76-054A-B867-6076F911EC72}"/>
                  </a:ext>
                </a:extLst>
              </p:cNvPr>
              <p:cNvSpPr>
                <a:spLocks noChangeArrowheads="1"/>
              </p:cNvSpPr>
              <p:nvPr/>
            </p:nvSpPr>
            <p:spPr bwMode="auto">
              <a:xfrm>
                <a:off x="3255" y="2112"/>
                <a:ext cx="5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Reg/Dec</a:t>
                </a:r>
              </a:p>
            </p:txBody>
          </p:sp>
        </p:grpSp>
        <p:grpSp>
          <p:nvGrpSpPr>
            <p:cNvPr id="132150" name="Group 144">
              <a:extLst>
                <a:ext uri="{FF2B5EF4-FFF2-40B4-BE49-F238E27FC236}">
                  <a16:creationId xmlns:a16="http://schemas.microsoft.com/office/drawing/2014/main" id="{1B54BB6E-C160-4745-8B45-0B706A52E46B}"/>
                </a:ext>
              </a:extLst>
            </p:cNvPr>
            <p:cNvGrpSpPr>
              <a:grpSpLocks/>
            </p:cNvGrpSpPr>
            <p:nvPr/>
          </p:nvGrpSpPr>
          <p:grpSpPr bwMode="auto">
            <a:xfrm>
              <a:off x="3800" y="2112"/>
              <a:ext cx="512" cy="210"/>
              <a:chOff x="3800" y="2112"/>
              <a:chExt cx="512" cy="210"/>
            </a:xfrm>
          </p:grpSpPr>
          <p:sp>
            <p:nvSpPr>
              <p:cNvPr id="132157" name="Rectangle 145">
                <a:extLst>
                  <a:ext uri="{FF2B5EF4-FFF2-40B4-BE49-F238E27FC236}">
                    <a16:creationId xmlns:a16="http://schemas.microsoft.com/office/drawing/2014/main" id="{FAC122B0-51DD-2042-BFD7-A7AD7E4C5835}"/>
                  </a:ext>
                </a:extLst>
              </p:cNvPr>
              <p:cNvSpPr>
                <a:spLocks noChangeArrowheads="1"/>
              </p:cNvSpPr>
              <p:nvPr/>
            </p:nvSpPr>
            <p:spPr bwMode="auto">
              <a:xfrm>
                <a:off x="3800" y="2120"/>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58" name="Rectangle 146">
                <a:extLst>
                  <a:ext uri="{FF2B5EF4-FFF2-40B4-BE49-F238E27FC236}">
                    <a16:creationId xmlns:a16="http://schemas.microsoft.com/office/drawing/2014/main" id="{835BDC2E-C29D-0B40-A916-34DFE72ED5BE}"/>
                  </a:ext>
                </a:extLst>
              </p:cNvPr>
              <p:cNvSpPr>
                <a:spLocks noChangeArrowheads="1"/>
              </p:cNvSpPr>
              <p:nvPr/>
            </p:nvSpPr>
            <p:spPr bwMode="auto">
              <a:xfrm>
                <a:off x="3879" y="2112"/>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32151" name="Group 147">
              <a:extLst>
                <a:ext uri="{FF2B5EF4-FFF2-40B4-BE49-F238E27FC236}">
                  <a16:creationId xmlns:a16="http://schemas.microsoft.com/office/drawing/2014/main" id="{C70F8674-D3EC-0C4E-A2A1-04C4C4CCA200}"/>
                </a:ext>
              </a:extLst>
            </p:cNvPr>
            <p:cNvGrpSpPr>
              <a:grpSpLocks/>
            </p:cNvGrpSpPr>
            <p:nvPr/>
          </p:nvGrpSpPr>
          <p:grpSpPr bwMode="auto">
            <a:xfrm>
              <a:off x="4328" y="2112"/>
              <a:ext cx="512" cy="210"/>
              <a:chOff x="4328" y="2112"/>
              <a:chExt cx="512" cy="210"/>
            </a:xfrm>
          </p:grpSpPr>
          <p:sp>
            <p:nvSpPr>
              <p:cNvPr id="132155" name="Rectangle 148">
                <a:extLst>
                  <a:ext uri="{FF2B5EF4-FFF2-40B4-BE49-F238E27FC236}">
                    <a16:creationId xmlns:a16="http://schemas.microsoft.com/office/drawing/2014/main" id="{A1B225B9-ED64-D948-B673-55B695E3EE7F}"/>
                  </a:ext>
                </a:extLst>
              </p:cNvPr>
              <p:cNvSpPr>
                <a:spLocks noChangeArrowheads="1"/>
              </p:cNvSpPr>
              <p:nvPr/>
            </p:nvSpPr>
            <p:spPr bwMode="auto">
              <a:xfrm>
                <a:off x="4328" y="2120"/>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56" name="Rectangle 149">
                <a:extLst>
                  <a:ext uri="{FF2B5EF4-FFF2-40B4-BE49-F238E27FC236}">
                    <a16:creationId xmlns:a16="http://schemas.microsoft.com/office/drawing/2014/main" id="{C35F387C-48B1-AA45-A895-F15F2297478A}"/>
                  </a:ext>
                </a:extLst>
              </p:cNvPr>
              <p:cNvSpPr>
                <a:spLocks noChangeArrowheads="1"/>
              </p:cNvSpPr>
              <p:nvPr/>
            </p:nvSpPr>
            <p:spPr bwMode="auto">
              <a:xfrm>
                <a:off x="4407" y="2112"/>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32152" name="Group 150">
              <a:extLst>
                <a:ext uri="{FF2B5EF4-FFF2-40B4-BE49-F238E27FC236}">
                  <a16:creationId xmlns:a16="http://schemas.microsoft.com/office/drawing/2014/main" id="{F2372069-2808-5D42-949B-FDFBF099A427}"/>
                </a:ext>
              </a:extLst>
            </p:cNvPr>
            <p:cNvGrpSpPr>
              <a:grpSpLocks/>
            </p:cNvGrpSpPr>
            <p:nvPr/>
          </p:nvGrpSpPr>
          <p:grpSpPr bwMode="auto">
            <a:xfrm>
              <a:off x="4856" y="2112"/>
              <a:ext cx="512" cy="210"/>
              <a:chOff x="4856" y="2112"/>
              <a:chExt cx="512" cy="210"/>
            </a:xfrm>
          </p:grpSpPr>
          <p:sp>
            <p:nvSpPr>
              <p:cNvPr id="132153" name="Rectangle 151">
                <a:extLst>
                  <a:ext uri="{FF2B5EF4-FFF2-40B4-BE49-F238E27FC236}">
                    <a16:creationId xmlns:a16="http://schemas.microsoft.com/office/drawing/2014/main" id="{B5B38761-0C50-E14F-B3D7-5266523A214D}"/>
                  </a:ext>
                </a:extLst>
              </p:cNvPr>
              <p:cNvSpPr>
                <a:spLocks noChangeArrowheads="1"/>
              </p:cNvSpPr>
              <p:nvPr/>
            </p:nvSpPr>
            <p:spPr bwMode="auto">
              <a:xfrm>
                <a:off x="4856" y="2120"/>
                <a:ext cx="512"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2154" name="Rectangle 152">
                <a:extLst>
                  <a:ext uri="{FF2B5EF4-FFF2-40B4-BE49-F238E27FC236}">
                    <a16:creationId xmlns:a16="http://schemas.microsoft.com/office/drawing/2014/main" id="{049DA056-583E-AE4A-9145-C2494BDC355E}"/>
                  </a:ext>
                </a:extLst>
              </p:cNvPr>
              <p:cNvSpPr>
                <a:spLocks noChangeArrowheads="1"/>
              </p:cNvSpPr>
              <p:nvPr/>
            </p:nvSpPr>
            <p:spPr bwMode="auto">
              <a:xfrm>
                <a:off x="4935" y="2112"/>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32142" name="Rectangle 153">
            <a:extLst>
              <a:ext uri="{FF2B5EF4-FFF2-40B4-BE49-F238E27FC236}">
                <a16:creationId xmlns:a16="http://schemas.microsoft.com/office/drawing/2014/main" id="{5E75CF8A-B7EF-3A44-B4E4-4CB558F394CD}"/>
              </a:ext>
            </a:extLst>
          </p:cNvPr>
          <p:cNvSpPr>
            <a:spLocks noChangeArrowheads="1"/>
          </p:cNvSpPr>
          <p:nvPr/>
        </p:nvSpPr>
        <p:spPr bwMode="auto">
          <a:xfrm>
            <a:off x="2500313" y="3657600"/>
            <a:ext cx="17907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a:ea typeface="宋体" panose="02010600030101010101" pitchFamily="2" charset="-122"/>
              </a:rPr>
              <a:t>1000: </a:t>
            </a:r>
            <a:r>
              <a:rPr lang="en-US" altLang="zh-CN">
                <a:ea typeface="宋体" panose="02010600030101010101" pitchFamily="2" charset="-122"/>
              </a:rPr>
              <a:t>Target of Br</a:t>
            </a:r>
          </a:p>
        </p:txBody>
      </p:sp>
      <p:sp>
        <p:nvSpPr>
          <p:cNvPr id="132143" name="Line 154">
            <a:extLst>
              <a:ext uri="{FF2B5EF4-FFF2-40B4-BE49-F238E27FC236}">
                <a16:creationId xmlns:a16="http://schemas.microsoft.com/office/drawing/2014/main" id="{44DFB55B-03C0-EA4C-820C-E42FEC9DBB65}"/>
              </a:ext>
            </a:extLst>
          </p:cNvPr>
          <p:cNvSpPr>
            <a:spLocks noChangeShapeType="1"/>
          </p:cNvSpPr>
          <p:nvPr/>
        </p:nvSpPr>
        <p:spPr bwMode="auto">
          <a:xfrm>
            <a:off x="4203700" y="2070100"/>
            <a:ext cx="279400" cy="1651000"/>
          </a:xfrm>
          <a:prstGeom prst="line">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3739" name="Rectangle 155">
            <a:extLst>
              <a:ext uri="{FF2B5EF4-FFF2-40B4-BE49-F238E27FC236}">
                <a16:creationId xmlns:a16="http://schemas.microsoft.com/office/drawing/2014/main" id="{4860A888-80D0-DD42-843D-E2591892ECF7}"/>
              </a:ext>
            </a:extLst>
          </p:cNvPr>
          <p:cNvSpPr>
            <a:spLocks noChangeArrowheads="1"/>
          </p:cNvSpPr>
          <p:nvPr/>
        </p:nvSpPr>
        <p:spPr bwMode="auto">
          <a:xfrm>
            <a:off x="1765300" y="2171700"/>
            <a:ext cx="2565400" cy="1435100"/>
          </a:xfrm>
          <a:prstGeom prst="rect">
            <a:avLst/>
          </a:prstGeom>
          <a:solidFill>
            <a:srgbClr val="FF99CC">
              <a:alpha val="5098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3740" name="Text Box 156">
            <a:extLst>
              <a:ext uri="{FF2B5EF4-FFF2-40B4-BE49-F238E27FC236}">
                <a16:creationId xmlns:a16="http://schemas.microsoft.com/office/drawing/2014/main" id="{A4E77A71-FC6A-0D4C-851F-841079713125}"/>
              </a:ext>
            </a:extLst>
          </p:cNvPr>
          <p:cNvSpPr txBox="1">
            <a:spLocks noChangeArrowheads="1"/>
          </p:cNvSpPr>
          <p:nvPr/>
        </p:nvSpPr>
        <p:spPr bwMode="auto">
          <a:xfrm>
            <a:off x="6991350" y="5924550"/>
            <a:ext cx="1231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 action="ppaction://hlinkshowjump?jump=previousslide"/>
              </a:rPr>
              <a:t>BACK</a:t>
            </a:r>
            <a:endParaRPr lang="en-US" altLang="zh-CN">
              <a:ea typeface="宋体" panose="02010600030101010101" pitchFamily="2" charset="-122"/>
            </a:endParaRPr>
          </a:p>
        </p:txBody>
      </p:sp>
      <p:sp>
        <p:nvSpPr>
          <p:cNvPr id="323741" name="Rectangle 157">
            <a:extLst>
              <a:ext uri="{FF2B5EF4-FFF2-40B4-BE49-F238E27FC236}">
                <a16:creationId xmlns:a16="http://schemas.microsoft.com/office/drawing/2014/main" id="{ABF55DBF-925E-8248-83BD-35855DC17A02}"/>
              </a:ext>
            </a:extLst>
          </p:cNvPr>
          <p:cNvSpPr>
            <a:spLocks noChangeArrowheads="1"/>
          </p:cNvSpPr>
          <p:nvPr/>
        </p:nvSpPr>
        <p:spPr bwMode="auto">
          <a:xfrm>
            <a:off x="1258888" y="6224588"/>
            <a:ext cx="4391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30000"/>
              </a:spcBef>
              <a:buSzPct val="100000"/>
              <a:buFont typeface="Times New Roman" panose="02020603050405020304" pitchFamily="18" charset="0"/>
              <a:buNone/>
            </a:pPr>
            <a:r>
              <a:rPr lang="zh-CN" altLang="en-US" sz="2000">
                <a:solidFill>
                  <a:srgbClr val="CC0000"/>
                </a:solidFill>
                <a:latin typeface="Arial" panose="020B0604020202020204" pitchFamily="34" charset="0"/>
                <a:ea typeface="黑体" panose="02010609060101010101" pitchFamily="49" charset="-122"/>
                <a:cs typeface="Times New Roman" panose="02020603050405020304" pitchFamily="18" charset="0"/>
              </a:rPr>
              <a:t>这里 </a:t>
            </a:r>
            <a:r>
              <a:rPr lang="en-US" altLang="zh-CN" sz="2000">
                <a:solidFill>
                  <a:srgbClr val="CC0000"/>
                </a:solidFill>
                <a:latin typeface="Arial" panose="020B0604020202020204" pitchFamily="34" charset="0"/>
                <a:ea typeface="黑体" panose="02010609060101010101" pitchFamily="49" charset="-122"/>
                <a:cs typeface="Times New Roman" panose="02020603050405020304" pitchFamily="18" charset="0"/>
              </a:rPr>
              <a:t>C=3</a:t>
            </a:r>
          </a:p>
        </p:txBody>
      </p:sp>
      <p:sp>
        <p:nvSpPr>
          <p:cNvPr id="132147" name="Rectangle 158">
            <a:extLst>
              <a:ext uri="{FF2B5EF4-FFF2-40B4-BE49-F238E27FC236}">
                <a16:creationId xmlns:a16="http://schemas.microsoft.com/office/drawing/2014/main" id="{72E0486F-9F1A-3C43-A5BC-4EF873979D5C}"/>
              </a:ext>
            </a:extLst>
          </p:cNvPr>
          <p:cNvSpPr>
            <a:spLocks noChangeArrowheads="1"/>
          </p:cNvSpPr>
          <p:nvPr/>
        </p:nvSpPr>
        <p:spPr bwMode="auto">
          <a:xfrm>
            <a:off x="3505200" y="1816100"/>
            <a:ext cx="850900" cy="279400"/>
          </a:xfrm>
          <a:prstGeom prst="rect">
            <a:avLst/>
          </a:prstGeom>
          <a:solidFill>
            <a:srgbClr val="339966">
              <a:alpha val="54901"/>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3587">
                                            <p:txEl>
                                              <p:pRg st="4" end="4"/>
                                            </p:txEl>
                                          </p:spTgt>
                                        </p:tgtEl>
                                        <p:attrNameLst>
                                          <p:attrName>style.visibility</p:attrName>
                                        </p:attrNameLst>
                                      </p:cBhvr>
                                      <p:to>
                                        <p:strVal val="visible"/>
                                      </p:to>
                                    </p:set>
                                    <p:animEffect transition="in" filter="blinds(horizontal)">
                                      <p:cBhvr>
                                        <p:cTn id="7" dur="500"/>
                                        <p:tgtEl>
                                          <p:spTgt spid="323587">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3739"/>
                                        </p:tgtEl>
                                        <p:attrNameLst>
                                          <p:attrName>style.visibility</p:attrName>
                                        </p:attrNameLst>
                                      </p:cBhvr>
                                      <p:to>
                                        <p:strVal val="visible"/>
                                      </p:to>
                                    </p:set>
                                    <p:animEffect transition="in" filter="blinds(horizontal)">
                                      <p:cBhvr>
                                        <p:cTn id="12" dur="500"/>
                                        <p:tgtEl>
                                          <p:spTgt spid="323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3587">
                                            <p:txEl>
                                              <p:pRg st="5" end="5"/>
                                            </p:txEl>
                                          </p:spTgt>
                                        </p:tgtEl>
                                        <p:attrNameLst>
                                          <p:attrName>style.visibility</p:attrName>
                                        </p:attrNameLst>
                                      </p:cBhvr>
                                      <p:to>
                                        <p:strVal val="visible"/>
                                      </p:to>
                                    </p:set>
                                    <p:animEffect transition="in" filter="blinds(horizontal)">
                                      <p:cBhvr>
                                        <p:cTn id="17" dur="500"/>
                                        <p:tgtEl>
                                          <p:spTgt spid="32358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3741"/>
                                        </p:tgtEl>
                                        <p:attrNameLst>
                                          <p:attrName>style.visibility</p:attrName>
                                        </p:attrNameLst>
                                      </p:cBhvr>
                                      <p:to>
                                        <p:strVal val="visible"/>
                                      </p:to>
                                    </p:set>
                                    <p:animEffect transition="in" filter="blinds(horizontal)">
                                      <p:cBhvr>
                                        <p:cTn id="22" dur="500"/>
                                        <p:tgtEl>
                                          <p:spTgt spid="3237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3740"/>
                                        </p:tgtEl>
                                        <p:attrNameLst>
                                          <p:attrName>style.visibility</p:attrName>
                                        </p:attrNameLst>
                                      </p:cBhvr>
                                      <p:to>
                                        <p:strVal val="visible"/>
                                      </p:to>
                                    </p:set>
                                    <p:animEffect transition="in" filter="blinds(horizontal)">
                                      <p:cBhvr>
                                        <p:cTn id="27" dur="500"/>
                                        <p:tgtEl>
                                          <p:spTgt spid="323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739" grpId="0" animBg="1"/>
      <p:bldP spid="323740" grpId="0"/>
      <p:bldP spid="3237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A9511FF2-3857-9146-94B0-68DF41899DD5}"/>
              </a:ext>
            </a:extLst>
          </p:cNvPr>
          <p:cNvSpPr>
            <a:spLocks noGrp="1" noChangeArrowheads="1"/>
          </p:cNvSpPr>
          <p:nvPr>
            <p:ph type="title"/>
          </p:nvPr>
        </p:nvSpPr>
        <p:spPr/>
        <p:txBody>
          <a:bodyPr/>
          <a:lstStyle/>
          <a:p>
            <a:r>
              <a:rPr lang="zh-CN" altLang="en-US">
                <a:ea typeface="宋体" panose="02010600030101010101" pitchFamily="2" charset="-122"/>
              </a:rPr>
              <a:t>简单（静态）分支预测方法</a:t>
            </a:r>
            <a:endParaRPr lang="zh-CN" altLang="en-US">
              <a:solidFill>
                <a:schemeClr val="accent1"/>
              </a:solidFill>
              <a:ea typeface="宋体" panose="02010600030101010101" pitchFamily="2" charset="-122"/>
            </a:endParaRPr>
          </a:p>
        </p:txBody>
      </p:sp>
      <p:sp>
        <p:nvSpPr>
          <p:cNvPr id="322563" name="Rectangle 3">
            <a:extLst>
              <a:ext uri="{FF2B5EF4-FFF2-40B4-BE49-F238E27FC236}">
                <a16:creationId xmlns:a16="http://schemas.microsoft.com/office/drawing/2014/main" id="{DA7667DE-106E-734E-A459-6841EA8BCB8F}"/>
              </a:ext>
            </a:extLst>
          </p:cNvPr>
          <p:cNvSpPr>
            <a:spLocks noGrp="1" noChangeArrowheads="1"/>
          </p:cNvSpPr>
          <p:nvPr>
            <p:ph type="body" idx="1"/>
          </p:nvPr>
        </p:nvSpPr>
        <p:spPr>
          <a:xfrm>
            <a:off x="177800" y="627063"/>
            <a:ext cx="8678863" cy="5567362"/>
          </a:xfrm>
        </p:spPr>
        <p:txBody>
          <a:bodyPr/>
          <a:lstStyle/>
          <a:p>
            <a:pPr marL="342900" indent="-342900">
              <a:lnSpc>
                <a:spcPct val="115000"/>
              </a:lnSpc>
              <a:spcBef>
                <a:spcPct val="20000"/>
              </a:spcBef>
            </a:pPr>
            <a:r>
              <a:rPr lang="zh-CN" altLang="en-US">
                <a:ea typeface="黑体" panose="02010609060101010101" pitchFamily="49" charset="-122"/>
              </a:rPr>
              <a:t>缩短分支延迟，减少错误预测代价</a:t>
            </a:r>
          </a:p>
          <a:p>
            <a:pPr marL="838200" lvl="1" indent="-342900">
              <a:lnSpc>
                <a:spcPct val="115000"/>
              </a:lnSpc>
              <a:spcBef>
                <a:spcPct val="20000"/>
              </a:spcBef>
            </a:pPr>
            <a:r>
              <a:rPr lang="zh-CN" altLang="en-US">
                <a:ea typeface="黑体" panose="02010609060101010101" pitchFamily="49" charset="-122"/>
              </a:rPr>
              <a:t>可以将 “转移地址计算”和“分支条件判断”操作调整到</a:t>
            </a:r>
            <a:r>
              <a:rPr lang="en-US" altLang="zh-CN">
                <a:ea typeface="黑体" panose="02010609060101010101" pitchFamily="49" charset="-122"/>
              </a:rPr>
              <a:t>ID</a:t>
            </a:r>
            <a:r>
              <a:rPr lang="zh-CN" altLang="en-US">
                <a:ea typeface="黑体" panose="02010609060101010101" pitchFamily="49" charset="-122"/>
              </a:rPr>
              <a:t>阶段来缩短延迟</a:t>
            </a:r>
          </a:p>
          <a:p>
            <a:pPr lvl="2">
              <a:lnSpc>
                <a:spcPct val="115000"/>
              </a:lnSpc>
              <a:spcBef>
                <a:spcPct val="20000"/>
              </a:spcBef>
            </a:pPr>
            <a:r>
              <a:rPr lang="zh-CN" altLang="en-US">
                <a:ea typeface="黑体" panose="02010609060101010101" pitchFamily="49" charset="-122"/>
              </a:rPr>
              <a:t>将转移地址生成从</a:t>
            </a:r>
            <a:r>
              <a:rPr lang="en-US" altLang="zh-CN">
                <a:ea typeface="黑体" panose="02010609060101010101" pitchFamily="49" charset="-122"/>
              </a:rPr>
              <a:t>MEM</a:t>
            </a:r>
            <a:r>
              <a:rPr lang="zh-CN" altLang="en-US">
                <a:ea typeface="黑体" panose="02010609060101010101" pitchFamily="49" charset="-122"/>
              </a:rPr>
              <a:t>阶段移到</a:t>
            </a:r>
            <a:r>
              <a:rPr lang="en-US" altLang="zh-CN">
                <a:ea typeface="黑体" panose="02010609060101010101" pitchFamily="49" charset="-122"/>
              </a:rPr>
              <a:t>ID</a:t>
            </a:r>
            <a:r>
              <a:rPr lang="zh-CN" altLang="en-US">
                <a:ea typeface="黑体" panose="02010609060101010101" pitchFamily="49" charset="-122"/>
              </a:rPr>
              <a:t>阶段，可以吗？为什么？</a:t>
            </a:r>
          </a:p>
          <a:p>
            <a:pPr lvl="2">
              <a:lnSpc>
                <a:spcPct val="115000"/>
              </a:lnSpc>
              <a:spcBef>
                <a:spcPct val="20000"/>
              </a:spcBef>
              <a:buFontTx/>
              <a:buNone/>
            </a:pPr>
            <a:r>
              <a:rPr lang="zh-CN" altLang="en-US">
                <a:solidFill>
                  <a:srgbClr val="008000"/>
                </a:solidFill>
                <a:ea typeface="黑体" panose="02010609060101010101" pitchFamily="49" charset="-122"/>
              </a:rPr>
              <a:t>（是可能的：</a:t>
            </a:r>
            <a:r>
              <a:rPr lang="en-US" altLang="zh-CN">
                <a:solidFill>
                  <a:srgbClr val="008000"/>
                </a:solidFill>
                <a:ea typeface="黑体" panose="02010609060101010101" pitchFamily="49" charset="-122"/>
              </a:rPr>
              <a:t>IF/ID</a:t>
            </a:r>
            <a:r>
              <a:rPr lang="zh-CN" altLang="en-US">
                <a:solidFill>
                  <a:srgbClr val="008000"/>
                </a:solidFill>
                <a:ea typeface="黑体" panose="02010609060101010101" pitchFamily="49" charset="-122"/>
              </a:rPr>
              <a:t>流水段寄存器中已经有</a:t>
            </a:r>
            <a:r>
              <a:rPr lang="en-US" altLang="zh-CN">
                <a:solidFill>
                  <a:srgbClr val="008000"/>
                </a:solidFill>
                <a:ea typeface="黑体" panose="02010609060101010101" pitchFamily="49" charset="-122"/>
              </a:rPr>
              <a:t>PC</a:t>
            </a:r>
            <a:r>
              <a:rPr lang="zh-CN" altLang="en-US">
                <a:solidFill>
                  <a:srgbClr val="008000"/>
                </a:solidFill>
                <a:ea typeface="黑体" panose="02010609060101010101" pitchFamily="49" charset="-122"/>
              </a:rPr>
              <a:t>的值和立即数）</a:t>
            </a:r>
          </a:p>
          <a:p>
            <a:pPr lvl="2">
              <a:lnSpc>
                <a:spcPct val="115000"/>
              </a:lnSpc>
              <a:spcBef>
                <a:spcPct val="20000"/>
              </a:spcBef>
            </a:pPr>
            <a:r>
              <a:rPr lang="zh-CN" altLang="en-US">
                <a:ea typeface="黑体" panose="02010609060101010101" pitchFamily="49" charset="-122"/>
              </a:rPr>
              <a:t>将“判</a:t>
            </a:r>
            <a:r>
              <a:rPr lang="en-US" altLang="zh-CN">
                <a:ea typeface="黑体" panose="02010609060101010101" pitchFamily="49" charset="-122"/>
              </a:rPr>
              <a:t>0”</a:t>
            </a:r>
            <a:r>
              <a:rPr lang="zh-CN" altLang="en-US">
                <a:ea typeface="黑体" panose="02010609060101010101" pitchFamily="49" charset="-122"/>
              </a:rPr>
              <a:t>操作从</a:t>
            </a:r>
            <a:r>
              <a:rPr lang="en-US" altLang="zh-CN">
                <a:ea typeface="黑体" panose="02010609060101010101" pitchFamily="49" charset="-122"/>
              </a:rPr>
              <a:t>EX</a:t>
            </a:r>
            <a:r>
              <a:rPr lang="zh-CN" altLang="en-US">
                <a:ea typeface="黑体" panose="02010609060101010101" pitchFamily="49" charset="-122"/>
              </a:rPr>
              <a:t>阶段移到</a:t>
            </a:r>
            <a:r>
              <a:rPr lang="en-US" altLang="zh-CN">
                <a:ea typeface="黑体" panose="02010609060101010101" pitchFamily="49" charset="-122"/>
              </a:rPr>
              <a:t>ID</a:t>
            </a:r>
            <a:r>
              <a:rPr lang="zh-CN" altLang="en-US">
                <a:ea typeface="黑体" panose="02010609060101010101" pitchFamily="49" charset="-122"/>
              </a:rPr>
              <a:t>阶段，可以吗？为什么？</a:t>
            </a:r>
          </a:p>
          <a:p>
            <a:pPr lvl="2">
              <a:lnSpc>
                <a:spcPct val="115000"/>
              </a:lnSpc>
              <a:spcBef>
                <a:spcPct val="20000"/>
              </a:spcBef>
              <a:buFontTx/>
              <a:buNone/>
            </a:pPr>
            <a:r>
              <a:rPr lang="zh-CN" altLang="en-US">
                <a:solidFill>
                  <a:srgbClr val="008000"/>
                </a:solidFill>
                <a:ea typeface="黑体" panose="02010609060101010101" pitchFamily="49" charset="-122"/>
              </a:rPr>
              <a:t>（用逻辑运算</a:t>
            </a:r>
            <a:r>
              <a:rPr lang="en-US" altLang="zh-CN">
                <a:solidFill>
                  <a:schemeClr val="accent2"/>
                </a:solidFill>
                <a:ea typeface="黑体" panose="02010609060101010101" pitchFamily="49" charset="-122"/>
              </a:rPr>
              <a:t>(</a:t>
            </a:r>
            <a:r>
              <a:rPr lang="zh-CN" altLang="en-US">
                <a:solidFill>
                  <a:schemeClr val="accent2"/>
                </a:solidFill>
                <a:ea typeface="黑体" panose="02010609060101010101" pitchFamily="49" charset="-122"/>
              </a:rPr>
              <a:t>如，先按位异或，再结果各位相或</a:t>
            </a:r>
            <a:r>
              <a:rPr lang="en-US" altLang="zh-CN">
                <a:solidFill>
                  <a:schemeClr val="accent2"/>
                </a:solidFill>
                <a:ea typeface="黑体" panose="02010609060101010101" pitchFamily="49" charset="-122"/>
              </a:rPr>
              <a:t>)</a:t>
            </a:r>
            <a:r>
              <a:rPr lang="zh-CN" altLang="en-US">
                <a:solidFill>
                  <a:srgbClr val="008000"/>
                </a:solidFill>
                <a:ea typeface="黑体" panose="02010609060101010101" pitchFamily="49" charset="-122"/>
              </a:rPr>
              <a:t>来直接比较</a:t>
            </a:r>
            <a:r>
              <a:rPr lang="en-US" altLang="zh-CN">
                <a:solidFill>
                  <a:srgbClr val="008000"/>
                </a:solidFill>
                <a:ea typeface="黑体" panose="02010609060101010101" pitchFamily="49" charset="-122"/>
              </a:rPr>
              <a:t>Rs</a:t>
            </a:r>
            <a:r>
              <a:rPr lang="zh-CN" altLang="en-US">
                <a:solidFill>
                  <a:srgbClr val="008000"/>
                </a:solidFill>
                <a:ea typeface="黑体" panose="02010609060101010101" pitchFamily="49" charset="-122"/>
              </a:rPr>
              <a:t>和</a:t>
            </a:r>
            <a:r>
              <a:rPr lang="en-US" altLang="zh-CN">
                <a:solidFill>
                  <a:srgbClr val="008000"/>
                </a:solidFill>
                <a:ea typeface="黑体" panose="02010609060101010101" pitchFamily="49" charset="-122"/>
              </a:rPr>
              <a:t>Rt</a:t>
            </a:r>
            <a:r>
              <a:rPr lang="zh-CN" altLang="en-US">
                <a:solidFill>
                  <a:srgbClr val="008000"/>
                </a:solidFill>
                <a:ea typeface="黑体" panose="02010609060101010101" pitchFamily="49" charset="-122"/>
              </a:rPr>
              <a:t>的值）</a:t>
            </a:r>
          </a:p>
          <a:p>
            <a:pPr lvl="2">
              <a:lnSpc>
                <a:spcPct val="115000"/>
              </a:lnSpc>
              <a:spcBef>
                <a:spcPct val="20000"/>
              </a:spcBef>
              <a:buFontTx/>
              <a:buNone/>
            </a:pPr>
            <a:r>
              <a:rPr lang="zh-CN" altLang="en-US">
                <a:solidFill>
                  <a:srgbClr val="008000"/>
                </a:solidFill>
                <a:ea typeface="黑体" panose="02010609060101010101" pitchFamily="49" charset="-122"/>
              </a:rPr>
              <a:t>（简单判断用逻辑运算，复杂判断可以用专门指令生成条件码）</a:t>
            </a:r>
          </a:p>
          <a:p>
            <a:pPr lvl="2">
              <a:lnSpc>
                <a:spcPct val="115000"/>
              </a:lnSpc>
              <a:spcBef>
                <a:spcPct val="20000"/>
              </a:spcBef>
              <a:buFontTx/>
              <a:buNone/>
            </a:pPr>
            <a:r>
              <a:rPr lang="zh-CN" altLang="en-US">
                <a:solidFill>
                  <a:srgbClr val="008000"/>
                </a:solidFill>
                <a:ea typeface="黑体" panose="02010609060101010101" pitchFamily="49" charset="-122"/>
              </a:rPr>
              <a:t>（许多条件判断都很简单）</a:t>
            </a:r>
          </a:p>
          <a:p>
            <a:pPr marL="342900" indent="-342900">
              <a:lnSpc>
                <a:spcPct val="115000"/>
              </a:lnSpc>
              <a:spcBef>
                <a:spcPct val="20000"/>
              </a:spcBef>
            </a:pPr>
            <a:r>
              <a:rPr lang="zh-CN" altLang="en-US">
                <a:ea typeface="黑体" panose="02010609060101010101" pitchFamily="49" charset="-122"/>
              </a:rPr>
              <a:t>预测错误的检测和处理（称为“冲刷、冲洗” </a:t>
            </a:r>
            <a:r>
              <a:rPr lang="en-US" altLang="zh-CN">
                <a:ea typeface="黑体" panose="02010609060101010101" pitchFamily="49" charset="-122"/>
              </a:rPr>
              <a:t>-- Flush</a:t>
            </a:r>
            <a:r>
              <a:rPr lang="zh-CN" altLang="en-US">
                <a:ea typeface="黑体" panose="02010609060101010101" pitchFamily="49" charset="-122"/>
              </a:rPr>
              <a:t>）</a:t>
            </a:r>
            <a:endParaRPr lang="en-US" altLang="zh-CN">
              <a:ea typeface="黑体" panose="02010609060101010101" pitchFamily="49" charset="-122"/>
            </a:endParaRPr>
          </a:p>
          <a:p>
            <a:pPr marL="838200" lvl="1" indent="-342900">
              <a:lnSpc>
                <a:spcPct val="115000"/>
              </a:lnSpc>
              <a:spcBef>
                <a:spcPct val="20000"/>
              </a:spcBef>
            </a:pPr>
            <a:r>
              <a:rPr lang="zh-CN" altLang="en-US">
                <a:ea typeface="黑体" panose="02010609060101010101" pitchFamily="49" charset="-122"/>
              </a:rPr>
              <a:t>当</a:t>
            </a:r>
            <a:r>
              <a:rPr lang="en-US" altLang="zh-CN">
                <a:ea typeface="黑体" panose="02010609060101010101" pitchFamily="49" charset="-122"/>
              </a:rPr>
              <a:t>Branch=1</a:t>
            </a:r>
            <a:r>
              <a:rPr lang="zh-CN" altLang="en-US">
                <a:ea typeface="黑体" panose="02010609060101010101" pitchFamily="49" charset="-122"/>
              </a:rPr>
              <a:t>并且</a:t>
            </a:r>
            <a:r>
              <a:rPr lang="en-US" altLang="zh-CN">
                <a:ea typeface="黑体" panose="02010609060101010101" pitchFamily="49" charset="-122"/>
              </a:rPr>
              <a:t>Zero=1</a:t>
            </a:r>
            <a:r>
              <a:rPr lang="zh-CN" altLang="en-US">
                <a:ea typeface="黑体" panose="02010609060101010101" pitchFamily="49" charset="-122"/>
              </a:rPr>
              <a:t>时，发生转移（</a:t>
            </a:r>
            <a:r>
              <a:rPr lang="en-US" altLang="zh-CN">
                <a:ea typeface="黑体" panose="02010609060101010101" pitchFamily="49" charset="-122"/>
              </a:rPr>
              <a:t>taken</a:t>
            </a:r>
            <a:r>
              <a:rPr lang="zh-CN" altLang="en-US">
                <a:ea typeface="黑体" panose="02010609060101010101" pitchFamily="49" charset="-122"/>
              </a:rPr>
              <a:t>）</a:t>
            </a:r>
          </a:p>
          <a:p>
            <a:pPr marL="838200" lvl="1" indent="-342900">
              <a:lnSpc>
                <a:spcPct val="115000"/>
              </a:lnSpc>
              <a:spcBef>
                <a:spcPct val="20000"/>
              </a:spcBef>
            </a:pPr>
            <a:r>
              <a:rPr lang="zh-CN" altLang="en-US">
                <a:ea typeface="黑体" panose="02010609060101010101" pitchFamily="49" charset="-122"/>
              </a:rPr>
              <a:t>增加控制信号：</a:t>
            </a:r>
            <a:r>
              <a:rPr lang="en-US" altLang="zh-CN">
                <a:solidFill>
                  <a:srgbClr val="008000"/>
                </a:solidFill>
                <a:ea typeface="黑体" panose="02010609060101010101" pitchFamily="49" charset="-122"/>
              </a:rPr>
              <a:t>IF.Flush=Branch and Zero</a:t>
            </a:r>
            <a:r>
              <a:rPr lang="zh-CN" altLang="en-US">
                <a:ea typeface="黑体" panose="02010609060101010101" pitchFamily="49" charset="-122"/>
              </a:rPr>
              <a:t>，取值为</a:t>
            </a:r>
            <a:r>
              <a:rPr lang="en-US" altLang="zh-CN">
                <a:ea typeface="黑体" panose="02010609060101010101" pitchFamily="49" charset="-122"/>
              </a:rPr>
              <a:t>1</a:t>
            </a:r>
            <a:r>
              <a:rPr lang="zh-CN" altLang="en-US">
                <a:ea typeface="黑体" panose="02010609060101010101" pitchFamily="49" charset="-122"/>
              </a:rPr>
              <a:t>时，说明预测失败</a:t>
            </a:r>
            <a:endParaRPr lang="en-US" altLang="zh-CN">
              <a:ea typeface="黑体" panose="02010609060101010101" pitchFamily="49" charset="-122"/>
            </a:endParaRPr>
          </a:p>
          <a:p>
            <a:pPr marL="838200" lvl="1" indent="-342900">
              <a:lnSpc>
                <a:spcPct val="115000"/>
              </a:lnSpc>
              <a:spcBef>
                <a:spcPct val="20000"/>
              </a:spcBef>
            </a:pPr>
            <a:r>
              <a:rPr lang="zh-CN" altLang="en-US">
                <a:ea typeface="黑体" panose="02010609060101010101" pitchFamily="49" charset="-122"/>
              </a:rPr>
              <a:t>预测失败 </a:t>
            </a:r>
            <a:r>
              <a:rPr lang="en-US" altLang="zh-CN">
                <a:ea typeface="黑体" panose="02010609060101010101" pitchFamily="49" charset="-122"/>
              </a:rPr>
              <a:t>(</a:t>
            </a:r>
            <a:r>
              <a:rPr lang="zh-CN" altLang="en-US">
                <a:ea typeface="黑体" panose="02010609060101010101" pitchFamily="49" charset="-122"/>
              </a:rPr>
              <a:t>条件满足</a:t>
            </a:r>
            <a:r>
              <a:rPr lang="en-US" altLang="zh-CN">
                <a:ea typeface="黑体" panose="02010609060101010101" pitchFamily="49" charset="-122"/>
              </a:rPr>
              <a:t>) </a:t>
            </a:r>
            <a:r>
              <a:rPr lang="zh-CN" altLang="en-US">
                <a:ea typeface="黑体" panose="02010609060101010101" pitchFamily="49" charset="-122"/>
              </a:rPr>
              <a:t>时，完成以下两件事（延迟损失时间片</a:t>
            </a:r>
            <a:r>
              <a:rPr lang="en-US" altLang="zh-CN">
                <a:ea typeface="黑体" panose="02010609060101010101" pitchFamily="49" charset="-122"/>
              </a:rPr>
              <a:t>C=1</a:t>
            </a:r>
            <a:r>
              <a:rPr lang="zh-CN" altLang="en-US">
                <a:ea typeface="黑体" panose="02010609060101010101" pitchFamily="49" charset="-122"/>
              </a:rPr>
              <a:t>时）：</a:t>
            </a:r>
          </a:p>
          <a:p>
            <a:pPr lvl="2">
              <a:lnSpc>
                <a:spcPct val="115000"/>
              </a:lnSpc>
              <a:spcBef>
                <a:spcPct val="20000"/>
              </a:spcBef>
              <a:buFontTx/>
              <a:buAutoNum type="circleNumDbPlain"/>
            </a:pPr>
            <a:r>
              <a:rPr lang="zh-CN" altLang="en-US">
                <a:ea typeface="黑体" panose="02010609060101010101" pitchFamily="49" charset="-122"/>
              </a:rPr>
              <a:t>将转移目标地址</a:t>
            </a:r>
            <a:r>
              <a:rPr lang="en-US" altLang="zh-CN">
                <a:ea typeface="黑体" panose="02010609060101010101" pitchFamily="49" charset="-122"/>
              </a:rPr>
              <a:t>-&gt;PC</a:t>
            </a:r>
          </a:p>
          <a:p>
            <a:pPr lvl="2">
              <a:lnSpc>
                <a:spcPct val="115000"/>
              </a:lnSpc>
              <a:spcBef>
                <a:spcPct val="20000"/>
              </a:spcBef>
              <a:buFontTx/>
              <a:buAutoNum type="circleNumDbPlain"/>
            </a:pPr>
            <a:r>
              <a:rPr lang="zh-CN" altLang="en-US">
                <a:ea typeface="黑体" panose="02010609060101010101" pitchFamily="49" charset="-122"/>
              </a:rPr>
              <a:t>清除</a:t>
            </a:r>
            <a:r>
              <a:rPr lang="en-US" altLang="zh-CN">
                <a:ea typeface="黑体" panose="02010609060101010101" pitchFamily="49" charset="-122"/>
              </a:rPr>
              <a:t>IF</a:t>
            </a:r>
            <a:r>
              <a:rPr lang="zh-CN" altLang="en-US">
                <a:ea typeface="黑体" panose="02010609060101010101" pitchFamily="49" charset="-122"/>
              </a:rPr>
              <a:t>段中取出的指令，即：将</a:t>
            </a:r>
            <a:r>
              <a:rPr lang="en-US" altLang="zh-CN">
                <a:ea typeface="黑体" panose="02010609060101010101" pitchFamily="49" charset="-122"/>
              </a:rPr>
              <a:t>IF/ID</a:t>
            </a:r>
            <a:r>
              <a:rPr lang="zh-CN" altLang="en-US">
                <a:ea typeface="黑体" panose="02010609060101010101" pitchFamily="49" charset="-122"/>
              </a:rPr>
              <a:t>中的指令字清</a:t>
            </a:r>
            <a:r>
              <a:rPr lang="en-US" altLang="zh-CN">
                <a:ea typeface="黑体" panose="02010609060101010101" pitchFamily="49" charset="-122"/>
              </a:rPr>
              <a:t>0</a:t>
            </a:r>
            <a:r>
              <a:rPr lang="zh-CN" altLang="en-US">
                <a:ea typeface="黑体" panose="02010609060101010101" pitchFamily="49" charset="-122"/>
              </a:rPr>
              <a:t>，转变为</a:t>
            </a:r>
            <a:r>
              <a:rPr lang="en-US" altLang="zh-CN">
                <a:ea typeface="黑体" panose="02010609060101010101" pitchFamily="49" charset="-122"/>
              </a:rPr>
              <a:t>nop</a:t>
            </a:r>
            <a:r>
              <a:rPr lang="zh-CN" altLang="en-US">
                <a:ea typeface="黑体" panose="02010609060101010101" pitchFamily="49" charset="-122"/>
              </a:rPr>
              <a:t>指令</a:t>
            </a:r>
          </a:p>
          <a:p>
            <a:pPr marL="342900" indent="-342900">
              <a:lnSpc>
                <a:spcPct val="115000"/>
              </a:lnSpc>
              <a:spcBef>
                <a:spcPct val="20000"/>
              </a:spcBef>
            </a:pPr>
            <a:endParaRPr lang="zh-CN" altLang="en-US">
              <a:ea typeface="黑体" panose="02010609060101010101" pitchFamily="49" charset="-122"/>
            </a:endParaRPr>
          </a:p>
        </p:txBody>
      </p:sp>
      <p:sp>
        <p:nvSpPr>
          <p:cNvPr id="322564" name="Rectangle 4">
            <a:extLst>
              <a:ext uri="{FF2B5EF4-FFF2-40B4-BE49-F238E27FC236}">
                <a16:creationId xmlns:a16="http://schemas.microsoft.com/office/drawing/2014/main" id="{B9DCBA26-5DA6-3D42-A493-4FF9B459CEC8}"/>
              </a:ext>
            </a:extLst>
          </p:cNvPr>
          <p:cNvSpPr>
            <a:spLocks noChangeArrowheads="1"/>
          </p:cNvSpPr>
          <p:nvPr/>
        </p:nvSpPr>
        <p:spPr bwMode="auto">
          <a:xfrm>
            <a:off x="584200" y="5892800"/>
            <a:ext cx="8002588"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latin typeface="Arial" panose="020B0604020202020204" pitchFamily="34" charset="0"/>
                <a:ea typeface="黑体" panose="02010609060101010101" pitchFamily="49" charset="-122"/>
              </a:rPr>
              <a:t>原来要清除三条指令，调整后只需要清除一条指令，因而只延迟一个时钟周期，每次预测错误减少了两个周期的代价！</a:t>
            </a:r>
          </a:p>
        </p:txBody>
      </p:sp>
      <p:sp>
        <p:nvSpPr>
          <p:cNvPr id="322565" name="Rectangle 5">
            <a:extLst>
              <a:ext uri="{FF2B5EF4-FFF2-40B4-BE49-F238E27FC236}">
                <a16:creationId xmlns:a16="http://schemas.microsoft.com/office/drawing/2014/main" id="{E4ACF206-6E9B-644B-AE52-3C0A82A703D6}"/>
              </a:ext>
            </a:extLst>
          </p:cNvPr>
          <p:cNvSpPr>
            <a:spLocks noChangeArrowheads="1"/>
          </p:cNvSpPr>
          <p:nvPr/>
        </p:nvSpPr>
        <p:spPr bwMode="auto">
          <a:xfrm>
            <a:off x="5743575" y="6224588"/>
            <a:ext cx="2011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30000"/>
              </a:spcBef>
              <a:buSzPct val="100000"/>
              <a:buFont typeface="Times New Roman" panose="02020603050405020304" pitchFamily="18" charset="0"/>
              <a:buNone/>
            </a:pPr>
            <a:r>
              <a:rPr lang="zh-CN" altLang="en-US" sz="2000">
                <a:solidFill>
                  <a:srgbClr val="CC0000"/>
                </a:solidFill>
                <a:latin typeface="Arial" panose="020B0604020202020204" pitchFamily="34" charset="0"/>
                <a:ea typeface="黑体" panose="02010609060101010101" pitchFamily="49" charset="-122"/>
                <a:cs typeface="Times New Roman" panose="02020603050405020304" pitchFamily="18" charset="0"/>
              </a:rPr>
              <a:t>即：这里 </a:t>
            </a:r>
            <a:r>
              <a:rPr lang="en-US" altLang="zh-CN" sz="2000">
                <a:solidFill>
                  <a:srgbClr val="CC0000"/>
                </a:solidFill>
                <a:latin typeface="Arial" panose="020B0604020202020204" pitchFamily="34" charset="0"/>
                <a:ea typeface="黑体" panose="02010609060101010101" pitchFamily="49" charset="-122"/>
                <a:cs typeface="Times New Roman" panose="02020603050405020304" pitchFamily="18" charset="0"/>
              </a:rPr>
              <a:t>C=1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2563">
                                            <p:txEl>
                                              <p:pRg st="1" end="1"/>
                                            </p:txEl>
                                          </p:spTgt>
                                        </p:tgtEl>
                                        <p:attrNameLst>
                                          <p:attrName>style.visibility</p:attrName>
                                        </p:attrNameLst>
                                      </p:cBhvr>
                                      <p:to>
                                        <p:strVal val="visible"/>
                                      </p:to>
                                    </p:set>
                                    <p:animEffect transition="in" filter="blinds(horizontal)">
                                      <p:cBhvr>
                                        <p:cTn id="7" dur="500"/>
                                        <p:tgtEl>
                                          <p:spTgt spid="3225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2563">
                                            <p:txEl>
                                              <p:pRg st="2" end="2"/>
                                            </p:txEl>
                                          </p:spTgt>
                                        </p:tgtEl>
                                        <p:attrNameLst>
                                          <p:attrName>style.visibility</p:attrName>
                                        </p:attrNameLst>
                                      </p:cBhvr>
                                      <p:to>
                                        <p:strVal val="visible"/>
                                      </p:to>
                                    </p:set>
                                    <p:animEffect transition="in" filter="blinds(horizontal)">
                                      <p:cBhvr>
                                        <p:cTn id="12" dur="500"/>
                                        <p:tgtEl>
                                          <p:spTgt spid="3225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2563">
                                            <p:txEl>
                                              <p:pRg st="3" end="3"/>
                                            </p:txEl>
                                          </p:spTgt>
                                        </p:tgtEl>
                                        <p:attrNameLst>
                                          <p:attrName>style.visibility</p:attrName>
                                        </p:attrNameLst>
                                      </p:cBhvr>
                                      <p:to>
                                        <p:strVal val="visible"/>
                                      </p:to>
                                    </p:set>
                                    <p:animEffect transition="in" filter="blinds(horizontal)">
                                      <p:cBhvr>
                                        <p:cTn id="17" dur="500"/>
                                        <p:tgtEl>
                                          <p:spTgt spid="32256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2563">
                                            <p:txEl>
                                              <p:pRg st="4" end="4"/>
                                            </p:txEl>
                                          </p:spTgt>
                                        </p:tgtEl>
                                        <p:attrNameLst>
                                          <p:attrName>style.visibility</p:attrName>
                                        </p:attrNameLst>
                                      </p:cBhvr>
                                      <p:to>
                                        <p:strVal val="visible"/>
                                      </p:to>
                                    </p:set>
                                    <p:animEffect transition="in" filter="blinds(horizontal)">
                                      <p:cBhvr>
                                        <p:cTn id="22" dur="500"/>
                                        <p:tgtEl>
                                          <p:spTgt spid="32256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2563">
                                            <p:txEl>
                                              <p:pRg st="5" end="5"/>
                                            </p:txEl>
                                          </p:spTgt>
                                        </p:tgtEl>
                                        <p:attrNameLst>
                                          <p:attrName>style.visibility</p:attrName>
                                        </p:attrNameLst>
                                      </p:cBhvr>
                                      <p:to>
                                        <p:strVal val="visible"/>
                                      </p:to>
                                    </p:set>
                                    <p:animEffect transition="in" filter="blinds(horizontal)">
                                      <p:cBhvr>
                                        <p:cTn id="27" dur="500"/>
                                        <p:tgtEl>
                                          <p:spTgt spid="322563">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22563">
                                            <p:txEl>
                                              <p:pRg st="6" end="6"/>
                                            </p:txEl>
                                          </p:spTgt>
                                        </p:tgtEl>
                                        <p:attrNameLst>
                                          <p:attrName>style.visibility</p:attrName>
                                        </p:attrNameLst>
                                      </p:cBhvr>
                                      <p:to>
                                        <p:strVal val="visible"/>
                                      </p:to>
                                    </p:set>
                                    <p:animEffect transition="in" filter="blinds(horizontal)">
                                      <p:cBhvr>
                                        <p:cTn id="30" dur="500"/>
                                        <p:tgtEl>
                                          <p:spTgt spid="322563">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22563">
                                            <p:txEl>
                                              <p:pRg st="7" end="7"/>
                                            </p:txEl>
                                          </p:spTgt>
                                        </p:tgtEl>
                                        <p:attrNameLst>
                                          <p:attrName>style.visibility</p:attrName>
                                        </p:attrNameLst>
                                      </p:cBhvr>
                                      <p:to>
                                        <p:strVal val="visible"/>
                                      </p:to>
                                    </p:set>
                                    <p:animEffect transition="in" filter="blinds(horizontal)">
                                      <p:cBhvr>
                                        <p:cTn id="33" dur="500"/>
                                        <p:tgtEl>
                                          <p:spTgt spid="322563">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22563">
                                            <p:txEl>
                                              <p:pRg st="9" end="9"/>
                                            </p:txEl>
                                          </p:spTgt>
                                        </p:tgtEl>
                                        <p:attrNameLst>
                                          <p:attrName>style.visibility</p:attrName>
                                        </p:attrNameLst>
                                      </p:cBhvr>
                                      <p:to>
                                        <p:strVal val="visible"/>
                                      </p:to>
                                    </p:set>
                                    <p:animEffect transition="in" filter="blinds(horizontal)">
                                      <p:cBhvr>
                                        <p:cTn id="38" dur="500"/>
                                        <p:tgtEl>
                                          <p:spTgt spid="322563">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22563">
                                            <p:txEl>
                                              <p:pRg st="10" end="10"/>
                                            </p:txEl>
                                          </p:spTgt>
                                        </p:tgtEl>
                                        <p:attrNameLst>
                                          <p:attrName>style.visibility</p:attrName>
                                        </p:attrNameLst>
                                      </p:cBhvr>
                                      <p:to>
                                        <p:strVal val="visible"/>
                                      </p:to>
                                    </p:set>
                                    <p:animEffect transition="in" filter="blinds(horizontal)">
                                      <p:cBhvr>
                                        <p:cTn id="43" dur="500"/>
                                        <p:tgtEl>
                                          <p:spTgt spid="322563">
                                            <p:txEl>
                                              <p:pRg st="10" end="1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22563">
                                            <p:txEl>
                                              <p:pRg st="11" end="11"/>
                                            </p:txEl>
                                          </p:spTgt>
                                        </p:tgtEl>
                                        <p:attrNameLst>
                                          <p:attrName>style.visibility</p:attrName>
                                        </p:attrNameLst>
                                      </p:cBhvr>
                                      <p:to>
                                        <p:strVal val="visible"/>
                                      </p:to>
                                    </p:set>
                                    <p:animEffect transition="in" filter="blinds(horizontal)">
                                      <p:cBhvr>
                                        <p:cTn id="48" dur="500"/>
                                        <p:tgtEl>
                                          <p:spTgt spid="322563">
                                            <p:txEl>
                                              <p:pRg st="11" end="1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22563">
                                            <p:txEl>
                                              <p:pRg st="12" end="12"/>
                                            </p:txEl>
                                          </p:spTgt>
                                        </p:tgtEl>
                                        <p:attrNameLst>
                                          <p:attrName>style.visibility</p:attrName>
                                        </p:attrNameLst>
                                      </p:cBhvr>
                                      <p:to>
                                        <p:strVal val="visible"/>
                                      </p:to>
                                    </p:set>
                                    <p:animEffect transition="in" filter="blinds(horizontal)">
                                      <p:cBhvr>
                                        <p:cTn id="53" dur="500"/>
                                        <p:tgtEl>
                                          <p:spTgt spid="322563">
                                            <p:txEl>
                                              <p:pRg st="12" end="12"/>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322563">
                                            <p:txEl>
                                              <p:pRg st="13" end="13"/>
                                            </p:txEl>
                                          </p:spTgt>
                                        </p:tgtEl>
                                        <p:attrNameLst>
                                          <p:attrName>style.visibility</p:attrName>
                                        </p:attrNameLst>
                                      </p:cBhvr>
                                      <p:to>
                                        <p:strVal val="visible"/>
                                      </p:to>
                                    </p:set>
                                    <p:animEffect transition="in" filter="blinds(horizontal)">
                                      <p:cBhvr>
                                        <p:cTn id="58" dur="500"/>
                                        <p:tgtEl>
                                          <p:spTgt spid="322563">
                                            <p:txEl>
                                              <p:pRg st="13" end="13"/>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22564"/>
                                        </p:tgtEl>
                                        <p:attrNameLst>
                                          <p:attrName>style.visibility</p:attrName>
                                        </p:attrNameLst>
                                      </p:cBhvr>
                                      <p:to>
                                        <p:strVal val="visible"/>
                                      </p:to>
                                    </p:set>
                                    <p:animEffect transition="in" filter="blinds(horizontal)">
                                      <p:cBhvr>
                                        <p:cTn id="63" dur="500"/>
                                        <p:tgtEl>
                                          <p:spTgt spid="32256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22565"/>
                                        </p:tgtEl>
                                        <p:attrNameLst>
                                          <p:attrName>style.visibility</p:attrName>
                                        </p:attrNameLst>
                                      </p:cBhvr>
                                      <p:to>
                                        <p:strVal val="visible"/>
                                      </p:to>
                                    </p:set>
                                    <p:animEffect transition="in" filter="blinds(horizontal)">
                                      <p:cBhvr>
                                        <p:cTn id="68" dur="500"/>
                                        <p:tgtEl>
                                          <p:spTgt spid="322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4" grpId="0"/>
      <p:bldP spid="3225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5">
            <a:extLst>
              <a:ext uri="{FF2B5EF4-FFF2-40B4-BE49-F238E27FC236}">
                <a16:creationId xmlns:a16="http://schemas.microsoft.com/office/drawing/2014/main" id="{423CDA4E-6922-2D45-AC94-637962D470CF}"/>
              </a:ext>
            </a:extLst>
          </p:cNvPr>
          <p:cNvSpPr>
            <a:spLocks noGrp="1" noChangeArrowheads="1"/>
          </p:cNvSpPr>
          <p:nvPr>
            <p:ph type="title"/>
          </p:nvPr>
        </p:nvSpPr>
        <p:spPr>
          <a:xfrm>
            <a:off x="800100" y="152400"/>
            <a:ext cx="6862763" cy="368300"/>
          </a:xfrm>
        </p:spPr>
        <p:txBody>
          <a:bodyPr/>
          <a:lstStyle/>
          <a:p>
            <a:r>
              <a:rPr lang="zh-CN" altLang="en-US">
                <a:ea typeface="宋体" panose="02010600030101010101" pitchFamily="2" charset="-122"/>
              </a:rPr>
              <a:t>带静态分支预测处理的数据通路</a:t>
            </a:r>
            <a:endParaRPr lang="zh-CN" altLang="en-US">
              <a:solidFill>
                <a:schemeClr val="accent1"/>
              </a:solidFill>
              <a:ea typeface="宋体" panose="02010600030101010101" pitchFamily="2" charset="-122"/>
            </a:endParaRPr>
          </a:p>
        </p:txBody>
      </p:sp>
      <p:pic>
        <p:nvPicPr>
          <p:cNvPr id="135171" name="Picture 8" descr="control hazard">
            <a:extLst>
              <a:ext uri="{FF2B5EF4-FFF2-40B4-BE49-F238E27FC236}">
                <a16:creationId xmlns:a16="http://schemas.microsoft.com/office/drawing/2014/main" id="{EF7ADABF-4B2A-1141-B5B7-126C8B71CC1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9400" y="919163"/>
            <a:ext cx="8301038" cy="5165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61" name="Text Box 9">
            <a:extLst>
              <a:ext uri="{FF2B5EF4-FFF2-40B4-BE49-F238E27FC236}">
                <a16:creationId xmlns:a16="http://schemas.microsoft.com/office/drawing/2014/main" id="{18BB3CE1-723D-1F47-94DF-D483C3C3A063}"/>
              </a:ext>
            </a:extLst>
          </p:cNvPr>
          <p:cNvSpPr txBox="1">
            <a:spLocks noChangeArrowheads="1"/>
          </p:cNvSpPr>
          <p:nvPr/>
        </p:nvSpPr>
        <p:spPr bwMode="auto">
          <a:xfrm>
            <a:off x="469900" y="596900"/>
            <a:ext cx="3127375" cy="3667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solidFill>
                  <a:srgbClr val="CC0000"/>
                </a:solidFill>
                <a:latin typeface="Arial" panose="020B0604020202020204" pitchFamily="34" charset="0"/>
                <a:ea typeface="宋体" panose="02010600030101010101" pitchFamily="2" charset="-122"/>
                <a:cs typeface="Arial" panose="020B0604020202020204" pitchFamily="34" charset="0"/>
              </a:rPr>
              <a:t>IF.Flush=Branch and Zero</a:t>
            </a:r>
            <a:r>
              <a:rPr lang="en-US" altLang="zh-CN">
                <a:solidFill>
                  <a:srgbClr val="CC0000"/>
                </a:solidFill>
                <a:latin typeface="Arial" panose="020B0604020202020204" pitchFamily="34" charset="0"/>
                <a:ea typeface="宋体" panose="02010600030101010101" pitchFamily="2" charset="-122"/>
                <a:cs typeface="Arial" panose="020B0604020202020204" pitchFamily="34" charset="0"/>
              </a:rPr>
              <a:t> </a:t>
            </a:r>
            <a:endParaRPr lang="zh-CN" altLang="en-US">
              <a:solidFill>
                <a:srgbClr val="CC0000"/>
              </a:solidFill>
              <a:latin typeface="Arial" panose="020B0604020202020204" pitchFamily="34" charset="0"/>
              <a:ea typeface="宋体" panose="02010600030101010101" pitchFamily="2" charset="-122"/>
              <a:cs typeface="Arial" panose="020B0604020202020204" pitchFamily="34" charset="0"/>
            </a:endParaRPr>
          </a:p>
        </p:txBody>
      </p:sp>
      <p:grpSp>
        <p:nvGrpSpPr>
          <p:cNvPr id="228374" name="Group 22">
            <a:extLst>
              <a:ext uri="{FF2B5EF4-FFF2-40B4-BE49-F238E27FC236}">
                <a16:creationId xmlns:a16="http://schemas.microsoft.com/office/drawing/2014/main" id="{9633BED7-4DA3-A846-9221-0DA80F6A0B39}"/>
              </a:ext>
            </a:extLst>
          </p:cNvPr>
          <p:cNvGrpSpPr>
            <a:grpSpLocks/>
          </p:cNvGrpSpPr>
          <p:nvPr/>
        </p:nvGrpSpPr>
        <p:grpSpPr bwMode="auto">
          <a:xfrm>
            <a:off x="7086600" y="3378200"/>
            <a:ext cx="355600" cy="622300"/>
            <a:chOff x="4464" y="2128"/>
            <a:chExt cx="224" cy="392"/>
          </a:xfrm>
        </p:grpSpPr>
        <p:sp>
          <p:nvSpPr>
            <p:cNvPr id="135197" name="Oval 10">
              <a:extLst>
                <a:ext uri="{FF2B5EF4-FFF2-40B4-BE49-F238E27FC236}">
                  <a16:creationId xmlns:a16="http://schemas.microsoft.com/office/drawing/2014/main" id="{BCD1F5E1-FDD2-B94C-BFD5-F046486A4E05}"/>
                </a:ext>
              </a:extLst>
            </p:cNvPr>
            <p:cNvSpPr>
              <a:spLocks noChangeArrowheads="1"/>
            </p:cNvSpPr>
            <p:nvPr/>
          </p:nvSpPr>
          <p:spPr bwMode="auto">
            <a:xfrm>
              <a:off x="4464" y="2232"/>
              <a:ext cx="224" cy="184"/>
            </a:xfrm>
            <a:prstGeom prst="ellipse">
              <a:avLst/>
            </a:prstGeom>
            <a:noFill/>
            <a:ln w="381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5198" name="Line 11">
              <a:extLst>
                <a:ext uri="{FF2B5EF4-FFF2-40B4-BE49-F238E27FC236}">
                  <a16:creationId xmlns:a16="http://schemas.microsoft.com/office/drawing/2014/main" id="{929EE1BC-67FF-A140-9056-53089A4D1E4C}"/>
                </a:ext>
              </a:extLst>
            </p:cNvPr>
            <p:cNvSpPr>
              <a:spLocks noChangeShapeType="1"/>
            </p:cNvSpPr>
            <p:nvPr/>
          </p:nvSpPr>
          <p:spPr bwMode="auto">
            <a:xfrm>
              <a:off x="4576" y="2128"/>
              <a:ext cx="0" cy="88"/>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9" name="Line 12">
              <a:extLst>
                <a:ext uri="{FF2B5EF4-FFF2-40B4-BE49-F238E27FC236}">
                  <a16:creationId xmlns:a16="http://schemas.microsoft.com/office/drawing/2014/main" id="{0B796825-B8DB-9647-A76C-E104209DA172}"/>
                </a:ext>
              </a:extLst>
            </p:cNvPr>
            <p:cNvSpPr>
              <a:spLocks noChangeShapeType="1"/>
            </p:cNvSpPr>
            <p:nvPr/>
          </p:nvSpPr>
          <p:spPr bwMode="auto">
            <a:xfrm>
              <a:off x="4576" y="2416"/>
              <a:ext cx="0" cy="10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8376" name="Group 24">
            <a:extLst>
              <a:ext uri="{FF2B5EF4-FFF2-40B4-BE49-F238E27FC236}">
                <a16:creationId xmlns:a16="http://schemas.microsoft.com/office/drawing/2014/main" id="{BB0757EA-B956-8446-95E1-3B68D218059F}"/>
              </a:ext>
            </a:extLst>
          </p:cNvPr>
          <p:cNvGrpSpPr>
            <a:grpSpLocks/>
          </p:cNvGrpSpPr>
          <p:nvPr/>
        </p:nvGrpSpPr>
        <p:grpSpPr bwMode="auto">
          <a:xfrm>
            <a:off x="673100" y="1270000"/>
            <a:ext cx="5435600" cy="2565400"/>
            <a:chOff x="424" y="800"/>
            <a:chExt cx="3424" cy="1616"/>
          </a:xfrm>
        </p:grpSpPr>
        <p:sp>
          <p:nvSpPr>
            <p:cNvPr id="135192" name="Line 13">
              <a:extLst>
                <a:ext uri="{FF2B5EF4-FFF2-40B4-BE49-F238E27FC236}">
                  <a16:creationId xmlns:a16="http://schemas.microsoft.com/office/drawing/2014/main" id="{6FFB404B-A835-4540-A0EC-DB51DD6391DC}"/>
                </a:ext>
              </a:extLst>
            </p:cNvPr>
            <p:cNvSpPr>
              <a:spLocks noChangeShapeType="1"/>
            </p:cNvSpPr>
            <p:nvPr/>
          </p:nvSpPr>
          <p:spPr bwMode="auto">
            <a:xfrm>
              <a:off x="3648" y="1752"/>
              <a:ext cx="200" cy="8"/>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3" name="Line 14">
              <a:extLst>
                <a:ext uri="{FF2B5EF4-FFF2-40B4-BE49-F238E27FC236}">
                  <a16:creationId xmlns:a16="http://schemas.microsoft.com/office/drawing/2014/main" id="{49AEAC41-A3AA-A44D-8B12-ED4B863502E5}"/>
                </a:ext>
              </a:extLst>
            </p:cNvPr>
            <p:cNvSpPr>
              <a:spLocks noChangeShapeType="1"/>
            </p:cNvSpPr>
            <p:nvPr/>
          </p:nvSpPr>
          <p:spPr bwMode="auto">
            <a:xfrm>
              <a:off x="3840" y="800"/>
              <a:ext cx="0" cy="952"/>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4" name="Line 15">
              <a:extLst>
                <a:ext uri="{FF2B5EF4-FFF2-40B4-BE49-F238E27FC236}">
                  <a16:creationId xmlns:a16="http://schemas.microsoft.com/office/drawing/2014/main" id="{F459237B-3B0D-9847-9A1C-BB30DFC3983A}"/>
                </a:ext>
              </a:extLst>
            </p:cNvPr>
            <p:cNvSpPr>
              <a:spLocks noChangeShapeType="1"/>
            </p:cNvSpPr>
            <p:nvPr/>
          </p:nvSpPr>
          <p:spPr bwMode="auto">
            <a:xfrm>
              <a:off x="424" y="800"/>
              <a:ext cx="3416"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5" name="Line 16">
              <a:extLst>
                <a:ext uri="{FF2B5EF4-FFF2-40B4-BE49-F238E27FC236}">
                  <a16:creationId xmlns:a16="http://schemas.microsoft.com/office/drawing/2014/main" id="{D5438168-8199-C84E-ACB0-120149CEB27C}"/>
                </a:ext>
              </a:extLst>
            </p:cNvPr>
            <p:cNvSpPr>
              <a:spLocks noChangeShapeType="1"/>
            </p:cNvSpPr>
            <p:nvPr/>
          </p:nvSpPr>
          <p:spPr bwMode="auto">
            <a:xfrm>
              <a:off x="424" y="800"/>
              <a:ext cx="0" cy="1608"/>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6" name="Line 17">
              <a:extLst>
                <a:ext uri="{FF2B5EF4-FFF2-40B4-BE49-F238E27FC236}">
                  <a16:creationId xmlns:a16="http://schemas.microsoft.com/office/drawing/2014/main" id="{355AAC80-3669-4F4C-A0B2-00B2AA0C2AC5}"/>
                </a:ext>
              </a:extLst>
            </p:cNvPr>
            <p:cNvSpPr>
              <a:spLocks noChangeShapeType="1"/>
            </p:cNvSpPr>
            <p:nvPr/>
          </p:nvSpPr>
          <p:spPr bwMode="auto">
            <a:xfrm>
              <a:off x="424" y="2416"/>
              <a:ext cx="176"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8371" name="Line 19">
            <a:extLst>
              <a:ext uri="{FF2B5EF4-FFF2-40B4-BE49-F238E27FC236}">
                <a16:creationId xmlns:a16="http://schemas.microsoft.com/office/drawing/2014/main" id="{4EB262AC-F470-3843-A664-E7F7F407E4C6}"/>
              </a:ext>
            </a:extLst>
          </p:cNvPr>
          <p:cNvSpPr>
            <a:spLocks noChangeShapeType="1"/>
          </p:cNvSpPr>
          <p:nvPr/>
        </p:nvSpPr>
        <p:spPr bwMode="auto">
          <a:xfrm flipV="1">
            <a:off x="1130300" y="4305300"/>
            <a:ext cx="0" cy="109220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28377" name="Group 25">
            <a:extLst>
              <a:ext uri="{FF2B5EF4-FFF2-40B4-BE49-F238E27FC236}">
                <a16:creationId xmlns:a16="http://schemas.microsoft.com/office/drawing/2014/main" id="{778D2AF9-E333-134E-BCB2-5B027FCB5A20}"/>
              </a:ext>
            </a:extLst>
          </p:cNvPr>
          <p:cNvGrpSpPr>
            <a:grpSpLocks/>
          </p:cNvGrpSpPr>
          <p:nvPr/>
        </p:nvGrpSpPr>
        <p:grpSpPr bwMode="auto">
          <a:xfrm>
            <a:off x="787400" y="1130300"/>
            <a:ext cx="2654300" cy="4279900"/>
            <a:chOff x="496" y="712"/>
            <a:chExt cx="1672" cy="2696"/>
          </a:xfrm>
        </p:grpSpPr>
        <p:sp>
          <p:nvSpPr>
            <p:cNvPr id="135190" name="Line 20">
              <a:extLst>
                <a:ext uri="{FF2B5EF4-FFF2-40B4-BE49-F238E27FC236}">
                  <a16:creationId xmlns:a16="http://schemas.microsoft.com/office/drawing/2014/main" id="{E7C12DA1-0486-C845-A0B3-A43129F8872C}"/>
                </a:ext>
              </a:extLst>
            </p:cNvPr>
            <p:cNvSpPr>
              <a:spLocks noChangeShapeType="1"/>
            </p:cNvSpPr>
            <p:nvPr/>
          </p:nvSpPr>
          <p:spPr bwMode="auto">
            <a:xfrm>
              <a:off x="504" y="712"/>
              <a:ext cx="0" cy="2696"/>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91" name="Line 21">
              <a:extLst>
                <a:ext uri="{FF2B5EF4-FFF2-40B4-BE49-F238E27FC236}">
                  <a16:creationId xmlns:a16="http://schemas.microsoft.com/office/drawing/2014/main" id="{7AA36F01-7374-F341-88F6-3F5287166029}"/>
                </a:ext>
              </a:extLst>
            </p:cNvPr>
            <p:cNvSpPr>
              <a:spLocks noChangeShapeType="1"/>
            </p:cNvSpPr>
            <p:nvPr/>
          </p:nvSpPr>
          <p:spPr bwMode="auto">
            <a:xfrm>
              <a:off x="496" y="3400"/>
              <a:ext cx="1672" cy="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8383" name="Group 31">
            <a:extLst>
              <a:ext uri="{FF2B5EF4-FFF2-40B4-BE49-F238E27FC236}">
                <a16:creationId xmlns:a16="http://schemas.microsoft.com/office/drawing/2014/main" id="{58DA17AC-C4DB-EF46-AC1A-7D77F124ECCB}"/>
              </a:ext>
            </a:extLst>
          </p:cNvPr>
          <p:cNvGrpSpPr>
            <a:grpSpLocks/>
          </p:cNvGrpSpPr>
          <p:nvPr/>
        </p:nvGrpSpPr>
        <p:grpSpPr bwMode="auto">
          <a:xfrm>
            <a:off x="3606800" y="609600"/>
            <a:ext cx="4292600" cy="647700"/>
            <a:chOff x="2272" y="384"/>
            <a:chExt cx="2704" cy="408"/>
          </a:xfrm>
        </p:grpSpPr>
        <p:sp>
          <p:nvSpPr>
            <p:cNvPr id="135185" name="Line 26">
              <a:extLst>
                <a:ext uri="{FF2B5EF4-FFF2-40B4-BE49-F238E27FC236}">
                  <a16:creationId xmlns:a16="http://schemas.microsoft.com/office/drawing/2014/main" id="{1A8DF84C-8A9E-EC40-9C25-6DA03DF75E38}"/>
                </a:ext>
              </a:extLst>
            </p:cNvPr>
            <p:cNvSpPr>
              <a:spLocks noChangeShapeType="1"/>
            </p:cNvSpPr>
            <p:nvPr/>
          </p:nvSpPr>
          <p:spPr bwMode="auto">
            <a:xfrm flipH="1">
              <a:off x="2272" y="384"/>
              <a:ext cx="8" cy="392"/>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86" name="Line 27">
              <a:extLst>
                <a:ext uri="{FF2B5EF4-FFF2-40B4-BE49-F238E27FC236}">
                  <a16:creationId xmlns:a16="http://schemas.microsoft.com/office/drawing/2014/main" id="{62F06374-963A-4942-852E-080550D5EE98}"/>
                </a:ext>
              </a:extLst>
            </p:cNvPr>
            <p:cNvSpPr>
              <a:spLocks noChangeShapeType="1"/>
            </p:cNvSpPr>
            <p:nvPr/>
          </p:nvSpPr>
          <p:spPr bwMode="auto">
            <a:xfrm flipH="1">
              <a:off x="4968" y="400"/>
              <a:ext cx="8" cy="392"/>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87" name="Text Box 28">
              <a:extLst>
                <a:ext uri="{FF2B5EF4-FFF2-40B4-BE49-F238E27FC236}">
                  <a16:creationId xmlns:a16="http://schemas.microsoft.com/office/drawing/2014/main" id="{961C91AA-E115-954D-A31A-38D90731E116}"/>
                </a:ext>
              </a:extLst>
            </p:cNvPr>
            <p:cNvSpPr txBox="1">
              <a:spLocks noChangeArrowheads="1"/>
            </p:cNvSpPr>
            <p:nvPr/>
          </p:nvSpPr>
          <p:spPr bwMode="auto">
            <a:xfrm>
              <a:off x="2546" y="412"/>
              <a:ext cx="20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dirty="0">
                  <a:solidFill>
                    <a:srgbClr val="CC0000"/>
                  </a:solidFill>
                  <a:latin typeface="Arial" panose="020B0604020202020204" pitchFamily="34" charset="0"/>
                  <a:ea typeface="黑体" panose="02010609060101010101" pitchFamily="49" charset="-122"/>
                  <a:cs typeface="Arial" panose="020B0604020202020204" pitchFamily="34" charset="0"/>
                </a:rPr>
                <a:t>40#</a:t>
              </a:r>
              <a:r>
                <a:rPr lang="zh-CN" altLang="en-US" sz="1800" dirty="0">
                  <a:solidFill>
                    <a:srgbClr val="CC0000"/>
                  </a:solidFill>
                  <a:latin typeface="Arial" panose="020B0604020202020204" pitchFamily="34" charset="0"/>
                  <a:ea typeface="黑体" panose="02010609060101010101" pitchFamily="49" charset="-122"/>
                  <a:cs typeface="Arial" panose="020B0604020202020204" pitchFamily="34" charset="0"/>
                </a:rPr>
                <a:t>指令“</a:t>
              </a:r>
              <a:r>
                <a:rPr lang="en-US" altLang="zh-CN" sz="1800" dirty="0" err="1">
                  <a:solidFill>
                    <a:srgbClr val="CC0000"/>
                  </a:solidFill>
                  <a:latin typeface="Arial" panose="020B0604020202020204" pitchFamily="34" charset="0"/>
                  <a:ea typeface="黑体" panose="02010609060101010101" pitchFamily="49" charset="-122"/>
                  <a:cs typeface="Arial" panose="020B0604020202020204" pitchFamily="34" charset="0"/>
                </a:rPr>
                <a:t>beq</a:t>
              </a:r>
              <a:r>
                <a:rPr lang="en-US" altLang="zh-CN" sz="1800" dirty="0">
                  <a:solidFill>
                    <a:srgbClr val="CC0000"/>
                  </a:solidFill>
                  <a:latin typeface="Arial" panose="020B0604020202020204" pitchFamily="34" charset="0"/>
                  <a:ea typeface="黑体" panose="02010609060101010101" pitchFamily="49" charset="-122"/>
                  <a:cs typeface="Arial" panose="020B0604020202020204" pitchFamily="34" charset="0"/>
                </a:rPr>
                <a:t> $1,$3,72” ID</a:t>
              </a:r>
              <a:r>
                <a:rPr lang="zh-CN" altLang="en-US" sz="1800" dirty="0">
                  <a:solidFill>
                    <a:srgbClr val="CC0000"/>
                  </a:solidFill>
                  <a:latin typeface="Arial" panose="020B0604020202020204" pitchFamily="34" charset="0"/>
                  <a:ea typeface="黑体" panose="02010609060101010101" pitchFamily="49" charset="-122"/>
                  <a:cs typeface="Arial" panose="020B0604020202020204" pitchFamily="34" charset="0"/>
                </a:rPr>
                <a:t>段</a:t>
              </a:r>
            </a:p>
          </p:txBody>
        </p:sp>
        <p:sp>
          <p:nvSpPr>
            <p:cNvPr id="135188" name="Line 29">
              <a:extLst>
                <a:ext uri="{FF2B5EF4-FFF2-40B4-BE49-F238E27FC236}">
                  <a16:creationId xmlns:a16="http://schemas.microsoft.com/office/drawing/2014/main" id="{49ED88CE-F4FE-AD42-B1E5-D8CD6747AA0F}"/>
                </a:ext>
              </a:extLst>
            </p:cNvPr>
            <p:cNvSpPr>
              <a:spLocks noChangeShapeType="1"/>
            </p:cNvSpPr>
            <p:nvPr/>
          </p:nvSpPr>
          <p:spPr bwMode="auto">
            <a:xfrm flipH="1" flipV="1">
              <a:off x="2272" y="544"/>
              <a:ext cx="312" cy="5"/>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89" name="Line 30">
              <a:extLst>
                <a:ext uri="{FF2B5EF4-FFF2-40B4-BE49-F238E27FC236}">
                  <a16:creationId xmlns:a16="http://schemas.microsoft.com/office/drawing/2014/main" id="{6C8B0801-EB75-964D-8867-BC1D95652BFE}"/>
                </a:ext>
              </a:extLst>
            </p:cNvPr>
            <p:cNvSpPr>
              <a:spLocks noChangeShapeType="1"/>
            </p:cNvSpPr>
            <p:nvPr/>
          </p:nvSpPr>
          <p:spPr bwMode="auto">
            <a:xfrm flipH="1">
              <a:off x="4536" y="528"/>
              <a:ext cx="416" cy="0"/>
            </a:xfrm>
            <a:prstGeom prst="line">
              <a:avLst/>
            </a:prstGeom>
            <a:noFill/>
            <a:ln w="28575">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8384" name="Text Box 32">
            <a:extLst>
              <a:ext uri="{FF2B5EF4-FFF2-40B4-BE49-F238E27FC236}">
                <a16:creationId xmlns:a16="http://schemas.microsoft.com/office/drawing/2014/main" id="{E750E61B-2E5F-4E45-8400-98F8519695AA}"/>
              </a:ext>
            </a:extLst>
          </p:cNvPr>
          <p:cNvSpPr txBox="1">
            <a:spLocks noChangeArrowheads="1"/>
          </p:cNvSpPr>
          <p:nvPr/>
        </p:nvSpPr>
        <p:spPr bwMode="auto">
          <a:xfrm>
            <a:off x="114300" y="5803900"/>
            <a:ext cx="5734050"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20000"/>
              </a:spcBef>
            </a:pPr>
            <a:r>
              <a:rPr lang="zh-CN" altLang="en-US" sz="1700">
                <a:solidFill>
                  <a:schemeClr val="accent2"/>
                </a:solidFill>
                <a:latin typeface="Arial" panose="020B0604020202020204" pitchFamily="34" charset="0"/>
                <a:ea typeface="黑体" panose="02010609060101010101" pitchFamily="49" charset="-122"/>
                <a:cs typeface="Arial" panose="020B0604020202020204" pitchFamily="34" charset="0"/>
              </a:rPr>
              <a:t>若</a:t>
            </a:r>
            <a:r>
              <a:rPr lang="en-US" altLang="zh-CN" sz="1700">
                <a:solidFill>
                  <a:schemeClr val="accent2"/>
                </a:solidFill>
                <a:latin typeface="Arial" panose="020B0604020202020204" pitchFamily="34" charset="0"/>
                <a:ea typeface="黑体" panose="02010609060101010101" pitchFamily="49" charset="-122"/>
                <a:cs typeface="Arial" panose="020B0604020202020204" pitchFamily="34" charset="0"/>
              </a:rPr>
              <a:t>$1</a:t>
            </a:r>
            <a:r>
              <a:rPr lang="zh-CN" altLang="en-US" sz="1700">
                <a:solidFill>
                  <a:schemeClr val="accent2"/>
                </a:solidFill>
                <a:latin typeface="Arial" panose="020B0604020202020204" pitchFamily="34" charset="0"/>
                <a:ea typeface="黑体" panose="02010609060101010101" pitchFamily="49" charset="-122"/>
                <a:cs typeface="Arial" panose="020B0604020202020204" pitchFamily="34" charset="0"/>
              </a:rPr>
              <a:t>或</a:t>
            </a:r>
            <a:r>
              <a:rPr lang="en-US" altLang="zh-CN" sz="1700">
                <a:solidFill>
                  <a:schemeClr val="accent2"/>
                </a:solidFill>
                <a:latin typeface="Arial" panose="020B0604020202020204" pitchFamily="34" charset="0"/>
                <a:ea typeface="黑体" panose="02010609060101010101" pitchFamily="49" charset="-122"/>
                <a:cs typeface="Arial" panose="020B0604020202020204" pitchFamily="34" charset="0"/>
              </a:rPr>
              <a:t>$3</a:t>
            </a:r>
            <a:r>
              <a:rPr lang="zh-CN" altLang="en-US" sz="1700">
                <a:solidFill>
                  <a:schemeClr val="accent2"/>
                </a:solidFill>
                <a:latin typeface="Arial" panose="020B0604020202020204" pitchFamily="34" charset="0"/>
                <a:ea typeface="黑体" panose="02010609060101010101" pitchFamily="49" charset="-122"/>
                <a:cs typeface="Arial" panose="020B0604020202020204" pitchFamily="34" charset="0"/>
              </a:rPr>
              <a:t>和前面指令数据相关，会怎么样？</a:t>
            </a:r>
          </a:p>
          <a:p>
            <a:pPr>
              <a:spcBef>
                <a:spcPct val="20000"/>
              </a:spcBef>
              <a:buFontTx/>
              <a:buChar char="•"/>
            </a:pPr>
            <a:r>
              <a:rPr lang="zh-CN" altLang="en-US" sz="1700">
                <a:solidFill>
                  <a:schemeClr val="accent2"/>
                </a:solidFill>
                <a:latin typeface="Arial" panose="020B0604020202020204" pitchFamily="34" charset="0"/>
                <a:ea typeface="黑体" panose="02010609060101010101" pitchFamily="49" charset="-122"/>
                <a:cs typeface="Arial" panose="020B0604020202020204" pitchFamily="34" charset="0"/>
              </a:rPr>
              <a:t> </a:t>
            </a:r>
            <a:r>
              <a:rPr lang="zh-CN" altLang="en-US" sz="1700">
                <a:solidFill>
                  <a:srgbClr val="008000"/>
                </a:solidFill>
                <a:latin typeface="Arial" panose="020B0604020202020204" pitchFamily="34" charset="0"/>
                <a:ea typeface="黑体" panose="02010609060101010101" pitchFamily="49" charset="-122"/>
                <a:cs typeface="Arial" panose="020B0604020202020204" pitchFamily="34" charset="0"/>
              </a:rPr>
              <a:t>上上条指令的</a:t>
            </a:r>
            <a:r>
              <a:rPr lang="en-US" altLang="zh-CN" sz="1700">
                <a:solidFill>
                  <a:srgbClr val="008000"/>
                </a:solidFill>
                <a:latin typeface="Arial" panose="020B0604020202020204" pitchFamily="34" charset="0"/>
                <a:ea typeface="黑体" panose="02010609060101010101" pitchFamily="49" charset="-122"/>
                <a:cs typeface="Arial" panose="020B0604020202020204" pitchFamily="34" charset="0"/>
              </a:rPr>
              <a:t>EXE</a:t>
            </a:r>
            <a:r>
              <a:rPr lang="zh-CN" altLang="en-US" sz="1700">
                <a:solidFill>
                  <a:srgbClr val="008000"/>
                </a:solidFill>
                <a:latin typeface="Arial" panose="020B0604020202020204" pitchFamily="34" charset="0"/>
                <a:ea typeface="黑体" panose="02010609060101010101" pitchFamily="49" charset="-122"/>
                <a:cs typeface="Arial" panose="020B0604020202020204" pitchFamily="34" charset="0"/>
              </a:rPr>
              <a:t>段结果可转发回来进行判断</a:t>
            </a:r>
          </a:p>
          <a:p>
            <a:pPr>
              <a:spcBef>
                <a:spcPct val="20000"/>
              </a:spcBef>
              <a:buFontTx/>
              <a:buChar char="•"/>
            </a:pPr>
            <a:r>
              <a:rPr lang="zh-CN" altLang="en-US" sz="1700">
                <a:solidFill>
                  <a:srgbClr val="008000"/>
                </a:solidFill>
                <a:latin typeface="Arial" panose="020B0604020202020204" pitchFamily="34" charset="0"/>
                <a:ea typeface="黑体" panose="02010609060101010101" pitchFamily="49" charset="-122"/>
                <a:cs typeface="Arial" panose="020B0604020202020204" pitchFamily="34" charset="0"/>
              </a:rPr>
              <a:t> 上条指令的</a:t>
            </a:r>
            <a:r>
              <a:rPr lang="en-US" altLang="zh-CN" sz="1700">
                <a:solidFill>
                  <a:srgbClr val="008000"/>
                </a:solidFill>
                <a:latin typeface="Arial" panose="020B0604020202020204" pitchFamily="34" charset="0"/>
                <a:ea typeface="黑体" panose="02010609060101010101" pitchFamily="49" charset="-122"/>
                <a:cs typeface="Arial" panose="020B0604020202020204" pitchFamily="34" charset="0"/>
              </a:rPr>
              <a:t>EXE</a:t>
            </a:r>
            <a:r>
              <a:rPr lang="zh-CN" altLang="en-US" sz="1700">
                <a:solidFill>
                  <a:srgbClr val="008000"/>
                </a:solidFill>
                <a:latin typeface="Arial" panose="020B0604020202020204" pitchFamily="34" charset="0"/>
                <a:ea typeface="黑体" panose="02010609060101010101" pitchFamily="49" charset="-122"/>
                <a:cs typeface="Arial" panose="020B0604020202020204" pitchFamily="34" charset="0"/>
              </a:rPr>
              <a:t>段结果来不及转发回来，引起</a:t>
            </a:r>
            <a:r>
              <a:rPr lang="en-US" altLang="zh-CN" sz="1700">
                <a:solidFill>
                  <a:srgbClr val="008000"/>
                </a:solidFill>
                <a:latin typeface="Arial" panose="020B0604020202020204" pitchFamily="34" charset="0"/>
                <a:ea typeface="黑体" panose="02010609060101010101" pitchFamily="49" charset="-122"/>
                <a:cs typeface="Arial" panose="020B0604020202020204" pitchFamily="34" charset="0"/>
              </a:rPr>
              <a:t>1</a:t>
            </a:r>
            <a:r>
              <a:rPr lang="zh-CN" altLang="en-US" sz="1700">
                <a:solidFill>
                  <a:srgbClr val="008000"/>
                </a:solidFill>
                <a:latin typeface="Arial" panose="020B0604020202020204" pitchFamily="34" charset="0"/>
                <a:ea typeface="黑体" panose="02010609060101010101" pitchFamily="49" charset="-122"/>
                <a:cs typeface="Arial" panose="020B0604020202020204" pitchFamily="34" charset="0"/>
              </a:rPr>
              <a:t>次阻塞</a:t>
            </a:r>
            <a:r>
              <a:rPr lang="en-US" altLang="zh-CN" sz="1700">
                <a:solidFill>
                  <a:srgbClr val="008000"/>
                </a:solidFill>
                <a:latin typeface="Arial" panose="020B0604020202020204" pitchFamily="34" charset="0"/>
                <a:ea typeface="黑体" panose="02010609060101010101" pitchFamily="49" charset="-122"/>
                <a:cs typeface="Arial" panose="020B0604020202020204" pitchFamily="34" charset="0"/>
              </a:rPr>
              <a:t>!</a:t>
            </a:r>
          </a:p>
        </p:txBody>
      </p:sp>
      <p:sp>
        <p:nvSpPr>
          <p:cNvPr id="228385" name="Rectangle 33">
            <a:extLst>
              <a:ext uri="{FF2B5EF4-FFF2-40B4-BE49-F238E27FC236}">
                <a16:creationId xmlns:a16="http://schemas.microsoft.com/office/drawing/2014/main" id="{AF4615B7-EDC2-4C4F-8293-F40F4EC4D337}"/>
              </a:ext>
            </a:extLst>
          </p:cNvPr>
          <p:cNvSpPr>
            <a:spLocks noChangeArrowheads="1"/>
          </p:cNvSpPr>
          <p:nvPr/>
        </p:nvSpPr>
        <p:spPr bwMode="auto">
          <a:xfrm>
            <a:off x="71438" y="5405438"/>
            <a:ext cx="34305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700">
                <a:solidFill>
                  <a:srgbClr val="CC0000"/>
                </a:solidFill>
                <a:latin typeface="Arial" panose="020B0604020202020204" pitchFamily="34" charset="0"/>
                <a:ea typeface="黑体" panose="02010609060101010101" pitchFamily="49" charset="-122"/>
                <a:cs typeface="Arial" panose="020B0604020202020204" pitchFamily="34" charset="0"/>
              </a:rPr>
              <a:t>IF/ID</a:t>
            </a:r>
            <a:r>
              <a:rPr lang="zh-CN" altLang="en-US" sz="1700">
                <a:solidFill>
                  <a:srgbClr val="CC0000"/>
                </a:solidFill>
                <a:latin typeface="Arial" panose="020B0604020202020204" pitchFamily="34" charset="0"/>
                <a:ea typeface="黑体" panose="02010609060101010101" pitchFamily="49" charset="-122"/>
                <a:cs typeface="Arial" panose="020B0604020202020204" pitchFamily="34" charset="0"/>
              </a:rPr>
              <a:t>中指令字清</a:t>
            </a:r>
            <a:r>
              <a:rPr lang="en-US" altLang="zh-CN" sz="1700">
                <a:solidFill>
                  <a:srgbClr val="CC0000"/>
                </a:solidFill>
                <a:latin typeface="Arial" panose="020B0604020202020204" pitchFamily="34" charset="0"/>
                <a:ea typeface="黑体" panose="02010609060101010101" pitchFamily="49" charset="-122"/>
                <a:cs typeface="Arial" panose="020B0604020202020204" pitchFamily="34" charset="0"/>
              </a:rPr>
              <a:t>0</a:t>
            </a:r>
            <a:r>
              <a:rPr lang="zh-CN" altLang="en-US" sz="1700">
                <a:solidFill>
                  <a:srgbClr val="CC0000"/>
                </a:solidFill>
                <a:latin typeface="Arial" panose="020B0604020202020204" pitchFamily="34" charset="0"/>
                <a:ea typeface="黑体" panose="02010609060101010101" pitchFamily="49" charset="-122"/>
                <a:cs typeface="Arial" panose="020B0604020202020204" pitchFamily="34" charset="0"/>
              </a:rPr>
              <a:t>，变为</a:t>
            </a:r>
            <a:r>
              <a:rPr lang="en-US" altLang="zh-CN" sz="1700">
                <a:solidFill>
                  <a:srgbClr val="CC0000"/>
                </a:solidFill>
                <a:latin typeface="Arial" panose="020B0604020202020204" pitchFamily="34" charset="0"/>
                <a:ea typeface="黑体" panose="02010609060101010101" pitchFamily="49" charset="-122"/>
                <a:cs typeface="Arial" panose="020B0604020202020204" pitchFamily="34" charset="0"/>
              </a:rPr>
              <a:t>nop</a:t>
            </a:r>
            <a:r>
              <a:rPr lang="zh-CN" altLang="en-US" sz="1700">
                <a:solidFill>
                  <a:srgbClr val="CC0000"/>
                </a:solidFill>
                <a:latin typeface="Arial" panose="020B0604020202020204" pitchFamily="34" charset="0"/>
                <a:ea typeface="黑体" panose="02010609060101010101" pitchFamily="49" charset="-122"/>
                <a:cs typeface="Arial" panose="020B0604020202020204" pitchFamily="34" charset="0"/>
              </a:rPr>
              <a:t>指令</a:t>
            </a:r>
          </a:p>
        </p:txBody>
      </p:sp>
      <p:sp>
        <p:nvSpPr>
          <p:cNvPr id="228386" name="Rectangle 34">
            <a:extLst>
              <a:ext uri="{FF2B5EF4-FFF2-40B4-BE49-F238E27FC236}">
                <a16:creationId xmlns:a16="http://schemas.microsoft.com/office/drawing/2014/main" id="{7EDB2F0D-B47E-FC4B-9638-0CC5B19130BC}"/>
              </a:ext>
            </a:extLst>
          </p:cNvPr>
          <p:cNvSpPr>
            <a:spLocks noChangeArrowheads="1"/>
          </p:cNvSpPr>
          <p:nvPr/>
        </p:nvSpPr>
        <p:spPr bwMode="auto">
          <a:xfrm>
            <a:off x="1073150" y="4384675"/>
            <a:ext cx="1516063"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1600" b="1">
                <a:solidFill>
                  <a:schemeClr val="tx1"/>
                </a:solidFill>
                <a:latin typeface="Times New Roman" panose="02020603050405020304" pitchFamily="18" charset="0"/>
              </a:defRPr>
            </a:lvl1pPr>
            <a:lvl2pPr marL="914400" indent="-457200">
              <a:defRPr sz="1600" b="1">
                <a:solidFill>
                  <a:schemeClr val="tx1"/>
                </a:solidFill>
                <a:latin typeface="Times New Roman" panose="02020603050405020304" pitchFamily="18" charset="0"/>
              </a:defRPr>
            </a:lvl2pPr>
            <a:lvl3pPr marL="1371600" indent="-457200">
              <a:defRPr sz="1600" b="1">
                <a:solidFill>
                  <a:schemeClr val="tx1"/>
                </a:solidFill>
                <a:latin typeface="Times New Roman" panose="02020603050405020304" pitchFamily="18" charset="0"/>
              </a:defRPr>
            </a:lvl3pPr>
            <a:lvl4pPr marL="1828800" indent="-457200">
              <a:defRPr sz="1600" b="1">
                <a:solidFill>
                  <a:schemeClr val="tx1"/>
                </a:solidFill>
                <a:latin typeface="Times New Roman" panose="02020603050405020304" pitchFamily="18" charset="0"/>
              </a:defRPr>
            </a:lvl4pPr>
            <a:lvl5pPr marL="2286000" indent="-457200">
              <a:defRPr sz="1600" b="1">
                <a:solidFill>
                  <a:schemeClr val="tx1"/>
                </a:solidFill>
                <a:latin typeface="Times New Roman" panose="02020603050405020304" pitchFamily="18" charset="0"/>
              </a:defRPr>
            </a:lvl5pPr>
            <a:lvl6pPr marL="2743200" indent="-457200" eaLnBrk="0" fontAlgn="base" hangingPunct="0">
              <a:spcBef>
                <a:spcPct val="0"/>
              </a:spcBef>
              <a:spcAft>
                <a:spcPct val="0"/>
              </a:spcAft>
              <a:defRPr sz="1600" b="1">
                <a:solidFill>
                  <a:schemeClr val="tx1"/>
                </a:solidFill>
                <a:latin typeface="Times New Roman" panose="02020603050405020304" pitchFamily="18" charset="0"/>
              </a:defRPr>
            </a:lvl6pPr>
            <a:lvl7pPr marL="3200400" indent="-457200" eaLnBrk="0" fontAlgn="base" hangingPunct="0">
              <a:spcBef>
                <a:spcPct val="0"/>
              </a:spcBef>
              <a:spcAft>
                <a:spcPct val="0"/>
              </a:spcAft>
              <a:defRPr sz="1600" b="1">
                <a:solidFill>
                  <a:schemeClr val="tx1"/>
                </a:solidFill>
                <a:latin typeface="Times New Roman" panose="02020603050405020304" pitchFamily="18" charset="0"/>
              </a:defRPr>
            </a:lvl7pPr>
            <a:lvl8pPr marL="3657600" indent="-457200" eaLnBrk="0" fontAlgn="base" hangingPunct="0">
              <a:spcBef>
                <a:spcPct val="0"/>
              </a:spcBef>
              <a:spcAft>
                <a:spcPct val="0"/>
              </a:spcAft>
              <a:defRPr sz="1600" b="1">
                <a:solidFill>
                  <a:schemeClr val="tx1"/>
                </a:solidFill>
                <a:latin typeface="Times New Roman" panose="02020603050405020304" pitchFamily="18" charset="0"/>
              </a:defRPr>
            </a:lvl8pPr>
            <a:lvl9pPr marL="4114800" indent="-4572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15000"/>
              </a:lnSpc>
              <a:buSzPct val="100000"/>
            </a:pPr>
            <a:r>
              <a:rPr lang="zh-CN" altLang="en-US" sz="1800">
                <a:solidFill>
                  <a:srgbClr val="CC0000"/>
                </a:solidFill>
                <a:latin typeface="Arial" panose="020B0604020202020204" pitchFamily="34" charset="0"/>
                <a:ea typeface="黑体" panose="02010609060101010101" pitchFamily="49" charset="-122"/>
              </a:rPr>
              <a:t>控制转移</a:t>
            </a:r>
          </a:p>
          <a:p>
            <a:pPr>
              <a:lnSpc>
                <a:spcPct val="115000"/>
              </a:lnSpc>
              <a:buSzPct val="100000"/>
            </a:pPr>
            <a:r>
              <a:rPr lang="zh-CN" altLang="en-US" sz="1800">
                <a:solidFill>
                  <a:srgbClr val="CC0000"/>
                </a:solidFill>
                <a:latin typeface="Arial" panose="020B0604020202020204" pitchFamily="34" charset="0"/>
                <a:ea typeface="黑体" panose="02010609060101010101" pitchFamily="49" charset="-122"/>
              </a:rPr>
              <a:t>目址</a:t>
            </a:r>
            <a:r>
              <a:rPr lang="en-US" altLang="zh-CN" sz="1800">
                <a:solidFill>
                  <a:srgbClr val="CC0000"/>
                </a:solidFill>
                <a:latin typeface="Arial" panose="020B0604020202020204" pitchFamily="34" charset="0"/>
                <a:ea typeface="黑体" panose="02010609060101010101" pitchFamily="49" charset="-122"/>
                <a:cs typeface="Arial" panose="020B0604020202020204" pitchFamily="34" charset="0"/>
              </a:rPr>
              <a:t>-&gt;PC</a:t>
            </a:r>
          </a:p>
        </p:txBody>
      </p:sp>
      <p:sp>
        <p:nvSpPr>
          <p:cNvPr id="228387" name="Rectangle 35">
            <a:extLst>
              <a:ext uri="{FF2B5EF4-FFF2-40B4-BE49-F238E27FC236}">
                <a16:creationId xmlns:a16="http://schemas.microsoft.com/office/drawing/2014/main" id="{25105B67-2AE9-374C-81A7-A5B4B8C02DFC}"/>
              </a:ext>
            </a:extLst>
          </p:cNvPr>
          <p:cNvSpPr>
            <a:spLocks noChangeArrowheads="1"/>
          </p:cNvSpPr>
          <p:nvPr/>
        </p:nvSpPr>
        <p:spPr bwMode="auto">
          <a:xfrm>
            <a:off x="762000" y="1222375"/>
            <a:ext cx="1414463"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1600" b="1">
                <a:solidFill>
                  <a:schemeClr val="tx1"/>
                </a:solidFill>
                <a:latin typeface="Times New Roman" panose="02020603050405020304" pitchFamily="18" charset="0"/>
              </a:defRPr>
            </a:lvl1pPr>
            <a:lvl2pPr marL="914400" indent="-457200">
              <a:defRPr sz="1600" b="1">
                <a:solidFill>
                  <a:schemeClr val="tx1"/>
                </a:solidFill>
                <a:latin typeface="Times New Roman" panose="02020603050405020304" pitchFamily="18" charset="0"/>
              </a:defRPr>
            </a:lvl2pPr>
            <a:lvl3pPr marL="1371600" indent="-457200">
              <a:defRPr sz="1600" b="1">
                <a:solidFill>
                  <a:schemeClr val="tx1"/>
                </a:solidFill>
                <a:latin typeface="Times New Roman" panose="02020603050405020304" pitchFamily="18" charset="0"/>
              </a:defRPr>
            </a:lvl3pPr>
            <a:lvl4pPr marL="1828800" indent="-457200">
              <a:defRPr sz="1600" b="1">
                <a:solidFill>
                  <a:schemeClr val="tx1"/>
                </a:solidFill>
                <a:latin typeface="Times New Roman" panose="02020603050405020304" pitchFamily="18" charset="0"/>
              </a:defRPr>
            </a:lvl4pPr>
            <a:lvl5pPr marL="2286000" indent="-457200">
              <a:defRPr sz="1600" b="1">
                <a:solidFill>
                  <a:schemeClr val="tx1"/>
                </a:solidFill>
                <a:latin typeface="Times New Roman" panose="02020603050405020304" pitchFamily="18" charset="0"/>
              </a:defRPr>
            </a:lvl5pPr>
            <a:lvl6pPr marL="2743200" indent="-457200" eaLnBrk="0" fontAlgn="base" hangingPunct="0">
              <a:spcBef>
                <a:spcPct val="0"/>
              </a:spcBef>
              <a:spcAft>
                <a:spcPct val="0"/>
              </a:spcAft>
              <a:defRPr sz="1600" b="1">
                <a:solidFill>
                  <a:schemeClr val="tx1"/>
                </a:solidFill>
                <a:latin typeface="Times New Roman" panose="02020603050405020304" pitchFamily="18" charset="0"/>
              </a:defRPr>
            </a:lvl6pPr>
            <a:lvl7pPr marL="3200400" indent="-457200" eaLnBrk="0" fontAlgn="base" hangingPunct="0">
              <a:spcBef>
                <a:spcPct val="0"/>
              </a:spcBef>
              <a:spcAft>
                <a:spcPct val="0"/>
              </a:spcAft>
              <a:defRPr sz="1600" b="1">
                <a:solidFill>
                  <a:schemeClr val="tx1"/>
                </a:solidFill>
                <a:latin typeface="Times New Roman" panose="02020603050405020304" pitchFamily="18" charset="0"/>
              </a:defRPr>
            </a:lvl7pPr>
            <a:lvl8pPr marL="3657600" indent="-457200" eaLnBrk="0" fontAlgn="base" hangingPunct="0">
              <a:spcBef>
                <a:spcPct val="0"/>
              </a:spcBef>
              <a:spcAft>
                <a:spcPct val="0"/>
              </a:spcAft>
              <a:defRPr sz="1600" b="1">
                <a:solidFill>
                  <a:schemeClr val="tx1"/>
                </a:solidFill>
                <a:latin typeface="Times New Roman" panose="02020603050405020304" pitchFamily="18" charset="0"/>
              </a:defRPr>
            </a:lvl8pPr>
            <a:lvl9pPr marL="4114800" indent="-4572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15000"/>
              </a:lnSpc>
              <a:buSzPct val="100000"/>
            </a:pPr>
            <a:r>
              <a:rPr lang="zh-CN" altLang="en-US" sz="1800" dirty="0">
                <a:solidFill>
                  <a:srgbClr val="CC0000"/>
                </a:solidFill>
                <a:latin typeface="Arial" panose="020B0604020202020204" pitchFamily="34" charset="0"/>
                <a:ea typeface="黑体" panose="02010609060101010101" pitchFamily="49" charset="-122"/>
              </a:rPr>
              <a:t>转移目址</a:t>
            </a:r>
          </a:p>
          <a:p>
            <a:pPr>
              <a:lnSpc>
                <a:spcPct val="115000"/>
              </a:lnSpc>
              <a:buSzPct val="100000"/>
            </a:pPr>
            <a:r>
              <a:rPr lang="en-US" altLang="zh-CN" sz="1800" dirty="0">
                <a:solidFill>
                  <a:srgbClr val="CC0000"/>
                </a:solidFill>
                <a:latin typeface="Arial" panose="020B0604020202020204" pitchFamily="34" charset="0"/>
                <a:ea typeface="黑体" panose="02010609060101010101" pitchFamily="49" charset="-122"/>
              </a:rPr>
              <a:t>(72)</a:t>
            </a:r>
            <a:r>
              <a:rPr lang="en-US" altLang="zh-CN" sz="1800" dirty="0">
                <a:solidFill>
                  <a:srgbClr val="CC0000"/>
                </a:solidFill>
                <a:latin typeface="Arial" panose="020B0604020202020204" pitchFamily="34" charset="0"/>
                <a:ea typeface="黑体" panose="02010609060101010101" pitchFamily="49" charset="-122"/>
                <a:cs typeface="Arial" panose="020B0604020202020204" pitchFamily="34" charset="0"/>
              </a:rPr>
              <a:t>-&gt;PC</a:t>
            </a:r>
          </a:p>
        </p:txBody>
      </p:sp>
      <p:sp>
        <p:nvSpPr>
          <p:cNvPr id="228388" name="Text Box 36">
            <a:extLst>
              <a:ext uri="{FF2B5EF4-FFF2-40B4-BE49-F238E27FC236}">
                <a16:creationId xmlns:a16="http://schemas.microsoft.com/office/drawing/2014/main" id="{BB7B26C2-9B91-FD46-BE29-C6468B1AEAE8}"/>
              </a:ext>
            </a:extLst>
          </p:cNvPr>
          <p:cNvSpPr txBox="1">
            <a:spLocks noChangeArrowheads="1"/>
          </p:cNvSpPr>
          <p:nvPr/>
        </p:nvSpPr>
        <p:spPr bwMode="auto">
          <a:xfrm>
            <a:off x="5257800" y="5842000"/>
            <a:ext cx="388620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20000"/>
              </a:spcBef>
            </a:pPr>
            <a:r>
              <a:rPr lang="zh-CN" altLang="en-US" sz="1800">
                <a:solidFill>
                  <a:srgbClr val="CC0000"/>
                </a:solidFill>
                <a:latin typeface="Arial" panose="020B0604020202020204" pitchFamily="34" charset="0"/>
                <a:ea typeface="黑体" panose="02010609060101010101" pitchFamily="49" charset="-122"/>
              </a:rPr>
              <a:t>需重新改“转发”条件和转发线路！</a:t>
            </a:r>
          </a:p>
          <a:p>
            <a:pPr>
              <a:spcBef>
                <a:spcPct val="20000"/>
              </a:spcBef>
            </a:pPr>
            <a:r>
              <a:rPr lang="zh-CN" altLang="en-US" sz="1800">
                <a:solidFill>
                  <a:schemeClr val="accent2"/>
                </a:solidFill>
                <a:latin typeface="Arial" panose="020B0604020202020204" pitchFamily="34" charset="0"/>
                <a:ea typeface="黑体" panose="02010609060101010101" pitchFamily="49" charset="-122"/>
              </a:rPr>
              <a:t>作业中有相应的练习</a:t>
            </a:r>
          </a:p>
        </p:txBody>
      </p:sp>
      <p:sp>
        <p:nvSpPr>
          <p:cNvPr id="228391" name="Text Box 39">
            <a:extLst>
              <a:ext uri="{FF2B5EF4-FFF2-40B4-BE49-F238E27FC236}">
                <a16:creationId xmlns:a16="http://schemas.microsoft.com/office/drawing/2014/main" id="{2A745FA9-A7D1-5E4F-8765-58432D8FB5C0}"/>
              </a:ext>
            </a:extLst>
          </p:cNvPr>
          <p:cNvSpPr txBox="1">
            <a:spLocks noChangeArrowheads="1"/>
          </p:cNvSpPr>
          <p:nvPr/>
        </p:nvSpPr>
        <p:spPr bwMode="auto">
          <a:xfrm>
            <a:off x="7494588" y="357188"/>
            <a:ext cx="1558925" cy="9842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20000"/>
              </a:spcBef>
            </a:pPr>
            <a:r>
              <a:rPr lang="en-US" altLang="zh-CN" sz="1800" dirty="0">
                <a:latin typeface="Arial" panose="020B0604020202020204" pitchFamily="34" charset="0"/>
                <a:ea typeface="宋体" panose="02010600030101010101" pitchFamily="2" charset="-122"/>
                <a:cs typeface="Arial" panose="020B0604020202020204" pitchFamily="34" charset="0"/>
              </a:rPr>
              <a:t>sub </a:t>
            </a:r>
            <a:r>
              <a:rPr lang="en-US" altLang="zh-CN" sz="1800" dirty="0">
                <a:solidFill>
                  <a:schemeClr val="accent2"/>
                </a:solidFill>
                <a:latin typeface="Arial" panose="020B0604020202020204" pitchFamily="34" charset="0"/>
                <a:ea typeface="宋体" panose="02010600030101010101" pitchFamily="2" charset="-122"/>
                <a:cs typeface="Arial" panose="020B0604020202020204" pitchFamily="34" charset="0"/>
              </a:rPr>
              <a:t>$3</a:t>
            </a:r>
            <a:r>
              <a:rPr lang="en-US" altLang="zh-CN" sz="1800" dirty="0">
                <a:latin typeface="Arial" panose="020B0604020202020204" pitchFamily="34" charset="0"/>
                <a:ea typeface="宋体" panose="02010600030101010101" pitchFamily="2" charset="-122"/>
                <a:cs typeface="Arial" panose="020B0604020202020204" pitchFamily="34" charset="0"/>
              </a:rPr>
              <a:t>, $5, $1 add </a:t>
            </a:r>
            <a:r>
              <a:rPr lang="en-US" altLang="zh-CN" sz="1800" dirty="0">
                <a:solidFill>
                  <a:srgbClr val="CC0000"/>
                </a:solidFill>
                <a:latin typeface="Arial" panose="020B0604020202020204" pitchFamily="34" charset="0"/>
                <a:ea typeface="宋体" panose="02010600030101010101" pitchFamily="2" charset="-122"/>
                <a:cs typeface="Arial" panose="020B0604020202020204" pitchFamily="34" charset="0"/>
              </a:rPr>
              <a:t>$1</a:t>
            </a:r>
            <a:r>
              <a:rPr lang="en-US" altLang="zh-CN" sz="1800" dirty="0">
                <a:latin typeface="Arial" panose="020B0604020202020204" pitchFamily="34" charset="0"/>
                <a:ea typeface="宋体" panose="02010600030101010101" pitchFamily="2" charset="-122"/>
                <a:cs typeface="Arial" panose="020B0604020202020204" pitchFamily="34" charset="0"/>
              </a:rPr>
              <a:t>, $5, $2</a:t>
            </a:r>
          </a:p>
          <a:p>
            <a:pPr>
              <a:spcBef>
                <a:spcPct val="20000"/>
              </a:spcBef>
            </a:pPr>
            <a:r>
              <a:rPr lang="en-US" altLang="zh-CN" sz="1800" dirty="0" err="1">
                <a:latin typeface="Arial" panose="020B0604020202020204" pitchFamily="34" charset="0"/>
                <a:ea typeface="宋体" panose="02010600030101010101" pitchFamily="2" charset="-122"/>
                <a:cs typeface="Arial" panose="020B0604020202020204" pitchFamily="34" charset="0"/>
              </a:rPr>
              <a:t>beq</a:t>
            </a:r>
            <a:r>
              <a:rPr lang="en-US" altLang="zh-CN" sz="1800" dirty="0">
                <a:latin typeface="Arial" panose="020B0604020202020204" pitchFamily="34" charset="0"/>
                <a:ea typeface="宋体" panose="02010600030101010101" pitchFamily="2" charset="-122"/>
                <a:cs typeface="Arial" panose="020B0604020202020204" pitchFamily="34" charset="0"/>
              </a:rPr>
              <a:t> </a:t>
            </a:r>
            <a:r>
              <a:rPr lang="en-US" altLang="zh-CN" sz="1800" dirty="0">
                <a:solidFill>
                  <a:srgbClr val="CC0000"/>
                </a:solidFill>
                <a:latin typeface="Arial" panose="020B0604020202020204" pitchFamily="34" charset="0"/>
                <a:ea typeface="宋体" panose="02010600030101010101" pitchFamily="2" charset="-122"/>
                <a:cs typeface="Arial" panose="020B0604020202020204" pitchFamily="34" charset="0"/>
              </a:rPr>
              <a:t>$1</a:t>
            </a:r>
            <a:r>
              <a:rPr lang="en-US" altLang="zh-CN" sz="1800" dirty="0">
                <a:latin typeface="Arial" panose="020B0604020202020204" pitchFamily="34" charset="0"/>
                <a:ea typeface="宋体" panose="02010600030101010101" pitchFamily="2" charset="-122"/>
                <a:cs typeface="Arial" panose="020B0604020202020204" pitchFamily="34" charset="0"/>
              </a:rPr>
              <a:t>, </a:t>
            </a:r>
            <a:r>
              <a:rPr lang="en-US" altLang="zh-CN" sz="1800" dirty="0">
                <a:solidFill>
                  <a:schemeClr val="accent2"/>
                </a:solidFill>
                <a:latin typeface="Arial" panose="020B0604020202020204" pitchFamily="34" charset="0"/>
                <a:ea typeface="宋体" panose="02010600030101010101" pitchFamily="2" charset="-122"/>
                <a:cs typeface="Arial" panose="020B0604020202020204" pitchFamily="34" charset="0"/>
              </a:rPr>
              <a:t>$3</a:t>
            </a:r>
            <a:r>
              <a:rPr lang="en-US" altLang="zh-CN" sz="1800" dirty="0">
                <a:latin typeface="Arial" panose="020B0604020202020204" pitchFamily="34" charset="0"/>
                <a:ea typeface="宋体" panose="02010600030101010101" pitchFamily="2" charset="-122"/>
                <a:cs typeface="Arial" panose="020B0604020202020204" pitchFamily="34" charset="0"/>
              </a:rPr>
              <a:t>, 72</a:t>
            </a:r>
          </a:p>
        </p:txBody>
      </p:sp>
      <p:sp>
        <p:nvSpPr>
          <p:cNvPr id="228392" name="Text Box 40">
            <a:extLst>
              <a:ext uri="{FF2B5EF4-FFF2-40B4-BE49-F238E27FC236}">
                <a16:creationId xmlns:a16="http://schemas.microsoft.com/office/drawing/2014/main" id="{693C78D3-35A2-1A47-A9FF-21E12BD06455}"/>
              </a:ext>
            </a:extLst>
          </p:cNvPr>
          <p:cNvSpPr txBox="1">
            <a:spLocks noChangeArrowheads="1"/>
          </p:cNvSpPr>
          <p:nvPr/>
        </p:nvSpPr>
        <p:spPr bwMode="auto">
          <a:xfrm>
            <a:off x="8085138" y="6384925"/>
            <a:ext cx="790575" cy="3365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4" action="ppaction://hlinksldjump"/>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8383"/>
                                        </p:tgtEl>
                                        <p:attrNameLst>
                                          <p:attrName>style.visibility</p:attrName>
                                        </p:attrNameLst>
                                      </p:cBhvr>
                                      <p:to>
                                        <p:strVal val="visible"/>
                                      </p:to>
                                    </p:set>
                                    <p:animEffect transition="in" filter="blinds(horizontal)">
                                      <p:cBhvr>
                                        <p:cTn id="7" dur="500"/>
                                        <p:tgtEl>
                                          <p:spTgt spid="2283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8374"/>
                                        </p:tgtEl>
                                        <p:attrNameLst>
                                          <p:attrName>style.visibility</p:attrName>
                                        </p:attrNameLst>
                                      </p:cBhvr>
                                      <p:to>
                                        <p:strVal val="visible"/>
                                      </p:to>
                                    </p:set>
                                    <p:animEffect transition="in" filter="blinds(horizontal)">
                                      <p:cBhvr>
                                        <p:cTn id="12" dur="500"/>
                                        <p:tgtEl>
                                          <p:spTgt spid="2283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8361"/>
                                        </p:tgtEl>
                                        <p:attrNameLst>
                                          <p:attrName>style.visibility</p:attrName>
                                        </p:attrNameLst>
                                      </p:cBhvr>
                                      <p:to>
                                        <p:strVal val="visible"/>
                                      </p:to>
                                    </p:set>
                                    <p:animEffect transition="in" filter="blinds(horizontal)">
                                      <p:cBhvr>
                                        <p:cTn id="17" dur="500"/>
                                        <p:tgtEl>
                                          <p:spTgt spid="2283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8377"/>
                                        </p:tgtEl>
                                        <p:attrNameLst>
                                          <p:attrName>style.visibility</p:attrName>
                                        </p:attrNameLst>
                                      </p:cBhvr>
                                      <p:to>
                                        <p:strVal val="visible"/>
                                      </p:to>
                                    </p:set>
                                    <p:animEffect transition="in" filter="blinds(horizontal)">
                                      <p:cBhvr>
                                        <p:cTn id="22" dur="500"/>
                                        <p:tgtEl>
                                          <p:spTgt spid="2283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8385"/>
                                        </p:tgtEl>
                                        <p:attrNameLst>
                                          <p:attrName>style.visibility</p:attrName>
                                        </p:attrNameLst>
                                      </p:cBhvr>
                                      <p:to>
                                        <p:strVal val="visible"/>
                                      </p:to>
                                    </p:set>
                                    <p:animEffect transition="in" filter="blinds(horizontal)">
                                      <p:cBhvr>
                                        <p:cTn id="27" dur="500"/>
                                        <p:tgtEl>
                                          <p:spTgt spid="2283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28371"/>
                                        </p:tgtEl>
                                        <p:attrNameLst>
                                          <p:attrName>style.visibility</p:attrName>
                                        </p:attrNameLst>
                                      </p:cBhvr>
                                      <p:to>
                                        <p:strVal val="visible"/>
                                      </p:to>
                                    </p:set>
                                    <p:animEffect transition="in" filter="blinds(horizontal)">
                                      <p:cBhvr>
                                        <p:cTn id="32" dur="500"/>
                                        <p:tgtEl>
                                          <p:spTgt spid="2283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8386"/>
                                        </p:tgtEl>
                                        <p:attrNameLst>
                                          <p:attrName>style.visibility</p:attrName>
                                        </p:attrNameLst>
                                      </p:cBhvr>
                                      <p:to>
                                        <p:strVal val="visible"/>
                                      </p:to>
                                    </p:set>
                                    <p:animEffect transition="in" filter="blinds(horizontal)">
                                      <p:cBhvr>
                                        <p:cTn id="37" dur="500"/>
                                        <p:tgtEl>
                                          <p:spTgt spid="2283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28376"/>
                                        </p:tgtEl>
                                        <p:attrNameLst>
                                          <p:attrName>style.visibility</p:attrName>
                                        </p:attrNameLst>
                                      </p:cBhvr>
                                      <p:to>
                                        <p:strVal val="visible"/>
                                      </p:to>
                                    </p:set>
                                    <p:animEffect transition="in" filter="blinds(horizontal)">
                                      <p:cBhvr>
                                        <p:cTn id="42" dur="500"/>
                                        <p:tgtEl>
                                          <p:spTgt spid="2283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8387"/>
                                        </p:tgtEl>
                                        <p:attrNameLst>
                                          <p:attrName>style.visibility</p:attrName>
                                        </p:attrNameLst>
                                      </p:cBhvr>
                                      <p:to>
                                        <p:strVal val="visible"/>
                                      </p:to>
                                    </p:set>
                                    <p:animEffect transition="in" filter="blinds(horizontal)">
                                      <p:cBhvr>
                                        <p:cTn id="47" dur="500"/>
                                        <p:tgtEl>
                                          <p:spTgt spid="2283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28384">
                                            <p:txEl>
                                              <p:pRg st="0" end="0"/>
                                            </p:txEl>
                                          </p:spTgt>
                                        </p:tgtEl>
                                        <p:attrNameLst>
                                          <p:attrName>style.visibility</p:attrName>
                                        </p:attrNameLst>
                                      </p:cBhvr>
                                      <p:to>
                                        <p:strVal val="visible"/>
                                      </p:to>
                                    </p:set>
                                    <p:animEffect transition="in" filter="blinds(horizontal)">
                                      <p:cBhvr>
                                        <p:cTn id="52" dur="500"/>
                                        <p:tgtEl>
                                          <p:spTgt spid="228384">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28391"/>
                                        </p:tgtEl>
                                        <p:attrNameLst>
                                          <p:attrName>style.visibility</p:attrName>
                                        </p:attrNameLst>
                                      </p:cBhvr>
                                      <p:to>
                                        <p:strVal val="visible"/>
                                      </p:to>
                                    </p:set>
                                    <p:animEffect transition="in" filter="blinds(horizontal)">
                                      <p:cBhvr>
                                        <p:cTn id="57" dur="500"/>
                                        <p:tgtEl>
                                          <p:spTgt spid="22839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28384">
                                            <p:txEl>
                                              <p:pRg st="1" end="1"/>
                                            </p:txEl>
                                          </p:spTgt>
                                        </p:tgtEl>
                                        <p:attrNameLst>
                                          <p:attrName>style.visibility</p:attrName>
                                        </p:attrNameLst>
                                      </p:cBhvr>
                                      <p:to>
                                        <p:strVal val="visible"/>
                                      </p:to>
                                    </p:set>
                                    <p:animEffect transition="in" filter="blinds(horizontal)">
                                      <p:cBhvr>
                                        <p:cTn id="62" dur="500"/>
                                        <p:tgtEl>
                                          <p:spTgt spid="228384">
                                            <p:txEl>
                                              <p:pRg st="1" end="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28384">
                                            <p:txEl>
                                              <p:pRg st="2" end="2"/>
                                            </p:txEl>
                                          </p:spTgt>
                                        </p:tgtEl>
                                        <p:attrNameLst>
                                          <p:attrName>style.visibility</p:attrName>
                                        </p:attrNameLst>
                                      </p:cBhvr>
                                      <p:to>
                                        <p:strVal val="visible"/>
                                      </p:to>
                                    </p:set>
                                    <p:animEffect transition="in" filter="blinds(horizontal)">
                                      <p:cBhvr>
                                        <p:cTn id="67" dur="500"/>
                                        <p:tgtEl>
                                          <p:spTgt spid="228384">
                                            <p:txEl>
                                              <p:pRg st="2" end="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28388"/>
                                        </p:tgtEl>
                                        <p:attrNameLst>
                                          <p:attrName>style.visibility</p:attrName>
                                        </p:attrNameLst>
                                      </p:cBhvr>
                                      <p:to>
                                        <p:strVal val="visible"/>
                                      </p:to>
                                    </p:set>
                                    <p:animEffect transition="in" filter="blinds(horizontal)">
                                      <p:cBhvr>
                                        <p:cTn id="72" dur="500"/>
                                        <p:tgtEl>
                                          <p:spTgt spid="22838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28392"/>
                                        </p:tgtEl>
                                        <p:attrNameLst>
                                          <p:attrName>style.visibility</p:attrName>
                                        </p:attrNameLst>
                                      </p:cBhvr>
                                      <p:to>
                                        <p:strVal val="visible"/>
                                      </p:to>
                                    </p:set>
                                    <p:animEffect transition="in" filter="blinds(horizontal)">
                                      <p:cBhvr>
                                        <p:cTn id="77" dur="500"/>
                                        <p:tgtEl>
                                          <p:spTgt spid="228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61" grpId="0" animBg="1"/>
      <p:bldP spid="228385" grpId="0"/>
      <p:bldP spid="228386" grpId="0"/>
      <p:bldP spid="228387" grpId="0"/>
      <p:bldP spid="228388" grpId="0"/>
      <p:bldP spid="228391" grpId="0" animBg="1"/>
      <p:bldP spid="22839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065F6789-D14D-E041-B317-5A7A2F29B626}"/>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动态分支预测方法</a:t>
            </a:r>
          </a:p>
        </p:txBody>
      </p:sp>
      <p:sp>
        <p:nvSpPr>
          <p:cNvPr id="230403" name="Rectangle 3">
            <a:extLst>
              <a:ext uri="{FF2B5EF4-FFF2-40B4-BE49-F238E27FC236}">
                <a16:creationId xmlns:a16="http://schemas.microsoft.com/office/drawing/2014/main" id="{86B468A0-BF63-C84A-98D7-2D04172A549A}"/>
              </a:ext>
            </a:extLst>
          </p:cNvPr>
          <p:cNvSpPr>
            <a:spLocks noGrp="1" noChangeArrowheads="1"/>
          </p:cNvSpPr>
          <p:nvPr>
            <p:ph type="body" idx="1"/>
          </p:nvPr>
        </p:nvSpPr>
        <p:spPr>
          <a:xfrm>
            <a:off x="284163" y="741363"/>
            <a:ext cx="8699500" cy="4673600"/>
          </a:xfrm>
        </p:spPr>
        <p:txBody>
          <a:bodyPr/>
          <a:lstStyle/>
          <a:p>
            <a:pPr>
              <a:lnSpc>
                <a:spcPct val="110000"/>
              </a:lnSpc>
              <a:spcBef>
                <a:spcPct val="20000"/>
              </a:spcBef>
            </a:pPr>
            <a:r>
              <a:rPr lang="zh-CN" altLang="en-US" sz="2000">
                <a:ea typeface="黑体" panose="02010609060101010101" pitchFamily="49" charset="-122"/>
              </a:rPr>
              <a:t>简单的静态分支预测方法的预测成功率不高，应考虑动态预测</a:t>
            </a:r>
          </a:p>
          <a:p>
            <a:pPr>
              <a:lnSpc>
                <a:spcPct val="110000"/>
              </a:lnSpc>
              <a:spcBef>
                <a:spcPct val="20000"/>
              </a:spcBef>
            </a:pPr>
            <a:r>
              <a:rPr lang="zh-CN" altLang="en-US" sz="2000">
                <a:ea typeface="黑体" panose="02010609060101010101" pitchFamily="49" charset="-122"/>
              </a:rPr>
              <a:t>动态预测基本思想：</a:t>
            </a:r>
          </a:p>
          <a:p>
            <a:pPr lvl="1">
              <a:lnSpc>
                <a:spcPct val="110000"/>
              </a:lnSpc>
              <a:spcBef>
                <a:spcPct val="20000"/>
              </a:spcBef>
            </a:pPr>
            <a:r>
              <a:rPr lang="zh-CN" altLang="en-US" sz="2000">
                <a:ea typeface="黑体" panose="02010609060101010101" pitchFamily="49" charset="-122"/>
              </a:rPr>
              <a:t>利用最近转移发生的情况，来预测下一次可能转移还是不转移</a:t>
            </a:r>
          </a:p>
          <a:p>
            <a:pPr lvl="1">
              <a:lnSpc>
                <a:spcPct val="110000"/>
              </a:lnSpc>
              <a:spcBef>
                <a:spcPct val="20000"/>
              </a:spcBef>
            </a:pPr>
            <a:r>
              <a:rPr lang="zh-CN" altLang="en-US" sz="2000">
                <a:ea typeface="黑体" panose="02010609060101010101" pitchFamily="49" charset="-122"/>
              </a:rPr>
              <a:t>根据实际情况来调整预测 </a:t>
            </a:r>
          </a:p>
          <a:p>
            <a:pPr lvl="1">
              <a:lnSpc>
                <a:spcPct val="110000"/>
              </a:lnSpc>
              <a:spcBef>
                <a:spcPct val="20000"/>
              </a:spcBef>
            </a:pPr>
            <a:r>
              <a:rPr lang="zh-CN" altLang="en-US" sz="2000">
                <a:ea typeface="黑体" panose="02010609060101010101" pitchFamily="49" charset="-122"/>
              </a:rPr>
              <a:t>转移发生的历史情况记录在</a:t>
            </a:r>
            <a:r>
              <a:rPr lang="en-US" altLang="zh-CN" sz="2000">
                <a:ea typeface="黑体" panose="02010609060101010101" pitchFamily="49" charset="-122"/>
                <a:hlinkClick r:id="" action="ppaction://hlinkshowjump?jump=nextslide"/>
              </a:rPr>
              <a:t>BHT</a:t>
            </a:r>
            <a:r>
              <a:rPr lang="zh-CN" altLang="en-US" sz="2000">
                <a:ea typeface="黑体" panose="02010609060101010101" pitchFamily="49" charset="-122"/>
              </a:rPr>
              <a:t>中（有多个不同的名称）</a:t>
            </a:r>
            <a:endParaRPr lang="en-US" altLang="zh-CN" sz="2000">
              <a:ea typeface="黑体" panose="02010609060101010101" pitchFamily="49" charset="-122"/>
            </a:endParaRPr>
          </a:p>
          <a:p>
            <a:pPr lvl="2">
              <a:lnSpc>
                <a:spcPct val="110000"/>
              </a:lnSpc>
              <a:spcBef>
                <a:spcPct val="20000"/>
              </a:spcBef>
            </a:pPr>
            <a:r>
              <a:rPr lang="zh-CN" altLang="en-US" sz="2000">
                <a:ea typeface="黑体" panose="02010609060101010101" pitchFamily="49" charset="-122"/>
              </a:rPr>
              <a:t>分支历史记录表</a:t>
            </a:r>
            <a:r>
              <a:rPr lang="en-US" altLang="zh-CN" sz="2000">
                <a:ea typeface="黑体" panose="02010609060101010101" pitchFamily="49" charset="-122"/>
              </a:rPr>
              <a:t>BHT</a:t>
            </a:r>
            <a:r>
              <a:rPr lang="zh-CN" altLang="en-US" sz="2000">
                <a:ea typeface="黑体" panose="02010609060101010101" pitchFamily="49" charset="-122"/>
              </a:rPr>
              <a:t>（</a:t>
            </a:r>
            <a:r>
              <a:rPr lang="en-US" altLang="zh-CN" sz="2000">
                <a:ea typeface="黑体" panose="02010609060101010101" pitchFamily="49" charset="-122"/>
              </a:rPr>
              <a:t>Branch History Table</a:t>
            </a:r>
            <a:r>
              <a:rPr lang="zh-CN" altLang="en-US" sz="2000">
                <a:ea typeface="黑体" panose="02010609060101010101" pitchFamily="49" charset="-122"/>
              </a:rPr>
              <a:t>）</a:t>
            </a:r>
          </a:p>
          <a:p>
            <a:pPr lvl="2">
              <a:lnSpc>
                <a:spcPct val="110000"/>
              </a:lnSpc>
              <a:spcBef>
                <a:spcPct val="20000"/>
              </a:spcBef>
            </a:pPr>
            <a:r>
              <a:rPr lang="zh-CN" altLang="en-US" sz="2000">
                <a:ea typeface="黑体" panose="02010609060101010101" pitchFamily="49" charset="-122"/>
              </a:rPr>
              <a:t>分支预测缓冲</a:t>
            </a:r>
            <a:r>
              <a:rPr lang="en-US" altLang="zh-CN" sz="2000">
                <a:ea typeface="黑体" panose="02010609060101010101" pitchFamily="49" charset="-122"/>
              </a:rPr>
              <a:t>BPB</a:t>
            </a:r>
            <a:r>
              <a:rPr lang="zh-CN" altLang="en-US" sz="2000">
                <a:ea typeface="黑体" panose="02010609060101010101" pitchFamily="49" charset="-122"/>
              </a:rPr>
              <a:t>（</a:t>
            </a:r>
            <a:r>
              <a:rPr lang="en-US" altLang="zh-CN" sz="2000">
                <a:ea typeface="黑体" panose="02010609060101010101" pitchFamily="49" charset="-122"/>
              </a:rPr>
              <a:t>Branch Prediction Buffer</a:t>
            </a:r>
            <a:r>
              <a:rPr lang="zh-CN" altLang="en-US" sz="2000">
                <a:ea typeface="黑体" panose="02010609060101010101" pitchFamily="49" charset="-122"/>
              </a:rPr>
              <a:t>）</a:t>
            </a:r>
          </a:p>
          <a:p>
            <a:pPr lvl="2">
              <a:lnSpc>
                <a:spcPct val="110000"/>
              </a:lnSpc>
              <a:spcBef>
                <a:spcPct val="20000"/>
              </a:spcBef>
            </a:pPr>
            <a:r>
              <a:rPr lang="zh-CN" altLang="en-US" sz="2000">
                <a:ea typeface="黑体" panose="02010609060101010101" pitchFamily="49" charset="-122"/>
              </a:rPr>
              <a:t>分支目标缓冲</a:t>
            </a:r>
            <a:r>
              <a:rPr lang="en-US" altLang="zh-CN" sz="2000">
                <a:ea typeface="黑体" panose="02010609060101010101" pitchFamily="49" charset="-122"/>
              </a:rPr>
              <a:t>BTB</a:t>
            </a:r>
            <a:r>
              <a:rPr lang="zh-CN" altLang="en-US" sz="2000">
                <a:ea typeface="黑体" panose="02010609060101010101" pitchFamily="49" charset="-122"/>
              </a:rPr>
              <a:t>（</a:t>
            </a:r>
            <a:r>
              <a:rPr lang="en-US" altLang="zh-CN" sz="2000">
                <a:ea typeface="黑体" panose="02010609060101010101" pitchFamily="49" charset="-122"/>
              </a:rPr>
              <a:t>Branch Target</a:t>
            </a:r>
            <a:r>
              <a:rPr lang="zh-CN" altLang="en-US" sz="2000">
                <a:ea typeface="黑体" panose="02010609060101010101" pitchFamily="49" charset="-122"/>
              </a:rPr>
              <a:t> </a:t>
            </a:r>
            <a:r>
              <a:rPr lang="en-US" altLang="zh-CN" sz="2000">
                <a:ea typeface="黑体" panose="02010609060101010101" pitchFamily="49" charset="-122"/>
              </a:rPr>
              <a:t>Buffer</a:t>
            </a:r>
            <a:r>
              <a:rPr lang="zh-CN" altLang="en-US" sz="2000">
                <a:ea typeface="黑体" panose="02010609060101010101" pitchFamily="49" charset="-122"/>
              </a:rPr>
              <a:t>）</a:t>
            </a:r>
          </a:p>
          <a:p>
            <a:pPr lvl="1">
              <a:lnSpc>
                <a:spcPct val="110000"/>
              </a:lnSpc>
              <a:spcBef>
                <a:spcPct val="20000"/>
              </a:spcBef>
            </a:pPr>
            <a:r>
              <a:rPr lang="zh-CN" altLang="en-US" sz="2000">
                <a:ea typeface="黑体" panose="02010609060101010101" pitchFamily="49" charset="-122"/>
              </a:rPr>
              <a:t>每个表项由分支指令地址低位作索引，故在</a:t>
            </a:r>
            <a:r>
              <a:rPr lang="en-US" altLang="zh-CN" sz="2000">
                <a:ea typeface="黑体" panose="02010609060101010101" pitchFamily="49" charset="-122"/>
              </a:rPr>
              <a:t>IF</a:t>
            </a:r>
            <a:r>
              <a:rPr lang="zh-CN" altLang="en-US" sz="2000">
                <a:ea typeface="黑体" panose="02010609060101010101" pitchFamily="49" charset="-122"/>
              </a:rPr>
              <a:t>阶段就可以取到预测位</a:t>
            </a:r>
          </a:p>
          <a:p>
            <a:pPr lvl="2">
              <a:lnSpc>
                <a:spcPct val="110000"/>
              </a:lnSpc>
              <a:spcBef>
                <a:spcPct val="20000"/>
              </a:spcBef>
            </a:pPr>
            <a:r>
              <a:rPr lang="zh-CN" altLang="en-US" sz="2000">
                <a:solidFill>
                  <a:srgbClr val="008000"/>
                </a:solidFill>
                <a:ea typeface="黑体" panose="02010609060101010101" pitchFamily="49" charset="-122"/>
              </a:rPr>
              <a:t>低位地址相同的分支指令共享一个表项，所以，可能取的是其他分支指令的预测位。会不会有问题？</a:t>
            </a:r>
          </a:p>
          <a:p>
            <a:pPr lvl="2">
              <a:lnSpc>
                <a:spcPct val="110000"/>
              </a:lnSpc>
              <a:spcBef>
                <a:spcPct val="20000"/>
              </a:spcBef>
            </a:pPr>
            <a:r>
              <a:rPr lang="zh-CN" altLang="en-US" sz="2000">
                <a:solidFill>
                  <a:srgbClr val="008000"/>
                </a:solidFill>
                <a:ea typeface="黑体" panose="02010609060101010101" pitchFamily="49" charset="-122"/>
              </a:rPr>
              <a:t>由于仅用于预测，所以不影响执行结果</a:t>
            </a:r>
          </a:p>
        </p:txBody>
      </p:sp>
      <p:sp>
        <p:nvSpPr>
          <p:cNvPr id="230404" name="Rectangle 4">
            <a:extLst>
              <a:ext uri="{FF2B5EF4-FFF2-40B4-BE49-F238E27FC236}">
                <a16:creationId xmlns:a16="http://schemas.microsoft.com/office/drawing/2014/main" id="{88A0E7EF-1812-B240-9BFE-1D4D0AA5DEE3}"/>
              </a:ext>
            </a:extLst>
          </p:cNvPr>
          <p:cNvSpPr>
            <a:spLocks noChangeArrowheads="1"/>
          </p:cNvSpPr>
          <p:nvPr/>
        </p:nvSpPr>
        <p:spPr bwMode="auto">
          <a:xfrm>
            <a:off x="941388" y="5851525"/>
            <a:ext cx="7210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2000">
                <a:solidFill>
                  <a:srgbClr val="CC0000"/>
                </a:solidFill>
                <a:latin typeface="Arial" panose="020B0604020202020204" pitchFamily="34" charset="0"/>
                <a:ea typeface="黑体" panose="02010609060101010101" pitchFamily="49" charset="-122"/>
                <a:cs typeface="Arial" panose="020B0604020202020204" pitchFamily="34" charset="0"/>
              </a:rPr>
              <a:t>现在几乎所有的处理器都采用</a:t>
            </a:r>
            <a:r>
              <a:rPr lang="zh-CN" altLang="en-US" sz="2000">
                <a:solidFill>
                  <a:srgbClr val="CC0000"/>
                </a:solidFill>
                <a:latin typeface="Arial" panose="020B0604020202020204" pitchFamily="34" charset="0"/>
                <a:ea typeface="黑体" panose="02010609060101010101" pitchFamily="49" charset="-122"/>
                <a:cs typeface="Arial" panose="020B0604020202020204" pitchFamily="34" charset="0"/>
                <a:hlinkClick r:id="rId2" action="ppaction://hlinksldjump"/>
              </a:rPr>
              <a:t>动态预测</a:t>
            </a:r>
            <a:r>
              <a:rPr lang="zh-CN" altLang="en-US" sz="2000">
                <a:solidFill>
                  <a:srgbClr val="CC0000"/>
                </a:solidFill>
                <a:latin typeface="Arial" panose="020B0604020202020204" pitchFamily="34" charset="0"/>
                <a:ea typeface="黑体" panose="02010609060101010101" pitchFamily="49" charset="-122"/>
                <a:cs typeface="Arial" panose="020B0604020202020204" pitchFamily="34" charset="0"/>
              </a:rPr>
              <a:t>（</a:t>
            </a:r>
            <a:r>
              <a:rPr lang="en-US" altLang="zh-CN" sz="2000">
                <a:solidFill>
                  <a:srgbClr val="CC0000"/>
                </a:solidFill>
                <a:latin typeface="Arial" panose="020B0604020202020204" pitchFamily="34" charset="0"/>
                <a:ea typeface="黑体" panose="02010609060101010101" pitchFamily="49" charset="-122"/>
                <a:cs typeface="Arial" panose="020B0604020202020204" pitchFamily="34" charset="0"/>
              </a:rPr>
              <a:t>dynamic predictor</a:t>
            </a:r>
            <a:r>
              <a:rPr lang="zh-CN" altLang="en-US" sz="2000">
                <a:solidFill>
                  <a:srgbClr val="CC0000"/>
                </a:solidFill>
                <a:latin typeface="Arial" panose="020B0604020202020204" pitchFamily="34" charset="0"/>
                <a:ea typeface="黑体" panose="02010609060101010101" pitchFamily="49" charset="-122"/>
                <a:cs typeface="Arial" panose="020B0604020202020204" pitchFamily="34" charset="0"/>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0403">
                                            <p:txEl>
                                              <p:pRg st="2" end="2"/>
                                            </p:txEl>
                                          </p:spTgt>
                                        </p:tgtEl>
                                        <p:attrNameLst>
                                          <p:attrName>style.visibility</p:attrName>
                                        </p:attrNameLst>
                                      </p:cBhvr>
                                      <p:to>
                                        <p:strVal val="visible"/>
                                      </p:to>
                                    </p:set>
                                    <p:animEffect transition="in" filter="blinds(horizontal)">
                                      <p:cBhvr>
                                        <p:cTn id="7" dur="500"/>
                                        <p:tgtEl>
                                          <p:spTgt spid="23040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0403">
                                            <p:txEl>
                                              <p:pRg st="3" end="3"/>
                                            </p:txEl>
                                          </p:spTgt>
                                        </p:tgtEl>
                                        <p:attrNameLst>
                                          <p:attrName>style.visibility</p:attrName>
                                        </p:attrNameLst>
                                      </p:cBhvr>
                                      <p:to>
                                        <p:strVal val="visible"/>
                                      </p:to>
                                    </p:set>
                                    <p:animEffect transition="in" filter="blinds(horizontal)">
                                      <p:cBhvr>
                                        <p:cTn id="12" dur="500"/>
                                        <p:tgtEl>
                                          <p:spTgt spid="23040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0403">
                                            <p:txEl>
                                              <p:pRg st="4" end="4"/>
                                            </p:txEl>
                                          </p:spTgt>
                                        </p:tgtEl>
                                        <p:attrNameLst>
                                          <p:attrName>style.visibility</p:attrName>
                                        </p:attrNameLst>
                                      </p:cBhvr>
                                      <p:to>
                                        <p:strVal val="visible"/>
                                      </p:to>
                                    </p:set>
                                    <p:animEffect transition="in" filter="blinds(horizontal)">
                                      <p:cBhvr>
                                        <p:cTn id="17" dur="500"/>
                                        <p:tgtEl>
                                          <p:spTgt spid="23040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0403">
                                            <p:txEl>
                                              <p:pRg st="5" end="5"/>
                                            </p:txEl>
                                          </p:spTgt>
                                        </p:tgtEl>
                                        <p:attrNameLst>
                                          <p:attrName>style.visibility</p:attrName>
                                        </p:attrNameLst>
                                      </p:cBhvr>
                                      <p:to>
                                        <p:strVal val="visible"/>
                                      </p:to>
                                    </p:set>
                                    <p:animEffect transition="in" filter="blinds(horizontal)">
                                      <p:cBhvr>
                                        <p:cTn id="22" dur="500"/>
                                        <p:tgtEl>
                                          <p:spTgt spid="23040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0403">
                                            <p:txEl>
                                              <p:pRg st="6" end="6"/>
                                            </p:txEl>
                                          </p:spTgt>
                                        </p:tgtEl>
                                        <p:attrNameLst>
                                          <p:attrName>style.visibility</p:attrName>
                                        </p:attrNameLst>
                                      </p:cBhvr>
                                      <p:to>
                                        <p:strVal val="visible"/>
                                      </p:to>
                                    </p:set>
                                    <p:animEffect transition="in" filter="blinds(horizontal)">
                                      <p:cBhvr>
                                        <p:cTn id="27" dur="500"/>
                                        <p:tgtEl>
                                          <p:spTgt spid="23040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0403">
                                            <p:txEl>
                                              <p:pRg st="7" end="7"/>
                                            </p:txEl>
                                          </p:spTgt>
                                        </p:tgtEl>
                                        <p:attrNameLst>
                                          <p:attrName>style.visibility</p:attrName>
                                        </p:attrNameLst>
                                      </p:cBhvr>
                                      <p:to>
                                        <p:strVal val="visible"/>
                                      </p:to>
                                    </p:set>
                                    <p:animEffect transition="in" filter="blinds(horizontal)">
                                      <p:cBhvr>
                                        <p:cTn id="32" dur="500"/>
                                        <p:tgtEl>
                                          <p:spTgt spid="23040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0403">
                                            <p:txEl>
                                              <p:pRg st="8" end="8"/>
                                            </p:txEl>
                                          </p:spTgt>
                                        </p:tgtEl>
                                        <p:attrNameLst>
                                          <p:attrName>style.visibility</p:attrName>
                                        </p:attrNameLst>
                                      </p:cBhvr>
                                      <p:to>
                                        <p:strVal val="visible"/>
                                      </p:to>
                                    </p:set>
                                    <p:animEffect transition="in" filter="blinds(horizontal)">
                                      <p:cBhvr>
                                        <p:cTn id="37" dur="500"/>
                                        <p:tgtEl>
                                          <p:spTgt spid="230403">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0403">
                                            <p:txEl>
                                              <p:pRg st="9" end="9"/>
                                            </p:txEl>
                                          </p:spTgt>
                                        </p:tgtEl>
                                        <p:attrNameLst>
                                          <p:attrName>style.visibility</p:attrName>
                                        </p:attrNameLst>
                                      </p:cBhvr>
                                      <p:to>
                                        <p:strVal val="visible"/>
                                      </p:to>
                                    </p:set>
                                    <p:animEffect transition="in" filter="blinds(horizontal)">
                                      <p:cBhvr>
                                        <p:cTn id="42" dur="500"/>
                                        <p:tgtEl>
                                          <p:spTgt spid="230403">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0403">
                                            <p:txEl>
                                              <p:pRg st="10" end="10"/>
                                            </p:txEl>
                                          </p:spTgt>
                                        </p:tgtEl>
                                        <p:attrNameLst>
                                          <p:attrName>style.visibility</p:attrName>
                                        </p:attrNameLst>
                                      </p:cBhvr>
                                      <p:to>
                                        <p:strVal val="visible"/>
                                      </p:to>
                                    </p:set>
                                    <p:animEffect transition="in" filter="blinds(horizontal)">
                                      <p:cBhvr>
                                        <p:cTn id="47" dur="500"/>
                                        <p:tgtEl>
                                          <p:spTgt spid="230403">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0404"/>
                                        </p:tgtEl>
                                        <p:attrNameLst>
                                          <p:attrName>style.visibility</p:attrName>
                                        </p:attrNameLst>
                                      </p:cBhvr>
                                      <p:to>
                                        <p:strVal val="visible"/>
                                      </p:to>
                                    </p:set>
                                    <p:animEffect transition="in" filter="blinds(horizontal)">
                                      <p:cBhvr>
                                        <p:cTn id="52" dur="500"/>
                                        <p:tgtEl>
                                          <p:spTgt spid="230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0891D3A7-0066-1C4E-8143-029B6487F8CB}"/>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分支历史记录表</a:t>
            </a:r>
            <a:r>
              <a:rPr lang="en-US" altLang="zh-CN">
                <a:ea typeface="宋体" panose="02010600030101010101" pitchFamily="2" charset="-122"/>
              </a:rPr>
              <a:t>BHT</a:t>
            </a:r>
            <a:endParaRPr lang="zh-CN" altLang="en-US">
              <a:ea typeface="宋体" panose="02010600030101010101" pitchFamily="2" charset="-122"/>
            </a:endParaRPr>
          </a:p>
        </p:txBody>
      </p:sp>
      <p:sp>
        <p:nvSpPr>
          <p:cNvPr id="137219" name="Text Box 4">
            <a:extLst>
              <a:ext uri="{FF2B5EF4-FFF2-40B4-BE49-F238E27FC236}">
                <a16:creationId xmlns:a16="http://schemas.microsoft.com/office/drawing/2014/main" id="{22880E54-D2A6-0649-85C8-F701A6C097FA}"/>
              </a:ext>
            </a:extLst>
          </p:cNvPr>
          <p:cNvSpPr txBox="1">
            <a:spLocks noChangeArrowheads="1"/>
          </p:cNvSpPr>
          <p:nvPr/>
        </p:nvSpPr>
        <p:spPr bwMode="auto">
          <a:xfrm>
            <a:off x="7239000" y="3517900"/>
            <a:ext cx="1447800" cy="3635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spcBef>
                <a:spcPct val="50000"/>
              </a:spcBef>
            </a:pPr>
            <a:r>
              <a:rPr lang="zh-CN" altLang="en-US" sz="1700">
                <a:ea typeface="黑体" panose="02010609060101010101" pitchFamily="49" charset="-122"/>
              </a:rPr>
              <a:t>指令预取器</a:t>
            </a:r>
          </a:p>
        </p:txBody>
      </p:sp>
      <p:sp>
        <p:nvSpPr>
          <p:cNvPr id="137220" name="Rectangle 5">
            <a:extLst>
              <a:ext uri="{FF2B5EF4-FFF2-40B4-BE49-F238E27FC236}">
                <a16:creationId xmlns:a16="http://schemas.microsoft.com/office/drawing/2014/main" id="{FE3ECA14-A6AC-3443-A5A1-5ED49F4F3C04}"/>
              </a:ext>
            </a:extLst>
          </p:cNvPr>
          <p:cNvSpPr>
            <a:spLocks noChangeArrowheads="1"/>
          </p:cNvSpPr>
          <p:nvPr/>
        </p:nvSpPr>
        <p:spPr bwMode="auto">
          <a:xfrm>
            <a:off x="2870200" y="1028700"/>
            <a:ext cx="4205288" cy="2489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7221" name="Line 10">
            <a:extLst>
              <a:ext uri="{FF2B5EF4-FFF2-40B4-BE49-F238E27FC236}">
                <a16:creationId xmlns:a16="http://schemas.microsoft.com/office/drawing/2014/main" id="{9B405BF5-8575-E945-8BB4-C576864A38BB}"/>
              </a:ext>
            </a:extLst>
          </p:cNvPr>
          <p:cNvSpPr>
            <a:spLocks noChangeShapeType="1"/>
          </p:cNvSpPr>
          <p:nvPr/>
        </p:nvSpPr>
        <p:spPr bwMode="auto">
          <a:xfrm>
            <a:off x="4578350" y="1041400"/>
            <a:ext cx="0" cy="2451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22" name="Line 11">
            <a:extLst>
              <a:ext uri="{FF2B5EF4-FFF2-40B4-BE49-F238E27FC236}">
                <a16:creationId xmlns:a16="http://schemas.microsoft.com/office/drawing/2014/main" id="{E97323FA-67DD-7549-AF7E-9C8F604B958B}"/>
              </a:ext>
            </a:extLst>
          </p:cNvPr>
          <p:cNvSpPr>
            <a:spLocks noChangeShapeType="1"/>
          </p:cNvSpPr>
          <p:nvPr/>
        </p:nvSpPr>
        <p:spPr bwMode="auto">
          <a:xfrm>
            <a:off x="5494338" y="1041400"/>
            <a:ext cx="0" cy="2463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23" name="Text Box 12">
            <a:extLst>
              <a:ext uri="{FF2B5EF4-FFF2-40B4-BE49-F238E27FC236}">
                <a16:creationId xmlns:a16="http://schemas.microsoft.com/office/drawing/2014/main" id="{8A6E0270-76C6-A84A-A0AF-72ED94BE73B1}"/>
              </a:ext>
            </a:extLst>
          </p:cNvPr>
          <p:cNvSpPr txBox="1">
            <a:spLocks noChangeArrowheads="1"/>
          </p:cNvSpPr>
          <p:nvPr/>
        </p:nvSpPr>
        <p:spPr bwMode="auto">
          <a:xfrm>
            <a:off x="2941638" y="1079500"/>
            <a:ext cx="1663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分支指令地址</a:t>
            </a:r>
          </a:p>
        </p:txBody>
      </p:sp>
      <p:sp>
        <p:nvSpPr>
          <p:cNvPr id="137224" name="Text Box 13">
            <a:extLst>
              <a:ext uri="{FF2B5EF4-FFF2-40B4-BE49-F238E27FC236}">
                <a16:creationId xmlns:a16="http://schemas.microsoft.com/office/drawing/2014/main" id="{35D23A7D-3B5A-7047-9A85-280B4D541DE3}"/>
              </a:ext>
            </a:extLst>
          </p:cNvPr>
          <p:cNvSpPr txBox="1">
            <a:spLocks noChangeArrowheads="1"/>
          </p:cNvSpPr>
          <p:nvPr/>
        </p:nvSpPr>
        <p:spPr bwMode="auto">
          <a:xfrm>
            <a:off x="5462588" y="1079500"/>
            <a:ext cx="1701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ea typeface="黑体" panose="02010609060101010101" pitchFamily="49" charset="-122"/>
              </a:rPr>
              <a:t>转移目标地址</a:t>
            </a:r>
          </a:p>
        </p:txBody>
      </p:sp>
      <p:sp>
        <p:nvSpPr>
          <p:cNvPr id="137225" name="Text Box 14">
            <a:extLst>
              <a:ext uri="{FF2B5EF4-FFF2-40B4-BE49-F238E27FC236}">
                <a16:creationId xmlns:a16="http://schemas.microsoft.com/office/drawing/2014/main" id="{0F517F5A-31E3-6645-B040-5C8695152570}"/>
              </a:ext>
            </a:extLst>
          </p:cNvPr>
          <p:cNvSpPr txBox="1">
            <a:spLocks noChangeArrowheads="1"/>
          </p:cNvSpPr>
          <p:nvPr/>
        </p:nvSpPr>
        <p:spPr bwMode="auto">
          <a:xfrm>
            <a:off x="4591050" y="1066800"/>
            <a:ext cx="906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latin typeface="Arial" panose="020B0604020202020204" pitchFamily="34" charset="0"/>
                <a:ea typeface="黑体" panose="02010609060101010101" pitchFamily="49" charset="-122"/>
              </a:rPr>
              <a:t>预测位</a:t>
            </a:r>
          </a:p>
        </p:txBody>
      </p:sp>
      <p:sp>
        <p:nvSpPr>
          <p:cNvPr id="137226" name="Line 17">
            <a:extLst>
              <a:ext uri="{FF2B5EF4-FFF2-40B4-BE49-F238E27FC236}">
                <a16:creationId xmlns:a16="http://schemas.microsoft.com/office/drawing/2014/main" id="{AE2262A0-6179-D445-86D3-B85E40623C60}"/>
              </a:ext>
            </a:extLst>
          </p:cNvPr>
          <p:cNvSpPr>
            <a:spLocks noChangeShapeType="1"/>
          </p:cNvSpPr>
          <p:nvPr/>
        </p:nvSpPr>
        <p:spPr bwMode="auto">
          <a:xfrm>
            <a:off x="1866900" y="2324100"/>
            <a:ext cx="1016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27" name="Text Box 19">
            <a:extLst>
              <a:ext uri="{FF2B5EF4-FFF2-40B4-BE49-F238E27FC236}">
                <a16:creationId xmlns:a16="http://schemas.microsoft.com/office/drawing/2014/main" id="{CFD792E3-D896-C747-B296-CD3FE7C0CAC0}"/>
              </a:ext>
            </a:extLst>
          </p:cNvPr>
          <p:cNvSpPr txBox="1">
            <a:spLocks noChangeArrowheads="1"/>
          </p:cNvSpPr>
          <p:nvPr/>
        </p:nvSpPr>
        <p:spPr bwMode="auto">
          <a:xfrm>
            <a:off x="476250" y="774700"/>
            <a:ext cx="793750"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ea typeface="黑体" panose="02010609060101010101" pitchFamily="49" charset="-122"/>
              </a:rPr>
              <a:t>分支指令地址</a:t>
            </a:r>
          </a:p>
        </p:txBody>
      </p:sp>
      <p:sp>
        <p:nvSpPr>
          <p:cNvPr id="137228" name="Line 20">
            <a:extLst>
              <a:ext uri="{FF2B5EF4-FFF2-40B4-BE49-F238E27FC236}">
                <a16:creationId xmlns:a16="http://schemas.microsoft.com/office/drawing/2014/main" id="{A08ECE8D-83CB-774A-9EDB-0BAC230FB625}"/>
              </a:ext>
            </a:extLst>
          </p:cNvPr>
          <p:cNvSpPr>
            <a:spLocks noChangeShapeType="1"/>
          </p:cNvSpPr>
          <p:nvPr/>
        </p:nvSpPr>
        <p:spPr bwMode="auto">
          <a:xfrm>
            <a:off x="6629400" y="2362200"/>
            <a:ext cx="9271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29" name="Line 21">
            <a:extLst>
              <a:ext uri="{FF2B5EF4-FFF2-40B4-BE49-F238E27FC236}">
                <a16:creationId xmlns:a16="http://schemas.microsoft.com/office/drawing/2014/main" id="{A36BAC4B-CA9F-2846-BCEA-A1CA52BC6524}"/>
              </a:ext>
            </a:extLst>
          </p:cNvPr>
          <p:cNvSpPr>
            <a:spLocks noChangeShapeType="1"/>
          </p:cNvSpPr>
          <p:nvPr/>
        </p:nvSpPr>
        <p:spPr bwMode="auto">
          <a:xfrm flipH="1">
            <a:off x="7556500" y="2362200"/>
            <a:ext cx="0" cy="11303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0" name="Line 22">
            <a:extLst>
              <a:ext uri="{FF2B5EF4-FFF2-40B4-BE49-F238E27FC236}">
                <a16:creationId xmlns:a16="http://schemas.microsoft.com/office/drawing/2014/main" id="{8BF23A88-CAD3-B544-BBD9-A1EED9B606AA}"/>
              </a:ext>
            </a:extLst>
          </p:cNvPr>
          <p:cNvSpPr>
            <a:spLocks noChangeShapeType="1"/>
          </p:cNvSpPr>
          <p:nvPr/>
        </p:nvSpPr>
        <p:spPr bwMode="auto">
          <a:xfrm flipV="1">
            <a:off x="8178800" y="2349500"/>
            <a:ext cx="0" cy="115570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1" name="Text Box 23">
            <a:extLst>
              <a:ext uri="{FF2B5EF4-FFF2-40B4-BE49-F238E27FC236}">
                <a16:creationId xmlns:a16="http://schemas.microsoft.com/office/drawing/2014/main" id="{BDA3125E-6BE0-9243-A88A-35680D3ACF8A}"/>
              </a:ext>
            </a:extLst>
          </p:cNvPr>
          <p:cNvSpPr txBox="1">
            <a:spLocks noChangeArrowheads="1"/>
          </p:cNvSpPr>
          <p:nvPr/>
        </p:nvSpPr>
        <p:spPr bwMode="auto">
          <a:xfrm>
            <a:off x="4216400" y="4051300"/>
            <a:ext cx="1130300" cy="3635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spcBef>
                <a:spcPct val="50000"/>
              </a:spcBef>
            </a:pPr>
            <a:r>
              <a:rPr lang="zh-CN" altLang="en-US" sz="1700">
                <a:ea typeface="黑体" panose="02010609060101010101" pitchFamily="49" charset="-122"/>
              </a:rPr>
              <a:t>控制逻辑</a:t>
            </a:r>
          </a:p>
        </p:txBody>
      </p:sp>
      <p:sp>
        <p:nvSpPr>
          <p:cNvPr id="137232" name="Line 24">
            <a:extLst>
              <a:ext uri="{FF2B5EF4-FFF2-40B4-BE49-F238E27FC236}">
                <a16:creationId xmlns:a16="http://schemas.microsoft.com/office/drawing/2014/main" id="{49EFC5AD-B316-344B-B04F-7E34EF98C00D}"/>
              </a:ext>
            </a:extLst>
          </p:cNvPr>
          <p:cNvSpPr>
            <a:spLocks noChangeShapeType="1"/>
          </p:cNvSpPr>
          <p:nvPr/>
        </p:nvSpPr>
        <p:spPr bwMode="auto">
          <a:xfrm>
            <a:off x="4787900" y="3505200"/>
            <a:ext cx="0" cy="55880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3" name="Line 25">
            <a:extLst>
              <a:ext uri="{FF2B5EF4-FFF2-40B4-BE49-F238E27FC236}">
                <a16:creationId xmlns:a16="http://schemas.microsoft.com/office/drawing/2014/main" id="{08D3A3C8-CCED-544F-BD62-0468547F9D03}"/>
              </a:ext>
            </a:extLst>
          </p:cNvPr>
          <p:cNvSpPr>
            <a:spLocks noChangeShapeType="1"/>
          </p:cNvSpPr>
          <p:nvPr/>
        </p:nvSpPr>
        <p:spPr bwMode="auto">
          <a:xfrm>
            <a:off x="7886700" y="3873500"/>
            <a:ext cx="0" cy="342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4" name="Text Box 26">
            <a:extLst>
              <a:ext uri="{FF2B5EF4-FFF2-40B4-BE49-F238E27FC236}">
                <a16:creationId xmlns:a16="http://schemas.microsoft.com/office/drawing/2014/main" id="{74BE2B3C-3288-F144-A09B-A58F5D38EC4D}"/>
              </a:ext>
            </a:extLst>
          </p:cNvPr>
          <p:cNvSpPr txBox="1">
            <a:spLocks noChangeArrowheads="1"/>
          </p:cNvSpPr>
          <p:nvPr/>
        </p:nvSpPr>
        <p:spPr bwMode="auto">
          <a:xfrm>
            <a:off x="7315200" y="4470400"/>
            <a:ext cx="1117600" cy="3635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spcBef>
                <a:spcPct val="50000"/>
              </a:spcBef>
            </a:pPr>
            <a:r>
              <a:rPr lang="zh-CN" altLang="en-US" sz="1700">
                <a:ea typeface="黑体" panose="02010609060101010101" pitchFamily="49" charset="-122"/>
              </a:rPr>
              <a:t>指令执行</a:t>
            </a:r>
          </a:p>
        </p:txBody>
      </p:sp>
      <p:sp>
        <p:nvSpPr>
          <p:cNvPr id="137235" name="Line 27">
            <a:extLst>
              <a:ext uri="{FF2B5EF4-FFF2-40B4-BE49-F238E27FC236}">
                <a16:creationId xmlns:a16="http://schemas.microsoft.com/office/drawing/2014/main" id="{04CF3E43-3EBE-1C4D-8FCC-3BB2558AC69D}"/>
              </a:ext>
            </a:extLst>
          </p:cNvPr>
          <p:cNvSpPr>
            <a:spLocks noChangeShapeType="1"/>
          </p:cNvSpPr>
          <p:nvPr/>
        </p:nvSpPr>
        <p:spPr bwMode="auto">
          <a:xfrm>
            <a:off x="7886700" y="4800600"/>
            <a:ext cx="0" cy="6985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6" name="Line 28">
            <a:extLst>
              <a:ext uri="{FF2B5EF4-FFF2-40B4-BE49-F238E27FC236}">
                <a16:creationId xmlns:a16="http://schemas.microsoft.com/office/drawing/2014/main" id="{2E883518-9815-F540-A2AA-FA5E4BD28F41}"/>
              </a:ext>
            </a:extLst>
          </p:cNvPr>
          <p:cNvSpPr>
            <a:spLocks noChangeShapeType="1"/>
          </p:cNvSpPr>
          <p:nvPr/>
        </p:nvSpPr>
        <p:spPr bwMode="auto">
          <a:xfrm flipH="1">
            <a:off x="4775200" y="5105400"/>
            <a:ext cx="3098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7" name="Line 29">
            <a:extLst>
              <a:ext uri="{FF2B5EF4-FFF2-40B4-BE49-F238E27FC236}">
                <a16:creationId xmlns:a16="http://schemas.microsoft.com/office/drawing/2014/main" id="{4E7E5EB2-8A5A-7A44-A5A4-BB09B98F13A2}"/>
              </a:ext>
            </a:extLst>
          </p:cNvPr>
          <p:cNvSpPr>
            <a:spLocks noChangeShapeType="1"/>
          </p:cNvSpPr>
          <p:nvPr/>
        </p:nvSpPr>
        <p:spPr bwMode="auto">
          <a:xfrm flipV="1">
            <a:off x="4775200" y="4445000"/>
            <a:ext cx="0" cy="660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8" name="Text Box 30">
            <a:extLst>
              <a:ext uri="{FF2B5EF4-FFF2-40B4-BE49-F238E27FC236}">
                <a16:creationId xmlns:a16="http://schemas.microsoft.com/office/drawing/2014/main" id="{D273AA48-25B6-4641-A3E9-C5C25FD376F4}"/>
              </a:ext>
            </a:extLst>
          </p:cNvPr>
          <p:cNvSpPr txBox="1">
            <a:spLocks noChangeArrowheads="1"/>
          </p:cNvSpPr>
          <p:nvPr/>
        </p:nvSpPr>
        <p:spPr bwMode="auto">
          <a:xfrm>
            <a:off x="5854700" y="4775200"/>
            <a:ext cx="17145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实际执行情况</a:t>
            </a:r>
          </a:p>
        </p:txBody>
      </p:sp>
      <p:sp>
        <p:nvSpPr>
          <p:cNvPr id="137239" name="Text Box 31">
            <a:extLst>
              <a:ext uri="{FF2B5EF4-FFF2-40B4-BE49-F238E27FC236}">
                <a16:creationId xmlns:a16="http://schemas.microsoft.com/office/drawing/2014/main" id="{9BC9C351-96BE-F94F-BF43-78CF2A59C72E}"/>
              </a:ext>
            </a:extLst>
          </p:cNvPr>
          <p:cNvSpPr txBox="1">
            <a:spLocks noChangeArrowheads="1"/>
          </p:cNvSpPr>
          <p:nvPr/>
        </p:nvSpPr>
        <p:spPr bwMode="auto">
          <a:xfrm>
            <a:off x="2755900" y="4356100"/>
            <a:ext cx="12065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命中与否</a:t>
            </a:r>
          </a:p>
        </p:txBody>
      </p:sp>
      <p:sp>
        <p:nvSpPr>
          <p:cNvPr id="137240" name="Line 32">
            <a:extLst>
              <a:ext uri="{FF2B5EF4-FFF2-40B4-BE49-F238E27FC236}">
                <a16:creationId xmlns:a16="http://schemas.microsoft.com/office/drawing/2014/main" id="{7E9E5FA4-DC61-834D-AEA0-8506D3E90686}"/>
              </a:ext>
            </a:extLst>
          </p:cNvPr>
          <p:cNvSpPr>
            <a:spLocks noChangeShapeType="1"/>
          </p:cNvSpPr>
          <p:nvPr/>
        </p:nvSpPr>
        <p:spPr bwMode="auto">
          <a:xfrm flipH="1">
            <a:off x="3479800" y="4318000"/>
            <a:ext cx="7366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7241" name="Group 67">
            <a:extLst>
              <a:ext uri="{FF2B5EF4-FFF2-40B4-BE49-F238E27FC236}">
                <a16:creationId xmlns:a16="http://schemas.microsoft.com/office/drawing/2014/main" id="{731E80EA-621D-7842-AB4B-D5449C1F59FA}"/>
              </a:ext>
            </a:extLst>
          </p:cNvPr>
          <p:cNvGrpSpPr>
            <a:grpSpLocks/>
          </p:cNvGrpSpPr>
          <p:nvPr/>
        </p:nvGrpSpPr>
        <p:grpSpPr bwMode="auto">
          <a:xfrm>
            <a:off x="2857500" y="1422400"/>
            <a:ext cx="4246563" cy="1663700"/>
            <a:chOff x="1800" y="896"/>
            <a:chExt cx="2528" cy="1048"/>
          </a:xfrm>
        </p:grpSpPr>
        <p:sp>
          <p:nvSpPr>
            <p:cNvPr id="137274" name="Line 6">
              <a:extLst>
                <a:ext uri="{FF2B5EF4-FFF2-40B4-BE49-F238E27FC236}">
                  <a16:creationId xmlns:a16="http://schemas.microsoft.com/office/drawing/2014/main" id="{70A54B3A-A1E9-E441-9C9F-E97ADBAAA9C6}"/>
                </a:ext>
              </a:extLst>
            </p:cNvPr>
            <p:cNvSpPr>
              <a:spLocks noChangeShapeType="1"/>
            </p:cNvSpPr>
            <p:nvPr/>
          </p:nvSpPr>
          <p:spPr bwMode="auto">
            <a:xfrm>
              <a:off x="1816" y="896"/>
              <a:ext cx="2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75" name="Line 7">
              <a:extLst>
                <a:ext uri="{FF2B5EF4-FFF2-40B4-BE49-F238E27FC236}">
                  <a16:creationId xmlns:a16="http://schemas.microsoft.com/office/drawing/2014/main" id="{4C1988C5-E63B-DA41-B1F2-0412F5AD706D}"/>
                </a:ext>
              </a:extLst>
            </p:cNvPr>
            <p:cNvSpPr>
              <a:spLocks noChangeShapeType="1"/>
            </p:cNvSpPr>
            <p:nvPr/>
          </p:nvSpPr>
          <p:spPr bwMode="auto">
            <a:xfrm>
              <a:off x="1800" y="1120"/>
              <a:ext cx="2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76" name="Line 8">
              <a:extLst>
                <a:ext uri="{FF2B5EF4-FFF2-40B4-BE49-F238E27FC236}">
                  <a16:creationId xmlns:a16="http://schemas.microsoft.com/office/drawing/2014/main" id="{819C1AF9-EC83-304B-A174-A87767ED42D1}"/>
                </a:ext>
              </a:extLst>
            </p:cNvPr>
            <p:cNvSpPr>
              <a:spLocks noChangeShapeType="1"/>
            </p:cNvSpPr>
            <p:nvPr/>
          </p:nvSpPr>
          <p:spPr bwMode="auto">
            <a:xfrm>
              <a:off x="1816" y="1352"/>
              <a:ext cx="2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77" name="Line 9">
              <a:extLst>
                <a:ext uri="{FF2B5EF4-FFF2-40B4-BE49-F238E27FC236}">
                  <a16:creationId xmlns:a16="http://schemas.microsoft.com/office/drawing/2014/main" id="{91248E68-7D09-7743-A586-B629A6A4B7C9}"/>
                </a:ext>
              </a:extLst>
            </p:cNvPr>
            <p:cNvSpPr>
              <a:spLocks noChangeShapeType="1"/>
            </p:cNvSpPr>
            <p:nvPr/>
          </p:nvSpPr>
          <p:spPr bwMode="auto">
            <a:xfrm>
              <a:off x="1800" y="1576"/>
              <a:ext cx="2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78" name="Line 33">
              <a:extLst>
                <a:ext uri="{FF2B5EF4-FFF2-40B4-BE49-F238E27FC236}">
                  <a16:creationId xmlns:a16="http://schemas.microsoft.com/office/drawing/2014/main" id="{F1F12338-703B-6449-B3C0-86F17DDBCF39}"/>
                </a:ext>
              </a:extLst>
            </p:cNvPr>
            <p:cNvSpPr>
              <a:spLocks noChangeShapeType="1"/>
            </p:cNvSpPr>
            <p:nvPr/>
          </p:nvSpPr>
          <p:spPr bwMode="auto">
            <a:xfrm>
              <a:off x="1808" y="1944"/>
              <a:ext cx="2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7242" name="Line 34">
            <a:extLst>
              <a:ext uri="{FF2B5EF4-FFF2-40B4-BE49-F238E27FC236}">
                <a16:creationId xmlns:a16="http://schemas.microsoft.com/office/drawing/2014/main" id="{0AFC32BE-4BEF-D54A-B824-1B7C0ED9ED8E}"/>
              </a:ext>
            </a:extLst>
          </p:cNvPr>
          <p:cNvSpPr>
            <a:spLocks noChangeShapeType="1"/>
          </p:cNvSpPr>
          <p:nvPr/>
        </p:nvSpPr>
        <p:spPr bwMode="auto">
          <a:xfrm flipH="1">
            <a:off x="2451100" y="4152900"/>
            <a:ext cx="17653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3" name="Line 35">
            <a:extLst>
              <a:ext uri="{FF2B5EF4-FFF2-40B4-BE49-F238E27FC236}">
                <a16:creationId xmlns:a16="http://schemas.microsoft.com/office/drawing/2014/main" id="{734C3A56-1158-DF43-B7DA-19FA4A960EF4}"/>
              </a:ext>
            </a:extLst>
          </p:cNvPr>
          <p:cNvSpPr>
            <a:spLocks noChangeShapeType="1"/>
          </p:cNvSpPr>
          <p:nvPr/>
        </p:nvSpPr>
        <p:spPr bwMode="auto">
          <a:xfrm>
            <a:off x="2438400" y="3327400"/>
            <a:ext cx="0" cy="838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4" name="Line 36">
            <a:extLst>
              <a:ext uri="{FF2B5EF4-FFF2-40B4-BE49-F238E27FC236}">
                <a16:creationId xmlns:a16="http://schemas.microsoft.com/office/drawing/2014/main" id="{05E7EF49-5E51-DB4D-BA9E-4846CB114EDB}"/>
              </a:ext>
            </a:extLst>
          </p:cNvPr>
          <p:cNvSpPr>
            <a:spLocks noChangeShapeType="1"/>
          </p:cNvSpPr>
          <p:nvPr/>
        </p:nvSpPr>
        <p:spPr bwMode="auto">
          <a:xfrm>
            <a:off x="2438400" y="3327400"/>
            <a:ext cx="431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5" name="Text Box 37">
            <a:extLst>
              <a:ext uri="{FF2B5EF4-FFF2-40B4-BE49-F238E27FC236}">
                <a16:creationId xmlns:a16="http://schemas.microsoft.com/office/drawing/2014/main" id="{0382FE70-1808-4346-B63D-B77ED42FD27E}"/>
              </a:ext>
            </a:extLst>
          </p:cNvPr>
          <p:cNvSpPr txBox="1">
            <a:spLocks noChangeArrowheads="1"/>
          </p:cNvSpPr>
          <p:nvPr/>
        </p:nvSpPr>
        <p:spPr bwMode="auto">
          <a:xfrm>
            <a:off x="2755900" y="3822700"/>
            <a:ext cx="12954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加入新项</a:t>
            </a:r>
          </a:p>
        </p:txBody>
      </p:sp>
      <p:sp>
        <p:nvSpPr>
          <p:cNvPr id="137246" name="Line 38">
            <a:extLst>
              <a:ext uri="{FF2B5EF4-FFF2-40B4-BE49-F238E27FC236}">
                <a16:creationId xmlns:a16="http://schemas.microsoft.com/office/drawing/2014/main" id="{74140F70-1002-5C40-B2F8-04571E158761}"/>
              </a:ext>
            </a:extLst>
          </p:cNvPr>
          <p:cNvSpPr>
            <a:spLocks noChangeShapeType="1"/>
          </p:cNvSpPr>
          <p:nvPr/>
        </p:nvSpPr>
        <p:spPr bwMode="auto">
          <a:xfrm>
            <a:off x="5359400" y="4241800"/>
            <a:ext cx="1625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7" name="Line 39">
            <a:extLst>
              <a:ext uri="{FF2B5EF4-FFF2-40B4-BE49-F238E27FC236}">
                <a16:creationId xmlns:a16="http://schemas.microsoft.com/office/drawing/2014/main" id="{EB63F519-090E-FD4B-BD40-180C5A1CEB34}"/>
              </a:ext>
            </a:extLst>
          </p:cNvPr>
          <p:cNvSpPr>
            <a:spLocks noChangeShapeType="1"/>
          </p:cNvSpPr>
          <p:nvPr/>
        </p:nvSpPr>
        <p:spPr bwMode="auto">
          <a:xfrm flipV="1">
            <a:off x="6985000" y="3721100"/>
            <a:ext cx="0" cy="50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8" name="Line 40">
            <a:extLst>
              <a:ext uri="{FF2B5EF4-FFF2-40B4-BE49-F238E27FC236}">
                <a16:creationId xmlns:a16="http://schemas.microsoft.com/office/drawing/2014/main" id="{F44A9586-87B4-E94B-9956-2CDDE9CB2238}"/>
              </a:ext>
            </a:extLst>
          </p:cNvPr>
          <p:cNvSpPr>
            <a:spLocks noChangeShapeType="1"/>
          </p:cNvSpPr>
          <p:nvPr/>
        </p:nvSpPr>
        <p:spPr bwMode="auto">
          <a:xfrm>
            <a:off x="6985000" y="3721100"/>
            <a:ext cx="254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49" name="Text Box 42">
            <a:extLst>
              <a:ext uri="{FF2B5EF4-FFF2-40B4-BE49-F238E27FC236}">
                <a16:creationId xmlns:a16="http://schemas.microsoft.com/office/drawing/2014/main" id="{DA7F3C24-D7C2-4947-9BDE-6CCB8EF703A1}"/>
              </a:ext>
            </a:extLst>
          </p:cNvPr>
          <p:cNvSpPr txBox="1">
            <a:spLocks noChangeArrowheads="1"/>
          </p:cNvSpPr>
          <p:nvPr/>
        </p:nvSpPr>
        <p:spPr bwMode="auto">
          <a:xfrm>
            <a:off x="8178800" y="1968500"/>
            <a:ext cx="8636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顺序取</a:t>
            </a:r>
          </a:p>
        </p:txBody>
      </p:sp>
      <p:sp>
        <p:nvSpPr>
          <p:cNvPr id="137250" name="Text Box 43">
            <a:extLst>
              <a:ext uri="{FF2B5EF4-FFF2-40B4-BE49-F238E27FC236}">
                <a16:creationId xmlns:a16="http://schemas.microsoft.com/office/drawing/2014/main" id="{A68EBF9B-E398-2B41-8955-5EA52FD653AA}"/>
              </a:ext>
            </a:extLst>
          </p:cNvPr>
          <p:cNvSpPr txBox="1">
            <a:spLocks noChangeArrowheads="1"/>
          </p:cNvSpPr>
          <p:nvPr/>
        </p:nvSpPr>
        <p:spPr bwMode="auto">
          <a:xfrm>
            <a:off x="7086600" y="1968500"/>
            <a:ext cx="8636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转移取</a:t>
            </a:r>
          </a:p>
        </p:txBody>
      </p:sp>
      <p:sp>
        <p:nvSpPr>
          <p:cNvPr id="137251" name="Line 44">
            <a:extLst>
              <a:ext uri="{FF2B5EF4-FFF2-40B4-BE49-F238E27FC236}">
                <a16:creationId xmlns:a16="http://schemas.microsoft.com/office/drawing/2014/main" id="{892A2EB1-82B2-834A-872A-7416B63A4220}"/>
              </a:ext>
            </a:extLst>
          </p:cNvPr>
          <p:cNvSpPr>
            <a:spLocks noChangeShapeType="1"/>
          </p:cNvSpPr>
          <p:nvPr/>
        </p:nvSpPr>
        <p:spPr bwMode="auto">
          <a:xfrm>
            <a:off x="8178800" y="2349500"/>
            <a:ext cx="304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52" name="Text Box 45">
            <a:extLst>
              <a:ext uri="{FF2B5EF4-FFF2-40B4-BE49-F238E27FC236}">
                <a16:creationId xmlns:a16="http://schemas.microsoft.com/office/drawing/2014/main" id="{595190AB-654B-C644-9BF9-05E262354E0D}"/>
              </a:ext>
            </a:extLst>
          </p:cNvPr>
          <p:cNvSpPr txBox="1">
            <a:spLocks noChangeArrowheads="1"/>
          </p:cNvSpPr>
          <p:nvPr/>
        </p:nvSpPr>
        <p:spPr bwMode="auto">
          <a:xfrm>
            <a:off x="3502025" y="647700"/>
            <a:ext cx="2787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ea typeface="黑体" panose="02010609060101010101" pitchFamily="49" charset="-122"/>
              </a:rPr>
              <a:t>分支历史记录表</a:t>
            </a:r>
            <a:r>
              <a:rPr lang="en-US" altLang="zh-CN" sz="1900">
                <a:ea typeface="黑体" panose="02010609060101010101" pitchFamily="49" charset="-122"/>
              </a:rPr>
              <a:t>BHT</a:t>
            </a:r>
          </a:p>
        </p:txBody>
      </p:sp>
      <p:sp>
        <p:nvSpPr>
          <p:cNvPr id="137253" name="Text Box 47">
            <a:extLst>
              <a:ext uri="{FF2B5EF4-FFF2-40B4-BE49-F238E27FC236}">
                <a16:creationId xmlns:a16="http://schemas.microsoft.com/office/drawing/2014/main" id="{CB1020CB-AB08-704E-B7EB-57C4E254D069}"/>
              </a:ext>
            </a:extLst>
          </p:cNvPr>
          <p:cNvSpPr txBox="1">
            <a:spLocks noChangeArrowheads="1"/>
          </p:cNvSpPr>
          <p:nvPr/>
        </p:nvSpPr>
        <p:spPr bwMode="auto">
          <a:xfrm>
            <a:off x="1714500" y="10160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latin typeface="Arial" panose="020B0604020202020204" pitchFamily="34" charset="0"/>
                <a:ea typeface="宋体" panose="02010600030101010101" pitchFamily="2" charset="-122"/>
              </a:rPr>
              <a:t>=</a:t>
            </a:r>
            <a:r>
              <a:rPr lang="zh-CN" altLang="en-US" sz="2000">
                <a:latin typeface="Arial" panose="020B0604020202020204" pitchFamily="34" charset="0"/>
                <a:ea typeface="宋体" panose="02010600030101010101" pitchFamily="2" charset="-122"/>
              </a:rPr>
              <a:t>？</a:t>
            </a:r>
          </a:p>
        </p:txBody>
      </p:sp>
      <p:sp>
        <p:nvSpPr>
          <p:cNvPr id="137254" name="Oval 48">
            <a:extLst>
              <a:ext uri="{FF2B5EF4-FFF2-40B4-BE49-F238E27FC236}">
                <a16:creationId xmlns:a16="http://schemas.microsoft.com/office/drawing/2014/main" id="{AA6F0024-3EE5-DC48-A367-4C9FAF3AB846}"/>
              </a:ext>
            </a:extLst>
          </p:cNvPr>
          <p:cNvSpPr>
            <a:spLocks noChangeArrowheads="1"/>
          </p:cNvSpPr>
          <p:nvPr/>
        </p:nvSpPr>
        <p:spPr bwMode="auto">
          <a:xfrm>
            <a:off x="1638300" y="1041400"/>
            <a:ext cx="5080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7255" name="Line 49">
            <a:extLst>
              <a:ext uri="{FF2B5EF4-FFF2-40B4-BE49-F238E27FC236}">
                <a16:creationId xmlns:a16="http://schemas.microsoft.com/office/drawing/2014/main" id="{3F067B6C-7A4E-304D-985D-CB4982D52862}"/>
              </a:ext>
            </a:extLst>
          </p:cNvPr>
          <p:cNvSpPr>
            <a:spLocks noChangeShapeType="1"/>
          </p:cNvSpPr>
          <p:nvPr/>
        </p:nvSpPr>
        <p:spPr bwMode="auto">
          <a:xfrm flipH="1">
            <a:off x="2146300" y="1206500"/>
            <a:ext cx="7493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56" name="Line 50">
            <a:extLst>
              <a:ext uri="{FF2B5EF4-FFF2-40B4-BE49-F238E27FC236}">
                <a16:creationId xmlns:a16="http://schemas.microsoft.com/office/drawing/2014/main" id="{D9B49502-E678-A940-A8CD-BD558AEC2FB7}"/>
              </a:ext>
            </a:extLst>
          </p:cNvPr>
          <p:cNvSpPr>
            <a:spLocks noChangeShapeType="1"/>
          </p:cNvSpPr>
          <p:nvPr/>
        </p:nvSpPr>
        <p:spPr bwMode="auto">
          <a:xfrm>
            <a:off x="1206500" y="1181100"/>
            <a:ext cx="41910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57" name="Line 51">
            <a:extLst>
              <a:ext uri="{FF2B5EF4-FFF2-40B4-BE49-F238E27FC236}">
                <a16:creationId xmlns:a16="http://schemas.microsoft.com/office/drawing/2014/main" id="{3C04A85C-1F19-F149-BD90-247BF5D8AA35}"/>
              </a:ext>
            </a:extLst>
          </p:cNvPr>
          <p:cNvSpPr>
            <a:spLocks noChangeShapeType="1"/>
          </p:cNvSpPr>
          <p:nvPr/>
        </p:nvSpPr>
        <p:spPr bwMode="auto">
          <a:xfrm>
            <a:off x="1866900" y="1358900"/>
            <a:ext cx="0" cy="977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58" name="Line 52">
            <a:extLst>
              <a:ext uri="{FF2B5EF4-FFF2-40B4-BE49-F238E27FC236}">
                <a16:creationId xmlns:a16="http://schemas.microsoft.com/office/drawing/2014/main" id="{5A08CBB8-B8EC-2141-A929-73BCB74BE803}"/>
              </a:ext>
            </a:extLst>
          </p:cNvPr>
          <p:cNvSpPr>
            <a:spLocks noChangeShapeType="1"/>
          </p:cNvSpPr>
          <p:nvPr/>
        </p:nvSpPr>
        <p:spPr bwMode="auto">
          <a:xfrm>
            <a:off x="7683500" y="4305300"/>
            <a:ext cx="3683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5693" name="Group 61">
            <a:extLst>
              <a:ext uri="{FF2B5EF4-FFF2-40B4-BE49-F238E27FC236}">
                <a16:creationId xmlns:a16="http://schemas.microsoft.com/office/drawing/2014/main" id="{F6E8937E-9723-D548-8B77-FCBD6EC9C925}"/>
              </a:ext>
            </a:extLst>
          </p:cNvPr>
          <p:cNvGrpSpPr>
            <a:grpSpLocks/>
          </p:cNvGrpSpPr>
          <p:nvPr/>
        </p:nvGrpSpPr>
        <p:grpSpPr bwMode="auto">
          <a:xfrm>
            <a:off x="1884363" y="1979613"/>
            <a:ext cx="923925" cy="366712"/>
            <a:chOff x="1038" y="1262"/>
            <a:chExt cx="582" cy="231"/>
          </a:xfrm>
        </p:grpSpPr>
        <p:sp>
          <p:nvSpPr>
            <p:cNvPr id="137272" name="Text Box 18">
              <a:extLst>
                <a:ext uri="{FF2B5EF4-FFF2-40B4-BE49-F238E27FC236}">
                  <a16:creationId xmlns:a16="http://schemas.microsoft.com/office/drawing/2014/main" id="{1F1C8C4A-BA78-BF43-A51C-93EFA6D816EA}"/>
                </a:ext>
              </a:extLst>
            </p:cNvPr>
            <p:cNvSpPr txBox="1">
              <a:spLocks noChangeArrowheads="1"/>
            </p:cNvSpPr>
            <p:nvPr/>
          </p:nvSpPr>
          <p:spPr bwMode="auto">
            <a:xfrm>
              <a:off x="1214" y="1262"/>
              <a:ext cx="4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800">
                  <a:ea typeface="黑体" panose="02010609060101010101" pitchFamily="49" charset="-122"/>
                </a:rPr>
                <a:t>查找</a:t>
              </a:r>
            </a:p>
          </p:txBody>
        </p:sp>
        <p:sp>
          <p:nvSpPr>
            <p:cNvPr id="137273" name="Text Box 54">
              <a:extLst>
                <a:ext uri="{FF2B5EF4-FFF2-40B4-BE49-F238E27FC236}">
                  <a16:creationId xmlns:a16="http://schemas.microsoft.com/office/drawing/2014/main" id="{8082CA38-1906-D040-9632-CE6B99FC0594}"/>
                </a:ext>
              </a:extLst>
            </p:cNvPr>
            <p:cNvSpPr txBox="1">
              <a:spLocks noChangeArrowheads="1"/>
            </p:cNvSpPr>
            <p:nvPr/>
          </p:nvSpPr>
          <p:spPr bwMode="auto">
            <a:xfrm>
              <a:off x="1038" y="1280"/>
              <a:ext cx="2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solidFill>
                    <a:srgbClr val="CC0000"/>
                  </a:solidFill>
                  <a:ea typeface="宋体" panose="02010600030101010101" pitchFamily="2" charset="-122"/>
                </a:rPr>
                <a:t>①</a:t>
              </a:r>
            </a:p>
          </p:txBody>
        </p:sp>
      </p:grpSp>
      <p:grpSp>
        <p:nvGrpSpPr>
          <p:cNvPr id="325695" name="Group 63">
            <a:extLst>
              <a:ext uri="{FF2B5EF4-FFF2-40B4-BE49-F238E27FC236}">
                <a16:creationId xmlns:a16="http://schemas.microsoft.com/office/drawing/2014/main" id="{4D171727-89F3-AA47-9C51-B43A3FA15EF3}"/>
              </a:ext>
            </a:extLst>
          </p:cNvPr>
          <p:cNvGrpSpPr>
            <a:grpSpLocks/>
          </p:cNvGrpSpPr>
          <p:nvPr/>
        </p:nvGrpSpPr>
        <p:grpSpPr bwMode="auto">
          <a:xfrm>
            <a:off x="5849938" y="3919538"/>
            <a:ext cx="1298575" cy="354012"/>
            <a:chOff x="3398" y="2502"/>
            <a:chExt cx="818" cy="223"/>
          </a:xfrm>
        </p:grpSpPr>
        <p:sp>
          <p:nvSpPr>
            <p:cNvPr id="137270" name="Text Box 41">
              <a:extLst>
                <a:ext uri="{FF2B5EF4-FFF2-40B4-BE49-F238E27FC236}">
                  <a16:creationId xmlns:a16="http://schemas.microsoft.com/office/drawing/2014/main" id="{C35B628E-C4E7-2A4B-A1E6-61C36E1172BF}"/>
                </a:ext>
              </a:extLst>
            </p:cNvPr>
            <p:cNvSpPr txBox="1">
              <a:spLocks noChangeArrowheads="1"/>
            </p:cNvSpPr>
            <p:nvPr/>
          </p:nvSpPr>
          <p:spPr bwMode="auto">
            <a:xfrm>
              <a:off x="3568" y="2504"/>
              <a:ext cx="648"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选择</a:t>
              </a:r>
            </a:p>
          </p:txBody>
        </p:sp>
        <p:sp>
          <p:nvSpPr>
            <p:cNvPr id="137271" name="Rectangle 56">
              <a:extLst>
                <a:ext uri="{FF2B5EF4-FFF2-40B4-BE49-F238E27FC236}">
                  <a16:creationId xmlns:a16="http://schemas.microsoft.com/office/drawing/2014/main" id="{161BFAA1-1FA1-6F49-A414-228404650380}"/>
                </a:ext>
              </a:extLst>
            </p:cNvPr>
            <p:cNvSpPr>
              <a:spLocks noChangeArrowheads="1"/>
            </p:cNvSpPr>
            <p:nvPr/>
          </p:nvSpPr>
          <p:spPr bwMode="auto">
            <a:xfrm>
              <a:off x="3398" y="2502"/>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③</a:t>
              </a:r>
              <a:endParaRPr lang="zh-CN" altLang="en-US">
                <a:solidFill>
                  <a:srgbClr val="CC0000"/>
                </a:solidFill>
                <a:ea typeface="宋体" panose="02010600030101010101" pitchFamily="2" charset="-122"/>
              </a:endParaRPr>
            </a:p>
          </p:txBody>
        </p:sp>
      </p:grpSp>
      <p:grpSp>
        <p:nvGrpSpPr>
          <p:cNvPr id="325694" name="Group 62">
            <a:extLst>
              <a:ext uri="{FF2B5EF4-FFF2-40B4-BE49-F238E27FC236}">
                <a16:creationId xmlns:a16="http://schemas.microsoft.com/office/drawing/2014/main" id="{D8E3B792-E7BD-BF4E-96C7-107CE1CA5759}"/>
              </a:ext>
            </a:extLst>
          </p:cNvPr>
          <p:cNvGrpSpPr>
            <a:grpSpLocks/>
          </p:cNvGrpSpPr>
          <p:nvPr/>
        </p:nvGrpSpPr>
        <p:grpSpPr bwMode="auto">
          <a:xfrm>
            <a:off x="4810125" y="3679825"/>
            <a:ext cx="1260475" cy="354013"/>
            <a:chOff x="2862" y="2342"/>
            <a:chExt cx="794" cy="223"/>
          </a:xfrm>
        </p:grpSpPr>
        <p:sp>
          <p:nvSpPr>
            <p:cNvPr id="137268" name="Rectangle 55">
              <a:extLst>
                <a:ext uri="{FF2B5EF4-FFF2-40B4-BE49-F238E27FC236}">
                  <a16:creationId xmlns:a16="http://schemas.microsoft.com/office/drawing/2014/main" id="{BF72E2CA-936C-1C45-9BAC-644D0FCE9823}"/>
                </a:ext>
              </a:extLst>
            </p:cNvPr>
            <p:cNvSpPr>
              <a:spLocks noChangeArrowheads="1"/>
            </p:cNvSpPr>
            <p:nvPr/>
          </p:nvSpPr>
          <p:spPr bwMode="auto">
            <a:xfrm>
              <a:off x="2862" y="2342"/>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②</a:t>
              </a:r>
              <a:endParaRPr lang="zh-CN" altLang="en-US">
                <a:solidFill>
                  <a:srgbClr val="CC0000"/>
                </a:solidFill>
                <a:ea typeface="宋体" panose="02010600030101010101" pitchFamily="2" charset="-122"/>
              </a:endParaRPr>
            </a:p>
          </p:txBody>
        </p:sp>
        <p:sp>
          <p:nvSpPr>
            <p:cNvPr id="137269" name="Text Box 57">
              <a:extLst>
                <a:ext uri="{FF2B5EF4-FFF2-40B4-BE49-F238E27FC236}">
                  <a16:creationId xmlns:a16="http://schemas.microsoft.com/office/drawing/2014/main" id="{BB33F394-FFA6-8D43-8DF4-A3C75F80C14D}"/>
                </a:ext>
              </a:extLst>
            </p:cNvPr>
            <p:cNvSpPr txBox="1">
              <a:spLocks noChangeArrowheads="1"/>
            </p:cNvSpPr>
            <p:nvPr/>
          </p:nvSpPr>
          <p:spPr bwMode="auto">
            <a:xfrm>
              <a:off x="3008" y="2344"/>
              <a:ext cx="648"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ea typeface="黑体" panose="02010609060101010101" pitchFamily="49" charset="-122"/>
                </a:rPr>
                <a:t>预测</a:t>
              </a:r>
            </a:p>
          </p:txBody>
        </p:sp>
      </p:grpSp>
      <p:sp>
        <p:nvSpPr>
          <p:cNvPr id="325690" name="Rectangle 58">
            <a:extLst>
              <a:ext uri="{FF2B5EF4-FFF2-40B4-BE49-F238E27FC236}">
                <a16:creationId xmlns:a16="http://schemas.microsoft.com/office/drawing/2014/main" id="{889A852C-C150-CA48-A1F3-0990AFE3A73C}"/>
              </a:ext>
            </a:extLst>
          </p:cNvPr>
          <p:cNvSpPr>
            <a:spLocks noChangeArrowheads="1"/>
          </p:cNvSpPr>
          <p:nvPr/>
        </p:nvSpPr>
        <p:spPr bwMode="auto">
          <a:xfrm>
            <a:off x="3946525" y="3679825"/>
            <a:ext cx="98583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④ </a:t>
            </a:r>
            <a:r>
              <a:rPr lang="zh-CN" altLang="en-US" sz="1700">
                <a:ea typeface="黑体" panose="02010609060101010101" pitchFamily="49" charset="-122"/>
              </a:rPr>
              <a:t>修正</a:t>
            </a:r>
          </a:p>
        </p:txBody>
      </p:sp>
      <p:sp>
        <p:nvSpPr>
          <p:cNvPr id="325691" name="Text Box 59">
            <a:extLst>
              <a:ext uri="{FF2B5EF4-FFF2-40B4-BE49-F238E27FC236}">
                <a16:creationId xmlns:a16="http://schemas.microsoft.com/office/drawing/2014/main" id="{BDE63D93-CB10-CD4E-9AB8-CD3CB947A290}"/>
              </a:ext>
            </a:extLst>
          </p:cNvPr>
          <p:cNvSpPr txBox="1">
            <a:spLocks noChangeArrowheads="1"/>
          </p:cNvSpPr>
          <p:nvPr/>
        </p:nvSpPr>
        <p:spPr bwMode="auto">
          <a:xfrm>
            <a:off x="203200" y="2654300"/>
            <a:ext cx="2197100" cy="110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solidFill>
                  <a:srgbClr val="CC0000"/>
                </a:solidFill>
                <a:latin typeface="Arial" panose="020B0604020202020204" pitchFamily="34" charset="0"/>
                <a:ea typeface="黑体" panose="02010609060101010101" pitchFamily="49" charset="-122"/>
              </a:rPr>
              <a:t>查找时发现都不相等，则“未命中”</a:t>
            </a:r>
          </a:p>
          <a:p>
            <a:pPr>
              <a:spcBef>
                <a:spcPct val="50000"/>
              </a:spcBef>
            </a:pPr>
            <a:r>
              <a:rPr lang="zh-CN" altLang="en-US" sz="1900">
                <a:solidFill>
                  <a:srgbClr val="CC0000"/>
                </a:solidFill>
                <a:latin typeface="Arial" panose="020B0604020202020204" pitchFamily="34" charset="0"/>
                <a:ea typeface="黑体" panose="02010609060101010101" pitchFamily="49" charset="-122"/>
              </a:rPr>
              <a:t>未命中说明什么？</a:t>
            </a:r>
          </a:p>
        </p:txBody>
      </p:sp>
      <p:sp>
        <p:nvSpPr>
          <p:cNvPr id="325692" name="Rectangle 60">
            <a:extLst>
              <a:ext uri="{FF2B5EF4-FFF2-40B4-BE49-F238E27FC236}">
                <a16:creationId xmlns:a16="http://schemas.microsoft.com/office/drawing/2014/main" id="{7A2A7DDA-9C45-D64A-BAFA-D1AE9ACFD39B}"/>
              </a:ext>
            </a:extLst>
          </p:cNvPr>
          <p:cNvSpPr>
            <a:spLocks noChangeArrowheads="1"/>
          </p:cNvSpPr>
          <p:nvPr/>
        </p:nvSpPr>
        <p:spPr bwMode="auto">
          <a:xfrm>
            <a:off x="309563" y="3908425"/>
            <a:ext cx="194945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solidFill>
                  <a:schemeClr val="tx2"/>
                </a:solidFill>
                <a:ea typeface="黑体" panose="02010609060101010101" pitchFamily="49" charset="-122"/>
              </a:rPr>
              <a:t>说明以前没有执行过该分支指令</a:t>
            </a:r>
          </a:p>
        </p:txBody>
      </p:sp>
      <p:sp>
        <p:nvSpPr>
          <p:cNvPr id="325696" name="Rectangle 64">
            <a:extLst>
              <a:ext uri="{FF2B5EF4-FFF2-40B4-BE49-F238E27FC236}">
                <a16:creationId xmlns:a16="http://schemas.microsoft.com/office/drawing/2014/main" id="{06DB56AA-7E7B-1B4F-B4C2-0B51ED78C983}"/>
              </a:ext>
            </a:extLst>
          </p:cNvPr>
          <p:cNvSpPr>
            <a:spLocks noChangeArrowheads="1"/>
          </p:cNvSpPr>
          <p:nvPr/>
        </p:nvSpPr>
        <p:spPr bwMode="auto">
          <a:xfrm>
            <a:off x="0" y="5145088"/>
            <a:ext cx="7454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lvl="1"/>
            <a:r>
              <a:rPr lang="zh-CN" altLang="en-US">
                <a:solidFill>
                  <a:srgbClr val="008000"/>
                </a:solidFill>
                <a:ea typeface="宋体" panose="02010600030101010101" pitchFamily="2" charset="-122"/>
              </a:rPr>
              <a:t> </a:t>
            </a:r>
            <a:r>
              <a:rPr lang="zh-CN" altLang="en-US" sz="1900">
                <a:solidFill>
                  <a:srgbClr val="CC0000"/>
                </a:solidFill>
                <a:latin typeface="Arial" panose="020B0604020202020204" pitchFamily="34" charset="0"/>
                <a:ea typeface="黑体" panose="02010609060101010101" pitchFamily="49" charset="-122"/>
              </a:rPr>
              <a:t>命中时：</a:t>
            </a:r>
          </a:p>
          <a:p>
            <a:pPr lvl="1"/>
            <a:r>
              <a:rPr lang="zh-CN" altLang="en-US" sz="1900">
                <a:solidFill>
                  <a:srgbClr val="008000"/>
                </a:solidFill>
                <a:latin typeface="Arial" panose="020B0604020202020204" pitchFamily="34" charset="0"/>
                <a:ea typeface="黑体" panose="02010609060101010101" pitchFamily="49" charset="-122"/>
              </a:rPr>
              <a:t>    </a:t>
            </a:r>
            <a:r>
              <a:rPr lang="zh-CN" altLang="en-US" sz="1900">
                <a:solidFill>
                  <a:schemeClr val="accent2"/>
                </a:solidFill>
                <a:latin typeface="Arial" panose="020B0604020202020204" pitchFamily="34" charset="0"/>
                <a:ea typeface="黑体" panose="02010609060101010101" pitchFamily="49" charset="-122"/>
              </a:rPr>
              <a:t>根据预测位，选择“转移取”还是“顺序取”</a:t>
            </a:r>
          </a:p>
          <a:p>
            <a:pPr lvl="1"/>
            <a:r>
              <a:rPr lang="zh-CN" altLang="en-US" sz="1900">
                <a:solidFill>
                  <a:srgbClr val="CC0000"/>
                </a:solidFill>
                <a:latin typeface="Arial" panose="020B0604020202020204" pitchFamily="34" charset="0"/>
                <a:ea typeface="黑体" panose="02010609060101010101" pitchFamily="49" charset="-122"/>
              </a:rPr>
              <a:t>未命中时：</a:t>
            </a:r>
          </a:p>
          <a:p>
            <a:pPr lvl="1"/>
            <a:r>
              <a:rPr lang="zh-CN" altLang="en-US" sz="1900">
                <a:solidFill>
                  <a:srgbClr val="008000"/>
                </a:solidFill>
                <a:latin typeface="Arial" panose="020B0604020202020204" pitchFamily="34" charset="0"/>
                <a:ea typeface="黑体" panose="02010609060101010101" pitchFamily="49" charset="-122"/>
              </a:rPr>
              <a:t>    </a:t>
            </a:r>
            <a:r>
              <a:rPr lang="zh-CN" altLang="en-US" sz="1900">
                <a:solidFill>
                  <a:schemeClr val="accent2"/>
                </a:solidFill>
                <a:latin typeface="Arial" panose="020B0604020202020204" pitchFamily="34" charset="0"/>
                <a:ea typeface="黑体" panose="02010609060101010101" pitchFamily="49" charset="-122"/>
              </a:rPr>
              <a:t>加入新项，并填入指令地址和转移目标地址、初始化预测位</a:t>
            </a:r>
          </a:p>
        </p:txBody>
      </p:sp>
      <p:sp>
        <p:nvSpPr>
          <p:cNvPr id="325700" name="Text Box 68">
            <a:extLst>
              <a:ext uri="{FF2B5EF4-FFF2-40B4-BE49-F238E27FC236}">
                <a16:creationId xmlns:a16="http://schemas.microsoft.com/office/drawing/2014/main" id="{35BF9178-4D04-D343-B4E4-AB464BA015C0}"/>
              </a:ext>
            </a:extLst>
          </p:cNvPr>
          <p:cNvSpPr txBox="1">
            <a:spLocks noChangeArrowheads="1"/>
          </p:cNvSpPr>
          <p:nvPr/>
        </p:nvSpPr>
        <p:spPr bwMode="auto">
          <a:xfrm>
            <a:off x="7081838" y="550863"/>
            <a:ext cx="184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2000">
                <a:solidFill>
                  <a:srgbClr val="CC0000"/>
                </a:solidFill>
                <a:ea typeface="宋体" panose="02010600030101010101" pitchFamily="2" charset="-122"/>
              </a:rPr>
              <a:t>最初</a:t>
            </a:r>
            <a:r>
              <a:rPr lang="en-US" altLang="zh-CN" sz="2000">
                <a:solidFill>
                  <a:srgbClr val="CC0000"/>
                </a:solidFill>
                <a:ea typeface="宋体" panose="02010600030101010101" pitchFamily="2" charset="-122"/>
              </a:rPr>
              <a:t>BHT</a:t>
            </a:r>
            <a:r>
              <a:rPr lang="zh-CN" altLang="en-US" sz="2000">
                <a:solidFill>
                  <a:srgbClr val="CC0000"/>
                </a:solidFill>
                <a:ea typeface="宋体" panose="02010600030101010101" pitchFamily="2" charset="-122"/>
              </a:rPr>
              <a:t>为空</a:t>
            </a:r>
          </a:p>
        </p:txBody>
      </p:sp>
      <p:sp>
        <p:nvSpPr>
          <p:cNvPr id="325701" name="Text Box 69">
            <a:extLst>
              <a:ext uri="{FF2B5EF4-FFF2-40B4-BE49-F238E27FC236}">
                <a16:creationId xmlns:a16="http://schemas.microsoft.com/office/drawing/2014/main" id="{E28D4AB6-ADAD-784A-BB00-741BC9EE07DE}"/>
              </a:ext>
            </a:extLst>
          </p:cNvPr>
          <p:cNvSpPr txBox="1">
            <a:spLocks noChangeArrowheads="1"/>
          </p:cNvSpPr>
          <p:nvPr/>
        </p:nvSpPr>
        <p:spPr bwMode="auto">
          <a:xfrm>
            <a:off x="7707313" y="6008688"/>
            <a:ext cx="1073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 action="ppaction://hlinkshowjump?jump=previousslide"/>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5700"/>
                                        </p:tgtEl>
                                        <p:attrNameLst>
                                          <p:attrName>style.visibility</p:attrName>
                                        </p:attrNameLst>
                                      </p:cBhvr>
                                      <p:to>
                                        <p:strVal val="visible"/>
                                      </p:to>
                                    </p:set>
                                    <p:animEffect transition="in" filter="blinds(horizontal)">
                                      <p:cBhvr>
                                        <p:cTn id="7" dur="500"/>
                                        <p:tgtEl>
                                          <p:spTgt spid="325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5693"/>
                                        </p:tgtEl>
                                        <p:attrNameLst>
                                          <p:attrName>style.visibility</p:attrName>
                                        </p:attrNameLst>
                                      </p:cBhvr>
                                      <p:to>
                                        <p:strVal val="visible"/>
                                      </p:to>
                                    </p:set>
                                    <p:animEffect transition="in" filter="blinds(horizontal)">
                                      <p:cBhvr>
                                        <p:cTn id="12" dur="500"/>
                                        <p:tgtEl>
                                          <p:spTgt spid="3256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5691">
                                            <p:txEl>
                                              <p:pRg st="0" end="0"/>
                                            </p:txEl>
                                          </p:spTgt>
                                        </p:tgtEl>
                                        <p:attrNameLst>
                                          <p:attrName>style.visibility</p:attrName>
                                        </p:attrNameLst>
                                      </p:cBhvr>
                                      <p:to>
                                        <p:strVal val="visible"/>
                                      </p:to>
                                    </p:set>
                                    <p:animEffect transition="in" filter="blinds(horizontal)">
                                      <p:cBhvr>
                                        <p:cTn id="17" dur="500"/>
                                        <p:tgtEl>
                                          <p:spTgt spid="32569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5691">
                                            <p:txEl>
                                              <p:pRg st="1" end="1"/>
                                            </p:txEl>
                                          </p:spTgt>
                                        </p:tgtEl>
                                        <p:attrNameLst>
                                          <p:attrName>style.visibility</p:attrName>
                                        </p:attrNameLst>
                                      </p:cBhvr>
                                      <p:to>
                                        <p:strVal val="visible"/>
                                      </p:to>
                                    </p:set>
                                    <p:animEffect transition="in" filter="blinds(horizontal)">
                                      <p:cBhvr>
                                        <p:cTn id="22" dur="500"/>
                                        <p:tgtEl>
                                          <p:spTgt spid="325691">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5692"/>
                                        </p:tgtEl>
                                        <p:attrNameLst>
                                          <p:attrName>style.visibility</p:attrName>
                                        </p:attrNameLst>
                                      </p:cBhvr>
                                      <p:to>
                                        <p:strVal val="visible"/>
                                      </p:to>
                                    </p:set>
                                    <p:animEffect transition="in" filter="blinds(horizontal)">
                                      <p:cBhvr>
                                        <p:cTn id="27" dur="500"/>
                                        <p:tgtEl>
                                          <p:spTgt spid="3256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5696"/>
                                        </p:tgtEl>
                                        <p:attrNameLst>
                                          <p:attrName>style.visibility</p:attrName>
                                        </p:attrNameLst>
                                      </p:cBhvr>
                                      <p:to>
                                        <p:strVal val="visible"/>
                                      </p:to>
                                    </p:set>
                                    <p:animEffect transition="in" filter="blinds(horizontal)">
                                      <p:cBhvr>
                                        <p:cTn id="32" dur="500"/>
                                        <p:tgtEl>
                                          <p:spTgt spid="3256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25694"/>
                                        </p:tgtEl>
                                        <p:attrNameLst>
                                          <p:attrName>style.visibility</p:attrName>
                                        </p:attrNameLst>
                                      </p:cBhvr>
                                      <p:to>
                                        <p:strVal val="visible"/>
                                      </p:to>
                                    </p:set>
                                    <p:animEffect transition="in" filter="blinds(horizontal)">
                                      <p:cBhvr>
                                        <p:cTn id="37" dur="500"/>
                                        <p:tgtEl>
                                          <p:spTgt spid="3256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25695"/>
                                        </p:tgtEl>
                                        <p:attrNameLst>
                                          <p:attrName>style.visibility</p:attrName>
                                        </p:attrNameLst>
                                      </p:cBhvr>
                                      <p:to>
                                        <p:strVal val="visible"/>
                                      </p:to>
                                    </p:set>
                                    <p:animEffect transition="in" filter="blinds(horizontal)">
                                      <p:cBhvr>
                                        <p:cTn id="42" dur="500"/>
                                        <p:tgtEl>
                                          <p:spTgt spid="3256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5690"/>
                                        </p:tgtEl>
                                        <p:attrNameLst>
                                          <p:attrName>style.visibility</p:attrName>
                                        </p:attrNameLst>
                                      </p:cBhvr>
                                      <p:to>
                                        <p:strVal val="visible"/>
                                      </p:to>
                                    </p:set>
                                    <p:animEffect transition="in" filter="blinds(horizontal)">
                                      <p:cBhvr>
                                        <p:cTn id="47" dur="500"/>
                                        <p:tgtEl>
                                          <p:spTgt spid="3256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5701"/>
                                        </p:tgtEl>
                                        <p:attrNameLst>
                                          <p:attrName>style.visibility</p:attrName>
                                        </p:attrNameLst>
                                      </p:cBhvr>
                                      <p:to>
                                        <p:strVal val="visible"/>
                                      </p:to>
                                    </p:set>
                                    <p:animEffect transition="in" filter="blinds(horizontal)">
                                      <p:cBhvr>
                                        <p:cTn id="52" dur="500"/>
                                        <p:tgtEl>
                                          <p:spTgt spid="325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90" grpId="0"/>
      <p:bldP spid="325691" grpId="0" build="allAtOnce"/>
      <p:bldP spid="325692" grpId="0"/>
      <p:bldP spid="325696" grpId="0"/>
      <p:bldP spid="325700" grpId="0"/>
      <p:bldP spid="32570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78E77D63-B2FA-7347-A466-A3A616FD8CC1}"/>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动态预测基本方法</a:t>
            </a:r>
          </a:p>
        </p:txBody>
      </p:sp>
      <p:sp>
        <p:nvSpPr>
          <p:cNvPr id="326659" name="Rectangle 3">
            <a:extLst>
              <a:ext uri="{FF2B5EF4-FFF2-40B4-BE49-F238E27FC236}">
                <a16:creationId xmlns:a16="http://schemas.microsoft.com/office/drawing/2014/main" id="{FA23D02A-32C1-3B49-A7D5-9E7B4094CF34}"/>
              </a:ext>
            </a:extLst>
          </p:cNvPr>
          <p:cNvSpPr>
            <a:spLocks noGrp="1" noChangeArrowheads="1"/>
          </p:cNvSpPr>
          <p:nvPr>
            <p:ph type="body" idx="1"/>
          </p:nvPr>
        </p:nvSpPr>
        <p:spPr>
          <a:xfrm>
            <a:off x="296863" y="677863"/>
            <a:ext cx="8540750" cy="5211762"/>
          </a:xfrm>
        </p:spPr>
        <p:txBody>
          <a:bodyPr/>
          <a:lstStyle/>
          <a:p>
            <a:pPr>
              <a:lnSpc>
                <a:spcPct val="120000"/>
              </a:lnSpc>
              <a:spcBef>
                <a:spcPct val="10000"/>
              </a:spcBef>
            </a:pPr>
            <a:r>
              <a:rPr lang="zh-CN" altLang="en-US" sz="1900">
                <a:ea typeface="黑体" panose="02010609060101010101" pitchFamily="49" charset="-122"/>
              </a:rPr>
              <a:t>采用一位预测位：总是按上次实际发生的情况来预测下次</a:t>
            </a:r>
            <a:endParaRPr lang="en-US" altLang="zh-CN" sz="1900">
              <a:ea typeface="黑体" panose="02010609060101010101" pitchFamily="49" charset="-122"/>
            </a:endParaRPr>
          </a:p>
          <a:p>
            <a:pPr lvl="1">
              <a:lnSpc>
                <a:spcPct val="120000"/>
              </a:lnSpc>
              <a:spcBef>
                <a:spcPct val="10000"/>
              </a:spcBef>
            </a:pPr>
            <a:r>
              <a:rPr lang="en-US" altLang="zh-CN" sz="1900">
                <a:ea typeface="黑体" panose="02010609060101010101" pitchFamily="49" charset="-122"/>
              </a:rPr>
              <a:t>1</a:t>
            </a:r>
            <a:r>
              <a:rPr lang="zh-CN" altLang="en-US" sz="1900">
                <a:ea typeface="黑体" panose="02010609060101010101" pitchFamily="49" charset="-122"/>
              </a:rPr>
              <a:t>表示最近一次发生过转移（</a:t>
            </a:r>
            <a:r>
              <a:rPr lang="en-US" altLang="zh-CN" sz="1900">
                <a:ea typeface="黑体" panose="02010609060101010101" pitchFamily="49" charset="-122"/>
              </a:rPr>
              <a:t>taken</a:t>
            </a:r>
            <a:r>
              <a:rPr lang="zh-CN" altLang="en-US" sz="1900">
                <a:ea typeface="黑体" panose="02010609060101010101" pitchFamily="49" charset="-122"/>
              </a:rPr>
              <a:t>），</a:t>
            </a:r>
            <a:r>
              <a:rPr lang="en-US" altLang="zh-CN" sz="1900">
                <a:ea typeface="黑体" panose="02010609060101010101" pitchFamily="49" charset="-122"/>
              </a:rPr>
              <a:t>0</a:t>
            </a:r>
            <a:r>
              <a:rPr lang="zh-CN" altLang="en-US" sz="1900">
                <a:ea typeface="黑体" panose="02010609060101010101" pitchFamily="49" charset="-122"/>
              </a:rPr>
              <a:t>表示未发生（</a:t>
            </a:r>
            <a:r>
              <a:rPr lang="en-US" altLang="zh-CN" sz="1900">
                <a:ea typeface="黑体" panose="02010609060101010101" pitchFamily="49" charset="-122"/>
              </a:rPr>
              <a:t>not taken</a:t>
            </a:r>
            <a:r>
              <a:rPr lang="zh-CN" altLang="en-US" sz="1900">
                <a:ea typeface="黑体" panose="02010609060101010101" pitchFamily="49" charset="-122"/>
              </a:rPr>
              <a:t>）</a:t>
            </a:r>
          </a:p>
          <a:p>
            <a:pPr lvl="1">
              <a:lnSpc>
                <a:spcPct val="120000"/>
              </a:lnSpc>
              <a:spcBef>
                <a:spcPct val="10000"/>
              </a:spcBef>
            </a:pPr>
            <a:r>
              <a:rPr lang="zh-CN" altLang="en-US" sz="1900">
                <a:ea typeface="黑体" panose="02010609060101010101" pitchFamily="49" charset="-122"/>
              </a:rPr>
              <a:t>预测时，若为</a:t>
            </a:r>
            <a:r>
              <a:rPr lang="en-US" altLang="zh-CN" sz="1900">
                <a:ea typeface="黑体" panose="02010609060101010101" pitchFamily="49" charset="-122"/>
              </a:rPr>
              <a:t>1</a:t>
            </a:r>
            <a:r>
              <a:rPr lang="zh-CN" altLang="en-US" sz="1900">
                <a:ea typeface="黑体" panose="02010609060101010101" pitchFamily="49" charset="-122"/>
              </a:rPr>
              <a:t>，则预测下次</a:t>
            </a:r>
            <a:r>
              <a:rPr lang="en-US" altLang="zh-CN" sz="1900">
                <a:ea typeface="黑体" panose="02010609060101010101" pitchFamily="49" charset="-122"/>
              </a:rPr>
              <a:t>taken</a:t>
            </a:r>
            <a:r>
              <a:rPr lang="zh-CN" altLang="en-US" sz="1900">
                <a:ea typeface="黑体" panose="02010609060101010101" pitchFamily="49" charset="-122"/>
              </a:rPr>
              <a:t>，若为</a:t>
            </a:r>
            <a:r>
              <a:rPr lang="en-US" altLang="zh-CN" sz="1900">
                <a:ea typeface="黑体" panose="02010609060101010101" pitchFamily="49" charset="-122"/>
              </a:rPr>
              <a:t>0</a:t>
            </a:r>
            <a:r>
              <a:rPr lang="zh-CN" altLang="en-US" sz="1900">
                <a:ea typeface="黑体" panose="02010609060101010101" pitchFamily="49" charset="-122"/>
              </a:rPr>
              <a:t>，则预测下次</a:t>
            </a:r>
            <a:r>
              <a:rPr lang="en-US" altLang="zh-CN" sz="1900">
                <a:ea typeface="黑体" panose="02010609060101010101" pitchFamily="49" charset="-122"/>
              </a:rPr>
              <a:t>not taken</a:t>
            </a:r>
          </a:p>
          <a:p>
            <a:pPr lvl="1">
              <a:lnSpc>
                <a:spcPct val="120000"/>
              </a:lnSpc>
              <a:spcBef>
                <a:spcPct val="10000"/>
              </a:spcBef>
            </a:pPr>
            <a:r>
              <a:rPr lang="zh-CN" altLang="en-US" sz="1900">
                <a:ea typeface="黑体" panose="02010609060101010101" pitchFamily="49" charset="-122"/>
              </a:rPr>
              <a:t>实际执行时，若预测错，则该位取反，否则，该位不变</a:t>
            </a:r>
          </a:p>
          <a:p>
            <a:pPr lvl="1">
              <a:lnSpc>
                <a:spcPct val="120000"/>
              </a:lnSpc>
              <a:spcBef>
                <a:spcPct val="10000"/>
              </a:spcBef>
            </a:pPr>
            <a:r>
              <a:rPr lang="zh-CN" altLang="en-US" sz="1900">
                <a:ea typeface="黑体" panose="02010609060101010101" pitchFamily="49" charset="-122"/>
              </a:rPr>
              <a:t>可用一个简单的</a:t>
            </a:r>
            <a:r>
              <a:rPr lang="zh-CN" altLang="en-US" sz="1900">
                <a:ea typeface="黑体" panose="02010609060101010101" pitchFamily="49" charset="-122"/>
                <a:hlinkClick r:id="rId2" action="ppaction://hlinksldjump"/>
              </a:rPr>
              <a:t>预测状态图</a:t>
            </a:r>
            <a:r>
              <a:rPr lang="zh-CN" altLang="en-US" sz="1900">
                <a:ea typeface="黑体" panose="02010609060101010101" pitchFamily="49" charset="-122"/>
              </a:rPr>
              <a:t>表示</a:t>
            </a:r>
          </a:p>
          <a:p>
            <a:pPr lvl="1">
              <a:lnSpc>
                <a:spcPct val="120000"/>
              </a:lnSpc>
              <a:spcBef>
                <a:spcPct val="10000"/>
              </a:spcBef>
            </a:pPr>
            <a:r>
              <a:rPr lang="zh-CN" altLang="en-US" sz="1900">
                <a:ea typeface="黑体" panose="02010609060101010101" pitchFamily="49" charset="-122"/>
              </a:rPr>
              <a:t>缺点：当连续两次的分支情况发生改变时，预测错误</a:t>
            </a:r>
          </a:p>
          <a:p>
            <a:pPr lvl="2">
              <a:lnSpc>
                <a:spcPct val="120000"/>
              </a:lnSpc>
              <a:spcBef>
                <a:spcPct val="10000"/>
              </a:spcBef>
            </a:pPr>
            <a:r>
              <a:rPr lang="zh-CN" altLang="en-US" sz="1900">
                <a:solidFill>
                  <a:srgbClr val="CC3300"/>
                </a:solidFill>
                <a:ea typeface="黑体" panose="02010609060101010101" pitchFamily="49" charset="-122"/>
              </a:rPr>
              <a:t>例如，循环迭代分支时，第一次和最后一次会发生预测错误，因为循环的第一次和最后一次都会改变分支情况，而在循环中间的各次总是会发生分支，按上次的实际情况预测时，都不会错。</a:t>
            </a:r>
            <a:endParaRPr lang="zh-CN" altLang="en-US" sz="1900">
              <a:solidFill>
                <a:srgbClr val="3399FF"/>
              </a:solidFill>
              <a:ea typeface="黑体" panose="02010609060101010101" pitchFamily="49" charset="-122"/>
            </a:endParaRPr>
          </a:p>
          <a:p>
            <a:pPr>
              <a:lnSpc>
                <a:spcPct val="120000"/>
              </a:lnSpc>
              <a:spcBef>
                <a:spcPct val="10000"/>
              </a:spcBef>
            </a:pPr>
            <a:r>
              <a:rPr lang="zh-CN" altLang="en-US" sz="1900">
                <a:ea typeface="黑体" panose="02010609060101010101" pitchFamily="49" charset="-122"/>
              </a:rPr>
              <a:t>采用二位预测位</a:t>
            </a:r>
          </a:p>
          <a:p>
            <a:pPr lvl="1">
              <a:lnSpc>
                <a:spcPct val="120000"/>
              </a:lnSpc>
              <a:spcBef>
                <a:spcPct val="10000"/>
              </a:spcBef>
            </a:pPr>
            <a:r>
              <a:rPr lang="zh-CN" altLang="en-US" sz="1900">
                <a:ea typeface="黑体" panose="02010609060101010101" pitchFamily="49" charset="-122"/>
              </a:rPr>
              <a:t>用</a:t>
            </a:r>
            <a:r>
              <a:rPr lang="en-US" altLang="zh-CN" sz="1900">
                <a:ea typeface="黑体" panose="02010609060101010101" pitchFamily="49" charset="-122"/>
              </a:rPr>
              <a:t>2</a:t>
            </a:r>
            <a:r>
              <a:rPr lang="zh-CN" altLang="en-US" sz="1900">
                <a:ea typeface="黑体" panose="02010609060101010101" pitchFamily="49" charset="-122"/>
              </a:rPr>
              <a:t>位组合四种情况来表示预测和实际转移情况</a:t>
            </a:r>
          </a:p>
          <a:p>
            <a:pPr lvl="1">
              <a:lnSpc>
                <a:spcPct val="120000"/>
              </a:lnSpc>
              <a:spcBef>
                <a:spcPct val="10000"/>
              </a:spcBef>
            </a:pPr>
            <a:r>
              <a:rPr lang="zh-CN" altLang="en-US" sz="1900">
                <a:ea typeface="黑体" panose="02010609060101010101" pitchFamily="49" charset="-122"/>
              </a:rPr>
              <a:t>按照</a:t>
            </a:r>
            <a:r>
              <a:rPr lang="zh-CN" altLang="en-US" sz="1900">
                <a:ea typeface="黑体" panose="02010609060101010101" pitchFamily="49" charset="-122"/>
                <a:hlinkClick r:id="rId3" action="ppaction://hlinksldjump"/>
              </a:rPr>
              <a:t>预测状态图</a:t>
            </a:r>
            <a:r>
              <a:rPr lang="zh-CN" altLang="en-US" sz="1900">
                <a:ea typeface="黑体" panose="02010609060101010101" pitchFamily="49" charset="-122"/>
              </a:rPr>
              <a:t>进行预测和调整</a:t>
            </a:r>
          </a:p>
          <a:p>
            <a:pPr lvl="1">
              <a:lnSpc>
                <a:spcPct val="120000"/>
              </a:lnSpc>
              <a:spcBef>
                <a:spcPct val="10000"/>
              </a:spcBef>
            </a:pPr>
            <a:r>
              <a:rPr lang="zh-CN" altLang="en-US" sz="1900">
                <a:ea typeface="黑体" panose="02010609060101010101" pitchFamily="49" charset="-122"/>
              </a:rPr>
              <a:t>在连续两次分支发生不同时，只会有一次预测错误</a:t>
            </a:r>
            <a:endParaRPr lang="en-US" altLang="zh-CN" sz="1900">
              <a:ea typeface="黑体" panose="02010609060101010101" pitchFamily="49" charset="-122"/>
            </a:endParaRPr>
          </a:p>
          <a:p>
            <a:endParaRPr lang="zh-CN" altLang="en-US" sz="1900">
              <a:solidFill>
                <a:schemeClr val="accent2"/>
              </a:solidFill>
              <a:ea typeface="黑体" panose="02010609060101010101" pitchFamily="49" charset="-122"/>
            </a:endParaRPr>
          </a:p>
        </p:txBody>
      </p:sp>
      <p:sp>
        <p:nvSpPr>
          <p:cNvPr id="326660" name="Text Box 4">
            <a:extLst>
              <a:ext uri="{FF2B5EF4-FFF2-40B4-BE49-F238E27FC236}">
                <a16:creationId xmlns:a16="http://schemas.microsoft.com/office/drawing/2014/main" id="{14E8F12B-F966-974B-81DA-184C0208A385}"/>
              </a:ext>
            </a:extLst>
          </p:cNvPr>
          <p:cNvSpPr txBox="1">
            <a:spLocks noChangeArrowheads="1"/>
          </p:cNvSpPr>
          <p:nvPr/>
        </p:nvSpPr>
        <p:spPr bwMode="auto">
          <a:xfrm>
            <a:off x="660400" y="5705475"/>
            <a:ext cx="6459538"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05000"/>
              </a:lnSpc>
              <a:spcBef>
                <a:spcPct val="50000"/>
              </a:spcBef>
            </a:pPr>
            <a:r>
              <a:rPr lang="zh-CN" altLang="en-US" sz="2000">
                <a:solidFill>
                  <a:srgbClr val="CC0000"/>
                </a:solidFill>
                <a:latin typeface="Arial" panose="020B0604020202020204" pitchFamily="34" charset="0"/>
                <a:ea typeface="黑体" panose="02010609060101010101" pitchFamily="49" charset="-122"/>
              </a:rPr>
              <a:t>采用较多的是二位或二位以上预测位。如：</a:t>
            </a:r>
            <a:r>
              <a:rPr lang="en-US" altLang="zh-CN" sz="2000">
                <a:solidFill>
                  <a:srgbClr val="CC0000"/>
                </a:solidFill>
                <a:latin typeface="Arial" panose="020B0604020202020204" pitchFamily="34" charset="0"/>
                <a:ea typeface="黑体" panose="02010609060101010101" pitchFamily="49" charset="-122"/>
              </a:rPr>
              <a:t>Pentium 4 </a:t>
            </a:r>
            <a:r>
              <a:rPr lang="zh-CN" altLang="en-US" sz="2000">
                <a:solidFill>
                  <a:srgbClr val="CC0000"/>
                </a:solidFill>
                <a:latin typeface="Arial" panose="020B0604020202020204" pitchFamily="34" charset="0"/>
                <a:ea typeface="黑体" panose="02010609060101010101" pitchFamily="49" charset="-122"/>
              </a:rPr>
              <a:t>的</a:t>
            </a:r>
            <a:r>
              <a:rPr lang="en-US" altLang="zh-CN" sz="2000">
                <a:solidFill>
                  <a:srgbClr val="CC0000"/>
                </a:solidFill>
                <a:latin typeface="Arial" panose="020B0604020202020204" pitchFamily="34" charset="0"/>
                <a:ea typeface="黑体" panose="02010609060101010101" pitchFamily="49" charset="-122"/>
              </a:rPr>
              <a:t>BTB2</a:t>
            </a:r>
            <a:r>
              <a:rPr lang="zh-CN" altLang="en-US" sz="2000">
                <a:solidFill>
                  <a:srgbClr val="CC0000"/>
                </a:solidFill>
                <a:latin typeface="Arial" panose="020B0604020202020204" pitchFamily="34" charset="0"/>
                <a:ea typeface="黑体" panose="02010609060101010101" pitchFamily="49" charset="-122"/>
              </a:rPr>
              <a:t>采用</a:t>
            </a:r>
            <a:r>
              <a:rPr lang="en-US" altLang="zh-CN" sz="2000">
                <a:solidFill>
                  <a:srgbClr val="CC0000"/>
                </a:solidFill>
                <a:latin typeface="Arial" panose="020B0604020202020204" pitchFamily="34" charset="0"/>
                <a:ea typeface="黑体" panose="02010609060101010101" pitchFamily="49" charset="-122"/>
              </a:rPr>
              <a:t>4</a:t>
            </a:r>
            <a:r>
              <a:rPr lang="zh-CN" altLang="en-US" sz="2000">
                <a:solidFill>
                  <a:srgbClr val="CC0000"/>
                </a:solidFill>
                <a:latin typeface="Arial" panose="020B0604020202020204" pitchFamily="34" charset="0"/>
                <a:ea typeface="黑体" panose="02010609060101010101" pitchFamily="49" charset="-122"/>
              </a:rPr>
              <a:t>位预测位</a:t>
            </a:r>
          </a:p>
        </p:txBody>
      </p:sp>
      <p:sp>
        <p:nvSpPr>
          <p:cNvPr id="326661" name="Text Box 5">
            <a:extLst>
              <a:ext uri="{FF2B5EF4-FFF2-40B4-BE49-F238E27FC236}">
                <a16:creationId xmlns:a16="http://schemas.microsoft.com/office/drawing/2014/main" id="{3BE3528C-36EC-4145-8FAE-FAF65DDA54E9}"/>
              </a:ext>
            </a:extLst>
          </p:cNvPr>
          <p:cNvSpPr txBox="1">
            <a:spLocks noChangeArrowheads="1"/>
          </p:cNvSpPr>
          <p:nvPr/>
        </p:nvSpPr>
        <p:spPr bwMode="auto">
          <a:xfrm>
            <a:off x="7688263" y="6129338"/>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4" action="ppaction://hlinksldjump"/>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6659">
                                            <p:txEl>
                                              <p:pRg st="1" end="1"/>
                                            </p:txEl>
                                          </p:spTgt>
                                        </p:tgtEl>
                                        <p:attrNameLst>
                                          <p:attrName>style.visibility</p:attrName>
                                        </p:attrNameLst>
                                      </p:cBhvr>
                                      <p:to>
                                        <p:strVal val="visible"/>
                                      </p:to>
                                    </p:set>
                                    <p:animEffect transition="in" filter="blinds(horizontal)">
                                      <p:cBhvr>
                                        <p:cTn id="7" dur="500"/>
                                        <p:tgtEl>
                                          <p:spTgt spid="3266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6659">
                                            <p:txEl>
                                              <p:pRg st="2" end="2"/>
                                            </p:txEl>
                                          </p:spTgt>
                                        </p:tgtEl>
                                        <p:attrNameLst>
                                          <p:attrName>style.visibility</p:attrName>
                                        </p:attrNameLst>
                                      </p:cBhvr>
                                      <p:to>
                                        <p:strVal val="visible"/>
                                      </p:to>
                                    </p:set>
                                    <p:animEffect transition="in" filter="blinds(horizontal)">
                                      <p:cBhvr>
                                        <p:cTn id="12" dur="500"/>
                                        <p:tgtEl>
                                          <p:spTgt spid="3266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6659">
                                            <p:txEl>
                                              <p:pRg st="3" end="3"/>
                                            </p:txEl>
                                          </p:spTgt>
                                        </p:tgtEl>
                                        <p:attrNameLst>
                                          <p:attrName>style.visibility</p:attrName>
                                        </p:attrNameLst>
                                      </p:cBhvr>
                                      <p:to>
                                        <p:strVal val="visible"/>
                                      </p:to>
                                    </p:set>
                                    <p:animEffect transition="in" filter="blinds(horizontal)">
                                      <p:cBhvr>
                                        <p:cTn id="17" dur="500"/>
                                        <p:tgtEl>
                                          <p:spTgt spid="32665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6659">
                                            <p:txEl>
                                              <p:pRg st="4" end="4"/>
                                            </p:txEl>
                                          </p:spTgt>
                                        </p:tgtEl>
                                        <p:attrNameLst>
                                          <p:attrName>style.visibility</p:attrName>
                                        </p:attrNameLst>
                                      </p:cBhvr>
                                      <p:to>
                                        <p:strVal val="visible"/>
                                      </p:to>
                                    </p:set>
                                    <p:animEffect transition="in" filter="blinds(horizontal)">
                                      <p:cBhvr>
                                        <p:cTn id="22" dur="500"/>
                                        <p:tgtEl>
                                          <p:spTgt spid="32665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6659">
                                            <p:txEl>
                                              <p:pRg st="5" end="5"/>
                                            </p:txEl>
                                          </p:spTgt>
                                        </p:tgtEl>
                                        <p:attrNameLst>
                                          <p:attrName>style.visibility</p:attrName>
                                        </p:attrNameLst>
                                      </p:cBhvr>
                                      <p:to>
                                        <p:strVal val="visible"/>
                                      </p:to>
                                    </p:set>
                                    <p:animEffect transition="in" filter="blinds(horizontal)">
                                      <p:cBhvr>
                                        <p:cTn id="27" dur="500"/>
                                        <p:tgtEl>
                                          <p:spTgt spid="32665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26659">
                                            <p:txEl>
                                              <p:pRg st="6" end="6"/>
                                            </p:txEl>
                                          </p:spTgt>
                                        </p:tgtEl>
                                        <p:attrNameLst>
                                          <p:attrName>style.visibility</p:attrName>
                                        </p:attrNameLst>
                                      </p:cBhvr>
                                      <p:to>
                                        <p:strVal val="visible"/>
                                      </p:to>
                                    </p:set>
                                    <p:animEffect transition="in" filter="blinds(horizontal)">
                                      <p:cBhvr>
                                        <p:cTn id="32" dur="500"/>
                                        <p:tgtEl>
                                          <p:spTgt spid="32665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26659">
                                            <p:txEl>
                                              <p:pRg st="8" end="8"/>
                                            </p:txEl>
                                          </p:spTgt>
                                        </p:tgtEl>
                                        <p:attrNameLst>
                                          <p:attrName>style.visibility</p:attrName>
                                        </p:attrNameLst>
                                      </p:cBhvr>
                                      <p:to>
                                        <p:strVal val="visible"/>
                                      </p:to>
                                    </p:set>
                                    <p:animEffect transition="in" filter="blinds(horizontal)">
                                      <p:cBhvr>
                                        <p:cTn id="37" dur="500"/>
                                        <p:tgtEl>
                                          <p:spTgt spid="32665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26659">
                                            <p:txEl>
                                              <p:pRg st="9" end="9"/>
                                            </p:txEl>
                                          </p:spTgt>
                                        </p:tgtEl>
                                        <p:attrNameLst>
                                          <p:attrName>style.visibility</p:attrName>
                                        </p:attrNameLst>
                                      </p:cBhvr>
                                      <p:to>
                                        <p:strVal val="visible"/>
                                      </p:to>
                                    </p:set>
                                    <p:animEffect transition="in" filter="blinds(horizontal)">
                                      <p:cBhvr>
                                        <p:cTn id="42" dur="500"/>
                                        <p:tgtEl>
                                          <p:spTgt spid="326659">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26659">
                                            <p:txEl>
                                              <p:pRg st="10" end="10"/>
                                            </p:txEl>
                                          </p:spTgt>
                                        </p:tgtEl>
                                        <p:attrNameLst>
                                          <p:attrName>style.visibility</p:attrName>
                                        </p:attrNameLst>
                                      </p:cBhvr>
                                      <p:to>
                                        <p:strVal val="visible"/>
                                      </p:to>
                                    </p:set>
                                    <p:animEffect transition="in" filter="blinds(horizontal)">
                                      <p:cBhvr>
                                        <p:cTn id="47" dur="500"/>
                                        <p:tgtEl>
                                          <p:spTgt spid="326659">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6660"/>
                                        </p:tgtEl>
                                        <p:attrNameLst>
                                          <p:attrName>style.visibility</p:attrName>
                                        </p:attrNameLst>
                                      </p:cBhvr>
                                      <p:to>
                                        <p:strVal val="visible"/>
                                      </p:to>
                                    </p:set>
                                    <p:animEffect transition="in" filter="blinds(horizontal)">
                                      <p:cBhvr>
                                        <p:cTn id="52" dur="500"/>
                                        <p:tgtEl>
                                          <p:spTgt spid="3266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26661"/>
                                        </p:tgtEl>
                                        <p:attrNameLst>
                                          <p:attrName>style.visibility</p:attrName>
                                        </p:attrNameLst>
                                      </p:cBhvr>
                                      <p:to>
                                        <p:strVal val="visible"/>
                                      </p:to>
                                    </p:set>
                                    <p:animEffect transition="in" filter="blinds(horizontal)">
                                      <p:cBhvr>
                                        <p:cTn id="57" dur="500"/>
                                        <p:tgtEl>
                                          <p:spTgt spid="326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0" grpId="0"/>
      <p:bldP spid="32666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33F01CE1-AC62-864F-B431-37CB3DE0D840}"/>
              </a:ext>
            </a:extLst>
          </p:cNvPr>
          <p:cNvSpPr>
            <a:spLocks noGrp="1" noChangeArrowheads="1"/>
          </p:cNvSpPr>
          <p:nvPr>
            <p:ph type="title"/>
          </p:nvPr>
        </p:nvSpPr>
        <p:spPr>
          <a:xfrm>
            <a:off x="774700" y="203200"/>
            <a:ext cx="6862763" cy="368300"/>
          </a:xfrm>
        </p:spPr>
        <p:txBody>
          <a:bodyPr/>
          <a:lstStyle/>
          <a:p>
            <a:r>
              <a:rPr lang="zh-CN" altLang="en-US">
                <a:ea typeface="宋体" panose="02010600030101010101" pitchFamily="2" charset="-122"/>
              </a:rPr>
              <a:t>一位预测状态图</a:t>
            </a:r>
          </a:p>
        </p:txBody>
      </p:sp>
      <p:sp>
        <p:nvSpPr>
          <p:cNvPr id="328707" name="Rectangle 3">
            <a:extLst>
              <a:ext uri="{FF2B5EF4-FFF2-40B4-BE49-F238E27FC236}">
                <a16:creationId xmlns:a16="http://schemas.microsoft.com/office/drawing/2014/main" id="{FBD498DF-8801-BC49-B4EA-4C05DC777BC5}"/>
              </a:ext>
            </a:extLst>
          </p:cNvPr>
          <p:cNvSpPr>
            <a:spLocks noGrp="1" noChangeArrowheads="1"/>
          </p:cNvSpPr>
          <p:nvPr>
            <p:ph type="body" idx="1"/>
          </p:nvPr>
        </p:nvSpPr>
        <p:spPr>
          <a:xfrm>
            <a:off x="50800" y="2697163"/>
            <a:ext cx="4902200" cy="3455987"/>
          </a:xfrm>
        </p:spPr>
        <p:txBody>
          <a:bodyPr/>
          <a:lstStyle/>
          <a:p>
            <a:pPr>
              <a:lnSpc>
                <a:spcPct val="110000"/>
              </a:lnSpc>
              <a:spcBef>
                <a:spcPct val="20000"/>
              </a:spcBef>
            </a:pPr>
            <a:r>
              <a:rPr lang="zh-CN" altLang="en-US">
                <a:latin typeface="Times New Roman" panose="02020603050405020304" pitchFamily="18" charset="0"/>
                <a:ea typeface="黑体" panose="02010609060101010101" pitchFamily="49" charset="-122"/>
              </a:rPr>
              <a:t>指令预取时，按照预测位读取相应分支的指令</a:t>
            </a:r>
          </a:p>
          <a:p>
            <a:pPr lvl="1">
              <a:lnSpc>
                <a:spcPct val="110000"/>
              </a:lnSpc>
              <a:spcBef>
                <a:spcPct val="20000"/>
              </a:spcBef>
            </a:pPr>
            <a:r>
              <a:rPr lang="zh-CN" altLang="en-US">
                <a:solidFill>
                  <a:srgbClr val="008000"/>
                </a:solidFill>
                <a:ea typeface="黑体" panose="02010609060101010101" pitchFamily="49" charset="-122"/>
              </a:rPr>
              <a:t>预测发生时，选择“转移取”</a:t>
            </a:r>
          </a:p>
          <a:p>
            <a:pPr lvl="1">
              <a:lnSpc>
                <a:spcPct val="110000"/>
              </a:lnSpc>
              <a:spcBef>
                <a:spcPct val="20000"/>
              </a:spcBef>
            </a:pPr>
            <a:r>
              <a:rPr lang="zh-CN" altLang="en-US">
                <a:solidFill>
                  <a:srgbClr val="008000"/>
                </a:solidFill>
                <a:ea typeface="黑体" panose="02010609060101010101" pitchFamily="49" charset="-122"/>
              </a:rPr>
              <a:t>预测不发生时，选择“顺序取”</a:t>
            </a:r>
          </a:p>
          <a:p>
            <a:pPr>
              <a:lnSpc>
                <a:spcPct val="110000"/>
              </a:lnSpc>
              <a:spcBef>
                <a:spcPct val="20000"/>
              </a:spcBef>
            </a:pPr>
            <a:r>
              <a:rPr lang="zh-CN" altLang="en-US">
                <a:latin typeface="Times New Roman" panose="02020603050405020304" pitchFamily="18" charset="0"/>
                <a:ea typeface="黑体" panose="02010609060101010101" pitchFamily="49" charset="-122"/>
              </a:rPr>
              <a:t>指令执行时，按实际执行结果修改预测位</a:t>
            </a:r>
          </a:p>
          <a:p>
            <a:pPr lvl="1">
              <a:lnSpc>
                <a:spcPct val="110000"/>
              </a:lnSpc>
              <a:spcBef>
                <a:spcPct val="20000"/>
              </a:spcBef>
            </a:pPr>
            <a:r>
              <a:rPr lang="zh-CN" altLang="en-US">
                <a:solidFill>
                  <a:srgbClr val="008000"/>
                </a:solidFill>
                <a:ea typeface="黑体" panose="02010609060101010101" pitchFamily="49" charset="-122"/>
              </a:rPr>
              <a:t>对照状态转换图来进行修改</a:t>
            </a:r>
          </a:p>
          <a:p>
            <a:pPr lvl="1">
              <a:lnSpc>
                <a:spcPct val="110000"/>
              </a:lnSpc>
              <a:spcBef>
                <a:spcPct val="20000"/>
              </a:spcBef>
            </a:pPr>
            <a:r>
              <a:rPr lang="zh-CN" altLang="en-US">
                <a:solidFill>
                  <a:srgbClr val="008000"/>
                </a:solidFill>
                <a:ea typeface="黑体" panose="02010609060101010101" pitchFamily="49" charset="-122"/>
              </a:rPr>
              <a:t>例如：对于一个循环分支</a:t>
            </a:r>
          </a:p>
          <a:p>
            <a:pPr lvl="1">
              <a:lnSpc>
                <a:spcPct val="110000"/>
              </a:lnSpc>
              <a:spcBef>
                <a:spcPct val="20000"/>
              </a:spcBef>
              <a:buFont typeface="Arial" panose="020B0604020202020204" pitchFamily="34" charset="0"/>
              <a:buChar char="–"/>
            </a:pPr>
            <a:r>
              <a:rPr lang="zh-CN" altLang="en-US">
                <a:latin typeface="Times New Roman" panose="02020603050405020304" pitchFamily="18" charset="0"/>
                <a:ea typeface="黑体" panose="02010609060101010101" pitchFamily="49" charset="-122"/>
              </a:rPr>
              <a:t>若初始状态为</a:t>
            </a:r>
            <a:r>
              <a:rPr lang="en-US" altLang="zh-CN">
                <a:latin typeface="Times New Roman" panose="02020603050405020304" pitchFamily="18" charset="0"/>
                <a:ea typeface="黑体" panose="02010609060101010101" pitchFamily="49" charset="-122"/>
              </a:rPr>
              <a:t>0(</a:t>
            </a:r>
            <a:r>
              <a:rPr lang="zh-CN" altLang="en-US">
                <a:latin typeface="Times New Roman" panose="02020603050405020304" pitchFamily="18" charset="0"/>
                <a:ea typeface="黑体" panose="02010609060101010101" pitchFamily="49" charset="-122"/>
              </a:rPr>
              <a:t>再次循环时为</a:t>
            </a:r>
            <a:r>
              <a:rPr lang="en-US" altLang="zh-CN">
                <a:latin typeface="Times New Roman" panose="02020603050405020304" pitchFamily="18" charset="0"/>
                <a:ea typeface="黑体" panose="02010609060101010101" pitchFamily="49" charset="-122"/>
              </a:rPr>
              <a:t>0)</a:t>
            </a:r>
            <a:r>
              <a:rPr lang="zh-CN" altLang="en-US">
                <a:latin typeface="Times New Roman" panose="02020603050405020304" pitchFamily="18" charset="0"/>
                <a:ea typeface="黑体" panose="02010609060101010101" pitchFamily="49" charset="-122"/>
              </a:rPr>
              <a:t>，则第一次和最后一次都错</a:t>
            </a:r>
          </a:p>
          <a:p>
            <a:pPr lvl="1">
              <a:lnSpc>
                <a:spcPct val="110000"/>
              </a:lnSpc>
              <a:spcBef>
                <a:spcPct val="20000"/>
              </a:spcBef>
              <a:buFont typeface="Arial" panose="020B0604020202020204" pitchFamily="34" charset="0"/>
              <a:buChar char="–"/>
            </a:pPr>
            <a:r>
              <a:rPr lang="zh-CN" altLang="en-US">
                <a:latin typeface="Times New Roman" panose="02020603050405020304" pitchFamily="18" charset="0"/>
                <a:ea typeface="黑体" panose="02010609060101010101" pitchFamily="49" charset="-122"/>
              </a:rPr>
              <a:t>若初始状态为</a:t>
            </a:r>
            <a:r>
              <a:rPr lang="en-US" altLang="zh-CN">
                <a:latin typeface="Times New Roman" panose="02020603050405020304" pitchFamily="18" charset="0"/>
                <a:ea typeface="黑体" panose="02010609060101010101" pitchFamily="49" charset="-122"/>
              </a:rPr>
              <a:t>1</a:t>
            </a:r>
            <a:r>
              <a:rPr lang="zh-CN" altLang="en-US">
                <a:latin typeface="Times New Roman" panose="02020603050405020304" pitchFamily="18" charset="0"/>
                <a:ea typeface="黑体" panose="02010609060101010101" pitchFamily="49" charset="-122"/>
              </a:rPr>
              <a:t>，则只有最后一次会错。（再次循环时又改为</a:t>
            </a:r>
            <a:r>
              <a:rPr lang="en-US" altLang="zh-CN">
                <a:latin typeface="Times New Roman" panose="02020603050405020304" pitchFamily="18" charset="0"/>
                <a:ea typeface="黑体" panose="02010609060101010101" pitchFamily="49" charset="-122"/>
              </a:rPr>
              <a:t>0</a:t>
            </a:r>
            <a:r>
              <a:rPr lang="zh-CN" altLang="en-US">
                <a:latin typeface="Times New Roman" panose="02020603050405020304" pitchFamily="18" charset="0"/>
                <a:ea typeface="黑体" panose="02010609060101010101" pitchFamily="49" charset="-122"/>
              </a:rPr>
              <a:t>，还是有两次错）</a:t>
            </a:r>
          </a:p>
        </p:txBody>
      </p:sp>
      <p:sp>
        <p:nvSpPr>
          <p:cNvPr id="139268" name="Oval 4">
            <a:extLst>
              <a:ext uri="{FF2B5EF4-FFF2-40B4-BE49-F238E27FC236}">
                <a16:creationId xmlns:a16="http://schemas.microsoft.com/office/drawing/2014/main" id="{1143D884-8B80-F140-AE62-06E0E6C7165E}"/>
              </a:ext>
            </a:extLst>
          </p:cNvPr>
          <p:cNvSpPr>
            <a:spLocks noChangeArrowheads="1"/>
          </p:cNvSpPr>
          <p:nvPr/>
        </p:nvSpPr>
        <p:spPr bwMode="auto">
          <a:xfrm>
            <a:off x="228600" y="1485900"/>
            <a:ext cx="1625600" cy="736600"/>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9269" name="Text Box 5">
            <a:extLst>
              <a:ext uri="{FF2B5EF4-FFF2-40B4-BE49-F238E27FC236}">
                <a16:creationId xmlns:a16="http://schemas.microsoft.com/office/drawing/2014/main" id="{96788A63-2AC3-5346-82F0-85E8E4A06C33}"/>
              </a:ext>
            </a:extLst>
          </p:cNvPr>
          <p:cNvSpPr txBox="1">
            <a:spLocks noChangeArrowheads="1"/>
          </p:cNvSpPr>
          <p:nvPr/>
        </p:nvSpPr>
        <p:spPr bwMode="auto">
          <a:xfrm>
            <a:off x="484188" y="1638300"/>
            <a:ext cx="11795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rgbClr val="CC0000"/>
                </a:solidFill>
                <a:latin typeface="Arial" panose="020B0604020202020204" pitchFamily="34" charset="0"/>
                <a:ea typeface="黑体" panose="02010609060101010101" pitchFamily="49" charset="-122"/>
              </a:rPr>
              <a:t>预测发生</a:t>
            </a:r>
          </a:p>
        </p:txBody>
      </p:sp>
      <p:sp>
        <p:nvSpPr>
          <p:cNvPr id="139270" name="Arc 6">
            <a:extLst>
              <a:ext uri="{FF2B5EF4-FFF2-40B4-BE49-F238E27FC236}">
                <a16:creationId xmlns:a16="http://schemas.microsoft.com/office/drawing/2014/main" id="{FCA6D2F2-61B8-E945-B0E4-D358EE65F7E3}"/>
              </a:ext>
            </a:extLst>
          </p:cNvPr>
          <p:cNvSpPr>
            <a:spLocks/>
          </p:cNvSpPr>
          <p:nvPr/>
        </p:nvSpPr>
        <p:spPr bwMode="auto">
          <a:xfrm rot="5816362">
            <a:off x="723900" y="730250"/>
            <a:ext cx="676275" cy="904875"/>
          </a:xfrm>
          <a:custGeom>
            <a:avLst/>
            <a:gdLst>
              <a:gd name="T0" fmla="*/ 2147483646 w 36346"/>
              <a:gd name="T1" fmla="*/ 2147483646 h 43200"/>
              <a:gd name="T2" fmla="*/ 2147483646 w 36346"/>
              <a:gd name="T3" fmla="*/ 2147483646 h 43200"/>
              <a:gd name="T4" fmla="*/ 2147483646 w 36346"/>
              <a:gd name="T5" fmla="*/ 2147483646 h 43200"/>
              <a:gd name="T6" fmla="*/ 0 60000 65536"/>
              <a:gd name="T7" fmla="*/ 0 60000 65536"/>
              <a:gd name="T8" fmla="*/ 0 60000 65536"/>
            </a:gdLst>
            <a:ahLst/>
            <a:cxnLst>
              <a:cxn ang="T6">
                <a:pos x="T0" y="T1"/>
              </a:cxn>
              <a:cxn ang="T7">
                <a:pos x="T2" y="T3"/>
              </a:cxn>
              <a:cxn ang="T8">
                <a:pos x="T4" y="T5"/>
              </a:cxn>
            </a:cxnLst>
            <a:rect l="0" t="0" r="r" b="b"/>
            <a:pathLst>
              <a:path w="36346" h="43200" fill="none"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path>
              <a:path w="36346" h="43200" stroke="0"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lnTo>
                  <a:pt x="21600" y="21600"/>
                </a:lnTo>
                <a:lnTo>
                  <a:pt x="36346" y="37383"/>
                </a:lnTo>
                <a:close/>
              </a:path>
            </a:pathLst>
          </a:custGeom>
          <a:noFill/>
          <a:ln w="2857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1" name="Text Box 7">
            <a:extLst>
              <a:ext uri="{FF2B5EF4-FFF2-40B4-BE49-F238E27FC236}">
                <a16:creationId xmlns:a16="http://schemas.microsoft.com/office/drawing/2014/main" id="{8C6C2B82-4439-C74A-8881-3500DFEC25D7}"/>
              </a:ext>
            </a:extLst>
          </p:cNvPr>
          <p:cNvSpPr txBox="1">
            <a:spLocks noChangeArrowheads="1"/>
          </p:cNvSpPr>
          <p:nvPr/>
        </p:nvSpPr>
        <p:spPr bwMode="auto">
          <a:xfrm>
            <a:off x="741363" y="927100"/>
            <a:ext cx="6969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发生</a:t>
            </a:r>
          </a:p>
        </p:txBody>
      </p:sp>
      <p:sp>
        <p:nvSpPr>
          <p:cNvPr id="139272" name="Arc 10">
            <a:extLst>
              <a:ext uri="{FF2B5EF4-FFF2-40B4-BE49-F238E27FC236}">
                <a16:creationId xmlns:a16="http://schemas.microsoft.com/office/drawing/2014/main" id="{6811EED6-D6F2-4F4C-8918-641EEE5572D1}"/>
              </a:ext>
            </a:extLst>
          </p:cNvPr>
          <p:cNvSpPr>
            <a:spLocks/>
          </p:cNvSpPr>
          <p:nvPr/>
        </p:nvSpPr>
        <p:spPr bwMode="auto">
          <a:xfrm rot="5816362">
            <a:off x="3757613" y="704850"/>
            <a:ext cx="676275" cy="904875"/>
          </a:xfrm>
          <a:custGeom>
            <a:avLst/>
            <a:gdLst>
              <a:gd name="T0" fmla="*/ 2147483646 w 36346"/>
              <a:gd name="T1" fmla="*/ 2147483646 h 43200"/>
              <a:gd name="T2" fmla="*/ 2147483646 w 36346"/>
              <a:gd name="T3" fmla="*/ 2147483646 h 43200"/>
              <a:gd name="T4" fmla="*/ 2147483646 w 36346"/>
              <a:gd name="T5" fmla="*/ 2147483646 h 43200"/>
              <a:gd name="T6" fmla="*/ 0 60000 65536"/>
              <a:gd name="T7" fmla="*/ 0 60000 65536"/>
              <a:gd name="T8" fmla="*/ 0 60000 65536"/>
            </a:gdLst>
            <a:ahLst/>
            <a:cxnLst>
              <a:cxn ang="T6">
                <a:pos x="T0" y="T1"/>
              </a:cxn>
              <a:cxn ang="T7">
                <a:pos x="T2" y="T3"/>
              </a:cxn>
              <a:cxn ang="T8">
                <a:pos x="T4" y="T5"/>
              </a:cxn>
            </a:cxnLst>
            <a:rect l="0" t="0" r="r" b="b"/>
            <a:pathLst>
              <a:path w="36346" h="43200" fill="none"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path>
              <a:path w="36346" h="43200" stroke="0"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lnTo>
                  <a:pt x="21600" y="21600"/>
                </a:lnTo>
                <a:lnTo>
                  <a:pt x="36346" y="37383"/>
                </a:lnTo>
                <a:close/>
              </a:path>
            </a:pathLst>
          </a:custGeom>
          <a:noFill/>
          <a:ln w="2857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73" name="Text Box 11">
            <a:extLst>
              <a:ext uri="{FF2B5EF4-FFF2-40B4-BE49-F238E27FC236}">
                <a16:creationId xmlns:a16="http://schemas.microsoft.com/office/drawing/2014/main" id="{062A72B1-FA9E-C24B-81AC-EBA94B6FFD2B}"/>
              </a:ext>
            </a:extLst>
          </p:cNvPr>
          <p:cNvSpPr txBox="1">
            <a:spLocks noChangeArrowheads="1"/>
          </p:cNvSpPr>
          <p:nvPr/>
        </p:nvSpPr>
        <p:spPr bwMode="auto">
          <a:xfrm>
            <a:off x="3667125" y="919163"/>
            <a:ext cx="896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sp>
        <p:nvSpPr>
          <p:cNvPr id="139274" name="Oval 12">
            <a:extLst>
              <a:ext uri="{FF2B5EF4-FFF2-40B4-BE49-F238E27FC236}">
                <a16:creationId xmlns:a16="http://schemas.microsoft.com/office/drawing/2014/main" id="{E4813FC2-8A56-6748-9C7A-4C2050BDCFAA}"/>
              </a:ext>
            </a:extLst>
          </p:cNvPr>
          <p:cNvSpPr>
            <a:spLocks noChangeArrowheads="1"/>
          </p:cNvSpPr>
          <p:nvPr/>
        </p:nvSpPr>
        <p:spPr bwMode="auto">
          <a:xfrm flipV="1">
            <a:off x="3321050" y="1409700"/>
            <a:ext cx="1625600" cy="736600"/>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9275" name="Text Box 13">
            <a:extLst>
              <a:ext uri="{FF2B5EF4-FFF2-40B4-BE49-F238E27FC236}">
                <a16:creationId xmlns:a16="http://schemas.microsoft.com/office/drawing/2014/main" id="{C396A0A4-4B28-C74C-9B57-C9F65D4F8717}"/>
              </a:ext>
            </a:extLst>
          </p:cNvPr>
          <p:cNvSpPr txBox="1">
            <a:spLocks noChangeArrowheads="1"/>
          </p:cNvSpPr>
          <p:nvPr/>
        </p:nvSpPr>
        <p:spPr bwMode="auto">
          <a:xfrm>
            <a:off x="3475038" y="1587500"/>
            <a:ext cx="1374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rgbClr val="CC0000"/>
                </a:solidFill>
                <a:ea typeface="黑体" panose="02010609060101010101" pitchFamily="49" charset="-122"/>
              </a:rPr>
              <a:t>预测不发生</a:t>
            </a:r>
          </a:p>
        </p:txBody>
      </p:sp>
      <p:sp>
        <p:nvSpPr>
          <p:cNvPr id="139276" name="Text Box 19">
            <a:extLst>
              <a:ext uri="{FF2B5EF4-FFF2-40B4-BE49-F238E27FC236}">
                <a16:creationId xmlns:a16="http://schemas.microsoft.com/office/drawing/2014/main" id="{72F08482-2332-3946-8315-A32BA0A116E6}"/>
              </a:ext>
            </a:extLst>
          </p:cNvPr>
          <p:cNvSpPr txBox="1">
            <a:spLocks noChangeArrowheads="1"/>
          </p:cNvSpPr>
          <p:nvPr/>
        </p:nvSpPr>
        <p:spPr bwMode="auto">
          <a:xfrm>
            <a:off x="1943100" y="12700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grpSp>
        <p:nvGrpSpPr>
          <p:cNvPr id="139277" name="Group 46">
            <a:extLst>
              <a:ext uri="{FF2B5EF4-FFF2-40B4-BE49-F238E27FC236}">
                <a16:creationId xmlns:a16="http://schemas.microsoft.com/office/drawing/2014/main" id="{FA8632A3-B242-5F4E-A17D-BC9D9F0F5E17}"/>
              </a:ext>
            </a:extLst>
          </p:cNvPr>
          <p:cNvGrpSpPr>
            <a:grpSpLocks/>
          </p:cNvGrpSpPr>
          <p:nvPr/>
        </p:nvGrpSpPr>
        <p:grpSpPr bwMode="auto">
          <a:xfrm>
            <a:off x="1724025" y="1638300"/>
            <a:ext cx="1714500" cy="330200"/>
            <a:chOff x="1086" y="1032"/>
            <a:chExt cx="1328" cy="208"/>
          </a:xfrm>
        </p:grpSpPr>
        <p:sp>
          <p:nvSpPr>
            <p:cNvPr id="139290" name="Line 18">
              <a:extLst>
                <a:ext uri="{FF2B5EF4-FFF2-40B4-BE49-F238E27FC236}">
                  <a16:creationId xmlns:a16="http://schemas.microsoft.com/office/drawing/2014/main" id="{1A512F02-25A0-5342-94FB-250316E4B20A}"/>
                </a:ext>
              </a:extLst>
            </p:cNvPr>
            <p:cNvSpPr>
              <a:spLocks noChangeShapeType="1"/>
            </p:cNvSpPr>
            <p:nvPr/>
          </p:nvSpPr>
          <p:spPr bwMode="auto">
            <a:xfrm>
              <a:off x="1086" y="1032"/>
              <a:ext cx="1291"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291" name="Line 20">
              <a:extLst>
                <a:ext uri="{FF2B5EF4-FFF2-40B4-BE49-F238E27FC236}">
                  <a16:creationId xmlns:a16="http://schemas.microsoft.com/office/drawing/2014/main" id="{EF3F3A21-60C2-9144-8A67-EFA76E3BDCF0}"/>
                </a:ext>
              </a:extLst>
            </p:cNvPr>
            <p:cNvSpPr>
              <a:spLocks noChangeShapeType="1"/>
            </p:cNvSpPr>
            <p:nvPr/>
          </p:nvSpPr>
          <p:spPr bwMode="auto">
            <a:xfrm>
              <a:off x="1123" y="1240"/>
              <a:ext cx="1291"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9278" name="Text Box 21">
            <a:extLst>
              <a:ext uri="{FF2B5EF4-FFF2-40B4-BE49-F238E27FC236}">
                <a16:creationId xmlns:a16="http://schemas.microsoft.com/office/drawing/2014/main" id="{D974BA5F-43E2-BD4F-A9AD-AF9A550CEC16}"/>
              </a:ext>
            </a:extLst>
          </p:cNvPr>
          <p:cNvSpPr txBox="1">
            <a:spLocks noChangeArrowheads="1"/>
          </p:cNvSpPr>
          <p:nvPr/>
        </p:nvSpPr>
        <p:spPr bwMode="auto">
          <a:xfrm>
            <a:off x="1868488" y="1981200"/>
            <a:ext cx="873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a:ea typeface="宋体" panose="02010600030101010101" pitchFamily="2" charset="-122"/>
              </a:rPr>
              <a:t>   </a:t>
            </a:r>
            <a:r>
              <a:rPr lang="zh-CN" altLang="en-US" sz="1800">
                <a:ea typeface="黑体" panose="02010609060101010101" pitchFamily="49" charset="-122"/>
              </a:rPr>
              <a:t>发生</a:t>
            </a:r>
          </a:p>
        </p:txBody>
      </p:sp>
      <p:sp>
        <p:nvSpPr>
          <p:cNvPr id="139279" name="Text Box 28">
            <a:extLst>
              <a:ext uri="{FF2B5EF4-FFF2-40B4-BE49-F238E27FC236}">
                <a16:creationId xmlns:a16="http://schemas.microsoft.com/office/drawing/2014/main" id="{070CBF64-C8A2-3D48-8CD5-A08608ED5107}"/>
              </a:ext>
            </a:extLst>
          </p:cNvPr>
          <p:cNvSpPr txBox="1">
            <a:spLocks noChangeArrowheads="1"/>
          </p:cNvSpPr>
          <p:nvPr/>
        </p:nvSpPr>
        <p:spPr bwMode="auto">
          <a:xfrm>
            <a:off x="865188" y="1892300"/>
            <a:ext cx="576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ea typeface="宋体" panose="02010600030101010101" pitchFamily="2" charset="-122"/>
              </a:rPr>
              <a:t>1</a:t>
            </a:r>
          </a:p>
        </p:txBody>
      </p:sp>
      <p:sp>
        <p:nvSpPr>
          <p:cNvPr id="139280" name="Text Box 29">
            <a:extLst>
              <a:ext uri="{FF2B5EF4-FFF2-40B4-BE49-F238E27FC236}">
                <a16:creationId xmlns:a16="http://schemas.microsoft.com/office/drawing/2014/main" id="{A45C4CE1-34BB-8A43-8FFD-1FF54AA34F5F}"/>
              </a:ext>
            </a:extLst>
          </p:cNvPr>
          <p:cNvSpPr txBox="1">
            <a:spLocks noChangeArrowheads="1"/>
          </p:cNvSpPr>
          <p:nvPr/>
        </p:nvSpPr>
        <p:spPr bwMode="auto">
          <a:xfrm>
            <a:off x="4016375" y="1828800"/>
            <a:ext cx="577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ea typeface="宋体" panose="02010600030101010101" pitchFamily="2" charset="-122"/>
              </a:rPr>
              <a:t>0</a:t>
            </a:r>
          </a:p>
        </p:txBody>
      </p:sp>
      <p:sp>
        <p:nvSpPr>
          <p:cNvPr id="139281" name="Text Box 32">
            <a:extLst>
              <a:ext uri="{FF2B5EF4-FFF2-40B4-BE49-F238E27FC236}">
                <a16:creationId xmlns:a16="http://schemas.microsoft.com/office/drawing/2014/main" id="{6EA13679-2810-B44A-8836-B487CE87E71C}"/>
              </a:ext>
            </a:extLst>
          </p:cNvPr>
          <p:cNvSpPr txBox="1">
            <a:spLocks noChangeArrowheads="1"/>
          </p:cNvSpPr>
          <p:nvPr/>
        </p:nvSpPr>
        <p:spPr bwMode="auto">
          <a:xfrm>
            <a:off x="1441450" y="914400"/>
            <a:ext cx="742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chemeClr val="accent2"/>
                </a:solidFill>
                <a:ea typeface="黑体" panose="02010609060101010101" pitchFamily="49" charset="-122"/>
              </a:rPr>
              <a:t>正确</a:t>
            </a:r>
          </a:p>
        </p:txBody>
      </p:sp>
      <p:sp>
        <p:nvSpPr>
          <p:cNvPr id="139282" name="Text Box 33">
            <a:extLst>
              <a:ext uri="{FF2B5EF4-FFF2-40B4-BE49-F238E27FC236}">
                <a16:creationId xmlns:a16="http://schemas.microsoft.com/office/drawing/2014/main" id="{CC35BF4E-487D-5A4A-A719-10A91B99AE0E}"/>
              </a:ext>
            </a:extLst>
          </p:cNvPr>
          <p:cNvSpPr txBox="1">
            <a:spLocks noChangeArrowheads="1"/>
          </p:cNvSpPr>
          <p:nvPr/>
        </p:nvSpPr>
        <p:spPr bwMode="auto">
          <a:xfrm>
            <a:off x="2705100" y="1270000"/>
            <a:ext cx="741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chemeClr val="accent2"/>
                </a:solidFill>
                <a:ea typeface="黑体" panose="02010609060101010101" pitchFamily="49" charset="-122"/>
              </a:rPr>
              <a:t>错误</a:t>
            </a:r>
          </a:p>
        </p:txBody>
      </p:sp>
      <p:sp>
        <p:nvSpPr>
          <p:cNvPr id="139283" name="Text Box 34">
            <a:extLst>
              <a:ext uri="{FF2B5EF4-FFF2-40B4-BE49-F238E27FC236}">
                <a16:creationId xmlns:a16="http://schemas.microsoft.com/office/drawing/2014/main" id="{54EDB0FD-6975-184C-89A3-AA470FD63DFB}"/>
              </a:ext>
            </a:extLst>
          </p:cNvPr>
          <p:cNvSpPr txBox="1">
            <a:spLocks noChangeArrowheads="1"/>
          </p:cNvSpPr>
          <p:nvPr/>
        </p:nvSpPr>
        <p:spPr bwMode="auto">
          <a:xfrm>
            <a:off x="2617788" y="1981200"/>
            <a:ext cx="742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chemeClr val="accent2"/>
                </a:solidFill>
                <a:ea typeface="黑体" panose="02010609060101010101" pitchFamily="49" charset="-122"/>
              </a:rPr>
              <a:t>错误</a:t>
            </a:r>
          </a:p>
        </p:txBody>
      </p:sp>
      <p:sp>
        <p:nvSpPr>
          <p:cNvPr id="139284" name="Text Box 36">
            <a:extLst>
              <a:ext uri="{FF2B5EF4-FFF2-40B4-BE49-F238E27FC236}">
                <a16:creationId xmlns:a16="http://schemas.microsoft.com/office/drawing/2014/main" id="{E41AD808-FE59-434F-A67B-7351547FAE45}"/>
              </a:ext>
            </a:extLst>
          </p:cNvPr>
          <p:cNvSpPr txBox="1">
            <a:spLocks noChangeArrowheads="1"/>
          </p:cNvSpPr>
          <p:nvPr/>
        </p:nvSpPr>
        <p:spPr bwMode="auto">
          <a:xfrm>
            <a:off x="4452938" y="901700"/>
            <a:ext cx="741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chemeClr val="accent2"/>
                </a:solidFill>
                <a:ea typeface="黑体" panose="02010609060101010101" pitchFamily="49" charset="-122"/>
              </a:rPr>
              <a:t>正确</a:t>
            </a:r>
          </a:p>
        </p:txBody>
      </p:sp>
      <p:sp>
        <p:nvSpPr>
          <p:cNvPr id="328747" name="Text Box 43">
            <a:extLst>
              <a:ext uri="{FF2B5EF4-FFF2-40B4-BE49-F238E27FC236}">
                <a16:creationId xmlns:a16="http://schemas.microsoft.com/office/drawing/2014/main" id="{68560D2B-8730-A741-8834-CF68E5990027}"/>
              </a:ext>
            </a:extLst>
          </p:cNvPr>
          <p:cNvSpPr txBox="1">
            <a:spLocks noChangeArrowheads="1"/>
          </p:cNvSpPr>
          <p:nvPr/>
        </p:nvSpPr>
        <p:spPr bwMode="auto">
          <a:xfrm>
            <a:off x="4997450" y="3181350"/>
            <a:ext cx="4070350" cy="23018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solidFill>
                  <a:srgbClr val="388A36"/>
                </a:solidFill>
                <a:latin typeface="Arial" panose="020B0604020202020204" pitchFamily="34" charset="0"/>
                <a:ea typeface="宋体" panose="02010600030101010101" pitchFamily="2" charset="-122"/>
              </a:rPr>
              <a:t>   Loop: add $7, $3, $3      ; i*2           </a:t>
            </a:r>
          </a:p>
          <a:p>
            <a:r>
              <a:rPr lang="en-US" altLang="zh-CN" sz="1800">
                <a:solidFill>
                  <a:srgbClr val="388A36"/>
                </a:solidFill>
                <a:latin typeface="Arial" panose="020B0604020202020204" pitchFamily="34" charset="0"/>
                <a:ea typeface="宋体" panose="02010600030101010101" pitchFamily="2" charset="-122"/>
              </a:rPr>
              <a:t>	add $7, $7, $7	; i*4</a:t>
            </a:r>
          </a:p>
          <a:p>
            <a:r>
              <a:rPr lang="en-US" altLang="zh-CN" sz="1800">
                <a:solidFill>
                  <a:srgbClr val="388A36"/>
                </a:solidFill>
                <a:latin typeface="Arial" panose="020B0604020202020204" pitchFamily="34" charset="0"/>
                <a:ea typeface="宋体" panose="02010600030101010101" pitchFamily="2" charset="-122"/>
              </a:rPr>
              <a:t>	add $7, $7, $5</a:t>
            </a:r>
          </a:p>
          <a:p>
            <a:r>
              <a:rPr lang="en-US" altLang="zh-CN" sz="1800">
                <a:solidFill>
                  <a:srgbClr val="388A36"/>
                </a:solidFill>
                <a:latin typeface="Arial" panose="020B0604020202020204" pitchFamily="34" charset="0"/>
                <a:ea typeface="宋体" panose="02010600030101010101" pitchFamily="2" charset="-122"/>
              </a:rPr>
              <a:t>	lw $6, 0($7)	; $6=A[i]</a:t>
            </a:r>
          </a:p>
          <a:p>
            <a:r>
              <a:rPr lang="en-US" altLang="zh-CN" sz="1800">
                <a:solidFill>
                  <a:srgbClr val="388A36"/>
                </a:solidFill>
                <a:latin typeface="Arial" panose="020B0604020202020204" pitchFamily="34" charset="0"/>
                <a:ea typeface="宋体" panose="02010600030101010101" pitchFamily="2" charset="-122"/>
              </a:rPr>
              <a:t>	add $1, $1, $6	; g= g+A[i]</a:t>
            </a:r>
          </a:p>
          <a:p>
            <a:r>
              <a:rPr lang="en-US" altLang="zh-CN" sz="1800">
                <a:solidFill>
                  <a:srgbClr val="388A36"/>
                </a:solidFill>
                <a:latin typeface="Arial" panose="020B0604020202020204" pitchFamily="34" charset="0"/>
                <a:ea typeface="宋体" panose="02010600030101010101" pitchFamily="2" charset="-122"/>
              </a:rPr>
              <a:t>	add $3, $3, $4</a:t>
            </a:r>
          </a:p>
          <a:p>
            <a:r>
              <a:rPr lang="en-US" altLang="zh-CN" sz="1800">
                <a:solidFill>
                  <a:srgbClr val="CC0000"/>
                </a:solidFill>
                <a:latin typeface="Arial" panose="020B0604020202020204" pitchFamily="34" charset="0"/>
                <a:ea typeface="宋体" panose="02010600030101010101" pitchFamily="2" charset="-122"/>
              </a:rPr>
              <a:t>	bne $3, $2, Loop</a:t>
            </a:r>
          </a:p>
          <a:p>
            <a:r>
              <a:rPr lang="zh-CN" altLang="en-US" sz="1800">
                <a:solidFill>
                  <a:srgbClr val="388A36"/>
                </a:solidFill>
                <a:latin typeface="Arial" panose="020B0604020202020204" pitchFamily="34" charset="0"/>
                <a:ea typeface="宋体" panose="02010600030101010101" pitchFamily="2" charset="-122"/>
              </a:rPr>
              <a:t>	      </a:t>
            </a:r>
            <a:r>
              <a:rPr lang="en-US" altLang="zh-CN" sz="1800">
                <a:solidFill>
                  <a:srgbClr val="388A36"/>
                </a:solidFill>
                <a:latin typeface="Arial" panose="020B0604020202020204" pitchFamily="34" charset="0"/>
                <a:ea typeface="宋体" panose="02010600030101010101" pitchFamily="2" charset="-122"/>
              </a:rPr>
              <a:t>… …</a:t>
            </a:r>
          </a:p>
        </p:txBody>
      </p:sp>
      <p:sp>
        <p:nvSpPr>
          <p:cNvPr id="328748" name="Text Box 44">
            <a:extLst>
              <a:ext uri="{FF2B5EF4-FFF2-40B4-BE49-F238E27FC236}">
                <a16:creationId xmlns:a16="http://schemas.microsoft.com/office/drawing/2014/main" id="{767F6772-AB5B-9640-8CC6-B265040FF050}"/>
              </a:ext>
            </a:extLst>
          </p:cNvPr>
          <p:cNvSpPr txBox="1">
            <a:spLocks noChangeArrowheads="1"/>
          </p:cNvSpPr>
          <p:nvPr/>
        </p:nvSpPr>
        <p:spPr bwMode="auto">
          <a:xfrm>
            <a:off x="5273675" y="817563"/>
            <a:ext cx="3657600" cy="1752600"/>
          </a:xfrm>
          <a:prstGeom prst="rect">
            <a:avLst/>
          </a:prstGeom>
          <a:noFill/>
          <a:ln w="1270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Loop:	g = g +A[i];</a:t>
            </a:r>
          </a:p>
          <a:p>
            <a:r>
              <a:rPr lang="en-US" altLang="zh-CN" sz="1800">
                <a:latin typeface="Arial" panose="020B0604020202020204" pitchFamily="34" charset="0"/>
                <a:ea typeface="宋体" panose="02010600030101010101" pitchFamily="2" charset="-122"/>
              </a:rPr>
              <a:t>	i = i+ j;</a:t>
            </a:r>
          </a:p>
          <a:p>
            <a:r>
              <a:rPr lang="en-US" altLang="zh-CN" sz="1800">
                <a:latin typeface="Arial" panose="020B0604020202020204" pitchFamily="34" charset="0"/>
                <a:ea typeface="宋体" panose="02010600030101010101" pitchFamily="2" charset="-122"/>
              </a:rPr>
              <a:t>	if (i != h) go to Loop:</a:t>
            </a:r>
          </a:p>
          <a:p>
            <a:r>
              <a:rPr lang="en-US" altLang="zh-CN" sz="1800">
                <a:latin typeface="Arial" panose="020B0604020202020204" pitchFamily="34" charset="0"/>
                <a:ea typeface="宋体" panose="02010600030101010101" pitchFamily="2" charset="-122"/>
              </a:rPr>
              <a:t>Assuming variables g, h, i, j  ~ $1, $2, $3, $4 and base address</a:t>
            </a:r>
          </a:p>
          <a:p>
            <a:r>
              <a:rPr lang="en-US" altLang="zh-CN" sz="1800">
                <a:latin typeface="Arial" panose="020B0604020202020204" pitchFamily="34" charset="0"/>
                <a:ea typeface="宋体" panose="02010600030101010101" pitchFamily="2" charset="-122"/>
              </a:rPr>
              <a:t>of array is in $5</a:t>
            </a:r>
          </a:p>
        </p:txBody>
      </p:sp>
      <p:sp>
        <p:nvSpPr>
          <p:cNvPr id="328751" name="AutoShape 47">
            <a:extLst>
              <a:ext uri="{FF2B5EF4-FFF2-40B4-BE49-F238E27FC236}">
                <a16:creationId xmlns:a16="http://schemas.microsoft.com/office/drawing/2014/main" id="{7A801901-F0C4-3D42-BBDB-D0ADB38F47C9}"/>
              </a:ext>
            </a:extLst>
          </p:cNvPr>
          <p:cNvSpPr>
            <a:spLocks noChangeArrowheads="1"/>
          </p:cNvSpPr>
          <p:nvPr/>
        </p:nvSpPr>
        <p:spPr bwMode="auto">
          <a:xfrm>
            <a:off x="6731000" y="2679700"/>
            <a:ext cx="520700" cy="406400"/>
          </a:xfrm>
          <a:prstGeom prst="downArrow">
            <a:avLst>
              <a:gd name="adj1" fmla="val 50000"/>
              <a:gd name="adj2" fmla="val 25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752" name="Line 48">
            <a:extLst>
              <a:ext uri="{FF2B5EF4-FFF2-40B4-BE49-F238E27FC236}">
                <a16:creationId xmlns:a16="http://schemas.microsoft.com/office/drawing/2014/main" id="{3A4B177B-747C-FC4E-986E-A1145FE2152A}"/>
              </a:ext>
            </a:extLst>
          </p:cNvPr>
          <p:cNvSpPr>
            <a:spLocks noChangeShapeType="1"/>
          </p:cNvSpPr>
          <p:nvPr/>
        </p:nvSpPr>
        <p:spPr bwMode="auto">
          <a:xfrm>
            <a:off x="3427413" y="4708525"/>
            <a:ext cx="2414587" cy="320675"/>
          </a:xfrm>
          <a:prstGeom prst="line">
            <a:avLst/>
          </a:prstGeom>
          <a:noFill/>
          <a:ln w="127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3" name="Text Box 49">
            <a:extLst>
              <a:ext uri="{FF2B5EF4-FFF2-40B4-BE49-F238E27FC236}">
                <a16:creationId xmlns:a16="http://schemas.microsoft.com/office/drawing/2014/main" id="{60266A09-0477-3443-8FE0-EEC45C5CE2EA}"/>
              </a:ext>
            </a:extLst>
          </p:cNvPr>
          <p:cNvSpPr txBox="1">
            <a:spLocks noChangeArrowheads="1"/>
          </p:cNvSpPr>
          <p:nvPr/>
        </p:nvSpPr>
        <p:spPr bwMode="auto">
          <a:xfrm>
            <a:off x="606425" y="6440488"/>
            <a:ext cx="68199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即：只要本次和上次的发生情况不同，就会出现一次预测错误</a:t>
            </a:r>
            <a:r>
              <a:rPr lang="zh-CN" altLang="en-US">
                <a:ea typeface="宋体" panose="02010600030101010101" pitchFamily="2" charset="-122"/>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8707">
                                            <p:txEl>
                                              <p:pRg st="1" end="1"/>
                                            </p:txEl>
                                          </p:spTgt>
                                        </p:tgtEl>
                                        <p:attrNameLst>
                                          <p:attrName>style.visibility</p:attrName>
                                        </p:attrNameLst>
                                      </p:cBhvr>
                                      <p:to>
                                        <p:strVal val="visible"/>
                                      </p:to>
                                    </p:set>
                                    <p:animEffect transition="in" filter="blinds(horizontal)">
                                      <p:cBhvr>
                                        <p:cTn id="7" dur="500"/>
                                        <p:tgtEl>
                                          <p:spTgt spid="32870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28707">
                                            <p:txEl>
                                              <p:pRg st="2" end="2"/>
                                            </p:txEl>
                                          </p:spTgt>
                                        </p:tgtEl>
                                        <p:attrNameLst>
                                          <p:attrName>style.visibility</p:attrName>
                                        </p:attrNameLst>
                                      </p:cBhvr>
                                      <p:to>
                                        <p:strVal val="visible"/>
                                      </p:to>
                                    </p:set>
                                    <p:animEffect transition="in" filter="blinds(horizontal)">
                                      <p:cBhvr>
                                        <p:cTn id="10" dur="500"/>
                                        <p:tgtEl>
                                          <p:spTgt spid="328707">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28707">
                                            <p:txEl>
                                              <p:pRg st="4" end="4"/>
                                            </p:txEl>
                                          </p:spTgt>
                                        </p:tgtEl>
                                        <p:attrNameLst>
                                          <p:attrName>style.visibility</p:attrName>
                                        </p:attrNameLst>
                                      </p:cBhvr>
                                      <p:to>
                                        <p:strVal val="visible"/>
                                      </p:to>
                                    </p:set>
                                    <p:animEffect transition="in" filter="blinds(horizontal)">
                                      <p:cBhvr>
                                        <p:cTn id="15" dur="500"/>
                                        <p:tgtEl>
                                          <p:spTgt spid="328707">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28707">
                                            <p:txEl>
                                              <p:pRg st="5" end="5"/>
                                            </p:txEl>
                                          </p:spTgt>
                                        </p:tgtEl>
                                        <p:attrNameLst>
                                          <p:attrName>style.visibility</p:attrName>
                                        </p:attrNameLst>
                                      </p:cBhvr>
                                      <p:to>
                                        <p:strVal val="visible"/>
                                      </p:to>
                                    </p:set>
                                    <p:animEffect transition="in" filter="blinds(horizontal)">
                                      <p:cBhvr>
                                        <p:cTn id="18" dur="500"/>
                                        <p:tgtEl>
                                          <p:spTgt spid="328707">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28748"/>
                                        </p:tgtEl>
                                        <p:attrNameLst>
                                          <p:attrName>style.visibility</p:attrName>
                                        </p:attrNameLst>
                                      </p:cBhvr>
                                      <p:to>
                                        <p:strVal val="visible"/>
                                      </p:to>
                                    </p:set>
                                    <p:animEffect transition="in" filter="blinds(horizontal)">
                                      <p:cBhvr>
                                        <p:cTn id="23" dur="500"/>
                                        <p:tgtEl>
                                          <p:spTgt spid="32874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28751"/>
                                        </p:tgtEl>
                                        <p:attrNameLst>
                                          <p:attrName>style.visibility</p:attrName>
                                        </p:attrNameLst>
                                      </p:cBhvr>
                                      <p:to>
                                        <p:strVal val="visible"/>
                                      </p:to>
                                    </p:set>
                                    <p:animEffect transition="in" filter="blinds(horizontal)">
                                      <p:cBhvr>
                                        <p:cTn id="28" dur="500"/>
                                        <p:tgtEl>
                                          <p:spTgt spid="3287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28747"/>
                                        </p:tgtEl>
                                        <p:attrNameLst>
                                          <p:attrName>style.visibility</p:attrName>
                                        </p:attrNameLst>
                                      </p:cBhvr>
                                      <p:to>
                                        <p:strVal val="visible"/>
                                      </p:to>
                                    </p:set>
                                    <p:animEffect transition="in" filter="blinds(horizontal)">
                                      <p:cBhvr>
                                        <p:cTn id="33" dur="500"/>
                                        <p:tgtEl>
                                          <p:spTgt spid="32874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28752"/>
                                        </p:tgtEl>
                                        <p:attrNameLst>
                                          <p:attrName>style.visibility</p:attrName>
                                        </p:attrNameLst>
                                      </p:cBhvr>
                                      <p:to>
                                        <p:strVal val="visible"/>
                                      </p:to>
                                    </p:set>
                                    <p:animEffect transition="in" filter="blinds(horizontal)">
                                      <p:cBhvr>
                                        <p:cTn id="38" dur="500"/>
                                        <p:tgtEl>
                                          <p:spTgt spid="32875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28707">
                                            <p:txEl>
                                              <p:pRg st="6" end="6"/>
                                            </p:txEl>
                                          </p:spTgt>
                                        </p:tgtEl>
                                        <p:attrNameLst>
                                          <p:attrName>style.visibility</p:attrName>
                                        </p:attrNameLst>
                                      </p:cBhvr>
                                      <p:to>
                                        <p:strVal val="visible"/>
                                      </p:to>
                                    </p:set>
                                    <p:animEffect transition="in" filter="blinds(horizontal)">
                                      <p:cBhvr>
                                        <p:cTn id="43" dur="500"/>
                                        <p:tgtEl>
                                          <p:spTgt spid="328707">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28707">
                                            <p:txEl>
                                              <p:pRg st="7" end="7"/>
                                            </p:txEl>
                                          </p:spTgt>
                                        </p:tgtEl>
                                        <p:attrNameLst>
                                          <p:attrName>style.visibility</p:attrName>
                                        </p:attrNameLst>
                                      </p:cBhvr>
                                      <p:to>
                                        <p:strVal val="visible"/>
                                      </p:to>
                                    </p:set>
                                    <p:animEffect transition="in" filter="blinds(horizontal)">
                                      <p:cBhvr>
                                        <p:cTn id="48" dur="500"/>
                                        <p:tgtEl>
                                          <p:spTgt spid="328707">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28753"/>
                                        </p:tgtEl>
                                        <p:attrNameLst>
                                          <p:attrName>style.visibility</p:attrName>
                                        </p:attrNameLst>
                                      </p:cBhvr>
                                      <p:to>
                                        <p:strVal val="visible"/>
                                      </p:to>
                                    </p:set>
                                    <p:animEffect transition="in" filter="blinds(horizontal)">
                                      <p:cBhvr>
                                        <p:cTn id="53" dur="500"/>
                                        <p:tgtEl>
                                          <p:spTgt spid="328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47" grpId="0" animBg="1"/>
      <p:bldP spid="328748" grpId="0" animBg="1"/>
      <p:bldP spid="328751" grpId="0" animBg="1"/>
      <p:bldP spid="3287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72A557A6-A321-BE46-8635-4413906FF5A9}"/>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举例：双重循环的一位动态预测</a:t>
            </a:r>
          </a:p>
        </p:txBody>
      </p:sp>
      <p:sp>
        <p:nvSpPr>
          <p:cNvPr id="140291" name="Rectangle 3">
            <a:extLst>
              <a:ext uri="{FF2B5EF4-FFF2-40B4-BE49-F238E27FC236}">
                <a16:creationId xmlns:a16="http://schemas.microsoft.com/office/drawing/2014/main" id="{F5E7A5B4-0329-C14A-B42C-88061049C427}"/>
              </a:ext>
            </a:extLst>
          </p:cNvPr>
          <p:cNvSpPr>
            <a:spLocks noGrp="1" noChangeArrowheads="1"/>
          </p:cNvSpPr>
          <p:nvPr>
            <p:ph type="body" idx="1"/>
          </p:nvPr>
        </p:nvSpPr>
        <p:spPr>
          <a:xfrm>
            <a:off x="246063" y="1071563"/>
            <a:ext cx="2349500" cy="2838450"/>
          </a:xfrm>
          <a:noFill/>
          <a:ln w="12700">
            <a:solidFill>
              <a:schemeClr val="tx1"/>
            </a:solidFill>
            <a:miter lim="800000"/>
            <a:headEnd/>
            <a:tailEnd/>
          </a:ln>
        </p:spPr>
        <p:txBody>
          <a:bodyPr/>
          <a:lstStyle/>
          <a:p>
            <a:pPr>
              <a:buFont typeface="Times New Roman" panose="02020603050405020304" pitchFamily="18" charset="0"/>
              <a:buNone/>
            </a:pPr>
            <a:r>
              <a:rPr lang="en-US" altLang="zh-CN">
                <a:ea typeface="宋体" panose="02010600030101010101" pitchFamily="2" charset="-122"/>
              </a:rPr>
              <a:t>into sum (int N)</a:t>
            </a:r>
          </a:p>
          <a:p>
            <a:pPr>
              <a:buFont typeface="Times New Roman" panose="02020603050405020304" pitchFamily="18" charset="0"/>
              <a:buNone/>
            </a:pPr>
            <a:r>
              <a:rPr lang="en-US" altLang="zh-CN">
                <a:ea typeface="宋体" panose="02010600030101010101" pitchFamily="2" charset="-122"/>
              </a:rPr>
              <a:t>{</a:t>
            </a:r>
          </a:p>
          <a:p>
            <a:pPr>
              <a:buFont typeface="Times New Roman" panose="02020603050405020304" pitchFamily="18" charset="0"/>
              <a:buNone/>
            </a:pPr>
            <a:r>
              <a:rPr lang="en-US" altLang="zh-CN">
                <a:ea typeface="宋体" panose="02010600030101010101" pitchFamily="2" charset="-122"/>
              </a:rPr>
              <a:t>int i, j, sum=0;</a:t>
            </a:r>
          </a:p>
          <a:p>
            <a:pPr>
              <a:buFont typeface="Times New Roman" panose="02020603050405020304" pitchFamily="18" charset="0"/>
              <a:buNone/>
            </a:pPr>
            <a:r>
              <a:rPr lang="en-US" altLang="zh-CN">
                <a:ea typeface="宋体" panose="02010600030101010101" pitchFamily="2" charset="-122"/>
              </a:rPr>
              <a:t>for (i=0; i &lt; N; i++) </a:t>
            </a:r>
          </a:p>
          <a:p>
            <a:pPr>
              <a:buFont typeface="Times New Roman" panose="02020603050405020304" pitchFamily="18" charset="0"/>
              <a:buNone/>
            </a:pPr>
            <a:r>
              <a:rPr lang="en-US" altLang="zh-CN">
                <a:ea typeface="宋体" panose="02010600030101010101" pitchFamily="2" charset="-122"/>
              </a:rPr>
              <a:t>    for (j=0; j &lt;N; j++) </a:t>
            </a:r>
          </a:p>
          <a:p>
            <a:pPr>
              <a:buFont typeface="Times New Roman" panose="02020603050405020304" pitchFamily="18" charset="0"/>
              <a:buNone/>
            </a:pPr>
            <a:r>
              <a:rPr lang="en-US" altLang="zh-CN">
                <a:ea typeface="宋体" panose="02010600030101010101" pitchFamily="2" charset="-122"/>
              </a:rPr>
              <a:t>       sum=sum+1;</a:t>
            </a:r>
          </a:p>
          <a:p>
            <a:pPr>
              <a:buFont typeface="Times New Roman" panose="02020603050405020304" pitchFamily="18" charset="0"/>
              <a:buNone/>
            </a:pPr>
            <a:r>
              <a:rPr lang="en-US" altLang="zh-CN">
                <a:ea typeface="宋体" panose="02010600030101010101" pitchFamily="2" charset="-122"/>
              </a:rPr>
              <a:t>return sum;</a:t>
            </a:r>
          </a:p>
          <a:p>
            <a:pPr>
              <a:buFont typeface="Times New Roman" panose="02020603050405020304" pitchFamily="18" charset="0"/>
              <a:buNone/>
            </a:pPr>
            <a:r>
              <a:rPr lang="en-US" altLang="zh-CN">
                <a:ea typeface="宋体" panose="02010600030101010101" pitchFamily="2" charset="-122"/>
              </a:rPr>
              <a:t>}</a:t>
            </a:r>
          </a:p>
        </p:txBody>
      </p:sp>
      <p:sp>
        <p:nvSpPr>
          <p:cNvPr id="377860" name="Rectangle 4">
            <a:extLst>
              <a:ext uri="{FF2B5EF4-FFF2-40B4-BE49-F238E27FC236}">
                <a16:creationId xmlns:a16="http://schemas.microsoft.com/office/drawing/2014/main" id="{68D3BC9E-C9F2-764B-9D9F-E1E52821C3E6}"/>
              </a:ext>
            </a:extLst>
          </p:cNvPr>
          <p:cNvSpPr>
            <a:spLocks noChangeArrowheads="1"/>
          </p:cNvSpPr>
          <p:nvPr/>
        </p:nvSpPr>
        <p:spPr bwMode="auto">
          <a:xfrm>
            <a:off x="3281363" y="842963"/>
            <a:ext cx="5676900" cy="32829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203200" indent="-203200">
              <a:spcBef>
                <a:spcPct val="30000"/>
              </a:spcBef>
              <a:buSzPct val="100000"/>
              <a:buFont typeface="Times New Roman" panose="02020603050405020304" pitchFamily="18" charset="0"/>
              <a:buChar char="°"/>
              <a:defRPr b="1">
                <a:solidFill>
                  <a:schemeClr val="tx1"/>
                </a:solidFill>
                <a:latin typeface="Arial" panose="020B0604020202020204" pitchFamily="34" charset="0"/>
              </a:defRPr>
            </a:lvl1pPr>
            <a:lvl2pPr marL="685800" indent="-190500">
              <a:lnSpc>
                <a:spcPct val="85000"/>
              </a:lnSpc>
              <a:spcBef>
                <a:spcPct val="40000"/>
              </a:spcBef>
              <a:buSzPct val="100000"/>
              <a:buChar char="•"/>
              <a:defRPr b="1">
                <a:solidFill>
                  <a:schemeClr val="accent2"/>
                </a:solidFill>
                <a:latin typeface="Arial" panose="020B0604020202020204" pitchFamily="34" charset="0"/>
              </a:defRPr>
            </a:lvl2pPr>
            <a:lvl3pPr marL="1257300" indent="-342900">
              <a:lnSpc>
                <a:spcPct val="85000"/>
              </a:lnSpc>
              <a:spcBef>
                <a:spcPct val="40000"/>
              </a:spcBef>
              <a:buSzPct val="100000"/>
              <a:buChar char="-"/>
              <a:defRPr b="1">
                <a:solidFill>
                  <a:srgbClr val="990000"/>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Times New Roman" panose="02020603050405020304" pitchFamily="18" charset="0"/>
              <a:buNone/>
            </a:pPr>
            <a:r>
              <a:rPr lang="en-US" altLang="zh-CN" sz="1800">
                <a:ea typeface="宋体" panose="02010600030101010101" pitchFamily="2" charset="-122"/>
              </a:rPr>
              <a:t>… …</a:t>
            </a:r>
          </a:p>
          <a:p>
            <a:pPr>
              <a:lnSpc>
                <a:spcPct val="90000"/>
              </a:lnSpc>
              <a:buFont typeface="Times New Roman" panose="02020603050405020304" pitchFamily="18" charset="0"/>
              <a:buNone/>
            </a:pPr>
            <a:r>
              <a:rPr lang="en-US" altLang="zh-CN" sz="1800">
                <a:ea typeface="宋体" panose="02010600030101010101" pitchFamily="2" charset="-122"/>
              </a:rPr>
              <a:t>Loop-i:  </a:t>
            </a:r>
            <a:r>
              <a:rPr lang="en-US" altLang="zh-CN" sz="1800">
                <a:solidFill>
                  <a:schemeClr val="accent1"/>
                </a:solidFill>
                <a:ea typeface="宋体" panose="02010600030101010101" pitchFamily="2" charset="-122"/>
              </a:rPr>
              <a:t>beq $t1,$a0, exit-i</a:t>
            </a:r>
            <a:r>
              <a:rPr lang="en-US" altLang="zh-CN" sz="1800">
                <a:ea typeface="宋体" panose="02010600030101010101" pitchFamily="2" charset="-122"/>
              </a:rPr>
              <a:t>    # </a:t>
            </a:r>
            <a:r>
              <a:rPr lang="zh-CN" altLang="en-US" sz="1800">
                <a:ea typeface="黑体" panose="02010609060101010101" pitchFamily="49" charset="-122"/>
              </a:rPr>
              <a:t>若</a:t>
            </a:r>
            <a:r>
              <a:rPr lang="en-US" altLang="zh-CN" sz="1800">
                <a:ea typeface="黑体" panose="02010609060101010101" pitchFamily="49" charset="-122"/>
              </a:rPr>
              <a:t>( i=N)</a:t>
            </a:r>
            <a:r>
              <a:rPr lang="zh-CN" altLang="en-US" sz="1800">
                <a:ea typeface="黑体" panose="02010609060101010101" pitchFamily="49" charset="-122"/>
              </a:rPr>
              <a:t>则跳出外循环</a:t>
            </a:r>
            <a:r>
              <a:rPr lang="zh-CN" altLang="en-US" sz="1800">
                <a:ea typeface="宋体" panose="02010600030101010101" pitchFamily="2" charset="-122"/>
              </a:rPr>
              <a:t> </a:t>
            </a:r>
          </a:p>
          <a:p>
            <a:pPr>
              <a:lnSpc>
                <a:spcPct val="90000"/>
              </a:lnSpc>
              <a:buFont typeface="Times New Roman" panose="02020603050405020304" pitchFamily="18" charset="0"/>
              <a:buNone/>
            </a:pPr>
            <a:r>
              <a:rPr lang="en-US" altLang="zh-CN" sz="1800">
                <a:ea typeface="宋体" panose="02010600030101010101" pitchFamily="2" charset="-122"/>
              </a:rPr>
              <a:t>              add $t2, $zero, $zero  #j=0                </a:t>
            </a:r>
          </a:p>
          <a:p>
            <a:pPr>
              <a:lnSpc>
                <a:spcPct val="90000"/>
              </a:lnSpc>
              <a:buFont typeface="Times New Roman" panose="02020603050405020304" pitchFamily="18" charset="0"/>
              <a:buNone/>
            </a:pPr>
            <a:r>
              <a:rPr lang="en-US" altLang="zh-CN" sz="1800">
                <a:ea typeface="宋体" panose="02010600030101010101" pitchFamily="2" charset="-122"/>
              </a:rPr>
              <a:t>Loop-j:  </a:t>
            </a:r>
            <a:r>
              <a:rPr lang="en-US" altLang="zh-CN" sz="1800">
                <a:solidFill>
                  <a:schemeClr val="accent1"/>
                </a:solidFill>
                <a:ea typeface="宋体" panose="02010600030101010101" pitchFamily="2" charset="-122"/>
              </a:rPr>
              <a:t>beq $t2, $a0, exit-j</a:t>
            </a:r>
            <a:r>
              <a:rPr lang="en-US" altLang="zh-CN" sz="1800">
                <a:ea typeface="宋体" panose="02010600030101010101" pitchFamily="2" charset="-122"/>
              </a:rPr>
              <a:t>   </a:t>
            </a:r>
            <a:r>
              <a:rPr lang="en-US" altLang="zh-CN" sz="1800">
                <a:ea typeface="黑体" panose="02010609060101010101" pitchFamily="49" charset="-122"/>
              </a:rPr>
              <a:t># </a:t>
            </a:r>
            <a:r>
              <a:rPr lang="zh-CN" altLang="en-US" sz="1800">
                <a:ea typeface="黑体" panose="02010609060101010101" pitchFamily="49" charset="-122"/>
              </a:rPr>
              <a:t>若</a:t>
            </a:r>
            <a:r>
              <a:rPr lang="en-US" altLang="zh-CN" sz="1800">
                <a:ea typeface="黑体" panose="02010609060101010101" pitchFamily="49" charset="-122"/>
              </a:rPr>
              <a:t>(j=N)</a:t>
            </a:r>
            <a:r>
              <a:rPr lang="zh-CN" altLang="en-US" sz="1800">
                <a:ea typeface="黑体" panose="02010609060101010101" pitchFamily="49" charset="-122"/>
              </a:rPr>
              <a:t>则跳出内循环</a:t>
            </a:r>
          </a:p>
          <a:p>
            <a:pPr>
              <a:lnSpc>
                <a:spcPct val="90000"/>
              </a:lnSpc>
              <a:buFont typeface="Times New Roman" panose="02020603050405020304" pitchFamily="18" charset="0"/>
              <a:buNone/>
            </a:pPr>
            <a:r>
              <a:rPr lang="zh-CN" altLang="en-US" sz="1800">
                <a:ea typeface="宋体" panose="02010600030101010101" pitchFamily="2" charset="-122"/>
              </a:rPr>
              <a:t>	           </a:t>
            </a:r>
            <a:r>
              <a:rPr lang="en-US" altLang="zh-CN" sz="1800">
                <a:ea typeface="宋体" panose="02010600030101010101" pitchFamily="2" charset="-122"/>
              </a:rPr>
              <a:t>addi $t2, $t2, 1	     # j=j+1</a:t>
            </a:r>
          </a:p>
          <a:p>
            <a:pPr>
              <a:lnSpc>
                <a:spcPct val="90000"/>
              </a:lnSpc>
              <a:buFont typeface="Times New Roman" panose="02020603050405020304" pitchFamily="18" charset="0"/>
              <a:buNone/>
            </a:pPr>
            <a:r>
              <a:rPr lang="en-US" altLang="zh-CN" sz="1800">
                <a:ea typeface="宋体" panose="02010600030101010101" pitchFamily="2" charset="-122"/>
              </a:rPr>
              <a:t>  	           addi $t0, $t0, 1	     #sum=sum+1</a:t>
            </a:r>
          </a:p>
          <a:p>
            <a:pPr>
              <a:lnSpc>
                <a:spcPct val="90000"/>
              </a:lnSpc>
              <a:buFont typeface="Times New Roman" panose="02020603050405020304" pitchFamily="18" charset="0"/>
              <a:buNone/>
            </a:pPr>
            <a:r>
              <a:rPr lang="en-US" altLang="zh-CN" sz="1800">
                <a:ea typeface="宋体" panose="02010600030101010101" pitchFamily="2" charset="-122"/>
              </a:rPr>
              <a:t>	           j  Loop-j</a:t>
            </a:r>
          </a:p>
          <a:p>
            <a:pPr>
              <a:lnSpc>
                <a:spcPct val="90000"/>
              </a:lnSpc>
              <a:buFont typeface="Times New Roman" panose="02020603050405020304" pitchFamily="18" charset="0"/>
              <a:buNone/>
            </a:pPr>
            <a:r>
              <a:rPr lang="en-US" altLang="zh-CN" sz="1800">
                <a:ea typeface="宋体" panose="02010600030101010101" pitchFamily="2" charset="-122"/>
              </a:rPr>
              <a:t>exit-j:   addi $t1, $t1, 1	     # i=i +1</a:t>
            </a:r>
          </a:p>
          <a:p>
            <a:pPr>
              <a:lnSpc>
                <a:spcPct val="90000"/>
              </a:lnSpc>
              <a:buFont typeface="Times New Roman" panose="02020603050405020304" pitchFamily="18" charset="0"/>
              <a:buNone/>
            </a:pPr>
            <a:r>
              <a:rPr lang="en-US" altLang="zh-CN" sz="1800">
                <a:ea typeface="宋体" panose="02010600030101010101" pitchFamily="2" charset="-122"/>
              </a:rPr>
              <a:t>              j  Loop-i</a:t>
            </a:r>
          </a:p>
          <a:p>
            <a:pPr>
              <a:lnSpc>
                <a:spcPct val="90000"/>
              </a:lnSpc>
              <a:buFont typeface="Times New Roman" panose="02020603050405020304" pitchFamily="18" charset="0"/>
              <a:buNone/>
            </a:pPr>
            <a:r>
              <a:rPr lang="en-US" altLang="zh-CN" sz="1800">
                <a:ea typeface="宋体" panose="02010600030101010101" pitchFamily="2" charset="-122"/>
              </a:rPr>
              <a:t>exit-i:   … …</a:t>
            </a:r>
            <a:endParaRPr lang="zh-CN" altLang="en-US" sz="1800">
              <a:ea typeface="宋体" panose="02010600030101010101" pitchFamily="2" charset="-122"/>
            </a:endParaRPr>
          </a:p>
        </p:txBody>
      </p:sp>
      <p:sp>
        <p:nvSpPr>
          <p:cNvPr id="140293" name="AutoShape 5">
            <a:extLst>
              <a:ext uri="{FF2B5EF4-FFF2-40B4-BE49-F238E27FC236}">
                <a16:creationId xmlns:a16="http://schemas.microsoft.com/office/drawing/2014/main" id="{7CE2742B-1CF0-9A43-87FD-4535EA0D4B9C}"/>
              </a:ext>
            </a:extLst>
          </p:cNvPr>
          <p:cNvSpPr>
            <a:spLocks noChangeArrowheads="1"/>
          </p:cNvSpPr>
          <p:nvPr/>
        </p:nvSpPr>
        <p:spPr bwMode="auto">
          <a:xfrm>
            <a:off x="2692400" y="2146300"/>
            <a:ext cx="508000" cy="673100"/>
          </a:xfrm>
          <a:prstGeom prst="rightArrow">
            <a:avLst>
              <a:gd name="adj1" fmla="val 50000"/>
              <a:gd name="adj2" fmla="val 25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7863" name="Rectangle 7">
            <a:extLst>
              <a:ext uri="{FF2B5EF4-FFF2-40B4-BE49-F238E27FC236}">
                <a16:creationId xmlns:a16="http://schemas.microsoft.com/office/drawing/2014/main" id="{A5DAEA19-E72F-794F-86D1-367A4F972045}"/>
              </a:ext>
            </a:extLst>
          </p:cNvPr>
          <p:cNvSpPr>
            <a:spLocks noChangeArrowheads="1"/>
          </p:cNvSpPr>
          <p:nvPr/>
        </p:nvSpPr>
        <p:spPr bwMode="auto">
          <a:xfrm>
            <a:off x="142875" y="4460875"/>
            <a:ext cx="505777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latin typeface="Arial" panose="020B0604020202020204" pitchFamily="34" charset="0"/>
                <a:ea typeface="黑体" panose="02010609060101010101" pitchFamily="49" charset="-122"/>
              </a:rPr>
              <a:t>外循环中的分支指令共执行</a:t>
            </a:r>
            <a:r>
              <a:rPr lang="en-US" altLang="zh-CN" sz="1900">
                <a:latin typeface="Arial" panose="020B0604020202020204" pitchFamily="34" charset="0"/>
                <a:ea typeface="黑体" panose="02010609060101010101" pitchFamily="49" charset="-122"/>
              </a:rPr>
              <a:t>N+1</a:t>
            </a:r>
            <a:r>
              <a:rPr lang="zh-CN" altLang="en-US" sz="1900">
                <a:latin typeface="Arial" panose="020B0604020202020204" pitchFamily="34" charset="0"/>
                <a:ea typeface="黑体" panose="02010609060101010101" pitchFamily="49" charset="-122"/>
              </a:rPr>
              <a:t>次，</a:t>
            </a:r>
          </a:p>
          <a:p>
            <a:r>
              <a:rPr lang="zh-CN" altLang="en-US" sz="1900">
                <a:latin typeface="Arial" panose="020B0604020202020204" pitchFamily="34" charset="0"/>
                <a:ea typeface="黑体" panose="02010609060101010101" pitchFamily="49" charset="-122"/>
              </a:rPr>
              <a:t>内循环中的分支指令共执行</a:t>
            </a:r>
            <a:r>
              <a:rPr lang="en-US" altLang="zh-CN" sz="1900">
                <a:latin typeface="Arial" panose="020B0604020202020204" pitchFamily="34" charset="0"/>
                <a:ea typeface="黑体" panose="02010609060101010101" pitchFamily="49" charset="-122"/>
              </a:rPr>
              <a:t>N×(N+1)</a:t>
            </a:r>
            <a:r>
              <a:rPr lang="zh-CN" altLang="en-US" sz="1900">
                <a:latin typeface="Arial" panose="020B0604020202020204" pitchFamily="34" charset="0"/>
                <a:ea typeface="黑体" panose="02010609060101010101" pitchFamily="49" charset="-122"/>
              </a:rPr>
              <a:t>次。</a:t>
            </a:r>
          </a:p>
        </p:txBody>
      </p:sp>
      <p:sp>
        <p:nvSpPr>
          <p:cNvPr id="377864" name="Rectangle 8">
            <a:extLst>
              <a:ext uri="{FF2B5EF4-FFF2-40B4-BE49-F238E27FC236}">
                <a16:creationId xmlns:a16="http://schemas.microsoft.com/office/drawing/2014/main" id="{064BBFED-A342-E742-BA8A-4E41ADF650FB}"/>
              </a:ext>
            </a:extLst>
          </p:cNvPr>
          <p:cNvSpPr>
            <a:spLocks noChangeArrowheads="1"/>
          </p:cNvSpPr>
          <p:nvPr/>
        </p:nvSpPr>
        <p:spPr bwMode="auto">
          <a:xfrm>
            <a:off x="0" y="5180013"/>
            <a:ext cx="855345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latin typeface="Arial" panose="020B0604020202020204" pitchFamily="34" charset="0"/>
                <a:ea typeface="黑体" panose="02010609060101010101" pitchFamily="49" charset="-122"/>
              </a:rPr>
              <a:t>若预测位初始为</a:t>
            </a:r>
            <a:r>
              <a:rPr lang="en-US" altLang="zh-CN" sz="1900">
                <a:latin typeface="Arial" panose="020B0604020202020204" pitchFamily="34" charset="0"/>
                <a:ea typeface="黑体" panose="02010609060101010101" pitchFamily="49" charset="-122"/>
              </a:rPr>
              <a:t>0</a:t>
            </a:r>
            <a:r>
              <a:rPr lang="zh-CN" altLang="en-US" sz="1900">
                <a:latin typeface="Arial" panose="020B0604020202020204" pitchFamily="34" charset="0"/>
                <a:ea typeface="黑体" panose="02010609060101010101" pitchFamily="49" charset="-122"/>
              </a:rPr>
              <a:t>，则外循环只有最后一次预测错误；跳出内循环时预测位变为</a:t>
            </a:r>
            <a:r>
              <a:rPr lang="en-US" altLang="zh-CN" sz="1900">
                <a:latin typeface="Arial" panose="020B0604020202020204" pitchFamily="34" charset="0"/>
                <a:ea typeface="黑体" panose="02010609060101010101" pitchFamily="49" charset="-122"/>
              </a:rPr>
              <a:t>1</a:t>
            </a:r>
            <a:r>
              <a:rPr lang="zh-CN" altLang="en-US" sz="1900">
                <a:latin typeface="Arial" panose="020B0604020202020204" pitchFamily="34" charset="0"/>
                <a:ea typeface="黑体" panose="02010609060101010101" pitchFamily="49" charset="-122"/>
              </a:rPr>
              <a:t>，再进入内循环时，第一次总是预测错误，并且任何一次循环的最后一次总是预测错误，因此，总共有</a:t>
            </a:r>
            <a:r>
              <a:rPr lang="en-US" altLang="zh-CN" sz="1900">
                <a:latin typeface="Arial" panose="020B0604020202020204" pitchFamily="34" charset="0"/>
                <a:ea typeface="黑体" panose="02010609060101010101" pitchFamily="49" charset="-122"/>
              </a:rPr>
              <a:t>1+2×(N–1)</a:t>
            </a:r>
            <a:r>
              <a:rPr lang="zh-CN" altLang="en-US" sz="1900">
                <a:latin typeface="Arial" panose="020B0604020202020204" pitchFamily="34" charset="0"/>
                <a:ea typeface="黑体" panose="02010609060101010101" pitchFamily="49" charset="-122"/>
              </a:rPr>
              <a:t>次预测错误（第一次循环有</a:t>
            </a:r>
            <a:r>
              <a:rPr lang="en-US" altLang="zh-CN" sz="1900">
                <a:latin typeface="Arial" panose="020B0604020202020204" pitchFamily="34" charset="0"/>
                <a:ea typeface="黑体" panose="02010609060101010101" pitchFamily="49" charset="-122"/>
              </a:rPr>
              <a:t>1</a:t>
            </a:r>
            <a:r>
              <a:rPr lang="zh-CN" altLang="en-US" sz="1900">
                <a:latin typeface="Arial" panose="020B0604020202020204" pitchFamily="34" charset="0"/>
                <a:ea typeface="黑体" panose="02010609060101010101" pitchFamily="49" charset="-122"/>
              </a:rPr>
              <a:t>次预测错，后面</a:t>
            </a:r>
            <a:r>
              <a:rPr lang="en-US" altLang="zh-CN" sz="1900">
                <a:latin typeface="Arial" panose="020B0604020202020204" pitchFamily="34" charset="0"/>
                <a:ea typeface="黑体" panose="02010609060101010101" pitchFamily="49" charset="-122"/>
              </a:rPr>
              <a:t>(N-1)</a:t>
            </a:r>
            <a:r>
              <a:rPr lang="zh-CN" altLang="en-US" sz="1900">
                <a:latin typeface="Arial" panose="020B0604020202020204" pitchFamily="34" charset="0"/>
                <a:ea typeface="黑体" panose="02010609060101010101" pitchFamily="49" charset="-122"/>
              </a:rPr>
              <a:t>次循环每次有</a:t>
            </a:r>
            <a:r>
              <a:rPr lang="en-US" altLang="zh-CN" sz="1900">
                <a:latin typeface="Arial" panose="020B0604020202020204" pitchFamily="34" charset="0"/>
                <a:ea typeface="黑体" panose="02010609060101010101" pitchFamily="49" charset="-122"/>
              </a:rPr>
              <a:t>2</a:t>
            </a:r>
            <a:r>
              <a:rPr lang="zh-CN" altLang="en-US" sz="1900">
                <a:latin typeface="Arial" panose="020B0604020202020204" pitchFamily="34" charset="0"/>
                <a:ea typeface="黑体" panose="02010609060101010101" pitchFamily="49" charset="-122"/>
              </a:rPr>
              <a:t>次预测错）。</a:t>
            </a:r>
          </a:p>
        </p:txBody>
      </p:sp>
      <p:sp>
        <p:nvSpPr>
          <p:cNvPr id="377865" name="Text Box 9">
            <a:extLst>
              <a:ext uri="{FF2B5EF4-FFF2-40B4-BE49-F238E27FC236}">
                <a16:creationId xmlns:a16="http://schemas.microsoft.com/office/drawing/2014/main" id="{B4060ACA-8C70-4C4A-81BC-0E37A0D1A248}"/>
              </a:ext>
            </a:extLst>
          </p:cNvPr>
          <p:cNvSpPr txBox="1">
            <a:spLocks noChangeArrowheads="1"/>
          </p:cNvSpPr>
          <p:nvPr/>
        </p:nvSpPr>
        <p:spPr bwMode="auto">
          <a:xfrm>
            <a:off x="4498975" y="6149975"/>
            <a:ext cx="298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solidFill>
                  <a:schemeClr val="accent1"/>
                </a:solidFill>
                <a:latin typeface="Arial" panose="020B0604020202020204" pitchFamily="34" charset="0"/>
                <a:ea typeface="黑体" panose="02010609060101010101" pitchFamily="49" charset="-122"/>
              </a:rPr>
              <a:t>N</a:t>
            </a:r>
            <a:r>
              <a:rPr lang="zh-CN" altLang="en-US" sz="2000">
                <a:solidFill>
                  <a:schemeClr val="accent1"/>
                </a:solidFill>
                <a:latin typeface="Arial" panose="020B0604020202020204" pitchFamily="34" charset="0"/>
                <a:ea typeface="黑体" panose="02010609060101010101" pitchFamily="49" charset="-122"/>
              </a:rPr>
              <a:t>越大预测准确率越高！</a:t>
            </a:r>
          </a:p>
        </p:txBody>
      </p:sp>
      <p:sp>
        <p:nvSpPr>
          <p:cNvPr id="377866" name="Text Box 10">
            <a:extLst>
              <a:ext uri="{FF2B5EF4-FFF2-40B4-BE49-F238E27FC236}">
                <a16:creationId xmlns:a16="http://schemas.microsoft.com/office/drawing/2014/main" id="{C7F5A469-57C5-1047-AD16-9D4FD1260E34}"/>
              </a:ext>
            </a:extLst>
          </p:cNvPr>
          <p:cNvSpPr txBox="1">
            <a:spLocks noChangeArrowheads="1"/>
          </p:cNvSpPr>
          <p:nvPr/>
        </p:nvSpPr>
        <p:spPr bwMode="auto">
          <a:xfrm>
            <a:off x="5073650" y="4340225"/>
            <a:ext cx="3227388"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15000"/>
              </a:spcBef>
            </a:pPr>
            <a:r>
              <a:rPr lang="en-US" altLang="zh-CN" sz="1900">
                <a:solidFill>
                  <a:schemeClr val="accent1"/>
                </a:solidFill>
                <a:latin typeface="Arial" panose="020B0604020202020204" pitchFamily="34" charset="0"/>
                <a:ea typeface="黑体" panose="02010609060101010101" pitchFamily="49" charset="-122"/>
              </a:rPr>
              <a:t>N=10, </a:t>
            </a:r>
            <a:r>
              <a:rPr lang="zh-CN" altLang="en-US" sz="1900">
                <a:solidFill>
                  <a:schemeClr val="accent1"/>
                </a:solidFill>
                <a:latin typeface="Arial" panose="020B0604020202020204" pitchFamily="34" charset="0"/>
                <a:ea typeface="黑体" panose="02010609060101010101" pitchFamily="49" charset="-122"/>
              </a:rPr>
              <a:t>分别</a:t>
            </a:r>
            <a:r>
              <a:rPr lang="en-US" altLang="zh-CN" sz="1900">
                <a:solidFill>
                  <a:schemeClr val="accent1"/>
                </a:solidFill>
                <a:latin typeface="Arial" panose="020B0604020202020204" pitchFamily="34" charset="0"/>
                <a:ea typeface="黑体" panose="02010609060101010101" pitchFamily="49" charset="-122"/>
              </a:rPr>
              <a:t>90.9%</a:t>
            </a:r>
            <a:r>
              <a:rPr lang="zh-CN" altLang="en-US" sz="1900">
                <a:solidFill>
                  <a:schemeClr val="accent1"/>
                </a:solidFill>
                <a:latin typeface="Arial" panose="020B0604020202020204" pitchFamily="34" charset="0"/>
                <a:ea typeface="黑体" panose="02010609060101010101" pitchFamily="49" charset="-122"/>
              </a:rPr>
              <a:t>和</a:t>
            </a:r>
            <a:r>
              <a:rPr lang="en-US" altLang="zh-CN" sz="1900">
                <a:solidFill>
                  <a:schemeClr val="accent1"/>
                </a:solidFill>
                <a:latin typeface="Arial" panose="020B0604020202020204" pitchFamily="34" charset="0"/>
                <a:ea typeface="黑体" panose="02010609060101010101" pitchFamily="49" charset="-122"/>
              </a:rPr>
              <a:t>82.7%</a:t>
            </a:r>
          </a:p>
          <a:p>
            <a:pPr>
              <a:spcBef>
                <a:spcPct val="15000"/>
              </a:spcBef>
            </a:pPr>
            <a:r>
              <a:rPr lang="en-US" altLang="zh-CN" sz="1900">
                <a:solidFill>
                  <a:schemeClr val="accent1"/>
                </a:solidFill>
                <a:latin typeface="Arial" panose="020B0604020202020204" pitchFamily="34" charset="0"/>
                <a:ea typeface="黑体" panose="02010609060101010101" pitchFamily="49" charset="-122"/>
              </a:rPr>
              <a:t>N=100, </a:t>
            </a:r>
            <a:r>
              <a:rPr lang="zh-CN" altLang="en-US" sz="1900">
                <a:solidFill>
                  <a:schemeClr val="accent1"/>
                </a:solidFill>
                <a:latin typeface="Arial" panose="020B0604020202020204" pitchFamily="34" charset="0"/>
                <a:ea typeface="黑体" panose="02010609060101010101" pitchFamily="49" charset="-122"/>
              </a:rPr>
              <a:t>分别</a:t>
            </a:r>
            <a:r>
              <a:rPr lang="en-US" altLang="zh-CN" sz="1900">
                <a:solidFill>
                  <a:schemeClr val="accent1"/>
                </a:solidFill>
                <a:latin typeface="Arial" panose="020B0604020202020204" pitchFamily="34" charset="0"/>
                <a:ea typeface="黑体" panose="02010609060101010101" pitchFamily="49" charset="-122"/>
              </a:rPr>
              <a:t>99%</a:t>
            </a:r>
            <a:r>
              <a:rPr lang="zh-CN" altLang="en-US" sz="1900">
                <a:solidFill>
                  <a:schemeClr val="accent1"/>
                </a:solidFill>
                <a:latin typeface="Arial" panose="020B0604020202020204" pitchFamily="34" charset="0"/>
                <a:ea typeface="黑体" panose="02010609060101010101" pitchFamily="49" charset="-122"/>
              </a:rPr>
              <a:t>和</a:t>
            </a:r>
            <a:r>
              <a:rPr lang="en-US" altLang="zh-CN" sz="1900">
                <a:solidFill>
                  <a:schemeClr val="accent1"/>
                </a:solidFill>
                <a:latin typeface="Arial" panose="020B0604020202020204" pitchFamily="34" charset="0"/>
                <a:ea typeface="黑体" panose="02010609060101010101" pitchFamily="49" charset="-122"/>
              </a:rPr>
              <a:t>98%</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7860"/>
                                        </p:tgtEl>
                                        <p:attrNameLst>
                                          <p:attrName>style.visibility</p:attrName>
                                        </p:attrNameLst>
                                      </p:cBhvr>
                                      <p:to>
                                        <p:strVal val="visible"/>
                                      </p:to>
                                    </p:set>
                                    <p:animEffect transition="in" filter="blinds(horizontal)">
                                      <p:cBhvr>
                                        <p:cTn id="7" dur="500"/>
                                        <p:tgtEl>
                                          <p:spTgt spid="3778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7863"/>
                                        </p:tgtEl>
                                        <p:attrNameLst>
                                          <p:attrName>style.visibility</p:attrName>
                                        </p:attrNameLst>
                                      </p:cBhvr>
                                      <p:to>
                                        <p:strVal val="visible"/>
                                      </p:to>
                                    </p:set>
                                    <p:animEffect transition="in" filter="blinds(horizontal)">
                                      <p:cBhvr>
                                        <p:cTn id="12" dur="500"/>
                                        <p:tgtEl>
                                          <p:spTgt spid="3778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7864"/>
                                        </p:tgtEl>
                                        <p:attrNameLst>
                                          <p:attrName>style.visibility</p:attrName>
                                        </p:attrNameLst>
                                      </p:cBhvr>
                                      <p:to>
                                        <p:strVal val="visible"/>
                                      </p:to>
                                    </p:set>
                                    <p:animEffect transition="in" filter="blinds(horizontal)">
                                      <p:cBhvr>
                                        <p:cTn id="17" dur="500"/>
                                        <p:tgtEl>
                                          <p:spTgt spid="3778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7866"/>
                                        </p:tgtEl>
                                        <p:attrNameLst>
                                          <p:attrName>style.visibility</p:attrName>
                                        </p:attrNameLst>
                                      </p:cBhvr>
                                      <p:to>
                                        <p:strVal val="visible"/>
                                      </p:to>
                                    </p:set>
                                    <p:animEffect transition="in" filter="blinds(horizontal)">
                                      <p:cBhvr>
                                        <p:cTn id="22" dur="500"/>
                                        <p:tgtEl>
                                          <p:spTgt spid="3778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7865"/>
                                        </p:tgtEl>
                                        <p:attrNameLst>
                                          <p:attrName>style.visibility</p:attrName>
                                        </p:attrNameLst>
                                      </p:cBhvr>
                                      <p:to>
                                        <p:strVal val="visible"/>
                                      </p:to>
                                    </p:set>
                                    <p:animEffect transition="in" filter="blinds(horizontal)">
                                      <p:cBhvr>
                                        <p:cTn id="27" dur="500"/>
                                        <p:tgtEl>
                                          <p:spTgt spid="377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animBg="1"/>
      <p:bldP spid="377863" grpId="0"/>
      <p:bldP spid="377864" grpId="0"/>
      <p:bldP spid="377865" grpId="0"/>
      <p:bldP spid="3778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7D3F52B2-841D-404C-BEA6-1CC0DDBBE574}"/>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动态预测基本方法</a:t>
            </a:r>
          </a:p>
        </p:txBody>
      </p:sp>
      <p:sp>
        <p:nvSpPr>
          <p:cNvPr id="384003" name="Rectangle 3">
            <a:extLst>
              <a:ext uri="{FF2B5EF4-FFF2-40B4-BE49-F238E27FC236}">
                <a16:creationId xmlns:a16="http://schemas.microsoft.com/office/drawing/2014/main" id="{09F42A6A-4BE6-DF44-8A9C-C8947303360A}"/>
              </a:ext>
            </a:extLst>
          </p:cNvPr>
          <p:cNvSpPr>
            <a:spLocks noGrp="1" noChangeArrowheads="1"/>
          </p:cNvSpPr>
          <p:nvPr>
            <p:ph type="body" idx="1"/>
          </p:nvPr>
        </p:nvSpPr>
        <p:spPr>
          <a:xfrm>
            <a:off x="296863" y="677863"/>
            <a:ext cx="8540750" cy="5211762"/>
          </a:xfrm>
        </p:spPr>
        <p:txBody>
          <a:bodyPr/>
          <a:lstStyle/>
          <a:p>
            <a:pPr>
              <a:lnSpc>
                <a:spcPct val="120000"/>
              </a:lnSpc>
              <a:spcBef>
                <a:spcPct val="10000"/>
              </a:spcBef>
            </a:pPr>
            <a:r>
              <a:rPr lang="zh-CN" altLang="en-US" sz="1900">
                <a:ea typeface="黑体" panose="02010609060101010101" pitchFamily="49" charset="-122"/>
              </a:rPr>
              <a:t>采用一位预测位：总是按上次实际发生的情况来预测下次</a:t>
            </a:r>
            <a:endParaRPr lang="en-US" altLang="zh-CN" sz="1900">
              <a:ea typeface="黑体" panose="02010609060101010101" pitchFamily="49" charset="-122"/>
            </a:endParaRPr>
          </a:p>
          <a:p>
            <a:pPr lvl="1">
              <a:lnSpc>
                <a:spcPct val="120000"/>
              </a:lnSpc>
              <a:spcBef>
                <a:spcPct val="10000"/>
              </a:spcBef>
            </a:pPr>
            <a:r>
              <a:rPr lang="en-US" altLang="zh-CN" sz="1900">
                <a:ea typeface="黑体" panose="02010609060101010101" pitchFamily="49" charset="-122"/>
              </a:rPr>
              <a:t>1</a:t>
            </a:r>
            <a:r>
              <a:rPr lang="zh-CN" altLang="en-US" sz="1900">
                <a:ea typeface="黑体" panose="02010609060101010101" pitchFamily="49" charset="-122"/>
              </a:rPr>
              <a:t>表示最近一次发生过转移（</a:t>
            </a:r>
            <a:r>
              <a:rPr lang="en-US" altLang="zh-CN" sz="1900">
                <a:ea typeface="黑体" panose="02010609060101010101" pitchFamily="49" charset="-122"/>
              </a:rPr>
              <a:t>taken</a:t>
            </a:r>
            <a:r>
              <a:rPr lang="zh-CN" altLang="en-US" sz="1900">
                <a:ea typeface="黑体" panose="02010609060101010101" pitchFamily="49" charset="-122"/>
              </a:rPr>
              <a:t>），</a:t>
            </a:r>
            <a:r>
              <a:rPr lang="en-US" altLang="zh-CN" sz="1900">
                <a:ea typeface="黑体" panose="02010609060101010101" pitchFamily="49" charset="-122"/>
              </a:rPr>
              <a:t>0</a:t>
            </a:r>
            <a:r>
              <a:rPr lang="zh-CN" altLang="en-US" sz="1900">
                <a:ea typeface="黑体" panose="02010609060101010101" pitchFamily="49" charset="-122"/>
              </a:rPr>
              <a:t>表示未发生（</a:t>
            </a:r>
            <a:r>
              <a:rPr lang="en-US" altLang="zh-CN" sz="1900">
                <a:ea typeface="黑体" panose="02010609060101010101" pitchFamily="49" charset="-122"/>
              </a:rPr>
              <a:t>not taken</a:t>
            </a:r>
            <a:r>
              <a:rPr lang="zh-CN" altLang="en-US" sz="1900">
                <a:ea typeface="黑体" panose="02010609060101010101" pitchFamily="49" charset="-122"/>
              </a:rPr>
              <a:t>）</a:t>
            </a:r>
          </a:p>
          <a:p>
            <a:pPr lvl="1">
              <a:lnSpc>
                <a:spcPct val="120000"/>
              </a:lnSpc>
              <a:spcBef>
                <a:spcPct val="10000"/>
              </a:spcBef>
            </a:pPr>
            <a:r>
              <a:rPr lang="zh-CN" altLang="en-US" sz="1900">
                <a:ea typeface="黑体" panose="02010609060101010101" pitchFamily="49" charset="-122"/>
              </a:rPr>
              <a:t>预测时，若为</a:t>
            </a:r>
            <a:r>
              <a:rPr lang="en-US" altLang="zh-CN" sz="1900">
                <a:ea typeface="黑体" panose="02010609060101010101" pitchFamily="49" charset="-122"/>
              </a:rPr>
              <a:t>1</a:t>
            </a:r>
            <a:r>
              <a:rPr lang="zh-CN" altLang="en-US" sz="1900">
                <a:ea typeface="黑体" panose="02010609060101010101" pitchFamily="49" charset="-122"/>
              </a:rPr>
              <a:t>，则预测下次</a:t>
            </a:r>
            <a:r>
              <a:rPr lang="en-US" altLang="zh-CN" sz="1900">
                <a:ea typeface="黑体" panose="02010609060101010101" pitchFamily="49" charset="-122"/>
              </a:rPr>
              <a:t>taken</a:t>
            </a:r>
            <a:r>
              <a:rPr lang="zh-CN" altLang="en-US" sz="1900">
                <a:ea typeface="黑体" panose="02010609060101010101" pitchFamily="49" charset="-122"/>
              </a:rPr>
              <a:t>，若为</a:t>
            </a:r>
            <a:r>
              <a:rPr lang="en-US" altLang="zh-CN" sz="1900">
                <a:ea typeface="黑体" panose="02010609060101010101" pitchFamily="49" charset="-122"/>
              </a:rPr>
              <a:t>0</a:t>
            </a:r>
            <a:r>
              <a:rPr lang="zh-CN" altLang="en-US" sz="1900">
                <a:ea typeface="黑体" panose="02010609060101010101" pitchFamily="49" charset="-122"/>
              </a:rPr>
              <a:t>，则预测下次</a:t>
            </a:r>
            <a:r>
              <a:rPr lang="en-US" altLang="zh-CN" sz="1900">
                <a:ea typeface="黑体" panose="02010609060101010101" pitchFamily="49" charset="-122"/>
              </a:rPr>
              <a:t>not taken</a:t>
            </a:r>
          </a:p>
          <a:p>
            <a:pPr lvl="1">
              <a:lnSpc>
                <a:spcPct val="120000"/>
              </a:lnSpc>
              <a:spcBef>
                <a:spcPct val="10000"/>
              </a:spcBef>
            </a:pPr>
            <a:r>
              <a:rPr lang="zh-CN" altLang="en-US" sz="1900">
                <a:ea typeface="黑体" panose="02010609060101010101" pitchFamily="49" charset="-122"/>
              </a:rPr>
              <a:t>实际执行时，若预测错，则该位取反，否则，该位不变</a:t>
            </a:r>
          </a:p>
          <a:p>
            <a:pPr lvl="1">
              <a:lnSpc>
                <a:spcPct val="120000"/>
              </a:lnSpc>
              <a:spcBef>
                <a:spcPct val="10000"/>
              </a:spcBef>
            </a:pPr>
            <a:r>
              <a:rPr lang="zh-CN" altLang="en-US" sz="1900">
                <a:ea typeface="黑体" panose="02010609060101010101" pitchFamily="49" charset="-122"/>
              </a:rPr>
              <a:t>可用一个简单的</a:t>
            </a:r>
            <a:r>
              <a:rPr lang="zh-CN" altLang="en-US" sz="1900">
                <a:ea typeface="黑体" panose="02010609060101010101" pitchFamily="49" charset="-122"/>
                <a:hlinkClick r:id="rId2" action="ppaction://hlinksldjump"/>
              </a:rPr>
              <a:t>预测状态图</a:t>
            </a:r>
            <a:r>
              <a:rPr lang="zh-CN" altLang="en-US" sz="1900">
                <a:ea typeface="黑体" panose="02010609060101010101" pitchFamily="49" charset="-122"/>
              </a:rPr>
              <a:t>表示</a:t>
            </a:r>
          </a:p>
          <a:p>
            <a:pPr lvl="1">
              <a:lnSpc>
                <a:spcPct val="120000"/>
              </a:lnSpc>
              <a:spcBef>
                <a:spcPct val="10000"/>
              </a:spcBef>
            </a:pPr>
            <a:r>
              <a:rPr lang="zh-CN" altLang="en-US" sz="1900">
                <a:ea typeface="黑体" panose="02010609060101010101" pitchFamily="49" charset="-122"/>
              </a:rPr>
              <a:t>缺点：当连续两次的分支情况发生改变时，预测错误</a:t>
            </a:r>
          </a:p>
          <a:p>
            <a:pPr lvl="2">
              <a:lnSpc>
                <a:spcPct val="120000"/>
              </a:lnSpc>
              <a:spcBef>
                <a:spcPct val="10000"/>
              </a:spcBef>
            </a:pPr>
            <a:r>
              <a:rPr lang="zh-CN" altLang="en-US" sz="1900">
                <a:solidFill>
                  <a:srgbClr val="CC3300"/>
                </a:solidFill>
                <a:ea typeface="黑体" panose="02010609060101010101" pitchFamily="49" charset="-122"/>
              </a:rPr>
              <a:t>例如，循环迭代分支时，第一次和最后一次会发生预测错误，因为循环的第一次和最后一次都会改变分支情况，而在循环中间的各次总是会发生分支，按上次的实际情况预测时，都不会错。</a:t>
            </a:r>
            <a:endParaRPr lang="zh-CN" altLang="en-US" sz="1900">
              <a:solidFill>
                <a:srgbClr val="3399FF"/>
              </a:solidFill>
              <a:ea typeface="黑体" panose="02010609060101010101" pitchFamily="49" charset="-122"/>
            </a:endParaRPr>
          </a:p>
          <a:p>
            <a:pPr>
              <a:lnSpc>
                <a:spcPct val="120000"/>
              </a:lnSpc>
              <a:spcBef>
                <a:spcPct val="10000"/>
              </a:spcBef>
            </a:pPr>
            <a:r>
              <a:rPr lang="zh-CN" altLang="en-US" sz="1900">
                <a:ea typeface="黑体" panose="02010609060101010101" pitchFamily="49" charset="-122"/>
              </a:rPr>
              <a:t>采用二位预测位</a:t>
            </a:r>
          </a:p>
          <a:p>
            <a:pPr lvl="1">
              <a:lnSpc>
                <a:spcPct val="120000"/>
              </a:lnSpc>
              <a:spcBef>
                <a:spcPct val="10000"/>
              </a:spcBef>
            </a:pPr>
            <a:r>
              <a:rPr lang="zh-CN" altLang="en-US" sz="1900">
                <a:ea typeface="黑体" panose="02010609060101010101" pitchFamily="49" charset="-122"/>
              </a:rPr>
              <a:t>用</a:t>
            </a:r>
            <a:r>
              <a:rPr lang="en-US" altLang="zh-CN" sz="1900">
                <a:ea typeface="黑体" panose="02010609060101010101" pitchFamily="49" charset="-122"/>
              </a:rPr>
              <a:t>2</a:t>
            </a:r>
            <a:r>
              <a:rPr lang="zh-CN" altLang="en-US" sz="1900">
                <a:ea typeface="黑体" panose="02010609060101010101" pitchFamily="49" charset="-122"/>
              </a:rPr>
              <a:t>位组合四种情况来表示预测和实际转移情况</a:t>
            </a:r>
          </a:p>
          <a:p>
            <a:pPr lvl="1">
              <a:lnSpc>
                <a:spcPct val="120000"/>
              </a:lnSpc>
              <a:spcBef>
                <a:spcPct val="10000"/>
              </a:spcBef>
            </a:pPr>
            <a:r>
              <a:rPr lang="zh-CN" altLang="en-US" sz="1900">
                <a:ea typeface="黑体" panose="02010609060101010101" pitchFamily="49" charset="-122"/>
              </a:rPr>
              <a:t>按照</a:t>
            </a:r>
            <a:r>
              <a:rPr lang="zh-CN" altLang="en-US" sz="1900">
                <a:ea typeface="黑体" panose="02010609060101010101" pitchFamily="49" charset="-122"/>
                <a:hlinkClick r:id="rId3" action="ppaction://hlinksldjump"/>
              </a:rPr>
              <a:t>预测状态图</a:t>
            </a:r>
            <a:r>
              <a:rPr lang="zh-CN" altLang="en-US" sz="1900">
                <a:ea typeface="黑体" panose="02010609060101010101" pitchFamily="49" charset="-122"/>
              </a:rPr>
              <a:t>进行预测和调整</a:t>
            </a:r>
          </a:p>
          <a:p>
            <a:pPr lvl="1">
              <a:lnSpc>
                <a:spcPct val="120000"/>
              </a:lnSpc>
              <a:spcBef>
                <a:spcPct val="10000"/>
              </a:spcBef>
            </a:pPr>
            <a:r>
              <a:rPr lang="zh-CN" altLang="en-US" sz="1900">
                <a:ea typeface="黑体" panose="02010609060101010101" pitchFamily="49" charset="-122"/>
              </a:rPr>
              <a:t>在连续两次分支发生不同时，只会有一次预测错误</a:t>
            </a:r>
            <a:endParaRPr lang="en-US" altLang="zh-CN" sz="1900">
              <a:ea typeface="黑体" panose="02010609060101010101" pitchFamily="49" charset="-122"/>
            </a:endParaRPr>
          </a:p>
          <a:p>
            <a:endParaRPr lang="zh-CN" altLang="en-US" sz="1900">
              <a:solidFill>
                <a:schemeClr val="accent2"/>
              </a:solidFill>
              <a:ea typeface="黑体" panose="02010609060101010101" pitchFamily="49" charset="-122"/>
            </a:endParaRPr>
          </a:p>
        </p:txBody>
      </p:sp>
      <p:sp>
        <p:nvSpPr>
          <p:cNvPr id="384004" name="Text Box 4">
            <a:extLst>
              <a:ext uri="{FF2B5EF4-FFF2-40B4-BE49-F238E27FC236}">
                <a16:creationId xmlns:a16="http://schemas.microsoft.com/office/drawing/2014/main" id="{165E76BA-4BB2-3E44-8407-104903AC5A17}"/>
              </a:ext>
            </a:extLst>
          </p:cNvPr>
          <p:cNvSpPr txBox="1">
            <a:spLocks noChangeArrowheads="1"/>
          </p:cNvSpPr>
          <p:nvPr/>
        </p:nvSpPr>
        <p:spPr bwMode="auto">
          <a:xfrm>
            <a:off x="660400" y="5705475"/>
            <a:ext cx="6459538"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05000"/>
              </a:lnSpc>
              <a:spcBef>
                <a:spcPct val="50000"/>
              </a:spcBef>
            </a:pPr>
            <a:r>
              <a:rPr lang="zh-CN" altLang="en-US" sz="2000">
                <a:solidFill>
                  <a:srgbClr val="CC0000"/>
                </a:solidFill>
                <a:latin typeface="Arial" panose="020B0604020202020204" pitchFamily="34" charset="0"/>
                <a:ea typeface="黑体" panose="02010609060101010101" pitchFamily="49" charset="-122"/>
              </a:rPr>
              <a:t>采用较多的是二位或二位以上预测位。如：</a:t>
            </a:r>
            <a:r>
              <a:rPr lang="en-US" altLang="zh-CN" sz="2000">
                <a:solidFill>
                  <a:srgbClr val="CC0000"/>
                </a:solidFill>
                <a:latin typeface="Arial" panose="020B0604020202020204" pitchFamily="34" charset="0"/>
                <a:ea typeface="黑体" panose="02010609060101010101" pitchFamily="49" charset="-122"/>
              </a:rPr>
              <a:t>Pentium 4 </a:t>
            </a:r>
            <a:r>
              <a:rPr lang="zh-CN" altLang="en-US" sz="2000">
                <a:solidFill>
                  <a:srgbClr val="CC0000"/>
                </a:solidFill>
                <a:latin typeface="Arial" panose="020B0604020202020204" pitchFamily="34" charset="0"/>
                <a:ea typeface="黑体" panose="02010609060101010101" pitchFamily="49" charset="-122"/>
              </a:rPr>
              <a:t>的</a:t>
            </a:r>
            <a:r>
              <a:rPr lang="en-US" altLang="zh-CN" sz="2000">
                <a:solidFill>
                  <a:srgbClr val="CC0000"/>
                </a:solidFill>
                <a:latin typeface="Arial" panose="020B0604020202020204" pitchFamily="34" charset="0"/>
                <a:ea typeface="黑体" panose="02010609060101010101" pitchFamily="49" charset="-122"/>
              </a:rPr>
              <a:t>BTB2</a:t>
            </a:r>
            <a:r>
              <a:rPr lang="zh-CN" altLang="en-US" sz="2000">
                <a:solidFill>
                  <a:srgbClr val="CC0000"/>
                </a:solidFill>
                <a:latin typeface="Arial" panose="020B0604020202020204" pitchFamily="34" charset="0"/>
                <a:ea typeface="黑体" panose="02010609060101010101" pitchFamily="49" charset="-122"/>
              </a:rPr>
              <a:t>采用</a:t>
            </a:r>
            <a:r>
              <a:rPr lang="en-US" altLang="zh-CN" sz="2000">
                <a:solidFill>
                  <a:srgbClr val="CC0000"/>
                </a:solidFill>
                <a:latin typeface="Arial" panose="020B0604020202020204" pitchFamily="34" charset="0"/>
                <a:ea typeface="黑体" panose="02010609060101010101" pitchFamily="49" charset="-122"/>
              </a:rPr>
              <a:t>4</a:t>
            </a:r>
            <a:r>
              <a:rPr lang="zh-CN" altLang="en-US" sz="2000">
                <a:solidFill>
                  <a:srgbClr val="CC0000"/>
                </a:solidFill>
                <a:latin typeface="Arial" panose="020B0604020202020204" pitchFamily="34" charset="0"/>
                <a:ea typeface="黑体" panose="02010609060101010101" pitchFamily="49" charset="-122"/>
              </a:rPr>
              <a:t>位预测位</a:t>
            </a:r>
          </a:p>
        </p:txBody>
      </p:sp>
      <p:sp>
        <p:nvSpPr>
          <p:cNvPr id="384005" name="Text Box 5">
            <a:extLst>
              <a:ext uri="{FF2B5EF4-FFF2-40B4-BE49-F238E27FC236}">
                <a16:creationId xmlns:a16="http://schemas.microsoft.com/office/drawing/2014/main" id="{123AE8E9-C274-654F-83A8-B28B7C724810}"/>
              </a:ext>
            </a:extLst>
          </p:cNvPr>
          <p:cNvSpPr txBox="1">
            <a:spLocks noChangeArrowheads="1"/>
          </p:cNvSpPr>
          <p:nvPr/>
        </p:nvSpPr>
        <p:spPr bwMode="auto">
          <a:xfrm>
            <a:off x="7688263" y="6129338"/>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4" action="ppaction://hlinksldjump"/>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4003">
                                            <p:txEl>
                                              <p:pRg st="6" end="6"/>
                                            </p:txEl>
                                          </p:spTgt>
                                        </p:tgtEl>
                                        <p:attrNameLst>
                                          <p:attrName>style.visibility</p:attrName>
                                        </p:attrNameLst>
                                      </p:cBhvr>
                                      <p:to>
                                        <p:strVal val="visible"/>
                                      </p:to>
                                    </p:set>
                                    <p:animEffect transition="in" filter="blinds(horizontal)">
                                      <p:cBhvr>
                                        <p:cTn id="7" dur="500"/>
                                        <p:tgtEl>
                                          <p:spTgt spid="384003">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4003">
                                            <p:txEl>
                                              <p:pRg st="8" end="8"/>
                                            </p:txEl>
                                          </p:spTgt>
                                        </p:tgtEl>
                                        <p:attrNameLst>
                                          <p:attrName>style.visibility</p:attrName>
                                        </p:attrNameLst>
                                      </p:cBhvr>
                                      <p:to>
                                        <p:strVal val="visible"/>
                                      </p:to>
                                    </p:set>
                                    <p:animEffect transition="in" filter="blinds(horizontal)">
                                      <p:cBhvr>
                                        <p:cTn id="12" dur="500"/>
                                        <p:tgtEl>
                                          <p:spTgt spid="384003">
                                            <p:txEl>
                                              <p:pRg st="8" end="8"/>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4003">
                                            <p:txEl>
                                              <p:pRg st="9" end="9"/>
                                            </p:txEl>
                                          </p:spTgt>
                                        </p:tgtEl>
                                        <p:attrNameLst>
                                          <p:attrName>style.visibility</p:attrName>
                                        </p:attrNameLst>
                                      </p:cBhvr>
                                      <p:to>
                                        <p:strVal val="visible"/>
                                      </p:to>
                                    </p:set>
                                    <p:animEffect transition="in" filter="blinds(horizontal)">
                                      <p:cBhvr>
                                        <p:cTn id="17" dur="500"/>
                                        <p:tgtEl>
                                          <p:spTgt spid="384003">
                                            <p:txEl>
                                              <p:pRg st="9" end="9"/>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4003">
                                            <p:txEl>
                                              <p:pRg st="10" end="10"/>
                                            </p:txEl>
                                          </p:spTgt>
                                        </p:tgtEl>
                                        <p:attrNameLst>
                                          <p:attrName>style.visibility</p:attrName>
                                        </p:attrNameLst>
                                      </p:cBhvr>
                                      <p:to>
                                        <p:strVal val="visible"/>
                                      </p:to>
                                    </p:set>
                                    <p:animEffect transition="in" filter="blinds(horizontal)">
                                      <p:cBhvr>
                                        <p:cTn id="22" dur="500"/>
                                        <p:tgtEl>
                                          <p:spTgt spid="384003">
                                            <p:txEl>
                                              <p:pRg st="10" end="1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4004"/>
                                        </p:tgtEl>
                                        <p:attrNameLst>
                                          <p:attrName>style.visibility</p:attrName>
                                        </p:attrNameLst>
                                      </p:cBhvr>
                                      <p:to>
                                        <p:strVal val="visible"/>
                                      </p:to>
                                    </p:set>
                                    <p:animEffect transition="in" filter="blinds(horizontal)">
                                      <p:cBhvr>
                                        <p:cTn id="27" dur="500"/>
                                        <p:tgtEl>
                                          <p:spTgt spid="3840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4005"/>
                                        </p:tgtEl>
                                        <p:attrNameLst>
                                          <p:attrName>style.visibility</p:attrName>
                                        </p:attrNameLst>
                                      </p:cBhvr>
                                      <p:to>
                                        <p:strVal val="visible"/>
                                      </p:to>
                                    </p:set>
                                    <p:animEffect transition="in" filter="blinds(horizontal)">
                                      <p:cBhvr>
                                        <p:cTn id="32" dur="500"/>
                                        <p:tgtEl>
                                          <p:spTgt spid="384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4" grpId="0"/>
      <p:bldP spid="38400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57636EE5-71E4-AA44-AD30-87D75DBD30AD}"/>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两位预测状态图</a:t>
            </a:r>
          </a:p>
        </p:txBody>
      </p:sp>
      <p:sp>
        <p:nvSpPr>
          <p:cNvPr id="231427" name="Rectangle 3">
            <a:extLst>
              <a:ext uri="{FF2B5EF4-FFF2-40B4-BE49-F238E27FC236}">
                <a16:creationId xmlns:a16="http://schemas.microsoft.com/office/drawing/2014/main" id="{381F9480-27A8-1744-8298-4E84A8BCBD32}"/>
              </a:ext>
            </a:extLst>
          </p:cNvPr>
          <p:cNvSpPr>
            <a:spLocks noGrp="1" noChangeArrowheads="1"/>
          </p:cNvSpPr>
          <p:nvPr>
            <p:ph type="body" idx="1"/>
          </p:nvPr>
        </p:nvSpPr>
        <p:spPr>
          <a:xfrm>
            <a:off x="0" y="3956050"/>
            <a:ext cx="8978900" cy="2625725"/>
          </a:xfrm>
        </p:spPr>
        <p:txBody>
          <a:bodyPr/>
          <a:lstStyle/>
          <a:p>
            <a:pPr>
              <a:lnSpc>
                <a:spcPct val="110000"/>
              </a:lnSpc>
              <a:spcBef>
                <a:spcPct val="10000"/>
              </a:spcBef>
            </a:pPr>
            <a:r>
              <a:rPr lang="zh-CN" altLang="en-US">
                <a:latin typeface="Times New Roman" panose="02020603050405020304" pitchFamily="18" charset="0"/>
                <a:ea typeface="黑体" panose="02010609060101010101" pitchFamily="49" charset="-122"/>
              </a:rPr>
              <a:t>基本思想：只有两次预测错误才改变预测方向</a:t>
            </a:r>
          </a:p>
          <a:p>
            <a:pPr lvl="1">
              <a:lnSpc>
                <a:spcPct val="110000"/>
              </a:lnSpc>
              <a:spcBef>
                <a:spcPct val="10000"/>
              </a:spcBef>
            </a:pPr>
            <a:r>
              <a:rPr lang="en-US" altLang="zh-CN">
                <a:latin typeface="Times New Roman" panose="02020603050405020304" pitchFamily="18" charset="0"/>
                <a:ea typeface="黑体" panose="02010609060101010101" pitchFamily="49" charset="-122"/>
              </a:rPr>
              <a:t>11</a:t>
            </a:r>
            <a:r>
              <a:rPr lang="zh-CN" altLang="en-US">
                <a:latin typeface="Times New Roman" panose="02020603050405020304" pitchFamily="18" charset="0"/>
                <a:ea typeface="黑体" panose="02010609060101010101" pitchFamily="49" charset="-122"/>
              </a:rPr>
              <a:t>状态时预测发生（强转移），实际不发生时，转到状态</a:t>
            </a:r>
            <a:r>
              <a:rPr lang="en-US" altLang="zh-CN">
                <a:latin typeface="Times New Roman" panose="02020603050405020304" pitchFamily="18" charset="0"/>
                <a:ea typeface="黑体" panose="02010609060101010101" pitchFamily="49" charset="-122"/>
              </a:rPr>
              <a:t>10</a:t>
            </a:r>
            <a:r>
              <a:rPr lang="zh-CN" altLang="en-US">
                <a:latin typeface="Times New Roman" panose="02020603050405020304" pitchFamily="18" charset="0"/>
                <a:ea typeface="黑体" panose="02010609060101010101" pitchFamily="49" charset="-122"/>
              </a:rPr>
              <a:t>（弱转移），下次仍预测为发生，如果再次预测错误（实际不发生），才使下次预测调整为不发生</a:t>
            </a:r>
            <a:r>
              <a:rPr lang="en-US" altLang="zh-CN">
                <a:latin typeface="Times New Roman" panose="02020603050405020304" pitchFamily="18" charset="0"/>
                <a:ea typeface="黑体" panose="02010609060101010101" pitchFamily="49" charset="-122"/>
              </a:rPr>
              <a:t>00</a:t>
            </a:r>
          </a:p>
          <a:p>
            <a:pPr>
              <a:lnSpc>
                <a:spcPct val="110000"/>
              </a:lnSpc>
              <a:spcBef>
                <a:spcPct val="10000"/>
              </a:spcBef>
            </a:pPr>
            <a:r>
              <a:rPr lang="zh-CN" altLang="en-US">
                <a:latin typeface="Times New Roman" panose="02020603050405020304" pitchFamily="18" charset="0"/>
                <a:ea typeface="黑体" panose="02010609060101010101" pitchFamily="49" charset="-122"/>
              </a:rPr>
              <a:t>好处：连续两次发生不同的分支情况时，会预测正确</a:t>
            </a:r>
          </a:p>
          <a:p>
            <a:pPr lvl="1">
              <a:lnSpc>
                <a:spcPct val="110000"/>
              </a:lnSpc>
              <a:spcBef>
                <a:spcPct val="10000"/>
              </a:spcBef>
            </a:pPr>
            <a:r>
              <a:rPr lang="zh-CN" altLang="en-US">
                <a:latin typeface="Times New Roman" panose="02020603050405020304" pitchFamily="18" charset="0"/>
                <a:ea typeface="黑体" panose="02010609060101010101" pitchFamily="49" charset="-122"/>
              </a:rPr>
              <a:t>例如，对于循环分支的预测（假定预测初始位为</a:t>
            </a:r>
            <a:r>
              <a:rPr lang="en-US" altLang="zh-CN">
                <a:latin typeface="Times New Roman" panose="02020603050405020304" pitchFamily="18" charset="0"/>
                <a:ea typeface="黑体" panose="02010609060101010101" pitchFamily="49" charset="-122"/>
              </a:rPr>
              <a:t>11</a:t>
            </a:r>
            <a:r>
              <a:rPr lang="zh-CN" altLang="en-US">
                <a:latin typeface="Times New Roman" panose="02020603050405020304" pitchFamily="18" charset="0"/>
                <a:ea typeface="黑体" panose="02010609060101010101" pitchFamily="49" charset="-122"/>
              </a:rPr>
              <a:t>）</a:t>
            </a:r>
          </a:p>
          <a:p>
            <a:pPr lvl="1">
              <a:lnSpc>
                <a:spcPct val="110000"/>
              </a:lnSpc>
              <a:spcBef>
                <a:spcPct val="10000"/>
              </a:spcBef>
            </a:pPr>
            <a:r>
              <a:rPr lang="zh-CN" altLang="en-US">
                <a:solidFill>
                  <a:srgbClr val="CC0000"/>
                </a:solidFill>
                <a:latin typeface="Times New Roman" panose="02020603050405020304" pitchFamily="18" charset="0"/>
                <a:ea typeface="黑体" panose="02010609060101010101" pitchFamily="49" charset="-122"/>
              </a:rPr>
              <a:t>第一次：初始态为</a:t>
            </a:r>
            <a:r>
              <a:rPr lang="en-US" altLang="zh-CN">
                <a:solidFill>
                  <a:srgbClr val="CC0000"/>
                </a:solidFill>
                <a:latin typeface="Times New Roman" panose="02020603050405020304" pitchFamily="18" charset="0"/>
                <a:ea typeface="黑体" panose="02010609060101010101" pitchFamily="49" charset="-122"/>
              </a:rPr>
              <a:t>11</a:t>
            </a:r>
            <a:r>
              <a:rPr lang="zh-CN" altLang="en-US">
                <a:solidFill>
                  <a:srgbClr val="CC0000"/>
                </a:solidFill>
                <a:latin typeface="Times New Roman" panose="02020603050405020304" pitchFamily="18" charset="0"/>
                <a:ea typeface="黑体" panose="02010609060101010101" pitchFamily="49" charset="-122"/>
              </a:rPr>
              <a:t>（再次进入循环时为</a:t>
            </a:r>
            <a:r>
              <a:rPr lang="en-US" altLang="zh-CN">
                <a:solidFill>
                  <a:srgbClr val="CC0000"/>
                </a:solidFill>
                <a:latin typeface="Times New Roman" panose="02020603050405020304" pitchFamily="18" charset="0"/>
                <a:ea typeface="黑体" panose="02010609060101010101" pitchFamily="49" charset="-122"/>
              </a:rPr>
              <a:t>10</a:t>
            </a:r>
            <a:r>
              <a:rPr lang="zh-CN" altLang="en-US">
                <a:solidFill>
                  <a:srgbClr val="CC0000"/>
                </a:solidFill>
                <a:latin typeface="Times New Roman" panose="02020603050405020304" pitchFamily="18" charset="0"/>
                <a:ea typeface="黑体" panose="02010609060101010101" pitchFamily="49" charset="-122"/>
              </a:rPr>
              <a:t>），预测发生，实际也发生，正确</a:t>
            </a:r>
          </a:p>
          <a:p>
            <a:pPr lvl="1">
              <a:lnSpc>
                <a:spcPct val="110000"/>
              </a:lnSpc>
              <a:spcBef>
                <a:spcPct val="10000"/>
              </a:spcBef>
            </a:pPr>
            <a:r>
              <a:rPr lang="zh-CN" altLang="en-US">
                <a:solidFill>
                  <a:srgbClr val="CC0000"/>
                </a:solidFill>
                <a:latin typeface="Times New Roman" panose="02020603050405020304" pitchFamily="18" charset="0"/>
                <a:ea typeface="黑体" panose="02010609060101010101" pitchFamily="49" charset="-122"/>
              </a:rPr>
              <a:t>中间：状态为</a:t>
            </a:r>
            <a:r>
              <a:rPr lang="zh-CN" altLang="en-US">
                <a:solidFill>
                  <a:srgbClr val="CC0000"/>
                </a:solidFill>
                <a:latin typeface="黑体" panose="02010609060101010101" pitchFamily="49" charset="-122"/>
                <a:ea typeface="黑体" panose="02010609060101010101" pitchFamily="49" charset="-122"/>
              </a:rPr>
              <a:t>“</a:t>
            </a:r>
            <a:r>
              <a:rPr lang="en-US" altLang="zh-CN">
                <a:solidFill>
                  <a:srgbClr val="CC0000"/>
                </a:solidFill>
                <a:latin typeface="Times New Roman" panose="02020603050405020304" pitchFamily="18" charset="0"/>
                <a:ea typeface="黑体" panose="02010609060101010101" pitchFamily="49" charset="-122"/>
              </a:rPr>
              <a:t>11</a:t>
            </a:r>
            <a:r>
              <a:rPr lang="en-US" altLang="zh-CN">
                <a:solidFill>
                  <a:srgbClr val="CC0000"/>
                </a:solidFill>
                <a:latin typeface="黑体" panose="02010609060101010101" pitchFamily="49" charset="-122"/>
                <a:ea typeface="黑体" panose="02010609060101010101" pitchFamily="49" charset="-122"/>
              </a:rPr>
              <a:t>”</a:t>
            </a:r>
            <a:r>
              <a:rPr lang="zh-CN" altLang="en-US">
                <a:solidFill>
                  <a:srgbClr val="CC0000"/>
                </a:solidFill>
                <a:latin typeface="Times New Roman" panose="02020603050405020304" pitchFamily="18" charset="0"/>
                <a:ea typeface="黑体" panose="02010609060101010101" pitchFamily="49" charset="-122"/>
              </a:rPr>
              <a:t>，预测发生，实际也发生，正确</a:t>
            </a:r>
          </a:p>
          <a:p>
            <a:pPr lvl="1">
              <a:lnSpc>
                <a:spcPct val="110000"/>
              </a:lnSpc>
              <a:spcBef>
                <a:spcPct val="10000"/>
              </a:spcBef>
            </a:pPr>
            <a:r>
              <a:rPr lang="zh-CN" altLang="en-US">
                <a:solidFill>
                  <a:srgbClr val="CC0000"/>
                </a:solidFill>
                <a:latin typeface="Times New Roman" panose="02020603050405020304" pitchFamily="18" charset="0"/>
                <a:ea typeface="黑体" panose="02010609060101010101" pitchFamily="49" charset="-122"/>
              </a:rPr>
              <a:t>最后一次：状态为</a:t>
            </a:r>
            <a:r>
              <a:rPr lang="zh-CN" altLang="en-US">
                <a:solidFill>
                  <a:srgbClr val="CC0000"/>
                </a:solidFill>
                <a:latin typeface="黑体" panose="02010609060101010101" pitchFamily="49" charset="-122"/>
                <a:ea typeface="黑体" panose="02010609060101010101" pitchFamily="49" charset="-122"/>
              </a:rPr>
              <a:t>“</a:t>
            </a:r>
            <a:r>
              <a:rPr lang="en-US" altLang="zh-CN">
                <a:solidFill>
                  <a:srgbClr val="CC0000"/>
                </a:solidFill>
                <a:latin typeface="Times New Roman" panose="02020603050405020304" pitchFamily="18" charset="0"/>
                <a:ea typeface="黑体" panose="02010609060101010101" pitchFamily="49" charset="-122"/>
              </a:rPr>
              <a:t>11</a:t>
            </a:r>
            <a:r>
              <a:rPr lang="en-US" altLang="zh-CN">
                <a:solidFill>
                  <a:srgbClr val="CC0000"/>
                </a:solidFill>
                <a:latin typeface="黑体" panose="02010609060101010101" pitchFamily="49" charset="-122"/>
                <a:ea typeface="黑体" panose="02010609060101010101" pitchFamily="49" charset="-122"/>
              </a:rPr>
              <a:t>”</a:t>
            </a:r>
            <a:r>
              <a:rPr lang="zh-CN" altLang="en-US">
                <a:solidFill>
                  <a:srgbClr val="CC0000"/>
                </a:solidFill>
                <a:latin typeface="Times New Roman" panose="02020603050405020304" pitchFamily="18" charset="0"/>
                <a:ea typeface="黑体" panose="02010609060101010101" pitchFamily="49" charset="-122"/>
              </a:rPr>
              <a:t>，预测发生，但实际不发生，错</a:t>
            </a:r>
            <a:endParaRPr lang="en-US" altLang="zh-CN">
              <a:solidFill>
                <a:srgbClr val="CC0000"/>
              </a:solidFill>
              <a:latin typeface="Times New Roman" panose="02020603050405020304" pitchFamily="18" charset="0"/>
              <a:ea typeface="黑体" panose="02010609060101010101" pitchFamily="49" charset="-122"/>
            </a:endParaRPr>
          </a:p>
        </p:txBody>
      </p:sp>
      <p:sp>
        <p:nvSpPr>
          <p:cNvPr id="142340" name="Oval 4">
            <a:extLst>
              <a:ext uri="{FF2B5EF4-FFF2-40B4-BE49-F238E27FC236}">
                <a16:creationId xmlns:a16="http://schemas.microsoft.com/office/drawing/2014/main" id="{826F1084-797B-E64A-8B58-8D08212D2D57}"/>
              </a:ext>
            </a:extLst>
          </p:cNvPr>
          <p:cNvSpPr>
            <a:spLocks noChangeArrowheads="1"/>
          </p:cNvSpPr>
          <p:nvPr/>
        </p:nvSpPr>
        <p:spPr bwMode="auto">
          <a:xfrm>
            <a:off x="165100" y="1182688"/>
            <a:ext cx="1427163" cy="579437"/>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2341" name="Text Box 5">
            <a:extLst>
              <a:ext uri="{FF2B5EF4-FFF2-40B4-BE49-F238E27FC236}">
                <a16:creationId xmlns:a16="http://schemas.microsoft.com/office/drawing/2014/main" id="{CB0AFDC9-757A-C14E-8D62-2F39B6F936BB}"/>
              </a:ext>
            </a:extLst>
          </p:cNvPr>
          <p:cNvSpPr txBox="1">
            <a:spLocks noChangeArrowheads="1"/>
          </p:cNvSpPr>
          <p:nvPr/>
        </p:nvSpPr>
        <p:spPr bwMode="auto">
          <a:xfrm>
            <a:off x="385763" y="1273175"/>
            <a:ext cx="10826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rgbClr val="CC0000"/>
                </a:solidFill>
                <a:ea typeface="黑体" panose="02010609060101010101" pitchFamily="49" charset="-122"/>
              </a:rPr>
              <a:t>预测发生</a:t>
            </a:r>
          </a:p>
        </p:txBody>
      </p:sp>
      <p:sp>
        <p:nvSpPr>
          <p:cNvPr id="142342" name="Arc 9">
            <a:extLst>
              <a:ext uri="{FF2B5EF4-FFF2-40B4-BE49-F238E27FC236}">
                <a16:creationId xmlns:a16="http://schemas.microsoft.com/office/drawing/2014/main" id="{3E911D8D-34F1-AE49-BE58-FC83E0AFB17A}"/>
              </a:ext>
            </a:extLst>
          </p:cNvPr>
          <p:cNvSpPr>
            <a:spLocks/>
          </p:cNvSpPr>
          <p:nvPr/>
        </p:nvSpPr>
        <p:spPr bwMode="auto">
          <a:xfrm rot="5816362">
            <a:off x="631031" y="548482"/>
            <a:ext cx="531813" cy="793750"/>
          </a:xfrm>
          <a:custGeom>
            <a:avLst/>
            <a:gdLst>
              <a:gd name="T0" fmla="*/ 2147483646 w 36346"/>
              <a:gd name="T1" fmla="*/ 2147483646 h 43200"/>
              <a:gd name="T2" fmla="*/ 2147483646 w 36346"/>
              <a:gd name="T3" fmla="*/ 2147483646 h 43200"/>
              <a:gd name="T4" fmla="*/ 2147483646 w 36346"/>
              <a:gd name="T5" fmla="*/ 2147483646 h 43200"/>
              <a:gd name="T6" fmla="*/ 0 60000 65536"/>
              <a:gd name="T7" fmla="*/ 0 60000 65536"/>
              <a:gd name="T8" fmla="*/ 0 60000 65536"/>
            </a:gdLst>
            <a:ahLst/>
            <a:cxnLst>
              <a:cxn ang="T6">
                <a:pos x="T0" y="T1"/>
              </a:cxn>
              <a:cxn ang="T7">
                <a:pos x="T2" y="T3"/>
              </a:cxn>
              <a:cxn ang="T8">
                <a:pos x="T4" y="T5"/>
              </a:cxn>
            </a:cxnLst>
            <a:rect l="0" t="0" r="r" b="b"/>
            <a:pathLst>
              <a:path w="36346" h="43200" fill="none"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path>
              <a:path w="36346" h="43200" stroke="0"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lnTo>
                  <a:pt x="21600" y="21600"/>
                </a:lnTo>
                <a:lnTo>
                  <a:pt x="36346" y="37383"/>
                </a:lnTo>
                <a:close/>
              </a:path>
            </a:pathLst>
          </a:custGeom>
          <a:noFill/>
          <a:ln w="2857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3" name="Text Box 10">
            <a:extLst>
              <a:ext uri="{FF2B5EF4-FFF2-40B4-BE49-F238E27FC236}">
                <a16:creationId xmlns:a16="http://schemas.microsoft.com/office/drawing/2014/main" id="{623ECA96-AE1C-6D49-9552-F3C97F4C70BA}"/>
              </a:ext>
            </a:extLst>
          </p:cNvPr>
          <p:cNvSpPr txBox="1">
            <a:spLocks noChangeArrowheads="1"/>
          </p:cNvSpPr>
          <p:nvPr/>
        </p:nvSpPr>
        <p:spPr bwMode="auto">
          <a:xfrm>
            <a:off x="682625" y="744538"/>
            <a:ext cx="7096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发生</a:t>
            </a:r>
          </a:p>
        </p:txBody>
      </p:sp>
      <p:sp>
        <p:nvSpPr>
          <p:cNvPr id="142344" name="Oval 13">
            <a:extLst>
              <a:ext uri="{FF2B5EF4-FFF2-40B4-BE49-F238E27FC236}">
                <a16:creationId xmlns:a16="http://schemas.microsoft.com/office/drawing/2014/main" id="{1784D096-6126-CA46-9EDD-3266B333A924}"/>
              </a:ext>
            </a:extLst>
          </p:cNvPr>
          <p:cNvSpPr>
            <a:spLocks noChangeArrowheads="1"/>
          </p:cNvSpPr>
          <p:nvPr/>
        </p:nvSpPr>
        <p:spPr bwMode="auto">
          <a:xfrm flipV="1">
            <a:off x="3268663" y="2311400"/>
            <a:ext cx="1428750" cy="577850"/>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2345" name="Text Box 14">
            <a:extLst>
              <a:ext uri="{FF2B5EF4-FFF2-40B4-BE49-F238E27FC236}">
                <a16:creationId xmlns:a16="http://schemas.microsoft.com/office/drawing/2014/main" id="{42643F6F-20C0-3F43-8318-F24EB6C7D197}"/>
              </a:ext>
            </a:extLst>
          </p:cNvPr>
          <p:cNvSpPr txBox="1">
            <a:spLocks noChangeArrowheads="1"/>
          </p:cNvSpPr>
          <p:nvPr/>
        </p:nvSpPr>
        <p:spPr bwMode="auto">
          <a:xfrm>
            <a:off x="3400425" y="2382838"/>
            <a:ext cx="135572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rgbClr val="CC0000"/>
                </a:solidFill>
                <a:ea typeface="黑体" panose="02010609060101010101" pitchFamily="49" charset="-122"/>
              </a:rPr>
              <a:t>预测不发生</a:t>
            </a:r>
          </a:p>
        </p:txBody>
      </p:sp>
      <p:sp>
        <p:nvSpPr>
          <p:cNvPr id="142346" name="Arc 15">
            <a:extLst>
              <a:ext uri="{FF2B5EF4-FFF2-40B4-BE49-F238E27FC236}">
                <a16:creationId xmlns:a16="http://schemas.microsoft.com/office/drawing/2014/main" id="{41B3355E-3D36-784F-96D7-7FC39875CB04}"/>
              </a:ext>
            </a:extLst>
          </p:cNvPr>
          <p:cNvSpPr>
            <a:spLocks/>
          </p:cNvSpPr>
          <p:nvPr/>
        </p:nvSpPr>
        <p:spPr bwMode="auto">
          <a:xfrm rot="15783638" flipV="1">
            <a:off x="3713956" y="2723357"/>
            <a:ext cx="531813" cy="793750"/>
          </a:xfrm>
          <a:custGeom>
            <a:avLst/>
            <a:gdLst>
              <a:gd name="T0" fmla="*/ 2147483646 w 36346"/>
              <a:gd name="T1" fmla="*/ 2147483646 h 43200"/>
              <a:gd name="T2" fmla="*/ 2147483646 w 36346"/>
              <a:gd name="T3" fmla="*/ 2147483646 h 43200"/>
              <a:gd name="T4" fmla="*/ 2147483646 w 36346"/>
              <a:gd name="T5" fmla="*/ 2147483646 h 43200"/>
              <a:gd name="T6" fmla="*/ 0 60000 65536"/>
              <a:gd name="T7" fmla="*/ 0 60000 65536"/>
              <a:gd name="T8" fmla="*/ 0 60000 65536"/>
            </a:gdLst>
            <a:ahLst/>
            <a:cxnLst>
              <a:cxn ang="T6">
                <a:pos x="T0" y="T1"/>
              </a:cxn>
              <a:cxn ang="T7">
                <a:pos x="T2" y="T3"/>
              </a:cxn>
              <a:cxn ang="T8">
                <a:pos x="T4" y="T5"/>
              </a:cxn>
            </a:cxnLst>
            <a:rect l="0" t="0" r="r" b="b"/>
            <a:pathLst>
              <a:path w="36346" h="43200" fill="none"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path>
              <a:path w="36346" h="43200" stroke="0" extrusionOk="0">
                <a:moveTo>
                  <a:pt x="36346" y="37383"/>
                </a:moveTo>
                <a:cubicBezTo>
                  <a:pt x="32345" y="41120"/>
                  <a:pt x="27074" y="43199"/>
                  <a:pt x="21600" y="43200"/>
                </a:cubicBezTo>
                <a:cubicBezTo>
                  <a:pt x="9670" y="43200"/>
                  <a:pt x="0" y="33529"/>
                  <a:pt x="0" y="21600"/>
                </a:cubicBezTo>
                <a:cubicBezTo>
                  <a:pt x="0" y="9670"/>
                  <a:pt x="9670" y="0"/>
                  <a:pt x="21600" y="0"/>
                </a:cubicBezTo>
                <a:cubicBezTo>
                  <a:pt x="25671" y="-1"/>
                  <a:pt x="29659" y="1150"/>
                  <a:pt x="33105" y="3318"/>
                </a:cubicBezTo>
                <a:lnTo>
                  <a:pt x="21600" y="21600"/>
                </a:lnTo>
                <a:lnTo>
                  <a:pt x="36346" y="37383"/>
                </a:lnTo>
                <a:close/>
              </a:path>
            </a:pathLst>
          </a:custGeom>
          <a:noFill/>
          <a:ln w="2857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7" name="Text Box 16">
            <a:extLst>
              <a:ext uri="{FF2B5EF4-FFF2-40B4-BE49-F238E27FC236}">
                <a16:creationId xmlns:a16="http://schemas.microsoft.com/office/drawing/2014/main" id="{62C2B4D6-BADC-794C-9335-05C1B549D53C}"/>
              </a:ext>
            </a:extLst>
          </p:cNvPr>
          <p:cNvSpPr txBox="1">
            <a:spLocks noChangeArrowheads="1"/>
          </p:cNvSpPr>
          <p:nvPr/>
        </p:nvSpPr>
        <p:spPr bwMode="auto">
          <a:xfrm>
            <a:off x="3511550" y="2919413"/>
            <a:ext cx="1023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sp>
        <p:nvSpPr>
          <p:cNvPr id="142348" name="Oval 17">
            <a:extLst>
              <a:ext uri="{FF2B5EF4-FFF2-40B4-BE49-F238E27FC236}">
                <a16:creationId xmlns:a16="http://schemas.microsoft.com/office/drawing/2014/main" id="{AD385C21-7CB5-124F-A8D6-8D09C4146F34}"/>
              </a:ext>
            </a:extLst>
          </p:cNvPr>
          <p:cNvSpPr>
            <a:spLocks noChangeArrowheads="1"/>
          </p:cNvSpPr>
          <p:nvPr/>
        </p:nvSpPr>
        <p:spPr bwMode="auto">
          <a:xfrm flipV="1">
            <a:off x="3227388" y="1123950"/>
            <a:ext cx="1427162" cy="577850"/>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2349" name="Text Box 18">
            <a:extLst>
              <a:ext uri="{FF2B5EF4-FFF2-40B4-BE49-F238E27FC236}">
                <a16:creationId xmlns:a16="http://schemas.microsoft.com/office/drawing/2014/main" id="{8D71EB55-DC76-6748-9171-B7DB4D71B639}"/>
              </a:ext>
            </a:extLst>
          </p:cNvPr>
          <p:cNvSpPr txBox="1">
            <a:spLocks noChangeArrowheads="1"/>
          </p:cNvSpPr>
          <p:nvPr/>
        </p:nvSpPr>
        <p:spPr bwMode="auto">
          <a:xfrm>
            <a:off x="3470275" y="1200150"/>
            <a:ext cx="1081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rgbClr val="CC0000"/>
                </a:solidFill>
                <a:ea typeface="黑体" panose="02010609060101010101" pitchFamily="49" charset="-122"/>
              </a:rPr>
              <a:t>预测发生</a:t>
            </a:r>
          </a:p>
        </p:txBody>
      </p:sp>
      <p:sp>
        <p:nvSpPr>
          <p:cNvPr id="142350" name="Oval 19">
            <a:extLst>
              <a:ext uri="{FF2B5EF4-FFF2-40B4-BE49-F238E27FC236}">
                <a16:creationId xmlns:a16="http://schemas.microsoft.com/office/drawing/2014/main" id="{340DCC85-9058-384B-B012-30242B115B83}"/>
              </a:ext>
            </a:extLst>
          </p:cNvPr>
          <p:cNvSpPr>
            <a:spLocks noChangeArrowheads="1"/>
          </p:cNvSpPr>
          <p:nvPr/>
        </p:nvSpPr>
        <p:spPr bwMode="auto">
          <a:xfrm flipV="1">
            <a:off x="176213" y="2270125"/>
            <a:ext cx="1427162" cy="579438"/>
          </a:xfrm>
          <a:prstGeom prst="ellipse">
            <a:avLst/>
          </a:pr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2351" name="Text Box 20">
            <a:extLst>
              <a:ext uri="{FF2B5EF4-FFF2-40B4-BE49-F238E27FC236}">
                <a16:creationId xmlns:a16="http://schemas.microsoft.com/office/drawing/2014/main" id="{55432E28-20AC-F547-A929-6148CF5D260D}"/>
              </a:ext>
            </a:extLst>
          </p:cNvPr>
          <p:cNvSpPr txBox="1">
            <a:spLocks noChangeArrowheads="1"/>
          </p:cNvSpPr>
          <p:nvPr/>
        </p:nvSpPr>
        <p:spPr bwMode="auto">
          <a:xfrm>
            <a:off x="274638" y="2339975"/>
            <a:ext cx="1354137"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rgbClr val="CC0000"/>
                </a:solidFill>
                <a:ea typeface="黑体" panose="02010609060101010101" pitchFamily="49" charset="-122"/>
              </a:rPr>
              <a:t>预测不发生</a:t>
            </a:r>
          </a:p>
        </p:txBody>
      </p:sp>
      <p:sp>
        <p:nvSpPr>
          <p:cNvPr id="142352" name="Line 21">
            <a:extLst>
              <a:ext uri="{FF2B5EF4-FFF2-40B4-BE49-F238E27FC236}">
                <a16:creationId xmlns:a16="http://schemas.microsoft.com/office/drawing/2014/main" id="{0264D8A5-658E-FF4C-BE0B-A7E006A0FD70}"/>
              </a:ext>
            </a:extLst>
          </p:cNvPr>
          <p:cNvSpPr>
            <a:spLocks noChangeShapeType="1"/>
          </p:cNvSpPr>
          <p:nvPr/>
        </p:nvSpPr>
        <p:spPr bwMode="auto">
          <a:xfrm flipV="1">
            <a:off x="879475" y="1741488"/>
            <a:ext cx="0" cy="528637"/>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53" name="Text Box 22">
            <a:extLst>
              <a:ext uri="{FF2B5EF4-FFF2-40B4-BE49-F238E27FC236}">
                <a16:creationId xmlns:a16="http://schemas.microsoft.com/office/drawing/2014/main" id="{97EED984-EC9D-1E46-A02D-9053117CCC57}"/>
              </a:ext>
            </a:extLst>
          </p:cNvPr>
          <p:cNvSpPr txBox="1">
            <a:spLocks noChangeArrowheads="1"/>
          </p:cNvSpPr>
          <p:nvPr/>
        </p:nvSpPr>
        <p:spPr bwMode="auto">
          <a:xfrm>
            <a:off x="279400" y="1901825"/>
            <a:ext cx="1038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发生</a:t>
            </a:r>
          </a:p>
        </p:txBody>
      </p:sp>
      <p:sp>
        <p:nvSpPr>
          <p:cNvPr id="142354" name="Line 23">
            <a:extLst>
              <a:ext uri="{FF2B5EF4-FFF2-40B4-BE49-F238E27FC236}">
                <a16:creationId xmlns:a16="http://schemas.microsoft.com/office/drawing/2014/main" id="{8975D410-302E-694B-8195-62E6B86CDD59}"/>
              </a:ext>
            </a:extLst>
          </p:cNvPr>
          <p:cNvSpPr>
            <a:spLocks noChangeShapeType="1"/>
          </p:cNvSpPr>
          <p:nvPr/>
        </p:nvSpPr>
        <p:spPr bwMode="auto">
          <a:xfrm>
            <a:off x="1479550" y="1303338"/>
            <a:ext cx="1800225"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55" name="Text Box 24">
            <a:extLst>
              <a:ext uri="{FF2B5EF4-FFF2-40B4-BE49-F238E27FC236}">
                <a16:creationId xmlns:a16="http://schemas.microsoft.com/office/drawing/2014/main" id="{217B2F6F-39FF-9540-84E4-D3D8915708FB}"/>
              </a:ext>
            </a:extLst>
          </p:cNvPr>
          <p:cNvSpPr txBox="1">
            <a:spLocks noChangeArrowheads="1"/>
          </p:cNvSpPr>
          <p:nvPr/>
        </p:nvSpPr>
        <p:spPr bwMode="auto">
          <a:xfrm>
            <a:off x="1614488" y="962025"/>
            <a:ext cx="927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sp>
        <p:nvSpPr>
          <p:cNvPr id="142356" name="Line 25">
            <a:extLst>
              <a:ext uri="{FF2B5EF4-FFF2-40B4-BE49-F238E27FC236}">
                <a16:creationId xmlns:a16="http://schemas.microsoft.com/office/drawing/2014/main" id="{6ED7EBEC-69A9-9042-AB85-19818C4DC2FD}"/>
              </a:ext>
            </a:extLst>
          </p:cNvPr>
          <p:cNvSpPr>
            <a:spLocks noChangeShapeType="1"/>
          </p:cNvSpPr>
          <p:nvPr/>
        </p:nvSpPr>
        <p:spPr bwMode="auto">
          <a:xfrm>
            <a:off x="1530350" y="1562100"/>
            <a:ext cx="1800225"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57" name="Text Box 26">
            <a:extLst>
              <a:ext uri="{FF2B5EF4-FFF2-40B4-BE49-F238E27FC236}">
                <a16:creationId xmlns:a16="http://schemas.microsoft.com/office/drawing/2014/main" id="{591B0CFC-36D1-2448-B319-B647665E6765}"/>
              </a:ext>
            </a:extLst>
          </p:cNvPr>
          <p:cNvSpPr txBox="1">
            <a:spLocks noChangeArrowheads="1"/>
          </p:cNvSpPr>
          <p:nvPr/>
        </p:nvSpPr>
        <p:spPr bwMode="auto">
          <a:xfrm>
            <a:off x="1539875" y="1557338"/>
            <a:ext cx="882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a:ea typeface="宋体" panose="02010600030101010101" pitchFamily="2" charset="-122"/>
              </a:rPr>
              <a:t>   </a:t>
            </a:r>
            <a:r>
              <a:rPr lang="zh-CN" altLang="en-US" sz="1800">
                <a:ea typeface="黑体" panose="02010609060101010101" pitchFamily="49" charset="-122"/>
              </a:rPr>
              <a:t>发生</a:t>
            </a:r>
          </a:p>
        </p:txBody>
      </p:sp>
      <p:sp>
        <p:nvSpPr>
          <p:cNvPr id="142358" name="Line 27">
            <a:extLst>
              <a:ext uri="{FF2B5EF4-FFF2-40B4-BE49-F238E27FC236}">
                <a16:creationId xmlns:a16="http://schemas.microsoft.com/office/drawing/2014/main" id="{D00AD13B-5D68-E049-AF50-19C5B622F300}"/>
              </a:ext>
            </a:extLst>
          </p:cNvPr>
          <p:cNvSpPr>
            <a:spLocks noChangeShapeType="1"/>
          </p:cNvSpPr>
          <p:nvPr/>
        </p:nvSpPr>
        <p:spPr bwMode="auto">
          <a:xfrm>
            <a:off x="1550988" y="2439988"/>
            <a:ext cx="1800225"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59" name="Text Box 28">
            <a:extLst>
              <a:ext uri="{FF2B5EF4-FFF2-40B4-BE49-F238E27FC236}">
                <a16:creationId xmlns:a16="http://schemas.microsoft.com/office/drawing/2014/main" id="{421231D3-9163-DC49-BB4F-AE771A53AD0D}"/>
              </a:ext>
            </a:extLst>
          </p:cNvPr>
          <p:cNvSpPr txBox="1">
            <a:spLocks noChangeArrowheads="1"/>
          </p:cNvSpPr>
          <p:nvPr/>
        </p:nvSpPr>
        <p:spPr bwMode="auto">
          <a:xfrm>
            <a:off x="1663700" y="2089150"/>
            <a:ext cx="1009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sp>
        <p:nvSpPr>
          <p:cNvPr id="142360" name="Line 29">
            <a:extLst>
              <a:ext uri="{FF2B5EF4-FFF2-40B4-BE49-F238E27FC236}">
                <a16:creationId xmlns:a16="http://schemas.microsoft.com/office/drawing/2014/main" id="{503BC4B7-1778-0A47-BE4F-F22C1FB7AFBD}"/>
              </a:ext>
            </a:extLst>
          </p:cNvPr>
          <p:cNvSpPr>
            <a:spLocks noChangeShapeType="1"/>
          </p:cNvSpPr>
          <p:nvPr/>
        </p:nvSpPr>
        <p:spPr bwMode="auto">
          <a:xfrm>
            <a:off x="1500188" y="2719388"/>
            <a:ext cx="1800225"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61" name="Text Box 30">
            <a:extLst>
              <a:ext uri="{FF2B5EF4-FFF2-40B4-BE49-F238E27FC236}">
                <a16:creationId xmlns:a16="http://schemas.microsoft.com/office/drawing/2014/main" id="{24FD12CC-72B7-0645-8C6C-CD4E5D384CAE}"/>
              </a:ext>
            </a:extLst>
          </p:cNvPr>
          <p:cNvSpPr txBox="1">
            <a:spLocks noChangeArrowheads="1"/>
          </p:cNvSpPr>
          <p:nvPr/>
        </p:nvSpPr>
        <p:spPr bwMode="auto">
          <a:xfrm>
            <a:off x="1701800" y="2709863"/>
            <a:ext cx="996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发生</a:t>
            </a:r>
          </a:p>
        </p:txBody>
      </p:sp>
      <p:sp>
        <p:nvSpPr>
          <p:cNvPr id="142362" name="Line 31">
            <a:extLst>
              <a:ext uri="{FF2B5EF4-FFF2-40B4-BE49-F238E27FC236}">
                <a16:creationId xmlns:a16="http://schemas.microsoft.com/office/drawing/2014/main" id="{761D1A30-0AA7-194F-8A57-E755DBEEF062}"/>
              </a:ext>
            </a:extLst>
          </p:cNvPr>
          <p:cNvSpPr>
            <a:spLocks noChangeShapeType="1"/>
          </p:cNvSpPr>
          <p:nvPr/>
        </p:nvSpPr>
        <p:spPr bwMode="auto">
          <a:xfrm flipV="1">
            <a:off x="3992563" y="1692275"/>
            <a:ext cx="0" cy="598488"/>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363" name="Text Box 32">
            <a:extLst>
              <a:ext uri="{FF2B5EF4-FFF2-40B4-BE49-F238E27FC236}">
                <a16:creationId xmlns:a16="http://schemas.microsoft.com/office/drawing/2014/main" id="{5EFBD427-D085-BD49-80F3-97F488FD6521}"/>
              </a:ext>
            </a:extLst>
          </p:cNvPr>
          <p:cNvSpPr txBox="1">
            <a:spLocks noChangeArrowheads="1"/>
          </p:cNvSpPr>
          <p:nvPr/>
        </p:nvSpPr>
        <p:spPr bwMode="auto">
          <a:xfrm>
            <a:off x="3163888" y="1789113"/>
            <a:ext cx="9985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不发生</a:t>
            </a:r>
          </a:p>
        </p:txBody>
      </p:sp>
      <p:sp>
        <p:nvSpPr>
          <p:cNvPr id="142364" name="Text Box 33">
            <a:extLst>
              <a:ext uri="{FF2B5EF4-FFF2-40B4-BE49-F238E27FC236}">
                <a16:creationId xmlns:a16="http://schemas.microsoft.com/office/drawing/2014/main" id="{020A3FFF-E39D-5C49-8AEA-2B184D8248F8}"/>
              </a:ext>
            </a:extLst>
          </p:cNvPr>
          <p:cNvSpPr txBox="1">
            <a:spLocks noChangeArrowheads="1"/>
          </p:cNvSpPr>
          <p:nvPr/>
        </p:nvSpPr>
        <p:spPr bwMode="auto">
          <a:xfrm>
            <a:off x="723900" y="1501775"/>
            <a:ext cx="506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ea typeface="黑体" panose="02010609060101010101" pitchFamily="49" charset="-122"/>
              </a:rPr>
              <a:t>11</a:t>
            </a:r>
          </a:p>
        </p:txBody>
      </p:sp>
      <p:sp>
        <p:nvSpPr>
          <p:cNvPr id="142365" name="Text Box 34">
            <a:extLst>
              <a:ext uri="{FF2B5EF4-FFF2-40B4-BE49-F238E27FC236}">
                <a16:creationId xmlns:a16="http://schemas.microsoft.com/office/drawing/2014/main" id="{0348D42C-830C-A843-9516-AA66D95A9B33}"/>
              </a:ext>
            </a:extLst>
          </p:cNvPr>
          <p:cNvSpPr txBox="1">
            <a:spLocks noChangeArrowheads="1"/>
          </p:cNvSpPr>
          <p:nvPr/>
        </p:nvSpPr>
        <p:spPr bwMode="auto">
          <a:xfrm>
            <a:off x="3813175" y="1414463"/>
            <a:ext cx="5064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ea typeface="黑体" panose="02010609060101010101" pitchFamily="49" charset="-122"/>
              </a:rPr>
              <a:t>10</a:t>
            </a:r>
          </a:p>
        </p:txBody>
      </p:sp>
      <p:sp>
        <p:nvSpPr>
          <p:cNvPr id="142366" name="Text Box 35">
            <a:extLst>
              <a:ext uri="{FF2B5EF4-FFF2-40B4-BE49-F238E27FC236}">
                <a16:creationId xmlns:a16="http://schemas.microsoft.com/office/drawing/2014/main" id="{7D3267F2-4ACB-C744-B342-C9A587BF6E13}"/>
              </a:ext>
            </a:extLst>
          </p:cNvPr>
          <p:cNvSpPr txBox="1">
            <a:spLocks noChangeArrowheads="1"/>
          </p:cNvSpPr>
          <p:nvPr/>
        </p:nvSpPr>
        <p:spPr bwMode="auto">
          <a:xfrm>
            <a:off x="703263" y="2579688"/>
            <a:ext cx="5064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ea typeface="黑体" panose="02010609060101010101" pitchFamily="49" charset="-122"/>
              </a:rPr>
              <a:t>01</a:t>
            </a:r>
          </a:p>
        </p:txBody>
      </p:sp>
      <p:sp>
        <p:nvSpPr>
          <p:cNvPr id="142367" name="Text Box 36">
            <a:extLst>
              <a:ext uri="{FF2B5EF4-FFF2-40B4-BE49-F238E27FC236}">
                <a16:creationId xmlns:a16="http://schemas.microsoft.com/office/drawing/2014/main" id="{C8D5C46F-D426-E945-B6D8-711F6EEACEF0}"/>
              </a:ext>
            </a:extLst>
          </p:cNvPr>
          <p:cNvSpPr txBox="1">
            <a:spLocks noChangeArrowheads="1"/>
          </p:cNvSpPr>
          <p:nvPr/>
        </p:nvSpPr>
        <p:spPr bwMode="auto">
          <a:xfrm>
            <a:off x="3811588" y="2603500"/>
            <a:ext cx="5064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ea typeface="黑体" panose="02010609060101010101" pitchFamily="49" charset="-122"/>
              </a:rPr>
              <a:t>00</a:t>
            </a:r>
          </a:p>
        </p:txBody>
      </p:sp>
      <p:sp>
        <p:nvSpPr>
          <p:cNvPr id="142368" name="Text Box 38">
            <a:extLst>
              <a:ext uri="{FF2B5EF4-FFF2-40B4-BE49-F238E27FC236}">
                <a16:creationId xmlns:a16="http://schemas.microsoft.com/office/drawing/2014/main" id="{6121C408-1A3F-4E41-ABFB-D907423F9FD1}"/>
              </a:ext>
            </a:extLst>
          </p:cNvPr>
          <p:cNvSpPr txBox="1">
            <a:spLocks noChangeArrowheads="1"/>
          </p:cNvSpPr>
          <p:nvPr/>
        </p:nvSpPr>
        <p:spPr bwMode="auto">
          <a:xfrm>
            <a:off x="1230313" y="735013"/>
            <a:ext cx="652462"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正确</a:t>
            </a:r>
          </a:p>
        </p:txBody>
      </p:sp>
      <p:sp>
        <p:nvSpPr>
          <p:cNvPr id="142369" name="Text Box 39">
            <a:extLst>
              <a:ext uri="{FF2B5EF4-FFF2-40B4-BE49-F238E27FC236}">
                <a16:creationId xmlns:a16="http://schemas.microsoft.com/office/drawing/2014/main" id="{7C3B80D7-809F-D144-A973-ADB5A04582A1}"/>
              </a:ext>
            </a:extLst>
          </p:cNvPr>
          <p:cNvSpPr txBox="1">
            <a:spLocks noChangeArrowheads="1"/>
          </p:cNvSpPr>
          <p:nvPr/>
        </p:nvSpPr>
        <p:spPr bwMode="auto">
          <a:xfrm>
            <a:off x="2495550" y="976313"/>
            <a:ext cx="6508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错误</a:t>
            </a:r>
          </a:p>
        </p:txBody>
      </p:sp>
      <p:sp>
        <p:nvSpPr>
          <p:cNvPr id="142370" name="Text Box 40">
            <a:extLst>
              <a:ext uri="{FF2B5EF4-FFF2-40B4-BE49-F238E27FC236}">
                <a16:creationId xmlns:a16="http://schemas.microsoft.com/office/drawing/2014/main" id="{0107F687-343F-0342-980D-30596E9DF60B}"/>
              </a:ext>
            </a:extLst>
          </p:cNvPr>
          <p:cNvSpPr txBox="1">
            <a:spLocks noChangeArrowheads="1"/>
          </p:cNvSpPr>
          <p:nvPr/>
        </p:nvSpPr>
        <p:spPr bwMode="auto">
          <a:xfrm>
            <a:off x="2492375" y="1582738"/>
            <a:ext cx="652463"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正确</a:t>
            </a:r>
          </a:p>
        </p:txBody>
      </p:sp>
      <p:sp>
        <p:nvSpPr>
          <p:cNvPr id="142371" name="Text Box 41">
            <a:extLst>
              <a:ext uri="{FF2B5EF4-FFF2-40B4-BE49-F238E27FC236}">
                <a16:creationId xmlns:a16="http://schemas.microsoft.com/office/drawing/2014/main" id="{CE1C0FDE-E3AA-0843-950D-0B6A0124B407}"/>
              </a:ext>
            </a:extLst>
          </p:cNvPr>
          <p:cNvSpPr txBox="1">
            <a:spLocks noChangeArrowheads="1"/>
          </p:cNvSpPr>
          <p:nvPr/>
        </p:nvSpPr>
        <p:spPr bwMode="auto">
          <a:xfrm>
            <a:off x="3997325" y="1846263"/>
            <a:ext cx="652463"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错误</a:t>
            </a:r>
          </a:p>
        </p:txBody>
      </p:sp>
      <p:sp>
        <p:nvSpPr>
          <p:cNvPr id="142372" name="Text Box 42">
            <a:extLst>
              <a:ext uri="{FF2B5EF4-FFF2-40B4-BE49-F238E27FC236}">
                <a16:creationId xmlns:a16="http://schemas.microsoft.com/office/drawing/2014/main" id="{A6A37CB9-C35A-014F-8712-508BC1ED4E24}"/>
              </a:ext>
            </a:extLst>
          </p:cNvPr>
          <p:cNvSpPr txBox="1">
            <a:spLocks noChangeArrowheads="1"/>
          </p:cNvSpPr>
          <p:nvPr/>
        </p:nvSpPr>
        <p:spPr bwMode="auto">
          <a:xfrm>
            <a:off x="4313238" y="2940050"/>
            <a:ext cx="652462"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正确</a:t>
            </a:r>
          </a:p>
        </p:txBody>
      </p:sp>
      <p:sp>
        <p:nvSpPr>
          <p:cNvPr id="142373" name="Text Box 43">
            <a:extLst>
              <a:ext uri="{FF2B5EF4-FFF2-40B4-BE49-F238E27FC236}">
                <a16:creationId xmlns:a16="http://schemas.microsoft.com/office/drawing/2014/main" id="{4A9FFBC9-F961-104C-9CF4-8E472FAACC2A}"/>
              </a:ext>
            </a:extLst>
          </p:cNvPr>
          <p:cNvSpPr txBox="1">
            <a:spLocks noChangeArrowheads="1"/>
          </p:cNvSpPr>
          <p:nvPr/>
        </p:nvSpPr>
        <p:spPr bwMode="auto">
          <a:xfrm>
            <a:off x="2522538" y="2130425"/>
            <a:ext cx="652462"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正确</a:t>
            </a:r>
          </a:p>
        </p:txBody>
      </p:sp>
      <p:sp>
        <p:nvSpPr>
          <p:cNvPr id="142374" name="Text Box 45">
            <a:extLst>
              <a:ext uri="{FF2B5EF4-FFF2-40B4-BE49-F238E27FC236}">
                <a16:creationId xmlns:a16="http://schemas.microsoft.com/office/drawing/2014/main" id="{EC3B6484-45AD-2F49-B560-065BE0A4A76F}"/>
              </a:ext>
            </a:extLst>
          </p:cNvPr>
          <p:cNvSpPr txBox="1">
            <a:spLocks noChangeArrowheads="1"/>
          </p:cNvSpPr>
          <p:nvPr/>
        </p:nvSpPr>
        <p:spPr bwMode="auto">
          <a:xfrm>
            <a:off x="2471738" y="2719388"/>
            <a:ext cx="652462"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错误</a:t>
            </a:r>
          </a:p>
        </p:txBody>
      </p:sp>
      <p:sp>
        <p:nvSpPr>
          <p:cNvPr id="142375" name="Text Box 46">
            <a:extLst>
              <a:ext uri="{FF2B5EF4-FFF2-40B4-BE49-F238E27FC236}">
                <a16:creationId xmlns:a16="http://schemas.microsoft.com/office/drawing/2014/main" id="{89AE4DCA-C75C-7843-84A9-1786BC971DFA}"/>
              </a:ext>
            </a:extLst>
          </p:cNvPr>
          <p:cNvSpPr txBox="1">
            <a:spLocks noChangeArrowheads="1"/>
          </p:cNvSpPr>
          <p:nvPr/>
        </p:nvSpPr>
        <p:spPr bwMode="auto">
          <a:xfrm>
            <a:off x="858838" y="1920875"/>
            <a:ext cx="6508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700">
                <a:solidFill>
                  <a:schemeClr val="accent2"/>
                </a:solidFill>
                <a:ea typeface="黑体" panose="02010609060101010101" pitchFamily="49" charset="-122"/>
              </a:rPr>
              <a:t>错误</a:t>
            </a:r>
          </a:p>
        </p:txBody>
      </p:sp>
      <p:sp>
        <p:nvSpPr>
          <p:cNvPr id="142376" name="Text Box 47">
            <a:extLst>
              <a:ext uri="{FF2B5EF4-FFF2-40B4-BE49-F238E27FC236}">
                <a16:creationId xmlns:a16="http://schemas.microsoft.com/office/drawing/2014/main" id="{42204494-D089-5040-BB20-FEBDF7C974D7}"/>
              </a:ext>
            </a:extLst>
          </p:cNvPr>
          <p:cNvSpPr txBox="1">
            <a:spLocks noChangeArrowheads="1"/>
          </p:cNvSpPr>
          <p:nvPr/>
        </p:nvSpPr>
        <p:spPr bwMode="auto">
          <a:xfrm>
            <a:off x="1500188" y="3059113"/>
            <a:ext cx="24511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05000"/>
              </a:lnSpc>
              <a:spcBef>
                <a:spcPct val="15000"/>
              </a:spcBef>
            </a:pPr>
            <a:endParaRPr lang="zh-CN" altLang="en-US">
              <a:solidFill>
                <a:srgbClr val="008000"/>
              </a:solidFill>
              <a:ea typeface="宋体" panose="02010600030101010101" pitchFamily="2" charset="-122"/>
            </a:endParaRPr>
          </a:p>
        </p:txBody>
      </p:sp>
      <p:sp>
        <p:nvSpPr>
          <p:cNvPr id="231473" name="Rectangle 49">
            <a:extLst>
              <a:ext uri="{FF2B5EF4-FFF2-40B4-BE49-F238E27FC236}">
                <a16:creationId xmlns:a16="http://schemas.microsoft.com/office/drawing/2014/main" id="{C87EDB21-82C7-2243-B39E-B2B4B60AD7BB}"/>
              </a:ext>
            </a:extLst>
          </p:cNvPr>
          <p:cNvSpPr>
            <a:spLocks noChangeArrowheads="1"/>
          </p:cNvSpPr>
          <p:nvPr/>
        </p:nvSpPr>
        <p:spPr bwMode="auto">
          <a:xfrm>
            <a:off x="225425" y="3208338"/>
            <a:ext cx="3868738"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10000"/>
              </a:lnSpc>
            </a:pPr>
            <a:r>
              <a:rPr lang="zh-CN" altLang="en-US" sz="1800">
                <a:solidFill>
                  <a:srgbClr val="008000"/>
                </a:solidFill>
                <a:latin typeface="Arial" panose="020B0604020202020204" pitchFamily="34" charset="0"/>
                <a:ea typeface="黑体" panose="02010609060101010101" pitchFamily="49" charset="-122"/>
              </a:rPr>
              <a:t>预测发生时，选择“转移取”</a:t>
            </a:r>
          </a:p>
          <a:p>
            <a:pPr>
              <a:lnSpc>
                <a:spcPct val="110000"/>
              </a:lnSpc>
            </a:pPr>
            <a:r>
              <a:rPr lang="zh-CN" altLang="en-US" sz="1800">
                <a:solidFill>
                  <a:srgbClr val="008000"/>
                </a:solidFill>
                <a:latin typeface="Arial" panose="020B0604020202020204" pitchFamily="34" charset="0"/>
                <a:ea typeface="黑体" panose="02010609060101010101" pitchFamily="49" charset="-122"/>
              </a:rPr>
              <a:t>预测不发生时，选择“顺序取”</a:t>
            </a:r>
          </a:p>
        </p:txBody>
      </p:sp>
      <p:sp>
        <p:nvSpPr>
          <p:cNvPr id="231474" name="Text Box 50">
            <a:extLst>
              <a:ext uri="{FF2B5EF4-FFF2-40B4-BE49-F238E27FC236}">
                <a16:creationId xmlns:a16="http://schemas.microsoft.com/office/drawing/2014/main" id="{C75B17A1-4192-6D4D-AFD6-4CAE317AF8C0}"/>
              </a:ext>
            </a:extLst>
          </p:cNvPr>
          <p:cNvSpPr txBox="1">
            <a:spLocks noChangeArrowheads="1"/>
          </p:cNvSpPr>
          <p:nvPr/>
        </p:nvSpPr>
        <p:spPr bwMode="auto">
          <a:xfrm>
            <a:off x="4997450" y="996950"/>
            <a:ext cx="4070350" cy="23018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solidFill>
                  <a:srgbClr val="388A36"/>
                </a:solidFill>
                <a:latin typeface="Arial" panose="020B0604020202020204" pitchFamily="34" charset="0"/>
                <a:ea typeface="宋体" panose="02010600030101010101" pitchFamily="2" charset="-122"/>
              </a:rPr>
              <a:t>   Loop: add $7, $3, $3      ; i*2           </a:t>
            </a:r>
          </a:p>
          <a:p>
            <a:r>
              <a:rPr lang="en-US" altLang="zh-CN" sz="1800">
                <a:solidFill>
                  <a:srgbClr val="388A36"/>
                </a:solidFill>
                <a:latin typeface="Arial" panose="020B0604020202020204" pitchFamily="34" charset="0"/>
                <a:ea typeface="宋体" panose="02010600030101010101" pitchFamily="2" charset="-122"/>
              </a:rPr>
              <a:t>	add $7, $7, $7	; i*4</a:t>
            </a:r>
          </a:p>
          <a:p>
            <a:r>
              <a:rPr lang="en-US" altLang="zh-CN" sz="1800">
                <a:solidFill>
                  <a:srgbClr val="388A36"/>
                </a:solidFill>
                <a:latin typeface="Arial" panose="020B0604020202020204" pitchFamily="34" charset="0"/>
                <a:ea typeface="宋体" panose="02010600030101010101" pitchFamily="2" charset="-122"/>
              </a:rPr>
              <a:t>	add $7, $7, $5</a:t>
            </a:r>
          </a:p>
          <a:p>
            <a:r>
              <a:rPr lang="en-US" altLang="zh-CN" sz="1800">
                <a:solidFill>
                  <a:srgbClr val="388A36"/>
                </a:solidFill>
                <a:latin typeface="Arial" panose="020B0604020202020204" pitchFamily="34" charset="0"/>
                <a:ea typeface="宋体" panose="02010600030101010101" pitchFamily="2" charset="-122"/>
              </a:rPr>
              <a:t>	lw $6, 0($7)	; $6=A[i]</a:t>
            </a:r>
          </a:p>
          <a:p>
            <a:r>
              <a:rPr lang="en-US" altLang="zh-CN" sz="1800">
                <a:solidFill>
                  <a:srgbClr val="388A36"/>
                </a:solidFill>
                <a:latin typeface="Arial" panose="020B0604020202020204" pitchFamily="34" charset="0"/>
                <a:ea typeface="宋体" panose="02010600030101010101" pitchFamily="2" charset="-122"/>
              </a:rPr>
              <a:t>	add $1, $1, $6	; g= g+A[i]</a:t>
            </a:r>
          </a:p>
          <a:p>
            <a:r>
              <a:rPr lang="en-US" altLang="zh-CN" sz="1800">
                <a:solidFill>
                  <a:srgbClr val="388A36"/>
                </a:solidFill>
                <a:latin typeface="Arial" panose="020B0604020202020204" pitchFamily="34" charset="0"/>
                <a:ea typeface="宋体" panose="02010600030101010101" pitchFamily="2" charset="-122"/>
              </a:rPr>
              <a:t>	add $3, $3, $4</a:t>
            </a:r>
          </a:p>
          <a:p>
            <a:r>
              <a:rPr lang="en-US" altLang="zh-CN" sz="1800">
                <a:solidFill>
                  <a:srgbClr val="CC0000"/>
                </a:solidFill>
                <a:latin typeface="Arial" panose="020B0604020202020204" pitchFamily="34" charset="0"/>
                <a:ea typeface="宋体" panose="02010600030101010101" pitchFamily="2" charset="-122"/>
              </a:rPr>
              <a:t>	bne $3, $2, Loop</a:t>
            </a:r>
          </a:p>
          <a:p>
            <a:r>
              <a:rPr lang="zh-CN" altLang="en-US" sz="1800">
                <a:solidFill>
                  <a:srgbClr val="388A36"/>
                </a:solidFill>
                <a:latin typeface="Arial" panose="020B0604020202020204" pitchFamily="34" charset="0"/>
                <a:ea typeface="宋体" panose="02010600030101010101" pitchFamily="2" charset="-122"/>
              </a:rPr>
              <a:t>	      </a:t>
            </a:r>
            <a:r>
              <a:rPr lang="en-US" altLang="zh-CN" sz="1800">
                <a:solidFill>
                  <a:srgbClr val="388A36"/>
                </a:solidFill>
                <a:latin typeface="Arial" panose="020B0604020202020204" pitchFamily="34" charset="0"/>
                <a:ea typeface="宋体" panose="02010600030101010101" pitchFamily="2" charset="-122"/>
              </a:rPr>
              <a:t>… …</a:t>
            </a:r>
          </a:p>
        </p:txBody>
      </p:sp>
      <p:sp>
        <p:nvSpPr>
          <p:cNvPr id="231475" name="Line 51">
            <a:extLst>
              <a:ext uri="{FF2B5EF4-FFF2-40B4-BE49-F238E27FC236}">
                <a16:creationId xmlns:a16="http://schemas.microsoft.com/office/drawing/2014/main" id="{BF69672D-5BB7-3444-9746-AACAD88C9767}"/>
              </a:ext>
            </a:extLst>
          </p:cNvPr>
          <p:cNvSpPr>
            <a:spLocks noChangeShapeType="1"/>
          </p:cNvSpPr>
          <p:nvPr/>
        </p:nvSpPr>
        <p:spPr bwMode="auto">
          <a:xfrm flipV="1">
            <a:off x="2870200" y="2895600"/>
            <a:ext cx="3009900" cy="2324100"/>
          </a:xfrm>
          <a:prstGeom prst="line">
            <a:avLst/>
          </a:prstGeom>
          <a:noFill/>
          <a:ln w="127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1473"/>
                                        </p:tgtEl>
                                        <p:attrNameLst>
                                          <p:attrName>style.visibility</p:attrName>
                                        </p:attrNameLst>
                                      </p:cBhvr>
                                      <p:to>
                                        <p:strVal val="visible"/>
                                      </p:to>
                                    </p:set>
                                    <p:animEffect transition="in" filter="blinds(horizontal)">
                                      <p:cBhvr>
                                        <p:cTn id="7" dur="500"/>
                                        <p:tgtEl>
                                          <p:spTgt spid="2314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1427">
                                            <p:txEl>
                                              <p:pRg st="0" end="0"/>
                                            </p:txEl>
                                          </p:spTgt>
                                        </p:tgtEl>
                                        <p:attrNameLst>
                                          <p:attrName>style.visibility</p:attrName>
                                        </p:attrNameLst>
                                      </p:cBhvr>
                                      <p:to>
                                        <p:strVal val="visible"/>
                                      </p:to>
                                    </p:set>
                                    <p:animEffect transition="in" filter="blinds(horizontal)">
                                      <p:cBhvr>
                                        <p:cTn id="12" dur="500"/>
                                        <p:tgtEl>
                                          <p:spTgt spid="23142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1427">
                                            <p:txEl>
                                              <p:pRg st="1" end="1"/>
                                            </p:txEl>
                                          </p:spTgt>
                                        </p:tgtEl>
                                        <p:attrNameLst>
                                          <p:attrName>style.visibility</p:attrName>
                                        </p:attrNameLst>
                                      </p:cBhvr>
                                      <p:to>
                                        <p:strVal val="visible"/>
                                      </p:to>
                                    </p:set>
                                    <p:animEffect transition="in" filter="blinds(horizontal)">
                                      <p:cBhvr>
                                        <p:cTn id="17" dur="500"/>
                                        <p:tgtEl>
                                          <p:spTgt spid="23142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1427">
                                            <p:txEl>
                                              <p:pRg st="2" end="2"/>
                                            </p:txEl>
                                          </p:spTgt>
                                        </p:tgtEl>
                                        <p:attrNameLst>
                                          <p:attrName>style.visibility</p:attrName>
                                        </p:attrNameLst>
                                      </p:cBhvr>
                                      <p:to>
                                        <p:strVal val="visible"/>
                                      </p:to>
                                    </p:set>
                                    <p:animEffect transition="in" filter="blinds(horizontal)">
                                      <p:cBhvr>
                                        <p:cTn id="22" dur="500"/>
                                        <p:tgtEl>
                                          <p:spTgt spid="23142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1427">
                                            <p:txEl>
                                              <p:pRg st="3" end="3"/>
                                            </p:txEl>
                                          </p:spTgt>
                                        </p:tgtEl>
                                        <p:attrNameLst>
                                          <p:attrName>style.visibility</p:attrName>
                                        </p:attrNameLst>
                                      </p:cBhvr>
                                      <p:to>
                                        <p:strVal val="visible"/>
                                      </p:to>
                                    </p:set>
                                    <p:animEffect transition="in" filter="blinds(horizontal)">
                                      <p:cBhvr>
                                        <p:cTn id="27" dur="500"/>
                                        <p:tgtEl>
                                          <p:spTgt spid="23142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1474"/>
                                        </p:tgtEl>
                                        <p:attrNameLst>
                                          <p:attrName>style.visibility</p:attrName>
                                        </p:attrNameLst>
                                      </p:cBhvr>
                                      <p:to>
                                        <p:strVal val="visible"/>
                                      </p:to>
                                    </p:set>
                                    <p:animEffect transition="in" filter="blinds(horizontal)">
                                      <p:cBhvr>
                                        <p:cTn id="32" dur="500"/>
                                        <p:tgtEl>
                                          <p:spTgt spid="2314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1475"/>
                                        </p:tgtEl>
                                        <p:attrNameLst>
                                          <p:attrName>style.visibility</p:attrName>
                                        </p:attrNameLst>
                                      </p:cBhvr>
                                      <p:to>
                                        <p:strVal val="visible"/>
                                      </p:to>
                                    </p:set>
                                    <p:animEffect transition="in" filter="blinds(horizontal)">
                                      <p:cBhvr>
                                        <p:cTn id="37" dur="500"/>
                                        <p:tgtEl>
                                          <p:spTgt spid="2314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1427">
                                            <p:txEl>
                                              <p:pRg st="4" end="4"/>
                                            </p:txEl>
                                          </p:spTgt>
                                        </p:tgtEl>
                                        <p:attrNameLst>
                                          <p:attrName>style.visibility</p:attrName>
                                        </p:attrNameLst>
                                      </p:cBhvr>
                                      <p:to>
                                        <p:strVal val="visible"/>
                                      </p:to>
                                    </p:set>
                                    <p:animEffect transition="in" filter="blinds(horizontal)">
                                      <p:cBhvr>
                                        <p:cTn id="42" dur="500"/>
                                        <p:tgtEl>
                                          <p:spTgt spid="231427">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1427">
                                            <p:txEl>
                                              <p:pRg st="5" end="5"/>
                                            </p:txEl>
                                          </p:spTgt>
                                        </p:tgtEl>
                                        <p:attrNameLst>
                                          <p:attrName>style.visibility</p:attrName>
                                        </p:attrNameLst>
                                      </p:cBhvr>
                                      <p:to>
                                        <p:strVal val="visible"/>
                                      </p:to>
                                    </p:set>
                                    <p:animEffect transition="in" filter="blinds(horizontal)">
                                      <p:cBhvr>
                                        <p:cTn id="47" dur="500"/>
                                        <p:tgtEl>
                                          <p:spTgt spid="231427">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31427">
                                            <p:txEl>
                                              <p:pRg st="6" end="6"/>
                                            </p:txEl>
                                          </p:spTgt>
                                        </p:tgtEl>
                                        <p:attrNameLst>
                                          <p:attrName>style.visibility</p:attrName>
                                        </p:attrNameLst>
                                      </p:cBhvr>
                                      <p:to>
                                        <p:strVal val="visible"/>
                                      </p:to>
                                    </p:set>
                                    <p:animEffect transition="in" filter="blinds(horizontal)">
                                      <p:cBhvr>
                                        <p:cTn id="52" dur="500"/>
                                        <p:tgtEl>
                                          <p:spTgt spid="2314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73" grpId="0"/>
      <p:bldP spid="23147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EFD73DB0-5974-A94E-8079-3FDE3790F934}"/>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举例：双重循环的两位动态预测</a:t>
            </a:r>
          </a:p>
        </p:txBody>
      </p:sp>
      <p:sp>
        <p:nvSpPr>
          <p:cNvPr id="143363" name="Rectangle 3">
            <a:extLst>
              <a:ext uri="{FF2B5EF4-FFF2-40B4-BE49-F238E27FC236}">
                <a16:creationId xmlns:a16="http://schemas.microsoft.com/office/drawing/2014/main" id="{9874F4A8-87C7-4E46-9CB0-8FA194B7632A}"/>
              </a:ext>
            </a:extLst>
          </p:cNvPr>
          <p:cNvSpPr>
            <a:spLocks noGrp="1" noChangeArrowheads="1"/>
          </p:cNvSpPr>
          <p:nvPr>
            <p:ph type="body" idx="1"/>
          </p:nvPr>
        </p:nvSpPr>
        <p:spPr>
          <a:xfrm>
            <a:off x="246063" y="1071563"/>
            <a:ext cx="2349500" cy="2838450"/>
          </a:xfrm>
          <a:noFill/>
          <a:ln w="12700">
            <a:solidFill>
              <a:schemeClr val="tx1"/>
            </a:solidFill>
            <a:miter lim="800000"/>
            <a:headEnd/>
            <a:tailEnd/>
          </a:ln>
        </p:spPr>
        <p:txBody>
          <a:bodyPr/>
          <a:lstStyle/>
          <a:p>
            <a:pPr>
              <a:buFont typeface="Times New Roman" panose="02020603050405020304" pitchFamily="18" charset="0"/>
              <a:buNone/>
            </a:pPr>
            <a:r>
              <a:rPr lang="en-US" altLang="zh-CN">
                <a:ea typeface="宋体" panose="02010600030101010101" pitchFamily="2" charset="-122"/>
              </a:rPr>
              <a:t>into sum (int N)</a:t>
            </a:r>
          </a:p>
          <a:p>
            <a:pPr>
              <a:buFont typeface="Times New Roman" panose="02020603050405020304" pitchFamily="18" charset="0"/>
              <a:buNone/>
            </a:pPr>
            <a:r>
              <a:rPr lang="en-US" altLang="zh-CN">
                <a:ea typeface="宋体" panose="02010600030101010101" pitchFamily="2" charset="-122"/>
              </a:rPr>
              <a:t>{</a:t>
            </a:r>
          </a:p>
          <a:p>
            <a:pPr>
              <a:buFont typeface="Times New Roman" panose="02020603050405020304" pitchFamily="18" charset="0"/>
              <a:buNone/>
            </a:pPr>
            <a:r>
              <a:rPr lang="en-US" altLang="zh-CN">
                <a:ea typeface="宋体" panose="02010600030101010101" pitchFamily="2" charset="-122"/>
              </a:rPr>
              <a:t>int i, j, sum=0;</a:t>
            </a:r>
          </a:p>
          <a:p>
            <a:pPr>
              <a:buFont typeface="Times New Roman" panose="02020603050405020304" pitchFamily="18" charset="0"/>
              <a:buNone/>
            </a:pPr>
            <a:r>
              <a:rPr lang="en-US" altLang="zh-CN">
                <a:ea typeface="宋体" panose="02010600030101010101" pitchFamily="2" charset="-122"/>
              </a:rPr>
              <a:t>for (i=0; i &lt; N; i++) </a:t>
            </a:r>
          </a:p>
          <a:p>
            <a:pPr>
              <a:buFont typeface="Times New Roman" panose="02020603050405020304" pitchFamily="18" charset="0"/>
              <a:buNone/>
            </a:pPr>
            <a:r>
              <a:rPr lang="en-US" altLang="zh-CN">
                <a:ea typeface="宋体" panose="02010600030101010101" pitchFamily="2" charset="-122"/>
              </a:rPr>
              <a:t>    for (j=0; j &lt;N; j++) </a:t>
            </a:r>
          </a:p>
          <a:p>
            <a:pPr>
              <a:buFont typeface="Times New Roman" panose="02020603050405020304" pitchFamily="18" charset="0"/>
              <a:buNone/>
            </a:pPr>
            <a:r>
              <a:rPr lang="en-US" altLang="zh-CN">
                <a:ea typeface="宋体" panose="02010600030101010101" pitchFamily="2" charset="-122"/>
              </a:rPr>
              <a:t>       sum=sum+1;</a:t>
            </a:r>
          </a:p>
          <a:p>
            <a:pPr>
              <a:buFont typeface="Times New Roman" panose="02020603050405020304" pitchFamily="18" charset="0"/>
              <a:buNone/>
            </a:pPr>
            <a:r>
              <a:rPr lang="en-US" altLang="zh-CN">
                <a:ea typeface="宋体" panose="02010600030101010101" pitchFamily="2" charset="-122"/>
              </a:rPr>
              <a:t>return sum;</a:t>
            </a:r>
          </a:p>
          <a:p>
            <a:pPr>
              <a:buFont typeface="Times New Roman" panose="02020603050405020304" pitchFamily="18" charset="0"/>
              <a:buNone/>
            </a:pPr>
            <a:r>
              <a:rPr lang="en-US" altLang="zh-CN">
                <a:ea typeface="宋体" panose="02010600030101010101" pitchFamily="2" charset="-122"/>
              </a:rPr>
              <a:t>}</a:t>
            </a:r>
          </a:p>
        </p:txBody>
      </p:sp>
      <p:sp>
        <p:nvSpPr>
          <p:cNvPr id="378884" name="Rectangle 4">
            <a:extLst>
              <a:ext uri="{FF2B5EF4-FFF2-40B4-BE49-F238E27FC236}">
                <a16:creationId xmlns:a16="http://schemas.microsoft.com/office/drawing/2014/main" id="{C8D9C336-63B4-9E4D-97E6-15FEC00BA72E}"/>
              </a:ext>
            </a:extLst>
          </p:cNvPr>
          <p:cNvSpPr>
            <a:spLocks noChangeArrowheads="1"/>
          </p:cNvSpPr>
          <p:nvPr/>
        </p:nvSpPr>
        <p:spPr bwMode="auto">
          <a:xfrm>
            <a:off x="3281363" y="842963"/>
            <a:ext cx="5676900" cy="32829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203200" indent="-203200">
              <a:spcBef>
                <a:spcPct val="30000"/>
              </a:spcBef>
              <a:buSzPct val="100000"/>
              <a:buFont typeface="Times New Roman" panose="02020603050405020304" pitchFamily="18" charset="0"/>
              <a:buChar char="°"/>
              <a:defRPr b="1">
                <a:solidFill>
                  <a:schemeClr val="tx1"/>
                </a:solidFill>
                <a:latin typeface="Arial" panose="020B0604020202020204" pitchFamily="34" charset="0"/>
              </a:defRPr>
            </a:lvl1pPr>
            <a:lvl2pPr marL="685800" indent="-190500">
              <a:lnSpc>
                <a:spcPct val="85000"/>
              </a:lnSpc>
              <a:spcBef>
                <a:spcPct val="40000"/>
              </a:spcBef>
              <a:buSzPct val="100000"/>
              <a:buChar char="•"/>
              <a:defRPr b="1">
                <a:solidFill>
                  <a:schemeClr val="accent2"/>
                </a:solidFill>
                <a:latin typeface="Arial" panose="020B0604020202020204" pitchFamily="34" charset="0"/>
              </a:defRPr>
            </a:lvl2pPr>
            <a:lvl3pPr marL="1257300" indent="-342900">
              <a:lnSpc>
                <a:spcPct val="85000"/>
              </a:lnSpc>
              <a:spcBef>
                <a:spcPct val="40000"/>
              </a:spcBef>
              <a:buSzPct val="100000"/>
              <a:buChar char="-"/>
              <a:defRPr b="1">
                <a:solidFill>
                  <a:srgbClr val="990000"/>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Times New Roman" panose="02020603050405020304" pitchFamily="18" charset="0"/>
              <a:buNone/>
            </a:pPr>
            <a:r>
              <a:rPr lang="en-US" altLang="zh-CN" sz="1800">
                <a:ea typeface="宋体" panose="02010600030101010101" pitchFamily="2" charset="-122"/>
              </a:rPr>
              <a:t>… …</a:t>
            </a:r>
          </a:p>
          <a:p>
            <a:pPr>
              <a:lnSpc>
                <a:spcPct val="90000"/>
              </a:lnSpc>
              <a:buFont typeface="Times New Roman" panose="02020603050405020304" pitchFamily="18" charset="0"/>
              <a:buNone/>
            </a:pPr>
            <a:r>
              <a:rPr lang="en-US" altLang="zh-CN" sz="1800">
                <a:ea typeface="宋体" panose="02010600030101010101" pitchFamily="2" charset="-122"/>
              </a:rPr>
              <a:t>Loop-i:  </a:t>
            </a:r>
            <a:r>
              <a:rPr lang="en-US" altLang="zh-CN" sz="1800">
                <a:solidFill>
                  <a:schemeClr val="accent1"/>
                </a:solidFill>
                <a:ea typeface="宋体" panose="02010600030101010101" pitchFamily="2" charset="-122"/>
              </a:rPr>
              <a:t>beq $t1,$a0, exit-i</a:t>
            </a:r>
            <a:r>
              <a:rPr lang="en-US" altLang="zh-CN" sz="1800">
                <a:ea typeface="宋体" panose="02010600030101010101" pitchFamily="2" charset="-122"/>
              </a:rPr>
              <a:t>    # </a:t>
            </a:r>
            <a:r>
              <a:rPr lang="zh-CN" altLang="en-US" sz="1800">
                <a:ea typeface="宋体" panose="02010600030101010101" pitchFamily="2" charset="-122"/>
              </a:rPr>
              <a:t>若</a:t>
            </a:r>
            <a:r>
              <a:rPr lang="en-US" altLang="zh-CN" sz="1800">
                <a:ea typeface="宋体" panose="02010600030101010101" pitchFamily="2" charset="-122"/>
              </a:rPr>
              <a:t>( i=N)</a:t>
            </a:r>
            <a:r>
              <a:rPr lang="zh-CN" altLang="en-US" sz="1800">
                <a:ea typeface="宋体" panose="02010600030101010101" pitchFamily="2" charset="-122"/>
              </a:rPr>
              <a:t>则跳出外循环 </a:t>
            </a:r>
          </a:p>
          <a:p>
            <a:pPr>
              <a:lnSpc>
                <a:spcPct val="90000"/>
              </a:lnSpc>
              <a:buFont typeface="Times New Roman" panose="02020603050405020304" pitchFamily="18" charset="0"/>
              <a:buNone/>
            </a:pPr>
            <a:r>
              <a:rPr lang="en-US" altLang="zh-CN" sz="1800">
                <a:ea typeface="宋体" panose="02010600030101010101" pitchFamily="2" charset="-122"/>
              </a:rPr>
              <a:t>              add $t2, $zero, $zero  #j=0                </a:t>
            </a:r>
          </a:p>
          <a:p>
            <a:pPr>
              <a:lnSpc>
                <a:spcPct val="90000"/>
              </a:lnSpc>
              <a:buFont typeface="Times New Roman" panose="02020603050405020304" pitchFamily="18" charset="0"/>
              <a:buNone/>
            </a:pPr>
            <a:r>
              <a:rPr lang="en-US" altLang="zh-CN" sz="1800">
                <a:ea typeface="宋体" panose="02010600030101010101" pitchFamily="2" charset="-122"/>
              </a:rPr>
              <a:t>Loop-j:  </a:t>
            </a:r>
            <a:r>
              <a:rPr lang="en-US" altLang="zh-CN" sz="1800">
                <a:solidFill>
                  <a:schemeClr val="accent1"/>
                </a:solidFill>
                <a:ea typeface="宋体" panose="02010600030101010101" pitchFamily="2" charset="-122"/>
              </a:rPr>
              <a:t>beq $t2, $a0, exit-j</a:t>
            </a:r>
            <a:r>
              <a:rPr lang="en-US" altLang="zh-CN" sz="1800">
                <a:ea typeface="宋体" panose="02010600030101010101" pitchFamily="2" charset="-122"/>
              </a:rPr>
              <a:t>   # </a:t>
            </a:r>
            <a:r>
              <a:rPr lang="zh-CN" altLang="en-US" sz="1800">
                <a:ea typeface="宋体" panose="02010600030101010101" pitchFamily="2" charset="-122"/>
              </a:rPr>
              <a:t>若</a:t>
            </a:r>
            <a:r>
              <a:rPr lang="en-US" altLang="zh-CN" sz="1800">
                <a:ea typeface="宋体" panose="02010600030101010101" pitchFamily="2" charset="-122"/>
              </a:rPr>
              <a:t>(j=N)</a:t>
            </a:r>
            <a:r>
              <a:rPr lang="zh-CN" altLang="en-US" sz="1800">
                <a:ea typeface="宋体" panose="02010600030101010101" pitchFamily="2" charset="-122"/>
              </a:rPr>
              <a:t>则跳出内循环</a:t>
            </a:r>
          </a:p>
          <a:p>
            <a:pPr>
              <a:lnSpc>
                <a:spcPct val="90000"/>
              </a:lnSpc>
              <a:buFont typeface="Times New Roman" panose="02020603050405020304" pitchFamily="18" charset="0"/>
              <a:buNone/>
            </a:pPr>
            <a:r>
              <a:rPr lang="zh-CN" altLang="en-US" sz="1800">
                <a:ea typeface="宋体" panose="02010600030101010101" pitchFamily="2" charset="-122"/>
              </a:rPr>
              <a:t>	           </a:t>
            </a:r>
            <a:r>
              <a:rPr lang="en-US" altLang="zh-CN" sz="1800">
                <a:ea typeface="宋体" panose="02010600030101010101" pitchFamily="2" charset="-122"/>
              </a:rPr>
              <a:t>addi $t2, $t2, 1	     # j=j+1</a:t>
            </a:r>
          </a:p>
          <a:p>
            <a:pPr>
              <a:lnSpc>
                <a:spcPct val="90000"/>
              </a:lnSpc>
              <a:buFont typeface="Times New Roman" panose="02020603050405020304" pitchFamily="18" charset="0"/>
              <a:buNone/>
            </a:pPr>
            <a:r>
              <a:rPr lang="en-US" altLang="zh-CN" sz="1800">
                <a:ea typeface="宋体" panose="02010600030101010101" pitchFamily="2" charset="-122"/>
              </a:rPr>
              <a:t>  	           addi $t0, $t0, 1	     #sum=sum+1</a:t>
            </a:r>
          </a:p>
          <a:p>
            <a:pPr>
              <a:lnSpc>
                <a:spcPct val="90000"/>
              </a:lnSpc>
              <a:buFont typeface="Times New Roman" panose="02020603050405020304" pitchFamily="18" charset="0"/>
              <a:buNone/>
            </a:pPr>
            <a:r>
              <a:rPr lang="en-US" altLang="zh-CN" sz="1800">
                <a:ea typeface="宋体" panose="02010600030101010101" pitchFamily="2" charset="-122"/>
              </a:rPr>
              <a:t>	           j  Loop-j</a:t>
            </a:r>
          </a:p>
          <a:p>
            <a:pPr>
              <a:lnSpc>
                <a:spcPct val="90000"/>
              </a:lnSpc>
              <a:buFont typeface="Times New Roman" panose="02020603050405020304" pitchFamily="18" charset="0"/>
              <a:buNone/>
            </a:pPr>
            <a:r>
              <a:rPr lang="en-US" altLang="zh-CN" sz="1800">
                <a:ea typeface="宋体" panose="02010600030101010101" pitchFamily="2" charset="-122"/>
              </a:rPr>
              <a:t>exit-j:   addi $t1, $t1, 1	     # i=i +1</a:t>
            </a:r>
          </a:p>
          <a:p>
            <a:pPr>
              <a:lnSpc>
                <a:spcPct val="90000"/>
              </a:lnSpc>
              <a:buFont typeface="Times New Roman" panose="02020603050405020304" pitchFamily="18" charset="0"/>
              <a:buNone/>
            </a:pPr>
            <a:r>
              <a:rPr lang="en-US" altLang="zh-CN" sz="1800">
                <a:ea typeface="宋体" panose="02010600030101010101" pitchFamily="2" charset="-122"/>
              </a:rPr>
              <a:t>              j  Loop-i</a:t>
            </a:r>
          </a:p>
          <a:p>
            <a:pPr>
              <a:lnSpc>
                <a:spcPct val="90000"/>
              </a:lnSpc>
              <a:buFont typeface="Times New Roman" panose="02020603050405020304" pitchFamily="18" charset="0"/>
              <a:buNone/>
            </a:pPr>
            <a:r>
              <a:rPr lang="en-US" altLang="zh-CN" sz="1800">
                <a:ea typeface="宋体" panose="02010600030101010101" pitchFamily="2" charset="-122"/>
              </a:rPr>
              <a:t>exit-i:   … …</a:t>
            </a:r>
            <a:endParaRPr lang="zh-CN" altLang="en-US" sz="1800">
              <a:ea typeface="宋体" panose="02010600030101010101" pitchFamily="2" charset="-122"/>
            </a:endParaRPr>
          </a:p>
        </p:txBody>
      </p:sp>
      <p:sp>
        <p:nvSpPr>
          <p:cNvPr id="143365" name="AutoShape 5">
            <a:extLst>
              <a:ext uri="{FF2B5EF4-FFF2-40B4-BE49-F238E27FC236}">
                <a16:creationId xmlns:a16="http://schemas.microsoft.com/office/drawing/2014/main" id="{4D61B312-B7C6-DF41-A834-35C9A5479841}"/>
              </a:ext>
            </a:extLst>
          </p:cNvPr>
          <p:cNvSpPr>
            <a:spLocks noChangeArrowheads="1"/>
          </p:cNvSpPr>
          <p:nvPr/>
        </p:nvSpPr>
        <p:spPr bwMode="auto">
          <a:xfrm>
            <a:off x="2692400" y="2146300"/>
            <a:ext cx="508000" cy="673100"/>
          </a:xfrm>
          <a:prstGeom prst="rightArrow">
            <a:avLst>
              <a:gd name="adj1" fmla="val 50000"/>
              <a:gd name="adj2" fmla="val 25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8886" name="Text Box 6">
            <a:extLst>
              <a:ext uri="{FF2B5EF4-FFF2-40B4-BE49-F238E27FC236}">
                <a16:creationId xmlns:a16="http://schemas.microsoft.com/office/drawing/2014/main" id="{F04722CE-7967-C748-82E8-EEADE6F58EE8}"/>
              </a:ext>
            </a:extLst>
          </p:cNvPr>
          <p:cNvSpPr txBox="1">
            <a:spLocks noChangeArrowheads="1"/>
          </p:cNvSpPr>
          <p:nvPr/>
        </p:nvSpPr>
        <p:spPr bwMode="auto">
          <a:xfrm>
            <a:off x="8001000" y="622300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2" action="ppaction://hlinksldjump"/>
              </a:rPr>
              <a:t>BACK</a:t>
            </a:r>
            <a:endParaRPr lang="en-US" altLang="zh-CN">
              <a:ea typeface="宋体" panose="02010600030101010101" pitchFamily="2" charset="-122"/>
            </a:endParaRPr>
          </a:p>
        </p:txBody>
      </p:sp>
      <p:sp>
        <p:nvSpPr>
          <p:cNvPr id="378887" name="Rectangle 7">
            <a:extLst>
              <a:ext uri="{FF2B5EF4-FFF2-40B4-BE49-F238E27FC236}">
                <a16:creationId xmlns:a16="http://schemas.microsoft.com/office/drawing/2014/main" id="{B0443E72-6E38-A94C-8B75-567AFD84A76E}"/>
              </a:ext>
            </a:extLst>
          </p:cNvPr>
          <p:cNvSpPr>
            <a:spLocks noChangeArrowheads="1"/>
          </p:cNvSpPr>
          <p:nvPr/>
        </p:nvSpPr>
        <p:spPr bwMode="auto">
          <a:xfrm>
            <a:off x="85725" y="4445000"/>
            <a:ext cx="50577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2000">
                <a:latin typeface="Arial" panose="020B0604020202020204" pitchFamily="34" charset="0"/>
                <a:ea typeface="黑体" panose="02010609060101010101" pitchFamily="49" charset="-122"/>
              </a:rPr>
              <a:t>外循环中的分支指令共执行</a:t>
            </a:r>
            <a:r>
              <a:rPr lang="en-US" altLang="zh-CN" sz="2000">
                <a:latin typeface="Arial" panose="020B0604020202020204" pitchFamily="34" charset="0"/>
                <a:ea typeface="黑体" panose="02010609060101010101" pitchFamily="49" charset="-122"/>
              </a:rPr>
              <a:t>N+1</a:t>
            </a:r>
            <a:r>
              <a:rPr lang="zh-CN" altLang="en-US" sz="2000">
                <a:latin typeface="Arial" panose="020B0604020202020204" pitchFamily="34" charset="0"/>
                <a:ea typeface="黑体" panose="02010609060101010101" pitchFamily="49" charset="-122"/>
              </a:rPr>
              <a:t>次，</a:t>
            </a:r>
          </a:p>
          <a:p>
            <a:r>
              <a:rPr lang="zh-CN" altLang="en-US" sz="2000">
                <a:latin typeface="Arial" panose="020B0604020202020204" pitchFamily="34" charset="0"/>
                <a:ea typeface="黑体" panose="02010609060101010101" pitchFamily="49" charset="-122"/>
              </a:rPr>
              <a:t>内循环中的分支指令共执行</a:t>
            </a:r>
            <a:r>
              <a:rPr lang="en-US" altLang="zh-CN" sz="2000">
                <a:latin typeface="Arial" panose="020B0604020202020204" pitchFamily="34" charset="0"/>
                <a:ea typeface="黑体" panose="02010609060101010101" pitchFamily="49" charset="-122"/>
              </a:rPr>
              <a:t>N×(N+1)</a:t>
            </a:r>
            <a:r>
              <a:rPr lang="zh-CN" altLang="en-US" sz="2000">
                <a:latin typeface="Arial" panose="020B0604020202020204" pitchFamily="34" charset="0"/>
                <a:ea typeface="黑体" panose="02010609060101010101" pitchFamily="49" charset="-122"/>
              </a:rPr>
              <a:t>次。</a:t>
            </a:r>
          </a:p>
        </p:txBody>
      </p:sp>
      <p:sp>
        <p:nvSpPr>
          <p:cNvPr id="378888" name="Rectangle 8">
            <a:extLst>
              <a:ext uri="{FF2B5EF4-FFF2-40B4-BE49-F238E27FC236}">
                <a16:creationId xmlns:a16="http://schemas.microsoft.com/office/drawing/2014/main" id="{5EBB9F4E-9FD0-1C42-85DA-BF878D98269E}"/>
              </a:ext>
            </a:extLst>
          </p:cNvPr>
          <p:cNvSpPr>
            <a:spLocks noChangeArrowheads="1"/>
          </p:cNvSpPr>
          <p:nvPr/>
        </p:nvSpPr>
        <p:spPr bwMode="auto">
          <a:xfrm>
            <a:off x="155575" y="5300663"/>
            <a:ext cx="8147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2000">
                <a:latin typeface="Arial" panose="020B0604020202020204" pitchFamily="34" charset="0"/>
                <a:ea typeface="黑体" panose="02010609060101010101" pitchFamily="49" charset="-122"/>
              </a:rPr>
              <a:t>若预测位初始为</a:t>
            </a:r>
            <a:r>
              <a:rPr lang="en-US" altLang="zh-CN" sz="2000">
                <a:latin typeface="Arial" panose="020B0604020202020204" pitchFamily="34" charset="0"/>
                <a:ea typeface="黑体" panose="02010609060101010101" pitchFamily="49" charset="-122"/>
              </a:rPr>
              <a:t>00</a:t>
            </a:r>
            <a:r>
              <a:rPr lang="zh-CN" altLang="en-US" sz="2000">
                <a:latin typeface="Arial" panose="020B0604020202020204" pitchFamily="34" charset="0"/>
                <a:ea typeface="黑体" panose="02010609060101010101" pitchFamily="49" charset="-122"/>
              </a:rPr>
              <a:t>，外循环只有最后一次预测错误；跳出内循环时预测  位变为</a:t>
            </a:r>
            <a:r>
              <a:rPr lang="en-US" altLang="zh-CN" sz="2000">
                <a:latin typeface="Arial" panose="020B0604020202020204" pitchFamily="34" charset="0"/>
                <a:ea typeface="黑体" panose="02010609060101010101" pitchFamily="49" charset="-122"/>
              </a:rPr>
              <a:t>01</a:t>
            </a:r>
            <a:r>
              <a:rPr lang="zh-CN" altLang="en-US" sz="2000">
                <a:latin typeface="Arial" panose="020B0604020202020204" pitchFamily="34" charset="0"/>
                <a:ea typeface="黑体" panose="02010609060101010101" pitchFamily="49" charset="-122"/>
              </a:rPr>
              <a:t>，再进入内循环时，第一次预测正确，只有最后一次预测错误，因此，总共有</a:t>
            </a:r>
            <a:r>
              <a:rPr lang="en-US" altLang="zh-CN" sz="2000">
                <a:latin typeface="Arial" panose="020B0604020202020204" pitchFamily="34" charset="0"/>
                <a:ea typeface="黑体" panose="02010609060101010101" pitchFamily="49" charset="-122"/>
              </a:rPr>
              <a:t>N</a:t>
            </a:r>
            <a:r>
              <a:rPr lang="zh-CN" altLang="en-US" sz="2000">
                <a:latin typeface="Arial" panose="020B0604020202020204" pitchFamily="34" charset="0"/>
                <a:ea typeface="黑体" panose="02010609060101010101" pitchFamily="49" charset="-122"/>
              </a:rPr>
              <a:t>次预测错误。</a:t>
            </a:r>
          </a:p>
        </p:txBody>
      </p:sp>
      <p:sp>
        <p:nvSpPr>
          <p:cNvPr id="378889" name="Text Box 9">
            <a:extLst>
              <a:ext uri="{FF2B5EF4-FFF2-40B4-BE49-F238E27FC236}">
                <a16:creationId xmlns:a16="http://schemas.microsoft.com/office/drawing/2014/main" id="{E3216E10-140C-DB48-85D4-FCE0C380BFF6}"/>
              </a:ext>
            </a:extLst>
          </p:cNvPr>
          <p:cNvSpPr txBox="1">
            <a:spLocks noChangeArrowheads="1"/>
          </p:cNvSpPr>
          <p:nvPr/>
        </p:nvSpPr>
        <p:spPr bwMode="auto">
          <a:xfrm>
            <a:off x="3937000" y="6207125"/>
            <a:ext cx="298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solidFill>
                  <a:schemeClr val="accent1"/>
                </a:solidFill>
                <a:latin typeface="Arial" panose="020B0604020202020204" pitchFamily="34" charset="0"/>
                <a:ea typeface="黑体" panose="02010609060101010101" pitchFamily="49" charset="-122"/>
              </a:rPr>
              <a:t>N</a:t>
            </a:r>
            <a:r>
              <a:rPr lang="zh-CN" altLang="en-US" sz="2000">
                <a:solidFill>
                  <a:schemeClr val="accent1"/>
                </a:solidFill>
                <a:latin typeface="Arial" panose="020B0604020202020204" pitchFamily="34" charset="0"/>
                <a:ea typeface="黑体" panose="02010609060101010101" pitchFamily="49" charset="-122"/>
              </a:rPr>
              <a:t>越大准确率越高！</a:t>
            </a:r>
          </a:p>
        </p:txBody>
      </p:sp>
      <p:sp>
        <p:nvSpPr>
          <p:cNvPr id="378890" name="Text Box 10">
            <a:extLst>
              <a:ext uri="{FF2B5EF4-FFF2-40B4-BE49-F238E27FC236}">
                <a16:creationId xmlns:a16="http://schemas.microsoft.com/office/drawing/2014/main" id="{B9B38205-281F-704B-B8C4-123339EA2E16}"/>
              </a:ext>
            </a:extLst>
          </p:cNvPr>
          <p:cNvSpPr txBox="1">
            <a:spLocks noChangeArrowheads="1"/>
          </p:cNvSpPr>
          <p:nvPr/>
        </p:nvSpPr>
        <p:spPr bwMode="auto">
          <a:xfrm>
            <a:off x="5059363" y="4340225"/>
            <a:ext cx="37417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20000"/>
              </a:spcBef>
            </a:pPr>
            <a:r>
              <a:rPr lang="en-US" altLang="zh-CN" sz="2000">
                <a:solidFill>
                  <a:schemeClr val="accent1"/>
                </a:solidFill>
                <a:latin typeface="Arial" panose="020B0604020202020204" pitchFamily="34" charset="0"/>
                <a:ea typeface="黑体" panose="02010609060101010101" pitchFamily="49" charset="-122"/>
              </a:rPr>
              <a:t>N=10, </a:t>
            </a:r>
            <a:r>
              <a:rPr lang="zh-CN" altLang="en-US" sz="2000">
                <a:solidFill>
                  <a:schemeClr val="accent1"/>
                </a:solidFill>
                <a:latin typeface="Arial" panose="020B0604020202020204" pitchFamily="34" charset="0"/>
                <a:ea typeface="黑体" panose="02010609060101010101" pitchFamily="49" charset="-122"/>
              </a:rPr>
              <a:t>分别</a:t>
            </a:r>
            <a:r>
              <a:rPr lang="en-US" altLang="zh-CN" sz="2000">
                <a:solidFill>
                  <a:schemeClr val="accent1"/>
                </a:solidFill>
                <a:latin typeface="Arial" panose="020B0604020202020204" pitchFamily="34" charset="0"/>
                <a:ea typeface="黑体" panose="02010609060101010101" pitchFamily="49" charset="-122"/>
              </a:rPr>
              <a:t>90.9%</a:t>
            </a:r>
            <a:r>
              <a:rPr lang="zh-CN" altLang="en-US" sz="2000">
                <a:solidFill>
                  <a:schemeClr val="accent1"/>
                </a:solidFill>
                <a:latin typeface="Arial" panose="020B0604020202020204" pitchFamily="34" charset="0"/>
                <a:ea typeface="黑体" panose="02010609060101010101" pitchFamily="49" charset="-122"/>
              </a:rPr>
              <a:t>和</a:t>
            </a:r>
            <a:r>
              <a:rPr lang="en-US" altLang="zh-CN" sz="2000">
                <a:solidFill>
                  <a:schemeClr val="accent1"/>
                </a:solidFill>
                <a:latin typeface="Arial" panose="020B0604020202020204" pitchFamily="34" charset="0"/>
                <a:ea typeface="黑体" panose="02010609060101010101" pitchFamily="49" charset="-122"/>
              </a:rPr>
              <a:t>90.9%</a:t>
            </a:r>
          </a:p>
          <a:p>
            <a:pPr>
              <a:spcBef>
                <a:spcPct val="20000"/>
              </a:spcBef>
            </a:pPr>
            <a:r>
              <a:rPr lang="en-US" altLang="zh-CN" sz="2000">
                <a:solidFill>
                  <a:schemeClr val="accent1"/>
                </a:solidFill>
                <a:latin typeface="Arial" panose="020B0604020202020204" pitchFamily="34" charset="0"/>
                <a:ea typeface="黑体" panose="02010609060101010101" pitchFamily="49" charset="-122"/>
              </a:rPr>
              <a:t>N=100, </a:t>
            </a:r>
            <a:r>
              <a:rPr lang="zh-CN" altLang="en-US" sz="2000">
                <a:solidFill>
                  <a:schemeClr val="accent1"/>
                </a:solidFill>
                <a:latin typeface="Arial" panose="020B0604020202020204" pitchFamily="34" charset="0"/>
                <a:ea typeface="黑体" panose="02010609060101010101" pitchFamily="49" charset="-122"/>
              </a:rPr>
              <a:t>分别</a:t>
            </a:r>
            <a:r>
              <a:rPr lang="en-US" altLang="zh-CN" sz="2000">
                <a:solidFill>
                  <a:schemeClr val="accent1"/>
                </a:solidFill>
                <a:latin typeface="Arial" panose="020B0604020202020204" pitchFamily="34" charset="0"/>
                <a:ea typeface="黑体" panose="02010609060101010101" pitchFamily="49" charset="-122"/>
              </a:rPr>
              <a:t>99%</a:t>
            </a:r>
            <a:r>
              <a:rPr lang="zh-CN" altLang="en-US" sz="2000">
                <a:solidFill>
                  <a:schemeClr val="accent1"/>
                </a:solidFill>
                <a:latin typeface="Arial" panose="020B0604020202020204" pitchFamily="34" charset="0"/>
                <a:ea typeface="黑体" panose="02010609060101010101" pitchFamily="49" charset="-122"/>
              </a:rPr>
              <a:t>和</a:t>
            </a:r>
            <a:r>
              <a:rPr lang="en-US" altLang="zh-CN" sz="2000">
                <a:solidFill>
                  <a:schemeClr val="accent1"/>
                </a:solidFill>
                <a:latin typeface="Arial" panose="020B0604020202020204" pitchFamily="34" charset="0"/>
                <a:ea typeface="黑体" panose="02010609060101010101" pitchFamily="49" charset="-122"/>
              </a:rPr>
              <a:t>99%</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884"/>
                                        </p:tgtEl>
                                        <p:attrNameLst>
                                          <p:attrName>style.visibility</p:attrName>
                                        </p:attrNameLst>
                                      </p:cBhvr>
                                      <p:to>
                                        <p:strVal val="visible"/>
                                      </p:to>
                                    </p:set>
                                    <p:animEffect transition="in" filter="blinds(horizontal)">
                                      <p:cBhvr>
                                        <p:cTn id="7" dur="500"/>
                                        <p:tgtEl>
                                          <p:spTgt spid="3788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887"/>
                                        </p:tgtEl>
                                        <p:attrNameLst>
                                          <p:attrName>style.visibility</p:attrName>
                                        </p:attrNameLst>
                                      </p:cBhvr>
                                      <p:to>
                                        <p:strVal val="visible"/>
                                      </p:to>
                                    </p:set>
                                    <p:animEffect transition="in" filter="blinds(horizontal)">
                                      <p:cBhvr>
                                        <p:cTn id="12" dur="500"/>
                                        <p:tgtEl>
                                          <p:spTgt spid="3788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888"/>
                                        </p:tgtEl>
                                        <p:attrNameLst>
                                          <p:attrName>style.visibility</p:attrName>
                                        </p:attrNameLst>
                                      </p:cBhvr>
                                      <p:to>
                                        <p:strVal val="visible"/>
                                      </p:to>
                                    </p:set>
                                    <p:animEffect transition="in" filter="blinds(horizontal)">
                                      <p:cBhvr>
                                        <p:cTn id="17" dur="500"/>
                                        <p:tgtEl>
                                          <p:spTgt spid="3788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890"/>
                                        </p:tgtEl>
                                        <p:attrNameLst>
                                          <p:attrName>style.visibility</p:attrName>
                                        </p:attrNameLst>
                                      </p:cBhvr>
                                      <p:to>
                                        <p:strVal val="visible"/>
                                      </p:to>
                                    </p:set>
                                    <p:animEffect transition="in" filter="blinds(horizontal)">
                                      <p:cBhvr>
                                        <p:cTn id="22" dur="500"/>
                                        <p:tgtEl>
                                          <p:spTgt spid="3788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889"/>
                                        </p:tgtEl>
                                        <p:attrNameLst>
                                          <p:attrName>style.visibility</p:attrName>
                                        </p:attrNameLst>
                                      </p:cBhvr>
                                      <p:to>
                                        <p:strVal val="visible"/>
                                      </p:to>
                                    </p:set>
                                    <p:animEffect transition="in" filter="blinds(horizontal)">
                                      <p:cBhvr>
                                        <p:cTn id="27" dur="500"/>
                                        <p:tgtEl>
                                          <p:spTgt spid="3788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886"/>
                                        </p:tgtEl>
                                        <p:attrNameLst>
                                          <p:attrName>style.visibility</p:attrName>
                                        </p:attrNameLst>
                                      </p:cBhvr>
                                      <p:to>
                                        <p:strVal val="visible"/>
                                      </p:to>
                                    </p:set>
                                    <p:animEffect transition="in" filter="blinds(horizontal)">
                                      <p:cBhvr>
                                        <p:cTn id="32" dur="500"/>
                                        <p:tgtEl>
                                          <p:spTgt spid="378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4" grpId="0" animBg="1"/>
      <p:bldP spid="378886" grpId="0"/>
      <p:bldP spid="378887" grpId="0"/>
      <p:bldP spid="378888" grpId="0"/>
      <p:bldP spid="378889" grpId="0"/>
      <p:bldP spid="3788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E0F6AD6B-19E2-8342-A600-D06C4A2FBD00}"/>
              </a:ext>
            </a:extLst>
          </p:cNvPr>
          <p:cNvSpPr>
            <a:spLocks noGrp="1" noChangeArrowheads="1"/>
          </p:cNvSpPr>
          <p:nvPr>
            <p:ph type="title"/>
          </p:nvPr>
        </p:nvSpPr>
        <p:spPr>
          <a:xfrm>
            <a:off x="787400" y="215900"/>
            <a:ext cx="6862763" cy="368300"/>
          </a:xfrm>
        </p:spPr>
        <p:txBody>
          <a:bodyPr/>
          <a:lstStyle/>
          <a:p>
            <a:r>
              <a:rPr lang="zh-CN" altLang="en-US">
                <a:ea typeface="宋体" panose="02010600030101010101" pitchFamily="2" charset="-122"/>
              </a:rPr>
              <a:t>分支延迟时间片的调度</a:t>
            </a:r>
          </a:p>
        </p:txBody>
      </p:sp>
      <p:sp>
        <p:nvSpPr>
          <p:cNvPr id="144387" name="Rectangle 3">
            <a:extLst>
              <a:ext uri="{FF2B5EF4-FFF2-40B4-BE49-F238E27FC236}">
                <a16:creationId xmlns:a16="http://schemas.microsoft.com/office/drawing/2014/main" id="{C5C1C70F-C628-F643-BF24-6407E8B0CE78}"/>
              </a:ext>
            </a:extLst>
          </p:cNvPr>
          <p:cNvSpPr>
            <a:spLocks noGrp="1" noChangeArrowheads="1"/>
          </p:cNvSpPr>
          <p:nvPr>
            <p:ph type="body" idx="1"/>
          </p:nvPr>
        </p:nvSpPr>
        <p:spPr>
          <a:xfrm>
            <a:off x="136525" y="609600"/>
            <a:ext cx="8821738" cy="1103313"/>
          </a:xfrm>
        </p:spPr>
        <p:txBody>
          <a:bodyPr/>
          <a:lstStyle/>
          <a:p>
            <a:pPr>
              <a:lnSpc>
                <a:spcPct val="115000"/>
              </a:lnSpc>
              <a:spcBef>
                <a:spcPct val="20000"/>
              </a:spcBef>
            </a:pPr>
            <a:r>
              <a:rPr lang="zh-CN" altLang="en-US" sz="1900">
                <a:ea typeface="黑体" panose="02010609060101010101" pitchFamily="49" charset="-122"/>
              </a:rPr>
              <a:t>属于静态调度技术，由编译程序重排指令顺序来实现</a:t>
            </a:r>
          </a:p>
          <a:p>
            <a:pPr>
              <a:lnSpc>
                <a:spcPct val="115000"/>
              </a:lnSpc>
              <a:spcBef>
                <a:spcPct val="20000"/>
              </a:spcBef>
            </a:pPr>
            <a:r>
              <a:rPr lang="zh-CN" altLang="en-US" sz="1900">
                <a:ea typeface="黑体" panose="02010609060101010101" pitchFamily="49" charset="-122"/>
              </a:rPr>
              <a:t>基本思想：把分支指令前面的与分支指令无关的指令调到分支指令后面执行，以填充延迟时间片</a:t>
            </a:r>
            <a:r>
              <a:rPr lang="zh-CN" altLang="en-US" sz="1900">
                <a:solidFill>
                  <a:srgbClr val="CC0000"/>
                </a:solidFill>
                <a:ea typeface="黑体" panose="02010609060101010101" pitchFamily="49" charset="-122"/>
              </a:rPr>
              <a:t>（也称分支延迟槽</a:t>
            </a:r>
            <a:r>
              <a:rPr lang="en-US" altLang="zh-CN" sz="1900">
                <a:solidFill>
                  <a:srgbClr val="CC0000"/>
                </a:solidFill>
                <a:ea typeface="黑体" panose="02010609060101010101" pitchFamily="49" charset="-122"/>
              </a:rPr>
              <a:t>Branch Delay slot</a:t>
            </a:r>
            <a:r>
              <a:rPr lang="zh-CN" altLang="en-US" sz="1900">
                <a:solidFill>
                  <a:srgbClr val="CC0000"/>
                </a:solidFill>
                <a:ea typeface="黑体" panose="02010609060101010101" pitchFamily="49" charset="-122"/>
              </a:rPr>
              <a:t>）</a:t>
            </a:r>
            <a:r>
              <a:rPr lang="zh-CN" altLang="en-US" sz="1900">
                <a:ea typeface="黑体" panose="02010609060101010101" pitchFamily="49" charset="-122"/>
              </a:rPr>
              <a:t>，不够时用</a:t>
            </a:r>
            <a:r>
              <a:rPr lang="en-US" altLang="zh-CN" sz="1900">
                <a:ea typeface="黑体" panose="02010609060101010101" pitchFamily="49" charset="-122"/>
              </a:rPr>
              <a:t>nop</a:t>
            </a:r>
            <a:r>
              <a:rPr lang="zh-CN" altLang="en-US" sz="1900">
                <a:ea typeface="黑体" panose="02010609060101010101" pitchFamily="49" charset="-122"/>
              </a:rPr>
              <a:t>填充</a:t>
            </a:r>
          </a:p>
        </p:txBody>
      </p:sp>
      <p:sp>
        <p:nvSpPr>
          <p:cNvPr id="327686" name="Text Box 6">
            <a:extLst>
              <a:ext uri="{FF2B5EF4-FFF2-40B4-BE49-F238E27FC236}">
                <a16:creationId xmlns:a16="http://schemas.microsoft.com/office/drawing/2014/main" id="{FD7D4A24-4A37-504E-B467-DB449788E657}"/>
              </a:ext>
            </a:extLst>
          </p:cNvPr>
          <p:cNvSpPr txBox="1">
            <a:spLocks noChangeArrowheads="1"/>
          </p:cNvSpPr>
          <p:nvPr/>
        </p:nvSpPr>
        <p:spPr bwMode="auto">
          <a:xfrm>
            <a:off x="188913" y="1825625"/>
            <a:ext cx="36782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rgbClr val="008000"/>
                </a:solidFill>
                <a:latin typeface="Arial" panose="020B0604020202020204" pitchFamily="34" charset="0"/>
                <a:ea typeface="黑体" panose="02010609060101010101" pitchFamily="49" charset="-122"/>
              </a:rPr>
              <a:t>举例：如何对以下程序段进行分支延迟调度？（假定时间片为</a:t>
            </a:r>
            <a:r>
              <a:rPr lang="en-US" altLang="zh-CN" sz="1800">
                <a:solidFill>
                  <a:srgbClr val="008000"/>
                </a:solidFill>
                <a:latin typeface="Arial" panose="020B0604020202020204" pitchFamily="34" charset="0"/>
                <a:ea typeface="黑体" panose="02010609060101010101" pitchFamily="49" charset="-122"/>
              </a:rPr>
              <a:t>2</a:t>
            </a:r>
            <a:r>
              <a:rPr lang="zh-CN" altLang="en-US" sz="1800">
                <a:solidFill>
                  <a:srgbClr val="008000"/>
                </a:solidFill>
                <a:latin typeface="Arial" panose="020B0604020202020204" pitchFamily="34" charset="0"/>
                <a:ea typeface="黑体" panose="02010609060101010101" pitchFamily="49" charset="-122"/>
              </a:rPr>
              <a:t>）</a:t>
            </a:r>
          </a:p>
        </p:txBody>
      </p:sp>
      <p:sp>
        <p:nvSpPr>
          <p:cNvPr id="327690" name="Text Box 10">
            <a:extLst>
              <a:ext uri="{FF2B5EF4-FFF2-40B4-BE49-F238E27FC236}">
                <a16:creationId xmlns:a16="http://schemas.microsoft.com/office/drawing/2014/main" id="{7766BC7D-625F-6F4D-88F7-D048562D981E}"/>
              </a:ext>
            </a:extLst>
          </p:cNvPr>
          <p:cNvSpPr txBox="1">
            <a:spLocks noChangeArrowheads="1"/>
          </p:cNvSpPr>
          <p:nvPr/>
        </p:nvSpPr>
        <p:spPr bwMode="auto">
          <a:xfrm>
            <a:off x="4051300" y="5956300"/>
            <a:ext cx="45259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20000"/>
              </a:spcBef>
            </a:pPr>
            <a:r>
              <a:rPr lang="zh-CN" altLang="en-US" sz="1800">
                <a:solidFill>
                  <a:schemeClr val="accent2"/>
                </a:solidFill>
                <a:latin typeface="Arial" panose="020B0604020202020204" pitchFamily="34" charset="0"/>
                <a:ea typeface="黑体" panose="02010609060101010101" pitchFamily="49" charset="-122"/>
              </a:rPr>
              <a:t>调度后，无需在硬件线路中阻塞</a:t>
            </a:r>
            <a:r>
              <a:rPr lang="en-US" altLang="zh-CN" sz="1800">
                <a:solidFill>
                  <a:schemeClr val="accent2"/>
                </a:solidFill>
                <a:latin typeface="Arial" panose="020B0604020202020204" pitchFamily="34" charset="0"/>
                <a:ea typeface="黑体" panose="02010609060101010101" pitchFamily="49" charset="-122"/>
              </a:rPr>
              <a:t>branch</a:t>
            </a:r>
            <a:r>
              <a:rPr lang="zh-CN" altLang="en-US" sz="1800">
                <a:solidFill>
                  <a:schemeClr val="accent2"/>
                </a:solidFill>
                <a:latin typeface="Arial" panose="020B0604020202020204" pitchFamily="34" charset="0"/>
                <a:ea typeface="黑体" panose="02010609060101010101" pitchFamily="49" charset="-122"/>
              </a:rPr>
              <a:t>指令后面指令的执行</a:t>
            </a:r>
          </a:p>
        </p:txBody>
      </p:sp>
      <p:grpSp>
        <p:nvGrpSpPr>
          <p:cNvPr id="327717" name="Group 37">
            <a:extLst>
              <a:ext uri="{FF2B5EF4-FFF2-40B4-BE49-F238E27FC236}">
                <a16:creationId xmlns:a16="http://schemas.microsoft.com/office/drawing/2014/main" id="{64F83EE8-CD4F-8D40-9C97-04262EB384DC}"/>
              </a:ext>
            </a:extLst>
          </p:cNvPr>
          <p:cNvGrpSpPr>
            <a:grpSpLocks/>
          </p:cNvGrpSpPr>
          <p:nvPr/>
        </p:nvGrpSpPr>
        <p:grpSpPr bwMode="auto">
          <a:xfrm>
            <a:off x="6553200" y="2757488"/>
            <a:ext cx="2590800" cy="3346450"/>
            <a:chOff x="2536" y="1760"/>
            <a:chExt cx="1632" cy="2063"/>
          </a:xfrm>
        </p:grpSpPr>
        <p:sp>
          <p:nvSpPr>
            <p:cNvPr id="144409" name="Text Box 4">
              <a:extLst>
                <a:ext uri="{FF2B5EF4-FFF2-40B4-BE49-F238E27FC236}">
                  <a16:creationId xmlns:a16="http://schemas.microsoft.com/office/drawing/2014/main" id="{5D525B43-BCCB-E64D-A7A8-1D7F7BBA78A1}"/>
                </a:ext>
              </a:extLst>
            </p:cNvPr>
            <p:cNvSpPr txBox="1">
              <a:spLocks noChangeArrowheads="1"/>
            </p:cNvSpPr>
            <p:nvPr/>
          </p:nvSpPr>
          <p:spPr bwMode="auto">
            <a:xfrm>
              <a:off x="2672" y="1760"/>
              <a:ext cx="1496" cy="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lw $3, 0($2)</a:t>
              </a:r>
            </a:p>
            <a:p>
              <a:pPr>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cs typeface="Arial" panose="020B0604020202020204" pitchFamily="34" charset="0"/>
                </a:rPr>
                <a:t>add  $6, $4, $2</a:t>
              </a:r>
            </a:p>
            <a:p>
              <a:pPr>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cs typeface="Arial" panose="020B0604020202020204" pitchFamily="34" charset="0"/>
                </a:rPr>
                <a:t>beq $3, $5, 2</a:t>
              </a:r>
            </a:p>
            <a:p>
              <a:pPr>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cs typeface="Arial" panose="020B0604020202020204" pitchFamily="34" charset="0"/>
                </a:rPr>
                <a:t>lw $1, 0($2)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add $3, $3,$2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sw $1, 0($2)</a:t>
              </a:r>
              <a:r>
                <a:rPr lang="en-US" altLang="zh-CN" sz="2000">
                  <a:ea typeface="宋体" panose="02010600030101010101" pitchFamily="2" charset="-122"/>
                  <a:cs typeface="Arial" panose="020B0604020202020204" pitchFamily="34" charset="0"/>
                </a:rPr>
                <a:t> </a:t>
              </a:r>
            </a:p>
            <a:p>
              <a:r>
                <a:rPr lang="en-US" altLang="zh-CN" sz="2000">
                  <a:ea typeface="宋体" panose="02010600030101010101" pitchFamily="2" charset="-122"/>
                  <a:cs typeface="Arial" panose="020B0604020202020204" pitchFamily="34" charset="0"/>
                </a:rPr>
                <a:t>     ……</a:t>
              </a:r>
              <a:r>
                <a:rPr lang="zh-CN" altLang="en-US" sz="2000">
                  <a:ea typeface="宋体" panose="02010600030101010101" pitchFamily="2" charset="-122"/>
                  <a:cs typeface="Arial" panose="020B0604020202020204" pitchFamily="34" charset="0"/>
                </a:rPr>
                <a:t>     </a:t>
              </a:r>
            </a:p>
            <a:p>
              <a:pPr>
                <a:spcBef>
                  <a:spcPct val="50000"/>
                </a:spcBef>
              </a:pPr>
              <a:endParaRPr lang="en-US" altLang="zh-CN" sz="2000">
                <a:latin typeface="Arial" panose="020B0604020202020204" pitchFamily="34" charset="0"/>
                <a:ea typeface="宋体" panose="02010600030101010101" pitchFamily="2" charset="-122"/>
                <a:cs typeface="Arial" panose="020B0604020202020204" pitchFamily="34" charset="0"/>
              </a:endParaRPr>
            </a:p>
          </p:txBody>
        </p:sp>
        <p:sp>
          <p:nvSpPr>
            <p:cNvPr id="144410" name="Rectangle 18">
              <a:extLst>
                <a:ext uri="{FF2B5EF4-FFF2-40B4-BE49-F238E27FC236}">
                  <a16:creationId xmlns:a16="http://schemas.microsoft.com/office/drawing/2014/main" id="{4D5BFA4F-25A5-0042-BA11-24CF36190E80}"/>
                </a:ext>
              </a:extLst>
            </p:cNvPr>
            <p:cNvSpPr>
              <a:spLocks noChangeArrowheads="1"/>
            </p:cNvSpPr>
            <p:nvPr/>
          </p:nvSpPr>
          <p:spPr bwMode="auto">
            <a:xfrm>
              <a:off x="2536" y="1784"/>
              <a:ext cx="1352" cy="181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327723" name="Group 43">
            <a:extLst>
              <a:ext uri="{FF2B5EF4-FFF2-40B4-BE49-F238E27FC236}">
                <a16:creationId xmlns:a16="http://schemas.microsoft.com/office/drawing/2014/main" id="{82BB941B-2E43-804B-959D-7E240C09CB28}"/>
              </a:ext>
            </a:extLst>
          </p:cNvPr>
          <p:cNvGrpSpPr>
            <a:grpSpLocks/>
          </p:cNvGrpSpPr>
          <p:nvPr/>
        </p:nvGrpSpPr>
        <p:grpSpPr bwMode="auto">
          <a:xfrm>
            <a:off x="292100" y="2768600"/>
            <a:ext cx="2768600" cy="3346450"/>
            <a:chOff x="184" y="1744"/>
            <a:chExt cx="1744" cy="2108"/>
          </a:xfrm>
        </p:grpSpPr>
        <p:sp>
          <p:nvSpPr>
            <p:cNvPr id="144407" name="Text Box 14">
              <a:extLst>
                <a:ext uri="{FF2B5EF4-FFF2-40B4-BE49-F238E27FC236}">
                  <a16:creationId xmlns:a16="http://schemas.microsoft.com/office/drawing/2014/main" id="{0C96B110-DE87-C345-BAA3-5FA66F297B5C}"/>
                </a:ext>
              </a:extLst>
            </p:cNvPr>
            <p:cNvSpPr txBox="1">
              <a:spLocks noChangeArrowheads="1"/>
            </p:cNvSpPr>
            <p:nvPr/>
          </p:nvSpPr>
          <p:spPr bwMode="auto">
            <a:xfrm>
              <a:off x="240" y="1744"/>
              <a:ext cx="1256" cy="2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cs typeface="Arial" panose="020B0604020202020204" pitchFamily="34" charset="0"/>
                </a:rPr>
                <a:t>lw $1, 0($2)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lw </a:t>
              </a:r>
              <a:r>
                <a:rPr lang="en-US" altLang="zh-CN" sz="2000">
                  <a:solidFill>
                    <a:srgbClr val="CF922F"/>
                  </a:solidFill>
                  <a:latin typeface="Arial" panose="020B0604020202020204" pitchFamily="34" charset="0"/>
                  <a:ea typeface="宋体" panose="02010600030101010101" pitchFamily="2" charset="-122"/>
                  <a:cs typeface="Arial" panose="020B0604020202020204" pitchFamily="34" charset="0"/>
                </a:rPr>
                <a:t>$3</a:t>
              </a:r>
              <a:r>
                <a:rPr lang="en-US" altLang="zh-CN" sz="2000">
                  <a:latin typeface="Arial" panose="020B0604020202020204" pitchFamily="34" charset="0"/>
                  <a:ea typeface="宋体" panose="02010600030101010101" pitchFamily="2" charset="-122"/>
                  <a:cs typeface="Arial" panose="020B0604020202020204" pitchFamily="34" charset="0"/>
                </a:rPr>
                <a:t>, 0($2)</a:t>
              </a:r>
            </a:p>
            <a:p>
              <a:pPr>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cs typeface="Arial" panose="020B0604020202020204" pitchFamily="34" charset="0"/>
                </a:rPr>
                <a:t>add  $6, $4, $2</a:t>
              </a:r>
            </a:p>
            <a:p>
              <a:pPr>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cs typeface="Arial" panose="020B0604020202020204" pitchFamily="34" charset="0"/>
                </a:rPr>
                <a:t>beq </a:t>
              </a:r>
              <a:r>
                <a:rPr lang="en-US" altLang="zh-CN" sz="2000">
                  <a:solidFill>
                    <a:srgbClr val="CF922F"/>
                  </a:solidFill>
                  <a:latin typeface="Arial" panose="020B0604020202020204" pitchFamily="34" charset="0"/>
                  <a:ea typeface="宋体" panose="02010600030101010101" pitchFamily="2" charset="-122"/>
                  <a:cs typeface="Arial" panose="020B0604020202020204" pitchFamily="34" charset="0"/>
                </a:rPr>
                <a:t>$3</a:t>
              </a:r>
              <a:r>
                <a:rPr lang="en-US" altLang="zh-CN" sz="2000">
                  <a:solidFill>
                    <a:srgbClr val="008000"/>
                  </a:solidFill>
                  <a:latin typeface="Arial" panose="020B0604020202020204" pitchFamily="34" charset="0"/>
                  <a:ea typeface="宋体" panose="02010600030101010101" pitchFamily="2" charset="-122"/>
                  <a:cs typeface="Arial" panose="020B0604020202020204" pitchFamily="34" charset="0"/>
                </a:rPr>
                <a:t>, $5, 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add $3, $3,$2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sw $1, 0($2)</a:t>
              </a:r>
              <a:r>
                <a:rPr lang="en-US" altLang="zh-CN" sz="2000">
                  <a:ea typeface="宋体" panose="02010600030101010101" pitchFamily="2" charset="-122"/>
                  <a:cs typeface="Arial" panose="020B0604020202020204" pitchFamily="34" charset="0"/>
                </a:rPr>
                <a:t> </a:t>
              </a:r>
            </a:p>
            <a:p>
              <a:r>
                <a:rPr lang="en-US" altLang="zh-CN" sz="2000">
                  <a:ea typeface="宋体" panose="02010600030101010101" pitchFamily="2" charset="-122"/>
                  <a:cs typeface="Arial" panose="020B0604020202020204" pitchFamily="34" charset="0"/>
                </a:rPr>
                <a:t>     ……</a:t>
              </a:r>
              <a:r>
                <a:rPr lang="zh-CN" altLang="en-US" sz="2000">
                  <a:ea typeface="宋体" panose="02010600030101010101" pitchFamily="2" charset="-122"/>
                  <a:cs typeface="Arial" panose="020B0604020202020204" pitchFamily="34" charset="0"/>
                </a:rPr>
                <a:t>     </a:t>
              </a:r>
            </a:p>
            <a:p>
              <a:pPr>
                <a:spcBef>
                  <a:spcPct val="50000"/>
                </a:spcBef>
              </a:pPr>
              <a:endParaRPr lang="en-US" altLang="zh-CN" sz="2000">
                <a:latin typeface="Arial" panose="020B0604020202020204" pitchFamily="34" charset="0"/>
                <a:ea typeface="宋体" panose="02010600030101010101" pitchFamily="2" charset="-122"/>
                <a:cs typeface="Arial" panose="020B0604020202020204" pitchFamily="34" charset="0"/>
              </a:endParaRPr>
            </a:p>
          </p:txBody>
        </p:sp>
        <p:sp>
          <p:nvSpPr>
            <p:cNvPr id="144408" name="Rectangle 19">
              <a:extLst>
                <a:ext uri="{FF2B5EF4-FFF2-40B4-BE49-F238E27FC236}">
                  <a16:creationId xmlns:a16="http://schemas.microsoft.com/office/drawing/2014/main" id="{424E8D9C-3357-414C-877D-EFA9239A34D3}"/>
                </a:ext>
              </a:extLst>
            </p:cNvPr>
            <p:cNvSpPr>
              <a:spLocks noChangeArrowheads="1"/>
            </p:cNvSpPr>
            <p:nvPr/>
          </p:nvSpPr>
          <p:spPr bwMode="auto">
            <a:xfrm>
              <a:off x="184" y="1784"/>
              <a:ext cx="1744" cy="181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27700" name="Rectangle 20">
            <a:extLst>
              <a:ext uri="{FF2B5EF4-FFF2-40B4-BE49-F238E27FC236}">
                <a16:creationId xmlns:a16="http://schemas.microsoft.com/office/drawing/2014/main" id="{C7DEAA6C-4AF3-C94F-B802-DE529E8BCBF1}"/>
              </a:ext>
            </a:extLst>
          </p:cNvPr>
          <p:cNvSpPr>
            <a:spLocks noChangeArrowheads="1"/>
          </p:cNvSpPr>
          <p:nvPr/>
        </p:nvSpPr>
        <p:spPr bwMode="auto">
          <a:xfrm>
            <a:off x="215900" y="5903913"/>
            <a:ext cx="321945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solidFill>
                  <a:schemeClr val="accent2"/>
                </a:solidFill>
                <a:latin typeface="Arial" panose="020B0604020202020204" pitchFamily="34" charset="0"/>
                <a:ea typeface="黑体" panose="02010609060101010101" pitchFamily="49" charset="-122"/>
              </a:rPr>
              <a:t>调度后可能带来其他问题：产生新的</a:t>
            </a:r>
            <a:r>
              <a:rPr lang="en-US" altLang="zh-CN" sz="1900">
                <a:solidFill>
                  <a:schemeClr val="accent2"/>
                </a:solidFill>
                <a:latin typeface="Arial" panose="020B0604020202020204" pitchFamily="34" charset="0"/>
                <a:ea typeface="黑体" panose="02010609060101010101" pitchFamily="49" charset="-122"/>
                <a:cs typeface="Arial" panose="020B0604020202020204" pitchFamily="34" charset="0"/>
              </a:rPr>
              <a:t>load-use</a:t>
            </a:r>
            <a:r>
              <a:rPr lang="zh-CN" altLang="en-US" sz="1900">
                <a:solidFill>
                  <a:schemeClr val="accent2"/>
                </a:solidFill>
                <a:latin typeface="Arial" panose="020B0604020202020204" pitchFamily="34" charset="0"/>
                <a:ea typeface="黑体" panose="02010609060101010101" pitchFamily="49" charset="-122"/>
                <a:cs typeface="Arial" panose="020B0604020202020204" pitchFamily="34" charset="0"/>
              </a:rPr>
              <a:t>数据</a:t>
            </a:r>
            <a:r>
              <a:rPr lang="zh-CN" altLang="en-US" sz="1900">
                <a:solidFill>
                  <a:schemeClr val="accent2"/>
                </a:solidFill>
                <a:latin typeface="Arial" panose="020B0604020202020204" pitchFamily="34" charset="0"/>
                <a:ea typeface="黑体" panose="02010609060101010101" pitchFamily="49" charset="-122"/>
              </a:rPr>
              <a:t>冒险</a:t>
            </a:r>
          </a:p>
        </p:txBody>
      </p:sp>
      <p:sp>
        <p:nvSpPr>
          <p:cNvPr id="327704" name="Freeform 24">
            <a:extLst>
              <a:ext uri="{FF2B5EF4-FFF2-40B4-BE49-F238E27FC236}">
                <a16:creationId xmlns:a16="http://schemas.microsoft.com/office/drawing/2014/main" id="{7984B3C1-40F9-1C42-8C1A-55A495ACC234}"/>
              </a:ext>
            </a:extLst>
          </p:cNvPr>
          <p:cNvSpPr>
            <a:spLocks/>
          </p:cNvSpPr>
          <p:nvPr/>
        </p:nvSpPr>
        <p:spPr bwMode="auto">
          <a:xfrm>
            <a:off x="1711325" y="3113088"/>
            <a:ext cx="755650" cy="1374775"/>
          </a:xfrm>
          <a:custGeom>
            <a:avLst/>
            <a:gdLst>
              <a:gd name="T0" fmla="*/ 2147483646 w 309"/>
              <a:gd name="T1" fmla="*/ 0 h 560"/>
              <a:gd name="T2" fmla="*/ 2147483646 w 309"/>
              <a:gd name="T3" fmla="*/ 2147483646 h 560"/>
              <a:gd name="T4" fmla="*/ 2147483646 w 309"/>
              <a:gd name="T5" fmla="*/ 2147483646 h 560"/>
              <a:gd name="T6" fmla="*/ 0 w 309"/>
              <a:gd name="T7" fmla="*/ 2147483646 h 5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05" name="Freeform 25">
            <a:extLst>
              <a:ext uri="{FF2B5EF4-FFF2-40B4-BE49-F238E27FC236}">
                <a16:creationId xmlns:a16="http://schemas.microsoft.com/office/drawing/2014/main" id="{AA88F18C-351D-124C-BD54-1177E15A9A9A}"/>
              </a:ext>
            </a:extLst>
          </p:cNvPr>
          <p:cNvSpPr>
            <a:spLocks/>
          </p:cNvSpPr>
          <p:nvPr/>
        </p:nvSpPr>
        <p:spPr bwMode="auto">
          <a:xfrm rot="713319">
            <a:off x="2066925" y="3849688"/>
            <a:ext cx="628650" cy="739775"/>
          </a:xfrm>
          <a:custGeom>
            <a:avLst/>
            <a:gdLst>
              <a:gd name="T0" fmla="*/ 2147483646 w 309"/>
              <a:gd name="T1" fmla="*/ 0 h 560"/>
              <a:gd name="T2" fmla="*/ 2147483646 w 309"/>
              <a:gd name="T3" fmla="*/ 2147483646 h 560"/>
              <a:gd name="T4" fmla="*/ 2147483646 w 309"/>
              <a:gd name="T5" fmla="*/ 2147483646 h 560"/>
              <a:gd name="T6" fmla="*/ 0 w 309"/>
              <a:gd name="T7" fmla="*/ 2147483646 h 5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381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7708" name="Group 28">
            <a:extLst>
              <a:ext uri="{FF2B5EF4-FFF2-40B4-BE49-F238E27FC236}">
                <a16:creationId xmlns:a16="http://schemas.microsoft.com/office/drawing/2014/main" id="{93861835-A5EE-8A4A-88BE-38760675FE28}"/>
              </a:ext>
            </a:extLst>
          </p:cNvPr>
          <p:cNvGrpSpPr>
            <a:grpSpLocks/>
          </p:cNvGrpSpPr>
          <p:nvPr/>
        </p:nvGrpSpPr>
        <p:grpSpPr bwMode="auto">
          <a:xfrm>
            <a:off x="2387600" y="4356100"/>
            <a:ext cx="203200" cy="292100"/>
            <a:chOff x="4640" y="2696"/>
            <a:chExt cx="128" cy="184"/>
          </a:xfrm>
        </p:grpSpPr>
        <p:sp>
          <p:nvSpPr>
            <p:cNvPr id="144405" name="Line 26">
              <a:extLst>
                <a:ext uri="{FF2B5EF4-FFF2-40B4-BE49-F238E27FC236}">
                  <a16:creationId xmlns:a16="http://schemas.microsoft.com/office/drawing/2014/main" id="{3D2286D5-B955-7C46-A2E2-C73DFCF96324}"/>
                </a:ext>
              </a:extLst>
            </p:cNvPr>
            <p:cNvSpPr>
              <a:spLocks noChangeShapeType="1"/>
            </p:cNvSpPr>
            <p:nvPr/>
          </p:nvSpPr>
          <p:spPr bwMode="auto">
            <a:xfrm flipH="1">
              <a:off x="4656" y="2696"/>
              <a:ext cx="96" cy="1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6" name="Line 27">
              <a:extLst>
                <a:ext uri="{FF2B5EF4-FFF2-40B4-BE49-F238E27FC236}">
                  <a16:creationId xmlns:a16="http://schemas.microsoft.com/office/drawing/2014/main" id="{7733F6D6-25F4-9F4D-9F4C-49FBD0F961C4}"/>
                </a:ext>
              </a:extLst>
            </p:cNvPr>
            <p:cNvSpPr>
              <a:spLocks noChangeShapeType="1"/>
            </p:cNvSpPr>
            <p:nvPr/>
          </p:nvSpPr>
          <p:spPr bwMode="auto">
            <a:xfrm>
              <a:off x="4640" y="2720"/>
              <a:ext cx="128" cy="1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7709" name="Text Box 29">
            <a:extLst>
              <a:ext uri="{FF2B5EF4-FFF2-40B4-BE49-F238E27FC236}">
                <a16:creationId xmlns:a16="http://schemas.microsoft.com/office/drawing/2014/main" id="{AA87736B-68EB-9949-B93F-4E802C027567}"/>
              </a:ext>
            </a:extLst>
          </p:cNvPr>
          <p:cNvSpPr txBox="1">
            <a:spLocks noChangeArrowheads="1"/>
          </p:cNvSpPr>
          <p:nvPr/>
        </p:nvSpPr>
        <p:spPr bwMode="auto">
          <a:xfrm>
            <a:off x="7367588" y="6319838"/>
            <a:ext cx="889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rId3" action="ppaction://hlinksldjump"/>
              </a:rPr>
              <a:t>BACK</a:t>
            </a:r>
            <a:endParaRPr lang="en-US" altLang="zh-CN">
              <a:ea typeface="宋体" panose="02010600030101010101" pitchFamily="2" charset="-122"/>
            </a:endParaRPr>
          </a:p>
        </p:txBody>
      </p:sp>
      <p:sp>
        <p:nvSpPr>
          <p:cNvPr id="327713" name="Text Box 33">
            <a:extLst>
              <a:ext uri="{FF2B5EF4-FFF2-40B4-BE49-F238E27FC236}">
                <a16:creationId xmlns:a16="http://schemas.microsoft.com/office/drawing/2014/main" id="{F01D6C89-57A3-3147-BE8C-AC32BFC2C6DF}"/>
              </a:ext>
            </a:extLst>
          </p:cNvPr>
          <p:cNvSpPr txBox="1">
            <a:spLocks noChangeArrowheads="1"/>
          </p:cNvSpPr>
          <p:nvPr/>
        </p:nvSpPr>
        <p:spPr bwMode="auto">
          <a:xfrm>
            <a:off x="4386263" y="1876425"/>
            <a:ext cx="441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latin typeface="Arial" panose="020B0604020202020204" pitchFamily="34" charset="0"/>
                <a:ea typeface="黑体" panose="02010609060101010101" pitchFamily="49" charset="-122"/>
              </a:rPr>
              <a:t>若分支条件判断和目标地址计算提前到</a:t>
            </a:r>
            <a:r>
              <a:rPr lang="en-US" altLang="zh-CN" sz="1800">
                <a:latin typeface="Arial" panose="020B0604020202020204" pitchFamily="34" charset="0"/>
                <a:ea typeface="黑体" panose="02010609060101010101" pitchFamily="49" charset="-122"/>
              </a:rPr>
              <a:t>ID</a:t>
            </a:r>
            <a:r>
              <a:rPr lang="zh-CN" altLang="en-US" sz="1800">
                <a:latin typeface="Arial" panose="020B0604020202020204" pitchFamily="34" charset="0"/>
                <a:ea typeface="黑体" panose="02010609060101010101" pitchFamily="49" charset="-122"/>
              </a:rPr>
              <a:t>阶段，则分支延迟时间片减少为</a:t>
            </a:r>
            <a:r>
              <a:rPr lang="en-US" altLang="zh-CN" sz="1800">
                <a:latin typeface="Arial" panose="020B0604020202020204" pitchFamily="34" charset="0"/>
                <a:ea typeface="黑体" panose="02010609060101010101" pitchFamily="49" charset="-122"/>
              </a:rPr>
              <a:t>1</a:t>
            </a:r>
            <a:endParaRPr lang="zh-CN" altLang="en-US" sz="1800">
              <a:latin typeface="Arial" panose="020B0604020202020204" pitchFamily="34" charset="0"/>
              <a:ea typeface="黑体" panose="02010609060101010101" pitchFamily="49" charset="-122"/>
            </a:endParaRPr>
          </a:p>
        </p:txBody>
      </p:sp>
      <p:grpSp>
        <p:nvGrpSpPr>
          <p:cNvPr id="327716" name="Group 36">
            <a:extLst>
              <a:ext uri="{FF2B5EF4-FFF2-40B4-BE49-F238E27FC236}">
                <a16:creationId xmlns:a16="http://schemas.microsoft.com/office/drawing/2014/main" id="{43489EA0-6660-2B4B-8F3B-8A002EDF37E2}"/>
              </a:ext>
            </a:extLst>
          </p:cNvPr>
          <p:cNvGrpSpPr>
            <a:grpSpLocks/>
          </p:cNvGrpSpPr>
          <p:nvPr/>
        </p:nvGrpSpPr>
        <p:grpSpPr bwMode="auto">
          <a:xfrm>
            <a:off x="3111500" y="3810000"/>
            <a:ext cx="1008063" cy="825500"/>
            <a:chOff x="2024" y="2400"/>
            <a:chExt cx="552" cy="520"/>
          </a:xfrm>
        </p:grpSpPr>
        <p:sp>
          <p:nvSpPr>
            <p:cNvPr id="144403" name="AutoShape 34">
              <a:extLst>
                <a:ext uri="{FF2B5EF4-FFF2-40B4-BE49-F238E27FC236}">
                  <a16:creationId xmlns:a16="http://schemas.microsoft.com/office/drawing/2014/main" id="{226249AE-8865-6540-B866-B28BBC3EDC13}"/>
                </a:ext>
              </a:extLst>
            </p:cNvPr>
            <p:cNvSpPr>
              <a:spLocks noChangeArrowheads="1"/>
            </p:cNvSpPr>
            <p:nvPr/>
          </p:nvSpPr>
          <p:spPr bwMode="auto">
            <a:xfrm>
              <a:off x="2024" y="2400"/>
              <a:ext cx="496" cy="520"/>
            </a:xfrm>
            <a:prstGeom prst="rightArrow">
              <a:avLst>
                <a:gd name="adj1" fmla="val 50000"/>
                <a:gd name="adj2" fmla="val 25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4404" name="Text Box 35">
              <a:extLst>
                <a:ext uri="{FF2B5EF4-FFF2-40B4-BE49-F238E27FC236}">
                  <a16:creationId xmlns:a16="http://schemas.microsoft.com/office/drawing/2014/main" id="{CE382263-2D05-9241-A6D8-22B5E3501924}"/>
                </a:ext>
              </a:extLst>
            </p:cNvPr>
            <p:cNvSpPr txBox="1">
              <a:spLocks noChangeArrowheads="1"/>
            </p:cNvSpPr>
            <p:nvPr/>
          </p:nvSpPr>
          <p:spPr bwMode="auto">
            <a:xfrm>
              <a:off x="2024" y="2560"/>
              <a:ext cx="5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ea typeface="黑体" panose="02010609060101010101" pitchFamily="49" charset="-122"/>
                </a:rPr>
                <a:t>调度后</a:t>
              </a:r>
            </a:p>
          </p:txBody>
        </p:sp>
      </p:grpSp>
      <p:grpSp>
        <p:nvGrpSpPr>
          <p:cNvPr id="327719" name="Group 39">
            <a:extLst>
              <a:ext uri="{FF2B5EF4-FFF2-40B4-BE49-F238E27FC236}">
                <a16:creationId xmlns:a16="http://schemas.microsoft.com/office/drawing/2014/main" id="{BEC3879C-E419-F24C-BCB8-E495DC637F8D}"/>
              </a:ext>
            </a:extLst>
          </p:cNvPr>
          <p:cNvGrpSpPr>
            <a:grpSpLocks/>
          </p:cNvGrpSpPr>
          <p:nvPr/>
        </p:nvGrpSpPr>
        <p:grpSpPr bwMode="auto">
          <a:xfrm>
            <a:off x="4089400" y="2755900"/>
            <a:ext cx="2159000" cy="3009900"/>
            <a:chOff x="4400" y="1744"/>
            <a:chExt cx="1360" cy="1896"/>
          </a:xfrm>
        </p:grpSpPr>
        <p:sp>
          <p:nvSpPr>
            <p:cNvPr id="144401" name="Text Box 7">
              <a:extLst>
                <a:ext uri="{FF2B5EF4-FFF2-40B4-BE49-F238E27FC236}">
                  <a16:creationId xmlns:a16="http://schemas.microsoft.com/office/drawing/2014/main" id="{12E1A350-ECEE-304E-BE6A-74187046EFA1}"/>
                </a:ext>
              </a:extLst>
            </p:cNvPr>
            <p:cNvSpPr txBox="1">
              <a:spLocks noChangeArrowheads="1"/>
            </p:cNvSpPr>
            <p:nvPr/>
          </p:nvSpPr>
          <p:spPr bwMode="auto">
            <a:xfrm>
              <a:off x="4424" y="1744"/>
              <a:ext cx="1336" cy="1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lw $3, 0($2)</a:t>
              </a:r>
            </a:p>
            <a:p>
              <a:pPr>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cs typeface="Arial" panose="020B0604020202020204" pitchFamily="34" charset="0"/>
                </a:rPr>
                <a:t>add  $6, $4, $2</a:t>
              </a:r>
            </a:p>
            <a:p>
              <a:pPr>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cs typeface="Arial" panose="020B0604020202020204" pitchFamily="34" charset="0"/>
                </a:rPr>
                <a:t>beq $3, $5, 2</a:t>
              </a:r>
            </a:p>
            <a:p>
              <a:pPr>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cs typeface="Arial" panose="020B0604020202020204" pitchFamily="34" charset="0"/>
                </a:rPr>
                <a:t>lw $1, 0($2)</a:t>
              </a:r>
            </a:p>
            <a:p>
              <a:pPr>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cs typeface="Arial" panose="020B0604020202020204" pitchFamily="34" charset="0"/>
                </a:rPr>
                <a:t>nop</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add $3, $3,$2</a:t>
              </a:r>
            </a:p>
            <a:p>
              <a:pPr>
                <a:lnSpc>
                  <a:spcPct val="120000"/>
                </a:lnSpc>
                <a:spcBef>
                  <a:spcPct val="20000"/>
                </a:spcBef>
              </a:pPr>
              <a:r>
                <a:rPr lang="en-US" altLang="zh-CN" sz="2000">
                  <a:latin typeface="Arial" panose="020B0604020202020204" pitchFamily="34" charset="0"/>
                  <a:ea typeface="宋体" panose="02010600030101010101" pitchFamily="2" charset="-122"/>
                  <a:cs typeface="Arial" panose="020B0604020202020204" pitchFamily="34" charset="0"/>
                </a:rPr>
                <a:t>sw $1, 0($2) </a:t>
              </a:r>
              <a:r>
                <a:rPr lang="zh-CN" altLang="en-US" sz="2000">
                  <a:ea typeface="宋体" panose="02010600030101010101" pitchFamily="2" charset="-122"/>
                  <a:cs typeface="Arial" panose="020B0604020202020204" pitchFamily="34" charset="0"/>
                </a:rPr>
                <a:t>  </a:t>
              </a:r>
            </a:p>
          </p:txBody>
        </p:sp>
        <p:sp>
          <p:nvSpPr>
            <p:cNvPr id="144402" name="Rectangle 38">
              <a:extLst>
                <a:ext uri="{FF2B5EF4-FFF2-40B4-BE49-F238E27FC236}">
                  <a16:creationId xmlns:a16="http://schemas.microsoft.com/office/drawing/2014/main" id="{AB7BF6EB-097C-C647-BB98-D1911BA9E965}"/>
                </a:ext>
              </a:extLst>
            </p:cNvPr>
            <p:cNvSpPr>
              <a:spLocks noChangeArrowheads="1"/>
            </p:cNvSpPr>
            <p:nvPr/>
          </p:nvSpPr>
          <p:spPr bwMode="auto">
            <a:xfrm>
              <a:off x="4400" y="1776"/>
              <a:ext cx="1264" cy="186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27720" name="Line 40">
            <a:extLst>
              <a:ext uri="{FF2B5EF4-FFF2-40B4-BE49-F238E27FC236}">
                <a16:creationId xmlns:a16="http://schemas.microsoft.com/office/drawing/2014/main" id="{9EB9B05D-943A-0641-A0A4-2729003A414F}"/>
              </a:ext>
            </a:extLst>
          </p:cNvPr>
          <p:cNvSpPr>
            <a:spLocks noChangeShapeType="1"/>
          </p:cNvSpPr>
          <p:nvPr/>
        </p:nvSpPr>
        <p:spPr bwMode="auto">
          <a:xfrm>
            <a:off x="7986713" y="2344738"/>
            <a:ext cx="434975" cy="4714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686">
                                            <p:txEl>
                                              <p:pRg st="0" end="0"/>
                                            </p:txEl>
                                          </p:spTgt>
                                        </p:tgtEl>
                                        <p:attrNameLst>
                                          <p:attrName>style.visibility</p:attrName>
                                        </p:attrNameLst>
                                      </p:cBhvr>
                                      <p:to>
                                        <p:strVal val="visible"/>
                                      </p:to>
                                    </p:set>
                                    <p:animEffect transition="in" filter="blinds(horizontal)">
                                      <p:cBhvr>
                                        <p:cTn id="7" dur="500"/>
                                        <p:tgtEl>
                                          <p:spTgt spid="3276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23"/>
                                        </p:tgtEl>
                                        <p:attrNameLst>
                                          <p:attrName>style.visibility</p:attrName>
                                        </p:attrNameLst>
                                      </p:cBhvr>
                                      <p:to>
                                        <p:strVal val="visible"/>
                                      </p:to>
                                    </p:set>
                                    <p:animEffect transition="in" filter="blinds(horizontal)">
                                      <p:cBhvr>
                                        <p:cTn id="12" dur="500"/>
                                        <p:tgtEl>
                                          <p:spTgt spid="3277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04"/>
                                        </p:tgtEl>
                                        <p:attrNameLst>
                                          <p:attrName>style.visibility</p:attrName>
                                        </p:attrNameLst>
                                      </p:cBhvr>
                                      <p:to>
                                        <p:strVal val="visible"/>
                                      </p:to>
                                    </p:set>
                                    <p:animEffect transition="in" filter="blinds(horizontal)">
                                      <p:cBhvr>
                                        <p:cTn id="17" dur="500"/>
                                        <p:tgtEl>
                                          <p:spTgt spid="3277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7705"/>
                                        </p:tgtEl>
                                        <p:attrNameLst>
                                          <p:attrName>style.visibility</p:attrName>
                                        </p:attrNameLst>
                                      </p:cBhvr>
                                      <p:to>
                                        <p:strVal val="visible"/>
                                      </p:to>
                                    </p:set>
                                    <p:animEffect transition="in" filter="blinds(horizontal)">
                                      <p:cBhvr>
                                        <p:cTn id="22" dur="500"/>
                                        <p:tgtEl>
                                          <p:spTgt spid="3277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7700"/>
                                        </p:tgtEl>
                                        <p:attrNameLst>
                                          <p:attrName>style.visibility</p:attrName>
                                        </p:attrNameLst>
                                      </p:cBhvr>
                                      <p:to>
                                        <p:strVal val="visible"/>
                                      </p:to>
                                    </p:set>
                                    <p:animEffect transition="in" filter="blinds(horizontal)">
                                      <p:cBhvr>
                                        <p:cTn id="27" dur="500"/>
                                        <p:tgtEl>
                                          <p:spTgt spid="3277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27708"/>
                                        </p:tgtEl>
                                        <p:attrNameLst>
                                          <p:attrName>style.visibility</p:attrName>
                                        </p:attrNameLst>
                                      </p:cBhvr>
                                      <p:to>
                                        <p:strVal val="visible"/>
                                      </p:to>
                                    </p:set>
                                    <p:animEffect transition="in" filter="blinds(horizontal)">
                                      <p:cBhvr>
                                        <p:cTn id="32" dur="500"/>
                                        <p:tgtEl>
                                          <p:spTgt spid="3277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27716"/>
                                        </p:tgtEl>
                                        <p:attrNameLst>
                                          <p:attrName>style.visibility</p:attrName>
                                        </p:attrNameLst>
                                      </p:cBhvr>
                                      <p:to>
                                        <p:strVal val="visible"/>
                                      </p:to>
                                    </p:set>
                                    <p:animEffect transition="in" filter="blinds(horizontal)">
                                      <p:cBhvr>
                                        <p:cTn id="37" dur="500"/>
                                        <p:tgtEl>
                                          <p:spTgt spid="3277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27719"/>
                                        </p:tgtEl>
                                        <p:attrNameLst>
                                          <p:attrName>style.visibility</p:attrName>
                                        </p:attrNameLst>
                                      </p:cBhvr>
                                      <p:to>
                                        <p:strVal val="visible"/>
                                      </p:to>
                                    </p:set>
                                    <p:animEffect transition="in" filter="blinds(horizontal)">
                                      <p:cBhvr>
                                        <p:cTn id="42" dur="500"/>
                                        <p:tgtEl>
                                          <p:spTgt spid="3277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7713"/>
                                        </p:tgtEl>
                                        <p:attrNameLst>
                                          <p:attrName>style.visibility</p:attrName>
                                        </p:attrNameLst>
                                      </p:cBhvr>
                                      <p:to>
                                        <p:strVal val="visible"/>
                                      </p:to>
                                    </p:set>
                                    <p:animEffect transition="in" filter="blinds(horizontal)">
                                      <p:cBhvr>
                                        <p:cTn id="47" dur="500"/>
                                        <p:tgtEl>
                                          <p:spTgt spid="3277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27720"/>
                                        </p:tgtEl>
                                        <p:attrNameLst>
                                          <p:attrName>style.visibility</p:attrName>
                                        </p:attrNameLst>
                                      </p:cBhvr>
                                      <p:to>
                                        <p:strVal val="visible"/>
                                      </p:to>
                                    </p:set>
                                    <p:animEffect transition="in" filter="blinds(horizontal)">
                                      <p:cBhvr>
                                        <p:cTn id="52" dur="500"/>
                                        <p:tgtEl>
                                          <p:spTgt spid="3277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27717"/>
                                        </p:tgtEl>
                                        <p:attrNameLst>
                                          <p:attrName>style.visibility</p:attrName>
                                        </p:attrNameLst>
                                      </p:cBhvr>
                                      <p:to>
                                        <p:strVal val="visible"/>
                                      </p:to>
                                    </p:set>
                                    <p:animEffect transition="in" filter="blinds(horizontal)">
                                      <p:cBhvr>
                                        <p:cTn id="57" dur="500"/>
                                        <p:tgtEl>
                                          <p:spTgt spid="3277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27690"/>
                                        </p:tgtEl>
                                        <p:attrNameLst>
                                          <p:attrName>style.visibility</p:attrName>
                                        </p:attrNameLst>
                                      </p:cBhvr>
                                      <p:to>
                                        <p:strVal val="visible"/>
                                      </p:to>
                                    </p:set>
                                    <p:animEffect transition="in" filter="blinds(horizontal)">
                                      <p:cBhvr>
                                        <p:cTn id="62" dur="500"/>
                                        <p:tgtEl>
                                          <p:spTgt spid="32769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27709"/>
                                        </p:tgtEl>
                                        <p:attrNameLst>
                                          <p:attrName>style.visibility</p:attrName>
                                        </p:attrNameLst>
                                      </p:cBhvr>
                                      <p:to>
                                        <p:strVal val="visible"/>
                                      </p:to>
                                    </p:set>
                                    <p:animEffect transition="in" filter="blinds(horizontal)">
                                      <p:cBhvr>
                                        <p:cTn id="67" dur="500"/>
                                        <p:tgtEl>
                                          <p:spTgt spid="327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90" grpId="0"/>
      <p:bldP spid="327700" grpId="0"/>
      <p:bldP spid="327709" grpId="0"/>
      <p:bldP spid="3277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8828B5A5-4F8E-4C4A-80CF-9BAEEB8B52F2}"/>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另一种控制冒险：异常和中断</a:t>
            </a:r>
          </a:p>
        </p:txBody>
      </p:sp>
      <p:sp>
        <p:nvSpPr>
          <p:cNvPr id="232451" name="Rectangle 3">
            <a:extLst>
              <a:ext uri="{FF2B5EF4-FFF2-40B4-BE49-F238E27FC236}">
                <a16:creationId xmlns:a16="http://schemas.microsoft.com/office/drawing/2014/main" id="{D040E6DC-5C39-0A48-BEE6-EA5FAC5F9BD3}"/>
              </a:ext>
            </a:extLst>
          </p:cNvPr>
          <p:cNvSpPr>
            <a:spLocks noGrp="1" noChangeArrowheads="1"/>
          </p:cNvSpPr>
          <p:nvPr>
            <p:ph type="body" idx="1"/>
          </p:nvPr>
        </p:nvSpPr>
        <p:spPr>
          <a:xfrm>
            <a:off x="500063" y="855663"/>
            <a:ext cx="8485187" cy="5537200"/>
          </a:xfrm>
        </p:spPr>
        <p:txBody>
          <a:bodyPr/>
          <a:lstStyle/>
          <a:p>
            <a:pPr marL="342900" indent="-342900">
              <a:lnSpc>
                <a:spcPct val="120000"/>
              </a:lnSpc>
              <a:spcBef>
                <a:spcPct val="20000"/>
              </a:spcBef>
            </a:pPr>
            <a:r>
              <a:rPr lang="zh-CN" altLang="en-US" sz="2200">
                <a:ea typeface="黑体" panose="02010609060101010101" pitchFamily="49" charset="-122"/>
              </a:rPr>
              <a:t>异常和中断会改变程序的执行流程</a:t>
            </a:r>
          </a:p>
          <a:p>
            <a:pPr marL="342900" indent="-342900">
              <a:lnSpc>
                <a:spcPct val="120000"/>
              </a:lnSpc>
              <a:spcBef>
                <a:spcPct val="20000"/>
              </a:spcBef>
            </a:pPr>
            <a:r>
              <a:rPr lang="zh-CN" altLang="en-US" sz="2200">
                <a:ea typeface="黑体" panose="02010609060101010101" pitchFamily="49" charset="-122"/>
              </a:rPr>
              <a:t>某条指令发现异常时，后面多条指令已被取到流水线中正在执行</a:t>
            </a:r>
          </a:p>
          <a:p>
            <a:pPr marL="838200" lvl="1" indent="-342900">
              <a:lnSpc>
                <a:spcPct val="120000"/>
              </a:lnSpc>
              <a:spcBef>
                <a:spcPct val="20000"/>
              </a:spcBef>
            </a:pPr>
            <a:r>
              <a:rPr lang="zh-CN" altLang="en-US" sz="2200">
                <a:ea typeface="黑体" panose="02010609060101010101" pitchFamily="49" charset="-122"/>
              </a:rPr>
              <a:t>例如</a:t>
            </a:r>
            <a:r>
              <a:rPr lang="en-US" altLang="zh-CN" sz="2200">
                <a:ea typeface="黑体" panose="02010609060101010101" pitchFamily="49" charset="-122"/>
              </a:rPr>
              <a:t>ALU</a:t>
            </a:r>
            <a:r>
              <a:rPr lang="zh-CN" altLang="en-US" sz="2200">
                <a:ea typeface="黑体" panose="02010609060101010101" pitchFamily="49" charset="-122"/>
              </a:rPr>
              <a:t>指令发现“溢出”时，已经到</a:t>
            </a:r>
            <a:r>
              <a:rPr lang="en-US" altLang="zh-CN" sz="2200">
                <a:ea typeface="黑体" panose="02010609060101010101" pitchFamily="49" charset="-122"/>
              </a:rPr>
              <a:t>EX</a:t>
            </a:r>
            <a:r>
              <a:rPr lang="zh-CN" altLang="en-US" sz="2200">
                <a:ea typeface="黑体" panose="02010609060101010101" pitchFamily="49" charset="-122"/>
              </a:rPr>
              <a:t>阶段结束了，此时，它后面已有两条指令进入流水线了</a:t>
            </a:r>
          </a:p>
          <a:p>
            <a:pPr marL="342900" indent="-342900">
              <a:lnSpc>
                <a:spcPct val="120000"/>
              </a:lnSpc>
              <a:spcBef>
                <a:spcPct val="20000"/>
              </a:spcBef>
            </a:pPr>
            <a:r>
              <a:rPr lang="zh-CN" altLang="en-US" sz="2200">
                <a:ea typeface="黑体" panose="02010609060101010101" pitchFamily="49" charset="-122"/>
              </a:rPr>
              <a:t>流水线数据通路如何处理异常</a:t>
            </a:r>
            <a:r>
              <a:rPr lang="en-US" altLang="zh-CN" sz="2200">
                <a:ea typeface="黑体" panose="02010609060101010101" pitchFamily="49" charset="-122"/>
              </a:rPr>
              <a:t>? (</a:t>
            </a:r>
            <a:r>
              <a:rPr lang="zh-CN" altLang="en-US" sz="2200">
                <a:ea typeface="黑体" panose="02010609060101010101" pitchFamily="49" charset="-122"/>
              </a:rPr>
              <a:t>举例说明</a:t>
            </a:r>
            <a:r>
              <a:rPr lang="en-US" altLang="zh-CN" sz="2200">
                <a:ea typeface="黑体" panose="02010609060101010101" pitchFamily="49" charset="-122"/>
              </a:rPr>
              <a:t>)</a:t>
            </a:r>
          </a:p>
          <a:p>
            <a:pPr marL="838200" lvl="1" indent="-342900">
              <a:lnSpc>
                <a:spcPct val="120000"/>
              </a:lnSpc>
              <a:spcBef>
                <a:spcPct val="20000"/>
              </a:spcBef>
            </a:pPr>
            <a:r>
              <a:rPr lang="zh-CN" altLang="en-US" sz="2200">
                <a:ea typeface="黑体" panose="02010609060101010101" pitchFamily="49" charset="-122"/>
              </a:rPr>
              <a:t>假设指令</a:t>
            </a:r>
            <a:r>
              <a:rPr lang="en-US" altLang="zh-CN" sz="2200">
                <a:ea typeface="黑体" panose="02010609060101010101" pitchFamily="49" charset="-122"/>
              </a:rPr>
              <a:t>add r1,r2,r3</a:t>
            </a:r>
            <a:r>
              <a:rPr lang="zh-CN" altLang="en-US" sz="2200">
                <a:ea typeface="黑体" panose="02010609060101010101" pitchFamily="49" charset="-122"/>
              </a:rPr>
              <a:t>产生了溢出</a:t>
            </a:r>
          </a:p>
          <a:p>
            <a:pPr marL="838200" lvl="1" indent="-342900">
              <a:lnSpc>
                <a:spcPct val="120000"/>
              </a:lnSpc>
              <a:spcBef>
                <a:spcPct val="20000"/>
              </a:spcBef>
              <a:buFontTx/>
              <a:buNone/>
            </a:pPr>
            <a:r>
              <a:rPr lang="zh-CN" altLang="en-US" sz="2200">
                <a:ea typeface="黑体" panose="02010609060101010101" pitchFamily="49" charset="-122"/>
              </a:rPr>
              <a:t>   </a:t>
            </a:r>
            <a:r>
              <a:rPr lang="zh-CN" altLang="en-US" sz="2200">
                <a:solidFill>
                  <a:srgbClr val="008000"/>
                </a:solidFill>
                <a:ea typeface="黑体" panose="02010609060101010101" pitchFamily="49" charset="-122"/>
              </a:rPr>
              <a:t>（记住：</a:t>
            </a:r>
            <a:r>
              <a:rPr lang="en-US" altLang="zh-CN" sz="2200">
                <a:solidFill>
                  <a:srgbClr val="008000"/>
                </a:solidFill>
                <a:ea typeface="黑体" panose="02010609060101010101" pitchFamily="49" charset="-122"/>
              </a:rPr>
              <a:t>MIPS</a:t>
            </a:r>
            <a:r>
              <a:rPr lang="zh-CN" altLang="en-US" sz="2200">
                <a:solidFill>
                  <a:srgbClr val="008000"/>
                </a:solidFill>
                <a:ea typeface="黑体" panose="02010609060101010101" pitchFamily="49" charset="-122"/>
              </a:rPr>
              <a:t>异常处理程序的首地址为</a:t>
            </a:r>
            <a:r>
              <a:rPr lang="en-US" altLang="zh-CN" sz="2200">
                <a:solidFill>
                  <a:srgbClr val="008000"/>
                </a:solidFill>
                <a:ea typeface="黑体" panose="02010609060101010101" pitchFamily="49" charset="-122"/>
              </a:rPr>
              <a:t>0x8000 0180</a:t>
            </a:r>
            <a:r>
              <a:rPr lang="zh-CN" altLang="en-US" sz="2200">
                <a:solidFill>
                  <a:srgbClr val="008000"/>
                </a:solidFill>
                <a:ea typeface="黑体" panose="02010609060101010101" pitchFamily="49" charset="-122"/>
              </a:rPr>
              <a:t>）</a:t>
            </a:r>
          </a:p>
          <a:p>
            <a:pPr marL="838200" lvl="1" indent="-342900">
              <a:lnSpc>
                <a:spcPct val="120000"/>
              </a:lnSpc>
              <a:spcBef>
                <a:spcPct val="20000"/>
              </a:spcBef>
            </a:pPr>
            <a:r>
              <a:rPr lang="zh-CN" altLang="en-US" sz="2200">
                <a:ea typeface="黑体" panose="02010609060101010101" pitchFamily="49" charset="-122"/>
              </a:rPr>
              <a:t>处理思路：</a:t>
            </a:r>
          </a:p>
          <a:p>
            <a:pPr lvl="2">
              <a:lnSpc>
                <a:spcPct val="120000"/>
              </a:lnSpc>
              <a:spcBef>
                <a:spcPct val="20000"/>
              </a:spcBef>
              <a:buFont typeface="Wingdings" pitchFamily="2" charset="2"/>
              <a:buChar char="ü"/>
            </a:pPr>
            <a:r>
              <a:rPr lang="zh-CN" altLang="en-US" sz="2200">
                <a:ea typeface="黑体" panose="02010609060101010101" pitchFamily="49" charset="-122"/>
              </a:rPr>
              <a:t>清除</a:t>
            </a:r>
            <a:r>
              <a:rPr lang="en-US" altLang="zh-CN" sz="2200">
                <a:ea typeface="黑体" panose="02010609060101010101" pitchFamily="49" charset="-122"/>
              </a:rPr>
              <a:t>add</a:t>
            </a:r>
            <a:r>
              <a:rPr lang="zh-CN" altLang="en-US" sz="2200">
                <a:ea typeface="黑体" panose="02010609060101010101" pitchFamily="49" charset="-122"/>
              </a:rPr>
              <a:t>指令以及后面的所有已在流水线中的指令</a:t>
            </a:r>
          </a:p>
          <a:p>
            <a:pPr lvl="2">
              <a:lnSpc>
                <a:spcPct val="120000"/>
              </a:lnSpc>
              <a:spcBef>
                <a:spcPct val="20000"/>
              </a:spcBef>
              <a:buFont typeface="Wingdings" pitchFamily="2" charset="2"/>
              <a:buChar char="ü"/>
            </a:pPr>
            <a:r>
              <a:rPr lang="zh-CN" altLang="en-US" sz="2200">
                <a:ea typeface="黑体" panose="02010609060101010101" pitchFamily="49" charset="-122"/>
              </a:rPr>
              <a:t>关中断（将中断允许触发器清</a:t>
            </a:r>
            <a:r>
              <a:rPr lang="en-US" altLang="zh-CN" sz="2200">
                <a:ea typeface="黑体" panose="02010609060101010101" pitchFamily="49" charset="-122"/>
              </a:rPr>
              <a:t>0</a:t>
            </a:r>
            <a:r>
              <a:rPr lang="zh-CN" altLang="en-US" sz="2200">
                <a:ea typeface="黑体" panose="02010609060101010101" pitchFamily="49" charset="-122"/>
              </a:rPr>
              <a:t>）</a:t>
            </a:r>
          </a:p>
          <a:p>
            <a:pPr lvl="2">
              <a:lnSpc>
                <a:spcPct val="120000"/>
              </a:lnSpc>
              <a:spcBef>
                <a:spcPct val="20000"/>
              </a:spcBef>
              <a:buFont typeface="Wingdings" pitchFamily="2" charset="2"/>
              <a:buChar char="ü"/>
            </a:pPr>
            <a:r>
              <a:rPr lang="zh-CN" altLang="en-US" sz="2200">
                <a:ea typeface="黑体" panose="02010609060101010101" pitchFamily="49" charset="-122"/>
              </a:rPr>
              <a:t>保存</a:t>
            </a:r>
            <a:r>
              <a:rPr lang="en-US" altLang="zh-CN" sz="2200">
                <a:ea typeface="黑体" panose="02010609060101010101" pitchFamily="49" charset="-122"/>
              </a:rPr>
              <a:t>PC</a:t>
            </a:r>
            <a:r>
              <a:rPr lang="zh-CN" altLang="en-US" sz="2200">
                <a:ea typeface="黑体" panose="02010609060101010101" pitchFamily="49" charset="-122"/>
              </a:rPr>
              <a:t>或</a:t>
            </a:r>
            <a:r>
              <a:rPr lang="en-US" altLang="zh-CN" sz="2200">
                <a:ea typeface="黑体" panose="02010609060101010101" pitchFamily="49" charset="-122"/>
              </a:rPr>
              <a:t>PC-4</a:t>
            </a:r>
            <a:r>
              <a:rPr lang="zh-CN" altLang="en-US" sz="2200">
                <a:ea typeface="黑体" panose="02010609060101010101" pitchFamily="49" charset="-122"/>
              </a:rPr>
              <a:t>（断点） 到 </a:t>
            </a:r>
            <a:r>
              <a:rPr lang="en-US" altLang="zh-CN" sz="2200">
                <a:ea typeface="黑体" panose="02010609060101010101" pitchFamily="49" charset="-122"/>
              </a:rPr>
              <a:t>EPC</a:t>
            </a:r>
          </a:p>
          <a:p>
            <a:pPr lvl="2">
              <a:lnSpc>
                <a:spcPct val="120000"/>
              </a:lnSpc>
              <a:spcBef>
                <a:spcPct val="20000"/>
              </a:spcBef>
              <a:buFont typeface="Wingdings" pitchFamily="2" charset="2"/>
              <a:buChar char="ü"/>
            </a:pPr>
            <a:r>
              <a:rPr lang="en-US" altLang="zh-CN" sz="2200">
                <a:ea typeface="黑体" panose="02010609060101010101" pitchFamily="49" charset="-122"/>
              </a:rPr>
              <a:t>0x8000 0180</a:t>
            </a:r>
            <a:r>
              <a:rPr lang="zh-CN" altLang="en-US" sz="2200">
                <a:ea typeface="黑体" panose="02010609060101010101" pitchFamily="49" charset="-122"/>
              </a:rPr>
              <a:t>送</a:t>
            </a:r>
            <a:r>
              <a:rPr lang="en-US" altLang="zh-CN" sz="2200">
                <a:ea typeface="黑体" panose="02010609060101010101" pitchFamily="49" charset="-122"/>
              </a:rPr>
              <a:t>PC</a:t>
            </a:r>
            <a:r>
              <a:rPr lang="zh-CN" altLang="en-US" sz="2200">
                <a:ea typeface="黑体" panose="02010609060101010101" pitchFamily="49" charset="-122"/>
              </a:rPr>
              <a:t>（从</a:t>
            </a:r>
            <a:r>
              <a:rPr lang="en-US" altLang="zh-CN" sz="2200">
                <a:ea typeface="黑体" panose="02010609060101010101" pitchFamily="49" charset="-122"/>
              </a:rPr>
              <a:t>0x8000 0180</a:t>
            </a:r>
            <a:r>
              <a:rPr lang="zh-CN" altLang="en-US" sz="2200">
                <a:ea typeface="黑体" panose="02010609060101010101" pitchFamily="49" charset="-122"/>
              </a:rPr>
              <a:t>处开始取指令）</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2451">
                                            <p:txEl>
                                              <p:pRg st="2" end="2"/>
                                            </p:txEl>
                                          </p:spTgt>
                                        </p:tgtEl>
                                        <p:attrNameLst>
                                          <p:attrName>style.visibility</p:attrName>
                                        </p:attrNameLst>
                                      </p:cBhvr>
                                      <p:to>
                                        <p:strVal val="visible"/>
                                      </p:to>
                                    </p:set>
                                    <p:animEffect transition="in" filter="blinds(horizontal)">
                                      <p:cBhvr>
                                        <p:cTn id="7" dur="500"/>
                                        <p:tgtEl>
                                          <p:spTgt spid="23245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2451">
                                            <p:txEl>
                                              <p:pRg st="4" end="4"/>
                                            </p:txEl>
                                          </p:spTgt>
                                        </p:tgtEl>
                                        <p:attrNameLst>
                                          <p:attrName>style.visibility</p:attrName>
                                        </p:attrNameLst>
                                      </p:cBhvr>
                                      <p:to>
                                        <p:strVal val="visible"/>
                                      </p:to>
                                    </p:set>
                                    <p:animEffect transition="in" filter="blinds(horizontal)">
                                      <p:cBhvr>
                                        <p:cTn id="12" dur="500"/>
                                        <p:tgtEl>
                                          <p:spTgt spid="23245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2451">
                                            <p:txEl>
                                              <p:pRg st="5" end="5"/>
                                            </p:txEl>
                                          </p:spTgt>
                                        </p:tgtEl>
                                        <p:attrNameLst>
                                          <p:attrName>style.visibility</p:attrName>
                                        </p:attrNameLst>
                                      </p:cBhvr>
                                      <p:to>
                                        <p:strVal val="visible"/>
                                      </p:to>
                                    </p:set>
                                    <p:animEffect transition="in" filter="blinds(horizontal)">
                                      <p:cBhvr>
                                        <p:cTn id="17" dur="500"/>
                                        <p:tgtEl>
                                          <p:spTgt spid="23245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2451">
                                            <p:txEl>
                                              <p:pRg st="6" end="6"/>
                                            </p:txEl>
                                          </p:spTgt>
                                        </p:tgtEl>
                                        <p:attrNameLst>
                                          <p:attrName>style.visibility</p:attrName>
                                        </p:attrNameLst>
                                      </p:cBhvr>
                                      <p:to>
                                        <p:strVal val="visible"/>
                                      </p:to>
                                    </p:set>
                                    <p:animEffect transition="in" filter="blinds(horizontal)">
                                      <p:cBhvr>
                                        <p:cTn id="22" dur="500"/>
                                        <p:tgtEl>
                                          <p:spTgt spid="23245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2451">
                                            <p:txEl>
                                              <p:pRg st="7" end="7"/>
                                            </p:txEl>
                                          </p:spTgt>
                                        </p:tgtEl>
                                        <p:attrNameLst>
                                          <p:attrName>style.visibility</p:attrName>
                                        </p:attrNameLst>
                                      </p:cBhvr>
                                      <p:to>
                                        <p:strVal val="visible"/>
                                      </p:to>
                                    </p:set>
                                    <p:animEffect transition="in" filter="blinds(horizontal)">
                                      <p:cBhvr>
                                        <p:cTn id="27" dur="500"/>
                                        <p:tgtEl>
                                          <p:spTgt spid="23245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2451">
                                            <p:txEl>
                                              <p:pRg st="8" end="8"/>
                                            </p:txEl>
                                          </p:spTgt>
                                        </p:tgtEl>
                                        <p:attrNameLst>
                                          <p:attrName>style.visibility</p:attrName>
                                        </p:attrNameLst>
                                      </p:cBhvr>
                                      <p:to>
                                        <p:strVal val="visible"/>
                                      </p:to>
                                    </p:set>
                                    <p:animEffect transition="in" filter="blinds(horizontal)">
                                      <p:cBhvr>
                                        <p:cTn id="32" dur="500"/>
                                        <p:tgtEl>
                                          <p:spTgt spid="23245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2451">
                                            <p:txEl>
                                              <p:pRg st="9" end="9"/>
                                            </p:txEl>
                                          </p:spTgt>
                                        </p:tgtEl>
                                        <p:attrNameLst>
                                          <p:attrName>style.visibility</p:attrName>
                                        </p:attrNameLst>
                                      </p:cBhvr>
                                      <p:to>
                                        <p:strVal val="visible"/>
                                      </p:to>
                                    </p:set>
                                    <p:animEffect transition="in" filter="blinds(horizontal)">
                                      <p:cBhvr>
                                        <p:cTn id="37" dur="500"/>
                                        <p:tgtEl>
                                          <p:spTgt spid="23245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2451">
                                            <p:txEl>
                                              <p:pRg st="10" end="10"/>
                                            </p:txEl>
                                          </p:spTgt>
                                        </p:tgtEl>
                                        <p:attrNameLst>
                                          <p:attrName>style.visibility</p:attrName>
                                        </p:attrNameLst>
                                      </p:cBhvr>
                                      <p:to>
                                        <p:strVal val="visible"/>
                                      </p:to>
                                    </p:set>
                                    <p:animEffect transition="in" filter="blinds(horizontal)">
                                      <p:cBhvr>
                                        <p:cTn id="42" dur="500"/>
                                        <p:tgtEl>
                                          <p:spTgt spid="2324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4218DAF1-237D-AA42-A282-7FEFA072E37E}"/>
              </a:ext>
            </a:extLst>
          </p:cNvPr>
          <p:cNvSpPr>
            <a:spLocks noGrp="1" noChangeArrowheads="1"/>
          </p:cNvSpPr>
          <p:nvPr>
            <p:ph type="title"/>
          </p:nvPr>
        </p:nvSpPr>
        <p:spPr>
          <a:xfrm>
            <a:off x="771525" y="161925"/>
            <a:ext cx="6862763" cy="368300"/>
          </a:xfrm>
        </p:spPr>
        <p:txBody>
          <a:bodyPr/>
          <a:lstStyle/>
          <a:p>
            <a:r>
              <a:rPr lang="zh-CN" altLang="en-US">
                <a:ea typeface="宋体" panose="02010600030101010101" pitchFamily="2" charset="-122"/>
              </a:rPr>
              <a:t>异常的处理</a:t>
            </a:r>
          </a:p>
        </p:txBody>
      </p:sp>
      <p:sp>
        <p:nvSpPr>
          <p:cNvPr id="375811" name="Rectangle 3">
            <a:extLst>
              <a:ext uri="{FF2B5EF4-FFF2-40B4-BE49-F238E27FC236}">
                <a16:creationId xmlns:a16="http://schemas.microsoft.com/office/drawing/2014/main" id="{34D2EB2B-B3CD-BA49-88B8-CC86F290CEC9}"/>
              </a:ext>
            </a:extLst>
          </p:cNvPr>
          <p:cNvSpPr>
            <a:spLocks noGrp="1" noChangeArrowheads="1"/>
          </p:cNvSpPr>
          <p:nvPr>
            <p:ph type="body" idx="1"/>
          </p:nvPr>
        </p:nvSpPr>
        <p:spPr>
          <a:xfrm>
            <a:off x="185738" y="571500"/>
            <a:ext cx="8191500" cy="355600"/>
          </a:xfrm>
        </p:spPr>
        <p:txBody>
          <a:bodyPr/>
          <a:lstStyle/>
          <a:p>
            <a:r>
              <a:rPr lang="zh-CN" altLang="en-US" sz="2000">
                <a:ea typeface="黑体" panose="02010609060101010101" pitchFamily="49" charset="-122"/>
              </a:rPr>
              <a:t>异常（溢出）在第一条指令的</a:t>
            </a:r>
            <a:r>
              <a:rPr lang="en-US" altLang="zh-CN" sz="2000">
                <a:ea typeface="黑体" panose="02010609060101010101" pitchFamily="49" charset="-122"/>
              </a:rPr>
              <a:t>EXE</a:t>
            </a:r>
            <a:r>
              <a:rPr lang="zh-CN" altLang="en-US" sz="2000">
                <a:ea typeface="黑体" panose="02010609060101010101" pitchFamily="49" charset="-122"/>
              </a:rPr>
              <a:t>阶段被检出</a:t>
            </a:r>
          </a:p>
        </p:txBody>
      </p:sp>
      <p:sp>
        <p:nvSpPr>
          <p:cNvPr id="146436" name="Rectangle 5">
            <a:extLst>
              <a:ext uri="{FF2B5EF4-FFF2-40B4-BE49-F238E27FC236}">
                <a16:creationId xmlns:a16="http://schemas.microsoft.com/office/drawing/2014/main" id="{BCA221CE-CE78-8849-A90F-467B1E1A1BE6}"/>
              </a:ext>
            </a:extLst>
          </p:cNvPr>
          <p:cNvSpPr>
            <a:spLocks noChangeArrowheads="1"/>
          </p:cNvSpPr>
          <p:nvPr/>
        </p:nvSpPr>
        <p:spPr bwMode="auto">
          <a:xfrm>
            <a:off x="280988" y="1293813"/>
            <a:ext cx="358775" cy="310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sz="1800" b="0" i="1">
                <a:latin typeface="Arial" panose="020B0604020202020204" pitchFamily="34" charset="0"/>
                <a:ea typeface="宋体" panose="02010600030101010101" pitchFamily="2" charset="-122"/>
              </a:rPr>
              <a:t>I</a:t>
            </a:r>
          </a:p>
          <a:p>
            <a:pPr algn="ctr"/>
            <a:r>
              <a:rPr lang="en-US" altLang="zh-CN" sz="1800" b="0" i="1">
                <a:latin typeface="Arial" panose="020B0604020202020204" pitchFamily="34" charset="0"/>
                <a:ea typeface="宋体" panose="02010600030101010101" pitchFamily="2" charset="-122"/>
              </a:rPr>
              <a:t>n</a:t>
            </a:r>
          </a:p>
          <a:p>
            <a:pPr algn="ctr"/>
            <a:r>
              <a:rPr lang="en-US" altLang="zh-CN" sz="1800" b="0" i="1">
                <a:latin typeface="Arial" panose="020B0604020202020204" pitchFamily="34" charset="0"/>
                <a:ea typeface="宋体" panose="02010600030101010101" pitchFamily="2" charset="-122"/>
              </a:rPr>
              <a:t>s</a:t>
            </a:r>
          </a:p>
          <a:p>
            <a:pPr algn="ctr"/>
            <a:r>
              <a:rPr lang="en-US" altLang="zh-CN" sz="1800" b="0" i="1">
                <a:latin typeface="Arial" panose="020B0604020202020204" pitchFamily="34" charset="0"/>
                <a:ea typeface="宋体" panose="02010600030101010101" pitchFamily="2" charset="-122"/>
              </a:rPr>
              <a:t>t</a:t>
            </a:r>
          </a:p>
          <a:p>
            <a:pPr algn="ctr"/>
            <a:r>
              <a:rPr lang="en-US" altLang="zh-CN" sz="1800" b="0" i="1">
                <a:latin typeface="Arial" panose="020B0604020202020204" pitchFamily="34" charset="0"/>
                <a:ea typeface="宋体" panose="02010600030101010101" pitchFamily="2" charset="-122"/>
              </a:rPr>
              <a:t>r.</a:t>
            </a:r>
          </a:p>
          <a:p>
            <a:pPr algn="ctr"/>
            <a:endParaRPr lang="en-US" altLang="zh-CN" sz="1800" b="0" i="1">
              <a:latin typeface="Arial" panose="020B0604020202020204" pitchFamily="34" charset="0"/>
              <a:ea typeface="宋体" panose="02010600030101010101" pitchFamily="2" charset="-122"/>
            </a:endParaRPr>
          </a:p>
          <a:p>
            <a:pPr algn="ctr"/>
            <a:r>
              <a:rPr lang="en-US" altLang="zh-CN" sz="1800" b="0" i="1">
                <a:latin typeface="Arial" panose="020B0604020202020204" pitchFamily="34" charset="0"/>
                <a:ea typeface="宋体" panose="02010600030101010101" pitchFamily="2" charset="-122"/>
              </a:rPr>
              <a:t>O</a:t>
            </a:r>
          </a:p>
          <a:p>
            <a:pPr algn="ctr"/>
            <a:r>
              <a:rPr lang="en-US" altLang="zh-CN" sz="1800" b="0" i="1">
                <a:latin typeface="Arial" panose="020B0604020202020204" pitchFamily="34" charset="0"/>
                <a:ea typeface="宋体" panose="02010600030101010101" pitchFamily="2" charset="-122"/>
              </a:rPr>
              <a:t>r</a:t>
            </a:r>
          </a:p>
          <a:p>
            <a:pPr algn="ctr"/>
            <a:r>
              <a:rPr lang="en-US" altLang="zh-CN" sz="1800" b="0" i="1">
                <a:latin typeface="Arial" panose="020B0604020202020204" pitchFamily="34" charset="0"/>
                <a:ea typeface="宋体" panose="02010600030101010101" pitchFamily="2" charset="-122"/>
              </a:rPr>
              <a:t>d</a:t>
            </a:r>
          </a:p>
          <a:p>
            <a:pPr algn="ctr"/>
            <a:r>
              <a:rPr lang="en-US" altLang="zh-CN" sz="1800" b="0" i="1">
                <a:latin typeface="Arial" panose="020B0604020202020204" pitchFamily="34" charset="0"/>
                <a:ea typeface="宋体" panose="02010600030101010101" pitchFamily="2" charset="-122"/>
              </a:rPr>
              <a:t>e</a:t>
            </a:r>
          </a:p>
          <a:p>
            <a:pPr algn="ctr"/>
            <a:r>
              <a:rPr lang="en-US" altLang="zh-CN" sz="1800" b="0" i="1">
                <a:latin typeface="Arial" panose="020B0604020202020204" pitchFamily="34" charset="0"/>
                <a:ea typeface="宋体" panose="02010600030101010101" pitchFamily="2" charset="-122"/>
              </a:rPr>
              <a:t>r</a:t>
            </a:r>
          </a:p>
        </p:txBody>
      </p:sp>
      <p:sp>
        <p:nvSpPr>
          <p:cNvPr id="146437" name="Line 7">
            <a:extLst>
              <a:ext uri="{FF2B5EF4-FFF2-40B4-BE49-F238E27FC236}">
                <a16:creationId xmlns:a16="http://schemas.microsoft.com/office/drawing/2014/main" id="{BC11FB36-737C-D245-B2C6-CA9760D2FF5A}"/>
              </a:ext>
            </a:extLst>
          </p:cNvPr>
          <p:cNvSpPr>
            <a:spLocks noChangeShapeType="1"/>
          </p:cNvSpPr>
          <p:nvPr/>
        </p:nvSpPr>
        <p:spPr bwMode="auto">
          <a:xfrm>
            <a:off x="1123950" y="1201738"/>
            <a:ext cx="74771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38" name="Rectangle 8">
            <a:extLst>
              <a:ext uri="{FF2B5EF4-FFF2-40B4-BE49-F238E27FC236}">
                <a16:creationId xmlns:a16="http://schemas.microsoft.com/office/drawing/2014/main" id="{4650477B-37E3-AB4D-A3BA-29FD3D3E8BB9}"/>
              </a:ext>
            </a:extLst>
          </p:cNvPr>
          <p:cNvSpPr>
            <a:spLocks noChangeArrowheads="1"/>
          </p:cNvSpPr>
          <p:nvPr/>
        </p:nvSpPr>
        <p:spPr bwMode="auto">
          <a:xfrm>
            <a:off x="1268413" y="877888"/>
            <a:ext cx="212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b="0" i="1">
                <a:latin typeface="Arial" panose="020B0604020202020204" pitchFamily="34" charset="0"/>
                <a:ea typeface="宋体" panose="02010600030101010101" pitchFamily="2" charset="-122"/>
              </a:rPr>
              <a:t>Time (clock cycles)</a:t>
            </a:r>
          </a:p>
        </p:txBody>
      </p:sp>
      <p:sp>
        <p:nvSpPr>
          <p:cNvPr id="146439" name="Rectangle 9">
            <a:extLst>
              <a:ext uri="{FF2B5EF4-FFF2-40B4-BE49-F238E27FC236}">
                <a16:creationId xmlns:a16="http://schemas.microsoft.com/office/drawing/2014/main" id="{B14D4A82-1709-B94F-B15F-1EB692C4409C}"/>
              </a:ext>
            </a:extLst>
          </p:cNvPr>
          <p:cNvSpPr>
            <a:spLocks noChangeArrowheads="1"/>
          </p:cNvSpPr>
          <p:nvPr/>
        </p:nvSpPr>
        <p:spPr bwMode="auto">
          <a:xfrm>
            <a:off x="887413" y="1512888"/>
            <a:ext cx="2119312"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2800">
                <a:latin typeface="Arial" panose="020B0604020202020204" pitchFamily="34" charset="0"/>
                <a:ea typeface="宋体" panose="02010600030101010101" pitchFamily="2" charset="-122"/>
              </a:rPr>
              <a:t>add r1,r2,r3</a:t>
            </a:r>
          </a:p>
        </p:txBody>
      </p:sp>
      <p:sp>
        <p:nvSpPr>
          <p:cNvPr id="146440" name="Rectangle 10">
            <a:extLst>
              <a:ext uri="{FF2B5EF4-FFF2-40B4-BE49-F238E27FC236}">
                <a16:creationId xmlns:a16="http://schemas.microsoft.com/office/drawing/2014/main" id="{654DCFA0-D477-DD4E-84AF-3B996CB92496}"/>
              </a:ext>
            </a:extLst>
          </p:cNvPr>
          <p:cNvSpPr>
            <a:spLocks noChangeArrowheads="1"/>
          </p:cNvSpPr>
          <p:nvPr/>
        </p:nvSpPr>
        <p:spPr bwMode="auto">
          <a:xfrm>
            <a:off x="887413" y="2227263"/>
            <a:ext cx="2119312"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2800">
                <a:latin typeface="Arial" panose="020B0604020202020204" pitchFamily="34" charset="0"/>
                <a:ea typeface="宋体" panose="02010600030101010101" pitchFamily="2" charset="-122"/>
              </a:rPr>
              <a:t>sub r4,r2,r3</a:t>
            </a:r>
          </a:p>
        </p:txBody>
      </p:sp>
      <p:sp>
        <p:nvSpPr>
          <p:cNvPr id="146441" name="Rectangle 11">
            <a:extLst>
              <a:ext uri="{FF2B5EF4-FFF2-40B4-BE49-F238E27FC236}">
                <a16:creationId xmlns:a16="http://schemas.microsoft.com/office/drawing/2014/main" id="{2BEEE4F7-1C1F-E744-99B4-32A304DEDA6A}"/>
              </a:ext>
            </a:extLst>
          </p:cNvPr>
          <p:cNvSpPr>
            <a:spLocks noChangeArrowheads="1"/>
          </p:cNvSpPr>
          <p:nvPr/>
        </p:nvSpPr>
        <p:spPr bwMode="auto">
          <a:xfrm>
            <a:off x="871538" y="2884488"/>
            <a:ext cx="2119312"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2800">
                <a:latin typeface="Arial" panose="020B0604020202020204" pitchFamily="34" charset="0"/>
                <a:ea typeface="宋体" panose="02010600030101010101" pitchFamily="2" charset="-122"/>
              </a:rPr>
              <a:t>and r6,r1,r4</a:t>
            </a:r>
          </a:p>
        </p:txBody>
      </p:sp>
      <p:sp>
        <p:nvSpPr>
          <p:cNvPr id="146442" name="Rectangle 12">
            <a:extLst>
              <a:ext uri="{FF2B5EF4-FFF2-40B4-BE49-F238E27FC236}">
                <a16:creationId xmlns:a16="http://schemas.microsoft.com/office/drawing/2014/main" id="{B70C2A1F-63F1-2D4E-8852-91F0F1F856EA}"/>
              </a:ext>
            </a:extLst>
          </p:cNvPr>
          <p:cNvSpPr>
            <a:spLocks noChangeArrowheads="1"/>
          </p:cNvSpPr>
          <p:nvPr/>
        </p:nvSpPr>
        <p:spPr bwMode="auto">
          <a:xfrm>
            <a:off x="3135313" y="1196975"/>
            <a:ext cx="384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IF</a:t>
            </a:r>
          </a:p>
        </p:txBody>
      </p:sp>
      <p:sp>
        <p:nvSpPr>
          <p:cNvPr id="146443" name="Rectangle 13">
            <a:extLst>
              <a:ext uri="{FF2B5EF4-FFF2-40B4-BE49-F238E27FC236}">
                <a16:creationId xmlns:a16="http://schemas.microsoft.com/office/drawing/2014/main" id="{15B2F98E-3D11-D44E-A518-DE8AC239C08B}"/>
              </a:ext>
            </a:extLst>
          </p:cNvPr>
          <p:cNvSpPr>
            <a:spLocks noChangeArrowheads="1"/>
          </p:cNvSpPr>
          <p:nvPr/>
        </p:nvSpPr>
        <p:spPr bwMode="auto">
          <a:xfrm>
            <a:off x="3616325" y="1196975"/>
            <a:ext cx="8318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ID/RF</a:t>
            </a:r>
          </a:p>
        </p:txBody>
      </p:sp>
      <p:sp>
        <p:nvSpPr>
          <p:cNvPr id="146444" name="Rectangle 14">
            <a:extLst>
              <a:ext uri="{FF2B5EF4-FFF2-40B4-BE49-F238E27FC236}">
                <a16:creationId xmlns:a16="http://schemas.microsoft.com/office/drawing/2014/main" id="{4AC81FC0-C01E-1042-9E12-CA4DE5A54700}"/>
              </a:ext>
            </a:extLst>
          </p:cNvPr>
          <p:cNvSpPr>
            <a:spLocks noChangeArrowheads="1"/>
          </p:cNvSpPr>
          <p:nvPr/>
        </p:nvSpPr>
        <p:spPr bwMode="auto">
          <a:xfrm>
            <a:off x="4478338" y="1192213"/>
            <a:ext cx="584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EX</a:t>
            </a:r>
          </a:p>
        </p:txBody>
      </p:sp>
      <p:sp>
        <p:nvSpPr>
          <p:cNvPr id="146445" name="Rectangle 15">
            <a:extLst>
              <a:ext uri="{FF2B5EF4-FFF2-40B4-BE49-F238E27FC236}">
                <a16:creationId xmlns:a16="http://schemas.microsoft.com/office/drawing/2014/main" id="{F267E201-3D70-7C48-B435-4906964CDAA4}"/>
              </a:ext>
            </a:extLst>
          </p:cNvPr>
          <p:cNvSpPr>
            <a:spLocks noChangeArrowheads="1"/>
          </p:cNvSpPr>
          <p:nvPr/>
        </p:nvSpPr>
        <p:spPr bwMode="auto">
          <a:xfrm>
            <a:off x="5056188" y="1196975"/>
            <a:ext cx="7445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MEM</a:t>
            </a:r>
          </a:p>
        </p:txBody>
      </p:sp>
      <p:sp>
        <p:nvSpPr>
          <p:cNvPr id="146446" name="Rectangle 16">
            <a:extLst>
              <a:ext uri="{FF2B5EF4-FFF2-40B4-BE49-F238E27FC236}">
                <a16:creationId xmlns:a16="http://schemas.microsoft.com/office/drawing/2014/main" id="{F63BBFED-C58E-C047-9A6A-A6DDC2A5B147}"/>
              </a:ext>
            </a:extLst>
          </p:cNvPr>
          <p:cNvSpPr>
            <a:spLocks noChangeArrowheads="1"/>
          </p:cNvSpPr>
          <p:nvPr/>
        </p:nvSpPr>
        <p:spPr bwMode="auto">
          <a:xfrm>
            <a:off x="5830888" y="1196975"/>
            <a:ext cx="6302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sz="1800">
                <a:latin typeface="Arial" panose="020B0604020202020204" pitchFamily="34" charset="0"/>
                <a:ea typeface="宋体" panose="02010600030101010101" pitchFamily="2" charset="-122"/>
              </a:rPr>
              <a:t>WB</a:t>
            </a:r>
          </a:p>
        </p:txBody>
      </p:sp>
      <p:sp>
        <p:nvSpPr>
          <p:cNvPr id="146447" name="Line 17">
            <a:extLst>
              <a:ext uri="{FF2B5EF4-FFF2-40B4-BE49-F238E27FC236}">
                <a16:creationId xmlns:a16="http://schemas.microsoft.com/office/drawing/2014/main" id="{4536659A-3E7A-8F47-A664-B4245B6153BC}"/>
              </a:ext>
            </a:extLst>
          </p:cNvPr>
          <p:cNvSpPr>
            <a:spLocks noChangeShapeType="1"/>
          </p:cNvSpPr>
          <p:nvPr/>
        </p:nvSpPr>
        <p:spPr bwMode="auto">
          <a:xfrm>
            <a:off x="36830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8" name="Line 18">
            <a:extLst>
              <a:ext uri="{FF2B5EF4-FFF2-40B4-BE49-F238E27FC236}">
                <a16:creationId xmlns:a16="http://schemas.microsoft.com/office/drawing/2014/main" id="{35BE1684-F821-E446-B955-6018F11A1A04}"/>
              </a:ext>
            </a:extLst>
          </p:cNvPr>
          <p:cNvSpPr>
            <a:spLocks noChangeShapeType="1"/>
          </p:cNvSpPr>
          <p:nvPr/>
        </p:nvSpPr>
        <p:spPr bwMode="auto">
          <a:xfrm>
            <a:off x="43688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9" name="Line 19">
            <a:extLst>
              <a:ext uri="{FF2B5EF4-FFF2-40B4-BE49-F238E27FC236}">
                <a16:creationId xmlns:a16="http://schemas.microsoft.com/office/drawing/2014/main" id="{54B2962E-2424-5B49-82C0-0171F6232F6F}"/>
              </a:ext>
            </a:extLst>
          </p:cNvPr>
          <p:cNvSpPr>
            <a:spLocks noChangeShapeType="1"/>
          </p:cNvSpPr>
          <p:nvPr/>
        </p:nvSpPr>
        <p:spPr bwMode="auto">
          <a:xfrm>
            <a:off x="5054600" y="990600"/>
            <a:ext cx="0" cy="4483100"/>
          </a:xfrm>
          <a:prstGeom prst="line">
            <a:avLst/>
          </a:prstGeom>
          <a:noFill/>
          <a:ln w="38100">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0" name="Line 20">
            <a:extLst>
              <a:ext uri="{FF2B5EF4-FFF2-40B4-BE49-F238E27FC236}">
                <a16:creationId xmlns:a16="http://schemas.microsoft.com/office/drawing/2014/main" id="{475800D6-222A-7B4D-AB3A-3F16089F10FF}"/>
              </a:ext>
            </a:extLst>
          </p:cNvPr>
          <p:cNvSpPr>
            <a:spLocks noChangeShapeType="1"/>
          </p:cNvSpPr>
          <p:nvPr/>
        </p:nvSpPr>
        <p:spPr bwMode="auto">
          <a:xfrm>
            <a:off x="57404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1" name="Line 21">
            <a:extLst>
              <a:ext uri="{FF2B5EF4-FFF2-40B4-BE49-F238E27FC236}">
                <a16:creationId xmlns:a16="http://schemas.microsoft.com/office/drawing/2014/main" id="{2C0B8BC1-4027-0E43-946F-37871973A466}"/>
              </a:ext>
            </a:extLst>
          </p:cNvPr>
          <p:cNvSpPr>
            <a:spLocks noChangeShapeType="1"/>
          </p:cNvSpPr>
          <p:nvPr/>
        </p:nvSpPr>
        <p:spPr bwMode="auto">
          <a:xfrm>
            <a:off x="64262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2" name="Line 22">
            <a:extLst>
              <a:ext uri="{FF2B5EF4-FFF2-40B4-BE49-F238E27FC236}">
                <a16:creationId xmlns:a16="http://schemas.microsoft.com/office/drawing/2014/main" id="{672A8F23-3271-0140-9EAE-F63FF48EBD1E}"/>
              </a:ext>
            </a:extLst>
          </p:cNvPr>
          <p:cNvSpPr>
            <a:spLocks noChangeShapeType="1"/>
          </p:cNvSpPr>
          <p:nvPr/>
        </p:nvSpPr>
        <p:spPr bwMode="auto">
          <a:xfrm>
            <a:off x="71120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3" name="Line 23">
            <a:extLst>
              <a:ext uri="{FF2B5EF4-FFF2-40B4-BE49-F238E27FC236}">
                <a16:creationId xmlns:a16="http://schemas.microsoft.com/office/drawing/2014/main" id="{2904930A-882B-7047-8694-B4FA7CB7B062}"/>
              </a:ext>
            </a:extLst>
          </p:cNvPr>
          <p:cNvSpPr>
            <a:spLocks noChangeShapeType="1"/>
          </p:cNvSpPr>
          <p:nvPr/>
        </p:nvSpPr>
        <p:spPr bwMode="auto">
          <a:xfrm>
            <a:off x="77978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4" name="Line 24">
            <a:extLst>
              <a:ext uri="{FF2B5EF4-FFF2-40B4-BE49-F238E27FC236}">
                <a16:creationId xmlns:a16="http://schemas.microsoft.com/office/drawing/2014/main" id="{78205D2A-DB71-B747-A280-DE6A47EE34CC}"/>
              </a:ext>
            </a:extLst>
          </p:cNvPr>
          <p:cNvSpPr>
            <a:spLocks noChangeShapeType="1"/>
          </p:cNvSpPr>
          <p:nvPr/>
        </p:nvSpPr>
        <p:spPr bwMode="auto">
          <a:xfrm>
            <a:off x="8483600" y="990600"/>
            <a:ext cx="0" cy="44831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55" name="Freeform 27">
            <a:extLst>
              <a:ext uri="{FF2B5EF4-FFF2-40B4-BE49-F238E27FC236}">
                <a16:creationId xmlns:a16="http://schemas.microsoft.com/office/drawing/2014/main" id="{46C6D98D-B603-8748-8F51-DF46551C001C}"/>
              </a:ext>
            </a:extLst>
          </p:cNvPr>
          <p:cNvSpPr>
            <a:spLocks/>
          </p:cNvSpPr>
          <p:nvPr/>
        </p:nvSpPr>
        <p:spPr bwMode="auto">
          <a:xfrm>
            <a:off x="4541838" y="1365250"/>
            <a:ext cx="338137" cy="763588"/>
          </a:xfrm>
          <a:custGeom>
            <a:avLst/>
            <a:gdLst>
              <a:gd name="T0" fmla="*/ 0 w 213"/>
              <a:gd name="T1" fmla="*/ 2147483646 h 481"/>
              <a:gd name="T2" fmla="*/ 2147483646 w 213"/>
              <a:gd name="T3" fmla="*/ 2147483646 h 481"/>
              <a:gd name="T4" fmla="*/ 0 w 213"/>
              <a:gd name="T5" fmla="*/ 2147483646 h 481"/>
              <a:gd name="T6" fmla="*/ 0 w 213"/>
              <a:gd name="T7" fmla="*/ 0 h 481"/>
              <a:gd name="T8" fmla="*/ 2147483646 w 213"/>
              <a:gd name="T9" fmla="*/ 2147483646 h 481"/>
              <a:gd name="T10" fmla="*/ 2147483646 w 213"/>
              <a:gd name="T11" fmla="*/ 2147483646 h 481"/>
              <a:gd name="T12" fmla="*/ 0 w 213"/>
              <a:gd name="T13" fmla="*/ 2147483646 h 481"/>
              <a:gd name="T14" fmla="*/ 0 w 213"/>
              <a:gd name="T15" fmla="*/ 2147483646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6" name="Rectangle 28">
            <a:extLst>
              <a:ext uri="{FF2B5EF4-FFF2-40B4-BE49-F238E27FC236}">
                <a16:creationId xmlns:a16="http://schemas.microsoft.com/office/drawing/2014/main" id="{560E1B37-8D3D-704F-BB43-0FD9C13F11BE}"/>
              </a:ext>
            </a:extLst>
          </p:cNvPr>
          <p:cNvSpPr>
            <a:spLocks noChangeArrowheads="1"/>
          </p:cNvSpPr>
          <p:nvPr/>
        </p:nvSpPr>
        <p:spPr bwMode="auto">
          <a:xfrm rot="5400000">
            <a:off x="4390231" y="1559719"/>
            <a:ext cx="6080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ALU</a:t>
            </a:r>
          </a:p>
        </p:txBody>
      </p:sp>
      <p:sp>
        <p:nvSpPr>
          <p:cNvPr id="146457" name="Rectangle 29">
            <a:extLst>
              <a:ext uri="{FF2B5EF4-FFF2-40B4-BE49-F238E27FC236}">
                <a16:creationId xmlns:a16="http://schemas.microsoft.com/office/drawing/2014/main" id="{DC0C9D45-E391-7A4F-9522-C7B8A2098587}"/>
              </a:ext>
            </a:extLst>
          </p:cNvPr>
          <p:cNvSpPr>
            <a:spLocks noChangeArrowheads="1"/>
          </p:cNvSpPr>
          <p:nvPr/>
        </p:nvSpPr>
        <p:spPr bwMode="auto">
          <a:xfrm>
            <a:off x="3133725" y="1577975"/>
            <a:ext cx="4302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a:ea typeface="宋体" panose="02010600030101010101" pitchFamily="2" charset="-122"/>
              </a:rPr>
              <a:t>Im</a:t>
            </a:r>
          </a:p>
        </p:txBody>
      </p:sp>
      <p:grpSp>
        <p:nvGrpSpPr>
          <p:cNvPr id="146458" name="Group 30">
            <a:extLst>
              <a:ext uri="{FF2B5EF4-FFF2-40B4-BE49-F238E27FC236}">
                <a16:creationId xmlns:a16="http://schemas.microsoft.com/office/drawing/2014/main" id="{8F185031-7B23-5048-BFA3-39476B6B344B}"/>
              </a:ext>
            </a:extLst>
          </p:cNvPr>
          <p:cNvGrpSpPr>
            <a:grpSpLocks/>
          </p:cNvGrpSpPr>
          <p:nvPr/>
        </p:nvGrpSpPr>
        <p:grpSpPr bwMode="auto">
          <a:xfrm>
            <a:off x="3071813" y="1517650"/>
            <a:ext cx="539750" cy="458788"/>
            <a:chOff x="1935" y="1349"/>
            <a:chExt cx="340" cy="289"/>
          </a:xfrm>
        </p:grpSpPr>
        <p:sp>
          <p:nvSpPr>
            <p:cNvPr id="146578" name="Freeform 31">
              <a:extLst>
                <a:ext uri="{FF2B5EF4-FFF2-40B4-BE49-F238E27FC236}">
                  <a16:creationId xmlns:a16="http://schemas.microsoft.com/office/drawing/2014/main" id="{1118DAD6-135E-EB47-90EC-481B09573DE0}"/>
                </a:ext>
              </a:extLst>
            </p:cNvPr>
            <p:cNvSpPr>
              <a:spLocks/>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79" name="Freeform 32">
              <a:extLst>
                <a:ext uri="{FF2B5EF4-FFF2-40B4-BE49-F238E27FC236}">
                  <a16:creationId xmlns:a16="http://schemas.microsoft.com/office/drawing/2014/main" id="{74EB5721-AF3E-244F-B537-57DF718D7A8C}"/>
                </a:ext>
              </a:extLst>
            </p:cNvPr>
            <p:cNvSpPr>
              <a:spLocks/>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459" name="Group 163">
            <a:extLst>
              <a:ext uri="{FF2B5EF4-FFF2-40B4-BE49-F238E27FC236}">
                <a16:creationId xmlns:a16="http://schemas.microsoft.com/office/drawing/2014/main" id="{6FF5E678-FB03-9546-AFEF-C2FAD6D6B5C5}"/>
              </a:ext>
            </a:extLst>
          </p:cNvPr>
          <p:cNvGrpSpPr>
            <a:grpSpLocks/>
          </p:cNvGrpSpPr>
          <p:nvPr/>
        </p:nvGrpSpPr>
        <p:grpSpPr bwMode="auto">
          <a:xfrm>
            <a:off x="3613150" y="1517650"/>
            <a:ext cx="684213" cy="458788"/>
            <a:chOff x="2276" y="1262"/>
            <a:chExt cx="431" cy="289"/>
          </a:xfrm>
        </p:grpSpPr>
        <p:sp>
          <p:nvSpPr>
            <p:cNvPr id="146573" name="Rectangle 33">
              <a:extLst>
                <a:ext uri="{FF2B5EF4-FFF2-40B4-BE49-F238E27FC236}">
                  <a16:creationId xmlns:a16="http://schemas.microsoft.com/office/drawing/2014/main" id="{69D92657-34CA-C24E-8CFE-3DEF76F96C1F}"/>
                </a:ext>
              </a:extLst>
            </p:cNvPr>
            <p:cNvSpPr>
              <a:spLocks noChangeArrowheads="1"/>
            </p:cNvSpPr>
            <p:nvPr/>
          </p:nvSpPr>
          <p:spPr bwMode="auto">
            <a:xfrm>
              <a:off x="2380" y="1273"/>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sp>
          <p:nvSpPr>
            <p:cNvPr id="146574" name="Freeform 34">
              <a:extLst>
                <a:ext uri="{FF2B5EF4-FFF2-40B4-BE49-F238E27FC236}">
                  <a16:creationId xmlns:a16="http://schemas.microsoft.com/office/drawing/2014/main" id="{E220442C-7CC0-6046-A8F2-6F02D1784539}"/>
                </a:ext>
              </a:extLst>
            </p:cNvPr>
            <p:cNvSpPr>
              <a:spLocks/>
            </p:cNvSpPr>
            <p:nvPr/>
          </p:nvSpPr>
          <p:spPr bwMode="auto">
            <a:xfrm>
              <a:off x="2395" y="126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75" name="Freeform 35">
              <a:extLst>
                <a:ext uri="{FF2B5EF4-FFF2-40B4-BE49-F238E27FC236}">
                  <a16:creationId xmlns:a16="http://schemas.microsoft.com/office/drawing/2014/main" id="{3F8645AC-415E-EC42-895D-99FB2A362FA1}"/>
                </a:ext>
              </a:extLst>
            </p:cNvPr>
            <p:cNvSpPr>
              <a:spLocks/>
            </p:cNvSpPr>
            <p:nvPr/>
          </p:nvSpPr>
          <p:spPr bwMode="auto">
            <a:xfrm>
              <a:off x="2543" y="126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76" name="Line 36">
              <a:extLst>
                <a:ext uri="{FF2B5EF4-FFF2-40B4-BE49-F238E27FC236}">
                  <a16:creationId xmlns:a16="http://schemas.microsoft.com/office/drawing/2014/main" id="{1641D5F6-9219-BD4F-9DEC-1A7E3D50F728}"/>
                </a:ext>
              </a:extLst>
            </p:cNvPr>
            <p:cNvSpPr>
              <a:spLocks noChangeShapeType="1"/>
            </p:cNvSpPr>
            <p:nvPr/>
          </p:nvSpPr>
          <p:spPr bwMode="auto">
            <a:xfrm>
              <a:off x="2276" y="1406"/>
              <a:ext cx="1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77" name="Freeform 37">
              <a:extLst>
                <a:ext uri="{FF2B5EF4-FFF2-40B4-BE49-F238E27FC236}">
                  <a16:creationId xmlns:a16="http://schemas.microsoft.com/office/drawing/2014/main" id="{B4807739-FBCE-7441-AD46-8A44057BA83F}"/>
                </a:ext>
              </a:extLst>
            </p:cNvPr>
            <p:cNvSpPr>
              <a:spLocks/>
            </p:cNvSpPr>
            <p:nvPr/>
          </p:nvSpPr>
          <p:spPr bwMode="auto">
            <a:xfrm>
              <a:off x="2342" y="1310"/>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60" name="Line 38">
            <a:extLst>
              <a:ext uri="{FF2B5EF4-FFF2-40B4-BE49-F238E27FC236}">
                <a16:creationId xmlns:a16="http://schemas.microsoft.com/office/drawing/2014/main" id="{20230EF2-402B-CB46-AB57-CD2482BBAE86}"/>
              </a:ext>
            </a:extLst>
          </p:cNvPr>
          <p:cNvSpPr>
            <a:spLocks noChangeShapeType="1"/>
          </p:cNvSpPr>
          <p:nvPr/>
        </p:nvSpPr>
        <p:spPr bwMode="auto">
          <a:xfrm>
            <a:off x="4273550" y="1593850"/>
            <a:ext cx="2619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1" name="Line 45">
            <a:extLst>
              <a:ext uri="{FF2B5EF4-FFF2-40B4-BE49-F238E27FC236}">
                <a16:creationId xmlns:a16="http://schemas.microsoft.com/office/drawing/2014/main" id="{4F8B0C45-B6D9-9148-B9BF-8F56FFC745F0}"/>
              </a:ext>
            </a:extLst>
          </p:cNvPr>
          <p:cNvSpPr>
            <a:spLocks noChangeShapeType="1"/>
          </p:cNvSpPr>
          <p:nvPr/>
        </p:nvSpPr>
        <p:spPr bwMode="auto">
          <a:xfrm>
            <a:off x="4273550" y="1898650"/>
            <a:ext cx="2619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2" name="Freeform 46">
            <a:extLst>
              <a:ext uri="{FF2B5EF4-FFF2-40B4-BE49-F238E27FC236}">
                <a16:creationId xmlns:a16="http://schemas.microsoft.com/office/drawing/2014/main" id="{66B1575A-188D-A64D-95CD-98540446EF52}"/>
              </a:ext>
            </a:extLst>
          </p:cNvPr>
          <p:cNvSpPr>
            <a:spLocks/>
          </p:cNvSpPr>
          <p:nvPr/>
        </p:nvSpPr>
        <p:spPr bwMode="auto">
          <a:xfrm>
            <a:off x="4452938" y="1738313"/>
            <a:ext cx="534987" cy="441325"/>
          </a:xfrm>
          <a:custGeom>
            <a:avLst/>
            <a:gdLst>
              <a:gd name="T0" fmla="*/ 0 w 337"/>
              <a:gd name="T1" fmla="*/ 2147483646 h 278"/>
              <a:gd name="T2" fmla="*/ 0 w 337"/>
              <a:gd name="T3" fmla="*/ 2147483646 h 278"/>
              <a:gd name="T4" fmla="*/ 2147483646 w 337"/>
              <a:gd name="T5" fmla="*/ 2147483646 h 278"/>
              <a:gd name="T6" fmla="*/ 2147483646 w 337"/>
              <a:gd name="T7" fmla="*/ 2147483646 h 278"/>
              <a:gd name="T8" fmla="*/ 2147483646 w 33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7" h="278">
                <a:moveTo>
                  <a:pt x="0" y="101"/>
                </a:moveTo>
                <a:lnTo>
                  <a:pt x="0" y="277"/>
                </a:lnTo>
                <a:lnTo>
                  <a:pt x="294" y="277"/>
                </a:lnTo>
                <a:lnTo>
                  <a:pt x="294" y="90"/>
                </a:lnTo>
                <a:lnTo>
                  <a:pt x="336"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463" name="Group 50">
            <a:extLst>
              <a:ext uri="{FF2B5EF4-FFF2-40B4-BE49-F238E27FC236}">
                <a16:creationId xmlns:a16="http://schemas.microsoft.com/office/drawing/2014/main" id="{55F7CEC6-7162-EE4C-AEAC-76012DD5EFBD}"/>
              </a:ext>
            </a:extLst>
          </p:cNvPr>
          <p:cNvGrpSpPr>
            <a:grpSpLocks/>
          </p:cNvGrpSpPr>
          <p:nvPr/>
        </p:nvGrpSpPr>
        <p:grpSpPr bwMode="auto">
          <a:xfrm>
            <a:off x="5759450" y="4362450"/>
            <a:ext cx="563563" cy="458788"/>
            <a:chOff x="3628" y="3141"/>
            <a:chExt cx="355" cy="289"/>
          </a:xfrm>
        </p:grpSpPr>
        <p:sp>
          <p:nvSpPr>
            <p:cNvPr id="146569" name="Rectangle 51">
              <a:extLst>
                <a:ext uri="{FF2B5EF4-FFF2-40B4-BE49-F238E27FC236}">
                  <a16:creationId xmlns:a16="http://schemas.microsoft.com/office/drawing/2014/main" id="{08DA0B78-3B59-E441-B5D8-D1B1C71A5254}"/>
                </a:ext>
              </a:extLst>
            </p:cNvPr>
            <p:cNvSpPr>
              <a:spLocks noChangeArrowheads="1"/>
            </p:cNvSpPr>
            <p:nvPr/>
          </p:nvSpPr>
          <p:spPr bwMode="auto">
            <a:xfrm>
              <a:off x="3628" y="3147"/>
              <a:ext cx="27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a:ea typeface="宋体" panose="02010600030101010101" pitchFamily="2" charset="-122"/>
                </a:rPr>
                <a:t>Im</a:t>
              </a:r>
            </a:p>
          </p:txBody>
        </p:sp>
        <p:grpSp>
          <p:nvGrpSpPr>
            <p:cNvPr id="146570" name="Group 52">
              <a:extLst>
                <a:ext uri="{FF2B5EF4-FFF2-40B4-BE49-F238E27FC236}">
                  <a16:creationId xmlns:a16="http://schemas.microsoft.com/office/drawing/2014/main" id="{56BDF75A-E303-EB40-8166-6D205C7C22D5}"/>
                </a:ext>
              </a:extLst>
            </p:cNvPr>
            <p:cNvGrpSpPr>
              <a:grpSpLocks/>
            </p:cNvGrpSpPr>
            <p:nvPr/>
          </p:nvGrpSpPr>
          <p:grpSpPr bwMode="auto">
            <a:xfrm>
              <a:off x="3643" y="3141"/>
              <a:ext cx="340" cy="289"/>
              <a:chOff x="3643" y="3141"/>
              <a:chExt cx="340" cy="289"/>
            </a:xfrm>
          </p:grpSpPr>
          <p:sp>
            <p:nvSpPr>
              <p:cNvPr id="146571" name="Freeform 53">
                <a:extLst>
                  <a:ext uri="{FF2B5EF4-FFF2-40B4-BE49-F238E27FC236}">
                    <a16:creationId xmlns:a16="http://schemas.microsoft.com/office/drawing/2014/main" id="{1373027A-0E5A-E84C-9782-D4E9ADEECA70}"/>
                  </a:ext>
                </a:extLst>
              </p:cNvPr>
              <p:cNvSpPr>
                <a:spLocks/>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72" name="Freeform 54">
                <a:extLst>
                  <a:ext uri="{FF2B5EF4-FFF2-40B4-BE49-F238E27FC236}">
                    <a16:creationId xmlns:a16="http://schemas.microsoft.com/office/drawing/2014/main" id="{B745CC11-A940-1242-BD71-3E62D1944F0B}"/>
                  </a:ext>
                </a:extLst>
              </p:cNvPr>
              <p:cNvSpPr>
                <a:spLocks/>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46464" name="Rectangle 55">
            <a:extLst>
              <a:ext uri="{FF2B5EF4-FFF2-40B4-BE49-F238E27FC236}">
                <a16:creationId xmlns:a16="http://schemas.microsoft.com/office/drawing/2014/main" id="{DB19F584-8AFC-AD44-8F76-DEB33E576683}"/>
              </a:ext>
            </a:extLst>
          </p:cNvPr>
          <p:cNvSpPr>
            <a:spLocks noChangeArrowheads="1"/>
          </p:cNvSpPr>
          <p:nvPr/>
        </p:nvSpPr>
        <p:spPr bwMode="auto">
          <a:xfrm>
            <a:off x="6489700" y="4379913"/>
            <a:ext cx="5191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nvGrpSpPr>
          <p:cNvPr id="146465" name="Group 56">
            <a:extLst>
              <a:ext uri="{FF2B5EF4-FFF2-40B4-BE49-F238E27FC236}">
                <a16:creationId xmlns:a16="http://schemas.microsoft.com/office/drawing/2014/main" id="{A83FE6FE-97B0-B545-987C-D8AF1870121F}"/>
              </a:ext>
            </a:extLst>
          </p:cNvPr>
          <p:cNvGrpSpPr>
            <a:grpSpLocks/>
          </p:cNvGrpSpPr>
          <p:nvPr/>
        </p:nvGrpSpPr>
        <p:grpSpPr bwMode="auto">
          <a:xfrm>
            <a:off x="6513513" y="4362450"/>
            <a:ext cx="469900" cy="458788"/>
            <a:chOff x="4103" y="3141"/>
            <a:chExt cx="296" cy="289"/>
          </a:xfrm>
        </p:grpSpPr>
        <p:sp>
          <p:nvSpPr>
            <p:cNvPr id="146567" name="Freeform 57">
              <a:extLst>
                <a:ext uri="{FF2B5EF4-FFF2-40B4-BE49-F238E27FC236}">
                  <a16:creationId xmlns:a16="http://schemas.microsoft.com/office/drawing/2014/main" id="{03B23EA1-2EC3-8D48-9FB3-5DC51485CD0E}"/>
                </a:ext>
              </a:extLst>
            </p:cNvPr>
            <p:cNvSpPr>
              <a:spLocks/>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68" name="Freeform 58">
              <a:extLst>
                <a:ext uri="{FF2B5EF4-FFF2-40B4-BE49-F238E27FC236}">
                  <a16:creationId xmlns:a16="http://schemas.microsoft.com/office/drawing/2014/main" id="{1F1D9972-2C22-4B48-B8DE-584816E6D26E}"/>
                </a:ext>
              </a:extLst>
            </p:cNvPr>
            <p:cNvSpPr>
              <a:spLocks/>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66" name="Line 59">
            <a:extLst>
              <a:ext uri="{FF2B5EF4-FFF2-40B4-BE49-F238E27FC236}">
                <a16:creationId xmlns:a16="http://schemas.microsoft.com/office/drawing/2014/main" id="{FAFE24D9-4DCC-9D4F-AA01-715C228A6F1A}"/>
              </a:ext>
            </a:extLst>
          </p:cNvPr>
          <p:cNvSpPr>
            <a:spLocks noChangeShapeType="1"/>
          </p:cNvSpPr>
          <p:nvPr/>
        </p:nvSpPr>
        <p:spPr bwMode="auto">
          <a:xfrm>
            <a:off x="6324600" y="4591050"/>
            <a:ext cx="16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7" name="Freeform 60">
            <a:extLst>
              <a:ext uri="{FF2B5EF4-FFF2-40B4-BE49-F238E27FC236}">
                <a16:creationId xmlns:a16="http://schemas.microsoft.com/office/drawing/2014/main" id="{D80C4048-B968-1A44-A15A-4711902ED2F0}"/>
              </a:ext>
            </a:extLst>
          </p:cNvPr>
          <p:cNvSpPr>
            <a:spLocks/>
          </p:cNvSpPr>
          <p:nvPr/>
        </p:nvSpPr>
        <p:spPr bwMode="auto">
          <a:xfrm>
            <a:off x="6429375" y="4438650"/>
            <a:ext cx="76200" cy="153988"/>
          </a:xfrm>
          <a:custGeom>
            <a:avLst/>
            <a:gdLst>
              <a:gd name="T0" fmla="*/ 0 w 48"/>
              <a:gd name="T1" fmla="*/ 2147483646 h 97"/>
              <a:gd name="T2" fmla="*/ 0 w 48"/>
              <a:gd name="T3" fmla="*/ 0 h 97"/>
              <a:gd name="T4" fmla="*/ 2147483646 w 48"/>
              <a:gd name="T5" fmla="*/ 0 h 97"/>
              <a:gd name="T6" fmla="*/ 2147483646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468" name="Group 187">
            <a:extLst>
              <a:ext uri="{FF2B5EF4-FFF2-40B4-BE49-F238E27FC236}">
                <a16:creationId xmlns:a16="http://schemas.microsoft.com/office/drawing/2014/main" id="{4354800D-B2A5-8740-AA37-822DDC8B2E53}"/>
              </a:ext>
            </a:extLst>
          </p:cNvPr>
          <p:cNvGrpSpPr>
            <a:grpSpLocks/>
          </p:cNvGrpSpPr>
          <p:nvPr/>
        </p:nvGrpSpPr>
        <p:grpSpPr bwMode="auto">
          <a:xfrm>
            <a:off x="7786688" y="4362450"/>
            <a:ext cx="590550" cy="458788"/>
            <a:chOff x="4905" y="3054"/>
            <a:chExt cx="372" cy="289"/>
          </a:xfrm>
        </p:grpSpPr>
        <p:sp>
          <p:nvSpPr>
            <p:cNvPr id="146563" name="Rectangle 62">
              <a:extLst>
                <a:ext uri="{FF2B5EF4-FFF2-40B4-BE49-F238E27FC236}">
                  <a16:creationId xmlns:a16="http://schemas.microsoft.com/office/drawing/2014/main" id="{307C45AC-4125-D048-8AEF-C414983907E0}"/>
                </a:ext>
              </a:extLst>
            </p:cNvPr>
            <p:cNvSpPr>
              <a:spLocks noChangeArrowheads="1"/>
            </p:cNvSpPr>
            <p:nvPr/>
          </p:nvSpPr>
          <p:spPr bwMode="auto">
            <a:xfrm>
              <a:off x="4905" y="3060"/>
              <a:ext cx="31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Dm</a:t>
              </a:r>
            </a:p>
          </p:txBody>
        </p:sp>
        <p:grpSp>
          <p:nvGrpSpPr>
            <p:cNvPr id="146564" name="Group 63">
              <a:extLst>
                <a:ext uri="{FF2B5EF4-FFF2-40B4-BE49-F238E27FC236}">
                  <a16:creationId xmlns:a16="http://schemas.microsoft.com/office/drawing/2014/main" id="{E0873F41-7AA4-B140-9E4B-B748BE9BDE4C}"/>
                </a:ext>
              </a:extLst>
            </p:cNvPr>
            <p:cNvGrpSpPr>
              <a:grpSpLocks/>
            </p:cNvGrpSpPr>
            <p:nvPr/>
          </p:nvGrpSpPr>
          <p:grpSpPr bwMode="auto">
            <a:xfrm>
              <a:off x="4952" y="3054"/>
              <a:ext cx="325" cy="289"/>
              <a:chOff x="4952" y="3141"/>
              <a:chExt cx="325" cy="289"/>
            </a:xfrm>
          </p:grpSpPr>
          <p:sp>
            <p:nvSpPr>
              <p:cNvPr id="146565" name="Freeform 64">
                <a:extLst>
                  <a:ext uri="{FF2B5EF4-FFF2-40B4-BE49-F238E27FC236}">
                    <a16:creationId xmlns:a16="http://schemas.microsoft.com/office/drawing/2014/main" id="{EBC4F3E9-EC38-BA4B-B269-E249B0B1F66F}"/>
                  </a:ext>
                </a:extLst>
              </p:cNvPr>
              <p:cNvSpPr>
                <a:spLocks/>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289">
                    <a:moveTo>
                      <a:pt x="161" y="0"/>
                    </a:moveTo>
                    <a:lnTo>
                      <a:pt x="0" y="0"/>
                    </a:lnTo>
                    <a:lnTo>
                      <a:pt x="0" y="288"/>
                    </a:lnTo>
                    <a:lnTo>
                      <a:pt x="161"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66" name="Freeform 65">
                <a:extLst>
                  <a:ext uri="{FF2B5EF4-FFF2-40B4-BE49-F238E27FC236}">
                    <a16:creationId xmlns:a16="http://schemas.microsoft.com/office/drawing/2014/main" id="{43FE1ADC-23F6-2042-AAE8-EC791A38B023}"/>
                  </a:ext>
                </a:extLst>
              </p:cNvPr>
              <p:cNvSpPr>
                <a:spLocks/>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289">
                    <a:moveTo>
                      <a:pt x="0" y="0"/>
                    </a:moveTo>
                    <a:lnTo>
                      <a:pt x="163" y="0"/>
                    </a:lnTo>
                    <a:lnTo>
                      <a:pt x="163"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46469" name="Rectangle 66">
            <a:extLst>
              <a:ext uri="{FF2B5EF4-FFF2-40B4-BE49-F238E27FC236}">
                <a16:creationId xmlns:a16="http://schemas.microsoft.com/office/drawing/2014/main" id="{B8D779C2-AA81-324B-840F-4022BD0391DA}"/>
              </a:ext>
            </a:extLst>
          </p:cNvPr>
          <p:cNvSpPr>
            <a:spLocks noChangeArrowheads="1"/>
          </p:cNvSpPr>
          <p:nvPr/>
        </p:nvSpPr>
        <p:spPr bwMode="auto">
          <a:xfrm>
            <a:off x="8567738" y="4371975"/>
            <a:ext cx="5191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nvGrpSpPr>
          <p:cNvPr id="146470" name="Group 67">
            <a:extLst>
              <a:ext uri="{FF2B5EF4-FFF2-40B4-BE49-F238E27FC236}">
                <a16:creationId xmlns:a16="http://schemas.microsoft.com/office/drawing/2014/main" id="{F969C7D3-1AAC-634D-811E-19DD6039C0B6}"/>
              </a:ext>
            </a:extLst>
          </p:cNvPr>
          <p:cNvGrpSpPr>
            <a:grpSpLocks/>
          </p:cNvGrpSpPr>
          <p:nvPr/>
        </p:nvGrpSpPr>
        <p:grpSpPr bwMode="auto">
          <a:xfrm>
            <a:off x="8604250" y="4362450"/>
            <a:ext cx="450850" cy="458788"/>
            <a:chOff x="5420" y="3141"/>
            <a:chExt cx="284" cy="289"/>
          </a:xfrm>
        </p:grpSpPr>
        <p:sp>
          <p:nvSpPr>
            <p:cNvPr id="146561" name="Freeform 68">
              <a:extLst>
                <a:ext uri="{FF2B5EF4-FFF2-40B4-BE49-F238E27FC236}">
                  <a16:creationId xmlns:a16="http://schemas.microsoft.com/office/drawing/2014/main" id="{93F1290E-11E7-E44F-A7E0-FA5D98694934}"/>
                </a:ext>
              </a:extLst>
            </p:cNvPr>
            <p:cNvSpPr>
              <a:spLocks/>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2" h="289">
                  <a:moveTo>
                    <a:pt x="141" y="0"/>
                  </a:moveTo>
                  <a:lnTo>
                    <a:pt x="0" y="0"/>
                  </a:lnTo>
                  <a:lnTo>
                    <a:pt x="0" y="288"/>
                  </a:lnTo>
                  <a:lnTo>
                    <a:pt x="141"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62" name="Freeform 69">
              <a:extLst>
                <a:ext uri="{FF2B5EF4-FFF2-40B4-BE49-F238E27FC236}">
                  <a16:creationId xmlns:a16="http://schemas.microsoft.com/office/drawing/2014/main" id="{A83D7604-C7A1-4B48-A7FF-3B01A6D6CB2C}"/>
                </a:ext>
              </a:extLst>
            </p:cNvPr>
            <p:cNvSpPr>
              <a:spLocks/>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289">
                  <a:moveTo>
                    <a:pt x="0" y="0"/>
                  </a:moveTo>
                  <a:lnTo>
                    <a:pt x="142" y="0"/>
                  </a:lnTo>
                  <a:lnTo>
                    <a:pt x="142"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71" name="Line 70">
            <a:extLst>
              <a:ext uri="{FF2B5EF4-FFF2-40B4-BE49-F238E27FC236}">
                <a16:creationId xmlns:a16="http://schemas.microsoft.com/office/drawing/2014/main" id="{1AE73379-D293-E740-AE1F-3A384B9C95C5}"/>
              </a:ext>
            </a:extLst>
          </p:cNvPr>
          <p:cNvSpPr>
            <a:spLocks noChangeShapeType="1"/>
          </p:cNvSpPr>
          <p:nvPr/>
        </p:nvSpPr>
        <p:spPr bwMode="auto">
          <a:xfrm>
            <a:off x="8364538" y="4591050"/>
            <a:ext cx="2333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72" name="Line 71">
            <a:extLst>
              <a:ext uri="{FF2B5EF4-FFF2-40B4-BE49-F238E27FC236}">
                <a16:creationId xmlns:a16="http://schemas.microsoft.com/office/drawing/2014/main" id="{E3E69348-4FFB-1846-AECA-24359282259B}"/>
              </a:ext>
            </a:extLst>
          </p:cNvPr>
          <p:cNvSpPr>
            <a:spLocks noChangeShapeType="1"/>
          </p:cNvSpPr>
          <p:nvPr/>
        </p:nvSpPr>
        <p:spPr bwMode="auto">
          <a:xfrm>
            <a:off x="7596188" y="4591050"/>
            <a:ext cx="2587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73" name="Freeform 72">
            <a:extLst>
              <a:ext uri="{FF2B5EF4-FFF2-40B4-BE49-F238E27FC236}">
                <a16:creationId xmlns:a16="http://schemas.microsoft.com/office/drawing/2014/main" id="{AF02ED14-0D20-DB46-A780-9A7B623853FB}"/>
              </a:ext>
            </a:extLst>
          </p:cNvPr>
          <p:cNvSpPr>
            <a:spLocks/>
          </p:cNvSpPr>
          <p:nvPr/>
        </p:nvSpPr>
        <p:spPr bwMode="auto">
          <a:xfrm>
            <a:off x="7794625" y="4591050"/>
            <a:ext cx="684213" cy="306388"/>
          </a:xfrm>
          <a:custGeom>
            <a:avLst/>
            <a:gdLst>
              <a:gd name="T0" fmla="*/ 0 w 431"/>
              <a:gd name="T1" fmla="*/ 0 h 193"/>
              <a:gd name="T2" fmla="*/ 0 w 431"/>
              <a:gd name="T3" fmla="*/ 2147483646 h 193"/>
              <a:gd name="T4" fmla="*/ 2147483646 w 431"/>
              <a:gd name="T5" fmla="*/ 2147483646 h 193"/>
              <a:gd name="T6" fmla="*/ 2147483646 w 431"/>
              <a:gd name="T7" fmla="*/ 2147483646 h 193"/>
              <a:gd name="T8" fmla="*/ 2147483646 w 431"/>
              <a:gd name="T9" fmla="*/ 0 h 1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1" h="193">
                <a:moveTo>
                  <a:pt x="0" y="0"/>
                </a:moveTo>
                <a:lnTo>
                  <a:pt x="0" y="192"/>
                </a:lnTo>
                <a:lnTo>
                  <a:pt x="391" y="192"/>
                </a:lnTo>
                <a:lnTo>
                  <a:pt x="391" y="64"/>
                </a:lnTo>
                <a:lnTo>
                  <a:pt x="430"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474" name="Group 179">
            <a:extLst>
              <a:ext uri="{FF2B5EF4-FFF2-40B4-BE49-F238E27FC236}">
                <a16:creationId xmlns:a16="http://schemas.microsoft.com/office/drawing/2014/main" id="{3E68922F-6CB5-3649-B6BF-78937B3DE5FF}"/>
              </a:ext>
            </a:extLst>
          </p:cNvPr>
          <p:cNvGrpSpPr>
            <a:grpSpLocks/>
          </p:cNvGrpSpPr>
          <p:nvPr/>
        </p:nvGrpSpPr>
        <p:grpSpPr bwMode="auto">
          <a:xfrm>
            <a:off x="6985000" y="4210050"/>
            <a:ext cx="714375" cy="814388"/>
            <a:chOff x="4400" y="2958"/>
            <a:chExt cx="450" cy="513"/>
          </a:xfrm>
        </p:grpSpPr>
        <p:grpSp>
          <p:nvGrpSpPr>
            <p:cNvPr id="146555" name="Group 47">
              <a:extLst>
                <a:ext uri="{FF2B5EF4-FFF2-40B4-BE49-F238E27FC236}">
                  <a16:creationId xmlns:a16="http://schemas.microsoft.com/office/drawing/2014/main" id="{5D73007C-B8D1-2346-B25A-728C934338CF}"/>
                </a:ext>
              </a:extLst>
            </p:cNvPr>
            <p:cNvGrpSpPr>
              <a:grpSpLocks/>
            </p:cNvGrpSpPr>
            <p:nvPr/>
          </p:nvGrpSpPr>
          <p:grpSpPr bwMode="auto">
            <a:xfrm>
              <a:off x="4560" y="2958"/>
              <a:ext cx="222" cy="481"/>
              <a:chOff x="4560" y="3045"/>
              <a:chExt cx="222" cy="481"/>
            </a:xfrm>
          </p:grpSpPr>
          <p:sp>
            <p:nvSpPr>
              <p:cNvPr id="146559" name="Freeform 48">
                <a:extLst>
                  <a:ext uri="{FF2B5EF4-FFF2-40B4-BE49-F238E27FC236}">
                    <a16:creationId xmlns:a16="http://schemas.microsoft.com/office/drawing/2014/main" id="{6F5C34E7-E824-9A41-AAC4-DB8BE5815AC6}"/>
                  </a:ext>
                </a:extLst>
              </p:cNvPr>
              <p:cNvSpPr>
                <a:spLocks/>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60" name="Rectangle 49">
                <a:extLst>
                  <a:ext uri="{FF2B5EF4-FFF2-40B4-BE49-F238E27FC236}">
                    <a16:creationId xmlns:a16="http://schemas.microsoft.com/office/drawing/2014/main" id="{46402BD3-7AD0-D942-A4E3-6800AE677213}"/>
                  </a:ext>
                </a:extLst>
              </p:cNvPr>
              <p:cNvSpPr>
                <a:spLocks noChangeArrowheads="1"/>
              </p:cNvSpPr>
              <p:nvPr/>
            </p:nvSpPr>
            <p:spPr bwMode="auto">
              <a:xfrm rot="5400000">
                <a:off x="4473" y="3168"/>
                <a:ext cx="38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ALU</a:t>
                </a:r>
              </a:p>
            </p:txBody>
          </p:sp>
        </p:grpSp>
        <p:sp>
          <p:nvSpPr>
            <p:cNvPr id="146556" name="Line 61">
              <a:extLst>
                <a:ext uri="{FF2B5EF4-FFF2-40B4-BE49-F238E27FC236}">
                  <a16:creationId xmlns:a16="http://schemas.microsoft.com/office/drawing/2014/main" id="{10ADA8A3-74B0-324F-8963-B9A5CEC7C6BC}"/>
                </a:ext>
              </a:extLst>
            </p:cNvPr>
            <p:cNvSpPr>
              <a:spLocks noChangeShapeType="1"/>
            </p:cNvSpPr>
            <p:nvPr/>
          </p:nvSpPr>
          <p:spPr bwMode="auto">
            <a:xfrm>
              <a:off x="4400" y="3102"/>
              <a:ext cx="16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57" name="Line 73">
              <a:extLst>
                <a:ext uri="{FF2B5EF4-FFF2-40B4-BE49-F238E27FC236}">
                  <a16:creationId xmlns:a16="http://schemas.microsoft.com/office/drawing/2014/main" id="{DBFEAC1B-8922-AA4E-BE75-D3542AAFA7B2}"/>
                </a:ext>
              </a:extLst>
            </p:cNvPr>
            <p:cNvSpPr>
              <a:spLocks noChangeShapeType="1"/>
            </p:cNvSpPr>
            <p:nvPr/>
          </p:nvSpPr>
          <p:spPr bwMode="auto">
            <a:xfrm>
              <a:off x="4400" y="3294"/>
              <a:ext cx="16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58" name="Freeform 74">
              <a:extLst>
                <a:ext uri="{FF2B5EF4-FFF2-40B4-BE49-F238E27FC236}">
                  <a16:creationId xmlns:a16="http://schemas.microsoft.com/office/drawing/2014/main" id="{0FD276DC-E6D1-4D4A-B9B4-3A102DE4CC7A}"/>
                </a:ext>
              </a:extLst>
            </p:cNvPr>
            <p:cNvSpPr>
              <a:spLocks/>
            </p:cNvSpPr>
            <p:nvPr/>
          </p:nvSpPr>
          <p:spPr bwMode="auto">
            <a:xfrm>
              <a:off x="4513" y="3193"/>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7" h="278">
                  <a:moveTo>
                    <a:pt x="0" y="101"/>
                  </a:moveTo>
                  <a:lnTo>
                    <a:pt x="0" y="277"/>
                  </a:lnTo>
                  <a:lnTo>
                    <a:pt x="294" y="277"/>
                  </a:lnTo>
                  <a:lnTo>
                    <a:pt x="294" y="90"/>
                  </a:lnTo>
                  <a:lnTo>
                    <a:pt x="336"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475" name="Group 107">
            <a:extLst>
              <a:ext uri="{FF2B5EF4-FFF2-40B4-BE49-F238E27FC236}">
                <a16:creationId xmlns:a16="http://schemas.microsoft.com/office/drawing/2014/main" id="{FE3D82FB-D3D8-B84B-A842-D5DEAD8116C4}"/>
              </a:ext>
            </a:extLst>
          </p:cNvPr>
          <p:cNvGrpSpPr>
            <a:grpSpLocks/>
          </p:cNvGrpSpPr>
          <p:nvPr/>
        </p:nvGrpSpPr>
        <p:grpSpPr bwMode="auto">
          <a:xfrm>
            <a:off x="5037138" y="2212975"/>
            <a:ext cx="769937" cy="542925"/>
            <a:chOff x="3173" y="1787"/>
            <a:chExt cx="485" cy="342"/>
          </a:xfrm>
        </p:grpSpPr>
        <p:sp>
          <p:nvSpPr>
            <p:cNvPr id="146553" name="Freeform 108">
              <a:extLst>
                <a:ext uri="{FF2B5EF4-FFF2-40B4-BE49-F238E27FC236}">
                  <a16:creationId xmlns:a16="http://schemas.microsoft.com/office/drawing/2014/main" id="{2B381F44-36A2-BD46-986C-70C0C36B7DCA}"/>
                </a:ext>
              </a:extLst>
            </p:cNvPr>
            <p:cNvSpPr>
              <a:spLocks/>
            </p:cNvSpPr>
            <p:nvPr/>
          </p:nvSpPr>
          <p:spPr bwMode="auto">
            <a:xfrm>
              <a:off x="3199"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54" name="Rectangle 109">
              <a:extLst>
                <a:ext uri="{FF2B5EF4-FFF2-40B4-BE49-F238E27FC236}">
                  <a16:creationId xmlns:a16="http://schemas.microsoft.com/office/drawing/2014/main" id="{40BDFA30-0700-1848-9B96-5D8A273E424F}"/>
                </a:ext>
              </a:extLst>
            </p:cNvPr>
            <p:cNvSpPr>
              <a:spLocks noChangeArrowheads="1"/>
            </p:cNvSpPr>
            <p:nvPr/>
          </p:nvSpPr>
          <p:spPr bwMode="auto">
            <a:xfrm>
              <a:off x="3173"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476" name="Group 110">
            <a:extLst>
              <a:ext uri="{FF2B5EF4-FFF2-40B4-BE49-F238E27FC236}">
                <a16:creationId xmlns:a16="http://schemas.microsoft.com/office/drawing/2014/main" id="{3063DCEC-E2F9-7449-BD60-C436DB719C9E}"/>
              </a:ext>
            </a:extLst>
          </p:cNvPr>
          <p:cNvGrpSpPr>
            <a:grpSpLocks/>
          </p:cNvGrpSpPr>
          <p:nvPr/>
        </p:nvGrpSpPr>
        <p:grpSpPr bwMode="auto">
          <a:xfrm>
            <a:off x="5730875" y="2212975"/>
            <a:ext cx="769938" cy="542925"/>
            <a:chOff x="3610" y="1787"/>
            <a:chExt cx="485" cy="342"/>
          </a:xfrm>
        </p:grpSpPr>
        <p:sp>
          <p:nvSpPr>
            <p:cNvPr id="146551" name="Freeform 111">
              <a:extLst>
                <a:ext uri="{FF2B5EF4-FFF2-40B4-BE49-F238E27FC236}">
                  <a16:creationId xmlns:a16="http://schemas.microsoft.com/office/drawing/2014/main" id="{090D3714-4487-354C-A56F-10F22EDB1839}"/>
                </a:ext>
              </a:extLst>
            </p:cNvPr>
            <p:cNvSpPr>
              <a:spLocks/>
            </p:cNvSpPr>
            <p:nvPr/>
          </p:nvSpPr>
          <p:spPr bwMode="auto">
            <a:xfrm>
              <a:off x="3636"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52" name="Rectangle 112">
              <a:extLst>
                <a:ext uri="{FF2B5EF4-FFF2-40B4-BE49-F238E27FC236}">
                  <a16:creationId xmlns:a16="http://schemas.microsoft.com/office/drawing/2014/main" id="{DEB51816-2B5D-4440-8786-54B5DE43A9C7}"/>
                </a:ext>
              </a:extLst>
            </p:cNvPr>
            <p:cNvSpPr>
              <a:spLocks noChangeArrowheads="1"/>
            </p:cNvSpPr>
            <p:nvPr/>
          </p:nvSpPr>
          <p:spPr bwMode="auto">
            <a:xfrm>
              <a:off x="3610"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477" name="Group 113">
            <a:extLst>
              <a:ext uri="{FF2B5EF4-FFF2-40B4-BE49-F238E27FC236}">
                <a16:creationId xmlns:a16="http://schemas.microsoft.com/office/drawing/2014/main" id="{DEFEAE76-D021-0C4D-8136-7D107F8475C0}"/>
              </a:ext>
            </a:extLst>
          </p:cNvPr>
          <p:cNvGrpSpPr>
            <a:grpSpLocks/>
          </p:cNvGrpSpPr>
          <p:nvPr/>
        </p:nvGrpSpPr>
        <p:grpSpPr bwMode="auto">
          <a:xfrm>
            <a:off x="3698875" y="2246313"/>
            <a:ext cx="539750" cy="458787"/>
            <a:chOff x="2330" y="1808"/>
            <a:chExt cx="340" cy="289"/>
          </a:xfrm>
        </p:grpSpPr>
        <p:sp>
          <p:nvSpPr>
            <p:cNvPr id="146549" name="Freeform 114">
              <a:extLst>
                <a:ext uri="{FF2B5EF4-FFF2-40B4-BE49-F238E27FC236}">
                  <a16:creationId xmlns:a16="http://schemas.microsoft.com/office/drawing/2014/main" id="{0BE84476-7E03-084F-AADA-95B42FBFDF83}"/>
                </a:ext>
              </a:extLst>
            </p:cNvPr>
            <p:cNvSpPr>
              <a:spLocks/>
            </p:cNvSpPr>
            <p:nvPr/>
          </p:nvSpPr>
          <p:spPr bwMode="auto">
            <a:xfrm>
              <a:off x="2330" y="1808"/>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50" name="Freeform 115">
              <a:extLst>
                <a:ext uri="{FF2B5EF4-FFF2-40B4-BE49-F238E27FC236}">
                  <a16:creationId xmlns:a16="http://schemas.microsoft.com/office/drawing/2014/main" id="{758992A5-EED9-E544-9F91-40556B588777}"/>
                </a:ext>
              </a:extLst>
            </p:cNvPr>
            <p:cNvSpPr>
              <a:spLocks/>
            </p:cNvSpPr>
            <p:nvPr/>
          </p:nvSpPr>
          <p:spPr bwMode="auto">
            <a:xfrm>
              <a:off x="2499" y="1808"/>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78" name="Line 116">
            <a:extLst>
              <a:ext uri="{FF2B5EF4-FFF2-40B4-BE49-F238E27FC236}">
                <a16:creationId xmlns:a16="http://schemas.microsoft.com/office/drawing/2014/main" id="{6FA3BD14-BE1E-6E4C-9DC4-CD4796F1C8FC}"/>
              </a:ext>
            </a:extLst>
          </p:cNvPr>
          <p:cNvSpPr>
            <a:spLocks noChangeShapeType="1"/>
          </p:cNvSpPr>
          <p:nvPr/>
        </p:nvSpPr>
        <p:spPr bwMode="auto">
          <a:xfrm>
            <a:off x="4240213" y="2474913"/>
            <a:ext cx="16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6479" name="Group 117">
            <a:extLst>
              <a:ext uri="{FF2B5EF4-FFF2-40B4-BE49-F238E27FC236}">
                <a16:creationId xmlns:a16="http://schemas.microsoft.com/office/drawing/2014/main" id="{2D657B23-B9C3-7043-870F-FDED8E2D2A90}"/>
              </a:ext>
            </a:extLst>
          </p:cNvPr>
          <p:cNvGrpSpPr>
            <a:grpSpLocks/>
          </p:cNvGrpSpPr>
          <p:nvPr/>
        </p:nvGrpSpPr>
        <p:grpSpPr bwMode="auto">
          <a:xfrm>
            <a:off x="6391275" y="2212975"/>
            <a:ext cx="769938" cy="542925"/>
            <a:chOff x="4026" y="1787"/>
            <a:chExt cx="485" cy="342"/>
          </a:xfrm>
        </p:grpSpPr>
        <p:sp>
          <p:nvSpPr>
            <p:cNvPr id="146547" name="Freeform 118">
              <a:extLst>
                <a:ext uri="{FF2B5EF4-FFF2-40B4-BE49-F238E27FC236}">
                  <a16:creationId xmlns:a16="http://schemas.microsoft.com/office/drawing/2014/main" id="{396128D2-4AFD-0848-80CF-5ABB7F14B92F}"/>
                </a:ext>
              </a:extLst>
            </p:cNvPr>
            <p:cNvSpPr>
              <a:spLocks/>
            </p:cNvSpPr>
            <p:nvPr/>
          </p:nvSpPr>
          <p:spPr bwMode="auto">
            <a:xfrm>
              <a:off x="405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48" name="Rectangle 119">
              <a:extLst>
                <a:ext uri="{FF2B5EF4-FFF2-40B4-BE49-F238E27FC236}">
                  <a16:creationId xmlns:a16="http://schemas.microsoft.com/office/drawing/2014/main" id="{640DFE95-44E8-4B43-AF4F-F95C7B15C8D2}"/>
                </a:ext>
              </a:extLst>
            </p:cNvPr>
            <p:cNvSpPr>
              <a:spLocks noChangeArrowheads="1"/>
            </p:cNvSpPr>
            <p:nvPr/>
          </p:nvSpPr>
          <p:spPr bwMode="auto">
            <a:xfrm>
              <a:off x="4026"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sp>
        <p:nvSpPr>
          <p:cNvPr id="146480" name="Rectangle 120">
            <a:extLst>
              <a:ext uri="{FF2B5EF4-FFF2-40B4-BE49-F238E27FC236}">
                <a16:creationId xmlns:a16="http://schemas.microsoft.com/office/drawing/2014/main" id="{282B0F10-36A8-F64C-A88A-B75DB7162480}"/>
              </a:ext>
            </a:extLst>
          </p:cNvPr>
          <p:cNvSpPr>
            <a:spLocks noChangeArrowheads="1"/>
          </p:cNvSpPr>
          <p:nvPr/>
        </p:nvSpPr>
        <p:spPr bwMode="auto">
          <a:xfrm>
            <a:off x="3760788" y="2306638"/>
            <a:ext cx="4302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a:ea typeface="宋体" panose="02010600030101010101" pitchFamily="2" charset="-122"/>
              </a:rPr>
              <a:t>Im</a:t>
            </a:r>
          </a:p>
        </p:txBody>
      </p:sp>
      <p:grpSp>
        <p:nvGrpSpPr>
          <p:cNvPr id="146481" name="Group 122">
            <a:extLst>
              <a:ext uri="{FF2B5EF4-FFF2-40B4-BE49-F238E27FC236}">
                <a16:creationId xmlns:a16="http://schemas.microsoft.com/office/drawing/2014/main" id="{E62C2717-5CD6-3A46-B9E7-FE65F72DFEAD}"/>
              </a:ext>
            </a:extLst>
          </p:cNvPr>
          <p:cNvGrpSpPr>
            <a:grpSpLocks/>
          </p:cNvGrpSpPr>
          <p:nvPr/>
        </p:nvGrpSpPr>
        <p:grpSpPr bwMode="auto">
          <a:xfrm>
            <a:off x="5037138" y="2924175"/>
            <a:ext cx="769937" cy="542925"/>
            <a:chOff x="3173" y="2235"/>
            <a:chExt cx="485" cy="342"/>
          </a:xfrm>
        </p:grpSpPr>
        <p:sp>
          <p:nvSpPr>
            <p:cNvPr id="146545" name="Freeform 123">
              <a:extLst>
                <a:ext uri="{FF2B5EF4-FFF2-40B4-BE49-F238E27FC236}">
                  <a16:creationId xmlns:a16="http://schemas.microsoft.com/office/drawing/2014/main" id="{14761FBC-22A8-7645-B664-C3DF0DA37E58}"/>
                </a:ext>
              </a:extLst>
            </p:cNvPr>
            <p:cNvSpPr>
              <a:spLocks/>
            </p:cNvSpPr>
            <p:nvPr/>
          </p:nvSpPr>
          <p:spPr bwMode="auto">
            <a:xfrm>
              <a:off x="319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46" name="Rectangle 124">
              <a:extLst>
                <a:ext uri="{FF2B5EF4-FFF2-40B4-BE49-F238E27FC236}">
                  <a16:creationId xmlns:a16="http://schemas.microsoft.com/office/drawing/2014/main" id="{0B390DC2-188B-CF48-A46D-51D5B87E4DE4}"/>
                </a:ext>
              </a:extLst>
            </p:cNvPr>
            <p:cNvSpPr>
              <a:spLocks noChangeArrowheads="1"/>
            </p:cNvSpPr>
            <p:nvPr/>
          </p:nvSpPr>
          <p:spPr bwMode="auto">
            <a:xfrm>
              <a:off x="3173" y="2305"/>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482" name="Group 125">
            <a:extLst>
              <a:ext uri="{FF2B5EF4-FFF2-40B4-BE49-F238E27FC236}">
                <a16:creationId xmlns:a16="http://schemas.microsoft.com/office/drawing/2014/main" id="{0E4FAFD2-A584-3841-AD74-1C7698ED6FB0}"/>
              </a:ext>
            </a:extLst>
          </p:cNvPr>
          <p:cNvGrpSpPr>
            <a:grpSpLocks/>
          </p:cNvGrpSpPr>
          <p:nvPr/>
        </p:nvGrpSpPr>
        <p:grpSpPr bwMode="auto">
          <a:xfrm>
            <a:off x="5730875" y="2924175"/>
            <a:ext cx="769938" cy="542925"/>
            <a:chOff x="3610" y="2235"/>
            <a:chExt cx="485" cy="342"/>
          </a:xfrm>
        </p:grpSpPr>
        <p:sp>
          <p:nvSpPr>
            <p:cNvPr id="146543" name="Freeform 126">
              <a:extLst>
                <a:ext uri="{FF2B5EF4-FFF2-40B4-BE49-F238E27FC236}">
                  <a16:creationId xmlns:a16="http://schemas.microsoft.com/office/drawing/2014/main" id="{5A9D67AC-9C2B-2148-91D5-1B6BC35A8BF1}"/>
                </a:ext>
              </a:extLst>
            </p:cNvPr>
            <p:cNvSpPr>
              <a:spLocks/>
            </p:cNvSpPr>
            <p:nvPr/>
          </p:nvSpPr>
          <p:spPr bwMode="auto">
            <a:xfrm>
              <a:off x="3636"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44" name="Rectangle 127">
              <a:extLst>
                <a:ext uri="{FF2B5EF4-FFF2-40B4-BE49-F238E27FC236}">
                  <a16:creationId xmlns:a16="http://schemas.microsoft.com/office/drawing/2014/main" id="{AD9970D6-0161-B24F-8BAC-FB3FEE86B827}"/>
                </a:ext>
              </a:extLst>
            </p:cNvPr>
            <p:cNvSpPr>
              <a:spLocks noChangeArrowheads="1"/>
            </p:cNvSpPr>
            <p:nvPr/>
          </p:nvSpPr>
          <p:spPr bwMode="auto">
            <a:xfrm>
              <a:off x="3610" y="2305"/>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483" name="Group 128">
            <a:extLst>
              <a:ext uri="{FF2B5EF4-FFF2-40B4-BE49-F238E27FC236}">
                <a16:creationId xmlns:a16="http://schemas.microsoft.com/office/drawing/2014/main" id="{C5E4C59B-6902-9440-AD91-23C242737B15}"/>
              </a:ext>
            </a:extLst>
          </p:cNvPr>
          <p:cNvGrpSpPr>
            <a:grpSpLocks/>
          </p:cNvGrpSpPr>
          <p:nvPr/>
        </p:nvGrpSpPr>
        <p:grpSpPr bwMode="auto">
          <a:xfrm>
            <a:off x="6424613" y="2924175"/>
            <a:ext cx="769937" cy="542925"/>
            <a:chOff x="4047" y="2235"/>
            <a:chExt cx="485" cy="342"/>
          </a:xfrm>
        </p:grpSpPr>
        <p:sp>
          <p:nvSpPr>
            <p:cNvPr id="146541" name="Freeform 129">
              <a:extLst>
                <a:ext uri="{FF2B5EF4-FFF2-40B4-BE49-F238E27FC236}">
                  <a16:creationId xmlns:a16="http://schemas.microsoft.com/office/drawing/2014/main" id="{FCEE2C33-B087-2741-908A-C9C360AAAD17}"/>
                </a:ext>
              </a:extLst>
            </p:cNvPr>
            <p:cNvSpPr>
              <a:spLocks/>
            </p:cNvSpPr>
            <p:nvPr/>
          </p:nvSpPr>
          <p:spPr bwMode="auto">
            <a:xfrm>
              <a:off x="4073"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42" name="Rectangle 130">
              <a:extLst>
                <a:ext uri="{FF2B5EF4-FFF2-40B4-BE49-F238E27FC236}">
                  <a16:creationId xmlns:a16="http://schemas.microsoft.com/office/drawing/2014/main" id="{913D1F9E-3279-EC4E-A9F9-CDD8861F947E}"/>
                </a:ext>
              </a:extLst>
            </p:cNvPr>
            <p:cNvSpPr>
              <a:spLocks noChangeArrowheads="1"/>
            </p:cNvSpPr>
            <p:nvPr/>
          </p:nvSpPr>
          <p:spPr bwMode="auto">
            <a:xfrm>
              <a:off x="4047" y="2305"/>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484" name="Group 131">
            <a:extLst>
              <a:ext uri="{FF2B5EF4-FFF2-40B4-BE49-F238E27FC236}">
                <a16:creationId xmlns:a16="http://schemas.microsoft.com/office/drawing/2014/main" id="{76FC6166-2632-014F-A7E6-C1D7B0839EBA}"/>
              </a:ext>
            </a:extLst>
          </p:cNvPr>
          <p:cNvGrpSpPr>
            <a:grpSpLocks/>
          </p:cNvGrpSpPr>
          <p:nvPr/>
        </p:nvGrpSpPr>
        <p:grpSpPr bwMode="auto">
          <a:xfrm>
            <a:off x="4392613" y="2957513"/>
            <a:ext cx="539750" cy="458787"/>
            <a:chOff x="2767" y="2256"/>
            <a:chExt cx="340" cy="289"/>
          </a:xfrm>
        </p:grpSpPr>
        <p:sp>
          <p:nvSpPr>
            <p:cNvPr id="146539" name="Freeform 132">
              <a:extLst>
                <a:ext uri="{FF2B5EF4-FFF2-40B4-BE49-F238E27FC236}">
                  <a16:creationId xmlns:a16="http://schemas.microsoft.com/office/drawing/2014/main" id="{08744E66-EA6F-4D41-8DD1-C834C85F4F7C}"/>
                </a:ext>
              </a:extLst>
            </p:cNvPr>
            <p:cNvSpPr>
              <a:spLocks/>
            </p:cNvSpPr>
            <p:nvPr/>
          </p:nvSpPr>
          <p:spPr bwMode="auto">
            <a:xfrm>
              <a:off x="2767" y="225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40" name="Freeform 133">
              <a:extLst>
                <a:ext uri="{FF2B5EF4-FFF2-40B4-BE49-F238E27FC236}">
                  <a16:creationId xmlns:a16="http://schemas.microsoft.com/office/drawing/2014/main" id="{F2F50485-958E-AD4A-9507-4B0E647E2B01}"/>
                </a:ext>
              </a:extLst>
            </p:cNvPr>
            <p:cNvSpPr>
              <a:spLocks/>
            </p:cNvSpPr>
            <p:nvPr/>
          </p:nvSpPr>
          <p:spPr bwMode="auto">
            <a:xfrm>
              <a:off x="2936" y="225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85" name="Line 134">
            <a:extLst>
              <a:ext uri="{FF2B5EF4-FFF2-40B4-BE49-F238E27FC236}">
                <a16:creationId xmlns:a16="http://schemas.microsoft.com/office/drawing/2014/main" id="{E5183531-F1AC-304B-B7CE-01C7E915C5F3}"/>
              </a:ext>
            </a:extLst>
          </p:cNvPr>
          <p:cNvSpPr>
            <a:spLocks noChangeShapeType="1"/>
          </p:cNvSpPr>
          <p:nvPr/>
        </p:nvSpPr>
        <p:spPr bwMode="auto">
          <a:xfrm>
            <a:off x="4933950" y="3186113"/>
            <a:ext cx="16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6486" name="Group 135">
            <a:extLst>
              <a:ext uri="{FF2B5EF4-FFF2-40B4-BE49-F238E27FC236}">
                <a16:creationId xmlns:a16="http://schemas.microsoft.com/office/drawing/2014/main" id="{B424F436-4997-7844-9FA1-1C650A4836BF}"/>
              </a:ext>
            </a:extLst>
          </p:cNvPr>
          <p:cNvGrpSpPr>
            <a:grpSpLocks/>
          </p:cNvGrpSpPr>
          <p:nvPr/>
        </p:nvGrpSpPr>
        <p:grpSpPr bwMode="auto">
          <a:xfrm>
            <a:off x="7085013" y="2924175"/>
            <a:ext cx="769937" cy="542925"/>
            <a:chOff x="4463" y="2235"/>
            <a:chExt cx="485" cy="342"/>
          </a:xfrm>
        </p:grpSpPr>
        <p:sp>
          <p:nvSpPr>
            <p:cNvPr id="146537" name="Freeform 136">
              <a:extLst>
                <a:ext uri="{FF2B5EF4-FFF2-40B4-BE49-F238E27FC236}">
                  <a16:creationId xmlns:a16="http://schemas.microsoft.com/office/drawing/2014/main" id="{DBBB9D33-AE03-1D42-8B49-E5241C03BA24}"/>
                </a:ext>
              </a:extLst>
            </p:cNvPr>
            <p:cNvSpPr>
              <a:spLocks/>
            </p:cNvSpPr>
            <p:nvPr/>
          </p:nvSpPr>
          <p:spPr bwMode="auto">
            <a:xfrm>
              <a:off x="448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38" name="Rectangle 137">
              <a:extLst>
                <a:ext uri="{FF2B5EF4-FFF2-40B4-BE49-F238E27FC236}">
                  <a16:creationId xmlns:a16="http://schemas.microsoft.com/office/drawing/2014/main" id="{2890262A-E126-AB4F-878D-0D610CDFB7D4}"/>
                </a:ext>
              </a:extLst>
            </p:cNvPr>
            <p:cNvSpPr>
              <a:spLocks noChangeArrowheads="1"/>
            </p:cNvSpPr>
            <p:nvPr/>
          </p:nvSpPr>
          <p:spPr bwMode="auto">
            <a:xfrm>
              <a:off x="4463" y="2305"/>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sp>
        <p:nvSpPr>
          <p:cNvPr id="146487" name="Rectangle 138">
            <a:extLst>
              <a:ext uri="{FF2B5EF4-FFF2-40B4-BE49-F238E27FC236}">
                <a16:creationId xmlns:a16="http://schemas.microsoft.com/office/drawing/2014/main" id="{C7D54A6B-EC12-AF44-8F37-0B4DBC26A566}"/>
              </a:ext>
            </a:extLst>
          </p:cNvPr>
          <p:cNvSpPr>
            <a:spLocks noChangeArrowheads="1"/>
          </p:cNvSpPr>
          <p:nvPr/>
        </p:nvSpPr>
        <p:spPr bwMode="auto">
          <a:xfrm>
            <a:off x="4454525" y="3017838"/>
            <a:ext cx="430213"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a:ea typeface="宋体" panose="02010600030101010101" pitchFamily="2" charset="-122"/>
              </a:rPr>
              <a:t>Im</a:t>
            </a:r>
          </a:p>
        </p:txBody>
      </p:sp>
      <p:grpSp>
        <p:nvGrpSpPr>
          <p:cNvPr id="146488" name="Group 149">
            <a:extLst>
              <a:ext uri="{FF2B5EF4-FFF2-40B4-BE49-F238E27FC236}">
                <a16:creationId xmlns:a16="http://schemas.microsoft.com/office/drawing/2014/main" id="{C77988C6-CAF9-DD44-B7A1-05E0A002AD3D}"/>
              </a:ext>
            </a:extLst>
          </p:cNvPr>
          <p:cNvGrpSpPr>
            <a:grpSpLocks/>
          </p:cNvGrpSpPr>
          <p:nvPr/>
        </p:nvGrpSpPr>
        <p:grpSpPr bwMode="auto">
          <a:xfrm>
            <a:off x="5102225" y="3551238"/>
            <a:ext cx="539750" cy="458787"/>
            <a:chOff x="3214" y="2630"/>
            <a:chExt cx="340" cy="289"/>
          </a:xfrm>
        </p:grpSpPr>
        <p:sp>
          <p:nvSpPr>
            <p:cNvPr id="146535" name="Freeform 150">
              <a:extLst>
                <a:ext uri="{FF2B5EF4-FFF2-40B4-BE49-F238E27FC236}">
                  <a16:creationId xmlns:a16="http://schemas.microsoft.com/office/drawing/2014/main" id="{148DA4D9-FE4C-9946-B956-068BA5978792}"/>
                </a:ext>
              </a:extLst>
            </p:cNvPr>
            <p:cNvSpPr>
              <a:spLocks/>
            </p:cNvSpPr>
            <p:nvPr/>
          </p:nvSpPr>
          <p:spPr bwMode="auto">
            <a:xfrm>
              <a:off x="3214" y="2630"/>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89">
                  <a:moveTo>
                    <a:pt x="169" y="0"/>
                  </a:moveTo>
                  <a:lnTo>
                    <a:pt x="0" y="0"/>
                  </a:lnTo>
                  <a:lnTo>
                    <a:pt x="0" y="288"/>
                  </a:lnTo>
                  <a:lnTo>
                    <a:pt x="169"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36" name="Freeform 151">
              <a:extLst>
                <a:ext uri="{FF2B5EF4-FFF2-40B4-BE49-F238E27FC236}">
                  <a16:creationId xmlns:a16="http://schemas.microsoft.com/office/drawing/2014/main" id="{A8D1F78D-08B6-7540-9F00-AF1DE4150064}"/>
                </a:ext>
              </a:extLst>
            </p:cNvPr>
            <p:cNvSpPr>
              <a:spLocks/>
            </p:cNvSpPr>
            <p:nvPr/>
          </p:nvSpPr>
          <p:spPr bwMode="auto">
            <a:xfrm>
              <a:off x="3383" y="2630"/>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289">
                  <a:moveTo>
                    <a:pt x="0" y="0"/>
                  </a:moveTo>
                  <a:lnTo>
                    <a:pt x="170" y="0"/>
                  </a:lnTo>
                  <a:lnTo>
                    <a:pt x="170"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89" name="Line 152">
            <a:extLst>
              <a:ext uri="{FF2B5EF4-FFF2-40B4-BE49-F238E27FC236}">
                <a16:creationId xmlns:a16="http://schemas.microsoft.com/office/drawing/2014/main" id="{DC879403-C95F-1E4F-9E16-3C0B889950A2}"/>
              </a:ext>
            </a:extLst>
          </p:cNvPr>
          <p:cNvSpPr>
            <a:spLocks noChangeShapeType="1"/>
          </p:cNvSpPr>
          <p:nvPr/>
        </p:nvSpPr>
        <p:spPr bwMode="auto">
          <a:xfrm>
            <a:off x="5643563" y="3779838"/>
            <a:ext cx="16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90" name="Rectangle 156">
            <a:extLst>
              <a:ext uri="{FF2B5EF4-FFF2-40B4-BE49-F238E27FC236}">
                <a16:creationId xmlns:a16="http://schemas.microsoft.com/office/drawing/2014/main" id="{281245B9-FB3F-5D43-9157-075350573EBB}"/>
              </a:ext>
            </a:extLst>
          </p:cNvPr>
          <p:cNvSpPr>
            <a:spLocks noChangeArrowheads="1"/>
          </p:cNvSpPr>
          <p:nvPr/>
        </p:nvSpPr>
        <p:spPr bwMode="auto">
          <a:xfrm>
            <a:off x="5164138" y="3611563"/>
            <a:ext cx="4302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tLang="zh-CN">
                <a:ea typeface="宋体" panose="02010600030101010101" pitchFamily="2" charset="-122"/>
              </a:rPr>
              <a:t>Im</a:t>
            </a:r>
          </a:p>
        </p:txBody>
      </p:sp>
      <p:sp>
        <p:nvSpPr>
          <p:cNvPr id="375965" name="Line 157">
            <a:extLst>
              <a:ext uri="{FF2B5EF4-FFF2-40B4-BE49-F238E27FC236}">
                <a16:creationId xmlns:a16="http://schemas.microsoft.com/office/drawing/2014/main" id="{0CFECA07-C08E-364E-8193-BAA08D49DC4D}"/>
              </a:ext>
            </a:extLst>
          </p:cNvPr>
          <p:cNvSpPr>
            <a:spLocks noChangeShapeType="1"/>
          </p:cNvSpPr>
          <p:nvPr/>
        </p:nvSpPr>
        <p:spPr bwMode="auto">
          <a:xfrm>
            <a:off x="4505325" y="904875"/>
            <a:ext cx="419100" cy="962025"/>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492" name="Group 164">
            <a:extLst>
              <a:ext uri="{FF2B5EF4-FFF2-40B4-BE49-F238E27FC236}">
                <a16:creationId xmlns:a16="http://schemas.microsoft.com/office/drawing/2014/main" id="{ED2615D1-920C-9945-865B-D9AF895D8D21}"/>
              </a:ext>
            </a:extLst>
          </p:cNvPr>
          <p:cNvGrpSpPr>
            <a:grpSpLocks/>
          </p:cNvGrpSpPr>
          <p:nvPr/>
        </p:nvGrpSpPr>
        <p:grpSpPr bwMode="auto">
          <a:xfrm>
            <a:off x="4276725" y="2238375"/>
            <a:ext cx="684213" cy="458788"/>
            <a:chOff x="2276" y="1262"/>
            <a:chExt cx="431" cy="289"/>
          </a:xfrm>
        </p:grpSpPr>
        <p:sp>
          <p:nvSpPr>
            <p:cNvPr id="146530" name="Rectangle 165">
              <a:extLst>
                <a:ext uri="{FF2B5EF4-FFF2-40B4-BE49-F238E27FC236}">
                  <a16:creationId xmlns:a16="http://schemas.microsoft.com/office/drawing/2014/main" id="{264B76F9-64BD-7445-B73C-774B597CC5B4}"/>
                </a:ext>
              </a:extLst>
            </p:cNvPr>
            <p:cNvSpPr>
              <a:spLocks noChangeArrowheads="1"/>
            </p:cNvSpPr>
            <p:nvPr/>
          </p:nvSpPr>
          <p:spPr bwMode="auto">
            <a:xfrm>
              <a:off x="2380" y="1273"/>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sp>
          <p:nvSpPr>
            <p:cNvPr id="146531" name="Freeform 166">
              <a:extLst>
                <a:ext uri="{FF2B5EF4-FFF2-40B4-BE49-F238E27FC236}">
                  <a16:creationId xmlns:a16="http://schemas.microsoft.com/office/drawing/2014/main" id="{C34C1334-9C67-A84B-B80F-0CD2C05DFDA6}"/>
                </a:ext>
              </a:extLst>
            </p:cNvPr>
            <p:cNvSpPr>
              <a:spLocks/>
            </p:cNvSpPr>
            <p:nvPr/>
          </p:nvSpPr>
          <p:spPr bwMode="auto">
            <a:xfrm>
              <a:off x="2395" y="126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32" name="Freeform 167">
              <a:extLst>
                <a:ext uri="{FF2B5EF4-FFF2-40B4-BE49-F238E27FC236}">
                  <a16:creationId xmlns:a16="http://schemas.microsoft.com/office/drawing/2014/main" id="{1F1C3361-ADAB-BB4C-BE13-3F2DE35E70D4}"/>
                </a:ext>
              </a:extLst>
            </p:cNvPr>
            <p:cNvSpPr>
              <a:spLocks/>
            </p:cNvSpPr>
            <p:nvPr/>
          </p:nvSpPr>
          <p:spPr bwMode="auto">
            <a:xfrm>
              <a:off x="2543" y="126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33" name="Line 168">
              <a:extLst>
                <a:ext uri="{FF2B5EF4-FFF2-40B4-BE49-F238E27FC236}">
                  <a16:creationId xmlns:a16="http://schemas.microsoft.com/office/drawing/2014/main" id="{963A7600-0265-AD4B-8FCC-B114204DBDFE}"/>
                </a:ext>
              </a:extLst>
            </p:cNvPr>
            <p:cNvSpPr>
              <a:spLocks noChangeShapeType="1"/>
            </p:cNvSpPr>
            <p:nvPr/>
          </p:nvSpPr>
          <p:spPr bwMode="auto">
            <a:xfrm>
              <a:off x="2276" y="1406"/>
              <a:ext cx="1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34" name="Freeform 169">
              <a:extLst>
                <a:ext uri="{FF2B5EF4-FFF2-40B4-BE49-F238E27FC236}">
                  <a16:creationId xmlns:a16="http://schemas.microsoft.com/office/drawing/2014/main" id="{134C68D1-4DD0-CA4D-AD8F-3CB1DE92DE9D}"/>
                </a:ext>
              </a:extLst>
            </p:cNvPr>
            <p:cNvSpPr>
              <a:spLocks/>
            </p:cNvSpPr>
            <p:nvPr/>
          </p:nvSpPr>
          <p:spPr bwMode="auto">
            <a:xfrm>
              <a:off x="2342" y="1310"/>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5980" name="Group 172">
            <a:extLst>
              <a:ext uri="{FF2B5EF4-FFF2-40B4-BE49-F238E27FC236}">
                <a16:creationId xmlns:a16="http://schemas.microsoft.com/office/drawing/2014/main" id="{91CE2790-FB7E-E349-9E53-279ADDC2697E}"/>
              </a:ext>
            </a:extLst>
          </p:cNvPr>
          <p:cNvGrpSpPr>
            <a:grpSpLocks/>
          </p:cNvGrpSpPr>
          <p:nvPr/>
        </p:nvGrpSpPr>
        <p:grpSpPr bwMode="auto">
          <a:xfrm>
            <a:off x="3238500" y="2162175"/>
            <a:ext cx="1800225" cy="1416050"/>
            <a:chOff x="2040" y="1842"/>
            <a:chExt cx="1134" cy="892"/>
          </a:xfrm>
        </p:grpSpPr>
        <p:sp>
          <p:nvSpPr>
            <p:cNvPr id="146528" name="Text Box 170">
              <a:extLst>
                <a:ext uri="{FF2B5EF4-FFF2-40B4-BE49-F238E27FC236}">
                  <a16:creationId xmlns:a16="http://schemas.microsoft.com/office/drawing/2014/main" id="{81CBFD1E-D6F1-FD42-B73B-0DB89C8B31A2}"/>
                </a:ext>
              </a:extLst>
            </p:cNvPr>
            <p:cNvSpPr txBox="1">
              <a:spLocks noChangeArrowheads="1"/>
            </p:cNvSpPr>
            <p:nvPr/>
          </p:nvSpPr>
          <p:spPr bwMode="auto">
            <a:xfrm>
              <a:off x="2040" y="2484"/>
              <a:ext cx="6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2000">
                  <a:solidFill>
                    <a:srgbClr val="008000"/>
                  </a:solidFill>
                  <a:ea typeface="黑体" panose="02010609060101010101" pitchFamily="49" charset="-122"/>
                </a:rPr>
                <a:t>阻塞点</a:t>
              </a:r>
            </a:p>
          </p:txBody>
        </p:sp>
        <p:sp>
          <p:nvSpPr>
            <p:cNvPr id="146529" name="Line 171">
              <a:extLst>
                <a:ext uri="{FF2B5EF4-FFF2-40B4-BE49-F238E27FC236}">
                  <a16:creationId xmlns:a16="http://schemas.microsoft.com/office/drawing/2014/main" id="{365859E5-6B01-0144-8854-224A80EC679E}"/>
                </a:ext>
              </a:extLst>
            </p:cNvPr>
            <p:cNvSpPr>
              <a:spLocks noChangeShapeType="1"/>
            </p:cNvSpPr>
            <p:nvPr/>
          </p:nvSpPr>
          <p:spPr bwMode="auto">
            <a:xfrm flipV="1">
              <a:off x="2538" y="1842"/>
              <a:ext cx="636" cy="774"/>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494" name="Group 173">
            <a:extLst>
              <a:ext uri="{FF2B5EF4-FFF2-40B4-BE49-F238E27FC236}">
                <a16:creationId xmlns:a16="http://schemas.microsoft.com/office/drawing/2014/main" id="{8F2CE5A9-8DF9-D041-A0B7-22F40CC5788E}"/>
              </a:ext>
            </a:extLst>
          </p:cNvPr>
          <p:cNvGrpSpPr>
            <a:grpSpLocks/>
          </p:cNvGrpSpPr>
          <p:nvPr/>
        </p:nvGrpSpPr>
        <p:grpSpPr bwMode="auto">
          <a:xfrm>
            <a:off x="5664200" y="3540125"/>
            <a:ext cx="684213" cy="458788"/>
            <a:chOff x="2276" y="1262"/>
            <a:chExt cx="431" cy="289"/>
          </a:xfrm>
        </p:grpSpPr>
        <p:sp>
          <p:nvSpPr>
            <p:cNvPr id="146523" name="Rectangle 174">
              <a:extLst>
                <a:ext uri="{FF2B5EF4-FFF2-40B4-BE49-F238E27FC236}">
                  <a16:creationId xmlns:a16="http://schemas.microsoft.com/office/drawing/2014/main" id="{0A57928E-011C-1F47-8FA8-72082D358819}"/>
                </a:ext>
              </a:extLst>
            </p:cNvPr>
            <p:cNvSpPr>
              <a:spLocks noChangeArrowheads="1"/>
            </p:cNvSpPr>
            <p:nvPr/>
          </p:nvSpPr>
          <p:spPr bwMode="auto">
            <a:xfrm>
              <a:off x="2380" y="1273"/>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sp>
          <p:nvSpPr>
            <p:cNvPr id="146524" name="Freeform 175">
              <a:extLst>
                <a:ext uri="{FF2B5EF4-FFF2-40B4-BE49-F238E27FC236}">
                  <a16:creationId xmlns:a16="http://schemas.microsoft.com/office/drawing/2014/main" id="{FD3FF1A3-649D-C14F-93D7-050B9BB453D6}"/>
                </a:ext>
              </a:extLst>
            </p:cNvPr>
            <p:cNvSpPr>
              <a:spLocks/>
            </p:cNvSpPr>
            <p:nvPr/>
          </p:nvSpPr>
          <p:spPr bwMode="auto">
            <a:xfrm>
              <a:off x="2395" y="126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289">
                  <a:moveTo>
                    <a:pt x="148" y="0"/>
                  </a:moveTo>
                  <a:lnTo>
                    <a:pt x="0" y="0"/>
                  </a:lnTo>
                  <a:lnTo>
                    <a:pt x="0" y="288"/>
                  </a:lnTo>
                  <a:lnTo>
                    <a:pt x="148"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25" name="Freeform 176">
              <a:extLst>
                <a:ext uri="{FF2B5EF4-FFF2-40B4-BE49-F238E27FC236}">
                  <a16:creationId xmlns:a16="http://schemas.microsoft.com/office/drawing/2014/main" id="{0210AABA-3FE8-934B-B86C-FBCE1536F38E}"/>
                </a:ext>
              </a:extLst>
            </p:cNvPr>
            <p:cNvSpPr>
              <a:spLocks/>
            </p:cNvSpPr>
            <p:nvPr/>
          </p:nvSpPr>
          <p:spPr bwMode="auto">
            <a:xfrm>
              <a:off x="2543" y="126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 h="289">
                  <a:moveTo>
                    <a:pt x="0" y="0"/>
                  </a:moveTo>
                  <a:lnTo>
                    <a:pt x="147" y="0"/>
                  </a:lnTo>
                  <a:lnTo>
                    <a:pt x="147"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26" name="Line 177">
              <a:extLst>
                <a:ext uri="{FF2B5EF4-FFF2-40B4-BE49-F238E27FC236}">
                  <a16:creationId xmlns:a16="http://schemas.microsoft.com/office/drawing/2014/main" id="{D50955B5-9F29-F144-9AA9-067E62807806}"/>
                </a:ext>
              </a:extLst>
            </p:cNvPr>
            <p:cNvSpPr>
              <a:spLocks noChangeShapeType="1"/>
            </p:cNvSpPr>
            <p:nvPr/>
          </p:nvSpPr>
          <p:spPr bwMode="auto">
            <a:xfrm>
              <a:off x="2276" y="1406"/>
              <a:ext cx="1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27" name="Freeform 178">
              <a:extLst>
                <a:ext uri="{FF2B5EF4-FFF2-40B4-BE49-F238E27FC236}">
                  <a16:creationId xmlns:a16="http://schemas.microsoft.com/office/drawing/2014/main" id="{84CF47CD-BAC3-2E40-8D66-267BC5964D21}"/>
                </a:ext>
              </a:extLst>
            </p:cNvPr>
            <p:cNvSpPr>
              <a:spLocks/>
            </p:cNvSpPr>
            <p:nvPr/>
          </p:nvSpPr>
          <p:spPr bwMode="auto">
            <a:xfrm>
              <a:off x="2342" y="1310"/>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97">
                  <a:moveTo>
                    <a:pt x="0" y="96"/>
                  </a:moveTo>
                  <a:lnTo>
                    <a:pt x="0" y="0"/>
                  </a:lnTo>
                  <a:lnTo>
                    <a:pt x="47"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495" name="Group 180">
            <a:extLst>
              <a:ext uri="{FF2B5EF4-FFF2-40B4-BE49-F238E27FC236}">
                <a16:creationId xmlns:a16="http://schemas.microsoft.com/office/drawing/2014/main" id="{CF153C1B-CBF4-BE42-890E-B0D977B37658}"/>
              </a:ext>
            </a:extLst>
          </p:cNvPr>
          <p:cNvGrpSpPr>
            <a:grpSpLocks/>
          </p:cNvGrpSpPr>
          <p:nvPr/>
        </p:nvGrpSpPr>
        <p:grpSpPr bwMode="auto">
          <a:xfrm>
            <a:off x="6343650" y="3359150"/>
            <a:ext cx="714375" cy="814388"/>
            <a:chOff x="4400" y="2958"/>
            <a:chExt cx="450" cy="513"/>
          </a:xfrm>
        </p:grpSpPr>
        <p:grpSp>
          <p:nvGrpSpPr>
            <p:cNvPr id="146517" name="Group 181">
              <a:extLst>
                <a:ext uri="{FF2B5EF4-FFF2-40B4-BE49-F238E27FC236}">
                  <a16:creationId xmlns:a16="http://schemas.microsoft.com/office/drawing/2014/main" id="{BC83E852-08FC-C94F-BC55-95939011FF2C}"/>
                </a:ext>
              </a:extLst>
            </p:cNvPr>
            <p:cNvGrpSpPr>
              <a:grpSpLocks/>
            </p:cNvGrpSpPr>
            <p:nvPr/>
          </p:nvGrpSpPr>
          <p:grpSpPr bwMode="auto">
            <a:xfrm>
              <a:off x="4560" y="2958"/>
              <a:ext cx="222" cy="481"/>
              <a:chOff x="4560" y="3045"/>
              <a:chExt cx="222" cy="481"/>
            </a:xfrm>
          </p:grpSpPr>
          <p:sp>
            <p:nvSpPr>
              <p:cNvPr id="146521" name="Freeform 182">
                <a:extLst>
                  <a:ext uri="{FF2B5EF4-FFF2-40B4-BE49-F238E27FC236}">
                    <a16:creationId xmlns:a16="http://schemas.microsoft.com/office/drawing/2014/main" id="{A63C1DC6-CA8E-174B-AE33-EDD6FBD06A71}"/>
                  </a:ext>
                </a:extLst>
              </p:cNvPr>
              <p:cNvSpPr>
                <a:spLocks/>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22" name="Rectangle 183">
                <a:extLst>
                  <a:ext uri="{FF2B5EF4-FFF2-40B4-BE49-F238E27FC236}">
                    <a16:creationId xmlns:a16="http://schemas.microsoft.com/office/drawing/2014/main" id="{B6F7EB0E-9C3A-2945-A7A7-00C67EBC8047}"/>
                  </a:ext>
                </a:extLst>
              </p:cNvPr>
              <p:cNvSpPr>
                <a:spLocks noChangeArrowheads="1"/>
              </p:cNvSpPr>
              <p:nvPr/>
            </p:nvSpPr>
            <p:spPr bwMode="auto">
              <a:xfrm rot="5400000">
                <a:off x="4473" y="3168"/>
                <a:ext cx="38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ALU</a:t>
                </a:r>
              </a:p>
            </p:txBody>
          </p:sp>
        </p:grpSp>
        <p:sp>
          <p:nvSpPr>
            <p:cNvPr id="146518" name="Line 184">
              <a:extLst>
                <a:ext uri="{FF2B5EF4-FFF2-40B4-BE49-F238E27FC236}">
                  <a16:creationId xmlns:a16="http://schemas.microsoft.com/office/drawing/2014/main" id="{457DD750-541E-8245-9866-BC46471037B2}"/>
                </a:ext>
              </a:extLst>
            </p:cNvPr>
            <p:cNvSpPr>
              <a:spLocks noChangeShapeType="1"/>
            </p:cNvSpPr>
            <p:nvPr/>
          </p:nvSpPr>
          <p:spPr bwMode="auto">
            <a:xfrm>
              <a:off x="4400" y="3102"/>
              <a:ext cx="16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19" name="Line 185">
              <a:extLst>
                <a:ext uri="{FF2B5EF4-FFF2-40B4-BE49-F238E27FC236}">
                  <a16:creationId xmlns:a16="http://schemas.microsoft.com/office/drawing/2014/main" id="{75121975-70C3-0345-9B56-43836770757F}"/>
                </a:ext>
              </a:extLst>
            </p:cNvPr>
            <p:cNvSpPr>
              <a:spLocks noChangeShapeType="1"/>
            </p:cNvSpPr>
            <p:nvPr/>
          </p:nvSpPr>
          <p:spPr bwMode="auto">
            <a:xfrm>
              <a:off x="4400" y="3294"/>
              <a:ext cx="16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520" name="Freeform 186">
              <a:extLst>
                <a:ext uri="{FF2B5EF4-FFF2-40B4-BE49-F238E27FC236}">
                  <a16:creationId xmlns:a16="http://schemas.microsoft.com/office/drawing/2014/main" id="{A09FFCC0-F9D5-0947-B125-3F848305A406}"/>
                </a:ext>
              </a:extLst>
            </p:cNvPr>
            <p:cNvSpPr>
              <a:spLocks/>
            </p:cNvSpPr>
            <p:nvPr/>
          </p:nvSpPr>
          <p:spPr bwMode="auto">
            <a:xfrm>
              <a:off x="4513" y="3193"/>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7" h="278">
                  <a:moveTo>
                    <a:pt x="0" y="101"/>
                  </a:moveTo>
                  <a:lnTo>
                    <a:pt x="0" y="277"/>
                  </a:lnTo>
                  <a:lnTo>
                    <a:pt x="294" y="277"/>
                  </a:lnTo>
                  <a:lnTo>
                    <a:pt x="294" y="90"/>
                  </a:lnTo>
                  <a:lnTo>
                    <a:pt x="336"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496" name="Group 188">
            <a:extLst>
              <a:ext uri="{FF2B5EF4-FFF2-40B4-BE49-F238E27FC236}">
                <a16:creationId xmlns:a16="http://schemas.microsoft.com/office/drawing/2014/main" id="{C7AFC6D4-92F3-ED4A-B302-E9E32C84991B}"/>
              </a:ext>
            </a:extLst>
          </p:cNvPr>
          <p:cNvGrpSpPr>
            <a:grpSpLocks/>
          </p:cNvGrpSpPr>
          <p:nvPr/>
        </p:nvGrpSpPr>
        <p:grpSpPr bwMode="auto">
          <a:xfrm>
            <a:off x="7097713" y="3492500"/>
            <a:ext cx="590550" cy="458788"/>
            <a:chOff x="4905" y="3054"/>
            <a:chExt cx="372" cy="289"/>
          </a:xfrm>
        </p:grpSpPr>
        <p:sp>
          <p:nvSpPr>
            <p:cNvPr id="146513" name="Rectangle 189">
              <a:extLst>
                <a:ext uri="{FF2B5EF4-FFF2-40B4-BE49-F238E27FC236}">
                  <a16:creationId xmlns:a16="http://schemas.microsoft.com/office/drawing/2014/main" id="{06DD7E68-B921-244D-BE6F-316C5D3D929B}"/>
                </a:ext>
              </a:extLst>
            </p:cNvPr>
            <p:cNvSpPr>
              <a:spLocks noChangeArrowheads="1"/>
            </p:cNvSpPr>
            <p:nvPr/>
          </p:nvSpPr>
          <p:spPr bwMode="auto">
            <a:xfrm>
              <a:off x="4905" y="3060"/>
              <a:ext cx="31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Dm</a:t>
              </a:r>
            </a:p>
          </p:txBody>
        </p:sp>
        <p:grpSp>
          <p:nvGrpSpPr>
            <p:cNvPr id="146514" name="Group 190">
              <a:extLst>
                <a:ext uri="{FF2B5EF4-FFF2-40B4-BE49-F238E27FC236}">
                  <a16:creationId xmlns:a16="http://schemas.microsoft.com/office/drawing/2014/main" id="{39529D13-BDFA-DA44-8460-CA432B0A1807}"/>
                </a:ext>
              </a:extLst>
            </p:cNvPr>
            <p:cNvGrpSpPr>
              <a:grpSpLocks/>
            </p:cNvGrpSpPr>
            <p:nvPr/>
          </p:nvGrpSpPr>
          <p:grpSpPr bwMode="auto">
            <a:xfrm>
              <a:off x="4952" y="3054"/>
              <a:ext cx="325" cy="289"/>
              <a:chOff x="4952" y="3141"/>
              <a:chExt cx="325" cy="289"/>
            </a:xfrm>
          </p:grpSpPr>
          <p:sp>
            <p:nvSpPr>
              <p:cNvPr id="146515" name="Freeform 191">
                <a:extLst>
                  <a:ext uri="{FF2B5EF4-FFF2-40B4-BE49-F238E27FC236}">
                    <a16:creationId xmlns:a16="http://schemas.microsoft.com/office/drawing/2014/main" id="{80FBA34B-903F-EF49-80F2-000F48ACDD90}"/>
                  </a:ext>
                </a:extLst>
              </p:cNvPr>
              <p:cNvSpPr>
                <a:spLocks/>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289">
                    <a:moveTo>
                      <a:pt x="161" y="0"/>
                    </a:moveTo>
                    <a:lnTo>
                      <a:pt x="0" y="0"/>
                    </a:lnTo>
                    <a:lnTo>
                      <a:pt x="0" y="288"/>
                    </a:lnTo>
                    <a:lnTo>
                      <a:pt x="161"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16" name="Freeform 192">
                <a:extLst>
                  <a:ext uri="{FF2B5EF4-FFF2-40B4-BE49-F238E27FC236}">
                    <a16:creationId xmlns:a16="http://schemas.microsoft.com/office/drawing/2014/main" id="{594ED86F-595D-A247-B93C-789E6BCE69E1}"/>
                  </a:ext>
                </a:extLst>
              </p:cNvPr>
              <p:cNvSpPr>
                <a:spLocks/>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289">
                    <a:moveTo>
                      <a:pt x="0" y="0"/>
                    </a:moveTo>
                    <a:lnTo>
                      <a:pt x="163" y="0"/>
                    </a:lnTo>
                    <a:lnTo>
                      <a:pt x="163" y="288"/>
                    </a:lnTo>
                    <a:lnTo>
                      <a:pt x="0" y="28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46497" name="Line 193">
            <a:extLst>
              <a:ext uri="{FF2B5EF4-FFF2-40B4-BE49-F238E27FC236}">
                <a16:creationId xmlns:a16="http://schemas.microsoft.com/office/drawing/2014/main" id="{0EF75822-BF7A-DC43-804D-E3EC9EED01B2}"/>
              </a:ext>
            </a:extLst>
          </p:cNvPr>
          <p:cNvSpPr>
            <a:spLocks noChangeShapeType="1"/>
          </p:cNvSpPr>
          <p:nvPr/>
        </p:nvSpPr>
        <p:spPr bwMode="auto">
          <a:xfrm>
            <a:off x="6945313" y="3711575"/>
            <a:ext cx="2587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98" name="Line 196">
            <a:extLst>
              <a:ext uri="{FF2B5EF4-FFF2-40B4-BE49-F238E27FC236}">
                <a16:creationId xmlns:a16="http://schemas.microsoft.com/office/drawing/2014/main" id="{FAA6C428-CF70-3C46-8001-27C3E8B3EE19}"/>
              </a:ext>
            </a:extLst>
          </p:cNvPr>
          <p:cNvSpPr>
            <a:spLocks noChangeShapeType="1"/>
          </p:cNvSpPr>
          <p:nvPr/>
        </p:nvSpPr>
        <p:spPr bwMode="auto">
          <a:xfrm>
            <a:off x="1524000" y="4248150"/>
            <a:ext cx="0" cy="6381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499" name="Group 197">
            <a:extLst>
              <a:ext uri="{FF2B5EF4-FFF2-40B4-BE49-F238E27FC236}">
                <a16:creationId xmlns:a16="http://schemas.microsoft.com/office/drawing/2014/main" id="{FF0BD802-8C80-484C-9FE2-4E85AC606967}"/>
              </a:ext>
            </a:extLst>
          </p:cNvPr>
          <p:cNvGrpSpPr>
            <a:grpSpLocks/>
          </p:cNvGrpSpPr>
          <p:nvPr/>
        </p:nvGrpSpPr>
        <p:grpSpPr bwMode="auto">
          <a:xfrm>
            <a:off x="5072063" y="1476375"/>
            <a:ext cx="769937" cy="542925"/>
            <a:chOff x="3173" y="1787"/>
            <a:chExt cx="485" cy="342"/>
          </a:xfrm>
        </p:grpSpPr>
        <p:sp>
          <p:nvSpPr>
            <p:cNvPr id="146511" name="Freeform 198">
              <a:extLst>
                <a:ext uri="{FF2B5EF4-FFF2-40B4-BE49-F238E27FC236}">
                  <a16:creationId xmlns:a16="http://schemas.microsoft.com/office/drawing/2014/main" id="{B2F9F8CA-6A68-E340-A5DF-5242A84FA260}"/>
                </a:ext>
              </a:extLst>
            </p:cNvPr>
            <p:cNvSpPr>
              <a:spLocks/>
            </p:cNvSpPr>
            <p:nvPr/>
          </p:nvSpPr>
          <p:spPr bwMode="auto">
            <a:xfrm>
              <a:off x="3199"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12" name="Rectangle 199">
              <a:extLst>
                <a:ext uri="{FF2B5EF4-FFF2-40B4-BE49-F238E27FC236}">
                  <a16:creationId xmlns:a16="http://schemas.microsoft.com/office/drawing/2014/main" id="{FAF18116-E9CF-2E40-B244-275086D14647}"/>
                </a:ext>
              </a:extLst>
            </p:cNvPr>
            <p:cNvSpPr>
              <a:spLocks noChangeArrowheads="1"/>
            </p:cNvSpPr>
            <p:nvPr/>
          </p:nvSpPr>
          <p:spPr bwMode="auto">
            <a:xfrm>
              <a:off x="3173"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500" name="Group 200">
            <a:extLst>
              <a:ext uri="{FF2B5EF4-FFF2-40B4-BE49-F238E27FC236}">
                <a16:creationId xmlns:a16="http://schemas.microsoft.com/office/drawing/2014/main" id="{698FCD51-E33D-2C4E-A1A6-C06DB3315890}"/>
              </a:ext>
            </a:extLst>
          </p:cNvPr>
          <p:cNvGrpSpPr>
            <a:grpSpLocks/>
          </p:cNvGrpSpPr>
          <p:nvPr/>
        </p:nvGrpSpPr>
        <p:grpSpPr bwMode="auto">
          <a:xfrm>
            <a:off x="5765800" y="1476375"/>
            <a:ext cx="769938" cy="542925"/>
            <a:chOff x="3610" y="1787"/>
            <a:chExt cx="485" cy="342"/>
          </a:xfrm>
        </p:grpSpPr>
        <p:sp>
          <p:nvSpPr>
            <p:cNvPr id="146509" name="Freeform 201">
              <a:extLst>
                <a:ext uri="{FF2B5EF4-FFF2-40B4-BE49-F238E27FC236}">
                  <a16:creationId xmlns:a16="http://schemas.microsoft.com/office/drawing/2014/main" id="{A124DD37-AF46-594E-9EC1-35F1C534F6EB}"/>
                </a:ext>
              </a:extLst>
            </p:cNvPr>
            <p:cNvSpPr>
              <a:spLocks/>
            </p:cNvSpPr>
            <p:nvPr/>
          </p:nvSpPr>
          <p:spPr bwMode="auto">
            <a:xfrm>
              <a:off x="3636"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10" name="Rectangle 202">
              <a:extLst>
                <a:ext uri="{FF2B5EF4-FFF2-40B4-BE49-F238E27FC236}">
                  <a16:creationId xmlns:a16="http://schemas.microsoft.com/office/drawing/2014/main" id="{FC738E6D-6099-CB4A-8709-3C2463819093}"/>
                </a:ext>
              </a:extLst>
            </p:cNvPr>
            <p:cNvSpPr>
              <a:spLocks noChangeArrowheads="1"/>
            </p:cNvSpPr>
            <p:nvPr/>
          </p:nvSpPr>
          <p:spPr bwMode="auto">
            <a:xfrm>
              <a:off x="3610"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grpSp>
        <p:nvGrpSpPr>
          <p:cNvPr id="146501" name="Group 203">
            <a:extLst>
              <a:ext uri="{FF2B5EF4-FFF2-40B4-BE49-F238E27FC236}">
                <a16:creationId xmlns:a16="http://schemas.microsoft.com/office/drawing/2014/main" id="{7E7387BE-8DAE-674A-AD4C-197AF55BF66D}"/>
              </a:ext>
            </a:extLst>
          </p:cNvPr>
          <p:cNvGrpSpPr>
            <a:grpSpLocks/>
          </p:cNvGrpSpPr>
          <p:nvPr/>
        </p:nvGrpSpPr>
        <p:grpSpPr bwMode="auto">
          <a:xfrm>
            <a:off x="6426200" y="1476375"/>
            <a:ext cx="769938" cy="542925"/>
            <a:chOff x="4026" y="1787"/>
            <a:chExt cx="485" cy="342"/>
          </a:xfrm>
        </p:grpSpPr>
        <p:sp>
          <p:nvSpPr>
            <p:cNvPr id="146507" name="Freeform 204">
              <a:extLst>
                <a:ext uri="{FF2B5EF4-FFF2-40B4-BE49-F238E27FC236}">
                  <a16:creationId xmlns:a16="http://schemas.microsoft.com/office/drawing/2014/main" id="{3C3B6FC5-19C5-E94B-80B2-BA90C176AA49}"/>
                </a:ext>
              </a:extLst>
            </p:cNvPr>
            <p:cNvSpPr>
              <a:spLocks/>
            </p:cNvSpPr>
            <p:nvPr/>
          </p:nvSpPr>
          <p:spPr bwMode="auto">
            <a:xfrm>
              <a:off x="405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508" name="Rectangle 205">
              <a:extLst>
                <a:ext uri="{FF2B5EF4-FFF2-40B4-BE49-F238E27FC236}">
                  <a16:creationId xmlns:a16="http://schemas.microsoft.com/office/drawing/2014/main" id="{617C0EB0-C628-9F48-9A6C-4ED2CBDFF23F}"/>
                </a:ext>
              </a:extLst>
            </p:cNvPr>
            <p:cNvSpPr>
              <a:spLocks noChangeArrowheads="1"/>
            </p:cNvSpPr>
            <p:nvPr/>
          </p:nvSpPr>
          <p:spPr bwMode="auto">
            <a:xfrm>
              <a:off x="4026" y="1857"/>
              <a:ext cx="4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i="1">
                  <a:solidFill>
                    <a:schemeClr val="accent1"/>
                  </a:solidFill>
                  <a:ea typeface="宋体" panose="02010600030101010101" pitchFamily="2" charset="-122"/>
                </a:rPr>
                <a:t>bubble</a:t>
              </a:r>
            </a:p>
          </p:txBody>
        </p:sp>
      </p:grpSp>
      <p:sp>
        <p:nvSpPr>
          <p:cNvPr id="146502" name="Line 206">
            <a:extLst>
              <a:ext uri="{FF2B5EF4-FFF2-40B4-BE49-F238E27FC236}">
                <a16:creationId xmlns:a16="http://schemas.microsoft.com/office/drawing/2014/main" id="{FEBB3FA5-B5DB-2D4D-8E97-A07EDD571493}"/>
              </a:ext>
            </a:extLst>
          </p:cNvPr>
          <p:cNvSpPr>
            <a:spLocks noChangeShapeType="1"/>
          </p:cNvSpPr>
          <p:nvPr/>
        </p:nvSpPr>
        <p:spPr bwMode="auto">
          <a:xfrm>
            <a:off x="4875213" y="1717675"/>
            <a:ext cx="2587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015" name="Rectangle 207">
            <a:extLst>
              <a:ext uri="{FF2B5EF4-FFF2-40B4-BE49-F238E27FC236}">
                <a16:creationId xmlns:a16="http://schemas.microsoft.com/office/drawing/2014/main" id="{FA6101A3-53C2-2047-80CE-911AF3B99D0B}"/>
              </a:ext>
            </a:extLst>
          </p:cNvPr>
          <p:cNvSpPr>
            <a:spLocks noChangeArrowheads="1"/>
          </p:cNvSpPr>
          <p:nvPr/>
        </p:nvSpPr>
        <p:spPr bwMode="auto">
          <a:xfrm>
            <a:off x="228600" y="4918075"/>
            <a:ext cx="8156575" cy="18256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1600" b="1">
                <a:solidFill>
                  <a:schemeClr val="tx1"/>
                </a:solidFill>
                <a:latin typeface="Times New Roman" panose="02020603050405020304" pitchFamily="18" charset="0"/>
              </a:defRPr>
            </a:lvl1pPr>
            <a:lvl2pPr marL="914400" indent="-457200">
              <a:defRPr sz="1600" b="1">
                <a:solidFill>
                  <a:schemeClr val="tx1"/>
                </a:solidFill>
                <a:latin typeface="Times New Roman" panose="02020603050405020304" pitchFamily="18" charset="0"/>
              </a:defRPr>
            </a:lvl2pPr>
            <a:lvl3pPr marL="1371600" indent="-457200">
              <a:defRPr sz="1600" b="1">
                <a:solidFill>
                  <a:schemeClr val="tx1"/>
                </a:solidFill>
                <a:latin typeface="Times New Roman" panose="02020603050405020304" pitchFamily="18" charset="0"/>
              </a:defRPr>
            </a:lvl3pPr>
            <a:lvl4pPr marL="1828800" indent="-457200">
              <a:defRPr sz="1600" b="1">
                <a:solidFill>
                  <a:schemeClr val="tx1"/>
                </a:solidFill>
                <a:latin typeface="Times New Roman" panose="02020603050405020304" pitchFamily="18" charset="0"/>
              </a:defRPr>
            </a:lvl4pPr>
            <a:lvl5pPr marL="2286000" indent="-457200">
              <a:defRPr sz="1600" b="1">
                <a:solidFill>
                  <a:schemeClr val="tx1"/>
                </a:solidFill>
                <a:latin typeface="Times New Roman" panose="02020603050405020304" pitchFamily="18" charset="0"/>
              </a:defRPr>
            </a:lvl5pPr>
            <a:lvl6pPr marL="2743200" indent="-457200" eaLnBrk="0" fontAlgn="base" hangingPunct="0">
              <a:spcBef>
                <a:spcPct val="0"/>
              </a:spcBef>
              <a:spcAft>
                <a:spcPct val="0"/>
              </a:spcAft>
              <a:defRPr sz="1600" b="1">
                <a:solidFill>
                  <a:schemeClr val="tx1"/>
                </a:solidFill>
                <a:latin typeface="Times New Roman" panose="02020603050405020304" pitchFamily="18" charset="0"/>
              </a:defRPr>
            </a:lvl6pPr>
            <a:lvl7pPr marL="3200400" indent="-457200" eaLnBrk="0" fontAlgn="base" hangingPunct="0">
              <a:spcBef>
                <a:spcPct val="0"/>
              </a:spcBef>
              <a:spcAft>
                <a:spcPct val="0"/>
              </a:spcAft>
              <a:defRPr sz="1600" b="1">
                <a:solidFill>
                  <a:schemeClr val="tx1"/>
                </a:solidFill>
                <a:latin typeface="Times New Roman" panose="02020603050405020304" pitchFamily="18" charset="0"/>
              </a:defRPr>
            </a:lvl7pPr>
            <a:lvl8pPr marL="3657600" indent="-457200" eaLnBrk="0" fontAlgn="base" hangingPunct="0">
              <a:spcBef>
                <a:spcPct val="0"/>
              </a:spcBef>
              <a:spcAft>
                <a:spcPct val="0"/>
              </a:spcAft>
              <a:defRPr sz="1600" b="1">
                <a:solidFill>
                  <a:schemeClr val="tx1"/>
                </a:solidFill>
                <a:latin typeface="Times New Roman" panose="02020603050405020304" pitchFamily="18" charset="0"/>
              </a:defRPr>
            </a:lvl8pPr>
            <a:lvl9pPr marL="4114800" indent="-4572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900">
                <a:solidFill>
                  <a:schemeClr val="accent2"/>
                </a:solidFill>
                <a:latin typeface="Arial" panose="020B0604020202020204" pitchFamily="34" charset="0"/>
                <a:ea typeface="黑体" panose="02010609060101010101" pitchFamily="49" charset="-122"/>
              </a:rPr>
              <a:t>异常处理：</a:t>
            </a:r>
          </a:p>
          <a:p>
            <a:r>
              <a:rPr lang="en-US" altLang="zh-CN" sz="1900">
                <a:solidFill>
                  <a:srgbClr val="990000"/>
                </a:solidFill>
                <a:latin typeface="Arial" panose="020B0604020202020204" pitchFamily="34" charset="0"/>
                <a:ea typeface="黑体" panose="02010609060101010101" pitchFamily="49" charset="-122"/>
              </a:rPr>
              <a:t> IF.Flush</a:t>
            </a:r>
            <a:r>
              <a:rPr lang="zh-CN" altLang="en-US" sz="1900">
                <a:solidFill>
                  <a:srgbClr val="990000"/>
                </a:solidFill>
                <a:latin typeface="Arial" panose="020B0604020202020204" pitchFamily="34" charset="0"/>
                <a:ea typeface="黑体" panose="02010609060101010101" pitchFamily="49" charset="-122"/>
              </a:rPr>
              <a:t>使</a:t>
            </a:r>
            <a:r>
              <a:rPr lang="en-US" altLang="zh-CN" sz="1900">
                <a:solidFill>
                  <a:srgbClr val="990000"/>
                </a:solidFill>
                <a:latin typeface="Arial" panose="020B0604020202020204" pitchFamily="34" charset="0"/>
                <a:ea typeface="黑体" panose="02010609060101010101" pitchFamily="49" charset="-122"/>
              </a:rPr>
              <a:t>IF</a:t>
            </a:r>
            <a:r>
              <a:rPr lang="zh-CN" altLang="en-US" sz="1900">
                <a:solidFill>
                  <a:srgbClr val="990000"/>
                </a:solidFill>
                <a:latin typeface="Arial" panose="020B0604020202020204" pitchFamily="34" charset="0"/>
                <a:ea typeface="黑体" panose="02010609060101010101" pitchFamily="49" charset="-122"/>
              </a:rPr>
              <a:t>段指令在</a:t>
            </a:r>
            <a:r>
              <a:rPr lang="en-US" altLang="zh-CN" sz="1900">
                <a:solidFill>
                  <a:srgbClr val="990000"/>
                </a:solidFill>
                <a:latin typeface="Arial" panose="020B0604020202020204" pitchFamily="34" charset="0"/>
                <a:ea typeface="黑体" panose="02010609060101010101" pitchFamily="49" charset="-122"/>
              </a:rPr>
              <a:t>IF/ID</a:t>
            </a:r>
            <a:r>
              <a:rPr lang="zh-CN" altLang="en-US" sz="1900">
                <a:solidFill>
                  <a:srgbClr val="990000"/>
                </a:solidFill>
                <a:latin typeface="Arial" panose="020B0604020202020204" pitchFamily="34" charset="0"/>
                <a:ea typeface="黑体" panose="02010609060101010101" pitchFamily="49" charset="-122"/>
              </a:rPr>
              <a:t>寄存器中清为</a:t>
            </a:r>
            <a:r>
              <a:rPr lang="en-US" altLang="zh-CN" sz="1900">
                <a:solidFill>
                  <a:srgbClr val="990000"/>
                </a:solidFill>
                <a:latin typeface="Arial" panose="020B0604020202020204" pitchFamily="34" charset="0"/>
                <a:ea typeface="黑体" panose="02010609060101010101" pitchFamily="49" charset="-122"/>
              </a:rPr>
              <a:t>0</a:t>
            </a:r>
            <a:r>
              <a:rPr lang="zh-CN" altLang="en-US" sz="1900">
                <a:solidFill>
                  <a:srgbClr val="990000"/>
                </a:solidFill>
                <a:latin typeface="Arial" panose="020B0604020202020204" pitchFamily="34" charset="0"/>
                <a:ea typeface="黑体" panose="02010609060101010101" pitchFamily="49" charset="-122"/>
              </a:rPr>
              <a:t>，变成</a:t>
            </a:r>
            <a:r>
              <a:rPr lang="en-US" altLang="zh-CN" sz="1900">
                <a:solidFill>
                  <a:srgbClr val="990000"/>
                </a:solidFill>
                <a:latin typeface="Arial" panose="020B0604020202020204" pitchFamily="34" charset="0"/>
                <a:ea typeface="黑体" panose="02010609060101010101" pitchFamily="49" charset="-122"/>
              </a:rPr>
              <a:t>nop</a:t>
            </a:r>
            <a:r>
              <a:rPr lang="zh-CN" altLang="en-US" sz="1900">
                <a:solidFill>
                  <a:srgbClr val="990000"/>
                </a:solidFill>
                <a:latin typeface="Arial" panose="020B0604020202020204" pitchFamily="34" charset="0"/>
                <a:ea typeface="黑体" panose="02010609060101010101" pitchFamily="49" charset="-122"/>
              </a:rPr>
              <a:t>指令</a:t>
            </a:r>
          </a:p>
          <a:p>
            <a:r>
              <a:rPr lang="en-US" altLang="zh-CN" sz="1900">
                <a:solidFill>
                  <a:srgbClr val="990000"/>
                </a:solidFill>
                <a:latin typeface="Arial" panose="020B0604020202020204" pitchFamily="34" charset="0"/>
                <a:ea typeface="黑体" panose="02010609060101010101" pitchFamily="49" charset="-122"/>
              </a:rPr>
              <a:t> ID.Flush</a:t>
            </a:r>
            <a:r>
              <a:rPr lang="zh-CN" altLang="en-US" sz="1900">
                <a:solidFill>
                  <a:srgbClr val="990000"/>
                </a:solidFill>
                <a:latin typeface="Arial" panose="020B0604020202020204" pitchFamily="34" charset="0"/>
                <a:ea typeface="黑体" panose="02010609060101010101" pitchFamily="49" charset="-122"/>
              </a:rPr>
              <a:t>与数据冒险阻塞检测信号相或</a:t>
            </a:r>
            <a:r>
              <a:rPr lang="en-US" altLang="zh-CN" sz="1900">
                <a:solidFill>
                  <a:srgbClr val="990000"/>
                </a:solidFill>
                <a:latin typeface="Arial" panose="020B0604020202020204" pitchFamily="34" charset="0"/>
                <a:ea typeface="黑体" panose="02010609060101010101" pitchFamily="49" charset="-122"/>
              </a:rPr>
              <a:t>(or)</a:t>
            </a:r>
            <a:r>
              <a:rPr lang="zh-CN" altLang="en-US" sz="1900">
                <a:solidFill>
                  <a:srgbClr val="990000"/>
                </a:solidFill>
                <a:latin typeface="Arial" panose="020B0604020202020204" pitchFamily="34" charset="0"/>
                <a:ea typeface="黑体" panose="02010609060101010101" pitchFamily="49" charset="-122"/>
              </a:rPr>
              <a:t>后，使</a:t>
            </a:r>
            <a:r>
              <a:rPr lang="en-US" altLang="zh-CN" sz="1900">
                <a:solidFill>
                  <a:srgbClr val="990000"/>
                </a:solidFill>
                <a:latin typeface="Arial" panose="020B0604020202020204" pitchFamily="34" charset="0"/>
                <a:ea typeface="黑体" panose="02010609060101010101" pitchFamily="49" charset="-122"/>
              </a:rPr>
              <a:t>ID</a:t>
            </a:r>
            <a:r>
              <a:rPr lang="zh-CN" altLang="en-US" sz="1900">
                <a:solidFill>
                  <a:srgbClr val="990000"/>
                </a:solidFill>
                <a:latin typeface="Arial" panose="020B0604020202020204" pitchFamily="34" charset="0"/>
                <a:ea typeface="黑体" panose="02010609060101010101" pitchFamily="49" charset="-122"/>
              </a:rPr>
              <a:t>段指令的控制信号清</a:t>
            </a:r>
            <a:r>
              <a:rPr lang="en-US" altLang="zh-CN" sz="1900">
                <a:solidFill>
                  <a:srgbClr val="990000"/>
                </a:solidFill>
                <a:latin typeface="Arial" panose="020B0604020202020204" pitchFamily="34" charset="0"/>
                <a:ea typeface="黑体" panose="02010609060101010101" pitchFamily="49" charset="-122"/>
              </a:rPr>
              <a:t>0</a:t>
            </a:r>
          </a:p>
          <a:p>
            <a:r>
              <a:rPr lang="en-US" altLang="zh-CN" sz="1900">
                <a:solidFill>
                  <a:srgbClr val="990000"/>
                </a:solidFill>
                <a:latin typeface="Arial" panose="020B0604020202020204" pitchFamily="34" charset="0"/>
                <a:ea typeface="黑体" panose="02010609060101010101" pitchFamily="49" charset="-122"/>
              </a:rPr>
              <a:t> EX.Flush</a:t>
            </a:r>
            <a:r>
              <a:rPr lang="zh-CN" altLang="en-US" sz="1900">
                <a:solidFill>
                  <a:srgbClr val="990000"/>
                </a:solidFill>
                <a:latin typeface="Arial" panose="020B0604020202020204" pitchFamily="34" charset="0"/>
                <a:ea typeface="黑体" panose="02010609060101010101" pitchFamily="49" charset="-122"/>
              </a:rPr>
              <a:t>使</a:t>
            </a:r>
            <a:r>
              <a:rPr lang="en-US" altLang="zh-CN" sz="1900">
                <a:solidFill>
                  <a:srgbClr val="990000"/>
                </a:solidFill>
                <a:latin typeface="Arial" panose="020B0604020202020204" pitchFamily="34" charset="0"/>
                <a:ea typeface="黑体" panose="02010609060101010101" pitchFamily="49" charset="-122"/>
              </a:rPr>
              <a:t>EX</a:t>
            </a:r>
            <a:r>
              <a:rPr lang="zh-CN" altLang="en-US" sz="1900">
                <a:solidFill>
                  <a:srgbClr val="990000"/>
                </a:solidFill>
                <a:latin typeface="Arial" panose="020B0604020202020204" pitchFamily="34" charset="0"/>
                <a:ea typeface="黑体" panose="02010609060101010101" pitchFamily="49" charset="-122"/>
              </a:rPr>
              <a:t>段指令的控制信号清</a:t>
            </a:r>
            <a:r>
              <a:rPr lang="en-US" altLang="zh-CN" sz="1900">
                <a:solidFill>
                  <a:srgbClr val="990000"/>
                </a:solidFill>
                <a:latin typeface="Arial" panose="020B0604020202020204" pitchFamily="34" charset="0"/>
                <a:ea typeface="黑体" panose="02010609060101010101" pitchFamily="49" charset="-122"/>
              </a:rPr>
              <a:t>0</a:t>
            </a:r>
          </a:p>
          <a:p>
            <a:r>
              <a:rPr lang="zh-CN" altLang="en-US" sz="1900">
                <a:solidFill>
                  <a:srgbClr val="990000"/>
                </a:solidFill>
                <a:latin typeface="Arial" panose="020B0604020202020204" pitchFamily="34" charset="0"/>
                <a:ea typeface="黑体" panose="02010609060101010101" pitchFamily="49" charset="-122"/>
              </a:rPr>
              <a:t>关中断，并将断点（可能是</a:t>
            </a:r>
            <a:r>
              <a:rPr lang="en-US" altLang="zh-CN" sz="1900">
                <a:solidFill>
                  <a:srgbClr val="990000"/>
                </a:solidFill>
                <a:latin typeface="Arial" panose="020B0604020202020204" pitchFamily="34" charset="0"/>
                <a:ea typeface="黑体" panose="02010609060101010101" pitchFamily="49" charset="-122"/>
              </a:rPr>
              <a:t>PC</a:t>
            </a:r>
            <a:r>
              <a:rPr lang="zh-CN" altLang="en-US" sz="1900">
                <a:solidFill>
                  <a:srgbClr val="990000"/>
                </a:solidFill>
                <a:latin typeface="Arial" panose="020B0604020202020204" pitchFamily="34" charset="0"/>
                <a:ea typeface="黑体" panose="02010609060101010101" pitchFamily="49" charset="-122"/>
              </a:rPr>
              <a:t>、可能是</a:t>
            </a:r>
            <a:r>
              <a:rPr lang="en-US" altLang="zh-CN" sz="1900">
                <a:solidFill>
                  <a:srgbClr val="990000"/>
                </a:solidFill>
                <a:latin typeface="Arial" panose="020B0604020202020204" pitchFamily="34" charset="0"/>
                <a:ea typeface="黑体" panose="02010609060101010101" pitchFamily="49" charset="-122"/>
              </a:rPr>
              <a:t>PC-4</a:t>
            </a:r>
            <a:r>
              <a:rPr lang="zh-CN" altLang="en-US" sz="1900">
                <a:solidFill>
                  <a:srgbClr val="990000"/>
                </a:solidFill>
                <a:latin typeface="Arial" panose="020B0604020202020204" pitchFamily="34" charset="0"/>
                <a:ea typeface="黑体" panose="02010609060101010101" pitchFamily="49" charset="-122"/>
              </a:rPr>
              <a:t>）保存到</a:t>
            </a:r>
            <a:r>
              <a:rPr lang="en-US" altLang="zh-CN" sz="1900">
                <a:solidFill>
                  <a:srgbClr val="990000"/>
                </a:solidFill>
                <a:latin typeface="Arial" panose="020B0604020202020204" pitchFamily="34" charset="0"/>
                <a:ea typeface="黑体" panose="02010609060101010101" pitchFamily="49" charset="-122"/>
              </a:rPr>
              <a:t>EPC</a:t>
            </a:r>
            <a:r>
              <a:rPr lang="zh-CN" altLang="en-US" sz="1900">
                <a:solidFill>
                  <a:srgbClr val="990000"/>
                </a:solidFill>
                <a:latin typeface="Arial" panose="020B0604020202020204" pitchFamily="34" charset="0"/>
                <a:ea typeface="黑体" panose="02010609060101010101" pitchFamily="49" charset="-122"/>
              </a:rPr>
              <a:t>中</a:t>
            </a:r>
          </a:p>
          <a:p>
            <a:r>
              <a:rPr lang="zh-CN" altLang="en-US" sz="1900">
                <a:solidFill>
                  <a:srgbClr val="990000"/>
                </a:solidFill>
                <a:latin typeface="Arial" panose="020B0604020202020204" pitchFamily="34" charset="0"/>
                <a:ea typeface="黑体" panose="02010609060101010101" pitchFamily="49" charset="-122"/>
              </a:rPr>
              <a:t>将</a:t>
            </a:r>
            <a:r>
              <a:rPr lang="en-US" altLang="zh-CN" sz="1900">
                <a:solidFill>
                  <a:srgbClr val="990000"/>
                </a:solidFill>
                <a:latin typeface="Arial" panose="020B0604020202020204" pitchFamily="34" charset="0"/>
                <a:ea typeface="黑体" panose="02010609060101010101" pitchFamily="49" charset="-122"/>
              </a:rPr>
              <a:t>0x8000 0180</a:t>
            </a:r>
            <a:r>
              <a:rPr lang="zh-CN" altLang="en-US" sz="1900">
                <a:solidFill>
                  <a:srgbClr val="990000"/>
                </a:solidFill>
                <a:latin typeface="Arial" panose="020B0604020202020204" pitchFamily="34" charset="0"/>
                <a:ea typeface="黑体" panose="02010609060101010101" pitchFamily="49" charset="-122"/>
              </a:rPr>
              <a:t>作为</a:t>
            </a:r>
            <a:r>
              <a:rPr lang="en-US" altLang="zh-CN" sz="1900">
                <a:solidFill>
                  <a:srgbClr val="990000"/>
                </a:solidFill>
                <a:latin typeface="Arial" panose="020B0604020202020204" pitchFamily="34" charset="0"/>
                <a:ea typeface="黑体" panose="02010609060101010101" pitchFamily="49" charset="-122"/>
              </a:rPr>
              <a:t>PC</a:t>
            </a:r>
            <a:r>
              <a:rPr lang="zh-CN" altLang="en-US" sz="1900">
                <a:solidFill>
                  <a:srgbClr val="990000"/>
                </a:solidFill>
                <a:latin typeface="Arial" panose="020B0604020202020204" pitchFamily="34" charset="0"/>
                <a:ea typeface="黑体" panose="02010609060101010101" pitchFamily="49" charset="-122"/>
              </a:rPr>
              <a:t>的一个输入，并控制</a:t>
            </a:r>
            <a:r>
              <a:rPr lang="en-US" altLang="zh-CN" sz="1900">
                <a:solidFill>
                  <a:srgbClr val="990000"/>
                </a:solidFill>
                <a:latin typeface="Arial" panose="020B0604020202020204" pitchFamily="34" charset="0"/>
                <a:ea typeface="黑体" panose="02010609060101010101" pitchFamily="49" charset="-122"/>
              </a:rPr>
              <a:t>PC</a:t>
            </a:r>
            <a:r>
              <a:rPr lang="zh-CN" altLang="en-US" sz="1900">
                <a:solidFill>
                  <a:srgbClr val="990000"/>
                </a:solidFill>
                <a:latin typeface="Arial" panose="020B0604020202020204" pitchFamily="34" charset="0"/>
                <a:ea typeface="黑体" panose="02010609060101010101" pitchFamily="49" charset="-122"/>
              </a:rPr>
              <a:t>输入端的多路选择器</a:t>
            </a:r>
          </a:p>
        </p:txBody>
      </p:sp>
      <p:sp>
        <p:nvSpPr>
          <p:cNvPr id="146504" name="Line 208">
            <a:extLst>
              <a:ext uri="{FF2B5EF4-FFF2-40B4-BE49-F238E27FC236}">
                <a16:creationId xmlns:a16="http://schemas.microsoft.com/office/drawing/2014/main" id="{D72D5DFD-153B-9942-BF19-0E26946B8B92}"/>
              </a:ext>
            </a:extLst>
          </p:cNvPr>
          <p:cNvSpPr>
            <a:spLocks noChangeShapeType="1"/>
          </p:cNvSpPr>
          <p:nvPr/>
        </p:nvSpPr>
        <p:spPr bwMode="auto">
          <a:xfrm>
            <a:off x="723900" y="1428750"/>
            <a:ext cx="0" cy="2819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6019" name="Text Box 211">
            <a:extLst>
              <a:ext uri="{FF2B5EF4-FFF2-40B4-BE49-F238E27FC236}">
                <a16:creationId xmlns:a16="http://schemas.microsoft.com/office/drawing/2014/main" id="{92F52EBF-3C27-A549-B726-9098B67446BB}"/>
              </a:ext>
            </a:extLst>
          </p:cNvPr>
          <p:cNvSpPr txBox="1">
            <a:spLocks noChangeArrowheads="1"/>
          </p:cNvSpPr>
          <p:nvPr/>
        </p:nvSpPr>
        <p:spPr bwMode="auto">
          <a:xfrm>
            <a:off x="793750" y="3602038"/>
            <a:ext cx="3694113" cy="6699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solidFill>
                  <a:schemeClr val="accent1"/>
                </a:solidFill>
                <a:latin typeface="Arial" panose="020B0604020202020204" pitchFamily="34" charset="0"/>
                <a:ea typeface="黑体" panose="02010609060101010101" pitchFamily="49" charset="-122"/>
                <a:cs typeface="Arial" panose="020B0604020202020204" pitchFamily="34" charset="0"/>
              </a:rPr>
              <a:t>问题：会发生将溢出结果写到寄存器</a:t>
            </a:r>
            <a:r>
              <a:rPr lang="en-US" altLang="zh-CN" sz="1900">
                <a:solidFill>
                  <a:schemeClr val="accent1"/>
                </a:solidFill>
                <a:latin typeface="Arial" panose="020B0604020202020204" pitchFamily="34" charset="0"/>
                <a:ea typeface="黑体" panose="02010609060101010101" pitchFamily="49" charset="-122"/>
                <a:cs typeface="Arial" panose="020B0604020202020204" pitchFamily="34" charset="0"/>
              </a:rPr>
              <a:t>r1</a:t>
            </a:r>
            <a:r>
              <a:rPr lang="zh-CN" altLang="en-US" sz="1900">
                <a:solidFill>
                  <a:schemeClr val="accent1"/>
                </a:solidFill>
                <a:latin typeface="Arial" panose="020B0604020202020204" pitchFamily="34" charset="0"/>
                <a:ea typeface="黑体" panose="02010609060101010101" pitchFamily="49" charset="-122"/>
                <a:cs typeface="Arial" panose="020B0604020202020204" pitchFamily="34" charset="0"/>
              </a:rPr>
              <a:t>中去的情况吗？</a:t>
            </a:r>
          </a:p>
        </p:txBody>
      </p:sp>
      <p:sp>
        <p:nvSpPr>
          <p:cNvPr id="376020" name="Text Box 212">
            <a:extLst>
              <a:ext uri="{FF2B5EF4-FFF2-40B4-BE49-F238E27FC236}">
                <a16:creationId xmlns:a16="http://schemas.microsoft.com/office/drawing/2014/main" id="{2C339C01-A297-5048-A272-74CCAFB07FAC}"/>
              </a:ext>
            </a:extLst>
          </p:cNvPr>
          <p:cNvSpPr txBox="1">
            <a:spLocks noChangeArrowheads="1"/>
          </p:cNvSpPr>
          <p:nvPr/>
        </p:nvSpPr>
        <p:spPr bwMode="auto">
          <a:xfrm>
            <a:off x="458788" y="4297363"/>
            <a:ext cx="5816600" cy="641350"/>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不会！</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EX.Flush</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使</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EXE</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段指令的控制信号清</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0</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（主要保证</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RegWr</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清</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0</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），避免了在</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WB</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阶段写寄存器</a:t>
            </a:r>
            <a:r>
              <a:rPr lang="en-US" altLang="zh-CN" sz="1800">
                <a:solidFill>
                  <a:schemeClr val="accent1"/>
                </a:solidFill>
                <a:latin typeface="Arial" panose="020B0604020202020204" pitchFamily="34" charset="0"/>
                <a:ea typeface="黑体" panose="02010609060101010101" pitchFamily="49" charset="-122"/>
                <a:cs typeface="Arial" panose="020B0604020202020204" pitchFamily="34" charset="0"/>
              </a:rPr>
              <a:t>r1</a:t>
            </a:r>
            <a:r>
              <a:rPr lang="zh-CN" altLang="en-US" sz="1800">
                <a:solidFill>
                  <a:schemeClr val="accent1"/>
                </a:solidFill>
                <a:latin typeface="Arial" panose="020B0604020202020204" pitchFamily="34" charset="0"/>
                <a:ea typeface="黑体" panose="02010609060101010101" pitchFamily="49" charset="-122"/>
                <a:cs typeface="Arial" panose="020B0604020202020204" pitchFamily="34" charset="0"/>
              </a:rPr>
              <a:t>的情况。</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blinds(horizontal)">
                                      <p:cBhvr>
                                        <p:cTn id="7" dur="500"/>
                                        <p:tgtEl>
                                          <p:spTgt spid="375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5965"/>
                                        </p:tgtEl>
                                        <p:attrNameLst>
                                          <p:attrName>style.visibility</p:attrName>
                                        </p:attrNameLst>
                                      </p:cBhvr>
                                      <p:to>
                                        <p:strVal val="visible"/>
                                      </p:to>
                                    </p:set>
                                    <p:animEffect transition="in" filter="blinds(horizontal)">
                                      <p:cBhvr>
                                        <p:cTn id="12" dur="500"/>
                                        <p:tgtEl>
                                          <p:spTgt spid="375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5980"/>
                                        </p:tgtEl>
                                        <p:attrNameLst>
                                          <p:attrName>style.visibility</p:attrName>
                                        </p:attrNameLst>
                                      </p:cBhvr>
                                      <p:to>
                                        <p:strVal val="visible"/>
                                      </p:to>
                                    </p:set>
                                    <p:animEffect transition="in" filter="blinds(horizontal)">
                                      <p:cBhvr>
                                        <p:cTn id="17" dur="500"/>
                                        <p:tgtEl>
                                          <p:spTgt spid="3759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6015">
                                            <p:txEl>
                                              <p:pRg st="1" end="1"/>
                                            </p:txEl>
                                          </p:spTgt>
                                        </p:tgtEl>
                                        <p:attrNameLst>
                                          <p:attrName>style.visibility</p:attrName>
                                        </p:attrNameLst>
                                      </p:cBhvr>
                                      <p:to>
                                        <p:strVal val="visible"/>
                                      </p:to>
                                    </p:set>
                                    <p:animEffect transition="in" filter="blinds(horizontal)">
                                      <p:cBhvr>
                                        <p:cTn id="22" dur="500"/>
                                        <p:tgtEl>
                                          <p:spTgt spid="37601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6015">
                                            <p:txEl>
                                              <p:pRg st="2" end="2"/>
                                            </p:txEl>
                                          </p:spTgt>
                                        </p:tgtEl>
                                        <p:attrNameLst>
                                          <p:attrName>style.visibility</p:attrName>
                                        </p:attrNameLst>
                                      </p:cBhvr>
                                      <p:to>
                                        <p:strVal val="visible"/>
                                      </p:to>
                                    </p:set>
                                    <p:animEffect transition="in" filter="blinds(horizontal)">
                                      <p:cBhvr>
                                        <p:cTn id="27" dur="500"/>
                                        <p:tgtEl>
                                          <p:spTgt spid="37601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6015">
                                            <p:txEl>
                                              <p:pRg st="3" end="3"/>
                                            </p:txEl>
                                          </p:spTgt>
                                        </p:tgtEl>
                                        <p:attrNameLst>
                                          <p:attrName>style.visibility</p:attrName>
                                        </p:attrNameLst>
                                      </p:cBhvr>
                                      <p:to>
                                        <p:strVal val="visible"/>
                                      </p:to>
                                    </p:set>
                                    <p:animEffect transition="in" filter="blinds(horizontal)">
                                      <p:cBhvr>
                                        <p:cTn id="32" dur="500"/>
                                        <p:tgtEl>
                                          <p:spTgt spid="376015">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6015">
                                            <p:txEl>
                                              <p:pRg st="4" end="4"/>
                                            </p:txEl>
                                          </p:spTgt>
                                        </p:tgtEl>
                                        <p:attrNameLst>
                                          <p:attrName>style.visibility</p:attrName>
                                        </p:attrNameLst>
                                      </p:cBhvr>
                                      <p:to>
                                        <p:strVal val="visible"/>
                                      </p:to>
                                    </p:set>
                                    <p:animEffect transition="in" filter="blinds(horizontal)">
                                      <p:cBhvr>
                                        <p:cTn id="37" dur="500"/>
                                        <p:tgtEl>
                                          <p:spTgt spid="376015">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76015">
                                            <p:txEl>
                                              <p:pRg st="5" end="5"/>
                                            </p:txEl>
                                          </p:spTgt>
                                        </p:tgtEl>
                                        <p:attrNameLst>
                                          <p:attrName>style.visibility</p:attrName>
                                        </p:attrNameLst>
                                      </p:cBhvr>
                                      <p:to>
                                        <p:strVal val="visible"/>
                                      </p:to>
                                    </p:set>
                                    <p:animEffect transition="in" filter="blinds(horizontal)">
                                      <p:cBhvr>
                                        <p:cTn id="42" dur="500"/>
                                        <p:tgtEl>
                                          <p:spTgt spid="376015">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6019"/>
                                        </p:tgtEl>
                                        <p:attrNameLst>
                                          <p:attrName>style.visibility</p:attrName>
                                        </p:attrNameLst>
                                      </p:cBhvr>
                                      <p:to>
                                        <p:strVal val="visible"/>
                                      </p:to>
                                    </p:set>
                                    <p:animEffect transition="in" filter="blinds(horizontal)">
                                      <p:cBhvr>
                                        <p:cTn id="47" dur="500"/>
                                        <p:tgtEl>
                                          <p:spTgt spid="3760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6020"/>
                                        </p:tgtEl>
                                        <p:attrNameLst>
                                          <p:attrName>style.visibility</p:attrName>
                                        </p:attrNameLst>
                                      </p:cBhvr>
                                      <p:to>
                                        <p:strVal val="visible"/>
                                      </p:to>
                                    </p:set>
                                    <p:animEffect transition="in" filter="blinds(horizontal)">
                                      <p:cBhvr>
                                        <p:cTn id="52" dur="500"/>
                                        <p:tgtEl>
                                          <p:spTgt spid="376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P spid="376019" grpId="0" animBg="1"/>
      <p:bldP spid="3760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5">
            <a:extLst>
              <a:ext uri="{FF2B5EF4-FFF2-40B4-BE49-F238E27FC236}">
                <a16:creationId xmlns:a16="http://schemas.microsoft.com/office/drawing/2014/main" id="{4B5ADEB5-5E80-1241-9F3B-2216478D9D44}"/>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带异常处理的流水线数据通路</a:t>
            </a:r>
          </a:p>
        </p:txBody>
      </p:sp>
      <p:pic>
        <p:nvPicPr>
          <p:cNvPr id="147459" name="Picture 4" descr="异常处理流水线">
            <a:extLst>
              <a:ext uri="{FF2B5EF4-FFF2-40B4-BE49-F238E27FC236}">
                <a16:creationId xmlns:a16="http://schemas.microsoft.com/office/drawing/2014/main" id="{49061190-4DCE-FE48-B190-FCCB402E54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627063"/>
            <a:ext cx="8953500" cy="5902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3479" name="Rectangle 7">
            <a:extLst>
              <a:ext uri="{FF2B5EF4-FFF2-40B4-BE49-F238E27FC236}">
                <a16:creationId xmlns:a16="http://schemas.microsoft.com/office/drawing/2014/main" id="{78118A65-E80C-0F4A-8700-57D79431F14B}"/>
              </a:ext>
            </a:extLst>
          </p:cNvPr>
          <p:cNvSpPr>
            <a:spLocks noChangeArrowheads="1"/>
          </p:cNvSpPr>
          <p:nvPr/>
        </p:nvSpPr>
        <p:spPr bwMode="auto">
          <a:xfrm>
            <a:off x="5486400" y="2511425"/>
            <a:ext cx="347663" cy="376238"/>
          </a:xfrm>
          <a:prstGeom prst="rect">
            <a:avLst/>
          </a:prstGeom>
          <a:noFill/>
          <a:ln w="28575">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233509" name="Group 37">
            <a:extLst>
              <a:ext uri="{FF2B5EF4-FFF2-40B4-BE49-F238E27FC236}">
                <a16:creationId xmlns:a16="http://schemas.microsoft.com/office/drawing/2014/main" id="{2AB53539-3775-9D43-8FD3-EF1004261D7A}"/>
              </a:ext>
            </a:extLst>
          </p:cNvPr>
          <p:cNvGrpSpPr>
            <a:grpSpLocks/>
          </p:cNvGrpSpPr>
          <p:nvPr/>
        </p:nvGrpSpPr>
        <p:grpSpPr bwMode="auto">
          <a:xfrm>
            <a:off x="3200400" y="666750"/>
            <a:ext cx="2762250" cy="1590675"/>
            <a:chOff x="2016" y="420"/>
            <a:chExt cx="1740" cy="1002"/>
          </a:xfrm>
        </p:grpSpPr>
        <p:sp>
          <p:nvSpPr>
            <p:cNvPr id="147489" name="Line 8">
              <a:extLst>
                <a:ext uri="{FF2B5EF4-FFF2-40B4-BE49-F238E27FC236}">
                  <a16:creationId xmlns:a16="http://schemas.microsoft.com/office/drawing/2014/main" id="{C0519A1C-F884-EE4B-9EE3-FAE598FFA053}"/>
                </a:ext>
              </a:extLst>
            </p:cNvPr>
            <p:cNvSpPr>
              <a:spLocks noChangeShapeType="1"/>
            </p:cNvSpPr>
            <p:nvPr/>
          </p:nvSpPr>
          <p:spPr bwMode="auto">
            <a:xfrm>
              <a:off x="2016" y="1416"/>
              <a:ext cx="306"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0" name="Line 9">
              <a:extLst>
                <a:ext uri="{FF2B5EF4-FFF2-40B4-BE49-F238E27FC236}">
                  <a16:creationId xmlns:a16="http://schemas.microsoft.com/office/drawing/2014/main" id="{7077C9D1-44BB-E04C-A636-935FFFE8646B}"/>
                </a:ext>
              </a:extLst>
            </p:cNvPr>
            <p:cNvSpPr>
              <a:spLocks noChangeShapeType="1"/>
            </p:cNvSpPr>
            <p:nvPr/>
          </p:nvSpPr>
          <p:spPr bwMode="auto">
            <a:xfrm>
              <a:off x="2328" y="420"/>
              <a:ext cx="0" cy="1002"/>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1" name="Line 10">
              <a:extLst>
                <a:ext uri="{FF2B5EF4-FFF2-40B4-BE49-F238E27FC236}">
                  <a16:creationId xmlns:a16="http://schemas.microsoft.com/office/drawing/2014/main" id="{3F31C300-8A5B-3440-9D4D-1A50F35F8838}"/>
                </a:ext>
              </a:extLst>
            </p:cNvPr>
            <p:cNvSpPr>
              <a:spLocks noChangeShapeType="1"/>
            </p:cNvSpPr>
            <p:nvPr/>
          </p:nvSpPr>
          <p:spPr bwMode="auto">
            <a:xfrm>
              <a:off x="2316" y="426"/>
              <a:ext cx="1434"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2" name="Line 11">
              <a:extLst>
                <a:ext uri="{FF2B5EF4-FFF2-40B4-BE49-F238E27FC236}">
                  <a16:creationId xmlns:a16="http://schemas.microsoft.com/office/drawing/2014/main" id="{7702E009-8CE9-EF47-B873-6A2686D9B05B}"/>
                </a:ext>
              </a:extLst>
            </p:cNvPr>
            <p:cNvSpPr>
              <a:spLocks noChangeShapeType="1"/>
            </p:cNvSpPr>
            <p:nvPr/>
          </p:nvSpPr>
          <p:spPr bwMode="auto">
            <a:xfrm>
              <a:off x="3756" y="426"/>
              <a:ext cx="0" cy="558"/>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3510" name="Group 38">
            <a:extLst>
              <a:ext uri="{FF2B5EF4-FFF2-40B4-BE49-F238E27FC236}">
                <a16:creationId xmlns:a16="http://schemas.microsoft.com/office/drawing/2014/main" id="{4661993D-C0DD-4349-9535-8A7A459EC47B}"/>
              </a:ext>
            </a:extLst>
          </p:cNvPr>
          <p:cNvGrpSpPr>
            <a:grpSpLocks/>
          </p:cNvGrpSpPr>
          <p:nvPr/>
        </p:nvGrpSpPr>
        <p:grpSpPr bwMode="auto">
          <a:xfrm>
            <a:off x="5953125" y="876300"/>
            <a:ext cx="314325" cy="1276350"/>
            <a:chOff x="3750" y="552"/>
            <a:chExt cx="198" cy="804"/>
          </a:xfrm>
        </p:grpSpPr>
        <p:sp>
          <p:nvSpPr>
            <p:cNvPr id="147487" name="Line 12">
              <a:extLst>
                <a:ext uri="{FF2B5EF4-FFF2-40B4-BE49-F238E27FC236}">
                  <a16:creationId xmlns:a16="http://schemas.microsoft.com/office/drawing/2014/main" id="{EFD61AFA-8DFE-6546-97FA-3943BAB1CB2F}"/>
                </a:ext>
              </a:extLst>
            </p:cNvPr>
            <p:cNvSpPr>
              <a:spLocks noChangeShapeType="1"/>
            </p:cNvSpPr>
            <p:nvPr/>
          </p:nvSpPr>
          <p:spPr bwMode="auto">
            <a:xfrm>
              <a:off x="3750" y="558"/>
              <a:ext cx="198"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8" name="Line 13">
              <a:extLst>
                <a:ext uri="{FF2B5EF4-FFF2-40B4-BE49-F238E27FC236}">
                  <a16:creationId xmlns:a16="http://schemas.microsoft.com/office/drawing/2014/main" id="{9E557C91-593C-164C-A96A-6DCC017D59B8}"/>
                </a:ext>
              </a:extLst>
            </p:cNvPr>
            <p:cNvSpPr>
              <a:spLocks noChangeShapeType="1"/>
            </p:cNvSpPr>
            <p:nvPr/>
          </p:nvSpPr>
          <p:spPr bwMode="auto">
            <a:xfrm>
              <a:off x="3948" y="552"/>
              <a:ext cx="0" cy="80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3508" name="Group 36">
            <a:extLst>
              <a:ext uri="{FF2B5EF4-FFF2-40B4-BE49-F238E27FC236}">
                <a16:creationId xmlns:a16="http://schemas.microsoft.com/office/drawing/2014/main" id="{DF57B42B-3C68-C840-8066-7EEF9BE6915A}"/>
              </a:ext>
            </a:extLst>
          </p:cNvPr>
          <p:cNvGrpSpPr>
            <a:grpSpLocks/>
          </p:cNvGrpSpPr>
          <p:nvPr/>
        </p:nvGrpSpPr>
        <p:grpSpPr bwMode="auto">
          <a:xfrm>
            <a:off x="3238500" y="1247775"/>
            <a:ext cx="1200150" cy="1104900"/>
            <a:chOff x="2040" y="786"/>
            <a:chExt cx="756" cy="696"/>
          </a:xfrm>
        </p:grpSpPr>
        <p:sp>
          <p:nvSpPr>
            <p:cNvPr id="147483" name="Line 14">
              <a:extLst>
                <a:ext uri="{FF2B5EF4-FFF2-40B4-BE49-F238E27FC236}">
                  <a16:creationId xmlns:a16="http://schemas.microsoft.com/office/drawing/2014/main" id="{86C287E4-8A0F-C64D-98A5-FC5D954E5F56}"/>
                </a:ext>
              </a:extLst>
            </p:cNvPr>
            <p:cNvSpPr>
              <a:spLocks noChangeShapeType="1"/>
            </p:cNvSpPr>
            <p:nvPr/>
          </p:nvSpPr>
          <p:spPr bwMode="auto">
            <a:xfrm>
              <a:off x="2790" y="786"/>
              <a:ext cx="0" cy="276"/>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4" name="Line 15">
              <a:extLst>
                <a:ext uri="{FF2B5EF4-FFF2-40B4-BE49-F238E27FC236}">
                  <a16:creationId xmlns:a16="http://schemas.microsoft.com/office/drawing/2014/main" id="{E886AE60-1CBB-704D-963F-2A9E25A16F91}"/>
                </a:ext>
              </a:extLst>
            </p:cNvPr>
            <p:cNvSpPr>
              <a:spLocks noChangeShapeType="1"/>
            </p:cNvSpPr>
            <p:nvPr/>
          </p:nvSpPr>
          <p:spPr bwMode="auto">
            <a:xfrm>
              <a:off x="2040" y="1476"/>
              <a:ext cx="354"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5" name="Line 16">
              <a:extLst>
                <a:ext uri="{FF2B5EF4-FFF2-40B4-BE49-F238E27FC236}">
                  <a16:creationId xmlns:a16="http://schemas.microsoft.com/office/drawing/2014/main" id="{0A3DFE5B-FAC6-8747-809B-66EB9EB2F4EB}"/>
                </a:ext>
              </a:extLst>
            </p:cNvPr>
            <p:cNvSpPr>
              <a:spLocks noChangeShapeType="1"/>
            </p:cNvSpPr>
            <p:nvPr/>
          </p:nvSpPr>
          <p:spPr bwMode="auto">
            <a:xfrm>
              <a:off x="2394" y="786"/>
              <a:ext cx="0" cy="696"/>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6" name="Line 17">
              <a:extLst>
                <a:ext uri="{FF2B5EF4-FFF2-40B4-BE49-F238E27FC236}">
                  <a16:creationId xmlns:a16="http://schemas.microsoft.com/office/drawing/2014/main" id="{1C836502-A928-BC4C-ACC6-873F2C268CF4}"/>
                </a:ext>
              </a:extLst>
            </p:cNvPr>
            <p:cNvSpPr>
              <a:spLocks noChangeShapeType="1"/>
            </p:cNvSpPr>
            <p:nvPr/>
          </p:nvSpPr>
          <p:spPr bwMode="auto">
            <a:xfrm>
              <a:off x="2388" y="786"/>
              <a:ext cx="408"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3507" name="Group 35">
            <a:extLst>
              <a:ext uri="{FF2B5EF4-FFF2-40B4-BE49-F238E27FC236}">
                <a16:creationId xmlns:a16="http://schemas.microsoft.com/office/drawing/2014/main" id="{E335DB06-0DCB-1241-9592-2B0BFEA323CA}"/>
              </a:ext>
            </a:extLst>
          </p:cNvPr>
          <p:cNvGrpSpPr>
            <a:grpSpLocks/>
          </p:cNvGrpSpPr>
          <p:nvPr/>
        </p:nvGrpSpPr>
        <p:grpSpPr bwMode="auto">
          <a:xfrm>
            <a:off x="552450" y="1133475"/>
            <a:ext cx="3095625" cy="4295775"/>
            <a:chOff x="348" y="714"/>
            <a:chExt cx="1950" cy="2706"/>
          </a:xfrm>
        </p:grpSpPr>
        <p:sp>
          <p:nvSpPr>
            <p:cNvPr id="147478" name="Line 18">
              <a:extLst>
                <a:ext uri="{FF2B5EF4-FFF2-40B4-BE49-F238E27FC236}">
                  <a16:creationId xmlns:a16="http://schemas.microsoft.com/office/drawing/2014/main" id="{29FAB0DD-6186-BF4B-BC0F-F834551C6F3B}"/>
                </a:ext>
              </a:extLst>
            </p:cNvPr>
            <p:cNvSpPr>
              <a:spLocks noChangeShapeType="1"/>
            </p:cNvSpPr>
            <p:nvPr/>
          </p:nvSpPr>
          <p:spPr bwMode="auto">
            <a:xfrm>
              <a:off x="2002" y="1360"/>
              <a:ext cx="288"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9" name="Line 19">
              <a:extLst>
                <a:ext uri="{FF2B5EF4-FFF2-40B4-BE49-F238E27FC236}">
                  <a16:creationId xmlns:a16="http://schemas.microsoft.com/office/drawing/2014/main" id="{689F924E-6309-E84E-BDFE-939E3E6792D2}"/>
                </a:ext>
              </a:extLst>
            </p:cNvPr>
            <p:cNvSpPr>
              <a:spLocks noChangeShapeType="1"/>
            </p:cNvSpPr>
            <p:nvPr/>
          </p:nvSpPr>
          <p:spPr bwMode="auto">
            <a:xfrm>
              <a:off x="2290" y="724"/>
              <a:ext cx="0" cy="624"/>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0" name="Line 21">
              <a:extLst>
                <a:ext uri="{FF2B5EF4-FFF2-40B4-BE49-F238E27FC236}">
                  <a16:creationId xmlns:a16="http://schemas.microsoft.com/office/drawing/2014/main" id="{C0164372-A9F5-3F45-BF12-048A55C8DCC3}"/>
                </a:ext>
              </a:extLst>
            </p:cNvPr>
            <p:cNvSpPr>
              <a:spLocks noChangeShapeType="1"/>
            </p:cNvSpPr>
            <p:nvPr/>
          </p:nvSpPr>
          <p:spPr bwMode="auto">
            <a:xfrm>
              <a:off x="348" y="714"/>
              <a:ext cx="195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1" name="Line 22">
              <a:extLst>
                <a:ext uri="{FF2B5EF4-FFF2-40B4-BE49-F238E27FC236}">
                  <a16:creationId xmlns:a16="http://schemas.microsoft.com/office/drawing/2014/main" id="{2D973365-B086-D944-B3C2-BABAA9FD80FB}"/>
                </a:ext>
              </a:extLst>
            </p:cNvPr>
            <p:cNvSpPr>
              <a:spLocks noChangeShapeType="1"/>
            </p:cNvSpPr>
            <p:nvPr/>
          </p:nvSpPr>
          <p:spPr bwMode="auto">
            <a:xfrm>
              <a:off x="354" y="714"/>
              <a:ext cx="6" cy="2706"/>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2" name="Line 23">
              <a:extLst>
                <a:ext uri="{FF2B5EF4-FFF2-40B4-BE49-F238E27FC236}">
                  <a16:creationId xmlns:a16="http://schemas.microsoft.com/office/drawing/2014/main" id="{6CE55A1E-1C04-3540-8E4D-F417F246F150}"/>
                </a:ext>
              </a:extLst>
            </p:cNvPr>
            <p:cNvSpPr>
              <a:spLocks noChangeShapeType="1"/>
            </p:cNvSpPr>
            <p:nvPr/>
          </p:nvSpPr>
          <p:spPr bwMode="auto">
            <a:xfrm>
              <a:off x="354" y="3414"/>
              <a:ext cx="930"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3496" name="Line 24">
            <a:extLst>
              <a:ext uri="{FF2B5EF4-FFF2-40B4-BE49-F238E27FC236}">
                <a16:creationId xmlns:a16="http://schemas.microsoft.com/office/drawing/2014/main" id="{878D7EC8-8839-C241-B932-85209018A59E}"/>
              </a:ext>
            </a:extLst>
          </p:cNvPr>
          <p:cNvSpPr>
            <a:spLocks noChangeShapeType="1"/>
          </p:cNvSpPr>
          <p:nvPr/>
        </p:nvSpPr>
        <p:spPr bwMode="auto">
          <a:xfrm flipV="1">
            <a:off x="5000625" y="2952750"/>
            <a:ext cx="161925" cy="9525"/>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3497" name="Line 25">
            <a:extLst>
              <a:ext uri="{FF2B5EF4-FFF2-40B4-BE49-F238E27FC236}">
                <a16:creationId xmlns:a16="http://schemas.microsoft.com/office/drawing/2014/main" id="{274C3710-6245-CC46-8283-220C1843D18B}"/>
              </a:ext>
            </a:extLst>
          </p:cNvPr>
          <p:cNvSpPr>
            <a:spLocks noChangeShapeType="1"/>
          </p:cNvSpPr>
          <p:nvPr/>
        </p:nvSpPr>
        <p:spPr bwMode="auto">
          <a:xfrm>
            <a:off x="5153025" y="2781300"/>
            <a:ext cx="0" cy="19050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3498" name="Line 26">
            <a:extLst>
              <a:ext uri="{FF2B5EF4-FFF2-40B4-BE49-F238E27FC236}">
                <a16:creationId xmlns:a16="http://schemas.microsoft.com/office/drawing/2014/main" id="{4725DFF8-2BDF-9246-9B50-08F25506D041}"/>
              </a:ext>
            </a:extLst>
          </p:cNvPr>
          <p:cNvSpPr>
            <a:spLocks noChangeShapeType="1"/>
          </p:cNvSpPr>
          <p:nvPr/>
        </p:nvSpPr>
        <p:spPr bwMode="auto">
          <a:xfrm>
            <a:off x="5153025" y="2781300"/>
            <a:ext cx="323850"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33506" name="Group 34">
            <a:extLst>
              <a:ext uri="{FF2B5EF4-FFF2-40B4-BE49-F238E27FC236}">
                <a16:creationId xmlns:a16="http://schemas.microsoft.com/office/drawing/2014/main" id="{1EB97F11-67D8-BA4D-A019-046C511244D7}"/>
              </a:ext>
            </a:extLst>
          </p:cNvPr>
          <p:cNvGrpSpPr>
            <a:grpSpLocks/>
          </p:cNvGrpSpPr>
          <p:nvPr/>
        </p:nvGrpSpPr>
        <p:grpSpPr bwMode="auto">
          <a:xfrm>
            <a:off x="3057525" y="2819400"/>
            <a:ext cx="3876675" cy="876300"/>
            <a:chOff x="1926" y="1776"/>
            <a:chExt cx="2442" cy="552"/>
          </a:xfrm>
        </p:grpSpPr>
        <p:grpSp>
          <p:nvGrpSpPr>
            <p:cNvPr id="147472" name="Group 33">
              <a:extLst>
                <a:ext uri="{FF2B5EF4-FFF2-40B4-BE49-F238E27FC236}">
                  <a16:creationId xmlns:a16="http://schemas.microsoft.com/office/drawing/2014/main" id="{6D4C749E-D499-A34E-90E2-0520BC5942C5}"/>
                </a:ext>
              </a:extLst>
            </p:cNvPr>
            <p:cNvGrpSpPr>
              <a:grpSpLocks/>
            </p:cNvGrpSpPr>
            <p:nvPr/>
          </p:nvGrpSpPr>
          <p:grpSpPr bwMode="auto">
            <a:xfrm>
              <a:off x="1926" y="1776"/>
              <a:ext cx="2280" cy="552"/>
              <a:chOff x="1926" y="1776"/>
              <a:chExt cx="2280" cy="552"/>
            </a:xfrm>
          </p:grpSpPr>
          <p:sp>
            <p:nvSpPr>
              <p:cNvPr id="147474" name="Line 27">
                <a:extLst>
                  <a:ext uri="{FF2B5EF4-FFF2-40B4-BE49-F238E27FC236}">
                    <a16:creationId xmlns:a16="http://schemas.microsoft.com/office/drawing/2014/main" id="{B1B63A14-AB45-B54A-986B-388FF291A55C}"/>
                  </a:ext>
                </a:extLst>
              </p:cNvPr>
              <p:cNvSpPr>
                <a:spLocks noChangeShapeType="1"/>
              </p:cNvSpPr>
              <p:nvPr/>
            </p:nvSpPr>
            <p:spPr bwMode="auto">
              <a:xfrm>
                <a:off x="4152" y="2322"/>
                <a:ext cx="5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5" name="Line 28">
                <a:extLst>
                  <a:ext uri="{FF2B5EF4-FFF2-40B4-BE49-F238E27FC236}">
                    <a16:creationId xmlns:a16="http://schemas.microsoft.com/office/drawing/2014/main" id="{BFF07895-95D3-C047-9590-5FD55E493C61}"/>
                  </a:ext>
                </a:extLst>
              </p:cNvPr>
              <p:cNvSpPr>
                <a:spLocks noChangeShapeType="1"/>
              </p:cNvSpPr>
              <p:nvPr/>
            </p:nvSpPr>
            <p:spPr bwMode="auto">
              <a:xfrm>
                <a:off x="4206" y="1944"/>
                <a:ext cx="0" cy="38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6" name="Line 29">
                <a:extLst>
                  <a:ext uri="{FF2B5EF4-FFF2-40B4-BE49-F238E27FC236}">
                    <a16:creationId xmlns:a16="http://schemas.microsoft.com/office/drawing/2014/main" id="{70F20D65-8CC0-6743-B9BB-2C548281AAAA}"/>
                  </a:ext>
                </a:extLst>
              </p:cNvPr>
              <p:cNvSpPr>
                <a:spLocks noChangeShapeType="1"/>
              </p:cNvSpPr>
              <p:nvPr/>
            </p:nvSpPr>
            <p:spPr bwMode="auto">
              <a:xfrm>
                <a:off x="1926" y="1950"/>
                <a:ext cx="227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7" name="Line 30">
                <a:extLst>
                  <a:ext uri="{FF2B5EF4-FFF2-40B4-BE49-F238E27FC236}">
                    <a16:creationId xmlns:a16="http://schemas.microsoft.com/office/drawing/2014/main" id="{6312C0A5-5DB1-384D-A99F-932E765B0983}"/>
                  </a:ext>
                </a:extLst>
              </p:cNvPr>
              <p:cNvSpPr>
                <a:spLocks noChangeShapeType="1"/>
              </p:cNvSpPr>
              <p:nvPr/>
            </p:nvSpPr>
            <p:spPr bwMode="auto">
              <a:xfrm flipV="1">
                <a:off x="1926" y="1776"/>
                <a:ext cx="0" cy="174"/>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7473" name="Text Box 31">
              <a:extLst>
                <a:ext uri="{FF2B5EF4-FFF2-40B4-BE49-F238E27FC236}">
                  <a16:creationId xmlns:a16="http://schemas.microsoft.com/office/drawing/2014/main" id="{838A664F-61D4-ED43-B916-ACDB5D85CE50}"/>
                </a:ext>
              </a:extLst>
            </p:cNvPr>
            <p:cNvSpPr txBox="1">
              <a:spLocks noChangeArrowheads="1"/>
            </p:cNvSpPr>
            <p:nvPr/>
          </p:nvSpPr>
          <p:spPr bwMode="auto">
            <a:xfrm>
              <a:off x="3654" y="1800"/>
              <a:ext cx="71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solidFill>
                    <a:srgbClr val="CC0000"/>
                  </a:solidFill>
                  <a:latin typeface="Arial" panose="020B0604020202020204" pitchFamily="34" charset="0"/>
                  <a:ea typeface="宋体" panose="02010600030101010101" pitchFamily="2" charset="-122"/>
                  <a:cs typeface="Arial" panose="020B0604020202020204" pitchFamily="34" charset="0"/>
                </a:rPr>
                <a:t>Overflow</a:t>
              </a:r>
            </a:p>
          </p:txBody>
        </p:sp>
      </p:grpSp>
      <p:sp>
        <p:nvSpPr>
          <p:cNvPr id="147469" name="Line 32">
            <a:extLst>
              <a:ext uri="{FF2B5EF4-FFF2-40B4-BE49-F238E27FC236}">
                <a16:creationId xmlns:a16="http://schemas.microsoft.com/office/drawing/2014/main" id="{D6541B27-785C-6C44-8F12-C860639A222D}"/>
              </a:ext>
            </a:extLst>
          </p:cNvPr>
          <p:cNvSpPr>
            <a:spLocks noChangeShapeType="1"/>
          </p:cNvSpPr>
          <p:nvPr/>
        </p:nvSpPr>
        <p:spPr bwMode="auto">
          <a:xfrm>
            <a:off x="6572250" y="3762375"/>
            <a:ext cx="18097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3511" name="Line 39">
            <a:extLst>
              <a:ext uri="{FF2B5EF4-FFF2-40B4-BE49-F238E27FC236}">
                <a16:creationId xmlns:a16="http://schemas.microsoft.com/office/drawing/2014/main" id="{13FCD808-7428-DC45-9498-3ABB84EB449B}"/>
              </a:ext>
            </a:extLst>
          </p:cNvPr>
          <p:cNvSpPr>
            <a:spLocks noChangeShapeType="1"/>
          </p:cNvSpPr>
          <p:nvPr/>
        </p:nvSpPr>
        <p:spPr bwMode="auto">
          <a:xfrm>
            <a:off x="273050" y="3975100"/>
            <a:ext cx="336550"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3513" name="Text Box 41">
            <a:extLst>
              <a:ext uri="{FF2B5EF4-FFF2-40B4-BE49-F238E27FC236}">
                <a16:creationId xmlns:a16="http://schemas.microsoft.com/office/drawing/2014/main" id="{E29BAFD8-ACFB-EC4D-9A41-48ED34B690A9}"/>
              </a:ext>
            </a:extLst>
          </p:cNvPr>
          <p:cNvSpPr txBox="1">
            <a:spLocks noChangeArrowheads="1"/>
          </p:cNvSpPr>
          <p:nvPr/>
        </p:nvSpPr>
        <p:spPr bwMode="auto">
          <a:xfrm>
            <a:off x="69850" y="3517900"/>
            <a:ext cx="244475" cy="1282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solidFill>
                  <a:srgbClr val="CC0000"/>
                </a:solidFill>
                <a:latin typeface="Arial" panose="020B0604020202020204" pitchFamily="34" charset="0"/>
                <a:ea typeface="宋体" panose="02010600030101010101" pitchFamily="2" charset="-122"/>
                <a:cs typeface="Arial" panose="020B0604020202020204" pitchFamily="34" charset="0"/>
              </a:rPr>
              <a:t>80000180H</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3479"/>
                                        </p:tgtEl>
                                        <p:attrNameLst>
                                          <p:attrName>style.visibility</p:attrName>
                                        </p:attrNameLst>
                                      </p:cBhvr>
                                      <p:to>
                                        <p:strVal val="visible"/>
                                      </p:to>
                                    </p:set>
                                    <p:animEffect transition="in" filter="blinds(horizontal)">
                                      <p:cBhvr>
                                        <p:cTn id="7" dur="500"/>
                                        <p:tgtEl>
                                          <p:spTgt spid="2334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3506"/>
                                        </p:tgtEl>
                                        <p:attrNameLst>
                                          <p:attrName>style.visibility</p:attrName>
                                        </p:attrNameLst>
                                      </p:cBhvr>
                                      <p:to>
                                        <p:strVal val="visible"/>
                                      </p:to>
                                    </p:set>
                                    <p:animEffect transition="in" filter="blinds(horizontal)">
                                      <p:cBhvr>
                                        <p:cTn id="12" dur="500"/>
                                        <p:tgtEl>
                                          <p:spTgt spid="2335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3507"/>
                                        </p:tgtEl>
                                        <p:attrNameLst>
                                          <p:attrName>style.visibility</p:attrName>
                                        </p:attrNameLst>
                                      </p:cBhvr>
                                      <p:to>
                                        <p:strVal val="visible"/>
                                      </p:to>
                                    </p:set>
                                    <p:animEffect transition="in" filter="blinds(horizontal)">
                                      <p:cBhvr>
                                        <p:cTn id="17" dur="500"/>
                                        <p:tgtEl>
                                          <p:spTgt spid="2335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3508"/>
                                        </p:tgtEl>
                                        <p:attrNameLst>
                                          <p:attrName>style.visibility</p:attrName>
                                        </p:attrNameLst>
                                      </p:cBhvr>
                                      <p:to>
                                        <p:strVal val="visible"/>
                                      </p:to>
                                    </p:set>
                                    <p:animEffect transition="in" filter="blinds(horizontal)">
                                      <p:cBhvr>
                                        <p:cTn id="22" dur="500"/>
                                        <p:tgtEl>
                                          <p:spTgt spid="2335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3509"/>
                                        </p:tgtEl>
                                        <p:attrNameLst>
                                          <p:attrName>style.visibility</p:attrName>
                                        </p:attrNameLst>
                                      </p:cBhvr>
                                      <p:to>
                                        <p:strVal val="visible"/>
                                      </p:to>
                                    </p:set>
                                    <p:animEffect transition="in" filter="blinds(horizontal)">
                                      <p:cBhvr>
                                        <p:cTn id="27" dur="500"/>
                                        <p:tgtEl>
                                          <p:spTgt spid="2335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3510"/>
                                        </p:tgtEl>
                                        <p:attrNameLst>
                                          <p:attrName>style.visibility</p:attrName>
                                        </p:attrNameLst>
                                      </p:cBhvr>
                                      <p:to>
                                        <p:strVal val="visible"/>
                                      </p:to>
                                    </p:set>
                                    <p:animEffect transition="in" filter="blinds(horizontal)">
                                      <p:cBhvr>
                                        <p:cTn id="32" dur="500"/>
                                        <p:tgtEl>
                                          <p:spTgt spid="2335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3496"/>
                                        </p:tgtEl>
                                        <p:attrNameLst>
                                          <p:attrName>style.visibility</p:attrName>
                                        </p:attrNameLst>
                                      </p:cBhvr>
                                      <p:to>
                                        <p:strVal val="visible"/>
                                      </p:to>
                                    </p:set>
                                    <p:animEffect transition="in" filter="blinds(horizontal)">
                                      <p:cBhvr>
                                        <p:cTn id="37" dur="500"/>
                                        <p:tgtEl>
                                          <p:spTgt spid="233496"/>
                                        </p:tgtEl>
                                      </p:cBhvr>
                                    </p:animEffect>
                                  </p:childTnLst>
                                </p:cTn>
                              </p:par>
                              <p:par>
                                <p:cTn id="38" presetID="3" presetClass="entr" presetSubtype="10" fill="hold" nodeType="withEffect">
                                  <p:stCondLst>
                                    <p:cond delay="0"/>
                                  </p:stCondLst>
                                  <p:childTnLst>
                                    <p:set>
                                      <p:cBhvr>
                                        <p:cTn id="39" dur="1" fill="hold">
                                          <p:stCondLst>
                                            <p:cond delay="0"/>
                                          </p:stCondLst>
                                        </p:cTn>
                                        <p:tgtEl>
                                          <p:spTgt spid="233497"/>
                                        </p:tgtEl>
                                        <p:attrNameLst>
                                          <p:attrName>style.visibility</p:attrName>
                                        </p:attrNameLst>
                                      </p:cBhvr>
                                      <p:to>
                                        <p:strVal val="visible"/>
                                      </p:to>
                                    </p:set>
                                    <p:animEffect transition="in" filter="blinds(horizontal)">
                                      <p:cBhvr>
                                        <p:cTn id="40" dur="500"/>
                                        <p:tgtEl>
                                          <p:spTgt spid="233497"/>
                                        </p:tgtEl>
                                      </p:cBhvr>
                                    </p:animEffect>
                                  </p:childTnLst>
                                </p:cTn>
                              </p:par>
                              <p:par>
                                <p:cTn id="41" presetID="3" presetClass="entr" presetSubtype="10" fill="hold" nodeType="withEffect">
                                  <p:stCondLst>
                                    <p:cond delay="0"/>
                                  </p:stCondLst>
                                  <p:childTnLst>
                                    <p:set>
                                      <p:cBhvr>
                                        <p:cTn id="42" dur="1" fill="hold">
                                          <p:stCondLst>
                                            <p:cond delay="0"/>
                                          </p:stCondLst>
                                        </p:cTn>
                                        <p:tgtEl>
                                          <p:spTgt spid="233498"/>
                                        </p:tgtEl>
                                        <p:attrNameLst>
                                          <p:attrName>style.visibility</p:attrName>
                                        </p:attrNameLst>
                                      </p:cBhvr>
                                      <p:to>
                                        <p:strVal val="visible"/>
                                      </p:to>
                                    </p:set>
                                    <p:animEffect transition="in" filter="blinds(horizontal)">
                                      <p:cBhvr>
                                        <p:cTn id="43" dur="500"/>
                                        <p:tgtEl>
                                          <p:spTgt spid="23349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33513"/>
                                        </p:tgtEl>
                                        <p:attrNameLst>
                                          <p:attrName>style.visibility</p:attrName>
                                        </p:attrNameLst>
                                      </p:cBhvr>
                                      <p:to>
                                        <p:strVal val="visible"/>
                                      </p:to>
                                    </p:set>
                                    <p:animEffect transition="in" filter="blinds(horizontal)">
                                      <p:cBhvr>
                                        <p:cTn id="48" dur="500"/>
                                        <p:tgtEl>
                                          <p:spTgt spid="2335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233511"/>
                                        </p:tgtEl>
                                        <p:attrNameLst>
                                          <p:attrName>style.visibility</p:attrName>
                                        </p:attrNameLst>
                                      </p:cBhvr>
                                      <p:to>
                                        <p:strVal val="visible"/>
                                      </p:to>
                                    </p:set>
                                    <p:animEffect transition="in" filter="blinds(horizontal)">
                                      <p:cBhvr>
                                        <p:cTn id="53" dur="500"/>
                                        <p:tgtEl>
                                          <p:spTgt spid="233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9" grpId="0" animBg="1"/>
      <p:bldP spid="2335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E6A1BB04-4D46-514B-AAFE-C79358A3FFEC}"/>
              </a:ext>
            </a:extLst>
          </p:cNvPr>
          <p:cNvSpPr>
            <a:spLocks noGrp="1" noChangeArrowheads="1"/>
          </p:cNvSpPr>
          <p:nvPr>
            <p:ph type="title"/>
          </p:nvPr>
        </p:nvSpPr>
        <p:spPr>
          <a:xfrm>
            <a:off x="800100" y="142875"/>
            <a:ext cx="6862763" cy="368300"/>
          </a:xfrm>
        </p:spPr>
        <p:txBody>
          <a:bodyPr/>
          <a:lstStyle/>
          <a:p>
            <a:r>
              <a:rPr lang="zh-CN" altLang="en-US">
                <a:ea typeface="宋体" panose="02010600030101010101" pitchFamily="2" charset="-122"/>
              </a:rPr>
              <a:t>流水线方式下的异常处理的难点问题</a:t>
            </a:r>
          </a:p>
        </p:txBody>
      </p:sp>
      <p:sp>
        <p:nvSpPr>
          <p:cNvPr id="293891" name="Rectangle 3">
            <a:extLst>
              <a:ext uri="{FF2B5EF4-FFF2-40B4-BE49-F238E27FC236}">
                <a16:creationId xmlns:a16="http://schemas.microsoft.com/office/drawing/2014/main" id="{48AFC248-F8EC-8E42-A9BB-2C60A8BBFE92}"/>
              </a:ext>
            </a:extLst>
          </p:cNvPr>
          <p:cNvSpPr>
            <a:spLocks noGrp="1" noChangeArrowheads="1"/>
          </p:cNvSpPr>
          <p:nvPr>
            <p:ph type="body" idx="1"/>
          </p:nvPr>
        </p:nvSpPr>
        <p:spPr>
          <a:xfrm>
            <a:off x="346075" y="393700"/>
            <a:ext cx="8478838" cy="6042025"/>
          </a:xfrm>
        </p:spPr>
        <p:txBody>
          <a:bodyPr/>
          <a:lstStyle/>
          <a:p>
            <a:pPr>
              <a:lnSpc>
                <a:spcPct val="105000"/>
              </a:lnSpc>
              <a:spcBef>
                <a:spcPct val="5000"/>
              </a:spcBef>
            </a:pPr>
            <a:endParaRPr lang="zh-CN" altLang="en-US" sz="1400">
              <a:ea typeface="宋体" panose="02010600030101010101" pitchFamily="2" charset="-122"/>
            </a:endParaRPr>
          </a:p>
          <a:p>
            <a:pPr>
              <a:spcBef>
                <a:spcPct val="0"/>
              </a:spcBef>
            </a:pPr>
            <a:r>
              <a:rPr lang="zh-CN" altLang="en-US">
                <a:ea typeface="黑体" panose="02010609060101010101" pitchFamily="49" charset="-122"/>
              </a:rPr>
              <a:t>流水线中同时有</a:t>
            </a:r>
            <a:r>
              <a:rPr lang="en-US" altLang="zh-CN">
                <a:ea typeface="黑体" panose="02010609060101010101" pitchFamily="49" charset="-122"/>
              </a:rPr>
              <a:t>5</a:t>
            </a:r>
            <a:r>
              <a:rPr lang="zh-CN" altLang="en-US">
                <a:ea typeface="黑体" panose="02010609060101010101" pitchFamily="49" charset="-122"/>
              </a:rPr>
              <a:t>条指令，到底是哪一条发生异常？</a:t>
            </a:r>
          </a:p>
          <a:p>
            <a:pPr lvl="1">
              <a:lnSpc>
                <a:spcPct val="100000"/>
              </a:lnSpc>
              <a:spcBef>
                <a:spcPct val="0"/>
              </a:spcBef>
            </a:pPr>
            <a:r>
              <a:rPr lang="zh-CN" altLang="en-US">
                <a:ea typeface="黑体" panose="02010609060101010101" pitchFamily="49" charset="-122"/>
              </a:rPr>
              <a:t>根据异常发生的流水段可确定是哪条指令，因为各类异常发生的流水段不同</a:t>
            </a:r>
          </a:p>
          <a:p>
            <a:pPr lvl="2">
              <a:lnSpc>
                <a:spcPct val="100000"/>
              </a:lnSpc>
              <a:spcBef>
                <a:spcPct val="0"/>
              </a:spcBef>
              <a:buFont typeface="Wingdings" pitchFamily="2" charset="2"/>
              <a:buChar char="ü"/>
            </a:pPr>
            <a:r>
              <a:rPr lang="zh-CN" altLang="en-US">
                <a:solidFill>
                  <a:srgbClr val="008000"/>
                </a:solidFill>
                <a:ea typeface="黑体" panose="02010609060101010101" pitchFamily="49" charset="-122"/>
                <a:cs typeface="Arial" panose="020B0604020202020204" pitchFamily="34" charset="0"/>
              </a:rPr>
              <a:t>“溢出”在</a:t>
            </a:r>
            <a:r>
              <a:rPr lang="en-US" altLang="zh-CN">
                <a:solidFill>
                  <a:srgbClr val="008000"/>
                </a:solidFill>
                <a:ea typeface="黑体" panose="02010609060101010101" pitchFamily="49" charset="-122"/>
                <a:cs typeface="Arial" panose="020B0604020202020204" pitchFamily="34" charset="0"/>
              </a:rPr>
              <a:t>EXE</a:t>
            </a:r>
            <a:r>
              <a:rPr lang="zh-CN" altLang="en-US">
                <a:solidFill>
                  <a:srgbClr val="008000"/>
                </a:solidFill>
                <a:ea typeface="黑体" panose="02010609060101010101" pitchFamily="49" charset="-122"/>
                <a:cs typeface="Arial" panose="020B0604020202020204" pitchFamily="34" charset="0"/>
              </a:rPr>
              <a:t>段检出</a:t>
            </a:r>
          </a:p>
          <a:p>
            <a:pPr lvl="2">
              <a:lnSpc>
                <a:spcPct val="100000"/>
              </a:lnSpc>
              <a:spcBef>
                <a:spcPct val="0"/>
              </a:spcBef>
              <a:buFont typeface="Wingdings" pitchFamily="2" charset="2"/>
              <a:buChar char="ü"/>
            </a:pPr>
            <a:r>
              <a:rPr lang="zh-CN" altLang="en-US">
                <a:solidFill>
                  <a:srgbClr val="008000"/>
                </a:solidFill>
                <a:ea typeface="黑体" panose="02010609060101010101" pitchFamily="49" charset="-122"/>
                <a:cs typeface="Arial" panose="020B0604020202020204" pitchFamily="34" charset="0"/>
              </a:rPr>
              <a:t>“无效指令”在</a:t>
            </a:r>
            <a:r>
              <a:rPr lang="en-US" altLang="zh-CN">
                <a:solidFill>
                  <a:srgbClr val="008000"/>
                </a:solidFill>
                <a:ea typeface="黑体" panose="02010609060101010101" pitchFamily="49" charset="-122"/>
                <a:cs typeface="Arial" panose="020B0604020202020204" pitchFamily="34" charset="0"/>
              </a:rPr>
              <a:t>ID</a:t>
            </a:r>
            <a:r>
              <a:rPr lang="zh-CN" altLang="en-US">
                <a:solidFill>
                  <a:srgbClr val="008000"/>
                </a:solidFill>
                <a:ea typeface="黑体" panose="02010609060101010101" pitchFamily="49" charset="-122"/>
                <a:cs typeface="Arial" panose="020B0604020202020204" pitchFamily="34" charset="0"/>
              </a:rPr>
              <a:t>段检出</a:t>
            </a:r>
          </a:p>
          <a:p>
            <a:pPr lvl="2">
              <a:lnSpc>
                <a:spcPct val="100000"/>
              </a:lnSpc>
              <a:spcBef>
                <a:spcPct val="0"/>
              </a:spcBef>
              <a:buFont typeface="Wingdings" pitchFamily="2" charset="2"/>
              <a:buChar char="ü"/>
            </a:pPr>
            <a:r>
              <a:rPr lang="zh-CN" altLang="en-US">
                <a:solidFill>
                  <a:srgbClr val="008000"/>
                </a:solidFill>
                <a:ea typeface="黑体" panose="02010609060101010101" pitchFamily="49" charset="-122"/>
                <a:cs typeface="Arial" panose="020B0604020202020204" pitchFamily="34" charset="0"/>
              </a:rPr>
              <a:t>“除数为</a:t>
            </a:r>
            <a:r>
              <a:rPr lang="en-US" altLang="zh-CN">
                <a:solidFill>
                  <a:srgbClr val="008000"/>
                </a:solidFill>
                <a:ea typeface="黑体" panose="02010609060101010101" pitchFamily="49" charset="-122"/>
                <a:cs typeface="Arial" panose="020B0604020202020204" pitchFamily="34" charset="0"/>
              </a:rPr>
              <a:t>0”</a:t>
            </a:r>
            <a:r>
              <a:rPr lang="zh-CN" altLang="en-US">
                <a:solidFill>
                  <a:srgbClr val="008000"/>
                </a:solidFill>
                <a:ea typeface="黑体" panose="02010609060101010101" pitchFamily="49" charset="-122"/>
                <a:cs typeface="Arial" panose="020B0604020202020204" pitchFamily="34" charset="0"/>
              </a:rPr>
              <a:t>在</a:t>
            </a:r>
            <a:r>
              <a:rPr lang="en-US" altLang="zh-CN">
                <a:solidFill>
                  <a:srgbClr val="008000"/>
                </a:solidFill>
                <a:ea typeface="黑体" panose="02010609060101010101" pitchFamily="49" charset="-122"/>
                <a:cs typeface="Arial" panose="020B0604020202020204" pitchFamily="34" charset="0"/>
              </a:rPr>
              <a:t>ID</a:t>
            </a:r>
            <a:r>
              <a:rPr lang="zh-CN" altLang="en-US">
                <a:solidFill>
                  <a:srgbClr val="008000"/>
                </a:solidFill>
                <a:ea typeface="黑体" panose="02010609060101010101" pitchFamily="49" charset="-122"/>
                <a:cs typeface="Arial" panose="020B0604020202020204" pitchFamily="34" charset="0"/>
              </a:rPr>
              <a:t>段检出</a:t>
            </a:r>
          </a:p>
          <a:p>
            <a:pPr lvl="2">
              <a:lnSpc>
                <a:spcPct val="100000"/>
              </a:lnSpc>
              <a:spcBef>
                <a:spcPct val="0"/>
              </a:spcBef>
              <a:buFont typeface="Wingdings" pitchFamily="2" charset="2"/>
              <a:buChar char="ü"/>
            </a:pPr>
            <a:r>
              <a:rPr lang="zh-CN" altLang="en-US">
                <a:solidFill>
                  <a:srgbClr val="008000"/>
                </a:solidFill>
                <a:ea typeface="黑体" panose="02010609060101010101" pitchFamily="49" charset="-122"/>
                <a:cs typeface="Arial" panose="020B0604020202020204" pitchFamily="34" charset="0"/>
              </a:rPr>
              <a:t>“无效指令地址”在</a:t>
            </a:r>
            <a:r>
              <a:rPr lang="en-US" altLang="zh-CN">
                <a:solidFill>
                  <a:srgbClr val="008000"/>
                </a:solidFill>
                <a:ea typeface="黑体" panose="02010609060101010101" pitchFamily="49" charset="-122"/>
                <a:cs typeface="Arial" panose="020B0604020202020204" pitchFamily="34" charset="0"/>
              </a:rPr>
              <a:t>IF</a:t>
            </a:r>
            <a:r>
              <a:rPr lang="zh-CN" altLang="en-US">
                <a:solidFill>
                  <a:srgbClr val="008000"/>
                </a:solidFill>
                <a:ea typeface="黑体" panose="02010609060101010101" pitchFamily="49" charset="-122"/>
                <a:cs typeface="Arial" panose="020B0604020202020204" pitchFamily="34" charset="0"/>
              </a:rPr>
              <a:t>段检出</a:t>
            </a:r>
          </a:p>
          <a:p>
            <a:pPr lvl="2">
              <a:lnSpc>
                <a:spcPct val="100000"/>
              </a:lnSpc>
              <a:spcBef>
                <a:spcPct val="0"/>
              </a:spcBef>
              <a:buFont typeface="Wingdings" pitchFamily="2" charset="2"/>
              <a:buChar char="ü"/>
            </a:pPr>
            <a:r>
              <a:rPr lang="zh-CN" altLang="en-US">
                <a:solidFill>
                  <a:srgbClr val="008000"/>
                </a:solidFill>
                <a:ea typeface="黑体" panose="02010609060101010101" pitchFamily="49" charset="-122"/>
                <a:cs typeface="Arial" panose="020B0604020202020204" pitchFamily="34" charset="0"/>
              </a:rPr>
              <a:t>“无效数据地址”在</a:t>
            </a:r>
            <a:r>
              <a:rPr lang="en-US" altLang="zh-CN">
                <a:solidFill>
                  <a:srgbClr val="008000"/>
                </a:solidFill>
                <a:ea typeface="黑体" panose="02010609060101010101" pitchFamily="49" charset="-122"/>
                <a:cs typeface="Arial" panose="020B0604020202020204" pitchFamily="34" charset="0"/>
              </a:rPr>
              <a:t>Load/Store</a:t>
            </a:r>
            <a:r>
              <a:rPr lang="zh-CN" altLang="en-US">
                <a:solidFill>
                  <a:srgbClr val="008000"/>
                </a:solidFill>
                <a:ea typeface="黑体" panose="02010609060101010101" pitchFamily="49" charset="-122"/>
                <a:cs typeface="Arial" panose="020B0604020202020204" pitchFamily="34" charset="0"/>
              </a:rPr>
              <a:t>指令的</a:t>
            </a:r>
            <a:r>
              <a:rPr lang="en-US" altLang="zh-CN">
                <a:solidFill>
                  <a:srgbClr val="008000"/>
                </a:solidFill>
                <a:ea typeface="黑体" panose="02010609060101010101" pitchFamily="49" charset="-122"/>
                <a:cs typeface="Arial" panose="020B0604020202020204" pitchFamily="34" charset="0"/>
              </a:rPr>
              <a:t>EXE</a:t>
            </a:r>
            <a:r>
              <a:rPr lang="zh-CN" altLang="en-US">
                <a:solidFill>
                  <a:srgbClr val="008000"/>
                </a:solidFill>
                <a:ea typeface="黑体" panose="02010609060101010101" pitchFamily="49" charset="-122"/>
                <a:cs typeface="Arial" panose="020B0604020202020204" pitchFamily="34" charset="0"/>
              </a:rPr>
              <a:t>段检出</a:t>
            </a:r>
          </a:p>
          <a:p>
            <a:pPr>
              <a:spcBef>
                <a:spcPct val="0"/>
              </a:spcBef>
            </a:pPr>
            <a:r>
              <a:rPr lang="zh-CN" altLang="en-US">
                <a:ea typeface="黑体" panose="02010609060101010101" pitchFamily="49" charset="-122"/>
              </a:rPr>
              <a:t>外部中断与特定指令无关，如何确定处理点？</a:t>
            </a:r>
          </a:p>
          <a:p>
            <a:pPr lvl="1">
              <a:lnSpc>
                <a:spcPct val="100000"/>
              </a:lnSpc>
              <a:spcBef>
                <a:spcPct val="0"/>
              </a:spcBef>
            </a:pPr>
            <a:r>
              <a:rPr lang="zh-CN" altLang="en-US">
                <a:ea typeface="黑体" panose="02010609060101010101" pitchFamily="49" charset="-122"/>
              </a:rPr>
              <a:t>可在</a:t>
            </a:r>
            <a:r>
              <a:rPr lang="en-US" altLang="zh-CN">
                <a:ea typeface="黑体" panose="02010609060101010101" pitchFamily="49" charset="-122"/>
              </a:rPr>
              <a:t>IF</a:t>
            </a:r>
            <a:r>
              <a:rPr lang="zh-CN" altLang="en-US">
                <a:ea typeface="黑体" panose="02010609060101010101" pitchFamily="49" charset="-122"/>
              </a:rPr>
              <a:t>段或</a:t>
            </a:r>
            <a:r>
              <a:rPr lang="en-US" altLang="zh-CN">
                <a:ea typeface="黑体" panose="02010609060101010101" pitchFamily="49" charset="-122"/>
              </a:rPr>
              <a:t>WB</a:t>
            </a:r>
            <a:r>
              <a:rPr lang="zh-CN" altLang="en-US">
                <a:ea typeface="黑体" panose="02010609060101010101" pitchFamily="49" charset="-122"/>
              </a:rPr>
              <a:t>段中进行中断查询，需要保证当前</a:t>
            </a:r>
            <a:r>
              <a:rPr lang="en-US" altLang="zh-CN">
                <a:ea typeface="黑体" panose="02010609060101010101" pitchFamily="49" charset="-122"/>
              </a:rPr>
              <a:t>WB</a:t>
            </a:r>
            <a:r>
              <a:rPr lang="zh-CN" altLang="en-US">
                <a:ea typeface="黑体" panose="02010609060101010101" pitchFamily="49" charset="-122"/>
              </a:rPr>
              <a:t>段的指令能正确完成，并在有中断发生时，确保下个时钟开始执行中断服务程序</a:t>
            </a:r>
          </a:p>
          <a:p>
            <a:pPr>
              <a:spcBef>
                <a:spcPct val="0"/>
              </a:spcBef>
            </a:pPr>
            <a:r>
              <a:rPr lang="zh-CN" altLang="en-US">
                <a:ea typeface="黑体" panose="02010609060101010101" pitchFamily="49" charset="-122"/>
              </a:rPr>
              <a:t>检测到异常时，指令已经取出多条，当前</a:t>
            </a:r>
            <a:r>
              <a:rPr lang="en-US" altLang="zh-CN">
                <a:ea typeface="黑体" panose="02010609060101010101" pitchFamily="49" charset="-122"/>
              </a:rPr>
              <a:t>PC</a:t>
            </a:r>
            <a:r>
              <a:rPr lang="zh-CN" altLang="en-US">
                <a:ea typeface="黑体" panose="02010609060101010101" pitchFamily="49" charset="-122"/>
              </a:rPr>
              <a:t>的值已不是断点，怎么办？</a:t>
            </a:r>
          </a:p>
          <a:p>
            <a:pPr lvl="1">
              <a:lnSpc>
                <a:spcPct val="100000"/>
              </a:lnSpc>
              <a:spcBef>
                <a:spcPct val="0"/>
              </a:spcBef>
            </a:pPr>
            <a:r>
              <a:rPr lang="zh-CN" altLang="en-US">
                <a:ea typeface="黑体" panose="02010609060101010101" pitchFamily="49" charset="-122"/>
              </a:rPr>
              <a:t>指令地址存放在流水段</a:t>
            </a:r>
            <a:r>
              <a:rPr lang="en-US" altLang="zh-CN">
                <a:ea typeface="黑体" panose="02010609060101010101" pitchFamily="49" charset="-122"/>
              </a:rPr>
              <a:t>R</a:t>
            </a:r>
            <a:r>
              <a:rPr lang="zh-CN" altLang="en-US">
                <a:ea typeface="黑体" panose="02010609060101010101" pitchFamily="49" charset="-122"/>
              </a:rPr>
              <a:t>，可把这个地址送到</a:t>
            </a:r>
            <a:r>
              <a:rPr lang="en-US" altLang="zh-CN">
                <a:ea typeface="黑体" panose="02010609060101010101" pitchFamily="49" charset="-122"/>
              </a:rPr>
              <a:t>EPC</a:t>
            </a:r>
            <a:r>
              <a:rPr lang="zh-CN" altLang="en-US">
                <a:ea typeface="黑体" panose="02010609060101010101" pitchFamily="49" charset="-122"/>
              </a:rPr>
              <a:t>保存，以实现精确中断</a:t>
            </a:r>
          </a:p>
          <a:p>
            <a:pPr lvl="1">
              <a:lnSpc>
                <a:spcPct val="100000"/>
              </a:lnSpc>
              <a:spcBef>
                <a:spcPct val="0"/>
              </a:spcBef>
              <a:buFontTx/>
              <a:buNone/>
            </a:pPr>
            <a:r>
              <a:rPr lang="zh-CN" altLang="en-US">
                <a:solidFill>
                  <a:srgbClr val="008000"/>
                </a:solidFill>
                <a:ea typeface="黑体" panose="02010609060101010101" pitchFamily="49" charset="-122"/>
              </a:rPr>
              <a:t>非精确中断不能提供准确的断点，而由操作系统来确定哪条指令发生了异常</a:t>
            </a:r>
            <a:endParaRPr lang="zh-CN" altLang="en-US">
              <a:ea typeface="黑体" panose="02010609060101010101" pitchFamily="49" charset="-122"/>
            </a:endParaRPr>
          </a:p>
          <a:p>
            <a:pPr>
              <a:spcBef>
                <a:spcPct val="0"/>
              </a:spcBef>
            </a:pPr>
            <a:r>
              <a:rPr lang="zh-CN" altLang="en-US">
                <a:ea typeface="黑体" panose="02010609060101010101" pitchFamily="49" charset="-122"/>
              </a:rPr>
              <a:t>一个时钟周期内可能有多个异常，该先处理哪个？</a:t>
            </a:r>
          </a:p>
          <a:p>
            <a:pPr lvl="1">
              <a:lnSpc>
                <a:spcPct val="100000"/>
              </a:lnSpc>
              <a:spcBef>
                <a:spcPct val="0"/>
              </a:spcBef>
            </a:pPr>
            <a:r>
              <a:rPr lang="zh-CN" altLang="en-US">
                <a:ea typeface="黑体" panose="02010609060101010101" pitchFamily="49" charset="-122"/>
              </a:rPr>
              <a:t>异常：检出异常后，其原因存到专门寄存器中并流到最后阶段处理，使</a:t>
            </a:r>
            <a:r>
              <a:rPr lang="zh-CN" altLang="en-US">
                <a:solidFill>
                  <a:srgbClr val="CC0000"/>
                </a:solidFill>
                <a:ea typeface="黑体" panose="02010609060101010101" pitchFamily="49" charset="-122"/>
              </a:rPr>
              <a:t>前面指令的异常优先级高于后面指令</a:t>
            </a:r>
          </a:p>
          <a:p>
            <a:pPr lvl="1">
              <a:lnSpc>
                <a:spcPct val="100000"/>
              </a:lnSpc>
              <a:spcBef>
                <a:spcPct val="0"/>
              </a:spcBef>
            </a:pPr>
            <a:r>
              <a:rPr lang="zh-CN" altLang="en-US">
                <a:ea typeface="黑体" panose="02010609060101010101" pitchFamily="49" charset="-122"/>
              </a:rPr>
              <a:t>中断：在中断查询程序或中断优先级排队电路中按顺序查询</a:t>
            </a:r>
          </a:p>
          <a:p>
            <a:pPr>
              <a:spcBef>
                <a:spcPct val="0"/>
              </a:spcBef>
            </a:pPr>
            <a:r>
              <a:rPr lang="zh-CN" altLang="en-US">
                <a:ea typeface="黑体" panose="02010609060101010101" pitchFamily="49" charset="-122"/>
              </a:rPr>
              <a:t>系统中只有一个</a:t>
            </a:r>
            <a:r>
              <a:rPr lang="en-US" altLang="zh-CN">
                <a:ea typeface="黑体" panose="02010609060101010101" pitchFamily="49" charset="-122"/>
              </a:rPr>
              <a:t>EPC</a:t>
            </a:r>
            <a:r>
              <a:rPr lang="zh-CN" altLang="en-US">
                <a:ea typeface="黑体" panose="02010609060101010101" pitchFamily="49" charset="-122"/>
              </a:rPr>
              <a:t>，多个中断发生时，一个</a:t>
            </a:r>
            <a:r>
              <a:rPr lang="en-US" altLang="zh-CN">
                <a:ea typeface="黑体" panose="02010609060101010101" pitchFamily="49" charset="-122"/>
              </a:rPr>
              <a:t>EPC</a:t>
            </a:r>
            <a:r>
              <a:rPr lang="zh-CN" altLang="en-US">
                <a:ea typeface="黑体" panose="02010609060101010101" pitchFamily="49" charset="-122"/>
              </a:rPr>
              <a:t>不够放多个断点，怎么办？</a:t>
            </a:r>
          </a:p>
          <a:p>
            <a:pPr lvl="1">
              <a:lnSpc>
                <a:spcPct val="100000"/>
              </a:lnSpc>
              <a:spcBef>
                <a:spcPct val="0"/>
              </a:spcBef>
            </a:pPr>
            <a:r>
              <a:rPr lang="zh-CN" altLang="en-US">
                <a:ea typeface="黑体" panose="02010609060101010101" pitchFamily="49" charset="-122"/>
              </a:rPr>
              <a:t>总是把优先级最高的送到</a:t>
            </a:r>
            <a:r>
              <a:rPr lang="en-US" altLang="zh-CN">
                <a:ea typeface="黑体" panose="02010609060101010101" pitchFamily="49" charset="-122"/>
              </a:rPr>
              <a:t>EPC</a:t>
            </a:r>
            <a:r>
              <a:rPr lang="zh-CN" altLang="en-US">
                <a:ea typeface="黑体" panose="02010609060101010101" pitchFamily="49" charset="-122"/>
              </a:rPr>
              <a:t>中</a:t>
            </a:r>
          </a:p>
          <a:p>
            <a:pPr>
              <a:spcBef>
                <a:spcPct val="0"/>
              </a:spcBef>
            </a:pPr>
            <a:r>
              <a:rPr lang="zh-CN" altLang="en-US">
                <a:ea typeface="黑体" panose="02010609060101010101" pitchFamily="49" charset="-122"/>
              </a:rPr>
              <a:t>在异常处理过程中，又发生了新的异常或中断，怎么办？</a:t>
            </a:r>
          </a:p>
          <a:p>
            <a:pPr lvl="1">
              <a:lnSpc>
                <a:spcPct val="100000"/>
              </a:lnSpc>
              <a:spcBef>
                <a:spcPct val="0"/>
              </a:spcBef>
            </a:pPr>
            <a:r>
              <a:rPr lang="zh-CN" altLang="en-US">
                <a:ea typeface="黑体" panose="02010609060101010101" pitchFamily="49" charset="-122"/>
              </a:rPr>
              <a:t>利用中断屏蔽和中断嵌套机制来处理</a:t>
            </a:r>
            <a:endParaRPr lang="zh-CN" altLang="en-US">
              <a:solidFill>
                <a:srgbClr val="008000"/>
              </a:solidFill>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3891">
                                            <p:txEl>
                                              <p:pRg st="1" end="1"/>
                                            </p:txEl>
                                          </p:spTgt>
                                        </p:tgtEl>
                                        <p:attrNameLst>
                                          <p:attrName>style.visibility</p:attrName>
                                        </p:attrNameLst>
                                      </p:cBhvr>
                                      <p:to>
                                        <p:strVal val="visible"/>
                                      </p:to>
                                    </p:set>
                                    <p:animEffect transition="in" filter="blinds(horizontal)">
                                      <p:cBhvr>
                                        <p:cTn id="7" dur="500"/>
                                        <p:tgtEl>
                                          <p:spTgt spid="293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3891">
                                            <p:txEl>
                                              <p:pRg st="2" end="2"/>
                                            </p:txEl>
                                          </p:spTgt>
                                        </p:tgtEl>
                                        <p:attrNameLst>
                                          <p:attrName>style.visibility</p:attrName>
                                        </p:attrNameLst>
                                      </p:cBhvr>
                                      <p:to>
                                        <p:strVal val="visible"/>
                                      </p:to>
                                    </p:set>
                                    <p:animEffect transition="in" filter="blinds(horizontal)">
                                      <p:cBhvr>
                                        <p:cTn id="12" dur="500"/>
                                        <p:tgtEl>
                                          <p:spTgt spid="293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3891">
                                            <p:txEl>
                                              <p:pRg st="3" end="3"/>
                                            </p:txEl>
                                          </p:spTgt>
                                        </p:tgtEl>
                                        <p:attrNameLst>
                                          <p:attrName>style.visibility</p:attrName>
                                        </p:attrNameLst>
                                      </p:cBhvr>
                                      <p:to>
                                        <p:strVal val="visible"/>
                                      </p:to>
                                    </p:set>
                                    <p:animEffect transition="in" filter="blinds(horizontal)">
                                      <p:cBhvr>
                                        <p:cTn id="17" dur="500"/>
                                        <p:tgtEl>
                                          <p:spTgt spid="2938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3891">
                                            <p:txEl>
                                              <p:pRg st="4" end="4"/>
                                            </p:txEl>
                                          </p:spTgt>
                                        </p:tgtEl>
                                        <p:attrNameLst>
                                          <p:attrName>style.visibility</p:attrName>
                                        </p:attrNameLst>
                                      </p:cBhvr>
                                      <p:to>
                                        <p:strVal val="visible"/>
                                      </p:to>
                                    </p:set>
                                    <p:animEffect transition="in" filter="blinds(horizontal)">
                                      <p:cBhvr>
                                        <p:cTn id="22" dur="500"/>
                                        <p:tgtEl>
                                          <p:spTgt spid="2938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3891">
                                            <p:txEl>
                                              <p:pRg st="5" end="5"/>
                                            </p:txEl>
                                          </p:spTgt>
                                        </p:tgtEl>
                                        <p:attrNameLst>
                                          <p:attrName>style.visibility</p:attrName>
                                        </p:attrNameLst>
                                      </p:cBhvr>
                                      <p:to>
                                        <p:strVal val="visible"/>
                                      </p:to>
                                    </p:set>
                                    <p:animEffect transition="in" filter="blinds(horizontal)">
                                      <p:cBhvr>
                                        <p:cTn id="27" dur="500"/>
                                        <p:tgtEl>
                                          <p:spTgt spid="29389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3891">
                                            <p:txEl>
                                              <p:pRg st="6" end="6"/>
                                            </p:txEl>
                                          </p:spTgt>
                                        </p:tgtEl>
                                        <p:attrNameLst>
                                          <p:attrName>style.visibility</p:attrName>
                                        </p:attrNameLst>
                                      </p:cBhvr>
                                      <p:to>
                                        <p:strVal val="visible"/>
                                      </p:to>
                                    </p:set>
                                    <p:animEffect transition="in" filter="blinds(horizontal)">
                                      <p:cBhvr>
                                        <p:cTn id="32" dur="500"/>
                                        <p:tgtEl>
                                          <p:spTgt spid="293891">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3891">
                                            <p:txEl>
                                              <p:pRg st="7" end="7"/>
                                            </p:txEl>
                                          </p:spTgt>
                                        </p:tgtEl>
                                        <p:attrNameLst>
                                          <p:attrName>style.visibility</p:attrName>
                                        </p:attrNameLst>
                                      </p:cBhvr>
                                      <p:to>
                                        <p:strVal val="visible"/>
                                      </p:to>
                                    </p:set>
                                    <p:animEffect transition="in" filter="blinds(horizontal)">
                                      <p:cBhvr>
                                        <p:cTn id="37" dur="500"/>
                                        <p:tgtEl>
                                          <p:spTgt spid="293891">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3891">
                                            <p:txEl>
                                              <p:pRg st="8" end="8"/>
                                            </p:txEl>
                                          </p:spTgt>
                                        </p:tgtEl>
                                        <p:attrNameLst>
                                          <p:attrName>style.visibility</p:attrName>
                                        </p:attrNameLst>
                                      </p:cBhvr>
                                      <p:to>
                                        <p:strVal val="visible"/>
                                      </p:to>
                                    </p:set>
                                    <p:animEffect transition="in" filter="blinds(horizontal)">
                                      <p:cBhvr>
                                        <p:cTn id="42" dur="500"/>
                                        <p:tgtEl>
                                          <p:spTgt spid="293891">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93891">
                                            <p:txEl>
                                              <p:pRg st="9" end="9"/>
                                            </p:txEl>
                                          </p:spTgt>
                                        </p:tgtEl>
                                        <p:attrNameLst>
                                          <p:attrName>style.visibility</p:attrName>
                                        </p:attrNameLst>
                                      </p:cBhvr>
                                      <p:to>
                                        <p:strVal val="visible"/>
                                      </p:to>
                                    </p:set>
                                    <p:animEffect transition="in" filter="blinds(horizontal)">
                                      <p:cBhvr>
                                        <p:cTn id="47" dur="500"/>
                                        <p:tgtEl>
                                          <p:spTgt spid="293891">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93891">
                                            <p:txEl>
                                              <p:pRg st="10" end="10"/>
                                            </p:txEl>
                                          </p:spTgt>
                                        </p:tgtEl>
                                        <p:attrNameLst>
                                          <p:attrName>style.visibility</p:attrName>
                                        </p:attrNameLst>
                                      </p:cBhvr>
                                      <p:to>
                                        <p:strVal val="visible"/>
                                      </p:to>
                                    </p:set>
                                    <p:animEffect transition="in" filter="blinds(horizontal)">
                                      <p:cBhvr>
                                        <p:cTn id="52" dur="500"/>
                                        <p:tgtEl>
                                          <p:spTgt spid="293891">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293891">
                                            <p:txEl>
                                              <p:pRg st="11" end="11"/>
                                            </p:txEl>
                                          </p:spTgt>
                                        </p:tgtEl>
                                        <p:attrNameLst>
                                          <p:attrName>style.visibility</p:attrName>
                                        </p:attrNameLst>
                                      </p:cBhvr>
                                      <p:to>
                                        <p:strVal val="visible"/>
                                      </p:to>
                                    </p:set>
                                    <p:animEffect transition="in" filter="blinds(horizontal)">
                                      <p:cBhvr>
                                        <p:cTn id="57" dur="500"/>
                                        <p:tgtEl>
                                          <p:spTgt spid="293891">
                                            <p:txEl>
                                              <p:pRg st="11" end="1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93891">
                                            <p:txEl>
                                              <p:pRg st="12" end="12"/>
                                            </p:txEl>
                                          </p:spTgt>
                                        </p:tgtEl>
                                        <p:attrNameLst>
                                          <p:attrName>style.visibility</p:attrName>
                                        </p:attrNameLst>
                                      </p:cBhvr>
                                      <p:to>
                                        <p:strVal val="visible"/>
                                      </p:to>
                                    </p:set>
                                    <p:animEffect transition="in" filter="blinds(horizontal)">
                                      <p:cBhvr>
                                        <p:cTn id="62" dur="500"/>
                                        <p:tgtEl>
                                          <p:spTgt spid="293891">
                                            <p:txEl>
                                              <p:pRg st="12" end="12"/>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93891">
                                            <p:txEl>
                                              <p:pRg st="13" end="13"/>
                                            </p:txEl>
                                          </p:spTgt>
                                        </p:tgtEl>
                                        <p:attrNameLst>
                                          <p:attrName>style.visibility</p:attrName>
                                        </p:attrNameLst>
                                      </p:cBhvr>
                                      <p:to>
                                        <p:strVal val="visible"/>
                                      </p:to>
                                    </p:set>
                                    <p:animEffect transition="in" filter="blinds(horizontal)">
                                      <p:cBhvr>
                                        <p:cTn id="67" dur="500"/>
                                        <p:tgtEl>
                                          <p:spTgt spid="293891">
                                            <p:txEl>
                                              <p:pRg st="13" end="13"/>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293891">
                                            <p:txEl>
                                              <p:pRg st="14" end="14"/>
                                            </p:txEl>
                                          </p:spTgt>
                                        </p:tgtEl>
                                        <p:attrNameLst>
                                          <p:attrName>style.visibility</p:attrName>
                                        </p:attrNameLst>
                                      </p:cBhvr>
                                      <p:to>
                                        <p:strVal val="visible"/>
                                      </p:to>
                                    </p:set>
                                    <p:animEffect transition="in" filter="blinds(horizontal)">
                                      <p:cBhvr>
                                        <p:cTn id="72" dur="500"/>
                                        <p:tgtEl>
                                          <p:spTgt spid="293891">
                                            <p:txEl>
                                              <p:pRg st="14" end="14"/>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293891">
                                            <p:txEl>
                                              <p:pRg st="15" end="15"/>
                                            </p:txEl>
                                          </p:spTgt>
                                        </p:tgtEl>
                                        <p:attrNameLst>
                                          <p:attrName>style.visibility</p:attrName>
                                        </p:attrNameLst>
                                      </p:cBhvr>
                                      <p:to>
                                        <p:strVal val="visible"/>
                                      </p:to>
                                    </p:set>
                                    <p:animEffect transition="in" filter="blinds(horizontal)">
                                      <p:cBhvr>
                                        <p:cTn id="77" dur="500"/>
                                        <p:tgtEl>
                                          <p:spTgt spid="293891">
                                            <p:txEl>
                                              <p:pRg st="15" end="15"/>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293891">
                                            <p:txEl>
                                              <p:pRg st="16" end="16"/>
                                            </p:txEl>
                                          </p:spTgt>
                                        </p:tgtEl>
                                        <p:attrNameLst>
                                          <p:attrName>style.visibility</p:attrName>
                                        </p:attrNameLst>
                                      </p:cBhvr>
                                      <p:to>
                                        <p:strVal val="visible"/>
                                      </p:to>
                                    </p:set>
                                    <p:animEffect transition="in" filter="blinds(horizontal)">
                                      <p:cBhvr>
                                        <p:cTn id="82" dur="500"/>
                                        <p:tgtEl>
                                          <p:spTgt spid="293891">
                                            <p:txEl>
                                              <p:pRg st="16" end="16"/>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293891">
                                            <p:txEl>
                                              <p:pRg st="17" end="17"/>
                                            </p:txEl>
                                          </p:spTgt>
                                        </p:tgtEl>
                                        <p:attrNameLst>
                                          <p:attrName>style.visibility</p:attrName>
                                        </p:attrNameLst>
                                      </p:cBhvr>
                                      <p:to>
                                        <p:strVal val="visible"/>
                                      </p:to>
                                    </p:set>
                                    <p:animEffect transition="in" filter="blinds(horizontal)">
                                      <p:cBhvr>
                                        <p:cTn id="87" dur="500"/>
                                        <p:tgtEl>
                                          <p:spTgt spid="293891">
                                            <p:txEl>
                                              <p:pRg st="17" end="17"/>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293891">
                                            <p:txEl>
                                              <p:pRg st="18" end="18"/>
                                            </p:txEl>
                                          </p:spTgt>
                                        </p:tgtEl>
                                        <p:attrNameLst>
                                          <p:attrName>style.visibility</p:attrName>
                                        </p:attrNameLst>
                                      </p:cBhvr>
                                      <p:to>
                                        <p:strVal val="visible"/>
                                      </p:to>
                                    </p:set>
                                    <p:animEffect transition="in" filter="blinds(horizontal)">
                                      <p:cBhvr>
                                        <p:cTn id="92" dur="500"/>
                                        <p:tgtEl>
                                          <p:spTgt spid="293891">
                                            <p:txEl>
                                              <p:pRg st="18" end="18"/>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293891">
                                            <p:txEl>
                                              <p:pRg st="19" end="19"/>
                                            </p:txEl>
                                          </p:spTgt>
                                        </p:tgtEl>
                                        <p:attrNameLst>
                                          <p:attrName>style.visibility</p:attrName>
                                        </p:attrNameLst>
                                      </p:cBhvr>
                                      <p:to>
                                        <p:strVal val="visible"/>
                                      </p:to>
                                    </p:set>
                                    <p:animEffect transition="in" filter="blinds(horizontal)">
                                      <p:cBhvr>
                                        <p:cTn id="97" dur="500"/>
                                        <p:tgtEl>
                                          <p:spTgt spid="293891">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A866858D-742E-9C47-88A1-6EB3AD107803}"/>
              </a:ext>
            </a:extLst>
          </p:cNvPr>
          <p:cNvSpPr>
            <a:spLocks noGrp="1" noChangeArrowheads="1"/>
          </p:cNvSpPr>
          <p:nvPr>
            <p:ph type="title"/>
          </p:nvPr>
        </p:nvSpPr>
        <p:spPr/>
        <p:txBody>
          <a:bodyPr/>
          <a:lstStyle/>
          <a:p>
            <a:r>
              <a:rPr lang="zh-CN" altLang="en-US">
                <a:ea typeface="宋体" panose="02010600030101010101" pitchFamily="2" charset="-122"/>
              </a:rPr>
              <a:t>三种处理器实现方式的比较</a:t>
            </a:r>
          </a:p>
        </p:txBody>
      </p:sp>
      <p:sp>
        <p:nvSpPr>
          <p:cNvPr id="149507" name="Rectangle 3">
            <a:extLst>
              <a:ext uri="{FF2B5EF4-FFF2-40B4-BE49-F238E27FC236}">
                <a16:creationId xmlns:a16="http://schemas.microsoft.com/office/drawing/2014/main" id="{AB7BE647-4529-9945-883A-F23B2DB1895A}"/>
              </a:ext>
            </a:extLst>
          </p:cNvPr>
          <p:cNvSpPr>
            <a:spLocks noGrp="1" noChangeArrowheads="1"/>
          </p:cNvSpPr>
          <p:nvPr>
            <p:ph type="body" idx="1"/>
          </p:nvPr>
        </p:nvSpPr>
        <p:spPr>
          <a:xfrm>
            <a:off x="220663" y="792163"/>
            <a:ext cx="8662987" cy="5026025"/>
          </a:xfrm>
        </p:spPr>
        <p:txBody>
          <a:bodyPr/>
          <a:lstStyle/>
          <a:p>
            <a:pPr>
              <a:spcBef>
                <a:spcPct val="35000"/>
              </a:spcBef>
            </a:pPr>
            <a:r>
              <a:rPr lang="zh-CN" altLang="en-US" sz="1900">
                <a:ea typeface="黑体" panose="02010609060101010101" pitchFamily="49" charset="-122"/>
              </a:rPr>
              <a:t>单周期、多周期、流水线三种方式比较</a:t>
            </a:r>
          </a:p>
          <a:p>
            <a:pPr>
              <a:spcBef>
                <a:spcPct val="35000"/>
              </a:spcBef>
              <a:buFont typeface="Times New Roman" panose="02020603050405020304" pitchFamily="18" charset="0"/>
              <a:buNone/>
            </a:pPr>
            <a:r>
              <a:rPr lang="zh-CN" altLang="en-US" sz="1900">
                <a:solidFill>
                  <a:schemeClr val="accent2"/>
                </a:solidFill>
                <a:ea typeface="黑体" panose="02010609060101010101" pitchFamily="49" charset="-122"/>
              </a:rPr>
              <a:t>假设各主要功能单元的操作时间为：</a:t>
            </a:r>
          </a:p>
          <a:p>
            <a:pPr>
              <a:spcBef>
                <a:spcPct val="35000"/>
              </a:spcBef>
              <a:buFontTx/>
              <a:buChar char="•"/>
            </a:pPr>
            <a:r>
              <a:rPr lang="zh-CN" altLang="en-US" sz="1900">
                <a:solidFill>
                  <a:srgbClr val="008000"/>
                </a:solidFill>
                <a:ea typeface="黑体" panose="02010609060101010101" pitchFamily="49" charset="-122"/>
              </a:rPr>
              <a:t>存储单元：</a:t>
            </a:r>
            <a:r>
              <a:rPr lang="en-US" altLang="zh-CN" sz="1900">
                <a:solidFill>
                  <a:srgbClr val="008000"/>
                </a:solidFill>
                <a:ea typeface="黑体" panose="02010609060101010101" pitchFamily="49" charset="-122"/>
              </a:rPr>
              <a:t>200ps</a:t>
            </a:r>
          </a:p>
          <a:p>
            <a:pPr>
              <a:spcBef>
                <a:spcPct val="35000"/>
              </a:spcBef>
              <a:buFontTx/>
              <a:buChar char="•"/>
            </a:pPr>
            <a:r>
              <a:rPr lang="en-US" altLang="zh-CN" sz="1900">
                <a:solidFill>
                  <a:srgbClr val="008000"/>
                </a:solidFill>
                <a:ea typeface="黑体" panose="02010609060101010101" pitchFamily="49" charset="-122"/>
              </a:rPr>
              <a:t>ALU</a:t>
            </a:r>
            <a:r>
              <a:rPr lang="zh-CN" altLang="en-US" sz="1900">
                <a:solidFill>
                  <a:srgbClr val="008000"/>
                </a:solidFill>
                <a:ea typeface="黑体" panose="02010609060101010101" pitchFamily="49" charset="-122"/>
              </a:rPr>
              <a:t>和加法器：</a:t>
            </a:r>
            <a:r>
              <a:rPr lang="en-US" altLang="zh-CN" sz="1900">
                <a:solidFill>
                  <a:srgbClr val="008000"/>
                </a:solidFill>
                <a:ea typeface="黑体" panose="02010609060101010101" pitchFamily="49" charset="-122"/>
              </a:rPr>
              <a:t>100ps</a:t>
            </a:r>
          </a:p>
          <a:p>
            <a:pPr>
              <a:spcBef>
                <a:spcPct val="35000"/>
              </a:spcBef>
              <a:buFontTx/>
              <a:buChar char="•"/>
            </a:pPr>
            <a:r>
              <a:rPr lang="zh-CN" altLang="en-US" sz="1900">
                <a:solidFill>
                  <a:srgbClr val="008000"/>
                </a:solidFill>
                <a:ea typeface="黑体" panose="02010609060101010101" pitchFamily="49" charset="-122"/>
              </a:rPr>
              <a:t>寄存器堆（读 </a:t>
            </a:r>
            <a:r>
              <a:rPr lang="en-US" altLang="zh-CN" sz="1900">
                <a:solidFill>
                  <a:srgbClr val="008000"/>
                </a:solidFill>
                <a:ea typeface="黑体" panose="02010609060101010101" pitchFamily="49" charset="-122"/>
              </a:rPr>
              <a:t>/ </a:t>
            </a:r>
            <a:r>
              <a:rPr lang="zh-CN" altLang="en-US" sz="1900">
                <a:solidFill>
                  <a:srgbClr val="008000"/>
                </a:solidFill>
                <a:ea typeface="黑体" panose="02010609060101010101" pitchFamily="49" charset="-122"/>
              </a:rPr>
              <a:t>写）：</a:t>
            </a:r>
            <a:r>
              <a:rPr lang="en-US" altLang="zh-CN" sz="1900">
                <a:solidFill>
                  <a:srgbClr val="008000"/>
                </a:solidFill>
                <a:ea typeface="黑体" panose="02010609060101010101" pitchFamily="49" charset="-122"/>
              </a:rPr>
              <a:t>50ps</a:t>
            </a:r>
          </a:p>
          <a:p>
            <a:pPr>
              <a:spcBef>
                <a:spcPct val="35000"/>
              </a:spcBef>
              <a:buFont typeface="Times New Roman" panose="02020603050405020304" pitchFamily="18" charset="0"/>
              <a:buNone/>
            </a:pPr>
            <a:r>
              <a:rPr lang="zh-CN" altLang="en-US" sz="1900">
                <a:solidFill>
                  <a:schemeClr val="accent2"/>
                </a:solidFill>
                <a:ea typeface="黑体" panose="02010609060101010101" pitchFamily="49" charset="-122"/>
              </a:rPr>
              <a:t>     假设</a:t>
            </a:r>
            <a:r>
              <a:rPr lang="en-US" altLang="zh-CN" sz="1900">
                <a:solidFill>
                  <a:schemeClr val="accent2"/>
                </a:solidFill>
                <a:ea typeface="黑体" panose="02010609060101010101" pitchFamily="49" charset="-122"/>
              </a:rPr>
              <a:t>MUX</a:t>
            </a:r>
            <a:r>
              <a:rPr lang="zh-CN" altLang="en-US" sz="1900">
                <a:solidFill>
                  <a:schemeClr val="accent2"/>
                </a:solidFill>
                <a:ea typeface="黑体" panose="02010609060101010101" pitchFamily="49" charset="-122"/>
              </a:rPr>
              <a:t>、控制单元、</a:t>
            </a:r>
            <a:r>
              <a:rPr lang="en-US" altLang="zh-CN" sz="1900">
                <a:solidFill>
                  <a:schemeClr val="accent2"/>
                </a:solidFill>
                <a:ea typeface="黑体" panose="02010609060101010101" pitchFamily="49" charset="-122"/>
              </a:rPr>
              <a:t>PC</a:t>
            </a:r>
            <a:r>
              <a:rPr lang="zh-CN" altLang="en-US" sz="1900">
                <a:solidFill>
                  <a:schemeClr val="accent2"/>
                </a:solidFill>
                <a:ea typeface="黑体" panose="02010609060101010101" pitchFamily="49" charset="-122"/>
              </a:rPr>
              <a:t>、扩展器和传输线路都没有延迟，指令组成为：</a:t>
            </a:r>
          </a:p>
          <a:p>
            <a:pPr>
              <a:spcBef>
                <a:spcPct val="35000"/>
              </a:spcBef>
              <a:buFont typeface="Times New Roman" panose="02020603050405020304" pitchFamily="18" charset="0"/>
              <a:buNone/>
            </a:pPr>
            <a:r>
              <a:rPr lang="en-US" altLang="zh-CN" sz="1900">
                <a:solidFill>
                  <a:schemeClr val="accent2"/>
                </a:solidFill>
                <a:ea typeface="黑体" panose="02010609060101010101" pitchFamily="49" charset="-122"/>
              </a:rPr>
              <a:t>     25%</a:t>
            </a:r>
            <a:r>
              <a:rPr lang="zh-CN" altLang="en-US" sz="1900">
                <a:solidFill>
                  <a:schemeClr val="accent2"/>
                </a:solidFill>
                <a:ea typeface="黑体" panose="02010609060101010101" pitchFamily="49" charset="-122"/>
              </a:rPr>
              <a:t>取数、</a:t>
            </a:r>
            <a:r>
              <a:rPr lang="en-US" altLang="zh-CN" sz="1900">
                <a:solidFill>
                  <a:schemeClr val="accent2"/>
                </a:solidFill>
                <a:ea typeface="黑体" panose="02010609060101010101" pitchFamily="49" charset="-122"/>
              </a:rPr>
              <a:t>10%</a:t>
            </a:r>
            <a:r>
              <a:rPr lang="zh-CN" altLang="en-US" sz="1900">
                <a:solidFill>
                  <a:schemeClr val="accent2"/>
                </a:solidFill>
                <a:ea typeface="黑体" panose="02010609060101010101" pitchFamily="49" charset="-122"/>
              </a:rPr>
              <a:t>存数、</a:t>
            </a:r>
            <a:r>
              <a:rPr lang="en-US" altLang="zh-CN" sz="1900">
                <a:solidFill>
                  <a:schemeClr val="accent2"/>
                </a:solidFill>
                <a:ea typeface="黑体" panose="02010609060101010101" pitchFamily="49" charset="-122"/>
              </a:rPr>
              <a:t>52%ALU</a:t>
            </a:r>
            <a:r>
              <a:rPr lang="zh-CN" altLang="en-US" sz="1900">
                <a:solidFill>
                  <a:schemeClr val="accent2"/>
                </a:solidFill>
                <a:ea typeface="黑体" panose="02010609060101010101" pitchFamily="49" charset="-122"/>
              </a:rPr>
              <a:t>、</a:t>
            </a:r>
            <a:r>
              <a:rPr lang="en-US" altLang="zh-CN" sz="1900">
                <a:solidFill>
                  <a:schemeClr val="accent2"/>
                </a:solidFill>
                <a:ea typeface="黑体" panose="02010609060101010101" pitchFamily="49" charset="-122"/>
              </a:rPr>
              <a:t>11%</a:t>
            </a:r>
            <a:r>
              <a:rPr lang="zh-CN" altLang="en-US" sz="1900">
                <a:solidFill>
                  <a:schemeClr val="accent2"/>
                </a:solidFill>
                <a:ea typeface="黑体" panose="02010609060101010101" pitchFamily="49" charset="-122"/>
              </a:rPr>
              <a:t>分支、</a:t>
            </a:r>
            <a:r>
              <a:rPr lang="en-US" altLang="zh-CN" sz="1900">
                <a:solidFill>
                  <a:schemeClr val="accent2"/>
                </a:solidFill>
                <a:ea typeface="黑体" panose="02010609060101010101" pitchFamily="49" charset="-122"/>
              </a:rPr>
              <a:t>2%</a:t>
            </a:r>
            <a:r>
              <a:rPr lang="zh-CN" altLang="en-US" sz="1900">
                <a:solidFill>
                  <a:schemeClr val="accent2"/>
                </a:solidFill>
                <a:ea typeface="黑体" panose="02010609060101010101" pitchFamily="49" charset="-122"/>
              </a:rPr>
              <a:t>跳转，则下面实现方式中，   </a:t>
            </a:r>
          </a:p>
          <a:p>
            <a:pPr>
              <a:spcBef>
                <a:spcPct val="35000"/>
              </a:spcBef>
              <a:buFont typeface="Times New Roman" panose="02020603050405020304" pitchFamily="18" charset="0"/>
              <a:buNone/>
            </a:pPr>
            <a:r>
              <a:rPr lang="zh-CN" altLang="en-US" sz="1900">
                <a:solidFill>
                  <a:schemeClr val="accent2"/>
                </a:solidFill>
                <a:ea typeface="黑体" panose="02010609060101010101" pitchFamily="49" charset="-122"/>
              </a:rPr>
              <a:t>     哪个更快？快多少？</a:t>
            </a:r>
          </a:p>
          <a:p>
            <a:pPr>
              <a:spcBef>
                <a:spcPct val="35000"/>
              </a:spcBef>
              <a:buFont typeface="Times New Roman" panose="02020603050405020304" pitchFamily="18" charset="0"/>
              <a:buNone/>
            </a:pPr>
            <a:r>
              <a:rPr lang="zh-CN" altLang="en-US" sz="1900">
                <a:solidFill>
                  <a:srgbClr val="008000"/>
                </a:solidFill>
                <a:ea typeface="黑体" panose="02010609060101010101" pitchFamily="49" charset="-122"/>
              </a:rPr>
              <a:t>（</a:t>
            </a:r>
            <a:r>
              <a:rPr lang="en-US" altLang="zh-CN" sz="1900">
                <a:solidFill>
                  <a:srgbClr val="008000"/>
                </a:solidFill>
                <a:ea typeface="黑体" panose="02010609060101010101" pitchFamily="49" charset="-122"/>
              </a:rPr>
              <a:t>1</a:t>
            </a:r>
            <a:r>
              <a:rPr lang="zh-CN" altLang="en-US" sz="1900">
                <a:solidFill>
                  <a:srgbClr val="008000"/>
                </a:solidFill>
                <a:ea typeface="黑体" panose="02010609060101010101" pitchFamily="49" charset="-122"/>
              </a:rPr>
              <a:t>）单周期：每条指令在一个固定长度的时钟周期内完成</a:t>
            </a:r>
          </a:p>
          <a:p>
            <a:pPr>
              <a:spcBef>
                <a:spcPct val="35000"/>
              </a:spcBef>
              <a:buFont typeface="Times New Roman" panose="02020603050405020304" pitchFamily="18" charset="0"/>
              <a:buNone/>
            </a:pPr>
            <a:r>
              <a:rPr lang="zh-CN" altLang="en-US" sz="1900">
                <a:solidFill>
                  <a:srgbClr val="008000"/>
                </a:solidFill>
                <a:ea typeface="黑体" panose="02010609060101010101" pitchFamily="49" charset="-122"/>
              </a:rPr>
              <a:t>（</a:t>
            </a:r>
            <a:r>
              <a:rPr lang="en-US" altLang="zh-CN" sz="1900">
                <a:solidFill>
                  <a:srgbClr val="008000"/>
                </a:solidFill>
                <a:ea typeface="黑体" panose="02010609060101010101" pitchFamily="49" charset="-122"/>
              </a:rPr>
              <a:t>2</a:t>
            </a:r>
            <a:r>
              <a:rPr lang="zh-CN" altLang="en-US" sz="1900">
                <a:solidFill>
                  <a:srgbClr val="008000"/>
                </a:solidFill>
                <a:ea typeface="黑体" panose="02010609060101010101" pitchFamily="49" charset="-122"/>
              </a:rPr>
              <a:t>）多周期：每类指令时钟数为取数</a:t>
            </a:r>
            <a:r>
              <a:rPr lang="en-US" altLang="zh-CN" sz="1900">
                <a:solidFill>
                  <a:srgbClr val="008000"/>
                </a:solidFill>
                <a:ea typeface="黑体" panose="02010609060101010101" pitchFamily="49" charset="-122"/>
              </a:rPr>
              <a:t>-5</a:t>
            </a:r>
            <a:r>
              <a:rPr lang="zh-CN" altLang="en-US" sz="1900">
                <a:solidFill>
                  <a:srgbClr val="008000"/>
                </a:solidFill>
                <a:ea typeface="黑体" panose="02010609060101010101" pitchFamily="49" charset="-122"/>
              </a:rPr>
              <a:t>，存数</a:t>
            </a:r>
            <a:r>
              <a:rPr lang="en-US" altLang="zh-CN" sz="1900">
                <a:solidFill>
                  <a:srgbClr val="008000"/>
                </a:solidFill>
                <a:ea typeface="黑体" panose="02010609060101010101" pitchFamily="49" charset="-122"/>
              </a:rPr>
              <a:t>-4</a:t>
            </a:r>
            <a:r>
              <a:rPr lang="zh-CN" altLang="en-US" sz="1900">
                <a:solidFill>
                  <a:srgbClr val="008000"/>
                </a:solidFill>
                <a:ea typeface="黑体" panose="02010609060101010101" pitchFamily="49" charset="-122"/>
              </a:rPr>
              <a:t>，</a:t>
            </a:r>
            <a:r>
              <a:rPr lang="en-US" altLang="zh-CN" sz="1900">
                <a:solidFill>
                  <a:srgbClr val="008000"/>
                </a:solidFill>
                <a:ea typeface="黑体" panose="02010609060101010101" pitchFamily="49" charset="-122"/>
              </a:rPr>
              <a:t>ALU-4</a:t>
            </a:r>
            <a:r>
              <a:rPr lang="zh-CN" altLang="en-US" sz="1900">
                <a:solidFill>
                  <a:srgbClr val="008000"/>
                </a:solidFill>
                <a:ea typeface="黑体" panose="02010609060101010101" pitchFamily="49" charset="-122"/>
              </a:rPr>
              <a:t>，分支</a:t>
            </a:r>
            <a:r>
              <a:rPr lang="en-US" altLang="zh-CN" sz="1900">
                <a:solidFill>
                  <a:srgbClr val="008000"/>
                </a:solidFill>
                <a:ea typeface="黑体" panose="02010609060101010101" pitchFamily="49" charset="-122"/>
              </a:rPr>
              <a:t>-3</a:t>
            </a:r>
            <a:r>
              <a:rPr lang="zh-CN" altLang="en-US" sz="1900">
                <a:solidFill>
                  <a:srgbClr val="008000"/>
                </a:solidFill>
                <a:ea typeface="黑体" panose="02010609060101010101" pitchFamily="49" charset="-122"/>
              </a:rPr>
              <a:t>，跳转</a:t>
            </a:r>
            <a:r>
              <a:rPr lang="en-US" altLang="zh-CN" sz="1900">
                <a:solidFill>
                  <a:srgbClr val="008000"/>
                </a:solidFill>
                <a:ea typeface="黑体" panose="02010609060101010101" pitchFamily="49" charset="-122"/>
              </a:rPr>
              <a:t>-3</a:t>
            </a:r>
          </a:p>
          <a:p>
            <a:pPr>
              <a:spcBef>
                <a:spcPct val="35000"/>
              </a:spcBef>
              <a:buFont typeface="Times New Roman" panose="02020603050405020304" pitchFamily="18" charset="0"/>
              <a:buNone/>
            </a:pPr>
            <a:r>
              <a:rPr lang="zh-CN" altLang="en-US" sz="1900">
                <a:solidFill>
                  <a:srgbClr val="008000"/>
                </a:solidFill>
                <a:ea typeface="黑体" panose="02010609060101010101" pitchFamily="49" charset="-122"/>
              </a:rPr>
              <a:t>（</a:t>
            </a:r>
            <a:r>
              <a:rPr lang="en-US" altLang="zh-CN" sz="1900">
                <a:solidFill>
                  <a:srgbClr val="008000"/>
                </a:solidFill>
                <a:ea typeface="黑体" panose="02010609060101010101" pitchFamily="49" charset="-122"/>
              </a:rPr>
              <a:t>3</a:t>
            </a:r>
            <a:r>
              <a:rPr lang="zh-CN" altLang="en-US" sz="1900">
                <a:solidFill>
                  <a:srgbClr val="008000"/>
                </a:solidFill>
                <a:ea typeface="黑体" panose="02010609060101010101" pitchFamily="49" charset="-122"/>
              </a:rPr>
              <a:t>）流水线：每条指令分取指令、取数</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译码、执行、存储器存取、写回五阶段</a:t>
            </a:r>
          </a:p>
          <a:p>
            <a:pPr>
              <a:spcBef>
                <a:spcPct val="35000"/>
              </a:spcBef>
              <a:buFont typeface="Times New Roman" panose="02020603050405020304" pitchFamily="18" charset="0"/>
              <a:buNone/>
            </a:pPr>
            <a:r>
              <a:rPr lang="en-US" altLang="zh-CN" sz="1900">
                <a:solidFill>
                  <a:srgbClr val="008000"/>
                </a:solidFill>
                <a:ea typeface="黑体" panose="02010609060101010101" pitchFamily="49" charset="-122"/>
              </a:rPr>
              <a:t>     </a:t>
            </a:r>
            <a:r>
              <a:rPr lang="zh-CN" altLang="en-US" sz="1900">
                <a:solidFill>
                  <a:srgbClr val="008000"/>
                </a:solidFill>
                <a:ea typeface="黑体" panose="02010609060101010101" pitchFamily="49" charset="-122"/>
              </a:rPr>
              <a:t>（假定没有结构冒险，数据冒险采用转发处理，分支延迟槽为</a:t>
            </a:r>
            <a:r>
              <a:rPr lang="en-US" altLang="zh-CN" sz="1900">
                <a:solidFill>
                  <a:srgbClr val="008000"/>
                </a:solidFill>
                <a:ea typeface="黑体" panose="02010609060101010101" pitchFamily="49" charset="-122"/>
              </a:rPr>
              <a:t>1</a:t>
            </a:r>
            <a:r>
              <a:rPr lang="zh-CN" altLang="en-US" sz="1900">
                <a:solidFill>
                  <a:srgbClr val="008000"/>
                </a:solidFill>
                <a:ea typeface="黑体" panose="02010609060101010101" pitchFamily="49" charset="-122"/>
              </a:rPr>
              <a:t>，预测准确率   </a:t>
            </a:r>
          </a:p>
          <a:p>
            <a:pPr>
              <a:spcBef>
                <a:spcPct val="35000"/>
              </a:spcBef>
              <a:buFont typeface="Times New Roman" panose="02020603050405020304" pitchFamily="18" charset="0"/>
              <a:buNone/>
            </a:pPr>
            <a:r>
              <a:rPr lang="zh-CN" altLang="en-US" sz="1900">
                <a:solidFill>
                  <a:srgbClr val="008000"/>
                </a:solidFill>
                <a:ea typeface="黑体" panose="02010609060101010101" pitchFamily="49" charset="-122"/>
              </a:rPr>
              <a:t>         为</a:t>
            </a:r>
            <a:r>
              <a:rPr lang="en-US" altLang="zh-CN" sz="1900">
                <a:solidFill>
                  <a:srgbClr val="008000"/>
                </a:solidFill>
                <a:ea typeface="黑体" panose="02010609060101010101" pitchFamily="49" charset="-122"/>
              </a:rPr>
              <a:t>75%</a:t>
            </a:r>
            <a:r>
              <a:rPr lang="zh-CN" altLang="en-US" sz="1900">
                <a:solidFill>
                  <a:srgbClr val="008000"/>
                </a:solidFill>
                <a:ea typeface="黑体" panose="02010609060101010101" pitchFamily="49" charset="-122"/>
              </a:rPr>
              <a:t>；不考虑异常、中断和访存缺失引起的流水线冒险）</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B718FA4D-F249-5A42-B94E-010004D28370}"/>
              </a:ext>
            </a:extLst>
          </p:cNvPr>
          <p:cNvSpPr>
            <a:spLocks noGrp="1" noChangeArrowheads="1"/>
          </p:cNvSpPr>
          <p:nvPr>
            <p:ph type="title"/>
          </p:nvPr>
        </p:nvSpPr>
        <p:spPr/>
        <p:txBody>
          <a:bodyPr/>
          <a:lstStyle/>
          <a:p>
            <a:r>
              <a:rPr lang="zh-CN" altLang="en-US">
                <a:ea typeface="宋体" panose="02010600030101010101" pitchFamily="2" charset="-122"/>
              </a:rPr>
              <a:t>三种处理器实现方式的比较</a:t>
            </a:r>
          </a:p>
        </p:txBody>
      </p:sp>
      <p:sp>
        <p:nvSpPr>
          <p:cNvPr id="150531" name="Rectangle 3">
            <a:extLst>
              <a:ext uri="{FF2B5EF4-FFF2-40B4-BE49-F238E27FC236}">
                <a16:creationId xmlns:a16="http://schemas.microsoft.com/office/drawing/2014/main" id="{BE0D2E16-E45D-9E44-ACFF-2FA8D43AE2BB}"/>
              </a:ext>
            </a:extLst>
          </p:cNvPr>
          <p:cNvSpPr>
            <a:spLocks noGrp="1" noChangeArrowheads="1"/>
          </p:cNvSpPr>
          <p:nvPr>
            <p:ph type="body" idx="1"/>
          </p:nvPr>
        </p:nvSpPr>
        <p:spPr>
          <a:xfrm>
            <a:off x="409575" y="647700"/>
            <a:ext cx="8191500" cy="752475"/>
          </a:xfrm>
        </p:spPr>
        <p:txBody>
          <a:bodyPr/>
          <a:lstStyle/>
          <a:p>
            <a:pPr>
              <a:buFont typeface="Times New Roman" panose="02020603050405020304" pitchFamily="18" charset="0"/>
              <a:buNone/>
            </a:pPr>
            <a:r>
              <a:rPr lang="zh-CN" altLang="en-US" sz="2000">
                <a:solidFill>
                  <a:srgbClr val="CC0000"/>
                </a:solidFill>
                <a:ea typeface="黑体" panose="02010609060101010101" pitchFamily="49" charset="-122"/>
              </a:rPr>
              <a:t>解：</a:t>
            </a:r>
            <a:r>
              <a:rPr lang="en-US" altLang="zh-CN" sz="2000">
                <a:solidFill>
                  <a:srgbClr val="CC0000"/>
                </a:solidFill>
                <a:ea typeface="黑体" panose="02010609060101010101" pitchFamily="49" charset="-122"/>
              </a:rPr>
              <a:t>CPU</a:t>
            </a:r>
            <a:r>
              <a:rPr lang="zh-CN" altLang="en-US" sz="2000">
                <a:solidFill>
                  <a:srgbClr val="CC0000"/>
                </a:solidFill>
                <a:ea typeface="黑体" panose="02010609060101010101" pitchFamily="49" charset="-122"/>
              </a:rPr>
              <a:t>执行时间 </a:t>
            </a:r>
            <a:r>
              <a:rPr lang="en-US" altLang="zh-CN" sz="2000">
                <a:solidFill>
                  <a:srgbClr val="CC0000"/>
                </a:solidFill>
                <a:ea typeface="黑体" panose="02010609060101010101" pitchFamily="49" charset="-122"/>
              </a:rPr>
              <a:t>= </a:t>
            </a:r>
            <a:r>
              <a:rPr lang="zh-CN" altLang="en-US" sz="2000">
                <a:solidFill>
                  <a:srgbClr val="CC0000"/>
                </a:solidFill>
                <a:ea typeface="黑体" panose="02010609060101010101" pitchFamily="49" charset="-122"/>
              </a:rPr>
              <a:t>指令条数 </a:t>
            </a:r>
            <a:r>
              <a:rPr lang="en-US" altLang="zh-CN" sz="2000">
                <a:solidFill>
                  <a:srgbClr val="CC0000"/>
                </a:solidFill>
                <a:ea typeface="黑体" panose="02010609060101010101" pitchFamily="49" charset="-122"/>
              </a:rPr>
              <a:t>x CPI x </a:t>
            </a:r>
            <a:r>
              <a:rPr lang="zh-CN" altLang="en-US" sz="2000">
                <a:solidFill>
                  <a:srgbClr val="CC0000"/>
                </a:solidFill>
                <a:ea typeface="黑体" panose="02010609060101010101" pitchFamily="49" charset="-122"/>
              </a:rPr>
              <a:t>时钟周期长度</a:t>
            </a:r>
          </a:p>
          <a:p>
            <a:pPr>
              <a:buFont typeface="Times New Roman" panose="02020603050405020304" pitchFamily="18" charset="0"/>
              <a:buNone/>
            </a:pPr>
            <a:r>
              <a:rPr lang="zh-CN" altLang="en-US" sz="2000">
                <a:solidFill>
                  <a:srgbClr val="CC0000"/>
                </a:solidFill>
                <a:ea typeface="黑体" panose="02010609060101010101" pitchFamily="49" charset="-122"/>
              </a:rPr>
              <a:t>	    三种方式指令条数都一样，所以只要比较</a:t>
            </a:r>
            <a:r>
              <a:rPr lang="en-US" altLang="zh-CN" sz="2000">
                <a:solidFill>
                  <a:srgbClr val="CC0000"/>
                </a:solidFill>
                <a:ea typeface="黑体" panose="02010609060101010101" pitchFamily="49" charset="-122"/>
              </a:rPr>
              <a:t>CPI</a:t>
            </a:r>
            <a:r>
              <a:rPr lang="zh-CN" altLang="en-US" sz="2000">
                <a:solidFill>
                  <a:srgbClr val="CC0000"/>
                </a:solidFill>
                <a:ea typeface="黑体" panose="02010609060101010101" pitchFamily="49" charset="-122"/>
              </a:rPr>
              <a:t>和时钟周期长度即可。</a:t>
            </a:r>
          </a:p>
        </p:txBody>
      </p:sp>
      <p:pic>
        <p:nvPicPr>
          <p:cNvPr id="150532" name="Picture 4">
            <a:extLst>
              <a:ext uri="{FF2B5EF4-FFF2-40B4-BE49-F238E27FC236}">
                <a16:creationId xmlns:a16="http://schemas.microsoft.com/office/drawing/2014/main" id="{A4387F75-7252-D243-9506-D71D9510D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 y="1428750"/>
            <a:ext cx="8459788"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0533" name="Picture 5">
            <a:extLst>
              <a:ext uri="{FF2B5EF4-FFF2-40B4-BE49-F238E27FC236}">
                <a16:creationId xmlns:a16="http://schemas.microsoft.com/office/drawing/2014/main" id="{67912A4D-1115-AB47-80B0-510EC3CFFE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4294188"/>
            <a:ext cx="8361362"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534" name="Text Box 6">
            <a:extLst>
              <a:ext uri="{FF2B5EF4-FFF2-40B4-BE49-F238E27FC236}">
                <a16:creationId xmlns:a16="http://schemas.microsoft.com/office/drawing/2014/main" id="{4101458E-23D7-6347-994D-D8790C52D690}"/>
              </a:ext>
            </a:extLst>
          </p:cNvPr>
          <p:cNvSpPr txBox="1">
            <a:spLocks noChangeArrowheads="1"/>
          </p:cNvSpPr>
          <p:nvPr/>
        </p:nvSpPr>
        <p:spPr bwMode="auto">
          <a:xfrm>
            <a:off x="434975" y="3946525"/>
            <a:ext cx="5341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2000">
                <a:solidFill>
                  <a:srgbClr val="CC0000"/>
                </a:solidFill>
                <a:latin typeface="Arial" panose="020B0604020202020204" pitchFamily="34" charset="0"/>
                <a:ea typeface="黑体" panose="02010609060101010101" pitchFamily="49" charset="-122"/>
              </a:rPr>
              <a:t>各指令类型要求的时间长度为：</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2F9A4829-9959-B741-B39C-983BFB586A23}"/>
              </a:ext>
            </a:extLst>
          </p:cNvPr>
          <p:cNvSpPr>
            <a:spLocks noGrp="1" noChangeArrowheads="1"/>
          </p:cNvSpPr>
          <p:nvPr>
            <p:ph type="title"/>
          </p:nvPr>
        </p:nvSpPr>
        <p:spPr/>
        <p:txBody>
          <a:bodyPr/>
          <a:lstStyle/>
          <a:p>
            <a:r>
              <a:rPr lang="zh-CN" altLang="en-US">
                <a:ea typeface="宋体" panose="02010600030101010101" pitchFamily="2" charset="-122"/>
              </a:rPr>
              <a:t>三种处理器实现方式的比较</a:t>
            </a:r>
          </a:p>
        </p:txBody>
      </p:sp>
      <p:sp>
        <p:nvSpPr>
          <p:cNvPr id="151555" name="Rectangle 3">
            <a:extLst>
              <a:ext uri="{FF2B5EF4-FFF2-40B4-BE49-F238E27FC236}">
                <a16:creationId xmlns:a16="http://schemas.microsoft.com/office/drawing/2014/main" id="{AF2346AA-E1AC-584B-8E6B-67AD76E4EA54}"/>
              </a:ext>
            </a:extLst>
          </p:cNvPr>
          <p:cNvSpPr>
            <a:spLocks noGrp="1" noChangeArrowheads="1"/>
          </p:cNvSpPr>
          <p:nvPr>
            <p:ph type="body" idx="1"/>
          </p:nvPr>
        </p:nvSpPr>
        <p:spPr>
          <a:xfrm>
            <a:off x="296863" y="677863"/>
            <a:ext cx="8631237" cy="5876925"/>
          </a:xfrm>
        </p:spPr>
        <p:txBody>
          <a:bodyPr/>
          <a:lstStyle/>
          <a:p>
            <a:pPr>
              <a:spcBef>
                <a:spcPct val="20000"/>
              </a:spcBef>
              <a:buFont typeface="Times New Roman" panose="02020603050405020304" pitchFamily="18" charset="0"/>
              <a:buNone/>
            </a:pPr>
            <a:r>
              <a:rPr lang="zh-CN" altLang="en-US" sz="1900">
                <a:ea typeface="黑体" panose="02010609060101010101" pitchFamily="49" charset="-122"/>
              </a:rPr>
              <a:t>对于单周期方式：</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时钟周期将由最长指令来决定，应该是</a:t>
            </a:r>
            <a:r>
              <a:rPr lang="en-US" altLang="zh-CN" sz="1900">
                <a:solidFill>
                  <a:schemeClr val="accent2"/>
                </a:solidFill>
                <a:ea typeface="黑体" panose="02010609060101010101" pitchFamily="49" charset="-122"/>
              </a:rPr>
              <a:t>load</a:t>
            </a:r>
            <a:r>
              <a:rPr lang="zh-CN" altLang="en-US" sz="1900">
                <a:solidFill>
                  <a:schemeClr val="accent2"/>
                </a:solidFill>
                <a:ea typeface="黑体" panose="02010609060101010101" pitchFamily="49" charset="-122"/>
              </a:rPr>
              <a:t>指令，为</a:t>
            </a:r>
            <a:r>
              <a:rPr lang="en-US" altLang="zh-CN" sz="1900">
                <a:solidFill>
                  <a:schemeClr val="accent2"/>
                </a:solidFill>
                <a:ea typeface="黑体" panose="02010609060101010101" pitchFamily="49" charset="-122"/>
              </a:rPr>
              <a:t>600ps</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所以，</a:t>
            </a:r>
            <a:r>
              <a:rPr lang="en-US" altLang="zh-CN" sz="1900">
                <a:solidFill>
                  <a:schemeClr val="accent2"/>
                </a:solidFill>
                <a:ea typeface="黑体" panose="02010609060101010101" pitchFamily="49" charset="-122"/>
              </a:rPr>
              <a:t>N</a:t>
            </a:r>
            <a:r>
              <a:rPr lang="zh-CN" altLang="en-US" sz="1900">
                <a:solidFill>
                  <a:schemeClr val="accent2"/>
                </a:solidFill>
                <a:ea typeface="黑体" panose="02010609060101010101" pitchFamily="49" charset="-122"/>
              </a:rPr>
              <a:t>条指令的执行时间为</a:t>
            </a:r>
            <a:r>
              <a:rPr lang="en-US" altLang="zh-CN" sz="1900">
                <a:solidFill>
                  <a:srgbClr val="CC0000"/>
                </a:solidFill>
                <a:ea typeface="黑体" panose="02010609060101010101" pitchFamily="49" charset="-122"/>
              </a:rPr>
              <a:t>600N(ps)</a:t>
            </a:r>
          </a:p>
          <a:p>
            <a:pPr>
              <a:spcBef>
                <a:spcPct val="20000"/>
              </a:spcBef>
              <a:buFont typeface="Times New Roman" panose="02020603050405020304" pitchFamily="18" charset="0"/>
              <a:buNone/>
            </a:pPr>
            <a:r>
              <a:rPr lang="zh-CN" altLang="en-US" sz="1900">
                <a:ea typeface="黑体" panose="02010609060101010101" pitchFamily="49" charset="-122"/>
              </a:rPr>
              <a:t>对于多周期方式：</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时钟周期将取功能部件最长所需时间，应该是存取操作，为</a:t>
            </a:r>
            <a:r>
              <a:rPr lang="en-US" altLang="zh-CN" sz="1900">
                <a:solidFill>
                  <a:schemeClr val="accent2"/>
                </a:solidFill>
                <a:ea typeface="黑体" panose="02010609060101010101" pitchFamily="49" charset="-122"/>
              </a:rPr>
              <a:t>200ps</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根据各类指令的频度，计算平均时钟周期数为：</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a:t>
            </a:r>
            <a:r>
              <a:rPr lang="en-US" altLang="zh-CN" sz="1900">
                <a:solidFill>
                  <a:schemeClr val="accent2"/>
                </a:solidFill>
                <a:ea typeface="黑体" panose="02010609060101010101" pitchFamily="49" charset="-122"/>
              </a:rPr>
              <a:t>CPU</a:t>
            </a:r>
            <a:r>
              <a:rPr lang="zh-CN" altLang="en-US" sz="1900">
                <a:solidFill>
                  <a:schemeClr val="accent2"/>
                </a:solidFill>
                <a:ea typeface="黑体" panose="02010609060101010101" pitchFamily="49" charset="-122"/>
              </a:rPr>
              <a:t>时钟周期</a:t>
            </a:r>
            <a:r>
              <a:rPr lang="en-US" altLang="zh-CN" sz="1900">
                <a:solidFill>
                  <a:schemeClr val="accent2"/>
                </a:solidFill>
                <a:ea typeface="黑体" panose="02010609060101010101" pitchFamily="49" charset="-122"/>
              </a:rPr>
              <a:t>=5x25%+4x10%+4x52%+3x11%+3x2%=4.12</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所以， </a:t>
            </a:r>
            <a:r>
              <a:rPr lang="en-US" altLang="zh-CN" sz="1900">
                <a:solidFill>
                  <a:schemeClr val="accent2"/>
                </a:solidFill>
                <a:ea typeface="黑体" panose="02010609060101010101" pitchFamily="49" charset="-122"/>
              </a:rPr>
              <a:t>N</a:t>
            </a:r>
            <a:r>
              <a:rPr lang="zh-CN" altLang="en-US" sz="1900">
                <a:solidFill>
                  <a:schemeClr val="accent2"/>
                </a:solidFill>
                <a:ea typeface="黑体" panose="02010609060101010101" pitchFamily="49" charset="-122"/>
              </a:rPr>
              <a:t>条指令的执行时间为</a:t>
            </a:r>
            <a:r>
              <a:rPr lang="en-US" altLang="zh-CN" sz="1900">
                <a:solidFill>
                  <a:schemeClr val="accent2"/>
                </a:solidFill>
                <a:ea typeface="黑体" panose="02010609060101010101" pitchFamily="49" charset="-122"/>
              </a:rPr>
              <a:t>4.12x200xN=</a:t>
            </a:r>
            <a:r>
              <a:rPr lang="en-US" altLang="zh-CN" sz="1900">
                <a:solidFill>
                  <a:srgbClr val="CC0000"/>
                </a:solidFill>
                <a:ea typeface="黑体" panose="02010609060101010101" pitchFamily="49" charset="-122"/>
              </a:rPr>
              <a:t>824N(ps)</a:t>
            </a:r>
          </a:p>
          <a:p>
            <a:pPr>
              <a:spcBef>
                <a:spcPct val="20000"/>
              </a:spcBef>
              <a:buFont typeface="Times New Roman" panose="02020603050405020304" pitchFamily="18" charset="0"/>
              <a:buNone/>
            </a:pPr>
            <a:r>
              <a:rPr lang="zh-CN" altLang="en-US" sz="1900">
                <a:ea typeface="黑体" panose="02010609060101010101" pitchFamily="49" charset="-122"/>
              </a:rPr>
              <a:t>对于流水线方式：</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a:t>
            </a:r>
            <a:r>
              <a:rPr lang="en-US" altLang="zh-CN" sz="1900">
                <a:solidFill>
                  <a:schemeClr val="accent2"/>
                </a:solidFill>
                <a:ea typeface="黑体" panose="02010609060101010101" pitchFamily="49" charset="-122"/>
              </a:rPr>
              <a:t>Load</a:t>
            </a:r>
            <a:r>
              <a:rPr lang="zh-CN" altLang="en-US" sz="1900">
                <a:solidFill>
                  <a:schemeClr val="accent2"/>
                </a:solidFill>
                <a:ea typeface="黑体" panose="02010609060101010101" pitchFamily="49" charset="-122"/>
              </a:rPr>
              <a:t>指令：当发生</a:t>
            </a:r>
            <a:r>
              <a:rPr lang="en-US" altLang="zh-CN" sz="1900">
                <a:solidFill>
                  <a:schemeClr val="accent2"/>
                </a:solidFill>
                <a:ea typeface="黑体" panose="02010609060101010101" pitchFamily="49" charset="-122"/>
              </a:rPr>
              <a:t>Load-use</a:t>
            </a:r>
            <a:r>
              <a:rPr lang="zh-CN" altLang="en-US" sz="1900">
                <a:solidFill>
                  <a:schemeClr val="accent2"/>
                </a:solidFill>
                <a:ea typeface="黑体" panose="02010609060101010101" pitchFamily="49" charset="-122"/>
              </a:rPr>
              <a:t>依赖时，执行时间为</a:t>
            </a:r>
            <a:r>
              <a:rPr lang="en-US" altLang="zh-CN" sz="1900">
                <a:solidFill>
                  <a:schemeClr val="accent2"/>
                </a:solidFill>
                <a:ea typeface="黑体" panose="02010609060101010101" pitchFamily="49" charset="-122"/>
              </a:rPr>
              <a:t>2</a:t>
            </a:r>
            <a:r>
              <a:rPr lang="zh-CN" altLang="en-US" sz="1900">
                <a:solidFill>
                  <a:schemeClr val="accent2"/>
                </a:solidFill>
                <a:ea typeface="黑体" panose="02010609060101010101" pitchFamily="49" charset="-122"/>
              </a:rPr>
              <a:t>个时钟，否则</a:t>
            </a:r>
            <a:r>
              <a:rPr lang="en-US" altLang="zh-CN" sz="1900">
                <a:solidFill>
                  <a:schemeClr val="accent2"/>
                </a:solidFill>
                <a:ea typeface="黑体" panose="02010609060101010101" pitchFamily="49" charset="-122"/>
              </a:rPr>
              <a:t>1</a:t>
            </a:r>
            <a:r>
              <a:rPr lang="zh-CN" altLang="en-US" sz="1900">
                <a:solidFill>
                  <a:schemeClr val="accent2"/>
                </a:solidFill>
                <a:ea typeface="黑体" panose="02010609060101010101" pitchFamily="49" charset="-122"/>
              </a:rPr>
              <a:t>个时钟，</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故平均执行时间为</a:t>
            </a:r>
            <a:r>
              <a:rPr lang="en-US" altLang="zh-CN" sz="1900">
                <a:solidFill>
                  <a:schemeClr val="accent2"/>
                </a:solidFill>
                <a:ea typeface="黑体" panose="02010609060101010101" pitchFamily="49" charset="-122"/>
              </a:rPr>
              <a:t>1.5</a:t>
            </a:r>
            <a:r>
              <a:rPr lang="zh-CN" altLang="en-US" sz="1900">
                <a:solidFill>
                  <a:schemeClr val="accent2"/>
                </a:solidFill>
                <a:ea typeface="黑体" panose="02010609060101010101" pitchFamily="49" charset="-122"/>
              </a:rPr>
              <a:t>个时钟；</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a:t>
            </a:r>
            <a:r>
              <a:rPr lang="en-US" altLang="zh-CN" sz="1900">
                <a:solidFill>
                  <a:schemeClr val="accent2"/>
                </a:solidFill>
                <a:ea typeface="黑体" panose="02010609060101010101" pitchFamily="49" charset="-122"/>
              </a:rPr>
              <a:t>Store</a:t>
            </a:r>
            <a:r>
              <a:rPr lang="zh-CN" altLang="en-US" sz="1900">
                <a:solidFill>
                  <a:schemeClr val="accent2"/>
                </a:solidFill>
                <a:ea typeface="黑体" panose="02010609060101010101" pitchFamily="49" charset="-122"/>
              </a:rPr>
              <a:t>、</a:t>
            </a:r>
            <a:r>
              <a:rPr lang="en-US" altLang="zh-CN" sz="1900">
                <a:solidFill>
                  <a:schemeClr val="accent2"/>
                </a:solidFill>
                <a:ea typeface="黑体" panose="02010609060101010101" pitchFamily="49" charset="-122"/>
              </a:rPr>
              <a:t>ALU</a:t>
            </a:r>
            <a:r>
              <a:rPr lang="zh-CN" altLang="en-US" sz="1900">
                <a:solidFill>
                  <a:schemeClr val="accent2"/>
                </a:solidFill>
                <a:ea typeface="黑体" panose="02010609060101010101" pitchFamily="49" charset="-122"/>
              </a:rPr>
              <a:t>指令：</a:t>
            </a:r>
            <a:r>
              <a:rPr lang="en-US" altLang="zh-CN" sz="1900">
                <a:solidFill>
                  <a:schemeClr val="accent2"/>
                </a:solidFill>
                <a:ea typeface="黑体" panose="02010609060101010101" pitchFamily="49" charset="-122"/>
              </a:rPr>
              <a:t>1</a:t>
            </a:r>
            <a:r>
              <a:rPr lang="zh-CN" altLang="en-US" sz="1900">
                <a:solidFill>
                  <a:schemeClr val="accent2"/>
                </a:solidFill>
                <a:ea typeface="黑体" panose="02010609060101010101" pitchFamily="49" charset="-122"/>
              </a:rPr>
              <a:t>个时钟；</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a:t>
            </a:r>
            <a:r>
              <a:rPr lang="en-US" altLang="zh-CN" sz="1900">
                <a:solidFill>
                  <a:schemeClr val="accent2"/>
                </a:solidFill>
                <a:ea typeface="黑体" panose="02010609060101010101" pitchFamily="49" charset="-122"/>
              </a:rPr>
              <a:t>Branch</a:t>
            </a:r>
            <a:r>
              <a:rPr lang="zh-CN" altLang="en-US" sz="1900">
                <a:solidFill>
                  <a:schemeClr val="accent2"/>
                </a:solidFill>
                <a:ea typeface="黑体" panose="02010609060101010101" pitchFamily="49" charset="-122"/>
              </a:rPr>
              <a:t>指令：预测成功时，</a:t>
            </a:r>
            <a:r>
              <a:rPr lang="en-US" altLang="zh-CN" sz="1900">
                <a:solidFill>
                  <a:schemeClr val="accent2"/>
                </a:solidFill>
                <a:ea typeface="黑体" panose="02010609060101010101" pitchFamily="49" charset="-122"/>
              </a:rPr>
              <a:t>1</a:t>
            </a:r>
            <a:r>
              <a:rPr lang="zh-CN" altLang="en-US" sz="1900">
                <a:solidFill>
                  <a:schemeClr val="accent2"/>
                </a:solidFill>
                <a:ea typeface="黑体" panose="02010609060101010101" pitchFamily="49" charset="-122"/>
              </a:rPr>
              <a:t>个时钟，预测错误时，</a:t>
            </a:r>
            <a:r>
              <a:rPr lang="en-US" altLang="zh-CN" sz="1900">
                <a:solidFill>
                  <a:schemeClr val="accent2"/>
                </a:solidFill>
                <a:ea typeface="黑体" panose="02010609060101010101" pitchFamily="49" charset="-122"/>
              </a:rPr>
              <a:t>2</a:t>
            </a:r>
            <a:r>
              <a:rPr lang="zh-CN" altLang="en-US" sz="1900">
                <a:solidFill>
                  <a:schemeClr val="accent2"/>
                </a:solidFill>
                <a:ea typeface="黑体" panose="02010609060101010101" pitchFamily="49" charset="-122"/>
              </a:rPr>
              <a:t>个时钟，</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所以：平均约为：</a:t>
            </a:r>
            <a:r>
              <a:rPr lang="en-US" altLang="zh-CN" sz="1900">
                <a:solidFill>
                  <a:schemeClr val="accent2"/>
                </a:solidFill>
                <a:ea typeface="黑体" panose="02010609060101010101" pitchFamily="49" charset="-122"/>
              </a:rPr>
              <a:t>.75x1+.25x2=1.25</a:t>
            </a:r>
            <a:r>
              <a:rPr lang="zh-CN" altLang="en-US" sz="1900">
                <a:solidFill>
                  <a:schemeClr val="accent2"/>
                </a:solidFill>
                <a:ea typeface="黑体" panose="02010609060101010101" pitchFamily="49" charset="-122"/>
              </a:rPr>
              <a:t>个；</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a:t>
            </a:r>
            <a:r>
              <a:rPr lang="en-US" altLang="zh-CN" sz="1900">
                <a:solidFill>
                  <a:schemeClr val="accent2"/>
                </a:solidFill>
                <a:ea typeface="黑体" panose="02010609060101010101" pitchFamily="49" charset="-122"/>
              </a:rPr>
              <a:t>Jump</a:t>
            </a:r>
            <a:r>
              <a:rPr lang="zh-CN" altLang="en-US" sz="1900">
                <a:solidFill>
                  <a:schemeClr val="accent2"/>
                </a:solidFill>
                <a:ea typeface="黑体" panose="02010609060101010101" pitchFamily="49" charset="-122"/>
              </a:rPr>
              <a:t>指令：</a:t>
            </a:r>
            <a:r>
              <a:rPr lang="en-US" altLang="zh-CN" sz="1900">
                <a:solidFill>
                  <a:schemeClr val="accent2"/>
                </a:solidFill>
                <a:ea typeface="黑体" panose="02010609060101010101" pitchFamily="49" charset="-122"/>
              </a:rPr>
              <a:t>2</a:t>
            </a:r>
            <a:r>
              <a:rPr lang="zh-CN" altLang="en-US" sz="1900">
                <a:solidFill>
                  <a:schemeClr val="accent2"/>
                </a:solidFill>
                <a:ea typeface="黑体" panose="02010609060101010101" pitchFamily="49" charset="-122"/>
              </a:rPr>
              <a:t>个时钟（总要等到译码阶段结束才能得到转移地址）</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平均</a:t>
            </a:r>
            <a:r>
              <a:rPr lang="en-US" altLang="zh-CN" sz="1900">
                <a:solidFill>
                  <a:schemeClr val="accent2"/>
                </a:solidFill>
                <a:ea typeface="黑体" panose="02010609060101010101" pitchFamily="49" charset="-122"/>
              </a:rPr>
              <a:t>CPI</a:t>
            </a:r>
            <a:r>
              <a:rPr lang="zh-CN" altLang="en-US" sz="1900">
                <a:solidFill>
                  <a:schemeClr val="accent2"/>
                </a:solidFill>
                <a:ea typeface="黑体" panose="02010609060101010101" pitchFamily="49" charset="-122"/>
              </a:rPr>
              <a:t>为：</a:t>
            </a:r>
            <a:r>
              <a:rPr lang="en-US" altLang="zh-CN" sz="1900">
                <a:solidFill>
                  <a:schemeClr val="accent2"/>
                </a:solidFill>
                <a:ea typeface="黑体" panose="02010609060101010101" pitchFamily="49" charset="-122"/>
              </a:rPr>
              <a:t>1.5x25%+1x10%+1x52%+1.25x11%+2x2%=1.17</a:t>
            </a:r>
          </a:p>
          <a:p>
            <a:pPr>
              <a:spcBef>
                <a:spcPct val="20000"/>
              </a:spcBef>
              <a:buFont typeface="Times New Roman" panose="02020603050405020304" pitchFamily="18" charset="0"/>
              <a:buNone/>
            </a:pPr>
            <a:r>
              <a:rPr lang="zh-CN" altLang="en-US" sz="1900">
                <a:solidFill>
                  <a:schemeClr val="accent2"/>
                </a:solidFill>
                <a:ea typeface="黑体" panose="02010609060101010101" pitchFamily="49" charset="-122"/>
              </a:rPr>
              <a:t>   所以， </a:t>
            </a:r>
            <a:r>
              <a:rPr lang="en-US" altLang="zh-CN" sz="1900">
                <a:solidFill>
                  <a:schemeClr val="accent2"/>
                </a:solidFill>
                <a:ea typeface="黑体" panose="02010609060101010101" pitchFamily="49" charset="-122"/>
              </a:rPr>
              <a:t>N</a:t>
            </a:r>
            <a:r>
              <a:rPr lang="zh-CN" altLang="en-US" sz="1900">
                <a:solidFill>
                  <a:schemeClr val="accent2"/>
                </a:solidFill>
                <a:ea typeface="黑体" panose="02010609060101010101" pitchFamily="49" charset="-122"/>
              </a:rPr>
              <a:t>条指令的执行时间为</a:t>
            </a:r>
            <a:r>
              <a:rPr lang="en-US" altLang="zh-CN" sz="1900">
                <a:solidFill>
                  <a:schemeClr val="accent2"/>
                </a:solidFill>
                <a:ea typeface="黑体" panose="02010609060101010101" pitchFamily="49" charset="-122"/>
              </a:rPr>
              <a:t>1.17x200xN=</a:t>
            </a:r>
            <a:r>
              <a:rPr lang="en-US" altLang="zh-CN" sz="1900">
                <a:solidFill>
                  <a:srgbClr val="CC0000"/>
                </a:solidFill>
                <a:ea typeface="黑体" panose="02010609060101010101" pitchFamily="49" charset="-122"/>
              </a:rPr>
              <a:t>234N(ps)</a:t>
            </a:r>
            <a:endParaRPr lang="zh-CN" altLang="en-US" sz="1900">
              <a:solidFill>
                <a:schemeClr val="accent2"/>
              </a:solidFill>
              <a:ea typeface="黑体" panose="02010609060101010101" pitchFamily="49"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25CC5809-2362-8448-9022-60E72BA43E89}"/>
              </a:ext>
            </a:extLst>
          </p:cNvPr>
          <p:cNvSpPr>
            <a:spLocks noGrp="1" noChangeArrowheads="1"/>
          </p:cNvSpPr>
          <p:nvPr>
            <p:ph type="title"/>
          </p:nvPr>
        </p:nvSpPr>
        <p:spPr/>
        <p:txBody>
          <a:bodyPr/>
          <a:lstStyle/>
          <a:p>
            <a:r>
              <a:rPr lang="zh-CN" altLang="en-US">
                <a:ea typeface="宋体" panose="02010600030101010101" pitchFamily="2" charset="-122"/>
              </a:rPr>
              <a:t>第二讲小结</a:t>
            </a:r>
          </a:p>
        </p:txBody>
      </p:sp>
      <p:sp>
        <p:nvSpPr>
          <p:cNvPr id="152579" name="Rectangle 3">
            <a:extLst>
              <a:ext uri="{FF2B5EF4-FFF2-40B4-BE49-F238E27FC236}">
                <a16:creationId xmlns:a16="http://schemas.microsoft.com/office/drawing/2014/main" id="{B1D616C7-ECEA-164B-96F8-DB4AD4D1EB67}"/>
              </a:ext>
            </a:extLst>
          </p:cNvPr>
          <p:cNvSpPr>
            <a:spLocks noGrp="1" noChangeArrowheads="1"/>
          </p:cNvSpPr>
          <p:nvPr>
            <p:ph type="body" idx="1"/>
          </p:nvPr>
        </p:nvSpPr>
        <p:spPr>
          <a:xfrm>
            <a:off x="322263" y="711200"/>
            <a:ext cx="8077200" cy="5715000"/>
          </a:xfrm>
        </p:spPr>
        <p:txBody>
          <a:bodyPr/>
          <a:lstStyle/>
          <a:p>
            <a:pPr>
              <a:spcBef>
                <a:spcPct val="10000"/>
              </a:spcBef>
            </a:pPr>
            <a:r>
              <a:rPr lang="zh-CN" altLang="en-US" sz="2000">
                <a:ea typeface="黑体" panose="02010609060101010101" pitchFamily="49" charset="-122"/>
              </a:rPr>
              <a:t>流水线冒险的几种类型：</a:t>
            </a:r>
          </a:p>
          <a:p>
            <a:pPr lvl="1">
              <a:lnSpc>
                <a:spcPct val="100000"/>
              </a:lnSpc>
              <a:spcBef>
                <a:spcPct val="10000"/>
              </a:spcBef>
            </a:pPr>
            <a:r>
              <a:rPr lang="zh-CN" altLang="en-US" sz="2000">
                <a:ea typeface="黑体" panose="02010609060101010101" pitchFamily="49" charset="-122"/>
              </a:rPr>
              <a:t>资源冲突、数据相关、控制相关（改变指令流的执行方向）</a:t>
            </a:r>
          </a:p>
          <a:p>
            <a:pPr>
              <a:spcBef>
                <a:spcPct val="10000"/>
              </a:spcBef>
            </a:pPr>
            <a:r>
              <a:rPr lang="zh-CN" altLang="en-US" sz="2000">
                <a:ea typeface="黑体" panose="02010609060101010101" pitchFamily="49" charset="-122"/>
              </a:rPr>
              <a:t>数据冒险的现象和对策</a:t>
            </a:r>
          </a:p>
          <a:p>
            <a:pPr lvl="1">
              <a:lnSpc>
                <a:spcPct val="100000"/>
              </a:lnSpc>
              <a:spcBef>
                <a:spcPct val="10000"/>
              </a:spcBef>
            </a:pPr>
            <a:r>
              <a:rPr lang="zh-CN" altLang="en-US" sz="2000">
                <a:ea typeface="黑体" panose="02010609060101010101" pitchFamily="49" charset="-122"/>
              </a:rPr>
              <a:t>数据冒险的种类</a:t>
            </a:r>
          </a:p>
          <a:p>
            <a:pPr lvl="2">
              <a:lnSpc>
                <a:spcPct val="100000"/>
              </a:lnSpc>
              <a:spcBef>
                <a:spcPct val="10000"/>
              </a:spcBef>
            </a:pPr>
            <a:r>
              <a:rPr lang="zh-CN" altLang="en-US" sz="2000">
                <a:ea typeface="黑体" panose="02010609060101010101" pitchFamily="49" charset="-122"/>
              </a:rPr>
              <a:t>相关的数据是</a:t>
            </a:r>
            <a:r>
              <a:rPr lang="en-US" altLang="zh-CN" sz="2000">
                <a:ea typeface="黑体" panose="02010609060101010101" pitchFamily="49" charset="-122"/>
              </a:rPr>
              <a:t>ALU</a:t>
            </a:r>
            <a:r>
              <a:rPr lang="zh-CN" altLang="en-US" sz="2000">
                <a:ea typeface="黑体" panose="02010609060101010101" pitchFamily="49" charset="-122"/>
              </a:rPr>
              <a:t>结果，可以通过转发解决</a:t>
            </a:r>
          </a:p>
          <a:p>
            <a:pPr lvl="2">
              <a:lnSpc>
                <a:spcPct val="100000"/>
              </a:lnSpc>
              <a:spcBef>
                <a:spcPct val="10000"/>
              </a:spcBef>
            </a:pPr>
            <a:r>
              <a:rPr lang="zh-CN" altLang="en-US" sz="2000">
                <a:ea typeface="黑体" panose="02010609060101010101" pitchFamily="49" charset="-122"/>
              </a:rPr>
              <a:t>相关的数据是</a:t>
            </a:r>
            <a:r>
              <a:rPr lang="en-US" altLang="zh-CN" sz="2000">
                <a:ea typeface="黑体" panose="02010609060101010101" pitchFamily="49" charset="-122"/>
              </a:rPr>
              <a:t>DM</a:t>
            </a:r>
            <a:r>
              <a:rPr lang="zh-CN" altLang="en-US" sz="2000">
                <a:ea typeface="黑体" panose="02010609060101010101" pitchFamily="49" charset="-122"/>
              </a:rPr>
              <a:t>读出的内容，随后的指令被阻塞一个时钟</a:t>
            </a:r>
          </a:p>
          <a:p>
            <a:pPr lvl="1">
              <a:lnSpc>
                <a:spcPct val="100000"/>
              </a:lnSpc>
              <a:spcBef>
                <a:spcPct val="10000"/>
              </a:spcBef>
            </a:pPr>
            <a:r>
              <a:rPr lang="zh-CN" altLang="en-US" sz="2000">
                <a:ea typeface="黑体" panose="02010609060101010101" pitchFamily="49" charset="-122"/>
              </a:rPr>
              <a:t>数据冒险和转发</a:t>
            </a:r>
          </a:p>
          <a:p>
            <a:pPr lvl="2">
              <a:lnSpc>
                <a:spcPct val="100000"/>
              </a:lnSpc>
              <a:spcBef>
                <a:spcPct val="10000"/>
              </a:spcBef>
            </a:pPr>
            <a:r>
              <a:rPr lang="zh-CN" altLang="en-US" sz="2000">
                <a:ea typeface="黑体" panose="02010609060101010101" pitchFamily="49" charset="-122"/>
              </a:rPr>
              <a:t>转发检测 </a:t>
            </a:r>
            <a:r>
              <a:rPr lang="en-US" altLang="zh-CN" sz="2000">
                <a:ea typeface="黑体" panose="02010609060101010101" pitchFamily="49" charset="-122"/>
              </a:rPr>
              <a:t>/ </a:t>
            </a:r>
            <a:r>
              <a:rPr lang="zh-CN" altLang="en-US" sz="2000">
                <a:ea typeface="黑体" panose="02010609060101010101" pitchFamily="49" charset="-122"/>
              </a:rPr>
              <a:t>转发控制</a:t>
            </a:r>
          </a:p>
          <a:p>
            <a:pPr lvl="1">
              <a:lnSpc>
                <a:spcPct val="100000"/>
              </a:lnSpc>
              <a:spcBef>
                <a:spcPct val="10000"/>
              </a:spcBef>
            </a:pPr>
            <a:r>
              <a:rPr lang="zh-CN" altLang="en-US" sz="2000">
                <a:ea typeface="黑体" panose="02010609060101010101" pitchFamily="49" charset="-122"/>
              </a:rPr>
              <a:t>数据冒险和阻塞</a:t>
            </a:r>
          </a:p>
          <a:p>
            <a:pPr lvl="2">
              <a:lnSpc>
                <a:spcPct val="100000"/>
              </a:lnSpc>
              <a:spcBef>
                <a:spcPct val="10000"/>
              </a:spcBef>
            </a:pPr>
            <a:r>
              <a:rPr lang="zh-CN" altLang="en-US" sz="2000">
                <a:ea typeface="黑体" panose="02010609060101010101" pitchFamily="49" charset="-122"/>
              </a:rPr>
              <a:t>阻塞检测 </a:t>
            </a:r>
            <a:r>
              <a:rPr lang="en-US" altLang="zh-CN" sz="2000">
                <a:ea typeface="黑体" panose="02010609060101010101" pitchFamily="49" charset="-122"/>
              </a:rPr>
              <a:t>/ </a:t>
            </a:r>
            <a:r>
              <a:rPr lang="zh-CN" altLang="en-US" sz="2000">
                <a:ea typeface="黑体" panose="02010609060101010101" pitchFamily="49" charset="-122"/>
              </a:rPr>
              <a:t>阻塞控制</a:t>
            </a:r>
          </a:p>
          <a:p>
            <a:pPr>
              <a:spcBef>
                <a:spcPct val="10000"/>
              </a:spcBef>
            </a:pPr>
            <a:r>
              <a:rPr lang="zh-CN" altLang="en-US" sz="2000">
                <a:ea typeface="黑体" panose="02010609060101010101" pitchFamily="49" charset="-122"/>
              </a:rPr>
              <a:t>控制冒险的现象和对策</a:t>
            </a:r>
          </a:p>
          <a:p>
            <a:pPr lvl="1">
              <a:lnSpc>
                <a:spcPct val="100000"/>
              </a:lnSpc>
              <a:spcBef>
                <a:spcPct val="10000"/>
              </a:spcBef>
            </a:pPr>
            <a:r>
              <a:rPr lang="zh-CN" altLang="en-US" sz="2000">
                <a:ea typeface="黑体" panose="02010609060101010101" pitchFamily="49" charset="-122"/>
              </a:rPr>
              <a:t>静态分支预测技术</a:t>
            </a:r>
          </a:p>
          <a:p>
            <a:pPr lvl="1">
              <a:lnSpc>
                <a:spcPct val="100000"/>
              </a:lnSpc>
              <a:spcBef>
                <a:spcPct val="10000"/>
              </a:spcBef>
            </a:pPr>
            <a:r>
              <a:rPr lang="zh-CN" altLang="en-US" sz="2000">
                <a:ea typeface="黑体" panose="02010609060101010101" pitchFamily="49" charset="-122"/>
              </a:rPr>
              <a:t>缩短分支延迟技术 </a:t>
            </a:r>
          </a:p>
          <a:p>
            <a:pPr lvl="1">
              <a:lnSpc>
                <a:spcPct val="100000"/>
              </a:lnSpc>
              <a:spcBef>
                <a:spcPct val="10000"/>
              </a:spcBef>
            </a:pPr>
            <a:r>
              <a:rPr lang="zh-CN" altLang="en-US" sz="2000">
                <a:ea typeface="黑体" panose="02010609060101010101" pitchFamily="49" charset="-122"/>
              </a:rPr>
              <a:t>动态分支预测技术</a:t>
            </a:r>
          </a:p>
          <a:p>
            <a:pPr>
              <a:spcBef>
                <a:spcPct val="10000"/>
              </a:spcBef>
            </a:pPr>
            <a:r>
              <a:rPr lang="zh-CN" altLang="en-US" sz="2000">
                <a:ea typeface="黑体" panose="02010609060101010101" pitchFamily="49" charset="-122"/>
              </a:rPr>
              <a:t>异常和中断是一种特殊的控制冒险</a:t>
            </a:r>
          </a:p>
          <a:p>
            <a:pPr>
              <a:spcBef>
                <a:spcPct val="10000"/>
              </a:spcBef>
            </a:pPr>
            <a:r>
              <a:rPr lang="zh-CN" altLang="en-US" sz="2000">
                <a:ea typeface="黑体" panose="02010609060101010101" pitchFamily="49" charset="-122"/>
              </a:rPr>
              <a:t>访存缺失（</a:t>
            </a:r>
            <a:r>
              <a:rPr lang="en-US" altLang="zh-CN" sz="2000">
                <a:ea typeface="黑体" panose="02010609060101010101" pitchFamily="49" charset="-122"/>
              </a:rPr>
              <a:t>Cache</a:t>
            </a:r>
            <a:r>
              <a:rPr lang="zh-CN" altLang="en-US" sz="2000">
                <a:ea typeface="黑体" panose="02010609060101010101" pitchFamily="49" charset="-122"/>
              </a:rPr>
              <a:t>缺失、</a:t>
            </a:r>
            <a:r>
              <a:rPr lang="en-US" altLang="zh-CN" sz="2000">
                <a:ea typeface="黑体" panose="02010609060101010101" pitchFamily="49" charset="-122"/>
              </a:rPr>
              <a:t>TLB</a:t>
            </a:r>
            <a:r>
              <a:rPr lang="zh-CN" altLang="en-US" sz="2000">
                <a:ea typeface="黑体" panose="02010609060101010101" pitchFamily="49" charset="-122"/>
              </a:rPr>
              <a:t>缺失、缺页）会引起流水线阻塞</a:t>
            </a:r>
          </a:p>
          <a:p>
            <a:pPr>
              <a:spcBef>
                <a:spcPct val="10000"/>
              </a:spcBef>
              <a:buFont typeface="Times New Roman" panose="02020603050405020304" pitchFamily="18" charset="0"/>
              <a:buNone/>
            </a:pPr>
            <a:endParaRPr lang="zh-CN" altLang="en-US" sz="2000">
              <a:ea typeface="黑体" panose="02010609060101010101" pitchFamily="49"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D2498BFA-F021-D444-A2D1-F51A8CC1FF51}"/>
              </a:ext>
            </a:extLst>
          </p:cNvPr>
          <p:cNvSpPr>
            <a:spLocks noGrp="1" noChangeArrowheads="1"/>
          </p:cNvSpPr>
          <p:nvPr>
            <p:ph type="title"/>
          </p:nvPr>
        </p:nvSpPr>
        <p:spPr/>
        <p:txBody>
          <a:bodyPr/>
          <a:lstStyle/>
          <a:p>
            <a:r>
              <a:rPr lang="zh-CN" altLang="en-US">
                <a:ea typeface="宋体" panose="02010600030101010101" pitchFamily="2" charset="-122"/>
              </a:rPr>
              <a:t>第三讲 高级流水线技术</a:t>
            </a:r>
          </a:p>
        </p:txBody>
      </p:sp>
      <p:sp>
        <p:nvSpPr>
          <p:cNvPr id="153603" name="Rectangle 3">
            <a:extLst>
              <a:ext uri="{FF2B5EF4-FFF2-40B4-BE49-F238E27FC236}">
                <a16:creationId xmlns:a16="http://schemas.microsoft.com/office/drawing/2014/main" id="{408D205C-30F2-684D-BA79-02D382AF05D3}"/>
              </a:ext>
            </a:extLst>
          </p:cNvPr>
          <p:cNvSpPr>
            <a:spLocks noGrp="1" noChangeArrowheads="1"/>
          </p:cNvSpPr>
          <p:nvPr>
            <p:ph type="body" idx="1"/>
          </p:nvPr>
        </p:nvSpPr>
        <p:spPr>
          <a:xfrm>
            <a:off x="538163" y="614363"/>
            <a:ext cx="8191500" cy="6049962"/>
          </a:xfrm>
        </p:spPr>
        <p:txBody>
          <a:bodyPr/>
          <a:lstStyle/>
          <a:p>
            <a:pPr>
              <a:spcBef>
                <a:spcPct val="10000"/>
              </a:spcBef>
            </a:pPr>
            <a:r>
              <a:rPr lang="zh-CN" altLang="en-US" sz="2000">
                <a:ea typeface="黑体" panose="02010609060101010101" pitchFamily="49" charset="-122"/>
              </a:rPr>
              <a:t>高性能流水线 </a:t>
            </a:r>
            <a:r>
              <a:rPr lang="en-US" altLang="zh-CN" sz="2000">
                <a:ea typeface="黑体" panose="02010609060101010101" pitchFamily="49" charset="-122"/>
              </a:rPr>
              <a:t>- </a:t>
            </a:r>
            <a:r>
              <a:rPr lang="zh-CN" altLang="en-US" sz="2000">
                <a:ea typeface="黑体" panose="02010609060101010101" pitchFamily="49" charset="-122"/>
              </a:rPr>
              <a:t>指令级并行</a:t>
            </a:r>
            <a:r>
              <a:rPr lang="en-US" altLang="zh-CN" sz="2000">
                <a:ea typeface="黑体" panose="02010609060101010101" pitchFamily="49" charset="-122"/>
              </a:rPr>
              <a:t>(ILP)</a:t>
            </a:r>
            <a:r>
              <a:rPr lang="zh-CN" altLang="en-US" sz="2000">
                <a:ea typeface="黑体" panose="02010609060101010101" pitchFamily="49" charset="-122"/>
              </a:rPr>
              <a:t>技术</a:t>
            </a:r>
          </a:p>
          <a:p>
            <a:pPr lvl="1">
              <a:lnSpc>
                <a:spcPct val="100000"/>
              </a:lnSpc>
              <a:spcBef>
                <a:spcPct val="10000"/>
              </a:spcBef>
            </a:pPr>
            <a:r>
              <a:rPr lang="zh-CN" altLang="en-US" sz="2000">
                <a:ea typeface="黑体" panose="02010609060101010101" pitchFamily="49" charset="-122"/>
              </a:rPr>
              <a:t>超流水线</a:t>
            </a:r>
          </a:p>
          <a:p>
            <a:pPr lvl="1">
              <a:lnSpc>
                <a:spcPct val="100000"/>
              </a:lnSpc>
              <a:spcBef>
                <a:spcPct val="10000"/>
              </a:spcBef>
            </a:pPr>
            <a:r>
              <a:rPr lang="zh-CN" altLang="en-US" sz="2000">
                <a:ea typeface="黑体" panose="02010609060101010101" pitchFamily="49" charset="-122"/>
              </a:rPr>
              <a:t>多发射流水线</a:t>
            </a:r>
          </a:p>
          <a:p>
            <a:pPr lvl="2">
              <a:lnSpc>
                <a:spcPct val="100000"/>
              </a:lnSpc>
              <a:spcBef>
                <a:spcPct val="10000"/>
              </a:spcBef>
            </a:pPr>
            <a:r>
              <a:rPr lang="zh-CN" altLang="en-US" sz="2000">
                <a:ea typeface="黑体" panose="02010609060101010101" pitchFamily="49" charset="-122"/>
              </a:rPr>
              <a:t>静态多发射（</a:t>
            </a:r>
            <a:r>
              <a:rPr lang="en-US" altLang="zh-CN" sz="2000">
                <a:ea typeface="黑体" panose="02010609060101010101" pitchFamily="49" charset="-122"/>
              </a:rPr>
              <a:t>VLIW</a:t>
            </a:r>
            <a:r>
              <a:rPr lang="zh-CN" altLang="en-US" sz="2000">
                <a:ea typeface="黑体" panose="02010609060101010101" pitchFamily="49" charset="-122"/>
              </a:rPr>
              <a:t>处理器 </a:t>
            </a:r>
            <a:r>
              <a:rPr lang="en-US" altLang="zh-CN" sz="2000">
                <a:ea typeface="黑体" panose="02010609060101010101" pitchFamily="49" charset="-122"/>
              </a:rPr>
              <a:t>+ </a:t>
            </a:r>
            <a:r>
              <a:rPr lang="zh-CN" altLang="en-US" sz="2000">
                <a:ea typeface="黑体" panose="02010609060101010101" pitchFamily="49" charset="-122"/>
              </a:rPr>
              <a:t>编译器静态调度）</a:t>
            </a:r>
          </a:p>
          <a:p>
            <a:pPr lvl="2">
              <a:lnSpc>
                <a:spcPct val="100000"/>
              </a:lnSpc>
              <a:spcBef>
                <a:spcPct val="10000"/>
              </a:spcBef>
            </a:pPr>
            <a:r>
              <a:rPr lang="zh-CN" altLang="en-US" sz="2000">
                <a:ea typeface="黑体" panose="02010609060101010101" pitchFamily="49" charset="-122"/>
              </a:rPr>
              <a:t>动态多发射（超标量处理器 </a:t>
            </a:r>
            <a:r>
              <a:rPr lang="en-US" altLang="zh-CN" sz="2000">
                <a:ea typeface="黑体" panose="02010609060101010101" pitchFamily="49" charset="-122"/>
              </a:rPr>
              <a:t>+ </a:t>
            </a:r>
            <a:r>
              <a:rPr lang="zh-CN" altLang="en-US" sz="2000">
                <a:ea typeface="黑体" panose="02010609060101010101" pitchFamily="49" charset="-122"/>
              </a:rPr>
              <a:t>动态流水线调度）</a:t>
            </a:r>
          </a:p>
          <a:p>
            <a:pPr>
              <a:spcBef>
                <a:spcPct val="10000"/>
              </a:spcBef>
            </a:pPr>
            <a:r>
              <a:rPr lang="zh-CN" altLang="en-US" sz="2000">
                <a:ea typeface="黑体" panose="02010609060101010101" pitchFamily="49" charset="-122"/>
              </a:rPr>
              <a:t>静态多发射（</a:t>
            </a:r>
            <a:r>
              <a:rPr lang="en-US" altLang="zh-CN" sz="2000">
                <a:ea typeface="黑体" panose="02010609060101010101" pitchFamily="49" charset="-122"/>
              </a:rPr>
              <a:t>VLIW-</a:t>
            </a:r>
            <a:r>
              <a:rPr lang="zh-CN" altLang="en-US" sz="2000">
                <a:ea typeface="黑体" panose="02010609060101010101" pitchFamily="49" charset="-122"/>
              </a:rPr>
              <a:t>超长指令字）</a:t>
            </a:r>
          </a:p>
          <a:p>
            <a:pPr lvl="1">
              <a:lnSpc>
                <a:spcPct val="100000"/>
              </a:lnSpc>
              <a:spcBef>
                <a:spcPct val="10000"/>
              </a:spcBef>
            </a:pPr>
            <a:r>
              <a:rPr lang="zh-CN" altLang="en-US" sz="2000">
                <a:ea typeface="黑体" panose="02010609060101010101" pitchFamily="49" charset="-122"/>
              </a:rPr>
              <a:t>编译器静态推测完成“指令打包”和“冒险处理”</a:t>
            </a:r>
          </a:p>
          <a:p>
            <a:pPr lvl="1">
              <a:lnSpc>
                <a:spcPct val="100000"/>
              </a:lnSpc>
              <a:spcBef>
                <a:spcPct val="10000"/>
              </a:spcBef>
            </a:pPr>
            <a:r>
              <a:rPr lang="en-US" altLang="zh-CN" sz="2000">
                <a:ea typeface="黑体" panose="02010609060101010101" pitchFamily="49" charset="-122"/>
              </a:rPr>
              <a:t>MIPS 2-</a:t>
            </a:r>
            <a:r>
              <a:rPr lang="zh-CN" altLang="en-US" sz="2000">
                <a:ea typeface="黑体" panose="02010609060101010101" pitchFamily="49" charset="-122"/>
              </a:rPr>
              <a:t>发射流水线数据通路</a:t>
            </a:r>
          </a:p>
          <a:p>
            <a:pPr lvl="1">
              <a:lnSpc>
                <a:spcPct val="100000"/>
              </a:lnSpc>
              <a:spcBef>
                <a:spcPct val="10000"/>
              </a:spcBef>
            </a:pPr>
            <a:r>
              <a:rPr lang="zh-CN" altLang="en-US" sz="2000">
                <a:ea typeface="黑体" panose="02010609060101010101" pitchFamily="49" charset="-122"/>
              </a:rPr>
              <a:t>循环展开指令调度</a:t>
            </a:r>
            <a:endParaRPr lang="en-US" altLang="zh-CN" sz="2000">
              <a:ea typeface="黑体" panose="02010609060101010101" pitchFamily="49" charset="-122"/>
            </a:endParaRPr>
          </a:p>
          <a:p>
            <a:pPr lvl="1">
              <a:lnSpc>
                <a:spcPct val="100000"/>
              </a:lnSpc>
              <a:spcBef>
                <a:spcPct val="10000"/>
              </a:spcBef>
            </a:pPr>
            <a:r>
              <a:rPr lang="en-US" altLang="zh-CN" sz="2000">
                <a:ea typeface="黑体" panose="02010609060101010101" pitchFamily="49" charset="-122"/>
              </a:rPr>
              <a:t>IA-64</a:t>
            </a:r>
            <a:r>
              <a:rPr lang="zh-CN" altLang="en-US" sz="2000">
                <a:ea typeface="黑体" panose="02010609060101010101" pitchFamily="49" charset="-122"/>
              </a:rPr>
              <a:t>的</a:t>
            </a:r>
            <a:r>
              <a:rPr lang="en-US" altLang="zh-CN" sz="2000">
                <a:ea typeface="黑体" panose="02010609060101010101" pitchFamily="49" charset="-122"/>
              </a:rPr>
              <a:t>EPIC</a:t>
            </a:r>
            <a:r>
              <a:rPr lang="zh-CN" altLang="en-US" sz="2000">
                <a:ea typeface="黑体" panose="02010609060101010101" pitchFamily="49" charset="-122"/>
              </a:rPr>
              <a:t>技术</a:t>
            </a:r>
          </a:p>
          <a:p>
            <a:pPr>
              <a:spcBef>
                <a:spcPct val="10000"/>
              </a:spcBef>
            </a:pPr>
            <a:r>
              <a:rPr lang="zh-CN" altLang="en-US" sz="2000">
                <a:ea typeface="黑体" panose="02010609060101010101" pitchFamily="49" charset="-122"/>
              </a:rPr>
              <a:t>动态多发射</a:t>
            </a:r>
          </a:p>
          <a:p>
            <a:pPr lvl="1">
              <a:lnSpc>
                <a:spcPct val="100000"/>
              </a:lnSpc>
              <a:spcBef>
                <a:spcPct val="10000"/>
              </a:spcBef>
            </a:pPr>
            <a:r>
              <a:rPr lang="zh-CN" altLang="en-US" sz="2000">
                <a:ea typeface="黑体" panose="02010609060101010101" pitchFamily="49" charset="-122"/>
              </a:rPr>
              <a:t>动态多发射流水线的通用模型</a:t>
            </a:r>
          </a:p>
          <a:p>
            <a:pPr lvl="1">
              <a:lnSpc>
                <a:spcPct val="100000"/>
              </a:lnSpc>
              <a:spcBef>
                <a:spcPct val="10000"/>
              </a:spcBef>
            </a:pPr>
            <a:r>
              <a:rPr lang="zh-CN" altLang="en-US" sz="2000">
                <a:ea typeface="黑体" panose="02010609060101010101" pitchFamily="49" charset="-122"/>
              </a:rPr>
              <a:t>动态多发射流水线的执行模式</a:t>
            </a:r>
          </a:p>
          <a:p>
            <a:pPr lvl="2">
              <a:lnSpc>
                <a:spcPct val="100000"/>
              </a:lnSpc>
              <a:spcBef>
                <a:spcPct val="10000"/>
              </a:spcBef>
            </a:pPr>
            <a:r>
              <a:rPr lang="zh-CN" altLang="en-US" sz="2000">
                <a:ea typeface="黑体" panose="02010609060101010101" pitchFamily="49" charset="-122"/>
              </a:rPr>
              <a:t>按序发射、按序完成</a:t>
            </a:r>
          </a:p>
          <a:p>
            <a:pPr lvl="2">
              <a:lnSpc>
                <a:spcPct val="100000"/>
              </a:lnSpc>
              <a:spcBef>
                <a:spcPct val="10000"/>
              </a:spcBef>
            </a:pPr>
            <a:r>
              <a:rPr lang="zh-CN" altLang="en-US" sz="2000">
                <a:ea typeface="黑体" panose="02010609060101010101" pitchFamily="49" charset="-122"/>
              </a:rPr>
              <a:t>按序发射、乱序完成</a:t>
            </a:r>
          </a:p>
          <a:p>
            <a:pPr lvl="2">
              <a:lnSpc>
                <a:spcPct val="100000"/>
              </a:lnSpc>
              <a:spcBef>
                <a:spcPct val="10000"/>
              </a:spcBef>
            </a:pPr>
            <a:r>
              <a:rPr lang="zh-CN" altLang="en-US" sz="2000">
                <a:ea typeface="黑体" panose="02010609060101010101" pitchFamily="49" charset="-122"/>
              </a:rPr>
              <a:t>乱序发射、乱序完成</a:t>
            </a:r>
          </a:p>
          <a:p>
            <a:pPr lvl="1">
              <a:lnSpc>
                <a:spcPct val="100000"/>
              </a:lnSpc>
              <a:spcBef>
                <a:spcPct val="10000"/>
              </a:spcBef>
            </a:pPr>
            <a:r>
              <a:rPr lang="en-US" altLang="zh-CN" sz="2000">
                <a:ea typeface="黑体" panose="02010609060101010101" pitchFamily="49" charset="-122"/>
              </a:rPr>
              <a:t>Pentium 4 </a:t>
            </a:r>
            <a:r>
              <a:rPr lang="zh-CN" altLang="en-US" sz="2000">
                <a:ea typeface="黑体" panose="02010609060101010101" pitchFamily="49" charset="-122"/>
              </a:rPr>
              <a:t>动态多发射流水线</a:t>
            </a:r>
          </a:p>
          <a:p>
            <a:pPr lvl="2">
              <a:lnSpc>
                <a:spcPct val="100000"/>
              </a:lnSpc>
              <a:spcBef>
                <a:spcPct val="10000"/>
              </a:spcBef>
            </a:pPr>
            <a:r>
              <a:rPr lang="zh-CN" altLang="en-US" sz="2000">
                <a:ea typeface="黑体" panose="02010609060101010101" pitchFamily="49" charset="-122"/>
              </a:rPr>
              <a:t>超流水、超标量、动态调度、乱序发射、乱序完成</a:t>
            </a:r>
            <a:endParaRPr lang="en-US" altLang="zh-CN" sz="2000">
              <a:ea typeface="黑体" panose="02010609060101010101" pitchFamily="49"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B11DA977-919B-B040-9219-9E2E8B7515F7}"/>
              </a:ext>
            </a:extLst>
          </p:cNvPr>
          <p:cNvSpPr>
            <a:spLocks noGrp="1" noChangeArrowheads="1"/>
          </p:cNvSpPr>
          <p:nvPr>
            <p:ph type="title"/>
          </p:nvPr>
        </p:nvSpPr>
        <p:spPr>
          <a:xfrm>
            <a:off x="800100" y="190500"/>
            <a:ext cx="6862763" cy="368300"/>
          </a:xfrm>
        </p:spPr>
        <p:txBody>
          <a:bodyPr/>
          <a:lstStyle/>
          <a:p>
            <a:r>
              <a:rPr lang="zh-CN" altLang="en-US">
                <a:ea typeface="宋体" panose="02010600030101010101" pitchFamily="2" charset="-122"/>
              </a:rPr>
              <a:t>提高性能措施</a:t>
            </a:r>
            <a:r>
              <a:rPr lang="en-US" altLang="zh-CN">
                <a:ea typeface="宋体" panose="02010600030101010101" pitchFamily="2" charset="-122"/>
              </a:rPr>
              <a:t>—</a:t>
            </a:r>
            <a:r>
              <a:rPr lang="zh-CN" altLang="en-US">
                <a:ea typeface="宋体" panose="02010600030101010101" pitchFamily="2" charset="-122"/>
              </a:rPr>
              <a:t>实现指令级并行</a:t>
            </a:r>
          </a:p>
        </p:txBody>
      </p:sp>
      <p:sp>
        <p:nvSpPr>
          <p:cNvPr id="235523" name="Rectangle 3">
            <a:extLst>
              <a:ext uri="{FF2B5EF4-FFF2-40B4-BE49-F238E27FC236}">
                <a16:creationId xmlns:a16="http://schemas.microsoft.com/office/drawing/2014/main" id="{10A1B797-FCF6-3E45-88B2-415956E3AB2C}"/>
              </a:ext>
            </a:extLst>
          </p:cNvPr>
          <p:cNvSpPr>
            <a:spLocks noGrp="1" noChangeArrowheads="1"/>
          </p:cNvSpPr>
          <p:nvPr>
            <p:ph type="body" idx="1"/>
          </p:nvPr>
        </p:nvSpPr>
        <p:spPr>
          <a:xfrm>
            <a:off x="182563" y="665163"/>
            <a:ext cx="8770937" cy="6069012"/>
          </a:xfrm>
        </p:spPr>
        <p:txBody>
          <a:bodyPr/>
          <a:lstStyle/>
          <a:p>
            <a:pPr marL="342900" indent="-342900">
              <a:lnSpc>
                <a:spcPct val="105000"/>
              </a:lnSpc>
              <a:spcBef>
                <a:spcPct val="5000"/>
              </a:spcBef>
            </a:pPr>
            <a:r>
              <a:rPr lang="zh-CN" altLang="en-US" sz="1900">
                <a:ea typeface="黑体" panose="02010609060101010101" pitchFamily="49" charset="-122"/>
              </a:rPr>
              <a:t>实现指令流内部的并行流水线称为指令级并行（</a:t>
            </a:r>
            <a:r>
              <a:rPr lang="en-US" altLang="zh-CN" sz="1900">
                <a:ea typeface="黑体" panose="02010609060101010101" pitchFamily="49" charset="-122"/>
              </a:rPr>
              <a:t>ILP</a:t>
            </a:r>
            <a:r>
              <a:rPr lang="zh-CN" altLang="en-US" sz="1900">
                <a:ea typeface="黑体" panose="02010609060101010101" pitchFamily="49" charset="-122"/>
              </a:rPr>
              <a:t>）</a:t>
            </a:r>
            <a:endParaRPr lang="en-US" altLang="zh-CN" sz="1900">
              <a:ea typeface="黑体" panose="02010609060101010101" pitchFamily="49" charset="-122"/>
            </a:endParaRPr>
          </a:p>
          <a:p>
            <a:pPr marL="342900" indent="-342900">
              <a:lnSpc>
                <a:spcPct val="105000"/>
              </a:lnSpc>
              <a:spcBef>
                <a:spcPct val="5000"/>
              </a:spcBef>
            </a:pPr>
            <a:r>
              <a:rPr lang="zh-CN" altLang="en-US" sz="1900">
                <a:ea typeface="黑体" panose="02010609060101010101" pitchFamily="49" charset="-122"/>
              </a:rPr>
              <a:t>有两种指令级并行策略</a:t>
            </a:r>
          </a:p>
          <a:p>
            <a:pPr marL="838200" lvl="1" indent="-342900">
              <a:lnSpc>
                <a:spcPct val="105000"/>
              </a:lnSpc>
              <a:spcBef>
                <a:spcPct val="5000"/>
              </a:spcBef>
            </a:pPr>
            <a:r>
              <a:rPr lang="zh-CN" altLang="en-US" sz="1900">
                <a:ea typeface="黑体" panose="02010609060101010101" pitchFamily="49" charset="-122"/>
              </a:rPr>
              <a:t>超流水线（</a:t>
            </a:r>
            <a:r>
              <a:rPr lang="en-US" altLang="zh-CN" sz="1900">
                <a:ea typeface="黑体" panose="02010609060101010101" pitchFamily="49" charset="-122"/>
              </a:rPr>
              <a:t>Super- pipelining</a:t>
            </a:r>
            <a:r>
              <a:rPr lang="zh-CN" altLang="en-US" sz="1900">
                <a:ea typeface="黑体" panose="02010609060101010101" pitchFamily="49" charset="-122"/>
              </a:rPr>
              <a:t>）</a:t>
            </a:r>
          </a:p>
          <a:p>
            <a:pPr lvl="2">
              <a:lnSpc>
                <a:spcPct val="105000"/>
              </a:lnSpc>
              <a:spcBef>
                <a:spcPct val="5000"/>
              </a:spcBef>
            </a:pPr>
            <a:r>
              <a:rPr lang="zh-CN" altLang="en-US" sz="1900">
                <a:ea typeface="黑体" panose="02010609060101010101" pitchFamily="49" charset="-122"/>
              </a:rPr>
              <a:t>级数更多的流水线</a:t>
            </a:r>
          </a:p>
          <a:p>
            <a:pPr lvl="2">
              <a:lnSpc>
                <a:spcPct val="105000"/>
              </a:lnSpc>
              <a:spcBef>
                <a:spcPct val="5000"/>
              </a:spcBef>
            </a:pPr>
            <a:r>
              <a:rPr lang="zh-CN" altLang="en-US" sz="1900">
                <a:ea typeface="黑体" panose="02010609060101010101" pitchFamily="49" charset="-122"/>
              </a:rPr>
              <a:t>理想情况下，流水线的加速比与流水段的数目成正比</a:t>
            </a:r>
          </a:p>
          <a:p>
            <a:pPr lvl="2">
              <a:lnSpc>
                <a:spcPct val="105000"/>
              </a:lnSpc>
              <a:spcBef>
                <a:spcPct val="5000"/>
              </a:spcBef>
              <a:buFontTx/>
              <a:buNone/>
            </a:pPr>
            <a:r>
              <a:rPr lang="zh-CN" altLang="en-US" sz="1900">
                <a:solidFill>
                  <a:srgbClr val="008000"/>
                </a:solidFill>
                <a:ea typeface="黑体" panose="02010609060101010101" pitchFamily="49" charset="-122"/>
              </a:rPr>
              <a:t>（即：理想情况下，流水段越多，时钟周期越短，指令吞吐率越高）</a:t>
            </a:r>
          </a:p>
          <a:p>
            <a:pPr lvl="2">
              <a:lnSpc>
                <a:spcPct val="105000"/>
              </a:lnSpc>
              <a:spcBef>
                <a:spcPct val="5000"/>
              </a:spcBef>
              <a:buFontTx/>
              <a:buNone/>
            </a:pPr>
            <a:r>
              <a:rPr lang="zh-CN" altLang="en-US" sz="1900">
                <a:solidFill>
                  <a:srgbClr val="3399FF"/>
                </a:solidFill>
                <a:ea typeface="黑体" panose="02010609060101010101" pitchFamily="49" charset="-122"/>
              </a:rPr>
              <a:t>但是，它会增加开销，且是有极限的！可以怎样突破极限呢？</a:t>
            </a:r>
          </a:p>
          <a:p>
            <a:pPr marL="838200" lvl="1" indent="-342900">
              <a:lnSpc>
                <a:spcPct val="105000"/>
              </a:lnSpc>
              <a:spcBef>
                <a:spcPct val="5000"/>
              </a:spcBef>
            </a:pPr>
            <a:r>
              <a:rPr lang="zh-CN" altLang="en-US" sz="1900">
                <a:ea typeface="黑体" panose="02010609060101010101" pitchFamily="49" charset="-122"/>
              </a:rPr>
              <a:t>多发射流水线（</a:t>
            </a:r>
            <a:r>
              <a:rPr lang="en-US" altLang="zh-CN" sz="1900">
                <a:ea typeface="黑体" panose="02010609060101010101" pitchFamily="49" charset="-122"/>
              </a:rPr>
              <a:t>Multiple issue pipelining </a:t>
            </a:r>
            <a:r>
              <a:rPr lang="zh-CN" altLang="en-US" sz="1900">
                <a:ea typeface="黑体" panose="02010609060101010101" pitchFamily="49" charset="-122"/>
              </a:rPr>
              <a:t>）</a:t>
            </a:r>
          </a:p>
          <a:p>
            <a:pPr lvl="2">
              <a:lnSpc>
                <a:spcPct val="105000"/>
              </a:lnSpc>
              <a:spcBef>
                <a:spcPct val="5000"/>
              </a:spcBef>
            </a:pPr>
            <a:r>
              <a:rPr lang="zh-CN" altLang="en-US" sz="1900">
                <a:ea typeface="黑体" panose="02010609060101010101" pitchFamily="49" charset="-122"/>
              </a:rPr>
              <a:t>多条指令</a:t>
            </a:r>
            <a:r>
              <a:rPr lang="en-US" altLang="zh-CN" sz="1900">
                <a:ea typeface="黑体" panose="02010609060101010101" pitchFamily="49" charset="-122"/>
              </a:rPr>
              <a:t>(</a:t>
            </a:r>
            <a:r>
              <a:rPr lang="zh-CN" altLang="en-US" sz="1900">
                <a:ea typeface="黑体" panose="02010609060101010101" pitchFamily="49" charset="-122"/>
              </a:rPr>
              <a:t>如整数运算、浮点运算、装入</a:t>
            </a:r>
            <a:r>
              <a:rPr lang="en-US" altLang="zh-CN" sz="1900">
                <a:ea typeface="黑体" panose="02010609060101010101" pitchFamily="49" charset="-122"/>
              </a:rPr>
              <a:t>/</a:t>
            </a:r>
            <a:r>
              <a:rPr lang="zh-CN" altLang="en-US" sz="1900">
                <a:ea typeface="黑体" panose="02010609060101010101" pitchFamily="49" charset="-122"/>
              </a:rPr>
              <a:t>存储等</a:t>
            </a:r>
            <a:r>
              <a:rPr lang="en-US" altLang="zh-CN" sz="1900">
                <a:ea typeface="黑体" panose="02010609060101010101" pitchFamily="49" charset="-122"/>
              </a:rPr>
              <a:t>) </a:t>
            </a:r>
            <a:r>
              <a:rPr lang="zh-CN" altLang="en-US" sz="1900">
                <a:ea typeface="黑体" panose="02010609060101010101" pitchFamily="49" charset="-122"/>
              </a:rPr>
              <a:t>同时启动并独立运行</a:t>
            </a:r>
          </a:p>
          <a:p>
            <a:pPr lvl="2">
              <a:lnSpc>
                <a:spcPct val="105000"/>
              </a:lnSpc>
              <a:spcBef>
                <a:spcPct val="5000"/>
              </a:spcBef>
            </a:pPr>
            <a:r>
              <a:rPr lang="zh-CN" altLang="en-US" sz="1900">
                <a:solidFill>
                  <a:srgbClr val="009999"/>
                </a:solidFill>
                <a:ea typeface="黑体" panose="02010609060101010101" pitchFamily="49" charset="-122"/>
              </a:rPr>
              <a:t>前提：</a:t>
            </a:r>
            <a:r>
              <a:rPr lang="zh-CN" altLang="en-US" sz="1900">
                <a:ea typeface="黑体" panose="02010609060101010101" pitchFamily="49" charset="-122"/>
              </a:rPr>
              <a:t>有多个执行部件。如：定点、浮点、乘</a:t>
            </a:r>
            <a:r>
              <a:rPr lang="en-US" altLang="zh-CN" sz="1900">
                <a:ea typeface="黑体" panose="02010609060101010101" pitchFamily="49" charset="-122"/>
              </a:rPr>
              <a:t>/</a:t>
            </a:r>
            <a:r>
              <a:rPr lang="zh-CN" altLang="en-US" sz="1900">
                <a:ea typeface="黑体" panose="02010609060101010101" pitchFamily="49" charset="-122"/>
              </a:rPr>
              <a:t>除、取数</a:t>
            </a:r>
            <a:r>
              <a:rPr lang="en-US" altLang="zh-CN" sz="1900">
                <a:ea typeface="黑体" panose="02010609060101010101" pitchFamily="49" charset="-122"/>
              </a:rPr>
              <a:t>/</a:t>
            </a:r>
            <a:r>
              <a:rPr lang="zh-CN" altLang="en-US" sz="1900">
                <a:ea typeface="黑体" panose="02010609060101010101" pitchFamily="49" charset="-122"/>
              </a:rPr>
              <a:t>存数部件等</a:t>
            </a:r>
          </a:p>
          <a:p>
            <a:pPr lvl="2">
              <a:lnSpc>
                <a:spcPct val="105000"/>
              </a:lnSpc>
              <a:spcBef>
                <a:spcPct val="5000"/>
              </a:spcBef>
            </a:pPr>
            <a:r>
              <a:rPr lang="zh-CN" altLang="en-US" sz="1900">
                <a:solidFill>
                  <a:srgbClr val="009999"/>
                </a:solidFill>
                <a:ea typeface="黑体" panose="02010609060101010101" pitchFamily="49" charset="-122"/>
              </a:rPr>
              <a:t>结果：</a:t>
            </a:r>
            <a:r>
              <a:rPr lang="zh-CN" altLang="en-US" sz="1900">
                <a:ea typeface="黑体" panose="02010609060101010101" pitchFamily="49" charset="-122"/>
              </a:rPr>
              <a:t>能达到小于</a:t>
            </a:r>
            <a:r>
              <a:rPr lang="en-US" altLang="zh-CN" sz="1900">
                <a:ea typeface="黑体" panose="02010609060101010101" pitchFamily="49" charset="-122"/>
              </a:rPr>
              <a:t>1</a:t>
            </a:r>
            <a:r>
              <a:rPr lang="zh-CN" altLang="en-US" sz="1900">
                <a:ea typeface="黑体" panose="02010609060101010101" pitchFamily="49" charset="-122"/>
              </a:rPr>
              <a:t>的</a:t>
            </a:r>
            <a:r>
              <a:rPr lang="en-US" altLang="zh-CN" sz="1900">
                <a:ea typeface="黑体" panose="02010609060101010101" pitchFamily="49" charset="-122"/>
              </a:rPr>
              <a:t>CPI</a:t>
            </a:r>
            <a:r>
              <a:rPr lang="zh-CN" altLang="en-US" sz="1900">
                <a:ea typeface="黑体" panose="02010609060101010101" pitchFamily="49" charset="-122"/>
              </a:rPr>
              <a:t>，定义</a:t>
            </a:r>
            <a:r>
              <a:rPr lang="en-US" altLang="zh-CN" sz="1900">
                <a:ea typeface="黑体" panose="02010609060101010101" pitchFamily="49" charset="-122"/>
              </a:rPr>
              <a:t>CPI</a:t>
            </a:r>
            <a:r>
              <a:rPr lang="zh-CN" altLang="en-US" sz="1900">
                <a:ea typeface="黑体" panose="02010609060101010101" pitchFamily="49" charset="-122"/>
              </a:rPr>
              <a:t>的倒数为</a:t>
            </a:r>
            <a:r>
              <a:rPr lang="en-US" altLang="zh-CN" sz="1900">
                <a:ea typeface="黑体" panose="02010609060101010101" pitchFamily="49" charset="-122"/>
              </a:rPr>
              <a:t>IPC</a:t>
            </a:r>
          </a:p>
          <a:p>
            <a:pPr lvl="2">
              <a:lnSpc>
                <a:spcPct val="105000"/>
              </a:lnSpc>
              <a:spcBef>
                <a:spcPct val="5000"/>
              </a:spcBef>
              <a:buFontTx/>
              <a:buNone/>
            </a:pPr>
            <a:r>
              <a:rPr lang="zh-CN" altLang="en-US" sz="1900">
                <a:ea typeface="黑体" panose="02010609060101010101" pitchFamily="49" charset="-122"/>
              </a:rPr>
              <a:t> </a:t>
            </a:r>
            <a:r>
              <a:rPr lang="zh-CN" altLang="en-US" sz="1900">
                <a:solidFill>
                  <a:srgbClr val="008000"/>
                </a:solidFill>
                <a:ea typeface="黑体" panose="02010609060101010101" pitchFamily="49" charset="-122"/>
              </a:rPr>
              <a:t>（例如：理想的四路多发射流水线的</a:t>
            </a:r>
            <a:r>
              <a:rPr lang="en-US" altLang="zh-CN" sz="1900">
                <a:solidFill>
                  <a:srgbClr val="008000"/>
                </a:solidFill>
                <a:ea typeface="黑体" panose="02010609060101010101" pitchFamily="49" charset="-122"/>
              </a:rPr>
              <a:t>IPC</a:t>
            </a:r>
            <a:r>
              <a:rPr lang="zh-CN" altLang="en-US" sz="1900">
                <a:solidFill>
                  <a:srgbClr val="008000"/>
                </a:solidFill>
                <a:ea typeface="黑体" panose="02010609060101010101" pitchFamily="49" charset="-122"/>
              </a:rPr>
              <a:t>为</a:t>
            </a:r>
            <a:r>
              <a:rPr lang="en-US" altLang="zh-CN" sz="1900">
                <a:solidFill>
                  <a:srgbClr val="008000"/>
                </a:solidFill>
                <a:ea typeface="黑体" panose="02010609060101010101" pitchFamily="49" charset="-122"/>
              </a:rPr>
              <a:t>4</a:t>
            </a:r>
            <a:r>
              <a:rPr lang="zh-CN" altLang="en-US" sz="1900">
                <a:solidFill>
                  <a:srgbClr val="008000"/>
                </a:solidFill>
                <a:ea typeface="黑体" panose="02010609060101010101" pitchFamily="49" charset="-122"/>
              </a:rPr>
              <a:t>）</a:t>
            </a:r>
            <a:endParaRPr lang="zh-CN" altLang="en-US" sz="1900" b="0">
              <a:solidFill>
                <a:srgbClr val="008000"/>
              </a:solidFill>
              <a:ea typeface="黑体" panose="02010609060101010101" pitchFamily="49" charset="-122"/>
            </a:endParaRPr>
          </a:p>
          <a:p>
            <a:pPr lvl="2">
              <a:lnSpc>
                <a:spcPct val="105000"/>
              </a:lnSpc>
              <a:spcBef>
                <a:spcPct val="5000"/>
              </a:spcBef>
            </a:pPr>
            <a:r>
              <a:rPr lang="zh-CN" altLang="en-US" sz="1900">
                <a:ea typeface="黑体" panose="02010609060101010101" pitchFamily="49" charset="-122"/>
              </a:rPr>
              <a:t>需要实现以下两个主要任务</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Arial" panose="020B0604020202020204" pitchFamily="34" charset="0"/>
                <a:ea typeface="黑体" panose="02010609060101010101" pitchFamily="49" charset="-122"/>
              </a:rPr>
              <a:t>指令打包：分析每个周期发射多少条？哪些指令可以同时发射？</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Arial" panose="020B0604020202020204" pitchFamily="34" charset="0"/>
                <a:ea typeface="黑体" panose="02010609060101010101" pitchFamily="49" charset="-122"/>
              </a:rPr>
              <a:t>冒险处理：由编译器静态调整指令或在运行时由硬件处理</a:t>
            </a:r>
            <a:endParaRPr lang="zh-CN" altLang="en-US" sz="1900">
              <a:latin typeface="Arial" panose="020B0604020202020204" pitchFamily="34" charset="0"/>
              <a:ea typeface="黑体" panose="02010609060101010101" pitchFamily="49" charset="-122"/>
            </a:endParaRPr>
          </a:p>
          <a:p>
            <a:pPr lvl="2">
              <a:lnSpc>
                <a:spcPct val="105000"/>
              </a:lnSpc>
              <a:spcBef>
                <a:spcPct val="5000"/>
              </a:spcBef>
            </a:pPr>
            <a:r>
              <a:rPr lang="zh-CN" altLang="en-US" sz="1900">
                <a:ea typeface="黑体" panose="02010609060101010101" pitchFamily="49" charset="-122"/>
              </a:rPr>
              <a:t>实现上述两个主要任务的基础</a:t>
            </a:r>
            <a:r>
              <a:rPr lang="en-US" altLang="zh-CN" sz="1900">
                <a:ea typeface="黑体" panose="02010609060101010101" pitchFamily="49" charset="-122"/>
              </a:rPr>
              <a:t>—</a:t>
            </a:r>
            <a:r>
              <a:rPr lang="zh-CN" altLang="en-US" sz="1900">
                <a:ea typeface="黑体" panose="02010609060101010101" pitchFamily="49" charset="-122"/>
                <a:hlinkClick r:id="" action="ppaction://hlinkshowjump?jump=nextslide"/>
              </a:rPr>
              <a:t>推测技术</a:t>
            </a:r>
            <a:endParaRPr lang="zh-CN" altLang="en-US" sz="1900">
              <a:solidFill>
                <a:srgbClr val="008000"/>
              </a:solidFill>
              <a:ea typeface="黑体" panose="02010609060101010101" pitchFamily="49" charset="-122"/>
            </a:endParaRPr>
          </a:p>
          <a:p>
            <a:pPr lvl="2">
              <a:lnSpc>
                <a:spcPct val="105000"/>
              </a:lnSpc>
              <a:spcBef>
                <a:spcPct val="5000"/>
              </a:spcBef>
            </a:pPr>
            <a:r>
              <a:rPr lang="zh-CN" altLang="en-US" sz="1900">
                <a:ea typeface="黑体" panose="02010609060101010101" pitchFamily="49" charset="-122"/>
              </a:rPr>
              <a:t>两种实现方法</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Arial" panose="020B0604020202020204" pitchFamily="34" charset="0"/>
                <a:ea typeface="黑体" panose="02010609060101010101" pitchFamily="49" charset="-122"/>
                <a:hlinkClick r:id="rId2" action="ppaction://hlinksldjump"/>
              </a:rPr>
              <a:t>静态多发射</a:t>
            </a:r>
            <a:r>
              <a:rPr lang="zh-CN" altLang="en-US" sz="1900" b="1">
                <a:solidFill>
                  <a:srgbClr val="008000"/>
                </a:solidFill>
                <a:latin typeface="Arial" panose="020B0604020202020204" pitchFamily="34" charset="0"/>
                <a:ea typeface="黑体" panose="02010609060101010101" pitchFamily="49" charset="-122"/>
              </a:rPr>
              <a:t>：由编译器在编译时静态完成指令打包和冒险处理</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Arial" panose="020B0604020202020204" pitchFamily="34" charset="0"/>
                <a:ea typeface="黑体" panose="02010609060101010101" pitchFamily="49" charset="-122"/>
                <a:hlinkClick r:id="rId3" action="ppaction://hlinksldjump"/>
              </a:rPr>
              <a:t>动态多发射</a:t>
            </a:r>
            <a:r>
              <a:rPr lang="zh-CN" altLang="en-US" sz="1900" b="1">
                <a:solidFill>
                  <a:srgbClr val="008000"/>
                </a:solidFill>
                <a:latin typeface="Arial" panose="020B0604020202020204" pitchFamily="34" charset="0"/>
                <a:ea typeface="黑体" panose="02010609060101010101" pitchFamily="49" charset="-122"/>
              </a:rPr>
              <a:t>：由硬件在执行时动态完成指令打包和冒险处理</a:t>
            </a:r>
            <a:endParaRPr lang="en-US" altLang="zh-CN" sz="1900" b="1">
              <a:solidFill>
                <a:srgbClr val="008000"/>
              </a:solidFill>
              <a:latin typeface="Arial" panose="020B0604020202020204" pitchFamily="34" charset="0"/>
              <a:ea typeface="黑体" panose="02010609060101010101" pitchFamily="49" charset="-122"/>
            </a:endParaRPr>
          </a:p>
        </p:txBody>
      </p:sp>
      <p:sp>
        <p:nvSpPr>
          <p:cNvPr id="235524" name="Text Box 4">
            <a:extLst>
              <a:ext uri="{FF2B5EF4-FFF2-40B4-BE49-F238E27FC236}">
                <a16:creationId xmlns:a16="http://schemas.microsoft.com/office/drawing/2014/main" id="{95F4DC84-CC95-7D41-8982-EEB081DF518F}"/>
              </a:ext>
            </a:extLst>
          </p:cNvPr>
          <p:cNvSpPr txBox="1">
            <a:spLocks noChangeArrowheads="1"/>
          </p:cNvSpPr>
          <p:nvPr/>
        </p:nvSpPr>
        <p:spPr bwMode="auto">
          <a:xfrm>
            <a:off x="3932238" y="1624013"/>
            <a:ext cx="1276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solidFill>
                  <a:srgbClr val="CC0000"/>
                </a:solidFill>
                <a:latin typeface="Arial" panose="020B0604020202020204" pitchFamily="34" charset="0"/>
                <a:ea typeface="宋体" panose="02010600030101010101" pitchFamily="2" charset="-122"/>
              </a:rPr>
              <a:t>CPI =</a:t>
            </a:r>
            <a:r>
              <a:rPr lang="zh-CN" altLang="en-US" sz="2000">
                <a:solidFill>
                  <a:srgbClr val="CC0000"/>
                </a:solidFill>
                <a:latin typeface="Arial" panose="020B0604020202020204" pitchFamily="34" charset="0"/>
                <a:ea typeface="宋体" panose="02010600030101010101" pitchFamily="2" charset="-122"/>
              </a:rPr>
              <a:t>？</a:t>
            </a:r>
          </a:p>
        </p:txBody>
      </p:sp>
      <p:sp>
        <p:nvSpPr>
          <p:cNvPr id="235525" name="Text Box 5">
            <a:extLst>
              <a:ext uri="{FF2B5EF4-FFF2-40B4-BE49-F238E27FC236}">
                <a16:creationId xmlns:a16="http://schemas.microsoft.com/office/drawing/2014/main" id="{920944EA-C05E-2446-B26E-82B688EBC718}"/>
              </a:ext>
            </a:extLst>
          </p:cNvPr>
          <p:cNvSpPr txBox="1">
            <a:spLocks noChangeArrowheads="1"/>
          </p:cNvSpPr>
          <p:nvPr/>
        </p:nvSpPr>
        <p:spPr bwMode="auto">
          <a:xfrm>
            <a:off x="5449888" y="1625600"/>
            <a:ext cx="107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2000">
                <a:solidFill>
                  <a:srgbClr val="CC0000"/>
                </a:solidFill>
                <a:latin typeface="Arial" panose="020B0604020202020204" pitchFamily="34" charset="0"/>
                <a:ea typeface="宋体" panose="02010600030101010101" pitchFamily="2" charset="-122"/>
              </a:rPr>
              <a:t>CPI =1</a:t>
            </a:r>
          </a:p>
        </p:txBody>
      </p:sp>
      <p:sp>
        <p:nvSpPr>
          <p:cNvPr id="235526" name="Text Box 6">
            <a:extLst>
              <a:ext uri="{FF2B5EF4-FFF2-40B4-BE49-F238E27FC236}">
                <a16:creationId xmlns:a16="http://schemas.microsoft.com/office/drawing/2014/main" id="{EDC2D6DD-22F1-D546-8962-4C46E3E52EBC}"/>
              </a:ext>
            </a:extLst>
          </p:cNvPr>
          <p:cNvSpPr txBox="1">
            <a:spLocks noChangeArrowheads="1"/>
          </p:cNvSpPr>
          <p:nvPr/>
        </p:nvSpPr>
        <p:spPr bwMode="auto">
          <a:xfrm>
            <a:off x="5140325" y="4427538"/>
            <a:ext cx="34258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latin typeface="黑体" panose="02010609060101010101" pitchFamily="49" charset="-122"/>
                <a:ea typeface="黑体" panose="02010609060101010101" pitchFamily="49" charset="-122"/>
              </a:rPr>
              <a:t>一条流水线变成多条流水线！</a:t>
            </a:r>
          </a:p>
        </p:txBody>
      </p:sp>
      <p:sp>
        <p:nvSpPr>
          <p:cNvPr id="235527" name="Text Box 7">
            <a:extLst>
              <a:ext uri="{FF2B5EF4-FFF2-40B4-BE49-F238E27FC236}">
                <a16:creationId xmlns:a16="http://schemas.microsoft.com/office/drawing/2014/main" id="{53FF070C-2654-DC4D-A3CB-9A77FC86B55E}"/>
              </a:ext>
            </a:extLst>
          </p:cNvPr>
          <p:cNvSpPr txBox="1">
            <a:spLocks noChangeArrowheads="1"/>
          </p:cNvSpPr>
          <p:nvPr/>
        </p:nvSpPr>
        <p:spPr bwMode="auto">
          <a:xfrm>
            <a:off x="85725" y="1844675"/>
            <a:ext cx="811213" cy="312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zh-CN" altLang="en-US" sz="1900">
                <a:latin typeface="黑体" panose="02010609060101010101" pitchFamily="49" charset="-122"/>
                <a:ea typeface="黑体" panose="02010609060101010101" pitchFamily="49" charset="-122"/>
              </a:rPr>
              <a:t>增加的开销体现在哪里？</a:t>
            </a:r>
          </a:p>
          <a:p>
            <a:pPr>
              <a:spcBef>
                <a:spcPct val="50000"/>
              </a:spcBef>
            </a:pPr>
            <a:r>
              <a:rPr lang="zh-CN" altLang="en-US" sz="1900">
                <a:latin typeface="黑体" panose="02010609060101010101" pitchFamily="49" charset="-122"/>
                <a:ea typeface="黑体" panose="02010609060101010101" pitchFamily="49" charset="-122"/>
              </a:rPr>
              <a:t>流水段寄存器！</a:t>
            </a:r>
          </a:p>
        </p:txBody>
      </p:sp>
      <p:sp>
        <p:nvSpPr>
          <p:cNvPr id="235528" name="Text Box 8">
            <a:extLst>
              <a:ext uri="{FF2B5EF4-FFF2-40B4-BE49-F238E27FC236}">
                <a16:creationId xmlns:a16="http://schemas.microsoft.com/office/drawing/2014/main" id="{2E46C07A-475C-A549-8AB1-CB2FD514ABD9}"/>
              </a:ext>
            </a:extLst>
          </p:cNvPr>
          <p:cNvSpPr txBox="1">
            <a:spLocks noChangeArrowheads="1"/>
          </p:cNvSpPr>
          <p:nvPr/>
        </p:nvSpPr>
        <p:spPr bwMode="auto">
          <a:xfrm>
            <a:off x="6413500" y="434975"/>
            <a:ext cx="2552700" cy="9159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solidFill>
                  <a:schemeClr val="accent1"/>
                </a:solidFill>
                <a:latin typeface="Arial" panose="020B0604020202020204" pitchFamily="34" charset="0"/>
                <a:ea typeface="黑体" panose="02010609060101010101" pitchFamily="49" charset="-122"/>
              </a:rPr>
              <a:t>N</a:t>
            </a:r>
            <a:r>
              <a:rPr lang="zh-CN" altLang="en-US" sz="1800">
                <a:solidFill>
                  <a:schemeClr val="accent1"/>
                </a:solidFill>
                <a:latin typeface="黑体" panose="02010609060101010101" pitchFamily="49" charset="-122"/>
                <a:ea typeface="黑体" panose="02010609060101010101" pitchFamily="49" charset="-122"/>
              </a:rPr>
              <a:t>段流水线说明一个时钟周期内最多有几条指令同时并行执行？</a:t>
            </a:r>
          </a:p>
        </p:txBody>
      </p:sp>
      <p:sp>
        <p:nvSpPr>
          <p:cNvPr id="235529" name="Text Box 9">
            <a:extLst>
              <a:ext uri="{FF2B5EF4-FFF2-40B4-BE49-F238E27FC236}">
                <a16:creationId xmlns:a16="http://schemas.microsoft.com/office/drawing/2014/main" id="{1EFBC2AD-36B5-ED4B-9FC7-9DD7F80D18F2}"/>
              </a:ext>
            </a:extLst>
          </p:cNvPr>
          <p:cNvSpPr txBox="1">
            <a:spLocks noChangeArrowheads="1"/>
          </p:cNvSpPr>
          <p:nvPr/>
        </p:nvSpPr>
        <p:spPr bwMode="auto">
          <a:xfrm>
            <a:off x="7140575" y="1363663"/>
            <a:ext cx="17573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sz="1800">
                <a:latin typeface="Arial" panose="020B0604020202020204" pitchFamily="34" charset="0"/>
                <a:ea typeface="黑体" panose="02010609060101010101" pitchFamily="49" charset="-122"/>
              </a:rPr>
              <a:t>N</a:t>
            </a:r>
            <a:r>
              <a:rPr lang="zh-CN" altLang="en-US" sz="1800">
                <a:latin typeface="Arial" panose="020B0604020202020204" pitchFamily="34" charset="0"/>
                <a:ea typeface="黑体" panose="02010609060101010101" pitchFamily="49" charset="-122"/>
              </a:rPr>
              <a:t>条！故</a:t>
            </a:r>
            <a:r>
              <a:rPr lang="en-US" altLang="zh-CN" sz="1800">
                <a:latin typeface="Arial" panose="020B0604020202020204" pitchFamily="34" charset="0"/>
                <a:ea typeface="黑体" panose="02010609060101010101" pitchFamily="49" charset="-122"/>
              </a:rPr>
              <a:t>N</a:t>
            </a:r>
            <a:r>
              <a:rPr lang="zh-CN" altLang="en-US" sz="1800">
                <a:latin typeface="Arial" panose="020B0604020202020204" pitchFamily="34" charset="0"/>
                <a:ea typeface="黑体" panose="02010609060101010101" pitchFamily="49" charset="-122"/>
              </a:rPr>
              <a:t>越大并行度越高！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23">
                                            <p:txEl>
                                              <p:pRg st="3" end="3"/>
                                            </p:txEl>
                                          </p:spTgt>
                                        </p:tgtEl>
                                        <p:attrNameLst>
                                          <p:attrName>style.visibility</p:attrName>
                                        </p:attrNameLst>
                                      </p:cBhvr>
                                      <p:to>
                                        <p:strVal val="visible"/>
                                      </p:to>
                                    </p:set>
                                    <p:animEffect transition="in" filter="blinds(horizontal)">
                                      <p:cBhvr>
                                        <p:cTn id="7" dur="500"/>
                                        <p:tgtEl>
                                          <p:spTgt spid="23552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24"/>
                                        </p:tgtEl>
                                        <p:attrNameLst>
                                          <p:attrName>style.visibility</p:attrName>
                                        </p:attrNameLst>
                                      </p:cBhvr>
                                      <p:to>
                                        <p:strVal val="visible"/>
                                      </p:to>
                                    </p:set>
                                    <p:animEffect transition="in" filter="blinds(horizontal)">
                                      <p:cBhvr>
                                        <p:cTn id="12" dur="500"/>
                                        <p:tgtEl>
                                          <p:spTgt spid="2355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25"/>
                                        </p:tgtEl>
                                        <p:attrNameLst>
                                          <p:attrName>style.visibility</p:attrName>
                                        </p:attrNameLst>
                                      </p:cBhvr>
                                      <p:to>
                                        <p:strVal val="visible"/>
                                      </p:to>
                                    </p:set>
                                    <p:animEffect transition="in" filter="blinds(horizontal)">
                                      <p:cBhvr>
                                        <p:cTn id="17" dur="500"/>
                                        <p:tgtEl>
                                          <p:spTgt spid="2355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28">
                                            <p:txEl>
                                              <p:pRg st="0" end="0"/>
                                            </p:txEl>
                                          </p:spTgt>
                                        </p:tgtEl>
                                        <p:attrNameLst>
                                          <p:attrName>style.visibility</p:attrName>
                                        </p:attrNameLst>
                                      </p:cBhvr>
                                      <p:to>
                                        <p:strVal val="visible"/>
                                      </p:to>
                                    </p:set>
                                    <p:animEffect transition="in" filter="blinds(horizontal)">
                                      <p:cBhvr>
                                        <p:cTn id="22" dur="500"/>
                                        <p:tgtEl>
                                          <p:spTgt spid="23552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29"/>
                                        </p:tgtEl>
                                        <p:attrNameLst>
                                          <p:attrName>style.visibility</p:attrName>
                                        </p:attrNameLst>
                                      </p:cBhvr>
                                      <p:to>
                                        <p:strVal val="visible"/>
                                      </p:to>
                                    </p:set>
                                    <p:animEffect transition="in" filter="blinds(horizontal)">
                                      <p:cBhvr>
                                        <p:cTn id="27" dur="500"/>
                                        <p:tgtEl>
                                          <p:spTgt spid="2355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5523">
                                            <p:txEl>
                                              <p:pRg st="4" end="4"/>
                                            </p:txEl>
                                          </p:spTgt>
                                        </p:tgtEl>
                                        <p:attrNameLst>
                                          <p:attrName>style.visibility</p:attrName>
                                        </p:attrNameLst>
                                      </p:cBhvr>
                                      <p:to>
                                        <p:strVal val="visible"/>
                                      </p:to>
                                    </p:set>
                                    <p:animEffect transition="in" filter="blinds(horizontal)">
                                      <p:cBhvr>
                                        <p:cTn id="32" dur="500"/>
                                        <p:tgtEl>
                                          <p:spTgt spid="23552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5523">
                                            <p:txEl>
                                              <p:pRg st="5" end="5"/>
                                            </p:txEl>
                                          </p:spTgt>
                                        </p:tgtEl>
                                        <p:attrNameLst>
                                          <p:attrName>style.visibility</p:attrName>
                                        </p:attrNameLst>
                                      </p:cBhvr>
                                      <p:to>
                                        <p:strVal val="visible"/>
                                      </p:to>
                                    </p:set>
                                    <p:animEffect transition="in" filter="blinds(horizontal)">
                                      <p:cBhvr>
                                        <p:cTn id="37" dur="500"/>
                                        <p:tgtEl>
                                          <p:spTgt spid="235523">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5523">
                                            <p:txEl>
                                              <p:pRg st="6" end="6"/>
                                            </p:txEl>
                                          </p:spTgt>
                                        </p:tgtEl>
                                        <p:attrNameLst>
                                          <p:attrName>style.visibility</p:attrName>
                                        </p:attrNameLst>
                                      </p:cBhvr>
                                      <p:to>
                                        <p:strVal val="visible"/>
                                      </p:to>
                                    </p:set>
                                    <p:animEffect transition="in" filter="blinds(horizontal)">
                                      <p:cBhvr>
                                        <p:cTn id="42" dur="500"/>
                                        <p:tgtEl>
                                          <p:spTgt spid="235523">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5527">
                                            <p:txEl>
                                              <p:pRg st="0" end="0"/>
                                            </p:txEl>
                                          </p:spTgt>
                                        </p:tgtEl>
                                        <p:attrNameLst>
                                          <p:attrName>style.visibility</p:attrName>
                                        </p:attrNameLst>
                                      </p:cBhvr>
                                      <p:to>
                                        <p:strVal val="visible"/>
                                      </p:to>
                                    </p:set>
                                    <p:animEffect transition="in" filter="blinds(horizontal)">
                                      <p:cBhvr>
                                        <p:cTn id="47" dur="500"/>
                                        <p:tgtEl>
                                          <p:spTgt spid="235527">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35527">
                                            <p:txEl>
                                              <p:pRg st="1" end="1"/>
                                            </p:txEl>
                                          </p:spTgt>
                                        </p:tgtEl>
                                        <p:attrNameLst>
                                          <p:attrName>style.visibility</p:attrName>
                                        </p:attrNameLst>
                                      </p:cBhvr>
                                      <p:to>
                                        <p:strVal val="visible"/>
                                      </p:to>
                                    </p:set>
                                    <p:animEffect transition="in" filter="blinds(horizontal)">
                                      <p:cBhvr>
                                        <p:cTn id="52" dur="500"/>
                                        <p:tgtEl>
                                          <p:spTgt spid="235527">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235523">
                                            <p:txEl>
                                              <p:pRg st="7" end="7"/>
                                            </p:txEl>
                                          </p:spTgt>
                                        </p:tgtEl>
                                        <p:attrNameLst>
                                          <p:attrName>style.visibility</p:attrName>
                                        </p:attrNameLst>
                                      </p:cBhvr>
                                      <p:to>
                                        <p:strVal val="visible"/>
                                      </p:to>
                                    </p:set>
                                    <p:animEffect transition="in" filter="blinds(horizontal)">
                                      <p:cBhvr>
                                        <p:cTn id="57" dur="500"/>
                                        <p:tgtEl>
                                          <p:spTgt spid="235523">
                                            <p:txEl>
                                              <p:pRg st="7" end="7"/>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35523">
                                            <p:txEl>
                                              <p:pRg st="8" end="8"/>
                                            </p:txEl>
                                          </p:spTgt>
                                        </p:tgtEl>
                                        <p:attrNameLst>
                                          <p:attrName>style.visibility</p:attrName>
                                        </p:attrNameLst>
                                      </p:cBhvr>
                                      <p:to>
                                        <p:strVal val="visible"/>
                                      </p:to>
                                    </p:set>
                                    <p:animEffect transition="in" filter="blinds(horizontal)">
                                      <p:cBhvr>
                                        <p:cTn id="62" dur="500"/>
                                        <p:tgtEl>
                                          <p:spTgt spid="235523">
                                            <p:txEl>
                                              <p:pRg st="8" end="8"/>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35523">
                                            <p:txEl>
                                              <p:pRg st="9" end="9"/>
                                            </p:txEl>
                                          </p:spTgt>
                                        </p:tgtEl>
                                        <p:attrNameLst>
                                          <p:attrName>style.visibility</p:attrName>
                                        </p:attrNameLst>
                                      </p:cBhvr>
                                      <p:to>
                                        <p:strVal val="visible"/>
                                      </p:to>
                                    </p:set>
                                    <p:animEffect transition="in" filter="blinds(horizontal)">
                                      <p:cBhvr>
                                        <p:cTn id="67" dur="500"/>
                                        <p:tgtEl>
                                          <p:spTgt spid="235523">
                                            <p:txEl>
                                              <p:pRg st="9" end="9"/>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235523">
                                            <p:txEl>
                                              <p:pRg st="10" end="10"/>
                                            </p:txEl>
                                          </p:spTgt>
                                        </p:tgtEl>
                                        <p:attrNameLst>
                                          <p:attrName>style.visibility</p:attrName>
                                        </p:attrNameLst>
                                      </p:cBhvr>
                                      <p:to>
                                        <p:strVal val="visible"/>
                                      </p:to>
                                    </p:set>
                                    <p:animEffect transition="in" filter="blinds(horizontal)">
                                      <p:cBhvr>
                                        <p:cTn id="72" dur="500"/>
                                        <p:tgtEl>
                                          <p:spTgt spid="235523">
                                            <p:txEl>
                                              <p:pRg st="10" end="1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235523">
                                            <p:txEl>
                                              <p:pRg st="11" end="11"/>
                                            </p:txEl>
                                          </p:spTgt>
                                        </p:tgtEl>
                                        <p:attrNameLst>
                                          <p:attrName>style.visibility</p:attrName>
                                        </p:attrNameLst>
                                      </p:cBhvr>
                                      <p:to>
                                        <p:strVal val="visible"/>
                                      </p:to>
                                    </p:set>
                                    <p:animEffect transition="in" filter="blinds(horizontal)">
                                      <p:cBhvr>
                                        <p:cTn id="77" dur="500"/>
                                        <p:tgtEl>
                                          <p:spTgt spid="235523">
                                            <p:txEl>
                                              <p:pRg st="11" end="11"/>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235523">
                                            <p:txEl>
                                              <p:pRg st="12" end="12"/>
                                            </p:txEl>
                                          </p:spTgt>
                                        </p:tgtEl>
                                        <p:attrNameLst>
                                          <p:attrName>style.visibility</p:attrName>
                                        </p:attrNameLst>
                                      </p:cBhvr>
                                      <p:to>
                                        <p:strVal val="visible"/>
                                      </p:to>
                                    </p:set>
                                    <p:animEffect transition="in" filter="blinds(horizontal)">
                                      <p:cBhvr>
                                        <p:cTn id="82" dur="500"/>
                                        <p:tgtEl>
                                          <p:spTgt spid="235523">
                                            <p:txEl>
                                              <p:pRg st="12" end="12"/>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35526"/>
                                        </p:tgtEl>
                                        <p:attrNameLst>
                                          <p:attrName>style.visibility</p:attrName>
                                        </p:attrNameLst>
                                      </p:cBhvr>
                                      <p:to>
                                        <p:strVal val="visible"/>
                                      </p:to>
                                    </p:set>
                                    <p:animEffect transition="in" filter="blinds(horizontal)">
                                      <p:cBhvr>
                                        <p:cTn id="87" dur="500"/>
                                        <p:tgtEl>
                                          <p:spTgt spid="23552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235523">
                                            <p:txEl>
                                              <p:pRg st="13" end="13"/>
                                            </p:txEl>
                                          </p:spTgt>
                                        </p:tgtEl>
                                        <p:attrNameLst>
                                          <p:attrName>style.visibility</p:attrName>
                                        </p:attrNameLst>
                                      </p:cBhvr>
                                      <p:to>
                                        <p:strVal val="visible"/>
                                      </p:to>
                                    </p:set>
                                    <p:animEffect transition="in" filter="blinds(horizontal)">
                                      <p:cBhvr>
                                        <p:cTn id="92" dur="500"/>
                                        <p:tgtEl>
                                          <p:spTgt spid="235523">
                                            <p:txEl>
                                              <p:pRg st="13" end="13"/>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235523">
                                            <p:txEl>
                                              <p:pRg st="14" end="14"/>
                                            </p:txEl>
                                          </p:spTgt>
                                        </p:tgtEl>
                                        <p:attrNameLst>
                                          <p:attrName>style.visibility</p:attrName>
                                        </p:attrNameLst>
                                      </p:cBhvr>
                                      <p:to>
                                        <p:strVal val="visible"/>
                                      </p:to>
                                    </p:set>
                                    <p:animEffect transition="in" filter="blinds(horizontal)">
                                      <p:cBhvr>
                                        <p:cTn id="97" dur="500"/>
                                        <p:tgtEl>
                                          <p:spTgt spid="235523">
                                            <p:txEl>
                                              <p:pRg st="14" end="14"/>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235523">
                                            <p:txEl>
                                              <p:pRg st="15" end="15"/>
                                            </p:txEl>
                                          </p:spTgt>
                                        </p:tgtEl>
                                        <p:attrNameLst>
                                          <p:attrName>style.visibility</p:attrName>
                                        </p:attrNameLst>
                                      </p:cBhvr>
                                      <p:to>
                                        <p:strVal val="visible"/>
                                      </p:to>
                                    </p:set>
                                    <p:animEffect transition="in" filter="blinds(horizontal)">
                                      <p:cBhvr>
                                        <p:cTn id="102" dur="500"/>
                                        <p:tgtEl>
                                          <p:spTgt spid="235523">
                                            <p:txEl>
                                              <p:pRg st="15" end="15"/>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235523">
                                            <p:txEl>
                                              <p:pRg st="16" end="16"/>
                                            </p:txEl>
                                          </p:spTgt>
                                        </p:tgtEl>
                                        <p:attrNameLst>
                                          <p:attrName>style.visibility</p:attrName>
                                        </p:attrNameLst>
                                      </p:cBhvr>
                                      <p:to>
                                        <p:strVal val="visible"/>
                                      </p:to>
                                    </p:set>
                                    <p:animEffect transition="in" filter="blinds(horizontal)">
                                      <p:cBhvr>
                                        <p:cTn id="107" dur="500"/>
                                        <p:tgtEl>
                                          <p:spTgt spid="235523">
                                            <p:txEl>
                                              <p:pRg st="16" end="16"/>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nodeType="clickEffect">
                                  <p:stCondLst>
                                    <p:cond delay="0"/>
                                  </p:stCondLst>
                                  <p:childTnLst>
                                    <p:set>
                                      <p:cBhvr>
                                        <p:cTn id="111" dur="1" fill="hold">
                                          <p:stCondLst>
                                            <p:cond delay="0"/>
                                          </p:stCondLst>
                                        </p:cTn>
                                        <p:tgtEl>
                                          <p:spTgt spid="235523">
                                            <p:txEl>
                                              <p:pRg st="17" end="17"/>
                                            </p:txEl>
                                          </p:spTgt>
                                        </p:tgtEl>
                                        <p:attrNameLst>
                                          <p:attrName>style.visibility</p:attrName>
                                        </p:attrNameLst>
                                      </p:cBhvr>
                                      <p:to>
                                        <p:strVal val="visible"/>
                                      </p:to>
                                    </p:set>
                                    <p:animEffect transition="in" filter="blinds(horizontal)">
                                      <p:cBhvr>
                                        <p:cTn id="112" dur="500"/>
                                        <p:tgtEl>
                                          <p:spTgt spid="235523">
                                            <p:txEl>
                                              <p:pRg st="17" end="17"/>
                                            </p:txEl>
                                          </p:spTgt>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 presetClass="entr" presetSubtype="10" fill="hold" nodeType="clickEffect">
                                  <p:stCondLst>
                                    <p:cond delay="0"/>
                                  </p:stCondLst>
                                  <p:childTnLst>
                                    <p:set>
                                      <p:cBhvr>
                                        <p:cTn id="116" dur="1" fill="hold">
                                          <p:stCondLst>
                                            <p:cond delay="0"/>
                                          </p:stCondLst>
                                        </p:cTn>
                                        <p:tgtEl>
                                          <p:spTgt spid="235523">
                                            <p:txEl>
                                              <p:pRg st="18" end="18"/>
                                            </p:txEl>
                                          </p:spTgt>
                                        </p:tgtEl>
                                        <p:attrNameLst>
                                          <p:attrName>style.visibility</p:attrName>
                                        </p:attrNameLst>
                                      </p:cBhvr>
                                      <p:to>
                                        <p:strVal val="visible"/>
                                      </p:to>
                                    </p:set>
                                    <p:animEffect transition="in" filter="blinds(horizontal)">
                                      <p:cBhvr>
                                        <p:cTn id="117" dur="500"/>
                                        <p:tgtEl>
                                          <p:spTgt spid="23552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p:bldP spid="235525" grpId="0"/>
      <p:bldP spid="235526" grpId="0"/>
      <p:bldP spid="2355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A9E1300D-0167-E449-AAA0-237876D5C5DA}"/>
              </a:ext>
            </a:extLst>
          </p:cNvPr>
          <p:cNvSpPr>
            <a:spLocks noGrp="1" noChangeArrowheads="1"/>
          </p:cNvSpPr>
          <p:nvPr>
            <p:ph type="title"/>
          </p:nvPr>
        </p:nvSpPr>
        <p:spPr/>
        <p:txBody>
          <a:bodyPr/>
          <a:lstStyle/>
          <a:p>
            <a:r>
              <a:rPr lang="zh-CN" altLang="en-US">
                <a:ea typeface="宋体" panose="02010600030101010101" pitchFamily="2" charset="-122"/>
              </a:rPr>
              <a:t>实现多发射技术的基础</a:t>
            </a:r>
            <a:r>
              <a:rPr lang="en-US" altLang="zh-CN">
                <a:ea typeface="宋体" panose="02010600030101010101" pitchFamily="2" charset="-122"/>
              </a:rPr>
              <a:t>—</a:t>
            </a:r>
            <a:r>
              <a:rPr lang="zh-CN" altLang="en-US">
                <a:ea typeface="宋体" panose="02010600030101010101" pitchFamily="2" charset="-122"/>
              </a:rPr>
              <a:t>推测</a:t>
            </a:r>
          </a:p>
        </p:txBody>
      </p:sp>
      <p:sp>
        <p:nvSpPr>
          <p:cNvPr id="290819" name="Rectangle 3">
            <a:extLst>
              <a:ext uri="{FF2B5EF4-FFF2-40B4-BE49-F238E27FC236}">
                <a16:creationId xmlns:a16="http://schemas.microsoft.com/office/drawing/2014/main" id="{B375B576-C5A3-D743-AEF1-5CB939492B71}"/>
              </a:ext>
            </a:extLst>
          </p:cNvPr>
          <p:cNvSpPr>
            <a:spLocks noGrp="1" noChangeArrowheads="1"/>
          </p:cNvSpPr>
          <p:nvPr>
            <p:ph type="body" idx="1"/>
          </p:nvPr>
        </p:nvSpPr>
        <p:spPr>
          <a:xfrm>
            <a:off x="0" y="804863"/>
            <a:ext cx="8869363" cy="5461000"/>
          </a:xfrm>
        </p:spPr>
        <p:txBody>
          <a:bodyPr/>
          <a:lstStyle/>
          <a:p>
            <a:pPr>
              <a:lnSpc>
                <a:spcPct val="120000"/>
              </a:lnSpc>
              <a:spcBef>
                <a:spcPct val="20000"/>
              </a:spcBef>
            </a:pPr>
            <a:r>
              <a:rPr lang="zh-CN" altLang="en-US" sz="2000">
                <a:ea typeface="黑体" panose="02010609060101010101" pitchFamily="49" charset="-122"/>
              </a:rPr>
              <a:t>推测技术：由编译器或处理器猜测指令执行结果，并以此来调整指令执行顺序，使指令的执行能达到最大可能的并行</a:t>
            </a:r>
          </a:p>
          <a:p>
            <a:pPr lvl="1">
              <a:lnSpc>
                <a:spcPct val="120000"/>
              </a:lnSpc>
              <a:spcBef>
                <a:spcPct val="20000"/>
              </a:spcBef>
            </a:pPr>
            <a:r>
              <a:rPr lang="zh-CN" altLang="en-US" sz="2000">
                <a:ea typeface="黑体" panose="02010609060101010101" pitchFamily="49" charset="-122"/>
              </a:rPr>
              <a:t>指令打包的决策依赖于“推测”的结果</a:t>
            </a:r>
          </a:p>
          <a:p>
            <a:pPr lvl="2">
              <a:lnSpc>
                <a:spcPct val="120000"/>
              </a:lnSpc>
              <a:spcBef>
                <a:spcPct val="20000"/>
              </a:spcBef>
            </a:pPr>
            <a:r>
              <a:rPr lang="zh-CN" altLang="en-US" sz="2000">
                <a:ea typeface="黑体" panose="02010609060101010101" pitchFamily="49" charset="-122"/>
              </a:rPr>
              <a:t>可根据指令间的相关性来进行推测</a:t>
            </a:r>
          </a:p>
          <a:p>
            <a:pPr lvl="3">
              <a:lnSpc>
                <a:spcPct val="120000"/>
              </a:lnSpc>
              <a:buFont typeface="Times New Roman" panose="02020603050405020304" pitchFamily="18" charset="0"/>
              <a:buChar char="◦"/>
            </a:pPr>
            <a:r>
              <a:rPr lang="zh-CN" altLang="en-US" b="1">
                <a:solidFill>
                  <a:srgbClr val="008000"/>
                </a:solidFill>
                <a:ea typeface="黑体" panose="02010609060101010101" pitchFamily="49" charset="-122"/>
              </a:rPr>
              <a:t>与前面指令不相关的指令可以提前执行</a:t>
            </a:r>
          </a:p>
          <a:p>
            <a:pPr lvl="2">
              <a:lnSpc>
                <a:spcPct val="120000"/>
              </a:lnSpc>
              <a:spcBef>
                <a:spcPct val="20000"/>
              </a:spcBef>
            </a:pPr>
            <a:r>
              <a:rPr lang="zh-CN" altLang="en-US" sz="2000">
                <a:ea typeface="黑体" panose="02010609060101010101" pitchFamily="49" charset="-122"/>
              </a:rPr>
              <a:t>可对分支指令进行推测</a:t>
            </a:r>
          </a:p>
          <a:p>
            <a:pPr lvl="3">
              <a:lnSpc>
                <a:spcPct val="120000"/>
              </a:lnSpc>
              <a:buFont typeface="Times New Roman" panose="02020603050405020304" pitchFamily="18" charset="0"/>
              <a:buChar char="◦"/>
            </a:pPr>
            <a:r>
              <a:rPr lang="zh-CN" altLang="en-US" b="1">
                <a:solidFill>
                  <a:srgbClr val="008000"/>
                </a:solidFill>
                <a:ea typeface="黑体" panose="02010609060101010101" pitchFamily="49" charset="-122"/>
              </a:rPr>
              <a:t>可提前执行分支目标处的指令</a:t>
            </a:r>
          </a:p>
          <a:p>
            <a:pPr lvl="2">
              <a:lnSpc>
                <a:spcPct val="120000"/>
              </a:lnSpc>
              <a:spcBef>
                <a:spcPct val="20000"/>
              </a:spcBef>
            </a:pPr>
            <a:r>
              <a:rPr lang="zh-CN" altLang="en-US" sz="2000">
                <a:ea typeface="黑体" panose="02010609060101010101" pitchFamily="49" charset="-122"/>
              </a:rPr>
              <a:t>预测仅是“猜测”，可能推测错误，故需有推测错误检测和回滚机制</a:t>
            </a:r>
          </a:p>
          <a:p>
            <a:pPr lvl="2">
              <a:lnSpc>
                <a:spcPct val="120000"/>
              </a:lnSpc>
              <a:spcBef>
                <a:spcPct val="20000"/>
              </a:spcBef>
            </a:pPr>
            <a:r>
              <a:rPr lang="zh-CN" altLang="en-US" sz="2000">
                <a:ea typeface="黑体" panose="02010609060101010101" pitchFamily="49" charset="-122"/>
              </a:rPr>
              <a:t>推测错误时，会增加额外开销</a:t>
            </a:r>
          </a:p>
          <a:p>
            <a:pPr lvl="1">
              <a:lnSpc>
                <a:spcPct val="120000"/>
              </a:lnSpc>
              <a:spcBef>
                <a:spcPct val="20000"/>
              </a:spcBef>
            </a:pPr>
            <a:r>
              <a:rPr lang="zh-CN" altLang="en-US" sz="2000">
                <a:ea typeface="黑体" panose="02010609060101010101" pitchFamily="49" charset="-122"/>
              </a:rPr>
              <a:t>有“软件推测”和“硬件推测”两种</a:t>
            </a:r>
          </a:p>
          <a:p>
            <a:pPr lvl="2">
              <a:lnSpc>
                <a:spcPct val="120000"/>
              </a:lnSpc>
              <a:spcBef>
                <a:spcPct val="20000"/>
              </a:spcBef>
            </a:pPr>
            <a:r>
              <a:rPr lang="zh-CN" altLang="en-US" sz="2000">
                <a:ea typeface="黑体" panose="02010609060101010101" pitchFamily="49" charset="-122"/>
              </a:rPr>
              <a:t>软件推测：编译器通过推测来静态重排指令（一定要正确！）</a:t>
            </a:r>
          </a:p>
          <a:p>
            <a:pPr lvl="2">
              <a:lnSpc>
                <a:spcPct val="120000"/>
              </a:lnSpc>
              <a:spcBef>
                <a:spcPct val="20000"/>
              </a:spcBef>
            </a:pPr>
            <a:r>
              <a:rPr lang="zh-CN" altLang="en-US" sz="2000">
                <a:ea typeface="黑体" panose="02010609060101010101" pitchFamily="49" charset="-122"/>
              </a:rPr>
              <a:t>硬件推测：处理器在运行时通过推测来动态调度指令</a:t>
            </a:r>
          </a:p>
          <a:p>
            <a:pPr>
              <a:lnSpc>
                <a:spcPct val="120000"/>
              </a:lnSpc>
              <a:spcBef>
                <a:spcPct val="20000"/>
              </a:spcBef>
            </a:pPr>
            <a:endParaRPr lang="zh-CN" altLang="en-US" sz="2000">
              <a:ea typeface="黑体" panose="02010609060101010101" pitchFamily="49" charset="-122"/>
            </a:endParaRPr>
          </a:p>
        </p:txBody>
      </p:sp>
      <p:sp>
        <p:nvSpPr>
          <p:cNvPr id="290820" name="Text Box 4">
            <a:extLst>
              <a:ext uri="{FF2B5EF4-FFF2-40B4-BE49-F238E27FC236}">
                <a16:creationId xmlns:a16="http://schemas.microsoft.com/office/drawing/2014/main" id="{D63401DE-2713-004C-BF4A-62096790268F}"/>
              </a:ext>
            </a:extLst>
          </p:cNvPr>
          <p:cNvSpPr txBox="1">
            <a:spLocks noChangeArrowheads="1"/>
          </p:cNvSpPr>
          <p:nvPr/>
        </p:nvSpPr>
        <p:spPr bwMode="auto">
          <a:xfrm>
            <a:off x="7515225" y="6257925"/>
            <a:ext cx="1206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spcBef>
                <a:spcPct val="50000"/>
              </a:spcBef>
            </a:pPr>
            <a:r>
              <a:rPr lang="en-US" altLang="zh-CN">
                <a:ea typeface="宋体" panose="02010600030101010101" pitchFamily="2" charset="-122"/>
                <a:hlinkClick r:id="" action="ppaction://hlinkshowjump?jump=previousslide"/>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0819">
                                            <p:txEl>
                                              <p:pRg st="2" end="2"/>
                                            </p:txEl>
                                          </p:spTgt>
                                        </p:tgtEl>
                                        <p:attrNameLst>
                                          <p:attrName>style.visibility</p:attrName>
                                        </p:attrNameLst>
                                      </p:cBhvr>
                                      <p:to>
                                        <p:strVal val="visible"/>
                                      </p:to>
                                    </p:set>
                                    <p:animEffect transition="in" filter="blinds(horizontal)">
                                      <p:cBhvr>
                                        <p:cTn id="7" dur="500"/>
                                        <p:tgtEl>
                                          <p:spTgt spid="2908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0819">
                                            <p:txEl>
                                              <p:pRg st="3" end="3"/>
                                            </p:txEl>
                                          </p:spTgt>
                                        </p:tgtEl>
                                        <p:attrNameLst>
                                          <p:attrName>style.visibility</p:attrName>
                                        </p:attrNameLst>
                                      </p:cBhvr>
                                      <p:to>
                                        <p:strVal val="visible"/>
                                      </p:to>
                                    </p:set>
                                    <p:animEffect transition="in" filter="blinds(horizontal)">
                                      <p:cBhvr>
                                        <p:cTn id="12" dur="500"/>
                                        <p:tgtEl>
                                          <p:spTgt spid="29081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0819">
                                            <p:txEl>
                                              <p:pRg st="4" end="4"/>
                                            </p:txEl>
                                          </p:spTgt>
                                        </p:tgtEl>
                                        <p:attrNameLst>
                                          <p:attrName>style.visibility</p:attrName>
                                        </p:attrNameLst>
                                      </p:cBhvr>
                                      <p:to>
                                        <p:strVal val="visible"/>
                                      </p:to>
                                    </p:set>
                                    <p:animEffect transition="in" filter="blinds(horizontal)">
                                      <p:cBhvr>
                                        <p:cTn id="17" dur="500"/>
                                        <p:tgtEl>
                                          <p:spTgt spid="29081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0819">
                                            <p:txEl>
                                              <p:pRg st="5" end="5"/>
                                            </p:txEl>
                                          </p:spTgt>
                                        </p:tgtEl>
                                        <p:attrNameLst>
                                          <p:attrName>style.visibility</p:attrName>
                                        </p:attrNameLst>
                                      </p:cBhvr>
                                      <p:to>
                                        <p:strVal val="visible"/>
                                      </p:to>
                                    </p:set>
                                    <p:animEffect transition="in" filter="blinds(horizontal)">
                                      <p:cBhvr>
                                        <p:cTn id="22" dur="500"/>
                                        <p:tgtEl>
                                          <p:spTgt spid="29081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0819">
                                            <p:txEl>
                                              <p:pRg st="6" end="6"/>
                                            </p:txEl>
                                          </p:spTgt>
                                        </p:tgtEl>
                                        <p:attrNameLst>
                                          <p:attrName>style.visibility</p:attrName>
                                        </p:attrNameLst>
                                      </p:cBhvr>
                                      <p:to>
                                        <p:strVal val="visible"/>
                                      </p:to>
                                    </p:set>
                                    <p:animEffect transition="in" filter="blinds(horizontal)">
                                      <p:cBhvr>
                                        <p:cTn id="27" dur="500"/>
                                        <p:tgtEl>
                                          <p:spTgt spid="29081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0819">
                                            <p:txEl>
                                              <p:pRg st="7" end="7"/>
                                            </p:txEl>
                                          </p:spTgt>
                                        </p:tgtEl>
                                        <p:attrNameLst>
                                          <p:attrName>style.visibility</p:attrName>
                                        </p:attrNameLst>
                                      </p:cBhvr>
                                      <p:to>
                                        <p:strVal val="visible"/>
                                      </p:to>
                                    </p:set>
                                    <p:animEffect transition="in" filter="blinds(horizontal)">
                                      <p:cBhvr>
                                        <p:cTn id="32" dur="500"/>
                                        <p:tgtEl>
                                          <p:spTgt spid="29081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0819">
                                            <p:txEl>
                                              <p:pRg st="9" end="9"/>
                                            </p:txEl>
                                          </p:spTgt>
                                        </p:tgtEl>
                                        <p:attrNameLst>
                                          <p:attrName>style.visibility</p:attrName>
                                        </p:attrNameLst>
                                      </p:cBhvr>
                                      <p:to>
                                        <p:strVal val="visible"/>
                                      </p:to>
                                    </p:set>
                                    <p:animEffect transition="in" filter="blinds(horizontal)">
                                      <p:cBhvr>
                                        <p:cTn id="37" dur="500"/>
                                        <p:tgtEl>
                                          <p:spTgt spid="290819">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0819">
                                            <p:txEl>
                                              <p:pRg st="10" end="10"/>
                                            </p:txEl>
                                          </p:spTgt>
                                        </p:tgtEl>
                                        <p:attrNameLst>
                                          <p:attrName>style.visibility</p:attrName>
                                        </p:attrNameLst>
                                      </p:cBhvr>
                                      <p:to>
                                        <p:strVal val="visible"/>
                                      </p:to>
                                    </p:set>
                                    <p:animEffect transition="in" filter="blinds(horizontal)">
                                      <p:cBhvr>
                                        <p:cTn id="42" dur="500"/>
                                        <p:tgtEl>
                                          <p:spTgt spid="290819">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90820"/>
                                        </p:tgtEl>
                                        <p:attrNameLst>
                                          <p:attrName>style.visibility</p:attrName>
                                        </p:attrNameLst>
                                      </p:cBhvr>
                                      <p:to>
                                        <p:strVal val="visible"/>
                                      </p:to>
                                    </p:set>
                                    <p:animEffect transition="in" filter="blinds(horizontal)">
                                      <p:cBhvr>
                                        <p:cTn id="47" dur="500"/>
                                        <p:tgtEl>
                                          <p:spTgt spid="290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A2BDBBE8-928B-D94C-96DE-8EAC5BCEE6C7}"/>
              </a:ext>
            </a:extLst>
          </p:cNvPr>
          <p:cNvSpPr>
            <a:spLocks noGrp="1" noChangeArrowheads="1"/>
          </p:cNvSpPr>
          <p:nvPr>
            <p:ph type="title"/>
          </p:nvPr>
        </p:nvSpPr>
        <p:spPr/>
        <p:txBody>
          <a:bodyPr/>
          <a:lstStyle/>
          <a:p>
            <a:r>
              <a:rPr lang="zh-CN" altLang="en-US">
                <a:ea typeface="宋体" panose="02010600030101010101" pitchFamily="2" charset="-122"/>
              </a:rPr>
              <a:t>本章总结</a:t>
            </a:r>
            <a:r>
              <a:rPr lang="en-US" altLang="zh-CN">
                <a:ea typeface="宋体" panose="02010600030101010101" pitchFamily="2" charset="-122"/>
              </a:rPr>
              <a:t>1</a:t>
            </a:r>
          </a:p>
        </p:txBody>
      </p:sp>
      <p:sp>
        <p:nvSpPr>
          <p:cNvPr id="266243" name="Rectangle 3">
            <a:extLst>
              <a:ext uri="{FF2B5EF4-FFF2-40B4-BE49-F238E27FC236}">
                <a16:creationId xmlns:a16="http://schemas.microsoft.com/office/drawing/2014/main" id="{FDA611EB-A43A-DB4C-B52E-4B6747CD0AEC}"/>
              </a:ext>
            </a:extLst>
          </p:cNvPr>
          <p:cNvSpPr>
            <a:spLocks noGrp="1" noChangeArrowheads="1"/>
          </p:cNvSpPr>
          <p:nvPr>
            <p:ph type="body" idx="1"/>
          </p:nvPr>
        </p:nvSpPr>
        <p:spPr>
          <a:xfrm>
            <a:off x="161925" y="885825"/>
            <a:ext cx="8599488" cy="5365750"/>
          </a:xfrm>
        </p:spPr>
        <p:txBody>
          <a:bodyPr/>
          <a:lstStyle/>
          <a:p>
            <a:pPr marL="342900" indent="-342900"/>
            <a:r>
              <a:rPr lang="zh-CN" altLang="en-US" sz="1900">
                <a:ea typeface="黑体" panose="02010609060101010101" pitchFamily="49" charset="-122"/>
              </a:rPr>
              <a:t>指令流水线的设计</a:t>
            </a:r>
          </a:p>
          <a:p>
            <a:pPr marL="838200" lvl="1" indent="-342900">
              <a:lnSpc>
                <a:spcPct val="130000"/>
              </a:lnSpc>
              <a:spcBef>
                <a:spcPct val="25000"/>
              </a:spcBef>
            </a:pPr>
            <a:r>
              <a:rPr lang="zh-CN" altLang="en-US" sz="1900">
                <a:ea typeface="黑体" panose="02010609060101010101" pitchFamily="49" charset="-122"/>
              </a:rPr>
              <a:t>将每条指令的执行规整化为若干个同样的流水阶段</a:t>
            </a:r>
          </a:p>
          <a:p>
            <a:pPr marL="838200" lvl="1" indent="-342900">
              <a:lnSpc>
                <a:spcPct val="130000"/>
              </a:lnSpc>
              <a:spcBef>
                <a:spcPct val="25000"/>
              </a:spcBef>
            </a:pPr>
            <a:r>
              <a:rPr lang="zh-CN" altLang="en-US" sz="1900">
                <a:ea typeface="黑体" panose="02010609060101010101" pitchFamily="49" charset="-122"/>
              </a:rPr>
              <a:t>每个流水阶段的执行时间一样，都等于一个时钟</a:t>
            </a:r>
          </a:p>
          <a:p>
            <a:pPr marL="838200" lvl="1" indent="-342900">
              <a:lnSpc>
                <a:spcPct val="130000"/>
              </a:lnSpc>
              <a:spcBef>
                <a:spcPct val="25000"/>
              </a:spcBef>
            </a:pPr>
            <a:r>
              <a:rPr lang="zh-CN" altLang="en-US" sz="1900">
                <a:ea typeface="黑体" panose="02010609060101010101" pitchFamily="49" charset="-122"/>
              </a:rPr>
              <a:t>理想情况下，每个时钟有一条指令进入流水线，也有一条指令执行结束</a:t>
            </a:r>
          </a:p>
          <a:p>
            <a:pPr marL="838200" lvl="1" indent="-342900">
              <a:lnSpc>
                <a:spcPct val="130000"/>
              </a:lnSpc>
              <a:spcBef>
                <a:spcPct val="25000"/>
              </a:spcBef>
            </a:pPr>
            <a:r>
              <a:rPr lang="zh-CN" altLang="en-US" sz="1900">
                <a:ea typeface="黑体" panose="02010609060101010101" pitchFamily="49" charset="-122"/>
              </a:rPr>
              <a:t>每个流水段中的部件都是组合逻辑加寄存器，组合逻辑中产生的结果在时钟到来时被存储到寄存器（如：程序计数器、条件码寄存器、流水线寄存器等）。</a:t>
            </a:r>
          </a:p>
          <a:p>
            <a:pPr marL="838200" lvl="1" indent="-342900">
              <a:lnSpc>
                <a:spcPct val="130000"/>
              </a:lnSpc>
              <a:spcBef>
                <a:spcPct val="25000"/>
              </a:spcBef>
            </a:pPr>
            <a:r>
              <a:rPr lang="zh-CN" altLang="en-US" sz="1900">
                <a:ea typeface="黑体" panose="02010609060101010101" pitchFamily="49" charset="-122"/>
              </a:rPr>
              <a:t>每两个相邻流水段之间的流水线寄存器，用以记录所有在后面阶段要用到的各种信息，有哪些呢？</a:t>
            </a:r>
          </a:p>
          <a:p>
            <a:pPr lvl="2">
              <a:lnSpc>
                <a:spcPct val="130000"/>
              </a:lnSpc>
              <a:spcBef>
                <a:spcPct val="25000"/>
              </a:spcBef>
            </a:pPr>
            <a:r>
              <a:rPr lang="zh-CN" altLang="en-US" sz="1900">
                <a:ea typeface="黑体" panose="02010609060101010101" pitchFamily="49" charset="-122"/>
              </a:rPr>
              <a:t>控制信号、指令的代码、参加运算的操作数、指令运算结果、指令异常信息、寄存器读口地址、寄存器写口地址、存储器地址、</a:t>
            </a:r>
            <a:r>
              <a:rPr lang="en-US" altLang="zh-CN" sz="1900">
                <a:ea typeface="黑体" panose="02010609060101010101" pitchFamily="49" charset="-122"/>
              </a:rPr>
              <a:t>PC+4</a:t>
            </a:r>
            <a:r>
              <a:rPr lang="zh-CN" altLang="en-US" sz="1900">
                <a:ea typeface="黑体" panose="02010609060101010101" pitchFamily="49" charset="-122"/>
              </a:rPr>
              <a:t>、本条指令地址等。</a:t>
            </a:r>
          </a:p>
          <a:p>
            <a:pPr marL="838200" lvl="1" indent="-342900">
              <a:lnSpc>
                <a:spcPct val="130000"/>
              </a:lnSpc>
              <a:spcBef>
                <a:spcPct val="25000"/>
              </a:spcBef>
            </a:pPr>
            <a:r>
              <a:rPr lang="zh-CN" altLang="en-US" sz="1900">
                <a:ea typeface="黑体" panose="02010609060101010101" pitchFamily="49" charset="-122"/>
              </a:rPr>
              <a:t>指令译码得到的控制信号通过流水线寄存器传送到后面各个流水段中</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43">
                                            <p:txEl>
                                              <p:pRg st="1" end="1"/>
                                            </p:txEl>
                                          </p:spTgt>
                                        </p:tgtEl>
                                        <p:attrNameLst>
                                          <p:attrName>style.visibility</p:attrName>
                                        </p:attrNameLst>
                                      </p:cBhvr>
                                      <p:to>
                                        <p:strVal val="visible"/>
                                      </p:to>
                                    </p:set>
                                    <p:animEffect transition="in" filter="blinds(horizontal)">
                                      <p:cBhvr>
                                        <p:cTn id="7" dur="500"/>
                                        <p:tgtEl>
                                          <p:spTgt spid="2662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43">
                                            <p:txEl>
                                              <p:pRg st="2" end="2"/>
                                            </p:txEl>
                                          </p:spTgt>
                                        </p:tgtEl>
                                        <p:attrNameLst>
                                          <p:attrName>style.visibility</p:attrName>
                                        </p:attrNameLst>
                                      </p:cBhvr>
                                      <p:to>
                                        <p:strVal val="visible"/>
                                      </p:to>
                                    </p:set>
                                    <p:animEffect transition="in" filter="blinds(horizontal)">
                                      <p:cBhvr>
                                        <p:cTn id="12" dur="500"/>
                                        <p:tgtEl>
                                          <p:spTgt spid="2662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6243">
                                            <p:txEl>
                                              <p:pRg st="3" end="3"/>
                                            </p:txEl>
                                          </p:spTgt>
                                        </p:tgtEl>
                                        <p:attrNameLst>
                                          <p:attrName>style.visibility</p:attrName>
                                        </p:attrNameLst>
                                      </p:cBhvr>
                                      <p:to>
                                        <p:strVal val="visible"/>
                                      </p:to>
                                    </p:set>
                                    <p:animEffect transition="in" filter="blinds(horizontal)">
                                      <p:cBhvr>
                                        <p:cTn id="17" dur="500"/>
                                        <p:tgtEl>
                                          <p:spTgt spid="2662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43">
                                            <p:txEl>
                                              <p:pRg st="4" end="4"/>
                                            </p:txEl>
                                          </p:spTgt>
                                        </p:tgtEl>
                                        <p:attrNameLst>
                                          <p:attrName>style.visibility</p:attrName>
                                        </p:attrNameLst>
                                      </p:cBhvr>
                                      <p:to>
                                        <p:strVal val="visible"/>
                                      </p:to>
                                    </p:set>
                                    <p:animEffect transition="in" filter="blinds(horizontal)">
                                      <p:cBhvr>
                                        <p:cTn id="22" dur="500"/>
                                        <p:tgtEl>
                                          <p:spTgt spid="2662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6243">
                                            <p:txEl>
                                              <p:pRg st="5" end="5"/>
                                            </p:txEl>
                                          </p:spTgt>
                                        </p:tgtEl>
                                        <p:attrNameLst>
                                          <p:attrName>style.visibility</p:attrName>
                                        </p:attrNameLst>
                                      </p:cBhvr>
                                      <p:to>
                                        <p:strVal val="visible"/>
                                      </p:to>
                                    </p:set>
                                    <p:animEffect transition="in" filter="blinds(horizontal)">
                                      <p:cBhvr>
                                        <p:cTn id="27" dur="500"/>
                                        <p:tgtEl>
                                          <p:spTgt spid="26624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6243">
                                            <p:txEl>
                                              <p:pRg st="6" end="6"/>
                                            </p:txEl>
                                          </p:spTgt>
                                        </p:tgtEl>
                                        <p:attrNameLst>
                                          <p:attrName>style.visibility</p:attrName>
                                        </p:attrNameLst>
                                      </p:cBhvr>
                                      <p:to>
                                        <p:strVal val="visible"/>
                                      </p:to>
                                    </p:set>
                                    <p:animEffect transition="in" filter="blinds(horizontal)">
                                      <p:cBhvr>
                                        <p:cTn id="32" dur="500"/>
                                        <p:tgtEl>
                                          <p:spTgt spid="26624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6243">
                                            <p:txEl>
                                              <p:pRg st="7" end="7"/>
                                            </p:txEl>
                                          </p:spTgt>
                                        </p:tgtEl>
                                        <p:attrNameLst>
                                          <p:attrName>style.visibility</p:attrName>
                                        </p:attrNameLst>
                                      </p:cBhvr>
                                      <p:to>
                                        <p:strVal val="visible"/>
                                      </p:to>
                                    </p:set>
                                    <p:animEffect transition="in" filter="blinds(horizontal)">
                                      <p:cBhvr>
                                        <p:cTn id="37" dur="500"/>
                                        <p:tgtEl>
                                          <p:spTgt spid="266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8949DF69-A061-5848-88DE-9CB19C2B1553}"/>
              </a:ext>
            </a:extLst>
          </p:cNvPr>
          <p:cNvSpPr>
            <a:spLocks noGrp="1" noChangeArrowheads="1"/>
          </p:cNvSpPr>
          <p:nvPr>
            <p:ph type="title"/>
          </p:nvPr>
        </p:nvSpPr>
        <p:spPr>
          <a:xfrm>
            <a:off x="639763" y="157163"/>
            <a:ext cx="5965825" cy="368300"/>
          </a:xfrm>
          <a:noFill/>
        </p:spPr>
        <p:txBody>
          <a:bodyPr/>
          <a:lstStyle/>
          <a:p>
            <a:r>
              <a:rPr lang="zh-CN" altLang="en-US">
                <a:ea typeface="宋体" panose="02010600030101010101" pitchFamily="2" charset="-122"/>
              </a:rPr>
              <a:t>本章总结</a:t>
            </a:r>
            <a:r>
              <a:rPr lang="en-US" altLang="zh-CN">
                <a:ea typeface="宋体" panose="02010600030101010101" pitchFamily="2" charset="-122"/>
              </a:rPr>
              <a:t>2</a:t>
            </a:r>
          </a:p>
        </p:txBody>
      </p:sp>
      <p:sp>
        <p:nvSpPr>
          <p:cNvPr id="157699" name="Rectangle 3">
            <a:extLst>
              <a:ext uri="{FF2B5EF4-FFF2-40B4-BE49-F238E27FC236}">
                <a16:creationId xmlns:a16="http://schemas.microsoft.com/office/drawing/2014/main" id="{9E4FAFB3-83BE-404C-9B04-470153286D84}"/>
              </a:ext>
            </a:extLst>
          </p:cNvPr>
          <p:cNvSpPr>
            <a:spLocks noChangeArrowheads="1"/>
          </p:cNvSpPr>
          <p:nvPr/>
        </p:nvSpPr>
        <p:spPr bwMode="auto">
          <a:xfrm>
            <a:off x="214313" y="3281363"/>
            <a:ext cx="4968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Clk</a:t>
            </a:r>
          </a:p>
        </p:txBody>
      </p:sp>
      <p:sp>
        <p:nvSpPr>
          <p:cNvPr id="157700" name="Line 4">
            <a:extLst>
              <a:ext uri="{FF2B5EF4-FFF2-40B4-BE49-F238E27FC236}">
                <a16:creationId xmlns:a16="http://schemas.microsoft.com/office/drawing/2014/main" id="{26782102-6DB4-5D4C-B963-37C5A1AC344B}"/>
              </a:ext>
            </a:extLst>
          </p:cNvPr>
          <p:cNvSpPr>
            <a:spLocks noChangeShapeType="1"/>
          </p:cNvSpPr>
          <p:nvPr/>
        </p:nvSpPr>
        <p:spPr bwMode="auto">
          <a:xfrm>
            <a:off x="774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1" name="Line 5">
            <a:extLst>
              <a:ext uri="{FF2B5EF4-FFF2-40B4-BE49-F238E27FC236}">
                <a16:creationId xmlns:a16="http://schemas.microsoft.com/office/drawing/2014/main" id="{FFC4FFA7-9ACE-2E4C-B007-4F9CD916B1D5}"/>
              </a:ext>
            </a:extLst>
          </p:cNvPr>
          <p:cNvSpPr>
            <a:spLocks noChangeShapeType="1"/>
          </p:cNvSpPr>
          <p:nvPr/>
        </p:nvSpPr>
        <p:spPr bwMode="auto">
          <a:xfrm>
            <a:off x="762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2" name="Line 6">
            <a:extLst>
              <a:ext uri="{FF2B5EF4-FFF2-40B4-BE49-F238E27FC236}">
                <a16:creationId xmlns:a16="http://schemas.microsoft.com/office/drawing/2014/main" id="{4C992F6F-AC15-8B4B-81AD-D9CAA00D4AAC}"/>
              </a:ext>
            </a:extLst>
          </p:cNvPr>
          <p:cNvSpPr>
            <a:spLocks noChangeShapeType="1"/>
          </p:cNvSpPr>
          <p:nvPr/>
        </p:nvSpPr>
        <p:spPr bwMode="auto">
          <a:xfrm flipV="1">
            <a:off x="1143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3" name="Line 7">
            <a:extLst>
              <a:ext uri="{FF2B5EF4-FFF2-40B4-BE49-F238E27FC236}">
                <a16:creationId xmlns:a16="http://schemas.microsoft.com/office/drawing/2014/main" id="{CB185AC1-408F-8142-8DF2-A23496A52975}"/>
              </a:ext>
            </a:extLst>
          </p:cNvPr>
          <p:cNvSpPr>
            <a:spLocks noChangeShapeType="1"/>
          </p:cNvSpPr>
          <p:nvPr/>
        </p:nvSpPr>
        <p:spPr bwMode="auto">
          <a:xfrm>
            <a:off x="1155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4" name="Line 8">
            <a:extLst>
              <a:ext uri="{FF2B5EF4-FFF2-40B4-BE49-F238E27FC236}">
                <a16:creationId xmlns:a16="http://schemas.microsoft.com/office/drawing/2014/main" id="{140EEE9E-9705-0246-9E1E-BF3831B69AEF}"/>
              </a:ext>
            </a:extLst>
          </p:cNvPr>
          <p:cNvSpPr>
            <a:spLocks noChangeShapeType="1"/>
          </p:cNvSpPr>
          <p:nvPr/>
        </p:nvSpPr>
        <p:spPr bwMode="auto">
          <a:xfrm>
            <a:off x="1524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5" name="Line 9">
            <a:extLst>
              <a:ext uri="{FF2B5EF4-FFF2-40B4-BE49-F238E27FC236}">
                <a16:creationId xmlns:a16="http://schemas.microsoft.com/office/drawing/2014/main" id="{B8BF3D21-71D7-B344-81BA-D17BC648DFBD}"/>
              </a:ext>
            </a:extLst>
          </p:cNvPr>
          <p:cNvSpPr>
            <a:spLocks noChangeShapeType="1"/>
          </p:cNvSpPr>
          <p:nvPr/>
        </p:nvSpPr>
        <p:spPr bwMode="auto">
          <a:xfrm>
            <a:off x="393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6" name="Line 10">
            <a:extLst>
              <a:ext uri="{FF2B5EF4-FFF2-40B4-BE49-F238E27FC236}">
                <a16:creationId xmlns:a16="http://schemas.microsoft.com/office/drawing/2014/main" id="{79751D79-1CDE-C546-861D-AF7F45B1F9D9}"/>
              </a:ext>
            </a:extLst>
          </p:cNvPr>
          <p:cNvSpPr>
            <a:spLocks noChangeShapeType="1"/>
          </p:cNvSpPr>
          <p:nvPr/>
        </p:nvSpPr>
        <p:spPr bwMode="auto">
          <a:xfrm flipV="1">
            <a:off x="762000" y="1601788"/>
            <a:ext cx="0" cy="15494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7" name="Rectangle 11">
            <a:extLst>
              <a:ext uri="{FF2B5EF4-FFF2-40B4-BE49-F238E27FC236}">
                <a16:creationId xmlns:a16="http://schemas.microsoft.com/office/drawing/2014/main" id="{FEA6DF80-D112-C844-8B21-7FB9682E7DAF}"/>
              </a:ext>
            </a:extLst>
          </p:cNvPr>
          <p:cNvSpPr>
            <a:spLocks noChangeArrowheads="1"/>
          </p:cNvSpPr>
          <p:nvPr/>
        </p:nvSpPr>
        <p:spPr bwMode="auto">
          <a:xfrm>
            <a:off x="747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1</a:t>
            </a:r>
          </a:p>
        </p:txBody>
      </p:sp>
      <p:sp>
        <p:nvSpPr>
          <p:cNvPr id="157708" name="Rectangle 12">
            <a:extLst>
              <a:ext uri="{FF2B5EF4-FFF2-40B4-BE49-F238E27FC236}">
                <a16:creationId xmlns:a16="http://schemas.microsoft.com/office/drawing/2014/main" id="{97F414C7-C2FC-3344-8C50-8F6AC0B3D7F1}"/>
              </a:ext>
            </a:extLst>
          </p:cNvPr>
          <p:cNvSpPr>
            <a:spLocks noChangeArrowheads="1"/>
          </p:cNvSpPr>
          <p:nvPr/>
        </p:nvSpPr>
        <p:spPr bwMode="auto">
          <a:xfrm>
            <a:off x="214313" y="3814763"/>
            <a:ext cx="29765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Multiple Cycle Implementation:</a:t>
            </a:r>
          </a:p>
        </p:txBody>
      </p:sp>
      <p:grpSp>
        <p:nvGrpSpPr>
          <p:cNvPr id="157709" name="Group 28">
            <a:extLst>
              <a:ext uri="{FF2B5EF4-FFF2-40B4-BE49-F238E27FC236}">
                <a16:creationId xmlns:a16="http://schemas.microsoft.com/office/drawing/2014/main" id="{46C0F04B-FEC7-C647-A631-1FAA012F9809}"/>
              </a:ext>
            </a:extLst>
          </p:cNvPr>
          <p:cNvGrpSpPr>
            <a:grpSpLocks/>
          </p:cNvGrpSpPr>
          <p:nvPr/>
        </p:nvGrpSpPr>
        <p:grpSpPr bwMode="auto">
          <a:xfrm>
            <a:off x="774700" y="4424363"/>
            <a:ext cx="3784600" cy="333375"/>
            <a:chOff x="488" y="2544"/>
            <a:chExt cx="2384" cy="210"/>
          </a:xfrm>
        </p:grpSpPr>
        <p:grpSp>
          <p:nvGrpSpPr>
            <p:cNvPr id="157870" name="Group 15">
              <a:extLst>
                <a:ext uri="{FF2B5EF4-FFF2-40B4-BE49-F238E27FC236}">
                  <a16:creationId xmlns:a16="http://schemas.microsoft.com/office/drawing/2014/main" id="{0BC4CA1E-7DAC-7E40-A47D-2A3B91E560A8}"/>
                </a:ext>
              </a:extLst>
            </p:cNvPr>
            <p:cNvGrpSpPr>
              <a:grpSpLocks/>
            </p:cNvGrpSpPr>
            <p:nvPr/>
          </p:nvGrpSpPr>
          <p:grpSpPr bwMode="auto">
            <a:xfrm>
              <a:off x="488" y="2544"/>
              <a:ext cx="466" cy="210"/>
              <a:chOff x="488" y="2544"/>
              <a:chExt cx="466" cy="210"/>
            </a:xfrm>
          </p:grpSpPr>
          <p:sp>
            <p:nvSpPr>
              <p:cNvPr id="157883" name="Rectangle 13">
                <a:extLst>
                  <a:ext uri="{FF2B5EF4-FFF2-40B4-BE49-F238E27FC236}">
                    <a16:creationId xmlns:a16="http://schemas.microsoft.com/office/drawing/2014/main" id="{3B2D4B0C-CCD3-8B46-8B5E-DE4AD8092661}"/>
                  </a:ext>
                </a:extLst>
              </p:cNvPr>
              <p:cNvSpPr>
                <a:spLocks noChangeArrowheads="1"/>
              </p:cNvSpPr>
              <p:nvPr/>
            </p:nvSpPr>
            <p:spPr bwMode="auto">
              <a:xfrm>
                <a:off x="48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84" name="Rectangle 14">
                <a:extLst>
                  <a:ext uri="{FF2B5EF4-FFF2-40B4-BE49-F238E27FC236}">
                    <a16:creationId xmlns:a16="http://schemas.microsoft.com/office/drawing/2014/main" id="{09F4554C-9DE3-6C49-AA06-F41F95C22668}"/>
                  </a:ext>
                </a:extLst>
              </p:cNvPr>
              <p:cNvSpPr>
                <a:spLocks noChangeArrowheads="1"/>
              </p:cNvSpPr>
              <p:nvPr/>
            </p:nvSpPr>
            <p:spPr bwMode="auto">
              <a:xfrm>
                <a:off x="519" y="2544"/>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57871" name="Group 18">
              <a:extLst>
                <a:ext uri="{FF2B5EF4-FFF2-40B4-BE49-F238E27FC236}">
                  <a16:creationId xmlns:a16="http://schemas.microsoft.com/office/drawing/2014/main" id="{9208754F-D669-0449-962C-C426CC8E7EFB}"/>
                </a:ext>
              </a:extLst>
            </p:cNvPr>
            <p:cNvGrpSpPr>
              <a:grpSpLocks/>
            </p:cNvGrpSpPr>
            <p:nvPr/>
          </p:nvGrpSpPr>
          <p:grpSpPr bwMode="auto">
            <a:xfrm>
              <a:off x="968" y="2544"/>
              <a:ext cx="464" cy="210"/>
              <a:chOff x="968" y="2544"/>
              <a:chExt cx="464" cy="210"/>
            </a:xfrm>
          </p:grpSpPr>
          <p:sp>
            <p:nvSpPr>
              <p:cNvPr id="157881" name="Rectangle 16">
                <a:extLst>
                  <a:ext uri="{FF2B5EF4-FFF2-40B4-BE49-F238E27FC236}">
                    <a16:creationId xmlns:a16="http://schemas.microsoft.com/office/drawing/2014/main" id="{0315F103-9683-E24F-8741-51861F1461B2}"/>
                  </a:ext>
                </a:extLst>
              </p:cNvPr>
              <p:cNvSpPr>
                <a:spLocks noChangeArrowheads="1"/>
              </p:cNvSpPr>
              <p:nvPr/>
            </p:nvSpPr>
            <p:spPr bwMode="auto">
              <a:xfrm>
                <a:off x="96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82" name="Rectangle 17">
                <a:extLst>
                  <a:ext uri="{FF2B5EF4-FFF2-40B4-BE49-F238E27FC236}">
                    <a16:creationId xmlns:a16="http://schemas.microsoft.com/office/drawing/2014/main" id="{D362F4F7-97C9-D24C-AD0D-683C76AAC323}"/>
                  </a:ext>
                </a:extLst>
              </p:cNvPr>
              <p:cNvSpPr>
                <a:spLocks noChangeArrowheads="1"/>
              </p:cNvSpPr>
              <p:nvPr/>
            </p:nvSpPr>
            <p:spPr bwMode="auto">
              <a:xfrm>
                <a:off x="1047" y="2544"/>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grpSp>
          <p:nvGrpSpPr>
            <p:cNvPr id="157872" name="Group 21">
              <a:extLst>
                <a:ext uri="{FF2B5EF4-FFF2-40B4-BE49-F238E27FC236}">
                  <a16:creationId xmlns:a16="http://schemas.microsoft.com/office/drawing/2014/main" id="{7CA3A37A-EBAF-C14A-B774-BA381BD48D86}"/>
                </a:ext>
              </a:extLst>
            </p:cNvPr>
            <p:cNvGrpSpPr>
              <a:grpSpLocks/>
            </p:cNvGrpSpPr>
            <p:nvPr/>
          </p:nvGrpSpPr>
          <p:grpSpPr bwMode="auto">
            <a:xfrm>
              <a:off x="1448" y="2544"/>
              <a:ext cx="464" cy="210"/>
              <a:chOff x="1448" y="2544"/>
              <a:chExt cx="464" cy="210"/>
            </a:xfrm>
          </p:grpSpPr>
          <p:sp>
            <p:nvSpPr>
              <p:cNvPr id="157879" name="Rectangle 19">
                <a:extLst>
                  <a:ext uri="{FF2B5EF4-FFF2-40B4-BE49-F238E27FC236}">
                    <a16:creationId xmlns:a16="http://schemas.microsoft.com/office/drawing/2014/main" id="{37CE2D79-AD67-8C45-B358-7C45F5371553}"/>
                  </a:ext>
                </a:extLst>
              </p:cNvPr>
              <p:cNvSpPr>
                <a:spLocks noChangeArrowheads="1"/>
              </p:cNvSpPr>
              <p:nvPr/>
            </p:nvSpPr>
            <p:spPr bwMode="auto">
              <a:xfrm>
                <a:off x="144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80" name="Rectangle 20">
                <a:extLst>
                  <a:ext uri="{FF2B5EF4-FFF2-40B4-BE49-F238E27FC236}">
                    <a16:creationId xmlns:a16="http://schemas.microsoft.com/office/drawing/2014/main" id="{4166DEFF-B452-7247-AF68-AD815BBC3AD8}"/>
                  </a:ext>
                </a:extLst>
              </p:cNvPr>
              <p:cNvSpPr>
                <a:spLocks noChangeArrowheads="1"/>
              </p:cNvSpPr>
              <p:nvPr/>
            </p:nvSpPr>
            <p:spPr bwMode="auto">
              <a:xfrm>
                <a:off x="1479" y="2544"/>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57873" name="Group 24">
              <a:extLst>
                <a:ext uri="{FF2B5EF4-FFF2-40B4-BE49-F238E27FC236}">
                  <a16:creationId xmlns:a16="http://schemas.microsoft.com/office/drawing/2014/main" id="{16478DE5-E346-F940-BA35-27D0B30356B0}"/>
                </a:ext>
              </a:extLst>
            </p:cNvPr>
            <p:cNvGrpSpPr>
              <a:grpSpLocks/>
            </p:cNvGrpSpPr>
            <p:nvPr/>
          </p:nvGrpSpPr>
          <p:grpSpPr bwMode="auto">
            <a:xfrm>
              <a:off x="1928" y="2544"/>
              <a:ext cx="464" cy="210"/>
              <a:chOff x="1928" y="2544"/>
              <a:chExt cx="464" cy="210"/>
            </a:xfrm>
          </p:grpSpPr>
          <p:sp>
            <p:nvSpPr>
              <p:cNvPr id="157877" name="Rectangle 22">
                <a:extLst>
                  <a:ext uri="{FF2B5EF4-FFF2-40B4-BE49-F238E27FC236}">
                    <a16:creationId xmlns:a16="http://schemas.microsoft.com/office/drawing/2014/main" id="{E64BC677-8AB2-9247-B4DE-B3669EA02579}"/>
                  </a:ext>
                </a:extLst>
              </p:cNvPr>
              <p:cNvSpPr>
                <a:spLocks noChangeArrowheads="1"/>
              </p:cNvSpPr>
              <p:nvPr/>
            </p:nvSpPr>
            <p:spPr bwMode="auto">
              <a:xfrm>
                <a:off x="192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78" name="Rectangle 23">
                <a:extLst>
                  <a:ext uri="{FF2B5EF4-FFF2-40B4-BE49-F238E27FC236}">
                    <a16:creationId xmlns:a16="http://schemas.microsoft.com/office/drawing/2014/main" id="{68F4E3D1-4EB1-1E47-B191-8C49107590C6}"/>
                  </a:ext>
                </a:extLst>
              </p:cNvPr>
              <p:cNvSpPr>
                <a:spLocks noChangeArrowheads="1"/>
              </p:cNvSpPr>
              <p:nvPr/>
            </p:nvSpPr>
            <p:spPr bwMode="auto">
              <a:xfrm>
                <a:off x="1959" y="2544"/>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57874" name="Group 27">
              <a:extLst>
                <a:ext uri="{FF2B5EF4-FFF2-40B4-BE49-F238E27FC236}">
                  <a16:creationId xmlns:a16="http://schemas.microsoft.com/office/drawing/2014/main" id="{A6FCE96B-CCF7-654D-849D-A4E941DFF48F}"/>
                </a:ext>
              </a:extLst>
            </p:cNvPr>
            <p:cNvGrpSpPr>
              <a:grpSpLocks/>
            </p:cNvGrpSpPr>
            <p:nvPr/>
          </p:nvGrpSpPr>
          <p:grpSpPr bwMode="auto">
            <a:xfrm>
              <a:off x="2408" y="2544"/>
              <a:ext cx="464" cy="210"/>
              <a:chOff x="2408" y="2544"/>
              <a:chExt cx="464" cy="210"/>
            </a:xfrm>
          </p:grpSpPr>
          <p:sp>
            <p:nvSpPr>
              <p:cNvPr id="157875" name="Rectangle 25">
                <a:extLst>
                  <a:ext uri="{FF2B5EF4-FFF2-40B4-BE49-F238E27FC236}">
                    <a16:creationId xmlns:a16="http://schemas.microsoft.com/office/drawing/2014/main" id="{81951B1A-43C0-F14C-A076-3BCC9C7CC366}"/>
                  </a:ext>
                </a:extLst>
              </p:cNvPr>
              <p:cNvSpPr>
                <a:spLocks noChangeArrowheads="1"/>
              </p:cNvSpPr>
              <p:nvPr/>
            </p:nvSpPr>
            <p:spPr bwMode="auto">
              <a:xfrm>
                <a:off x="240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76" name="Rectangle 26">
                <a:extLst>
                  <a:ext uri="{FF2B5EF4-FFF2-40B4-BE49-F238E27FC236}">
                    <a16:creationId xmlns:a16="http://schemas.microsoft.com/office/drawing/2014/main" id="{A6792F21-AC43-E44D-99D8-B8544FCC19F5}"/>
                  </a:ext>
                </a:extLst>
              </p:cNvPr>
              <p:cNvSpPr>
                <a:spLocks noChangeArrowheads="1"/>
              </p:cNvSpPr>
              <p:nvPr/>
            </p:nvSpPr>
            <p:spPr bwMode="auto">
              <a:xfrm>
                <a:off x="2487" y="2544"/>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57710" name="Line 29">
            <a:extLst>
              <a:ext uri="{FF2B5EF4-FFF2-40B4-BE49-F238E27FC236}">
                <a16:creationId xmlns:a16="http://schemas.microsoft.com/office/drawing/2014/main" id="{E2FAC94A-826B-834A-AAB2-BD399AC2EB02}"/>
              </a:ext>
            </a:extLst>
          </p:cNvPr>
          <p:cNvSpPr>
            <a:spLocks noChangeShapeType="1"/>
          </p:cNvSpPr>
          <p:nvPr/>
        </p:nvSpPr>
        <p:spPr bwMode="auto">
          <a:xfrm>
            <a:off x="1536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1" name="Line 30">
            <a:extLst>
              <a:ext uri="{FF2B5EF4-FFF2-40B4-BE49-F238E27FC236}">
                <a16:creationId xmlns:a16="http://schemas.microsoft.com/office/drawing/2014/main" id="{7B79679F-95C3-7D4C-B7C1-68CFA31BADA2}"/>
              </a:ext>
            </a:extLst>
          </p:cNvPr>
          <p:cNvSpPr>
            <a:spLocks noChangeShapeType="1"/>
          </p:cNvSpPr>
          <p:nvPr/>
        </p:nvSpPr>
        <p:spPr bwMode="auto">
          <a:xfrm flipV="1">
            <a:off x="1905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2" name="Line 31">
            <a:extLst>
              <a:ext uri="{FF2B5EF4-FFF2-40B4-BE49-F238E27FC236}">
                <a16:creationId xmlns:a16="http://schemas.microsoft.com/office/drawing/2014/main" id="{5931B549-2FE3-C74D-A615-3991947598C1}"/>
              </a:ext>
            </a:extLst>
          </p:cNvPr>
          <p:cNvSpPr>
            <a:spLocks noChangeShapeType="1"/>
          </p:cNvSpPr>
          <p:nvPr/>
        </p:nvSpPr>
        <p:spPr bwMode="auto">
          <a:xfrm>
            <a:off x="1917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3" name="Line 32">
            <a:extLst>
              <a:ext uri="{FF2B5EF4-FFF2-40B4-BE49-F238E27FC236}">
                <a16:creationId xmlns:a16="http://schemas.microsoft.com/office/drawing/2014/main" id="{D67717DD-E9DD-984E-8074-4288ED9913AB}"/>
              </a:ext>
            </a:extLst>
          </p:cNvPr>
          <p:cNvSpPr>
            <a:spLocks noChangeShapeType="1"/>
          </p:cNvSpPr>
          <p:nvPr/>
        </p:nvSpPr>
        <p:spPr bwMode="auto">
          <a:xfrm>
            <a:off x="2286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4" name="Line 33">
            <a:extLst>
              <a:ext uri="{FF2B5EF4-FFF2-40B4-BE49-F238E27FC236}">
                <a16:creationId xmlns:a16="http://schemas.microsoft.com/office/drawing/2014/main" id="{EC2A54BF-4CF1-CA4B-BCA3-2BB2B10DAFA9}"/>
              </a:ext>
            </a:extLst>
          </p:cNvPr>
          <p:cNvSpPr>
            <a:spLocks noChangeShapeType="1"/>
          </p:cNvSpPr>
          <p:nvPr/>
        </p:nvSpPr>
        <p:spPr bwMode="auto">
          <a:xfrm flipV="1">
            <a:off x="1524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5" name="Rectangle 34">
            <a:extLst>
              <a:ext uri="{FF2B5EF4-FFF2-40B4-BE49-F238E27FC236}">
                <a16:creationId xmlns:a16="http://schemas.microsoft.com/office/drawing/2014/main" id="{2D04092E-787E-B445-A5A5-476A1C821346}"/>
              </a:ext>
            </a:extLst>
          </p:cNvPr>
          <p:cNvSpPr>
            <a:spLocks noChangeArrowheads="1"/>
          </p:cNvSpPr>
          <p:nvPr/>
        </p:nvSpPr>
        <p:spPr bwMode="auto">
          <a:xfrm>
            <a:off x="1509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2</a:t>
            </a:r>
          </a:p>
        </p:txBody>
      </p:sp>
      <p:sp>
        <p:nvSpPr>
          <p:cNvPr id="157716" name="Line 35">
            <a:extLst>
              <a:ext uri="{FF2B5EF4-FFF2-40B4-BE49-F238E27FC236}">
                <a16:creationId xmlns:a16="http://schemas.microsoft.com/office/drawing/2014/main" id="{556FEF2A-57CF-8345-BE94-7CCF7C410608}"/>
              </a:ext>
            </a:extLst>
          </p:cNvPr>
          <p:cNvSpPr>
            <a:spLocks noChangeShapeType="1"/>
          </p:cNvSpPr>
          <p:nvPr/>
        </p:nvSpPr>
        <p:spPr bwMode="auto">
          <a:xfrm>
            <a:off x="2298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7" name="Line 36">
            <a:extLst>
              <a:ext uri="{FF2B5EF4-FFF2-40B4-BE49-F238E27FC236}">
                <a16:creationId xmlns:a16="http://schemas.microsoft.com/office/drawing/2014/main" id="{CD747C82-3D65-6B4F-8E0D-7D5A2A185D9A}"/>
              </a:ext>
            </a:extLst>
          </p:cNvPr>
          <p:cNvSpPr>
            <a:spLocks noChangeShapeType="1"/>
          </p:cNvSpPr>
          <p:nvPr/>
        </p:nvSpPr>
        <p:spPr bwMode="auto">
          <a:xfrm flipV="1">
            <a:off x="2667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8" name="Line 37">
            <a:extLst>
              <a:ext uri="{FF2B5EF4-FFF2-40B4-BE49-F238E27FC236}">
                <a16:creationId xmlns:a16="http://schemas.microsoft.com/office/drawing/2014/main" id="{89D754BF-3640-E84E-A7A3-DEFC7E0B8038}"/>
              </a:ext>
            </a:extLst>
          </p:cNvPr>
          <p:cNvSpPr>
            <a:spLocks noChangeShapeType="1"/>
          </p:cNvSpPr>
          <p:nvPr/>
        </p:nvSpPr>
        <p:spPr bwMode="auto">
          <a:xfrm>
            <a:off x="2679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9" name="Line 38">
            <a:extLst>
              <a:ext uri="{FF2B5EF4-FFF2-40B4-BE49-F238E27FC236}">
                <a16:creationId xmlns:a16="http://schemas.microsoft.com/office/drawing/2014/main" id="{D5407E09-639A-D64C-9FBE-2FA7612ABCCF}"/>
              </a:ext>
            </a:extLst>
          </p:cNvPr>
          <p:cNvSpPr>
            <a:spLocks noChangeShapeType="1"/>
          </p:cNvSpPr>
          <p:nvPr/>
        </p:nvSpPr>
        <p:spPr bwMode="auto">
          <a:xfrm>
            <a:off x="3048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0" name="Line 39">
            <a:extLst>
              <a:ext uri="{FF2B5EF4-FFF2-40B4-BE49-F238E27FC236}">
                <a16:creationId xmlns:a16="http://schemas.microsoft.com/office/drawing/2014/main" id="{6E35046B-D644-244B-A667-62B3AE53AE20}"/>
              </a:ext>
            </a:extLst>
          </p:cNvPr>
          <p:cNvSpPr>
            <a:spLocks noChangeShapeType="1"/>
          </p:cNvSpPr>
          <p:nvPr/>
        </p:nvSpPr>
        <p:spPr bwMode="auto">
          <a:xfrm flipV="1">
            <a:off x="2286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1" name="Rectangle 40">
            <a:extLst>
              <a:ext uri="{FF2B5EF4-FFF2-40B4-BE49-F238E27FC236}">
                <a16:creationId xmlns:a16="http://schemas.microsoft.com/office/drawing/2014/main" id="{04D2A06D-F0C9-8145-9601-3A4A1B0A5B4F}"/>
              </a:ext>
            </a:extLst>
          </p:cNvPr>
          <p:cNvSpPr>
            <a:spLocks noChangeArrowheads="1"/>
          </p:cNvSpPr>
          <p:nvPr/>
        </p:nvSpPr>
        <p:spPr bwMode="auto">
          <a:xfrm>
            <a:off x="2271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3</a:t>
            </a:r>
          </a:p>
        </p:txBody>
      </p:sp>
      <p:sp>
        <p:nvSpPr>
          <p:cNvPr id="157722" name="Line 41">
            <a:extLst>
              <a:ext uri="{FF2B5EF4-FFF2-40B4-BE49-F238E27FC236}">
                <a16:creationId xmlns:a16="http://schemas.microsoft.com/office/drawing/2014/main" id="{21E32942-BE21-BA4F-8C92-DDDD6AF5284B}"/>
              </a:ext>
            </a:extLst>
          </p:cNvPr>
          <p:cNvSpPr>
            <a:spLocks noChangeShapeType="1"/>
          </p:cNvSpPr>
          <p:nvPr/>
        </p:nvSpPr>
        <p:spPr bwMode="auto">
          <a:xfrm>
            <a:off x="3060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3" name="Line 42">
            <a:extLst>
              <a:ext uri="{FF2B5EF4-FFF2-40B4-BE49-F238E27FC236}">
                <a16:creationId xmlns:a16="http://schemas.microsoft.com/office/drawing/2014/main" id="{341774B5-1FD5-C64A-9BDB-EE928F44D12C}"/>
              </a:ext>
            </a:extLst>
          </p:cNvPr>
          <p:cNvSpPr>
            <a:spLocks noChangeShapeType="1"/>
          </p:cNvSpPr>
          <p:nvPr/>
        </p:nvSpPr>
        <p:spPr bwMode="auto">
          <a:xfrm flipV="1">
            <a:off x="3429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4" name="Line 43">
            <a:extLst>
              <a:ext uri="{FF2B5EF4-FFF2-40B4-BE49-F238E27FC236}">
                <a16:creationId xmlns:a16="http://schemas.microsoft.com/office/drawing/2014/main" id="{6957F737-DC6B-1545-9B70-A72CAE9CA779}"/>
              </a:ext>
            </a:extLst>
          </p:cNvPr>
          <p:cNvSpPr>
            <a:spLocks noChangeShapeType="1"/>
          </p:cNvSpPr>
          <p:nvPr/>
        </p:nvSpPr>
        <p:spPr bwMode="auto">
          <a:xfrm>
            <a:off x="3441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5" name="Line 44">
            <a:extLst>
              <a:ext uri="{FF2B5EF4-FFF2-40B4-BE49-F238E27FC236}">
                <a16:creationId xmlns:a16="http://schemas.microsoft.com/office/drawing/2014/main" id="{1D9F09FE-9106-E741-8156-31E204CE1F3F}"/>
              </a:ext>
            </a:extLst>
          </p:cNvPr>
          <p:cNvSpPr>
            <a:spLocks noChangeShapeType="1"/>
          </p:cNvSpPr>
          <p:nvPr/>
        </p:nvSpPr>
        <p:spPr bwMode="auto">
          <a:xfrm>
            <a:off x="3810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6" name="Line 45">
            <a:extLst>
              <a:ext uri="{FF2B5EF4-FFF2-40B4-BE49-F238E27FC236}">
                <a16:creationId xmlns:a16="http://schemas.microsoft.com/office/drawing/2014/main" id="{8FAD9273-9EBB-154E-8D2E-7DF4EDC58A3B}"/>
              </a:ext>
            </a:extLst>
          </p:cNvPr>
          <p:cNvSpPr>
            <a:spLocks noChangeShapeType="1"/>
          </p:cNvSpPr>
          <p:nvPr/>
        </p:nvSpPr>
        <p:spPr bwMode="auto">
          <a:xfrm flipV="1">
            <a:off x="3048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7" name="Rectangle 46">
            <a:extLst>
              <a:ext uri="{FF2B5EF4-FFF2-40B4-BE49-F238E27FC236}">
                <a16:creationId xmlns:a16="http://schemas.microsoft.com/office/drawing/2014/main" id="{E5C5BDF8-1E00-E045-B62E-45E0204A28C2}"/>
              </a:ext>
            </a:extLst>
          </p:cNvPr>
          <p:cNvSpPr>
            <a:spLocks noChangeArrowheads="1"/>
          </p:cNvSpPr>
          <p:nvPr/>
        </p:nvSpPr>
        <p:spPr bwMode="auto">
          <a:xfrm>
            <a:off x="3033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4</a:t>
            </a:r>
          </a:p>
        </p:txBody>
      </p:sp>
      <p:sp>
        <p:nvSpPr>
          <p:cNvPr id="157728" name="Line 47">
            <a:extLst>
              <a:ext uri="{FF2B5EF4-FFF2-40B4-BE49-F238E27FC236}">
                <a16:creationId xmlns:a16="http://schemas.microsoft.com/office/drawing/2014/main" id="{264BAC8A-EAF6-8842-BAF4-EBC99A4455BD}"/>
              </a:ext>
            </a:extLst>
          </p:cNvPr>
          <p:cNvSpPr>
            <a:spLocks noChangeShapeType="1"/>
          </p:cNvSpPr>
          <p:nvPr/>
        </p:nvSpPr>
        <p:spPr bwMode="auto">
          <a:xfrm>
            <a:off x="3822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9" name="Line 48">
            <a:extLst>
              <a:ext uri="{FF2B5EF4-FFF2-40B4-BE49-F238E27FC236}">
                <a16:creationId xmlns:a16="http://schemas.microsoft.com/office/drawing/2014/main" id="{701E9E50-0E66-1443-850C-9343EBC3B8CA}"/>
              </a:ext>
            </a:extLst>
          </p:cNvPr>
          <p:cNvSpPr>
            <a:spLocks noChangeShapeType="1"/>
          </p:cNvSpPr>
          <p:nvPr/>
        </p:nvSpPr>
        <p:spPr bwMode="auto">
          <a:xfrm flipV="1">
            <a:off x="4191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0" name="Line 49">
            <a:extLst>
              <a:ext uri="{FF2B5EF4-FFF2-40B4-BE49-F238E27FC236}">
                <a16:creationId xmlns:a16="http://schemas.microsoft.com/office/drawing/2014/main" id="{A220555E-F9BF-2A44-AE78-BD1FDA8E7CD3}"/>
              </a:ext>
            </a:extLst>
          </p:cNvPr>
          <p:cNvSpPr>
            <a:spLocks noChangeShapeType="1"/>
          </p:cNvSpPr>
          <p:nvPr/>
        </p:nvSpPr>
        <p:spPr bwMode="auto">
          <a:xfrm>
            <a:off x="4203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1" name="Line 50">
            <a:extLst>
              <a:ext uri="{FF2B5EF4-FFF2-40B4-BE49-F238E27FC236}">
                <a16:creationId xmlns:a16="http://schemas.microsoft.com/office/drawing/2014/main" id="{08EAE4CC-4ED0-024C-BF6D-450FF7848CE2}"/>
              </a:ext>
            </a:extLst>
          </p:cNvPr>
          <p:cNvSpPr>
            <a:spLocks noChangeShapeType="1"/>
          </p:cNvSpPr>
          <p:nvPr/>
        </p:nvSpPr>
        <p:spPr bwMode="auto">
          <a:xfrm>
            <a:off x="4572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2" name="Line 51">
            <a:extLst>
              <a:ext uri="{FF2B5EF4-FFF2-40B4-BE49-F238E27FC236}">
                <a16:creationId xmlns:a16="http://schemas.microsoft.com/office/drawing/2014/main" id="{6AA2EEA1-4550-FE43-9D18-F62FFFCB94C9}"/>
              </a:ext>
            </a:extLst>
          </p:cNvPr>
          <p:cNvSpPr>
            <a:spLocks noChangeShapeType="1"/>
          </p:cNvSpPr>
          <p:nvPr/>
        </p:nvSpPr>
        <p:spPr bwMode="auto">
          <a:xfrm flipV="1">
            <a:off x="3810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3" name="Rectangle 52">
            <a:extLst>
              <a:ext uri="{FF2B5EF4-FFF2-40B4-BE49-F238E27FC236}">
                <a16:creationId xmlns:a16="http://schemas.microsoft.com/office/drawing/2014/main" id="{C22B9D17-2676-E74E-ABA1-A3C1BF7D5871}"/>
              </a:ext>
            </a:extLst>
          </p:cNvPr>
          <p:cNvSpPr>
            <a:spLocks noChangeArrowheads="1"/>
          </p:cNvSpPr>
          <p:nvPr/>
        </p:nvSpPr>
        <p:spPr bwMode="auto">
          <a:xfrm>
            <a:off x="3795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5</a:t>
            </a:r>
          </a:p>
        </p:txBody>
      </p:sp>
      <p:sp>
        <p:nvSpPr>
          <p:cNvPr id="157734" name="Line 53">
            <a:extLst>
              <a:ext uri="{FF2B5EF4-FFF2-40B4-BE49-F238E27FC236}">
                <a16:creationId xmlns:a16="http://schemas.microsoft.com/office/drawing/2014/main" id="{96D57F2C-678E-0F40-9F3E-248BBBCB5BD1}"/>
              </a:ext>
            </a:extLst>
          </p:cNvPr>
          <p:cNvSpPr>
            <a:spLocks noChangeShapeType="1"/>
          </p:cNvSpPr>
          <p:nvPr/>
        </p:nvSpPr>
        <p:spPr bwMode="auto">
          <a:xfrm>
            <a:off x="4584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5" name="Line 54">
            <a:extLst>
              <a:ext uri="{FF2B5EF4-FFF2-40B4-BE49-F238E27FC236}">
                <a16:creationId xmlns:a16="http://schemas.microsoft.com/office/drawing/2014/main" id="{C639394D-4DC0-A24E-83EB-50BCA58C1C88}"/>
              </a:ext>
            </a:extLst>
          </p:cNvPr>
          <p:cNvSpPr>
            <a:spLocks noChangeShapeType="1"/>
          </p:cNvSpPr>
          <p:nvPr/>
        </p:nvSpPr>
        <p:spPr bwMode="auto">
          <a:xfrm flipV="1">
            <a:off x="4953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6" name="Line 55">
            <a:extLst>
              <a:ext uri="{FF2B5EF4-FFF2-40B4-BE49-F238E27FC236}">
                <a16:creationId xmlns:a16="http://schemas.microsoft.com/office/drawing/2014/main" id="{4DED33D5-F4EE-5545-B8BB-8458691FEE1E}"/>
              </a:ext>
            </a:extLst>
          </p:cNvPr>
          <p:cNvSpPr>
            <a:spLocks noChangeShapeType="1"/>
          </p:cNvSpPr>
          <p:nvPr/>
        </p:nvSpPr>
        <p:spPr bwMode="auto">
          <a:xfrm>
            <a:off x="4965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7" name="Line 56">
            <a:extLst>
              <a:ext uri="{FF2B5EF4-FFF2-40B4-BE49-F238E27FC236}">
                <a16:creationId xmlns:a16="http://schemas.microsoft.com/office/drawing/2014/main" id="{E7D2E590-74DC-F142-8449-71E3171738F5}"/>
              </a:ext>
            </a:extLst>
          </p:cNvPr>
          <p:cNvSpPr>
            <a:spLocks noChangeShapeType="1"/>
          </p:cNvSpPr>
          <p:nvPr/>
        </p:nvSpPr>
        <p:spPr bwMode="auto">
          <a:xfrm>
            <a:off x="5334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38" name="Rectangle 57">
            <a:extLst>
              <a:ext uri="{FF2B5EF4-FFF2-40B4-BE49-F238E27FC236}">
                <a16:creationId xmlns:a16="http://schemas.microsoft.com/office/drawing/2014/main" id="{A3A57AFD-2E8F-2F43-82EA-2E3A289A2FF4}"/>
              </a:ext>
            </a:extLst>
          </p:cNvPr>
          <p:cNvSpPr>
            <a:spLocks noChangeArrowheads="1"/>
          </p:cNvSpPr>
          <p:nvPr/>
        </p:nvSpPr>
        <p:spPr bwMode="auto">
          <a:xfrm>
            <a:off x="4557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6</a:t>
            </a:r>
          </a:p>
        </p:txBody>
      </p:sp>
      <p:sp>
        <p:nvSpPr>
          <p:cNvPr id="157739" name="Line 58">
            <a:extLst>
              <a:ext uri="{FF2B5EF4-FFF2-40B4-BE49-F238E27FC236}">
                <a16:creationId xmlns:a16="http://schemas.microsoft.com/office/drawing/2014/main" id="{B8A39E65-C056-7949-9E6A-662ECC415995}"/>
              </a:ext>
            </a:extLst>
          </p:cNvPr>
          <p:cNvSpPr>
            <a:spLocks noChangeShapeType="1"/>
          </p:cNvSpPr>
          <p:nvPr/>
        </p:nvSpPr>
        <p:spPr bwMode="auto">
          <a:xfrm>
            <a:off x="5346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0" name="Line 59">
            <a:extLst>
              <a:ext uri="{FF2B5EF4-FFF2-40B4-BE49-F238E27FC236}">
                <a16:creationId xmlns:a16="http://schemas.microsoft.com/office/drawing/2014/main" id="{C078831C-FE01-0246-888C-F1669ABB09BD}"/>
              </a:ext>
            </a:extLst>
          </p:cNvPr>
          <p:cNvSpPr>
            <a:spLocks noChangeShapeType="1"/>
          </p:cNvSpPr>
          <p:nvPr/>
        </p:nvSpPr>
        <p:spPr bwMode="auto">
          <a:xfrm flipV="1">
            <a:off x="5715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1" name="Line 60">
            <a:extLst>
              <a:ext uri="{FF2B5EF4-FFF2-40B4-BE49-F238E27FC236}">
                <a16:creationId xmlns:a16="http://schemas.microsoft.com/office/drawing/2014/main" id="{2A7756C3-A06A-3542-9899-E007243E89C0}"/>
              </a:ext>
            </a:extLst>
          </p:cNvPr>
          <p:cNvSpPr>
            <a:spLocks noChangeShapeType="1"/>
          </p:cNvSpPr>
          <p:nvPr/>
        </p:nvSpPr>
        <p:spPr bwMode="auto">
          <a:xfrm>
            <a:off x="5727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2" name="Line 61">
            <a:extLst>
              <a:ext uri="{FF2B5EF4-FFF2-40B4-BE49-F238E27FC236}">
                <a16:creationId xmlns:a16="http://schemas.microsoft.com/office/drawing/2014/main" id="{658BBA20-8B37-764B-9509-0652FAF24EBD}"/>
              </a:ext>
            </a:extLst>
          </p:cNvPr>
          <p:cNvSpPr>
            <a:spLocks noChangeShapeType="1"/>
          </p:cNvSpPr>
          <p:nvPr/>
        </p:nvSpPr>
        <p:spPr bwMode="auto">
          <a:xfrm>
            <a:off x="6096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3" name="Line 62">
            <a:extLst>
              <a:ext uri="{FF2B5EF4-FFF2-40B4-BE49-F238E27FC236}">
                <a16:creationId xmlns:a16="http://schemas.microsoft.com/office/drawing/2014/main" id="{76BC7123-297F-1D49-9C86-6C01E3F6E1AE}"/>
              </a:ext>
            </a:extLst>
          </p:cNvPr>
          <p:cNvSpPr>
            <a:spLocks noChangeShapeType="1"/>
          </p:cNvSpPr>
          <p:nvPr/>
        </p:nvSpPr>
        <p:spPr bwMode="auto">
          <a:xfrm flipV="1">
            <a:off x="5334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4" name="Rectangle 63">
            <a:extLst>
              <a:ext uri="{FF2B5EF4-FFF2-40B4-BE49-F238E27FC236}">
                <a16:creationId xmlns:a16="http://schemas.microsoft.com/office/drawing/2014/main" id="{9FBE14BD-E1C8-DB40-AD4A-02665B8984CC}"/>
              </a:ext>
            </a:extLst>
          </p:cNvPr>
          <p:cNvSpPr>
            <a:spLocks noChangeArrowheads="1"/>
          </p:cNvSpPr>
          <p:nvPr/>
        </p:nvSpPr>
        <p:spPr bwMode="auto">
          <a:xfrm>
            <a:off x="5319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7</a:t>
            </a:r>
          </a:p>
        </p:txBody>
      </p:sp>
      <p:sp>
        <p:nvSpPr>
          <p:cNvPr id="157745" name="Line 64">
            <a:extLst>
              <a:ext uri="{FF2B5EF4-FFF2-40B4-BE49-F238E27FC236}">
                <a16:creationId xmlns:a16="http://schemas.microsoft.com/office/drawing/2014/main" id="{4B3E0339-9456-1A44-9C1D-268C2E4D14ED}"/>
              </a:ext>
            </a:extLst>
          </p:cNvPr>
          <p:cNvSpPr>
            <a:spLocks noChangeShapeType="1"/>
          </p:cNvSpPr>
          <p:nvPr/>
        </p:nvSpPr>
        <p:spPr bwMode="auto">
          <a:xfrm>
            <a:off x="6108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6" name="Line 65">
            <a:extLst>
              <a:ext uri="{FF2B5EF4-FFF2-40B4-BE49-F238E27FC236}">
                <a16:creationId xmlns:a16="http://schemas.microsoft.com/office/drawing/2014/main" id="{4AEBDE87-7122-AE41-BF53-D07973F1E5AF}"/>
              </a:ext>
            </a:extLst>
          </p:cNvPr>
          <p:cNvSpPr>
            <a:spLocks noChangeShapeType="1"/>
          </p:cNvSpPr>
          <p:nvPr/>
        </p:nvSpPr>
        <p:spPr bwMode="auto">
          <a:xfrm flipV="1">
            <a:off x="6477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7" name="Line 66">
            <a:extLst>
              <a:ext uri="{FF2B5EF4-FFF2-40B4-BE49-F238E27FC236}">
                <a16:creationId xmlns:a16="http://schemas.microsoft.com/office/drawing/2014/main" id="{13B5DCA6-210E-6F42-B6B3-BCF71448C698}"/>
              </a:ext>
            </a:extLst>
          </p:cNvPr>
          <p:cNvSpPr>
            <a:spLocks noChangeShapeType="1"/>
          </p:cNvSpPr>
          <p:nvPr/>
        </p:nvSpPr>
        <p:spPr bwMode="auto">
          <a:xfrm>
            <a:off x="6489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8" name="Line 67">
            <a:extLst>
              <a:ext uri="{FF2B5EF4-FFF2-40B4-BE49-F238E27FC236}">
                <a16:creationId xmlns:a16="http://schemas.microsoft.com/office/drawing/2014/main" id="{AB1029E2-4656-0840-92BF-61BFB38A37C9}"/>
              </a:ext>
            </a:extLst>
          </p:cNvPr>
          <p:cNvSpPr>
            <a:spLocks noChangeShapeType="1"/>
          </p:cNvSpPr>
          <p:nvPr/>
        </p:nvSpPr>
        <p:spPr bwMode="auto">
          <a:xfrm>
            <a:off x="6858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49" name="Line 68">
            <a:extLst>
              <a:ext uri="{FF2B5EF4-FFF2-40B4-BE49-F238E27FC236}">
                <a16:creationId xmlns:a16="http://schemas.microsoft.com/office/drawing/2014/main" id="{BC71D8F8-B9E9-BD46-9426-AD88FA11DF13}"/>
              </a:ext>
            </a:extLst>
          </p:cNvPr>
          <p:cNvSpPr>
            <a:spLocks noChangeShapeType="1"/>
          </p:cNvSpPr>
          <p:nvPr/>
        </p:nvSpPr>
        <p:spPr bwMode="auto">
          <a:xfrm flipV="1">
            <a:off x="6096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0" name="Rectangle 69">
            <a:extLst>
              <a:ext uri="{FF2B5EF4-FFF2-40B4-BE49-F238E27FC236}">
                <a16:creationId xmlns:a16="http://schemas.microsoft.com/office/drawing/2014/main" id="{E88F1930-7C35-194C-AE9D-7B4F90B40DFA}"/>
              </a:ext>
            </a:extLst>
          </p:cNvPr>
          <p:cNvSpPr>
            <a:spLocks noChangeArrowheads="1"/>
          </p:cNvSpPr>
          <p:nvPr/>
        </p:nvSpPr>
        <p:spPr bwMode="auto">
          <a:xfrm>
            <a:off x="6081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8</a:t>
            </a:r>
          </a:p>
        </p:txBody>
      </p:sp>
      <p:sp>
        <p:nvSpPr>
          <p:cNvPr id="157751" name="Line 70">
            <a:extLst>
              <a:ext uri="{FF2B5EF4-FFF2-40B4-BE49-F238E27FC236}">
                <a16:creationId xmlns:a16="http://schemas.microsoft.com/office/drawing/2014/main" id="{7FA6CACF-6165-644F-84EE-8A7A574F5388}"/>
              </a:ext>
            </a:extLst>
          </p:cNvPr>
          <p:cNvSpPr>
            <a:spLocks noChangeShapeType="1"/>
          </p:cNvSpPr>
          <p:nvPr/>
        </p:nvSpPr>
        <p:spPr bwMode="auto">
          <a:xfrm>
            <a:off x="6870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2" name="Line 71">
            <a:extLst>
              <a:ext uri="{FF2B5EF4-FFF2-40B4-BE49-F238E27FC236}">
                <a16:creationId xmlns:a16="http://schemas.microsoft.com/office/drawing/2014/main" id="{E0330D36-9B86-7143-A86A-7CFA16746A4B}"/>
              </a:ext>
            </a:extLst>
          </p:cNvPr>
          <p:cNvSpPr>
            <a:spLocks noChangeShapeType="1"/>
          </p:cNvSpPr>
          <p:nvPr/>
        </p:nvSpPr>
        <p:spPr bwMode="auto">
          <a:xfrm flipV="1">
            <a:off x="7239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3" name="Line 72">
            <a:extLst>
              <a:ext uri="{FF2B5EF4-FFF2-40B4-BE49-F238E27FC236}">
                <a16:creationId xmlns:a16="http://schemas.microsoft.com/office/drawing/2014/main" id="{C0660E31-C8CC-6447-8399-B08D31ACE553}"/>
              </a:ext>
            </a:extLst>
          </p:cNvPr>
          <p:cNvSpPr>
            <a:spLocks noChangeShapeType="1"/>
          </p:cNvSpPr>
          <p:nvPr/>
        </p:nvSpPr>
        <p:spPr bwMode="auto">
          <a:xfrm>
            <a:off x="7251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4" name="Line 73">
            <a:extLst>
              <a:ext uri="{FF2B5EF4-FFF2-40B4-BE49-F238E27FC236}">
                <a16:creationId xmlns:a16="http://schemas.microsoft.com/office/drawing/2014/main" id="{75A106DF-9BD3-EA4F-A854-10A68441C2AB}"/>
              </a:ext>
            </a:extLst>
          </p:cNvPr>
          <p:cNvSpPr>
            <a:spLocks noChangeShapeType="1"/>
          </p:cNvSpPr>
          <p:nvPr/>
        </p:nvSpPr>
        <p:spPr bwMode="auto">
          <a:xfrm>
            <a:off x="7620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5" name="Line 74">
            <a:extLst>
              <a:ext uri="{FF2B5EF4-FFF2-40B4-BE49-F238E27FC236}">
                <a16:creationId xmlns:a16="http://schemas.microsoft.com/office/drawing/2014/main" id="{FE351918-4383-AB4E-9801-8FD8CC6516C4}"/>
              </a:ext>
            </a:extLst>
          </p:cNvPr>
          <p:cNvSpPr>
            <a:spLocks noChangeShapeType="1"/>
          </p:cNvSpPr>
          <p:nvPr/>
        </p:nvSpPr>
        <p:spPr bwMode="auto">
          <a:xfrm flipV="1">
            <a:off x="6858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6" name="Rectangle 75">
            <a:extLst>
              <a:ext uri="{FF2B5EF4-FFF2-40B4-BE49-F238E27FC236}">
                <a16:creationId xmlns:a16="http://schemas.microsoft.com/office/drawing/2014/main" id="{F5D344C5-09C1-D449-AC2D-2BB312C33D83}"/>
              </a:ext>
            </a:extLst>
          </p:cNvPr>
          <p:cNvSpPr>
            <a:spLocks noChangeArrowheads="1"/>
          </p:cNvSpPr>
          <p:nvPr/>
        </p:nvSpPr>
        <p:spPr bwMode="auto">
          <a:xfrm>
            <a:off x="6843713" y="2900363"/>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9</a:t>
            </a:r>
          </a:p>
        </p:txBody>
      </p:sp>
      <p:sp>
        <p:nvSpPr>
          <p:cNvPr id="157757" name="Line 76">
            <a:extLst>
              <a:ext uri="{FF2B5EF4-FFF2-40B4-BE49-F238E27FC236}">
                <a16:creationId xmlns:a16="http://schemas.microsoft.com/office/drawing/2014/main" id="{7B432EE3-DA93-1C47-B50B-26C30F18C058}"/>
              </a:ext>
            </a:extLst>
          </p:cNvPr>
          <p:cNvSpPr>
            <a:spLocks noChangeShapeType="1"/>
          </p:cNvSpPr>
          <p:nvPr/>
        </p:nvSpPr>
        <p:spPr bwMode="auto">
          <a:xfrm>
            <a:off x="7632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8" name="Line 77">
            <a:extLst>
              <a:ext uri="{FF2B5EF4-FFF2-40B4-BE49-F238E27FC236}">
                <a16:creationId xmlns:a16="http://schemas.microsoft.com/office/drawing/2014/main" id="{EA26083D-0FB2-2B46-B85D-853BD480D837}"/>
              </a:ext>
            </a:extLst>
          </p:cNvPr>
          <p:cNvSpPr>
            <a:spLocks noChangeShapeType="1"/>
          </p:cNvSpPr>
          <p:nvPr/>
        </p:nvSpPr>
        <p:spPr bwMode="auto">
          <a:xfrm flipV="1">
            <a:off x="8001000" y="3268663"/>
            <a:ext cx="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9" name="Line 78">
            <a:extLst>
              <a:ext uri="{FF2B5EF4-FFF2-40B4-BE49-F238E27FC236}">
                <a16:creationId xmlns:a16="http://schemas.microsoft.com/office/drawing/2014/main" id="{FC367077-BB62-984A-8259-2A6254036C8A}"/>
              </a:ext>
            </a:extLst>
          </p:cNvPr>
          <p:cNvSpPr>
            <a:spLocks noChangeShapeType="1"/>
          </p:cNvSpPr>
          <p:nvPr/>
        </p:nvSpPr>
        <p:spPr bwMode="auto">
          <a:xfrm>
            <a:off x="8013700" y="32813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0" name="Line 79">
            <a:extLst>
              <a:ext uri="{FF2B5EF4-FFF2-40B4-BE49-F238E27FC236}">
                <a16:creationId xmlns:a16="http://schemas.microsoft.com/office/drawing/2014/main" id="{19C410C8-1D43-0E44-A9E8-48D5E2ACF641}"/>
              </a:ext>
            </a:extLst>
          </p:cNvPr>
          <p:cNvSpPr>
            <a:spLocks noChangeShapeType="1"/>
          </p:cNvSpPr>
          <p:nvPr/>
        </p:nvSpPr>
        <p:spPr bwMode="auto">
          <a:xfrm>
            <a:off x="8382000" y="3294063"/>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1" name="Line 80">
            <a:extLst>
              <a:ext uri="{FF2B5EF4-FFF2-40B4-BE49-F238E27FC236}">
                <a16:creationId xmlns:a16="http://schemas.microsoft.com/office/drawing/2014/main" id="{6C94BD77-4961-F641-BFA1-7C98901B2B2F}"/>
              </a:ext>
            </a:extLst>
          </p:cNvPr>
          <p:cNvSpPr>
            <a:spLocks noChangeShapeType="1"/>
          </p:cNvSpPr>
          <p:nvPr/>
        </p:nvSpPr>
        <p:spPr bwMode="auto">
          <a:xfrm flipV="1">
            <a:off x="7620000" y="2887663"/>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2" name="Rectangle 81">
            <a:extLst>
              <a:ext uri="{FF2B5EF4-FFF2-40B4-BE49-F238E27FC236}">
                <a16:creationId xmlns:a16="http://schemas.microsoft.com/office/drawing/2014/main" id="{7140A380-A688-204E-BC60-0FB209EB72B3}"/>
              </a:ext>
            </a:extLst>
          </p:cNvPr>
          <p:cNvSpPr>
            <a:spLocks noChangeArrowheads="1"/>
          </p:cNvSpPr>
          <p:nvPr/>
        </p:nvSpPr>
        <p:spPr bwMode="auto">
          <a:xfrm>
            <a:off x="7529513" y="2900363"/>
            <a:ext cx="9207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10</a:t>
            </a:r>
          </a:p>
        </p:txBody>
      </p:sp>
      <p:sp>
        <p:nvSpPr>
          <p:cNvPr id="157763" name="Line 82">
            <a:extLst>
              <a:ext uri="{FF2B5EF4-FFF2-40B4-BE49-F238E27FC236}">
                <a16:creationId xmlns:a16="http://schemas.microsoft.com/office/drawing/2014/main" id="{6DE122DF-54EC-3F48-98BA-E85A676C34F1}"/>
              </a:ext>
            </a:extLst>
          </p:cNvPr>
          <p:cNvSpPr>
            <a:spLocks noChangeShapeType="1"/>
          </p:cNvSpPr>
          <p:nvPr/>
        </p:nvSpPr>
        <p:spPr bwMode="auto">
          <a:xfrm>
            <a:off x="8394700" y="3509963"/>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4" name="Rectangle 83">
            <a:extLst>
              <a:ext uri="{FF2B5EF4-FFF2-40B4-BE49-F238E27FC236}">
                <a16:creationId xmlns:a16="http://schemas.microsoft.com/office/drawing/2014/main" id="{F4BE786E-BEF7-554F-979C-E16625FF9B29}"/>
              </a:ext>
            </a:extLst>
          </p:cNvPr>
          <p:cNvSpPr>
            <a:spLocks noChangeArrowheads="1"/>
          </p:cNvSpPr>
          <p:nvPr/>
        </p:nvSpPr>
        <p:spPr bwMode="auto">
          <a:xfrm>
            <a:off x="214313" y="5281613"/>
            <a:ext cx="6318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Load</a:t>
            </a:r>
          </a:p>
        </p:txBody>
      </p:sp>
      <p:grpSp>
        <p:nvGrpSpPr>
          <p:cNvPr id="157765" name="Group 99">
            <a:extLst>
              <a:ext uri="{FF2B5EF4-FFF2-40B4-BE49-F238E27FC236}">
                <a16:creationId xmlns:a16="http://schemas.microsoft.com/office/drawing/2014/main" id="{C432DC5B-CE1C-F04D-8FBF-C70A8FC85F17}"/>
              </a:ext>
            </a:extLst>
          </p:cNvPr>
          <p:cNvGrpSpPr>
            <a:grpSpLocks/>
          </p:cNvGrpSpPr>
          <p:nvPr/>
        </p:nvGrpSpPr>
        <p:grpSpPr bwMode="auto">
          <a:xfrm>
            <a:off x="774700" y="5281613"/>
            <a:ext cx="3784600" cy="333375"/>
            <a:chOff x="488" y="3264"/>
            <a:chExt cx="2384" cy="210"/>
          </a:xfrm>
        </p:grpSpPr>
        <p:grpSp>
          <p:nvGrpSpPr>
            <p:cNvPr id="157855" name="Group 86">
              <a:extLst>
                <a:ext uri="{FF2B5EF4-FFF2-40B4-BE49-F238E27FC236}">
                  <a16:creationId xmlns:a16="http://schemas.microsoft.com/office/drawing/2014/main" id="{8B0244FA-0A8F-434F-8809-C5DE45AD4580}"/>
                </a:ext>
              </a:extLst>
            </p:cNvPr>
            <p:cNvGrpSpPr>
              <a:grpSpLocks/>
            </p:cNvGrpSpPr>
            <p:nvPr/>
          </p:nvGrpSpPr>
          <p:grpSpPr bwMode="auto">
            <a:xfrm>
              <a:off x="488" y="3264"/>
              <a:ext cx="466" cy="210"/>
              <a:chOff x="488" y="3264"/>
              <a:chExt cx="466" cy="210"/>
            </a:xfrm>
          </p:grpSpPr>
          <p:sp>
            <p:nvSpPr>
              <p:cNvPr id="157868" name="Rectangle 84">
                <a:extLst>
                  <a:ext uri="{FF2B5EF4-FFF2-40B4-BE49-F238E27FC236}">
                    <a16:creationId xmlns:a16="http://schemas.microsoft.com/office/drawing/2014/main" id="{1CCF279C-4735-CB43-AEF6-7CB4176C4011}"/>
                  </a:ext>
                </a:extLst>
              </p:cNvPr>
              <p:cNvSpPr>
                <a:spLocks noChangeArrowheads="1"/>
              </p:cNvSpPr>
              <p:nvPr/>
            </p:nvSpPr>
            <p:spPr bwMode="auto">
              <a:xfrm>
                <a:off x="488" y="327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69" name="Rectangle 85">
                <a:extLst>
                  <a:ext uri="{FF2B5EF4-FFF2-40B4-BE49-F238E27FC236}">
                    <a16:creationId xmlns:a16="http://schemas.microsoft.com/office/drawing/2014/main" id="{A20668F7-D1D3-0746-AA6E-B65424E5423E}"/>
                  </a:ext>
                </a:extLst>
              </p:cNvPr>
              <p:cNvSpPr>
                <a:spLocks noChangeArrowheads="1"/>
              </p:cNvSpPr>
              <p:nvPr/>
            </p:nvSpPr>
            <p:spPr bwMode="auto">
              <a:xfrm>
                <a:off x="519" y="3264"/>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57856" name="Group 89">
              <a:extLst>
                <a:ext uri="{FF2B5EF4-FFF2-40B4-BE49-F238E27FC236}">
                  <a16:creationId xmlns:a16="http://schemas.microsoft.com/office/drawing/2014/main" id="{BE8525A2-DA06-4A42-B12F-B58AFFB2ABBA}"/>
                </a:ext>
              </a:extLst>
            </p:cNvPr>
            <p:cNvGrpSpPr>
              <a:grpSpLocks/>
            </p:cNvGrpSpPr>
            <p:nvPr/>
          </p:nvGrpSpPr>
          <p:grpSpPr bwMode="auto">
            <a:xfrm>
              <a:off x="968" y="3264"/>
              <a:ext cx="464" cy="210"/>
              <a:chOff x="968" y="3264"/>
              <a:chExt cx="464" cy="210"/>
            </a:xfrm>
          </p:grpSpPr>
          <p:sp>
            <p:nvSpPr>
              <p:cNvPr id="157866" name="Rectangle 87">
                <a:extLst>
                  <a:ext uri="{FF2B5EF4-FFF2-40B4-BE49-F238E27FC236}">
                    <a16:creationId xmlns:a16="http://schemas.microsoft.com/office/drawing/2014/main" id="{99B9A6DA-4153-3A4C-85AC-B2FBEC4A6C52}"/>
                  </a:ext>
                </a:extLst>
              </p:cNvPr>
              <p:cNvSpPr>
                <a:spLocks noChangeArrowheads="1"/>
              </p:cNvSpPr>
              <p:nvPr/>
            </p:nvSpPr>
            <p:spPr bwMode="auto">
              <a:xfrm>
                <a:off x="968" y="327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67" name="Rectangle 88">
                <a:extLst>
                  <a:ext uri="{FF2B5EF4-FFF2-40B4-BE49-F238E27FC236}">
                    <a16:creationId xmlns:a16="http://schemas.microsoft.com/office/drawing/2014/main" id="{2439CA07-D9CD-FF4A-BA32-7A1B93D3A819}"/>
                  </a:ext>
                </a:extLst>
              </p:cNvPr>
              <p:cNvSpPr>
                <a:spLocks noChangeArrowheads="1"/>
              </p:cNvSpPr>
              <p:nvPr/>
            </p:nvSpPr>
            <p:spPr bwMode="auto">
              <a:xfrm>
                <a:off x="1047" y="3264"/>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grpSp>
          <p:nvGrpSpPr>
            <p:cNvPr id="157857" name="Group 92">
              <a:extLst>
                <a:ext uri="{FF2B5EF4-FFF2-40B4-BE49-F238E27FC236}">
                  <a16:creationId xmlns:a16="http://schemas.microsoft.com/office/drawing/2014/main" id="{1613A58C-8896-904B-A370-1C59C7856C89}"/>
                </a:ext>
              </a:extLst>
            </p:cNvPr>
            <p:cNvGrpSpPr>
              <a:grpSpLocks/>
            </p:cNvGrpSpPr>
            <p:nvPr/>
          </p:nvGrpSpPr>
          <p:grpSpPr bwMode="auto">
            <a:xfrm>
              <a:off x="1448" y="3264"/>
              <a:ext cx="464" cy="210"/>
              <a:chOff x="1448" y="3264"/>
              <a:chExt cx="464" cy="210"/>
            </a:xfrm>
          </p:grpSpPr>
          <p:sp>
            <p:nvSpPr>
              <p:cNvPr id="157864" name="Rectangle 90">
                <a:extLst>
                  <a:ext uri="{FF2B5EF4-FFF2-40B4-BE49-F238E27FC236}">
                    <a16:creationId xmlns:a16="http://schemas.microsoft.com/office/drawing/2014/main" id="{354172AE-48B1-1A4A-866F-DB97B8D8CD7E}"/>
                  </a:ext>
                </a:extLst>
              </p:cNvPr>
              <p:cNvSpPr>
                <a:spLocks noChangeArrowheads="1"/>
              </p:cNvSpPr>
              <p:nvPr/>
            </p:nvSpPr>
            <p:spPr bwMode="auto">
              <a:xfrm>
                <a:off x="1448" y="327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65" name="Rectangle 91">
                <a:extLst>
                  <a:ext uri="{FF2B5EF4-FFF2-40B4-BE49-F238E27FC236}">
                    <a16:creationId xmlns:a16="http://schemas.microsoft.com/office/drawing/2014/main" id="{3B05A0E2-1B1A-1F44-8563-12B3AFCB3A9A}"/>
                  </a:ext>
                </a:extLst>
              </p:cNvPr>
              <p:cNvSpPr>
                <a:spLocks noChangeArrowheads="1"/>
              </p:cNvSpPr>
              <p:nvPr/>
            </p:nvSpPr>
            <p:spPr bwMode="auto">
              <a:xfrm>
                <a:off x="1479" y="3264"/>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57858" name="Group 95">
              <a:extLst>
                <a:ext uri="{FF2B5EF4-FFF2-40B4-BE49-F238E27FC236}">
                  <a16:creationId xmlns:a16="http://schemas.microsoft.com/office/drawing/2014/main" id="{EE5D9AB8-F1FC-F742-9995-F2BFC4EA7633}"/>
                </a:ext>
              </a:extLst>
            </p:cNvPr>
            <p:cNvGrpSpPr>
              <a:grpSpLocks/>
            </p:cNvGrpSpPr>
            <p:nvPr/>
          </p:nvGrpSpPr>
          <p:grpSpPr bwMode="auto">
            <a:xfrm>
              <a:off x="1928" y="3264"/>
              <a:ext cx="464" cy="210"/>
              <a:chOff x="1928" y="3264"/>
              <a:chExt cx="464" cy="210"/>
            </a:xfrm>
          </p:grpSpPr>
          <p:sp>
            <p:nvSpPr>
              <p:cNvPr id="157862" name="Rectangle 93">
                <a:extLst>
                  <a:ext uri="{FF2B5EF4-FFF2-40B4-BE49-F238E27FC236}">
                    <a16:creationId xmlns:a16="http://schemas.microsoft.com/office/drawing/2014/main" id="{8117738F-8194-6148-A592-359FA27AAD23}"/>
                  </a:ext>
                </a:extLst>
              </p:cNvPr>
              <p:cNvSpPr>
                <a:spLocks noChangeArrowheads="1"/>
              </p:cNvSpPr>
              <p:nvPr/>
            </p:nvSpPr>
            <p:spPr bwMode="auto">
              <a:xfrm>
                <a:off x="1928" y="327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63" name="Rectangle 94">
                <a:extLst>
                  <a:ext uri="{FF2B5EF4-FFF2-40B4-BE49-F238E27FC236}">
                    <a16:creationId xmlns:a16="http://schemas.microsoft.com/office/drawing/2014/main" id="{B325CFF3-87FE-2747-9AF9-0B7FD955C6D0}"/>
                  </a:ext>
                </a:extLst>
              </p:cNvPr>
              <p:cNvSpPr>
                <a:spLocks noChangeArrowheads="1"/>
              </p:cNvSpPr>
              <p:nvPr/>
            </p:nvSpPr>
            <p:spPr bwMode="auto">
              <a:xfrm>
                <a:off x="1959" y="3264"/>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57859" name="Group 98">
              <a:extLst>
                <a:ext uri="{FF2B5EF4-FFF2-40B4-BE49-F238E27FC236}">
                  <a16:creationId xmlns:a16="http://schemas.microsoft.com/office/drawing/2014/main" id="{245B38D3-28C9-404A-80E0-776EBFEEE768}"/>
                </a:ext>
              </a:extLst>
            </p:cNvPr>
            <p:cNvGrpSpPr>
              <a:grpSpLocks/>
            </p:cNvGrpSpPr>
            <p:nvPr/>
          </p:nvGrpSpPr>
          <p:grpSpPr bwMode="auto">
            <a:xfrm>
              <a:off x="2408" y="3264"/>
              <a:ext cx="464" cy="210"/>
              <a:chOff x="2408" y="3264"/>
              <a:chExt cx="464" cy="210"/>
            </a:xfrm>
          </p:grpSpPr>
          <p:sp>
            <p:nvSpPr>
              <p:cNvPr id="157860" name="Rectangle 96">
                <a:extLst>
                  <a:ext uri="{FF2B5EF4-FFF2-40B4-BE49-F238E27FC236}">
                    <a16:creationId xmlns:a16="http://schemas.microsoft.com/office/drawing/2014/main" id="{390848EE-FB8B-BC46-987E-31864D701F4D}"/>
                  </a:ext>
                </a:extLst>
              </p:cNvPr>
              <p:cNvSpPr>
                <a:spLocks noChangeArrowheads="1"/>
              </p:cNvSpPr>
              <p:nvPr/>
            </p:nvSpPr>
            <p:spPr bwMode="auto">
              <a:xfrm>
                <a:off x="2408" y="327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61" name="Rectangle 97">
                <a:extLst>
                  <a:ext uri="{FF2B5EF4-FFF2-40B4-BE49-F238E27FC236}">
                    <a16:creationId xmlns:a16="http://schemas.microsoft.com/office/drawing/2014/main" id="{B98DE2ED-6C92-2A4D-8518-A0DAFC0BCC24}"/>
                  </a:ext>
                </a:extLst>
              </p:cNvPr>
              <p:cNvSpPr>
                <a:spLocks noChangeArrowheads="1"/>
              </p:cNvSpPr>
              <p:nvPr/>
            </p:nvSpPr>
            <p:spPr bwMode="auto">
              <a:xfrm>
                <a:off x="2487" y="3264"/>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grpSp>
        <p:nvGrpSpPr>
          <p:cNvPr id="157766" name="Group 102">
            <a:extLst>
              <a:ext uri="{FF2B5EF4-FFF2-40B4-BE49-F238E27FC236}">
                <a16:creationId xmlns:a16="http://schemas.microsoft.com/office/drawing/2014/main" id="{06E67B05-F393-B64D-9C0F-59D3CF761A7D}"/>
              </a:ext>
            </a:extLst>
          </p:cNvPr>
          <p:cNvGrpSpPr>
            <a:grpSpLocks/>
          </p:cNvGrpSpPr>
          <p:nvPr/>
        </p:nvGrpSpPr>
        <p:grpSpPr bwMode="auto">
          <a:xfrm>
            <a:off x="4584700" y="4424363"/>
            <a:ext cx="739775" cy="333375"/>
            <a:chOff x="2888" y="2544"/>
            <a:chExt cx="466" cy="210"/>
          </a:xfrm>
        </p:grpSpPr>
        <p:sp>
          <p:nvSpPr>
            <p:cNvPr id="157853" name="Rectangle 100">
              <a:extLst>
                <a:ext uri="{FF2B5EF4-FFF2-40B4-BE49-F238E27FC236}">
                  <a16:creationId xmlns:a16="http://schemas.microsoft.com/office/drawing/2014/main" id="{B81546ED-1599-1641-A400-326EE22550DC}"/>
                </a:ext>
              </a:extLst>
            </p:cNvPr>
            <p:cNvSpPr>
              <a:spLocks noChangeArrowheads="1"/>
            </p:cNvSpPr>
            <p:nvPr/>
          </p:nvSpPr>
          <p:spPr bwMode="auto">
            <a:xfrm>
              <a:off x="288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54" name="Rectangle 101">
              <a:extLst>
                <a:ext uri="{FF2B5EF4-FFF2-40B4-BE49-F238E27FC236}">
                  <a16:creationId xmlns:a16="http://schemas.microsoft.com/office/drawing/2014/main" id="{6E50F398-AC90-3445-9C23-36E9A6D070F8}"/>
                </a:ext>
              </a:extLst>
            </p:cNvPr>
            <p:cNvSpPr>
              <a:spLocks noChangeArrowheads="1"/>
            </p:cNvSpPr>
            <p:nvPr/>
          </p:nvSpPr>
          <p:spPr bwMode="auto">
            <a:xfrm>
              <a:off x="2919" y="2544"/>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57767" name="Group 105">
            <a:extLst>
              <a:ext uri="{FF2B5EF4-FFF2-40B4-BE49-F238E27FC236}">
                <a16:creationId xmlns:a16="http://schemas.microsoft.com/office/drawing/2014/main" id="{EAE31D5C-6429-9545-8933-EAF263BEEFE8}"/>
              </a:ext>
            </a:extLst>
          </p:cNvPr>
          <p:cNvGrpSpPr>
            <a:grpSpLocks/>
          </p:cNvGrpSpPr>
          <p:nvPr/>
        </p:nvGrpSpPr>
        <p:grpSpPr bwMode="auto">
          <a:xfrm>
            <a:off x="5346700" y="4424363"/>
            <a:ext cx="736600" cy="333375"/>
            <a:chOff x="3368" y="2544"/>
            <a:chExt cx="464" cy="210"/>
          </a:xfrm>
        </p:grpSpPr>
        <p:sp>
          <p:nvSpPr>
            <p:cNvPr id="157851" name="Rectangle 103">
              <a:extLst>
                <a:ext uri="{FF2B5EF4-FFF2-40B4-BE49-F238E27FC236}">
                  <a16:creationId xmlns:a16="http://schemas.microsoft.com/office/drawing/2014/main" id="{9A8F0E2B-B2C2-9348-9537-4448463F9BDE}"/>
                </a:ext>
              </a:extLst>
            </p:cNvPr>
            <p:cNvSpPr>
              <a:spLocks noChangeArrowheads="1"/>
            </p:cNvSpPr>
            <p:nvPr/>
          </p:nvSpPr>
          <p:spPr bwMode="auto">
            <a:xfrm>
              <a:off x="336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52" name="Rectangle 104">
              <a:extLst>
                <a:ext uri="{FF2B5EF4-FFF2-40B4-BE49-F238E27FC236}">
                  <a16:creationId xmlns:a16="http://schemas.microsoft.com/office/drawing/2014/main" id="{71120EC0-FF8F-6F41-BF1A-593366E1E658}"/>
                </a:ext>
              </a:extLst>
            </p:cNvPr>
            <p:cNvSpPr>
              <a:spLocks noChangeArrowheads="1"/>
            </p:cNvSpPr>
            <p:nvPr/>
          </p:nvSpPr>
          <p:spPr bwMode="auto">
            <a:xfrm>
              <a:off x="3447" y="2544"/>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grpSp>
        <p:nvGrpSpPr>
          <p:cNvPr id="157768" name="Group 108">
            <a:extLst>
              <a:ext uri="{FF2B5EF4-FFF2-40B4-BE49-F238E27FC236}">
                <a16:creationId xmlns:a16="http://schemas.microsoft.com/office/drawing/2014/main" id="{43DE0C52-4E06-B648-8F97-0DE80190B866}"/>
              </a:ext>
            </a:extLst>
          </p:cNvPr>
          <p:cNvGrpSpPr>
            <a:grpSpLocks/>
          </p:cNvGrpSpPr>
          <p:nvPr/>
        </p:nvGrpSpPr>
        <p:grpSpPr bwMode="auto">
          <a:xfrm>
            <a:off x="6108700" y="4424363"/>
            <a:ext cx="736600" cy="333375"/>
            <a:chOff x="3848" y="2544"/>
            <a:chExt cx="464" cy="210"/>
          </a:xfrm>
        </p:grpSpPr>
        <p:sp>
          <p:nvSpPr>
            <p:cNvPr id="157849" name="Rectangle 106">
              <a:extLst>
                <a:ext uri="{FF2B5EF4-FFF2-40B4-BE49-F238E27FC236}">
                  <a16:creationId xmlns:a16="http://schemas.microsoft.com/office/drawing/2014/main" id="{6C66B199-0AC1-2B48-AF70-33BDA7F2AFD1}"/>
                </a:ext>
              </a:extLst>
            </p:cNvPr>
            <p:cNvSpPr>
              <a:spLocks noChangeArrowheads="1"/>
            </p:cNvSpPr>
            <p:nvPr/>
          </p:nvSpPr>
          <p:spPr bwMode="auto">
            <a:xfrm>
              <a:off x="384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50" name="Rectangle 107">
              <a:extLst>
                <a:ext uri="{FF2B5EF4-FFF2-40B4-BE49-F238E27FC236}">
                  <a16:creationId xmlns:a16="http://schemas.microsoft.com/office/drawing/2014/main" id="{4FE893C0-BA75-4A4C-944B-0F47CE0564B1}"/>
                </a:ext>
              </a:extLst>
            </p:cNvPr>
            <p:cNvSpPr>
              <a:spLocks noChangeArrowheads="1"/>
            </p:cNvSpPr>
            <p:nvPr/>
          </p:nvSpPr>
          <p:spPr bwMode="auto">
            <a:xfrm>
              <a:off x="3879" y="2544"/>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57769" name="Group 111">
            <a:extLst>
              <a:ext uri="{FF2B5EF4-FFF2-40B4-BE49-F238E27FC236}">
                <a16:creationId xmlns:a16="http://schemas.microsoft.com/office/drawing/2014/main" id="{D8948B22-C781-CB4F-AC7B-16853875903B}"/>
              </a:ext>
            </a:extLst>
          </p:cNvPr>
          <p:cNvGrpSpPr>
            <a:grpSpLocks/>
          </p:cNvGrpSpPr>
          <p:nvPr/>
        </p:nvGrpSpPr>
        <p:grpSpPr bwMode="auto">
          <a:xfrm>
            <a:off x="6870700" y="4424363"/>
            <a:ext cx="736600" cy="333375"/>
            <a:chOff x="4328" y="2544"/>
            <a:chExt cx="464" cy="210"/>
          </a:xfrm>
        </p:grpSpPr>
        <p:sp>
          <p:nvSpPr>
            <p:cNvPr id="157847" name="Rectangle 109">
              <a:extLst>
                <a:ext uri="{FF2B5EF4-FFF2-40B4-BE49-F238E27FC236}">
                  <a16:creationId xmlns:a16="http://schemas.microsoft.com/office/drawing/2014/main" id="{B0C0A436-DA91-E24F-A2A0-9CB8AC2D5E91}"/>
                </a:ext>
              </a:extLst>
            </p:cNvPr>
            <p:cNvSpPr>
              <a:spLocks noChangeArrowheads="1"/>
            </p:cNvSpPr>
            <p:nvPr/>
          </p:nvSpPr>
          <p:spPr bwMode="auto">
            <a:xfrm>
              <a:off x="432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48" name="Rectangle 110">
              <a:extLst>
                <a:ext uri="{FF2B5EF4-FFF2-40B4-BE49-F238E27FC236}">
                  <a16:creationId xmlns:a16="http://schemas.microsoft.com/office/drawing/2014/main" id="{DD181DE8-90B9-C540-B06A-A59B2FA1D2E5}"/>
                </a:ext>
              </a:extLst>
            </p:cNvPr>
            <p:cNvSpPr>
              <a:spLocks noChangeArrowheads="1"/>
            </p:cNvSpPr>
            <p:nvPr/>
          </p:nvSpPr>
          <p:spPr bwMode="auto">
            <a:xfrm>
              <a:off x="4359" y="2544"/>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sp>
        <p:nvSpPr>
          <p:cNvPr id="157770" name="Rectangle 112">
            <a:extLst>
              <a:ext uri="{FF2B5EF4-FFF2-40B4-BE49-F238E27FC236}">
                <a16:creationId xmlns:a16="http://schemas.microsoft.com/office/drawing/2014/main" id="{603C5EE7-D09A-EF48-B51D-408BAE21A403}"/>
              </a:ext>
            </a:extLst>
          </p:cNvPr>
          <p:cNvSpPr>
            <a:spLocks noChangeArrowheads="1"/>
          </p:cNvSpPr>
          <p:nvPr/>
        </p:nvSpPr>
        <p:spPr bwMode="auto">
          <a:xfrm>
            <a:off x="747713" y="4119563"/>
            <a:ext cx="6318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Load</a:t>
            </a:r>
          </a:p>
        </p:txBody>
      </p:sp>
      <p:sp>
        <p:nvSpPr>
          <p:cNvPr id="157771" name="Rectangle 113">
            <a:extLst>
              <a:ext uri="{FF2B5EF4-FFF2-40B4-BE49-F238E27FC236}">
                <a16:creationId xmlns:a16="http://schemas.microsoft.com/office/drawing/2014/main" id="{809A0734-2F7B-5A4C-A746-7B973108DFEA}"/>
              </a:ext>
            </a:extLst>
          </p:cNvPr>
          <p:cNvSpPr>
            <a:spLocks noChangeArrowheads="1"/>
          </p:cNvSpPr>
          <p:nvPr/>
        </p:nvSpPr>
        <p:spPr bwMode="auto">
          <a:xfrm>
            <a:off x="4557713" y="4119563"/>
            <a:ext cx="644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Store</a:t>
            </a:r>
          </a:p>
        </p:txBody>
      </p:sp>
      <p:sp>
        <p:nvSpPr>
          <p:cNvPr id="157772" name="Line 114">
            <a:extLst>
              <a:ext uri="{FF2B5EF4-FFF2-40B4-BE49-F238E27FC236}">
                <a16:creationId xmlns:a16="http://schemas.microsoft.com/office/drawing/2014/main" id="{0C63343A-067B-C644-9C89-DBA983338B6B}"/>
              </a:ext>
            </a:extLst>
          </p:cNvPr>
          <p:cNvSpPr>
            <a:spLocks noChangeShapeType="1"/>
          </p:cNvSpPr>
          <p:nvPr/>
        </p:nvSpPr>
        <p:spPr bwMode="auto">
          <a:xfrm flipV="1">
            <a:off x="4572000" y="3497263"/>
            <a:ext cx="0" cy="9398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3" name="Rectangle 115">
            <a:extLst>
              <a:ext uri="{FF2B5EF4-FFF2-40B4-BE49-F238E27FC236}">
                <a16:creationId xmlns:a16="http://schemas.microsoft.com/office/drawing/2014/main" id="{AF13E626-806C-BA46-8349-B96C7C0103BF}"/>
              </a:ext>
            </a:extLst>
          </p:cNvPr>
          <p:cNvSpPr>
            <a:spLocks noChangeArrowheads="1"/>
          </p:cNvSpPr>
          <p:nvPr/>
        </p:nvSpPr>
        <p:spPr bwMode="auto">
          <a:xfrm>
            <a:off x="214313" y="4900613"/>
            <a:ext cx="2393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Pipeline Implementation:</a:t>
            </a:r>
          </a:p>
        </p:txBody>
      </p:sp>
      <p:grpSp>
        <p:nvGrpSpPr>
          <p:cNvPr id="157774" name="Group 131">
            <a:extLst>
              <a:ext uri="{FF2B5EF4-FFF2-40B4-BE49-F238E27FC236}">
                <a16:creationId xmlns:a16="http://schemas.microsoft.com/office/drawing/2014/main" id="{4CD0E0A5-ADE5-024F-ACDD-889F06E6F7EC}"/>
              </a:ext>
            </a:extLst>
          </p:cNvPr>
          <p:cNvGrpSpPr>
            <a:grpSpLocks/>
          </p:cNvGrpSpPr>
          <p:nvPr/>
        </p:nvGrpSpPr>
        <p:grpSpPr bwMode="auto">
          <a:xfrm>
            <a:off x="1536700" y="5738813"/>
            <a:ext cx="3784600" cy="333375"/>
            <a:chOff x="968" y="3552"/>
            <a:chExt cx="2384" cy="210"/>
          </a:xfrm>
        </p:grpSpPr>
        <p:grpSp>
          <p:nvGrpSpPr>
            <p:cNvPr id="157832" name="Group 118">
              <a:extLst>
                <a:ext uri="{FF2B5EF4-FFF2-40B4-BE49-F238E27FC236}">
                  <a16:creationId xmlns:a16="http://schemas.microsoft.com/office/drawing/2014/main" id="{D9D232C9-3538-D947-96B0-A003B6A8A570}"/>
                </a:ext>
              </a:extLst>
            </p:cNvPr>
            <p:cNvGrpSpPr>
              <a:grpSpLocks/>
            </p:cNvGrpSpPr>
            <p:nvPr/>
          </p:nvGrpSpPr>
          <p:grpSpPr bwMode="auto">
            <a:xfrm>
              <a:off x="968" y="3552"/>
              <a:ext cx="466" cy="210"/>
              <a:chOff x="968" y="3552"/>
              <a:chExt cx="466" cy="210"/>
            </a:xfrm>
          </p:grpSpPr>
          <p:sp>
            <p:nvSpPr>
              <p:cNvPr id="157845" name="Rectangle 116">
                <a:extLst>
                  <a:ext uri="{FF2B5EF4-FFF2-40B4-BE49-F238E27FC236}">
                    <a16:creationId xmlns:a16="http://schemas.microsoft.com/office/drawing/2014/main" id="{20D70512-F50F-B045-B563-6278C4E08616}"/>
                  </a:ext>
                </a:extLst>
              </p:cNvPr>
              <p:cNvSpPr>
                <a:spLocks noChangeArrowheads="1"/>
              </p:cNvSpPr>
              <p:nvPr/>
            </p:nvSpPr>
            <p:spPr bwMode="auto">
              <a:xfrm>
                <a:off x="968" y="3560"/>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46" name="Rectangle 117">
                <a:extLst>
                  <a:ext uri="{FF2B5EF4-FFF2-40B4-BE49-F238E27FC236}">
                    <a16:creationId xmlns:a16="http://schemas.microsoft.com/office/drawing/2014/main" id="{AB3D9CB1-3A94-A946-955C-968FE99EB8D4}"/>
                  </a:ext>
                </a:extLst>
              </p:cNvPr>
              <p:cNvSpPr>
                <a:spLocks noChangeArrowheads="1"/>
              </p:cNvSpPr>
              <p:nvPr/>
            </p:nvSpPr>
            <p:spPr bwMode="auto">
              <a:xfrm>
                <a:off x="999" y="3552"/>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57833" name="Group 121">
              <a:extLst>
                <a:ext uri="{FF2B5EF4-FFF2-40B4-BE49-F238E27FC236}">
                  <a16:creationId xmlns:a16="http://schemas.microsoft.com/office/drawing/2014/main" id="{0CBDEBD1-D5B0-CD40-A8F3-1D2D93F79CB3}"/>
                </a:ext>
              </a:extLst>
            </p:cNvPr>
            <p:cNvGrpSpPr>
              <a:grpSpLocks/>
            </p:cNvGrpSpPr>
            <p:nvPr/>
          </p:nvGrpSpPr>
          <p:grpSpPr bwMode="auto">
            <a:xfrm>
              <a:off x="1448" y="3552"/>
              <a:ext cx="464" cy="210"/>
              <a:chOff x="1448" y="3552"/>
              <a:chExt cx="464" cy="210"/>
            </a:xfrm>
          </p:grpSpPr>
          <p:sp>
            <p:nvSpPr>
              <p:cNvPr id="157843" name="Rectangle 119">
                <a:extLst>
                  <a:ext uri="{FF2B5EF4-FFF2-40B4-BE49-F238E27FC236}">
                    <a16:creationId xmlns:a16="http://schemas.microsoft.com/office/drawing/2014/main" id="{37F8F1F3-070B-D849-80BB-6265A87C4AFC}"/>
                  </a:ext>
                </a:extLst>
              </p:cNvPr>
              <p:cNvSpPr>
                <a:spLocks noChangeArrowheads="1"/>
              </p:cNvSpPr>
              <p:nvPr/>
            </p:nvSpPr>
            <p:spPr bwMode="auto">
              <a:xfrm>
                <a:off x="1448" y="3560"/>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44" name="Rectangle 120">
                <a:extLst>
                  <a:ext uri="{FF2B5EF4-FFF2-40B4-BE49-F238E27FC236}">
                    <a16:creationId xmlns:a16="http://schemas.microsoft.com/office/drawing/2014/main" id="{4C87E767-0C3B-B940-987B-980EE82A1238}"/>
                  </a:ext>
                </a:extLst>
              </p:cNvPr>
              <p:cNvSpPr>
                <a:spLocks noChangeArrowheads="1"/>
              </p:cNvSpPr>
              <p:nvPr/>
            </p:nvSpPr>
            <p:spPr bwMode="auto">
              <a:xfrm>
                <a:off x="1527" y="3552"/>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grpSp>
          <p:nvGrpSpPr>
            <p:cNvPr id="157834" name="Group 124">
              <a:extLst>
                <a:ext uri="{FF2B5EF4-FFF2-40B4-BE49-F238E27FC236}">
                  <a16:creationId xmlns:a16="http://schemas.microsoft.com/office/drawing/2014/main" id="{F114CCC8-CF29-7149-9B83-EF2A9B5DF5A6}"/>
                </a:ext>
              </a:extLst>
            </p:cNvPr>
            <p:cNvGrpSpPr>
              <a:grpSpLocks/>
            </p:cNvGrpSpPr>
            <p:nvPr/>
          </p:nvGrpSpPr>
          <p:grpSpPr bwMode="auto">
            <a:xfrm>
              <a:off x="1928" y="3552"/>
              <a:ext cx="464" cy="210"/>
              <a:chOff x="1928" y="3552"/>
              <a:chExt cx="464" cy="210"/>
            </a:xfrm>
          </p:grpSpPr>
          <p:sp>
            <p:nvSpPr>
              <p:cNvPr id="157841" name="Rectangle 122">
                <a:extLst>
                  <a:ext uri="{FF2B5EF4-FFF2-40B4-BE49-F238E27FC236}">
                    <a16:creationId xmlns:a16="http://schemas.microsoft.com/office/drawing/2014/main" id="{58214275-5A45-C042-A3FA-A7565C15CCE4}"/>
                  </a:ext>
                </a:extLst>
              </p:cNvPr>
              <p:cNvSpPr>
                <a:spLocks noChangeArrowheads="1"/>
              </p:cNvSpPr>
              <p:nvPr/>
            </p:nvSpPr>
            <p:spPr bwMode="auto">
              <a:xfrm>
                <a:off x="1928" y="3560"/>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42" name="Rectangle 123">
                <a:extLst>
                  <a:ext uri="{FF2B5EF4-FFF2-40B4-BE49-F238E27FC236}">
                    <a16:creationId xmlns:a16="http://schemas.microsoft.com/office/drawing/2014/main" id="{4164D3BF-4927-8241-97E8-A940B93BAE8D}"/>
                  </a:ext>
                </a:extLst>
              </p:cNvPr>
              <p:cNvSpPr>
                <a:spLocks noChangeArrowheads="1"/>
              </p:cNvSpPr>
              <p:nvPr/>
            </p:nvSpPr>
            <p:spPr bwMode="auto">
              <a:xfrm>
                <a:off x="1959" y="3552"/>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57835" name="Group 127">
              <a:extLst>
                <a:ext uri="{FF2B5EF4-FFF2-40B4-BE49-F238E27FC236}">
                  <a16:creationId xmlns:a16="http://schemas.microsoft.com/office/drawing/2014/main" id="{25964D21-77EF-E44B-9B1C-0F92624641B1}"/>
                </a:ext>
              </a:extLst>
            </p:cNvPr>
            <p:cNvGrpSpPr>
              <a:grpSpLocks/>
            </p:cNvGrpSpPr>
            <p:nvPr/>
          </p:nvGrpSpPr>
          <p:grpSpPr bwMode="auto">
            <a:xfrm>
              <a:off x="2408" y="3552"/>
              <a:ext cx="464" cy="210"/>
              <a:chOff x="2408" y="3552"/>
              <a:chExt cx="464" cy="210"/>
            </a:xfrm>
          </p:grpSpPr>
          <p:sp>
            <p:nvSpPr>
              <p:cNvPr id="157839" name="Rectangle 125">
                <a:extLst>
                  <a:ext uri="{FF2B5EF4-FFF2-40B4-BE49-F238E27FC236}">
                    <a16:creationId xmlns:a16="http://schemas.microsoft.com/office/drawing/2014/main" id="{FF66A404-B35C-BD4E-8496-9579F3AE8B40}"/>
                  </a:ext>
                </a:extLst>
              </p:cNvPr>
              <p:cNvSpPr>
                <a:spLocks noChangeArrowheads="1"/>
              </p:cNvSpPr>
              <p:nvPr/>
            </p:nvSpPr>
            <p:spPr bwMode="auto">
              <a:xfrm>
                <a:off x="2408" y="3560"/>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40" name="Rectangle 126">
                <a:extLst>
                  <a:ext uri="{FF2B5EF4-FFF2-40B4-BE49-F238E27FC236}">
                    <a16:creationId xmlns:a16="http://schemas.microsoft.com/office/drawing/2014/main" id="{E0FE5CF3-EC90-8F49-B952-C612F1F9270C}"/>
                  </a:ext>
                </a:extLst>
              </p:cNvPr>
              <p:cNvSpPr>
                <a:spLocks noChangeArrowheads="1"/>
              </p:cNvSpPr>
              <p:nvPr/>
            </p:nvSpPr>
            <p:spPr bwMode="auto">
              <a:xfrm>
                <a:off x="2439" y="3552"/>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57836" name="Group 130">
              <a:extLst>
                <a:ext uri="{FF2B5EF4-FFF2-40B4-BE49-F238E27FC236}">
                  <a16:creationId xmlns:a16="http://schemas.microsoft.com/office/drawing/2014/main" id="{B3B45B96-9C06-D641-B8D8-773A36EA4BA9}"/>
                </a:ext>
              </a:extLst>
            </p:cNvPr>
            <p:cNvGrpSpPr>
              <a:grpSpLocks/>
            </p:cNvGrpSpPr>
            <p:nvPr/>
          </p:nvGrpSpPr>
          <p:grpSpPr bwMode="auto">
            <a:xfrm>
              <a:off x="2888" y="3552"/>
              <a:ext cx="464" cy="210"/>
              <a:chOff x="2888" y="3552"/>
              <a:chExt cx="464" cy="210"/>
            </a:xfrm>
          </p:grpSpPr>
          <p:sp>
            <p:nvSpPr>
              <p:cNvPr id="157837" name="Rectangle 128">
                <a:extLst>
                  <a:ext uri="{FF2B5EF4-FFF2-40B4-BE49-F238E27FC236}">
                    <a16:creationId xmlns:a16="http://schemas.microsoft.com/office/drawing/2014/main" id="{E09C14F0-9E83-334F-A229-8BC1B66E3028}"/>
                  </a:ext>
                </a:extLst>
              </p:cNvPr>
              <p:cNvSpPr>
                <a:spLocks noChangeArrowheads="1"/>
              </p:cNvSpPr>
              <p:nvPr/>
            </p:nvSpPr>
            <p:spPr bwMode="auto">
              <a:xfrm>
                <a:off x="2888" y="3560"/>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38" name="Rectangle 129">
                <a:extLst>
                  <a:ext uri="{FF2B5EF4-FFF2-40B4-BE49-F238E27FC236}">
                    <a16:creationId xmlns:a16="http://schemas.microsoft.com/office/drawing/2014/main" id="{13C469ED-785A-1C43-B56C-95D815D50DB2}"/>
                  </a:ext>
                </a:extLst>
              </p:cNvPr>
              <p:cNvSpPr>
                <a:spLocks noChangeArrowheads="1"/>
              </p:cNvSpPr>
              <p:nvPr/>
            </p:nvSpPr>
            <p:spPr bwMode="auto">
              <a:xfrm>
                <a:off x="2967" y="3552"/>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57775" name="Rectangle 132">
            <a:extLst>
              <a:ext uri="{FF2B5EF4-FFF2-40B4-BE49-F238E27FC236}">
                <a16:creationId xmlns:a16="http://schemas.microsoft.com/office/drawing/2014/main" id="{385EB70B-5EBD-1140-BFF8-F07F2A03354A}"/>
              </a:ext>
            </a:extLst>
          </p:cNvPr>
          <p:cNvSpPr>
            <a:spLocks noChangeArrowheads="1"/>
          </p:cNvSpPr>
          <p:nvPr/>
        </p:nvSpPr>
        <p:spPr bwMode="auto">
          <a:xfrm>
            <a:off x="976313" y="5738813"/>
            <a:ext cx="644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Store</a:t>
            </a:r>
          </a:p>
        </p:txBody>
      </p:sp>
      <p:sp>
        <p:nvSpPr>
          <p:cNvPr id="157776" name="Line 133">
            <a:extLst>
              <a:ext uri="{FF2B5EF4-FFF2-40B4-BE49-F238E27FC236}">
                <a16:creationId xmlns:a16="http://schemas.microsoft.com/office/drawing/2014/main" id="{C1986807-1460-FA42-BFFD-D2616AB43305}"/>
              </a:ext>
            </a:extLst>
          </p:cNvPr>
          <p:cNvSpPr>
            <a:spLocks noChangeShapeType="1"/>
          </p:cNvSpPr>
          <p:nvPr/>
        </p:nvSpPr>
        <p:spPr bwMode="auto">
          <a:xfrm flipV="1">
            <a:off x="762000" y="3497263"/>
            <a:ext cx="0" cy="9398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7" name="Line 134">
            <a:extLst>
              <a:ext uri="{FF2B5EF4-FFF2-40B4-BE49-F238E27FC236}">
                <a16:creationId xmlns:a16="http://schemas.microsoft.com/office/drawing/2014/main" id="{C5590EDD-541C-8640-B355-90AEFD3A69D4}"/>
              </a:ext>
            </a:extLst>
          </p:cNvPr>
          <p:cNvSpPr>
            <a:spLocks noChangeShapeType="1"/>
          </p:cNvSpPr>
          <p:nvPr/>
        </p:nvSpPr>
        <p:spPr bwMode="auto">
          <a:xfrm flipV="1">
            <a:off x="762000" y="4573588"/>
            <a:ext cx="0" cy="7874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8" name="Line 135">
            <a:extLst>
              <a:ext uri="{FF2B5EF4-FFF2-40B4-BE49-F238E27FC236}">
                <a16:creationId xmlns:a16="http://schemas.microsoft.com/office/drawing/2014/main" id="{1BE7C7AD-FC39-3849-A990-0FE9E771726B}"/>
              </a:ext>
            </a:extLst>
          </p:cNvPr>
          <p:cNvSpPr>
            <a:spLocks noChangeShapeType="1"/>
          </p:cNvSpPr>
          <p:nvPr/>
        </p:nvSpPr>
        <p:spPr bwMode="auto">
          <a:xfrm flipV="1">
            <a:off x="4572000" y="4573588"/>
            <a:ext cx="0" cy="7874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9" name="Line 136">
            <a:extLst>
              <a:ext uri="{FF2B5EF4-FFF2-40B4-BE49-F238E27FC236}">
                <a16:creationId xmlns:a16="http://schemas.microsoft.com/office/drawing/2014/main" id="{D8076DCC-F370-9A45-B0A0-7DDC7DBC6392}"/>
              </a:ext>
            </a:extLst>
          </p:cNvPr>
          <p:cNvSpPr>
            <a:spLocks noChangeShapeType="1"/>
          </p:cNvSpPr>
          <p:nvPr/>
        </p:nvSpPr>
        <p:spPr bwMode="auto">
          <a:xfrm>
            <a:off x="393700" y="1476375"/>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0" name="Line 137">
            <a:extLst>
              <a:ext uri="{FF2B5EF4-FFF2-40B4-BE49-F238E27FC236}">
                <a16:creationId xmlns:a16="http://schemas.microsoft.com/office/drawing/2014/main" id="{86985D08-B78C-1043-A355-72F22C323C22}"/>
              </a:ext>
            </a:extLst>
          </p:cNvPr>
          <p:cNvSpPr>
            <a:spLocks noChangeShapeType="1"/>
          </p:cNvSpPr>
          <p:nvPr/>
        </p:nvSpPr>
        <p:spPr bwMode="auto">
          <a:xfrm>
            <a:off x="762000" y="1489075"/>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1" name="Line 138">
            <a:extLst>
              <a:ext uri="{FF2B5EF4-FFF2-40B4-BE49-F238E27FC236}">
                <a16:creationId xmlns:a16="http://schemas.microsoft.com/office/drawing/2014/main" id="{D479CD37-1156-9F4E-897B-6A25E55C7AC8}"/>
              </a:ext>
            </a:extLst>
          </p:cNvPr>
          <p:cNvSpPr>
            <a:spLocks noChangeShapeType="1"/>
          </p:cNvSpPr>
          <p:nvPr/>
        </p:nvSpPr>
        <p:spPr bwMode="auto">
          <a:xfrm flipV="1">
            <a:off x="7620000" y="3497263"/>
            <a:ext cx="0" cy="9398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2" name="Line 139">
            <a:extLst>
              <a:ext uri="{FF2B5EF4-FFF2-40B4-BE49-F238E27FC236}">
                <a16:creationId xmlns:a16="http://schemas.microsoft.com/office/drawing/2014/main" id="{FF4423CF-4093-8745-80EB-A3F36F19E25F}"/>
              </a:ext>
            </a:extLst>
          </p:cNvPr>
          <p:cNvSpPr>
            <a:spLocks noChangeShapeType="1"/>
          </p:cNvSpPr>
          <p:nvPr/>
        </p:nvSpPr>
        <p:spPr bwMode="auto">
          <a:xfrm flipV="1">
            <a:off x="4572000" y="1601788"/>
            <a:ext cx="0" cy="15494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3" name="Line 140">
            <a:extLst>
              <a:ext uri="{FF2B5EF4-FFF2-40B4-BE49-F238E27FC236}">
                <a16:creationId xmlns:a16="http://schemas.microsoft.com/office/drawing/2014/main" id="{F75DF3CA-2BC5-0647-A6ED-F218010FA8BA}"/>
              </a:ext>
            </a:extLst>
          </p:cNvPr>
          <p:cNvSpPr>
            <a:spLocks noChangeShapeType="1"/>
          </p:cNvSpPr>
          <p:nvPr/>
        </p:nvSpPr>
        <p:spPr bwMode="auto">
          <a:xfrm>
            <a:off x="4572000" y="1489075"/>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4" name="Line 141">
            <a:extLst>
              <a:ext uri="{FF2B5EF4-FFF2-40B4-BE49-F238E27FC236}">
                <a16:creationId xmlns:a16="http://schemas.microsoft.com/office/drawing/2014/main" id="{553AF131-49BD-364A-AAFB-A531B85743EC}"/>
              </a:ext>
            </a:extLst>
          </p:cNvPr>
          <p:cNvSpPr>
            <a:spLocks noChangeShapeType="1"/>
          </p:cNvSpPr>
          <p:nvPr/>
        </p:nvSpPr>
        <p:spPr bwMode="auto">
          <a:xfrm flipV="1">
            <a:off x="8382000" y="1601788"/>
            <a:ext cx="0" cy="15494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5" name="Line 142">
            <a:extLst>
              <a:ext uri="{FF2B5EF4-FFF2-40B4-BE49-F238E27FC236}">
                <a16:creationId xmlns:a16="http://schemas.microsoft.com/office/drawing/2014/main" id="{D02FB3E9-5A89-1D48-BFE2-169911385599}"/>
              </a:ext>
            </a:extLst>
          </p:cNvPr>
          <p:cNvSpPr>
            <a:spLocks noChangeShapeType="1"/>
          </p:cNvSpPr>
          <p:nvPr/>
        </p:nvSpPr>
        <p:spPr bwMode="auto">
          <a:xfrm>
            <a:off x="8382000" y="1489075"/>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6" name="Line 143">
            <a:extLst>
              <a:ext uri="{FF2B5EF4-FFF2-40B4-BE49-F238E27FC236}">
                <a16:creationId xmlns:a16="http://schemas.microsoft.com/office/drawing/2014/main" id="{0C2DB4BB-5B69-EF41-8F6A-9E6E09FCC49F}"/>
              </a:ext>
            </a:extLst>
          </p:cNvPr>
          <p:cNvSpPr>
            <a:spLocks noChangeShapeType="1"/>
          </p:cNvSpPr>
          <p:nvPr/>
        </p:nvSpPr>
        <p:spPr bwMode="auto">
          <a:xfrm>
            <a:off x="774700" y="1704975"/>
            <a:ext cx="1879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7" name="Line 144">
            <a:extLst>
              <a:ext uri="{FF2B5EF4-FFF2-40B4-BE49-F238E27FC236}">
                <a16:creationId xmlns:a16="http://schemas.microsoft.com/office/drawing/2014/main" id="{339D97F9-9D6D-DA4A-905E-503259671824}"/>
              </a:ext>
            </a:extLst>
          </p:cNvPr>
          <p:cNvSpPr>
            <a:spLocks noChangeShapeType="1"/>
          </p:cNvSpPr>
          <p:nvPr/>
        </p:nvSpPr>
        <p:spPr bwMode="auto">
          <a:xfrm>
            <a:off x="2679700" y="1476375"/>
            <a:ext cx="1879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8" name="Line 145">
            <a:extLst>
              <a:ext uri="{FF2B5EF4-FFF2-40B4-BE49-F238E27FC236}">
                <a16:creationId xmlns:a16="http://schemas.microsoft.com/office/drawing/2014/main" id="{458C973A-2A5E-6347-B982-ED86FFF97502}"/>
              </a:ext>
            </a:extLst>
          </p:cNvPr>
          <p:cNvSpPr>
            <a:spLocks noChangeShapeType="1"/>
          </p:cNvSpPr>
          <p:nvPr/>
        </p:nvSpPr>
        <p:spPr bwMode="auto">
          <a:xfrm>
            <a:off x="2667000" y="1489075"/>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89" name="Line 146">
            <a:extLst>
              <a:ext uri="{FF2B5EF4-FFF2-40B4-BE49-F238E27FC236}">
                <a16:creationId xmlns:a16="http://schemas.microsoft.com/office/drawing/2014/main" id="{707CE02C-22E5-C048-A118-301E84B65922}"/>
              </a:ext>
            </a:extLst>
          </p:cNvPr>
          <p:cNvSpPr>
            <a:spLocks noChangeShapeType="1"/>
          </p:cNvSpPr>
          <p:nvPr/>
        </p:nvSpPr>
        <p:spPr bwMode="auto">
          <a:xfrm>
            <a:off x="4584700" y="1704975"/>
            <a:ext cx="1879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90" name="Line 147">
            <a:extLst>
              <a:ext uri="{FF2B5EF4-FFF2-40B4-BE49-F238E27FC236}">
                <a16:creationId xmlns:a16="http://schemas.microsoft.com/office/drawing/2014/main" id="{32D6BC7E-66B1-D541-9AF4-510FB58DB3C0}"/>
              </a:ext>
            </a:extLst>
          </p:cNvPr>
          <p:cNvSpPr>
            <a:spLocks noChangeShapeType="1"/>
          </p:cNvSpPr>
          <p:nvPr/>
        </p:nvSpPr>
        <p:spPr bwMode="auto">
          <a:xfrm>
            <a:off x="6489700" y="1476375"/>
            <a:ext cx="1879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91" name="Line 148">
            <a:extLst>
              <a:ext uri="{FF2B5EF4-FFF2-40B4-BE49-F238E27FC236}">
                <a16:creationId xmlns:a16="http://schemas.microsoft.com/office/drawing/2014/main" id="{F571A1EB-EF4A-D648-8E31-3563A1FD2AB3}"/>
              </a:ext>
            </a:extLst>
          </p:cNvPr>
          <p:cNvSpPr>
            <a:spLocks noChangeShapeType="1"/>
          </p:cNvSpPr>
          <p:nvPr/>
        </p:nvSpPr>
        <p:spPr bwMode="auto">
          <a:xfrm>
            <a:off x="6477000" y="1489075"/>
            <a:ext cx="0" cy="203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92" name="Line 149">
            <a:extLst>
              <a:ext uri="{FF2B5EF4-FFF2-40B4-BE49-F238E27FC236}">
                <a16:creationId xmlns:a16="http://schemas.microsoft.com/office/drawing/2014/main" id="{A9F6241B-C0E9-0D4D-88DE-F9330FDD4074}"/>
              </a:ext>
            </a:extLst>
          </p:cNvPr>
          <p:cNvSpPr>
            <a:spLocks noChangeShapeType="1"/>
          </p:cNvSpPr>
          <p:nvPr/>
        </p:nvSpPr>
        <p:spPr bwMode="auto">
          <a:xfrm>
            <a:off x="8394700" y="1704975"/>
            <a:ext cx="355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93" name="Rectangle 150">
            <a:extLst>
              <a:ext uri="{FF2B5EF4-FFF2-40B4-BE49-F238E27FC236}">
                <a16:creationId xmlns:a16="http://schemas.microsoft.com/office/drawing/2014/main" id="{153085DF-5C18-1442-B5FB-CB741B75E4D8}"/>
              </a:ext>
            </a:extLst>
          </p:cNvPr>
          <p:cNvSpPr>
            <a:spLocks noChangeArrowheads="1"/>
          </p:cNvSpPr>
          <p:nvPr/>
        </p:nvSpPr>
        <p:spPr bwMode="auto">
          <a:xfrm>
            <a:off x="290513" y="1476375"/>
            <a:ext cx="4968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Clk</a:t>
            </a:r>
          </a:p>
        </p:txBody>
      </p:sp>
      <p:sp>
        <p:nvSpPr>
          <p:cNvPr id="157794" name="Rectangle 151">
            <a:extLst>
              <a:ext uri="{FF2B5EF4-FFF2-40B4-BE49-F238E27FC236}">
                <a16:creationId xmlns:a16="http://schemas.microsoft.com/office/drawing/2014/main" id="{E420F022-4723-D74A-A2D3-991B4A4443F1}"/>
              </a:ext>
            </a:extLst>
          </p:cNvPr>
          <p:cNvSpPr>
            <a:spLocks noChangeArrowheads="1"/>
          </p:cNvSpPr>
          <p:nvPr/>
        </p:nvSpPr>
        <p:spPr bwMode="auto">
          <a:xfrm>
            <a:off x="290513" y="1857375"/>
            <a:ext cx="27606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rgbClr val="CC0000"/>
                </a:solidFill>
                <a:ea typeface="宋体" panose="02010600030101010101" pitchFamily="2" charset="-122"/>
              </a:rPr>
              <a:t>Single Cycle Implementation:</a:t>
            </a:r>
          </a:p>
        </p:txBody>
      </p:sp>
      <p:sp>
        <p:nvSpPr>
          <p:cNvPr id="157795" name="Rectangle 152">
            <a:extLst>
              <a:ext uri="{FF2B5EF4-FFF2-40B4-BE49-F238E27FC236}">
                <a16:creationId xmlns:a16="http://schemas.microsoft.com/office/drawing/2014/main" id="{19D77305-A1EC-1E44-97F2-7870BED47CBE}"/>
              </a:ext>
            </a:extLst>
          </p:cNvPr>
          <p:cNvSpPr>
            <a:spLocks noChangeArrowheads="1"/>
          </p:cNvSpPr>
          <p:nvPr/>
        </p:nvSpPr>
        <p:spPr bwMode="auto">
          <a:xfrm>
            <a:off x="774700" y="2251075"/>
            <a:ext cx="3784600" cy="279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796" name="Rectangle 153">
            <a:extLst>
              <a:ext uri="{FF2B5EF4-FFF2-40B4-BE49-F238E27FC236}">
                <a16:creationId xmlns:a16="http://schemas.microsoft.com/office/drawing/2014/main" id="{ADB6E0C6-300C-1B45-983E-0EC86892A397}"/>
              </a:ext>
            </a:extLst>
          </p:cNvPr>
          <p:cNvSpPr>
            <a:spLocks noChangeArrowheads="1"/>
          </p:cNvSpPr>
          <p:nvPr/>
        </p:nvSpPr>
        <p:spPr bwMode="auto">
          <a:xfrm>
            <a:off x="4584700" y="2251075"/>
            <a:ext cx="3784600" cy="279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797" name="Rectangle 154">
            <a:extLst>
              <a:ext uri="{FF2B5EF4-FFF2-40B4-BE49-F238E27FC236}">
                <a16:creationId xmlns:a16="http://schemas.microsoft.com/office/drawing/2014/main" id="{05766690-570A-BF43-9368-577D28F0EBE0}"/>
              </a:ext>
            </a:extLst>
          </p:cNvPr>
          <p:cNvSpPr>
            <a:spLocks noChangeArrowheads="1"/>
          </p:cNvSpPr>
          <p:nvPr/>
        </p:nvSpPr>
        <p:spPr bwMode="auto">
          <a:xfrm>
            <a:off x="2119313" y="2238375"/>
            <a:ext cx="6318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Load</a:t>
            </a:r>
          </a:p>
        </p:txBody>
      </p:sp>
      <p:sp>
        <p:nvSpPr>
          <p:cNvPr id="157798" name="Rectangle 155">
            <a:extLst>
              <a:ext uri="{FF2B5EF4-FFF2-40B4-BE49-F238E27FC236}">
                <a16:creationId xmlns:a16="http://schemas.microsoft.com/office/drawing/2014/main" id="{A059D75A-EE79-6347-97FC-A3FCCBEC247A}"/>
              </a:ext>
            </a:extLst>
          </p:cNvPr>
          <p:cNvSpPr>
            <a:spLocks noChangeArrowheads="1"/>
          </p:cNvSpPr>
          <p:nvPr/>
        </p:nvSpPr>
        <p:spPr bwMode="auto">
          <a:xfrm>
            <a:off x="5929313" y="2238375"/>
            <a:ext cx="6445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Store</a:t>
            </a:r>
          </a:p>
        </p:txBody>
      </p:sp>
      <p:sp>
        <p:nvSpPr>
          <p:cNvPr id="157799" name="Line 156">
            <a:extLst>
              <a:ext uri="{FF2B5EF4-FFF2-40B4-BE49-F238E27FC236}">
                <a16:creationId xmlns:a16="http://schemas.microsoft.com/office/drawing/2014/main" id="{B6FF3873-5399-CE44-A8D4-6C37C0E6AB0D}"/>
              </a:ext>
            </a:extLst>
          </p:cNvPr>
          <p:cNvSpPr>
            <a:spLocks noChangeShapeType="1"/>
          </p:cNvSpPr>
          <p:nvPr/>
        </p:nvSpPr>
        <p:spPr bwMode="auto">
          <a:xfrm flipV="1">
            <a:off x="7620000" y="2225675"/>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00" name="Rectangle 157">
            <a:extLst>
              <a:ext uri="{FF2B5EF4-FFF2-40B4-BE49-F238E27FC236}">
                <a16:creationId xmlns:a16="http://schemas.microsoft.com/office/drawing/2014/main" id="{FEA6A229-89D6-FF43-AAA0-14B0257DF31B}"/>
              </a:ext>
            </a:extLst>
          </p:cNvPr>
          <p:cNvSpPr>
            <a:spLocks noChangeArrowheads="1"/>
          </p:cNvSpPr>
          <p:nvPr/>
        </p:nvSpPr>
        <p:spPr bwMode="auto">
          <a:xfrm>
            <a:off x="7605713" y="2238375"/>
            <a:ext cx="7239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solidFill>
                  <a:schemeClr val="accent2"/>
                </a:solidFill>
                <a:ea typeface="宋体" panose="02010600030101010101" pitchFamily="2" charset="-122"/>
              </a:rPr>
              <a:t>Waste</a:t>
            </a:r>
          </a:p>
        </p:txBody>
      </p:sp>
      <p:grpSp>
        <p:nvGrpSpPr>
          <p:cNvPr id="157801" name="Group 160">
            <a:extLst>
              <a:ext uri="{FF2B5EF4-FFF2-40B4-BE49-F238E27FC236}">
                <a16:creationId xmlns:a16="http://schemas.microsoft.com/office/drawing/2014/main" id="{AC00A730-E20D-C047-96C5-6401524BB037}"/>
              </a:ext>
            </a:extLst>
          </p:cNvPr>
          <p:cNvGrpSpPr>
            <a:grpSpLocks/>
          </p:cNvGrpSpPr>
          <p:nvPr/>
        </p:nvGrpSpPr>
        <p:grpSpPr bwMode="auto">
          <a:xfrm>
            <a:off x="7632700" y="4424363"/>
            <a:ext cx="739775" cy="333375"/>
            <a:chOff x="4808" y="2544"/>
            <a:chExt cx="466" cy="210"/>
          </a:xfrm>
        </p:grpSpPr>
        <p:sp>
          <p:nvSpPr>
            <p:cNvPr id="157830" name="Rectangle 158">
              <a:extLst>
                <a:ext uri="{FF2B5EF4-FFF2-40B4-BE49-F238E27FC236}">
                  <a16:creationId xmlns:a16="http://schemas.microsoft.com/office/drawing/2014/main" id="{FA52E342-0572-5F40-8F93-7FFEF5B09168}"/>
                </a:ext>
              </a:extLst>
            </p:cNvPr>
            <p:cNvSpPr>
              <a:spLocks noChangeArrowheads="1"/>
            </p:cNvSpPr>
            <p:nvPr/>
          </p:nvSpPr>
          <p:spPr bwMode="auto">
            <a:xfrm>
              <a:off x="4808" y="2552"/>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31" name="Rectangle 159">
              <a:extLst>
                <a:ext uri="{FF2B5EF4-FFF2-40B4-BE49-F238E27FC236}">
                  <a16:creationId xmlns:a16="http://schemas.microsoft.com/office/drawing/2014/main" id="{701B1F21-EB3B-BF41-8DD3-26D335F83B88}"/>
                </a:ext>
              </a:extLst>
            </p:cNvPr>
            <p:cNvSpPr>
              <a:spLocks noChangeArrowheads="1"/>
            </p:cNvSpPr>
            <p:nvPr/>
          </p:nvSpPr>
          <p:spPr bwMode="auto">
            <a:xfrm>
              <a:off x="4839" y="2544"/>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sp>
        <p:nvSpPr>
          <p:cNvPr id="157802" name="Rectangle 161">
            <a:extLst>
              <a:ext uri="{FF2B5EF4-FFF2-40B4-BE49-F238E27FC236}">
                <a16:creationId xmlns:a16="http://schemas.microsoft.com/office/drawing/2014/main" id="{7F394A52-1A35-844A-9895-4B3AAD5FA0FF}"/>
              </a:ext>
            </a:extLst>
          </p:cNvPr>
          <p:cNvSpPr>
            <a:spLocks noChangeArrowheads="1"/>
          </p:cNvSpPr>
          <p:nvPr/>
        </p:nvSpPr>
        <p:spPr bwMode="auto">
          <a:xfrm>
            <a:off x="7605713" y="4119563"/>
            <a:ext cx="7683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R-type</a:t>
            </a:r>
          </a:p>
        </p:txBody>
      </p:sp>
      <p:grpSp>
        <p:nvGrpSpPr>
          <p:cNvPr id="157803" name="Group 177">
            <a:extLst>
              <a:ext uri="{FF2B5EF4-FFF2-40B4-BE49-F238E27FC236}">
                <a16:creationId xmlns:a16="http://schemas.microsoft.com/office/drawing/2014/main" id="{D40ECECF-2B68-0044-8FD0-023454770B72}"/>
              </a:ext>
            </a:extLst>
          </p:cNvPr>
          <p:cNvGrpSpPr>
            <a:grpSpLocks/>
          </p:cNvGrpSpPr>
          <p:nvPr/>
        </p:nvGrpSpPr>
        <p:grpSpPr bwMode="auto">
          <a:xfrm>
            <a:off x="2374900" y="6196013"/>
            <a:ext cx="3784600" cy="333375"/>
            <a:chOff x="1496" y="3840"/>
            <a:chExt cx="2384" cy="210"/>
          </a:xfrm>
        </p:grpSpPr>
        <p:grpSp>
          <p:nvGrpSpPr>
            <p:cNvPr id="157815" name="Group 164">
              <a:extLst>
                <a:ext uri="{FF2B5EF4-FFF2-40B4-BE49-F238E27FC236}">
                  <a16:creationId xmlns:a16="http://schemas.microsoft.com/office/drawing/2014/main" id="{0042DF75-D166-5E4C-9864-E2EA2F325697}"/>
                </a:ext>
              </a:extLst>
            </p:cNvPr>
            <p:cNvGrpSpPr>
              <a:grpSpLocks/>
            </p:cNvGrpSpPr>
            <p:nvPr/>
          </p:nvGrpSpPr>
          <p:grpSpPr bwMode="auto">
            <a:xfrm>
              <a:off x="1496" y="3840"/>
              <a:ext cx="466" cy="210"/>
              <a:chOff x="1496" y="3840"/>
              <a:chExt cx="466" cy="210"/>
            </a:xfrm>
          </p:grpSpPr>
          <p:sp>
            <p:nvSpPr>
              <p:cNvPr id="157828" name="Rectangle 162">
                <a:extLst>
                  <a:ext uri="{FF2B5EF4-FFF2-40B4-BE49-F238E27FC236}">
                    <a16:creationId xmlns:a16="http://schemas.microsoft.com/office/drawing/2014/main" id="{C851CA9E-D417-C043-B5B1-50F0B8441F9D}"/>
                  </a:ext>
                </a:extLst>
              </p:cNvPr>
              <p:cNvSpPr>
                <a:spLocks noChangeArrowheads="1"/>
              </p:cNvSpPr>
              <p:nvPr/>
            </p:nvSpPr>
            <p:spPr bwMode="auto">
              <a:xfrm>
                <a:off x="1496" y="3848"/>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29" name="Rectangle 163">
                <a:extLst>
                  <a:ext uri="{FF2B5EF4-FFF2-40B4-BE49-F238E27FC236}">
                    <a16:creationId xmlns:a16="http://schemas.microsoft.com/office/drawing/2014/main" id="{D81FBC8A-2554-A14E-82DC-583EA5A0DAEC}"/>
                  </a:ext>
                </a:extLst>
              </p:cNvPr>
              <p:cNvSpPr>
                <a:spLocks noChangeArrowheads="1"/>
              </p:cNvSpPr>
              <p:nvPr/>
            </p:nvSpPr>
            <p:spPr bwMode="auto">
              <a:xfrm>
                <a:off x="1527" y="3840"/>
                <a:ext cx="43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Ifetch</a:t>
                </a:r>
              </a:p>
            </p:txBody>
          </p:sp>
        </p:grpSp>
        <p:grpSp>
          <p:nvGrpSpPr>
            <p:cNvPr id="157816" name="Group 167">
              <a:extLst>
                <a:ext uri="{FF2B5EF4-FFF2-40B4-BE49-F238E27FC236}">
                  <a16:creationId xmlns:a16="http://schemas.microsoft.com/office/drawing/2014/main" id="{FCED559E-3651-8A48-95A8-A0BDC361004F}"/>
                </a:ext>
              </a:extLst>
            </p:cNvPr>
            <p:cNvGrpSpPr>
              <a:grpSpLocks/>
            </p:cNvGrpSpPr>
            <p:nvPr/>
          </p:nvGrpSpPr>
          <p:grpSpPr bwMode="auto">
            <a:xfrm>
              <a:off x="1976" y="3840"/>
              <a:ext cx="464" cy="210"/>
              <a:chOff x="1976" y="3840"/>
              <a:chExt cx="464" cy="210"/>
            </a:xfrm>
          </p:grpSpPr>
          <p:sp>
            <p:nvSpPr>
              <p:cNvPr id="157826" name="Rectangle 165">
                <a:extLst>
                  <a:ext uri="{FF2B5EF4-FFF2-40B4-BE49-F238E27FC236}">
                    <a16:creationId xmlns:a16="http://schemas.microsoft.com/office/drawing/2014/main" id="{F2A55D78-D208-5D4B-84B8-2CA9D1879496}"/>
                  </a:ext>
                </a:extLst>
              </p:cNvPr>
              <p:cNvSpPr>
                <a:spLocks noChangeArrowheads="1"/>
              </p:cNvSpPr>
              <p:nvPr/>
            </p:nvSpPr>
            <p:spPr bwMode="auto">
              <a:xfrm>
                <a:off x="1976" y="3848"/>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27" name="Rectangle 166">
                <a:extLst>
                  <a:ext uri="{FF2B5EF4-FFF2-40B4-BE49-F238E27FC236}">
                    <a16:creationId xmlns:a16="http://schemas.microsoft.com/office/drawing/2014/main" id="{274AABD0-F41B-C544-B5B4-98973186E691}"/>
                  </a:ext>
                </a:extLst>
              </p:cNvPr>
              <p:cNvSpPr>
                <a:spLocks noChangeArrowheads="1"/>
              </p:cNvSpPr>
              <p:nvPr/>
            </p:nvSpPr>
            <p:spPr bwMode="auto">
              <a:xfrm>
                <a:off x="2055" y="3840"/>
                <a:ext cx="32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Reg</a:t>
                </a:r>
              </a:p>
            </p:txBody>
          </p:sp>
        </p:grpSp>
        <p:grpSp>
          <p:nvGrpSpPr>
            <p:cNvPr id="157817" name="Group 170">
              <a:extLst>
                <a:ext uri="{FF2B5EF4-FFF2-40B4-BE49-F238E27FC236}">
                  <a16:creationId xmlns:a16="http://schemas.microsoft.com/office/drawing/2014/main" id="{C7816CAD-CEC9-A246-9146-D74B17587082}"/>
                </a:ext>
              </a:extLst>
            </p:cNvPr>
            <p:cNvGrpSpPr>
              <a:grpSpLocks/>
            </p:cNvGrpSpPr>
            <p:nvPr/>
          </p:nvGrpSpPr>
          <p:grpSpPr bwMode="auto">
            <a:xfrm>
              <a:off x="2456" y="3840"/>
              <a:ext cx="464" cy="210"/>
              <a:chOff x="2456" y="3840"/>
              <a:chExt cx="464" cy="210"/>
            </a:xfrm>
          </p:grpSpPr>
          <p:sp>
            <p:nvSpPr>
              <p:cNvPr id="157824" name="Rectangle 168">
                <a:extLst>
                  <a:ext uri="{FF2B5EF4-FFF2-40B4-BE49-F238E27FC236}">
                    <a16:creationId xmlns:a16="http://schemas.microsoft.com/office/drawing/2014/main" id="{16EEDD31-F801-2847-B274-2C6E5B2CDEF7}"/>
                  </a:ext>
                </a:extLst>
              </p:cNvPr>
              <p:cNvSpPr>
                <a:spLocks noChangeArrowheads="1"/>
              </p:cNvSpPr>
              <p:nvPr/>
            </p:nvSpPr>
            <p:spPr bwMode="auto">
              <a:xfrm>
                <a:off x="2456" y="3848"/>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25" name="Rectangle 169">
                <a:extLst>
                  <a:ext uri="{FF2B5EF4-FFF2-40B4-BE49-F238E27FC236}">
                    <a16:creationId xmlns:a16="http://schemas.microsoft.com/office/drawing/2014/main" id="{EDFE52B8-D104-114F-A84A-1F35EF8590D3}"/>
                  </a:ext>
                </a:extLst>
              </p:cNvPr>
              <p:cNvSpPr>
                <a:spLocks noChangeArrowheads="1"/>
              </p:cNvSpPr>
              <p:nvPr/>
            </p:nvSpPr>
            <p:spPr bwMode="auto">
              <a:xfrm>
                <a:off x="2487" y="3840"/>
                <a:ext cx="377"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Exec</a:t>
                </a:r>
              </a:p>
            </p:txBody>
          </p:sp>
        </p:grpSp>
        <p:grpSp>
          <p:nvGrpSpPr>
            <p:cNvPr id="157818" name="Group 173">
              <a:extLst>
                <a:ext uri="{FF2B5EF4-FFF2-40B4-BE49-F238E27FC236}">
                  <a16:creationId xmlns:a16="http://schemas.microsoft.com/office/drawing/2014/main" id="{DD722365-309D-D24D-8DB9-2E69EFADD589}"/>
                </a:ext>
              </a:extLst>
            </p:cNvPr>
            <p:cNvGrpSpPr>
              <a:grpSpLocks/>
            </p:cNvGrpSpPr>
            <p:nvPr/>
          </p:nvGrpSpPr>
          <p:grpSpPr bwMode="auto">
            <a:xfrm>
              <a:off x="2936" y="3840"/>
              <a:ext cx="464" cy="210"/>
              <a:chOff x="2936" y="3840"/>
              <a:chExt cx="464" cy="210"/>
            </a:xfrm>
          </p:grpSpPr>
          <p:sp>
            <p:nvSpPr>
              <p:cNvPr id="157822" name="Rectangle 171">
                <a:extLst>
                  <a:ext uri="{FF2B5EF4-FFF2-40B4-BE49-F238E27FC236}">
                    <a16:creationId xmlns:a16="http://schemas.microsoft.com/office/drawing/2014/main" id="{D72FA577-35D6-5342-B64C-FAA174FD279F}"/>
                  </a:ext>
                </a:extLst>
              </p:cNvPr>
              <p:cNvSpPr>
                <a:spLocks noChangeArrowheads="1"/>
              </p:cNvSpPr>
              <p:nvPr/>
            </p:nvSpPr>
            <p:spPr bwMode="auto">
              <a:xfrm>
                <a:off x="2936" y="3848"/>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23" name="Rectangle 172">
                <a:extLst>
                  <a:ext uri="{FF2B5EF4-FFF2-40B4-BE49-F238E27FC236}">
                    <a16:creationId xmlns:a16="http://schemas.microsoft.com/office/drawing/2014/main" id="{FFBFD691-B967-D744-B3B7-FE17363D4615}"/>
                  </a:ext>
                </a:extLst>
              </p:cNvPr>
              <p:cNvSpPr>
                <a:spLocks noChangeArrowheads="1"/>
              </p:cNvSpPr>
              <p:nvPr/>
            </p:nvSpPr>
            <p:spPr bwMode="auto">
              <a:xfrm>
                <a:off x="2967" y="3840"/>
                <a:ext cx="3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Mem</a:t>
                </a:r>
              </a:p>
            </p:txBody>
          </p:sp>
        </p:grpSp>
        <p:grpSp>
          <p:nvGrpSpPr>
            <p:cNvPr id="157819" name="Group 176">
              <a:extLst>
                <a:ext uri="{FF2B5EF4-FFF2-40B4-BE49-F238E27FC236}">
                  <a16:creationId xmlns:a16="http://schemas.microsoft.com/office/drawing/2014/main" id="{C420EAC3-1B01-874D-9EF3-D2EF3513D0A1}"/>
                </a:ext>
              </a:extLst>
            </p:cNvPr>
            <p:cNvGrpSpPr>
              <a:grpSpLocks/>
            </p:cNvGrpSpPr>
            <p:nvPr/>
          </p:nvGrpSpPr>
          <p:grpSpPr bwMode="auto">
            <a:xfrm>
              <a:off x="3416" y="3840"/>
              <a:ext cx="464" cy="210"/>
              <a:chOff x="3416" y="3840"/>
              <a:chExt cx="464" cy="210"/>
            </a:xfrm>
          </p:grpSpPr>
          <p:sp>
            <p:nvSpPr>
              <p:cNvPr id="157820" name="Rectangle 174">
                <a:extLst>
                  <a:ext uri="{FF2B5EF4-FFF2-40B4-BE49-F238E27FC236}">
                    <a16:creationId xmlns:a16="http://schemas.microsoft.com/office/drawing/2014/main" id="{E77BA2D3-C8FC-7C47-AA36-5DC3FCCBC061}"/>
                  </a:ext>
                </a:extLst>
              </p:cNvPr>
              <p:cNvSpPr>
                <a:spLocks noChangeArrowheads="1"/>
              </p:cNvSpPr>
              <p:nvPr/>
            </p:nvSpPr>
            <p:spPr bwMode="auto">
              <a:xfrm>
                <a:off x="3416" y="3848"/>
                <a:ext cx="464" cy="17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7821" name="Rectangle 175">
                <a:extLst>
                  <a:ext uri="{FF2B5EF4-FFF2-40B4-BE49-F238E27FC236}">
                    <a16:creationId xmlns:a16="http://schemas.microsoft.com/office/drawing/2014/main" id="{AA3A3112-100B-6549-8606-7B76A3FB1678}"/>
                  </a:ext>
                </a:extLst>
              </p:cNvPr>
              <p:cNvSpPr>
                <a:spLocks noChangeArrowheads="1"/>
              </p:cNvSpPr>
              <p:nvPr/>
            </p:nvSpPr>
            <p:spPr bwMode="auto">
              <a:xfrm>
                <a:off x="3495" y="3840"/>
                <a:ext cx="29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Wr</a:t>
                </a:r>
              </a:p>
            </p:txBody>
          </p:sp>
        </p:grpSp>
      </p:grpSp>
      <p:sp>
        <p:nvSpPr>
          <p:cNvPr id="157804" name="Rectangle 178">
            <a:extLst>
              <a:ext uri="{FF2B5EF4-FFF2-40B4-BE49-F238E27FC236}">
                <a16:creationId xmlns:a16="http://schemas.microsoft.com/office/drawing/2014/main" id="{B7B09BF6-9835-3E4A-ADA6-B92F6451C307}"/>
              </a:ext>
            </a:extLst>
          </p:cNvPr>
          <p:cNvSpPr>
            <a:spLocks noChangeArrowheads="1"/>
          </p:cNvSpPr>
          <p:nvPr/>
        </p:nvSpPr>
        <p:spPr bwMode="auto">
          <a:xfrm>
            <a:off x="1662113" y="6196013"/>
            <a:ext cx="7683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R-type</a:t>
            </a:r>
          </a:p>
        </p:txBody>
      </p:sp>
      <p:sp>
        <p:nvSpPr>
          <p:cNvPr id="157805" name="Line 179">
            <a:extLst>
              <a:ext uri="{FF2B5EF4-FFF2-40B4-BE49-F238E27FC236}">
                <a16:creationId xmlns:a16="http://schemas.microsoft.com/office/drawing/2014/main" id="{EEC0C947-F075-2C47-A6EE-115CF036F178}"/>
              </a:ext>
            </a:extLst>
          </p:cNvPr>
          <p:cNvSpPr>
            <a:spLocks noChangeShapeType="1"/>
          </p:cNvSpPr>
          <p:nvPr/>
        </p:nvSpPr>
        <p:spPr bwMode="auto">
          <a:xfrm flipV="1">
            <a:off x="762000" y="1158875"/>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06" name="Rectangle 180">
            <a:extLst>
              <a:ext uri="{FF2B5EF4-FFF2-40B4-BE49-F238E27FC236}">
                <a16:creationId xmlns:a16="http://schemas.microsoft.com/office/drawing/2014/main" id="{3BADDB70-F9A0-A447-9C79-88288DC0BA92}"/>
              </a:ext>
            </a:extLst>
          </p:cNvPr>
          <p:cNvSpPr>
            <a:spLocks noChangeArrowheads="1"/>
          </p:cNvSpPr>
          <p:nvPr/>
        </p:nvSpPr>
        <p:spPr bwMode="auto">
          <a:xfrm>
            <a:off x="2271713" y="1171575"/>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1</a:t>
            </a:r>
          </a:p>
        </p:txBody>
      </p:sp>
      <p:sp>
        <p:nvSpPr>
          <p:cNvPr id="157807" name="Line 181">
            <a:extLst>
              <a:ext uri="{FF2B5EF4-FFF2-40B4-BE49-F238E27FC236}">
                <a16:creationId xmlns:a16="http://schemas.microsoft.com/office/drawing/2014/main" id="{6A78BC35-6AC1-2041-BD97-E8E7475FA02E}"/>
              </a:ext>
            </a:extLst>
          </p:cNvPr>
          <p:cNvSpPr>
            <a:spLocks noChangeShapeType="1"/>
          </p:cNvSpPr>
          <p:nvPr/>
        </p:nvSpPr>
        <p:spPr bwMode="auto">
          <a:xfrm flipV="1">
            <a:off x="4572000" y="1158875"/>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08" name="Line 182">
            <a:extLst>
              <a:ext uri="{FF2B5EF4-FFF2-40B4-BE49-F238E27FC236}">
                <a16:creationId xmlns:a16="http://schemas.microsoft.com/office/drawing/2014/main" id="{02FC02BB-91A1-4142-952D-7A1CA8BD0495}"/>
              </a:ext>
            </a:extLst>
          </p:cNvPr>
          <p:cNvSpPr>
            <a:spLocks noChangeShapeType="1"/>
          </p:cNvSpPr>
          <p:nvPr/>
        </p:nvSpPr>
        <p:spPr bwMode="auto">
          <a:xfrm flipV="1">
            <a:off x="8382000" y="1158875"/>
            <a:ext cx="0" cy="330200"/>
          </a:xfrm>
          <a:prstGeom prst="line">
            <a:avLst/>
          </a:prstGeom>
          <a:noFill/>
          <a:ln w="254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09" name="Rectangle 183">
            <a:extLst>
              <a:ext uri="{FF2B5EF4-FFF2-40B4-BE49-F238E27FC236}">
                <a16:creationId xmlns:a16="http://schemas.microsoft.com/office/drawing/2014/main" id="{CD7103ED-77E0-D74B-87C8-5188B0546375}"/>
              </a:ext>
            </a:extLst>
          </p:cNvPr>
          <p:cNvSpPr>
            <a:spLocks noChangeArrowheads="1"/>
          </p:cNvSpPr>
          <p:nvPr/>
        </p:nvSpPr>
        <p:spPr bwMode="auto">
          <a:xfrm>
            <a:off x="6081713" y="1171575"/>
            <a:ext cx="819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altLang="zh-CN">
                <a:ea typeface="宋体" panose="02010600030101010101" pitchFamily="2" charset="-122"/>
              </a:rPr>
              <a:t>Cycle 2</a:t>
            </a:r>
          </a:p>
        </p:txBody>
      </p:sp>
      <p:sp>
        <p:nvSpPr>
          <p:cNvPr id="157810" name="Line 184">
            <a:extLst>
              <a:ext uri="{FF2B5EF4-FFF2-40B4-BE49-F238E27FC236}">
                <a16:creationId xmlns:a16="http://schemas.microsoft.com/office/drawing/2014/main" id="{6EE70982-C783-964D-ADA3-1B99DF2BF056}"/>
              </a:ext>
            </a:extLst>
          </p:cNvPr>
          <p:cNvSpPr>
            <a:spLocks noChangeShapeType="1"/>
          </p:cNvSpPr>
          <p:nvPr/>
        </p:nvSpPr>
        <p:spPr bwMode="auto">
          <a:xfrm>
            <a:off x="774700" y="1323975"/>
            <a:ext cx="14224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11" name="Line 185">
            <a:extLst>
              <a:ext uri="{FF2B5EF4-FFF2-40B4-BE49-F238E27FC236}">
                <a16:creationId xmlns:a16="http://schemas.microsoft.com/office/drawing/2014/main" id="{F91E62E9-6CCB-6147-9C7A-2D86EEADD86F}"/>
              </a:ext>
            </a:extLst>
          </p:cNvPr>
          <p:cNvSpPr>
            <a:spLocks noChangeShapeType="1"/>
          </p:cNvSpPr>
          <p:nvPr/>
        </p:nvSpPr>
        <p:spPr bwMode="auto">
          <a:xfrm>
            <a:off x="4584700" y="1323975"/>
            <a:ext cx="14224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12" name="Line 186">
            <a:extLst>
              <a:ext uri="{FF2B5EF4-FFF2-40B4-BE49-F238E27FC236}">
                <a16:creationId xmlns:a16="http://schemas.microsoft.com/office/drawing/2014/main" id="{BC033BD3-61E6-C04B-8E7E-C4D6348B1A54}"/>
              </a:ext>
            </a:extLst>
          </p:cNvPr>
          <p:cNvSpPr>
            <a:spLocks noChangeShapeType="1"/>
          </p:cNvSpPr>
          <p:nvPr/>
        </p:nvSpPr>
        <p:spPr bwMode="auto">
          <a:xfrm flipH="1">
            <a:off x="6845300" y="1323975"/>
            <a:ext cx="14732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13" name="Line 187">
            <a:extLst>
              <a:ext uri="{FF2B5EF4-FFF2-40B4-BE49-F238E27FC236}">
                <a16:creationId xmlns:a16="http://schemas.microsoft.com/office/drawing/2014/main" id="{018EE318-D345-B840-8DFE-D40C010A312A}"/>
              </a:ext>
            </a:extLst>
          </p:cNvPr>
          <p:cNvSpPr>
            <a:spLocks noChangeShapeType="1"/>
          </p:cNvSpPr>
          <p:nvPr/>
        </p:nvSpPr>
        <p:spPr bwMode="auto">
          <a:xfrm flipH="1">
            <a:off x="3111500" y="1323975"/>
            <a:ext cx="14732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814" name="Rectangle 188">
            <a:extLst>
              <a:ext uri="{FF2B5EF4-FFF2-40B4-BE49-F238E27FC236}">
                <a16:creationId xmlns:a16="http://schemas.microsoft.com/office/drawing/2014/main" id="{5F87B5A6-AE43-6A43-AE24-DD2A83920591}"/>
              </a:ext>
            </a:extLst>
          </p:cNvPr>
          <p:cNvSpPr>
            <a:spLocks noChangeArrowheads="1"/>
          </p:cNvSpPr>
          <p:nvPr/>
        </p:nvSpPr>
        <p:spPr bwMode="auto">
          <a:xfrm>
            <a:off x="698500" y="696913"/>
            <a:ext cx="3309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marL="1143000" indent="-228600">
              <a:defRPr sz="1600" b="1">
                <a:solidFill>
                  <a:schemeClr val="tx1"/>
                </a:solidFill>
                <a:latin typeface="Times New Roman" panose="02020603050405020304" pitchFamily="18" charset="0"/>
              </a:defRPr>
            </a:lvl3pPr>
            <a:lvl4pPr marL="1600200" indent="-228600">
              <a:defRPr sz="1600" b="1">
                <a:solidFill>
                  <a:schemeClr val="tx1"/>
                </a:solidFill>
                <a:latin typeface="Times New Roman" panose="02020603050405020304" pitchFamily="18" charset="0"/>
              </a:defRPr>
            </a:lvl4pPr>
            <a:lvl5pPr marL="2057400" indent="-22860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zh-CN" altLang="en-US" sz="1800">
                <a:solidFill>
                  <a:srgbClr val="CC0000"/>
                </a:solidFill>
                <a:ea typeface="宋体" panose="02010600030101010101" pitchFamily="2" charset="-122"/>
              </a:rPr>
              <a:t>单周期</a:t>
            </a:r>
            <a:r>
              <a:rPr lang="en-US" altLang="zh-CN" sz="1800">
                <a:solidFill>
                  <a:srgbClr val="CC0000"/>
                </a:solidFill>
                <a:ea typeface="宋体" panose="02010600030101010101" pitchFamily="2" charset="-122"/>
              </a:rPr>
              <a:t>, </a:t>
            </a:r>
            <a:r>
              <a:rPr lang="zh-CN" altLang="en-US" sz="1800">
                <a:solidFill>
                  <a:srgbClr val="CC0000"/>
                </a:solidFill>
                <a:ea typeface="宋体" panose="02010600030101010101" pitchFamily="2" charset="-122"/>
              </a:rPr>
              <a:t>多周期 和</a:t>
            </a:r>
            <a:r>
              <a:rPr lang="en-US" altLang="zh-CN" sz="1800">
                <a:solidFill>
                  <a:srgbClr val="CC0000"/>
                </a:solidFill>
                <a:ea typeface="宋体" panose="02010600030101010101" pitchFamily="2" charset="-122"/>
              </a:rPr>
              <a:t> </a:t>
            </a:r>
            <a:r>
              <a:rPr lang="zh-CN" altLang="en-US" sz="1800">
                <a:solidFill>
                  <a:srgbClr val="CC0000"/>
                </a:solidFill>
                <a:ea typeface="宋体" panose="02010600030101010101" pitchFamily="2" charset="-122"/>
              </a:rPr>
              <a:t>流水线比较</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F536759-081D-0E45-BA52-140F4259AF8F}"/>
              </a:ext>
            </a:extLst>
          </p:cNvPr>
          <p:cNvSpPr>
            <a:spLocks noGrp="1" noChangeArrowheads="1"/>
          </p:cNvSpPr>
          <p:nvPr>
            <p:ph type="title"/>
          </p:nvPr>
        </p:nvSpPr>
        <p:spPr/>
        <p:txBody>
          <a:bodyPr/>
          <a:lstStyle/>
          <a:p>
            <a:r>
              <a:rPr lang="zh-CN" altLang="en-US">
                <a:ea typeface="宋体" panose="02010600030101010101" pitchFamily="2" charset="-122"/>
              </a:rPr>
              <a:t>本章总结</a:t>
            </a:r>
            <a:r>
              <a:rPr lang="en-US" altLang="zh-CN">
                <a:ea typeface="宋体" panose="02010600030101010101" pitchFamily="2" charset="-122"/>
              </a:rPr>
              <a:t>3</a:t>
            </a:r>
          </a:p>
        </p:txBody>
      </p:sp>
      <p:sp>
        <p:nvSpPr>
          <p:cNvPr id="269315" name="Rectangle 3">
            <a:extLst>
              <a:ext uri="{FF2B5EF4-FFF2-40B4-BE49-F238E27FC236}">
                <a16:creationId xmlns:a16="http://schemas.microsoft.com/office/drawing/2014/main" id="{E65F734A-DE64-954C-B317-2E374E9449CA}"/>
              </a:ext>
            </a:extLst>
          </p:cNvPr>
          <p:cNvSpPr>
            <a:spLocks noGrp="1" noChangeArrowheads="1"/>
          </p:cNvSpPr>
          <p:nvPr>
            <p:ph type="body" idx="1"/>
          </p:nvPr>
        </p:nvSpPr>
        <p:spPr>
          <a:xfrm>
            <a:off x="538163" y="779463"/>
            <a:ext cx="8191500" cy="5616575"/>
          </a:xfrm>
        </p:spPr>
        <p:txBody>
          <a:bodyPr/>
          <a:lstStyle/>
          <a:p>
            <a:pPr>
              <a:lnSpc>
                <a:spcPct val="115000"/>
              </a:lnSpc>
              <a:spcBef>
                <a:spcPct val="25000"/>
              </a:spcBef>
            </a:pPr>
            <a:r>
              <a:rPr lang="zh-CN" altLang="en-US" sz="1900">
                <a:ea typeface="黑体" panose="02010609060101010101" pitchFamily="49" charset="-122"/>
              </a:rPr>
              <a:t>指令流水线的局限性</a:t>
            </a:r>
          </a:p>
          <a:p>
            <a:pPr lvl="1">
              <a:lnSpc>
                <a:spcPct val="115000"/>
              </a:lnSpc>
              <a:spcBef>
                <a:spcPct val="25000"/>
              </a:spcBef>
            </a:pPr>
            <a:r>
              <a:rPr lang="zh-CN" altLang="en-US" sz="1900">
                <a:ea typeface="黑体" panose="02010609060101010101" pitchFamily="49" charset="-122"/>
              </a:rPr>
              <a:t>并不是每条指令都有相同多个流水段</a:t>
            </a:r>
          </a:p>
          <a:p>
            <a:pPr lvl="1">
              <a:lnSpc>
                <a:spcPct val="115000"/>
              </a:lnSpc>
              <a:spcBef>
                <a:spcPct val="25000"/>
              </a:spcBef>
            </a:pPr>
            <a:r>
              <a:rPr lang="zh-CN" altLang="en-US" sz="1900">
                <a:ea typeface="黑体" panose="02010609060101010101" pitchFamily="49" charset="-122"/>
              </a:rPr>
              <a:t>并不是每个流水段都一样长</a:t>
            </a:r>
          </a:p>
          <a:p>
            <a:pPr lvl="1">
              <a:lnSpc>
                <a:spcPct val="115000"/>
              </a:lnSpc>
              <a:spcBef>
                <a:spcPct val="25000"/>
              </a:spcBef>
            </a:pPr>
            <a:r>
              <a:rPr lang="zh-CN" altLang="en-US" sz="1900">
                <a:ea typeface="黑体" panose="02010609060101010101" pitchFamily="49" charset="-122"/>
              </a:rPr>
              <a:t>随着流水线深度的增加，流水线寄存器的额外开销比例也增大</a:t>
            </a:r>
          </a:p>
          <a:p>
            <a:pPr lvl="1">
              <a:lnSpc>
                <a:spcPct val="115000"/>
              </a:lnSpc>
              <a:spcBef>
                <a:spcPct val="25000"/>
              </a:spcBef>
            </a:pPr>
            <a:r>
              <a:rPr lang="zh-CN" altLang="en-US" sz="1900">
                <a:ea typeface="黑体" panose="02010609060101010101" pitchFamily="49" charset="-122"/>
              </a:rPr>
              <a:t>指令在资源冲突、数据相关或控制相关时会发生流水线冒险</a:t>
            </a:r>
          </a:p>
          <a:p>
            <a:pPr>
              <a:lnSpc>
                <a:spcPct val="115000"/>
              </a:lnSpc>
              <a:spcBef>
                <a:spcPct val="25000"/>
              </a:spcBef>
            </a:pPr>
            <a:r>
              <a:rPr lang="zh-CN" altLang="en-US" sz="1900">
                <a:ea typeface="黑体" panose="02010609060101010101" pitchFamily="49" charset="-122"/>
              </a:rPr>
              <a:t>指令流水线的执行效率</a:t>
            </a:r>
          </a:p>
          <a:p>
            <a:pPr lvl="1">
              <a:lnSpc>
                <a:spcPct val="115000"/>
              </a:lnSpc>
              <a:spcBef>
                <a:spcPct val="25000"/>
              </a:spcBef>
            </a:pPr>
            <a:r>
              <a:rPr lang="zh-CN" altLang="en-US" sz="1900">
                <a:ea typeface="黑体" panose="02010609060101010101" pitchFamily="49" charset="-122"/>
              </a:rPr>
              <a:t>吞吐率：比非流水线方式下大大提高</a:t>
            </a:r>
          </a:p>
          <a:p>
            <a:pPr lvl="1">
              <a:lnSpc>
                <a:spcPct val="115000"/>
              </a:lnSpc>
              <a:spcBef>
                <a:spcPct val="25000"/>
              </a:spcBef>
            </a:pPr>
            <a:r>
              <a:rPr lang="zh-CN" altLang="en-US" sz="1900">
                <a:ea typeface="黑体" panose="02010609060101010101" pitchFamily="49" charset="-122"/>
              </a:rPr>
              <a:t>指令执行时间：相对于非流水线方式，一条指令的执行时间延长了</a:t>
            </a:r>
          </a:p>
          <a:p>
            <a:pPr>
              <a:lnSpc>
                <a:spcPct val="115000"/>
              </a:lnSpc>
              <a:spcBef>
                <a:spcPct val="25000"/>
              </a:spcBef>
            </a:pPr>
            <a:r>
              <a:rPr lang="zh-CN" altLang="en-US" sz="1900">
                <a:ea typeface="黑体" panose="02010609060101010101" pitchFamily="49" charset="-122"/>
              </a:rPr>
              <a:t>提高流水线指令效率的高级流水线技术</a:t>
            </a:r>
          </a:p>
          <a:p>
            <a:pPr lvl="1">
              <a:lnSpc>
                <a:spcPct val="115000"/>
              </a:lnSpc>
              <a:spcBef>
                <a:spcPct val="25000"/>
              </a:spcBef>
            </a:pPr>
            <a:r>
              <a:rPr lang="zh-CN" altLang="en-US" sz="1900">
                <a:ea typeface="黑体" panose="02010609060101010101" pitchFamily="49" charset="-122"/>
              </a:rPr>
              <a:t>超流水线：级数更多的流水线</a:t>
            </a:r>
          </a:p>
          <a:p>
            <a:pPr lvl="1">
              <a:lnSpc>
                <a:spcPct val="115000"/>
              </a:lnSpc>
              <a:spcBef>
                <a:spcPct val="25000"/>
              </a:spcBef>
            </a:pPr>
            <a:r>
              <a:rPr lang="zh-CN" altLang="en-US" sz="1900">
                <a:ea typeface="黑体" panose="02010609060101010101" pitchFamily="49" charset="-122"/>
              </a:rPr>
              <a:t>多发射流水线：同时发射多条指令的流水线</a:t>
            </a:r>
          </a:p>
          <a:p>
            <a:pPr lvl="2">
              <a:lnSpc>
                <a:spcPct val="115000"/>
              </a:lnSpc>
              <a:spcBef>
                <a:spcPct val="25000"/>
              </a:spcBef>
            </a:pPr>
            <a:r>
              <a:rPr lang="zh-CN" altLang="en-US" sz="1900">
                <a:ea typeface="黑体" panose="02010609060101010101" pitchFamily="49" charset="-122"/>
              </a:rPr>
              <a:t>静态多发射：</a:t>
            </a:r>
            <a:r>
              <a:rPr lang="en-US" altLang="zh-CN" sz="1900">
                <a:ea typeface="黑体" panose="02010609060101010101" pitchFamily="49" charset="-122"/>
              </a:rPr>
              <a:t>VLIW</a:t>
            </a:r>
            <a:r>
              <a:rPr lang="zh-CN" altLang="en-US" sz="1900">
                <a:ea typeface="黑体" panose="02010609060101010101" pitchFamily="49" charset="-122"/>
              </a:rPr>
              <a:t>结构、编译器静态推测</a:t>
            </a:r>
          </a:p>
          <a:p>
            <a:pPr lvl="2">
              <a:lnSpc>
                <a:spcPct val="115000"/>
              </a:lnSpc>
              <a:spcBef>
                <a:spcPct val="25000"/>
              </a:spcBef>
            </a:pPr>
            <a:r>
              <a:rPr lang="zh-CN" altLang="en-US" sz="1900">
                <a:ea typeface="黑体" panose="02010609060101010101" pitchFamily="49" charset="-122"/>
              </a:rPr>
              <a:t>动态多发射：超标量结构、硬件动态推测调度</a:t>
            </a:r>
          </a:p>
          <a:p>
            <a:endParaRPr lang="zh-CN" altLang="en-US" sz="190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9315">
                                            <p:txEl>
                                              <p:pRg st="1" end="1"/>
                                            </p:txEl>
                                          </p:spTgt>
                                        </p:tgtEl>
                                        <p:attrNameLst>
                                          <p:attrName>style.visibility</p:attrName>
                                        </p:attrNameLst>
                                      </p:cBhvr>
                                      <p:to>
                                        <p:strVal val="visible"/>
                                      </p:to>
                                    </p:set>
                                    <p:animEffect transition="in" filter="blinds(horizontal)">
                                      <p:cBhvr>
                                        <p:cTn id="7" dur="500"/>
                                        <p:tgtEl>
                                          <p:spTgt spid="2693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9315">
                                            <p:txEl>
                                              <p:pRg st="2" end="2"/>
                                            </p:txEl>
                                          </p:spTgt>
                                        </p:tgtEl>
                                        <p:attrNameLst>
                                          <p:attrName>style.visibility</p:attrName>
                                        </p:attrNameLst>
                                      </p:cBhvr>
                                      <p:to>
                                        <p:strVal val="visible"/>
                                      </p:to>
                                    </p:set>
                                    <p:animEffect transition="in" filter="blinds(horizontal)">
                                      <p:cBhvr>
                                        <p:cTn id="12" dur="500"/>
                                        <p:tgtEl>
                                          <p:spTgt spid="2693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9315">
                                            <p:txEl>
                                              <p:pRg st="3" end="3"/>
                                            </p:txEl>
                                          </p:spTgt>
                                        </p:tgtEl>
                                        <p:attrNameLst>
                                          <p:attrName>style.visibility</p:attrName>
                                        </p:attrNameLst>
                                      </p:cBhvr>
                                      <p:to>
                                        <p:strVal val="visible"/>
                                      </p:to>
                                    </p:set>
                                    <p:animEffect transition="in" filter="blinds(horizontal)">
                                      <p:cBhvr>
                                        <p:cTn id="17" dur="500"/>
                                        <p:tgtEl>
                                          <p:spTgt spid="2693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9315">
                                            <p:txEl>
                                              <p:pRg st="4" end="4"/>
                                            </p:txEl>
                                          </p:spTgt>
                                        </p:tgtEl>
                                        <p:attrNameLst>
                                          <p:attrName>style.visibility</p:attrName>
                                        </p:attrNameLst>
                                      </p:cBhvr>
                                      <p:to>
                                        <p:strVal val="visible"/>
                                      </p:to>
                                    </p:set>
                                    <p:animEffect transition="in" filter="blinds(horizontal)">
                                      <p:cBhvr>
                                        <p:cTn id="22" dur="500"/>
                                        <p:tgtEl>
                                          <p:spTgt spid="2693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9315">
                                            <p:txEl>
                                              <p:pRg st="6" end="6"/>
                                            </p:txEl>
                                          </p:spTgt>
                                        </p:tgtEl>
                                        <p:attrNameLst>
                                          <p:attrName>style.visibility</p:attrName>
                                        </p:attrNameLst>
                                      </p:cBhvr>
                                      <p:to>
                                        <p:strVal val="visible"/>
                                      </p:to>
                                    </p:set>
                                    <p:animEffect transition="in" filter="blinds(horizontal)">
                                      <p:cBhvr>
                                        <p:cTn id="27" dur="500"/>
                                        <p:tgtEl>
                                          <p:spTgt spid="26931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9315">
                                            <p:txEl>
                                              <p:pRg st="7" end="7"/>
                                            </p:txEl>
                                          </p:spTgt>
                                        </p:tgtEl>
                                        <p:attrNameLst>
                                          <p:attrName>style.visibility</p:attrName>
                                        </p:attrNameLst>
                                      </p:cBhvr>
                                      <p:to>
                                        <p:strVal val="visible"/>
                                      </p:to>
                                    </p:set>
                                    <p:animEffect transition="in" filter="blinds(horizontal)">
                                      <p:cBhvr>
                                        <p:cTn id="32" dur="500"/>
                                        <p:tgtEl>
                                          <p:spTgt spid="26931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9315">
                                            <p:txEl>
                                              <p:pRg st="9" end="9"/>
                                            </p:txEl>
                                          </p:spTgt>
                                        </p:tgtEl>
                                        <p:attrNameLst>
                                          <p:attrName>style.visibility</p:attrName>
                                        </p:attrNameLst>
                                      </p:cBhvr>
                                      <p:to>
                                        <p:strVal val="visible"/>
                                      </p:to>
                                    </p:set>
                                    <p:animEffect transition="in" filter="blinds(horizontal)">
                                      <p:cBhvr>
                                        <p:cTn id="37" dur="500"/>
                                        <p:tgtEl>
                                          <p:spTgt spid="269315">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69315">
                                            <p:txEl>
                                              <p:pRg st="10" end="10"/>
                                            </p:txEl>
                                          </p:spTgt>
                                        </p:tgtEl>
                                        <p:attrNameLst>
                                          <p:attrName>style.visibility</p:attrName>
                                        </p:attrNameLst>
                                      </p:cBhvr>
                                      <p:to>
                                        <p:strVal val="visible"/>
                                      </p:to>
                                    </p:set>
                                    <p:animEffect transition="in" filter="blinds(horizontal)">
                                      <p:cBhvr>
                                        <p:cTn id="42" dur="500"/>
                                        <p:tgtEl>
                                          <p:spTgt spid="269315">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69315">
                                            <p:txEl>
                                              <p:pRg st="11" end="11"/>
                                            </p:txEl>
                                          </p:spTgt>
                                        </p:tgtEl>
                                        <p:attrNameLst>
                                          <p:attrName>style.visibility</p:attrName>
                                        </p:attrNameLst>
                                      </p:cBhvr>
                                      <p:to>
                                        <p:strVal val="visible"/>
                                      </p:to>
                                    </p:set>
                                    <p:animEffect transition="in" filter="blinds(horizontal)">
                                      <p:cBhvr>
                                        <p:cTn id="47" dur="500"/>
                                        <p:tgtEl>
                                          <p:spTgt spid="269315">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69315">
                                            <p:txEl>
                                              <p:pRg st="12" end="12"/>
                                            </p:txEl>
                                          </p:spTgt>
                                        </p:tgtEl>
                                        <p:attrNameLst>
                                          <p:attrName>style.visibility</p:attrName>
                                        </p:attrNameLst>
                                      </p:cBhvr>
                                      <p:to>
                                        <p:strVal val="visible"/>
                                      </p:to>
                                    </p:set>
                                    <p:animEffect transition="in" filter="blinds(horizontal)">
                                      <p:cBhvr>
                                        <p:cTn id="52" dur="500"/>
                                        <p:tgtEl>
                                          <p:spTgt spid="26931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9B4C770D-D022-9745-99F9-AC1DAA819109}"/>
              </a:ext>
            </a:extLst>
          </p:cNvPr>
          <p:cNvSpPr>
            <a:spLocks noGrp="1" noChangeArrowheads="1"/>
          </p:cNvSpPr>
          <p:nvPr>
            <p:ph type="title"/>
          </p:nvPr>
        </p:nvSpPr>
        <p:spPr/>
        <p:txBody>
          <a:bodyPr/>
          <a:lstStyle/>
          <a:p>
            <a:r>
              <a:rPr lang="zh-CN" altLang="en-US">
                <a:ea typeface="宋体" panose="02010600030101010101" pitchFamily="2" charset="-122"/>
              </a:rPr>
              <a:t>本章总结</a:t>
            </a:r>
            <a:r>
              <a:rPr lang="en-US" altLang="zh-CN">
                <a:ea typeface="宋体" panose="02010600030101010101" pitchFamily="2" charset="-122"/>
              </a:rPr>
              <a:t>4</a:t>
            </a:r>
          </a:p>
        </p:txBody>
      </p:sp>
      <p:sp>
        <p:nvSpPr>
          <p:cNvPr id="267267" name="Rectangle 3">
            <a:extLst>
              <a:ext uri="{FF2B5EF4-FFF2-40B4-BE49-F238E27FC236}">
                <a16:creationId xmlns:a16="http://schemas.microsoft.com/office/drawing/2014/main" id="{D2444364-05DD-9A48-8605-90384AAF9FD1}"/>
              </a:ext>
            </a:extLst>
          </p:cNvPr>
          <p:cNvSpPr>
            <a:spLocks noGrp="1" noChangeArrowheads="1"/>
          </p:cNvSpPr>
          <p:nvPr>
            <p:ph type="body" idx="1"/>
          </p:nvPr>
        </p:nvSpPr>
        <p:spPr>
          <a:xfrm>
            <a:off x="438150" y="400050"/>
            <a:ext cx="8191500" cy="5176838"/>
          </a:xfrm>
        </p:spPr>
        <p:txBody>
          <a:bodyPr/>
          <a:lstStyle/>
          <a:p>
            <a:pPr>
              <a:buFont typeface="Times New Roman" panose="02020603050405020304" pitchFamily="18" charset="0"/>
              <a:buNone/>
            </a:pPr>
            <a:endParaRPr lang="zh-CN" altLang="en-US" sz="2000">
              <a:ea typeface="宋体" panose="02010600030101010101" pitchFamily="2" charset="-122"/>
            </a:endParaRPr>
          </a:p>
          <a:p>
            <a:pPr>
              <a:lnSpc>
                <a:spcPct val="115000"/>
              </a:lnSpc>
              <a:spcBef>
                <a:spcPct val="45000"/>
              </a:spcBef>
            </a:pPr>
            <a:r>
              <a:rPr lang="zh-CN" altLang="en-US" sz="1900">
                <a:ea typeface="黑体" panose="02010609060101010101" pitchFamily="49" charset="-122"/>
              </a:rPr>
              <a:t>结构冒险（资源冲突）：多条指令同时使用同一个功能部件</a:t>
            </a:r>
          </a:p>
          <a:p>
            <a:pPr lvl="1">
              <a:lnSpc>
                <a:spcPct val="115000"/>
              </a:lnSpc>
              <a:spcBef>
                <a:spcPct val="45000"/>
              </a:spcBef>
            </a:pPr>
            <a:r>
              <a:rPr lang="zh-CN" altLang="en-US" sz="1900">
                <a:ea typeface="黑体" panose="02010609060101010101" pitchFamily="49" charset="-122"/>
              </a:rPr>
              <a:t>规定每个功能部件在一条指令中只能被用一次</a:t>
            </a:r>
          </a:p>
          <a:p>
            <a:pPr lvl="1">
              <a:lnSpc>
                <a:spcPct val="115000"/>
              </a:lnSpc>
              <a:spcBef>
                <a:spcPct val="45000"/>
              </a:spcBef>
            </a:pPr>
            <a:r>
              <a:rPr lang="zh-CN" altLang="en-US" sz="1900">
                <a:ea typeface="黑体" panose="02010609060101010101" pitchFamily="49" charset="-122"/>
              </a:rPr>
              <a:t>规定每个功能部件只能在某个特定的阶段被用</a:t>
            </a:r>
          </a:p>
          <a:p>
            <a:pPr lvl="1">
              <a:lnSpc>
                <a:spcPct val="115000"/>
              </a:lnSpc>
              <a:spcBef>
                <a:spcPct val="45000"/>
              </a:spcBef>
            </a:pPr>
            <a:r>
              <a:rPr lang="zh-CN" altLang="en-US" sz="1900">
                <a:ea typeface="黑体" panose="02010609060101010101" pitchFamily="49" charset="-122"/>
              </a:rPr>
              <a:t>指令存储器</a:t>
            </a:r>
            <a:r>
              <a:rPr lang="en-US" altLang="zh-CN" sz="1900">
                <a:ea typeface="黑体" panose="02010609060101010101" pitchFamily="49" charset="-122"/>
              </a:rPr>
              <a:t>(Code Cache)</a:t>
            </a:r>
            <a:r>
              <a:rPr lang="zh-CN" altLang="en-US" sz="1900">
                <a:ea typeface="黑体" panose="02010609060101010101" pitchFamily="49" charset="-122"/>
              </a:rPr>
              <a:t>和数据存储器</a:t>
            </a:r>
            <a:r>
              <a:rPr lang="en-US" altLang="zh-CN" sz="1900">
                <a:ea typeface="黑体" panose="02010609060101010101" pitchFamily="49" charset="-122"/>
              </a:rPr>
              <a:t>(Data Cache)</a:t>
            </a:r>
            <a:r>
              <a:rPr lang="zh-CN" altLang="en-US" sz="1900">
                <a:ea typeface="黑体" panose="02010609060101010101" pitchFamily="49" charset="-122"/>
              </a:rPr>
              <a:t>分开</a:t>
            </a:r>
          </a:p>
          <a:p>
            <a:pPr>
              <a:lnSpc>
                <a:spcPct val="115000"/>
              </a:lnSpc>
              <a:spcBef>
                <a:spcPct val="45000"/>
              </a:spcBef>
            </a:pPr>
            <a:r>
              <a:rPr lang="zh-CN" altLang="en-US" sz="1900">
                <a:ea typeface="黑体" panose="02010609060101010101" pitchFamily="49" charset="-122"/>
              </a:rPr>
              <a:t>数据冒险（数据相关）：前面指令的结果是后面指令的操作数</a:t>
            </a:r>
          </a:p>
          <a:p>
            <a:pPr lvl="1">
              <a:lnSpc>
                <a:spcPct val="115000"/>
              </a:lnSpc>
              <a:spcBef>
                <a:spcPct val="45000"/>
              </a:spcBef>
            </a:pPr>
            <a:r>
              <a:rPr lang="zh-CN" altLang="en-US" sz="1900">
                <a:ea typeface="黑体" panose="02010609060101010101" pitchFamily="49" charset="-122"/>
              </a:rPr>
              <a:t>软件阻塞：（如：编译器）在后面的数据相关指令前插入</a:t>
            </a:r>
            <a:r>
              <a:rPr lang="en-US" altLang="zh-CN" sz="1900">
                <a:ea typeface="黑体" panose="02010609060101010101" pitchFamily="49" charset="-122"/>
              </a:rPr>
              <a:t>nop</a:t>
            </a:r>
            <a:r>
              <a:rPr lang="zh-CN" altLang="en-US" sz="1900">
                <a:ea typeface="黑体" panose="02010609060101010101" pitchFamily="49" charset="-122"/>
              </a:rPr>
              <a:t>指令</a:t>
            </a:r>
          </a:p>
          <a:p>
            <a:pPr lvl="1">
              <a:lnSpc>
                <a:spcPct val="115000"/>
              </a:lnSpc>
              <a:spcBef>
                <a:spcPct val="45000"/>
              </a:spcBef>
            </a:pPr>
            <a:r>
              <a:rPr lang="zh-CN" altLang="en-US" sz="1900">
                <a:ea typeface="黑体" panose="02010609060101010101" pitchFamily="49" charset="-122"/>
              </a:rPr>
              <a:t>硬件阻塞：在后面数据相关指令的特定流水段插入“气泡”以“阻塞”指令继续执行，直到取得所需数据为止</a:t>
            </a:r>
          </a:p>
          <a:p>
            <a:pPr lvl="1">
              <a:lnSpc>
                <a:spcPct val="115000"/>
              </a:lnSpc>
              <a:spcBef>
                <a:spcPct val="45000"/>
              </a:spcBef>
            </a:pPr>
            <a:r>
              <a:rPr lang="zh-CN" altLang="en-US" sz="1900">
                <a:ea typeface="黑体" panose="02010609060101010101" pitchFamily="49" charset="-122"/>
              </a:rPr>
              <a:t>“转发”（旁路）：把前面指令执行过程中得到的数据直接传送到后面指令相应的流水段中。</a:t>
            </a:r>
          </a:p>
          <a:p>
            <a:pPr lvl="1">
              <a:lnSpc>
                <a:spcPct val="115000"/>
              </a:lnSpc>
              <a:spcBef>
                <a:spcPct val="45000"/>
              </a:spcBef>
            </a:pPr>
            <a:r>
              <a:rPr lang="zh-CN" altLang="en-US" sz="1900">
                <a:ea typeface="黑体" panose="02010609060101010101" pitchFamily="49" charset="-122"/>
              </a:rPr>
              <a:t>对于</a:t>
            </a:r>
            <a:r>
              <a:rPr lang="en-US" altLang="zh-CN" sz="1900">
                <a:ea typeface="黑体" panose="02010609060101010101" pitchFamily="49" charset="-122"/>
              </a:rPr>
              <a:t>load-use</a:t>
            </a:r>
            <a:r>
              <a:rPr lang="zh-CN" altLang="en-US" sz="1900">
                <a:ea typeface="黑体" panose="02010609060101010101" pitchFamily="49" charset="-122"/>
              </a:rPr>
              <a:t>，采用“阻塞加转发”的方式解决数据冒险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7267">
                                            <p:txEl>
                                              <p:pRg st="2" end="2"/>
                                            </p:txEl>
                                          </p:spTgt>
                                        </p:tgtEl>
                                        <p:attrNameLst>
                                          <p:attrName>style.visibility</p:attrName>
                                        </p:attrNameLst>
                                      </p:cBhvr>
                                      <p:to>
                                        <p:strVal val="visible"/>
                                      </p:to>
                                    </p:set>
                                    <p:animEffect transition="in" filter="blinds(horizontal)">
                                      <p:cBhvr>
                                        <p:cTn id="7" dur="500"/>
                                        <p:tgtEl>
                                          <p:spTgt spid="267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7267">
                                            <p:txEl>
                                              <p:pRg st="3" end="3"/>
                                            </p:txEl>
                                          </p:spTgt>
                                        </p:tgtEl>
                                        <p:attrNameLst>
                                          <p:attrName>style.visibility</p:attrName>
                                        </p:attrNameLst>
                                      </p:cBhvr>
                                      <p:to>
                                        <p:strVal val="visible"/>
                                      </p:to>
                                    </p:set>
                                    <p:animEffect transition="in" filter="blinds(horizontal)">
                                      <p:cBhvr>
                                        <p:cTn id="12" dur="500"/>
                                        <p:tgtEl>
                                          <p:spTgt spid="267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7267">
                                            <p:txEl>
                                              <p:pRg st="4" end="4"/>
                                            </p:txEl>
                                          </p:spTgt>
                                        </p:tgtEl>
                                        <p:attrNameLst>
                                          <p:attrName>style.visibility</p:attrName>
                                        </p:attrNameLst>
                                      </p:cBhvr>
                                      <p:to>
                                        <p:strVal val="visible"/>
                                      </p:to>
                                    </p:set>
                                    <p:animEffect transition="in" filter="blinds(horizontal)">
                                      <p:cBhvr>
                                        <p:cTn id="17" dur="500"/>
                                        <p:tgtEl>
                                          <p:spTgt spid="267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7267">
                                            <p:txEl>
                                              <p:pRg st="6" end="6"/>
                                            </p:txEl>
                                          </p:spTgt>
                                        </p:tgtEl>
                                        <p:attrNameLst>
                                          <p:attrName>style.visibility</p:attrName>
                                        </p:attrNameLst>
                                      </p:cBhvr>
                                      <p:to>
                                        <p:strVal val="visible"/>
                                      </p:to>
                                    </p:set>
                                    <p:animEffect transition="in" filter="blinds(horizontal)">
                                      <p:cBhvr>
                                        <p:cTn id="22" dur="500"/>
                                        <p:tgtEl>
                                          <p:spTgt spid="26726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7267">
                                            <p:txEl>
                                              <p:pRg st="7" end="7"/>
                                            </p:txEl>
                                          </p:spTgt>
                                        </p:tgtEl>
                                        <p:attrNameLst>
                                          <p:attrName>style.visibility</p:attrName>
                                        </p:attrNameLst>
                                      </p:cBhvr>
                                      <p:to>
                                        <p:strVal val="visible"/>
                                      </p:to>
                                    </p:set>
                                    <p:animEffect transition="in" filter="blinds(horizontal)">
                                      <p:cBhvr>
                                        <p:cTn id="27" dur="500"/>
                                        <p:tgtEl>
                                          <p:spTgt spid="267267">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7267">
                                            <p:txEl>
                                              <p:pRg st="8" end="8"/>
                                            </p:txEl>
                                          </p:spTgt>
                                        </p:tgtEl>
                                        <p:attrNameLst>
                                          <p:attrName>style.visibility</p:attrName>
                                        </p:attrNameLst>
                                      </p:cBhvr>
                                      <p:to>
                                        <p:strVal val="visible"/>
                                      </p:to>
                                    </p:set>
                                    <p:animEffect transition="in" filter="blinds(horizontal)">
                                      <p:cBhvr>
                                        <p:cTn id="32" dur="500"/>
                                        <p:tgtEl>
                                          <p:spTgt spid="267267">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7267">
                                            <p:txEl>
                                              <p:pRg st="9" end="9"/>
                                            </p:txEl>
                                          </p:spTgt>
                                        </p:tgtEl>
                                        <p:attrNameLst>
                                          <p:attrName>style.visibility</p:attrName>
                                        </p:attrNameLst>
                                      </p:cBhvr>
                                      <p:to>
                                        <p:strVal val="visible"/>
                                      </p:to>
                                    </p:set>
                                    <p:animEffect transition="in" filter="blinds(horizontal)">
                                      <p:cBhvr>
                                        <p:cTn id="37" dur="500"/>
                                        <p:tgtEl>
                                          <p:spTgt spid="267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B7B17136-D371-7946-A138-F339C4D23BE8}"/>
              </a:ext>
            </a:extLst>
          </p:cNvPr>
          <p:cNvSpPr>
            <a:spLocks noGrp="1" noChangeArrowheads="1"/>
          </p:cNvSpPr>
          <p:nvPr>
            <p:ph type="title"/>
          </p:nvPr>
        </p:nvSpPr>
        <p:spPr/>
        <p:txBody>
          <a:bodyPr/>
          <a:lstStyle/>
          <a:p>
            <a:r>
              <a:rPr lang="zh-CN" altLang="en-US">
                <a:ea typeface="宋体" panose="02010600030101010101" pitchFamily="2" charset="-122"/>
              </a:rPr>
              <a:t>本章总结</a:t>
            </a:r>
            <a:r>
              <a:rPr lang="en-US" altLang="zh-CN">
                <a:ea typeface="宋体" panose="02010600030101010101" pitchFamily="2" charset="-122"/>
              </a:rPr>
              <a:t>5</a:t>
            </a:r>
          </a:p>
        </p:txBody>
      </p:sp>
      <p:sp>
        <p:nvSpPr>
          <p:cNvPr id="350211" name="Rectangle 3">
            <a:extLst>
              <a:ext uri="{FF2B5EF4-FFF2-40B4-BE49-F238E27FC236}">
                <a16:creationId xmlns:a16="http://schemas.microsoft.com/office/drawing/2014/main" id="{BB7C97E1-7826-F849-B69D-2B2E7E86525C}"/>
              </a:ext>
            </a:extLst>
          </p:cNvPr>
          <p:cNvSpPr>
            <a:spLocks noGrp="1" noChangeArrowheads="1"/>
          </p:cNvSpPr>
          <p:nvPr>
            <p:ph type="body" idx="1"/>
          </p:nvPr>
        </p:nvSpPr>
        <p:spPr>
          <a:xfrm>
            <a:off x="304800" y="919163"/>
            <a:ext cx="8424863" cy="5773737"/>
          </a:xfrm>
        </p:spPr>
        <p:txBody>
          <a:bodyPr/>
          <a:lstStyle/>
          <a:p>
            <a:pPr>
              <a:lnSpc>
                <a:spcPct val="120000"/>
              </a:lnSpc>
              <a:spcBef>
                <a:spcPct val="40000"/>
              </a:spcBef>
            </a:pPr>
            <a:r>
              <a:rPr lang="zh-CN" altLang="en-US" sz="2000">
                <a:ea typeface="黑体" panose="02010609060101010101" pitchFamily="49" charset="-122"/>
              </a:rPr>
              <a:t>控制冒险（控制相关）：返回指令、分支指令等可能改变顺序增量的</a:t>
            </a:r>
            <a:r>
              <a:rPr lang="en-US" altLang="zh-CN" sz="2000">
                <a:ea typeface="黑体" panose="02010609060101010101" pitchFamily="49" charset="-122"/>
              </a:rPr>
              <a:t>PC</a:t>
            </a:r>
            <a:r>
              <a:rPr lang="zh-CN" altLang="en-US" sz="2000">
                <a:ea typeface="黑体" panose="02010609060101010101" pitchFamily="49" charset="-122"/>
              </a:rPr>
              <a:t>值，由于获取转移目标地址的时间较长，使得在目标地址产生前已经有指令被取到流水线中，如果已经取出执行的指令不是正确的指令，则发生控制冒险。</a:t>
            </a:r>
          </a:p>
          <a:p>
            <a:pPr lvl="1">
              <a:lnSpc>
                <a:spcPct val="120000"/>
              </a:lnSpc>
            </a:pPr>
            <a:r>
              <a:rPr lang="zh-CN" altLang="en-US" sz="2000">
                <a:ea typeface="黑体" panose="02010609060101010101" pitchFamily="49" charset="-122"/>
              </a:rPr>
              <a:t>软件阻塞：（如：编译器）在控制相关指令后面插入</a:t>
            </a:r>
            <a:r>
              <a:rPr lang="en-US" altLang="zh-CN" sz="2000">
                <a:ea typeface="黑体" panose="02010609060101010101" pitchFamily="49" charset="-122"/>
              </a:rPr>
              <a:t>nop</a:t>
            </a:r>
            <a:r>
              <a:rPr lang="zh-CN" altLang="en-US" sz="2000">
                <a:ea typeface="黑体" panose="02010609060101010101" pitchFamily="49" charset="-122"/>
              </a:rPr>
              <a:t>指令</a:t>
            </a:r>
          </a:p>
          <a:p>
            <a:pPr lvl="1">
              <a:lnSpc>
                <a:spcPct val="120000"/>
              </a:lnSpc>
            </a:pPr>
            <a:r>
              <a:rPr lang="zh-CN" altLang="en-US" sz="2000">
                <a:ea typeface="黑体" panose="02010609060101010101" pitchFamily="49" charset="-122"/>
              </a:rPr>
              <a:t>硬件阻塞：在控制相关指令后面的指令被取出前插入“气泡”，使流水线停顿若干时钟，直到控制相关指令得到正确的</a:t>
            </a:r>
            <a:r>
              <a:rPr lang="en-US" altLang="zh-CN" sz="2000">
                <a:ea typeface="黑体" panose="02010609060101010101" pitchFamily="49" charset="-122"/>
              </a:rPr>
              <a:t>PC</a:t>
            </a:r>
            <a:r>
              <a:rPr lang="zh-CN" altLang="en-US" sz="2000">
                <a:ea typeface="黑体" panose="02010609060101010101" pitchFamily="49" charset="-122"/>
              </a:rPr>
              <a:t>值为止</a:t>
            </a:r>
          </a:p>
          <a:p>
            <a:pPr lvl="1">
              <a:lnSpc>
                <a:spcPct val="120000"/>
              </a:lnSpc>
            </a:pPr>
            <a:r>
              <a:rPr lang="zh-CN" altLang="en-US" sz="2000">
                <a:ea typeface="黑体" panose="02010609060101010101" pitchFamily="49" charset="-122"/>
              </a:rPr>
              <a:t>采用“分支预测”技术。简单（静态）地预测每次分支结果都一样，或根据分支指令执行历史进行动态预测，动态预测能达到</a:t>
            </a:r>
            <a:r>
              <a:rPr lang="en-US" altLang="zh-CN" sz="2000">
                <a:ea typeface="黑体" panose="02010609060101010101" pitchFamily="49" charset="-122"/>
              </a:rPr>
              <a:t>90%</a:t>
            </a:r>
            <a:r>
              <a:rPr lang="zh-CN" altLang="en-US" sz="2000">
                <a:ea typeface="黑体" panose="02010609060101010101" pitchFamily="49" charset="-122"/>
              </a:rPr>
              <a:t>以上的成功率</a:t>
            </a:r>
          </a:p>
          <a:p>
            <a:pPr lvl="1">
              <a:lnSpc>
                <a:spcPct val="120000"/>
              </a:lnSpc>
            </a:pPr>
            <a:r>
              <a:rPr lang="zh-CN" altLang="en-US" sz="2000">
                <a:ea typeface="黑体" panose="02010609060101010101" pitchFamily="49" charset="-122"/>
              </a:rPr>
              <a:t>采用延迟分支技术。将前面一条与分支指令无关的指令放到分支指令后面执行，这样，流水线不会发生阻塞现象。这种对指令顺序进行调整的工作在程序编译阶段完成</a:t>
            </a:r>
          </a:p>
          <a:p>
            <a:pPr>
              <a:lnSpc>
                <a:spcPct val="120000"/>
              </a:lnSpc>
              <a:spcBef>
                <a:spcPct val="40000"/>
              </a:spcBef>
            </a:pPr>
            <a:endParaRPr lang="zh-CN" altLang="en-US" sz="200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0211">
                                            <p:txEl>
                                              <p:pRg st="1" end="1"/>
                                            </p:txEl>
                                          </p:spTgt>
                                        </p:tgtEl>
                                        <p:attrNameLst>
                                          <p:attrName>style.visibility</p:attrName>
                                        </p:attrNameLst>
                                      </p:cBhvr>
                                      <p:to>
                                        <p:strVal val="visible"/>
                                      </p:to>
                                    </p:set>
                                    <p:animEffect transition="in" filter="blinds(horizontal)">
                                      <p:cBhvr>
                                        <p:cTn id="7" dur="500"/>
                                        <p:tgtEl>
                                          <p:spTgt spid="3502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0211">
                                            <p:txEl>
                                              <p:pRg st="2" end="2"/>
                                            </p:txEl>
                                          </p:spTgt>
                                        </p:tgtEl>
                                        <p:attrNameLst>
                                          <p:attrName>style.visibility</p:attrName>
                                        </p:attrNameLst>
                                      </p:cBhvr>
                                      <p:to>
                                        <p:strVal val="visible"/>
                                      </p:to>
                                    </p:set>
                                    <p:animEffect transition="in" filter="blinds(horizontal)">
                                      <p:cBhvr>
                                        <p:cTn id="12" dur="500"/>
                                        <p:tgtEl>
                                          <p:spTgt spid="3502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0211">
                                            <p:txEl>
                                              <p:pRg st="3" end="3"/>
                                            </p:txEl>
                                          </p:spTgt>
                                        </p:tgtEl>
                                        <p:attrNameLst>
                                          <p:attrName>style.visibility</p:attrName>
                                        </p:attrNameLst>
                                      </p:cBhvr>
                                      <p:to>
                                        <p:strVal val="visible"/>
                                      </p:to>
                                    </p:set>
                                    <p:animEffect transition="in" filter="blinds(horizontal)">
                                      <p:cBhvr>
                                        <p:cTn id="17" dur="500"/>
                                        <p:tgtEl>
                                          <p:spTgt spid="35021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0211">
                                            <p:txEl>
                                              <p:pRg st="4" end="4"/>
                                            </p:txEl>
                                          </p:spTgt>
                                        </p:tgtEl>
                                        <p:attrNameLst>
                                          <p:attrName>style.visibility</p:attrName>
                                        </p:attrNameLst>
                                      </p:cBhvr>
                                      <p:to>
                                        <p:strVal val="visible"/>
                                      </p:to>
                                    </p:set>
                                    <p:animEffect transition="in" filter="blinds(horizontal)">
                                      <p:cBhvr>
                                        <p:cTn id="22" dur="500"/>
                                        <p:tgtEl>
                                          <p:spTgt spid="3502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720B3F4C-1148-EA45-A0B7-B53D00D6B5E4}"/>
              </a:ext>
            </a:extLst>
          </p:cNvPr>
          <p:cNvSpPr>
            <a:spLocks noGrp="1" noChangeArrowheads="1"/>
          </p:cNvSpPr>
          <p:nvPr>
            <p:ph type="title"/>
          </p:nvPr>
        </p:nvSpPr>
        <p:spPr/>
        <p:txBody>
          <a:bodyPr/>
          <a:lstStyle/>
          <a:p>
            <a:r>
              <a:rPr lang="zh-CN" altLang="en-US">
                <a:ea typeface="宋体" panose="02010600030101010101" pitchFamily="2" charset="-122"/>
              </a:rPr>
              <a:t>本章作业</a:t>
            </a:r>
          </a:p>
        </p:txBody>
      </p:sp>
      <p:sp>
        <p:nvSpPr>
          <p:cNvPr id="162819" name="Rectangle 3">
            <a:extLst>
              <a:ext uri="{FF2B5EF4-FFF2-40B4-BE49-F238E27FC236}">
                <a16:creationId xmlns:a16="http://schemas.microsoft.com/office/drawing/2014/main" id="{674C033F-605A-BD4D-B142-5304A4063CB8}"/>
              </a:ext>
            </a:extLst>
          </p:cNvPr>
          <p:cNvSpPr>
            <a:spLocks noGrp="1" noChangeArrowheads="1"/>
          </p:cNvSpPr>
          <p:nvPr>
            <p:ph type="body" idx="1"/>
          </p:nvPr>
        </p:nvSpPr>
        <p:spPr>
          <a:xfrm>
            <a:off x="730250" y="835025"/>
            <a:ext cx="7681913" cy="681038"/>
          </a:xfrm>
        </p:spPr>
        <p:txBody>
          <a:bodyPr/>
          <a:lstStyle/>
          <a:p>
            <a:pPr>
              <a:lnSpc>
                <a:spcPct val="145000"/>
              </a:lnSpc>
              <a:buFont typeface="Wingdings" pitchFamily="2" charset="2"/>
              <a:buNone/>
            </a:pPr>
            <a:r>
              <a:rPr lang="en-US" altLang="zh-CN" sz="3200">
                <a:ea typeface="宋体" panose="02010600030101010101" pitchFamily="2" charset="-122"/>
              </a:rPr>
              <a:t>  </a:t>
            </a:r>
            <a:endParaRPr lang="en-US" altLang="zh-CN" sz="3600">
              <a:ea typeface="宋体" panose="02010600030101010101" pitchFamily="2" charset="-122"/>
            </a:endParaRPr>
          </a:p>
        </p:txBody>
      </p:sp>
      <p:sp>
        <p:nvSpPr>
          <p:cNvPr id="162820" name="Rectangle 3">
            <a:extLst>
              <a:ext uri="{FF2B5EF4-FFF2-40B4-BE49-F238E27FC236}">
                <a16:creationId xmlns:a16="http://schemas.microsoft.com/office/drawing/2014/main" id="{D1594E37-6B6B-974E-BFDA-03C49786C957}"/>
              </a:ext>
            </a:extLst>
          </p:cNvPr>
          <p:cNvSpPr txBox="1">
            <a:spLocks noChangeArrowheads="1"/>
          </p:cNvSpPr>
          <p:nvPr/>
        </p:nvSpPr>
        <p:spPr bwMode="auto">
          <a:xfrm>
            <a:off x="612775" y="1516063"/>
            <a:ext cx="613092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spAutoFit/>
          </a:bodyPr>
          <a:lstStyle>
            <a:lvl1pPr marL="203200" indent="-203200">
              <a:spcBef>
                <a:spcPct val="30000"/>
              </a:spcBef>
              <a:buSzPct val="100000"/>
              <a:buFont typeface="Times New Roman" panose="02020603050405020304" pitchFamily="18" charset="0"/>
              <a:buChar char="°"/>
              <a:defRPr b="1">
                <a:solidFill>
                  <a:schemeClr val="tx1"/>
                </a:solidFill>
                <a:latin typeface="Arial" panose="020B0604020202020204" pitchFamily="34" charset="0"/>
              </a:defRPr>
            </a:lvl1pPr>
            <a:lvl2pPr marL="685800" indent="-190500">
              <a:lnSpc>
                <a:spcPct val="85000"/>
              </a:lnSpc>
              <a:spcBef>
                <a:spcPct val="40000"/>
              </a:spcBef>
              <a:buSzPct val="100000"/>
              <a:buChar char="•"/>
              <a:defRPr b="1">
                <a:solidFill>
                  <a:schemeClr val="accent2"/>
                </a:solidFill>
                <a:latin typeface="Arial" panose="020B0604020202020204" pitchFamily="34" charset="0"/>
              </a:defRPr>
            </a:lvl2pPr>
            <a:lvl3pPr marL="1257300" indent="-342900">
              <a:lnSpc>
                <a:spcPct val="85000"/>
              </a:lnSpc>
              <a:spcBef>
                <a:spcPct val="40000"/>
              </a:spcBef>
              <a:buSzPct val="100000"/>
              <a:buChar char="-"/>
              <a:defRPr b="1">
                <a:solidFill>
                  <a:srgbClr val="990000"/>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20000"/>
              </a:lnSpc>
              <a:spcBef>
                <a:spcPct val="10000"/>
              </a:spcBef>
              <a:buClr>
                <a:schemeClr val="tx1"/>
              </a:buClr>
              <a:buSzPct val="60000"/>
              <a:buFont typeface="Wingdings" pitchFamily="2" charset="2"/>
              <a:buChar char="u"/>
            </a:pPr>
            <a:r>
              <a:rPr lang="zh-CN" altLang="en-US" sz="3200">
                <a:ea typeface="宋体" panose="02010600030101010101" pitchFamily="2" charset="-122"/>
              </a:rPr>
              <a:t>第</a:t>
            </a:r>
            <a:r>
              <a:rPr lang="en-US" altLang="zh-CN" sz="3200">
                <a:ea typeface="宋体" panose="02010600030101010101" pitchFamily="2" charset="-122"/>
              </a:rPr>
              <a:t>6</a:t>
            </a:r>
            <a:r>
              <a:rPr lang="zh-CN" altLang="en-US" sz="3200">
                <a:ea typeface="宋体" panose="02010600030101010101" pitchFamily="2" charset="-122"/>
              </a:rPr>
              <a:t>章习题 </a:t>
            </a:r>
            <a:endParaRPr lang="en-US" altLang="zh-CN" sz="3200">
              <a:ea typeface="宋体" panose="02010600030101010101" pitchFamily="2" charset="-122"/>
            </a:endParaRPr>
          </a:p>
          <a:p>
            <a:pPr>
              <a:lnSpc>
                <a:spcPct val="120000"/>
              </a:lnSpc>
              <a:spcBef>
                <a:spcPct val="10000"/>
              </a:spcBef>
              <a:buClr>
                <a:schemeClr val="tx1"/>
              </a:buClr>
              <a:buSzPct val="60000"/>
              <a:buFont typeface="Wingdings" pitchFamily="2" charset="2"/>
              <a:buNone/>
            </a:pPr>
            <a:r>
              <a:rPr lang="en-US" altLang="zh-CN" sz="3200">
                <a:ea typeface="宋体" panose="02010600030101010101" pitchFamily="2" charset="-122"/>
              </a:rPr>
              <a:t> 3</a:t>
            </a:r>
            <a:r>
              <a:rPr lang="zh-CN" altLang="en-US" sz="3200">
                <a:ea typeface="宋体" panose="02010600030101010101" pitchFamily="2" charset="-122"/>
              </a:rPr>
              <a:t>、</a:t>
            </a:r>
            <a:r>
              <a:rPr lang="en-US" altLang="zh-CN" sz="3200">
                <a:ea typeface="宋体" panose="02010600030101010101" pitchFamily="2" charset="-122"/>
              </a:rPr>
              <a:t>4</a:t>
            </a:r>
            <a:r>
              <a:rPr lang="zh-CN" altLang="en-US" sz="3200">
                <a:ea typeface="宋体" panose="02010600030101010101" pitchFamily="2" charset="-122"/>
              </a:rPr>
              <a:t>、</a:t>
            </a:r>
            <a:r>
              <a:rPr lang="en-US" altLang="zh-CN" sz="3200">
                <a:ea typeface="宋体" panose="02010600030101010101" pitchFamily="2" charset="-122"/>
              </a:rPr>
              <a:t>5</a:t>
            </a:r>
            <a:r>
              <a:rPr lang="zh-CN" altLang="en-US" sz="3200">
                <a:ea typeface="宋体" panose="02010600030101010101" pitchFamily="2" charset="-122"/>
              </a:rPr>
              <a:t>、</a:t>
            </a:r>
            <a:r>
              <a:rPr lang="en-US" altLang="zh-CN" sz="3200">
                <a:ea typeface="宋体" panose="02010600030101010101" pitchFamily="2" charset="-122"/>
              </a:rPr>
              <a:t>6</a:t>
            </a:r>
            <a:r>
              <a:rPr lang="zh-CN" altLang="en-US" sz="3200">
                <a:ea typeface="宋体" panose="02010600030101010101" pitchFamily="2" charset="-122"/>
              </a:rPr>
              <a:t>、</a:t>
            </a:r>
            <a:r>
              <a:rPr lang="en-US" altLang="zh-CN" sz="3200">
                <a:ea typeface="宋体" panose="02010600030101010101" pitchFamily="2" charset="-122"/>
              </a:rPr>
              <a:t>7</a:t>
            </a:r>
            <a:r>
              <a:rPr lang="zh-CN" altLang="en-US" sz="3200">
                <a:ea typeface="宋体" panose="02010600030101010101" pitchFamily="2" charset="-122"/>
              </a:rPr>
              <a:t>、</a:t>
            </a:r>
            <a:r>
              <a:rPr lang="en-US" altLang="zh-CN" sz="3200">
                <a:ea typeface="宋体" panose="02010600030101010101" pitchFamily="2" charset="-122"/>
              </a:rPr>
              <a:t>8</a:t>
            </a:r>
            <a:r>
              <a:rPr lang="zh-CN" altLang="en-US" sz="3200">
                <a:ea typeface="宋体" panose="02010600030101010101" pitchFamily="2" charset="-122"/>
              </a:rPr>
              <a:t>、</a:t>
            </a:r>
            <a:r>
              <a:rPr lang="en-US" altLang="zh-CN" sz="3200">
                <a:ea typeface="宋体" panose="02010600030101010101" pitchFamily="2" charset="-122"/>
              </a:rPr>
              <a:t>9</a:t>
            </a:r>
            <a:r>
              <a:rPr lang="zh-CN" altLang="en-US" sz="3200">
                <a:ea typeface="宋体" panose="02010600030101010101" pitchFamily="2" charset="-122"/>
              </a:rPr>
              <a:t>、</a:t>
            </a:r>
            <a:r>
              <a:rPr lang="en-US" altLang="zh-CN" sz="3200">
                <a:ea typeface="宋体" panose="02010600030101010101" pitchFamily="2" charset="-122"/>
              </a:rPr>
              <a:t>10</a:t>
            </a:r>
            <a:r>
              <a:rPr lang="zh-CN" altLang="en-US" sz="3200">
                <a:ea typeface="宋体" panose="02010600030101010101" pitchFamily="2" charset="-122"/>
              </a:rPr>
              <a:t>、</a:t>
            </a:r>
            <a:r>
              <a:rPr lang="en-US" altLang="zh-CN" sz="3200">
                <a:ea typeface="宋体" panose="02010600030101010101" pitchFamily="2" charset="-122"/>
              </a:rPr>
              <a:t>12</a:t>
            </a:r>
          </a:p>
        </p:txBody>
      </p:sp>
    </p:spTree>
  </p:cSld>
  <p:clrMapOvr>
    <a:masterClrMapping/>
  </p:clrMapOvr>
  <p:transition spd="med"/>
</p:sld>
</file>

<file path=ppt/theme/theme1.xml><?xml version="1.0" encoding="utf-8"?>
<a:theme xmlns:a="http://schemas.openxmlformats.org/drawingml/2006/main" name="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lectur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lecture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 Folder:C152 Spring95:lecture1</Template>
  <TotalTime>2184116962</TotalTime>
  <Pages>42</Pages>
  <Words>5748</Words>
  <Application>Microsoft Macintosh PowerPoint</Application>
  <PresentationFormat>全屏显示(4:3)</PresentationFormat>
  <Paragraphs>646</Paragraphs>
  <Slides>31</Slides>
  <Notes>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31</vt:i4>
      </vt:variant>
    </vt:vector>
  </HeadingPairs>
  <TitlesOfParts>
    <vt:vector size="37" baseType="lpstr">
      <vt:lpstr>黑体</vt:lpstr>
      <vt:lpstr>微软雅黑</vt:lpstr>
      <vt:lpstr>Arial</vt:lpstr>
      <vt:lpstr>Times New Roman</vt:lpstr>
      <vt:lpstr>Wingdings</vt:lpstr>
      <vt:lpstr>lecture1</vt:lpstr>
      <vt:lpstr>Control Hazard的解决方法</vt:lpstr>
      <vt:lpstr>简单（静态）分支预测方法</vt:lpstr>
      <vt:lpstr>复习: Control Hazard现象</vt:lpstr>
      <vt:lpstr>简单（静态）分支预测方法</vt:lpstr>
      <vt:lpstr>带静态分支预测处理的数据通路</vt:lpstr>
      <vt:lpstr>动态分支预测方法</vt:lpstr>
      <vt:lpstr>分支历史记录表BHT</vt:lpstr>
      <vt:lpstr>动态预测基本方法</vt:lpstr>
      <vt:lpstr>一位预测状态图</vt:lpstr>
      <vt:lpstr>举例：双重循环的一位动态预测</vt:lpstr>
      <vt:lpstr>动态预测基本方法</vt:lpstr>
      <vt:lpstr>两位预测状态图</vt:lpstr>
      <vt:lpstr>举例：双重循环的两位动态预测</vt:lpstr>
      <vt:lpstr>分支延迟时间片的调度</vt:lpstr>
      <vt:lpstr>另一种控制冒险：异常和中断</vt:lpstr>
      <vt:lpstr>异常的处理</vt:lpstr>
      <vt:lpstr>带异常处理的流水线数据通路</vt:lpstr>
      <vt:lpstr>流水线方式下的异常处理的难点问题</vt:lpstr>
      <vt:lpstr>三种处理器实现方式的比较</vt:lpstr>
      <vt:lpstr>三种处理器实现方式的比较</vt:lpstr>
      <vt:lpstr>三种处理器实现方式的比较</vt:lpstr>
      <vt:lpstr>第二讲小结</vt:lpstr>
      <vt:lpstr>第三讲 高级流水线技术</vt:lpstr>
      <vt:lpstr>提高性能措施—实现指令级并行</vt:lpstr>
      <vt:lpstr>实现多发射技术的基础—推测</vt:lpstr>
      <vt:lpstr>本章总结1</vt:lpstr>
      <vt:lpstr>本章总结2</vt:lpstr>
      <vt:lpstr>本章总结3</vt:lpstr>
      <vt:lpstr>本章总结4</vt:lpstr>
      <vt:lpstr>本章总结5</vt:lpstr>
      <vt:lpstr>本章作业</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Designing a Pipeline Processor</dc:subject>
  <dc:creator>CFYUAN</dc:creator>
  <cp:keywords/>
  <dc:description/>
  <cp:lastModifiedBy>Sen Liu</cp:lastModifiedBy>
  <cp:revision>784</cp:revision>
  <cp:lastPrinted>1999-10-25T19:18:20Z</cp:lastPrinted>
  <dcterms:created xsi:type="dcterms:W3CDTF">1996-09-09T11:47:24Z</dcterms:created>
  <dcterms:modified xsi:type="dcterms:W3CDTF">2024-05-20T05:19:05Z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Chaudhary_x000d_
Dept. of Electrical &amp; Computer Engineering_x000d_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1</vt:i4>
  </property>
  <property fmtid="{D5CDD505-2E9C-101B-9397-08002B2CF9AE}" pid="21" name="OutputDir">
    <vt:lpwstr>C:\WINDOWS\Desktop\VIPIN\WSU\ACADEMIC\COURSES\ECE468\SLIDES\web</vt:lpwstr>
  </property>
</Properties>
</file>
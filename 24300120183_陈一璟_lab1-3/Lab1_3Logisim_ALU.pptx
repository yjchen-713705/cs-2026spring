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3" r:id="rId13"/>
    <p:sldId id="285" r:id="rId14"/>
    <p:sldId id="284" r:id="rId15"/>
    <p:sldId id="286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76240" autoAdjust="0"/>
  </p:normalViewPr>
  <p:slideViewPr>
    <p:cSldViewPr snapToGrid="0">
      <p:cViewPr varScale="1">
        <p:scale>
          <a:sx n="83" d="100"/>
          <a:sy n="83" d="100"/>
        </p:scale>
        <p:origin x="8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D7CBA-DD40-481C-A623-88CBC0C60D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逻辑表达式是连接理论与实际电路的桥梁，需熟练转换与化简。</a:t>
            </a:r>
            <a:endParaRPr lang="zh-CN" altLang="en-US" b="0" i="0" dirty="0">
              <a:solidFill>
                <a:srgbClr val="404040"/>
              </a:solidFill>
              <a:effectLst/>
              <a:latin typeface="Inter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逻辑表达式是连接理论与实际电路的桥梁，需熟练转换与化简。</a:t>
            </a:r>
            <a:endParaRPr lang="zh-CN" altLang="en-US" b="0" i="0" dirty="0">
              <a:solidFill>
                <a:srgbClr val="404040"/>
              </a:solidFill>
              <a:effectLst/>
              <a:latin typeface="Inter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2025/3/4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365235" y="286297"/>
            <a:ext cx="10515600" cy="1325563"/>
          </a:xfrm>
        </p:spPr>
        <p:txBody>
          <a:bodyPr>
            <a:normAutofit/>
          </a:bodyPr>
          <a:lstStyle>
            <a:lvl1pPr>
              <a:defRPr sz="3200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dirty="0"/>
              <a:t>2025/2/25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zhuanlan.zhihu.com/p/47670769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2379590" y="1235029"/>
            <a:ext cx="743281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spc="300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计算机体系结构实验</a:t>
            </a:r>
            <a:endParaRPr lang="en-US" altLang="zh-CN" sz="3600" b="1" spc="300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endParaRPr lang="en-US" altLang="zh-CN" sz="2800" b="1" spc="3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r>
              <a:rPr lang="en-US" altLang="zh-CN" sz="2800" b="1" spc="300" dirty="0">
                <a:solidFill>
                  <a:prstClr val="black"/>
                </a:solidFill>
                <a:latin typeface="+mj-ea"/>
                <a:ea typeface="+mj-ea"/>
              </a:rPr>
              <a:t>Lab1-3: Logisim</a:t>
            </a:r>
            <a:r>
              <a:rPr lang="zh-CN" altLang="en-US" sz="2800" b="1" spc="300" dirty="0">
                <a:solidFill>
                  <a:prstClr val="black"/>
                </a:solidFill>
                <a:latin typeface="+mj-ea"/>
                <a:ea typeface="+mj-ea"/>
              </a:rPr>
              <a:t>环境下的</a:t>
            </a:r>
            <a:r>
              <a:rPr lang="en-US" altLang="zh-CN" sz="2800" b="1" spc="300" dirty="0">
                <a:solidFill>
                  <a:prstClr val="black"/>
                </a:solidFill>
                <a:latin typeface="+mj-ea"/>
                <a:ea typeface="+mj-ea"/>
              </a:rPr>
              <a:t>ALU</a:t>
            </a:r>
            <a:r>
              <a:rPr lang="zh-CN" altLang="en-US" sz="2800" b="1" spc="300" dirty="0">
                <a:solidFill>
                  <a:prstClr val="black"/>
                </a:solidFill>
                <a:latin typeface="+mj-ea"/>
                <a:ea typeface="+mj-ea"/>
              </a:rPr>
              <a:t>实现</a:t>
            </a:r>
            <a:endParaRPr lang="en-US" altLang="zh-CN" sz="2800" b="1" spc="3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63918" cy="365125"/>
          </a:xfrm>
        </p:spPr>
        <p:txBody>
          <a:bodyPr/>
          <a:lstStyle/>
          <a:p>
            <a:r>
              <a:rPr lang="en-US" altLang="zh-CN" dirty="0"/>
              <a:t>2026/3/27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253994" y="3587900"/>
            <a:ext cx="4043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主讲老师：刘森</a:t>
            </a:r>
            <a:endParaRPr lang="en-US" altLang="zh-CN" sz="2400" dirty="0"/>
          </a:p>
          <a:p>
            <a:pPr algn="ctr"/>
            <a:endParaRPr lang="en-US" altLang="zh-CN" sz="2400" dirty="0"/>
          </a:p>
          <a:p>
            <a:pPr algn="ctr"/>
            <a:r>
              <a:rPr lang="zh-CN" altLang="en-US" sz="2400" dirty="0"/>
              <a:t>助教：薛敏坤 赵珂玉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2026/3/27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j-ea"/>
                <a:ea typeface="+mj-ea"/>
              </a:rPr>
              <a:t>Section 1. </a:t>
            </a:r>
            <a:r>
              <a:rPr lang="zh-CN" altLang="en-US" sz="3200" dirty="0">
                <a:latin typeface="+mj-ea"/>
                <a:ea typeface="+mj-ea"/>
              </a:rPr>
              <a:t>实验目标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407956" y="2301933"/>
            <a:ext cx="8717733" cy="327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1500"/>
              </a:spcAft>
              <a:buFont typeface="+mj-lt"/>
              <a:buAutoNum type="arabicPeriod"/>
            </a:pPr>
            <a:r>
              <a:rPr lang="zh-CN" altLang="en-US" sz="2400" b="0" i="0" dirty="0">
                <a:effectLst/>
                <a:latin typeface="+mn-ea"/>
              </a:rPr>
              <a:t>掌握半加器、全加器的电路实现</a:t>
            </a:r>
            <a:endParaRPr lang="zh-CN" altLang="en-US" sz="2400" b="0" i="0" dirty="0">
              <a:effectLst/>
              <a:latin typeface="+mn-ea"/>
            </a:endParaRPr>
          </a:p>
          <a:p>
            <a:pPr algn="l">
              <a:spcAft>
                <a:spcPts val="1500"/>
              </a:spcAft>
              <a:buFont typeface="+mj-lt"/>
              <a:buAutoNum type="arabicPeriod"/>
            </a:pPr>
            <a:r>
              <a:rPr lang="zh-CN" altLang="en-US" sz="2400" b="0" i="0" dirty="0">
                <a:effectLst/>
                <a:latin typeface="+mn-ea"/>
              </a:rPr>
              <a:t>理解补码运算原理</a:t>
            </a:r>
            <a:endParaRPr lang="zh-CN" altLang="en-US" sz="2400" b="0" i="0" dirty="0">
              <a:effectLst/>
              <a:latin typeface="+mn-ea"/>
            </a:endParaRPr>
          </a:p>
          <a:p>
            <a:pPr algn="l">
              <a:spcAft>
                <a:spcPts val="1500"/>
              </a:spcAft>
              <a:buFont typeface="+mj-lt"/>
              <a:buAutoNum type="arabicPeriod"/>
            </a:pPr>
            <a:r>
              <a:rPr lang="zh-CN" altLang="en-US" sz="2400" b="0" i="0" dirty="0">
                <a:effectLst/>
                <a:latin typeface="+mn-ea"/>
              </a:rPr>
              <a:t>构建</a:t>
            </a:r>
            <a:r>
              <a:rPr lang="en-US" altLang="zh-CN" sz="2400" b="0" i="0" dirty="0">
                <a:effectLst/>
                <a:latin typeface="+mn-ea"/>
              </a:rPr>
              <a:t>4</a:t>
            </a:r>
            <a:r>
              <a:rPr lang="zh-CN" altLang="en-US" sz="2400" b="0" i="0" dirty="0">
                <a:effectLst/>
                <a:latin typeface="+mn-ea"/>
              </a:rPr>
              <a:t>位加减法器</a:t>
            </a:r>
            <a:endParaRPr lang="zh-CN" altLang="en-US" sz="2400" b="0" i="0" dirty="0">
              <a:effectLst/>
              <a:latin typeface="+mn-ea"/>
            </a:endParaRPr>
          </a:p>
          <a:p>
            <a:pPr algn="l">
              <a:spcAft>
                <a:spcPts val="1500"/>
              </a:spcAft>
              <a:buFont typeface="+mj-lt"/>
              <a:buAutoNum type="arabicPeriod"/>
            </a:pPr>
            <a:r>
              <a:rPr lang="zh-CN" altLang="en-US" sz="2400" b="0" i="0" dirty="0">
                <a:effectLst/>
                <a:latin typeface="+mn-ea"/>
              </a:rPr>
              <a:t>实现</a:t>
            </a:r>
            <a:r>
              <a:rPr lang="en-US" altLang="zh-CN" sz="2400" b="0" i="0" dirty="0">
                <a:effectLst/>
                <a:latin typeface="+mn-ea"/>
              </a:rPr>
              <a:t>MUX</a:t>
            </a:r>
            <a:r>
              <a:rPr lang="zh-CN" altLang="en-US" sz="2400" b="0" i="0" dirty="0">
                <a:effectLst/>
                <a:latin typeface="+mn-ea"/>
              </a:rPr>
              <a:t>多路选择器</a:t>
            </a:r>
            <a:endParaRPr lang="zh-CN" altLang="en-US" sz="2400" b="0" i="0" dirty="0">
              <a:effectLst/>
              <a:latin typeface="+mn-ea"/>
            </a:endParaRPr>
          </a:p>
          <a:p>
            <a:pPr algn="l">
              <a:spcAft>
                <a:spcPts val="1500"/>
              </a:spcAft>
              <a:buFont typeface="+mj-lt"/>
              <a:buAutoNum type="arabicPeriod"/>
            </a:pPr>
            <a:r>
              <a:rPr lang="zh-CN" altLang="en-US" sz="2400" b="0" i="0" dirty="0">
                <a:effectLst/>
                <a:latin typeface="+mn-ea"/>
              </a:rPr>
              <a:t>整合完整</a:t>
            </a:r>
            <a:r>
              <a:rPr lang="en-US" altLang="zh-CN" sz="2400" b="0" i="0" dirty="0">
                <a:effectLst/>
                <a:latin typeface="+mn-ea"/>
              </a:rPr>
              <a:t>4</a:t>
            </a:r>
            <a:r>
              <a:rPr lang="zh-CN" altLang="en-US" sz="2400" b="0" i="0" dirty="0">
                <a:effectLst/>
                <a:latin typeface="+mn-ea"/>
              </a:rPr>
              <a:t>位</a:t>
            </a:r>
            <a:r>
              <a:rPr lang="en-US" altLang="zh-CN" sz="2400" b="0" i="0" dirty="0">
                <a:effectLst/>
                <a:latin typeface="+mn-ea"/>
              </a:rPr>
              <a:t>ALU</a:t>
            </a:r>
            <a:endParaRPr lang="en-US" altLang="zh-CN" sz="2400" b="0" i="0" dirty="0">
              <a:effectLst/>
              <a:latin typeface="+mn-ea"/>
            </a:endParaRPr>
          </a:p>
          <a:p>
            <a:endParaRPr lang="zh-CN" altLang="en-US" sz="2400" dirty="0"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8200" y="1519844"/>
            <a:ext cx="58256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在提供的</a:t>
            </a:r>
            <a:r>
              <a:rPr lang="en-US" altLang="zh-CN" sz="2400" dirty="0"/>
              <a:t>Logisim</a:t>
            </a:r>
            <a:r>
              <a:rPr lang="zh-CN" altLang="en-US" sz="2400" dirty="0"/>
              <a:t>环境下，完成以下目标：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2026/3/27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j-ea"/>
                <a:ea typeface="+mj-ea"/>
              </a:rPr>
              <a:t>Section 2. </a:t>
            </a:r>
            <a:r>
              <a:rPr lang="zh-CN" altLang="en-US" sz="3200" dirty="0">
                <a:latin typeface="+mj-ea"/>
                <a:ea typeface="+mj-ea"/>
              </a:rPr>
              <a:t>半加器</a:t>
            </a:r>
            <a:r>
              <a:rPr lang="en-US" altLang="zh-CN" sz="3200" dirty="0">
                <a:latin typeface="+mj-ea"/>
                <a:ea typeface="+mj-ea"/>
              </a:rPr>
              <a:t>(Half Adder)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37764" y="1339981"/>
            <a:ext cx="11281860" cy="6409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900"/>
              </a:spcBef>
              <a:spcAft>
                <a:spcPts val="1200"/>
              </a:spcAft>
            </a:pPr>
            <a:r>
              <a:rPr lang="en-US" altLang="zh-CN" sz="2400" b="1" dirty="0">
                <a:latin typeface="D-DINExp"/>
              </a:rPr>
              <a:t>2</a:t>
            </a:r>
            <a:r>
              <a:rPr lang="en-US" altLang="zh-CN" sz="2400" b="1" i="0" dirty="0">
                <a:effectLst/>
                <a:latin typeface="D-DINExp"/>
              </a:rPr>
              <a:t>.1 </a:t>
            </a:r>
            <a:r>
              <a:rPr lang="zh-CN" altLang="en-US" sz="2400" b="1" i="0" dirty="0">
                <a:effectLst/>
                <a:latin typeface="+mj-ea"/>
                <a:ea typeface="+mj-ea"/>
              </a:rPr>
              <a:t>原理介绍</a:t>
            </a:r>
            <a:endParaRPr lang="zh-CN" altLang="en-US" sz="2400" b="1" i="0" dirty="0">
              <a:effectLst/>
              <a:latin typeface="+mj-ea"/>
              <a:ea typeface="+mj-ea"/>
            </a:endParaRPr>
          </a:p>
          <a:p>
            <a:pPr algn="l">
              <a:spcAft>
                <a:spcPts val="1500"/>
              </a:spcAft>
            </a:pPr>
            <a:r>
              <a:rPr lang="zh-CN" altLang="en-US" sz="2400" b="0" i="0" dirty="0">
                <a:effectLst/>
                <a:latin typeface="D-DINExp"/>
              </a:rPr>
              <a:t>半加器是实现一位二进制数相加的基本单元，具有两个输入（</a:t>
            </a:r>
            <a:r>
              <a:rPr lang="en-US" altLang="zh-CN" sz="2400" b="0" i="0" dirty="0">
                <a:effectLst/>
                <a:latin typeface="D-DINExp"/>
              </a:rPr>
              <a:t>A</a:t>
            </a:r>
            <a:r>
              <a:rPr lang="zh-CN" altLang="en-US" sz="2400" b="0" i="0" dirty="0">
                <a:effectLst/>
                <a:latin typeface="D-DINExp"/>
              </a:rPr>
              <a:t>、</a:t>
            </a:r>
            <a:r>
              <a:rPr lang="en-US" altLang="zh-CN" sz="2400" b="0" i="0" dirty="0">
                <a:effectLst/>
                <a:latin typeface="D-DINExp"/>
              </a:rPr>
              <a:t>B</a:t>
            </a:r>
            <a:r>
              <a:rPr lang="zh-CN" altLang="en-US" sz="2400" b="0" i="0" dirty="0">
                <a:effectLst/>
                <a:latin typeface="D-DINExp"/>
              </a:rPr>
              <a:t>）和两个输出（</a:t>
            </a:r>
            <a:r>
              <a:rPr lang="en-US" altLang="zh-CN" sz="2400" b="0" i="0" dirty="0">
                <a:effectLst/>
                <a:latin typeface="D-DINExp"/>
              </a:rPr>
              <a:t>Sum</a:t>
            </a:r>
            <a:r>
              <a:rPr lang="zh-CN" altLang="en-US" sz="2400" b="0" i="0" dirty="0">
                <a:effectLst/>
                <a:latin typeface="D-DINExp"/>
              </a:rPr>
              <a:t>、</a:t>
            </a:r>
            <a:r>
              <a:rPr lang="en-US" altLang="zh-CN" sz="2400" b="0" i="0" dirty="0">
                <a:effectLst/>
                <a:latin typeface="D-DINExp"/>
              </a:rPr>
              <a:t>Carry</a:t>
            </a:r>
            <a:r>
              <a:rPr lang="zh-CN" altLang="en-US" sz="2400" b="0" i="0" dirty="0">
                <a:effectLst/>
                <a:latin typeface="D-DINExp"/>
              </a:rPr>
              <a:t>）。</a:t>
            </a:r>
            <a:endParaRPr lang="en-US" altLang="zh-CN" sz="2400" b="0" i="0" dirty="0">
              <a:effectLst/>
              <a:latin typeface="D-DINExp"/>
            </a:endParaRPr>
          </a:p>
          <a:p>
            <a:pPr algn="l">
              <a:spcAft>
                <a:spcPts val="1500"/>
              </a:spcAft>
            </a:pPr>
            <a:endParaRPr lang="en-US" altLang="zh-CN" sz="2400" dirty="0">
              <a:latin typeface="D-DINExp"/>
            </a:endParaRPr>
          </a:p>
          <a:p>
            <a:pPr algn="l">
              <a:spcAft>
                <a:spcPts val="1500"/>
              </a:spcAft>
            </a:pPr>
            <a:r>
              <a:rPr lang="en-US" altLang="zh-CN" sz="2400" b="0" i="0" dirty="0">
                <a:effectLst/>
                <a:latin typeface="D-DINExp"/>
              </a:rPr>
              <a:t>2.2 </a:t>
            </a:r>
            <a:r>
              <a:rPr lang="zh-CN" altLang="en-US" sz="2400" b="0" i="0" dirty="0">
                <a:effectLst/>
                <a:latin typeface="D-DINExp"/>
              </a:rPr>
              <a:t>真值表</a:t>
            </a:r>
            <a:endParaRPr lang="en-US" altLang="zh-CN" sz="2400" b="0" i="0" dirty="0">
              <a:effectLst/>
              <a:latin typeface="D-DINExp"/>
            </a:endParaRPr>
          </a:p>
          <a:p>
            <a:pPr algn="l">
              <a:spcAft>
                <a:spcPts val="1500"/>
              </a:spcAft>
            </a:pPr>
            <a:endParaRPr lang="en-US" altLang="zh-CN" sz="2400" dirty="0">
              <a:latin typeface="D-DINExp"/>
            </a:endParaRPr>
          </a:p>
          <a:p>
            <a:pPr algn="l">
              <a:spcAft>
                <a:spcPts val="1500"/>
              </a:spcAft>
            </a:pPr>
            <a:endParaRPr lang="en-US" altLang="zh-CN" sz="2400" dirty="0">
              <a:latin typeface="D-DINExp"/>
            </a:endParaRPr>
          </a:p>
          <a:p>
            <a:pPr algn="l">
              <a:spcAft>
                <a:spcPts val="1500"/>
              </a:spcAft>
            </a:pPr>
            <a:r>
              <a:rPr lang="en-US" altLang="zh-CN" sz="2400" b="0" i="0" dirty="0">
                <a:effectLst/>
                <a:latin typeface="D-DINExp"/>
              </a:rPr>
              <a:t>2.3 </a:t>
            </a:r>
            <a:r>
              <a:rPr lang="zh-CN" altLang="en-US" sz="2400" b="0" i="0" dirty="0">
                <a:effectLst/>
                <a:latin typeface="D-DINExp"/>
              </a:rPr>
              <a:t>逻辑表达式</a:t>
            </a:r>
            <a:endParaRPr lang="en-US" altLang="zh-CN" sz="2400" b="0" i="0" dirty="0">
              <a:effectLst/>
              <a:latin typeface="D-DINExp"/>
            </a:endParaRPr>
          </a:p>
          <a:p>
            <a:pPr algn="l">
              <a:spcAft>
                <a:spcPts val="1500"/>
              </a:spcAft>
            </a:pPr>
            <a:r>
              <a:rPr lang="en-US" altLang="zh-CN" sz="2400" dirty="0">
                <a:latin typeface="D-DINExp"/>
              </a:rPr>
              <a:t>	</a:t>
            </a:r>
            <a:r>
              <a:rPr lang="en-US" altLang="zh-CN" sz="2400" b="0" i="0" dirty="0">
                <a:effectLst/>
                <a:latin typeface="D-DINExp"/>
              </a:rPr>
              <a:t> 	Sum = A ⊕ B</a:t>
            </a:r>
            <a:r>
              <a:rPr lang="zh-CN" altLang="en-US" sz="2400" b="0" i="0" dirty="0">
                <a:effectLst/>
                <a:latin typeface="D-DINExp"/>
              </a:rPr>
              <a:t>（异或）</a:t>
            </a:r>
            <a:endParaRPr lang="zh-CN" altLang="en-US" sz="2400" b="0" i="0" dirty="0">
              <a:effectLst/>
              <a:latin typeface="D-DINExp"/>
            </a:endParaRPr>
          </a:p>
          <a:p>
            <a:pPr lvl="2">
              <a:spcAft>
                <a:spcPts val="1500"/>
              </a:spcAft>
            </a:pPr>
            <a:r>
              <a:rPr lang="en-US" altLang="zh-CN" sz="2400" b="0" i="0" dirty="0">
                <a:effectLst/>
                <a:latin typeface="D-DINExp"/>
              </a:rPr>
              <a:t>	Carry = A · B</a:t>
            </a:r>
            <a:r>
              <a:rPr lang="zh-CN" altLang="en-US" sz="2400" b="0" i="0" dirty="0">
                <a:effectLst/>
                <a:latin typeface="D-DINExp"/>
              </a:rPr>
              <a:t>（与）</a:t>
            </a:r>
            <a:endParaRPr lang="zh-CN" altLang="en-US" sz="2400" b="0" i="0" dirty="0">
              <a:effectLst/>
              <a:latin typeface="D-DINExp"/>
            </a:endParaRPr>
          </a:p>
          <a:p>
            <a:pPr algn="l">
              <a:spcAft>
                <a:spcPts val="1500"/>
              </a:spcAft>
            </a:pPr>
            <a:endParaRPr lang="zh-CN" altLang="en-US" sz="2400" b="0" i="0" dirty="0">
              <a:effectLst/>
              <a:latin typeface="D-DINExp"/>
            </a:endParaRPr>
          </a:p>
          <a:p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2717" y="3049280"/>
            <a:ext cx="2400635" cy="20957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2026/3/27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j-ea"/>
                <a:ea typeface="+mj-ea"/>
              </a:rPr>
              <a:t>Section 3. </a:t>
            </a:r>
            <a:r>
              <a:rPr lang="zh-CN" altLang="en-US" sz="3200" dirty="0">
                <a:latin typeface="+mj-ea"/>
                <a:ea typeface="+mj-ea"/>
              </a:rPr>
              <a:t>全加器</a:t>
            </a:r>
            <a:r>
              <a:rPr lang="en-US" altLang="zh-CN" sz="3200" dirty="0">
                <a:latin typeface="+mj-ea"/>
                <a:ea typeface="+mj-ea"/>
              </a:rPr>
              <a:t>(</a:t>
            </a:r>
            <a:r>
              <a:rPr lang="en-US" altLang="zh-CN" sz="3200" b="1" i="0" dirty="0">
                <a:effectLst/>
                <a:latin typeface="D-DINExp"/>
              </a:rPr>
              <a:t>Full Adder</a:t>
            </a:r>
            <a:r>
              <a:rPr lang="en-US" altLang="zh-CN" sz="3200" dirty="0">
                <a:latin typeface="+mj-ea"/>
                <a:ea typeface="+mj-ea"/>
              </a:rPr>
              <a:t>)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95275" y="1373641"/>
            <a:ext cx="10498387" cy="66018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  <a:spcAft>
                <a:spcPts val="1200"/>
              </a:spcAft>
            </a:pPr>
            <a:r>
              <a:rPr lang="en-US" altLang="zh-CN" sz="2400" b="1" i="0" dirty="0">
                <a:effectLst/>
                <a:latin typeface="D-DINExp"/>
              </a:rPr>
              <a:t>3.1 </a:t>
            </a:r>
            <a:r>
              <a:rPr lang="zh-CN" altLang="en-US" sz="2400" b="1" i="0" dirty="0">
                <a:effectLst/>
                <a:latin typeface="+mj-ea"/>
                <a:ea typeface="+mj-ea"/>
              </a:rPr>
              <a:t>原理介绍</a:t>
            </a:r>
            <a:endParaRPr lang="zh-CN" altLang="en-US" sz="2400" b="1" i="0" dirty="0">
              <a:effectLst/>
              <a:latin typeface="+mj-ea"/>
              <a:ea typeface="+mj-ea"/>
            </a:endParaRPr>
          </a:p>
          <a:p>
            <a:pPr algn="l">
              <a:spcAft>
                <a:spcPts val="1500"/>
              </a:spcAft>
            </a:pPr>
            <a:r>
              <a:rPr lang="zh-CN" altLang="en-US" sz="2400" b="0" i="0" dirty="0">
                <a:effectLst/>
                <a:latin typeface="D-DINExp"/>
              </a:rPr>
              <a:t>全加器在半加器的基础上增加了进位输入（</a:t>
            </a:r>
            <a:r>
              <a:rPr lang="en-US" altLang="zh-CN" sz="2400" b="0" i="0" dirty="0">
                <a:effectLst/>
                <a:latin typeface="D-DINExp"/>
              </a:rPr>
              <a:t>Cin</a:t>
            </a:r>
            <a:r>
              <a:rPr lang="zh-CN" altLang="en-US" sz="2400" b="0" i="0" dirty="0">
                <a:effectLst/>
                <a:latin typeface="D-DINExp"/>
              </a:rPr>
              <a:t>），用于实现多位加法运算。 </a:t>
            </a:r>
            <a:endParaRPr lang="en-US" altLang="zh-CN" sz="2400" dirty="0">
              <a:latin typeface="D-DINExp"/>
            </a:endParaRPr>
          </a:p>
          <a:p>
            <a:pPr algn="l">
              <a:spcAft>
                <a:spcPts val="1500"/>
              </a:spcAft>
            </a:pPr>
            <a:r>
              <a:rPr lang="zh-CN" altLang="en-US" sz="2400" b="0" i="0" dirty="0">
                <a:effectLst/>
                <a:latin typeface="D-DINExp"/>
              </a:rPr>
              <a:t>具有三个输入（</a:t>
            </a:r>
            <a:r>
              <a:rPr lang="en-US" altLang="zh-CN" sz="2400" b="0" i="0" dirty="0">
                <a:effectLst/>
                <a:latin typeface="D-DINExp"/>
              </a:rPr>
              <a:t>A</a:t>
            </a:r>
            <a:r>
              <a:rPr lang="zh-CN" altLang="en-US" sz="2400" b="0" i="0" dirty="0">
                <a:effectLst/>
                <a:latin typeface="D-DINExp"/>
              </a:rPr>
              <a:t>、</a:t>
            </a:r>
            <a:r>
              <a:rPr lang="en-US" altLang="zh-CN" sz="2400" b="0" i="0" dirty="0">
                <a:effectLst/>
                <a:latin typeface="D-DINExp"/>
              </a:rPr>
              <a:t>B</a:t>
            </a:r>
            <a:r>
              <a:rPr lang="zh-CN" altLang="en-US" sz="2400" b="0" i="0" dirty="0">
                <a:effectLst/>
                <a:latin typeface="D-DINExp"/>
              </a:rPr>
              <a:t>、</a:t>
            </a:r>
            <a:r>
              <a:rPr lang="en-US" altLang="zh-CN" sz="2400" b="0" i="0" dirty="0">
                <a:effectLst/>
                <a:latin typeface="D-DINExp"/>
              </a:rPr>
              <a:t>Cin</a:t>
            </a:r>
            <a:r>
              <a:rPr lang="zh-CN" altLang="en-US" sz="2400" b="0" i="0" dirty="0">
                <a:effectLst/>
                <a:latin typeface="D-DINExp"/>
              </a:rPr>
              <a:t>）和两个输出（</a:t>
            </a:r>
            <a:r>
              <a:rPr lang="en-US" altLang="zh-CN" sz="2400" b="0" i="0" dirty="0">
                <a:effectLst/>
                <a:latin typeface="D-DINExp"/>
              </a:rPr>
              <a:t>Sum</a:t>
            </a:r>
            <a:r>
              <a:rPr lang="zh-CN" altLang="en-US" sz="2400" b="0" i="0" dirty="0">
                <a:effectLst/>
                <a:latin typeface="D-DINExp"/>
              </a:rPr>
              <a:t>、</a:t>
            </a:r>
            <a:r>
              <a:rPr lang="en-US" altLang="zh-CN" sz="2400" b="0" i="0" dirty="0">
                <a:effectLst/>
                <a:latin typeface="D-DINExp"/>
              </a:rPr>
              <a:t>Carry</a:t>
            </a:r>
            <a:r>
              <a:rPr lang="zh-CN" altLang="en-US" sz="2400" b="0" i="0" dirty="0">
                <a:effectLst/>
                <a:latin typeface="D-DINExp"/>
              </a:rPr>
              <a:t>）。</a:t>
            </a:r>
            <a:endParaRPr lang="en-US" altLang="zh-CN" sz="2400" b="0" i="0" dirty="0">
              <a:effectLst/>
              <a:latin typeface="D-DINExp"/>
            </a:endParaRPr>
          </a:p>
          <a:p>
            <a:pPr algn="l">
              <a:spcAft>
                <a:spcPts val="1500"/>
              </a:spcAft>
            </a:pPr>
            <a:endParaRPr lang="en-US" altLang="zh-CN" sz="2400" dirty="0">
              <a:latin typeface="D-DINExp"/>
            </a:endParaRPr>
          </a:p>
          <a:p>
            <a:pPr algn="l">
              <a:spcAft>
                <a:spcPts val="1500"/>
              </a:spcAft>
            </a:pPr>
            <a:r>
              <a:rPr lang="en-US" altLang="zh-CN" sz="2400" dirty="0">
                <a:latin typeface="D-DINExp"/>
              </a:rPr>
              <a:t>3</a:t>
            </a:r>
            <a:r>
              <a:rPr lang="en-US" altLang="zh-CN" sz="2400" b="0" i="0" dirty="0">
                <a:effectLst/>
                <a:latin typeface="D-DINExp"/>
              </a:rPr>
              <a:t>.2 </a:t>
            </a:r>
            <a:r>
              <a:rPr lang="zh-CN" altLang="en-US" sz="2400" b="0" i="0" dirty="0">
                <a:effectLst/>
                <a:latin typeface="D-DINExp"/>
              </a:rPr>
              <a:t>真值表</a:t>
            </a:r>
            <a:endParaRPr lang="en-US" altLang="zh-CN" sz="2400" b="0" i="0" dirty="0">
              <a:effectLst/>
              <a:latin typeface="D-DINExp"/>
            </a:endParaRPr>
          </a:p>
          <a:p>
            <a:pPr algn="l">
              <a:spcAft>
                <a:spcPts val="1500"/>
              </a:spcAft>
            </a:pPr>
            <a:endParaRPr lang="en-US" altLang="zh-CN" sz="2400" dirty="0">
              <a:latin typeface="D-DINExp"/>
            </a:endParaRPr>
          </a:p>
          <a:p>
            <a:pPr algn="l">
              <a:spcAft>
                <a:spcPts val="1500"/>
              </a:spcAft>
            </a:pPr>
            <a:endParaRPr lang="en-US" altLang="zh-CN" sz="2400" dirty="0">
              <a:latin typeface="D-DINExp"/>
            </a:endParaRPr>
          </a:p>
          <a:p>
            <a:pPr algn="l">
              <a:spcAft>
                <a:spcPts val="1500"/>
              </a:spcAft>
            </a:pPr>
            <a:r>
              <a:rPr lang="en-US" altLang="zh-CN" sz="2400" dirty="0">
                <a:latin typeface="D-DINExp"/>
              </a:rPr>
              <a:t>3</a:t>
            </a:r>
            <a:r>
              <a:rPr lang="en-US" altLang="zh-CN" sz="2400" b="0" i="0" dirty="0">
                <a:effectLst/>
                <a:latin typeface="D-DINExp"/>
              </a:rPr>
              <a:t>.3 </a:t>
            </a:r>
            <a:r>
              <a:rPr lang="zh-CN" altLang="en-US" sz="2400" b="0" i="0" dirty="0">
                <a:effectLst/>
                <a:latin typeface="D-DINExp"/>
              </a:rPr>
              <a:t>逻辑表达式</a:t>
            </a:r>
            <a:endParaRPr lang="en-US" altLang="zh-CN" sz="2400" b="0" i="0" dirty="0">
              <a:effectLst/>
              <a:latin typeface="D-DINExp"/>
            </a:endParaRPr>
          </a:p>
          <a:p>
            <a:pPr algn="l">
              <a:spcAft>
                <a:spcPts val="1500"/>
              </a:spcAft>
            </a:pPr>
            <a:r>
              <a:rPr lang="en-US" altLang="zh-CN" sz="2400" dirty="0">
                <a:latin typeface="D-DINExp"/>
              </a:rPr>
              <a:t>	</a:t>
            </a:r>
            <a:r>
              <a:rPr lang="en-US" altLang="zh-CN" sz="2400" b="0" i="0" dirty="0">
                <a:effectLst/>
                <a:latin typeface="D-DINExp"/>
              </a:rPr>
              <a:t> 	Sum = A ⊕ B ⊕ Cin </a:t>
            </a:r>
            <a:r>
              <a:rPr lang="zh-CN" altLang="en-US" sz="2400" b="0" i="0" dirty="0">
                <a:effectLst/>
                <a:latin typeface="D-DINExp"/>
              </a:rPr>
              <a:t>（异或）</a:t>
            </a:r>
            <a:endParaRPr lang="zh-CN" altLang="en-US" sz="2400" b="0" i="0" dirty="0">
              <a:effectLst/>
              <a:latin typeface="D-DINExp"/>
            </a:endParaRPr>
          </a:p>
          <a:p>
            <a:pPr lvl="2">
              <a:spcAft>
                <a:spcPts val="1500"/>
              </a:spcAft>
            </a:pPr>
            <a:r>
              <a:rPr lang="en-US" altLang="zh-CN" sz="2400" b="0" i="0" dirty="0">
                <a:effectLst/>
                <a:latin typeface="D-DINExp"/>
              </a:rPr>
              <a:t>	Carry =  AB + (A⊕B)Cin</a:t>
            </a:r>
            <a:endParaRPr lang="zh-CN" altLang="en-US" sz="2400" b="0" i="0" dirty="0">
              <a:effectLst/>
              <a:latin typeface="D-DINExp"/>
            </a:endParaRPr>
          </a:p>
          <a:p>
            <a:pPr algn="l">
              <a:spcAft>
                <a:spcPts val="1500"/>
              </a:spcAft>
            </a:pPr>
            <a:endParaRPr lang="zh-CN" altLang="en-US" sz="2400" b="0" i="0" dirty="0">
              <a:effectLst/>
              <a:latin typeface="D-DINExp"/>
            </a:endParaRPr>
          </a:p>
          <a:p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2422" y="2900348"/>
            <a:ext cx="2191456" cy="29123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2026/3/27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j-ea"/>
                <a:ea typeface="+mj-ea"/>
              </a:rPr>
              <a:t>Section 4. </a:t>
            </a:r>
            <a:r>
              <a:rPr lang="zh-CN" altLang="en-US" sz="3200" b="1" i="0" dirty="0">
                <a:effectLst/>
                <a:latin typeface="+mj-ea"/>
                <a:ea typeface="+mj-ea"/>
              </a:rPr>
              <a:t>补码</a:t>
            </a:r>
            <a:r>
              <a:rPr lang="en-US" altLang="zh-CN" sz="3200" b="1" dirty="0">
                <a:latin typeface="+mj-ea"/>
                <a:ea typeface="+mj-ea"/>
              </a:rPr>
              <a:t>(</a:t>
            </a:r>
            <a:r>
              <a:rPr lang="en-US" altLang="zh-CN" sz="3200" b="1" i="0" dirty="0">
                <a:effectLst/>
                <a:latin typeface="+mj-ea"/>
                <a:ea typeface="+mj-ea"/>
              </a:rPr>
              <a:t>Two's Complement</a:t>
            </a:r>
            <a:r>
              <a:rPr lang="en-US" altLang="zh-CN" sz="3200" b="1" dirty="0">
                <a:latin typeface="+mj-ea"/>
                <a:ea typeface="+mj-ea"/>
              </a:rPr>
              <a:t>)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130801" y="1462612"/>
            <a:ext cx="9185564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US" altLang="zh-CN" sz="2400" b="1" dirty="0">
                <a:latin typeface="D-DINExp"/>
              </a:rPr>
              <a:t>4</a:t>
            </a:r>
            <a:r>
              <a:rPr lang="en-US" altLang="zh-CN" sz="2400" b="1" i="0" dirty="0">
                <a:effectLst/>
                <a:latin typeface="D-DINExp"/>
              </a:rPr>
              <a:t>.1 </a:t>
            </a:r>
            <a:r>
              <a:rPr lang="zh-CN" altLang="en-US" sz="2400" b="1" i="0" dirty="0">
                <a:effectLst/>
                <a:latin typeface="+mj-ea"/>
                <a:ea typeface="+mj-ea"/>
              </a:rPr>
              <a:t>概念介绍</a:t>
            </a:r>
            <a:endParaRPr lang="zh-CN" altLang="en-US" sz="2400" b="1" i="0" dirty="0">
              <a:effectLst/>
              <a:latin typeface="+mj-ea"/>
              <a:ea typeface="+mj-ea"/>
            </a:endParaRPr>
          </a:p>
          <a:p>
            <a:pPr algn="l">
              <a:spcAft>
                <a:spcPts val="1500"/>
              </a:spcAft>
            </a:pPr>
            <a:r>
              <a:rPr lang="zh-CN" altLang="en-US" sz="2400" b="0" i="0" dirty="0">
                <a:effectLst/>
                <a:latin typeface="D-DINExp"/>
              </a:rPr>
              <a:t>补码是计算机中表示有符号数的标准方式，便于实现加减运算。</a:t>
            </a:r>
            <a:endParaRPr lang="zh-CN" altLang="en-US" sz="2400" b="0" i="0" dirty="0">
              <a:effectLst/>
              <a:latin typeface="D-DINExp"/>
            </a:endParaRPr>
          </a:p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US" altLang="zh-CN" sz="2400" b="1" dirty="0">
                <a:latin typeface="D-DINExp"/>
              </a:rPr>
              <a:t>4</a:t>
            </a:r>
            <a:r>
              <a:rPr lang="en-US" altLang="zh-CN" sz="2400" b="1" i="0" dirty="0">
                <a:effectLst/>
                <a:latin typeface="D-DINExp"/>
              </a:rPr>
              <a:t>.2 </a:t>
            </a:r>
            <a:r>
              <a:rPr lang="zh-CN" altLang="en-US" sz="2400" b="1" i="0" dirty="0">
                <a:effectLst/>
                <a:latin typeface="+mj-ea"/>
                <a:ea typeface="+mj-ea"/>
              </a:rPr>
              <a:t>补码的计算方法</a:t>
            </a:r>
            <a:endParaRPr lang="zh-CN" altLang="en-US" sz="2400" b="1" i="0" dirty="0">
              <a:effectLst/>
              <a:latin typeface="+mj-ea"/>
              <a:ea typeface="+mj-ea"/>
            </a:endParaRPr>
          </a:p>
          <a:p>
            <a:pPr algn="l">
              <a:spcAft>
                <a:spcPts val="1500"/>
              </a:spcAft>
              <a:buFont typeface="+mj-lt"/>
              <a:buAutoNum type="arabicPeriod"/>
            </a:pPr>
            <a:r>
              <a:rPr lang="zh-CN" altLang="en-US" sz="2400" b="0" i="0" dirty="0">
                <a:effectLst/>
                <a:latin typeface="D-DINExp"/>
              </a:rPr>
              <a:t>正数：直接使用原码</a:t>
            </a:r>
            <a:endParaRPr lang="zh-CN" altLang="en-US" sz="2400" b="0" i="0" dirty="0">
              <a:effectLst/>
              <a:latin typeface="D-DINExp"/>
            </a:endParaRPr>
          </a:p>
          <a:p>
            <a:pPr algn="l">
              <a:spcAft>
                <a:spcPts val="1500"/>
              </a:spcAft>
              <a:buFont typeface="+mj-lt"/>
              <a:buAutoNum type="arabicPeriod"/>
            </a:pPr>
            <a:r>
              <a:rPr lang="zh-CN" altLang="en-US" sz="2400" b="0" i="0" dirty="0">
                <a:effectLst/>
                <a:latin typeface="D-DINExp"/>
              </a:rPr>
              <a:t>负数：</a:t>
            </a:r>
            <a:endParaRPr lang="zh-CN" altLang="en-US" sz="2400" b="0" i="0" dirty="0">
              <a:effectLst/>
              <a:latin typeface="D-DINExp"/>
            </a:endParaRPr>
          </a:p>
          <a:p>
            <a:pPr marL="742950" lvl="1" indent="-28575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effectLst/>
                <a:latin typeface="D-DINExp"/>
              </a:rPr>
              <a:t>取原码的反码（除符号位外按位取反）</a:t>
            </a:r>
            <a:endParaRPr lang="zh-CN" altLang="en-US" sz="2400" b="0" i="0" dirty="0">
              <a:effectLst/>
              <a:latin typeface="D-DINExp"/>
            </a:endParaRPr>
          </a:p>
          <a:p>
            <a:pPr marL="742950" lvl="1" indent="-28575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effectLst/>
                <a:latin typeface="D-DINExp"/>
              </a:rPr>
              <a:t>反码加</a:t>
            </a:r>
            <a:r>
              <a:rPr lang="en-US" altLang="zh-CN" sz="2400" b="0" i="0" dirty="0">
                <a:effectLst/>
                <a:latin typeface="D-DINExp"/>
              </a:rPr>
              <a:t>1</a:t>
            </a:r>
            <a:r>
              <a:rPr lang="zh-CN" altLang="en-US" sz="2400" b="0" i="0" dirty="0">
                <a:effectLst/>
                <a:latin typeface="D-DINExp"/>
              </a:rPr>
              <a:t>得到补码</a:t>
            </a:r>
            <a:endParaRPr lang="zh-CN" altLang="en-US" sz="2400" b="0" i="0" dirty="0">
              <a:effectLst/>
              <a:latin typeface="D-DINExp"/>
            </a:endParaRPr>
          </a:p>
          <a:p>
            <a:pPr algn="l">
              <a:spcAft>
                <a:spcPts val="1500"/>
              </a:spcAft>
            </a:pPr>
            <a:endParaRPr lang="zh-CN" altLang="en-US" sz="2400" b="0" i="0" dirty="0">
              <a:effectLst/>
              <a:latin typeface="D-DINExp"/>
            </a:endParaRPr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2026/3/27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+mj-ea"/>
                <a:ea typeface="+mj-ea"/>
              </a:rPr>
              <a:t>Section 5. </a:t>
            </a:r>
            <a:r>
              <a:rPr lang="zh-CN" altLang="en-US" b="1" dirty="0"/>
              <a:t>四</a:t>
            </a:r>
            <a:r>
              <a:rPr lang="zh-CN" altLang="en-US" sz="3200" b="1" i="0" dirty="0">
                <a:effectLst/>
                <a:latin typeface="+mj-ea"/>
                <a:ea typeface="+mj-ea"/>
              </a:rPr>
              <a:t>位减法器设计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30253" y="1458335"/>
            <a:ext cx="9185564" cy="4723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US" altLang="zh-CN" sz="2400" b="1" dirty="0">
                <a:latin typeface="D-DINExp"/>
              </a:rPr>
              <a:t>5</a:t>
            </a:r>
            <a:r>
              <a:rPr lang="en-US" altLang="zh-CN" sz="2400" b="1" i="0" dirty="0">
                <a:effectLst/>
                <a:latin typeface="D-DINExp"/>
              </a:rPr>
              <a:t>.1 </a:t>
            </a:r>
            <a:r>
              <a:rPr lang="zh-CN" altLang="en-US" sz="2400" b="1" i="0" dirty="0">
                <a:effectLst/>
                <a:latin typeface="+mj-ea"/>
                <a:ea typeface="+mj-ea"/>
              </a:rPr>
              <a:t>原理介绍</a:t>
            </a:r>
            <a:endParaRPr lang="zh-CN" altLang="en-US" sz="2400" b="1" i="0" dirty="0">
              <a:effectLst/>
              <a:latin typeface="+mj-ea"/>
              <a:ea typeface="+mj-ea"/>
            </a:endParaRPr>
          </a:p>
          <a:p>
            <a:pPr algn="l">
              <a:lnSpc>
                <a:spcPct val="150000"/>
              </a:lnSpc>
              <a:spcAft>
                <a:spcPts val="1500"/>
              </a:spcAft>
            </a:pPr>
            <a:r>
              <a:rPr lang="zh-CN" altLang="en-US" sz="2400" b="0" i="0" dirty="0">
                <a:effectLst/>
                <a:latin typeface="D-DINExp"/>
              </a:rPr>
              <a:t>减法可以转换为加法来实现：</a:t>
            </a:r>
            <a:r>
              <a:rPr lang="en-US" altLang="zh-CN" sz="2400" b="0" i="0" dirty="0">
                <a:effectLst/>
                <a:latin typeface="D-DINExp"/>
              </a:rPr>
              <a:t>A - B = A + (-B)</a:t>
            </a:r>
            <a:br>
              <a:rPr lang="en-US" altLang="zh-CN" sz="2400" b="0" i="0" dirty="0">
                <a:effectLst/>
                <a:latin typeface="D-DINExp"/>
              </a:rPr>
            </a:br>
            <a:r>
              <a:rPr lang="zh-CN" altLang="en-US" sz="2400" b="0" i="0" dirty="0">
                <a:effectLst/>
                <a:latin typeface="D-DINExp"/>
              </a:rPr>
              <a:t>其中</a:t>
            </a:r>
            <a:r>
              <a:rPr lang="en-US" altLang="zh-CN" sz="2400" b="0" i="0" dirty="0">
                <a:effectLst/>
                <a:latin typeface="D-DINExp"/>
              </a:rPr>
              <a:t>-B</a:t>
            </a:r>
            <a:r>
              <a:rPr lang="zh-CN" altLang="en-US" sz="2400" b="0" i="0" dirty="0">
                <a:effectLst/>
                <a:latin typeface="D-DINExp"/>
              </a:rPr>
              <a:t>可以通过</a:t>
            </a:r>
            <a:r>
              <a:rPr lang="en-US" altLang="zh-CN" sz="2400" b="0" i="0" dirty="0">
                <a:effectLst/>
                <a:latin typeface="D-DINExp"/>
              </a:rPr>
              <a:t>B</a:t>
            </a:r>
            <a:r>
              <a:rPr lang="zh-CN" altLang="en-US" sz="2400" b="0" i="0" dirty="0">
                <a:effectLst/>
                <a:latin typeface="D-DINExp"/>
              </a:rPr>
              <a:t>的补码来表示。</a:t>
            </a:r>
            <a:endParaRPr lang="en-US" altLang="zh-CN" sz="2400" b="0" i="0" dirty="0">
              <a:effectLst/>
              <a:latin typeface="D-DINExp"/>
            </a:endParaRPr>
          </a:p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US" altLang="zh-CN" sz="2400" b="1" dirty="0">
                <a:latin typeface="D-DINExp"/>
              </a:rPr>
              <a:t>5</a:t>
            </a:r>
            <a:r>
              <a:rPr lang="en-US" altLang="zh-CN" sz="2400" b="1" i="0" dirty="0">
                <a:effectLst/>
                <a:latin typeface="D-DINExp"/>
              </a:rPr>
              <a:t>.2 </a:t>
            </a:r>
            <a:r>
              <a:rPr lang="zh-CN" altLang="en-US" sz="2400" b="1" i="0" dirty="0">
                <a:effectLst/>
                <a:latin typeface="+mj-ea"/>
                <a:ea typeface="+mj-ea"/>
              </a:rPr>
              <a:t>实现步骤</a:t>
            </a:r>
            <a:endParaRPr lang="zh-CN" altLang="en-US" sz="2400" b="1" i="0" dirty="0">
              <a:effectLst/>
              <a:latin typeface="+mj-ea"/>
              <a:ea typeface="+mj-ea"/>
            </a:endParaRPr>
          </a:p>
          <a:p>
            <a:pPr lvl="1">
              <a:spcAft>
                <a:spcPts val="1500"/>
              </a:spcAft>
              <a:buFont typeface="+mj-lt"/>
              <a:buAutoNum type="arabicPeriod"/>
            </a:pPr>
            <a:r>
              <a:rPr lang="zh-CN" altLang="en-US" sz="2400" b="0" i="0" dirty="0">
                <a:effectLst/>
                <a:latin typeface="D-DINExp"/>
              </a:rPr>
              <a:t>对减数</a:t>
            </a:r>
            <a:r>
              <a:rPr lang="en-US" altLang="zh-CN" sz="2400" b="0" i="0" dirty="0">
                <a:effectLst/>
                <a:latin typeface="D-DINExp"/>
              </a:rPr>
              <a:t>B</a:t>
            </a:r>
            <a:r>
              <a:rPr lang="zh-CN" altLang="en-US" sz="2400" b="0" i="0" dirty="0">
                <a:effectLst/>
                <a:latin typeface="D-DINExp"/>
              </a:rPr>
              <a:t>取反</a:t>
            </a:r>
            <a:endParaRPr lang="zh-CN" altLang="en-US" sz="2400" b="0" i="0" dirty="0">
              <a:effectLst/>
              <a:latin typeface="D-DINExp"/>
            </a:endParaRPr>
          </a:p>
          <a:p>
            <a:pPr lvl="1">
              <a:spcAft>
                <a:spcPts val="1500"/>
              </a:spcAft>
              <a:buFont typeface="+mj-lt"/>
              <a:buAutoNum type="arabicPeriod"/>
            </a:pPr>
            <a:r>
              <a:rPr lang="zh-CN" altLang="en-US" sz="2400" b="0" i="0" dirty="0">
                <a:effectLst/>
                <a:latin typeface="D-DINExp"/>
              </a:rPr>
              <a:t>加</a:t>
            </a:r>
            <a:r>
              <a:rPr lang="en-US" altLang="zh-CN" sz="2400" b="0" i="0" dirty="0">
                <a:effectLst/>
                <a:latin typeface="D-DINExp"/>
              </a:rPr>
              <a:t>1</a:t>
            </a:r>
            <a:r>
              <a:rPr lang="zh-CN" altLang="en-US" sz="2400" b="0" i="0" dirty="0">
                <a:effectLst/>
                <a:latin typeface="D-DINExp"/>
              </a:rPr>
              <a:t>（通过</a:t>
            </a:r>
            <a:r>
              <a:rPr lang="en-US" altLang="zh-CN" sz="2400" b="0" i="0" dirty="0">
                <a:effectLst/>
                <a:latin typeface="D-DINExp"/>
              </a:rPr>
              <a:t>Cin</a:t>
            </a:r>
            <a:r>
              <a:rPr lang="zh-CN" altLang="en-US" sz="2400" b="0" i="0" dirty="0">
                <a:effectLst/>
                <a:latin typeface="D-DINExp"/>
              </a:rPr>
              <a:t>实现）</a:t>
            </a:r>
            <a:endParaRPr lang="zh-CN" altLang="en-US" sz="2400" b="0" i="0" dirty="0">
              <a:effectLst/>
              <a:latin typeface="D-DINExp"/>
            </a:endParaRPr>
          </a:p>
          <a:p>
            <a:pPr lvl="1">
              <a:spcAft>
                <a:spcPts val="1500"/>
              </a:spcAft>
              <a:buFont typeface="+mj-lt"/>
              <a:buAutoNum type="arabicPeriod"/>
            </a:pPr>
            <a:r>
              <a:rPr lang="zh-CN" altLang="en-US" sz="2400" b="0" i="0" dirty="0">
                <a:effectLst/>
                <a:latin typeface="D-DINExp"/>
              </a:rPr>
              <a:t>与被减数</a:t>
            </a:r>
            <a:r>
              <a:rPr lang="en-US" altLang="zh-CN" sz="2400" b="0" i="0" dirty="0">
                <a:effectLst/>
                <a:latin typeface="D-DINExp"/>
              </a:rPr>
              <a:t>A</a:t>
            </a:r>
            <a:r>
              <a:rPr lang="zh-CN" altLang="en-US" sz="2400" b="0" i="0" dirty="0">
                <a:effectLst/>
                <a:latin typeface="D-DINExp"/>
              </a:rPr>
              <a:t>相加</a:t>
            </a:r>
            <a:endParaRPr lang="zh-CN" altLang="en-US" sz="2400" b="0" i="0" dirty="0">
              <a:effectLst/>
              <a:latin typeface="D-DINExp"/>
            </a:endParaRPr>
          </a:p>
          <a:p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2393592" y="5720377"/>
            <a:ext cx="8323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注意，这里设计没有考虑到</a:t>
            </a:r>
            <a:r>
              <a:rPr lang="en-US" altLang="zh-CN" sz="2400" dirty="0"/>
              <a:t>Bin</a:t>
            </a:r>
            <a:r>
              <a:rPr lang="zh-CN" altLang="en-US" sz="2400" dirty="0"/>
              <a:t>（下一级借位输入）的影响！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2026/3/27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+mj-ea"/>
                <a:ea typeface="+mj-ea"/>
              </a:rPr>
              <a:t>Section 6. </a:t>
            </a:r>
            <a:r>
              <a:rPr lang="en-US" altLang="zh-CN" sz="3200" b="1" i="0" dirty="0">
                <a:effectLst/>
                <a:latin typeface="+mj-ea"/>
                <a:ea typeface="+mj-ea"/>
              </a:rPr>
              <a:t>MUX</a:t>
            </a:r>
            <a:r>
              <a:rPr lang="zh-CN" altLang="en-US" sz="3200" b="1" i="0" dirty="0">
                <a:effectLst/>
                <a:latin typeface="+mj-ea"/>
                <a:ea typeface="+mj-ea"/>
              </a:rPr>
              <a:t>多路选择器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30253" y="1436147"/>
            <a:ext cx="9185564" cy="398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US" altLang="zh-CN" sz="2400" b="1" dirty="0">
                <a:latin typeface="D-DINExp"/>
              </a:rPr>
              <a:t>6</a:t>
            </a:r>
            <a:r>
              <a:rPr lang="en-US" altLang="zh-CN" sz="2400" b="1" i="0" dirty="0">
                <a:effectLst/>
                <a:latin typeface="D-DINExp"/>
              </a:rPr>
              <a:t>.1 </a:t>
            </a:r>
            <a:r>
              <a:rPr lang="zh-CN" altLang="en-US" sz="2400" b="1" i="0" dirty="0">
                <a:effectLst/>
                <a:latin typeface="+mj-ea"/>
                <a:ea typeface="+mj-ea"/>
              </a:rPr>
              <a:t>功能说明</a:t>
            </a:r>
            <a:endParaRPr lang="zh-CN" altLang="en-US" sz="2400" b="1" i="0" dirty="0">
              <a:effectLst/>
              <a:latin typeface="+mj-ea"/>
              <a:ea typeface="+mj-ea"/>
            </a:endParaRPr>
          </a:p>
          <a:p>
            <a:pPr algn="l">
              <a:spcAft>
                <a:spcPts val="1500"/>
              </a:spcAft>
            </a:pPr>
            <a:r>
              <a:rPr lang="zh-CN" altLang="en-US" sz="2400" b="0" i="0" dirty="0">
                <a:effectLst/>
                <a:latin typeface="D-DINExp"/>
              </a:rPr>
              <a:t>用于选择不同的运算结果输出。</a:t>
            </a:r>
            <a:endParaRPr lang="zh-CN" altLang="en-US" sz="2400" b="0" i="0" dirty="0">
              <a:effectLst/>
              <a:latin typeface="D-DINExp"/>
            </a:endParaRPr>
          </a:p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US" altLang="zh-CN" sz="2400" b="1" dirty="0">
                <a:latin typeface="D-DINExp"/>
              </a:rPr>
              <a:t>6</a:t>
            </a:r>
            <a:r>
              <a:rPr lang="en-US" altLang="zh-CN" sz="2400" b="1" i="0" dirty="0">
                <a:effectLst/>
                <a:latin typeface="D-DINExp"/>
              </a:rPr>
              <a:t>.2 </a:t>
            </a:r>
            <a:r>
              <a:rPr lang="zh-CN" altLang="en-US" sz="2400" b="1" i="0" dirty="0">
                <a:effectLst/>
                <a:latin typeface="+mj-ea"/>
                <a:ea typeface="+mj-ea"/>
              </a:rPr>
              <a:t>设计要求</a:t>
            </a:r>
            <a:endParaRPr lang="zh-CN" altLang="en-US" sz="2400" b="1" i="0" dirty="0">
              <a:effectLst/>
              <a:latin typeface="+mj-ea"/>
              <a:ea typeface="+mj-ea"/>
            </a:endParaRPr>
          </a:p>
          <a:p>
            <a:pPr lvl="1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effectLst/>
                <a:latin typeface="D-DINExp"/>
              </a:rPr>
              <a:t>输入：加法结果、减法结果、与结果和或结果</a:t>
            </a:r>
            <a:endParaRPr lang="zh-CN" altLang="en-US" sz="2400" b="0" i="0" dirty="0">
              <a:effectLst/>
              <a:latin typeface="D-DINExp"/>
            </a:endParaRPr>
          </a:p>
          <a:p>
            <a:pPr lvl="1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effectLst/>
                <a:latin typeface="D-DINExp"/>
              </a:rPr>
              <a:t>选择信号：</a:t>
            </a:r>
            <a:r>
              <a:rPr lang="en-US" altLang="zh-CN" sz="2400" dirty="0">
                <a:latin typeface="D-DINExp"/>
              </a:rPr>
              <a:t>2</a:t>
            </a:r>
            <a:r>
              <a:rPr lang="zh-CN" altLang="en-US" sz="2400" b="0" i="0" dirty="0">
                <a:effectLst/>
                <a:latin typeface="D-DINExp"/>
              </a:rPr>
              <a:t>位</a:t>
            </a:r>
            <a:endParaRPr lang="zh-CN" altLang="en-US" sz="2400" b="0" i="0" dirty="0">
              <a:effectLst/>
              <a:latin typeface="D-DINExp"/>
            </a:endParaRPr>
          </a:p>
          <a:p>
            <a:pPr lvl="1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effectLst/>
                <a:latin typeface="D-DINExp"/>
              </a:rPr>
              <a:t>输出：根据选择信号输出相应运算结果</a:t>
            </a:r>
            <a:endParaRPr lang="zh-CN" altLang="en-US" sz="2400" b="0" i="0" dirty="0">
              <a:effectLst/>
              <a:latin typeface="D-DINExp"/>
            </a:endParaRPr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2026/3/27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1" i="0" dirty="0">
                <a:effectLst/>
                <a:latin typeface="+mj-ea"/>
                <a:ea typeface="+mj-ea"/>
              </a:rPr>
              <a:t>实验提交</a:t>
            </a:r>
            <a:r>
              <a:rPr lang="zh-CN" altLang="en-US" sz="3200" b="1" dirty="0">
                <a:latin typeface="+mj-ea"/>
                <a:ea typeface="+mj-ea"/>
              </a:rPr>
              <a:t>要求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57923" y="1602483"/>
            <a:ext cx="11561234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US" altLang="zh-CN" sz="2400" b="1" i="0" dirty="0">
                <a:effectLst/>
                <a:latin typeface="+mj-ea"/>
                <a:ea typeface="+mj-ea"/>
              </a:rPr>
              <a:t>1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  <a:r>
              <a:rPr lang="en-US" altLang="zh-CN" sz="2400" b="1" i="0" dirty="0">
                <a:effectLst/>
                <a:latin typeface="+mj-ea"/>
                <a:ea typeface="+mj-ea"/>
              </a:rPr>
              <a:t> </a:t>
            </a:r>
            <a:r>
              <a:rPr lang="zh-CN" altLang="en-US" sz="2400" b="1" i="0" dirty="0">
                <a:effectLst/>
                <a:latin typeface="+mj-ea"/>
                <a:ea typeface="+mj-ea"/>
              </a:rPr>
              <a:t>提交文件</a:t>
            </a:r>
            <a:endParaRPr lang="en-US" altLang="zh-CN" sz="2400" b="1" i="0" dirty="0">
              <a:effectLst/>
              <a:latin typeface="+mj-ea"/>
              <a:ea typeface="+mj-ea"/>
            </a:endParaRPr>
          </a:p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zh-CN" altLang="en-US" sz="2400" b="0" i="0" dirty="0">
                <a:effectLst/>
                <a:latin typeface="D-DINExp"/>
              </a:rPr>
              <a:t>提交包含</a:t>
            </a:r>
            <a:r>
              <a:rPr lang="en-US" altLang="zh-CN" sz="2400" b="0" i="0" dirty="0" err="1">
                <a:effectLst/>
                <a:latin typeface="D-DINExp"/>
              </a:rPr>
              <a:t>ALU.circ</a:t>
            </a:r>
            <a:r>
              <a:rPr lang="zh-CN" altLang="en-US" sz="2400" b="0" i="0" dirty="0">
                <a:effectLst/>
                <a:latin typeface="D-DINExp"/>
              </a:rPr>
              <a:t>文件和实验报告的</a:t>
            </a:r>
            <a:r>
              <a:rPr lang="en-US" altLang="zh-CN" sz="2400" b="0" i="0" dirty="0">
                <a:effectLst/>
                <a:latin typeface="D-DINExp"/>
              </a:rPr>
              <a:t>zip</a:t>
            </a:r>
            <a:r>
              <a:rPr lang="zh-CN" altLang="en-US" sz="2400" b="0" i="0" dirty="0">
                <a:effectLst/>
                <a:latin typeface="D-DINExp"/>
              </a:rPr>
              <a:t>压缩包</a:t>
            </a:r>
            <a:endParaRPr lang="en-US" altLang="zh-CN" sz="2400" b="0" i="0" dirty="0">
              <a:effectLst/>
              <a:latin typeface="D-DINExp"/>
            </a:endParaRPr>
          </a:p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US" altLang="zh-CN" sz="2400" b="1" i="0" dirty="0">
                <a:effectLst/>
                <a:latin typeface="D-DINExp"/>
              </a:rPr>
              <a:t>2. </a:t>
            </a:r>
            <a:r>
              <a:rPr lang="zh-CN" altLang="en-US" sz="2400" b="1" dirty="0">
                <a:latin typeface="+mj-ea"/>
                <a:ea typeface="+mj-ea"/>
              </a:rPr>
              <a:t>命名</a:t>
            </a:r>
            <a:r>
              <a:rPr lang="zh-CN" altLang="en-US" sz="2400" b="1" i="0" dirty="0">
                <a:effectLst/>
                <a:latin typeface="+mj-ea"/>
                <a:ea typeface="+mj-ea"/>
              </a:rPr>
              <a:t>要求</a:t>
            </a:r>
            <a:endParaRPr lang="en-US" altLang="zh-CN" sz="2400" b="1" i="0" dirty="0">
              <a:effectLst/>
              <a:latin typeface="+mj-ea"/>
              <a:ea typeface="+mj-ea"/>
            </a:endParaRPr>
          </a:p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zh-CN" altLang="en-US" sz="2400" dirty="0">
                <a:latin typeface="+mn-ea"/>
              </a:rPr>
              <a:t>将</a:t>
            </a:r>
            <a:r>
              <a:rPr lang="en-US" altLang="zh-CN" sz="2400" dirty="0">
                <a:latin typeface="+mn-ea"/>
              </a:rPr>
              <a:t>zip</a:t>
            </a:r>
            <a:r>
              <a:rPr lang="zh-CN" altLang="en-US" sz="2400" dirty="0">
                <a:latin typeface="+mn-ea"/>
              </a:rPr>
              <a:t>压缩包重命名为</a:t>
            </a:r>
            <a:r>
              <a:rPr lang="en-US" altLang="zh-CN" sz="2400" b="1" dirty="0">
                <a:latin typeface="+mj-ea"/>
                <a:ea typeface="+mj-ea"/>
              </a:rPr>
              <a:t>{</a:t>
            </a:r>
            <a:r>
              <a:rPr lang="zh-CN" altLang="en-US" sz="2400" b="1" dirty="0">
                <a:latin typeface="+mj-ea"/>
                <a:ea typeface="+mj-ea"/>
              </a:rPr>
              <a:t>学号</a:t>
            </a:r>
            <a:r>
              <a:rPr lang="en-US" altLang="zh-CN" sz="2400" b="1" dirty="0">
                <a:latin typeface="+mj-ea"/>
                <a:ea typeface="+mj-ea"/>
              </a:rPr>
              <a:t>}_{</a:t>
            </a:r>
            <a:r>
              <a:rPr lang="zh-CN" altLang="en-US" sz="2400" b="1" dirty="0">
                <a:latin typeface="+mj-ea"/>
                <a:ea typeface="+mj-ea"/>
              </a:rPr>
              <a:t>姓名</a:t>
            </a:r>
            <a:r>
              <a:rPr lang="en-US" altLang="zh-CN" sz="2400" b="1" dirty="0">
                <a:latin typeface="+mj-ea"/>
                <a:ea typeface="+mj-ea"/>
              </a:rPr>
              <a:t>}_lab1-3.zip</a:t>
            </a:r>
            <a:r>
              <a:rPr lang="zh-CN" altLang="en-US" sz="2400" dirty="0">
                <a:latin typeface="+mn-ea"/>
              </a:rPr>
              <a:t>，比如</a:t>
            </a:r>
            <a:r>
              <a:rPr lang="en-US" altLang="zh-CN" sz="2400" b="1" dirty="0">
                <a:latin typeface="+mj-ea"/>
                <a:ea typeface="+mj-ea"/>
              </a:rPr>
              <a:t>12345678910_</a:t>
            </a:r>
            <a:r>
              <a:rPr lang="zh-CN" altLang="en-US" sz="2400" b="1" dirty="0">
                <a:latin typeface="+mj-ea"/>
                <a:ea typeface="+mj-ea"/>
              </a:rPr>
              <a:t>张三</a:t>
            </a:r>
            <a:r>
              <a:rPr lang="en-US" altLang="zh-CN" sz="2400" b="1" dirty="0">
                <a:latin typeface="+mj-ea"/>
                <a:ea typeface="+mj-ea"/>
              </a:rPr>
              <a:t>_lab1-3.zip</a:t>
            </a:r>
            <a:endParaRPr lang="zh-CN" altLang="en-US" sz="2400" b="1" i="0" dirty="0">
              <a:effectLst/>
              <a:latin typeface="+mj-ea"/>
              <a:ea typeface="+mj-ea"/>
            </a:endParaRPr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2026/3/27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Appendix </a:t>
            </a:r>
            <a:r>
              <a:rPr lang="zh-CN" altLang="en-US" dirty="0"/>
              <a:t>门电路基础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620209" y="1302675"/>
            <a:ext cx="8951581" cy="4778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400" b="1" i="0" dirty="0">
                <a:solidFill>
                  <a:srgbClr val="404040"/>
                </a:solidFill>
                <a:effectLst/>
                <a:latin typeface="+mj-ea"/>
                <a:ea typeface="+mj-ea"/>
              </a:rPr>
              <a:t>一、什么是门电路</a:t>
            </a:r>
            <a:r>
              <a:rPr lang="zh-CN" altLang="en-US" sz="2400" b="1" i="0" dirty="0">
                <a:solidFill>
                  <a:srgbClr val="404040"/>
                </a:solidFill>
                <a:effectLst/>
                <a:latin typeface="Inter"/>
              </a:rPr>
              <a:t>？</a:t>
            </a:r>
            <a:endParaRPr lang="en-US" altLang="zh-CN" sz="2400" b="1" i="0" dirty="0">
              <a:solidFill>
                <a:srgbClr val="404040"/>
              </a:solidFill>
              <a:effectLst/>
              <a:latin typeface="Inter"/>
            </a:endParaRPr>
          </a:p>
          <a:p>
            <a:pPr algn="l"/>
            <a:endParaRPr lang="zh-CN" altLang="en-US" b="1" i="0" dirty="0">
              <a:solidFill>
                <a:srgbClr val="404040"/>
              </a:solidFill>
              <a:effectLst/>
              <a:latin typeface="Inter"/>
            </a:endParaRPr>
          </a:p>
          <a:p>
            <a:pPr algn="l">
              <a:spcAft>
                <a:spcPts val="300"/>
              </a:spcAft>
              <a:buFont typeface="+mj-lt"/>
              <a:buAutoNum type="arabicPeriod"/>
            </a:pPr>
            <a:r>
              <a:rPr lang="zh-CN" altLang="en-US" sz="2400" b="1" i="0" dirty="0">
                <a:solidFill>
                  <a:srgbClr val="404040"/>
                </a:solidFill>
                <a:effectLst/>
                <a:latin typeface="+mj-ea"/>
                <a:ea typeface="+mj-ea"/>
              </a:rPr>
              <a:t>定义</a:t>
            </a:r>
            <a:endParaRPr lang="zh-CN" altLang="en-US" sz="2400" b="0" i="0" dirty="0">
              <a:solidFill>
                <a:srgbClr val="404040"/>
              </a:solidFill>
              <a:effectLst/>
              <a:latin typeface="+mj-ea"/>
              <a:ea typeface="+mj-ea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zh-CN" altLang="en-US" sz="2400" b="0" i="0" dirty="0">
                <a:solidFill>
                  <a:srgbClr val="404040"/>
                </a:solidFill>
                <a:effectLst/>
                <a:latin typeface="Inter"/>
              </a:rPr>
              <a:t>门电路（</a:t>
            </a:r>
            <a:r>
              <a:rPr lang="en-US" altLang="zh-CN" sz="2400" b="0" i="0" dirty="0">
                <a:solidFill>
                  <a:srgbClr val="404040"/>
                </a:solidFill>
                <a:effectLst/>
                <a:latin typeface="Inter"/>
              </a:rPr>
              <a:t>Logic Gate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Inter"/>
              </a:rPr>
              <a:t>）是数字电路的基本组成单元，通过输入信号（</a:t>
            </a:r>
            <a:r>
              <a:rPr lang="en-US" altLang="zh-CN" sz="2400" b="0" i="0" dirty="0">
                <a:solidFill>
                  <a:srgbClr val="404040"/>
                </a:solidFill>
                <a:effectLst/>
                <a:latin typeface="Inter"/>
              </a:rPr>
              <a:t>0/1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Inter"/>
              </a:rPr>
              <a:t>）的组合产生特定输出信号。</a:t>
            </a:r>
            <a:endParaRPr lang="zh-CN" altLang="en-US" sz="2400" b="0" i="0" dirty="0">
              <a:solidFill>
                <a:srgbClr val="404040"/>
              </a:solidFill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zh-CN" altLang="en-US" sz="2400" b="0" i="0" dirty="0">
                <a:solidFill>
                  <a:srgbClr val="404040"/>
                </a:solidFill>
                <a:effectLst/>
                <a:latin typeface="Inter"/>
              </a:rPr>
              <a:t>基于布尔代数（</a:t>
            </a:r>
            <a:r>
              <a:rPr lang="en-US" altLang="zh-CN" sz="2400" b="0" i="0" dirty="0">
                <a:solidFill>
                  <a:srgbClr val="404040"/>
                </a:solidFill>
                <a:effectLst/>
                <a:latin typeface="Inter"/>
              </a:rPr>
              <a:t>Boolean Algebra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Inter"/>
              </a:rPr>
              <a:t>）的逻辑运算，实现二进制（</a:t>
            </a:r>
            <a:r>
              <a:rPr lang="en-US" altLang="zh-CN" sz="2400" b="0" i="0" dirty="0">
                <a:solidFill>
                  <a:srgbClr val="404040"/>
                </a:solidFill>
                <a:effectLst/>
                <a:latin typeface="Inter"/>
              </a:rPr>
              <a:t>0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Inter"/>
              </a:rPr>
              <a:t>和</a:t>
            </a:r>
            <a:r>
              <a:rPr lang="en-US" altLang="zh-CN" sz="2400" b="0" i="0" dirty="0">
                <a:solidFill>
                  <a:srgbClr val="404040"/>
                </a:solidFill>
                <a:effectLst/>
                <a:latin typeface="Inter"/>
              </a:rPr>
              <a:t>1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Inter"/>
              </a:rPr>
              <a:t>）的数学与逻辑功能。</a:t>
            </a:r>
            <a:endParaRPr lang="en-US" altLang="zh-CN" sz="2400" b="0" i="0" dirty="0">
              <a:solidFill>
                <a:srgbClr val="404040"/>
              </a:solidFill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endParaRPr lang="zh-CN" altLang="en-US" sz="2400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sz="2400" b="1" i="0" dirty="0">
                <a:solidFill>
                  <a:srgbClr val="404040"/>
                </a:solidFill>
                <a:effectLst/>
                <a:latin typeface="+mj-ea"/>
                <a:ea typeface="+mj-ea"/>
              </a:rPr>
              <a:t>核心特点</a:t>
            </a:r>
            <a:endParaRPr lang="zh-CN" altLang="en-US" sz="2400" b="0" i="0" dirty="0">
              <a:solidFill>
                <a:srgbClr val="404040"/>
              </a:solidFill>
              <a:effectLst/>
              <a:latin typeface="+mj-ea"/>
              <a:ea typeface="+mj-ea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zh-CN" altLang="en-US" sz="2400" b="0" i="0" dirty="0">
                <a:solidFill>
                  <a:srgbClr val="404040"/>
                </a:solidFill>
                <a:effectLst/>
                <a:latin typeface="Inter"/>
              </a:rPr>
              <a:t>输入：</a:t>
            </a:r>
            <a:r>
              <a:rPr lang="en-US" altLang="zh-CN" sz="2400" b="0" i="0" dirty="0">
                <a:solidFill>
                  <a:srgbClr val="404040"/>
                </a:solidFill>
                <a:effectLst/>
                <a:latin typeface="Inter"/>
              </a:rPr>
              <a:t>1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Inter"/>
              </a:rPr>
              <a:t>个或多个二进制信号（低电平</a:t>
            </a:r>
            <a:r>
              <a:rPr lang="en-US" altLang="zh-CN" sz="2400" b="0" i="0" dirty="0">
                <a:solidFill>
                  <a:srgbClr val="404040"/>
                </a:solidFill>
                <a:effectLst/>
                <a:latin typeface="Inter"/>
              </a:rPr>
              <a:t>0/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Inter"/>
              </a:rPr>
              <a:t>高电平</a:t>
            </a:r>
            <a:r>
              <a:rPr lang="en-US" altLang="zh-CN" sz="2400" b="0" i="0" dirty="0">
                <a:solidFill>
                  <a:srgbClr val="404040"/>
                </a:solidFill>
                <a:effectLst/>
                <a:latin typeface="Inter"/>
              </a:rPr>
              <a:t>1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Inter"/>
              </a:rPr>
              <a:t>）。</a:t>
            </a:r>
            <a:endParaRPr lang="zh-CN" altLang="en-US" sz="2400" b="0" i="0" dirty="0">
              <a:solidFill>
                <a:srgbClr val="404040"/>
              </a:solidFill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zh-CN" altLang="en-US" sz="2400" b="0" i="0" dirty="0">
                <a:solidFill>
                  <a:srgbClr val="404040"/>
                </a:solidFill>
                <a:effectLst/>
                <a:latin typeface="Inter"/>
              </a:rPr>
              <a:t>输出：</a:t>
            </a:r>
            <a:r>
              <a:rPr lang="en-US" altLang="zh-CN" sz="2400" b="0" i="0" dirty="0">
                <a:solidFill>
                  <a:srgbClr val="404040"/>
                </a:solidFill>
                <a:effectLst/>
                <a:latin typeface="Inter"/>
              </a:rPr>
              <a:t>1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Inter"/>
              </a:rPr>
              <a:t>个二进制信号，由输入信号和门类型决定。</a:t>
            </a:r>
            <a:endParaRPr lang="zh-CN" altLang="en-US" sz="2400" b="0" i="0" dirty="0">
              <a:solidFill>
                <a:srgbClr val="404040"/>
              </a:solidFill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zh-CN" altLang="en-US" sz="2400" b="0" i="0" dirty="0">
                <a:solidFill>
                  <a:srgbClr val="404040"/>
                </a:solidFill>
                <a:effectLst/>
                <a:latin typeface="Inter"/>
              </a:rPr>
              <a:t>物理实现：通过晶体管、二极管等电子元件构成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。</a:t>
            </a:r>
            <a:endParaRPr lang="zh-CN" altLang="en-US" b="0" i="0" dirty="0">
              <a:solidFill>
                <a:srgbClr val="404040"/>
              </a:solidFill>
              <a:effectLst/>
              <a:latin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2026/3/27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Appendix </a:t>
            </a:r>
            <a:r>
              <a:rPr lang="zh-CN" altLang="en-US" dirty="0"/>
              <a:t>门电路基础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395314" y="1429274"/>
            <a:ext cx="10431451" cy="413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400" b="1" i="0" dirty="0">
                <a:solidFill>
                  <a:srgbClr val="404040"/>
                </a:solidFill>
                <a:effectLst/>
                <a:latin typeface="+mj-ea"/>
                <a:ea typeface="+mj-ea"/>
              </a:rPr>
              <a:t>二、门电路的用途</a:t>
            </a:r>
            <a:endParaRPr lang="en-US" altLang="zh-CN" sz="2400" b="1" i="0" dirty="0">
              <a:solidFill>
                <a:srgbClr val="404040"/>
              </a:solidFill>
              <a:effectLst/>
              <a:latin typeface="+mj-ea"/>
              <a:ea typeface="+mj-ea"/>
            </a:endParaRPr>
          </a:p>
          <a:p>
            <a:pPr algn="l"/>
            <a:endParaRPr lang="zh-CN" altLang="en-US" sz="2400" b="1" i="0" dirty="0">
              <a:solidFill>
                <a:srgbClr val="404040"/>
              </a:solidFill>
              <a:effectLst/>
              <a:latin typeface="+mj-ea"/>
              <a:ea typeface="+mj-ea"/>
            </a:endParaRPr>
          </a:p>
          <a:p>
            <a:pPr algn="l">
              <a:spcAft>
                <a:spcPts val="300"/>
              </a:spcAft>
              <a:buFont typeface="+mj-lt"/>
              <a:buAutoNum type="arabicPeriod"/>
            </a:pPr>
            <a:r>
              <a:rPr lang="zh-CN" altLang="en-US" sz="2400" b="1" i="0" dirty="0">
                <a:solidFill>
                  <a:srgbClr val="404040"/>
                </a:solidFill>
                <a:effectLst/>
                <a:latin typeface="+mj-ea"/>
                <a:ea typeface="+mj-ea"/>
              </a:rPr>
              <a:t>数字系统的基石</a:t>
            </a:r>
            <a:endParaRPr lang="zh-CN" altLang="en-US" sz="2400" b="0" i="0" dirty="0">
              <a:solidFill>
                <a:srgbClr val="404040"/>
              </a:solidFill>
              <a:effectLst/>
              <a:latin typeface="+mj-ea"/>
              <a:ea typeface="+mj-ea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zh-CN" altLang="en-US" sz="2400" b="0" i="0" dirty="0">
                <a:solidFill>
                  <a:srgbClr val="404040"/>
                </a:solidFill>
                <a:effectLst/>
                <a:latin typeface="Inter"/>
              </a:rPr>
              <a:t>计算机、手机、计算器等电子设备的底层逻辑均依赖门电路。</a:t>
            </a:r>
            <a:endParaRPr lang="zh-CN" altLang="en-US" sz="2400" b="0" i="0" dirty="0">
              <a:solidFill>
                <a:srgbClr val="404040"/>
              </a:solidFill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zh-CN" altLang="en-US" sz="2400" b="0" i="0" dirty="0">
                <a:solidFill>
                  <a:srgbClr val="404040"/>
                </a:solidFill>
                <a:effectLst/>
                <a:latin typeface="Inter"/>
              </a:rPr>
              <a:t>实现算术运算（如加法）、数据存储（如寄存器）、逻辑控制等功能。</a:t>
            </a:r>
            <a:endParaRPr lang="en-US" altLang="zh-CN" sz="2400" b="0" i="0" dirty="0">
              <a:solidFill>
                <a:srgbClr val="404040"/>
              </a:solidFill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endParaRPr lang="zh-CN" altLang="en-US" sz="2400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sz="2400" b="1" i="0" dirty="0">
                <a:solidFill>
                  <a:srgbClr val="404040"/>
                </a:solidFill>
                <a:effectLst/>
                <a:latin typeface="+mj-ea"/>
                <a:ea typeface="+mj-ea"/>
              </a:rPr>
              <a:t>典型应用场景</a:t>
            </a:r>
            <a:endParaRPr lang="zh-CN" altLang="en-US" sz="2400" b="0" i="0" dirty="0">
              <a:solidFill>
                <a:srgbClr val="404040"/>
              </a:solidFill>
              <a:effectLst/>
              <a:latin typeface="+mj-ea"/>
              <a:ea typeface="+mj-ea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zh-CN" altLang="en-US" sz="2400" i="0" dirty="0">
                <a:solidFill>
                  <a:srgbClr val="404040"/>
                </a:solidFill>
                <a:effectLst/>
                <a:latin typeface="Inter"/>
              </a:rPr>
              <a:t>组合逻辑电路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Inter"/>
              </a:rPr>
              <a:t>：如加法器、编码器、多路选择器。</a:t>
            </a:r>
            <a:endParaRPr lang="zh-CN" altLang="en-US" sz="2400" b="0" i="0" dirty="0">
              <a:solidFill>
                <a:srgbClr val="404040"/>
              </a:solidFill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zh-CN" altLang="en-US" sz="2400" i="0" dirty="0">
                <a:solidFill>
                  <a:srgbClr val="404040"/>
                </a:solidFill>
                <a:effectLst/>
                <a:latin typeface="Inter"/>
              </a:rPr>
              <a:t>时序逻辑电路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Inter"/>
              </a:rPr>
              <a:t>：如触发器、计数器（需配合时钟信号）。</a:t>
            </a:r>
            <a:endParaRPr lang="zh-CN" altLang="en-US" sz="2400" b="0" i="0" dirty="0">
              <a:solidFill>
                <a:srgbClr val="404040"/>
              </a:solidFill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zh-CN" altLang="en-US" sz="2400" i="0" dirty="0">
                <a:solidFill>
                  <a:srgbClr val="404040"/>
                </a:solidFill>
                <a:effectLst/>
                <a:latin typeface="Inter"/>
              </a:rPr>
              <a:t>嵌入式系统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Inter"/>
              </a:rPr>
              <a:t>：控制信号处理、传感器信号转换。</a:t>
            </a:r>
            <a:endParaRPr lang="zh-CN" altLang="en-US" sz="2400" b="0" i="0" dirty="0">
              <a:solidFill>
                <a:srgbClr val="404040"/>
              </a:solidFill>
              <a:effectLst/>
              <a:latin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2026/3/27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Appendix </a:t>
            </a:r>
            <a:r>
              <a:rPr lang="zh-CN" altLang="en-US" dirty="0"/>
              <a:t>门电路基础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395314" y="1429274"/>
            <a:ext cx="104314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400" b="1" i="0" dirty="0">
                <a:solidFill>
                  <a:srgbClr val="404040"/>
                </a:solidFill>
                <a:effectLst/>
                <a:latin typeface="+mj-ea"/>
                <a:ea typeface="+mj-ea"/>
              </a:rPr>
              <a:t>三、基本门电路类型</a:t>
            </a:r>
            <a:endParaRPr lang="zh-CN" altLang="en-US" sz="2400" b="1" i="0" dirty="0">
              <a:solidFill>
                <a:srgbClr val="404040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5479" y="0"/>
            <a:ext cx="6691286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039" y="665398"/>
            <a:ext cx="1047896" cy="108600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77" y="2235652"/>
            <a:ext cx="1038370" cy="103837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472" y="3732852"/>
            <a:ext cx="752580" cy="57158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6472" y="4304432"/>
            <a:ext cx="748282" cy="59862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5078" y="4876012"/>
            <a:ext cx="651069" cy="62640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6471" y="5724749"/>
            <a:ext cx="748282" cy="5729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2026/3/27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Appendix </a:t>
            </a:r>
            <a:r>
              <a:rPr lang="zh-CN" altLang="en-US" dirty="0"/>
              <a:t>门电路基础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395314" y="1429274"/>
            <a:ext cx="104314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404040"/>
                </a:solidFill>
                <a:latin typeface="+mj-ea"/>
                <a:ea typeface="+mj-ea"/>
              </a:rPr>
              <a:t>四</a:t>
            </a:r>
            <a:r>
              <a:rPr lang="zh-CN" altLang="en-US" sz="2400" b="1" i="0" dirty="0">
                <a:solidFill>
                  <a:srgbClr val="404040"/>
                </a:solidFill>
                <a:effectLst/>
                <a:latin typeface="+mj-ea"/>
                <a:ea typeface="+mj-ea"/>
              </a:rPr>
              <a:t>、根据逻辑表达式画电路图</a:t>
            </a:r>
            <a:endParaRPr lang="zh-CN" altLang="en-US" sz="2400" b="1" i="0" dirty="0">
              <a:solidFill>
                <a:srgbClr val="404040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55186" y="2618417"/>
            <a:ext cx="109117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0" i="0" dirty="0">
                <a:solidFill>
                  <a:srgbClr val="404040"/>
                </a:solidFill>
                <a:effectLst/>
                <a:latin typeface="Inter"/>
              </a:rPr>
              <a:t>表达式 </a:t>
            </a:r>
            <a:r>
              <a:rPr lang="en-US" altLang="zh-CN" sz="2400" b="0" i="0" dirty="0">
                <a:solidFill>
                  <a:srgbClr val="404040"/>
                </a:solidFill>
                <a:effectLst/>
                <a:latin typeface="Inter"/>
              </a:rPr>
              <a:t>Y = (A+B)·¬C 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Inter"/>
              </a:rPr>
              <a:t>对应电路：</a:t>
            </a:r>
            <a:r>
              <a:rPr lang="en-US" altLang="zh-CN" sz="2400" b="0" i="0" dirty="0">
                <a:solidFill>
                  <a:srgbClr val="404040"/>
                </a:solidFill>
                <a:effectLst/>
                <a:latin typeface="Inter"/>
              </a:rPr>
              <a:t>OR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Inter"/>
              </a:rPr>
              <a:t>门连接</a:t>
            </a:r>
            <a:r>
              <a:rPr lang="en-US" altLang="zh-CN" sz="2400" b="0" i="0" dirty="0">
                <a:solidFill>
                  <a:srgbClr val="404040"/>
                </a:solidFill>
                <a:effectLst/>
                <a:latin typeface="Inter"/>
              </a:rPr>
              <a:t>A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Inter"/>
              </a:rPr>
              <a:t>和</a:t>
            </a:r>
            <a:r>
              <a:rPr lang="en-US" altLang="zh-CN" sz="2400" b="0" i="0" dirty="0">
                <a:solidFill>
                  <a:srgbClr val="404040"/>
                </a:solidFill>
                <a:effectLst/>
                <a:latin typeface="Inter"/>
              </a:rPr>
              <a:t>B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Inter"/>
              </a:rPr>
              <a:t>，输出与</a:t>
            </a:r>
            <a:r>
              <a:rPr lang="en-US" altLang="zh-CN" sz="2400" b="0" i="0" dirty="0">
                <a:solidFill>
                  <a:srgbClr val="404040"/>
                </a:solidFill>
                <a:effectLst/>
                <a:latin typeface="Inter"/>
              </a:rPr>
              <a:t>NOT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Inter"/>
              </a:rPr>
              <a:t>门后的</a:t>
            </a:r>
            <a:r>
              <a:rPr lang="en-US" altLang="zh-CN" sz="2400" b="0" i="0" dirty="0">
                <a:solidFill>
                  <a:srgbClr val="404040"/>
                </a:solidFill>
                <a:effectLst/>
                <a:latin typeface="Inter"/>
              </a:rPr>
              <a:t>C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Inter"/>
              </a:rPr>
              <a:t>输入</a:t>
            </a:r>
            <a:r>
              <a:rPr lang="en-US" altLang="zh-CN" sz="2400" b="0" i="0" dirty="0">
                <a:solidFill>
                  <a:srgbClr val="404040"/>
                </a:solidFill>
                <a:effectLst/>
                <a:latin typeface="Inter"/>
              </a:rPr>
              <a:t>AND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Inter"/>
              </a:rPr>
              <a:t>门。</a:t>
            </a:r>
            <a:endParaRPr lang="zh-CN" altLang="en-US" sz="2400" b="0" i="0" dirty="0">
              <a:solidFill>
                <a:srgbClr val="404040"/>
              </a:solidFill>
              <a:effectLst/>
              <a:latin typeface="Inter"/>
            </a:endParaRPr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2026/3/27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Appendix </a:t>
            </a:r>
            <a:r>
              <a:rPr lang="zh-CN" altLang="en-US" dirty="0"/>
              <a:t>门电路基础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395314" y="1429274"/>
            <a:ext cx="10431451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400" b="1" i="0" dirty="0">
                <a:solidFill>
                  <a:srgbClr val="404040"/>
                </a:solidFill>
                <a:effectLst/>
                <a:latin typeface="+mj-ea"/>
                <a:ea typeface="+mj-ea"/>
              </a:rPr>
              <a:t>其它可参考</a:t>
            </a:r>
            <a:r>
              <a:rPr lang="zh-CN" altLang="en-US" sz="2400" b="1" i="0" dirty="0">
                <a:solidFill>
                  <a:srgbClr val="404040"/>
                </a:solidFill>
                <a:effectLst/>
                <a:latin typeface="+mj-ea"/>
                <a:ea typeface="+mj-ea"/>
              </a:rPr>
              <a:t>资料</a:t>
            </a:r>
            <a:endParaRPr lang="zh-CN" altLang="en-US" sz="2400" b="1" i="0" dirty="0">
              <a:solidFill>
                <a:srgbClr val="404040"/>
              </a:solidFill>
              <a:effectLst/>
              <a:latin typeface="+mj-ea"/>
              <a:ea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0000" y="2152967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>
                <a:hlinkClick r:id="rId1"/>
              </a:rPr>
              <a:t>【从原理到实践】如何制作一个</a:t>
            </a:r>
            <a:r>
              <a:rPr lang="en-US" altLang="zh-CN" sz="1600">
                <a:hlinkClick r:id="rId1"/>
              </a:rPr>
              <a:t>4</a:t>
            </a:r>
            <a:r>
              <a:rPr lang="zh-CN" altLang="en-US" sz="1600">
                <a:hlinkClick r:id="rId1"/>
              </a:rPr>
              <a:t>位加法器 </a:t>
            </a:r>
            <a:r>
              <a:rPr lang="en-US" altLang="zh-CN" sz="1600">
                <a:hlinkClick r:id="rId1"/>
              </a:rPr>
              <a:t>- </a:t>
            </a:r>
            <a:r>
              <a:rPr lang="zh-CN" altLang="en-US" sz="1600">
                <a:hlinkClick r:id="rId1"/>
              </a:rPr>
              <a:t>知乎</a:t>
            </a:r>
            <a:endParaRPr lang="zh-CN" altLang="en-US" sz="1600">
              <a:hlinkClick r:id="rId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70000" y="2610167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>
                <a:hlinkClick r:id="rId1"/>
              </a:rPr>
              <a:t>【从原理到实践】如何制作一个</a:t>
            </a:r>
            <a:r>
              <a:rPr lang="en-US" altLang="zh-CN" sz="1600">
                <a:hlinkClick r:id="rId1"/>
              </a:rPr>
              <a:t>4</a:t>
            </a:r>
            <a:r>
              <a:rPr lang="zh-CN" altLang="en-US" sz="1600">
                <a:hlinkClick r:id="rId1"/>
              </a:rPr>
              <a:t>位加法器 </a:t>
            </a:r>
            <a:r>
              <a:rPr lang="en-US" altLang="zh-CN" sz="1600">
                <a:hlinkClick r:id="rId1"/>
              </a:rPr>
              <a:t>- </a:t>
            </a:r>
            <a:r>
              <a:rPr lang="zh-CN" altLang="en-US" sz="1600">
                <a:hlinkClick r:id="rId1"/>
              </a:rPr>
              <a:t>知乎</a:t>
            </a:r>
            <a:endParaRPr lang="zh-CN" altLang="en-US" sz="1600">
              <a:hlinkClick r:id="rId1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方正小标宋简体"/>
        <a:cs typeface=""/>
      </a:majorFont>
      <a:minorFont>
        <a:latin typeface="Times New Roman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1523</Words>
  <Application>WPS 演示</Application>
  <PresentationFormat>宽屏</PresentationFormat>
  <Paragraphs>161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宋体</vt:lpstr>
      <vt:lpstr>Wingdings</vt:lpstr>
      <vt:lpstr>幼圆</vt:lpstr>
      <vt:lpstr>D-DINExp</vt:lpstr>
      <vt:lpstr>Segoe Print</vt:lpstr>
      <vt:lpstr>Inter</vt:lpstr>
      <vt:lpstr>方正小标宋简体</vt:lpstr>
      <vt:lpstr>微软雅黑</vt:lpstr>
      <vt:lpstr>Times New Roman</vt:lpstr>
      <vt:lpstr>仿宋_GB2312</vt:lpstr>
      <vt:lpstr>仿宋</vt:lpstr>
      <vt:lpstr>Arial Unicode MS</vt:lpstr>
      <vt:lpstr>等线</vt:lpstr>
      <vt:lpstr>Office 主题​​</vt:lpstr>
      <vt:lpstr>PowerPoint 演示文稿</vt:lpstr>
      <vt:lpstr>Section 1. 实验目标</vt:lpstr>
      <vt:lpstr>Section 2. 半加器(Half Adder)</vt:lpstr>
      <vt:lpstr>Section 3. 全加器(Full Adder)</vt:lpstr>
      <vt:lpstr>Section 4. 补码(Two's Complement)</vt:lpstr>
      <vt:lpstr>Section 5. 四位减法器设计</vt:lpstr>
      <vt:lpstr>Section 6. MUX多路选择器</vt:lpstr>
      <vt:lpstr>实验提交要求</vt:lpstr>
      <vt:lpstr>Appendix 门电路基础</vt:lpstr>
      <vt:lpstr>Appendix 门电路基础</vt:lpstr>
      <vt:lpstr>Appendix 门电路基础</vt:lpstr>
      <vt:lpstr>Appendix 门电路基础</vt:lpstr>
      <vt:lpstr>Appendix 门电路基础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DeLi Huang</dc:creator>
  <cp:lastModifiedBy>薛敏坤</cp:lastModifiedBy>
  <cp:revision>21</cp:revision>
  <dcterms:created xsi:type="dcterms:W3CDTF">2025-02-16T07:59:00Z</dcterms:created>
  <dcterms:modified xsi:type="dcterms:W3CDTF">2026-03-27T07:56:12Z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8971D917CF7C41BD88BCBD9072A6F775_12</vt:lpwstr>
  </property>
  <property fmtid="{D5CDD505-2E9C-101B-9397-08002B2CF9AE}" pid="3" name="KSOProductBuildVer">
    <vt:lpwstr>2052-12.1.0.25225</vt:lpwstr>
  </property>
</Properties>
</file>